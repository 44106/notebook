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3.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4385" r:id="rId2"/>
    <p:sldMasterId id="2147484667" r:id="rId3"/>
  </p:sldMasterIdLst>
  <p:notesMasterIdLst>
    <p:notesMasterId r:id="rId124"/>
  </p:notesMasterIdLst>
  <p:sldIdLst>
    <p:sldId id="6182" r:id="rId4"/>
    <p:sldId id="6170" r:id="rId5"/>
    <p:sldId id="6171" r:id="rId6"/>
    <p:sldId id="6179" r:id="rId7"/>
    <p:sldId id="6174" r:id="rId8"/>
    <p:sldId id="6166" r:id="rId9"/>
    <p:sldId id="6180" r:id="rId10"/>
    <p:sldId id="5018" r:id="rId11"/>
    <p:sldId id="5017" r:id="rId12"/>
    <p:sldId id="5022" r:id="rId13"/>
    <p:sldId id="6181" r:id="rId14"/>
    <p:sldId id="5024" r:id="rId15"/>
    <p:sldId id="6558" r:id="rId16"/>
    <p:sldId id="6534" r:id="rId17"/>
    <p:sldId id="6540" r:id="rId18"/>
    <p:sldId id="6547" r:id="rId19"/>
    <p:sldId id="6129" r:id="rId20"/>
    <p:sldId id="376" r:id="rId21"/>
    <p:sldId id="6548" r:id="rId22"/>
    <p:sldId id="6556" r:id="rId23"/>
    <p:sldId id="1698" r:id="rId24"/>
    <p:sldId id="1699" r:id="rId25"/>
    <p:sldId id="1700" r:id="rId26"/>
    <p:sldId id="1702" r:id="rId27"/>
    <p:sldId id="1704" r:id="rId28"/>
    <p:sldId id="1705" r:id="rId29"/>
    <p:sldId id="661" r:id="rId30"/>
    <p:sldId id="1041" r:id="rId31"/>
    <p:sldId id="3306" r:id="rId32"/>
    <p:sldId id="6553" r:id="rId33"/>
    <p:sldId id="6559" r:id="rId34"/>
    <p:sldId id="6555" r:id="rId35"/>
    <p:sldId id="3155" r:id="rId36"/>
    <p:sldId id="6560" r:id="rId37"/>
    <p:sldId id="6554" r:id="rId38"/>
    <p:sldId id="3191" r:id="rId39"/>
    <p:sldId id="3157" r:id="rId40"/>
    <p:sldId id="3156" r:id="rId41"/>
    <p:sldId id="5023" r:id="rId42"/>
    <p:sldId id="6561" r:id="rId43"/>
    <p:sldId id="3174" r:id="rId44"/>
    <p:sldId id="3175" r:id="rId45"/>
    <p:sldId id="3176" r:id="rId46"/>
    <p:sldId id="6552" r:id="rId47"/>
    <p:sldId id="3240" r:id="rId48"/>
    <p:sldId id="3159" r:id="rId49"/>
    <p:sldId id="3160" r:id="rId50"/>
    <p:sldId id="369" r:id="rId51"/>
    <p:sldId id="762" r:id="rId52"/>
    <p:sldId id="6173" r:id="rId53"/>
    <p:sldId id="6549" r:id="rId54"/>
    <p:sldId id="6550" r:id="rId55"/>
    <p:sldId id="6551" r:id="rId56"/>
    <p:sldId id="441" r:id="rId57"/>
    <p:sldId id="443" r:id="rId58"/>
    <p:sldId id="465" r:id="rId59"/>
    <p:sldId id="474" r:id="rId60"/>
    <p:sldId id="475" r:id="rId61"/>
    <p:sldId id="476" r:id="rId62"/>
    <p:sldId id="480" r:id="rId63"/>
    <p:sldId id="477" r:id="rId64"/>
    <p:sldId id="478" r:id="rId65"/>
    <p:sldId id="473" r:id="rId66"/>
    <p:sldId id="6557" r:id="rId67"/>
    <p:sldId id="6735" r:id="rId68"/>
    <p:sldId id="6736" r:id="rId69"/>
    <p:sldId id="6737" r:id="rId70"/>
    <p:sldId id="6738" r:id="rId71"/>
    <p:sldId id="6739" r:id="rId72"/>
    <p:sldId id="6740" r:id="rId73"/>
    <p:sldId id="6741" r:id="rId74"/>
    <p:sldId id="6742" r:id="rId75"/>
    <p:sldId id="6733" r:id="rId76"/>
    <p:sldId id="6575" r:id="rId77"/>
    <p:sldId id="6570" r:id="rId78"/>
    <p:sldId id="410" r:id="rId79"/>
    <p:sldId id="406" r:id="rId80"/>
    <p:sldId id="420" r:id="rId81"/>
    <p:sldId id="6734" r:id="rId82"/>
    <p:sldId id="3309" r:id="rId83"/>
    <p:sldId id="6699" r:id="rId84"/>
    <p:sldId id="3190" r:id="rId85"/>
    <p:sldId id="6702" r:id="rId86"/>
    <p:sldId id="3185" r:id="rId87"/>
    <p:sldId id="6545" r:id="rId88"/>
    <p:sldId id="6176" r:id="rId89"/>
    <p:sldId id="6162" r:id="rId90"/>
    <p:sldId id="6163" r:id="rId91"/>
    <p:sldId id="3169" r:id="rId92"/>
    <p:sldId id="6164" r:id="rId93"/>
    <p:sldId id="6175" r:id="rId94"/>
    <p:sldId id="5013" r:id="rId95"/>
    <p:sldId id="6167" r:id="rId96"/>
    <p:sldId id="3152" r:id="rId97"/>
    <p:sldId id="6152" r:id="rId98"/>
    <p:sldId id="3154" r:id="rId99"/>
    <p:sldId id="5015" r:id="rId100"/>
    <p:sldId id="5016" r:id="rId101"/>
    <p:sldId id="5019" r:id="rId102"/>
    <p:sldId id="5020" r:id="rId103"/>
    <p:sldId id="4033" r:id="rId104"/>
    <p:sldId id="5021" r:id="rId105"/>
    <p:sldId id="3147" r:id="rId106"/>
    <p:sldId id="3153" r:id="rId107"/>
    <p:sldId id="5027" r:id="rId108"/>
    <p:sldId id="5032" r:id="rId109"/>
    <p:sldId id="5033" r:id="rId110"/>
    <p:sldId id="5034" r:id="rId111"/>
    <p:sldId id="5035" r:id="rId112"/>
    <p:sldId id="5053" r:id="rId113"/>
    <p:sldId id="6168" r:id="rId114"/>
    <p:sldId id="6538" r:id="rId115"/>
    <p:sldId id="6539" r:id="rId116"/>
    <p:sldId id="6546" r:id="rId117"/>
    <p:sldId id="426" r:id="rId118"/>
    <p:sldId id="6576" r:id="rId119"/>
    <p:sldId id="6727" r:id="rId120"/>
    <p:sldId id="6728" r:id="rId121"/>
    <p:sldId id="6730" r:id="rId122"/>
    <p:sldId id="6731" r:id="rId12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a:srgbClr val="DA9100"/>
    <a:srgbClr val="3333CC"/>
    <a:srgbClr val="FFBB33"/>
    <a:srgbClr val="FFCC66"/>
    <a:srgbClr val="FF2600"/>
    <a:srgbClr val="0096FF"/>
    <a:srgbClr val="FF7E79"/>
    <a:srgbClr val="00B050"/>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247" autoAdjust="0"/>
    <p:restoredTop sz="87755"/>
  </p:normalViewPr>
  <p:slideViewPr>
    <p:cSldViewPr>
      <p:cViewPr varScale="1">
        <p:scale>
          <a:sx n="92" d="100"/>
          <a:sy n="92" d="100"/>
        </p:scale>
        <p:origin x="184" y="600"/>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slide" Target="slides/slide109.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28" Type="http://schemas.openxmlformats.org/officeDocument/2006/relationships/tableStyles" Target="tableStyles.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slide" Target="slides/slide110.xml"/><Relationship Id="rId118" Type="http://schemas.openxmlformats.org/officeDocument/2006/relationships/slide" Target="slides/slide115.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124" Type="http://schemas.openxmlformats.org/officeDocument/2006/relationships/notesMaster" Target="notesMasters/notesMaster1.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119" Type="http://schemas.openxmlformats.org/officeDocument/2006/relationships/slide" Target="slides/slide116.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slide" Target="slides/slide117.xml"/><Relationship Id="rId125" Type="http://schemas.openxmlformats.org/officeDocument/2006/relationships/presProps" Target="presProps.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27" Type="http://schemas.openxmlformats.org/officeDocument/2006/relationships/theme" Target="theme/theme1.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4" Type="http://schemas.openxmlformats.org/officeDocument/2006/relationships/slide" Target="slides/slide1.xml"/><Relationship Id="rId9"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AC33BA3-1D73-5A42-978A-909AAD2B95B5}"/>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a:extLst>
              <a:ext uri="{FF2B5EF4-FFF2-40B4-BE49-F238E27FC236}">
                <a16:creationId xmlns:a16="http://schemas.microsoft.com/office/drawing/2014/main" id="{ABF96B51-E1DE-7149-8994-1F194053D323}"/>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anose="020F0502020204030204" pitchFamily="34" charset="0"/>
                <a:cs typeface="Arial" panose="020B0604020202020204" pitchFamily="34" charset="0"/>
              </a:defRPr>
            </a:lvl1pPr>
          </a:lstStyle>
          <a:p>
            <a:fld id="{79D1A06F-A0A6-5F45-97B3-4583E3ECC095}" type="datetime1">
              <a:rPr lang="en-US" altLang="en-US"/>
              <a:pPr/>
              <a:t>4/20/26</a:t>
            </a:fld>
            <a:endParaRPr lang="en-US" altLang="en-US"/>
          </a:p>
        </p:txBody>
      </p:sp>
      <p:sp>
        <p:nvSpPr>
          <p:cNvPr id="4" name="Slide Image Placeholder 3">
            <a:extLst>
              <a:ext uri="{FF2B5EF4-FFF2-40B4-BE49-F238E27FC236}">
                <a16:creationId xmlns:a16="http://schemas.microsoft.com/office/drawing/2014/main" id="{6A6936DC-23D2-4E4C-929F-31037FD25E2F}"/>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4DD02845-3AC3-E242-A977-6DB65DD9AFF4}"/>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49A62C48-563F-134A-8B04-656555CB0B7B}"/>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a:extLst>
              <a:ext uri="{FF2B5EF4-FFF2-40B4-BE49-F238E27FC236}">
                <a16:creationId xmlns:a16="http://schemas.microsoft.com/office/drawing/2014/main" id="{C2C3C2C0-17DB-0A46-80D2-41F9334A6B19}"/>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cs typeface="Arial" panose="020B0604020202020204" pitchFamily="34" charset="0"/>
              </a:defRPr>
            </a:lvl1pPr>
          </a:lstStyle>
          <a:p>
            <a:fld id="{02E19713-9C4A-7245-9E88-240452797298}"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a:extLst>
              <a:ext uri="{FF2B5EF4-FFF2-40B4-BE49-F238E27FC236}">
                <a16:creationId xmlns:a16="http://schemas.microsoft.com/office/drawing/2014/main" id="{4811DDEB-23E5-1A4A-A4FA-2FB462DC493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defTabSz="911225">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27CF1C65-F0E2-8E44-882C-5DBA87F125D8}" type="slidenum">
              <a:rPr lang="en-US" altLang="en-US" smtClean="0">
                <a:solidFill>
                  <a:srgbClr val="000000"/>
                </a:solidFill>
                <a:latin typeface="Arial" panose="020B0604020202020204" pitchFamily="34" charset="0"/>
                <a:cs typeface="Arial" panose="020B0604020202020204" pitchFamily="34" charset="0"/>
              </a:rPr>
              <a:pPr>
                <a:spcBef>
                  <a:spcPct val="0"/>
                </a:spcBef>
              </a:pPr>
              <a:t>1</a:t>
            </a:fld>
            <a:endParaRPr lang="en-US" altLang="en-US">
              <a:solidFill>
                <a:srgbClr val="000000"/>
              </a:solidFill>
              <a:latin typeface="Arial" panose="020B0604020202020204" pitchFamily="34" charset="0"/>
              <a:cs typeface="Arial" panose="020B0604020202020204" pitchFamily="34" charset="0"/>
            </a:endParaRPr>
          </a:p>
        </p:txBody>
      </p:sp>
      <p:sp>
        <p:nvSpPr>
          <p:cNvPr id="23554" name="Rectangle 2">
            <a:extLst>
              <a:ext uri="{FF2B5EF4-FFF2-40B4-BE49-F238E27FC236}">
                <a16:creationId xmlns:a16="http://schemas.microsoft.com/office/drawing/2014/main" id="{2AB01437-07BF-AD4E-82F9-DDA0E0B2AF5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Rectangle 3">
            <a:extLst>
              <a:ext uri="{FF2B5EF4-FFF2-40B4-BE49-F238E27FC236}">
                <a16:creationId xmlns:a16="http://schemas.microsoft.com/office/drawing/2014/main" id="{55423678-1E4A-644F-87FF-81A34DC4421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937967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solidFill>
                  <a:srgbClr val="FF2600"/>
                </a:solidFill>
              </a:rPr>
              <a:t>SIMD Wrap </a:t>
            </a:r>
            <a:endParaRPr lang="zh-CN" altLang="en-US" dirty="0"/>
          </a:p>
        </p:txBody>
      </p:sp>
      <p:sp>
        <p:nvSpPr>
          <p:cNvPr id="4" name="灯片编号占位符 3"/>
          <p:cNvSpPr>
            <a:spLocks noGrp="1"/>
          </p:cNvSpPr>
          <p:nvPr>
            <p:ph type="sldNum" sz="quarter" idx="5"/>
          </p:nvPr>
        </p:nvSpPr>
        <p:spPr/>
        <p:txBody>
          <a:bodyPr/>
          <a:lstStyle/>
          <a:p>
            <a:fld id="{02E19713-9C4A-7245-9E88-240452797298}" type="slidenum">
              <a:rPr lang="en-US" altLang="en-US" smtClean="0"/>
              <a:pPr/>
              <a:t>5</a:t>
            </a:fld>
            <a:endParaRPr lang="en-US" altLang="en-US"/>
          </a:p>
        </p:txBody>
      </p:sp>
    </p:spTree>
    <p:extLst>
      <p:ext uri="{BB962C8B-B14F-4D97-AF65-F5344CB8AC3E}">
        <p14:creationId xmlns:p14="http://schemas.microsoft.com/office/powerpoint/2010/main" val="25874023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lide Image Placeholder 1">
            <a:extLst>
              <a:ext uri="{FF2B5EF4-FFF2-40B4-BE49-F238E27FC236}">
                <a16:creationId xmlns:a16="http://schemas.microsoft.com/office/drawing/2014/main" id="{6184AD05-EC8C-3A4C-9694-4C3DDDE5FF3B}"/>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2" name="Notes Placeholder 2">
            <a:extLst>
              <a:ext uri="{FF2B5EF4-FFF2-40B4-BE49-F238E27FC236}">
                <a16:creationId xmlns:a16="http://schemas.microsoft.com/office/drawing/2014/main" id="{0815A2FB-BE72-D946-AFBD-A42CE90E374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latin typeface="Arial" panose="020B0604020202020204" pitchFamily="34" charset="0"/>
                <a:ea typeface="ＭＳ Ｐゴシック" panose="020B0600070205080204" pitchFamily="34" charset="-128"/>
              </a:rPr>
              <a:t>In SIMD, you need to specify the data array + an instruction (on which to operate the data on) + THE INSTRUCTION WIDTH.</a:t>
            </a:r>
            <a:br>
              <a:rPr lang="en-US" altLang="en-US">
                <a:latin typeface="Arial" panose="020B0604020202020204" pitchFamily="34" charset="0"/>
                <a:ea typeface="ＭＳ Ｐゴシック" panose="020B0600070205080204" pitchFamily="34" charset="-128"/>
              </a:rPr>
            </a:br>
            <a:r>
              <a:rPr lang="en-US" altLang="en-US">
                <a:latin typeface="Arial" panose="020B0604020202020204" pitchFamily="34" charset="0"/>
                <a:ea typeface="ＭＳ Ｐゴシック" panose="020B0600070205080204" pitchFamily="34" charset="-128"/>
              </a:rPr>
              <a:t>Eg: You might want to add 2 integer arrays of length 16, then a SIMD instruction would look like (the instruction has been cooked-up by me for demo)</a:t>
            </a:r>
            <a:br>
              <a:rPr lang="en-US" altLang="en-US">
                <a:latin typeface="Arial" panose="020B0604020202020204" pitchFamily="34" charset="0"/>
                <a:ea typeface="ＭＳ Ｐゴシック" panose="020B0600070205080204" pitchFamily="34" charset="-128"/>
              </a:rPr>
            </a:br>
            <a:r>
              <a:rPr lang="en-US" altLang="en-US">
                <a:latin typeface="Arial" panose="020B0604020202020204" pitchFamily="34" charset="0"/>
                <a:ea typeface="ＭＳ Ｐゴシック" panose="020B0600070205080204" pitchFamily="34" charset="-128"/>
              </a:rPr>
              <a:t>add.16 arr1 arr2</a:t>
            </a:r>
            <a:br>
              <a:rPr lang="en-US" altLang="en-US">
                <a:latin typeface="Arial" panose="020B0604020202020204" pitchFamily="34" charset="0"/>
                <a:ea typeface="ＭＳ Ｐゴシック" panose="020B0600070205080204" pitchFamily="34" charset="-128"/>
              </a:rPr>
            </a:br>
            <a:r>
              <a:rPr lang="en-US" altLang="en-US">
                <a:latin typeface="Arial" panose="020B0604020202020204" pitchFamily="34" charset="0"/>
                <a:ea typeface="ＭＳ Ｐゴシック" panose="020B0600070205080204" pitchFamily="34" charset="-128"/>
              </a:rPr>
              <a:t>However, SIMT doesn't bother about the instruction width. So, essentially, you could write the above example as:</a:t>
            </a:r>
            <a:br>
              <a:rPr lang="en-US" altLang="en-US">
                <a:latin typeface="Arial" panose="020B0604020202020204" pitchFamily="34" charset="0"/>
                <a:ea typeface="ＭＳ Ｐゴシック" panose="020B0600070205080204" pitchFamily="34" charset="-128"/>
              </a:rPr>
            </a:br>
            <a:r>
              <a:rPr lang="en-US" altLang="en-US">
                <a:latin typeface="Arial" panose="020B0604020202020204" pitchFamily="34" charset="0"/>
                <a:ea typeface="ＭＳ Ｐゴシック" panose="020B0600070205080204" pitchFamily="34" charset="-128"/>
              </a:rPr>
              <a:t>arr1[i] + arr2[i]</a:t>
            </a:r>
            <a:br>
              <a:rPr lang="en-US" altLang="en-US">
                <a:latin typeface="Arial" panose="020B0604020202020204" pitchFamily="34" charset="0"/>
                <a:ea typeface="ＭＳ Ｐゴシック" panose="020B0600070205080204" pitchFamily="34" charset="-128"/>
              </a:rPr>
            </a:br>
            <a:r>
              <a:rPr lang="en-US" altLang="en-US">
                <a:latin typeface="Arial" panose="020B0604020202020204" pitchFamily="34" charset="0"/>
                <a:ea typeface="ＭＳ Ｐゴシック" panose="020B0600070205080204" pitchFamily="34" charset="-128"/>
              </a:rPr>
              <a:t>and then launch as many threads as the length of the array, as you want.</a:t>
            </a:r>
            <a:br>
              <a:rPr lang="en-US" altLang="en-US">
                <a:latin typeface="Arial" panose="020B0604020202020204" pitchFamily="34" charset="0"/>
                <a:ea typeface="ＭＳ Ｐゴシック" panose="020B0600070205080204" pitchFamily="34" charset="-128"/>
              </a:rPr>
            </a:br>
            <a:br>
              <a:rPr lang="en-US" altLang="en-US">
                <a:latin typeface="Arial" panose="020B0604020202020204" pitchFamily="34" charset="0"/>
                <a:ea typeface="ＭＳ Ｐゴシック" panose="020B0600070205080204" pitchFamily="34" charset="-128"/>
              </a:rPr>
            </a:br>
            <a:br>
              <a:rPr lang="en-US" altLang="en-US">
                <a:latin typeface="Arial" panose="020B0604020202020204" pitchFamily="34" charset="0"/>
                <a:ea typeface="ＭＳ Ｐゴシック" panose="020B0600070205080204" pitchFamily="34" charset="-128"/>
              </a:rPr>
            </a:br>
            <a:r>
              <a:rPr lang="en-US" altLang="en-US">
                <a:latin typeface="Arial" panose="020B0604020202020204" pitchFamily="34" charset="0"/>
                <a:ea typeface="ＭＳ Ｐゴシック" panose="020B0600070205080204" pitchFamily="34" charset="-128"/>
              </a:rPr>
              <a:t>Note that, if the array size was, let us say, 32, then SIMD EXPECTS you to explicitly call two such 'add.16' instructions!</a:t>
            </a:r>
            <a:br>
              <a:rPr lang="en-US" altLang="en-US">
                <a:latin typeface="Arial" panose="020B0604020202020204" pitchFamily="34" charset="0"/>
                <a:ea typeface="ＭＳ Ｐゴシック" panose="020B0600070205080204" pitchFamily="34" charset="-128"/>
              </a:rPr>
            </a:br>
            <a:r>
              <a:rPr lang="en-US" altLang="en-US">
                <a:latin typeface="Arial" panose="020B0604020202020204" pitchFamily="34" charset="0"/>
                <a:ea typeface="ＭＳ Ｐゴシック" panose="020B0600070205080204" pitchFamily="34" charset="-128"/>
              </a:rPr>
              <a:t>Whereas, this is not the case with SIMT.</a:t>
            </a:r>
          </a:p>
          <a:p>
            <a:endParaRPr lang="en-US" altLang="en-US">
              <a:latin typeface="Arial" panose="020B0604020202020204" pitchFamily="34" charset="0"/>
              <a:ea typeface="ＭＳ Ｐゴシック" panose="020B0600070205080204" pitchFamily="34" charset="-128"/>
            </a:endParaRPr>
          </a:p>
          <a:p>
            <a:endParaRPr lang="en-US" altLang="en-US">
              <a:latin typeface="Arial" panose="020B0604020202020204" pitchFamily="34" charset="0"/>
              <a:ea typeface="ＭＳ Ｐゴシック" panose="020B0600070205080204" pitchFamily="34" charset="-128"/>
            </a:endParaRPr>
          </a:p>
        </p:txBody>
      </p:sp>
      <p:sp>
        <p:nvSpPr>
          <p:cNvPr id="61443" name="Slide Number Placeholder 3">
            <a:extLst>
              <a:ext uri="{FF2B5EF4-FFF2-40B4-BE49-F238E27FC236}">
                <a16:creationId xmlns:a16="http://schemas.microsoft.com/office/drawing/2014/main" id="{34F0615B-DD50-2A44-9DD3-1D459636DE0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2813" rtl="0" eaLnBrk="1" fontAlgn="base" latinLnBrk="0" hangingPunct="1">
              <a:lnSpc>
                <a:spcPct val="100000"/>
              </a:lnSpc>
              <a:spcBef>
                <a:spcPct val="0"/>
              </a:spcBef>
              <a:spcAft>
                <a:spcPct val="0"/>
              </a:spcAft>
              <a:buClrTx/>
              <a:buSzTx/>
              <a:buFontTx/>
              <a:buNone/>
              <a:tabLst/>
              <a:defRPr/>
            </a:pPr>
            <a:fld id="{D29A7EAB-D88C-224C-8940-4E0A1D79C2FB}"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2813"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5397742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81100" y="696913"/>
            <a:ext cx="4648200" cy="3486150"/>
          </a:xfrm>
        </p:spPr>
      </p:sp>
      <p:sp>
        <p:nvSpPr>
          <p:cNvPr id="3" name="Marcador de notas 2"/>
          <p:cNvSpPr>
            <a:spLocks noGrp="1"/>
          </p:cNvSpPr>
          <p:nvPr>
            <p:ph type="body" idx="1"/>
          </p:nvPr>
        </p:nvSpPr>
        <p:spPr/>
        <p:txBody>
          <a:bodyPr/>
          <a:lstStyle/>
          <a:p>
            <a:endParaRPr lang="en-US" baseline="0" dirty="0"/>
          </a:p>
        </p:txBody>
      </p:sp>
      <p:sp>
        <p:nvSpPr>
          <p:cNvPr id="4" name="Marcador de número de diapositiva 3"/>
          <p:cNvSpPr>
            <a:spLocks noGrp="1"/>
          </p:cNvSpPr>
          <p:nvPr>
            <p:ph type="sldNum" sz="quarter" idx="10"/>
          </p:nvPr>
        </p:nvSpPr>
        <p:spPr/>
        <p:txBody>
          <a:bodyPr/>
          <a:lstStyle/>
          <a:p>
            <a:fld id="{33A2F704-0392-374E-9548-FE28CBDE16B0}" type="slidenum">
              <a:rPr lang="en-US" smtClean="0"/>
              <a:t>13</a:t>
            </a:fld>
            <a:endParaRPr lang="en-US"/>
          </a:p>
        </p:txBody>
      </p:sp>
    </p:spTree>
    <p:extLst>
      <p:ext uri="{BB962C8B-B14F-4D97-AF65-F5344CB8AC3E}">
        <p14:creationId xmlns:p14="http://schemas.microsoft.com/office/powerpoint/2010/main" val="15197087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a:extLst>
              <a:ext uri="{FF2B5EF4-FFF2-40B4-BE49-F238E27FC236}">
                <a16:creationId xmlns:a16="http://schemas.microsoft.com/office/drawing/2014/main" id="{0751ED66-052F-F345-A866-5D9267BEF01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9638"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09638"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09638"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09638"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09638"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0963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0963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0963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0963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09638" rtl="0" eaLnBrk="1" fontAlgn="base" latinLnBrk="0" hangingPunct="1">
              <a:lnSpc>
                <a:spcPct val="100000"/>
              </a:lnSpc>
              <a:spcBef>
                <a:spcPct val="0"/>
              </a:spcBef>
              <a:spcAft>
                <a:spcPct val="0"/>
              </a:spcAft>
              <a:buClrTx/>
              <a:buSzTx/>
              <a:buFontTx/>
              <a:buNone/>
              <a:tabLst/>
              <a:defRPr/>
            </a:pPr>
            <a:fld id="{5217DDF5-C42C-4C43-AFC1-C054C587D8BE}"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09638"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2946" name="Rectangle 2">
            <a:extLst>
              <a:ext uri="{FF2B5EF4-FFF2-40B4-BE49-F238E27FC236}">
                <a16:creationId xmlns:a16="http://schemas.microsoft.com/office/drawing/2014/main" id="{FC9B272A-7862-5246-B92D-650FA9ED5C6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Rectangle 3">
            <a:extLst>
              <a:ext uri="{FF2B5EF4-FFF2-40B4-BE49-F238E27FC236}">
                <a16:creationId xmlns:a16="http://schemas.microsoft.com/office/drawing/2014/main" id="{8EAD5BDE-EBA0-8B46-A345-E988A62A24E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6317134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a:extLst>
              <a:ext uri="{FF2B5EF4-FFF2-40B4-BE49-F238E27FC236}">
                <a16:creationId xmlns:a16="http://schemas.microsoft.com/office/drawing/2014/main" id="{F1B71060-4BED-264E-B5AB-5D060FC9E9FB}"/>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4" name="Notes Placeholder 2">
            <a:extLst>
              <a:ext uri="{FF2B5EF4-FFF2-40B4-BE49-F238E27FC236}">
                <a16:creationId xmlns:a16="http://schemas.microsoft.com/office/drawing/2014/main" id="{F3B43675-ED60-3540-9853-82CA7DDDCBC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dirty="0"/>
          </a:p>
        </p:txBody>
      </p:sp>
      <p:sp>
        <p:nvSpPr>
          <p:cNvPr id="84995" name="Slide Number Placeholder 3">
            <a:extLst>
              <a:ext uri="{FF2B5EF4-FFF2-40B4-BE49-F238E27FC236}">
                <a16:creationId xmlns:a16="http://schemas.microsoft.com/office/drawing/2014/main" id="{DA2FEC94-CE7C-7F4D-9AEB-C4F824521BD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2813" rtl="0" eaLnBrk="1" fontAlgn="base" latinLnBrk="0" hangingPunct="1">
              <a:lnSpc>
                <a:spcPct val="100000"/>
              </a:lnSpc>
              <a:spcBef>
                <a:spcPct val="0"/>
              </a:spcBef>
              <a:spcAft>
                <a:spcPct val="0"/>
              </a:spcAft>
              <a:buClrTx/>
              <a:buSzTx/>
              <a:buFontTx/>
              <a:buNone/>
              <a:tabLst/>
              <a:defRPr/>
            </a:pPr>
            <a:fld id="{E5EA8C3D-9B74-7A43-B7E8-1232C63E8CDC}"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2813"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455852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a:extLst>
              <a:ext uri="{FF2B5EF4-FFF2-40B4-BE49-F238E27FC236}">
                <a16:creationId xmlns:a16="http://schemas.microsoft.com/office/drawing/2014/main" id="{F1B71060-4BED-264E-B5AB-5D060FC9E9FB}"/>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4" name="Notes Placeholder 2">
            <a:extLst>
              <a:ext uri="{FF2B5EF4-FFF2-40B4-BE49-F238E27FC236}">
                <a16:creationId xmlns:a16="http://schemas.microsoft.com/office/drawing/2014/main" id="{F3B43675-ED60-3540-9853-82CA7DDDCBC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200" b="1" dirty="0"/>
              <a:t>HBM3 memory subsystem</a:t>
            </a:r>
            <a:r>
              <a:rPr lang="en-US" sz="1200" dirty="0"/>
              <a:t> provides nearly a 2x bandwidth increase over the previous generation. The H100 SXM5 GPU is the world’s first GPU with HBM3 memory delivering a class-leading 3 TB/sec of memory bandwidth.</a:t>
            </a:r>
          </a:p>
          <a:p>
            <a:r>
              <a:rPr lang="en-US" sz="1200" b="1" dirty="0"/>
              <a:t>50 MB L2 cache architecture </a:t>
            </a:r>
            <a:r>
              <a:rPr lang="en-US" sz="1200" dirty="0"/>
              <a:t>caches large portions of models and datasets for repeated access, reducing trips to HBM3.</a:t>
            </a:r>
          </a:p>
          <a:p>
            <a:r>
              <a:rPr lang="en-US" altLang="zh-CN" sz="1200" dirty="0"/>
              <a:t>SM</a:t>
            </a:r>
            <a:r>
              <a:rPr lang="zh-CN" altLang="en-US" sz="1200" dirty="0"/>
              <a:t>： </a:t>
            </a:r>
            <a:r>
              <a:rPr lang="en-US" altLang="zh-CN" sz="1200" dirty="0"/>
              <a:t>streaming multiprocessor</a:t>
            </a:r>
          </a:p>
          <a:p>
            <a:endParaRPr lang="en-US" sz="1200"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dirty="0"/>
          </a:p>
        </p:txBody>
      </p:sp>
      <p:sp>
        <p:nvSpPr>
          <p:cNvPr id="84995" name="Slide Number Placeholder 3">
            <a:extLst>
              <a:ext uri="{FF2B5EF4-FFF2-40B4-BE49-F238E27FC236}">
                <a16:creationId xmlns:a16="http://schemas.microsoft.com/office/drawing/2014/main" id="{DA2FEC94-CE7C-7F4D-9AEB-C4F824521BD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2813" rtl="0" eaLnBrk="1" fontAlgn="base" latinLnBrk="0" hangingPunct="1">
              <a:lnSpc>
                <a:spcPct val="100000"/>
              </a:lnSpc>
              <a:spcBef>
                <a:spcPct val="0"/>
              </a:spcBef>
              <a:spcAft>
                <a:spcPct val="0"/>
              </a:spcAft>
              <a:buClrTx/>
              <a:buSzTx/>
              <a:buFontTx/>
              <a:buNone/>
              <a:tabLst/>
              <a:defRPr/>
            </a:pPr>
            <a:fld id="{E5EA8C3D-9B74-7A43-B7E8-1232C63E8CDC}"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2813"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5263781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a:extLst>
              <a:ext uri="{FF2B5EF4-FFF2-40B4-BE49-F238E27FC236}">
                <a16:creationId xmlns:a16="http://schemas.microsoft.com/office/drawing/2014/main" id="{F1B71060-4BED-264E-B5AB-5D060FC9E9FB}"/>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4" name="Notes Placeholder 2">
            <a:extLst>
              <a:ext uri="{FF2B5EF4-FFF2-40B4-BE49-F238E27FC236}">
                <a16:creationId xmlns:a16="http://schemas.microsoft.com/office/drawing/2014/main" id="{F3B43675-ED60-3540-9853-82CA7DDDCBC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dirty="0">
                <a:solidFill>
                  <a:schemeClr val="tx1"/>
                </a:solidFill>
                <a:effectLst/>
                <a:latin typeface="+mn-lt"/>
                <a:ea typeface="ＭＳ Ｐゴシック" charset="0"/>
                <a:cs typeface="ＭＳ Ｐゴシック" charset="0"/>
              </a:rPr>
              <a:t>A100: New load instruction that copies from global memory (DRAM) to shared memory (scratchpad) directly, without having to use registers (i.e., no need to copy from global memory to register and then from register to shared memory).</a:t>
            </a:r>
            <a:endParaRPr lang="en-US" sz="1200" dirty="0"/>
          </a:p>
        </p:txBody>
      </p:sp>
      <p:sp>
        <p:nvSpPr>
          <p:cNvPr id="84995" name="Slide Number Placeholder 3">
            <a:extLst>
              <a:ext uri="{FF2B5EF4-FFF2-40B4-BE49-F238E27FC236}">
                <a16:creationId xmlns:a16="http://schemas.microsoft.com/office/drawing/2014/main" id="{DA2FEC94-CE7C-7F4D-9AEB-C4F824521BD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2813" rtl="0" eaLnBrk="1" fontAlgn="base" latinLnBrk="0" hangingPunct="1">
              <a:lnSpc>
                <a:spcPct val="100000"/>
              </a:lnSpc>
              <a:spcBef>
                <a:spcPct val="0"/>
              </a:spcBef>
              <a:spcAft>
                <a:spcPct val="0"/>
              </a:spcAft>
              <a:buClrTx/>
              <a:buSzTx/>
              <a:buFontTx/>
              <a:buNone/>
              <a:tabLst/>
              <a:defRPr/>
            </a:pPr>
            <a:fld id="{E5EA8C3D-9B74-7A43-B7E8-1232C63E8CDC}"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2813"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9882919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28538" eaLnBrk="0" hangingPunct="0">
              <a:defRPr sz="2400">
                <a:solidFill>
                  <a:schemeClr val="tx1"/>
                </a:solidFill>
                <a:latin typeface="Arial" charset="0"/>
                <a:ea typeface="ＭＳ Ｐゴシック" charset="0"/>
                <a:cs typeface="ＭＳ Ｐゴシック" charset="0"/>
              </a:defRPr>
            </a:lvl1pPr>
            <a:lvl2pPr marL="757066" indent="-291179" defTabSz="928538" eaLnBrk="0" hangingPunct="0">
              <a:defRPr sz="2400">
                <a:solidFill>
                  <a:schemeClr val="tx1"/>
                </a:solidFill>
                <a:latin typeface="Arial" charset="0"/>
                <a:ea typeface="ＭＳ Ｐゴシック" charset="0"/>
              </a:defRPr>
            </a:lvl2pPr>
            <a:lvl3pPr marL="1164717" indent="-232943" defTabSz="928538" eaLnBrk="0" hangingPunct="0">
              <a:defRPr sz="2400">
                <a:solidFill>
                  <a:schemeClr val="tx1"/>
                </a:solidFill>
                <a:latin typeface="Arial" charset="0"/>
                <a:ea typeface="ＭＳ Ｐゴシック" charset="0"/>
              </a:defRPr>
            </a:lvl3pPr>
            <a:lvl4pPr marL="1630604" indent="-232943" defTabSz="928538" eaLnBrk="0" hangingPunct="0">
              <a:defRPr sz="2400">
                <a:solidFill>
                  <a:schemeClr val="tx1"/>
                </a:solidFill>
                <a:latin typeface="Arial" charset="0"/>
                <a:ea typeface="ＭＳ Ｐゴシック" charset="0"/>
              </a:defRPr>
            </a:lvl4pPr>
            <a:lvl5pPr marL="2096491" indent="-232943" defTabSz="928538" eaLnBrk="0" hangingPunct="0">
              <a:defRPr sz="2400">
                <a:solidFill>
                  <a:schemeClr val="tx1"/>
                </a:solidFill>
                <a:latin typeface="Arial" charset="0"/>
                <a:ea typeface="ＭＳ Ｐゴシック" charset="0"/>
              </a:defRPr>
            </a:lvl5pPr>
            <a:lvl6pPr marL="2562377" indent="-232943" defTabSz="928538" eaLnBrk="0" fontAlgn="base" hangingPunct="0">
              <a:spcBef>
                <a:spcPct val="0"/>
              </a:spcBef>
              <a:spcAft>
                <a:spcPct val="0"/>
              </a:spcAft>
              <a:defRPr sz="2400">
                <a:solidFill>
                  <a:schemeClr val="tx1"/>
                </a:solidFill>
                <a:latin typeface="Arial" charset="0"/>
                <a:ea typeface="ＭＳ Ｐゴシック" charset="0"/>
              </a:defRPr>
            </a:lvl6pPr>
            <a:lvl7pPr marL="3028264" indent="-232943" defTabSz="928538" eaLnBrk="0" fontAlgn="base" hangingPunct="0">
              <a:spcBef>
                <a:spcPct val="0"/>
              </a:spcBef>
              <a:spcAft>
                <a:spcPct val="0"/>
              </a:spcAft>
              <a:defRPr sz="2400">
                <a:solidFill>
                  <a:schemeClr val="tx1"/>
                </a:solidFill>
                <a:latin typeface="Arial" charset="0"/>
                <a:ea typeface="ＭＳ Ｐゴシック" charset="0"/>
              </a:defRPr>
            </a:lvl7pPr>
            <a:lvl8pPr marL="3494151" indent="-232943" defTabSz="928538" eaLnBrk="0" fontAlgn="base" hangingPunct="0">
              <a:spcBef>
                <a:spcPct val="0"/>
              </a:spcBef>
              <a:spcAft>
                <a:spcPct val="0"/>
              </a:spcAft>
              <a:defRPr sz="2400">
                <a:solidFill>
                  <a:schemeClr val="tx1"/>
                </a:solidFill>
                <a:latin typeface="Arial" charset="0"/>
                <a:ea typeface="ＭＳ Ｐゴシック" charset="0"/>
              </a:defRPr>
            </a:lvl8pPr>
            <a:lvl9pPr marL="3960038" indent="-232943" defTabSz="928538"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28538" rtl="0" eaLnBrk="1" fontAlgn="auto" latinLnBrk="0" hangingPunct="1">
              <a:lnSpc>
                <a:spcPct val="100000"/>
              </a:lnSpc>
              <a:spcBef>
                <a:spcPts val="0"/>
              </a:spcBef>
              <a:spcAft>
                <a:spcPts val="0"/>
              </a:spcAft>
              <a:buClrTx/>
              <a:buSzTx/>
              <a:buFontTx/>
              <a:buNone/>
              <a:tabLst/>
              <a:defRPr/>
            </a:pPr>
            <a:fld id="{63410DDB-86CE-664C-ACF0-D7E5683DF526}"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Arial" charset="0"/>
              </a:rPr>
              <a:pPr marL="0" marR="0" lvl="0" indent="0" algn="r" defTabSz="928538"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cs typeface="Arial" charset="0"/>
            </a:endParaRPr>
          </a:p>
        </p:txBody>
      </p:sp>
      <p:sp>
        <p:nvSpPr>
          <p:cNvPr id="10649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06499"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endParaRPr lang="en-US">
              <a:latin typeface="Arial" charset="0"/>
            </a:endParaRPr>
          </a:p>
        </p:txBody>
      </p:sp>
    </p:spTree>
    <p:extLst>
      <p:ext uri="{BB962C8B-B14F-4D97-AF65-F5344CB8AC3E}">
        <p14:creationId xmlns:p14="http://schemas.microsoft.com/office/powerpoint/2010/main" val="31038486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15BD74-A3FE-8D41-A5F8-7391B7541C41}" type="slidenum">
              <a:rPr lang="en-US" smtClean="0"/>
              <a:t>27</a:t>
            </a:fld>
            <a:endParaRPr lang="en-US"/>
          </a:p>
        </p:txBody>
      </p:sp>
    </p:spTree>
    <p:extLst>
      <p:ext uri="{BB962C8B-B14F-4D97-AF65-F5344CB8AC3E}">
        <p14:creationId xmlns:p14="http://schemas.microsoft.com/office/powerpoint/2010/main" val="31313683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a:extLst>
              <a:ext uri="{FF2B5EF4-FFF2-40B4-BE49-F238E27FC236}">
                <a16:creationId xmlns:a16="http://schemas.microsoft.com/office/drawing/2014/main" id="{0751ED66-052F-F345-A866-5D9267BEF01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9638"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09638"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09638"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09638"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09638"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0963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0963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0963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0963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09638" rtl="0" eaLnBrk="1" fontAlgn="base" latinLnBrk="0" hangingPunct="1">
              <a:lnSpc>
                <a:spcPct val="100000"/>
              </a:lnSpc>
              <a:spcBef>
                <a:spcPct val="0"/>
              </a:spcBef>
              <a:spcAft>
                <a:spcPct val="0"/>
              </a:spcAft>
              <a:buClrTx/>
              <a:buSzTx/>
              <a:buFontTx/>
              <a:buNone/>
              <a:tabLst/>
              <a:defRPr/>
            </a:pPr>
            <a:fld id="{5217DDF5-C42C-4C43-AFC1-C054C587D8BE}"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09638" rtl="0" eaLnBrk="1" fontAlgn="base" latinLnBrk="0" hangingPunct="1">
                <a:lnSpc>
                  <a:spcPct val="100000"/>
                </a:lnSpc>
                <a:spcBef>
                  <a:spcPct val="0"/>
                </a:spcBef>
                <a:spcAft>
                  <a:spcPct val="0"/>
                </a:spcAft>
                <a:buClrTx/>
                <a:buSzTx/>
                <a:buFontTx/>
                <a:buNone/>
                <a:tabLst/>
                <a:defRPr/>
              </a:pPr>
              <a:t>29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2946" name="Rectangle 2">
            <a:extLst>
              <a:ext uri="{FF2B5EF4-FFF2-40B4-BE49-F238E27FC236}">
                <a16:creationId xmlns:a16="http://schemas.microsoft.com/office/drawing/2014/main" id="{FC9B272A-7862-5246-B92D-650FA9ED5C6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Rectangle 3">
            <a:extLst>
              <a:ext uri="{FF2B5EF4-FFF2-40B4-BE49-F238E27FC236}">
                <a16:creationId xmlns:a16="http://schemas.microsoft.com/office/drawing/2014/main" id="{8EAD5BDE-EBA0-8B46-A345-E988A62A24E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2401575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81100" y="696913"/>
            <a:ext cx="4648200" cy="3486150"/>
          </a:xfrm>
        </p:spPr>
      </p:sp>
      <p:sp>
        <p:nvSpPr>
          <p:cNvPr id="3" name="Marcador de notas 2"/>
          <p:cNvSpPr>
            <a:spLocks noGrp="1"/>
          </p:cNvSpPr>
          <p:nvPr>
            <p:ph type="body" idx="1"/>
          </p:nvPr>
        </p:nvSpPr>
        <p:spPr/>
        <p:txBody>
          <a:bodyPr/>
          <a:lstStyle/>
          <a:p>
            <a:endParaRPr lang="en-US" baseline="0" dirty="0"/>
          </a:p>
        </p:txBody>
      </p:sp>
      <p:sp>
        <p:nvSpPr>
          <p:cNvPr id="4" name="Marcador de número de diapositiva 3"/>
          <p:cNvSpPr>
            <a:spLocks noGrp="1"/>
          </p:cNvSpPr>
          <p:nvPr>
            <p:ph type="sldNum" sz="quarter" idx="10"/>
          </p:nvPr>
        </p:nvSpPr>
        <p:spPr/>
        <p:txBody>
          <a:bodyPr/>
          <a:lstStyle/>
          <a:p>
            <a:fld id="{33A2F704-0392-374E-9548-FE28CBDE16B0}" type="slidenum">
              <a:rPr lang="en-US" smtClean="0"/>
              <a:t>31</a:t>
            </a:fld>
            <a:endParaRPr lang="en-US"/>
          </a:p>
        </p:txBody>
      </p:sp>
    </p:spTree>
    <p:extLst>
      <p:ext uri="{BB962C8B-B14F-4D97-AF65-F5344CB8AC3E}">
        <p14:creationId xmlns:p14="http://schemas.microsoft.com/office/powerpoint/2010/main" val="33385141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Slide Image Placeholder 1">
            <a:extLst>
              <a:ext uri="{FF2B5EF4-FFF2-40B4-BE49-F238E27FC236}">
                <a16:creationId xmlns:a16="http://schemas.microsoft.com/office/drawing/2014/main" id="{98225960-2654-FF43-A15E-0EBCA8105589}"/>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4" name="Notes Placeholder 2">
            <a:extLst>
              <a:ext uri="{FF2B5EF4-FFF2-40B4-BE49-F238E27FC236}">
                <a16:creationId xmlns:a16="http://schemas.microsoft.com/office/drawing/2014/main" id="{3F4FB8D6-FEE8-724F-8776-7E1773CEA80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latin typeface="Arial" panose="020B0604020202020204" pitchFamily="34" charset="0"/>
                <a:ea typeface="ＭＳ Ｐゴシック" panose="020B0600070205080204" pitchFamily="34" charset="-128"/>
              </a:rPr>
              <a:t>With a large number of shader threads multiplexed on the same execution re- sources, our architecture employs fine-grained multithreading  where individual threads are interleaved by the fetch unit to proactively hide the potential latency of stalls before they occur. As illustrated by Figure, warps are issued fairly in a round-robin queue. When a thread is blocked by a memory request, shader core simply removes that thread</a:t>
            </a:r>
            <a:r>
              <a:rPr lang="ja-JP" altLang="en-US">
                <a:latin typeface="Arial" panose="020B0604020202020204" pitchFamily="34" charset="0"/>
                <a:ea typeface="ＭＳ Ｐゴシック" panose="020B0600070205080204" pitchFamily="34" charset="-128"/>
              </a:rPr>
              <a:t>’</a:t>
            </a:r>
            <a:r>
              <a:rPr lang="en-US" altLang="ja-JP">
                <a:latin typeface="Arial" panose="020B0604020202020204" pitchFamily="34" charset="0"/>
                <a:ea typeface="ＭＳ Ｐゴシック" panose="020B0600070205080204" pitchFamily="34" charset="-128"/>
              </a:rPr>
              <a:t>s warp from the pool of </a:t>
            </a:r>
            <a:r>
              <a:rPr lang="ja-JP" altLang="en-US">
                <a:latin typeface="Arial" panose="020B0604020202020204" pitchFamily="34" charset="0"/>
                <a:ea typeface="ＭＳ Ｐゴシック" panose="020B0600070205080204" pitchFamily="34" charset="-128"/>
              </a:rPr>
              <a:t>“</a:t>
            </a:r>
            <a:r>
              <a:rPr lang="en-US" altLang="ja-JP">
                <a:latin typeface="Arial" panose="020B0604020202020204" pitchFamily="34" charset="0"/>
                <a:ea typeface="ＭＳ Ｐゴシック" panose="020B0600070205080204" pitchFamily="34" charset="-128"/>
              </a:rPr>
              <a:t>ready</a:t>
            </a:r>
            <a:r>
              <a:rPr lang="ja-JP" altLang="en-US">
                <a:latin typeface="Arial" panose="020B0604020202020204" pitchFamily="34" charset="0"/>
                <a:ea typeface="ＭＳ Ｐゴシック" panose="020B0600070205080204" pitchFamily="34" charset="-128"/>
              </a:rPr>
              <a:t>”</a:t>
            </a:r>
            <a:r>
              <a:rPr lang="en-US" altLang="ja-JP">
                <a:latin typeface="Arial" panose="020B0604020202020204" pitchFamily="34" charset="0"/>
                <a:ea typeface="ＭＳ Ｐゴシック" panose="020B0600070205080204" pitchFamily="34" charset="-128"/>
              </a:rPr>
              <a:t> warps and thereby allows other threads to proceed while the memory system processes its request.</a:t>
            </a:r>
          </a:p>
          <a:p>
            <a:r>
              <a:rPr lang="en-US" altLang="en-US">
                <a:latin typeface="Arial" panose="020B0604020202020204" pitchFamily="34" charset="0"/>
                <a:ea typeface="ＭＳ Ｐゴシック" panose="020B0600070205080204" pitchFamily="34" charset="-128"/>
              </a:rPr>
              <a:t> With a large number of threads (1024 per shader core) interleaved on the same pipeline, FGMT effectively hides the latency of most memory operations since the pipeline is occupied with instructions from other threads while memory operations complete. also hides the pipeline latency so that data bypassing logic can potentially be omitted to save area with minimal impact on performance. simplify the dependency check logic design by restricting each thread to have at most one instruction running in the pipeline at any time.</a:t>
            </a:r>
          </a:p>
          <a:p>
            <a:endParaRPr lang="en-US" altLang="en-US">
              <a:latin typeface="Arial" panose="020B0604020202020204" pitchFamily="34" charset="0"/>
              <a:ea typeface="ＭＳ Ｐゴシック" panose="020B0600070205080204" pitchFamily="34" charset="-128"/>
            </a:endParaRPr>
          </a:p>
        </p:txBody>
      </p:sp>
      <p:sp>
        <p:nvSpPr>
          <p:cNvPr id="64515" name="Slide Number Placeholder 3">
            <a:extLst>
              <a:ext uri="{FF2B5EF4-FFF2-40B4-BE49-F238E27FC236}">
                <a16:creationId xmlns:a16="http://schemas.microsoft.com/office/drawing/2014/main" id="{CFE9DC1B-FA3A-A04F-BB69-33E75AE96F2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2813" rtl="0" eaLnBrk="1" fontAlgn="base" latinLnBrk="0" hangingPunct="1">
              <a:lnSpc>
                <a:spcPct val="100000"/>
              </a:lnSpc>
              <a:spcBef>
                <a:spcPct val="0"/>
              </a:spcBef>
              <a:spcAft>
                <a:spcPct val="0"/>
              </a:spcAft>
              <a:buClrTx/>
              <a:buSzTx/>
              <a:buFontTx/>
              <a:buNone/>
              <a:tabLst/>
              <a:defRPr/>
            </a:pPr>
            <a:fld id="{0D9A54B6-E4AF-4940-AF5B-A83ECE8D6C50}"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2813" rtl="0" eaLnBrk="1" fontAlgn="base" latinLnBrk="0" hangingPunct="1">
                <a:lnSpc>
                  <a:spcPct val="100000"/>
                </a:lnSpc>
                <a:spcBef>
                  <a:spcPct val="0"/>
                </a:spcBef>
                <a:spcAft>
                  <a:spcPct val="0"/>
                </a:spcAft>
                <a:buClrTx/>
                <a:buSzTx/>
                <a:buFontTx/>
                <a:buNone/>
                <a:tabLst/>
                <a:defRPr/>
              </a:pPr>
              <a:t>32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6730724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81100" y="696913"/>
            <a:ext cx="4648200" cy="3486150"/>
          </a:xfrm>
        </p:spPr>
      </p:sp>
      <p:sp>
        <p:nvSpPr>
          <p:cNvPr id="3" name="Marcador de notas 2"/>
          <p:cNvSpPr>
            <a:spLocks noGrp="1"/>
          </p:cNvSpPr>
          <p:nvPr>
            <p:ph type="body" idx="1"/>
          </p:nvPr>
        </p:nvSpPr>
        <p:spPr/>
        <p:txBody>
          <a:bodyPr/>
          <a:lstStyle/>
          <a:p>
            <a:endParaRPr lang="en-US" baseline="0" dirty="0"/>
          </a:p>
        </p:txBody>
      </p:sp>
      <p:sp>
        <p:nvSpPr>
          <p:cNvPr id="4" name="Marcador de número de diapositiva 3"/>
          <p:cNvSpPr>
            <a:spLocks noGrp="1"/>
          </p:cNvSpPr>
          <p:nvPr>
            <p:ph type="sldNum" sz="quarter" idx="10"/>
          </p:nvPr>
        </p:nvSpPr>
        <p:spPr/>
        <p:txBody>
          <a:bodyPr/>
          <a:lstStyle/>
          <a:p>
            <a:fld id="{33A2F704-0392-374E-9548-FE28CBDE16B0}" type="slidenum">
              <a:rPr lang="en-US" smtClean="0"/>
              <a:t>34</a:t>
            </a:fld>
            <a:endParaRPr lang="en-US"/>
          </a:p>
        </p:txBody>
      </p:sp>
    </p:spTree>
    <p:extLst>
      <p:ext uri="{BB962C8B-B14F-4D97-AF65-F5344CB8AC3E}">
        <p14:creationId xmlns:p14="http://schemas.microsoft.com/office/powerpoint/2010/main" val="28637762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81100" y="696913"/>
            <a:ext cx="4648200" cy="3486150"/>
          </a:xfrm>
        </p:spPr>
      </p:sp>
      <p:sp>
        <p:nvSpPr>
          <p:cNvPr id="3" name="Marcador de notas 2"/>
          <p:cNvSpPr>
            <a:spLocks noGrp="1"/>
          </p:cNvSpPr>
          <p:nvPr>
            <p:ph type="body" idx="1"/>
          </p:nvPr>
        </p:nvSpPr>
        <p:spPr/>
        <p:txBody>
          <a:bodyPr/>
          <a:lstStyle/>
          <a:p>
            <a:endParaRPr lang="en-US" baseline="0" dirty="0"/>
          </a:p>
        </p:txBody>
      </p:sp>
      <p:sp>
        <p:nvSpPr>
          <p:cNvPr id="4" name="Marcador de número de diapositiva 3"/>
          <p:cNvSpPr>
            <a:spLocks noGrp="1"/>
          </p:cNvSpPr>
          <p:nvPr>
            <p:ph type="sldNum" sz="quarter" idx="10"/>
          </p:nvPr>
        </p:nvSpPr>
        <p:spPr/>
        <p:txBody>
          <a:bodyPr/>
          <a:lstStyle/>
          <a:p>
            <a:fld id="{33A2F704-0392-374E-9548-FE28CBDE16B0}" type="slidenum">
              <a:rPr lang="en-US" smtClean="0"/>
              <a:t>40</a:t>
            </a:fld>
            <a:endParaRPr lang="en-US"/>
          </a:p>
        </p:txBody>
      </p:sp>
    </p:spTree>
    <p:extLst>
      <p:ext uri="{BB962C8B-B14F-4D97-AF65-F5344CB8AC3E}">
        <p14:creationId xmlns:p14="http://schemas.microsoft.com/office/powerpoint/2010/main" val="41281774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对每一个</a:t>
            </a:r>
            <a:r>
              <a:rPr lang="en-US" altLang="zh-CN" dirty="0"/>
              <a:t>row</a:t>
            </a:r>
            <a:r>
              <a:rPr lang="zh-CN" altLang="en-US" dirty="0"/>
              <a:t>，</a:t>
            </a:r>
            <a:r>
              <a:rPr lang="en-US" altLang="zh-CN" dirty="0"/>
              <a:t>col,</a:t>
            </a:r>
            <a:r>
              <a:rPr lang="zh-CN" altLang="en-US" dirty="0"/>
              <a:t>计算一个</a:t>
            </a:r>
            <a:r>
              <a:rPr lang="en-US" altLang="zh-CN" dirty="0"/>
              <a:t>sum</a:t>
            </a:r>
            <a:r>
              <a:rPr lang="zh-CN" altLang="en-US" dirty="0"/>
              <a:t>。</a:t>
            </a:r>
          </a:p>
        </p:txBody>
      </p:sp>
      <p:sp>
        <p:nvSpPr>
          <p:cNvPr id="4" name="灯片编号占位符 3"/>
          <p:cNvSpPr>
            <a:spLocks noGrp="1"/>
          </p:cNvSpPr>
          <p:nvPr>
            <p:ph type="sldNum" sz="quarter" idx="5"/>
          </p:nvPr>
        </p:nvSpPr>
        <p:spPr/>
        <p:txBody>
          <a:bodyPr/>
          <a:lstStyle/>
          <a:p>
            <a:fld id="{02E19713-9C4A-7245-9E88-240452797298}" type="slidenum">
              <a:rPr lang="en-US" altLang="en-US" smtClean="0"/>
              <a:pPr/>
              <a:t>46</a:t>
            </a:fld>
            <a:endParaRPr lang="en-US" altLang="en-US"/>
          </a:p>
        </p:txBody>
      </p:sp>
    </p:spTree>
    <p:extLst>
      <p:ext uri="{BB962C8B-B14F-4D97-AF65-F5344CB8AC3E}">
        <p14:creationId xmlns:p14="http://schemas.microsoft.com/office/powerpoint/2010/main" val="135049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L_SIZE: number of points together…</a:t>
            </a:r>
            <a:endParaRPr lang="zh-CN" altLang="en-US" dirty="0"/>
          </a:p>
        </p:txBody>
      </p:sp>
      <p:sp>
        <p:nvSpPr>
          <p:cNvPr id="4" name="灯片编号占位符 3"/>
          <p:cNvSpPr>
            <a:spLocks noGrp="1"/>
          </p:cNvSpPr>
          <p:nvPr>
            <p:ph type="sldNum" sz="quarter" idx="5"/>
          </p:nvPr>
        </p:nvSpPr>
        <p:spPr/>
        <p:txBody>
          <a:bodyPr/>
          <a:lstStyle/>
          <a:p>
            <a:fld id="{02E19713-9C4A-7245-9E88-240452797298}" type="slidenum">
              <a:rPr lang="en-US" altLang="en-US" smtClean="0"/>
              <a:pPr/>
              <a:t>47</a:t>
            </a:fld>
            <a:endParaRPr lang="en-US" altLang="en-US"/>
          </a:p>
        </p:txBody>
      </p:sp>
    </p:spTree>
    <p:extLst>
      <p:ext uri="{BB962C8B-B14F-4D97-AF65-F5344CB8AC3E}">
        <p14:creationId xmlns:p14="http://schemas.microsoft.com/office/powerpoint/2010/main" val="42949456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60FBC1-E21D-CD45-9A4E-ED75789291A7}" type="slidenum">
              <a:rPr lang="zh-TW" altLang="en-US"/>
              <a:pPr/>
              <a:t>48</a:t>
            </a:fld>
            <a:endParaRPr lang="en-US" altLang="zh-TW"/>
          </a:p>
        </p:txBody>
      </p:sp>
      <p:sp>
        <p:nvSpPr>
          <p:cNvPr id="212994" name="Rectangle 2"/>
          <p:cNvSpPr>
            <a:spLocks noGrp="1" noRot="1" noChangeAspect="1" noChangeArrowheads="1" noTextEdit="1"/>
          </p:cNvSpPr>
          <p:nvPr>
            <p:ph type="sldImg"/>
          </p:nvPr>
        </p:nvSpPr>
        <p:spPr>
          <a:ln/>
        </p:spPr>
      </p:sp>
      <p:sp>
        <p:nvSpPr>
          <p:cNvPr id="212995" name="Rectangle 3"/>
          <p:cNvSpPr>
            <a:spLocks noGrp="1" noChangeArrowheads="1"/>
          </p:cNvSpPr>
          <p:nvPr>
            <p:ph type="body" idx="1"/>
          </p:nvPr>
        </p:nvSpPr>
        <p:spPr/>
        <p:txBody>
          <a:bodyPr/>
          <a:lstStyle/>
          <a:p>
            <a:endParaRPr lang="zh-TW" altLang="en-US" dirty="0">
              <a:cs typeface="新細明體" pitchFamily="16" charset="-128"/>
            </a:endParaRPr>
          </a:p>
        </p:txBody>
      </p:sp>
    </p:spTree>
    <p:extLst>
      <p:ext uri="{BB962C8B-B14F-4D97-AF65-F5344CB8AC3E}">
        <p14:creationId xmlns:p14="http://schemas.microsoft.com/office/powerpoint/2010/main" val="22984594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B4C252-306E-224C-8B2A-E6667D8E67C9}" type="slidenum">
              <a:rPr lang="en-US" altLang="en-US" smtClean="0"/>
              <a:pPr>
                <a:defRPr/>
              </a:pPr>
              <a:t>52</a:t>
            </a:fld>
            <a:endParaRPr lang="en-US" altLang="en-US"/>
          </a:p>
        </p:txBody>
      </p:sp>
    </p:spTree>
    <p:extLst>
      <p:ext uri="{BB962C8B-B14F-4D97-AF65-F5344CB8AC3E}">
        <p14:creationId xmlns:p14="http://schemas.microsoft.com/office/powerpoint/2010/main" val="12274105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81100" y="696913"/>
            <a:ext cx="4648200" cy="3486150"/>
          </a:xfrm>
        </p:spPr>
      </p:sp>
      <p:sp>
        <p:nvSpPr>
          <p:cNvPr id="3" name="Marcador de notas 2"/>
          <p:cNvSpPr>
            <a:spLocks noGrp="1"/>
          </p:cNvSpPr>
          <p:nvPr>
            <p:ph type="body" idx="1"/>
          </p:nvPr>
        </p:nvSpPr>
        <p:spPr/>
        <p:txBody>
          <a:bodyPr/>
          <a:lstStyle/>
          <a:p>
            <a:endParaRPr lang="en-US" baseline="0" dirty="0"/>
          </a:p>
        </p:txBody>
      </p:sp>
      <p:sp>
        <p:nvSpPr>
          <p:cNvPr id="4" name="Marcador de número de diapositiva 3"/>
          <p:cNvSpPr>
            <a:spLocks noGrp="1"/>
          </p:cNvSpPr>
          <p:nvPr>
            <p:ph type="sldNum" sz="quarter" idx="10"/>
          </p:nvPr>
        </p:nvSpPr>
        <p:spPr/>
        <p:txBody>
          <a:bodyPr/>
          <a:lstStyle/>
          <a:p>
            <a:fld id="{33A2F704-0392-374E-9548-FE28CBDE16B0}" type="slidenum">
              <a:rPr lang="en-US" smtClean="0"/>
              <a:t>64</a:t>
            </a:fld>
            <a:endParaRPr lang="en-US"/>
          </a:p>
        </p:txBody>
      </p:sp>
    </p:spTree>
    <p:extLst>
      <p:ext uri="{BB962C8B-B14F-4D97-AF65-F5344CB8AC3E}">
        <p14:creationId xmlns:p14="http://schemas.microsoft.com/office/powerpoint/2010/main" val="31725344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2E19713-9C4A-7245-9E88-240452797298}" type="slidenum">
              <a:rPr lang="en-US" altLang="en-US" smtClean="0"/>
              <a:pPr/>
              <a:t>66</a:t>
            </a:fld>
            <a:endParaRPr lang="en-US" altLang="en-US"/>
          </a:p>
        </p:txBody>
      </p:sp>
    </p:spTree>
    <p:extLst>
      <p:ext uri="{BB962C8B-B14F-4D97-AF65-F5344CB8AC3E}">
        <p14:creationId xmlns:p14="http://schemas.microsoft.com/office/powerpoint/2010/main" val="13047664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81100" y="696913"/>
            <a:ext cx="4648200" cy="3486150"/>
          </a:xfrm>
        </p:spPr>
      </p:sp>
      <p:sp>
        <p:nvSpPr>
          <p:cNvPr id="3" name="Marcador de notas 2"/>
          <p:cNvSpPr>
            <a:spLocks noGrp="1"/>
          </p:cNvSpPr>
          <p:nvPr>
            <p:ph type="body" idx="1"/>
          </p:nvPr>
        </p:nvSpPr>
        <p:spPr/>
        <p:txBody>
          <a:bodyPr/>
          <a:lstStyle/>
          <a:p>
            <a:endParaRPr lang="en-US" baseline="0" dirty="0"/>
          </a:p>
        </p:txBody>
      </p:sp>
      <p:sp>
        <p:nvSpPr>
          <p:cNvPr id="4" name="Marcador de número de diapositiva 3"/>
          <p:cNvSpPr>
            <a:spLocks noGrp="1"/>
          </p:cNvSpPr>
          <p:nvPr>
            <p:ph type="sldNum" sz="quarter" idx="10"/>
          </p:nvPr>
        </p:nvSpPr>
        <p:spPr/>
        <p:txBody>
          <a:bodyPr/>
          <a:lstStyle/>
          <a:p>
            <a:fld id="{33A2F704-0392-374E-9548-FE28CBDE16B0}" type="slidenum">
              <a:rPr lang="en-US" smtClean="0"/>
              <a:t>73</a:t>
            </a:fld>
            <a:endParaRPr lang="en-US"/>
          </a:p>
        </p:txBody>
      </p:sp>
    </p:spTree>
    <p:extLst>
      <p:ext uri="{BB962C8B-B14F-4D97-AF65-F5344CB8AC3E}">
        <p14:creationId xmlns:p14="http://schemas.microsoft.com/office/powerpoint/2010/main" val="13739241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a:extLst>
              <a:ext uri="{FF2B5EF4-FFF2-40B4-BE49-F238E27FC236}">
                <a16:creationId xmlns:a16="http://schemas.microsoft.com/office/drawing/2014/main" id="{0751ED66-052F-F345-A866-5D9267BEF01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9638"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09638"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09638"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09638"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09638"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0963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0963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0963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0963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09638" rtl="0" eaLnBrk="1" fontAlgn="base" latinLnBrk="0" hangingPunct="1">
              <a:lnSpc>
                <a:spcPct val="100000"/>
              </a:lnSpc>
              <a:spcBef>
                <a:spcPct val="0"/>
              </a:spcBef>
              <a:spcAft>
                <a:spcPct val="0"/>
              </a:spcAft>
              <a:buClrTx/>
              <a:buSzTx/>
              <a:buFontTx/>
              <a:buNone/>
              <a:tabLst/>
              <a:defRPr/>
            </a:pPr>
            <a:fld id="{5217DDF5-C42C-4C43-AFC1-C054C587D8BE}"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09638" rtl="0" eaLnBrk="1" fontAlgn="base" latinLnBrk="0" hangingPunct="1">
                <a:lnSpc>
                  <a:spcPct val="100000"/>
                </a:lnSpc>
                <a:spcBef>
                  <a:spcPct val="0"/>
                </a:spcBef>
                <a:spcAft>
                  <a:spcPct val="0"/>
                </a:spcAft>
                <a:buClrTx/>
                <a:buSzTx/>
                <a:buFontTx/>
                <a:buNone/>
                <a:tabLst/>
                <a:defRPr/>
              </a:pPr>
              <a:t>74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2946" name="Rectangle 2">
            <a:extLst>
              <a:ext uri="{FF2B5EF4-FFF2-40B4-BE49-F238E27FC236}">
                <a16:creationId xmlns:a16="http://schemas.microsoft.com/office/drawing/2014/main" id="{FC9B272A-7862-5246-B92D-650FA9ED5C6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Rectangle 3">
            <a:extLst>
              <a:ext uri="{FF2B5EF4-FFF2-40B4-BE49-F238E27FC236}">
                <a16:creationId xmlns:a16="http://schemas.microsoft.com/office/drawing/2014/main" id="{8EAD5BDE-EBA0-8B46-A345-E988A62A24E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4089025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normAutofit/>
          </a:bodyPr>
          <a:lstStyle/>
          <a:p>
            <a:endParaRPr lang="es-ES_tradnl" dirty="0"/>
          </a:p>
        </p:txBody>
      </p:sp>
      <p:sp>
        <p:nvSpPr>
          <p:cNvPr id="4" name="Marcador de número de diapositiva 3"/>
          <p:cNvSpPr>
            <a:spLocks noGrp="1"/>
          </p:cNvSpPr>
          <p:nvPr>
            <p:ph type="sldNum" sz="quarter" idx="10"/>
          </p:nvPr>
        </p:nvSpPr>
        <p:spPr/>
        <p:txBody>
          <a:bodyPr/>
          <a:lstStyle/>
          <a:p>
            <a:fld id="{5041B4A3-416A-FE48-B898-118D75DBF39A}" type="slidenum">
              <a:rPr lang="es-ES_tradnl" smtClean="0"/>
              <a:pPr/>
              <a:t>75</a:t>
            </a:fld>
            <a:endParaRPr lang="es-ES_tradnl"/>
          </a:p>
        </p:txBody>
      </p:sp>
    </p:spTree>
    <p:extLst>
      <p:ext uri="{BB962C8B-B14F-4D97-AF65-F5344CB8AC3E}">
        <p14:creationId xmlns:p14="http://schemas.microsoft.com/office/powerpoint/2010/main" val="19582060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normAutofit/>
          </a:bodyPr>
          <a:lstStyle/>
          <a:p>
            <a:endParaRPr lang="es-ES_tradnl" dirty="0"/>
          </a:p>
        </p:txBody>
      </p:sp>
      <p:sp>
        <p:nvSpPr>
          <p:cNvPr id="4" name="Marcador de número de diapositiva 3"/>
          <p:cNvSpPr>
            <a:spLocks noGrp="1"/>
          </p:cNvSpPr>
          <p:nvPr>
            <p:ph type="sldNum" sz="quarter" idx="10"/>
          </p:nvPr>
        </p:nvSpPr>
        <p:spPr/>
        <p:txBody>
          <a:bodyPr/>
          <a:lstStyle/>
          <a:p>
            <a:fld id="{5041B4A3-416A-FE48-B898-118D75DBF39A}" type="slidenum">
              <a:rPr lang="es-ES_tradnl" smtClean="0"/>
              <a:pPr/>
              <a:t>77</a:t>
            </a:fld>
            <a:endParaRPr lang="es-ES_tradnl"/>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81100" y="696913"/>
            <a:ext cx="4648200" cy="3486150"/>
          </a:xfrm>
        </p:spPr>
      </p:sp>
      <p:sp>
        <p:nvSpPr>
          <p:cNvPr id="3" name="Marcador de notas 2"/>
          <p:cNvSpPr>
            <a:spLocks noGrp="1"/>
          </p:cNvSpPr>
          <p:nvPr>
            <p:ph type="body" idx="1"/>
          </p:nvPr>
        </p:nvSpPr>
        <p:spPr/>
        <p:txBody>
          <a:bodyPr/>
          <a:lstStyle/>
          <a:p>
            <a:endParaRPr lang="en-US" baseline="0" dirty="0"/>
          </a:p>
        </p:txBody>
      </p:sp>
      <p:sp>
        <p:nvSpPr>
          <p:cNvPr id="4" name="Marcador de número de diapositiva 3"/>
          <p:cNvSpPr>
            <a:spLocks noGrp="1"/>
          </p:cNvSpPr>
          <p:nvPr>
            <p:ph type="sldNum" sz="quarter" idx="10"/>
          </p:nvPr>
        </p:nvSpPr>
        <p:spPr/>
        <p:txBody>
          <a:bodyPr/>
          <a:lstStyle/>
          <a:p>
            <a:fld id="{33A2F704-0392-374E-9548-FE28CBDE16B0}" type="slidenum">
              <a:rPr lang="en-US" smtClean="0"/>
              <a:t>79</a:t>
            </a:fld>
            <a:endParaRPr lang="en-US"/>
          </a:p>
        </p:txBody>
      </p:sp>
    </p:spTree>
    <p:extLst>
      <p:ext uri="{BB962C8B-B14F-4D97-AF65-F5344CB8AC3E}">
        <p14:creationId xmlns:p14="http://schemas.microsoft.com/office/powerpoint/2010/main" val="2638879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a:extLst>
              <a:ext uri="{FF2B5EF4-FFF2-40B4-BE49-F238E27FC236}">
                <a16:creationId xmlns:a16="http://schemas.microsoft.com/office/drawing/2014/main" id="{0751ED66-052F-F345-A866-5D9267BEF01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9638"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09638"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09638"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09638"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09638"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0963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0963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0963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0963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09638" rtl="0" eaLnBrk="1" fontAlgn="base" latinLnBrk="0" hangingPunct="1">
              <a:lnSpc>
                <a:spcPct val="100000"/>
              </a:lnSpc>
              <a:spcBef>
                <a:spcPct val="0"/>
              </a:spcBef>
              <a:spcAft>
                <a:spcPct val="0"/>
              </a:spcAft>
              <a:buClrTx/>
              <a:buSzTx/>
              <a:buFontTx/>
              <a:buNone/>
              <a:tabLst/>
              <a:defRPr/>
            </a:pPr>
            <a:fld id="{5217DDF5-C42C-4C43-AFC1-C054C587D8BE}"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09638" rtl="0" eaLnBrk="1" fontAlgn="base" latinLnBrk="0" hangingPunct="1">
                <a:lnSpc>
                  <a:spcPct val="100000"/>
                </a:lnSpc>
                <a:spcBef>
                  <a:spcPct val="0"/>
                </a:spcBef>
                <a:spcAft>
                  <a:spcPct val="0"/>
                </a:spcAft>
                <a:buClrTx/>
                <a:buSzTx/>
                <a:buFontTx/>
                <a:buNone/>
                <a:tabLst/>
                <a:defRPr/>
              </a:pPr>
              <a:t>80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2946" name="Rectangle 2">
            <a:extLst>
              <a:ext uri="{FF2B5EF4-FFF2-40B4-BE49-F238E27FC236}">
                <a16:creationId xmlns:a16="http://schemas.microsoft.com/office/drawing/2014/main" id="{FC9B272A-7862-5246-B92D-650FA9ED5C6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Rectangle 3">
            <a:extLst>
              <a:ext uri="{FF2B5EF4-FFF2-40B4-BE49-F238E27FC236}">
                <a16:creationId xmlns:a16="http://schemas.microsoft.com/office/drawing/2014/main" id="{8EAD5BDE-EBA0-8B46-A345-E988A62A24E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129770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normAutofit/>
          </a:bodyPr>
          <a:lstStyle/>
          <a:p>
            <a:r>
              <a:rPr lang="en-US" noProof="0" dirty="0"/>
              <a:t>Computation is divided</a:t>
            </a:r>
            <a:r>
              <a:rPr lang="en-US" baseline="0" noProof="0" dirty="0"/>
              <a:t> such that if D data instances need B blocks to be processed… The kernel is therefore #Streams times launched.</a:t>
            </a:r>
          </a:p>
          <a:p>
            <a:r>
              <a:rPr lang="en-US" baseline="0" noProof="0" dirty="0"/>
              <a:t>CUDA literature gives only two rough estimates, but does not give any hint of the optimal number of streams in which a given data set should be preferably divided.</a:t>
            </a:r>
          </a:p>
          <a:p>
            <a:endParaRPr lang="en-US" baseline="0" noProof="0" dirty="0"/>
          </a:p>
        </p:txBody>
      </p:sp>
      <p:sp>
        <p:nvSpPr>
          <p:cNvPr id="4" name="Marcador de número de diapositiva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7CB778-670F-2D47-A8F4-B86EC1F0358D}" type="slidenum">
              <a:rPr kumimoji="0" lang="es-ES_trad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es-ES_trad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698712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normAutofit/>
          </a:bodyPr>
          <a:lstStyle/>
          <a:p>
            <a:r>
              <a:rPr lang="en-US" noProof="0" dirty="0"/>
              <a:t>Computation is divided</a:t>
            </a:r>
            <a:r>
              <a:rPr lang="en-US" baseline="0" noProof="0" dirty="0"/>
              <a:t> such that if D data instances need B blocks to be processed… The kernel is therefore #Streams times launched.</a:t>
            </a:r>
          </a:p>
          <a:p>
            <a:r>
              <a:rPr lang="en-US" baseline="0" noProof="0" dirty="0"/>
              <a:t>CUDA literature gives only two rough estimates, but does not give any hint of the optimal number of streams in which a given data set should be preferably divided.</a:t>
            </a:r>
          </a:p>
          <a:p>
            <a:endParaRPr lang="en-US" baseline="0" noProof="0" dirty="0"/>
          </a:p>
        </p:txBody>
      </p:sp>
      <p:sp>
        <p:nvSpPr>
          <p:cNvPr id="4" name="Marcador de número de diapositiva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7CB778-670F-2D47-A8F4-B86EC1F0358D}" type="slidenum">
              <a:rPr kumimoji="0" lang="es-ES_trad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82</a:t>
            </a:fld>
            <a:endParaRPr kumimoji="0" lang="es-ES_tradnl" sz="12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959945-7217-484B-8E74-88DC87A74BB0}"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438289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normAutofit/>
          </a:bodyPr>
          <a:lstStyle/>
          <a:p>
            <a:r>
              <a:rPr lang="en-US" noProof="0" dirty="0"/>
              <a:t>A</a:t>
            </a:r>
            <a:r>
              <a:rPr lang="en-US" baseline="0" noProof="0" dirty="0"/>
              <a:t> number </a:t>
            </a:r>
            <a:r>
              <a:rPr lang="en-US" baseline="0" noProof="0" dirty="0" err="1"/>
              <a:t>b</a:t>
            </a:r>
            <a:r>
              <a:rPr lang="en-US" baseline="0" noProof="0" dirty="0"/>
              <a:t> of blocks per frame executes.</a:t>
            </a:r>
          </a:p>
          <a:p>
            <a:r>
              <a:rPr lang="en-US" baseline="0" noProof="0" dirty="0"/>
              <a:t>Data transfers are overlapped with computation. Thus, some time can be saved.</a:t>
            </a:r>
          </a:p>
          <a:p>
            <a:endParaRPr lang="en-US" noProof="0" dirty="0"/>
          </a:p>
        </p:txBody>
      </p:sp>
      <p:sp>
        <p:nvSpPr>
          <p:cNvPr id="4" name="Marcador de número de diapositiva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7CB778-670F-2D47-A8F4-B86EC1F0358D}" type="slidenum">
              <a:rPr kumimoji="0" lang="es-ES_trad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es-ES_tradnl" sz="12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a:extLst>
              <a:ext uri="{FF2B5EF4-FFF2-40B4-BE49-F238E27FC236}">
                <a16:creationId xmlns:a16="http://schemas.microsoft.com/office/drawing/2014/main" id="{F1B71060-4BED-264E-B5AB-5D060FC9E9FB}"/>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4" name="Notes Placeholder 2">
            <a:extLst>
              <a:ext uri="{FF2B5EF4-FFF2-40B4-BE49-F238E27FC236}">
                <a16:creationId xmlns:a16="http://schemas.microsoft.com/office/drawing/2014/main" id="{F3B43675-ED60-3540-9853-82CA7DDDCBC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000" dirty="0"/>
              <a:t>New </a:t>
            </a:r>
            <a:r>
              <a:rPr lang="en-US" sz="1000" b="1" dirty="0"/>
              <a:t>asynchronous execution</a:t>
            </a:r>
            <a:r>
              <a:rPr lang="en-US" sz="1000" dirty="0"/>
              <a:t> features include a new </a:t>
            </a:r>
            <a:r>
              <a:rPr lang="en-US" sz="1000" b="1" dirty="0"/>
              <a:t>Tensor Memory Accelerator (TMA) </a:t>
            </a:r>
            <a:r>
              <a:rPr lang="en-US" sz="1000" dirty="0"/>
              <a:t>unit that can transfer large blocks of data efficiently between global memory and shared memory. TMA also supports asynchronous copies between thread blocks in a cluster. There is also a new </a:t>
            </a:r>
            <a:r>
              <a:rPr lang="en-US" sz="1000" b="1" dirty="0"/>
              <a:t>asynchronous transaction barrier</a:t>
            </a:r>
            <a:r>
              <a:rPr lang="en-US" sz="1000" dirty="0"/>
              <a:t> for doing atomic data movement and synchronization.</a:t>
            </a:r>
          </a:p>
          <a:p>
            <a:pPr lvl="1"/>
            <a:r>
              <a:rPr lang="en-US" sz="1000" dirty="0"/>
              <a:t>New </a:t>
            </a:r>
            <a:r>
              <a:rPr lang="en-US" sz="1000" b="1" dirty="0"/>
              <a:t>asynchronous execution</a:t>
            </a:r>
            <a:r>
              <a:rPr lang="en-US" sz="1000" dirty="0"/>
              <a:t> features include a new </a:t>
            </a:r>
            <a:r>
              <a:rPr lang="en-US" sz="1000" b="1" dirty="0"/>
              <a:t>Tensor Memory Accelerator (TMA) </a:t>
            </a:r>
            <a:r>
              <a:rPr lang="en-US" sz="1000" dirty="0"/>
              <a:t>unit that can efficiently transfer large blocks of data between global memory and shared memory. TMA also supports asynchronous copies between thread blocks in a cluster. There is also a new </a:t>
            </a:r>
            <a:r>
              <a:rPr lang="en-US" sz="1000" b="1" dirty="0"/>
              <a:t>asynchronous transaction barrier</a:t>
            </a:r>
            <a:r>
              <a:rPr lang="en-US" sz="1000" dirty="0"/>
              <a:t> for doing atomic data movement and synchronization.</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dirty="0"/>
          </a:p>
        </p:txBody>
      </p:sp>
      <p:sp>
        <p:nvSpPr>
          <p:cNvPr id="84995" name="Slide Number Placeholder 3">
            <a:extLst>
              <a:ext uri="{FF2B5EF4-FFF2-40B4-BE49-F238E27FC236}">
                <a16:creationId xmlns:a16="http://schemas.microsoft.com/office/drawing/2014/main" id="{DA2FEC94-CE7C-7F4D-9AEB-C4F824521BD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2813" rtl="0" eaLnBrk="1" fontAlgn="base" latinLnBrk="0" hangingPunct="1">
              <a:lnSpc>
                <a:spcPct val="100000"/>
              </a:lnSpc>
              <a:spcBef>
                <a:spcPct val="0"/>
              </a:spcBef>
              <a:spcAft>
                <a:spcPct val="0"/>
              </a:spcAft>
              <a:buClrTx/>
              <a:buSzTx/>
              <a:buFontTx/>
              <a:buNone/>
              <a:tabLst/>
              <a:defRPr/>
            </a:pPr>
            <a:fld id="{E5EA8C3D-9B74-7A43-B7E8-1232C63E8CDC}"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2813" rtl="0" eaLnBrk="1" fontAlgn="base" latinLnBrk="0" hangingPunct="1">
                <a:lnSpc>
                  <a:spcPct val="100000"/>
                </a:lnSpc>
                <a:spcBef>
                  <a:spcPct val="0"/>
                </a:spcBef>
                <a:spcAft>
                  <a:spcPct val="0"/>
                </a:spcAft>
                <a:buClrTx/>
                <a:buSzTx/>
                <a:buFontTx/>
                <a:buNone/>
                <a:tabLst/>
                <a:defRPr/>
              </a:pPr>
              <a:t>85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1389482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9B30F4-598E-4BB0-966A-C8D550B7CF7D}" type="slidenum">
              <a:rPr lang="en-US" altLang="zh-CN"/>
              <a:pPr/>
              <a:t>86</a:t>
            </a:fld>
            <a:endParaRPr lang="en-US" altLang="zh-CN"/>
          </a:p>
        </p:txBody>
      </p:sp>
      <p:sp>
        <p:nvSpPr>
          <p:cNvPr id="683010" name="Rectangle 2"/>
          <p:cNvSpPr>
            <a:spLocks noGrp="1" noRot="1" noChangeAspect="1" noChangeArrowheads="1" noTextEdit="1"/>
          </p:cNvSpPr>
          <p:nvPr>
            <p:ph type="sldImg"/>
          </p:nvPr>
        </p:nvSpPr>
        <p:spPr>
          <a:xfrm>
            <a:off x="993775" y="768350"/>
            <a:ext cx="5116513" cy="3836988"/>
          </a:xfrm>
          <a:ln/>
        </p:spPr>
      </p:sp>
      <p:sp>
        <p:nvSpPr>
          <p:cNvPr id="683011" name="Rectangle 3"/>
          <p:cNvSpPr>
            <a:spLocks noGrp="1" noChangeArrowheads="1"/>
          </p:cNvSpPr>
          <p:nvPr>
            <p:ph type="body" idx="1"/>
          </p:nvPr>
        </p:nvSpPr>
        <p:spPr/>
        <p:txBody>
          <a:bodyPr/>
          <a:lstStyle/>
          <a:p>
            <a:r>
              <a:rPr lang="en-US" altLang="zh-CN" dirty="0"/>
              <a:t>KB MB GB TB</a:t>
            </a:r>
          </a:p>
          <a:p>
            <a:r>
              <a:rPr lang="en-US" altLang="zh-CN" dirty="0"/>
              <a:t>K M B T E P</a:t>
            </a:r>
          </a:p>
          <a:p>
            <a:r>
              <a:rPr lang="en-US" altLang="zh-CN" dirty="0"/>
              <a:t>1B=10</a:t>
            </a:r>
            <a:r>
              <a:rPr lang="zh-CN" altLang="en-US" dirty="0"/>
              <a:t>亿</a:t>
            </a:r>
            <a:endParaRPr lang="zh-CN" altLang="zh-CN" dirty="0"/>
          </a:p>
        </p:txBody>
      </p:sp>
    </p:spTree>
    <p:extLst>
      <p:ext uri="{BB962C8B-B14F-4D97-AF65-F5344CB8AC3E}">
        <p14:creationId xmlns:p14="http://schemas.microsoft.com/office/powerpoint/2010/main" val="16006075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02E19713-9C4A-7245-9E88-240452797298}" type="slidenum">
              <a:rPr lang="en-US" altLang="en-US" smtClean="0"/>
              <a:pPr/>
              <a:t>88</a:t>
            </a:fld>
            <a:endParaRPr lang="en-US" altLang="en-US"/>
          </a:p>
        </p:txBody>
      </p:sp>
    </p:spTree>
    <p:extLst>
      <p:ext uri="{BB962C8B-B14F-4D97-AF65-F5344CB8AC3E}">
        <p14:creationId xmlns:p14="http://schemas.microsoft.com/office/powerpoint/2010/main" val="32114847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Thread block is the key innovation to scale-up GPU architecture. T</a:t>
            </a:r>
            <a:r>
              <a:rPr lang="en-US" dirty="0"/>
              <a:t>h</a:t>
            </a:r>
            <a:r>
              <a:rPr lang="en-CN" dirty="0"/>
              <a:t>e software code stays the same and enjoys performance speedup while GPU hardware evolves. </a:t>
            </a:r>
          </a:p>
        </p:txBody>
      </p:sp>
      <p:sp>
        <p:nvSpPr>
          <p:cNvPr id="4" name="Slide Number Placeholder 3"/>
          <p:cNvSpPr>
            <a:spLocks noGrp="1"/>
          </p:cNvSpPr>
          <p:nvPr>
            <p:ph type="sldNum" sz="quarter" idx="5"/>
          </p:nvPr>
        </p:nvSpPr>
        <p:spPr/>
        <p:txBody>
          <a:bodyPr/>
          <a:lstStyle/>
          <a:p>
            <a:fld id="{02E19713-9C4A-7245-9E88-240452797298}" type="slidenum">
              <a:rPr lang="en-US" altLang="en-US" smtClean="0"/>
              <a:pPr/>
              <a:t>89</a:t>
            </a:fld>
            <a:endParaRPr lang="en-US" altLang="en-US"/>
          </a:p>
        </p:txBody>
      </p:sp>
    </p:spTree>
    <p:extLst>
      <p:ext uri="{BB962C8B-B14F-4D97-AF65-F5344CB8AC3E}">
        <p14:creationId xmlns:p14="http://schemas.microsoft.com/office/powerpoint/2010/main" val="30010419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7C744B83-4892-F345-A33F-94F6137FBD7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9638"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09638"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09638"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09638"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09638"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0963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0963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0963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0963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09638" rtl="0" eaLnBrk="1" fontAlgn="base" latinLnBrk="0" hangingPunct="1">
              <a:lnSpc>
                <a:spcPct val="100000"/>
              </a:lnSpc>
              <a:spcBef>
                <a:spcPct val="0"/>
              </a:spcBef>
              <a:spcAft>
                <a:spcPct val="0"/>
              </a:spcAft>
              <a:buClrTx/>
              <a:buSzTx/>
              <a:buFontTx/>
              <a:buNone/>
              <a:tabLst/>
              <a:defRPr/>
            </a:pPr>
            <a:fld id="{F50BD520-5C72-1145-A988-51D7DFFD0FEA}"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09638" rtl="0" eaLnBrk="1" fontAlgn="base" latinLnBrk="0" hangingPunct="1">
                <a:lnSpc>
                  <a:spcPct val="100000"/>
                </a:lnSpc>
                <a:spcBef>
                  <a:spcPct val="0"/>
                </a:spcBef>
                <a:spcAft>
                  <a:spcPct val="0"/>
                </a:spcAft>
                <a:buClrTx/>
                <a:buSzTx/>
                <a:buFontTx/>
                <a:buNone/>
                <a:tabLst/>
                <a:defRPr/>
              </a:pPr>
              <a:t>97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57346" name="Rectangle 2">
            <a:extLst>
              <a:ext uri="{FF2B5EF4-FFF2-40B4-BE49-F238E27FC236}">
                <a16:creationId xmlns:a16="http://schemas.microsoft.com/office/drawing/2014/main" id="{7371266A-380F-974D-8A00-3B7523511C2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Rectangle 3">
            <a:extLst>
              <a:ext uri="{FF2B5EF4-FFF2-40B4-BE49-F238E27FC236}">
                <a16:creationId xmlns:a16="http://schemas.microsoft.com/office/drawing/2014/main" id="{CFBD2B51-1448-E649-8770-8E6DEED89A4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7368772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Slide Image Placeholder 1">
            <a:extLst>
              <a:ext uri="{FF2B5EF4-FFF2-40B4-BE49-F238E27FC236}">
                <a16:creationId xmlns:a16="http://schemas.microsoft.com/office/drawing/2014/main" id="{98225960-2654-FF43-A15E-0EBCA8105589}"/>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4" name="Notes Placeholder 2">
            <a:extLst>
              <a:ext uri="{FF2B5EF4-FFF2-40B4-BE49-F238E27FC236}">
                <a16:creationId xmlns:a16="http://schemas.microsoft.com/office/drawing/2014/main" id="{3F4FB8D6-FEE8-724F-8776-7E1773CEA80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latin typeface="Arial" panose="020B0604020202020204" pitchFamily="34" charset="0"/>
                <a:ea typeface="ＭＳ Ｐゴシック" panose="020B0600070205080204" pitchFamily="34" charset="-128"/>
              </a:rPr>
              <a:t>With a large number of shader threads multiplexed on the same execution re- sources, our architecture employs fine-grained multithreading  where individual threads are interleaved by the fetch unit to proactively hide the potential latency of stalls before they occur. As illustrated by Figure, warps are issued fairly in a round-robin queue. When a thread is blocked by a memory request, shader core simply removes that thread</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s warp from the pool of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ready</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 warps and thereby allows other threads to proceed while the memory system processes its request.</a:t>
            </a:r>
          </a:p>
          <a:p>
            <a:r>
              <a:rPr lang="en-US" altLang="en-US" dirty="0">
                <a:latin typeface="Arial" panose="020B0604020202020204" pitchFamily="34" charset="0"/>
                <a:ea typeface="ＭＳ Ｐゴシック" panose="020B0600070205080204" pitchFamily="34" charset="-128"/>
              </a:rPr>
              <a:t> With a large number of threads (1024 per shader core) interleaved on the same pipeline, FGMT effectively hides the latency of most memory operations since the pipeline is occupied with instructions from other threads while memory operations complete. also hides the pipeline latency so that data bypassing logic can potentially be omitted to save area with minimal impact on performance. simplify the dependency check logic design by restricting each thread to have at most one instruction running in the pipeline at any time.</a:t>
            </a:r>
          </a:p>
          <a:p>
            <a:endParaRPr lang="en-US" altLang="en-US" dirty="0">
              <a:latin typeface="Arial" panose="020B0604020202020204" pitchFamily="34" charset="0"/>
              <a:ea typeface="ＭＳ Ｐゴシック" panose="020B0600070205080204" pitchFamily="34" charset="-128"/>
            </a:endParaRPr>
          </a:p>
        </p:txBody>
      </p:sp>
      <p:sp>
        <p:nvSpPr>
          <p:cNvPr id="64515" name="Slide Number Placeholder 3">
            <a:extLst>
              <a:ext uri="{FF2B5EF4-FFF2-40B4-BE49-F238E27FC236}">
                <a16:creationId xmlns:a16="http://schemas.microsoft.com/office/drawing/2014/main" id="{CFE9DC1B-FA3A-A04F-BB69-33E75AE96F2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2813" rtl="0" eaLnBrk="1" fontAlgn="base" latinLnBrk="0" hangingPunct="1">
              <a:lnSpc>
                <a:spcPct val="100000"/>
              </a:lnSpc>
              <a:spcBef>
                <a:spcPct val="0"/>
              </a:spcBef>
              <a:spcAft>
                <a:spcPct val="0"/>
              </a:spcAft>
              <a:buClrTx/>
              <a:buSzTx/>
              <a:buFontTx/>
              <a:buNone/>
              <a:tabLst/>
              <a:defRPr/>
            </a:pPr>
            <a:fld id="{0D9A54B6-E4AF-4940-AF5B-A83ECE8D6C50}"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2813" rtl="0" eaLnBrk="1" fontAlgn="base" latinLnBrk="0" hangingPunct="1">
                <a:lnSpc>
                  <a:spcPct val="100000"/>
                </a:lnSpc>
                <a:spcBef>
                  <a:spcPct val="0"/>
                </a:spcBef>
                <a:spcAft>
                  <a:spcPct val="0"/>
                </a:spcAft>
                <a:buClrTx/>
                <a:buSzTx/>
                <a:buFontTx/>
                <a:buNone/>
                <a:tabLst/>
                <a:defRPr/>
              </a:pPr>
              <a:t>100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5669927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a:extLst>
              <a:ext uri="{FF2B5EF4-FFF2-40B4-BE49-F238E27FC236}">
                <a16:creationId xmlns:a16="http://schemas.microsoft.com/office/drawing/2014/main" id="{F1B71060-4BED-264E-B5AB-5D060FC9E9FB}"/>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4" name="Notes Placeholder 2">
            <a:extLst>
              <a:ext uri="{FF2B5EF4-FFF2-40B4-BE49-F238E27FC236}">
                <a16:creationId xmlns:a16="http://schemas.microsoft.com/office/drawing/2014/main" id="{F3B43675-ED60-3540-9853-82CA7DDDCBC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dirty="0"/>
          </a:p>
        </p:txBody>
      </p:sp>
      <p:sp>
        <p:nvSpPr>
          <p:cNvPr id="84995" name="Slide Number Placeholder 3">
            <a:extLst>
              <a:ext uri="{FF2B5EF4-FFF2-40B4-BE49-F238E27FC236}">
                <a16:creationId xmlns:a16="http://schemas.microsoft.com/office/drawing/2014/main" id="{DA2FEC94-CE7C-7F4D-9AEB-C4F824521BD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2813" rtl="0" eaLnBrk="1" fontAlgn="base" latinLnBrk="0" hangingPunct="1">
              <a:lnSpc>
                <a:spcPct val="100000"/>
              </a:lnSpc>
              <a:spcBef>
                <a:spcPct val="0"/>
              </a:spcBef>
              <a:spcAft>
                <a:spcPct val="0"/>
              </a:spcAft>
              <a:buClrTx/>
              <a:buSzTx/>
              <a:buFontTx/>
              <a:buNone/>
              <a:tabLst/>
              <a:defRPr/>
            </a:pPr>
            <a:fld id="{E5EA8C3D-9B74-7A43-B7E8-1232C63E8CDC}"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2813" rtl="0" eaLnBrk="1" fontAlgn="base" latinLnBrk="0" hangingPunct="1">
                <a:lnSpc>
                  <a:spcPct val="100000"/>
                </a:lnSpc>
                <a:spcBef>
                  <a:spcPct val="0"/>
                </a:spcBef>
                <a:spcAft>
                  <a:spcPct val="0"/>
                </a:spcAft>
                <a:buClrTx/>
                <a:buSzTx/>
                <a:buFontTx/>
                <a:buNone/>
                <a:tabLst/>
                <a:defRPr/>
              </a:pPr>
              <a:t>112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91411166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a:extLst>
              <a:ext uri="{FF2B5EF4-FFF2-40B4-BE49-F238E27FC236}">
                <a16:creationId xmlns:a16="http://schemas.microsoft.com/office/drawing/2014/main" id="{F1B71060-4BED-264E-B5AB-5D060FC9E9FB}"/>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4" name="Notes Placeholder 2">
            <a:extLst>
              <a:ext uri="{FF2B5EF4-FFF2-40B4-BE49-F238E27FC236}">
                <a16:creationId xmlns:a16="http://schemas.microsoft.com/office/drawing/2014/main" id="{F3B43675-ED60-3540-9853-82CA7DDDCBC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dirty="0"/>
          </a:p>
        </p:txBody>
      </p:sp>
      <p:sp>
        <p:nvSpPr>
          <p:cNvPr id="84995" name="Slide Number Placeholder 3">
            <a:extLst>
              <a:ext uri="{FF2B5EF4-FFF2-40B4-BE49-F238E27FC236}">
                <a16:creationId xmlns:a16="http://schemas.microsoft.com/office/drawing/2014/main" id="{DA2FEC94-CE7C-7F4D-9AEB-C4F824521BD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2813" rtl="0" eaLnBrk="1" fontAlgn="base" latinLnBrk="0" hangingPunct="1">
              <a:lnSpc>
                <a:spcPct val="100000"/>
              </a:lnSpc>
              <a:spcBef>
                <a:spcPct val="0"/>
              </a:spcBef>
              <a:spcAft>
                <a:spcPct val="0"/>
              </a:spcAft>
              <a:buClrTx/>
              <a:buSzTx/>
              <a:buFontTx/>
              <a:buNone/>
              <a:tabLst/>
              <a:defRPr/>
            </a:pPr>
            <a:fld id="{E5EA8C3D-9B74-7A43-B7E8-1232C63E8CDC}"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2813" rtl="0" eaLnBrk="1" fontAlgn="base" latinLnBrk="0" hangingPunct="1">
                <a:lnSpc>
                  <a:spcPct val="100000"/>
                </a:lnSpc>
                <a:spcBef>
                  <a:spcPct val="0"/>
                </a:spcBef>
                <a:spcAft>
                  <a:spcPct val="0"/>
                </a:spcAft>
                <a:buClrTx/>
                <a:buSzTx/>
                <a:buFontTx/>
                <a:buNone/>
                <a:tabLst/>
                <a:defRPr/>
              </a:pPr>
              <a:t>113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7824786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a:extLst>
              <a:ext uri="{FF2B5EF4-FFF2-40B4-BE49-F238E27FC236}">
                <a16:creationId xmlns:a16="http://schemas.microsoft.com/office/drawing/2014/main" id="{F1B71060-4BED-264E-B5AB-5D060FC9E9FB}"/>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4" name="Notes Placeholder 2">
            <a:extLst>
              <a:ext uri="{FF2B5EF4-FFF2-40B4-BE49-F238E27FC236}">
                <a16:creationId xmlns:a16="http://schemas.microsoft.com/office/drawing/2014/main" id="{F3B43675-ED60-3540-9853-82CA7DDDCBC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000" b="1" dirty="0"/>
              <a:t>Distributed shared memory</a:t>
            </a:r>
            <a:r>
              <a:rPr lang="en-US" sz="1000" dirty="0"/>
              <a:t> allows direct SM-to-SM communications for loads, stores, and atomics across multiple SM shared memory blocks.</a:t>
            </a:r>
          </a:p>
          <a:p>
            <a:pPr lvl="1"/>
            <a:r>
              <a:rPr lang="en-US" sz="1000" b="1" dirty="0"/>
              <a:t>Distributed shared memory</a:t>
            </a:r>
            <a:r>
              <a:rPr lang="en-US" sz="1000" dirty="0"/>
              <a:t> enables direct SM-to-SM communications for loads, stores, and atomics across multiple SM shared memory blocks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dirty="0"/>
          </a:p>
        </p:txBody>
      </p:sp>
      <p:sp>
        <p:nvSpPr>
          <p:cNvPr id="84995" name="Slide Number Placeholder 3">
            <a:extLst>
              <a:ext uri="{FF2B5EF4-FFF2-40B4-BE49-F238E27FC236}">
                <a16:creationId xmlns:a16="http://schemas.microsoft.com/office/drawing/2014/main" id="{DA2FEC94-CE7C-7F4D-9AEB-C4F824521BD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912813"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912813"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912813"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912813"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912813"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2813" rtl="0" eaLnBrk="1" fontAlgn="base" latinLnBrk="0" hangingPunct="1">
              <a:lnSpc>
                <a:spcPct val="100000"/>
              </a:lnSpc>
              <a:spcBef>
                <a:spcPct val="0"/>
              </a:spcBef>
              <a:spcAft>
                <a:spcPct val="0"/>
              </a:spcAft>
              <a:buClrTx/>
              <a:buSzTx/>
              <a:buFontTx/>
              <a:buNone/>
              <a:tabLst/>
              <a:defRPr/>
            </a:pPr>
            <a:fld id="{E5EA8C3D-9B74-7A43-B7E8-1232C63E8CDC}"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2813" rtl="0" eaLnBrk="1" fontAlgn="base" latinLnBrk="0" hangingPunct="1">
                <a:lnSpc>
                  <a:spcPct val="100000"/>
                </a:lnSpc>
                <a:spcBef>
                  <a:spcPct val="0"/>
                </a:spcBef>
                <a:spcAft>
                  <a:spcPct val="0"/>
                </a:spcAft>
                <a:buClrTx/>
                <a:buSzTx/>
                <a:buFontTx/>
                <a:buNone/>
                <a:tabLst/>
                <a:defRPr/>
              </a:pPr>
              <a:t>114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01817061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normAutofit/>
          </a:bodyPr>
          <a:lstStyle/>
          <a:p>
            <a:endParaRPr lang="en-US" noProof="0" dirty="0"/>
          </a:p>
        </p:txBody>
      </p:sp>
      <p:sp>
        <p:nvSpPr>
          <p:cNvPr id="4" name="Marcador de número de diapositiva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7CB778-670F-2D47-A8F4-B86EC1F0358D}" type="slidenum">
              <a:rPr kumimoji="0" lang="es-ES_trad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117</a:t>
            </a:fld>
            <a:endParaRPr kumimoji="0" lang="es-ES_trad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9665796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normAutofit/>
          </a:bodyPr>
          <a:lstStyle/>
          <a:p>
            <a:endParaRPr lang="en-US" noProof="0" dirty="0"/>
          </a:p>
        </p:txBody>
      </p:sp>
      <p:sp>
        <p:nvSpPr>
          <p:cNvPr id="4" name="Marcador de número de diapositiva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7CB778-670F-2D47-A8F4-B86EC1F0358D}" type="slidenum">
              <a:rPr kumimoji="0" lang="es-ES_trad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118</a:t>
            </a:fld>
            <a:endParaRPr kumimoji="0" lang="es-ES_trad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3486012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81100" y="696913"/>
            <a:ext cx="4648200" cy="3486150"/>
          </a:xfrm>
        </p:spPr>
      </p:sp>
      <p:sp>
        <p:nvSpPr>
          <p:cNvPr id="3" name="Marcador de notas 2"/>
          <p:cNvSpPr>
            <a:spLocks noGrp="1"/>
          </p:cNvSpPr>
          <p:nvPr>
            <p:ph type="body" idx="1"/>
          </p:nvPr>
        </p:nvSpPr>
        <p:spPr/>
        <p:txBody>
          <a:bodyPr/>
          <a:lstStyle/>
          <a:p>
            <a:endParaRPr lang="en-US" baseline="0" dirty="0"/>
          </a:p>
        </p:txBody>
      </p:sp>
      <p:sp>
        <p:nvSpPr>
          <p:cNvPr id="4" name="Marcador de número de diapositiva 3"/>
          <p:cNvSpPr>
            <a:spLocks noGrp="1"/>
          </p:cNvSpPr>
          <p:nvPr>
            <p:ph type="sldNum" sz="quarter" idx="10"/>
          </p:nvPr>
        </p:nvSpPr>
        <p:spPr/>
        <p:txBody>
          <a:bodyPr/>
          <a:lstStyle/>
          <a:p>
            <a:fld id="{33A2F704-0392-374E-9548-FE28CBDE16B0}" type="slidenum">
              <a:rPr lang="en-US" smtClean="0"/>
              <a:t>120</a:t>
            </a:fld>
            <a:endParaRPr lang="en-US"/>
          </a:p>
        </p:txBody>
      </p:sp>
    </p:spTree>
    <p:extLst>
      <p:ext uri="{BB962C8B-B14F-4D97-AF65-F5344CB8AC3E}">
        <p14:creationId xmlns:p14="http://schemas.microsoft.com/office/powerpoint/2010/main" val="34573281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714B2CC6-BCAC-1643-AB78-C2ADF490D950}"/>
              </a:ext>
            </a:extLst>
          </p:cNvPr>
          <p:cNvSpPr>
            <a:spLocks noChangeArrowheads="1"/>
          </p:cNvSpPr>
          <p:nvPr/>
        </p:nvSpPr>
        <p:spPr bwMode="auto">
          <a:xfrm>
            <a:off x="457200" y="1123950"/>
            <a:ext cx="8229600" cy="914400"/>
          </a:xfrm>
          <a:custGeom>
            <a:avLst/>
            <a:gdLst>
              <a:gd name="T0" fmla="*/ 0 w 1000"/>
              <a:gd name="T1" fmla="*/ 2147483647 h 1000"/>
              <a:gd name="T2" fmla="*/ 0 w 1000"/>
              <a:gd name="T3" fmla="*/ 0 h 1000"/>
              <a:gd name="T4" fmla="*/ 2147483647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Line 8">
            <a:extLst>
              <a:ext uri="{FF2B5EF4-FFF2-40B4-BE49-F238E27FC236}">
                <a16:creationId xmlns:a16="http://schemas.microsoft.com/office/drawing/2014/main" id="{0751B17A-BF36-4842-B734-E23F1865B0C4}"/>
              </a:ext>
            </a:extLst>
          </p:cNvPr>
          <p:cNvSpPr>
            <a:spLocks noChangeShapeType="1"/>
          </p:cNvSpPr>
          <p:nvPr/>
        </p:nvSpPr>
        <p:spPr bwMode="auto">
          <a:xfrm>
            <a:off x="457200" y="337185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 name="Line 10">
            <a:extLst>
              <a:ext uri="{FF2B5EF4-FFF2-40B4-BE49-F238E27FC236}">
                <a16:creationId xmlns:a16="http://schemas.microsoft.com/office/drawing/2014/main" id="{28F08601-02AD-6D40-B66A-AFD9E5D60950}"/>
              </a:ext>
            </a:extLst>
          </p:cNvPr>
          <p:cNvSpPr>
            <a:spLocks noChangeShapeType="1"/>
          </p:cNvSpPr>
          <p:nvPr userDrawn="1"/>
        </p:nvSpPr>
        <p:spPr bwMode="auto">
          <a:xfrm>
            <a:off x="8686800" y="2457450"/>
            <a:ext cx="0" cy="91440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78" name="Rectangle 2"/>
          <p:cNvSpPr>
            <a:spLocks noGrp="1" noChangeArrowheads="1"/>
          </p:cNvSpPr>
          <p:nvPr>
            <p:ph type="ctrTitle"/>
          </p:nvPr>
        </p:nvSpPr>
        <p:spPr>
          <a:xfrm>
            <a:off x="685800" y="1524000"/>
            <a:ext cx="7924800" cy="1752600"/>
          </a:xfrm>
        </p:spPr>
        <p:txBody>
          <a:bodyPr/>
          <a:lstStyle>
            <a:lvl1pPr>
              <a:defRPr sz="4800"/>
            </a:lvl1pPr>
          </a:lstStyle>
          <a:p>
            <a:r>
              <a:rPr lang="en-US" altLang="en-US"/>
              <a:t>Click to edit Master title style</a:t>
            </a:r>
          </a:p>
        </p:txBody>
      </p:sp>
      <p:sp>
        <p:nvSpPr>
          <p:cNvPr id="101379" name="Rectangle 3"/>
          <p:cNvSpPr>
            <a:spLocks noGrp="1" noChangeArrowheads="1"/>
          </p:cNvSpPr>
          <p:nvPr>
            <p:ph type="subTitle" idx="1"/>
          </p:nvPr>
        </p:nvSpPr>
        <p:spPr>
          <a:xfrm>
            <a:off x="685800" y="3581400"/>
            <a:ext cx="7848600" cy="1752600"/>
          </a:xfrm>
        </p:spPr>
        <p:txBody>
          <a:bodyPr/>
          <a:lstStyle>
            <a:lvl1pPr marL="0" indent="0" algn="ctr">
              <a:buFont typeface="Wingdings" pitchFamily="2" charset="2"/>
              <a:buNone/>
              <a:defRPr/>
            </a:lvl1pPr>
          </a:lstStyle>
          <a:p>
            <a:r>
              <a:rPr lang="en-US" altLang="en-US"/>
              <a:t>Click to edit Master subtitle style</a:t>
            </a:r>
          </a:p>
        </p:txBody>
      </p:sp>
      <p:sp>
        <p:nvSpPr>
          <p:cNvPr id="7" name="Rectangle 4">
            <a:extLst>
              <a:ext uri="{FF2B5EF4-FFF2-40B4-BE49-F238E27FC236}">
                <a16:creationId xmlns:a16="http://schemas.microsoft.com/office/drawing/2014/main" id="{8055B2BB-4A1A-D34E-80ED-672CDAF1ADB7}"/>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solidFill>
                  <a:srgbClr val="000000"/>
                </a:solidFill>
                <a:latin typeface="Garamond" pitchFamily="-106" charset="0"/>
                <a:ea typeface="Arial" pitchFamily="-106" charset="0"/>
                <a:cs typeface="Arial" pitchFamily="-106" charset="0"/>
              </a:defRPr>
            </a:lvl1pPr>
          </a:lstStyle>
          <a:p>
            <a:pPr>
              <a:defRPr/>
            </a:pPr>
            <a:r>
              <a:rPr lang="en-US"/>
              <a:t>Efficient Runahead Execution</a:t>
            </a:r>
          </a:p>
        </p:txBody>
      </p:sp>
      <p:sp>
        <p:nvSpPr>
          <p:cNvPr id="8" name="Rectangle 5">
            <a:extLst>
              <a:ext uri="{FF2B5EF4-FFF2-40B4-BE49-F238E27FC236}">
                <a16:creationId xmlns:a16="http://schemas.microsoft.com/office/drawing/2014/main" id="{6F15F5C2-BAE1-1849-939C-51DA7DCD9ABF}"/>
              </a:ext>
            </a:extLst>
          </p:cNvPr>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7013B461-D351-8C4C-8D06-99189598BB72}"/>
              </a:ext>
            </a:extLst>
          </p:cNvPr>
          <p:cNvSpPr>
            <a:spLocks noGrp="1" noChangeArrowheads="1"/>
          </p:cNvSpPr>
          <p:nvPr>
            <p:ph type="sldNum" sz="quarter" idx="12"/>
          </p:nvPr>
        </p:nvSpPr>
        <p:spPr/>
        <p:txBody>
          <a:bodyPr/>
          <a:lstStyle>
            <a:lvl1pPr>
              <a:defRPr sz="1200"/>
            </a:lvl1pPr>
          </a:lstStyle>
          <a:p>
            <a:fld id="{DE858C0F-DBE4-7F41-93EF-EEDB90BFFB25}" type="slidenum">
              <a:rPr lang="en-US" altLang="en-US"/>
              <a:pPr/>
              <a:t>‹#›</a:t>
            </a:fld>
            <a:endParaRPr lang="en-US" altLang="en-US"/>
          </a:p>
        </p:txBody>
      </p:sp>
    </p:spTree>
    <p:extLst>
      <p:ext uri="{BB962C8B-B14F-4D97-AF65-F5344CB8AC3E}">
        <p14:creationId xmlns:p14="http://schemas.microsoft.com/office/powerpoint/2010/main" val="1851597125"/>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228600" y="997527"/>
            <a:ext cx="8610600" cy="51937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1320C456-BAB2-674B-9279-F74D1E6BAEB0}"/>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87C3D555-B1CA-AC40-8B14-51B307E08C9C}"/>
              </a:ext>
            </a:extLst>
          </p:cNvPr>
          <p:cNvSpPr>
            <a:spLocks noGrp="1" noChangeArrowheads="1"/>
          </p:cNvSpPr>
          <p:nvPr>
            <p:ph type="sldNum" sz="quarter" idx="11"/>
          </p:nvPr>
        </p:nvSpPr>
        <p:spPr>
          <a:ln/>
        </p:spPr>
        <p:txBody>
          <a:bodyPr/>
          <a:lstStyle>
            <a:lvl1pPr>
              <a:defRPr/>
            </a:lvl1pPr>
          </a:lstStyle>
          <a:p>
            <a:fld id="{1BBEC082-DB60-894D-A65F-EC5CC660E7FA}" type="slidenum">
              <a:rPr lang="en-US" altLang="en-US"/>
              <a:pPr/>
              <a:t>‹#›</a:t>
            </a:fld>
            <a:endParaRPr lang="en-US" altLang="en-US"/>
          </a:p>
        </p:txBody>
      </p:sp>
    </p:spTree>
    <p:extLst>
      <p:ext uri="{BB962C8B-B14F-4D97-AF65-F5344CB8AC3E}">
        <p14:creationId xmlns:p14="http://schemas.microsoft.com/office/powerpoint/2010/main" val="177767127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29">
            <a:extLst>
              <a:ext uri="{FF2B5EF4-FFF2-40B4-BE49-F238E27FC236}">
                <a16:creationId xmlns:a16="http://schemas.microsoft.com/office/drawing/2014/main" id="{5D8824E4-CBD0-324D-B203-16810E3CD229}"/>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9883843B-4311-F64D-ABF4-8C528A440053}"/>
              </a:ext>
            </a:extLst>
          </p:cNvPr>
          <p:cNvSpPr>
            <a:spLocks noGrp="1" noChangeArrowheads="1"/>
          </p:cNvSpPr>
          <p:nvPr>
            <p:ph type="sldNum" sz="quarter" idx="11"/>
          </p:nvPr>
        </p:nvSpPr>
        <p:spPr>
          <a:ln/>
        </p:spPr>
        <p:txBody>
          <a:bodyPr/>
          <a:lstStyle>
            <a:lvl1pPr>
              <a:defRPr/>
            </a:lvl1pPr>
          </a:lstStyle>
          <a:p>
            <a:fld id="{9BFABF82-8CD4-944F-9794-F4BB55EAA671}" type="slidenum">
              <a:rPr lang="en-US" altLang="en-US"/>
              <a:pPr/>
              <a:t>‹#›</a:t>
            </a:fld>
            <a:endParaRPr lang="en-US" altLang="en-US"/>
          </a:p>
        </p:txBody>
      </p:sp>
    </p:spTree>
    <p:extLst>
      <p:ext uri="{BB962C8B-B14F-4D97-AF65-F5344CB8AC3E}">
        <p14:creationId xmlns:p14="http://schemas.microsoft.com/office/powerpoint/2010/main" val="425766002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BFDEB397-DCF4-E046-9CEF-3C1373D51AA2}"/>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0E8B1ECD-5EF8-C347-8080-250C48299511}"/>
              </a:ext>
            </a:extLst>
          </p:cNvPr>
          <p:cNvSpPr>
            <a:spLocks noGrp="1" noChangeArrowheads="1"/>
          </p:cNvSpPr>
          <p:nvPr>
            <p:ph type="sldNum" sz="quarter" idx="11"/>
          </p:nvPr>
        </p:nvSpPr>
        <p:spPr>
          <a:ln/>
        </p:spPr>
        <p:txBody>
          <a:bodyPr/>
          <a:lstStyle>
            <a:lvl1pPr>
              <a:defRPr/>
            </a:lvl1pPr>
          </a:lstStyle>
          <a:p>
            <a:fld id="{BB7531F1-CE42-F44C-9E97-BCF6159B0BFB}" type="slidenum">
              <a:rPr lang="en-US" altLang="en-US"/>
              <a:pPr/>
              <a:t>‹#›</a:t>
            </a:fld>
            <a:endParaRPr lang="en-US" altLang="en-US"/>
          </a:p>
        </p:txBody>
      </p:sp>
    </p:spTree>
    <p:extLst>
      <p:ext uri="{BB962C8B-B14F-4D97-AF65-F5344CB8AC3E}">
        <p14:creationId xmlns:p14="http://schemas.microsoft.com/office/powerpoint/2010/main" val="1211688318"/>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29">
            <a:extLst>
              <a:ext uri="{FF2B5EF4-FFF2-40B4-BE49-F238E27FC236}">
                <a16:creationId xmlns:a16="http://schemas.microsoft.com/office/drawing/2014/main" id="{A77F40A4-3E89-1B45-BEBF-0AA9EDBC37F7}"/>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8" name="Rectangle 1030">
            <a:extLst>
              <a:ext uri="{FF2B5EF4-FFF2-40B4-BE49-F238E27FC236}">
                <a16:creationId xmlns:a16="http://schemas.microsoft.com/office/drawing/2014/main" id="{7B6CB434-7272-F144-B3EB-748B298E8A16}"/>
              </a:ext>
            </a:extLst>
          </p:cNvPr>
          <p:cNvSpPr>
            <a:spLocks noGrp="1" noChangeArrowheads="1"/>
          </p:cNvSpPr>
          <p:nvPr>
            <p:ph type="sldNum" sz="quarter" idx="11"/>
          </p:nvPr>
        </p:nvSpPr>
        <p:spPr>
          <a:ln/>
        </p:spPr>
        <p:txBody>
          <a:bodyPr/>
          <a:lstStyle>
            <a:lvl1pPr>
              <a:defRPr/>
            </a:lvl1pPr>
          </a:lstStyle>
          <a:p>
            <a:fld id="{4BF0034D-4554-BD42-802B-E49E3DC77C97}" type="slidenum">
              <a:rPr lang="en-US" altLang="en-US"/>
              <a:pPr/>
              <a:t>‹#›</a:t>
            </a:fld>
            <a:endParaRPr lang="en-US" altLang="en-US"/>
          </a:p>
        </p:txBody>
      </p:sp>
    </p:spTree>
    <p:extLst>
      <p:ext uri="{BB962C8B-B14F-4D97-AF65-F5344CB8AC3E}">
        <p14:creationId xmlns:p14="http://schemas.microsoft.com/office/powerpoint/2010/main" val="365831454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9">
            <a:extLst>
              <a:ext uri="{FF2B5EF4-FFF2-40B4-BE49-F238E27FC236}">
                <a16:creationId xmlns:a16="http://schemas.microsoft.com/office/drawing/2014/main" id="{533EA543-58EC-1145-A87A-818F11E2CBDA}"/>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4" name="Rectangle 1030">
            <a:extLst>
              <a:ext uri="{FF2B5EF4-FFF2-40B4-BE49-F238E27FC236}">
                <a16:creationId xmlns:a16="http://schemas.microsoft.com/office/drawing/2014/main" id="{17CD2823-E242-7D44-9F36-68BECE5A08D6}"/>
              </a:ext>
            </a:extLst>
          </p:cNvPr>
          <p:cNvSpPr>
            <a:spLocks noGrp="1" noChangeArrowheads="1"/>
          </p:cNvSpPr>
          <p:nvPr>
            <p:ph type="sldNum" sz="quarter" idx="11"/>
          </p:nvPr>
        </p:nvSpPr>
        <p:spPr>
          <a:ln/>
        </p:spPr>
        <p:txBody>
          <a:bodyPr/>
          <a:lstStyle>
            <a:lvl1pPr>
              <a:defRPr/>
            </a:lvl1pPr>
          </a:lstStyle>
          <a:p>
            <a:fld id="{28AF0954-8371-A644-8944-406A45A852A9}" type="slidenum">
              <a:rPr lang="en-US" altLang="en-US"/>
              <a:pPr/>
              <a:t>‹#›</a:t>
            </a:fld>
            <a:endParaRPr lang="en-US" altLang="en-US"/>
          </a:p>
        </p:txBody>
      </p:sp>
    </p:spTree>
    <p:extLst>
      <p:ext uri="{BB962C8B-B14F-4D97-AF65-F5344CB8AC3E}">
        <p14:creationId xmlns:p14="http://schemas.microsoft.com/office/powerpoint/2010/main" val="55310017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9">
            <a:extLst>
              <a:ext uri="{FF2B5EF4-FFF2-40B4-BE49-F238E27FC236}">
                <a16:creationId xmlns:a16="http://schemas.microsoft.com/office/drawing/2014/main" id="{D401DBD6-0D40-914C-A4A9-0E1A05620945}"/>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3" name="Rectangle 1030">
            <a:extLst>
              <a:ext uri="{FF2B5EF4-FFF2-40B4-BE49-F238E27FC236}">
                <a16:creationId xmlns:a16="http://schemas.microsoft.com/office/drawing/2014/main" id="{8D2885C7-A8DE-944D-A733-91FB1D23A917}"/>
              </a:ext>
            </a:extLst>
          </p:cNvPr>
          <p:cNvSpPr>
            <a:spLocks noGrp="1" noChangeArrowheads="1"/>
          </p:cNvSpPr>
          <p:nvPr>
            <p:ph type="sldNum" sz="quarter" idx="11"/>
          </p:nvPr>
        </p:nvSpPr>
        <p:spPr>
          <a:ln/>
        </p:spPr>
        <p:txBody>
          <a:bodyPr/>
          <a:lstStyle>
            <a:lvl1pPr>
              <a:defRPr/>
            </a:lvl1pPr>
          </a:lstStyle>
          <a:p>
            <a:fld id="{1BBB2226-A9FA-DB47-9CF0-2E287A38960E}" type="slidenum">
              <a:rPr lang="en-US" altLang="en-US"/>
              <a:pPr/>
              <a:t>‹#›</a:t>
            </a:fld>
            <a:endParaRPr lang="en-US" altLang="en-US"/>
          </a:p>
        </p:txBody>
      </p:sp>
    </p:spTree>
    <p:extLst>
      <p:ext uri="{BB962C8B-B14F-4D97-AF65-F5344CB8AC3E}">
        <p14:creationId xmlns:p14="http://schemas.microsoft.com/office/powerpoint/2010/main" val="146102360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6F3099B0-B9D2-8449-B33E-AE3FA8363DE3}"/>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8D5B7DF8-5103-1B42-996C-8AA394272AE5}"/>
              </a:ext>
            </a:extLst>
          </p:cNvPr>
          <p:cNvSpPr>
            <a:spLocks noGrp="1" noChangeArrowheads="1"/>
          </p:cNvSpPr>
          <p:nvPr>
            <p:ph type="sldNum" sz="quarter" idx="11"/>
          </p:nvPr>
        </p:nvSpPr>
        <p:spPr>
          <a:ln/>
        </p:spPr>
        <p:txBody>
          <a:bodyPr/>
          <a:lstStyle>
            <a:lvl1pPr>
              <a:defRPr/>
            </a:lvl1pPr>
          </a:lstStyle>
          <a:p>
            <a:fld id="{FF674C63-9CEC-E640-98D8-DC688D3DD9E4}" type="slidenum">
              <a:rPr lang="en-US" altLang="en-US"/>
              <a:pPr/>
              <a:t>‹#›</a:t>
            </a:fld>
            <a:endParaRPr lang="en-US" altLang="en-US"/>
          </a:p>
        </p:txBody>
      </p:sp>
    </p:spTree>
    <p:extLst>
      <p:ext uri="{BB962C8B-B14F-4D97-AF65-F5344CB8AC3E}">
        <p14:creationId xmlns:p14="http://schemas.microsoft.com/office/powerpoint/2010/main" val="3014027189"/>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A500CE77-FA0E-B448-AA17-55A6703F6BA0}"/>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9B609F3A-95A7-5841-8128-4F348A5B515C}"/>
              </a:ext>
            </a:extLst>
          </p:cNvPr>
          <p:cNvSpPr>
            <a:spLocks noGrp="1" noChangeArrowheads="1"/>
          </p:cNvSpPr>
          <p:nvPr>
            <p:ph type="sldNum" sz="quarter" idx="11"/>
          </p:nvPr>
        </p:nvSpPr>
        <p:spPr>
          <a:ln/>
        </p:spPr>
        <p:txBody>
          <a:bodyPr/>
          <a:lstStyle>
            <a:lvl1pPr>
              <a:defRPr/>
            </a:lvl1pPr>
          </a:lstStyle>
          <a:p>
            <a:fld id="{1DB733DC-D3FD-4841-8A7A-4F4AB73A1310}" type="slidenum">
              <a:rPr lang="en-US" altLang="en-US"/>
              <a:pPr/>
              <a:t>‹#›</a:t>
            </a:fld>
            <a:endParaRPr lang="en-US" altLang="en-US"/>
          </a:p>
        </p:txBody>
      </p:sp>
    </p:spTree>
    <p:extLst>
      <p:ext uri="{BB962C8B-B14F-4D97-AF65-F5344CB8AC3E}">
        <p14:creationId xmlns:p14="http://schemas.microsoft.com/office/powerpoint/2010/main" val="226951386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2DCD27D1-ECFD-F447-88C4-5B5CD7C64464}"/>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CFB4D705-4483-1248-A730-79BF1918ACC8}"/>
              </a:ext>
            </a:extLst>
          </p:cNvPr>
          <p:cNvSpPr>
            <a:spLocks noGrp="1" noChangeArrowheads="1"/>
          </p:cNvSpPr>
          <p:nvPr>
            <p:ph type="sldNum" sz="quarter" idx="11"/>
          </p:nvPr>
        </p:nvSpPr>
        <p:spPr>
          <a:ln/>
        </p:spPr>
        <p:txBody>
          <a:bodyPr/>
          <a:lstStyle>
            <a:lvl1pPr>
              <a:defRPr/>
            </a:lvl1pPr>
          </a:lstStyle>
          <a:p>
            <a:fld id="{F3317078-9EBE-8343-B263-FE4EDA0B86E1}" type="slidenum">
              <a:rPr lang="en-US" altLang="en-US"/>
              <a:pPr/>
              <a:t>‹#›</a:t>
            </a:fld>
            <a:endParaRPr lang="en-US" altLang="en-US"/>
          </a:p>
        </p:txBody>
      </p:sp>
    </p:spTree>
    <p:extLst>
      <p:ext uri="{BB962C8B-B14F-4D97-AF65-F5344CB8AC3E}">
        <p14:creationId xmlns:p14="http://schemas.microsoft.com/office/powerpoint/2010/main" val="46182383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152400"/>
            <a:ext cx="215265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152400"/>
            <a:ext cx="630555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67F7E7C7-D54C-7E42-B902-18631D0E50CD}"/>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B0C1EF86-4B10-0E4B-87A4-4C31410E3E8A}"/>
              </a:ext>
            </a:extLst>
          </p:cNvPr>
          <p:cNvSpPr>
            <a:spLocks noGrp="1" noChangeArrowheads="1"/>
          </p:cNvSpPr>
          <p:nvPr>
            <p:ph type="sldNum" sz="quarter" idx="11"/>
          </p:nvPr>
        </p:nvSpPr>
        <p:spPr>
          <a:ln/>
        </p:spPr>
        <p:txBody>
          <a:bodyPr/>
          <a:lstStyle>
            <a:lvl1pPr>
              <a:defRPr/>
            </a:lvl1pPr>
          </a:lstStyle>
          <a:p>
            <a:fld id="{DAEEAFA2-6AF3-564D-8551-0ACDAB9DDF09}" type="slidenum">
              <a:rPr lang="en-US" altLang="en-US"/>
              <a:pPr/>
              <a:t>‹#›</a:t>
            </a:fld>
            <a:endParaRPr lang="en-US" altLang="en-US"/>
          </a:p>
        </p:txBody>
      </p:sp>
    </p:spTree>
    <p:extLst>
      <p:ext uri="{BB962C8B-B14F-4D97-AF65-F5344CB8AC3E}">
        <p14:creationId xmlns:p14="http://schemas.microsoft.com/office/powerpoint/2010/main" val="3303067963"/>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10600" cy="1066800"/>
          </a:xfrm>
        </p:spPr>
        <p:txBody>
          <a:bodyPr/>
          <a:lstStyle/>
          <a:p>
            <a:r>
              <a:rPr lang="en-US"/>
              <a:t>Click to edit Master title style</a:t>
            </a:r>
          </a:p>
        </p:txBody>
      </p:sp>
      <p:sp>
        <p:nvSpPr>
          <p:cNvPr id="3" name="ClipArt Placeholder 2"/>
          <p:cNvSpPr>
            <a:spLocks noGrp="1"/>
          </p:cNvSpPr>
          <p:nvPr>
            <p:ph type="clipArt" sz="half" idx="1"/>
          </p:nvPr>
        </p:nvSpPr>
        <p:spPr>
          <a:xfrm>
            <a:off x="228600" y="1371600"/>
            <a:ext cx="4229100" cy="4876800"/>
          </a:xfrm>
        </p:spPr>
        <p:txBody>
          <a:bodyPr/>
          <a:lstStyle/>
          <a:p>
            <a:pPr lvl="0"/>
            <a:endParaRPr lang="en-US" noProof="0"/>
          </a:p>
        </p:txBody>
      </p:sp>
      <p:sp>
        <p:nvSpPr>
          <p:cNvPr id="4" name="Text Placeholder 3"/>
          <p:cNvSpPr>
            <a:spLocks noGrp="1"/>
          </p:cNvSpPr>
          <p:nvPr>
            <p:ph type="body" sz="half" idx="2"/>
          </p:nvPr>
        </p:nvSpPr>
        <p:spPr>
          <a:xfrm>
            <a:off x="4610100" y="1371600"/>
            <a:ext cx="42291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2C90C948-2B96-0640-82B2-1E954D9CB727}"/>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2E2E6134-7558-6D42-88BC-6E9B9E7448A4}"/>
              </a:ext>
            </a:extLst>
          </p:cNvPr>
          <p:cNvSpPr>
            <a:spLocks noGrp="1" noChangeArrowheads="1"/>
          </p:cNvSpPr>
          <p:nvPr>
            <p:ph type="sldNum" sz="quarter" idx="11"/>
          </p:nvPr>
        </p:nvSpPr>
        <p:spPr>
          <a:ln/>
        </p:spPr>
        <p:txBody>
          <a:bodyPr/>
          <a:lstStyle>
            <a:lvl1pPr>
              <a:defRPr/>
            </a:lvl1pPr>
          </a:lstStyle>
          <a:p>
            <a:fld id="{F0A436F3-25BF-5246-8097-CFB6BF81F56B}" type="slidenum">
              <a:rPr lang="en-US" altLang="en-US"/>
              <a:pPr/>
              <a:t>‹#›</a:t>
            </a:fld>
            <a:endParaRPr lang="en-US" altLang="en-US"/>
          </a:p>
        </p:txBody>
      </p:sp>
    </p:spTree>
    <p:extLst>
      <p:ext uri="{BB962C8B-B14F-4D97-AF65-F5344CB8AC3E}">
        <p14:creationId xmlns:p14="http://schemas.microsoft.com/office/powerpoint/2010/main" val="1097766489"/>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931242B1-5C22-D74C-8153-C451E2E856CC}"/>
              </a:ext>
            </a:extLst>
          </p:cNvPr>
          <p:cNvSpPr>
            <a:spLocks noChangeArrowheads="1"/>
          </p:cNvSpPr>
          <p:nvPr/>
        </p:nvSpPr>
        <p:spPr bwMode="auto">
          <a:xfrm>
            <a:off x="457200" y="1123950"/>
            <a:ext cx="8229600" cy="914400"/>
          </a:xfrm>
          <a:custGeom>
            <a:avLst/>
            <a:gdLst>
              <a:gd name="T0" fmla="*/ 0 w 1000"/>
              <a:gd name="T1" fmla="*/ 2147483647 h 1000"/>
              <a:gd name="T2" fmla="*/ 0 w 1000"/>
              <a:gd name="T3" fmla="*/ 0 h 1000"/>
              <a:gd name="T4" fmla="*/ 2147483647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Line 8">
            <a:extLst>
              <a:ext uri="{FF2B5EF4-FFF2-40B4-BE49-F238E27FC236}">
                <a16:creationId xmlns:a16="http://schemas.microsoft.com/office/drawing/2014/main" id="{9CD18DA6-800A-1E40-810E-EFC0793518B4}"/>
              </a:ext>
            </a:extLst>
          </p:cNvPr>
          <p:cNvSpPr>
            <a:spLocks noChangeShapeType="1"/>
          </p:cNvSpPr>
          <p:nvPr/>
        </p:nvSpPr>
        <p:spPr bwMode="auto">
          <a:xfrm>
            <a:off x="457200" y="337185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 name="Line 10">
            <a:extLst>
              <a:ext uri="{FF2B5EF4-FFF2-40B4-BE49-F238E27FC236}">
                <a16:creationId xmlns:a16="http://schemas.microsoft.com/office/drawing/2014/main" id="{A013CFB9-DB95-3348-8211-5CA9DA08181F}"/>
              </a:ext>
            </a:extLst>
          </p:cNvPr>
          <p:cNvSpPr>
            <a:spLocks noChangeShapeType="1"/>
          </p:cNvSpPr>
          <p:nvPr userDrawn="1"/>
        </p:nvSpPr>
        <p:spPr bwMode="auto">
          <a:xfrm>
            <a:off x="8686800" y="2457450"/>
            <a:ext cx="0" cy="91440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78" name="Rectangle 2"/>
          <p:cNvSpPr>
            <a:spLocks noGrp="1" noChangeArrowheads="1"/>
          </p:cNvSpPr>
          <p:nvPr>
            <p:ph type="ctrTitle"/>
          </p:nvPr>
        </p:nvSpPr>
        <p:spPr>
          <a:xfrm>
            <a:off x="685800" y="1524000"/>
            <a:ext cx="7924800" cy="1752600"/>
          </a:xfrm>
        </p:spPr>
        <p:txBody>
          <a:bodyPr/>
          <a:lstStyle>
            <a:lvl1pPr>
              <a:defRPr sz="4800"/>
            </a:lvl1pPr>
          </a:lstStyle>
          <a:p>
            <a:r>
              <a:rPr lang="en-US" altLang="en-US"/>
              <a:t>Click to edit Master title style</a:t>
            </a:r>
          </a:p>
        </p:txBody>
      </p:sp>
      <p:sp>
        <p:nvSpPr>
          <p:cNvPr id="101379" name="Rectangle 3"/>
          <p:cNvSpPr>
            <a:spLocks noGrp="1" noChangeArrowheads="1"/>
          </p:cNvSpPr>
          <p:nvPr>
            <p:ph type="subTitle" idx="1"/>
          </p:nvPr>
        </p:nvSpPr>
        <p:spPr>
          <a:xfrm>
            <a:off x="685800" y="3581400"/>
            <a:ext cx="7848600" cy="1752600"/>
          </a:xfrm>
        </p:spPr>
        <p:txBody>
          <a:bodyPr/>
          <a:lstStyle>
            <a:lvl1pPr marL="0" indent="0" algn="ctr">
              <a:buFont typeface="Wingdings" pitchFamily="2" charset="2"/>
              <a:buNone/>
              <a:defRPr/>
            </a:lvl1pPr>
          </a:lstStyle>
          <a:p>
            <a:r>
              <a:rPr lang="en-US" altLang="en-US"/>
              <a:t>Click to edit Master subtitle style</a:t>
            </a:r>
          </a:p>
        </p:txBody>
      </p:sp>
      <p:sp>
        <p:nvSpPr>
          <p:cNvPr id="7" name="Rectangle 4">
            <a:extLst>
              <a:ext uri="{FF2B5EF4-FFF2-40B4-BE49-F238E27FC236}">
                <a16:creationId xmlns:a16="http://schemas.microsoft.com/office/drawing/2014/main" id="{E0F27E14-83B5-A343-B8AF-1217702F7D66}"/>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solidFill>
                  <a:srgbClr val="000000"/>
                </a:solidFill>
                <a:latin typeface="Garamond" pitchFamily="-106" charset="0"/>
                <a:ea typeface="Arial" pitchFamily="-106" charset="0"/>
                <a:cs typeface="Arial" pitchFamily="-106" charset="0"/>
              </a:defRPr>
            </a:lvl1pPr>
          </a:lstStyle>
          <a:p>
            <a:pPr>
              <a:defRPr/>
            </a:pPr>
            <a:r>
              <a:rPr lang="en-US"/>
              <a:t>Efficient Runahead Execution</a:t>
            </a:r>
          </a:p>
        </p:txBody>
      </p:sp>
      <p:sp>
        <p:nvSpPr>
          <p:cNvPr id="8" name="Rectangle 5">
            <a:extLst>
              <a:ext uri="{FF2B5EF4-FFF2-40B4-BE49-F238E27FC236}">
                <a16:creationId xmlns:a16="http://schemas.microsoft.com/office/drawing/2014/main" id="{63027AB4-73F6-2E46-80B9-116D8E27A3C6}"/>
              </a:ext>
            </a:extLst>
          </p:cNvPr>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33272B45-1FE8-9F43-9941-53642C19BBE0}"/>
              </a:ext>
            </a:extLst>
          </p:cNvPr>
          <p:cNvSpPr>
            <a:spLocks noGrp="1" noChangeArrowheads="1"/>
          </p:cNvSpPr>
          <p:nvPr>
            <p:ph type="sldNum" sz="quarter" idx="12"/>
          </p:nvPr>
        </p:nvSpPr>
        <p:spPr/>
        <p:txBody>
          <a:bodyPr/>
          <a:lstStyle>
            <a:lvl1pPr>
              <a:defRPr sz="1200"/>
            </a:lvl1pPr>
          </a:lstStyle>
          <a:p>
            <a:fld id="{9343B0D9-23FD-7444-A21A-94A65ADA355F}" type="slidenum">
              <a:rPr lang="en-US" altLang="en-US"/>
              <a:pPr/>
              <a:t>‹#›</a:t>
            </a:fld>
            <a:endParaRPr lang="en-US" altLang="en-US"/>
          </a:p>
        </p:txBody>
      </p:sp>
    </p:spTree>
    <p:extLst>
      <p:ext uri="{BB962C8B-B14F-4D97-AF65-F5344CB8AC3E}">
        <p14:creationId xmlns:p14="http://schemas.microsoft.com/office/powerpoint/2010/main" val="1954507597"/>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228600" y="997527"/>
            <a:ext cx="8610600" cy="51937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3AEA7A11-5E85-2F4B-B6E4-F68F10769AEC}"/>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2B6258F1-02CE-224E-800F-A27BF996157E}"/>
              </a:ext>
            </a:extLst>
          </p:cNvPr>
          <p:cNvSpPr>
            <a:spLocks noGrp="1" noChangeArrowheads="1"/>
          </p:cNvSpPr>
          <p:nvPr>
            <p:ph type="sldNum" sz="quarter" idx="11"/>
          </p:nvPr>
        </p:nvSpPr>
        <p:spPr>
          <a:ln/>
        </p:spPr>
        <p:txBody>
          <a:bodyPr/>
          <a:lstStyle>
            <a:lvl1pPr>
              <a:defRPr/>
            </a:lvl1pPr>
          </a:lstStyle>
          <a:p>
            <a:fld id="{ECCD1901-9C11-6043-9FD4-59AF4C56F67D}" type="slidenum">
              <a:rPr lang="en-US" altLang="en-US"/>
              <a:pPr/>
              <a:t>‹#›</a:t>
            </a:fld>
            <a:endParaRPr lang="en-US" altLang="en-US"/>
          </a:p>
        </p:txBody>
      </p:sp>
    </p:spTree>
    <p:extLst>
      <p:ext uri="{BB962C8B-B14F-4D97-AF65-F5344CB8AC3E}">
        <p14:creationId xmlns:p14="http://schemas.microsoft.com/office/powerpoint/2010/main" val="2762784036"/>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29">
            <a:extLst>
              <a:ext uri="{FF2B5EF4-FFF2-40B4-BE49-F238E27FC236}">
                <a16:creationId xmlns:a16="http://schemas.microsoft.com/office/drawing/2014/main" id="{81DAFB5C-764F-FE44-8B5B-AEB3303387A6}"/>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DE28213B-452F-F74C-9F6F-E52DAB3DE3E5}"/>
              </a:ext>
            </a:extLst>
          </p:cNvPr>
          <p:cNvSpPr>
            <a:spLocks noGrp="1" noChangeArrowheads="1"/>
          </p:cNvSpPr>
          <p:nvPr>
            <p:ph type="sldNum" sz="quarter" idx="11"/>
          </p:nvPr>
        </p:nvSpPr>
        <p:spPr>
          <a:ln/>
        </p:spPr>
        <p:txBody>
          <a:bodyPr/>
          <a:lstStyle>
            <a:lvl1pPr>
              <a:defRPr/>
            </a:lvl1pPr>
          </a:lstStyle>
          <a:p>
            <a:fld id="{D4053E1B-5976-A646-AC17-C93A6D7B99C2}" type="slidenum">
              <a:rPr lang="en-US" altLang="en-US"/>
              <a:pPr/>
              <a:t>‹#›</a:t>
            </a:fld>
            <a:endParaRPr lang="en-US" altLang="en-US"/>
          </a:p>
        </p:txBody>
      </p:sp>
    </p:spTree>
    <p:extLst>
      <p:ext uri="{BB962C8B-B14F-4D97-AF65-F5344CB8AC3E}">
        <p14:creationId xmlns:p14="http://schemas.microsoft.com/office/powerpoint/2010/main" val="4028012400"/>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9D3D9774-33F9-9F4D-8679-2CA267EFA582}"/>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D1BAE214-20B0-0549-BCF3-C6F5F33A8143}"/>
              </a:ext>
            </a:extLst>
          </p:cNvPr>
          <p:cNvSpPr>
            <a:spLocks noGrp="1" noChangeArrowheads="1"/>
          </p:cNvSpPr>
          <p:nvPr>
            <p:ph type="sldNum" sz="quarter" idx="11"/>
          </p:nvPr>
        </p:nvSpPr>
        <p:spPr>
          <a:ln/>
        </p:spPr>
        <p:txBody>
          <a:bodyPr/>
          <a:lstStyle>
            <a:lvl1pPr>
              <a:defRPr/>
            </a:lvl1pPr>
          </a:lstStyle>
          <a:p>
            <a:fld id="{6305C779-A31C-6543-8025-DCFEDD77CAEB}" type="slidenum">
              <a:rPr lang="en-US" altLang="en-US"/>
              <a:pPr/>
              <a:t>‹#›</a:t>
            </a:fld>
            <a:endParaRPr lang="en-US" altLang="en-US"/>
          </a:p>
        </p:txBody>
      </p:sp>
    </p:spTree>
    <p:extLst>
      <p:ext uri="{BB962C8B-B14F-4D97-AF65-F5344CB8AC3E}">
        <p14:creationId xmlns:p14="http://schemas.microsoft.com/office/powerpoint/2010/main" val="2458892935"/>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29">
            <a:extLst>
              <a:ext uri="{FF2B5EF4-FFF2-40B4-BE49-F238E27FC236}">
                <a16:creationId xmlns:a16="http://schemas.microsoft.com/office/drawing/2014/main" id="{4F3CE8E7-7FD4-3041-AC1C-B13EE7CBEE53}"/>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8" name="Rectangle 1030">
            <a:extLst>
              <a:ext uri="{FF2B5EF4-FFF2-40B4-BE49-F238E27FC236}">
                <a16:creationId xmlns:a16="http://schemas.microsoft.com/office/drawing/2014/main" id="{3C4431ED-B35E-DC40-8952-D74965B05646}"/>
              </a:ext>
            </a:extLst>
          </p:cNvPr>
          <p:cNvSpPr>
            <a:spLocks noGrp="1" noChangeArrowheads="1"/>
          </p:cNvSpPr>
          <p:nvPr>
            <p:ph type="sldNum" sz="quarter" idx="11"/>
          </p:nvPr>
        </p:nvSpPr>
        <p:spPr>
          <a:ln/>
        </p:spPr>
        <p:txBody>
          <a:bodyPr/>
          <a:lstStyle>
            <a:lvl1pPr>
              <a:defRPr/>
            </a:lvl1pPr>
          </a:lstStyle>
          <a:p>
            <a:fld id="{8E11424A-D3FA-EB48-9FE7-4A4DD36B686C}" type="slidenum">
              <a:rPr lang="en-US" altLang="en-US"/>
              <a:pPr/>
              <a:t>‹#›</a:t>
            </a:fld>
            <a:endParaRPr lang="en-US" altLang="en-US"/>
          </a:p>
        </p:txBody>
      </p:sp>
    </p:spTree>
    <p:extLst>
      <p:ext uri="{BB962C8B-B14F-4D97-AF65-F5344CB8AC3E}">
        <p14:creationId xmlns:p14="http://schemas.microsoft.com/office/powerpoint/2010/main" val="2445802438"/>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9">
            <a:extLst>
              <a:ext uri="{FF2B5EF4-FFF2-40B4-BE49-F238E27FC236}">
                <a16:creationId xmlns:a16="http://schemas.microsoft.com/office/drawing/2014/main" id="{BAD8E24F-3339-0A4F-91CA-ECD0AB80E18F}"/>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4" name="Rectangle 1030">
            <a:extLst>
              <a:ext uri="{FF2B5EF4-FFF2-40B4-BE49-F238E27FC236}">
                <a16:creationId xmlns:a16="http://schemas.microsoft.com/office/drawing/2014/main" id="{F38629E8-0576-E545-86DD-D5669EFD212E}"/>
              </a:ext>
            </a:extLst>
          </p:cNvPr>
          <p:cNvSpPr>
            <a:spLocks noGrp="1" noChangeArrowheads="1"/>
          </p:cNvSpPr>
          <p:nvPr>
            <p:ph type="sldNum" sz="quarter" idx="11"/>
          </p:nvPr>
        </p:nvSpPr>
        <p:spPr>
          <a:ln/>
        </p:spPr>
        <p:txBody>
          <a:bodyPr/>
          <a:lstStyle>
            <a:lvl1pPr>
              <a:defRPr/>
            </a:lvl1pPr>
          </a:lstStyle>
          <a:p>
            <a:fld id="{470D7F09-7D05-A447-B61A-A3DC3E90B7D9}" type="slidenum">
              <a:rPr lang="en-US" altLang="en-US"/>
              <a:pPr/>
              <a:t>‹#›</a:t>
            </a:fld>
            <a:endParaRPr lang="en-US" altLang="en-US"/>
          </a:p>
        </p:txBody>
      </p:sp>
    </p:spTree>
    <p:extLst>
      <p:ext uri="{BB962C8B-B14F-4D97-AF65-F5344CB8AC3E}">
        <p14:creationId xmlns:p14="http://schemas.microsoft.com/office/powerpoint/2010/main" val="3211778846"/>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9">
            <a:extLst>
              <a:ext uri="{FF2B5EF4-FFF2-40B4-BE49-F238E27FC236}">
                <a16:creationId xmlns:a16="http://schemas.microsoft.com/office/drawing/2014/main" id="{88CFEED4-D0EE-304D-8B37-02BF83C4EFE5}"/>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3" name="Rectangle 1030">
            <a:extLst>
              <a:ext uri="{FF2B5EF4-FFF2-40B4-BE49-F238E27FC236}">
                <a16:creationId xmlns:a16="http://schemas.microsoft.com/office/drawing/2014/main" id="{7AE652E2-7FB1-E342-A1D5-1F2061CABAB3}"/>
              </a:ext>
            </a:extLst>
          </p:cNvPr>
          <p:cNvSpPr>
            <a:spLocks noGrp="1" noChangeArrowheads="1"/>
          </p:cNvSpPr>
          <p:nvPr>
            <p:ph type="sldNum" sz="quarter" idx="11"/>
          </p:nvPr>
        </p:nvSpPr>
        <p:spPr>
          <a:ln/>
        </p:spPr>
        <p:txBody>
          <a:bodyPr/>
          <a:lstStyle>
            <a:lvl1pPr>
              <a:defRPr/>
            </a:lvl1pPr>
          </a:lstStyle>
          <a:p>
            <a:fld id="{BC1E8D0C-537B-354D-A520-22B8954C74BD}" type="slidenum">
              <a:rPr lang="en-US" altLang="en-US"/>
              <a:pPr/>
              <a:t>‹#›</a:t>
            </a:fld>
            <a:endParaRPr lang="en-US" altLang="en-US"/>
          </a:p>
        </p:txBody>
      </p:sp>
    </p:spTree>
    <p:extLst>
      <p:ext uri="{BB962C8B-B14F-4D97-AF65-F5344CB8AC3E}">
        <p14:creationId xmlns:p14="http://schemas.microsoft.com/office/powerpoint/2010/main" val="717375232"/>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ACAB7526-1410-024E-B098-531573487715}"/>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6F641A84-FE51-6C49-91A9-A1C6A2FEBA0B}"/>
              </a:ext>
            </a:extLst>
          </p:cNvPr>
          <p:cNvSpPr>
            <a:spLocks noGrp="1" noChangeArrowheads="1"/>
          </p:cNvSpPr>
          <p:nvPr>
            <p:ph type="sldNum" sz="quarter" idx="11"/>
          </p:nvPr>
        </p:nvSpPr>
        <p:spPr>
          <a:ln/>
        </p:spPr>
        <p:txBody>
          <a:bodyPr/>
          <a:lstStyle>
            <a:lvl1pPr>
              <a:defRPr/>
            </a:lvl1pPr>
          </a:lstStyle>
          <a:p>
            <a:fld id="{3FCADB36-3AC5-D44D-B367-7F26E9F05FFB}" type="slidenum">
              <a:rPr lang="en-US" altLang="en-US"/>
              <a:pPr/>
              <a:t>‹#›</a:t>
            </a:fld>
            <a:endParaRPr lang="en-US" altLang="en-US"/>
          </a:p>
        </p:txBody>
      </p:sp>
    </p:spTree>
    <p:extLst>
      <p:ext uri="{BB962C8B-B14F-4D97-AF65-F5344CB8AC3E}">
        <p14:creationId xmlns:p14="http://schemas.microsoft.com/office/powerpoint/2010/main" val="2891988116"/>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9A0F1EC2-A374-784B-B2D0-C858EB5B45F4}"/>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41E979C7-E4B0-1E47-907E-39CF90AE42B6}"/>
              </a:ext>
            </a:extLst>
          </p:cNvPr>
          <p:cNvSpPr>
            <a:spLocks noGrp="1" noChangeArrowheads="1"/>
          </p:cNvSpPr>
          <p:nvPr>
            <p:ph type="sldNum" sz="quarter" idx="11"/>
          </p:nvPr>
        </p:nvSpPr>
        <p:spPr>
          <a:ln/>
        </p:spPr>
        <p:txBody>
          <a:bodyPr/>
          <a:lstStyle>
            <a:lvl1pPr>
              <a:defRPr/>
            </a:lvl1pPr>
          </a:lstStyle>
          <a:p>
            <a:fld id="{65551DB8-0A99-D94D-80C8-556C717D29A3}" type="slidenum">
              <a:rPr lang="en-US" altLang="en-US"/>
              <a:pPr/>
              <a:t>‹#›</a:t>
            </a:fld>
            <a:endParaRPr lang="en-US" altLang="en-US"/>
          </a:p>
        </p:txBody>
      </p:sp>
    </p:spTree>
    <p:extLst>
      <p:ext uri="{BB962C8B-B14F-4D97-AF65-F5344CB8AC3E}">
        <p14:creationId xmlns:p14="http://schemas.microsoft.com/office/powerpoint/2010/main" val="24612633"/>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66EC428B-3C4C-0F49-8AB4-16AAE02FD581}"/>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522FFCFF-694B-B741-8701-CE2D3BFA70BF}"/>
              </a:ext>
            </a:extLst>
          </p:cNvPr>
          <p:cNvSpPr>
            <a:spLocks noGrp="1" noChangeArrowheads="1"/>
          </p:cNvSpPr>
          <p:nvPr>
            <p:ph type="sldNum" sz="quarter" idx="11"/>
          </p:nvPr>
        </p:nvSpPr>
        <p:spPr>
          <a:ln/>
        </p:spPr>
        <p:txBody>
          <a:bodyPr/>
          <a:lstStyle>
            <a:lvl1pPr>
              <a:defRPr/>
            </a:lvl1pPr>
          </a:lstStyle>
          <a:p>
            <a:fld id="{3BF654B8-CBAB-E64B-BAF4-D4191271A0C6}" type="slidenum">
              <a:rPr lang="en-US" altLang="en-US"/>
              <a:pPr/>
              <a:t>‹#›</a:t>
            </a:fld>
            <a:endParaRPr lang="en-US" altLang="en-US"/>
          </a:p>
        </p:txBody>
      </p:sp>
    </p:spTree>
    <p:extLst>
      <p:ext uri="{BB962C8B-B14F-4D97-AF65-F5344CB8AC3E}">
        <p14:creationId xmlns:p14="http://schemas.microsoft.com/office/powerpoint/2010/main" val="3801896122"/>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152400"/>
            <a:ext cx="215265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152400"/>
            <a:ext cx="630555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6E8AA7F4-205E-8C40-AF2E-410A1A49B642}"/>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C77CEF2A-16FC-1B4F-B6C4-DD4D8A99AB70}"/>
              </a:ext>
            </a:extLst>
          </p:cNvPr>
          <p:cNvSpPr>
            <a:spLocks noGrp="1" noChangeArrowheads="1"/>
          </p:cNvSpPr>
          <p:nvPr>
            <p:ph type="sldNum" sz="quarter" idx="11"/>
          </p:nvPr>
        </p:nvSpPr>
        <p:spPr>
          <a:ln/>
        </p:spPr>
        <p:txBody>
          <a:bodyPr/>
          <a:lstStyle>
            <a:lvl1pPr>
              <a:defRPr/>
            </a:lvl1pPr>
          </a:lstStyle>
          <a:p>
            <a:fld id="{F781D05E-1E6A-3343-9438-E64EE94B293F}" type="slidenum">
              <a:rPr lang="en-US" altLang="en-US"/>
              <a:pPr/>
              <a:t>‹#›</a:t>
            </a:fld>
            <a:endParaRPr lang="en-US" altLang="en-US"/>
          </a:p>
        </p:txBody>
      </p:sp>
    </p:spTree>
    <p:extLst>
      <p:ext uri="{BB962C8B-B14F-4D97-AF65-F5344CB8AC3E}">
        <p14:creationId xmlns:p14="http://schemas.microsoft.com/office/powerpoint/2010/main" val="29858745"/>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10600" cy="1066800"/>
          </a:xfrm>
        </p:spPr>
        <p:txBody>
          <a:bodyPr/>
          <a:lstStyle/>
          <a:p>
            <a:r>
              <a:rPr lang="en-US"/>
              <a:t>Click to edit Master title style</a:t>
            </a:r>
          </a:p>
        </p:txBody>
      </p:sp>
      <p:sp>
        <p:nvSpPr>
          <p:cNvPr id="3" name="ClipArt Placeholder 2"/>
          <p:cNvSpPr>
            <a:spLocks noGrp="1"/>
          </p:cNvSpPr>
          <p:nvPr>
            <p:ph type="clipArt" sz="half" idx="1"/>
          </p:nvPr>
        </p:nvSpPr>
        <p:spPr>
          <a:xfrm>
            <a:off x="228600" y="1371600"/>
            <a:ext cx="4229100" cy="4876800"/>
          </a:xfrm>
        </p:spPr>
        <p:txBody>
          <a:bodyPr/>
          <a:lstStyle/>
          <a:p>
            <a:pPr lvl="0"/>
            <a:endParaRPr lang="en-US" noProof="0"/>
          </a:p>
        </p:txBody>
      </p:sp>
      <p:sp>
        <p:nvSpPr>
          <p:cNvPr id="4" name="Text Placeholder 3"/>
          <p:cNvSpPr>
            <a:spLocks noGrp="1"/>
          </p:cNvSpPr>
          <p:nvPr>
            <p:ph type="body" sz="half" idx="2"/>
          </p:nvPr>
        </p:nvSpPr>
        <p:spPr>
          <a:xfrm>
            <a:off x="4610100" y="1371600"/>
            <a:ext cx="42291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03C3DAB7-1310-B545-BB26-6F5CE370D25C}"/>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898B2604-8CC9-E944-B3A6-5AEBCC480852}"/>
              </a:ext>
            </a:extLst>
          </p:cNvPr>
          <p:cNvSpPr>
            <a:spLocks noGrp="1" noChangeArrowheads="1"/>
          </p:cNvSpPr>
          <p:nvPr>
            <p:ph type="sldNum" sz="quarter" idx="11"/>
          </p:nvPr>
        </p:nvSpPr>
        <p:spPr>
          <a:ln/>
        </p:spPr>
        <p:txBody>
          <a:bodyPr/>
          <a:lstStyle>
            <a:lvl1pPr>
              <a:defRPr/>
            </a:lvl1pPr>
          </a:lstStyle>
          <a:p>
            <a:fld id="{4CA3A2E3-EA89-6F4F-A6D6-7CADB64D5300}" type="slidenum">
              <a:rPr lang="en-US" altLang="en-US"/>
              <a:pPr/>
              <a:t>‹#›</a:t>
            </a:fld>
            <a:endParaRPr lang="en-US" altLang="en-US"/>
          </a:p>
        </p:txBody>
      </p:sp>
    </p:spTree>
    <p:extLst>
      <p:ext uri="{BB962C8B-B14F-4D97-AF65-F5344CB8AC3E}">
        <p14:creationId xmlns:p14="http://schemas.microsoft.com/office/powerpoint/2010/main" val="1661830771"/>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7" descr="safari.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80975" y="6411913"/>
            <a:ext cx="1025525" cy="2968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5" name="Rectangle 1029"/>
          <p:cNvSpPr>
            <a:spLocks noGrp="1" noChangeArrowheads="1"/>
          </p:cNvSpPr>
          <p:nvPr>
            <p:ph type="ftr" sz="quarter" idx="10"/>
          </p:nvPr>
        </p:nvSpPr>
        <p:spPr/>
        <p:txBody>
          <a:bodyPr/>
          <a:lstStyle>
            <a:lvl1pPr>
              <a:defRPr/>
            </a:lvl1pPr>
          </a:lstStyle>
          <a:p>
            <a:pPr>
              <a:defRPr/>
            </a:pPr>
            <a:endParaRPr lang="en-US">
              <a:solidFill>
                <a:srgbClr val="000000"/>
              </a:solidFill>
            </a:endParaRPr>
          </a:p>
        </p:txBody>
      </p:sp>
      <p:sp>
        <p:nvSpPr>
          <p:cNvPr id="6" name="Rectangle 1030"/>
          <p:cNvSpPr>
            <a:spLocks noGrp="1" noChangeArrowheads="1"/>
          </p:cNvSpPr>
          <p:nvPr>
            <p:ph type="sldNum" sz="quarter" idx="11"/>
          </p:nvPr>
        </p:nvSpPr>
        <p:spPr/>
        <p:txBody>
          <a:bodyPr/>
          <a:lstStyle>
            <a:lvl1pPr>
              <a:defRPr/>
            </a:lvl1pPr>
          </a:lstStyle>
          <a:p>
            <a:pPr>
              <a:defRPr/>
            </a:pPr>
            <a:fld id="{ACFCE054-F1E5-374D-A24E-887477C05326}"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128296802"/>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5" name="Rectangle 1030"/>
          <p:cNvSpPr>
            <a:spLocks noGrp="1" noChangeArrowheads="1"/>
          </p:cNvSpPr>
          <p:nvPr>
            <p:ph type="sldNum" sz="quarter" idx="11"/>
          </p:nvPr>
        </p:nvSpPr>
        <p:spPr>
          <a:ln/>
        </p:spPr>
        <p:txBody>
          <a:bodyPr/>
          <a:lstStyle>
            <a:lvl1pPr>
              <a:defRPr/>
            </a:lvl1pPr>
          </a:lstStyle>
          <a:p>
            <a:pPr>
              <a:defRPr/>
            </a:pPr>
            <a:fld id="{7292004D-7284-C244-B275-AB956C66515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122007512"/>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5" name="Rectangle 1030"/>
          <p:cNvSpPr>
            <a:spLocks noGrp="1" noChangeArrowheads="1"/>
          </p:cNvSpPr>
          <p:nvPr>
            <p:ph type="sldNum" sz="quarter" idx="11"/>
          </p:nvPr>
        </p:nvSpPr>
        <p:spPr>
          <a:ln/>
        </p:spPr>
        <p:txBody>
          <a:bodyPr/>
          <a:lstStyle>
            <a:lvl1pPr>
              <a:defRPr/>
            </a:lvl1pPr>
          </a:lstStyle>
          <a:p>
            <a:pPr>
              <a:defRPr/>
            </a:pPr>
            <a:fld id="{B79817D1-13B0-D341-B1C4-34616D3933B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678478178"/>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6" name="Rectangle 1030"/>
          <p:cNvSpPr>
            <a:spLocks noGrp="1" noChangeArrowheads="1"/>
          </p:cNvSpPr>
          <p:nvPr>
            <p:ph type="sldNum" sz="quarter" idx="11"/>
          </p:nvPr>
        </p:nvSpPr>
        <p:spPr>
          <a:ln/>
        </p:spPr>
        <p:txBody>
          <a:bodyPr/>
          <a:lstStyle>
            <a:lvl1pPr>
              <a:defRPr/>
            </a:lvl1pPr>
          </a:lstStyle>
          <a:p>
            <a:pPr>
              <a:defRPr/>
            </a:pPr>
            <a:fld id="{62067096-FD7F-A949-B565-8298951E6B8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331028413"/>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8" name="Rectangle 1030"/>
          <p:cNvSpPr>
            <a:spLocks noGrp="1" noChangeArrowheads="1"/>
          </p:cNvSpPr>
          <p:nvPr>
            <p:ph type="sldNum" sz="quarter" idx="11"/>
          </p:nvPr>
        </p:nvSpPr>
        <p:spPr>
          <a:ln/>
        </p:spPr>
        <p:txBody>
          <a:bodyPr/>
          <a:lstStyle>
            <a:lvl1pPr>
              <a:defRPr/>
            </a:lvl1pPr>
          </a:lstStyle>
          <a:p>
            <a:pPr>
              <a:defRPr/>
            </a:pPr>
            <a:fld id="{701077C3-3C60-8640-A1DD-3718D4D0D74D}"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961672474"/>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4" name="Rectangle 1030"/>
          <p:cNvSpPr>
            <a:spLocks noGrp="1" noChangeArrowheads="1"/>
          </p:cNvSpPr>
          <p:nvPr>
            <p:ph type="sldNum" sz="quarter" idx="11"/>
          </p:nvPr>
        </p:nvSpPr>
        <p:spPr>
          <a:ln/>
        </p:spPr>
        <p:txBody>
          <a:bodyPr/>
          <a:lstStyle>
            <a:lvl1pPr>
              <a:defRPr/>
            </a:lvl1pPr>
          </a:lstStyle>
          <a:p>
            <a:pPr>
              <a:defRPr/>
            </a:pPr>
            <a:fld id="{D4D41FDD-73B6-EC4A-BB35-BA0C8CCC36C9}"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575234808"/>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3" name="Rectangle 1030"/>
          <p:cNvSpPr>
            <a:spLocks noGrp="1" noChangeArrowheads="1"/>
          </p:cNvSpPr>
          <p:nvPr>
            <p:ph type="sldNum" sz="quarter" idx="11"/>
          </p:nvPr>
        </p:nvSpPr>
        <p:spPr>
          <a:ln/>
        </p:spPr>
        <p:txBody>
          <a:bodyPr/>
          <a:lstStyle>
            <a:lvl1pPr>
              <a:defRPr/>
            </a:lvl1pPr>
          </a:lstStyle>
          <a:p>
            <a:pPr>
              <a:defRPr/>
            </a:pPr>
            <a:fld id="{D88D2B92-4EF8-0940-9F90-1D39CCADBD7F}"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990739141"/>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6" name="Rectangle 1030"/>
          <p:cNvSpPr>
            <a:spLocks noGrp="1" noChangeArrowheads="1"/>
          </p:cNvSpPr>
          <p:nvPr>
            <p:ph type="sldNum" sz="quarter" idx="11"/>
          </p:nvPr>
        </p:nvSpPr>
        <p:spPr>
          <a:ln/>
        </p:spPr>
        <p:txBody>
          <a:bodyPr/>
          <a:lstStyle>
            <a:lvl1pPr>
              <a:defRPr/>
            </a:lvl1pPr>
          </a:lstStyle>
          <a:p>
            <a:pPr>
              <a:defRPr/>
            </a:pPr>
            <a:fld id="{1224B1A2-EC3E-4448-972E-E198354A3E4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780789692"/>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6" name="Rectangle 1030"/>
          <p:cNvSpPr>
            <a:spLocks noGrp="1" noChangeArrowheads="1"/>
          </p:cNvSpPr>
          <p:nvPr>
            <p:ph type="sldNum" sz="quarter" idx="11"/>
          </p:nvPr>
        </p:nvSpPr>
        <p:spPr>
          <a:ln/>
        </p:spPr>
        <p:txBody>
          <a:bodyPr/>
          <a:lstStyle>
            <a:lvl1pPr>
              <a:defRPr/>
            </a:lvl1pPr>
          </a:lstStyle>
          <a:p>
            <a:pPr>
              <a:defRPr/>
            </a:pPr>
            <a:fld id="{B25B71B7-33A4-004A-B24D-5E8A20C1D7A0}"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426332998"/>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5" name="Rectangle 1030"/>
          <p:cNvSpPr>
            <a:spLocks noGrp="1" noChangeArrowheads="1"/>
          </p:cNvSpPr>
          <p:nvPr>
            <p:ph type="sldNum" sz="quarter" idx="11"/>
          </p:nvPr>
        </p:nvSpPr>
        <p:spPr>
          <a:ln/>
        </p:spPr>
        <p:txBody>
          <a:bodyPr/>
          <a:lstStyle>
            <a:lvl1pPr>
              <a:defRPr/>
            </a:lvl1pPr>
          </a:lstStyle>
          <a:p>
            <a:pPr>
              <a:defRPr/>
            </a:pPr>
            <a:fld id="{1F5EE445-AD48-2049-A03E-4C865681EA4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587382377"/>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152400"/>
            <a:ext cx="215265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152400"/>
            <a:ext cx="630555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5" name="Rectangle 1030"/>
          <p:cNvSpPr>
            <a:spLocks noGrp="1" noChangeArrowheads="1"/>
          </p:cNvSpPr>
          <p:nvPr>
            <p:ph type="sldNum" sz="quarter" idx="11"/>
          </p:nvPr>
        </p:nvSpPr>
        <p:spPr>
          <a:ln/>
        </p:spPr>
        <p:txBody>
          <a:bodyPr/>
          <a:lstStyle>
            <a:lvl1pPr>
              <a:defRPr/>
            </a:lvl1pPr>
          </a:lstStyle>
          <a:p>
            <a:pPr>
              <a:defRPr/>
            </a:pPr>
            <a:fld id="{EF8603A9-60B6-0741-B15F-17172804C19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950451413"/>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10600" cy="1066800"/>
          </a:xfrm>
        </p:spPr>
        <p:txBody>
          <a:bodyPr/>
          <a:lstStyle/>
          <a:p>
            <a:r>
              <a:rPr lang="en-US"/>
              <a:t>Click to edit Master title style</a:t>
            </a:r>
          </a:p>
        </p:txBody>
      </p:sp>
      <p:sp>
        <p:nvSpPr>
          <p:cNvPr id="3" name="Table Placeholder 2"/>
          <p:cNvSpPr>
            <a:spLocks noGrp="1"/>
          </p:cNvSpPr>
          <p:nvPr>
            <p:ph type="tbl" idx="1"/>
          </p:nvPr>
        </p:nvSpPr>
        <p:spPr>
          <a:xfrm>
            <a:off x="228600" y="1371600"/>
            <a:ext cx="8610600" cy="4876800"/>
          </a:xfrm>
        </p:spPr>
        <p:txBody>
          <a:bodyPr/>
          <a:lstStyle/>
          <a:p>
            <a:pPr lvl="0"/>
            <a:endParaRPr lang="en-US" noProof="0"/>
          </a:p>
        </p:txBody>
      </p:sp>
      <p:sp>
        <p:nvSpPr>
          <p:cNvPr id="4"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5" name="Rectangle 1030"/>
          <p:cNvSpPr>
            <a:spLocks noGrp="1" noChangeArrowheads="1"/>
          </p:cNvSpPr>
          <p:nvPr>
            <p:ph type="sldNum" sz="quarter" idx="11"/>
          </p:nvPr>
        </p:nvSpPr>
        <p:spPr>
          <a:ln/>
        </p:spPr>
        <p:txBody>
          <a:bodyPr/>
          <a:lstStyle>
            <a:lvl1pPr>
              <a:defRPr/>
            </a:lvl1pPr>
          </a:lstStyle>
          <a:p>
            <a:pPr>
              <a:defRPr/>
            </a:pPr>
            <a:fld id="{7066D58A-9B40-E846-A790-9B6CD5A5859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89528196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026">
            <a:extLst>
              <a:ext uri="{FF2B5EF4-FFF2-40B4-BE49-F238E27FC236}">
                <a16:creationId xmlns:a16="http://schemas.microsoft.com/office/drawing/2014/main" id="{E6597FE0-60A1-034A-A636-36595A800F00}"/>
              </a:ext>
            </a:extLst>
          </p:cNvPr>
          <p:cNvSpPr>
            <a:spLocks noGrp="1" noChangeArrowheads="1"/>
          </p:cNvSpPr>
          <p:nvPr>
            <p:ph type="title"/>
          </p:nvPr>
        </p:nvSpPr>
        <p:spPr bwMode="auto">
          <a:xfrm>
            <a:off x="228600" y="152400"/>
            <a:ext cx="8610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7" name="Rectangle 1027">
            <a:extLst>
              <a:ext uri="{FF2B5EF4-FFF2-40B4-BE49-F238E27FC236}">
                <a16:creationId xmlns:a16="http://schemas.microsoft.com/office/drawing/2014/main" id="{D0B67E57-9F41-B942-81B9-9C49558CA570}"/>
              </a:ext>
            </a:extLst>
          </p:cNvPr>
          <p:cNvSpPr>
            <a:spLocks noGrp="1" noChangeArrowheads="1"/>
          </p:cNvSpPr>
          <p:nvPr>
            <p:ph type="body" idx="1"/>
          </p:nvPr>
        </p:nvSpPr>
        <p:spPr bwMode="auto">
          <a:xfrm>
            <a:off x="228600" y="898525"/>
            <a:ext cx="8610600" cy="523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0357" name="Rectangle 1029">
            <a:extLst>
              <a:ext uri="{FF2B5EF4-FFF2-40B4-BE49-F238E27FC236}">
                <a16:creationId xmlns:a16="http://schemas.microsoft.com/office/drawing/2014/main" id="{23BE90E2-0FA9-C945-9333-68CC9FE4F5D9}"/>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solidFill>
                  <a:srgbClr val="000000"/>
                </a:solidFill>
                <a:latin typeface="+mj-lt"/>
                <a:ea typeface="+mn-ea"/>
                <a:cs typeface="+mn-cs"/>
              </a:defRPr>
            </a:lvl1pPr>
          </a:lstStyle>
          <a:p>
            <a:pPr>
              <a:defRPr/>
            </a:pPr>
            <a:endParaRPr lang="en-US" altLang="en-US"/>
          </a:p>
        </p:txBody>
      </p:sp>
      <p:sp>
        <p:nvSpPr>
          <p:cNvPr id="100358" name="Rectangle 1030">
            <a:extLst>
              <a:ext uri="{FF2B5EF4-FFF2-40B4-BE49-F238E27FC236}">
                <a16:creationId xmlns:a16="http://schemas.microsoft.com/office/drawing/2014/main" id="{191BEC63-1DEA-0847-B8BC-002CCC743F2C}"/>
              </a:ext>
            </a:extLst>
          </p:cNvPr>
          <p:cNvSpPr>
            <a:spLocks noGrp="1" noChangeArrowheads="1"/>
          </p:cNvSpPr>
          <p:nvPr>
            <p:ph type="sldNum" sz="quarter" idx="4"/>
          </p:nvPr>
        </p:nvSpPr>
        <p:spPr bwMode="auto">
          <a:xfrm>
            <a:off x="6777038" y="631825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600">
                <a:solidFill>
                  <a:srgbClr val="000000"/>
                </a:solidFill>
                <a:latin typeface="Garamond" panose="02020404030301010803" pitchFamily="18" charset="0"/>
                <a:cs typeface="Arial" panose="020B0604020202020204" pitchFamily="34" charset="0"/>
              </a:defRPr>
            </a:lvl1pPr>
          </a:lstStyle>
          <a:p>
            <a:fld id="{764B09B3-2352-4B45-BFD9-B15BF150B2F8}" type="slidenum">
              <a:rPr lang="en-US" altLang="en-US"/>
              <a:pPr/>
              <a:t>‹#›</a:t>
            </a:fld>
            <a:endParaRPr lang="en-US" altLang="en-US"/>
          </a:p>
        </p:txBody>
      </p:sp>
      <p:sp>
        <p:nvSpPr>
          <p:cNvPr id="1030" name="Line 1032">
            <a:extLst>
              <a:ext uri="{FF2B5EF4-FFF2-40B4-BE49-F238E27FC236}">
                <a16:creationId xmlns:a16="http://schemas.microsoft.com/office/drawing/2014/main" id="{3B64EC2B-D863-2044-B2D5-E738C6E47F61}"/>
              </a:ext>
            </a:extLst>
          </p:cNvPr>
          <p:cNvSpPr>
            <a:spLocks noChangeShapeType="1"/>
          </p:cNvSpPr>
          <p:nvPr/>
        </p:nvSpPr>
        <p:spPr bwMode="auto">
          <a:xfrm>
            <a:off x="228600" y="6481763"/>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Line 1033">
            <a:extLst>
              <a:ext uri="{FF2B5EF4-FFF2-40B4-BE49-F238E27FC236}">
                <a16:creationId xmlns:a16="http://schemas.microsoft.com/office/drawing/2014/main" id="{A5047C56-8C24-0345-894A-0C4BCF3C536F}"/>
              </a:ext>
            </a:extLst>
          </p:cNvPr>
          <p:cNvSpPr>
            <a:spLocks noChangeShapeType="1"/>
          </p:cNvSpPr>
          <p:nvPr userDrawn="1"/>
        </p:nvSpPr>
        <p:spPr bwMode="auto">
          <a:xfrm>
            <a:off x="228600" y="898525"/>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4600" r:id="rId1"/>
    <p:sldLayoutId id="2147484578" r:id="rId2"/>
    <p:sldLayoutId id="2147484579" r:id="rId3"/>
    <p:sldLayoutId id="2147484580" r:id="rId4"/>
    <p:sldLayoutId id="2147484581" r:id="rId5"/>
    <p:sldLayoutId id="2147484582" r:id="rId6"/>
    <p:sldLayoutId id="2147484583" r:id="rId7"/>
    <p:sldLayoutId id="2147484584" r:id="rId8"/>
    <p:sldLayoutId id="2147484585" r:id="rId9"/>
    <p:sldLayoutId id="2147484586" r:id="rId10"/>
    <p:sldLayoutId id="2147484587" r:id="rId11"/>
    <p:sldLayoutId id="2147484588" r:id="rId12"/>
  </p:sldLayoutIdLst>
  <p:transition/>
  <p:hf hdr="0" ftr="0" dt="0"/>
  <p:txStyles>
    <p:titleStyle>
      <a:lvl1pPr algn="l" rtl="0" eaLnBrk="0" fontAlgn="base" hangingPunct="0">
        <a:spcBef>
          <a:spcPct val="0"/>
        </a:spcBef>
        <a:spcAft>
          <a:spcPct val="0"/>
        </a:spcAft>
        <a:defRPr sz="4000">
          <a:solidFill>
            <a:schemeClr val="tx2"/>
          </a:solidFill>
          <a:latin typeface="+mj-lt"/>
          <a:ea typeface="ＭＳ Ｐゴシック" charset="0"/>
          <a:cs typeface="ＭＳ Ｐゴシック" charset="0"/>
        </a:defRPr>
      </a:lvl1pPr>
      <a:lvl2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2pPr>
      <a:lvl3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3pPr>
      <a:lvl4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4pPr>
      <a:lvl5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5pPr>
      <a:lvl6pPr marL="457200" algn="l" rtl="0" fontAlgn="base">
        <a:spcBef>
          <a:spcPct val="0"/>
        </a:spcBef>
        <a:spcAft>
          <a:spcPct val="0"/>
        </a:spcAft>
        <a:defRPr sz="4000">
          <a:solidFill>
            <a:schemeClr val="tx2"/>
          </a:solidFill>
          <a:latin typeface="Garamond" pitchFamily="18" charset="0"/>
        </a:defRPr>
      </a:lvl6pPr>
      <a:lvl7pPr marL="914400" algn="l" rtl="0" fontAlgn="base">
        <a:spcBef>
          <a:spcPct val="0"/>
        </a:spcBef>
        <a:spcAft>
          <a:spcPct val="0"/>
        </a:spcAft>
        <a:defRPr sz="4000">
          <a:solidFill>
            <a:schemeClr val="tx2"/>
          </a:solidFill>
          <a:latin typeface="Garamond" pitchFamily="18" charset="0"/>
        </a:defRPr>
      </a:lvl7pPr>
      <a:lvl8pPr marL="1371600" algn="l" rtl="0" fontAlgn="base">
        <a:spcBef>
          <a:spcPct val="0"/>
        </a:spcBef>
        <a:spcAft>
          <a:spcPct val="0"/>
        </a:spcAft>
        <a:defRPr sz="4000">
          <a:solidFill>
            <a:schemeClr val="tx2"/>
          </a:solidFill>
          <a:latin typeface="Garamond" pitchFamily="18" charset="0"/>
        </a:defRPr>
      </a:lvl8pPr>
      <a:lvl9pPr marL="1828800" algn="l" rtl="0" fontAlgn="base">
        <a:spcBef>
          <a:spcPct val="0"/>
        </a:spcBef>
        <a:spcAft>
          <a:spcPct val="0"/>
        </a:spcAft>
        <a:defRPr sz="40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1026">
            <a:extLst>
              <a:ext uri="{FF2B5EF4-FFF2-40B4-BE49-F238E27FC236}">
                <a16:creationId xmlns:a16="http://schemas.microsoft.com/office/drawing/2014/main" id="{0AC9020A-D492-D64F-B5D8-C96017808D84}"/>
              </a:ext>
            </a:extLst>
          </p:cNvPr>
          <p:cNvSpPr>
            <a:spLocks noGrp="1" noChangeArrowheads="1"/>
          </p:cNvSpPr>
          <p:nvPr>
            <p:ph type="title"/>
          </p:nvPr>
        </p:nvSpPr>
        <p:spPr bwMode="auto">
          <a:xfrm>
            <a:off x="228600" y="152400"/>
            <a:ext cx="8610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4339" name="Rectangle 1027">
            <a:extLst>
              <a:ext uri="{FF2B5EF4-FFF2-40B4-BE49-F238E27FC236}">
                <a16:creationId xmlns:a16="http://schemas.microsoft.com/office/drawing/2014/main" id="{36DAF701-8EF2-B34A-9E85-188203F929E0}"/>
              </a:ext>
            </a:extLst>
          </p:cNvPr>
          <p:cNvSpPr>
            <a:spLocks noGrp="1" noChangeArrowheads="1"/>
          </p:cNvSpPr>
          <p:nvPr>
            <p:ph type="body" idx="1"/>
          </p:nvPr>
        </p:nvSpPr>
        <p:spPr bwMode="auto">
          <a:xfrm>
            <a:off x="228600" y="898525"/>
            <a:ext cx="8610600" cy="523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0357" name="Rectangle 1029">
            <a:extLst>
              <a:ext uri="{FF2B5EF4-FFF2-40B4-BE49-F238E27FC236}">
                <a16:creationId xmlns:a16="http://schemas.microsoft.com/office/drawing/2014/main" id="{A5ED44BB-0781-B444-90A4-103F3CA3BB47}"/>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solidFill>
                  <a:srgbClr val="000000"/>
                </a:solidFill>
                <a:latin typeface="Garamond"/>
                <a:ea typeface="+mn-ea"/>
                <a:cs typeface="+mn-cs"/>
              </a:defRPr>
            </a:lvl1pPr>
          </a:lstStyle>
          <a:p>
            <a:pPr>
              <a:defRPr/>
            </a:pPr>
            <a:endParaRPr lang="en-US" altLang="en-US"/>
          </a:p>
        </p:txBody>
      </p:sp>
      <p:sp>
        <p:nvSpPr>
          <p:cNvPr id="100358" name="Rectangle 1030">
            <a:extLst>
              <a:ext uri="{FF2B5EF4-FFF2-40B4-BE49-F238E27FC236}">
                <a16:creationId xmlns:a16="http://schemas.microsoft.com/office/drawing/2014/main" id="{5AF72E21-8C3D-E443-B6C4-73EBA94CE1F2}"/>
              </a:ext>
            </a:extLst>
          </p:cNvPr>
          <p:cNvSpPr>
            <a:spLocks noGrp="1" noChangeArrowheads="1"/>
          </p:cNvSpPr>
          <p:nvPr>
            <p:ph type="sldNum" sz="quarter" idx="4"/>
          </p:nvPr>
        </p:nvSpPr>
        <p:spPr bwMode="auto">
          <a:xfrm>
            <a:off x="6777038" y="631825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600">
                <a:solidFill>
                  <a:srgbClr val="000000"/>
                </a:solidFill>
                <a:latin typeface="Garamond" panose="02020404030301010803" pitchFamily="18" charset="0"/>
                <a:cs typeface="Arial" panose="020B0604020202020204" pitchFamily="34" charset="0"/>
              </a:defRPr>
            </a:lvl1pPr>
          </a:lstStyle>
          <a:p>
            <a:fld id="{0EE16E2F-C2F1-B84A-A31A-9EB8B530A580}" type="slidenum">
              <a:rPr lang="en-US" altLang="en-US"/>
              <a:pPr/>
              <a:t>‹#›</a:t>
            </a:fld>
            <a:endParaRPr lang="en-US" altLang="en-US"/>
          </a:p>
        </p:txBody>
      </p:sp>
      <p:sp>
        <p:nvSpPr>
          <p:cNvPr id="14342" name="Line 1032">
            <a:extLst>
              <a:ext uri="{FF2B5EF4-FFF2-40B4-BE49-F238E27FC236}">
                <a16:creationId xmlns:a16="http://schemas.microsoft.com/office/drawing/2014/main" id="{30C05B7F-F23A-FA47-A0A4-A3F51F6FF574}"/>
              </a:ext>
            </a:extLst>
          </p:cNvPr>
          <p:cNvSpPr>
            <a:spLocks noChangeShapeType="1"/>
          </p:cNvSpPr>
          <p:nvPr/>
        </p:nvSpPr>
        <p:spPr bwMode="auto">
          <a:xfrm>
            <a:off x="228600" y="6481763"/>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3" name="Line 1033">
            <a:extLst>
              <a:ext uri="{FF2B5EF4-FFF2-40B4-BE49-F238E27FC236}">
                <a16:creationId xmlns:a16="http://schemas.microsoft.com/office/drawing/2014/main" id="{A7E00E6C-350A-544F-9C24-3502C1117B17}"/>
              </a:ext>
            </a:extLst>
          </p:cNvPr>
          <p:cNvSpPr>
            <a:spLocks noChangeShapeType="1"/>
          </p:cNvSpPr>
          <p:nvPr userDrawn="1"/>
        </p:nvSpPr>
        <p:spPr bwMode="auto">
          <a:xfrm>
            <a:off x="228600" y="898525"/>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4601" r:id="rId1"/>
    <p:sldLayoutId id="2147484589" r:id="rId2"/>
    <p:sldLayoutId id="2147484590" r:id="rId3"/>
    <p:sldLayoutId id="2147484591" r:id="rId4"/>
    <p:sldLayoutId id="2147484592" r:id="rId5"/>
    <p:sldLayoutId id="2147484593" r:id="rId6"/>
    <p:sldLayoutId id="2147484594" r:id="rId7"/>
    <p:sldLayoutId id="2147484595" r:id="rId8"/>
    <p:sldLayoutId id="2147484596" r:id="rId9"/>
    <p:sldLayoutId id="2147484597" r:id="rId10"/>
    <p:sldLayoutId id="2147484598" r:id="rId11"/>
    <p:sldLayoutId id="2147484599" r:id="rId12"/>
  </p:sldLayoutIdLst>
  <p:transition/>
  <p:hf hdr="0" ftr="0" dt="0"/>
  <p:txStyles>
    <p:titleStyle>
      <a:lvl1pPr algn="l" rtl="0" eaLnBrk="0" fontAlgn="base" hangingPunct="0">
        <a:spcBef>
          <a:spcPct val="0"/>
        </a:spcBef>
        <a:spcAft>
          <a:spcPct val="0"/>
        </a:spcAft>
        <a:defRPr sz="4000">
          <a:solidFill>
            <a:schemeClr val="tx2"/>
          </a:solidFill>
          <a:latin typeface="+mj-lt"/>
          <a:ea typeface="ＭＳ Ｐゴシック" charset="0"/>
          <a:cs typeface="ＭＳ Ｐゴシック" charset="0"/>
        </a:defRPr>
      </a:lvl1pPr>
      <a:lvl2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2pPr>
      <a:lvl3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3pPr>
      <a:lvl4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4pPr>
      <a:lvl5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5pPr>
      <a:lvl6pPr marL="457200" algn="l" rtl="0" fontAlgn="base">
        <a:spcBef>
          <a:spcPct val="0"/>
        </a:spcBef>
        <a:spcAft>
          <a:spcPct val="0"/>
        </a:spcAft>
        <a:defRPr sz="4000">
          <a:solidFill>
            <a:schemeClr val="tx2"/>
          </a:solidFill>
          <a:latin typeface="Garamond" pitchFamily="18" charset="0"/>
        </a:defRPr>
      </a:lvl6pPr>
      <a:lvl7pPr marL="914400" algn="l" rtl="0" fontAlgn="base">
        <a:spcBef>
          <a:spcPct val="0"/>
        </a:spcBef>
        <a:spcAft>
          <a:spcPct val="0"/>
        </a:spcAft>
        <a:defRPr sz="4000">
          <a:solidFill>
            <a:schemeClr val="tx2"/>
          </a:solidFill>
          <a:latin typeface="Garamond" pitchFamily="18" charset="0"/>
        </a:defRPr>
      </a:lvl7pPr>
      <a:lvl8pPr marL="1371600" algn="l" rtl="0" fontAlgn="base">
        <a:spcBef>
          <a:spcPct val="0"/>
        </a:spcBef>
        <a:spcAft>
          <a:spcPct val="0"/>
        </a:spcAft>
        <a:defRPr sz="4000">
          <a:solidFill>
            <a:schemeClr val="tx2"/>
          </a:solidFill>
          <a:latin typeface="Garamond" pitchFamily="18" charset="0"/>
        </a:defRPr>
      </a:lvl8pPr>
      <a:lvl9pPr marL="1828800" algn="l" rtl="0" fontAlgn="base">
        <a:spcBef>
          <a:spcPct val="0"/>
        </a:spcBef>
        <a:spcAft>
          <a:spcPct val="0"/>
        </a:spcAft>
        <a:defRPr sz="40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1026"/>
          <p:cNvSpPr>
            <a:spLocks noGrp="1" noChangeArrowheads="1"/>
          </p:cNvSpPr>
          <p:nvPr>
            <p:ph type="title"/>
          </p:nvPr>
        </p:nvSpPr>
        <p:spPr bwMode="auto">
          <a:xfrm>
            <a:off x="228600" y="152400"/>
            <a:ext cx="8610600" cy="884238"/>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27" name="Rectangle 1027"/>
          <p:cNvSpPr>
            <a:spLocks noGrp="1" noChangeArrowheads="1"/>
          </p:cNvSpPr>
          <p:nvPr>
            <p:ph type="body" idx="1"/>
          </p:nvPr>
        </p:nvSpPr>
        <p:spPr bwMode="auto">
          <a:xfrm>
            <a:off x="228600" y="1095375"/>
            <a:ext cx="8610600" cy="5153025"/>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0357" name="Rectangle 1029"/>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atin typeface="Garamond" charset="0"/>
              </a:defRPr>
            </a:lvl1pPr>
          </a:lstStyle>
          <a:p>
            <a:pPr fontAlgn="base">
              <a:spcBef>
                <a:spcPct val="0"/>
              </a:spcBef>
              <a:spcAft>
                <a:spcPct val="0"/>
              </a:spcAft>
              <a:defRPr/>
            </a:pPr>
            <a:endParaRPr lang="en-US">
              <a:solidFill>
                <a:srgbClr val="000000"/>
              </a:solidFill>
              <a:ea typeface="ＭＳ Ｐゴシック" charset="0"/>
              <a:cs typeface="ＭＳ Ｐゴシック" charset="0"/>
            </a:endParaRPr>
          </a:p>
        </p:txBody>
      </p:sp>
      <p:sp>
        <p:nvSpPr>
          <p:cNvPr id="100358" name="Rectangle 1030"/>
          <p:cNvSpPr>
            <a:spLocks noGrp="1" noChangeArrowheads="1"/>
          </p:cNvSpPr>
          <p:nvPr>
            <p:ph type="sldNum" sz="quarter" idx="4"/>
          </p:nvPr>
        </p:nvSpPr>
        <p:spPr bwMode="auto">
          <a:xfrm>
            <a:off x="6946900" y="6373813"/>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600">
                <a:latin typeface="Garamond" charset="0"/>
              </a:defRPr>
            </a:lvl1pPr>
          </a:lstStyle>
          <a:p>
            <a:pPr fontAlgn="base">
              <a:spcBef>
                <a:spcPct val="0"/>
              </a:spcBef>
              <a:spcAft>
                <a:spcPct val="0"/>
              </a:spcAft>
              <a:defRPr/>
            </a:pPr>
            <a:fld id="{FB5C1105-7C02-0A4A-BBB4-558A73CD3ACF}" type="slidenum">
              <a:rPr lang="en-US">
                <a:solidFill>
                  <a:srgbClr val="000000"/>
                </a:solidFill>
                <a:ea typeface="ＭＳ Ｐゴシック" charset="0"/>
                <a:cs typeface="ＭＳ Ｐゴシック" charset="0"/>
              </a:rPr>
              <a:pPr fontAlgn="base">
                <a:spcBef>
                  <a:spcPct val="0"/>
                </a:spcBef>
                <a:spcAft>
                  <a:spcPct val="0"/>
                </a:spcAft>
                <a:defRPr/>
              </a:pPr>
              <a:t>‹#›</a:t>
            </a:fld>
            <a:endParaRPr lang="en-US">
              <a:solidFill>
                <a:srgbClr val="000000"/>
              </a:solidFill>
              <a:ea typeface="ＭＳ Ｐゴシック" charset="0"/>
              <a:cs typeface="ＭＳ Ｐゴシック" charset="0"/>
            </a:endParaRPr>
          </a:p>
        </p:txBody>
      </p:sp>
      <p:sp>
        <p:nvSpPr>
          <p:cNvPr id="1030" name="Line 1032"/>
          <p:cNvSpPr>
            <a:spLocks noChangeShapeType="1"/>
          </p:cNvSpPr>
          <p:nvPr/>
        </p:nvSpPr>
        <p:spPr bwMode="auto">
          <a:xfrm>
            <a:off x="228600" y="6446838"/>
            <a:ext cx="8610600" cy="0"/>
          </a:xfrm>
          <a:prstGeom prst="line">
            <a:avLst/>
          </a:prstGeom>
          <a:noFill/>
          <a:ln w="19050">
            <a:solidFill>
              <a:schemeClr val="accent1"/>
            </a:solidFill>
            <a:round/>
            <a:headEnd/>
            <a:tailEnd/>
          </a:ln>
          <a:extLst>
            <a:ext uri="{909E8E84-426E-40dd-AFC4-6F175D3DCCD1}">
              <a14:hiddenFill xmlns:a14="http://schemas.microsoft.com/office/drawing/2010/main" xmlns="">
                <a:noFill/>
              </a14:hiddenFill>
            </a:ext>
          </a:extLst>
        </p:spPr>
        <p:txBody>
          <a:bodyPr/>
          <a:lstStyle/>
          <a:p>
            <a:pPr fontAlgn="base">
              <a:spcBef>
                <a:spcPct val="0"/>
              </a:spcBef>
              <a:spcAft>
                <a:spcPct val="0"/>
              </a:spcAft>
            </a:pPr>
            <a:endParaRPr lang="en-US">
              <a:solidFill>
                <a:srgbClr val="000000"/>
              </a:solidFill>
              <a:latin typeface="Arial" charset="0"/>
              <a:ea typeface="ＭＳ Ｐゴシック" charset="0"/>
              <a:cs typeface="ＭＳ Ｐゴシック" charset="0"/>
            </a:endParaRPr>
          </a:p>
        </p:txBody>
      </p:sp>
      <p:sp>
        <p:nvSpPr>
          <p:cNvPr id="1031" name="Line 1033"/>
          <p:cNvSpPr>
            <a:spLocks noChangeShapeType="1"/>
          </p:cNvSpPr>
          <p:nvPr userDrawn="1"/>
        </p:nvSpPr>
        <p:spPr bwMode="auto">
          <a:xfrm>
            <a:off x="228600" y="914400"/>
            <a:ext cx="8610600" cy="0"/>
          </a:xfrm>
          <a:prstGeom prst="line">
            <a:avLst/>
          </a:prstGeom>
          <a:noFill/>
          <a:ln w="19050">
            <a:solidFill>
              <a:schemeClr val="accent1"/>
            </a:solidFill>
            <a:round/>
            <a:headEnd/>
            <a:tailEnd/>
          </a:ln>
          <a:extLst>
            <a:ext uri="{909E8E84-426E-40dd-AFC4-6F175D3DCCD1}">
              <a14:hiddenFill xmlns:a14="http://schemas.microsoft.com/office/drawing/2010/main" xmlns="">
                <a:noFill/>
              </a14:hiddenFill>
            </a:ext>
          </a:extLst>
        </p:spPr>
        <p:txBody>
          <a:bodyPr/>
          <a:lstStyle/>
          <a:p>
            <a:pPr fontAlgn="base">
              <a:spcBef>
                <a:spcPct val="0"/>
              </a:spcBef>
              <a:spcAft>
                <a:spcPct val="0"/>
              </a:spcAft>
            </a:pPr>
            <a:endParaRPr lang="en-US">
              <a:solidFill>
                <a:srgbClr val="000000"/>
              </a:solidFill>
              <a:latin typeface="Arial" charset="0"/>
              <a:ea typeface="ＭＳ Ｐゴシック" charset="0"/>
              <a:cs typeface="ＭＳ Ｐゴシック" charset="0"/>
            </a:endParaRPr>
          </a:p>
        </p:txBody>
      </p:sp>
      <p:pic>
        <p:nvPicPr>
          <p:cNvPr id="1032" name="Picture 7" descr="safari.png"/>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80975" y="6602413"/>
            <a:ext cx="847725" cy="2460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645329203"/>
      </p:ext>
    </p:extLst>
  </p:cSld>
  <p:clrMap bg1="lt1" tx1="dk1" bg2="lt2" tx2="dk2" accent1="accent1" accent2="accent2" accent3="accent3" accent4="accent4" accent5="accent5" accent6="accent6" hlink="hlink" folHlink="folHlink"/>
  <p:sldLayoutIdLst>
    <p:sldLayoutId id="2147484668" r:id="rId1"/>
    <p:sldLayoutId id="2147484669" r:id="rId2"/>
    <p:sldLayoutId id="2147484670" r:id="rId3"/>
    <p:sldLayoutId id="2147484671" r:id="rId4"/>
    <p:sldLayoutId id="2147484672" r:id="rId5"/>
    <p:sldLayoutId id="2147484673" r:id="rId6"/>
    <p:sldLayoutId id="2147484674" r:id="rId7"/>
    <p:sldLayoutId id="2147484675" r:id="rId8"/>
    <p:sldLayoutId id="2147484676" r:id="rId9"/>
    <p:sldLayoutId id="2147484677" r:id="rId10"/>
    <p:sldLayoutId id="2147484678" r:id="rId11"/>
    <p:sldLayoutId id="2147484679" r:id="rId12"/>
  </p:sldLayoutIdLst>
  <p:transition/>
  <p:hf hdr="0" ftr="0" dt="0"/>
  <p:txStyles>
    <p:titleStyle>
      <a:lvl1pPr algn="l" rtl="0" eaLnBrk="0" fontAlgn="base" hangingPunct="0">
        <a:spcBef>
          <a:spcPct val="0"/>
        </a:spcBef>
        <a:spcAft>
          <a:spcPct val="0"/>
        </a:spcAft>
        <a:defRPr sz="4000">
          <a:solidFill>
            <a:schemeClr val="tx2"/>
          </a:solidFill>
          <a:latin typeface="+mj-lt"/>
          <a:ea typeface="ＭＳ Ｐゴシック" pitchFamily="-106" charset="-128"/>
          <a:cs typeface="ＭＳ Ｐゴシック" pitchFamily="-106" charset="-128"/>
        </a:defRPr>
      </a:lvl1pPr>
      <a:lvl2pPr algn="l" rtl="0" eaLnBrk="0" fontAlgn="base" hangingPunct="0">
        <a:spcBef>
          <a:spcPct val="0"/>
        </a:spcBef>
        <a:spcAft>
          <a:spcPct val="0"/>
        </a:spcAft>
        <a:defRPr sz="4000">
          <a:solidFill>
            <a:schemeClr val="tx2"/>
          </a:solidFill>
          <a:latin typeface="Garamond" pitchFamily="-106" charset="0"/>
          <a:ea typeface="ＭＳ Ｐゴシック" pitchFamily="-106" charset="-128"/>
          <a:cs typeface="ＭＳ Ｐゴシック" pitchFamily="-106" charset="-128"/>
        </a:defRPr>
      </a:lvl2pPr>
      <a:lvl3pPr algn="l" rtl="0" eaLnBrk="0" fontAlgn="base" hangingPunct="0">
        <a:spcBef>
          <a:spcPct val="0"/>
        </a:spcBef>
        <a:spcAft>
          <a:spcPct val="0"/>
        </a:spcAft>
        <a:defRPr sz="4000">
          <a:solidFill>
            <a:schemeClr val="tx2"/>
          </a:solidFill>
          <a:latin typeface="Garamond" pitchFamily="-106" charset="0"/>
          <a:ea typeface="ＭＳ Ｐゴシック" pitchFamily="-106" charset="-128"/>
          <a:cs typeface="ＭＳ Ｐゴシック" pitchFamily="-106" charset="-128"/>
        </a:defRPr>
      </a:lvl3pPr>
      <a:lvl4pPr algn="l" rtl="0" eaLnBrk="0" fontAlgn="base" hangingPunct="0">
        <a:spcBef>
          <a:spcPct val="0"/>
        </a:spcBef>
        <a:spcAft>
          <a:spcPct val="0"/>
        </a:spcAft>
        <a:defRPr sz="4000">
          <a:solidFill>
            <a:schemeClr val="tx2"/>
          </a:solidFill>
          <a:latin typeface="Garamond" pitchFamily="-106" charset="0"/>
          <a:ea typeface="ＭＳ Ｐゴシック" pitchFamily="-106" charset="-128"/>
          <a:cs typeface="ＭＳ Ｐゴシック" pitchFamily="-106" charset="-128"/>
        </a:defRPr>
      </a:lvl4pPr>
      <a:lvl5pPr algn="l" rtl="0" eaLnBrk="0" fontAlgn="base" hangingPunct="0">
        <a:spcBef>
          <a:spcPct val="0"/>
        </a:spcBef>
        <a:spcAft>
          <a:spcPct val="0"/>
        </a:spcAft>
        <a:defRPr sz="4000">
          <a:solidFill>
            <a:schemeClr val="tx2"/>
          </a:solidFill>
          <a:latin typeface="Garamond" pitchFamily="-106" charset="0"/>
          <a:ea typeface="ＭＳ Ｐゴシック" pitchFamily="-106" charset="-128"/>
          <a:cs typeface="ＭＳ Ｐゴシック" pitchFamily="-106" charset="-128"/>
        </a:defRPr>
      </a:lvl5pPr>
      <a:lvl6pPr marL="457200" algn="l" rtl="0" fontAlgn="base">
        <a:spcBef>
          <a:spcPct val="0"/>
        </a:spcBef>
        <a:spcAft>
          <a:spcPct val="0"/>
        </a:spcAft>
        <a:defRPr sz="4000">
          <a:solidFill>
            <a:schemeClr val="tx2"/>
          </a:solidFill>
          <a:latin typeface="Garamond" pitchFamily="-106" charset="0"/>
        </a:defRPr>
      </a:lvl6pPr>
      <a:lvl7pPr marL="914400" algn="l" rtl="0" fontAlgn="base">
        <a:spcBef>
          <a:spcPct val="0"/>
        </a:spcBef>
        <a:spcAft>
          <a:spcPct val="0"/>
        </a:spcAft>
        <a:defRPr sz="4000">
          <a:solidFill>
            <a:schemeClr val="tx2"/>
          </a:solidFill>
          <a:latin typeface="Garamond" pitchFamily="-106" charset="0"/>
        </a:defRPr>
      </a:lvl7pPr>
      <a:lvl8pPr marL="1371600" algn="l" rtl="0" fontAlgn="base">
        <a:spcBef>
          <a:spcPct val="0"/>
        </a:spcBef>
        <a:spcAft>
          <a:spcPct val="0"/>
        </a:spcAft>
        <a:defRPr sz="4000">
          <a:solidFill>
            <a:schemeClr val="tx2"/>
          </a:solidFill>
          <a:latin typeface="Garamond" pitchFamily="-106" charset="0"/>
        </a:defRPr>
      </a:lvl8pPr>
      <a:lvl9pPr marL="1828800" algn="l" rtl="0" fontAlgn="base">
        <a:spcBef>
          <a:spcPct val="0"/>
        </a:spcBef>
        <a:spcAft>
          <a:spcPct val="0"/>
        </a:spcAft>
        <a:defRPr sz="4000">
          <a:solidFill>
            <a:schemeClr val="tx2"/>
          </a:solidFill>
          <a:latin typeface="Garamond" pitchFamily="-106" charset="0"/>
        </a:defRPr>
      </a:lvl9pPr>
    </p:titleStyle>
    <p:bodyStyle>
      <a:lvl1pPr marL="342900" indent="-342900" algn="l" rtl="0" eaLnBrk="0" fontAlgn="base" hangingPunct="0">
        <a:spcBef>
          <a:spcPct val="20000"/>
        </a:spcBef>
        <a:spcAft>
          <a:spcPct val="0"/>
        </a:spcAft>
        <a:buClr>
          <a:schemeClr val="accent1"/>
        </a:buClr>
        <a:buSzPct val="65000"/>
        <a:buFont typeface="Wingdings" charset="0"/>
        <a:buChar char="n"/>
        <a:defRPr sz="2400">
          <a:solidFill>
            <a:schemeClr val="tx1"/>
          </a:solidFill>
          <a:latin typeface="+mn-lt"/>
          <a:ea typeface="ＭＳ Ｐゴシック" pitchFamily="-106" charset="-128"/>
          <a:cs typeface="ＭＳ Ｐゴシック" pitchFamily="-106" charset="-128"/>
        </a:defRPr>
      </a:lvl1pPr>
      <a:lvl2pPr marL="669925" indent="-325438" algn="l" rtl="0" eaLnBrk="0" fontAlgn="base" hangingPunct="0">
        <a:spcBef>
          <a:spcPct val="20000"/>
        </a:spcBef>
        <a:spcAft>
          <a:spcPct val="0"/>
        </a:spcAft>
        <a:buClr>
          <a:schemeClr val="accent2"/>
        </a:buClr>
        <a:buSzPct val="60000"/>
        <a:buFont typeface="Wingdings" charset="0"/>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charset="0"/>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charset="0"/>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charset="0"/>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106" charset="2"/>
        <a:buChar char="§"/>
        <a:defRPr sz="1600">
          <a:solidFill>
            <a:schemeClr val="tx1"/>
          </a:solidFill>
          <a:latin typeface="+mn-lt"/>
          <a:ea typeface="ＭＳ Ｐゴシック" pitchFamily="-106" charset="-128"/>
        </a:defRPr>
      </a:lvl6pPr>
      <a:lvl7pPr marL="2595563" indent="-339725" algn="l" rtl="0" fontAlgn="base">
        <a:spcBef>
          <a:spcPct val="20000"/>
        </a:spcBef>
        <a:spcAft>
          <a:spcPct val="0"/>
        </a:spcAft>
        <a:buClr>
          <a:schemeClr val="accent1"/>
        </a:buClr>
        <a:buSzPct val="75000"/>
        <a:buFont typeface="Wingdings" pitchFamily="-106" charset="2"/>
        <a:buChar char="§"/>
        <a:defRPr sz="1600">
          <a:solidFill>
            <a:schemeClr val="tx1"/>
          </a:solidFill>
          <a:latin typeface="+mn-lt"/>
          <a:ea typeface="ＭＳ Ｐゴシック" pitchFamily="-106" charset="-128"/>
        </a:defRPr>
      </a:lvl7pPr>
      <a:lvl8pPr marL="3052763" indent="-339725" algn="l" rtl="0" fontAlgn="base">
        <a:spcBef>
          <a:spcPct val="20000"/>
        </a:spcBef>
        <a:spcAft>
          <a:spcPct val="0"/>
        </a:spcAft>
        <a:buClr>
          <a:schemeClr val="accent1"/>
        </a:buClr>
        <a:buSzPct val="75000"/>
        <a:buFont typeface="Wingdings" pitchFamily="-106" charset="2"/>
        <a:buChar char="§"/>
        <a:defRPr sz="1600">
          <a:solidFill>
            <a:schemeClr val="tx1"/>
          </a:solidFill>
          <a:latin typeface="+mn-lt"/>
          <a:ea typeface="ＭＳ Ｐゴシック" pitchFamily="-106" charset="-128"/>
        </a:defRPr>
      </a:lvl8pPr>
      <a:lvl9pPr marL="3509963" indent="-339725" algn="l" rtl="0" fontAlgn="base">
        <a:spcBef>
          <a:spcPct val="20000"/>
        </a:spcBef>
        <a:spcAft>
          <a:spcPct val="0"/>
        </a:spcAft>
        <a:buClr>
          <a:schemeClr val="accent1"/>
        </a:buClr>
        <a:buSzPct val="75000"/>
        <a:buFont typeface="Wingdings" pitchFamily="-106" charset="2"/>
        <a:buChar char="§"/>
        <a:defRPr sz="1600">
          <a:solidFill>
            <a:schemeClr val="tx1"/>
          </a:solidFill>
          <a:latin typeface="+mn-lt"/>
          <a:ea typeface="ＭＳ Ｐゴシック" pitchFamily="-106"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s://images.nvidia.com/aem-dam/en-zz/Solutions/data-center/nvidia-ampere-architecture-whitepaper.pdf"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jpe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27.emf"/><Relationship Id="rId3" Type="http://schemas.openxmlformats.org/officeDocument/2006/relationships/image" Target="../media/image22.emf"/><Relationship Id="rId7" Type="http://schemas.openxmlformats.org/officeDocument/2006/relationships/image" Target="../media/image26.emf"/><Relationship Id="rId2" Type="http://schemas.openxmlformats.org/officeDocument/2006/relationships/image" Target="../media/image21.emf"/><Relationship Id="rId1" Type="http://schemas.openxmlformats.org/officeDocument/2006/relationships/slideLayout" Target="../slideLayouts/slideLayout2.xml"/><Relationship Id="rId6" Type="http://schemas.openxmlformats.org/officeDocument/2006/relationships/image" Target="../media/image25.emf"/><Relationship Id="rId5" Type="http://schemas.openxmlformats.org/officeDocument/2006/relationships/image" Target="../media/image24.emf"/><Relationship Id="rId4" Type="http://schemas.openxmlformats.org/officeDocument/2006/relationships/image" Target="../media/image23.emf"/></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s://doi.org/10.1145/106972.106981"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hyperlink" Target="https://doi.org/10.1016/B978-0-12-811986-0.00005-4" TargetMode="External"/><Relationship Id="rId4" Type="http://schemas.openxmlformats.org/officeDocument/2006/relationships/hyperlink" Target="https://doi.org/10.1016/B978-0-12-803819-2.00011-2" TargetMode="External"/></Relationships>
</file>

<file path=ppt/slides/_rels/slide53.xml.rels><?xml version="1.0" encoding="UTF-8" standalone="yes"?>
<Relationships xmlns="http://schemas.openxmlformats.org/package/2006/relationships"><Relationship Id="rId3" Type="http://schemas.openxmlformats.org/officeDocument/2006/relationships/hyperlink" Target="https://doi.org/10.1016/B978-0-12-803819-2.00011-2" TargetMode="External"/><Relationship Id="rId2" Type="http://schemas.openxmlformats.org/officeDocument/2006/relationships/hyperlink" Target="https://doi.org/10.1145/106972.106981" TargetMode="External"/><Relationship Id="rId1" Type="http://schemas.openxmlformats.org/officeDocument/2006/relationships/slideLayout" Target="../slideLayouts/slideLayout2.xml"/><Relationship Id="rId4" Type="http://schemas.openxmlformats.org/officeDocument/2006/relationships/hyperlink" Target="https://doi.org/10.1016/B978-0-12-811986-0.00005-4"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hyperlink" Target="https://docs.nvidia.com/cuda/cuda-c-programming-guide/index.html#atomic-functions"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4.emf"/><Relationship Id="rId7" Type="http://schemas.openxmlformats.org/officeDocument/2006/relationships/image" Target="../media/image38.emf"/><Relationship Id="rId2" Type="http://schemas.openxmlformats.org/officeDocument/2006/relationships/image" Target="../media/image33.emf"/><Relationship Id="rId1" Type="http://schemas.openxmlformats.org/officeDocument/2006/relationships/slideLayout" Target="../slideLayouts/slideLayout2.xml"/><Relationship Id="rId6" Type="http://schemas.openxmlformats.org/officeDocument/2006/relationships/image" Target="../media/image37.emf"/><Relationship Id="rId5" Type="http://schemas.openxmlformats.org/officeDocument/2006/relationships/image" Target="../media/image36.emf"/><Relationship Id="rId4" Type="http://schemas.openxmlformats.org/officeDocument/2006/relationships/image" Target="../media/image35.emf"/></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93.png"/><Relationship Id="rId4" Type="http://schemas.openxmlformats.org/officeDocument/2006/relationships/image" Target="../media/image80.png"/></Relationships>
</file>

<file path=ppt/slides/_rels/slide83.xml.rels><?xml version="1.0" encoding="UTF-8" standalone="yes"?>
<Relationships xmlns="http://schemas.openxmlformats.org/package/2006/relationships"><Relationship Id="rId3" Type="http://schemas.openxmlformats.org/officeDocument/2006/relationships/hyperlink" Target="https://docs.nvidia.com/cuda/cuda-c-programming-guide/index.html#streams" TargetMode="External"/><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hyperlink" Target="https://developer.nvidia.com/blog/nvidia-hopper-architecture-in-depth/"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43.jpg"/><Relationship Id="rId4" Type="http://schemas.openxmlformats.org/officeDocument/2006/relationships/image" Target="../media/image42.jp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2.xml.rels><?xml version="1.0" encoding="UTF-8" standalone="yes"?>
<Relationships xmlns="http://schemas.openxmlformats.org/package/2006/relationships"><Relationship Id="rId3" Type="http://schemas.openxmlformats.org/officeDocument/2006/relationships/hyperlink" Target="https://developer.nvidia.com/blog/nvidia-hopper-architecture-in-depth/" TargetMode="External"/><Relationship Id="rId2" Type="http://schemas.openxmlformats.org/officeDocument/2006/relationships/notesSlide" Target="../notesSlides/notesSlide38.xml"/><Relationship Id="rId1" Type="http://schemas.openxmlformats.org/officeDocument/2006/relationships/slideLayout" Target="../slideLayouts/slideLayout14.xml"/><Relationship Id="rId4" Type="http://schemas.openxmlformats.org/officeDocument/2006/relationships/image" Target="../media/image49.png"/></Relationships>
</file>

<file path=ppt/slides/_rels/slide113.xml.rels><?xml version="1.0" encoding="UTF-8" standalone="yes"?>
<Relationships xmlns="http://schemas.openxmlformats.org/package/2006/relationships"><Relationship Id="rId3" Type="http://schemas.openxmlformats.org/officeDocument/2006/relationships/hyperlink" Target="https://developer.nvidia.com/blog/nvidia-hopper-architecture-in-depth/" TargetMode="External"/><Relationship Id="rId2" Type="http://schemas.openxmlformats.org/officeDocument/2006/relationships/notesSlide" Target="../notesSlides/notesSlide39.xml"/><Relationship Id="rId1" Type="http://schemas.openxmlformats.org/officeDocument/2006/relationships/slideLayout" Target="../slideLayouts/slideLayout14.xml"/><Relationship Id="rId5" Type="http://schemas.openxmlformats.org/officeDocument/2006/relationships/image" Target="../media/image51.jpg"/><Relationship Id="rId4" Type="http://schemas.openxmlformats.org/officeDocument/2006/relationships/image" Target="../media/image50.png"/></Relationships>
</file>

<file path=ppt/slides/_rels/slide114.xml.rels><?xml version="1.0" encoding="UTF-8" standalone="yes"?>
<Relationships xmlns="http://schemas.openxmlformats.org/package/2006/relationships"><Relationship Id="rId3" Type="http://schemas.openxmlformats.org/officeDocument/2006/relationships/hyperlink" Target="https://developer.nvidia.com/blog/nvidia-hopper-architecture-in-depth/" TargetMode="External"/><Relationship Id="rId2" Type="http://schemas.openxmlformats.org/officeDocument/2006/relationships/notesSlide" Target="../notesSlides/notesSlide40.xml"/><Relationship Id="rId1" Type="http://schemas.openxmlformats.org/officeDocument/2006/relationships/slideLayout" Target="../slideLayouts/slideLayout14.xml"/><Relationship Id="rId4" Type="http://schemas.openxmlformats.org/officeDocument/2006/relationships/image" Target="../media/image52.jpg"/></Relationships>
</file>

<file path=ppt/slides/_rels/slide115.xml.rels><?xml version="1.0" encoding="UTF-8" standalone="yes"?>
<Relationships xmlns="http://schemas.openxmlformats.org/package/2006/relationships"><Relationship Id="rId3" Type="http://schemas.openxmlformats.org/officeDocument/2006/relationships/hyperlink" Target="https://developer.download.nvidia.com/assets/cuda/files/reduction.pdf" TargetMode="External"/><Relationship Id="rId2" Type="http://schemas.openxmlformats.org/officeDocument/2006/relationships/hyperlink" Target="https://docs.nvidia.com/cuda/cuda-samples/index.html#cuda-parallel-reduction" TargetMode="External"/><Relationship Id="rId1" Type="http://schemas.openxmlformats.org/officeDocument/2006/relationships/slideLayout" Target="../slideLayouts/slideLayout14.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7.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118.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0.xml.rels><?xml version="1.0" encoding="UTF-8" standalone="yes"?>
<Relationships xmlns="http://schemas.openxmlformats.org/package/2006/relationships"><Relationship Id="rId3" Type="http://schemas.openxmlformats.org/officeDocument/2006/relationships/image" Target="../media/image55.tiff"/><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4">
            <a:extLst>
              <a:ext uri="{FF2B5EF4-FFF2-40B4-BE49-F238E27FC236}">
                <a16:creationId xmlns:a16="http://schemas.microsoft.com/office/drawing/2014/main" id="{449D8DDE-B114-874A-8B5A-CE4E2F84BF76}"/>
              </a:ext>
            </a:extLst>
          </p:cNvPr>
          <p:cNvSpPr>
            <a:spLocks noGrp="1" noChangeArrowheads="1"/>
          </p:cNvSpPr>
          <p:nvPr>
            <p:ph type="ctrTitle"/>
          </p:nvPr>
        </p:nvSpPr>
        <p:spPr>
          <a:xfrm>
            <a:off x="228600" y="717550"/>
            <a:ext cx="8686800" cy="2711450"/>
          </a:xfrm>
        </p:spPr>
        <p:txBody>
          <a:bodyPr/>
          <a:lstStyle/>
          <a:p>
            <a:pPr algn="ctr" eaLnBrk="1" hangingPunct="1"/>
            <a:br>
              <a:rPr lang="en-US" altLang="en-US" dirty="0">
                <a:ea typeface="ＭＳ Ｐゴシック" panose="020B0600070205080204" pitchFamily="34" charset="-128"/>
              </a:rPr>
            </a:br>
            <a:r>
              <a:rPr lang="en-US" altLang="zh-CN" sz="4500" b="1" dirty="0">
                <a:ea typeface="ＭＳ Ｐゴシック" panose="020B0600070205080204" pitchFamily="34" charset="-128"/>
              </a:rPr>
              <a:t>AI Chip </a:t>
            </a:r>
            <a:r>
              <a:rPr lang="en-US" altLang="en-US" sz="4500" b="1" dirty="0">
                <a:ea typeface="ＭＳ Ｐゴシック" panose="020B0600070205080204" pitchFamily="34" charset="-128"/>
              </a:rPr>
              <a:t>&amp; Systems.</a:t>
            </a:r>
            <a:br>
              <a:rPr lang="en-US" altLang="en-US" sz="4500" b="1" dirty="0">
                <a:ea typeface="ＭＳ Ｐゴシック" panose="020B0600070205080204" pitchFamily="34" charset="-128"/>
              </a:rPr>
            </a:br>
            <a:br>
              <a:rPr lang="en-US" altLang="en-US" sz="1000" b="1" dirty="0">
                <a:ea typeface="ＭＳ Ｐゴシック" panose="020B0600070205080204" pitchFamily="34" charset="-128"/>
              </a:rPr>
            </a:br>
            <a:r>
              <a:rPr lang="en-US" altLang="en-US" sz="4300">
                <a:solidFill>
                  <a:srgbClr val="C00000"/>
                </a:solidFill>
                <a:ea typeface="ＭＳ Ｐゴシック" panose="020B0600070205080204" pitchFamily="34" charset="-128"/>
              </a:rPr>
              <a:t>Lecture 7: </a:t>
            </a:r>
            <a:r>
              <a:rPr lang="en-US" altLang="zh-CN" sz="4300" dirty="0">
                <a:solidFill>
                  <a:srgbClr val="C00000"/>
                </a:solidFill>
                <a:ea typeface="ＭＳ Ｐゴシック" panose="020B0600070205080204" pitchFamily="34" charset="-128"/>
              </a:rPr>
              <a:t>GPU Optimization</a:t>
            </a:r>
            <a:endParaRPr lang="en-US" altLang="en-US" sz="4300" dirty="0">
              <a:solidFill>
                <a:srgbClr val="C00000"/>
              </a:solidFill>
              <a:ea typeface="ＭＳ Ｐゴシック" panose="020B0600070205080204" pitchFamily="34" charset="-128"/>
            </a:endParaRPr>
          </a:p>
        </p:txBody>
      </p:sp>
      <p:sp>
        <p:nvSpPr>
          <p:cNvPr id="22530" name="Rectangle 5">
            <a:extLst>
              <a:ext uri="{FF2B5EF4-FFF2-40B4-BE49-F238E27FC236}">
                <a16:creationId xmlns:a16="http://schemas.microsoft.com/office/drawing/2014/main" id="{435E454D-D444-0541-B91A-9C35CDC08D6C}"/>
              </a:ext>
            </a:extLst>
          </p:cNvPr>
          <p:cNvSpPr>
            <a:spLocks noGrp="1" noChangeArrowheads="1"/>
          </p:cNvSpPr>
          <p:nvPr>
            <p:ph type="subTitle" idx="1"/>
          </p:nvPr>
        </p:nvSpPr>
        <p:spPr>
          <a:xfrm>
            <a:off x="685800" y="3810000"/>
            <a:ext cx="7848600" cy="2671763"/>
          </a:xfrm>
        </p:spPr>
        <p:txBody>
          <a:bodyPr/>
          <a:lstStyle/>
          <a:p>
            <a:pPr eaLnBrk="1" hangingPunct="1"/>
            <a:r>
              <a:rPr lang="en-US" altLang="en-US" dirty="0">
                <a:solidFill>
                  <a:srgbClr val="003399"/>
                </a:solidFill>
                <a:ea typeface="ＭＳ Ｐゴシック" panose="020B0600070205080204" pitchFamily="34" charset="-128"/>
              </a:rPr>
              <a:t>Prof. Zeke Wang</a:t>
            </a:r>
          </a:p>
          <a:p>
            <a:pPr eaLnBrk="1" hangingPunct="1"/>
            <a:endParaRPr lang="en-US" altLang="en-US" dirty="0">
              <a:solidFill>
                <a:srgbClr val="003399"/>
              </a:solidFill>
              <a:ea typeface="ＭＳ Ｐゴシック" panose="020B0600070205080204" pitchFamily="34" charset="-128"/>
            </a:endParaRPr>
          </a:p>
          <a:p>
            <a:pPr eaLnBrk="1" hangingPunct="1"/>
            <a:r>
              <a:rPr lang="en-US" altLang="en-US" dirty="0">
                <a:ea typeface="ＭＳ Ｐゴシック" panose="020B0600070205080204" pitchFamily="34" charset="-128"/>
              </a:rPr>
              <a:t>Zhejiang University</a:t>
            </a:r>
          </a:p>
          <a:p>
            <a:pPr eaLnBrk="1" hangingPunct="1"/>
            <a:r>
              <a:rPr lang="en-US" altLang="en-US" dirty="0">
                <a:ea typeface="ＭＳ Ｐゴシック" panose="020B0600070205080204" pitchFamily="34" charset="-128"/>
              </a:rPr>
              <a:t>April </a:t>
            </a:r>
            <a:r>
              <a:rPr lang="en-US" altLang="zh-CN" dirty="0">
                <a:ea typeface="ＭＳ Ｐゴシック" panose="020B0600070205080204" pitchFamily="34" charset="-128"/>
              </a:rPr>
              <a:t>20</a:t>
            </a:r>
            <a:r>
              <a:rPr lang="en-US" altLang="en-US" dirty="0">
                <a:ea typeface="ＭＳ Ｐゴシック" panose="020B0600070205080204" pitchFamily="34" charset="-128"/>
              </a:rPr>
              <a:t> 202</a:t>
            </a:r>
            <a:r>
              <a:rPr lang="en-US" altLang="zh-CN" dirty="0">
                <a:ea typeface="ＭＳ Ｐゴシック" panose="020B0600070205080204" pitchFamily="34" charset="-128"/>
              </a:rPr>
              <a:t>6</a:t>
            </a:r>
            <a:endParaRPr lang="en-US" altLang="en-US" dirty="0">
              <a:ea typeface="ＭＳ Ｐゴシック" panose="020B0600070205080204" pitchFamily="34" charset="-128"/>
            </a:endParaRPr>
          </a:p>
          <a:p>
            <a:pPr eaLnBrk="1" hangingPunct="1"/>
            <a:endParaRPr lang="en-US" altLang="en-US" dirty="0">
              <a:ea typeface="ＭＳ Ｐゴシック" panose="020B0600070205080204" pitchFamily="34" charset="-128"/>
            </a:endParaRPr>
          </a:p>
          <a:p>
            <a:pPr eaLnBrk="1" hangingPunct="1"/>
            <a:endParaRPr lang="en-US" altLang="en-US" dirty="0">
              <a:ea typeface="ＭＳ Ｐゴシック" panose="020B0600070205080204" pitchFamily="34" charset="-128"/>
            </a:endParaRPr>
          </a:p>
          <a:p>
            <a:pPr eaLnBrk="1" hangingPunct="1"/>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335163459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contenido 2"/>
          <p:cNvSpPr>
            <a:spLocks noGrp="1"/>
          </p:cNvSpPr>
          <p:nvPr>
            <p:ph idx="1"/>
          </p:nvPr>
        </p:nvSpPr>
        <p:spPr>
          <a:xfrm>
            <a:off x="235605" y="3671279"/>
            <a:ext cx="4495800" cy="2709469"/>
          </a:xfrm>
        </p:spPr>
        <p:txBody>
          <a:bodyPr/>
          <a:lstStyle/>
          <a:p>
            <a:r>
              <a:rPr lang="en-US" b="1" dirty="0">
                <a:cs typeface="Verdana"/>
              </a:rPr>
              <a:t>CPU</a:t>
            </a:r>
            <a:r>
              <a:rPr lang="en-US" dirty="0">
                <a:cs typeface="Verdana"/>
              </a:rPr>
              <a:t>: </a:t>
            </a:r>
          </a:p>
          <a:p>
            <a:pPr lvl="1"/>
            <a:r>
              <a:rPr lang="en-US" altLang="zh-CN" dirty="0">
                <a:solidFill>
                  <a:srgbClr val="FF0000"/>
                </a:solidFill>
                <a:cs typeface="Verdana"/>
              </a:rPr>
              <a:t>Few complex cores</a:t>
            </a:r>
          </a:p>
          <a:p>
            <a:pPr lvl="1"/>
            <a:r>
              <a:rPr lang="en-US" altLang="zh-CN" dirty="0">
                <a:solidFill>
                  <a:srgbClr val="0432FF"/>
                </a:solidFill>
                <a:cs typeface="Verdana"/>
              </a:rPr>
              <a:t>Larger cache </a:t>
            </a:r>
            <a:r>
              <a:rPr lang="en-US" altLang="zh-CN" dirty="0">
                <a:cs typeface="Verdana"/>
              </a:rPr>
              <a:t>for low memory latency</a:t>
            </a:r>
          </a:p>
          <a:p>
            <a:pPr lvl="1"/>
            <a:r>
              <a:rPr lang="en-US" dirty="0">
                <a:solidFill>
                  <a:srgbClr val="0432FF"/>
                </a:solidFill>
                <a:cs typeface="Verdana"/>
              </a:rPr>
              <a:t>Large</a:t>
            </a:r>
            <a:r>
              <a:rPr lang="en-US" dirty="0">
                <a:cs typeface="Verdana"/>
              </a:rPr>
              <a:t> and </a:t>
            </a:r>
            <a:r>
              <a:rPr lang="en-US" dirty="0">
                <a:solidFill>
                  <a:srgbClr val="FF0000"/>
                </a:solidFill>
                <a:cs typeface="Verdana"/>
              </a:rPr>
              <a:t>slow</a:t>
            </a:r>
            <a:r>
              <a:rPr lang="en-US" dirty="0">
                <a:cs typeface="Verdana"/>
              </a:rPr>
              <a:t> memory</a:t>
            </a:r>
          </a:p>
        </p:txBody>
      </p:sp>
      <p:sp>
        <p:nvSpPr>
          <p:cNvPr id="135" name="Título 134"/>
          <p:cNvSpPr>
            <a:spLocks noGrp="1"/>
          </p:cNvSpPr>
          <p:nvPr>
            <p:ph type="title"/>
          </p:nvPr>
        </p:nvSpPr>
        <p:spPr>
          <a:xfrm>
            <a:off x="228600" y="152400"/>
            <a:ext cx="9067800" cy="1066800"/>
          </a:xfrm>
        </p:spPr>
        <p:txBody>
          <a:bodyPr/>
          <a:lstStyle/>
          <a:p>
            <a:r>
              <a:rPr lang="en-US" altLang="zh-CN" dirty="0"/>
              <a:t>Recall: </a:t>
            </a:r>
            <a:r>
              <a:rPr lang="en-US" dirty="0"/>
              <a:t>CPU vs GPU</a:t>
            </a:r>
            <a:r>
              <a:rPr lang="zh-CN" altLang="en-US" dirty="0"/>
              <a:t>： </a:t>
            </a:r>
            <a:r>
              <a:rPr lang="en-US" altLang="zh-CN" dirty="0"/>
              <a:t>Compute Perspective</a:t>
            </a:r>
            <a:endParaRPr lang="en-US" dirty="0"/>
          </a:p>
        </p:txBody>
      </p:sp>
      <p:sp>
        <p:nvSpPr>
          <p:cNvPr id="2" name="Marcador de número de diapositiva 1"/>
          <p:cNvSpPr>
            <a:spLocks noGrp="1"/>
          </p:cNvSpPr>
          <p:nvPr>
            <p:ph type="sldNum" sz="quarter" idx="11"/>
          </p:nvPr>
        </p:nvSpPr>
        <p:spPr/>
        <p:txBody>
          <a:bodyPr/>
          <a:lstStyle/>
          <a:p>
            <a:fld id="{323594FA-E141-4234-AE05-360401972BE7}" type="slidenum">
              <a:rPr lang="en-US" altLang="en-US" smtClean="0"/>
              <a:pPr/>
              <a:t>2</a:t>
            </a:fld>
            <a:endParaRPr lang="en-US" altLang="en-US"/>
          </a:p>
        </p:txBody>
      </p:sp>
      <p:sp>
        <p:nvSpPr>
          <p:cNvPr id="137" name="object 4">
            <a:extLst>
              <a:ext uri="{FF2B5EF4-FFF2-40B4-BE49-F238E27FC236}">
                <a16:creationId xmlns:a16="http://schemas.microsoft.com/office/drawing/2014/main" id="{461A2A4B-C973-49B2-A825-BAD28AEBAFF5}"/>
              </a:ext>
            </a:extLst>
          </p:cNvPr>
          <p:cNvSpPr/>
          <p:nvPr/>
        </p:nvSpPr>
        <p:spPr>
          <a:xfrm>
            <a:off x="533400" y="1077437"/>
            <a:ext cx="3436503" cy="2280304"/>
          </a:xfrm>
          <a:prstGeom prst="rect">
            <a:avLst/>
          </a:prstGeom>
          <a:blipFill>
            <a:blip r:embed="rId2" cstate="print"/>
            <a:stretch>
              <a:fillRect/>
            </a:stretch>
          </a:blipFill>
        </p:spPr>
        <p:txBody>
          <a:bodyPr wrap="square" lIns="0" tIns="0" rIns="0" bIns="0" rtlCol="0"/>
          <a:lstStyle/>
          <a:p>
            <a:endParaRPr/>
          </a:p>
        </p:txBody>
      </p:sp>
      <p:sp>
        <p:nvSpPr>
          <p:cNvPr id="138" name="object 5">
            <a:extLst>
              <a:ext uri="{FF2B5EF4-FFF2-40B4-BE49-F238E27FC236}">
                <a16:creationId xmlns:a16="http://schemas.microsoft.com/office/drawing/2014/main" id="{F5BC8D28-1895-46BB-B758-605109FBD4E1}"/>
              </a:ext>
            </a:extLst>
          </p:cNvPr>
          <p:cNvSpPr/>
          <p:nvPr/>
        </p:nvSpPr>
        <p:spPr>
          <a:xfrm>
            <a:off x="4833938" y="1150789"/>
            <a:ext cx="3886200" cy="2133600"/>
          </a:xfrm>
          <a:prstGeom prst="rect">
            <a:avLst/>
          </a:prstGeom>
          <a:blipFill>
            <a:blip r:embed="rId3" cstate="print"/>
            <a:stretch>
              <a:fillRect/>
            </a:stretch>
          </a:blipFill>
        </p:spPr>
        <p:txBody>
          <a:bodyPr wrap="square" lIns="0" tIns="0" rIns="0" bIns="0" rtlCol="0"/>
          <a:lstStyle/>
          <a:p>
            <a:endParaRPr/>
          </a:p>
        </p:txBody>
      </p:sp>
      <p:sp>
        <p:nvSpPr>
          <p:cNvPr id="139" name="Marcador de contenido 2">
            <a:extLst>
              <a:ext uri="{FF2B5EF4-FFF2-40B4-BE49-F238E27FC236}">
                <a16:creationId xmlns:a16="http://schemas.microsoft.com/office/drawing/2014/main" id="{8A180C66-88DA-4F62-9D0F-36D9272B9C06}"/>
              </a:ext>
            </a:extLst>
          </p:cNvPr>
          <p:cNvSpPr txBox="1">
            <a:spLocks/>
          </p:cNvSpPr>
          <p:nvPr/>
        </p:nvSpPr>
        <p:spPr bwMode="auto">
          <a:xfrm>
            <a:off x="4648200" y="3675676"/>
            <a:ext cx="4495800" cy="2709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a:lstStyle>
          <a:p>
            <a:r>
              <a:rPr lang="en-US" b="1" kern="0" dirty="0">
                <a:cs typeface="Verdana"/>
              </a:rPr>
              <a:t>GPU</a:t>
            </a:r>
            <a:r>
              <a:rPr lang="en-US" kern="0" dirty="0">
                <a:cs typeface="Verdana"/>
              </a:rPr>
              <a:t>: </a:t>
            </a:r>
          </a:p>
          <a:p>
            <a:pPr lvl="1"/>
            <a:r>
              <a:rPr lang="en-US" altLang="zh-CN" kern="0" dirty="0">
                <a:solidFill>
                  <a:srgbClr val="0432FF"/>
                </a:solidFill>
                <a:cs typeface="Verdana"/>
              </a:rPr>
              <a:t>Lots of simple cores</a:t>
            </a:r>
          </a:p>
          <a:p>
            <a:pPr lvl="1"/>
            <a:r>
              <a:rPr lang="en-US" altLang="zh-CN" kern="0" dirty="0">
                <a:solidFill>
                  <a:srgbClr val="FF0000"/>
                </a:solidFill>
                <a:cs typeface="Verdana"/>
              </a:rPr>
              <a:t>Small cache </a:t>
            </a:r>
            <a:r>
              <a:rPr lang="en-US" altLang="zh-CN" kern="0" dirty="0">
                <a:cs typeface="Verdana"/>
              </a:rPr>
              <a:t>for low memory latency</a:t>
            </a:r>
          </a:p>
          <a:p>
            <a:pPr lvl="1"/>
            <a:r>
              <a:rPr lang="en-US" kern="0" dirty="0">
                <a:solidFill>
                  <a:srgbClr val="FF0000"/>
                </a:solidFill>
                <a:cs typeface="Verdana"/>
              </a:rPr>
              <a:t>Small</a:t>
            </a:r>
            <a:r>
              <a:rPr lang="en-US" kern="0" dirty="0">
                <a:cs typeface="Verdana"/>
              </a:rPr>
              <a:t> and </a:t>
            </a:r>
            <a:r>
              <a:rPr lang="en-US" kern="0" dirty="0">
                <a:solidFill>
                  <a:srgbClr val="0432FF"/>
                </a:solidFill>
                <a:cs typeface="Verdana"/>
              </a:rPr>
              <a:t>fast</a:t>
            </a:r>
            <a:r>
              <a:rPr lang="en-US" kern="0" dirty="0">
                <a:cs typeface="Verdana"/>
              </a:rPr>
              <a:t> memory</a:t>
            </a:r>
          </a:p>
        </p:txBody>
      </p:sp>
    </p:spTree>
    <p:extLst>
      <p:ext uri="{BB962C8B-B14F-4D97-AF65-F5344CB8AC3E}">
        <p14:creationId xmlns:p14="http://schemas.microsoft.com/office/powerpoint/2010/main" val="368714035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9">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9">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9">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 grpId="0" animBg="1"/>
      <p:bldP spid="13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ítulo 134"/>
          <p:cNvSpPr>
            <a:spLocks noGrp="1"/>
          </p:cNvSpPr>
          <p:nvPr>
            <p:ph type="title"/>
          </p:nvPr>
        </p:nvSpPr>
        <p:spPr>
          <a:xfrm>
            <a:off x="228600" y="152400"/>
            <a:ext cx="9144000" cy="1066800"/>
          </a:xfrm>
        </p:spPr>
        <p:txBody>
          <a:bodyPr/>
          <a:lstStyle/>
          <a:p>
            <a:r>
              <a:rPr lang="en-US" dirty="0"/>
              <a:t>Recall: Relationship between CPU and GPU </a:t>
            </a:r>
          </a:p>
        </p:txBody>
      </p:sp>
      <p:sp>
        <p:nvSpPr>
          <p:cNvPr id="2" name="Marcador de número de diapositiva 1"/>
          <p:cNvSpPr>
            <a:spLocks noGrp="1"/>
          </p:cNvSpPr>
          <p:nvPr>
            <p:ph type="sldNum" sz="quarter" idx="11"/>
          </p:nvPr>
        </p:nvSpPr>
        <p:spPr/>
        <p:txBody>
          <a:bodyPr/>
          <a:lstStyle/>
          <a:p>
            <a:fld id="{323594FA-E141-4234-AE05-360401972BE7}" type="slidenum">
              <a:rPr lang="en-US" altLang="en-US" smtClean="0"/>
              <a:pPr/>
              <a:t>3</a:t>
            </a:fld>
            <a:endParaRPr lang="en-US" altLang="en-US"/>
          </a:p>
        </p:txBody>
      </p:sp>
      <p:sp>
        <p:nvSpPr>
          <p:cNvPr id="138" name="object 5">
            <a:extLst>
              <a:ext uri="{FF2B5EF4-FFF2-40B4-BE49-F238E27FC236}">
                <a16:creationId xmlns:a16="http://schemas.microsoft.com/office/drawing/2014/main" id="{3B3141E0-6402-4992-AAA7-9A4BE1FCFD7E}"/>
              </a:ext>
            </a:extLst>
          </p:cNvPr>
          <p:cNvSpPr/>
          <p:nvPr/>
        </p:nvSpPr>
        <p:spPr>
          <a:xfrm>
            <a:off x="250581" y="1763269"/>
            <a:ext cx="2642616" cy="2037587"/>
          </a:xfrm>
          <a:prstGeom prst="rect">
            <a:avLst/>
          </a:prstGeom>
          <a:blipFill>
            <a:blip r:embed="rId2" cstate="print"/>
            <a:stretch>
              <a:fillRect/>
            </a:stretch>
          </a:blipFill>
        </p:spPr>
        <p:txBody>
          <a:bodyPr wrap="square" lIns="0" tIns="0" rIns="0" bIns="0" rtlCol="0"/>
          <a:lstStyle/>
          <a:p>
            <a:endParaRPr dirty="0"/>
          </a:p>
        </p:txBody>
      </p:sp>
      <p:sp>
        <p:nvSpPr>
          <p:cNvPr id="139" name="object 6">
            <a:extLst>
              <a:ext uri="{FF2B5EF4-FFF2-40B4-BE49-F238E27FC236}">
                <a16:creationId xmlns:a16="http://schemas.microsoft.com/office/drawing/2014/main" id="{479372BE-632D-425E-B1C0-0B90112C05B2}"/>
              </a:ext>
            </a:extLst>
          </p:cNvPr>
          <p:cNvSpPr/>
          <p:nvPr/>
        </p:nvSpPr>
        <p:spPr>
          <a:xfrm>
            <a:off x="2927438" y="2362200"/>
            <a:ext cx="1999614" cy="571500"/>
          </a:xfrm>
          <a:custGeom>
            <a:avLst/>
            <a:gdLst/>
            <a:ahLst/>
            <a:cxnLst/>
            <a:rect l="l" t="t" r="r" b="b"/>
            <a:pathLst>
              <a:path w="1999614" h="571500">
                <a:moveTo>
                  <a:pt x="0" y="285750"/>
                </a:moveTo>
                <a:lnTo>
                  <a:pt x="285750" y="0"/>
                </a:lnTo>
                <a:lnTo>
                  <a:pt x="285750" y="142875"/>
                </a:lnTo>
                <a:lnTo>
                  <a:pt x="1713738" y="142875"/>
                </a:lnTo>
                <a:lnTo>
                  <a:pt x="1713738" y="0"/>
                </a:lnTo>
                <a:lnTo>
                  <a:pt x="1999488" y="285750"/>
                </a:lnTo>
                <a:lnTo>
                  <a:pt x="1713738" y="571500"/>
                </a:lnTo>
                <a:lnTo>
                  <a:pt x="1713738" y="428625"/>
                </a:lnTo>
                <a:lnTo>
                  <a:pt x="285750" y="428625"/>
                </a:lnTo>
                <a:lnTo>
                  <a:pt x="285750" y="571500"/>
                </a:lnTo>
                <a:lnTo>
                  <a:pt x="0" y="285750"/>
                </a:lnTo>
                <a:close/>
              </a:path>
            </a:pathLst>
          </a:custGeom>
          <a:ln w="25400">
            <a:solidFill>
              <a:schemeClr val="tx1"/>
            </a:solidFill>
          </a:ln>
        </p:spPr>
        <p:txBody>
          <a:bodyPr wrap="square" lIns="0" tIns="0" rIns="0" bIns="0" rtlCol="0"/>
          <a:lstStyle/>
          <a:p>
            <a:endParaRPr dirty="0"/>
          </a:p>
        </p:txBody>
      </p:sp>
      <p:sp>
        <p:nvSpPr>
          <p:cNvPr id="140" name="object 7">
            <a:extLst>
              <a:ext uri="{FF2B5EF4-FFF2-40B4-BE49-F238E27FC236}">
                <a16:creationId xmlns:a16="http://schemas.microsoft.com/office/drawing/2014/main" id="{30ED8499-948E-4B8C-8C72-3538C93ADD1A}"/>
              </a:ext>
            </a:extLst>
          </p:cNvPr>
          <p:cNvSpPr txBox="1"/>
          <p:nvPr/>
        </p:nvSpPr>
        <p:spPr>
          <a:xfrm>
            <a:off x="3552924" y="2533495"/>
            <a:ext cx="678815" cy="228909"/>
          </a:xfrm>
          <a:prstGeom prst="rect">
            <a:avLst/>
          </a:prstGeom>
        </p:spPr>
        <p:txBody>
          <a:bodyPr vert="horz" wrap="square" lIns="0" tIns="13335" rIns="0" bIns="0" rtlCol="0">
            <a:spAutoFit/>
          </a:bodyPr>
          <a:lstStyle/>
          <a:p>
            <a:pPr marL="12700">
              <a:lnSpc>
                <a:spcPct val="100000"/>
              </a:lnSpc>
              <a:spcBef>
                <a:spcPts val="105"/>
              </a:spcBef>
            </a:pPr>
            <a:r>
              <a:rPr sz="1400" spc="-5" dirty="0">
                <a:latin typeface="Arial" panose="020B0604020202020204"/>
                <a:cs typeface="Arial" panose="020B0604020202020204"/>
              </a:rPr>
              <a:t>PCI</a:t>
            </a:r>
            <a:r>
              <a:rPr sz="1400" spc="-70" dirty="0">
                <a:latin typeface="Arial" panose="020B0604020202020204"/>
                <a:cs typeface="Arial" panose="020B0604020202020204"/>
              </a:rPr>
              <a:t> </a:t>
            </a:r>
            <a:r>
              <a:rPr sz="1400" dirty="0">
                <a:latin typeface="Arial" panose="020B0604020202020204"/>
                <a:cs typeface="Arial" panose="020B0604020202020204"/>
              </a:rPr>
              <a:t>Bus</a:t>
            </a:r>
          </a:p>
        </p:txBody>
      </p:sp>
      <p:sp>
        <p:nvSpPr>
          <p:cNvPr id="5" name="文本框 4">
            <a:extLst>
              <a:ext uri="{FF2B5EF4-FFF2-40B4-BE49-F238E27FC236}">
                <a16:creationId xmlns:a16="http://schemas.microsoft.com/office/drawing/2014/main" id="{11290CDA-AE6C-431B-98C8-1E45837F038E}"/>
              </a:ext>
            </a:extLst>
          </p:cNvPr>
          <p:cNvSpPr txBox="1"/>
          <p:nvPr/>
        </p:nvSpPr>
        <p:spPr>
          <a:xfrm>
            <a:off x="1207847" y="1095345"/>
            <a:ext cx="728084" cy="400110"/>
          </a:xfrm>
          <a:prstGeom prst="rect">
            <a:avLst/>
          </a:prstGeom>
          <a:noFill/>
        </p:spPr>
        <p:txBody>
          <a:bodyPr wrap="none" rtlCol="0">
            <a:spAutoFit/>
          </a:bodyPr>
          <a:lstStyle/>
          <a:p>
            <a:r>
              <a:rPr lang="en-US" altLang="zh-CN" sz="2000" b="1" dirty="0"/>
              <a:t>CPU</a:t>
            </a:r>
            <a:endParaRPr lang="zh-CN" altLang="en-US" sz="2000" b="1" dirty="0"/>
          </a:p>
        </p:txBody>
      </p:sp>
      <p:sp>
        <p:nvSpPr>
          <p:cNvPr id="141" name="文本框 140">
            <a:extLst>
              <a:ext uri="{FF2B5EF4-FFF2-40B4-BE49-F238E27FC236}">
                <a16:creationId xmlns:a16="http://schemas.microsoft.com/office/drawing/2014/main" id="{B46BACA1-69C4-411F-ACE3-59A0B1D4F71F}"/>
              </a:ext>
            </a:extLst>
          </p:cNvPr>
          <p:cNvSpPr txBox="1"/>
          <p:nvPr/>
        </p:nvSpPr>
        <p:spPr>
          <a:xfrm>
            <a:off x="6324600" y="1091124"/>
            <a:ext cx="740908" cy="400110"/>
          </a:xfrm>
          <a:prstGeom prst="rect">
            <a:avLst/>
          </a:prstGeom>
          <a:noFill/>
        </p:spPr>
        <p:txBody>
          <a:bodyPr wrap="none" rtlCol="0">
            <a:spAutoFit/>
          </a:bodyPr>
          <a:lstStyle/>
          <a:p>
            <a:r>
              <a:rPr lang="en-US" altLang="zh-CN" sz="2000" b="1" dirty="0"/>
              <a:t>GPU</a:t>
            </a:r>
            <a:endParaRPr lang="zh-CN" altLang="en-US" sz="2000" b="1" dirty="0"/>
          </a:p>
        </p:txBody>
      </p:sp>
      <p:pic>
        <p:nvPicPr>
          <p:cNvPr id="6" name="图片 5">
            <a:extLst>
              <a:ext uri="{FF2B5EF4-FFF2-40B4-BE49-F238E27FC236}">
                <a16:creationId xmlns:a16="http://schemas.microsoft.com/office/drawing/2014/main" id="{7E27D6AF-CD31-4797-BA9A-67EBD49CCE45}"/>
              </a:ext>
            </a:extLst>
          </p:cNvPr>
          <p:cNvPicPr>
            <a:picLocks noChangeAspect="1"/>
          </p:cNvPicPr>
          <p:nvPr/>
        </p:nvPicPr>
        <p:blipFill>
          <a:blip r:embed="rId3"/>
          <a:stretch>
            <a:fillRect/>
          </a:stretch>
        </p:blipFill>
        <p:spPr>
          <a:xfrm>
            <a:off x="685800" y="3713138"/>
            <a:ext cx="3200400" cy="2569552"/>
          </a:xfrm>
          <a:prstGeom prst="rect">
            <a:avLst/>
          </a:prstGeom>
        </p:spPr>
      </p:pic>
      <p:pic>
        <p:nvPicPr>
          <p:cNvPr id="143" name="Picture 1">
            <a:extLst>
              <a:ext uri="{FF2B5EF4-FFF2-40B4-BE49-F238E27FC236}">
                <a16:creationId xmlns:a16="http://schemas.microsoft.com/office/drawing/2014/main" id="{B68094AB-1E9D-4E3B-B1BC-2EDE6C2A38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4128930" y="2557880"/>
            <a:ext cx="5036094" cy="2860444"/>
          </a:xfrm>
          <a:prstGeom prst="rect">
            <a:avLst/>
          </a:prstGeom>
        </p:spPr>
      </p:pic>
    </p:spTree>
    <p:extLst>
      <p:ext uri="{BB962C8B-B14F-4D97-AF65-F5344CB8AC3E}">
        <p14:creationId xmlns:p14="http://schemas.microsoft.com/office/powerpoint/2010/main" val="180864017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a:extLst>
              <a:ext uri="{FF2B5EF4-FFF2-40B4-BE49-F238E27FC236}">
                <a16:creationId xmlns:a16="http://schemas.microsoft.com/office/drawing/2014/main" id="{496F139F-4B1F-7440-BF44-9F5527C583B9}"/>
              </a:ext>
            </a:extLst>
          </p:cNvPr>
          <p:cNvSpPr>
            <a:spLocks noGrp="1"/>
          </p:cNvSpPr>
          <p:nvPr>
            <p:ph type="title"/>
          </p:nvPr>
        </p:nvSpPr>
        <p:spPr/>
        <p:txBody>
          <a:bodyPr/>
          <a:lstStyle/>
          <a:p>
            <a:r>
              <a:rPr lang="en-US" altLang="zh-CN" dirty="0">
                <a:ea typeface="ＭＳ Ｐゴシック" panose="020B0600070205080204" pitchFamily="34" charset="-128"/>
              </a:rPr>
              <a:t>Recall: </a:t>
            </a:r>
            <a:r>
              <a:rPr lang="en-US" altLang="en-US" dirty="0">
                <a:ea typeface="ＭＳ Ｐゴシック" panose="020B0600070205080204" pitchFamily="34" charset="-128"/>
              </a:rPr>
              <a:t>SPMD</a:t>
            </a:r>
          </a:p>
        </p:txBody>
      </p:sp>
      <p:sp>
        <p:nvSpPr>
          <p:cNvPr id="3" name="Content Placeholder 2">
            <a:extLst>
              <a:ext uri="{FF2B5EF4-FFF2-40B4-BE49-F238E27FC236}">
                <a16:creationId xmlns:a16="http://schemas.microsoft.com/office/drawing/2014/main" id="{B49E60D0-4593-E84E-9150-58D7388CB143}"/>
              </a:ext>
            </a:extLst>
          </p:cNvPr>
          <p:cNvSpPr>
            <a:spLocks noGrp="1"/>
          </p:cNvSpPr>
          <p:nvPr>
            <p:ph idx="1"/>
          </p:nvPr>
        </p:nvSpPr>
        <p:spPr>
          <a:xfrm>
            <a:off x="216568" y="831850"/>
            <a:ext cx="8915400" cy="5873750"/>
          </a:xfrm>
        </p:spPr>
        <p:txBody>
          <a:bodyPr/>
          <a:lstStyle/>
          <a:p>
            <a:r>
              <a:rPr lang="en-US" altLang="en-US" b="1" dirty="0">
                <a:ea typeface="ＭＳ Ｐゴシック" panose="020B0600070205080204" pitchFamily="34" charset="-128"/>
              </a:rPr>
              <a:t>SPMD</a:t>
            </a:r>
            <a:r>
              <a:rPr lang="en-US" altLang="en-US" dirty="0">
                <a:ea typeface="ＭＳ Ｐゴシック" panose="020B0600070205080204" pitchFamily="34" charset="-128"/>
              </a:rPr>
              <a:t>: Single procedure/program, multiple data </a:t>
            </a:r>
          </a:p>
          <a:p>
            <a:pPr lvl="1"/>
            <a:r>
              <a:rPr lang="en-US" altLang="en-US" dirty="0">
                <a:ea typeface="ＭＳ Ｐゴシック" panose="020B0600070205080204" pitchFamily="34" charset="-128"/>
              </a:rPr>
              <a:t>This is a </a:t>
            </a:r>
            <a:r>
              <a:rPr lang="en-US" altLang="en-US" b="1" dirty="0">
                <a:ea typeface="ＭＳ Ｐゴシック" panose="020B0600070205080204" pitchFamily="34" charset="-128"/>
              </a:rPr>
              <a:t>programming model </a:t>
            </a:r>
            <a:r>
              <a:rPr lang="en-US" altLang="en-US" dirty="0">
                <a:ea typeface="ＭＳ Ｐゴシック" panose="020B0600070205080204" pitchFamily="34" charset="-128"/>
              </a:rPr>
              <a:t>rather than computer organization</a:t>
            </a:r>
          </a:p>
          <a:p>
            <a:endParaRPr lang="en-US" altLang="en-US" dirty="0">
              <a:ea typeface="ＭＳ Ｐゴシック" panose="020B0600070205080204" pitchFamily="34" charset="-128"/>
            </a:endParaRPr>
          </a:p>
          <a:p>
            <a:r>
              <a:rPr lang="en-US" altLang="en-US" sz="2200" dirty="0">
                <a:ea typeface="ＭＳ Ｐゴシック" panose="020B0600070205080204" pitchFamily="34" charset="-128"/>
              </a:rPr>
              <a:t>Each processing element executes the same procedure, except on different data elements</a:t>
            </a:r>
          </a:p>
          <a:p>
            <a:pPr lvl="1"/>
            <a:r>
              <a:rPr lang="en-US" altLang="en-US" sz="2000" dirty="0">
                <a:ea typeface="ＭＳ Ｐゴシック" panose="020B0600070205080204" pitchFamily="34" charset="-128"/>
              </a:rPr>
              <a:t>Procedures </a:t>
            </a:r>
            <a:r>
              <a:rPr lang="en-US" altLang="en-US" sz="2000" dirty="0">
                <a:solidFill>
                  <a:srgbClr val="00B050"/>
                </a:solidFill>
                <a:ea typeface="ＭＳ Ｐゴシック" panose="020B0600070205080204" pitchFamily="34" charset="-128"/>
              </a:rPr>
              <a:t>can synchronize at certain points in program</a:t>
            </a:r>
            <a:r>
              <a:rPr lang="en-US" altLang="en-US" sz="2000" dirty="0">
                <a:ea typeface="ＭＳ Ｐゴシック" panose="020B0600070205080204" pitchFamily="34" charset="-128"/>
              </a:rPr>
              <a:t>, e.g. barriers</a:t>
            </a:r>
          </a:p>
          <a:p>
            <a:endParaRPr lang="en-US" altLang="en-US" dirty="0">
              <a:ea typeface="ＭＳ Ｐゴシック" panose="020B0600070205080204" pitchFamily="34" charset="-128"/>
            </a:endParaRPr>
          </a:p>
          <a:p>
            <a:r>
              <a:rPr lang="en-US" altLang="en-US" b="1" dirty="0">
                <a:ea typeface="ＭＳ Ｐゴシック" panose="020B0600070205080204" pitchFamily="34" charset="-128"/>
              </a:rPr>
              <a:t>Key Idea of SPMD</a:t>
            </a:r>
            <a:r>
              <a:rPr lang="en-US" altLang="en-US" dirty="0">
                <a:ea typeface="ＭＳ Ｐゴシック" panose="020B0600070205080204" pitchFamily="34" charset="-128"/>
              </a:rPr>
              <a:t>: </a:t>
            </a:r>
            <a:r>
              <a:rPr lang="en-US" altLang="en-US" dirty="0">
                <a:solidFill>
                  <a:srgbClr val="0000FF"/>
                </a:solidFill>
                <a:ea typeface="ＭＳ Ｐゴシック" panose="020B0600070205080204" pitchFamily="34" charset="-128"/>
              </a:rPr>
              <a:t>multiple instruction streams execute the same program</a:t>
            </a:r>
          </a:p>
          <a:p>
            <a:pPr lvl="1"/>
            <a:r>
              <a:rPr lang="en-US" altLang="en-US" sz="2000" dirty="0">
                <a:ea typeface="ＭＳ Ｐゴシック" panose="020B0600070205080204" pitchFamily="34" charset="-128"/>
              </a:rPr>
              <a:t>Each program/procedure 1) </a:t>
            </a:r>
            <a:r>
              <a:rPr lang="en-US" altLang="en-US" sz="2000" dirty="0">
                <a:solidFill>
                  <a:srgbClr val="00B050"/>
                </a:solidFill>
                <a:ea typeface="ＭＳ Ｐゴシック" panose="020B0600070205080204" pitchFamily="34" charset="-128"/>
              </a:rPr>
              <a:t>works on different data</a:t>
            </a:r>
            <a:r>
              <a:rPr lang="en-US" altLang="en-US" sz="2000" dirty="0">
                <a:ea typeface="ＭＳ Ｐゴシック" panose="020B0600070205080204" pitchFamily="34" charset="-128"/>
              </a:rPr>
              <a:t>, 2) </a:t>
            </a:r>
            <a:r>
              <a:rPr lang="en-US" altLang="en-US" sz="2000" dirty="0">
                <a:solidFill>
                  <a:srgbClr val="00B050"/>
                </a:solidFill>
                <a:ea typeface="ＭＳ Ｐゴシック" panose="020B0600070205080204" pitchFamily="34" charset="-128"/>
              </a:rPr>
              <a:t>can execute a different control-flow path</a:t>
            </a:r>
            <a:r>
              <a:rPr lang="en-US" altLang="en-US" sz="2000" dirty="0">
                <a:ea typeface="ＭＳ Ｐゴシック" panose="020B0600070205080204" pitchFamily="34" charset="-128"/>
              </a:rPr>
              <a:t>, at run-time</a:t>
            </a:r>
          </a:p>
          <a:p>
            <a:pPr lvl="1"/>
            <a:r>
              <a:rPr lang="en-US" altLang="en-US" sz="2000" dirty="0">
                <a:ea typeface="ＭＳ Ｐゴシック" panose="020B0600070205080204" pitchFamily="34" charset="-128"/>
              </a:rPr>
              <a:t>Many scientific applications are programmed this way and run on MIMD hardware (multiprocessors)</a:t>
            </a:r>
          </a:p>
          <a:p>
            <a:pPr lvl="1"/>
            <a:r>
              <a:rPr lang="en-US" altLang="en-US" sz="2000" dirty="0">
                <a:ea typeface="ＭＳ Ｐゴシック" panose="020B0600070205080204" pitchFamily="34" charset="-128"/>
              </a:rPr>
              <a:t>Modern GPUs programmed in a similar way on a SIMD hardware</a:t>
            </a:r>
          </a:p>
          <a:p>
            <a:pPr lvl="1"/>
            <a:endParaRPr lang="en-US" altLang="en-US" sz="2000" dirty="0">
              <a:ea typeface="ＭＳ Ｐゴシック" panose="020B0600070205080204" pitchFamily="34" charset="-128"/>
            </a:endParaRPr>
          </a:p>
        </p:txBody>
      </p:sp>
      <p:sp>
        <p:nvSpPr>
          <p:cNvPr id="72707" name="Slide Number Placeholder 3">
            <a:extLst>
              <a:ext uri="{FF2B5EF4-FFF2-40B4-BE49-F238E27FC236}">
                <a16:creationId xmlns:a16="http://schemas.microsoft.com/office/drawing/2014/main" id="{0E7497B5-BA99-404C-881D-DB93748FEDD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4D78FAF-7832-A14D-AAFE-1F85877C7D6D}"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51921642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a:extLst>
              <a:ext uri="{FF2B5EF4-FFF2-40B4-BE49-F238E27FC236}">
                <a16:creationId xmlns:a16="http://schemas.microsoft.com/office/drawing/2014/main" id="{BBD9C82C-F0B5-4A4B-BCA7-11F88EDA05B4}"/>
              </a:ext>
            </a:extLst>
          </p:cNvPr>
          <p:cNvSpPr>
            <a:spLocks noGrp="1"/>
          </p:cNvSpPr>
          <p:nvPr>
            <p:ph type="title"/>
          </p:nvPr>
        </p:nvSpPr>
        <p:spPr>
          <a:xfrm>
            <a:off x="432615" y="271408"/>
            <a:ext cx="9016467" cy="1066800"/>
          </a:xfrm>
        </p:spPr>
        <p:txBody>
          <a:bodyPr/>
          <a:lstStyle/>
          <a:p>
            <a:r>
              <a:rPr lang="en-US" altLang="en-US" sz="2800" dirty="0">
                <a:ea typeface="ＭＳ Ｐゴシック" panose="020B0600070205080204" pitchFamily="34" charset="-128"/>
              </a:rPr>
              <a:t>Recall Programming Model vs. Hardware Execution Model</a:t>
            </a:r>
          </a:p>
        </p:txBody>
      </p:sp>
      <p:sp>
        <p:nvSpPr>
          <p:cNvPr id="48131" name="Slide Number Placeholder 3">
            <a:extLst>
              <a:ext uri="{FF2B5EF4-FFF2-40B4-BE49-F238E27FC236}">
                <a16:creationId xmlns:a16="http://schemas.microsoft.com/office/drawing/2014/main" id="{87C60E1E-8D42-434B-A93F-E05A2BC4EDF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CC74429-DF7E-2044-ADB1-24FE678BCABB}"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2" name="矩形 1">
            <a:extLst>
              <a:ext uri="{FF2B5EF4-FFF2-40B4-BE49-F238E27FC236}">
                <a16:creationId xmlns:a16="http://schemas.microsoft.com/office/drawing/2014/main" id="{8CEEACD0-A3BD-4B0B-A7F0-EB2BA96BA811}"/>
              </a:ext>
            </a:extLst>
          </p:cNvPr>
          <p:cNvSpPr/>
          <p:nvPr/>
        </p:nvSpPr>
        <p:spPr>
          <a:xfrm>
            <a:off x="533400" y="1252904"/>
            <a:ext cx="3461204" cy="400110"/>
          </a:xfrm>
          <a:prstGeom prst="rect">
            <a:avLst/>
          </a:prstGeom>
        </p:spPr>
        <p:txBody>
          <a:bodyPr wrap="none">
            <a:spAutoFit/>
          </a:bodyPr>
          <a:lstStyle/>
          <a:p>
            <a:r>
              <a:rPr lang="en-US" altLang="en-US" sz="2000" b="1" dirty="0">
                <a:solidFill>
                  <a:srgbClr val="0432FF"/>
                </a:solidFill>
              </a:rPr>
              <a:t>Hardware Execution Model</a:t>
            </a:r>
            <a:endParaRPr lang="zh-CN" altLang="en-US" sz="2000" b="1" dirty="0"/>
          </a:p>
        </p:txBody>
      </p:sp>
      <p:sp>
        <p:nvSpPr>
          <p:cNvPr id="4" name="矩形 3">
            <a:extLst>
              <a:ext uri="{FF2B5EF4-FFF2-40B4-BE49-F238E27FC236}">
                <a16:creationId xmlns:a16="http://schemas.microsoft.com/office/drawing/2014/main" id="{CFD28EF4-7A89-41B6-B14B-E7A6958D19AB}"/>
              </a:ext>
            </a:extLst>
          </p:cNvPr>
          <p:cNvSpPr/>
          <p:nvPr/>
        </p:nvSpPr>
        <p:spPr>
          <a:xfrm>
            <a:off x="5231131" y="1247350"/>
            <a:ext cx="3467744" cy="400110"/>
          </a:xfrm>
          <a:prstGeom prst="rect">
            <a:avLst/>
          </a:prstGeom>
        </p:spPr>
        <p:txBody>
          <a:bodyPr wrap="none">
            <a:spAutoFit/>
          </a:bodyPr>
          <a:lstStyle/>
          <a:p>
            <a:r>
              <a:rPr lang="en-US" altLang="en-US" sz="2000" b="1" dirty="0">
                <a:solidFill>
                  <a:srgbClr val="DA9100"/>
                </a:solidFill>
              </a:rPr>
              <a:t>CUDA Programming Model</a:t>
            </a:r>
            <a:endParaRPr lang="zh-CN" altLang="en-US" sz="2000" b="1" dirty="0">
              <a:solidFill>
                <a:srgbClr val="DA9100"/>
              </a:solidFill>
            </a:endParaRPr>
          </a:p>
        </p:txBody>
      </p:sp>
      <p:sp>
        <p:nvSpPr>
          <p:cNvPr id="6" name="矩形 5">
            <a:extLst>
              <a:ext uri="{FF2B5EF4-FFF2-40B4-BE49-F238E27FC236}">
                <a16:creationId xmlns:a16="http://schemas.microsoft.com/office/drawing/2014/main" id="{3B5FEB58-1294-4986-8FF5-01E6545A2605}"/>
              </a:ext>
            </a:extLst>
          </p:cNvPr>
          <p:cNvSpPr/>
          <p:nvPr/>
        </p:nvSpPr>
        <p:spPr>
          <a:xfrm>
            <a:off x="-76200" y="3715403"/>
            <a:ext cx="1676400" cy="646331"/>
          </a:xfrm>
          <a:prstGeom prst="rect">
            <a:avLst/>
          </a:prstGeom>
        </p:spPr>
        <p:txBody>
          <a:bodyPr wrap="square">
            <a:spAutoFit/>
          </a:bodyPr>
          <a:lstStyle/>
          <a:p>
            <a:pPr algn="ctr"/>
            <a:r>
              <a:rPr lang="en-US" altLang="zh-CN" b="1" dirty="0">
                <a:solidFill>
                  <a:srgbClr val="0432FF"/>
                </a:solidFill>
                <a:latin typeface="Arial Narrow" panose="020B0606020202030204" pitchFamily="34" charset="0"/>
              </a:rPr>
              <a:t>Streaming</a:t>
            </a:r>
          </a:p>
          <a:p>
            <a:pPr algn="ctr"/>
            <a:r>
              <a:rPr lang="en-US" altLang="zh-CN" b="1" dirty="0">
                <a:solidFill>
                  <a:srgbClr val="0432FF"/>
                </a:solidFill>
                <a:latin typeface="Arial Narrow" panose="020B0606020202030204" pitchFamily="34" charset="0"/>
              </a:rPr>
              <a:t> Multi-processor</a:t>
            </a:r>
            <a:endParaRPr lang="zh-CN" altLang="en-US" b="1" dirty="0">
              <a:solidFill>
                <a:srgbClr val="0432FF"/>
              </a:solidFill>
              <a:latin typeface="Arial Narrow" panose="020B0606020202030204" pitchFamily="34" charset="0"/>
            </a:endParaRPr>
          </a:p>
        </p:txBody>
      </p:sp>
      <p:sp>
        <p:nvSpPr>
          <p:cNvPr id="7" name="矩形 6">
            <a:extLst>
              <a:ext uri="{FF2B5EF4-FFF2-40B4-BE49-F238E27FC236}">
                <a16:creationId xmlns:a16="http://schemas.microsoft.com/office/drawing/2014/main" id="{2F3F56EF-2141-4640-BCA7-87075AB4EDE8}"/>
              </a:ext>
            </a:extLst>
          </p:cNvPr>
          <p:cNvSpPr/>
          <p:nvPr/>
        </p:nvSpPr>
        <p:spPr>
          <a:xfrm>
            <a:off x="235882" y="2356341"/>
            <a:ext cx="595035" cy="369332"/>
          </a:xfrm>
          <a:prstGeom prst="rect">
            <a:avLst/>
          </a:prstGeom>
        </p:spPr>
        <p:txBody>
          <a:bodyPr wrap="none">
            <a:spAutoFit/>
          </a:bodyPr>
          <a:lstStyle/>
          <a:p>
            <a:r>
              <a:rPr lang="en-US" altLang="zh-CN" b="1" dirty="0">
                <a:solidFill>
                  <a:srgbClr val="0432FF"/>
                </a:solidFill>
                <a:latin typeface="Arial Narrow" panose="020B0606020202030204" pitchFamily="34" charset="0"/>
              </a:rPr>
              <a:t>GPU</a:t>
            </a:r>
            <a:endParaRPr lang="zh-CN" altLang="en-US" b="1" dirty="0"/>
          </a:p>
        </p:txBody>
      </p:sp>
      <p:sp>
        <p:nvSpPr>
          <p:cNvPr id="26" name="矩形 25">
            <a:extLst>
              <a:ext uri="{FF2B5EF4-FFF2-40B4-BE49-F238E27FC236}">
                <a16:creationId xmlns:a16="http://schemas.microsoft.com/office/drawing/2014/main" id="{6B7B3CA0-4903-4E20-B2D6-DB01A9A3B095}"/>
              </a:ext>
            </a:extLst>
          </p:cNvPr>
          <p:cNvSpPr/>
          <p:nvPr/>
        </p:nvSpPr>
        <p:spPr>
          <a:xfrm>
            <a:off x="-84680" y="5355014"/>
            <a:ext cx="1676400" cy="369332"/>
          </a:xfrm>
          <a:prstGeom prst="rect">
            <a:avLst/>
          </a:prstGeom>
        </p:spPr>
        <p:txBody>
          <a:bodyPr wrap="square">
            <a:spAutoFit/>
          </a:bodyPr>
          <a:lstStyle/>
          <a:p>
            <a:pPr algn="ctr"/>
            <a:r>
              <a:rPr lang="en-US" altLang="zh-CN" b="1" dirty="0">
                <a:solidFill>
                  <a:srgbClr val="0432FF"/>
                </a:solidFill>
                <a:latin typeface="Arial Narrow" panose="020B0606020202030204" pitchFamily="34" charset="0"/>
              </a:rPr>
              <a:t>CUDA core</a:t>
            </a:r>
            <a:endParaRPr lang="zh-CN" altLang="en-US" b="1" dirty="0">
              <a:solidFill>
                <a:srgbClr val="0432FF"/>
              </a:solidFill>
              <a:latin typeface="Arial Narrow" panose="020B0606020202030204" pitchFamily="34" charset="0"/>
            </a:endParaRPr>
          </a:p>
        </p:txBody>
      </p:sp>
      <p:sp>
        <p:nvSpPr>
          <p:cNvPr id="29" name="矩形 28">
            <a:extLst>
              <a:ext uri="{FF2B5EF4-FFF2-40B4-BE49-F238E27FC236}">
                <a16:creationId xmlns:a16="http://schemas.microsoft.com/office/drawing/2014/main" id="{8457C965-2183-4857-BF96-A7811CAC1E02}"/>
              </a:ext>
            </a:extLst>
          </p:cNvPr>
          <p:cNvSpPr/>
          <p:nvPr/>
        </p:nvSpPr>
        <p:spPr>
          <a:xfrm>
            <a:off x="5103095" y="5324236"/>
            <a:ext cx="1040670" cy="400110"/>
          </a:xfrm>
          <a:prstGeom prst="rect">
            <a:avLst/>
          </a:prstGeom>
        </p:spPr>
        <p:txBody>
          <a:bodyPr wrap="none">
            <a:spAutoFit/>
          </a:bodyPr>
          <a:lstStyle/>
          <a:p>
            <a:r>
              <a:rPr lang="en-US" altLang="zh-CN" sz="2000" b="1" dirty="0">
                <a:solidFill>
                  <a:srgbClr val="DA9100"/>
                </a:solidFill>
              </a:rPr>
              <a:t>Thread</a:t>
            </a:r>
            <a:endParaRPr lang="zh-CN" altLang="en-US" sz="2000" b="1" dirty="0">
              <a:solidFill>
                <a:srgbClr val="DA9100"/>
              </a:solidFill>
            </a:endParaRPr>
          </a:p>
        </p:txBody>
      </p:sp>
      <p:sp>
        <p:nvSpPr>
          <p:cNvPr id="30" name="矩形 29">
            <a:extLst>
              <a:ext uri="{FF2B5EF4-FFF2-40B4-BE49-F238E27FC236}">
                <a16:creationId xmlns:a16="http://schemas.microsoft.com/office/drawing/2014/main" id="{4524620D-D2D5-49E6-A374-33D59F769410}"/>
              </a:ext>
            </a:extLst>
          </p:cNvPr>
          <p:cNvSpPr/>
          <p:nvPr/>
        </p:nvSpPr>
        <p:spPr>
          <a:xfrm>
            <a:off x="4541243" y="3874149"/>
            <a:ext cx="1781257" cy="400110"/>
          </a:xfrm>
          <a:prstGeom prst="rect">
            <a:avLst/>
          </a:prstGeom>
        </p:spPr>
        <p:txBody>
          <a:bodyPr wrap="none">
            <a:spAutoFit/>
          </a:bodyPr>
          <a:lstStyle/>
          <a:p>
            <a:r>
              <a:rPr lang="en-US" altLang="zh-CN" sz="2000" b="1" dirty="0">
                <a:solidFill>
                  <a:srgbClr val="DA9100"/>
                </a:solidFill>
              </a:rPr>
              <a:t>Thread block</a:t>
            </a:r>
            <a:endParaRPr lang="zh-CN" altLang="en-US" sz="2000" b="1" dirty="0">
              <a:solidFill>
                <a:srgbClr val="DA9100"/>
              </a:solidFill>
            </a:endParaRPr>
          </a:p>
        </p:txBody>
      </p:sp>
      <p:sp>
        <p:nvSpPr>
          <p:cNvPr id="34" name="矩形 33">
            <a:extLst>
              <a:ext uri="{FF2B5EF4-FFF2-40B4-BE49-F238E27FC236}">
                <a16:creationId xmlns:a16="http://schemas.microsoft.com/office/drawing/2014/main" id="{EF462E8C-B162-4637-87C7-FC355D4627E5}"/>
              </a:ext>
            </a:extLst>
          </p:cNvPr>
          <p:cNvSpPr/>
          <p:nvPr/>
        </p:nvSpPr>
        <p:spPr>
          <a:xfrm>
            <a:off x="5069444" y="2385681"/>
            <a:ext cx="710451" cy="400110"/>
          </a:xfrm>
          <a:prstGeom prst="rect">
            <a:avLst/>
          </a:prstGeom>
        </p:spPr>
        <p:txBody>
          <a:bodyPr wrap="none">
            <a:spAutoFit/>
          </a:bodyPr>
          <a:lstStyle/>
          <a:p>
            <a:r>
              <a:rPr lang="en-US" altLang="zh-CN" sz="2000" b="1" dirty="0">
                <a:solidFill>
                  <a:srgbClr val="DA9100"/>
                </a:solidFill>
              </a:rPr>
              <a:t>Grid</a:t>
            </a:r>
            <a:endParaRPr lang="zh-CN" altLang="en-US" sz="2000" b="1" dirty="0">
              <a:solidFill>
                <a:srgbClr val="DA9100"/>
              </a:solidFill>
            </a:endParaRPr>
          </a:p>
        </p:txBody>
      </p:sp>
      <p:sp>
        <p:nvSpPr>
          <p:cNvPr id="28" name="object 3">
            <a:extLst>
              <a:ext uri="{FF2B5EF4-FFF2-40B4-BE49-F238E27FC236}">
                <a16:creationId xmlns:a16="http://schemas.microsoft.com/office/drawing/2014/main" id="{9DBE948D-F8A9-4325-B41C-0C319648D331}"/>
              </a:ext>
            </a:extLst>
          </p:cNvPr>
          <p:cNvSpPr/>
          <p:nvPr/>
        </p:nvSpPr>
        <p:spPr>
          <a:xfrm>
            <a:off x="2141664" y="5467202"/>
            <a:ext cx="315595" cy="169545"/>
          </a:xfrm>
          <a:custGeom>
            <a:avLst/>
            <a:gdLst/>
            <a:ahLst/>
            <a:cxnLst/>
            <a:rect l="l" t="t" r="r" b="b"/>
            <a:pathLst>
              <a:path w="315595" h="169544">
                <a:moveTo>
                  <a:pt x="0" y="169163"/>
                </a:moveTo>
                <a:lnTo>
                  <a:pt x="315467" y="169163"/>
                </a:lnTo>
                <a:lnTo>
                  <a:pt x="315467" y="0"/>
                </a:lnTo>
                <a:lnTo>
                  <a:pt x="0" y="0"/>
                </a:lnTo>
                <a:lnTo>
                  <a:pt x="0" y="169163"/>
                </a:lnTo>
                <a:close/>
              </a:path>
            </a:pathLst>
          </a:custGeom>
          <a:solidFill>
            <a:srgbClr val="FD7E00"/>
          </a:solidFill>
        </p:spPr>
        <p:txBody>
          <a:bodyPr wrap="square" lIns="0" tIns="0" rIns="0" bIns="0" rtlCol="0"/>
          <a:lstStyle/>
          <a:p>
            <a:endParaRPr/>
          </a:p>
        </p:txBody>
      </p:sp>
      <p:sp>
        <p:nvSpPr>
          <p:cNvPr id="31" name="object 18">
            <a:extLst>
              <a:ext uri="{FF2B5EF4-FFF2-40B4-BE49-F238E27FC236}">
                <a16:creationId xmlns:a16="http://schemas.microsoft.com/office/drawing/2014/main" id="{8661DBCB-485C-429F-B659-BBE27F9AE3B3}"/>
              </a:ext>
            </a:extLst>
          </p:cNvPr>
          <p:cNvSpPr/>
          <p:nvPr/>
        </p:nvSpPr>
        <p:spPr>
          <a:xfrm>
            <a:off x="2023901" y="3562552"/>
            <a:ext cx="609600" cy="1085215"/>
          </a:xfrm>
          <a:custGeom>
            <a:avLst/>
            <a:gdLst/>
            <a:ahLst/>
            <a:cxnLst/>
            <a:rect l="l" t="t" r="r" b="b"/>
            <a:pathLst>
              <a:path w="609600" h="1085214">
                <a:moveTo>
                  <a:pt x="0" y="1085088"/>
                </a:moveTo>
                <a:lnTo>
                  <a:pt x="609600" y="1085088"/>
                </a:lnTo>
                <a:lnTo>
                  <a:pt x="609600" y="0"/>
                </a:lnTo>
                <a:lnTo>
                  <a:pt x="0" y="0"/>
                </a:lnTo>
                <a:lnTo>
                  <a:pt x="0" y="1085088"/>
                </a:lnTo>
                <a:close/>
              </a:path>
            </a:pathLst>
          </a:custGeom>
          <a:solidFill>
            <a:srgbClr val="C0C0C0"/>
          </a:solidFill>
        </p:spPr>
        <p:txBody>
          <a:bodyPr wrap="square" lIns="0" tIns="0" rIns="0" bIns="0" rtlCol="0"/>
          <a:lstStyle/>
          <a:p>
            <a:endParaRPr/>
          </a:p>
        </p:txBody>
      </p:sp>
      <p:sp>
        <p:nvSpPr>
          <p:cNvPr id="32" name="object 19">
            <a:extLst>
              <a:ext uri="{FF2B5EF4-FFF2-40B4-BE49-F238E27FC236}">
                <a16:creationId xmlns:a16="http://schemas.microsoft.com/office/drawing/2014/main" id="{5BB3D1F9-521E-4E46-A355-0A55103D98D8}"/>
              </a:ext>
            </a:extLst>
          </p:cNvPr>
          <p:cNvSpPr/>
          <p:nvPr/>
        </p:nvSpPr>
        <p:spPr>
          <a:xfrm>
            <a:off x="2023901" y="3562552"/>
            <a:ext cx="609600" cy="1085215"/>
          </a:xfrm>
          <a:custGeom>
            <a:avLst/>
            <a:gdLst/>
            <a:ahLst/>
            <a:cxnLst/>
            <a:rect l="l" t="t" r="r" b="b"/>
            <a:pathLst>
              <a:path w="609600" h="1085214">
                <a:moveTo>
                  <a:pt x="0" y="1085088"/>
                </a:moveTo>
                <a:lnTo>
                  <a:pt x="609600" y="1085088"/>
                </a:lnTo>
                <a:lnTo>
                  <a:pt x="609600" y="0"/>
                </a:lnTo>
                <a:lnTo>
                  <a:pt x="0" y="0"/>
                </a:lnTo>
                <a:lnTo>
                  <a:pt x="0" y="1085088"/>
                </a:lnTo>
                <a:close/>
              </a:path>
            </a:pathLst>
          </a:custGeom>
          <a:ln w="12700">
            <a:solidFill>
              <a:srgbClr val="000000"/>
            </a:solidFill>
          </a:ln>
        </p:spPr>
        <p:txBody>
          <a:bodyPr wrap="square" lIns="0" tIns="0" rIns="0" bIns="0" rtlCol="0"/>
          <a:lstStyle/>
          <a:p>
            <a:endParaRPr/>
          </a:p>
        </p:txBody>
      </p:sp>
      <p:sp>
        <p:nvSpPr>
          <p:cNvPr id="35" name="object 20">
            <a:extLst>
              <a:ext uri="{FF2B5EF4-FFF2-40B4-BE49-F238E27FC236}">
                <a16:creationId xmlns:a16="http://schemas.microsoft.com/office/drawing/2014/main" id="{411B5995-D6E8-4A38-AF86-C109A84992EA}"/>
              </a:ext>
            </a:extLst>
          </p:cNvPr>
          <p:cNvSpPr/>
          <p:nvPr/>
        </p:nvSpPr>
        <p:spPr>
          <a:xfrm>
            <a:off x="2093751" y="3598874"/>
            <a:ext cx="206248" cy="498855"/>
          </a:xfrm>
          <a:prstGeom prst="rect">
            <a:avLst/>
          </a:prstGeom>
          <a:blipFill>
            <a:blip r:embed="rId3" cstate="print"/>
            <a:stretch>
              <a:fillRect/>
            </a:stretch>
          </a:blipFill>
        </p:spPr>
        <p:txBody>
          <a:bodyPr wrap="square" lIns="0" tIns="0" rIns="0" bIns="0" rtlCol="0"/>
          <a:lstStyle/>
          <a:p>
            <a:endParaRPr/>
          </a:p>
        </p:txBody>
      </p:sp>
      <p:sp>
        <p:nvSpPr>
          <p:cNvPr id="36" name="object 21">
            <a:extLst>
              <a:ext uri="{FF2B5EF4-FFF2-40B4-BE49-F238E27FC236}">
                <a16:creationId xmlns:a16="http://schemas.microsoft.com/office/drawing/2014/main" id="{6B59889B-9CBA-4DDF-9BBF-1067279A0817}"/>
              </a:ext>
            </a:extLst>
          </p:cNvPr>
          <p:cNvSpPr/>
          <p:nvPr/>
        </p:nvSpPr>
        <p:spPr>
          <a:xfrm>
            <a:off x="2342163" y="3598874"/>
            <a:ext cx="206248" cy="498855"/>
          </a:xfrm>
          <a:prstGeom prst="rect">
            <a:avLst/>
          </a:prstGeom>
          <a:blipFill>
            <a:blip r:embed="rId3" cstate="print"/>
            <a:stretch>
              <a:fillRect/>
            </a:stretch>
          </a:blipFill>
        </p:spPr>
        <p:txBody>
          <a:bodyPr wrap="square" lIns="0" tIns="0" rIns="0" bIns="0" rtlCol="0"/>
          <a:lstStyle/>
          <a:p>
            <a:endParaRPr/>
          </a:p>
        </p:txBody>
      </p:sp>
      <p:sp>
        <p:nvSpPr>
          <p:cNvPr id="37" name="object 22">
            <a:extLst>
              <a:ext uri="{FF2B5EF4-FFF2-40B4-BE49-F238E27FC236}">
                <a16:creationId xmlns:a16="http://schemas.microsoft.com/office/drawing/2014/main" id="{9F7E869E-F569-4273-941E-41E3DD3666A5}"/>
              </a:ext>
            </a:extLst>
          </p:cNvPr>
          <p:cNvSpPr/>
          <p:nvPr/>
        </p:nvSpPr>
        <p:spPr>
          <a:xfrm>
            <a:off x="2100101" y="4147768"/>
            <a:ext cx="441959" cy="100965"/>
          </a:xfrm>
          <a:custGeom>
            <a:avLst/>
            <a:gdLst/>
            <a:ahLst/>
            <a:cxnLst/>
            <a:rect l="l" t="t" r="r" b="b"/>
            <a:pathLst>
              <a:path w="441960" h="100964">
                <a:moveTo>
                  <a:pt x="0" y="100583"/>
                </a:moveTo>
                <a:lnTo>
                  <a:pt x="441960" y="100583"/>
                </a:lnTo>
                <a:lnTo>
                  <a:pt x="441960" y="0"/>
                </a:lnTo>
                <a:lnTo>
                  <a:pt x="0" y="0"/>
                </a:lnTo>
                <a:lnTo>
                  <a:pt x="0" y="100583"/>
                </a:lnTo>
                <a:close/>
              </a:path>
            </a:pathLst>
          </a:custGeom>
          <a:solidFill>
            <a:srgbClr val="008080"/>
          </a:solidFill>
        </p:spPr>
        <p:txBody>
          <a:bodyPr wrap="square" lIns="0" tIns="0" rIns="0" bIns="0" rtlCol="0"/>
          <a:lstStyle/>
          <a:p>
            <a:endParaRPr/>
          </a:p>
        </p:txBody>
      </p:sp>
      <p:sp>
        <p:nvSpPr>
          <p:cNvPr id="38" name="object 23">
            <a:extLst>
              <a:ext uri="{FF2B5EF4-FFF2-40B4-BE49-F238E27FC236}">
                <a16:creationId xmlns:a16="http://schemas.microsoft.com/office/drawing/2014/main" id="{3B6E0AE9-1708-4840-995C-8B7556716EDA}"/>
              </a:ext>
            </a:extLst>
          </p:cNvPr>
          <p:cNvSpPr/>
          <p:nvPr/>
        </p:nvSpPr>
        <p:spPr>
          <a:xfrm>
            <a:off x="2100101" y="4147768"/>
            <a:ext cx="441959" cy="100965"/>
          </a:xfrm>
          <a:custGeom>
            <a:avLst/>
            <a:gdLst/>
            <a:ahLst/>
            <a:cxnLst/>
            <a:rect l="l" t="t" r="r" b="b"/>
            <a:pathLst>
              <a:path w="441960" h="100964">
                <a:moveTo>
                  <a:pt x="0" y="100583"/>
                </a:moveTo>
                <a:lnTo>
                  <a:pt x="441960" y="100583"/>
                </a:lnTo>
                <a:lnTo>
                  <a:pt x="441960" y="0"/>
                </a:lnTo>
                <a:lnTo>
                  <a:pt x="0" y="0"/>
                </a:lnTo>
                <a:lnTo>
                  <a:pt x="0" y="100583"/>
                </a:lnTo>
                <a:close/>
              </a:path>
            </a:pathLst>
          </a:custGeom>
          <a:ln w="12700">
            <a:solidFill>
              <a:srgbClr val="000000"/>
            </a:solidFill>
          </a:ln>
        </p:spPr>
        <p:txBody>
          <a:bodyPr wrap="square" lIns="0" tIns="0" rIns="0" bIns="0" rtlCol="0"/>
          <a:lstStyle/>
          <a:p>
            <a:endParaRPr/>
          </a:p>
        </p:txBody>
      </p:sp>
      <p:sp>
        <p:nvSpPr>
          <p:cNvPr id="39" name="object 24">
            <a:extLst>
              <a:ext uri="{FF2B5EF4-FFF2-40B4-BE49-F238E27FC236}">
                <a16:creationId xmlns:a16="http://schemas.microsoft.com/office/drawing/2014/main" id="{D29EB12E-337C-4528-9335-1BAF82546182}"/>
              </a:ext>
            </a:extLst>
          </p:cNvPr>
          <p:cNvSpPr/>
          <p:nvPr/>
        </p:nvSpPr>
        <p:spPr>
          <a:xfrm>
            <a:off x="2106196" y="4312359"/>
            <a:ext cx="443865" cy="271780"/>
          </a:xfrm>
          <a:custGeom>
            <a:avLst/>
            <a:gdLst/>
            <a:ahLst/>
            <a:cxnLst/>
            <a:rect l="l" t="t" r="r" b="b"/>
            <a:pathLst>
              <a:path w="443864" h="271779">
                <a:moveTo>
                  <a:pt x="0" y="271271"/>
                </a:moveTo>
                <a:lnTo>
                  <a:pt x="443484" y="271271"/>
                </a:lnTo>
                <a:lnTo>
                  <a:pt x="443484" y="0"/>
                </a:lnTo>
                <a:lnTo>
                  <a:pt x="0" y="0"/>
                </a:lnTo>
                <a:lnTo>
                  <a:pt x="0" y="271271"/>
                </a:lnTo>
                <a:close/>
              </a:path>
            </a:pathLst>
          </a:custGeom>
          <a:solidFill>
            <a:srgbClr val="99CC00"/>
          </a:solidFill>
        </p:spPr>
        <p:txBody>
          <a:bodyPr wrap="square" lIns="0" tIns="0" rIns="0" bIns="0" rtlCol="0"/>
          <a:lstStyle/>
          <a:p>
            <a:endParaRPr/>
          </a:p>
        </p:txBody>
      </p:sp>
      <p:sp>
        <p:nvSpPr>
          <p:cNvPr id="40" name="object 25">
            <a:extLst>
              <a:ext uri="{FF2B5EF4-FFF2-40B4-BE49-F238E27FC236}">
                <a16:creationId xmlns:a16="http://schemas.microsoft.com/office/drawing/2014/main" id="{580CA4CD-5D34-4305-8B88-0762803F6184}"/>
              </a:ext>
            </a:extLst>
          </p:cNvPr>
          <p:cNvSpPr/>
          <p:nvPr/>
        </p:nvSpPr>
        <p:spPr>
          <a:xfrm>
            <a:off x="2106196" y="4312359"/>
            <a:ext cx="443865" cy="271780"/>
          </a:xfrm>
          <a:custGeom>
            <a:avLst/>
            <a:gdLst/>
            <a:ahLst/>
            <a:cxnLst/>
            <a:rect l="l" t="t" r="r" b="b"/>
            <a:pathLst>
              <a:path w="443864" h="271779">
                <a:moveTo>
                  <a:pt x="0" y="271271"/>
                </a:moveTo>
                <a:lnTo>
                  <a:pt x="443484" y="271271"/>
                </a:lnTo>
                <a:lnTo>
                  <a:pt x="443484" y="0"/>
                </a:lnTo>
                <a:lnTo>
                  <a:pt x="0" y="0"/>
                </a:lnTo>
                <a:lnTo>
                  <a:pt x="0" y="271271"/>
                </a:lnTo>
                <a:close/>
              </a:path>
            </a:pathLst>
          </a:custGeom>
          <a:ln w="12700">
            <a:solidFill>
              <a:srgbClr val="000000"/>
            </a:solidFill>
          </a:ln>
        </p:spPr>
        <p:txBody>
          <a:bodyPr wrap="square" lIns="0" tIns="0" rIns="0" bIns="0" rtlCol="0"/>
          <a:lstStyle/>
          <a:p>
            <a:endParaRPr/>
          </a:p>
        </p:txBody>
      </p:sp>
      <p:sp>
        <p:nvSpPr>
          <p:cNvPr id="41" name="object 30">
            <a:extLst>
              <a:ext uri="{FF2B5EF4-FFF2-40B4-BE49-F238E27FC236}">
                <a16:creationId xmlns:a16="http://schemas.microsoft.com/office/drawing/2014/main" id="{B1BC3403-1854-4704-8BB5-98E00BAAF0C0}"/>
              </a:ext>
            </a:extLst>
          </p:cNvPr>
          <p:cNvSpPr/>
          <p:nvPr/>
        </p:nvSpPr>
        <p:spPr>
          <a:xfrm>
            <a:off x="1321464" y="2199014"/>
            <a:ext cx="978535" cy="822960"/>
          </a:xfrm>
          <a:custGeom>
            <a:avLst/>
            <a:gdLst/>
            <a:ahLst/>
            <a:cxnLst/>
            <a:rect l="l" t="t" r="r" b="b"/>
            <a:pathLst>
              <a:path w="978535" h="822960">
                <a:moveTo>
                  <a:pt x="0" y="822960"/>
                </a:moveTo>
                <a:lnTo>
                  <a:pt x="978408" y="822960"/>
                </a:lnTo>
                <a:lnTo>
                  <a:pt x="978408" y="0"/>
                </a:lnTo>
                <a:lnTo>
                  <a:pt x="0" y="0"/>
                </a:lnTo>
                <a:lnTo>
                  <a:pt x="0" y="822960"/>
                </a:lnTo>
                <a:close/>
              </a:path>
            </a:pathLst>
          </a:custGeom>
          <a:solidFill>
            <a:srgbClr val="808080"/>
          </a:solidFill>
        </p:spPr>
        <p:txBody>
          <a:bodyPr wrap="square" lIns="0" tIns="0" rIns="0" bIns="0" rtlCol="0"/>
          <a:lstStyle/>
          <a:p>
            <a:endParaRPr/>
          </a:p>
        </p:txBody>
      </p:sp>
      <p:sp>
        <p:nvSpPr>
          <p:cNvPr id="42" name="object 31">
            <a:extLst>
              <a:ext uri="{FF2B5EF4-FFF2-40B4-BE49-F238E27FC236}">
                <a16:creationId xmlns:a16="http://schemas.microsoft.com/office/drawing/2014/main" id="{2A79FC49-D5B9-4D5C-9B99-528823FC42D5}"/>
              </a:ext>
            </a:extLst>
          </p:cNvPr>
          <p:cNvSpPr/>
          <p:nvPr/>
        </p:nvSpPr>
        <p:spPr>
          <a:xfrm>
            <a:off x="1351944" y="2333126"/>
            <a:ext cx="280670" cy="658495"/>
          </a:xfrm>
          <a:custGeom>
            <a:avLst/>
            <a:gdLst/>
            <a:ahLst/>
            <a:cxnLst/>
            <a:rect l="l" t="t" r="r" b="b"/>
            <a:pathLst>
              <a:path w="280670" h="658495">
                <a:moveTo>
                  <a:pt x="0" y="658368"/>
                </a:moveTo>
                <a:lnTo>
                  <a:pt x="280416" y="658368"/>
                </a:lnTo>
                <a:lnTo>
                  <a:pt x="280416" y="0"/>
                </a:lnTo>
                <a:lnTo>
                  <a:pt x="0" y="0"/>
                </a:lnTo>
                <a:lnTo>
                  <a:pt x="0" y="658368"/>
                </a:lnTo>
                <a:close/>
              </a:path>
            </a:pathLst>
          </a:custGeom>
          <a:solidFill>
            <a:srgbClr val="C0C0C0"/>
          </a:solidFill>
        </p:spPr>
        <p:txBody>
          <a:bodyPr wrap="square" lIns="0" tIns="0" rIns="0" bIns="0" rtlCol="0"/>
          <a:lstStyle/>
          <a:p>
            <a:endParaRPr/>
          </a:p>
        </p:txBody>
      </p:sp>
      <p:sp>
        <p:nvSpPr>
          <p:cNvPr id="43" name="object 32">
            <a:extLst>
              <a:ext uri="{FF2B5EF4-FFF2-40B4-BE49-F238E27FC236}">
                <a16:creationId xmlns:a16="http://schemas.microsoft.com/office/drawing/2014/main" id="{DDC125F8-55ED-4EA8-B19F-2703B3D2D75B}"/>
              </a:ext>
            </a:extLst>
          </p:cNvPr>
          <p:cNvSpPr/>
          <p:nvPr/>
        </p:nvSpPr>
        <p:spPr>
          <a:xfrm>
            <a:off x="1351944" y="2333126"/>
            <a:ext cx="280670" cy="658495"/>
          </a:xfrm>
          <a:custGeom>
            <a:avLst/>
            <a:gdLst/>
            <a:ahLst/>
            <a:cxnLst/>
            <a:rect l="l" t="t" r="r" b="b"/>
            <a:pathLst>
              <a:path w="280670" h="658495">
                <a:moveTo>
                  <a:pt x="0" y="658368"/>
                </a:moveTo>
                <a:lnTo>
                  <a:pt x="280416" y="658368"/>
                </a:lnTo>
                <a:lnTo>
                  <a:pt x="280416" y="0"/>
                </a:lnTo>
                <a:lnTo>
                  <a:pt x="0" y="0"/>
                </a:lnTo>
                <a:lnTo>
                  <a:pt x="0" y="658368"/>
                </a:lnTo>
                <a:close/>
              </a:path>
            </a:pathLst>
          </a:custGeom>
          <a:ln w="12699">
            <a:solidFill>
              <a:srgbClr val="000000"/>
            </a:solidFill>
          </a:ln>
        </p:spPr>
        <p:txBody>
          <a:bodyPr wrap="square" lIns="0" tIns="0" rIns="0" bIns="0" rtlCol="0"/>
          <a:lstStyle/>
          <a:p>
            <a:endParaRPr/>
          </a:p>
        </p:txBody>
      </p:sp>
      <p:sp>
        <p:nvSpPr>
          <p:cNvPr id="44" name="object 33">
            <a:extLst>
              <a:ext uri="{FF2B5EF4-FFF2-40B4-BE49-F238E27FC236}">
                <a16:creationId xmlns:a16="http://schemas.microsoft.com/office/drawing/2014/main" id="{340CC6C5-DB86-4200-8C4F-541B19A5BA5D}"/>
              </a:ext>
            </a:extLst>
          </p:cNvPr>
          <p:cNvSpPr/>
          <p:nvPr/>
        </p:nvSpPr>
        <p:spPr>
          <a:xfrm>
            <a:off x="1382170" y="2352683"/>
            <a:ext cx="215392" cy="306831"/>
          </a:xfrm>
          <a:prstGeom prst="rect">
            <a:avLst/>
          </a:prstGeom>
          <a:blipFill>
            <a:blip r:embed="rId4" cstate="print"/>
            <a:stretch>
              <a:fillRect/>
            </a:stretch>
          </a:blipFill>
        </p:spPr>
        <p:txBody>
          <a:bodyPr wrap="square" lIns="0" tIns="0" rIns="0" bIns="0" rtlCol="0"/>
          <a:lstStyle/>
          <a:p>
            <a:endParaRPr/>
          </a:p>
        </p:txBody>
      </p:sp>
      <p:sp>
        <p:nvSpPr>
          <p:cNvPr id="45" name="object 34">
            <a:extLst>
              <a:ext uri="{FF2B5EF4-FFF2-40B4-BE49-F238E27FC236}">
                <a16:creationId xmlns:a16="http://schemas.microsoft.com/office/drawing/2014/main" id="{6506BF91-B353-41CD-95ED-EABD1B9DDEC0}"/>
              </a:ext>
            </a:extLst>
          </p:cNvPr>
          <p:cNvSpPr/>
          <p:nvPr/>
        </p:nvSpPr>
        <p:spPr>
          <a:xfrm>
            <a:off x="1388520" y="2718697"/>
            <a:ext cx="203200" cy="0"/>
          </a:xfrm>
          <a:custGeom>
            <a:avLst/>
            <a:gdLst/>
            <a:ahLst/>
            <a:cxnLst/>
            <a:rect l="l" t="t" r="r" b="b"/>
            <a:pathLst>
              <a:path w="203200">
                <a:moveTo>
                  <a:pt x="0" y="0"/>
                </a:moveTo>
                <a:lnTo>
                  <a:pt x="202692" y="0"/>
                </a:lnTo>
              </a:path>
            </a:pathLst>
          </a:custGeom>
          <a:ln w="60959">
            <a:solidFill>
              <a:srgbClr val="008080"/>
            </a:solidFill>
          </a:ln>
        </p:spPr>
        <p:txBody>
          <a:bodyPr wrap="square" lIns="0" tIns="0" rIns="0" bIns="0" rtlCol="0"/>
          <a:lstStyle/>
          <a:p>
            <a:endParaRPr/>
          </a:p>
        </p:txBody>
      </p:sp>
      <p:sp>
        <p:nvSpPr>
          <p:cNvPr id="46" name="object 35">
            <a:extLst>
              <a:ext uri="{FF2B5EF4-FFF2-40B4-BE49-F238E27FC236}">
                <a16:creationId xmlns:a16="http://schemas.microsoft.com/office/drawing/2014/main" id="{0030A1B3-3469-47E6-A486-49BFE726E378}"/>
              </a:ext>
            </a:extLst>
          </p:cNvPr>
          <p:cNvSpPr/>
          <p:nvPr/>
        </p:nvSpPr>
        <p:spPr>
          <a:xfrm>
            <a:off x="1388520" y="2688218"/>
            <a:ext cx="203200" cy="60960"/>
          </a:xfrm>
          <a:custGeom>
            <a:avLst/>
            <a:gdLst/>
            <a:ahLst/>
            <a:cxnLst/>
            <a:rect l="l" t="t" r="r" b="b"/>
            <a:pathLst>
              <a:path w="203200" h="60960">
                <a:moveTo>
                  <a:pt x="0" y="60959"/>
                </a:moveTo>
                <a:lnTo>
                  <a:pt x="202692" y="60959"/>
                </a:lnTo>
                <a:lnTo>
                  <a:pt x="202692" y="0"/>
                </a:lnTo>
                <a:lnTo>
                  <a:pt x="0" y="0"/>
                </a:lnTo>
                <a:lnTo>
                  <a:pt x="0" y="60959"/>
                </a:lnTo>
                <a:close/>
              </a:path>
            </a:pathLst>
          </a:custGeom>
          <a:ln w="12700">
            <a:solidFill>
              <a:srgbClr val="000000"/>
            </a:solidFill>
          </a:ln>
        </p:spPr>
        <p:txBody>
          <a:bodyPr wrap="square" lIns="0" tIns="0" rIns="0" bIns="0" rtlCol="0"/>
          <a:lstStyle/>
          <a:p>
            <a:endParaRPr/>
          </a:p>
        </p:txBody>
      </p:sp>
      <p:sp>
        <p:nvSpPr>
          <p:cNvPr id="47" name="object 36">
            <a:extLst>
              <a:ext uri="{FF2B5EF4-FFF2-40B4-BE49-F238E27FC236}">
                <a16:creationId xmlns:a16="http://schemas.microsoft.com/office/drawing/2014/main" id="{1AEBB4AD-0657-4A43-821E-D2336EFBEEAB}"/>
              </a:ext>
            </a:extLst>
          </p:cNvPr>
          <p:cNvSpPr/>
          <p:nvPr/>
        </p:nvSpPr>
        <p:spPr>
          <a:xfrm>
            <a:off x="1390044" y="2788802"/>
            <a:ext cx="205740" cy="165100"/>
          </a:xfrm>
          <a:custGeom>
            <a:avLst/>
            <a:gdLst/>
            <a:ahLst/>
            <a:cxnLst/>
            <a:rect l="l" t="t" r="r" b="b"/>
            <a:pathLst>
              <a:path w="205739" h="165100">
                <a:moveTo>
                  <a:pt x="0" y="164592"/>
                </a:moveTo>
                <a:lnTo>
                  <a:pt x="205740" y="164592"/>
                </a:lnTo>
                <a:lnTo>
                  <a:pt x="205740" y="0"/>
                </a:lnTo>
                <a:lnTo>
                  <a:pt x="0" y="0"/>
                </a:lnTo>
                <a:lnTo>
                  <a:pt x="0" y="164592"/>
                </a:lnTo>
                <a:close/>
              </a:path>
            </a:pathLst>
          </a:custGeom>
          <a:solidFill>
            <a:srgbClr val="99CC00"/>
          </a:solidFill>
        </p:spPr>
        <p:txBody>
          <a:bodyPr wrap="square" lIns="0" tIns="0" rIns="0" bIns="0" rtlCol="0"/>
          <a:lstStyle/>
          <a:p>
            <a:endParaRPr/>
          </a:p>
        </p:txBody>
      </p:sp>
      <p:sp>
        <p:nvSpPr>
          <p:cNvPr id="48" name="object 37">
            <a:extLst>
              <a:ext uri="{FF2B5EF4-FFF2-40B4-BE49-F238E27FC236}">
                <a16:creationId xmlns:a16="http://schemas.microsoft.com/office/drawing/2014/main" id="{81C03E1E-77D3-4C1E-98B2-5A33064C9B58}"/>
              </a:ext>
            </a:extLst>
          </p:cNvPr>
          <p:cNvSpPr/>
          <p:nvPr/>
        </p:nvSpPr>
        <p:spPr>
          <a:xfrm>
            <a:off x="1390044" y="2788802"/>
            <a:ext cx="205740" cy="165100"/>
          </a:xfrm>
          <a:custGeom>
            <a:avLst/>
            <a:gdLst/>
            <a:ahLst/>
            <a:cxnLst/>
            <a:rect l="l" t="t" r="r" b="b"/>
            <a:pathLst>
              <a:path w="205739" h="165100">
                <a:moveTo>
                  <a:pt x="0" y="164592"/>
                </a:moveTo>
                <a:lnTo>
                  <a:pt x="205740" y="164592"/>
                </a:lnTo>
                <a:lnTo>
                  <a:pt x="205740" y="0"/>
                </a:lnTo>
                <a:lnTo>
                  <a:pt x="0" y="0"/>
                </a:lnTo>
                <a:lnTo>
                  <a:pt x="0" y="164592"/>
                </a:lnTo>
                <a:close/>
              </a:path>
            </a:pathLst>
          </a:custGeom>
          <a:ln w="12700">
            <a:solidFill>
              <a:srgbClr val="000000"/>
            </a:solidFill>
          </a:ln>
        </p:spPr>
        <p:txBody>
          <a:bodyPr wrap="square" lIns="0" tIns="0" rIns="0" bIns="0" rtlCol="0"/>
          <a:lstStyle/>
          <a:p>
            <a:endParaRPr/>
          </a:p>
        </p:txBody>
      </p:sp>
      <p:sp>
        <p:nvSpPr>
          <p:cNvPr id="49" name="object 38">
            <a:extLst>
              <a:ext uri="{FF2B5EF4-FFF2-40B4-BE49-F238E27FC236}">
                <a16:creationId xmlns:a16="http://schemas.microsoft.com/office/drawing/2014/main" id="{7392AF96-BC5D-4219-A245-C7DAE6A9ACB9}"/>
              </a:ext>
            </a:extLst>
          </p:cNvPr>
          <p:cNvSpPr/>
          <p:nvPr/>
        </p:nvSpPr>
        <p:spPr>
          <a:xfrm>
            <a:off x="1670459"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solidFill>
            <a:srgbClr val="C0C0C0"/>
          </a:solidFill>
        </p:spPr>
        <p:txBody>
          <a:bodyPr wrap="square" lIns="0" tIns="0" rIns="0" bIns="0" rtlCol="0"/>
          <a:lstStyle/>
          <a:p>
            <a:endParaRPr/>
          </a:p>
        </p:txBody>
      </p:sp>
      <p:sp>
        <p:nvSpPr>
          <p:cNvPr id="50" name="object 39">
            <a:extLst>
              <a:ext uri="{FF2B5EF4-FFF2-40B4-BE49-F238E27FC236}">
                <a16:creationId xmlns:a16="http://schemas.microsoft.com/office/drawing/2014/main" id="{2DB0C2E5-A8C9-48DC-B6C9-E15CDCDD9274}"/>
              </a:ext>
            </a:extLst>
          </p:cNvPr>
          <p:cNvSpPr/>
          <p:nvPr/>
        </p:nvSpPr>
        <p:spPr>
          <a:xfrm>
            <a:off x="1670459"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ln w="12700">
            <a:solidFill>
              <a:srgbClr val="000000"/>
            </a:solidFill>
          </a:ln>
        </p:spPr>
        <p:txBody>
          <a:bodyPr wrap="square" lIns="0" tIns="0" rIns="0" bIns="0" rtlCol="0"/>
          <a:lstStyle/>
          <a:p>
            <a:endParaRPr/>
          </a:p>
        </p:txBody>
      </p:sp>
      <p:sp>
        <p:nvSpPr>
          <p:cNvPr id="51" name="object 40">
            <a:extLst>
              <a:ext uri="{FF2B5EF4-FFF2-40B4-BE49-F238E27FC236}">
                <a16:creationId xmlns:a16="http://schemas.microsoft.com/office/drawing/2014/main" id="{8E0BADFE-D0F4-4387-81D5-CA96702B4057}"/>
              </a:ext>
            </a:extLst>
          </p:cNvPr>
          <p:cNvSpPr/>
          <p:nvPr/>
        </p:nvSpPr>
        <p:spPr>
          <a:xfrm>
            <a:off x="1699161" y="2352683"/>
            <a:ext cx="215391" cy="306831"/>
          </a:xfrm>
          <a:prstGeom prst="rect">
            <a:avLst/>
          </a:prstGeom>
          <a:blipFill>
            <a:blip r:embed="rId5" cstate="print"/>
            <a:stretch>
              <a:fillRect/>
            </a:stretch>
          </a:blipFill>
        </p:spPr>
        <p:txBody>
          <a:bodyPr wrap="square" lIns="0" tIns="0" rIns="0" bIns="0" rtlCol="0"/>
          <a:lstStyle/>
          <a:p>
            <a:endParaRPr/>
          </a:p>
        </p:txBody>
      </p:sp>
      <p:sp>
        <p:nvSpPr>
          <p:cNvPr id="52" name="object 41">
            <a:extLst>
              <a:ext uri="{FF2B5EF4-FFF2-40B4-BE49-F238E27FC236}">
                <a16:creationId xmlns:a16="http://schemas.microsoft.com/office/drawing/2014/main" id="{2C4E8090-4BC5-4B4E-89F0-D6FC71BAC396}"/>
              </a:ext>
            </a:extLst>
          </p:cNvPr>
          <p:cNvSpPr/>
          <p:nvPr/>
        </p:nvSpPr>
        <p:spPr>
          <a:xfrm>
            <a:off x="1705511" y="2718697"/>
            <a:ext cx="203200" cy="0"/>
          </a:xfrm>
          <a:custGeom>
            <a:avLst/>
            <a:gdLst/>
            <a:ahLst/>
            <a:cxnLst/>
            <a:rect l="l" t="t" r="r" b="b"/>
            <a:pathLst>
              <a:path w="203200">
                <a:moveTo>
                  <a:pt x="0" y="0"/>
                </a:moveTo>
                <a:lnTo>
                  <a:pt x="202691" y="0"/>
                </a:lnTo>
              </a:path>
            </a:pathLst>
          </a:custGeom>
          <a:ln w="60959">
            <a:solidFill>
              <a:srgbClr val="008080"/>
            </a:solidFill>
          </a:ln>
        </p:spPr>
        <p:txBody>
          <a:bodyPr wrap="square" lIns="0" tIns="0" rIns="0" bIns="0" rtlCol="0"/>
          <a:lstStyle/>
          <a:p>
            <a:endParaRPr/>
          </a:p>
        </p:txBody>
      </p:sp>
      <p:sp>
        <p:nvSpPr>
          <p:cNvPr id="53" name="object 42">
            <a:extLst>
              <a:ext uri="{FF2B5EF4-FFF2-40B4-BE49-F238E27FC236}">
                <a16:creationId xmlns:a16="http://schemas.microsoft.com/office/drawing/2014/main" id="{EF7911FE-59DF-4C84-8E5C-A58BC6F33559}"/>
              </a:ext>
            </a:extLst>
          </p:cNvPr>
          <p:cNvSpPr/>
          <p:nvPr/>
        </p:nvSpPr>
        <p:spPr>
          <a:xfrm>
            <a:off x="1705511" y="2688218"/>
            <a:ext cx="203200" cy="60960"/>
          </a:xfrm>
          <a:custGeom>
            <a:avLst/>
            <a:gdLst/>
            <a:ahLst/>
            <a:cxnLst/>
            <a:rect l="l" t="t" r="r" b="b"/>
            <a:pathLst>
              <a:path w="203200" h="60960">
                <a:moveTo>
                  <a:pt x="0" y="60959"/>
                </a:moveTo>
                <a:lnTo>
                  <a:pt x="202691" y="60959"/>
                </a:lnTo>
                <a:lnTo>
                  <a:pt x="202691" y="0"/>
                </a:lnTo>
                <a:lnTo>
                  <a:pt x="0" y="0"/>
                </a:lnTo>
                <a:lnTo>
                  <a:pt x="0" y="60959"/>
                </a:lnTo>
                <a:close/>
              </a:path>
            </a:pathLst>
          </a:custGeom>
          <a:ln w="12700">
            <a:solidFill>
              <a:srgbClr val="000000"/>
            </a:solidFill>
          </a:ln>
        </p:spPr>
        <p:txBody>
          <a:bodyPr wrap="square" lIns="0" tIns="0" rIns="0" bIns="0" rtlCol="0"/>
          <a:lstStyle/>
          <a:p>
            <a:endParaRPr/>
          </a:p>
        </p:txBody>
      </p:sp>
      <p:sp>
        <p:nvSpPr>
          <p:cNvPr id="54" name="object 43">
            <a:extLst>
              <a:ext uri="{FF2B5EF4-FFF2-40B4-BE49-F238E27FC236}">
                <a16:creationId xmlns:a16="http://schemas.microsoft.com/office/drawing/2014/main" id="{E9ACD4BC-1671-4A8B-95FE-2276DA69D2B1}"/>
              </a:ext>
            </a:extLst>
          </p:cNvPr>
          <p:cNvSpPr/>
          <p:nvPr/>
        </p:nvSpPr>
        <p:spPr>
          <a:xfrm>
            <a:off x="1707035" y="2788802"/>
            <a:ext cx="205740" cy="163195"/>
          </a:xfrm>
          <a:custGeom>
            <a:avLst/>
            <a:gdLst/>
            <a:ahLst/>
            <a:cxnLst/>
            <a:rect l="l" t="t" r="r" b="b"/>
            <a:pathLst>
              <a:path w="205739" h="163195">
                <a:moveTo>
                  <a:pt x="0" y="163068"/>
                </a:moveTo>
                <a:lnTo>
                  <a:pt x="205739" y="163068"/>
                </a:lnTo>
                <a:lnTo>
                  <a:pt x="205739" y="0"/>
                </a:lnTo>
                <a:lnTo>
                  <a:pt x="0" y="0"/>
                </a:lnTo>
                <a:lnTo>
                  <a:pt x="0" y="163068"/>
                </a:lnTo>
                <a:close/>
              </a:path>
            </a:pathLst>
          </a:custGeom>
          <a:solidFill>
            <a:srgbClr val="99CC00"/>
          </a:solidFill>
        </p:spPr>
        <p:txBody>
          <a:bodyPr wrap="square" lIns="0" tIns="0" rIns="0" bIns="0" rtlCol="0"/>
          <a:lstStyle/>
          <a:p>
            <a:endParaRPr/>
          </a:p>
        </p:txBody>
      </p:sp>
      <p:sp>
        <p:nvSpPr>
          <p:cNvPr id="55" name="object 44">
            <a:extLst>
              <a:ext uri="{FF2B5EF4-FFF2-40B4-BE49-F238E27FC236}">
                <a16:creationId xmlns:a16="http://schemas.microsoft.com/office/drawing/2014/main" id="{27311ACB-22A2-4EB7-8A6F-2079753D537B}"/>
              </a:ext>
            </a:extLst>
          </p:cNvPr>
          <p:cNvSpPr/>
          <p:nvPr/>
        </p:nvSpPr>
        <p:spPr>
          <a:xfrm>
            <a:off x="1707035" y="2788802"/>
            <a:ext cx="205740" cy="163195"/>
          </a:xfrm>
          <a:custGeom>
            <a:avLst/>
            <a:gdLst/>
            <a:ahLst/>
            <a:cxnLst/>
            <a:rect l="l" t="t" r="r" b="b"/>
            <a:pathLst>
              <a:path w="205739" h="163195">
                <a:moveTo>
                  <a:pt x="0" y="163068"/>
                </a:moveTo>
                <a:lnTo>
                  <a:pt x="205739" y="163068"/>
                </a:lnTo>
                <a:lnTo>
                  <a:pt x="205739" y="0"/>
                </a:lnTo>
                <a:lnTo>
                  <a:pt x="0" y="0"/>
                </a:lnTo>
                <a:lnTo>
                  <a:pt x="0" y="163068"/>
                </a:lnTo>
                <a:close/>
              </a:path>
            </a:pathLst>
          </a:custGeom>
          <a:ln w="12699">
            <a:solidFill>
              <a:srgbClr val="000000"/>
            </a:solidFill>
          </a:ln>
        </p:spPr>
        <p:txBody>
          <a:bodyPr wrap="square" lIns="0" tIns="0" rIns="0" bIns="0" rtlCol="0"/>
          <a:lstStyle/>
          <a:p>
            <a:endParaRPr/>
          </a:p>
        </p:txBody>
      </p:sp>
      <p:sp>
        <p:nvSpPr>
          <p:cNvPr id="56" name="object 45">
            <a:extLst>
              <a:ext uri="{FF2B5EF4-FFF2-40B4-BE49-F238E27FC236}">
                <a16:creationId xmlns:a16="http://schemas.microsoft.com/office/drawing/2014/main" id="{D530E734-791E-46B1-BC43-760E18DB4F8C}"/>
              </a:ext>
            </a:extLst>
          </p:cNvPr>
          <p:cNvSpPr/>
          <p:nvPr/>
        </p:nvSpPr>
        <p:spPr>
          <a:xfrm>
            <a:off x="1988976"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solidFill>
            <a:srgbClr val="C0C0C0"/>
          </a:solidFill>
        </p:spPr>
        <p:txBody>
          <a:bodyPr wrap="square" lIns="0" tIns="0" rIns="0" bIns="0" rtlCol="0"/>
          <a:lstStyle/>
          <a:p>
            <a:endParaRPr/>
          </a:p>
        </p:txBody>
      </p:sp>
      <p:sp>
        <p:nvSpPr>
          <p:cNvPr id="57" name="object 46">
            <a:extLst>
              <a:ext uri="{FF2B5EF4-FFF2-40B4-BE49-F238E27FC236}">
                <a16:creationId xmlns:a16="http://schemas.microsoft.com/office/drawing/2014/main" id="{BD61124D-A762-4F19-89A0-23759B597B88}"/>
              </a:ext>
            </a:extLst>
          </p:cNvPr>
          <p:cNvSpPr/>
          <p:nvPr/>
        </p:nvSpPr>
        <p:spPr>
          <a:xfrm>
            <a:off x="1988976"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ln w="12700">
            <a:solidFill>
              <a:srgbClr val="000000"/>
            </a:solidFill>
          </a:ln>
        </p:spPr>
        <p:txBody>
          <a:bodyPr wrap="square" lIns="0" tIns="0" rIns="0" bIns="0" rtlCol="0"/>
          <a:lstStyle/>
          <a:p>
            <a:endParaRPr/>
          </a:p>
        </p:txBody>
      </p:sp>
      <p:sp>
        <p:nvSpPr>
          <p:cNvPr id="58" name="object 47">
            <a:extLst>
              <a:ext uri="{FF2B5EF4-FFF2-40B4-BE49-F238E27FC236}">
                <a16:creationId xmlns:a16="http://schemas.microsoft.com/office/drawing/2014/main" id="{83747953-5D3D-4E9A-A6BD-0F82E33A5289}"/>
              </a:ext>
            </a:extLst>
          </p:cNvPr>
          <p:cNvSpPr/>
          <p:nvPr/>
        </p:nvSpPr>
        <p:spPr>
          <a:xfrm>
            <a:off x="2016153" y="2352683"/>
            <a:ext cx="216915" cy="306831"/>
          </a:xfrm>
          <a:prstGeom prst="rect">
            <a:avLst/>
          </a:prstGeom>
          <a:blipFill>
            <a:blip r:embed="rId6" cstate="print"/>
            <a:stretch>
              <a:fillRect/>
            </a:stretch>
          </a:blipFill>
        </p:spPr>
        <p:txBody>
          <a:bodyPr wrap="square" lIns="0" tIns="0" rIns="0" bIns="0" rtlCol="0"/>
          <a:lstStyle/>
          <a:p>
            <a:endParaRPr/>
          </a:p>
        </p:txBody>
      </p:sp>
      <p:sp>
        <p:nvSpPr>
          <p:cNvPr id="59" name="object 48">
            <a:extLst>
              <a:ext uri="{FF2B5EF4-FFF2-40B4-BE49-F238E27FC236}">
                <a16:creationId xmlns:a16="http://schemas.microsoft.com/office/drawing/2014/main" id="{D60C8DC6-8F7D-468E-BCA5-7875E163DEA1}"/>
              </a:ext>
            </a:extLst>
          </p:cNvPr>
          <p:cNvSpPr/>
          <p:nvPr/>
        </p:nvSpPr>
        <p:spPr>
          <a:xfrm>
            <a:off x="2022503" y="2718697"/>
            <a:ext cx="204470" cy="0"/>
          </a:xfrm>
          <a:custGeom>
            <a:avLst/>
            <a:gdLst/>
            <a:ahLst/>
            <a:cxnLst/>
            <a:rect l="l" t="t" r="r" b="b"/>
            <a:pathLst>
              <a:path w="204470">
                <a:moveTo>
                  <a:pt x="0" y="0"/>
                </a:moveTo>
                <a:lnTo>
                  <a:pt x="204215" y="0"/>
                </a:lnTo>
              </a:path>
            </a:pathLst>
          </a:custGeom>
          <a:ln w="60959">
            <a:solidFill>
              <a:srgbClr val="008080"/>
            </a:solidFill>
          </a:ln>
        </p:spPr>
        <p:txBody>
          <a:bodyPr wrap="square" lIns="0" tIns="0" rIns="0" bIns="0" rtlCol="0"/>
          <a:lstStyle/>
          <a:p>
            <a:endParaRPr/>
          </a:p>
        </p:txBody>
      </p:sp>
      <p:sp>
        <p:nvSpPr>
          <p:cNvPr id="60" name="object 49">
            <a:extLst>
              <a:ext uri="{FF2B5EF4-FFF2-40B4-BE49-F238E27FC236}">
                <a16:creationId xmlns:a16="http://schemas.microsoft.com/office/drawing/2014/main" id="{BDECA0A1-EC8E-47EA-A9EC-44D72E087271}"/>
              </a:ext>
            </a:extLst>
          </p:cNvPr>
          <p:cNvSpPr/>
          <p:nvPr/>
        </p:nvSpPr>
        <p:spPr>
          <a:xfrm>
            <a:off x="2022503" y="2688218"/>
            <a:ext cx="204470" cy="60960"/>
          </a:xfrm>
          <a:custGeom>
            <a:avLst/>
            <a:gdLst/>
            <a:ahLst/>
            <a:cxnLst/>
            <a:rect l="l" t="t" r="r" b="b"/>
            <a:pathLst>
              <a:path w="204470" h="60960">
                <a:moveTo>
                  <a:pt x="0" y="60959"/>
                </a:moveTo>
                <a:lnTo>
                  <a:pt x="204215" y="60959"/>
                </a:lnTo>
                <a:lnTo>
                  <a:pt x="204215" y="0"/>
                </a:lnTo>
                <a:lnTo>
                  <a:pt x="0" y="0"/>
                </a:lnTo>
                <a:lnTo>
                  <a:pt x="0" y="60959"/>
                </a:lnTo>
                <a:close/>
              </a:path>
            </a:pathLst>
          </a:custGeom>
          <a:ln w="12700">
            <a:solidFill>
              <a:srgbClr val="000000"/>
            </a:solidFill>
          </a:ln>
        </p:spPr>
        <p:txBody>
          <a:bodyPr wrap="square" lIns="0" tIns="0" rIns="0" bIns="0" rtlCol="0"/>
          <a:lstStyle/>
          <a:p>
            <a:endParaRPr/>
          </a:p>
        </p:txBody>
      </p:sp>
      <p:sp>
        <p:nvSpPr>
          <p:cNvPr id="61" name="object 50">
            <a:extLst>
              <a:ext uri="{FF2B5EF4-FFF2-40B4-BE49-F238E27FC236}">
                <a16:creationId xmlns:a16="http://schemas.microsoft.com/office/drawing/2014/main" id="{C741714A-21A5-4896-9554-0BA48856018F}"/>
              </a:ext>
            </a:extLst>
          </p:cNvPr>
          <p:cNvSpPr/>
          <p:nvPr/>
        </p:nvSpPr>
        <p:spPr>
          <a:xfrm>
            <a:off x="2027076"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solidFill>
            <a:srgbClr val="99CC00"/>
          </a:solidFill>
        </p:spPr>
        <p:txBody>
          <a:bodyPr wrap="square" lIns="0" tIns="0" rIns="0" bIns="0" rtlCol="0"/>
          <a:lstStyle/>
          <a:p>
            <a:endParaRPr/>
          </a:p>
        </p:txBody>
      </p:sp>
      <p:sp>
        <p:nvSpPr>
          <p:cNvPr id="62" name="object 51">
            <a:extLst>
              <a:ext uri="{FF2B5EF4-FFF2-40B4-BE49-F238E27FC236}">
                <a16:creationId xmlns:a16="http://schemas.microsoft.com/office/drawing/2014/main" id="{3A77F2D0-EF43-4380-9F59-4D83146476BD}"/>
              </a:ext>
            </a:extLst>
          </p:cNvPr>
          <p:cNvSpPr/>
          <p:nvPr/>
        </p:nvSpPr>
        <p:spPr>
          <a:xfrm>
            <a:off x="2027076"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ln w="12700">
            <a:solidFill>
              <a:srgbClr val="000000"/>
            </a:solidFill>
          </a:ln>
        </p:spPr>
        <p:txBody>
          <a:bodyPr wrap="square" lIns="0" tIns="0" rIns="0" bIns="0" rtlCol="0"/>
          <a:lstStyle/>
          <a:p>
            <a:endParaRPr/>
          </a:p>
        </p:txBody>
      </p:sp>
      <p:sp>
        <p:nvSpPr>
          <p:cNvPr id="63" name="object 52">
            <a:extLst>
              <a:ext uri="{FF2B5EF4-FFF2-40B4-BE49-F238E27FC236}">
                <a16:creationId xmlns:a16="http://schemas.microsoft.com/office/drawing/2014/main" id="{1FC2A844-46BF-44EC-80CF-AD07B962F878}"/>
              </a:ext>
            </a:extLst>
          </p:cNvPr>
          <p:cNvSpPr/>
          <p:nvPr/>
        </p:nvSpPr>
        <p:spPr>
          <a:xfrm>
            <a:off x="2339496" y="2199014"/>
            <a:ext cx="978535" cy="822960"/>
          </a:xfrm>
          <a:custGeom>
            <a:avLst/>
            <a:gdLst/>
            <a:ahLst/>
            <a:cxnLst/>
            <a:rect l="l" t="t" r="r" b="b"/>
            <a:pathLst>
              <a:path w="978535" h="822960">
                <a:moveTo>
                  <a:pt x="0" y="822960"/>
                </a:moveTo>
                <a:lnTo>
                  <a:pt x="978408" y="822960"/>
                </a:lnTo>
                <a:lnTo>
                  <a:pt x="978408" y="0"/>
                </a:lnTo>
                <a:lnTo>
                  <a:pt x="0" y="0"/>
                </a:lnTo>
                <a:lnTo>
                  <a:pt x="0" y="822960"/>
                </a:lnTo>
                <a:close/>
              </a:path>
            </a:pathLst>
          </a:custGeom>
          <a:solidFill>
            <a:srgbClr val="808080"/>
          </a:solidFill>
        </p:spPr>
        <p:txBody>
          <a:bodyPr wrap="square" lIns="0" tIns="0" rIns="0" bIns="0" rtlCol="0"/>
          <a:lstStyle/>
          <a:p>
            <a:endParaRPr/>
          </a:p>
        </p:txBody>
      </p:sp>
      <p:sp>
        <p:nvSpPr>
          <p:cNvPr id="64" name="object 53">
            <a:extLst>
              <a:ext uri="{FF2B5EF4-FFF2-40B4-BE49-F238E27FC236}">
                <a16:creationId xmlns:a16="http://schemas.microsoft.com/office/drawing/2014/main" id="{83E65D72-E6AD-4B19-A608-0D5E0764B2FF}"/>
              </a:ext>
            </a:extLst>
          </p:cNvPr>
          <p:cNvSpPr/>
          <p:nvPr/>
        </p:nvSpPr>
        <p:spPr>
          <a:xfrm>
            <a:off x="2369976"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solidFill>
            <a:srgbClr val="C0C0C0"/>
          </a:solidFill>
        </p:spPr>
        <p:txBody>
          <a:bodyPr wrap="square" lIns="0" tIns="0" rIns="0" bIns="0" rtlCol="0"/>
          <a:lstStyle/>
          <a:p>
            <a:endParaRPr/>
          </a:p>
        </p:txBody>
      </p:sp>
      <p:sp>
        <p:nvSpPr>
          <p:cNvPr id="65" name="object 54">
            <a:extLst>
              <a:ext uri="{FF2B5EF4-FFF2-40B4-BE49-F238E27FC236}">
                <a16:creationId xmlns:a16="http://schemas.microsoft.com/office/drawing/2014/main" id="{9B888C14-9CF7-4C4F-8C0B-DB020E1291B0}"/>
              </a:ext>
            </a:extLst>
          </p:cNvPr>
          <p:cNvSpPr/>
          <p:nvPr/>
        </p:nvSpPr>
        <p:spPr>
          <a:xfrm>
            <a:off x="2369976"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ln w="12700">
            <a:solidFill>
              <a:srgbClr val="000000"/>
            </a:solidFill>
          </a:ln>
        </p:spPr>
        <p:txBody>
          <a:bodyPr wrap="square" lIns="0" tIns="0" rIns="0" bIns="0" rtlCol="0"/>
          <a:lstStyle/>
          <a:p>
            <a:endParaRPr/>
          </a:p>
        </p:txBody>
      </p:sp>
      <p:sp>
        <p:nvSpPr>
          <p:cNvPr id="66" name="object 55">
            <a:extLst>
              <a:ext uri="{FF2B5EF4-FFF2-40B4-BE49-F238E27FC236}">
                <a16:creationId xmlns:a16="http://schemas.microsoft.com/office/drawing/2014/main" id="{9663AE60-4929-4FE2-A7C6-93E92A3DAE11}"/>
              </a:ext>
            </a:extLst>
          </p:cNvPr>
          <p:cNvSpPr/>
          <p:nvPr/>
        </p:nvSpPr>
        <p:spPr>
          <a:xfrm>
            <a:off x="2400202" y="2352683"/>
            <a:ext cx="213867" cy="306831"/>
          </a:xfrm>
          <a:prstGeom prst="rect">
            <a:avLst/>
          </a:prstGeom>
          <a:blipFill>
            <a:blip r:embed="rId7" cstate="print"/>
            <a:stretch>
              <a:fillRect/>
            </a:stretch>
          </a:blipFill>
        </p:spPr>
        <p:txBody>
          <a:bodyPr wrap="square" lIns="0" tIns="0" rIns="0" bIns="0" rtlCol="0"/>
          <a:lstStyle/>
          <a:p>
            <a:endParaRPr/>
          </a:p>
        </p:txBody>
      </p:sp>
      <p:sp>
        <p:nvSpPr>
          <p:cNvPr id="67" name="object 56">
            <a:extLst>
              <a:ext uri="{FF2B5EF4-FFF2-40B4-BE49-F238E27FC236}">
                <a16:creationId xmlns:a16="http://schemas.microsoft.com/office/drawing/2014/main" id="{9A81110C-A665-4210-9A43-1F6D3CD4C5CC}"/>
              </a:ext>
            </a:extLst>
          </p:cNvPr>
          <p:cNvSpPr/>
          <p:nvPr/>
        </p:nvSpPr>
        <p:spPr>
          <a:xfrm>
            <a:off x="2406552" y="2718697"/>
            <a:ext cx="201295" cy="0"/>
          </a:xfrm>
          <a:custGeom>
            <a:avLst/>
            <a:gdLst/>
            <a:ahLst/>
            <a:cxnLst/>
            <a:rect l="l" t="t" r="r" b="b"/>
            <a:pathLst>
              <a:path w="201295">
                <a:moveTo>
                  <a:pt x="0" y="0"/>
                </a:moveTo>
                <a:lnTo>
                  <a:pt x="201167" y="0"/>
                </a:lnTo>
              </a:path>
            </a:pathLst>
          </a:custGeom>
          <a:ln w="60959">
            <a:solidFill>
              <a:srgbClr val="008080"/>
            </a:solidFill>
          </a:ln>
        </p:spPr>
        <p:txBody>
          <a:bodyPr wrap="square" lIns="0" tIns="0" rIns="0" bIns="0" rtlCol="0"/>
          <a:lstStyle/>
          <a:p>
            <a:endParaRPr/>
          </a:p>
        </p:txBody>
      </p:sp>
      <p:sp>
        <p:nvSpPr>
          <p:cNvPr id="68" name="object 57">
            <a:extLst>
              <a:ext uri="{FF2B5EF4-FFF2-40B4-BE49-F238E27FC236}">
                <a16:creationId xmlns:a16="http://schemas.microsoft.com/office/drawing/2014/main" id="{85C10D6F-2AFE-4C4C-A38B-11E756F7DFF1}"/>
              </a:ext>
            </a:extLst>
          </p:cNvPr>
          <p:cNvSpPr/>
          <p:nvPr/>
        </p:nvSpPr>
        <p:spPr>
          <a:xfrm>
            <a:off x="2406552" y="2688218"/>
            <a:ext cx="201295" cy="60960"/>
          </a:xfrm>
          <a:custGeom>
            <a:avLst/>
            <a:gdLst/>
            <a:ahLst/>
            <a:cxnLst/>
            <a:rect l="l" t="t" r="r" b="b"/>
            <a:pathLst>
              <a:path w="201295" h="60960">
                <a:moveTo>
                  <a:pt x="0" y="60959"/>
                </a:moveTo>
                <a:lnTo>
                  <a:pt x="201167" y="60959"/>
                </a:lnTo>
                <a:lnTo>
                  <a:pt x="201167" y="0"/>
                </a:lnTo>
                <a:lnTo>
                  <a:pt x="0" y="0"/>
                </a:lnTo>
                <a:lnTo>
                  <a:pt x="0" y="60959"/>
                </a:lnTo>
                <a:close/>
              </a:path>
            </a:pathLst>
          </a:custGeom>
          <a:ln w="12700">
            <a:solidFill>
              <a:srgbClr val="000000"/>
            </a:solidFill>
          </a:ln>
        </p:spPr>
        <p:txBody>
          <a:bodyPr wrap="square" lIns="0" tIns="0" rIns="0" bIns="0" rtlCol="0"/>
          <a:lstStyle/>
          <a:p>
            <a:endParaRPr/>
          </a:p>
        </p:txBody>
      </p:sp>
      <p:sp>
        <p:nvSpPr>
          <p:cNvPr id="69" name="object 58">
            <a:extLst>
              <a:ext uri="{FF2B5EF4-FFF2-40B4-BE49-F238E27FC236}">
                <a16:creationId xmlns:a16="http://schemas.microsoft.com/office/drawing/2014/main" id="{ECF87F72-D4F4-430F-9948-C0D9D2E9F370}"/>
              </a:ext>
            </a:extLst>
          </p:cNvPr>
          <p:cNvSpPr/>
          <p:nvPr/>
        </p:nvSpPr>
        <p:spPr>
          <a:xfrm>
            <a:off x="2408076"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solidFill>
            <a:srgbClr val="99CC00"/>
          </a:solidFill>
        </p:spPr>
        <p:txBody>
          <a:bodyPr wrap="square" lIns="0" tIns="0" rIns="0" bIns="0" rtlCol="0"/>
          <a:lstStyle/>
          <a:p>
            <a:endParaRPr/>
          </a:p>
        </p:txBody>
      </p:sp>
      <p:sp>
        <p:nvSpPr>
          <p:cNvPr id="70" name="object 59">
            <a:extLst>
              <a:ext uri="{FF2B5EF4-FFF2-40B4-BE49-F238E27FC236}">
                <a16:creationId xmlns:a16="http://schemas.microsoft.com/office/drawing/2014/main" id="{6587AAF6-2928-43B6-A605-3CB11DD69B7E}"/>
              </a:ext>
            </a:extLst>
          </p:cNvPr>
          <p:cNvSpPr/>
          <p:nvPr/>
        </p:nvSpPr>
        <p:spPr>
          <a:xfrm>
            <a:off x="2408076"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ln w="12700">
            <a:solidFill>
              <a:srgbClr val="000000"/>
            </a:solidFill>
          </a:ln>
        </p:spPr>
        <p:txBody>
          <a:bodyPr wrap="square" lIns="0" tIns="0" rIns="0" bIns="0" rtlCol="0"/>
          <a:lstStyle/>
          <a:p>
            <a:endParaRPr/>
          </a:p>
        </p:txBody>
      </p:sp>
      <p:sp>
        <p:nvSpPr>
          <p:cNvPr id="71" name="object 60">
            <a:extLst>
              <a:ext uri="{FF2B5EF4-FFF2-40B4-BE49-F238E27FC236}">
                <a16:creationId xmlns:a16="http://schemas.microsoft.com/office/drawing/2014/main" id="{791D7212-936F-4D7A-871B-16FB6DD1540B}"/>
              </a:ext>
            </a:extLst>
          </p:cNvPr>
          <p:cNvSpPr/>
          <p:nvPr/>
        </p:nvSpPr>
        <p:spPr>
          <a:xfrm>
            <a:off x="2688491" y="2333126"/>
            <a:ext cx="279400" cy="658495"/>
          </a:xfrm>
          <a:custGeom>
            <a:avLst/>
            <a:gdLst/>
            <a:ahLst/>
            <a:cxnLst/>
            <a:rect l="l" t="t" r="r" b="b"/>
            <a:pathLst>
              <a:path w="279400" h="658495">
                <a:moveTo>
                  <a:pt x="0" y="658368"/>
                </a:moveTo>
                <a:lnTo>
                  <a:pt x="278891" y="658368"/>
                </a:lnTo>
                <a:lnTo>
                  <a:pt x="278891" y="0"/>
                </a:lnTo>
                <a:lnTo>
                  <a:pt x="0" y="0"/>
                </a:lnTo>
                <a:lnTo>
                  <a:pt x="0" y="658368"/>
                </a:lnTo>
                <a:close/>
              </a:path>
            </a:pathLst>
          </a:custGeom>
          <a:solidFill>
            <a:srgbClr val="C0C0C0"/>
          </a:solidFill>
        </p:spPr>
        <p:txBody>
          <a:bodyPr wrap="square" lIns="0" tIns="0" rIns="0" bIns="0" rtlCol="0"/>
          <a:lstStyle/>
          <a:p>
            <a:endParaRPr/>
          </a:p>
        </p:txBody>
      </p:sp>
      <p:sp>
        <p:nvSpPr>
          <p:cNvPr id="72" name="object 61">
            <a:extLst>
              <a:ext uri="{FF2B5EF4-FFF2-40B4-BE49-F238E27FC236}">
                <a16:creationId xmlns:a16="http://schemas.microsoft.com/office/drawing/2014/main" id="{169EA5B7-1867-43BD-A331-B5CF04D434E2}"/>
              </a:ext>
            </a:extLst>
          </p:cNvPr>
          <p:cNvSpPr/>
          <p:nvPr/>
        </p:nvSpPr>
        <p:spPr>
          <a:xfrm>
            <a:off x="2688491" y="2333126"/>
            <a:ext cx="279400" cy="658495"/>
          </a:xfrm>
          <a:custGeom>
            <a:avLst/>
            <a:gdLst/>
            <a:ahLst/>
            <a:cxnLst/>
            <a:rect l="l" t="t" r="r" b="b"/>
            <a:pathLst>
              <a:path w="279400" h="658495">
                <a:moveTo>
                  <a:pt x="0" y="658368"/>
                </a:moveTo>
                <a:lnTo>
                  <a:pt x="278891" y="658368"/>
                </a:lnTo>
                <a:lnTo>
                  <a:pt x="278891" y="0"/>
                </a:lnTo>
                <a:lnTo>
                  <a:pt x="0" y="0"/>
                </a:lnTo>
                <a:lnTo>
                  <a:pt x="0" y="658368"/>
                </a:lnTo>
                <a:close/>
              </a:path>
            </a:pathLst>
          </a:custGeom>
          <a:ln w="12700">
            <a:solidFill>
              <a:srgbClr val="000000"/>
            </a:solidFill>
          </a:ln>
        </p:spPr>
        <p:txBody>
          <a:bodyPr wrap="square" lIns="0" tIns="0" rIns="0" bIns="0" rtlCol="0"/>
          <a:lstStyle/>
          <a:p>
            <a:endParaRPr/>
          </a:p>
        </p:txBody>
      </p:sp>
      <p:sp>
        <p:nvSpPr>
          <p:cNvPr id="73" name="object 62">
            <a:extLst>
              <a:ext uri="{FF2B5EF4-FFF2-40B4-BE49-F238E27FC236}">
                <a16:creationId xmlns:a16="http://schemas.microsoft.com/office/drawing/2014/main" id="{FAE4F622-4B70-4848-9FA2-84CC28F2161D}"/>
              </a:ext>
            </a:extLst>
          </p:cNvPr>
          <p:cNvSpPr/>
          <p:nvPr/>
        </p:nvSpPr>
        <p:spPr>
          <a:xfrm>
            <a:off x="2715670" y="2352683"/>
            <a:ext cx="216915" cy="306831"/>
          </a:xfrm>
          <a:prstGeom prst="rect">
            <a:avLst/>
          </a:prstGeom>
          <a:blipFill>
            <a:blip r:embed="rId8" cstate="print"/>
            <a:stretch>
              <a:fillRect/>
            </a:stretch>
          </a:blipFill>
        </p:spPr>
        <p:txBody>
          <a:bodyPr wrap="square" lIns="0" tIns="0" rIns="0" bIns="0" rtlCol="0"/>
          <a:lstStyle/>
          <a:p>
            <a:endParaRPr/>
          </a:p>
        </p:txBody>
      </p:sp>
      <p:sp>
        <p:nvSpPr>
          <p:cNvPr id="74" name="object 63">
            <a:extLst>
              <a:ext uri="{FF2B5EF4-FFF2-40B4-BE49-F238E27FC236}">
                <a16:creationId xmlns:a16="http://schemas.microsoft.com/office/drawing/2014/main" id="{810092BB-FD12-4C69-BD59-77C5BB278F8D}"/>
              </a:ext>
            </a:extLst>
          </p:cNvPr>
          <p:cNvSpPr/>
          <p:nvPr/>
        </p:nvSpPr>
        <p:spPr>
          <a:xfrm>
            <a:off x="2722020" y="2718697"/>
            <a:ext cx="204470" cy="0"/>
          </a:xfrm>
          <a:custGeom>
            <a:avLst/>
            <a:gdLst/>
            <a:ahLst/>
            <a:cxnLst/>
            <a:rect l="l" t="t" r="r" b="b"/>
            <a:pathLst>
              <a:path w="204470">
                <a:moveTo>
                  <a:pt x="0" y="0"/>
                </a:moveTo>
                <a:lnTo>
                  <a:pt x="204215" y="0"/>
                </a:lnTo>
              </a:path>
            </a:pathLst>
          </a:custGeom>
          <a:ln w="60959">
            <a:solidFill>
              <a:srgbClr val="008080"/>
            </a:solidFill>
          </a:ln>
        </p:spPr>
        <p:txBody>
          <a:bodyPr wrap="square" lIns="0" tIns="0" rIns="0" bIns="0" rtlCol="0"/>
          <a:lstStyle/>
          <a:p>
            <a:endParaRPr/>
          </a:p>
        </p:txBody>
      </p:sp>
      <p:sp>
        <p:nvSpPr>
          <p:cNvPr id="75" name="object 64">
            <a:extLst>
              <a:ext uri="{FF2B5EF4-FFF2-40B4-BE49-F238E27FC236}">
                <a16:creationId xmlns:a16="http://schemas.microsoft.com/office/drawing/2014/main" id="{354BBDE4-742A-49D2-90FE-5C09E7E43F2E}"/>
              </a:ext>
            </a:extLst>
          </p:cNvPr>
          <p:cNvSpPr/>
          <p:nvPr/>
        </p:nvSpPr>
        <p:spPr>
          <a:xfrm>
            <a:off x="2722020" y="2688218"/>
            <a:ext cx="204470" cy="60960"/>
          </a:xfrm>
          <a:custGeom>
            <a:avLst/>
            <a:gdLst/>
            <a:ahLst/>
            <a:cxnLst/>
            <a:rect l="l" t="t" r="r" b="b"/>
            <a:pathLst>
              <a:path w="204470" h="60960">
                <a:moveTo>
                  <a:pt x="0" y="60959"/>
                </a:moveTo>
                <a:lnTo>
                  <a:pt x="204215" y="60959"/>
                </a:lnTo>
                <a:lnTo>
                  <a:pt x="204215" y="0"/>
                </a:lnTo>
                <a:lnTo>
                  <a:pt x="0" y="0"/>
                </a:lnTo>
                <a:lnTo>
                  <a:pt x="0" y="60959"/>
                </a:lnTo>
                <a:close/>
              </a:path>
            </a:pathLst>
          </a:custGeom>
          <a:ln w="12700">
            <a:solidFill>
              <a:srgbClr val="000000"/>
            </a:solidFill>
          </a:ln>
        </p:spPr>
        <p:txBody>
          <a:bodyPr wrap="square" lIns="0" tIns="0" rIns="0" bIns="0" rtlCol="0"/>
          <a:lstStyle/>
          <a:p>
            <a:endParaRPr/>
          </a:p>
        </p:txBody>
      </p:sp>
      <p:sp>
        <p:nvSpPr>
          <p:cNvPr id="76" name="object 65">
            <a:extLst>
              <a:ext uri="{FF2B5EF4-FFF2-40B4-BE49-F238E27FC236}">
                <a16:creationId xmlns:a16="http://schemas.microsoft.com/office/drawing/2014/main" id="{7A9A9AC6-9602-4CAD-998D-1F6E03674769}"/>
              </a:ext>
            </a:extLst>
          </p:cNvPr>
          <p:cNvSpPr/>
          <p:nvPr/>
        </p:nvSpPr>
        <p:spPr>
          <a:xfrm>
            <a:off x="2726591"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solidFill>
            <a:srgbClr val="99CC00"/>
          </a:solidFill>
        </p:spPr>
        <p:txBody>
          <a:bodyPr wrap="square" lIns="0" tIns="0" rIns="0" bIns="0" rtlCol="0"/>
          <a:lstStyle/>
          <a:p>
            <a:endParaRPr/>
          </a:p>
        </p:txBody>
      </p:sp>
      <p:sp>
        <p:nvSpPr>
          <p:cNvPr id="77" name="object 66">
            <a:extLst>
              <a:ext uri="{FF2B5EF4-FFF2-40B4-BE49-F238E27FC236}">
                <a16:creationId xmlns:a16="http://schemas.microsoft.com/office/drawing/2014/main" id="{B6A06949-E8FA-4DFD-A810-3D81E2E76B6D}"/>
              </a:ext>
            </a:extLst>
          </p:cNvPr>
          <p:cNvSpPr/>
          <p:nvPr/>
        </p:nvSpPr>
        <p:spPr>
          <a:xfrm>
            <a:off x="2726591"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ln w="12700">
            <a:solidFill>
              <a:srgbClr val="000000"/>
            </a:solidFill>
          </a:ln>
        </p:spPr>
        <p:txBody>
          <a:bodyPr wrap="square" lIns="0" tIns="0" rIns="0" bIns="0" rtlCol="0"/>
          <a:lstStyle/>
          <a:p>
            <a:endParaRPr/>
          </a:p>
        </p:txBody>
      </p:sp>
      <p:sp>
        <p:nvSpPr>
          <p:cNvPr id="78" name="object 67">
            <a:extLst>
              <a:ext uri="{FF2B5EF4-FFF2-40B4-BE49-F238E27FC236}">
                <a16:creationId xmlns:a16="http://schemas.microsoft.com/office/drawing/2014/main" id="{F9E907CB-D086-48E3-95D2-96F5D22EFE5F}"/>
              </a:ext>
            </a:extLst>
          </p:cNvPr>
          <p:cNvSpPr/>
          <p:nvPr/>
        </p:nvSpPr>
        <p:spPr>
          <a:xfrm>
            <a:off x="3005484"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solidFill>
            <a:srgbClr val="C0C0C0"/>
          </a:solidFill>
        </p:spPr>
        <p:txBody>
          <a:bodyPr wrap="square" lIns="0" tIns="0" rIns="0" bIns="0" rtlCol="0"/>
          <a:lstStyle/>
          <a:p>
            <a:endParaRPr/>
          </a:p>
        </p:txBody>
      </p:sp>
      <p:sp>
        <p:nvSpPr>
          <p:cNvPr id="79" name="object 68">
            <a:extLst>
              <a:ext uri="{FF2B5EF4-FFF2-40B4-BE49-F238E27FC236}">
                <a16:creationId xmlns:a16="http://schemas.microsoft.com/office/drawing/2014/main" id="{AFC460C5-6DDE-4DD5-BB55-4A78BFBF281F}"/>
              </a:ext>
            </a:extLst>
          </p:cNvPr>
          <p:cNvSpPr/>
          <p:nvPr/>
        </p:nvSpPr>
        <p:spPr>
          <a:xfrm>
            <a:off x="3005484" y="2333126"/>
            <a:ext cx="280670" cy="658495"/>
          </a:xfrm>
          <a:custGeom>
            <a:avLst/>
            <a:gdLst/>
            <a:ahLst/>
            <a:cxnLst/>
            <a:rect l="l" t="t" r="r" b="b"/>
            <a:pathLst>
              <a:path w="280670" h="658495">
                <a:moveTo>
                  <a:pt x="0" y="658368"/>
                </a:moveTo>
                <a:lnTo>
                  <a:pt x="280415" y="658368"/>
                </a:lnTo>
                <a:lnTo>
                  <a:pt x="280415" y="0"/>
                </a:lnTo>
                <a:lnTo>
                  <a:pt x="0" y="0"/>
                </a:lnTo>
                <a:lnTo>
                  <a:pt x="0" y="658368"/>
                </a:lnTo>
                <a:close/>
              </a:path>
            </a:pathLst>
          </a:custGeom>
          <a:ln w="12700">
            <a:solidFill>
              <a:srgbClr val="000000"/>
            </a:solidFill>
          </a:ln>
        </p:spPr>
        <p:txBody>
          <a:bodyPr wrap="square" lIns="0" tIns="0" rIns="0" bIns="0" rtlCol="0"/>
          <a:lstStyle/>
          <a:p>
            <a:endParaRPr/>
          </a:p>
        </p:txBody>
      </p:sp>
      <p:sp>
        <p:nvSpPr>
          <p:cNvPr id="80" name="object 69">
            <a:extLst>
              <a:ext uri="{FF2B5EF4-FFF2-40B4-BE49-F238E27FC236}">
                <a16:creationId xmlns:a16="http://schemas.microsoft.com/office/drawing/2014/main" id="{A4B040C3-5E1B-4824-86DB-BC1F6582A2EA}"/>
              </a:ext>
            </a:extLst>
          </p:cNvPr>
          <p:cNvSpPr/>
          <p:nvPr/>
        </p:nvSpPr>
        <p:spPr>
          <a:xfrm>
            <a:off x="3034185" y="2352683"/>
            <a:ext cx="216915" cy="306831"/>
          </a:xfrm>
          <a:prstGeom prst="rect">
            <a:avLst/>
          </a:prstGeom>
          <a:blipFill>
            <a:blip r:embed="rId6" cstate="print"/>
            <a:stretch>
              <a:fillRect/>
            </a:stretch>
          </a:blipFill>
        </p:spPr>
        <p:txBody>
          <a:bodyPr wrap="square" lIns="0" tIns="0" rIns="0" bIns="0" rtlCol="0"/>
          <a:lstStyle/>
          <a:p>
            <a:endParaRPr/>
          </a:p>
        </p:txBody>
      </p:sp>
      <p:sp>
        <p:nvSpPr>
          <p:cNvPr id="81" name="object 70">
            <a:extLst>
              <a:ext uri="{FF2B5EF4-FFF2-40B4-BE49-F238E27FC236}">
                <a16:creationId xmlns:a16="http://schemas.microsoft.com/office/drawing/2014/main" id="{FCC204A7-9972-4F7D-9072-F6ADEEBBA056}"/>
              </a:ext>
            </a:extLst>
          </p:cNvPr>
          <p:cNvSpPr/>
          <p:nvPr/>
        </p:nvSpPr>
        <p:spPr>
          <a:xfrm>
            <a:off x="3040535" y="2718697"/>
            <a:ext cx="204470" cy="0"/>
          </a:xfrm>
          <a:custGeom>
            <a:avLst/>
            <a:gdLst/>
            <a:ahLst/>
            <a:cxnLst/>
            <a:rect l="l" t="t" r="r" b="b"/>
            <a:pathLst>
              <a:path w="204470">
                <a:moveTo>
                  <a:pt x="0" y="0"/>
                </a:moveTo>
                <a:lnTo>
                  <a:pt x="204215" y="0"/>
                </a:lnTo>
              </a:path>
            </a:pathLst>
          </a:custGeom>
          <a:ln w="60959">
            <a:solidFill>
              <a:srgbClr val="008080"/>
            </a:solidFill>
          </a:ln>
        </p:spPr>
        <p:txBody>
          <a:bodyPr wrap="square" lIns="0" tIns="0" rIns="0" bIns="0" rtlCol="0"/>
          <a:lstStyle/>
          <a:p>
            <a:endParaRPr/>
          </a:p>
        </p:txBody>
      </p:sp>
      <p:sp>
        <p:nvSpPr>
          <p:cNvPr id="82" name="object 71">
            <a:extLst>
              <a:ext uri="{FF2B5EF4-FFF2-40B4-BE49-F238E27FC236}">
                <a16:creationId xmlns:a16="http://schemas.microsoft.com/office/drawing/2014/main" id="{D8CF6BC6-11CA-4882-8CAF-49244DDE8CD3}"/>
              </a:ext>
            </a:extLst>
          </p:cNvPr>
          <p:cNvSpPr/>
          <p:nvPr/>
        </p:nvSpPr>
        <p:spPr>
          <a:xfrm>
            <a:off x="3040535" y="2688218"/>
            <a:ext cx="204470" cy="60960"/>
          </a:xfrm>
          <a:custGeom>
            <a:avLst/>
            <a:gdLst/>
            <a:ahLst/>
            <a:cxnLst/>
            <a:rect l="l" t="t" r="r" b="b"/>
            <a:pathLst>
              <a:path w="204470" h="60960">
                <a:moveTo>
                  <a:pt x="0" y="60959"/>
                </a:moveTo>
                <a:lnTo>
                  <a:pt x="204215" y="60959"/>
                </a:lnTo>
                <a:lnTo>
                  <a:pt x="204215" y="0"/>
                </a:lnTo>
                <a:lnTo>
                  <a:pt x="0" y="0"/>
                </a:lnTo>
                <a:lnTo>
                  <a:pt x="0" y="60959"/>
                </a:lnTo>
                <a:close/>
              </a:path>
            </a:pathLst>
          </a:custGeom>
          <a:ln w="12700">
            <a:solidFill>
              <a:srgbClr val="000000"/>
            </a:solidFill>
          </a:ln>
        </p:spPr>
        <p:txBody>
          <a:bodyPr wrap="square" lIns="0" tIns="0" rIns="0" bIns="0" rtlCol="0"/>
          <a:lstStyle/>
          <a:p>
            <a:endParaRPr/>
          </a:p>
        </p:txBody>
      </p:sp>
      <p:sp>
        <p:nvSpPr>
          <p:cNvPr id="83" name="object 72">
            <a:extLst>
              <a:ext uri="{FF2B5EF4-FFF2-40B4-BE49-F238E27FC236}">
                <a16:creationId xmlns:a16="http://schemas.microsoft.com/office/drawing/2014/main" id="{B3BE99A4-F361-4A78-8DB5-06F8A860E276}"/>
              </a:ext>
            </a:extLst>
          </p:cNvPr>
          <p:cNvSpPr/>
          <p:nvPr/>
        </p:nvSpPr>
        <p:spPr>
          <a:xfrm>
            <a:off x="3043584"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solidFill>
            <a:srgbClr val="99CC00"/>
          </a:solidFill>
        </p:spPr>
        <p:txBody>
          <a:bodyPr wrap="square" lIns="0" tIns="0" rIns="0" bIns="0" rtlCol="0"/>
          <a:lstStyle/>
          <a:p>
            <a:endParaRPr/>
          </a:p>
        </p:txBody>
      </p:sp>
      <p:sp>
        <p:nvSpPr>
          <p:cNvPr id="84" name="object 73">
            <a:extLst>
              <a:ext uri="{FF2B5EF4-FFF2-40B4-BE49-F238E27FC236}">
                <a16:creationId xmlns:a16="http://schemas.microsoft.com/office/drawing/2014/main" id="{DD39CE4E-6913-4C4D-9FCF-D2E71A788440}"/>
              </a:ext>
            </a:extLst>
          </p:cNvPr>
          <p:cNvSpPr/>
          <p:nvPr/>
        </p:nvSpPr>
        <p:spPr>
          <a:xfrm>
            <a:off x="3043584" y="2788802"/>
            <a:ext cx="205740" cy="165100"/>
          </a:xfrm>
          <a:custGeom>
            <a:avLst/>
            <a:gdLst/>
            <a:ahLst/>
            <a:cxnLst/>
            <a:rect l="l" t="t" r="r" b="b"/>
            <a:pathLst>
              <a:path w="205739" h="165100">
                <a:moveTo>
                  <a:pt x="0" y="164592"/>
                </a:moveTo>
                <a:lnTo>
                  <a:pt x="205739" y="164592"/>
                </a:lnTo>
                <a:lnTo>
                  <a:pt x="205739" y="0"/>
                </a:lnTo>
                <a:lnTo>
                  <a:pt x="0" y="0"/>
                </a:lnTo>
                <a:lnTo>
                  <a:pt x="0" y="164592"/>
                </a:lnTo>
                <a:close/>
              </a:path>
            </a:pathLst>
          </a:custGeom>
          <a:ln w="12700">
            <a:solidFill>
              <a:srgbClr val="000000"/>
            </a:solidFill>
          </a:ln>
        </p:spPr>
        <p:txBody>
          <a:bodyPr wrap="square" lIns="0" tIns="0" rIns="0" bIns="0" rtlCol="0"/>
          <a:lstStyle/>
          <a:p>
            <a:endParaRPr/>
          </a:p>
        </p:txBody>
      </p:sp>
      <p:sp>
        <p:nvSpPr>
          <p:cNvPr id="86" name="object 6">
            <a:extLst>
              <a:ext uri="{FF2B5EF4-FFF2-40B4-BE49-F238E27FC236}">
                <a16:creationId xmlns:a16="http://schemas.microsoft.com/office/drawing/2014/main" id="{49B17885-899A-4153-A793-8E1EA5D6683C}"/>
              </a:ext>
            </a:extLst>
          </p:cNvPr>
          <p:cNvSpPr/>
          <p:nvPr/>
        </p:nvSpPr>
        <p:spPr>
          <a:xfrm>
            <a:off x="7137059" y="5159875"/>
            <a:ext cx="213360" cy="702945"/>
          </a:xfrm>
          <a:custGeom>
            <a:avLst/>
            <a:gdLst/>
            <a:ahLst/>
            <a:cxnLst/>
            <a:rect l="l" t="t" r="r" b="b"/>
            <a:pathLst>
              <a:path w="213359" h="702944">
                <a:moveTo>
                  <a:pt x="13715" y="0"/>
                </a:moveTo>
                <a:lnTo>
                  <a:pt x="63720" y="35896"/>
                </a:lnTo>
                <a:lnTo>
                  <a:pt x="110856" y="71863"/>
                </a:lnTo>
                <a:lnTo>
                  <a:pt x="152257" y="107950"/>
                </a:lnTo>
                <a:lnTo>
                  <a:pt x="185053" y="144206"/>
                </a:lnTo>
                <a:lnTo>
                  <a:pt x="206376" y="180681"/>
                </a:lnTo>
                <a:lnTo>
                  <a:pt x="213359" y="217424"/>
                </a:lnTo>
                <a:lnTo>
                  <a:pt x="200821" y="248837"/>
                </a:lnTo>
                <a:lnTo>
                  <a:pt x="170061" y="280100"/>
                </a:lnTo>
                <a:lnTo>
                  <a:pt x="128424" y="311449"/>
                </a:lnTo>
                <a:lnTo>
                  <a:pt x="83255" y="343123"/>
                </a:lnTo>
                <a:lnTo>
                  <a:pt x="41898" y="375359"/>
                </a:lnTo>
                <a:lnTo>
                  <a:pt x="11698" y="408394"/>
                </a:lnTo>
                <a:lnTo>
                  <a:pt x="0" y="442468"/>
                </a:lnTo>
                <a:lnTo>
                  <a:pt x="6220" y="477629"/>
                </a:lnTo>
                <a:lnTo>
                  <a:pt x="23637" y="513682"/>
                </a:lnTo>
                <a:lnTo>
                  <a:pt x="50385" y="550489"/>
                </a:lnTo>
                <a:lnTo>
                  <a:pt x="84597" y="587917"/>
                </a:lnTo>
                <a:lnTo>
                  <a:pt x="124408" y="625829"/>
                </a:lnTo>
                <a:lnTo>
                  <a:pt x="167951" y="664090"/>
                </a:lnTo>
                <a:lnTo>
                  <a:pt x="213359" y="702563"/>
                </a:lnTo>
              </a:path>
            </a:pathLst>
          </a:custGeom>
          <a:ln w="25400">
            <a:solidFill>
              <a:srgbClr val="4E7900"/>
            </a:solidFill>
          </a:ln>
        </p:spPr>
        <p:txBody>
          <a:bodyPr wrap="square" lIns="0" tIns="0" rIns="0" bIns="0" rtlCol="0"/>
          <a:lstStyle/>
          <a:p>
            <a:endParaRPr/>
          </a:p>
        </p:txBody>
      </p:sp>
      <p:sp>
        <p:nvSpPr>
          <p:cNvPr id="87" name="object 8">
            <a:extLst>
              <a:ext uri="{FF2B5EF4-FFF2-40B4-BE49-F238E27FC236}">
                <a16:creationId xmlns:a16="http://schemas.microsoft.com/office/drawing/2014/main" id="{D418796D-5228-45D1-AF2E-E311C22D6128}"/>
              </a:ext>
            </a:extLst>
          </p:cNvPr>
          <p:cNvSpPr/>
          <p:nvPr/>
        </p:nvSpPr>
        <p:spPr>
          <a:xfrm>
            <a:off x="6665454" y="3657600"/>
            <a:ext cx="1036319" cy="777240"/>
          </a:xfrm>
          <a:custGeom>
            <a:avLst/>
            <a:gdLst/>
            <a:ahLst/>
            <a:cxnLst/>
            <a:rect l="l" t="t" r="r" b="b"/>
            <a:pathLst>
              <a:path w="1036319" h="777239">
                <a:moveTo>
                  <a:pt x="0" y="777239"/>
                </a:moveTo>
                <a:lnTo>
                  <a:pt x="1036319" y="777239"/>
                </a:lnTo>
                <a:lnTo>
                  <a:pt x="1036319" y="0"/>
                </a:lnTo>
                <a:lnTo>
                  <a:pt x="0" y="0"/>
                </a:lnTo>
                <a:lnTo>
                  <a:pt x="0" y="777239"/>
                </a:lnTo>
                <a:close/>
              </a:path>
            </a:pathLst>
          </a:custGeom>
          <a:solidFill>
            <a:srgbClr val="FFCC66"/>
          </a:solidFill>
        </p:spPr>
        <p:txBody>
          <a:bodyPr wrap="square" lIns="0" tIns="0" rIns="0" bIns="0" rtlCol="0"/>
          <a:lstStyle/>
          <a:p>
            <a:endParaRPr/>
          </a:p>
        </p:txBody>
      </p:sp>
      <p:sp>
        <p:nvSpPr>
          <p:cNvPr id="88" name="object 9">
            <a:extLst>
              <a:ext uri="{FF2B5EF4-FFF2-40B4-BE49-F238E27FC236}">
                <a16:creationId xmlns:a16="http://schemas.microsoft.com/office/drawing/2014/main" id="{2A2FF364-89A2-4AD1-8B43-A23FB4C5DC7D}"/>
              </a:ext>
            </a:extLst>
          </p:cNvPr>
          <p:cNvSpPr/>
          <p:nvPr/>
        </p:nvSpPr>
        <p:spPr>
          <a:xfrm>
            <a:off x="6665454" y="3657600"/>
            <a:ext cx="1036319" cy="777240"/>
          </a:xfrm>
          <a:custGeom>
            <a:avLst/>
            <a:gdLst/>
            <a:ahLst/>
            <a:cxnLst/>
            <a:rect l="l" t="t" r="r" b="b"/>
            <a:pathLst>
              <a:path w="1036319" h="777239">
                <a:moveTo>
                  <a:pt x="0" y="777239"/>
                </a:moveTo>
                <a:lnTo>
                  <a:pt x="1036319" y="777239"/>
                </a:lnTo>
                <a:lnTo>
                  <a:pt x="1036319" y="0"/>
                </a:lnTo>
                <a:lnTo>
                  <a:pt x="0" y="0"/>
                </a:lnTo>
                <a:lnTo>
                  <a:pt x="0" y="777239"/>
                </a:lnTo>
                <a:close/>
              </a:path>
            </a:pathLst>
          </a:custGeom>
          <a:ln w="12700">
            <a:solidFill>
              <a:srgbClr val="FFCC66"/>
            </a:solidFill>
          </a:ln>
        </p:spPr>
        <p:txBody>
          <a:bodyPr wrap="square" lIns="0" tIns="0" rIns="0" bIns="0" rtlCol="0"/>
          <a:lstStyle/>
          <a:p>
            <a:endParaRPr/>
          </a:p>
        </p:txBody>
      </p:sp>
      <p:sp>
        <p:nvSpPr>
          <p:cNvPr id="89" name="object 10">
            <a:extLst>
              <a:ext uri="{FF2B5EF4-FFF2-40B4-BE49-F238E27FC236}">
                <a16:creationId xmlns:a16="http://schemas.microsoft.com/office/drawing/2014/main" id="{C4BEC562-A3F3-4220-BB2B-D666B690B729}"/>
              </a:ext>
            </a:extLst>
          </p:cNvPr>
          <p:cNvSpPr/>
          <p:nvPr/>
        </p:nvSpPr>
        <p:spPr>
          <a:xfrm>
            <a:off x="6734795" y="3731515"/>
            <a:ext cx="169545" cy="617220"/>
          </a:xfrm>
          <a:custGeom>
            <a:avLst/>
            <a:gdLst/>
            <a:ahLst/>
            <a:cxnLst/>
            <a:rect l="l" t="t" r="r" b="b"/>
            <a:pathLst>
              <a:path w="169544" h="617220">
                <a:moveTo>
                  <a:pt x="10909" y="0"/>
                </a:moveTo>
                <a:lnTo>
                  <a:pt x="58268" y="37872"/>
                </a:lnTo>
                <a:lnTo>
                  <a:pt x="101698" y="75811"/>
                </a:lnTo>
                <a:lnTo>
                  <a:pt x="137270" y="113915"/>
                </a:lnTo>
                <a:lnTo>
                  <a:pt x="161055" y="152282"/>
                </a:lnTo>
                <a:lnTo>
                  <a:pt x="169125" y="191007"/>
                </a:lnTo>
                <a:lnTo>
                  <a:pt x="155967" y="223214"/>
                </a:lnTo>
                <a:lnTo>
                  <a:pt x="124471" y="255284"/>
                </a:lnTo>
                <a:lnTo>
                  <a:pt x="83881" y="287543"/>
                </a:lnTo>
                <a:lnTo>
                  <a:pt x="43443" y="320322"/>
                </a:lnTo>
                <a:lnTo>
                  <a:pt x="12401" y="353947"/>
                </a:lnTo>
                <a:lnTo>
                  <a:pt x="0" y="388747"/>
                </a:lnTo>
                <a:lnTo>
                  <a:pt x="6655" y="424835"/>
                </a:lnTo>
                <a:lnTo>
                  <a:pt x="25057" y="461978"/>
                </a:lnTo>
                <a:lnTo>
                  <a:pt x="52854" y="499983"/>
                </a:lnTo>
                <a:lnTo>
                  <a:pt x="87697" y="538654"/>
                </a:lnTo>
                <a:lnTo>
                  <a:pt x="127238" y="577797"/>
                </a:lnTo>
                <a:lnTo>
                  <a:pt x="169125" y="617219"/>
                </a:lnTo>
              </a:path>
            </a:pathLst>
          </a:custGeom>
          <a:ln w="25400">
            <a:solidFill>
              <a:srgbClr val="000000"/>
            </a:solidFill>
          </a:ln>
        </p:spPr>
        <p:txBody>
          <a:bodyPr wrap="square" lIns="0" tIns="0" rIns="0" bIns="0" rtlCol="0"/>
          <a:lstStyle/>
          <a:p>
            <a:endParaRPr/>
          </a:p>
        </p:txBody>
      </p:sp>
      <p:sp>
        <p:nvSpPr>
          <p:cNvPr id="90" name="object 11">
            <a:extLst>
              <a:ext uri="{FF2B5EF4-FFF2-40B4-BE49-F238E27FC236}">
                <a16:creationId xmlns:a16="http://schemas.microsoft.com/office/drawing/2014/main" id="{9FB78767-84F9-4786-B72B-48524C32ADCE}"/>
              </a:ext>
            </a:extLst>
          </p:cNvPr>
          <p:cNvSpPr/>
          <p:nvPr/>
        </p:nvSpPr>
        <p:spPr>
          <a:xfrm>
            <a:off x="6835379" y="3731515"/>
            <a:ext cx="172720" cy="617220"/>
          </a:xfrm>
          <a:custGeom>
            <a:avLst/>
            <a:gdLst/>
            <a:ahLst/>
            <a:cxnLst/>
            <a:rect l="l" t="t" r="r" b="b"/>
            <a:pathLst>
              <a:path w="172719" h="617220">
                <a:moveTo>
                  <a:pt x="11112" y="0"/>
                </a:moveTo>
                <a:lnTo>
                  <a:pt x="59320" y="37872"/>
                </a:lnTo>
                <a:lnTo>
                  <a:pt x="103529" y="75811"/>
                </a:lnTo>
                <a:lnTo>
                  <a:pt x="139741" y="113915"/>
                </a:lnTo>
                <a:lnTo>
                  <a:pt x="163955" y="152282"/>
                </a:lnTo>
                <a:lnTo>
                  <a:pt x="172173" y="191007"/>
                </a:lnTo>
                <a:lnTo>
                  <a:pt x="158780" y="223214"/>
                </a:lnTo>
                <a:lnTo>
                  <a:pt x="126717" y="255284"/>
                </a:lnTo>
                <a:lnTo>
                  <a:pt x="85396" y="287543"/>
                </a:lnTo>
                <a:lnTo>
                  <a:pt x="44228" y="320322"/>
                </a:lnTo>
                <a:lnTo>
                  <a:pt x="12625" y="353947"/>
                </a:lnTo>
                <a:lnTo>
                  <a:pt x="0" y="388747"/>
                </a:lnTo>
                <a:lnTo>
                  <a:pt x="6775" y="424835"/>
                </a:lnTo>
                <a:lnTo>
                  <a:pt x="25508" y="461978"/>
                </a:lnTo>
                <a:lnTo>
                  <a:pt x="53806" y="499983"/>
                </a:lnTo>
                <a:lnTo>
                  <a:pt x="89278" y="538654"/>
                </a:lnTo>
                <a:lnTo>
                  <a:pt x="129531" y="577797"/>
                </a:lnTo>
                <a:lnTo>
                  <a:pt x="172173" y="617219"/>
                </a:lnTo>
              </a:path>
            </a:pathLst>
          </a:custGeom>
          <a:ln w="25400">
            <a:solidFill>
              <a:srgbClr val="000000"/>
            </a:solidFill>
          </a:ln>
        </p:spPr>
        <p:txBody>
          <a:bodyPr wrap="square" lIns="0" tIns="0" rIns="0" bIns="0" rtlCol="0"/>
          <a:lstStyle/>
          <a:p>
            <a:endParaRPr/>
          </a:p>
        </p:txBody>
      </p:sp>
      <p:sp>
        <p:nvSpPr>
          <p:cNvPr id="91" name="object 12">
            <a:extLst>
              <a:ext uri="{FF2B5EF4-FFF2-40B4-BE49-F238E27FC236}">
                <a16:creationId xmlns:a16="http://schemas.microsoft.com/office/drawing/2014/main" id="{664571AD-A53C-4EE4-A490-B0D6C54647A0}"/>
              </a:ext>
            </a:extLst>
          </p:cNvPr>
          <p:cNvSpPr/>
          <p:nvPr/>
        </p:nvSpPr>
        <p:spPr>
          <a:xfrm>
            <a:off x="6939012" y="3731515"/>
            <a:ext cx="169545" cy="617220"/>
          </a:xfrm>
          <a:custGeom>
            <a:avLst/>
            <a:gdLst/>
            <a:ahLst/>
            <a:cxnLst/>
            <a:rect l="l" t="t" r="r" b="b"/>
            <a:pathLst>
              <a:path w="169544" h="617220">
                <a:moveTo>
                  <a:pt x="10909" y="0"/>
                </a:moveTo>
                <a:lnTo>
                  <a:pt x="58267" y="37872"/>
                </a:lnTo>
                <a:lnTo>
                  <a:pt x="101696" y="75811"/>
                </a:lnTo>
                <a:lnTo>
                  <a:pt x="137272" y="113915"/>
                </a:lnTo>
                <a:lnTo>
                  <a:pt x="161070" y="152282"/>
                </a:lnTo>
                <a:lnTo>
                  <a:pt x="169163" y="191007"/>
                </a:lnTo>
                <a:lnTo>
                  <a:pt x="155971" y="223214"/>
                </a:lnTo>
                <a:lnTo>
                  <a:pt x="124459" y="255284"/>
                </a:lnTo>
                <a:lnTo>
                  <a:pt x="83867" y="287543"/>
                </a:lnTo>
                <a:lnTo>
                  <a:pt x="43433" y="320322"/>
                </a:lnTo>
                <a:lnTo>
                  <a:pt x="12398" y="353947"/>
                </a:lnTo>
                <a:lnTo>
                  <a:pt x="0" y="388747"/>
                </a:lnTo>
                <a:lnTo>
                  <a:pt x="6656" y="424835"/>
                </a:lnTo>
                <a:lnTo>
                  <a:pt x="25061" y="461978"/>
                </a:lnTo>
                <a:lnTo>
                  <a:pt x="52863" y="499983"/>
                </a:lnTo>
                <a:lnTo>
                  <a:pt x="87714" y="538654"/>
                </a:lnTo>
                <a:lnTo>
                  <a:pt x="127264" y="577797"/>
                </a:lnTo>
                <a:lnTo>
                  <a:pt x="169163" y="617219"/>
                </a:lnTo>
              </a:path>
            </a:pathLst>
          </a:custGeom>
          <a:ln w="25400">
            <a:solidFill>
              <a:srgbClr val="000000"/>
            </a:solidFill>
          </a:ln>
        </p:spPr>
        <p:txBody>
          <a:bodyPr wrap="square" lIns="0" tIns="0" rIns="0" bIns="0" rtlCol="0"/>
          <a:lstStyle/>
          <a:p>
            <a:endParaRPr/>
          </a:p>
        </p:txBody>
      </p:sp>
      <p:sp>
        <p:nvSpPr>
          <p:cNvPr id="92" name="object 13">
            <a:extLst>
              <a:ext uri="{FF2B5EF4-FFF2-40B4-BE49-F238E27FC236}">
                <a16:creationId xmlns:a16="http://schemas.microsoft.com/office/drawing/2014/main" id="{2E738F79-7977-4314-ABD6-1DBBDF89B31E}"/>
              </a:ext>
            </a:extLst>
          </p:cNvPr>
          <p:cNvSpPr/>
          <p:nvPr/>
        </p:nvSpPr>
        <p:spPr>
          <a:xfrm>
            <a:off x="7039595" y="3731515"/>
            <a:ext cx="172720" cy="617220"/>
          </a:xfrm>
          <a:custGeom>
            <a:avLst/>
            <a:gdLst/>
            <a:ahLst/>
            <a:cxnLst/>
            <a:rect l="l" t="t" r="r" b="b"/>
            <a:pathLst>
              <a:path w="172719" h="617220">
                <a:moveTo>
                  <a:pt x="11049" y="0"/>
                </a:moveTo>
                <a:lnTo>
                  <a:pt x="59289" y="37872"/>
                </a:lnTo>
                <a:lnTo>
                  <a:pt x="103513" y="75811"/>
                </a:lnTo>
                <a:lnTo>
                  <a:pt x="139732" y="113915"/>
                </a:lnTo>
                <a:lnTo>
                  <a:pt x="163961" y="152282"/>
                </a:lnTo>
                <a:lnTo>
                  <a:pt x="172212" y="191007"/>
                </a:lnTo>
                <a:lnTo>
                  <a:pt x="158794" y="223214"/>
                </a:lnTo>
                <a:lnTo>
                  <a:pt x="126717" y="255284"/>
                </a:lnTo>
                <a:lnTo>
                  <a:pt x="85391" y="287543"/>
                </a:lnTo>
                <a:lnTo>
                  <a:pt x="44224" y="320322"/>
                </a:lnTo>
                <a:lnTo>
                  <a:pt x="12624" y="353947"/>
                </a:lnTo>
                <a:lnTo>
                  <a:pt x="0" y="388747"/>
                </a:lnTo>
                <a:lnTo>
                  <a:pt x="6776" y="424835"/>
                </a:lnTo>
                <a:lnTo>
                  <a:pt x="25512" y="461978"/>
                </a:lnTo>
                <a:lnTo>
                  <a:pt x="53816" y="499983"/>
                </a:lnTo>
                <a:lnTo>
                  <a:pt x="89295" y="538654"/>
                </a:lnTo>
                <a:lnTo>
                  <a:pt x="129557" y="577797"/>
                </a:lnTo>
                <a:lnTo>
                  <a:pt x="172212" y="617219"/>
                </a:lnTo>
              </a:path>
            </a:pathLst>
          </a:custGeom>
          <a:ln w="25400">
            <a:solidFill>
              <a:srgbClr val="000000"/>
            </a:solidFill>
          </a:ln>
        </p:spPr>
        <p:txBody>
          <a:bodyPr wrap="square" lIns="0" tIns="0" rIns="0" bIns="0" rtlCol="0"/>
          <a:lstStyle/>
          <a:p>
            <a:endParaRPr/>
          </a:p>
        </p:txBody>
      </p:sp>
      <p:sp>
        <p:nvSpPr>
          <p:cNvPr id="93" name="object 14">
            <a:extLst>
              <a:ext uri="{FF2B5EF4-FFF2-40B4-BE49-F238E27FC236}">
                <a16:creationId xmlns:a16="http://schemas.microsoft.com/office/drawing/2014/main" id="{C7C4E663-1A32-4E1F-8723-29AFD5E1A7CE}"/>
              </a:ext>
            </a:extLst>
          </p:cNvPr>
          <p:cNvSpPr/>
          <p:nvPr/>
        </p:nvSpPr>
        <p:spPr>
          <a:xfrm>
            <a:off x="7143228" y="3731515"/>
            <a:ext cx="170815" cy="617220"/>
          </a:xfrm>
          <a:custGeom>
            <a:avLst/>
            <a:gdLst/>
            <a:ahLst/>
            <a:cxnLst/>
            <a:rect l="l" t="t" r="r" b="b"/>
            <a:pathLst>
              <a:path w="170815" h="617220">
                <a:moveTo>
                  <a:pt x="11048" y="0"/>
                </a:moveTo>
                <a:lnTo>
                  <a:pt x="58789" y="37872"/>
                </a:lnTo>
                <a:lnTo>
                  <a:pt x="102592" y="75811"/>
                </a:lnTo>
                <a:lnTo>
                  <a:pt x="138488" y="113915"/>
                </a:lnTo>
                <a:lnTo>
                  <a:pt x="162510" y="152282"/>
                </a:lnTo>
                <a:lnTo>
                  <a:pt x="170687" y="191007"/>
                </a:lnTo>
                <a:lnTo>
                  <a:pt x="157382" y="223214"/>
                </a:lnTo>
                <a:lnTo>
                  <a:pt x="125588" y="255284"/>
                </a:lnTo>
                <a:lnTo>
                  <a:pt x="84629" y="287543"/>
                </a:lnTo>
                <a:lnTo>
                  <a:pt x="43829" y="320322"/>
                </a:lnTo>
                <a:lnTo>
                  <a:pt x="12511" y="353947"/>
                </a:lnTo>
                <a:lnTo>
                  <a:pt x="0" y="388747"/>
                </a:lnTo>
                <a:lnTo>
                  <a:pt x="6716" y="424835"/>
                </a:lnTo>
                <a:lnTo>
                  <a:pt x="25287" y="461978"/>
                </a:lnTo>
                <a:lnTo>
                  <a:pt x="53340" y="499983"/>
                </a:lnTo>
                <a:lnTo>
                  <a:pt x="88504" y="538654"/>
                </a:lnTo>
                <a:lnTo>
                  <a:pt x="128411" y="577797"/>
                </a:lnTo>
                <a:lnTo>
                  <a:pt x="170687" y="617219"/>
                </a:lnTo>
              </a:path>
            </a:pathLst>
          </a:custGeom>
          <a:ln w="25400">
            <a:solidFill>
              <a:srgbClr val="000000"/>
            </a:solidFill>
          </a:ln>
        </p:spPr>
        <p:txBody>
          <a:bodyPr wrap="square" lIns="0" tIns="0" rIns="0" bIns="0" rtlCol="0"/>
          <a:lstStyle/>
          <a:p>
            <a:endParaRPr/>
          </a:p>
        </p:txBody>
      </p:sp>
      <p:sp>
        <p:nvSpPr>
          <p:cNvPr id="94" name="object 15">
            <a:extLst>
              <a:ext uri="{FF2B5EF4-FFF2-40B4-BE49-F238E27FC236}">
                <a16:creationId xmlns:a16="http://schemas.microsoft.com/office/drawing/2014/main" id="{95A5B926-B53B-4517-A70B-A01417400BAC}"/>
              </a:ext>
            </a:extLst>
          </p:cNvPr>
          <p:cNvSpPr/>
          <p:nvPr/>
        </p:nvSpPr>
        <p:spPr>
          <a:xfrm>
            <a:off x="7245336" y="3731515"/>
            <a:ext cx="169545" cy="617220"/>
          </a:xfrm>
          <a:custGeom>
            <a:avLst/>
            <a:gdLst/>
            <a:ahLst/>
            <a:cxnLst/>
            <a:rect l="l" t="t" r="r" b="b"/>
            <a:pathLst>
              <a:path w="169544" h="617220">
                <a:moveTo>
                  <a:pt x="10921" y="0"/>
                </a:moveTo>
                <a:lnTo>
                  <a:pt x="58273" y="37872"/>
                </a:lnTo>
                <a:lnTo>
                  <a:pt x="101699" y="75811"/>
                </a:lnTo>
                <a:lnTo>
                  <a:pt x="137273" y="113915"/>
                </a:lnTo>
                <a:lnTo>
                  <a:pt x="161070" y="152282"/>
                </a:lnTo>
                <a:lnTo>
                  <a:pt x="169163" y="191007"/>
                </a:lnTo>
                <a:lnTo>
                  <a:pt x="155971" y="223214"/>
                </a:lnTo>
                <a:lnTo>
                  <a:pt x="124459" y="255284"/>
                </a:lnTo>
                <a:lnTo>
                  <a:pt x="83867" y="287543"/>
                </a:lnTo>
                <a:lnTo>
                  <a:pt x="43433" y="320322"/>
                </a:lnTo>
                <a:lnTo>
                  <a:pt x="12398" y="353947"/>
                </a:lnTo>
                <a:lnTo>
                  <a:pt x="0" y="388747"/>
                </a:lnTo>
                <a:lnTo>
                  <a:pt x="6656" y="424835"/>
                </a:lnTo>
                <a:lnTo>
                  <a:pt x="25061" y="461978"/>
                </a:lnTo>
                <a:lnTo>
                  <a:pt x="52863" y="499983"/>
                </a:lnTo>
                <a:lnTo>
                  <a:pt x="87714" y="538654"/>
                </a:lnTo>
                <a:lnTo>
                  <a:pt x="127264" y="577797"/>
                </a:lnTo>
                <a:lnTo>
                  <a:pt x="169163" y="617219"/>
                </a:lnTo>
              </a:path>
            </a:pathLst>
          </a:custGeom>
          <a:ln w="25400">
            <a:solidFill>
              <a:srgbClr val="000000"/>
            </a:solidFill>
          </a:ln>
        </p:spPr>
        <p:txBody>
          <a:bodyPr wrap="square" lIns="0" tIns="0" rIns="0" bIns="0" rtlCol="0"/>
          <a:lstStyle/>
          <a:p>
            <a:endParaRPr/>
          </a:p>
        </p:txBody>
      </p:sp>
      <p:sp>
        <p:nvSpPr>
          <p:cNvPr id="95" name="object 16">
            <a:extLst>
              <a:ext uri="{FF2B5EF4-FFF2-40B4-BE49-F238E27FC236}">
                <a16:creationId xmlns:a16="http://schemas.microsoft.com/office/drawing/2014/main" id="{EAE23307-FADC-4E50-98AD-DDA22AED4E16}"/>
              </a:ext>
            </a:extLst>
          </p:cNvPr>
          <p:cNvSpPr/>
          <p:nvPr/>
        </p:nvSpPr>
        <p:spPr>
          <a:xfrm>
            <a:off x="7345920" y="3731515"/>
            <a:ext cx="172720" cy="617220"/>
          </a:xfrm>
          <a:custGeom>
            <a:avLst/>
            <a:gdLst/>
            <a:ahLst/>
            <a:cxnLst/>
            <a:rect l="l" t="t" r="r" b="b"/>
            <a:pathLst>
              <a:path w="172719" h="617220">
                <a:moveTo>
                  <a:pt x="11049" y="0"/>
                </a:moveTo>
                <a:lnTo>
                  <a:pt x="59289" y="37872"/>
                </a:lnTo>
                <a:lnTo>
                  <a:pt x="103513" y="75811"/>
                </a:lnTo>
                <a:lnTo>
                  <a:pt x="139732" y="113915"/>
                </a:lnTo>
                <a:lnTo>
                  <a:pt x="163961" y="152282"/>
                </a:lnTo>
                <a:lnTo>
                  <a:pt x="172211" y="191007"/>
                </a:lnTo>
                <a:lnTo>
                  <a:pt x="158794" y="223214"/>
                </a:lnTo>
                <a:lnTo>
                  <a:pt x="126717" y="255284"/>
                </a:lnTo>
                <a:lnTo>
                  <a:pt x="85391" y="287543"/>
                </a:lnTo>
                <a:lnTo>
                  <a:pt x="44224" y="320322"/>
                </a:lnTo>
                <a:lnTo>
                  <a:pt x="12624" y="353947"/>
                </a:lnTo>
                <a:lnTo>
                  <a:pt x="0" y="388747"/>
                </a:lnTo>
                <a:lnTo>
                  <a:pt x="6776" y="424835"/>
                </a:lnTo>
                <a:lnTo>
                  <a:pt x="25512" y="461978"/>
                </a:lnTo>
                <a:lnTo>
                  <a:pt x="53816" y="499983"/>
                </a:lnTo>
                <a:lnTo>
                  <a:pt x="89295" y="538654"/>
                </a:lnTo>
                <a:lnTo>
                  <a:pt x="129557" y="577797"/>
                </a:lnTo>
                <a:lnTo>
                  <a:pt x="172211" y="617219"/>
                </a:lnTo>
              </a:path>
            </a:pathLst>
          </a:custGeom>
          <a:ln w="25400">
            <a:solidFill>
              <a:srgbClr val="000000"/>
            </a:solidFill>
          </a:ln>
        </p:spPr>
        <p:txBody>
          <a:bodyPr wrap="square" lIns="0" tIns="0" rIns="0" bIns="0" rtlCol="0"/>
          <a:lstStyle/>
          <a:p>
            <a:endParaRPr/>
          </a:p>
        </p:txBody>
      </p:sp>
      <p:sp>
        <p:nvSpPr>
          <p:cNvPr id="96" name="object 17">
            <a:extLst>
              <a:ext uri="{FF2B5EF4-FFF2-40B4-BE49-F238E27FC236}">
                <a16:creationId xmlns:a16="http://schemas.microsoft.com/office/drawing/2014/main" id="{73D9E5AD-220A-42D2-9599-C90379C1D08C}"/>
              </a:ext>
            </a:extLst>
          </p:cNvPr>
          <p:cNvSpPr/>
          <p:nvPr/>
        </p:nvSpPr>
        <p:spPr>
          <a:xfrm>
            <a:off x="7449552" y="3731515"/>
            <a:ext cx="170815" cy="617220"/>
          </a:xfrm>
          <a:custGeom>
            <a:avLst/>
            <a:gdLst/>
            <a:ahLst/>
            <a:cxnLst/>
            <a:rect l="l" t="t" r="r" b="b"/>
            <a:pathLst>
              <a:path w="170814" h="617220">
                <a:moveTo>
                  <a:pt x="11049" y="0"/>
                </a:moveTo>
                <a:lnTo>
                  <a:pt x="58789" y="37872"/>
                </a:lnTo>
                <a:lnTo>
                  <a:pt x="102592" y="75811"/>
                </a:lnTo>
                <a:lnTo>
                  <a:pt x="138488" y="113915"/>
                </a:lnTo>
                <a:lnTo>
                  <a:pt x="162510" y="152282"/>
                </a:lnTo>
                <a:lnTo>
                  <a:pt x="170687" y="191007"/>
                </a:lnTo>
                <a:lnTo>
                  <a:pt x="157382" y="223214"/>
                </a:lnTo>
                <a:lnTo>
                  <a:pt x="125588" y="255284"/>
                </a:lnTo>
                <a:lnTo>
                  <a:pt x="84629" y="287543"/>
                </a:lnTo>
                <a:lnTo>
                  <a:pt x="43829" y="320322"/>
                </a:lnTo>
                <a:lnTo>
                  <a:pt x="12511" y="353947"/>
                </a:lnTo>
                <a:lnTo>
                  <a:pt x="0" y="388747"/>
                </a:lnTo>
                <a:lnTo>
                  <a:pt x="6716" y="424835"/>
                </a:lnTo>
                <a:lnTo>
                  <a:pt x="25287" y="461978"/>
                </a:lnTo>
                <a:lnTo>
                  <a:pt x="53339" y="499983"/>
                </a:lnTo>
                <a:lnTo>
                  <a:pt x="88504" y="538654"/>
                </a:lnTo>
                <a:lnTo>
                  <a:pt x="128411" y="577797"/>
                </a:lnTo>
                <a:lnTo>
                  <a:pt x="170687" y="617219"/>
                </a:lnTo>
              </a:path>
            </a:pathLst>
          </a:custGeom>
          <a:ln w="25400">
            <a:solidFill>
              <a:srgbClr val="000000"/>
            </a:solidFill>
          </a:ln>
        </p:spPr>
        <p:txBody>
          <a:bodyPr wrap="square" lIns="0" tIns="0" rIns="0" bIns="0" rtlCol="0"/>
          <a:lstStyle/>
          <a:p>
            <a:endParaRPr/>
          </a:p>
        </p:txBody>
      </p:sp>
      <p:sp>
        <p:nvSpPr>
          <p:cNvPr id="97" name="object 74">
            <a:extLst>
              <a:ext uri="{FF2B5EF4-FFF2-40B4-BE49-F238E27FC236}">
                <a16:creationId xmlns:a16="http://schemas.microsoft.com/office/drawing/2014/main" id="{FE5FBA55-3E5E-4933-A3A6-CA63F1EEC904}"/>
              </a:ext>
            </a:extLst>
          </p:cNvPr>
          <p:cNvSpPr/>
          <p:nvPr/>
        </p:nvSpPr>
        <p:spPr>
          <a:xfrm>
            <a:off x="6095844" y="2242229"/>
            <a:ext cx="2118360" cy="721360"/>
          </a:xfrm>
          <a:custGeom>
            <a:avLst/>
            <a:gdLst/>
            <a:ahLst/>
            <a:cxnLst/>
            <a:rect l="l" t="t" r="r" b="b"/>
            <a:pathLst>
              <a:path w="2118360" h="721360">
                <a:moveTo>
                  <a:pt x="0" y="720852"/>
                </a:moveTo>
                <a:lnTo>
                  <a:pt x="2118360" y="720852"/>
                </a:lnTo>
                <a:lnTo>
                  <a:pt x="2118360" y="0"/>
                </a:lnTo>
                <a:lnTo>
                  <a:pt x="0" y="0"/>
                </a:lnTo>
                <a:lnTo>
                  <a:pt x="0" y="720852"/>
                </a:lnTo>
                <a:close/>
              </a:path>
            </a:pathLst>
          </a:custGeom>
          <a:solidFill>
            <a:srgbClr val="66FF66"/>
          </a:solidFill>
        </p:spPr>
        <p:txBody>
          <a:bodyPr wrap="square" lIns="0" tIns="0" rIns="0" bIns="0" rtlCol="0"/>
          <a:lstStyle/>
          <a:p>
            <a:endParaRPr/>
          </a:p>
        </p:txBody>
      </p:sp>
      <p:sp>
        <p:nvSpPr>
          <p:cNvPr id="98" name="object 75">
            <a:extLst>
              <a:ext uri="{FF2B5EF4-FFF2-40B4-BE49-F238E27FC236}">
                <a16:creationId xmlns:a16="http://schemas.microsoft.com/office/drawing/2014/main" id="{2E8C56B1-C96C-4386-85E6-AED04CFB69EC}"/>
              </a:ext>
            </a:extLst>
          </p:cNvPr>
          <p:cNvSpPr/>
          <p:nvPr/>
        </p:nvSpPr>
        <p:spPr>
          <a:xfrm>
            <a:off x="6193380" y="2304714"/>
            <a:ext cx="487680" cy="607060"/>
          </a:xfrm>
          <a:custGeom>
            <a:avLst/>
            <a:gdLst/>
            <a:ahLst/>
            <a:cxnLst/>
            <a:rect l="l" t="t" r="r" b="b"/>
            <a:pathLst>
              <a:path w="487680" h="607060">
                <a:moveTo>
                  <a:pt x="0" y="606551"/>
                </a:moveTo>
                <a:lnTo>
                  <a:pt x="487680" y="606551"/>
                </a:lnTo>
                <a:lnTo>
                  <a:pt x="487680" y="0"/>
                </a:lnTo>
                <a:lnTo>
                  <a:pt x="0" y="0"/>
                </a:lnTo>
                <a:lnTo>
                  <a:pt x="0" y="606551"/>
                </a:lnTo>
                <a:close/>
              </a:path>
            </a:pathLst>
          </a:custGeom>
          <a:solidFill>
            <a:srgbClr val="FFCC66"/>
          </a:solidFill>
        </p:spPr>
        <p:txBody>
          <a:bodyPr wrap="square" lIns="0" tIns="0" rIns="0" bIns="0" rtlCol="0"/>
          <a:lstStyle/>
          <a:p>
            <a:endParaRPr/>
          </a:p>
        </p:txBody>
      </p:sp>
      <p:sp>
        <p:nvSpPr>
          <p:cNvPr id="99" name="object 76">
            <a:extLst>
              <a:ext uri="{FF2B5EF4-FFF2-40B4-BE49-F238E27FC236}">
                <a16:creationId xmlns:a16="http://schemas.microsoft.com/office/drawing/2014/main" id="{90089610-5C8A-43D5-9B89-99E0DE6F1EA4}"/>
              </a:ext>
            </a:extLst>
          </p:cNvPr>
          <p:cNvSpPr/>
          <p:nvPr/>
        </p:nvSpPr>
        <p:spPr>
          <a:xfrm>
            <a:off x="6193380" y="2304714"/>
            <a:ext cx="487680" cy="607060"/>
          </a:xfrm>
          <a:custGeom>
            <a:avLst/>
            <a:gdLst/>
            <a:ahLst/>
            <a:cxnLst/>
            <a:rect l="l" t="t" r="r" b="b"/>
            <a:pathLst>
              <a:path w="487680" h="607060">
                <a:moveTo>
                  <a:pt x="0" y="606551"/>
                </a:moveTo>
                <a:lnTo>
                  <a:pt x="487680" y="606551"/>
                </a:lnTo>
                <a:lnTo>
                  <a:pt x="487680" y="0"/>
                </a:lnTo>
                <a:lnTo>
                  <a:pt x="0" y="0"/>
                </a:lnTo>
                <a:lnTo>
                  <a:pt x="0" y="606551"/>
                </a:lnTo>
                <a:close/>
              </a:path>
            </a:pathLst>
          </a:custGeom>
          <a:ln w="12700">
            <a:solidFill>
              <a:srgbClr val="000000"/>
            </a:solidFill>
          </a:ln>
        </p:spPr>
        <p:txBody>
          <a:bodyPr wrap="square" lIns="0" tIns="0" rIns="0" bIns="0" rtlCol="0"/>
          <a:lstStyle/>
          <a:p>
            <a:endParaRPr/>
          </a:p>
        </p:txBody>
      </p:sp>
      <p:sp>
        <p:nvSpPr>
          <p:cNvPr id="100" name="object 77">
            <a:extLst>
              <a:ext uri="{FF2B5EF4-FFF2-40B4-BE49-F238E27FC236}">
                <a16:creationId xmlns:a16="http://schemas.microsoft.com/office/drawing/2014/main" id="{81D87B03-1E68-4C55-A2F1-CAB5333543C3}"/>
              </a:ext>
            </a:extLst>
          </p:cNvPr>
          <p:cNvSpPr/>
          <p:nvPr/>
        </p:nvSpPr>
        <p:spPr>
          <a:xfrm>
            <a:off x="6239862"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1" name="object 78">
            <a:extLst>
              <a:ext uri="{FF2B5EF4-FFF2-40B4-BE49-F238E27FC236}">
                <a16:creationId xmlns:a16="http://schemas.microsoft.com/office/drawing/2014/main" id="{71D0050C-9D55-4BE4-807E-0DE74109CC6B}"/>
              </a:ext>
            </a:extLst>
          </p:cNvPr>
          <p:cNvSpPr/>
          <p:nvPr/>
        </p:nvSpPr>
        <p:spPr>
          <a:xfrm>
            <a:off x="6308442"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2" name="object 79">
            <a:extLst>
              <a:ext uri="{FF2B5EF4-FFF2-40B4-BE49-F238E27FC236}">
                <a16:creationId xmlns:a16="http://schemas.microsoft.com/office/drawing/2014/main" id="{EB4F54C7-17B0-4CB1-A0C3-9357C302C4CE}"/>
              </a:ext>
            </a:extLst>
          </p:cNvPr>
          <p:cNvSpPr/>
          <p:nvPr/>
        </p:nvSpPr>
        <p:spPr>
          <a:xfrm>
            <a:off x="6377021"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3" name="object 80">
            <a:extLst>
              <a:ext uri="{FF2B5EF4-FFF2-40B4-BE49-F238E27FC236}">
                <a16:creationId xmlns:a16="http://schemas.microsoft.com/office/drawing/2014/main" id="{6EA6922E-1CA1-420A-8342-525DC028185F}"/>
              </a:ext>
            </a:extLst>
          </p:cNvPr>
          <p:cNvSpPr/>
          <p:nvPr/>
        </p:nvSpPr>
        <p:spPr>
          <a:xfrm>
            <a:off x="6445602"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4" name="object 81">
            <a:extLst>
              <a:ext uri="{FF2B5EF4-FFF2-40B4-BE49-F238E27FC236}">
                <a16:creationId xmlns:a16="http://schemas.microsoft.com/office/drawing/2014/main" id="{6BF9F0C7-64F6-4ADD-9A4B-7D2AE62F0AF6}"/>
              </a:ext>
            </a:extLst>
          </p:cNvPr>
          <p:cNvSpPr/>
          <p:nvPr/>
        </p:nvSpPr>
        <p:spPr>
          <a:xfrm>
            <a:off x="6514181"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5" name="object 82">
            <a:extLst>
              <a:ext uri="{FF2B5EF4-FFF2-40B4-BE49-F238E27FC236}">
                <a16:creationId xmlns:a16="http://schemas.microsoft.com/office/drawing/2014/main" id="{C13D7524-94EF-4102-A884-E29D159FD1E0}"/>
              </a:ext>
            </a:extLst>
          </p:cNvPr>
          <p:cNvSpPr/>
          <p:nvPr/>
        </p:nvSpPr>
        <p:spPr>
          <a:xfrm>
            <a:off x="6757260" y="2304714"/>
            <a:ext cx="487680" cy="607060"/>
          </a:xfrm>
          <a:custGeom>
            <a:avLst/>
            <a:gdLst/>
            <a:ahLst/>
            <a:cxnLst/>
            <a:rect l="l" t="t" r="r" b="b"/>
            <a:pathLst>
              <a:path w="487680" h="607060">
                <a:moveTo>
                  <a:pt x="0" y="606551"/>
                </a:moveTo>
                <a:lnTo>
                  <a:pt x="487679" y="606551"/>
                </a:lnTo>
                <a:lnTo>
                  <a:pt x="487679" y="0"/>
                </a:lnTo>
                <a:lnTo>
                  <a:pt x="0" y="0"/>
                </a:lnTo>
                <a:lnTo>
                  <a:pt x="0" y="606551"/>
                </a:lnTo>
                <a:close/>
              </a:path>
            </a:pathLst>
          </a:custGeom>
          <a:solidFill>
            <a:srgbClr val="FFCC66"/>
          </a:solidFill>
        </p:spPr>
        <p:txBody>
          <a:bodyPr wrap="square" lIns="0" tIns="0" rIns="0" bIns="0" rtlCol="0"/>
          <a:lstStyle/>
          <a:p>
            <a:endParaRPr/>
          </a:p>
        </p:txBody>
      </p:sp>
      <p:sp>
        <p:nvSpPr>
          <p:cNvPr id="106" name="object 83">
            <a:extLst>
              <a:ext uri="{FF2B5EF4-FFF2-40B4-BE49-F238E27FC236}">
                <a16:creationId xmlns:a16="http://schemas.microsoft.com/office/drawing/2014/main" id="{35487EC0-03BE-4847-957D-FA9677E47622}"/>
              </a:ext>
            </a:extLst>
          </p:cNvPr>
          <p:cNvSpPr/>
          <p:nvPr/>
        </p:nvSpPr>
        <p:spPr>
          <a:xfrm>
            <a:off x="6757260" y="2304714"/>
            <a:ext cx="487680" cy="607060"/>
          </a:xfrm>
          <a:custGeom>
            <a:avLst/>
            <a:gdLst/>
            <a:ahLst/>
            <a:cxnLst/>
            <a:rect l="l" t="t" r="r" b="b"/>
            <a:pathLst>
              <a:path w="487680" h="607060">
                <a:moveTo>
                  <a:pt x="0" y="606551"/>
                </a:moveTo>
                <a:lnTo>
                  <a:pt x="487679" y="606551"/>
                </a:lnTo>
                <a:lnTo>
                  <a:pt x="487679" y="0"/>
                </a:lnTo>
                <a:lnTo>
                  <a:pt x="0" y="0"/>
                </a:lnTo>
                <a:lnTo>
                  <a:pt x="0" y="606551"/>
                </a:lnTo>
                <a:close/>
              </a:path>
            </a:pathLst>
          </a:custGeom>
          <a:ln w="12700">
            <a:solidFill>
              <a:srgbClr val="000000"/>
            </a:solidFill>
          </a:ln>
        </p:spPr>
        <p:txBody>
          <a:bodyPr wrap="square" lIns="0" tIns="0" rIns="0" bIns="0" rtlCol="0"/>
          <a:lstStyle/>
          <a:p>
            <a:endParaRPr/>
          </a:p>
        </p:txBody>
      </p:sp>
      <p:sp>
        <p:nvSpPr>
          <p:cNvPr id="107" name="object 84">
            <a:extLst>
              <a:ext uri="{FF2B5EF4-FFF2-40B4-BE49-F238E27FC236}">
                <a16:creationId xmlns:a16="http://schemas.microsoft.com/office/drawing/2014/main" id="{A9EB796A-3AF4-4E07-AF10-8FFB9BC90748}"/>
              </a:ext>
            </a:extLst>
          </p:cNvPr>
          <p:cNvSpPr/>
          <p:nvPr/>
        </p:nvSpPr>
        <p:spPr>
          <a:xfrm>
            <a:off x="6803741" y="2363388"/>
            <a:ext cx="114300" cy="481965"/>
          </a:xfrm>
          <a:custGeom>
            <a:avLst/>
            <a:gdLst/>
            <a:ahLst/>
            <a:cxnLst/>
            <a:rect l="l" t="t" r="r" b="b"/>
            <a:pathLst>
              <a:path w="114300" h="481964">
                <a:moveTo>
                  <a:pt x="7378" y="0"/>
                </a:moveTo>
                <a:lnTo>
                  <a:pt x="47062" y="36937"/>
                </a:lnTo>
                <a:lnTo>
                  <a:pt x="81562" y="73998"/>
                </a:lnTo>
                <a:lnTo>
                  <a:pt x="105694" y="111308"/>
                </a:lnTo>
                <a:lnTo>
                  <a:pt x="114274" y="148996"/>
                </a:lnTo>
                <a:lnTo>
                  <a:pt x="101916" y="179133"/>
                </a:lnTo>
                <a:lnTo>
                  <a:pt x="73517" y="209186"/>
                </a:lnTo>
                <a:lnTo>
                  <a:pt x="39869" y="239603"/>
                </a:lnTo>
                <a:lnTo>
                  <a:pt x="11766" y="270830"/>
                </a:lnTo>
                <a:lnTo>
                  <a:pt x="0" y="303314"/>
                </a:lnTo>
                <a:lnTo>
                  <a:pt x="9820" y="345892"/>
                </a:lnTo>
                <a:lnTo>
                  <a:pt x="35710" y="390124"/>
                </a:lnTo>
                <a:lnTo>
                  <a:pt x="72314" y="435519"/>
                </a:lnTo>
                <a:lnTo>
                  <a:pt x="114274" y="481583"/>
                </a:lnTo>
              </a:path>
            </a:pathLst>
          </a:custGeom>
          <a:ln w="25400">
            <a:solidFill>
              <a:srgbClr val="000000"/>
            </a:solidFill>
          </a:ln>
        </p:spPr>
        <p:txBody>
          <a:bodyPr wrap="square" lIns="0" tIns="0" rIns="0" bIns="0" rtlCol="0"/>
          <a:lstStyle/>
          <a:p>
            <a:endParaRPr/>
          </a:p>
        </p:txBody>
      </p:sp>
      <p:sp>
        <p:nvSpPr>
          <p:cNvPr id="108" name="object 85">
            <a:extLst>
              <a:ext uri="{FF2B5EF4-FFF2-40B4-BE49-F238E27FC236}">
                <a16:creationId xmlns:a16="http://schemas.microsoft.com/office/drawing/2014/main" id="{A4E95497-3AD5-4F66-91A5-F9D15DAF9539}"/>
              </a:ext>
            </a:extLst>
          </p:cNvPr>
          <p:cNvSpPr/>
          <p:nvPr/>
        </p:nvSpPr>
        <p:spPr>
          <a:xfrm>
            <a:off x="6872321" y="2363388"/>
            <a:ext cx="114300" cy="481965"/>
          </a:xfrm>
          <a:custGeom>
            <a:avLst/>
            <a:gdLst/>
            <a:ahLst/>
            <a:cxnLst/>
            <a:rect l="l" t="t" r="r" b="b"/>
            <a:pathLst>
              <a:path w="114300" h="481964">
                <a:moveTo>
                  <a:pt x="7378" y="0"/>
                </a:moveTo>
                <a:lnTo>
                  <a:pt x="47071" y="36937"/>
                </a:lnTo>
                <a:lnTo>
                  <a:pt x="81589" y="73998"/>
                </a:lnTo>
                <a:lnTo>
                  <a:pt x="105732" y="111308"/>
                </a:lnTo>
                <a:lnTo>
                  <a:pt x="114300" y="148996"/>
                </a:lnTo>
                <a:lnTo>
                  <a:pt x="101925" y="179133"/>
                </a:lnTo>
                <a:lnTo>
                  <a:pt x="73517" y="209186"/>
                </a:lnTo>
                <a:lnTo>
                  <a:pt x="39867" y="239603"/>
                </a:lnTo>
                <a:lnTo>
                  <a:pt x="11765" y="270830"/>
                </a:lnTo>
                <a:lnTo>
                  <a:pt x="0" y="303314"/>
                </a:lnTo>
                <a:lnTo>
                  <a:pt x="9820" y="345892"/>
                </a:lnTo>
                <a:lnTo>
                  <a:pt x="35713" y="390124"/>
                </a:lnTo>
                <a:lnTo>
                  <a:pt x="72325" y="435519"/>
                </a:lnTo>
                <a:lnTo>
                  <a:pt x="114300" y="481583"/>
                </a:lnTo>
              </a:path>
            </a:pathLst>
          </a:custGeom>
          <a:ln w="25400">
            <a:solidFill>
              <a:srgbClr val="000000"/>
            </a:solidFill>
          </a:ln>
        </p:spPr>
        <p:txBody>
          <a:bodyPr wrap="square" lIns="0" tIns="0" rIns="0" bIns="0" rtlCol="0"/>
          <a:lstStyle/>
          <a:p>
            <a:endParaRPr/>
          </a:p>
        </p:txBody>
      </p:sp>
      <p:sp>
        <p:nvSpPr>
          <p:cNvPr id="109" name="object 86">
            <a:extLst>
              <a:ext uri="{FF2B5EF4-FFF2-40B4-BE49-F238E27FC236}">
                <a16:creationId xmlns:a16="http://schemas.microsoft.com/office/drawing/2014/main" id="{97A90E70-CAD9-47A1-A43C-9E4BEAD6C801}"/>
              </a:ext>
            </a:extLst>
          </p:cNvPr>
          <p:cNvSpPr/>
          <p:nvPr/>
        </p:nvSpPr>
        <p:spPr>
          <a:xfrm>
            <a:off x="6940902" y="2363388"/>
            <a:ext cx="114300" cy="481965"/>
          </a:xfrm>
          <a:custGeom>
            <a:avLst/>
            <a:gdLst/>
            <a:ahLst/>
            <a:cxnLst/>
            <a:rect l="l" t="t" r="r" b="b"/>
            <a:pathLst>
              <a:path w="114300" h="481964">
                <a:moveTo>
                  <a:pt x="7378" y="0"/>
                </a:moveTo>
                <a:lnTo>
                  <a:pt x="47082" y="36937"/>
                </a:lnTo>
                <a:lnTo>
                  <a:pt x="81599"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0" name="object 87">
            <a:extLst>
              <a:ext uri="{FF2B5EF4-FFF2-40B4-BE49-F238E27FC236}">
                <a16:creationId xmlns:a16="http://schemas.microsoft.com/office/drawing/2014/main" id="{1E18E7FF-770C-4868-8A78-F52FEFE68DEC}"/>
              </a:ext>
            </a:extLst>
          </p:cNvPr>
          <p:cNvSpPr/>
          <p:nvPr/>
        </p:nvSpPr>
        <p:spPr>
          <a:xfrm>
            <a:off x="7009482" y="2363388"/>
            <a:ext cx="114300" cy="481965"/>
          </a:xfrm>
          <a:custGeom>
            <a:avLst/>
            <a:gdLst/>
            <a:ahLst/>
            <a:cxnLst/>
            <a:rect l="l" t="t" r="r" b="b"/>
            <a:pathLst>
              <a:path w="114300" h="481964">
                <a:moveTo>
                  <a:pt x="7365"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1" name="object 88">
            <a:extLst>
              <a:ext uri="{FF2B5EF4-FFF2-40B4-BE49-F238E27FC236}">
                <a16:creationId xmlns:a16="http://schemas.microsoft.com/office/drawing/2014/main" id="{B4D40DD6-471A-4627-9E08-134BDB51D0C4}"/>
              </a:ext>
            </a:extLst>
          </p:cNvPr>
          <p:cNvSpPr/>
          <p:nvPr/>
        </p:nvSpPr>
        <p:spPr>
          <a:xfrm>
            <a:off x="7078061" y="2363388"/>
            <a:ext cx="114300" cy="481965"/>
          </a:xfrm>
          <a:custGeom>
            <a:avLst/>
            <a:gdLst/>
            <a:ahLst/>
            <a:cxnLst/>
            <a:rect l="l" t="t" r="r" b="b"/>
            <a:pathLst>
              <a:path w="114300" h="481964">
                <a:moveTo>
                  <a:pt x="7365"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2" name="object 89">
            <a:extLst>
              <a:ext uri="{FF2B5EF4-FFF2-40B4-BE49-F238E27FC236}">
                <a16:creationId xmlns:a16="http://schemas.microsoft.com/office/drawing/2014/main" id="{0237FD73-2A70-4BF9-B6D2-232E6A6F1C0E}"/>
              </a:ext>
            </a:extLst>
          </p:cNvPr>
          <p:cNvSpPr/>
          <p:nvPr/>
        </p:nvSpPr>
        <p:spPr>
          <a:xfrm>
            <a:off x="7625939" y="2304714"/>
            <a:ext cx="487680" cy="607060"/>
          </a:xfrm>
          <a:custGeom>
            <a:avLst/>
            <a:gdLst/>
            <a:ahLst/>
            <a:cxnLst/>
            <a:rect l="l" t="t" r="r" b="b"/>
            <a:pathLst>
              <a:path w="487680" h="607060">
                <a:moveTo>
                  <a:pt x="0" y="606551"/>
                </a:moveTo>
                <a:lnTo>
                  <a:pt x="487680" y="606551"/>
                </a:lnTo>
                <a:lnTo>
                  <a:pt x="487680" y="0"/>
                </a:lnTo>
                <a:lnTo>
                  <a:pt x="0" y="0"/>
                </a:lnTo>
                <a:lnTo>
                  <a:pt x="0" y="606551"/>
                </a:lnTo>
                <a:close/>
              </a:path>
            </a:pathLst>
          </a:custGeom>
          <a:solidFill>
            <a:srgbClr val="FFCC66"/>
          </a:solidFill>
        </p:spPr>
        <p:txBody>
          <a:bodyPr wrap="square" lIns="0" tIns="0" rIns="0" bIns="0" rtlCol="0"/>
          <a:lstStyle/>
          <a:p>
            <a:endParaRPr/>
          </a:p>
        </p:txBody>
      </p:sp>
      <p:sp>
        <p:nvSpPr>
          <p:cNvPr id="113" name="object 90">
            <a:extLst>
              <a:ext uri="{FF2B5EF4-FFF2-40B4-BE49-F238E27FC236}">
                <a16:creationId xmlns:a16="http://schemas.microsoft.com/office/drawing/2014/main" id="{8DECB86F-5811-422C-A0B9-1140C7497A28}"/>
              </a:ext>
            </a:extLst>
          </p:cNvPr>
          <p:cNvSpPr/>
          <p:nvPr/>
        </p:nvSpPr>
        <p:spPr>
          <a:xfrm>
            <a:off x="7625939" y="2304714"/>
            <a:ext cx="487680" cy="607060"/>
          </a:xfrm>
          <a:custGeom>
            <a:avLst/>
            <a:gdLst/>
            <a:ahLst/>
            <a:cxnLst/>
            <a:rect l="l" t="t" r="r" b="b"/>
            <a:pathLst>
              <a:path w="487680" h="607060">
                <a:moveTo>
                  <a:pt x="0" y="606551"/>
                </a:moveTo>
                <a:lnTo>
                  <a:pt x="487680" y="606551"/>
                </a:lnTo>
                <a:lnTo>
                  <a:pt x="487680" y="0"/>
                </a:lnTo>
                <a:lnTo>
                  <a:pt x="0" y="0"/>
                </a:lnTo>
                <a:lnTo>
                  <a:pt x="0" y="606551"/>
                </a:lnTo>
                <a:close/>
              </a:path>
            </a:pathLst>
          </a:custGeom>
          <a:ln w="12700">
            <a:solidFill>
              <a:srgbClr val="000000"/>
            </a:solidFill>
          </a:ln>
        </p:spPr>
        <p:txBody>
          <a:bodyPr wrap="square" lIns="0" tIns="0" rIns="0" bIns="0" rtlCol="0"/>
          <a:lstStyle/>
          <a:p>
            <a:endParaRPr/>
          </a:p>
        </p:txBody>
      </p:sp>
      <p:sp>
        <p:nvSpPr>
          <p:cNvPr id="114" name="object 91">
            <a:extLst>
              <a:ext uri="{FF2B5EF4-FFF2-40B4-BE49-F238E27FC236}">
                <a16:creationId xmlns:a16="http://schemas.microsoft.com/office/drawing/2014/main" id="{D6FD7891-2AE7-4C24-B153-FBBD8C4DED74}"/>
              </a:ext>
            </a:extLst>
          </p:cNvPr>
          <p:cNvSpPr/>
          <p:nvPr/>
        </p:nvSpPr>
        <p:spPr>
          <a:xfrm>
            <a:off x="7672421" y="2363388"/>
            <a:ext cx="114300" cy="481965"/>
          </a:xfrm>
          <a:custGeom>
            <a:avLst/>
            <a:gdLst/>
            <a:ahLst/>
            <a:cxnLst/>
            <a:rect l="l" t="t" r="r" b="b"/>
            <a:pathLst>
              <a:path w="114300" h="481964">
                <a:moveTo>
                  <a:pt x="7366"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5" name="object 92">
            <a:extLst>
              <a:ext uri="{FF2B5EF4-FFF2-40B4-BE49-F238E27FC236}">
                <a16:creationId xmlns:a16="http://schemas.microsoft.com/office/drawing/2014/main" id="{6D443629-6372-4402-B3C7-9CDF69AC8491}"/>
              </a:ext>
            </a:extLst>
          </p:cNvPr>
          <p:cNvSpPr/>
          <p:nvPr/>
        </p:nvSpPr>
        <p:spPr>
          <a:xfrm>
            <a:off x="7741001" y="2363388"/>
            <a:ext cx="114300" cy="481965"/>
          </a:xfrm>
          <a:custGeom>
            <a:avLst/>
            <a:gdLst/>
            <a:ahLst/>
            <a:cxnLst/>
            <a:rect l="l" t="t" r="r" b="b"/>
            <a:pathLst>
              <a:path w="114300" h="481964">
                <a:moveTo>
                  <a:pt x="7366"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6" name="object 93">
            <a:extLst>
              <a:ext uri="{FF2B5EF4-FFF2-40B4-BE49-F238E27FC236}">
                <a16:creationId xmlns:a16="http://schemas.microsoft.com/office/drawing/2014/main" id="{D589666D-8222-4778-9693-86D2A2FE137D}"/>
              </a:ext>
            </a:extLst>
          </p:cNvPr>
          <p:cNvSpPr/>
          <p:nvPr/>
        </p:nvSpPr>
        <p:spPr>
          <a:xfrm>
            <a:off x="7809582" y="2363388"/>
            <a:ext cx="114300" cy="481965"/>
          </a:xfrm>
          <a:custGeom>
            <a:avLst/>
            <a:gdLst/>
            <a:ahLst/>
            <a:cxnLst/>
            <a:rect l="l" t="t" r="r" b="b"/>
            <a:pathLst>
              <a:path w="114300" h="481964">
                <a:moveTo>
                  <a:pt x="7366"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7" name="object 94">
            <a:extLst>
              <a:ext uri="{FF2B5EF4-FFF2-40B4-BE49-F238E27FC236}">
                <a16:creationId xmlns:a16="http://schemas.microsoft.com/office/drawing/2014/main" id="{1D3AA40A-585C-4D8A-8483-EE563CC76A91}"/>
              </a:ext>
            </a:extLst>
          </p:cNvPr>
          <p:cNvSpPr/>
          <p:nvPr/>
        </p:nvSpPr>
        <p:spPr>
          <a:xfrm>
            <a:off x="7878161" y="2363388"/>
            <a:ext cx="114300" cy="481965"/>
          </a:xfrm>
          <a:custGeom>
            <a:avLst/>
            <a:gdLst/>
            <a:ahLst/>
            <a:cxnLst/>
            <a:rect l="l" t="t" r="r" b="b"/>
            <a:pathLst>
              <a:path w="114300" h="481964">
                <a:moveTo>
                  <a:pt x="7365"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8" name="object 95">
            <a:extLst>
              <a:ext uri="{FF2B5EF4-FFF2-40B4-BE49-F238E27FC236}">
                <a16:creationId xmlns:a16="http://schemas.microsoft.com/office/drawing/2014/main" id="{7BF62EF6-5400-48CA-95E9-F7A2680D4C2E}"/>
              </a:ext>
            </a:extLst>
          </p:cNvPr>
          <p:cNvSpPr/>
          <p:nvPr/>
        </p:nvSpPr>
        <p:spPr>
          <a:xfrm>
            <a:off x="7946742" y="2363388"/>
            <a:ext cx="114300" cy="481965"/>
          </a:xfrm>
          <a:custGeom>
            <a:avLst/>
            <a:gdLst/>
            <a:ahLst/>
            <a:cxnLst/>
            <a:rect l="l" t="t" r="r" b="b"/>
            <a:pathLst>
              <a:path w="114300" h="481964">
                <a:moveTo>
                  <a:pt x="7365" y="0"/>
                </a:moveTo>
                <a:lnTo>
                  <a:pt x="47077" y="36937"/>
                </a:lnTo>
                <a:lnTo>
                  <a:pt x="81597" y="73998"/>
                </a:lnTo>
                <a:lnTo>
                  <a:pt x="105735" y="111308"/>
                </a:lnTo>
                <a:lnTo>
                  <a:pt x="114300" y="148996"/>
                </a:lnTo>
                <a:lnTo>
                  <a:pt x="101925" y="179133"/>
                </a:lnTo>
                <a:lnTo>
                  <a:pt x="73517" y="209186"/>
                </a:lnTo>
                <a:lnTo>
                  <a:pt x="39867" y="239603"/>
                </a:lnTo>
                <a:lnTo>
                  <a:pt x="11765" y="270830"/>
                </a:lnTo>
                <a:lnTo>
                  <a:pt x="0" y="303314"/>
                </a:lnTo>
                <a:lnTo>
                  <a:pt x="9822" y="345892"/>
                </a:lnTo>
                <a:lnTo>
                  <a:pt x="35718" y="390124"/>
                </a:lnTo>
                <a:lnTo>
                  <a:pt x="72330" y="435519"/>
                </a:lnTo>
                <a:lnTo>
                  <a:pt x="114300" y="481583"/>
                </a:lnTo>
              </a:path>
            </a:pathLst>
          </a:custGeom>
          <a:ln w="25400">
            <a:solidFill>
              <a:srgbClr val="000000"/>
            </a:solidFill>
          </a:ln>
        </p:spPr>
        <p:txBody>
          <a:bodyPr wrap="square" lIns="0" tIns="0" rIns="0" bIns="0" rtlCol="0"/>
          <a:lstStyle/>
          <a:p>
            <a:endParaRPr/>
          </a:p>
        </p:txBody>
      </p:sp>
      <p:sp>
        <p:nvSpPr>
          <p:cNvPr id="119" name="object 96">
            <a:extLst>
              <a:ext uri="{FF2B5EF4-FFF2-40B4-BE49-F238E27FC236}">
                <a16:creationId xmlns:a16="http://schemas.microsoft.com/office/drawing/2014/main" id="{C494DB74-2E16-460D-916E-57A914C67146}"/>
              </a:ext>
            </a:extLst>
          </p:cNvPr>
          <p:cNvSpPr txBox="1"/>
          <p:nvPr/>
        </p:nvSpPr>
        <p:spPr>
          <a:xfrm>
            <a:off x="6239862" y="2408142"/>
            <a:ext cx="1974342" cy="299720"/>
          </a:xfrm>
          <a:prstGeom prst="rect">
            <a:avLst/>
          </a:prstGeom>
        </p:spPr>
        <p:txBody>
          <a:bodyPr vert="horz" wrap="square" lIns="0" tIns="12700" rIns="0" bIns="0" rtlCol="0">
            <a:spAutoFit/>
          </a:bodyPr>
          <a:lstStyle/>
          <a:p>
            <a:pPr marL="378460" algn="ctr">
              <a:lnSpc>
                <a:spcPct val="100000"/>
              </a:lnSpc>
              <a:spcBef>
                <a:spcPts val="100"/>
              </a:spcBef>
            </a:pPr>
            <a:r>
              <a:rPr sz="1800" b="1" dirty="0">
                <a:latin typeface="Arial" panose="020B0604020202020204"/>
                <a:cs typeface="Arial" panose="020B0604020202020204"/>
              </a:rPr>
              <a:t>...</a:t>
            </a:r>
            <a:endParaRPr sz="1800" dirty="0">
              <a:latin typeface="Arial" panose="020B0604020202020204"/>
              <a:cs typeface="Arial" panose="020B0604020202020204"/>
            </a:endParaRPr>
          </a:p>
        </p:txBody>
      </p:sp>
      <p:cxnSp>
        <p:nvCxnSpPr>
          <p:cNvPr id="8" name="直接连接符 7">
            <a:extLst>
              <a:ext uri="{FF2B5EF4-FFF2-40B4-BE49-F238E27FC236}">
                <a16:creationId xmlns:a16="http://schemas.microsoft.com/office/drawing/2014/main" id="{E972E9B5-841E-4DDE-95F5-F4F7BDFB5EE7}"/>
              </a:ext>
            </a:extLst>
          </p:cNvPr>
          <p:cNvCxnSpPr>
            <a:cxnSpLocks/>
          </p:cNvCxnSpPr>
          <p:nvPr/>
        </p:nvCxnSpPr>
        <p:spPr bwMode="auto">
          <a:xfrm>
            <a:off x="4241390" y="871097"/>
            <a:ext cx="41410" cy="5605903"/>
          </a:xfrm>
          <a:prstGeom prst="line">
            <a:avLst/>
          </a:prstGeom>
          <a:solidFill>
            <a:srgbClr val="C0C0C0"/>
          </a:solidFill>
          <a:ln w="9525" cap="flat" cmpd="sng" algn="ctr">
            <a:solidFill>
              <a:schemeClr val="tx1"/>
            </a:solidFill>
            <a:prstDash val="sysDash"/>
            <a:round/>
            <a:headEnd type="none" w="med" len="med"/>
            <a:tailEnd type="none" w="med" len="med"/>
          </a:ln>
          <a:effectLst/>
        </p:spPr>
      </p:cxnSp>
      <p:sp>
        <p:nvSpPr>
          <p:cNvPr id="120" name="矩形 119">
            <a:extLst>
              <a:ext uri="{FF2B5EF4-FFF2-40B4-BE49-F238E27FC236}">
                <a16:creationId xmlns:a16="http://schemas.microsoft.com/office/drawing/2014/main" id="{12E749ED-1112-4AF5-B15C-0182DF510EBA}"/>
              </a:ext>
            </a:extLst>
          </p:cNvPr>
          <p:cNvSpPr/>
          <p:nvPr/>
        </p:nvSpPr>
        <p:spPr>
          <a:xfrm>
            <a:off x="5184493" y="4647767"/>
            <a:ext cx="816377" cy="400110"/>
          </a:xfrm>
          <a:prstGeom prst="rect">
            <a:avLst/>
          </a:prstGeom>
        </p:spPr>
        <p:txBody>
          <a:bodyPr wrap="none">
            <a:spAutoFit/>
          </a:bodyPr>
          <a:lstStyle/>
          <a:p>
            <a:r>
              <a:rPr lang="en-US" altLang="zh-CN" sz="2000" b="1" dirty="0">
                <a:solidFill>
                  <a:srgbClr val="DA9100"/>
                </a:solidFill>
              </a:rPr>
              <a:t>Warp</a:t>
            </a:r>
            <a:endParaRPr lang="zh-CN" altLang="en-US" sz="2000" b="1" dirty="0">
              <a:solidFill>
                <a:srgbClr val="DA9100"/>
              </a:solidFill>
            </a:endParaRPr>
          </a:p>
        </p:txBody>
      </p:sp>
      <p:grpSp>
        <p:nvGrpSpPr>
          <p:cNvPr id="3" name="组合 2">
            <a:extLst>
              <a:ext uri="{FF2B5EF4-FFF2-40B4-BE49-F238E27FC236}">
                <a16:creationId xmlns:a16="http://schemas.microsoft.com/office/drawing/2014/main" id="{F29CEE09-9FAE-418F-93D4-2F0E45A07DF2}"/>
              </a:ext>
            </a:extLst>
          </p:cNvPr>
          <p:cNvGrpSpPr/>
          <p:nvPr/>
        </p:nvGrpSpPr>
        <p:grpSpPr>
          <a:xfrm>
            <a:off x="-76200" y="4831625"/>
            <a:ext cx="2776057" cy="369332"/>
            <a:chOff x="-76200" y="4831625"/>
            <a:chExt cx="2776057" cy="369332"/>
          </a:xfrm>
        </p:grpSpPr>
        <p:sp>
          <p:nvSpPr>
            <p:cNvPr id="121" name="矩形 120">
              <a:extLst>
                <a:ext uri="{FF2B5EF4-FFF2-40B4-BE49-F238E27FC236}">
                  <a16:creationId xmlns:a16="http://schemas.microsoft.com/office/drawing/2014/main" id="{C5061386-5A84-409B-B659-9BF83F6791F4}"/>
                </a:ext>
              </a:extLst>
            </p:cNvPr>
            <p:cNvSpPr/>
            <p:nvPr/>
          </p:nvSpPr>
          <p:spPr>
            <a:xfrm>
              <a:off x="-76200" y="4831625"/>
              <a:ext cx="1676400" cy="369332"/>
            </a:xfrm>
            <a:prstGeom prst="rect">
              <a:avLst/>
            </a:prstGeom>
          </p:spPr>
          <p:txBody>
            <a:bodyPr wrap="square">
              <a:spAutoFit/>
            </a:bodyPr>
            <a:lstStyle/>
            <a:p>
              <a:pPr algn="ctr"/>
              <a:r>
                <a:rPr lang="en-US" altLang="zh-CN" b="1" dirty="0">
                  <a:solidFill>
                    <a:srgbClr val="0432FF"/>
                  </a:solidFill>
                  <a:latin typeface="Arial Narrow" panose="020B0606020202030204" pitchFamily="34" charset="0"/>
                </a:rPr>
                <a:t>SIMT</a:t>
              </a:r>
              <a:endParaRPr lang="zh-CN" altLang="en-US" b="1" dirty="0">
                <a:solidFill>
                  <a:srgbClr val="0432FF"/>
                </a:solidFill>
                <a:latin typeface="Arial Narrow" panose="020B0606020202030204" pitchFamily="34" charset="0"/>
              </a:endParaRPr>
            </a:p>
          </p:txBody>
        </p:sp>
        <p:sp>
          <p:nvSpPr>
            <p:cNvPr id="122" name="object 3">
              <a:extLst>
                <a:ext uri="{FF2B5EF4-FFF2-40B4-BE49-F238E27FC236}">
                  <a16:creationId xmlns:a16="http://schemas.microsoft.com/office/drawing/2014/main" id="{B81E96BF-A22E-4C09-A731-A1FC3DEDCF9F}"/>
                </a:ext>
              </a:extLst>
            </p:cNvPr>
            <p:cNvSpPr/>
            <p:nvPr/>
          </p:nvSpPr>
          <p:spPr>
            <a:xfrm>
              <a:off x="2005485" y="4913767"/>
              <a:ext cx="315595" cy="169545"/>
            </a:xfrm>
            <a:custGeom>
              <a:avLst/>
              <a:gdLst/>
              <a:ahLst/>
              <a:cxnLst/>
              <a:rect l="l" t="t" r="r" b="b"/>
              <a:pathLst>
                <a:path w="315595" h="169544">
                  <a:moveTo>
                    <a:pt x="0" y="169163"/>
                  </a:moveTo>
                  <a:lnTo>
                    <a:pt x="315467" y="169163"/>
                  </a:lnTo>
                  <a:lnTo>
                    <a:pt x="315467" y="0"/>
                  </a:lnTo>
                  <a:lnTo>
                    <a:pt x="0" y="0"/>
                  </a:lnTo>
                  <a:lnTo>
                    <a:pt x="0" y="169163"/>
                  </a:lnTo>
                  <a:close/>
                </a:path>
              </a:pathLst>
            </a:custGeom>
            <a:solidFill>
              <a:srgbClr val="FD7E00"/>
            </a:solidFill>
          </p:spPr>
          <p:txBody>
            <a:bodyPr wrap="square" lIns="0" tIns="0" rIns="0" bIns="0" rtlCol="0"/>
            <a:lstStyle/>
            <a:p>
              <a:endParaRPr/>
            </a:p>
          </p:txBody>
        </p:sp>
        <p:sp>
          <p:nvSpPr>
            <p:cNvPr id="123" name="object 3">
              <a:extLst>
                <a:ext uri="{FF2B5EF4-FFF2-40B4-BE49-F238E27FC236}">
                  <a16:creationId xmlns:a16="http://schemas.microsoft.com/office/drawing/2014/main" id="{25790E0A-DE97-4020-8369-F83A07020E5C}"/>
                </a:ext>
              </a:extLst>
            </p:cNvPr>
            <p:cNvSpPr/>
            <p:nvPr/>
          </p:nvSpPr>
          <p:spPr>
            <a:xfrm>
              <a:off x="2384262" y="4913767"/>
              <a:ext cx="315595" cy="169545"/>
            </a:xfrm>
            <a:custGeom>
              <a:avLst/>
              <a:gdLst/>
              <a:ahLst/>
              <a:cxnLst/>
              <a:rect l="l" t="t" r="r" b="b"/>
              <a:pathLst>
                <a:path w="315595" h="169544">
                  <a:moveTo>
                    <a:pt x="0" y="169163"/>
                  </a:moveTo>
                  <a:lnTo>
                    <a:pt x="315467" y="169163"/>
                  </a:lnTo>
                  <a:lnTo>
                    <a:pt x="315467" y="0"/>
                  </a:lnTo>
                  <a:lnTo>
                    <a:pt x="0" y="0"/>
                  </a:lnTo>
                  <a:lnTo>
                    <a:pt x="0" y="169163"/>
                  </a:lnTo>
                  <a:close/>
                </a:path>
              </a:pathLst>
            </a:custGeom>
            <a:solidFill>
              <a:srgbClr val="FD7E00"/>
            </a:solidFill>
          </p:spPr>
          <p:txBody>
            <a:bodyPr wrap="square" lIns="0" tIns="0" rIns="0" bIns="0" rtlCol="0"/>
            <a:lstStyle/>
            <a:p>
              <a:endParaRPr/>
            </a:p>
          </p:txBody>
        </p:sp>
      </p:grpSp>
    </p:spTree>
    <p:extLst>
      <p:ext uri="{BB962C8B-B14F-4D97-AF65-F5344CB8AC3E}">
        <p14:creationId xmlns:p14="http://schemas.microsoft.com/office/powerpoint/2010/main" val="325211672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a:extLst>
              <a:ext uri="{FF2B5EF4-FFF2-40B4-BE49-F238E27FC236}">
                <a16:creationId xmlns:a16="http://schemas.microsoft.com/office/drawing/2014/main" id="{496F139F-4B1F-7440-BF44-9F5527C583B9}"/>
              </a:ext>
            </a:extLst>
          </p:cNvPr>
          <p:cNvSpPr>
            <a:spLocks noGrp="1"/>
          </p:cNvSpPr>
          <p:nvPr>
            <p:ph type="title"/>
          </p:nvPr>
        </p:nvSpPr>
        <p:spPr>
          <a:xfrm>
            <a:off x="76200" y="152400"/>
            <a:ext cx="9067800" cy="1066800"/>
          </a:xfrm>
        </p:spPr>
        <p:txBody>
          <a:bodyPr/>
          <a:lstStyle/>
          <a:p>
            <a:r>
              <a:rPr lang="en-US" altLang="en-US" dirty="0">
                <a:ea typeface="ＭＳ Ｐゴシック" panose="020B0600070205080204" pitchFamily="34" charset="-128"/>
              </a:rPr>
              <a:t>Recall: SIMT (Hardware) &amp; Warp (Software)</a:t>
            </a:r>
          </a:p>
        </p:txBody>
      </p:sp>
      <p:sp>
        <p:nvSpPr>
          <p:cNvPr id="3" name="Content Placeholder 2">
            <a:extLst>
              <a:ext uri="{FF2B5EF4-FFF2-40B4-BE49-F238E27FC236}">
                <a16:creationId xmlns:a16="http://schemas.microsoft.com/office/drawing/2014/main" id="{B49E60D0-4593-E84E-9150-58D7388CB143}"/>
              </a:ext>
            </a:extLst>
          </p:cNvPr>
          <p:cNvSpPr>
            <a:spLocks noGrp="1"/>
          </p:cNvSpPr>
          <p:nvPr>
            <p:ph idx="1"/>
          </p:nvPr>
        </p:nvSpPr>
        <p:spPr>
          <a:xfrm>
            <a:off x="152400" y="1143000"/>
            <a:ext cx="8915400" cy="1460500"/>
          </a:xfrm>
        </p:spPr>
        <p:txBody>
          <a:bodyPr/>
          <a:lstStyle/>
          <a:p>
            <a:r>
              <a:rPr lang="en-US" altLang="en-US" b="1" dirty="0">
                <a:ea typeface="ＭＳ Ｐゴシック" panose="020B0600070205080204" pitchFamily="34" charset="-128"/>
              </a:rPr>
              <a:t>SIMT</a:t>
            </a:r>
            <a:r>
              <a:rPr lang="en-US" altLang="en-US" dirty="0">
                <a:ea typeface="ＭＳ Ｐゴシック" panose="020B0600070205080204" pitchFamily="34" charset="-128"/>
              </a:rPr>
              <a:t>: </a:t>
            </a:r>
            <a:r>
              <a:rPr lang="en-US" altLang="en-US" b="1" dirty="0">
                <a:ea typeface="ＭＳ Ｐゴシック" panose="020B0600070205080204" pitchFamily="34" charset="-128"/>
              </a:rPr>
              <a:t>S</a:t>
            </a:r>
            <a:r>
              <a:rPr lang="en-US" altLang="en-US" dirty="0">
                <a:ea typeface="ＭＳ Ｐゴシック" panose="020B0600070205080204" pitchFamily="34" charset="-128"/>
              </a:rPr>
              <a:t>ingle </a:t>
            </a:r>
            <a:r>
              <a:rPr lang="en-US" altLang="en-US" b="1" dirty="0">
                <a:ea typeface="ＭＳ Ｐゴシック" panose="020B0600070205080204" pitchFamily="34" charset="-128"/>
              </a:rPr>
              <a:t>I</a:t>
            </a:r>
            <a:r>
              <a:rPr lang="en-US" altLang="en-US" dirty="0">
                <a:ea typeface="ＭＳ Ｐゴシック" panose="020B0600070205080204" pitchFamily="34" charset="-128"/>
              </a:rPr>
              <a:t>nstruction </a:t>
            </a:r>
            <a:r>
              <a:rPr lang="en-US" altLang="en-US" b="1" dirty="0">
                <a:ea typeface="ＭＳ Ｐゴシック" panose="020B0600070205080204" pitchFamily="34" charset="-128"/>
              </a:rPr>
              <a:t>M</a:t>
            </a:r>
            <a:r>
              <a:rPr lang="en-US" altLang="en-US" dirty="0">
                <a:ea typeface="ＭＳ Ｐゴシック" panose="020B0600070205080204" pitchFamily="34" charset="-128"/>
              </a:rPr>
              <a:t>ultiple </a:t>
            </a:r>
            <a:r>
              <a:rPr lang="en-US" altLang="en-US" b="1" dirty="0">
                <a:ea typeface="ＭＳ Ｐゴシック" panose="020B0600070205080204" pitchFamily="34" charset="-128"/>
              </a:rPr>
              <a:t>T</a:t>
            </a:r>
            <a:r>
              <a:rPr lang="en-US" altLang="en-US" dirty="0">
                <a:ea typeface="ＭＳ Ｐゴシック" panose="020B0600070205080204" pitchFamily="34" charset="-128"/>
              </a:rPr>
              <a:t>hread </a:t>
            </a:r>
          </a:p>
          <a:p>
            <a:pPr lvl="1"/>
            <a:r>
              <a:rPr lang="en-US" altLang="en-US" dirty="0">
                <a:ea typeface="ＭＳ Ｐゴシック" panose="020B0600070205080204" pitchFamily="34" charset="-128"/>
              </a:rPr>
              <a:t>More precisely, SIMD (Single Instruction Multiple Data)</a:t>
            </a:r>
          </a:p>
          <a:p>
            <a:pPr lvl="1"/>
            <a:r>
              <a:rPr lang="en-US" altLang="en-US" dirty="0">
                <a:ea typeface="ＭＳ Ｐゴシック" panose="020B0600070205080204" pitchFamily="34" charset="-128"/>
              </a:rPr>
              <a:t>Key </a:t>
            </a:r>
            <a:r>
              <a:rPr lang="en-US" altLang="zh-CN" dirty="0">
                <a:ea typeface="ＭＳ Ｐゴシック" panose="020B0600070205080204" pitchFamily="34" charset="-128"/>
              </a:rPr>
              <a:t>Feature:</a:t>
            </a:r>
            <a:r>
              <a:rPr lang="en-US" altLang="en-US" dirty="0">
                <a:ea typeface="ＭＳ Ｐゴシック" panose="020B0600070205080204" pitchFamily="34" charset="-128"/>
              </a:rPr>
              <a:t> 16 CUDA cores in a SM are executed in a lock step.</a:t>
            </a:r>
          </a:p>
        </p:txBody>
      </p:sp>
      <p:sp>
        <p:nvSpPr>
          <p:cNvPr id="72707" name="Slide Number Placeholder 3">
            <a:extLst>
              <a:ext uri="{FF2B5EF4-FFF2-40B4-BE49-F238E27FC236}">
                <a16:creationId xmlns:a16="http://schemas.microsoft.com/office/drawing/2014/main" id="{0E7497B5-BA99-404C-881D-DB93748FEDDF}"/>
              </a:ext>
            </a:extLst>
          </p:cNvPr>
          <p:cNvSpPr>
            <a:spLocks noGrp="1"/>
          </p:cNvSpPr>
          <p:nvPr>
            <p:ph type="sldNum" sz="quarter" idx="11"/>
          </p:nvPr>
        </p:nvSpPr>
        <p:spPr>
          <a:xfrm>
            <a:off x="8153400" y="6295097"/>
            <a:ext cx="70678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4D78FAF-7832-A14D-AAFE-1F85877C7D6D}"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5" name="Content Placeholder 2">
            <a:extLst>
              <a:ext uri="{FF2B5EF4-FFF2-40B4-BE49-F238E27FC236}">
                <a16:creationId xmlns:a16="http://schemas.microsoft.com/office/drawing/2014/main" id="{3668214A-F5BF-4A3F-9FA3-4ED8CC1463D1}"/>
              </a:ext>
            </a:extLst>
          </p:cNvPr>
          <p:cNvSpPr txBox="1">
            <a:spLocks/>
          </p:cNvSpPr>
          <p:nvPr/>
        </p:nvSpPr>
        <p:spPr bwMode="auto">
          <a:xfrm>
            <a:off x="132864" y="2765549"/>
            <a:ext cx="9011136"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a:lstStyle>
          <a:p>
            <a:r>
              <a:rPr lang="en-US" altLang="en-US" b="1" kern="0" dirty="0">
                <a:ea typeface="ＭＳ Ｐゴシック" panose="020B0600070205080204" pitchFamily="34" charset="-128"/>
              </a:rPr>
              <a:t>Warp:</a:t>
            </a:r>
            <a:endParaRPr lang="en-US" altLang="en-US" kern="0" dirty="0">
              <a:ea typeface="ＭＳ Ｐゴシック" panose="020B0600070205080204" pitchFamily="34" charset="-128"/>
            </a:endParaRPr>
          </a:p>
          <a:p>
            <a:pPr lvl="1"/>
            <a:r>
              <a:rPr lang="en-US" altLang="en-US" kern="0" dirty="0">
                <a:ea typeface="ＭＳ Ｐゴシック" panose="020B0600070205080204" pitchFamily="34" charset="-128"/>
              </a:rPr>
              <a:t>A warp, a basic execution unit, consists of 32 consecutive threads </a:t>
            </a:r>
          </a:p>
          <a:p>
            <a:pPr lvl="1"/>
            <a:r>
              <a:rPr lang="en-US" altLang="en-US" kern="0" dirty="0">
                <a:ea typeface="ＭＳ Ｐゴシック" panose="020B0600070205080204" pitchFamily="34" charset="-128"/>
              </a:rPr>
              <a:t>A thread block is divided into warps for SIMT execution. </a:t>
            </a:r>
          </a:p>
          <a:p>
            <a:pPr lvl="1"/>
            <a:endParaRPr lang="en-US" altLang="en-US" sz="2000" kern="0" dirty="0">
              <a:ea typeface="ＭＳ Ｐゴシック" panose="020B0600070205080204" pitchFamily="34" charset="-128"/>
            </a:endParaRPr>
          </a:p>
        </p:txBody>
      </p:sp>
      <p:sp>
        <p:nvSpPr>
          <p:cNvPr id="6" name="Rectangle 73">
            <a:extLst>
              <a:ext uri="{FF2B5EF4-FFF2-40B4-BE49-F238E27FC236}">
                <a16:creationId xmlns:a16="http://schemas.microsoft.com/office/drawing/2014/main" id="{2A470DC0-72DA-4DB6-885A-027881BBCCE8}"/>
              </a:ext>
            </a:extLst>
          </p:cNvPr>
          <p:cNvSpPr>
            <a:spLocks noChangeArrowheads="1"/>
          </p:cNvSpPr>
          <p:nvPr/>
        </p:nvSpPr>
        <p:spPr bwMode="auto">
          <a:xfrm>
            <a:off x="2140437" y="4596998"/>
            <a:ext cx="1093787" cy="1057275"/>
          </a:xfrm>
          <a:prstGeom prst="rect">
            <a:avLst/>
          </a:prstGeom>
          <a:solidFill>
            <a:schemeClr val="bg1"/>
          </a:solidFill>
          <a:ln w="25400">
            <a:solidFill>
              <a:srgbClr val="00CC00"/>
            </a:solidFill>
            <a:miter lim="800000"/>
            <a:headEnd/>
            <a:tailEnd/>
          </a:ln>
          <a:effectLst/>
        </p:spPr>
        <p:txBody>
          <a:bodyPr wrap="none" anchor="ctr">
            <a:prstTxWarp prst="textNoShape">
              <a:avLst/>
            </a:prstTxWarp>
          </a:bodyPr>
          <a:lstStyle/>
          <a:p>
            <a:endParaRPr lang="es-ES_tradnl"/>
          </a:p>
        </p:txBody>
      </p:sp>
      <p:sp>
        <p:nvSpPr>
          <p:cNvPr id="7" name="Rectangle 74">
            <a:extLst>
              <a:ext uri="{FF2B5EF4-FFF2-40B4-BE49-F238E27FC236}">
                <a16:creationId xmlns:a16="http://schemas.microsoft.com/office/drawing/2014/main" id="{0D9235E8-ED3C-4955-AAB8-9DF7BF319833}"/>
              </a:ext>
            </a:extLst>
          </p:cNvPr>
          <p:cNvSpPr>
            <a:spLocks noChangeArrowheads="1"/>
          </p:cNvSpPr>
          <p:nvPr/>
        </p:nvSpPr>
        <p:spPr bwMode="auto">
          <a:xfrm>
            <a:off x="2292837" y="4749398"/>
            <a:ext cx="1093787" cy="1057275"/>
          </a:xfrm>
          <a:prstGeom prst="rect">
            <a:avLst/>
          </a:prstGeom>
          <a:solidFill>
            <a:schemeClr val="bg1"/>
          </a:solidFill>
          <a:ln w="25400">
            <a:solidFill>
              <a:srgbClr val="00CC00"/>
            </a:solidFill>
            <a:miter lim="800000"/>
            <a:headEnd/>
            <a:tailEnd/>
          </a:ln>
          <a:effectLst/>
        </p:spPr>
        <p:txBody>
          <a:bodyPr wrap="none" anchor="ctr">
            <a:prstTxWarp prst="textNoShape">
              <a:avLst/>
            </a:prstTxWarp>
          </a:bodyPr>
          <a:lstStyle/>
          <a:p>
            <a:pPr algn="ctr"/>
            <a:r>
              <a:rPr lang="en-US" altLang="zh-TW">
                <a:ea typeface="新細明體" pitchFamily="16" charset="-128"/>
                <a:cs typeface="Arial" pitchFamily="-111" charset="0"/>
              </a:rPr>
              <a:t>…</a:t>
            </a:r>
          </a:p>
        </p:txBody>
      </p:sp>
      <p:grpSp>
        <p:nvGrpSpPr>
          <p:cNvPr id="8" name="Group 75">
            <a:extLst>
              <a:ext uri="{FF2B5EF4-FFF2-40B4-BE49-F238E27FC236}">
                <a16:creationId xmlns:a16="http://schemas.microsoft.com/office/drawing/2014/main" id="{E245EBEB-DA25-4016-9482-A0A63C9D3F8D}"/>
              </a:ext>
            </a:extLst>
          </p:cNvPr>
          <p:cNvGrpSpPr>
            <a:grpSpLocks/>
          </p:cNvGrpSpPr>
          <p:nvPr/>
        </p:nvGrpSpPr>
        <p:grpSpPr bwMode="auto">
          <a:xfrm>
            <a:off x="2519849" y="4977998"/>
            <a:ext cx="1066800" cy="1022350"/>
            <a:chOff x="568" y="2568"/>
            <a:chExt cx="1219" cy="1480"/>
          </a:xfrm>
        </p:grpSpPr>
        <p:sp>
          <p:nvSpPr>
            <p:cNvPr id="9" name="Text Box 76">
              <a:extLst>
                <a:ext uri="{FF2B5EF4-FFF2-40B4-BE49-F238E27FC236}">
                  <a16:creationId xmlns:a16="http://schemas.microsoft.com/office/drawing/2014/main" id="{F00C6BE0-A503-45F9-9226-434E9FB18410}"/>
                </a:ext>
              </a:extLst>
            </p:cNvPr>
            <p:cNvSpPr txBox="1">
              <a:spLocks noChangeArrowheads="1"/>
            </p:cNvSpPr>
            <p:nvPr/>
          </p:nvSpPr>
          <p:spPr bwMode="auto">
            <a:xfrm>
              <a:off x="568" y="2568"/>
              <a:ext cx="1219" cy="1480"/>
            </a:xfrm>
            <a:prstGeom prst="rect">
              <a:avLst/>
            </a:prstGeom>
            <a:solidFill>
              <a:schemeClr val="bg1">
                <a:alpha val="67000"/>
              </a:schemeClr>
            </a:solidFill>
            <a:ln w="28575">
              <a:solidFill>
                <a:srgbClr val="00CC00"/>
              </a:solidFill>
              <a:miter lim="800000"/>
              <a:headEnd/>
              <a:tailEnd/>
            </a:ln>
            <a:effectLst/>
          </p:spPr>
          <p:txBody>
            <a:bodyPr lIns="0" rIns="0">
              <a:prstTxWarp prst="textNoShape">
                <a:avLst/>
              </a:prstTxWarp>
            </a:bodyPr>
            <a:lstStyle/>
            <a:p>
              <a:pPr algn="ctr">
                <a:lnSpc>
                  <a:spcPct val="85000"/>
                </a:lnSpc>
                <a:spcBef>
                  <a:spcPct val="10000"/>
                </a:spcBef>
              </a:pPr>
              <a:r>
                <a:rPr lang="en-US" altLang="zh-TW" sz="1200">
                  <a:latin typeface="Tahoma" pitchFamily="-111" charset="0"/>
                  <a:ea typeface="新細明體" pitchFamily="16" charset="-128"/>
                  <a:cs typeface="Arial" pitchFamily="-111" charset="0"/>
                </a:rPr>
                <a:t>t0 t1 t2 … t31</a:t>
              </a:r>
              <a:endParaRPr lang="en-US" altLang="zh-TW" sz="1200">
                <a:latin typeface="Arial" pitchFamily="-111" charset="0"/>
                <a:ea typeface="新細明體" pitchFamily="16" charset="-128"/>
                <a:cs typeface="Arial" pitchFamily="-111" charset="0"/>
              </a:endParaRPr>
            </a:p>
          </p:txBody>
        </p:sp>
        <p:sp>
          <p:nvSpPr>
            <p:cNvPr id="10" name="Freeform 77">
              <a:extLst>
                <a:ext uri="{FF2B5EF4-FFF2-40B4-BE49-F238E27FC236}">
                  <a16:creationId xmlns:a16="http://schemas.microsoft.com/office/drawing/2014/main" id="{86AF8BF7-1D96-42FE-AB5D-6ADF2611393A}"/>
                </a:ext>
              </a:extLst>
            </p:cNvPr>
            <p:cNvSpPr>
              <a:spLocks/>
            </p:cNvSpPr>
            <p:nvPr/>
          </p:nvSpPr>
          <p:spPr bwMode="auto">
            <a:xfrm>
              <a:off x="704"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11" name="Freeform 78">
              <a:extLst>
                <a:ext uri="{FF2B5EF4-FFF2-40B4-BE49-F238E27FC236}">
                  <a16:creationId xmlns:a16="http://schemas.microsoft.com/office/drawing/2014/main" id="{DC2FA67C-5618-4BFF-833A-B95B07D2FA93}"/>
                </a:ext>
              </a:extLst>
            </p:cNvPr>
            <p:cNvSpPr>
              <a:spLocks/>
            </p:cNvSpPr>
            <p:nvPr/>
          </p:nvSpPr>
          <p:spPr bwMode="auto">
            <a:xfrm>
              <a:off x="784"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12" name="Freeform 79">
              <a:extLst>
                <a:ext uri="{FF2B5EF4-FFF2-40B4-BE49-F238E27FC236}">
                  <a16:creationId xmlns:a16="http://schemas.microsoft.com/office/drawing/2014/main" id="{421A0AC1-EC5C-4303-9B35-CE9CCAAFC3C6}"/>
                </a:ext>
              </a:extLst>
            </p:cNvPr>
            <p:cNvSpPr>
              <a:spLocks/>
            </p:cNvSpPr>
            <p:nvPr/>
          </p:nvSpPr>
          <p:spPr bwMode="auto">
            <a:xfrm>
              <a:off x="858"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13" name="Freeform 80">
              <a:extLst>
                <a:ext uri="{FF2B5EF4-FFF2-40B4-BE49-F238E27FC236}">
                  <a16:creationId xmlns:a16="http://schemas.microsoft.com/office/drawing/2014/main" id="{D06DAEFF-B8C2-450E-B15C-0EE28DDE012D}"/>
                </a:ext>
              </a:extLst>
            </p:cNvPr>
            <p:cNvSpPr>
              <a:spLocks/>
            </p:cNvSpPr>
            <p:nvPr/>
          </p:nvSpPr>
          <p:spPr bwMode="auto">
            <a:xfrm>
              <a:off x="932"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14" name="Freeform 81">
              <a:extLst>
                <a:ext uri="{FF2B5EF4-FFF2-40B4-BE49-F238E27FC236}">
                  <a16:creationId xmlns:a16="http://schemas.microsoft.com/office/drawing/2014/main" id="{28708771-CBEE-4E95-B00D-CC4472C39298}"/>
                </a:ext>
              </a:extLst>
            </p:cNvPr>
            <p:cNvSpPr>
              <a:spLocks/>
            </p:cNvSpPr>
            <p:nvPr/>
          </p:nvSpPr>
          <p:spPr bwMode="auto">
            <a:xfrm>
              <a:off x="1006"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15" name="Freeform 82">
              <a:extLst>
                <a:ext uri="{FF2B5EF4-FFF2-40B4-BE49-F238E27FC236}">
                  <a16:creationId xmlns:a16="http://schemas.microsoft.com/office/drawing/2014/main" id="{64BEF945-F5F1-4F11-93B5-F4A2A8A806BB}"/>
                </a:ext>
              </a:extLst>
            </p:cNvPr>
            <p:cNvSpPr>
              <a:spLocks/>
            </p:cNvSpPr>
            <p:nvPr/>
          </p:nvSpPr>
          <p:spPr bwMode="auto">
            <a:xfrm>
              <a:off x="1080"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16" name="Freeform 83">
              <a:extLst>
                <a:ext uri="{FF2B5EF4-FFF2-40B4-BE49-F238E27FC236}">
                  <a16:creationId xmlns:a16="http://schemas.microsoft.com/office/drawing/2014/main" id="{C7069CFB-4482-4FFA-9EAB-32BBCAA218C5}"/>
                </a:ext>
              </a:extLst>
            </p:cNvPr>
            <p:cNvSpPr>
              <a:spLocks/>
            </p:cNvSpPr>
            <p:nvPr/>
          </p:nvSpPr>
          <p:spPr bwMode="auto">
            <a:xfrm>
              <a:off x="1154"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17" name="Freeform 84">
              <a:extLst>
                <a:ext uri="{FF2B5EF4-FFF2-40B4-BE49-F238E27FC236}">
                  <a16:creationId xmlns:a16="http://schemas.microsoft.com/office/drawing/2014/main" id="{AAFC3EB1-E03F-4510-8705-F479B7FCDC4B}"/>
                </a:ext>
              </a:extLst>
            </p:cNvPr>
            <p:cNvSpPr>
              <a:spLocks/>
            </p:cNvSpPr>
            <p:nvPr/>
          </p:nvSpPr>
          <p:spPr bwMode="auto">
            <a:xfrm>
              <a:off x="1228"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18" name="Freeform 85">
              <a:extLst>
                <a:ext uri="{FF2B5EF4-FFF2-40B4-BE49-F238E27FC236}">
                  <a16:creationId xmlns:a16="http://schemas.microsoft.com/office/drawing/2014/main" id="{61B2F249-514F-4598-A823-38CBF58CCC72}"/>
                </a:ext>
              </a:extLst>
            </p:cNvPr>
            <p:cNvSpPr>
              <a:spLocks/>
            </p:cNvSpPr>
            <p:nvPr/>
          </p:nvSpPr>
          <p:spPr bwMode="auto">
            <a:xfrm>
              <a:off x="1302"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19" name="Freeform 86">
              <a:extLst>
                <a:ext uri="{FF2B5EF4-FFF2-40B4-BE49-F238E27FC236}">
                  <a16:creationId xmlns:a16="http://schemas.microsoft.com/office/drawing/2014/main" id="{E8BA85DD-E598-486B-96EB-08B8F7B2476A}"/>
                </a:ext>
              </a:extLst>
            </p:cNvPr>
            <p:cNvSpPr>
              <a:spLocks/>
            </p:cNvSpPr>
            <p:nvPr/>
          </p:nvSpPr>
          <p:spPr bwMode="auto">
            <a:xfrm>
              <a:off x="1376"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20" name="Freeform 87">
              <a:extLst>
                <a:ext uri="{FF2B5EF4-FFF2-40B4-BE49-F238E27FC236}">
                  <a16:creationId xmlns:a16="http://schemas.microsoft.com/office/drawing/2014/main" id="{6E726482-1E9B-405B-A2F3-AA1B5C0600AB}"/>
                </a:ext>
              </a:extLst>
            </p:cNvPr>
            <p:cNvSpPr>
              <a:spLocks/>
            </p:cNvSpPr>
            <p:nvPr/>
          </p:nvSpPr>
          <p:spPr bwMode="auto">
            <a:xfrm>
              <a:off x="1450"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grpSp>
      <p:sp>
        <p:nvSpPr>
          <p:cNvPr id="21" name="Text Box 88">
            <a:extLst>
              <a:ext uri="{FF2B5EF4-FFF2-40B4-BE49-F238E27FC236}">
                <a16:creationId xmlns:a16="http://schemas.microsoft.com/office/drawing/2014/main" id="{E1C86F04-0378-4F58-A73A-F51146272187}"/>
              </a:ext>
            </a:extLst>
          </p:cNvPr>
          <p:cNvSpPr txBox="1">
            <a:spLocks noChangeArrowheads="1"/>
          </p:cNvSpPr>
          <p:nvPr/>
        </p:nvSpPr>
        <p:spPr bwMode="auto">
          <a:xfrm>
            <a:off x="2340462" y="4596998"/>
            <a:ext cx="488950" cy="457200"/>
          </a:xfrm>
          <a:prstGeom prst="rect">
            <a:avLst/>
          </a:prstGeom>
          <a:noFill/>
          <a:ln w="9525">
            <a:noFill/>
            <a:miter lim="800000"/>
            <a:headEnd/>
            <a:tailEnd/>
          </a:ln>
          <a:effectLst/>
        </p:spPr>
        <p:txBody>
          <a:bodyPr wrap="none">
            <a:prstTxWarp prst="textNoShape">
              <a:avLst/>
            </a:prstTxWarp>
            <a:spAutoFit/>
          </a:bodyPr>
          <a:lstStyle/>
          <a:p>
            <a:r>
              <a:rPr lang="en-US" altLang="zh-TW">
                <a:ea typeface="新細明體" pitchFamily="16" charset="-128"/>
                <a:cs typeface="Arial" pitchFamily="-111" charset="0"/>
              </a:rPr>
              <a:t>…</a:t>
            </a:r>
          </a:p>
        </p:txBody>
      </p:sp>
      <p:sp>
        <p:nvSpPr>
          <p:cNvPr id="22" name="Rectangle 89">
            <a:extLst>
              <a:ext uri="{FF2B5EF4-FFF2-40B4-BE49-F238E27FC236}">
                <a16:creationId xmlns:a16="http://schemas.microsoft.com/office/drawing/2014/main" id="{193FB3DB-1537-4646-9F96-E8D59640CDBC}"/>
              </a:ext>
            </a:extLst>
          </p:cNvPr>
          <p:cNvSpPr>
            <a:spLocks noChangeArrowheads="1"/>
          </p:cNvSpPr>
          <p:nvPr/>
        </p:nvSpPr>
        <p:spPr bwMode="auto">
          <a:xfrm>
            <a:off x="3740637" y="4596998"/>
            <a:ext cx="1093787" cy="1057275"/>
          </a:xfrm>
          <a:prstGeom prst="rect">
            <a:avLst/>
          </a:prstGeom>
          <a:solidFill>
            <a:schemeClr val="bg1"/>
          </a:solidFill>
          <a:ln w="25400">
            <a:solidFill>
              <a:srgbClr val="FF6600"/>
            </a:solidFill>
            <a:miter lim="800000"/>
            <a:headEnd/>
            <a:tailEnd/>
          </a:ln>
          <a:effectLst/>
        </p:spPr>
        <p:txBody>
          <a:bodyPr wrap="none" anchor="ctr">
            <a:prstTxWarp prst="textNoShape">
              <a:avLst/>
            </a:prstTxWarp>
          </a:bodyPr>
          <a:lstStyle/>
          <a:p>
            <a:endParaRPr lang="es-ES_tradnl"/>
          </a:p>
        </p:txBody>
      </p:sp>
      <p:sp>
        <p:nvSpPr>
          <p:cNvPr id="23" name="Rectangle 90">
            <a:extLst>
              <a:ext uri="{FF2B5EF4-FFF2-40B4-BE49-F238E27FC236}">
                <a16:creationId xmlns:a16="http://schemas.microsoft.com/office/drawing/2014/main" id="{162B756A-155F-4196-8665-2561AEE26835}"/>
              </a:ext>
            </a:extLst>
          </p:cNvPr>
          <p:cNvSpPr>
            <a:spLocks noChangeArrowheads="1"/>
          </p:cNvSpPr>
          <p:nvPr/>
        </p:nvSpPr>
        <p:spPr bwMode="auto">
          <a:xfrm>
            <a:off x="3893037" y="4749398"/>
            <a:ext cx="1093787" cy="1057275"/>
          </a:xfrm>
          <a:prstGeom prst="rect">
            <a:avLst/>
          </a:prstGeom>
          <a:solidFill>
            <a:schemeClr val="bg1"/>
          </a:solidFill>
          <a:ln w="25400">
            <a:solidFill>
              <a:srgbClr val="FF6600"/>
            </a:solidFill>
            <a:miter lim="800000"/>
            <a:headEnd/>
            <a:tailEnd/>
          </a:ln>
          <a:effectLst/>
        </p:spPr>
        <p:txBody>
          <a:bodyPr wrap="none" anchor="ctr">
            <a:prstTxWarp prst="textNoShape">
              <a:avLst/>
            </a:prstTxWarp>
          </a:bodyPr>
          <a:lstStyle/>
          <a:p>
            <a:pPr algn="ctr"/>
            <a:r>
              <a:rPr lang="en-US" altLang="zh-TW">
                <a:ea typeface="新細明體" pitchFamily="16" charset="-128"/>
                <a:cs typeface="Arial" pitchFamily="-111" charset="0"/>
              </a:rPr>
              <a:t>…</a:t>
            </a:r>
          </a:p>
        </p:txBody>
      </p:sp>
      <p:grpSp>
        <p:nvGrpSpPr>
          <p:cNvPr id="24" name="Group 91">
            <a:extLst>
              <a:ext uri="{FF2B5EF4-FFF2-40B4-BE49-F238E27FC236}">
                <a16:creationId xmlns:a16="http://schemas.microsoft.com/office/drawing/2014/main" id="{3FB02F20-ABC9-4F69-8333-58C9069F0BF7}"/>
              </a:ext>
            </a:extLst>
          </p:cNvPr>
          <p:cNvGrpSpPr>
            <a:grpSpLocks/>
          </p:cNvGrpSpPr>
          <p:nvPr/>
        </p:nvGrpSpPr>
        <p:grpSpPr bwMode="auto">
          <a:xfrm>
            <a:off x="4120049" y="4977998"/>
            <a:ext cx="1066800" cy="1022350"/>
            <a:chOff x="568" y="2568"/>
            <a:chExt cx="1219" cy="1480"/>
          </a:xfrm>
        </p:grpSpPr>
        <p:sp>
          <p:nvSpPr>
            <p:cNvPr id="25" name="Text Box 92">
              <a:extLst>
                <a:ext uri="{FF2B5EF4-FFF2-40B4-BE49-F238E27FC236}">
                  <a16:creationId xmlns:a16="http://schemas.microsoft.com/office/drawing/2014/main" id="{562888CA-8AC3-4B52-BE28-48921BA802CC}"/>
                </a:ext>
              </a:extLst>
            </p:cNvPr>
            <p:cNvSpPr txBox="1">
              <a:spLocks noChangeArrowheads="1"/>
            </p:cNvSpPr>
            <p:nvPr/>
          </p:nvSpPr>
          <p:spPr bwMode="auto">
            <a:xfrm>
              <a:off x="568" y="2568"/>
              <a:ext cx="1219" cy="1480"/>
            </a:xfrm>
            <a:prstGeom prst="rect">
              <a:avLst/>
            </a:prstGeom>
            <a:solidFill>
              <a:schemeClr val="bg1">
                <a:alpha val="67000"/>
              </a:schemeClr>
            </a:solidFill>
            <a:ln w="28575">
              <a:solidFill>
                <a:srgbClr val="FF6600"/>
              </a:solidFill>
              <a:miter lim="800000"/>
              <a:headEnd/>
              <a:tailEnd/>
            </a:ln>
            <a:effectLst/>
          </p:spPr>
          <p:txBody>
            <a:bodyPr lIns="0" rIns="0">
              <a:prstTxWarp prst="textNoShape">
                <a:avLst/>
              </a:prstTxWarp>
            </a:bodyPr>
            <a:lstStyle/>
            <a:p>
              <a:pPr algn="ctr">
                <a:lnSpc>
                  <a:spcPct val="85000"/>
                </a:lnSpc>
                <a:spcBef>
                  <a:spcPct val="10000"/>
                </a:spcBef>
              </a:pPr>
              <a:r>
                <a:rPr lang="en-US" altLang="zh-TW" sz="1200">
                  <a:latin typeface="Tahoma" pitchFamily="-111" charset="0"/>
                  <a:ea typeface="新細明體" pitchFamily="16" charset="-128"/>
                  <a:cs typeface="Arial" pitchFamily="-111" charset="0"/>
                </a:rPr>
                <a:t>t0 t1 t2 … t31</a:t>
              </a:r>
              <a:endParaRPr lang="en-US" altLang="zh-TW" sz="1200">
                <a:latin typeface="Arial" pitchFamily="-111" charset="0"/>
                <a:ea typeface="新細明體" pitchFamily="16" charset="-128"/>
                <a:cs typeface="Arial" pitchFamily="-111" charset="0"/>
              </a:endParaRPr>
            </a:p>
          </p:txBody>
        </p:sp>
        <p:sp>
          <p:nvSpPr>
            <p:cNvPr id="26" name="Freeform 93">
              <a:extLst>
                <a:ext uri="{FF2B5EF4-FFF2-40B4-BE49-F238E27FC236}">
                  <a16:creationId xmlns:a16="http://schemas.microsoft.com/office/drawing/2014/main" id="{8C549CB7-1973-4DCD-AF66-9B1D8B18EE91}"/>
                </a:ext>
              </a:extLst>
            </p:cNvPr>
            <p:cNvSpPr>
              <a:spLocks/>
            </p:cNvSpPr>
            <p:nvPr/>
          </p:nvSpPr>
          <p:spPr bwMode="auto">
            <a:xfrm>
              <a:off x="704"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27" name="Freeform 94">
              <a:extLst>
                <a:ext uri="{FF2B5EF4-FFF2-40B4-BE49-F238E27FC236}">
                  <a16:creationId xmlns:a16="http://schemas.microsoft.com/office/drawing/2014/main" id="{EF1505E9-8E4B-49AD-834C-740CB1A4AC0D}"/>
                </a:ext>
              </a:extLst>
            </p:cNvPr>
            <p:cNvSpPr>
              <a:spLocks/>
            </p:cNvSpPr>
            <p:nvPr/>
          </p:nvSpPr>
          <p:spPr bwMode="auto">
            <a:xfrm>
              <a:off x="784"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28" name="Freeform 95">
              <a:extLst>
                <a:ext uri="{FF2B5EF4-FFF2-40B4-BE49-F238E27FC236}">
                  <a16:creationId xmlns:a16="http://schemas.microsoft.com/office/drawing/2014/main" id="{203266AF-F231-4640-BD10-A951F1240AB5}"/>
                </a:ext>
              </a:extLst>
            </p:cNvPr>
            <p:cNvSpPr>
              <a:spLocks/>
            </p:cNvSpPr>
            <p:nvPr/>
          </p:nvSpPr>
          <p:spPr bwMode="auto">
            <a:xfrm>
              <a:off x="858"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29" name="Freeform 96">
              <a:extLst>
                <a:ext uri="{FF2B5EF4-FFF2-40B4-BE49-F238E27FC236}">
                  <a16:creationId xmlns:a16="http://schemas.microsoft.com/office/drawing/2014/main" id="{5B450DFE-F6F1-43F7-8919-857D5007505C}"/>
                </a:ext>
              </a:extLst>
            </p:cNvPr>
            <p:cNvSpPr>
              <a:spLocks/>
            </p:cNvSpPr>
            <p:nvPr/>
          </p:nvSpPr>
          <p:spPr bwMode="auto">
            <a:xfrm>
              <a:off x="932"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0" name="Freeform 97">
              <a:extLst>
                <a:ext uri="{FF2B5EF4-FFF2-40B4-BE49-F238E27FC236}">
                  <a16:creationId xmlns:a16="http://schemas.microsoft.com/office/drawing/2014/main" id="{82D12EA2-4219-4751-9CBA-2FE4C6BE27A9}"/>
                </a:ext>
              </a:extLst>
            </p:cNvPr>
            <p:cNvSpPr>
              <a:spLocks/>
            </p:cNvSpPr>
            <p:nvPr/>
          </p:nvSpPr>
          <p:spPr bwMode="auto">
            <a:xfrm>
              <a:off x="1006"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1" name="Freeform 98">
              <a:extLst>
                <a:ext uri="{FF2B5EF4-FFF2-40B4-BE49-F238E27FC236}">
                  <a16:creationId xmlns:a16="http://schemas.microsoft.com/office/drawing/2014/main" id="{2CB06EA4-D04B-4F92-B41D-E859AD29081D}"/>
                </a:ext>
              </a:extLst>
            </p:cNvPr>
            <p:cNvSpPr>
              <a:spLocks/>
            </p:cNvSpPr>
            <p:nvPr/>
          </p:nvSpPr>
          <p:spPr bwMode="auto">
            <a:xfrm>
              <a:off x="1080"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2" name="Freeform 99">
              <a:extLst>
                <a:ext uri="{FF2B5EF4-FFF2-40B4-BE49-F238E27FC236}">
                  <a16:creationId xmlns:a16="http://schemas.microsoft.com/office/drawing/2014/main" id="{1874D36A-849B-4346-A687-4A7B0FE739F3}"/>
                </a:ext>
              </a:extLst>
            </p:cNvPr>
            <p:cNvSpPr>
              <a:spLocks/>
            </p:cNvSpPr>
            <p:nvPr/>
          </p:nvSpPr>
          <p:spPr bwMode="auto">
            <a:xfrm>
              <a:off x="1154"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3" name="Freeform 100">
              <a:extLst>
                <a:ext uri="{FF2B5EF4-FFF2-40B4-BE49-F238E27FC236}">
                  <a16:creationId xmlns:a16="http://schemas.microsoft.com/office/drawing/2014/main" id="{69B220D7-A784-4429-9794-DFA8E57BFA5E}"/>
                </a:ext>
              </a:extLst>
            </p:cNvPr>
            <p:cNvSpPr>
              <a:spLocks/>
            </p:cNvSpPr>
            <p:nvPr/>
          </p:nvSpPr>
          <p:spPr bwMode="auto">
            <a:xfrm>
              <a:off x="1228"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4" name="Freeform 101">
              <a:extLst>
                <a:ext uri="{FF2B5EF4-FFF2-40B4-BE49-F238E27FC236}">
                  <a16:creationId xmlns:a16="http://schemas.microsoft.com/office/drawing/2014/main" id="{943007DD-1177-41D1-A796-E2F001144765}"/>
                </a:ext>
              </a:extLst>
            </p:cNvPr>
            <p:cNvSpPr>
              <a:spLocks/>
            </p:cNvSpPr>
            <p:nvPr/>
          </p:nvSpPr>
          <p:spPr bwMode="auto">
            <a:xfrm>
              <a:off x="1302"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5" name="Freeform 102">
              <a:extLst>
                <a:ext uri="{FF2B5EF4-FFF2-40B4-BE49-F238E27FC236}">
                  <a16:creationId xmlns:a16="http://schemas.microsoft.com/office/drawing/2014/main" id="{31CDA1EB-0497-4525-A76C-41B31770CC75}"/>
                </a:ext>
              </a:extLst>
            </p:cNvPr>
            <p:cNvSpPr>
              <a:spLocks/>
            </p:cNvSpPr>
            <p:nvPr/>
          </p:nvSpPr>
          <p:spPr bwMode="auto">
            <a:xfrm>
              <a:off x="1376"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6" name="Freeform 103">
              <a:extLst>
                <a:ext uri="{FF2B5EF4-FFF2-40B4-BE49-F238E27FC236}">
                  <a16:creationId xmlns:a16="http://schemas.microsoft.com/office/drawing/2014/main" id="{BB464D18-A0EB-4296-9478-C276DE5D7067}"/>
                </a:ext>
              </a:extLst>
            </p:cNvPr>
            <p:cNvSpPr>
              <a:spLocks/>
            </p:cNvSpPr>
            <p:nvPr/>
          </p:nvSpPr>
          <p:spPr bwMode="auto">
            <a:xfrm>
              <a:off x="1450"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grpSp>
      <p:sp>
        <p:nvSpPr>
          <p:cNvPr id="37" name="Text Box 104">
            <a:extLst>
              <a:ext uri="{FF2B5EF4-FFF2-40B4-BE49-F238E27FC236}">
                <a16:creationId xmlns:a16="http://schemas.microsoft.com/office/drawing/2014/main" id="{677B2514-B8B5-434E-93C2-C2D3D3AAB2E2}"/>
              </a:ext>
            </a:extLst>
          </p:cNvPr>
          <p:cNvSpPr txBox="1">
            <a:spLocks noChangeArrowheads="1"/>
          </p:cNvSpPr>
          <p:nvPr/>
        </p:nvSpPr>
        <p:spPr bwMode="auto">
          <a:xfrm>
            <a:off x="3940662" y="4596998"/>
            <a:ext cx="488950" cy="457200"/>
          </a:xfrm>
          <a:prstGeom prst="rect">
            <a:avLst/>
          </a:prstGeom>
          <a:noFill/>
          <a:ln w="9525">
            <a:noFill/>
            <a:miter lim="800000"/>
            <a:headEnd/>
            <a:tailEnd/>
          </a:ln>
          <a:effectLst/>
        </p:spPr>
        <p:txBody>
          <a:bodyPr wrap="none">
            <a:prstTxWarp prst="textNoShape">
              <a:avLst/>
            </a:prstTxWarp>
            <a:spAutoFit/>
          </a:bodyPr>
          <a:lstStyle/>
          <a:p>
            <a:r>
              <a:rPr lang="en-US" altLang="zh-TW">
                <a:ea typeface="新細明體" pitchFamily="16" charset="-128"/>
                <a:cs typeface="Arial" pitchFamily="-111" charset="0"/>
              </a:rPr>
              <a:t>…</a:t>
            </a:r>
          </a:p>
        </p:txBody>
      </p:sp>
      <p:sp>
        <p:nvSpPr>
          <p:cNvPr id="38" name="Text Box 105">
            <a:extLst>
              <a:ext uri="{FF2B5EF4-FFF2-40B4-BE49-F238E27FC236}">
                <a16:creationId xmlns:a16="http://schemas.microsoft.com/office/drawing/2014/main" id="{AA8D922F-D153-4C5A-98CB-654D21611C1C}"/>
              </a:ext>
            </a:extLst>
          </p:cNvPr>
          <p:cNvSpPr txBox="1">
            <a:spLocks noChangeArrowheads="1"/>
          </p:cNvSpPr>
          <p:nvPr/>
        </p:nvSpPr>
        <p:spPr bwMode="auto">
          <a:xfrm>
            <a:off x="2057400" y="4317350"/>
            <a:ext cx="1250913" cy="276999"/>
          </a:xfrm>
          <a:prstGeom prst="rect">
            <a:avLst/>
          </a:prstGeom>
          <a:noFill/>
          <a:ln w="9525">
            <a:noFill/>
            <a:miter lim="800000"/>
            <a:headEnd/>
            <a:tailEnd/>
          </a:ln>
          <a:effectLst/>
        </p:spPr>
        <p:txBody>
          <a:bodyPr wrap="none">
            <a:prstTxWarp prst="textNoShape">
              <a:avLst/>
            </a:prstTxWarp>
            <a:spAutoFit/>
          </a:bodyPr>
          <a:lstStyle/>
          <a:p>
            <a:r>
              <a:rPr lang="en-US" altLang="zh-TW" sz="1200" dirty="0">
                <a:latin typeface="Arial" pitchFamily="-111" charset="0"/>
                <a:ea typeface="新細明體" pitchFamily="16" charset="-128"/>
                <a:cs typeface="Arial" pitchFamily="-111" charset="0"/>
              </a:rPr>
              <a:t>Block 0’s warps</a:t>
            </a:r>
          </a:p>
        </p:txBody>
      </p:sp>
      <p:sp>
        <p:nvSpPr>
          <p:cNvPr id="39" name="Text Box 106">
            <a:extLst>
              <a:ext uri="{FF2B5EF4-FFF2-40B4-BE49-F238E27FC236}">
                <a16:creationId xmlns:a16="http://schemas.microsoft.com/office/drawing/2014/main" id="{1D30EE2C-AC3F-4D14-A4C3-A5120336AA1A}"/>
              </a:ext>
            </a:extLst>
          </p:cNvPr>
          <p:cNvSpPr txBox="1">
            <a:spLocks noChangeArrowheads="1"/>
          </p:cNvSpPr>
          <p:nvPr/>
        </p:nvSpPr>
        <p:spPr bwMode="auto">
          <a:xfrm>
            <a:off x="3733800" y="4317350"/>
            <a:ext cx="1250913" cy="276999"/>
          </a:xfrm>
          <a:prstGeom prst="rect">
            <a:avLst/>
          </a:prstGeom>
          <a:noFill/>
          <a:ln w="9525">
            <a:noFill/>
            <a:miter lim="800000"/>
            <a:headEnd/>
            <a:tailEnd/>
          </a:ln>
          <a:effectLst/>
        </p:spPr>
        <p:txBody>
          <a:bodyPr wrap="none">
            <a:prstTxWarp prst="textNoShape">
              <a:avLst/>
            </a:prstTxWarp>
            <a:spAutoFit/>
          </a:bodyPr>
          <a:lstStyle/>
          <a:p>
            <a:r>
              <a:rPr lang="en-US" altLang="zh-TW" sz="1200" dirty="0">
                <a:latin typeface="Arial" pitchFamily="-111" charset="0"/>
                <a:ea typeface="新細明體" pitchFamily="16" charset="-128"/>
                <a:cs typeface="Arial" pitchFamily="-111" charset="0"/>
              </a:rPr>
              <a:t>Block 1’s warps</a:t>
            </a:r>
          </a:p>
        </p:txBody>
      </p:sp>
      <p:sp>
        <p:nvSpPr>
          <p:cNvPr id="40" name="Rectangle 135">
            <a:extLst>
              <a:ext uri="{FF2B5EF4-FFF2-40B4-BE49-F238E27FC236}">
                <a16:creationId xmlns:a16="http://schemas.microsoft.com/office/drawing/2014/main" id="{3FAC4971-323C-4E15-9B89-A2E62AE44750}"/>
              </a:ext>
            </a:extLst>
          </p:cNvPr>
          <p:cNvSpPr>
            <a:spLocks noChangeArrowheads="1"/>
          </p:cNvSpPr>
          <p:nvPr/>
        </p:nvSpPr>
        <p:spPr bwMode="auto">
          <a:xfrm>
            <a:off x="5417037" y="4596998"/>
            <a:ext cx="1093787" cy="1057275"/>
          </a:xfrm>
          <a:prstGeom prst="rect">
            <a:avLst/>
          </a:prstGeom>
          <a:solidFill>
            <a:schemeClr val="bg1"/>
          </a:solidFill>
          <a:ln w="25400">
            <a:solidFill>
              <a:schemeClr val="accent2"/>
            </a:solidFill>
            <a:miter lim="800000"/>
            <a:headEnd/>
            <a:tailEnd/>
          </a:ln>
          <a:effectLst/>
        </p:spPr>
        <p:txBody>
          <a:bodyPr wrap="none" anchor="ctr">
            <a:prstTxWarp prst="textNoShape">
              <a:avLst/>
            </a:prstTxWarp>
          </a:bodyPr>
          <a:lstStyle/>
          <a:p>
            <a:endParaRPr lang="es-ES_tradnl"/>
          </a:p>
        </p:txBody>
      </p:sp>
      <p:sp>
        <p:nvSpPr>
          <p:cNvPr id="41" name="Rectangle 136">
            <a:extLst>
              <a:ext uri="{FF2B5EF4-FFF2-40B4-BE49-F238E27FC236}">
                <a16:creationId xmlns:a16="http://schemas.microsoft.com/office/drawing/2014/main" id="{A9C47ABA-8BDA-4719-A981-A7CC126953FD}"/>
              </a:ext>
            </a:extLst>
          </p:cNvPr>
          <p:cNvSpPr>
            <a:spLocks noChangeArrowheads="1"/>
          </p:cNvSpPr>
          <p:nvPr/>
        </p:nvSpPr>
        <p:spPr bwMode="auto">
          <a:xfrm>
            <a:off x="5569437" y="4749398"/>
            <a:ext cx="1093787" cy="1057275"/>
          </a:xfrm>
          <a:prstGeom prst="rect">
            <a:avLst/>
          </a:prstGeom>
          <a:solidFill>
            <a:schemeClr val="bg1"/>
          </a:solidFill>
          <a:ln w="25400">
            <a:solidFill>
              <a:schemeClr val="accent2"/>
            </a:solidFill>
            <a:miter lim="800000"/>
            <a:headEnd/>
            <a:tailEnd/>
          </a:ln>
          <a:effectLst/>
        </p:spPr>
        <p:txBody>
          <a:bodyPr wrap="none" anchor="ctr">
            <a:prstTxWarp prst="textNoShape">
              <a:avLst/>
            </a:prstTxWarp>
          </a:bodyPr>
          <a:lstStyle/>
          <a:p>
            <a:pPr algn="ctr"/>
            <a:r>
              <a:rPr lang="en-US" altLang="zh-TW">
                <a:ea typeface="新細明體" pitchFamily="16" charset="-128"/>
                <a:cs typeface="Arial" pitchFamily="-111" charset="0"/>
              </a:rPr>
              <a:t>…</a:t>
            </a:r>
          </a:p>
        </p:txBody>
      </p:sp>
      <p:grpSp>
        <p:nvGrpSpPr>
          <p:cNvPr id="42" name="Group 137">
            <a:extLst>
              <a:ext uri="{FF2B5EF4-FFF2-40B4-BE49-F238E27FC236}">
                <a16:creationId xmlns:a16="http://schemas.microsoft.com/office/drawing/2014/main" id="{9F6D6CDC-8BC0-4BBC-A076-56A0243FBF0F}"/>
              </a:ext>
            </a:extLst>
          </p:cNvPr>
          <p:cNvGrpSpPr>
            <a:grpSpLocks/>
          </p:cNvGrpSpPr>
          <p:nvPr/>
        </p:nvGrpSpPr>
        <p:grpSpPr bwMode="auto">
          <a:xfrm>
            <a:off x="5796449" y="4977998"/>
            <a:ext cx="1066800" cy="1022350"/>
            <a:chOff x="568" y="2568"/>
            <a:chExt cx="1219" cy="1480"/>
          </a:xfrm>
        </p:grpSpPr>
        <p:sp>
          <p:nvSpPr>
            <p:cNvPr id="43" name="Text Box 138">
              <a:extLst>
                <a:ext uri="{FF2B5EF4-FFF2-40B4-BE49-F238E27FC236}">
                  <a16:creationId xmlns:a16="http://schemas.microsoft.com/office/drawing/2014/main" id="{3BB76473-829D-4356-B5BC-36D06ED3C479}"/>
                </a:ext>
              </a:extLst>
            </p:cNvPr>
            <p:cNvSpPr txBox="1">
              <a:spLocks noChangeArrowheads="1"/>
            </p:cNvSpPr>
            <p:nvPr/>
          </p:nvSpPr>
          <p:spPr bwMode="auto">
            <a:xfrm>
              <a:off x="568" y="2568"/>
              <a:ext cx="1219" cy="1480"/>
            </a:xfrm>
            <a:prstGeom prst="rect">
              <a:avLst/>
            </a:prstGeom>
            <a:solidFill>
              <a:schemeClr val="bg1">
                <a:alpha val="67000"/>
              </a:schemeClr>
            </a:solidFill>
            <a:ln w="28575">
              <a:solidFill>
                <a:schemeClr val="accent2"/>
              </a:solidFill>
              <a:miter lim="800000"/>
              <a:headEnd/>
              <a:tailEnd/>
            </a:ln>
            <a:effectLst/>
          </p:spPr>
          <p:txBody>
            <a:bodyPr lIns="0" rIns="0">
              <a:prstTxWarp prst="textNoShape">
                <a:avLst/>
              </a:prstTxWarp>
            </a:bodyPr>
            <a:lstStyle/>
            <a:p>
              <a:pPr algn="ctr">
                <a:lnSpc>
                  <a:spcPct val="85000"/>
                </a:lnSpc>
                <a:spcBef>
                  <a:spcPct val="10000"/>
                </a:spcBef>
              </a:pPr>
              <a:r>
                <a:rPr lang="en-US" altLang="zh-TW" sz="1200">
                  <a:latin typeface="Tahoma" pitchFamily="-111" charset="0"/>
                  <a:ea typeface="新細明體" pitchFamily="16" charset="-128"/>
                  <a:cs typeface="Arial" pitchFamily="-111" charset="0"/>
                </a:rPr>
                <a:t>t0 t1 t2 … t31</a:t>
              </a:r>
              <a:endParaRPr lang="en-US" altLang="zh-TW" sz="1200">
                <a:latin typeface="Arial" pitchFamily="-111" charset="0"/>
                <a:ea typeface="新細明體" pitchFamily="16" charset="-128"/>
                <a:cs typeface="Arial" pitchFamily="-111" charset="0"/>
              </a:endParaRPr>
            </a:p>
          </p:txBody>
        </p:sp>
        <p:sp>
          <p:nvSpPr>
            <p:cNvPr id="44" name="Freeform 139">
              <a:extLst>
                <a:ext uri="{FF2B5EF4-FFF2-40B4-BE49-F238E27FC236}">
                  <a16:creationId xmlns:a16="http://schemas.microsoft.com/office/drawing/2014/main" id="{F9B98D70-C4F0-46D2-ACF0-588622F49006}"/>
                </a:ext>
              </a:extLst>
            </p:cNvPr>
            <p:cNvSpPr>
              <a:spLocks/>
            </p:cNvSpPr>
            <p:nvPr/>
          </p:nvSpPr>
          <p:spPr bwMode="auto">
            <a:xfrm>
              <a:off x="704"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45" name="Freeform 140">
              <a:extLst>
                <a:ext uri="{FF2B5EF4-FFF2-40B4-BE49-F238E27FC236}">
                  <a16:creationId xmlns:a16="http://schemas.microsoft.com/office/drawing/2014/main" id="{B76D3F3B-491F-4BAD-A6BF-C2DC645459DE}"/>
                </a:ext>
              </a:extLst>
            </p:cNvPr>
            <p:cNvSpPr>
              <a:spLocks/>
            </p:cNvSpPr>
            <p:nvPr/>
          </p:nvSpPr>
          <p:spPr bwMode="auto">
            <a:xfrm>
              <a:off x="784"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46" name="Freeform 141">
              <a:extLst>
                <a:ext uri="{FF2B5EF4-FFF2-40B4-BE49-F238E27FC236}">
                  <a16:creationId xmlns:a16="http://schemas.microsoft.com/office/drawing/2014/main" id="{19686C05-DA62-4AAF-9930-4A96AD6C2954}"/>
                </a:ext>
              </a:extLst>
            </p:cNvPr>
            <p:cNvSpPr>
              <a:spLocks/>
            </p:cNvSpPr>
            <p:nvPr/>
          </p:nvSpPr>
          <p:spPr bwMode="auto">
            <a:xfrm>
              <a:off x="858"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47" name="Freeform 142">
              <a:extLst>
                <a:ext uri="{FF2B5EF4-FFF2-40B4-BE49-F238E27FC236}">
                  <a16:creationId xmlns:a16="http://schemas.microsoft.com/office/drawing/2014/main" id="{075E7114-F999-4BF0-93E9-D0892B3A05E4}"/>
                </a:ext>
              </a:extLst>
            </p:cNvPr>
            <p:cNvSpPr>
              <a:spLocks/>
            </p:cNvSpPr>
            <p:nvPr/>
          </p:nvSpPr>
          <p:spPr bwMode="auto">
            <a:xfrm>
              <a:off x="932"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48" name="Freeform 143">
              <a:extLst>
                <a:ext uri="{FF2B5EF4-FFF2-40B4-BE49-F238E27FC236}">
                  <a16:creationId xmlns:a16="http://schemas.microsoft.com/office/drawing/2014/main" id="{112F78AD-5342-411B-B352-AF2B86C0CD4B}"/>
                </a:ext>
              </a:extLst>
            </p:cNvPr>
            <p:cNvSpPr>
              <a:spLocks/>
            </p:cNvSpPr>
            <p:nvPr/>
          </p:nvSpPr>
          <p:spPr bwMode="auto">
            <a:xfrm>
              <a:off x="1006"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49" name="Freeform 144">
              <a:extLst>
                <a:ext uri="{FF2B5EF4-FFF2-40B4-BE49-F238E27FC236}">
                  <a16:creationId xmlns:a16="http://schemas.microsoft.com/office/drawing/2014/main" id="{3E2ACC58-1A69-4DA7-A8BE-72A0956B3CBA}"/>
                </a:ext>
              </a:extLst>
            </p:cNvPr>
            <p:cNvSpPr>
              <a:spLocks/>
            </p:cNvSpPr>
            <p:nvPr/>
          </p:nvSpPr>
          <p:spPr bwMode="auto">
            <a:xfrm>
              <a:off x="1080"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50" name="Freeform 145">
              <a:extLst>
                <a:ext uri="{FF2B5EF4-FFF2-40B4-BE49-F238E27FC236}">
                  <a16:creationId xmlns:a16="http://schemas.microsoft.com/office/drawing/2014/main" id="{82AFEEF0-87BC-44B9-A243-E2F58D90EAB4}"/>
                </a:ext>
              </a:extLst>
            </p:cNvPr>
            <p:cNvSpPr>
              <a:spLocks/>
            </p:cNvSpPr>
            <p:nvPr/>
          </p:nvSpPr>
          <p:spPr bwMode="auto">
            <a:xfrm>
              <a:off x="1154"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51" name="Freeform 146">
              <a:extLst>
                <a:ext uri="{FF2B5EF4-FFF2-40B4-BE49-F238E27FC236}">
                  <a16:creationId xmlns:a16="http://schemas.microsoft.com/office/drawing/2014/main" id="{A04AA0FC-A060-4DF5-ADC9-F3171A351F57}"/>
                </a:ext>
              </a:extLst>
            </p:cNvPr>
            <p:cNvSpPr>
              <a:spLocks/>
            </p:cNvSpPr>
            <p:nvPr/>
          </p:nvSpPr>
          <p:spPr bwMode="auto">
            <a:xfrm>
              <a:off x="1228"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52" name="Freeform 147">
              <a:extLst>
                <a:ext uri="{FF2B5EF4-FFF2-40B4-BE49-F238E27FC236}">
                  <a16:creationId xmlns:a16="http://schemas.microsoft.com/office/drawing/2014/main" id="{61AA34B2-C3DE-4313-8489-FBABD2ACB159}"/>
                </a:ext>
              </a:extLst>
            </p:cNvPr>
            <p:cNvSpPr>
              <a:spLocks/>
            </p:cNvSpPr>
            <p:nvPr/>
          </p:nvSpPr>
          <p:spPr bwMode="auto">
            <a:xfrm>
              <a:off x="1302"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53" name="Freeform 148">
              <a:extLst>
                <a:ext uri="{FF2B5EF4-FFF2-40B4-BE49-F238E27FC236}">
                  <a16:creationId xmlns:a16="http://schemas.microsoft.com/office/drawing/2014/main" id="{FFBA3502-0218-47D5-BAB1-FEF3EE354919}"/>
                </a:ext>
              </a:extLst>
            </p:cNvPr>
            <p:cNvSpPr>
              <a:spLocks/>
            </p:cNvSpPr>
            <p:nvPr/>
          </p:nvSpPr>
          <p:spPr bwMode="auto">
            <a:xfrm>
              <a:off x="1376"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54" name="Freeform 149">
              <a:extLst>
                <a:ext uri="{FF2B5EF4-FFF2-40B4-BE49-F238E27FC236}">
                  <a16:creationId xmlns:a16="http://schemas.microsoft.com/office/drawing/2014/main" id="{52DE75E8-8358-48BB-B394-F562E3C63E8F}"/>
                </a:ext>
              </a:extLst>
            </p:cNvPr>
            <p:cNvSpPr>
              <a:spLocks/>
            </p:cNvSpPr>
            <p:nvPr/>
          </p:nvSpPr>
          <p:spPr bwMode="auto">
            <a:xfrm>
              <a:off x="1450"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grpSp>
      <p:sp>
        <p:nvSpPr>
          <p:cNvPr id="55" name="Text Box 150">
            <a:extLst>
              <a:ext uri="{FF2B5EF4-FFF2-40B4-BE49-F238E27FC236}">
                <a16:creationId xmlns:a16="http://schemas.microsoft.com/office/drawing/2014/main" id="{DC93D82B-5184-4720-B656-3A2FA82B5A00}"/>
              </a:ext>
            </a:extLst>
          </p:cNvPr>
          <p:cNvSpPr txBox="1">
            <a:spLocks noChangeArrowheads="1"/>
          </p:cNvSpPr>
          <p:nvPr/>
        </p:nvSpPr>
        <p:spPr bwMode="auto">
          <a:xfrm>
            <a:off x="5617062" y="4596998"/>
            <a:ext cx="488950" cy="457200"/>
          </a:xfrm>
          <a:prstGeom prst="rect">
            <a:avLst/>
          </a:prstGeom>
          <a:noFill/>
          <a:ln w="9525">
            <a:noFill/>
            <a:miter lim="800000"/>
            <a:headEnd/>
            <a:tailEnd/>
          </a:ln>
          <a:effectLst/>
        </p:spPr>
        <p:txBody>
          <a:bodyPr wrap="none">
            <a:prstTxWarp prst="textNoShape">
              <a:avLst/>
            </a:prstTxWarp>
            <a:spAutoFit/>
          </a:bodyPr>
          <a:lstStyle/>
          <a:p>
            <a:r>
              <a:rPr lang="en-US" altLang="zh-TW">
                <a:ea typeface="新細明體" pitchFamily="16" charset="-128"/>
                <a:cs typeface="Arial" pitchFamily="-111" charset="0"/>
              </a:rPr>
              <a:t>…</a:t>
            </a:r>
          </a:p>
        </p:txBody>
      </p:sp>
      <p:sp>
        <p:nvSpPr>
          <p:cNvPr id="56" name="Text Box 151">
            <a:extLst>
              <a:ext uri="{FF2B5EF4-FFF2-40B4-BE49-F238E27FC236}">
                <a16:creationId xmlns:a16="http://schemas.microsoft.com/office/drawing/2014/main" id="{579D8AD4-B17E-4633-A5BD-6241D950F984}"/>
              </a:ext>
            </a:extLst>
          </p:cNvPr>
          <p:cNvSpPr txBox="1">
            <a:spLocks noChangeArrowheads="1"/>
          </p:cNvSpPr>
          <p:nvPr/>
        </p:nvSpPr>
        <p:spPr bwMode="auto">
          <a:xfrm>
            <a:off x="5334000" y="4317350"/>
            <a:ext cx="1250913" cy="276999"/>
          </a:xfrm>
          <a:prstGeom prst="rect">
            <a:avLst/>
          </a:prstGeom>
          <a:noFill/>
          <a:ln w="9525">
            <a:noFill/>
            <a:miter lim="800000"/>
            <a:headEnd/>
            <a:tailEnd/>
          </a:ln>
          <a:effectLst/>
        </p:spPr>
        <p:txBody>
          <a:bodyPr wrap="none">
            <a:prstTxWarp prst="textNoShape">
              <a:avLst/>
            </a:prstTxWarp>
            <a:spAutoFit/>
          </a:bodyPr>
          <a:lstStyle/>
          <a:p>
            <a:r>
              <a:rPr lang="en-US" altLang="zh-TW" sz="1200" dirty="0">
                <a:latin typeface="Arial" pitchFamily="-111" charset="0"/>
                <a:ea typeface="新細明體" pitchFamily="16" charset="-128"/>
                <a:cs typeface="Arial" pitchFamily="-111" charset="0"/>
              </a:rPr>
              <a:t>Block 2’s warps</a:t>
            </a:r>
          </a:p>
        </p:txBody>
      </p:sp>
    </p:spTree>
    <p:extLst>
      <p:ext uri="{BB962C8B-B14F-4D97-AF65-F5344CB8AC3E}">
        <p14:creationId xmlns:p14="http://schemas.microsoft.com/office/powerpoint/2010/main" val="37183168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21" grpId="0"/>
      <p:bldP spid="22" grpId="0" animBg="1"/>
      <p:bldP spid="23" grpId="0" animBg="1"/>
      <p:bldP spid="37" grpId="0"/>
      <p:bldP spid="38" grpId="0"/>
      <p:bldP spid="39" grpId="0"/>
      <p:bldP spid="40" grpId="0" animBg="1"/>
      <p:bldP spid="41" grpId="0" animBg="1"/>
      <p:bldP spid="55" grpId="0"/>
      <p:bldP spid="5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68F9301F-200A-4C9F-9BC7-A9CA02E8A85A}"/>
              </a:ext>
            </a:extLst>
          </p:cNvPr>
          <p:cNvSpPr/>
          <p:nvPr/>
        </p:nvSpPr>
        <p:spPr>
          <a:xfrm>
            <a:off x="2069292" y="951862"/>
            <a:ext cx="4788490" cy="461665"/>
          </a:xfrm>
          <a:prstGeom prst="rect">
            <a:avLst/>
          </a:prstGeom>
        </p:spPr>
        <p:txBody>
          <a:bodyPr wrap="none">
            <a:spAutoFit/>
          </a:bodyPr>
          <a:lstStyle/>
          <a:p>
            <a:r>
              <a:rPr lang="en-US" altLang="zh-CN" sz="2400" dirty="0">
                <a:solidFill>
                  <a:srgbClr val="C00000"/>
                </a:solidFill>
                <a:cs typeface="+mj-cs"/>
              </a:rPr>
              <a:t>Motivation of In-network Computing</a:t>
            </a:r>
            <a:endParaRPr lang="zh-CN" altLang="en-US" sz="1200" dirty="0"/>
          </a:p>
        </p:txBody>
      </p:sp>
      <p:sp>
        <p:nvSpPr>
          <p:cNvPr id="54" name="Rectangle 2">
            <a:extLst>
              <a:ext uri="{FF2B5EF4-FFF2-40B4-BE49-F238E27FC236}">
                <a16:creationId xmlns:a16="http://schemas.microsoft.com/office/drawing/2014/main" id="{82D9D992-8110-4752-809A-6133FEB65846}"/>
              </a:ext>
            </a:extLst>
          </p:cNvPr>
          <p:cNvSpPr/>
          <p:nvPr/>
        </p:nvSpPr>
        <p:spPr>
          <a:xfrm>
            <a:off x="-106251" y="-203200"/>
            <a:ext cx="9382259" cy="70612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55" name="TextBox 3">
            <a:extLst>
              <a:ext uri="{FF2B5EF4-FFF2-40B4-BE49-F238E27FC236}">
                <a16:creationId xmlns:a16="http://schemas.microsoft.com/office/drawing/2014/main" id="{1B997306-FA4F-4F7B-8126-9FAAA79FA40E}"/>
              </a:ext>
            </a:extLst>
          </p:cNvPr>
          <p:cNvSpPr txBox="1"/>
          <p:nvPr/>
        </p:nvSpPr>
        <p:spPr>
          <a:xfrm>
            <a:off x="1530241" y="1752600"/>
            <a:ext cx="5866592" cy="584775"/>
          </a:xfrm>
          <a:prstGeom prst="rect">
            <a:avLst/>
          </a:prstGeom>
          <a:noFill/>
        </p:spPr>
        <p:txBody>
          <a:bodyPr wrap="square" rtlCol="0">
            <a:spAutoFit/>
          </a:bodyPr>
          <a:lstStyle/>
          <a:p>
            <a:pPr algn="ctr"/>
            <a:r>
              <a:rPr lang="en-US" sz="3200" b="1" i="1" dirty="0">
                <a:solidFill>
                  <a:schemeClr val="bg1"/>
                </a:solidFill>
              </a:rPr>
              <a:t>Why SIMT and Warp?</a:t>
            </a:r>
            <a:endParaRPr lang="en-US" sz="3200" b="1" i="1" u="sng" dirty="0">
              <a:solidFill>
                <a:srgbClr val="DA9100"/>
              </a:solidFill>
            </a:endParaRPr>
          </a:p>
        </p:txBody>
      </p:sp>
      <p:sp>
        <p:nvSpPr>
          <p:cNvPr id="7" name="TextBox 3">
            <a:extLst>
              <a:ext uri="{FF2B5EF4-FFF2-40B4-BE49-F238E27FC236}">
                <a16:creationId xmlns:a16="http://schemas.microsoft.com/office/drawing/2014/main" id="{15CA4732-0ADF-4A36-804D-F4D5207FA1D1}"/>
              </a:ext>
            </a:extLst>
          </p:cNvPr>
          <p:cNvSpPr txBox="1"/>
          <p:nvPr/>
        </p:nvSpPr>
        <p:spPr>
          <a:xfrm>
            <a:off x="694757" y="3200400"/>
            <a:ext cx="7537559" cy="584775"/>
          </a:xfrm>
          <a:prstGeom prst="rect">
            <a:avLst/>
          </a:prstGeom>
          <a:noFill/>
        </p:spPr>
        <p:txBody>
          <a:bodyPr wrap="square" rtlCol="0">
            <a:spAutoFit/>
          </a:bodyPr>
          <a:lstStyle/>
          <a:p>
            <a:pPr algn="ctr"/>
            <a:r>
              <a:rPr lang="en-US" sz="3200" b="1" dirty="0">
                <a:solidFill>
                  <a:srgbClr val="0432FF"/>
                </a:solidFill>
              </a:rPr>
              <a:t>Reduce GPU scheduling overhead</a:t>
            </a:r>
            <a:endParaRPr lang="en-US" sz="3200" b="1" u="sng" dirty="0">
              <a:solidFill>
                <a:srgbClr val="0432FF"/>
              </a:solidFill>
            </a:endParaRPr>
          </a:p>
        </p:txBody>
      </p:sp>
    </p:spTree>
    <p:custDataLst>
      <p:tags r:id="rId1"/>
    </p:custDataLst>
    <p:extLst>
      <p:ext uri="{BB962C8B-B14F-4D97-AF65-F5344CB8AC3E}">
        <p14:creationId xmlns:p14="http://schemas.microsoft.com/office/powerpoint/2010/main" val="1345750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a:extLst>
              <a:ext uri="{FF2B5EF4-FFF2-40B4-BE49-F238E27FC236}">
                <a16:creationId xmlns:a16="http://schemas.microsoft.com/office/drawing/2014/main" id="{36B6618B-8529-5E47-9BC3-56034824E607}"/>
              </a:ext>
            </a:extLst>
          </p:cNvPr>
          <p:cNvSpPr>
            <a:spLocks noGrp="1"/>
          </p:cNvSpPr>
          <p:nvPr>
            <p:ph type="title"/>
          </p:nvPr>
        </p:nvSpPr>
        <p:spPr>
          <a:xfrm>
            <a:off x="38579" y="162995"/>
            <a:ext cx="9220200" cy="1066800"/>
          </a:xfrm>
        </p:spPr>
        <p:txBody>
          <a:bodyPr/>
          <a:lstStyle/>
          <a:p>
            <a:r>
              <a:rPr lang="en-US" altLang="en-US" dirty="0">
                <a:ea typeface="ＭＳ Ｐゴシック" panose="020B0600070205080204" pitchFamily="34" charset="-128"/>
              </a:rPr>
              <a:t>Recall: Mapping Warps on a SIMT Hardware </a:t>
            </a:r>
          </a:p>
        </p:txBody>
      </p:sp>
      <p:sp>
        <p:nvSpPr>
          <p:cNvPr id="60418" name="Content Placeholder 2">
            <a:extLst>
              <a:ext uri="{FF2B5EF4-FFF2-40B4-BE49-F238E27FC236}">
                <a16:creationId xmlns:a16="http://schemas.microsoft.com/office/drawing/2014/main" id="{9DDF6860-8A15-F14C-887B-4A273D4F64B1}"/>
              </a:ext>
            </a:extLst>
          </p:cNvPr>
          <p:cNvSpPr>
            <a:spLocks noGrp="1"/>
          </p:cNvSpPr>
          <p:nvPr>
            <p:ph idx="1"/>
          </p:nvPr>
        </p:nvSpPr>
        <p:spPr>
          <a:xfrm>
            <a:off x="157480" y="959644"/>
            <a:ext cx="9144000" cy="1408113"/>
          </a:xfrm>
        </p:spPr>
        <p:txBody>
          <a:bodyPr/>
          <a:lstStyle/>
          <a:p>
            <a:r>
              <a:rPr lang="en-US" altLang="en-US" b="1" dirty="0">
                <a:ea typeface="ＭＳ Ｐゴシック" panose="020B0600070205080204" pitchFamily="34" charset="-128"/>
              </a:rPr>
              <a:t>Warp</a:t>
            </a:r>
            <a:r>
              <a:rPr lang="en-US" altLang="en-US" dirty="0">
                <a:ea typeface="ＭＳ Ｐゴシック" panose="020B0600070205080204" pitchFamily="34" charset="-128"/>
              </a:rPr>
              <a:t>: </a:t>
            </a:r>
          </a:p>
          <a:p>
            <a:pPr lvl="1"/>
            <a:r>
              <a:rPr lang="en-US" altLang="en-US" dirty="0">
                <a:ea typeface="ＭＳ Ｐゴシック" panose="020B0600070205080204" pitchFamily="34" charset="-128"/>
              </a:rPr>
              <a:t>A </a:t>
            </a:r>
            <a:r>
              <a:rPr lang="en-US" altLang="zh-CN" dirty="0">
                <a:ea typeface="ＭＳ Ｐゴシック" panose="020B0600070205080204" pitchFamily="34" charset="-128"/>
              </a:rPr>
              <a:t>thread block is divided into warps. </a:t>
            </a:r>
          </a:p>
          <a:p>
            <a:pPr lvl="1"/>
            <a:r>
              <a:rPr lang="en-US" altLang="en-US" dirty="0">
                <a:ea typeface="ＭＳ Ｐゴシック" panose="020B0600070205080204" pitchFamily="34" charset="-128"/>
              </a:rPr>
              <a:t>A warp executes the same instruction on different data elements</a:t>
            </a:r>
          </a:p>
          <a:p>
            <a:pPr lvl="1"/>
            <a:endParaRPr lang="en-US" altLang="en-US" b="1" dirty="0">
              <a:ea typeface="ＭＳ Ｐゴシック" panose="020B0600070205080204" pitchFamily="34" charset="-128"/>
            </a:endParaRPr>
          </a:p>
          <a:p>
            <a:r>
              <a:rPr lang="en-US" altLang="en-US" b="1" dirty="0">
                <a:ea typeface="ＭＳ Ｐゴシック" panose="020B0600070205080204" pitchFamily="34" charset="-128"/>
              </a:rPr>
              <a:t>SIMT Pipeline</a:t>
            </a:r>
            <a:r>
              <a:rPr lang="en-US" altLang="en-US" dirty="0">
                <a:ea typeface="ＭＳ Ｐゴシック" panose="020B0600070205080204" pitchFamily="34" charset="-128"/>
              </a:rPr>
              <a:t>:</a:t>
            </a:r>
          </a:p>
          <a:p>
            <a:pPr lvl="1"/>
            <a:r>
              <a:rPr lang="en-US" altLang="en-US" dirty="0">
                <a:ea typeface="ＭＳ Ｐゴシック" panose="020B0600070205080204" pitchFamily="34" charset="-128"/>
              </a:rPr>
              <a:t>16 CUDA cores are executed in a lock step to serve each warp.</a:t>
            </a: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60419" name="Slide Number Placeholder 3">
            <a:extLst>
              <a:ext uri="{FF2B5EF4-FFF2-40B4-BE49-F238E27FC236}">
                <a16:creationId xmlns:a16="http://schemas.microsoft.com/office/drawing/2014/main" id="{DC360BC6-7CE3-BC4D-AA46-C342D242FC8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561A8CC-ABB5-7549-BFD1-7308867995C4}"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60420" name="AutoShape 25">
            <a:extLst>
              <a:ext uri="{FF2B5EF4-FFF2-40B4-BE49-F238E27FC236}">
                <a16:creationId xmlns:a16="http://schemas.microsoft.com/office/drawing/2014/main" id="{61CC6867-232A-AE4A-A679-CCECC09A170E}"/>
              </a:ext>
            </a:extLst>
          </p:cNvPr>
          <p:cNvSpPr>
            <a:spLocks noChangeAspect="1" noChangeArrowheads="1" noTextEdit="1"/>
          </p:cNvSpPr>
          <p:nvPr/>
        </p:nvSpPr>
        <p:spPr bwMode="auto">
          <a:xfrm>
            <a:off x="500063" y="3776663"/>
            <a:ext cx="8193087" cy="234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21" name="Rectangle 27">
            <a:extLst>
              <a:ext uri="{FF2B5EF4-FFF2-40B4-BE49-F238E27FC236}">
                <a16:creationId xmlns:a16="http://schemas.microsoft.com/office/drawing/2014/main" id="{9720763F-4451-9A40-86F2-8CA9EB0B682D}"/>
              </a:ext>
            </a:extLst>
          </p:cNvPr>
          <p:cNvSpPr>
            <a:spLocks noChangeArrowheads="1"/>
          </p:cNvSpPr>
          <p:nvPr/>
        </p:nvSpPr>
        <p:spPr bwMode="auto">
          <a:xfrm>
            <a:off x="6019800" y="3810000"/>
            <a:ext cx="2640013" cy="1627188"/>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22" name="Rectangle 28">
            <a:extLst>
              <a:ext uri="{FF2B5EF4-FFF2-40B4-BE49-F238E27FC236}">
                <a16:creationId xmlns:a16="http://schemas.microsoft.com/office/drawing/2014/main" id="{F39113E5-0469-C84B-8C09-03827AF73407}"/>
              </a:ext>
            </a:extLst>
          </p:cNvPr>
          <p:cNvSpPr>
            <a:spLocks noChangeArrowheads="1"/>
          </p:cNvSpPr>
          <p:nvPr/>
        </p:nvSpPr>
        <p:spPr bwMode="auto">
          <a:xfrm>
            <a:off x="6019800" y="3810000"/>
            <a:ext cx="2640013" cy="1627188"/>
          </a:xfrm>
          <a:prstGeom prst="rect">
            <a:avLst/>
          </a:prstGeom>
          <a:noFill/>
          <a:ln w="158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23" name="Rectangle 29">
            <a:extLst>
              <a:ext uri="{FF2B5EF4-FFF2-40B4-BE49-F238E27FC236}">
                <a16:creationId xmlns:a16="http://schemas.microsoft.com/office/drawing/2014/main" id="{2011A601-50A1-4041-BA61-602C826E87FE}"/>
              </a:ext>
            </a:extLst>
          </p:cNvPr>
          <p:cNvSpPr>
            <a:spLocks noChangeArrowheads="1"/>
          </p:cNvSpPr>
          <p:nvPr/>
        </p:nvSpPr>
        <p:spPr bwMode="auto">
          <a:xfrm>
            <a:off x="6221413" y="4014788"/>
            <a:ext cx="2235200" cy="304800"/>
          </a:xfrm>
          <a:prstGeom prst="rect">
            <a:avLst/>
          </a:prstGeom>
          <a:solidFill>
            <a:srgbClr val="FFB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24" name="Rectangle 30">
            <a:extLst>
              <a:ext uri="{FF2B5EF4-FFF2-40B4-BE49-F238E27FC236}">
                <a16:creationId xmlns:a16="http://schemas.microsoft.com/office/drawing/2014/main" id="{EA58D1C4-D502-0245-84B1-66FC9D8606AB}"/>
              </a:ext>
            </a:extLst>
          </p:cNvPr>
          <p:cNvSpPr>
            <a:spLocks noChangeArrowheads="1"/>
          </p:cNvSpPr>
          <p:nvPr/>
        </p:nvSpPr>
        <p:spPr bwMode="auto">
          <a:xfrm>
            <a:off x="6221413" y="4014788"/>
            <a:ext cx="2235200" cy="304800"/>
          </a:xfrm>
          <a:prstGeom prst="rect">
            <a:avLst/>
          </a:prstGeom>
          <a:noFill/>
          <a:ln w="158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25" name="Rectangle 31">
            <a:extLst>
              <a:ext uri="{FF2B5EF4-FFF2-40B4-BE49-F238E27FC236}">
                <a16:creationId xmlns:a16="http://schemas.microsoft.com/office/drawing/2014/main" id="{D90A5794-9BE9-9B49-9FBC-7113D68E6AE2}"/>
              </a:ext>
            </a:extLst>
          </p:cNvPr>
          <p:cNvSpPr>
            <a:spLocks noChangeArrowheads="1"/>
          </p:cNvSpPr>
          <p:nvPr/>
        </p:nvSpPr>
        <p:spPr bwMode="auto">
          <a:xfrm>
            <a:off x="6435725" y="4005263"/>
            <a:ext cx="18746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2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Thread Warp 0</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26" name="Rectangle 32">
            <a:extLst>
              <a:ext uri="{FF2B5EF4-FFF2-40B4-BE49-F238E27FC236}">
                <a16:creationId xmlns:a16="http://schemas.microsoft.com/office/drawing/2014/main" id="{87A687BF-4C51-864C-B3C1-C22D9B581BCE}"/>
              </a:ext>
            </a:extLst>
          </p:cNvPr>
          <p:cNvSpPr>
            <a:spLocks noChangeArrowheads="1"/>
          </p:cNvSpPr>
          <p:nvPr/>
        </p:nvSpPr>
        <p:spPr bwMode="auto">
          <a:xfrm>
            <a:off x="6221413" y="4319588"/>
            <a:ext cx="2235200" cy="303212"/>
          </a:xfrm>
          <a:prstGeom prst="rect">
            <a:avLst/>
          </a:prstGeom>
          <a:solidFill>
            <a:srgbClr val="FFD5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27" name="Rectangle 33">
            <a:extLst>
              <a:ext uri="{FF2B5EF4-FFF2-40B4-BE49-F238E27FC236}">
                <a16:creationId xmlns:a16="http://schemas.microsoft.com/office/drawing/2014/main" id="{F8BC4475-285C-524D-8821-E4BC72E5D599}"/>
              </a:ext>
            </a:extLst>
          </p:cNvPr>
          <p:cNvSpPr>
            <a:spLocks noChangeArrowheads="1"/>
          </p:cNvSpPr>
          <p:nvPr/>
        </p:nvSpPr>
        <p:spPr bwMode="auto">
          <a:xfrm>
            <a:off x="6221413" y="4319588"/>
            <a:ext cx="2235200" cy="303212"/>
          </a:xfrm>
          <a:prstGeom prst="rect">
            <a:avLst/>
          </a:prstGeom>
          <a:noFill/>
          <a:ln w="158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28" name="Rectangle 34">
            <a:extLst>
              <a:ext uri="{FF2B5EF4-FFF2-40B4-BE49-F238E27FC236}">
                <a16:creationId xmlns:a16="http://schemas.microsoft.com/office/drawing/2014/main" id="{10DDD0BE-EC85-9D4C-BA81-0D09DC511315}"/>
              </a:ext>
            </a:extLst>
          </p:cNvPr>
          <p:cNvSpPr>
            <a:spLocks noChangeArrowheads="1"/>
          </p:cNvSpPr>
          <p:nvPr/>
        </p:nvSpPr>
        <p:spPr bwMode="auto">
          <a:xfrm>
            <a:off x="6435725" y="4300538"/>
            <a:ext cx="18669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2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Thread Warp 8</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29" name="Freeform 35">
            <a:extLst>
              <a:ext uri="{FF2B5EF4-FFF2-40B4-BE49-F238E27FC236}">
                <a16:creationId xmlns:a16="http://schemas.microsoft.com/office/drawing/2014/main" id="{5174AFDF-FA1C-D14C-850D-666229E91172}"/>
              </a:ext>
            </a:extLst>
          </p:cNvPr>
          <p:cNvSpPr>
            <a:spLocks/>
          </p:cNvSpPr>
          <p:nvPr/>
        </p:nvSpPr>
        <p:spPr bwMode="auto">
          <a:xfrm>
            <a:off x="7315200" y="4675188"/>
            <a:ext cx="49213" cy="50800"/>
          </a:xfrm>
          <a:custGeom>
            <a:avLst/>
            <a:gdLst>
              <a:gd name="T0" fmla="*/ 0 w 49"/>
              <a:gd name="T1" fmla="*/ 2147483647 h 50"/>
              <a:gd name="T2" fmla="*/ 2147483647 w 49"/>
              <a:gd name="T3" fmla="*/ 0 h 50"/>
              <a:gd name="T4" fmla="*/ 2147483647 w 49"/>
              <a:gd name="T5" fmla="*/ 2147483647 h 50"/>
              <a:gd name="T6" fmla="*/ 2147483647 w 49"/>
              <a:gd name="T7" fmla="*/ 2147483647 h 50"/>
              <a:gd name="T8" fmla="*/ 2147483647 w 49"/>
              <a:gd name="T9" fmla="*/ 2147483647 h 50"/>
              <a:gd name="T10" fmla="*/ 0 w 49"/>
              <a:gd name="T11" fmla="*/ 2147483647 h 50"/>
              <a:gd name="T12" fmla="*/ 0 60000 65536"/>
              <a:gd name="T13" fmla="*/ 0 60000 65536"/>
              <a:gd name="T14" fmla="*/ 0 60000 65536"/>
              <a:gd name="T15" fmla="*/ 0 60000 65536"/>
              <a:gd name="T16" fmla="*/ 0 60000 65536"/>
              <a:gd name="T17" fmla="*/ 0 60000 65536"/>
              <a:gd name="T18" fmla="*/ 0 w 49"/>
              <a:gd name="T19" fmla="*/ 0 h 50"/>
              <a:gd name="T20" fmla="*/ 49 w 49"/>
              <a:gd name="T21" fmla="*/ 50 h 50"/>
            </a:gdLst>
            <a:ahLst/>
            <a:cxnLst>
              <a:cxn ang="T12">
                <a:pos x="T0" y="T1"/>
              </a:cxn>
              <a:cxn ang="T13">
                <a:pos x="T2" y="T3"/>
              </a:cxn>
              <a:cxn ang="T14">
                <a:pos x="T4" y="T5"/>
              </a:cxn>
              <a:cxn ang="T15">
                <a:pos x="T6" y="T7"/>
              </a:cxn>
              <a:cxn ang="T16">
                <a:pos x="T8" y="T9"/>
              </a:cxn>
              <a:cxn ang="T17">
                <a:pos x="T10" y="T11"/>
              </a:cxn>
            </a:cxnLst>
            <a:rect l="T18" t="T19" r="T20" b="T21"/>
            <a:pathLst>
              <a:path w="49" h="50">
                <a:moveTo>
                  <a:pt x="0" y="25"/>
                </a:moveTo>
                <a:cubicBezTo>
                  <a:pt x="0" y="11"/>
                  <a:pt x="11" y="0"/>
                  <a:pt x="24" y="0"/>
                </a:cubicBezTo>
                <a:cubicBezTo>
                  <a:pt x="38" y="0"/>
                  <a:pt x="49" y="11"/>
                  <a:pt x="49" y="25"/>
                </a:cubicBezTo>
                <a:cubicBezTo>
                  <a:pt x="49" y="25"/>
                  <a:pt x="49" y="25"/>
                  <a:pt x="49" y="25"/>
                </a:cubicBezTo>
                <a:cubicBezTo>
                  <a:pt x="49" y="39"/>
                  <a:pt x="38" y="50"/>
                  <a:pt x="24" y="50"/>
                </a:cubicBezTo>
                <a:cubicBezTo>
                  <a:pt x="11" y="50"/>
                  <a:pt x="0" y="39"/>
                  <a:pt x="0" y="25"/>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30" name="Freeform 36">
            <a:extLst>
              <a:ext uri="{FF2B5EF4-FFF2-40B4-BE49-F238E27FC236}">
                <a16:creationId xmlns:a16="http://schemas.microsoft.com/office/drawing/2014/main" id="{571C8627-58EC-D345-93E7-C24DA631CEAE}"/>
              </a:ext>
            </a:extLst>
          </p:cNvPr>
          <p:cNvSpPr>
            <a:spLocks/>
          </p:cNvSpPr>
          <p:nvPr/>
        </p:nvSpPr>
        <p:spPr bwMode="auto">
          <a:xfrm>
            <a:off x="7315200" y="4675188"/>
            <a:ext cx="49213" cy="50800"/>
          </a:xfrm>
          <a:custGeom>
            <a:avLst/>
            <a:gdLst>
              <a:gd name="T0" fmla="*/ 0 w 31"/>
              <a:gd name="T1" fmla="*/ 2147483647 h 32"/>
              <a:gd name="T2" fmla="*/ 2147483647 w 31"/>
              <a:gd name="T3" fmla="*/ 0 h 32"/>
              <a:gd name="T4" fmla="*/ 2147483647 w 31"/>
              <a:gd name="T5" fmla="*/ 2147483647 h 32"/>
              <a:gd name="T6" fmla="*/ 2147483647 w 31"/>
              <a:gd name="T7" fmla="*/ 2147483647 h 32"/>
              <a:gd name="T8" fmla="*/ 2147483647 w 31"/>
              <a:gd name="T9" fmla="*/ 2147483647 h 32"/>
              <a:gd name="T10" fmla="*/ 0 w 31"/>
              <a:gd name="T11" fmla="*/ 2147483647 h 32"/>
              <a:gd name="T12" fmla="*/ 0 60000 65536"/>
              <a:gd name="T13" fmla="*/ 0 60000 65536"/>
              <a:gd name="T14" fmla="*/ 0 60000 65536"/>
              <a:gd name="T15" fmla="*/ 0 60000 65536"/>
              <a:gd name="T16" fmla="*/ 0 60000 65536"/>
              <a:gd name="T17" fmla="*/ 0 60000 65536"/>
              <a:gd name="T18" fmla="*/ 0 w 31"/>
              <a:gd name="T19" fmla="*/ 0 h 32"/>
              <a:gd name="T20" fmla="*/ 31 w 31"/>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31" h="32">
                <a:moveTo>
                  <a:pt x="0" y="16"/>
                </a:moveTo>
                <a:cubicBezTo>
                  <a:pt x="0" y="7"/>
                  <a:pt x="7" y="0"/>
                  <a:pt x="15" y="0"/>
                </a:cubicBezTo>
                <a:cubicBezTo>
                  <a:pt x="24" y="0"/>
                  <a:pt x="31" y="7"/>
                  <a:pt x="31" y="16"/>
                </a:cubicBezTo>
                <a:cubicBezTo>
                  <a:pt x="31" y="16"/>
                  <a:pt x="31" y="16"/>
                  <a:pt x="31" y="16"/>
                </a:cubicBezTo>
                <a:cubicBezTo>
                  <a:pt x="31" y="25"/>
                  <a:pt x="24" y="32"/>
                  <a:pt x="15" y="32"/>
                </a:cubicBezTo>
                <a:cubicBezTo>
                  <a:pt x="7" y="32"/>
                  <a:pt x="0" y="25"/>
                  <a:pt x="0" y="16"/>
                </a:cubicBezTo>
              </a:path>
            </a:pathLst>
          </a:cu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31" name="Freeform 37">
            <a:extLst>
              <a:ext uri="{FF2B5EF4-FFF2-40B4-BE49-F238E27FC236}">
                <a16:creationId xmlns:a16="http://schemas.microsoft.com/office/drawing/2014/main" id="{A4F95506-5952-3441-B1BF-5DFDAE15875A}"/>
              </a:ext>
            </a:extLst>
          </p:cNvPr>
          <p:cNvSpPr>
            <a:spLocks/>
          </p:cNvSpPr>
          <p:nvPr/>
        </p:nvSpPr>
        <p:spPr bwMode="auto">
          <a:xfrm>
            <a:off x="7315200" y="4775200"/>
            <a:ext cx="49213" cy="52388"/>
          </a:xfrm>
          <a:custGeom>
            <a:avLst/>
            <a:gdLst>
              <a:gd name="T0" fmla="*/ 0 w 49"/>
              <a:gd name="T1" fmla="*/ 2147483647 h 50"/>
              <a:gd name="T2" fmla="*/ 2147483647 w 49"/>
              <a:gd name="T3" fmla="*/ 0 h 50"/>
              <a:gd name="T4" fmla="*/ 2147483647 w 49"/>
              <a:gd name="T5" fmla="*/ 2147483647 h 50"/>
              <a:gd name="T6" fmla="*/ 2147483647 w 49"/>
              <a:gd name="T7" fmla="*/ 2147483647 h 50"/>
              <a:gd name="T8" fmla="*/ 2147483647 w 49"/>
              <a:gd name="T9" fmla="*/ 2147483647 h 50"/>
              <a:gd name="T10" fmla="*/ 0 w 49"/>
              <a:gd name="T11" fmla="*/ 2147483647 h 50"/>
              <a:gd name="T12" fmla="*/ 0 60000 65536"/>
              <a:gd name="T13" fmla="*/ 0 60000 65536"/>
              <a:gd name="T14" fmla="*/ 0 60000 65536"/>
              <a:gd name="T15" fmla="*/ 0 60000 65536"/>
              <a:gd name="T16" fmla="*/ 0 60000 65536"/>
              <a:gd name="T17" fmla="*/ 0 60000 65536"/>
              <a:gd name="T18" fmla="*/ 0 w 49"/>
              <a:gd name="T19" fmla="*/ 0 h 50"/>
              <a:gd name="T20" fmla="*/ 49 w 49"/>
              <a:gd name="T21" fmla="*/ 50 h 50"/>
            </a:gdLst>
            <a:ahLst/>
            <a:cxnLst>
              <a:cxn ang="T12">
                <a:pos x="T0" y="T1"/>
              </a:cxn>
              <a:cxn ang="T13">
                <a:pos x="T2" y="T3"/>
              </a:cxn>
              <a:cxn ang="T14">
                <a:pos x="T4" y="T5"/>
              </a:cxn>
              <a:cxn ang="T15">
                <a:pos x="T6" y="T7"/>
              </a:cxn>
              <a:cxn ang="T16">
                <a:pos x="T8" y="T9"/>
              </a:cxn>
              <a:cxn ang="T17">
                <a:pos x="T10" y="T11"/>
              </a:cxn>
            </a:cxnLst>
            <a:rect l="T18" t="T19" r="T20" b="T21"/>
            <a:pathLst>
              <a:path w="49" h="50">
                <a:moveTo>
                  <a:pt x="0" y="25"/>
                </a:moveTo>
                <a:cubicBezTo>
                  <a:pt x="0" y="12"/>
                  <a:pt x="11" y="0"/>
                  <a:pt x="24" y="0"/>
                </a:cubicBezTo>
                <a:cubicBezTo>
                  <a:pt x="38" y="0"/>
                  <a:pt x="49" y="12"/>
                  <a:pt x="49" y="25"/>
                </a:cubicBezTo>
                <a:cubicBezTo>
                  <a:pt x="49" y="25"/>
                  <a:pt x="49" y="25"/>
                  <a:pt x="49" y="25"/>
                </a:cubicBezTo>
                <a:cubicBezTo>
                  <a:pt x="49" y="39"/>
                  <a:pt x="38" y="50"/>
                  <a:pt x="24" y="50"/>
                </a:cubicBezTo>
                <a:cubicBezTo>
                  <a:pt x="11" y="50"/>
                  <a:pt x="0" y="39"/>
                  <a:pt x="0" y="25"/>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32" name="Freeform 38">
            <a:extLst>
              <a:ext uri="{FF2B5EF4-FFF2-40B4-BE49-F238E27FC236}">
                <a16:creationId xmlns:a16="http://schemas.microsoft.com/office/drawing/2014/main" id="{6FBB0E23-1AFB-8D47-9A4B-E4E8BFD0DD5D}"/>
              </a:ext>
            </a:extLst>
          </p:cNvPr>
          <p:cNvSpPr>
            <a:spLocks/>
          </p:cNvSpPr>
          <p:nvPr/>
        </p:nvSpPr>
        <p:spPr bwMode="auto">
          <a:xfrm>
            <a:off x="7315200" y="4775200"/>
            <a:ext cx="49213" cy="52388"/>
          </a:xfrm>
          <a:custGeom>
            <a:avLst/>
            <a:gdLst>
              <a:gd name="T0" fmla="*/ 0 w 31"/>
              <a:gd name="T1" fmla="*/ 2147483647 h 33"/>
              <a:gd name="T2" fmla="*/ 2147483647 w 31"/>
              <a:gd name="T3" fmla="*/ 0 h 33"/>
              <a:gd name="T4" fmla="*/ 2147483647 w 31"/>
              <a:gd name="T5" fmla="*/ 2147483647 h 33"/>
              <a:gd name="T6" fmla="*/ 2147483647 w 31"/>
              <a:gd name="T7" fmla="*/ 2147483647 h 33"/>
              <a:gd name="T8" fmla="*/ 2147483647 w 31"/>
              <a:gd name="T9" fmla="*/ 2147483647 h 33"/>
              <a:gd name="T10" fmla="*/ 0 w 31"/>
              <a:gd name="T11" fmla="*/ 2147483647 h 33"/>
              <a:gd name="T12" fmla="*/ 0 60000 65536"/>
              <a:gd name="T13" fmla="*/ 0 60000 65536"/>
              <a:gd name="T14" fmla="*/ 0 60000 65536"/>
              <a:gd name="T15" fmla="*/ 0 60000 65536"/>
              <a:gd name="T16" fmla="*/ 0 60000 65536"/>
              <a:gd name="T17" fmla="*/ 0 60000 65536"/>
              <a:gd name="T18" fmla="*/ 0 w 31"/>
              <a:gd name="T19" fmla="*/ 0 h 33"/>
              <a:gd name="T20" fmla="*/ 31 w 31"/>
              <a:gd name="T21" fmla="*/ 33 h 33"/>
            </a:gdLst>
            <a:ahLst/>
            <a:cxnLst>
              <a:cxn ang="T12">
                <a:pos x="T0" y="T1"/>
              </a:cxn>
              <a:cxn ang="T13">
                <a:pos x="T2" y="T3"/>
              </a:cxn>
              <a:cxn ang="T14">
                <a:pos x="T4" y="T5"/>
              </a:cxn>
              <a:cxn ang="T15">
                <a:pos x="T6" y="T7"/>
              </a:cxn>
              <a:cxn ang="T16">
                <a:pos x="T8" y="T9"/>
              </a:cxn>
              <a:cxn ang="T17">
                <a:pos x="T10" y="T11"/>
              </a:cxn>
            </a:cxnLst>
            <a:rect l="T18" t="T19" r="T20" b="T21"/>
            <a:pathLst>
              <a:path w="31" h="33">
                <a:moveTo>
                  <a:pt x="0" y="17"/>
                </a:moveTo>
                <a:cubicBezTo>
                  <a:pt x="0" y="8"/>
                  <a:pt x="7" y="0"/>
                  <a:pt x="15" y="0"/>
                </a:cubicBezTo>
                <a:cubicBezTo>
                  <a:pt x="24" y="0"/>
                  <a:pt x="31" y="8"/>
                  <a:pt x="31" y="17"/>
                </a:cubicBezTo>
                <a:cubicBezTo>
                  <a:pt x="31" y="17"/>
                  <a:pt x="31" y="17"/>
                  <a:pt x="31" y="17"/>
                </a:cubicBezTo>
                <a:cubicBezTo>
                  <a:pt x="31" y="26"/>
                  <a:pt x="24" y="33"/>
                  <a:pt x="15" y="33"/>
                </a:cubicBezTo>
                <a:cubicBezTo>
                  <a:pt x="7" y="33"/>
                  <a:pt x="0" y="26"/>
                  <a:pt x="0" y="17"/>
                </a:cubicBezTo>
              </a:path>
            </a:pathLst>
          </a:cu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33" name="Freeform 39">
            <a:extLst>
              <a:ext uri="{FF2B5EF4-FFF2-40B4-BE49-F238E27FC236}">
                <a16:creationId xmlns:a16="http://schemas.microsoft.com/office/drawing/2014/main" id="{C576AB20-2B1F-FA41-B26F-613D3CCF9041}"/>
              </a:ext>
            </a:extLst>
          </p:cNvPr>
          <p:cNvSpPr>
            <a:spLocks/>
          </p:cNvSpPr>
          <p:nvPr/>
        </p:nvSpPr>
        <p:spPr bwMode="auto">
          <a:xfrm>
            <a:off x="7315200" y="4878388"/>
            <a:ext cx="49213" cy="50800"/>
          </a:xfrm>
          <a:custGeom>
            <a:avLst/>
            <a:gdLst>
              <a:gd name="T0" fmla="*/ 0 w 49"/>
              <a:gd name="T1" fmla="*/ 2147483647 h 49"/>
              <a:gd name="T2" fmla="*/ 2147483647 w 49"/>
              <a:gd name="T3" fmla="*/ 0 h 49"/>
              <a:gd name="T4" fmla="*/ 2147483647 w 49"/>
              <a:gd name="T5" fmla="*/ 2147483647 h 49"/>
              <a:gd name="T6" fmla="*/ 2147483647 w 49"/>
              <a:gd name="T7" fmla="*/ 2147483647 h 49"/>
              <a:gd name="T8" fmla="*/ 2147483647 w 49"/>
              <a:gd name="T9" fmla="*/ 2147483647 h 49"/>
              <a:gd name="T10" fmla="*/ 0 w 49"/>
              <a:gd name="T11" fmla="*/ 2147483647 h 49"/>
              <a:gd name="T12" fmla="*/ 0 60000 65536"/>
              <a:gd name="T13" fmla="*/ 0 60000 65536"/>
              <a:gd name="T14" fmla="*/ 0 60000 65536"/>
              <a:gd name="T15" fmla="*/ 0 60000 65536"/>
              <a:gd name="T16" fmla="*/ 0 60000 65536"/>
              <a:gd name="T17" fmla="*/ 0 60000 65536"/>
              <a:gd name="T18" fmla="*/ 0 w 49"/>
              <a:gd name="T19" fmla="*/ 0 h 49"/>
              <a:gd name="T20" fmla="*/ 49 w 49"/>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49" h="49">
                <a:moveTo>
                  <a:pt x="0" y="25"/>
                </a:moveTo>
                <a:cubicBezTo>
                  <a:pt x="0" y="11"/>
                  <a:pt x="11" y="0"/>
                  <a:pt x="24" y="0"/>
                </a:cubicBezTo>
                <a:cubicBezTo>
                  <a:pt x="38" y="0"/>
                  <a:pt x="49" y="11"/>
                  <a:pt x="49" y="25"/>
                </a:cubicBezTo>
                <a:cubicBezTo>
                  <a:pt x="49" y="25"/>
                  <a:pt x="49" y="25"/>
                  <a:pt x="49" y="25"/>
                </a:cubicBezTo>
                <a:cubicBezTo>
                  <a:pt x="49" y="38"/>
                  <a:pt x="38" y="49"/>
                  <a:pt x="24" y="49"/>
                </a:cubicBezTo>
                <a:cubicBezTo>
                  <a:pt x="11" y="49"/>
                  <a:pt x="0" y="38"/>
                  <a:pt x="0" y="25"/>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34" name="Freeform 40">
            <a:extLst>
              <a:ext uri="{FF2B5EF4-FFF2-40B4-BE49-F238E27FC236}">
                <a16:creationId xmlns:a16="http://schemas.microsoft.com/office/drawing/2014/main" id="{2E363D99-A0CD-9041-B4DB-DCCC6B1F2E43}"/>
              </a:ext>
            </a:extLst>
          </p:cNvPr>
          <p:cNvSpPr>
            <a:spLocks/>
          </p:cNvSpPr>
          <p:nvPr/>
        </p:nvSpPr>
        <p:spPr bwMode="auto">
          <a:xfrm>
            <a:off x="7315200" y="4878388"/>
            <a:ext cx="49213" cy="50800"/>
          </a:xfrm>
          <a:custGeom>
            <a:avLst/>
            <a:gdLst>
              <a:gd name="T0" fmla="*/ 0 w 31"/>
              <a:gd name="T1" fmla="*/ 2147483647 h 32"/>
              <a:gd name="T2" fmla="*/ 2147483647 w 31"/>
              <a:gd name="T3" fmla="*/ 0 h 32"/>
              <a:gd name="T4" fmla="*/ 2147483647 w 31"/>
              <a:gd name="T5" fmla="*/ 2147483647 h 32"/>
              <a:gd name="T6" fmla="*/ 2147483647 w 31"/>
              <a:gd name="T7" fmla="*/ 2147483647 h 32"/>
              <a:gd name="T8" fmla="*/ 2147483647 w 31"/>
              <a:gd name="T9" fmla="*/ 2147483647 h 32"/>
              <a:gd name="T10" fmla="*/ 0 w 31"/>
              <a:gd name="T11" fmla="*/ 2147483647 h 32"/>
              <a:gd name="T12" fmla="*/ 0 60000 65536"/>
              <a:gd name="T13" fmla="*/ 0 60000 65536"/>
              <a:gd name="T14" fmla="*/ 0 60000 65536"/>
              <a:gd name="T15" fmla="*/ 0 60000 65536"/>
              <a:gd name="T16" fmla="*/ 0 60000 65536"/>
              <a:gd name="T17" fmla="*/ 0 60000 65536"/>
              <a:gd name="T18" fmla="*/ 0 w 31"/>
              <a:gd name="T19" fmla="*/ 0 h 32"/>
              <a:gd name="T20" fmla="*/ 31 w 31"/>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31" h="32">
                <a:moveTo>
                  <a:pt x="0" y="16"/>
                </a:moveTo>
                <a:cubicBezTo>
                  <a:pt x="0" y="7"/>
                  <a:pt x="7" y="0"/>
                  <a:pt x="15" y="0"/>
                </a:cubicBezTo>
                <a:cubicBezTo>
                  <a:pt x="24" y="0"/>
                  <a:pt x="31" y="7"/>
                  <a:pt x="31" y="16"/>
                </a:cubicBezTo>
                <a:cubicBezTo>
                  <a:pt x="31" y="16"/>
                  <a:pt x="31" y="16"/>
                  <a:pt x="31" y="16"/>
                </a:cubicBezTo>
                <a:cubicBezTo>
                  <a:pt x="31" y="24"/>
                  <a:pt x="24" y="32"/>
                  <a:pt x="15" y="32"/>
                </a:cubicBezTo>
                <a:cubicBezTo>
                  <a:pt x="7" y="32"/>
                  <a:pt x="0" y="24"/>
                  <a:pt x="0" y="16"/>
                </a:cubicBezTo>
              </a:path>
            </a:pathLst>
          </a:cu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37" name="Rectangle 43">
            <a:extLst>
              <a:ext uri="{FF2B5EF4-FFF2-40B4-BE49-F238E27FC236}">
                <a16:creationId xmlns:a16="http://schemas.microsoft.com/office/drawing/2014/main" id="{46B749B1-F598-4847-B0A0-05438A1A00B6}"/>
              </a:ext>
            </a:extLst>
          </p:cNvPr>
          <p:cNvSpPr>
            <a:spLocks noChangeArrowheads="1"/>
          </p:cNvSpPr>
          <p:nvPr/>
        </p:nvSpPr>
        <p:spPr bwMode="auto">
          <a:xfrm>
            <a:off x="6221413" y="4979988"/>
            <a:ext cx="2235200" cy="304800"/>
          </a:xfrm>
          <a:prstGeom prst="rect">
            <a:avLst/>
          </a:prstGeom>
          <a:solidFill>
            <a:srgbClr val="FFEA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38" name="Rectangle 44">
            <a:extLst>
              <a:ext uri="{FF2B5EF4-FFF2-40B4-BE49-F238E27FC236}">
                <a16:creationId xmlns:a16="http://schemas.microsoft.com/office/drawing/2014/main" id="{2755CC14-9B1C-324F-840A-E257684829D8}"/>
              </a:ext>
            </a:extLst>
          </p:cNvPr>
          <p:cNvSpPr>
            <a:spLocks noChangeArrowheads="1"/>
          </p:cNvSpPr>
          <p:nvPr/>
        </p:nvSpPr>
        <p:spPr bwMode="auto">
          <a:xfrm>
            <a:off x="6221413" y="4979988"/>
            <a:ext cx="2235200" cy="304800"/>
          </a:xfrm>
          <a:prstGeom prst="rect">
            <a:avLst/>
          </a:prstGeom>
          <a:noFill/>
          <a:ln w="158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39" name="Rectangle 45">
            <a:extLst>
              <a:ext uri="{FF2B5EF4-FFF2-40B4-BE49-F238E27FC236}">
                <a16:creationId xmlns:a16="http://schemas.microsoft.com/office/drawing/2014/main" id="{CC85170E-0D44-554E-B139-C9BF95586292}"/>
              </a:ext>
            </a:extLst>
          </p:cNvPr>
          <p:cNvSpPr>
            <a:spLocks noChangeArrowheads="1"/>
          </p:cNvSpPr>
          <p:nvPr/>
        </p:nvSpPr>
        <p:spPr bwMode="auto">
          <a:xfrm>
            <a:off x="6435725" y="4972050"/>
            <a:ext cx="18669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Thread Warp 7</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40" name="Freeform 46">
            <a:extLst>
              <a:ext uri="{FF2B5EF4-FFF2-40B4-BE49-F238E27FC236}">
                <a16:creationId xmlns:a16="http://schemas.microsoft.com/office/drawing/2014/main" id="{765D70BD-FDC4-4B43-AD1A-8E178A42866D}"/>
              </a:ext>
            </a:extLst>
          </p:cNvPr>
          <p:cNvSpPr>
            <a:spLocks noEditPoints="1"/>
          </p:cNvSpPr>
          <p:nvPr/>
        </p:nvSpPr>
        <p:spPr bwMode="auto">
          <a:xfrm flipV="1">
            <a:off x="5248754" y="3878262"/>
            <a:ext cx="982184" cy="127001"/>
          </a:xfrm>
          <a:custGeom>
            <a:avLst/>
            <a:gdLst>
              <a:gd name="T0" fmla="*/ 2147483647 w 1204"/>
              <a:gd name="T1" fmla="*/ 2147483647 h 501"/>
              <a:gd name="T2" fmla="*/ 2147483647 w 1204"/>
              <a:gd name="T3" fmla="*/ 2147483647 h 501"/>
              <a:gd name="T4" fmla="*/ 2147483647 w 1204"/>
              <a:gd name="T5" fmla="*/ 2147483647 h 501"/>
              <a:gd name="T6" fmla="*/ 2147483647 w 1204"/>
              <a:gd name="T7" fmla="*/ 2147483647 h 501"/>
              <a:gd name="T8" fmla="*/ 2147483647 w 1204"/>
              <a:gd name="T9" fmla="*/ 2147483647 h 501"/>
              <a:gd name="T10" fmla="*/ 2147483647 w 1204"/>
              <a:gd name="T11" fmla="*/ 2147483647 h 501"/>
              <a:gd name="T12" fmla="*/ 2147483647 w 1204"/>
              <a:gd name="T13" fmla="*/ 2147483647 h 501"/>
              <a:gd name="T14" fmla="*/ 2147483647 w 1204"/>
              <a:gd name="T15" fmla="*/ 2147483647 h 501"/>
              <a:gd name="T16" fmla="*/ 2147483647 w 1204"/>
              <a:gd name="T17" fmla="*/ 2147483647 h 501"/>
              <a:gd name="T18" fmla="*/ 2147483647 w 1204"/>
              <a:gd name="T19" fmla="*/ 2147483647 h 501"/>
              <a:gd name="T20" fmla="*/ 2147483647 w 1204"/>
              <a:gd name="T21" fmla="*/ 2147483647 h 501"/>
              <a:gd name="T22" fmla="*/ 2147483647 w 1204"/>
              <a:gd name="T23" fmla="*/ 2147483647 h 501"/>
              <a:gd name="T24" fmla="*/ 2147483647 w 1204"/>
              <a:gd name="T25" fmla="*/ 2147483647 h 501"/>
              <a:gd name="T26" fmla="*/ 2147483647 w 1204"/>
              <a:gd name="T27" fmla="*/ 2147483647 h 501"/>
              <a:gd name="T28" fmla="*/ 2147483647 w 1204"/>
              <a:gd name="T29" fmla="*/ 2147483647 h 501"/>
              <a:gd name="T30" fmla="*/ 2147483647 w 1204"/>
              <a:gd name="T31" fmla="*/ 2147483647 h 501"/>
              <a:gd name="T32" fmla="*/ 2147483647 w 1204"/>
              <a:gd name="T33" fmla="*/ 2147483647 h 501"/>
              <a:gd name="T34" fmla="*/ 2147483647 w 1204"/>
              <a:gd name="T35" fmla="*/ 2147483647 h 501"/>
              <a:gd name="T36" fmla="*/ 2147483647 w 1204"/>
              <a:gd name="T37" fmla="*/ 2147483647 h 501"/>
              <a:gd name="T38" fmla="*/ 2147483647 w 1204"/>
              <a:gd name="T39" fmla="*/ 2147483647 h 501"/>
              <a:gd name="T40" fmla="*/ 2147483647 w 1204"/>
              <a:gd name="T41" fmla="*/ 2147483647 h 501"/>
              <a:gd name="T42" fmla="*/ 2147483647 w 1204"/>
              <a:gd name="T43" fmla="*/ 2147483647 h 501"/>
              <a:gd name="T44" fmla="*/ 2147483647 w 1204"/>
              <a:gd name="T45" fmla="*/ 2147483647 h 501"/>
              <a:gd name="T46" fmla="*/ 2147483647 w 1204"/>
              <a:gd name="T47" fmla="*/ 2147483647 h 501"/>
              <a:gd name="T48" fmla="*/ 2147483647 w 1204"/>
              <a:gd name="T49" fmla="*/ 2147483647 h 501"/>
              <a:gd name="T50" fmla="*/ 2147483647 w 1204"/>
              <a:gd name="T51" fmla="*/ 2147483647 h 501"/>
              <a:gd name="T52" fmla="*/ 2147483647 w 1204"/>
              <a:gd name="T53" fmla="*/ 2147483647 h 501"/>
              <a:gd name="T54" fmla="*/ 2147483647 w 1204"/>
              <a:gd name="T55" fmla="*/ 2147483647 h 501"/>
              <a:gd name="T56" fmla="*/ 2147483647 w 1204"/>
              <a:gd name="T57" fmla="*/ 2147483647 h 501"/>
              <a:gd name="T58" fmla="*/ 2147483647 w 1204"/>
              <a:gd name="T59" fmla="*/ 2147483647 h 501"/>
              <a:gd name="T60" fmla="*/ 2147483647 w 1204"/>
              <a:gd name="T61" fmla="*/ 2147483647 h 501"/>
              <a:gd name="T62" fmla="*/ 2147483647 w 1204"/>
              <a:gd name="T63" fmla="*/ 2147483647 h 501"/>
              <a:gd name="T64" fmla="*/ 2147483647 w 1204"/>
              <a:gd name="T65" fmla="*/ 2147483647 h 501"/>
              <a:gd name="T66" fmla="*/ 2147483647 w 1204"/>
              <a:gd name="T67" fmla="*/ 2147483647 h 501"/>
              <a:gd name="T68" fmla="*/ 2147483647 w 1204"/>
              <a:gd name="T69" fmla="*/ 2147483647 h 50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204"/>
              <a:gd name="T106" fmla="*/ 0 h 501"/>
              <a:gd name="T107" fmla="*/ 1204 w 1204"/>
              <a:gd name="T108" fmla="*/ 501 h 50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204" h="501">
                <a:moveTo>
                  <a:pt x="1198" y="16"/>
                </a:moveTo>
                <a:lnTo>
                  <a:pt x="1094" y="58"/>
                </a:lnTo>
                <a:cubicBezTo>
                  <a:pt x="1090" y="60"/>
                  <a:pt x="1086" y="58"/>
                  <a:pt x="1084" y="54"/>
                </a:cubicBezTo>
                <a:cubicBezTo>
                  <a:pt x="1082" y="50"/>
                  <a:pt x="1084" y="45"/>
                  <a:pt x="1088" y="44"/>
                </a:cubicBezTo>
                <a:lnTo>
                  <a:pt x="1192" y="1"/>
                </a:lnTo>
                <a:cubicBezTo>
                  <a:pt x="1196" y="0"/>
                  <a:pt x="1201" y="2"/>
                  <a:pt x="1202" y="6"/>
                </a:cubicBezTo>
                <a:cubicBezTo>
                  <a:pt x="1204" y="10"/>
                  <a:pt x="1202" y="15"/>
                  <a:pt x="1198" y="16"/>
                </a:cubicBezTo>
                <a:close/>
                <a:moveTo>
                  <a:pt x="1020" y="89"/>
                </a:moveTo>
                <a:lnTo>
                  <a:pt x="1020" y="89"/>
                </a:lnTo>
                <a:cubicBezTo>
                  <a:pt x="1016" y="90"/>
                  <a:pt x="1011" y="88"/>
                  <a:pt x="1010" y="84"/>
                </a:cubicBezTo>
                <a:cubicBezTo>
                  <a:pt x="1008" y="80"/>
                  <a:pt x="1010" y="75"/>
                  <a:pt x="1014" y="74"/>
                </a:cubicBezTo>
                <a:cubicBezTo>
                  <a:pt x="1018" y="72"/>
                  <a:pt x="1023" y="74"/>
                  <a:pt x="1025" y="78"/>
                </a:cubicBezTo>
                <a:cubicBezTo>
                  <a:pt x="1026" y="82"/>
                  <a:pt x="1024" y="87"/>
                  <a:pt x="1020" y="89"/>
                </a:cubicBezTo>
                <a:close/>
                <a:moveTo>
                  <a:pt x="946" y="119"/>
                </a:moveTo>
                <a:lnTo>
                  <a:pt x="842" y="161"/>
                </a:lnTo>
                <a:cubicBezTo>
                  <a:pt x="838" y="163"/>
                  <a:pt x="834" y="161"/>
                  <a:pt x="832" y="157"/>
                </a:cubicBezTo>
                <a:cubicBezTo>
                  <a:pt x="830" y="153"/>
                  <a:pt x="832" y="148"/>
                  <a:pt x="836" y="146"/>
                </a:cubicBezTo>
                <a:lnTo>
                  <a:pt x="940" y="104"/>
                </a:lnTo>
                <a:cubicBezTo>
                  <a:pt x="944" y="102"/>
                  <a:pt x="949" y="104"/>
                  <a:pt x="950" y="108"/>
                </a:cubicBezTo>
                <a:cubicBezTo>
                  <a:pt x="952" y="112"/>
                  <a:pt x="950" y="117"/>
                  <a:pt x="946" y="119"/>
                </a:cubicBezTo>
                <a:close/>
                <a:moveTo>
                  <a:pt x="768" y="191"/>
                </a:moveTo>
                <a:lnTo>
                  <a:pt x="768" y="191"/>
                </a:lnTo>
                <a:cubicBezTo>
                  <a:pt x="764" y="193"/>
                  <a:pt x="759" y="191"/>
                  <a:pt x="758" y="187"/>
                </a:cubicBezTo>
                <a:cubicBezTo>
                  <a:pt x="756" y="183"/>
                  <a:pt x="758" y="178"/>
                  <a:pt x="762" y="176"/>
                </a:cubicBezTo>
                <a:cubicBezTo>
                  <a:pt x="766" y="175"/>
                  <a:pt x="771" y="177"/>
                  <a:pt x="773" y="181"/>
                </a:cubicBezTo>
                <a:cubicBezTo>
                  <a:pt x="774" y="185"/>
                  <a:pt x="772" y="190"/>
                  <a:pt x="768" y="191"/>
                </a:cubicBezTo>
                <a:close/>
                <a:moveTo>
                  <a:pt x="694" y="221"/>
                </a:moveTo>
                <a:lnTo>
                  <a:pt x="590" y="264"/>
                </a:lnTo>
                <a:cubicBezTo>
                  <a:pt x="586" y="265"/>
                  <a:pt x="582" y="263"/>
                  <a:pt x="580" y="259"/>
                </a:cubicBezTo>
                <a:cubicBezTo>
                  <a:pt x="578" y="255"/>
                  <a:pt x="580" y="250"/>
                  <a:pt x="584" y="249"/>
                </a:cubicBezTo>
                <a:lnTo>
                  <a:pt x="688" y="207"/>
                </a:lnTo>
                <a:cubicBezTo>
                  <a:pt x="692" y="205"/>
                  <a:pt x="697" y="207"/>
                  <a:pt x="699" y="211"/>
                </a:cubicBezTo>
                <a:cubicBezTo>
                  <a:pt x="700" y="215"/>
                  <a:pt x="698" y="220"/>
                  <a:pt x="694" y="221"/>
                </a:cubicBezTo>
                <a:close/>
                <a:moveTo>
                  <a:pt x="516" y="294"/>
                </a:moveTo>
                <a:lnTo>
                  <a:pt x="516" y="294"/>
                </a:lnTo>
                <a:cubicBezTo>
                  <a:pt x="512" y="295"/>
                  <a:pt x="508" y="293"/>
                  <a:pt x="506" y="289"/>
                </a:cubicBezTo>
                <a:cubicBezTo>
                  <a:pt x="504" y="285"/>
                  <a:pt x="506" y="281"/>
                  <a:pt x="510" y="279"/>
                </a:cubicBezTo>
                <a:cubicBezTo>
                  <a:pt x="514" y="277"/>
                  <a:pt x="519" y="279"/>
                  <a:pt x="521" y="283"/>
                </a:cubicBezTo>
                <a:cubicBezTo>
                  <a:pt x="522" y="288"/>
                  <a:pt x="520" y="292"/>
                  <a:pt x="516" y="294"/>
                </a:cubicBezTo>
                <a:close/>
                <a:moveTo>
                  <a:pt x="442" y="324"/>
                </a:moveTo>
                <a:lnTo>
                  <a:pt x="338" y="366"/>
                </a:lnTo>
                <a:cubicBezTo>
                  <a:pt x="334" y="368"/>
                  <a:pt x="330" y="366"/>
                  <a:pt x="328" y="362"/>
                </a:cubicBezTo>
                <a:cubicBezTo>
                  <a:pt x="326" y="358"/>
                  <a:pt x="328" y="353"/>
                  <a:pt x="332" y="351"/>
                </a:cubicBezTo>
                <a:lnTo>
                  <a:pt x="436" y="309"/>
                </a:lnTo>
                <a:cubicBezTo>
                  <a:pt x="440" y="307"/>
                  <a:pt x="445" y="309"/>
                  <a:pt x="447" y="314"/>
                </a:cubicBezTo>
                <a:cubicBezTo>
                  <a:pt x="448" y="318"/>
                  <a:pt x="446" y="322"/>
                  <a:pt x="442" y="324"/>
                </a:cubicBezTo>
                <a:close/>
                <a:moveTo>
                  <a:pt x="264" y="396"/>
                </a:moveTo>
                <a:lnTo>
                  <a:pt x="264" y="396"/>
                </a:lnTo>
                <a:cubicBezTo>
                  <a:pt x="260" y="398"/>
                  <a:pt x="256" y="396"/>
                  <a:pt x="254" y="392"/>
                </a:cubicBezTo>
                <a:cubicBezTo>
                  <a:pt x="252" y="388"/>
                  <a:pt x="254" y="383"/>
                  <a:pt x="258" y="382"/>
                </a:cubicBezTo>
                <a:cubicBezTo>
                  <a:pt x="263" y="380"/>
                  <a:pt x="267" y="382"/>
                  <a:pt x="269" y="386"/>
                </a:cubicBezTo>
                <a:cubicBezTo>
                  <a:pt x="270" y="390"/>
                  <a:pt x="268" y="395"/>
                  <a:pt x="264" y="396"/>
                </a:cubicBezTo>
                <a:close/>
                <a:moveTo>
                  <a:pt x="190" y="427"/>
                </a:moveTo>
                <a:lnTo>
                  <a:pt x="87" y="469"/>
                </a:lnTo>
                <a:cubicBezTo>
                  <a:pt x="82" y="470"/>
                  <a:pt x="78" y="468"/>
                  <a:pt x="76" y="464"/>
                </a:cubicBezTo>
                <a:cubicBezTo>
                  <a:pt x="74" y="460"/>
                  <a:pt x="76" y="456"/>
                  <a:pt x="81" y="454"/>
                </a:cubicBezTo>
                <a:lnTo>
                  <a:pt x="184" y="412"/>
                </a:lnTo>
                <a:cubicBezTo>
                  <a:pt x="188" y="410"/>
                  <a:pt x="193" y="412"/>
                  <a:pt x="195" y="416"/>
                </a:cubicBezTo>
                <a:cubicBezTo>
                  <a:pt x="196" y="420"/>
                  <a:pt x="194" y="425"/>
                  <a:pt x="190" y="427"/>
                </a:cubicBezTo>
                <a:close/>
                <a:moveTo>
                  <a:pt x="12" y="499"/>
                </a:moveTo>
                <a:lnTo>
                  <a:pt x="12" y="499"/>
                </a:lnTo>
                <a:cubicBezTo>
                  <a:pt x="8" y="501"/>
                  <a:pt x="4" y="499"/>
                  <a:pt x="2" y="494"/>
                </a:cubicBezTo>
                <a:cubicBezTo>
                  <a:pt x="0" y="490"/>
                  <a:pt x="2" y="486"/>
                  <a:pt x="7" y="484"/>
                </a:cubicBezTo>
                <a:cubicBezTo>
                  <a:pt x="11" y="482"/>
                  <a:pt x="15" y="484"/>
                  <a:pt x="17" y="489"/>
                </a:cubicBezTo>
                <a:cubicBezTo>
                  <a:pt x="19" y="493"/>
                  <a:pt x="17" y="497"/>
                  <a:pt x="12" y="499"/>
                </a:cubicBezTo>
                <a:close/>
              </a:path>
            </a:pathLst>
          </a:custGeom>
          <a:solidFill>
            <a:srgbClr val="000000"/>
          </a:solidFill>
          <a:ln w="15875">
            <a:solidFill>
              <a:srgbClr val="000000"/>
            </a:solidFill>
            <a:bevel/>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41" name="Freeform 47">
            <a:extLst>
              <a:ext uri="{FF2B5EF4-FFF2-40B4-BE49-F238E27FC236}">
                <a16:creationId xmlns:a16="http://schemas.microsoft.com/office/drawing/2014/main" id="{B2B8A850-B443-EF47-BF72-FFC78A705C71}"/>
              </a:ext>
            </a:extLst>
          </p:cNvPr>
          <p:cNvSpPr>
            <a:spLocks noEditPoints="1"/>
          </p:cNvSpPr>
          <p:nvPr/>
        </p:nvSpPr>
        <p:spPr bwMode="auto">
          <a:xfrm>
            <a:off x="5269390" y="4310063"/>
            <a:ext cx="961547" cy="1096962"/>
          </a:xfrm>
          <a:custGeom>
            <a:avLst/>
            <a:gdLst>
              <a:gd name="T0" fmla="*/ 2147483647 w 1185"/>
              <a:gd name="T1" fmla="*/ 2147483647 h 1662"/>
              <a:gd name="T2" fmla="*/ 2147483647 w 1185"/>
              <a:gd name="T3" fmla="*/ 2147483647 h 1662"/>
              <a:gd name="T4" fmla="*/ 2147483647 w 1185"/>
              <a:gd name="T5" fmla="*/ 2147483647 h 1662"/>
              <a:gd name="T6" fmla="*/ 2147483647 w 1185"/>
              <a:gd name="T7" fmla="*/ 2147483647 h 1662"/>
              <a:gd name="T8" fmla="*/ 2147483647 w 1185"/>
              <a:gd name="T9" fmla="*/ 2147483647 h 1662"/>
              <a:gd name="T10" fmla="*/ 2147483647 w 1185"/>
              <a:gd name="T11" fmla="*/ 2147483647 h 1662"/>
              <a:gd name="T12" fmla="*/ 2147483647 w 1185"/>
              <a:gd name="T13" fmla="*/ 2147483647 h 1662"/>
              <a:gd name="T14" fmla="*/ 2147483647 w 1185"/>
              <a:gd name="T15" fmla="*/ 2147483647 h 1662"/>
              <a:gd name="T16" fmla="*/ 2147483647 w 1185"/>
              <a:gd name="T17" fmla="*/ 2147483647 h 1662"/>
              <a:gd name="T18" fmla="*/ 2147483647 w 1185"/>
              <a:gd name="T19" fmla="*/ 2147483647 h 1662"/>
              <a:gd name="T20" fmla="*/ 2147483647 w 1185"/>
              <a:gd name="T21" fmla="*/ 2147483647 h 1662"/>
              <a:gd name="T22" fmla="*/ 2147483647 w 1185"/>
              <a:gd name="T23" fmla="*/ 2147483647 h 1662"/>
              <a:gd name="T24" fmla="*/ 2147483647 w 1185"/>
              <a:gd name="T25" fmla="*/ 2147483647 h 1662"/>
              <a:gd name="T26" fmla="*/ 2147483647 w 1185"/>
              <a:gd name="T27" fmla="*/ 2147483647 h 1662"/>
              <a:gd name="T28" fmla="*/ 2147483647 w 1185"/>
              <a:gd name="T29" fmla="*/ 2147483647 h 1662"/>
              <a:gd name="T30" fmla="*/ 2147483647 w 1185"/>
              <a:gd name="T31" fmla="*/ 2147483647 h 1662"/>
              <a:gd name="T32" fmla="*/ 2147483647 w 1185"/>
              <a:gd name="T33" fmla="*/ 2147483647 h 1662"/>
              <a:gd name="T34" fmla="*/ 2147483647 w 1185"/>
              <a:gd name="T35" fmla="*/ 2147483647 h 1662"/>
              <a:gd name="T36" fmla="*/ 2147483647 w 1185"/>
              <a:gd name="T37" fmla="*/ 2147483647 h 1662"/>
              <a:gd name="T38" fmla="*/ 2147483647 w 1185"/>
              <a:gd name="T39" fmla="*/ 2147483647 h 1662"/>
              <a:gd name="T40" fmla="*/ 2147483647 w 1185"/>
              <a:gd name="T41" fmla="*/ 2147483647 h 1662"/>
              <a:gd name="T42" fmla="*/ 2147483647 w 1185"/>
              <a:gd name="T43" fmla="*/ 2147483647 h 1662"/>
              <a:gd name="T44" fmla="*/ 2147483647 w 1185"/>
              <a:gd name="T45" fmla="*/ 2147483647 h 1662"/>
              <a:gd name="T46" fmla="*/ 2147483647 w 1185"/>
              <a:gd name="T47" fmla="*/ 2147483647 h 1662"/>
              <a:gd name="T48" fmla="*/ 2147483647 w 1185"/>
              <a:gd name="T49" fmla="*/ 2147483647 h 1662"/>
              <a:gd name="T50" fmla="*/ 2147483647 w 1185"/>
              <a:gd name="T51" fmla="*/ 2147483647 h 1662"/>
              <a:gd name="T52" fmla="*/ 2147483647 w 1185"/>
              <a:gd name="T53" fmla="*/ 2147483647 h 1662"/>
              <a:gd name="T54" fmla="*/ 2147483647 w 1185"/>
              <a:gd name="T55" fmla="*/ 2147483647 h 1662"/>
              <a:gd name="T56" fmla="*/ 2147483647 w 1185"/>
              <a:gd name="T57" fmla="*/ 2147483647 h 1662"/>
              <a:gd name="T58" fmla="*/ 2147483647 w 1185"/>
              <a:gd name="T59" fmla="*/ 2147483647 h 1662"/>
              <a:gd name="T60" fmla="*/ 2147483647 w 1185"/>
              <a:gd name="T61" fmla="*/ 2147483647 h 1662"/>
              <a:gd name="T62" fmla="*/ 2147483647 w 1185"/>
              <a:gd name="T63" fmla="*/ 2147483647 h 1662"/>
              <a:gd name="T64" fmla="*/ 2147483647 w 1185"/>
              <a:gd name="T65" fmla="*/ 2147483647 h 1662"/>
              <a:gd name="T66" fmla="*/ 2147483647 w 1185"/>
              <a:gd name="T67" fmla="*/ 2147483647 h 1662"/>
              <a:gd name="T68" fmla="*/ 2147483647 w 1185"/>
              <a:gd name="T69" fmla="*/ 2147483647 h 1662"/>
              <a:gd name="T70" fmla="*/ 2147483647 w 1185"/>
              <a:gd name="T71" fmla="*/ 2147483647 h 1662"/>
              <a:gd name="T72" fmla="*/ 2147483647 w 1185"/>
              <a:gd name="T73" fmla="*/ 2147483647 h 1662"/>
              <a:gd name="T74" fmla="*/ 2147483647 w 1185"/>
              <a:gd name="T75" fmla="*/ 2147483647 h 1662"/>
              <a:gd name="T76" fmla="*/ 2147483647 w 1185"/>
              <a:gd name="T77" fmla="*/ 2147483647 h 1662"/>
              <a:gd name="T78" fmla="*/ 2147483647 w 1185"/>
              <a:gd name="T79" fmla="*/ 2147483647 h 1662"/>
              <a:gd name="T80" fmla="*/ 2147483647 w 1185"/>
              <a:gd name="T81" fmla="*/ 2147483647 h 1662"/>
              <a:gd name="T82" fmla="*/ 2147483647 w 1185"/>
              <a:gd name="T83" fmla="*/ 2147483647 h 1662"/>
              <a:gd name="T84" fmla="*/ 2147483647 w 1185"/>
              <a:gd name="T85" fmla="*/ 2147483647 h 1662"/>
              <a:gd name="T86" fmla="*/ 2147483647 w 1185"/>
              <a:gd name="T87" fmla="*/ 2147483647 h 1662"/>
              <a:gd name="T88" fmla="*/ 2147483647 w 1185"/>
              <a:gd name="T89" fmla="*/ 2147483647 h 1662"/>
              <a:gd name="T90" fmla="*/ 2147483647 w 1185"/>
              <a:gd name="T91" fmla="*/ 2147483647 h 1662"/>
              <a:gd name="T92" fmla="*/ 2147483647 w 1185"/>
              <a:gd name="T93" fmla="*/ 2147483647 h 1662"/>
              <a:gd name="T94" fmla="*/ 2147483647 w 1185"/>
              <a:gd name="T95" fmla="*/ 2147483647 h 1662"/>
              <a:gd name="T96" fmla="*/ 2147483647 w 1185"/>
              <a:gd name="T97" fmla="*/ 2147483647 h 1662"/>
              <a:gd name="T98" fmla="*/ 2147483647 w 1185"/>
              <a:gd name="T99" fmla="*/ 2147483647 h 1662"/>
              <a:gd name="T100" fmla="*/ 2147483647 w 1185"/>
              <a:gd name="T101" fmla="*/ 2147483647 h 1662"/>
              <a:gd name="T102" fmla="*/ 2147483647 w 1185"/>
              <a:gd name="T103" fmla="*/ 2147483647 h 166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185"/>
              <a:gd name="T157" fmla="*/ 0 h 1662"/>
              <a:gd name="T158" fmla="*/ 1185 w 1185"/>
              <a:gd name="T159" fmla="*/ 1662 h 166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185" h="1662">
                <a:moveTo>
                  <a:pt x="1183" y="13"/>
                </a:moveTo>
                <a:lnTo>
                  <a:pt x="1118" y="105"/>
                </a:lnTo>
                <a:cubicBezTo>
                  <a:pt x="1115" y="108"/>
                  <a:pt x="1110" y="109"/>
                  <a:pt x="1107" y="107"/>
                </a:cubicBezTo>
                <a:cubicBezTo>
                  <a:pt x="1103" y="104"/>
                  <a:pt x="1102" y="99"/>
                  <a:pt x="1105" y="95"/>
                </a:cubicBezTo>
                <a:lnTo>
                  <a:pt x="1169" y="4"/>
                </a:lnTo>
                <a:cubicBezTo>
                  <a:pt x="1172" y="0"/>
                  <a:pt x="1177" y="0"/>
                  <a:pt x="1181" y="2"/>
                </a:cubicBezTo>
                <a:cubicBezTo>
                  <a:pt x="1184" y="5"/>
                  <a:pt x="1185" y="10"/>
                  <a:pt x="1183" y="13"/>
                </a:cubicBezTo>
                <a:close/>
                <a:moveTo>
                  <a:pt x="1071" y="170"/>
                </a:moveTo>
                <a:lnTo>
                  <a:pt x="1071" y="170"/>
                </a:lnTo>
                <a:cubicBezTo>
                  <a:pt x="1069" y="173"/>
                  <a:pt x="1064" y="174"/>
                  <a:pt x="1060" y="172"/>
                </a:cubicBezTo>
                <a:cubicBezTo>
                  <a:pt x="1057" y="169"/>
                  <a:pt x="1056" y="164"/>
                  <a:pt x="1058" y="161"/>
                </a:cubicBezTo>
                <a:cubicBezTo>
                  <a:pt x="1061" y="157"/>
                  <a:pt x="1066" y="156"/>
                  <a:pt x="1070" y="159"/>
                </a:cubicBezTo>
                <a:cubicBezTo>
                  <a:pt x="1073" y="161"/>
                  <a:pt x="1074" y="166"/>
                  <a:pt x="1071" y="170"/>
                </a:cubicBezTo>
                <a:close/>
                <a:moveTo>
                  <a:pt x="1025" y="235"/>
                </a:moveTo>
                <a:lnTo>
                  <a:pt x="960" y="326"/>
                </a:lnTo>
                <a:cubicBezTo>
                  <a:pt x="958" y="330"/>
                  <a:pt x="953" y="331"/>
                  <a:pt x="949" y="328"/>
                </a:cubicBezTo>
                <a:cubicBezTo>
                  <a:pt x="945" y="326"/>
                  <a:pt x="945" y="321"/>
                  <a:pt x="947" y="317"/>
                </a:cubicBezTo>
                <a:lnTo>
                  <a:pt x="1012" y="226"/>
                </a:lnTo>
                <a:cubicBezTo>
                  <a:pt x="1015" y="222"/>
                  <a:pt x="1020" y="221"/>
                  <a:pt x="1023" y="224"/>
                </a:cubicBezTo>
                <a:cubicBezTo>
                  <a:pt x="1027" y="226"/>
                  <a:pt x="1028" y="231"/>
                  <a:pt x="1025" y="235"/>
                </a:cubicBezTo>
                <a:close/>
                <a:moveTo>
                  <a:pt x="914" y="392"/>
                </a:moveTo>
                <a:lnTo>
                  <a:pt x="914" y="392"/>
                </a:lnTo>
                <a:cubicBezTo>
                  <a:pt x="911" y="395"/>
                  <a:pt x="906" y="396"/>
                  <a:pt x="903" y="394"/>
                </a:cubicBezTo>
                <a:cubicBezTo>
                  <a:pt x="899" y="391"/>
                  <a:pt x="898" y="386"/>
                  <a:pt x="901" y="382"/>
                </a:cubicBezTo>
                <a:cubicBezTo>
                  <a:pt x="903" y="379"/>
                  <a:pt x="908" y="378"/>
                  <a:pt x="912" y="381"/>
                </a:cubicBezTo>
                <a:cubicBezTo>
                  <a:pt x="916" y="383"/>
                  <a:pt x="917" y="388"/>
                  <a:pt x="914" y="392"/>
                </a:cubicBezTo>
                <a:close/>
                <a:moveTo>
                  <a:pt x="868" y="457"/>
                </a:moveTo>
                <a:lnTo>
                  <a:pt x="803" y="548"/>
                </a:lnTo>
                <a:cubicBezTo>
                  <a:pt x="800" y="552"/>
                  <a:pt x="795" y="553"/>
                  <a:pt x="792" y="550"/>
                </a:cubicBezTo>
                <a:cubicBezTo>
                  <a:pt x="788" y="548"/>
                  <a:pt x="787" y="543"/>
                  <a:pt x="790" y="539"/>
                </a:cubicBezTo>
                <a:lnTo>
                  <a:pt x="855" y="448"/>
                </a:lnTo>
                <a:cubicBezTo>
                  <a:pt x="857" y="444"/>
                  <a:pt x="862" y="443"/>
                  <a:pt x="866" y="446"/>
                </a:cubicBezTo>
                <a:cubicBezTo>
                  <a:pt x="869" y="448"/>
                  <a:pt x="870" y="453"/>
                  <a:pt x="868" y="457"/>
                </a:cubicBezTo>
                <a:close/>
                <a:moveTo>
                  <a:pt x="756" y="614"/>
                </a:moveTo>
                <a:lnTo>
                  <a:pt x="756" y="614"/>
                </a:lnTo>
                <a:cubicBezTo>
                  <a:pt x="754" y="617"/>
                  <a:pt x="749" y="618"/>
                  <a:pt x="745" y="615"/>
                </a:cubicBezTo>
                <a:cubicBezTo>
                  <a:pt x="742" y="613"/>
                  <a:pt x="741" y="608"/>
                  <a:pt x="743" y="604"/>
                </a:cubicBezTo>
                <a:cubicBezTo>
                  <a:pt x="746" y="601"/>
                  <a:pt x="751" y="600"/>
                  <a:pt x="755" y="602"/>
                </a:cubicBezTo>
                <a:cubicBezTo>
                  <a:pt x="758" y="605"/>
                  <a:pt x="759" y="610"/>
                  <a:pt x="756" y="614"/>
                </a:cubicBezTo>
                <a:close/>
                <a:moveTo>
                  <a:pt x="710" y="679"/>
                </a:moveTo>
                <a:lnTo>
                  <a:pt x="645" y="770"/>
                </a:lnTo>
                <a:cubicBezTo>
                  <a:pt x="643" y="774"/>
                  <a:pt x="638" y="775"/>
                  <a:pt x="634" y="772"/>
                </a:cubicBezTo>
                <a:cubicBezTo>
                  <a:pt x="631" y="769"/>
                  <a:pt x="630" y="764"/>
                  <a:pt x="632" y="761"/>
                </a:cubicBezTo>
                <a:lnTo>
                  <a:pt x="697" y="669"/>
                </a:lnTo>
                <a:cubicBezTo>
                  <a:pt x="700" y="666"/>
                  <a:pt x="705" y="665"/>
                  <a:pt x="708" y="668"/>
                </a:cubicBezTo>
                <a:cubicBezTo>
                  <a:pt x="712" y="670"/>
                  <a:pt x="713" y="675"/>
                  <a:pt x="710" y="679"/>
                </a:cubicBezTo>
                <a:close/>
                <a:moveTo>
                  <a:pt x="599" y="835"/>
                </a:moveTo>
                <a:lnTo>
                  <a:pt x="599" y="835"/>
                </a:lnTo>
                <a:cubicBezTo>
                  <a:pt x="596" y="839"/>
                  <a:pt x="591" y="840"/>
                  <a:pt x="588" y="837"/>
                </a:cubicBezTo>
                <a:cubicBezTo>
                  <a:pt x="584" y="835"/>
                  <a:pt x="583" y="830"/>
                  <a:pt x="586" y="826"/>
                </a:cubicBezTo>
                <a:cubicBezTo>
                  <a:pt x="589" y="822"/>
                  <a:pt x="594" y="822"/>
                  <a:pt x="597" y="824"/>
                </a:cubicBezTo>
                <a:cubicBezTo>
                  <a:pt x="601" y="827"/>
                  <a:pt x="602" y="832"/>
                  <a:pt x="599" y="835"/>
                </a:cubicBezTo>
                <a:close/>
                <a:moveTo>
                  <a:pt x="553" y="901"/>
                </a:moveTo>
                <a:lnTo>
                  <a:pt x="488" y="992"/>
                </a:lnTo>
                <a:cubicBezTo>
                  <a:pt x="485" y="995"/>
                  <a:pt x="480" y="996"/>
                  <a:pt x="477" y="994"/>
                </a:cubicBezTo>
                <a:cubicBezTo>
                  <a:pt x="473" y="991"/>
                  <a:pt x="472" y="986"/>
                  <a:pt x="475" y="983"/>
                </a:cubicBezTo>
                <a:lnTo>
                  <a:pt x="540" y="891"/>
                </a:lnTo>
                <a:cubicBezTo>
                  <a:pt x="542" y="888"/>
                  <a:pt x="547" y="887"/>
                  <a:pt x="551" y="889"/>
                </a:cubicBezTo>
                <a:cubicBezTo>
                  <a:pt x="554" y="892"/>
                  <a:pt x="555" y="897"/>
                  <a:pt x="553" y="901"/>
                </a:cubicBezTo>
                <a:close/>
                <a:moveTo>
                  <a:pt x="442" y="1057"/>
                </a:moveTo>
                <a:lnTo>
                  <a:pt x="442" y="1057"/>
                </a:lnTo>
                <a:cubicBezTo>
                  <a:pt x="439" y="1061"/>
                  <a:pt x="434" y="1062"/>
                  <a:pt x="430" y="1059"/>
                </a:cubicBezTo>
                <a:cubicBezTo>
                  <a:pt x="427" y="1056"/>
                  <a:pt x="426" y="1051"/>
                  <a:pt x="429" y="1048"/>
                </a:cubicBezTo>
                <a:cubicBezTo>
                  <a:pt x="431" y="1044"/>
                  <a:pt x="436" y="1043"/>
                  <a:pt x="440" y="1046"/>
                </a:cubicBezTo>
                <a:cubicBezTo>
                  <a:pt x="443" y="1049"/>
                  <a:pt x="444" y="1054"/>
                  <a:pt x="442" y="1057"/>
                </a:cubicBezTo>
                <a:close/>
                <a:moveTo>
                  <a:pt x="395" y="1122"/>
                </a:moveTo>
                <a:lnTo>
                  <a:pt x="330" y="1214"/>
                </a:lnTo>
                <a:cubicBezTo>
                  <a:pt x="328" y="1217"/>
                  <a:pt x="323" y="1218"/>
                  <a:pt x="319" y="1216"/>
                </a:cubicBezTo>
                <a:cubicBezTo>
                  <a:pt x="316" y="1213"/>
                  <a:pt x="315" y="1208"/>
                  <a:pt x="317" y="1204"/>
                </a:cubicBezTo>
                <a:lnTo>
                  <a:pt x="382" y="1113"/>
                </a:lnTo>
                <a:cubicBezTo>
                  <a:pt x="385" y="1109"/>
                  <a:pt x="390" y="1109"/>
                  <a:pt x="393" y="1111"/>
                </a:cubicBezTo>
                <a:cubicBezTo>
                  <a:pt x="397" y="1114"/>
                  <a:pt x="398" y="1119"/>
                  <a:pt x="395" y="1122"/>
                </a:cubicBezTo>
                <a:close/>
                <a:moveTo>
                  <a:pt x="284" y="1279"/>
                </a:moveTo>
                <a:lnTo>
                  <a:pt x="284" y="1279"/>
                </a:lnTo>
                <a:cubicBezTo>
                  <a:pt x="282" y="1283"/>
                  <a:pt x="277" y="1283"/>
                  <a:pt x="273" y="1281"/>
                </a:cubicBezTo>
                <a:cubicBezTo>
                  <a:pt x="269" y="1278"/>
                  <a:pt x="269" y="1273"/>
                  <a:pt x="271" y="1270"/>
                </a:cubicBezTo>
                <a:cubicBezTo>
                  <a:pt x="274" y="1266"/>
                  <a:pt x="279" y="1265"/>
                  <a:pt x="282" y="1268"/>
                </a:cubicBezTo>
                <a:cubicBezTo>
                  <a:pt x="286" y="1270"/>
                  <a:pt x="287" y="1275"/>
                  <a:pt x="284" y="1279"/>
                </a:cubicBezTo>
                <a:close/>
                <a:moveTo>
                  <a:pt x="238" y="1344"/>
                </a:moveTo>
                <a:lnTo>
                  <a:pt x="173" y="1436"/>
                </a:lnTo>
                <a:cubicBezTo>
                  <a:pt x="170" y="1439"/>
                  <a:pt x="165" y="1440"/>
                  <a:pt x="162" y="1437"/>
                </a:cubicBezTo>
                <a:cubicBezTo>
                  <a:pt x="158" y="1435"/>
                  <a:pt x="157" y="1430"/>
                  <a:pt x="160" y="1426"/>
                </a:cubicBezTo>
                <a:lnTo>
                  <a:pt x="225" y="1335"/>
                </a:lnTo>
                <a:cubicBezTo>
                  <a:pt x="227" y="1331"/>
                  <a:pt x="232" y="1330"/>
                  <a:pt x="236" y="1333"/>
                </a:cubicBezTo>
                <a:cubicBezTo>
                  <a:pt x="240" y="1336"/>
                  <a:pt x="240" y="1341"/>
                  <a:pt x="238" y="1344"/>
                </a:cubicBezTo>
                <a:close/>
                <a:moveTo>
                  <a:pt x="127" y="1501"/>
                </a:moveTo>
                <a:lnTo>
                  <a:pt x="127" y="1501"/>
                </a:lnTo>
                <a:cubicBezTo>
                  <a:pt x="124" y="1504"/>
                  <a:pt x="119" y="1505"/>
                  <a:pt x="116" y="1503"/>
                </a:cubicBezTo>
                <a:cubicBezTo>
                  <a:pt x="112" y="1500"/>
                  <a:pt x="111" y="1495"/>
                  <a:pt x="114" y="1491"/>
                </a:cubicBezTo>
                <a:cubicBezTo>
                  <a:pt x="116" y="1488"/>
                  <a:pt x="121" y="1487"/>
                  <a:pt x="125" y="1490"/>
                </a:cubicBezTo>
                <a:cubicBezTo>
                  <a:pt x="128" y="1492"/>
                  <a:pt x="129" y="1497"/>
                  <a:pt x="127" y="1501"/>
                </a:cubicBezTo>
                <a:close/>
                <a:moveTo>
                  <a:pt x="80" y="1566"/>
                </a:moveTo>
                <a:lnTo>
                  <a:pt x="16" y="1657"/>
                </a:lnTo>
                <a:cubicBezTo>
                  <a:pt x="13" y="1661"/>
                  <a:pt x="8" y="1662"/>
                  <a:pt x="4" y="1659"/>
                </a:cubicBezTo>
                <a:cubicBezTo>
                  <a:pt x="1" y="1657"/>
                  <a:pt x="0" y="1652"/>
                  <a:pt x="3" y="1648"/>
                </a:cubicBezTo>
                <a:lnTo>
                  <a:pt x="67" y="1557"/>
                </a:lnTo>
                <a:cubicBezTo>
                  <a:pt x="70" y="1553"/>
                  <a:pt x="75" y="1552"/>
                  <a:pt x="78" y="1555"/>
                </a:cubicBezTo>
                <a:cubicBezTo>
                  <a:pt x="82" y="1557"/>
                  <a:pt x="83" y="1562"/>
                  <a:pt x="80" y="1566"/>
                </a:cubicBezTo>
                <a:close/>
              </a:path>
            </a:pathLst>
          </a:custGeom>
          <a:solidFill>
            <a:srgbClr val="000000"/>
          </a:solidFill>
          <a:ln w="15875">
            <a:solidFill>
              <a:srgbClr val="000000"/>
            </a:solidFill>
            <a:bevel/>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42" name="Rectangle 48">
            <a:extLst>
              <a:ext uri="{FF2B5EF4-FFF2-40B4-BE49-F238E27FC236}">
                <a16:creationId xmlns:a16="http://schemas.microsoft.com/office/drawing/2014/main" id="{363C85E4-9409-7749-B277-38943DD988BD}"/>
              </a:ext>
            </a:extLst>
          </p:cNvPr>
          <p:cNvSpPr>
            <a:spLocks noChangeArrowheads="1"/>
          </p:cNvSpPr>
          <p:nvPr/>
        </p:nvSpPr>
        <p:spPr bwMode="auto">
          <a:xfrm>
            <a:off x="787879" y="3883025"/>
            <a:ext cx="4470400" cy="1524000"/>
          </a:xfrm>
          <a:prstGeom prst="rect">
            <a:avLst/>
          </a:prstGeom>
          <a:solidFill>
            <a:srgbClr val="FFB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43" name="Rectangle 49">
            <a:extLst>
              <a:ext uri="{FF2B5EF4-FFF2-40B4-BE49-F238E27FC236}">
                <a16:creationId xmlns:a16="http://schemas.microsoft.com/office/drawing/2014/main" id="{58799587-1A51-8E4A-BB5B-49955084EDD6}"/>
              </a:ext>
            </a:extLst>
          </p:cNvPr>
          <p:cNvSpPr>
            <a:spLocks noChangeArrowheads="1"/>
          </p:cNvSpPr>
          <p:nvPr/>
        </p:nvSpPr>
        <p:spPr bwMode="auto">
          <a:xfrm>
            <a:off x="787879" y="3883025"/>
            <a:ext cx="4470400" cy="1524000"/>
          </a:xfrm>
          <a:prstGeom prst="rect">
            <a:avLst/>
          </a:prstGeom>
          <a:noFill/>
          <a:ln w="158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44" name="Rectangle 50">
            <a:extLst>
              <a:ext uri="{FF2B5EF4-FFF2-40B4-BE49-F238E27FC236}">
                <a16:creationId xmlns:a16="http://schemas.microsoft.com/office/drawing/2014/main" id="{66DD7BFF-D580-344C-9D56-40F53F4F52AA}"/>
              </a:ext>
            </a:extLst>
          </p:cNvPr>
          <p:cNvSpPr>
            <a:spLocks noChangeArrowheads="1"/>
          </p:cNvSpPr>
          <p:nvPr/>
        </p:nvSpPr>
        <p:spPr bwMode="auto">
          <a:xfrm>
            <a:off x="908370" y="3946941"/>
            <a:ext cx="133793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Thread Warp</a:t>
            </a:r>
          </a:p>
        </p:txBody>
      </p:sp>
      <p:sp>
        <p:nvSpPr>
          <p:cNvPr id="60445" name="Rectangle 51">
            <a:extLst>
              <a:ext uri="{FF2B5EF4-FFF2-40B4-BE49-F238E27FC236}">
                <a16:creationId xmlns:a16="http://schemas.microsoft.com/office/drawing/2014/main" id="{6453B316-F686-6441-A541-375BA34547F5}"/>
              </a:ext>
            </a:extLst>
          </p:cNvPr>
          <p:cNvSpPr>
            <a:spLocks noChangeArrowheads="1"/>
          </p:cNvSpPr>
          <p:nvPr/>
        </p:nvSpPr>
        <p:spPr bwMode="auto">
          <a:xfrm>
            <a:off x="1094267" y="4371975"/>
            <a:ext cx="812800" cy="831850"/>
          </a:xfrm>
          <a:prstGeom prst="rect">
            <a:avLst/>
          </a:prstGeom>
          <a:solidFill>
            <a:srgbClr val="FFEA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46" name="Rectangle 52">
            <a:extLst>
              <a:ext uri="{FF2B5EF4-FFF2-40B4-BE49-F238E27FC236}">
                <a16:creationId xmlns:a16="http://schemas.microsoft.com/office/drawing/2014/main" id="{1E282D03-3815-1F48-A465-CF4AD19F2557}"/>
              </a:ext>
            </a:extLst>
          </p:cNvPr>
          <p:cNvSpPr>
            <a:spLocks noChangeArrowheads="1"/>
          </p:cNvSpPr>
          <p:nvPr/>
        </p:nvSpPr>
        <p:spPr bwMode="auto">
          <a:xfrm>
            <a:off x="1094267" y="4371975"/>
            <a:ext cx="812800" cy="831850"/>
          </a:xfrm>
          <a:prstGeom prst="rect">
            <a:avLst/>
          </a:prstGeom>
          <a:noFill/>
          <a:ln w="158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47" name="Rectangle 53">
            <a:extLst>
              <a:ext uri="{FF2B5EF4-FFF2-40B4-BE49-F238E27FC236}">
                <a16:creationId xmlns:a16="http://schemas.microsoft.com/office/drawing/2014/main" id="{733C4935-FE97-7341-A634-077BE036F566}"/>
              </a:ext>
            </a:extLst>
          </p:cNvPr>
          <p:cNvSpPr>
            <a:spLocks noChangeArrowheads="1"/>
          </p:cNvSpPr>
          <p:nvPr/>
        </p:nvSpPr>
        <p:spPr bwMode="auto">
          <a:xfrm>
            <a:off x="1181579" y="4378325"/>
            <a:ext cx="58028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Scalar</a:t>
            </a:r>
          </a:p>
        </p:txBody>
      </p:sp>
      <p:sp>
        <p:nvSpPr>
          <p:cNvPr id="60448" name="Rectangle 54">
            <a:extLst>
              <a:ext uri="{FF2B5EF4-FFF2-40B4-BE49-F238E27FC236}">
                <a16:creationId xmlns:a16="http://schemas.microsoft.com/office/drawing/2014/main" id="{44F3580A-4AA8-7247-9C95-B602EC01DB8F}"/>
              </a:ext>
            </a:extLst>
          </p:cNvPr>
          <p:cNvSpPr>
            <a:spLocks noChangeArrowheads="1"/>
          </p:cNvSpPr>
          <p:nvPr/>
        </p:nvSpPr>
        <p:spPr bwMode="auto">
          <a:xfrm>
            <a:off x="1148242" y="4640262"/>
            <a:ext cx="64921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Thread</a:t>
            </a:r>
          </a:p>
        </p:txBody>
      </p:sp>
      <p:sp>
        <p:nvSpPr>
          <p:cNvPr id="60449" name="Rectangle 55">
            <a:extLst>
              <a:ext uri="{FF2B5EF4-FFF2-40B4-BE49-F238E27FC236}">
                <a16:creationId xmlns:a16="http://schemas.microsoft.com/office/drawing/2014/main" id="{94D0BDC2-2D31-DC49-AE0E-8CBDE43388C0}"/>
              </a:ext>
            </a:extLst>
          </p:cNvPr>
          <p:cNvSpPr>
            <a:spLocks noChangeArrowheads="1"/>
          </p:cNvSpPr>
          <p:nvPr/>
        </p:nvSpPr>
        <p:spPr bwMode="auto">
          <a:xfrm>
            <a:off x="1394304" y="4919662"/>
            <a:ext cx="1138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0</a:t>
            </a:r>
          </a:p>
        </p:txBody>
      </p:sp>
      <p:sp>
        <p:nvSpPr>
          <p:cNvPr id="60450" name="Rectangle 56">
            <a:extLst>
              <a:ext uri="{FF2B5EF4-FFF2-40B4-BE49-F238E27FC236}">
                <a16:creationId xmlns:a16="http://schemas.microsoft.com/office/drawing/2014/main" id="{7E4E4E02-20B2-3E47-87AE-4F8836B68D0E}"/>
              </a:ext>
            </a:extLst>
          </p:cNvPr>
          <p:cNvSpPr>
            <a:spLocks noChangeArrowheads="1"/>
          </p:cNvSpPr>
          <p:nvPr/>
        </p:nvSpPr>
        <p:spPr bwMode="auto">
          <a:xfrm>
            <a:off x="1907067" y="4371975"/>
            <a:ext cx="811212" cy="831850"/>
          </a:xfrm>
          <a:prstGeom prst="rect">
            <a:avLst/>
          </a:prstGeom>
          <a:solidFill>
            <a:srgbClr val="FFEA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51" name="Rectangle 57">
            <a:extLst>
              <a:ext uri="{FF2B5EF4-FFF2-40B4-BE49-F238E27FC236}">
                <a16:creationId xmlns:a16="http://schemas.microsoft.com/office/drawing/2014/main" id="{83791836-D116-0541-9941-7A3D0A083DE3}"/>
              </a:ext>
            </a:extLst>
          </p:cNvPr>
          <p:cNvSpPr>
            <a:spLocks noChangeArrowheads="1"/>
          </p:cNvSpPr>
          <p:nvPr/>
        </p:nvSpPr>
        <p:spPr bwMode="auto">
          <a:xfrm>
            <a:off x="1907067" y="4371975"/>
            <a:ext cx="811212" cy="831850"/>
          </a:xfrm>
          <a:prstGeom prst="rect">
            <a:avLst/>
          </a:prstGeom>
          <a:noFill/>
          <a:ln w="158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52" name="Rectangle 58">
            <a:extLst>
              <a:ext uri="{FF2B5EF4-FFF2-40B4-BE49-F238E27FC236}">
                <a16:creationId xmlns:a16="http://schemas.microsoft.com/office/drawing/2014/main" id="{1BBE62AA-3F4C-D848-BF3A-957FFF67618D}"/>
              </a:ext>
            </a:extLst>
          </p:cNvPr>
          <p:cNvSpPr>
            <a:spLocks noChangeArrowheads="1"/>
          </p:cNvSpPr>
          <p:nvPr/>
        </p:nvSpPr>
        <p:spPr bwMode="auto">
          <a:xfrm>
            <a:off x="1984854" y="4378325"/>
            <a:ext cx="58028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Scalar</a:t>
            </a:r>
          </a:p>
        </p:txBody>
      </p:sp>
      <p:sp>
        <p:nvSpPr>
          <p:cNvPr id="60453" name="Rectangle 59">
            <a:extLst>
              <a:ext uri="{FF2B5EF4-FFF2-40B4-BE49-F238E27FC236}">
                <a16:creationId xmlns:a16="http://schemas.microsoft.com/office/drawing/2014/main" id="{798239A2-05EC-F947-9A33-7688EA7F9C47}"/>
              </a:ext>
            </a:extLst>
          </p:cNvPr>
          <p:cNvSpPr>
            <a:spLocks noChangeArrowheads="1"/>
          </p:cNvSpPr>
          <p:nvPr/>
        </p:nvSpPr>
        <p:spPr bwMode="auto">
          <a:xfrm>
            <a:off x="1951517" y="4640262"/>
            <a:ext cx="64921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Thread</a:t>
            </a:r>
          </a:p>
        </p:txBody>
      </p:sp>
      <p:sp>
        <p:nvSpPr>
          <p:cNvPr id="60454" name="Rectangle 60">
            <a:extLst>
              <a:ext uri="{FF2B5EF4-FFF2-40B4-BE49-F238E27FC236}">
                <a16:creationId xmlns:a16="http://schemas.microsoft.com/office/drawing/2014/main" id="{DB7AE11D-313C-2A4E-A2C2-C9D320BD5D73}"/>
              </a:ext>
            </a:extLst>
          </p:cNvPr>
          <p:cNvSpPr>
            <a:spLocks noChangeArrowheads="1"/>
          </p:cNvSpPr>
          <p:nvPr/>
        </p:nvSpPr>
        <p:spPr bwMode="auto">
          <a:xfrm>
            <a:off x="2230917" y="4919662"/>
            <a:ext cx="1138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a:t>
            </a:r>
          </a:p>
        </p:txBody>
      </p:sp>
      <p:sp>
        <p:nvSpPr>
          <p:cNvPr id="60455" name="Rectangle 61">
            <a:extLst>
              <a:ext uri="{FF2B5EF4-FFF2-40B4-BE49-F238E27FC236}">
                <a16:creationId xmlns:a16="http://schemas.microsoft.com/office/drawing/2014/main" id="{FE209947-DBEC-D747-A51A-A33A85B27215}"/>
              </a:ext>
            </a:extLst>
          </p:cNvPr>
          <p:cNvSpPr>
            <a:spLocks noChangeArrowheads="1"/>
          </p:cNvSpPr>
          <p:nvPr/>
        </p:nvSpPr>
        <p:spPr bwMode="auto">
          <a:xfrm>
            <a:off x="2718279" y="4371975"/>
            <a:ext cx="812800" cy="831850"/>
          </a:xfrm>
          <a:prstGeom prst="rect">
            <a:avLst/>
          </a:prstGeom>
          <a:solidFill>
            <a:srgbClr val="FFEA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56" name="Rectangle 62">
            <a:extLst>
              <a:ext uri="{FF2B5EF4-FFF2-40B4-BE49-F238E27FC236}">
                <a16:creationId xmlns:a16="http://schemas.microsoft.com/office/drawing/2014/main" id="{1ABB1B38-1878-F748-AE83-9819889134D6}"/>
              </a:ext>
            </a:extLst>
          </p:cNvPr>
          <p:cNvSpPr>
            <a:spLocks noChangeArrowheads="1"/>
          </p:cNvSpPr>
          <p:nvPr/>
        </p:nvSpPr>
        <p:spPr bwMode="auto">
          <a:xfrm>
            <a:off x="2718279" y="4371975"/>
            <a:ext cx="812800" cy="831850"/>
          </a:xfrm>
          <a:prstGeom prst="rect">
            <a:avLst/>
          </a:prstGeom>
          <a:noFill/>
          <a:ln w="158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57" name="Rectangle 63">
            <a:extLst>
              <a:ext uri="{FF2B5EF4-FFF2-40B4-BE49-F238E27FC236}">
                <a16:creationId xmlns:a16="http://schemas.microsoft.com/office/drawing/2014/main" id="{DD61E55A-0853-9747-B63A-C01081CFA01E}"/>
              </a:ext>
            </a:extLst>
          </p:cNvPr>
          <p:cNvSpPr>
            <a:spLocks noChangeArrowheads="1"/>
          </p:cNvSpPr>
          <p:nvPr/>
        </p:nvSpPr>
        <p:spPr bwMode="auto">
          <a:xfrm>
            <a:off x="2804004" y="4378325"/>
            <a:ext cx="58028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Scalar</a:t>
            </a:r>
          </a:p>
        </p:txBody>
      </p:sp>
      <p:sp>
        <p:nvSpPr>
          <p:cNvPr id="60458" name="Rectangle 64">
            <a:extLst>
              <a:ext uri="{FF2B5EF4-FFF2-40B4-BE49-F238E27FC236}">
                <a16:creationId xmlns:a16="http://schemas.microsoft.com/office/drawing/2014/main" id="{755422D9-2A6E-0147-AFBC-0D28EFE7A476}"/>
              </a:ext>
            </a:extLst>
          </p:cNvPr>
          <p:cNvSpPr>
            <a:spLocks noChangeArrowheads="1"/>
          </p:cNvSpPr>
          <p:nvPr/>
        </p:nvSpPr>
        <p:spPr bwMode="auto">
          <a:xfrm>
            <a:off x="2770667" y="4640262"/>
            <a:ext cx="64921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Thread</a:t>
            </a:r>
          </a:p>
        </p:txBody>
      </p:sp>
      <p:sp>
        <p:nvSpPr>
          <p:cNvPr id="60459" name="Rectangle 65">
            <a:extLst>
              <a:ext uri="{FF2B5EF4-FFF2-40B4-BE49-F238E27FC236}">
                <a16:creationId xmlns:a16="http://schemas.microsoft.com/office/drawing/2014/main" id="{54DD468C-A4FB-274C-95BC-2C299E704BED}"/>
              </a:ext>
            </a:extLst>
          </p:cNvPr>
          <p:cNvSpPr>
            <a:spLocks noChangeArrowheads="1"/>
          </p:cNvSpPr>
          <p:nvPr/>
        </p:nvSpPr>
        <p:spPr bwMode="auto">
          <a:xfrm>
            <a:off x="3050067" y="4919662"/>
            <a:ext cx="1138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a:t>
            </a:r>
          </a:p>
        </p:txBody>
      </p:sp>
      <p:sp>
        <p:nvSpPr>
          <p:cNvPr id="60460" name="Rectangle 66">
            <a:extLst>
              <a:ext uri="{FF2B5EF4-FFF2-40B4-BE49-F238E27FC236}">
                <a16:creationId xmlns:a16="http://schemas.microsoft.com/office/drawing/2014/main" id="{2B2D306F-36C7-2949-899E-69334302A951}"/>
              </a:ext>
            </a:extLst>
          </p:cNvPr>
          <p:cNvSpPr>
            <a:spLocks noChangeArrowheads="1"/>
          </p:cNvSpPr>
          <p:nvPr/>
        </p:nvSpPr>
        <p:spPr bwMode="auto">
          <a:xfrm>
            <a:off x="4242279" y="4371975"/>
            <a:ext cx="812800" cy="831850"/>
          </a:xfrm>
          <a:prstGeom prst="rect">
            <a:avLst/>
          </a:prstGeom>
          <a:solidFill>
            <a:srgbClr val="FFEA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61" name="Rectangle 67">
            <a:extLst>
              <a:ext uri="{FF2B5EF4-FFF2-40B4-BE49-F238E27FC236}">
                <a16:creationId xmlns:a16="http://schemas.microsoft.com/office/drawing/2014/main" id="{642C6B63-933B-3C49-A265-E5B07C5ABA31}"/>
              </a:ext>
            </a:extLst>
          </p:cNvPr>
          <p:cNvSpPr>
            <a:spLocks noChangeArrowheads="1"/>
          </p:cNvSpPr>
          <p:nvPr/>
        </p:nvSpPr>
        <p:spPr bwMode="auto">
          <a:xfrm>
            <a:off x="4242279" y="4371975"/>
            <a:ext cx="812800" cy="831850"/>
          </a:xfrm>
          <a:prstGeom prst="rect">
            <a:avLst/>
          </a:prstGeom>
          <a:noFill/>
          <a:ln w="158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62" name="Rectangle 68">
            <a:extLst>
              <a:ext uri="{FF2B5EF4-FFF2-40B4-BE49-F238E27FC236}">
                <a16:creationId xmlns:a16="http://schemas.microsoft.com/office/drawing/2014/main" id="{60F0AAAF-88D8-6C46-858D-E4C6F2B5001B}"/>
              </a:ext>
            </a:extLst>
          </p:cNvPr>
          <p:cNvSpPr>
            <a:spLocks noChangeArrowheads="1"/>
          </p:cNvSpPr>
          <p:nvPr/>
        </p:nvSpPr>
        <p:spPr bwMode="auto">
          <a:xfrm>
            <a:off x="4329592" y="4378325"/>
            <a:ext cx="58028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Scalar</a:t>
            </a:r>
          </a:p>
        </p:txBody>
      </p:sp>
      <p:sp>
        <p:nvSpPr>
          <p:cNvPr id="60463" name="Rectangle 69">
            <a:extLst>
              <a:ext uri="{FF2B5EF4-FFF2-40B4-BE49-F238E27FC236}">
                <a16:creationId xmlns:a16="http://schemas.microsoft.com/office/drawing/2014/main" id="{46D5A122-A3E9-1A4A-ABED-8C97C69BF2A3}"/>
              </a:ext>
            </a:extLst>
          </p:cNvPr>
          <p:cNvSpPr>
            <a:spLocks noChangeArrowheads="1"/>
          </p:cNvSpPr>
          <p:nvPr/>
        </p:nvSpPr>
        <p:spPr bwMode="auto">
          <a:xfrm>
            <a:off x="4296254" y="4640262"/>
            <a:ext cx="64921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Thread</a:t>
            </a:r>
          </a:p>
        </p:txBody>
      </p:sp>
      <p:sp>
        <p:nvSpPr>
          <p:cNvPr id="60464" name="Rectangle 70">
            <a:extLst>
              <a:ext uri="{FF2B5EF4-FFF2-40B4-BE49-F238E27FC236}">
                <a16:creationId xmlns:a16="http://schemas.microsoft.com/office/drawing/2014/main" id="{980A28B6-AC6E-084B-9770-9569D6DE595F}"/>
              </a:ext>
            </a:extLst>
          </p:cNvPr>
          <p:cNvSpPr>
            <a:spLocks noChangeArrowheads="1"/>
          </p:cNvSpPr>
          <p:nvPr/>
        </p:nvSpPr>
        <p:spPr bwMode="auto">
          <a:xfrm>
            <a:off x="4574067" y="4919662"/>
            <a:ext cx="22762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31</a:t>
            </a:r>
          </a:p>
        </p:txBody>
      </p:sp>
      <p:sp>
        <p:nvSpPr>
          <p:cNvPr id="60465" name="Freeform 71">
            <a:extLst>
              <a:ext uri="{FF2B5EF4-FFF2-40B4-BE49-F238E27FC236}">
                <a16:creationId xmlns:a16="http://schemas.microsoft.com/office/drawing/2014/main" id="{D337C481-ACB1-C74F-A582-E49B38DB623E}"/>
              </a:ext>
            </a:extLst>
          </p:cNvPr>
          <p:cNvSpPr>
            <a:spLocks/>
          </p:cNvSpPr>
          <p:nvPr/>
        </p:nvSpPr>
        <p:spPr bwMode="auto">
          <a:xfrm>
            <a:off x="3632679" y="4772025"/>
            <a:ext cx="50800" cy="50800"/>
          </a:xfrm>
          <a:custGeom>
            <a:avLst/>
            <a:gdLst>
              <a:gd name="T0" fmla="*/ 0 w 49"/>
              <a:gd name="T1" fmla="*/ 2147483647 h 49"/>
              <a:gd name="T2" fmla="*/ 2147483647 w 49"/>
              <a:gd name="T3" fmla="*/ 0 h 49"/>
              <a:gd name="T4" fmla="*/ 2147483647 w 49"/>
              <a:gd name="T5" fmla="*/ 2147483647 h 49"/>
              <a:gd name="T6" fmla="*/ 2147483647 w 49"/>
              <a:gd name="T7" fmla="*/ 2147483647 h 49"/>
              <a:gd name="T8" fmla="*/ 2147483647 w 49"/>
              <a:gd name="T9" fmla="*/ 2147483647 h 49"/>
              <a:gd name="T10" fmla="*/ 0 w 49"/>
              <a:gd name="T11" fmla="*/ 2147483647 h 49"/>
              <a:gd name="T12" fmla="*/ 0 60000 65536"/>
              <a:gd name="T13" fmla="*/ 0 60000 65536"/>
              <a:gd name="T14" fmla="*/ 0 60000 65536"/>
              <a:gd name="T15" fmla="*/ 0 60000 65536"/>
              <a:gd name="T16" fmla="*/ 0 60000 65536"/>
              <a:gd name="T17" fmla="*/ 0 60000 65536"/>
              <a:gd name="T18" fmla="*/ 0 w 49"/>
              <a:gd name="T19" fmla="*/ 0 h 49"/>
              <a:gd name="T20" fmla="*/ 49 w 49"/>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49" h="49">
                <a:moveTo>
                  <a:pt x="0" y="25"/>
                </a:moveTo>
                <a:cubicBezTo>
                  <a:pt x="0" y="11"/>
                  <a:pt x="11" y="0"/>
                  <a:pt x="24" y="0"/>
                </a:cubicBezTo>
                <a:cubicBezTo>
                  <a:pt x="38" y="0"/>
                  <a:pt x="49" y="11"/>
                  <a:pt x="49" y="25"/>
                </a:cubicBezTo>
                <a:cubicBezTo>
                  <a:pt x="49" y="25"/>
                  <a:pt x="49" y="25"/>
                  <a:pt x="49" y="25"/>
                </a:cubicBezTo>
                <a:cubicBezTo>
                  <a:pt x="49" y="38"/>
                  <a:pt x="38" y="49"/>
                  <a:pt x="24" y="49"/>
                </a:cubicBezTo>
                <a:cubicBezTo>
                  <a:pt x="11" y="49"/>
                  <a:pt x="0" y="38"/>
                  <a:pt x="0" y="25"/>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66" name="Freeform 72">
            <a:extLst>
              <a:ext uri="{FF2B5EF4-FFF2-40B4-BE49-F238E27FC236}">
                <a16:creationId xmlns:a16="http://schemas.microsoft.com/office/drawing/2014/main" id="{CF82DD21-3FEE-2F47-B1A5-D97C3A0FB990}"/>
              </a:ext>
            </a:extLst>
          </p:cNvPr>
          <p:cNvSpPr>
            <a:spLocks/>
          </p:cNvSpPr>
          <p:nvPr/>
        </p:nvSpPr>
        <p:spPr bwMode="auto">
          <a:xfrm>
            <a:off x="3632679" y="4772025"/>
            <a:ext cx="50800" cy="50800"/>
          </a:xfrm>
          <a:custGeom>
            <a:avLst/>
            <a:gdLst>
              <a:gd name="T0" fmla="*/ 0 w 32"/>
              <a:gd name="T1" fmla="*/ 2147483647 h 32"/>
              <a:gd name="T2" fmla="*/ 2147483647 w 32"/>
              <a:gd name="T3" fmla="*/ 0 h 32"/>
              <a:gd name="T4" fmla="*/ 2147483647 w 32"/>
              <a:gd name="T5" fmla="*/ 2147483647 h 32"/>
              <a:gd name="T6" fmla="*/ 2147483647 w 32"/>
              <a:gd name="T7" fmla="*/ 2147483647 h 32"/>
              <a:gd name="T8" fmla="*/ 2147483647 w 32"/>
              <a:gd name="T9" fmla="*/ 2147483647 h 32"/>
              <a:gd name="T10" fmla="*/ 0 w 32"/>
              <a:gd name="T11" fmla="*/ 2147483647 h 32"/>
              <a:gd name="T12" fmla="*/ 0 60000 65536"/>
              <a:gd name="T13" fmla="*/ 0 60000 65536"/>
              <a:gd name="T14" fmla="*/ 0 60000 65536"/>
              <a:gd name="T15" fmla="*/ 0 60000 65536"/>
              <a:gd name="T16" fmla="*/ 0 60000 65536"/>
              <a:gd name="T17" fmla="*/ 0 60000 65536"/>
              <a:gd name="T18" fmla="*/ 0 w 32"/>
              <a:gd name="T19" fmla="*/ 0 h 32"/>
              <a:gd name="T20" fmla="*/ 32 w 32"/>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32" h="32">
                <a:moveTo>
                  <a:pt x="0" y="16"/>
                </a:moveTo>
                <a:cubicBezTo>
                  <a:pt x="0" y="7"/>
                  <a:pt x="7" y="0"/>
                  <a:pt x="16" y="0"/>
                </a:cubicBezTo>
                <a:cubicBezTo>
                  <a:pt x="25" y="0"/>
                  <a:pt x="32" y="7"/>
                  <a:pt x="32" y="16"/>
                </a:cubicBezTo>
                <a:cubicBezTo>
                  <a:pt x="32" y="16"/>
                  <a:pt x="32" y="16"/>
                  <a:pt x="32" y="16"/>
                </a:cubicBezTo>
                <a:cubicBezTo>
                  <a:pt x="32" y="25"/>
                  <a:pt x="25" y="32"/>
                  <a:pt x="16" y="32"/>
                </a:cubicBezTo>
                <a:cubicBezTo>
                  <a:pt x="7" y="32"/>
                  <a:pt x="0" y="25"/>
                  <a:pt x="0" y="16"/>
                </a:cubicBezTo>
              </a:path>
            </a:pathLst>
          </a:cu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67" name="Freeform 73">
            <a:extLst>
              <a:ext uri="{FF2B5EF4-FFF2-40B4-BE49-F238E27FC236}">
                <a16:creationId xmlns:a16="http://schemas.microsoft.com/office/drawing/2014/main" id="{7D65F2A6-375A-4A43-A6E6-1BBB3C803BE6}"/>
              </a:ext>
            </a:extLst>
          </p:cNvPr>
          <p:cNvSpPr>
            <a:spLocks/>
          </p:cNvSpPr>
          <p:nvPr/>
        </p:nvSpPr>
        <p:spPr bwMode="auto">
          <a:xfrm>
            <a:off x="3835879" y="4772025"/>
            <a:ext cx="50800" cy="50800"/>
          </a:xfrm>
          <a:custGeom>
            <a:avLst/>
            <a:gdLst>
              <a:gd name="T0" fmla="*/ 0 w 49"/>
              <a:gd name="T1" fmla="*/ 2147483647 h 49"/>
              <a:gd name="T2" fmla="*/ 2147483647 w 49"/>
              <a:gd name="T3" fmla="*/ 0 h 49"/>
              <a:gd name="T4" fmla="*/ 2147483647 w 49"/>
              <a:gd name="T5" fmla="*/ 2147483647 h 49"/>
              <a:gd name="T6" fmla="*/ 2147483647 w 49"/>
              <a:gd name="T7" fmla="*/ 2147483647 h 49"/>
              <a:gd name="T8" fmla="*/ 2147483647 w 49"/>
              <a:gd name="T9" fmla="*/ 2147483647 h 49"/>
              <a:gd name="T10" fmla="*/ 0 w 49"/>
              <a:gd name="T11" fmla="*/ 2147483647 h 49"/>
              <a:gd name="T12" fmla="*/ 0 60000 65536"/>
              <a:gd name="T13" fmla="*/ 0 60000 65536"/>
              <a:gd name="T14" fmla="*/ 0 60000 65536"/>
              <a:gd name="T15" fmla="*/ 0 60000 65536"/>
              <a:gd name="T16" fmla="*/ 0 60000 65536"/>
              <a:gd name="T17" fmla="*/ 0 60000 65536"/>
              <a:gd name="T18" fmla="*/ 0 w 49"/>
              <a:gd name="T19" fmla="*/ 0 h 49"/>
              <a:gd name="T20" fmla="*/ 49 w 49"/>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49" h="49">
                <a:moveTo>
                  <a:pt x="0" y="25"/>
                </a:moveTo>
                <a:cubicBezTo>
                  <a:pt x="0" y="11"/>
                  <a:pt x="11" y="0"/>
                  <a:pt x="25" y="0"/>
                </a:cubicBezTo>
                <a:cubicBezTo>
                  <a:pt x="38" y="0"/>
                  <a:pt x="49" y="11"/>
                  <a:pt x="49" y="25"/>
                </a:cubicBezTo>
                <a:cubicBezTo>
                  <a:pt x="49" y="25"/>
                  <a:pt x="49" y="25"/>
                  <a:pt x="49" y="25"/>
                </a:cubicBezTo>
                <a:cubicBezTo>
                  <a:pt x="49" y="38"/>
                  <a:pt x="38" y="49"/>
                  <a:pt x="25" y="49"/>
                </a:cubicBezTo>
                <a:cubicBezTo>
                  <a:pt x="11" y="49"/>
                  <a:pt x="0" y="38"/>
                  <a:pt x="0" y="25"/>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68" name="Freeform 74">
            <a:extLst>
              <a:ext uri="{FF2B5EF4-FFF2-40B4-BE49-F238E27FC236}">
                <a16:creationId xmlns:a16="http://schemas.microsoft.com/office/drawing/2014/main" id="{7BC13D82-2819-2D4C-96DC-DC5D5DA0AD93}"/>
              </a:ext>
            </a:extLst>
          </p:cNvPr>
          <p:cNvSpPr>
            <a:spLocks/>
          </p:cNvSpPr>
          <p:nvPr/>
        </p:nvSpPr>
        <p:spPr bwMode="auto">
          <a:xfrm>
            <a:off x="3835879" y="4772025"/>
            <a:ext cx="50800" cy="50800"/>
          </a:xfrm>
          <a:custGeom>
            <a:avLst/>
            <a:gdLst>
              <a:gd name="T0" fmla="*/ 0 w 32"/>
              <a:gd name="T1" fmla="*/ 2147483647 h 32"/>
              <a:gd name="T2" fmla="*/ 2147483647 w 32"/>
              <a:gd name="T3" fmla="*/ 0 h 32"/>
              <a:gd name="T4" fmla="*/ 2147483647 w 32"/>
              <a:gd name="T5" fmla="*/ 2147483647 h 32"/>
              <a:gd name="T6" fmla="*/ 2147483647 w 32"/>
              <a:gd name="T7" fmla="*/ 2147483647 h 32"/>
              <a:gd name="T8" fmla="*/ 2147483647 w 32"/>
              <a:gd name="T9" fmla="*/ 2147483647 h 32"/>
              <a:gd name="T10" fmla="*/ 0 w 32"/>
              <a:gd name="T11" fmla="*/ 2147483647 h 32"/>
              <a:gd name="T12" fmla="*/ 0 60000 65536"/>
              <a:gd name="T13" fmla="*/ 0 60000 65536"/>
              <a:gd name="T14" fmla="*/ 0 60000 65536"/>
              <a:gd name="T15" fmla="*/ 0 60000 65536"/>
              <a:gd name="T16" fmla="*/ 0 60000 65536"/>
              <a:gd name="T17" fmla="*/ 0 60000 65536"/>
              <a:gd name="T18" fmla="*/ 0 w 32"/>
              <a:gd name="T19" fmla="*/ 0 h 32"/>
              <a:gd name="T20" fmla="*/ 32 w 32"/>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32" h="32">
                <a:moveTo>
                  <a:pt x="0" y="16"/>
                </a:moveTo>
                <a:cubicBezTo>
                  <a:pt x="0" y="7"/>
                  <a:pt x="7" y="0"/>
                  <a:pt x="16" y="0"/>
                </a:cubicBezTo>
                <a:cubicBezTo>
                  <a:pt x="25" y="0"/>
                  <a:pt x="32" y="7"/>
                  <a:pt x="32" y="16"/>
                </a:cubicBezTo>
                <a:cubicBezTo>
                  <a:pt x="32" y="16"/>
                  <a:pt x="32" y="16"/>
                  <a:pt x="32" y="16"/>
                </a:cubicBezTo>
                <a:cubicBezTo>
                  <a:pt x="32" y="25"/>
                  <a:pt x="25" y="32"/>
                  <a:pt x="16" y="32"/>
                </a:cubicBezTo>
                <a:cubicBezTo>
                  <a:pt x="7" y="32"/>
                  <a:pt x="0" y="25"/>
                  <a:pt x="0" y="16"/>
                </a:cubicBezTo>
              </a:path>
            </a:pathLst>
          </a:cu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69" name="Freeform 75">
            <a:extLst>
              <a:ext uri="{FF2B5EF4-FFF2-40B4-BE49-F238E27FC236}">
                <a16:creationId xmlns:a16="http://schemas.microsoft.com/office/drawing/2014/main" id="{6A0EB5B6-4992-3443-BA9D-A038DB151E65}"/>
              </a:ext>
            </a:extLst>
          </p:cNvPr>
          <p:cNvSpPr>
            <a:spLocks/>
          </p:cNvSpPr>
          <p:nvPr/>
        </p:nvSpPr>
        <p:spPr bwMode="auto">
          <a:xfrm>
            <a:off x="4039079" y="4772025"/>
            <a:ext cx="50800" cy="50800"/>
          </a:xfrm>
          <a:custGeom>
            <a:avLst/>
            <a:gdLst>
              <a:gd name="T0" fmla="*/ 0 w 50"/>
              <a:gd name="T1" fmla="*/ 2147483647 h 49"/>
              <a:gd name="T2" fmla="*/ 2147483647 w 50"/>
              <a:gd name="T3" fmla="*/ 0 h 49"/>
              <a:gd name="T4" fmla="*/ 2147483647 w 50"/>
              <a:gd name="T5" fmla="*/ 2147483647 h 49"/>
              <a:gd name="T6" fmla="*/ 2147483647 w 50"/>
              <a:gd name="T7" fmla="*/ 2147483647 h 49"/>
              <a:gd name="T8" fmla="*/ 2147483647 w 50"/>
              <a:gd name="T9" fmla="*/ 2147483647 h 49"/>
              <a:gd name="T10" fmla="*/ 0 w 50"/>
              <a:gd name="T11" fmla="*/ 2147483647 h 49"/>
              <a:gd name="T12" fmla="*/ 0 60000 65536"/>
              <a:gd name="T13" fmla="*/ 0 60000 65536"/>
              <a:gd name="T14" fmla="*/ 0 60000 65536"/>
              <a:gd name="T15" fmla="*/ 0 60000 65536"/>
              <a:gd name="T16" fmla="*/ 0 60000 65536"/>
              <a:gd name="T17" fmla="*/ 0 60000 65536"/>
              <a:gd name="T18" fmla="*/ 0 w 50"/>
              <a:gd name="T19" fmla="*/ 0 h 49"/>
              <a:gd name="T20" fmla="*/ 50 w 50"/>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50" h="49">
                <a:moveTo>
                  <a:pt x="0" y="25"/>
                </a:moveTo>
                <a:cubicBezTo>
                  <a:pt x="0" y="11"/>
                  <a:pt x="11" y="0"/>
                  <a:pt x="25" y="0"/>
                </a:cubicBezTo>
                <a:cubicBezTo>
                  <a:pt x="39" y="0"/>
                  <a:pt x="50" y="11"/>
                  <a:pt x="50" y="25"/>
                </a:cubicBezTo>
                <a:cubicBezTo>
                  <a:pt x="50" y="25"/>
                  <a:pt x="50" y="25"/>
                  <a:pt x="50" y="25"/>
                </a:cubicBezTo>
                <a:cubicBezTo>
                  <a:pt x="50" y="38"/>
                  <a:pt x="39" y="49"/>
                  <a:pt x="25" y="49"/>
                </a:cubicBezTo>
                <a:cubicBezTo>
                  <a:pt x="11" y="49"/>
                  <a:pt x="0" y="38"/>
                  <a:pt x="0" y="25"/>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70" name="Freeform 76">
            <a:extLst>
              <a:ext uri="{FF2B5EF4-FFF2-40B4-BE49-F238E27FC236}">
                <a16:creationId xmlns:a16="http://schemas.microsoft.com/office/drawing/2014/main" id="{914D01E2-2FBA-8B4A-9FD7-034FEC17079B}"/>
              </a:ext>
            </a:extLst>
          </p:cNvPr>
          <p:cNvSpPr>
            <a:spLocks/>
          </p:cNvSpPr>
          <p:nvPr/>
        </p:nvSpPr>
        <p:spPr bwMode="auto">
          <a:xfrm>
            <a:off x="4039079" y="4772025"/>
            <a:ext cx="50800" cy="50800"/>
          </a:xfrm>
          <a:custGeom>
            <a:avLst/>
            <a:gdLst>
              <a:gd name="T0" fmla="*/ 0 w 32"/>
              <a:gd name="T1" fmla="*/ 2147483647 h 32"/>
              <a:gd name="T2" fmla="*/ 2147483647 w 32"/>
              <a:gd name="T3" fmla="*/ 0 h 32"/>
              <a:gd name="T4" fmla="*/ 2147483647 w 32"/>
              <a:gd name="T5" fmla="*/ 2147483647 h 32"/>
              <a:gd name="T6" fmla="*/ 2147483647 w 32"/>
              <a:gd name="T7" fmla="*/ 2147483647 h 32"/>
              <a:gd name="T8" fmla="*/ 2147483647 w 32"/>
              <a:gd name="T9" fmla="*/ 2147483647 h 32"/>
              <a:gd name="T10" fmla="*/ 0 w 32"/>
              <a:gd name="T11" fmla="*/ 2147483647 h 32"/>
              <a:gd name="T12" fmla="*/ 0 60000 65536"/>
              <a:gd name="T13" fmla="*/ 0 60000 65536"/>
              <a:gd name="T14" fmla="*/ 0 60000 65536"/>
              <a:gd name="T15" fmla="*/ 0 60000 65536"/>
              <a:gd name="T16" fmla="*/ 0 60000 65536"/>
              <a:gd name="T17" fmla="*/ 0 60000 65536"/>
              <a:gd name="T18" fmla="*/ 0 w 32"/>
              <a:gd name="T19" fmla="*/ 0 h 32"/>
              <a:gd name="T20" fmla="*/ 32 w 32"/>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32" h="32">
                <a:moveTo>
                  <a:pt x="0" y="16"/>
                </a:moveTo>
                <a:cubicBezTo>
                  <a:pt x="0" y="7"/>
                  <a:pt x="7" y="0"/>
                  <a:pt x="16" y="0"/>
                </a:cubicBezTo>
                <a:cubicBezTo>
                  <a:pt x="25" y="0"/>
                  <a:pt x="32" y="7"/>
                  <a:pt x="32" y="16"/>
                </a:cubicBezTo>
                <a:cubicBezTo>
                  <a:pt x="32" y="16"/>
                  <a:pt x="32" y="16"/>
                  <a:pt x="32" y="16"/>
                </a:cubicBezTo>
                <a:cubicBezTo>
                  <a:pt x="32" y="25"/>
                  <a:pt x="25" y="32"/>
                  <a:pt x="16" y="32"/>
                </a:cubicBezTo>
                <a:cubicBezTo>
                  <a:pt x="7" y="32"/>
                  <a:pt x="0" y="25"/>
                  <a:pt x="0" y="16"/>
                </a:cubicBezTo>
              </a:path>
            </a:pathLst>
          </a:custGeom>
          <a:noFill/>
          <a:ln w="47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71" name="Rectangle 77">
            <a:extLst>
              <a:ext uri="{FF2B5EF4-FFF2-40B4-BE49-F238E27FC236}">
                <a16:creationId xmlns:a16="http://schemas.microsoft.com/office/drawing/2014/main" id="{77AAF40E-FD19-704C-BBD2-E00466D27A76}"/>
              </a:ext>
            </a:extLst>
          </p:cNvPr>
          <p:cNvSpPr>
            <a:spLocks noChangeArrowheads="1"/>
          </p:cNvSpPr>
          <p:nvPr/>
        </p:nvSpPr>
        <p:spPr bwMode="auto">
          <a:xfrm>
            <a:off x="3289779" y="3883025"/>
            <a:ext cx="1968500" cy="417512"/>
          </a:xfrm>
          <a:prstGeom prst="rect">
            <a:avLst/>
          </a:prstGeom>
          <a:solidFill>
            <a:srgbClr val="FFEA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72" name="Rectangle 78">
            <a:extLst>
              <a:ext uri="{FF2B5EF4-FFF2-40B4-BE49-F238E27FC236}">
                <a16:creationId xmlns:a16="http://schemas.microsoft.com/office/drawing/2014/main" id="{06D40CFF-14A9-7B48-9931-D8D9346D4277}"/>
              </a:ext>
            </a:extLst>
          </p:cNvPr>
          <p:cNvSpPr>
            <a:spLocks noChangeArrowheads="1"/>
          </p:cNvSpPr>
          <p:nvPr/>
        </p:nvSpPr>
        <p:spPr bwMode="auto">
          <a:xfrm>
            <a:off x="3289779" y="3883025"/>
            <a:ext cx="1968500" cy="417512"/>
          </a:xfrm>
          <a:prstGeom prst="rect">
            <a:avLst/>
          </a:prstGeom>
          <a:noFill/>
          <a:ln w="158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73" name="Rectangle 79">
            <a:extLst>
              <a:ext uri="{FF2B5EF4-FFF2-40B4-BE49-F238E27FC236}">
                <a16:creationId xmlns:a16="http://schemas.microsoft.com/office/drawing/2014/main" id="{2DCF3D11-E17E-DF4E-BC3C-25F957529A07}"/>
              </a:ext>
            </a:extLst>
          </p:cNvPr>
          <p:cNvSpPr>
            <a:spLocks noChangeArrowheads="1"/>
          </p:cNvSpPr>
          <p:nvPr/>
        </p:nvSpPr>
        <p:spPr bwMode="auto">
          <a:xfrm>
            <a:off x="3289779" y="3878262"/>
            <a:ext cx="195897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Common PC</a:t>
            </a:r>
          </a:p>
        </p:txBody>
      </p:sp>
      <p:grpSp>
        <p:nvGrpSpPr>
          <p:cNvPr id="2" name="组合 1">
            <a:extLst>
              <a:ext uri="{FF2B5EF4-FFF2-40B4-BE49-F238E27FC236}">
                <a16:creationId xmlns:a16="http://schemas.microsoft.com/office/drawing/2014/main" id="{3A6839DF-77E6-44DB-BF68-C71C59CC7829}"/>
              </a:ext>
            </a:extLst>
          </p:cNvPr>
          <p:cNvGrpSpPr/>
          <p:nvPr/>
        </p:nvGrpSpPr>
        <p:grpSpPr>
          <a:xfrm>
            <a:off x="6019800" y="5273677"/>
            <a:ext cx="2640013" cy="974723"/>
            <a:chOff x="6019800" y="5273677"/>
            <a:chExt cx="2640013" cy="974723"/>
          </a:xfrm>
        </p:grpSpPr>
        <p:sp>
          <p:nvSpPr>
            <p:cNvPr id="60435" name="Line 41">
              <a:extLst>
                <a:ext uri="{FF2B5EF4-FFF2-40B4-BE49-F238E27FC236}">
                  <a16:creationId xmlns:a16="http://schemas.microsoft.com/office/drawing/2014/main" id="{405318B8-F48E-4F4B-A73B-235DE5ED0F2F}"/>
                </a:ext>
              </a:extLst>
            </p:cNvPr>
            <p:cNvSpPr>
              <a:spLocks noChangeShapeType="1"/>
            </p:cNvSpPr>
            <p:nvPr/>
          </p:nvSpPr>
          <p:spPr bwMode="auto">
            <a:xfrm>
              <a:off x="7364413" y="5273677"/>
              <a:ext cx="0" cy="377824"/>
            </a:xfrm>
            <a:prstGeom prst="line">
              <a:avLst/>
            </a:prstGeom>
            <a:noFill/>
            <a:ln w="26988" cap="rnd">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36" name="Freeform 42">
              <a:extLst>
                <a:ext uri="{FF2B5EF4-FFF2-40B4-BE49-F238E27FC236}">
                  <a16:creationId xmlns:a16="http://schemas.microsoft.com/office/drawing/2014/main" id="{B437CBBA-343B-8D40-AAF0-2BA8F0ABBC77}"/>
                </a:ext>
              </a:extLst>
            </p:cNvPr>
            <p:cNvSpPr>
              <a:spLocks/>
            </p:cNvSpPr>
            <p:nvPr/>
          </p:nvSpPr>
          <p:spPr bwMode="auto">
            <a:xfrm>
              <a:off x="7254875" y="5637213"/>
              <a:ext cx="212725" cy="200441"/>
            </a:xfrm>
            <a:custGeom>
              <a:avLst/>
              <a:gdLst>
                <a:gd name="T0" fmla="*/ 2147483647 w 164"/>
                <a:gd name="T1" fmla="*/ 2147483647 h 164"/>
                <a:gd name="T2" fmla="*/ 0 w 164"/>
                <a:gd name="T3" fmla="*/ 0 h 164"/>
                <a:gd name="T4" fmla="*/ 2147483647 w 164"/>
                <a:gd name="T5" fmla="*/ 0 h 164"/>
                <a:gd name="T6" fmla="*/ 2147483647 w 164"/>
                <a:gd name="T7" fmla="*/ 0 h 164"/>
                <a:gd name="T8" fmla="*/ 2147483647 w 164"/>
                <a:gd name="T9" fmla="*/ 2147483647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82" y="164"/>
                  </a:moveTo>
                  <a:lnTo>
                    <a:pt x="0" y="0"/>
                  </a:lnTo>
                  <a:cubicBezTo>
                    <a:pt x="52" y="26"/>
                    <a:pt x="113" y="26"/>
                    <a:pt x="164" y="0"/>
                  </a:cubicBezTo>
                  <a:lnTo>
                    <a:pt x="82" y="164"/>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74" name="Rectangle 80">
              <a:extLst>
                <a:ext uri="{FF2B5EF4-FFF2-40B4-BE49-F238E27FC236}">
                  <a16:creationId xmlns:a16="http://schemas.microsoft.com/office/drawing/2014/main" id="{3AFF689E-4F85-674D-9608-9F0041BE2CEB}"/>
                </a:ext>
              </a:extLst>
            </p:cNvPr>
            <p:cNvSpPr>
              <a:spLocks noChangeArrowheads="1"/>
            </p:cNvSpPr>
            <p:nvPr/>
          </p:nvSpPr>
          <p:spPr bwMode="auto">
            <a:xfrm>
              <a:off x="6019800" y="5797550"/>
              <a:ext cx="2640013" cy="45085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75" name="Rectangle 81">
              <a:extLst>
                <a:ext uri="{FF2B5EF4-FFF2-40B4-BE49-F238E27FC236}">
                  <a16:creationId xmlns:a16="http://schemas.microsoft.com/office/drawing/2014/main" id="{659134C5-45EB-8B4A-AD1F-34E44D224F38}"/>
                </a:ext>
              </a:extLst>
            </p:cNvPr>
            <p:cNvSpPr>
              <a:spLocks noChangeArrowheads="1"/>
            </p:cNvSpPr>
            <p:nvPr/>
          </p:nvSpPr>
          <p:spPr bwMode="auto">
            <a:xfrm>
              <a:off x="6019800" y="5797550"/>
              <a:ext cx="2640013" cy="450850"/>
            </a:xfrm>
            <a:prstGeom prst="rect">
              <a:avLst/>
            </a:prstGeom>
            <a:noFill/>
            <a:ln w="158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476" name="Rectangle 82">
              <a:extLst>
                <a:ext uri="{FF2B5EF4-FFF2-40B4-BE49-F238E27FC236}">
                  <a16:creationId xmlns:a16="http://schemas.microsoft.com/office/drawing/2014/main" id="{E212CED0-ECBC-4548-AB30-81BDE6FCFB3D}"/>
                </a:ext>
              </a:extLst>
            </p:cNvPr>
            <p:cNvSpPr>
              <a:spLocks noChangeArrowheads="1"/>
            </p:cNvSpPr>
            <p:nvPr/>
          </p:nvSpPr>
          <p:spPr bwMode="auto">
            <a:xfrm>
              <a:off x="6435725" y="5873750"/>
              <a:ext cx="183704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2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SIMT Pipeline</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62" name="TextBox 6">
            <a:extLst>
              <a:ext uri="{FF2B5EF4-FFF2-40B4-BE49-F238E27FC236}">
                <a16:creationId xmlns:a16="http://schemas.microsoft.com/office/drawing/2014/main" id="{1BE3ADE8-1D61-E74B-910F-7E047D10F4B8}"/>
              </a:ext>
            </a:extLst>
          </p:cNvPr>
          <p:cNvSpPr txBox="1">
            <a:spLocks noChangeArrowheads="1"/>
          </p:cNvSpPr>
          <p:nvPr/>
        </p:nvSpPr>
        <p:spPr bwMode="auto">
          <a:xfrm>
            <a:off x="152400" y="6477000"/>
            <a:ext cx="9829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lvl="0" eaLnBrk="1" hangingPunct="1">
              <a:defRPr/>
            </a:pPr>
            <a:r>
              <a:rPr lang="en-US" altLang="en-US" sz="1400" dirty="0"/>
              <a:t>Lindholm et al., "</a:t>
            </a:r>
            <a:r>
              <a:rPr lang="en-US" altLang="en-US" sz="1400" dirty="0">
                <a:solidFill>
                  <a:schemeClr val="bg1">
                    <a:lumMod val="65000"/>
                  </a:schemeClr>
                </a:solidFill>
              </a:rPr>
              <a:t>NVIDIA Tesla: A Unified Graphics and Computing Architecture</a:t>
            </a:r>
            <a:r>
              <a:rPr lang="en-US" altLang="en-US" sz="1400" dirty="0"/>
              <a:t>," IEEE Micro 2008.</a:t>
            </a:r>
            <a:endPar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370174323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418">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0418">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AutoShape 30">
            <a:extLst>
              <a:ext uri="{FF2B5EF4-FFF2-40B4-BE49-F238E27FC236}">
                <a16:creationId xmlns:a16="http://schemas.microsoft.com/office/drawing/2014/main" id="{4A92FA1C-D181-3D49-B429-A4E1C47E2FDA}"/>
              </a:ext>
            </a:extLst>
          </p:cNvPr>
          <p:cNvSpPr>
            <a:spLocks noChangeArrowheads="1"/>
          </p:cNvSpPr>
          <p:nvPr/>
        </p:nvSpPr>
        <p:spPr bwMode="auto">
          <a:xfrm>
            <a:off x="533400" y="4433888"/>
            <a:ext cx="6553200" cy="533400"/>
          </a:xfrm>
          <a:prstGeom prst="roundRect">
            <a:avLst>
              <a:gd name="adj" fmla="val 16667"/>
            </a:avLst>
          </a:prstGeom>
          <a:solidFill>
            <a:srgbClr val="FF00FF"/>
          </a:solidFill>
          <a:ln w="12700">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 name="AutoShape 29">
            <a:extLst>
              <a:ext uri="{FF2B5EF4-FFF2-40B4-BE49-F238E27FC236}">
                <a16:creationId xmlns:a16="http://schemas.microsoft.com/office/drawing/2014/main" id="{3C68DB91-2921-F041-8F7F-AE62528474C8}"/>
              </a:ext>
            </a:extLst>
          </p:cNvPr>
          <p:cNvSpPr>
            <a:spLocks noChangeArrowheads="1"/>
          </p:cNvSpPr>
          <p:nvPr/>
        </p:nvSpPr>
        <p:spPr bwMode="auto">
          <a:xfrm>
            <a:off x="585788" y="3160713"/>
            <a:ext cx="6500812" cy="511175"/>
          </a:xfrm>
          <a:prstGeom prst="roundRect">
            <a:avLst>
              <a:gd name="adj" fmla="val 16667"/>
            </a:avLst>
          </a:prstGeom>
          <a:solidFill>
            <a:srgbClr val="CCFF33"/>
          </a:solidFill>
          <a:ln w="12700">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ko-KR" altLang="en-US" sz="24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endParaRPr>
          </a:p>
        </p:txBody>
      </p:sp>
      <p:sp>
        <p:nvSpPr>
          <p:cNvPr id="30" name="AutoShape 29">
            <a:extLst>
              <a:ext uri="{FF2B5EF4-FFF2-40B4-BE49-F238E27FC236}">
                <a16:creationId xmlns:a16="http://schemas.microsoft.com/office/drawing/2014/main" id="{742B767A-1255-EE40-95EE-C13C8D65E932}"/>
              </a:ext>
            </a:extLst>
          </p:cNvPr>
          <p:cNvSpPr>
            <a:spLocks noChangeArrowheads="1"/>
          </p:cNvSpPr>
          <p:nvPr/>
        </p:nvSpPr>
        <p:spPr bwMode="auto">
          <a:xfrm>
            <a:off x="585788" y="3162300"/>
            <a:ext cx="6500812" cy="511175"/>
          </a:xfrm>
          <a:prstGeom prst="roundRect">
            <a:avLst>
              <a:gd name="adj" fmla="val 16667"/>
            </a:avLst>
          </a:prstGeom>
          <a:solidFill>
            <a:srgbClr val="CCFF33"/>
          </a:solidFill>
          <a:ln w="12700">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ko-KR" altLang="en-US" sz="24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endParaRPr>
          </a:p>
        </p:txBody>
      </p:sp>
      <p:sp>
        <p:nvSpPr>
          <p:cNvPr id="59396" name="Title 1">
            <a:extLst>
              <a:ext uri="{FF2B5EF4-FFF2-40B4-BE49-F238E27FC236}">
                <a16:creationId xmlns:a16="http://schemas.microsoft.com/office/drawing/2014/main" id="{6CB7D5B9-BF22-914F-B503-1AE7F6BA4237}"/>
              </a:ext>
            </a:extLst>
          </p:cNvPr>
          <p:cNvSpPr>
            <a:spLocks noGrp="1"/>
          </p:cNvSpPr>
          <p:nvPr>
            <p:ph type="title"/>
          </p:nvPr>
        </p:nvSpPr>
        <p:spPr>
          <a:xfrm>
            <a:off x="76200" y="202406"/>
            <a:ext cx="6400800" cy="741361"/>
          </a:xfrm>
        </p:spPr>
        <p:txBody>
          <a:bodyPr/>
          <a:lstStyle/>
          <a:p>
            <a:r>
              <a:rPr lang="en-US" altLang="en-US" sz="3200" dirty="0">
                <a:ea typeface="ＭＳ Ｐゴシック" panose="020B0600070205080204" pitchFamily="34" charset="-128"/>
              </a:rPr>
              <a:t>Recall: GPU Execution with Warps </a:t>
            </a:r>
          </a:p>
        </p:txBody>
      </p:sp>
      <p:sp>
        <p:nvSpPr>
          <p:cNvPr id="59397" name="Slide Number Placeholder 3">
            <a:extLst>
              <a:ext uri="{FF2B5EF4-FFF2-40B4-BE49-F238E27FC236}">
                <a16:creationId xmlns:a16="http://schemas.microsoft.com/office/drawing/2014/main" id="{690F634C-255D-E941-9A20-D84E84D4480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94F5DE5-4BD2-AD46-8CE1-C6D3CA9F4C43}"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59398" name="Text Box 3">
            <a:extLst>
              <a:ext uri="{FF2B5EF4-FFF2-40B4-BE49-F238E27FC236}">
                <a16:creationId xmlns:a16="http://schemas.microsoft.com/office/drawing/2014/main" id="{FF24122C-12C2-C84B-B4C0-335DC8F21DB0}"/>
              </a:ext>
            </a:extLst>
          </p:cNvPr>
          <p:cNvSpPr txBox="1">
            <a:spLocks noChangeArrowheads="1"/>
          </p:cNvSpPr>
          <p:nvPr/>
        </p:nvSpPr>
        <p:spPr bwMode="auto">
          <a:xfrm>
            <a:off x="6248400" y="152400"/>
            <a:ext cx="30162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Tx/>
              <a:buNone/>
              <a:tabLst/>
              <a:defRPr/>
            </a:pPr>
            <a:r>
              <a:rPr kumimoji="0" lang="en-US" altLang="ko-KR" sz="1600" b="1" i="0" u="none" strike="noStrike" kern="1200" cap="none" spc="0" normalizeH="0" baseline="0" noProof="0">
                <a:ln>
                  <a:noFill/>
                </a:ln>
                <a:solidFill>
                  <a:srgbClr val="000000"/>
                </a:solidFill>
                <a:effectLst/>
                <a:uLnTx/>
                <a:uFillTx/>
                <a:latin typeface="Courier New" panose="02070309020205020404" pitchFamily="49" charset="0"/>
                <a:ea typeface="굴림" panose="020B0600000101010101" pitchFamily="34" charset="-127"/>
                <a:cs typeface="+mn-cs"/>
              </a:rPr>
              <a:t>for (i=0; i &lt; N; i++)</a:t>
            </a:r>
          </a:p>
          <a:p>
            <a:pPr marL="0" marR="0" lvl="0" indent="0" algn="l" defTabSz="914400" rtl="0" eaLnBrk="1" fontAlgn="base" latinLnBrk="0" hangingPunct="1">
              <a:lnSpc>
                <a:spcPct val="100000"/>
              </a:lnSpc>
              <a:spcBef>
                <a:spcPct val="10000"/>
              </a:spcBef>
              <a:spcAft>
                <a:spcPct val="0"/>
              </a:spcAft>
              <a:buClrTx/>
              <a:buSzTx/>
              <a:buFontTx/>
              <a:buNone/>
              <a:tabLst/>
              <a:defRPr/>
            </a:pPr>
            <a:r>
              <a:rPr kumimoji="0" lang="en-US" altLang="ko-KR" sz="1600" b="1" i="0" u="none" strike="noStrike" kern="1200" cap="none" spc="0" normalizeH="0" baseline="0" noProof="0">
                <a:ln>
                  <a:noFill/>
                </a:ln>
                <a:solidFill>
                  <a:srgbClr val="000000"/>
                </a:solidFill>
                <a:effectLst/>
                <a:uLnTx/>
                <a:uFillTx/>
                <a:latin typeface="Courier New" panose="02070309020205020404" pitchFamily="49" charset="0"/>
                <a:ea typeface="굴림" panose="020B0600000101010101" pitchFamily="34" charset="-127"/>
                <a:cs typeface="+mn-cs"/>
              </a:rPr>
              <a:t>    C[i] = A[i] + B[i];</a:t>
            </a:r>
          </a:p>
        </p:txBody>
      </p:sp>
      <p:grpSp>
        <p:nvGrpSpPr>
          <p:cNvPr id="59399" name="Group 5">
            <a:extLst>
              <a:ext uri="{FF2B5EF4-FFF2-40B4-BE49-F238E27FC236}">
                <a16:creationId xmlns:a16="http://schemas.microsoft.com/office/drawing/2014/main" id="{0E5F1635-264D-AE47-92A4-F31919397F09}"/>
              </a:ext>
            </a:extLst>
          </p:cNvPr>
          <p:cNvGrpSpPr>
            <a:grpSpLocks/>
          </p:cNvGrpSpPr>
          <p:nvPr/>
        </p:nvGrpSpPr>
        <p:grpSpPr bwMode="auto">
          <a:xfrm>
            <a:off x="811213" y="3124200"/>
            <a:ext cx="1981200" cy="2590800"/>
            <a:chOff x="949325" y="1509713"/>
            <a:chExt cx="1981200" cy="2590800"/>
          </a:xfrm>
        </p:grpSpPr>
        <p:sp>
          <p:nvSpPr>
            <p:cNvPr id="59420" name="AutoShape 33">
              <a:extLst>
                <a:ext uri="{FF2B5EF4-FFF2-40B4-BE49-F238E27FC236}">
                  <a16:creationId xmlns:a16="http://schemas.microsoft.com/office/drawing/2014/main" id="{AEC4DF6E-AD1D-1546-BB79-1BF182B61DBE}"/>
                </a:ext>
              </a:extLst>
            </p:cNvPr>
            <p:cNvSpPr>
              <a:spLocks noChangeArrowheads="1"/>
            </p:cNvSpPr>
            <p:nvPr/>
          </p:nvSpPr>
          <p:spPr bwMode="auto">
            <a:xfrm>
              <a:off x="1198563" y="1601788"/>
              <a:ext cx="700088" cy="401638"/>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9421" name="AutoShape 34">
              <a:extLst>
                <a:ext uri="{FF2B5EF4-FFF2-40B4-BE49-F238E27FC236}">
                  <a16:creationId xmlns:a16="http://schemas.microsoft.com/office/drawing/2014/main" id="{18E28C8F-2BDF-A341-A0F3-A481C1380DFC}"/>
                </a:ext>
              </a:extLst>
            </p:cNvPr>
            <p:cNvSpPr>
              <a:spLocks noChangeArrowheads="1"/>
            </p:cNvSpPr>
            <p:nvPr/>
          </p:nvSpPr>
          <p:spPr bwMode="auto">
            <a:xfrm>
              <a:off x="2112963" y="2211388"/>
              <a:ext cx="700088" cy="401638"/>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9422" name="AutoShape 35">
              <a:extLst>
                <a:ext uri="{FF2B5EF4-FFF2-40B4-BE49-F238E27FC236}">
                  <a16:creationId xmlns:a16="http://schemas.microsoft.com/office/drawing/2014/main" id="{632609B9-207D-B547-8A30-B93A7D71C46C}"/>
                </a:ext>
              </a:extLst>
            </p:cNvPr>
            <p:cNvSpPr>
              <a:spLocks noChangeArrowheads="1"/>
            </p:cNvSpPr>
            <p:nvPr/>
          </p:nvSpPr>
          <p:spPr bwMode="auto">
            <a:xfrm>
              <a:off x="1573213" y="2897188"/>
              <a:ext cx="638175" cy="401638"/>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add</a:t>
              </a:r>
            </a:p>
          </p:txBody>
        </p:sp>
        <p:sp>
          <p:nvSpPr>
            <p:cNvPr id="59423" name="AutoShape 36">
              <a:extLst>
                <a:ext uri="{FF2B5EF4-FFF2-40B4-BE49-F238E27FC236}">
                  <a16:creationId xmlns:a16="http://schemas.microsoft.com/office/drawing/2014/main" id="{A6DF327B-8922-F44E-A891-94E851D838B8}"/>
                </a:ext>
              </a:extLst>
            </p:cNvPr>
            <p:cNvSpPr>
              <a:spLocks noChangeArrowheads="1"/>
            </p:cNvSpPr>
            <p:nvPr/>
          </p:nvSpPr>
          <p:spPr bwMode="auto">
            <a:xfrm>
              <a:off x="1530350" y="3506788"/>
              <a:ext cx="800100" cy="401638"/>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store</a:t>
              </a:r>
            </a:p>
          </p:txBody>
        </p:sp>
        <p:sp>
          <p:nvSpPr>
            <p:cNvPr id="59424" name="Line 37">
              <a:extLst>
                <a:ext uri="{FF2B5EF4-FFF2-40B4-BE49-F238E27FC236}">
                  <a16:creationId xmlns:a16="http://schemas.microsoft.com/office/drawing/2014/main" id="{D6223DE2-0F2D-E644-83E5-0B76EF453E93}"/>
                </a:ext>
              </a:extLst>
            </p:cNvPr>
            <p:cNvSpPr>
              <a:spLocks noChangeShapeType="1"/>
            </p:cNvSpPr>
            <p:nvPr/>
          </p:nvSpPr>
          <p:spPr bwMode="auto">
            <a:xfrm>
              <a:off x="1558925" y="2043113"/>
              <a:ext cx="228600" cy="8382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425" name="Line 38">
              <a:extLst>
                <a:ext uri="{FF2B5EF4-FFF2-40B4-BE49-F238E27FC236}">
                  <a16:creationId xmlns:a16="http://schemas.microsoft.com/office/drawing/2014/main" id="{C73664B7-01CB-C647-9C38-A69D25B90336}"/>
                </a:ext>
              </a:extLst>
            </p:cNvPr>
            <p:cNvSpPr>
              <a:spLocks noChangeShapeType="1"/>
            </p:cNvSpPr>
            <p:nvPr/>
          </p:nvSpPr>
          <p:spPr bwMode="auto">
            <a:xfrm flipH="1">
              <a:off x="2016125" y="2652713"/>
              <a:ext cx="22860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426" name="Line 39">
              <a:extLst>
                <a:ext uri="{FF2B5EF4-FFF2-40B4-BE49-F238E27FC236}">
                  <a16:creationId xmlns:a16="http://schemas.microsoft.com/office/drawing/2014/main" id="{DCA2DCA7-97EE-DB42-9528-3F6D1C01A7AC}"/>
                </a:ext>
              </a:extLst>
            </p:cNvPr>
            <p:cNvSpPr>
              <a:spLocks noChangeShapeType="1"/>
            </p:cNvSpPr>
            <p:nvPr/>
          </p:nvSpPr>
          <p:spPr bwMode="auto">
            <a:xfrm>
              <a:off x="1939925" y="3338513"/>
              <a:ext cx="0" cy="1524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427" name="AutoShape 47">
              <a:extLst>
                <a:ext uri="{FF2B5EF4-FFF2-40B4-BE49-F238E27FC236}">
                  <a16:creationId xmlns:a16="http://schemas.microsoft.com/office/drawing/2014/main" id="{2E500078-9FFA-4046-A763-1D573D25CE9E}"/>
                </a:ext>
              </a:extLst>
            </p:cNvPr>
            <p:cNvSpPr>
              <a:spLocks noChangeArrowheads="1"/>
            </p:cNvSpPr>
            <p:nvPr/>
          </p:nvSpPr>
          <p:spPr bwMode="auto">
            <a:xfrm>
              <a:off x="949325" y="1509713"/>
              <a:ext cx="1981200" cy="2590800"/>
            </a:xfrm>
            <a:prstGeom prst="roundRect">
              <a:avLst>
                <a:gd name="adj" fmla="val 16667"/>
              </a:avLst>
            </a:prstGeom>
            <a:noFill/>
            <a:ln w="38100" cap="rnd">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9400" name="Group 4">
            <a:extLst>
              <a:ext uri="{FF2B5EF4-FFF2-40B4-BE49-F238E27FC236}">
                <a16:creationId xmlns:a16="http://schemas.microsoft.com/office/drawing/2014/main" id="{41EF0CC6-4147-EE4A-845D-AB79FF679E0C}"/>
              </a:ext>
            </a:extLst>
          </p:cNvPr>
          <p:cNvGrpSpPr>
            <a:grpSpLocks/>
          </p:cNvGrpSpPr>
          <p:nvPr/>
        </p:nvGrpSpPr>
        <p:grpSpPr bwMode="auto">
          <a:xfrm>
            <a:off x="3276600" y="3124200"/>
            <a:ext cx="1981200" cy="2590800"/>
            <a:chOff x="2930525" y="1509713"/>
            <a:chExt cx="1981200" cy="2590800"/>
          </a:xfrm>
        </p:grpSpPr>
        <p:sp>
          <p:nvSpPr>
            <p:cNvPr id="59412" name="AutoShape 40">
              <a:extLst>
                <a:ext uri="{FF2B5EF4-FFF2-40B4-BE49-F238E27FC236}">
                  <a16:creationId xmlns:a16="http://schemas.microsoft.com/office/drawing/2014/main" id="{04DECB85-D72E-BC43-9FD2-099BA453D83E}"/>
                </a:ext>
              </a:extLst>
            </p:cNvPr>
            <p:cNvSpPr>
              <a:spLocks noChangeArrowheads="1"/>
            </p:cNvSpPr>
            <p:nvPr/>
          </p:nvSpPr>
          <p:spPr bwMode="auto">
            <a:xfrm>
              <a:off x="3103563" y="1601788"/>
              <a:ext cx="700088" cy="401638"/>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9413" name="AutoShape 41">
              <a:extLst>
                <a:ext uri="{FF2B5EF4-FFF2-40B4-BE49-F238E27FC236}">
                  <a16:creationId xmlns:a16="http://schemas.microsoft.com/office/drawing/2014/main" id="{5C9DD7A8-D487-8547-BC7A-32A57D2D9886}"/>
                </a:ext>
              </a:extLst>
            </p:cNvPr>
            <p:cNvSpPr>
              <a:spLocks noChangeArrowheads="1"/>
            </p:cNvSpPr>
            <p:nvPr/>
          </p:nvSpPr>
          <p:spPr bwMode="auto">
            <a:xfrm>
              <a:off x="4017963" y="2211388"/>
              <a:ext cx="700088" cy="401638"/>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9414" name="AutoShape 42">
              <a:extLst>
                <a:ext uri="{FF2B5EF4-FFF2-40B4-BE49-F238E27FC236}">
                  <a16:creationId xmlns:a16="http://schemas.microsoft.com/office/drawing/2014/main" id="{059CAA96-371D-A342-8762-77CCE78DDE9A}"/>
                </a:ext>
              </a:extLst>
            </p:cNvPr>
            <p:cNvSpPr>
              <a:spLocks noChangeArrowheads="1"/>
            </p:cNvSpPr>
            <p:nvPr/>
          </p:nvSpPr>
          <p:spPr bwMode="auto">
            <a:xfrm>
              <a:off x="3478213" y="2897188"/>
              <a:ext cx="638175" cy="401638"/>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add</a:t>
              </a:r>
            </a:p>
          </p:txBody>
        </p:sp>
        <p:sp>
          <p:nvSpPr>
            <p:cNvPr id="59415" name="AutoShape 43">
              <a:extLst>
                <a:ext uri="{FF2B5EF4-FFF2-40B4-BE49-F238E27FC236}">
                  <a16:creationId xmlns:a16="http://schemas.microsoft.com/office/drawing/2014/main" id="{FF62A944-9A86-1B41-8F1E-A88C1731C0F1}"/>
                </a:ext>
              </a:extLst>
            </p:cNvPr>
            <p:cNvSpPr>
              <a:spLocks noChangeArrowheads="1"/>
            </p:cNvSpPr>
            <p:nvPr/>
          </p:nvSpPr>
          <p:spPr bwMode="auto">
            <a:xfrm>
              <a:off x="3435350" y="3506788"/>
              <a:ext cx="800100" cy="401638"/>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store</a:t>
              </a:r>
            </a:p>
          </p:txBody>
        </p:sp>
        <p:sp>
          <p:nvSpPr>
            <p:cNvPr id="59416" name="Line 44">
              <a:extLst>
                <a:ext uri="{FF2B5EF4-FFF2-40B4-BE49-F238E27FC236}">
                  <a16:creationId xmlns:a16="http://schemas.microsoft.com/office/drawing/2014/main" id="{F9CB3DE2-E5A9-BB49-A9D5-30C8F92D84C4}"/>
                </a:ext>
              </a:extLst>
            </p:cNvPr>
            <p:cNvSpPr>
              <a:spLocks noChangeShapeType="1"/>
            </p:cNvSpPr>
            <p:nvPr/>
          </p:nvSpPr>
          <p:spPr bwMode="auto">
            <a:xfrm>
              <a:off x="3387725" y="2043113"/>
              <a:ext cx="304800" cy="8382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417" name="Line 45">
              <a:extLst>
                <a:ext uri="{FF2B5EF4-FFF2-40B4-BE49-F238E27FC236}">
                  <a16:creationId xmlns:a16="http://schemas.microsoft.com/office/drawing/2014/main" id="{9AD41A92-C8E0-B540-AD4D-F962BD9B5C98}"/>
                </a:ext>
              </a:extLst>
            </p:cNvPr>
            <p:cNvSpPr>
              <a:spLocks noChangeShapeType="1"/>
            </p:cNvSpPr>
            <p:nvPr/>
          </p:nvSpPr>
          <p:spPr bwMode="auto">
            <a:xfrm flipH="1">
              <a:off x="3921125" y="2652713"/>
              <a:ext cx="22860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418" name="Line 46">
              <a:extLst>
                <a:ext uri="{FF2B5EF4-FFF2-40B4-BE49-F238E27FC236}">
                  <a16:creationId xmlns:a16="http://schemas.microsoft.com/office/drawing/2014/main" id="{A7C282D0-5039-2B4E-B2C2-DDDA5351CC28}"/>
                </a:ext>
              </a:extLst>
            </p:cNvPr>
            <p:cNvSpPr>
              <a:spLocks noChangeShapeType="1"/>
            </p:cNvSpPr>
            <p:nvPr/>
          </p:nvSpPr>
          <p:spPr bwMode="auto">
            <a:xfrm>
              <a:off x="3844925" y="3338513"/>
              <a:ext cx="0" cy="1524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419" name="AutoShape 48">
              <a:extLst>
                <a:ext uri="{FF2B5EF4-FFF2-40B4-BE49-F238E27FC236}">
                  <a16:creationId xmlns:a16="http://schemas.microsoft.com/office/drawing/2014/main" id="{FCA3EEBA-4AAA-6146-8B6B-E7697E2F2C4F}"/>
                </a:ext>
              </a:extLst>
            </p:cNvPr>
            <p:cNvSpPr>
              <a:spLocks noChangeArrowheads="1"/>
            </p:cNvSpPr>
            <p:nvPr/>
          </p:nvSpPr>
          <p:spPr bwMode="auto">
            <a:xfrm>
              <a:off x="2930525" y="1509713"/>
              <a:ext cx="1981200" cy="2590800"/>
            </a:xfrm>
            <a:prstGeom prst="roundRect">
              <a:avLst>
                <a:gd name="adj" fmla="val 16667"/>
              </a:avLst>
            </a:prstGeom>
            <a:noFill/>
            <a:ln w="38100" cap="rnd">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50" name="Text Box 49">
            <a:extLst>
              <a:ext uri="{FF2B5EF4-FFF2-40B4-BE49-F238E27FC236}">
                <a16:creationId xmlns:a16="http://schemas.microsoft.com/office/drawing/2014/main" id="{949F969C-9498-9941-9E3E-4393823415DB}"/>
              </a:ext>
            </a:extLst>
          </p:cNvPr>
          <p:cNvSpPr txBox="1">
            <a:spLocks noChangeArrowheads="1"/>
          </p:cNvSpPr>
          <p:nvPr/>
        </p:nvSpPr>
        <p:spPr bwMode="auto">
          <a:xfrm>
            <a:off x="811213" y="5821363"/>
            <a:ext cx="685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Iter. 1</a:t>
            </a:r>
          </a:p>
        </p:txBody>
      </p:sp>
      <p:sp>
        <p:nvSpPr>
          <p:cNvPr id="51" name="Text Box 50">
            <a:extLst>
              <a:ext uri="{FF2B5EF4-FFF2-40B4-BE49-F238E27FC236}">
                <a16:creationId xmlns:a16="http://schemas.microsoft.com/office/drawing/2014/main" id="{BC041A42-9BF5-4346-8A35-B3BAA463D529}"/>
              </a:ext>
            </a:extLst>
          </p:cNvPr>
          <p:cNvSpPr txBox="1">
            <a:spLocks noChangeArrowheads="1"/>
          </p:cNvSpPr>
          <p:nvPr/>
        </p:nvSpPr>
        <p:spPr bwMode="auto">
          <a:xfrm>
            <a:off x="2792413" y="5821363"/>
            <a:ext cx="685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Iter. 2</a:t>
            </a:r>
          </a:p>
        </p:txBody>
      </p:sp>
      <p:sp>
        <p:nvSpPr>
          <p:cNvPr id="59403" name="Line 55">
            <a:extLst>
              <a:ext uri="{FF2B5EF4-FFF2-40B4-BE49-F238E27FC236}">
                <a16:creationId xmlns:a16="http://schemas.microsoft.com/office/drawing/2014/main" id="{BFF0D03E-AC45-0841-85D2-26524231FFEF}"/>
              </a:ext>
            </a:extLst>
          </p:cNvPr>
          <p:cNvSpPr>
            <a:spLocks noChangeShapeType="1"/>
          </p:cNvSpPr>
          <p:nvPr/>
        </p:nvSpPr>
        <p:spPr bwMode="auto">
          <a:xfrm>
            <a:off x="6019800" y="4114800"/>
            <a:ext cx="533400" cy="0"/>
          </a:xfrm>
          <a:prstGeom prst="line">
            <a:avLst/>
          </a:prstGeom>
          <a:noFill/>
          <a:ln w="76200">
            <a:solidFill>
              <a:schemeClr val="tx1"/>
            </a:solidFill>
            <a:prstDash val="sysDot"/>
            <a:round/>
            <a:headEnd/>
            <a:tailEn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 name="Text Box 32">
            <a:extLst>
              <a:ext uri="{FF2B5EF4-FFF2-40B4-BE49-F238E27FC236}">
                <a16:creationId xmlns:a16="http://schemas.microsoft.com/office/drawing/2014/main" id="{5B6CDE54-A0B7-9649-B1EA-D8BB0CFE2699}"/>
              </a:ext>
            </a:extLst>
          </p:cNvPr>
          <p:cNvSpPr txBox="1">
            <a:spLocks noChangeArrowheads="1"/>
          </p:cNvSpPr>
          <p:nvPr/>
        </p:nvSpPr>
        <p:spPr bwMode="auto">
          <a:xfrm>
            <a:off x="7086600" y="3257550"/>
            <a:ext cx="17462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400" b="1" i="1" u="none" strike="noStrike" kern="1200" cap="none" spc="0" normalizeH="0" baseline="0" noProof="0">
                <a:ln>
                  <a:noFill/>
                </a:ln>
                <a:solidFill>
                  <a:srgbClr val="BDE11B"/>
                </a:solidFill>
                <a:effectLst/>
                <a:uLnTx/>
                <a:uFillTx/>
                <a:latin typeface="Verdana" panose="020B0604030504040204" pitchFamily="34" charset="0"/>
                <a:ea typeface="굴림" panose="020B0600000101010101" pitchFamily="34" charset="-127"/>
                <a:cs typeface="+mn-cs"/>
              </a:rPr>
              <a:t>Warp 0 at PC X</a:t>
            </a:r>
          </a:p>
        </p:txBody>
      </p:sp>
      <p:sp>
        <p:nvSpPr>
          <p:cNvPr id="62" name="Content Placeholder 2">
            <a:extLst>
              <a:ext uri="{FF2B5EF4-FFF2-40B4-BE49-F238E27FC236}">
                <a16:creationId xmlns:a16="http://schemas.microsoft.com/office/drawing/2014/main" id="{4534E9F4-83D0-7B4C-9938-C0F2837D98FE}"/>
              </a:ext>
            </a:extLst>
          </p:cNvPr>
          <p:cNvSpPr>
            <a:spLocks noGrp="1"/>
          </p:cNvSpPr>
          <p:nvPr>
            <p:ph idx="1"/>
          </p:nvPr>
        </p:nvSpPr>
        <p:spPr>
          <a:xfrm>
            <a:off x="0" y="996949"/>
            <a:ext cx="8991600" cy="1679575"/>
          </a:xfrm>
        </p:spPr>
        <p:txBody>
          <a:bodyPr/>
          <a:lstStyle/>
          <a:p>
            <a:r>
              <a:rPr lang="en-US" altLang="en-US" dirty="0">
                <a:ea typeface="ＭＳ Ｐゴシック" panose="020B0600070205080204" pitchFamily="34" charset="-128"/>
              </a:rPr>
              <a:t>Assume: a warp consists of </a:t>
            </a:r>
            <a:r>
              <a:rPr lang="en-US" altLang="en-US" dirty="0">
                <a:solidFill>
                  <a:srgbClr val="0432FF"/>
                </a:solidFill>
                <a:ea typeface="ＭＳ Ｐゴシック" panose="020B0600070205080204" pitchFamily="34" charset="-128"/>
              </a:rPr>
              <a:t>32 threads</a:t>
            </a:r>
          </a:p>
          <a:p>
            <a:r>
              <a:rPr lang="en-US" altLang="en-US" dirty="0">
                <a:ea typeface="ＭＳ Ｐゴシック" panose="020B0600070205080204" pitchFamily="34" charset="-128"/>
              </a:rPr>
              <a:t>If you have </a:t>
            </a:r>
            <a:r>
              <a:rPr lang="en-US" altLang="en-US" dirty="0">
                <a:solidFill>
                  <a:srgbClr val="00B050"/>
                </a:solidFill>
                <a:ea typeface="ＭＳ Ｐゴシック" panose="020B0600070205080204" pitchFamily="34" charset="-128"/>
              </a:rPr>
              <a:t>32K iterations, and 1 iteration/thread </a:t>
            </a:r>
            <a:r>
              <a:rPr lang="en-US" altLang="en-US" dirty="0">
                <a:solidFill>
                  <a:srgbClr val="00B050"/>
                </a:solidFill>
                <a:ea typeface="ＭＳ Ｐゴシック" panose="020B0600070205080204" pitchFamily="34" charset="-128"/>
                <a:sym typeface="Wingdings" pitchFamily="2" charset="2"/>
              </a:rPr>
              <a:t> 1K warps</a:t>
            </a:r>
          </a:p>
          <a:p>
            <a:r>
              <a:rPr lang="en-US" altLang="en-US" dirty="0">
                <a:ea typeface="ＭＳ Ｐゴシック" panose="020B0600070205080204" pitchFamily="34" charset="-128"/>
                <a:sym typeface="Wingdings" pitchFamily="2" charset="2"/>
              </a:rPr>
              <a:t>Warps can be </a:t>
            </a:r>
            <a:r>
              <a:rPr lang="en-US" altLang="en-US" dirty="0">
                <a:solidFill>
                  <a:srgbClr val="0432FF"/>
                </a:solidFill>
                <a:ea typeface="ＭＳ Ｐゴシック" panose="020B0600070205080204" pitchFamily="34" charset="-128"/>
                <a:sym typeface="Wingdings" pitchFamily="2" charset="2"/>
              </a:rPr>
              <a:t>interleaved on the same pipeline</a:t>
            </a:r>
            <a:r>
              <a:rPr lang="en-US" altLang="en-US" dirty="0">
                <a:ea typeface="ＭＳ Ｐゴシック" panose="020B0600070205080204" pitchFamily="34" charset="-128"/>
                <a:sym typeface="Wingdings" pitchFamily="2" charset="2"/>
              </a:rPr>
              <a:t>  Fine grained multithreading of warps.</a:t>
            </a:r>
            <a:endParaRPr lang="en-US" altLang="en-US" dirty="0">
              <a:ea typeface="ＭＳ Ｐゴシック" panose="020B0600070205080204" pitchFamily="34" charset="-128"/>
            </a:endParaRPr>
          </a:p>
        </p:txBody>
      </p:sp>
      <p:sp>
        <p:nvSpPr>
          <p:cNvPr id="64" name="Text Box 32">
            <a:extLst>
              <a:ext uri="{FF2B5EF4-FFF2-40B4-BE49-F238E27FC236}">
                <a16:creationId xmlns:a16="http://schemas.microsoft.com/office/drawing/2014/main" id="{DCEDAA7C-3856-5E44-893A-CAE3C8864102}"/>
              </a:ext>
            </a:extLst>
          </p:cNvPr>
          <p:cNvSpPr txBox="1">
            <a:spLocks noChangeArrowheads="1"/>
          </p:cNvSpPr>
          <p:nvPr/>
        </p:nvSpPr>
        <p:spPr bwMode="auto">
          <a:xfrm>
            <a:off x="7081838" y="3262313"/>
            <a:ext cx="17462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400" b="1" i="1" u="none" strike="noStrike" kern="1200" cap="none" spc="0" normalizeH="0" baseline="0" noProof="0">
                <a:ln>
                  <a:noFill/>
                </a:ln>
                <a:solidFill>
                  <a:srgbClr val="BDE11B"/>
                </a:solidFill>
                <a:effectLst/>
                <a:uLnTx/>
                <a:uFillTx/>
                <a:latin typeface="Verdana" panose="020B0604030504040204" pitchFamily="34" charset="0"/>
                <a:ea typeface="굴림" panose="020B0600000101010101" pitchFamily="34" charset="-127"/>
                <a:cs typeface="+mn-cs"/>
              </a:rPr>
              <a:t>Warp 1 at PC X</a:t>
            </a:r>
          </a:p>
        </p:txBody>
      </p:sp>
      <p:sp>
        <p:nvSpPr>
          <p:cNvPr id="66" name="Text Box 49">
            <a:extLst>
              <a:ext uri="{FF2B5EF4-FFF2-40B4-BE49-F238E27FC236}">
                <a16:creationId xmlns:a16="http://schemas.microsoft.com/office/drawing/2014/main" id="{4A8FD991-218E-FD4E-9BF3-A08F84917C05}"/>
              </a:ext>
            </a:extLst>
          </p:cNvPr>
          <p:cNvSpPr txBox="1">
            <a:spLocks noChangeArrowheads="1"/>
          </p:cNvSpPr>
          <p:nvPr/>
        </p:nvSpPr>
        <p:spPr bwMode="auto">
          <a:xfrm>
            <a:off x="809625" y="5830888"/>
            <a:ext cx="685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Iter. 33</a:t>
            </a:r>
          </a:p>
        </p:txBody>
      </p:sp>
      <p:sp>
        <p:nvSpPr>
          <p:cNvPr id="67" name="Text Box 50">
            <a:extLst>
              <a:ext uri="{FF2B5EF4-FFF2-40B4-BE49-F238E27FC236}">
                <a16:creationId xmlns:a16="http://schemas.microsoft.com/office/drawing/2014/main" id="{3C05474C-B8B0-E64A-BE6E-1B6A950CCBE8}"/>
              </a:ext>
            </a:extLst>
          </p:cNvPr>
          <p:cNvSpPr txBox="1">
            <a:spLocks noChangeArrowheads="1"/>
          </p:cNvSpPr>
          <p:nvPr/>
        </p:nvSpPr>
        <p:spPr bwMode="auto">
          <a:xfrm>
            <a:off x="2819400" y="5830888"/>
            <a:ext cx="685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Iter. 34</a:t>
            </a:r>
          </a:p>
        </p:txBody>
      </p:sp>
      <p:sp>
        <p:nvSpPr>
          <p:cNvPr id="69" name="Text Box 32">
            <a:extLst>
              <a:ext uri="{FF2B5EF4-FFF2-40B4-BE49-F238E27FC236}">
                <a16:creationId xmlns:a16="http://schemas.microsoft.com/office/drawing/2014/main" id="{B9DA7F49-A3D7-5749-9162-F8ACF28F810F}"/>
              </a:ext>
            </a:extLst>
          </p:cNvPr>
          <p:cNvSpPr txBox="1">
            <a:spLocks noChangeArrowheads="1"/>
          </p:cNvSpPr>
          <p:nvPr/>
        </p:nvSpPr>
        <p:spPr bwMode="auto">
          <a:xfrm>
            <a:off x="7086600" y="4572000"/>
            <a:ext cx="21574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400" b="1" i="1" u="none" strike="noStrike" kern="1200" cap="none" spc="0" normalizeH="0" baseline="0" noProof="0">
                <a:ln>
                  <a:noFill/>
                </a:ln>
                <a:solidFill>
                  <a:srgbClr val="DD38E8"/>
                </a:solidFill>
                <a:effectLst/>
                <a:uLnTx/>
                <a:uFillTx/>
                <a:latin typeface="Verdana" panose="020B0604030504040204" pitchFamily="34" charset="0"/>
                <a:ea typeface="굴림" panose="020B0600000101010101" pitchFamily="34" charset="-127"/>
                <a:cs typeface="+mn-cs"/>
              </a:rPr>
              <a:t>Warp 20 at PC X+2</a:t>
            </a:r>
          </a:p>
        </p:txBody>
      </p:sp>
      <p:sp>
        <p:nvSpPr>
          <p:cNvPr id="72" name="Text Box 49">
            <a:extLst>
              <a:ext uri="{FF2B5EF4-FFF2-40B4-BE49-F238E27FC236}">
                <a16:creationId xmlns:a16="http://schemas.microsoft.com/office/drawing/2014/main" id="{C681CB0E-B3A7-A849-9D6A-35BB95A54F62}"/>
              </a:ext>
            </a:extLst>
          </p:cNvPr>
          <p:cNvSpPr txBox="1">
            <a:spLocks noChangeArrowheads="1"/>
          </p:cNvSpPr>
          <p:nvPr/>
        </p:nvSpPr>
        <p:spPr bwMode="auto">
          <a:xfrm>
            <a:off x="838200" y="5838825"/>
            <a:ext cx="1600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Iter.</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20*32 + 1</a:t>
            </a:r>
          </a:p>
        </p:txBody>
      </p:sp>
      <p:sp>
        <p:nvSpPr>
          <p:cNvPr id="73" name="Text Box 49">
            <a:extLst>
              <a:ext uri="{FF2B5EF4-FFF2-40B4-BE49-F238E27FC236}">
                <a16:creationId xmlns:a16="http://schemas.microsoft.com/office/drawing/2014/main" id="{BA6375E5-934B-9D43-B676-5A6B41B73002}"/>
              </a:ext>
            </a:extLst>
          </p:cNvPr>
          <p:cNvSpPr txBox="1">
            <a:spLocks noChangeArrowheads="1"/>
          </p:cNvSpPr>
          <p:nvPr/>
        </p:nvSpPr>
        <p:spPr bwMode="auto">
          <a:xfrm>
            <a:off x="2819400" y="5830888"/>
            <a:ext cx="16764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Iter.</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20*32 + 2</a:t>
            </a:r>
          </a:p>
        </p:txBody>
      </p:sp>
    </p:spTree>
    <p:extLst>
      <p:ext uri="{BB962C8B-B14F-4D97-AF65-F5344CB8AC3E}">
        <p14:creationId xmlns:p14="http://schemas.microsoft.com/office/powerpoint/2010/main" val="1818212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2">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2">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31"/>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30"/>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50"/>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51"/>
                                        </p:tgtEl>
                                        <p:attrNameLst>
                                          <p:attrName>style.visibility</p:attrName>
                                        </p:attrNameLst>
                                      </p:cBhvr>
                                      <p:to>
                                        <p:strVal val="hidden"/>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7"/>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xit" presetSubtype="0" fill="hold" grpId="1" nodeType="clickEffect">
                                  <p:stCondLst>
                                    <p:cond delay="0"/>
                                  </p:stCondLst>
                                  <p:childTnLst>
                                    <p:set>
                                      <p:cBhvr>
                                        <p:cTn id="48" dur="1" fill="hold">
                                          <p:stCondLst>
                                            <p:cond delay="0"/>
                                          </p:stCondLst>
                                        </p:cTn>
                                        <p:tgtEl>
                                          <p:spTgt spid="66"/>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67"/>
                                        </p:tgtEl>
                                        <p:attrNameLst>
                                          <p:attrName>style.visibility</p:attrName>
                                        </p:attrNameLst>
                                      </p:cBhvr>
                                      <p:to>
                                        <p:strVal val="hidden"/>
                                      </p:to>
                                    </p:set>
                                  </p:childTnLst>
                                </p:cTn>
                              </p:par>
                              <p:par>
                                <p:cTn id="51" presetID="1" presetClass="exit" presetSubtype="0" fill="hold" grpId="1" nodeType="withEffect">
                                  <p:stCondLst>
                                    <p:cond delay="0"/>
                                  </p:stCondLst>
                                  <p:childTnLst>
                                    <p:set>
                                      <p:cBhvr>
                                        <p:cTn id="52" dur="1" fill="hold">
                                          <p:stCondLst>
                                            <p:cond delay="0"/>
                                          </p:stCondLst>
                                        </p:cTn>
                                        <p:tgtEl>
                                          <p:spTgt spid="63"/>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64"/>
                                        </p:tgtEl>
                                        <p:attrNameLst>
                                          <p:attrName>style.visibility</p:attrName>
                                        </p:attrNameLst>
                                      </p:cBhvr>
                                      <p:to>
                                        <p:strVal val="hidden"/>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63" grpId="0" animBg="1"/>
      <p:bldP spid="63" grpId="1" animBg="1"/>
      <p:bldP spid="30" grpId="0" animBg="1"/>
      <p:bldP spid="30" grpId="1" animBg="1"/>
      <p:bldP spid="50" grpId="0"/>
      <p:bldP spid="50" grpId="1"/>
      <p:bldP spid="51" grpId="0"/>
      <p:bldP spid="51" grpId="1"/>
      <p:bldP spid="31" grpId="0"/>
      <p:bldP spid="31" grpId="1"/>
      <p:bldP spid="64" grpId="0"/>
      <p:bldP spid="64" grpId="1"/>
      <p:bldP spid="66" grpId="0"/>
      <p:bldP spid="66" grpId="1"/>
      <p:bldP spid="67" grpId="0"/>
      <p:bldP spid="67" grpId="1"/>
      <p:bldP spid="69" grpId="0"/>
      <p:bldP spid="72" grpId="0"/>
      <p:bldP spid="7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Title 1">
            <a:extLst>
              <a:ext uri="{FF2B5EF4-FFF2-40B4-BE49-F238E27FC236}">
                <a16:creationId xmlns:a16="http://schemas.microsoft.com/office/drawing/2014/main" id="{DDD9B11C-2EC4-F849-B2AA-8BB81908DD88}"/>
              </a:ext>
            </a:extLst>
          </p:cNvPr>
          <p:cNvSpPr>
            <a:spLocks noGrp="1"/>
          </p:cNvSpPr>
          <p:nvPr>
            <p:ph type="title"/>
          </p:nvPr>
        </p:nvSpPr>
        <p:spPr/>
        <p:txBody>
          <a:bodyPr/>
          <a:lstStyle/>
          <a:p>
            <a:r>
              <a:rPr lang="en-US" altLang="en-US" dirty="0">
                <a:ea typeface="ＭＳ Ｐゴシック" panose="020B0600070205080204" pitchFamily="34" charset="-128"/>
              </a:rPr>
              <a:t>Recall: Warp Instruction Level Parallelism</a:t>
            </a:r>
          </a:p>
        </p:txBody>
      </p:sp>
      <p:sp>
        <p:nvSpPr>
          <p:cNvPr id="67586" name="Content Placeholder 2">
            <a:extLst>
              <a:ext uri="{FF2B5EF4-FFF2-40B4-BE49-F238E27FC236}">
                <a16:creationId xmlns:a16="http://schemas.microsoft.com/office/drawing/2014/main" id="{EC6BDAC7-99C7-C24A-8138-A80CF979F083}"/>
              </a:ext>
            </a:extLst>
          </p:cNvPr>
          <p:cNvSpPr>
            <a:spLocks noGrp="1"/>
          </p:cNvSpPr>
          <p:nvPr>
            <p:ph idx="1"/>
          </p:nvPr>
        </p:nvSpPr>
        <p:spPr>
          <a:xfrm>
            <a:off x="228600" y="996950"/>
            <a:ext cx="8610600" cy="5194300"/>
          </a:xfrm>
        </p:spPr>
        <p:txBody>
          <a:bodyPr/>
          <a:lstStyle/>
          <a:p>
            <a:pPr>
              <a:buFontTx/>
              <a:buNone/>
            </a:pPr>
            <a:r>
              <a:rPr lang="en-US" altLang="ko-KR" sz="2000" dirty="0">
                <a:ea typeface="굴림" panose="020B0600000101010101" pitchFamily="34" charset="-127"/>
              </a:rPr>
              <a:t>Can overlap execution of multiple instructions</a:t>
            </a:r>
          </a:p>
          <a:p>
            <a:pPr lvl="1"/>
            <a:r>
              <a:rPr lang="en-US" altLang="ko-KR" sz="1600" dirty="0">
                <a:ea typeface="굴림" panose="020B0600000101010101" pitchFamily="34" charset="-127"/>
              </a:rPr>
              <a:t>Example machine has </a:t>
            </a:r>
            <a:r>
              <a:rPr lang="en-US" altLang="ko-KR" sz="1600" dirty="0">
                <a:solidFill>
                  <a:srgbClr val="0432FF"/>
                </a:solidFill>
                <a:ea typeface="굴림" panose="020B0600000101010101" pitchFamily="34" charset="-127"/>
              </a:rPr>
              <a:t>32 threads per warp and 8 lanes</a:t>
            </a:r>
          </a:p>
          <a:p>
            <a:pPr lvl="1"/>
            <a:r>
              <a:rPr lang="en-US" altLang="ko-KR" sz="1600" dirty="0">
                <a:ea typeface="굴림" panose="020B0600000101010101" pitchFamily="34" charset="-127"/>
              </a:rPr>
              <a:t>Completes 24 operations/cycle while issuing 1 warp/cycle</a:t>
            </a:r>
          </a:p>
          <a:p>
            <a:pPr lvl="1"/>
            <a:endParaRPr lang="en-US" altLang="ko-KR" sz="1600" dirty="0">
              <a:ea typeface="굴림" panose="020B0600000101010101" pitchFamily="34" charset="-127"/>
            </a:endParaRPr>
          </a:p>
          <a:p>
            <a:endParaRPr lang="en-US" altLang="en-US" dirty="0">
              <a:ea typeface="ＭＳ Ｐゴシック" panose="020B0600070205080204" pitchFamily="34" charset="-128"/>
            </a:endParaRPr>
          </a:p>
        </p:txBody>
      </p:sp>
      <p:sp>
        <p:nvSpPr>
          <p:cNvPr id="67587" name="Slide Number Placeholder 3">
            <a:extLst>
              <a:ext uri="{FF2B5EF4-FFF2-40B4-BE49-F238E27FC236}">
                <a16:creationId xmlns:a16="http://schemas.microsoft.com/office/drawing/2014/main" id="{91D9459B-F5D2-E34A-9ADC-C5A396E51A40}"/>
              </a:ext>
            </a:extLst>
          </p:cNvPr>
          <p:cNvSpPr>
            <a:spLocks noGrp="1"/>
          </p:cNvSpPr>
          <p:nvPr>
            <p:ph type="sldNum" sz="quarter" idx="11"/>
          </p:nvPr>
        </p:nvSpPr>
        <p:spPr>
          <a:xfrm>
            <a:off x="6777038" y="632460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17A79AA-CD33-9448-B7F6-6F507EA8DB00}"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grpSp>
        <p:nvGrpSpPr>
          <p:cNvPr id="2" name="Group 2">
            <a:extLst>
              <a:ext uri="{FF2B5EF4-FFF2-40B4-BE49-F238E27FC236}">
                <a16:creationId xmlns:a16="http://schemas.microsoft.com/office/drawing/2014/main" id="{493F7F6F-1479-2547-92F5-B17D76A3B498}"/>
              </a:ext>
            </a:extLst>
          </p:cNvPr>
          <p:cNvGrpSpPr>
            <a:grpSpLocks/>
          </p:cNvGrpSpPr>
          <p:nvPr/>
        </p:nvGrpSpPr>
        <p:grpSpPr bwMode="auto">
          <a:xfrm>
            <a:off x="685800" y="3589338"/>
            <a:ext cx="3276600" cy="1598612"/>
            <a:chOff x="432" y="2113"/>
            <a:chExt cx="2064" cy="1007"/>
          </a:xfrm>
        </p:grpSpPr>
        <p:grpSp>
          <p:nvGrpSpPr>
            <p:cNvPr id="68096" name="Group 3">
              <a:extLst>
                <a:ext uri="{FF2B5EF4-FFF2-40B4-BE49-F238E27FC236}">
                  <a16:creationId xmlns:a16="http://schemas.microsoft.com/office/drawing/2014/main" id="{BB55F344-F314-DC46-9B86-6E56CCE4A365}"/>
                </a:ext>
              </a:extLst>
            </p:cNvPr>
            <p:cNvGrpSpPr>
              <a:grpSpLocks/>
            </p:cNvGrpSpPr>
            <p:nvPr/>
          </p:nvGrpSpPr>
          <p:grpSpPr bwMode="auto">
            <a:xfrm>
              <a:off x="960" y="2352"/>
              <a:ext cx="1536" cy="768"/>
              <a:chOff x="480" y="2352"/>
              <a:chExt cx="1536" cy="768"/>
            </a:xfrm>
          </p:grpSpPr>
          <p:grpSp>
            <p:nvGrpSpPr>
              <p:cNvPr id="68098" name="Group 7">
                <a:extLst>
                  <a:ext uri="{FF2B5EF4-FFF2-40B4-BE49-F238E27FC236}">
                    <a16:creationId xmlns:a16="http://schemas.microsoft.com/office/drawing/2014/main" id="{9466717E-7610-4C45-8850-2FDB374E910B}"/>
                  </a:ext>
                </a:extLst>
              </p:cNvPr>
              <p:cNvGrpSpPr>
                <a:grpSpLocks/>
              </p:cNvGrpSpPr>
              <p:nvPr/>
            </p:nvGrpSpPr>
            <p:grpSpPr bwMode="auto">
              <a:xfrm>
                <a:off x="1824" y="2352"/>
                <a:ext cx="192" cy="192"/>
                <a:chOff x="1824" y="2352"/>
                <a:chExt cx="192" cy="192"/>
              </a:xfrm>
            </p:grpSpPr>
            <p:sp>
              <p:nvSpPr>
                <p:cNvPr id="68193" name="Rectangle 5">
                  <a:extLst>
                    <a:ext uri="{FF2B5EF4-FFF2-40B4-BE49-F238E27FC236}">
                      <a16:creationId xmlns:a16="http://schemas.microsoft.com/office/drawing/2014/main" id="{E9FE976C-C7E7-D640-A376-B08CEE3EFB83}"/>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94" name="Oval 6">
                  <a:extLst>
                    <a:ext uri="{FF2B5EF4-FFF2-40B4-BE49-F238E27FC236}">
                      <a16:creationId xmlns:a16="http://schemas.microsoft.com/office/drawing/2014/main" id="{22F3AEF7-C223-4249-AEAD-055F044EB8BA}"/>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68099" name="Rectangle 7">
                <a:extLst>
                  <a:ext uri="{FF2B5EF4-FFF2-40B4-BE49-F238E27FC236}">
                    <a16:creationId xmlns:a16="http://schemas.microsoft.com/office/drawing/2014/main" id="{1C46E81E-3D51-134E-B835-5A7B843CCFC4}"/>
                  </a:ext>
                </a:extLst>
              </p:cNvPr>
              <p:cNvSpPr>
                <a:spLocks noChangeArrowheads="1"/>
              </p:cNvSpPr>
              <p:nvPr/>
            </p:nvSpPr>
            <p:spPr bwMode="auto">
              <a:xfrm>
                <a:off x="480" y="2352"/>
                <a:ext cx="1536" cy="768"/>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68100" name="Group 8">
                <a:extLst>
                  <a:ext uri="{FF2B5EF4-FFF2-40B4-BE49-F238E27FC236}">
                    <a16:creationId xmlns:a16="http://schemas.microsoft.com/office/drawing/2014/main" id="{6F1BB14D-997C-994E-AB27-448757D540E8}"/>
                  </a:ext>
                </a:extLst>
              </p:cNvPr>
              <p:cNvGrpSpPr>
                <a:grpSpLocks/>
              </p:cNvGrpSpPr>
              <p:nvPr/>
            </p:nvGrpSpPr>
            <p:grpSpPr bwMode="auto">
              <a:xfrm>
                <a:off x="1824" y="2544"/>
                <a:ext cx="192" cy="192"/>
                <a:chOff x="1824" y="2352"/>
                <a:chExt cx="192" cy="192"/>
              </a:xfrm>
            </p:grpSpPr>
            <p:sp>
              <p:nvSpPr>
                <p:cNvPr id="68191" name="Rectangle 9">
                  <a:extLst>
                    <a:ext uri="{FF2B5EF4-FFF2-40B4-BE49-F238E27FC236}">
                      <a16:creationId xmlns:a16="http://schemas.microsoft.com/office/drawing/2014/main" id="{DDA9F547-B874-1F4C-A88B-98032122F0E0}"/>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92" name="Oval 10">
                  <a:extLst>
                    <a:ext uri="{FF2B5EF4-FFF2-40B4-BE49-F238E27FC236}">
                      <a16:creationId xmlns:a16="http://schemas.microsoft.com/office/drawing/2014/main" id="{2A6E84EC-0563-4C4B-9288-68C4DF94B1E7}"/>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01" name="Group 11">
                <a:extLst>
                  <a:ext uri="{FF2B5EF4-FFF2-40B4-BE49-F238E27FC236}">
                    <a16:creationId xmlns:a16="http://schemas.microsoft.com/office/drawing/2014/main" id="{D580DC02-00B7-774F-8CD0-A7E8B9314F37}"/>
                  </a:ext>
                </a:extLst>
              </p:cNvPr>
              <p:cNvGrpSpPr>
                <a:grpSpLocks/>
              </p:cNvGrpSpPr>
              <p:nvPr/>
            </p:nvGrpSpPr>
            <p:grpSpPr bwMode="auto">
              <a:xfrm>
                <a:off x="1824" y="2736"/>
                <a:ext cx="192" cy="192"/>
                <a:chOff x="1824" y="2352"/>
                <a:chExt cx="192" cy="192"/>
              </a:xfrm>
            </p:grpSpPr>
            <p:sp>
              <p:nvSpPr>
                <p:cNvPr id="68189" name="Rectangle 12">
                  <a:extLst>
                    <a:ext uri="{FF2B5EF4-FFF2-40B4-BE49-F238E27FC236}">
                      <a16:creationId xmlns:a16="http://schemas.microsoft.com/office/drawing/2014/main" id="{48D44E52-8599-3B4F-B0EC-A997CF6F433B}"/>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90" name="Oval 13">
                  <a:extLst>
                    <a:ext uri="{FF2B5EF4-FFF2-40B4-BE49-F238E27FC236}">
                      <a16:creationId xmlns:a16="http://schemas.microsoft.com/office/drawing/2014/main" id="{5DD1C21B-60ED-B642-87BE-3BF28698CC5B}"/>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02" name="Group 14">
                <a:extLst>
                  <a:ext uri="{FF2B5EF4-FFF2-40B4-BE49-F238E27FC236}">
                    <a16:creationId xmlns:a16="http://schemas.microsoft.com/office/drawing/2014/main" id="{1241CDCB-F7B6-0F4E-B669-854207D0A076}"/>
                  </a:ext>
                </a:extLst>
              </p:cNvPr>
              <p:cNvGrpSpPr>
                <a:grpSpLocks/>
              </p:cNvGrpSpPr>
              <p:nvPr/>
            </p:nvGrpSpPr>
            <p:grpSpPr bwMode="auto">
              <a:xfrm>
                <a:off x="1824" y="2928"/>
                <a:ext cx="192" cy="192"/>
                <a:chOff x="1824" y="2352"/>
                <a:chExt cx="192" cy="192"/>
              </a:xfrm>
            </p:grpSpPr>
            <p:sp>
              <p:nvSpPr>
                <p:cNvPr id="68187" name="Rectangle 15">
                  <a:extLst>
                    <a:ext uri="{FF2B5EF4-FFF2-40B4-BE49-F238E27FC236}">
                      <a16:creationId xmlns:a16="http://schemas.microsoft.com/office/drawing/2014/main" id="{887D29E3-2BBD-964D-9C7E-4D2E4E0DE393}"/>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88" name="Oval 16">
                  <a:extLst>
                    <a:ext uri="{FF2B5EF4-FFF2-40B4-BE49-F238E27FC236}">
                      <a16:creationId xmlns:a16="http://schemas.microsoft.com/office/drawing/2014/main" id="{036A0350-172F-0E42-A6DC-2F3820500D2D}"/>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03" name="Group 17">
                <a:extLst>
                  <a:ext uri="{FF2B5EF4-FFF2-40B4-BE49-F238E27FC236}">
                    <a16:creationId xmlns:a16="http://schemas.microsoft.com/office/drawing/2014/main" id="{9CB995A4-11EA-9D4D-96D6-65C311FD0B18}"/>
                  </a:ext>
                </a:extLst>
              </p:cNvPr>
              <p:cNvGrpSpPr>
                <a:grpSpLocks/>
              </p:cNvGrpSpPr>
              <p:nvPr/>
            </p:nvGrpSpPr>
            <p:grpSpPr bwMode="auto">
              <a:xfrm>
                <a:off x="1632" y="2352"/>
                <a:ext cx="192" cy="192"/>
                <a:chOff x="1824" y="2352"/>
                <a:chExt cx="192" cy="192"/>
              </a:xfrm>
            </p:grpSpPr>
            <p:sp>
              <p:nvSpPr>
                <p:cNvPr id="68185" name="Rectangle 18">
                  <a:extLst>
                    <a:ext uri="{FF2B5EF4-FFF2-40B4-BE49-F238E27FC236}">
                      <a16:creationId xmlns:a16="http://schemas.microsoft.com/office/drawing/2014/main" id="{AD66F7C5-150C-B444-86A7-C522A1F8DF7B}"/>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86" name="Oval 19">
                  <a:extLst>
                    <a:ext uri="{FF2B5EF4-FFF2-40B4-BE49-F238E27FC236}">
                      <a16:creationId xmlns:a16="http://schemas.microsoft.com/office/drawing/2014/main" id="{132F43D5-1412-C343-8B67-68D4AB5E4A4B}"/>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04" name="Group 20">
                <a:extLst>
                  <a:ext uri="{FF2B5EF4-FFF2-40B4-BE49-F238E27FC236}">
                    <a16:creationId xmlns:a16="http://schemas.microsoft.com/office/drawing/2014/main" id="{1138CD2F-6A0D-D74C-862F-ED754465F011}"/>
                  </a:ext>
                </a:extLst>
              </p:cNvPr>
              <p:cNvGrpSpPr>
                <a:grpSpLocks/>
              </p:cNvGrpSpPr>
              <p:nvPr/>
            </p:nvGrpSpPr>
            <p:grpSpPr bwMode="auto">
              <a:xfrm>
                <a:off x="1632" y="2544"/>
                <a:ext cx="192" cy="192"/>
                <a:chOff x="1824" y="2352"/>
                <a:chExt cx="192" cy="192"/>
              </a:xfrm>
            </p:grpSpPr>
            <p:sp>
              <p:nvSpPr>
                <p:cNvPr id="68183" name="Rectangle 21">
                  <a:extLst>
                    <a:ext uri="{FF2B5EF4-FFF2-40B4-BE49-F238E27FC236}">
                      <a16:creationId xmlns:a16="http://schemas.microsoft.com/office/drawing/2014/main" id="{FC496EBA-2E6D-1648-9013-AEADF11E1263}"/>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84" name="Oval 22">
                  <a:extLst>
                    <a:ext uri="{FF2B5EF4-FFF2-40B4-BE49-F238E27FC236}">
                      <a16:creationId xmlns:a16="http://schemas.microsoft.com/office/drawing/2014/main" id="{E2F37687-51BC-FB40-BBC1-5EA31AD6552B}"/>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05" name="Group 23">
                <a:extLst>
                  <a:ext uri="{FF2B5EF4-FFF2-40B4-BE49-F238E27FC236}">
                    <a16:creationId xmlns:a16="http://schemas.microsoft.com/office/drawing/2014/main" id="{1CD49328-CADD-F54A-BC17-74C86DA9242F}"/>
                  </a:ext>
                </a:extLst>
              </p:cNvPr>
              <p:cNvGrpSpPr>
                <a:grpSpLocks/>
              </p:cNvGrpSpPr>
              <p:nvPr/>
            </p:nvGrpSpPr>
            <p:grpSpPr bwMode="auto">
              <a:xfrm>
                <a:off x="1632" y="2736"/>
                <a:ext cx="192" cy="192"/>
                <a:chOff x="1824" y="2352"/>
                <a:chExt cx="192" cy="192"/>
              </a:xfrm>
            </p:grpSpPr>
            <p:sp>
              <p:nvSpPr>
                <p:cNvPr id="68181" name="Rectangle 24">
                  <a:extLst>
                    <a:ext uri="{FF2B5EF4-FFF2-40B4-BE49-F238E27FC236}">
                      <a16:creationId xmlns:a16="http://schemas.microsoft.com/office/drawing/2014/main" id="{86344DB7-2166-1D4E-867A-E4392D807E09}"/>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82" name="Oval 25">
                  <a:extLst>
                    <a:ext uri="{FF2B5EF4-FFF2-40B4-BE49-F238E27FC236}">
                      <a16:creationId xmlns:a16="http://schemas.microsoft.com/office/drawing/2014/main" id="{89EEA300-5BC6-E549-BC9F-16BFED75C145}"/>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06" name="Group 26">
                <a:extLst>
                  <a:ext uri="{FF2B5EF4-FFF2-40B4-BE49-F238E27FC236}">
                    <a16:creationId xmlns:a16="http://schemas.microsoft.com/office/drawing/2014/main" id="{258DAA9A-3284-3943-884E-A46A32CA48EC}"/>
                  </a:ext>
                </a:extLst>
              </p:cNvPr>
              <p:cNvGrpSpPr>
                <a:grpSpLocks/>
              </p:cNvGrpSpPr>
              <p:nvPr/>
            </p:nvGrpSpPr>
            <p:grpSpPr bwMode="auto">
              <a:xfrm>
                <a:off x="1632" y="2928"/>
                <a:ext cx="192" cy="192"/>
                <a:chOff x="1824" y="2352"/>
                <a:chExt cx="192" cy="192"/>
              </a:xfrm>
            </p:grpSpPr>
            <p:sp>
              <p:nvSpPr>
                <p:cNvPr id="68179" name="Rectangle 27">
                  <a:extLst>
                    <a:ext uri="{FF2B5EF4-FFF2-40B4-BE49-F238E27FC236}">
                      <a16:creationId xmlns:a16="http://schemas.microsoft.com/office/drawing/2014/main" id="{C017D738-E6F9-F94B-A584-3C591A1E3E5B}"/>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80" name="Oval 28">
                  <a:extLst>
                    <a:ext uri="{FF2B5EF4-FFF2-40B4-BE49-F238E27FC236}">
                      <a16:creationId xmlns:a16="http://schemas.microsoft.com/office/drawing/2014/main" id="{39C5C9C6-7CF9-FC4C-95C0-E62C63B2CFEC}"/>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07" name="Group 29">
                <a:extLst>
                  <a:ext uri="{FF2B5EF4-FFF2-40B4-BE49-F238E27FC236}">
                    <a16:creationId xmlns:a16="http://schemas.microsoft.com/office/drawing/2014/main" id="{3BE2FD2F-8C52-6E42-A883-BF2FBC257A04}"/>
                  </a:ext>
                </a:extLst>
              </p:cNvPr>
              <p:cNvGrpSpPr>
                <a:grpSpLocks/>
              </p:cNvGrpSpPr>
              <p:nvPr/>
            </p:nvGrpSpPr>
            <p:grpSpPr bwMode="auto">
              <a:xfrm>
                <a:off x="1440" y="2352"/>
                <a:ext cx="192" cy="192"/>
                <a:chOff x="1824" y="2352"/>
                <a:chExt cx="192" cy="192"/>
              </a:xfrm>
            </p:grpSpPr>
            <p:sp>
              <p:nvSpPr>
                <p:cNvPr id="68177" name="Rectangle 30">
                  <a:extLst>
                    <a:ext uri="{FF2B5EF4-FFF2-40B4-BE49-F238E27FC236}">
                      <a16:creationId xmlns:a16="http://schemas.microsoft.com/office/drawing/2014/main" id="{EFD25617-CCB0-D346-B8F0-B20C60B31263}"/>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78" name="Oval 31">
                  <a:extLst>
                    <a:ext uri="{FF2B5EF4-FFF2-40B4-BE49-F238E27FC236}">
                      <a16:creationId xmlns:a16="http://schemas.microsoft.com/office/drawing/2014/main" id="{62B8DCC5-374A-BB4A-936E-A144048746F0}"/>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08" name="Group 32">
                <a:extLst>
                  <a:ext uri="{FF2B5EF4-FFF2-40B4-BE49-F238E27FC236}">
                    <a16:creationId xmlns:a16="http://schemas.microsoft.com/office/drawing/2014/main" id="{FE9107CF-DE28-8841-83C3-30BAD78F95F0}"/>
                  </a:ext>
                </a:extLst>
              </p:cNvPr>
              <p:cNvGrpSpPr>
                <a:grpSpLocks/>
              </p:cNvGrpSpPr>
              <p:nvPr/>
            </p:nvGrpSpPr>
            <p:grpSpPr bwMode="auto">
              <a:xfrm>
                <a:off x="1440" y="2544"/>
                <a:ext cx="192" cy="192"/>
                <a:chOff x="1824" y="2352"/>
                <a:chExt cx="192" cy="192"/>
              </a:xfrm>
            </p:grpSpPr>
            <p:sp>
              <p:nvSpPr>
                <p:cNvPr id="68175" name="Rectangle 33">
                  <a:extLst>
                    <a:ext uri="{FF2B5EF4-FFF2-40B4-BE49-F238E27FC236}">
                      <a16:creationId xmlns:a16="http://schemas.microsoft.com/office/drawing/2014/main" id="{991C1A31-08E7-2A4A-A22A-C066838CEC8F}"/>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76" name="Oval 34">
                  <a:extLst>
                    <a:ext uri="{FF2B5EF4-FFF2-40B4-BE49-F238E27FC236}">
                      <a16:creationId xmlns:a16="http://schemas.microsoft.com/office/drawing/2014/main" id="{9C5B1D20-D40D-174B-BBC0-FA36869947AA}"/>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09" name="Group 35">
                <a:extLst>
                  <a:ext uri="{FF2B5EF4-FFF2-40B4-BE49-F238E27FC236}">
                    <a16:creationId xmlns:a16="http://schemas.microsoft.com/office/drawing/2014/main" id="{2815C6C5-FB4B-8F45-9FB6-4315C5C5AB53}"/>
                  </a:ext>
                </a:extLst>
              </p:cNvPr>
              <p:cNvGrpSpPr>
                <a:grpSpLocks/>
              </p:cNvGrpSpPr>
              <p:nvPr/>
            </p:nvGrpSpPr>
            <p:grpSpPr bwMode="auto">
              <a:xfrm>
                <a:off x="1440" y="2736"/>
                <a:ext cx="192" cy="192"/>
                <a:chOff x="1824" y="2352"/>
                <a:chExt cx="192" cy="192"/>
              </a:xfrm>
            </p:grpSpPr>
            <p:sp>
              <p:nvSpPr>
                <p:cNvPr id="68173" name="Rectangle 36">
                  <a:extLst>
                    <a:ext uri="{FF2B5EF4-FFF2-40B4-BE49-F238E27FC236}">
                      <a16:creationId xmlns:a16="http://schemas.microsoft.com/office/drawing/2014/main" id="{AAC4B5DD-AF04-524E-9BFC-5EDD8C3BDD51}"/>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74" name="Oval 37">
                  <a:extLst>
                    <a:ext uri="{FF2B5EF4-FFF2-40B4-BE49-F238E27FC236}">
                      <a16:creationId xmlns:a16="http://schemas.microsoft.com/office/drawing/2014/main" id="{FB0DE040-13F5-F044-AF9A-B2C6F24F48DF}"/>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10" name="Group 38">
                <a:extLst>
                  <a:ext uri="{FF2B5EF4-FFF2-40B4-BE49-F238E27FC236}">
                    <a16:creationId xmlns:a16="http://schemas.microsoft.com/office/drawing/2014/main" id="{1A93B723-73E6-0542-9A69-402DE18E7064}"/>
                  </a:ext>
                </a:extLst>
              </p:cNvPr>
              <p:cNvGrpSpPr>
                <a:grpSpLocks/>
              </p:cNvGrpSpPr>
              <p:nvPr/>
            </p:nvGrpSpPr>
            <p:grpSpPr bwMode="auto">
              <a:xfrm>
                <a:off x="1440" y="2928"/>
                <a:ext cx="192" cy="192"/>
                <a:chOff x="1824" y="2352"/>
                <a:chExt cx="192" cy="192"/>
              </a:xfrm>
            </p:grpSpPr>
            <p:sp>
              <p:nvSpPr>
                <p:cNvPr id="68171" name="Rectangle 39">
                  <a:extLst>
                    <a:ext uri="{FF2B5EF4-FFF2-40B4-BE49-F238E27FC236}">
                      <a16:creationId xmlns:a16="http://schemas.microsoft.com/office/drawing/2014/main" id="{C0084295-1DB9-7943-BD38-5FB99E3D0658}"/>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72" name="Oval 40">
                  <a:extLst>
                    <a:ext uri="{FF2B5EF4-FFF2-40B4-BE49-F238E27FC236}">
                      <a16:creationId xmlns:a16="http://schemas.microsoft.com/office/drawing/2014/main" id="{DD6EE2C6-6A0E-9841-987B-0B59C3C598C0}"/>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11" name="Group 41">
                <a:extLst>
                  <a:ext uri="{FF2B5EF4-FFF2-40B4-BE49-F238E27FC236}">
                    <a16:creationId xmlns:a16="http://schemas.microsoft.com/office/drawing/2014/main" id="{C07AE095-14C7-F24B-BDBB-1BBEB86FCB69}"/>
                  </a:ext>
                </a:extLst>
              </p:cNvPr>
              <p:cNvGrpSpPr>
                <a:grpSpLocks/>
              </p:cNvGrpSpPr>
              <p:nvPr/>
            </p:nvGrpSpPr>
            <p:grpSpPr bwMode="auto">
              <a:xfrm>
                <a:off x="1248" y="2352"/>
                <a:ext cx="192" cy="192"/>
                <a:chOff x="1824" y="2352"/>
                <a:chExt cx="192" cy="192"/>
              </a:xfrm>
            </p:grpSpPr>
            <p:sp>
              <p:nvSpPr>
                <p:cNvPr id="68169" name="Rectangle 42">
                  <a:extLst>
                    <a:ext uri="{FF2B5EF4-FFF2-40B4-BE49-F238E27FC236}">
                      <a16:creationId xmlns:a16="http://schemas.microsoft.com/office/drawing/2014/main" id="{E51AE489-636B-4446-BDC2-E938555CFFD2}"/>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70" name="Oval 43">
                  <a:extLst>
                    <a:ext uri="{FF2B5EF4-FFF2-40B4-BE49-F238E27FC236}">
                      <a16:creationId xmlns:a16="http://schemas.microsoft.com/office/drawing/2014/main" id="{2DEFA17B-EF52-104D-AC26-F716C3EB2798}"/>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12" name="Group 44">
                <a:extLst>
                  <a:ext uri="{FF2B5EF4-FFF2-40B4-BE49-F238E27FC236}">
                    <a16:creationId xmlns:a16="http://schemas.microsoft.com/office/drawing/2014/main" id="{85B634DD-9265-B345-B9BB-0D021AED3913}"/>
                  </a:ext>
                </a:extLst>
              </p:cNvPr>
              <p:cNvGrpSpPr>
                <a:grpSpLocks/>
              </p:cNvGrpSpPr>
              <p:nvPr/>
            </p:nvGrpSpPr>
            <p:grpSpPr bwMode="auto">
              <a:xfrm>
                <a:off x="1248" y="2544"/>
                <a:ext cx="192" cy="192"/>
                <a:chOff x="1824" y="2352"/>
                <a:chExt cx="192" cy="192"/>
              </a:xfrm>
            </p:grpSpPr>
            <p:sp>
              <p:nvSpPr>
                <p:cNvPr id="68167" name="Rectangle 45">
                  <a:extLst>
                    <a:ext uri="{FF2B5EF4-FFF2-40B4-BE49-F238E27FC236}">
                      <a16:creationId xmlns:a16="http://schemas.microsoft.com/office/drawing/2014/main" id="{078D0E69-B141-A240-A7A8-083730A1B86A}"/>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68" name="Oval 46">
                  <a:extLst>
                    <a:ext uri="{FF2B5EF4-FFF2-40B4-BE49-F238E27FC236}">
                      <a16:creationId xmlns:a16="http://schemas.microsoft.com/office/drawing/2014/main" id="{A7A380F0-2A01-E24B-A5A8-935488EF9124}"/>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13" name="Group 47">
                <a:extLst>
                  <a:ext uri="{FF2B5EF4-FFF2-40B4-BE49-F238E27FC236}">
                    <a16:creationId xmlns:a16="http://schemas.microsoft.com/office/drawing/2014/main" id="{CD409585-1C95-CE49-8270-5F525A3D9F9E}"/>
                  </a:ext>
                </a:extLst>
              </p:cNvPr>
              <p:cNvGrpSpPr>
                <a:grpSpLocks/>
              </p:cNvGrpSpPr>
              <p:nvPr/>
            </p:nvGrpSpPr>
            <p:grpSpPr bwMode="auto">
              <a:xfrm>
                <a:off x="1248" y="2736"/>
                <a:ext cx="192" cy="192"/>
                <a:chOff x="1824" y="2352"/>
                <a:chExt cx="192" cy="192"/>
              </a:xfrm>
            </p:grpSpPr>
            <p:sp>
              <p:nvSpPr>
                <p:cNvPr id="68165" name="Rectangle 48">
                  <a:extLst>
                    <a:ext uri="{FF2B5EF4-FFF2-40B4-BE49-F238E27FC236}">
                      <a16:creationId xmlns:a16="http://schemas.microsoft.com/office/drawing/2014/main" id="{8C1E6AD3-3213-8B4A-B444-60B0F06802CA}"/>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66" name="Oval 49">
                  <a:extLst>
                    <a:ext uri="{FF2B5EF4-FFF2-40B4-BE49-F238E27FC236}">
                      <a16:creationId xmlns:a16="http://schemas.microsoft.com/office/drawing/2014/main" id="{3EB52B45-C5F3-E745-8F95-E9F41E0302EA}"/>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14" name="Group 50">
                <a:extLst>
                  <a:ext uri="{FF2B5EF4-FFF2-40B4-BE49-F238E27FC236}">
                    <a16:creationId xmlns:a16="http://schemas.microsoft.com/office/drawing/2014/main" id="{410E9A94-35A1-3345-A9EE-2AD15CDC5CCE}"/>
                  </a:ext>
                </a:extLst>
              </p:cNvPr>
              <p:cNvGrpSpPr>
                <a:grpSpLocks/>
              </p:cNvGrpSpPr>
              <p:nvPr/>
            </p:nvGrpSpPr>
            <p:grpSpPr bwMode="auto">
              <a:xfrm>
                <a:off x="1248" y="2928"/>
                <a:ext cx="192" cy="192"/>
                <a:chOff x="1824" y="2352"/>
                <a:chExt cx="192" cy="192"/>
              </a:xfrm>
            </p:grpSpPr>
            <p:sp>
              <p:nvSpPr>
                <p:cNvPr id="68163" name="Rectangle 51">
                  <a:extLst>
                    <a:ext uri="{FF2B5EF4-FFF2-40B4-BE49-F238E27FC236}">
                      <a16:creationId xmlns:a16="http://schemas.microsoft.com/office/drawing/2014/main" id="{0174A4A0-3A39-CD4C-8292-EA596E1175B2}"/>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64" name="Oval 52">
                  <a:extLst>
                    <a:ext uri="{FF2B5EF4-FFF2-40B4-BE49-F238E27FC236}">
                      <a16:creationId xmlns:a16="http://schemas.microsoft.com/office/drawing/2014/main" id="{C954A47C-35C0-FE4A-8493-78737FF6A34A}"/>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15" name="Group 53">
                <a:extLst>
                  <a:ext uri="{FF2B5EF4-FFF2-40B4-BE49-F238E27FC236}">
                    <a16:creationId xmlns:a16="http://schemas.microsoft.com/office/drawing/2014/main" id="{B4CD2270-6990-F347-BA15-14FCFB02B8EE}"/>
                  </a:ext>
                </a:extLst>
              </p:cNvPr>
              <p:cNvGrpSpPr>
                <a:grpSpLocks/>
              </p:cNvGrpSpPr>
              <p:nvPr/>
            </p:nvGrpSpPr>
            <p:grpSpPr bwMode="auto">
              <a:xfrm>
                <a:off x="1056" y="2352"/>
                <a:ext cx="192" cy="192"/>
                <a:chOff x="1824" y="2352"/>
                <a:chExt cx="192" cy="192"/>
              </a:xfrm>
            </p:grpSpPr>
            <p:sp>
              <p:nvSpPr>
                <p:cNvPr id="68161" name="Rectangle 54">
                  <a:extLst>
                    <a:ext uri="{FF2B5EF4-FFF2-40B4-BE49-F238E27FC236}">
                      <a16:creationId xmlns:a16="http://schemas.microsoft.com/office/drawing/2014/main" id="{DB72E36B-55E7-184C-83F4-ECEB625CB757}"/>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62" name="Oval 55">
                  <a:extLst>
                    <a:ext uri="{FF2B5EF4-FFF2-40B4-BE49-F238E27FC236}">
                      <a16:creationId xmlns:a16="http://schemas.microsoft.com/office/drawing/2014/main" id="{2AF684FF-A576-3C4E-9FDA-AFB287A6C1A7}"/>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16" name="Group 56">
                <a:extLst>
                  <a:ext uri="{FF2B5EF4-FFF2-40B4-BE49-F238E27FC236}">
                    <a16:creationId xmlns:a16="http://schemas.microsoft.com/office/drawing/2014/main" id="{980F66C8-B91F-A44F-98B8-76A260D70593}"/>
                  </a:ext>
                </a:extLst>
              </p:cNvPr>
              <p:cNvGrpSpPr>
                <a:grpSpLocks/>
              </p:cNvGrpSpPr>
              <p:nvPr/>
            </p:nvGrpSpPr>
            <p:grpSpPr bwMode="auto">
              <a:xfrm>
                <a:off x="1056" y="2544"/>
                <a:ext cx="192" cy="192"/>
                <a:chOff x="1824" y="2352"/>
                <a:chExt cx="192" cy="192"/>
              </a:xfrm>
            </p:grpSpPr>
            <p:sp>
              <p:nvSpPr>
                <p:cNvPr id="68159" name="Rectangle 57">
                  <a:extLst>
                    <a:ext uri="{FF2B5EF4-FFF2-40B4-BE49-F238E27FC236}">
                      <a16:creationId xmlns:a16="http://schemas.microsoft.com/office/drawing/2014/main" id="{AADF6D75-A14A-3641-9C81-905D194F2E19}"/>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60" name="Oval 58">
                  <a:extLst>
                    <a:ext uri="{FF2B5EF4-FFF2-40B4-BE49-F238E27FC236}">
                      <a16:creationId xmlns:a16="http://schemas.microsoft.com/office/drawing/2014/main" id="{AB9EEC04-0EFD-DA4B-BF80-74BC6531951D}"/>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17" name="Group 59">
                <a:extLst>
                  <a:ext uri="{FF2B5EF4-FFF2-40B4-BE49-F238E27FC236}">
                    <a16:creationId xmlns:a16="http://schemas.microsoft.com/office/drawing/2014/main" id="{DFE0373B-6CCE-6C4A-A1EC-50841852518F}"/>
                  </a:ext>
                </a:extLst>
              </p:cNvPr>
              <p:cNvGrpSpPr>
                <a:grpSpLocks/>
              </p:cNvGrpSpPr>
              <p:nvPr/>
            </p:nvGrpSpPr>
            <p:grpSpPr bwMode="auto">
              <a:xfrm>
                <a:off x="1056" y="2736"/>
                <a:ext cx="192" cy="192"/>
                <a:chOff x="1824" y="2352"/>
                <a:chExt cx="192" cy="192"/>
              </a:xfrm>
            </p:grpSpPr>
            <p:sp>
              <p:nvSpPr>
                <p:cNvPr id="68157" name="Rectangle 60">
                  <a:extLst>
                    <a:ext uri="{FF2B5EF4-FFF2-40B4-BE49-F238E27FC236}">
                      <a16:creationId xmlns:a16="http://schemas.microsoft.com/office/drawing/2014/main" id="{F76DB98F-DAB0-D548-8566-D6E893B92DBC}"/>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58" name="Oval 61">
                  <a:extLst>
                    <a:ext uri="{FF2B5EF4-FFF2-40B4-BE49-F238E27FC236}">
                      <a16:creationId xmlns:a16="http://schemas.microsoft.com/office/drawing/2014/main" id="{B3962037-3BB2-014C-BB72-5359F6111EC4}"/>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18" name="Group 62">
                <a:extLst>
                  <a:ext uri="{FF2B5EF4-FFF2-40B4-BE49-F238E27FC236}">
                    <a16:creationId xmlns:a16="http://schemas.microsoft.com/office/drawing/2014/main" id="{832FA766-AA4A-8C41-A7C9-4BE695C0B12C}"/>
                  </a:ext>
                </a:extLst>
              </p:cNvPr>
              <p:cNvGrpSpPr>
                <a:grpSpLocks/>
              </p:cNvGrpSpPr>
              <p:nvPr/>
            </p:nvGrpSpPr>
            <p:grpSpPr bwMode="auto">
              <a:xfrm>
                <a:off x="1056" y="2928"/>
                <a:ext cx="192" cy="192"/>
                <a:chOff x="1824" y="2352"/>
                <a:chExt cx="192" cy="192"/>
              </a:xfrm>
            </p:grpSpPr>
            <p:sp>
              <p:nvSpPr>
                <p:cNvPr id="68155" name="Rectangle 63">
                  <a:extLst>
                    <a:ext uri="{FF2B5EF4-FFF2-40B4-BE49-F238E27FC236}">
                      <a16:creationId xmlns:a16="http://schemas.microsoft.com/office/drawing/2014/main" id="{84BEAC81-E343-554F-8D63-22475196ADB2}"/>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56" name="Oval 64">
                  <a:extLst>
                    <a:ext uri="{FF2B5EF4-FFF2-40B4-BE49-F238E27FC236}">
                      <a16:creationId xmlns:a16="http://schemas.microsoft.com/office/drawing/2014/main" id="{D4CC9581-20E2-524C-A1A7-9A6623470C15}"/>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19" name="Group 65">
                <a:extLst>
                  <a:ext uri="{FF2B5EF4-FFF2-40B4-BE49-F238E27FC236}">
                    <a16:creationId xmlns:a16="http://schemas.microsoft.com/office/drawing/2014/main" id="{E1C6D2A2-BCF5-5E4F-8670-06C4D466EE40}"/>
                  </a:ext>
                </a:extLst>
              </p:cNvPr>
              <p:cNvGrpSpPr>
                <a:grpSpLocks/>
              </p:cNvGrpSpPr>
              <p:nvPr/>
            </p:nvGrpSpPr>
            <p:grpSpPr bwMode="auto">
              <a:xfrm>
                <a:off x="864" y="2352"/>
                <a:ext cx="192" cy="192"/>
                <a:chOff x="1824" y="2352"/>
                <a:chExt cx="192" cy="192"/>
              </a:xfrm>
            </p:grpSpPr>
            <p:sp>
              <p:nvSpPr>
                <p:cNvPr id="68153" name="Rectangle 66">
                  <a:extLst>
                    <a:ext uri="{FF2B5EF4-FFF2-40B4-BE49-F238E27FC236}">
                      <a16:creationId xmlns:a16="http://schemas.microsoft.com/office/drawing/2014/main" id="{E88E9207-E5B4-0749-9141-FBF15D447B20}"/>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54" name="Oval 67">
                  <a:extLst>
                    <a:ext uri="{FF2B5EF4-FFF2-40B4-BE49-F238E27FC236}">
                      <a16:creationId xmlns:a16="http://schemas.microsoft.com/office/drawing/2014/main" id="{C36F4F5A-ADF9-A444-B4D6-0A58250F6F2B}"/>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20" name="Group 68">
                <a:extLst>
                  <a:ext uri="{FF2B5EF4-FFF2-40B4-BE49-F238E27FC236}">
                    <a16:creationId xmlns:a16="http://schemas.microsoft.com/office/drawing/2014/main" id="{AA96695E-038A-EB4F-8314-76A59E11D5D5}"/>
                  </a:ext>
                </a:extLst>
              </p:cNvPr>
              <p:cNvGrpSpPr>
                <a:grpSpLocks/>
              </p:cNvGrpSpPr>
              <p:nvPr/>
            </p:nvGrpSpPr>
            <p:grpSpPr bwMode="auto">
              <a:xfrm>
                <a:off x="864" y="2544"/>
                <a:ext cx="192" cy="192"/>
                <a:chOff x="1824" y="2352"/>
                <a:chExt cx="192" cy="192"/>
              </a:xfrm>
            </p:grpSpPr>
            <p:sp>
              <p:nvSpPr>
                <p:cNvPr id="68151" name="Rectangle 69">
                  <a:extLst>
                    <a:ext uri="{FF2B5EF4-FFF2-40B4-BE49-F238E27FC236}">
                      <a16:creationId xmlns:a16="http://schemas.microsoft.com/office/drawing/2014/main" id="{6CC2DEC0-07FB-5A43-8867-33FB87694516}"/>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52" name="Oval 70">
                  <a:extLst>
                    <a:ext uri="{FF2B5EF4-FFF2-40B4-BE49-F238E27FC236}">
                      <a16:creationId xmlns:a16="http://schemas.microsoft.com/office/drawing/2014/main" id="{F4CA48A6-0034-9C4A-AFE2-670173E8F5D6}"/>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21" name="Group 71">
                <a:extLst>
                  <a:ext uri="{FF2B5EF4-FFF2-40B4-BE49-F238E27FC236}">
                    <a16:creationId xmlns:a16="http://schemas.microsoft.com/office/drawing/2014/main" id="{2E134863-857B-CF43-B63D-8BD95573ADD3}"/>
                  </a:ext>
                </a:extLst>
              </p:cNvPr>
              <p:cNvGrpSpPr>
                <a:grpSpLocks/>
              </p:cNvGrpSpPr>
              <p:nvPr/>
            </p:nvGrpSpPr>
            <p:grpSpPr bwMode="auto">
              <a:xfrm>
                <a:off x="864" y="2736"/>
                <a:ext cx="192" cy="192"/>
                <a:chOff x="1824" y="2352"/>
                <a:chExt cx="192" cy="192"/>
              </a:xfrm>
            </p:grpSpPr>
            <p:sp>
              <p:nvSpPr>
                <p:cNvPr id="68149" name="Rectangle 72">
                  <a:extLst>
                    <a:ext uri="{FF2B5EF4-FFF2-40B4-BE49-F238E27FC236}">
                      <a16:creationId xmlns:a16="http://schemas.microsoft.com/office/drawing/2014/main" id="{0EB0058A-CD91-F241-B7D3-CC987F8099C1}"/>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50" name="Oval 73">
                  <a:extLst>
                    <a:ext uri="{FF2B5EF4-FFF2-40B4-BE49-F238E27FC236}">
                      <a16:creationId xmlns:a16="http://schemas.microsoft.com/office/drawing/2014/main" id="{7B311303-D111-B545-8CBE-08ED679E9C72}"/>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22" name="Group 74">
                <a:extLst>
                  <a:ext uri="{FF2B5EF4-FFF2-40B4-BE49-F238E27FC236}">
                    <a16:creationId xmlns:a16="http://schemas.microsoft.com/office/drawing/2014/main" id="{74F75051-1883-3247-BAB1-A429716975B9}"/>
                  </a:ext>
                </a:extLst>
              </p:cNvPr>
              <p:cNvGrpSpPr>
                <a:grpSpLocks/>
              </p:cNvGrpSpPr>
              <p:nvPr/>
            </p:nvGrpSpPr>
            <p:grpSpPr bwMode="auto">
              <a:xfrm>
                <a:off x="864" y="2928"/>
                <a:ext cx="192" cy="192"/>
                <a:chOff x="1824" y="2352"/>
                <a:chExt cx="192" cy="192"/>
              </a:xfrm>
            </p:grpSpPr>
            <p:sp>
              <p:nvSpPr>
                <p:cNvPr id="68147" name="Rectangle 75">
                  <a:extLst>
                    <a:ext uri="{FF2B5EF4-FFF2-40B4-BE49-F238E27FC236}">
                      <a16:creationId xmlns:a16="http://schemas.microsoft.com/office/drawing/2014/main" id="{5088E8AB-612B-394D-8BB2-5536F274EC6C}"/>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48" name="Oval 76">
                  <a:extLst>
                    <a:ext uri="{FF2B5EF4-FFF2-40B4-BE49-F238E27FC236}">
                      <a16:creationId xmlns:a16="http://schemas.microsoft.com/office/drawing/2014/main" id="{81449052-C4BD-274A-AFDD-CE64A1A53991}"/>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23" name="Group 77">
                <a:extLst>
                  <a:ext uri="{FF2B5EF4-FFF2-40B4-BE49-F238E27FC236}">
                    <a16:creationId xmlns:a16="http://schemas.microsoft.com/office/drawing/2014/main" id="{6BEA3173-5835-AB4C-9C8E-01024A414D57}"/>
                  </a:ext>
                </a:extLst>
              </p:cNvPr>
              <p:cNvGrpSpPr>
                <a:grpSpLocks/>
              </p:cNvGrpSpPr>
              <p:nvPr/>
            </p:nvGrpSpPr>
            <p:grpSpPr bwMode="auto">
              <a:xfrm>
                <a:off x="672" y="2352"/>
                <a:ext cx="192" cy="192"/>
                <a:chOff x="1824" y="2352"/>
                <a:chExt cx="192" cy="192"/>
              </a:xfrm>
            </p:grpSpPr>
            <p:sp>
              <p:nvSpPr>
                <p:cNvPr id="68145" name="Rectangle 78">
                  <a:extLst>
                    <a:ext uri="{FF2B5EF4-FFF2-40B4-BE49-F238E27FC236}">
                      <a16:creationId xmlns:a16="http://schemas.microsoft.com/office/drawing/2014/main" id="{F45CD11B-60FF-1341-B2D3-B1F37DC66381}"/>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46" name="Oval 79">
                  <a:extLst>
                    <a:ext uri="{FF2B5EF4-FFF2-40B4-BE49-F238E27FC236}">
                      <a16:creationId xmlns:a16="http://schemas.microsoft.com/office/drawing/2014/main" id="{6F9C4E7A-A85A-1543-B387-F86DBD5E0C0F}"/>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24" name="Group 80">
                <a:extLst>
                  <a:ext uri="{FF2B5EF4-FFF2-40B4-BE49-F238E27FC236}">
                    <a16:creationId xmlns:a16="http://schemas.microsoft.com/office/drawing/2014/main" id="{D3D78A6E-5F31-8649-8031-65D6C5E0D03B}"/>
                  </a:ext>
                </a:extLst>
              </p:cNvPr>
              <p:cNvGrpSpPr>
                <a:grpSpLocks/>
              </p:cNvGrpSpPr>
              <p:nvPr/>
            </p:nvGrpSpPr>
            <p:grpSpPr bwMode="auto">
              <a:xfrm>
                <a:off x="672" y="2544"/>
                <a:ext cx="192" cy="192"/>
                <a:chOff x="1824" y="2352"/>
                <a:chExt cx="192" cy="192"/>
              </a:xfrm>
            </p:grpSpPr>
            <p:sp>
              <p:nvSpPr>
                <p:cNvPr id="68143" name="Rectangle 81">
                  <a:extLst>
                    <a:ext uri="{FF2B5EF4-FFF2-40B4-BE49-F238E27FC236}">
                      <a16:creationId xmlns:a16="http://schemas.microsoft.com/office/drawing/2014/main" id="{848750A3-65E2-2D4B-8199-8B6159BE2901}"/>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44" name="Oval 82">
                  <a:extLst>
                    <a:ext uri="{FF2B5EF4-FFF2-40B4-BE49-F238E27FC236}">
                      <a16:creationId xmlns:a16="http://schemas.microsoft.com/office/drawing/2014/main" id="{60060F07-E201-7445-BD9E-2CFEB0035FEE}"/>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25" name="Group 83">
                <a:extLst>
                  <a:ext uri="{FF2B5EF4-FFF2-40B4-BE49-F238E27FC236}">
                    <a16:creationId xmlns:a16="http://schemas.microsoft.com/office/drawing/2014/main" id="{024FFC48-BE36-FE49-B25C-404600B1A4A6}"/>
                  </a:ext>
                </a:extLst>
              </p:cNvPr>
              <p:cNvGrpSpPr>
                <a:grpSpLocks/>
              </p:cNvGrpSpPr>
              <p:nvPr/>
            </p:nvGrpSpPr>
            <p:grpSpPr bwMode="auto">
              <a:xfrm>
                <a:off x="672" y="2736"/>
                <a:ext cx="192" cy="192"/>
                <a:chOff x="1824" y="2352"/>
                <a:chExt cx="192" cy="192"/>
              </a:xfrm>
            </p:grpSpPr>
            <p:sp>
              <p:nvSpPr>
                <p:cNvPr id="68141" name="Rectangle 84">
                  <a:extLst>
                    <a:ext uri="{FF2B5EF4-FFF2-40B4-BE49-F238E27FC236}">
                      <a16:creationId xmlns:a16="http://schemas.microsoft.com/office/drawing/2014/main" id="{E633343C-B6B8-8347-8824-CD95006AA11F}"/>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42" name="Oval 85">
                  <a:extLst>
                    <a:ext uri="{FF2B5EF4-FFF2-40B4-BE49-F238E27FC236}">
                      <a16:creationId xmlns:a16="http://schemas.microsoft.com/office/drawing/2014/main" id="{CA225430-42E5-CA42-9950-93CBC2848CC9}"/>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26" name="Group 86">
                <a:extLst>
                  <a:ext uri="{FF2B5EF4-FFF2-40B4-BE49-F238E27FC236}">
                    <a16:creationId xmlns:a16="http://schemas.microsoft.com/office/drawing/2014/main" id="{FBE0FBDE-23BB-C24A-B766-65D72C5B63BF}"/>
                  </a:ext>
                </a:extLst>
              </p:cNvPr>
              <p:cNvGrpSpPr>
                <a:grpSpLocks/>
              </p:cNvGrpSpPr>
              <p:nvPr/>
            </p:nvGrpSpPr>
            <p:grpSpPr bwMode="auto">
              <a:xfrm>
                <a:off x="672" y="2928"/>
                <a:ext cx="192" cy="192"/>
                <a:chOff x="1824" y="2352"/>
                <a:chExt cx="192" cy="192"/>
              </a:xfrm>
            </p:grpSpPr>
            <p:sp>
              <p:nvSpPr>
                <p:cNvPr id="68139" name="Rectangle 87">
                  <a:extLst>
                    <a:ext uri="{FF2B5EF4-FFF2-40B4-BE49-F238E27FC236}">
                      <a16:creationId xmlns:a16="http://schemas.microsoft.com/office/drawing/2014/main" id="{26A8651A-88BB-7541-B1D4-E3B3E849CE34}"/>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40" name="Oval 88">
                  <a:extLst>
                    <a:ext uri="{FF2B5EF4-FFF2-40B4-BE49-F238E27FC236}">
                      <a16:creationId xmlns:a16="http://schemas.microsoft.com/office/drawing/2014/main" id="{5386694B-59B7-7748-9FB7-66EC53F10266}"/>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27" name="Group 89">
                <a:extLst>
                  <a:ext uri="{FF2B5EF4-FFF2-40B4-BE49-F238E27FC236}">
                    <a16:creationId xmlns:a16="http://schemas.microsoft.com/office/drawing/2014/main" id="{C9503621-8EDE-BB46-873A-D4D5F23EEC58}"/>
                  </a:ext>
                </a:extLst>
              </p:cNvPr>
              <p:cNvGrpSpPr>
                <a:grpSpLocks/>
              </p:cNvGrpSpPr>
              <p:nvPr/>
            </p:nvGrpSpPr>
            <p:grpSpPr bwMode="auto">
              <a:xfrm>
                <a:off x="480" y="2352"/>
                <a:ext cx="192" cy="192"/>
                <a:chOff x="1824" y="2352"/>
                <a:chExt cx="192" cy="192"/>
              </a:xfrm>
            </p:grpSpPr>
            <p:sp>
              <p:nvSpPr>
                <p:cNvPr id="68137" name="Rectangle 90">
                  <a:extLst>
                    <a:ext uri="{FF2B5EF4-FFF2-40B4-BE49-F238E27FC236}">
                      <a16:creationId xmlns:a16="http://schemas.microsoft.com/office/drawing/2014/main" id="{741505E1-B9CB-2D47-933A-7DB2C12C9DB1}"/>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38" name="Oval 91">
                  <a:extLst>
                    <a:ext uri="{FF2B5EF4-FFF2-40B4-BE49-F238E27FC236}">
                      <a16:creationId xmlns:a16="http://schemas.microsoft.com/office/drawing/2014/main" id="{1E804DD8-D802-BB4A-94E4-652005C439CF}"/>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28" name="Group 92">
                <a:extLst>
                  <a:ext uri="{FF2B5EF4-FFF2-40B4-BE49-F238E27FC236}">
                    <a16:creationId xmlns:a16="http://schemas.microsoft.com/office/drawing/2014/main" id="{E1C9E520-B7AB-0E4C-9755-8C58FAD36F57}"/>
                  </a:ext>
                </a:extLst>
              </p:cNvPr>
              <p:cNvGrpSpPr>
                <a:grpSpLocks/>
              </p:cNvGrpSpPr>
              <p:nvPr/>
            </p:nvGrpSpPr>
            <p:grpSpPr bwMode="auto">
              <a:xfrm>
                <a:off x="480" y="2544"/>
                <a:ext cx="192" cy="192"/>
                <a:chOff x="1824" y="2352"/>
                <a:chExt cx="192" cy="192"/>
              </a:xfrm>
            </p:grpSpPr>
            <p:sp>
              <p:nvSpPr>
                <p:cNvPr id="68135" name="Rectangle 93">
                  <a:extLst>
                    <a:ext uri="{FF2B5EF4-FFF2-40B4-BE49-F238E27FC236}">
                      <a16:creationId xmlns:a16="http://schemas.microsoft.com/office/drawing/2014/main" id="{D5209E4E-695F-9949-8EBC-9EF7A1B8E139}"/>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36" name="Oval 94">
                  <a:extLst>
                    <a:ext uri="{FF2B5EF4-FFF2-40B4-BE49-F238E27FC236}">
                      <a16:creationId xmlns:a16="http://schemas.microsoft.com/office/drawing/2014/main" id="{81B7C33E-553A-7844-A67B-A20F2FDFF287}"/>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29" name="Group 95">
                <a:extLst>
                  <a:ext uri="{FF2B5EF4-FFF2-40B4-BE49-F238E27FC236}">
                    <a16:creationId xmlns:a16="http://schemas.microsoft.com/office/drawing/2014/main" id="{9AFBE3A9-79B9-564F-B706-BDCFE6B87B58}"/>
                  </a:ext>
                </a:extLst>
              </p:cNvPr>
              <p:cNvGrpSpPr>
                <a:grpSpLocks/>
              </p:cNvGrpSpPr>
              <p:nvPr/>
            </p:nvGrpSpPr>
            <p:grpSpPr bwMode="auto">
              <a:xfrm>
                <a:off x="480" y="2736"/>
                <a:ext cx="192" cy="192"/>
                <a:chOff x="1824" y="2352"/>
                <a:chExt cx="192" cy="192"/>
              </a:xfrm>
            </p:grpSpPr>
            <p:sp>
              <p:nvSpPr>
                <p:cNvPr id="68133" name="Rectangle 96">
                  <a:extLst>
                    <a:ext uri="{FF2B5EF4-FFF2-40B4-BE49-F238E27FC236}">
                      <a16:creationId xmlns:a16="http://schemas.microsoft.com/office/drawing/2014/main" id="{A324CFCF-D4D6-9B40-B2EA-84C92A6F927D}"/>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34" name="Oval 97">
                  <a:extLst>
                    <a:ext uri="{FF2B5EF4-FFF2-40B4-BE49-F238E27FC236}">
                      <a16:creationId xmlns:a16="http://schemas.microsoft.com/office/drawing/2014/main" id="{756F6707-F012-0742-83F8-03E36B72257E}"/>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130" name="Group 98">
                <a:extLst>
                  <a:ext uri="{FF2B5EF4-FFF2-40B4-BE49-F238E27FC236}">
                    <a16:creationId xmlns:a16="http://schemas.microsoft.com/office/drawing/2014/main" id="{C07D2940-DA45-1C41-9D4E-FEBC1B4F80D3}"/>
                  </a:ext>
                </a:extLst>
              </p:cNvPr>
              <p:cNvGrpSpPr>
                <a:grpSpLocks/>
              </p:cNvGrpSpPr>
              <p:nvPr/>
            </p:nvGrpSpPr>
            <p:grpSpPr bwMode="auto">
              <a:xfrm>
                <a:off x="480" y="2928"/>
                <a:ext cx="192" cy="192"/>
                <a:chOff x="1824" y="2352"/>
                <a:chExt cx="192" cy="192"/>
              </a:xfrm>
            </p:grpSpPr>
            <p:sp>
              <p:nvSpPr>
                <p:cNvPr id="68131" name="Rectangle 99">
                  <a:extLst>
                    <a:ext uri="{FF2B5EF4-FFF2-40B4-BE49-F238E27FC236}">
                      <a16:creationId xmlns:a16="http://schemas.microsoft.com/office/drawing/2014/main" id="{24E56A85-C7E8-C34C-A6ED-51853E3B49A7}"/>
                    </a:ext>
                  </a:extLst>
                </p:cNvPr>
                <p:cNvSpPr>
                  <a:spLocks noChangeArrowheads="1"/>
                </p:cNvSpPr>
                <p:nvPr/>
              </p:nvSpPr>
              <p:spPr bwMode="auto">
                <a:xfrm>
                  <a:off x="1824" y="2352"/>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132" name="Oval 100">
                  <a:extLst>
                    <a:ext uri="{FF2B5EF4-FFF2-40B4-BE49-F238E27FC236}">
                      <a16:creationId xmlns:a16="http://schemas.microsoft.com/office/drawing/2014/main" id="{E4DC7000-5A72-704A-A1A8-5CBBCFDBA430}"/>
                    </a:ext>
                  </a:extLst>
                </p:cNvPr>
                <p:cNvSpPr>
                  <a:spLocks noChangeArrowheads="1"/>
                </p:cNvSpPr>
                <p:nvPr/>
              </p:nvSpPr>
              <p:spPr bwMode="auto">
                <a:xfrm>
                  <a:off x="1872" y="2400"/>
                  <a:ext cx="96" cy="96"/>
                </a:xfrm>
                <a:prstGeom prst="ellipse">
                  <a:avLst/>
                </a:prstGeom>
                <a:solidFill>
                  <a:srgbClr val="FFFF66"/>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68097" name="AutoShape 101">
              <a:extLst>
                <a:ext uri="{FF2B5EF4-FFF2-40B4-BE49-F238E27FC236}">
                  <a16:creationId xmlns:a16="http://schemas.microsoft.com/office/drawing/2014/main" id="{8EB7B085-F260-594D-B949-27CE4EFCFF7B}"/>
                </a:ext>
              </a:extLst>
            </p:cNvPr>
            <p:cNvSpPr>
              <a:spLocks noChangeArrowheads="1"/>
            </p:cNvSpPr>
            <p:nvPr/>
          </p:nvSpPr>
          <p:spPr bwMode="auto">
            <a:xfrm>
              <a:off x="432" y="2113"/>
              <a:ext cx="529" cy="462"/>
            </a:xfrm>
            <a:prstGeom prst="rightArrow">
              <a:avLst>
                <a:gd name="adj1" fmla="val 50000"/>
                <a:gd name="adj2" fmla="val 30825"/>
              </a:avLst>
            </a:prstGeom>
            <a:solidFill>
              <a:schemeClr val="bg1"/>
            </a:solidFill>
            <a:ln w="38100">
              <a:solidFill>
                <a:schemeClr val="tx1"/>
              </a:solidFill>
              <a:miter lim="800000"/>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W3</a:t>
              </a:r>
            </a:p>
          </p:txBody>
        </p:sp>
      </p:grpSp>
      <p:grpSp>
        <p:nvGrpSpPr>
          <p:cNvPr id="43429" name="Group 104">
            <a:extLst>
              <a:ext uri="{FF2B5EF4-FFF2-40B4-BE49-F238E27FC236}">
                <a16:creationId xmlns:a16="http://schemas.microsoft.com/office/drawing/2014/main" id="{2242DDD8-ED7E-4449-BF65-114FFD11DEA6}"/>
              </a:ext>
            </a:extLst>
          </p:cNvPr>
          <p:cNvGrpSpPr>
            <a:grpSpLocks/>
          </p:cNvGrpSpPr>
          <p:nvPr/>
        </p:nvGrpSpPr>
        <p:grpSpPr bwMode="auto">
          <a:xfrm>
            <a:off x="685800" y="2419350"/>
            <a:ext cx="3276600" cy="1549400"/>
            <a:chOff x="432" y="1376"/>
            <a:chExt cx="2064" cy="976"/>
          </a:xfrm>
        </p:grpSpPr>
        <p:grpSp>
          <p:nvGrpSpPr>
            <p:cNvPr id="67997" name="Group 105">
              <a:extLst>
                <a:ext uri="{FF2B5EF4-FFF2-40B4-BE49-F238E27FC236}">
                  <a16:creationId xmlns:a16="http://schemas.microsoft.com/office/drawing/2014/main" id="{4AE9FD54-8E6B-CD4A-9736-7867335FEF78}"/>
                </a:ext>
              </a:extLst>
            </p:cNvPr>
            <p:cNvGrpSpPr>
              <a:grpSpLocks/>
            </p:cNvGrpSpPr>
            <p:nvPr/>
          </p:nvGrpSpPr>
          <p:grpSpPr bwMode="auto">
            <a:xfrm>
              <a:off x="960" y="1584"/>
              <a:ext cx="1536" cy="768"/>
              <a:chOff x="480" y="1584"/>
              <a:chExt cx="1536" cy="768"/>
            </a:xfrm>
          </p:grpSpPr>
          <p:grpSp>
            <p:nvGrpSpPr>
              <p:cNvPr id="67999" name="Group 106">
                <a:extLst>
                  <a:ext uri="{FF2B5EF4-FFF2-40B4-BE49-F238E27FC236}">
                    <a16:creationId xmlns:a16="http://schemas.microsoft.com/office/drawing/2014/main" id="{64A477FB-D3B7-D641-A72A-5E32E544DF53}"/>
                  </a:ext>
                </a:extLst>
              </p:cNvPr>
              <p:cNvGrpSpPr>
                <a:grpSpLocks/>
              </p:cNvGrpSpPr>
              <p:nvPr/>
            </p:nvGrpSpPr>
            <p:grpSpPr bwMode="auto">
              <a:xfrm>
                <a:off x="1824" y="1584"/>
                <a:ext cx="192" cy="192"/>
                <a:chOff x="1824" y="1584"/>
                <a:chExt cx="192" cy="192"/>
              </a:xfrm>
            </p:grpSpPr>
            <p:sp>
              <p:nvSpPr>
                <p:cNvPr id="68094" name="Rectangle 107">
                  <a:extLst>
                    <a:ext uri="{FF2B5EF4-FFF2-40B4-BE49-F238E27FC236}">
                      <a16:creationId xmlns:a16="http://schemas.microsoft.com/office/drawing/2014/main" id="{90166A2D-FAC7-454A-A7A7-567F7E1F1ED0}"/>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95" name="Oval 108">
                  <a:extLst>
                    <a:ext uri="{FF2B5EF4-FFF2-40B4-BE49-F238E27FC236}">
                      <a16:creationId xmlns:a16="http://schemas.microsoft.com/office/drawing/2014/main" id="{0D4D528E-6CC0-8442-BA08-04A4D7845CA4}"/>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68000" name="Rectangle 109">
                <a:extLst>
                  <a:ext uri="{FF2B5EF4-FFF2-40B4-BE49-F238E27FC236}">
                    <a16:creationId xmlns:a16="http://schemas.microsoft.com/office/drawing/2014/main" id="{CF9ABF2A-DC8C-BE41-9980-F66FAABA5F04}"/>
                  </a:ext>
                </a:extLst>
              </p:cNvPr>
              <p:cNvSpPr>
                <a:spLocks noChangeArrowheads="1"/>
              </p:cNvSpPr>
              <p:nvPr/>
            </p:nvSpPr>
            <p:spPr bwMode="auto">
              <a:xfrm>
                <a:off x="480" y="1584"/>
                <a:ext cx="1536" cy="768"/>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68001" name="Group 110">
                <a:extLst>
                  <a:ext uri="{FF2B5EF4-FFF2-40B4-BE49-F238E27FC236}">
                    <a16:creationId xmlns:a16="http://schemas.microsoft.com/office/drawing/2014/main" id="{EE0108F6-FFBC-4841-A875-46BA868EC140}"/>
                  </a:ext>
                </a:extLst>
              </p:cNvPr>
              <p:cNvGrpSpPr>
                <a:grpSpLocks/>
              </p:cNvGrpSpPr>
              <p:nvPr/>
            </p:nvGrpSpPr>
            <p:grpSpPr bwMode="auto">
              <a:xfrm>
                <a:off x="1824" y="1776"/>
                <a:ext cx="192" cy="192"/>
                <a:chOff x="1824" y="1584"/>
                <a:chExt cx="192" cy="192"/>
              </a:xfrm>
            </p:grpSpPr>
            <p:sp>
              <p:nvSpPr>
                <p:cNvPr id="68092" name="Rectangle 111">
                  <a:extLst>
                    <a:ext uri="{FF2B5EF4-FFF2-40B4-BE49-F238E27FC236}">
                      <a16:creationId xmlns:a16="http://schemas.microsoft.com/office/drawing/2014/main" id="{2817C604-3B37-8348-B64D-D31791FCF1DB}"/>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93" name="Oval 112">
                  <a:extLst>
                    <a:ext uri="{FF2B5EF4-FFF2-40B4-BE49-F238E27FC236}">
                      <a16:creationId xmlns:a16="http://schemas.microsoft.com/office/drawing/2014/main" id="{0D14A862-8416-4F4B-8A78-E109096BE154}"/>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02" name="Group 113">
                <a:extLst>
                  <a:ext uri="{FF2B5EF4-FFF2-40B4-BE49-F238E27FC236}">
                    <a16:creationId xmlns:a16="http://schemas.microsoft.com/office/drawing/2014/main" id="{DD83059E-8189-D044-8D99-30288A3D46FE}"/>
                  </a:ext>
                </a:extLst>
              </p:cNvPr>
              <p:cNvGrpSpPr>
                <a:grpSpLocks/>
              </p:cNvGrpSpPr>
              <p:nvPr/>
            </p:nvGrpSpPr>
            <p:grpSpPr bwMode="auto">
              <a:xfrm>
                <a:off x="1824" y="1968"/>
                <a:ext cx="192" cy="192"/>
                <a:chOff x="1824" y="1584"/>
                <a:chExt cx="192" cy="192"/>
              </a:xfrm>
            </p:grpSpPr>
            <p:sp>
              <p:nvSpPr>
                <p:cNvPr id="68090" name="Rectangle 114">
                  <a:extLst>
                    <a:ext uri="{FF2B5EF4-FFF2-40B4-BE49-F238E27FC236}">
                      <a16:creationId xmlns:a16="http://schemas.microsoft.com/office/drawing/2014/main" id="{494C0368-5FD4-CB4A-B5D9-BE4C782DF6B7}"/>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91" name="Oval 115">
                  <a:extLst>
                    <a:ext uri="{FF2B5EF4-FFF2-40B4-BE49-F238E27FC236}">
                      <a16:creationId xmlns:a16="http://schemas.microsoft.com/office/drawing/2014/main" id="{9B007102-7190-AB47-8410-210086798028}"/>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03" name="Group 116">
                <a:extLst>
                  <a:ext uri="{FF2B5EF4-FFF2-40B4-BE49-F238E27FC236}">
                    <a16:creationId xmlns:a16="http://schemas.microsoft.com/office/drawing/2014/main" id="{C183EC22-FF47-D647-A7CC-5CA99A7DC9D2}"/>
                  </a:ext>
                </a:extLst>
              </p:cNvPr>
              <p:cNvGrpSpPr>
                <a:grpSpLocks/>
              </p:cNvGrpSpPr>
              <p:nvPr/>
            </p:nvGrpSpPr>
            <p:grpSpPr bwMode="auto">
              <a:xfrm>
                <a:off x="1824" y="2160"/>
                <a:ext cx="192" cy="192"/>
                <a:chOff x="1824" y="1584"/>
                <a:chExt cx="192" cy="192"/>
              </a:xfrm>
            </p:grpSpPr>
            <p:sp>
              <p:nvSpPr>
                <p:cNvPr id="68088" name="Rectangle 117">
                  <a:extLst>
                    <a:ext uri="{FF2B5EF4-FFF2-40B4-BE49-F238E27FC236}">
                      <a16:creationId xmlns:a16="http://schemas.microsoft.com/office/drawing/2014/main" id="{2424C08B-5152-0B42-B2B9-9B9A05F3367E}"/>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89" name="Oval 118">
                  <a:extLst>
                    <a:ext uri="{FF2B5EF4-FFF2-40B4-BE49-F238E27FC236}">
                      <a16:creationId xmlns:a16="http://schemas.microsoft.com/office/drawing/2014/main" id="{06130A2B-4515-9B45-B8F4-3F08F7AA5EA6}"/>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04" name="Group 119">
                <a:extLst>
                  <a:ext uri="{FF2B5EF4-FFF2-40B4-BE49-F238E27FC236}">
                    <a16:creationId xmlns:a16="http://schemas.microsoft.com/office/drawing/2014/main" id="{CF4C6239-9622-6342-B84C-7B47DFE529B1}"/>
                  </a:ext>
                </a:extLst>
              </p:cNvPr>
              <p:cNvGrpSpPr>
                <a:grpSpLocks/>
              </p:cNvGrpSpPr>
              <p:nvPr/>
            </p:nvGrpSpPr>
            <p:grpSpPr bwMode="auto">
              <a:xfrm>
                <a:off x="1632" y="1584"/>
                <a:ext cx="192" cy="192"/>
                <a:chOff x="1824" y="1584"/>
                <a:chExt cx="192" cy="192"/>
              </a:xfrm>
            </p:grpSpPr>
            <p:sp>
              <p:nvSpPr>
                <p:cNvPr id="68086" name="Rectangle 120">
                  <a:extLst>
                    <a:ext uri="{FF2B5EF4-FFF2-40B4-BE49-F238E27FC236}">
                      <a16:creationId xmlns:a16="http://schemas.microsoft.com/office/drawing/2014/main" id="{A10114E9-DCB7-5644-B56D-D0C2EA0A585D}"/>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87" name="Oval 121">
                  <a:extLst>
                    <a:ext uri="{FF2B5EF4-FFF2-40B4-BE49-F238E27FC236}">
                      <a16:creationId xmlns:a16="http://schemas.microsoft.com/office/drawing/2014/main" id="{D0792BCB-C5BF-454F-B638-01F582AF05A1}"/>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05" name="Group 122">
                <a:extLst>
                  <a:ext uri="{FF2B5EF4-FFF2-40B4-BE49-F238E27FC236}">
                    <a16:creationId xmlns:a16="http://schemas.microsoft.com/office/drawing/2014/main" id="{9202AC03-E693-5D42-B1E0-A856ED85AD62}"/>
                  </a:ext>
                </a:extLst>
              </p:cNvPr>
              <p:cNvGrpSpPr>
                <a:grpSpLocks/>
              </p:cNvGrpSpPr>
              <p:nvPr/>
            </p:nvGrpSpPr>
            <p:grpSpPr bwMode="auto">
              <a:xfrm>
                <a:off x="1632" y="1776"/>
                <a:ext cx="192" cy="192"/>
                <a:chOff x="1824" y="1584"/>
                <a:chExt cx="192" cy="192"/>
              </a:xfrm>
            </p:grpSpPr>
            <p:sp>
              <p:nvSpPr>
                <p:cNvPr id="68084" name="Rectangle 123">
                  <a:extLst>
                    <a:ext uri="{FF2B5EF4-FFF2-40B4-BE49-F238E27FC236}">
                      <a16:creationId xmlns:a16="http://schemas.microsoft.com/office/drawing/2014/main" id="{DF384EB1-4308-7241-AE47-FE9FCCD75F1A}"/>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85" name="Oval 124">
                  <a:extLst>
                    <a:ext uri="{FF2B5EF4-FFF2-40B4-BE49-F238E27FC236}">
                      <a16:creationId xmlns:a16="http://schemas.microsoft.com/office/drawing/2014/main" id="{2D6CC293-4B98-E940-AA45-B8412C75DF0C}"/>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06" name="Group 125">
                <a:extLst>
                  <a:ext uri="{FF2B5EF4-FFF2-40B4-BE49-F238E27FC236}">
                    <a16:creationId xmlns:a16="http://schemas.microsoft.com/office/drawing/2014/main" id="{8009C536-434C-D34F-9983-28450F3B48FE}"/>
                  </a:ext>
                </a:extLst>
              </p:cNvPr>
              <p:cNvGrpSpPr>
                <a:grpSpLocks/>
              </p:cNvGrpSpPr>
              <p:nvPr/>
            </p:nvGrpSpPr>
            <p:grpSpPr bwMode="auto">
              <a:xfrm>
                <a:off x="1632" y="1968"/>
                <a:ext cx="192" cy="192"/>
                <a:chOff x="1824" y="1584"/>
                <a:chExt cx="192" cy="192"/>
              </a:xfrm>
            </p:grpSpPr>
            <p:sp>
              <p:nvSpPr>
                <p:cNvPr id="68082" name="Rectangle 126">
                  <a:extLst>
                    <a:ext uri="{FF2B5EF4-FFF2-40B4-BE49-F238E27FC236}">
                      <a16:creationId xmlns:a16="http://schemas.microsoft.com/office/drawing/2014/main" id="{0C5D7378-735B-C543-9224-CF8B4426DBBB}"/>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83" name="Oval 127">
                  <a:extLst>
                    <a:ext uri="{FF2B5EF4-FFF2-40B4-BE49-F238E27FC236}">
                      <a16:creationId xmlns:a16="http://schemas.microsoft.com/office/drawing/2014/main" id="{023E134A-0ED2-6641-B424-8EF7EE0B0027}"/>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07" name="Group 128">
                <a:extLst>
                  <a:ext uri="{FF2B5EF4-FFF2-40B4-BE49-F238E27FC236}">
                    <a16:creationId xmlns:a16="http://schemas.microsoft.com/office/drawing/2014/main" id="{CFD20960-E6A5-6943-B09B-62C98865DE95}"/>
                  </a:ext>
                </a:extLst>
              </p:cNvPr>
              <p:cNvGrpSpPr>
                <a:grpSpLocks/>
              </p:cNvGrpSpPr>
              <p:nvPr/>
            </p:nvGrpSpPr>
            <p:grpSpPr bwMode="auto">
              <a:xfrm>
                <a:off x="1632" y="2160"/>
                <a:ext cx="192" cy="192"/>
                <a:chOff x="1824" y="1584"/>
                <a:chExt cx="192" cy="192"/>
              </a:xfrm>
            </p:grpSpPr>
            <p:sp>
              <p:nvSpPr>
                <p:cNvPr id="68080" name="Rectangle 129">
                  <a:extLst>
                    <a:ext uri="{FF2B5EF4-FFF2-40B4-BE49-F238E27FC236}">
                      <a16:creationId xmlns:a16="http://schemas.microsoft.com/office/drawing/2014/main" id="{11D37D9B-86DD-3A4D-B702-EFBFDE07B6FE}"/>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81" name="Oval 130">
                  <a:extLst>
                    <a:ext uri="{FF2B5EF4-FFF2-40B4-BE49-F238E27FC236}">
                      <a16:creationId xmlns:a16="http://schemas.microsoft.com/office/drawing/2014/main" id="{60BA4546-8EE6-D34A-B9BD-EE914336938B}"/>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08" name="Group 131">
                <a:extLst>
                  <a:ext uri="{FF2B5EF4-FFF2-40B4-BE49-F238E27FC236}">
                    <a16:creationId xmlns:a16="http://schemas.microsoft.com/office/drawing/2014/main" id="{0D2CE62B-48B2-7743-B63D-D63933739249}"/>
                  </a:ext>
                </a:extLst>
              </p:cNvPr>
              <p:cNvGrpSpPr>
                <a:grpSpLocks/>
              </p:cNvGrpSpPr>
              <p:nvPr/>
            </p:nvGrpSpPr>
            <p:grpSpPr bwMode="auto">
              <a:xfrm>
                <a:off x="1440" y="1584"/>
                <a:ext cx="192" cy="192"/>
                <a:chOff x="1824" y="1584"/>
                <a:chExt cx="192" cy="192"/>
              </a:xfrm>
            </p:grpSpPr>
            <p:sp>
              <p:nvSpPr>
                <p:cNvPr id="68078" name="Rectangle 132">
                  <a:extLst>
                    <a:ext uri="{FF2B5EF4-FFF2-40B4-BE49-F238E27FC236}">
                      <a16:creationId xmlns:a16="http://schemas.microsoft.com/office/drawing/2014/main" id="{8A502577-F5BB-FB40-83A8-E101C10DC01C}"/>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79" name="Oval 133">
                  <a:extLst>
                    <a:ext uri="{FF2B5EF4-FFF2-40B4-BE49-F238E27FC236}">
                      <a16:creationId xmlns:a16="http://schemas.microsoft.com/office/drawing/2014/main" id="{777555C4-E343-D242-B871-BF335BAB9AD0}"/>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09" name="Group 134">
                <a:extLst>
                  <a:ext uri="{FF2B5EF4-FFF2-40B4-BE49-F238E27FC236}">
                    <a16:creationId xmlns:a16="http://schemas.microsoft.com/office/drawing/2014/main" id="{48BD605A-DE9A-D947-B654-B1184346AFCD}"/>
                  </a:ext>
                </a:extLst>
              </p:cNvPr>
              <p:cNvGrpSpPr>
                <a:grpSpLocks/>
              </p:cNvGrpSpPr>
              <p:nvPr/>
            </p:nvGrpSpPr>
            <p:grpSpPr bwMode="auto">
              <a:xfrm>
                <a:off x="1440" y="1776"/>
                <a:ext cx="192" cy="192"/>
                <a:chOff x="1824" y="1584"/>
                <a:chExt cx="192" cy="192"/>
              </a:xfrm>
            </p:grpSpPr>
            <p:sp>
              <p:nvSpPr>
                <p:cNvPr id="68076" name="Rectangle 135">
                  <a:extLst>
                    <a:ext uri="{FF2B5EF4-FFF2-40B4-BE49-F238E27FC236}">
                      <a16:creationId xmlns:a16="http://schemas.microsoft.com/office/drawing/2014/main" id="{32091094-7CDD-8348-90AC-795F09D04F76}"/>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77" name="Oval 136">
                  <a:extLst>
                    <a:ext uri="{FF2B5EF4-FFF2-40B4-BE49-F238E27FC236}">
                      <a16:creationId xmlns:a16="http://schemas.microsoft.com/office/drawing/2014/main" id="{58E78C7C-E116-6744-BABA-497982A49E95}"/>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10" name="Group 137">
                <a:extLst>
                  <a:ext uri="{FF2B5EF4-FFF2-40B4-BE49-F238E27FC236}">
                    <a16:creationId xmlns:a16="http://schemas.microsoft.com/office/drawing/2014/main" id="{C4092BE5-2019-C04E-AC73-39500834689C}"/>
                  </a:ext>
                </a:extLst>
              </p:cNvPr>
              <p:cNvGrpSpPr>
                <a:grpSpLocks/>
              </p:cNvGrpSpPr>
              <p:nvPr/>
            </p:nvGrpSpPr>
            <p:grpSpPr bwMode="auto">
              <a:xfrm>
                <a:off x="1440" y="1968"/>
                <a:ext cx="192" cy="192"/>
                <a:chOff x="1824" y="1584"/>
                <a:chExt cx="192" cy="192"/>
              </a:xfrm>
            </p:grpSpPr>
            <p:sp>
              <p:nvSpPr>
                <p:cNvPr id="68074" name="Rectangle 138">
                  <a:extLst>
                    <a:ext uri="{FF2B5EF4-FFF2-40B4-BE49-F238E27FC236}">
                      <a16:creationId xmlns:a16="http://schemas.microsoft.com/office/drawing/2014/main" id="{9358E628-56A1-A74A-9235-C9217893B1AF}"/>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75" name="Oval 139">
                  <a:extLst>
                    <a:ext uri="{FF2B5EF4-FFF2-40B4-BE49-F238E27FC236}">
                      <a16:creationId xmlns:a16="http://schemas.microsoft.com/office/drawing/2014/main" id="{BC37E5E4-E4B4-F44E-9979-509CBFA8652D}"/>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11" name="Group 140">
                <a:extLst>
                  <a:ext uri="{FF2B5EF4-FFF2-40B4-BE49-F238E27FC236}">
                    <a16:creationId xmlns:a16="http://schemas.microsoft.com/office/drawing/2014/main" id="{76D263FF-3E1B-2743-AD72-6CF8FA9DC021}"/>
                  </a:ext>
                </a:extLst>
              </p:cNvPr>
              <p:cNvGrpSpPr>
                <a:grpSpLocks/>
              </p:cNvGrpSpPr>
              <p:nvPr/>
            </p:nvGrpSpPr>
            <p:grpSpPr bwMode="auto">
              <a:xfrm>
                <a:off x="1440" y="2160"/>
                <a:ext cx="192" cy="192"/>
                <a:chOff x="1824" y="1584"/>
                <a:chExt cx="192" cy="192"/>
              </a:xfrm>
            </p:grpSpPr>
            <p:sp>
              <p:nvSpPr>
                <p:cNvPr id="68072" name="Rectangle 141">
                  <a:extLst>
                    <a:ext uri="{FF2B5EF4-FFF2-40B4-BE49-F238E27FC236}">
                      <a16:creationId xmlns:a16="http://schemas.microsoft.com/office/drawing/2014/main" id="{7B6935E6-D418-C045-960D-A4D4AF6B4282}"/>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73" name="Oval 142">
                  <a:extLst>
                    <a:ext uri="{FF2B5EF4-FFF2-40B4-BE49-F238E27FC236}">
                      <a16:creationId xmlns:a16="http://schemas.microsoft.com/office/drawing/2014/main" id="{CE41A962-198D-A245-82C6-781C39C375C9}"/>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12" name="Group 143">
                <a:extLst>
                  <a:ext uri="{FF2B5EF4-FFF2-40B4-BE49-F238E27FC236}">
                    <a16:creationId xmlns:a16="http://schemas.microsoft.com/office/drawing/2014/main" id="{6C65AEB2-9270-A44F-B0E1-54EBB7BD172C}"/>
                  </a:ext>
                </a:extLst>
              </p:cNvPr>
              <p:cNvGrpSpPr>
                <a:grpSpLocks/>
              </p:cNvGrpSpPr>
              <p:nvPr/>
            </p:nvGrpSpPr>
            <p:grpSpPr bwMode="auto">
              <a:xfrm>
                <a:off x="1248" y="1584"/>
                <a:ext cx="192" cy="192"/>
                <a:chOff x="1824" y="1584"/>
                <a:chExt cx="192" cy="192"/>
              </a:xfrm>
            </p:grpSpPr>
            <p:sp>
              <p:nvSpPr>
                <p:cNvPr id="68070" name="Rectangle 144">
                  <a:extLst>
                    <a:ext uri="{FF2B5EF4-FFF2-40B4-BE49-F238E27FC236}">
                      <a16:creationId xmlns:a16="http://schemas.microsoft.com/office/drawing/2014/main" id="{7224A242-6CB5-1D4D-A02E-D984E7DC6E0E}"/>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71" name="Oval 145">
                  <a:extLst>
                    <a:ext uri="{FF2B5EF4-FFF2-40B4-BE49-F238E27FC236}">
                      <a16:creationId xmlns:a16="http://schemas.microsoft.com/office/drawing/2014/main" id="{144AF967-F6BC-2D4D-8C8D-593F44CF7EB2}"/>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13" name="Group 146">
                <a:extLst>
                  <a:ext uri="{FF2B5EF4-FFF2-40B4-BE49-F238E27FC236}">
                    <a16:creationId xmlns:a16="http://schemas.microsoft.com/office/drawing/2014/main" id="{E3DE64F0-2E0D-1447-92CF-2ED9A71B7344}"/>
                  </a:ext>
                </a:extLst>
              </p:cNvPr>
              <p:cNvGrpSpPr>
                <a:grpSpLocks/>
              </p:cNvGrpSpPr>
              <p:nvPr/>
            </p:nvGrpSpPr>
            <p:grpSpPr bwMode="auto">
              <a:xfrm>
                <a:off x="1248" y="1776"/>
                <a:ext cx="192" cy="192"/>
                <a:chOff x="1824" y="1584"/>
                <a:chExt cx="192" cy="192"/>
              </a:xfrm>
            </p:grpSpPr>
            <p:sp>
              <p:nvSpPr>
                <p:cNvPr id="68068" name="Rectangle 147">
                  <a:extLst>
                    <a:ext uri="{FF2B5EF4-FFF2-40B4-BE49-F238E27FC236}">
                      <a16:creationId xmlns:a16="http://schemas.microsoft.com/office/drawing/2014/main" id="{B0D37D7A-3AB7-3241-81C3-4E84946E9FCD}"/>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69" name="Oval 148">
                  <a:extLst>
                    <a:ext uri="{FF2B5EF4-FFF2-40B4-BE49-F238E27FC236}">
                      <a16:creationId xmlns:a16="http://schemas.microsoft.com/office/drawing/2014/main" id="{9F492164-9DA6-8E45-BCA4-888ACE3B452D}"/>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14" name="Group 149">
                <a:extLst>
                  <a:ext uri="{FF2B5EF4-FFF2-40B4-BE49-F238E27FC236}">
                    <a16:creationId xmlns:a16="http://schemas.microsoft.com/office/drawing/2014/main" id="{004F2511-C51E-704D-B752-43C5F1481370}"/>
                  </a:ext>
                </a:extLst>
              </p:cNvPr>
              <p:cNvGrpSpPr>
                <a:grpSpLocks/>
              </p:cNvGrpSpPr>
              <p:nvPr/>
            </p:nvGrpSpPr>
            <p:grpSpPr bwMode="auto">
              <a:xfrm>
                <a:off x="1248" y="1968"/>
                <a:ext cx="192" cy="192"/>
                <a:chOff x="1824" y="1584"/>
                <a:chExt cx="192" cy="192"/>
              </a:xfrm>
            </p:grpSpPr>
            <p:sp>
              <p:nvSpPr>
                <p:cNvPr id="68066" name="Rectangle 150">
                  <a:extLst>
                    <a:ext uri="{FF2B5EF4-FFF2-40B4-BE49-F238E27FC236}">
                      <a16:creationId xmlns:a16="http://schemas.microsoft.com/office/drawing/2014/main" id="{5F86302B-9B0F-6E4E-B546-D0C939AF564B}"/>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67" name="Oval 151">
                  <a:extLst>
                    <a:ext uri="{FF2B5EF4-FFF2-40B4-BE49-F238E27FC236}">
                      <a16:creationId xmlns:a16="http://schemas.microsoft.com/office/drawing/2014/main" id="{B72C0D2C-0407-004D-BF6D-09D4312EE235}"/>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15" name="Group 152">
                <a:extLst>
                  <a:ext uri="{FF2B5EF4-FFF2-40B4-BE49-F238E27FC236}">
                    <a16:creationId xmlns:a16="http://schemas.microsoft.com/office/drawing/2014/main" id="{A66A3758-2634-E94B-8E64-6DFDC5A6739E}"/>
                  </a:ext>
                </a:extLst>
              </p:cNvPr>
              <p:cNvGrpSpPr>
                <a:grpSpLocks/>
              </p:cNvGrpSpPr>
              <p:nvPr/>
            </p:nvGrpSpPr>
            <p:grpSpPr bwMode="auto">
              <a:xfrm>
                <a:off x="1248" y="2160"/>
                <a:ext cx="192" cy="192"/>
                <a:chOff x="1824" y="1584"/>
                <a:chExt cx="192" cy="192"/>
              </a:xfrm>
            </p:grpSpPr>
            <p:sp>
              <p:nvSpPr>
                <p:cNvPr id="68064" name="Rectangle 153">
                  <a:extLst>
                    <a:ext uri="{FF2B5EF4-FFF2-40B4-BE49-F238E27FC236}">
                      <a16:creationId xmlns:a16="http://schemas.microsoft.com/office/drawing/2014/main" id="{C94BB93D-A6BD-C244-BC63-C73F674F9C40}"/>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65" name="Oval 154">
                  <a:extLst>
                    <a:ext uri="{FF2B5EF4-FFF2-40B4-BE49-F238E27FC236}">
                      <a16:creationId xmlns:a16="http://schemas.microsoft.com/office/drawing/2014/main" id="{14F698F7-A272-C141-A842-D8041FFE3521}"/>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16" name="Group 155">
                <a:extLst>
                  <a:ext uri="{FF2B5EF4-FFF2-40B4-BE49-F238E27FC236}">
                    <a16:creationId xmlns:a16="http://schemas.microsoft.com/office/drawing/2014/main" id="{0BBD411C-17D1-DE40-A98C-A8C7B76142C3}"/>
                  </a:ext>
                </a:extLst>
              </p:cNvPr>
              <p:cNvGrpSpPr>
                <a:grpSpLocks/>
              </p:cNvGrpSpPr>
              <p:nvPr/>
            </p:nvGrpSpPr>
            <p:grpSpPr bwMode="auto">
              <a:xfrm>
                <a:off x="1056" y="1584"/>
                <a:ext cx="192" cy="192"/>
                <a:chOff x="1824" y="1584"/>
                <a:chExt cx="192" cy="192"/>
              </a:xfrm>
            </p:grpSpPr>
            <p:sp>
              <p:nvSpPr>
                <p:cNvPr id="68062" name="Rectangle 156">
                  <a:extLst>
                    <a:ext uri="{FF2B5EF4-FFF2-40B4-BE49-F238E27FC236}">
                      <a16:creationId xmlns:a16="http://schemas.microsoft.com/office/drawing/2014/main" id="{ED92C6C4-A64B-B149-903A-918E26667CC9}"/>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63" name="Oval 157">
                  <a:extLst>
                    <a:ext uri="{FF2B5EF4-FFF2-40B4-BE49-F238E27FC236}">
                      <a16:creationId xmlns:a16="http://schemas.microsoft.com/office/drawing/2014/main" id="{3893829D-2DFD-9346-86B0-3C287AD43789}"/>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17" name="Group 158">
                <a:extLst>
                  <a:ext uri="{FF2B5EF4-FFF2-40B4-BE49-F238E27FC236}">
                    <a16:creationId xmlns:a16="http://schemas.microsoft.com/office/drawing/2014/main" id="{970B6BA1-546F-2443-AA33-7013BC82CEF5}"/>
                  </a:ext>
                </a:extLst>
              </p:cNvPr>
              <p:cNvGrpSpPr>
                <a:grpSpLocks/>
              </p:cNvGrpSpPr>
              <p:nvPr/>
            </p:nvGrpSpPr>
            <p:grpSpPr bwMode="auto">
              <a:xfrm>
                <a:off x="1056" y="1776"/>
                <a:ext cx="192" cy="192"/>
                <a:chOff x="1824" y="1584"/>
                <a:chExt cx="192" cy="192"/>
              </a:xfrm>
            </p:grpSpPr>
            <p:sp>
              <p:nvSpPr>
                <p:cNvPr id="68060" name="Rectangle 159">
                  <a:extLst>
                    <a:ext uri="{FF2B5EF4-FFF2-40B4-BE49-F238E27FC236}">
                      <a16:creationId xmlns:a16="http://schemas.microsoft.com/office/drawing/2014/main" id="{521E5139-E1D9-BA42-8113-F2AC84E0EF25}"/>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61" name="Oval 160">
                  <a:extLst>
                    <a:ext uri="{FF2B5EF4-FFF2-40B4-BE49-F238E27FC236}">
                      <a16:creationId xmlns:a16="http://schemas.microsoft.com/office/drawing/2014/main" id="{FA8065A1-D15D-8449-9315-93E260EF4482}"/>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18" name="Group 161">
                <a:extLst>
                  <a:ext uri="{FF2B5EF4-FFF2-40B4-BE49-F238E27FC236}">
                    <a16:creationId xmlns:a16="http://schemas.microsoft.com/office/drawing/2014/main" id="{3B1FD3D7-639A-6647-BB91-228B7CAF394B}"/>
                  </a:ext>
                </a:extLst>
              </p:cNvPr>
              <p:cNvGrpSpPr>
                <a:grpSpLocks/>
              </p:cNvGrpSpPr>
              <p:nvPr/>
            </p:nvGrpSpPr>
            <p:grpSpPr bwMode="auto">
              <a:xfrm>
                <a:off x="1056" y="1968"/>
                <a:ext cx="192" cy="192"/>
                <a:chOff x="1824" y="1584"/>
                <a:chExt cx="192" cy="192"/>
              </a:xfrm>
            </p:grpSpPr>
            <p:sp>
              <p:nvSpPr>
                <p:cNvPr id="68058" name="Rectangle 162">
                  <a:extLst>
                    <a:ext uri="{FF2B5EF4-FFF2-40B4-BE49-F238E27FC236}">
                      <a16:creationId xmlns:a16="http://schemas.microsoft.com/office/drawing/2014/main" id="{316D8635-2851-9B4B-BCA0-F50D0141912A}"/>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59" name="Oval 163">
                  <a:extLst>
                    <a:ext uri="{FF2B5EF4-FFF2-40B4-BE49-F238E27FC236}">
                      <a16:creationId xmlns:a16="http://schemas.microsoft.com/office/drawing/2014/main" id="{CA1BEDA9-D8D9-B842-B585-0CFBCE926A26}"/>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19" name="Group 164">
                <a:extLst>
                  <a:ext uri="{FF2B5EF4-FFF2-40B4-BE49-F238E27FC236}">
                    <a16:creationId xmlns:a16="http://schemas.microsoft.com/office/drawing/2014/main" id="{060E657A-8ED9-EB48-AC88-4D664F92488B}"/>
                  </a:ext>
                </a:extLst>
              </p:cNvPr>
              <p:cNvGrpSpPr>
                <a:grpSpLocks/>
              </p:cNvGrpSpPr>
              <p:nvPr/>
            </p:nvGrpSpPr>
            <p:grpSpPr bwMode="auto">
              <a:xfrm>
                <a:off x="1056" y="2160"/>
                <a:ext cx="192" cy="192"/>
                <a:chOff x="1824" y="1584"/>
                <a:chExt cx="192" cy="192"/>
              </a:xfrm>
            </p:grpSpPr>
            <p:sp>
              <p:nvSpPr>
                <p:cNvPr id="68056" name="Rectangle 165">
                  <a:extLst>
                    <a:ext uri="{FF2B5EF4-FFF2-40B4-BE49-F238E27FC236}">
                      <a16:creationId xmlns:a16="http://schemas.microsoft.com/office/drawing/2014/main" id="{BDF074D4-8414-6949-A2C8-935F0540DCDA}"/>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57" name="Oval 166">
                  <a:extLst>
                    <a:ext uri="{FF2B5EF4-FFF2-40B4-BE49-F238E27FC236}">
                      <a16:creationId xmlns:a16="http://schemas.microsoft.com/office/drawing/2014/main" id="{05971A2D-02D4-2540-A571-F603FACAB048}"/>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20" name="Group 167">
                <a:extLst>
                  <a:ext uri="{FF2B5EF4-FFF2-40B4-BE49-F238E27FC236}">
                    <a16:creationId xmlns:a16="http://schemas.microsoft.com/office/drawing/2014/main" id="{7819EC0B-E199-D147-803E-3B2DC23BF97A}"/>
                  </a:ext>
                </a:extLst>
              </p:cNvPr>
              <p:cNvGrpSpPr>
                <a:grpSpLocks/>
              </p:cNvGrpSpPr>
              <p:nvPr/>
            </p:nvGrpSpPr>
            <p:grpSpPr bwMode="auto">
              <a:xfrm>
                <a:off x="864" y="1584"/>
                <a:ext cx="192" cy="192"/>
                <a:chOff x="1824" y="1584"/>
                <a:chExt cx="192" cy="192"/>
              </a:xfrm>
            </p:grpSpPr>
            <p:sp>
              <p:nvSpPr>
                <p:cNvPr id="68054" name="Rectangle 168">
                  <a:extLst>
                    <a:ext uri="{FF2B5EF4-FFF2-40B4-BE49-F238E27FC236}">
                      <a16:creationId xmlns:a16="http://schemas.microsoft.com/office/drawing/2014/main" id="{D6C7CAF3-7C5A-1A47-8261-CEB8884084A5}"/>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55" name="Oval 169">
                  <a:extLst>
                    <a:ext uri="{FF2B5EF4-FFF2-40B4-BE49-F238E27FC236}">
                      <a16:creationId xmlns:a16="http://schemas.microsoft.com/office/drawing/2014/main" id="{DA0B0D05-CDD3-9C49-945B-EC7BA00EA633}"/>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21" name="Group 170">
                <a:extLst>
                  <a:ext uri="{FF2B5EF4-FFF2-40B4-BE49-F238E27FC236}">
                    <a16:creationId xmlns:a16="http://schemas.microsoft.com/office/drawing/2014/main" id="{F58A2595-9615-274E-9AF3-446583314E15}"/>
                  </a:ext>
                </a:extLst>
              </p:cNvPr>
              <p:cNvGrpSpPr>
                <a:grpSpLocks/>
              </p:cNvGrpSpPr>
              <p:nvPr/>
            </p:nvGrpSpPr>
            <p:grpSpPr bwMode="auto">
              <a:xfrm>
                <a:off x="864" y="1776"/>
                <a:ext cx="192" cy="192"/>
                <a:chOff x="1824" y="1584"/>
                <a:chExt cx="192" cy="192"/>
              </a:xfrm>
            </p:grpSpPr>
            <p:sp>
              <p:nvSpPr>
                <p:cNvPr id="68052" name="Rectangle 171">
                  <a:extLst>
                    <a:ext uri="{FF2B5EF4-FFF2-40B4-BE49-F238E27FC236}">
                      <a16:creationId xmlns:a16="http://schemas.microsoft.com/office/drawing/2014/main" id="{4A4BFE0F-8460-DF4B-AB07-8E5622EA5DFE}"/>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53" name="Oval 172">
                  <a:extLst>
                    <a:ext uri="{FF2B5EF4-FFF2-40B4-BE49-F238E27FC236}">
                      <a16:creationId xmlns:a16="http://schemas.microsoft.com/office/drawing/2014/main" id="{AFC0301D-1780-094E-88F7-8F9FCBD6DC97}"/>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22" name="Group 173">
                <a:extLst>
                  <a:ext uri="{FF2B5EF4-FFF2-40B4-BE49-F238E27FC236}">
                    <a16:creationId xmlns:a16="http://schemas.microsoft.com/office/drawing/2014/main" id="{59E1029E-78A1-4840-B979-13A6027F82A7}"/>
                  </a:ext>
                </a:extLst>
              </p:cNvPr>
              <p:cNvGrpSpPr>
                <a:grpSpLocks/>
              </p:cNvGrpSpPr>
              <p:nvPr/>
            </p:nvGrpSpPr>
            <p:grpSpPr bwMode="auto">
              <a:xfrm>
                <a:off x="864" y="1968"/>
                <a:ext cx="192" cy="192"/>
                <a:chOff x="1824" y="1584"/>
                <a:chExt cx="192" cy="192"/>
              </a:xfrm>
            </p:grpSpPr>
            <p:sp>
              <p:nvSpPr>
                <p:cNvPr id="68050" name="Rectangle 174">
                  <a:extLst>
                    <a:ext uri="{FF2B5EF4-FFF2-40B4-BE49-F238E27FC236}">
                      <a16:creationId xmlns:a16="http://schemas.microsoft.com/office/drawing/2014/main" id="{6A4A84C3-3CD4-6146-ACC5-F7DB87BF6274}"/>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51" name="Oval 175">
                  <a:extLst>
                    <a:ext uri="{FF2B5EF4-FFF2-40B4-BE49-F238E27FC236}">
                      <a16:creationId xmlns:a16="http://schemas.microsoft.com/office/drawing/2014/main" id="{985F890B-4E47-3144-9171-B8EA8D7A758C}"/>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23" name="Group 176">
                <a:extLst>
                  <a:ext uri="{FF2B5EF4-FFF2-40B4-BE49-F238E27FC236}">
                    <a16:creationId xmlns:a16="http://schemas.microsoft.com/office/drawing/2014/main" id="{FCD2152B-898B-9D4C-8C7B-113A2F044778}"/>
                  </a:ext>
                </a:extLst>
              </p:cNvPr>
              <p:cNvGrpSpPr>
                <a:grpSpLocks/>
              </p:cNvGrpSpPr>
              <p:nvPr/>
            </p:nvGrpSpPr>
            <p:grpSpPr bwMode="auto">
              <a:xfrm>
                <a:off x="864" y="2160"/>
                <a:ext cx="192" cy="192"/>
                <a:chOff x="1824" y="1584"/>
                <a:chExt cx="192" cy="192"/>
              </a:xfrm>
            </p:grpSpPr>
            <p:sp>
              <p:nvSpPr>
                <p:cNvPr id="68048" name="Rectangle 177">
                  <a:extLst>
                    <a:ext uri="{FF2B5EF4-FFF2-40B4-BE49-F238E27FC236}">
                      <a16:creationId xmlns:a16="http://schemas.microsoft.com/office/drawing/2014/main" id="{62B55550-A8C3-484F-9ED0-1090A23D6075}"/>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49" name="Oval 178">
                  <a:extLst>
                    <a:ext uri="{FF2B5EF4-FFF2-40B4-BE49-F238E27FC236}">
                      <a16:creationId xmlns:a16="http://schemas.microsoft.com/office/drawing/2014/main" id="{32A07995-7E34-E346-80E5-D6688D061B87}"/>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24" name="Group 179">
                <a:extLst>
                  <a:ext uri="{FF2B5EF4-FFF2-40B4-BE49-F238E27FC236}">
                    <a16:creationId xmlns:a16="http://schemas.microsoft.com/office/drawing/2014/main" id="{660C6857-7FCA-2648-9760-5FCAFE2D19EB}"/>
                  </a:ext>
                </a:extLst>
              </p:cNvPr>
              <p:cNvGrpSpPr>
                <a:grpSpLocks/>
              </p:cNvGrpSpPr>
              <p:nvPr/>
            </p:nvGrpSpPr>
            <p:grpSpPr bwMode="auto">
              <a:xfrm>
                <a:off x="672" y="1584"/>
                <a:ext cx="192" cy="192"/>
                <a:chOff x="1824" y="1584"/>
                <a:chExt cx="192" cy="192"/>
              </a:xfrm>
            </p:grpSpPr>
            <p:sp>
              <p:nvSpPr>
                <p:cNvPr id="68046" name="Rectangle 180">
                  <a:extLst>
                    <a:ext uri="{FF2B5EF4-FFF2-40B4-BE49-F238E27FC236}">
                      <a16:creationId xmlns:a16="http://schemas.microsoft.com/office/drawing/2014/main" id="{BEE87C68-0D42-8847-A58F-F4C90F45B2E4}"/>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47" name="Oval 181">
                  <a:extLst>
                    <a:ext uri="{FF2B5EF4-FFF2-40B4-BE49-F238E27FC236}">
                      <a16:creationId xmlns:a16="http://schemas.microsoft.com/office/drawing/2014/main" id="{2FF70C16-A066-984B-A1D6-44F8E4F31F21}"/>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25" name="Group 182">
                <a:extLst>
                  <a:ext uri="{FF2B5EF4-FFF2-40B4-BE49-F238E27FC236}">
                    <a16:creationId xmlns:a16="http://schemas.microsoft.com/office/drawing/2014/main" id="{BA3C2090-E729-DA45-9601-16CCF106B503}"/>
                  </a:ext>
                </a:extLst>
              </p:cNvPr>
              <p:cNvGrpSpPr>
                <a:grpSpLocks/>
              </p:cNvGrpSpPr>
              <p:nvPr/>
            </p:nvGrpSpPr>
            <p:grpSpPr bwMode="auto">
              <a:xfrm>
                <a:off x="672" y="1776"/>
                <a:ext cx="192" cy="192"/>
                <a:chOff x="1824" y="1584"/>
                <a:chExt cx="192" cy="192"/>
              </a:xfrm>
            </p:grpSpPr>
            <p:sp>
              <p:nvSpPr>
                <p:cNvPr id="68044" name="Rectangle 183">
                  <a:extLst>
                    <a:ext uri="{FF2B5EF4-FFF2-40B4-BE49-F238E27FC236}">
                      <a16:creationId xmlns:a16="http://schemas.microsoft.com/office/drawing/2014/main" id="{1F466912-7C22-B441-A6C2-9317D38AC7FF}"/>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45" name="Oval 184">
                  <a:extLst>
                    <a:ext uri="{FF2B5EF4-FFF2-40B4-BE49-F238E27FC236}">
                      <a16:creationId xmlns:a16="http://schemas.microsoft.com/office/drawing/2014/main" id="{FA4CB5B3-6410-AD4E-82D5-353FDFD9319C}"/>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26" name="Group 185">
                <a:extLst>
                  <a:ext uri="{FF2B5EF4-FFF2-40B4-BE49-F238E27FC236}">
                    <a16:creationId xmlns:a16="http://schemas.microsoft.com/office/drawing/2014/main" id="{D898F1A2-A76A-D749-80FA-60E8CA907BB8}"/>
                  </a:ext>
                </a:extLst>
              </p:cNvPr>
              <p:cNvGrpSpPr>
                <a:grpSpLocks/>
              </p:cNvGrpSpPr>
              <p:nvPr/>
            </p:nvGrpSpPr>
            <p:grpSpPr bwMode="auto">
              <a:xfrm>
                <a:off x="672" y="1968"/>
                <a:ext cx="192" cy="192"/>
                <a:chOff x="1824" y="1584"/>
                <a:chExt cx="192" cy="192"/>
              </a:xfrm>
            </p:grpSpPr>
            <p:sp>
              <p:nvSpPr>
                <p:cNvPr id="68042" name="Rectangle 186">
                  <a:extLst>
                    <a:ext uri="{FF2B5EF4-FFF2-40B4-BE49-F238E27FC236}">
                      <a16:creationId xmlns:a16="http://schemas.microsoft.com/office/drawing/2014/main" id="{8A5BAA65-D39C-704A-9101-B450E8AD0662}"/>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43" name="Oval 187">
                  <a:extLst>
                    <a:ext uri="{FF2B5EF4-FFF2-40B4-BE49-F238E27FC236}">
                      <a16:creationId xmlns:a16="http://schemas.microsoft.com/office/drawing/2014/main" id="{349DD7C5-9C0F-634D-956F-B2FC300FCA7B}"/>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27" name="Group 188">
                <a:extLst>
                  <a:ext uri="{FF2B5EF4-FFF2-40B4-BE49-F238E27FC236}">
                    <a16:creationId xmlns:a16="http://schemas.microsoft.com/office/drawing/2014/main" id="{1E5EB8DA-A196-5C46-9546-90C5380C0595}"/>
                  </a:ext>
                </a:extLst>
              </p:cNvPr>
              <p:cNvGrpSpPr>
                <a:grpSpLocks/>
              </p:cNvGrpSpPr>
              <p:nvPr/>
            </p:nvGrpSpPr>
            <p:grpSpPr bwMode="auto">
              <a:xfrm>
                <a:off x="672" y="2160"/>
                <a:ext cx="192" cy="192"/>
                <a:chOff x="1824" y="1584"/>
                <a:chExt cx="192" cy="192"/>
              </a:xfrm>
            </p:grpSpPr>
            <p:sp>
              <p:nvSpPr>
                <p:cNvPr id="68040" name="Rectangle 189">
                  <a:extLst>
                    <a:ext uri="{FF2B5EF4-FFF2-40B4-BE49-F238E27FC236}">
                      <a16:creationId xmlns:a16="http://schemas.microsoft.com/office/drawing/2014/main" id="{F2BC9188-414A-6541-86A2-6217DF07F962}"/>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41" name="Oval 190">
                  <a:extLst>
                    <a:ext uri="{FF2B5EF4-FFF2-40B4-BE49-F238E27FC236}">
                      <a16:creationId xmlns:a16="http://schemas.microsoft.com/office/drawing/2014/main" id="{80A25F8E-0E53-9148-B0BD-0A6B33CEF2CA}"/>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28" name="Group 191">
                <a:extLst>
                  <a:ext uri="{FF2B5EF4-FFF2-40B4-BE49-F238E27FC236}">
                    <a16:creationId xmlns:a16="http://schemas.microsoft.com/office/drawing/2014/main" id="{06537AA3-6984-9D46-B33F-5A2AC6B1AB31}"/>
                  </a:ext>
                </a:extLst>
              </p:cNvPr>
              <p:cNvGrpSpPr>
                <a:grpSpLocks/>
              </p:cNvGrpSpPr>
              <p:nvPr/>
            </p:nvGrpSpPr>
            <p:grpSpPr bwMode="auto">
              <a:xfrm>
                <a:off x="480" y="1584"/>
                <a:ext cx="192" cy="192"/>
                <a:chOff x="1824" y="1584"/>
                <a:chExt cx="192" cy="192"/>
              </a:xfrm>
            </p:grpSpPr>
            <p:sp>
              <p:nvSpPr>
                <p:cNvPr id="68038" name="Rectangle 192">
                  <a:extLst>
                    <a:ext uri="{FF2B5EF4-FFF2-40B4-BE49-F238E27FC236}">
                      <a16:creationId xmlns:a16="http://schemas.microsoft.com/office/drawing/2014/main" id="{86409102-5BA6-7649-9064-F59C92968F6D}"/>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39" name="Oval 193">
                  <a:extLst>
                    <a:ext uri="{FF2B5EF4-FFF2-40B4-BE49-F238E27FC236}">
                      <a16:creationId xmlns:a16="http://schemas.microsoft.com/office/drawing/2014/main" id="{5D79BCC5-67A5-904F-85C1-52DC9C2ADB7B}"/>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29" name="Group 194">
                <a:extLst>
                  <a:ext uri="{FF2B5EF4-FFF2-40B4-BE49-F238E27FC236}">
                    <a16:creationId xmlns:a16="http://schemas.microsoft.com/office/drawing/2014/main" id="{45663803-FB75-6A41-8A0A-B31FA1141862}"/>
                  </a:ext>
                </a:extLst>
              </p:cNvPr>
              <p:cNvGrpSpPr>
                <a:grpSpLocks/>
              </p:cNvGrpSpPr>
              <p:nvPr/>
            </p:nvGrpSpPr>
            <p:grpSpPr bwMode="auto">
              <a:xfrm>
                <a:off x="480" y="1776"/>
                <a:ext cx="192" cy="192"/>
                <a:chOff x="1824" y="1584"/>
                <a:chExt cx="192" cy="192"/>
              </a:xfrm>
            </p:grpSpPr>
            <p:sp>
              <p:nvSpPr>
                <p:cNvPr id="68036" name="Rectangle 195">
                  <a:extLst>
                    <a:ext uri="{FF2B5EF4-FFF2-40B4-BE49-F238E27FC236}">
                      <a16:creationId xmlns:a16="http://schemas.microsoft.com/office/drawing/2014/main" id="{62B9B19B-3261-7F45-9E82-35FC522DD666}"/>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37" name="Oval 196">
                  <a:extLst>
                    <a:ext uri="{FF2B5EF4-FFF2-40B4-BE49-F238E27FC236}">
                      <a16:creationId xmlns:a16="http://schemas.microsoft.com/office/drawing/2014/main" id="{632138C2-2A00-5B45-BBDB-2CA47A3059FC}"/>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30" name="Group 197">
                <a:extLst>
                  <a:ext uri="{FF2B5EF4-FFF2-40B4-BE49-F238E27FC236}">
                    <a16:creationId xmlns:a16="http://schemas.microsoft.com/office/drawing/2014/main" id="{92EBDD30-621C-0A4E-BF0C-7EA14C80FDCC}"/>
                  </a:ext>
                </a:extLst>
              </p:cNvPr>
              <p:cNvGrpSpPr>
                <a:grpSpLocks/>
              </p:cNvGrpSpPr>
              <p:nvPr/>
            </p:nvGrpSpPr>
            <p:grpSpPr bwMode="auto">
              <a:xfrm>
                <a:off x="480" y="1968"/>
                <a:ext cx="192" cy="192"/>
                <a:chOff x="1824" y="1584"/>
                <a:chExt cx="192" cy="192"/>
              </a:xfrm>
            </p:grpSpPr>
            <p:sp>
              <p:nvSpPr>
                <p:cNvPr id="68034" name="Rectangle 198">
                  <a:extLst>
                    <a:ext uri="{FF2B5EF4-FFF2-40B4-BE49-F238E27FC236}">
                      <a16:creationId xmlns:a16="http://schemas.microsoft.com/office/drawing/2014/main" id="{9C1F77C0-D034-A448-A11E-E5D017D921D3}"/>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35" name="Oval 199">
                  <a:extLst>
                    <a:ext uri="{FF2B5EF4-FFF2-40B4-BE49-F238E27FC236}">
                      <a16:creationId xmlns:a16="http://schemas.microsoft.com/office/drawing/2014/main" id="{9E8F3FB6-8B46-C342-AAC9-3458896D01A3}"/>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8031" name="Group 200">
                <a:extLst>
                  <a:ext uri="{FF2B5EF4-FFF2-40B4-BE49-F238E27FC236}">
                    <a16:creationId xmlns:a16="http://schemas.microsoft.com/office/drawing/2014/main" id="{73B43E4F-AEF8-3948-BCF1-4259783778FD}"/>
                  </a:ext>
                </a:extLst>
              </p:cNvPr>
              <p:cNvGrpSpPr>
                <a:grpSpLocks/>
              </p:cNvGrpSpPr>
              <p:nvPr/>
            </p:nvGrpSpPr>
            <p:grpSpPr bwMode="auto">
              <a:xfrm>
                <a:off x="480" y="2160"/>
                <a:ext cx="192" cy="192"/>
                <a:chOff x="1824" y="1584"/>
                <a:chExt cx="192" cy="192"/>
              </a:xfrm>
            </p:grpSpPr>
            <p:sp>
              <p:nvSpPr>
                <p:cNvPr id="68032" name="Rectangle 201">
                  <a:extLst>
                    <a:ext uri="{FF2B5EF4-FFF2-40B4-BE49-F238E27FC236}">
                      <a16:creationId xmlns:a16="http://schemas.microsoft.com/office/drawing/2014/main" id="{BA089FFE-E20E-FC43-9E45-D27BBD74DDEC}"/>
                    </a:ext>
                  </a:extLst>
                </p:cNvPr>
                <p:cNvSpPr>
                  <a:spLocks noChangeArrowheads="1"/>
                </p:cNvSpPr>
                <p:nvPr/>
              </p:nvSpPr>
              <p:spPr bwMode="auto">
                <a:xfrm>
                  <a:off x="1824" y="158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033" name="Oval 202">
                  <a:extLst>
                    <a:ext uri="{FF2B5EF4-FFF2-40B4-BE49-F238E27FC236}">
                      <a16:creationId xmlns:a16="http://schemas.microsoft.com/office/drawing/2014/main" id="{D4C1DAFA-0A79-5244-8ED9-069B5F10C46C}"/>
                    </a:ext>
                  </a:extLst>
                </p:cNvPr>
                <p:cNvSpPr>
                  <a:spLocks noChangeArrowheads="1"/>
                </p:cNvSpPr>
                <p:nvPr/>
              </p:nvSpPr>
              <p:spPr bwMode="auto">
                <a:xfrm>
                  <a:off x="1872" y="1632"/>
                  <a:ext cx="96" cy="96"/>
                </a:xfrm>
                <a:prstGeom prst="ellipse">
                  <a:avLst/>
                </a:prstGeom>
                <a:solidFill>
                  <a:schemeClr val="accent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67998" name="AutoShape 203">
              <a:extLst>
                <a:ext uri="{FF2B5EF4-FFF2-40B4-BE49-F238E27FC236}">
                  <a16:creationId xmlns:a16="http://schemas.microsoft.com/office/drawing/2014/main" id="{95CFC143-B292-2A4F-B532-FA954C842FAC}"/>
                </a:ext>
              </a:extLst>
            </p:cNvPr>
            <p:cNvSpPr>
              <a:spLocks noChangeArrowheads="1"/>
            </p:cNvSpPr>
            <p:nvPr/>
          </p:nvSpPr>
          <p:spPr bwMode="auto">
            <a:xfrm>
              <a:off x="432" y="1376"/>
              <a:ext cx="529" cy="462"/>
            </a:xfrm>
            <a:prstGeom prst="rightArrow">
              <a:avLst>
                <a:gd name="adj1" fmla="val 50000"/>
                <a:gd name="adj2" fmla="val 30825"/>
              </a:avLst>
            </a:prstGeom>
            <a:solidFill>
              <a:schemeClr val="bg1"/>
            </a:solidFill>
            <a:ln w="38100">
              <a:solidFill>
                <a:schemeClr val="tx1"/>
              </a:solidFill>
              <a:miter lim="800000"/>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W0</a:t>
              </a:r>
            </a:p>
          </p:txBody>
        </p:sp>
      </p:grpSp>
      <p:grpSp>
        <p:nvGrpSpPr>
          <p:cNvPr id="43529" name="Group 204">
            <a:extLst>
              <a:ext uri="{FF2B5EF4-FFF2-40B4-BE49-F238E27FC236}">
                <a16:creationId xmlns:a16="http://schemas.microsoft.com/office/drawing/2014/main" id="{AB3EFB1D-5592-2241-B96B-64ADEE505D10}"/>
              </a:ext>
            </a:extLst>
          </p:cNvPr>
          <p:cNvGrpSpPr>
            <a:grpSpLocks/>
          </p:cNvGrpSpPr>
          <p:nvPr/>
        </p:nvGrpSpPr>
        <p:grpSpPr bwMode="auto">
          <a:xfrm>
            <a:off x="3200400" y="2674938"/>
            <a:ext cx="3200400" cy="1598612"/>
            <a:chOff x="2016" y="1537"/>
            <a:chExt cx="2016" cy="1007"/>
          </a:xfrm>
        </p:grpSpPr>
        <p:grpSp>
          <p:nvGrpSpPr>
            <p:cNvPr id="67898" name="Group 205">
              <a:extLst>
                <a:ext uri="{FF2B5EF4-FFF2-40B4-BE49-F238E27FC236}">
                  <a16:creationId xmlns:a16="http://schemas.microsoft.com/office/drawing/2014/main" id="{E9CD91FC-525B-9C41-A425-C41A6B2E8057}"/>
                </a:ext>
              </a:extLst>
            </p:cNvPr>
            <p:cNvGrpSpPr>
              <a:grpSpLocks/>
            </p:cNvGrpSpPr>
            <p:nvPr/>
          </p:nvGrpSpPr>
          <p:grpSpPr bwMode="auto">
            <a:xfrm>
              <a:off x="2496" y="1776"/>
              <a:ext cx="1536" cy="768"/>
              <a:chOff x="2016" y="1776"/>
              <a:chExt cx="1536" cy="768"/>
            </a:xfrm>
          </p:grpSpPr>
          <p:grpSp>
            <p:nvGrpSpPr>
              <p:cNvPr id="67900" name="Group 206">
                <a:extLst>
                  <a:ext uri="{FF2B5EF4-FFF2-40B4-BE49-F238E27FC236}">
                    <a16:creationId xmlns:a16="http://schemas.microsoft.com/office/drawing/2014/main" id="{B8035DBD-3641-8B4B-AD10-695DAB4AB863}"/>
                  </a:ext>
                </a:extLst>
              </p:cNvPr>
              <p:cNvGrpSpPr>
                <a:grpSpLocks/>
              </p:cNvGrpSpPr>
              <p:nvPr/>
            </p:nvGrpSpPr>
            <p:grpSpPr bwMode="auto">
              <a:xfrm>
                <a:off x="2016" y="1776"/>
                <a:ext cx="192" cy="192"/>
                <a:chOff x="2016" y="1776"/>
                <a:chExt cx="192" cy="192"/>
              </a:xfrm>
            </p:grpSpPr>
            <p:sp>
              <p:nvSpPr>
                <p:cNvPr id="67995" name="Rectangle 207">
                  <a:extLst>
                    <a:ext uri="{FF2B5EF4-FFF2-40B4-BE49-F238E27FC236}">
                      <a16:creationId xmlns:a16="http://schemas.microsoft.com/office/drawing/2014/main" id="{8FFCC455-5C86-8949-899C-1841E04BDF4E}"/>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96" name="Freeform 208">
                  <a:extLst>
                    <a:ext uri="{FF2B5EF4-FFF2-40B4-BE49-F238E27FC236}">
                      <a16:creationId xmlns:a16="http://schemas.microsoft.com/office/drawing/2014/main" id="{F664F021-93D7-8B45-8A82-7F921EB42EC6}"/>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67901" name="Rectangle 209">
                <a:extLst>
                  <a:ext uri="{FF2B5EF4-FFF2-40B4-BE49-F238E27FC236}">
                    <a16:creationId xmlns:a16="http://schemas.microsoft.com/office/drawing/2014/main" id="{0FC47C07-2CEB-B941-A4D2-6A181B9F676B}"/>
                  </a:ext>
                </a:extLst>
              </p:cNvPr>
              <p:cNvSpPr>
                <a:spLocks noChangeArrowheads="1"/>
              </p:cNvSpPr>
              <p:nvPr/>
            </p:nvSpPr>
            <p:spPr bwMode="auto">
              <a:xfrm>
                <a:off x="2016" y="1776"/>
                <a:ext cx="1536" cy="768"/>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67902" name="Group 210">
                <a:extLst>
                  <a:ext uri="{FF2B5EF4-FFF2-40B4-BE49-F238E27FC236}">
                    <a16:creationId xmlns:a16="http://schemas.microsoft.com/office/drawing/2014/main" id="{C40E3939-883B-E448-A02B-2F489381747E}"/>
                  </a:ext>
                </a:extLst>
              </p:cNvPr>
              <p:cNvGrpSpPr>
                <a:grpSpLocks/>
              </p:cNvGrpSpPr>
              <p:nvPr/>
            </p:nvGrpSpPr>
            <p:grpSpPr bwMode="auto">
              <a:xfrm>
                <a:off x="2016" y="1968"/>
                <a:ext cx="192" cy="192"/>
                <a:chOff x="2016" y="1776"/>
                <a:chExt cx="192" cy="192"/>
              </a:xfrm>
            </p:grpSpPr>
            <p:sp>
              <p:nvSpPr>
                <p:cNvPr id="67993" name="Rectangle 211">
                  <a:extLst>
                    <a:ext uri="{FF2B5EF4-FFF2-40B4-BE49-F238E27FC236}">
                      <a16:creationId xmlns:a16="http://schemas.microsoft.com/office/drawing/2014/main" id="{199572F5-138F-1440-ADC6-2AE5E7BC7602}"/>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94" name="Freeform 212">
                  <a:extLst>
                    <a:ext uri="{FF2B5EF4-FFF2-40B4-BE49-F238E27FC236}">
                      <a16:creationId xmlns:a16="http://schemas.microsoft.com/office/drawing/2014/main" id="{9A7B972D-F952-8D49-A245-487EDAAD798D}"/>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03" name="Group 213">
                <a:extLst>
                  <a:ext uri="{FF2B5EF4-FFF2-40B4-BE49-F238E27FC236}">
                    <a16:creationId xmlns:a16="http://schemas.microsoft.com/office/drawing/2014/main" id="{C94EB3DC-DDE0-B641-B3C0-BE78A7A9802F}"/>
                  </a:ext>
                </a:extLst>
              </p:cNvPr>
              <p:cNvGrpSpPr>
                <a:grpSpLocks/>
              </p:cNvGrpSpPr>
              <p:nvPr/>
            </p:nvGrpSpPr>
            <p:grpSpPr bwMode="auto">
              <a:xfrm>
                <a:off x="2016" y="2160"/>
                <a:ext cx="192" cy="192"/>
                <a:chOff x="2016" y="1776"/>
                <a:chExt cx="192" cy="192"/>
              </a:xfrm>
            </p:grpSpPr>
            <p:sp>
              <p:nvSpPr>
                <p:cNvPr id="67991" name="Rectangle 214">
                  <a:extLst>
                    <a:ext uri="{FF2B5EF4-FFF2-40B4-BE49-F238E27FC236}">
                      <a16:creationId xmlns:a16="http://schemas.microsoft.com/office/drawing/2014/main" id="{07A0514D-FF2F-7440-9DEF-591884DD9E78}"/>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92" name="Freeform 215">
                  <a:extLst>
                    <a:ext uri="{FF2B5EF4-FFF2-40B4-BE49-F238E27FC236}">
                      <a16:creationId xmlns:a16="http://schemas.microsoft.com/office/drawing/2014/main" id="{791A609C-38EE-D243-8EF5-AA41170097CB}"/>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04" name="Group 216">
                <a:extLst>
                  <a:ext uri="{FF2B5EF4-FFF2-40B4-BE49-F238E27FC236}">
                    <a16:creationId xmlns:a16="http://schemas.microsoft.com/office/drawing/2014/main" id="{0632C06B-8292-DC46-AD88-5F99FF228DD3}"/>
                  </a:ext>
                </a:extLst>
              </p:cNvPr>
              <p:cNvGrpSpPr>
                <a:grpSpLocks/>
              </p:cNvGrpSpPr>
              <p:nvPr/>
            </p:nvGrpSpPr>
            <p:grpSpPr bwMode="auto">
              <a:xfrm>
                <a:off x="2016" y="2352"/>
                <a:ext cx="192" cy="192"/>
                <a:chOff x="2016" y="1776"/>
                <a:chExt cx="192" cy="192"/>
              </a:xfrm>
            </p:grpSpPr>
            <p:sp>
              <p:nvSpPr>
                <p:cNvPr id="67989" name="Rectangle 217">
                  <a:extLst>
                    <a:ext uri="{FF2B5EF4-FFF2-40B4-BE49-F238E27FC236}">
                      <a16:creationId xmlns:a16="http://schemas.microsoft.com/office/drawing/2014/main" id="{C164A965-9C65-2940-B811-940BC83AECB8}"/>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90" name="Freeform 218">
                  <a:extLst>
                    <a:ext uri="{FF2B5EF4-FFF2-40B4-BE49-F238E27FC236}">
                      <a16:creationId xmlns:a16="http://schemas.microsoft.com/office/drawing/2014/main" id="{413CF3EF-2A15-DC49-9FA5-63EC884F936E}"/>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05" name="Group 219">
                <a:extLst>
                  <a:ext uri="{FF2B5EF4-FFF2-40B4-BE49-F238E27FC236}">
                    <a16:creationId xmlns:a16="http://schemas.microsoft.com/office/drawing/2014/main" id="{13629F8B-3B46-794A-827A-63F5A5A8B82E}"/>
                  </a:ext>
                </a:extLst>
              </p:cNvPr>
              <p:cNvGrpSpPr>
                <a:grpSpLocks/>
              </p:cNvGrpSpPr>
              <p:nvPr/>
            </p:nvGrpSpPr>
            <p:grpSpPr bwMode="auto">
              <a:xfrm>
                <a:off x="2208" y="1776"/>
                <a:ext cx="192" cy="192"/>
                <a:chOff x="2016" y="1776"/>
                <a:chExt cx="192" cy="192"/>
              </a:xfrm>
            </p:grpSpPr>
            <p:sp>
              <p:nvSpPr>
                <p:cNvPr id="67987" name="Rectangle 220">
                  <a:extLst>
                    <a:ext uri="{FF2B5EF4-FFF2-40B4-BE49-F238E27FC236}">
                      <a16:creationId xmlns:a16="http://schemas.microsoft.com/office/drawing/2014/main" id="{7B9F048D-A712-434D-945C-7D4AD54F9C3D}"/>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88" name="Freeform 221">
                  <a:extLst>
                    <a:ext uri="{FF2B5EF4-FFF2-40B4-BE49-F238E27FC236}">
                      <a16:creationId xmlns:a16="http://schemas.microsoft.com/office/drawing/2014/main" id="{3BFF839F-B8C7-2948-AA50-5F7FB9F33E90}"/>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06" name="Group 222">
                <a:extLst>
                  <a:ext uri="{FF2B5EF4-FFF2-40B4-BE49-F238E27FC236}">
                    <a16:creationId xmlns:a16="http://schemas.microsoft.com/office/drawing/2014/main" id="{9D95328B-2EFB-7949-A445-678CB03D28CA}"/>
                  </a:ext>
                </a:extLst>
              </p:cNvPr>
              <p:cNvGrpSpPr>
                <a:grpSpLocks/>
              </p:cNvGrpSpPr>
              <p:nvPr/>
            </p:nvGrpSpPr>
            <p:grpSpPr bwMode="auto">
              <a:xfrm>
                <a:off x="2208" y="1968"/>
                <a:ext cx="192" cy="192"/>
                <a:chOff x="2016" y="1776"/>
                <a:chExt cx="192" cy="192"/>
              </a:xfrm>
            </p:grpSpPr>
            <p:sp>
              <p:nvSpPr>
                <p:cNvPr id="67985" name="Rectangle 223">
                  <a:extLst>
                    <a:ext uri="{FF2B5EF4-FFF2-40B4-BE49-F238E27FC236}">
                      <a16:creationId xmlns:a16="http://schemas.microsoft.com/office/drawing/2014/main" id="{A1740721-B8EF-C94A-AE5B-99C6C9F62B67}"/>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86" name="Freeform 224">
                  <a:extLst>
                    <a:ext uri="{FF2B5EF4-FFF2-40B4-BE49-F238E27FC236}">
                      <a16:creationId xmlns:a16="http://schemas.microsoft.com/office/drawing/2014/main" id="{ECE189E3-60B2-C047-AE87-62498EB92A92}"/>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07" name="Group 225">
                <a:extLst>
                  <a:ext uri="{FF2B5EF4-FFF2-40B4-BE49-F238E27FC236}">
                    <a16:creationId xmlns:a16="http://schemas.microsoft.com/office/drawing/2014/main" id="{11F83FA5-1C19-ED41-BCD5-205243F7E04E}"/>
                  </a:ext>
                </a:extLst>
              </p:cNvPr>
              <p:cNvGrpSpPr>
                <a:grpSpLocks/>
              </p:cNvGrpSpPr>
              <p:nvPr/>
            </p:nvGrpSpPr>
            <p:grpSpPr bwMode="auto">
              <a:xfrm>
                <a:off x="2208" y="2160"/>
                <a:ext cx="192" cy="192"/>
                <a:chOff x="2016" y="1776"/>
                <a:chExt cx="192" cy="192"/>
              </a:xfrm>
            </p:grpSpPr>
            <p:sp>
              <p:nvSpPr>
                <p:cNvPr id="67983" name="Rectangle 226">
                  <a:extLst>
                    <a:ext uri="{FF2B5EF4-FFF2-40B4-BE49-F238E27FC236}">
                      <a16:creationId xmlns:a16="http://schemas.microsoft.com/office/drawing/2014/main" id="{22EA3C42-E52A-1445-BEA8-B49206394BED}"/>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84" name="Freeform 227">
                  <a:extLst>
                    <a:ext uri="{FF2B5EF4-FFF2-40B4-BE49-F238E27FC236}">
                      <a16:creationId xmlns:a16="http://schemas.microsoft.com/office/drawing/2014/main" id="{16789303-2764-3A4D-93C5-09DF84A326F5}"/>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08" name="Group 228">
                <a:extLst>
                  <a:ext uri="{FF2B5EF4-FFF2-40B4-BE49-F238E27FC236}">
                    <a16:creationId xmlns:a16="http://schemas.microsoft.com/office/drawing/2014/main" id="{BA6A39B8-B950-D94E-91AA-A8002BD1A382}"/>
                  </a:ext>
                </a:extLst>
              </p:cNvPr>
              <p:cNvGrpSpPr>
                <a:grpSpLocks/>
              </p:cNvGrpSpPr>
              <p:nvPr/>
            </p:nvGrpSpPr>
            <p:grpSpPr bwMode="auto">
              <a:xfrm>
                <a:off x="2208" y="2352"/>
                <a:ext cx="192" cy="192"/>
                <a:chOff x="2016" y="1776"/>
                <a:chExt cx="192" cy="192"/>
              </a:xfrm>
            </p:grpSpPr>
            <p:sp>
              <p:nvSpPr>
                <p:cNvPr id="67981" name="Rectangle 229">
                  <a:extLst>
                    <a:ext uri="{FF2B5EF4-FFF2-40B4-BE49-F238E27FC236}">
                      <a16:creationId xmlns:a16="http://schemas.microsoft.com/office/drawing/2014/main" id="{34215B31-CA02-2444-BAC3-5858C96CCFE4}"/>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82" name="Freeform 230">
                  <a:extLst>
                    <a:ext uri="{FF2B5EF4-FFF2-40B4-BE49-F238E27FC236}">
                      <a16:creationId xmlns:a16="http://schemas.microsoft.com/office/drawing/2014/main" id="{F27E753E-8926-1E40-80AB-4A862759C347}"/>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09" name="Group 231">
                <a:extLst>
                  <a:ext uri="{FF2B5EF4-FFF2-40B4-BE49-F238E27FC236}">
                    <a16:creationId xmlns:a16="http://schemas.microsoft.com/office/drawing/2014/main" id="{4F6C7E48-412C-DD42-8446-14E1F63999DA}"/>
                  </a:ext>
                </a:extLst>
              </p:cNvPr>
              <p:cNvGrpSpPr>
                <a:grpSpLocks/>
              </p:cNvGrpSpPr>
              <p:nvPr/>
            </p:nvGrpSpPr>
            <p:grpSpPr bwMode="auto">
              <a:xfrm>
                <a:off x="2400" y="1776"/>
                <a:ext cx="192" cy="192"/>
                <a:chOff x="2016" y="1776"/>
                <a:chExt cx="192" cy="192"/>
              </a:xfrm>
            </p:grpSpPr>
            <p:sp>
              <p:nvSpPr>
                <p:cNvPr id="67979" name="Rectangle 232">
                  <a:extLst>
                    <a:ext uri="{FF2B5EF4-FFF2-40B4-BE49-F238E27FC236}">
                      <a16:creationId xmlns:a16="http://schemas.microsoft.com/office/drawing/2014/main" id="{34F04E17-E26B-C64D-A5EF-AC9B68930C18}"/>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80" name="Freeform 233">
                  <a:extLst>
                    <a:ext uri="{FF2B5EF4-FFF2-40B4-BE49-F238E27FC236}">
                      <a16:creationId xmlns:a16="http://schemas.microsoft.com/office/drawing/2014/main" id="{EF3E8B7F-7423-8E4F-BE84-D3AA7339FC6F}"/>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10" name="Group 234">
                <a:extLst>
                  <a:ext uri="{FF2B5EF4-FFF2-40B4-BE49-F238E27FC236}">
                    <a16:creationId xmlns:a16="http://schemas.microsoft.com/office/drawing/2014/main" id="{07BCD8CC-8D58-E24B-85C7-275D5F8BB296}"/>
                  </a:ext>
                </a:extLst>
              </p:cNvPr>
              <p:cNvGrpSpPr>
                <a:grpSpLocks/>
              </p:cNvGrpSpPr>
              <p:nvPr/>
            </p:nvGrpSpPr>
            <p:grpSpPr bwMode="auto">
              <a:xfrm>
                <a:off x="2400" y="1968"/>
                <a:ext cx="192" cy="192"/>
                <a:chOff x="2016" y="1776"/>
                <a:chExt cx="192" cy="192"/>
              </a:xfrm>
            </p:grpSpPr>
            <p:sp>
              <p:nvSpPr>
                <p:cNvPr id="67977" name="Rectangle 235">
                  <a:extLst>
                    <a:ext uri="{FF2B5EF4-FFF2-40B4-BE49-F238E27FC236}">
                      <a16:creationId xmlns:a16="http://schemas.microsoft.com/office/drawing/2014/main" id="{DA282213-8E05-D24B-AD3B-C0F2B112AE54}"/>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78" name="Freeform 236">
                  <a:extLst>
                    <a:ext uri="{FF2B5EF4-FFF2-40B4-BE49-F238E27FC236}">
                      <a16:creationId xmlns:a16="http://schemas.microsoft.com/office/drawing/2014/main" id="{4B578E42-3EC6-884F-9EC0-D649C1441E21}"/>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11" name="Group 237">
                <a:extLst>
                  <a:ext uri="{FF2B5EF4-FFF2-40B4-BE49-F238E27FC236}">
                    <a16:creationId xmlns:a16="http://schemas.microsoft.com/office/drawing/2014/main" id="{53D3C9F2-8416-B64F-9D19-5C34D1A74197}"/>
                  </a:ext>
                </a:extLst>
              </p:cNvPr>
              <p:cNvGrpSpPr>
                <a:grpSpLocks/>
              </p:cNvGrpSpPr>
              <p:nvPr/>
            </p:nvGrpSpPr>
            <p:grpSpPr bwMode="auto">
              <a:xfrm>
                <a:off x="2400" y="2160"/>
                <a:ext cx="192" cy="192"/>
                <a:chOff x="2016" y="1776"/>
                <a:chExt cx="192" cy="192"/>
              </a:xfrm>
            </p:grpSpPr>
            <p:sp>
              <p:nvSpPr>
                <p:cNvPr id="67975" name="Rectangle 238">
                  <a:extLst>
                    <a:ext uri="{FF2B5EF4-FFF2-40B4-BE49-F238E27FC236}">
                      <a16:creationId xmlns:a16="http://schemas.microsoft.com/office/drawing/2014/main" id="{7EF78159-ACC1-BA4F-AA58-C15932FE1A72}"/>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76" name="Freeform 239">
                  <a:extLst>
                    <a:ext uri="{FF2B5EF4-FFF2-40B4-BE49-F238E27FC236}">
                      <a16:creationId xmlns:a16="http://schemas.microsoft.com/office/drawing/2014/main" id="{7267534F-6C4C-974A-9077-52326D1652BB}"/>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12" name="Group 240">
                <a:extLst>
                  <a:ext uri="{FF2B5EF4-FFF2-40B4-BE49-F238E27FC236}">
                    <a16:creationId xmlns:a16="http://schemas.microsoft.com/office/drawing/2014/main" id="{74CF7EFC-39DC-FC4D-95B5-6A6AD3CF0115}"/>
                  </a:ext>
                </a:extLst>
              </p:cNvPr>
              <p:cNvGrpSpPr>
                <a:grpSpLocks/>
              </p:cNvGrpSpPr>
              <p:nvPr/>
            </p:nvGrpSpPr>
            <p:grpSpPr bwMode="auto">
              <a:xfrm>
                <a:off x="2400" y="2352"/>
                <a:ext cx="192" cy="192"/>
                <a:chOff x="2016" y="1776"/>
                <a:chExt cx="192" cy="192"/>
              </a:xfrm>
            </p:grpSpPr>
            <p:sp>
              <p:nvSpPr>
                <p:cNvPr id="67973" name="Rectangle 241">
                  <a:extLst>
                    <a:ext uri="{FF2B5EF4-FFF2-40B4-BE49-F238E27FC236}">
                      <a16:creationId xmlns:a16="http://schemas.microsoft.com/office/drawing/2014/main" id="{9FF28683-6EF0-EB42-B4D6-D7BA05284D7A}"/>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74" name="Freeform 242">
                  <a:extLst>
                    <a:ext uri="{FF2B5EF4-FFF2-40B4-BE49-F238E27FC236}">
                      <a16:creationId xmlns:a16="http://schemas.microsoft.com/office/drawing/2014/main" id="{B5743A7D-DD7E-CB41-BD4F-E912C8AD61B0}"/>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13" name="Group 243">
                <a:extLst>
                  <a:ext uri="{FF2B5EF4-FFF2-40B4-BE49-F238E27FC236}">
                    <a16:creationId xmlns:a16="http://schemas.microsoft.com/office/drawing/2014/main" id="{464DE709-F28B-734B-A47A-D80E732F7B20}"/>
                  </a:ext>
                </a:extLst>
              </p:cNvPr>
              <p:cNvGrpSpPr>
                <a:grpSpLocks/>
              </p:cNvGrpSpPr>
              <p:nvPr/>
            </p:nvGrpSpPr>
            <p:grpSpPr bwMode="auto">
              <a:xfrm>
                <a:off x="2592" y="1776"/>
                <a:ext cx="192" cy="192"/>
                <a:chOff x="2016" y="1776"/>
                <a:chExt cx="192" cy="192"/>
              </a:xfrm>
            </p:grpSpPr>
            <p:sp>
              <p:nvSpPr>
                <p:cNvPr id="67971" name="Rectangle 244">
                  <a:extLst>
                    <a:ext uri="{FF2B5EF4-FFF2-40B4-BE49-F238E27FC236}">
                      <a16:creationId xmlns:a16="http://schemas.microsoft.com/office/drawing/2014/main" id="{1AD01E9E-7680-B244-A776-FF21DB3C7F94}"/>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72" name="Freeform 245">
                  <a:extLst>
                    <a:ext uri="{FF2B5EF4-FFF2-40B4-BE49-F238E27FC236}">
                      <a16:creationId xmlns:a16="http://schemas.microsoft.com/office/drawing/2014/main" id="{6579762D-E30E-CE43-A9F6-E0164A8ACFA7}"/>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14" name="Group 246">
                <a:extLst>
                  <a:ext uri="{FF2B5EF4-FFF2-40B4-BE49-F238E27FC236}">
                    <a16:creationId xmlns:a16="http://schemas.microsoft.com/office/drawing/2014/main" id="{D245A3AE-0A9A-DC4E-901B-8C6E93686838}"/>
                  </a:ext>
                </a:extLst>
              </p:cNvPr>
              <p:cNvGrpSpPr>
                <a:grpSpLocks/>
              </p:cNvGrpSpPr>
              <p:nvPr/>
            </p:nvGrpSpPr>
            <p:grpSpPr bwMode="auto">
              <a:xfrm>
                <a:off x="2592" y="1968"/>
                <a:ext cx="192" cy="192"/>
                <a:chOff x="2016" y="1776"/>
                <a:chExt cx="192" cy="192"/>
              </a:xfrm>
            </p:grpSpPr>
            <p:sp>
              <p:nvSpPr>
                <p:cNvPr id="67969" name="Rectangle 247">
                  <a:extLst>
                    <a:ext uri="{FF2B5EF4-FFF2-40B4-BE49-F238E27FC236}">
                      <a16:creationId xmlns:a16="http://schemas.microsoft.com/office/drawing/2014/main" id="{744CB578-D315-9B49-81A7-37EA2416AA0E}"/>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70" name="Freeform 248">
                  <a:extLst>
                    <a:ext uri="{FF2B5EF4-FFF2-40B4-BE49-F238E27FC236}">
                      <a16:creationId xmlns:a16="http://schemas.microsoft.com/office/drawing/2014/main" id="{6873A56B-D24E-B749-950F-4AA5F634720E}"/>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15" name="Group 249">
                <a:extLst>
                  <a:ext uri="{FF2B5EF4-FFF2-40B4-BE49-F238E27FC236}">
                    <a16:creationId xmlns:a16="http://schemas.microsoft.com/office/drawing/2014/main" id="{6C6A24A2-32E3-B74E-8913-4C6EAF6AD39C}"/>
                  </a:ext>
                </a:extLst>
              </p:cNvPr>
              <p:cNvGrpSpPr>
                <a:grpSpLocks/>
              </p:cNvGrpSpPr>
              <p:nvPr/>
            </p:nvGrpSpPr>
            <p:grpSpPr bwMode="auto">
              <a:xfrm>
                <a:off x="2592" y="2160"/>
                <a:ext cx="192" cy="192"/>
                <a:chOff x="2016" y="1776"/>
                <a:chExt cx="192" cy="192"/>
              </a:xfrm>
            </p:grpSpPr>
            <p:sp>
              <p:nvSpPr>
                <p:cNvPr id="67967" name="Rectangle 250">
                  <a:extLst>
                    <a:ext uri="{FF2B5EF4-FFF2-40B4-BE49-F238E27FC236}">
                      <a16:creationId xmlns:a16="http://schemas.microsoft.com/office/drawing/2014/main" id="{F94F67E3-CAAE-CF4A-89E5-5A7EB2FC05E5}"/>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68" name="Freeform 251">
                  <a:extLst>
                    <a:ext uri="{FF2B5EF4-FFF2-40B4-BE49-F238E27FC236}">
                      <a16:creationId xmlns:a16="http://schemas.microsoft.com/office/drawing/2014/main" id="{E27D4E1A-0E7C-1347-A580-5033EB0081D0}"/>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16" name="Group 252">
                <a:extLst>
                  <a:ext uri="{FF2B5EF4-FFF2-40B4-BE49-F238E27FC236}">
                    <a16:creationId xmlns:a16="http://schemas.microsoft.com/office/drawing/2014/main" id="{ED6468C9-41B4-A742-AC14-9D9F32485D97}"/>
                  </a:ext>
                </a:extLst>
              </p:cNvPr>
              <p:cNvGrpSpPr>
                <a:grpSpLocks/>
              </p:cNvGrpSpPr>
              <p:nvPr/>
            </p:nvGrpSpPr>
            <p:grpSpPr bwMode="auto">
              <a:xfrm>
                <a:off x="2592" y="2352"/>
                <a:ext cx="192" cy="192"/>
                <a:chOff x="2016" y="1776"/>
                <a:chExt cx="192" cy="192"/>
              </a:xfrm>
            </p:grpSpPr>
            <p:sp>
              <p:nvSpPr>
                <p:cNvPr id="67965" name="Rectangle 253">
                  <a:extLst>
                    <a:ext uri="{FF2B5EF4-FFF2-40B4-BE49-F238E27FC236}">
                      <a16:creationId xmlns:a16="http://schemas.microsoft.com/office/drawing/2014/main" id="{10492F7B-DAED-7D4C-9FD0-E28C351FFE81}"/>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66" name="Freeform 254">
                  <a:extLst>
                    <a:ext uri="{FF2B5EF4-FFF2-40B4-BE49-F238E27FC236}">
                      <a16:creationId xmlns:a16="http://schemas.microsoft.com/office/drawing/2014/main" id="{92B5BBF4-4DCA-A544-A760-C3E421A8C4DF}"/>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17" name="Group 255">
                <a:extLst>
                  <a:ext uri="{FF2B5EF4-FFF2-40B4-BE49-F238E27FC236}">
                    <a16:creationId xmlns:a16="http://schemas.microsoft.com/office/drawing/2014/main" id="{49F98DE4-95A7-2E4B-BEA1-C9753FE6EEA7}"/>
                  </a:ext>
                </a:extLst>
              </p:cNvPr>
              <p:cNvGrpSpPr>
                <a:grpSpLocks/>
              </p:cNvGrpSpPr>
              <p:nvPr/>
            </p:nvGrpSpPr>
            <p:grpSpPr bwMode="auto">
              <a:xfrm>
                <a:off x="2784" y="1776"/>
                <a:ext cx="192" cy="192"/>
                <a:chOff x="2016" y="1776"/>
                <a:chExt cx="192" cy="192"/>
              </a:xfrm>
            </p:grpSpPr>
            <p:sp>
              <p:nvSpPr>
                <p:cNvPr id="67963" name="Rectangle 256">
                  <a:extLst>
                    <a:ext uri="{FF2B5EF4-FFF2-40B4-BE49-F238E27FC236}">
                      <a16:creationId xmlns:a16="http://schemas.microsoft.com/office/drawing/2014/main" id="{B0C7C930-11A9-8F43-86BA-0CD55F6668F2}"/>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64" name="Freeform 257">
                  <a:extLst>
                    <a:ext uri="{FF2B5EF4-FFF2-40B4-BE49-F238E27FC236}">
                      <a16:creationId xmlns:a16="http://schemas.microsoft.com/office/drawing/2014/main" id="{CA8C278B-DBA5-EC4B-9C38-C3945C6B0B70}"/>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18" name="Group 258">
                <a:extLst>
                  <a:ext uri="{FF2B5EF4-FFF2-40B4-BE49-F238E27FC236}">
                    <a16:creationId xmlns:a16="http://schemas.microsoft.com/office/drawing/2014/main" id="{B0DFB0FE-10BC-2C4A-9134-5ADF0892C9FF}"/>
                  </a:ext>
                </a:extLst>
              </p:cNvPr>
              <p:cNvGrpSpPr>
                <a:grpSpLocks/>
              </p:cNvGrpSpPr>
              <p:nvPr/>
            </p:nvGrpSpPr>
            <p:grpSpPr bwMode="auto">
              <a:xfrm>
                <a:off x="2784" y="1968"/>
                <a:ext cx="192" cy="192"/>
                <a:chOff x="2016" y="1776"/>
                <a:chExt cx="192" cy="192"/>
              </a:xfrm>
            </p:grpSpPr>
            <p:sp>
              <p:nvSpPr>
                <p:cNvPr id="67961" name="Rectangle 259">
                  <a:extLst>
                    <a:ext uri="{FF2B5EF4-FFF2-40B4-BE49-F238E27FC236}">
                      <a16:creationId xmlns:a16="http://schemas.microsoft.com/office/drawing/2014/main" id="{DF3706DE-6D94-9B40-82A9-AC849EA8E5B8}"/>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62" name="Freeform 260">
                  <a:extLst>
                    <a:ext uri="{FF2B5EF4-FFF2-40B4-BE49-F238E27FC236}">
                      <a16:creationId xmlns:a16="http://schemas.microsoft.com/office/drawing/2014/main" id="{AA6E9DA9-298E-F041-8202-1F4CA2026FC2}"/>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19" name="Group 261">
                <a:extLst>
                  <a:ext uri="{FF2B5EF4-FFF2-40B4-BE49-F238E27FC236}">
                    <a16:creationId xmlns:a16="http://schemas.microsoft.com/office/drawing/2014/main" id="{E483EDA4-2646-B642-A262-ECC72CB17CC2}"/>
                  </a:ext>
                </a:extLst>
              </p:cNvPr>
              <p:cNvGrpSpPr>
                <a:grpSpLocks/>
              </p:cNvGrpSpPr>
              <p:nvPr/>
            </p:nvGrpSpPr>
            <p:grpSpPr bwMode="auto">
              <a:xfrm>
                <a:off x="2784" y="2160"/>
                <a:ext cx="192" cy="192"/>
                <a:chOff x="2016" y="1776"/>
                <a:chExt cx="192" cy="192"/>
              </a:xfrm>
            </p:grpSpPr>
            <p:sp>
              <p:nvSpPr>
                <p:cNvPr id="67959" name="Rectangle 262">
                  <a:extLst>
                    <a:ext uri="{FF2B5EF4-FFF2-40B4-BE49-F238E27FC236}">
                      <a16:creationId xmlns:a16="http://schemas.microsoft.com/office/drawing/2014/main" id="{C7DCEC93-DEEE-7B45-A08C-7E2F89DA0BB9}"/>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60" name="Freeform 263">
                  <a:extLst>
                    <a:ext uri="{FF2B5EF4-FFF2-40B4-BE49-F238E27FC236}">
                      <a16:creationId xmlns:a16="http://schemas.microsoft.com/office/drawing/2014/main" id="{329E71A8-7371-7049-BFE0-1C16D495E488}"/>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20" name="Group 264">
                <a:extLst>
                  <a:ext uri="{FF2B5EF4-FFF2-40B4-BE49-F238E27FC236}">
                    <a16:creationId xmlns:a16="http://schemas.microsoft.com/office/drawing/2014/main" id="{B40965CF-C62A-794E-8884-45DA2D71E7A2}"/>
                  </a:ext>
                </a:extLst>
              </p:cNvPr>
              <p:cNvGrpSpPr>
                <a:grpSpLocks/>
              </p:cNvGrpSpPr>
              <p:nvPr/>
            </p:nvGrpSpPr>
            <p:grpSpPr bwMode="auto">
              <a:xfrm>
                <a:off x="2784" y="2352"/>
                <a:ext cx="192" cy="192"/>
                <a:chOff x="2016" y="1776"/>
                <a:chExt cx="192" cy="192"/>
              </a:xfrm>
            </p:grpSpPr>
            <p:sp>
              <p:nvSpPr>
                <p:cNvPr id="67957" name="Rectangle 265">
                  <a:extLst>
                    <a:ext uri="{FF2B5EF4-FFF2-40B4-BE49-F238E27FC236}">
                      <a16:creationId xmlns:a16="http://schemas.microsoft.com/office/drawing/2014/main" id="{AE083930-77AE-A448-80CA-50F4471F87D2}"/>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58" name="Freeform 266">
                  <a:extLst>
                    <a:ext uri="{FF2B5EF4-FFF2-40B4-BE49-F238E27FC236}">
                      <a16:creationId xmlns:a16="http://schemas.microsoft.com/office/drawing/2014/main" id="{EBE54F6A-EEA7-484B-A6B7-AF44D5F4FD5A}"/>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21" name="Group 267">
                <a:extLst>
                  <a:ext uri="{FF2B5EF4-FFF2-40B4-BE49-F238E27FC236}">
                    <a16:creationId xmlns:a16="http://schemas.microsoft.com/office/drawing/2014/main" id="{99523AF5-E70C-7548-9749-66E58FF5E07B}"/>
                  </a:ext>
                </a:extLst>
              </p:cNvPr>
              <p:cNvGrpSpPr>
                <a:grpSpLocks/>
              </p:cNvGrpSpPr>
              <p:nvPr/>
            </p:nvGrpSpPr>
            <p:grpSpPr bwMode="auto">
              <a:xfrm>
                <a:off x="2976" y="1776"/>
                <a:ext cx="192" cy="192"/>
                <a:chOff x="2016" y="1776"/>
                <a:chExt cx="192" cy="192"/>
              </a:xfrm>
            </p:grpSpPr>
            <p:sp>
              <p:nvSpPr>
                <p:cNvPr id="67955" name="Rectangle 268">
                  <a:extLst>
                    <a:ext uri="{FF2B5EF4-FFF2-40B4-BE49-F238E27FC236}">
                      <a16:creationId xmlns:a16="http://schemas.microsoft.com/office/drawing/2014/main" id="{6F6865A7-8593-704E-A4E7-F34B1F1192AE}"/>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56" name="Freeform 269">
                  <a:extLst>
                    <a:ext uri="{FF2B5EF4-FFF2-40B4-BE49-F238E27FC236}">
                      <a16:creationId xmlns:a16="http://schemas.microsoft.com/office/drawing/2014/main" id="{9A57BAFE-FFD0-7D4A-983F-BFB01104B7D6}"/>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22" name="Group 270">
                <a:extLst>
                  <a:ext uri="{FF2B5EF4-FFF2-40B4-BE49-F238E27FC236}">
                    <a16:creationId xmlns:a16="http://schemas.microsoft.com/office/drawing/2014/main" id="{DAFBE217-0B95-C945-9C41-87587C2EC966}"/>
                  </a:ext>
                </a:extLst>
              </p:cNvPr>
              <p:cNvGrpSpPr>
                <a:grpSpLocks/>
              </p:cNvGrpSpPr>
              <p:nvPr/>
            </p:nvGrpSpPr>
            <p:grpSpPr bwMode="auto">
              <a:xfrm>
                <a:off x="2976" y="1968"/>
                <a:ext cx="192" cy="192"/>
                <a:chOff x="2016" y="1776"/>
                <a:chExt cx="192" cy="192"/>
              </a:xfrm>
            </p:grpSpPr>
            <p:sp>
              <p:nvSpPr>
                <p:cNvPr id="67953" name="Rectangle 271">
                  <a:extLst>
                    <a:ext uri="{FF2B5EF4-FFF2-40B4-BE49-F238E27FC236}">
                      <a16:creationId xmlns:a16="http://schemas.microsoft.com/office/drawing/2014/main" id="{CAF34DFD-EE03-4F4F-B4F8-3B20E7D77934}"/>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54" name="Freeform 272">
                  <a:extLst>
                    <a:ext uri="{FF2B5EF4-FFF2-40B4-BE49-F238E27FC236}">
                      <a16:creationId xmlns:a16="http://schemas.microsoft.com/office/drawing/2014/main" id="{437B401C-B9F8-5C49-81DC-8ADE1204DE52}"/>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23" name="Group 273">
                <a:extLst>
                  <a:ext uri="{FF2B5EF4-FFF2-40B4-BE49-F238E27FC236}">
                    <a16:creationId xmlns:a16="http://schemas.microsoft.com/office/drawing/2014/main" id="{0F407281-38C9-B049-A5BC-9E1ED95ED89F}"/>
                  </a:ext>
                </a:extLst>
              </p:cNvPr>
              <p:cNvGrpSpPr>
                <a:grpSpLocks/>
              </p:cNvGrpSpPr>
              <p:nvPr/>
            </p:nvGrpSpPr>
            <p:grpSpPr bwMode="auto">
              <a:xfrm>
                <a:off x="2976" y="2160"/>
                <a:ext cx="192" cy="192"/>
                <a:chOff x="2016" y="1776"/>
                <a:chExt cx="192" cy="192"/>
              </a:xfrm>
            </p:grpSpPr>
            <p:sp>
              <p:nvSpPr>
                <p:cNvPr id="67951" name="Rectangle 274">
                  <a:extLst>
                    <a:ext uri="{FF2B5EF4-FFF2-40B4-BE49-F238E27FC236}">
                      <a16:creationId xmlns:a16="http://schemas.microsoft.com/office/drawing/2014/main" id="{9CB53838-D8CB-0B4A-AE01-A522F7BBAF02}"/>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52" name="Freeform 275">
                  <a:extLst>
                    <a:ext uri="{FF2B5EF4-FFF2-40B4-BE49-F238E27FC236}">
                      <a16:creationId xmlns:a16="http://schemas.microsoft.com/office/drawing/2014/main" id="{1097D2FC-0ACF-F74C-BB2F-52653E9291EF}"/>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24" name="Group 276">
                <a:extLst>
                  <a:ext uri="{FF2B5EF4-FFF2-40B4-BE49-F238E27FC236}">
                    <a16:creationId xmlns:a16="http://schemas.microsoft.com/office/drawing/2014/main" id="{6355E548-A022-704B-82BC-4C1ECAC250D1}"/>
                  </a:ext>
                </a:extLst>
              </p:cNvPr>
              <p:cNvGrpSpPr>
                <a:grpSpLocks/>
              </p:cNvGrpSpPr>
              <p:nvPr/>
            </p:nvGrpSpPr>
            <p:grpSpPr bwMode="auto">
              <a:xfrm>
                <a:off x="2976" y="2352"/>
                <a:ext cx="192" cy="192"/>
                <a:chOff x="2016" y="1776"/>
                <a:chExt cx="192" cy="192"/>
              </a:xfrm>
            </p:grpSpPr>
            <p:sp>
              <p:nvSpPr>
                <p:cNvPr id="67949" name="Rectangle 277">
                  <a:extLst>
                    <a:ext uri="{FF2B5EF4-FFF2-40B4-BE49-F238E27FC236}">
                      <a16:creationId xmlns:a16="http://schemas.microsoft.com/office/drawing/2014/main" id="{21A72DDD-B2FF-174E-A094-C25873417425}"/>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50" name="Freeform 278">
                  <a:extLst>
                    <a:ext uri="{FF2B5EF4-FFF2-40B4-BE49-F238E27FC236}">
                      <a16:creationId xmlns:a16="http://schemas.microsoft.com/office/drawing/2014/main" id="{2F31965E-FA90-4745-9E8A-71B4D6293836}"/>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25" name="Group 279">
                <a:extLst>
                  <a:ext uri="{FF2B5EF4-FFF2-40B4-BE49-F238E27FC236}">
                    <a16:creationId xmlns:a16="http://schemas.microsoft.com/office/drawing/2014/main" id="{6D1E55D0-9E51-FE4B-8DC9-8CF71A5E79C1}"/>
                  </a:ext>
                </a:extLst>
              </p:cNvPr>
              <p:cNvGrpSpPr>
                <a:grpSpLocks/>
              </p:cNvGrpSpPr>
              <p:nvPr/>
            </p:nvGrpSpPr>
            <p:grpSpPr bwMode="auto">
              <a:xfrm>
                <a:off x="3168" y="1776"/>
                <a:ext cx="192" cy="192"/>
                <a:chOff x="2016" y="1776"/>
                <a:chExt cx="192" cy="192"/>
              </a:xfrm>
            </p:grpSpPr>
            <p:sp>
              <p:nvSpPr>
                <p:cNvPr id="67947" name="Rectangle 280">
                  <a:extLst>
                    <a:ext uri="{FF2B5EF4-FFF2-40B4-BE49-F238E27FC236}">
                      <a16:creationId xmlns:a16="http://schemas.microsoft.com/office/drawing/2014/main" id="{1DAA8371-C5CD-E040-A84F-AE3A29CBEABD}"/>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48" name="Freeform 281">
                  <a:extLst>
                    <a:ext uri="{FF2B5EF4-FFF2-40B4-BE49-F238E27FC236}">
                      <a16:creationId xmlns:a16="http://schemas.microsoft.com/office/drawing/2014/main" id="{53FEA5D2-01FF-D241-ACA4-303CC188359F}"/>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26" name="Group 282">
                <a:extLst>
                  <a:ext uri="{FF2B5EF4-FFF2-40B4-BE49-F238E27FC236}">
                    <a16:creationId xmlns:a16="http://schemas.microsoft.com/office/drawing/2014/main" id="{D16D7351-4450-4F4D-9E91-1750992E38B5}"/>
                  </a:ext>
                </a:extLst>
              </p:cNvPr>
              <p:cNvGrpSpPr>
                <a:grpSpLocks/>
              </p:cNvGrpSpPr>
              <p:nvPr/>
            </p:nvGrpSpPr>
            <p:grpSpPr bwMode="auto">
              <a:xfrm>
                <a:off x="3168" y="1968"/>
                <a:ext cx="192" cy="192"/>
                <a:chOff x="2016" y="1776"/>
                <a:chExt cx="192" cy="192"/>
              </a:xfrm>
            </p:grpSpPr>
            <p:sp>
              <p:nvSpPr>
                <p:cNvPr id="67945" name="Rectangle 283">
                  <a:extLst>
                    <a:ext uri="{FF2B5EF4-FFF2-40B4-BE49-F238E27FC236}">
                      <a16:creationId xmlns:a16="http://schemas.microsoft.com/office/drawing/2014/main" id="{A7C90F9F-7332-A942-B009-4892368F0082}"/>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46" name="Freeform 284">
                  <a:extLst>
                    <a:ext uri="{FF2B5EF4-FFF2-40B4-BE49-F238E27FC236}">
                      <a16:creationId xmlns:a16="http://schemas.microsoft.com/office/drawing/2014/main" id="{FE4D34D0-A5BF-1841-A157-78823E701270}"/>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27" name="Group 285">
                <a:extLst>
                  <a:ext uri="{FF2B5EF4-FFF2-40B4-BE49-F238E27FC236}">
                    <a16:creationId xmlns:a16="http://schemas.microsoft.com/office/drawing/2014/main" id="{E8C34E57-C4DD-8C4D-87F1-02D99206AD29}"/>
                  </a:ext>
                </a:extLst>
              </p:cNvPr>
              <p:cNvGrpSpPr>
                <a:grpSpLocks/>
              </p:cNvGrpSpPr>
              <p:nvPr/>
            </p:nvGrpSpPr>
            <p:grpSpPr bwMode="auto">
              <a:xfrm>
                <a:off x="3168" y="2160"/>
                <a:ext cx="192" cy="192"/>
                <a:chOff x="2016" y="1776"/>
                <a:chExt cx="192" cy="192"/>
              </a:xfrm>
            </p:grpSpPr>
            <p:sp>
              <p:nvSpPr>
                <p:cNvPr id="67943" name="Rectangle 286">
                  <a:extLst>
                    <a:ext uri="{FF2B5EF4-FFF2-40B4-BE49-F238E27FC236}">
                      <a16:creationId xmlns:a16="http://schemas.microsoft.com/office/drawing/2014/main" id="{9C049981-D70C-F849-8DC1-FEC4D882363F}"/>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44" name="Freeform 287">
                  <a:extLst>
                    <a:ext uri="{FF2B5EF4-FFF2-40B4-BE49-F238E27FC236}">
                      <a16:creationId xmlns:a16="http://schemas.microsoft.com/office/drawing/2014/main" id="{9B81F35A-2639-D747-8988-6F9CECC57484}"/>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28" name="Group 288">
                <a:extLst>
                  <a:ext uri="{FF2B5EF4-FFF2-40B4-BE49-F238E27FC236}">
                    <a16:creationId xmlns:a16="http://schemas.microsoft.com/office/drawing/2014/main" id="{81D19987-D796-3E40-A85B-834B92062F6A}"/>
                  </a:ext>
                </a:extLst>
              </p:cNvPr>
              <p:cNvGrpSpPr>
                <a:grpSpLocks/>
              </p:cNvGrpSpPr>
              <p:nvPr/>
            </p:nvGrpSpPr>
            <p:grpSpPr bwMode="auto">
              <a:xfrm>
                <a:off x="3168" y="2352"/>
                <a:ext cx="192" cy="192"/>
                <a:chOff x="2016" y="1776"/>
                <a:chExt cx="192" cy="192"/>
              </a:xfrm>
            </p:grpSpPr>
            <p:sp>
              <p:nvSpPr>
                <p:cNvPr id="67941" name="Rectangle 289">
                  <a:extLst>
                    <a:ext uri="{FF2B5EF4-FFF2-40B4-BE49-F238E27FC236}">
                      <a16:creationId xmlns:a16="http://schemas.microsoft.com/office/drawing/2014/main" id="{0631C6E0-24A5-864F-96AB-4B2AD1E8F817}"/>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42" name="Freeform 290">
                  <a:extLst>
                    <a:ext uri="{FF2B5EF4-FFF2-40B4-BE49-F238E27FC236}">
                      <a16:creationId xmlns:a16="http://schemas.microsoft.com/office/drawing/2014/main" id="{11F252F7-A911-2E47-B8F1-0ED8A953F4D2}"/>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29" name="Group 291">
                <a:extLst>
                  <a:ext uri="{FF2B5EF4-FFF2-40B4-BE49-F238E27FC236}">
                    <a16:creationId xmlns:a16="http://schemas.microsoft.com/office/drawing/2014/main" id="{BD6F44D5-8060-DF47-8AFE-75C1DD0F2BCE}"/>
                  </a:ext>
                </a:extLst>
              </p:cNvPr>
              <p:cNvGrpSpPr>
                <a:grpSpLocks/>
              </p:cNvGrpSpPr>
              <p:nvPr/>
            </p:nvGrpSpPr>
            <p:grpSpPr bwMode="auto">
              <a:xfrm>
                <a:off x="3360" y="1776"/>
                <a:ext cx="192" cy="192"/>
                <a:chOff x="2016" y="1776"/>
                <a:chExt cx="192" cy="192"/>
              </a:xfrm>
            </p:grpSpPr>
            <p:sp>
              <p:nvSpPr>
                <p:cNvPr id="67939" name="Rectangle 292">
                  <a:extLst>
                    <a:ext uri="{FF2B5EF4-FFF2-40B4-BE49-F238E27FC236}">
                      <a16:creationId xmlns:a16="http://schemas.microsoft.com/office/drawing/2014/main" id="{26FE4EE3-5EE2-474E-BDB1-5F6A268F66B4}"/>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40" name="Freeform 293">
                  <a:extLst>
                    <a:ext uri="{FF2B5EF4-FFF2-40B4-BE49-F238E27FC236}">
                      <a16:creationId xmlns:a16="http://schemas.microsoft.com/office/drawing/2014/main" id="{27805B64-DEE6-9345-9940-88C384B075C6}"/>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30" name="Group 294">
                <a:extLst>
                  <a:ext uri="{FF2B5EF4-FFF2-40B4-BE49-F238E27FC236}">
                    <a16:creationId xmlns:a16="http://schemas.microsoft.com/office/drawing/2014/main" id="{33AD7058-EC0A-9F45-B48C-521A25022B2B}"/>
                  </a:ext>
                </a:extLst>
              </p:cNvPr>
              <p:cNvGrpSpPr>
                <a:grpSpLocks/>
              </p:cNvGrpSpPr>
              <p:nvPr/>
            </p:nvGrpSpPr>
            <p:grpSpPr bwMode="auto">
              <a:xfrm>
                <a:off x="3360" y="1968"/>
                <a:ext cx="192" cy="192"/>
                <a:chOff x="2016" y="1776"/>
                <a:chExt cx="192" cy="192"/>
              </a:xfrm>
            </p:grpSpPr>
            <p:sp>
              <p:nvSpPr>
                <p:cNvPr id="67937" name="Rectangle 295">
                  <a:extLst>
                    <a:ext uri="{FF2B5EF4-FFF2-40B4-BE49-F238E27FC236}">
                      <a16:creationId xmlns:a16="http://schemas.microsoft.com/office/drawing/2014/main" id="{16F369B9-619D-C64F-95DF-E98EA2E2E49F}"/>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38" name="Freeform 296">
                  <a:extLst>
                    <a:ext uri="{FF2B5EF4-FFF2-40B4-BE49-F238E27FC236}">
                      <a16:creationId xmlns:a16="http://schemas.microsoft.com/office/drawing/2014/main" id="{ACE8ACD5-CFA7-234C-BF4C-B56A3BF724F5}"/>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31" name="Group 297">
                <a:extLst>
                  <a:ext uri="{FF2B5EF4-FFF2-40B4-BE49-F238E27FC236}">
                    <a16:creationId xmlns:a16="http://schemas.microsoft.com/office/drawing/2014/main" id="{A64C15B4-6C70-3249-BBB1-733DD7320A21}"/>
                  </a:ext>
                </a:extLst>
              </p:cNvPr>
              <p:cNvGrpSpPr>
                <a:grpSpLocks/>
              </p:cNvGrpSpPr>
              <p:nvPr/>
            </p:nvGrpSpPr>
            <p:grpSpPr bwMode="auto">
              <a:xfrm>
                <a:off x="3360" y="2160"/>
                <a:ext cx="192" cy="192"/>
                <a:chOff x="2016" y="1776"/>
                <a:chExt cx="192" cy="192"/>
              </a:xfrm>
            </p:grpSpPr>
            <p:sp>
              <p:nvSpPr>
                <p:cNvPr id="67935" name="Rectangle 298">
                  <a:extLst>
                    <a:ext uri="{FF2B5EF4-FFF2-40B4-BE49-F238E27FC236}">
                      <a16:creationId xmlns:a16="http://schemas.microsoft.com/office/drawing/2014/main" id="{84547CC5-64E5-804B-9DFB-3271E860FC58}"/>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36" name="Freeform 299">
                  <a:extLst>
                    <a:ext uri="{FF2B5EF4-FFF2-40B4-BE49-F238E27FC236}">
                      <a16:creationId xmlns:a16="http://schemas.microsoft.com/office/drawing/2014/main" id="{771CCF7C-63D0-B64A-9B89-86F1D75B9C34}"/>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932" name="Group 300">
                <a:extLst>
                  <a:ext uri="{FF2B5EF4-FFF2-40B4-BE49-F238E27FC236}">
                    <a16:creationId xmlns:a16="http://schemas.microsoft.com/office/drawing/2014/main" id="{71FCE8C6-9068-874A-AB2C-E3F89D93E702}"/>
                  </a:ext>
                </a:extLst>
              </p:cNvPr>
              <p:cNvGrpSpPr>
                <a:grpSpLocks/>
              </p:cNvGrpSpPr>
              <p:nvPr/>
            </p:nvGrpSpPr>
            <p:grpSpPr bwMode="auto">
              <a:xfrm>
                <a:off x="3360" y="2352"/>
                <a:ext cx="192" cy="192"/>
                <a:chOff x="2016" y="1776"/>
                <a:chExt cx="192" cy="192"/>
              </a:xfrm>
            </p:grpSpPr>
            <p:sp>
              <p:nvSpPr>
                <p:cNvPr id="67933" name="Rectangle 301">
                  <a:extLst>
                    <a:ext uri="{FF2B5EF4-FFF2-40B4-BE49-F238E27FC236}">
                      <a16:creationId xmlns:a16="http://schemas.microsoft.com/office/drawing/2014/main" id="{2BA53819-40CB-D645-AC2C-BB266450DE2E}"/>
                    </a:ext>
                  </a:extLst>
                </p:cNvPr>
                <p:cNvSpPr>
                  <a:spLocks noChangeArrowheads="1"/>
                </p:cNvSpPr>
                <p:nvPr/>
              </p:nvSpPr>
              <p:spPr bwMode="auto">
                <a:xfrm>
                  <a:off x="2016" y="177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934" name="Freeform 302">
                  <a:extLst>
                    <a:ext uri="{FF2B5EF4-FFF2-40B4-BE49-F238E27FC236}">
                      <a16:creationId xmlns:a16="http://schemas.microsoft.com/office/drawing/2014/main" id="{312F6456-FF2F-3848-9F08-A9A52D857356}"/>
                    </a:ext>
                  </a:extLst>
                </p:cNvPr>
                <p:cNvSpPr>
                  <a:spLocks/>
                </p:cNvSpPr>
                <p:nvPr/>
              </p:nvSpPr>
              <p:spPr bwMode="auto">
                <a:xfrm>
                  <a:off x="2064" y="1824"/>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chemeClr val="hlink"/>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67899" name="AutoShape 303">
              <a:extLst>
                <a:ext uri="{FF2B5EF4-FFF2-40B4-BE49-F238E27FC236}">
                  <a16:creationId xmlns:a16="http://schemas.microsoft.com/office/drawing/2014/main" id="{DE4BEDC8-E4A0-E64E-A9E1-96858522964D}"/>
                </a:ext>
              </a:extLst>
            </p:cNvPr>
            <p:cNvSpPr>
              <a:spLocks noChangeArrowheads="1"/>
            </p:cNvSpPr>
            <p:nvPr/>
          </p:nvSpPr>
          <p:spPr bwMode="auto">
            <a:xfrm>
              <a:off x="2016" y="1537"/>
              <a:ext cx="481" cy="462"/>
            </a:xfrm>
            <a:prstGeom prst="rightArrow">
              <a:avLst>
                <a:gd name="adj1" fmla="val 50000"/>
                <a:gd name="adj2" fmla="val 28028"/>
              </a:avLst>
            </a:prstGeom>
            <a:solidFill>
              <a:schemeClr val="bg1"/>
            </a:solidFill>
            <a:ln w="38100">
              <a:solidFill>
                <a:schemeClr val="tx1"/>
              </a:solidFill>
              <a:miter lim="800000"/>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W1</a:t>
              </a:r>
            </a:p>
          </p:txBody>
        </p:sp>
      </p:grpSp>
      <p:grpSp>
        <p:nvGrpSpPr>
          <p:cNvPr id="43627" name="Group 304">
            <a:extLst>
              <a:ext uri="{FF2B5EF4-FFF2-40B4-BE49-F238E27FC236}">
                <a16:creationId xmlns:a16="http://schemas.microsoft.com/office/drawing/2014/main" id="{1720FC6E-3281-DA4B-A526-D1E9F031C6BF}"/>
              </a:ext>
            </a:extLst>
          </p:cNvPr>
          <p:cNvGrpSpPr>
            <a:grpSpLocks/>
          </p:cNvGrpSpPr>
          <p:nvPr/>
        </p:nvGrpSpPr>
        <p:grpSpPr bwMode="auto">
          <a:xfrm>
            <a:off x="3200400" y="3894138"/>
            <a:ext cx="3200400" cy="1598612"/>
            <a:chOff x="2016" y="2305"/>
            <a:chExt cx="2016" cy="1007"/>
          </a:xfrm>
        </p:grpSpPr>
        <p:grpSp>
          <p:nvGrpSpPr>
            <p:cNvPr id="67799" name="Group 305">
              <a:extLst>
                <a:ext uri="{FF2B5EF4-FFF2-40B4-BE49-F238E27FC236}">
                  <a16:creationId xmlns:a16="http://schemas.microsoft.com/office/drawing/2014/main" id="{F338B89C-FF0C-C249-80FA-AF1AD6541D4B}"/>
                </a:ext>
              </a:extLst>
            </p:cNvPr>
            <p:cNvGrpSpPr>
              <a:grpSpLocks/>
            </p:cNvGrpSpPr>
            <p:nvPr/>
          </p:nvGrpSpPr>
          <p:grpSpPr bwMode="auto">
            <a:xfrm>
              <a:off x="2496" y="2544"/>
              <a:ext cx="1536" cy="768"/>
              <a:chOff x="2016" y="2544"/>
              <a:chExt cx="1536" cy="768"/>
            </a:xfrm>
          </p:grpSpPr>
          <p:grpSp>
            <p:nvGrpSpPr>
              <p:cNvPr id="67801" name="Group 306">
                <a:extLst>
                  <a:ext uri="{FF2B5EF4-FFF2-40B4-BE49-F238E27FC236}">
                    <a16:creationId xmlns:a16="http://schemas.microsoft.com/office/drawing/2014/main" id="{44FBFD43-EFF1-3447-9630-2F57D5A489EB}"/>
                  </a:ext>
                </a:extLst>
              </p:cNvPr>
              <p:cNvGrpSpPr>
                <a:grpSpLocks/>
              </p:cNvGrpSpPr>
              <p:nvPr/>
            </p:nvGrpSpPr>
            <p:grpSpPr bwMode="auto">
              <a:xfrm>
                <a:off x="2016" y="2544"/>
                <a:ext cx="192" cy="192"/>
                <a:chOff x="2016" y="2544"/>
                <a:chExt cx="192" cy="192"/>
              </a:xfrm>
            </p:grpSpPr>
            <p:sp>
              <p:nvSpPr>
                <p:cNvPr id="67896" name="Rectangle 307">
                  <a:extLst>
                    <a:ext uri="{FF2B5EF4-FFF2-40B4-BE49-F238E27FC236}">
                      <a16:creationId xmlns:a16="http://schemas.microsoft.com/office/drawing/2014/main" id="{03B962E8-F5F2-3E4D-827F-0170F239F139}"/>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97" name="Freeform 308">
                  <a:extLst>
                    <a:ext uri="{FF2B5EF4-FFF2-40B4-BE49-F238E27FC236}">
                      <a16:creationId xmlns:a16="http://schemas.microsoft.com/office/drawing/2014/main" id="{7DDFDE0A-9CFF-8545-9203-4D6B155AE646}"/>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67802" name="Rectangle 309">
                <a:extLst>
                  <a:ext uri="{FF2B5EF4-FFF2-40B4-BE49-F238E27FC236}">
                    <a16:creationId xmlns:a16="http://schemas.microsoft.com/office/drawing/2014/main" id="{32B6E524-8628-B74D-93B4-5FF1E8C0CE05}"/>
                  </a:ext>
                </a:extLst>
              </p:cNvPr>
              <p:cNvSpPr>
                <a:spLocks noChangeArrowheads="1"/>
              </p:cNvSpPr>
              <p:nvPr/>
            </p:nvSpPr>
            <p:spPr bwMode="auto">
              <a:xfrm>
                <a:off x="2016" y="2544"/>
                <a:ext cx="1536" cy="768"/>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67803" name="Group 310">
                <a:extLst>
                  <a:ext uri="{FF2B5EF4-FFF2-40B4-BE49-F238E27FC236}">
                    <a16:creationId xmlns:a16="http://schemas.microsoft.com/office/drawing/2014/main" id="{40DC9C30-78E8-FF4F-AA54-9B89EFFFE51F}"/>
                  </a:ext>
                </a:extLst>
              </p:cNvPr>
              <p:cNvGrpSpPr>
                <a:grpSpLocks/>
              </p:cNvGrpSpPr>
              <p:nvPr/>
            </p:nvGrpSpPr>
            <p:grpSpPr bwMode="auto">
              <a:xfrm>
                <a:off x="2016" y="2736"/>
                <a:ext cx="192" cy="192"/>
                <a:chOff x="2016" y="2544"/>
                <a:chExt cx="192" cy="192"/>
              </a:xfrm>
            </p:grpSpPr>
            <p:sp>
              <p:nvSpPr>
                <p:cNvPr id="67894" name="Rectangle 311">
                  <a:extLst>
                    <a:ext uri="{FF2B5EF4-FFF2-40B4-BE49-F238E27FC236}">
                      <a16:creationId xmlns:a16="http://schemas.microsoft.com/office/drawing/2014/main" id="{DFEC9698-A703-7E44-BF84-8C0A344B1631}"/>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95" name="Freeform 312">
                  <a:extLst>
                    <a:ext uri="{FF2B5EF4-FFF2-40B4-BE49-F238E27FC236}">
                      <a16:creationId xmlns:a16="http://schemas.microsoft.com/office/drawing/2014/main" id="{29A3F2E7-9E79-5440-AA80-3EE49B300B7A}"/>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04" name="Group 313">
                <a:extLst>
                  <a:ext uri="{FF2B5EF4-FFF2-40B4-BE49-F238E27FC236}">
                    <a16:creationId xmlns:a16="http://schemas.microsoft.com/office/drawing/2014/main" id="{FC1FD171-E510-FE42-8FDC-7484A39F4C8B}"/>
                  </a:ext>
                </a:extLst>
              </p:cNvPr>
              <p:cNvGrpSpPr>
                <a:grpSpLocks/>
              </p:cNvGrpSpPr>
              <p:nvPr/>
            </p:nvGrpSpPr>
            <p:grpSpPr bwMode="auto">
              <a:xfrm>
                <a:off x="2016" y="2928"/>
                <a:ext cx="192" cy="192"/>
                <a:chOff x="2016" y="2544"/>
                <a:chExt cx="192" cy="192"/>
              </a:xfrm>
            </p:grpSpPr>
            <p:sp>
              <p:nvSpPr>
                <p:cNvPr id="67892" name="Rectangle 314">
                  <a:extLst>
                    <a:ext uri="{FF2B5EF4-FFF2-40B4-BE49-F238E27FC236}">
                      <a16:creationId xmlns:a16="http://schemas.microsoft.com/office/drawing/2014/main" id="{81824630-C1C4-2C40-8DD4-01D26E7D4DCA}"/>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93" name="Freeform 315">
                  <a:extLst>
                    <a:ext uri="{FF2B5EF4-FFF2-40B4-BE49-F238E27FC236}">
                      <a16:creationId xmlns:a16="http://schemas.microsoft.com/office/drawing/2014/main" id="{D0D1E15E-C51D-6340-A2C9-9BA0FE94C7DC}"/>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05" name="Group 316">
                <a:extLst>
                  <a:ext uri="{FF2B5EF4-FFF2-40B4-BE49-F238E27FC236}">
                    <a16:creationId xmlns:a16="http://schemas.microsoft.com/office/drawing/2014/main" id="{1DA2C50F-1C7E-AE43-95FE-6BC98B1707FE}"/>
                  </a:ext>
                </a:extLst>
              </p:cNvPr>
              <p:cNvGrpSpPr>
                <a:grpSpLocks/>
              </p:cNvGrpSpPr>
              <p:nvPr/>
            </p:nvGrpSpPr>
            <p:grpSpPr bwMode="auto">
              <a:xfrm>
                <a:off x="2016" y="3120"/>
                <a:ext cx="192" cy="192"/>
                <a:chOff x="2016" y="2544"/>
                <a:chExt cx="192" cy="192"/>
              </a:xfrm>
            </p:grpSpPr>
            <p:sp>
              <p:nvSpPr>
                <p:cNvPr id="67890" name="Rectangle 317">
                  <a:extLst>
                    <a:ext uri="{FF2B5EF4-FFF2-40B4-BE49-F238E27FC236}">
                      <a16:creationId xmlns:a16="http://schemas.microsoft.com/office/drawing/2014/main" id="{2F38C94F-44BB-DB46-9D65-211745B65A29}"/>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91" name="Freeform 318">
                  <a:extLst>
                    <a:ext uri="{FF2B5EF4-FFF2-40B4-BE49-F238E27FC236}">
                      <a16:creationId xmlns:a16="http://schemas.microsoft.com/office/drawing/2014/main" id="{5B7E90F4-51CB-AA46-865C-082AAAA338D2}"/>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06" name="Group 319">
                <a:extLst>
                  <a:ext uri="{FF2B5EF4-FFF2-40B4-BE49-F238E27FC236}">
                    <a16:creationId xmlns:a16="http://schemas.microsoft.com/office/drawing/2014/main" id="{9F573C05-BAA0-3B41-A7D4-A22372E3BC56}"/>
                  </a:ext>
                </a:extLst>
              </p:cNvPr>
              <p:cNvGrpSpPr>
                <a:grpSpLocks/>
              </p:cNvGrpSpPr>
              <p:nvPr/>
            </p:nvGrpSpPr>
            <p:grpSpPr bwMode="auto">
              <a:xfrm>
                <a:off x="2208" y="2544"/>
                <a:ext cx="192" cy="192"/>
                <a:chOff x="2016" y="2544"/>
                <a:chExt cx="192" cy="192"/>
              </a:xfrm>
            </p:grpSpPr>
            <p:sp>
              <p:nvSpPr>
                <p:cNvPr id="67888" name="Rectangle 320">
                  <a:extLst>
                    <a:ext uri="{FF2B5EF4-FFF2-40B4-BE49-F238E27FC236}">
                      <a16:creationId xmlns:a16="http://schemas.microsoft.com/office/drawing/2014/main" id="{66FCAE52-DB1A-074E-BBFC-D5CAE00BEB9B}"/>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89" name="Freeform 321">
                  <a:extLst>
                    <a:ext uri="{FF2B5EF4-FFF2-40B4-BE49-F238E27FC236}">
                      <a16:creationId xmlns:a16="http://schemas.microsoft.com/office/drawing/2014/main" id="{CD5F5CB8-B2DB-8C42-989F-03CFB1C92349}"/>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07" name="Group 322">
                <a:extLst>
                  <a:ext uri="{FF2B5EF4-FFF2-40B4-BE49-F238E27FC236}">
                    <a16:creationId xmlns:a16="http://schemas.microsoft.com/office/drawing/2014/main" id="{346F2F04-7F5C-2D45-A574-06CEA10B17C7}"/>
                  </a:ext>
                </a:extLst>
              </p:cNvPr>
              <p:cNvGrpSpPr>
                <a:grpSpLocks/>
              </p:cNvGrpSpPr>
              <p:nvPr/>
            </p:nvGrpSpPr>
            <p:grpSpPr bwMode="auto">
              <a:xfrm>
                <a:off x="2208" y="2736"/>
                <a:ext cx="192" cy="192"/>
                <a:chOff x="2016" y="2544"/>
                <a:chExt cx="192" cy="192"/>
              </a:xfrm>
            </p:grpSpPr>
            <p:sp>
              <p:nvSpPr>
                <p:cNvPr id="67886" name="Rectangle 323">
                  <a:extLst>
                    <a:ext uri="{FF2B5EF4-FFF2-40B4-BE49-F238E27FC236}">
                      <a16:creationId xmlns:a16="http://schemas.microsoft.com/office/drawing/2014/main" id="{43A6EAA4-4484-404E-88FC-434F2E226ED5}"/>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87" name="Freeform 324">
                  <a:extLst>
                    <a:ext uri="{FF2B5EF4-FFF2-40B4-BE49-F238E27FC236}">
                      <a16:creationId xmlns:a16="http://schemas.microsoft.com/office/drawing/2014/main" id="{D0305A60-7A17-B14D-9A61-92D41BA3FF14}"/>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08" name="Group 325">
                <a:extLst>
                  <a:ext uri="{FF2B5EF4-FFF2-40B4-BE49-F238E27FC236}">
                    <a16:creationId xmlns:a16="http://schemas.microsoft.com/office/drawing/2014/main" id="{5B3CB7F0-D9AD-A24E-9341-D4AEB0B70393}"/>
                  </a:ext>
                </a:extLst>
              </p:cNvPr>
              <p:cNvGrpSpPr>
                <a:grpSpLocks/>
              </p:cNvGrpSpPr>
              <p:nvPr/>
            </p:nvGrpSpPr>
            <p:grpSpPr bwMode="auto">
              <a:xfrm>
                <a:off x="2208" y="2928"/>
                <a:ext cx="192" cy="192"/>
                <a:chOff x="2016" y="2544"/>
                <a:chExt cx="192" cy="192"/>
              </a:xfrm>
            </p:grpSpPr>
            <p:sp>
              <p:nvSpPr>
                <p:cNvPr id="67884" name="Rectangle 326">
                  <a:extLst>
                    <a:ext uri="{FF2B5EF4-FFF2-40B4-BE49-F238E27FC236}">
                      <a16:creationId xmlns:a16="http://schemas.microsoft.com/office/drawing/2014/main" id="{EBA23549-FE2B-5E40-93DF-18B6EBB34FF2}"/>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85" name="Freeform 327">
                  <a:extLst>
                    <a:ext uri="{FF2B5EF4-FFF2-40B4-BE49-F238E27FC236}">
                      <a16:creationId xmlns:a16="http://schemas.microsoft.com/office/drawing/2014/main" id="{BE552033-7070-734C-888C-D3AB30E555CF}"/>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09" name="Group 328">
                <a:extLst>
                  <a:ext uri="{FF2B5EF4-FFF2-40B4-BE49-F238E27FC236}">
                    <a16:creationId xmlns:a16="http://schemas.microsoft.com/office/drawing/2014/main" id="{82D48174-B5D9-904B-9CF0-7C7F20D0F73C}"/>
                  </a:ext>
                </a:extLst>
              </p:cNvPr>
              <p:cNvGrpSpPr>
                <a:grpSpLocks/>
              </p:cNvGrpSpPr>
              <p:nvPr/>
            </p:nvGrpSpPr>
            <p:grpSpPr bwMode="auto">
              <a:xfrm>
                <a:off x="2208" y="3120"/>
                <a:ext cx="192" cy="192"/>
                <a:chOff x="2016" y="2544"/>
                <a:chExt cx="192" cy="192"/>
              </a:xfrm>
            </p:grpSpPr>
            <p:sp>
              <p:nvSpPr>
                <p:cNvPr id="67882" name="Rectangle 329">
                  <a:extLst>
                    <a:ext uri="{FF2B5EF4-FFF2-40B4-BE49-F238E27FC236}">
                      <a16:creationId xmlns:a16="http://schemas.microsoft.com/office/drawing/2014/main" id="{EAF7D384-6713-1A42-9C97-43BDC3F56873}"/>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83" name="Freeform 330">
                  <a:extLst>
                    <a:ext uri="{FF2B5EF4-FFF2-40B4-BE49-F238E27FC236}">
                      <a16:creationId xmlns:a16="http://schemas.microsoft.com/office/drawing/2014/main" id="{DB96D962-DD35-F049-9B52-FDE91433F4E5}"/>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10" name="Group 331">
                <a:extLst>
                  <a:ext uri="{FF2B5EF4-FFF2-40B4-BE49-F238E27FC236}">
                    <a16:creationId xmlns:a16="http://schemas.microsoft.com/office/drawing/2014/main" id="{00B7CF90-D1B9-6D4A-9BB0-B304F758FB53}"/>
                  </a:ext>
                </a:extLst>
              </p:cNvPr>
              <p:cNvGrpSpPr>
                <a:grpSpLocks/>
              </p:cNvGrpSpPr>
              <p:nvPr/>
            </p:nvGrpSpPr>
            <p:grpSpPr bwMode="auto">
              <a:xfrm>
                <a:off x="2400" y="2544"/>
                <a:ext cx="192" cy="192"/>
                <a:chOff x="2016" y="2544"/>
                <a:chExt cx="192" cy="192"/>
              </a:xfrm>
            </p:grpSpPr>
            <p:sp>
              <p:nvSpPr>
                <p:cNvPr id="67880" name="Rectangle 332">
                  <a:extLst>
                    <a:ext uri="{FF2B5EF4-FFF2-40B4-BE49-F238E27FC236}">
                      <a16:creationId xmlns:a16="http://schemas.microsoft.com/office/drawing/2014/main" id="{A87B4F16-161D-D541-992C-5D5603A10D0A}"/>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81" name="Freeform 333">
                  <a:extLst>
                    <a:ext uri="{FF2B5EF4-FFF2-40B4-BE49-F238E27FC236}">
                      <a16:creationId xmlns:a16="http://schemas.microsoft.com/office/drawing/2014/main" id="{ACFD6D7B-ACF9-1E4A-B916-0AE73F1D423F}"/>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11" name="Group 334">
                <a:extLst>
                  <a:ext uri="{FF2B5EF4-FFF2-40B4-BE49-F238E27FC236}">
                    <a16:creationId xmlns:a16="http://schemas.microsoft.com/office/drawing/2014/main" id="{F49F6C11-9D82-E746-99F4-E43B8303A60F}"/>
                  </a:ext>
                </a:extLst>
              </p:cNvPr>
              <p:cNvGrpSpPr>
                <a:grpSpLocks/>
              </p:cNvGrpSpPr>
              <p:nvPr/>
            </p:nvGrpSpPr>
            <p:grpSpPr bwMode="auto">
              <a:xfrm>
                <a:off x="2400" y="2736"/>
                <a:ext cx="192" cy="192"/>
                <a:chOff x="2016" y="2544"/>
                <a:chExt cx="192" cy="192"/>
              </a:xfrm>
            </p:grpSpPr>
            <p:sp>
              <p:nvSpPr>
                <p:cNvPr id="67878" name="Rectangle 335">
                  <a:extLst>
                    <a:ext uri="{FF2B5EF4-FFF2-40B4-BE49-F238E27FC236}">
                      <a16:creationId xmlns:a16="http://schemas.microsoft.com/office/drawing/2014/main" id="{A00ACF73-0F7B-4543-A322-F6836236DCED}"/>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79" name="Freeform 336">
                  <a:extLst>
                    <a:ext uri="{FF2B5EF4-FFF2-40B4-BE49-F238E27FC236}">
                      <a16:creationId xmlns:a16="http://schemas.microsoft.com/office/drawing/2014/main" id="{78CCCEF5-F18F-1841-BF69-0227CAB29A60}"/>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12" name="Group 337">
                <a:extLst>
                  <a:ext uri="{FF2B5EF4-FFF2-40B4-BE49-F238E27FC236}">
                    <a16:creationId xmlns:a16="http://schemas.microsoft.com/office/drawing/2014/main" id="{A1EC8CAB-C903-6C48-A97F-50CCE1AC3EF8}"/>
                  </a:ext>
                </a:extLst>
              </p:cNvPr>
              <p:cNvGrpSpPr>
                <a:grpSpLocks/>
              </p:cNvGrpSpPr>
              <p:nvPr/>
            </p:nvGrpSpPr>
            <p:grpSpPr bwMode="auto">
              <a:xfrm>
                <a:off x="2400" y="2928"/>
                <a:ext cx="192" cy="192"/>
                <a:chOff x="2016" y="2544"/>
                <a:chExt cx="192" cy="192"/>
              </a:xfrm>
            </p:grpSpPr>
            <p:sp>
              <p:nvSpPr>
                <p:cNvPr id="67876" name="Rectangle 338">
                  <a:extLst>
                    <a:ext uri="{FF2B5EF4-FFF2-40B4-BE49-F238E27FC236}">
                      <a16:creationId xmlns:a16="http://schemas.microsoft.com/office/drawing/2014/main" id="{E808B3B2-42A6-3148-A38A-7D5FF4DE4F70}"/>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77" name="Freeform 339">
                  <a:extLst>
                    <a:ext uri="{FF2B5EF4-FFF2-40B4-BE49-F238E27FC236}">
                      <a16:creationId xmlns:a16="http://schemas.microsoft.com/office/drawing/2014/main" id="{3AB59AE9-021D-1E4C-9A9C-F3148CE9F24E}"/>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13" name="Group 340">
                <a:extLst>
                  <a:ext uri="{FF2B5EF4-FFF2-40B4-BE49-F238E27FC236}">
                    <a16:creationId xmlns:a16="http://schemas.microsoft.com/office/drawing/2014/main" id="{202FCA25-BF67-2E40-9F49-74C9D34E3453}"/>
                  </a:ext>
                </a:extLst>
              </p:cNvPr>
              <p:cNvGrpSpPr>
                <a:grpSpLocks/>
              </p:cNvGrpSpPr>
              <p:nvPr/>
            </p:nvGrpSpPr>
            <p:grpSpPr bwMode="auto">
              <a:xfrm>
                <a:off x="2400" y="3120"/>
                <a:ext cx="192" cy="192"/>
                <a:chOff x="2016" y="2544"/>
                <a:chExt cx="192" cy="192"/>
              </a:xfrm>
            </p:grpSpPr>
            <p:sp>
              <p:nvSpPr>
                <p:cNvPr id="67874" name="Rectangle 341">
                  <a:extLst>
                    <a:ext uri="{FF2B5EF4-FFF2-40B4-BE49-F238E27FC236}">
                      <a16:creationId xmlns:a16="http://schemas.microsoft.com/office/drawing/2014/main" id="{8D9DF084-E7BD-7C42-841F-36A653667EA7}"/>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75" name="Freeform 342">
                  <a:extLst>
                    <a:ext uri="{FF2B5EF4-FFF2-40B4-BE49-F238E27FC236}">
                      <a16:creationId xmlns:a16="http://schemas.microsoft.com/office/drawing/2014/main" id="{97DA1E7B-CDD2-4C42-A97C-631CDF4973EB}"/>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14" name="Group 343">
                <a:extLst>
                  <a:ext uri="{FF2B5EF4-FFF2-40B4-BE49-F238E27FC236}">
                    <a16:creationId xmlns:a16="http://schemas.microsoft.com/office/drawing/2014/main" id="{F95DCA17-F813-2149-8535-453A19794A52}"/>
                  </a:ext>
                </a:extLst>
              </p:cNvPr>
              <p:cNvGrpSpPr>
                <a:grpSpLocks/>
              </p:cNvGrpSpPr>
              <p:nvPr/>
            </p:nvGrpSpPr>
            <p:grpSpPr bwMode="auto">
              <a:xfrm>
                <a:off x="2592" y="2544"/>
                <a:ext cx="192" cy="192"/>
                <a:chOff x="2016" y="2544"/>
                <a:chExt cx="192" cy="192"/>
              </a:xfrm>
            </p:grpSpPr>
            <p:sp>
              <p:nvSpPr>
                <p:cNvPr id="67872" name="Rectangle 344">
                  <a:extLst>
                    <a:ext uri="{FF2B5EF4-FFF2-40B4-BE49-F238E27FC236}">
                      <a16:creationId xmlns:a16="http://schemas.microsoft.com/office/drawing/2014/main" id="{6F29F3D8-9BA3-B842-933F-483EB032CEE0}"/>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73" name="Freeform 345">
                  <a:extLst>
                    <a:ext uri="{FF2B5EF4-FFF2-40B4-BE49-F238E27FC236}">
                      <a16:creationId xmlns:a16="http://schemas.microsoft.com/office/drawing/2014/main" id="{449882E6-793C-EB45-B821-4DD9849DDA15}"/>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15" name="Group 346">
                <a:extLst>
                  <a:ext uri="{FF2B5EF4-FFF2-40B4-BE49-F238E27FC236}">
                    <a16:creationId xmlns:a16="http://schemas.microsoft.com/office/drawing/2014/main" id="{58040DF0-81F7-8A4D-8AF0-40D279823365}"/>
                  </a:ext>
                </a:extLst>
              </p:cNvPr>
              <p:cNvGrpSpPr>
                <a:grpSpLocks/>
              </p:cNvGrpSpPr>
              <p:nvPr/>
            </p:nvGrpSpPr>
            <p:grpSpPr bwMode="auto">
              <a:xfrm>
                <a:off x="2592" y="2736"/>
                <a:ext cx="192" cy="192"/>
                <a:chOff x="2016" y="2544"/>
                <a:chExt cx="192" cy="192"/>
              </a:xfrm>
            </p:grpSpPr>
            <p:sp>
              <p:nvSpPr>
                <p:cNvPr id="67870" name="Rectangle 347">
                  <a:extLst>
                    <a:ext uri="{FF2B5EF4-FFF2-40B4-BE49-F238E27FC236}">
                      <a16:creationId xmlns:a16="http://schemas.microsoft.com/office/drawing/2014/main" id="{94BAB288-26EB-2741-A77A-EB7FE0BF577E}"/>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71" name="Freeform 348">
                  <a:extLst>
                    <a:ext uri="{FF2B5EF4-FFF2-40B4-BE49-F238E27FC236}">
                      <a16:creationId xmlns:a16="http://schemas.microsoft.com/office/drawing/2014/main" id="{B6E73DBD-6919-364D-9667-2321A67879F8}"/>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16" name="Group 349">
                <a:extLst>
                  <a:ext uri="{FF2B5EF4-FFF2-40B4-BE49-F238E27FC236}">
                    <a16:creationId xmlns:a16="http://schemas.microsoft.com/office/drawing/2014/main" id="{6BD5F651-7C52-BD4D-AD5A-4068E442DCFE}"/>
                  </a:ext>
                </a:extLst>
              </p:cNvPr>
              <p:cNvGrpSpPr>
                <a:grpSpLocks/>
              </p:cNvGrpSpPr>
              <p:nvPr/>
            </p:nvGrpSpPr>
            <p:grpSpPr bwMode="auto">
              <a:xfrm>
                <a:off x="2592" y="2928"/>
                <a:ext cx="192" cy="192"/>
                <a:chOff x="2016" y="2544"/>
                <a:chExt cx="192" cy="192"/>
              </a:xfrm>
            </p:grpSpPr>
            <p:sp>
              <p:nvSpPr>
                <p:cNvPr id="67868" name="Rectangle 350">
                  <a:extLst>
                    <a:ext uri="{FF2B5EF4-FFF2-40B4-BE49-F238E27FC236}">
                      <a16:creationId xmlns:a16="http://schemas.microsoft.com/office/drawing/2014/main" id="{CA0B2176-9DED-9B4B-A2E2-63EE2E7D470B}"/>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69" name="Freeform 351">
                  <a:extLst>
                    <a:ext uri="{FF2B5EF4-FFF2-40B4-BE49-F238E27FC236}">
                      <a16:creationId xmlns:a16="http://schemas.microsoft.com/office/drawing/2014/main" id="{A0C5C73F-AFBC-FD49-80E5-D7418E92E6A5}"/>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17" name="Group 352">
                <a:extLst>
                  <a:ext uri="{FF2B5EF4-FFF2-40B4-BE49-F238E27FC236}">
                    <a16:creationId xmlns:a16="http://schemas.microsoft.com/office/drawing/2014/main" id="{EB725B0E-53B5-4749-93DD-966B89CF2FE5}"/>
                  </a:ext>
                </a:extLst>
              </p:cNvPr>
              <p:cNvGrpSpPr>
                <a:grpSpLocks/>
              </p:cNvGrpSpPr>
              <p:nvPr/>
            </p:nvGrpSpPr>
            <p:grpSpPr bwMode="auto">
              <a:xfrm>
                <a:off x="2592" y="3120"/>
                <a:ext cx="192" cy="192"/>
                <a:chOff x="2016" y="2544"/>
                <a:chExt cx="192" cy="192"/>
              </a:xfrm>
            </p:grpSpPr>
            <p:sp>
              <p:nvSpPr>
                <p:cNvPr id="67866" name="Rectangle 353">
                  <a:extLst>
                    <a:ext uri="{FF2B5EF4-FFF2-40B4-BE49-F238E27FC236}">
                      <a16:creationId xmlns:a16="http://schemas.microsoft.com/office/drawing/2014/main" id="{6357CBD5-1920-E84F-8D9A-467A941657AC}"/>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67" name="Freeform 354">
                  <a:extLst>
                    <a:ext uri="{FF2B5EF4-FFF2-40B4-BE49-F238E27FC236}">
                      <a16:creationId xmlns:a16="http://schemas.microsoft.com/office/drawing/2014/main" id="{1675687C-860C-9540-92BB-E998A2A5546B}"/>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18" name="Group 355">
                <a:extLst>
                  <a:ext uri="{FF2B5EF4-FFF2-40B4-BE49-F238E27FC236}">
                    <a16:creationId xmlns:a16="http://schemas.microsoft.com/office/drawing/2014/main" id="{8D36AE07-D115-964C-8CAA-22696F51D7F3}"/>
                  </a:ext>
                </a:extLst>
              </p:cNvPr>
              <p:cNvGrpSpPr>
                <a:grpSpLocks/>
              </p:cNvGrpSpPr>
              <p:nvPr/>
            </p:nvGrpSpPr>
            <p:grpSpPr bwMode="auto">
              <a:xfrm>
                <a:off x="2784" y="2544"/>
                <a:ext cx="192" cy="192"/>
                <a:chOff x="2016" y="2544"/>
                <a:chExt cx="192" cy="192"/>
              </a:xfrm>
            </p:grpSpPr>
            <p:sp>
              <p:nvSpPr>
                <p:cNvPr id="67864" name="Rectangle 356">
                  <a:extLst>
                    <a:ext uri="{FF2B5EF4-FFF2-40B4-BE49-F238E27FC236}">
                      <a16:creationId xmlns:a16="http://schemas.microsoft.com/office/drawing/2014/main" id="{1D8DAE5C-56F0-F241-9781-C9340B886639}"/>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65" name="Freeform 357">
                  <a:extLst>
                    <a:ext uri="{FF2B5EF4-FFF2-40B4-BE49-F238E27FC236}">
                      <a16:creationId xmlns:a16="http://schemas.microsoft.com/office/drawing/2014/main" id="{989BC3F7-2F41-F546-A9EB-735F9D821864}"/>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19" name="Group 358">
                <a:extLst>
                  <a:ext uri="{FF2B5EF4-FFF2-40B4-BE49-F238E27FC236}">
                    <a16:creationId xmlns:a16="http://schemas.microsoft.com/office/drawing/2014/main" id="{478F14FC-7B58-D947-9E8A-AA848A27763F}"/>
                  </a:ext>
                </a:extLst>
              </p:cNvPr>
              <p:cNvGrpSpPr>
                <a:grpSpLocks/>
              </p:cNvGrpSpPr>
              <p:nvPr/>
            </p:nvGrpSpPr>
            <p:grpSpPr bwMode="auto">
              <a:xfrm>
                <a:off x="2784" y="2736"/>
                <a:ext cx="192" cy="192"/>
                <a:chOff x="2016" y="2544"/>
                <a:chExt cx="192" cy="192"/>
              </a:xfrm>
            </p:grpSpPr>
            <p:sp>
              <p:nvSpPr>
                <p:cNvPr id="67862" name="Rectangle 359">
                  <a:extLst>
                    <a:ext uri="{FF2B5EF4-FFF2-40B4-BE49-F238E27FC236}">
                      <a16:creationId xmlns:a16="http://schemas.microsoft.com/office/drawing/2014/main" id="{93307F7C-6192-A746-985B-9196F83C81DB}"/>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63" name="Freeform 360">
                  <a:extLst>
                    <a:ext uri="{FF2B5EF4-FFF2-40B4-BE49-F238E27FC236}">
                      <a16:creationId xmlns:a16="http://schemas.microsoft.com/office/drawing/2014/main" id="{BA82A256-B591-1B48-BF5C-F7C48257EA39}"/>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20" name="Group 361">
                <a:extLst>
                  <a:ext uri="{FF2B5EF4-FFF2-40B4-BE49-F238E27FC236}">
                    <a16:creationId xmlns:a16="http://schemas.microsoft.com/office/drawing/2014/main" id="{A461AE52-D3BD-A144-A1CC-0AE9846224A6}"/>
                  </a:ext>
                </a:extLst>
              </p:cNvPr>
              <p:cNvGrpSpPr>
                <a:grpSpLocks/>
              </p:cNvGrpSpPr>
              <p:nvPr/>
            </p:nvGrpSpPr>
            <p:grpSpPr bwMode="auto">
              <a:xfrm>
                <a:off x="2784" y="2928"/>
                <a:ext cx="192" cy="192"/>
                <a:chOff x="2016" y="2544"/>
                <a:chExt cx="192" cy="192"/>
              </a:xfrm>
            </p:grpSpPr>
            <p:sp>
              <p:nvSpPr>
                <p:cNvPr id="67860" name="Rectangle 362">
                  <a:extLst>
                    <a:ext uri="{FF2B5EF4-FFF2-40B4-BE49-F238E27FC236}">
                      <a16:creationId xmlns:a16="http://schemas.microsoft.com/office/drawing/2014/main" id="{CFE5C2EC-78CA-F241-BA22-B69FDAC96F77}"/>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61" name="Freeform 363">
                  <a:extLst>
                    <a:ext uri="{FF2B5EF4-FFF2-40B4-BE49-F238E27FC236}">
                      <a16:creationId xmlns:a16="http://schemas.microsoft.com/office/drawing/2014/main" id="{87853260-B15E-FE48-8133-53F6F3DEF3AB}"/>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21" name="Group 364">
                <a:extLst>
                  <a:ext uri="{FF2B5EF4-FFF2-40B4-BE49-F238E27FC236}">
                    <a16:creationId xmlns:a16="http://schemas.microsoft.com/office/drawing/2014/main" id="{9AA51F8B-7EB0-FA4A-9C6A-29138507D96F}"/>
                  </a:ext>
                </a:extLst>
              </p:cNvPr>
              <p:cNvGrpSpPr>
                <a:grpSpLocks/>
              </p:cNvGrpSpPr>
              <p:nvPr/>
            </p:nvGrpSpPr>
            <p:grpSpPr bwMode="auto">
              <a:xfrm>
                <a:off x="2784" y="3120"/>
                <a:ext cx="192" cy="192"/>
                <a:chOff x="2016" y="2544"/>
                <a:chExt cx="192" cy="192"/>
              </a:xfrm>
            </p:grpSpPr>
            <p:sp>
              <p:nvSpPr>
                <p:cNvPr id="67858" name="Rectangle 365">
                  <a:extLst>
                    <a:ext uri="{FF2B5EF4-FFF2-40B4-BE49-F238E27FC236}">
                      <a16:creationId xmlns:a16="http://schemas.microsoft.com/office/drawing/2014/main" id="{82D1383E-4958-5149-ABD1-4F1350B8AEB4}"/>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59" name="Freeform 366">
                  <a:extLst>
                    <a:ext uri="{FF2B5EF4-FFF2-40B4-BE49-F238E27FC236}">
                      <a16:creationId xmlns:a16="http://schemas.microsoft.com/office/drawing/2014/main" id="{B67EB8D2-8245-6E4A-B2C3-E7F091EC3B04}"/>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22" name="Group 367">
                <a:extLst>
                  <a:ext uri="{FF2B5EF4-FFF2-40B4-BE49-F238E27FC236}">
                    <a16:creationId xmlns:a16="http://schemas.microsoft.com/office/drawing/2014/main" id="{D76B8453-B33E-8742-A6C9-F9B8195AE02D}"/>
                  </a:ext>
                </a:extLst>
              </p:cNvPr>
              <p:cNvGrpSpPr>
                <a:grpSpLocks/>
              </p:cNvGrpSpPr>
              <p:nvPr/>
            </p:nvGrpSpPr>
            <p:grpSpPr bwMode="auto">
              <a:xfrm>
                <a:off x="2976" y="2544"/>
                <a:ext cx="192" cy="192"/>
                <a:chOff x="2016" y="2544"/>
                <a:chExt cx="192" cy="192"/>
              </a:xfrm>
            </p:grpSpPr>
            <p:sp>
              <p:nvSpPr>
                <p:cNvPr id="67856" name="Rectangle 368">
                  <a:extLst>
                    <a:ext uri="{FF2B5EF4-FFF2-40B4-BE49-F238E27FC236}">
                      <a16:creationId xmlns:a16="http://schemas.microsoft.com/office/drawing/2014/main" id="{C411EAB9-8FAA-DF4B-A70B-E2E63F03C813}"/>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57" name="Freeform 369">
                  <a:extLst>
                    <a:ext uri="{FF2B5EF4-FFF2-40B4-BE49-F238E27FC236}">
                      <a16:creationId xmlns:a16="http://schemas.microsoft.com/office/drawing/2014/main" id="{2012FBFA-48EE-5648-899F-DC5E68F886F6}"/>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23" name="Group 370">
                <a:extLst>
                  <a:ext uri="{FF2B5EF4-FFF2-40B4-BE49-F238E27FC236}">
                    <a16:creationId xmlns:a16="http://schemas.microsoft.com/office/drawing/2014/main" id="{D16AB5DA-30A7-4D4E-8FDC-F19850EC64D0}"/>
                  </a:ext>
                </a:extLst>
              </p:cNvPr>
              <p:cNvGrpSpPr>
                <a:grpSpLocks/>
              </p:cNvGrpSpPr>
              <p:nvPr/>
            </p:nvGrpSpPr>
            <p:grpSpPr bwMode="auto">
              <a:xfrm>
                <a:off x="2976" y="2736"/>
                <a:ext cx="192" cy="192"/>
                <a:chOff x="2016" y="2544"/>
                <a:chExt cx="192" cy="192"/>
              </a:xfrm>
            </p:grpSpPr>
            <p:sp>
              <p:nvSpPr>
                <p:cNvPr id="67854" name="Rectangle 371">
                  <a:extLst>
                    <a:ext uri="{FF2B5EF4-FFF2-40B4-BE49-F238E27FC236}">
                      <a16:creationId xmlns:a16="http://schemas.microsoft.com/office/drawing/2014/main" id="{AF58DCAC-73BA-DC4E-B479-FFECB244DEF3}"/>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55" name="Freeform 372">
                  <a:extLst>
                    <a:ext uri="{FF2B5EF4-FFF2-40B4-BE49-F238E27FC236}">
                      <a16:creationId xmlns:a16="http://schemas.microsoft.com/office/drawing/2014/main" id="{982BE369-CB41-3E4E-804D-857BF004BC8B}"/>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24" name="Group 373">
                <a:extLst>
                  <a:ext uri="{FF2B5EF4-FFF2-40B4-BE49-F238E27FC236}">
                    <a16:creationId xmlns:a16="http://schemas.microsoft.com/office/drawing/2014/main" id="{1E5741C4-BD8F-2943-89D1-D22A921914C5}"/>
                  </a:ext>
                </a:extLst>
              </p:cNvPr>
              <p:cNvGrpSpPr>
                <a:grpSpLocks/>
              </p:cNvGrpSpPr>
              <p:nvPr/>
            </p:nvGrpSpPr>
            <p:grpSpPr bwMode="auto">
              <a:xfrm>
                <a:off x="2976" y="2928"/>
                <a:ext cx="192" cy="192"/>
                <a:chOff x="2016" y="2544"/>
                <a:chExt cx="192" cy="192"/>
              </a:xfrm>
            </p:grpSpPr>
            <p:sp>
              <p:nvSpPr>
                <p:cNvPr id="67852" name="Rectangle 374">
                  <a:extLst>
                    <a:ext uri="{FF2B5EF4-FFF2-40B4-BE49-F238E27FC236}">
                      <a16:creationId xmlns:a16="http://schemas.microsoft.com/office/drawing/2014/main" id="{0C6D1FC8-887F-C847-8320-FBAF7B69E19D}"/>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53" name="Freeform 375">
                  <a:extLst>
                    <a:ext uri="{FF2B5EF4-FFF2-40B4-BE49-F238E27FC236}">
                      <a16:creationId xmlns:a16="http://schemas.microsoft.com/office/drawing/2014/main" id="{005C0C7F-5C7D-DA41-AA8D-5F419087A476}"/>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25" name="Group 376">
                <a:extLst>
                  <a:ext uri="{FF2B5EF4-FFF2-40B4-BE49-F238E27FC236}">
                    <a16:creationId xmlns:a16="http://schemas.microsoft.com/office/drawing/2014/main" id="{276055C3-3AAE-124E-96EB-639C282961CF}"/>
                  </a:ext>
                </a:extLst>
              </p:cNvPr>
              <p:cNvGrpSpPr>
                <a:grpSpLocks/>
              </p:cNvGrpSpPr>
              <p:nvPr/>
            </p:nvGrpSpPr>
            <p:grpSpPr bwMode="auto">
              <a:xfrm>
                <a:off x="2976" y="3120"/>
                <a:ext cx="192" cy="192"/>
                <a:chOff x="2016" y="2544"/>
                <a:chExt cx="192" cy="192"/>
              </a:xfrm>
            </p:grpSpPr>
            <p:sp>
              <p:nvSpPr>
                <p:cNvPr id="67850" name="Rectangle 377">
                  <a:extLst>
                    <a:ext uri="{FF2B5EF4-FFF2-40B4-BE49-F238E27FC236}">
                      <a16:creationId xmlns:a16="http://schemas.microsoft.com/office/drawing/2014/main" id="{A1525C99-968B-374E-9EAD-62668EFC08FA}"/>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51" name="Freeform 378">
                  <a:extLst>
                    <a:ext uri="{FF2B5EF4-FFF2-40B4-BE49-F238E27FC236}">
                      <a16:creationId xmlns:a16="http://schemas.microsoft.com/office/drawing/2014/main" id="{3A4BD911-5EE9-984B-A893-1E69B09BAE07}"/>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26" name="Group 379">
                <a:extLst>
                  <a:ext uri="{FF2B5EF4-FFF2-40B4-BE49-F238E27FC236}">
                    <a16:creationId xmlns:a16="http://schemas.microsoft.com/office/drawing/2014/main" id="{2E68354A-991C-9E42-8156-3F6AA53087FF}"/>
                  </a:ext>
                </a:extLst>
              </p:cNvPr>
              <p:cNvGrpSpPr>
                <a:grpSpLocks/>
              </p:cNvGrpSpPr>
              <p:nvPr/>
            </p:nvGrpSpPr>
            <p:grpSpPr bwMode="auto">
              <a:xfrm>
                <a:off x="3168" y="2544"/>
                <a:ext cx="192" cy="192"/>
                <a:chOff x="2016" y="2544"/>
                <a:chExt cx="192" cy="192"/>
              </a:xfrm>
            </p:grpSpPr>
            <p:sp>
              <p:nvSpPr>
                <p:cNvPr id="67848" name="Rectangle 380">
                  <a:extLst>
                    <a:ext uri="{FF2B5EF4-FFF2-40B4-BE49-F238E27FC236}">
                      <a16:creationId xmlns:a16="http://schemas.microsoft.com/office/drawing/2014/main" id="{1A5D4AAF-7C23-F047-9AAF-FD32D64BA2CF}"/>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49" name="Freeform 381">
                  <a:extLst>
                    <a:ext uri="{FF2B5EF4-FFF2-40B4-BE49-F238E27FC236}">
                      <a16:creationId xmlns:a16="http://schemas.microsoft.com/office/drawing/2014/main" id="{06CAE4DC-9387-FA4A-A507-B4EB55A54660}"/>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27" name="Group 382">
                <a:extLst>
                  <a:ext uri="{FF2B5EF4-FFF2-40B4-BE49-F238E27FC236}">
                    <a16:creationId xmlns:a16="http://schemas.microsoft.com/office/drawing/2014/main" id="{1DEF7E8A-B3D1-2843-A26B-09F83A6D75D0}"/>
                  </a:ext>
                </a:extLst>
              </p:cNvPr>
              <p:cNvGrpSpPr>
                <a:grpSpLocks/>
              </p:cNvGrpSpPr>
              <p:nvPr/>
            </p:nvGrpSpPr>
            <p:grpSpPr bwMode="auto">
              <a:xfrm>
                <a:off x="3168" y="2736"/>
                <a:ext cx="192" cy="192"/>
                <a:chOff x="2016" y="2544"/>
                <a:chExt cx="192" cy="192"/>
              </a:xfrm>
            </p:grpSpPr>
            <p:sp>
              <p:nvSpPr>
                <p:cNvPr id="67846" name="Rectangle 383">
                  <a:extLst>
                    <a:ext uri="{FF2B5EF4-FFF2-40B4-BE49-F238E27FC236}">
                      <a16:creationId xmlns:a16="http://schemas.microsoft.com/office/drawing/2014/main" id="{803AB0EF-7E50-2143-9015-1DC0C70233FC}"/>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47" name="Freeform 384">
                  <a:extLst>
                    <a:ext uri="{FF2B5EF4-FFF2-40B4-BE49-F238E27FC236}">
                      <a16:creationId xmlns:a16="http://schemas.microsoft.com/office/drawing/2014/main" id="{4A3F6C27-4500-C444-8119-7876015A851B}"/>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28" name="Group 385">
                <a:extLst>
                  <a:ext uri="{FF2B5EF4-FFF2-40B4-BE49-F238E27FC236}">
                    <a16:creationId xmlns:a16="http://schemas.microsoft.com/office/drawing/2014/main" id="{A053F602-AFEC-1245-B9A1-E77C9CBD06CF}"/>
                  </a:ext>
                </a:extLst>
              </p:cNvPr>
              <p:cNvGrpSpPr>
                <a:grpSpLocks/>
              </p:cNvGrpSpPr>
              <p:nvPr/>
            </p:nvGrpSpPr>
            <p:grpSpPr bwMode="auto">
              <a:xfrm>
                <a:off x="3168" y="2928"/>
                <a:ext cx="192" cy="192"/>
                <a:chOff x="2016" y="2544"/>
                <a:chExt cx="192" cy="192"/>
              </a:xfrm>
            </p:grpSpPr>
            <p:sp>
              <p:nvSpPr>
                <p:cNvPr id="67844" name="Rectangle 386">
                  <a:extLst>
                    <a:ext uri="{FF2B5EF4-FFF2-40B4-BE49-F238E27FC236}">
                      <a16:creationId xmlns:a16="http://schemas.microsoft.com/office/drawing/2014/main" id="{EB6A5ACE-58EA-524F-B48A-02B1A507678F}"/>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45" name="Freeform 387">
                  <a:extLst>
                    <a:ext uri="{FF2B5EF4-FFF2-40B4-BE49-F238E27FC236}">
                      <a16:creationId xmlns:a16="http://schemas.microsoft.com/office/drawing/2014/main" id="{B921DDDC-D7BC-674F-BAAA-632D7B358D29}"/>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29" name="Group 388">
                <a:extLst>
                  <a:ext uri="{FF2B5EF4-FFF2-40B4-BE49-F238E27FC236}">
                    <a16:creationId xmlns:a16="http://schemas.microsoft.com/office/drawing/2014/main" id="{0BE273C9-2C05-D248-BEF1-5A20C0DCEBEF}"/>
                  </a:ext>
                </a:extLst>
              </p:cNvPr>
              <p:cNvGrpSpPr>
                <a:grpSpLocks/>
              </p:cNvGrpSpPr>
              <p:nvPr/>
            </p:nvGrpSpPr>
            <p:grpSpPr bwMode="auto">
              <a:xfrm>
                <a:off x="3168" y="3120"/>
                <a:ext cx="192" cy="192"/>
                <a:chOff x="2016" y="2544"/>
                <a:chExt cx="192" cy="192"/>
              </a:xfrm>
            </p:grpSpPr>
            <p:sp>
              <p:nvSpPr>
                <p:cNvPr id="67842" name="Rectangle 389">
                  <a:extLst>
                    <a:ext uri="{FF2B5EF4-FFF2-40B4-BE49-F238E27FC236}">
                      <a16:creationId xmlns:a16="http://schemas.microsoft.com/office/drawing/2014/main" id="{0D3F7B39-CDFA-7F4B-8BEB-04EDD1C71C9F}"/>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43" name="Freeform 390">
                  <a:extLst>
                    <a:ext uri="{FF2B5EF4-FFF2-40B4-BE49-F238E27FC236}">
                      <a16:creationId xmlns:a16="http://schemas.microsoft.com/office/drawing/2014/main" id="{7C9839CB-A576-D948-BE0C-D67F7F58E398}"/>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30" name="Group 391">
                <a:extLst>
                  <a:ext uri="{FF2B5EF4-FFF2-40B4-BE49-F238E27FC236}">
                    <a16:creationId xmlns:a16="http://schemas.microsoft.com/office/drawing/2014/main" id="{6E93F78D-C966-314A-88A4-EBDE40ADC674}"/>
                  </a:ext>
                </a:extLst>
              </p:cNvPr>
              <p:cNvGrpSpPr>
                <a:grpSpLocks/>
              </p:cNvGrpSpPr>
              <p:nvPr/>
            </p:nvGrpSpPr>
            <p:grpSpPr bwMode="auto">
              <a:xfrm>
                <a:off x="3360" y="2544"/>
                <a:ext cx="192" cy="192"/>
                <a:chOff x="2016" y="2544"/>
                <a:chExt cx="192" cy="192"/>
              </a:xfrm>
            </p:grpSpPr>
            <p:sp>
              <p:nvSpPr>
                <p:cNvPr id="67840" name="Rectangle 392">
                  <a:extLst>
                    <a:ext uri="{FF2B5EF4-FFF2-40B4-BE49-F238E27FC236}">
                      <a16:creationId xmlns:a16="http://schemas.microsoft.com/office/drawing/2014/main" id="{961893C3-591B-0F45-B799-7BB274841EAA}"/>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41" name="Freeform 393">
                  <a:extLst>
                    <a:ext uri="{FF2B5EF4-FFF2-40B4-BE49-F238E27FC236}">
                      <a16:creationId xmlns:a16="http://schemas.microsoft.com/office/drawing/2014/main" id="{F1F8EA88-69F3-A64D-9D61-DBB2B6BD288C}"/>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31" name="Group 394">
                <a:extLst>
                  <a:ext uri="{FF2B5EF4-FFF2-40B4-BE49-F238E27FC236}">
                    <a16:creationId xmlns:a16="http://schemas.microsoft.com/office/drawing/2014/main" id="{1E3FA957-C44F-B140-9CF4-AA2E17853858}"/>
                  </a:ext>
                </a:extLst>
              </p:cNvPr>
              <p:cNvGrpSpPr>
                <a:grpSpLocks/>
              </p:cNvGrpSpPr>
              <p:nvPr/>
            </p:nvGrpSpPr>
            <p:grpSpPr bwMode="auto">
              <a:xfrm>
                <a:off x="3360" y="2736"/>
                <a:ext cx="192" cy="192"/>
                <a:chOff x="2016" y="2544"/>
                <a:chExt cx="192" cy="192"/>
              </a:xfrm>
            </p:grpSpPr>
            <p:sp>
              <p:nvSpPr>
                <p:cNvPr id="67838" name="Rectangle 395">
                  <a:extLst>
                    <a:ext uri="{FF2B5EF4-FFF2-40B4-BE49-F238E27FC236}">
                      <a16:creationId xmlns:a16="http://schemas.microsoft.com/office/drawing/2014/main" id="{431467D3-FBF0-A54A-BE7D-FE3D67009824}"/>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39" name="Freeform 396">
                  <a:extLst>
                    <a:ext uri="{FF2B5EF4-FFF2-40B4-BE49-F238E27FC236}">
                      <a16:creationId xmlns:a16="http://schemas.microsoft.com/office/drawing/2014/main" id="{057E75BB-744D-E14E-95B6-938CB6B3B5D0}"/>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32" name="Group 397">
                <a:extLst>
                  <a:ext uri="{FF2B5EF4-FFF2-40B4-BE49-F238E27FC236}">
                    <a16:creationId xmlns:a16="http://schemas.microsoft.com/office/drawing/2014/main" id="{B642078E-C8F1-5045-BC40-7A0E2980CC24}"/>
                  </a:ext>
                </a:extLst>
              </p:cNvPr>
              <p:cNvGrpSpPr>
                <a:grpSpLocks/>
              </p:cNvGrpSpPr>
              <p:nvPr/>
            </p:nvGrpSpPr>
            <p:grpSpPr bwMode="auto">
              <a:xfrm>
                <a:off x="3360" y="2928"/>
                <a:ext cx="192" cy="192"/>
                <a:chOff x="2016" y="2544"/>
                <a:chExt cx="192" cy="192"/>
              </a:xfrm>
            </p:grpSpPr>
            <p:sp>
              <p:nvSpPr>
                <p:cNvPr id="67836" name="Rectangle 398">
                  <a:extLst>
                    <a:ext uri="{FF2B5EF4-FFF2-40B4-BE49-F238E27FC236}">
                      <a16:creationId xmlns:a16="http://schemas.microsoft.com/office/drawing/2014/main" id="{28932A53-286E-B24A-8BC7-8DF04A504115}"/>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37" name="Freeform 399">
                  <a:extLst>
                    <a:ext uri="{FF2B5EF4-FFF2-40B4-BE49-F238E27FC236}">
                      <a16:creationId xmlns:a16="http://schemas.microsoft.com/office/drawing/2014/main" id="{CB10817A-9193-A749-BF9E-6B5954DCD01B}"/>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833" name="Group 400">
                <a:extLst>
                  <a:ext uri="{FF2B5EF4-FFF2-40B4-BE49-F238E27FC236}">
                    <a16:creationId xmlns:a16="http://schemas.microsoft.com/office/drawing/2014/main" id="{C78E47E7-B519-A042-9799-646ED159E12E}"/>
                  </a:ext>
                </a:extLst>
              </p:cNvPr>
              <p:cNvGrpSpPr>
                <a:grpSpLocks/>
              </p:cNvGrpSpPr>
              <p:nvPr/>
            </p:nvGrpSpPr>
            <p:grpSpPr bwMode="auto">
              <a:xfrm>
                <a:off x="3360" y="3120"/>
                <a:ext cx="192" cy="192"/>
                <a:chOff x="2016" y="2544"/>
                <a:chExt cx="192" cy="192"/>
              </a:xfrm>
            </p:grpSpPr>
            <p:sp>
              <p:nvSpPr>
                <p:cNvPr id="67834" name="Rectangle 401">
                  <a:extLst>
                    <a:ext uri="{FF2B5EF4-FFF2-40B4-BE49-F238E27FC236}">
                      <a16:creationId xmlns:a16="http://schemas.microsoft.com/office/drawing/2014/main" id="{3DF6BC1E-BDEA-8445-A652-4A3192B0F3FB}"/>
                    </a:ext>
                  </a:extLst>
                </p:cNvPr>
                <p:cNvSpPr>
                  <a:spLocks noChangeArrowheads="1"/>
                </p:cNvSpPr>
                <p:nvPr/>
              </p:nvSpPr>
              <p:spPr bwMode="auto">
                <a:xfrm>
                  <a:off x="2016" y="2544"/>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835" name="Freeform 402">
                  <a:extLst>
                    <a:ext uri="{FF2B5EF4-FFF2-40B4-BE49-F238E27FC236}">
                      <a16:creationId xmlns:a16="http://schemas.microsoft.com/office/drawing/2014/main" id="{1F6C39AB-B13E-2D44-8308-D014744A4856}"/>
                    </a:ext>
                  </a:extLst>
                </p:cNvPr>
                <p:cNvSpPr>
                  <a:spLocks/>
                </p:cNvSpPr>
                <p:nvPr/>
              </p:nvSpPr>
              <p:spPr bwMode="auto">
                <a:xfrm>
                  <a:off x="2064" y="2592"/>
                  <a:ext cx="96" cy="96"/>
                </a:xfrm>
                <a:custGeom>
                  <a:avLst/>
                  <a:gdLst>
                    <a:gd name="T0" fmla="*/ 0 w 96"/>
                    <a:gd name="T1" fmla="*/ 96 h 96"/>
                    <a:gd name="T2" fmla="*/ 96 w 96"/>
                    <a:gd name="T3" fmla="*/ 96 h 96"/>
                    <a:gd name="T4" fmla="*/ 48 w 96"/>
                    <a:gd name="T5" fmla="*/ 0 h 96"/>
                    <a:gd name="T6" fmla="*/ 0 w 96"/>
                    <a:gd name="T7" fmla="*/ 96 h 96"/>
                    <a:gd name="T8" fmla="*/ 0 60000 65536"/>
                    <a:gd name="T9" fmla="*/ 0 60000 65536"/>
                    <a:gd name="T10" fmla="*/ 0 60000 65536"/>
                    <a:gd name="T11" fmla="*/ 0 60000 65536"/>
                    <a:gd name="T12" fmla="*/ 0 w 96"/>
                    <a:gd name="T13" fmla="*/ 0 h 96"/>
                    <a:gd name="T14" fmla="*/ 96 w 96"/>
                    <a:gd name="T15" fmla="*/ 96 h 96"/>
                  </a:gdLst>
                  <a:ahLst/>
                  <a:cxnLst>
                    <a:cxn ang="T8">
                      <a:pos x="T0" y="T1"/>
                    </a:cxn>
                    <a:cxn ang="T9">
                      <a:pos x="T2" y="T3"/>
                    </a:cxn>
                    <a:cxn ang="T10">
                      <a:pos x="T4" y="T5"/>
                    </a:cxn>
                    <a:cxn ang="T11">
                      <a:pos x="T6" y="T7"/>
                    </a:cxn>
                  </a:cxnLst>
                  <a:rect l="T12" t="T13" r="T14" b="T15"/>
                  <a:pathLst>
                    <a:path w="96" h="96">
                      <a:moveTo>
                        <a:pt x="0" y="96"/>
                      </a:moveTo>
                      <a:lnTo>
                        <a:pt x="96" y="96"/>
                      </a:lnTo>
                      <a:lnTo>
                        <a:pt x="48" y="0"/>
                      </a:lnTo>
                      <a:lnTo>
                        <a:pt x="0" y="96"/>
                      </a:lnTo>
                      <a:close/>
                    </a:path>
                  </a:pathLst>
                </a:custGeom>
                <a:solidFill>
                  <a:srgbClr val="9966FF"/>
                </a:solidFill>
                <a:ln w="3175">
                  <a:solidFill>
                    <a:schemeClr val="tx1"/>
                  </a:solidFill>
                  <a:round/>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67800" name="AutoShape 403">
              <a:extLst>
                <a:ext uri="{FF2B5EF4-FFF2-40B4-BE49-F238E27FC236}">
                  <a16:creationId xmlns:a16="http://schemas.microsoft.com/office/drawing/2014/main" id="{952544C6-2C27-2746-A220-840C280BC2E4}"/>
                </a:ext>
              </a:extLst>
            </p:cNvPr>
            <p:cNvSpPr>
              <a:spLocks noChangeArrowheads="1"/>
            </p:cNvSpPr>
            <p:nvPr/>
          </p:nvSpPr>
          <p:spPr bwMode="auto">
            <a:xfrm>
              <a:off x="2016" y="2305"/>
              <a:ext cx="481" cy="462"/>
            </a:xfrm>
            <a:prstGeom prst="rightArrow">
              <a:avLst>
                <a:gd name="adj1" fmla="val 50000"/>
                <a:gd name="adj2" fmla="val 28028"/>
              </a:avLst>
            </a:prstGeom>
            <a:solidFill>
              <a:schemeClr val="bg1"/>
            </a:solidFill>
            <a:ln w="38100">
              <a:solidFill>
                <a:schemeClr val="tx1"/>
              </a:solidFill>
              <a:miter lim="800000"/>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W4</a:t>
              </a:r>
            </a:p>
          </p:txBody>
        </p:sp>
      </p:grpSp>
      <p:grpSp>
        <p:nvGrpSpPr>
          <p:cNvPr id="43033" name="Group 404">
            <a:extLst>
              <a:ext uri="{FF2B5EF4-FFF2-40B4-BE49-F238E27FC236}">
                <a16:creationId xmlns:a16="http://schemas.microsoft.com/office/drawing/2014/main" id="{6ACBABA6-D405-384E-94EA-0B31516EBAB4}"/>
              </a:ext>
            </a:extLst>
          </p:cNvPr>
          <p:cNvGrpSpPr>
            <a:grpSpLocks/>
          </p:cNvGrpSpPr>
          <p:nvPr/>
        </p:nvGrpSpPr>
        <p:grpSpPr bwMode="auto">
          <a:xfrm>
            <a:off x="5638800" y="3055938"/>
            <a:ext cx="3200400" cy="1522412"/>
            <a:chOff x="3552" y="1777"/>
            <a:chExt cx="2016" cy="959"/>
          </a:xfrm>
        </p:grpSpPr>
        <p:grpSp>
          <p:nvGrpSpPr>
            <p:cNvPr id="67700" name="Group 405">
              <a:extLst>
                <a:ext uri="{FF2B5EF4-FFF2-40B4-BE49-F238E27FC236}">
                  <a16:creationId xmlns:a16="http://schemas.microsoft.com/office/drawing/2014/main" id="{B674D804-19A7-7646-BB22-625F985141DB}"/>
                </a:ext>
              </a:extLst>
            </p:cNvPr>
            <p:cNvGrpSpPr>
              <a:grpSpLocks/>
            </p:cNvGrpSpPr>
            <p:nvPr/>
          </p:nvGrpSpPr>
          <p:grpSpPr bwMode="auto">
            <a:xfrm>
              <a:off x="4032" y="1968"/>
              <a:ext cx="1536" cy="768"/>
              <a:chOff x="3552" y="1968"/>
              <a:chExt cx="1536" cy="768"/>
            </a:xfrm>
          </p:grpSpPr>
          <p:sp>
            <p:nvSpPr>
              <p:cNvPr id="67702" name="Rectangle 406">
                <a:extLst>
                  <a:ext uri="{FF2B5EF4-FFF2-40B4-BE49-F238E27FC236}">
                    <a16:creationId xmlns:a16="http://schemas.microsoft.com/office/drawing/2014/main" id="{67A60743-282E-8C47-AD87-8BBB2FF8B657}"/>
                  </a:ext>
                </a:extLst>
              </p:cNvPr>
              <p:cNvSpPr>
                <a:spLocks noChangeArrowheads="1"/>
              </p:cNvSpPr>
              <p:nvPr/>
            </p:nvSpPr>
            <p:spPr bwMode="auto">
              <a:xfrm>
                <a:off x="3552" y="1968"/>
                <a:ext cx="1536" cy="768"/>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67703" name="Group 407">
                <a:extLst>
                  <a:ext uri="{FF2B5EF4-FFF2-40B4-BE49-F238E27FC236}">
                    <a16:creationId xmlns:a16="http://schemas.microsoft.com/office/drawing/2014/main" id="{FB1EAFEB-5447-9141-87D3-DC6045ED1416}"/>
                  </a:ext>
                </a:extLst>
              </p:cNvPr>
              <p:cNvGrpSpPr>
                <a:grpSpLocks/>
              </p:cNvGrpSpPr>
              <p:nvPr/>
            </p:nvGrpSpPr>
            <p:grpSpPr bwMode="auto">
              <a:xfrm>
                <a:off x="3552" y="1968"/>
                <a:ext cx="192" cy="192"/>
                <a:chOff x="3552" y="1968"/>
                <a:chExt cx="192" cy="192"/>
              </a:xfrm>
            </p:grpSpPr>
            <p:sp>
              <p:nvSpPr>
                <p:cNvPr id="67797" name="Rectangle 408">
                  <a:extLst>
                    <a:ext uri="{FF2B5EF4-FFF2-40B4-BE49-F238E27FC236}">
                      <a16:creationId xmlns:a16="http://schemas.microsoft.com/office/drawing/2014/main" id="{35BC8D6A-98D4-754D-916F-6F1FC323C9F8}"/>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98" name="Rectangle 409">
                  <a:extLst>
                    <a:ext uri="{FF2B5EF4-FFF2-40B4-BE49-F238E27FC236}">
                      <a16:creationId xmlns:a16="http://schemas.microsoft.com/office/drawing/2014/main" id="{D6FF09C5-DED8-3B45-93E1-BBF11D40F763}"/>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04" name="Group 410">
                <a:extLst>
                  <a:ext uri="{FF2B5EF4-FFF2-40B4-BE49-F238E27FC236}">
                    <a16:creationId xmlns:a16="http://schemas.microsoft.com/office/drawing/2014/main" id="{681D04EE-D15B-B543-AB94-8821F9418983}"/>
                  </a:ext>
                </a:extLst>
              </p:cNvPr>
              <p:cNvGrpSpPr>
                <a:grpSpLocks/>
              </p:cNvGrpSpPr>
              <p:nvPr/>
            </p:nvGrpSpPr>
            <p:grpSpPr bwMode="auto">
              <a:xfrm>
                <a:off x="3552" y="2160"/>
                <a:ext cx="192" cy="192"/>
                <a:chOff x="3552" y="1968"/>
                <a:chExt cx="192" cy="192"/>
              </a:xfrm>
            </p:grpSpPr>
            <p:sp>
              <p:nvSpPr>
                <p:cNvPr id="67795" name="Rectangle 411">
                  <a:extLst>
                    <a:ext uri="{FF2B5EF4-FFF2-40B4-BE49-F238E27FC236}">
                      <a16:creationId xmlns:a16="http://schemas.microsoft.com/office/drawing/2014/main" id="{BDBFCBAB-98F1-8E45-9333-E5D84472E616}"/>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96" name="Rectangle 412">
                  <a:extLst>
                    <a:ext uri="{FF2B5EF4-FFF2-40B4-BE49-F238E27FC236}">
                      <a16:creationId xmlns:a16="http://schemas.microsoft.com/office/drawing/2014/main" id="{17E42A41-EBB6-2945-A23A-53676257D49E}"/>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05" name="Group 413">
                <a:extLst>
                  <a:ext uri="{FF2B5EF4-FFF2-40B4-BE49-F238E27FC236}">
                    <a16:creationId xmlns:a16="http://schemas.microsoft.com/office/drawing/2014/main" id="{6692EEED-205D-214C-A84A-C9613F13FD4D}"/>
                  </a:ext>
                </a:extLst>
              </p:cNvPr>
              <p:cNvGrpSpPr>
                <a:grpSpLocks/>
              </p:cNvGrpSpPr>
              <p:nvPr/>
            </p:nvGrpSpPr>
            <p:grpSpPr bwMode="auto">
              <a:xfrm>
                <a:off x="3552" y="2352"/>
                <a:ext cx="192" cy="192"/>
                <a:chOff x="3552" y="1968"/>
                <a:chExt cx="192" cy="192"/>
              </a:xfrm>
            </p:grpSpPr>
            <p:sp>
              <p:nvSpPr>
                <p:cNvPr id="67793" name="Rectangle 414">
                  <a:extLst>
                    <a:ext uri="{FF2B5EF4-FFF2-40B4-BE49-F238E27FC236}">
                      <a16:creationId xmlns:a16="http://schemas.microsoft.com/office/drawing/2014/main" id="{83A5315D-5374-0A41-9DD7-E2A1DC5E4ADD}"/>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94" name="Rectangle 415">
                  <a:extLst>
                    <a:ext uri="{FF2B5EF4-FFF2-40B4-BE49-F238E27FC236}">
                      <a16:creationId xmlns:a16="http://schemas.microsoft.com/office/drawing/2014/main" id="{CD83E610-B15E-834C-9942-B2779D177E9D}"/>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06" name="Group 416">
                <a:extLst>
                  <a:ext uri="{FF2B5EF4-FFF2-40B4-BE49-F238E27FC236}">
                    <a16:creationId xmlns:a16="http://schemas.microsoft.com/office/drawing/2014/main" id="{D460B2D5-9053-444C-BFE1-B7485270C454}"/>
                  </a:ext>
                </a:extLst>
              </p:cNvPr>
              <p:cNvGrpSpPr>
                <a:grpSpLocks/>
              </p:cNvGrpSpPr>
              <p:nvPr/>
            </p:nvGrpSpPr>
            <p:grpSpPr bwMode="auto">
              <a:xfrm>
                <a:off x="3552" y="2544"/>
                <a:ext cx="192" cy="192"/>
                <a:chOff x="3552" y="1968"/>
                <a:chExt cx="192" cy="192"/>
              </a:xfrm>
            </p:grpSpPr>
            <p:sp>
              <p:nvSpPr>
                <p:cNvPr id="67791" name="Rectangle 417">
                  <a:extLst>
                    <a:ext uri="{FF2B5EF4-FFF2-40B4-BE49-F238E27FC236}">
                      <a16:creationId xmlns:a16="http://schemas.microsoft.com/office/drawing/2014/main" id="{D48C3CF4-78F0-B846-9744-E12D8A01B95A}"/>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92" name="Rectangle 418">
                  <a:extLst>
                    <a:ext uri="{FF2B5EF4-FFF2-40B4-BE49-F238E27FC236}">
                      <a16:creationId xmlns:a16="http://schemas.microsoft.com/office/drawing/2014/main" id="{74E61C8A-6512-D849-8437-E3FFEB66523F}"/>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07" name="Group 419">
                <a:extLst>
                  <a:ext uri="{FF2B5EF4-FFF2-40B4-BE49-F238E27FC236}">
                    <a16:creationId xmlns:a16="http://schemas.microsoft.com/office/drawing/2014/main" id="{44D9A8DB-849A-BE4A-9B17-98B71B8367EB}"/>
                  </a:ext>
                </a:extLst>
              </p:cNvPr>
              <p:cNvGrpSpPr>
                <a:grpSpLocks/>
              </p:cNvGrpSpPr>
              <p:nvPr/>
            </p:nvGrpSpPr>
            <p:grpSpPr bwMode="auto">
              <a:xfrm>
                <a:off x="3744" y="1968"/>
                <a:ext cx="192" cy="192"/>
                <a:chOff x="3552" y="1968"/>
                <a:chExt cx="192" cy="192"/>
              </a:xfrm>
            </p:grpSpPr>
            <p:sp>
              <p:nvSpPr>
                <p:cNvPr id="67789" name="Rectangle 420">
                  <a:extLst>
                    <a:ext uri="{FF2B5EF4-FFF2-40B4-BE49-F238E27FC236}">
                      <a16:creationId xmlns:a16="http://schemas.microsoft.com/office/drawing/2014/main" id="{8160F591-F894-9A4C-B6C7-94A95F7D3866}"/>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90" name="Rectangle 421">
                  <a:extLst>
                    <a:ext uri="{FF2B5EF4-FFF2-40B4-BE49-F238E27FC236}">
                      <a16:creationId xmlns:a16="http://schemas.microsoft.com/office/drawing/2014/main" id="{56D733E1-CAD9-5F4C-8A11-5D4B71F21B8C}"/>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08" name="Group 422">
                <a:extLst>
                  <a:ext uri="{FF2B5EF4-FFF2-40B4-BE49-F238E27FC236}">
                    <a16:creationId xmlns:a16="http://schemas.microsoft.com/office/drawing/2014/main" id="{7EF95525-2838-7343-A329-407DE360ECB2}"/>
                  </a:ext>
                </a:extLst>
              </p:cNvPr>
              <p:cNvGrpSpPr>
                <a:grpSpLocks/>
              </p:cNvGrpSpPr>
              <p:nvPr/>
            </p:nvGrpSpPr>
            <p:grpSpPr bwMode="auto">
              <a:xfrm>
                <a:off x="3744" y="2160"/>
                <a:ext cx="192" cy="192"/>
                <a:chOff x="3552" y="1968"/>
                <a:chExt cx="192" cy="192"/>
              </a:xfrm>
            </p:grpSpPr>
            <p:sp>
              <p:nvSpPr>
                <p:cNvPr id="67787" name="Rectangle 423">
                  <a:extLst>
                    <a:ext uri="{FF2B5EF4-FFF2-40B4-BE49-F238E27FC236}">
                      <a16:creationId xmlns:a16="http://schemas.microsoft.com/office/drawing/2014/main" id="{F9470DE1-6D76-6B41-957C-38DCEA633FA2}"/>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88" name="Rectangle 424">
                  <a:extLst>
                    <a:ext uri="{FF2B5EF4-FFF2-40B4-BE49-F238E27FC236}">
                      <a16:creationId xmlns:a16="http://schemas.microsoft.com/office/drawing/2014/main" id="{EA928087-783F-6943-A9B8-D685CB245710}"/>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09" name="Group 425">
                <a:extLst>
                  <a:ext uri="{FF2B5EF4-FFF2-40B4-BE49-F238E27FC236}">
                    <a16:creationId xmlns:a16="http://schemas.microsoft.com/office/drawing/2014/main" id="{4B8BD033-187A-8349-BD6A-D00302031946}"/>
                  </a:ext>
                </a:extLst>
              </p:cNvPr>
              <p:cNvGrpSpPr>
                <a:grpSpLocks/>
              </p:cNvGrpSpPr>
              <p:nvPr/>
            </p:nvGrpSpPr>
            <p:grpSpPr bwMode="auto">
              <a:xfrm>
                <a:off x="3744" y="2352"/>
                <a:ext cx="192" cy="192"/>
                <a:chOff x="3552" y="1968"/>
                <a:chExt cx="192" cy="192"/>
              </a:xfrm>
            </p:grpSpPr>
            <p:sp>
              <p:nvSpPr>
                <p:cNvPr id="67785" name="Rectangle 426">
                  <a:extLst>
                    <a:ext uri="{FF2B5EF4-FFF2-40B4-BE49-F238E27FC236}">
                      <a16:creationId xmlns:a16="http://schemas.microsoft.com/office/drawing/2014/main" id="{231D0FBD-D7C1-8948-A367-23EB008A524B}"/>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86" name="Rectangle 427">
                  <a:extLst>
                    <a:ext uri="{FF2B5EF4-FFF2-40B4-BE49-F238E27FC236}">
                      <a16:creationId xmlns:a16="http://schemas.microsoft.com/office/drawing/2014/main" id="{F6520622-58F8-EE4B-A8B3-73DE8906D203}"/>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10" name="Group 428">
                <a:extLst>
                  <a:ext uri="{FF2B5EF4-FFF2-40B4-BE49-F238E27FC236}">
                    <a16:creationId xmlns:a16="http://schemas.microsoft.com/office/drawing/2014/main" id="{75BB0EB2-F52D-4E42-B826-065496639918}"/>
                  </a:ext>
                </a:extLst>
              </p:cNvPr>
              <p:cNvGrpSpPr>
                <a:grpSpLocks/>
              </p:cNvGrpSpPr>
              <p:nvPr/>
            </p:nvGrpSpPr>
            <p:grpSpPr bwMode="auto">
              <a:xfrm>
                <a:off x="3744" y="2544"/>
                <a:ext cx="192" cy="192"/>
                <a:chOff x="3552" y="1968"/>
                <a:chExt cx="192" cy="192"/>
              </a:xfrm>
            </p:grpSpPr>
            <p:sp>
              <p:nvSpPr>
                <p:cNvPr id="67783" name="Rectangle 429">
                  <a:extLst>
                    <a:ext uri="{FF2B5EF4-FFF2-40B4-BE49-F238E27FC236}">
                      <a16:creationId xmlns:a16="http://schemas.microsoft.com/office/drawing/2014/main" id="{805303CE-C837-7C4E-8316-95A18DC1EEBB}"/>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84" name="Rectangle 430">
                  <a:extLst>
                    <a:ext uri="{FF2B5EF4-FFF2-40B4-BE49-F238E27FC236}">
                      <a16:creationId xmlns:a16="http://schemas.microsoft.com/office/drawing/2014/main" id="{E542ECE5-15D3-1D40-A04C-7F64D4D79BE0}"/>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11" name="Group 431">
                <a:extLst>
                  <a:ext uri="{FF2B5EF4-FFF2-40B4-BE49-F238E27FC236}">
                    <a16:creationId xmlns:a16="http://schemas.microsoft.com/office/drawing/2014/main" id="{2A935E08-3393-8946-9492-A4CC3772C66F}"/>
                  </a:ext>
                </a:extLst>
              </p:cNvPr>
              <p:cNvGrpSpPr>
                <a:grpSpLocks/>
              </p:cNvGrpSpPr>
              <p:nvPr/>
            </p:nvGrpSpPr>
            <p:grpSpPr bwMode="auto">
              <a:xfrm>
                <a:off x="3936" y="1968"/>
                <a:ext cx="192" cy="192"/>
                <a:chOff x="3552" y="1968"/>
                <a:chExt cx="192" cy="192"/>
              </a:xfrm>
            </p:grpSpPr>
            <p:sp>
              <p:nvSpPr>
                <p:cNvPr id="67781" name="Rectangle 432">
                  <a:extLst>
                    <a:ext uri="{FF2B5EF4-FFF2-40B4-BE49-F238E27FC236}">
                      <a16:creationId xmlns:a16="http://schemas.microsoft.com/office/drawing/2014/main" id="{64F463E8-A9D2-744A-90A9-3C1D073BD21A}"/>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82" name="Rectangle 433">
                  <a:extLst>
                    <a:ext uri="{FF2B5EF4-FFF2-40B4-BE49-F238E27FC236}">
                      <a16:creationId xmlns:a16="http://schemas.microsoft.com/office/drawing/2014/main" id="{7C09A464-FB18-174F-B1F8-8FD83FE20F7F}"/>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12" name="Group 434">
                <a:extLst>
                  <a:ext uri="{FF2B5EF4-FFF2-40B4-BE49-F238E27FC236}">
                    <a16:creationId xmlns:a16="http://schemas.microsoft.com/office/drawing/2014/main" id="{8B899E35-76B3-F34A-A51E-AE3799EB1DD2}"/>
                  </a:ext>
                </a:extLst>
              </p:cNvPr>
              <p:cNvGrpSpPr>
                <a:grpSpLocks/>
              </p:cNvGrpSpPr>
              <p:nvPr/>
            </p:nvGrpSpPr>
            <p:grpSpPr bwMode="auto">
              <a:xfrm>
                <a:off x="3936" y="2160"/>
                <a:ext cx="192" cy="192"/>
                <a:chOff x="3552" y="1968"/>
                <a:chExt cx="192" cy="192"/>
              </a:xfrm>
            </p:grpSpPr>
            <p:sp>
              <p:nvSpPr>
                <p:cNvPr id="67779" name="Rectangle 435">
                  <a:extLst>
                    <a:ext uri="{FF2B5EF4-FFF2-40B4-BE49-F238E27FC236}">
                      <a16:creationId xmlns:a16="http://schemas.microsoft.com/office/drawing/2014/main" id="{B53F3353-9645-D54A-A3A3-463AE216C928}"/>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80" name="Rectangle 436">
                  <a:extLst>
                    <a:ext uri="{FF2B5EF4-FFF2-40B4-BE49-F238E27FC236}">
                      <a16:creationId xmlns:a16="http://schemas.microsoft.com/office/drawing/2014/main" id="{88845997-1EC3-1441-AF16-1C5E90D2B7B4}"/>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13" name="Group 437">
                <a:extLst>
                  <a:ext uri="{FF2B5EF4-FFF2-40B4-BE49-F238E27FC236}">
                    <a16:creationId xmlns:a16="http://schemas.microsoft.com/office/drawing/2014/main" id="{373A3D25-1A1C-C744-97CC-2F37734F7C64}"/>
                  </a:ext>
                </a:extLst>
              </p:cNvPr>
              <p:cNvGrpSpPr>
                <a:grpSpLocks/>
              </p:cNvGrpSpPr>
              <p:nvPr/>
            </p:nvGrpSpPr>
            <p:grpSpPr bwMode="auto">
              <a:xfrm>
                <a:off x="3936" y="2352"/>
                <a:ext cx="192" cy="192"/>
                <a:chOff x="3552" y="1968"/>
                <a:chExt cx="192" cy="192"/>
              </a:xfrm>
            </p:grpSpPr>
            <p:sp>
              <p:nvSpPr>
                <p:cNvPr id="67777" name="Rectangle 438">
                  <a:extLst>
                    <a:ext uri="{FF2B5EF4-FFF2-40B4-BE49-F238E27FC236}">
                      <a16:creationId xmlns:a16="http://schemas.microsoft.com/office/drawing/2014/main" id="{4DDA9034-9CE7-1443-AD54-8875BF280B24}"/>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78" name="Rectangle 439">
                  <a:extLst>
                    <a:ext uri="{FF2B5EF4-FFF2-40B4-BE49-F238E27FC236}">
                      <a16:creationId xmlns:a16="http://schemas.microsoft.com/office/drawing/2014/main" id="{A4DAC3C5-6933-D94D-9012-B59BD30B41BA}"/>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14" name="Group 440">
                <a:extLst>
                  <a:ext uri="{FF2B5EF4-FFF2-40B4-BE49-F238E27FC236}">
                    <a16:creationId xmlns:a16="http://schemas.microsoft.com/office/drawing/2014/main" id="{2C7F5EBC-5406-904F-AC1E-D0FB1ECF75FE}"/>
                  </a:ext>
                </a:extLst>
              </p:cNvPr>
              <p:cNvGrpSpPr>
                <a:grpSpLocks/>
              </p:cNvGrpSpPr>
              <p:nvPr/>
            </p:nvGrpSpPr>
            <p:grpSpPr bwMode="auto">
              <a:xfrm>
                <a:off x="3936" y="2544"/>
                <a:ext cx="192" cy="192"/>
                <a:chOff x="3552" y="1968"/>
                <a:chExt cx="192" cy="192"/>
              </a:xfrm>
            </p:grpSpPr>
            <p:sp>
              <p:nvSpPr>
                <p:cNvPr id="67775" name="Rectangle 441">
                  <a:extLst>
                    <a:ext uri="{FF2B5EF4-FFF2-40B4-BE49-F238E27FC236}">
                      <a16:creationId xmlns:a16="http://schemas.microsoft.com/office/drawing/2014/main" id="{F7236688-157E-3249-A124-BBC488147A6E}"/>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76" name="Rectangle 442">
                  <a:extLst>
                    <a:ext uri="{FF2B5EF4-FFF2-40B4-BE49-F238E27FC236}">
                      <a16:creationId xmlns:a16="http://schemas.microsoft.com/office/drawing/2014/main" id="{ADF13913-8EC9-4B45-96BD-5FDCFC226445}"/>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15" name="Group 443">
                <a:extLst>
                  <a:ext uri="{FF2B5EF4-FFF2-40B4-BE49-F238E27FC236}">
                    <a16:creationId xmlns:a16="http://schemas.microsoft.com/office/drawing/2014/main" id="{A6AA1A3E-F679-854D-B77B-B836E78F7C7C}"/>
                  </a:ext>
                </a:extLst>
              </p:cNvPr>
              <p:cNvGrpSpPr>
                <a:grpSpLocks/>
              </p:cNvGrpSpPr>
              <p:nvPr/>
            </p:nvGrpSpPr>
            <p:grpSpPr bwMode="auto">
              <a:xfrm>
                <a:off x="4128" y="1968"/>
                <a:ext cx="192" cy="192"/>
                <a:chOff x="3552" y="1968"/>
                <a:chExt cx="192" cy="192"/>
              </a:xfrm>
            </p:grpSpPr>
            <p:sp>
              <p:nvSpPr>
                <p:cNvPr id="67773" name="Rectangle 444">
                  <a:extLst>
                    <a:ext uri="{FF2B5EF4-FFF2-40B4-BE49-F238E27FC236}">
                      <a16:creationId xmlns:a16="http://schemas.microsoft.com/office/drawing/2014/main" id="{3A22F5D9-4961-7C4A-B742-E0B79793E7F1}"/>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74" name="Rectangle 445">
                  <a:extLst>
                    <a:ext uri="{FF2B5EF4-FFF2-40B4-BE49-F238E27FC236}">
                      <a16:creationId xmlns:a16="http://schemas.microsoft.com/office/drawing/2014/main" id="{A55D25B2-A2F6-3742-9692-81005452B678}"/>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16" name="Group 446">
                <a:extLst>
                  <a:ext uri="{FF2B5EF4-FFF2-40B4-BE49-F238E27FC236}">
                    <a16:creationId xmlns:a16="http://schemas.microsoft.com/office/drawing/2014/main" id="{95DA1D58-2E30-2343-9FD4-55E5F65E2AB2}"/>
                  </a:ext>
                </a:extLst>
              </p:cNvPr>
              <p:cNvGrpSpPr>
                <a:grpSpLocks/>
              </p:cNvGrpSpPr>
              <p:nvPr/>
            </p:nvGrpSpPr>
            <p:grpSpPr bwMode="auto">
              <a:xfrm>
                <a:off x="4128" y="2160"/>
                <a:ext cx="192" cy="192"/>
                <a:chOff x="3552" y="1968"/>
                <a:chExt cx="192" cy="192"/>
              </a:xfrm>
            </p:grpSpPr>
            <p:sp>
              <p:nvSpPr>
                <p:cNvPr id="67771" name="Rectangle 447">
                  <a:extLst>
                    <a:ext uri="{FF2B5EF4-FFF2-40B4-BE49-F238E27FC236}">
                      <a16:creationId xmlns:a16="http://schemas.microsoft.com/office/drawing/2014/main" id="{4DAF55DF-8FEC-B649-96D8-64CCD31939F8}"/>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72" name="Rectangle 448">
                  <a:extLst>
                    <a:ext uri="{FF2B5EF4-FFF2-40B4-BE49-F238E27FC236}">
                      <a16:creationId xmlns:a16="http://schemas.microsoft.com/office/drawing/2014/main" id="{DADA737D-D55A-2B4A-8A23-FC84F388E347}"/>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17" name="Group 449">
                <a:extLst>
                  <a:ext uri="{FF2B5EF4-FFF2-40B4-BE49-F238E27FC236}">
                    <a16:creationId xmlns:a16="http://schemas.microsoft.com/office/drawing/2014/main" id="{6E130A17-A772-5C44-B398-23A5E40F7760}"/>
                  </a:ext>
                </a:extLst>
              </p:cNvPr>
              <p:cNvGrpSpPr>
                <a:grpSpLocks/>
              </p:cNvGrpSpPr>
              <p:nvPr/>
            </p:nvGrpSpPr>
            <p:grpSpPr bwMode="auto">
              <a:xfrm>
                <a:off x="4128" y="2352"/>
                <a:ext cx="192" cy="192"/>
                <a:chOff x="3552" y="1968"/>
                <a:chExt cx="192" cy="192"/>
              </a:xfrm>
            </p:grpSpPr>
            <p:sp>
              <p:nvSpPr>
                <p:cNvPr id="67769" name="Rectangle 450">
                  <a:extLst>
                    <a:ext uri="{FF2B5EF4-FFF2-40B4-BE49-F238E27FC236}">
                      <a16:creationId xmlns:a16="http://schemas.microsoft.com/office/drawing/2014/main" id="{66217333-342A-C14A-A6F0-EB795F49D3DA}"/>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70" name="Rectangle 451">
                  <a:extLst>
                    <a:ext uri="{FF2B5EF4-FFF2-40B4-BE49-F238E27FC236}">
                      <a16:creationId xmlns:a16="http://schemas.microsoft.com/office/drawing/2014/main" id="{4BBA36F1-94E1-0A41-8B53-A01828CB6EA9}"/>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18" name="Group 452">
                <a:extLst>
                  <a:ext uri="{FF2B5EF4-FFF2-40B4-BE49-F238E27FC236}">
                    <a16:creationId xmlns:a16="http://schemas.microsoft.com/office/drawing/2014/main" id="{F0DDD692-5B36-7C47-8766-98132C6FBBBC}"/>
                  </a:ext>
                </a:extLst>
              </p:cNvPr>
              <p:cNvGrpSpPr>
                <a:grpSpLocks/>
              </p:cNvGrpSpPr>
              <p:nvPr/>
            </p:nvGrpSpPr>
            <p:grpSpPr bwMode="auto">
              <a:xfrm>
                <a:off x="4128" y="2544"/>
                <a:ext cx="192" cy="192"/>
                <a:chOff x="3552" y="1968"/>
                <a:chExt cx="192" cy="192"/>
              </a:xfrm>
            </p:grpSpPr>
            <p:sp>
              <p:nvSpPr>
                <p:cNvPr id="67767" name="Rectangle 453">
                  <a:extLst>
                    <a:ext uri="{FF2B5EF4-FFF2-40B4-BE49-F238E27FC236}">
                      <a16:creationId xmlns:a16="http://schemas.microsoft.com/office/drawing/2014/main" id="{0A9000C9-06AA-F442-88BC-19444B8D024D}"/>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68" name="Rectangle 454">
                  <a:extLst>
                    <a:ext uri="{FF2B5EF4-FFF2-40B4-BE49-F238E27FC236}">
                      <a16:creationId xmlns:a16="http://schemas.microsoft.com/office/drawing/2014/main" id="{50804F0D-5633-A442-89A4-27F34CB4E4B9}"/>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19" name="Group 455">
                <a:extLst>
                  <a:ext uri="{FF2B5EF4-FFF2-40B4-BE49-F238E27FC236}">
                    <a16:creationId xmlns:a16="http://schemas.microsoft.com/office/drawing/2014/main" id="{82893BD5-26B5-FF43-A31C-0D393939BE60}"/>
                  </a:ext>
                </a:extLst>
              </p:cNvPr>
              <p:cNvGrpSpPr>
                <a:grpSpLocks/>
              </p:cNvGrpSpPr>
              <p:nvPr/>
            </p:nvGrpSpPr>
            <p:grpSpPr bwMode="auto">
              <a:xfrm>
                <a:off x="4320" y="1968"/>
                <a:ext cx="192" cy="192"/>
                <a:chOff x="3552" y="1968"/>
                <a:chExt cx="192" cy="192"/>
              </a:xfrm>
            </p:grpSpPr>
            <p:sp>
              <p:nvSpPr>
                <p:cNvPr id="67765" name="Rectangle 456">
                  <a:extLst>
                    <a:ext uri="{FF2B5EF4-FFF2-40B4-BE49-F238E27FC236}">
                      <a16:creationId xmlns:a16="http://schemas.microsoft.com/office/drawing/2014/main" id="{E4AF33F4-E59B-6A4B-8D68-4C02B7579E91}"/>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66" name="Rectangle 457">
                  <a:extLst>
                    <a:ext uri="{FF2B5EF4-FFF2-40B4-BE49-F238E27FC236}">
                      <a16:creationId xmlns:a16="http://schemas.microsoft.com/office/drawing/2014/main" id="{7D1070E7-317C-7342-AE67-0A166BF6257C}"/>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20" name="Group 458">
                <a:extLst>
                  <a:ext uri="{FF2B5EF4-FFF2-40B4-BE49-F238E27FC236}">
                    <a16:creationId xmlns:a16="http://schemas.microsoft.com/office/drawing/2014/main" id="{38A7FF1E-62AD-7C48-BD59-BCDBE285E20E}"/>
                  </a:ext>
                </a:extLst>
              </p:cNvPr>
              <p:cNvGrpSpPr>
                <a:grpSpLocks/>
              </p:cNvGrpSpPr>
              <p:nvPr/>
            </p:nvGrpSpPr>
            <p:grpSpPr bwMode="auto">
              <a:xfrm>
                <a:off x="4320" y="2160"/>
                <a:ext cx="192" cy="192"/>
                <a:chOff x="3552" y="1968"/>
                <a:chExt cx="192" cy="192"/>
              </a:xfrm>
            </p:grpSpPr>
            <p:sp>
              <p:nvSpPr>
                <p:cNvPr id="67763" name="Rectangle 459">
                  <a:extLst>
                    <a:ext uri="{FF2B5EF4-FFF2-40B4-BE49-F238E27FC236}">
                      <a16:creationId xmlns:a16="http://schemas.microsoft.com/office/drawing/2014/main" id="{FABB9AD9-BF9E-DC49-AD74-B3DDFB2BF42D}"/>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64" name="Rectangle 460">
                  <a:extLst>
                    <a:ext uri="{FF2B5EF4-FFF2-40B4-BE49-F238E27FC236}">
                      <a16:creationId xmlns:a16="http://schemas.microsoft.com/office/drawing/2014/main" id="{D4F4845F-3518-BE40-866A-D68EA766E072}"/>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21" name="Group 461">
                <a:extLst>
                  <a:ext uri="{FF2B5EF4-FFF2-40B4-BE49-F238E27FC236}">
                    <a16:creationId xmlns:a16="http://schemas.microsoft.com/office/drawing/2014/main" id="{64C4E198-497A-DE4E-8F9D-F6ECD899E6F8}"/>
                  </a:ext>
                </a:extLst>
              </p:cNvPr>
              <p:cNvGrpSpPr>
                <a:grpSpLocks/>
              </p:cNvGrpSpPr>
              <p:nvPr/>
            </p:nvGrpSpPr>
            <p:grpSpPr bwMode="auto">
              <a:xfrm>
                <a:off x="4320" y="2352"/>
                <a:ext cx="192" cy="192"/>
                <a:chOff x="3552" y="1968"/>
                <a:chExt cx="192" cy="192"/>
              </a:xfrm>
            </p:grpSpPr>
            <p:sp>
              <p:nvSpPr>
                <p:cNvPr id="67761" name="Rectangle 462">
                  <a:extLst>
                    <a:ext uri="{FF2B5EF4-FFF2-40B4-BE49-F238E27FC236}">
                      <a16:creationId xmlns:a16="http://schemas.microsoft.com/office/drawing/2014/main" id="{EDD63A9C-0ACC-A547-89DB-813DB5151A46}"/>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62" name="Rectangle 463">
                  <a:extLst>
                    <a:ext uri="{FF2B5EF4-FFF2-40B4-BE49-F238E27FC236}">
                      <a16:creationId xmlns:a16="http://schemas.microsoft.com/office/drawing/2014/main" id="{FB9DDC9F-358B-4E4C-B21D-54EEB21EEFD8}"/>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22" name="Group 464">
                <a:extLst>
                  <a:ext uri="{FF2B5EF4-FFF2-40B4-BE49-F238E27FC236}">
                    <a16:creationId xmlns:a16="http://schemas.microsoft.com/office/drawing/2014/main" id="{BF1EB99E-D98B-E349-8A67-E605D75D2B4B}"/>
                  </a:ext>
                </a:extLst>
              </p:cNvPr>
              <p:cNvGrpSpPr>
                <a:grpSpLocks/>
              </p:cNvGrpSpPr>
              <p:nvPr/>
            </p:nvGrpSpPr>
            <p:grpSpPr bwMode="auto">
              <a:xfrm>
                <a:off x="4320" y="2544"/>
                <a:ext cx="192" cy="192"/>
                <a:chOff x="3552" y="1968"/>
                <a:chExt cx="192" cy="192"/>
              </a:xfrm>
            </p:grpSpPr>
            <p:sp>
              <p:nvSpPr>
                <p:cNvPr id="67759" name="Rectangle 465">
                  <a:extLst>
                    <a:ext uri="{FF2B5EF4-FFF2-40B4-BE49-F238E27FC236}">
                      <a16:creationId xmlns:a16="http://schemas.microsoft.com/office/drawing/2014/main" id="{DE6F1265-A429-D048-92C1-5843C6068380}"/>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60" name="Rectangle 466">
                  <a:extLst>
                    <a:ext uri="{FF2B5EF4-FFF2-40B4-BE49-F238E27FC236}">
                      <a16:creationId xmlns:a16="http://schemas.microsoft.com/office/drawing/2014/main" id="{7CC1A204-EDA4-AB45-B661-4E16BE282F6B}"/>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23" name="Group 467">
                <a:extLst>
                  <a:ext uri="{FF2B5EF4-FFF2-40B4-BE49-F238E27FC236}">
                    <a16:creationId xmlns:a16="http://schemas.microsoft.com/office/drawing/2014/main" id="{07647B05-534C-6440-ADDD-81141A4B0C84}"/>
                  </a:ext>
                </a:extLst>
              </p:cNvPr>
              <p:cNvGrpSpPr>
                <a:grpSpLocks/>
              </p:cNvGrpSpPr>
              <p:nvPr/>
            </p:nvGrpSpPr>
            <p:grpSpPr bwMode="auto">
              <a:xfrm>
                <a:off x="4512" y="1968"/>
                <a:ext cx="192" cy="192"/>
                <a:chOff x="3552" y="1968"/>
                <a:chExt cx="192" cy="192"/>
              </a:xfrm>
            </p:grpSpPr>
            <p:sp>
              <p:nvSpPr>
                <p:cNvPr id="67757" name="Rectangle 468">
                  <a:extLst>
                    <a:ext uri="{FF2B5EF4-FFF2-40B4-BE49-F238E27FC236}">
                      <a16:creationId xmlns:a16="http://schemas.microsoft.com/office/drawing/2014/main" id="{6CE4E208-90D4-8146-BBBB-079DD9FA5070}"/>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58" name="Rectangle 469">
                  <a:extLst>
                    <a:ext uri="{FF2B5EF4-FFF2-40B4-BE49-F238E27FC236}">
                      <a16:creationId xmlns:a16="http://schemas.microsoft.com/office/drawing/2014/main" id="{AAD065C2-F0B0-6842-BD2F-CD3C9713AF44}"/>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24" name="Group 470">
                <a:extLst>
                  <a:ext uri="{FF2B5EF4-FFF2-40B4-BE49-F238E27FC236}">
                    <a16:creationId xmlns:a16="http://schemas.microsoft.com/office/drawing/2014/main" id="{FACA9DEC-8DD5-FD4B-BA53-326C76DA290E}"/>
                  </a:ext>
                </a:extLst>
              </p:cNvPr>
              <p:cNvGrpSpPr>
                <a:grpSpLocks/>
              </p:cNvGrpSpPr>
              <p:nvPr/>
            </p:nvGrpSpPr>
            <p:grpSpPr bwMode="auto">
              <a:xfrm>
                <a:off x="4512" y="2160"/>
                <a:ext cx="192" cy="192"/>
                <a:chOff x="3552" y="1968"/>
                <a:chExt cx="192" cy="192"/>
              </a:xfrm>
            </p:grpSpPr>
            <p:sp>
              <p:nvSpPr>
                <p:cNvPr id="67755" name="Rectangle 471">
                  <a:extLst>
                    <a:ext uri="{FF2B5EF4-FFF2-40B4-BE49-F238E27FC236}">
                      <a16:creationId xmlns:a16="http://schemas.microsoft.com/office/drawing/2014/main" id="{0B26C11C-F01B-F349-B2C8-451DD1EB37F2}"/>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56" name="Rectangle 472">
                  <a:extLst>
                    <a:ext uri="{FF2B5EF4-FFF2-40B4-BE49-F238E27FC236}">
                      <a16:creationId xmlns:a16="http://schemas.microsoft.com/office/drawing/2014/main" id="{540BAD9F-9CE3-A441-BEB3-5887FD867E05}"/>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25" name="Group 473">
                <a:extLst>
                  <a:ext uri="{FF2B5EF4-FFF2-40B4-BE49-F238E27FC236}">
                    <a16:creationId xmlns:a16="http://schemas.microsoft.com/office/drawing/2014/main" id="{3F43E2C4-50E4-8544-9064-B04B5C1A1387}"/>
                  </a:ext>
                </a:extLst>
              </p:cNvPr>
              <p:cNvGrpSpPr>
                <a:grpSpLocks/>
              </p:cNvGrpSpPr>
              <p:nvPr/>
            </p:nvGrpSpPr>
            <p:grpSpPr bwMode="auto">
              <a:xfrm>
                <a:off x="4512" y="2352"/>
                <a:ext cx="192" cy="192"/>
                <a:chOff x="3552" y="1968"/>
                <a:chExt cx="192" cy="192"/>
              </a:xfrm>
            </p:grpSpPr>
            <p:sp>
              <p:nvSpPr>
                <p:cNvPr id="67753" name="Rectangle 474">
                  <a:extLst>
                    <a:ext uri="{FF2B5EF4-FFF2-40B4-BE49-F238E27FC236}">
                      <a16:creationId xmlns:a16="http://schemas.microsoft.com/office/drawing/2014/main" id="{277E1B67-9671-DA4F-A027-212CE3A00CCA}"/>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54" name="Rectangle 475">
                  <a:extLst>
                    <a:ext uri="{FF2B5EF4-FFF2-40B4-BE49-F238E27FC236}">
                      <a16:creationId xmlns:a16="http://schemas.microsoft.com/office/drawing/2014/main" id="{599C5961-6387-1240-AA91-3CE6C2077687}"/>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26" name="Group 476">
                <a:extLst>
                  <a:ext uri="{FF2B5EF4-FFF2-40B4-BE49-F238E27FC236}">
                    <a16:creationId xmlns:a16="http://schemas.microsoft.com/office/drawing/2014/main" id="{2B42F27B-DF47-8D4B-BB42-0BA90CA9C316}"/>
                  </a:ext>
                </a:extLst>
              </p:cNvPr>
              <p:cNvGrpSpPr>
                <a:grpSpLocks/>
              </p:cNvGrpSpPr>
              <p:nvPr/>
            </p:nvGrpSpPr>
            <p:grpSpPr bwMode="auto">
              <a:xfrm>
                <a:off x="4512" y="2544"/>
                <a:ext cx="192" cy="192"/>
                <a:chOff x="3552" y="1968"/>
                <a:chExt cx="192" cy="192"/>
              </a:xfrm>
            </p:grpSpPr>
            <p:sp>
              <p:nvSpPr>
                <p:cNvPr id="67751" name="Rectangle 477">
                  <a:extLst>
                    <a:ext uri="{FF2B5EF4-FFF2-40B4-BE49-F238E27FC236}">
                      <a16:creationId xmlns:a16="http://schemas.microsoft.com/office/drawing/2014/main" id="{1C7BF947-AD46-5E4D-BCD1-BB339EE32425}"/>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52" name="Rectangle 478">
                  <a:extLst>
                    <a:ext uri="{FF2B5EF4-FFF2-40B4-BE49-F238E27FC236}">
                      <a16:creationId xmlns:a16="http://schemas.microsoft.com/office/drawing/2014/main" id="{CB7BD65A-6FCD-1A45-85AF-179C1E75F03A}"/>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27" name="Group 479">
                <a:extLst>
                  <a:ext uri="{FF2B5EF4-FFF2-40B4-BE49-F238E27FC236}">
                    <a16:creationId xmlns:a16="http://schemas.microsoft.com/office/drawing/2014/main" id="{1B234CE9-0A0F-FC4A-8A9F-5A50A741C076}"/>
                  </a:ext>
                </a:extLst>
              </p:cNvPr>
              <p:cNvGrpSpPr>
                <a:grpSpLocks/>
              </p:cNvGrpSpPr>
              <p:nvPr/>
            </p:nvGrpSpPr>
            <p:grpSpPr bwMode="auto">
              <a:xfrm>
                <a:off x="4704" y="1968"/>
                <a:ext cx="192" cy="192"/>
                <a:chOff x="3552" y="1968"/>
                <a:chExt cx="192" cy="192"/>
              </a:xfrm>
            </p:grpSpPr>
            <p:sp>
              <p:nvSpPr>
                <p:cNvPr id="67749" name="Rectangle 480">
                  <a:extLst>
                    <a:ext uri="{FF2B5EF4-FFF2-40B4-BE49-F238E27FC236}">
                      <a16:creationId xmlns:a16="http://schemas.microsoft.com/office/drawing/2014/main" id="{5C5AA4B8-F2CF-E047-B58F-0A42E315EB3F}"/>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50" name="Rectangle 481">
                  <a:extLst>
                    <a:ext uri="{FF2B5EF4-FFF2-40B4-BE49-F238E27FC236}">
                      <a16:creationId xmlns:a16="http://schemas.microsoft.com/office/drawing/2014/main" id="{140E2381-BC01-864E-B085-4EA5DCABF17E}"/>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28" name="Group 482">
                <a:extLst>
                  <a:ext uri="{FF2B5EF4-FFF2-40B4-BE49-F238E27FC236}">
                    <a16:creationId xmlns:a16="http://schemas.microsoft.com/office/drawing/2014/main" id="{17E7A3AA-8A56-974A-936D-468C2B7D4857}"/>
                  </a:ext>
                </a:extLst>
              </p:cNvPr>
              <p:cNvGrpSpPr>
                <a:grpSpLocks/>
              </p:cNvGrpSpPr>
              <p:nvPr/>
            </p:nvGrpSpPr>
            <p:grpSpPr bwMode="auto">
              <a:xfrm>
                <a:off x="4704" y="2160"/>
                <a:ext cx="192" cy="192"/>
                <a:chOff x="3552" y="1968"/>
                <a:chExt cx="192" cy="192"/>
              </a:xfrm>
            </p:grpSpPr>
            <p:sp>
              <p:nvSpPr>
                <p:cNvPr id="67747" name="Rectangle 483">
                  <a:extLst>
                    <a:ext uri="{FF2B5EF4-FFF2-40B4-BE49-F238E27FC236}">
                      <a16:creationId xmlns:a16="http://schemas.microsoft.com/office/drawing/2014/main" id="{FB3006DD-9078-EF4E-A672-B775F2D37A3E}"/>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48" name="Rectangle 484">
                  <a:extLst>
                    <a:ext uri="{FF2B5EF4-FFF2-40B4-BE49-F238E27FC236}">
                      <a16:creationId xmlns:a16="http://schemas.microsoft.com/office/drawing/2014/main" id="{0EBADD18-C438-C549-9294-F4A40DE606C2}"/>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29" name="Group 485">
                <a:extLst>
                  <a:ext uri="{FF2B5EF4-FFF2-40B4-BE49-F238E27FC236}">
                    <a16:creationId xmlns:a16="http://schemas.microsoft.com/office/drawing/2014/main" id="{A365564D-D1D0-CA4B-BE9E-6204116FE070}"/>
                  </a:ext>
                </a:extLst>
              </p:cNvPr>
              <p:cNvGrpSpPr>
                <a:grpSpLocks/>
              </p:cNvGrpSpPr>
              <p:nvPr/>
            </p:nvGrpSpPr>
            <p:grpSpPr bwMode="auto">
              <a:xfrm>
                <a:off x="4704" y="2352"/>
                <a:ext cx="192" cy="192"/>
                <a:chOff x="3552" y="1968"/>
                <a:chExt cx="192" cy="192"/>
              </a:xfrm>
            </p:grpSpPr>
            <p:sp>
              <p:nvSpPr>
                <p:cNvPr id="67745" name="Rectangle 486">
                  <a:extLst>
                    <a:ext uri="{FF2B5EF4-FFF2-40B4-BE49-F238E27FC236}">
                      <a16:creationId xmlns:a16="http://schemas.microsoft.com/office/drawing/2014/main" id="{BDB707C6-71A9-5640-9C21-50DC2CFF364C}"/>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46" name="Rectangle 487">
                  <a:extLst>
                    <a:ext uri="{FF2B5EF4-FFF2-40B4-BE49-F238E27FC236}">
                      <a16:creationId xmlns:a16="http://schemas.microsoft.com/office/drawing/2014/main" id="{38FEC91E-8F1E-B14B-8AAD-2755E100B5EF}"/>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30" name="Group 488">
                <a:extLst>
                  <a:ext uri="{FF2B5EF4-FFF2-40B4-BE49-F238E27FC236}">
                    <a16:creationId xmlns:a16="http://schemas.microsoft.com/office/drawing/2014/main" id="{33429788-1483-784E-A9CA-CD688DCE3E9C}"/>
                  </a:ext>
                </a:extLst>
              </p:cNvPr>
              <p:cNvGrpSpPr>
                <a:grpSpLocks/>
              </p:cNvGrpSpPr>
              <p:nvPr/>
            </p:nvGrpSpPr>
            <p:grpSpPr bwMode="auto">
              <a:xfrm>
                <a:off x="4704" y="2544"/>
                <a:ext cx="192" cy="192"/>
                <a:chOff x="3552" y="1968"/>
                <a:chExt cx="192" cy="192"/>
              </a:xfrm>
            </p:grpSpPr>
            <p:sp>
              <p:nvSpPr>
                <p:cNvPr id="67743" name="Rectangle 489">
                  <a:extLst>
                    <a:ext uri="{FF2B5EF4-FFF2-40B4-BE49-F238E27FC236}">
                      <a16:creationId xmlns:a16="http://schemas.microsoft.com/office/drawing/2014/main" id="{F85D224D-4549-B94B-9AA9-137BAB1813D9}"/>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44" name="Rectangle 490">
                  <a:extLst>
                    <a:ext uri="{FF2B5EF4-FFF2-40B4-BE49-F238E27FC236}">
                      <a16:creationId xmlns:a16="http://schemas.microsoft.com/office/drawing/2014/main" id="{123626A8-BA4B-214E-8561-18CA8DBD3509}"/>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31" name="Group 491">
                <a:extLst>
                  <a:ext uri="{FF2B5EF4-FFF2-40B4-BE49-F238E27FC236}">
                    <a16:creationId xmlns:a16="http://schemas.microsoft.com/office/drawing/2014/main" id="{7222D6A1-15B7-294C-A0BD-D5CB0542D22A}"/>
                  </a:ext>
                </a:extLst>
              </p:cNvPr>
              <p:cNvGrpSpPr>
                <a:grpSpLocks/>
              </p:cNvGrpSpPr>
              <p:nvPr/>
            </p:nvGrpSpPr>
            <p:grpSpPr bwMode="auto">
              <a:xfrm>
                <a:off x="4896" y="1968"/>
                <a:ext cx="192" cy="192"/>
                <a:chOff x="3552" y="1968"/>
                <a:chExt cx="192" cy="192"/>
              </a:xfrm>
            </p:grpSpPr>
            <p:sp>
              <p:nvSpPr>
                <p:cNvPr id="67741" name="Rectangle 492">
                  <a:extLst>
                    <a:ext uri="{FF2B5EF4-FFF2-40B4-BE49-F238E27FC236}">
                      <a16:creationId xmlns:a16="http://schemas.microsoft.com/office/drawing/2014/main" id="{29F1FA89-7048-0340-9ABF-7BDC03802EBD}"/>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42" name="Rectangle 493">
                  <a:extLst>
                    <a:ext uri="{FF2B5EF4-FFF2-40B4-BE49-F238E27FC236}">
                      <a16:creationId xmlns:a16="http://schemas.microsoft.com/office/drawing/2014/main" id="{9EA9ECF7-2046-6148-ACCB-89595DBC6910}"/>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32" name="Group 494">
                <a:extLst>
                  <a:ext uri="{FF2B5EF4-FFF2-40B4-BE49-F238E27FC236}">
                    <a16:creationId xmlns:a16="http://schemas.microsoft.com/office/drawing/2014/main" id="{DC5491BF-04A6-9B44-B9E6-9B5DBAF293EE}"/>
                  </a:ext>
                </a:extLst>
              </p:cNvPr>
              <p:cNvGrpSpPr>
                <a:grpSpLocks/>
              </p:cNvGrpSpPr>
              <p:nvPr/>
            </p:nvGrpSpPr>
            <p:grpSpPr bwMode="auto">
              <a:xfrm>
                <a:off x="4896" y="2160"/>
                <a:ext cx="192" cy="192"/>
                <a:chOff x="3552" y="1968"/>
                <a:chExt cx="192" cy="192"/>
              </a:xfrm>
            </p:grpSpPr>
            <p:sp>
              <p:nvSpPr>
                <p:cNvPr id="67739" name="Rectangle 495">
                  <a:extLst>
                    <a:ext uri="{FF2B5EF4-FFF2-40B4-BE49-F238E27FC236}">
                      <a16:creationId xmlns:a16="http://schemas.microsoft.com/office/drawing/2014/main" id="{5EEDBC5A-12DD-6B44-B9DA-8C359D9C6778}"/>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40" name="Rectangle 496">
                  <a:extLst>
                    <a:ext uri="{FF2B5EF4-FFF2-40B4-BE49-F238E27FC236}">
                      <a16:creationId xmlns:a16="http://schemas.microsoft.com/office/drawing/2014/main" id="{4391E070-930F-8846-963B-45B2F9E03898}"/>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33" name="Group 497">
                <a:extLst>
                  <a:ext uri="{FF2B5EF4-FFF2-40B4-BE49-F238E27FC236}">
                    <a16:creationId xmlns:a16="http://schemas.microsoft.com/office/drawing/2014/main" id="{524A0150-8A41-D74E-9752-5780B9382C29}"/>
                  </a:ext>
                </a:extLst>
              </p:cNvPr>
              <p:cNvGrpSpPr>
                <a:grpSpLocks/>
              </p:cNvGrpSpPr>
              <p:nvPr/>
            </p:nvGrpSpPr>
            <p:grpSpPr bwMode="auto">
              <a:xfrm>
                <a:off x="4896" y="2352"/>
                <a:ext cx="192" cy="192"/>
                <a:chOff x="3552" y="1968"/>
                <a:chExt cx="192" cy="192"/>
              </a:xfrm>
            </p:grpSpPr>
            <p:sp>
              <p:nvSpPr>
                <p:cNvPr id="67737" name="Rectangle 498">
                  <a:extLst>
                    <a:ext uri="{FF2B5EF4-FFF2-40B4-BE49-F238E27FC236}">
                      <a16:creationId xmlns:a16="http://schemas.microsoft.com/office/drawing/2014/main" id="{F88C7F26-26F0-A541-AE3F-6018B7C34787}"/>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38" name="Rectangle 499">
                  <a:extLst>
                    <a:ext uri="{FF2B5EF4-FFF2-40B4-BE49-F238E27FC236}">
                      <a16:creationId xmlns:a16="http://schemas.microsoft.com/office/drawing/2014/main" id="{550FE54E-5A40-9643-81FA-07A24F6A9BD9}"/>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734" name="Group 500">
                <a:extLst>
                  <a:ext uri="{FF2B5EF4-FFF2-40B4-BE49-F238E27FC236}">
                    <a16:creationId xmlns:a16="http://schemas.microsoft.com/office/drawing/2014/main" id="{959726EA-8621-7E4F-89CA-77DBD5FB87CC}"/>
                  </a:ext>
                </a:extLst>
              </p:cNvPr>
              <p:cNvGrpSpPr>
                <a:grpSpLocks/>
              </p:cNvGrpSpPr>
              <p:nvPr/>
            </p:nvGrpSpPr>
            <p:grpSpPr bwMode="auto">
              <a:xfrm>
                <a:off x="4896" y="2544"/>
                <a:ext cx="192" cy="192"/>
                <a:chOff x="3552" y="1968"/>
                <a:chExt cx="192" cy="192"/>
              </a:xfrm>
            </p:grpSpPr>
            <p:sp>
              <p:nvSpPr>
                <p:cNvPr id="67735" name="Rectangle 501">
                  <a:extLst>
                    <a:ext uri="{FF2B5EF4-FFF2-40B4-BE49-F238E27FC236}">
                      <a16:creationId xmlns:a16="http://schemas.microsoft.com/office/drawing/2014/main" id="{E19342E9-944B-1D4F-AAE9-8B3C10330039}"/>
                    </a:ext>
                  </a:extLst>
                </p:cNvPr>
                <p:cNvSpPr>
                  <a:spLocks noChangeArrowheads="1"/>
                </p:cNvSpPr>
                <p:nvPr/>
              </p:nvSpPr>
              <p:spPr bwMode="auto">
                <a:xfrm>
                  <a:off x="3552" y="1968"/>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736" name="Rectangle 502">
                  <a:extLst>
                    <a:ext uri="{FF2B5EF4-FFF2-40B4-BE49-F238E27FC236}">
                      <a16:creationId xmlns:a16="http://schemas.microsoft.com/office/drawing/2014/main" id="{4B12D228-D646-124D-A578-85A15F750332}"/>
                    </a:ext>
                  </a:extLst>
                </p:cNvPr>
                <p:cNvSpPr>
                  <a:spLocks noChangeArrowheads="1"/>
                </p:cNvSpPr>
                <p:nvPr/>
              </p:nvSpPr>
              <p:spPr bwMode="auto">
                <a:xfrm>
                  <a:off x="3600" y="2016"/>
                  <a:ext cx="96" cy="96"/>
                </a:xfrm>
                <a:prstGeom prst="rect">
                  <a:avLst/>
                </a:prstGeom>
                <a:solidFill>
                  <a:schemeClr val="accent2"/>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67701" name="AutoShape 503">
              <a:extLst>
                <a:ext uri="{FF2B5EF4-FFF2-40B4-BE49-F238E27FC236}">
                  <a16:creationId xmlns:a16="http://schemas.microsoft.com/office/drawing/2014/main" id="{955643A0-EE97-7E40-84D8-C05F083964BB}"/>
                </a:ext>
              </a:extLst>
            </p:cNvPr>
            <p:cNvSpPr>
              <a:spLocks noChangeArrowheads="1"/>
            </p:cNvSpPr>
            <p:nvPr/>
          </p:nvSpPr>
          <p:spPr bwMode="auto">
            <a:xfrm>
              <a:off x="3552" y="1777"/>
              <a:ext cx="481" cy="462"/>
            </a:xfrm>
            <a:prstGeom prst="rightArrow">
              <a:avLst>
                <a:gd name="adj1" fmla="val 50000"/>
                <a:gd name="adj2" fmla="val 28028"/>
              </a:avLst>
            </a:prstGeom>
            <a:solidFill>
              <a:schemeClr val="bg1"/>
            </a:solidFill>
            <a:ln w="38100">
              <a:solidFill>
                <a:schemeClr val="tx1"/>
              </a:solidFill>
              <a:miter lim="800000"/>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W2</a:t>
              </a:r>
            </a:p>
          </p:txBody>
        </p:sp>
      </p:grpSp>
      <p:grpSp>
        <p:nvGrpSpPr>
          <p:cNvPr id="43133" name="Group 504">
            <a:extLst>
              <a:ext uri="{FF2B5EF4-FFF2-40B4-BE49-F238E27FC236}">
                <a16:creationId xmlns:a16="http://schemas.microsoft.com/office/drawing/2014/main" id="{89026F31-9C35-2A40-85A5-E66671787863}"/>
              </a:ext>
            </a:extLst>
          </p:cNvPr>
          <p:cNvGrpSpPr>
            <a:grpSpLocks/>
          </p:cNvGrpSpPr>
          <p:nvPr/>
        </p:nvGrpSpPr>
        <p:grpSpPr bwMode="auto">
          <a:xfrm>
            <a:off x="5638800" y="4275138"/>
            <a:ext cx="3200400" cy="1522412"/>
            <a:chOff x="3552" y="2545"/>
            <a:chExt cx="2016" cy="959"/>
          </a:xfrm>
        </p:grpSpPr>
        <p:grpSp>
          <p:nvGrpSpPr>
            <p:cNvPr id="67601" name="Group 505">
              <a:extLst>
                <a:ext uri="{FF2B5EF4-FFF2-40B4-BE49-F238E27FC236}">
                  <a16:creationId xmlns:a16="http://schemas.microsoft.com/office/drawing/2014/main" id="{F5FB6D33-2F08-1B4F-85E3-3656E559FB6E}"/>
                </a:ext>
              </a:extLst>
            </p:cNvPr>
            <p:cNvGrpSpPr>
              <a:grpSpLocks/>
            </p:cNvGrpSpPr>
            <p:nvPr/>
          </p:nvGrpSpPr>
          <p:grpSpPr bwMode="auto">
            <a:xfrm>
              <a:off x="4032" y="2736"/>
              <a:ext cx="1536" cy="768"/>
              <a:chOff x="3552" y="2736"/>
              <a:chExt cx="1536" cy="768"/>
            </a:xfrm>
          </p:grpSpPr>
          <p:sp>
            <p:nvSpPr>
              <p:cNvPr id="67603" name="Rectangle 506">
                <a:extLst>
                  <a:ext uri="{FF2B5EF4-FFF2-40B4-BE49-F238E27FC236}">
                    <a16:creationId xmlns:a16="http://schemas.microsoft.com/office/drawing/2014/main" id="{BD85E3AC-9D85-DA41-84FE-1F0ACB62802F}"/>
                  </a:ext>
                </a:extLst>
              </p:cNvPr>
              <p:cNvSpPr>
                <a:spLocks noChangeArrowheads="1"/>
              </p:cNvSpPr>
              <p:nvPr/>
            </p:nvSpPr>
            <p:spPr bwMode="auto">
              <a:xfrm>
                <a:off x="3552" y="2736"/>
                <a:ext cx="1536" cy="768"/>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67604" name="Group 507">
                <a:extLst>
                  <a:ext uri="{FF2B5EF4-FFF2-40B4-BE49-F238E27FC236}">
                    <a16:creationId xmlns:a16="http://schemas.microsoft.com/office/drawing/2014/main" id="{59ED154A-722F-EF4D-8F9A-ED20B664471B}"/>
                  </a:ext>
                </a:extLst>
              </p:cNvPr>
              <p:cNvGrpSpPr>
                <a:grpSpLocks/>
              </p:cNvGrpSpPr>
              <p:nvPr/>
            </p:nvGrpSpPr>
            <p:grpSpPr bwMode="auto">
              <a:xfrm>
                <a:off x="3552" y="2736"/>
                <a:ext cx="192" cy="192"/>
                <a:chOff x="3552" y="2736"/>
                <a:chExt cx="192" cy="192"/>
              </a:xfrm>
            </p:grpSpPr>
            <p:sp>
              <p:nvSpPr>
                <p:cNvPr id="67698" name="Rectangle 508">
                  <a:extLst>
                    <a:ext uri="{FF2B5EF4-FFF2-40B4-BE49-F238E27FC236}">
                      <a16:creationId xmlns:a16="http://schemas.microsoft.com/office/drawing/2014/main" id="{70796019-E31C-4E4A-9DCA-B9A3B704F017}"/>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99" name="Rectangle 509">
                  <a:extLst>
                    <a:ext uri="{FF2B5EF4-FFF2-40B4-BE49-F238E27FC236}">
                      <a16:creationId xmlns:a16="http://schemas.microsoft.com/office/drawing/2014/main" id="{AEE5208D-AFBC-B348-B01E-742E76B57A3D}"/>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05" name="Group 510">
                <a:extLst>
                  <a:ext uri="{FF2B5EF4-FFF2-40B4-BE49-F238E27FC236}">
                    <a16:creationId xmlns:a16="http://schemas.microsoft.com/office/drawing/2014/main" id="{3E6CF625-FD35-8444-B425-FEEF77A84928}"/>
                  </a:ext>
                </a:extLst>
              </p:cNvPr>
              <p:cNvGrpSpPr>
                <a:grpSpLocks/>
              </p:cNvGrpSpPr>
              <p:nvPr/>
            </p:nvGrpSpPr>
            <p:grpSpPr bwMode="auto">
              <a:xfrm>
                <a:off x="3552" y="2928"/>
                <a:ext cx="192" cy="192"/>
                <a:chOff x="3552" y="2736"/>
                <a:chExt cx="192" cy="192"/>
              </a:xfrm>
            </p:grpSpPr>
            <p:sp>
              <p:nvSpPr>
                <p:cNvPr id="67696" name="Rectangle 511">
                  <a:extLst>
                    <a:ext uri="{FF2B5EF4-FFF2-40B4-BE49-F238E27FC236}">
                      <a16:creationId xmlns:a16="http://schemas.microsoft.com/office/drawing/2014/main" id="{584CB2FD-276D-6A4A-AF6D-1BC8E59D36DE}"/>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97" name="Rectangle 512">
                  <a:extLst>
                    <a:ext uri="{FF2B5EF4-FFF2-40B4-BE49-F238E27FC236}">
                      <a16:creationId xmlns:a16="http://schemas.microsoft.com/office/drawing/2014/main" id="{EE22DE7D-BEBD-E946-956F-F8117E170048}"/>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06" name="Group 513">
                <a:extLst>
                  <a:ext uri="{FF2B5EF4-FFF2-40B4-BE49-F238E27FC236}">
                    <a16:creationId xmlns:a16="http://schemas.microsoft.com/office/drawing/2014/main" id="{8233585C-0A9F-C143-A6E8-4B1FD5FF0056}"/>
                  </a:ext>
                </a:extLst>
              </p:cNvPr>
              <p:cNvGrpSpPr>
                <a:grpSpLocks/>
              </p:cNvGrpSpPr>
              <p:nvPr/>
            </p:nvGrpSpPr>
            <p:grpSpPr bwMode="auto">
              <a:xfrm>
                <a:off x="3552" y="3120"/>
                <a:ext cx="192" cy="192"/>
                <a:chOff x="3552" y="2736"/>
                <a:chExt cx="192" cy="192"/>
              </a:xfrm>
            </p:grpSpPr>
            <p:sp>
              <p:nvSpPr>
                <p:cNvPr id="67694" name="Rectangle 514">
                  <a:extLst>
                    <a:ext uri="{FF2B5EF4-FFF2-40B4-BE49-F238E27FC236}">
                      <a16:creationId xmlns:a16="http://schemas.microsoft.com/office/drawing/2014/main" id="{1C1F5B42-A4C5-4144-9FFC-FCCF06A5AA66}"/>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95" name="Rectangle 515">
                  <a:extLst>
                    <a:ext uri="{FF2B5EF4-FFF2-40B4-BE49-F238E27FC236}">
                      <a16:creationId xmlns:a16="http://schemas.microsoft.com/office/drawing/2014/main" id="{E752E583-867D-DB45-A554-727D86EF2284}"/>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07" name="Group 516">
                <a:extLst>
                  <a:ext uri="{FF2B5EF4-FFF2-40B4-BE49-F238E27FC236}">
                    <a16:creationId xmlns:a16="http://schemas.microsoft.com/office/drawing/2014/main" id="{D416EFD6-F74C-CC41-AE77-35408C278B34}"/>
                  </a:ext>
                </a:extLst>
              </p:cNvPr>
              <p:cNvGrpSpPr>
                <a:grpSpLocks/>
              </p:cNvGrpSpPr>
              <p:nvPr/>
            </p:nvGrpSpPr>
            <p:grpSpPr bwMode="auto">
              <a:xfrm>
                <a:off x="3552" y="3312"/>
                <a:ext cx="192" cy="192"/>
                <a:chOff x="3552" y="2736"/>
                <a:chExt cx="192" cy="192"/>
              </a:xfrm>
            </p:grpSpPr>
            <p:sp>
              <p:nvSpPr>
                <p:cNvPr id="67692" name="Rectangle 517">
                  <a:extLst>
                    <a:ext uri="{FF2B5EF4-FFF2-40B4-BE49-F238E27FC236}">
                      <a16:creationId xmlns:a16="http://schemas.microsoft.com/office/drawing/2014/main" id="{8EC794F8-F6F1-AA47-8E17-74E9D25D0B92}"/>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93" name="Rectangle 518">
                  <a:extLst>
                    <a:ext uri="{FF2B5EF4-FFF2-40B4-BE49-F238E27FC236}">
                      <a16:creationId xmlns:a16="http://schemas.microsoft.com/office/drawing/2014/main" id="{84631630-DC87-144A-BD02-B2647BAB3A52}"/>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08" name="Group 519">
                <a:extLst>
                  <a:ext uri="{FF2B5EF4-FFF2-40B4-BE49-F238E27FC236}">
                    <a16:creationId xmlns:a16="http://schemas.microsoft.com/office/drawing/2014/main" id="{BB0EC51B-4343-3749-84CE-213134C57289}"/>
                  </a:ext>
                </a:extLst>
              </p:cNvPr>
              <p:cNvGrpSpPr>
                <a:grpSpLocks/>
              </p:cNvGrpSpPr>
              <p:nvPr/>
            </p:nvGrpSpPr>
            <p:grpSpPr bwMode="auto">
              <a:xfrm>
                <a:off x="3744" y="2736"/>
                <a:ext cx="192" cy="192"/>
                <a:chOff x="3552" y="2736"/>
                <a:chExt cx="192" cy="192"/>
              </a:xfrm>
            </p:grpSpPr>
            <p:sp>
              <p:nvSpPr>
                <p:cNvPr id="67690" name="Rectangle 520">
                  <a:extLst>
                    <a:ext uri="{FF2B5EF4-FFF2-40B4-BE49-F238E27FC236}">
                      <a16:creationId xmlns:a16="http://schemas.microsoft.com/office/drawing/2014/main" id="{7460586D-9F56-194C-A96F-AEE00AD25CAF}"/>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91" name="Rectangle 521">
                  <a:extLst>
                    <a:ext uri="{FF2B5EF4-FFF2-40B4-BE49-F238E27FC236}">
                      <a16:creationId xmlns:a16="http://schemas.microsoft.com/office/drawing/2014/main" id="{FDB3F814-3F8A-B241-B0D1-A6FD47D98DD9}"/>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09" name="Group 522">
                <a:extLst>
                  <a:ext uri="{FF2B5EF4-FFF2-40B4-BE49-F238E27FC236}">
                    <a16:creationId xmlns:a16="http://schemas.microsoft.com/office/drawing/2014/main" id="{65CA0C7A-8FE9-094A-95D6-D93D97E5F0BF}"/>
                  </a:ext>
                </a:extLst>
              </p:cNvPr>
              <p:cNvGrpSpPr>
                <a:grpSpLocks/>
              </p:cNvGrpSpPr>
              <p:nvPr/>
            </p:nvGrpSpPr>
            <p:grpSpPr bwMode="auto">
              <a:xfrm>
                <a:off x="3744" y="2928"/>
                <a:ext cx="192" cy="192"/>
                <a:chOff x="3552" y="2736"/>
                <a:chExt cx="192" cy="192"/>
              </a:xfrm>
            </p:grpSpPr>
            <p:sp>
              <p:nvSpPr>
                <p:cNvPr id="67688" name="Rectangle 523">
                  <a:extLst>
                    <a:ext uri="{FF2B5EF4-FFF2-40B4-BE49-F238E27FC236}">
                      <a16:creationId xmlns:a16="http://schemas.microsoft.com/office/drawing/2014/main" id="{C73F53DE-1613-1747-8B49-315E4D1059BA}"/>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89" name="Rectangle 524">
                  <a:extLst>
                    <a:ext uri="{FF2B5EF4-FFF2-40B4-BE49-F238E27FC236}">
                      <a16:creationId xmlns:a16="http://schemas.microsoft.com/office/drawing/2014/main" id="{AE774288-40C9-594F-8F5D-ABFB0E3923F4}"/>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10" name="Group 525">
                <a:extLst>
                  <a:ext uri="{FF2B5EF4-FFF2-40B4-BE49-F238E27FC236}">
                    <a16:creationId xmlns:a16="http://schemas.microsoft.com/office/drawing/2014/main" id="{46A3D8ED-79AA-6540-8AC3-849E170413CA}"/>
                  </a:ext>
                </a:extLst>
              </p:cNvPr>
              <p:cNvGrpSpPr>
                <a:grpSpLocks/>
              </p:cNvGrpSpPr>
              <p:nvPr/>
            </p:nvGrpSpPr>
            <p:grpSpPr bwMode="auto">
              <a:xfrm>
                <a:off x="3744" y="3120"/>
                <a:ext cx="192" cy="192"/>
                <a:chOff x="3552" y="2736"/>
                <a:chExt cx="192" cy="192"/>
              </a:xfrm>
            </p:grpSpPr>
            <p:sp>
              <p:nvSpPr>
                <p:cNvPr id="67686" name="Rectangle 526">
                  <a:extLst>
                    <a:ext uri="{FF2B5EF4-FFF2-40B4-BE49-F238E27FC236}">
                      <a16:creationId xmlns:a16="http://schemas.microsoft.com/office/drawing/2014/main" id="{D1738B96-2554-CE45-A78E-5B20B6AF34DE}"/>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87" name="Rectangle 527">
                  <a:extLst>
                    <a:ext uri="{FF2B5EF4-FFF2-40B4-BE49-F238E27FC236}">
                      <a16:creationId xmlns:a16="http://schemas.microsoft.com/office/drawing/2014/main" id="{67A8D8E1-CEA3-854B-AF1D-663705069F08}"/>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11" name="Group 528">
                <a:extLst>
                  <a:ext uri="{FF2B5EF4-FFF2-40B4-BE49-F238E27FC236}">
                    <a16:creationId xmlns:a16="http://schemas.microsoft.com/office/drawing/2014/main" id="{9569AAB7-C452-5343-A6EA-F328A0A22418}"/>
                  </a:ext>
                </a:extLst>
              </p:cNvPr>
              <p:cNvGrpSpPr>
                <a:grpSpLocks/>
              </p:cNvGrpSpPr>
              <p:nvPr/>
            </p:nvGrpSpPr>
            <p:grpSpPr bwMode="auto">
              <a:xfrm>
                <a:off x="3744" y="3312"/>
                <a:ext cx="192" cy="192"/>
                <a:chOff x="3552" y="2736"/>
                <a:chExt cx="192" cy="192"/>
              </a:xfrm>
            </p:grpSpPr>
            <p:sp>
              <p:nvSpPr>
                <p:cNvPr id="67684" name="Rectangle 529">
                  <a:extLst>
                    <a:ext uri="{FF2B5EF4-FFF2-40B4-BE49-F238E27FC236}">
                      <a16:creationId xmlns:a16="http://schemas.microsoft.com/office/drawing/2014/main" id="{DA8D9C58-0A6A-E34A-83DA-A64EFBDB618F}"/>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85" name="Rectangle 530">
                  <a:extLst>
                    <a:ext uri="{FF2B5EF4-FFF2-40B4-BE49-F238E27FC236}">
                      <a16:creationId xmlns:a16="http://schemas.microsoft.com/office/drawing/2014/main" id="{7016DE23-476B-2942-8320-D563FC16C615}"/>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12" name="Group 531">
                <a:extLst>
                  <a:ext uri="{FF2B5EF4-FFF2-40B4-BE49-F238E27FC236}">
                    <a16:creationId xmlns:a16="http://schemas.microsoft.com/office/drawing/2014/main" id="{DAF30E7F-6C71-7E49-827F-63DA6860A5D9}"/>
                  </a:ext>
                </a:extLst>
              </p:cNvPr>
              <p:cNvGrpSpPr>
                <a:grpSpLocks/>
              </p:cNvGrpSpPr>
              <p:nvPr/>
            </p:nvGrpSpPr>
            <p:grpSpPr bwMode="auto">
              <a:xfrm>
                <a:off x="3936" y="2736"/>
                <a:ext cx="192" cy="192"/>
                <a:chOff x="3552" y="2736"/>
                <a:chExt cx="192" cy="192"/>
              </a:xfrm>
            </p:grpSpPr>
            <p:sp>
              <p:nvSpPr>
                <p:cNvPr id="67682" name="Rectangle 532">
                  <a:extLst>
                    <a:ext uri="{FF2B5EF4-FFF2-40B4-BE49-F238E27FC236}">
                      <a16:creationId xmlns:a16="http://schemas.microsoft.com/office/drawing/2014/main" id="{3A39CB43-752A-1C48-829C-D1E14E045855}"/>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83" name="Rectangle 533">
                  <a:extLst>
                    <a:ext uri="{FF2B5EF4-FFF2-40B4-BE49-F238E27FC236}">
                      <a16:creationId xmlns:a16="http://schemas.microsoft.com/office/drawing/2014/main" id="{CBD88C56-493E-A746-A7B4-7F70296185BC}"/>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13" name="Group 534">
                <a:extLst>
                  <a:ext uri="{FF2B5EF4-FFF2-40B4-BE49-F238E27FC236}">
                    <a16:creationId xmlns:a16="http://schemas.microsoft.com/office/drawing/2014/main" id="{22966203-CD22-E449-8626-5F6AF378F8F3}"/>
                  </a:ext>
                </a:extLst>
              </p:cNvPr>
              <p:cNvGrpSpPr>
                <a:grpSpLocks/>
              </p:cNvGrpSpPr>
              <p:nvPr/>
            </p:nvGrpSpPr>
            <p:grpSpPr bwMode="auto">
              <a:xfrm>
                <a:off x="3936" y="2928"/>
                <a:ext cx="192" cy="192"/>
                <a:chOff x="3552" y="2736"/>
                <a:chExt cx="192" cy="192"/>
              </a:xfrm>
            </p:grpSpPr>
            <p:sp>
              <p:nvSpPr>
                <p:cNvPr id="67680" name="Rectangle 535">
                  <a:extLst>
                    <a:ext uri="{FF2B5EF4-FFF2-40B4-BE49-F238E27FC236}">
                      <a16:creationId xmlns:a16="http://schemas.microsoft.com/office/drawing/2014/main" id="{86A7476A-8A6F-284A-91B8-D58316B471DE}"/>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81" name="Rectangle 536">
                  <a:extLst>
                    <a:ext uri="{FF2B5EF4-FFF2-40B4-BE49-F238E27FC236}">
                      <a16:creationId xmlns:a16="http://schemas.microsoft.com/office/drawing/2014/main" id="{4235CF49-D724-0445-8A75-92EB30AA1CF3}"/>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14" name="Group 537">
                <a:extLst>
                  <a:ext uri="{FF2B5EF4-FFF2-40B4-BE49-F238E27FC236}">
                    <a16:creationId xmlns:a16="http://schemas.microsoft.com/office/drawing/2014/main" id="{49857E80-5634-364B-BB79-578CD582B2DE}"/>
                  </a:ext>
                </a:extLst>
              </p:cNvPr>
              <p:cNvGrpSpPr>
                <a:grpSpLocks/>
              </p:cNvGrpSpPr>
              <p:nvPr/>
            </p:nvGrpSpPr>
            <p:grpSpPr bwMode="auto">
              <a:xfrm>
                <a:off x="3936" y="3120"/>
                <a:ext cx="192" cy="192"/>
                <a:chOff x="3552" y="2736"/>
                <a:chExt cx="192" cy="192"/>
              </a:xfrm>
            </p:grpSpPr>
            <p:sp>
              <p:nvSpPr>
                <p:cNvPr id="67678" name="Rectangle 538">
                  <a:extLst>
                    <a:ext uri="{FF2B5EF4-FFF2-40B4-BE49-F238E27FC236}">
                      <a16:creationId xmlns:a16="http://schemas.microsoft.com/office/drawing/2014/main" id="{3AE49184-18AE-574F-9DC4-E2DBEB672606}"/>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79" name="Rectangle 539">
                  <a:extLst>
                    <a:ext uri="{FF2B5EF4-FFF2-40B4-BE49-F238E27FC236}">
                      <a16:creationId xmlns:a16="http://schemas.microsoft.com/office/drawing/2014/main" id="{A793234E-44E8-6342-8349-92635D1879CF}"/>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15" name="Group 540">
                <a:extLst>
                  <a:ext uri="{FF2B5EF4-FFF2-40B4-BE49-F238E27FC236}">
                    <a16:creationId xmlns:a16="http://schemas.microsoft.com/office/drawing/2014/main" id="{ECE5983F-D478-A045-9F73-06079358EEFD}"/>
                  </a:ext>
                </a:extLst>
              </p:cNvPr>
              <p:cNvGrpSpPr>
                <a:grpSpLocks/>
              </p:cNvGrpSpPr>
              <p:nvPr/>
            </p:nvGrpSpPr>
            <p:grpSpPr bwMode="auto">
              <a:xfrm>
                <a:off x="3936" y="3312"/>
                <a:ext cx="192" cy="192"/>
                <a:chOff x="3552" y="2736"/>
                <a:chExt cx="192" cy="192"/>
              </a:xfrm>
            </p:grpSpPr>
            <p:sp>
              <p:nvSpPr>
                <p:cNvPr id="67676" name="Rectangle 541">
                  <a:extLst>
                    <a:ext uri="{FF2B5EF4-FFF2-40B4-BE49-F238E27FC236}">
                      <a16:creationId xmlns:a16="http://schemas.microsoft.com/office/drawing/2014/main" id="{F16A0D3D-89F5-144E-BDA7-2BFAFBB7C172}"/>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77" name="Rectangle 542">
                  <a:extLst>
                    <a:ext uri="{FF2B5EF4-FFF2-40B4-BE49-F238E27FC236}">
                      <a16:creationId xmlns:a16="http://schemas.microsoft.com/office/drawing/2014/main" id="{F1F5DE96-C874-9840-87AF-51C6B35E3C3C}"/>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16" name="Group 543">
                <a:extLst>
                  <a:ext uri="{FF2B5EF4-FFF2-40B4-BE49-F238E27FC236}">
                    <a16:creationId xmlns:a16="http://schemas.microsoft.com/office/drawing/2014/main" id="{A698F0F9-DED7-2841-85BA-4B9D5E47EB3C}"/>
                  </a:ext>
                </a:extLst>
              </p:cNvPr>
              <p:cNvGrpSpPr>
                <a:grpSpLocks/>
              </p:cNvGrpSpPr>
              <p:nvPr/>
            </p:nvGrpSpPr>
            <p:grpSpPr bwMode="auto">
              <a:xfrm>
                <a:off x="4128" y="2736"/>
                <a:ext cx="192" cy="192"/>
                <a:chOff x="3552" y="2736"/>
                <a:chExt cx="192" cy="192"/>
              </a:xfrm>
            </p:grpSpPr>
            <p:sp>
              <p:nvSpPr>
                <p:cNvPr id="67674" name="Rectangle 544">
                  <a:extLst>
                    <a:ext uri="{FF2B5EF4-FFF2-40B4-BE49-F238E27FC236}">
                      <a16:creationId xmlns:a16="http://schemas.microsoft.com/office/drawing/2014/main" id="{6487D69F-BF77-3C4F-BB2B-B8EAE88C3F60}"/>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75" name="Rectangle 545">
                  <a:extLst>
                    <a:ext uri="{FF2B5EF4-FFF2-40B4-BE49-F238E27FC236}">
                      <a16:creationId xmlns:a16="http://schemas.microsoft.com/office/drawing/2014/main" id="{BCA9DDF8-FF3C-4048-A2B5-B6E29123E608}"/>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17" name="Group 546">
                <a:extLst>
                  <a:ext uri="{FF2B5EF4-FFF2-40B4-BE49-F238E27FC236}">
                    <a16:creationId xmlns:a16="http://schemas.microsoft.com/office/drawing/2014/main" id="{E11ED17A-8E78-4143-A0D7-D35ABAE65E4F}"/>
                  </a:ext>
                </a:extLst>
              </p:cNvPr>
              <p:cNvGrpSpPr>
                <a:grpSpLocks/>
              </p:cNvGrpSpPr>
              <p:nvPr/>
            </p:nvGrpSpPr>
            <p:grpSpPr bwMode="auto">
              <a:xfrm>
                <a:off x="4128" y="2928"/>
                <a:ext cx="192" cy="192"/>
                <a:chOff x="3552" y="2736"/>
                <a:chExt cx="192" cy="192"/>
              </a:xfrm>
            </p:grpSpPr>
            <p:sp>
              <p:nvSpPr>
                <p:cNvPr id="67672" name="Rectangle 547">
                  <a:extLst>
                    <a:ext uri="{FF2B5EF4-FFF2-40B4-BE49-F238E27FC236}">
                      <a16:creationId xmlns:a16="http://schemas.microsoft.com/office/drawing/2014/main" id="{FE1BCA7C-9BCA-3345-8B0C-B86E971B9A87}"/>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73" name="Rectangle 548">
                  <a:extLst>
                    <a:ext uri="{FF2B5EF4-FFF2-40B4-BE49-F238E27FC236}">
                      <a16:creationId xmlns:a16="http://schemas.microsoft.com/office/drawing/2014/main" id="{3AD13DB7-03FC-3742-9E58-E559B8A9E3C4}"/>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18" name="Group 549">
                <a:extLst>
                  <a:ext uri="{FF2B5EF4-FFF2-40B4-BE49-F238E27FC236}">
                    <a16:creationId xmlns:a16="http://schemas.microsoft.com/office/drawing/2014/main" id="{3A7465C3-FF72-3341-96D8-02DA38D158B2}"/>
                  </a:ext>
                </a:extLst>
              </p:cNvPr>
              <p:cNvGrpSpPr>
                <a:grpSpLocks/>
              </p:cNvGrpSpPr>
              <p:nvPr/>
            </p:nvGrpSpPr>
            <p:grpSpPr bwMode="auto">
              <a:xfrm>
                <a:off x="4128" y="3120"/>
                <a:ext cx="192" cy="192"/>
                <a:chOff x="3552" y="2736"/>
                <a:chExt cx="192" cy="192"/>
              </a:xfrm>
            </p:grpSpPr>
            <p:sp>
              <p:nvSpPr>
                <p:cNvPr id="67670" name="Rectangle 550">
                  <a:extLst>
                    <a:ext uri="{FF2B5EF4-FFF2-40B4-BE49-F238E27FC236}">
                      <a16:creationId xmlns:a16="http://schemas.microsoft.com/office/drawing/2014/main" id="{61FD7C31-E71D-BC49-A10F-B6BB536EFA52}"/>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71" name="Rectangle 551">
                  <a:extLst>
                    <a:ext uri="{FF2B5EF4-FFF2-40B4-BE49-F238E27FC236}">
                      <a16:creationId xmlns:a16="http://schemas.microsoft.com/office/drawing/2014/main" id="{8567BDA3-015D-A645-9F65-79D22016AC51}"/>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19" name="Group 552">
                <a:extLst>
                  <a:ext uri="{FF2B5EF4-FFF2-40B4-BE49-F238E27FC236}">
                    <a16:creationId xmlns:a16="http://schemas.microsoft.com/office/drawing/2014/main" id="{98F368F4-1DD1-6543-B14D-900A618DD7E4}"/>
                  </a:ext>
                </a:extLst>
              </p:cNvPr>
              <p:cNvGrpSpPr>
                <a:grpSpLocks/>
              </p:cNvGrpSpPr>
              <p:nvPr/>
            </p:nvGrpSpPr>
            <p:grpSpPr bwMode="auto">
              <a:xfrm>
                <a:off x="4128" y="3312"/>
                <a:ext cx="192" cy="192"/>
                <a:chOff x="3552" y="2736"/>
                <a:chExt cx="192" cy="192"/>
              </a:xfrm>
            </p:grpSpPr>
            <p:sp>
              <p:nvSpPr>
                <p:cNvPr id="67668" name="Rectangle 553">
                  <a:extLst>
                    <a:ext uri="{FF2B5EF4-FFF2-40B4-BE49-F238E27FC236}">
                      <a16:creationId xmlns:a16="http://schemas.microsoft.com/office/drawing/2014/main" id="{E194006D-BAE9-6D4E-836A-BC0AEAABCF0C}"/>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69" name="Rectangle 554">
                  <a:extLst>
                    <a:ext uri="{FF2B5EF4-FFF2-40B4-BE49-F238E27FC236}">
                      <a16:creationId xmlns:a16="http://schemas.microsoft.com/office/drawing/2014/main" id="{CC7C2A9A-6419-F547-8978-1F33DDE2800E}"/>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20" name="Group 555">
                <a:extLst>
                  <a:ext uri="{FF2B5EF4-FFF2-40B4-BE49-F238E27FC236}">
                    <a16:creationId xmlns:a16="http://schemas.microsoft.com/office/drawing/2014/main" id="{C035134F-94AB-A74F-8245-F679B96039A9}"/>
                  </a:ext>
                </a:extLst>
              </p:cNvPr>
              <p:cNvGrpSpPr>
                <a:grpSpLocks/>
              </p:cNvGrpSpPr>
              <p:nvPr/>
            </p:nvGrpSpPr>
            <p:grpSpPr bwMode="auto">
              <a:xfrm>
                <a:off x="4320" y="2736"/>
                <a:ext cx="192" cy="192"/>
                <a:chOff x="3552" y="2736"/>
                <a:chExt cx="192" cy="192"/>
              </a:xfrm>
            </p:grpSpPr>
            <p:sp>
              <p:nvSpPr>
                <p:cNvPr id="67666" name="Rectangle 556">
                  <a:extLst>
                    <a:ext uri="{FF2B5EF4-FFF2-40B4-BE49-F238E27FC236}">
                      <a16:creationId xmlns:a16="http://schemas.microsoft.com/office/drawing/2014/main" id="{C9CDA5F7-1493-3D47-A673-C6862EC029FF}"/>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67" name="Rectangle 557">
                  <a:extLst>
                    <a:ext uri="{FF2B5EF4-FFF2-40B4-BE49-F238E27FC236}">
                      <a16:creationId xmlns:a16="http://schemas.microsoft.com/office/drawing/2014/main" id="{5A465EB3-CA7C-9C4F-AA2B-943CA0E6ABDF}"/>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21" name="Group 558">
                <a:extLst>
                  <a:ext uri="{FF2B5EF4-FFF2-40B4-BE49-F238E27FC236}">
                    <a16:creationId xmlns:a16="http://schemas.microsoft.com/office/drawing/2014/main" id="{76D1B2E2-B7F0-3D4E-8D13-873C2F89C792}"/>
                  </a:ext>
                </a:extLst>
              </p:cNvPr>
              <p:cNvGrpSpPr>
                <a:grpSpLocks/>
              </p:cNvGrpSpPr>
              <p:nvPr/>
            </p:nvGrpSpPr>
            <p:grpSpPr bwMode="auto">
              <a:xfrm>
                <a:off x="4320" y="2928"/>
                <a:ext cx="192" cy="192"/>
                <a:chOff x="3552" y="2736"/>
                <a:chExt cx="192" cy="192"/>
              </a:xfrm>
            </p:grpSpPr>
            <p:sp>
              <p:nvSpPr>
                <p:cNvPr id="67664" name="Rectangle 559">
                  <a:extLst>
                    <a:ext uri="{FF2B5EF4-FFF2-40B4-BE49-F238E27FC236}">
                      <a16:creationId xmlns:a16="http://schemas.microsoft.com/office/drawing/2014/main" id="{7A571582-F403-444F-8E84-30502B7FB237}"/>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65" name="Rectangle 560">
                  <a:extLst>
                    <a:ext uri="{FF2B5EF4-FFF2-40B4-BE49-F238E27FC236}">
                      <a16:creationId xmlns:a16="http://schemas.microsoft.com/office/drawing/2014/main" id="{505FD5E3-DEE1-1646-8FB6-17D1F4B3A6A0}"/>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22" name="Group 561">
                <a:extLst>
                  <a:ext uri="{FF2B5EF4-FFF2-40B4-BE49-F238E27FC236}">
                    <a16:creationId xmlns:a16="http://schemas.microsoft.com/office/drawing/2014/main" id="{A98C1E46-C3B1-3D44-9B46-C5963F5B39B8}"/>
                  </a:ext>
                </a:extLst>
              </p:cNvPr>
              <p:cNvGrpSpPr>
                <a:grpSpLocks/>
              </p:cNvGrpSpPr>
              <p:nvPr/>
            </p:nvGrpSpPr>
            <p:grpSpPr bwMode="auto">
              <a:xfrm>
                <a:off x="4320" y="3120"/>
                <a:ext cx="192" cy="192"/>
                <a:chOff x="3552" y="2736"/>
                <a:chExt cx="192" cy="192"/>
              </a:xfrm>
            </p:grpSpPr>
            <p:sp>
              <p:nvSpPr>
                <p:cNvPr id="67662" name="Rectangle 562">
                  <a:extLst>
                    <a:ext uri="{FF2B5EF4-FFF2-40B4-BE49-F238E27FC236}">
                      <a16:creationId xmlns:a16="http://schemas.microsoft.com/office/drawing/2014/main" id="{5FD6B994-30F9-FE43-80BF-33A85836A9A4}"/>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63" name="Rectangle 563">
                  <a:extLst>
                    <a:ext uri="{FF2B5EF4-FFF2-40B4-BE49-F238E27FC236}">
                      <a16:creationId xmlns:a16="http://schemas.microsoft.com/office/drawing/2014/main" id="{CE2C8A67-D401-EB46-9429-A41A137B7D20}"/>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23" name="Group 564">
                <a:extLst>
                  <a:ext uri="{FF2B5EF4-FFF2-40B4-BE49-F238E27FC236}">
                    <a16:creationId xmlns:a16="http://schemas.microsoft.com/office/drawing/2014/main" id="{2CD7FC01-4D54-3141-9A24-1683D21618CD}"/>
                  </a:ext>
                </a:extLst>
              </p:cNvPr>
              <p:cNvGrpSpPr>
                <a:grpSpLocks/>
              </p:cNvGrpSpPr>
              <p:nvPr/>
            </p:nvGrpSpPr>
            <p:grpSpPr bwMode="auto">
              <a:xfrm>
                <a:off x="4320" y="3312"/>
                <a:ext cx="192" cy="192"/>
                <a:chOff x="3552" y="2736"/>
                <a:chExt cx="192" cy="192"/>
              </a:xfrm>
            </p:grpSpPr>
            <p:sp>
              <p:nvSpPr>
                <p:cNvPr id="67660" name="Rectangle 565">
                  <a:extLst>
                    <a:ext uri="{FF2B5EF4-FFF2-40B4-BE49-F238E27FC236}">
                      <a16:creationId xmlns:a16="http://schemas.microsoft.com/office/drawing/2014/main" id="{10A51C3C-DC7B-854A-924D-784CB3091A4B}"/>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61" name="Rectangle 566">
                  <a:extLst>
                    <a:ext uri="{FF2B5EF4-FFF2-40B4-BE49-F238E27FC236}">
                      <a16:creationId xmlns:a16="http://schemas.microsoft.com/office/drawing/2014/main" id="{3EDD74B0-8A9B-5147-B45A-AAF7D28021FF}"/>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24" name="Group 567">
                <a:extLst>
                  <a:ext uri="{FF2B5EF4-FFF2-40B4-BE49-F238E27FC236}">
                    <a16:creationId xmlns:a16="http://schemas.microsoft.com/office/drawing/2014/main" id="{376FF679-E097-744C-8FD9-44D7F20B754F}"/>
                  </a:ext>
                </a:extLst>
              </p:cNvPr>
              <p:cNvGrpSpPr>
                <a:grpSpLocks/>
              </p:cNvGrpSpPr>
              <p:nvPr/>
            </p:nvGrpSpPr>
            <p:grpSpPr bwMode="auto">
              <a:xfrm>
                <a:off x="4512" y="2736"/>
                <a:ext cx="192" cy="192"/>
                <a:chOff x="3552" y="2736"/>
                <a:chExt cx="192" cy="192"/>
              </a:xfrm>
            </p:grpSpPr>
            <p:sp>
              <p:nvSpPr>
                <p:cNvPr id="67658" name="Rectangle 568">
                  <a:extLst>
                    <a:ext uri="{FF2B5EF4-FFF2-40B4-BE49-F238E27FC236}">
                      <a16:creationId xmlns:a16="http://schemas.microsoft.com/office/drawing/2014/main" id="{F9EE8818-BB25-534D-B528-C85C645A11A4}"/>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59" name="Rectangle 569">
                  <a:extLst>
                    <a:ext uri="{FF2B5EF4-FFF2-40B4-BE49-F238E27FC236}">
                      <a16:creationId xmlns:a16="http://schemas.microsoft.com/office/drawing/2014/main" id="{4FA2710B-5BE0-3642-88A6-2324FBEEA5F8}"/>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25" name="Group 570">
                <a:extLst>
                  <a:ext uri="{FF2B5EF4-FFF2-40B4-BE49-F238E27FC236}">
                    <a16:creationId xmlns:a16="http://schemas.microsoft.com/office/drawing/2014/main" id="{62F4C443-6837-3F4C-9748-80BAAD2E199C}"/>
                  </a:ext>
                </a:extLst>
              </p:cNvPr>
              <p:cNvGrpSpPr>
                <a:grpSpLocks/>
              </p:cNvGrpSpPr>
              <p:nvPr/>
            </p:nvGrpSpPr>
            <p:grpSpPr bwMode="auto">
              <a:xfrm>
                <a:off x="4512" y="2928"/>
                <a:ext cx="192" cy="192"/>
                <a:chOff x="3552" y="2736"/>
                <a:chExt cx="192" cy="192"/>
              </a:xfrm>
            </p:grpSpPr>
            <p:sp>
              <p:nvSpPr>
                <p:cNvPr id="67656" name="Rectangle 571">
                  <a:extLst>
                    <a:ext uri="{FF2B5EF4-FFF2-40B4-BE49-F238E27FC236}">
                      <a16:creationId xmlns:a16="http://schemas.microsoft.com/office/drawing/2014/main" id="{4E9E9D9E-A99A-6648-8882-8DF8523CC32E}"/>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57" name="Rectangle 572">
                  <a:extLst>
                    <a:ext uri="{FF2B5EF4-FFF2-40B4-BE49-F238E27FC236}">
                      <a16:creationId xmlns:a16="http://schemas.microsoft.com/office/drawing/2014/main" id="{B3DFDA83-FEDB-844B-8D7D-0EA2B5C54954}"/>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26" name="Group 573">
                <a:extLst>
                  <a:ext uri="{FF2B5EF4-FFF2-40B4-BE49-F238E27FC236}">
                    <a16:creationId xmlns:a16="http://schemas.microsoft.com/office/drawing/2014/main" id="{3263E1E1-06AA-D648-BA4D-193240361847}"/>
                  </a:ext>
                </a:extLst>
              </p:cNvPr>
              <p:cNvGrpSpPr>
                <a:grpSpLocks/>
              </p:cNvGrpSpPr>
              <p:nvPr/>
            </p:nvGrpSpPr>
            <p:grpSpPr bwMode="auto">
              <a:xfrm>
                <a:off x="4512" y="3120"/>
                <a:ext cx="192" cy="192"/>
                <a:chOff x="3552" y="2736"/>
                <a:chExt cx="192" cy="192"/>
              </a:xfrm>
            </p:grpSpPr>
            <p:sp>
              <p:nvSpPr>
                <p:cNvPr id="67654" name="Rectangle 574">
                  <a:extLst>
                    <a:ext uri="{FF2B5EF4-FFF2-40B4-BE49-F238E27FC236}">
                      <a16:creationId xmlns:a16="http://schemas.microsoft.com/office/drawing/2014/main" id="{046FA060-8972-6349-8EF0-E3A1F6763313}"/>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55" name="Rectangle 575">
                  <a:extLst>
                    <a:ext uri="{FF2B5EF4-FFF2-40B4-BE49-F238E27FC236}">
                      <a16:creationId xmlns:a16="http://schemas.microsoft.com/office/drawing/2014/main" id="{AD861A1E-8E43-FE43-8F0C-7CD58FF1C451}"/>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27" name="Group 576">
                <a:extLst>
                  <a:ext uri="{FF2B5EF4-FFF2-40B4-BE49-F238E27FC236}">
                    <a16:creationId xmlns:a16="http://schemas.microsoft.com/office/drawing/2014/main" id="{7F19C4FC-0D94-B54C-8035-6E3EB5BE0486}"/>
                  </a:ext>
                </a:extLst>
              </p:cNvPr>
              <p:cNvGrpSpPr>
                <a:grpSpLocks/>
              </p:cNvGrpSpPr>
              <p:nvPr/>
            </p:nvGrpSpPr>
            <p:grpSpPr bwMode="auto">
              <a:xfrm>
                <a:off x="4512" y="3312"/>
                <a:ext cx="192" cy="192"/>
                <a:chOff x="3552" y="2736"/>
                <a:chExt cx="192" cy="192"/>
              </a:xfrm>
            </p:grpSpPr>
            <p:sp>
              <p:nvSpPr>
                <p:cNvPr id="67652" name="Rectangle 577">
                  <a:extLst>
                    <a:ext uri="{FF2B5EF4-FFF2-40B4-BE49-F238E27FC236}">
                      <a16:creationId xmlns:a16="http://schemas.microsoft.com/office/drawing/2014/main" id="{75ACBD1E-CF02-C144-9815-865154530711}"/>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53" name="Rectangle 578">
                  <a:extLst>
                    <a:ext uri="{FF2B5EF4-FFF2-40B4-BE49-F238E27FC236}">
                      <a16:creationId xmlns:a16="http://schemas.microsoft.com/office/drawing/2014/main" id="{AC305BA0-B802-A544-92B6-83C2EA2BE1ED}"/>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28" name="Group 579">
                <a:extLst>
                  <a:ext uri="{FF2B5EF4-FFF2-40B4-BE49-F238E27FC236}">
                    <a16:creationId xmlns:a16="http://schemas.microsoft.com/office/drawing/2014/main" id="{8D11B660-1753-2542-B37E-FC0843C62EFE}"/>
                  </a:ext>
                </a:extLst>
              </p:cNvPr>
              <p:cNvGrpSpPr>
                <a:grpSpLocks/>
              </p:cNvGrpSpPr>
              <p:nvPr/>
            </p:nvGrpSpPr>
            <p:grpSpPr bwMode="auto">
              <a:xfrm>
                <a:off x="4704" y="2736"/>
                <a:ext cx="192" cy="192"/>
                <a:chOff x="3552" y="2736"/>
                <a:chExt cx="192" cy="192"/>
              </a:xfrm>
            </p:grpSpPr>
            <p:sp>
              <p:nvSpPr>
                <p:cNvPr id="67650" name="Rectangle 580">
                  <a:extLst>
                    <a:ext uri="{FF2B5EF4-FFF2-40B4-BE49-F238E27FC236}">
                      <a16:creationId xmlns:a16="http://schemas.microsoft.com/office/drawing/2014/main" id="{0433DCA4-2665-1349-B9D6-7D17DBAC5A88}"/>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51" name="Rectangle 581">
                  <a:extLst>
                    <a:ext uri="{FF2B5EF4-FFF2-40B4-BE49-F238E27FC236}">
                      <a16:creationId xmlns:a16="http://schemas.microsoft.com/office/drawing/2014/main" id="{499AEC1C-F9C5-1A48-B198-1D3EF86694B0}"/>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29" name="Group 582">
                <a:extLst>
                  <a:ext uri="{FF2B5EF4-FFF2-40B4-BE49-F238E27FC236}">
                    <a16:creationId xmlns:a16="http://schemas.microsoft.com/office/drawing/2014/main" id="{9D7D6F6A-F4BB-8C44-81B4-B85B71AB2AE3}"/>
                  </a:ext>
                </a:extLst>
              </p:cNvPr>
              <p:cNvGrpSpPr>
                <a:grpSpLocks/>
              </p:cNvGrpSpPr>
              <p:nvPr/>
            </p:nvGrpSpPr>
            <p:grpSpPr bwMode="auto">
              <a:xfrm>
                <a:off x="4704" y="2928"/>
                <a:ext cx="192" cy="192"/>
                <a:chOff x="3552" y="2736"/>
                <a:chExt cx="192" cy="192"/>
              </a:xfrm>
            </p:grpSpPr>
            <p:sp>
              <p:nvSpPr>
                <p:cNvPr id="67648" name="Rectangle 583">
                  <a:extLst>
                    <a:ext uri="{FF2B5EF4-FFF2-40B4-BE49-F238E27FC236}">
                      <a16:creationId xmlns:a16="http://schemas.microsoft.com/office/drawing/2014/main" id="{3CF2B1C2-46AD-7249-83B1-6607EF862DB3}"/>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49" name="Rectangle 584">
                  <a:extLst>
                    <a:ext uri="{FF2B5EF4-FFF2-40B4-BE49-F238E27FC236}">
                      <a16:creationId xmlns:a16="http://schemas.microsoft.com/office/drawing/2014/main" id="{D2AF9075-CA08-5A49-B6E4-0920D219259D}"/>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30" name="Group 585">
                <a:extLst>
                  <a:ext uri="{FF2B5EF4-FFF2-40B4-BE49-F238E27FC236}">
                    <a16:creationId xmlns:a16="http://schemas.microsoft.com/office/drawing/2014/main" id="{F5E2F884-AAFC-A044-AD94-04F462D8AA41}"/>
                  </a:ext>
                </a:extLst>
              </p:cNvPr>
              <p:cNvGrpSpPr>
                <a:grpSpLocks/>
              </p:cNvGrpSpPr>
              <p:nvPr/>
            </p:nvGrpSpPr>
            <p:grpSpPr bwMode="auto">
              <a:xfrm>
                <a:off x="4704" y="3120"/>
                <a:ext cx="192" cy="192"/>
                <a:chOff x="3552" y="2736"/>
                <a:chExt cx="192" cy="192"/>
              </a:xfrm>
            </p:grpSpPr>
            <p:sp>
              <p:nvSpPr>
                <p:cNvPr id="67646" name="Rectangle 586">
                  <a:extLst>
                    <a:ext uri="{FF2B5EF4-FFF2-40B4-BE49-F238E27FC236}">
                      <a16:creationId xmlns:a16="http://schemas.microsoft.com/office/drawing/2014/main" id="{AC54B28C-849B-4646-B3DB-3510F2ABE186}"/>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47" name="Rectangle 587">
                  <a:extLst>
                    <a:ext uri="{FF2B5EF4-FFF2-40B4-BE49-F238E27FC236}">
                      <a16:creationId xmlns:a16="http://schemas.microsoft.com/office/drawing/2014/main" id="{2F5F9583-E6FF-C24C-9495-98B6CE90BD0A}"/>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31" name="Group 588">
                <a:extLst>
                  <a:ext uri="{FF2B5EF4-FFF2-40B4-BE49-F238E27FC236}">
                    <a16:creationId xmlns:a16="http://schemas.microsoft.com/office/drawing/2014/main" id="{1315374E-05C5-4D49-90E2-AF7158279630}"/>
                  </a:ext>
                </a:extLst>
              </p:cNvPr>
              <p:cNvGrpSpPr>
                <a:grpSpLocks/>
              </p:cNvGrpSpPr>
              <p:nvPr/>
            </p:nvGrpSpPr>
            <p:grpSpPr bwMode="auto">
              <a:xfrm>
                <a:off x="4704" y="3312"/>
                <a:ext cx="192" cy="192"/>
                <a:chOff x="3552" y="2736"/>
                <a:chExt cx="192" cy="192"/>
              </a:xfrm>
            </p:grpSpPr>
            <p:sp>
              <p:nvSpPr>
                <p:cNvPr id="67644" name="Rectangle 589">
                  <a:extLst>
                    <a:ext uri="{FF2B5EF4-FFF2-40B4-BE49-F238E27FC236}">
                      <a16:creationId xmlns:a16="http://schemas.microsoft.com/office/drawing/2014/main" id="{C54761DD-5BA8-B04A-844F-3461F28CF0CF}"/>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45" name="Rectangle 590">
                  <a:extLst>
                    <a:ext uri="{FF2B5EF4-FFF2-40B4-BE49-F238E27FC236}">
                      <a16:creationId xmlns:a16="http://schemas.microsoft.com/office/drawing/2014/main" id="{961E0F3E-0F6F-F04A-85E6-E835168A9185}"/>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32" name="Group 591">
                <a:extLst>
                  <a:ext uri="{FF2B5EF4-FFF2-40B4-BE49-F238E27FC236}">
                    <a16:creationId xmlns:a16="http://schemas.microsoft.com/office/drawing/2014/main" id="{2DBC7EC0-621E-E544-9B4B-29B2E4D7A4D6}"/>
                  </a:ext>
                </a:extLst>
              </p:cNvPr>
              <p:cNvGrpSpPr>
                <a:grpSpLocks/>
              </p:cNvGrpSpPr>
              <p:nvPr/>
            </p:nvGrpSpPr>
            <p:grpSpPr bwMode="auto">
              <a:xfrm>
                <a:off x="4896" y="2736"/>
                <a:ext cx="192" cy="192"/>
                <a:chOff x="3552" y="2736"/>
                <a:chExt cx="192" cy="192"/>
              </a:xfrm>
            </p:grpSpPr>
            <p:sp>
              <p:nvSpPr>
                <p:cNvPr id="67642" name="Rectangle 592">
                  <a:extLst>
                    <a:ext uri="{FF2B5EF4-FFF2-40B4-BE49-F238E27FC236}">
                      <a16:creationId xmlns:a16="http://schemas.microsoft.com/office/drawing/2014/main" id="{C9B67DC8-2CC3-AB4D-9F07-763F83A813BC}"/>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43" name="Rectangle 593">
                  <a:extLst>
                    <a:ext uri="{FF2B5EF4-FFF2-40B4-BE49-F238E27FC236}">
                      <a16:creationId xmlns:a16="http://schemas.microsoft.com/office/drawing/2014/main" id="{E61ED91F-6378-2246-A4FD-A1300F088452}"/>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33" name="Group 594">
                <a:extLst>
                  <a:ext uri="{FF2B5EF4-FFF2-40B4-BE49-F238E27FC236}">
                    <a16:creationId xmlns:a16="http://schemas.microsoft.com/office/drawing/2014/main" id="{E1A9F32C-C070-FB43-8C93-2AAF2661A812}"/>
                  </a:ext>
                </a:extLst>
              </p:cNvPr>
              <p:cNvGrpSpPr>
                <a:grpSpLocks/>
              </p:cNvGrpSpPr>
              <p:nvPr/>
            </p:nvGrpSpPr>
            <p:grpSpPr bwMode="auto">
              <a:xfrm>
                <a:off x="4896" y="2928"/>
                <a:ext cx="192" cy="192"/>
                <a:chOff x="3552" y="2736"/>
                <a:chExt cx="192" cy="192"/>
              </a:xfrm>
            </p:grpSpPr>
            <p:sp>
              <p:nvSpPr>
                <p:cNvPr id="67640" name="Rectangle 595">
                  <a:extLst>
                    <a:ext uri="{FF2B5EF4-FFF2-40B4-BE49-F238E27FC236}">
                      <a16:creationId xmlns:a16="http://schemas.microsoft.com/office/drawing/2014/main" id="{0ACDFAC0-AAC5-5848-A398-D1FBBC2246FB}"/>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41" name="Rectangle 596">
                  <a:extLst>
                    <a:ext uri="{FF2B5EF4-FFF2-40B4-BE49-F238E27FC236}">
                      <a16:creationId xmlns:a16="http://schemas.microsoft.com/office/drawing/2014/main" id="{2079A81E-B342-2B4C-A87E-92164EF98839}"/>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34" name="Group 597">
                <a:extLst>
                  <a:ext uri="{FF2B5EF4-FFF2-40B4-BE49-F238E27FC236}">
                    <a16:creationId xmlns:a16="http://schemas.microsoft.com/office/drawing/2014/main" id="{170FF582-2CB8-CA4D-BE33-89A6226E60E9}"/>
                  </a:ext>
                </a:extLst>
              </p:cNvPr>
              <p:cNvGrpSpPr>
                <a:grpSpLocks/>
              </p:cNvGrpSpPr>
              <p:nvPr/>
            </p:nvGrpSpPr>
            <p:grpSpPr bwMode="auto">
              <a:xfrm>
                <a:off x="4896" y="3120"/>
                <a:ext cx="192" cy="192"/>
                <a:chOff x="3552" y="2736"/>
                <a:chExt cx="192" cy="192"/>
              </a:xfrm>
            </p:grpSpPr>
            <p:sp>
              <p:nvSpPr>
                <p:cNvPr id="67638" name="Rectangle 598">
                  <a:extLst>
                    <a:ext uri="{FF2B5EF4-FFF2-40B4-BE49-F238E27FC236}">
                      <a16:creationId xmlns:a16="http://schemas.microsoft.com/office/drawing/2014/main" id="{0AE6EA3A-E3A0-BB47-9003-20452A33443B}"/>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39" name="Rectangle 599">
                  <a:extLst>
                    <a:ext uri="{FF2B5EF4-FFF2-40B4-BE49-F238E27FC236}">
                      <a16:creationId xmlns:a16="http://schemas.microsoft.com/office/drawing/2014/main" id="{34FA8571-B555-4942-8D16-AB6EFB8B7A83}"/>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7635" name="Group 600">
                <a:extLst>
                  <a:ext uri="{FF2B5EF4-FFF2-40B4-BE49-F238E27FC236}">
                    <a16:creationId xmlns:a16="http://schemas.microsoft.com/office/drawing/2014/main" id="{5EADAD18-891E-0D44-992F-7BC48E9A0987}"/>
                  </a:ext>
                </a:extLst>
              </p:cNvPr>
              <p:cNvGrpSpPr>
                <a:grpSpLocks/>
              </p:cNvGrpSpPr>
              <p:nvPr/>
            </p:nvGrpSpPr>
            <p:grpSpPr bwMode="auto">
              <a:xfrm>
                <a:off x="4896" y="3312"/>
                <a:ext cx="192" cy="192"/>
                <a:chOff x="3552" y="2736"/>
                <a:chExt cx="192" cy="192"/>
              </a:xfrm>
            </p:grpSpPr>
            <p:sp>
              <p:nvSpPr>
                <p:cNvPr id="67636" name="Rectangle 601">
                  <a:extLst>
                    <a:ext uri="{FF2B5EF4-FFF2-40B4-BE49-F238E27FC236}">
                      <a16:creationId xmlns:a16="http://schemas.microsoft.com/office/drawing/2014/main" id="{3D5FDD9F-B85F-4749-9501-45078566B0C7}"/>
                    </a:ext>
                  </a:extLst>
                </p:cNvPr>
                <p:cNvSpPr>
                  <a:spLocks noChangeArrowheads="1"/>
                </p:cNvSpPr>
                <p:nvPr/>
              </p:nvSpPr>
              <p:spPr bwMode="auto">
                <a:xfrm>
                  <a:off x="3552" y="2736"/>
                  <a:ext cx="192" cy="192"/>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637" name="Rectangle 602">
                  <a:extLst>
                    <a:ext uri="{FF2B5EF4-FFF2-40B4-BE49-F238E27FC236}">
                      <a16:creationId xmlns:a16="http://schemas.microsoft.com/office/drawing/2014/main" id="{BB9CFB19-C93A-7043-8908-664388ABC0B2}"/>
                    </a:ext>
                  </a:extLst>
                </p:cNvPr>
                <p:cNvSpPr>
                  <a:spLocks noChangeArrowheads="1"/>
                </p:cNvSpPr>
                <p:nvPr/>
              </p:nvSpPr>
              <p:spPr bwMode="auto">
                <a:xfrm>
                  <a:off x="3600" y="2784"/>
                  <a:ext cx="96" cy="96"/>
                </a:xfrm>
                <a:prstGeom prst="rect">
                  <a:avLst/>
                </a:prstGeom>
                <a:solidFill>
                  <a:srgbClr val="FF00FF"/>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67602" name="AutoShape 603">
              <a:extLst>
                <a:ext uri="{FF2B5EF4-FFF2-40B4-BE49-F238E27FC236}">
                  <a16:creationId xmlns:a16="http://schemas.microsoft.com/office/drawing/2014/main" id="{DA3B293D-A9B1-374B-AC49-0019E16BAAFB}"/>
                </a:ext>
              </a:extLst>
            </p:cNvPr>
            <p:cNvSpPr>
              <a:spLocks noChangeArrowheads="1"/>
            </p:cNvSpPr>
            <p:nvPr/>
          </p:nvSpPr>
          <p:spPr bwMode="auto">
            <a:xfrm>
              <a:off x="3552" y="2545"/>
              <a:ext cx="481" cy="462"/>
            </a:xfrm>
            <a:prstGeom prst="rightArrow">
              <a:avLst>
                <a:gd name="adj1" fmla="val 50000"/>
                <a:gd name="adj2" fmla="val 28028"/>
              </a:avLst>
            </a:prstGeom>
            <a:solidFill>
              <a:schemeClr val="bg1"/>
            </a:solidFill>
            <a:ln w="38100">
              <a:solidFill>
                <a:schemeClr val="tx1"/>
              </a:solidFill>
              <a:miter lim="800000"/>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W5</a:t>
              </a:r>
            </a:p>
          </p:txBody>
        </p:sp>
      </p:grpSp>
      <p:sp>
        <p:nvSpPr>
          <p:cNvPr id="67594" name="Text Box 604">
            <a:extLst>
              <a:ext uri="{FF2B5EF4-FFF2-40B4-BE49-F238E27FC236}">
                <a16:creationId xmlns:a16="http://schemas.microsoft.com/office/drawing/2014/main" id="{5D7816B0-CD7C-BA40-9984-3C36D342D440}"/>
              </a:ext>
            </a:extLst>
          </p:cNvPr>
          <p:cNvSpPr txBox="1">
            <a:spLocks noChangeArrowheads="1"/>
          </p:cNvSpPr>
          <p:nvPr/>
        </p:nvSpPr>
        <p:spPr bwMode="auto">
          <a:xfrm>
            <a:off x="2097088" y="2230438"/>
            <a:ext cx="12747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Load Unit</a:t>
            </a:r>
          </a:p>
        </p:txBody>
      </p:sp>
      <p:sp>
        <p:nvSpPr>
          <p:cNvPr id="67595" name="Text Box 605">
            <a:extLst>
              <a:ext uri="{FF2B5EF4-FFF2-40B4-BE49-F238E27FC236}">
                <a16:creationId xmlns:a16="http://schemas.microsoft.com/office/drawing/2014/main" id="{D8C39046-8CA3-BB4A-B465-96D327CADF19}"/>
              </a:ext>
            </a:extLst>
          </p:cNvPr>
          <p:cNvSpPr txBox="1">
            <a:spLocks noChangeArrowheads="1"/>
          </p:cNvSpPr>
          <p:nvPr/>
        </p:nvSpPr>
        <p:spPr bwMode="auto">
          <a:xfrm>
            <a:off x="4384675" y="2230438"/>
            <a:ext cx="16224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Multiply Unit</a:t>
            </a:r>
          </a:p>
        </p:txBody>
      </p:sp>
      <p:sp>
        <p:nvSpPr>
          <p:cNvPr id="67596" name="Text Box 606">
            <a:extLst>
              <a:ext uri="{FF2B5EF4-FFF2-40B4-BE49-F238E27FC236}">
                <a16:creationId xmlns:a16="http://schemas.microsoft.com/office/drawing/2014/main" id="{3AD0D7A6-67A8-1142-BFF3-E770020E8524}"/>
              </a:ext>
            </a:extLst>
          </p:cNvPr>
          <p:cNvSpPr txBox="1">
            <a:spLocks noChangeArrowheads="1"/>
          </p:cNvSpPr>
          <p:nvPr/>
        </p:nvSpPr>
        <p:spPr bwMode="auto">
          <a:xfrm>
            <a:off x="7045325" y="2230438"/>
            <a:ext cx="11699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Add Unit</a:t>
            </a:r>
          </a:p>
        </p:txBody>
      </p:sp>
      <p:sp>
        <p:nvSpPr>
          <p:cNvPr id="67597" name="Line 607">
            <a:extLst>
              <a:ext uri="{FF2B5EF4-FFF2-40B4-BE49-F238E27FC236}">
                <a16:creationId xmlns:a16="http://schemas.microsoft.com/office/drawing/2014/main" id="{CB0B6173-907F-284F-BB2A-95A26FF893D2}"/>
              </a:ext>
            </a:extLst>
          </p:cNvPr>
          <p:cNvSpPr>
            <a:spLocks noChangeShapeType="1"/>
          </p:cNvSpPr>
          <p:nvPr/>
        </p:nvSpPr>
        <p:spPr bwMode="auto">
          <a:xfrm>
            <a:off x="228600" y="3130550"/>
            <a:ext cx="0" cy="9144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598" name="Text Box 608">
            <a:extLst>
              <a:ext uri="{FF2B5EF4-FFF2-40B4-BE49-F238E27FC236}">
                <a16:creationId xmlns:a16="http://schemas.microsoft.com/office/drawing/2014/main" id="{F3EAD9D0-3FCA-0E46-B065-4A664737D154}"/>
              </a:ext>
            </a:extLst>
          </p:cNvPr>
          <p:cNvSpPr txBox="1">
            <a:spLocks noChangeArrowheads="1"/>
          </p:cNvSpPr>
          <p:nvPr/>
        </p:nvSpPr>
        <p:spPr bwMode="auto">
          <a:xfrm>
            <a:off x="231775" y="3373438"/>
            <a:ext cx="6953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1"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time</a:t>
            </a:r>
          </a:p>
        </p:txBody>
      </p:sp>
      <p:sp>
        <p:nvSpPr>
          <p:cNvPr id="67599" name="AutoShape 609">
            <a:extLst>
              <a:ext uri="{FF2B5EF4-FFF2-40B4-BE49-F238E27FC236}">
                <a16:creationId xmlns:a16="http://schemas.microsoft.com/office/drawing/2014/main" id="{06120BAD-A1AF-DF42-991B-A9833FBB5980}"/>
              </a:ext>
            </a:extLst>
          </p:cNvPr>
          <p:cNvSpPr>
            <a:spLocks noChangeArrowheads="1"/>
          </p:cNvSpPr>
          <p:nvPr/>
        </p:nvSpPr>
        <p:spPr bwMode="auto">
          <a:xfrm>
            <a:off x="838200" y="5588000"/>
            <a:ext cx="1449388" cy="612775"/>
          </a:xfrm>
          <a:prstGeom prst="rightArrow">
            <a:avLst>
              <a:gd name="adj1" fmla="val 50000"/>
              <a:gd name="adj2" fmla="val 36848"/>
            </a:avLst>
          </a:prstGeom>
          <a:solidFill>
            <a:schemeClr val="bg1"/>
          </a:solidFill>
          <a:ln w="38100">
            <a:solidFill>
              <a:schemeClr val="tx1"/>
            </a:solidFill>
            <a:miter lim="800000"/>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400" b="0" i="1"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Warp issue</a:t>
            </a:r>
          </a:p>
        </p:txBody>
      </p:sp>
      <p:sp>
        <p:nvSpPr>
          <p:cNvPr id="67600" name="TextBox 610">
            <a:extLst>
              <a:ext uri="{FF2B5EF4-FFF2-40B4-BE49-F238E27FC236}">
                <a16:creationId xmlns:a16="http://schemas.microsoft.com/office/drawing/2014/main" id="{513FFC57-9CFD-8F43-956F-548F9CB97802}"/>
              </a:ext>
            </a:extLst>
          </p:cNvPr>
          <p:cNvSpPr txBox="1">
            <a:spLocks noChangeArrowheads="1"/>
          </p:cNvSpPr>
          <p:nvPr/>
        </p:nvSpPr>
        <p:spPr bwMode="auto">
          <a:xfrm>
            <a:off x="152400" y="6535738"/>
            <a:ext cx="1738313"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Krste Asanovic</a:t>
            </a:r>
          </a:p>
        </p:txBody>
      </p:sp>
    </p:spTree>
    <p:extLst>
      <p:ext uri="{BB962C8B-B14F-4D97-AF65-F5344CB8AC3E}">
        <p14:creationId xmlns:p14="http://schemas.microsoft.com/office/powerpoint/2010/main" val="338299320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342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4352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4303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4362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431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68F9301F-200A-4C9F-9BC7-A9CA02E8A85A}"/>
              </a:ext>
            </a:extLst>
          </p:cNvPr>
          <p:cNvSpPr/>
          <p:nvPr/>
        </p:nvSpPr>
        <p:spPr>
          <a:xfrm>
            <a:off x="2069292" y="951862"/>
            <a:ext cx="4788490" cy="461665"/>
          </a:xfrm>
          <a:prstGeom prst="rect">
            <a:avLst/>
          </a:prstGeom>
        </p:spPr>
        <p:txBody>
          <a:bodyPr wrap="none">
            <a:spAutoFit/>
          </a:bodyPr>
          <a:lstStyle/>
          <a:p>
            <a:r>
              <a:rPr lang="en-US" altLang="zh-CN" sz="2400" dirty="0">
                <a:solidFill>
                  <a:srgbClr val="C00000"/>
                </a:solidFill>
                <a:cs typeface="+mj-cs"/>
              </a:rPr>
              <a:t>Motivation of In-network Computing</a:t>
            </a:r>
            <a:endParaRPr lang="zh-CN" altLang="en-US" sz="1200" dirty="0"/>
          </a:p>
        </p:txBody>
      </p:sp>
      <p:sp>
        <p:nvSpPr>
          <p:cNvPr id="54" name="Rectangle 2">
            <a:extLst>
              <a:ext uri="{FF2B5EF4-FFF2-40B4-BE49-F238E27FC236}">
                <a16:creationId xmlns:a16="http://schemas.microsoft.com/office/drawing/2014/main" id="{82D9D992-8110-4752-809A-6133FEB65846}"/>
              </a:ext>
            </a:extLst>
          </p:cNvPr>
          <p:cNvSpPr/>
          <p:nvPr/>
        </p:nvSpPr>
        <p:spPr>
          <a:xfrm>
            <a:off x="-106251" y="-203200"/>
            <a:ext cx="9382259" cy="70612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55" name="TextBox 3">
            <a:extLst>
              <a:ext uri="{FF2B5EF4-FFF2-40B4-BE49-F238E27FC236}">
                <a16:creationId xmlns:a16="http://schemas.microsoft.com/office/drawing/2014/main" id="{1B997306-FA4F-4F7B-8126-9FAAA79FA40E}"/>
              </a:ext>
            </a:extLst>
          </p:cNvPr>
          <p:cNvSpPr txBox="1"/>
          <p:nvPr/>
        </p:nvSpPr>
        <p:spPr>
          <a:xfrm>
            <a:off x="1600200" y="2732465"/>
            <a:ext cx="5866592" cy="584775"/>
          </a:xfrm>
          <a:prstGeom prst="rect">
            <a:avLst/>
          </a:prstGeom>
          <a:noFill/>
        </p:spPr>
        <p:txBody>
          <a:bodyPr wrap="square" rtlCol="0">
            <a:spAutoFit/>
          </a:bodyPr>
          <a:lstStyle/>
          <a:p>
            <a:pPr algn="ctr"/>
            <a:r>
              <a:rPr lang="en-US" sz="3200" b="1" dirty="0">
                <a:solidFill>
                  <a:schemeClr val="bg1"/>
                </a:solidFill>
              </a:rPr>
              <a:t>SIMT </a:t>
            </a:r>
            <a:r>
              <a:rPr lang="en-US" altLang="zh-CN" sz="3200" b="1" dirty="0">
                <a:solidFill>
                  <a:schemeClr val="bg1"/>
                </a:solidFill>
              </a:rPr>
              <a:t>is not SIMD!</a:t>
            </a:r>
            <a:endParaRPr lang="en-US" sz="3200" b="1" u="sng" dirty="0">
              <a:solidFill>
                <a:srgbClr val="DA9100"/>
              </a:solidFill>
            </a:endParaRPr>
          </a:p>
        </p:txBody>
      </p:sp>
    </p:spTree>
    <p:custDataLst>
      <p:tags r:id="rId1"/>
    </p:custDataLst>
    <p:extLst>
      <p:ext uri="{BB962C8B-B14F-4D97-AF65-F5344CB8AC3E}">
        <p14:creationId xmlns:p14="http://schemas.microsoft.com/office/powerpoint/2010/main" val="205114321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Title 2">
            <a:extLst>
              <a:ext uri="{FF2B5EF4-FFF2-40B4-BE49-F238E27FC236}">
                <a16:creationId xmlns:a16="http://schemas.microsoft.com/office/drawing/2014/main" id="{3A81DD4D-8A15-A64D-87B9-7187C44EF47E}"/>
              </a:ext>
            </a:extLst>
          </p:cNvPr>
          <p:cNvSpPr>
            <a:spLocks noGrp="1"/>
          </p:cNvSpPr>
          <p:nvPr>
            <p:ph type="title"/>
          </p:nvPr>
        </p:nvSpPr>
        <p:spPr/>
        <p:txBody>
          <a:bodyPr/>
          <a:lstStyle/>
          <a:p>
            <a:r>
              <a:rPr lang="en-US" altLang="en-US" dirty="0">
                <a:ea typeface="ＭＳ Ｐゴシック" panose="020B0600070205080204" pitchFamily="34" charset="-128"/>
              </a:rPr>
              <a:t>Re</a:t>
            </a:r>
            <a:r>
              <a:rPr lang="en-US" altLang="zh-CN" dirty="0">
                <a:ea typeface="ＭＳ Ｐゴシック" panose="020B0600070205080204" pitchFamily="34" charset="-128"/>
              </a:rPr>
              <a:t>c</a:t>
            </a:r>
            <a:r>
              <a:rPr lang="en-US" altLang="en-US" dirty="0">
                <a:ea typeface="ＭＳ Ｐゴシック" panose="020B0600070205080204" pitchFamily="34" charset="-128"/>
              </a:rPr>
              <a:t>all: SIMT Code vs. SIMD Code</a:t>
            </a:r>
          </a:p>
        </p:txBody>
      </p:sp>
      <p:sp>
        <p:nvSpPr>
          <p:cNvPr id="21" name="Rounded Rectangle 20">
            <a:extLst>
              <a:ext uri="{FF2B5EF4-FFF2-40B4-BE49-F238E27FC236}">
                <a16:creationId xmlns:a16="http://schemas.microsoft.com/office/drawing/2014/main" id="{CA7AAC85-C993-594D-A141-2B0077E118B0}"/>
              </a:ext>
            </a:extLst>
          </p:cNvPr>
          <p:cNvSpPr/>
          <p:nvPr/>
        </p:nvSpPr>
        <p:spPr bwMode="auto">
          <a:xfrm>
            <a:off x="3336822" y="1459468"/>
            <a:ext cx="2614613" cy="762000"/>
          </a:xfrm>
          <a:prstGeom prst="roundRect">
            <a:avLst/>
          </a:prstGeom>
          <a:solidFill>
            <a:sysClr val="window" lastClr="FFFFFF"/>
          </a:solidFill>
          <a:ln w="25400" cap="flat" cmpd="sng" algn="ctr">
            <a:solidFill>
              <a:srgbClr val="4F81BD"/>
            </a:solidFill>
            <a:prstDash val="soli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ysClr val="windowText" lastClr="000000"/>
                </a:solidFill>
                <a:effectLst/>
                <a:uLnTx/>
                <a:uFillTx/>
                <a:latin typeface="Tahoma" pitchFamily="34" charset="0"/>
                <a:ea typeface="Tahoma" pitchFamily="34" charset="0"/>
                <a:cs typeface="Tahoma" pitchFamily="34" charset="0"/>
              </a:rPr>
              <a:t>for (ii = 0; ii &lt; 100000; ++ii)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ysClr val="windowText" lastClr="000000"/>
                </a:solidFill>
                <a:effectLst/>
                <a:uLnTx/>
                <a:uFillTx/>
                <a:latin typeface="Tahoma" pitchFamily="34" charset="0"/>
                <a:ea typeface="Tahoma" pitchFamily="34" charset="0"/>
                <a:cs typeface="Tahoma" pitchFamily="34" charset="0"/>
              </a:rPr>
              <a:t>C[ii] = A[ii] + B[ii];</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ysClr val="windowText" lastClr="000000"/>
                </a:solidFill>
                <a:effectLst/>
                <a:uLnTx/>
                <a:uFillTx/>
                <a:latin typeface="Tahoma" pitchFamily="34" charset="0"/>
                <a:ea typeface="Tahoma" pitchFamily="34" charset="0"/>
                <a:cs typeface="Tahoma" pitchFamily="34" charset="0"/>
              </a:rPr>
              <a:t>}</a:t>
            </a:r>
          </a:p>
        </p:txBody>
      </p:sp>
      <p:sp>
        <p:nvSpPr>
          <p:cNvPr id="22" name="Rounded Rectangle 21">
            <a:extLst>
              <a:ext uri="{FF2B5EF4-FFF2-40B4-BE49-F238E27FC236}">
                <a16:creationId xmlns:a16="http://schemas.microsoft.com/office/drawing/2014/main" id="{806843B5-8282-F146-8F8A-D03C5242A408}"/>
              </a:ext>
            </a:extLst>
          </p:cNvPr>
          <p:cNvSpPr/>
          <p:nvPr/>
        </p:nvSpPr>
        <p:spPr bwMode="auto">
          <a:xfrm>
            <a:off x="533400" y="3276600"/>
            <a:ext cx="4171950" cy="1655763"/>
          </a:xfrm>
          <a:prstGeom prst="roundRect">
            <a:avLst/>
          </a:prstGeom>
          <a:solidFill>
            <a:sysClr val="window" lastClr="FFFFFF"/>
          </a:solidFill>
          <a:ln w="25400" cap="flat" cmpd="sng" algn="ctr">
            <a:solidFill>
              <a:srgbClr val="9BBB59"/>
            </a:solidFill>
            <a:prstDash val="solid"/>
            <a:headEnd type="none" w="sm" len="sm"/>
            <a:tailEnd type="none" w="sm" len="sm"/>
          </a:ln>
          <a:effec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 there are 100000 threads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__global__ void KernelFunction(…)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  </a:t>
            </a:r>
            <a:r>
              <a:rPr kumimoji="0" lang="en-US" altLang="en-US" sz="1400" b="0" i="0" u="none" strike="noStrike" kern="1200" cap="none" spc="0" normalizeH="0" baseline="0" noProof="0">
                <a:ln>
                  <a:noFill/>
                </a:ln>
                <a:solidFill>
                  <a:srgbClr val="FF0000"/>
                </a:solidFill>
                <a:effectLst/>
                <a:uLnTx/>
                <a:uFillTx/>
                <a:latin typeface="Tahoma" panose="020B0604030504040204" pitchFamily="34" charset="0"/>
                <a:ea typeface="ＭＳ Ｐゴシック" panose="020B0600070205080204" pitchFamily="34" charset="-128"/>
                <a:cs typeface="+mn-cs"/>
              </a:rPr>
              <a:t>int tid = blockDim.x * blockIdx.x + threadIdx.x</a:t>
            </a:r>
            <a:r>
              <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  int varA = aa[tid];</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  int varB = bb[tid];</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  C[tid] = varA + varB;</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t>
            </a:r>
          </a:p>
        </p:txBody>
      </p:sp>
      <p:sp>
        <p:nvSpPr>
          <p:cNvPr id="23" name="Down Arrow 22">
            <a:extLst>
              <a:ext uri="{FF2B5EF4-FFF2-40B4-BE49-F238E27FC236}">
                <a16:creationId xmlns:a16="http://schemas.microsoft.com/office/drawing/2014/main" id="{F3CF69E7-C60A-B042-B693-A9F181885164}"/>
              </a:ext>
            </a:extLst>
          </p:cNvPr>
          <p:cNvSpPr>
            <a:spLocks noChangeArrowheads="1"/>
          </p:cNvSpPr>
          <p:nvPr/>
        </p:nvSpPr>
        <p:spPr bwMode="auto">
          <a:xfrm>
            <a:off x="4400550" y="2328028"/>
            <a:ext cx="609600" cy="533400"/>
          </a:xfrm>
          <a:prstGeom prst="downArrow">
            <a:avLst>
              <a:gd name="adj1" fmla="val 50000"/>
              <a:gd name="adj2" fmla="val 50000"/>
            </a:avLst>
          </a:prstGeom>
          <a:gradFill rotWithShape="1">
            <a:gsLst>
              <a:gs pos="0">
                <a:srgbClr val="9BC1FF"/>
              </a:gs>
              <a:gs pos="100000">
                <a:srgbClr val="3F80CD"/>
              </a:gs>
            </a:gsLst>
            <a:lin ang="5400000"/>
          </a:gradFill>
          <a:ln w="9525">
            <a:solidFill>
              <a:srgbClr val="4A7EBB"/>
            </a:solidFill>
            <a:miter lim="800000"/>
            <a:headEnd/>
            <a:tailEnd/>
          </a:ln>
          <a:effectLst>
            <a:outerShdw blurRad="40000" dist="23000" dir="5400000" rotWithShape="0">
              <a:srgbClr val="808080">
                <a:alpha val="34999"/>
              </a:srgb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ＭＳ Ｐゴシック" charset="0"/>
              <a:cs typeface="ＭＳ Ｐゴシック" charset="0"/>
            </a:endParaRPr>
          </a:p>
        </p:txBody>
      </p:sp>
      <p:sp>
        <p:nvSpPr>
          <p:cNvPr id="24" name="TextBox 23">
            <a:extLst>
              <a:ext uri="{FF2B5EF4-FFF2-40B4-BE49-F238E27FC236}">
                <a16:creationId xmlns:a16="http://schemas.microsoft.com/office/drawing/2014/main" id="{162C65D9-75EE-DE4C-86A4-8CF5F221E4B2}"/>
              </a:ext>
            </a:extLst>
          </p:cNvPr>
          <p:cNvSpPr txBox="1"/>
          <p:nvPr/>
        </p:nvSpPr>
        <p:spPr>
          <a:xfrm>
            <a:off x="3686175" y="1002268"/>
            <a:ext cx="2005677"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ysClr val="windowText" lastClr="000000"/>
                </a:solidFill>
                <a:effectLst/>
                <a:uLnTx/>
                <a:uFillTx/>
                <a:latin typeface="Arial" charset="0"/>
                <a:ea typeface="ＭＳ Ｐゴシック" charset="0"/>
                <a:cs typeface="ＭＳ Ｐゴシック" charset="0"/>
              </a:rPr>
              <a:t>CPU scalar code</a:t>
            </a:r>
          </a:p>
        </p:txBody>
      </p:sp>
      <p:sp>
        <p:nvSpPr>
          <p:cNvPr id="25" name="TextBox 24">
            <a:extLst>
              <a:ext uri="{FF2B5EF4-FFF2-40B4-BE49-F238E27FC236}">
                <a16:creationId xmlns:a16="http://schemas.microsoft.com/office/drawing/2014/main" id="{14997BED-6134-D541-9A3B-7E7C69FC5A5E}"/>
              </a:ext>
            </a:extLst>
          </p:cNvPr>
          <p:cNvSpPr txBox="1"/>
          <p:nvPr/>
        </p:nvSpPr>
        <p:spPr>
          <a:xfrm>
            <a:off x="1676400" y="5135563"/>
            <a:ext cx="1454244"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ysClr val="windowText" lastClr="000000"/>
                </a:solidFill>
                <a:effectLst/>
                <a:uLnTx/>
                <a:uFillTx/>
                <a:latin typeface="Arial" charset="0"/>
                <a:ea typeface="ＭＳ Ｐゴシック" charset="0"/>
                <a:cs typeface="ＭＳ Ｐゴシック" charset="0"/>
              </a:rPr>
              <a:t>CUDA code</a:t>
            </a:r>
          </a:p>
        </p:txBody>
      </p:sp>
      <p:sp>
        <p:nvSpPr>
          <p:cNvPr id="69639" name="TextBox 134">
            <a:extLst>
              <a:ext uri="{FF2B5EF4-FFF2-40B4-BE49-F238E27FC236}">
                <a16:creationId xmlns:a16="http://schemas.microsoft.com/office/drawing/2014/main" id="{F939BEB8-FA20-AF49-9693-A23D370E1D20}"/>
              </a:ext>
            </a:extLst>
          </p:cNvPr>
          <p:cNvSpPr txBox="1">
            <a:spLocks noChangeArrowheads="1"/>
          </p:cNvSpPr>
          <p:nvPr/>
        </p:nvSpPr>
        <p:spPr bwMode="auto">
          <a:xfrm>
            <a:off x="152400" y="6535738"/>
            <a:ext cx="165258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Hyesoon Kim</a:t>
            </a:r>
          </a:p>
        </p:txBody>
      </p:sp>
      <p:sp>
        <p:nvSpPr>
          <p:cNvPr id="9" name="Slide Number Placeholder 3">
            <a:extLst>
              <a:ext uri="{FF2B5EF4-FFF2-40B4-BE49-F238E27FC236}">
                <a16:creationId xmlns:a16="http://schemas.microsoft.com/office/drawing/2014/main" id="{91D9459B-F5D2-E34A-9ADC-C5A396E51A40}"/>
              </a:ext>
            </a:extLst>
          </p:cNvPr>
          <p:cNvSpPr>
            <a:spLocks noGrp="1"/>
          </p:cNvSpPr>
          <p:nvPr>
            <p:ph type="sldNum" sz="quarter" idx="11"/>
          </p:nvPr>
        </p:nvSpPr>
        <p:spPr>
          <a:xfrm>
            <a:off x="6777038" y="632460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17A79AA-CD33-9448-B7F6-6F507EA8DB00}"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10" name="Rounded Rectangle 21">
            <a:extLst>
              <a:ext uri="{FF2B5EF4-FFF2-40B4-BE49-F238E27FC236}">
                <a16:creationId xmlns:a16="http://schemas.microsoft.com/office/drawing/2014/main" id="{E72B7D8E-4A5E-457C-996D-E9A4313F7CE3}"/>
              </a:ext>
            </a:extLst>
          </p:cNvPr>
          <p:cNvSpPr/>
          <p:nvPr/>
        </p:nvSpPr>
        <p:spPr bwMode="auto">
          <a:xfrm>
            <a:off x="5029373" y="3019940"/>
            <a:ext cx="3505200" cy="2031683"/>
          </a:xfrm>
          <a:prstGeom prst="roundRect">
            <a:avLst/>
          </a:prstGeom>
          <a:solidFill>
            <a:sysClr val="window" lastClr="FFFFFF"/>
          </a:solidFill>
          <a:ln w="25400" cap="flat" cmpd="sng" algn="ctr">
            <a:solidFill>
              <a:srgbClr val="9BBB59"/>
            </a:solidFill>
            <a:prstDash val="solid"/>
            <a:headEnd type="none" w="sm" len="sm"/>
            <a:tailEnd type="none" w="sm" len="sm"/>
          </a:ln>
          <a:effec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 there are 25000 loops with SIMD=4</a:t>
            </a:r>
          </a:p>
          <a:p>
            <a:pPr marL="0" marR="0" lvl="0" indent="0" algn="l" defTabSz="914400" rtl="0" eaLnBrk="1" fontAlgn="base" latinLnBrk="0" hangingPunct="1">
              <a:lnSpc>
                <a:spcPct val="100000"/>
              </a:lnSpc>
              <a:spcBef>
                <a:spcPct val="0"/>
              </a:spcBef>
              <a:spcAft>
                <a:spcPct val="0"/>
              </a:spcAft>
              <a:buClrTx/>
              <a:buSzTx/>
              <a:buFontTx/>
              <a:buNone/>
              <a:tabLst/>
              <a:defRPr/>
            </a:pPr>
            <a:r>
              <a:rPr lang="en-US" altLang="en-US" sz="1400" dirty="0">
                <a:solidFill>
                  <a:srgbClr val="000000"/>
                </a:solidFill>
                <a:latin typeface="Tahoma" panose="020B0604030504040204" pitchFamily="34" charset="0"/>
              </a:rPr>
              <a:t>…</a:t>
            </a:r>
          </a:p>
          <a:p>
            <a:pPr lvl="0" eaLnBrk="1" hangingPunct="1">
              <a:defRPr/>
            </a:pPr>
            <a:r>
              <a:rPr lang="en-US" altLang="en-US" sz="1400" dirty="0" err="1">
                <a:solidFill>
                  <a:srgbClr val="000000"/>
                </a:solidFill>
                <a:latin typeface="Tahoma" panose="020B0604030504040204" pitchFamily="34" charset="0"/>
              </a:rPr>
              <a:t>v_A</a:t>
            </a:r>
            <a:r>
              <a:rPr lang="en-US" altLang="en-US" sz="1400" dirty="0">
                <a:solidFill>
                  <a:srgbClr val="000000"/>
                </a:solidFill>
                <a:latin typeface="Tahoma" panose="020B0604030504040204" pitchFamily="34" charset="0"/>
              </a:rPr>
              <a:t> = </a:t>
            </a:r>
            <a:r>
              <a:rPr kumimoji="0" lang="en-US" altLang="en-US" sz="1400" b="0" i="0" u="none" strike="noStrike" kern="1200" cap="none" spc="0" normalizeH="0" baseline="0" noProof="0" dirty="0" err="1">
                <a:ln>
                  <a:noFill/>
                </a:ln>
                <a:solidFill>
                  <a:srgbClr val="000000"/>
                </a:solidFill>
                <a:effectLst/>
                <a:uLnTx/>
                <a:uFillTx/>
                <a:latin typeface="Tahoma" panose="020B0604030504040204" pitchFamily="34" charset="0"/>
                <a:ea typeface="ＭＳ Ｐゴシック" panose="020B0600070205080204" pitchFamily="34" charset="-128"/>
                <a:cs typeface="+mn-cs"/>
              </a:rPr>
              <a:t>vec_load</a:t>
            </a:r>
            <a:r>
              <a:rPr kumimoji="0" lang="en-US" altLang="en-US" sz="1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 (A);</a:t>
            </a:r>
          </a:p>
          <a:p>
            <a:pPr eaLnBrk="1" hangingPunct="1">
              <a:defRPr/>
            </a:pPr>
            <a:r>
              <a:rPr lang="en-US" altLang="en-US" sz="1400" dirty="0" err="1">
                <a:solidFill>
                  <a:srgbClr val="000000"/>
                </a:solidFill>
                <a:latin typeface="Tahoma" panose="020B0604030504040204" pitchFamily="34" charset="0"/>
              </a:rPr>
              <a:t>v_B</a:t>
            </a:r>
            <a:r>
              <a:rPr lang="en-US" altLang="en-US" sz="1400" dirty="0">
                <a:solidFill>
                  <a:srgbClr val="000000"/>
                </a:solidFill>
                <a:latin typeface="Tahoma" panose="020B0604030504040204" pitchFamily="34" charset="0"/>
              </a:rPr>
              <a:t> = </a:t>
            </a:r>
            <a:r>
              <a:rPr lang="en-US" altLang="en-US" sz="1400" dirty="0" err="1">
                <a:solidFill>
                  <a:srgbClr val="000000"/>
                </a:solidFill>
                <a:latin typeface="Tahoma" panose="020B0604030504040204" pitchFamily="34" charset="0"/>
              </a:rPr>
              <a:t>vec_load</a:t>
            </a:r>
            <a:r>
              <a:rPr lang="en-US" altLang="en-US" sz="1400" dirty="0">
                <a:solidFill>
                  <a:srgbClr val="000000"/>
                </a:solidFill>
                <a:latin typeface="Tahoma" panose="020B0604030504040204" pitchFamily="34" charset="0"/>
              </a:rPr>
              <a:t> (B);</a:t>
            </a:r>
            <a:endParaRPr kumimoji="0" lang="en-US" altLang="en-US" sz="1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 </a:t>
            </a:r>
            <a:r>
              <a:rPr kumimoji="0" lang="en-US" altLang="en-US" sz="1400" b="0" i="0" u="none" strike="noStrike" kern="1200" cap="none" spc="0" normalizeH="0" baseline="0" noProof="0" dirty="0" err="1">
                <a:ln>
                  <a:noFill/>
                </a:ln>
                <a:solidFill>
                  <a:srgbClr val="000000"/>
                </a:solidFill>
                <a:effectLst/>
                <a:uLnTx/>
                <a:uFillTx/>
                <a:latin typeface="Tahoma" panose="020B0604030504040204" pitchFamily="34" charset="0"/>
                <a:ea typeface="ＭＳ Ｐゴシック" panose="020B0600070205080204" pitchFamily="34" charset="-128"/>
                <a:cs typeface="+mn-cs"/>
              </a:rPr>
              <a:t>v_C</a:t>
            </a:r>
            <a:r>
              <a:rPr kumimoji="0" lang="en-US" altLang="en-US" sz="1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 = </a:t>
            </a:r>
            <a:r>
              <a:rPr kumimoji="0" lang="en-US" altLang="en-US" sz="1400" b="0" i="0" u="none" strike="noStrike" kern="1200" cap="none" spc="0" normalizeH="0" baseline="0" noProof="0" dirty="0" err="1">
                <a:ln>
                  <a:noFill/>
                </a:ln>
                <a:solidFill>
                  <a:srgbClr val="000000"/>
                </a:solidFill>
                <a:effectLst/>
                <a:uLnTx/>
                <a:uFillTx/>
                <a:latin typeface="Tahoma" panose="020B0604030504040204" pitchFamily="34" charset="0"/>
                <a:ea typeface="ＭＳ Ｐゴシック" panose="020B0600070205080204" pitchFamily="34" charset="-128"/>
                <a:cs typeface="+mn-cs"/>
              </a:rPr>
              <a:t>vec_add</a:t>
            </a:r>
            <a:r>
              <a:rPr kumimoji="0" lang="en-US" altLang="en-US" sz="1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t>
            </a:r>
            <a:r>
              <a:rPr kumimoji="0" lang="en-US" altLang="en-US" sz="1400" b="0" i="0" u="none" strike="noStrike" kern="1200" cap="none" spc="0" normalizeH="0" baseline="0" noProof="0" dirty="0" err="1">
                <a:ln>
                  <a:noFill/>
                </a:ln>
                <a:solidFill>
                  <a:srgbClr val="000000"/>
                </a:solidFill>
                <a:effectLst/>
                <a:uLnTx/>
                <a:uFillTx/>
                <a:latin typeface="Tahoma" panose="020B0604030504040204" pitchFamily="34" charset="0"/>
                <a:ea typeface="ＭＳ Ｐゴシック" panose="020B0600070205080204" pitchFamily="34" charset="-128"/>
                <a:cs typeface="+mn-cs"/>
              </a:rPr>
              <a:t>v_A</a:t>
            </a:r>
            <a:r>
              <a:rPr kumimoji="0" lang="en-US" altLang="en-US" sz="1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 </a:t>
            </a:r>
            <a:r>
              <a:rPr kumimoji="0" lang="en-US" altLang="en-US" sz="1400" b="0" i="0" u="none" strike="noStrike" kern="1200" cap="none" spc="0" normalizeH="0" baseline="0" noProof="0" dirty="0" err="1">
                <a:ln>
                  <a:noFill/>
                </a:ln>
                <a:solidFill>
                  <a:srgbClr val="000000"/>
                </a:solidFill>
                <a:effectLst/>
                <a:uLnTx/>
                <a:uFillTx/>
                <a:latin typeface="Tahoma" panose="020B0604030504040204" pitchFamily="34" charset="0"/>
                <a:ea typeface="ＭＳ Ｐゴシック" panose="020B0600070205080204" pitchFamily="34" charset="-128"/>
                <a:cs typeface="+mn-cs"/>
              </a:rPr>
              <a:t>v_B</a:t>
            </a:r>
            <a:r>
              <a:rPr kumimoji="0" lang="en-US" altLang="en-US" sz="1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lang="en-US" altLang="en-US" sz="1400" dirty="0" err="1">
                <a:solidFill>
                  <a:srgbClr val="000000"/>
                </a:solidFill>
                <a:latin typeface="Tahoma" panose="020B0604030504040204" pitchFamily="34" charset="0"/>
              </a:rPr>
              <a:t>Vec_store</a:t>
            </a:r>
            <a:r>
              <a:rPr lang="en-US" altLang="en-US" sz="1400" dirty="0">
                <a:solidFill>
                  <a:srgbClr val="000000"/>
                </a:solidFill>
                <a:latin typeface="Tahoma" panose="020B0604030504040204" pitchFamily="34" charset="0"/>
              </a:rPr>
              <a:t>(</a:t>
            </a:r>
            <a:r>
              <a:rPr lang="en-US" altLang="en-US" sz="1400" dirty="0" err="1">
                <a:solidFill>
                  <a:srgbClr val="000000"/>
                </a:solidFill>
                <a:latin typeface="Tahoma" panose="020B0604030504040204" pitchFamily="34" charset="0"/>
              </a:rPr>
              <a:t>v_C</a:t>
            </a:r>
            <a:r>
              <a:rPr lang="en-US" altLang="en-US" sz="1400" dirty="0">
                <a:solidFill>
                  <a:srgbClr val="000000"/>
                </a:solidFill>
                <a:latin typeface="Tahoma" panose="020B0604030504040204" pitchFamily="34" charset="0"/>
              </a:rPr>
              <a:t>, C)</a:t>
            </a:r>
            <a:endParaRPr kumimoji="0" lang="en-US" altLang="en-US" sz="1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lang="en-US" altLang="en-US" sz="1400" dirty="0">
                <a:solidFill>
                  <a:srgbClr val="000000"/>
                </a:solidFill>
                <a:latin typeface="Tahoma" panose="020B0604030504040204" pitchFamily="34" charset="0"/>
              </a:rPr>
              <a:t>…</a:t>
            </a:r>
            <a:endParaRPr kumimoji="0" lang="en-US" altLang="en-US" sz="1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t>
            </a:r>
          </a:p>
        </p:txBody>
      </p:sp>
      <p:sp>
        <p:nvSpPr>
          <p:cNvPr id="11" name="TextBox 23">
            <a:extLst>
              <a:ext uri="{FF2B5EF4-FFF2-40B4-BE49-F238E27FC236}">
                <a16:creationId xmlns:a16="http://schemas.microsoft.com/office/drawing/2014/main" id="{D29521CC-90EA-49E0-9403-88A5B087A2CA}"/>
              </a:ext>
            </a:extLst>
          </p:cNvPr>
          <p:cNvSpPr txBox="1"/>
          <p:nvPr/>
        </p:nvSpPr>
        <p:spPr>
          <a:xfrm>
            <a:off x="5761375" y="5134113"/>
            <a:ext cx="2031325"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ysClr val="windowText" lastClr="000000"/>
                </a:solidFill>
                <a:effectLst/>
                <a:uLnTx/>
                <a:uFillTx/>
                <a:latin typeface="Arial" charset="0"/>
                <a:ea typeface="ＭＳ Ｐゴシック" charset="0"/>
                <a:cs typeface="ＭＳ Ｐゴシック" charset="0"/>
              </a:rPr>
              <a:t>CPU vector code</a:t>
            </a:r>
          </a:p>
        </p:txBody>
      </p:sp>
    </p:spTree>
    <p:extLst>
      <p:ext uri="{BB962C8B-B14F-4D97-AF65-F5344CB8AC3E}">
        <p14:creationId xmlns:p14="http://schemas.microsoft.com/office/powerpoint/2010/main" val="60276406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8600" y="152400"/>
            <a:ext cx="8610600" cy="845127"/>
          </a:xfrm>
        </p:spPr>
        <p:txBody>
          <a:bodyPr anchor="ctr" anchorCtr="0"/>
          <a:lstStyle/>
          <a:p>
            <a:r>
              <a:rPr lang="en-US" dirty="0"/>
              <a:t>Agenda for Today</a:t>
            </a:r>
          </a:p>
        </p:txBody>
      </p:sp>
      <p:sp>
        <p:nvSpPr>
          <p:cNvPr id="3" name="Marcador de contenido 2"/>
          <p:cNvSpPr>
            <a:spLocks noGrp="1"/>
          </p:cNvSpPr>
          <p:nvPr>
            <p:ph idx="1"/>
          </p:nvPr>
        </p:nvSpPr>
        <p:spPr/>
        <p:txBody>
          <a:bodyPr>
            <a:normAutofit/>
          </a:bodyPr>
          <a:lstStyle/>
          <a:p>
            <a:r>
              <a:rPr lang="en-US" altLang="zh-CN" dirty="0">
                <a:ea typeface="ヒラギノ角ゴ Pro W3" pitchFamily="-108" charset="-128"/>
                <a:cs typeface="ヒラギノ角ゴ Pro W3" pitchFamily="-108" charset="-128"/>
              </a:rPr>
              <a:t>SIMT (Hardware) &amp; Warp (Software)</a:t>
            </a:r>
            <a:r>
              <a:rPr lang="en-US" dirty="0">
                <a:ea typeface="ヒラギノ角ゴ Pro W3" pitchFamily="-108" charset="-128"/>
                <a:cs typeface="ヒラギノ角ゴ Pro W3" pitchFamily="-108" charset="-128"/>
              </a:rPr>
              <a:t> </a:t>
            </a:r>
          </a:p>
          <a:p>
            <a:pPr marL="0" indent="0">
              <a:buNone/>
            </a:pPr>
            <a:endParaRPr lang="en-US" dirty="0">
              <a:ea typeface="ヒラギノ角ゴ Pro W3" pitchFamily="-108" charset="-128"/>
              <a:cs typeface="ヒラギノ角ゴ Pro W3" pitchFamily="-108" charset="-128"/>
            </a:endParaRPr>
          </a:p>
          <a:p>
            <a:r>
              <a:rPr lang="en-US" altLang="zh-CN" dirty="0">
                <a:solidFill>
                  <a:srgbClr val="0432FF"/>
                </a:solidFill>
                <a:ea typeface="ヒラギノ角ゴ Pro W3" pitchFamily="-108" charset="-128"/>
              </a:rPr>
              <a:t>Optimization of Memory System </a:t>
            </a:r>
          </a:p>
          <a:p>
            <a:pPr lvl="1"/>
            <a:r>
              <a:rPr lang="en-US" dirty="0">
                <a:ea typeface="ヒラギノ角ゴ Pro W3" pitchFamily="-108" charset="-128"/>
                <a:cs typeface="ヒラギノ角ゴ Pro W3" pitchFamily="-108" charset="-128"/>
              </a:rPr>
              <a:t>Multi-threading</a:t>
            </a:r>
          </a:p>
          <a:p>
            <a:pPr lvl="1"/>
            <a:r>
              <a:rPr lang="en-US" dirty="0">
                <a:ea typeface="ヒラギノ角ゴ Pro W3" pitchFamily="-108" charset="-128"/>
                <a:cs typeface="ヒラギノ角ゴ Pro W3" pitchFamily="-108" charset="-128"/>
              </a:rPr>
              <a:t>Memory Coalescing</a:t>
            </a:r>
          </a:p>
          <a:p>
            <a:pPr lvl="1"/>
            <a:r>
              <a:rPr lang="en-US" dirty="0">
                <a:ea typeface="ヒラギノ角ゴ Pro W3" pitchFamily="-108" charset="-128"/>
                <a:cs typeface="ヒラギノ角ゴ Pro W3" pitchFamily="-108" charset="-128"/>
              </a:rPr>
              <a:t>Shared Memory</a:t>
            </a:r>
          </a:p>
          <a:p>
            <a:pPr lvl="1"/>
            <a:endParaRPr lang="en-US" dirty="0">
              <a:ea typeface="ヒラギノ角ゴ Pro W3" pitchFamily="-108" charset="-128"/>
              <a:cs typeface="ヒラギノ角ゴ Pro W3" pitchFamily="-108" charset="-128"/>
            </a:endParaRPr>
          </a:p>
          <a:p>
            <a:r>
              <a:rPr lang="en-US" altLang="zh-CN" dirty="0">
                <a:ea typeface="ヒラギノ角ゴ Pro W3" pitchFamily="-108" charset="-128"/>
                <a:cs typeface="ヒラギノ角ゴ Pro W3" pitchFamily="-108" charset="-128"/>
              </a:rPr>
              <a:t>SIMT Efficiency</a:t>
            </a:r>
          </a:p>
          <a:p>
            <a:pPr lvl="1"/>
            <a:r>
              <a:rPr lang="en-US" altLang="zh-CN" dirty="0">
                <a:ea typeface="ヒラギノ角ゴ Pro W3" pitchFamily="-108" charset="-128"/>
                <a:cs typeface="ヒラギノ角ゴ Pro W3" pitchFamily="-108" charset="-128"/>
              </a:rPr>
              <a:t>Divergency</a:t>
            </a:r>
          </a:p>
          <a:p>
            <a:pPr lvl="1"/>
            <a:r>
              <a:rPr lang="en-US" altLang="zh-CN" dirty="0">
                <a:ea typeface="ヒラギノ角ゴ Pro W3" pitchFamily="-108" charset="-128"/>
                <a:cs typeface="ヒラギノ角ゴ Pro W3" pitchFamily="-108" charset="-128"/>
              </a:rPr>
              <a:t>Atomic</a:t>
            </a:r>
          </a:p>
          <a:p>
            <a:pPr lvl="1"/>
            <a:r>
              <a:rPr lang="en-US" altLang="zh-CN" dirty="0">
                <a:ea typeface="ヒラギノ角ゴ Pro W3" pitchFamily="-108" charset="-128"/>
                <a:cs typeface="ヒラギノ角ゴ Pro W3" pitchFamily="-108" charset="-128"/>
              </a:rPr>
              <a:t>CPU-GPU Transfer</a:t>
            </a:r>
          </a:p>
          <a:p>
            <a:pPr lvl="1"/>
            <a:endParaRPr lang="en-US" dirty="0">
              <a:ea typeface="ヒラギノ角ゴ Pro W3" pitchFamily="-108" charset="-128"/>
              <a:cs typeface="ヒラギノ角ゴ Pro W3" pitchFamily="-108" charset="-128"/>
            </a:endParaRPr>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13</a:t>
            </a:fld>
            <a:endParaRPr lang="en-US" altLang="en-US"/>
          </a:p>
        </p:txBody>
      </p:sp>
      <p:sp>
        <p:nvSpPr>
          <p:cNvPr id="5" name="Rectangle 4">
            <a:extLst>
              <a:ext uri="{FF2B5EF4-FFF2-40B4-BE49-F238E27FC236}">
                <a16:creationId xmlns:a16="http://schemas.microsoft.com/office/drawing/2014/main" id="{3EAB8116-126C-5648-BEF0-E6606F73B7C9}"/>
              </a:ext>
            </a:extLst>
          </p:cNvPr>
          <p:cNvSpPr>
            <a:spLocks noChangeArrowheads="1"/>
          </p:cNvSpPr>
          <p:nvPr/>
        </p:nvSpPr>
        <p:spPr bwMode="auto">
          <a:xfrm>
            <a:off x="254540" y="1905000"/>
            <a:ext cx="5410200" cy="444500"/>
          </a:xfrm>
          <a:prstGeom prst="rect">
            <a:avLst/>
          </a:prstGeom>
          <a:noFill/>
          <a:ln w="38100">
            <a:solidFill>
              <a:srgbClr val="FF0000"/>
            </a:solidFill>
            <a:miter lim="800000"/>
            <a:headEnd/>
            <a:tailEnd/>
          </a:ln>
          <a:effectLst>
            <a:outerShdw blurRad="63500" dist="23000" dir="5400000" rotWithShape="0">
              <a:srgbClr val="000000">
                <a:alpha val="34998"/>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Tahoma" charset="0"/>
              <a:ea typeface="ＭＳ Ｐゴシック" charset="-128"/>
              <a:cs typeface="+mn-cs"/>
            </a:endParaRPr>
          </a:p>
        </p:txBody>
      </p:sp>
    </p:spTree>
    <p:extLst>
      <p:ext uri="{BB962C8B-B14F-4D97-AF65-F5344CB8AC3E}">
        <p14:creationId xmlns:p14="http://schemas.microsoft.com/office/powerpoint/2010/main" val="283620461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4">
            <a:extLst>
              <a:ext uri="{FF2B5EF4-FFF2-40B4-BE49-F238E27FC236}">
                <a16:creationId xmlns:a16="http://schemas.microsoft.com/office/drawing/2014/main" id="{6C599EA8-303B-8F44-B67E-1E9A7D6B8361}"/>
              </a:ext>
            </a:extLst>
          </p:cNvPr>
          <p:cNvSpPr>
            <a:spLocks noGrp="1" noChangeArrowheads="1"/>
          </p:cNvSpPr>
          <p:nvPr>
            <p:ph type="ctrTitle"/>
          </p:nvPr>
        </p:nvSpPr>
        <p:spPr>
          <a:xfrm>
            <a:off x="366713" y="1747838"/>
            <a:ext cx="8428037" cy="995362"/>
          </a:xfrm>
        </p:spPr>
        <p:txBody>
          <a:bodyPr/>
          <a:lstStyle/>
          <a:p>
            <a:pPr algn="ctr" eaLnBrk="1" hangingPunct="1"/>
            <a:r>
              <a:rPr lang="en-US" altLang="en-US" dirty="0">
                <a:ea typeface="ＭＳ Ｐゴシック" panose="020B0600070205080204" pitchFamily="34" charset="-128"/>
              </a:rPr>
              <a:t>GPU Memories</a:t>
            </a:r>
          </a:p>
        </p:txBody>
      </p:sp>
      <p:sp>
        <p:nvSpPr>
          <p:cNvPr id="81922" name="Rectangle 5">
            <a:extLst>
              <a:ext uri="{FF2B5EF4-FFF2-40B4-BE49-F238E27FC236}">
                <a16:creationId xmlns:a16="http://schemas.microsoft.com/office/drawing/2014/main" id="{EB66DB82-34C1-994A-A27C-C184C7C5BDDA}"/>
              </a:ext>
            </a:extLst>
          </p:cNvPr>
          <p:cNvSpPr>
            <a:spLocks noGrp="1" noChangeArrowheads="1"/>
          </p:cNvSpPr>
          <p:nvPr>
            <p:ph type="subTitle" idx="1"/>
          </p:nvPr>
        </p:nvSpPr>
        <p:spPr>
          <a:xfrm>
            <a:off x="304800" y="3581400"/>
            <a:ext cx="8458200" cy="2900363"/>
          </a:xfrm>
        </p:spPr>
        <p:txBody>
          <a:bodyPr/>
          <a:lstStyle/>
          <a:p>
            <a:pPr eaLnBrk="1" hangingPunct="1"/>
            <a:endParaRPr lang="en-US" altLang="en-US" i="1">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p:txBody>
      </p:sp>
    </p:spTree>
    <p:extLst>
      <p:ext uri="{BB962C8B-B14F-4D97-AF65-F5344CB8AC3E}">
        <p14:creationId xmlns:p14="http://schemas.microsoft.com/office/powerpoint/2010/main" val="33883850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itle 1">
            <a:extLst>
              <a:ext uri="{FF2B5EF4-FFF2-40B4-BE49-F238E27FC236}">
                <a16:creationId xmlns:a16="http://schemas.microsoft.com/office/drawing/2014/main" id="{37341F1E-EEC5-5E40-B8E1-F001AF083003}"/>
              </a:ext>
            </a:extLst>
          </p:cNvPr>
          <p:cNvSpPr>
            <a:spLocks noGrp="1"/>
          </p:cNvSpPr>
          <p:nvPr>
            <p:ph type="title"/>
          </p:nvPr>
        </p:nvSpPr>
        <p:spPr/>
        <p:txBody>
          <a:bodyPr/>
          <a:lstStyle/>
          <a:p>
            <a:r>
              <a:rPr lang="en-US" altLang="en-US" dirty="0">
                <a:ea typeface="ＭＳ Ｐゴシック" panose="020B0600070205080204" pitchFamily="34" charset="-128"/>
              </a:rPr>
              <a:t>Memory in the GPU Architecture</a:t>
            </a:r>
          </a:p>
        </p:txBody>
      </p:sp>
      <p:sp>
        <p:nvSpPr>
          <p:cNvPr id="10" name="Slide Number Placeholder 3">
            <a:extLst>
              <a:ext uri="{FF2B5EF4-FFF2-40B4-BE49-F238E27FC236}">
                <a16:creationId xmlns:a16="http://schemas.microsoft.com/office/drawing/2014/main" id="{FC5739B9-63E5-1E41-8390-7E8804EBCA86}"/>
              </a:ext>
            </a:extLst>
          </p:cNvPr>
          <p:cNvSpPr>
            <a:spLocks noGrp="1"/>
          </p:cNvSpPr>
          <p:nvPr>
            <p:ph type="sldNum" sz="quarter" idx="11"/>
          </p:nvPr>
        </p:nvSpPr>
        <p:spPr>
          <a:xfrm>
            <a:off x="6777038" y="631825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B31A252-A455-7E4D-8859-45EB22A1C42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grpSp>
        <p:nvGrpSpPr>
          <p:cNvPr id="63" name="Group 62">
            <a:extLst>
              <a:ext uri="{FF2B5EF4-FFF2-40B4-BE49-F238E27FC236}">
                <a16:creationId xmlns:a16="http://schemas.microsoft.com/office/drawing/2014/main" id="{83245DBE-7C74-8D4D-B2B4-CA3B77ABE474}"/>
              </a:ext>
            </a:extLst>
          </p:cNvPr>
          <p:cNvGrpSpPr/>
          <p:nvPr/>
        </p:nvGrpSpPr>
        <p:grpSpPr>
          <a:xfrm>
            <a:off x="1259632" y="1398686"/>
            <a:ext cx="7242546" cy="3149329"/>
            <a:chOff x="950727" y="1690048"/>
            <a:chExt cx="7242546" cy="3149329"/>
          </a:xfrm>
        </p:grpSpPr>
        <p:sp>
          <p:nvSpPr>
            <p:cNvPr id="82" name="TextBox 8">
              <a:extLst>
                <a:ext uri="{FF2B5EF4-FFF2-40B4-BE49-F238E27FC236}">
                  <a16:creationId xmlns:a16="http://schemas.microsoft.com/office/drawing/2014/main" id="{9B6461DD-DB21-AC41-9D23-C2997A61866D}"/>
                </a:ext>
              </a:extLst>
            </p:cNvPr>
            <p:cNvSpPr txBox="1"/>
            <p:nvPr/>
          </p:nvSpPr>
          <p:spPr>
            <a:xfrm>
              <a:off x="5516499" y="2759047"/>
              <a:ext cx="426364" cy="515045"/>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a:t>
              </a:r>
            </a:p>
          </p:txBody>
        </p:sp>
        <p:sp>
          <p:nvSpPr>
            <p:cNvPr id="83" name="Rectangle 82">
              <a:extLst>
                <a:ext uri="{FF2B5EF4-FFF2-40B4-BE49-F238E27FC236}">
                  <a16:creationId xmlns:a16="http://schemas.microsoft.com/office/drawing/2014/main" id="{276F10E9-5D35-C047-9389-5743472286EE}"/>
                </a:ext>
              </a:extLst>
            </p:cNvPr>
            <p:cNvSpPr/>
            <p:nvPr/>
          </p:nvSpPr>
          <p:spPr>
            <a:xfrm>
              <a:off x="950727" y="1690689"/>
              <a:ext cx="1979133" cy="3148688"/>
            </a:xfrm>
            <a:prstGeom prst="rect">
              <a:avLst/>
            </a:prstGeom>
            <a:solidFill>
              <a:srgbClr val="9DC3E6"/>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SM</a:t>
              </a:r>
            </a:p>
          </p:txBody>
        </p:sp>
        <p:sp>
          <p:nvSpPr>
            <p:cNvPr id="84" name="Rectangle 83">
              <a:extLst>
                <a:ext uri="{FF2B5EF4-FFF2-40B4-BE49-F238E27FC236}">
                  <a16:creationId xmlns:a16="http://schemas.microsoft.com/office/drawing/2014/main" id="{A9252F14-ED24-A44E-AE4B-2FA08A12D044}"/>
                </a:ext>
              </a:extLst>
            </p:cNvPr>
            <p:cNvSpPr/>
            <p:nvPr/>
          </p:nvSpPr>
          <p:spPr>
            <a:xfrm>
              <a:off x="1033577" y="2787425"/>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85" name="Rectangle 84">
              <a:extLst>
                <a:ext uri="{FF2B5EF4-FFF2-40B4-BE49-F238E27FC236}">
                  <a16:creationId xmlns:a16="http://schemas.microsoft.com/office/drawing/2014/main" id="{14C3374C-D071-BF40-B124-324BE482074B}"/>
                </a:ext>
              </a:extLst>
            </p:cNvPr>
            <p:cNvSpPr/>
            <p:nvPr/>
          </p:nvSpPr>
          <p:spPr>
            <a:xfrm>
              <a:off x="1033576" y="1984867"/>
              <a:ext cx="1784276" cy="313189"/>
            </a:xfrm>
            <a:prstGeom prst="rect">
              <a:avLst/>
            </a:prstGeom>
            <a:solidFill>
              <a:schemeClr val="accent1">
                <a:lumMod val="40000"/>
                <a:lumOff val="60000"/>
              </a:schemeClr>
            </a:solidFill>
            <a:ln>
              <a:solidFill>
                <a:schemeClr val="accent1"/>
              </a:solidFill>
            </a:ln>
            <a:effectLst/>
          </p:spPr>
          <p:style>
            <a:lnRef idx="1">
              <a:schemeClr val="accent4"/>
            </a:lnRef>
            <a:fillRef idx="2">
              <a:schemeClr val="accent4"/>
            </a:fillRef>
            <a:effectRef idx="1">
              <a:schemeClr val="accent4"/>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C000">
                      <a:lumMod val="50000"/>
                    </a:srgbClr>
                  </a:solidFill>
                  <a:effectLst/>
                  <a:uLnTx/>
                  <a:uFillTx/>
                  <a:latin typeface="Calibri" panose="020F0502020204030204"/>
                  <a:ea typeface="+mn-ea"/>
                  <a:cs typeface="+mn-cs"/>
                </a:rPr>
                <a:t>Control</a:t>
              </a:r>
            </a:p>
          </p:txBody>
        </p:sp>
        <p:sp>
          <p:nvSpPr>
            <p:cNvPr id="86" name="Rectangle 85">
              <a:extLst>
                <a:ext uri="{FF2B5EF4-FFF2-40B4-BE49-F238E27FC236}">
                  <a16:creationId xmlns:a16="http://schemas.microsoft.com/office/drawing/2014/main" id="{1E6141C9-64F2-E147-84F7-633ACB5BDBAD}"/>
                </a:ext>
              </a:extLst>
            </p:cNvPr>
            <p:cNvSpPr/>
            <p:nvPr/>
          </p:nvSpPr>
          <p:spPr>
            <a:xfrm>
              <a:off x="1491653" y="2787425"/>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87" name="Rectangle 86">
              <a:extLst>
                <a:ext uri="{FF2B5EF4-FFF2-40B4-BE49-F238E27FC236}">
                  <a16:creationId xmlns:a16="http://schemas.microsoft.com/office/drawing/2014/main" id="{4228492C-83A0-4647-A270-788F43A78BE2}"/>
                </a:ext>
              </a:extLst>
            </p:cNvPr>
            <p:cNvSpPr/>
            <p:nvPr/>
          </p:nvSpPr>
          <p:spPr>
            <a:xfrm>
              <a:off x="1033577" y="3264392"/>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88" name="Rectangle 87">
              <a:extLst>
                <a:ext uri="{FF2B5EF4-FFF2-40B4-BE49-F238E27FC236}">
                  <a16:creationId xmlns:a16="http://schemas.microsoft.com/office/drawing/2014/main" id="{36E8CECF-E44C-3B41-81A4-E8BB527DD0EC}"/>
                </a:ext>
              </a:extLst>
            </p:cNvPr>
            <p:cNvSpPr/>
            <p:nvPr/>
          </p:nvSpPr>
          <p:spPr>
            <a:xfrm>
              <a:off x="1491653" y="3264392"/>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89" name="Rectangle 88">
              <a:extLst>
                <a:ext uri="{FF2B5EF4-FFF2-40B4-BE49-F238E27FC236}">
                  <a16:creationId xmlns:a16="http://schemas.microsoft.com/office/drawing/2014/main" id="{CBB399AC-5271-0547-B4DA-7E31FFD6E600}"/>
                </a:ext>
              </a:extLst>
            </p:cNvPr>
            <p:cNvSpPr/>
            <p:nvPr/>
          </p:nvSpPr>
          <p:spPr>
            <a:xfrm>
              <a:off x="1967140" y="2787425"/>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90" name="Rectangle 89">
              <a:extLst>
                <a:ext uri="{FF2B5EF4-FFF2-40B4-BE49-F238E27FC236}">
                  <a16:creationId xmlns:a16="http://schemas.microsoft.com/office/drawing/2014/main" id="{EA2CC834-1C86-A94E-8BED-E36D3646CAFE}"/>
                </a:ext>
              </a:extLst>
            </p:cNvPr>
            <p:cNvSpPr/>
            <p:nvPr/>
          </p:nvSpPr>
          <p:spPr>
            <a:xfrm>
              <a:off x="2425216" y="2787425"/>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91" name="Rectangle 90">
              <a:extLst>
                <a:ext uri="{FF2B5EF4-FFF2-40B4-BE49-F238E27FC236}">
                  <a16:creationId xmlns:a16="http://schemas.microsoft.com/office/drawing/2014/main" id="{948F5E5D-EDE9-5E44-B22F-F550402F88BC}"/>
                </a:ext>
              </a:extLst>
            </p:cNvPr>
            <p:cNvSpPr/>
            <p:nvPr/>
          </p:nvSpPr>
          <p:spPr>
            <a:xfrm>
              <a:off x="1967140" y="3264392"/>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92" name="Rectangle 91">
              <a:extLst>
                <a:ext uri="{FF2B5EF4-FFF2-40B4-BE49-F238E27FC236}">
                  <a16:creationId xmlns:a16="http://schemas.microsoft.com/office/drawing/2014/main" id="{B79CC606-64F2-4342-ACF7-7D83EE7C99C9}"/>
                </a:ext>
              </a:extLst>
            </p:cNvPr>
            <p:cNvSpPr/>
            <p:nvPr/>
          </p:nvSpPr>
          <p:spPr>
            <a:xfrm>
              <a:off x="2425216" y="3264392"/>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93" name="Rectangle 92">
              <a:extLst>
                <a:ext uri="{FF2B5EF4-FFF2-40B4-BE49-F238E27FC236}">
                  <a16:creationId xmlns:a16="http://schemas.microsoft.com/office/drawing/2014/main" id="{229EB8B4-E204-ED40-9A82-549AE665578D}"/>
                </a:ext>
              </a:extLst>
            </p:cNvPr>
            <p:cNvSpPr/>
            <p:nvPr/>
          </p:nvSpPr>
          <p:spPr>
            <a:xfrm>
              <a:off x="3266089" y="1690689"/>
              <a:ext cx="1979133" cy="3148688"/>
            </a:xfrm>
            <a:prstGeom prst="rect">
              <a:avLst/>
            </a:prstGeom>
            <a:solidFill>
              <a:srgbClr val="9DC3E6"/>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SM</a:t>
              </a:r>
            </a:p>
          </p:txBody>
        </p:sp>
        <p:sp>
          <p:nvSpPr>
            <p:cNvPr id="94" name="Rectangle 93">
              <a:extLst>
                <a:ext uri="{FF2B5EF4-FFF2-40B4-BE49-F238E27FC236}">
                  <a16:creationId xmlns:a16="http://schemas.microsoft.com/office/drawing/2014/main" id="{1AB37EEF-8791-604D-A12A-0020B3041BC9}"/>
                </a:ext>
              </a:extLst>
            </p:cNvPr>
            <p:cNvSpPr/>
            <p:nvPr/>
          </p:nvSpPr>
          <p:spPr>
            <a:xfrm>
              <a:off x="3348939" y="2787425"/>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95" name="Rectangle 94">
              <a:extLst>
                <a:ext uri="{FF2B5EF4-FFF2-40B4-BE49-F238E27FC236}">
                  <a16:creationId xmlns:a16="http://schemas.microsoft.com/office/drawing/2014/main" id="{85B6CF63-28E6-D54A-8BE2-1F8970674969}"/>
                </a:ext>
              </a:extLst>
            </p:cNvPr>
            <p:cNvSpPr/>
            <p:nvPr/>
          </p:nvSpPr>
          <p:spPr>
            <a:xfrm>
              <a:off x="3348938" y="1984867"/>
              <a:ext cx="1784276" cy="313189"/>
            </a:xfrm>
            <a:prstGeom prst="rect">
              <a:avLst/>
            </a:prstGeom>
            <a:solidFill>
              <a:schemeClr val="accent1">
                <a:lumMod val="40000"/>
                <a:lumOff val="60000"/>
              </a:schemeClr>
            </a:solidFill>
            <a:ln>
              <a:solidFill>
                <a:schemeClr val="accent1"/>
              </a:solidFill>
            </a:ln>
            <a:effectLst/>
          </p:spPr>
          <p:style>
            <a:lnRef idx="1">
              <a:schemeClr val="accent4"/>
            </a:lnRef>
            <a:fillRef idx="2">
              <a:schemeClr val="accent4"/>
            </a:fillRef>
            <a:effectRef idx="1">
              <a:schemeClr val="accent4"/>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C000">
                      <a:lumMod val="50000"/>
                    </a:srgbClr>
                  </a:solidFill>
                  <a:effectLst/>
                  <a:uLnTx/>
                  <a:uFillTx/>
                  <a:latin typeface="Calibri" panose="020F0502020204030204"/>
                  <a:ea typeface="+mn-ea"/>
                  <a:cs typeface="+mn-cs"/>
                </a:rPr>
                <a:t>Control</a:t>
              </a:r>
            </a:p>
          </p:txBody>
        </p:sp>
        <p:sp>
          <p:nvSpPr>
            <p:cNvPr id="96" name="Rectangle 95">
              <a:extLst>
                <a:ext uri="{FF2B5EF4-FFF2-40B4-BE49-F238E27FC236}">
                  <a16:creationId xmlns:a16="http://schemas.microsoft.com/office/drawing/2014/main" id="{EAB2EDD4-18B0-6748-B011-5DE9473ABE98}"/>
                </a:ext>
              </a:extLst>
            </p:cNvPr>
            <p:cNvSpPr/>
            <p:nvPr/>
          </p:nvSpPr>
          <p:spPr>
            <a:xfrm>
              <a:off x="3807015" y="2787425"/>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97" name="Rectangle 96">
              <a:extLst>
                <a:ext uri="{FF2B5EF4-FFF2-40B4-BE49-F238E27FC236}">
                  <a16:creationId xmlns:a16="http://schemas.microsoft.com/office/drawing/2014/main" id="{A063EF20-87FE-184C-BF14-BE5283318C73}"/>
                </a:ext>
              </a:extLst>
            </p:cNvPr>
            <p:cNvSpPr/>
            <p:nvPr/>
          </p:nvSpPr>
          <p:spPr>
            <a:xfrm>
              <a:off x="3348939" y="3264392"/>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98" name="Rectangle 97">
              <a:extLst>
                <a:ext uri="{FF2B5EF4-FFF2-40B4-BE49-F238E27FC236}">
                  <a16:creationId xmlns:a16="http://schemas.microsoft.com/office/drawing/2014/main" id="{D87F15DC-FDE8-9442-B96F-AF488046ED3F}"/>
                </a:ext>
              </a:extLst>
            </p:cNvPr>
            <p:cNvSpPr/>
            <p:nvPr/>
          </p:nvSpPr>
          <p:spPr>
            <a:xfrm>
              <a:off x="3807015" y="3264392"/>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99" name="Rectangle 98">
              <a:extLst>
                <a:ext uri="{FF2B5EF4-FFF2-40B4-BE49-F238E27FC236}">
                  <a16:creationId xmlns:a16="http://schemas.microsoft.com/office/drawing/2014/main" id="{53D13E7C-C4C0-CC48-BB6D-A771402F9107}"/>
                </a:ext>
              </a:extLst>
            </p:cNvPr>
            <p:cNvSpPr/>
            <p:nvPr/>
          </p:nvSpPr>
          <p:spPr>
            <a:xfrm>
              <a:off x="4282502" y="2787425"/>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100" name="Rectangle 99">
              <a:extLst>
                <a:ext uri="{FF2B5EF4-FFF2-40B4-BE49-F238E27FC236}">
                  <a16:creationId xmlns:a16="http://schemas.microsoft.com/office/drawing/2014/main" id="{4ED4E492-ECDE-7041-881A-2DBB5A5725B8}"/>
                </a:ext>
              </a:extLst>
            </p:cNvPr>
            <p:cNvSpPr/>
            <p:nvPr/>
          </p:nvSpPr>
          <p:spPr>
            <a:xfrm>
              <a:off x="4740578" y="2787425"/>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101" name="Rectangle 100">
              <a:extLst>
                <a:ext uri="{FF2B5EF4-FFF2-40B4-BE49-F238E27FC236}">
                  <a16:creationId xmlns:a16="http://schemas.microsoft.com/office/drawing/2014/main" id="{22E2DD78-7217-F34D-B659-194F79BEBD94}"/>
                </a:ext>
              </a:extLst>
            </p:cNvPr>
            <p:cNvSpPr/>
            <p:nvPr/>
          </p:nvSpPr>
          <p:spPr>
            <a:xfrm>
              <a:off x="4282502" y="3264392"/>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102" name="Rectangle 101">
              <a:extLst>
                <a:ext uri="{FF2B5EF4-FFF2-40B4-BE49-F238E27FC236}">
                  <a16:creationId xmlns:a16="http://schemas.microsoft.com/office/drawing/2014/main" id="{D70FEEA3-1AF2-5F46-B191-1A68475050D8}"/>
                </a:ext>
              </a:extLst>
            </p:cNvPr>
            <p:cNvSpPr/>
            <p:nvPr/>
          </p:nvSpPr>
          <p:spPr>
            <a:xfrm>
              <a:off x="4740578" y="3264392"/>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103" name="Rectangle 102">
              <a:extLst>
                <a:ext uri="{FF2B5EF4-FFF2-40B4-BE49-F238E27FC236}">
                  <a16:creationId xmlns:a16="http://schemas.microsoft.com/office/drawing/2014/main" id="{D17D7F92-E9B4-344E-922D-6D81B757D30A}"/>
                </a:ext>
              </a:extLst>
            </p:cNvPr>
            <p:cNvSpPr/>
            <p:nvPr/>
          </p:nvSpPr>
          <p:spPr>
            <a:xfrm>
              <a:off x="6214140" y="1690048"/>
              <a:ext cx="1979133" cy="3148688"/>
            </a:xfrm>
            <a:prstGeom prst="rect">
              <a:avLst/>
            </a:prstGeom>
            <a:solidFill>
              <a:srgbClr val="9DC3E6"/>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SM</a:t>
              </a:r>
            </a:p>
          </p:txBody>
        </p:sp>
        <p:sp>
          <p:nvSpPr>
            <p:cNvPr id="104" name="Rectangle 103">
              <a:extLst>
                <a:ext uri="{FF2B5EF4-FFF2-40B4-BE49-F238E27FC236}">
                  <a16:creationId xmlns:a16="http://schemas.microsoft.com/office/drawing/2014/main" id="{59C54632-5F4F-554C-BFA2-22B2ADFFC70E}"/>
                </a:ext>
              </a:extLst>
            </p:cNvPr>
            <p:cNvSpPr/>
            <p:nvPr/>
          </p:nvSpPr>
          <p:spPr>
            <a:xfrm>
              <a:off x="6296990" y="2786784"/>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105" name="Rectangle 104">
              <a:extLst>
                <a:ext uri="{FF2B5EF4-FFF2-40B4-BE49-F238E27FC236}">
                  <a16:creationId xmlns:a16="http://schemas.microsoft.com/office/drawing/2014/main" id="{EBFA02BD-561A-F541-B829-72AF45BF74D2}"/>
                </a:ext>
              </a:extLst>
            </p:cNvPr>
            <p:cNvSpPr/>
            <p:nvPr/>
          </p:nvSpPr>
          <p:spPr>
            <a:xfrm>
              <a:off x="6296989" y="1984226"/>
              <a:ext cx="1784276" cy="313189"/>
            </a:xfrm>
            <a:prstGeom prst="rect">
              <a:avLst/>
            </a:prstGeom>
            <a:solidFill>
              <a:schemeClr val="accent1">
                <a:lumMod val="40000"/>
                <a:lumOff val="60000"/>
              </a:schemeClr>
            </a:solidFill>
            <a:ln>
              <a:solidFill>
                <a:schemeClr val="accent1"/>
              </a:solidFill>
            </a:ln>
            <a:effectLst/>
          </p:spPr>
          <p:style>
            <a:lnRef idx="1">
              <a:schemeClr val="accent4"/>
            </a:lnRef>
            <a:fillRef idx="2">
              <a:schemeClr val="accent4"/>
            </a:fillRef>
            <a:effectRef idx="1">
              <a:schemeClr val="accent4"/>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C000">
                      <a:lumMod val="50000"/>
                    </a:srgbClr>
                  </a:solidFill>
                  <a:effectLst/>
                  <a:uLnTx/>
                  <a:uFillTx/>
                  <a:latin typeface="Calibri" panose="020F0502020204030204"/>
                  <a:ea typeface="+mn-ea"/>
                  <a:cs typeface="+mn-cs"/>
                </a:rPr>
                <a:t>Control</a:t>
              </a:r>
            </a:p>
          </p:txBody>
        </p:sp>
        <p:sp>
          <p:nvSpPr>
            <p:cNvPr id="106" name="Rectangle 105">
              <a:extLst>
                <a:ext uri="{FF2B5EF4-FFF2-40B4-BE49-F238E27FC236}">
                  <a16:creationId xmlns:a16="http://schemas.microsoft.com/office/drawing/2014/main" id="{5A72C4F9-4AA4-2241-8E79-BEF6AE2A976C}"/>
                </a:ext>
              </a:extLst>
            </p:cNvPr>
            <p:cNvSpPr/>
            <p:nvPr/>
          </p:nvSpPr>
          <p:spPr>
            <a:xfrm>
              <a:off x="6755066" y="2786784"/>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107" name="Rectangle 106">
              <a:extLst>
                <a:ext uri="{FF2B5EF4-FFF2-40B4-BE49-F238E27FC236}">
                  <a16:creationId xmlns:a16="http://schemas.microsoft.com/office/drawing/2014/main" id="{AD0E92AA-56BD-AA45-991D-854ACE7D3AB4}"/>
                </a:ext>
              </a:extLst>
            </p:cNvPr>
            <p:cNvSpPr/>
            <p:nvPr/>
          </p:nvSpPr>
          <p:spPr>
            <a:xfrm>
              <a:off x="6296990" y="3263751"/>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108" name="Rectangle 107">
              <a:extLst>
                <a:ext uri="{FF2B5EF4-FFF2-40B4-BE49-F238E27FC236}">
                  <a16:creationId xmlns:a16="http://schemas.microsoft.com/office/drawing/2014/main" id="{30D9F448-AFA4-CD4B-BAF5-B48E7B828724}"/>
                </a:ext>
              </a:extLst>
            </p:cNvPr>
            <p:cNvSpPr/>
            <p:nvPr/>
          </p:nvSpPr>
          <p:spPr>
            <a:xfrm>
              <a:off x="6755066" y="3263751"/>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109" name="Rectangle 108">
              <a:extLst>
                <a:ext uri="{FF2B5EF4-FFF2-40B4-BE49-F238E27FC236}">
                  <a16:creationId xmlns:a16="http://schemas.microsoft.com/office/drawing/2014/main" id="{49BAD530-052E-1C44-B297-8AF5EBAE88E3}"/>
                </a:ext>
              </a:extLst>
            </p:cNvPr>
            <p:cNvSpPr/>
            <p:nvPr/>
          </p:nvSpPr>
          <p:spPr>
            <a:xfrm>
              <a:off x="7230553" y="2786784"/>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110" name="Rectangle 109">
              <a:extLst>
                <a:ext uri="{FF2B5EF4-FFF2-40B4-BE49-F238E27FC236}">
                  <a16:creationId xmlns:a16="http://schemas.microsoft.com/office/drawing/2014/main" id="{677ABFD0-D5BA-204E-8066-9BC981D8675F}"/>
                </a:ext>
              </a:extLst>
            </p:cNvPr>
            <p:cNvSpPr/>
            <p:nvPr/>
          </p:nvSpPr>
          <p:spPr>
            <a:xfrm>
              <a:off x="7688629" y="2786784"/>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111" name="Rectangle 110">
              <a:extLst>
                <a:ext uri="{FF2B5EF4-FFF2-40B4-BE49-F238E27FC236}">
                  <a16:creationId xmlns:a16="http://schemas.microsoft.com/office/drawing/2014/main" id="{C345AE44-BF72-E44F-9369-D5A2755D6554}"/>
                </a:ext>
              </a:extLst>
            </p:cNvPr>
            <p:cNvSpPr/>
            <p:nvPr/>
          </p:nvSpPr>
          <p:spPr>
            <a:xfrm>
              <a:off x="7230553" y="3263751"/>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112" name="Rectangle 111">
              <a:extLst>
                <a:ext uri="{FF2B5EF4-FFF2-40B4-BE49-F238E27FC236}">
                  <a16:creationId xmlns:a16="http://schemas.microsoft.com/office/drawing/2014/main" id="{BDD253A9-B06E-B845-B50A-93C5ED4AE6C1}"/>
                </a:ext>
              </a:extLst>
            </p:cNvPr>
            <p:cNvSpPr/>
            <p:nvPr/>
          </p:nvSpPr>
          <p:spPr>
            <a:xfrm>
              <a:off x="7688629" y="3263751"/>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grpSp>
      <p:sp>
        <p:nvSpPr>
          <p:cNvPr id="64" name="Rectangle 63">
            <a:extLst>
              <a:ext uri="{FF2B5EF4-FFF2-40B4-BE49-F238E27FC236}">
                <a16:creationId xmlns:a16="http://schemas.microsoft.com/office/drawing/2014/main" id="{DD66953F-B35D-E040-851C-E3C567972493}"/>
              </a:ext>
            </a:extLst>
          </p:cNvPr>
          <p:cNvSpPr/>
          <p:nvPr/>
        </p:nvSpPr>
        <p:spPr>
          <a:xfrm>
            <a:off x="1259632" y="4769487"/>
            <a:ext cx="7242546" cy="459372"/>
          </a:xfrm>
          <a:prstGeom prst="rect">
            <a:avLst/>
          </a:prstGeom>
          <a:solidFill>
            <a:schemeClr val="accent5">
              <a:lumMod val="60000"/>
              <a:lumOff val="40000"/>
            </a:schemeClr>
          </a:solidFill>
          <a:ln>
            <a:solidFill>
              <a:schemeClr val="accent5">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L2 Cache</a:t>
            </a:r>
          </a:p>
        </p:txBody>
      </p:sp>
      <p:sp>
        <p:nvSpPr>
          <p:cNvPr id="65" name="Rectangle 64">
            <a:extLst>
              <a:ext uri="{FF2B5EF4-FFF2-40B4-BE49-F238E27FC236}">
                <a16:creationId xmlns:a16="http://schemas.microsoft.com/office/drawing/2014/main" id="{2A88796A-D381-194A-BE32-B2D70843F2D9}"/>
              </a:ext>
            </a:extLst>
          </p:cNvPr>
          <p:cNvSpPr/>
          <p:nvPr/>
        </p:nvSpPr>
        <p:spPr>
          <a:xfrm>
            <a:off x="1259632" y="5418266"/>
            <a:ext cx="7242546" cy="459372"/>
          </a:xfrm>
          <a:prstGeom prst="rect">
            <a:avLst/>
          </a:prstGeom>
          <a:solidFill>
            <a:schemeClr val="accent5">
              <a:lumMod val="20000"/>
              <a:lumOff val="80000"/>
            </a:schemeClr>
          </a:solidFill>
          <a:ln>
            <a:solidFill>
              <a:schemeClr val="accent5">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Global Memory</a:t>
            </a:r>
          </a:p>
        </p:txBody>
      </p:sp>
      <p:sp>
        <p:nvSpPr>
          <p:cNvPr id="66" name="Rectangle 65">
            <a:extLst>
              <a:ext uri="{FF2B5EF4-FFF2-40B4-BE49-F238E27FC236}">
                <a16:creationId xmlns:a16="http://schemas.microsoft.com/office/drawing/2014/main" id="{97111E92-112A-9749-9269-9CD6EE367E89}"/>
              </a:ext>
            </a:extLst>
          </p:cNvPr>
          <p:cNvSpPr/>
          <p:nvPr/>
        </p:nvSpPr>
        <p:spPr>
          <a:xfrm>
            <a:off x="1342481" y="2095030"/>
            <a:ext cx="1784276" cy="313189"/>
          </a:xfrm>
          <a:prstGeom prst="rect">
            <a:avLst/>
          </a:prstGeom>
          <a:solidFill>
            <a:schemeClr val="accent5">
              <a:lumMod val="75000"/>
            </a:schemeClr>
          </a:solidFill>
          <a:ln>
            <a:solidFill>
              <a:schemeClr val="accent5">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Registers</a:t>
            </a:r>
          </a:p>
        </p:txBody>
      </p:sp>
      <p:sp>
        <p:nvSpPr>
          <p:cNvPr id="67" name="Rectangle 66">
            <a:extLst>
              <a:ext uri="{FF2B5EF4-FFF2-40B4-BE49-F238E27FC236}">
                <a16:creationId xmlns:a16="http://schemas.microsoft.com/office/drawing/2014/main" id="{F0543D13-A204-EB40-BFE5-BDF253B7DC5A}"/>
              </a:ext>
            </a:extLst>
          </p:cNvPr>
          <p:cNvSpPr/>
          <p:nvPr/>
        </p:nvSpPr>
        <p:spPr>
          <a:xfrm>
            <a:off x="1342481" y="3847518"/>
            <a:ext cx="892138" cy="559925"/>
          </a:xfrm>
          <a:prstGeom prst="rect">
            <a:avLst/>
          </a:prstGeom>
          <a:solidFill>
            <a:schemeClr val="accent5"/>
          </a:solidFill>
          <a:ln>
            <a:solidFill>
              <a:schemeClr val="accent5">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Shared Memory</a:t>
            </a:r>
          </a:p>
        </p:txBody>
      </p:sp>
      <p:sp>
        <p:nvSpPr>
          <p:cNvPr id="68" name="Rectangle 67">
            <a:extLst>
              <a:ext uri="{FF2B5EF4-FFF2-40B4-BE49-F238E27FC236}">
                <a16:creationId xmlns:a16="http://schemas.microsoft.com/office/drawing/2014/main" id="{00506305-2488-C84A-B09D-3BA3D1D0FCC1}"/>
              </a:ext>
            </a:extLst>
          </p:cNvPr>
          <p:cNvSpPr/>
          <p:nvPr/>
        </p:nvSpPr>
        <p:spPr>
          <a:xfrm>
            <a:off x="2234619" y="3847518"/>
            <a:ext cx="892138" cy="559925"/>
          </a:xfrm>
          <a:prstGeom prst="rect">
            <a:avLst/>
          </a:prstGeom>
          <a:solidFill>
            <a:schemeClr val="accent5"/>
          </a:solidFill>
          <a:ln>
            <a:solidFill>
              <a:schemeClr val="accent5">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L1 Cache</a:t>
            </a:r>
          </a:p>
        </p:txBody>
      </p:sp>
      <p:sp>
        <p:nvSpPr>
          <p:cNvPr id="69" name="Rectangle 68">
            <a:extLst>
              <a:ext uri="{FF2B5EF4-FFF2-40B4-BE49-F238E27FC236}">
                <a16:creationId xmlns:a16="http://schemas.microsoft.com/office/drawing/2014/main" id="{2683791C-00CF-8040-9525-E1B3F54E895A}"/>
              </a:ext>
            </a:extLst>
          </p:cNvPr>
          <p:cNvSpPr/>
          <p:nvPr/>
        </p:nvSpPr>
        <p:spPr>
          <a:xfrm>
            <a:off x="1342481" y="3449997"/>
            <a:ext cx="1784276" cy="313189"/>
          </a:xfrm>
          <a:prstGeom prst="rect">
            <a:avLst/>
          </a:prstGeom>
          <a:solidFill>
            <a:schemeClr val="accent5"/>
          </a:solidFill>
          <a:ln>
            <a:solidFill>
              <a:schemeClr val="accent5">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Constant Cache</a:t>
            </a:r>
          </a:p>
        </p:txBody>
      </p:sp>
      <p:sp>
        <p:nvSpPr>
          <p:cNvPr id="70" name="Rectangle 69">
            <a:extLst>
              <a:ext uri="{FF2B5EF4-FFF2-40B4-BE49-F238E27FC236}">
                <a16:creationId xmlns:a16="http://schemas.microsoft.com/office/drawing/2014/main" id="{FCBA386B-B899-3D49-B9CF-177CA6CD7F63}"/>
              </a:ext>
            </a:extLst>
          </p:cNvPr>
          <p:cNvSpPr/>
          <p:nvPr/>
        </p:nvSpPr>
        <p:spPr>
          <a:xfrm>
            <a:off x="3657843" y="2095030"/>
            <a:ext cx="1784276" cy="313189"/>
          </a:xfrm>
          <a:prstGeom prst="rect">
            <a:avLst/>
          </a:prstGeom>
          <a:solidFill>
            <a:schemeClr val="accent5">
              <a:lumMod val="75000"/>
            </a:schemeClr>
          </a:solidFill>
          <a:ln>
            <a:solidFill>
              <a:schemeClr val="accent5">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Registers</a:t>
            </a:r>
          </a:p>
        </p:txBody>
      </p:sp>
      <p:sp>
        <p:nvSpPr>
          <p:cNvPr id="71" name="Rectangle 70">
            <a:extLst>
              <a:ext uri="{FF2B5EF4-FFF2-40B4-BE49-F238E27FC236}">
                <a16:creationId xmlns:a16="http://schemas.microsoft.com/office/drawing/2014/main" id="{54D3438B-A9F4-5643-BCF8-99F5E2DE08B4}"/>
              </a:ext>
            </a:extLst>
          </p:cNvPr>
          <p:cNvSpPr/>
          <p:nvPr/>
        </p:nvSpPr>
        <p:spPr>
          <a:xfrm>
            <a:off x="3657843" y="3847518"/>
            <a:ext cx="892138" cy="559925"/>
          </a:xfrm>
          <a:prstGeom prst="rect">
            <a:avLst/>
          </a:prstGeom>
          <a:solidFill>
            <a:schemeClr val="accent5"/>
          </a:solidFill>
          <a:ln>
            <a:solidFill>
              <a:schemeClr val="accent5">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Shared Memory</a:t>
            </a:r>
          </a:p>
        </p:txBody>
      </p:sp>
      <p:sp>
        <p:nvSpPr>
          <p:cNvPr id="72" name="Rectangle 71">
            <a:extLst>
              <a:ext uri="{FF2B5EF4-FFF2-40B4-BE49-F238E27FC236}">
                <a16:creationId xmlns:a16="http://schemas.microsoft.com/office/drawing/2014/main" id="{A07538DF-F811-C04D-8E8A-E8B718496041}"/>
              </a:ext>
            </a:extLst>
          </p:cNvPr>
          <p:cNvSpPr/>
          <p:nvPr/>
        </p:nvSpPr>
        <p:spPr>
          <a:xfrm>
            <a:off x="4549981" y="3847518"/>
            <a:ext cx="892138" cy="559925"/>
          </a:xfrm>
          <a:prstGeom prst="rect">
            <a:avLst/>
          </a:prstGeom>
          <a:solidFill>
            <a:schemeClr val="accent5"/>
          </a:solidFill>
          <a:ln>
            <a:solidFill>
              <a:schemeClr val="accent5">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L1 Cache</a:t>
            </a:r>
          </a:p>
        </p:txBody>
      </p:sp>
      <p:sp>
        <p:nvSpPr>
          <p:cNvPr id="73" name="Rectangle 72">
            <a:extLst>
              <a:ext uri="{FF2B5EF4-FFF2-40B4-BE49-F238E27FC236}">
                <a16:creationId xmlns:a16="http://schemas.microsoft.com/office/drawing/2014/main" id="{1749F814-5B60-8449-8ADA-C66C90279AC1}"/>
              </a:ext>
            </a:extLst>
          </p:cNvPr>
          <p:cNvSpPr/>
          <p:nvPr/>
        </p:nvSpPr>
        <p:spPr>
          <a:xfrm>
            <a:off x="3657843" y="3449997"/>
            <a:ext cx="1784276" cy="313189"/>
          </a:xfrm>
          <a:prstGeom prst="rect">
            <a:avLst/>
          </a:prstGeom>
          <a:solidFill>
            <a:schemeClr val="accent5"/>
          </a:solidFill>
          <a:ln>
            <a:solidFill>
              <a:schemeClr val="accent5">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Constant Cache</a:t>
            </a:r>
          </a:p>
        </p:txBody>
      </p:sp>
      <p:sp>
        <p:nvSpPr>
          <p:cNvPr id="74" name="Rectangle 73">
            <a:extLst>
              <a:ext uri="{FF2B5EF4-FFF2-40B4-BE49-F238E27FC236}">
                <a16:creationId xmlns:a16="http://schemas.microsoft.com/office/drawing/2014/main" id="{486DAB89-138A-4040-932C-484FFC2B603A}"/>
              </a:ext>
            </a:extLst>
          </p:cNvPr>
          <p:cNvSpPr/>
          <p:nvPr/>
        </p:nvSpPr>
        <p:spPr>
          <a:xfrm>
            <a:off x="6605894" y="2094389"/>
            <a:ext cx="1784276" cy="313189"/>
          </a:xfrm>
          <a:prstGeom prst="rect">
            <a:avLst/>
          </a:prstGeom>
          <a:solidFill>
            <a:schemeClr val="accent5">
              <a:lumMod val="75000"/>
            </a:schemeClr>
          </a:solidFill>
          <a:ln>
            <a:solidFill>
              <a:schemeClr val="accent5">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Registers</a:t>
            </a:r>
          </a:p>
        </p:txBody>
      </p:sp>
      <p:sp>
        <p:nvSpPr>
          <p:cNvPr id="75" name="Rectangle 74">
            <a:extLst>
              <a:ext uri="{FF2B5EF4-FFF2-40B4-BE49-F238E27FC236}">
                <a16:creationId xmlns:a16="http://schemas.microsoft.com/office/drawing/2014/main" id="{8C61DFFC-8176-B945-B14F-475B5899249C}"/>
              </a:ext>
            </a:extLst>
          </p:cNvPr>
          <p:cNvSpPr/>
          <p:nvPr/>
        </p:nvSpPr>
        <p:spPr>
          <a:xfrm>
            <a:off x="6605894" y="3846877"/>
            <a:ext cx="892138" cy="559925"/>
          </a:xfrm>
          <a:prstGeom prst="rect">
            <a:avLst/>
          </a:prstGeom>
          <a:solidFill>
            <a:schemeClr val="accent5"/>
          </a:solidFill>
          <a:ln>
            <a:solidFill>
              <a:schemeClr val="accent5">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Shared Memory</a:t>
            </a:r>
          </a:p>
        </p:txBody>
      </p:sp>
      <p:sp>
        <p:nvSpPr>
          <p:cNvPr id="76" name="Rectangle 75">
            <a:extLst>
              <a:ext uri="{FF2B5EF4-FFF2-40B4-BE49-F238E27FC236}">
                <a16:creationId xmlns:a16="http://schemas.microsoft.com/office/drawing/2014/main" id="{6DC8783D-65F2-8048-B5FC-BA73C21487C2}"/>
              </a:ext>
            </a:extLst>
          </p:cNvPr>
          <p:cNvSpPr/>
          <p:nvPr/>
        </p:nvSpPr>
        <p:spPr>
          <a:xfrm>
            <a:off x="7498032" y="3846877"/>
            <a:ext cx="892138" cy="559925"/>
          </a:xfrm>
          <a:prstGeom prst="rect">
            <a:avLst/>
          </a:prstGeom>
          <a:solidFill>
            <a:schemeClr val="accent5"/>
          </a:solidFill>
          <a:ln>
            <a:solidFill>
              <a:schemeClr val="accent5">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L1 Cache</a:t>
            </a:r>
          </a:p>
        </p:txBody>
      </p:sp>
      <p:sp>
        <p:nvSpPr>
          <p:cNvPr id="77" name="Rectangle 76">
            <a:extLst>
              <a:ext uri="{FF2B5EF4-FFF2-40B4-BE49-F238E27FC236}">
                <a16:creationId xmlns:a16="http://schemas.microsoft.com/office/drawing/2014/main" id="{59CB18B5-AF74-B848-B771-1EC432FDE099}"/>
              </a:ext>
            </a:extLst>
          </p:cNvPr>
          <p:cNvSpPr/>
          <p:nvPr/>
        </p:nvSpPr>
        <p:spPr>
          <a:xfrm>
            <a:off x="6605894" y="3449356"/>
            <a:ext cx="1784276" cy="313189"/>
          </a:xfrm>
          <a:prstGeom prst="rect">
            <a:avLst/>
          </a:prstGeom>
          <a:solidFill>
            <a:schemeClr val="accent5"/>
          </a:solidFill>
          <a:ln>
            <a:solidFill>
              <a:schemeClr val="accent5">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Constant Cache</a:t>
            </a:r>
          </a:p>
        </p:txBody>
      </p:sp>
      <p:sp>
        <p:nvSpPr>
          <p:cNvPr id="78" name="TextBox 2">
            <a:extLst>
              <a:ext uri="{FF2B5EF4-FFF2-40B4-BE49-F238E27FC236}">
                <a16:creationId xmlns:a16="http://schemas.microsoft.com/office/drawing/2014/main" id="{3ED640FF-4BE7-A649-A623-7A6E9A5238E5}"/>
              </a:ext>
            </a:extLst>
          </p:cNvPr>
          <p:cNvSpPr txBox="1"/>
          <p:nvPr/>
        </p:nvSpPr>
        <p:spPr>
          <a:xfrm>
            <a:off x="461669" y="2114336"/>
            <a:ext cx="686085"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≈1 cycle</a:t>
            </a:r>
          </a:p>
        </p:txBody>
      </p:sp>
      <p:sp>
        <p:nvSpPr>
          <p:cNvPr id="79" name="TextBox 54">
            <a:extLst>
              <a:ext uri="{FF2B5EF4-FFF2-40B4-BE49-F238E27FC236}">
                <a16:creationId xmlns:a16="http://schemas.microsoft.com/office/drawing/2014/main" id="{FCDD5EC2-8E3E-DA42-98AC-56AD1DF199F7}"/>
              </a:ext>
            </a:extLst>
          </p:cNvPr>
          <p:cNvSpPr txBox="1"/>
          <p:nvPr/>
        </p:nvSpPr>
        <p:spPr>
          <a:xfrm>
            <a:off x="431212" y="3467450"/>
            <a:ext cx="746999"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≈5 cycles</a:t>
            </a:r>
          </a:p>
        </p:txBody>
      </p:sp>
      <p:sp>
        <p:nvSpPr>
          <p:cNvPr id="80" name="TextBox 57">
            <a:extLst>
              <a:ext uri="{FF2B5EF4-FFF2-40B4-BE49-F238E27FC236}">
                <a16:creationId xmlns:a16="http://schemas.microsoft.com/office/drawing/2014/main" id="{0B56DF3A-8EA3-C140-A39E-FD178D829132}"/>
              </a:ext>
            </a:extLst>
          </p:cNvPr>
          <p:cNvSpPr txBox="1"/>
          <p:nvPr/>
        </p:nvSpPr>
        <p:spPr>
          <a:xfrm>
            <a:off x="431212" y="3988339"/>
            <a:ext cx="746999"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≈5 cycles</a:t>
            </a:r>
          </a:p>
        </p:txBody>
      </p:sp>
      <p:sp>
        <p:nvSpPr>
          <p:cNvPr id="81" name="TextBox 59">
            <a:extLst>
              <a:ext uri="{FF2B5EF4-FFF2-40B4-BE49-F238E27FC236}">
                <a16:creationId xmlns:a16="http://schemas.microsoft.com/office/drawing/2014/main" id="{CD32767B-F403-8949-95B4-697EEA6DA7DE}"/>
              </a:ext>
            </a:extLst>
          </p:cNvPr>
          <p:cNvSpPr txBox="1"/>
          <p:nvPr/>
        </p:nvSpPr>
        <p:spPr>
          <a:xfrm>
            <a:off x="352664" y="5509452"/>
            <a:ext cx="904094"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≈500 cycles</a:t>
            </a:r>
          </a:p>
        </p:txBody>
      </p:sp>
      <p:sp>
        <p:nvSpPr>
          <p:cNvPr id="113" name="TextBox 610">
            <a:extLst>
              <a:ext uri="{FF2B5EF4-FFF2-40B4-BE49-F238E27FC236}">
                <a16:creationId xmlns:a16="http://schemas.microsoft.com/office/drawing/2014/main" id="{0E2A1C3B-17D5-E044-9B34-2953CD19DD78}"/>
              </a:ext>
            </a:extLst>
          </p:cNvPr>
          <p:cNvSpPr txBox="1">
            <a:spLocks noChangeArrowheads="1"/>
          </p:cNvSpPr>
          <p:nvPr/>
        </p:nvSpPr>
        <p:spPr bwMode="auto">
          <a:xfrm>
            <a:off x="228600" y="6541584"/>
            <a:ext cx="156164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Izzat El Hajj</a:t>
            </a:r>
          </a:p>
        </p:txBody>
      </p:sp>
    </p:spTree>
    <p:extLst>
      <p:ext uri="{BB962C8B-B14F-4D97-AF65-F5344CB8AC3E}">
        <p14:creationId xmlns:p14="http://schemas.microsoft.com/office/powerpoint/2010/main" val="92181097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p:bldP spid="79" grpId="0"/>
      <p:bldP spid="80" grpId="0"/>
      <p:bldP spid="8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itle 1">
            <a:extLst>
              <a:ext uri="{FF2B5EF4-FFF2-40B4-BE49-F238E27FC236}">
                <a16:creationId xmlns:a16="http://schemas.microsoft.com/office/drawing/2014/main" id="{37341F1E-EEC5-5E40-B8E1-F001AF083003}"/>
              </a:ext>
            </a:extLst>
          </p:cNvPr>
          <p:cNvSpPr>
            <a:spLocks noGrp="1"/>
          </p:cNvSpPr>
          <p:nvPr>
            <p:ph type="title"/>
          </p:nvPr>
        </p:nvSpPr>
        <p:spPr/>
        <p:txBody>
          <a:bodyPr/>
          <a:lstStyle/>
          <a:p>
            <a:r>
              <a:rPr lang="en-US" altLang="en-US" dirty="0">
                <a:ea typeface="ＭＳ Ｐゴシック" panose="020B0600070205080204" pitchFamily="34" charset="-128"/>
              </a:rPr>
              <a:t>Memory in the GPU Architecture</a:t>
            </a:r>
          </a:p>
        </p:txBody>
      </p:sp>
      <p:sp>
        <p:nvSpPr>
          <p:cNvPr id="10" name="Slide Number Placeholder 3">
            <a:extLst>
              <a:ext uri="{FF2B5EF4-FFF2-40B4-BE49-F238E27FC236}">
                <a16:creationId xmlns:a16="http://schemas.microsoft.com/office/drawing/2014/main" id="{FC5739B9-63E5-1E41-8390-7E8804EBCA86}"/>
              </a:ext>
            </a:extLst>
          </p:cNvPr>
          <p:cNvSpPr>
            <a:spLocks noGrp="1"/>
          </p:cNvSpPr>
          <p:nvPr>
            <p:ph type="sldNum" sz="quarter" idx="11"/>
          </p:nvPr>
        </p:nvSpPr>
        <p:spPr>
          <a:xfrm>
            <a:off x="6777038" y="631825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B31A252-A455-7E4D-8859-45EB22A1C42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grpSp>
        <p:nvGrpSpPr>
          <p:cNvPr id="63" name="Group 62">
            <a:extLst>
              <a:ext uri="{FF2B5EF4-FFF2-40B4-BE49-F238E27FC236}">
                <a16:creationId xmlns:a16="http://schemas.microsoft.com/office/drawing/2014/main" id="{83245DBE-7C74-8D4D-B2B4-CA3B77ABE474}"/>
              </a:ext>
            </a:extLst>
          </p:cNvPr>
          <p:cNvGrpSpPr/>
          <p:nvPr/>
        </p:nvGrpSpPr>
        <p:grpSpPr>
          <a:xfrm>
            <a:off x="1259632" y="1398686"/>
            <a:ext cx="7242546" cy="3149329"/>
            <a:chOff x="950727" y="1690048"/>
            <a:chExt cx="7242546" cy="3149329"/>
          </a:xfrm>
        </p:grpSpPr>
        <p:sp>
          <p:nvSpPr>
            <p:cNvPr id="82" name="TextBox 8">
              <a:extLst>
                <a:ext uri="{FF2B5EF4-FFF2-40B4-BE49-F238E27FC236}">
                  <a16:creationId xmlns:a16="http://schemas.microsoft.com/office/drawing/2014/main" id="{9B6461DD-DB21-AC41-9D23-C2997A61866D}"/>
                </a:ext>
              </a:extLst>
            </p:cNvPr>
            <p:cNvSpPr txBox="1"/>
            <p:nvPr/>
          </p:nvSpPr>
          <p:spPr>
            <a:xfrm>
              <a:off x="5516499" y="2759047"/>
              <a:ext cx="426364" cy="515045"/>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a:t>
              </a:r>
            </a:p>
          </p:txBody>
        </p:sp>
        <p:sp>
          <p:nvSpPr>
            <p:cNvPr id="83" name="Rectangle 82">
              <a:extLst>
                <a:ext uri="{FF2B5EF4-FFF2-40B4-BE49-F238E27FC236}">
                  <a16:creationId xmlns:a16="http://schemas.microsoft.com/office/drawing/2014/main" id="{276F10E9-5D35-C047-9389-5743472286EE}"/>
                </a:ext>
              </a:extLst>
            </p:cNvPr>
            <p:cNvSpPr/>
            <p:nvPr/>
          </p:nvSpPr>
          <p:spPr>
            <a:xfrm>
              <a:off x="950727" y="1690689"/>
              <a:ext cx="1979133" cy="3148688"/>
            </a:xfrm>
            <a:prstGeom prst="rect">
              <a:avLst/>
            </a:prstGeom>
            <a:solidFill>
              <a:srgbClr val="9DC3E6"/>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SM</a:t>
              </a:r>
            </a:p>
          </p:txBody>
        </p:sp>
        <p:sp>
          <p:nvSpPr>
            <p:cNvPr id="84" name="Rectangle 83">
              <a:extLst>
                <a:ext uri="{FF2B5EF4-FFF2-40B4-BE49-F238E27FC236}">
                  <a16:creationId xmlns:a16="http://schemas.microsoft.com/office/drawing/2014/main" id="{A9252F14-ED24-A44E-AE4B-2FA08A12D044}"/>
                </a:ext>
              </a:extLst>
            </p:cNvPr>
            <p:cNvSpPr/>
            <p:nvPr/>
          </p:nvSpPr>
          <p:spPr>
            <a:xfrm>
              <a:off x="1033577" y="2787425"/>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85" name="Rectangle 84">
              <a:extLst>
                <a:ext uri="{FF2B5EF4-FFF2-40B4-BE49-F238E27FC236}">
                  <a16:creationId xmlns:a16="http://schemas.microsoft.com/office/drawing/2014/main" id="{14C3374C-D071-BF40-B124-324BE482074B}"/>
                </a:ext>
              </a:extLst>
            </p:cNvPr>
            <p:cNvSpPr/>
            <p:nvPr/>
          </p:nvSpPr>
          <p:spPr>
            <a:xfrm>
              <a:off x="1033576" y="1984867"/>
              <a:ext cx="1784276" cy="313189"/>
            </a:xfrm>
            <a:prstGeom prst="rect">
              <a:avLst/>
            </a:prstGeom>
            <a:solidFill>
              <a:schemeClr val="accent1">
                <a:lumMod val="40000"/>
                <a:lumOff val="60000"/>
              </a:schemeClr>
            </a:solidFill>
            <a:ln>
              <a:solidFill>
                <a:schemeClr val="accent1"/>
              </a:solidFill>
            </a:ln>
            <a:effectLst/>
          </p:spPr>
          <p:style>
            <a:lnRef idx="1">
              <a:schemeClr val="accent4"/>
            </a:lnRef>
            <a:fillRef idx="2">
              <a:schemeClr val="accent4"/>
            </a:fillRef>
            <a:effectRef idx="1">
              <a:schemeClr val="accent4"/>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C000">
                      <a:lumMod val="50000"/>
                    </a:srgbClr>
                  </a:solidFill>
                  <a:effectLst/>
                  <a:uLnTx/>
                  <a:uFillTx/>
                  <a:latin typeface="Calibri" panose="020F0502020204030204"/>
                  <a:ea typeface="+mn-ea"/>
                  <a:cs typeface="+mn-cs"/>
                </a:rPr>
                <a:t>Control</a:t>
              </a:r>
            </a:p>
          </p:txBody>
        </p:sp>
        <p:sp>
          <p:nvSpPr>
            <p:cNvPr id="86" name="Rectangle 85">
              <a:extLst>
                <a:ext uri="{FF2B5EF4-FFF2-40B4-BE49-F238E27FC236}">
                  <a16:creationId xmlns:a16="http://schemas.microsoft.com/office/drawing/2014/main" id="{1E6141C9-64F2-E147-84F7-633ACB5BDBAD}"/>
                </a:ext>
              </a:extLst>
            </p:cNvPr>
            <p:cNvSpPr/>
            <p:nvPr/>
          </p:nvSpPr>
          <p:spPr>
            <a:xfrm>
              <a:off x="1491653" y="2787425"/>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87" name="Rectangle 86">
              <a:extLst>
                <a:ext uri="{FF2B5EF4-FFF2-40B4-BE49-F238E27FC236}">
                  <a16:creationId xmlns:a16="http://schemas.microsoft.com/office/drawing/2014/main" id="{4228492C-83A0-4647-A270-788F43A78BE2}"/>
                </a:ext>
              </a:extLst>
            </p:cNvPr>
            <p:cNvSpPr/>
            <p:nvPr/>
          </p:nvSpPr>
          <p:spPr>
            <a:xfrm>
              <a:off x="1033577" y="3264392"/>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88" name="Rectangle 87">
              <a:extLst>
                <a:ext uri="{FF2B5EF4-FFF2-40B4-BE49-F238E27FC236}">
                  <a16:creationId xmlns:a16="http://schemas.microsoft.com/office/drawing/2014/main" id="{36E8CECF-E44C-3B41-81A4-E8BB527DD0EC}"/>
                </a:ext>
              </a:extLst>
            </p:cNvPr>
            <p:cNvSpPr/>
            <p:nvPr/>
          </p:nvSpPr>
          <p:spPr>
            <a:xfrm>
              <a:off x="1491653" y="3264392"/>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89" name="Rectangle 88">
              <a:extLst>
                <a:ext uri="{FF2B5EF4-FFF2-40B4-BE49-F238E27FC236}">
                  <a16:creationId xmlns:a16="http://schemas.microsoft.com/office/drawing/2014/main" id="{CBB399AC-5271-0547-B4DA-7E31FFD6E600}"/>
                </a:ext>
              </a:extLst>
            </p:cNvPr>
            <p:cNvSpPr/>
            <p:nvPr/>
          </p:nvSpPr>
          <p:spPr>
            <a:xfrm>
              <a:off x="1967140" y="2787425"/>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90" name="Rectangle 89">
              <a:extLst>
                <a:ext uri="{FF2B5EF4-FFF2-40B4-BE49-F238E27FC236}">
                  <a16:creationId xmlns:a16="http://schemas.microsoft.com/office/drawing/2014/main" id="{EA2CC834-1C86-A94E-8BED-E36D3646CAFE}"/>
                </a:ext>
              </a:extLst>
            </p:cNvPr>
            <p:cNvSpPr/>
            <p:nvPr/>
          </p:nvSpPr>
          <p:spPr>
            <a:xfrm>
              <a:off x="2425216" y="2787425"/>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91" name="Rectangle 90">
              <a:extLst>
                <a:ext uri="{FF2B5EF4-FFF2-40B4-BE49-F238E27FC236}">
                  <a16:creationId xmlns:a16="http://schemas.microsoft.com/office/drawing/2014/main" id="{948F5E5D-EDE9-5E44-B22F-F550402F88BC}"/>
                </a:ext>
              </a:extLst>
            </p:cNvPr>
            <p:cNvSpPr/>
            <p:nvPr/>
          </p:nvSpPr>
          <p:spPr>
            <a:xfrm>
              <a:off x="1967140" y="3264392"/>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92" name="Rectangle 91">
              <a:extLst>
                <a:ext uri="{FF2B5EF4-FFF2-40B4-BE49-F238E27FC236}">
                  <a16:creationId xmlns:a16="http://schemas.microsoft.com/office/drawing/2014/main" id="{B79CC606-64F2-4342-ACF7-7D83EE7C99C9}"/>
                </a:ext>
              </a:extLst>
            </p:cNvPr>
            <p:cNvSpPr/>
            <p:nvPr/>
          </p:nvSpPr>
          <p:spPr>
            <a:xfrm>
              <a:off x="2425216" y="3264392"/>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93" name="Rectangle 92">
              <a:extLst>
                <a:ext uri="{FF2B5EF4-FFF2-40B4-BE49-F238E27FC236}">
                  <a16:creationId xmlns:a16="http://schemas.microsoft.com/office/drawing/2014/main" id="{229EB8B4-E204-ED40-9A82-549AE665578D}"/>
                </a:ext>
              </a:extLst>
            </p:cNvPr>
            <p:cNvSpPr/>
            <p:nvPr/>
          </p:nvSpPr>
          <p:spPr>
            <a:xfrm>
              <a:off x="3266089" y="1690689"/>
              <a:ext cx="1979133" cy="3148688"/>
            </a:xfrm>
            <a:prstGeom prst="rect">
              <a:avLst/>
            </a:prstGeom>
            <a:solidFill>
              <a:srgbClr val="9DC3E6"/>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SM</a:t>
              </a:r>
            </a:p>
          </p:txBody>
        </p:sp>
        <p:sp>
          <p:nvSpPr>
            <p:cNvPr id="94" name="Rectangle 93">
              <a:extLst>
                <a:ext uri="{FF2B5EF4-FFF2-40B4-BE49-F238E27FC236}">
                  <a16:creationId xmlns:a16="http://schemas.microsoft.com/office/drawing/2014/main" id="{1AB37EEF-8791-604D-A12A-0020B3041BC9}"/>
                </a:ext>
              </a:extLst>
            </p:cNvPr>
            <p:cNvSpPr/>
            <p:nvPr/>
          </p:nvSpPr>
          <p:spPr>
            <a:xfrm>
              <a:off x="3348939" y="2787425"/>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95" name="Rectangle 94">
              <a:extLst>
                <a:ext uri="{FF2B5EF4-FFF2-40B4-BE49-F238E27FC236}">
                  <a16:creationId xmlns:a16="http://schemas.microsoft.com/office/drawing/2014/main" id="{85B6CF63-28E6-D54A-8BE2-1F8970674969}"/>
                </a:ext>
              </a:extLst>
            </p:cNvPr>
            <p:cNvSpPr/>
            <p:nvPr/>
          </p:nvSpPr>
          <p:spPr>
            <a:xfrm>
              <a:off x="3348938" y="1984867"/>
              <a:ext cx="1784276" cy="313189"/>
            </a:xfrm>
            <a:prstGeom prst="rect">
              <a:avLst/>
            </a:prstGeom>
            <a:solidFill>
              <a:schemeClr val="accent1">
                <a:lumMod val="40000"/>
                <a:lumOff val="60000"/>
              </a:schemeClr>
            </a:solidFill>
            <a:ln>
              <a:solidFill>
                <a:schemeClr val="accent1"/>
              </a:solidFill>
            </a:ln>
            <a:effectLst/>
          </p:spPr>
          <p:style>
            <a:lnRef idx="1">
              <a:schemeClr val="accent4"/>
            </a:lnRef>
            <a:fillRef idx="2">
              <a:schemeClr val="accent4"/>
            </a:fillRef>
            <a:effectRef idx="1">
              <a:schemeClr val="accent4"/>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C000">
                      <a:lumMod val="50000"/>
                    </a:srgbClr>
                  </a:solidFill>
                  <a:effectLst/>
                  <a:uLnTx/>
                  <a:uFillTx/>
                  <a:latin typeface="Calibri" panose="020F0502020204030204"/>
                  <a:ea typeface="+mn-ea"/>
                  <a:cs typeface="+mn-cs"/>
                </a:rPr>
                <a:t>Control</a:t>
              </a:r>
            </a:p>
          </p:txBody>
        </p:sp>
        <p:sp>
          <p:nvSpPr>
            <p:cNvPr id="96" name="Rectangle 95">
              <a:extLst>
                <a:ext uri="{FF2B5EF4-FFF2-40B4-BE49-F238E27FC236}">
                  <a16:creationId xmlns:a16="http://schemas.microsoft.com/office/drawing/2014/main" id="{EAB2EDD4-18B0-6748-B011-5DE9473ABE98}"/>
                </a:ext>
              </a:extLst>
            </p:cNvPr>
            <p:cNvSpPr/>
            <p:nvPr/>
          </p:nvSpPr>
          <p:spPr>
            <a:xfrm>
              <a:off x="3807015" y="2787425"/>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97" name="Rectangle 96">
              <a:extLst>
                <a:ext uri="{FF2B5EF4-FFF2-40B4-BE49-F238E27FC236}">
                  <a16:creationId xmlns:a16="http://schemas.microsoft.com/office/drawing/2014/main" id="{A063EF20-87FE-184C-BF14-BE5283318C73}"/>
                </a:ext>
              </a:extLst>
            </p:cNvPr>
            <p:cNvSpPr/>
            <p:nvPr/>
          </p:nvSpPr>
          <p:spPr>
            <a:xfrm>
              <a:off x="3348939" y="3264392"/>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98" name="Rectangle 97">
              <a:extLst>
                <a:ext uri="{FF2B5EF4-FFF2-40B4-BE49-F238E27FC236}">
                  <a16:creationId xmlns:a16="http://schemas.microsoft.com/office/drawing/2014/main" id="{D87F15DC-FDE8-9442-B96F-AF488046ED3F}"/>
                </a:ext>
              </a:extLst>
            </p:cNvPr>
            <p:cNvSpPr/>
            <p:nvPr/>
          </p:nvSpPr>
          <p:spPr>
            <a:xfrm>
              <a:off x="3807015" y="3264392"/>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99" name="Rectangle 98">
              <a:extLst>
                <a:ext uri="{FF2B5EF4-FFF2-40B4-BE49-F238E27FC236}">
                  <a16:creationId xmlns:a16="http://schemas.microsoft.com/office/drawing/2014/main" id="{53D13E7C-C4C0-CC48-BB6D-A771402F9107}"/>
                </a:ext>
              </a:extLst>
            </p:cNvPr>
            <p:cNvSpPr/>
            <p:nvPr/>
          </p:nvSpPr>
          <p:spPr>
            <a:xfrm>
              <a:off x="4282502" y="2787425"/>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100" name="Rectangle 99">
              <a:extLst>
                <a:ext uri="{FF2B5EF4-FFF2-40B4-BE49-F238E27FC236}">
                  <a16:creationId xmlns:a16="http://schemas.microsoft.com/office/drawing/2014/main" id="{4ED4E492-ECDE-7041-881A-2DBB5A5725B8}"/>
                </a:ext>
              </a:extLst>
            </p:cNvPr>
            <p:cNvSpPr/>
            <p:nvPr/>
          </p:nvSpPr>
          <p:spPr>
            <a:xfrm>
              <a:off x="4740578" y="2787425"/>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101" name="Rectangle 100">
              <a:extLst>
                <a:ext uri="{FF2B5EF4-FFF2-40B4-BE49-F238E27FC236}">
                  <a16:creationId xmlns:a16="http://schemas.microsoft.com/office/drawing/2014/main" id="{22E2DD78-7217-F34D-B659-194F79BEBD94}"/>
                </a:ext>
              </a:extLst>
            </p:cNvPr>
            <p:cNvSpPr/>
            <p:nvPr/>
          </p:nvSpPr>
          <p:spPr>
            <a:xfrm>
              <a:off x="4282502" y="3264392"/>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102" name="Rectangle 101">
              <a:extLst>
                <a:ext uri="{FF2B5EF4-FFF2-40B4-BE49-F238E27FC236}">
                  <a16:creationId xmlns:a16="http://schemas.microsoft.com/office/drawing/2014/main" id="{D70FEEA3-1AF2-5F46-B191-1A68475050D8}"/>
                </a:ext>
              </a:extLst>
            </p:cNvPr>
            <p:cNvSpPr/>
            <p:nvPr/>
          </p:nvSpPr>
          <p:spPr>
            <a:xfrm>
              <a:off x="4740578" y="3264392"/>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103" name="Rectangle 102">
              <a:extLst>
                <a:ext uri="{FF2B5EF4-FFF2-40B4-BE49-F238E27FC236}">
                  <a16:creationId xmlns:a16="http://schemas.microsoft.com/office/drawing/2014/main" id="{D17D7F92-E9B4-344E-922D-6D81B757D30A}"/>
                </a:ext>
              </a:extLst>
            </p:cNvPr>
            <p:cNvSpPr/>
            <p:nvPr/>
          </p:nvSpPr>
          <p:spPr>
            <a:xfrm>
              <a:off x="6214140" y="1690048"/>
              <a:ext cx="1979133" cy="3148688"/>
            </a:xfrm>
            <a:prstGeom prst="rect">
              <a:avLst/>
            </a:prstGeom>
            <a:solidFill>
              <a:srgbClr val="9DC3E6"/>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SM</a:t>
              </a:r>
            </a:p>
          </p:txBody>
        </p:sp>
        <p:sp>
          <p:nvSpPr>
            <p:cNvPr id="104" name="Rectangle 103">
              <a:extLst>
                <a:ext uri="{FF2B5EF4-FFF2-40B4-BE49-F238E27FC236}">
                  <a16:creationId xmlns:a16="http://schemas.microsoft.com/office/drawing/2014/main" id="{59C54632-5F4F-554C-BFA2-22B2ADFFC70E}"/>
                </a:ext>
              </a:extLst>
            </p:cNvPr>
            <p:cNvSpPr/>
            <p:nvPr/>
          </p:nvSpPr>
          <p:spPr>
            <a:xfrm>
              <a:off x="6296990" y="2786784"/>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105" name="Rectangle 104">
              <a:extLst>
                <a:ext uri="{FF2B5EF4-FFF2-40B4-BE49-F238E27FC236}">
                  <a16:creationId xmlns:a16="http://schemas.microsoft.com/office/drawing/2014/main" id="{EBFA02BD-561A-F541-B829-72AF45BF74D2}"/>
                </a:ext>
              </a:extLst>
            </p:cNvPr>
            <p:cNvSpPr/>
            <p:nvPr/>
          </p:nvSpPr>
          <p:spPr>
            <a:xfrm>
              <a:off x="6296989" y="1984226"/>
              <a:ext cx="1784276" cy="313189"/>
            </a:xfrm>
            <a:prstGeom prst="rect">
              <a:avLst/>
            </a:prstGeom>
            <a:solidFill>
              <a:schemeClr val="accent1">
                <a:lumMod val="40000"/>
                <a:lumOff val="60000"/>
              </a:schemeClr>
            </a:solidFill>
            <a:ln>
              <a:solidFill>
                <a:schemeClr val="accent1"/>
              </a:solidFill>
            </a:ln>
            <a:effectLst/>
          </p:spPr>
          <p:style>
            <a:lnRef idx="1">
              <a:schemeClr val="accent4"/>
            </a:lnRef>
            <a:fillRef idx="2">
              <a:schemeClr val="accent4"/>
            </a:fillRef>
            <a:effectRef idx="1">
              <a:schemeClr val="accent4"/>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C000">
                      <a:lumMod val="50000"/>
                    </a:srgbClr>
                  </a:solidFill>
                  <a:effectLst/>
                  <a:uLnTx/>
                  <a:uFillTx/>
                  <a:latin typeface="Calibri" panose="020F0502020204030204"/>
                  <a:ea typeface="+mn-ea"/>
                  <a:cs typeface="+mn-cs"/>
                </a:rPr>
                <a:t>Control</a:t>
              </a:r>
            </a:p>
          </p:txBody>
        </p:sp>
        <p:sp>
          <p:nvSpPr>
            <p:cNvPr id="106" name="Rectangle 105">
              <a:extLst>
                <a:ext uri="{FF2B5EF4-FFF2-40B4-BE49-F238E27FC236}">
                  <a16:creationId xmlns:a16="http://schemas.microsoft.com/office/drawing/2014/main" id="{5A72C4F9-4AA4-2241-8E79-BEF6AE2A976C}"/>
                </a:ext>
              </a:extLst>
            </p:cNvPr>
            <p:cNvSpPr/>
            <p:nvPr/>
          </p:nvSpPr>
          <p:spPr>
            <a:xfrm>
              <a:off x="6755066" y="2786784"/>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107" name="Rectangle 106">
              <a:extLst>
                <a:ext uri="{FF2B5EF4-FFF2-40B4-BE49-F238E27FC236}">
                  <a16:creationId xmlns:a16="http://schemas.microsoft.com/office/drawing/2014/main" id="{AD0E92AA-56BD-AA45-991D-854ACE7D3AB4}"/>
                </a:ext>
              </a:extLst>
            </p:cNvPr>
            <p:cNvSpPr/>
            <p:nvPr/>
          </p:nvSpPr>
          <p:spPr>
            <a:xfrm>
              <a:off x="6296990" y="3263751"/>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108" name="Rectangle 107">
              <a:extLst>
                <a:ext uri="{FF2B5EF4-FFF2-40B4-BE49-F238E27FC236}">
                  <a16:creationId xmlns:a16="http://schemas.microsoft.com/office/drawing/2014/main" id="{30D9F448-AFA4-CD4B-BAF5-B48E7B828724}"/>
                </a:ext>
              </a:extLst>
            </p:cNvPr>
            <p:cNvSpPr/>
            <p:nvPr/>
          </p:nvSpPr>
          <p:spPr>
            <a:xfrm>
              <a:off x="6755066" y="3263751"/>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109" name="Rectangle 108">
              <a:extLst>
                <a:ext uri="{FF2B5EF4-FFF2-40B4-BE49-F238E27FC236}">
                  <a16:creationId xmlns:a16="http://schemas.microsoft.com/office/drawing/2014/main" id="{49BAD530-052E-1C44-B297-8AF5EBAE88E3}"/>
                </a:ext>
              </a:extLst>
            </p:cNvPr>
            <p:cNvSpPr/>
            <p:nvPr/>
          </p:nvSpPr>
          <p:spPr>
            <a:xfrm>
              <a:off x="7230553" y="2786784"/>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110" name="Rectangle 109">
              <a:extLst>
                <a:ext uri="{FF2B5EF4-FFF2-40B4-BE49-F238E27FC236}">
                  <a16:creationId xmlns:a16="http://schemas.microsoft.com/office/drawing/2014/main" id="{677ABFD0-D5BA-204E-8066-9BC981D8675F}"/>
                </a:ext>
              </a:extLst>
            </p:cNvPr>
            <p:cNvSpPr/>
            <p:nvPr/>
          </p:nvSpPr>
          <p:spPr>
            <a:xfrm>
              <a:off x="7688629" y="2786784"/>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111" name="Rectangle 110">
              <a:extLst>
                <a:ext uri="{FF2B5EF4-FFF2-40B4-BE49-F238E27FC236}">
                  <a16:creationId xmlns:a16="http://schemas.microsoft.com/office/drawing/2014/main" id="{C345AE44-BF72-E44F-9369-D5A2755D6554}"/>
                </a:ext>
              </a:extLst>
            </p:cNvPr>
            <p:cNvSpPr/>
            <p:nvPr/>
          </p:nvSpPr>
          <p:spPr>
            <a:xfrm>
              <a:off x="7230553" y="3263751"/>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sp>
          <p:nvSpPr>
            <p:cNvPr id="112" name="Rectangle 111">
              <a:extLst>
                <a:ext uri="{FF2B5EF4-FFF2-40B4-BE49-F238E27FC236}">
                  <a16:creationId xmlns:a16="http://schemas.microsoft.com/office/drawing/2014/main" id="{BDD253A9-B06E-B845-B50A-93C5ED4AE6C1}"/>
                </a:ext>
              </a:extLst>
            </p:cNvPr>
            <p:cNvSpPr/>
            <p:nvPr/>
          </p:nvSpPr>
          <p:spPr>
            <a:xfrm>
              <a:off x="7688629" y="3263751"/>
              <a:ext cx="392637" cy="392635"/>
            </a:xfrm>
            <a:prstGeom prst="rect">
              <a:avLst/>
            </a:prstGeom>
            <a:solidFill>
              <a:schemeClr val="accent6">
                <a:lumMod val="60000"/>
                <a:lumOff val="40000"/>
              </a:schemeClr>
            </a:solidFill>
            <a:ln>
              <a:solidFill>
                <a:schemeClr val="accent6">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Core</a:t>
              </a:r>
            </a:p>
          </p:txBody>
        </p:sp>
      </p:grpSp>
      <p:sp>
        <p:nvSpPr>
          <p:cNvPr id="64" name="Rectangle 63">
            <a:extLst>
              <a:ext uri="{FF2B5EF4-FFF2-40B4-BE49-F238E27FC236}">
                <a16:creationId xmlns:a16="http://schemas.microsoft.com/office/drawing/2014/main" id="{DD66953F-B35D-E040-851C-E3C567972493}"/>
              </a:ext>
            </a:extLst>
          </p:cNvPr>
          <p:cNvSpPr/>
          <p:nvPr/>
        </p:nvSpPr>
        <p:spPr>
          <a:xfrm>
            <a:off x="1259632" y="4769487"/>
            <a:ext cx="7242546" cy="459372"/>
          </a:xfrm>
          <a:prstGeom prst="rect">
            <a:avLst/>
          </a:prstGeom>
          <a:solidFill>
            <a:schemeClr val="accent5">
              <a:lumMod val="60000"/>
              <a:lumOff val="40000"/>
            </a:schemeClr>
          </a:solidFill>
          <a:ln>
            <a:solidFill>
              <a:schemeClr val="accent5">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L2 Cache</a:t>
            </a:r>
          </a:p>
        </p:txBody>
      </p:sp>
      <p:sp>
        <p:nvSpPr>
          <p:cNvPr id="65" name="Rectangle 64">
            <a:extLst>
              <a:ext uri="{FF2B5EF4-FFF2-40B4-BE49-F238E27FC236}">
                <a16:creationId xmlns:a16="http://schemas.microsoft.com/office/drawing/2014/main" id="{2A88796A-D381-194A-BE32-B2D70843F2D9}"/>
              </a:ext>
            </a:extLst>
          </p:cNvPr>
          <p:cNvSpPr/>
          <p:nvPr/>
        </p:nvSpPr>
        <p:spPr>
          <a:xfrm>
            <a:off x="1259632" y="5418266"/>
            <a:ext cx="7242546" cy="459372"/>
          </a:xfrm>
          <a:prstGeom prst="rect">
            <a:avLst/>
          </a:prstGeom>
          <a:solidFill>
            <a:schemeClr val="accent5">
              <a:lumMod val="20000"/>
              <a:lumOff val="80000"/>
            </a:schemeClr>
          </a:solidFill>
          <a:ln>
            <a:solidFill>
              <a:schemeClr val="accent5">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Global Memory</a:t>
            </a:r>
          </a:p>
        </p:txBody>
      </p:sp>
      <p:sp>
        <p:nvSpPr>
          <p:cNvPr id="66" name="Rectangle 65">
            <a:extLst>
              <a:ext uri="{FF2B5EF4-FFF2-40B4-BE49-F238E27FC236}">
                <a16:creationId xmlns:a16="http://schemas.microsoft.com/office/drawing/2014/main" id="{97111E92-112A-9749-9269-9CD6EE367E89}"/>
              </a:ext>
            </a:extLst>
          </p:cNvPr>
          <p:cNvSpPr/>
          <p:nvPr/>
        </p:nvSpPr>
        <p:spPr>
          <a:xfrm>
            <a:off x="1342481" y="2095030"/>
            <a:ext cx="1784276" cy="313189"/>
          </a:xfrm>
          <a:prstGeom prst="rect">
            <a:avLst/>
          </a:prstGeom>
          <a:solidFill>
            <a:schemeClr val="accent5">
              <a:lumMod val="75000"/>
            </a:schemeClr>
          </a:solidFill>
          <a:ln>
            <a:solidFill>
              <a:schemeClr val="accent5">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Registers</a:t>
            </a:r>
          </a:p>
        </p:txBody>
      </p:sp>
      <p:sp>
        <p:nvSpPr>
          <p:cNvPr id="67" name="Rectangle 66">
            <a:extLst>
              <a:ext uri="{FF2B5EF4-FFF2-40B4-BE49-F238E27FC236}">
                <a16:creationId xmlns:a16="http://schemas.microsoft.com/office/drawing/2014/main" id="{F0543D13-A204-EB40-BFE5-BDF253B7DC5A}"/>
              </a:ext>
            </a:extLst>
          </p:cNvPr>
          <p:cNvSpPr/>
          <p:nvPr/>
        </p:nvSpPr>
        <p:spPr>
          <a:xfrm>
            <a:off x="1342481" y="3847518"/>
            <a:ext cx="892138" cy="559925"/>
          </a:xfrm>
          <a:prstGeom prst="rect">
            <a:avLst/>
          </a:prstGeom>
          <a:solidFill>
            <a:schemeClr val="accent5"/>
          </a:solidFill>
          <a:ln>
            <a:solidFill>
              <a:schemeClr val="accent5">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Shared Memory</a:t>
            </a:r>
          </a:p>
        </p:txBody>
      </p:sp>
      <p:sp>
        <p:nvSpPr>
          <p:cNvPr id="68" name="Rectangle 67">
            <a:extLst>
              <a:ext uri="{FF2B5EF4-FFF2-40B4-BE49-F238E27FC236}">
                <a16:creationId xmlns:a16="http://schemas.microsoft.com/office/drawing/2014/main" id="{00506305-2488-C84A-B09D-3BA3D1D0FCC1}"/>
              </a:ext>
            </a:extLst>
          </p:cNvPr>
          <p:cNvSpPr/>
          <p:nvPr/>
        </p:nvSpPr>
        <p:spPr>
          <a:xfrm>
            <a:off x="2234619" y="3847518"/>
            <a:ext cx="892138" cy="559925"/>
          </a:xfrm>
          <a:prstGeom prst="rect">
            <a:avLst/>
          </a:prstGeom>
          <a:solidFill>
            <a:schemeClr val="accent5"/>
          </a:solidFill>
          <a:ln>
            <a:solidFill>
              <a:schemeClr val="accent5">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L1 Cache</a:t>
            </a:r>
          </a:p>
        </p:txBody>
      </p:sp>
      <p:sp>
        <p:nvSpPr>
          <p:cNvPr id="69" name="Rectangle 68">
            <a:extLst>
              <a:ext uri="{FF2B5EF4-FFF2-40B4-BE49-F238E27FC236}">
                <a16:creationId xmlns:a16="http://schemas.microsoft.com/office/drawing/2014/main" id="{2683791C-00CF-8040-9525-E1B3F54E895A}"/>
              </a:ext>
            </a:extLst>
          </p:cNvPr>
          <p:cNvSpPr/>
          <p:nvPr/>
        </p:nvSpPr>
        <p:spPr>
          <a:xfrm>
            <a:off x="1342481" y="3449997"/>
            <a:ext cx="1784276" cy="313189"/>
          </a:xfrm>
          <a:prstGeom prst="rect">
            <a:avLst/>
          </a:prstGeom>
          <a:solidFill>
            <a:schemeClr val="accent5"/>
          </a:solidFill>
          <a:ln>
            <a:solidFill>
              <a:schemeClr val="accent5">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Constant Cache</a:t>
            </a:r>
          </a:p>
        </p:txBody>
      </p:sp>
      <p:sp>
        <p:nvSpPr>
          <p:cNvPr id="70" name="Rectangle 69">
            <a:extLst>
              <a:ext uri="{FF2B5EF4-FFF2-40B4-BE49-F238E27FC236}">
                <a16:creationId xmlns:a16="http://schemas.microsoft.com/office/drawing/2014/main" id="{FCBA386B-B899-3D49-B9CF-177CA6CD7F63}"/>
              </a:ext>
            </a:extLst>
          </p:cNvPr>
          <p:cNvSpPr/>
          <p:nvPr/>
        </p:nvSpPr>
        <p:spPr>
          <a:xfrm>
            <a:off x="3657843" y="2095030"/>
            <a:ext cx="1784276" cy="313189"/>
          </a:xfrm>
          <a:prstGeom prst="rect">
            <a:avLst/>
          </a:prstGeom>
          <a:solidFill>
            <a:schemeClr val="accent5">
              <a:lumMod val="75000"/>
            </a:schemeClr>
          </a:solidFill>
          <a:ln>
            <a:solidFill>
              <a:schemeClr val="accent5">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Registers</a:t>
            </a:r>
          </a:p>
        </p:txBody>
      </p:sp>
      <p:sp>
        <p:nvSpPr>
          <p:cNvPr id="71" name="Rectangle 70">
            <a:extLst>
              <a:ext uri="{FF2B5EF4-FFF2-40B4-BE49-F238E27FC236}">
                <a16:creationId xmlns:a16="http://schemas.microsoft.com/office/drawing/2014/main" id="{54D3438B-A9F4-5643-BCF8-99F5E2DE08B4}"/>
              </a:ext>
            </a:extLst>
          </p:cNvPr>
          <p:cNvSpPr/>
          <p:nvPr/>
        </p:nvSpPr>
        <p:spPr>
          <a:xfrm>
            <a:off x="3657843" y="3847518"/>
            <a:ext cx="892138" cy="559925"/>
          </a:xfrm>
          <a:prstGeom prst="rect">
            <a:avLst/>
          </a:prstGeom>
          <a:solidFill>
            <a:schemeClr val="accent5"/>
          </a:solidFill>
          <a:ln>
            <a:solidFill>
              <a:schemeClr val="accent5">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Shared Memory</a:t>
            </a:r>
          </a:p>
        </p:txBody>
      </p:sp>
      <p:sp>
        <p:nvSpPr>
          <p:cNvPr id="72" name="Rectangle 71">
            <a:extLst>
              <a:ext uri="{FF2B5EF4-FFF2-40B4-BE49-F238E27FC236}">
                <a16:creationId xmlns:a16="http://schemas.microsoft.com/office/drawing/2014/main" id="{A07538DF-F811-C04D-8E8A-E8B718496041}"/>
              </a:ext>
            </a:extLst>
          </p:cNvPr>
          <p:cNvSpPr/>
          <p:nvPr/>
        </p:nvSpPr>
        <p:spPr>
          <a:xfrm>
            <a:off x="4549981" y="3847518"/>
            <a:ext cx="892138" cy="559925"/>
          </a:xfrm>
          <a:prstGeom prst="rect">
            <a:avLst/>
          </a:prstGeom>
          <a:solidFill>
            <a:schemeClr val="accent5"/>
          </a:solidFill>
          <a:ln>
            <a:solidFill>
              <a:schemeClr val="accent5">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L1 Cache</a:t>
            </a:r>
          </a:p>
        </p:txBody>
      </p:sp>
      <p:sp>
        <p:nvSpPr>
          <p:cNvPr id="73" name="Rectangle 72">
            <a:extLst>
              <a:ext uri="{FF2B5EF4-FFF2-40B4-BE49-F238E27FC236}">
                <a16:creationId xmlns:a16="http://schemas.microsoft.com/office/drawing/2014/main" id="{1749F814-5B60-8449-8ADA-C66C90279AC1}"/>
              </a:ext>
            </a:extLst>
          </p:cNvPr>
          <p:cNvSpPr/>
          <p:nvPr/>
        </p:nvSpPr>
        <p:spPr>
          <a:xfrm>
            <a:off x="3657843" y="3449997"/>
            <a:ext cx="1784276" cy="313189"/>
          </a:xfrm>
          <a:prstGeom prst="rect">
            <a:avLst/>
          </a:prstGeom>
          <a:solidFill>
            <a:schemeClr val="accent5"/>
          </a:solidFill>
          <a:ln>
            <a:solidFill>
              <a:schemeClr val="accent5">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Constant Cache</a:t>
            </a:r>
          </a:p>
        </p:txBody>
      </p:sp>
      <p:sp>
        <p:nvSpPr>
          <p:cNvPr id="74" name="Rectangle 73">
            <a:extLst>
              <a:ext uri="{FF2B5EF4-FFF2-40B4-BE49-F238E27FC236}">
                <a16:creationId xmlns:a16="http://schemas.microsoft.com/office/drawing/2014/main" id="{486DAB89-138A-4040-932C-484FFC2B603A}"/>
              </a:ext>
            </a:extLst>
          </p:cNvPr>
          <p:cNvSpPr/>
          <p:nvPr/>
        </p:nvSpPr>
        <p:spPr>
          <a:xfrm>
            <a:off x="6605894" y="2094389"/>
            <a:ext cx="1784276" cy="313189"/>
          </a:xfrm>
          <a:prstGeom prst="rect">
            <a:avLst/>
          </a:prstGeom>
          <a:solidFill>
            <a:schemeClr val="accent5">
              <a:lumMod val="75000"/>
            </a:schemeClr>
          </a:solidFill>
          <a:ln>
            <a:solidFill>
              <a:schemeClr val="accent5">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Registers</a:t>
            </a:r>
          </a:p>
        </p:txBody>
      </p:sp>
      <p:sp>
        <p:nvSpPr>
          <p:cNvPr id="75" name="Rectangle 74">
            <a:extLst>
              <a:ext uri="{FF2B5EF4-FFF2-40B4-BE49-F238E27FC236}">
                <a16:creationId xmlns:a16="http://schemas.microsoft.com/office/drawing/2014/main" id="{8C61DFFC-8176-B945-B14F-475B5899249C}"/>
              </a:ext>
            </a:extLst>
          </p:cNvPr>
          <p:cNvSpPr/>
          <p:nvPr/>
        </p:nvSpPr>
        <p:spPr>
          <a:xfrm>
            <a:off x="6605894" y="3846877"/>
            <a:ext cx="892138" cy="559925"/>
          </a:xfrm>
          <a:prstGeom prst="rect">
            <a:avLst/>
          </a:prstGeom>
          <a:solidFill>
            <a:schemeClr val="accent5"/>
          </a:solidFill>
          <a:ln>
            <a:solidFill>
              <a:schemeClr val="accent5">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Shared Memory</a:t>
            </a:r>
          </a:p>
        </p:txBody>
      </p:sp>
      <p:sp>
        <p:nvSpPr>
          <p:cNvPr id="76" name="Rectangle 75">
            <a:extLst>
              <a:ext uri="{FF2B5EF4-FFF2-40B4-BE49-F238E27FC236}">
                <a16:creationId xmlns:a16="http://schemas.microsoft.com/office/drawing/2014/main" id="{6DC8783D-65F2-8048-B5FC-BA73C21487C2}"/>
              </a:ext>
            </a:extLst>
          </p:cNvPr>
          <p:cNvSpPr/>
          <p:nvPr/>
        </p:nvSpPr>
        <p:spPr>
          <a:xfrm>
            <a:off x="7498032" y="3846877"/>
            <a:ext cx="892138" cy="559925"/>
          </a:xfrm>
          <a:prstGeom prst="rect">
            <a:avLst/>
          </a:prstGeom>
          <a:solidFill>
            <a:schemeClr val="accent5"/>
          </a:solidFill>
          <a:ln>
            <a:solidFill>
              <a:schemeClr val="accent5">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L1 Cache</a:t>
            </a:r>
          </a:p>
        </p:txBody>
      </p:sp>
      <p:sp>
        <p:nvSpPr>
          <p:cNvPr id="77" name="Rectangle 76">
            <a:extLst>
              <a:ext uri="{FF2B5EF4-FFF2-40B4-BE49-F238E27FC236}">
                <a16:creationId xmlns:a16="http://schemas.microsoft.com/office/drawing/2014/main" id="{59CB18B5-AF74-B848-B771-1EC432FDE099}"/>
              </a:ext>
            </a:extLst>
          </p:cNvPr>
          <p:cNvSpPr/>
          <p:nvPr/>
        </p:nvSpPr>
        <p:spPr>
          <a:xfrm>
            <a:off x="6605894" y="3449356"/>
            <a:ext cx="1784276" cy="313189"/>
          </a:xfrm>
          <a:prstGeom prst="rect">
            <a:avLst/>
          </a:prstGeom>
          <a:solidFill>
            <a:schemeClr val="accent5"/>
          </a:solidFill>
          <a:ln>
            <a:solidFill>
              <a:schemeClr val="accent5">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Constant Cache</a:t>
            </a:r>
          </a:p>
        </p:txBody>
      </p:sp>
      <p:sp>
        <p:nvSpPr>
          <p:cNvPr id="78" name="TextBox 2">
            <a:extLst>
              <a:ext uri="{FF2B5EF4-FFF2-40B4-BE49-F238E27FC236}">
                <a16:creationId xmlns:a16="http://schemas.microsoft.com/office/drawing/2014/main" id="{3ED640FF-4BE7-A649-A623-7A6E9A5238E5}"/>
              </a:ext>
            </a:extLst>
          </p:cNvPr>
          <p:cNvSpPr txBox="1"/>
          <p:nvPr/>
        </p:nvSpPr>
        <p:spPr>
          <a:xfrm>
            <a:off x="461669" y="2114336"/>
            <a:ext cx="686085"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≈1 cycle</a:t>
            </a:r>
          </a:p>
        </p:txBody>
      </p:sp>
      <p:sp>
        <p:nvSpPr>
          <p:cNvPr id="79" name="TextBox 54">
            <a:extLst>
              <a:ext uri="{FF2B5EF4-FFF2-40B4-BE49-F238E27FC236}">
                <a16:creationId xmlns:a16="http://schemas.microsoft.com/office/drawing/2014/main" id="{FCDD5EC2-8E3E-DA42-98AC-56AD1DF199F7}"/>
              </a:ext>
            </a:extLst>
          </p:cNvPr>
          <p:cNvSpPr txBox="1"/>
          <p:nvPr/>
        </p:nvSpPr>
        <p:spPr>
          <a:xfrm>
            <a:off x="431212" y="3467450"/>
            <a:ext cx="746999"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≈5 cycles</a:t>
            </a:r>
          </a:p>
        </p:txBody>
      </p:sp>
      <p:sp>
        <p:nvSpPr>
          <p:cNvPr id="80" name="TextBox 57">
            <a:extLst>
              <a:ext uri="{FF2B5EF4-FFF2-40B4-BE49-F238E27FC236}">
                <a16:creationId xmlns:a16="http://schemas.microsoft.com/office/drawing/2014/main" id="{0B56DF3A-8EA3-C140-A39E-FD178D829132}"/>
              </a:ext>
            </a:extLst>
          </p:cNvPr>
          <p:cNvSpPr txBox="1"/>
          <p:nvPr/>
        </p:nvSpPr>
        <p:spPr>
          <a:xfrm>
            <a:off x="431212" y="3988339"/>
            <a:ext cx="746999"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≈5 cycles</a:t>
            </a:r>
          </a:p>
        </p:txBody>
      </p:sp>
      <p:sp>
        <p:nvSpPr>
          <p:cNvPr id="81" name="TextBox 59">
            <a:extLst>
              <a:ext uri="{FF2B5EF4-FFF2-40B4-BE49-F238E27FC236}">
                <a16:creationId xmlns:a16="http://schemas.microsoft.com/office/drawing/2014/main" id="{CD32767B-F403-8949-95B4-697EEA6DA7DE}"/>
              </a:ext>
            </a:extLst>
          </p:cNvPr>
          <p:cNvSpPr txBox="1"/>
          <p:nvPr/>
        </p:nvSpPr>
        <p:spPr>
          <a:xfrm>
            <a:off x="352664" y="5509452"/>
            <a:ext cx="904094"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≈500 cycles</a:t>
            </a:r>
          </a:p>
        </p:txBody>
      </p:sp>
      <p:sp>
        <p:nvSpPr>
          <p:cNvPr id="113" name="TextBox 610">
            <a:extLst>
              <a:ext uri="{FF2B5EF4-FFF2-40B4-BE49-F238E27FC236}">
                <a16:creationId xmlns:a16="http://schemas.microsoft.com/office/drawing/2014/main" id="{0E2A1C3B-17D5-E044-9B34-2953CD19DD78}"/>
              </a:ext>
            </a:extLst>
          </p:cNvPr>
          <p:cNvSpPr txBox="1">
            <a:spLocks noChangeArrowheads="1"/>
          </p:cNvSpPr>
          <p:nvPr/>
        </p:nvSpPr>
        <p:spPr bwMode="auto">
          <a:xfrm>
            <a:off x="228600" y="6541584"/>
            <a:ext cx="156164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Izzat El Hajj</a:t>
            </a:r>
          </a:p>
        </p:txBody>
      </p:sp>
      <p:sp>
        <p:nvSpPr>
          <p:cNvPr id="11" name="TextBox 10">
            <a:extLst>
              <a:ext uri="{FF2B5EF4-FFF2-40B4-BE49-F238E27FC236}">
                <a16:creationId xmlns:a16="http://schemas.microsoft.com/office/drawing/2014/main" id="{D16E3263-C6EB-AF47-95A0-58C7117F34C6}"/>
              </a:ext>
            </a:extLst>
          </p:cNvPr>
          <p:cNvSpPr txBox="1"/>
          <p:nvPr/>
        </p:nvSpPr>
        <p:spPr>
          <a:xfrm>
            <a:off x="7554663" y="4797152"/>
            <a:ext cx="912429" cy="369332"/>
          </a:xfrm>
          <a:prstGeom prst="rect">
            <a:avLst/>
          </a:prstGeom>
          <a:noFill/>
        </p:spPr>
        <p:txBody>
          <a:bodyPr wrap="none" rtlCol="0">
            <a:spAutoFit/>
          </a:bodyPr>
          <a:lstStyle/>
          <a:p>
            <a:r>
              <a:rPr lang="en-US" b="1" dirty="0">
                <a:solidFill>
                  <a:srgbClr val="0070C0"/>
                </a:solidFill>
              </a:rPr>
              <a:t>50 MB</a:t>
            </a:r>
          </a:p>
        </p:txBody>
      </p:sp>
      <p:sp>
        <p:nvSpPr>
          <p:cNvPr id="114" name="TextBox 113">
            <a:extLst>
              <a:ext uri="{FF2B5EF4-FFF2-40B4-BE49-F238E27FC236}">
                <a16:creationId xmlns:a16="http://schemas.microsoft.com/office/drawing/2014/main" id="{1CD8A62F-4FEF-2E42-9EF9-166A44337C0F}"/>
              </a:ext>
            </a:extLst>
          </p:cNvPr>
          <p:cNvSpPr txBox="1"/>
          <p:nvPr/>
        </p:nvSpPr>
        <p:spPr>
          <a:xfrm>
            <a:off x="7625014" y="5450331"/>
            <a:ext cx="877163" cy="369332"/>
          </a:xfrm>
          <a:prstGeom prst="rect">
            <a:avLst/>
          </a:prstGeom>
          <a:noFill/>
        </p:spPr>
        <p:txBody>
          <a:bodyPr wrap="none" rtlCol="0">
            <a:spAutoFit/>
          </a:bodyPr>
          <a:lstStyle/>
          <a:p>
            <a:r>
              <a:rPr lang="en-US" b="1" dirty="0">
                <a:solidFill>
                  <a:srgbClr val="0070C0"/>
                </a:solidFill>
              </a:rPr>
              <a:t>80 GB</a:t>
            </a:r>
          </a:p>
        </p:txBody>
      </p:sp>
      <p:grpSp>
        <p:nvGrpSpPr>
          <p:cNvPr id="13" name="Group 12">
            <a:extLst>
              <a:ext uri="{FF2B5EF4-FFF2-40B4-BE49-F238E27FC236}">
                <a16:creationId xmlns:a16="http://schemas.microsoft.com/office/drawing/2014/main" id="{2480B46A-CC16-C740-8AEE-CC719C978CD9}"/>
              </a:ext>
            </a:extLst>
          </p:cNvPr>
          <p:cNvGrpSpPr/>
          <p:nvPr/>
        </p:nvGrpSpPr>
        <p:grpSpPr>
          <a:xfrm>
            <a:off x="35496" y="4149080"/>
            <a:ext cx="1494320" cy="1440000"/>
            <a:chOff x="35496" y="4149080"/>
            <a:chExt cx="1494320" cy="1440000"/>
          </a:xfrm>
        </p:grpSpPr>
        <p:cxnSp>
          <p:nvCxnSpPr>
            <p:cNvPr id="3" name="Straight Arrow Connector 2">
              <a:extLst>
                <a:ext uri="{FF2B5EF4-FFF2-40B4-BE49-F238E27FC236}">
                  <a16:creationId xmlns:a16="http://schemas.microsoft.com/office/drawing/2014/main" id="{B3ACE80D-AD2D-C44B-A232-F5B09ACF9BF9}"/>
                </a:ext>
              </a:extLst>
            </p:cNvPr>
            <p:cNvCxnSpPr/>
            <p:nvPr/>
          </p:nvCxnSpPr>
          <p:spPr>
            <a:xfrm>
              <a:off x="1475656" y="4149080"/>
              <a:ext cx="0" cy="1440000"/>
            </a:xfrm>
            <a:prstGeom prst="straightConnector1">
              <a:avLst/>
            </a:prstGeom>
            <a:ln w="50800">
              <a:solidFill>
                <a:srgbClr val="FF2F92"/>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16" name="TextBox 115">
              <a:extLst>
                <a:ext uri="{FF2B5EF4-FFF2-40B4-BE49-F238E27FC236}">
                  <a16:creationId xmlns:a16="http://schemas.microsoft.com/office/drawing/2014/main" id="{AB447308-A7AE-FD45-87C5-7C6EDCF8FAF9}"/>
                </a:ext>
              </a:extLst>
            </p:cNvPr>
            <p:cNvSpPr txBox="1"/>
            <p:nvPr/>
          </p:nvSpPr>
          <p:spPr>
            <a:xfrm>
              <a:off x="35496" y="4797152"/>
              <a:ext cx="1494320" cy="369332"/>
            </a:xfrm>
            <a:prstGeom prst="rect">
              <a:avLst/>
            </a:prstGeom>
            <a:noFill/>
          </p:spPr>
          <p:txBody>
            <a:bodyPr wrap="none" rtlCol="0">
              <a:spAutoFit/>
            </a:bodyPr>
            <a:lstStyle/>
            <a:p>
              <a:r>
                <a:rPr lang="en-US" b="1" dirty="0">
                  <a:solidFill>
                    <a:srgbClr val="C00000"/>
                  </a:solidFill>
                </a:rPr>
                <a:t>Direct copy</a:t>
              </a:r>
            </a:p>
          </p:txBody>
        </p:sp>
      </p:grpSp>
      <p:grpSp>
        <p:nvGrpSpPr>
          <p:cNvPr id="12" name="Group 11">
            <a:extLst>
              <a:ext uri="{FF2B5EF4-FFF2-40B4-BE49-F238E27FC236}">
                <a16:creationId xmlns:a16="http://schemas.microsoft.com/office/drawing/2014/main" id="{0C1D993A-A4A5-F94A-8FEF-E0E5C2B4E491}"/>
              </a:ext>
            </a:extLst>
          </p:cNvPr>
          <p:cNvGrpSpPr/>
          <p:nvPr/>
        </p:nvGrpSpPr>
        <p:grpSpPr>
          <a:xfrm>
            <a:off x="5894771" y="4406802"/>
            <a:ext cx="950901" cy="1412276"/>
            <a:chOff x="5894771" y="4406802"/>
            <a:chExt cx="950901" cy="1412276"/>
          </a:xfrm>
        </p:grpSpPr>
        <p:sp>
          <p:nvSpPr>
            <p:cNvPr id="115" name="TextBox 114">
              <a:extLst>
                <a:ext uri="{FF2B5EF4-FFF2-40B4-BE49-F238E27FC236}">
                  <a16:creationId xmlns:a16="http://schemas.microsoft.com/office/drawing/2014/main" id="{99D74F71-5196-B14A-AD97-DC013C3BE3E6}"/>
                </a:ext>
              </a:extLst>
            </p:cNvPr>
            <p:cNvSpPr txBox="1"/>
            <p:nvPr/>
          </p:nvSpPr>
          <p:spPr>
            <a:xfrm>
              <a:off x="5894771" y="5449746"/>
              <a:ext cx="950901" cy="369332"/>
            </a:xfrm>
            <a:prstGeom prst="rect">
              <a:avLst/>
            </a:prstGeom>
            <a:noFill/>
          </p:spPr>
          <p:txBody>
            <a:bodyPr wrap="none" rtlCol="0">
              <a:spAutoFit/>
            </a:bodyPr>
            <a:lstStyle/>
            <a:p>
              <a:r>
                <a:rPr lang="en-US" b="1" dirty="0">
                  <a:solidFill>
                    <a:srgbClr val="0070C0"/>
                  </a:solidFill>
                </a:rPr>
                <a:t>3 TB/s</a:t>
              </a:r>
            </a:p>
          </p:txBody>
        </p:sp>
        <p:cxnSp>
          <p:nvCxnSpPr>
            <p:cNvPr id="119" name="Straight Arrow Connector 118">
              <a:extLst>
                <a:ext uri="{FF2B5EF4-FFF2-40B4-BE49-F238E27FC236}">
                  <a16:creationId xmlns:a16="http://schemas.microsoft.com/office/drawing/2014/main" id="{ADCB1D09-0B11-D142-BE4A-C3315D3560CF}"/>
                </a:ext>
              </a:extLst>
            </p:cNvPr>
            <p:cNvCxnSpPr>
              <a:cxnSpLocks/>
            </p:cNvCxnSpPr>
            <p:nvPr/>
          </p:nvCxnSpPr>
          <p:spPr>
            <a:xfrm>
              <a:off x="6038586" y="4406802"/>
              <a:ext cx="0" cy="1080000"/>
            </a:xfrm>
            <a:prstGeom prst="straightConnector1">
              <a:avLst/>
            </a:prstGeom>
            <a:ln w="38100">
              <a:solidFill>
                <a:srgbClr val="0070C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5371A520-89F6-9D4C-BCA9-A13768EA2B4E}"/>
                </a:ext>
              </a:extLst>
            </p:cNvPr>
            <p:cNvCxnSpPr>
              <a:cxnSpLocks/>
            </p:cNvCxnSpPr>
            <p:nvPr/>
          </p:nvCxnSpPr>
          <p:spPr>
            <a:xfrm>
              <a:off x="6243432" y="4406802"/>
              <a:ext cx="0" cy="1080000"/>
            </a:xfrm>
            <a:prstGeom prst="straightConnector1">
              <a:avLst/>
            </a:prstGeom>
            <a:ln w="38100">
              <a:solidFill>
                <a:srgbClr val="0070C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3D828422-D1FB-A244-A520-C291FC23C49E}"/>
                </a:ext>
              </a:extLst>
            </p:cNvPr>
            <p:cNvCxnSpPr>
              <a:cxnSpLocks/>
            </p:cNvCxnSpPr>
            <p:nvPr/>
          </p:nvCxnSpPr>
          <p:spPr>
            <a:xfrm>
              <a:off x="6444208" y="4406802"/>
              <a:ext cx="0" cy="1080000"/>
            </a:xfrm>
            <a:prstGeom prst="straightConnector1">
              <a:avLst/>
            </a:prstGeom>
            <a:ln w="38100">
              <a:solidFill>
                <a:srgbClr val="0070C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2B88B01A-1D2A-834D-A49C-643F7DFCFA85}"/>
                </a:ext>
              </a:extLst>
            </p:cNvPr>
            <p:cNvCxnSpPr>
              <a:cxnSpLocks/>
            </p:cNvCxnSpPr>
            <p:nvPr/>
          </p:nvCxnSpPr>
          <p:spPr>
            <a:xfrm>
              <a:off x="6660232" y="4406802"/>
              <a:ext cx="0" cy="1080000"/>
            </a:xfrm>
            <a:prstGeom prst="straightConnector1">
              <a:avLst/>
            </a:prstGeom>
            <a:ln w="38100">
              <a:solidFill>
                <a:srgbClr val="0070C0"/>
              </a:solidFill>
              <a:headEnd type="triangle"/>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2621192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1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wipe(down)">
                                      <p:cBhvr>
                                        <p:cTn id="2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E5D416A-4B91-DB47-96B2-B5A66BAFEC27}"/>
              </a:ext>
            </a:extLst>
          </p:cNvPr>
          <p:cNvSpPr txBox="1">
            <a:spLocks/>
          </p:cNvSpPr>
          <p:nvPr/>
        </p:nvSpPr>
        <p:spPr bwMode="auto">
          <a:xfrm>
            <a:off x="228600" y="914400"/>
            <a:ext cx="8610600"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a:lstStyle>
          <a:p>
            <a:pPr marL="342900" marR="0" lvl="0" indent="-342900" algn="l" defTabSz="914400" rtl="0" eaLnBrk="0" fontAlgn="base" latinLnBrk="0" hangingPunct="0">
              <a:lnSpc>
                <a:spcPct val="100000"/>
              </a:lnSpc>
              <a:spcBef>
                <a:spcPct val="20000"/>
              </a:spcBef>
              <a:spcAft>
                <a:spcPct val="0"/>
              </a:spcAft>
              <a:buClr>
                <a:srgbClr val="CC9900"/>
              </a:buClr>
              <a:buSzPct val="65000"/>
              <a:buFont typeface="Wingdings" pitchFamily="2" charset="2"/>
              <a:buChar char="n"/>
              <a:tabLst/>
              <a:defRPr/>
            </a:pPr>
            <a:r>
              <a:rPr kumimoji="0" lang="en-US" altLang="en-US" sz="2400" b="0" i="0" u="none" strike="noStrike" kern="1200" cap="none" spc="0" normalizeH="0" baseline="0" noProof="0" dirty="0">
                <a:ln>
                  <a:noFill/>
                </a:ln>
                <a:solidFill>
                  <a:srgbClr val="000000"/>
                </a:solidFill>
                <a:effectLst/>
                <a:uLnTx/>
                <a:uFillTx/>
                <a:latin typeface="Tahoma"/>
                <a:ea typeface="ＭＳ Ｐゴシック" panose="020B0600070205080204" pitchFamily="34" charset="-128"/>
              </a:rPr>
              <a:t>Example of data movement between GPU global memory (DRAM) and GPU cores.</a:t>
            </a:r>
            <a:endParaRPr kumimoji="0" lang="en-US" altLang="en-US" sz="2400" b="0" i="0" u="none" strike="noStrike" kern="0" cap="none" spc="0" normalizeH="0" baseline="0" noProof="0" dirty="0">
              <a:ln>
                <a:noFill/>
              </a:ln>
              <a:solidFill>
                <a:srgbClr val="000000"/>
              </a:solidFill>
              <a:effectLst/>
              <a:uLnTx/>
              <a:uFillTx/>
              <a:latin typeface="Tahoma"/>
              <a:ea typeface="ＭＳ Ｐゴシック" panose="020B0600070205080204" pitchFamily="34" charset="-128"/>
            </a:endParaRPr>
          </a:p>
        </p:txBody>
      </p:sp>
      <p:pic>
        <p:nvPicPr>
          <p:cNvPr id="2" name="Picture 1">
            <a:extLst>
              <a:ext uri="{FF2B5EF4-FFF2-40B4-BE49-F238E27FC236}">
                <a16:creationId xmlns:a16="http://schemas.microsoft.com/office/drawing/2014/main" id="{F206C655-937D-DC48-A5BF-5FE8353AC116}"/>
              </a:ext>
            </a:extLst>
          </p:cNvPr>
          <p:cNvPicPr>
            <a:picLocks noChangeAspect="1"/>
          </p:cNvPicPr>
          <p:nvPr/>
        </p:nvPicPr>
        <p:blipFill>
          <a:blip r:embed="rId3"/>
          <a:stretch>
            <a:fillRect/>
          </a:stretch>
        </p:blipFill>
        <p:spPr>
          <a:xfrm>
            <a:off x="370750" y="1982689"/>
            <a:ext cx="7081570" cy="4038599"/>
          </a:xfrm>
          <a:prstGeom prst="rect">
            <a:avLst/>
          </a:prstGeom>
        </p:spPr>
      </p:pic>
      <p:sp>
        <p:nvSpPr>
          <p:cNvPr id="83969" name="Title 1">
            <a:extLst>
              <a:ext uri="{FF2B5EF4-FFF2-40B4-BE49-F238E27FC236}">
                <a16:creationId xmlns:a16="http://schemas.microsoft.com/office/drawing/2014/main" id="{37341F1E-EEC5-5E40-B8E1-F001AF083003}"/>
              </a:ext>
            </a:extLst>
          </p:cNvPr>
          <p:cNvSpPr>
            <a:spLocks noGrp="1"/>
          </p:cNvSpPr>
          <p:nvPr>
            <p:ph type="title"/>
          </p:nvPr>
        </p:nvSpPr>
        <p:spPr>
          <a:xfrm>
            <a:off x="228600" y="0"/>
            <a:ext cx="8796404" cy="914400"/>
          </a:xfrm>
        </p:spPr>
        <p:txBody>
          <a:bodyPr/>
          <a:lstStyle/>
          <a:p>
            <a:r>
              <a:rPr lang="en-US" altLang="en-US" dirty="0">
                <a:ea typeface="ＭＳ Ｐゴシック" panose="020B0600070205080204" pitchFamily="34" charset="-128"/>
              </a:rPr>
              <a:t>NVIDIA V100 &amp; A100 Memory Hierarchy</a:t>
            </a:r>
          </a:p>
        </p:txBody>
      </p:sp>
      <p:sp>
        <p:nvSpPr>
          <p:cNvPr id="9" name="Content Placeholder 2">
            <a:extLst>
              <a:ext uri="{FF2B5EF4-FFF2-40B4-BE49-F238E27FC236}">
                <a16:creationId xmlns:a16="http://schemas.microsoft.com/office/drawing/2014/main" id="{1CD52290-91EC-594F-A398-DAC65BC81868}"/>
              </a:ext>
            </a:extLst>
          </p:cNvPr>
          <p:cNvSpPr>
            <a:spLocks noGrp="1"/>
          </p:cNvSpPr>
          <p:nvPr>
            <p:ph idx="1"/>
          </p:nvPr>
        </p:nvSpPr>
        <p:spPr>
          <a:xfrm>
            <a:off x="7092280" y="4822230"/>
            <a:ext cx="2057400" cy="1703114"/>
          </a:xfrm>
        </p:spPr>
        <p:txBody>
          <a:bodyPr anchor="t"/>
          <a:lstStyle/>
          <a:p>
            <a:pPr marL="0">
              <a:spcBef>
                <a:spcPts val="0"/>
              </a:spcBef>
              <a:buFont typeface="Wingdings" pitchFamily="2" charset="2"/>
              <a:buNone/>
            </a:pPr>
            <a:endParaRPr lang="en-US" altLang="en-US" sz="1600" dirty="0">
              <a:ea typeface="ＭＳ Ｐゴシック" panose="020B0600070205080204" pitchFamily="34" charset="-128"/>
            </a:endParaRPr>
          </a:p>
          <a:p>
            <a:pPr marL="0">
              <a:spcBef>
                <a:spcPts val="0"/>
              </a:spcBef>
              <a:buFont typeface="Wingdings" pitchFamily="2" charset="2"/>
              <a:buNone/>
            </a:pPr>
            <a:r>
              <a:rPr lang="en-US" altLang="en-US" sz="1600" dirty="0">
                <a:ea typeface="ＭＳ Ｐゴシック" panose="020B0600070205080204" pitchFamily="34" charset="-128"/>
              </a:rPr>
              <a:t>A100 feature: </a:t>
            </a:r>
          </a:p>
          <a:p>
            <a:pPr marL="0">
              <a:spcBef>
                <a:spcPts val="0"/>
              </a:spcBef>
              <a:buFont typeface="Wingdings" pitchFamily="2" charset="2"/>
              <a:buNone/>
            </a:pPr>
            <a:r>
              <a:rPr lang="en-US" altLang="en-US" sz="1600" dirty="0">
                <a:solidFill>
                  <a:srgbClr val="0432FF"/>
                </a:solidFill>
                <a:ea typeface="ＭＳ Ｐゴシック" panose="020B0600070205080204" pitchFamily="34" charset="-128"/>
              </a:rPr>
              <a:t>Direct copy from L2 to scratchpad</a:t>
            </a:r>
            <a:r>
              <a:rPr lang="en-US" altLang="en-US" sz="1600" dirty="0">
                <a:ea typeface="ＭＳ Ｐゴシック" panose="020B0600070205080204" pitchFamily="34" charset="-128"/>
              </a:rPr>
              <a:t>, bypassing L1 and register file.</a:t>
            </a:r>
          </a:p>
          <a:p>
            <a:pPr>
              <a:buNone/>
            </a:pPr>
            <a:endParaRPr lang="en-US" altLang="en-US" sz="1600" dirty="0">
              <a:ea typeface="ＭＳ Ｐゴシック" panose="020B0600070205080204" pitchFamily="34" charset="-128"/>
            </a:endParaRPr>
          </a:p>
          <a:p>
            <a:pPr>
              <a:buFont typeface="Wingdings" pitchFamily="2" charset="2"/>
              <a:buNone/>
            </a:pPr>
            <a:endParaRPr lang="en-US" altLang="en-US" sz="1600" dirty="0">
              <a:ea typeface="ＭＳ Ｐゴシック" panose="020B0600070205080204" pitchFamily="34" charset="-128"/>
            </a:endParaRPr>
          </a:p>
        </p:txBody>
      </p:sp>
      <p:sp>
        <p:nvSpPr>
          <p:cNvPr id="10" name="Slide Number Placeholder 3">
            <a:extLst>
              <a:ext uri="{FF2B5EF4-FFF2-40B4-BE49-F238E27FC236}">
                <a16:creationId xmlns:a16="http://schemas.microsoft.com/office/drawing/2014/main" id="{FC5739B9-63E5-1E41-8390-7E8804EBCA86}"/>
              </a:ext>
            </a:extLst>
          </p:cNvPr>
          <p:cNvSpPr>
            <a:spLocks noGrp="1"/>
          </p:cNvSpPr>
          <p:nvPr>
            <p:ph type="sldNum" sz="quarter" idx="11"/>
          </p:nvPr>
        </p:nvSpPr>
        <p:spPr>
          <a:xfrm>
            <a:off x="6777038" y="631825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B31A252-A455-7E4D-8859-45EB22A1C42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11" name="TextBox 10"/>
          <p:cNvSpPr txBox="1"/>
          <p:nvPr/>
        </p:nvSpPr>
        <p:spPr>
          <a:xfrm>
            <a:off x="174209" y="6496734"/>
            <a:ext cx="5062604" cy="215444"/>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rgbClr val="0000FF"/>
                </a:solidFill>
                <a:effectLst/>
                <a:uLnTx/>
                <a:uFillTx/>
                <a:latin typeface="Arial" panose="020B0604020202020204" pitchFamily="34" charset="0"/>
                <a:ea typeface="ＭＳ Ｐゴシック" panose="020B0600070205080204" pitchFamily="34" charset="-128"/>
                <a:cs typeface="+mn-cs"/>
                <a:hlinkClick r:id="rId4">
                  <a:extLst>
                    <a:ext uri="{A12FA001-AC4F-418D-AE19-62706E023703}">
                      <ahyp:hlinkClr xmlns:ahyp="http://schemas.microsoft.com/office/drawing/2018/hyperlinkcolor" val="tx"/>
                    </a:ext>
                  </a:extLst>
                </a:hlinkClick>
              </a:rPr>
              <a:t>https://images.nvidia.com/aem-dam/en-zz/Solutions/data-center/nvidia-ampere-architecture-whitepaper.pdf</a:t>
            </a:r>
            <a:endParaRPr kumimoji="0" lang="en-US" sz="800" b="0" i="0" u="none" strike="noStrike" kern="1200" cap="none" spc="0" normalizeH="0" baseline="0" noProof="0" dirty="0">
              <a:ln>
                <a:noFill/>
              </a:ln>
              <a:solidFill>
                <a:srgbClr val="0000FF"/>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86494010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a:xfrm>
            <a:off x="235024" y="38100"/>
            <a:ext cx="8153400" cy="838200"/>
          </a:xfrm>
        </p:spPr>
        <p:txBody>
          <a:bodyPr/>
          <a:lstStyle/>
          <a:p>
            <a:r>
              <a:rPr lang="en-US" dirty="0"/>
              <a:t>CUDA Variable Type Qualifiers</a:t>
            </a:r>
          </a:p>
        </p:txBody>
      </p:sp>
      <p:sp>
        <p:nvSpPr>
          <p:cNvPr id="131075" name="Rectangle 3"/>
          <p:cNvSpPr>
            <a:spLocks noGrp="1" noChangeArrowheads="1"/>
          </p:cNvSpPr>
          <p:nvPr>
            <p:ph type="body" idx="1"/>
          </p:nvPr>
        </p:nvSpPr>
        <p:spPr>
          <a:xfrm>
            <a:off x="266700" y="3933056"/>
            <a:ext cx="8877300" cy="2530152"/>
          </a:xfrm>
        </p:spPr>
        <p:txBody>
          <a:bodyPr/>
          <a:lstStyle/>
          <a:p>
            <a:pPr marL="457200" indent="-457200">
              <a:lnSpc>
                <a:spcPct val="90000"/>
              </a:lnSpc>
            </a:pPr>
            <a:r>
              <a:rPr lang="en-US" sz="1800" b="1" dirty="0">
                <a:solidFill>
                  <a:schemeClr val="accent2"/>
                </a:solidFill>
                <a:latin typeface="Courier New" pitchFamily="-111" charset="0"/>
              </a:rPr>
              <a:t>__device__</a:t>
            </a:r>
            <a:r>
              <a:rPr lang="en-US" sz="1800" dirty="0"/>
              <a:t> is optional when used with </a:t>
            </a:r>
            <a:r>
              <a:rPr lang="en-US" sz="1800" b="1" dirty="0">
                <a:solidFill>
                  <a:schemeClr val="accent2"/>
                </a:solidFill>
                <a:latin typeface="Courier New" pitchFamily="-111" charset="0"/>
              </a:rPr>
              <a:t>__shared__</a:t>
            </a:r>
            <a:r>
              <a:rPr lang="en-US" sz="1800" dirty="0"/>
              <a:t>, or </a:t>
            </a:r>
            <a:r>
              <a:rPr lang="en-US" sz="1800" b="1" dirty="0">
                <a:solidFill>
                  <a:schemeClr val="accent2"/>
                </a:solidFill>
              </a:rPr>
              <a:t> </a:t>
            </a:r>
            <a:r>
              <a:rPr lang="en-US" sz="1800" b="1" dirty="0">
                <a:solidFill>
                  <a:schemeClr val="accent2"/>
                </a:solidFill>
                <a:latin typeface="Courier New" pitchFamily="-111" charset="0"/>
              </a:rPr>
              <a:t>__constant__</a:t>
            </a:r>
          </a:p>
          <a:p>
            <a:pPr marL="457200" indent="-457200">
              <a:lnSpc>
                <a:spcPct val="90000"/>
              </a:lnSpc>
            </a:pPr>
            <a:endParaRPr lang="en-US" sz="2200" dirty="0">
              <a:solidFill>
                <a:schemeClr val="accent2"/>
              </a:solidFill>
            </a:endParaRPr>
          </a:p>
          <a:p>
            <a:pPr marL="457200" indent="-457200">
              <a:lnSpc>
                <a:spcPct val="90000"/>
              </a:lnSpc>
            </a:pPr>
            <a:r>
              <a:rPr lang="en-US" sz="2200" dirty="0"/>
              <a:t>Recall </a:t>
            </a:r>
            <a:r>
              <a:rPr lang="en-US" sz="2200" dirty="0" err="1">
                <a:latin typeface="Courier New" panose="02070309020205020404" pitchFamily="49" charset="0"/>
                <a:cs typeface="Courier New" panose="02070309020205020404" pitchFamily="49" charset="0"/>
              </a:rPr>
              <a:t>cudaMalloc</a:t>
            </a:r>
            <a:r>
              <a:rPr lang="en-US" sz="2200" dirty="0">
                <a:latin typeface="Courier New" panose="02070309020205020404" pitchFamily="49" charset="0"/>
                <a:cs typeface="Courier New" panose="02070309020205020404" pitchFamily="49" charset="0"/>
              </a:rPr>
              <a:t>(…)</a:t>
            </a:r>
            <a:r>
              <a:rPr lang="en-US" sz="2200" dirty="0"/>
              <a:t> allocates memory from the host</a:t>
            </a:r>
          </a:p>
          <a:p>
            <a:pPr marL="974725" lvl="1" indent="-403225">
              <a:lnSpc>
                <a:spcPct val="90000"/>
              </a:lnSpc>
            </a:pPr>
            <a:r>
              <a:rPr lang="en-US" sz="2000" dirty="0"/>
              <a:t>Constant memory can also be allocated and initialized from the host</a:t>
            </a:r>
          </a:p>
          <a:p>
            <a:pPr marL="457200" indent="-457200">
              <a:lnSpc>
                <a:spcPct val="90000"/>
              </a:lnSpc>
            </a:pPr>
            <a:r>
              <a:rPr lang="en-US" sz="2200" dirty="0">
                <a:solidFill>
                  <a:schemeClr val="accent2"/>
                </a:solidFill>
              </a:rPr>
              <a:t>Automatic variables</a:t>
            </a:r>
            <a:r>
              <a:rPr lang="en-US" sz="2200" dirty="0"/>
              <a:t> without any qualifier reside in a </a:t>
            </a:r>
            <a:r>
              <a:rPr lang="en-US" sz="2200" dirty="0">
                <a:solidFill>
                  <a:schemeClr val="accent2"/>
                </a:solidFill>
              </a:rPr>
              <a:t>register</a:t>
            </a:r>
          </a:p>
          <a:p>
            <a:pPr marL="974725" lvl="1" indent="-403225">
              <a:lnSpc>
                <a:spcPct val="90000"/>
              </a:lnSpc>
            </a:pPr>
            <a:r>
              <a:rPr lang="en-US" sz="2000" dirty="0">
                <a:solidFill>
                  <a:schemeClr val="accent2"/>
                </a:solidFill>
              </a:rPr>
              <a:t>Except arrays</a:t>
            </a:r>
            <a:r>
              <a:rPr lang="en-US" sz="2000" dirty="0"/>
              <a:t> that reside in global memory</a:t>
            </a:r>
            <a:endParaRPr lang="en-US" sz="2200" dirty="0"/>
          </a:p>
          <a:p>
            <a:pPr marL="974725" lvl="1" indent="-403225">
              <a:lnSpc>
                <a:spcPct val="90000"/>
              </a:lnSpc>
            </a:pPr>
            <a:endParaRPr lang="en-US" sz="2000" dirty="0"/>
          </a:p>
        </p:txBody>
      </p:sp>
      <p:graphicFrame>
        <p:nvGraphicFramePr>
          <p:cNvPr id="131120" name="Group 48"/>
          <p:cNvGraphicFramePr>
            <a:graphicFrameLocks noGrp="1"/>
          </p:cNvGraphicFramePr>
          <p:nvPr/>
        </p:nvGraphicFramePr>
        <p:xfrm>
          <a:off x="190500" y="1268760"/>
          <a:ext cx="8758936" cy="2476500"/>
        </p:xfrm>
        <a:graphic>
          <a:graphicData uri="http://schemas.openxmlformats.org/drawingml/2006/table">
            <a:tbl>
              <a:tblPr/>
              <a:tblGrid>
                <a:gridCol w="5189538">
                  <a:extLst>
                    <a:ext uri="{9D8B030D-6E8A-4147-A177-3AD203B41FA5}">
                      <a16:colId xmlns:a16="http://schemas.microsoft.com/office/drawing/2014/main" val="20000"/>
                    </a:ext>
                  </a:extLst>
                </a:gridCol>
                <a:gridCol w="1173162">
                  <a:extLst>
                    <a:ext uri="{9D8B030D-6E8A-4147-A177-3AD203B41FA5}">
                      <a16:colId xmlns:a16="http://schemas.microsoft.com/office/drawing/2014/main" val="20001"/>
                    </a:ext>
                  </a:extLst>
                </a:gridCol>
                <a:gridCol w="948436">
                  <a:extLst>
                    <a:ext uri="{9D8B030D-6E8A-4147-A177-3AD203B41FA5}">
                      <a16:colId xmlns:a16="http://schemas.microsoft.com/office/drawing/2014/main" val="20002"/>
                    </a:ext>
                  </a:extLst>
                </a:gridCol>
                <a:gridCol w="1447800">
                  <a:extLst>
                    <a:ext uri="{9D8B030D-6E8A-4147-A177-3AD203B41FA5}">
                      <a16:colId xmlns:a16="http://schemas.microsoft.com/office/drawing/2014/main" val="20003"/>
                    </a:ext>
                  </a:extLst>
                </a:gridCol>
              </a:tblGrid>
              <a:tr h="3063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dirty="0">
                          <a:ln>
                            <a:noFill/>
                          </a:ln>
                          <a:solidFill>
                            <a:schemeClr val="tx1"/>
                          </a:solidFill>
                          <a:effectLst/>
                          <a:latin typeface="Arial" pitchFamily="-111" charset="0"/>
                        </a:rPr>
                        <a:t>Variable declaration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a:ln>
                            <a:noFill/>
                          </a:ln>
                          <a:solidFill>
                            <a:schemeClr val="tx1"/>
                          </a:solidFill>
                          <a:effectLst/>
                          <a:latin typeface="Arial" pitchFamily="-111" charset="0"/>
                        </a:rPr>
                        <a:t>Memory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a:ln>
                            <a:noFill/>
                          </a:ln>
                          <a:solidFill>
                            <a:schemeClr val="tx1"/>
                          </a:solidFill>
                          <a:effectLst/>
                          <a:latin typeface="Arial" pitchFamily="-111" charset="0"/>
                        </a:rPr>
                        <a:t>Scope</a:t>
                      </a:r>
                      <a:endParaRPr kumimoji="0" lang="en-US" sz="1900" b="0" i="0" u="none" strike="noStrike" cap="none" normalizeH="0" baseline="0" dirty="0">
                        <a:ln>
                          <a:noFill/>
                        </a:ln>
                        <a:solidFill>
                          <a:schemeClr val="tx1"/>
                        </a:solidFill>
                        <a:effectLst/>
                        <a:latin typeface="Arial" pitchFamily="-111"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dirty="0">
                          <a:ln>
                            <a:noFill/>
                          </a:ln>
                          <a:solidFill>
                            <a:schemeClr val="tx1"/>
                          </a:solidFill>
                          <a:effectLst/>
                          <a:latin typeface="Arial" pitchFamily="-111" charset="0"/>
                        </a:rPr>
                        <a:t>Lifetime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9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en-US" sz="1600" b="1" i="0" u="none" strike="noStrike" cap="none" normalizeH="0" baseline="0" dirty="0" err="1">
                          <a:ln>
                            <a:noFill/>
                          </a:ln>
                          <a:solidFill>
                            <a:schemeClr val="tx1"/>
                          </a:solidFill>
                          <a:effectLst/>
                          <a:latin typeface="Courier New" pitchFamily="-111" charset="0"/>
                        </a:rPr>
                        <a:t>int</a:t>
                      </a:r>
                      <a:r>
                        <a:rPr kumimoji="0" lang="en-US" sz="1600" b="1" i="0" u="none" strike="noStrike" cap="none" normalizeH="0" baseline="0" dirty="0">
                          <a:ln>
                            <a:noFill/>
                          </a:ln>
                          <a:solidFill>
                            <a:schemeClr val="tx1"/>
                          </a:solidFill>
                          <a:effectLst/>
                          <a:latin typeface="Courier New" pitchFamily="-111" charset="0"/>
                        </a:rPr>
                        <a:t> </a:t>
                      </a:r>
                      <a:r>
                        <a:rPr kumimoji="0" lang="en-US" sz="1600" b="1" i="0" u="none" strike="noStrike" cap="none" normalizeH="0" baseline="0" dirty="0" err="1">
                          <a:ln>
                            <a:noFill/>
                          </a:ln>
                          <a:solidFill>
                            <a:schemeClr val="tx1"/>
                          </a:solidFill>
                          <a:effectLst/>
                          <a:latin typeface="Courier New" pitchFamily="-111" charset="0"/>
                        </a:rPr>
                        <a:t>LocalVar</a:t>
                      </a:r>
                      <a:r>
                        <a:rPr kumimoji="0" lang="en-US" sz="1600" b="1" i="0" u="none" strike="noStrike" cap="none" normalizeH="0" baseline="0" dirty="0">
                          <a:ln>
                            <a:noFill/>
                          </a:ln>
                          <a:solidFill>
                            <a:schemeClr val="tx1"/>
                          </a:solidFill>
                          <a:effectLst/>
                          <a:latin typeface="Courier New" pitchFamily="-111" charset="0"/>
                        </a:rPr>
                        <a:t>;</a:t>
                      </a:r>
                      <a:r>
                        <a:rPr kumimoji="0" lang="en-US" sz="16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endParaRPr kumimoji="0" lang="en-US" sz="1600" b="1" i="0" u="none" strike="noStrike" cap="none" normalizeH="0" baseline="0" dirty="0">
                        <a:ln>
                          <a:noFill/>
                        </a:ln>
                        <a:solidFill>
                          <a:schemeClr val="tx1"/>
                        </a:solidFill>
                        <a:effectLst/>
                        <a:latin typeface="Courier New" pitchFamily="-111"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dirty="0">
                          <a:ln>
                            <a:noFill/>
                          </a:ln>
                          <a:solidFill>
                            <a:schemeClr val="tx1"/>
                          </a:solidFill>
                          <a:effectLst/>
                          <a:latin typeface="Arial" pitchFamily="-111" charset="0"/>
                        </a:rPr>
                        <a:t>register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dirty="0">
                          <a:ln>
                            <a:noFill/>
                          </a:ln>
                          <a:solidFill>
                            <a:schemeClr val="tx1"/>
                          </a:solidFill>
                          <a:effectLst/>
                          <a:latin typeface="Arial" pitchFamily="-111" charset="0"/>
                        </a:rPr>
                        <a:t>thread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dirty="0">
                          <a:ln>
                            <a:noFill/>
                          </a:ln>
                          <a:solidFill>
                            <a:schemeClr val="tx1"/>
                          </a:solidFill>
                          <a:effectLst/>
                          <a:latin typeface="Arial" pitchFamily="-111" charset="0"/>
                        </a:rPr>
                        <a:t>thread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9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en-US" sz="16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int</a:t>
                      </a:r>
                      <a:r>
                        <a:rPr kumimoji="0" lang="en-US" sz="16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en-US" sz="16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localArr</a:t>
                      </a:r>
                      <a:r>
                        <a:rPr kumimoji="0" lang="en-US" sz="16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dirty="0">
                          <a:ln>
                            <a:noFill/>
                          </a:ln>
                          <a:solidFill>
                            <a:schemeClr val="tx1"/>
                          </a:solidFill>
                          <a:effectLst/>
                          <a:latin typeface="+mn-lt"/>
                        </a:rPr>
                        <a:t>global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dirty="0">
                          <a:ln>
                            <a:noFill/>
                          </a:ln>
                          <a:solidFill>
                            <a:schemeClr val="tx1"/>
                          </a:solidFill>
                          <a:effectLst/>
                          <a:latin typeface="+mn-lt"/>
                        </a:rPr>
                        <a:t>thread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dirty="0">
                          <a:ln>
                            <a:noFill/>
                          </a:ln>
                          <a:solidFill>
                            <a:schemeClr val="tx1"/>
                          </a:solidFill>
                          <a:effectLst/>
                          <a:latin typeface="+mn-lt"/>
                        </a:rPr>
                        <a:t>thread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81078450"/>
                  </a:ext>
                </a:extLst>
              </a:tr>
              <a:tr h="419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chemeClr val="accent2"/>
                          </a:solidFill>
                          <a:effectLst/>
                          <a:latin typeface="Courier New" pitchFamily="-111" charset="0"/>
                        </a:rPr>
                        <a:t>__device__</a:t>
                      </a:r>
                      <a:r>
                        <a:rPr kumimoji="0" lang="en-US" sz="1600" b="1" i="0" u="none" strike="noStrike" cap="none" normalizeH="0" baseline="0" dirty="0">
                          <a:ln>
                            <a:noFill/>
                          </a:ln>
                          <a:solidFill>
                            <a:schemeClr val="tx1"/>
                          </a:solidFill>
                          <a:effectLst/>
                          <a:latin typeface="Courier New" pitchFamily="-111" charset="0"/>
                        </a:rPr>
                        <a:t> </a:t>
                      </a:r>
                      <a:r>
                        <a:rPr kumimoji="0" lang="en-US" sz="1600" b="1" i="0" u="none" strike="noStrike" cap="none" normalizeH="0" baseline="0" dirty="0">
                          <a:ln>
                            <a:noFill/>
                          </a:ln>
                          <a:solidFill>
                            <a:schemeClr val="accent2"/>
                          </a:solidFill>
                          <a:effectLst/>
                          <a:latin typeface="Courier New" pitchFamily="-111" charset="0"/>
                        </a:rPr>
                        <a:t>__shared__</a:t>
                      </a:r>
                      <a:r>
                        <a:rPr kumimoji="0" lang="en-US" sz="1600" b="1" i="0" u="none" strike="noStrike" cap="none" normalizeH="0" baseline="0" dirty="0">
                          <a:ln>
                            <a:noFill/>
                          </a:ln>
                          <a:solidFill>
                            <a:schemeClr val="tx1"/>
                          </a:solidFill>
                          <a:effectLst/>
                          <a:latin typeface="Courier New" pitchFamily="-111" charset="0"/>
                        </a:rPr>
                        <a:t>   </a:t>
                      </a:r>
                      <a:r>
                        <a:rPr kumimoji="0" lang="en-US" sz="1600" b="1" i="0" u="none" strike="noStrike" cap="none" normalizeH="0" baseline="0" dirty="0" err="1">
                          <a:ln>
                            <a:noFill/>
                          </a:ln>
                          <a:solidFill>
                            <a:schemeClr val="tx1"/>
                          </a:solidFill>
                          <a:effectLst/>
                          <a:latin typeface="Courier New" pitchFamily="-111" charset="0"/>
                        </a:rPr>
                        <a:t>int</a:t>
                      </a:r>
                      <a:r>
                        <a:rPr kumimoji="0" lang="en-US" sz="1600" b="1" i="0" u="none" strike="noStrike" cap="none" normalizeH="0" baseline="0" dirty="0">
                          <a:ln>
                            <a:noFill/>
                          </a:ln>
                          <a:solidFill>
                            <a:schemeClr val="tx1"/>
                          </a:solidFill>
                          <a:effectLst/>
                          <a:latin typeface="Courier New" pitchFamily="-111" charset="0"/>
                        </a:rPr>
                        <a:t> </a:t>
                      </a:r>
                      <a:r>
                        <a:rPr kumimoji="0" lang="en-US" sz="1600" b="1" i="0" u="none" strike="noStrike" cap="none" normalizeH="0" baseline="0" dirty="0" err="1">
                          <a:ln>
                            <a:noFill/>
                          </a:ln>
                          <a:solidFill>
                            <a:schemeClr val="tx1"/>
                          </a:solidFill>
                          <a:effectLst/>
                          <a:latin typeface="Courier New" pitchFamily="-111" charset="0"/>
                        </a:rPr>
                        <a:t>SharedVar</a:t>
                      </a:r>
                      <a:r>
                        <a:rPr kumimoji="0" lang="en-US" sz="1600" b="1" i="0" u="none" strike="noStrike" cap="none" normalizeH="0" baseline="0" dirty="0">
                          <a:ln>
                            <a:noFill/>
                          </a:ln>
                          <a:solidFill>
                            <a:schemeClr val="tx1"/>
                          </a:solidFill>
                          <a:effectLst/>
                          <a:latin typeface="Courier New" pitchFamily="-111"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a:ln>
                            <a:noFill/>
                          </a:ln>
                          <a:solidFill>
                            <a:schemeClr val="tx1"/>
                          </a:solidFill>
                          <a:effectLst/>
                          <a:latin typeface="Arial" pitchFamily="-111" charset="0"/>
                        </a:rPr>
                        <a:t>shared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a:ln>
                            <a:noFill/>
                          </a:ln>
                          <a:solidFill>
                            <a:schemeClr val="tx1"/>
                          </a:solidFill>
                          <a:effectLst/>
                          <a:latin typeface="Arial" pitchFamily="-111" charset="0"/>
                        </a:rPr>
                        <a:t>block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dirty="0">
                          <a:ln>
                            <a:noFill/>
                          </a:ln>
                          <a:solidFill>
                            <a:schemeClr val="tx1"/>
                          </a:solidFill>
                          <a:effectLst/>
                          <a:latin typeface="Arial" pitchFamily="-111" charset="0"/>
                        </a:rPr>
                        <a:t>block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9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chemeClr val="accent2"/>
                          </a:solidFill>
                          <a:effectLst/>
                          <a:latin typeface="Courier New" pitchFamily="-111" charset="0"/>
                        </a:rPr>
                        <a:t>__device__</a:t>
                      </a:r>
                      <a:r>
                        <a:rPr kumimoji="0" lang="en-US" sz="1600" b="1" i="0" u="none" strike="noStrike" cap="none" normalizeH="0" baseline="0" dirty="0">
                          <a:ln>
                            <a:noFill/>
                          </a:ln>
                          <a:solidFill>
                            <a:schemeClr val="tx1"/>
                          </a:solidFill>
                          <a:effectLst/>
                          <a:latin typeface="Courier New" pitchFamily="-111" charset="0"/>
                        </a:rPr>
                        <a:t>              </a:t>
                      </a:r>
                      <a:r>
                        <a:rPr kumimoji="0" lang="en-US" sz="1600" b="1" i="0" u="none" strike="noStrike" cap="none" normalizeH="0" baseline="0" dirty="0" err="1">
                          <a:ln>
                            <a:noFill/>
                          </a:ln>
                          <a:solidFill>
                            <a:schemeClr val="tx1"/>
                          </a:solidFill>
                          <a:effectLst/>
                          <a:latin typeface="Courier New" pitchFamily="-111" charset="0"/>
                        </a:rPr>
                        <a:t>int</a:t>
                      </a:r>
                      <a:r>
                        <a:rPr kumimoji="0" lang="en-US" sz="1600" b="1" i="0" u="none" strike="noStrike" cap="none" normalizeH="0" baseline="0" dirty="0">
                          <a:ln>
                            <a:noFill/>
                          </a:ln>
                          <a:solidFill>
                            <a:schemeClr val="tx1"/>
                          </a:solidFill>
                          <a:effectLst/>
                          <a:latin typeface="Courier New" pitchFamily="-111" charset="0"/>
                        </a:rPr>
                        <a:t> </a:t>
                      </a:r>
                      <a:r>
                        <a:rPr kumimoji="0" lang="en-US" sz="1600" b="1" i="0" u="none" strike="noStrike" cap="none" normalizeH="0" baseline="0" dirty="0" err="1">
                          <a:ln>
                            <a:noFill/>
                          </a:ln>
                          <a:solidFill>
                            <a:schemeClr val="tx1"/>
                          </a:solidFill>
                          <a:effectLst/>
                          <a:latin typeface="Courier New" pitchFamily="-111" charset="0"/>
                        </a:rPr>
                        <a:t>GlobalVar</a:t>
                      </a:r>
                      <a:r>
                        <a:rPr kumimoji="0" lang="en-US" sz="1600" b="1" i="0" u="none" strike="noStrike" cap="none" normalizeH="0" baseline="0" dirty="0">
                          <a:ln>
                            <a:noFill/>
                          </a:ln>
                          <a:solidFill>
                            <a:schemeClr val="tx1"/>
                          </a:solidFill>
                          <a:effectLst/>
                          <a:latin typeface="Courier New" pitchFamily="-111"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a:ln>
                            <a:noFill/>
                          </a:ln>
                          <a:solidFill>
                            <a:schemeClr val="tx1"/>
                          </a:solidFill>
                          <a:effectLst/>
                          <a:latin typeface="Arial" pitchFamily="-111" charset="0"/>
                        </a:rPr>
                        <a:t>global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a:ln>
                            <a:noFill/>
                          </a:ln>
                          <a:solidFill>
                            <a:schemeClr val="tx1"/>
                          </a:solidFill>
                          <a:effectLst/>
                          <a:latin typeface="Arial" pitchFamily="-111" charset="0"/>
                        </a:rPr>
                        <a:t>grid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dirty="0">
                          <a:ln>
                            <a:noFill/>
                          </a:ln>
                          <a:solidFill>
                            <a:schemeClr val="tx1"/>
                          </a:solidFill>
                          <a:effectLst/>
                          <a:latin typeface="Arial" pitchFamily="-111" charset="0"/>
                        </a:rPr>
                        <a:t>application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9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chemeClr val="accent2"/>
                          </a:solidFill>
                          <a:effectLst/>
                          <a:latin typeface="Courier New" pitchFamily="-111" charset="0"/>
                        </a:rPr>
                        <a:t>__device__</a:t>
                      </a:r>
                      <a:r>
                        <a:rPr kumimoji="0" lang="en-US" sz="1600" b="1" i="0" u="none" strike="noStrike" cap="none" normalizeH="0" baseline="0" dirty="0">
                          <a:ln>
                            <a:noFill/>
                          </a:ln>
                          <a:solidFill>
                            <a:schemeClr val="tx1"/>
                          </a:solidFill>
                          <a:effectLst/>
                          <a:latin typeface="Courier New" pitchFamily="-111" charset="0"/>
                        </a:rPr>
                        <a:t> </a:t>
                      </a:r>
                      <a:r>
                        <a:rPr kumimoji="0" lang="en-US" sz="1600" b="1" i="0" u="none" strike="noStrike" cap="none" normalizeH="0" baseline="0" dirty="0">
                          <a:ln>
                            <a:noFill/>
                          </a:ln>
                          <a:solidFill>
                            <a:schemeClr val="accent2"/>
                          </a:solidFill>
                          <a:effectLst/>
                          <a:latin typeface="Courier New" pitchFamily="-111" charset="0"/>
                        </a:rPr>
                        <a:t>__constant__</a:t>
                      </a:r>
                      <a:r>
                        <a:rPr kumimoji="0" lang="en-US" sz="1600" b="1" i="0" u="none" strike="noStrike" cap="none" normalizeH="0" baseline="0" dirty="0">
                          <a:ln>
                            <a:noFill/>
                          </a:ln>
                          <a:solidFill>
                            <a:schemeClr val="tx1"/>
                          </a:solidFill>
                          <a:effectLst/>
                          <a:latin typeface="Courier New" pitchFamily="-111" charset="0"/>
                        </a:rPr>
                        <a:t> </a:t>
                      </a:r>
                      <a:r>
                        <a:rPr kumimoji="0" lang="en-US" sz="1600" b="1" i="0" u="none" strike="noStrike" cap="none" normalizeH="0" baseline="0" dirty="0" err="1">
                          <a:ln>
                            <a:noFill/>
                          </a:ln>
                          <a:solidFill>
                            <a:schemeClr val="tx1"/>
                          </a:solidFill>
                          <a:effectLst/>
                          <a:latin typeface="Courier New" pitchFamily="-111" charset="0"/>
                        </a:rPr>
                        <a:t>int</a:t>
                      </a:r>
                      <a:r>
                        <a:rPr kumimoji="0" lang="en-US" sz="1600" b="1" i="0" u="none" strike="noStrike" cap="none" normalizeH="0" baseline="0" dirty="0">
                          <a:ln>
                            <a:noFill/>
                          </a:ln>
                          <a:solidFill>
                            <a:schemeClr val="tx1"/>
                          </a:solidFill>
                          <a:effectLst/>
                          <a:latin typeface="Courier New" pitchFamily="-111" charset="0"/>
                        </a:rPr>
                        <a:t> </a:t>
                      </a:r>
                      <a:r>
                        <a:rPr kumimoji="0" lang="en-US" sz="1600" b="1" i="0" u="none" strike="noStrike" cap="none" normalizeH="0" baseline="0" dirty="0" err="1">
                          <a:ln>
                            <a:noFill/>
                          </a:ln>
                          <a:solidFill>
                            <a:schemeClr val="tx1"/>
                          </a:solidFill>
                          <a:effectLst/>
                          <a:latin typeface="Courier New" pitchFamily="-111" charset="0"/>
                        </a:rPr>
                        <a:t>ConstantVar</a:t>
                      </a:r>
                      <a:r>
                        <a:rPr kumimoji="0" lang="en-US" sz="1600" b="1" i="0" u="none" strike="noStrike" cap="none" normalizeH="0" baseline="0" dirty="0">
                          <a:ln>
                            <a:noFill/>
                          </a:ln>
                          <a:solidFill>
                            <a:schemeClr val="tx1"/>
                          </a:solidFill>
                          <a:effectLst/>
                          <a:latin typeface="Courier New" pitchFamily="-111"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dirty="0">
                          <a:ln>
                            <a:noFill/>
                          </a:ln>
                          <a:solidFill>
                            <a:schemeClr val="tx1"/>
                          </a:solidFill>
                          <a:effectLst/>
                          <a:latin typeface="Arial" pitchFamily="-111" charset="0"/>
                        </a:rPr>
                        <a:t>constant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dirty="0">
                          <a:ln>
                            <a:noFill/>
                          </a:ln>
                          <a:solidFill>
                            <a:schemeClr val="tx1"/>
                          </a:solidFill>
                          <a:effectLst/>
                          <a:latin typeface="Arial" pitchFamily="-111" charset="0"/>
                        </a:rPr>
                        <a:t>grid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dirty="0">
                          <a:ln>
                            <a:noFill/>
                          </a:ln>
                          <a:solidFill>
                            <a:schemeClr val="tx1"/>
                          </a:solidFill>
                          <a:effectLst/>
                          <a:latin typeface="Arial" pitchFamily="-111" charset="0"/>
                        </a:rPr>
                        <a:t>application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 name="Marcador de número de diapositiva 5"/>
          <p:cNvSpPr>
            <a:spLocks noGrp="1"/>
          </p:cNvSpPr>
          <p:nvPr>
            <p:ph type="sldNum" sz="quarter" idx="11"/>
          </p:nvPr>
        </p:nvSpPr>
        <p:spPr>
          <a:xfrm>
            <a:off x="7239000" y="6400800"/>
            <a:ext cx="1905000" cy="457200"/>
          </a:xfrm>
        </p:spPr>
        <p:txBody>
          <a:bodyPr/>
          <a:lstStyle/>
          <a:p>
            <a:pPr algn="r"/>
            <a:fld id="{36265653-2103-314A-B641-CF45047AE0C4}" type="slidenum">
              <a:rPr lang="en-US"/>
              <a:pPr algn="r"/>
              <a:t>18</a:t>
            </a:fld>
            <a:endParaRPr lang="en-US" dirty="0"/>
          </a:p>
        </p:txBody>
      </p:sp>
    </p:spTree>
    <p:extLst>
      <p:ext uri="{BB962C8B-B14F-4D97-AF65-F5344CB8AC3E}">
        <p14:creationId xmlns:p14="http://schemas.microsoft.com/office/powerpoint/2010/main" val="2491137742"/>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Memory Hierarchy in CUDA Programs</a:t>
            </a:r>
          </a:p>
        </p:txBody>
      </p:sp>
      <p:pic>
        <p:nvPicPr>
          <p:cNvPr id="6" name="Imagen 5" descr="CUDA_progmodel.eps"/>
          <p:cNvPicPr>
            <a:picLocks noChangeAspect="1"/>
          </p:cNvPicPr>
          <p:nvPr/>
        </p:nvPicPr>
        <p:blipFill>
          <a:blip r:embed="rId2"/>
          <a:stretch>
            <a:fillRect/>
          </a:stretch>
        </p:blipFill>
        <p:spPr>
          <a:xfrm>
            <a:off x="1224518" y="1341288"/>
            <a:ext cx="6694965" cy="4680000"/>
          </a:xfrm>
          <a:prstGeom prst="rect">
            <a:avLst/>
          </a:prstGeom>
        </p:spPr>
      </p:pic>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19</a:t>
            </a:fld>
            <a:endParaRPr lang="en-US" altLang="en-US"/>
          </a:p>
        </p:txBody>
      </p:sp>
    </p:spTree>
    <p:extLst>
      <p:ext uri="{BB962C8B-B14F-4D97-AF65-F5344CB8AC3E}">
        <p14:creationId xmlns:p14="http://schemas.microsoft.com/office/powerpoint/2010/main" val="688094681"/>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Recall: Comparison of Memories</a:t>
            </a:r>
            <a:endParaRPr lang="en-US" dirty="0"/>
          </a:p>
        </p:txBody>
      </p:sp>
      <p:sp>
        <p:nvSpPr>
          <p:cNvPr id="4" name="Slide Number Placeholder 3"/>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574D81-B5DE-384D-B24B-566C679AE608}" type="slidenum">
              <a:rPr kumimoji="0" lang="en-US" sz="1600" b="0" i="0" u="none" strike="noStrike" kern="1200" cap="none" spc="0" normalizeH="0" baseline="0" noProof="0" smtClean="0">
                <a:ln>
                  <a:noFill/>
                </a:ln>
                <a:solidFill>
                  <a:srgbClr val="000000"/>
                </a:solidFill>
                <a:effectLst/>
                <a:uLnTx/>
                <a:uFillTx/>
                <a:latin typeface="Garamond" charset="0"/>
                <a:ea typeface="+mn-ea"/>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600" b="0" i="0" u="none" strike="noStrike" kern="1200" cap="none" spc="0" normalizeH="0" baseline="0" noProof="0">
              <a:ln>
                <a:noFill/>
              </a:ln>
              <a:solidFill>
                <a:srgbClr val="000000"/>
              </a:solidFill>
              <a:effectLst/>
              <a:uLnTx/>
              <a:uFillTx/>
              <a:latin typeface="Garamond" charset="0"/>
              <a:ea typeface="+mn-ea"/>
            </a:endParaRPr>
          </a:p>
        </p:txBody>
      </p:sp>
      <p:sp>
        <p:nvSpPr>
          <p:cNvPr id="10" name="等腰三角形 9">
            <a:extLst>
              <a:ext uri="{FF2B5EF4-FFF2-40B4-BE49-F238E27FC236}">
                <a16:creationId xmlns:a16="http://schemas.microsoft.com/office/drawing/2014/main" id="{5F6A812F-568A-4B3E-846B-9D79A29A29BB}"/>
              </a:ext>
            </a:extLst>
          </p:cNvPr>
          <p:cNvSpPr/>
          <p:nvPr/>
        </p:nvSpPr>
        <p:spPr bwMode="auto">
          <a:xfrm>
            <a:off x="76200" y="1524000"/>
            <a:ext cx="3064768" cy="2781300"/>
          </a:xfrm>
          <a:prstGeom prst="triangle">
            <a:avLst/>
          </a:prstGeom>
          <a:solidFill>
            <a:schemeClr val="bg1">
              <a:lumMod val="85000"/>
            </a:schemeClr>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itchFamily="34" charset="0"/>
            </a:endParaRPr>
          </a:p>
        </p:txBody>
      </p:sp>
      <p:cxnSp>
        <p:nvCxnSpPr>
          <p:cNvPr id="14" name="直接连接符 13">
            <a:extLst>
              <a:ext uri="{FF2B5EF4-FFF2-40B4-BE49-F238E27FC236}">
                <a16:creationId xmlns:a16="http://schemas.microsoft.com/office/drawing/2014/main" id="{809B4709-1C0A-4474-8305-EB80E30AB697}"/>
              </a:ext>
            </a:extLst>
          </p:cNvPr>
          <p:cNvCxnSpPr>
            <a:cxnSpLocks/>
          </p:cNvCxnSpPr>
          <p:nvPr/>
        </p:nvCxnSpPr>
        <p:spPr bwMode="auto">
          <a:xfrm>
            <a:off x="1117743" y="2402541"/>
            <a:ext cx="1015857" cy="0"/>
          </a:xfrm>
          <a:prstGeom prst="line">
            <a:avLst/>
          </a:prstGeom>
          <a:solidFill>
            <a:srgbClr val="C0C0C0"/>
          </a:solidFill>
          <a:ln w="19050" cap="flat" cmpd="sng" algn="ctr">
            <a:solidFill>
              <a:schemeClr val="tx1"/>
            </a:solidFill>
            <a:prstDash val="solid"/>
            <a:round/>
            <a:headEnd type="none" w="med" len="med"/>
            <a:tailEnd type="none" w="med" len="med"/>
          </a:ln>
          <a:effectLst/>
        </p:spPr>
      </p:cxnSp>
      <p:cxnSp>
        <p:nvCxnSpPr>
          <p:cNvPr id="15" name="直接连接符 14">
            <a:extLst>
              <a:ext uri="{FF2B5EF4-FFF2-40B4-BE49-F238E27FC236}">
                <a16:creationId xmlns:a16="http://schemas.microsoft.com/office/drawing/2014/main" id="{1E92D175-0254-4C08-8C18-11E204F651CB}"/>
              </a:ext>
            </a:extLst>
          </p:cNvPr>
          <p:cNvCxnSpPr>
            <a:cxnSpLocks/>
            <a:stCxn id="10" idx="1"/>
            <a:endCxn id="10" idx="5"/>
          </p:cNvCxnSpPr>
          <p:nvPr/>
        </p:nvCxnSpPr>
        <p:spPr bwMode="auto">
          <a:xfrm>
            <a:off x="842392" y="2914650"/>
            <a:ext cx="1532384" cy="0"/>
          </a:xfrm>
          <a:prstGeom prst="line">
            <a:avLst/>
          </a:prstGeom>
          <a:solidFill>
            <a:srgbClr val="C0C0C0"/>
          </a:solidFill>
          <a:ln w="19050" cap="flat" cmpd="sng" algn="ctr">
            <a:solidFill>
              <a:schemeClr val="tx1"/>
            </a:solidFill>
            <a:prstDash val="solid"/>
            <a:round/>
            <a:headEnd type="none" w="med" len="med"/>
            <a:tailEnd type="none" w="med" len="med"/>
          </a:ln>
          <a:effectLst/>
        </p:spPr>
      </p:cxnSp>
      <p:cxnSp>
        <p:nvCxnSpPr>
          <p:cNvPr id="18" name="直接连接符 17">
            <a:extLst>
              <a:ext uri="{FF2B5EF4-FFF2-40B4-BE49-F238E27FC236}">
                <a16:creationId xmlns:a16="http://schemas.microsoft.com/office/drawing/2014/main" id="{27A3096B-032F-42E9-B52B-7A44E431EEF9}"/>
              </a:ext>
            </a:extLst>
          </p:cNvPr>
          <p:cNvCxnSpPr>
            <a:cxnSpLocks/>
          </p:cNvCxnSpPr>
          <p:nvPr/>
        </p:nvCxnSpPr>
        <p:spPr bwMode="auto">
          <a:xfrm>
            <a:off x="557142" y="3393141"/>
            <a:ext cx="2109858" cy="0"/>
          </a:xfrm>
          <a:prstGeom prst="line">
            <a:avLst/>
          </a:prstGeom>
          <a:solidFill>
            <a:srgbClr val="C0C0C0"/>
          </a:solidFill>
          <a:ln w="19050" cap="flat" cmpd="sng" algn="ctr">
            <a:solidFill>
              <a:schemeClr val="tx1"/>
            </a:solidFill>
            <a:prstDash val="solid"/>
            <a:round/>
            <a:headEnd type="none" w="med" len="med"/>
            <a:tailEnd type="none" w="med" len="med"/>
          </a:ln>
          <a:effectLst/>
        </p:spPr>
      </p:cxnSp>
      <p:cxnSp>
        <p:nvCxnSpPr>
          <p:cNvPr id="20" name="直接连接符 19">
            <a:extLst>
              <a:ext uri="{FF2B5EF4-FFF2-40B4-BE49-F238E27FC236}">
                <a16:creationId xmlns:a16="http://schemas.microsoft.com/office/drawing/2014/main" id="{9B2E0894-CFE2-460D-9753-E75D250F3A66}"/>
              </a:ext>
            </a:extLst>
          </p:cNvPr>
          <p:cNvCxnSpPr>
            <a:cxnSpLocks/>
          </p:cNvCxnSpPr>
          <p:nvPr/>
        </p:nvCxnSpPr>
        <p:spPr bwMode="auto">
          <a:xfrm>
            <a:off x="316885" y="3850341"/>
            <a:ext cx="2578715" cy="0"/>
          </a:xfrm>
          <a:prstGeom prst="line">
            <a:avLst/>
          </a:prstGeom>
          <a:solidFill>
            <a:srgbClr val="C0C0C0"/>
          </a:solidFill>
          <a:ln w="19050" cap="flat" cmpd="sng" algn="ctr">
            <a:solidFill>
              <a:schemeClr val="tx1"/>
            </a:solidFill>
            <a:prstDash val="solid"/>
            <a:round/>
            <a:headEnd type="none" w="med" len="med"/>
            <a:tailEnd type="none" w="med" len="med"/>
          </a:ln>
          <a:effectLst/>
        </p:spPr>
      </p:cxnSp>
      <p:sp>
        <p:nvSpPr>
          <p:cNvPr id="29" name="文本框 28">
            <a:extLst>
              <a:ext uri="{FF2B5EF4-FFF2-40B4-BE49-F238E27FC236}">
                <a16:creationId xmlns:a16="http://schemas.microsoft.com/office/drawing/2014/main" id="{910E11CB-71C6-410B-846F-C382404DCE9D}"/>
              </a:ext>
            </a:extLst>
          </p:cNvPr>
          <p:cNvSpPr txBox="1"/>
          <p:nvPr/>
        </p:nvSpPr>
        <p:spPr>
          <a:xfrm>
            <a:off x="1191158" y="2031486"/>
            <a:ext cx="1127862" cy="369332"/>
          </a:xfrm>
          <a:prstGeom prst="rect">
            <a:avLst/>
          </a:prstGeom>
          <a:noFill/>
        </p:spPr>
        <p:txBody>
          <a:bodyPr wrap="square">
            <a:spAutoFit/>
          </a:bodyPr>
          <a:lstStyle/>
          <a:p>
            <a:r>
              <a:rPr lang="en-US" altLang="zh-CN" dirty="0">
                <a:solidFill>
                  <a:srgbClr val="C00000"/>
                </a:solidFill>
              </a:rPr>
              <a:t>SRAM</a:t>
            </a:r>
            <a:endParaRPr lang="zh-CN" altLang="en-US" dirty="0">
              <a:solidFill>
                <a:srgbClr val="C00000"/>
              </a:solidFill>
            </a:endParaRPr>
          </a:p>
        </p:txBody>
      </p:sp>
      <p:sp>
        <p:nvSpPr>
          <p:cNvPr id="30" name="文本框 29">
            <a:extLst>
              <a:ext uri="{FF2B5EF4-FFF2-40B4-BE49-F238E27FC236}">
                <a16:creationId xmlns:a16="http://schemas.microsoft.com/office/drawing/2014/main" id="{0FC63F57-3745-459C-AA72-9B0E4DD5276F}"/>
              </a:ext>
            </a:extLst>
          </p:cNvPr>
          <p:cNvSpPr txBox="1"/>
          <p:nvPr/>
        </p:nvSpPr>
        <p:spPr>
          <a:xfrm>
            <a:off x="1265964" y="2507272"/>
            <a:ext cx="1127862" cy="369332"/>
          </a:xfrm>
          <a:prstGeom prst="rect">
            <a:avLst/>
          </a:prstGeom>
          <a:noFill/>
        </p:spPr>
        <p:txBody>
          <a:bodyPr wrap="square">
            <a:spAutoFit/>
          </a:bodyPr>
          <a:lstStyle/>
          <a:p>
            <a:r>
              <a:rPr lang="en-US" altLang="zh-CN" dirty="0">
                <a:solidFill>
                  <a:schemeClr val="accent5">
                    <a:lumMod val="50000"/>
                  </a:schemeClr>
                </a:solidFill>
              </a:rPr>
              <a:t>HBM</a:t>
            </a:r>
            <a:endParaRPr lang="zh-CN" altLang="en-US" dirty="0">
              <a:solidFill>
                <a:schemeClr val="accent5">
                  <a:lumMod val="50000"/>
                </a:schemeClr>
              </a:solidFill>
            </a:endParaRPr>
          </a:p>
        </p:txBody>
      </p:sp>
      <p:sp>
        <p:nvSpPr>
          <p:cNvPr id="31" name="文本框 30">
            <a:extLst>
              <a:ext uri="{FF2B5EF4-FFF2-40B4-BE49-F238E27FC236}">
                <a16:creationId xmlns:a16="http://schemas.microsoft.com/office/drawing/2014/main" id="{1F854380-9197-491B-9236-413FC733ECDC}"/>
              </a:ext>
            </a:extLst>
          </p:cNvPr>
          <p:cNvSpPr txBox="1"/>
          <p:nvPr/>
        </p:nvSpPr>
        <p:spPr>
          <a:xfrm>
            <a:off x="1185540" y="2991452"/>
            <a:ext cx="1127862" cy="369332"/>
          </a:xfrm>
          <a:prstGeom prst="rect">
            <a:avLst/>
          </a:prstGeom>
          <a:noFill/>
        </p:spPr>
        <p:txBody>
          <a:bodyPr wrap="square">
            <a:spAutoFit/>
          </a:bodyPr>
          <a:lstStyle/>
          <a:p>
            <a:r>
              <a:rPr lang="en-US" altLang="zh-CN" dirty="0">
                <a:solidFill>
                  <a:srgbClr val="00B050"/>
                </a:solidFill>
              </a:rPr>
              <a:t>DDR</a:t>
            </a:r>
            <a:endParaRPr lang="zh-CN" altLang="en-US" dirty="0">
              <a:solidFill>
                <a:srgbClr val="00B050"/>
              </a:solidFill>
            </a:endParaRPr>
          </a:p>
        </p:txBody>
      </p:sp>
      <p:sp>
        <p:nvSpPr>
          <p:cNvPr id="32" name="文本框 31">
            <a:extLst>
              <a:ext uri="{FF2B5EF4-FFF2-40B4-BE49-F238E27FC236}">
                <a16:creationId xmlns:a16="http://schemas.microsoft.com/office/drawing/2014/main" id="{3612223D-AF90-45E1-8FF9-B461C3D1206E}"/>
              </a:ext>
            </a:extLst>
          </p:cNvPr>
          <p:cNvSpPr txBox="1"/>
          <p:nvPr/>
        </p:nvSpPr>
        <p:spPr>
          <a:xfrm>
            <a:off x="1265964" y="3473857"/>
            <a:ext cx="1127862" cy="369332"/>
          </a:xfrm>
          <a:prstGeom prst="rect">
            <a:avLst/>
          </a:prstGeom>
          <a:noFill/>
        </p:spPr>
        <p:txBody>
          <a:bodyPr wrap="square">
            <a:spAutoFit/>
          </a:bodyPr>
          <a:lstStyle/>
          <a:p>
            <a:r>
              <a:rPr lang="en-US" altLang="zh-CN" dirty="0">
                <a:solidFill>
                  <a:srgbClr val="00B0F0"/>
                </a:solidFill>
              </a:rPr>
              <a:t>SSD</a:t>
            </a:r>
            <a:endParaRPr lang="zh-CN" altLang="en-US" dirty="0">
              <a:solidFill>
                <a:srgbClr val="00B0F0"/>
              </a:solidFill>
            </a:endParaRPr>
          </a:p>
        </p:txBody>
      </p:sp>
      <p:sp>
        <p:nvSpPr>
          <p:cNvPr id="33" name="文本框 32">
            <a:extLst>
              <a:ext uri="{FF2B5EF4-FFF2-40B4-BE49-F238E27FC236}">
                <a16:creationId xmlns:a16="http://schemas.microsoft.com/office/drawing/2014/main" id="{1E6CA995-4C05-4B2F-926D-35FD1B22407F}"/>
              </a:ext>
            </a:extLst>
          </p:cNvPr>
          <p:cNvSpPr txBox="1"/>
          <p:nvPr/>
        </p:nvSpPr>
        <p:spPr>
          <a:xfrm>
            <a:off x="1251565" y="3950390"/>
            <a:ext cx="1127862" cy="369332"/>
          </a:xfrm>
          <a:prstGeom prst="rect">
            <a:avLst/>
          </a:prstGeom>
          <a:noFill/>
        </p:spPr>
        <p:txBody>
          <a:bodyPr wrap="square">
            <a:spAutoFit/>
          </a:bodyPr>
          <a:lstStyle/>
          <a:p>
            <a:r>
              <a:rPr lang="en-US" altLang="zh-CN" dirty="0">
                <a:solidFill>
                  <a:srgbClr val="0070C0"/>
                </a:solidFill>
              </a:rPr>
              <a:t>DISK</a:t>
            </a:r>
            <a:endParaRPr lang="zh-CN" altLang="en-US" dirty="0">
              <a:solidFill>
                <a:srgbClr val="0070C0"/>
              </a:solidFill>
            </a:endParaRPr>
          </a:p>
        </p:txBody>
      </p:sp>
      <p:sp>
        <p:nvSpPr>
          <p:cNvPr id="34" name="文本框 33">
            <a:extLst>
              <a:ext uri="{FF2B5EF4-FFF2-40B4-BE49-F238E27FC236}">
                <a16:creationId xmlns:a16="http://schemas.microsoft.com/office/drawing/2014/main" id="{57853F92-EE6D-4EC8-AA28-161B55F8AEDE}"/>
              </a:ext>
            </a:extLst>
          </p:cNvPr>
          <p:cNvSpPr txBox="1"/>
          <p:nvPr/>
        </p:nvSpPr>
        <p:spPr>
          <a:xfrm>
            <a:off x="1065202" y="974770"/>
            <a:ext cx="1248200" cy="369332"/>
          </a:xfrm>
          <a:prstGeom prst="rect">
            <a:avLst/>
          </a:prstGeom>
          <a:noFill/>
        </p:spPr>
        <p:txBody>
          <a:bodyPr wrap="square">
            <a:spAutoFit/>
          </a:bodyPr>
          <a:lstStyle/>
          <a:p>
            <a:r>
              <a:rPr lang="en-US" altLang="zh-CN" b="1" dirty="0"/>
              <a:t>Capacity</a:t>
            </a:r>
            <a:endParaRPr lang="zh-CN" altLang="en-US" b="1" dirty="0"/>
          </a:p>
        </p:txBody>
      </p:sp>
      <p:grpSp>
        <p:nvGrpSpPr>
          <p:cNvPr id="46" name="组合 45">
            <a:extLst>
              <a:ext uri="{FF2B5EF4-FFF2-40B4-BE49-F238E27FC236}">
                <a16:creationId xmlns:a16="http://schemas.microsoft.com/office/drawing/2014/main" id="{18ED40BE-1E8D-4913-9285-FBA3662902EC}"/>
              </a:ext>
            </a:extLst>
          </p:cNvPr>
          <p:cNvGrpSpPr/>
          <p:nvPr/>
        </p:nvGrpSpPr>
        <p:grpSpPr>
          <a:xfrm>
            <a:off x="5701672" y="992209"/>
            <a:ext cx="3064768" cy="3330633"/>
            <a:chOff x="3274060" y="634497"/>
            <a:chExt cx="2988568" cy="3421883"/>
          </a:xfrm>
        </p:grpSpPr>
        <p:sp>
          <p:nvSpPr>
            <p:cNvPr id="35" name="等腰三角形 34">
              <a:extLst>
                <a:ext uri="{FF2B5EF4-FFF2-40B4-BE49-F238E27FC236}">
                  <a16:creationId xmlns:a16="http://schemas.microsoft.com/office/drawing/2014/main" id="{38C76295-E38B-4188-919F-58252740A663}"/>
                </a:ext>
              </a:extLst>
            </p:cNvPr>
            <p:cNvSpPr/>
            <p:nvPr/>
          </p:nvSpPr>
          <p:spPr bwMode="auto">
            <a:xfrm>
              <a:off x="3274060" y="1198880"/>
              <a:ext cx="2988568" cy="2857500"/>
            </a:xfrm>
            <a:prstGeom prst="triangle">
              <a:avLst/>
            </a:prstGeom>
            <a:solidFill>
              <a:schemeClr val="bg1">
                <a:lumMod val="85000"/>
              </a:schemeClr>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itchFamily="34" charset="0"/>
              </a:endParaRPr>
            </a:p>
          </p:txBody>
        </p:sp>
        <p:cxnSp>
          <p:nvCxnSpPr>
            <p:cNvPr id="36" name="直接连接符 35">
              <a:extLst>
                <a:ext uri="{FF2B5EF4-FFF2-40B4-BE49-F238E27FC236}">
                  <a16:creationId xmlns:a16="http://schemas.microsoft.com/office/drawing/2014/main" id="{C8305ABD-BCE1-470A-B82D-03F9784CCA08}"/>
                </a:ext>
              </a:extLst>
            </p:cNvPr>
            <p:cNvCxnSpPr>
              <a:cxnSpLocks/>
            </p:cNvCxnSpPr>
            <p:nvPr/>
          </p:nvCxnSpPr>
          <p:spPr bwMode="auto">
            <a:xfrm>
              <a:off x="4264660" y="2153621"/>
              <a:ext cx="990600" cy="0"/>
            </a:xfrm>
            <a:prstGeom prst="line">
              <a:avLst/>
            </a:prstGeom>
            <a:solidFill>
              <a:srgbClr val="C0C0C0"/>
            </a:solidFill>
            <a:ln w="19050" cap="flat" cmpd="sng" algn="ctr">
              <a:solidFill>
                <a:schemeClr val="tx1"/>
              </a:solidFill>
              <a:prstDash val="solid"/>
              <a:round/>
              <a:headEnd type="none" w="med" len="med"/>
              <a:tailEnd type="none" w="med" len="med"/>
            </a:ln>
            <a:effectLst/>
          </p:spPr>
        </p:cxnSp>
        <p:cxnSp>
          <p:nvCxnSpPr>
            <p:cNvPr id="37" name="直接连接符 36">
              <a:extLst>
                <a:ext uri="{FF2B5EF4-FFF2-40B4-BE49-F238E27FC236}">
                  <a16:creationId xmlns:a16="http://schemas.microsoft.com/office/drawing/2014/main" id="{9C664718-B3DD-498B-B3DC-6DEF952A35B1}"/>
                </a:ext>
              </a:extLst>
            </p:cNvPr>
            <p:cNvCxnSpPr>
              <a:cxnSpLocks/>
              <a:stCxn id="35" idx="1"/>
              <a:endCxn id="35" idx="5"/>
            </p:cNvCxnSpPr>
            <p:nvPr/>
          </p:nvCxnSpPr>
          <p:spPr bwMode="auto">
            <a:xfrm>
              <a:off x="4021202" y="2627630"/>
              <a:ext cx="1494284" cy="0"/>
            </a:xfrm>
            <a:prstGeom prst="line">
              <a:avLst/>
            </a:prstGeom>
            <a:solidFill>
              <a:srgbClr val="C0C0C0"/>
            </a:solidFill>
            <a:ln w="19050" cap="flat" cmpd="sng" algn="ctr">
              <a:solidFill>
                <a:schemeClr val="tx1"/>
              </a:solidFill>
              <a:prstDash val="solid"/>
              <a:round/>
              <a:headEnd type="none" w="med" len="med"/>
              <a:tailEnd type="none" w="med" len="med"/>
            </a:ln>
            <a:effectLst/>
          </p:spPr>
        </p:cxnSp>
        <p:cxnSp>
          <p:nvCxnSpPr>
            <p:cNvPr id="38" name="直接连接符 37">
              <a:extLst>
                <a:ext uri="{FF2B5EF4-FFF2-40B4-BE49-F238E27FC236}">
                  <a16:creationId xmlns:a16="http://schemas.microsoft.com/office/drawing/2014/main" id="{8991B51B-922B-4AE3-A70B-FB1466D25279}"/>
                </a:ext>
              </a:extLst>
            </p:cNvPr>
            <p:cNvCxnSpPr>
              <a:cxnSpLocks/>
            </p:cNvCxnSpPr>
            <p:nvPr/>
          </p:nvCxnSpPr>
          <p:spPr bwMode="auto">
            <a:xfrm>
              <a:off x="3731260" y="3144221"/>
              <a:ext cx="2057400" cy="0"/>
            </a:xfrm>
            <a:prstGeom prst="line">
              <a:avLst/>
            </a:prstGeom>
            <a:solidFill>
              <a:srgbClr val="C0C0C0"/>
            </a:solidFill>
            <a:ln w="19050" cap="flat" cmpd="sng" algn="ctr">
              <a:solidFill>
                <a:schemeClr val="tx1"/>
              </a:solidFill>
              <a:prstDash val="solid"/>
              <a:round/>
              <a:headEnd type="none" w="med" len="med"/>
              <a:tailEnd type="none" w="med" len="med"/>
            </a:ln>
            <a:effectLst/>
          </p:spPr>
        </p:cxnSp>
        <p:cxnSp>
          <p:nvCxnSpPr>
            <p:cNvPr id="39" name="直接连接符 38">
              <a:extLst>
                <a:ext uri="{FF2B5EF4-FFF2-40B4-BE49-F238E27FC236}">
                  <a16:creationId xmlns:a16="http://schemas.microsoft.com/office/drawing/2014/main" id="{0C7CA705-BF89-410B-A32A-06F5627C389D}"/>
                </a:ext>
              </a:extLst>
            </p:cNvPr>
            <p:cNvCxnSpPr>
              <a:cxnSpLocks/>
            </p:cNvCxnSpPr>
            <p:nvPr/>
          </p:nvCxnSpPr>
          <p:spPr bwMode="auto">
            <a:xfrm>
              <a:off x="3502660" y="3601421"/>
              <a:ext cx="2514600" cy="0"/>
            </a:xfrm>
            <a:prstGeom prst="line">
              <a:avLst/>
            </a:prstGeom>
            <a:solidFill>
              <a:srgbClr val="C0C0C0"/>
            </a:solidFill>
            <a:ln w="19050" cap="flat" cmpd="sng" algn="ctr">
              <a:solidFill>
                <a:schemeClr val="tx1"/>
              </a:solidFill>
              <a:prstDash val="solid"/>
              <a:round/>
              <a:headEnd type="none" w="med" len="med"/>
              <a:tailEnd type="none" w="med" len="med"/>
            </a:ln>
            <a:effectLst/>
          </p:spPr>
        </p:cxnSp>
        <p:sp>
          <p:nvSpPr>
            <p:cNvPr id="40" name="文本框 39">
              <a:extLst>
                <a:ext uri="{FF2B5EF4-FFF2-40B4-BE49-F238E27FC236}">
                  <a16:creationId xmlns:a16="http://schemas.microsoft.com/office/drawing/2014/main" id="{8AB06B47-159D-40F6-849C-D218CC69BE0A}"/>
                </a:ext>
              </a:extLst>
            </p:cNvPr>
            <p:cNvSpPr txBox="1"/>
            <p:nvPr/>
          </p:nvSpPr>
          <p:spPr>
            <a:xfrm>
              <a:off x="4340860" y="1772718"/>
              <a:ext cx="1099820" cy="369332"/>
            </a:xfrm>
            <a:prstGeom prst="rect">
              <a:avLst/>
            </a:prstGeom>
            <a:noFill/>
          </p:spPr>
          <p:txBody>
            <a:bodyPr wrap="square">
              <a:spAutoFit/>
            </a:bodyPr>
            <a:lstStyle/>
            <a:p>
              <a:r>
                <a:rPr lang="en-US" altLang="zh-CN" dirty="0">
                  <a:solidFill>
                    <a:srgbClr val="0070C0"/>
                  </a:solidFill>
                </a:rPr>
                <a:t>SRAM</a:t>
              </a:r>
              <a:endParaRPr lang="zh-CN" altLang="en-US" dirty="0">
                <a:solidFill>
                  <a:srgbClr val="0070C0"/>
                </a:solidFill>
              </a:endParaRPr>
            </a:p>
          </p:txBody>
        </p:sp>
        <p:sp>
          <p:nvSpPr>
            <p:cNvPr id="41" name="文本框 40">
              <a:extLst>
                <a:ext uri="{FF2B5EF4-FFF2-40B4-BE49-F238E27FC236}">
                  <a16:creationId xmlns:a16="http://schemas.microsoft.com/office/drawing/2014/main" id="{E16E54CD-0EA7-4249-AD2E-F5648FD0A4CC}"/>
                </a:ext>
              </a:extLst>
            </p:cNvPr>
            <p:cNvSpPr txBox="1"/>
            <p:nvPr/>
          </p:nvSpPr>
          <p:spPr>
            <a:xfrm>
              <a:off x="4415666" y="2258298"/>
              <a:ext cx="1099820" cy="369332"/>
            </a:xfrm>
            <a:prstGeom prst="rect">
              <a:avLst/>
            </a:prstGeom>
            <a:noFill/>
          </p:spPr>
          <p:txBody>
            <a:bodyPr wrap="square">
              <a:spAutoFit/>
            </a:bodyPr>
            <a:lstStyle/>
            <a:p>
              <a:r>
                <a:rPr lang="en-US" altLang="zh-CN" dirty="0">
                  <a:solidFill>
                    <a:srgbClr val="00B0F0"/>
                  </a:solidFill>
                </a:rPr>
                <a:t>HBM</a:t>
              </a:r>
              <a:endParaRPr lang="zh-CN" altLang="en-US" dirty="0">
                <a:solidFill>
                  <a:srgbClr val="00B0F0"/>
                </a:solidFill>
              </a:endParaRPr>
            </a:p>
          </p:txBody>
        </p:sp>
        <p:sp>
          <p:nvSpPr>
            <p:cNvPr id="42" name="文本框 41">
              <a:extLst>
                <a:ext uri="{FF2B5EF4-FFF2-40B4-BE49-F238E27FC236}">
                  <a16:creationId xmlns:a16="http://schemas.microsoft.com/office/drawing/2014/main" id="{D1A3D8A8-44C0-4AE9-AEEC-F6D78A4167AC}"/>
                </a:ext>
              </a:extLst>
            </p:cNvPr>
            <p:cNvSpPr txBox="1"/>
            <p:nvPr/>
          </p:nvSpPr>
          <p:spPr>
            <a:xfrm>
              <a:off x="4335780" y="2746392"/>
              <a:ext cx="1099820" cy="379451"/>
            </a:xfrm>
            <a:prstGeom prst="rect">
              <a:avLst/>
            </a:prstGeom>
            <a:noFill/>
          </p:spPr>
          <p:txBody>
            <a:bodyPr wrap="square">
              <a:spAutoFit/>
            </a:bodyPr>
            <a:lstStyle/>
            <a:p>
              <a:r>
                <a:rPr lang="en-US" altLang="zh-CN" dirty="0">
                  <a:solidFill>
                    <a:srgbClr val="00B050"/>
                  </a:solidFill>
                </a:rPr>
                <a:t>DDR</a:t>
              </a:r>
              <a:endParaRPr lang="zh-CN" altLang="en-US" dirty="0">
                <a:solidFill>
                  <a:srgbClr val="00B050"/>
                </a:solidFill>
              </a:endParaRPr>
            </a:p>
          </p:txBody>
        </p:sp>
        <p:sp>
          <p:nvSpPr>
            <p:cNvPr id="43" name="文本框 42">
              <a:extLst>
                <a:ext uri="{FF2B5EF4-FFF2-40B4-BE49-F238E27FC236}">
                  <a16:creationId xmlns:a16="http://schemas.microsoft.com/office/drawing/2014/main" id="{12F50EF0-825F-4EA2-9590-73269C1FA6F0}"/>
                </a:ext>
              </a:extLst>
            </p:cNvPr>
            <p:cNvSpPr txBox="1"/>
            <p:nvPr/>
          </p:nvSpPr>
          <p:spPr>
            <a:xfrm>
              <a:off x="4408707" y="3211515"/>
              <a:ext cx="1099820" cy="369332"/>
            </a:xfrm>
            <a:prstGeom prst="rect">
              <a:avLst/>
            </a:prstGeom>
            <a:noFill/>
          </p:spPr>
          <p:txBody>
            <a:bodyPr wrap="square">
              <a:spAutoFit/>
            </a:bodyPr>
            <a:lstStyle/>
            <a:p>
              <a:r>
                <a:rPr lang="en-US" altLang="zh-CN" dirty="0">
                  <a:solidFill>
                    <a:srgbClr val="9A7542"/>
                  </a:solidFill>
                </a:rPr>
                <a:t>SSD</a:t>
              </a:r>
              <a:endParaRPr lang="zh-CN" altLang="en-US" dirty="0">
                <a:solidFill>
                  <a:srgbClr val="9A7542"/>
                </a:solidFill>
              </a:endParaRPr>
            </a:p>
          </p:txBody>
        </p:sp>
        <p:sp>
          <p:nvSpPr>
            <p:cNvPr id="44" name="文本框 43">
              <a:extLst>
                <a:ext uri="{FF2B5EF4-FFF2-40B4-BE49-F238E27FC236}">
                  <a16:creationId xmlns:a16="http://schemas.microsoft.com/office/drawing/2014/main" id="{5D6C3BAE-DED4-4F01-8605-856EC6AD6576}"/>
                </a:ext>
              </a:extLst>
            </p:cNvPr>
            <p:cNvSpPr txBox="1"/>
            <p:nvPr/>
          </p:nvSpPr>
          <p:spPr>
            <a:xfrm>
              <a:off x="4371753" y="3684348"/>
              <a:ext cx="1099820" cy="369332"/>
            </a:xfrm>
            <a:prstGeom prst="rect">
              <a:avLst/>
            </a:prstGeom>
            <a:noFill/>
          </p:spPr>
          <p:txBody>
            <a:bodyPr wrap="square">
              <a:spAutoFit/>
            </a:bodyPr>
            <a:lstStyle/>
            <a:p>
              <a:r>
                <a:rPr lang="en-US" altLang="zh-CN" dirty="0">
                  <a:solidFill>
                    <a:srgbClr val="C63535"/>
                  </a:solidFill>
                </a:rPr>
                <a:t>DISK</a:t>
              </a:r>
              <a:endParaRPr lang="zh-CN" altLang="en-US" dirty="0">
                <a:solidFill>
                  <a:srgbClr val="C63535"/>
                </a:solidFill>
              </a:endParaRPr>
            </a:p>
          </p:txBody>
        </p:sp>
        <p:sp>
          <p:nvSpPr>
            <p:cNvPr id="45" name="文本框 44">
              <a:extLst>
                <a:ext uri="{FF2B5EF4-FFF2-40B4-BE49-F238E27FC236}">
                  <a16:creationId xmlns:a16="http://schemas.microsoft.com/office/drawing/2014/main" id="{2EF5488A-9EA7-4064-8238-08B633EF3C0F}"/>
                </a:ext>
              </a:extLst>
            </p:cNvPr>
            <p:cNvSpPr txBox="1"/>
            <p:nvPr/>
          </p:nvSpPr>
          <p:spPr>
            <a:xfrm>
              <a:off x="4254407" y="634497"/>
              <a:ext cx="1217166" cy="369332"/>
            </a:xfrm>
            <a:prstGeom prst="rect">
              <a:avLst/>
            </a:prstGeom>
            <a:noFill/>
          </p:spPr>
          <p:txBody>
            <a:bodyPr wrap="square">
              <a:spAutoFit/>
            </a:bodyPr>
            <a:lstStyle/>
            <a:p>
              <a:r>
                <a:rPr lang="en-US" altLang="zh-CN" b="1" dirty="0"/>
                <a:t>Latency</a:t>
              </a:r>
              <a:endParaRPr lang="zh-CN" altLang="en-US" b="1" dirty="0"/>
            </a:p>
          </p:txBody>
        </p:sp>
      </p:grpSp>
      <p:sp>
        <p:nvSpPr>
          <p:cNvPr id="58" name="文本框 57">
            <a:extLst>
              <a:ext uri="{FF2B5EF4-FFF2-40B4-BE49-F238E27FC236}">
                <a16:creationId xmlns:a16="http://schemas.microsoft.com/office/drawing/2014/main" id="{493B04EB-CDFA-43B1-806D-B02D9A303038}"/>
              </a:ext>
            </a:extLst>
          </p:cNvPr>
          <p:cNvSpPr txBox="1"/>
          <p:nvPr/>
        </p:nvSpPr>
        <p:spPr>
          <a:xfrm>
            <a:off x="3845655" y="988311"/>
            <a:ext cx="1393029" cy="369332"/>
          </a:xfrm>
          <a:prstGeom prst="rect">
            <a:avLst/>
          </a:prstGeom>
          <a:noFill/>
        </p:spPr>
        <p:txBody>
          <a:bodyPr wrap="square">
            <a:spAutoFit/>
          </a:bodyPr>
          <a:lstStyle/>
          <a:p>
            <a:r>
              <a:rPr lang="en-US" altLang="zh-CN" b="1" dirty="0"/>
              <a:t>Bandwidth</a:t>
            </a:r>
            <a:endParaRPr lang="zh-CN" altLang="en-US" b="1" dirty="0"/>
          </a:p>
        </p:txBody>
      </p:sp>
      <p:sp>
        <p:nvSpPr>
          <p:cNvPr id="59" name="文本框 58">
            <a:extLst>
              <a:ext uri="{FF2B5EF4-FFF2-40B4-BE49-F238E27FC236}">
                <a16:creationId xmlns:a16="http://schemas.microsoft.com/office/drawing/2014/main" id="{3998BFCA-2D8D-43E4-9038-7C9AF16A3941}"/>
              </a:ext>
            </a:extLst>
          </p:cNvPr>
          <p:cNvSpPr txBox="1"/>
          <p:nvPr/>
        </p:nvSpPr>
        <p:spPr>
          <a:xfrm>
            <a:off x="2081467" y="2115154"/>
            <a:ext cx="807245" cy="276999"/>
          </a:xfrm>
          <a:prstGeom prst="rect">
            <a:avLst/>
          </a:prstGeom>
          <a:noFill/>
        </p:spPr>
        <p:txBody>
          <a:bodyPr wrap="square">
            <a:spAutoFit/>
          </a:bodyPr>
          <a:lstStyle/>
          <a:p>
            <a:r>
              <a:rPr lang="en-US" altLang="zh-CN" sz="1200" dirty="0">
                <a:solidFill>
                  <a:srgbClr val="C00000"/>
                </a:solidFill>
              </a:rPr>
              <a:t>~10MB</a:t>
            </a:r>
            <a:endParaRPr lang="zh-CN" altLang="en-US" sz="1200" dirty="0">
              <a:solidFill>
                <a:srgbClr val="C00000"/>
              </a:solidFill>
            </a:endParaRPr>
          </a:p>
        </p:txBody>
      </p:sp>
      <p:sp>
        <p:nvSpPr>
          <p:cNvPr id="60" name="文本框 59">
            <a:extLst>
              <a:ext uri="{FF2B5EF4-FFF2-40B4-BE49-F238E27FC236}">
                <a16:creationId xmlns:a16="http://schemas.microsoft.com/office/drawing/2014/main" id="{96F25C75-BF50-4F11-93A0-DF21152F68E6}"/>
              </a:ext>
            </a:extLst>
          </p:cNvPr>
          <p:cNvSpPr txBox="1"/>
          <p:nvPr/>
        </p:nvSpPr>
        <p:spPr>
          <a:xfrm>
            <a:off x="2250673" y="2525736"/>
            <a:ext cx="812454" cy="276999"/>
          </a:xfrm>
          <a:prstGeom prst="rect">
            <a:avLst/>
          </a:prstGeom>
          <a:noFill/>
        </p:spPr>
        <p:txBody>
          <a:bodyPr wrap="square">
            <a:spAutoFit/>
          </a:bodyPr>
          <a:lstStyle/>
          <a:p>
            <a:r>
              <a:rPr lang="en-US" altLang="zh-CN" sz="1200" dirty="0">
                <a:solidFill>
                  <a:srgbClr val="946A32"/>
                </a:solidFill>
              </a:rPr>
              <a:t>~10GB</a:t>
            </a:r>
            <a:endParaRPr lang="zh-CN" altLang="en-US" sz="1400" dirty="0">
              <a:solidFill>
                <a:srgbClr val="946A32"/>
              </a:solidFill>
            </a:endParaRPr>
          </a:p>
        </p:txBody>
      </p:sp>
      <p:sp>
        <p:nvSpPr>
          <p:cNvPr id="61" name="文本框 60">
            <a:extLst>
              <a:ext uri="{FF2B5EF4-FFF2-40B4-BE49-F238E27FC236}">
                <a16:creationId xmlns:a16="http://schemas.microsoft.com/office/drawing/2014/main" id="{FED45C66-07A6-4A05-BD90-7566D742875D}"/>
              </a:ext>
            </a:extLst>
          </p:cNvPr>
          <p:cNvSpPr txBox="1"/>
          <p:nvPr/>
        </p:nvSpPr>
        <p:spPr>
          <a:xfrm>
            <a:off x="2459298" y="3048865"/>
            <a:ext cx="931639" cy="276999"/>
          </a:xfrm>
          <a:prstGeom prst="rect">
            <a:avLst/>
          </a:prstGeom>
          <a:noFill/>
        </p:spPr>
        <p:txBody>
          <a:bodyPr wrap="square">
            <a:spAutoFit/>
          </a:bodyPr>
          <a:lstStyle/>
          <a:p>
            <a:r>
              <a:rPr lang="en-US" altLang="zh-CN" sz="1200" dirty="0">
                <a:solidFill>
                  <a:srgbClr val="00B050"/>
                </a:solidFill>
              </a:rPr>
              <a:t>~100GB</a:t>
            </a:r>
            <a:endParaRPr lang="zh-CN" altLang="en-US" sz="1400" dirty="0">
              <a:solidFill>
                <a:srgbClr val="00B050"/>
              </a:solidFill>
            </a:endParaRPr>
          </a:p>
        </p:txBody>
      </p:sp>
      <p:sp>
        <p:nvSpPr>
          <p:cNvPr id="62" name="文本框 61">
            <a:extLst>
              <a:ext uri="{FF2B5EF4-FFF2-40B4-BE49-F238E27FC236}">
                <a16:creationId xmlns:a16="http://schemas.microsoft.com/office/drawing/2014/main" id="{85950DE0-E0E7-40C4-AED5-E4719A7E88E8}"/>
              </a:ext>
            </a:extLst>
          </p:cNvPr>
          <p:cNvSpPr txBox="1"/>
          <p:nvPr/>
        </p:nvSpPr>
        <p:spPr>
          <a:xfrm>
            <a:off x="2740200" y="3513997"/>
            <a:ext cx="874965" cy="276945"/>
          </a:xfrm>
          <a:prstGeom prst="rect">
            <a:avLst/>
          </a:prstGeom>
          <a:noFill/>
        </p:spPr>
        <p:txBody>
          <a:bodyPr wrap="square">
            <a:spAutoFit/>
          </a:bodyPr>
          <a:lstStyle/>
          <a:p>
            <a:r>
              <a:rPr lang="en-US" altLang="zh-CN" sz="1200" dirty="0">
                <a:solidFill>
                  <a:srgbClr val="00B0F0"/>
                </a:solidFill>
              </a:rPr>
              <a:t>~1TB</a:t>
            </a:r>
            <a:endParaRPr lang="zh-CN" altLang="en-US" sz="1400" dirty="0">
              <a:solidFill>
                <a:srgbClr val="00B0F0"/>
              </a:solidFill>
            </a:endParaRPr>
          </a:p>
        </p:txBody>
      </p:sp>
      <p:sp>
        <p:nvSpPr>
          <p:cNvPr id="63" name="文本框 62">
            <a:extLst>
              <a:ext uri="{FF2B5EF4-FFF2-40B4-BE49-F238E27FC236}">
                <a16:creationId xmlns:a16="http://schemas.microsoft.com/office/drawing/2014/main" id="{D9573C6D-4F0E-471D-8EA4-5B3F885B72E6}"/>
              </a:ext>
            </a:extLst>
          </p:cNvPr>
          <p:cNvSpPr txBox="1"/>
          <p:nvPr/>
        </p:nvSpPr>
        <p:spPr>
          <a:xfrm>
            <a:off x="2967544" y="3938792"/>
            <a:ext cx="948170" cy="276999"/>
          </a:xfrm>
          <a:prstGeom prst="rect">
            <a:avLst/>
          </a:prstGeom>
          <a:noFill/>
        </p:spPr>
        <p:txBody>
          <a:bodyPr wrap="square">
            <a:spAutoFit/>
          </a:bodyPr>
          <a:lstStyle/>
          <a:p>
            <a:r>
              <a:rPr lang="en-US" altLang="zh-CN" sz="1200" dirty="0">
                <a:solidFill>
                  <a:srgbClr val="0070C0"/>
                </a:solidFill>
              </a:rPr>
              <a:t>~10TB</a:t>
            </a:r>
            <a:endParaRPr lang="zh-CN" altLang="en-US" sz="1400" dirty="0">
              <a:solidFill>
                <a:srgbClr val="0070C0"/>
              </a:solidFill>
            </a:endParaRPr>
          </a:p>
        </p:txBody>
      </p:sp>
      <p:sp>
        <p:nvSpPr>
          <p:cNvPr id="64" name="文本框 63">
            <a:extLst>
              <a:ext uri="{FF2B5EF4-FFF2-40B4-BE49-F238E27FC236}">
                <a16:creationId xmlns:a16="http://schemas.microsoft.com/office/drawing/2014/main" id="{B802552A-94A9-48D5-B80F-837A302A1D6A}"/>
              </a:ext>
            </a:extLst>
          </p:cNvPr>
          <p:cNvSpPr txBox="1"/>
          <p:nvPr/>
        </p:nvSpPr>
        <p:spPr>
          <a:xfrm>
            <a:off x="7630675" y="2162421"/>
            <a:ext cx="687658" cy="276999"/>
          </a:xfrm>
          <a:prstGeom prst="rect">
            <a:avLst/>
          </a:prstGeom>
          <a:noFill/>
        </p:spPr>
        <p:txBody>
          <a:bodyPr wrap="square">
            <a:spAutoFit/>
          </a:bodyPr>
          <a:lstStyle/>
          <a:p>
            <a:r>
              <a:rPr lang="en-US" altLang="zh-CN" sz="1200" dirty="0">
                <a:solidFill>
                  <a:srgbClr val="0070C0"/>
                </a:solidFill>
              </a:rPr>
              <a:t>~1ns</a:t>
            </a:r>
            <a:endParaRPr lang="zh-CN" altLang="en-US" sz="1200" dirty="0">
              <a:solidFill>
                <a:srgbClr val="0070C0"/>
              </a:solidFill>
            </a:endParaRPr>
          </a:p>
        </p:txBody>
      </p:sp>
      <p:sp>
        <p:nvSpPr>
          <p:cNvPr id="65" name="文本框 64">
            <a:extLst>
              <a:ext uri="{FF2B5EF4-FFF2-40B4-BE49-F238E27FC236}">
                <a16:creationId xmlns:a16="http://schemas.microsoft.com/office/drawing/2014/main" id="{7DA22A49-A189-4C28-B3CF-25A3375AE825}"/>
              </a:ext>
            </a:extLst>
          </p:cNvPr>
          <p:cNvSpPr txBox="1"/>
          <p:nvPr/>
        </p:nvSpPr>
        <p:spPr>
          <a:xfrm>
            <a:off x="7844486" y="2588548"/>
            <a:ext cx="820009" cy="276999"/>
          </a:xfrm>
          <a:prstGeom prst="rect">
            <a:avLst/>
          </a:prstGeom>
          <a:noFill/>
        </p:spPr>
        <p:txBody>
          <a:bodyPr wrap="square">
            <a:spAutoFit/>
          </a:bodyPr>
          <a:lstStyle/>
          <a:p>
            <a:r>
              <a:rPr lang="en-US" altLang="zh-CN" sz="1200" dirty="0">
                <a:solidFill>
                  <a:srgbClr val="00B0F0"/>
                </a:solidFill>
              </a:rPr>
              <a:t>~100ns</a:t>
            </a:r>
            <a:endParaRPr lang="zh-CN" altLang="en-US" sz="1200" dirty="0">
              <a:solidFill>
                <a:srgbClr val="00B0F0"/>
              </a:solidFill>
            </a:endParaRPr>
          </a:p>
        </p:txBody>
      </p:sp>
      <p:sp>
        <p:nvSpPr>
          <p:cNvPr id="66" name="文本框 65">
            <a:extLst>
              <a:ext uri="{FF2B5EF4-FFF2-40B4-BE49-F238E27FC236}">
                <a16:creationId xmlns:a16="http://schemas.microsoft.com/office/drawing/2014/main" id="{4BE7BC18-73F8-40C8-B0C1-BDF7D9780D91}"/>
              </a:ext>
            </a:extLst>
          </p:cNvPr>
          <p:cNvSpPr txBox="1"/>
          <p:nvPr/>
        </p:nvSpPr>
        <p:spPr>
          <a:xfrm>
            <a:off x="8109722" y="3074608"/>
            <a:ext cx="873345" cy="276999"/>
          </a:xfrm>
          <a:prstGeom prst="rect">
            <a:avLst/>
          </a:prstGeom>
          <a:noFill/>
        </p:spPr>
        <p:txBody>
          <a:bodyPr wrap="square">
            <a:spAutoFit/>
          </a:bodyPr>
          <a:lstStyle/>
          <a:p>
            <a:r>
              <a:rPr lang="en-US" altLang="zh-CN" sz="1200" dirty="0">
                <a:solidFill>
                  <a:srgbClr val="00B050"/>
                </a:solidFill>
              </a:rPr>
              <a:t>~100ns</a:t>
            </a:r>
            <a:endParaRPr lang="zh-CN" altLang="en-US" sz="1200" dirty="0">
              <a:solidFill>
                <a:srgbClr val="00B050"/>
              </a:solidFill>
            </a:endParaRPr>
          </a:p>
        </p:txBody>
      </p:sp>
      <p:sp>
        <p:nvSpPr>
          <p:cNvPr id="67" name="文本框 66">
            <a:extLst>
              <a:ext uri="{FF2B5EF4-FFF2-40B4-BE49-F238E27FC236}">
                <a16:creationId xmlns:a16="http://schemas.microsoft.com/office/drawing/2014/main" id="{C1F4B683-18D7-47C4-B063-67E673CDFEE6}"/>
              </a:ext>
            </a:extLst>
          </p:cNvPr>
          <p:cNvSpPr txBox="1"/>
          <p:nvPr/>
        </p:nvSpPr>
        <p:spPr>
          <a:xfrm>
            <a:off x="8338653" y="3507435"/>
            <a:ext cx="786063" cy="276999"/>
          </a:xfrm>
          <a:prstGeom prst="rect">
            <a:avLst/>
          </a:prstGeom>
          <a:noFill/>
        </p:spPr>
        <p:txBody>
          <a:bodyPr wrap="square">
            <a:spAutoFit/>
          </a:bodyPr>
          <a:lstStyle/>
          <a:p>
            <a:r>
              <a:rPr lang="en-US" altLang="zh-CN" sz="1200" dirty="0">
                <a:solidFill>
                  <a:srgbClr val="9D7949"/>
                </a:solidFill>
              </a:rPr>
              <a:t>~1us</a:t>
            </a:r>
            <a:endParaRPr lang="zh-CN" altLang="en-US" sz="1200" dirty="0">
              <a:solidFill>
                <a:srgbClr val="9D7949"/>
              </a:solidFill>
            </a:endParaRPr>
          </a:p>
        </p:txBody>
      </p:sp>
      <p:sp>
        <p:nvSpPr>
          <p:cNvPr id="68" name="文本框 67">
            <a:extLst>
              <a:ext uri="{FF2B5EF4-FFF2-40B4-BE49-F238E27FC236}">
                <a16:creationId xmlns:a16="http://schemas.microsoft.com/office/drawing/2014/main" id="{EA65E39F-BA7B-4018-9960-97B1717348FD}"/>
              </a:ext>
            </a:extLst>
          </p:cNvPr>
          <p:cNvSpPr txBox="1"/>
          <p:nvPr/>
        </p:nvSpPr>
        <p:spPr>
          <a:xfrm>
            <a:off x="8604968" y="3974804"/>
            <a:ext cx="786063" cy="276999"/>
          </a:xfrm>
          <a:prstGeom prst="rect">
            <a:avLst/>
          </a:prstGeom>
          <a:noFill/>
        </p:spPr>
        <p:txBody>
          <a:bodyPr wrap="square">
            <a:spAutoFit/>
          </a:bodyPr>
          <a:lstStyle/>
          <a:p>
            <a:r>
              <a:rPr lang="en-US" altLang="zh-CN" sz="1200" dirty="0">
                <a:solidFill>
                  <a:srgbClr val="9D7949"/>
                </a:solidFill>
              </a:rPr>
              <a:t>~1ms</a:t>
            </a:r>
            <a:endParaRPr lang="zh-CN" altLang="en-US" sz="1200" dirty="0">
              <a:solidFill>
                <a:srgbClr val="9D7949"/>
              </a:solidFill>
            </a:endParaRPr>
          </a:p>
        </p:txBody>
      </p:sp>
      <p:grpSp>
        <p:nvGrpSpPr>
          <p:cNvPr id="9" name="组合 8">
            <a:extLst>
              <a:ext uri="{FF2B5EF4-FFF2-40B4-BE49-F238E27FC236}">
                <a16:creationId xmlns:a16="http://schemas.microsoft.com/office/drawing/2014/main" id="{C4EE4413-5748-4668-805E-CE80E4163E47}"/>
              </a:ext>
            </a:extLst>
          </p:cNvPr>
          <p:cNvGrpSpPr/>
          <p:nvPr/>
        </p:nvGrpSpPr>
        <p:grpSpPr>
          <a:xfrm>
            <a:off x="3016796" y="2008066"/>
            <a:ext cx="3593184" cy="2781300"/>
            <a:chOff x="3104838" y="1080800"/>
            <a:chExt cx="3503846" cy="2857500"/>
          </a:xfrm>
        </p:grpSpPr>
        <p:sp>
          <p:nvSpPr>
            <p:cNvPr id="72" name="文本框 71">
              <a:extLst>
                <a:ext uri="{FF2B5EF4-FFF2-40B4-BE49-F238E27FC236}">
                  <a16:creationId xmlns:a16="http://schemas.microsoft.com/office/drawing/2014/main" id="{8FB02ADE-545D-4544-9F9C-4749F344C6F8}"/>
                </a:ext>
              </a:extLst>
            </p:cNvPr>
            <p:cNvSpPr txBox="1"/>
            <p:nvPr/>
          </p:nvSpPr>
          <p:spPr>
            <a:xfrm>
              <a:off x="5582477" y="1657360"/>
              <a:ext cx="875802" cy="276999"/>
            </a:xfrm>
            <a:prstGeom prst="rect">
              <a:avLst/>
            </a:prstGeom>
            <a:noFill/>
          </p:spPr>
          <p:txBody>
            <a:bodyPr wrap="square">
              <a:spAutoFit/>
            </a:bodyPr>
            <a:lstStyle/>
            <a:p>
              <a:r>
                <a:rPr lang="en-US" altLang="zh-CN" sz="1200" dirty="0">
                  <a:solidFill>
                    <a:srgbClr val="00B050"/>
                  </a:solidFill>
                </a:rPr>
                <a:t>~100GB/s</a:t>
              </a:r>
              <a:endParaRPr lang="zh-CN" altLang="en-US" sz="1400" dirty="0">
                <a:solidFill>
                  <a:srgbClr val="00B050"/>
                </a:solidFill>
              </a:endParaRPr>
            </a:p>
          </p:txBody>
        </p:sp>
        <p:grpSp>
          <p:nvGrpSpPr>
            <p:cNvPr id="8" name="组合 7">
              <a:extLst>
                <a:ext uri="{FF2B5EF4-FFF2-40B4-BE49-F238E27FC236}">
                  <a16:creationId xmlns:a16="http://schemas.microsoft.com/office/drawing/2014/main" id="{B3B619AC-9BE0-4415-A9ED-B83CD78C8B12}"/>
                </a:ext>
              </a:extLst>
            </p:cNvPr>
            <p:cNvGrpSpPr/>
            <p:nvPr/>
          </p:nvGrpSpPr>
          <p:grpSpPr>
            <a:xfrm>
              <a:off x="3104838" y="1080800"/>
              <a:ext cx="3503846" cy="2857500"/>
              <a:chOff x="2992172" y="1080800"/>
              <a:chExt cx="3616512" cy="2857500"/>
            </a:xfrm>
          </p:grpSpPr>
          <p:grpSp>
            <p:nvGrpSpPr>
              <p:cNvPr id="6" name="组合 5">
                <a:extLst>
                  <a:ext uri="{FF2B5EF4-FFF2-40B4-BE49-F238E27FC236}">
                    <a16:creationId xmlns:a16="http://schemas.microsoft.com/office/drawing/2014/main" id="{BDB1A918-B4E8-4D15-97EE-A17D4CE87EC8}"/>
                  </a:ext>
                </a:extLst>
              </p:cNvPr>
              <p:cNvGrpSpPr/>
              <p:nvPr/>
            </p:nvGrpSpPr>
            <p:grpSpPr>
              <a:xfrm rot="10800000">
                <a:off x="2992172" y="1080800"/>
                <a:ext cx="2988568" cy="2857500"/>
                <a:chOff x="838582" y="4163090"/>
                <a:chExt cx="2988568" cy="2857500"/>
              </a:xfrm>
            </p:grpSpPr>
            <p:sp>
              <p:nvSpPr>
                <p:cNvPr id="48" name="等腰三角形 47">
                  <a:extLst>
                    <a:ext uri="{FF2B5EF4-FFF2-40B4-BE49-F238E27FC236}">
                      <a16:creationId xmlns:a16="http://schemas.microsoft.com/office/drawing/2014/main" id="{597AA0EC-81D8-47B4-A5FC-2D072CF5CD06}"/>
                    </a:ext>
                  </a:extLst>
                </p:cNvPr>
                <p:cNvSpPr/>
                <p:nvPr/>
              </p:nvSpPr>
              <p:spPr bwMode="auto">
                <a:xfrm>
                  <a:off x="838582" y="4163090"/>
                  <a:ext cx="2988568" cy="2857500"/>
                </a:xfrm>
                <a:prstGeom prst="triangle">
                  <a:avLst/>
                </a:prstGeom>
                <a:solidFill>
                  <a:schemeClr val="bg1">
                    <a:lumMod val="85000"/>
                  </a:schemeClr>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itchFamily="34" charset="0"/>
                  </a:endParaRPr>
                </a:p>
              </p:txBody>
            </p:sp>
            <p:cxnSp>
              <p:nvCxnSpPr>
                <p:cNvPr id="49" name="直接连接符 48">
                  <a:extLst>
                    <a:ext uri="{FF2B5EF4-FFF2-40B4-BE49-F238E27FC236}">
                      <a16:creationId xmlns:a16="http://schemas.microsoft.com/office/drawing/2014/main" id="{31FC20D0-68DF-4A84-86C6-8E0CD892CBD8}"/>
                    </a:ext>
                  </a:extLst>
                </p:cNvPr>
                <p:cNvCxnSpPr>
                  <a:cxnSpLocks/>
                </p:cNvCxnSpPr>
                <p:nvPr/>
              </p:nvCxnSpPr>
              <p:spPr bwMode="auto">
                <a:xfrm>
                  <a:off x="1829182" y="5117831"/>
                  <a:ext cx="990600" cy="0"/>
                </a:xfrm>
                <a:prstGeom prst="line">
                  <a:avLst/>
                </a:prstGeom>
                <a:solidFill>
                  <a:srgbClr val="C0C0C0"/>
                </a:solidFill>
                <a:ln w="19050" cap="flat" cmpd="sng" algn="ctr">
                  <a:solidFill>
                    <a:schemeClr val="tx1"/>
                  </a:solidFill>
                  <a:prstDash val="solid"/>
                  <a:round/>
                  <a:headEnd type="none" w="med" len="med"/>
                  <a:tailEnd type="none" w="med" len="med"/>
                </a:ln>
                <a:effectLst/>
              </p:spPr>
            </p:cxnSp>
            <p:cxnSp>
              <p:nvCxnSpPr>
                <p:cNvPr id="50" name="直接连接符 49">
                  <a:extLst>
                    <a:ext uri="{FF2B5EF4-FFF2-40B4-BE49-F238E27FC236}">
                      <a16:creationId xmlns:a16="http://schemas.microsoft.com/office/drawing/2014/main" id="{E4627FD8-95EB-44F8-8052-58FC7DCA3BDD}"/>
                    </a:ext>
                  </a:extLst>
                </p:cNvPr>
                <p:cNvCxnSpPr>
                  <a:cxnSpLocks/>
                  <a:stCxn id="48" idx="1"/>
                  <a:endCxn id="48" idx="5"/>
                </p:cNvCxnSpPr>
                <p:nvPr/>
              </p:nvCxnSpPr>
              <p:spPr bwMode="auto">
                <a:xfrm>
                  <a:off x="1585724" y="5591840"/>
                  <a:ext cx="1494284" cy="0"/>
                </a:xfrm>
                <a:prstGeom prst="line">
                  <a:avLst/>
                </a:prstGeom>
                <a:solidFill>
                  <a:srgbClr val="C0C0C0"/>
                </a:solidFill>
                <a:ln w="19050" cap="flat" cmpd="sng" algn="ctr">
                  <a:solidFill>
                    <a:schemeClr val="tx1"/>
                  </a:solidFill>
                  <a:prstDash val="solid"/>
                  <a:round/>
                  <a:headEnd type="none" w="med" len="med"/>
                  <a:tailEnd type="none" w="med" len="med"/>
                </a:ln>
                <a:effectLst/>
              </p:spPr>
            </p:cxnSp>
            <p:cxnSp>
              <p:nvCxnSpPr>
                <p:cNvPr id="51" name="直接连接符 50">
                  <a:extLst>
                    <a:ext uri="{FF2B5EF4-FFF2-40B4-BE49-F238E27FC236}">
                      <a16:creationId xmlns:a16="http://schemas.microsoft.com/office/drawing/2014/main" id="{A72C27BE-6C27-474A-983B-135D4B1345F2}"/>
                    </a:ext>
                  </a:extLst>
                </p:cNvPr>
                <p:cNvCxnSpPr>
                  <a:cxnSpLocks/>
                </p:cNvCxnSpPr>
                <p:nvPr/>
              </p:nvCxnSpPr>
              <p:spPr bwMode="auto">
                <a:xfrm>
                  <a:off x="1295782" y="6108431"/>
                  <a:ext cx="2057400" cy="0"/>
                </a:xfrm>
                <a:prstGeom prst="line">
                  <a:avLst/>
                </a:prstGeom>
                <a:solidFill>
                  <a:srgbClr val="C0C0C0"/>
                </a:solidFill>
                <a:ln w="19050" cap="flat" cmpd="sng" algn="ctr">
                  <a:solidFill>
                    <a:schemeClr val="tx1"/>
                  </a:solidFill>
                  <a:prstDash val="solid"/>
                  <a:round/>
                  <a:headEnd type="none" w="med" len="med"/>
                  <a:tailEnd type="none" w="med" len="med"/>
                </a:ln>
                <a:effectLst/>
              </p:spPr>
            </p:cxnSp>
            <p:cxnSp>
              <p:nvCxnSpPr>
                <p:cNvPr id="52" name="直接连接符 51">
                  <a:extLst>
                    <a:ext uri="{FF2B5EF4-FFF2-40B4-BE49-F238E27FC236}">
                      <a16:creationId xmlns:a16="http://schemas.microsoft.com/office/drawing/2014/main" id="{E905979B-8F01-4F65-AC20-91412D16C18A}"/>
                    </a:ext>
                  </a:extLst>
                </p:cNvPr>
                <p:cNvCxnSpPr>
                  <a:cxnSpLocks/>
                </p:cNvCxnSpPr>
                <p:nvPr/>
              </p:nvCxnSpPr>
              <p:spPr bwMode="auto">
                <a:xfrm>
                  <a:off x="1067182" y="6565631"/>
                  <a:ext cx="2514600" cy="0"/>
                </a:xfrm>
                <a:prstGeom prst="line">
                  <a:avLst/>
                </a:prstGeom>
                <a:solidFill>
                  <a:srgbClr val="C0C0C0"/>
                </a:solidFill>
                <a:ln w="19050" cap="flat" cmpd="sng" algn="ctr">
                  <a:solidFill>
                    <a:schemeClr val="tx1"/>
                  </a:solidFill>
                  <a:prstDash val="solid"/>
                  <a:round/>
                  <a:headEnd type="none" w="med" len="med"/>
                  <a:tailEnd type="none" w="med" len="med"/>
                </a:ln>
                <a:effectLst/>
              </p:spPr>
            </p:cxnSp>
          </p:grpSp>
          <p:sp>
            <p:nvSpPr>
              <p:cNvPr id="53" name="文本框 52">
                <a:extLst>
                  <a:ext uri="{FF2B5EF4-FFF2-40B4-BE49-F238E27FC236}">
                    <a16:creationId xmlns:a16="http://schemas.microsoft.com/office/drawing/2014/main" id="{592D7CA1-8A0C-46C3-942F-FCD650D71370}"/>
                  </a:ext>
                </a:extLst>
              </p:cNvPr>
              <p:cNvSpPr txBox="1"/>
              <p:nvPr/>
            </p:nvSpPr>
            <p:spPr>
              <a:xfrm>
                <a:off x="4128301" y="3039834"/>
                <a:ext cx="1025015" cy="369332"/>
              </a:xfrm>
              <a:prstGeom prst="rect">
                <a:avLst/>
              </a:prstGeom>
              <a:noFill/>
            </p:spPr>
            <p:txBody>
              <a:bodyPr wrap="square">
                <a:spAutoFit/>
              </a:bodyPr>
              <a:lstStyle/>
              <a:p>
                <a:r>
                  <a:rPr lang="en-US" altLang="zh-CN" dirty="0">
                    <a:solidFill>
                      <a:srgbClr val="C00000"/>
                    </a:solidFill>
                  </a:rPr>
                  <a:t>DISK</a:t>
                </a:r>
                <a:endParaRPr lang="zh-CN" altLang="en-US" dirty="0">
                  <a:solidFill>
                    <a:srgbClr val="C00000"/>
                  </a:solidFill>
                </a:endParaRPr>
              </a:p>
            </p:txBody>
          </p:sp>
          <p:sp>
            <p:nvSpPr>
              <p:cNvPr id="54" name="文本框 53">
                <a:extLst>
                  <a:ext uri="{FF2B5EF4-FFF2-40B4-BE49-F238E27FC236}">
                    <a16:creationId xmlns:a16="http://schemas.microsoft.com/office/drawing/2014/main" id="{E3CD996F-3B85-4018-92D9-3B75413FF2A4}"/>
                  </a:ext>
                </a:extLst>
              </p:cNvPr>
              <p:cNvSpPr txBox="1"/>
              <p:nvPr/>
            </p:nvSpPr>
            <p:spPr>
              <a:xfrm>
                <a:off x="4167726" y="2580337"/>
                <a:ext cx="679946" cy="379451"/>
              </a:xfrm>
              <a:prstGeom prst="rect">
                <a:avLst/>
              </a:prstGeom>
              <a:noFill/>
            </p:spPr>
            <p:txBody>
              <a:bodyPr wrap="square">
                <a:spAutoFit/>
              </a:bodyPr>
              <a:lstStyle/>
              <a:p>
                <a:r>
                  <a:rPr lang="en-US" altLang="zh-CN" dirty="0">
                    <a:solidFill>
                      <a:schemeClr val="accent5">
                        <a:lumMod val="50000"/>
                      </a:schemeClr>
                    </a:solidFill>
                  </a:rPr>
                  <a:t>SSD</a:t>
                </a:r>
                <a:endParaRPr lang="zh-CN" altLang="en-US" dirty="0">
                  <a:solidFill>
                    <a:schemeClr val="accent5">
                      <a:lumMod val="50000"/>
                    </a:schemeClr>
                  </a:solidFill>
                </a:endParaRPr>
              </a:p>
            </p:txBody>
          </p:sp>
          <p:sp>
            <p:nvSpPr>
              <p:cNvPr id="55" name="文本框 54">
                <a:extLst>
                  <a:ext uri="{FF2B5EF4-FFF2-40B4-BE49-F238E27FC236}">
                    <a16:creationId xmlns:a16="http://schemas.microsoft.com/office/drawing/2014/main" id="{5CF97F12-9499-4278-9153-1589E9C49384}"/>
                  </a:ext>
                </a:extLst>
              </p:cNvPr>
              <p:cNvSpPr txBox="1"/>
              <p:nvPr/>
            </p:nvSpPr>
            <p:spPr>
              <a:xfrm>
                <a:off x="4039339" y="2082170"/>
                <a:ext cx="1099820" cy="379451"/>
              </a:xfrm>
              <a:prstGeom prst="rect">
                <a:avLst/>
              </a:prstGeom>
              <a:noFill/>
            </p:spPr>
            <p:txBody>
              <a:bodyPr wrap="square">
                <a:spAutoFit/>
              </a:bodyPr>
              <a:lstStyle/>
              <a:p>
                <a:r>
                  <a:rPr lang="en-US" altLang="zh-CN" dirty="0">
                    <a:solidFill>
                      <a:srgbClr val="00B050"/>
                    </a:solidFill>
                  </a:rPr>
                  <a:t>DDR</a:t>
                </a:r>
                <a:endParaRPr lang="zh-CN" altLang="en-US" dirty="0">
                  <a:solidFill>
                    <a:srgbClr val="00B050"/>
                  </a:solidFill>
                </a:endParaRPr>
              </a:p>
            </p:txBody>
          </p:sp>
          <p:sp>
            <p:nvSpPr>
              <p:cNvPr id="56" name="文本框 55">
                <a:extLst>
                  <a:ext uri="{FF2B5EF4-FFF2-40B4-BE49-F238E27FC236}">
                    <a16:creationId xmlns:a16="http://schemas.microsoft.com/office/drawing/2014/main" id="{B7474121-3392-4679-B2AB-79965328970E}"/>
                  </a:ext>
                </a:extLst>
              </p:cNvPr>
              <p:cNvSpPr txBox="1"/>
              <p:nvPr/>
            </p:nvSpPr>
            <p:spPr>
              <a:xfrm>
                <a:off x="4115225" y="1604868"/>
                <a:ext cx="1099820" cy="369332"/>
              </a:xfrm>
              <a:prstGeom prst="rect">
                <a:avLst/>
              </a:prstGeom>
              <a:noFill/>
            </p:spPr>
            <p:txBody>
              <a:bodyPr wrap="square">
                <a:spAutoFit/>
              </a:bodyPr>
              <a:lstStyle/>
              <a:p>
                <a:r>
                  <a:rPr lang="en-US" altLang="zh-CN" dirty="0">
                    <a:solidFill>
                      <a:srgbClr val="00B0F0"/>
                    </a:solidFill>
                  </a:rPr>
                  <a:t>HBM</a:t>
                </a:r>
                <a:endParaRPr lang="zh-CN" altLang="en-US" dirty="0">
                  <a:solidFill>
                    <a:srgbClr val="00B0F0"/>
                  </a:solidFill>
                </a:endParaRPr>
              </a:p>
            </p:txBody>
          </p:sp>
          <p:sp>
            <p:nvSpPr>
              <p:cNvPr id="57" name="文本框 56">
                <a:extLst>
                  <a:ext uri="{FF2B5EF4-FFF2-40B4-BE49-F238E27FC236}">
                    <a16:creationId xmlns:a16="http://schemas.microsoft.com/office/drawing/2014/main" id="{31121AB9-E232-402C-B6CF-F8C20E18945E}"/>
                  </a:ext>
                </a:extLst>
              </p:cNvPr>
              <p:cNvSpPr txBox="1"/>
              <p:nvPr/>
            </p:nvSpPr>
            <p:spPr>
              <a:xfrm>
                <a:off x="4023854" y="1161907"/>
                <a:ext cx="1099820" cy="369332"/>
              </a:xfrm>
              <a:prstGeom prst="rect">
                <a:avLst/>
              </a:prstGeom>
              <a:noFill/>
            </p:spPr>
            <p:txBody>
              <a:bodyPr wrap="square">
                <a:spAutoFit/>
              </a:bodyPr>
              <a:lstStyle/>
              <a:p>
                <a:r>
                  <a:rPr lang="en-US" altLang="zh-CN" dirty="0">
                    <a:solidFill>
                      <a:srgbClr val="0070C0"/>
                    </a:solidFill>
                  </a:rPr>
                  <a:t>SRAM</a:t>
                </a:r>
                <a:endParaRPr lang="zh-CN" altLang="en-US" dirty="0">
                  <a:solidFill>
                    <a:srgbClr val="0070C0"/>
                  </a:solidFill>
                </a:endParaRPr>
              </a:p>
            </p:txBody>
          </p:sp>
          <p:sp>
            <p:nvSpPr>
              <p:cNvPr id="69" name="文本框 68">
                <a:extLst>
                  <a:ext uri="{FF2B5EF4-FFF2-40B4-BE49-F238E27FC236}">
                    <a16:creationId xmlns:a16="http://schemas.microsoft.com/office/drawing/2014/main" id="{5E4A026E-0612-48F7-A6D6-7D0EAE7FC238}"/>
                  </a:ext>
                </a:extLst>
              </p:cNvPr>
              <p:cNvSpPr txBox="1"/>
              <p:nvPr/>
            </p:nvSpPr>
            <p:spPr>
              <a:xfrm>
                <a:off x="4813475" y="3130259"/>
                <a:ext cx="856348" cy="276999"/>
              </a:xfrm>
              <a:prstGeom prst="rect">
                <a:avLst/>
              </a:prstGeom>
              <a:noFill/>
            </p:spPr>
            <p:txBody>
              <a:bodyPr wrap="square">
                <a:spAutoFit/>
              </a:bodyPr>
              <a:lstStyle/>
              <a:p>
                <a:r>
                  <a:rPr lang="en-US" altLang="zh-CN" sz="1200" dirty="0">
                    <a:solidFill>
                      <a:srgbClr val="C00000"/>
                    </a:solidFill>
                  </a:rPr>
                  <a:t>~10MB/s</a:t>
                </a:r>
                <a:endParaRPr lang="zh-CN" altLang="en-US" sz="1200" dirty="0">
                  <a:solidFill>
                    <a:srgbClr val="C00000"/>
                  </a:solidFill>
                </a:endParaRPr>
              </a:p>
            </p:txBody>
          </p:sp>
          <p:sp>
            <p:nvSpPr>
              <p:cNvPr id="70" name="文本框 69">
                <a:extLst>
                  <a:ext uri="{FF2B5EF4-FFF2-40B4-BE49-F238E27FC236}">
                    <a16:creationId xmlns:a16="http://schemas.microsoft.com/office/drawing/2014/main" id="{89A8A9E6-6A83-418C-8A0C-F66C64D3ADDE}"/>
                  </a:ext>
                </a:extLst>
              </p:cNvPr>
              <p:cNvSpPr txBox="1"/>
              <p:nvPr/>
            </p:nvSpPr>
            <p:spPr>
              <a:xfrm>
                <a:off x="5083887" y="2652889"/>
                <a:ext cx="792254" cy="276999"/>
              </a:xfrm>
              <a:prstGeom prst="rect">
                <a:avLst/>
              </a:prstGeom>
              <a:noFill/>
            </p:spPr>
            <p:txBody>
              <a:bodyPr wrap="square">
                <a:spAutoFit/>
              </a:bodyPr>
              <a:lstStyle/>
              <a:p>
                <a:r>
                  <a:rPr lang="en-US" altLang="zh-CN" sz="1200" dirty="0">
                    <a:solidFill>
                      <a:srgbClr val="946A32"/>
                    </a:solidFill>
                  </a:rPr>
                  <a:t>~1GB/s</a:t>
                </a:r>
                <a:endParaRPr lang="zh-CN" altLang="en-US" sz="1400" dirty="0">
                  <a:solidFill>
                    <a:srgbClr val="946A32"/>
                  </a:solidFill>
                </a:endParaRPr>
              </a:p>
            </p:txBody>
          </p:sp>
          <p:sp>
            <p:nvSpPr>
              <p:cNvPr id="71" name="文本框 70">
                <a:extLst>
                  <a:ext uri="{FF2B5EF4-FFF2-40B4-BE49-F238E27FC236}">
                    <a16:creationId xmlns:a16="http://schemas.microsoft.com/office/drawing/2014/main" id="{2D9F4407-1097-4672-9BBA-0F04D906342D}"/>
                  </a:ext>
                </a:extLst>
              </p:cNvPr>
              <p:cNvSpPr txBox="1"/>
              <p:nvPr/>
            </p:nvSpPr>
            <p:spPr>
              <a:xfrm>
                <a:off x="5319013" y="2220630"/>
                <a:ext cx="839178" cy="276999"/>
              </a:xfrm>
              <a:prstGeom prst="rect">
                <a:avLst/>
              </a:prstGeom>
              <a:noFill/>
            </p:spPr>
            <p:txBody>
              <a:bodyPr wrap="square">
                <a:spAutoFit/>
              </a:bodyPr>
              <a:lstStyle/>
              <a:p>
                <a:r>
                  <a:rPr lang="en-US" altLang="zh-CN" sz="1200" dirty="0">
                    <a:solidFill>
                      <a:srgbClr val="00B050"/>
                    </a:solidFill>
                  </a:rPr>
                  <a:t>~10GB/s</a:t>
                </a:r>
                <a:endParaRPr lang="zh-CN" altLang="en-US" sz="1400" dirty="0">
                  <a:solidFill>
                    <a:srgbClr val="00B050"/>
                  </a:solidFill>
                </a:endParaRPr>
              </a:p>
            </p:txBody>
          </p:sp>
          <p:sp>
            <p:nvSpPr>
              <p:cNvPr id="73" name="文本框 72">
                <a:extLst>
                  <a:ext uri="{FF2B5EF4-FFF2-40B4-BE49-F238E27FC236}">
                    <a16:creationId xmlns:a16="http://schemas.microsoft.com/office/drawing/2014/main" id="{34402B4A-E572-49C0-85BB-D379DEFABD8A}"/>
                  </a:ext>
                </a:extLst>
              </p:cNvPr>
              <p:cNvSpPr txBox="1"/>
              <p:nvPr/>
            </p:nvSpPr>
            <p:spPr>
              <a:xfrm>
                <a:off x="5816429" y="1225251"/>
                <a:ext cx="792255" cy="276999"/>
              </a:xfrm>
              <a:prstGeom prst="rect">
                <a:avLst/>
              </a:prstGeom>
              <a:noFill/>
            </p:spPr>
            <p:txBody>
              <a:bodyPr wrap="square">
                <a:spAutoFit/>
              </a:bodyPr>
              <a:lstStyle/>
              <a:p>
                <a:r>
                  <a:rPr lang="en-US" altLang="zh-CN" sz="1200" dirty="0">
                    <a:solidFill>
                      <a:srgbClr val="00B050"/>
                    </a:solidFill>
                  </a:rPr>
                  <a:t>~1TB/s</a:t>
                </a:r>
                <a:endParaRPr lang="zh-CN" altLang="en-US" sz="1400" dirty="0">
                  <a:solidFill>
                    <a:srgbClr val="00B050"/>
                  </a:solidFill>
                </a:endParaRPr>
              </a:p>
            </p:txBody>
          </p:sp>
        </p:grpSp>
      </p:grpSp>
    </p:spTree>
    <p:extLst>
      <p:ext uri="{BB962C8B-B14F-4D97-AF65-F5344CB8AC3E}">
        <p14:creationId xmlns:p14="http://schemas.microsoft.com/office/powerpoint/2010/main" val="336142706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4"/>
          <p:cNvSpPr>
            <a:spLocks noGrp="1" noChangeArrowheads="1"/>
          </p:cNvSpPr>
          <p:nvPr>
            <p:ph type="ctrTitle"/>
          </p:nvPr>
        </p:nvSpPr>
        <p:spPr>
          <a:xfrm>
            <a:off x="366713" y="1124744"/>
            <a:ext cx="8428037" cy="2232248"/>
          </a:xfrm>
        </p:spPr>
        <p:txBody>
          <a:bodyPr/>
          <a:lstStyle/>
          <a:p>
            <a:pPr algn="ctr" eaLnBrk="1" hangingPunct="1"/>
            <a:r>
              <a:rPr lang="en-US" sz="4000" dirty="0">
                <a:latin typeface="Garamond" charset="0"/>
              </a:rPr>
              <a:t>The DRAM Subsystem</a:t>
            </a:r>
            <a:br>
              <a:rPr lang="en-US" sz="4000" dirty="0">
                <a:latin typeface="Garamond" charset="0"/>
              </a:rPr>
            </a:br>
            <a:r>
              <a:rPr lang="en-US" sz="4000" dirty="0">
                <a:latin typeface="Garamond" charset="0"/>
              </a:rPr>
              <a:t>The Top-Down View</a:t>
            </a:r>
          </a:p>
        </p:txBody>
      </p:sp>
      <p:sp>
        <p:nvSpPr>
          <p:cNvPr id="105474" name="Rectangle 5"/>
          <p:cNvSpPr>
            <a:spLocks noGrp="1" noChangeArrowheads="1"/>
          </p:cNvSpPr>
          <p:nvPr>
            <p:ph type="subTitle" idx="1"/>
          </p:nvPr>
        </p:nvSpPr>
        <p:spPr>
          <a:xfrm>
            <a:off x="685800" y="3581400"/>
            <a:ext cx="7848600" cy="2900363"/>
          </a:xfrm>
        </p:spPr>
        <p:txBody>
          <a:bodyPr/>
          <a:lstStyle/>
          <a:p>
            <a:pPr eaLnBrk="1" hangingPunct="1">
              <a:buFont typeface="Wingdings" charset="0"/>
              <a:buNone/>
            </a:pPr>
            <a:endParaRPr lang="en-US" i="1">
              <a:latin typeface="Tahoma" charset="0"/>
            </a:endParaRPr>
          </a:p>
          <a:p>
            <a:pPr eaLnBrk="1" hangingPunct="1">
              <a:buFont typeface="Wingdings" charset="0"/>
              <a:buNone/>
            </a:pPr>
            <a:endParaRPr lang="en-US">
              <a:latin typeface="Tahoma" charset="0"/>
            </a:endParaRPr>
          </a:p>
          <a:p>
            <a:pPr eaLnBrk="1" hangingPunct="1">
              <a:buFont typeface="Wingdings" charset="0"/>
              <a:buNone/>
            </a:pPr>
            <a:endParaRPr lang="en-US">
              <a:latin typeface="Tahoma" charset="0"/>
            </a:endParaRPr>
          </a:p>
          <a:p>
            <a:pPr eaLnBrk="1" hangingPunct="1">
              <a:buFont typeface="Wingdings" charset="0"/>
              <a:buNone/>
            </a:pPr>
            <a:endParaRPr lang="en-US">
              <a:latin typeface="Tahoma" charset="0"/>
            </a:endParaRPr>
          </a:p>
        </p:txBody>
      </p:sp>
    </p:spTree>
    <p:extLst>
      <p:ext uri="{BB962C8B-B14F-4D97-AF65-F5344CB8AC3E}">
        <p14:creationId xmlns:p14="http://schemas.microsoft.com/office/powerpoint/2010/main" val="3080966962"/>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Title 1"/>
          <p:cNvSpPr>
            <a:spLocks noGrp="1"/>
          </p:cNvSpPr>
          <p:nvPr>
            <p:ph type="title"/>
          </p:nvPr>
        </p:nvSpPr>
        <p:spPr/>
        <p:txBody>
          <a:bodyPr/>
          <a:lstStyle/>
          <a:p>
            <a:r>
              <a:rPr lang="en-US" dirty="0">
                <a:latin typeface="Garamond" charset="0"/>
              </a:rPr>
              <a:t>DRAM Subsystem Organization</a:t>
            </a:r>
          </a:p>
        </p:txBody>
      </p:sp>
      <p:sp>
        <p:nvSpPr>
          <p:cNvPr id="107522" name="Content Placeholder 2"/>
          <p:cNvSpPr>
            <a:spLocks noGrp="1"/>
          </p:cNvSpPr>
          <p:nvPr>
            <p:ph idx="1"/>
          </p:nvPr>
        </p:nvSpPr>
        <p:spPr>
          <a:xfrm>
            <a:off x="827584" y="996950"/>
            <a:ext cx="7488832" cy="5194300"/>
          </a:xfrm>
        </p:spPr>
        <p:txBody>
          <a:bodyPr/>
          <a:lstStyle/>
          <a:p>
            <a:endParaRPr lang="en-US" dirty="0">
              <a:latin typeface="Tahoma" charset="0"/>
            </a:endParaRPr>
          </a:p>
          <a:p>
            <a:r>
              <a:rPr lang="en-US" dirty="0">
                <a:latin typeface="Tahoma" charset="0"/>
              </a:rPr>
              <a:t>Channel</a:t>
            </a:r>
          </a:p>
          <a:p>
            <a:r>
              <a:rPr lang="en-US" dirty="0">
                <a:latin typeface="Tahoma" charset="0"/>
              </a:rPr>
              <a:t>DIMM</a:t>
            </a:r>
          </a:p>
          <a:p>
            <a:r>
              <a:rPr lang="en-US" dirty="0">
                <a:latin typeface="Tahoma" charset="0"/>
              </a:rPr>
              <a:t>Rank</a:t>
            </a:r>
          </a:p>
          <a:p>
            <a:r>
              <a:rPr lang="en-US" dirty="0">
                <a:latin typeface="Tahoma" charset="0"/>
              </a:rPr>
              <a:t>Chip</a:t>
            </a:r>
          </a:p>
          <a:p>
            <a:r>
              <a:rPr lang="en-US" dirty="0">
                <a:latin typeface="Tahoma" charset="0"/>
              </a:rPr>
              <a:t>Bank</a:t>
            </a:r>
          </a:p>
          <a:p>
            <a:r>
              <a:rPr lang="en-US" dirty="0">
                <a:latin typeface="Tahoma" charset="0"/>
              </a:rPr>
              <a:t>Row/Column</a:t>
            </a:r>
          </a:p>
          <a:p>
            <a:endParaRPr lang="en-US" dirty="0">
              <a:latin typeface="Tahoma" charset="0"/>
            </a:endParaRPr>
          </a:p>
        </p:txBody>
      </p:sp>
      <p:sp>
        <p:nvSpPr>
          <p:cNvPr id="107523" name="Slide Number Placeholder 3"/>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ED18E440-DDB1-BD43-B16F-7E508F1166DA}" type="slidenum">
              <a:rPr kumimoji="0" lang="en-US" sz="1600" b="0" i="0" u="none" strike="noStrike" kern="1200" cap="none" spc="0" normalizeH="0" baseline="0" noProof="0">
                <a:ln>
                  <a:noFill/>
                </a:ln>
                <a:solidFill>
                  <a:srgbClr val="000000"/>
                </a:solidFill>
                <a:effectLst/>
                <a:uLnTx/>
                <a:uFillTx/>
                <a:latin typeface="Garamond" charset="0"/>
                <a:ea typeface="ＭＳ Ｐゴシック" charset="0"/>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600" b="0" i="0" u="none" strike="noStrike" kern="1200" cap="none" spc="0" normalizeH="0" baseline="0" noProof="0">
              <a:ln>
                <a:noFill/>
              </a:ln>
              <a:solidFill>
                <a:srgbClr val="000000"/>
              </a:solidFill>
              <a:effectLst/>
              <a:uLnTx/>
              <a:uFillTx/>
              <a:latin typeface="Garamond" charset="0"/>
              <a:ea typeface="ＭＳ Ｐゴシック" charset="0"/>
              <a:cs typeface="Arial" charset="0"/>
            </a:endParaRPr>
          </a:p>
        </p:txBody>
      </p:sp>
      <p:sp>
        <p:nvSpPr>
          <p:cNvPr id="13" name="Flowchart: Merge 4"/>
          <p:cNvSpPr/>
          <p:nvPr/>
        </p:nvSpPr>
        <p:spPr>
          <a:xfrm>
            <a:off x="3570784" y="1447800"/>
            <a:ext cx="1981200" cy="2971800"/>
          </a:xfrm>
          <a:prstGeom prst="flowChartMerge">
            <a:avLst/>
          </a:prstGeom>
          <a:solidFill>
            <a:srgbClr val="C0504D"/>
          </a:solidFill>
          <a:ln w="25400" cap="flat" cmpd="sng" algn="ctr">
            <a:solidFill>
              <a:srgbClr val="C0504D">
                <a:shade val="50000"/>
              </a:srgbClr>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ＭＳ Ｐゴシック" charset="0"/>
              <a:cs typeface="ＭＳ Ｐゴシック" charset="0"/>
            </a:endParaRPr>
          </a:p>
        </p:txBody>
      </p:sp>
      <p:sp>
        <p:nvSpPr>
          <p:cNvPr id="14" name="Flowchart: Merge 7"/>
          <p:cNvSpPr/>
          <p:nvPr/>
        </p:nvSpPr>
        <p:spPr>
          <a:xfrm>
            <a:off x="3723184" y="1905000"/>
            <a:ext cx="1676400" cy="2514600"/>
          </a:xfrm>
          <a:prstGeom prst="flowChartMerge">
            <a:avLst/>
          </a:prstGeom>
          <a:solidFill>
            <a:srgbClr val="00B050"/>
          </a:solidFill>
          <a:ln w="25400" cap="flat" cmpd="sng" algn="ctr">
            <a:solidFill>
              <a:srgbClr val="004C22"/>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ＭＳ Ｐゴシック" charset="0"/>
              <a:cs typeface="ＭＳ Ｐゴシック" charset="0"/>
            </a:endParaRPr>
          </a:p>
        </p:txBody>
      </p:sp>
      <p:sp>
        <p:nvSpPr>
          <p:cNvPr id="15" name="Flowchart: Merge 8"/>
          <p:cNvSpPr/>
          <p:nvPr/>
        </p:nvSpPr>
        <p:spPr>
          <a:xfrm>
            <a:off x="3875584" y="2362200"/>
            <a:ext cx="1371600" cy="2057400"/>
          </a:xfrm>
          <a:prstGeom prst="flowChartMerge">
            <a:avLst/>
          </a:prstGeom>
          <a:solidFill>
            <a:srgbClr val="F79646"/>
          </a:solidFill>
          <a:ln w="25400" cap="flat" cmpd="sng" algn="ctr">
            <a:solidFill>
              <a:srgbClr val="F79646">
                <a:shade val="50000"/>
              </a:srgbClr>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ＭＳ Ｐゴシック" charset="0"/>
              <a:cs typeface="ＭＳ Ｐゴシック" charset="0"/>
            </a:endParaRPr>
          </a:p>
        </p:txBody>
      </p:sp>
      <p:sp>
        <p:nvSpPr>
          <p:cNvPr id="16" name="Flowchart: Merge 9"/>
          <p:cNvSpPr/>
          <p:nvPr/>
        </p:nvSpPr>
        <p:spPr>
          <a:xfrm>
            <a:off x="4027984" y="2819400"/>
            <a:ext cx="1066800" cy="1600200"/>
          </a:xfrm>
          <a:prstGeom prst="flowChartMerge">
            <a:avLst/>
          </a:prstGeom>
          <a:solidFill>
            <a:sysClr val="windowText" lastClr="000000"/>
          </a:solidFill>
          <a:ln w="25400" cap="flat" cmpd="sng" algn="ctr">
            <a:solidFill>
              <a:sysClr val="windowText" lastClr="000000">
                <a:shade val="50000"/>
              </a:sysClr>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ＭＳ Ｐゴシック" charset="0"/>
              <a:cs typeface="ＭＳ Ｐゴシック" charset="0"/>
            </a:endParaRPr>
          </a:p>
        </p:txBody>
      </p:sp>
      <p:sp>
        <p:nvSpPr>
          <p:cNvPr id="17" name="Flowchart: Merge 10"/>
          <p:cNvSpPr/>
          <p:nvPr/>
        </p:nvSpPr>
        <p:spPr>
          <a:xfrm>
            <a:off x="4180384" y="3276600"/>
            <a:ext cx="762000" cy="1143000"/>
          </a:xfrm>
          <a:prstGeom prst="flowChartMerge">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ＭＳ Ｐゴシック" charset="0"/>
              <a:cs typeface="ＭＳ Ｐゴシック" charset="0"/>
            </a:endParaRPr>
          </a:p>
        </p:txBody>
      </p:sp>
      <p:sp>
        <p:nvSpPr>
          <p:cNvPr id="18" name="Flowchart: Merge 11"/>
          <p:cNvSpPr/>
          <p:nvPr/>
        </p:nvSpPr>
        <p:spPr>
          <a:xfrm>
            <a:off x="4332784" y="3733800"/>
            <a:ext cx="457200" cy="685800"/>
          </a:xfrm>
          <a:prstGeom prst="flowChartMerge">
            <a:avLst/>
          </a:prstGeom>
          <a:solidFill>
            <a:srgbClr val="4BACC6"/>
          </a:solidFill>
          <a:ln w="25400" cap="flat" cmpd="sng" algn="ctr">
            <a:solidFill>
              <a:srgbClr val="4BACC6">
                <a:shade val="50000"/>
              </a:srgbClr>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ＭＳ Ｐゴシック" charset="0"/>
              <a:cs typeface="ＭＳ Ｐゴシック" charset="0"/>
            </a:endParaRPr>
          </a:p>
        </p:txBody>
      </p:sp>
    </p:spTree>
    <p:extLst>
      <p:ext uri="{BB962C8B-B14F-4D97-AF65-F5344CB8AC3E}">
        <p14:creationId xmlns:p14="http://schemas.microsoft.com/office/powerpoint/2010/main" val="411977342"/>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Title 1"/>
          <p:cNvSpPr>
            <a:spLocks noGrp="1"/>
          </p:cNvSpPr>
          <p:nvPr>
            <p:ph type="title"/>
          </p:nvPr>
        </p:nvSpPr>
        <p:spPr/>
        <p:txBody>
          <a:bodyPr/>
          <a:lstStyle/>
          <a:p>
            <a:r>
              <a:rPr lang="en-US" dirty="0">
                <a:latin typeface="Garamond" panose="02020404030301010803" pitchFamily="18" charset="0"/>
              </a:rPr>
              <a:t>The DRAM Subsystem</a:t>
            </a:r>
          </a:p>
        </p:txBody>
      </p:sp>
      <p:pic>
        <p:nvPicPr>
          <p:cNvPr id="108546" name="Picture 4" descr="DIMM_crop.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3200400"/>
            <a:ext cx="2590800" cy="5984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8547" name="Picture 5" descr="nehalem.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676650" y="4656138"/>
            <a:ext cx="1352550" cy="1352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8548" name="Picture 8" descr="DIMM_crop.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133600"/>
            <a:ext cx="2590800" cy="5984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8549" name="Picture 9" descr="DIMM_crop.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3211513"/>
            <a:ext cx="2590800" cy="5984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8550" name="Picture 10" descr="DIMM_crop.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2133600"/>
            <a:ext cx="2590800" cy="5984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cxnSp>
        <p:nvCxnSpPr>
          <p:cNvPr id="13" name="Shape 12"/>
          <p:cNvCxnSpPr>
            <a:cxnSpLocks noChangeShapeType="1"/>
            <a:stCxn id="108547" idx="3"/>
            <a:endCxn id="108549" idx="2"/>
          </p:cNvCxnSpPr>
          <p:nvPr/>
        </p:nvCxnSpPr>
        <p:spPr bwMode="auto">
          <a:xfrm flipV="1">
            <a:off x="5029200" y="3810000"/>
            <a:ext cx="1219200" cy="1522413"/>
          </a:xfrm>
          <a:prstGeom prst="bentConnector2">
            <a:avLst/>
          </a:prstGeom>
          <a:noFill/>
          <a:ln w="101600">
            <a:solidFill>
              <a:schemeClr val="accent2"/>
            </a:solidFill>
            <a:miter lim="800000"/>
            <a:headEnd/>
            <a:tailEn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cxnSp>
        <p:nvCxnSpPr>
          <p:cNvPr id="14" name="Shape 13"/>
          <p:cNvCxnSpPr>
            <a:cxnSpLocks noChangeShapeType="1"/>
            <a:stCxn id="108547" idx="1"/>
            <a:endCxn id="108546" idx="2"/>
          </p:cNvCxnSpPr>
          <p:nvPr/>
        </p:nvCxnSpPr>
        <p:spPr bwMode="auto">
          <a:xfrm rot="10800000">
            <a:off x="2667000" y="3798888"/>
            <a:ext cx="1009650" cy="1533525"/>
          </a:xfrm>
          <a:prstGeom prst="bentConnector2">
            <a:avLst/>
          </a:prstGeom>
          <a:noFill/>
          <a:ln w="101600">
            <a:solidFill>
              <a:schemeClr val="accent2"/>
            </a:solidFill>
            <a:miter lim="800000"/>
            <a:headEnd/>
            <a:tailEn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cxnSp>
        <p:nvCxnSpPr>
          <p:cNvPr id="17" name="Shape 16"/>
          <p:cNvCxnSpPr>
            <a:cxnSpLocks noChangeShapeType="1"/>
            <a:stCxn id="108549" idx="0"/>
            <a:endCxn id="108550" idx="2"/>
          </p:cNvCxnSpPr>
          <p:nvPr/>
        </p:nvCxnSpPr>
        <p:spPr bwMode="auto">
          <a:xfrm rot="5400000" flipH="1" flipV="1">
            <a:off x="6007895" y="2971006"/>
            <a:ext cx="481012" cy="3175"/>
          </a:xfrm>
          <a:prstGeom prst="bentConnector3">
            <a:avLst>
              <a:gd name="adj1" fmla="val 50000"/>
            </a:avLst>
          </a:prstGeom>
          <a:noFill/>
          <a:ln w="101600">
            <a:solidFill>
              <a:schemeClr val="accent2"/>
            </a:solidFill>
            <a:miter lim="800000"/>
            <a:headEnd/>
            <a:tailEn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cxnSp>
        <p:nvCxnSpPr>
          <p:cNvPr id="20" name="Shape 16"/>
          <p:cNvCxnSpPr>
            <a:cxnSpLocks noChangeShapeType="1"/>
            <a:stCxn id="108546" idx="0"/>
            <a:endCxn id="108548" idx="2"/>
          </p:cNvCxnSpPr>
          <p:nvPr/>
        </p:nvCxnSpPr>
        <p:spPr bwMode="auto">
          <a:xfrm rot="5400000" flipH="1" flipV="1">
            <a:off x="2432844" y="2966244"/>
            <a:ext cx="469900" cy="1588"/>
          </a:xfrm>
          <a:prstGeom prst="bentConnector3">
            <a:avLst>
              <a:gd name="adj1" fmla="val 50000"/>
            </a:avLst>
          </a:prstGeom>
          <a:noFill/>
          <a:ln w="101600">
            <a:solidFill>
              <a:schemeClr val="accent2"/>
            </a:solidFill>
            <a:miter lim="800000"/>
            <a:headEnd/>
            <a:tailEn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sp>
        <p:nvSpPr>
          <p:cNvPr id="108555" name="TextBox 22"/>
          <p:cNvSpPr txBox="1">
            <a:spLocks noChangeArrowheads="1"/>
          </p:cNvSpPr>
          <p:nvPr/>
        </p:nvSpPr>
        <p:spPr bwMode="auto">
          <a:xfrm>
            <a:off x="1524000" y="5497513"/>
            <a:ext cx="1905000"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Memory channel</a:t>
            </a:r>
          </a:p>
        </p:txBody>
      </p:sp>
      <p:sp>
        <p:nvSpPr>
          <p:cNvPr id="108556" name="TextBox 23"/>
          <p:cNvSpPr txBox="1">
            <a:spLocks noChangeArrowheads="1"/>
          </p:cNvSpPr>
          <p:nvPr/>
        </p:nvSpPr>
        <p:spPr bwMode="auto">
          <a:xfrm>
            <a:off x="5334000" y="5497513"/>
            <a:ext cx="1905000"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Memory channel</a:t>
            </a:r>
          </a:p>
        </p:txBody>
      </p:sp>
      <p:sp>
        <p:nvSpPr>
          <p:cNvPr id="108557" name="TextBox 24"/>
          <p:cNvSpPr txBox="1">
            <a:spLocks noChangeArrowheads="1"/>
          </p:cNvSpPr>
          <p:nvPr/>
        </p:nvSpPr>
        <p:spPr bwMode="auto">
          <a:xfrm>
            <a:off x="4648200" y="1524000"/>
            <a:ext cx="32766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B050"/>
                </a:solidFill>
                <a:effectLst/>
                <a:uLnTx/>
                <a:uFillTx/>
                <a:latin typeface="Calibri" charset="0"/>
                <a:ea typeface="ＭＳ Ｐゴシック" charset="0"/>
                <a:cs typeface="Arial" charset="0"/>
              </a:rPr>
              <a:t>DIMM </a:t>
            </a:r>
            <a:r>
              <a:rPr kumimoji="0" lang="en-US" sz="1400" b="1" i="0" u="none" strike="noStrike" kern="1200" cap="none" spc="0" normalizeH="0" baseline="0" noProof="0">
                <a:ln>
                  <a:noFill/>
                </a:ln>
                <a:solidFill>
                  <a:srgbClr val="00B050"/>
                </a:solidFill>
                <a:effectLst/>
                <a:uLnTx/>
                <a:uFillTx/>
                <a:latin typeface="Calibri" charset="0"/>
                <a:ea typeface="ＭＳ Ｐゴシック" charset="0"/>
                <a:cs typeface="Arial" charset="0"/>
              </a:rPr>
              <a:t>(Dual in-line memory module)</a:t>
            </a:r>
          </a:p>
        </p:txBody>
      </p:sp>
      <p:sp>
        <p:nvSpPr>
          <p:cNvPr id="26" name="Rectangle 25"/>
          <p:cNvSpPr/>
          <p:nvPr/>
        </p:nvSpPr>
        <p:spPr>
          <a:xfrm>
            <a:off x="4876800" y="2057400"/>
            <a:ext cx="2743200" cy="762000"/>
          </a:xfrm>
          <a:prstGeom prst="rect">
            <a:avLst/>
          </a:prstGeom>
          <a:noFill/>
          <a:ln w="508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8559" name="TextBox 26"/>
          <p:cNvSpPr txBox="1">
            <a:spLocks noChangeArrowheads="1"/>
          </p:cNvSpPr>
          <p:nvPr/>
        </p:nvSpPr>
        <p:spPr bwMode="auto">
          <a:xfrm>
            <a:off x="3657600" y="4191000"/>
            <a:ext cx="13716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alibri" charset="0"/>
                <a:ea typeface="ＭＳ Ｐゴシック" charset="0"/>
                <a:cs typeface="Arial" charset="0"/>
              </a:rPr>
              <a:t>Processor</a:t>
            </a:r>
          </a:p>
        </p:txBody>
      </p:sp>
      <p:cxnSp>
        <p:nvCxnSpPr>
          <p:cNvPr id="30" name="Straight Connector 29"/>
          <p:cNvCxnSpPr/>
          <p:nvPr/>
        </p:nvCxnSpPr>
        <p:spPr>
          <a:xfrm flipV="1">
            <a:off x="6019800" y="4267200"/>
            <a:ext cx="457200" cy="38100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2438400" y="4267200"/>
            <a:ext cx="457200" cy="38100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4" name="Rectangle 33"/>
          <p:cNvSpPr/>
          <p:nvPr/>
        </p:nvSpPr>
        <p:spPr>
          <a:xfrm>
            <a:off x="1219200" y="1981200"/>
            <a:ext cx="2895600" cy="1905000"/>
          </a:xfrm>
          <a:prstGeom prst="rect">
            <a:avLst/>
          </a:prstGeom>
          <a:noFill/>
          <a:ln w="508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8563" name="TextBox 34"/>
          <p:cNvSpPr txBox="1">
            <a:spLocks noChangeArrowheads="1"/>
          </p:cNvSpPr>
          <p:nvPr/>
        </p:nvSpPr>
        <p:spPr bwMode="auto">
          <a:xfrm>
            <a:off x="1676400" y="1524000"/>
            <a:ext cx="19050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ja-JP" alt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a:t>
            </a:r>
            <a:r>
              <a:rPr kumimoji="0" lang="en-US" altLang="ja-JP"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Channel</a:t>
            </a:r>
            <a:r>
              <a:rPr kumimoji="0" lang="ja-JP" alt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a:t>
            </a:r>
            <a:endParaRPr kumimoji="0" 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endParaRPr>
          </a:p>
        </p:txBody>
      </p:sp>
      <p:sp>
        <p:nvSpPr>
          <p:cNvPr id="2" name="Slide Number Placeholder 1">
            <a:extLst>
              <a:ext uri="{FF2B5EF4-FFF2-40B4-BE49-F238E27FC236}">
                <a16:creationId xmlns:a16="http://schemas.microsoft.com/office/drawing/2014/main" id="{F0F64BBC-AE65-4778-98EA-A787B43BAA59}"/>
              </a:ext>
            </a:extLst>
          </p:cNvPr>
          <p:cNvSpPr>
            <a:spLocks noGrp="1"/>
          </p:cNvSpPr>
          <p:nvPr>
            <p:ph type="sldNum" sz="quarter" idx="11"/>
          </p:nvPr>
        </p:nvSpPr>
        <p:spPr/>
        <p:txBody>
          <a:bodyPr/>
          <a:lstStyle/>
          <a:p>
            <a:pPr>
              <a:defRPr/>
            </a:pPr>
            <a:fld id="{FC5B7879-3FBA-B54E-968A-FC666650947C}" type="slidenum">
              <a:rPr lang="en-US" smtClean="0"/>
              <a:pPr>
                <a:defRPr/>
              </a:pPr>
              <a:t>23</a:t>
            </a:fld>
            <a:endParaRPr lang="en-US"/>
          </a:p>
        </p:txBody>
      </p:sp>
    </p:spTree>
    <p:extLst>
      <p:ext uri="{BB962C8B-B14F-4D97-AF65-F5344CB8AC3E}">
        <p14:creationId xmlns:p14="http://schemas.microsoft.com/office/powerpoint/2010/main" val="1931603432"/>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Title 1"/>
          <p:cNvSpPr>
            <a:spLocks noGrp="1"/>
          </p:cNvSpPr>
          <p:nvPr>
            <p:ph type="title"/>
          </p:nvPr>
        </p:nvSpPr>
        <p:spPr/>
        <p:txBody>
          <a:bodyPr/>
          <a:lstStyle/>
          <a:p>
            <a:r>
              <a:rPr lang="en-US" dirty="0">
                <a:latin typeface="Garamond" panose="02020404030301010803" pitchFamily="18" charset="0"/>
              </a:rPr>
              <a:t>Breaking down a DIMM (module)</a:t>
            </a:r>
          </a:p>
        </p:txBody>
      </p:sp>
      <p:pic>
        <p:nvPicPr>
          <p:cNvPr id="110594" name="Picture 3" descr="DIMM_crop.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981200"/>
            <a:ext cx="2590800" cy="5984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10595" name="TextBox 4"/>
          <p:cNvSpPr txBox="1">
            <a:spLocks noChangeArrowheads="1"/>
          </p:cNvSpPr>
          <p:nvPr/>
        </p:nvSpPr>
        <p:spPr bwMode="auto">
          <a:xfrm>
            <a:off x="609600" y="1524000"/>
            <a:ext cx="32766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B050"/>
                </a:solidFill>
                <a:effectLst/>
                <a:uLnTx/>
                <a:uFillTx/>
                <a:latin typeface="Calibri" charset="0"/>
                <a:ea typeface="ＭＳ Ｐゴシック" charset="0"/>
                <a:cs typeface="Arial" charset="0"/>
              </a:rPr>
              <a:t>DIMM </a:t>
            </a:r>
            <a:r>
              <a:rPr kumimoji="0" lang="en-US" sz="1400" b="1" i="0" u="none" strike="noStrike" kern="1200" cap="none" spc="0" normalizeH="0" baseline="0" noProof="0">
                <a:ln>
                  <a:noFill/>
                </a:ln>
                <a:solidFill>
                  <a:srgbClr val="00B050"/>
                </a:solidFill>
                <a:effectLst/>
                <a:uLnTx/>
                <a:uFillTx/>
                <a:latin typeface="Calibri" charset="0"/>
                <a:ea typeface="ＭＳ Ｐゴシック" charset="0"/>
                <a:cs typeface="Arial" charset="0"/>
              </a:rPr>
              <a:t>(Dual in-line memory module)</a:t>
            </a:r>
          </a:p>
        </p:txBody>
      </p:sp>
      <p:sp>
        <p:nvSpPr>
          <p:cNvPr id="7" name="Right Arrow 6"/>
          <p:cNvSpPr/>
          <p:nvPr/>
        </p:nvSpPr>
        <p:spPr>
          <a:xfrm>
            <a:off x="4038600" y="1828800"/>
            <a:ext cx="1752600" cy="76200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Side view</a:t>
            </a:r>
          </a:p>
        </p:txBody>
      </p:sp>
      <p:pic>
        <p:nvPicPr>
          <p:cNvPr id="110597" name="Picture 7" descr="DIMM_side.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219200"/>
            <a:ext cx="1524000" cy="22463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10598" name="Picture 8" descr="DIMM_front.png"/>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3400" y="4487863"/>
            <a:ext cx="3844925" cy="6937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10599" name="Picture 9" descr="DIMM_back.png"/>
          <p:cNvPicPr>
            <a:picLocks noChangeAspect="1"/>
          </p:cNvPicPr>
          <p:nvPr/>
        </p:nvPicPr>
        <p:blipFill>
          <a:blip r:embed="rId5" cstate="print">
            <a:alphaModFix amt="40000"/>
            <a:extLst>
              <a:ext uri="{28A0092B-C50C-407E-A947-70E740481C1C}">
                <a14:useLocalDpi xmlns:a14="http://schemas.microsoft.com/office/drawing/2010/main" val="0"/>
              </a:ext>
            </a:extLst>
          </a:blip>
          <a:srcRect/>
          <a:stretch>
            <a:fillRect/>
          </a:stretch>
        </p:blipFill>
        <p:spPr bwMode="auto">
          <a:xfrm>
            <a:off x="4800600" y="4479925"/>
            <a:ext cx="3844925" cy="701675"/>
          </a:xfrm>
          <a:prstGeom prst="rect">
            <a:avLst/>
          </a:prstGeom>
          <a:solidFill>
            <a:schemeClr val="accent2">
              <a:alpha val="39999"/>
            </a:schemeClr>
          </a:solidFill>
          <a:ln>
            <a:noFill/>
          </a:ln>
          <a:extLst>
            <a:ext uri="{91240B29-F687-4f45-9708-019B960494DF}">
              <a14:hiddenLine xmlns="" xmlns:a14="http://schemas.microsoft.com/office/drawing/2010/main" w="9525">
                <a:solidFill>
                  <a:srgbClr val="000000"/>
                </a:solidFill>
                <a:miter lim="800000"/>
                <a:headEnd/>
                <a:tailEnd/>
              </a14:hiddenLine>
            </a:ext>
          </a:extLst>
        </p:spPr>
      </p:pic>
      <p:sp>
        <p:nvSpPr>
          <p:cNvPr id="110600" name="TextBox 10"/>
          <p:cNvSpPr txBox="1">
            <a:spLocks noChangeArrowheads="1"/>
          </p:cNvSpPr>
          <p:nvPr/>
        </p:nvSpPr>
        <p:spPr bwMode="auto">
          <a:xfrm>
            <a:off x="2514600" y="4038600"/>
            <a:ext cx="18288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alibri" charset="0"/>
                <a:ea typeface="ＭＳ Ｐゴシック" charset="0"/>
                <a:cs typeface="Arial" charset="0"/>
              </a:rPr>
              <a:t>Front of DIMM</a:t>
            </a:r>
          </a:p>
        </p:txBody>
      </p:sp>
      <p:sp>
        <p:nvSpPr>
          <p:cNvPr id="110601" name="TextBox 11"/>
          <p:cNvSpPr txBox="1">
            <a:spLocks noChangeArrowheads="1"/>
          </p:cNvSpPr>
          <p:nvPr/>
        </p:nvSpPr>
        <p:spPr bwMode="auto">
          <a:xfrm>
            <a:off x="6781800" y="4038600"/>
            <a:ext cx="18288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alibri" charset="0"/>
                <a:ea typeface="ＭＳ Ｐゴシック" charset="0"/>
                <a:cs typeface="Arial" charset="0"/>
              </a:rPr>
              <a:t>Back of DIMM</a:t>
            </a:r>
          </a:p>
        </p:txBody>
      </p:sp>
      <p:cxnSp>
        <p:nvCxnSpPr>
          <p:cNvPr id="14" name="Straight Arrow Connector 13"/>
          <p:cNvCxnSpPr>
            <a:endCxn id="110600" idx="0"/>
          </p:cNvCxnSpPr>
          <p:nvPr/>
        </p:nvCxnSpPr>
        <p:spPr>
          <a:xfrm rot="10800000" flipV="1">
            <a:off x="3429000" y="2514600"/>
            <a:ext cx="3505200" cy="1524000"/>
          </a:xfrm>
          <a:prstGeom prst="straightConnector1">
            <a:avLst/>
          </a:prstGeom>
          <a:ln w="762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endCxn id="110601" idx="0"/>
          </p:cNvCxnSpPr>
          <p:nvPr/>
        </p:nvCxnSpPr>
        <p:spPr>
          <a:xfrm rot="16200000" flipH="1">
            <a:off x="6743700" y="3086100"/>
            <a:ext cx="1524000" cy="381000"/>
          </a:xfrm>
          <a:prstGeom prst="straightConnector1">
            <a:avLst/>
          </a:prstGeom>
          <a:ln w="762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Rectangle 36"/>
          <p:cNvSpPr/>
          <p:nvPr/>
        </p:nvSpPr>
        <p:spPr>
          <a:xfrm>
            <a:off x="685800" y="4495800"/>
            <a:ext cx="3581400" cy="533400"/>
          </a:xfrm>
          <a:prstGeom prst="rect">
            <a:avLst/>
          </a:prstGeom>
          <a:solidFill>
            <a:srgbClr val="FFC000">
              <a:alpha val="40000"/>
            </a:srgbClr>
          </a:solidFill>
          <a:ln w="50800">
            <a:solidFill>
              <a:schemeClr val="accent6"/>
            </a:solidFill>
            <a:prstDash val="dash"/>
          </a:ln>
        </p:spPr>
        <p:style>
          <a:lnRef idx="2">
            <a:schemeClr val="accent2">
              <a:shade val="50000"/>
            </a:schemeClr>
          </a:lnRef>
          <a:fillRef idx="1">
            <a:schemeClr val="accent2"/>
          </a:fillRef>
          <a:effectRef idx="0">
            <a:schemeClr val="accent2"/>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8" name="Rectangle 37"/>
          <p:cNvSpPr/>
          <p:nvPr/>
        </p:nvSpPr>
        <p:spPr>
          <a:xfrm>
            <a:off x="4953000" y="4495800"/>
            <a:ext cx="3581400" cy="533400"/>
          </a:xfrm>
          <a:prstGeom prst="rect">
            <a:avLst/>
          </a:prstGeom>
          <a:solidFill>
            <a:srgbClr val="FFC000">
              <a:alpha val="40000"/>
            </a:srgbClr>
          </a:solidFill>
          <a:ln w="50800">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0606" name="TextBox 38"/>
          <p:cNvSpPr txBox="1">
            <a:spLocks noChangeArrowheads="1"/>
          </p:cNvSpPr>
          <p:nvPr/>
        </p:nvSpPr>
        <p:spPr bwMode="auto">
          <a:xfrm>
            <a:off x="1295400" y="5638800"/>
            <a:ext cx="31242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F79646"/>
                </a:solidFill>
                <a:effectLst/>
                <a:uLnTx/>
                <a:uFillTx/>
                <a:latin typeface="Calibri" charset="0"/>
                <a:ea typeface="ＭＳ Ｐゴシック" charset="0"/>
                <a:cs typeface="Arial" charset="0"/>
              </a:rPr>
              <a:t>Rank 0: </a:t>
            </a:r>
            <a:r>
              <a:rPr kumimoji="0" lang="en-US" sz="1800" b="0" i="0" u="none" strike="noStrike" kern="1200" cap="none" spc="0" normalizeH="0" baseline="0" noProof="0">
                <a:ln>
                  <a:noFill/>
                </a:ln>
                <a:solidFill>
                  <a:srgbClr val="F79646"/>
                </a:solidFill>
                <a:effectLst/>
                <a:uLnTx/>
                <a:uFillTx/>
                <a:latin typeface="Calibri" charset="0"/>
                <a:ea typeface="ＭＳ Ｐゴシック" charset="0"/>
                <a:cs typeface="Arial" charset="0"/>
              </a:rPr>
              <a:t>collection of 8 chips</a:t>
            </a:r>
          </a:p>
        </p:txBody>
      </p:sp>
      <p:sp>
        <p:nvSpPr>
          <p:cNvPr id="110607" name="TextBox 39"/>
          <p:cNvSpPr txBox="1">
            <a:spLocks noChangeArrowheads="1"/>
          </p:cNvSpPr>
          <p:nvPr/>
        </p:nvSpPr>
        <p:spPr bwMode="auto">
          <a:xfrm>
            <a:off x="6705600" y="5649913"/>
            <a:ext cx="990600"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F79646"/>
                </a:solidFill>
                <a:effectLst/>
                <a:uLnTx/>
                <a:uFillTx/>
                <a:latin typeface="Calibri" charset="0"/>
                <a:ea typeface="ＭＳ Ｐゴシック" charset="0"/>
                <a:cs typeface="Arial" charset="0"/>
              </a:rPr>
              <a:t>Rank 1</a:t>
            </a:r>
          </a:p>
        </p:txBody>
      </p:sp>
      <p:cxnSp>
        <p:nvCxnSpPr>
          <p:cNvPr id="43" name="Straight Arrow Connector 42"/>
          <p:cNvCxnSpPr>
            <a:stCxn id="37" idx="2"/>
            <a:endCxn id="110606" idx="0"/>
          </p:cNvCxnSpPr>
          <p:nvPr/>
        </p:nvCxnSpPr>
        <p:spPr>
          <a:xfrm rot="16200000" flipH="1">
            <a:off x="2362200" y="5143500"/>
            <a:ext cx="609600" cy="381000"/>
          </a:xfrm>
          <a:prstGeom prst="straightConnector1">
            <a:avLst/>
          </a:prstGeom>
          <a:ln w="5080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38" idx="2"/>
            <a:endCxn id="110607" idx="0"/>
          </p:cNvCxnSpPr>
          <p:nvPr/>
        </p:nvCxnSpPr>
        <p:spPr>
          <a:xfrm rot="16200000" flipH="1">
            <a:off x="6661943" y="5110957"/>
            <a:ext cx="620713" cy="457200"/>
          </a:xfrm>
          <a:prstGeom prst="straightConnector1">
            <a:avLst/>
          </a:prstGeom>
          <a:ln w="5080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E9FA2FF7-B92D-4E4D-ACE5-F80CD63010CC}"/>
              </a:ext>
            </a:extLst>
          </p:cNvPr>
          <p:cNvSpPr>
            <a:spLocks noGrp="1"/>
          </p:cNvSpPr>
          <p:nvPr>
            <p:ph type="sldNum" sz="quarter" idx="11"/>
          </p:nvPr>
        </p:nvSpPr>
        <p:spPr/>
        <p:txBody>
          <a:bodyPr/>
          <a:lstStyle/>
          <a:p>
            <a:pPr>
              <a:defRPr/>
            </a:pPr>
            <a:fld id="{FC5B7879-3FBA-B54E-968A-FC666650947C}" type="slidenum">
              <a:rPr lang="en-US" smtClean="0"/>
              <a:pPr>
                <a:defRPr/>
              </a:pPr>
              <a:t>24</a:t>
            </a:fld>
            <a:endParaRPr lang="en-US"/>
          </a:p>
        </p:txBody>
      </p:sp>
    </p:spTree>
    <p:extLst>
      <p:ext uri="{BB962C8B-B14F-4D97-AF65-F5344CB8AC3E}">
        <p14:creationId xmlns:p14="http://schemas.microsoft.com/office/powerpoint/2010/main" val="70162953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060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06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110606" grpId="0"/>
      <p:bldP spid="11060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Title 1"/>
          <p:cNvSpPr>
            <a:spLocks noGrp="1"/>
          </p:cNvSpPr>
          <p:nvPr>
            <p:ph type="title"/>
          </p:nvPr>
        </p:nvSpPr>
        <p:spPr/>
        <p:txBody>
          <a:bodyPr/>
          <a:lstStyle/>
          <a:p>
            <a:r>
              <a:rPr lang="en-US">
                <a:latin typeface="Garamond" panose="02020404030301010803" pitchFamily="18" charset="0"/>
              </a:rPr>
              <a:t>Breaking down a Rank</a:t>
            </a:r>
          </a:p>
        </p:txBody>
      </p:sp>
      <p:sp>
        <p:nvSpPr>
          <p:cNvPr id="4" name="Rectangle 3"/>
          <p:cNvSpPr/>
          <p:nvPr/>
        </p:nvSpPr>
        <p:spPr>
          <a:xfrm>
            <a:off x="609600" y="2895600"/>
            <a:ext cx="1295400" cy="381000"/>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Rank 0</a:t>
            </a:r>
          </a:p>
        </p:txBody>
      </p:sp>
      <p:cxnSp>
        <p:nvCxnSpPr>
          <p:cNvPr id="6" name="Straight Connector 5"/>
          <p:cNvCxnSpPr/>
          <p:nvPr/>
        </p:nvCxnSpPr>
        <p:spPr>
          <a:xfrm flipV="1">
            <a:off x="1066800" y="3579813"/>
            <a:ext cx="457200" cy="38100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 name="Shape 9"/>
          <p:cNvCxnSpPr>
            <a:cxnSpLocks noChangeShapeType="1"/>
          </p:cNvCxnSpPr>
          <p:nvPr/>
        </p:nvCxnSpPr>
        <p:spPr bwMode="auto">
          <a:xfrm rot="5400000" flipH="1" flipV="1">
            <a:off x="745332" y="3809206"/>
            <a:ext cx="1066800" cy="1587"/>
          </a:xfrm>
          <a:prstGeom prst="bentConnector3">
            <a:avLst>
              <a:gd name="adj1" fmla="val 50000"/>
            </a:avLst>
          </a:prstGeom>
          <a:noFill/>
          <a:ln w="1016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sp>
        <p:nvSpPr>
          <p:cNvPr id="112645" name="TextBox 7"/>
          <p:cNvSpPr txBox="1">
            <a:spLocks noChangeArrowheads="1"/>
          </p:cNvSpPr>
          <p:nvPr/>
        </p:nvSpPr>
        <p:spPr bwMode="auto">
          <a:xfrm>
            <a:off x="1295400" y="3592513"/>
            <a:ext cx="990600"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&lt;0:63&gt;</a:t>
            </a:r>
          </a:p>
        </p:txBody>
      </p:sp>
      <p:cxnSp>
        <p:nvCxnSpPr>
          <p:cNvPr id="11" name="Straight Connector 10"/>
          <p:cNvCxnSpPr>
            <a:stCxn id="23" idx="0"/>
            <a:endCxn id="43" idx="1"/>
          </p:cNvCxnSpPr>
          <p:nvPr/>
        </p:nvCxnSpPr>
        <p:spPr>
          <a:xfrm rot="5400000" flipH="1" flipV="1">
            <a:off x="2353469" y="1048544"/>
            <a:ext cx="331787" cy="2447925"/>
          </a:xfrm>
          <a:prstGeom prst="line">
            <a:avLst/>
          </a:prstGeom>
          <a:ln w="6350"/>
        </p:spPr>
        <p:style>
          <a:lnRef idx="1">
            <a:schemeClr val="dk1"/>
          </a:lnRef>
          <a:fillRef idx="0">
            <a:schemeClr val="dk1"/>
          </a:fillRef>
          <a:effectRef idx="0">
            <a:schemeClr val="dk1"/>
          </a:effectRef>
          <a:fontRef idx="minor">
            <a:schemeClr val="tx1"/>
          </a:fontRef>
        </p:style>
      </p:cxnSp>
      <p:cxnSp>
        <p:nvCxnSpPr>
          <p:cNvPr id="13" name="Straight Connector 12"/>
          <p:cNvCxnSpPr>
            <a:stCxn id="23" idx="4"/>
            <a:endCxn id="43" idx="3"/>
          </p:cNvCxnSpPr>
          <p:nvPr/>
        </p:nvCxnSpPr>
        <p:spPr>
          <a:xfrm rot="16200000" flipH="1">
            <a:off x="2162969" y="3704431"/>
            <a:ext cx="712788" cy="2447925"/>
          </a:xfrm>
          <a:prstGeom prst="line">
            <a:avLst/>
          </a:prstGeom>
          <a:ln w="6350"/>
        </p:spPr>
        <p:style>
          <a:lnRef idx="1">
            <a:schemeClr val="dk1"/>
          </a:lnRef>
          <a:fillRef idx="0">
            <a:schemeClr val="dk1"/>
          </a:fillRef>
          <a:effectRef idx="0">
            <a:schemeClr val="dk1"/>
          </a:effectRef>
          <a:fontRef idx="minor">
            <a:schemeClr val="tx1"/>
          </a:fontRef>
        </p:style>
      </p:cxnSp>
      <p:sp>
        <p:nvSpPr>
          <p:cNvPr id="17" name="Rectangle 16"/>
          <p:cNvSpPr/>
          <p:nvPr/>
        </p:nvSpPr>
        <p:spPr>
          <a:xfrm>
            <a:off x="4038600" y="2362200"/>
            <a:ext cx="609600" cy="990600"/>
          </a:xfrm>
          <a:prstGeom prst="rect">
            <a:avLst/>
          </a:prstGeom>
        </p:spPr>
        <p:style>
          <a:lnRef idx="2">
            <a:schemeClr val="dk1">
              <a:shade val="50000"/>
            </a:schemeClr>
          </a:lnRef>
          <a:fillRef idx="1">
            <a:schemeClr val="dk1"/>
          </a:fillRef>
          <a:effectRef idx="0">
            <a:schemeClr val="dk1"/>
          </a:effectRef>
          <a:fontRef idx="minor">
            <a:schemeClr val="lt1"/>
          </a:fontRef>
        </p:style>
        <p:txBody>
          <a:bodyPr vert="vert27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Chip 0</a:t>
            </a:r>
          </a:p>
        </p:txBody>
      </p:sp>
      <p:sp>
        <p:nvSpPr>
          <p:cNvPr id="18" name="Rectangle 17"/>
          <p:cNvSpPr/>
          <p:nvPr/>
        </p:nvSpPr>
        <p:spPr>
          <a:xfrm>
            <a:off x="4876800" y="2362200"/>
            <a:ext cx="609600" cy="990600"/>
          </a:xfrm>
          <a:prstGeom prst="rect">
            <a:avLst/>
          </a:prstGeom>
        </p:spPr>
        <p:style>
          <a:lnRef idx="2">
            <a:schemeClr val="dk1">
              <a:shade val="50000"/>
            </a:schemeClr>
          </a:lnRef>
          <a:fillRef idx="1">
            <a:schemeClr val="dk1"/>
          </a:fillRef>
          <a:effectRef idx="0">
            <a:schemeClr val="dk1"/>
          </a:effectRef>
          <a:fontRef idx="minor">
            <a:schemeClr val="lt1"/>
          </a:fontRef>
        </p:style>
        <p:txBody>
          <a:bodyPr vert="vert27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Chip 1</a:t>
            </a:r>
          </a:p>
        </p:txBody>
      </p:sp>
      <p:sp>
        <p:nvSpPr>
          <p:cNvPr id="20" name="Rectangle 19"/>
          <p:cNvSpPr/>
          <p:nvPr/>
        </p:nvSpPr>
        <p:spPr>
          <a:xfrm>
            <a:off x="7086600" y="2362200"/>
            <a:ext cx="609600" cy="990600"/>
          </a:xfrm>
          <a:prstGeom prst="rect">
            <a:avLst/>
          </a:prstGeom>
        </p:spPr>
        <p:style>
          <a:lnRef idx="2">
            <a:schemeClr val="dk1">
              <a:shade val="50000"/>
            </a:schemeClr>
          </a:lnRef>
          <a:fillRef idx="1">
            <a:schemeClr val="dk1"/>
          </a:fillRef>
          <a:effectRef idx="0">
            <a:schemeClr val="dk1"/>
          </a:effectRef>
          <a:fontRef idx="minor">
            <a:schemeClr val="lt1"/>
          </a:fontRef>
        </p:style>
        <p:txBody>
          <a:bodyPr vert="vert27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Chip 7</a:t>
            </a:r>
          </a:p>
        </p:txBody>
      </p:sp>
      <p:sp>
        <p:nvSpPr>
          <p:cNvPr id="23" name="Oval 22"/>
          <p:cNvSpPr/>
          <p:nvPr/>
        </p:nvSpPr>
        <p:spPr>
          <a:xfrm>
            <a:off x="228600" y="2438400"/>
            <a:ext cx="2133600" cy="2133600"/>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2652" name="TextBox 29"/>
          <p:cNvSpPr txBox="1">
            <a:spLocks noChangeArrowheads="1"/>
          </p:cNvSpPr>
          <p:nvPr/>
        </p:nvSpPr>
        <p:spPr bwMode="auto">
          <a:xfrm>
            <a:off x="5638800" y="2209800"/>
            <a:ext cx="1219200" cy="9540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5600" b="1" i="0" u="none" strike="noStrike" kern="1200" cap="none" spc="0" normalizeH="0" baseline="0" noProof="0">
                <a:ln>
                  <a:noFill/>
                </a:ln>
                <a:solidFill>
                  <a:srgbClr val="000000"/>
                </a:solidFill>
                <a:effectLst/>
                <a:uLnTx/>
                <a:uFillTx/>
                <a:latin typeface="Calibri" charset="0"/>
                <a:ea typeface="ＭＳ Ｐゴシック" charset="0"/>
                <a:cs typeface="Arial" charset="0"/>
              </a:rPr>
              <a:t>. . .</a:t>
            </a:r>
          </a:p>
        </p:txBody>
      </p:sp>
      <p:cxnSp>
        <p:nvCxnSpPr>
          <p:cNvPr id="31" name="Shape 9"/>
          <p:cNvCxnSpPr>
            <a:cxnSpLocks noChangeShapeType="1"/>
          </p:cNvCxnSpPr>
          <p:nvPr/>
        </p:nvCxnSpPr>
        <p:spPr bwMode="auto">
          <a:xfrm rot="5400000" flipH="1" flipV="1">
            <a:off x="3810794" y="3885406"/>
            <a:ext cx="1066800" cy="1588"/>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sp>
        <p:nvSpPr>
          <p:cNvPr id="112654" name="TextBox 31"/>
          <p:cNvSpPr txBox="1">
            <a:spLocks noChangeArrowheads="1"/>
          </p:cNvSpPr>
          <p:nvPr/>
        </p:nvSpPr>
        <p:spPr bwMode="auto">
          <a:xfrm rot="-5400000">
            <a:off x="3663157" y="3663156"/>
            <a:ext cx="990600"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&lt;0:7&gt;</a:t>
            </a:r>
          </a:p>
        </p:txBody>
      </p:sp>
      <p:cxnSp>
        <p:nvCxnSpPr>
          <p:cNvPr id="34" name="Shape 9"/>
          <p:cNvCxnSpPr>
            <a:cxnSpLocks noChangeShapeType="1"/>
          </p:cNvCxnSpPr>
          <p:nvPr/>
        </p:nvCxnSpPr>
        <p:spPr bwMode="auto">
          <a:xfrm rot="5400000" flipH="1" flipV="1">
            <a:off x="4647407" y="3885406"/>
            <a:ext cx="1066800" cy="1587"/>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sp>
        <p:nvSpPr>
          <p:cNvPr id="112656" name="TextBox 34"/>
          <p:cNvSpPr txBox="1">
            <a:spLocks noChangeArrowheads="1"/>
          </p:cNvSpPr>
          <p:nvPr/>
        </p:nvSpPr>
        <p:spPr bwMode="auto">
          <a:xfrm rot="-5400000">
            <a:off x="4499769" y="3663156"/>
            <a:ext cx="9906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&lt;8:15&gt;</a:t>
            </a:r>
          </a:p>
        </p:txBody>
      </p:sp>
      <p:cxnSp>
        <p:nvCxnSpPr>
          <p:cNvPr id="36" name="Shape 9"/>
          <p:cNvCxnSpPr>
            <a:cxnSpLocks noChangeShapeType="1"/>
          </p:cNvCxnSpPr>
          <p:nvPr/>
        </p:nvCxnSpPr>
        <p:spPr bwMode="auto">
          <a:xfrm rot="5400000" flipH="1" flipV="1">
            <a:off x="6857207" y="3885406"/>
            <a:ext cx="1066800" cy="1587"/>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sp>
        <p:nvSpPr>
          <p:cNvPr id="112658" name="TextBox 36"/>
          <p:cNvSpPr txBox="1">
            <a:spLocks noChangeArrowheads="1"/>
          </p:cNvSpPr>
          <p:nvPr/>
        </p:nvSpPr>
        <p:spPr bwMode="auto">
          <a:xfrm rot="-5400000">
            <a:off x="6709569" y="3663156"/>
            <a:ext cx="9906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&lt;56:63&gt;</a:t>
            </a:r>
          </a:p>
        </p:txBody>
      </p:sp>
      <p:cxnSp>
        <p:nvCxnSpPr>
          <p:cNvPr id="38" name="Shape 9"/>
          <p:cNvCxnSpPr>
            <a:cxnSpLocks noChangeShapeType="1"/>
          </p:cNvCxnSpPr>
          <p:nvPr/>
        </p:nvCxnSpPr>
        <p:spPr bwMode="auto">
          <a:xfrm>
            <a:off x="4343400" y="4419600"/>
            <a:ext cx="3048000" cy="1588"/>
          </a:xfrm>
          <a:prstGeom prst="bentConnector3">
            <a:avLst>
              <a:gd name="adj1" fmla="val 50000"/>
            </a:avLst>
          </a:prstGeom>
          <a:noFill/>
          <a:ln w="50800">
            <a:solidFill>
              <a:schemeClr val="accent2"/>
            </a:solidFill>
            <a:miter lim="800000"/>
            <a:headEnd/>
            <a:tailEn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cxnSp>
        <p:nvCxnSpPr>
          <p:cNvPr id="41" name="Shape 9"/>
          <p:cNvCxnSpPr>
            <a:cxnSpLocks noChangeShapeType="1"/>
          </p:cNvCxnSpPr>
          <p:nvPr/>
        </p:nvCxnSpPr>
        <p:spPr bwMode="auto">
          <a:xfrm rot="5400000" flipH="1" flipV="1">
            <a:off x="5317332" y="4952206"/>
            <a:ext cx="1066800" cy="1587"/>
          </a:xfrm>
          <a:prstGeom prst="bentConnector3">
            <a:avLst>
              <a:gd name="adj1" fmla="val 50000"/>
            </a:avLst>
          </a:prstGeom>
          <a:noFill/>
          <a:ln w="1016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sp>
        <p:nvSpPr>
          <p:cNvPr id="112661" name="TextBox 41"/>
          <p:cNvSpPr txBox="1">
            <a:spLocks noChangeArrowheads="1"/>
          </p:cNvSpPr>
          <p:nvPr/>
        </p:nvSpPr>
        <p:spPr bwMode="auto">
          <a:xfrm>
            <a:off x="5867400" y="4800600"/>
            <a:ext cx="15240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Data &lt;0:63&gt;</a:t>
            </a:r>
          </a:p>
        </p:txBody>
      </p:sp>
      <p:sp>
        <p:nvSpPr>
          <p:cNvPr id="43" name="Oval 42"/>
          <p:cNvSpPr/>
          <p:nvPr/>
        </p:nvSpPr>
        <p:spPr>
          <a:xfrm>
            <a:off x="2895600" y="1447800"/>
            <a:ext cx="5791200" cy="4495800"/>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Slide Number Placeholder 1">
            <a:extLst>
              <a:ext uri="{FF2B5EF4-FFF2-40B4-BE49-F238E27FC236}">
                <a16:creationId xmlns:a16="http://schemas.microsoft.com/office/drawing/2014/main" id="{D7C8A0EE-8CB7-44DA-B85D-069F85BB8D4C}"/>
              </a:ext>
            </a:extLst>
          </p:cNvPr>
          <p:cNvSpPr>
            <a:spLocks noGrp="1"/>
          </p:cNvSpPr>
          <p:nvPr>
            <p:ph type="sldNum" sz="quarter" idx="11"/>
          </p:nvPr>
        </p:nvSpPr>
        <p:spPr/>
        <p:txBody>
          <a:bodyPr/>
          <a:lstStyle/>
          <a:p>
            <a:pPr>
              <a:defRPr/>
            </a:pPr>
            <a:fld id="{FC5B7879-3FBA-B54E-968A-FC666650947C}" type="slidenum">
              <a:rPr lang="en-US" smtClean="0"/>
              <a:pPr>
                <a:defRPr/>
              </a:pPr>
              <a:t>25</a:t>
            </a:fld>
            <a:endParaRPr lang="en-US"/>
          </a:p>
        </p:txBody>
      </p:sp>
    </p:spTree>
    <p:extLst>
      <p:ext uri="{BB962C8B-B14F-4D97-AF65-F5344CB8AC3E}">
        <p14:creationId xmlns:p14="http://schemas.microsoft.com/office/powerpoint/2010/main" val="411131508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2" name="Shape 9"/>
          <p:cNvCxnSpPr>
            <a:cxnSpLocks noChangeShapeType="1"/>
          </p:cNvCxnSpPr>
          <p:nvPr/>
        </p:nvCxnSpPr>
        <p:spPr bwMode="auto">
          <a:xfrm rot="16200000" flipV="1">
            <a:off x="5143500" y="4152900"/>
            <a:ext cx="914400" cy="381000"/>
          </a:xfrm>
          <a:prstGeom prst="bentConnector3">
            <a:avLst>
              <a:gd name="adj1" fmla="val 5813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cxnSp>
        <p:nvCxnSpPr>
          <p:cNvPr id="38" name="Shape 9"/>
          <p:cNvCxnSpPr>
            <a:cxnSpLocks noChangeShapeType="1"/>
          </p:cNvCxnSpPr>
          <p:nvPr/>
        </p:nvCxnSpPr>
        <p:spPr bwMode="auto">
          <a:xfrm rot="16200000" flipV="1">
            <a:off x="5562600" y="3810000"/>
            <a:ext cx="1752600" cy="228600"/>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sp>
        <p:nvSpPr>
          <p:cNvPr id="113667" name="Title 1"/>
          <p:cNvSpPr>
            <a:spLocks noGrp="1"/>
          </p:cNvSpPr>
          <p:nvPr>
            <p:ph type="title"/>
          </p:nvPr>
        </p:nvSpPr>
        <p:spPr/>
        <p:txBody>
          <a:bodyPr/>
          <a:lstStyle/>
          <a:p>
            <a:r>
              <a:rPr lang="en-US">
                <a:latin typeface="Garamond" panose="02020404030301010803" pitchFamily="18" charset="0"/>
              </a:rPr>
              <a:t>Breaking down a Chip</a:t>
            </a:r>
          </a:p>
        </p:txBody>
      </p:sp>
      <p:sp>
        <p:nvSpPr>
          <p:cNvPr id="4" name="Rectangle 3"/>
          <p:cNvSpPr/>
          <p:nvPr/>
        </p:nvSpPr>
        <p:spPr>
          <a:xfrm>
            <a:off x="1295400" y="2590800"/>
            <a:ext cx="609600" cy="990600"/>
          </a:xfrm>
          <a:prstGeom prst="rect">
            <a:avLst/>
          </a:prstGeom>
        </p:spPr>
        <p:style>
          <a:lnRef idx="2">
            <a:schemeClr val="dk1">
              <a:shade val="50000"/>
            </a:schemeClr>
          </a:lnRef>
          <a:fillRef idx="1">
            <a:schemeClr val="dk1"/>
          </a:fillRef>
          <a:effectRef idx="0">
            <a:schemeClr val="dk1"/>
          </a:effectRef>
          <a:fontRef idx="minor">
            <a:schemeClr val="lt1"/>
          </a:fontRef>
        </p:style>
        <p:txBody>
          <a:bodyPr vert="vert27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Chip 0</a:t>
            </a:r>
          </a:p>
        </p:txBody>
      </p:sp>
      <p:cxnSp>
        <p:nvCxnSpPr>
          <p:cNvPr id="6" name="Shape 9"/>
          <p:cNvCxnSpPr>
            <a:cxnSpLocks noChangeShapeType="1"/>
          </p:cNvCxnSpPr>
          <p:nvPr/>
        </p:nvCxnSpPr>
        <p:spPr bwMode="auto">
          <a:xfrm rot="5400000" flipH="1" flipV="1">
            <a:off x="1056482" y="4114006"/>
            <a:ext cx="1066800" cy="1587"/>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sp>
        <p:nvSpPr>
          <p:cNvPr id="113670" name="TextBox 6"/>
          <p:cNvSpPr txBox="1">
            <a:spLocks noChangeArrowheads="1"/>
          </p:cNvSpPr>
          <p:nvPr/>
        </p:nvSpPr>
        <p:spPr bwMode="auto">
          <a:xfrm rot="-5400000">
            <a:off x="908844" y="3891756"/>
            <a:ext cx="9906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&lt;0:7&gt;</a:t>
            </a:r>
          </a:p>
        </p:txBody>
      </p:sp>
      <p:graphicFrame>
        <p:nvGraphicFramePr>
          <p:cNvPr id="5" name="Table 4"/>
          <p:cNvGraphicFramePr>
            <a:graphicFrameLocks noGrp="1"/>
          </p:cNvGraphicFramePr>
          <p:nvPr/>
        </p:nvGraphicFramePr>
        <p:xfrm>
          <a:off x="5638800" y="1720850"/>
          <a:ext cx="1249368" cy="1193802"/>
        </p:xfrm>
        <a:graphic>
          <a:graphicData uri="http://schemas.openxmlformats.org/drawingml/2006/table">
            <a:tbl>
              <a:tblPr>
                <a:tableStyleId>{616DA210-FB5B-4158-B5E0-FEB733F419BA}</a:tableStyleId>
              </a:tblPr>
              <a:tblGrid>
                <a:gridCol w="208228">
                  <a:extLst>
                    <a:ext uri="{9D8B030D-6E8A-4147-A177-3AD203B41FA5}">
                      <a16:colId xmlns:a16="http://schemas.microsoft.com/office/drawing/2014/main" val="20000"/>
                    </a:ext>
                  </a:extLst>
                </a:gridCol>
                <a:gridCol w="208228">
                  <a:extLst>
                    <a:ext uri="{9D8B030D-6E8A-4147-A177-3AD203B41FA5}">
                      <a16:colId xmlns:a16="http://schemas.microsoft.com/office/drawing/2014/main" val="20001"/>
                    </a:ext>
                  </a:extLst>
                </a:gridCol>
                <a:gridCol w="208228">
                  <a:extLst>
                    <a:ext uri="{9D8B030D-6E8A-4147-A177-3AD203B41FA5}">
                      <a16:colId xmlns:a16="http://schemas.microsoft.com/office/drawing/2014/main" val="20002"/>
                    </a:ext>
                  </a:extLst>
                </a:gridCol>
                <a:gridCol w="208228">
                  <a:extLst>
                    <a:ext uri="{9D8B030D-6E8A-4147-A177-3AD203B41FA5}">
                      <a16:colId xmlns:a16="http://schemas.microsoft.com/office/drawing/2014/main" val="20003"/>
                    </a:ext>
                  </a:extLst>
                </a:gridCol>
                <a:gridCol w="208228">
                  <a:extLst>
                    <a:ext uri="{9D8B030D-6E8A-4147-A177-3AD203B41FA5}">
                      <a16:colId xmlns:a16="http://schemas.microsoft.com/office/drawing/2014/main" val="20004"/>
                    </a:ext>
                  </a:extLst>
                </a:gridCol>
                <a:gridCol w="208228">
                  <a:extLst>
                    <a:ext uri="{9D8B030D-6E8A-4147-A177-3AD203B41FA5}">
                      <a16:colId xmlns:a16="http://schemas.microsoft.com/office/drawing/2014/main" val="20005"/>
                    </a:ext>
                  </a:extLst>
                </a:gridCol>
              </a:tblGrid>
              <a:tr h="198967">
                <a:tc>
                  <a:txBody>
                    <a:bodyPr/>
                    <a:lstStyle/>
                    <a:p>
                      <a:endParaRPr lang="en-US" sz="200" dirty="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extLst>
                  <a:ext uri="{0D108BD9-81ED-4DB2-BD59-A6C34878D82A}">
                    <a16:rowId xmlns:a16="http://schemas.microsoft.com/office/drawing/2014/main" val="10000"/>
                  </a:ext>
                </a:extLst>
              </a:tr>
              <a:tr h="198967">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extLst>
                  <a:ext uri="{0D108BD9-81ED-4DB2-BD59-A6C34878D82A}">
                    <a16:rowId xmlns:a16="http://schemas.microsoft.com/office/drawing/2014/main" val="10001"/>
                  </a:ext>
                </a:extLst>
              </a:tr>
              <a:tr h="198967">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extLst>
                  <a:ext uri="{0D108BD9-81ED-4DB2-BD59-A6C34878D82A}">
                    <a16:rowId xmlns:a16="http://schemas.microsoft.com/office/drawing/2014/main" val="10002"/>
                  </a:ext>
                </a:extLst>
              </a:tr>
              <a:tr h="198967">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extLst>
                  <a:ext uri="{0D108BD9-81ED-4DB2-BD59-A6C34878D82A}">
                    <a16:rowId xmlns:a16="http://schemas.microsoft.com/office/drawing/2014/main" val="10003"/>
                  </a:ext>
                </a:extLst>
              </a:tr>
              <a:tr h="198967">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a:p>
                  </a:txBody>
                  <a:tcPr marL="91414" marR="91414">
                    <a:solidFill>
                      <a:schemeClr val="bg1"/>
                    </a:solidFill>
                  </a:tcPr>
                </a:tc>
                <a:extLst>
                  <a:ext uri="{0D108BD9-81ED-4DB2-BD59-A6C34878D82A}">
                    <a16:rowId xmlns:a16="http://schemas.microsoft.com/office/drawing/2014/main" val="10004"/>
                  </a:ext>
                </a:extLst>
              </a:tr>
              <a:tr h="198967">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dirty="0"/>
                    </a:p>
                  </a:txBody>
                  <a:tcPr marL="91414" marR="91414">
                    <a:solidFill>
                      <a:schemeClr val="bg1"/>
                    </a:solidFill>
                  </a:tcPr>
                </a:tc>
                <a:extLst>
                  <a:ext uri="{0D108BD9-81ED-4DB2-BD59-A6C34878D82A}">
                    <a16:rowId xmlns:a16="http://schemas.microsoft.com/office/drawing/2014/main" val="10005"/>
                  </a:ext>
                </a:extLst>
              </a:tr>
            </a:tbl>
          </a:graphicData>
        </a:graphic>
      </p:graphicFrame>
      <p:sp>
        <p:nvSpPr>
          <p:cNvPr id="13" name="Rectangle 12"/>
          <p:cNvSpPr/>
          <p:nvPr/>
        </p:nvSpPr>
        <p:spPr>
          <a:xfrm>
            <a:off x="5638800" y="1720850"/>
            <a:ext cx="1295400" cy="1219200"/>
          </a:xfrm>
          <a:prstGeom prst="rect">
            <a:avLst/>
          </a:prstGeom>
          <a:ln w="38100"/>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5486400" y="1873250"/>
            <a:ext cx="1295400" cy="1219200"/>
          </a:xfrm>
          <a:prstGeom prst="rect">
            <a:avLst/>
          </a:prstGeom>
          <a:ln w="38100"/>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5334000" y="2025650"/>
            <a:ext cx="1295400" cy="1219200"/>
          </a:xfrm>
          <a:prstGeom prst="rect">
            <a:avLst/>
          </a:prstGeom>
          <a:ln w="38100"/>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5181600" y="2178050"/>
            <a:ext cx="1295400" cy="1219200"/>
          </a:xfrm>
          <a:prstGeom prst="rect">
            <a:avLst/>
          </a:prstGeom>
          <a:ln w="38100"/>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aphicFrame>
        <p:nvGraphicFramePr>
          <p:cNvPr id="18" name="Table 17"/>
          <p:cNvGraphicFramePr>
            <a:graphicFrameLocks noGrp="1"/>
          </p:cNvGraphicFramePr>
          <p:nvPr/>
        </p:nvGraphicFramePr>
        <p:xfrm>
          <a:off x="5029200" y="2330450"/>
          <a:ext cx="1249368" cy="1193802"/>
        </p:xfrm>
        <a:graphic>
          <a:graphicData uri="http://schemas.openxmlformats.org/drawingml/2006/table">
            <a:tbl>
              <a:tblPr>
                <a:tableStyleId>{616DA210-FB5B-4158-B5E0-FEB733F419BA}</a:tableStyleId>
              </a:tblPr>
              <a:tblGrid>
                <a:gridCol w="208228">
                  <a:extLst>
                    <a:ext uri="{9D8B030D-6E8A-4147-A177-3AD203B41FA5}">
                      <a16:colId xmlns:a16="http://schemas.microsoft.com/office/drawing/2014/main" val="20000"/>
                    </a:ext>
                  </a:extLst>
                </a:gridCol>
                <a:gridCol w="208228">
                  <a:extLst>
                    <a:ext uri="{9D8B030D-6E8A-4147-A177-3AD203B41FA5}">
                      <a16:colId xmlns:a16="http://schemas.microsoft.com/office/drawing/2014/main" val="20001"/>
                    </a:ext>
                  </a:extLst>
                </a:gridCol>
                <a:gridCol w="208228">
                  <a:extLst>
                    <a:ext uri="{9D8B030D-6E8A-4147-A177-3AD203B41FA5}">
                      <a16:colId xmlns:a16="http://schemas.microsoft.com/office/drawing/2014/main" val="20002"/>
                    </a:ext>
                  </a:extLst>
                </a:gridCol>
                <a:gridCol w="208228">
                  <a:extLst>
                    <a:ext uri="{9D8B030D-6E8A-4147-A177-3AD203B41FA5}">
                      <a16:colId xmlns:a16="http://schemas.microsoft.com/office/drawing/2014/main" val="20003"/>
                    </a:ext>
                  </a:extLst>
                </a:gridCol>
                <a:gridCol w="208228">
                  <a:extLst>
                    <a:ext uri="{9D8B030D-6E8A-4147-A177-3AD203B41FA5}">
                      <a16:colId xmlns:a16="http://schemas.microsoft.com/office/drawing/2014/main" val="20004"/>
                    </a:ext>
                  </a:extLst>
                </a:gridCol>
                <a:gridCol w="208228">
                  <a:extLst>
                    <a:ext uri="{9D8B030D-6E8A-4147-A177-3AD203B41FA5}">
                      <a16:colId xmlns:a16="http://schemas.microsoft.com/office/drawing/2014/main" val="20005"/>
                    </a:ext>
                  </a:extLst>
                </a:gridCol>
              </a:tblGrid>
              <a:tr h="198967">
                <a:tc>
                  <a:txBody>
                    <a:bodyPr/>
                    <a:lstStyle/>
                    <a:p>
                      <a:endParaRPr lang="en-US" sz="200" dirty="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extLst>
                  <a:ext uri="{0D108BD9-81ED-4DB2-BD59-A6C34878D82A}">
                    <a16:rowId xmlns:a16="http://schemas.microsoft.com/office/drawing/2014/main" val="10000"/>
                  </a:ext>
                </a:extLst>
              </a:tr>
              <a:tr h="198967">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extLst>
                  <a:ext uri="{0D108BD9-81ED-4DB2-BD59-A6C34878D82A}">
                    <a16:rowId xmlns:a16="http://schemas.microsoft.com/office/drawing/2014/main" val="10001"/>
                  </a:ext>
                </a:extLst>
              </a:tr>
              <a:tr h="198967">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extLst>
                  <a:ext uri="{0D108BD9-81ED-4DB2-BD59-A6C34878D82A}">
                    <a16:rowId xmlns:a16="http://schemas.microsoft.com/office/drawing/2014/main" val="10002"/>
                  </a:ext>
                </a:extLst>
              </a:tr>
              <a:tr h="198967">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extLst>
                  <a:ext uri="{0D108BD9-81ED-4DB2-BD59-A6C34878D82A}">
                    <a16:rowId xmlns:a16="http://schemas.microsoft.com/office/drawing/2014/main" val="10003"/>
                  </a:ext>
                </a:extLst>
              </a:tr>
              <a:tr h="198967">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a:p>
                  </a:txBody>
                  <a:tcPr marL="91414" marR="91414">
                    <a:solidFill>
                      <a:schemeClr val="bg1"/>
                    </a:solidFill>
                  </a:tcPr>
                </a:tc>
                <a:extLst>
                  <a:ext uri="{0D108BD9-81ED-4DB2-BD59-A6C34878D82A}">
                    <a16:rowId xmlns:a16="http://schemas.microsoft.com/office/drawing/2014/main" val="10004"/>
                  </a:ext>
                </a:extLst>
              </a:tr>
              <a:tr h="198967">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a:p>
                  </a:txBody>
                  <a:tcPr marL="91414" marR="91414">
                    <a:solidFill>
                      <a:schemeClr val="bg1"/>
                    </a:solidFill>
                  </a:tcPr>
                </a:tc>
                <a:tc>
                  <a:txBody>
                    <a:bodyPr/>
                    <a:lstStyle/>
                    <a:p>
                      <a:endParaRPr lang="en-US" sz="200" dirty="0"/>
                    </a:p>
                  </a:txBody>
                  <a:tcPr marL="91414" marR="91414">
                    <a:solidFill>
                      <a:schemeClr val="bg1"/>
                    </a:solidFill>
                  </a:tcPr>
                </a:tc>
                <a:tc>
                  <a:txBody>
                    <a:bodyPr/>
                    <a:lstStyle/>
                    <a:p>
                      <a:endParaRPr lang="en-US" sz="200" dirty="0"/>
                    </a:p>
                  </a:txBody>
                  <a:tcPr marL="91414" marR="91414">
                    <a:solidFill>
                      <a:schemeClr val="bg1"/>
                    </a:solidFill>
                  </a:tcPr>
                </a:tc>
                <a:extLst>
                  <a:ext uri="{0D108BD9-81ED-4DB2-BD59-A6C34878D82A}">
                    <a16:rowId xmlns:a16="http://schemas.microsoft.com/office/drawing/2014/main" val="10005"/>
                  </a:ext>
                </a:extLst>
              </a:tr>
            </a:tbl>
          </a:graphicData>
        </a:graphic>
      </p:graphicFrame>
      <p:sp>
        <p:nvSpPr>
          <p:cNvPr id="19" name="Rectangle 18"/>
          <p:cNvSpPr/>
          <p:nvPr/>
        </p:nvSpPr>
        <p:spPr>
          <a:xfrm>
            <a:off x="5029200" y="2330450"/>
            <a:ext cx="1295400" cy="1219200"/>
          </a:xfrm>
          <a:prstGeom prst="rect">
            <a:avLst/>
          </a:prstGeom>
          <a:ln w="38100"/>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Rectangle 19"/>
          <p:cNvSpPr/>
          <p:nvPr/>
        </p:nvSpPr>
        <p:spPr>
          <a:xfrm>
            <a:off x="4876800" y="2482850"/>
            <a:ext cx="1295400" cy="1219200"/>
          </a:xfrm>
          <a:prstGeom prst="rect">
            <a:avLst/>
          </a:prstGeom>
          <a:ln w="38100"/>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Rectangle 20"/>
          <p:cNvSpPr/>
          <p:nvPr/>
        </p:nvSpPr>
        <p:spPr>
          <a:xfrm>
            <a:off x="4724400" y="2635250"/>
            <a:ext cx="1295400" cy="1219200"/>
          </a:xfrm>
          <a:prstGeom prst="rect">
            <a:avLst/>
          </a:prstGeom>
          <a:ln w="38100"/>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26" name="Straight Arrow Connector 25"/>
          <p:cNvCxnSpPr/>
          <p:nvPr/>
        </p:nvCxnSpPr>
        <p:spPr>
          <a:xfrm rot="5400000" flipH="1" flipV="1">
            <a:off x="4457700" y="1758950"/>
            <a:ext cx="990600" cy="91440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13781" name="TextBox 30"/>
          <p:cNvSpPr txBox="1">
            <a:spLocks noChangeArrowheads="1"/>
          </p:cNvSpPr>
          <p:nvPr/>
        </p:nvSpPr>
        <p:spPr bwMode="auto">
          <a:xfrm rot="-2834338">
            <a:off x="4279106" y="1861344"/>
            <a:ext cx="1081088" cy="368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alibri" charset="0"/>
                <a:ea typeface="ＭＳ Ｐゴシック" charset="0"/>
                <a:cs typeface="Arial" charset="0"/>
              </a:rPr>
              <a:t>8 banks</a:t>
            </a:r>
          </a:p>
        </p:txBody>
      </p:sp>
      <p:cxnSp>
        <p:nvCxnSpPr>
          <p:cNvPr id="34" name="Shape 9"/>
          <p:cNvCxnSpPr>
            <a:cxnSpLocks noChangeShapeType="1"/>
            <a:endCxn id="22" idx="2"/>
          </p:cNvCxnSpPr>
          <p:nvPr/>
        </p:nvCxnSpPr>
        <p:spPr bwMode="auto">
          <a:xfrm rot="16200000" flipV="1">
            <a:off x="5032375" y="4194175"/>
            <a:ext cx="793750" cy="419100"/>
          </a:xfrm>
          <a:prstGeom prst="bentConnector3">
            <a:avLst>
              <a:gd name="adj1" fmla="val 5187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sp>
        <p:nvSpPr>
          <p:cNvPr id="22" name="Rectangle 21"/>
          <p:cNvSpPr/>
          <p:nvPr/>
        </p:nvSpPr>
        <p:spPr>
          <a:xfrm>
            <a:off x="4572000" y="2787650"/>
            <a:ext cx="1295400" cy="1219200"/>
          </a:xfrm>
          <a:prstGeom prst="rect">
            <a:avLst/>
          </a:prstGeom>
          <a:ln w="38100"/>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Bank 0</a:t>
            </a:r>
          </a:p>
        </p:txBody>
      </p:sp>
      <p:sp>
        <p:nvSpPr>
          <p:cNvPr id="32" name="Diagonal Stripe 31"/>
          <p:cNvSpPr/>
          <p:nvPr/>
        </p:nvSpPr>
        <p:spPr>
          <a:xfrm rot="13500000">
            <a:off x="5675313" y="4303713"/>
            <a:ext cx="914400" cy="914400"/>
          </a:xfrm>
          <a:prstGeom prst="diagStripe">
            <a:avLst/>
          </a:prstGeom>
        </p:spPr>
        <p:style>
          <a:lnRef idx="2">
            <a:schemeClr val="dk1">
              <a:shade val="50000"/>
            </a:schemeClr>
          </a:lnRef>
          <a:fillRef idx="1">
            <a:schemeClr val="dk1"/>
          </a:fillRef>
          <a:effectRef idx="0">
            <a:schemeClr val="dk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3785" name="TextBox 55"/>
          <p:cNvSpPr txBox="1">
            <a:spLocks noChangeArrowheads="1"/>
          </p:cNvSpPr>
          <p:nvPr/>
        </p:nvSpPr>
        <p:spPr bwMode="auto">
          <a:xfrm>
            <a:off x="5410200" y="3990975"/>
            <a:ext cx="533400" cy="276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C0504D"/>
                </a:solidFill>
                <a:effectLst/>
                <a:uLnTx/>
                <a:uFillTx/>
                <a:latin typeface="Calibri" charset="0"/>
                <a:ea typeface="ＭＳ Ｐゴシック" charset="0"/>
                <a:cs typeface="Arial" charset="0"/>
              </a:rPr>
              <a:t>&lt;0:7&gt;</a:t>
            </a:r>
          </a:p>
        </p:txBody>
      </p:sp>
      <p:sp>
        <p:nvSpPr>
          <p:cNvPr id="113786" name="TextBox 56"/>
          <p:cNvSpPr txBox="1">
            <a:spLocks noChangeArrowheads="1"/>
          </p:cNvSpPr>
          <p:nvPr/>
        </p:nvSpPr>
        <p:spPr bwMode="auto">
          <a:xfrm>
            <a:off x="5105400" y="4419600"/>
            <a:ext cx="533400" cy="276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C0504D"/>
                </a:solidFill>
                <a:effectLst/>
                <a:uLnTx/>
                <a:uFillTx/>
                <a:latin typeface="Calibri" charset="0"/>
                <a:ea typeface="ＭＳ Ｐゴシック" charset="0"/>
                <a:cs typeface="Arial" charset="0"/>
              </a:rPr>
              <a:t>&lt;0:7&gt;</a:t>
            </a:r>
          </a:p>
        </p:txBody>
      </p:sp>
      <p:sp>
        <p:nvSpPr>
          <p:cNvPr id="113787" name="TextBox 57"/>
          <p:cNvSpPr txBox="1">
            <a:spLocks noChangeArrowheads="1"/>
          </p:cNvSpPr>
          <p:nvPr/>
        </p:nvSpPr>
        <p:spPr bwMode="auto">
          <a:xfrm>
            <a:off x="6324600" y="3686175"/>
            <a:ext cx="533400" cy="276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C0504D"/>
                </a:solidFill>
                <a:effectLst/>
                <a:uLnTx/>
                <a:uFillTx/>
                <a:latin typeface="Calibri" charset="0"/>
                <a:ea typeface="ＭＳ Ｐゴシック" charset="0"/>
                <a:cs typeface="Arial" charset="0"/>
              </a:rPr>
              <a:t>&lt;0:7&gt;</a:t>
            </a:r>
          </a:p>
        </p:txBody>
      </p:sp>
      <p:sp>
        <p:nvSpPr>
          <p:cNvPr id="113788" name="TextBox 59"/>
          <p:cNvSpPr txBox="1">
            <a:spLocks noChangeArrowheads="1"/>
          </p:cNvSpPr>
          <p:nvPr/>
        </p:nvSpPr>
        <p:spPr bwMode="auto">
          <a:xfrm>
            <a:off x="5791200" y="4038600"/>
            <a:ext cx="762000" cy="584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a:ln>
                  <a:noFill/>
                </a:ln>
                <a:solidFill>
                  <a:srgbClr val="C0504D"/>
                </a:solidFill>
                <a:effectLst/>
                <a:uLnTx/>
                <a:uFillTx/>
                <a:latin typeface="Calibri" charset="0"/>
                <a:ea typeface="ＭＳ Ｐゴシック" charset="0"/>
                <a:cs typeface="Arial" charset="0"/>
              </a:rPr>
              <a:t>...</a:t>
            </a:r>
          </a:p>
        </p:txBody>
      </p:sp>
      <p:cxnSp>
        <p:nvCxnSpPr>
          <p:cNvPr id="61" name="Shape 9"/>
          <p:cNvCxnSpPr>
            <a:cxnSpLocks noChangeShapeType="1"/>
          </p:cNvCxnSpPr>
          <p:nvPr/>
        </p:nvCxnSpPr>
        <p:spPr bwMode="auto">
          <a:xfrm rot="5400000" flipH="1" flipV="1">
            <a:off x="5628482" y="5638006"/>
            <a:ext cx="1066800" cy="1587"/>
          </a:xfrm>
          <a:prstGeom prst="bentConnector3">
            <a:avLst>
              <a:gd name="adj1" fmla="val 50000"/>
            </a:avLst>
          </a:prstGeom>
          <a:noFill/>
          <a:ln w="50800">
            <a:solidFill>
              <a:schemeClr val="accent2"/>
            </a:solidFill>
            <a:miter lim="800000"/>
            <a:headEnd type="triangle" w="med" len="med"/>
            <a:tailEnd type="triangle" w="med" len="med"/>
          </a:ln>
          <a:effectLst>
            <a:outerShdw blurRad="40000" dist="23000" dir="5400000" rotWithShape="0">
              <a:srgbClr val="000000">
                <a:alpha val="34999"/>
              </a:srgbClr>
            </a:outerShdw>
          </a:effectLst>
          <a:extLst>
            <a:ext uri="{909E8E84-426E-40dd-AFC4-6F175D3DCCD1}">
              <a14:hiddenFill xmlns="" xmlns:a14="http://schemas.microsoft.com/office/drawing/2010/main">
                <a:noFill/>
              </a14:hiddenFill>
            </a:ext>
          </a:extLst>
        </p:spPr>
      </p:cxnSp>
      <p:sp>
        <p:nvSpPr>
          <p:cNvPr id="113790" name="TextBox 61"/>
          <p:cNvSpPr txBox="1">
            <a:spLocks noChangeArrowheads="1"/>
          </p:cNvSpPr>
          <p:nvPr/>
        </p:nvSpPr>
        <p:spPr bwMode="auto">
          <a:xfrm rot="-5400000">
            <a:off x="5480844" y="5415756"/>
            <a:ext cx="9906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C0504D"/>
                </a:solidFill>
                <a:effectLst/>
                <a:uLnTx/>
                <a:uFillTx/>
                <a:latin typeface="Calibri" charset="0"/>
                <a:ea typeface="ＭＳ Ｐゴシック" charset="0"/>
                <a:cs typeface="Arial" charset="0"/>
              </a:rPr>
              <a:t>&lt;0:7&gt;</a:t>
            </a:r>
          </a:p>
        </p:txBody>
      </p:sp>
      <p:sp>
        <p:nvSpPr>
          <p:cNvPr id="64" name="Oval 63"/>
          <p:cNvSpPr/>
          <p:nvPr/>
        </p:nvSpPr>
        <p:spPr>
          <a:xfrm>
            <a:off x="533400" y="2286000"/>
            <a:ext cx="2133600" cy="2514600"/>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5" name="Oval 64"/>
          <p:cNvSpPr/>
          <p:nvPr/>
        </p:nvSpPr>
        <p:spPr>
          <a:xfrm>
            <a:off x="3429000" y="1295400"/>
            <a:ext cx="5257800" cy="5029200"/>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66" name="Straight Connector 65"/>
          <p:cNvCxnSpPr>
            <a:stCxn id="64" idx="0"/>
            <a:endCxn id="65" idx="1"/>
          </p:cNvCxnSpPr>
          <p:nvPr/>
        </p:nvCxnSpPr>
        <p:spPr>
          <a:xfrm rot="5400000" flipH="1" flipV="1">
            <a:off x="2772569" y="859631"/>
            <a:ext cx="254000" cy="2598738"/>
          </a:xfrm>
          <a:prstGeom prst="line">
            <a:avLst/>
          </a:prstGeom>
          <a:ln w="6350"/>
        </p:spPr>
        <p:style>
          <a:lnRef idx="1">
            <a:schemeClr val="dk1"/>
          </a:lnRef>
          <a:fillRef idx="0">
            <a:schemeClr val="dk1"/>
          </a:fillRef>
          <a:effectRef idx="0">
            <a:schemeClr val="dk1"/>
          </a:effectRef>
          <a:fontRef idx="minor">
            <a:schemeClr val="tx1"/>
          </a:fontRef>
        </p:style>
      </p:cxnSp>
      <p:cxnSp>
        <p:nvCxnSpPr>
          <p:cNvPr id="69" name="Straight Connector 68"/>
          <p:cNvCxnSpPr>
            <a:stCxn id="64" idx="4"/>
            <a:endCxn id="65" idx="3"/>
          </p:cNvCxnSpPr>
          <p:nvPr/>
        </p:nvCxnSpPr>
        <p:spPr>
          <a:xfrm rot="16200000" flipH="1">
            <a:off x="2505869" y="3894931"/>
            <a:ext cx="787400" cy="2598738"/>
          </a:xfrm>
          <a:prstGeom prst="line">
            <a:avLst/>
          </a:prstGeom>
          <a:ln w="6350"/>
        </p:spPr>
        <p:style>
          <a:lnRef idx="1">
            <a:schemeClr val="dk1"/>
          </a:lnRef>
          <a:fillRef idx="0">
            <a:schemeClr val="dk1"/>
          </a:fillRef>
          <a:effectRef idx="0">
            <a:schemeClr val="dk1"/>
          </a:effectRef>
          <a:fontRef idx="minor">
            <a:schemeClr val="tx1"/>
          </a:fontRef>
        </p:style>
      </p:cxnSp>
      <p:sp>
        <p:nvSpPr>
          <p:cNvPr id="2" name="Slide Number Placeholder 1">
            <a:extLst>
              <a:ext uri="{FF2B5EF4-FFF2-40B4-BE49-F238E27FC236}">
                <a16:creationId xmlns:a16="http://schemas.microsoft.com/office/drawing/2014/main" id="{9229EDB4-E106-481F-87A9-3883BAE0AC86}"/>
              </a:ext>
            </a:extLst>
          </p:cNvPr>
          <p:cNvSpPr>
            <a:spLocks noGrp="1"/>
          </p:cNvSpPr>
          <p:nvPr>
            <p:ph type="sldNum" sz="quarter" idx="11"/>
          </p:nvPr>
        </p:nvSpPr>
        <p:spPr/>
        <p:txBody>
          <a:bodyPr/>
          <a:lstStyle/>
          <a:p>
            <a:pPr>
              <a:defRPr/>
            </a:pPr>
            <a:fld id="{FC5B7879-3FBA-B54E-968A-FC666650947C}" type="slidenum">
              <a:rPr lang="en-US" smtClean="0"/>
              <a:pPr>
                <a:defRPr/>
              </a:pPr>
              <a:t>26</a:t>
            </a:fld>
            <a:endParaRPr lang="en-US"/>
          </a:p>
        </p:txBody>
      </p:sp>
    </p:spTree>
    <p:extLst>
      <p:ext uri="{BB962C8B-B14F-4D97-AF65-F5344CB8AC3E}">
        <p14:creationId xmlns:p14="http://schemas.microsoft.com/office/powerpoint/2010/main" val="273859266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Rounded Rectangle 149">
            <a:extLst>
              <a:ext uri="{FF2B5EF4-FFF2-40B4-BE49-F238E27FC236}">
                <a16:creationId xmlns:a16="http://schemas.microsoft.com/office/drawing/2014/main" id="{56943FBE-88BA-0C40-8459-C786C98FC24A}"/>
              </a:ext>
            </a:extLst>
          </p:cNvPr>
          <p:cNvSpPr/>
          <p:nvPr/>
        </p:nvSpPr>
        <p:spPr>
          <a:xfrm>
            <a:off x="6623916" y="2159294"/>
            <a:ext cx="1435814" cy="1708210"/>
          </a:xfrm>
          <a:prstGeom prst="roundRect">
            <a:avLst/>
          </a:prstGeom>
          <a:solidFill>
            <a:srgbClr val="CEE2F2"/>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dirty="0">
              <a:solidFill>
                <a:schemeClr val="tx1"/>
              </a:solidFill>
              <a:effectLst>
                <a:outerShdw blurRad="38100" dist="38100" dir="2700000" algn="tl">
                  <a:srgbClr val="000000">
                    <a:alpha val="43137"/>
                  </a:srgbClr>
                </a:outerShdw>
              </a:effectLst>
              <a:latin typeface="Cambria" panose="02040503050406030204" pitchFamily="18" charset="0"/>
            </a:endParaRPr>
          </a:p>
        </p:txBody>
      </p:sp>
      <p:sp>
        <p:nvSpPr>
          <p:cNvPr id="2" name="Title 1">
            <a:extLst>
              <a:ext uri="{FF2B5EF4-FFF2-40B4-BE49-F238E27FC236}">
                <a16:creationId xmlns:a16="http://schemas.microsoft.com/office/drawing/2014/main" id="{7B109850-92E3-C647-9C81-512F4898D00C}"/>
              </a:ext>
            </a:extLst>
          </p:cNvPr>
          <p:cNvSpPr>
            <a:spLocks noGrp="1"/>
          </p:cNvSpPr>
          <p:nvPr>
            <p:ph type="title"/>
          </p:nvPr>
        </p:nvSpPr>
        <p:spPr/>
        <p:txBody>
          <a:bodyPr/>
          <a:lstStyle/>
          <a:p>
            <a:r>
              <a:rPr lang="en-US" sz="4400" dirty="0">
                <a:latin typeface="Garamond" panose="02020404030301010803" pitchFamily="18" charset="0"/>
              </a:rPr>
              <a:t>Inside a DRAM Chip </a:t>
            </a:r>
          </a:p>
        </p:txBody>
      </p:sp>
      <p:sp>
        <p:nvSpPr>
          <p:cNvPr id="5" name="Rounded Rectangle 4">
            <a:extLst>
              <a:ext uri="{FF2B5EF4-FFF2-40B4-BE49-F238E27FC236}">
                <a16:creationId xmlns:a16="http://schemas.microsoft.com/office/drawing/2014/main" id="{FDCCBA66-40A7-264A-9CEB-C7DC2FB1D5D2}"/>
              </a:ext>
            </a:extLst>
          </p:cNvPr>
          <p:cNvSpPr/>
          <p:nvPr/>
        </p:nvSpPr>
        <p:spPr>
          <a:xfrm>
            <a:off x="1700174" y="5252312"/>
            <a:ext cx="6400800" cy="1075335"/>
          </a:xfrm>
          <a:prstGeom prst="roundRect">
            <a:avLst>
              <a:gd name="adj" fmla="val 7500"/>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mbria" panose="02040503050406030204" pitchFamily="18" charset="0"/>
            </a:endParaRPr>
          </a:p>
        </p:txBody>
      </p:sp>
      <p:sp>
        <p:nvSpPr>
          <p:cNvPr id="7" name="Rounded Rectangle 6">
            <a:extLst>
              <a:ext uri="{FF2B5EF4-FFF2-40B4-BE49-F238E27FC236}">
                <a16:creationId xmlns:a16="http://schemas.microsoft.com/office/drawing/2014/main" id="{B7DF4A09-6AC1-D54B-826B-4AA6989BC403}"/>
              </a:ext>
            </a:extLst>
          </p:cNvPr>
          <p:cNvSpPr/>
          <p:nvPr/>
        </p:nvSpPr>
        <p:spPr>
          <a:xfrm>
            <a:off x="2004974" y="5491885"/>
            <a:ext cx="609600" cy="670804"/>
          </a:xfrm>
          <a:prstGeom prst="round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mbria" panose="02040503050406030204" pitchFamily="18" charset="0"/>
            </a:endParaRPr>
          </a:p>
        </p:txBody>
      </p:sp>
      <p:sp>
        <p:nvSpPr>
          <p:cNvPr id="8" name="Rounded Rectangle 7">
            <a:extLst>
              <a:ext uri="{FF2B5EF4-FFF2-40B4-BE49-F238E27FC236}">
                <a16:creationId xmlns:a16="http://schemas.microsoft.com/office/drawing/2014/main" id="{43E3C8A5-4803-0544-B146-B9C76582B36D}"/>
              </a:ext>
            </a:extLst>
          </p:cNvPr>
          <p:cNvSpPr/>
          <p:nvPr/>
        </p:nvSpPr>
        <p:spPr>
          <a:xfrm>
            <a:off x="2667914" y="5491885"/>
            <a:ext cx="609600" cy="670804"/>
          </a:xfrm>
          <a:prstGeom prst="round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mbria" panose="02040503050406030204" pitchFamily="18" charset="0"/>
            </a:endParaRPr>
          </a:p>
        </p:txBody>
      </p:sp>
      <p:sp>
        <p:nvSpPr>
          <p:cNvPr id="9" name="Rounded Rectangle 8">
            <a:extLst>
              <a:ext uri="{FF2B5EF4-FFF2-40B4-BE49-F238E27FC236}">
                <a16:creationId xmlns:a16="http://schemas.microsoft.com/office/drawing/2014/main" id="{7B1CDDF2-18BF-C34A-9544-FDBB6B4BB74B}"/>
              </a:ext>
            </a:extLst>
          </p:cNvPr>
          <p:cNvSpPr/>
          <p:nvPr/>
        </p:nvSpPr>
        <p:spPr>
          <a:xfrm>
            <a:off x="3342284" y="5491885"/>
            <a:ext cx="609600" cy="670804"/>
          </a:xfrm>
          <a:prstGeom prst="round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mbria" panose="02040503050406030204" pitchFamily="18" charset="0"/>
            </a:endParaRPr>
          </a:p>
        </p:txBody>
      </p:sp>
      <p:sp>
        <p:nvSpPr>
          <p:cNvPr id="10" name="Rounded Rectangle 9">
            <a:extLst>
              <a:ext uri="{FF2B5EF4-FFF2-40B4-BE49-F238E27FC236}">
                <a16:creationId xmlns:a16="http://schemas.microsoft.com/office/drawing/2014/main" id="{A860C73B-FA2B-C04D-B1A7-9BD39A6E0749}"/>
              </a:ext>
            </a:extLst>
          </p:cNvPr>
          <p:cNvSpPr/>
          <p:nvPr/>
        </p:nvSpPr>
        <p:spPr>
          <a:xfrm>
            <a:off x="3997604" y="5491885"/>
            <a:ext cx="609600" cy="670804"/>
          </a:xfrm>
          <a:prstGeom prst="round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mbria" panose="02040503050406030204" pitchFamily="18" charset="0"/>
            </a:endParaRPr>
          </a:p>
        </p:txBody>
      </p:sp>
      <p:sp>
        <p:nvSpPr>
          <p:cNvPr id="11" name="Rounded Rectangle 10">
            <a:extLst>
              <a:ext uri="{FF2B5EF4-FFF2-40B4-BE49-F238E27FC236}">
                <a16:creationId xmlns:a16="http://schemas.microsoft.com/office/drawing/2014/main" id="{BBB61902-13B3-5340-A607-1EF2E98F134E}"/>
              </a:ext>
            </a:extLst>
          </p:cNvPr>
          <p:cNvSpPr/>
          <p:nvPr/>
        </p:nvSpPr>
        <p:spPr>
          <a:xfrm>
            <a:off x="5228234" y="5491885"/>
            <a:ext cx="609600" cy="670804"/>
          </a:xfrm>
          <a:prstGeom prst="round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mbria" panose="02040503050406030204" pitchFamily="18" charset="0"/>
            </a:endParaRPr>
          </a:p>
        </p:txBody>
      </p:sp>
      <p:sp>
        <p:nvSpPr>
          <p:cNvPr id="12" name="Rounded Rectangle 11">
            <a:extLst>
              <a:ext uri="{FF2B5EF4-FFF2-40B4-BE49-F238E27FC236}">
                <a16:creationId xmlns:a16="http://schemas.microsoft.com/office/drawing/2014/main" id="{1381E661-C1D4-7745-BF5D-B05F987670AE}"/>
              </a:ext>
            </a:extLst>
          </p:cNvPr>
          <p:cNvSpPr/>
          <p:nvPr/>
        </p:nvSpPr>
        <p:spPr>
          <a:xfrm>
            <a:off x="5891174" y="5491885"/>
            <a:ext cx="609600" cy="670804"/>
          </a:xfrm>
          <a:prstGeom prst="round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mbria" panose="02040503050406030204" pitchFamily="18" charset="0"/>
            </a:endParaRPr>
          </a:p>
        </p:txBody>
      </p:sp>
      <p:sp>
        <p:nvSpPr>
          <p:cNvPr id="13" name="Rounded Rectangle 12">
            <a:extLst>
              <a:ext uri="{FF2B5EF4-FFF2-40B4-BE49-F238E27FC236}">
                <a16:creationId xmlns:a16="http://schemas.microsoft.com/office/drawing/2014/main" id="{CCB9162B-BC72-284C-9439-D08D6340D7D6}"/>
              </a:ext>
            </a:extLst>
          </p:cNvPr>
          <p:cNvSpPr/>
          <p:nvPr/>
        </p:nvSpPr>
        <p:spPr>
          <a:xfrm>
            <a:off x="6565544" y="5491885"/>
            <a:ext cx="609600" cy="670804"/>
          </a:xfrm>
          <a:prstGeom prst="round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mbria" panose="02040503050406030204" pitchFamily="18" charset="0"/>
            </a:endParaRPr>
          </a:p>
        </p:txBody>
      </p:sp>
      <p:sp>
        <p:nvSpPr>
          <p:cNvPr id="14" name="Rounded Rectangle 13">
            <a:extLst>
              <a:ext uri="{FF2B5EF4-FFF2-40B4-BE49-F238E27FC236}">
                <a16:creationId xmlns:a16="http://schemas.microsoft.com/office/drawing/2014/main" id="{97F8B094-7615-4742-963F-2FFC1562F1B8}"/>
              </a:ext>
            </a:extLst>
          </p:cNvPr>
          <p:cNvSpPr/>
          <p:nvPr/>
        </p:nvSpPr>
        <p:spPr>
          <a:xfrm>
            <a:off x="7220864" y="5491885"/>
            <a:ext cx="609600" cy="670804"/>
          </a:xfrm>
          <a:prstGeom prst="round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mbria" panose="02040503050406030204" pitchFamily="18" charset="0"/>
            </a:endParaRPr>
          </a:p>
        </p:txBody>
      </p:sp>
      <p:cxnSp>
        <p:nvCxnSpPr>
          <p:cNvPr id="16" name="Straight Connector 15">
            <a:extLst>
              <a:ext uri="{FF2B5EF4-FFF2-40B4-BE49-F238E27FC236}">
                <a16:creationId xmlns:a16="http://schemas.microsoft.com/office/drawing/2014/main" id="{3F0E52E3-9455-3F45-BBEE-2E5519A501D5}"/>
              </a:ext>
            </a:extLst>
          </p:cNvPr>
          <p:cNvCxnSpPr/>
          <p:nvPr/>
        </p:nvCxnSpPr>
        <p:spPr>
          <a:xfrm flipH="1" flipV="1">
            <a:off x="2853353" y="4181490"/>
            <a:ext cx="1144251" cy="1295400"/>
          </a:xfrm>
          <a:prstGeom prst="line">
            <a:avLst/>
          </a:prstGeom>
          <a:ln w="19050">
            <a:solidFill>
              <a:schemeClr val="accent2"/>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2D51562-7BA6-7F49-AF5A-F31DF6DD9F0C}"/>
              </a:ext>
            </a:extLst>
          </p:cNvPr>
          <p:cNvCxnSpPr>
            <a:cxnSpLocks/>
          </p:cNvCxnSpPr>
          <p:nvPr/>
        </p:nvCxnSpPr>
        <p:spPr>
          <a:xfrm flipV="1">
            <a:off x="4607204" y="4119658"/>
            <a:ext cx="1741170" cy="1357232"/>
          </a:xfrm>
          <a:prstGeom prst="line">
            <a:avLst/>
          </a:prstGeom>
          <a:ln w="19050">
            <a:solidFill>
              <a:schemeClr val="accent2"/>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911B9448-A4DC-5546-8EB6-661432ED7C6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38574" y="5476890"/>
            <a:ext cx="685800" cy="685800"/>
          </a:xfrm>
          <a:prstGeom prst="rect">
            <a:avLst/>
          </a:prstGeom>
        </p:spPr>
      </p:pic>
      <p:sp>
        <p:nvSpPr>
          <p:cNvPr id="20" name="Rectangle 19">
            <a:extLst>
              <a:ext uri="{FF2B5EF4-FFF2-40B4-BE49-F238E27FC236}">
                <a16:creationId xmlns:a16="http://schemas.microsoft.com/office/drawing/2014/main" id="{3616BF7A-B2D3-414B-BD1D-8F8B715B8920}"/>
              </a:ext>
            </a:extLst>
          </p:cNvPr>
          <p:cNvSpPr/>
          <p:nvPr/>
        </p:nvSpPr>
        <p:spPr>
          <a:xfrm>
            <a:off x="2853353" y="1567519"/>
            <a:ext cx="3354194" cy="2595200"/>
          </a:xfrm>
          <a:prstGeom prst="rect">
            <a:avLst/>
          </a:prstGeom>
          <a:solidFill>
            <a:schemeClr val="bg1">
              <a:lumMod val="75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dirty="0">
              <a:effectLst>
                <a:outerShdw blurRad="38100" dist="38100" dir="2700000" algn="tl">
                  <a:srgbClr val="000000">
                    <a:alpha val="43137"/>
                  </a:srgbClr>
                </a:outerShdw>
              </a:effectLst>
              <a:latin typeface="Cambria" panose="02040503050406030204" pitchFamily="18" charset="0"/>
            </a:endParaRPr>
          </a:p>
        </p:txBody>
      </p:sp>
      <p:sp>
        <p:nvSpPr>
          <p:cNvPr id="21" name="Rectangle 20">
            <a:extLst>
              <a:ext uri="{FF2B5EF4-FFF2-40B4-BE49-F238E27FC236}">
                <a16:creationId xmlns:a16="http://schemas.microsoft.com/office/drawing/2014/main" id="{19D508FD-33C4-004D-A886-46B4F7BDEB39}"/>
              </a:ext>
            </a:extLst>
          </p:cNvPr>
          <p:cNvSpPr/>
          <p:nvPr/>
        </p:nvSpPr>
        <p:spPr>
          <a:xfrm>
            <a:off x="2920641" y="1402561"/>
            <a:ext cx="3427733" cy="2666639"/>
          </a:xfrm>
          <a:prstGeom prst="rect">
            <a:avLst/>
          </a:prstGeom>
          <a:solidFill>
            <a:schemeClr val="bg1">
              <a:lumMod val="85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dirty="0">
              <a:effectLst>
                <a:outerShdw blurRad="38100" dist="38100" dir="2700000" algn="tl">
                  <a:srgbClr val="000000">
                    <a:alpha val="43137"/>
                  </a:srgbClr>
                </a:outerShdw>
              </a:effectLst>
              <a:latin typeface="Cambria" panose="02040503050406030204" pitchFamily="18" charset="0"/>
            </a:endParaRPr>
          </a:p>
        </p:txBody>
      </p:sp>
      <p:sp>
        <p:nvSpPr>
          <p:cNvPr id="22" name="Rectangle 21">
            <a:extLst>
              <a:ext uri="{FF2B5EF4-FFF2-40B4-BE49-F238E27FC236}">
                <a16:creationId xmlns:a16="http://schemas.microsoft.com/office/drawing/2014/main" id="{1E76E1C8-C1E0-7C45-A00D-F33C29010305}"/>
              </a:ext>
            </a:extLst>
          </p:cNvPr>
          <p:cNvSpPr/>
          <p:nvPr/>
        </p:nvSpPr>
        <p:spPr>
          <a:xfrm>
            <a:off x="2994180" y="1309043"/>
            <a:ext cx="3421482" cy="2666639"/>
          </a:xfrm>
          <a:prstGeom prst="rect">
            <a:avLst/>
          </a:prstGeom>
          <a:solidFill>
            <a:schemeClr val="bg1">
              <a:lumMod val="95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dirty="0">
              <a:effectLst>
                <a:outerShdw blurRad="38100" dist="38100" dir="2700000" algn="tl">
                  <a:srgbClr val="000000">
                    <a:alpha val="43137"/>
                  </a:srgbClr>
                </a:outerShdw>
              </a:effectLst>
              <a:latin typeface="Cambria" panose="02040503050406030204" pitchFamily="18" charset="0"/>
            </a:endParaRPr>
          </a:p>
        </p:txBody>
      </p:sp>
      <p:cxnSp>
        <p:nvCxnSpPr>
          <p:cNvPr id="24" name="Straight Connector 23">
            <a:extLst>
              <a:ext uri="{FF2B5EF4-FFF2-40B4-BE49-F238E27FC236}">
                <a16:creationId xmlns:a16="http://schemas.microsoft.com/office/drawing/2014/main" id="{EB55F072-631E-D54F-95BC-29BFD04F8E3B}"/>
              </a:ext>
            </a:extLst>
          </p:cNvPr>
          <p:cNvCxnSpPr>
            <a:cxnSpLocks/>
          </p:cNvCxnSpPr>
          <p:nvPr/>
        </p:nvCxnSpPr>
        <p:spPr>
          <a:xfrm>
            <a:off x="5398817" y="1567517"/>
            <a:ext cx="0" cy="2120285"/>
          </a:xfrm>
          <a:prstGeom prst="line">
            <a:avLst/>
          </a:prstGeom>
          <a:ln w="1905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83D66D4-F9EB-9F42-93CA-23968745B142}"/>
              </a:ext>
            </a:extLst>
          </p:cNvPr>
          <p:cNvCxnSpPr>
            <a:cxnSpLocks/>
          </p:cNvCxnSpPr>
          <p:nvPr/>
        </p:nvCxnSpPr>
        <p:spPr>
          <a:xfrm>
            <a:off x="4995341" y="1567517"/>
            <a:ext cx="0" cy="2120285"/>
          </a:xfrm>
          <a:prstGeom prst="line">
            <a:avLst/>
          </a:prstGeom>
          <a:ln w="1905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8279288-A8D4-6646-91E0-3EF544EBC756}"/>
              </a:ext>
            </a:extLst>
          </p:cNvPr>
          <p:cNvCxnSpPr>
            <a:cxnSpLocks/>
          </p:cNvCxnSpPr>
          <p:nvPr/>
        </p:nvCxnSpPr>
        <p:spPr>
          <a:xfrm>
            <a:off x="4591865" y="1567517"/>
            <a:ext cx="0" cy="2103120"/>
          </a:xfrm>
          <a:prstGeom prst="line">
            <a:avLst/>
          </a:prstGeom>
          <a:ln w="1905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39D6184-B9B0-9D41-965F-E5332FF87619}"/>
              </a:ext>
            </a:extLst>
          </p:cNvPr>
          <p:cNvCxnSpPr>
            <a:cxnSpLocks/>
          </p:cNvCxnSpPr>
          <p:nvPr/>
        </p:nvCxnSpPr>
        <p:spPr>
          <a:xfrm>
            <a:off x="4188388" y="1567517"/>
            <a:ext cx="0" cy="2103120"/>
          </a:xfrm>
          <a:prstGeom prst="line">
            <a:avLst/>
          </a:prstGeom>
          <a:ln w="1905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81B7A9F-63AF-0647-BBA3-0289230A2C33}"/>
              </a:ext>
            </a:extLst>
          </p:cNvPr>
          <p:cNvCxnSpPr>
            <a:cxnSpLocks/>
          </p:cNvCxnSpPr>
          <p:nvPr/>
        </p:nvCxnSpPr>
        <p:spPr>
          <a:xfrm>
            <a:off x="3784508" y="1567518"/>
            <a:ext cx="0" cy="2120284"/>
          </a:xfrm>
          <a:prstGeom prst="line">
            <a:avLst/>
          </a:prstGeom>
          <a:ln w="1905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D861A8B-C7CE-B749-BEC2-B02BAF3F4329}"/>
              </a:ext>
            </a:extLst>
          </p:cNvPr>
          <p:cNvCxnSpPr>
            <a:cxnSpLocks/>
            <a:endCxn id="96" idx="2"/>
          </p:cNvCxnSpPr>
          <p:nvPr/>
        </p:nvCxnSpPr>
        <p:spPr>
          <a:xfrm>
            <a:off x="5801889" y="1567517"/>
            <a:ext cx="25862" cy="2112011"/>
          </a:xfrm>
          <a:prstGeom prst="line">
            <a:avLst/>
          </a:prstGeom>
          <a:ln w="1905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2FA42EC-DC60-F74D-9F5E-34FD5DEAB651}"/>
              </a:ext>
            </a:extLst>
          </p:cNvPr>
          <p:cNvCxnSpPr>
            <a:cxnSpLocks/>
          </p:cNvCxnSpPr>
          <p:nvPr/>
        </p:nvCxnSpPr>
        <p:spPr>
          <a:xfrm>
            <a:off x="3601043" y="1843336"/>
            <a:ext cx="2492519" cy="0"/>
          </a:xfrm>
          <a:prstGeom prst="line">
            <a:avLst/>
          </a:prstGeom>
          <a:ln w="19050">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067D720-606F-CD4D-A504-1F7CF254C9A7}"/>
              </a:ext>
            </a:extLst>
          </p:cNvPr>
          <p:cNvCxnSpPr>
            <a:cxnSpLocks/>
          </p:cNvCxnSpPr>
          <p:nvPr/>
        </p:nvCxnSpPr>
        <p:spPr>
          <a:xfrm>
            <a:off x="3601043" y="2247214"/>
            <a:ext cx="2492519" cy="0"/>
          </a:xfrm>
          <a:prstGeom prst="line">
            <a:avLst/>
          </a:prstGeom>
          <a:ln w="19050">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AD3D9D3-9F70-E143-ACB8-86671FBD1E38}"/>
              </a:ext>
            </a:extLst>
          </p:cNvPr>
          <p:cNvCxnSpPr>
            <a:cxnSpLocks/>
          </p:cNvCxnSpPr>
          <p:nvPr/>
        </p:nvCxnSpPr>
        <p:spPr>
          <a:xfrm>
            <a:off x="3601043" y="2650039"/>
            <a:ext cx="2492519" cy="0"/>
          </a:xfrm>
          <a:prstGeom prst="line">
            <a:avLst/>
          </a:prstGeom>
          <a:ln w="19050">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978E5FD8-2D55-544A-B04E-F996DF91CC95}"/>
              </a:ext>
            </a:extLst>
          </p:cNvPr>
          <p:cNvCxnSpPr>
            <a:cxnSpLocks/>
          </p:cNvCxnSpPr>
          <p:nvPr/>
        </p:nvCxnSpPr>
        <p:spPr>
          <a:xfrm>
            <a:off x="3592813" y="3136905"/>
            <a:ext cx="2500749" cy="0"/>
          </a:xfrm>
          <a:prstGeom prst="line">
            <a:avLst/>
          </a:prstGeom>
          <a:ln w="19050">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68" name="Group 167">
            <a:extLst>
              <a:ext uri="{FF2B5EF4-FFF2-40B4-BE49-F238E27FC236}">
                <a16:creationId xmlns:a16="http://schemas.microsoft.com/office/drawing/2014/main" id="{23696145-28F9-354D-B7DB-5FA455E67434}"/>
              </a:ext>
            </a:extLst>
          </p:cNvPr>
          <p:cNvGrpSpPr/>
          <p:nvPr/>
        </p:nvGrpSpPr>
        <p:grpSpPr>
          <a:xfrm>
            <a:off x="3643816" y="1715948"/>
            <a:ext cx="2331421" cy="1554675"/>
            <a:chOff x="3643816" y="1715948"/>
            <a:chExt cx="2331421" cy="1554675"/>
          </a:xfrm>
        </p:grpSpPr>
        <p:sp>
          <p:nvSpPr>
            <p:cNvPr id="46" name="Oval 45">
              <a:extLst>
                <a:ext uri="{FF2B5EF4-FFF2-40B4-BE49-F238E27FC236}">
                  <a16:creationId xmlns:a16="http://schemas.microsoft.com/office/drawing/2014/main" id="{E38F8ACB-5E7D-A14F-A869-A4648FE70728}"/>
                </a:ext>
              </a:extLst>
            </p:cNvPr>
            <p:cNvSpPr>
              <a:spLocks noChangeAspect="1"/>
            </p:cNvSpPr>
            <p:nvPr/>
          </p:nvSpPr>
          <p:spPr>
            <a:xfrm>
              <a:off x="4058935" y="1716752"/>
              <a:ext cx="275127" cy="274320"/>
            </a:xfrm>
            <a:prstGeom prst="ellipse">
              <a:avLst/>
            </a:prstGeom>
            <a:solidFill>
              <a:srgbClr val="8DBAE3"/>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00" b="1" dirty="0">
                <a:solidFill>
                  <a:schemeClr val="tx1"/>
                </a:solidFill>
                <a:latin typeface="Cambria" panose="02040503050406030204" pitchFamily="18" charset="0"/>
                <a:cs typeface="Arial" panose="020B0604020202020204" pitchFamily="34" charset="0"/>
              </a:endParaRPr>
            </a:p>
          </p:txBody>
        </p:sp>
        <p:sp>
          <p:nvSpPr>
            <p:cNvPr id="47" name="Oval 46">
              <a:extLst>
                <a:ext uri="{FF2B5EF4-FFF2-40B4-BE49-F238E27FC236}">
                  <a16:creationId xmlns:a16="http://schemas.microsoft.com/office/drawing/2014/main" id="{D4245364-356F-B942-B770-5E3463DA006E}"/>
                </a:ext>
              </a:extLst>
            </p:cNvPr>
            <p:cNvSpPr>
              <a:spLocks noChangeAspect="1"/>
            </p:cNvSpPr>
            <p:nvPr/>
          </p:nvSpPr>
          <p:spPr>
            <a:xfrm>
              <a:off x="4462412" y="1716752"/>
              <a:ext cx="275127" cy="274320"/>
            </a:xfrm>
            <a:prstGeom prst="ellipse">
              <a:avLst/>
            </a:prstGeom>
            <a:solidFill>
              <a:srgbClr val="8DBAE3"/>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00" b="1" dirty="0">
                <a:solidFill>
                  <a:schemeClr val="tx1"/>
                </a:solidFill>
                <a:latin typeface="Cambria" panose="02040503050406030204" pitchFamily="18" charset="0"/>
                <a:cs typeface="Arial" panose="020B0604020202020204" pitchFamily="34" charset="0"/>
              </a:endParaRPr>
            </a:p>
          </p:txBody>
        </p:sp>
        <p:sp>
          <p:nvSpPr>
            <p:cNvPr id="48" name="Oval 47">
              <a:extLst>
                <a:ext uri="{FF2B5EF4-FFF2-40B4-BE49-F238E27FC236}">
                  <a16:creationId xmlns:a16="http://schemas.microsoft.com/office/drawing/2014/main" id="{8AF31CDD-50CA-D448-A8B8-704F46D9DB5C}"/>
                </a:ext>
              </a:extLst>
            </p:cNvPr>
            <p:cNvSpPr>
              <a:spLocks noChangeAspect="1"/>
            </p:cNvSpPr>
            <p:nvPr/>
          </p:nvSpPr>
          <p:spPr>
            <a:xfrm>
              <a:off x="4865888" y="1716752"/>
              <a:ext cx="275127" cy="274320"/>
            </a:xfrm>
            <a:prstGeom prst="ellipse">
              <a:avLst/>
            </a:prstGeom>
            <a:solidFill>
              <a:srgbClr val="8DBAE3"/>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00" b="1" dirty="0">
                <a:solidFill>
                  <a:schemeClr val="tx1"/>
                </a:solidFill>
                <a:latin typeface="Cambria" panose="02040503050406030204" pitchFamily="18" charset="0"/>
                <a:cs typeface="Arial" panose="020B0604020202020204" pitchFamily="34" charset="0"/>
              </a:endParaRPr>
            </a:p>
          </p:txBody>
        </p:sp>
        <p:sp>
          <p:nvSpPr>
            <p:cNvPr id="49" name="Oval 48">
              <a:extLst>
                <a:ext uri="{FF2B5EF4-FFF2-40B4-BE49-F238E27FC236}">
                  <a16:creationId xmlns:a16="http://schemas.microsoft.com/office/drawing/2014/main" id="{04FE45CD-E763-BD47-95F1-CEF3330616BE}"/>
                </a:ext>
              </a:extLst>
            </p:cNvPr>
            <p:cNvSpPr>
              <a:spLocks noChangeAspect="1"/>
            </p:cNvSpPr>
            <p:nvPr/>
          </p:nvSpPr>
          <p:spPr>
            <a:xfrm>
              <a:off x="5269364" y="1716752"/>
              <a:ext cx="275127" cy="274320"/>
            </a:xfrm>
            <a:prstGeom prst="ellipse">
              <a:avLst/>
            </a:prstGeom>
            <a:solidFill>
              <a:srgbClr val="8DBAE3"/>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00" b="1" dirty="0">
                <a:solidFill>
                  <a:schemeClr val="tx1"/>
                </a:solidFill>
                <a:latin typeface="Cambria" panose="02040503050406030204" pitchFamily="18" charset="0"/>
                <a:cs typeface="Arial" panose="020B0604020202020204" pitchFamily="34" charset="0"/>
              </a:endParaRPr>
            </a:p>
          </p:txBody>
        </p:sp>
        <p:sp>
          <p:nvSpPr>
            <p:cNvPr id="50" name="Oval 49">
              <a:extLst>
                <a:ext uri="{FF2B5EF4-FFF2-40B4-BE49-F238E27FC236}">
                  <a16:creationId xmlns:a16="http://schemas.microsoft.com/office/drawing/2014/main" id="{F2F9A2F3-02E7-8146-A233-9F47F9C23407}"/>
                </a:ext>
              </a:extLst>
            </p:cNvPr>
            <p:cNvSpPr>
              <a:spLocks noChangeAspect="1"/>
            </p:cNvSpPr>
            <p:nvPr/>
          </p:nvSpPr>
          <p:spPr>
            <a:xfrm>
              <a:off x="3655459" y="1716753"/>
              <a:ext cx="274320" cy="273515"/>
            </a:xfrm>
            <a:prstGeom prst="ellipse">
              <a:avLst/>
            </a:prstGeom>
            <a:solidFill>
              <a:srgbClr val="8DBAE3"/>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00" b="1" dirty="0">
                <a:solidFill>
                  <a:schemeClr val="tx1"/>
                </a:solidFill>
                <a:latin typeface="Cambria" panose="02040503050406030204" pitchFamily="18" charset="0"/>
                <a:cs typeface="Arial" panose="020B0604020202020204" pitchFamily="34" charset="0"/>
              </a:endParaRPr>
            </a:p>
          </p:txBody>
        </p:sp>
        <p:sp>
          <p:nvSpPr>
            <p:cNvPr id="51" name="Oval 50">
              <a:extLst>
                <a:ext uri="{FF2B5EF4-FFF2-40B4-BE49-F238E27FC236}">
                  <a16:creationId xmlns:a16="http://schemas.microsoft.com/office/drawing/2014/main" id="{E0435125-C591-F14C-92BC-6856AD971AF0}"/>
                </a:ext>
              </a:extLst>
            </p:cNvPr>
            <p:cNvSpPr>
              <a:spLocks noChangeAspect="1"/>
            </p:cNvSpPr>
            <p:nvPr/>
          </p:nvSpPr>
          <p:spPr>
            <a:xfrm>
              <a:off x="4047292" y="2127074"/>
              <a:ext cx="275127" cy="274320"/>
            </a:xfrm>
            <a:prstGeom prst="ellipse">
              <a:avLst/>
            </a:prstGeom>
            <a:solidFill>
              <a:srgbClr val="8DBAE3"/>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00" b="1" dirty="0">
                <a:solidFill>
                  <a:schemeClr val="tx1"/>
                </a:solidFill>
                <a:latin typeface="Cambria" panose="02040503050406030204" pitchFamily="18" charset="0"/>
                <a:cs typeface="Arial" panose="020B0604020202020204" pitchFamily="34" charset="0"/>
              </a:endParaRPr>
            </a:p>
          </p:txBody>
        </p:sp>
        <p:sp>
          <p:nvSpPr>
            <p:cNvPr id="52" name="Oval 51">
              <a:extLst>
                <a:ext uri="{FF2B5EF4-FFF2-40B4-BE49-F238E27FC236}">
                  <a16:creationId xmlns:a16="http://schemas.microsoft.com/office/drawing/2014/main" id="{F3FB8EC1-92AA-B547-A2B0-B055E97AD708}"/>
                </a:ext>
              </a:extLst>
            </p:cNvPr>
            <p:cNvSpPr>
              <a:spLocks noChangeAspect="1"/>
            </p:cNvSpPr>
            <p:nvPr/>
          </p:nvSpPr>
          <p:spPr>
            <a:xfrm>
              <a:off x="4450769" y="2127074"/>
              <a:ext cx="275127" cy="274320"/>
            </a:xfrm>
            <a:prstGeom prst="ellipse">
              <a:avLst/>
            </a:prstGeom>
            <a:solidFill>
              <a:srgbClr val="8DBAE3"/>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00" b="1" dirty="0">
                <a:solidFill>
                  <a:schemeClr val="tx1"/>
                </a:solidFill>
                <a:latin typeface="Cambria" panose="02040503050406030204" pitchFamily="18" charset="0"/>
                <a:cs typeface="Arial" panose="020B0604020202020204" pitchFamily="34" charset="0"/>
              </a:endParaRPr>
            </a:p>
          </p:txBody>
        </p:sp>
        <p:sp>
          <p:nvSpPr>
            <p:cNvPr id="53" name="Oval 52">
              <a:extLst>
                <a:ext uri="{FF2B5EF4-FFF2-40B4-BE49-F238E27FC236}">
                  <a16:creationId xmlns:a16="http://schemas.microsoft.com/office/drawing/2014/main" id="{00925BCF-7BF5-A545-844E-0D9AC28DD470}"/>
                </a:ext>
              </a:extLst>
            </p:cNvPr>
            <p:cNvSpPr>
              <a:spLocks noChangeAspect="1"/>
            </p:cNvSpPr>
            <p:nvPr/>
          </p:nvSpPr>
          <p:spPr>
            <a:xfrm>
              <a:off x="4854245" y="2127074"/>
              <a:ext cx="275127" cy="274320"/>
            </a:xfrm>
            <a:prstGeom prst="ellipse">
              <a:avLst/>
            </a:prstGeom>
            <a:solidFill>
              <a:srgbClr val="8DBAE3"/>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00" b="1" dirty="0">
                <a:solidFill>
                  <a:schemeClr val="tx1"/>
                </a:solidFill>
                <a:latin typeface="Cambria" panose="02040503050406030204" pitchFamily="18" charset="0"/>
                <a:cs typeface="Arial" panose="020B0604020202020204" pitchFamily="34" charset="0"/>
              </a:endParaRPr>
            </a:p>
          </p:txBody>
        </p:sp>
        <p:sp>
          <p:nvSpPr>
            <p:cNvPr id="54" name="Oval 53">
              <a:extLst>
                <a:ext uri="{FF2B5EF4-FFF2-40B4-BE49-F238E27FC236}">
                  <a16:creationId xmlns:a16="http://schemas.microsoft.com/office/drawing/2014/main" id="{307E1D6F-65E5-EF41-B5B6-AF2D1629845E}"/>
                </a:ext>
              </a:extLst>
            </p:cNvPr>
            <p:cNvSpPr>
              <a:spLocks noChangeAspect="1"/>
            </p:cNvSpPr>
            <p:nvPr/>
          </p:nvSpPr>
          <p:spPr>
            <a:xfrm>
              <a:off x="5257721" y="2127074"/>
              <a:ext cx="275127" cy="274320"/>
            </a:xfrm>
            <a:prstGeom prst="ellipse">
              <a:avLst/>
            </a:prstGeom>
            <a:solidFill>
              <a:srgbClr val="8DBAE3"/>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00" b="1" dirty="0">
                <a:solidFill>
                  <a:schemeClr val="tx1"/>
                </a:solidFill>
                <a:latin typeface="Cambria" panose="02040503050406030204" pitchFamily="18" charset="0"/>
                <a:cs typeface="Arial" panose="020B0604020202020204" pitchFamily="34" charset="0"/>
              </a:endParaRPr>
            </a:p>
          </p:txBody>
        </p:sp>
        <p:sp>
          <p:nvSpPr>
            <p:cNvPr id="55" name="Oval 54">
              <a:extLst>
                <a:ext uri="{FF2B5EF4-FFF2-40B4-BE49-F238E27FC236}">
                  <a16:creationId xmlns:a16="http://schemas.microsoft.com/office/drawing/2014/main" id="{E06D5432-6872-0545-A453-F6C3C210C307}"/>
                </a:ext>
              </a:extLst>
            </p:cNvPr>
            <p:cNvSpPr>
              <a:spLocks noChangeAspect="1"/>
            </p:cNvSpPr>
            <p:nvPr/>
          </p:nvSpPr>
          <p:spPr>
            <a:xfrm>
              <a:off x="3643816" y="2127075"/>
              <a:ext cx="274320" cy="273515"/>
            </a:xfrm>
            <a:prstGeom prst="ellipse">
              <a:avLst/>
            </a:prstGeom>
            <a:solidFill>
              <a:srgbClr val="8DBAE3"/>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00" b="1" dirty="0">
                <a:solidFill>
                  <a:schemeClr val="tx1"/>
                </a:solidFill>
                <a:latin typeface="Cambria" panose="02040503050406030204" pitchFamily="18" charset="0"/>
                <a:cs typeface="Arial" panose="020B0604020202020204" pitchFamily="34" charset="0"/>
              </a:endParaRPr>
            </a:p>
          </p:txBody>
        </p:sp>
        <p:sp>
          <p:nvSpPr>
            <p:cNvPr id="56" name="Oval 55">
              <a:extLst>
                <a:ext uri="{FF2B5EF4-FFF2-40B4-BE49-F238E27FC236}">
                  <a16:creationId xmlns:a16="http://schemas.microsoft.com/office/drawing/2014/main" id="{DFCBF30A-9998-EF46-B1C6-D1BD91901DA1}"/>
                </a:ext>
              </a:extLst>
            </p:cNvPr>
            <p:cNvSpPr>
              <a:spLocks noChangeAspect="1"/>
            </p:cNvSpPr>
            <p:nvPr/>
          </p:nvSpPr>
          <p:spPr>
            <a:xfrm>
              <a:off x="4050119" y="2549812"/>
              <a:ext cx="275127" cy="274320"/>
            </a:xfrm>
            <a:prstGeom prst="ellipse">
              <a:avLst/>
            </a:prstGeom>
            <a:solidFill>
              <a:srgbClr val="8DBAE3"/>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00" b="1" dirty="0">
                <a:solidFill>
                  <a:schemeClr val="tx1"/>
                </a:solidFill>
                <a:latin typeface="Cambria" panose="02040503050406030204" pitchFamily="18" charset="0"/>
                <a:cs typeface="Arial" panose="020B0604020202020204" pitchFamily="34" charset="0"/>
              </a:endParaRPr>
            </a:p>
          </p:txBody>
        </p:sp>
        <p:sp>
          <p:nvSpPr>
            <p:cNvPr id="57" name="Oval 56">
              <a:extLst>
                <a:ext uri="{FF2B5EF4-FFF2-40B4-BE49-F238E27FC236}">
                  <a16:creationId xmlns:a16="http://schemas.microsoft.com/office/drawing/2014/main" id="{E5E937F9-94DC-F742-BEC2-250A24202A08}"/>
                </a:ext>
              </a:extLst>
            </p:cNvPr>
            <p:cNvSpPr>
              <a:spLocks noChangeAspect="1"/>
            </p:cNvSpPr>
            <p:nvPr/>
          </p:nvSpPr>
          <p:spPr>
            <a:xfrm>
              <a:off x="4453596" y="2549812"/>
              <a:ext cx="275127" cy="274320"/>
            </a:xfrm>
            <a:prstGeom prst="ellipse">
              <a:avLst/>
            </a:prstGeom>
            <a:solidFill>
              <a:srgbClr val="8DBAE3"/>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00" b="1" dirty="0">
                <a:solidFill>
                  <a:schemeClr val="tx1"/>
                </a:solidFill>
                <a:latin typeface="Cambria" panose="02040503050406030204" pitchFamily="18" charset="0"/>
                <a:cs typeface="Arial" panose="020B0604020202020204" pitchFamily="34" charset="0"/>
              </a:endParaRPr>
            </a:p>
          </p:txBody>
        </p:sp>
        <p:sp>
          <p:nvSpPr>
            <p:cNvPr id="58" name="Oval 57">
              <a:extLst>
                <a:ext uri="{FF2B5EF4-FFF2-40B4-BE49-F238E27FC236}">
                  <a16:creationId xmlns:a16="http://schemas.microsoft.com/office/drawing/2014/main" id="{52068133-FFBE-8840-855B-2FE91FEA4572}"/>
                </a:ext>
              </a:extLst>
            </p:cNvPr>
            <p:cNvSpPr>
              <a:spLocks noChangeAspect="1"/>
            </p:cNvSpPr>
            <p:nvPr/>
          </p:nvSpPr>
          <p:spPr>
            <a:xfrm>
              <a:off x="4857072" y="2549812"/>
              <a:ext cx="275127" cy="274320"/>
            </a:xfrm>
            <a:prstGeom prst="ellipse">
              <a:avLst/>
            </a:prstGeom>
            <a:solidFill>
              <a:srgbClr val="8DBAE3"/>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00" b="1" dirty="0">
                <a:solidFill>
                  <a:schemeClr val="tx1"/>
                </a:solidFill>
                <a:latin typeface="Cambria" panose="02040503050406030204" pitchFamily="18" charset="0"/>
                <a:cs typeface="Arial" panose="020B0604020202020204" pitchFamily="34" charset="0"/>
              </a:endParaRPr>
            </a:p>
          </p:txBody>
        </p:sp>
        <p:sp>
          <p:nvSpPr>
            <p:cNvPr id="59" name="Oval 58">
              <a:extLst>
                <a:ext uri="{FF2B5EF4-FFF2-40B4-BE49-F238E27FC236}">
                  <a16:creationId xmlns:a16="http://schemas.microsoft.com/office/drawing/2014/main" id="{03303C3D-E7C0-3442-881C-D1ACD1CB8B74}"/>
                </a:ext>
              </a:extLst>
            </p:cNvPr>
            <p:cNvSpPr>
              <a:spLocks noChangeAspect="1"/>
            </p:cNvSpPr>
            <p:nvPr/>
          </p:nvSpPr>
          <p:spPr>
            <a:xfrm>
              <a:off x="5260548" y="2549812"/>
              <a:ext cx="275127" cy="274320"/>
            </a:xfrm>
            <a:prstGeom prst="ellipse">
              <a:avLst/>
            </a:prstGeom>
            <a:solidFill>
              <a:srgbClr val="8DBAE3"/>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00" b="1" dirty="0">
                <a:solidFill>
                  <a:schemeClr val="tx1"/>
                </a:solidFill>
                <a:latin typeface="Cambria" panose="02040503050406030204" pitchFamily="18" charset="0"/>
                <a:cs typeface="Arial" panose="020B0604020202020204" pitchFamily="34" charset="0"/>
              </a:endParaRPr>
            </a:p>
          </p:txBody>
        </p:sp>
        <p:sp>
          <p:nvSpPr>
            <p:cNvPr id="60" name="Oval 59">
              <a:extLst>
                <a:ext uri="{FF2B5EF4-FFF2-40B4-BE49-F238E27FC236}">
                  <a16:creationId xmlns:a16="http://schemas.microsoft.com/office/drawing/2014/main" id="{C94B7227-728C-7047-838B-A1C715886EBB}"/>
                </a:ext>
              </a:extLst>
            </p:cNvPr>
            <p:cNvSpPr>
              <a:spLocks noChangeAspect="1"/>
            </p:cNvSpPr>
            <p:nvPr/>
          </p:nvSpPr>
          <p:spPr>
            <a:xfrm>
              <a:off x="3646643" y="2549813"/>
              <a:ext cx="274320" cy="273515"/>
            </a:xfrm>
            <a:prstGeom prst="ellipse">
              <a:avLst/>
            </a:prstGeom>
            <a:solidFill>
              <a:srgbClr val="8DBAE3"/>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00" b="1" dirty="0">
                <a:solidFill>
                  <a:schemeClr val="tx1"/>
                </a:solidFill>
                <a:latin typeface="Cambria" panose="02040503050406030204" pitchFamily="18" charset="0"/>
                <a:cs typeface="Arial" panose="020B0604020202020204" pitchFamily="34" charset="0"/>
              </a:endParaRPr>
            </a:p>
          </p:txBody>
        </p:sp>
        <p:sp>
          <p:nvSpPr>
            <p:cNvPr id="72" name="Oval 71">
              <a:extLst>
                <a:ext uri="{FF2B5EF4-FFF2-40B4-BE49-F238E27FC236}">
                  <a16:creationId xmlns:a16="http://schemas.microsoft.com/office/drawing/2014/main" id="{2D4DEA64-F858-A44F-B99A-FA3B67AAE5CB}"/>
                </a:ext>
              </a:extLst>
            </p:cNvPr>
            <p:cNvSpPr>
              <a:spLocks noChangeAspect="1"/>
            </p:cNvSpPr>
            <p:nvPr/>
          </p:nvSpPr>
          <p:spPr>
            <a:xfrm>
              <a:off x="4059095" y="2990368"/>
              <a:ext cx="275127" cy="274320"/>
            </a:xfrm>
            <a:prstGeom prst="ellipse">
              <a:avLst/>
            </a:prstGeom>
            <a:solidFill>
              <a:srgbClr val="8DBAE3"/>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00" b="1" dirty="0">
                <a:solidFill>
                  <a:schemeClr val="tx1"/>
                </a:solidFill>
                <a:latin typeface="Cambria" panose="02040503050406030204" pitchFamily="18" charset="0"/>
                <a:cs typeface="Arial" panose="020B0604020202020204" pitchFamily="34" charset="0"/>
              </a:endParaRPr>
            </a:p>
          </p:txBody>
        </p:sp>
        <p:sp>
          <p:nvSpPr>
            <p:cNvPr id="73" name="Oval 72">
              <a:extLst>
                <a:ext uri="{FF2B5EF4-FFF2-40B4-BE49-F238E27FC236}">
                  <a16:creationId xmlns:a16="http://schemas.microsoft.com/office/drawing/2014/main" id="{4C7038F2-E14E-1842-99C8-FFDC6A58319C}"/>
                </a:ext>
              </a:extLst>
            </p:cNvPr>
            <p:cNvSpPr>
              <a:spLocks noChangeAspect="1"/>
            </p:cNvSpPr>
            <p:nvPr/>
          </p:nvSpPr>
          <p:spPr>
            <a:xfrm>
              <a:off x="4462572" y="2990368"/>
              <a:ext cx="275127" cy="274320"/>
            </a:xfrm>
            <a:prstGeom prst="ellipse">
              <a:avLst/>
            </a:prstGeom>
            <a:solidFill>
              <a:srgbClr val="8DBAE3"/>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00" b="1" dirty="0">
                <a:solidFill>
                  <a:schemeClr val="tx1"/>
                </a:solidFill>
                <a:latin typeface="Cambria" panose="02040503050406030204" pitchFamily="18" charset="0"/>
                <a:cs typeface="Arial" panose="020B0604020202020204" pitchFamily="34" charset="0"/>
              </a:endParaRPr>
            </a:p>
          </p:txBody>
        </p:sp>
        <p:sp>
          <p:nvSpPr>
            <p:cNvPr id="74" name="Oval 73">
              <a:extLst>
                <a:ext uri="{FF2B5EF4-FFF2-40B4-BE49-F238E27FC236}">
                  <a16:creationId xmlns:a16="http://schemas.microsoft.com/office/drawing/2014/main" id="{8A2CF2FB-61D3-3F4D-B6F3-82FEA1A3B50C}"/>
                </a:ext>
              </a:extLst>
            </p:cNvPr>
            <p:cNvSpPr>
              <a:spLocks noChangeAspect="1"/>
            </p:cNvSpPr>
            <p:nvPr/>
          </p:nvSpPr>
          <p:spPr>
            <a:xfrm>
              <a:off x="4866048" y="2990368"/>
              <a:ext cx="275127" cy="274320"/>
            </a:xfrm>
            <a:prstGeom prst="ellipse">
              <a:avLst/>
            </a:prstGeom>
            <a:solidFill>
              <a:srgbClr val="8DBAE3"/>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00" b="1" dirty="0">
                <a:solidFill>
                  <a:schemeClr val="tx1"/>
                </a:solidFill>
                <a:latin typeface="Cambria" panose="02040503050406030204" pitchFamily="18" charset="0"/>
                <a:cs typeface="Arial" panose="020B0604020202020204" pitchFamily="34" charset="0"/>
              </a:endParaRPr>
            </a:p>
          </p:txBody>
        </p:sp>
        <p:sp>
          <p:nvSpPr>
            <p:cNvPr id="75" name="Oval 74">
              <a:extLst>
                <a:ext uri="{FF2B5EF4-FFF2-40B4-BE49-F238E27FC236}">
                  <a16:creationId xmlns:a16="http://schemas.microsoft.com/office/drawing/2014/main" id="{576C9905-6B4B-A94C-A6AF-0FB327863FC8}"/>
                </a:ext>
              </a:extLst>
            </p:cNvPr>
            <p:cNvSpPr>
              <a:spLocks noChangeAspect="1"/>
            </p:cNvSpPr>
            <p:nvPr/>
          </p:nvSpPr>
          <p:spPr>
            <a:xfrm>
              <a:off x="5269524" y="2990368"/>
              <a:ext cx="275127" cy="274320"/>
            </a:xfrm>
            <a:prstGeom prst="ellipse">
              <a:avLst/>
            </a:prstGeom>
            <a:solidFill>
              <a:srgbClr val="8DBAE3"/>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00" b="1" dirty="0">
                <a:solidFill>
                  <a:schemeClr val="tx1"/>
                </a:solidFill>
                <a:latin typeface="Cambria" panose="02040503050406030204" pitchFamily="18" charset="0"/>
                <a:cs typeface="Arial" panose="020B0604020202020204" pitchFamily="34" charset="0"/>
              </a:endParaRPr>
            </a:p>
          </p:txBody>
        </p:sp>
        <p:sp>
          <p:nvSpPr>
            <p:cNvPr id="76" name="Oval 75">
              <a:extLst>
                <a:ext uri="{FF2B5EF4-FFF2-40B4-BE49-F238E27FC236}">
                  <a16:creationId xmlns:a16="http://schemas.microsoft.com/office/drawing/2014/main" id="{0EB01E54-2C5F-7047-AD8D-69D27682643F}"/>
                </a:ext>
              </a:extLst>
            </p:cNvPr>
            <p:cNvSpPr>
              <a:spLocks noChangeAspect="1"/>
            </p:cNvSpPr>
            <p:nvPr/>
          </p:nvSpPr>
          <p:spPr>
            <a:xfrm>
              <a:off x="3655619" y="2990369"/>
              <a:ext cx="274320" cy="273515"/>
            </a:xfrm>
            <a:prstGeom prst="ellipse">
              <a:avLst/>
            </a:prstGeom>
            <a:solidFill>
              <a:srgbClr val="8DBAE3"/>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00" b="1" dirty="0">
                <a:solidFill>
                  <a:schemeClr val="tx1"/>
                </a:solidFill>
                <a:latin typeface="Cambria" panose="02040503050406030204" pitchFamily="18" charset="0"/>
                <a:cs typeface="Arial" panose="020B0604020202020204" pitchFamily="34" charset="0"/>
              </a:endParaRPr>
            </a:p>
          </p:txBody>
        </p:sp>
        <p:sp>
          <p:nvSpPr>
            <p:cNvPr id="77" name="Oval 76">
              <a:extLst>
                <a:ext uri="{FF2B5EF4-FFF2-40B4-BE49-F238E27FC236}">
                  <a16:creationId xmlns:a16="http://schemas.microsoft.com/office/drawing/2014/main" id="{BF0BFBB8-465E-CE49-9F0E-B040E395DE6A}"/>
                </a:ext>
              </a:extLst>
            </p:cNvPr>
            <p:cNvSpPr>
              <a:spLocks noChangeAspect="1"/>
            </p:cNvSpPr>
            <p:nvPr/>
          </p:nvSpPr>
          <p:spPr>
            <a:xfrm>
              <a:off x="5700110" y="1715948"/>
              <a:ext cx="275127" cy="274320"/>
            </a:xfrm>
            <a:prstGeom prst="ellipse">
              <a:avLst/>
            </a:prstGeom>
            <a:solidFill>
              <a:srgbClr val="8DBAE3"/>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00" b="1" dirty="0">
                <a:solidFill>
                  <a:schemeClr val="tx1"/>
                </a:solidFill>
                <a:latin typeface="Cambria" panose="02040503050406030204" pitchFamily="18" charset="0"/>
                <a:cs typeface="Arial" panose="020B0604020202020204" pitchFamily="34" charset="0"/>
              </a:endParaRPr>
            </a:p>
          </p:txBody>
        </p:sp>
        <p:sp>
          <p:nvSpPr>
            <p:cNvPr id="78" name="Oval 77">
              <a:extLst>
                <a:ext uri="{FF2B5EF4-FFF2-40B4-BE49-F238E27FC236}">
                  <a16:creationId xmlns:a16="http://schemas.microsoft.com/office/drawing/2014/main" id="{04E07FC5-7D6F-7A4E-B10B-B92C70D783C7}"/>
                </a:ext>
              </a:extLst>
            </p:cNvPr>
            <p:cNvSpPr>
              <a:spLocks noChangeAspect="1"/>
            </p:cNvSpPr>
            <p:nvPr/>
          </p:nvSpPr>
          <p:spPr>
            <a:xfrm>
              <a:off x="5688467" y="2126270"/>
              <a:ext cx="275127" cy="274320"/>
            </a:xfrm>
            <a:prstGeom prst="ellipse">
              <a:avLst/>
            </a:prstGeom>
            <a:solidFill>
              <a:srgbClr val="8DBAE3"/>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00" b="1" dirty="0">
                <a:solidFill>
                  <a:schemeClr val="tx1"/>
                </a:solidFill>
                <a:latin typeface="Cambria" panose="02040503050406030204" pitchFamily="18" charset="0"/>
                <a:cs typeface="Arial" panose="020B0604020202020204" pitchFamily="34" charset="0"/>
              </a:endParaRPr>
            </a:p>
          </p:txBody>
        </p:sp>
        <p:sp>
          <p:nvSpPr>
            <p:cNvPr id="79" name="Oval 78">
              <a:extLst>
                <a:ext uri="{FF2B5EF4-FFF2-40B4-BE49-F238E27FC236}">
                  <a16:creationId xmlns:a16="http://schemas.microsoft.com/office/drawing/2014/main" id="{8E8F7BED-5826-384B-956B-0C949000B887}"/>
                </a:ext>
              </a:extLst>
            </p:cNvPr>
            <p:cNvSpPr>
              <a:spLocks noChangeAspect="1"/>
            </p:cNvSpPr>
            <p:nvPr/>
          </p:nvSpPr>
          <p:spPr>
            <a:xfrm>
              <a:off x="5691294" y="2549008"/>
              <a:ext cx="275127" cy="274320"/>
            </a:xfrm>
            <a:prstGeom prst="ellipse">
              <a:avLst/>
            </a:prstGeom>
            <a:solidFill>
              <a:srgbClr val="8DBAE3"/>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00" b="1" dirty="0">
                <a:solidFill>
                  <a:schemeClr val="tx1"/>
                </a:solidFill>
                <a:latin typeface="Cambria" panose="02040503050406030204" pitchFamily="18" charset="0"/>
                <a:cs typeface="Arial" panose="020B0604020202020204" pitchFamily="34" charset="0"/>
              </a:endParaRPr>
            </a:p>
          </p:txBody>
        </p:sp>
        <p:sp>
          <p:nvSpPr>
            <p:cNvPr id="80" name="Oval 79">
              <a:extLst>
                <a:ext uri="{FF2B5EF4-FFF2-40B4-BE49-F238E27FC236}">
                  <a16:creationId xmlns:a16="http://schemas.microsoft.com/office/drawing/2014/main" id="{8D03E338-5E29-8143-83BF-C45298D05C4B}"/>
                </a:ext>
              </a:extLst>
            </p:cNvPr>
            <p:cNvSpPr>
              <a:spLocks noChangeAspect="1"/>
            </p:cNvSpPr>
            <p:nvPr/>
          </p:nvSpPr>
          <p:spPr>
            <a:xfrm>
              <a:off x="5678405" y="2996303"/>
              <a:ext cx="275127" cy="274320"/>
            </a:xfrm>
            <a:prstGeom prst="ellipse">
              <a:avLst/>
            </a:prstGeom>
            <a:solidFill>
              <a:srgbClr val="8DBAE3"/>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00" b="1" dirty="0">
                <a:solidFill>
                  <a:schemeClr val="tx1"/>
                </a:solidFill>
                <a:latin typeface="Cambria" panose="02040503050406030204" pitchFamily="18" charset="0"/>
                <a:cs typeface="Arial" panose="020B0604020202020204" pitchFamily="34" charset="0"/>
              </a:endParaRPr>
            </a:p>
          </p:txBody>
        </p:sp>
      </p:grpSp>
      <p:cxnSp>
        <p:nvCxnSpPr>
          <p:cNvPr id="102" name="Straight Connector 101">
            <a:extLst>
              <a:ext uri="{FF2B5EF4-FFF2-40B4-BE49-F238E27FC236}">
                <a16:creationId xmlns:a16="http://schemas.microsoft.com/office/drawing/2014/main" id="{AA6A1856-AEE7-A243-B70B-EBAD03EEA3FF}"/>
              </a:ext>
            </a:extLst>
          </p:cNvPr>
          <p:cNvCxnSpPr>
            <a:cxnSpLocks/>
          </p:cNvCxnSpPr>
          <p:nvPr/>
        </p:nvCxnSpPr>
        <p:spPr>
          <a:xfrm flipV="1">
            <a:off x="5844255" y="2234793"/>
            <a:ext cx="879073" cy="733439"/>
          </a:xfrm>
          <a:prstGeom prst="line">
            <a:avLst/>
          </a:prstGeom>
          <a:ln w="19050">
            <a:solidFill>
              <a:schemeClr val="accent2"/>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46E1673D-E1FD-1A46-8A86-A4CA2E871F0E}"/>
              </a:ext>
            </a:extLst>
          </p:cNvPr>
          <p:cNvCxnSpPr>
            <a:cxnSpLocks/>
          </p:cNvCxnSpPr>
          <p:nvPr/>
        </p:nvCxnSpPr>
        <p:spPr>
          <a:xfrm>
            <a:off x="5842830" y="3268351"/>
            <a:ext cx="781086" cy="452744"/>
          </a:xfrm>
          <a:prstGeom prst="line">
            <a:avLst/>
          </a:prstGeom>
          <a:ln w="19050">
            <a:solidFill>
              <a:schemeClr val="accent2"/>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3" name="Rectangle 112">
            <a:extLst>
              <a:ext uri="{FF2B5EF4-FFF2-40B4-BE49-F238E27FC236}">
                <a16:creationId xmlns:a16="http://schemas.microsoft.com/office/drawing/2014/main" id="{F385E4B5-77F7-9644-BF22-0AD50171E5DF}"/>
              </a:ext>
            </a:extLst>
          </p:cNvPr>
          <p:cNvSpPr/>
          <p:nvPr/>
        </p:nvSpPr>
        <p:spPr>
          <a:xfrm>
            <a:off x="8009266" y="2384925"/>
            <a:ext cx="1171603" cy="584775"/>
          </a:xfrm>
          <a:prstGeom prst="rect">
            <a:avLst/>
          </a:prstGeom>
        </p:spPr>
        <p:txBody>
          <a:bodyPr wrap="none">
            <a:spAutoFit/>
          </a:bodyPr>
          <a:lstStyle/>
          <a:p>
            <a:pPr algn="ctr"/>
            <a:r>
              <a:rPr lang="en-US" sz="1600" b="1" dirty="0">
                <a:latin typeface="Cambria" panose="02040503050406030204" pitchFamily="18" charset="0"/>
                <a:cs typeface="Arial" panose="020B0604020202020204" pitchFamily="34" charset="0"/>
              </a:rPr>
              <a:t>Access </a:t>
            </a:r>
          </a:p>
          <a:p>
            <a:pPr algn="ctr"/>
            <a:r>
              <a:rPr lang="en-US" sz="1600" b="1" dirty="0">
                <a:latin typeface="Cambria" panose="02040503050406030204" pitchFamily="18" charset="0"/>
                <a:cs typeface="Arial" panose="020B0604020202020204" pitchFamily="34" charset="0"/>
              </a:rPr>
              <a:t>Transistor</a:t>
            </a:r>
          </a:p>
        </p:txBody>
      </p:sp>
      <p:cxnSp>
        <p:nvCxnSpPr>
          <p:cNvPr id="114" name="Curved Connector 113">
            <a:extLst>
              <a:ext uri="{FF2B5EF4-FFF2-40B4-BE49-F238E27FC236}">
                <a16:creationId xmlns:a16="http://schemas.microsoft.com/office/drawing/2014/main" id="{989F1745-1C13-6644-8CD4-E608166F0117}"/>
              </a:ext>
            </a:extLst>
          </p:cNvPr>
          <p:cNvCxnSpPr>
            <a:cxnSpLocks/>
          </p:cNvCxnSpPr>
          <p:nvPr/>
        </p:nvCxnSpPr>
        <p:spPr>
          <a:xfrm rot="10800000" flipV="1">
            <a:off x="7581725" y="2659802"/>
            <a:ext cx="737464" cy="173017"/>
          </a:xfrm>
          <a:prstGeom prst="curvedConnector3">
            <a:avLst/>
          </a:prstGeom>
          <a:ln w="19050">
            <a:solidFill>
              <a:schemeClr val="accent2"/>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5" name="Rectangle 114">
            <a:extLst>
              <a:ext uri="{FF2B5EF4-FFF2-40B4-BE49-F238E27FC236}">
                <a16:creationId xmlns:a16="http://schemas.microsoft.com/office/drawing/2014/main" id="{553EFAFD-AC09-9046-971C-C3524C4B6471}"/>
              </a:ext>
            </a:extLst>
          </p:cNvPr>
          <p:cNvSpPr/>
          <p:nvPr/>
        </p:nvSpPr>
        <p:spPr>
          <a:xfrm>
            <a:off x="7094187" y="3963601"/>
            <a:ext cx="1089144" cy="584775"/>
          </a:xfrm>
          <a:prstGeom prst="rect">
            <a:avLst/>
          </a:prstGeom>
        </p:spPr>
        <p:txBody>
          <a:bodyPr wrap="none">
            <a:spAutoFit/>
          </a:bodyPr>
          <a:lstStyle/>
          <a:p>
            <a:pPr algn="ctr"/>
            <a:r>
              <a:rPr lang="en-US" sz="1600" b="1" dirty="0">
                <a:latin typeface="Cambria" panose="02040503050406030204" pitchFamily="18" charset="0"/>
                <a:cs typeface="Arial" panose="020B0604020202020204" pitchFamily="34" charset="0"/>
              </a:rPr>
              <a:t>Storage </a:t>
            </a:r>
          </a:p>
          <a:p>
            <a:pPr algn="ctr"/>
            <a:r>
              <a:rPr lang="en-US" sz="1600" b="1" dirty="0">
                <a:latin typeface="Cambria" panose="02040503050406030204" pitchFamily="18" charset="0"/>
                <a:cs typeface="Arial" panose="020B0604020202020204" pitchFamily="34" charset="0"/>
              </a:rPr>
              <a:t>Capacitor</a:t>
            </a:r>
          </a:p>
        </p:txBody>
      </p:sp>
      <p:cxnSp>
        <p:nvCxnSpPr>
          <p:cNvPr id="116" name="Curved Connector 115">
            <a:extLst>
              <a:ext uri="{FF2B5EF4-FFF2-40B4-BE49-F238E27FC236}">
                <a16:creationId xmlns:a16="http://schemas.microsoft.com/office/drawing/2014/main" id="{9C2416E4-85A0-2144-866B-A9048F31510B}"/>
              </a:ext>
            </a:extLst>
          </p:cNvPr>
          <p:cNvCxnSpPr>
            <a:cxnSpLocks/>
            <a:stCxn id="115" idx="1"/>
            <a:endCxn id="124" idx="2"/>
          </p:cNvCxnSpPr>
          <p:nvPr/>
        </p:nvCxnSpPr>
        <p:spPr>
          <a:xfrm rot="10800000">
            <a:off x="6928553" y="3584397"/>
            <a:ext cx="165634" cy="671592"/>
          </a:xfrm>
          <a:prstGeom prst="curvedConnector2">
            <a:avLst/>
          </a:prstGeom>
          <a:ln w="19050">
            <a:solidFill>
              <a:schemeClr val="accent2"/>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26" name="Curved Connector 125">
            <a:extLst>
              <a:ext uri="{FF2B5EF4-FFF2-40B4-BE49-F238E27FC236}">
                <a16:creationId xmlns:a16="http://schemas.microsoft.com/office/drawing/2014/main" id="{D28999CC-54A6-734C-AECF-6CD3E654B59E}"/>
              </a:ext>
            </a:extLst>
          </p:cNvPr>
          <p:cNvCxnSpPr>
            <a:cxnSpLocks/>
            <a:stCxn id="127" idx="3"/>
          </p:cNvCxnSpPr>
          <p:nvPr/>
        </p:nvCxnSpPr>
        <p:spPr>
          <a:xfrm>
            <a:off x="5501710" y="1131417"/>
            <a:ext cx="327306" cy="349222"/>
          </a:xfrm>
          <a:prstGeom prst="curvedConnector2">
            <a:avLst/>
          </a:prstGeom>
          <a:ln w="19050">
            <a:solidFill>
              <a:schemeClr val="accent6"/>
            </a:solidFill>
            <a:prstDash val="solid"/>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27" name="Rectangle 126">
            <a:extLst>
              <a:ext uri="{FF2B5EF4-FFF2-40B4-BE49-F238E27FC236}">
                <a16:creationId xmlns:a16="http://schemas.microsoft.com/office/drawing/2014/main" id="{FDB95212-DA0C-1743-8FCF-8EE64DC17D66}"/>
              </a:ext>
            </a:extLst>
          </p:cNvPr>
          <p:cNvSpPr/>
          <p:nvPr/>
        </p:nvSpPr>
        <p:spPr>
          <a:xfrm>
            <a:off x="4704697" y="962140"/>
            <a:ext cx="797013" cy="338554"/>
          </a:xfrm>
          <a:prstGeom prst="rect">
            <a:avLst/>
          </a:prstGeom>
        </p:spPr>
        <p:txBody>
          <a:bodyPr wrap="none">
            <a:spAutoFit/>
          </a:bodyPr>
          <a:lstStyle/>
          <a:p>
            <a:r>
              <a:rPr lang="en-US" sz="1600" b="1" i="1" dirty="0">
                <a:solidFill>
                  <a:schemeClr val="accent6"/>
                </a:solidFill>
                <a:latin typeface="Cambria" panose="02040503050406030204" pitchFamily="18" charset="0"/>
                <a:cs typeface="Arial" panose="020B0604020202020204" pitchFamily="34" charset="0"/>
              </a:rPr>
              <a:t>Bitline</a:t>
            </a:r>
          </a:p>
        </p:txBody>
      </p:sp>
      <p:cxnSp>
        <p:nvCxnSpPr>
          <p:cNvPr id="128" name="Curved Connector 127">
            <a:extLst>
              <a:ext uri="{FF2B5EF4-FFF2-40B4-BE49-F238E27FC236}">
                <a16:creationId xmlns:a16="http://schemas.microsoft.com/office/drawing/2014/main" id="{07A5A58C-1971-9543-BA58-11EB33E1A329}"/>
              </a:ext>
            </a:extLst>
          </p:cNvPr>
          <p:cNvCxnSpPr>
            <a:cxnSpLocks/>
            <a:stCxn id="129" idx="1"/>
          </p:cNvCxnSpPr>
          <p:nvPr/>
        </p:nvCxnSpPr>
        <p:spPr>
          <a:xfrm rot="10800000" flipV="1">
            <a:off x="6154698" y="1561842"/>
            <a:ext cx="320497" cy="282334"/>
          </a:xfrm>
          <a:prstGeom prst="curvedConnector3">
            <a:avLst/>
          </a:prstGeom>
          <a:ln w="19050">
            <a:solidFill>
              <a:srgbClr val="C00000"/>
            </a:solidFill>
            <a:prstDash val="solid"/>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29" name="Rectangle 128">
            <a:extLst>
              <a:ext uri="{FF2B5EF4-FFF2-40B4-BE49-F238E27FC236}">
                <a16:creationId xmlns:a16="http://schemas.microsoft.com/office/drawing/2014/main" id="{1A5DAC68-9EDF-564A-92D9-1455B2912D78}"/>
              </a:ext>
            </a:extLst>
          </p:cNvPr>
          <p:cNvSpPr/>
          <p:nvPr/>
        </p:nvSpPr>
        <p:spPr>
          <a:xfrm>
            <a:off x="6475194" y="1392565"/>
            <a:ext cx="1029256" cy="338554"/>
          </a:xfrm>
          <a:prstGeom prst="rect">
            <a:avLst/>
          </a:prstGeom>
        </p:spPr>
        <p:txBody>
          <a:bodyPr wrap="none">
            <a:spAutoFit/>
          </a:bodyPr>
          <a:lstStyle/>
          <a:p>
            <a:r>
              <a:rPr lang="en-US" sz="1600" b="1" i="1" dirty="0" err="1">
                <a:solidFill>
                  <a:srgbClr val="C00000"/>
                </a:solidFill>
                <a:latin typeface="Cambria" panose="02040503050406030204" pitchFamily="18" charset="0"/>
                <a:cs typeface="Arial" panose="020B0604020202020204" pitchFamily="34" charset="0"/>
              </a:rPr>
              <a:t>Wordline</a:t>
            </a:r>
            <a:endParaRPr lang="en-US" sz="1600" b="1" i="1" dirty="0">
              <a:solidFill>
                <a:srgbClr val="C00000"/>
              </a:solidFill>
              <a:latin typeface="Cambria" panose="02040503050406030204" pitchFamily="18" charset="0"/>
              <a:cs typeface="Arial" panose="020B0604020202020204" pitchFamily="34" charset="0"/>
            </a:endParaRPr>
          </a:p>
        </p:txBody>
      </p:sp>
      <p:grpSp>
        <p:nvGrpSpPr>
          <p:cNvPr id="176" name="Group 175">
            <a:extLst>
              <a:ext uri="{FF2B5EF4-FFF2-40B4-BE49-F238E27FC236}">
                <a16:creationId xmlns:a16="http://schemas.microsoft.com/office/drawing/2014/main" id="{CD7123E7-0497-8A42-8D46-25C93209D69C}"/>
              </a:ext>
            </a:extLst>
          </p:cNvPr>
          <p:cNvGrpSpPr/>
          <p:nvPr/>
        </p:nvGrpSpPr>
        <p:grpSpPr>
          <a:xfrm>
            <a:off x="6823289" y="2234793"/>
            <a:ext cx="1185561" cy="1389125"/>
            <a:chOff x="6823289" y="2234793"/>
            <a:chExt cx="1185561" cy="1389125"/>
          </a:xfrm>
        </p:grpSpPr>
        <p:grpSp>
          <p:nvGrpSpPr>
            <p:cNvPr id="174" name="Group 173">
              <a:extLst>
                <a:ext uri="{FF2B5EF4-FFF2-40B4-BE49-F238E27FC236}">
                  <a16:creationId xmlns:a16="http://schemas.microsoft.com/office/drawing/2014/main" id="{6D31D841-6E68-8448-90F5-FD3D0ECAA46D}"/>
                </a:ext>
              </a:extLst>
            </p:cNvPr>
            <p:cNvGrpSpPr/>
            <p:nvPr/>
          </p:nvGrpSpPr>
          <p:grpSpPr>
            <a:xfrm>
              <a:off x="6823289" y="3018739"/>
              <a:ext cx="208915" cy="565658"/>
              <a:chOff x="6823289" y="3018739"/>
              <a:chExt cx="208915" cy="565658"/>
            </a:xfrm>
          </p:grpSpPr>
          <p:cxnSp>
            <p:nvCxnSpPr>
              <p:cNvPr id="111" name="Straight Connector 110">
                <a:extLst>
                  <a:ext uri="{FF2B5EF4-FFF2-40B4-BE49-F238E27FC236}">
                    <a16:creationId xmlns:a16="http://schemas.microsoft.com/office/drawing/2014/main" id="{26E415A8-E169-3F42-A1A5-9F72867A3D60}"/>
                  </a:ext>
                </a:extLst>
              </p:cNvPr>
              <p:cNvCxnSpPr>
                <a:cxnSpLocks/>
              </p:cNvCxnSpPr>
              <p:nvPr/>
            </p:nvCxnSpPr>
            <p:spPr>
              <a:xfrm>
                <a:off x="6913650" y="3018739"/>
                <a:ext cx="0" cy="279715"/>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2" name="Rectangle 111">
                <a:extLst>
                  <a:ext uri="{FF2B5EF4-FFF2-40B4-BE49-F238E27FC236}">
                    <a16:creationId xmlns:a16="http://schemas.microsoft.com/office/drawing/2014/main" id="{741AB27F-7CAA-FF48-A60B-2AC24806457A}"/>
                  </a:ext>
                </a:extLst>
              </p:cNvPr>
              <p:cNvSpPr/>
              <p:nvPr/>
            </p:nvSpPr>
            <p:spPr>
              <a:xfrm>
                <a:off x="6823289" y="3273055"/>
                <a:ext cx="208915" cy="308304"/>
              </a:xfrm>
              <a:prstGeom prst="rect">
                <a:avLst/>
              </a:prstGeom>
              <a:solidFill>
                <a:srgbClr val="F2F2F2"/>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3200" b="1" dirty="0">
                  <a:solidFill>
                    <a:schemeClr val="tx1"/>
                  </a:solidFill>
                  <a:effectLst>
                    <a:outerShdw blurRad="38100" dist="38100" dir="2700000" algn="tl">
                      <a:srgbClr val="000000">
                        <a:alpha val="43137"/>
                      </a:srgbClr>
                    </a:outerShdw>
                  </a:effectLst>
                  <a:latin typeface="Cambria" panose="02040503050406030204" pitchFamily="18" charset="0"/>
                </a:endParaRPr>
              </a:p>
            </p:txBody>
          </p:sp>
          <p:sp>
            <p:nvSpPr>
              <p:cNvPr id="124" name="Rectangle 123">
                <a:extLst>
                  <a:ext uri="{FF2B5EF4-FFF2-40B4-BE49-F238E27FC236}">
                    <a16:creationId xmlns:a16="http://schemas.microsoft.com/office/drawing/2014/main" id="{790AA504-68AC-A94E-9383-4E39BCE9CB3A}"/>
                  </a:ext>
                </a:extLst>
              </p:cNvPr>
              <p:cNvSpPr/>
              <p:nvPr/>
            </p:nvSpPr>
            <p:spPr>
              <a:xfrm>
                <a:off x="6824903" y="3413572"/>
                <a:ext cx="207300" cy="170825"/>
              </a:xfrm>
              <a:prstGeom prst="rect">
                <a:avLst/>
              </a:prstGeom>
              <a:solidFill>
                <a:srgbClr val="8DBAE4"/>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3200" b="1" dirty="0">
                  <a:solidFill>
                    <a:schemeClr val="tx1"/>
                  </a:solidFill>
                  <a:effectLst>
                    <a:outerShdw blurRad="38100" dist="38100" dir="2700000" algn="tl">
                      <a:srgbClr val="000000">
                        <a:alpha val="43137"/>
                      </a:srgbClr>
                    </a:outerShdw>
                  </a:effectLst>
                  <a:latin typeface="Cambria" panose="02040503050406030204" pitchFamily="18" charset="0"/>
                </a:endParaRPr>
              </a:p>
            </p:txBody>
          </p:sp>
        </p:grpSp>
        <p:grpSp>
          <p:nvGrpSpPr>
            <p:cNvPr id="173" name="Group 172">
              <a:extLst>
                <a:ext uri="{FF2B5EF4-FFF2-40B4-BE49-F238E27FC236}">
                  <a16:creationId xmlns:a16="http://schemas.microsoft.com/office/drawing/2014/main" id="{11AB58AF-0A03-2347-9062-B27CEBDCAB9F}"/>
                </a:ext>
              </a:extLst>
            </p:cNvPr>
            <p:cNvGrpSpPr/>
            <p:nvPr/>
          </p:nvGrpSpPr>
          <p:grpSpPr>
            <a:xfrm>
              <a:off x="6848957" y="2234793"/>
              <a:ext cx="923523" cy="797975"/>
              <a:chOff x="6848957" y="2234793"/>
              <a:chExt cx="923523" cy="797975"/>
            </a:xfrm>
          </p:grpSpPr>
          <p:grpSp>
            <p:nvGrpSpPr>
              <p:cNvPr id="108" name="Group 107">
                <a:extLst>
                  <a:ext uri="{FF2B5EF4-FFF2-40B4-BE49-F238E27FC236}">
                    <a16:creationId xmlns:a16="http://schemas.microsoft.com/office/drawing/2014/main" id="{11533A39-5FFC-7A45-A4E1-96A753327ABC}"/>
                  </a:ext>
                </a:extLst>
              </p:cNvPr>
              <p:cNvGrpSpPr/>
              <p:nvPr/>
            </p:nvGrpSpPr>
            <p:grpSpPr>
              <a:xfrm>
                <a:off x="6906562" y="2523272"/>
                <a:ext cx="787634" cy="509496"/>
                <a:chOff x="3838575" y="2895602"/>
                <a:chExt cx="520698" cy="323849"/>
              </a:xfrm>
            </p:grpSpPr>
            <p:cxnSp>
              <p:nvCxnSpPr>
                <p:cNvPr id="117" name="Straight Connector 116">
                  <a:extLst>
                    <a:ext uri="{FF2B5EF4-FFF2-40B4-BE49-F238E27FC236}">
                      <a16:creationId xmlns:a16="http://schemas.microsoft.com/office/drawing/2014/main" id="{AB3A5992-A921-C74D-8D5A-F7817A2BF9D9}"/>
                    </a:ext>
                  </a:extLst>
                </p:cNvPr>
                <p:cNvCxnSpPr/>
                <p:nvPr/>
              </p:nvCxnSpPr>
              <p:spPr>
                <a:xfrm>
                  <a:off x="3838575" y="3214688"/>
                  <a:ext cx="180975" cy="0"/>
                </a:xfrm>
                <a:prstGeom prst="line">
                  <a:avLst/>
                </a:prstGeom>
                <a:ln w="28575">
                  <a:solidFill>
                    <a:schemeClr val="accent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5621B20-BFE1-1847-80FB-1747AB02A45E}"/>
                    </a:ext>
                  </a:extLst>
                </p:cNvPr>
                <p:cNvCxnSpPr/>
                <p:nvPr/>
              </p:nvCxnSpPr>
              <p:spPr>
                <a:xfrm>
                  <a:off x="4010024" y="3086102"/>
                  <a:ext cx="180975" cy="0"/>
                </a:xfrm>
                <a:prstGeom prst="line">
                  <a:avLst/>
                </a:prstGeom>
                <a:ln w="28575">
                  <a:solidFill>
                    <a:schemeClr val="accent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F51E0E0-C4BD-F34E-8FB0-74FCF615E09F}"/>
                    </a:ext>
                  </a:extLst>
                </p:cNvPr>
                <p:cNvCxnSpPr>
                  <a:cxnSpLocks/>
                </p:cNvCxnSpPr>
                <p:nvPr/>
              </p:nvCxnSpPr>
              <p:spPr>
                <a:xfrm flipV="1">
                  <a:off x="4014787" y="3081339"/>
                  <a:ext cx="0" cy="138112"/>
                </a:xfrm>
                <a:prstGeom prst="line">
                  <a:avLst/>
                </a:prstGeom>
                <a:ln w="28575">
                  <a:solidFill>
                    <a:schemeClr val="accent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967EEC9A-F940-AF46-BA5E-8C0C4022EFD7}"/>
                    </a:ext>
                  </a:extLst>
                </p:cNvPr>
                <p:cNvCxnSpPr>
                  <a:cxnSpLocks/>
                </p:cNvCxnSpPr>
                <p:nvPr/>
              </p:nvCxnSpPr>
              <p:spPr>
                <a:xfrm flipV="1">
                  <a:off x="4192733" y="3081339"/>
                  <a:ext cx="0" cy="138112"/>
                </a:xfrm>
                <a:prstGeom prst="line">
                  <a:avLst/>
                </a:prstGeom>
                <a:ln w="28575">
                  <a:solidFill>
                    <a:schemeClr val="accent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C3FF963C-683A-6E41-A522-F27D0241B87A}"/>
                    </a:ext>
                  </a:extLst>
                </p:cNvPr>
                <p:cNvCxnSpPr>
                  <a:cxnSpLocks/>
                </p:cNvCxnSpPr>
                <p:nvPr/>
              </p:nvCxnSpPr>
              <p:spPr>
                <a:xfrm flipV="1">
                  <a:off x="4186162" y="3211513"/>
                  <a:ext cx="173111" cy="3288"/>
                </a:xfrm>
                <a:prstGeom prst="line">
                  <a:avLst/>
                </a:prstGeom>
                <a:ln w="28575">
                  <a:solidFill>
                    <a:schemeClr val="accent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318910E0-A70F-AE46-95F2-1EDD17BD7B92}"/>
                    </a:ext>
                  </a:extLst>
                </p:cNvPr>
                <p:cNvCxnSpPr/>
                <p:nvPr/>
              </p:nvCxnSpPr>
              <p:spPr>
                <a:xfrm>
                  <a:off x="4010023" y="3033714"/>
                  <a:ext cx="180975" cy="0"/>
                </a:xfrm>
                <a:prstGeom prst="line">
                  <a:avLst/>
                </a:prstGeom>
                <a:ln w="28575">
                  <a:solidFill>
                    <a:schemeClr val="accent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ACC641A6-E640-3240-8EA0-C65B79C3A7C0}"/>
                    </a:ext>
                  </a:extLst>
                </p:cNvPr>
                <p:cNvCxnSpPr>
                  <a:cxnSpLocks/>
                </p:cNvCxnSpPr>
                <p:nvPr/>
              </p:nvCxnSpPr>
              <p:spPr>
                <a:xfrm flipV="1">
                  <a:off x="4100510" y="2895602"/>
                  <a:ext cx="0" cy="138112"/>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0" name="Straight Connector 109">
                <a:extLst>
                  <a:ext uri="{FF2B5EF4-FFF2-40B4-BE49-F238E27FC236}">
                    <a16:creationId xmlns:a16="http://schemas.microsoft.com/office/drawing/2014/main" id="{C37ED91F-8479-634C-BBC0-34C5C6B10762}"/>
                  </a:ext>
                </a:extLst>
              </p:cNvPr>
              <p:cNvCxnSpPr/>
              <p:nvPr/>
            </p:nvCxnSpPr>
            <p:spPr>
              <a:xfrm>
                <a:off x="6906562" y="2523272"/>
                <a:ext cx="850072" cy="0"/>
              </a:xfrm>
              <a:prstGeom prst="line">
                <a:avLst/>
              </a:prstGeom>
              <a:ln w="19050">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6" name="Rectangle 135">
                <a:extLst>
                  <a:ext uri="{FF2B5EF4-FFF2-40B4-BE49-F238E27FC236}">
                    <a16:creationId xmlns:a16="http://schemas.microsoft.com/office/drawing/2014/main" id="{87A68490-56A3-244B-B8A6-8A010E4112BD}"/>
                  </a:ext>
                </a:extLst>
              </p:cNvPr>
              <p:cNvSpPr/>
              <p:nvPr/>
            </p:nvSpPr>
            <p:spPr>
              <a:xfrm>
                <a:off x="6848957" y="2234793"/>
                <a:ext cx="923523" cy="307777"/>
              </a:xfrm>
              <a:prstGeom prst="rect">
                <a:avLst/>
              </a:prstGeom>
            </p:spPr>
            <p:txBody>
              <a:bodyPr wrap="none">
                <a:spAutoFit/>
              </a:bodyPr>
              <a:lstStyle/>
              <a:p>
                <a:r>
                  <a:rPr lang="en-US" sz="1400" b="1" i="1" dirty="0" err="1">
                    <a:solidFill>
                      <a:srgbClr val="C00000"/>
                    </a:solidFill>
                    <a:latin typeface="Cambria" panose="02040503050406030204" pitchFamily="18" charset="0"/>
                    <a:cs typeface="Arial" panose="020B0604020202020204" pitchFamily="34" charset="0"/>
                  </a:rPr>
                  <a:t>Wordline</a:t>
                </a:r>
                <a:endParaRPr lang="en-US" sz="1400" b="1" i="1" dirty="0">
                  <a:solidFill>
                    <a:srgbClr val="C00000"/>
                  </a:solidFill>
                  <a:latin typeface="Cambria" panose="02040503050406030204" pitchFamily="18" charset="0"/>
                  <a:cs typeface="Arial" panose="020B0604020202020204" pitchFamily="34" charset="0"/>
                </a:endParaRPr>
              </a:p>
            </p:txBody>
          </p:sp>
        </p:grpSp>
        <p:grpSp>
          <p:nvGrpSpPr>
            <p:cNvPr id="175" name="Group 174">
              <a:extLst>
                <a:ext uri="{FF2B5EF4-FFF2-40B4-BE49-F238E27FC236}">
                  <a16:creationId xmlns:a16="http://schemas.microsoft.com/office/drawing/2014/main" id="{CD940C29-F6E0-BD49-98D6-9E98B105A50D}"/>
                </a:ext>
              </a:extLst>
            </p:cNvPr>
            <p:cNvGrpSpPr/>
            <p:nvPr/>
          </p:nvGrpSpPr>
          <p:grpSpPr>
            <a:xfrm>
              <a:off x="7691794" y="2903849"/>
              <a:ext cx="317056" cy="720069"/>
              <a:chOff x="7691794" y="2903849"/>
              <a:chExt cx="317056" cy="720069"/>
            </a:xfrm>
          </p:grpSpPr>
          <p:cxnSp>
            <p:nvCxnSpPr>
              <p:cNvPr id="109" name="Straight Connector 108">
                <a:extLst>
                  <a:ext uri="{FF2B5EF4-FFF2-40B4-BE49-F238E27FC236}">
                    <a16:creationId xmlns:a16="http://schemas.microsoft.com/office/drawing/2014/main" id="{BAB63DA0-9E90-1B4E-B20C-7E2BE143A1EE}"/>
                  </a:ext>
                </a:extLst>
              </p:cNvPr>
              <p:cNvCxnSpPr>
                <a:cxnSpLocks/>
              </p:cNvCxnSpPr>
              <p:nvPr/>
            </p:nvCxnSpPr>
            <p:spPr>
              <a:xfrm>
                <a:off x="7691794" y="3011246"/>
                <a:ext cx="0" cy="447538"/>
              </a:xfrm>
              <a:prstGeom prst="line">
                <a:avLst/>
              </a:prstGeom>
              <a:ln w="19050">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7" name="Rectangle 136">
                <a:extLst>
                  <a:ext uri="{FF2B5EF4-FFF2-40B4-BE49-F238E27FC236}">
                    <a16:creationId xmlns:a16="http://schemas.microsoft.com/office/drawing/2014/main" id="{ED4785E6-4DAA-6D4F-9E15-EC33689DA909}"/>
                  </a:ext>
                </a:extLst>
              </p:cNvPr>
              <p:cNvSpPr/>
              <p:nvPr/>
            </p:nvSpPr>
            <p:spPr>
              <a:xfrm rot="16200000">
                <a:off x="7494927" y="3109995"/>
                <a:ext cx="720069" cy="307777"/>
              </a:xfrm>
              <a:prstGeom prst="rect">
                <a:avLst/>
              </a:prstGeom>
            </p:spPr>
            <p:txBody>
              <a:bodyPr wrap="none">
                <a:spAutoFit/>
              </a:bodyPr>
              <a:lstStyle/>
              <a:p>
                <a:r>
                  <a:rPr lang="en-US" sz="1400" b="1" i="1" dirty="0">
                    <a:solidFill>
                      <a:schemeClr val="accent6"/>
                    </a:solidFill>
                    <a:latin typeface="Cambria" panose="02040503050406030204" pitchFamily="18" charset="0"/>
                    <a:cs typeface="Arial" panose="020B0604020202020204" pitchFamily="34" charset="0"/>
                  </a:rPr>
                  <a:t>Bitline</a:t>
                </a:r>
              </a:p>
            </p:txBody>
          </p:sp>
        </p:grpSp>
      </p:grpSp>
      <p:cxnSp>
        <p:nvCxnSpPr>
          <p:cNvPr id="141" name="Straight Connector 140">
            <a:extLst>
              <a:ext uri="{FF2B5EF4-FFF2-40B4-BE49-F238E27FC236}">
                <a16:creationId xmlns:a16="http://schemas.microsoft.com/office/drawing/2014/main" id="{9E61F23E-59F0-174D-97D9-87456C530A4D}"/>
              </a:ext>
            </a:extLst>
          </p:cNvPr>
          <p:cNvCxnSpPr>
            <a:cxnSpLocks/>
          </p:cNvCxnSpPr>
          <p:nvPr/>
        </p:nvCxnSpPr>
        <p:spPr>
          <a:xfrm flipH="1">
            <a:off x="1886821" y="1567517"/>
            <a:ext cx="1714222" cy="591776"/>
          </a:xfrm>
          <a:prstGeom prst="line">
            <a:avLst/>
          </a:prstGeom>
          <a:ln w="1905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3" name="Rounded Rectangle 2">
            <a:extLst>
              <a:ext uri="{FF2B5EF4-FFF2-40B4-BE49-F238E27FC236}">
                <a16:creationId xmlns:a16="http://schemas.microsoft.com/office/drawing/2014/main" id="{3E6D0186-186A-294A-86EB-C43553828912}"/>
              </a:ext>
            </a:extLst>
          </p:cNvPr>
          <p:cNvSpPr/>
          <p:nvPr/>
        </p:nvSpPr>
        <p:spPr>
          <a:xfrm>
            <a:off x="3635211" y="3404470"/>
            <a:ext cx="2367580" cy="340859"/>
          </a:xfrm>
          <a:prstGeom prst="roundRect">
            <a:avLst/>
          </a:prstGeom>
          <a:solidFill>
            <a:schemeClr val="accent4">
              <a:lumMod val="20000"/>
              <a:lumOff val="80000"/>
            </a:schemeClr>
          </a:solid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2" name="Straight Connector 141">
            <a:extLst>
              <a:ext uri="{FF2B5EF4-FFF2-40B4-BE49-F238E27FC236}">
                <a16:creationId xmlns:a16="http://schemas.microsoft.com/office/drawing/2014/main" id="{76A6BAB0-7CD1-BE46-9841-31181123A1C5}"/>
              </a:ext>
            </a:extLst>
          </p:cNvPr>
          <p:cNvCxnSpPr>
            <a:cxnSpLocks/>
          </p:cNvCxnSpPr>
          <p:nvPr/>
        </p:nvCxnSpPr>
        <p:spPr>
          <a:xfrm flipH="1" flipV="1">
            <a:off x="1902619" y="2627659"/>
            <a:ext cx="1638290" cy="596275"/>
          </a:xfrm>
          <a:prstGeom prst="line">
            <a:avLst/>
          </a:prstGeom>
          <a:ln w="1905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145" name="TextBox 144">
            <a:extLst>
              <a:ext uri="{FF2B5EF4-FFF2-40B4-BE49-F238E27FC236}">
                <a16:creationId xmlns:a16="http://schemas.microsoft.com/office/drawing/2014/main" id="{388DABE2-7D16-E941-AA4B-32316D3A244F}"/>
              </a:ext>
            </a:extLst>
          </p:cNvPr>
          <p:cNvSpPr txBox="1"/>
          <p:nvPr/>
        </p:nvSpPr>
        <p:spPr>
          <a:xfrm>
            <a:off x="-46889" y="1970324"/>
            <a:ext cx="2840107"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black">
                    <a:lumMod val="75000"/>
                    <a:lumOff val="25000"/>
                  </a:prstClr>
                </a:solidFill>
                <a:effectLst/>
                <a:uLnTx/>
                <a:uFillTx/>
                <a:latin typeface="Cambria" panose="02040503050406030204" pitchFamily="18" charset="0"/>
              </a:rPr>
              <a:t>Subarray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prstClr val="black">
                    <a:lumMod val="75000"/>
                    <a:lumOff val="25000"/>
                  </a:prstClr>
                </a:solidFill>
                <a:latin typeface="Cambria" panose="02040503050406030204" pitchFamily="18" charset="0"/>
              </a:rPr>
              <a:t>(</a:t>
            </a:r>
            <a:r>
              <a:rPr kumimoji="0" lang="en-US" b="1" i="0" u="none" strike="noStrike" kern="1200" cap="none" spc="0" normalizeH="0" baseline="0" noProof="0" dirty="0">
                <a:ln>
                  <a:noFill/>
                </a:ln>
                <a:solidFill>
                  <a:prstClr val="black">
                    <a:lumMod val="75000"/>
                    <a:lumOff val="25000"/>
                  </a:prstClr>
                </a:solidFill>
                <a:effectLst/>
                <a:uLnTx/>
                <a:uFillTx/>
                <a:latin typeface="Cambria" panose="02040503050406030204" pitchFamily="18" charset="0"/>
              </a:rPr>
              <a:t>2D Array</a:t>
            </a:r>
            <a:r>
              <a:rPr kumimoji="0" lang="en-US" b="1" i="0" u="none" strike="noStrike" kern="1200" cap="none" spc="0" normalizeH="0" noProof="0" dirty="0">
                <a:ln>
                  <a:noFill/>
                </a:ln>
                <a:solidFill>
                  <a:prstClr val="black">
                    <a:lumMod val="75000"/>
                    <a:lumOff val="25000"/>
                  </a:prstClr>
                </a:solidFill>
                <a:effectLst/>
                <a:uLnTx/>
                <a:uFillTx/>
                <a:latin typeface="Cambria" panose="02040503050406030204" pitchFamily="18" charset="0"/>
              </a:rPr>
              <a:t> </a:t>
            </a:r>
            <a:r>
              <a:rPr kumimoji="0" lang="en-US" b="1" i="0" u="none" strike="noStrike" kern="1200" cap="none" spc="0" normalizeH="0" baseline="0" noProof="0" dirty="0">
                <a:ln>
                  <a:noFill/>
                </a:ln>
                <a:solidFill>
                  <a:prstClr val="black">
                    <a:lumMod val="75000"/>
                    <a:lumOff val="25000"/>
                  </a:prstClr>
                </a:solidFill>
                <a:effectLst/>
                <a:uLnTx/>
                <a:uFillTx/>
                <a:latin typeface="Cambria" panose="02040503050406030204" pitchFamily="18" charset="0"/>
              </a:rPr>
              <a:t>of </a:t>
            </a:r>
            <a:r>
              <a:rPr lang="en-US" b="1" dirty="0">
                <a:solidFill>
                  <a:prstClr val="black">
                    <a:lumMod val="75000"/>
                    <a:lumOff val="25000"/>
                  </a:prstClr>
                </a:solidFill>
                <a:latin typeface="Cambria" panose="02040503050406030204" pitchFamily="18" charset="0"/>
              </a:rPr>
              <a:t>DRAM Cells)</a:t>
            </a:r>
            <a:endParaRPr kumimoji="0" lang="en-US" b="1" i="0" u="none" strike="noStrike" kern="1200" cap="none" spc="0" normalizeH="0" baseline="0" noProof="0" dirty="0">
              <a:ln>
                <a:noFill/>
              </a:ln>
              <a:solidFill>
                <a:prstClr val="black">
                  <a:lumMod val="75000"/>
                  <a:lumOff val="25000"/>
                </a:prstClr>
              </a:solidFill>
              <a:effectLst/>
              <a:uLnTx/>
              <a:uFillTx/>
              <a:latin typeface="Cambria" panose="02040503050406030204" pitchFamily="18" charset="0"/>
            </a:endParaRPr>
          </a:p>
        </p:txBody>
      </p:sp>
      <p:sp>
        <p:nvSpPr>
          <p:cNvPr id="146" name="TextBox 145">
            <a:extLst>
              <a:ext uri="{FF2B5EF4-FFF2-40B4-BE49-F238E27FC236}">
                <a16:creationId xmlns:a16="http://schemas.microsoft.com/office/drawing/2014/main" id="{0B6EFC29-7C74-B547-8855-0FE3DC323D6A}"/>
              </a:ext>
            </a:extLst>
          </p:cNvPr>
          <p:cNvSpPr txBox="1"/>
          <p:nvPr/>
        </p:nvSpPr>
        <p:spPr>
          <a:xfrm>
            <a:off x="675580" y="3296050"/>
            <a:ext cx="1962460"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prstClr val="black">
                    <a:lumMod val="75000"/>
                    <a:lumOff val="25000"/>
                  </a:prstClr>
                </a:solidFill>
                <a:latin typeface="Cambria" panose="02040503050406030204" pitchFamily="18" charset="0"/>
              </a:rPr>
              <a:t>Sense Amplifiers</a:t>
            </a:r>
            <a:endParaRPr kumimoji="0" lang="en-US" b="1" i="0" u="none" strike="noStrike" kern="1200" cap="none" spc="0" normalizeH="0" baseline="0" noProof="0" dirty="0">
              <a:ln>
                <a:noFill/>
              </a:ln>
              <a:solidFill>
                <a:prstClr val="black">
                  <a:lumMod val="75000"/>
                  <a:lumOff val="25000"/>
                </a:prstClr>
              </a:solidFill>
              <a:effectLst/>
              <a:uLnTx/>
              <a:uFillTx/>
              <a:latin typeface="Cambria" panose="02040503050406030204" pitchFamily="18" charset="0"/>
            </a:endParaRPr>
          </a:p>
        </p:txBody>
      </p:sp>
      <p:sp>
        <p:nvSpPr>
          <p:cNvPr id="163" name="TextBox 162">
            <a:extLst>
              <a:ext uri="{FF2B5EF4-FFF2-40B4-BE49-F238E27FC236}">
                <a16:creationId xmlns:a16="http://schemas.microsoft.com/office/drawing/2014/main" id="{14C68C6B-18F6-994D-999D-66F7123B472C}"/>
              </a:ext>
            </a:extLst>
          </p:cNvPr>
          <p:cNvSpPr txBox="1"/>
          <p:nvPr/>
        </p:nvSpPr>
        <p:spPr>
          <a:xfrm>
            <a:off x="4050656" y="6385174"/>
            <a:ext cx="1691490"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prstClr val="black">
                    <a:lumMod val="75000"/>
                    <a:lumOff val="25000"/>
                  </a:prstClr>
                </a:solidFill>
                <a:latin typeface="Cambria" panose="02040503050406030204" pitchFamily="18" charset="0"/>
              </a:rPr>
              <a:t>DRAM Module</a:t>
            </a:r>
            <a:endParaRPr kumimoji="0" lang="en-US" b="1" i="0" u="none" strike="noStrike" kern="1200" cap="none" spc="0" normalizeH="0" baseline="0" noProof="0" dirty="0">
              <a:ln>
                <a:noFill/>
              </a:ln>
              <a:solidFill>
                <a:prstClr val="black">
                  <a:lumMod val="75000"/>
                  <a:lumOff val="25000"/>
                </a:prstClr>
              </a:solidFill>
              <a:effectLst/>
              <a:uLnTx/>
              <a:uFillTx/>
              <a:latin typeface="Cambria" panose="02040503050406030204" pitchFamily="18" charset="0"/>
            </a:endParaRPr>
          </a:p>
        </p:txBody>
      </p:sp>
      <p:cxnSp>
        <p:nvCxnSpPr>
          <p:cNvPr id="148" name="Straight Arrow Connector 147">
            <a:extLst>
              <a:ext uri="{FF2B5EF4-FFF2-40B4-BE49-F238E27FC236}">
                <a16:creationId xmlns:a16="http://schemas.microsoft.com/office/drawing/2014/main" id="{1D579AE1-80C7-DA47-954B-887CE1F48E4C}"/>
              </a:ext>
            </a:extLst>
          </p:cNvPr>
          <p:cNvCxnSpPr>
            <a:cxnSpLocks/>
          </p:cNvCxnSpPr>
          <p:nvPr/>
        </p:nvCxnSpPr>
        <p:spPr>
          <a:xfrm flipV="1">
            <a:off x="2730195" y="3504036"/>
            <a:ext cx="958053" cy="10416"/>
          </a:xfrm>
          <a:prstGeom prst="straightConnector1">
            <a:avLst/>
          </a:prstGeom>
          <a:ln w="19050">
            <a:solidFill>
              <a:schemeClr val="accent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64" name="TextBox 163">
            <a:extLst>
              <a:ext uri="{FF2B5EF4-FFF2-40B4-BE49-F238E27FC236}">
                <a16:creationId xmlns:a16="http://schemas.microsoft.com/office/drawing/2014/main" id="{3FB038A0-ABBA-CD44-9844-EF45CF503AEC}"/>
              </a:ext>
            </a:extLst>
          </p:cNvPr>
          <p:cNvSpPr txBox="1"/>
          <p:nvPr/>
        </p:nvSpPr>
        <p:spPr>
          <a:xfrm>
            <a:off x="44225" y="5633495"/>
            <a:ext cx="1483098"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black">
                    <a:lumMod val="75000"/>
                    <a:lumOff val="25000"/>
                  </a:prstClr>
                </a:solidFill>
                <a:effectLst/>
                <a:uLnTx/>
                <a:uFillTx/>
                <a:latin typeface="Cambria" panose="02040503050406030204" pitchFamily="18" charset="0"/>
              </a:rPr>
              <a:t>DRAM Chips</a:t>
            </a:r>
          </a:p>
        </p:txBody>
      </p:sp>
      <p:cxnSp>
        <p:nvCxnSpPr>
          <p:cNvPr id="165" name="Straight Arrow Connector 164">
            <a:extLst>
              <a:ext uri="{FF2B5EF4-FFF2-40B4-BE49-F238E27FC236}">
                <a16:creationId xmlns:a16="http://schemas.microsoft.com/office/drawing/2014/main" id="{CED732EE-6E69-0447-B635-5DB7A0351672}"/>
              </a:ext>
            </a:extLst>
          </p:cNvPr>
          <p:cNvCxnSpPr>
            <a:cxnSpLocks/>
            <a:stCxn id="164" idx="3"/>
            <a:endCxn id="7" idx="1"/>
          </p:cNvCxnSpPr>
          <p:nvPr/>
        </p:nvCxnSpPr>
        <p:spPr>
          <a:xfrm>
            <a:off x="1527323" y="5818161"/>
            <a:ext cx="477651" cy="9126"/>
          </a:xfrm>
          <a:prstGeom prst="straightConnector1">
            <a:avLst/>
          </a:prstGeom>
          <a:ln w="19050">
            <a:solidFill>
              <a:schemeClr val="accent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67" name="TextBox 166">
            <a:extLst>
              <a:ext uri="{FF2B5EF4-FFF2-40B4-BE49-F238E27FC236}">
                <a16:creationId xmlns:a16="http://schemas.microsoft.com/office/drawing/2014/main" id="{FBD6D468-E7C9-1046-948C-FCFD5DCF1F23}"/>
              </a:ext>
            </a:extLst>
          </p:cNvPr>
          <p:cNvSpPr txBox="1"/>
          <p:nvPr/>
        </p:nvSpPr>
        <p:spPr>
          <a:xfrm>
            <a:off x="3911392" y="4163815"/>
            <a:ext cx="1446230"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prstClr val="black">
                    <a:lumMod val="75000"/>
                    <a:lumOff val="25000"/>
                  </a:prstClr>
                </a:solidFill>
                <a:latin typeface="Cambria" panose="02040503050406030204" pitchFamily="18" charset="0"/>
              </a:rPr>
              <a:t>DRAM Bank</a:t>
            </a:r>
            <a:endParaRPr kumimoji="0" lang="en-US" b="1" i="0" u="none" strike="noStrike" kern="1200" cap="none" spc="0" normalizeH="0" baseline="0" noProof="0" dirty="0">
              <a:ln>
                <a:noFill/>
              </a:ln>
              <a:solidFill>
                <a:prstClr val="black">
                  <a:lumMod val="75000"/>
                  <a:lumOff val="25000"/>
                </a:prstClr>
              </a:solidFill>
              <a:effectLst/>
              <a:uLnTx/>
              <a:uFillTx/>
              <a:latin typeface="Cambria" panose="02040503050406030204" pitchFamily="18" charset="0"/>
            </a:endParaRPr>
          </a:p>
        </p:txBody>
      </p:sp>
      <p:sp>
        <p:nvSpPr>
          <p:cNvPr id="170" name="Rectangle 169">
            <a:extLst>
              <a:ext uri="{FF2B5EF4-FFF2-40B4-BE49-F238E27FC236}">
                <a16:creationId xmlns:a16="http://schemas.microsoft.com/office/drawing/2014/main" id="{9DD3745A-6058-374C-9DD2-2E2F7D3AF082}"/>
              </a:ext>
            </a:extLst>
          </p:cNvPr>
          <p:cNvSpPr/>
          <p:nvPr/>
        </p:nvSpPr>
        <p:spPr>
          <a:xfrm>
            <a:off x="6705311" y="1853142"/>
            <a:ext cx="1396536" cy="369332"/>
          </a:xfrm>
          <a:prstGeom prst="rect">
            <a:avLst/>
          </a:prstGeom>
        </p:spPr>
        <p:txBody>
          <a:bodyPr wrap="none">
            <a:spAutoFit/>
          </a:bodyPr>
          <a:lstStyle/>
          <a:p>
            <a:r>
              <a:rPr lang="en-US" b="1" dirty="0">
                <a:solidFill>
                  <a:prstClr val="black">
                    <a:lumMod val="75000"/>
                    <a:lumOff val="25000"/>
                  </a:prstClr>
                </a:solidFill>
                <a:latin typeface="Cambria" panose="02040503050406030204" pitchFamily="18" charset="0"/>
              </a:rPr>
              <a:t>DRAM Cells</a:t>
            </a:r>
            <a:endParaRPr lang="en-US" b="1" dirty="0">
              <a:latin typeface="Cambria" panose="02040503050406030204" pitchFamily="18" charset="0"/>
            </a:endParaRPr>
          </a:p>
        </p:txBody>
      </p:sp>
      <p:sp>
        <p:nvSpPr>
          <p:cNvPr id="178" name="Slide Number Placeholder 2">
            <a:extLst>
              <a:ext uri="{FF2B5EF4-FFF2-40B4-BE49-F238E27FC236}">
                <a16:creationId xmlns:a16="http://schemas.microsoft.com/office/drawing/2014/main" id="{43E255E6-F1C3-9642-A5DE-BA9CF1DD4F7C}"/>
              </a:ext>
            </a:extLst>
          </p:cNvPr>
          <p:cNvSpPr txBox="1">
            <a:spLocks/>
          </p:cNvSpPr>
          <p:nvPr/>
        </p:nvSpPr>
        <p:spPr>
          <a:xfrm>
            <a:off x="5498152" y="6345828"/>
            <a:ext cx="3427675"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rPr>
              <a:t>8</a:t>
            </a:r>
          </a:p>
        </p:txBody>
      </p:sp>
      <p:sp>
        <p:nvSpPr>
          <p:cNvPr id="90" name="Rectangle 89">
            <a:extLst>
              <a:ext uri="{FF2B5EF4-FFF2-40B4-BE49-F238E27FC236}">
                <a16:creationId xmlns:a16="http://schemas.microsoft.com/office/drawing/2014/main" id="{68D1BCD8-0B38-1444-BA72-1BE47E2D33B0}"/>
              </a:ext>
            </a:extLst>
          </p:cNvPr>
          <p:cNvSpPr/>
          <p:nvPr/>
        </p:nvSpPr>
        <p:spPr>
          <a:xfrm>
            <a:off x="3688248" y="3456017"/>
            <a:ext cx="239684" cy="229849"/>
          </a:xfrm>
          <a:prstGeom prst="rect">
            <a:avLst/>
          </a:prstGeom>
          <a:solidFill>
            <a:srgbClr val="EEDD88"/>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00" dirty="0">
              <a:solidFill>
                <a:schemeClr val="tx1"/>
              </a:solidFill>
              <a:latin typeface="Cambria" panose="02040503050406030204" pitchFamily="18" charset="0"/>
              <a:cs typeface="Arial" panose="020B0604020202020204" pitchFamily="34" charset="0"/>
            </a:endParaRPr>
          </a:p>
        </p:txBody>
      </p:sp>
      <p:sp>
        <p:nvSpPr>
          <p:cNvPr id="91" name="Rectangle 90">
            <a:extLst>
              <a:ext uri="{FF2B5EF4-FFF2-40B4-BE49-F238E27FC236}">
                <a16:creationId xmlns:a16="http://schemas.microsoft.com/office/drawing/2014/main" id="{E4A03376-B7DD-394B-894F-FEB932830241}"/>
              </a:ext>
            </a:extLst>
          </p:cNvPr>
          <p:cNvSpPr/>
          <p:nvPr/>
        </p:nvSpPr>
        <p:spPr>
          <a:xfrm>
            <a:off x="4093999" y="3456015"/>
            <a:ext cx="239684" cy="229849"/>
          </a:xfrm>
          <a:prstGeom prst="rect">
            <a:avLst/>
          </a:prstGeom>
          <a:solidFill>
            <a:srgbClr val="EEDD88"/>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00" dirty="0">
              <a:solidFill>
                <a:schemeClr val="tx1"/>
              </a:solidFill>
              <a:latin typeface="Cambria" panose="02040503050406030204" pitchFamily="18" charset="0"/>
              <a:cs typeface="Arial" panose="020B0604020202020204" pitchFamily="34" charset="0"/>
            </a:endParaRPr>
          </a:p>
        </p:txBody>
      </p:sp>
      <p:sp>
        <p:nvSpPr>
          <p:cNvPr id="92" name="Rectangle 91">
            <a:extLst>
              <a:ext uri="{FF2B5EF4-FFF2-40B4-BE49-F238E27FC236}">
                <a16:creationId xmlns:a16="http://schemas.microsoft.com/office/drawing/2014/main" id="{847F77F5-5584-744B-AF25-79B62104B748}"/>
              </a:ext>
            </a:extLst>
          </p:cNvPr>
          <p:cNvSpPr/>
          <p:nvPr/>
        </p:nvSpPr>
        <p:spPr>
          <a:xfrm>
            <a:off x="4495199" y="3456015"/>
            <a:ext cx="239684" cy="229849"/>
          </a:xfrm>
          <a:prstGeom prst="rect">
            <a:avLst/>
          </a:prstGeom>
          <a:solidFill>
            <a:srgbClr val="EEDD88"/>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00" dirty="0">
              <a:solidFill>
                <a:schemeClr val="tx1"/>
              </a:solidFill>
              <a:latin typeface="Cambria" panose="02040503050406030204" pitchFamily="18" charset="0"/>
              <a:cs typeface="Arial" panose="020B0604020202020204" pitchFamily="34" charset="0"/>
            </a:endParaRPr>
          </a:p>
        </p:txBody>
      </p:sp>
      <p:sp>
        <p:nvSpPr>
          <p:cNvPr id="93" name="Rectangle 92">
            <a:extLst>
              <a:ext uri="{FF2B5EF4-FFF2-40B4-BE49-F238E27FC236}">
                <a16:creationId xmlns:a16="http://schemas.microsoft.com/office/drawing/2014/main" id="{F1F8AEDB-6800-0C44-950E-62400299B033}"/>
              </a:ext>
            </a:extLst>
          </p:cNvPr>
          <p:cNvSpPr/>
          <p:nvPr/>
        </p:nvSpPr>
        <p:spPr>
          <a:xfrm>
            <a:off x="4896401" y="3456015"/>
            <a:ext cx="239684" cy="229849"/>
          </a:xfrm>
          <a:prstGeom prst="rect">
            <a:avLst/>
          </a:prstGeom>
          <a:solidFill>
            <a:srgbClr val="EEDD88"/>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00" dirty="0">
              <a:solidFill>
                <a:schemeClr val="tx1"/>
              </a:solidFill>
              <a:latin typeface="Cambria" panose="02040503050406030204" pitchFamily="18" charset="0"/>
              <a:cs typeface="Arial" panose="020B0604020202020204" pitchFamily="34" charset="0"/>
            </a:endParaRPr>
          </a:p>
        </p:txBody>
      </p:sp>
      <p:sp>
        <p:nvSpPr>
          <p:cNvPr id="94" name="Rectangle 93">
            <a:extLst>
              <a:ext uri="{FF2B5EF4-FFF2-40B4-BE49-F238E27FC236}">
                <a16:creationId xmlns:a16="http://schemas.microsoft.com/office/drawing/2014/main" id="{98820ADF-72D9-F440-9DA7-1EF06D69BBFE}"/>
              </a:ext>
            </a:extLst>
          </p:cNvPr>
          <p:cNvSpPr/>
          <p:nvPr/>
        </p:nvSpPr>
        <p:spPr>
          <a:xfrm>
            <a:off x="5302155" y="3456015"/>
            <a:ext cx="239684" cy="229849"/>
          </a:xfrm>
          <a:prstGeom prst="rect">
            <a:avLst/>
          </a:prstGeom>
          <a:solidFill>
            <a:srgbClr val="EEDD88"/>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00" dirty="0">
              <a:solidFill>
                <a:schemeClr val="tx1"/>
              </a:solidFill>
              <a:latin typeface="Cambria" panose="02040503050406030204" pitchFamily="18" charset="0"/>
              <a:cs typeface="Arial" panose="020B0604020202020204" pitchFamily="34" charset="0"/>
            </a:endParaRPr>
          </a:p>
        </p:txBody>
      </p:sp>
      <p:sp>
        <p:nvSpPr>
          <p:cNvPr id="96" name="Rectangle 95">
            <a:extLst>
              <a:ext uri="{FF2B5EF4-FFF2-40B4-BE49-F238E27FC236}">
                <a16:creationId xmlns:a16="http://schemas.microsoft.com/office/drawing/2014/main" id="{28A19337-EB21-144C-A3EB-D85B07ADF01B}"/>
              </a:ext>
            </a:extLst>
          </p:cNvPr>
          <p:cNvSpPr/>
          <p:nvPr/>
        </p:nvSpPr>
        <p:spPr>
          <a:xfrm>
            <a:off x="5707909" y="3449679"/>
            <a:ext cx="239684" cy="229849"/>
          </a:xfrm>
          <a:prstGeom prst="rect">
            <a:avLst/>
          </a:prstGeom>
          <a:solidFill>
            <a:srgbClr val="EEDD88"/>
          </a:solidFill>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000" dirty="0">
              <a:solidFill>
                <a:schemeClr val="tx1"/>
              </a:solidFill>
              <a:latin typeface="Cambria" panose="02040503050406030204" pitchFamily="18" charset="0"/>
              <a:cs typeface="Arial" panose="020B0604020202020204" pitchFamily="34" charset="0"/>
            </a:endParaRPr>
          </a:p>
        </p:txBody>
      </p:sp>
      <p:sp>
        <p:nvSpPr>
          <p:cNvPr id="23" name="Rectangle 22">
            <a:extLst>
              <a:ext uri="{FF2B5EF4-FFF2-40B4-BE49-F238E27FC236}">
                <a16:creationId xmlns:a16="http://schemas.microsoft.com/office/drawing/2014/main" id="{5E74171F-D849-714A-B99A-10D7B3D8433D}"/>
              </a:ext>
            </a:extLst>
          </p:cNvPr>
          <p:cNvSpPr/>
          <p:nvPr/>
        </p:nvSpPr>
        <p:spPr>
          <a:xfrm>
            <a:off x="436329" y="4413660"/>
            <a:ext cx="1786448" cy="2501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TextBox 124">
            <a:extLst>
              <a:ext uri="{FF2B5EF4-FFF2-40B4-BE49-F238E27FC236}">
                <a16:creationId xmlns:a16="http://schemas.microsoft.com/office/drawing/2014/main" id="{E97C55BC-AA4D-7C41-9716-2086070821A1}"/>
              </a:ext>
            </a:extLst>
          </p:cNvPr>
          <p:cNvSpPr txBox="1"/>
          <p:nvPr/>
        </p:nvSpPr>
        <p:spPr>
          <a:xfrm>
            <a:off x="889964" y="3706576"/>
            <a:ext cx="1361848"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prstClr val="black">
                    <a:lumMod val="75000"/>
                    <a:lumOff val="25000"/>
                  </a:prstClr>
                </a:solidFill>
                <a:latin typeface="Cambria" panose="02040503050406030204" pitchFamily="18" charset="0"/>
              </a:rPr>
              <a:t>Row Buffer</a:t>
            </a:r>
            <a:endParaRPr kumimoji="0" lang="en-US" b="1" i="0" u="none" strike="noStrike" kern="1200" cap="none" spc="0" normalizeH="0" baseline="0" noProof="0" dirty="0">
              <a:ln>
                <a:noFill/>
              </a:ln>
              <a:solidFill>
                <a:prstClr val="black">
                  <a:lumMod val="75000"/>
                  <a:lumOff val="25000"/>
                </a:prstClr>
              </a:solidFill>
              <a:effectLst/>
              <a:uLnTx/>
              <a:uFillTx/>
              <a:latin typeface="Cambria" panose="02040503050406030204" pitchFamily="18" charset="0"/>
            </a:endParaRPr>
          </a:p>
        </p:txBody>
      </p:sp>
      <p:cxnSp>
        <p:nvCxnSpPr>
          <p:cNvPr id="31" name="Curved Connector 30">
            <a:extLst>
              <a:ext uri="{FF2B5EF4-FFF2-40B4-BE49-F238E27FC236}">
                <a16:creationId xmlns:a16="http://schemas.microsoft.com/office/drawing/2014/main" id="{635E2F32-1D6E-7544-8ED7-CF633BB99404}"/>
              </a:ext>
            </a:extLst>
          </p:cNvPr>
          <p:cNvCxnSpPr>
            <a:cxnSpLocks/>
            <a:stCxn id="125" idx="3"/>
          </p:cNvCxnSpPr>
          <p:nvPr/>
        </p:nvCxnSpPr>
        <p:spPr>
          <a:xfrm flipV="1">
            <a:off x="2251812" y="3702060"/>
            <a:ext cx="1383399" cy="189182"/>
          </a:xfrm>
          <a:prstGeom prst="curvedConnector3">
            <a:avLst>
              <a:gd name="adj1" fmla="val 50000"/>
            </a:avLst>
          </a:prstGeom>
          <a:ln w="19050">
            <a:solidFill>
              <a:schemeClr val="accent2"/>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388597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167"/>
                                        </p:tgtEl>
                                        <p:attrNameLst>
                                          <p:attrName>style.visibility</p:attrName>
                                        </p:attrNameLst>
                                      </p:cBhvr>
                                      <p:to>
                                        <p:strVal val="visible"/>
                                      </p:to>
                                    </p:set>
                                    <p:animEffect transition="in" filter="fade">
                                      <p:cBhvr>
                                        <p:cTn id="17" dur="500"/>
                                        <p:tgtEl>
                                          <p:spTgt spid="16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500"/>
                                        <p:tgtEl>
                                          <p:spTgt spid="20"/>
                                        </p:tgtEl>
                                      </p:cBhvr>
                                    </p:animEffect>
                                  </p:childTnLst>
                                </p:cTn>
                              </p:par>
                            </p:childTnLst>
                          </p:cTn>
                        </p:par>
                        <p:par>
                          <p:cTn id="21" fill="hold">
                            <p:stCondLst>
                              <p:cond delay="1000"/>
                            </p:stCondLst>
                            <p:childTnLst>
                              <p:par>
                                <p:cTn id="22" presetID="10" presetClass="entr" presetSubtype="0" fill="hold" grpId="0" nodeType="after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200"/>
                                        <p:tgtEl>
                                          <p:spTgt spid="21"/>
                                        </p:tgtEl>
                                      </p:cBhvr>
                                    </p:animEffect>
                                  </p:childTnLst>
                                </p:cTn>
                              </p:par>
                            </p:childTnLst>
                          </p:cTn>
                        </p:par>
                        <p:par>
                          <p:cTn id="25" fill="hold">
                            <p:stCondLst>
                              <p:cond delay="1200"/>
                            </p:stCondLst>
                            <p:childTnLst>
                              <p:par>
                                <p:cTn id="26" presetID="10" presetClass="entr" presetSubtype="0" fill="hold" grpId="0" nodeType="after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200"/>
                                        <p:tgtEl>
                                          <p:spTgt spid="2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45"/>
                                        </p:tgtEl>
                                        <p:attrNameLst>
                                          <p:attrName>style.visibility</p:attrName>
                                        </p:attrNameLst>
                                      </p:cBhvr>
                                      <p:to>
                                        <p:strVal val="visible"/>
                                      </p:to>
                                    </p:set>
                                    <p:animEffect transition="in" filter="fade">
                                      <p:cBhvr>
                                        <p:cTn id="33" dur="500"/>
                                        <p:tgtEl>
                                          <p:spTgt spid="145"/>
                                        </p:tgtEl>
                                      </p:cBhvr>
                                    </p:animEffect>
                                  </p:childTnLst>
                                </p:cTn>
                              </p:par>
                              <p:par>
                                <p:cTn id="34" presetID="10" presetClass="entr" presetSubtype="0" fill="hold" nodeType="withEffect">
                                  <p:stCondLst>
                                    <p:cond delay="0"/>
                                  </p:stCondLst>
                                  <p:childTnLst>
                                    <p:set>
                                      <p:cBhvr>
                                        <p:cTn id="35" dur="1" fill="hold">
                                          <p:stCondLst>
                                            <p:cond delay="0"/>
                                          </p:stCondLst>
                                        </p:cTn>
                                        <p:tgtEl>
                                          <p:spTgt spid="142"/>
                                        </p:tgtEl>
                                        <p:attrNameLst>
                                          <p:attrName>style.visibility</p:attrName>
                                        </p:attrNameLst>
                                      </p:cBhvr>
                                      <p:to>
                                        <p:strVal val="visible"/>
                                      </p:to>
                                    </p:set>
                                    <p:animEffect transition="in" filter="fade">
                                      <p:cBhvr>
                                        <p:cTn id="36" dur="500"/>
                                        <p:tgtEl>
                                          <p:spTgt spid="142"/>
                                        </p:tgtEl>
                                      </p:cBhvr>
                                    </p:animEffect>
                                  </p:childTnLst>
                                </p:cTn>
                              </p:par>
                              <p:par>
                                <p:cTn id="37" presetID="10" presetClass="entr" presetSubtype="0" fill="hold" nodeType="withEffect">
                                  <p:stCondLst>
                                    <p:cond delay="0"/>
                                  </p:stCondLst>
                                  <p:childTnLst>
                                    <p:set>
                                      <p:cBhvr>
                                        <p:cTn id="38" dur="1" fill="hold">
                                          <p:stCondLst>
                                            <p:cond delay="0"/>
                                          </p:stCondLst>
                                        </p:cTn>
                                        <p:tgtEl>
                                          <p:spTgt spid="141"/>
                                        </p:tgtEl>
                                        <p:attrNameLst>
                                          <p:attrName>style.visibility</p:attrName>
                                        </p:attrNameLst>
                                      </p:cBhvr>
                                      <p:to>
                                        <p:strVal val="visible"/>
                                      </p:to>
                                    </p:set>
                                    <p:animEffect transition="in" filter="fade">
                                      <p:cBhvr>
                                        <p:cTn id="39" dur="500"/>
                                        <p:tgtEl>
                                          <p:spTgt spid="141"/>
                                        </p:tgtEl>
                                      </p:cBhvr>
                                    </p:animEffect>
                                  </p:childTnLst>
                                </p:cTn>
                              </p:par>
                              <p:par>
                                <p:cTn id="40" presetID="10" presetClass="entr" presetSubtype="0" fill="hold" nodeType="withEffect">
                                  <p:stCondLst>
                                    <p:cond delay="0"/>
                                  </p:stCondLst>
                                  <p:childTnLst>
                                    <p:set>
                                      <p:cBhvr>
                                        <p:cTn id="41" dur="1" fill="hold">
                                          <p:stCondLst>
                                            <p:cond delay="0"/>
                                          </p:stCondLst>
                                        </p:cTn>
                                        <p:tgtEl>
                                          <p:spTgt spid="168"/>
                                        </p:tgtEl>
                                        <p:attrNameLst>
                                          <p:attrName>style.visibility</p:attrName>
                                        </p:attrNameLst>
                                      </p:cBhvr>
                                      <p:to>
                                        <p:strVal val="visible"/>
                                      </p:to>
                                    </p:set>
                                    <p:animEffect transition="in" filter="fade">
                                      <p:cBhvr>
                                        <p:cTn id="42" dur="500"/>
                                        <p:tgtEl>
                                          <p:spTgt spid="16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fade">
                                      <p:cBhvr>
                                        <p:cTn id="47" dur="500"/>
                                        <p:tgtEl>
                                          <p:spTgt spid="36"/>
                                        </p:tgtEl>
                                      </p:cBhvr>
                                    </p:animEffect>
                                  </p:childTnLst>
                                </p:cTn>
                              </p:par>
                              <p:par>
                                <p:cTn id="48" presetID="10" presetClass="entr" presetSubtype="0" fill="hold" nodeType="withEffect">
                                  <p:stCondLst>
                                    <p:cond delay="0"/>
                                  </p:stCondLst>
                                  <p:childTnLst>
                                    <p:set>
                                      <p:cBhvr>
                                        <p:cTn id="49" dur="1" fill="hold">
                                          <p:stCondLst>
                                            <p:cond delay="0"/>
                                          </p:stCondLst>
                                        </p:cTn>
                                        <p:tgtEl>
                                          <p:spTgt spid="128"/>
                                        </p:tgtEl>
                                        <p:attrNameLst>
                                          <p:attrName>style.visibility</p:attrName>
                                        </p:attrNameLst>
                                      </p:cBhvr>
                                      <p:to>
                                        <p:strVal val="visible"/>
                                      </p:to>
                                    </p:set>
                                    <p:animEffect transition="in" filter="fade">
                                      <p:cBhvr>
                                        <p:cTn id="50" dur="500"/>
                                        <p:tgtEl>
                                          <p:spTgt spid="12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29"/>
                                        </p:tgtEl>
                                        <p:attrNameLst>
                                          <p:attrName>style.visibility</p:attrName>
                                        </p:attrNameLst>
                                      </p:cBhvr>
                                      <p:to>
                                        <p:strVal val="visible"/>
                                      </p:to>
                                    </p:set>
                                    <p:animEffect transition="in" filter="fade">
                                      <p:cBhvr>
                                        <p:cTn id="53" dur="500"/>
                                        <p:tgtEl>
                                          <p:spTgt spid="129"/>
                                        </p:tgtEl>
                                      </p:cBhvr>
                                    </p:animEffect>
                                  </p:childTnLst>
                                </p:cTn>
                              </p:par>
                            </p:childTnLst>
                          </p:cTn>
                        </p:par>
                        <p:par>
                          <p:cTn id="54" fill="hold">
                            <p:stCondLst>
                              <p:cond delay="500"/>
                            </p:stCondLst>
                            <p:childTnLst>
                              <p:par>
                                <p:cTn id="55" presetID="10" presetClass="entr" presetSubtype="0" fill="hold" nodeType="afterEffect">
                                  <p:stCondLst>
                                    <p:cond delay="0"/>
                                  </p:stCondLst>
                                  <p:childTnLst>
                                    <p:set>
                                      <p:cBhvr>
                                        <p:cTn id="56" dur="1" fill="hold">
                                          <p:stCondLst>
                                            <p:cond delay="0"/>
                                          </p:stCondLst>
                                        </p:cTn>
                                        <p:tgtEl>
                                          <p:spTgt spid="34"/>
                                        </p:tgtEl>
                                        <p:attrNameLst>
                                          <p:attrName>style.visibility</p:attrName>
                                        </p:attrNameLst>
                                      </p:cBhvr>
                                      <p:to>
                                        <p:strVal val="visible"/>
                                      </p:to>
                                    </p:set>
                                    <p:animEffect transition="in" filter="fade">
                                      <p:cBhvr>
                                        <p:cTn id="57" dur="200"/>
                                        <p:tgtEl>
                                          <p:spTgt spid="34"/>
                                        </p:tgtEl>
                                      </p:cBhvr>
                                    </p:animEffect>
                                  </p:childTnLst>
                                </p:cTn>
                              </p:par>
                            </p:childTnLst>
                          </p:cTn>
                        </p:par>
                        <p:par>
                          <p:cTn id="58" fill="hold">
                            <p:stCondLst>
                              <p:cond delay="700"/>
                            </p:stCondLst>
                            <p:childTnLst>
                              <p:par>
                                <p:cTn id="59" presetID="10" presetClass="entr" presetSubtype="0" fill="hold" nodeType="afterEffect">
                                  <p:stCondLst>
                                    <p:cond delay="0"/>
                                  </p:stCondLst>
                                  <p:childTnLst>
                                    <p:set>
                                      <p:cBhvr>
                                        <p:cTn id="60" dur="1" fill="hold">
                                          <p:stCondLst>
                                            <p:cond delay="0"/>
                                          </p:stCondLst>
                                        </p:cTn>
                                        <p:tgtEl>
                                          <p:spTgt spid="35"/>
                                        </p:tgtEl>
                                        <p:attrNameLst>
                                          <p:attrName>style.visibility</p:attrName>
                                        </p:attrNameLst>
                                      </p:cBhvr>
                                      <p:to>
                                        <p:strVal val="visible"/>
                                      </p:to>
                                    </p:set>
                                    <p:animEffect transition="in" filter="fade">
                                      <p:cBhvr>
                                        <p:cTn id="61" dur="200"/>
                                        <p:tgtEl>
                                          <p:spTgt spid="35"/>
                                        </p:tgtEl>
                                      </p:cBhvr>
                                    </p:animEffect>
                                  </p:childTnLst>
                                </p:cTn>
                              </p:par>
                            </p:childTnLst>
                          </p:cTn>
                        </p:par>
                        <p:par>
                          <p:cTn id="62" fill="hold">
                            <p:stCondLst>
                              <p:cond delay="900"/>
                            </p:stCondLst>
                            <p:childTnLst>
                              <p:par>
                                <p:cTn id="63" presetID="10" presetClass="entr" presetSubtype="0" fill="hold" nodeType="afterEffect">
                                  <p:stCondLst>
                                    <p:cond delay="0"/>
                                  </p:stCondLst>
                                  <p:childTnLst>
                                    <p:set>
                                      <p:cBhvr>
                                        <p:cTn id="64" dur="1" fill="hold">
                                          <p:stCondLst>
                                            <p:cond delay="0"/>
                                          </p:stCondLst>
                                        </p:cTn>
                                        <p:tgtEl>
                                          <p:spTgt spid="63"/>
                                        </p:tgtEl>
                                        <p:attrNameLst>
                                          <p:attrName>style.visibility</p:attrName>
                                        </p:attrNameLst>
                                      </p:cBhvr>
                                      <p:to>
                                        <p:strVal val="visible"/>
                                      </p:to>
                                    </p:set>
                                    <p:animEffect transition="in" filter="fade">
                                      <p:cBhvr>
                                        <p:cTn id="65" dur="200"/>
                                        <p:tgtEl>
                                          <p:spTgt spid="63"/>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33"/>
                                        </p:tgtEl>
                                        <p:attrNameLst>
                                          <p:attrName>style.visibility</p:attrName>
                                        </p:attrNameLst>
                                      </p:cBhvr>
                                      <p:to>
                                        <p:strVal val="visible"/>
                                      </p:to>
                                    </p:set>
                                    <p:animEffect transition="in" filter="fade">
                                      <p:cBhvr>
                                        <p:cTn id="70" dur="500"/>
                                        <p:tgtEl>
                                          <p:spTgt spid="33"/>
                                        </p:tgtEl>
                                      </p:cBhvr>
                                    </p:animEffect>
                                  </p:childTnLst>
                                </p:cTn>
                              </p:par>
                              <p:par>
                                <p:cTn id="71" presetID="10" presetClass="entr" presetSubtype="0" fill="hold" nodeType="withEffect">
                                  <p:stCondLst>
                                    <p:cond delay="0"/>
                                  </p:stCondLst>
                                  <p:childTnLst>
                                    <p:set>
                                      <p:cBhvr>
                                        <p:cTn id="72" dur="1" fill="hold">
                                          <p:stCondLst>
                                            <p:cond delay="0"/>
                                          </p:stCondLst>
                                        </p:cTn>
                                        <p:tgtEl>
                                          <p:spTgt spid="126"/>
                                        </p:tgtEl>
                                        <p:attrNameLst>
                                          <p:attrName>style.visibility</p:attrName>
                                        </p:attrNameLst>
                                      </p:cBhvr>
                                      <p:to>
                                        <p:strVal val="visible"/>
                                      </p:to>
                                    </p:set>
                                    <p:animEffect transition="in" filter="fade">
                                      <p:cBhvr>
                                        <p:cTn id="73" dur="500"/>
                                        <p:tgtEl>
                                          <p:spTgt spid="12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127"/>
                                        </p:tgtEl>
                                        <p:attrNameLst>
                                          <p:attrName>style.visibility</p:attrName>
                                        </p:attrNameLst>
                                      </p:cBhvr>
                                      <p:to>
                                        <p:strVal val="visible"/>
                                      </p:to>
                                    </p:set>
                                    <p:animEffect transition="in" filter="fade">
                                      <p:cBhvr>
                                        <p:cTn id="76" dur="500"/>
                                        <p:tgtEl>
                                          <p:spTgt spid="127"/>
                                        </p:tgtEl>
                                      </p:cBhvr>
                                    </p:animEffect>
                                  </p:childTnLst>
                                </p:cTn>
                              </p:par>
                            </p:childTnLst>
                          </p:cTn>
                        </p:par>
                        <p:par>
                          <p:cTn id="77" fill="hold">
                            <p:stCondLst>
                              <p:cond delay="500"/>
                            </p:stCondLst>
                            <p:childTnLst>
                              <p:par>
                                <p:cTn id="78" presetID="10" presetClass="entr" presetSubtype="0" fill="hold" nodeType="afterEffect">
                                  <p:stCondLst>
                                    <p:cond delay="0"/>
                                  </p:stCondLst>
                                  <p:childTnLst>
                                    <p:set>
                                      <p:cBhvr>
                                        <p:cTn id="79" dur="1" fill="hold">
                                          <p:stCondLst>
                                            <p:cond delay="0"/>
                                          </p:stCondLst>
                                        </p:cTn>
                                        <p:tgtEl>
                                          <p:spTgt spid="24"/>
                                        </p:tgtEl>
                                        <p:attrNameLst>
                                          <p:attrName>style.visibility</p:attrName>
                                        </p:attrNameLst>
                                      </p:cBhvr>
                                      <p:to>
                                        <p:strVal val="visible"/>
                                      </p:to>
                                    </p:set>
                                    <p:animEffect transition="in" filter="fade">
                                      <p:cBhvr>
                                        <p:cTn id="80" dur="200"/>
                                        <p:tgtEl>
                                          <p:spTgt spid="24"/>
                                        </p:tgtEl>
                                      </p:cBhvr>
                                    </p:animEffect>
                                  </p:childTnLst>
                                </p:cTn>
                              </p:par>
                            </p:childTnLst>
                          </p:cTn>
                        </p:par>
                        <p:par>
                          <p:cTn id="81" fill="hold">
                            <p:stCondLst>
                              <p:cond delay="700"/>
                            </p:stCondLst>
                            <p:childTnLst>
                              <p:par>
                                <p:cTn id="82" presetID="10" presetClass="entr" presetSubtype="0" fill="hold" nodeType="afterEffect">
                                  <p:stCondLst>
                                    <p:cond delay="0"/>
                                  </p:stCondLst>
                                  <p:childTnLst>
                                    <p:set>
                                      <p:cBhvr>
                                        <p:cTn id="83" dur="1" fill="hold">
                                          <p:stCondLst>
                                            <p:cond delay="0"/>
                                          </p:stCondLst>
                                        </p:cTn>
                                        <p:tgtEl>
                                          <p:spTgt spid="25"/>
                                        </p:tgtEl>
                                        <p:attrNameLst>
                                          <p:attrName>style.visibility</p:attrName>
                                        </p:attrNameLst>
                                      </p:cBhvr>
                                      <p:to>
                                        <p:strVal val="visible"/>
                                      </p:to>
                                    </p:set>
                                    <p:animEffect transition="in" filter="fade">
                                      <p:cBhvr>
                                        <p:cTn id="84" dur="200"/>
                                        <p:tgtEl>
                                          <p:spTgt spid="25"/>
                                        </p:tgtEl>
                                      </p:cBhvr>
                                    </p:animEffect>
                                  </p:childTnLst>
                                </p:cTn>
                              </p:par>
                            </p:childTnLst>
                          </p:cTn>
                        </p:par>
                        <p:par>
                          <p:cTn id="85" fill="hold">
                            <p:stCondLst>
                              <p:cond delay="900"/>
                            </p:stCondLst>
                            <p:childTnLst>
                              <p:par>
                                <p:cTn id="86" presetID="10" presetClass="entr" presetSubtype="0" fill="hold" nodeType="afterEffect">
                                  <p:stCondLst>
                                    <p:cond delay="0"/>
                                  </p:stCondLst>
                                  <p:childTnLst>
                                    <p:set>
                                      <p:cBhvr>
                                        <p:cTn id="87" dur="1" fill="hold">
                                          <p:stCondLst>
                                            <p:cond delay="0"/>
                                          </p:stCondLst>
                                        </p:cTn>
                                        <p:tgtEl>
                                          <p:spTgt spid="26"/>
                                        </p:tgtEl>
                                        <p:attrNameLst>
                                          <p:attrName>style.visibility</p:attrName>
                                        </p:attrNameLst>
                                      </p:cBhvr>
                                      <p:to>
                                        <p:strVal val="visible"/>
                                      </p:to>
                                    </p:set>
                                    <p:animEffect transition="in" filter="fade">
                                      <p:cBhvr>
                                        <p:cTn id="88" dur="200"/>
                                        <p:tgtEl>
                                          <p:spTgt spid="26"/>
                                        </p:tgtEl>
                                      </p:cBhvr>
                                    </p:animEffect>
                                  </p:childTnLst>
                                </p:cTn>
                              </p:par>
                            </p:childTnLst>
                          </p:cTn>
                        </p:par>
                        <p:par>
                          <p:cTn id="89" fill="hold">
                            <p:stCondLst>
                              <p:cond delay="1100"/>
                            </p:stCondLst>
                            <p:childTnLst>
                              <p:par>
                                <p:cTn id="90" presetID="10" presetClass="entr" presetSubtype="0" fill="hold" nodeType="afterEffect">
                                  <p:stCondLst>
                                    <p:cond delay="0"/>
                                  </p:stCondLst>
                                  <p:childTnLst>
                                    <p:set>
                                      <p:cBhvr>
                                        <p:cTn id="91" dur="1" fill="hold">
                                          <p:stCondLst>
                                            <p:cond delay="0"/>
                                          </p:stCondLst>
                                        </p:cTn>
                                        <p:tgtEl>
                                          <p:spTgt spid="27"/>
                                        </p:tgtEl>
                                        <p:attrNameLst>
                                          <p:attrName>style.visibility</p:attrName>
                                        </p:attrNameLst>
                                      </p:cBhvr>
                                      <p:to>
                                        <p:strVal val="visible"/>
                                      </p:to>
                                    </p:set>
                                    <p:animEffect transition="in" filter="fade">
                                      <p:cBhvr>
                                        <p:cTn id="92" dur="200"/>
                                        <p:tgtEl>
                                          <p:spTgt spid="27"/>
                                        </p:tgtEl>
                                      </p:cBhvr>
                                    </p:animEffect>
                                  </p:childTnLst>
                                </p:cTn>
                              </p:par>
                            </p:childTnLst>
                          </p:cTn>
                        </p:par>
                        <p:par>
                          <p:cTn id="93" fill="hold">
                            <p:stCondLst>
                              <p:cond delay="1300"/>
                            </p:stCondLst>
                            <p:childTnLst>
                              <p:par>
                                <p:cTn id="94" presetID="10" presetClass="entr" presetSubtype="0" fill="hold" nodeType="afterEffect">
                                  <p:stCondLst>
                                    <p:cond delay="0"/>
                                  </p:stCondLst>
                                  <p:childTnLst>
                                    <p:set>
                                      <p:cBhvr>
                                        <p:cTn id="95" dur="1" fill="hold">
                                          <p:stCondLst>
                                            <p:cond delay="0"/>
                                          </p:stCondLst>
                                        </p:cTn>
                                        <p:tgtEl>
                                          <p:spTgt spid="28"/>
                                        </p:tgtEl>
                                        <p:attrNameLst>
                                          <p:attrName>style.visibility</p:attrName>
                                        </p:attrNameLst>
                                      </p:cBhvr>
                                      <p:to>
                                        <p:strVal val="visible"/>
                                      </p:to>
                                    </p:set>
                                    <p:animEffect transition="in" filter="fade">
                                      <p:cBhvr>
                                        <p:cTn id="96" dur="200"/>
                                        <p:tgtEl>
                                          <p:spTgt spid="28"/>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146"/>
                                        </p:tgtEl>
                                        <p:attrNameLst>
                                          <p:attrName>style.visibility</p:attrName>
                                        </p:attrNameLst>
                                      </p:cBhvr>
                                      <p:to>
                                        <p:strVal val="visible"/>
                                      </p:to>
                                    </p:set>
                                    <p:animEffect transition="in" filter="fade">
                                      <p:cBhvr>
                                        <p:cTn id="101" dur="500"/>
                                        <p:tgtEl>
                                          <p:spTgt spid="146"/>
                                        </p:tgtEl>
                                      </p:cBhvr>
                                    </p:animEffect>
                                  </p:childTnLst>
                                </p:cTn>
                              </p:par>
                              <p:par>
                                <p:cTn id="102" presetID="10" presetClass="entr" presetSubtype="0" fill="hold" nodeType="withEffect">
                                  <p:stCondLst>
                                    <p:cond delay="0"/>
                                  </p:stCondLst>
                                  <p:childTnLst>
                                    <p:set>
                                      <p:cBhvr>
                                        <p:cTn id="103" dur="1" fill="hold">
                                          <p:stCondLst>
                                            <p:cond delay="0"/>
                                          </p:stCondLst>
                                        </p:cTn>
                                        <p:tgtEl>
                                          <p:spTgt spid="148"/>
                                        </p:tgtEl>
                                        <p:attrNameLst>
                                          <p:attrName>style.visibility</p:attrName>
                                        </p:attrNameLst>
                                      </p:cBhvr>
                                      <p:to>
                                        <p:strVal val="visible"/>
                                      </p:to>
                                    </p:set>
                                    <p:animEffect transition="in" filter="fade">
                                      <p:cBhvr>
                                        <p:cTn id="104" dur="500"/>
                                        <p:tgtEl>
                                          <p:spTgt spid="148"/>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90"/>
                                        </p:tgtEl>
                                        <p:attrNameLst>
                                          <p:attrName>style.visibility</p:attrName>
                                        </p:attrNameLst>
                                      </p:cBhvr>
                                      <p:to>
                                        <p:strVal val="visible"/>
                                      </p:to>
                                    </p:set>
                                    <p:animEffect transition="in" filter="fade">
                                      <p:cBhvr>
                                        <p:cTn id="107" dur="500"/>
                                        <p:tgtEl>
                                          <p:spTgt spid="90"/>
                                        </p:tgtEl>
                                      </p:cBhvr>
                                    </p:animEffect>
                                  </p:childTnLst>
                                </p:cTn>
                              </p:par>
                            </p:childTnLst>
                          </p:cTn>
                        </p:par>
                        <p:par>
                          <p:cTn id="108" fill="hold">
                            <p:stCondLst>
                              <p:cond delay="500"/>
                            </p:stCondLst>
                            <p:childTnLst>
                              <p:par>
                                <p:cTn id="109" presetID="10" presetClass="entr" presetSubtype="0" fill="hold" grpId="0" nodeType="afterEffect">
                                  <p:stCondLst>
                                    <p:cond delay="0"/>
                                  </p:stCondLst>
                                  <p:childTnLst>
                                    <p:set>
                                      <p:cBhvr>
                                        <p:cTn id="110" dur="1" fill="hold">
                                          <p:stCondLst>
                                            <p:cond delay="0"/>
                                          </p:stCondLst>
                                        </p:cTn>
                                        <p:tgtEl>
                                          <p:spTgt spid="91"/>
                                        </p:tgtEl>
                                        <p:attrNameLst>
                                          <p:attrName>style.visibility</p:attrName>
                                        </p:attrNameLst>
                                      </p:cBhvr>
                                      <p:to>
                                        <p:strVal val="visible"/>
                                      </p:to>
                                    </p:set>
                                    <p:animEffect transition="in" filter="fade">
                                      <p:cBhvr>
                                        <p:cTn id="111" dur="200"/>
                                        <p:tgtEl>
                                          <p:spTgt spid="91"/>
                                        </p:tgtEl>
                                      </p:cBhvr>
                                    </p:animEffect>
                                  </p:childTnLst>
                                </p:cTn>
                              </p:par>
                            </p:childTnLst>
                          </p:cTn>
                        </p:par>
                        <p:par>
                          <p:cTn id="112" fill="hold">
                            <p:stCondLst>
                              <p:cond delay="700"/>
                            </p:stCondLst>
                            <p:childTnLst>
                              <p:par>
                                <p:cTn id="113" presetID="10" presetClass="entr" presetSubtype="0" fill="hold" grpId="0" nodeType="afterEffect">
                                  <p:stCondLst>
                                    <p:cond delay="0"/>
                                  </p:stCondLst>
                                  <p:childTnLst>
                                    <p:set>
                                      <p:cBhvr>
                                        <p:cTn id="114" dur="1" fill="hold">
                                          <p:stCondLst>
                                            <p:cond delay="0"/>
                                          </p:stCondLst>
                                        </p:cTn>
                                        <p:tgtEl>
                                          <p:spTgt spid="92"/>
                                        </p:tgtEl>
                                        <p:attrNameLst>
                                          <p:attrName>style.visibility</p:attrName>
                                        </p:attrNameLst>
                                      </p:cBhvr>
                                      <p:to>
                                        <p:strVal val="visible"/>
                                      </p:to>
                                    </p:set>
                                    <p:animEffect transition="in" filter="fade">
                                      <p:cBhvr>
                                        <p:cTn id="115" dur="200"/>
                                        <p:tgtEl>
                                          <p:spTgt spid="92"/>
                                        </p:tgtEl>
                                      </p:cBhvr>
                                    </p:animEffect>
                                  </p:childTnLst>
                                </p:cTn>
                              </p:par>
                            </p:childTnLst>
                          </p:cTn>
                        </p:par>
                        <p:par>
                          <p:cTn id="116" fill="hold">
                            <p:stCondLst>
                              <p:cond delay="900"/>
                            </p:stCondLst>
                            <p:childTnLst>
                              <p:par>
                                <p:cTn id="117" presetID="10" presetClass="entr" presetSubtype="0" fill="hold" grpId="0" nodeType="afterEffect">
                                  <p:stCondLst>
                                    <p:cond delay="0"/>
                                  </p:stCondLst>
                                  <p:childTnLst>
                                    <p:set>
                                      <p:cBhvr>
                                        <p:cTn id="118" dur="1" fill="hold">
                                          <p:stCondLst>
                                            <p:cond delay="0"/>
                                          </p:stCondLst>
                                        </p:cTn>
                                        <p:tgtEl>
                                          <p:spTgt spid="93"/>
                                        </p:tgtEl>
                                        <p:attrNameLst>
                                          <p:attrName>style.visibility</p:attrName>
                                        </p:attrNameLst>
                                      </p:cBhvr>
                                      <p:to>
                                        <p:strVal val="visible"/>
                                      </p:to>
                                    </p:set>
                                    <p:animEffect transition="in" filter="fade">
                                      <p:cBhvr>
                                        <p:cTn id="119" dur="200"/>
                                        <p:tgtEl>
                                          <p:spTgt spid="93"/>
                                        </p:tgtEl>
                                      </p:cBhvr>
                                    </p:animEffect>
                                  </p:childTnLst>
                                </p:cTn>
                              </p:par>
                            </p:childTnLst>
                          </p:cTn>
                        </p:par>
                        <p:par>
                          <p:cTn id="120" fill="hold">
                            <p:stCondLst>
                              <p:cond delay="1100"/>
                            </p:stCondLst>
                            <p:childTnLst>
                              <p:par>
                                <p:cTn id="121" presetID="10" presetClass="entr" presetSubtype="0" fill="hold" grpId="0" nodeType="afterEffect">
                                  <p:stCondLst>
                                    <p:cond delay="0"/>
                                  </p:stCondLst>
                                  <p:childTnLst>
                                    <p:set>
                                      <p:cBhvr>
                                        <p:cTn id="122" dur="1" fill="hold">
                                          <p:stCondLst>
                                            <p:cond delay="0"/>
                                          </p:stCondLst>
                                        </p:cTn>
                                        <p:tgtEl>
                                          <p:spTgt spid="94"/>
                                        </p:tgtEl>
                                        <p:attrNameLst>
                                          <p:attrName>style.visibility</p:attrName>
                                        </p:attrNameLst>
                                      </p:cBhvr>
                                      <p:to>
                                        <p:strVal val="visible"/>
                                      </p:to>
                                    </p:set>
                                    <p:animEffect transition="in" filter="fade">
                                      <p:cBhvr>
                                        <p:cTn id="123" dur="200"/>
                                        <p:tgtEl>
                                          <p:spTgt spid="94"/>
                                        </p:tgtEl>
                                      </p:cBhvr>
                                    </p:animEffect>
                                  </p:childTnLst>
                                </p:cTn>
                              </p:par>
                            </p:childTnLst>
                          </p:cTn>
                        </p:par>
                        <p:par>
                          <p:cTn id="124" fill="hold">
                            <p:stCondLst>
                              <p:cond delay="1300"/>
                            </p:stCondLst>
                            <p:childTnLst>
                              <p:par>
                                <p:cTn id="125" presetID="10" presetClass="entr" presetSubtype="0" fill="hold" grpId="0" nodeType="afterEffect">
                                  <p:stCondLst>
                                    <p:cond delay="0"/>
                                  </p:stCondLst>
                                  <p:childTnLst>
                                    <p:set>
                                      <p:cBhvr>
                                        <p:cTn id="126" dur="1" fill="hold">
                                          <p:stCondLst>
                                            <p:cond delay="0"/>
                                          </p:stCondLst>
                                        </p:cTn>
                                        <p:tgtEl>
                                          <p:spTgt spid="96"/>
                                        </p:tgtEl>
                                        <p:attrNameLst>
                                          <p:attrName>style.visibility</p:attrName>
                                        </p:attrNameLst>
                                      </p:cBhvr>
                                      <p:to>
                                        <p:strVal val="visible"/>
                                      </p:to>
                                    </p:set>
                                    <p:animEffect transition="in" filter="fade">
                                      <p:cBhvr>
                                        <p:cTn id="127" dur="200"/>
                                        <p:tgtEl>
                                          <p:spTgt spid="96"/>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grpId="0" nodeType="clickEffect">
                                  <p:stCondLst>
                                    <p:cond delay="0"/>
                                  </p:stCondLst>
                                  <p:childTnLst>
                                    <p:set>
                                      <p:cBhvr>
                                        <p:cTn id="131" dur="1" fill="hold">
                                          <p:stCondLst>
                                            <p:cond delay="0"/>
                                          </p:stCondLst>
                                        </p:cTn>
                                        <p:tgtEl>
                                          <p:spTgt spid="125"/>
                                        </p:tgtEl>
                                        <p:attrNameLst>
                                          <p:attrName>style.visibility</p:attrName>
                                        </p:attrNameLst>
                                      </p:cBhvr>
                                      <p:to>
                                        <p:strVal val="visible"/>
                                      </p:to>
                                    </p:set>
                                    <p:animEffect transition="in" filter="fade">
                                      <p:cBhvr>
                                        <p:cTn id="132" dur="500"/>
                                        <p:tgtEl>
                                          <p:spTgt spid="125"/>
                                        </p:tgtEl>
                                      </p:cBhvr>
                                    </p:animEffect>
                                  </p:childTnLst>
                                </p:cTn>
                              </p:par>
                              <p:par>
                                <p:cTn id="133" presetID="10" presetClass="entr" presetSubtype="0" fill="hold" nodeType="withEffect">
                                  <p:stCondLst>
                                    <p:cond delay="0"/>
                                  </p:stCondLst>
                                  <p:childTnLst>
                                    <p:set>
                                      <p:cBhvr>
                                        <p:cTn id="134" dur="1" fill="hold">
                                          <p:stCondLst>
                                            <p:cond delay="0"/>
                                          </p:stCondLst>
                                        </p:cTn>
                                        <p:tgtEl>
                                          <p:spTgt spid="31"/>
                                        </p:tgtEl>
                                        <p:attrNameLst>
                                          <p:attrName>style.visibility</p:attrName>
                                        </p:attrNameLst>
                                      </p:cBhvr>
                                      <p:to>
                                        <p:strVal val="visible"/>
                                      </p:to>
                                    </p:set>
                                    <p:animEffect transition="in" filter="fade">
                                      <p:cBhvr>
                                        <p:cTn id="135" dur="500"/>
                                        <p:tgtEl>
                                          <p:spTgt spid="31"/>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3"/>
                                        </p:tgtEl>
                                        <p:attrNameLst>
                                          <p:attrName>style.visibility</p:attrName>
                                        </p:attrNameLst>
                                      </p:cBhvr>
                                      <p:to>
                                        <p:strVal val="visible"/>
                                      </p:to>
                                    </p:set>
                                    <p:animEffect transition="in" filter="fade">
                                      <p:cBhvr>
                                        <p:cTn id="138" dur="500"/>
                                        <p:tgtEl>
                                          <p:spTgt spid="3"/>
                                        </p:tgtEl>
                                      </p:cBhvr>
                                    </p:animEffect>
                                  </p:childTnLst>
                                </p:cTn>
                              </p:par>
                            </p:childTnLst>
                          </p:cTn>
                        </p:par>
                      </p:childTnLst>
                    </p:cTn>
                  </p:par>
                  <p:par>
                    <p:cTn id="139" fill="hold">
                      <p:stCondLst>
                        <p:cond delay="indefinite"/>
                      </p:stCondLst>
                      <p:childTnLst>
                        <p:par>
                          <p:cTn id="140" fill="hold">
                            <p:stCondLst>
                              <p:cond delay="0"/>
                            </p:stCondLst>
                            <p:childTnLst>
                              <p:par>
                                <p:cTn id="141" presetID="18" presetClass="entr" presetSubtype="12" fill="hold" nodeType="clickEffect">
                                  <p:stCondLst>
                                    <p:cond delay="0"/>
                                  </p:stCondLst>
                                  <p:childTnLst>
                                    <p:set>
                                      <p:cBhvr>
                                        <p:cTn id="142" dur="1" fill="hold">
                                          <p:stCondLst>
                                            <p:cond delay="0"/>
                                          </p:stCondLst>
                                        </p:cTn>
                                        <p:tgtEl>
                                          <p:spTgt spid="102"/>
                                        </p:tgtEl>
                                        <p:attrNameLst>
                                          <p:attrName>style.visibility</p:attrName>
                                        </p:attrNameLst>
                                      </p:cBhvr>
                                      <p:to>
                                        <p:strVal val="visible"/>
                                      </p:to>
                                    </p:set>
                                    <p:animEffect transition="in" filter="strips(downLeft)">
                                      <p:cBhvr>
                                        <p:cTn id="143" dur="500"/>
                                        <p:tgtEl>
                                          <p:spTgt spid="102"/>
                                        </p:tgtEl>
                                      </p:cBhvr>
                                    </p:animEffect>
                                  </p:childTnLst>
                                </p:cTn>
                              </p:par>
                              <p:par>
                                <p:cTn id="144" presetID="10" presetClass="entr" presetSubtype="0" fill="hold" nodeType="withEffect">
                                  <p:stCondLst>
                                    <p:cond delay="0"/>
                                  </p:stCondLst>
                                  <p:childTnLst>
                                    <p:set>
                                      <p:cBhvr>
                                        <p:cTn id="145" dur="1" fill="hold">
                                          <p:stCondLst>
                                            <p:cond delay="0"/>
                                          </p:stCondLst>
                                        </p:cTn>
                                        <p:tgtEl>
                                          <p:spTgt spid="103"/>
                                        </p:tgtEl>
                                        <p:attrNameLst>
                                          <p:attrName>style.visibility</p:attrName>
                                        </p:attrNameLst>
                                      </p:cBhvr>
                                      <p:to>
                                        <p:strVal val="visible"/>
                                      </p:to>
                                    </p:set>
                                    <p:animEffect transition="in" filter="fade">
                                      <p:cBhvr>
                                        <p:cTn id="146" dur="500"/>
                                        <p:tgtEl>
                                          <p:spTgt spid="103"/>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150"/>
                                        </p:tgtEl>
                                        <p:attrNameLst>
                                          <p:attrName>style.visibility</p:attrName>
                                        </p:attrNameLst>
                                      </p:cBhvr>
                                      <p:to>
                                        <p:strVal val="visible"/>
                                      </p:to>
                                    </p:set>
                                    <p:animEffect transition="in" filter="fade">
                                      <p:cBhvr>
                                        <p:cTn id="149" dur="500"/>
                                        <p:tgtEl>
                                          <p:spTgt spid="150"/>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170"/>
                                        </p:tgtEl>
                                        <p:attrNameLst>
                                          <p:attrName>style.visibility</p:attrName>
                                        </p:attrNameLst>
                                      </p:cBhvr>
                                      <p:to>
                                        <p:strVal val="visible"/>
                                      </p:to>
                                    </p:set>
                                    <p:animEffect transition="in" filter="fade">
                                      <p:cBhvr>
                                        <p:cTn id="152" dur="500"/>
                                        <p:tgtEl>
                                          <p:spTgt spid="170"/>
                                        </p:tgtEl>
                                      </p:cBhvr>
                                    </p:animEffect>
                                  </p:childTnLst>
                                </p:cTn>
                              </p:par>
                            </p:childTnLst>
                          </p:cTn>
                        </p:par>
                        <p:par>
                          <p:cTn id="153" fill="hold">
                            <p:stCondLst>
                              <p:cond delay="500"/>
                            </p:stCondLst>
                            <p:childTnLst>
                              <p:par>
                                <p:cTn id="154" presetID="10" presetClass="entr" presetSubtype="0" fill="hold" nodeType="afterEffect">
                                  <p:stCondLst>
                                    <p:cond delay="0"/>
                                  </p:stCondLst>
                                  <p:childTnLst>
                                    <p:set>
                                      <p:cBhvr>
                                        <p:cTn id="155" dur="1" fill="hold">
                                          <p:stCondLst>
                                            <p:cond delay="0"/>
                                          </p:stCondLst>
                                        </p:cTn>
                                        <p:tgtEl>
                                          <p:spTgt spid="176"/>
                                        </p:tgtEl>
                                        <p:attrNameLst>
                                          <p:attrName>style.visibility</p:attrName>
                                        </p:attrNameLst>
                                      </p:cBhvr>
                                      <p:to>
                                        <p:strVal val="visible"/>
                                      </p:to>
                                    </p:set>
                                    <p:animEffect transition="in" filter="fade">
                                      <p:cBhvr>
                                        <p:cTn id="156" dur="500"/>
                                        <p:tgtEl>
                                          <p:spTgt spid="176"/>
                                        </p:tgtEl>
                                      </p:cBhvr>
                                    </p:animEffect>
                                  </p:childTnLst>
                                </p:cTn>
                              </p:par>
                            </p:childTnLst>
                          </p:cTn>
                        </p:par>
                      </p:childTnLst>
                    </p:cTn>
                  </p:par>
                  <p:par>
                    <p:cTn id="157" fill="hold">
                      <p:stCondLst>
                        <p:cond delay="indefinite"/>
                      </p:stCondLst>
                      <p:childTnLst>
                        <p:par>
                          <p:cTn id="158" fill="hold">
                            <p:stCondLst>
                              <p:cond delay="0"/>
                            </p:stCondLst>
                            <p:childTnLst>
                              <p:par>
                                <p:cTn id="159" presetID="10" presetClass="entr" presetSubtype="0" fill="hold" nodeType="clickEffect">
                                  <p:stCondLst>
                                    <p:cond delay="0"/>
                                  </p:stCondLst>
                                  <p:childTnLst>
                                    <p:set>
                                      <p:cBhvr>
                                        <p:cTn id="160" dur="1" fill="hold">
                                          <p:stCondLst>
                                            <p:cond delay="0"/>
                                          </p:stCondLst>
                                        </p:cTn>
                                        <p:tgtEl>
                                          <p:spTgt spid="116"/>
                                        </p:tgtEl>
                                        <p:attrNameLst>
                                          <p:attrName>style.visibility</p:attrName>
                                        </p:attrNameLst>
                                      </p:cBhvr>
                                      <p:to>
                                        <p:strVal val="visible"/>
                                      </p:to>
                                    </p:set>
                                    <p:animEffect transition="in" filter="fade">
                                      <p:cBhvr>
                                        <p:cTn id="161" dur="500"/>
                                        <p:tgtEl>
                                          <p:spTgt spid="116"/>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115"/>
                                        </p:tgtEl>
                                        <p:attrNameLst>
                                          <p:attrName>style.visibility</p:attrName>
                                        </p:attrNameLst>
                                      </p:cBhvr>
                                      <p:to>
                                        <p:strVal val="visible"/>
                                      </p:to>
                                    </p:set>
                                    <p:animEffect transition="in" filter="fade">
                                      <p:cBhvr>
                                        <p:cTn id="164" dur="500"/>
                                        <p:tgtEl>
                                          <p:spTgt spid="115"/>
                                        </p:tgtEl>
                                      </p:cBhvr>
                                    </p:animEffect>
                                  </p:childTnLst>
                                </p:cTn>
                              </p:par>
                            </p:childTnLst>
                          </p:cTn>
                        </p:par>
                      </p:childTnLst>
                    </p:cTn>
                  </p:par>
                  <p:par>
                    <p:cTn id="165" fill="hold">
                      <p:stCondLst>
                        <p:cond delay="indefinite"/>
                      </p:stCondLst>
                      <p:childTnLst>
                        <p:par>
                          <p:cTn id="166" fill="hold">
                            <p:stCondLst>
                              <p:cond delay="0"/>
                            </p:stCondLst>
                            <p:childTnLst>
                              <p:par>
                                <p:cTn id="167" presetID="10" presetClass="entr" presetSubtype="0" fill="hold" nodeType="clickEffect">
                                  <p:stCondLst>
                                    <p:cond delay="0"/>
                                  </p:stCondLst>
                                  <p:childTnLst>
                                    <p:set>
                                      <p:cBhvr>
                                        <p:cTn id="168" dur="1" fill="hold">
                                          <p:stCondLst>
                                            <p:cond delay="0"/>
                                          </p:stCondLst>
                                        </p:cTn>
                                        <p:tgtEl>
                                          <p:spTgt spid="114"/>
                                        </p:tgtEl>
                                        <p:attrNameLst>
                                          <p:attrName>style.visibility</p:attrName>
                                        </p:attrNameLst>
                                      </p:cBhvr>
                                      <p:to>
                                        <p:strVal val="visible"/>
                                      </p:to>
                                    </p:set>
                                    <p:animEffect transition="in" filter="fade">
                                      <p:cBhvr>
                                        <p:cTn id="169" dur="500"/>
                                        <p:tgtEl>
                                          <p:spTgt spid="114"/>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113"/>
                                        </p:tgtEl>
                                        <p:attrNameLst>
                                          <p:attrName>style.visibility</p:attrName>
                                        </p:attrNameLst>
                                      </p:cBhvr>
                                      <p:to>
                                        <p:strVal val="visible"/>
                                      </p:to>
                                    </p:set>
                                    <p:animEffect transition="in" filter="fade">
                                      <p:cBhvr>
                                        <p:cTn id="172" dur="500"/>
                                        <p:tgtEl>
                                          <p:spTgt spid="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animBg="1"/>
      <p:bldP spid="20" grpId="0" animBg="1"/>
      <p:bldP spid="21" grpId="0" animBg="1"/>
      <p:bldP spid="22" grpId="0" animBg="1"/>
      <p:bldP spid="113" grpId="0"/>
      <p:bldP spid="115" grpId="0"/>
      <p:bldP spid="127" grpId="0"/>
      <p:bldP spid="129" grpId="0"/>
      <p:bldP spid="3" grpId="0" animBg="1"/>
      <p:bldP spid="145" grpId="0"/>
      <p:bldP spid="146" grpId="0"/>
      <p:bldP spid="167" grpId="0"/>
      <p:bldP spid="170" grpId="0"/>
      <p:bldP spid="90" grpId="0" animBg="1"/>
      <p:bldP spid="91" grpId="0" animBg="1"/>
      <p:bldP spid="92" grpId="0" animBg="1"/>
      <p:bldP spid="93" grpId="0" animBg="1"/>
      <p:bldP spid="94" grpId="0" animBg="1"/>
      <p:bldP spid="96" grpId="0" animBg="1"/>
      <p:bldP spid="12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p:cNvSpPr>
            <a:spLocks noGrp="1"/>
          </p:cNvSpPr>
          <p:nvPr>
            <p:ph type="title"/>
          </p:nvPr>
        </p:nvSpPr>
        <p:spPr/>
        <p:txBody>
          <a:bodyPr/>
          <a:lstStyle/>
          <a:p>
            <a:r>
              <a:rPr lang="en-US">
                <a:latin typeface="Garamond" charset="0"/>
              </a:rPr>
              <a:t>DRAM Bank Operation</a:t>
            </a:r>
          </a:p>
        </p:txBody>
      </p:sp>
      <p:sp>
        <p:nvSpPr>
          <p:cNvPr id="95235" name="Slide Number Placeholder 3"/>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AF25EFCA-4315-3D4A-B90C-1B409A852561}" type="slidenum">
              <a:rPr lang="en-US" sz="1600">
                <a:solidFill>
                  <a:srgbClr val="000000"/>
                </a:solidFill>
                <a:latin typeface="Garamond" charset="0"/>
                <a:cs typeface="Arial" charset="0"/>
              </a:rPr>
              <a:pPr eaLnBrk="1" hangingPunct="1"/>
              <a:t>28</a:t>
            </a:fld>
            <a:endParaRPr lang="en-US" sz="1600">
              <a:solidFill>
                <a:srgbClr val="000000"/>
              </a:solidFill>
              <a:latin typeface="Garamond" charset="0"/>
              <a:cs typeface="Arial" charset="0"/>
            </a:endParaRPr>
          </a:p>
        </p:txBody>
      </p:sp>
      <p:sp>
        <p:nvSpPr>
          <p:cNvPr id="95236" name="Rectangle 4"/>
          <p:cNvSpPr>
            <a:spLocks noChangeArrowheads="1"/>
          </p:cNvSpPr>
          <p:nvPr/>
        </p:nvSpPr>
        <p:spPr bwMode="auto">
          <a:xfrm>
            <a:off x="3822700" y="1643063"/>
            <a:ext cx="1612900" cy="2246312"/>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eaLnBrk="1" hangingPunct="1"/>
            <a:endParaRPr lang="en-US">
              <a:solidFill>
                <a:srgbClr val="000000"/>
              </a:solidFill>
              <a:ea typeface="ＭＳ Ｐゴシック" charset="0"/>
              <a:cs typeface="ＭＳ Ｐゴシック" charset="0"/>
            </a:endParaRPr>
          </a:p>
        </p:txBody>
      </p:sp>
      <p:sp>
        <p:nvSpPr>
          <p:cNvPr id="95237" name="Line 5"/>
          <p:cNvSpPr>
            <a:spLocks noChangeShapeType="1"/>
          </p:cNvSpPr>
          <p:nvPr/>
        </p:nvSpPr>
        <p:spPr bwMode="auto">
          <a:xfrm>
            <a:off x="3822700" y="1931988"/>
            <a:ext cx="1612900" cy="0"/>
          </a:xfrm>
          <a:prstGeom prst="line">
            <a:avLst/>
          </a:prstGeom>
          <a:noFill/>
          <a:ln w="9525">
            <a:solidFill>
              <a:schemeClr val="tx1"/>
            </a:solidFill>
            <a:prstDash val="dash"/>
            <a:round/>
            <a:headEnd/>
            <a:tailEnd/>
          </a:ln>
          <a:extLst>
            <a:ext uri="{909E8E84-426E-40dd-AFC4-6F175D3DCCD1}">
              <a14:hiddenFill xmlns="" xmlns:a14="http://schemas.microsoft.com/office/drawing/2010/main">
                <a:noFill/>
              </a14:hiddenFill>
            </a:ext>
          </a:extLst>
        </p:spPr>
        <p:txBody>
          <a:bodyPr/>
          <a:lstStyle/>
          <a:p>
            <a:pPr eaLnBrk="1" hangingPunct="1"/>
            <a:endParaRPr lang="en-US">
              <a:solidFill>
                <a:srgbClr val="000000"/>
              </a:solidFill>
              <a:ea typeface="ＭＳ Ｐゴシック" charset="0"/>
              <a:cs typeface="ＭＳ Ｐゴシック" charset="0"/>
            </a:endParaRPr>
          </a:p>
        </p:txBody>
      </p:sp>
      <p:sp>
        <p:nvSpPr>
          <p:cNvPr id="95238" name="Line 6"/>
          <p:cNvSpPr>
            <a:spLocks noChangeShapeType="1"/>
          </p:cNvSpPr>
          <p:nvPr/>
        </p:nvSpPr>
        <p:spPr bwMode="auto">
          <a:xfrm>
            <a:off x="3822700" y="2219325"/>
            <a:ext cx="1612900" cy="0"/>
          </a:xfrm>
          <a:prstGeom prst="line">
            <a:avLst/>
          </a:prstGeom>
          <a:noFill/>
          <a:ln w="9525">
            <a:solidFill>
              <a:schemeClr val="tx1"/>
            </a:solidFill>
            <a:prstDash val="dash"/>
            <a:round/>
            <a:headEnd/>
            <a:tailEnd/>
          </a:ln>
          <a:extLst>
            <a:ext uri="{909E8E84-426E-40dd-AFC4-6F175D3DCCD1}">
              <a14:hiddenFill xmlns="" xmlns:a14="http://schemas.microsoft.com/office/drawing/2010/main">
                <a:noFill/>
              </a14:hiddenFill>
            </a:ext>
          </a:extLst>
        </p:spPr>
        <p:txBody>
          <a:bodyPr/>
          <a:lstStyle/>
          <a:p>
            <a:pPr eaLnBrk="1" hangingPunct="1"/>
            <a:endParaRPr lang="en-US">
              <a:solidFill>
                <a:srgbClr val="000000"/>
              </a:solidFill>
              <a:ea typeface="ＭＳ Ｐゴシック" charset="0"/>
              <a:cs typeface="ＭＳ Ｐゴシック" charset="0"/>
            </a:endParaRPr>
          </a:p>
        </p:txBody>
      </p:sp>
      <p:sp>
        <p:nvSpPr>
          <p:cNvPr id="95239" name="Line 7"/>
          <p:cNvSpPr>
            <a:spLocks noChangeShapeType="1"/>
          </p:cNvSpPr>
          <p:nvPr/>
        </p:nvSpPr>
        <p:spPr bwMode="auto">
          <a:xfrm>
            <a:off x="3822700" y="2508250"/>
            <a:ext cx="1612900" cy="0"/>
          </a:xfrm>
          <a:prstGeom prst="line">
            <a:avLst/>
          </a:prstGeom>
          <a:noFill/>
          <a:ln w="9525">
            <a:solidFill>
              <a:schemeClr val="tx1"/>
            </a:solidFill>
            <a:prstDash val="dash"/>
            <a:round/>
            <a:headEnd/>
            <a:tailEnd/>
          </a:ln>
          <a:extLst>
            <a:ext uri="{909E8E84-426E-40dd-AFC4-6F175D3DCCD1}">
              <a14:hiddenFill xmlns="" xmlns:a14="http://schemas.microsoft.com/office/drawing/2010/main">
                <a:noFill/>
              </a14:hiddenFill>
            </a:ext>
          </a:extLst>
        </p:spPr>
        <p:txBody>
          <a:bodyPr/>
          <a:lstStyle/>
          <a:p>
            <a:pPr eaLnBrk="1" hangingPunct="1"/>
            <a:endParaRPr lang="en-US">
              <a:solidFill>
                <a:srgbClr val="000000"/>
              </a:solidFill>
              <a:ea typeface="ＭＳ Ｐゴシック" charset="0"/>
              <a:cs typeface="ＭＳ Ｐゴシック" charset="0"/>
            </a:endParaRPr>
          </a:p>
        </p:txBody>
      </p:sp>
      <p:sp>
        <p:nvSpPr>
          <p:cNvPr id="95240" name="Line 8"/>
          <p:cNvSpPr>
            <a:spLocks noChangeShapeType="1"/>
          </p:cNvSpPr>
          <p:nvPr/>
        </p:nvSpPr>
        <p:spPr bwMode="auto">
          <a:xfrm>
            <a:off x="3822700" y="2795588"/>
            <a:ext cx="1612900" cy="0"/>
          </a:xfrm>
          <a:prstGeom prst="line">
            <a:avLst/>
          </a:prstGeom>
          <a:noFill/>
          <a:ln w="9525">
            <a:solidFill>
              <a:schemeClr val="tx1"/>
            </a:solidFill>
            <a:prstDash val="dash"/>
            <a:round/>
            <a:headEnd/>
            <a:tailEnd/>
          </a:ln>
          <a:extLst>
            <a:ext uri="{909E8E84-426E-40dd-AFC4-6F175D3DCCD1}">
              <a14:hiddenFill xmlns="" xmlns:a14="http://schemas.microsoft.com/office/drawing/2010/main">
                <a:noFill/>
              </a14:hiddenFill>
            </a:ext>
          </a:extLst>
        </p:spPr>
        <p:txBody>
          <a:bodyPr/>
          <a:lstStyle/>
          <a:p>
            <a:pPr eaLnBrk="1" hangingPunct="1"/>
            <a:endParaRPr lang="en-US">
              <a:solidFill>
                <a:srgbClr val="000000"/>
              </a:solidFill>
              <a:ea typeface="ＭＳ Ｐゴシック" charset="0"/>
              <a:cs typeface="ＭＳ Ｐゴシック" charset="0"/>
            </a:endParaRPr>
          </a:p>
        </p:txBody>
      </p:sp>
      <p:sp>
        <p:nvSpPr>
          <p:cNvPr id="95241" name="Line 9"/>
          <p:cNvSpPr>
            <a:spLocks noChangeShapeType="1"/>
          </p:cNvSpPr>
          <p:nvPr/>
        </p:nvSpPr>
        <p:spPr bwMode="auto">
          <a:xfrm>
            <a:off x="3822700" y="3082925"/>
            <a:ext cx="1612900" cy="0"/>
          </a:xfrm>
          <a:prstGeom prst="line">
            <a:avLst/>
          </a:prstGeom>
          <a:noFill/>
          <a:ln w="9525">
            <a:solidFill>
              <a:schemeClr val="tx1"/>
            </a:solidFill>
            <a:prstDash val="dash"/>
            <a:round/>
            <a:headEnd/>
            <a:tailEnd/>
          </a:ln>
          <a:extLst>
            <a:ext uri="{909E8E84-426E-40dd-AFC4-6F175D3DCCD1}">
              <a14:hiddenFill xmlns="" xmlns:a14="http://schemas.microsoft.com/office/drawing/2010/main">
                <a:noFill/>
              </a14:hiddenFill>
            </a:ext>
          </a:extLst>
        </p:spPr>
        <p:txBody>
          <a:bodyPr/>
          <a:lstStyle/>
          <a:p>
            <a:pPr eaLnBrk="1" hangingPunct="1"/>
            <a:endParaRPr lang="en-US">
              <a:solidFill>
                <a:srgbClr val="000000"/>
              </a:solidFill>
              <a:ea typeface="ＭＳ Ｐゴシック" charset="0"/>
              <a:cs typeface="ＭＳ Ｐゴシック" charset="0"/>
            </a:endParaRPr>
          </a:p>
        </p:txBody>
      </p:sp>
      <p:sp>
        <p:nvSpPr>
          <p:cNvPr id="95242" name="Line 10"/>
          <p:cNvSpPr>
            <a:spLocks noChangeShapeType="1"/>
          </p:cNvSpPr>
          <p:nvPr/>
        </p:nvSpPr>
        <p:spPr bwMode="auto">
          <a:xfrm>
            <a:off x="3822700" y="3371850"/>
            <a:ext cx="1612900" cy="0"/>
          </a:xfrm>
          <a:prstGeom prst="line">
            <a:avLst/>
          </a:prstGeom>
          <a:noFill/>
          <a:ln w="9525">
            <a:solidFill>
              <a:schemeClr val="tx1"/>
            </a:solidFill>
            <a:prstDash val="dash"/>
            <a:round/>
            <a:headEnd/>
            <a:tailEnd/>
          </a:ln>
          <a:extLst>
            <a:ext uri="{909E8E84-426E-40dd-AFC4-6F175D3DCCD1}">
              <a14:hiddenFill xmlns="" xmlns:a14="http://schemas.microsoft.com/office/drawing/2010/main">
                <a:noFill/>
              </a14:hiddenFill>
            </a:ext>
          </a:extLst>
        </p:spPr>
        <p:txBody>
          <a:bodyPr/>
          <a:lstStyle/>
          <a:p>
            <a:pPr eaLnBrk="1" hangingPunct="1"/>
            <a:endParaRPr lang="en-US">
              <a:solidFill>
                <a:srgbClr val="000000"/>
              </a:solidFill>
              <a:ea typeface="ＭＳ Ｐゴシック" charset="0"/>
              <a:cs typeface="ＭＳ Ｐゴシック" charset="0"/>
            </a:endParaRPr>
          </a:p>
        </p:txBody>
      </p:sp>
      <p:sp>
        <p:nvSpPr>
          <p:cNvPr id="12" name="Rectangle 12"/>
          <p:cNvSpPr>
            <a:spLocks noChangeArrowheads="1"/>
          </p:cNvSpPr>
          <p:nvPr/>
        </p:nvSpPr>
        <p:spPr bwMode="auto">
          <a:xfrm>
            <a:off x="3822700" y="4465638"/>
            <a:ext cx="1612900" cy="288925"/>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eaLnBrk="1" hangingPunct="1"/>
            <a:endParaRPr lang="en-US">
              <a:solidFill>
                <a:srgbClr val="000000"/>
              </a:solidFill>
              <a:ea typeface="ＭＳ Ｐゴシック" charset="0"/>
              <a:cs typeface="ＭＳ Ｐゴシック" charset="0"/>
            </a:endParaRPr>
          </a:p>
        </p:txBody>
      </p:sp>
      <p:sp>
        <p:nvSpPr>
          <p:cNvPr id="13" name="Line 13"/>
          <p:cNvSpPr>
            <a:spLocks noChangeShapeType="1"/>
          </p:cNvSpPr>
          <p:nvPr/>
        </p:nvSpPr>
        <p:spPr bwMode="auto">
          <a:xfrm>
            <a:off x="4629150" y="3889375"/>
            <a:ext cx="0" cy="576263"/>
          </a:xfrm>
          <a:prstGeom prst="line">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pPr eaLnBrk="1" hangingPunct="1"/>
            <a:endParaRPr lang="en-US">
              <a:solidFill>
                <a:srgbClr val="000000"/>
              </a:solidFill>
              <a:ea typeface="ＭＳ Ｐゴシック" charset="0"/>
              <a:cs typeface="ＭＳ Ｐゴシック" charset="0"/>
            </a:endParaRPr>
          </a:p>
        </p:txBody>
      </p:sp>
      <p:sp>
        <p:nvSpPr>
          <p:cNvPr id="14" name="Text Box 14"/>
          <p:cNvSpPr txBox="1">
            <a:spLocks noChangeArrowheads="1"/>
          </p:cNvSpPr>
          <p:nvPr/>
        </p:nvSpPr>
        <p:spPr bwMode="auto">
          <a:xfrm>
            <a:off x="5389563" y="4408488"/>
            <a:ext cx="13144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CC0000"/>
                </a:solidFill>
                <a:cs typeface="Arial" charset="0"/>
              </a:rPr>
              <a:t>Row Buffer</a:t>
            </a:r>
          </a:p>
        </p:txBody>
      </p:sp>
      <p:sp>
        <p:nvSpPr>
          <p:cNvPr id="15" name="Text Box 15"/>
          <p:cNvSpPr txBox="1">
            <a:spLocks noChangeArrowheads="1"/>
          </p:cNvSpPr>
          <p:nvPr/>
        </p:nvSpPr>
        <p:spPr bwMode="auto">
          <a:xfrm>
            <a:off x="136525" y="1244600"/>
            <a:ext cx="21717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003399"/>
                </a:solidFill>
                <a:cs typeface="Arial" charset="0"/>
              </a:rPr>
              <a:t>(Row 0, Column 0)</a:t>
            </a:r>
          </a:p>
        </p:txBody>
      </p:sp>
      <p:sp>
        <p:nvSpPr>
          <p:cNvPr id="16" name="Rectangle 16"/>
          <p:cNvSpPr>
            <a:spLocks noChangeArrowheads="1"/>
          </p:cNvSpPr>
          <p:nvPr/>
        </p:nvSpPr>
        <p:spPr bwMode="auto">
          <a:xfrm>
            <a:off x="2900363" y="1643063"/>
            <a:ext cx="461962" cy="2246312"/>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eaLnBrk="1" hangingPunct="1"/>
            <a:endParaRPr lang="en-US">
              <a:solidFill>
                <a:srgbClr val="000000"/>
              </a:solidFill>
              <a:ea typeface="ＭＳ Ｐゴシック" charset="0"/>
              <a:cs typeface="ＭＳ Ｐゴシック" charset="0"/>
            </a:endParaRPr>
          </a:p>
        </p:txBody>
      </p:sp>
      <p:sp>
        <p:nvSpPr>
          <p:cNvPr id="17" name="Text Box 17"/>
          <p:cNvSpPr txBox="1">
            <a:spLocks noChangeArrowheads="1"/>
          </p:cNvSpPr>
          <p:nvPr/>
        </p:nvSpPr>
        <p:spPr bwMode="auto">
          <a:xfrm rot="-5400000">
            <a:off x="2356644" y="2596357"/>
            <a:ext cx="15303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000000"/>
                </a:solidFill>
                <a:cs typeface="Arial" charset="0"/>
              </a:rPr>
              <a:t>Row decoder</a:t>
            </a:r>
          </a:p>
        </p:txBody>
      </p:sp>
      <p:sp>
        <p:nvSpPr>
          <p:cNvPr id="18" name="Text Box 19"/>
          <p:cNvSpPr txBox="1">
            <a:spLocks noChangeArrowheads="1"/>
          </p:cNvSpPr>
          <p:nvPr/>
        </p:nvSpPr>
        <p:spPr bwMode="auto">
          <a:xfrm>
            <a:off x="3889375" y="5056188"/>
            <a:ext cx="1479550"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000000"/>
                </a:solidFill>
                <a:cs typeface="Arial" charset="0"/>
              </a:rPr>
              <a:t>Column mux</a:t>
            </a:r>
          </a:p>
        </p:txBody>
      </p:sp>
      <p:sp>
        <p:nvSpPr>
          <p:cNvPr id="95250" name="Line 20"/>
          <p:cNvSpPr>
            <a:spLocks noChangeShapeType="1"/>
          </p:cNvSpPr>
          <p:nvPr/>
        </p:nvSpPr>
        <p:spPr bwMode="auto">
          <a:xfrm>
            <a:off x="4052888" y="1643063"/>
            <a:ext cx="0" cy="2246312"/>
          </a:xfrm>
          <a:prstGeom prst="line">
            <a:avLst/>
          </a:prstGeom>
          <a:noFill/>
          <a:ln w="9525">
            <a:solidFill>
              <a:schemeClr val="tx1"/>
            </a:solidFill>
            <a:prstDash val="dash"/>
            <a:round/>
            <a:headEnd/>
            <a:tailEnd/>
          </a:ln>
          <a:extLst>
            <a:ext uri="{909E8E84-426E-40dd-AFC4-6F175D3DCCD1}">
              <a14:hiddenFill xmlns="" xmlns:a14="http://schemas.microsoft.com/office/drawing/2010/main">
                <a:noFill/>
              </a14:hiddenFill>
            </a:ext>
          </a:extLst>
        </p:spPr>
        <p:txBody>
          <a:bodyPr/>
          <a:lstStyle/>
          <a:p>
            <a:pPr eaLnBrk="1" hangingPunct="1"/>
            <a:endParaRPr lang="en-US">
              <a:solidFill>
                <a:srgbClr val="000000"/>
              </a:solidFill>
              <a:ea typeface="ＭＳ Ｐゴシック" charset="0"/>
              <a:cs typeface="ＭＳ Ｐゴシック" charset="0"/>
            </a:endParaRPr>
          </a:p>
        </p:txBody>
      </p:sp>
      <p:sp>
        <p:nvSpPr>
          <p:cNvPr id="95251" name="Line 21"/>
          <p:cNvSpPr>
            <a:spLocks noChangeShapeType="1"/>
          </p:cNvSpPr>
          <p:nvPr/>
        </p:nvSpPr>
        <p:spPr bwMode="auto">
          <a:xfrm>
            <a:off x="4283075" y="1643063"/>
            <a:ext cx="0" cy="2246312"/>
          </a:xfrm>
          <a:prstGeom prst="line">
            <a:avLst/>
          </a:prstGeom>
          <a:noFill/>
          <a:ln w="9525">
            <a:solidFill>
              <a:schemeClr val="tx1"/>
            </a:solidFill>
            <a:prstDash val="dash"/>
            <a:round/>
            <a:headEnd/>
            <a:tailEnd/>
          </a:ln>
          <a:extLst>
            <a:ext uri="{909E8E84-426E-40dd-AFC4-6F175D3DCCD1}">
              <a14:hiddenFill xmlns="" xmlns:a14="http://schemas.microsoft.com/office/drawing/2010/main">
                <a:noFill/>
              </a14:hiddenFill>
            </a:ext>
          </a:extLst>
        </p:spPr>
        <p:txBody>
          <a:bodyPr/>
          <a:lstStyle/>
          <a:p>
            <a:pPr eaLnBrk="1" hangingPunct="1"/>
            <a:endParaRPr lang="en-US">
              <a:solidFill>
                <a:srgbClr val="000000"/>
              </a:solidFill>
              <a:ea typeface="ＭＳ Ｐゴシック" charset="0"/>
              <a:cs typeface="ＭＳ Ｐゴシック" charset="0"/>
            </a:endParaRPr>
          </a:p>
        </p:txBody>
      </p:sp>
      <p:sp>
        <p:nvSpPr>
          <p:cNvPr id="95252" name="Line 22"/>
          <p:cNvSpPr>
            <a:spLocks noChangeShapeType="1"/>
          </p:cNvSpPr>
          <p:nvPr/>
        </p:nvSpPr>
        <p:spPr bwMode="auto">
          <a:xfrm>
            <a:off x="4514850" y="1643063"/>
            <a:ext cx="0" cy="2246312"/>
          </a:xfrm>
          <a:prstGeom prst="line">
            <a:avLst/>
          </a:prstGeom>
          <a:noFill/>
          <a:ln w="9525">
            <a:solidFill>
              <a:schemeClr val="tx1"/>
            </a:solidFill>
            <a:prstDash val="dash"/>
            <a:round/>
            <a:headEnd/>
            <a:tailEnd/>
          </a:ln>
          <a:extLst>
            <a:ext uri="{909E8E84-426E-40dd-AFC4-6F175D3DCCD1}">
              <a14:hiddenFill xmlns="" xmlns:a14="http://schemas.microsoft.com/office/drawing/2010/main">
                <a:noFill/>
              </a14:hiddenFill>
            </a:ext>
          </a:extLst>
        </p:spPr>
        <p:txBody>
          <a:bodyPr/>
          <a:lstStyle/>
          <a:p>
            <a:pPr eaLnBrk="1" hangingPunct="1"/>
            <a:endParaRPr lang="en-US">
              <a:solidFill>
                <a:srgbClr val="000000"/>
              </a:solidFill>
              <a:ea typeface="ＭＳ Ｐゴシック" charset="0"/>
              <a:cs typeface="ＭＳ Ｐゴシック" charset="0"/>
            </a:endParaRPr>
          </a:p>
        </p:txBody>
      </p:sp>
      <p:sp>
        <p:nvSpPr>
          <p:cNvPr id="95253" name="Line 23"/>
          <p:cNvSpPr>
            <a:spLocks noChangeShapeType="1"/>
          </p:cNvSpPr>
          <p:nvPr/>
        </p:nvSpPr>
        <p:spPr bwMode="auto">
          <a:xfrm>
            <a:off x="4745038" y="1643063"/>
            <a:ext cx="0" cy="2246312"/>
          </a:xfrm>
          <a:prstGeom prst="line">
            <a:avLst/>
          </a:prstGeom>
          <a:noFill/>
          <a:ln w="9525">
            <a:solidFill>
              <a:schemeClr val="tx1"/>
            </a:solidFill>
            <a:prstDash val="dash"/>
            <a:round/>
            <a:headEnd/>
            <a:tailEnd/>
          </a:ln>
          <a:extLst>
            <a:ext uri="{909E8E84-426E-40dd-AFC4-6F175D3DCCD1}">
              <a14:hiddenFill xmlns="" xmlns:a14="http://schemas.microsoft.com/office/drawing/2010/main">
                <a:noFill/>
              </a14:hiddenFill>
            </a:ext>
          </a:extLst>
        </p:spPr>
        <p:txBody>
          <a:bodyPr/>
          <a:lstStyle/>
          <a:p>
            <a:pPr eaLnBrk="1" hangingPunct="1"/>
            <a:endParaRPr lang="en-US">
              <a:solidFill>
                <a:srgbClr val="000000"/>
              </a:solidFill>
              <a:ea typeface="ＭＳ Ｐゴシック" charset="0"/>
              <a:cs typeface="ＭＳ Ｐゴシック" charset="0"/>
            </a:endParaRPr>
          </a:p>
        </p:txBody>
      </p:sp>
      <p:sp>
        <p:nvSpPr>
          <p:cNvPr id="95254" name="Line 24"/>
          <p:cNvSpPr>
            <a:spLocks noChangeShapeType="1"/>
          </p:cNvSpPr>
          <p:nvPr/>
        </p:nvSpPr>
        <p:spPr bwMode="auto">
          <a:xfrm>
            <a:off x="4975225" y="1643063"/>
            <a:ext cx="0" cy="2246312"/>
          </a:xfrm>
          <a:prstGeom prst="line">
            <a:avLst/>
          </a:prstGeom>
          <a:noFill/>
          <a:ln w="9525">
            <a:solidFill>
              <a:schemeClr val="tx1"/>
            </a:solidFill>
            <a:prstDash val="dash"/>
            <a:round/>
            <a:headEnd/>
            <a:tailEnd/>
          </a:ln>
          <a:extLst>
            <a:ext uri="{909E8E84-426E-40dd-AFC4-6F175D3DCCD1}">
              <a14:hiddenFill xmlns="" xmlns:a14="http://schemas.microsoft.com/office/drawing/2010/main">
                <a:noFill/>
              </a14:hiddenFill>
            </a:ext>
          </a:extLst>
        </p:spPr>
        <p:txBody>
          <a:bodyPr/>
          <a:lstStyle/>
          <a:p>
            <a:pPr eaLnBrk="1" hangingPunct="1"/>
            <a:endParaRPr lang="en-US">
              <a:solidFill>
                <a:srgbClr val="000000"/>
              </a:solidFill>
              <a:ea typeface="ＭＳ Ｐゴシック" charset="0"/>
              <a:cs typeface="ＭＳ Ｐゴシック" charset="0"/>
            </a:endParaRPr>
          </a:p>
        </p:txBody>
      </p:sp>
      <p:sp>
        <p:nvSpPr>
          <p:cNvPr id="95255" name="Line 25"/>
          <p:cNvSpPr>
            <a:spLocks noChangeShapeType="1"/>
          </p:cNvSpPr>
          <p:nvPr/>
        </p:nvSpPr>
        <p:spPr bwMode="auto">
          <a:xfrm>
            <a:off x="5205413" y="1643063"/>
            <a:ext cx="0" cy="2246312"/>
          </a:xfrm>
          <a:prstGeom prst="line">
            <a:avLst/>
          </a:prstGeom>
          <a:noFill/>
          <a:ln w="9525">
            <a:solidFill>
              <a:schemeClr val="tx1"/>
            </a:solidFill>
            <a:prstDash val="dash"/>
            <a:round/>
            <a:headEnd/>
            <a:tailEnd/>
          </a:ln>
          <a:extLst>
            <a:ext uri="{909E8E84-426E-40dd-AFC4-6F175D3DCCD1}">
              <a14:hiddenFill xmlns="" xmlns:a14="http://schemas.microsoft.com/office/drawing/2010/main">
                <a:noFill/>
              </a14:hiddenFill>
            </a:ext>
          </a:extLst>
        </p:spPr>
        <p:txBody>
          <a:bodyPr/>
          <a:lstStyle/>
          <a:p>
            <a:pPr eaLnBrk="1" hangingPunct="1"/>
            <a:endParaRPr lang="en-US">
              <a:solidFill>
                <a:srgbClr val="000000"/>
              </a:solidFill>
              <a:ea typeface="ＭＳ Ｐゴシック" charset="0"/>
              <a:cs typeface="ＭＳ Ｐゴシック" charset="0"/>
            </a:endParaRPr>
          </a:p>
        </p:txBody>
      </p:sp>
      <p:sp>
        <p:nvSpPr>
          <p:cNvPr id="95256" name="Line 26"/>
          <p:cNvSpPr>
            <a:spLocks noChangeShapeType="1"/>
          </p:cNvSpPr>
          <p:nvPr/>
        </p:nvSpPr>
        <p:spPr bwMode="auto">
          <a:xfrm>
            <a:off x="3822700" y="3636963"/>
            <a:ext cx="1612900" cy="0"/>
          </a:xfrm>
          <a:prstGeom prst="line">
            <a:avLst/>
          </a:prstGeom>
          <a:noFill/>
          <a:ln w="9525">
            <a:solidFill>
              <a:schemeClr val="tx1"/>
            </a:solidFill>
            <a:prstDash val="dash"/>
            <a:round/>
            <a:headEnd/>
            <a:tailEnd/>
          </a:ln>
          <a:extLst>
            <a:ext uri="{909E8E84-426E-40dd-AFC4-6F175D3DCCD1}">
              <a14:hiddenFill xmlns="" xmlns:a14="http://schemas.microsoft.com/office/drawing/2010/main">
                <a:noFill/>
              </a14:hiddenFill>
            </a:ext>
          </a:extLst>
        </p:spPr>
        <p:txBody>
          <a:bodyPr/>
          <a:lstStyle/>
          <a:p>
            <a:pPr eaLnBrk="1" hangingPunct="1"/>
            <a:endParaRPr lang="en-US">
              <a:solidFill>
                <a:srgbClr val="000000"/>
              </a:solidFill>
              <a:ea typeface="ＭＳ Ｐゴシック" charset="0"/>
              <a:cs typeface="ＭＳ Ｐゴシック" charset="0"/>
            </a:endParaRPr>
          </a:p>
        </p:txBody>
      </p:sp>
      <p:sp>
        <p:nvSpPr>
          <p:cNvPr id="26" name="Line 27"/>
          <p:cNvSpPr>
            <a:spLocks noChangeShapeType="1"/>
          </p:cNvSpPr>
          <p:nvPr/>
        </p:nvSpPr>
        <p:spPr bwMode="auto">
          <a:xfrm>
            <a:off x="3362325" y="2795588"/>
            <a:ext cx="460375" cy="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pPr eaLnBrk="1" hangingPunct="1"/>
            <a:endParaRPr lang="en-US">
              <a:solidFill>
                <a:srgbClr val="000000"/>
              </a:solidFill>
              <a:ea typeface="ＭＳ Ｐゴシック" charset="0"/>
              <a:cs typeface="ＭＳ Ｐゴシック" charset="0"/>
            </a:endParaRPr>
          </a:p>
        </p:txBody>
      </p:sp>
      <p:sp>
        <p:nvSpPr>
          <p:cNvPr id="27" name="Line 28"/>
          <p:cNvSpPr>
            <a:spLocks noChangeShapeType="1"/>
          </p:cNvSpPr>
          <p:nvPr/>
        </p:nvSpPr>
        <p:spPr bwMode="auto">
          <a:xfrm>
            <a:off x="4637088" y="4754563"/>
            <a:ext cx="0" cy="287337"/>
          </a:xfrm>
          <a:prstGeom prst="line">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pPr eaLnBrk="1" hangingPunct="1"/>
            <a:endParaRPr lang="en-US">
              <a:solidFill>
                <a:srgbClr val="000000"/>
              </a:solidFill>
              <a:ea typeface="ＭＳ Ｐゴシック" charset="0"/>
              <a:cs typeface="ＭＳ Ｐゴシック" charset="0"/>
            </a:endParaRPr>
          </a:p>
        </p:txBody>
      </p:sp>
      <p:sp>
        <p:nvSpPr>
          <p:cNvPr id="28" name="Line 39"/>
          <p:cNvSpPr>
            <a:spLocks noChangeShapeType="1"/>
          </p:cNvSpPr>
          <p:nvPr/>
        </p:nvSpPr>
        <p:spPr bwMode="auto">
          <a:xfrm>
            <a:off x="2266950" y="2795588"/>
            <a:ext cx="633413" cy="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pPr eaLnBrk="1" hangingPunct="1"/>
            <a:endParaRPr lang="en-US">
              <a:solidFill>
                <a:srgbClr val="000000"/>
              </a:solidFill>
              <a:ea typeface="ＭＳ Ｐゴシック" charset="0"/>
              <a:cs typeface="ＭＳ Ｐゴシック" charset="0"/>
            </a:endParaRPr>
          </a:p>
        </p:txBody>
      </p:sp>
      <p:sp>
        <p:nvSpPr>
          <p:cNvPr id="29" name="Text Box 40"/>
          <p:cNvSpPr txBox="1">
            <a:spLocks noChangeArrowheads="1"/>
          </p:cNvSpPr>
          <p:nvPr/>
        </p:nvSpPr>
        <p:spPr bwMode="auto">
          <a:xfrm>
            <a:off x="558800" y="2565400"/>
            <a:ext cx="17081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000000"/>
                </a:solidFill>
                <a:cs typeface="Arial" charset="0"/>
              </a:rPr>
              <a:t>Row address 0</a:t>
            </a:r>
          </a:p>
        </p:txBody>
      </p:sp>
      <p:sp>
        <p:nvSpPr>
          <p:cNvPr id="30" name="Text Box 41"/>
          <p:cNvSpPr txBox="1">
            <a:spLocks noChangeArrowheads="1"/>
          </p:cNvSpPr>
          <p:nvPr/>
        </p:nvSpPr>
        <p:spPr bwMode="auto">
          <a:xfrm>
            <a:off x="1301750" y="5078413"/>
            <a:ext cx="20383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000000"/>
                </a:solidFill>
                <a:cs typeface="Arial" charset="0"/>
              </a:rPr>
              <a:t>Column address 0</a:t>
            </a:r>
          </a:p>
        </p:txBody>
      </p:sp>
      <p:sp>
        <p:nvSpPr>
          <p:cNvPr id="31" name="Line 42"/>
          <p:cNvSpPr>
            <a:spLocks noChangeShapeType="1"/>
          </p:cNvSpPr>
          <p:nvPr/>
        </p:nvSpPr>
        <p:spPr bwMode="auto">
          <a:xfrm>
            <a:off x="3414713" y="5272088"/>
            <a:ext cx="460375" cy="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pPr eaLnBrk="1" hangingPunct="1"/>
            <a:endParaRPr lang="en-US">
              <a:solidFill>
                <a:srgbClr val="000000"/>
              </a:solidFill>
              <a:ea typeface="ＭＳ Ｐゴシック" charset="0"/>
              <a:cs typeface="ＭＳ Ｐゴシック" charset="0"/>
            </a:endParaRPr>
          </a:p>
        </p:txBody>
      </p:sp>
      <p:sp>
        <p:nvSpPr>
          <p:cNvPr id="32" name="Line 43"/>
          <p:cNvSpPr>
            <a:spLocks noChangeShapeType="1"/>
          </p:cNvSpPr>
          <p:nvPr/>
        </p:nvSpPr>
        <p:spPr bwMode="auto">
          <a:xfrm>
            <a:off x="4629150" y="5445125"/>
            <a:ext cx="0" cy="346075"/>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pPr eaLnBrk="1" hangingPunct="1"/>
            <a:endParaRPr lang="en-US">
              <a:solidFill>
                <a:srgbClr val="000000"/>
              </a:solidFill>
              <a:ea typeface="ＭＳ Ｐゴシック" charset="0"/>
              <a:cs typeface="ＭＳ Ｐゴシック" charset="0"/>
            </a:endParaRPr>
          </a:p>
        </p:txBody>
      </p:sp>
      <p:sp>
        <p:nvSpPr>
          <p:cNvPr id="33" name="Text Box 44"/>
          <p:cNvSpPr txBox="1">
            <a:spLocks noChangeArrowheads="1"/>
          </p:cNvSpPr>
          <p:nvPr/>
        </p:nvSpPr>
        <p:spPr bwMode="auto">
          <a:xfrm>
            <a:off x="4283075" y="5734050"/>
            <a:ext cx="6667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000000"/>
                </a:solidFill>
                <a:cs typeface="Arial" charset="0"/>
              </a:rPr>
              <a:t>Data</a:t>
            </a:r>
          </a:p>
        </p:txBody>
      </p:sp>
      <p:sp>
        <p:nvSpPr>
          <p:cNvPr id="34" name="Rectangle 45"/>
          <p:cNvSpPr>
            <a:spLocks noChangeArrowheads="1"/>
          </p:cNvSpPr>
          <p:nvPr/>
        </p:nvSpPr>
        <p:spPr bwMode="auto">
          <a:xfrm>
            <a:off x="3822700" y="1643063"/>
            <a:ext cx="1612900" cy="288925"/>
          </a:xfrm>
          <a:prstGeom prst="rect">
            <a:avLst/>
          </a:prstGeom>
          <a:solidFill>
            <a:srgbClr val="0000FF"/>
          </a:solidFill>
          <a:ln w="9525">
            <a:solidFill>
              <a:schemeClr val="tx1"/>
            </a:solidFill>
            <a:miter lim="800000"/>
            <a:headEnd/>
            <a:tailEnd/>
          </a:ln>
        </p:spPr>
        <p:txBody>
          <a:bodyPr wrap="none" anchor="ctr"/>
          <a:lstStyle/>
          <a:p>
            <a:pPr eaLnBrk="1" hangingPunct="1"/>
            <a:endParaRPr lang="en-US">
              <a:solidFill>
                <a:srgbClr val="000000"/>
              </a:solidFill>
              <a:ea typeface="ＭＳ Ｐゴシック" charset="0"/>
              <a:cs typeface="ＭＳ Ｐゴシック" charset="0"/>
            </a:endParaRPr>
          </a:p>
        </p:txBody>
      </p:sp>
      <p:sp>
        <p:nvSpPr>
          <p:cNvPr id="35" name="Rectangle 47"/>
          <p:cNvSpPr>
            <a:spLocks noChangeArrowheads="1"/>
          </p:cNvSpPr>
          <p:nvPr/>
        </p:nvSpPr>
        <p:spPr bwMode="auto">
          <a:xfrm>
            <a:off x="3822700" y="4465638"/>
            <a:ext cx="1612900" cy="288925"/>
          </a:xfrm>
          <a:prstGeom prst="rect">
            <a:avLst/>
          </a:prstGeom>
          <a:solidFill>
            <a:srgbClr val="0000FF"/>
          </a:solidFill>
          <a:ln w="9525">
            <a:solidFill>
              <a:schemeClr val="tx1"/>
            </a:solidFill>
            <a:miter lim="800000"/>
            <a:headEnd/>
            <a:tailEnd/>
          </a:ln>
        </p:spPr>
        <p:txBody>
          <a:bodyPr wrap="none" anchor="ctr"/>
          <a:lstStyle/>
          <a:p>
            <a:pPr eaLnBrk="1" hangingPunct="1"/>
            <a:endParaRPr lang="en-US">
              <a:solidFill>
                <a:srgbClr val="000000"/>
              </a:solidFill>
              <a:ea typeface="ＭＳ Ｐゴシック" charset="0"/>
              <a:cs typeface="ＭＳ Ｐゴシック" charset="0"/>
            </a:endParaRPr>
          </a:p>
        </p:txBody>
      </p:sp>
      <p:sp>
        <p:nvSpPr>
          <p:cNvPr id="36" name="Rectangle 48"/>
          <p:cNvSpPr>
            <a:spLocks noChangeArrowheads="1"/>
          </p:cNvSpPr>
          <p:nvPr/>
        </p:nvSpPr>
        <p:spPr bwMode="auto">
          <a:xfrm>
            <a:off x="3822700" y="4465638"/>
            <a:ext cx="230188" cy="288925"/>
          </a:xfrm>
          <a:prstGeom prst="rect">
            <a:avLst/>
          </a:prstGeom>
          <a:solidFill>
            <a:srgbClr val="FF6600"/>
          </a:solidFill>
          <a:ln w="9525">
            <a:solidFill>
              <a:schemeClr val="tx1"/>
            </a:solidFill>
            <a:miter lim="800000"/>
            <a:headEnd/>
            <a:tailEnd/>
          </a:ln>
        </p:spPr>
        <p:txBody>
          <a:bodyPr wrap="none" anchor="ctr"/>
          <a:lstStyle/>
          <a:p>
            <a:pPr eaLnBrk="1" hangingPunct="1"/>
            <a:endParaRPr lang="en-US">
              <a:solidFill>
                <a:srgbClr val="000000"/>
              </a:solidFill>
              <a:ea typeface="ＭＳ Ｐゴシック" charset="0"/>
              <a:cs typeface="ＭＳ Ｐゴシック" charset="0"/>
            </a:endParaRPr>
          </a:p>
        </p:txBody>
      </p:sp>
      <p:sp>
        <p:nvSpPr>
          <p:cNvPr id="37" name="Text Box 49"/>
          <p:cNvSpPr txBox="1">
            <a:spLocks noChangeArrowheads="1"/>
          </p:cNvSpPr>
          <p:nvPr/>
        </p:nvSpPr>
        <p:spPr bwMode="auto">
          <a:xfrm>
            <a:off x="4225925" y="4421188"/>
            <a:ext cx="8318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FFFFFF"/>
                </a:solidFill>
                <a:cs typeface="Arial" charset="0"/>
              </a:rPr>
              <a:t>Row 0</a:t>
            </a:r>
          </a:p>
        </p:txBody>
      </p:sp>
      <p:sp>
        <p:nvSpPr>
          <p:cNvPr id="38" name="Text Box 50"/>
          <p:cNvSpPr txBox="1">
            <a:spLocks noChangeArrowheads="1"/>
          </p:cNvSpPr>
          <p:nvPr/>
        </p:nvSpPr>
        <p:spPr bwMode="auto">
          <a:xfrm>
            <a:off x="4237038" y="4421188"/>
            <a:ext cx="8318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000000"/>
                </a:solidFill>
                <a:cs typeface="Arial" charset="0"/>
              </a:rPr>
              <a:t>Empty</a:t>
            </a:r>
          </a:p>
        </p:txBody>
      </p:sp>
      <p:sp>
        <p:nvSpPr>
          <p:cNvPr id="39" name="Text Box 51"/>
          <p:cNvSpPr txBox="1">
            <a:spLocks noChangeArrowheads="1"/>
          </p:cNvSpPr>
          <p:nvPr/>
        </p:nvSpPr>
        <p:spPr bwMode="auto">
          <a:xfrm>
            <a:off x="7938" y="1530350"/>
            <a:ext cx="2301875" cy="368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003399"/>
                </a:solidFill>
                <a:cs typeface="Arial" charset="0"/>
              </a:rPr>
              <a:t>  (Row 0, Column 1)</a:t>
            </a:r>
          </a:p>
        </p:txBody>
      </p:sp>
      <p:sp>
        <p:nvSpPr>
          <p:cNvPr id="40" name="Text Box 52"/>
          <p:cNvSpPr txBox="1">
            <a:spLocks noChangeArrowheads="1"/>
          </p:cNvSpPr>
          <p:nvPr/>
        </p:nvSpPr>
        <p:spPr bwMode="auto">
          <a:xfrm>
            <a:off x="1301750" y="5078413"/>
            <a:ext cx="20383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000000"/>
                </a:solidFill>
                <a:cs typeface="Arial" charset="0"/>
              </a:rPr>
              <a:t>Column address 1</a:t>
            </a:r>
          </a:p>
        </p:txBody>
      </p:sp>
      <p:sp>
        <p:nvSpPr>
          <p:cNvPr id="41" name="Rectangle 53"/>
          <p:cNvSpPr>
            <a:spLocks noChangeArrowheads="1"/>
          </p:cNvSpPr>
          <p:nvPr/>
        </p:nvSpPr>
        <p:spPr bwMode="auto">
          <a:xfrm>
            <a:off x="4054475" y="4465638"/>
            <a:ext cx="230188" cy="288925"/>
          </a:xfrm>
          <a:prstGeom prst="rect">
            <a:avLst/>
          </a:prstGeom>
          <a:solidFill>
            <a:srgbClr val="FF6600"/>
          </a:solidFill>
          <a:ln w="9525">
            <a:solidFill>
              <a:schemeClr val="tx1"/>
            </a:solidFill>
            <a:miter lim="800000"/>
            <a:headEnd/>
            <a:tailEnd/>
          </a:ln>
        </p:spPr>
        <p:txBody>
          <a:bodyPr wrap="none" anchor="ctr"/>
          <a:lstStyle/>
          <a:p>
            <a:pPr eaLnBrk="1" hangingPunct="1"/>
            <a:endParaRPr lang="en-US">
              <a:solidFill>
                <a:srgbClr val="000000"/>
              </a:solidFill>
              <a:ea typeface="ＭＳ Ｐゴシック" charset="0"/>
              <a:cs typeface="ＭＳ Ｐゴシック" charset="0"/>
            </a:endParaRPr>
          </a:p>
        </p:txBody>
      </p:sp>
      <p:sp>
        <p:nvSpPr>
          <p:cNvPr id="42" name="Text Box 54"/>
          <p:cNvSpPr txBox="1">
            <a:spLocks noChangeArrowheads="1"/>
          </p:cNvSpPr>
          <p:nvPr/>
        </p:nvSpPr>
        <p:spPr bwMode="auto">
          <a:xfrm>
            <a:off x="136525" y="1797050"/>
            <a:ext cx="2236788"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003399"/>
                </a:solidFill>
                <a:cs typeface="Arial" charset="0"/>
              </a:rPr>
              <a:t>(Row 0, Column 85)</a:t>
            </a:r>
          </a:p>
        </p:txBody>
      </p:sp>
      <p:sp>
        <p:nvSpPr>
          <p:cNvPr id="43" name="Rectangle 55"/>
          <p:cNvSpPr>
            <a:spLocks noChangeArrowheads="1"/>
          </p:cNvSpPr>
          <p:nvPr/>
        </p:nvSpPr>
        <p:spPr bwMode="auto">
          <a:xfrm>
            <a:off x="5032375" y="4465638"/>
            <a:ext cx="230188" cy="288925"/>
          </a:xfrm>
          <a:prstGeom prst="rect">
            <a:avLst/>
          </a:prstGeom>
          <a:solidFill>
            <a:srgbClr val="FF6600"/>
          </a:solidFill>
          <a:ln w="9525">
            <a:solidFill>
              <a:schemeClr val="tx1"/>
            </a:solidFill>
            <a:miter lim="800000"/>
            <a:headEnd/>
            <a:tailEnd/>
          </a:ln>
        </p:spPr>
        <p:txBody>
          <a:bodyPr wrap="none" anchor="ctr"/>
          <a:lstStyle/>
          <a:p>
            <a:pPr eaLnBrk="1" hangingPunct="1"/>
            <a:endParaRPr lang="en-US">
              <a:solidFill>
                <a:srgbClr val="000000"/>
              </a:solidFill>
              <a:ea typeface="ＭＳ Ｐゴシック" charset="0"/>
              <a:cs typeface="ＭＳ Ｐゴシック" charset="0"/>
            </a:endParaRPr>
          </a:p>
        </p:txBody>
      </p:sp>
      <p:sp>
        <p:nvSpPr>
          <p:cNvPr id="44" name="Text Box 56"/>
          <p:cNvSpPr txBox="1">
            <a:spLocks noChangeArrowheads="1"/>
          </p:cNvSpPr>
          <p:nvPr/>
        </p:nvSpPr>
        <p:spPr bwMode="auto">
          <a:xfrm>
            <a:off x="1301750" y="5078413"/>
            <a:ext cx="2184400"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000000"/>
                </a:solidFill>
                <a:cs typeface="Arial" charset="0"/>
              </a:rPr>
              <a:t>Column address 85</a:t>
            </a:r>
          </a:p>
        </p:txBody>
      </p:sp>
      <p:sp>
        <p:nvSpPr>
          <p:cNvPr id="45" name="Text Box 58"/>
          <p:cNvSpPr txBox="1">
            <a:spLocks noChangeArrowheads="1"/>
          </p:cNvSpPr>
          <p:nvPr/>
        </p:nvSpPr>
        <p:spPr bwMode="auto">
          <a:xfrm>
            <a:off x="144463" y="2070100"/>
            <a:ext cx="2173287"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003399"/>
                </a:solidFill>
                <a:cs typeface="Arial" charset="0"/>
              </a:rPr>
              <a:t>(Row 1, Column 0)</a:t>
            </a:r>
          </a:p>
        </p:txBody>
      </p:sp>
      <p:sp>
        <p:nvSpPr>
          <p:cNvPr id="46" name="Text Box 59"/>
          <p:cNvSpPr txBox="1">
            <a:spLocks noChangeArrowheads="1"/>
          </p:cNvSpPr>
          <p:nvPr/>
        </p:nvSpPr>
        <p:spPr bwMode="auto">
          <a:xfrm>
            <a:off x="6669088" y="4408488"/>
            <a:ext cx="5524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3B812F"/>
                </a:solidFill>
                <a:cs typeface="Arial" charset="0"/>
              </a:rPr>
              <a:t>HIT</a:t>
            </a:r>
          </a:p>
        </p:txBody>
      </p:sp>
      <p:sp>
        <p:nvSpPr>
          <p:cNvPr id="47" name="Text Box 60"/>
          <p:cNvSpPr txBox="1">
            <a:spLocks noChangeArrowheads="1"/>
          </p:cNvSpPr>
          <p:nvPr/>
        </p:nvSpPr>
        <p:spPr bwMode="auto">
          <a:xfrm>
            <a:off x="6667500" y="4408488"/>
            <a:ext cx="5524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3B812F"/>
                </a:solidFill>
                <a:cs typeface="Arial" charset="0"/>
              </a:rPr>
              <a:t>HIT</a:t>
            </a:r>
          </a:p>
        </p:txBody>
      </p:sp>
      <p:sp>
        <p:nvSpPr>
          <p:cNvPr id="48" name="Text Box 61"/>
          <p:cNvSpPr txBox="1">
            <a:spLocks noChangeArrowheads="1"/>
          </p:cNvSpPr>
          <p:nvPr/>
        </p:nvSpPr>
        <p:spPr bwMode="auto">
          <a:xfrm>
            <a:off x="561975" y="2565400"/>
            <a:ext cx="17081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000000"/>
                </a:solidFill>
                <a:cs typeface="Arial" charset="0"/>
              </a:rPr>
              <a:t>Row address 1</a:t>
            </a:r>
          </a:p>
        </p:txBody>
      </p:sp>
      <p:sp>
        <p:nvSpPr>
          <p:cNvPr id="49" name="Rectangle 62"/>
          <p:cNvSpPr>
            <a:spLocks noChangeArrowheads="1"/>
          </p:cNvSpPr>
          <p:nvPr/>
        </p:nvSpPr>
        <p:spPr bwMode="auto">
          <a:xfrm>
            <a:off x="3822700" y="1931988"/>
            <a:ext cx="1612900" cy="288925"/>
          </a:xfrm>
          <a:prstGeom prst="rect">
            <a:avLst/>
          </a:prstGeom>
          <a:solidFill>
            <a:srgbClr val="0000FF"/>
          </a:solidFill>
          <a:ln w="9525">
            <a:solidFill>
              <a:schemeClr val="tx1"/>
            </a:solidFill>
            <a:miter lim="800000"/>
            <a:headEnd/>
            <a:tailEnd/>
          </a:ln>
        </p:spPr>
        <p:txBody>
          <a:bodyPr wrap="none" anchor="ctr"/>
          <a:lstStyle/>
          <a:p>
            <a:pPr eaLnBrk="1" hangingPunct="1"/>
            <a:endParaRPr lang="en-US">
              <a:solidFill>
                <a:srgbClr val="000000"/>
              </a:solidFill>
              <a:ea typeface="ＭＳ Ｐゴシック" charset="0"/>
              <a:cs typeface="ＭＳ Ｐゴシック" charset="0"/>
            </a:endParaRPr>
          </a:p>
        </p:txBody>
      </p:sp>
      <p:sp>
        <p:nvSpPr>
          <p:cNvPr id="50" name="Rectangle 63"/>
          <p:cNvSpPr>
            <a:spLocks noChangeArrowheads="1"/>
          </p:cNvSpPr>
          <p:nvPr/>
        </p:nvSpPr>
        <p:spPr bwMode="auto">
          <a:xfrm>
            <a:off x="3822700" y="4465638"/>
            <a:ext cx="1612900" cy="288925"/>
          </a:xfrm>
          <a:prstGeom prst="rect">
            <a:avLst/>
          </a:prstGeom>
          <a:solidFill>
            <a:srgbClr val="0000FF"/>
          </a:solidFill>
          <a:ln w="9525">
            <a:solidFill>
              <a:schemeClr val="tx1"/>
            </a:solidFill>
            <a:miter lim="800000"/>
            <a:headEnd/>
            <a:tailEnd/>
          </a:ln>
        </p:spPr>
        <p:txBody>
          <a:bodyPr wrap="none" anchor="ctr"/>
          <a:lstStyle/>
          <a:p>
            <a:pPr eaLnBrk="1" hangingPunct="1"/>
            <a:endParaRPr lang="en-US">
              <a:solidFill>
                <a:srgbClr val="000000"/>
              </a:solidFill>
              <a:ea typeface="ＭＳ Ｐゴシック" charset="0"/>
              <a:cs typeface="ＭＳ Ｐゴシック" charset="0"/>
            </a:endParaRPr>
          </a:p>
        </p:txBody>
      </p:sp>
      <p:sp>
        <p:nvSpPr>
          <p:cNvPr id="51" name="Rectangle 64"/>
          <p:cNvSpPr>
            <a:spLocks noChangeArrowheads="1"/>
          </p:cNvSpPr>
          <p:nvPr/>
        </p:nvSpPr>
        <p:spPr bwMode="auto">
          <a:xfrm>
            <a:off x="3822700" y="4465638"/>
            <a:ext cx="230188" cy="288925"/>
          </a:xfrm>
          <a:prstGeom prst="rect">
            <a:avLst/>
          </a:prstGeom>
          <a:solidFill>
            <a:srgbClr val="FF6600"/>
          </a:solidFill>
          <a:ln w="9525">
            <a:solidFill>
              <a:schemeClr val="tx1"/>
            </a:solidFill>
            <a:miter lim="800000"/>
            <a:headEnd/>
            <a:tailEnd/>
          </a:ln>
        </p:spPr>
        <p:txBody>
          <a:bodyPr wrap="none" anchor="ctr"/>
          <a:lstStyle/>
          <a:p>
            <a:pPr eaLnBrk="1" hangingPunct="1"/>
            <a:endParaRPr lang="en-US">
              <a:solidFill>
                <a:srgbClr val="000000"/>
              </a:solidFill>
              <a:ea typeface="ＭＳ Ｐゴシック" charset="0"/>
              <a:cs typeface="ＭＳ Ｐゴシック" charset="0"/>
            </a:endParaRPr>
          </a:p>
        </p:txBody>
      </p:sp>
      <p:sp>
        <p:nvSpPr>
          <p:cNvPr id="52" name="Text Box 65"/>
          <p:cNvSpPr txBox="1">
            <a:spLocks noChangeArrowheads="1"/>
          </p:cNvSpPr>
          <p:nvPr/>
        </p:nvSpPr>
        <p:spPr bwMode="auto">
          <a:xfrm>
            <a:off x="4273550" y="4419600"/>
            <a:ext cx="8318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FFFFFF"/>
                </a:solidFill>
                <a:cs typeface="Arial" charset="0"/>
              </a:rPr>
              <a:t>Row 1</a:t>
            </a:r>
          </a:p>
        </p:txBody>
      </p:sp>
      <p:sp>
        <p:nvSpPr>
          <p:cNvPr id="53" name="Text Box 66"/>
          <p:cNvSpPr txBox="1">
            <a:spLocks noChangeArrowheads="1"/>
          </p:cNvSpPr>
          <p:nvPr/>
        </p:nvSpPr>
        <p:spPr bwMode="auto">
          <a:xfrm>
            <a:off x="1301750" y="5076825"/>
            <a:ext cx="20383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000000"/>
                </a:solidFill>
                <a:cs typeface="Arial" charset="0"/>
              </a:rPr>
              <a:t>Column address 0</a:t>
            </a:r>
          </a:p>
        </p:txBody>
      </p:sp>
      <p:sp>
        <p:nvSpPr>
          <p:cNvPr id="54" name="Text Box 67"/>
          <p:cNvSpPr txBox="1">
            <a:spLocks noChangeArrowheads="1"/>
          </p:cNvSpPr>
          <p:nvPr/>
        </p:nvSpPr>
        <p:spPr bwMode="auto">
          <a:xfrm>
            <a:off x="6645275" y="4408488"/>
            <a:ext cx="14541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FF0000"/>
                </a:solidFill>
                <a:cs typeface="Arial" charset="0"/>
              </a:rPr>
              <a:t>CONFLICT !</a:t>
            </a:r>
          </a:p>
        </p:txBody>
      </p:sp>
      <p:sp>
        <p:nvSpPr>
          <p:cNvPr id="95286" name="Text Box 69"/>
          <p:cNvSpPr txBox="1">
            <a:spLocks noChangeArrowheads="1"/>
          </p:cNvSpPr>
          <p:nvPr/>
        </p:nvSpPr>
        <p:spPr bwMode="auto">
          <a:xfrm>
            <a:off x="4052888" y="1296988"/>
            <a:ext cx="10858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FF0000"/>
                </a:solidFill>
                <a:cs typeface="Arial" charset="0"/>
              </a:rPr>
              <a:t>Columns</a:t>
            </a:r>
          </a:p>
        </p:txBody>
      </p:sp>
      <p:sp>
        <p:nvSpPr>
          <p:cNvPr id="95287" name="Text Box 70"/>
          <p:cNvSpPr txBox="1">
            <a:spLocks noChangeArrowheads="1"/>
          </p:cNvSpPr>
          <p:nvPr/>
        </p:nvSpPr>
        <p:spPr bwMode="auto">
          <a:xfrm rot="5400000">
            <a:off x="5220494" y="2637632"/>
            <a:ext cx="7556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FF0000"/>
                </a:solidFill>
                <a:cs typeface="Arial" charset="0"/>
              </a:rPr>
              <a:t>Rows</a:t>
            </a:r>
          </a:p>
        </p:txBody>
      </p:sp>
      <p:sp>
        <p:nvSpPr>
          <p:cNvPr id="57" name="Text Box 15"/>
          <p:cNvSpPr txBox="1">
            <a:spLocks noChangeArrowheads="1"/>
          </p:cNvSpPr>
          <p:nvPr/>
        </p:nvSpPr>
        <p:spPr bwMode="auto">
          <a:xfrm>
            <a:off x="153988" y="979488"/>
            <a:ext cx="2070100"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003399"/>
                </a:solidFill>
                <a:cs typeface="Arial" charset="0"/>
              </a:rPr>
              <a:t>  Access Address: </a:t>
            </a:r>
          </a:p>
        </p:txBody>
      </p:sp>
      <p:sp>
        <p:nvSpPr>
          <p:cNvPr id="58" name="Trapezoid 57"/>
          <p:cNvSpPr/>
          <p:nvPr/>
        </p:nvSpPr>
        <p:spPr bwMode="auto">
          <a:xfrm rot="10800000">
            <a:off x="3814763" y="5026025"/>
            <a:ext cx="1617662" cy="422275"/>
          </a:xfrm>
          <a:prstGeom prst="trapezoid">
            <a:avLst/>
          </a:prstGeom>
          <a:noFill/>
          <a:ln w="9525" cap="flat" cmpd="sng" algn="ctr">
            <a:solidFill>
              <a:schemeClr val="tx1"/>
            </a:solidFill>
            <a:prstDash val="solid"/>
            <a:round/>
            <a:headEnd type="none" w="med" len="med"/>
            <a:tailEnd type="none" w="med" len="med"/>
          </a:ln>
          <a:effectLst/>
        </p:spPr>
        <p:txBody>
          <a:bodyPr/>
          <a:lstStyle/>
          <a:p>
            <a:pPr eaLnBrk="1" hangingPunct="1">
              <a:defRPr/>
            </a:pPr>
            <a:endParaRPr lang="en-US">
              <a:solidFill>
                <a:srgbClr val="000000"/>
              </a:solidFill>
              <a:latin typeface="Arial" pitchFamily="34" charset="0"/>
              <a:ea typeface="ＭＳ Ｐゴシック" charset="0"/>
              <a:cs typeface="ＭＳ Ｐゴシック" charset="0"/>
            </a:endParaRPr>
          </a:p>
        </p:txBody>
      </p:sp>
    </p:spTree>
    <p:extLst>
      <p:ext uri="{BB962C8B-B14F-4D97-AF65-F5344CB8AC3E}">
        <p14:creationId xmlns:p14="http://schemas.microsoft.com/office/powerpoint/2010/main" val="303053368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7"/>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par>
                                <p:cTn id="41" presetID="1" presetClass="exit" presetSubtype="0" fill="hold" grpId="1" nodeType="withEffect">
                                  <p:stCondLst>
                                    <p:cond delay="0"/>
                                  </p:stCondLst>
                                  <p:childTnLst>
                                    <p:set>
                                      <p:cBhvr>
                                        <p:cTn id="42" dur="1" fill="hold">
                                          <p:stCondLst>
                                            <p:cond delay="0"/>
                                          </p:stCondLst>
                                        </p:cTn>
                                        <p:tgtEl>
                                          <p:spTgt spid="34"/>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38"/>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par>
                                <p:cTn id="47" presetID="1" presetClass="exit" presetSubtype="0" fill="hold" grpId="1" nodeType="withEffect">
                                  <p:stCondLst>
                                    <p:cond delay="0"/>
                                  </p:stCondLst>
                                  <p:childTnLst>
                                    <p:set>
                                      <p:cBhvr>
                                        <p:cTn id="48" dur="1" fill="hold">
                                          <p:stCondLst>
                                            <p:cond delay="0"/>
                                          </p:stCondLst>
                                        </p:cTn>
                                        <p:tgtEl>
                                          <p:spTgt spid="29"/>
                                        </p:tgtEl>
                                        <p:attrNameLst>
                                          <p:attrName>style.visibility</p:attrName>
                                        </p:attrNameLst>
                                      </p:cBhvr>
                                      <p:to>
                                        <p:strVal val="hidden"/>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8"/>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6"/>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3"/>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0" presetClass="path" presetSubtype="0" accel="50000" decel="50000" fill="hold" grpId="1" nodeType="clickEffect">
                                  <p:stCondLst>
                                    <p:cond delay="0"/>
                                  </p:stCondLst>
                                  <p:childTnLst>
                                    <p:animMotion origin="layout" path="M 0.01354 0.00232 L 0.07899 0.0007 L 0.07413 0.22616 " pathEditMode="relative" ptsTypes="AAA">
                                      <p:cBhvr>
                                        <p:cTn id="74" dur="1000" fill="hold"/>
                                        <p:tgtEl>
                                          <p:spTgt spid="36"/>
                                        </p:tgtEl>
                                        <p:attrNameLst>
                                          <p:attrName>ppt_x</p:attrName>
                                          <p:attrName>ppt_y</p:attrName>
                                        </p:attrNameLst>
                                      </p:cBhvr>
                                    </p:animMotion>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xit" presetSubtype="0" fill="hold" grpId="2" nodeType="clickEffect">
                                  <p:stCondLst>
                                    <p:cond delay="0"/>
                                  </p:stCondLst>
                                  <p:childTnLst>
                                    <p:set>
                                      <p:cBhvr>
                                        <p:cTn id="78" dur="1" fill="hold">
                                          <p:stCondLst>
                                            <p:cond delay="0"/>
                                          </p:stCondLst>
                                        </p:cTn>
                                        <p:tgtEl>
                                          <p:spTgt spid="36"/>
                                        </p:tgtEl>
                                        <p:attrNameLst>
                                          <p:attrName>style.visibility</p:attrName>
                                        </p:attrNameLst>
                                      </p:cBhvr>
                                      <p:to>
                                        <p:strVal val="hidden"/>
                                      </p:to>
                                    </p:set>
                                  </p:childTnLst>
                                </p:cTn>
                              </p:par>
                              <p:par>
                                <p:cTn id="79" presetID="1" presetClass="exit" presetSubtype="0" fill="hold" grpId="1" nodeType="withEffect">
                                  <p:stCondLst>
                                    <p:cond delay="0"/>
                                  </p:stCondLst>
                                  <p:childTnLst>
                                    <p:set>
                                      <p:cBhvr>
                                        <p:cTn id="80" dur="1" fill="hold">
                                          <p:stCondLst>
                                            <p:cond delay="0"/>
                                          </p:stCondLst>
                                        </p:cTn>
                                        <p:tgtEl>
                                          <p:spTgt spid="30"/>
                                        </p:tgtEl>
                                        <p:attrNameLst>
                                          <p:attrName>style.visibility</p:attrName>
                                        </p:attrNameLst>
                                      </p:cBhvr>
                                      <p:to>
                                        <p:strVal val="hidden"/>
                                      </p:to>
                                    </p:set>
                                  </p:childTnLst>
                                </p:cTn>
                              </p:par>
                              <p:par>
                                <p:cTn id="81" presetID="3" presetClass="emph" presetSubtype="2" fill="hold" grpId="1" nodeType="withEffect">
                                  <p:stCondLst>
                                    <p:cond delay="0"/>
                                  </p:stCondLst>
                                  <p:childTnLst>
                                    <p:animClr clrSpc="rgb" dir="cw">
                                      <p:cBhvr override="childStyle">
                                        <p:cTn id="82" dur="500" fill="hold"/>
                                        <p:tgtEl>
                                          <p:spTgt spid="15"/>
                                        </p:tgtEl>
                                        <p:attrNameLst>
                                          <p:attrName>style.color</p:attrName>
                                        </p:attrNameLst>
                                      </p:cBhvr>
                                      <p:to>
                                        <a:srgbClr val="C0C0C0"/>
                                      </p:to>
                                    </p:animClr>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9"/>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6"/>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0"/>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41"/>
                                        </p:tgtEl>
                                        <p:attrNameLst>
                                          <p:attrName>style.visibility</p:attrName>
                                        </p:attrNameLst>
                                      </p:cBhvr>
                                      <p:to>
                                        <p:strVal val="visible"/>
                                      </p:to>
                                    </p:set>
                                  </p:childTnLst>
                                </p:cTn>
                              </p:par>
                            </p:childTnLst>
                          </p:cTn>
                        </p:par>
                      </p:childTnLst>
                    </p:cTn>
                  </p:par>
                  <p:par>
                    <p:cTn id="99" fill="hold" nodeType="clickPar">
                      <p:stCondLst>
                        <p:cond delay="indefinite"/>
                      </p:stCondLst>
                      <p:childTnLst>
                        <p:par>
                          <p:cTn id="100" fill="hold" nodeType="withGroup">
                            <p:stCondLst>
                              <p:cond delay="0"/>
                            </p:stCondLst>
                            <p:childTnLst>
                              <p:par>
                                <p:cTn id="101" presetID="0" presetClass="path" presetSubtype="0" accel="50000" decel="50000" fill="hold" grpId="1" nodeType="clickEffect">
                                  <p:stCondLst>
                                    <p:cond delay="0"/>
                                  </p:stCondLst>
                                  <p:childTnLst>
                                    <p:animMotion origin="layout" path="M 0.0132 0.0007 C 0.02622 0.00116 0.05243 0.00232 0.05243 0.00232 L 0.04879 0.22778 " pathEditMode="relative" ptsTypes="fAA">
                                      <p:cBhvr>
                                        <p:cTn id="102" dur="1000" fill="hold"/>
                                        <p:tgtEl>
                                          <p:spTgt spid="41"/>
                                        </p:tgtEl>
                                        <p:attrNameLst>
                                          <p:attrName>ppt_x</p:attrName>
                                          <p:attrName>ppt_y</p:attrName>
                                        </p:attrNameLst>
                                      </p:cBhvr>
                                    </p:animMotion>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 presetClass="exit" presetSubtype="0" fill="hold" grpId="1" nodeType="clickEffect">
                                  <p:stCondLst>
                                    <p:cond delay="0"/>
                                  </p:stCondLst>
                                  <p:childTnLst>
                                    <p:set>
                                      <p:cBhvr>
                                        <p:cTn id="106" dur="1" fill="hold">
                                          <p:stCondLst>
                                            <p:cond delay="0"/>
                                          </p:stCondLst>
                                        </p:cTn>
                                        <p:tgtEl>
                                          <p:spTgt spid="40"/>
                                        </p:tgtEl>
                                        <p:attrNameLst>
                                          <p:attrName>style.visibility</p:attrName>
                                        </p:attrNameLst>
                                      </p:cBhvr>
                                      <p:to>
                                        <p:strVal val="hidden"/>
                                      </p:to>
                                    </p:set>
                                  </p:childTnLst>
                                </p:cTn>
                              </p:par>
                              <p:par>
                                <p:cTn id="107" presetID="1" presetClass="exit" presetSubtype="0" fill="hold" grpId="2" nodeType="withEffect">
                                  <p:stCondLst>
                                    <p:cond delay="0"/>
                                  </p:stCondLst>
                                  <p:childTnLst>
                                    <p:set>
                                      <p:cBhvr>
                                        <p:cTn id="108" dur="1" fill="hold">
                                          <p:stCondLst>
                                            <p:cond delay="0"/>
                                          </p:stCondLst>
                                        </p:cTn>
                                        <p:tgtEl>
                                          <p:spTgt spid="4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46"/>
                                        </p:tgtEl>
                                        <p:attrNameLst>
                                          <p:attrName>style.visibility</p:attrName>
                                        </p:attrNameLst>
                                      </p:cBhvr>
                                      <p:to>
                                        <p:strVal val="hidden"/>
                                      </p:to>
                                    </p:set>
                                  </p:childTnLst>
                                </p:cTn>
                              </p:par>
                              <p:par>
                                <p:cTn id="111" presetID="3" presetClass="emph" presetSubtype="2" fill="hold" grpId="1" nodeType="withEffect">
                                  <p:stCondLst>
                                    <p:cond delay="0"/>
                                  </p:stCondLst>
                                  <p:childTnLst>
                                    <p:animClr clrSpc="rgb" dir="cw">
                                      <p:cBhvr override="childStyle">
                                        <p:cTn id="112" dur="500" fill="hold"/>
                                        <p:tgtEl>
                                          <p:spTgt spid="39"/>
                                        </p:tgtEl>
                                        <p:attrNameLst>
                                          <p:attrName>style.color</p:attrName>
                                        </p:attrNameLst>
                                      </p:cBhvr>
                                      <p:to>
                                        <a:srgbClr val="C0C0C0"/>
                                      </p:to>
                                    </p:animClr>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42"/>
                                        </p:tgtEl>
                                        <p:attrNameLst>
                                          <p:attrName>style.visibility</p:attrName>
                                        </p:attrNameLst>
                                      </p:cBhvr>
                                      <p:to>
                                        <p:strVal val="visible"/>
                                      </p:to>
                                    </p:se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47"/>
                                        </p:tgtEl>
                                        <p:attrNameLst>
                                          <p:attrName>style.visibility</p:attrName>
                                        </p:attrNameLst>
                                      </p:cBhvr>
                                      <p:to>
                                        <p:strVal val="visible"/>
                                      </p:to>
                                    </p:se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44"/>
                                        </p:tgtEl>
                                        <p:attrNameLst>
                                          <p:attrName>style.visibility</p:attrName>
                                        </p:attrNameLst>
                                      </p:cBhvr>
                                      <p:to>
                                        <p:strVal val="visible"/>
                                      </p:to>
                                    </p:se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43"/>
                                        </p:tgtEl>
                                        <p:attrNameLst>
                                          <p:attrName>style.visibility</p:attrName>
                                        </p:attrNameLst>
                                      </p:cBhvr>
                                      <p:to>
                                        <p:strVal val="visible"/>
                                      </p:to>
                                    </p:se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0" presetClass="path" presetSubtype="0" accel="50000" decel="50000" fill="hold" grpId="1" nodeType="clickEffect">
                                  <p:stCondLst>
                                    <p:cond delay="0"/>
                                  </p:stCondLst>
                                  <p:childTnLst>
                                    <p:animMotion origin="layout" path="M -0.01407 0.00232 L -0.05695 0.00232 L -0.05816 0.22616 " pathEditMode="relative" ptsTypes="AAA">
                                      <p:cBhvr>
                                        <p:cTn id="132" dur="1000" fill="hold"/>
                                        <p:tgtEl>
                                          <p:spTgt spid="43"/>
                                        </p:tgtEl>
                                        <p:attrNameLst>
                                          <p:attrName>ppt_x</p:attrName>
                                          <p:attrName>ppt_y</p:attrName>
                                        </p:attrNameLst>
                                      </p:cBhvr>
                                    </p:animMotion>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 presetClass="exit" presetSubtype="0" fill="hold" grpId="2" nodeType="clickEffect">
                                  <p:stCondLst>
                                    <p:cond delay="0"/>
                                  </p:stCondLst>
                                  <p:childTnLst>
                                    <p:set>
                                      <p:cBhvr>
                                        <p:cTn id="136" dur="1" fill="hold">
                                          <p:stCondLst>
                                            <p:cond delay="0"/>
                                          </p:stCondLst>
                                        </p:cTn>
                                        <p:tgtEl>
                                          <p:spTgt spid="43"/>
                                        </p:tgtEl>
                                        <p:attrNameLst>
                                          <p:attrName>style.visibility</p:attrName>
                                        </p:attrNameLst>
                                      </p:cBhvr>
                                      <p:to>
                                        <p:strVal val="hidden"/>
                                      </p:to>
                                    </p:set>
                                  </p:childTnLst>
                                </p:cTn>
                              </p:par>
                              <p:par>
                                <p:cTn id="137" presetID="1" presetClass="exit" presetSubtype="0" fill="hold" grpId="1" nodeType="withEffect">
                                  <p:stCondLst>
                                    <p:cond delay="0"/>
                                  </p:stCondLst>
                                  <p:childTnLst>
                                    <p:set>
                                      <p:cBhvr>
                                        <p:cTn id="138" dur="1" fill="hold">
                                          <p:stCondLst>
                                            <p:cond delay="0"/>
                                          </p:stCondLst>
                                        </p:cTn>
                                        <p:tgtEl>
                                          <p:spTgt spid="47"/>
                                        </p:tgtEl>
                                        <p:attrNameLst>
                                          <p:attrName>style.visibility</p:attrName>
                                        </p:attrNameLst>
                                      </p:cBhvr>
                                      <p:to>
                                        <p:strVal val="hidden"/>
                                      </p:to>
                                    </p:set>
                                  </p:childTnLst>
                                </p:cTn>
                              </p:par>
                              <p:par>
                                <p:cTn id="139" presetID="3" presetClass="emph" presetSubtype="2" fill="hold" grpId="1" nodeType="withEffect">
                                  <p:stCondLst>
                                    <p:cond delay="0"/>
                                  </p:stCondLst>
                                  <p:childTnLst>
                                    <p:animClr clrSpc="rgb" dir="cw">
                                      <p:cBhvr override="childStyle">
                                        <p:cTn id="140" dur="500" fill="hold"/>
                                        <p:tgtEl>
                                          <p:spTgt spid="42"/>
                                        </p:tgtEl>
                                        <p:attrNameLst>
                                          <p:attrName>style.color</p:attrName>
                                        </p:attrNameLst>
                                      </p:cBhvr>
                                      <p:to>
                                        <a:srgbClr val="C0C0C0"/>
                                      </p:to>
                                    </p:animClr>
                                  </p:childTnLst>
                                </p:cTn>
                              </p:par>
                              <p:par>
                                <p:cTn id="141" presetID="1" presetClass="exit" presetSubtype="0" fill="hold" grpId="1" nodeType="withEffect">
                                  <p:stCondLst>
                                    <p:cond delay="0"/>
                                  </p:stCondLst>
                                  <p:childTnLst>
                                    <p:set>
                                      <p:cBhvr>
                                        <p:cTn id="142" dur="1" fill="hold">
                                          <p:stCondLst>
                                            <p:cond delay="0"/>
                                          </p:stCondLst>
                                        </p:cTn>
                                        <p:tgtEl>
                                          <p:spTgt spid="44"/>
                                        </p:tgtEl>
                                        <p:attrNameLst>
                                          <p:attrName>style.visibility</p:attrName>
                                        </p:attrNameLst>
                                      </p:cBhvr>
                                      <p:to>
                                        <p:strVal val="hidden"/>
                                      </p:to>
                                    </p:se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45"/>
                                        </p:tgtEl>
                                        <p:attrNameLst>
                                          <p:attrName>style.visibility</p:attrName>
                                        </p:attrNameLst>
                                      </p:cBhvr>
                                      <p:to>
                                        <p:strVal val="visible"/>
                                      </p:to>
                                    </p:se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54"/>
                                        </p:tgtEl>
                                        <p:attrNameLst>
                                          <p:attrName>style.visibility</p:attrName>
                                        </p:attrNameLst>
                                      </p:cBhvr>
                                      <p:to>
                                        <p:strVal val="visible"/>
                                      </p:to>
                                    </p:se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5" presetClass="exit" presetSubtype="10" fill="hold" grpId="1" nodeType="clickEffect">
                                  <p:stCondLst>
                                    <p:cond delay="0"/>
                                  </p:stCondLst>
                                  <p:childTnLst>
                                    <p:animEffect transition="out" filter="checkerboard(across)">
                                      <p:cBhvr>
                                        <p:cTn id="154" dur="2000"/>
                                        <p:tgtEl>
                                          <p:spTgt spid="37"/>
                                        </p:tgtEl>
                                      </p:cBhvr>
                                    </p:animEffect>
                                    <p:set>
                                      <p:cBhvr>
                                        <p:cTn id="155" dur="1" fill="hold">
                                          <p:stCondLst>
                                            <p:cond delay="1999"/>
                                          </p:stCondLst>
                                        </p:cTn>
                                        <p:tgtEl>
                                          <p:spTgt spid="37"/>
                                        </p:tgtEl>
                                        <p:attrNameLst>
                                          <p:attrName>style.visibility</p:attrName>
                                        </p:attrNameLst>
                                      </p:cBhvr>
                                      <p:to>
                                        <p:strVal val="hidden"/>
                                      </p:to>
                                    </p:set>
                                  </p:childTnLst>
                                </p:cTn>
                              </p:par>
                              <p:par>
                                <p:cTn id="156" presetID="5" presetClass="exit" presetSubtype="10" fill="hold" grpId="1" nodeType="withEffect">
                                  <p:stCondLst>
                                    <p:cond delay="0"/>
                                  </p:stCondLst>
                                  <p:childTnLst>
                                    <p:animEffect transition="out" filter="checkerboard(across)">
                                      <p:cBhvr>
                                        <p:cTn id="157" dur="2000"/>
                                        <p:tgtEl>
                                          <p:spTgt spid="35"/>
                                        </p:tgtEl>
                                      </p:cBhvr>
                                    </p:animEffect>
                                    <p:set>
                                      <p:cBhvr>
                                        <p:cTn id="158" dur="1" fill="hold">
                                          <p:stCondLst>
                                            <p:cond delay="1999"/>
                                          </p:stCondLst>
                                        </p:cTn>
                                        <p:tgtEl>
                                          <p:spTgt spid="35"/>
                                        </p:tgtEl>
                                        <p:attrNameLst>
                                          <p:attrName>style.visibility</p:attrName>
                                        </p:attrNameLst>
                                      </p:cBhvr>
                                      <p:to>
                                        <p:strVal val="hidden"/>
                                      </p:to>
                                    </p:set>
                                  </p:childTnLst>
                                </p:cTn>
                              </p:par>
                            </p:childTnLst>
                          </p:cTn>
                        </p:par>
                      </p:childTnLst>
                    </p:cTn>
                  </p:par>
                  <p:par>
                    <p:cTn id="159" fill="hold" nodeType="clickPar">
                      <p:stCondLst>
                        <p:cond delay="indefinite"/>
                      </p:stCondLst>
                      <p:childTnLst>
                        <p:par>
                          <p:cTn id="160" fill="hold" nodeType="withGroup">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48"/>
                                        </p:tgtEl>
                                        <p:attrNameLst>
                                          <p:attrName>style.visibility</p:attrName>
                                        </p:attrNameLst>
                                      </p:cBhvr>
                                      <p:to>
                                        <p:strVal val="visible"/>
                                      </p:to>
                                    </p:se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49"/>
                                        </p:tgtEl>
                                        <p:attrNameLst>
                                          <p:attrName>style.visibility</p:attrName>
                                        </p:attrNameLst>
                                      </p:cBhvr>
                                      <p:to>
                                        <p:strVal val="visible"/>
                                      </p:to>
                                    </p:set>
                                  </p:childTnLst>
                                </p:cTn>
                              </p:par>
                            </p:childTnLst>
                          </p:cTn>
                        </p:par>
                      </p:childTnLst>
                    </p:cTn>
                  </p:par>
                  <p:par>
                    <p:cTn id="167" fill="hold" nodeType="clickPar">
                      <p:stCondLst>
                        <p:cond delay="indefinite"/>
                      </p:stCondLst>
                      <p:childTnLst>
                        <p:par>
                          <p:cTn id="168" fill="hold" nodeType="withGroup">
                            <p:stCondLst>
                              <p:cond delay="0"/>
                            </p:stCondLst>
                            <p:childTnLst>
                              <p:par>
                                <p:cTn id="169" presetID="1" presetClass="exit" presetSubtype="0" fill="hold" grpId="1" nodeType="clickEffect">
                                  <p:stCondLst>
                                    <p:cond delay="0"/>
                                  </p:stCondLst>
                                  <p:childTnLst>
                                    <p:set>
                                      <p:cBhvr>
                                        <p:cTn id="170" dur="1" fill="hold">
                                          <p:stCondLst>
                                            <p:cond delay="0"/>
                                          </p:stCondLst>
                                        </p:cTn>
                                        <p:tgtEl>
                                          <p:spTgt spid="49"/>
                                        </p:tgtEl>
                                        <p:attrNameLst>
                                          <p:attrName>style.visibility</p:attrName>
                                        </p:attrNameLst>
                                      </p:cBhvr>
                                      <p:to>
                                        <p:strVal val="hidden"/>
                                      </p:to>
                                    </p:set>
                                  </p:childTnLst>
                                </p:cTn>
                              </p:par>
                              <p:par>
                                <p:cTn id="171" presetID="1" presetClass="entr" presetSubtype="0" fill="hold" grpId="0" nodeType="withEffect">
                                  <p:stCondLst>
                                    <p:cond delay="0"/>
                                  </p:stCondLst>
                                  <p:childTnLst>
                                    <p:set>
                                      <p:cBhvr>
                                        <p:cTn id="172" dur="1" fill="hold">
                                          <p:stCondLst>
                                            <p:cond delay="0"/>
                                          </p:stCondLst>
                                        </p:cTn>
                                        <p:tgtEl>
                                          <p:spTgt spid="50"/>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52"/>
                                        </p:tgtEl>
                                        <p:attrNameLst>
                                          <p:attrName>style.visibility</p:attrName>
                                        </p:attrNameLst>
                                      </p:cBhvr>
                                      <p:to>
                                        <p:strVal val="visible"/>
                                      </p:to>
                                    </p:set>
                                  </p:childTnLst>
                                </p:cTn>
                              </p:par>
                              <p:par>
                                <p:cTn id="175" presetID="1" presetClass="exit" presetSubtype="0" fill="hold" grpId="1" nodeType="withEffect">
                                  <p:stCondLst>
                                    <p:cond delay="0"/>
                                  </p:stCondLst>
                                  <p:childTnLst>
                                    <p:set>
                                      <p:cBhvr>
                                        <p:cTn id="176" dur="1" fill="hold">
                                          <p:stCondLst>
                                            <p:cond delay="0"/>
                                          </p:stCondLst>
                                        </p:cTn>
                                        <p:tgtEl>
                                          <p:spTgt spid="48"/>
                                        </p:tgtEl>
                                        <p:attrNameLst>
                                          <p:attrName>style.visibility</p:attrName>
                                        </p:attrNameLst>
                                      </p:cBhvr>
                                      <p:to>
                                        <p:strVal val="hidden"/>
                                      </p:to>
                                    </p:set>
                                  </p:childTnLst>
                                </p:cTn>
                              </p:par>
                            </p:childTnLst>
                          </p:cTn>
                        </p:par>
                      </p:childTnLst>
                    </p:cTn>
                  </p:par>
                  <p:par>
                    <p:cTn id="177" fill="hold" nodeType="clickPar">
                      <p:stCondLst>
                        <p:cond delay="indefinite"/>
                      </p:stCondLst>
                      <p:childTnLst>
                        <p:par>
                          <p:cTn id="178" fill="hold" nodeType="withGroup">
                            <p:stCondLst>
                              <p:cond delay="0"/>
                            </p:stCondLst>
                            <p:childTnLst>
                              <p:par>
                                <p:cTn id="179" presetID="1" presetClass="entr" presetSubtype="0" fill="hold" grpId="0" nodeType="clickEffect">
                                  <p:stCondLst>
                                    <p:cond delay="0"/>
                                  </p:stCondLst>
                                  <p:childTnLst>
                                    <p:set>
                                      <p:cBhvr>
                                        <p:cTn id="180" dur="1" fill="hold">
                                          <p:stCondLst>
                                            <p:cond delay="0"/>
                                          </p:stCondLst>
                                        </p:cTn>
                                        <p:tgtEl>
                                          <p:spTgt spid="53"/>
                                        </p:tgtEl>
                                        <p:attrNameLst>
                                          <p:attrName>style.visibility</p:attrName>
                                        </p:attrNameLst>
                                      </p:cBhvr>
                                      <p:to>
                                        <p:strVal val="visible"/>
                                      </p:to>
                                    </p:set>
                                  </p:childTnLst>
                                </p:cTn>
                              </p:par>
                            </p:childTnLst>
                          </p:cTn>
                        </p:par>
                      </p:childTnLst>
                    </p:cTn>
                  </p:par>
                  <p:par>
                    <p:cTn id="181" fill="hold" nodeType="clickPar">
                      <p:stCondLst>
                        <p:cond delay="indefinite"/>
                      </p:stCondLst>
                      <p:childTnLst>
                        <p:par>
                          <p:cTn id="182" fill="hold" nodeType="withGroup">
                            <p:stCondLst>
                              <p:cond delay="0"/>
                            </p:stCondLst>
                            <p:childTnLst>
                              <p:par>
                                <p:cTn id="183" presetID="1" presetClass="entr" presetSubtype="0" fill="hold" grpId="0" nodeType="clickEffect">
                                  <p:stCondLst>
                                    <p:cond delay="0"/>
                                  </p:stCondLst>
                                  <p:childTnLst>
                                    <p:set>
                                      <p:cBhvr>
                                        <p:cTn id="184" dur="1" fill="hold">
                                          <p:stCondLst>
                                            <p:cond delay="0"/>
                                          </p:stCondLst>
                                        </p:cTn>
                                        <p:tgtEl>
                                          <p:spTgt spid="51"/>
                                        </p:tgtEl>
                                        <p:attrNameLst>
                                          <p:attrName>style.visibility</p:attrName>
                                        </p:attrNameLst>
                                      </p:cBhvr>
                                      <p:to>
                                        <p:strVal val="visible"/>
                                      </p:to>
                                    </p:set>
                                  </p:childTnLst>
                                </p:cTn>
                              </p:par>
                            </p:childTnLst>
                          </p:cTn>
                        </p:par>
                      </p:childTnLst>
                    </p:cTn>
                  </p:par>
                  <p:par>
                    <p:cTn id="185" fill="hold" nodeType="clickPar">
                      <p:stCondLst>
                        <p:cond delay="indefinite"/>
                      </p:stCondLst>
                      <p:childTnLst>
                        <p:par>
                          <p:cTn id="186" fill="hold" nodeType="withGroup">
                            <p:stCondLst>
                              <p:cond delay="0"/>
                            </p:stCondLst>
                            <p:childTnLst>
                              <p:par>
                                <p:cTn id="187" presetID="0" presetClass="path" presetSubtype="0" accel="50000" decel="50000" fill="hold" grpId="1" nodeType="clickEffect">
                                  <p:stCondLst>
                                    <p:cond delay="0"/>
                                  </p:stCondLst>
                                  <p:childTnLst>
                                    <p:animMotion origin="layout" path="M 0.01354 0.00232 L 0.07899 0.0007 L 0.07413 0.22616 " pathEditMode="relative" ptsTypes="AAA">
                                      <p:cBhvr>
                                        <p:cTn id="188" dur="1000" fill="hold"/>
                                        <p:tgtEl>
                                          <p:spTgt spid="51"/>
                                        </p:tgtEl>
                                        <p:attrNameLst>
                                          <p:attrName>ppt_x</p:attrName>
                                          <p:attrName>ppt_y</p:attrName>
                                        </p:attrNameLst>
                                      </p:cBhvr>
                                    </p:animMotion>
                                  </p:childTnLst>
                                </p:cTn>
                              </p:par>
                              <p:par>
                                <p:cTn id="189" presetID="1" presetClass="exit" presetSubtype="0" fill="hold" grpId="1" nodeType="withEffect">
                                  <p:stCondLst>
                                    <p:cond delay="0"/>
                                  </p:stCondLst>
                                  <p:childTnLst>
                                    <p:set>
                                      <p:cBhvr>
                                        <p:cTn id="190" dur="1" fill="hold">
                                          <p:stCondLst>
                                            <p:cond delay="0"/>
                                          </p:stCondLst>
                                        </p:cTn>
                                        <p:tgtEl>
                                          <p:spTgt spid="5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p:bldP spid="15" grpId="0"/>
      <p:bldP spid="15" grpId="1"/>
      <p:bldP spid="16" grpId="0" animBg="1"/>
      <p:bldP spid="17" grpId="0"/>
      <p:bldP spid="18" grpId="0"/>
      <p:bldP spid="26" grpId="0" animBg="1"/>
      <p:bldP spid="27" grpId="0" animBg="1"/>
      <p:bldP spid="28" grpId="0" animBg="1"/>
      <p:bldP spid="29" grpId="0"/>
      <p:bldP spid="29" grpId="1"/>
      <p:bldP spid="30" grpId="0"/>
      <p:bldP spid="30" grpId="1"/>
      <p:bldP spid="31" grpId="0" animBg="1"/>
      <p:bldP spid="32" grpId="0" animBg="1"/>
      <p:bldP spid="33" grpId="0"/>
      <p:bldP spid="34" grpId="0" animBg="1"/>
      <p:bldP spid="34" grpId="1" animBg="1"/>
      <p:bldP spid="35" grpId="0" animBg="1"/>
      <p:bldP spid="35" grpId="1" animBg="1"/>
      <p:bldP spid="36" grpId="0" animBg="1"/>
      <p:bldP spid="36" grpId="1" animBg="1"/>
      <p:bldP spid="36" grpId="2" animBg="1"/>
      <p:bldP spid="37" grpId="0"/>
      <p:bldP spid="37" grpId="1"/>
      <p:bldP spid="38" grpId="0"/>
      <p:bldP spid="38" grpId="1"/>
      <p:bldP spid="39" grpId="0"/>
      <p:bldP spid="39" grpId="1"/>
      <p:bldP spid="40" grpId="0"/>
      <p:bldP spid="40" grpId="1"/>
      <p:bldP spid="41" grpId="0" animBg="1"/>
      <p:bldP spid="41" grpId="1" animBg="1"/>
      <p:bldP spid="41" grpId="2" animBg="1"/>
      <p:bldP spid="42" grpId="0"/>
      <p:bldP spid="42" grpId="1"/>
      <p:bldP spid="43" grpId="0" animBg="1"/>
      <p:bldP spid="43" grpId="1" animBg="1"/>
      <p:bldP spid="43" grpId="2" animBg="1"/>
      <p:bldP spid="44" grpId="0"/>
      <p:bldP spid="44" grpId="1"/>
      <p:bldP spid="45" grpId="0"/>
      <p:bldP spid="46" grpId="0"/>
      <p:bldP spid="46" grpId="1"/>
      <p:bldP spid="47" grpId="0"/>
      <p:bldP spid="47" grpId="1"/>
      <p:bldP spid="48" grpId="0"/>
      <p:bldP spid="48" grpId="1"/>
      <p:bldP spid="49" grpId="0" animBg="1"/>
      <p:bldP spid="49" grpId="1" animBg="1"/>
      <p:bldP spid="50" grpId="0" animBg="1"/>
      <p:bldP spid="51" grpId="0" animBg="1"/>
      <p:bldP spid="51" grpId="1" animBg="1"/>
      <p:bldP spid="52" grpId="0"/>
      <p:bldP spid="53" grpId="0"/>
      <p:bldP spid="54" grpId="0"/>
      <p:bldP spid="54" grpId="1"/>
      <p:bldP spid="5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4">
            <a:extLst>
              <a:ext uri="{FF2B5EF4-FFF2-40B4-BE49-F238E27FC236}">
                <a16:creationId xmlns:a16="http://schemas.microsoft.com/office/drawing/2014/main" id="{6C599EA8-303B-8F44-B67E-1E9A7D6B8361}"/>
              </a:ext>
            </a:extLst>
          </p:cNvPr>
          <p:cNvSpPr>
            <a:spLocks noGrp="1" noChangeArrowheads="1"/>
          </p:cNvSpPr>
          <p:nvPr>
            <p:ph type="ctrTitle"/>
          </p:nvPr>
        </p:nvSpPr>
        <p:spPr>
          <a:xfrm>
            <a:off x="1371600" y="1447800"/>
            <a:ext cx="6400800" cy="2232248"/>
          </a:xfrm>
        </p:spPr>
        <p:txBody>
          <a:bodyPr/>
          <a:lstStyle/>
          <a:p>
            <a:pPr algn="ctr" eaLnBrk="1" hangingPunct="1"/>
            <a:r>
              <a:rPr lang="en-US" altLang="en-US" dirty="0">
                <a:solidFill>
                  <a:srgbClr val="FF0000"/>
                </a:solidFill>
                <a:ea typeface="ＭＳ Ｐゴシック" panose="020B0600070205080204" pitchFamily="34" charset="-128"/>
              </a:rPr>
              <a:t>Long Global Memory Access Latency</a:t>
            </a:r>
          </a:p>
        </p:txBody>
      </p:sp>
      <p:sp>
        <p:nvSpPr>
          <p:cNvPr id="81922" name="Rectangle 5">
            <a:extLst>
              <a:ext uri="{FF2B5EF4-FFF2-40B4-BE49-F238E27FC236}">
                <a16:creationId xmlns:a16="http://schemas.microsoft.com/office/drawing/2014/main" id="{EB66DB82-34C1-994A-A27C-C184C7C5BDDA}"/>
              </a:ext>
            </a:extLst>
          </p:cNvPr>
          <p:cNvSpPr>
            <a:spLocks noGrp="1" noChangeArrowheads="1"/>
          </p:cNvSpPr>
          <p:nvPr>
            <p:ph type="subTitle" idx="1"/>
          </p:nvPr>
        </p:nvSpPr>
        <p:spPr>
          <a:xfrm>
            <a:off x="304800" y="3581400"/>
            <a:ext cx="8458200" cy="2900363"/>
          </a:xfrm>
        </p:spPr>
        <p:txBody>
          <a:bodyPr/>
          <a:lstStyle/>
          <a:p>
            <a:pPr eaLnBrk="1" hangingPunct="1"/>
            <a:endParaRPr lang="en-US" altLang="en-US" i="1">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p:txBody>
      </p:sp>
    </p:spTree>
    <p:extLst>
      <p:ext uri="{BB962C8B-B14F-4D97-AF65-F5344CB8AC3E}">
        <p14:creationId xmlns:p14="http://schemas.microsoft.com/office/powerpoint/2010/main" val="2947063907"/>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68F9301F-200A-4C9F-9BC7-A9CA02E8A85A}"/>
              </a:ext>
            </a:extLst>
          </p:cNvPr>
          <p:cNvSpPr/>
          <p:nvPr/>
        </p:nvSpPr>
        <p:spPr>
          <a:xfrm>
            <a:off x="2069292" y="951862"/>
            <a:ext cx="4788490" cy="461665"/>
          </a:xfrm>
          <a:prstGeom prst="rect">
            <a:avLst/>
          </a:prstGeom>
        </p:spPr>
        <p:txBody>
          <a:bodyPr wrap="none">
            <a:spAutoFit/>
          </a:bodyPr>
          <a:lstStyle/>
          <a:p>
            <a:r>
              <a:rPr lang="en-US" altLang="zh-CN" sz="2400" dirty="0">
                <a:solidFill>
                  <a:srgbClr val="C00000"/>
                </a:solidFill>
                <a:cs typeface="+mj-cs"/>
              </a:rPr>
              <a:t>Motivation of In-network Computing</a:t>
            </a:r>
            <a:endParaRPr lang="zh-CN" altLang="en-US" sz="1200" dirty="0"/>
          </a:p>
        </p:txBody>
      </p:sp>
      <p:sp>
        <p:nvSpPr>
          <p:cNvPr id="54" name="Rectangle 2">
            <a:extLst>
              <a:ext uri="{FF2B5EF4-FFF2-40B4-BE49-F238E27FC236}">
                <a16:creationId xmlns:a16="http://schemas.microsoft.com/office/drawing/2014/main" id="{82D9D992-8110-4752-809A-6133FEB65846}"/>
              </a:ext>
            </a:extLst>
          </p:cNvPr>
          <p:cNvSpPr/>
          <p:nvPr/>
        </p:nvSpPr>
        <p:spPr>
          <a:xfrm>
            <a:off x="-106251" y="-203200"/>
            <a:ext cx="9382259" cy="70612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55" name="TextBox 3">
            <a:extLst>
              <a:ext uri="{FF2B5EF4-FFF2-40B4-BE49-F238E27FC236}">
                <a16:creationId xmlns:a16="http://schemas.microsoft.com/office/drawing/2014/main" id="{1B997306-FA4F-4F7B-8126-9FAAA79FA40E}"/>
              </a:ext>
            </a:extLst>
          </p:cNvPr>
          <p:cNvSpPr txBox="1"/>
          <p:nvPr/>
        </p:nvSpPr>
        <p:spPr>
          <a:xfrm>
            <a:off x="152400" y="1828800"/>
            <a:ext cx="8763000" cy="584775"/>
          </a:xfrm>
          <a:prstGeom prst="rect">
            <a:avLst/>
          </a:prstGeom>
          <a:noFill/>
        </p:spPr>
        <p:txBody>
          <a:bodyPr wrap="square" rtlCol="0">
            <a:spAutoFit/>
          </a:bodyPr>
          <a:lstStyle/>
          <a:p>
            <a:pPr algn="ctr"/>
            <a:r>
              <a:rPr lang="en-US" altLang="zh-CN" sz="3200" b="1" dirty="0">
                <a:solidFill>
                  <a:schemeClr val="bg1"/>
                </a:solidFill>
              </a:rPr>
              <a:t>How to optimize global memory access?</a:t>
            </a:r>
            <a:endParaRPr lang="en-US" sz="3200" b="1" u="sng" dirty="0">
              <a:solidFill>
                <a:srgbClr val="DA9100"/>
              </a:solidFill>
            </a:endParaRPr>
          </a:p>
        </p:txBody>
      </p:sp>
      <p:sp>
        <p:nvSpPr>
          <p:cNvPr id="5" name="TextBox 3">
            <a:extLst>
              <a:ext uri="{FF2B5EF4-FFF2-40B4-BE49-F238E27FC236}">
                <a16:creationId xmlns:a16="http://schemas.microsoft.com/office/drawing/2014/main" id="{1FAA63C7-2B64-4625-8286-6ECC163DA2ED}"/>
              </a:ext>
            </a:extLst>
          </p:cNvPr>
          <p:cNvSpPr txBox="1"/>
          <p:nvPr/>
        </p:nvSpPr>
        <p:spPr>
          <a:xfrm>
            <a:off x="694757" y="3035012"/>
            <a:ext cx="7537559" cy="584775"/>
          </a:xfrm>
          <a:prstGeom prst="rect">
            <a:avLst/>
          </a:prstGeom>
          <a:noFill/>
        </p:spPr>
        <p:txBody>
          <a:bodyPr wrap="square" rtlCol="0">
            <a:spAutoFit/>
          </a:bodyPr>
          <a:lstStyle/>
          <a:p>
            <a:pPr algn="ctr"/>
            <a:r>
              <a:rPr lang="en-US" sz="3200" b="1" dirty="0">
                <a:solidFill>
                  <a:srgbClr val="0432FF"/>
                </a:solidFill>
              </a:rPr>
              <a:t>Multithreading</a:t>
            </a:r>
            <a:endParaRPr lang="en-US" sz="3200" b="1" u="sng" dirty="0">
              <a:solidFill>
                <a:srgbClr val="0432FF"/>
              </a:solidFill>
            </a:endParaRPr>
          </a:p>
        </p:txBody>
      </p:sp>
      <p:sp>
        <p:nvSpPr>
          <p:cNvPr id="6" name="TextBox 3">
            <a:extLst>
              <a:ext uri="{FF2B5EF4-FFF2-40B4-BE49-F238E27FC236}">
                <a16:creationId xmlns:a16="http://schemas.microsoft.com/office/drawing/2014/main" id="{36167282-6CAE-4143-94E0-AA0B6BF0DBC6}"/>
              </a:ext>
            </a:extLst>
          </p:cNvPr>
          <p:cNvSpPr txBox="1"/>
          <p:nvPr/>
        </p:nvSpPr>
        <p:spPr>
          <a:xfrm>
            <a:off x="694756" y="4957855"/>
            <a:ext cx="7537559" cy="584775"/>
          </a:xfrm>
          <a:prstGeom prst="rect">
            <a:avLst/>
          </a:prstGeom>
          <a:noFill/>
        </p:spPr>
        <p:txBody>
          <a:bodyPr wrap="square" rtlCol="0">
            <a:spAutoFit/>
          </a:bodyPr>
          <a:lstStyle/>
          <a:p>
            <a:pPr algn="ctr"/>
            <a:r>
              <a:rPr lang="en-US" sz="3200" b="1" dirty="0">
                <a:solidFill>
                  <a:srgbClr val="0432FF"/>
                </a:solidFill>
              </a:rPr>
              <a:t>Shared Memory</a:t>
            </a:r>
            <a:endParaRPr lang="en-US" sz="3200" b="1" u="sng" dirty="0">
              <a:solidFill>
                <a:srgbClr val="0432FF"/>
              </a:solidFill>
            </a:endParaRPr>
          </a:p>
        </p:txBody>
      </p:sp>
      <p:sp>
        <p:nvSpPr>
          <p:cNvPr id="7" name="TextBox 3">
            <a:extLst>
              <a:ext uri="{FF2B5EF4-FFF2-40B4-BE49-F238E27FC236}">
                <a16:creationId xmlns:a16="http://schemas.microsoft.com/office/drawing/2014/main" id="{A811D72B-C526-4B3F-B80C-8A0088851830}"/>
              </a:ext>
            </a:extLst>
          </p:cNvPr>
          <p:cNvSpPr txBox="1"/>
          <p:nvPr/>
        </p:nvSpPr>
        <p:spPr>
          <a:xfrm>
            <a:off x="694756" y="3996433"/>
            <a:ext cx="7537559" cy="584775"/>
          </a:xfrm>
          <a:prstGeom prst="rect">
            <a:avLst/>
          </a:prstGeom>
          <a:noFill/>
        </p:spPr>
        <p:txBody>
          <a:bodyPr wrap="square" rtlCol="0">
            <a:spAutoFit/>
          </a:bodyPr>
          <a:lstStyle/>
          <a:p>
            <a:pPr algn="ctr"/>
            <a:r>
              <a:rPr lang="en-US" sz="3200" b="1" dirty="0">
                <a:solidFill>
                  <a:srgbClr val="0432FF"/>
                </a:solidFill>
              </a:rPr>
              <a:t>Memory </a:t>
            </a:r>
            <a:r>
              <a:rPr lang="en-US" altLang="zh-CN" sz="3200" b="1" dirty="0">
                <a:solidFill>
                  <a:srgbClr val="0432FF"/>
                </a:solidFill>
              </a:rPr>
              <a:t>Coalescing</a:t>
            </a:r>
            <a:endParaRPr lang="en-US" sz="3200" b="1" u="sng" dirty="0">
              <a:solidFill>
                <a:srgbClr val="0432FF"/>
              </a:solidFill>
            </a:endParaRPr>
          </a:p>
        </p:txBody>
      </p:sp>
    </p:spTree>
    <p:custDataLst>
      <p:tags r:id="rId1"/>
    </p:custDataLst>
    <p:extLst>
      <p:ext uri="{BB962C8B-B14F-4D97-AF65-F5344CB8AC3E}">
        <p14:creationId xmlns:p14="http://schemas.microsoft.com/office/powerpoint/2010/main" val="232162185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8600" y="152400"/>
            <a:ext cx="8610600" cy="845127"/>
          </a:xfrm>
        </p:spPr>
        <p:txBody>
          <a:bodyPr anchor="ctr" anchorCtr="0"/>
          <a:lstStyle/>
          <a:p>
            <a:r>
              <a:rPr lang="en-US" dirty="0"/>
              <a:t>Agenda for Today</a:t>
            </a:r>
          </a:p>
        </p:txBody>
      </p:sp>
      <p:sp>
        <p:nvSpPr>
          <p:cNvPr id="3" name="Marcador de contenido 2"/>
          <p:cNvSpPr>
            <a:spLocks noGrp="1"/>
          </p:cNvSpPr>
          <p:nvPr>
            <p:ph idx="1"/>
          </p:nvPr>
        </p:nvSpPr>
        <p:spPr/>
        <p:txBody>
          <a:bodyPr>
            <a:normAutofit/>
          </a:bodyPr>
          <a:lstStyle/>
          <a:p>
            <a:r>
              <a:rPr lang="en-US" altLang="zh-CN" dirty="0">
                <a:ea typeface="ヒラギノ角ゴ Pro W3" pitchFamily="-108" charset="-128"/>
                <a:cs typeface="ヒラギノ角ゴ Pro W3" pitchFamily="-108" charset="-128"/>
              </a:rPr>
              <a:t>SIMT (Hardware) &amp; Warp (Software)</a:t>
            </a:r>
            <a:r>
              <a:rPr lang="en-US" dirty="0">
                <a:ea typeface="ヒラギノ角ゴ Pro W3" pitchFamily="-108" charset="-128"/>
                <a:cs typeface="ヒラギノ角ゴ Pro W3" pitchFamily="-108" charset="-128"/>
              </a:rPr>
              <a:t> </a:t>
            </a:r>
          </a:p>
          <a:p>
            <a:pPr marL="0" indent="0">
              <a:buNone/>
            </a:pPr>
            <a:endParaRPr lang="en-US" dirty="0">
              <a:ea typeface="ヒラギノ角ゴ Pro W3" pitchFamily="-108" charset="-128"/>
              <a:cs typeface="ヒラギノ角ゴ Pro W3" pitchFamily="-108" charset="-128"/>
            </a:endParaRPr>
          </a:p>
          <a:p>
            <a:r>
              <a:rPr lang="en-US" altLang="zh-CN" dirty="0">
                <a:ea typeface="ヒラギノ角ゴ Pro W3" pitchFamily="-108" charset="-128"/>
              </a:rPr>
              <a:t>Optimization of Memory System </a:t>
            </a:r>
          </a:p>
          <a:p>
            <a:pPr lvl="1"/>
            <a:r>
              <a:rPr lang="en-US" dirty="0">
                <a:solidFill>
                  <a:srgbClr val="0432FF"/>
                </a:solidFill>
                <a:ea typeface="ヒラギノ角ゴ Pro W3" pitchFamily="-108" charset="-128"/>
                <a:cs typeface="ヒラギノ角ゴ Pro W3" pitchFamily="-108" charset="-128"/>
              </a:rPr>
              <a:t>Multi-threading</a:t>
            </a:r>
          </a:p>
          <a:p>
            <a:pPr lvl="1"/>
            <a:r>
              <a:rPr lang="en-US" dirty="0">
                <a:ea typeface="ヒラギノ角ゴ Pro W3" pitchFamily="-108" charset="-128"/>
                <a:cs typeface="ヒラギノ角ゴ Pro W3" pitchFamily="-108" charset="-128"/>
              </a:rPr>
              <a:t>Memory Coalescing</a:t>
            </a:r>
          </a:p>
          <a:p>
            <a:pPr lvl="1"/>
            <a:r>
              <a:rPr lang="en-US" dirty="0">
                <a:ea typeface="ヒラギノ角ゴ Pro W3" pitchFamily="-108" charset="-128"/>
                <a:cs typeface="ヒラギノ角ゴ Pro W3" pitchFamily="-108" charset="-128"/>
              </a:rPr>
              <a:t>Shared Memory</a:t>
            </a:r>
          </a:p>
          <a:p>
            <a:pPr lvl="1"/>
            <a:endParaRPr lang="en-US" dirty="0">
              <a:ea typeface="ヒラギノ角ゴ Pro W3" pitchFamily="-108" charset="-128"/>
              <a:cs typeface="ヒラギノ角ゴ Pro W3" pitchFamily="-108" charset="-128"/>
            </a:endParaRPr>
          </a:p>
          <a:p>
            <a:r>
              <a:rPr lang="en-US" altLang="zh-CN" dirty="0">
                <a:ea typeface="ヒラギノ角ゴ Pro W3" pitchFamily="-108" charset="-128"/>
                <a:cs typeface="ヒラギノ角ゴ Pro W3" pitchFamily="-108" charset="-128"/>
              </a:rPr>
              <a:t>SIMT Efficiency</a:t>
            </a:r>
          </a:p>
          <a:p>
            <a:pPr lvl="1"/>
            <a:r>
              <a:rPr lang="en-US" altLang="zh-CN" dirty="0">
                <a:ea typeface="ヒラギノ角ゴ Pro W3" pitchFamily="-108" charset="-128"/>
                <a:cs typeface="ヒラギノ角ゴ Pro W3" pitchFamily="-108" charset="-128"/>
              </a:rPr>
              <a:t>Divergency</a:t>
            </a:r>
          </a:p>
          <a:p>
            <a:pPr lvl="1"/>
            <a:r>
              <a:rPr lang="en-US" altLang="zh-CN" dirty="0">
                <a:ea typeface="ヒラギノ角ゴ Pro W3" pitchFamily="-108" charset="-128"/>
                <a:cs typeface="ヒラギノ角ゴ Pro W3" pitchFamily="-108" charset="-128"/>
              </a:rPr>
              <a:t>Atomic</a:t>
            </a:r>
          </a:p>
          <a:p>
            <a:pPr lvl="1"/>
            <a:r>
              <a:rPr lang="en-US" altLang="zh-CN" dirty="0">
                <a:ea typeface="ヒラギノ角ゴ Pro W3" pitchFamily="-108" charset="-128"/>
                <a:cs typeface="ヒラギノ角ゴ Pro W3" pitchFamily="-108" charset="-128"/>
              </a:rPr>
              <a:t>CPU-GPU Transfer</a:t>
            </a:r>
          </a:p>
          <a:p>
            <a:pPr lvl="1"/>
            <a:endParaRPr lang="en-US" dirty="0">
              <a:ea typeface="ヒラギノ角ゴ Pro W3" pitchFamily="-108" charset="-128"/>
              <a:cs typeface="ヒラギノ角ゴ Pro W3" pitchFamily="-108" charset="-128"/>
            </a:endParaRPr>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31</a:t>
            </a:fld>
            <a:endParaRPr lang="en-US" altLang="en-US"/>
          </a:p>
        </p:txBody>
      </p:sp>
      <p:sp>
        <p:nvSpPr>
          <p:cNvPr id="5" name="Rectangle 4">
            <a:extLst>
              <a:ext uri="{FF2B5EF4-FFF2-40B4-BE49-F238E27FC236}">
                <a16:creationId xmlns:a16="http://schemas.microsoft.com/office/drawing/2014/main" id="{3EAB8116-126C-5648-BEF0-E6606F73B7C9}"/>
              </a:ext>
            </a:extLst>
          </p:cNvPr>
          <p:cNvSpPr>
            <a:spLocks noChangeArrowheads="1"/>
          </p:cNvSpPr>
          <p:nvPr/>
        </p:nvSpPr>
        <p:spPr bwMode="auto">
          <a:xfrm>
            <a:off x="293451" y="2286000"/>
            <a:ext cx="5410200" cy="444500"/>
          </a:xfrm>
          <a:prstGeom prst="rect">
            <a:avLst/>
          </a:prstGeom>
          <a:noFill/>
          <a:ln w="38100">
            <a:solidFill>
              <a:srgbClr val="FF0000"/>
            </a:solidFill>
            <a:miter lim="800000"/>
            <a:headEnd/>
            <a:tailEnd/>
          </a:ln>
          <a:effectLst>
            <a:outerShdw blurRad="63500" dist="23000" dir="5400000" rotWithShape="0">
              <a:srgbClr val="000000">
                <a:alpha val="34998"/>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Tahoma" charset="0"/>
              <a:ea typeface="ＭＳ Ｐゴシック" charset="-128"/>
              <a:cs typeface="+mn-cs"/>
            </a:endParaRPr>
          </a:p>
        </p:txBody>
      </p:sp>
    </p:spTree>
    <p:extLst>
      <p:ext uri="{BB962C8B-B14F-4D97-AF65-F5344CB8AC3E}">
        <p14:creationId xmlns:p14="http://schemas.microsoft.com/office/powerpoint/2010/main" val="3761790205"/>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a:extLst>
              <a:ext uri="{FF2B5EF4-FFF2-40B4-BE49-F238E27FC236}">
                <a16:creationId xmlns:a16="http://schemas.microsoft.com/office/drawing/2014/main" id="{382DADE0-873F-DC4C-A8BD-DBAA0EB1065E}"/>
              </a:ext>
            </a:extLst>
          </p:cNvPr>
          <p:cNvSpPr>
            <a:spLocks noGrp="1"/>
          </p:cNvSpPr>
          <p:nvPr>
            <p:ph type="title"/>
          </p:nvPr>
        </p:nvSpPr>
        <p:spPr/>
        <p:txBody>
          <a:bodyPr/>
          <a:lstStyle/>
          <a:p>
            <a:r>
              <a:rPr lang="en-US" altLang="en-US">
                <a:ea typeface="ＭＳ Ｐゴシック" panose="020B0600070205080204" pitchFamily="34" charset="-128"/>
              </a:rPr>
              <a:t>Latency Hiding via Warp-Level FGMT</a:t>
            </a:r>
          </a:p>
        </p:txBody>
      </p:sp>
      <p:sp>
        <p:nvSpPr>
          <p:cNvPr id="100354" name="Content Placeholder 2">
            <a:extLst>
              <a:ext uri="{FF2B5EF4-FFF2-40B4-BE49-F238E27FC236}">
                <a16:creationId xmlns:a16="http://schemas.microsoft.com/office/drawing/2014/main" id="{1776B76E-79CD-5D45-98BE-9742A2484220}"/>
              </a:ext>
            </a:extLst>
          </p:cNvPr>
          <p:cNvSpPr>
            <a:spLocks noGrp="1"/>
          </p:cNvSpPr>
          <p:nvPr>
            <p:ph idx="1"/>
          </p:nvPr>
        </p:nvSpPr>
        <p:spPr>
          <a:xfrm>
            <a:off x="228600" y="996950"/>
            <a:ext cx="4893318" cy="5194300"/>
          </a:xfrm>
        </p:spPr>
        <p:txBody>
          <a:bodyPr/>
          <a:lstStyle/>
          <a:p>
            <a:r>
              <a:rPr lang="en-US" altLang="en-US" b="1" dirty="0">
                <a:ea typeface="ＭＳ Ｐゴシック" panose="020B0600070205080204" pitchFamily="34" charset="-128"/>
              </a:rPr>
              <a:t>Warp</a:t>
            </a:r>
            <a:r>
              <a:rPr lang="en-US" altLang="en-US" dirty="0">
                <a:ea typeface="ＭＳ Ｐゴシック" panose="020B0600070205080204" pitchFamily="34" charset="-128"/>
              </a:rPr>
              <a:t>: A set of threads that execute the same instruction (on different data elements)</a:t>
            </a:r>
          </a:p>
          <a:p>
            <a:endParaRPr lang="en-US" altLang="en-US" dirty="0">
              <a:ea typeface="ＭＳ Ｐゴシック" panose="020B0600070205080204" pitchFamily="34" charset="-128"/>
            </a:endParaRPr>
          </a:p>
          <a:p>
            <a:pPr>
              <a:lnSpc>
                <a:spcPct val="90000"/>
              </a:lnSpc>
            </a:pPr>
            <a:r>
              <a:rPr lang="en-CA" altLang="ja-JP" b="1" dirty="0">
                <a:ea typeface="ＭＳ Ｐゴシック" panose="020B0600070205080204" pitchFamily="34" charset="-128"/>
              </a:rPr>
              <a:t>Fine-grained multithreading</a:t>
            </a:r>
          </a:p>
          <a:p>
            <a:pPr lvl="1"/>
            <a:r>
              <a:rPr lang="en-US" altLang="en-US" sz="2000" dirty="0">
                <a:ea typeface="ＭＳ Ｐゴシック" panose="020B0600070205080204" pitchFamily="34" charset="-128"/>
              </a:rPr>
              <a:t>One instruction per thread in pipeline at a time (No interlocking)</a:t>
            </a:r>
          </a:p>
          <a:p>
            <a:pPr lvl="1"/>
            <a:r>
              <a:rPr lang="en-US" altLang="en-US" sz="2000" dirty="0">
                <a:ea typeface="ＭＳ Ｐゴシック" panose="020B0600070205080204" pitchFamily="34" charset="-128"/>
              </a:rPr>
              <a:t>Interleav</a:t>
            </a:r>
            <a:r>
              <a:rPr lang="en-US" altLang="zh-CN" sz="2000" dirty="0">
                <a:ea typeface="ＭＳ Ｐゴシック" panose="020B0600070205080204" pitchFamily="34" charset="-128"/>
              </a:rPr>
              <a:t>ing</a:t>
            </a:r>
            <a:r>
              <a:rPr lang="en-US" altLang="en-US" sz="2000" dirty="0">
                <a:ea typeface="ＭＳ Ｐゴシック" panose="020B0600070205080204" pitchFamily="34" charset="-128"/>
              </a:rPr>
              <a:t> warp execution to hide latencies</a:t>
            </a:r>
          </a:p>
          <a:p>
            <a:r>
              <a:rPr lang="en-US" altLang="en-US" sz="2000" dirty="0">
                <a:ea typeface="ＭＳ Ｐゴシック" panose="020B0600070205080204" pitchFamily="34" charset="-128"/>
              </a:rPr>
              <a:t>Register values of all threads stay in register file</a:t>
            </a:r>
          </a:p>
          <a:p>
            <a:r>
              <a:rPr lang="en-US" altLang="en-US" sz="2000" dirty="0">
                <a:solidFill>
                  <a:srgbClr val="FF0000"/>
                </a:solidFill>
                <a:ea typeface="ＭＳ Ｐゴシック" panose="020B0600070205080204" pitchFamily="34" charset="-128"/>
              </a:rPr>
              <a:t>FGMT enables long latency tolerance</a:t>
            </a:r>
          </a:p>
          <a:p>
            <a:pPr lvl="1"/>
            <a:r>
              <a:rPr lang="en-US" altLang="en-US" sz="1800" dirty="0">
                <a:ea typeface="ＭＳ Ｐゴシック" panose="020B0600070205080204" pitchFamily="34" charset="-128"/>
              </a:rPr>
              <a:t>Millions of pixels </a:t>
            </a:r>
          </a:p>
        </p:txBody>
      </p:sp>
      <p:sp>
        <p:nvSpPr>
          <p:cNvPr id="63491" name="Slide Number Placeholder 3">
            <a:extLst>
              <a:ext uri="{FF2B5EF4-FFF2-40B4-BE49-F238E27FC236}">
                <a16:creationId xmlns:a16="http://schemas.microsoft.com/office/drawing/2014/main" id="{261CCAFF-BE26-884E-AF2C-823D5C68ED3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709DDD4-DC23-E44E-91C0-ABDC87AEE372}"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grpSp>
        <p:nvGrpSpPr>
          <p:cNvPr id="63492" name="Group 4">
            <a:extLst>
              <a:ext uri="{FF2B5EF4-FFF2-40B4-BE49-F238E27FC236}">
                <a16:creationId xmlns:a16="http://schemas.microsoft.com/office/drawing/2014/main" id="{A19BA67A-7642-BC44-AF7D-D31E1EE9530F}"/>
              </a:ext>
            </a:extLst>
          </p:cNvPr>
          <p:cNvGrpSpPr>
            <a:grpSpLocks/>
          </p:cNvGrpSpPr>
          <p:nvPr/>
        </p:nvGrpSpPr>
        <p:grpSpPr bwMode="auto">
          <a:xfrm>
            <a:off x="5105400" y="1552018"/>
            <a:ext cx="3870325" cy="4456112"/>
            <a:chOff x="2976" y="950"/>
            <a:chExt cx="2438" cy="2807"/>
          </a:xfrm>
        </p:grpSpPr>
        <p:sp>
          <p:nvSpPr>
            <p:cNvPr id="63494" name="AutoShape 5">
              <a:extLst>
                <a:ext uri="{FF2B5EF4-FFF2-40B4-BE49-F238E27FC236}">
                  <a16:creationId xmlns:a16="http://schemas.microsoft.com/office/drawing/2014/main" id="{4836A043-7607-C24E-8860-F3130D0B6BB2}"/>
                </a:ext>
              </a:extLst>
            </p:cNvPr>
            <p:cNvSpPr>
              <a:spLocks noChangeAspect="1" noChangeArrowheads="1" noTextEdit="1"/>
            </p:cNvSpPr>
            <p:nvPr/>
          </p:nvSpPr>
          <p:spPr bwMode="auto">
            <a:xfrm>
              <a:off x="2976" y="960"/>
              <a:ext cx="2406" cy="2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495" name="Rectangle 6">
              <a:extLst>
                <a:ext uri="{FF2B5EF4-FFF2-40B4-BE49-F238E27FC236}">
                  <a16:creationId xmlns:a16="http://schemas.microsoft.com/office/drawing/2014/main" id="{D31E52DD-5B33-D44B-BC0D-DCD0790B2E71}"/>
                </a:ext>
              </a:extLst>
            </p:cNvPr>
            <p:cNvSpPr>
              <a:spLocks noChangeArrowheads="1"/>
            </p:cNvSpPr>
            <p:nvPr/>
          </p:nvSpPr>
          <p:spPr bwMode="auto">
            <a:xfrm>
              <a:off x="3079" y="1735"/>
              <a:ext cx="1125" cy="1949"/>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496" name="Rectangle 7">
              <a:extLst>
                <a:ext uri="{FF2B5EF4-FFF2-40B4-BE49-F238E27FC236}">
                  <a16:creationId xmlns:a16="http://schemas.microsoft.com/office/drawing/2014/main" id="{3D785802-BFC5-A745-B4DB-9D549EB2D88D}"/>
                </a:ext>
              </a:extLst>
            </p:cNvPr>
            <p:cNvSpPr>
              <a:spLocks noChangeArrowheads="1"/>
            </p:cNvSpPr>
            <p:nvPr/>
          </p:nvSpPr>
          <p:spPr bwMode="auto">
            <a:xfrm>
              <a:off x="3079" y="1735"/>
              <a:ext cx="1125" cy="1949"/>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497" name="Rectangle 8">
              <a:extLst>
                <a:ext uri="{FF2B5EF4-FFF2-40B4-BE49-F238E27FC236}">
                  <a16:creationId xmlns:a16="http://schemas.microsoft.com/office/drawing/2014/main" id="{F656F4D3-75FC-4242-9495-6B29679BA1B0}"/>
                </a:ext>
              </a:extLst>
            </p:cNvPr>
            <p:cNvSpPr>
              <a:spLocks noChangeArrowheads="1"/>
            </p:cNvSpPr>
            <p:nvPr/>
          </p:nvSpPr>
          <p:spPr bwMode="auto">
            <a:xfrm>
              <a:off x="3166" y="2038"/>
              <a:ext cx="951" cy="13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498" name="Rectangle 9">
              <a:extLst>
                <a:ext uri="{FF2B5EF4-FFF2-40B4-BE49-F238E27FC236}">
                  <a16:creationId xmlns:a16="http://schemas.microsoft.com/office/drawing/2014/main" id="{C17EA225-A104-6347-BEB4-F27C723E3EF4}"/>
                </a:ext>
              </a:extLst>
            </p:cNvPr>
            <p:cNvSpPr>
              <a:spLocks noChangeArrowheads="1"/>
            </p:cNvSpPr>
            <p:nvPr/>
          </p:nvSpPr>
          <p:spPr bwMode="auto">
            <a:xfrm>
              <a:off x="3166" y="2038"/>
              <a:ext cx="951" cy="130"/>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499" name="Rectangle 10">
              <a:extLst>
                <a:ext uri="{FF2B5EF4-FFF2-40B4-BE49-F238E27FC236}">
                  <a16:creationId xmlns:a16="http://schemas.microsoft.com/office/drawing/2014/main" id="{17273952-E54E-4F44-B778-3C535E20B99A}"/>
                </a:ext>
              </a:extLst>
            </p:cNvPr>
            <p:cNvSpPr>
              <a:spLocks noChangeArrowheads="1"/>
            </p:cNvSpPr>
            <p:nvPr/>
          </p:nvSpPr>
          <p:spPr bwMode="auto">
            <a:xfrm>
              <a:off x="3444" y="2035"/>
              <a:ext cx="41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Decode</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00" name="Rectangle 11">
              <a:extLst>
                <a:ext uri="{FF2B5EF4-FFF2-40B4-BE49-F238E27FC236}">
                  <a16:creationId xmlns:a16="http://schemas.microsoft.com/office/drawing/2014/main" id="{6822130B-2EB9-9648-9394-5F3E1FBE7876}"/>
                </a:ext>
              </a:extLst>
            </p:cNvPr>
            <p:cNvSpPr>
              <a:spLocks noChangeArrowheads="1"/>
            </p:cNvSpPr>
            <p:nvPr/>
          </p:nvSpPr>
          <p:spPr bwMode="auto">
            <a:xfrm>
              <a:off x="3166" y="2255"/>
              <a:ext cx="173" cy="26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01" name="Rectangle 12">
              <a:extLst>
                <a:ext uri="{FF2B5EF4-FFF2-40B4-BE49-F238E27FC236}">
                  <a16:creationId xmlns:a16="http://schemas.microsoft.com/office/drawing/2014/main" id="{CC5A43EE-56FB-5F43-B1CD-B30570819031}"/>
                </a:ext>
              </a:extLst>
            </p:cNvPr>
            <p:cNvSpPr>
              <a:spLocks noChangeArrowheads="1"/>
            </p:cNvSpPr>
            <p:nvPr/>
          </p:nvSpPr>
          <p:spPr bwMode="auto">
            <a:xfrm>
              <a:off x="3166" y="2255"/>
              <a:ext cx="173" cy="260"/>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02" name="Rectangle 13">
              <a:extLst>
                <a:ext uri="{FF2B5EF4-FFF2-40B4-BE49-F238E27FC236}">
                  <a16:creationId xmlns:a16="http://schemas.microsoft.com/office/drawing/2014/main" id="{289347E0-0660-EF4C-9ED2-1855B1F9FB31}"/>
                </a:ext>
              </a:extLst>
            </p:cNvPr>
            <p:cNvSpPr>
              <a:spLocks noChangeArrowheads="1"/>
            </p:cNvSpPr>
            <p:nvPr/>
          </p:nvSpPr>
          <p:spPr bwMode="auto">
            <a:xfrm rot="5400000">
              <a:off x="3215" y="2287"/>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03" name="Rectangle 14">
              <a:extLst>
                <a:ext uri="{FF2B5EF4-FFF2-40B4-BE49-F238E27FC236}">
                  <a16:creationId xmlns:a16="http://schemas.microsoft.com/office/drawing/2014/main" id="{9696E501-07B7-2D4B-BC68-B0F1572F6A69}"/>
                </a:ext>
              </a:extLst>
            </p:cNvPr>
            <p:cNvSpPr>
              <a:spLocks noChangeArrowheads="1"/>
            </p:cNvSpPr>
            <p:nvPr/>
          </p:nvSpPr>
          <p:spPr bwMode="auto">
            <a:xfrm rot="5400000">
              <a:off x="3222" y="2350"/>
              <a:ext cx="7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04" name="Rectangle 15">
              <a:extLst>
                <a:ext uri="{FF2B5EF4-FFF2-40B4-BE49-F238E27FC236}">
                  <a16:creationId xmlns:a16="http://schemas.microsoft.com/office/drawing/2014/main" id="{9A4B3488-F90C-4C4E-A061-104A96E99A50}"/>
                </a:ext>
              </a:extLst>
            </p:cNvPr>
            <p:cNvSpPr>
              <a:spLocks noChangeArrowheads="1"/>
            </p:cNvSpPr>
            <p:nvPr/>
          </p:nvSpPr>
          <p:spPr bwMode="auto">
            <a:xfrm>
              <a:off x="3944" y="2255"/>
              <a:ext cx="173" cy="26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05" name="Rectangle 16">
              <a:extLst>
                <a:ext uri="{FF2B5EF4-FFF2-40B4-BE49-F238E27FC236}">
                  <a16:creationId xmlns:a16="http://schemas.microsoft.com/office/drawing/2014/main" id="{91DB80FD-9F97-FF44-8939-AB0C93166026}"/>
                </a:ext>
              </a:extLst>
            </p:cNvPr>
            <p:cNvSpPr>
              <a:spLocks noChangeArrowheads="1"/>
            </p:cNvSpPr>
            <p:nvPr/>
          </p:nvSpPr>
          <p:spPr bwMode="auto">
            <a:xfrm>
              <a:off x="3944" y="2255"/>
              <a:ext cx="173" cy="260"/>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06" name="Rectangle 17">
              <a:extLst>
                <a:ext uri="{FF2B5EF4-FFF2-40B4-BE49-F238E27FC236}">
                  <a16:creationId xmlns:a16="http://schemas.microsoft.com/office/drawing/2014/main" id="{B48D4D9A-D4B6-664A-93EC-AABA590DA1C5}"/>
                </a:ext>
              </a:extLst>
            </p:cNvPr>
            <p:cNvSpPr>
              <a:spLocks noChangeArrowheads="1"/>
            </p:cNvSpPr>
            <p:nvPr/>
          </p:nvSpPr>
          <p:spPr bwMode="auto">
            <a:xfrm rot="5400000">
              <a:off x="3997" y="2280"/>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07" name="Rectangle 18">
              <a:extLst>
                <a:ext uri="{FF2B5EF4-FFF2-40B4-BE49-F238E27FC236}">
                  <a16:creationId xmlns:a16="http://schemas.microsoft.com/office/drawing/2014/main" id="{CE537CFC-96E0-CA46-BEF5-91D639E1BF2E}"/>
                </a:ext>
              </a:extLst>
            </p:cNvPr>
            <p:cNvSpPr>
              <a:spLocks noChangeArrowheads="1"/>
            </p:cNvSpPr>
            <p:nvPr/>
          </p:nvSpPr>
          <p:spPr bwMode="auto">
            <a:xfrm rot="5400000">
              <a:off x="4004" y="2343"/>
              <a:ext cx="7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08" name="Rectangle 19">
              <a:extLst>
                <a:ext uri="{FF2B5EF4-FFF2-40B4-BE49-F238E27FC236}">
                  <a16:creationId xmlns:a16="http://schemas.microsoft.com/office/drawing/2014/main" id="{399B4D6C-3D37-2043-8EB4-283C17C2451F}"/>
                </a:ext>
              </a:extLst>
            </p:cNvPr>
            <p:cNvSpPr>
              <a:spLocks noChangeArrowheads="1"/>
            </p:cNvSpPr>
            <p:nvPr/>
          </p:nvSpPr>
          <p:spPr bwMode="auto">
            <a:xfrm>
              <a:off x="3425" y="2255"/>
              <a:ext cx="173" cy="26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09" name="Rectangle 20">
              <a:extLst>
                <a:ext uri="{FF2B5EF4-FFF2-40B4-BE49-F238E27FC236}">
                  <a16:creationId xmlns:a16="http://schemas.microsoft.com/office/drawing/2014/main" id="{42B086BD-BCC3-9147-91C4-25D46A1DBE7F}"/>
                </a:ext>
              </a:extLst>
            </p:cNvPr>
            <p:cNvSpPr>
              <a:spLocks noChangeArrowheads="1"/>
            </p:cNvSpPr>
            <p:nvPr/>
          </p:nvSpPr>
          <p:spPr bwMode="auto">
            <a:xfrm>
              <a:off x="3425" y="2255"/>
              <a:ext cx="173" cy="260"/>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10" name="Rectangle 21">
              <a:extLst>
                <a:ext uri="{FF2B5EF4-FFF2-40B4-BE49-F238E27FC236}">
                  <a16:creationId xmlns:a16="http://schemas.microsoft.com/office/drawing/2014/main" id="{2B2BF338-72CF-F649-BB90-7747D8CF165E}"/>
                </a:ext>
              </a:extLst>
            </p:cNvPr>
            <p:cNvSpPr>
              <a:spLocks noChangeArrowheads="1"/>
            </p:cNvSpPr>
            <p:nvPr/>
          </p:nvSpPr>
          <p:spPr bwMode="auto">
            <a:xfrm rot="5400000">
              <a:off x="3481" y="2287"/>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11" name="Rectangle 22">
              <a:extLst>
                <a:ext uri="{FF2B5EF4-FFF2-40B4-BE49-F238E27FC236}">
                  <a16:creationId xmlns:a16="http://schemas.microsoft.com/office/drawing/2014/main" id="{5A020C80-17B6-C94B-8FE3-DD1D01B4188A}"/>
                </a:ext>
              </a:extLst>
            </p:cNvPr>
            <p:cNvSpPr>
              <a:spLocks noChangeArrowheads="1"/>
            </p:cNvSpPr>
            <p:nvPr/>
          </p:nvSpPr>
          <p:spPr bwMode="auto">
            <a:xfrm rot="5400000">
              <a:off x="3488" y="2350"/>
              <a:ext cx="7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12" name="Line 23">
              <a:extLst>
                <a:ext uri="{FF2B5EF4-FFF2-40B4-BE49-F238E27FC236}">
                  <a16:creationId xmlns:a16="http://schemas.microsoft.com/office/drawing/2014/main" id="{05CF951A-CBC3-E74E-AA72-46B81EA8474A}"/>
                </a:ext>
              </a:extLst>
            </p:cNvPr>
            <p:cNvSpPr>
              <a:spLocks noChangeShapeType="1"/>
            </p:cNvSpPr>
            <p:nvPr/>
          </p:nvSpPr>
          <p:spPr bwMode="auto">
            <a:xfrm>
              <a:off x="3641" y="1951"/>
              <a:ext cx="1" cy="33"/>
            </a:xfrm>
            <a:prstGeom prst="line">
              <a:avLst/>
            </a:prstGeom>
            <a:noFill/>
            <a:ln w="17463" cap="rnd">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13" name="Freeform 24">
              <a:extLst>
                <a:ext uri="{FF2B5EF4-FFF2-40B4-BE49-F238E27FC236}">
                  <a16:creationId xmlns:a16="http://schemas.microsoft.com/office/drawing/2014/main" id="{6C0149AA-2802-CA4C-B7FB-C7E186E0D155}"/>
                </a:ext>
              </a:extLst>
            </p:cNvPr>
            <p:cNvSpPr>
              <a:spLocks/>
            </p:cNvSpPr>
            <p:nvPr/>
          </p:nvSpPr>
          <p:spPr bwMode="auto">
            <a:xfrm>
              <a:off x="3606" y="1967"/>
              <a:ext cx="71" cy="71"/>
            </a:xfrm>
            <a:custGeom>
              <a:avLst/>
              <a:gdLst>
                <a:gd name="T0" fmla="*/ 0 w 164"/>
                <a:gd name="T1" fmla="*/ 0 h 164"/>
                <a:gd name="T2" fmla="*/ 0 w 164"/>
                <a:gd name="T3" fmla="*/ 0 h 164"/>
                <a:gd name="T4" fmla="*/ 0 w 164"/>
                <a:gd name="T5" fmla="*/ 0 h 164"/>
                <a:gd name="T6" fmla="*/ 0 w 164"/>
                <a:gd name="T7" fmla="*/ 0 h 164"/>
                <a:gd name="T8" fmla="*/ 0 60000 65536"/>
                <a:gd name="T9" fmla="*/ 0 60000 65536"/>
                <a:gd name="T10" fmla="*/ 0 60000 65536"/>
                <a:gd name="T11" fmla="*/ 0 60000 65536"/>
                <a:gd name="T12" fmla="*/ 0 w 164"/>
                <a:gd name="T13" fmla="*/ 0 h 164"/>
                <a:gd name="T14" fmla="*/ 164 w 164"/>
                <a:gd name="T15" fmla="*/ 164 h 164"/>
              </a:gdLst>
              <a:ahLst/>
              <a:cxnLst>
                <a:cxn ang="T8">
                  <a:pos x="T0" y="T1"/>
                </a:cxn>
                <a:cxn ang="T9">
                  <a:pos x="T2" y="T3"/>
                </a:cxn>
                <a:cxn ang="T10">
                  <a:pos x="T4" y="T5"/>
                </a:cxn>
                <a:cxn ang="T11">
                  <a:pos x="T6" y="T7"/>
                </a:cxn>
              </a:cxnLst>
              <a:rect l="T12" t="T13" r="T14" b="T15"/>
              <a:pathLst>
                <a:path w="164" h="164">
                  <a:moveTo>
                    <a:pt x="82" y="164"/>
                  </a:moveTo>
                  <a:lnTo>
                    <a:pt x="0" y="0"/>
                  </a:lnTo>
                  <a:cubicBezTo>
                    <a:pt x="52" y="26"/>
                    <a:pt x="113" y="26"/>
                    <a:pt x="164" y="0"/>
                  </a:cubicBezTo>
                  <a:lnTo>
                    <a:pt x="82" y="164"/>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14" name="Rectangle 25">
              <a:extLst>
                <a:ext uri="{FF2B5EF4-FFF2-40B4-BE49-F238E27FC236}">
                  <a16:creationId xmlns:a16="http://schemas.microsoft.com/office/drawing/2014/main" id="{E02AA9D1-020E-FF46-8670-6254ABAC7DEC}"/>
                </a:ext>
              </a:extLst>
            </p:cNvPr>
            <p:cNvSpPr>
              <a:spLocks noChangeArrowheads="1"/>
            </p:cNvSpPr>
            <p:nvPr/>
          </p:nvSpPr>
          <p:spPr bwMode="auto">
            <a:xfrm>
              <a:off x="3166" y="2601"/>
              <a:ext cx="173" cy="26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15" name="Rectangle 26">
              <a:extLst>
                <a:ext uri="{FF2B5EF4-FFF2-40B4-BE49-F238E27FC236}">
                  <a16:creationId xmlns:a16="http://schemas.microsoft.com/office/drawing/2014/main" id="{87EF70EF-5E40-F345-A150-CE22769D4B5C}"/>
                </a:ext>
              </a:extLst>
            </p:cNvPr>
            <p:cNvSpPr>
              <a:spLocks noChangeArrowheads="1"/>
            </p:cNvSpPr>
            <p:nvPr/>
          </p:nvSpPr>
          <p:spPr bwMode="auto">
            <a:xfrm>
              <a:off x="3166" y="2601"/>
              <a:ext cx="173" cy="260"/>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16" name="Rectangle 27">
              <a:extLst>
                <a:ext uri="{FF2B5EF4-FFF2-40B4-BE49-F238E27FC236}">
                  <a16:creationId xmlns:a16="http://schemas.microsoft.com/office/drawing/2014/main" id="{0465929B-E2A2-774C-96C0-6E6A08D9CE01}"/>
                </a:ext>
              </a:extLst>
            </p:cNvPr>
            <p:cNvSpPr>
              <a:spLocks noChangeArrowheads="1"/>
            </p:cNvSpPr>
            <p:nvPr/>
          </p:nvSpPr>
          <p:spPr bwMode="auto">
            <a:xfrm rot="5400000">
              <a:off x="3219" y="2605"/>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17" name="Rectangle 28">
              <a:extLst>
                <a:ext uri="{FF2B5EF4-FFF2-40B4-BE49-F238E27FC236}">
                  <a16:creationId xmlns:a16="http://schemas.microsoft.com/office/drawing/2014/main" id="{64D9F7F2-E1E1-B946-8EC2-6F5FFC7EE468}"/>
                </a:ext>
              </a:extLst>
            </p:cNvPr>
            <p:cNvSpPr>
              <a:spLocks noChangeArrowheads="1"/>
            </p:cNvSpPr>
            <p:nvPr/>
          </p:nvSpPr>
          <p:spPr bwMode="auto">
            <a:xfrm rot="5400000">
              <a:off x="3225" y="2661"/>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L</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18" name="Rectangle 29">
              <a:extLst>
                <a:ext uri="{FF2B5EF4-FFF2-40B4-BE49-F238E27FC236}">
                  <a16:creationId xmlns:a16="http://schemas.microsoft.com/office/drawing/2014/main" id="{970E3B59-2D7D-5540-8D09-A5F26C8B80F4}"/>
                </a:ext>
              </a:extLst>
            </p:cNvPr>
            <p:cNvSpPr>
              <a:spLocks noChangeArrowheads="1"/>
            </p:cNvSpPr>
            <p:nvPr/>
          </p:nvSpPr>
          <p:spPr bwMode="auto">
            <a:xfrm rot="5400000">
              <a:off x="3215" y="2726"/>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19" name="Rectangle 30">
              <a:extLst>
                <a:ext uri="{FF2B5EF4-FFF2-40B4-BE49-F238E27FC236}">
                  <a16:creationId xmlns:a16="http://schemas.microsoft.com/office/drawing/2014/main" id="{1D337B57-A267-544F-BB19-F783085F23E1}"/>
                </a:ext>
              </a:extLst>
            </p:cNvPr>
            <p:cNvSpPr>
              <a:spLocks noChangeArrowheads="1"/>
            </p:cNvSpPr>
            <p:nvPr/>
          </p:nvSpPr>
          <p:spPr bwMode="auto">
            <a:xfrm>
              <a:off x="3425" y="2601"/>
              <a:ext cx="173" cy="26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20" name="Rectangle 31">
              <a:extLst>
                <a:ext uri="{FF2B5EF4-FFF2-40B4-BE49-F238E27FC236}">
                  <a16:creationId xmlns:a16="http://schemas.microsoft.com/office/drawing/2014/main" id="{BA4FC8D7-2EAD-F545-A594-708D466D1B74}"/>
                </a:ext>
              </a:extLst>
            </p:cNvPr>
            <p:cNvSpPr>
              <a:spLocks noChangeArrowheads="1"/>
            </p:cNvSpPr>
            <p:nvPr/>
          </p:nvSpPr>
          <p:spPr bwMode="auto">
            <a:xfrm>
              <a:off x="3425" y="2601"/>
              <a:ext cx="173" cy="260"/>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21" name="Rectangle 32">
              <a:extLst>
                <a:ext uri="{FF2B5EF4-FFF2-40B4-BE49-F238E27FC236}">
                  <a16:creationId xmlns:a16="http://schemas.microsoft.com/office/drawing/2014/main" id="{A58D15DD-F564-E14D-AE3F-E18CC6F3A2BD}"/>
                </a:ext>
              </a:extLst>
            </p:cNvPr>
            <p:cNvSpPr>
              <a:spLocks noChangeArrowheads="1"/>
            </p:cNvSpPr>
            <p:nvPr/>
          </p:nvSpPr>
          <p:spPr bwMode="auto">
            <a:xfrm rot="5400000">
              <a:off x="3485" y="2605"/>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22" name="Rectangle 33">
              <a:extLst>
                <a:ext uri="{FF2B5EF4-FFF2-40B4-BE49-F238E27FC236}">
                  <a16:creationId xmlns:a16="http://schemas.microsoft.com/office/drawing/2014/main" id="{5140AF8B-0E67-6940-A01D-A856F4743DBF}"/>
                </a:ext>
              </a:extLst>
            </p:cNvPr>
            <p:cNvSpPr>
              <a:spLocks noChangeArrowheads="1"/>
            </p:cNvSpPr>
            <p:nvPr/>
          </p:nvSpPr>
          <p:spPr bwMode="auto">
            <a:xfrm rot="5400000">
              <a:off x="3491" y="2661"/>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L</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23" name="Rectangle 34">
              <a:extLst>
                <a:ext uri="{FF2B5EF4-FFF2-40B4-BE49-F238E27FC236}">
                  <a16:creationId xmlns:a16="http://schemas.microsoft.com/office/drawing/2014/main" id="{3D243E21-49DE-BA43-ABEB-89BD54A7EC01}"/>
                </a:ext>
              </a:extLst>
            </p:cNvPr>
            <p:cNvSpPr>
              <a:spLocks noChangeArrowheads="1"/>
            </p:cNvSpPr>
            <p:nvPr/>
          </p:nvSpPr>
          <p:spPr bwMode="auto">
            <a:xfrm rot="5400000">
              <a:off x="3481" y="2726"/>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24" name="Rectangle 35">
              <a:extLst>
                <a:ext uri="{FF2B5EF4-FFF2-40B4-BE49-F238E27FC236}">
                  <a16:creationId xmlns:a16="http://schemas.microsoft.com/office/drawing/2014/main" id="{57BFFBE5-61B2-6641-B1A5-156344A6C7F5}"/>
                </a:ext>
              </a:extLst>
            </p:cNvPr>
            <p:cNvSpPr>
              <a:spLocks noChangeArrowheads="1"/>
            </p:cNvSpPr>
            <p:nvPr/>
          </p:nvSpPr>
          <p:spPr bwMode="auto">
            <a:xfrm>
              <a:off x="3944" y="2601"/>
              <a:ext cx="173" cy="26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25" name="Rectangle 36">
              <a:extLst>
                <a:ext uri="{FF2B5EF4-FFF2-40B4-BE49-F238E27FC236}">
                  <a16:creationId xmlns:a16="http://schemas.microsoft.com/office/drawing/2014/main" id="{B856395B-E110-F747-A137-8F76B2CF5B65}"/>
                </a:ext>
              </a:extLst>
            </p:cNvPr>
            <p:cNvSpPr>
              <a:spLocks noChangeArrowheads="1"/>
            </p:cNvSpPr>
            <p:nvPr/>
          </p:nvSpPr>
          <p:spPr bwMode="auto">
            <a:xfrm>
              <a:off x="3944" y="2601"/>
              <a:ext cx="173" cy="260"/>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26" name="Rectangle 37">
              <a:extLst>
                <a:ext uri="{FF2B5EF4-FFF2-40B4-BE49-F238E27FC236}">
                  <a16:creationId xmlns:a16="http://schemas.microsoft.com/office/drawing/2014/main" id="{E88CF8EB-5829-1A47-9583-AF6C300B17E8}"/>
                </a:ext>
              </a:extLst>
            </p:cNvPr>
            <p:cNvSpPr>
              <a:spLocks noChangeArrowheads="1"/>
            </p:cNvSpPr>
            <p:nvPr/>
          </p:nvSpPr>
          <p:spPr bwMode="auto">
            <a:xfrm rot="5400000">
              <a:off x="4001" y="2605"/>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27" name="Rectangle 38">
              <a:extLst>
                <a:ext uri="{FF2B5EF4-FFF2-40B4-BE49-F238E27FC236}">
                  <a16:creationId xmlns:a16="http://schemas.microsoft.com/office/drawing/2014/main" id="{742C163C-ADB0-994D-8AD0-868E346EECC3}"/>
                </a:ext>
              </a:extLst>
            </p:cNvPr>
            <p:cNvSpPr>
              <a:spLocks noChangeArrowheads="1"/>
            </p:cNvSpPr>
            <p:nvPr/>
          </p:nvSpPr>
          <p:spPr bwMode="auto">
            <a:xfrm rot="5400000">
              <a:off x="4007" y="2661"/>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L</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28" name="Rectangle 39">
              <a:extLst>
                <a:ext uri="{FF2B5EF4-FFF2-40B4-BE49-F238E27FC236}">
                  <a16:creationId xmlns:a16="http://schemas.microsoft.com/office/drawing/2014/main" id="{9FE2840E-42A0-0E4F-8150-59D0848C4EEA}"/>
                </a:ext>
              </a:extLst>
            </p:cNvPr>
            <p:cNvSpPr>
              <a:spLocks noChangeArrowheads="1"/>
            </p:cNvSpPr>
            <p:nvPr/>
          </p:nvSpPr>
          <p:spPr bwMode="auto">
            <a:xfrm rot="5400000">
              <a:off x="3997" y="2726"/>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29" name="Line 40">
              <a:extLst>
                <a:ext uri="{FF2B5EF4-FFF2-40B4-BE49-F238E27FC236}">
                  <a16:creationId xmlns:a16="http://schemas.microsoft.com/office/drawing/2014/main" id="{6471AB7C-8396-494C-B272-D4AA9023348D}"/>
                </a:ext>
              </a:extLst>
            </p:cNvPr>
            <p:cNvSpPr>
              <a:spLocks noChangeShapeType="1"/>
            </p:cNvSpPr>
            <p:nvPr/>
          </p:nvSpPr>
          <p:spPr bwMode="auto">
            <a:xfrm>
              <a:off x="3252" y="2515"/>
              <a:ext cx="1" cy="39"/>
            </a:xfrm>
            <a:prstGeom prst="line">
              <a:avLst/>
            </a:prstGeom>
            <a:noFill/>
            <a:ln w="11113" cap="rnd">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30" name="Freeform 41">
              <a:extLst>
                <a:ext uri="{FF2B5EF4-FFF2-40B4-BE49-F238E27FC236}">
                  <a16:creationId xmlns:a16="http://schemas.microsoft.com/office/drawing/2014/main" id="{48E449FF-7534-D74E-B113-CD60ACF15378}"/>
                </a:ext>
              </a:extLst>
            </p:cNvPr>
            <p:cNvSpPr>
              <a:spLocks/>
            </p:cNvSpPr>
            <p:nvPr/>
          </p:nvSpPr>
          <p:spPr bwMode="auto">
            <a:xfrm>
              <a:off x="3221" y="2539"/>
              <a:ext cx="63" cy="62"/>
            </a:xfrm>
            <a:custGeom>
              <a:avLst/>
              <a:gdLst>
                <a:gd name="T0" fmla="*/ 0 w 143"/>
                <a:gd name="T1" fmla="*/ 0 h 143"/>
                <a:gd name="T2" fmla="*/ 0 w 143"/>
                <a:gd name="T3" fmla="*/ 0 h 143"/>
                <a:gd name="T4" fmla="*/ 0 w 143"/>
                <a:gd name="T5" fmla="*/ 0 h 143"/>
                <a:gd name="T6" fmla="*/ 0 w 143"/>
                <a:gd name="T7" fmla="*/ 0 h 143"/>
                <a:gd name="T8" fmla="*/ 0 60000 65536"/>
                <a:gd name="T9" fmla="*/ 0 60000 65536"/>
                <a:gd name="T10" fmla="*/ 0 60000 65536"/>
                <a:gd name="T11" fmla="*/ 0 60000 65536"/>
                <a:gd name="T12" fmla="*/ 0 w 143"/>
                <a:gd name="T13" fmla="*/ 0 h 143"/>
                <a:gd name="T14" fmla="*/ 143 w 143"/>
                <a:gd name="T15" fmla="*/ 143 h 143"/>
              </a:gdLst>
              <a:ahLst/>
              <a:cxnLst>
                <a:cxn ang="T8">
                  <a:pos x="T0" y="T1"/>
                </a:cxn>
                <a:cxn ang="T9">
                  <a:pos x="T2" y="T3"/>
                </a:cxn>
                <a:cxn ang="T10">
                  <a:pos x="T4" y="T5"/>
                </a:cxn>
                <a:cxn ang="T11">
                  <a:pos x="T6" y="T7"/>
                </a:cxn>
              </a:cxnLst>
              <a:rect l="T12" t="T13" r="T14" b="T15"/>
              <a:pathLst>
                <a:path w="143" h="143">
                  <a:moveTo>
                    <a:pt x="71" y="143"/>
                  </a:moveTo>
                  <a:lnTo>
                    <a:pt x="0" y="0"/>
                  </a:lnTo>
                  <a:cubicBezTo>
                    <a:pt x="45" y="22"/>
                    <a:pt x="98" y="22"/>
                    <a:pt x="143" y="0"/>
                  </a:cubicBezTo>
                  <a:lnTo>
                    <a:pt x="71" y="143"/>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31" name="Line 42">
              <a:extLst>
                <a:ext uri="{FF2B5EF4-FFF2-40B4-BE49-F238E27FC236}">
                  <a16:creationId xmlns:a16="http://schemas.microsoft.com/office/drawing/2014/main" id="{D7A0697C-5A55-C545-AD5C-1567BAC56717}"/>
                </a:ext>
              </a:extLst>
            </p:cNvPr>
            <p:cNvSpPr>
              <a:spLocks noChangeShapeType="1"/>
            </p:cNvSpPr>
            <p:nvPr/>
          </p:nvSpPr>
          <p:spPr bwMode="auto">
            <a:xfrm>
              <a:off x="3512" y="2515"/>
              <a:ext cx="1" cy="39"/>
            </a:xfrm>
            <a:prstGeom prst="line">
              <a:avLst/>
            </a:prstGeom>
            <a:noFill/>
            <a:ln w="11113" cap="rnd">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32" name="Freeform 43">
              <a:extLst>
                <a:ext uri="{FF2B5EF4-FFF2-40B4-BE49-F238E27FC236}">
                  <a16:creationId xmlns:a16="http://schemas.microsoft.com/office/drawing/2014/main" id="{CD0777B5-9186-2748-A941-62F0DDDCF90A}"/>
                </a:ext>
              </a:extLst>
            </p:cNvPr>
            <p:cNvSpPr>
              <a:spLocks/>
            </p:cNvSpPr>
            <p:nvPr/>
          </p:nvSpPr>
          <p:spPr bwMode="auto">
            <a:xfrm>
              <a:off x="3481" y="2539"/>
              <a:ext cx="62" cy="62"/>
            </a:xfrm>
            <a:custGeom>
              <a:avLst/>
              <a:gdLst>
                <a:gd name="T0" fmla="*/ 0 w 142"/>
                <a:gd name="T1" fmla="*/ 0 h 143"/>
                <a:gd name="T2" fmla="*/ 0 w 142"/>
                <a:gd name="T3" fmla="*/ 0 h 143"/>
                <a:gd name="T4" fmla="*/ 0 w 142"/>
                <a:gd name="T5" fmla="*/ 0 h 143"/>
                <a:gd name="T6" fmla="*/ 0 w 142"/>
                <a:gd name="T7" fmla="*/ 0 h 143"/>
                <a:gd name="T8" fmla="*/ 0 60000 65536"/>
                <a:gd name="T9" fmla="*/ 0 60000 65536"/>
                <a:gd name="T10" fmla="*/ 0 60000 65536"/>
                <a:gd name="T11" fmla="*/ 0 60000 65536"/>
                <a:gd name="T12" fmla="*/ 0 w 142"/>
                <a:gd name="T13" fmla="*/ 0 h 143"/>
                <a:gd name="T14" fmla="*/ 142 w 142"/>
                <a:gd name="T15" fmla="*/ 143 h 143"/>
              </a:gdLst>
              <a:ahLst/>
              <a:cxnLst>
                <a:cxn ang="T8">
                  <a:pos x="T0" y="T1"/>
                </a:cxn>
                <a:cxn ang="T9">
                  <a:pos x="T2" y="T3"/>
                </a:cxn>
                <a:cxn ang="T10">
                  <a:pos x="T4" y="T5"/>
                </a:cxn>
                <a:cxn ang="T11">
                  <a:pos x="T6" y="T7"/>
                </a:cxn>
              </a:cxnLst>
              <a:rect l="T12" t="T13" r="T14" b="T15"/>
              <a:pathLst>
                <a:path w="142" h="143">
                  <a:moveTo>
                    <a:pt x="71" y="143"/>
                  </a:moveTo>
                  <a:lnTo>
                    <a:pt x="0" y="0"/>
                  </a:lnTo>
                  <a:cubicBezTo>
                    <a:pt x="44" y="22"/>
                    <a:pt x="97" y="22"/>
                    <a:pt x="142" y="0"/>
                  </a:cubicBezTo>
                  <a:lnTo>
                    <a:pt x="71" y="143"/>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33" name="Line 44">
              <a:extLst>
                <a:ext uri="{FF2B5EF4-FFF2-40B4-BE49-F238E27FC236}">
                  <a16:creationId xmlns:a16="http://schemas.microsoft.com/office/drawing/2014/main" id="{8A15098D-EBE9-8B40-A200-241A02059128}"/>
                </a:ext>
              </a:extLst>
            </p:cNvPr>
            <p:cNvSpPr>
              <a:spLocks noChangeShapeType="1"/>
            </p:cNvSpPr>
            <p:nvPr/>
          </p:nvSpPr>
          <p:spPr bwMode="auto">
            <a:xfrm>
              <a:off x="4030" y="2515"/>
              <a:ext cx="1" cy="39"/>
            </a:xfrm>
            <a:prstGeom prst="line">
              <a:avLst/>
            </a:prstGeom>
            <a:noFill/>
            <a:ln w="11113" cap="rnd">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34" name="Freeform 45">
              <a:extLst>
                <a:ext uri="{FF2B5EF4-FFF2-40B4-BE49-F238E27FC236}">
                  <a16:creationId xmlns:a16="http://schemas.microsoft.com/office/drawing/2014/main" id="{FEF6BC78-6003-DD45-B657-60381EEFA08F}"/>
                </a:ext>
              </a:extLst>
            </p:cNvPr>
            <p:cNvSpPr>
              <a:spLocks/>
            </p:cNvSpPr>
            <p:nvPr/>
          </p:nvSpPr>
          <p:spPr bwMode="auto">
            <a:xfrm>
              <a:off x="3999" y="2539"/>
              <a:ext cx="63" cy="62"/>
            </a:xfrm>
            <a:custGeom>
              <a:avLst/>
              <a:gdLst>
                <a:gd name="T0" fmla="*/ 0 w 143"/>
                <a:gd name="T1" fmla="*/ 0 h 143"/>
                <a:gd name="T2" fmla="*/ 0 w 143"/>
                <a:gd name="T3" fmla="*/ 0 h 143"/>
                <a:gd name="T4" fmla="*/ 0 w 143"/>
                <a:gd name="T5" fmla="*/ 0 h 143"/>
                <a:gd name="T6" fmla="*/ 0 w 143"/>
                <a:gd name="T7" fmla="*/ 0 h 143"/>
                <a:gd name="T8" fmla="*/ 0 60000 65536"/>
                <a:gd name="T9" fmla="*/ 0 60000 65536"/>
                <a:gd name="T10" fmla="*/ 0 60000 65536"/>
                <a:gd name="T11" fmla="*/ 0 60000 65536"/>
                <a:gd name="T12" fmla="*/ 0 w 143"/>
                <a:gd name="T13" fmla="*/ 0 h 143"/>
                <a:gd name="T14" fmla="*/ 143 w 143"/>
                <a:gd name="T15" fmla="*/ 143 h 143"/>
              </a:gdLst>
              <a:ahLst/>
              <a:cxnLst>
                <a:cxn ang="T8">
                  <a:pos x="T0" y="T1"/>
                </a:cxn>
                <a:cxn ang="T9">
                  <a:pos x="T2" y="T3"/>
                </a:cxn>
                <a:cxn ang="T10">
                  <a:pos x="T4" y="T5"/>
                </a:cxn>
                <a:cxn ang="T11">
                  <a:pos x="T6" y="T7"/>
                </a:cxn>
              </a:cxnLst>
              <a:rect l="T12" t="T13" r="T14" b="T15"/>
              <a:pathLst>
                <a:path w="143" h="143">
                  <a:moveTo>
                    <a:pt x="71" y="143"/>
                  </a:moveTo>
                  <a:lnTo>
                    <a:pt x="0" y="0"/>
                  </a:lnTo>
                  <a:cubicBezTo>
                    <a:pt x="45" y="22"/>
                    <a:pt x="98" y="22"/>
                    <a:pt x="143" y="0"/>
                  </a:cubicBezTo>
                  <a:lnTo>
                    <a:pt x="71" y="143"/>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35" name="Line 46">
              <a:extLst>
                <a:ext uri="{FF2B5EF4-FFF2-40B4-BE49-F238E27FC236}">
                  <a16:creationId xmlns:a16="http://schemas.microsoft.com/office/drawing/2014/main" id="{7A4FA6A2-04BD-D541-A4F8-2E395A5E0913}"/>
                </a:ext>
              </a:extLst>
            </p:cNvPr>
            <p:cNvSpPr>
              <a:spLocks noChangeShapeType="1"/>
            </p:cNvSpPr>
            <p:nvPr/>
          </p:nvSpPr>
          <p:spPr bwMode="auto">
            <a:xfrm>
              <a:off x="3252" y="2168"/>
              <a:ext cx="1" cy="39"/>
            </a:xfrm>
            <a:prstGeom prst="line">
              <a:avLst/>
            </a:prstGeom>
            <a:noFill/>
            <a:ln w="11113" cap="rnd">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36" name="Freeform 47">
              <a:extLst>
                <a:ext uri="{FF2B5EF4-FFF2-40B4-BE49-F238E27FC236}">
                  <a16:creationId xmlns:a16="http://schemas.microsoft.com/office/drawing/2014/main" id="{4510C343-DA6B-9445-BBC0-0B0086CA858B}"/>
                </a:ext>
              </a:extLst>
            </p:cNvPr>
            <p:cNvSpPr>
              <a:spLocks/>
            </p:cNvSpPr>
            <p:nvPr/>
          </p:nvSpPr>
          <p:spPr bwMode="auto">
            <a:xfrm>
              <a:off x="3221" y="2192"/>
              <a:ext cx="63" cy="63"/>
            </a:xfrm>
            <a:custGeom>
              <a:avLst/>
              <a:gdLst>
                <a:gd name="T0" fmla="*/ 0 w 143"/>
                <a:gd name="T1" fmla="*/ 0 h 143"/>
                <a:gd name="T2" fmla="*/ 0 w 143"/>
                <a:gd name="T3" fmla="*/ 0 h 143"/>
                <a:gd name="T4" fmla="*/ 0 w 143"/>
                <a:gd name="T5" fmla="*/ 0 h 143"/>
                <a:gd name="T6" fmla="*/ 0 w 143"/>
                <a:gd name="T7" fmla="*/ 0 h 143"/>
                <a:gd name="T8" fmla="*/ 0 60000 65536"/>
                <a:gd name="T9" fmla="*/ 0 60000 65536"/>
                <a:gd name="T10" fmla="*/ 0 60000 65536"/>
                <a:gd name="T11" fmla="*/ 0 60000 65536"/>
                <a:gd name="T12" fmla="*/ 0 w 143"/>
                <a:gd name="T13" fmla="*/ 0 h 143"/>
                <a:gd name="T14" fmla="*/ 143 w 143"/>
                <a:gd name="T15" fmla="*/ 143 h 143"/>
              </a:gdLst>
              <a:ahLst/>
              <a:cxnLst>
                <a:cxn ang="T8">
                  <a:pos x="T0" y="T1"/>
                </a:cxn>
                <a:cxn ang="T9">
                  <a:pos x="T2" y="T3"/>
                </a:cxn>
                <a:cxn ang="T10">
                  <a:pos x="T4" y="T5"/>
                </a:cxn>
                <a:cxn ang="T11">
                  <a:pos x="T6" y="T7"/>
                </a:cxn>
              </a:cxnLst>
              <a:rect l="T12" t="T13" r="T14" b="T15"/>
              <a:pathLst>
                <a:path w="143" h="143">
                  <a:moveTo>
                    <a:pt x="71" y="143"/>
                  </a:moveTo>
                  <a:lnTo>
                    <a:pt x="0" y="0"/>
                  </a:lnTo>
                  <a:cubicBezTo>
                    <a:pt x="45" y="23"/>
                    <a:pt x="98" y="23"/>
                    <a:pt x="143" y="0"/>
                  </a:cubicBezTo>
                  <a:lnTo>
                    <a:pt x="71" y="143"/>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37" name="Line 48">
              <a:extLst>
                <a:ext uri="{FF2B5EF4-FFF2-40B4-BE49-F238E27FC236}">
                  <a16:creationId xmlns:a16="http://schemas.microsoft.com/office/drawing/2014/main" id="{D3B1643B-B778-EA49-860D-9217B6400EDD}"/>
                </a:ext>
              </a:extLst>
            </p:cNvPr>
            <p:cNvSpPr>
              <a:spLocks noChangeShapeType="1"/>
            </p:cNvSpPr>
            <p:nvPr/>
          </p:nvSpPr>
          <p:spPr bwMode="auto">
            <a:xfrm>
              <a:off x="3512" y="2168"/>
              <a:ext cx="1" cy="39"/>
            </a:xfrm>
            <a:prstGeom prst="line">
              <a:avLst/>
            </a:prstGeom>
            <a:noFill/>
            <a:ln w="11113" cap="rnd">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38" name="Freeform 49">
              <a:extLst>
                <a:ext uri="{FF2B5EF4-FFF2-40B4-BE49-F238E27FC236}">
                  <a16:creationId xmlns:a16="http://schemas.microsoft.com/office/drawing/2014/main" id="{040DB2EF-670C-6340-854E-3460ADFF8847}"/>
                </a:ext>
              </a:extLst>
            </p:cNvPr>
            <p:cNvSpPr>
              <a:spLocks/>
            </p:cNvSpPr>
            <p:nvPr/>
          </p:nvSpPr>
          <p:spPr bwMode="auto">
            <a:xfrm>
              <a:off x="3481" y="2192"/>
              <a:ext cx="62" cy="63"/>
            </a:xfrm>
            <a:custGeom>
              <a:avLst/>
              <a:gdLst>
                <a:gd name="T0" fmla="*/ 0 w 142"/>
                <a:gd name="T1" fmla="*/ 0 h 143"/>
                <a:gd name="T2" fmla="*/ 0 w 142"/>
                <a:gd name="T3" fmla="*/ 0 h 143"/>
                <a:gd name="T4" fmla="*/ 0 w 142"/>
                <a:gd name="T5" fmla="*/ 0 h 143"/>
                <a:gd name="T6" fmla="*/ 0 w 142"/>
                <a:gd name="T7" fmla="*/ 0 h 143"/>
                <a:gd name="T8" fmla="*/ 0 60000 65536"/>
                <a:gd name="T9" fmla="*/ 0 60000 65536"/>
                <a:gd name="T10" fmla="*/ 0 60000 65536"/>
                <a:gd name="T11" fmla="*/ 0 60000 65536"/>
                <a:gd name="T12" fmla="*/ 0 w 142"/>
                <a:gd name="T13" fmla="*/ 0 h 143"/>
                <a:gd name="T14" fmla="*/ 142 w 142"/>
                <a:gd name="T15" fmla="*/ 143 h 143"/>
              </a:gdLst>
              <a:ahLst/>
              <a:cxnLst>
                <a:cxn ang="T8">
                  <a:pos x="T0" y="T1"/>
                </a:cxn>
                <a:cxn ang="T9">
                  <a:pos x="T2" y="T3"/>
                </a:cxn>
                <a:cxn ang="T10">
                  <a:pos x="T4" y="T5"/>
                </a:cxn>
                <a:cxn ang="T11">
                  <a:pos x="T6" y="T7"/>
                </a:cxn>
              </a:cxnLst>
              <a:rect l="T12" t="T13" r="T14" b="T15"/>
              <a:pathLst>
                <a:path w="142" h="143">
                  <a:moveTo>
                    <a:pt x="71" y="143"/>
                  </a:moveTo>
                  <a:lnTo>
                    <a:pt x="0" y="0"/>
                  </a:lnTo>
                  <a:cubicBezTo>
                    <a:pt x="44" y="23"/>
                    <a:pt x="97" y="23"/>
                    <a:pt x="142" y="0"/>
                  </a:cubicBezTo>
                  <a:lnTo>
                    <a:pt x="71" y="143"/>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39" name="Line 50">
              <a:extLst>
                <a:ext uri="{FF2B5EF4-FFF2-40B4-BE49-F238E27FC236}">
                  <a16:creationId xmlns:a16="http://schemas.microsoft.com/office/drawing/2014/main" id="{4C37394A-0A31-5040-8F34-AC23DA5FFD62}"/>
                </a:ext>
              </a:extLst>
            </p:cNvPr>
            <p:cNvSpPr>
              <a:spLocks noChangeShapeType="1"/>
            </p:cNvSpPr>
            <p:nvPr/>
          </p:nvSpPr>
          <p:spPr bwMode="auto">
            <a:xfrm>
              <a:off x="4030" y="2168"/>
              <a:ext cx="1" cy="39"/>
            </a:xfrm>
            <a:prstGeom prst="line">
              <a:avLst/>
            </a:prstGeom>
            <a:noFill/>
            <a:ln w="11113" cap="rnd">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40" name="Freeform 51">
              <a:extLst>
                <a:ext uri="{FF2B5EF4-FFF2-40B4-BE49-F238E27FC236}">
                  <a16:creationId xmlns:a16="http://schemas.microsoft.com/office/drawing/2014/main" id="{9AAF1A53-AE7E-3144-A07B-7131E4560805}"/>
                </a:ext>
              </a:extLst>
            </p:cNvPr>
            <p:cNvSpPr>
              <a:spLocks/>
            </p:cNvSpPr>
            <p:nvPr/>
          </p:nvSpPr>
          <p:spPr bwMode="auto">
            <a:xfrm>
              <a:off x="3999" y="2192"/>
              <a:ext cx="63" cy="63"/>
            </a:xfrm>
            <a:custGeom>
              <a:avLst/>
              <a:gdLst>
                <a:gd name="T0" fmla="*/ 0 w 143"/>
                <a:gd name="T1" fmla="*/ 0 h 143"/>
                <a:gd name="T2" fmla="*/ 0 w 143"/>
                <a:gd name="T3" fmla="*/ 0 h 143"/>
                <a:gd name="T4" fmla="*/ 0 w 143"/>
                <a:gd name="T5" fmla="*/ 0 h 143"/>
                <a:gd name="T6" fmla="*/ 0 w 143"/>
                <a:gd name="T7" fmla="*/ 0 h 143"/>
                <a:gd name="T8" fmla="*/ 0 60000 65536"/>
                <a:gd name="T9" fmla="*/ 0 60000 65536"/>
                <a:gd name="T10" fmla="*/ 0 60000 65536"/>
                <a:gd name="T11" fmla="*/ 0 60000 65536"/>
                <a:gd name="T12" fmla="*/ 0 w 143"/>
                <a:gd name="T13" fmla="*/ 0 h 143"/>
                <a:gd name="T14" fmla="*/ 143 w 143"/>
                <a:gd name="T15" fmla="*/ 143 h 143"/>
              </a:gdLst>
              <a:ahLst/>
              <a:cxnLst>
                <a:cxn ang="T8">
                  <a:pos x="T0" y="T1"/>
                </a:cxn>
                <a:cxn ang="T9">
                  <a:pos x="T2" y="T3"/>
                </a:cxn>
                <a:cxn ang="T10">
                  <a:pos x="T4" y="T5"/>
                </a:cxn>
                <a:cxn ang="T11">
                  <a:pos x="T6" y="T7"/>
                </a:cxn>
              </a:cxnLst>
              <a:rect l="T12" t="T13" r="T14" b="T15"/>
              <a:pathLst>
                <a:path w="143" h="143">
                  <a:moveTo>
                    <a:pt x="71" y="143"/>
                  </a:moveTo>
                  <a:lnTo>
                    <a:pt x="0" y="0"/>
                  </a:lnTo>
                  <a:cubicBezTo>
                    <a:pt x="45" y="23"/>
                    <a:pt x="98" y="23"/>
                    <a:pt x="143" y="0"/>
                  </a:cubicBezTo>
                  <a:lnTo>
                    <a:pt x="71" y="143"/>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41" name="Rectangle 52">
              <a:extLst>
                <a:ext uri="{FF2B5EF4-FFF2-40B4-BE49-F238E27FC236}">
                  <a16:creationId xmlns:a16="http://schemas.microsoft.com/office/drawing/2014/main" id="{65DFCE4B-5EFE-8E49-B1C7-EB45011E093F}"/>
                </a:ext>
              </a:extLst>
            </p:cNvPr>
            <p:cNvSpPr>
              <a:spLocks noChangeArrowheads="1"/>
            </p:cNvSpPr>
            <p:nvPr/>
          </p:nvSpPr>
          <p:spPr bwMode="auto">
            <a:xfrm>
              <a:off x="3166" y="2948"/>
              <a:ext cx="951" cy="13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42" name="Rectangle 53">
              <a:extLst>
                <a:ext uri="{FF2B5EF4-FFF2-40B4-BE49-F238E27FC236}">
                  <a16:creationId xmlns:a16="http://schemas.microsoft.com/office/drawing/2014/main" id="{078AE8CA-F2DC-2749-AD75-F3F4856F1E53}"/>
                </a:ext>
              </a:extLst>
            </p:cNvPr>
            <p:cNvSpPr>
              <a:spLocks noChangeArrowheads="1"/>
            </p:cNvSpPr>
            <p:nvPr/>
          </p:nvSpPr>
          <p:spPr bwMode="auto">
            <a:xfrm>
              <a:off x="3166" y="2948"/>
              <a:ext cx="951" cy="130"/>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43" name="Rectangle 54">
              <a:extLst>
                <a:ext uri="{FF2B5EF4-FFF2-40B4-BE49-F238E27FC236}">
                  <a16:creationId xmlns:a16="http://schemas.microsoft.com/office/drawing/2014/main" id="{70E809A1-9691-9846-BA10-3B9E72C49FE4}"/>
                </a:ext>
              </a:extLst>
            </p:cNvPr>
            <p:cNvSpPr>
              <a:spLocks noChangeArrowheads="1"/>
            </p:cNvSpPr>
            <p:nvPr/>
          </p:nvSpPr>
          <p:spPr bwMode="auto">
            <a:xfrm>
              <a:off x="3416" y="2942"/>
              <a:ext cx="4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D-Cache</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44" name="Line 55">
              <a:extLst>
                <a:ext uri="{FF2B5EF4-FFF2-40B4-BE49-F238E27FC236}">
                  <a16:creationId xmlns:a16="http://schemas.microsoft.com/office/drawing/2014/main" id="{C3BF36DA-A331-5E4E-B599-7F5847F591D1}"/>
                </a:ext>
              </a:extLst>
            </p:cNvPr>
            <p:cNvSpPr>
              <a:spLocks noChangeShapeType="1"/>
            </p:cNvSpPr>
            <p:nvPr/>
          </p:nvSpPr>
          <p:spPr bwMode="auto">
            <a:xfrm>
              <a:off x="3252" y="2861"/>
              <a:ext cx="1" cy="40"/>
            </a:xfrm>
            <a:prstGeom prst="line">
              <a:avLst/>
            </a:prstGeom>
            <a:noFill/>
            <a:ln w="11113" cap="rnd">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45" name="Freeform 56">
              <a:extLst>
                <a:ext uri="{FF2B5EF4-FFF2-40B4-BE49-F238E27FC236}">
                  <a16:creationId xmlns:a16="http://schemas.microsoft.com/office/drawing/2014/main" id="{B313FE38-7C1B-594A-A274-F9BFA572FD74}"/>
                </a:ext>
              </a:extLst>
            </p:cNvPr>
            <p:cNvSpPr>
              <a:spLocks/>
            </p:cNvSpPr>
            <p:nvPr/>
          </p:nvSpPr>
          <p:spPr bwMode="auto">
            <a:xfrm>
              <a:off x="3221" y="2886"/>
              <a:ext cx="63" cy="62"/>
            </a:xfrm>
            <a:custGeom>
              <a:avLst/>
              <a:gdLst>
                <a:gd name="T0" fmla="*/ 0 w 143"/>
                <a:gd name="T1" fmla="*/ 0 h 143"/>
                <a:gd name="T2" fmla="*/ 0 w 143"/>
                <a:gd name="T3" fmla="*/ 0 h 143"/>
                <a:gd name="T4" fmla="*/ 0 w 143"/>
                <a:gd name="T5" fmla="*/ 0 h 143"/>
                <a:gd name="T6" fmla="*/ 0 w 143"/>
                <a:gd name="T7" fmla="*/ 0 h 143"/>
                <a:gd name="T8" fmla="*/ 0 w 143"/>
                <a:gd name="T9" fmla="*/ 0 h 143"/>
                <a:gd name="T10" fmla="*/ 0 60000 65536"/>
                <a:gd name="T11" fmla="*/ 0 60000 65536"/>
                <a:gd name="T12" fmla="*/ 0 60000 65536"/>
                <a:gd name="T13" fmla="*/ 0 60000 65536"/>
                <a:gd name="T14" fmla="*/ 0 60000 65536"/>
                <a:gd name="T15" fmla="*/ 0 w 143"/>
                <a:gd name="T16" fmla="*/ 0 h 143"/>
                <a:gd name="T17" fmla="*/ 143 w 143"/>
                <a:gd name="T18" fmla="*/ 143 h 143"/>
              </a:gdLst>
              <a:ahLst/>
              <a:cxnLst>
                <a:cxn ang="T10">
                  <a:pos x="T0" y="T1"/>
                </a:cxn>
                <a:cxn ang="T11">
                  <a:pos x="T2" y="T3"/>
                </a:cxn>
                <a:cxn ang="T12">
                  <a:pos x="T4" y="T5"/>
                </a:cxn>
                <a:cxn ang="T13">
                  <a:pos x="T6" y="T7"/>
                </a:cxn>
                <a:cxn ang="T14">
                  <a:pos x="T8" y="T9"/>
                </a:cxn>
              </a:cxnLst>
              <a:rect l="T15" t="T16" r="T17" b="T18"/>
              <a:pathLst>
                <a:path w="143" h="143">
                  <a:moveTo>
                    <a:pt x="71" y="143"/>
                  </a:moveTo>
                  <a:lnTo>
                    <a:pt x="0" y="0"/>
                  </a:lnTo>
                  <a:cubicBezTo>
                    <a:pt x="45" y="22"/>
                    <a:pt x="98" y="22"/>
                    <a:pt x="143" y="0"/>
                  </a:cubicBezTo>
                  <a:lnTo>
                    <a:pt x="71" y="143"/>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46" name="Line 57">
              <a:extLst>
                <a:ext uri="{FF2B5EF4-FFF2-40B4-BE49-F238E27FC236}">
                  <a16:creationId xmlns:a16="http://schemas.microsoft.com/office/drawing/2014/main" id="{A6B979C8-30EA-8340-BB45-56B5B059ACFE}"/>
                </a:ext>
              </a:extLst>
            </p:cNvPr>
            <p:cNvSpPr>
              <a:spLocks noChangeShapeType="1"/>
            </p:cNvSpPr>
            <p:nvPr/>
          </p:nvSpPr>
          <p:spPr bwMode="auto">
            <a:xfrm>
              <a:off x="3512" y="2861"/>
              <a:ext cx="1" cy="40"/>
            </a:xfrm>
            <a:prstGeom prst="line">
              <a:avLst/>
            </a:prstGeom>
            <a:noFill/>
            <a:ln w="11113" cap="rnd">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47" name="Freeform 58">
              <a:extLst>
                <a:ext uri="{FF2B5EF4-FFF2-40B4-BE49-F238E27FC236}">
                  <a16:creationId xmlns:a16="http://schemas.microsoft.com/office/drawing/2014/main" id="{5192BEE4-5F3D-EA4F-B1C8-21EDDB9A9D8C}"/>
                </a:ext>
              </a:extLst>
            </p:cNvPr>
            <p:cNvSpPr>
              <a:spLocks/>
            </p:cNvSpPr>
            <p:nvPr/>
          </p:nvSpPr>
          <p:spPr bwMode="auto">
            <a:xfrm>
              <a:off x="3481" y="2886"/>
              <a:ext cx="62" cy="62"/>
            </a:xfrm>
            <a:custGeom>
              <a:avLst/>
              <a:gdLst>
                <a:gd name="T0" fmla="*/ 0 w 142"/>
                <a:gd name="T1" fmla="*/ 0 h 143"/>
                <a:gd name="T2" fmla="*/ 0 w 142"/>
                <a:gd name="T3" fmla="*/ 0 h 143"/>
                <a:gd name="T4" fmla="*/ 0 w 142"/>
                <a:gd name="T5" fmla="*/ 0 h 143"/>
                <a:gd name="T6" fmla="*/ 0 w 142"/>
                <a:gd name="T7" fmla="*/ 0 h 143"/>
                <a:gd name="T8" fmla="*/ 0 w 142"/>
                <a:gd name="T9" fmla="*/ 0 h 143"/>
                <a:gd name="T10" fmla="*/ 0 60000 65536"/>
                <a:gd name="T11" fmla="*/ 0 60000 65536"/>
                <a:gd name="T12" fmla="*/ 0 60000 65536"/>
                <a:gd name="T13" fmla="*/ 0 60000 65536"/>
                <a:gd name="T14" fmla="*/ 0 60000 65536"/>
                <a:gd name="T15" fmla="*/ 0 w 142"/>
                <a:gd name="T16" fmla="*/ 0 h 143"/>
                <a:gd name="T17" fmla="*/ 142 w 142"/>
                <a:gd name="T18" fmla="*/ 143 h 143"/>
              </a:gdLst>
              <a:ahLst/>
              <a:cxnLst>
                <a:cxn ang="T10">
                  <a:pos x="T0" y="T1"/>
                </a:cxn>
                <a:cxn ang="T11">
                  <a:pos x="T2" y="T3"/>
                </a:cxn>
                <a:cxn ang="T12">
                  <a:pos x="T4" y="T5"/>
                </a:cxn>
                <a:cxn ang="T13">
                  <a:pos x="T6" y="T7"/>
                </a:cxn>
                <a:cxn ang="T14">
                  <a:pos x="T8" y="T9"/>
                </a:cxn>
              </a:cxnLst>
              <a:rect l="T15" t="T16" r="T17" b="T18"/>
              <a:pathLst>
                <a:path w="142" h="143">
                  <a:moveTo>
                    <a:pt x="71" y="143"/>
                  </a:moveTo>
                  <a:lnTo>
                    <a:pt x="0" y="0"/>
                  </a:lnTo>
                  <a:cubicBezTo>
                    <a:pt x="44" y="22"/>
                    <a:pt x="97" y="22"/>
                    <a:pt x="142" y="0"/>
                  </a:cubicBezTo>
                  <a:lnTo>
                    <a:pt x="71" y="143"/>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48" name="Line 59">
              <a:extLst>
                <a:ext uri="{FF2B5EF4-FFF2-40B4-BE49-F238E27FC236}">
                  <a16:creationId xmlns:a16="http://schemas.microsoft.com/office/drawing/2014/main" id="{ABB6A684-E5E3-E649-80CC-03A98597C2FA}"/>
                </a:ext>
              </a:extLst>
            </p:cNvPr>
            <p:cNvSpPr>
              <a:spLocks noChangeShapeType="1"/>
            </p:cNvSpPr>
            <p:nvPr/>
          </p:nvSpPr>
          <p:spPr bwMode="auto">
            <a:xfrm>
              <a:off x="4030" y="2861"/>
              <a:ext cx="1" cy="40"/>
            </a:xfrm>
            <a:prstGeom prst="line">
              <a:avLst/>
            </a:prstGeom>
            <a:noFill/>
            <a:ln w="11113" cap="rnd">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49" name="Freeform 60">
              <a:extLst>
                <a:ext uri="{FF2B5EF4-FFF2-40B4-BE49-F238E27FC236}">
                  <a16:creationId xmlns:a16="http://schemas.microsoft.com/office/drawing/2014/main" id="{D1196B3D-94F4-0C45-9166-DC51E5383B00}"/>
                </a:ext>
              </a:extLst>
            </p:cNvPr>
            <p:cNvSpPr>
              <a:spLocks/>
            </p:cNvSpPr>
            <p:nvPr/>
          </p:nvSpPr>
          <p:spPr bwMode="auto">
            <a:xfrm>
              <a:off x="3999" y="2886"/>
              <a:ext cx="63" cy="62"/>
            </a:xfrm>
            <a:custGeom>
              <a:avLst/>
              <a:gdLst>
                <a:gd name="T0" fmla="*/ 0 w 143"/>
                <a:gd name="T1" fmla="*/ 0 h 143"/>
                <a:gd name="T2" fmla="*/ 0 w 143"/>
                <a:gd name="T3" fmla="*/ 0 h 143"/>
                <a:gd name="T4" fmla="*/ 0 w 143"/>
                <a:gd name="T5" fmla="*/ 0 h 143"/>
                <a:gd name="T6" fmla="*/ 0 w 143"/>
                <a:gd name="T7" fmla="*/ 0 h 143"/>
                <a:gd name="T8" fmla="*/ 0 w 143"/>
                <a:gd name="T9" fmla="*/ 0 h 143"/>
                <a:gd name="T10" fmla="*/ 0 60000 65536"/>
                <a:gd name="T11" fmla="*/ 0 60000 65536"/>
                <a:gd name="T12" fmla="*/ 0 60000 65536"/>
                <a:gd name="T13" fmla="*/ 0 60000 65536"/>
                <a:gd name="T14" fmla="*/ 0 60000 65536"/>
                <a:gd name="T15" fmla="*/ 0 w 143"/>
                <a:gd name="T16" fmla="*/ 0 h 143"/>
                <a:gd name="T17" fmla="*/ 143 w 143"/>
                <a:gd name="T18" fmla="*/ 143 h 143"/>
              </a:gdLst>
              <a:ahLst/>
              <a:cxnLst>
                <a:cxn ang="T10">
                  <a:pos x="T0" y="T1"/>
                </a:cxn>
                <a:cxn ang="T11">
                  <a:pos x="T2" y="T3"/>
                </a:cxn>
                <a:cxn ang="T12">
                  <a:pos x="T4" y="T5"/>
                </a:cxn>
                <a:cxn ang="T13">
                  <a:pos x="T6" y="T7"/>
                </a:cxn>
                <a:cxn ang="T14">
                  <a:pos x="T8" y="T9"/>
                </a:cxn>
              </a:cxnLst>
              <a:rect l="T15" t="T16" r="T17" b="T18"/>
              <a:pathLst>
                <a:path w="143" h="143">
                  <a:moveTo>
                    <a:pt x="71" y="143"/>
                  </a:moveTo>
                  <a:lnTo>
                    <a:pt x="0" y="0"/>
                  </a:lnTo>
                  <a:cubicBezTo>
                    <a:pt x="45" y="22"/>
                    <a:pt x="98" y="22"/>
                    <a:pt x="143" y="0"/>
                  </a:cubicBezTo>
                  <a:lnTo>
                    <a:pt x="71" y="143"/>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50" name="Freeform 61">
              <a:extLst>
                <a:ext uri="{FF2B5EF4-FFF2-40B4-BE49-F238E27FC236}">
                  <a16:creationId xmlns:a16="http://schemas.microsoft.com/office/drawing/2014/main" id="{7B2663F1-BC02-8D45-A4B9-826C12870CBD}"/>
                </a:ext>
              </a:extLst>
            </p:cNvPr>
            <p:cNvSpPr>
              <a:spLocks/>
            </p:cNvSpPr>
            <p:nvPr/>
          </p:nvSpPr>
          <p:spPr bwMode="auto">
            <a:xfrm>
              <a:off x="3339" y="3294"/>
              <a:ext cx="605" cy="87"/>
            </a:xfrm>
            <a:custGeom>
              <a:avLst/>
              <a:gdLst>
                <a:gd name="T0" fmla="*/ 0 w 605"/>
                <a:gd name="T1" fmla="*/ 0 h 87"/>
                <a:gd name="T2" fmla="*/ 605 w 605"/>
                <a:gd name="T3" fmla="*/ 0 h 87"/>
                <a:gd name="T4" fmla="*/ 504 w 605"/>
                <a:gd name="T5" fmla="*/ 87 h 87"/>
                <a:gd name="T6" fmla="*/ 101 w 605"/>
                <a:gd name="T7" fmla="*/ 87 h 87"/>
                <a:gd name="T8" fmla="*/ 0 w 605"/>
                <a:gd name="T9" fmla="*/ 0 h 87"/>
                <a:gd name="T10" fmla="*/ 0 60000 65536"/>
                <a:gd name="T11" fmla="*/ 0 60000 65536"/>
                <a:gd name="T12" fmla="*/ 0 60000 65536"/>
                <a:gd name="T13" fmla="*/ 0 60000 65536"/>
                <a:gd name="T14" fmla="*/ 0 60000 65536"/>
                <a:gd name="T15" fmla="*/ 0 w 605"/>
                <a:gd name="T16" fmla="*/ 0 h 87"/>
                <a:gd name="T17" fmla="*/ 605 w 605"/>
                <a:gd name="T18" fmla="*/ 87 h 87"/>
              </a:gdLst>
              <a:ahLst/>
              <a:cxnLst>
                <a:cxn ang="T10">
                  <a:pos x="T0" y="T1"/>
                </a:cxn>
                <a:cxn ang="T11">
                  <a:pos x="T2" y="T3"/>
                </a:cxn>
                <a:cxn ang="T12">
                  <a:pos x="T4" y="T5"/>
                </a:cxn>
                <a:cxn ang="T13">
                  <a:pos x="T6" y="T7"/>
                </a:cxn>
                <a:cxn ang="T14">
                  <a:pos x="T8" y="T9"/>
                </a:cxn>
              </a:cxnLst>
              <a:rect l="T15" t="T16" r="T17" b="T18"/>
              <a:pathLst>
                <a:path w="605" h="87">
                  <a:moveTo>
                    <a:pt x="0" y="0"/>
                  </a:moveTo>
                  <a:lnTo>
                    <a:pt x="605" y="0"/>
                  </a:lnTo>
                  <a:lnTo>
                    <a:pt x="504" y="87"/>
                  </a:lnTo>
                  <a:lnTo>
                    <a:pt x="101" y="87"/>
                  </a:lnTo>
                  <a:lnTo>
                    <a:pt x="0" y="0"/>
                  </a:lnTo>
                </a:path>
              </a:pathLst>
            </a:cu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51" name="Line 62">
              <a:extLst>
                <a:ext uri="{FF2B5EF4-FFF2-40B4-BE49-F238E27FC236}">
                  <a16:creationId xmlns:a16="http://schemas.microsoft.com/office/drawing/2014/main" id="{F36FD4F6-46AB-AD41-86DB-F3284E5C42A6}"/>
                </a:ext>
              </a:extLst>
            </p:cNvPr>
            <p:cNvSpPr>
              <a:spLocks noChangeShapeType="1"/>
            </p:cNvSpPr>
            <p:nvPr/>
          </p:nvSpPr>
          <p:spPr bwMode="auto">
            <a:xfrm>
              <a:off x="3641" y="3381"/>
              <a:ext cx="1" cy="39"/>
            </a:xfrm>
            <a:prstGeom prst="line">
              <a:avLst/>
            </a:prstGeom>
            <a:noFill/>
            <a:ln w="11113" cap="rnd">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52" name="Freeform 63">
              <a:extLst>
                <a:ext uri="{FF2B5EF4-FFF2-40B4-BE49-F238E27FC236}">
                  <a16:creationId xmlns:a16="http://schemas.microsoft.com/office/drawing/2014/main" id="{9276109E-0609-6F4F-ACD8-BF344578A451}"/>
                </a:ext>
              </a:extLst>
            </p:cNvPr>
            <p:cNvSpPr>
              <a:spLocks/>
            </p:cNvSpPr>
            <p:nvPr/>
          </p:nvSpPr>
          <p:spPr bwMode="auto">
            <a:xfrm>
              <a:off x="3610" y="3405"/>
              <a:ext cx="63" cy="63"/>
            </a:xfrm>
            <a:custGeom>
              <a:avLst/>
              <a:gdLst>
                <a:gd name="T0" fmla="*/ 0 w 143"/>
                <a:gd name="T1" fmla="*/ 0 h 143"/>
                <a:gd name="T2" fmla="*/ 0 w 143"/>
                <a:gd name="T3" fmla="*/ 0 h 143"/>
                <a:gd name="T4" fmla="*/ 0 w 143"/>
                <a:gd name="T5" fmla="*/ 0 h 143"/>
                <a:gd name="T6" fmla="*/ 0 w 143"/>
                <a:gd name="T7" fmla="*/ 0 h 143"/>
                <a:gd name="T8" fmla="*/ 0 60000 65536"/>
                <a:gd name="T9" fmla="*/ 0 60000 65536"/>
                <a:gd name="T10" fmla="*/ 0 60000 65536"/>
                <a:gd name="T11" fmla="*/ 0 60000 65536"/>
                <a:gd name="T12" fmla="*/ 0 w 143"/>
                <a:gd name="T13" fmla="*/ 0 h 143"/>
                <a:gd name="T14" fmla="*/ 143 w 143"/>
                <a:gd name="T15" fmla="*/ 143 h 143"/>
              </a:gdLst>
              <a:ahLst/>
              <a:cxnLst>
                <a:cxn ang="T8">
                  <a:pos x="T0" y="T1"/>
                </a:cxn>
                <a:cxn ang="T9">
                  <a:pos x="T2" y="T3"/>
                </a:cxn>
                <a:cxn ang="T10">
                  <a:pos x="T4" y="T5"/>
                </a:cxn>
                <a:cxn ang="T11">
                  <a:pos x="T6" y="T7"/>
                </a:cxn>
              </a:cxnLst>
              <a:rect l="T12" t="T13" r="T14" b="T15"/>
              <a:pathLst>
                <a:path w="143" h="143">
                  <a:moveTo>
                    <a:pt x="71" y="143"/>
                  </a:moveTo>
                  <a:lnTo>
                    <a:pt x="0" y="0"/>
                  </a:lnTo>
                  <a:cubicBezTo>
                    <a:pt x="45" y="23"/>
                    <a:pt x="98" y="23"/>
                    <a:pt x="143" y="0"/>
                  </a:cubicBezTo>
                  <a:lnTo>
                    <a:pt x="71" y="143"/>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53" name="Rectangle 64">
              <a:extLst>
                <a:ext uri="{FF2B5EF4-FFF2-40B4-BE49-F238E27FC236}">
                  <a16:creationId xmlns:a16="http://schemas.microsoft.com/office/drawing/2014/main" id="{2FDE6135-CA01-7741-802D-DB4C328F81AD}"/>
                </a:ext>
              </a:extLst>
            </p:cNvPr>
            <p:cNvSpPr>
              <a:spLocks noChangeArrowheads="1"/>
            </p:cNvSpPr>
            <p:nvPr/>
          </p:nvSpPr>
          <p:spPr bwMode="auto">
            <a:xfrm>
              <a:off x="4376" y="3403"/>
              <a:ext cx="952" cy="130"/>
            </a:xfrm>
            <a:prstGeom prst="rect">
              <a:avLst/>
            </a:prstGeom>
            <a:solidFill>
              <a:srgbClr val="BFD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54" name="Rectangle 65">
              <a:extLst>
                <a:ext uri="{FF2B5EF4-FFF2-40B4-BE49-F238E27FC236}">
                  <a16:creationId xmlns:a16="http://schemas.microsoft.com/office/drawing/2014/main" id="{C7A52106-BBDD-1247-A7C7-5FFCBAF5D326}"/>
                </a:ext>
              </a:extLst>
            </p:cNvPr>
            <p:cNvSpPr>
              <a:spLocks noChangeArrowheads="1"/>
            </p:cNvSpPr>
            <p:nvPr/>
          </p:nvSpPr>
          <p:spPr bwMode="auto">
            <a:xfrm>
              <a:off x="4376" y="3403"/>
              <a:ext cx="952" cy="130"/>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55" name="Rectangle 66">
              <a:extLst>
                <a:ext uri="{FF2B5EF4-FFF2-40B4-BE49-F238E27FC236}">
                  <a16:creationId xmlns:a16="http://schemas.microsoft.com/office/drawing/2014/main" id="{5DBFDCFD-920C-5A4F-B705-9B96A3754A1C}"/>
                </a:ext>
              </a:extLst>
            </p:cNvPr>
            <p:cNvSpPr>
              <a:spLocks noChangeArrowheads="1"/>
            </p:cNvSpPr>
            <p:nvPr/>
          </p:nvSpPr>
          <p:spPr bwMode="auto">
            <a:xfrm>
              <a:off x="4470" y="3396"/>
              <a:ext cx="80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Thread Warp 6</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56" name="Rectangle 67">
              <a:extLst>
                <a:ext uri="{FF2B5EF4-FFF2-40B4-BE49-F238E27FC236}">
                  <a16:creationId xmlns:a16="http://schemas.microsoft.com/office/drawing/2014/main" id="{966D3C63-B738-DD4D-AB41-14BAF226B1B6}"/>
                </a:ext>
              </a:extLst>
            </p:cNvPr>
            <p:cNvSpPr>
              <a:spLocks noChangeArrowheads="1"/>
            </p:cNvSpPr>
            <p:nvPr/>
          </p:nvSpPr>
          <p:spPr bwMode="auto">
            <a:xfrm>
              <a:off x="4376" y="2991"/>
              <a:ext cx="952" cy="130"/>
            </a:xfrm>
            <a:prstGeom prst="rect">
              <a:avLst/>
            </a:prstGeom>
            <a:solidFill>
              <a:srgbClr val="D5EA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57" name="Rectangle 68">
              <a:extLst>
                <a:ext uri="{FF2B5EF4-FFF2-40B4-BE49-F238E27FC236}">
                  <a16:creationId xmlns:a16="http://schemas.microsoft.com/office/drawing/2014/main" id="{A4208EFA-555E-764B-AE84-2D3B5A705FF0}"/>
                </a:ext>
              </a:extLst>
            </p:cNvPr>
            <p:cNvSpPr>
              <a:spLocks noChangeArrowheads="1"/>
            </p:cNvSpPr>
            <p:nvPr/>
          </p:nvSpPr>
          <p:spPr bwMode="auto">
            <a:xfrm>
              <a:off x="4376" y="2991"/>
              <a:ext cx="952" cy="130"/>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58" name="Rectangle 69">
              <a:extLst>
                <a:ext uri="{FF2B5EF4-FFF2-40B4-BE49-F238E27FC236}">
                  <a16:creationId xmlns:a16="http://schemas.microsoft.com/office/drawing/2014/main" id="{8E86F7AF-0165-FF4A-8F3D-DCAA068EEB1B}"/>
                </a:ext>
              </a:extLst>
            </p:cNvPr>
            <p:cNvSpPr>
              <a:spLocks noChangeArrowheads="1"/>
            </p:cNvSpPr>
            <p:nvPr/>
          </p:nvSpPr>
          <p:spPr bwMode="auto">
            <a:xfrm>
              <a:off x="4470" y="2984"/>
              <a:ext cx="80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Thread Warp 1</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59" name="Rectangle 70">
              <a:extLst>
                <a:ext uri="{FF2B5EF4-FFF2-40B4-BE49-F238E27FC236}">
                  <a16:creationId xmlns:a16="http://schemas.microsoft.com/office/drawing/2014/main" id="{CC6F9E5E-86FB-AE4C-BE00-78E24B35D58A}"/>
                </a:ext>
              </a:extLst>
            </p:cNvPr>
            <p:cNvSpPr>
              <a:spLocks noChangeArrowheads="1"/>
            </p:cNvSpPr>
            <p:nvPr/>
          </p:nvSpPr>
          <p:spPr bwMode="auto">
            <a:xfrm>
              <a:off x="4376" y="3121"/>
              <a:ext cx="952" cy="130"/>
            </a:xfrm>
            <a:prstGeom prst="rect">
              <a:avLst/>
            </a:prstGeom>
            <a:solidFill>
              <a:srgbClr val="EAF4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60" name="Rectangle 71">
              <a:extLst>
                <a:ext uri="{FF2B5EF4-FFF2-40B4-BE49-F238E27FC236}">
                  <a16:creationId xmlns:a16="http://schemas.microsoft.com/office/drawing/2014/main" id="{90E69AFD-A2F3-9C41-A16D-9DEFE28A1572}"/>
                </a:ext>
              </a:extLst>
            </p:cNvPr>
            <p:cNvSpPr>
              <a:spLocks noChangeArrowheads="1"/>
            </p:cNvSpPr>
            <p:nvPr/>
          </p:nvSpPr>
          <p:spPr bwMode="auto">
            <a:xfrm>
              <a:off x="4376" y="3121"/>
              <a:ext cx="952" cy="130"/>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61" name="Rectangle 72">
              <a:extLst>
                <a:ext uri="{FF2B5EF4-FFF2-40B4-BE49-F238E27FC236}">
                  <a16:creationId xmlns:a16="http://schemas.microsoft.com/office/drawing/2014/main" id="{17C1D3E4-C60E-6948-A778-5EBDA3FF1E5B}"/>
                </a:ext>
              </a:extLst>
            </p:cNvPr>
            <p:cNvSpPr>
              <a:spLocks noChangeArrowheads="1"/>
            </p:cNvSpPr>
            <p:nvPr/>
          </p:nvSpPr>
          <p:spPr bwMode="auto">
            <a:xfrm>
              <a:off x="4470" y="3117"/>
              <a:ext cx="80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Thread Warp 2</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62" name="Freeform 73">
              <a:extLst>
                <a:ext uri="{FF2B5EF4-FFF2-40B4-BE49-F238E27FC236}">
                  <a16:creationId xmlns:a16="http://schemas.microsoft.com/office/drawing/2014/main" id="{C82BB6B2-6040-D044-93E2-34B23BA9FDE2}"/>
                </a:ext>
              </a:extLst>
            </p:cNvPr>
            <p:cNvSpPr>
              <a:spLocks/>
            </p:cNvSpPr>
            <p:nvPr/>
          </p:nvSpPr>
          <p:spPr bwMode="auto">
            <a:xfrm>
              <a:off x="4117" y="2905"/>
              <a:ext cx="735" cy="108"/>
            </a:xfrm>
            <a:custGeom>
              <a:avLst/>
              <a:gdLst>
                <a:gd name="T0" fmla="*/ 0 w 1685"/>
                <a:gd name="T1" fmla="*/ 0 h 248"/>
                <a:gd name="T2" fmla="*/ 0 w 1685"/>
                <a:gd name="T3" fmla="*/ 0 h 248"/>
                <a:gd name="T4" fmla="*/ 0 w 1685"/>
                <a:gd name="T5" fmla="*/ 0 h 248"/>
                <a:gd name="T6" fmla="*/ 0 w 1685"/>
                <a:gd name="T7" fmla="*/ 0 h 248"/>
                <a:gd name="T8" fmla="*/ 0 w 1685"/>
                <a:gd name="T9" fmla="*/ 0 h 248"/>
                <a:gd name="T10" fmla="*/ 0 w 1685"/>
                <a:gd name="T11" fmla="*/ 0 h 248"/>
                <a:gd name="T12" fmla="*/ 0 w 1685"/>
                <a:gd name="T13" fmla="*/ 0 h 248"/>
                <a:gd name="T14" fmla="*/ 0 w 1685"/>
                <a:gd name="T15" fmla="*/ 0 h 248"/>
                <a:gd name="T16" fmla="*/ 0 w 1685"/>
                <a:gd name="T17" fmla="*/ 0 h 24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85"/>
                <a:gd name="T28" fmla="*/ 0 h 248"/>
                <a:gd name="T29" fmla="*/ 1685 w 1685"/>
                <a:gd name="T30" fmla="*/ 248 h 24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85" h="248">
                  <a:moveTo>
                    <a:pt x="1685" y="198"/>
                  </a:moveTo>
                  <a:lnTo>
                    <a:pt x="1685" y="99"/>
                  </a:lnTo>
                  <a:cubicBezTo>
                    <a:pt x="1685" y="44"/>
                    <a:pt x="1640" y="0"/>
                    <a:pt x="1586" y="0"/>
                  </a:cubicBezTo>
                  <a:lnTo>
                    <a:pt x="520" y="0"/>
                  </a:lnTo>
                  <a:cubicBezTo>
                    <a:pt x="452" y="0"/>
                    <a:pt x="396" y="55"/>
                    <a:pt x="396" y="124"/>
                  </a:cubicBezTo>
                  <a:cubicBezTo>
                    <a:pt x="396" y="192"/>
                    <a:pt x="341" y="248"/>
                    <a:pt x="272" y="248"/>
                  </a:cubicBezTo>
                  <a:lnTo>
                    <a:pt x="0" y="248"/>
                  </a:lnTo>
                </a:path>
              </a:pathLst>
            </a:cu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63" name="Freeform 74">
              <a:extLst>
                <a:ext uri="{FF2B5EF4-FFF2-40B4-BE49-F238E27FC236}">
                  <a16:creationId xmlns:a16="http://schemas.microsoft.com/office/drawing/2014/main" id="{FFD5ADE2-0547-E34E-A63D-16D6E6996841}"/>
                </a:ext>
              </a:extLst>
            </p:cNvPr>
            <p:cNvSpPr>
              <a:spLocks/>
            </p:cNvSpPr>
            <p:nvPr/>
          </p:nvSpPr>
          <p:spPr bwMode="auto">
            <a:xfrm>
              <a:off x="4821" y="2929"/>
              <a:ext cx="62" cy="62"/>
            </a:xfrm>
            <a:custGeom>
              <a:avLst/>
              <a:gdLst>
                <a:gd name="T0" fmla="*/ 0 w 143"/>
                <a:gd name="T1" fmla="*/ 0 h 143"/>
                <a:gd name="T2" fmla="*/ 0 w 143"/>
                <a:gd name="T3" fmla="*/ 0 h 143"/>
                <a:gd name="T4" fmla="*/ 0 w 143"/>
                <a:gd name="T5" fmla="*/ 0 h 143"/>
                <a:gd name="T6" fmla="*/ 0 w 143"/>
                <a:gd name="T7" fmla="*/ 0 h 143"/>
                <a:gd name="T8" fmla="*/ 0 60000 65536"/>
                <a:gd name="T9" fmla="*/ 0 60000 65536"/>
                <a:gd name="T10" fmla="*/ 0 60000 65536"/>
                <a:gd name="T11" fmla="*/ 0 60000 65536"/>
                <a:gd name="T12" fmla="*/ 0 w 143"/>
                <a:gd name="T13" fmla="*/ 0 h 143"/>
                <a:gd name="T14" fmla="*/ 143 w 143"/>
                <a:gd name="T15" fmla="*/ 143 h 143"/>
              </a:gdLst>
              <a:ahLst/>
              <a:cxnLst>
                <a:cxn ang="T8">
                  <a:pos x="T0" y="T1"/>
                </a:cxn>
                <a:cxn ang="T9">
                  <a:pos x="T2" y="T3"/>
                </a:cxn>
                <a:cxn ang="T10">
                  <a:pos x="T4" y="T5"/>
                </a:cxn>
                <a:cxn ang="T11">
                  <a:pos x="T6" y="T7"/>
                </a:cxn>
              </a:cxnLst>
              <a:rect l="T12" t="T13" r="T14" b="T15"/>
              <a:pathLst>
                <a:path w="143" h="143">
                  <a:moveTo>
                    <a:pt x="72" y="143"/>
                  </a:moveTo>
                  <a:lnTo>
                    <a:pt x="0" y="0"/>
                  </a:lnTo>
                  <a:cubicBezTo>
                    <a:pt x="45" y="23"/>
                    <a:pt x="98" y="23"/>
                    <a:pt x="143" y="0"/>
                  </a:cubicBezTo>
                  <a:lnTo>
                    <a:pt x="72" y="143"/>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64" name="Freeform 75">
              <a:extLst>
                <a:ext uri="{FF2B5EF4-FFF2-40B4-BE49-F238E27FC236}">
                  <a16:creationId xmlns:a16="http://schemas.microsoft.com/office/drawing/2014/main" id="{EC1DCC90-CF10-A146-9AAD-22396AF17C3C}"/>
                </a:ext>
              </a:extLst>
            </p:cNvPr>
            <p:cNvSpPr>
              <a:spLocks/>
            </p:cNvSpPr>
            <p:nvPr/>
          </p:nvSpPr>
          <p:spPr bwMode="auto">
            <a:xfrm>
              <a:off x="4841" y="3273"/>
              <a:ext cx="22" cy="21"/>
            </a:xfrm>
            <a:custGeom>
              <a:avLst/>
              <a:gdLst>
                <a:gd name="T0" fmla="*/ 0 w 49"/>
                <a:gd name="T1" fmla="*/ 0 h 49"/>
                <a:gd name="T2" fmla="*/ 0 w 49"/>
                <a:gd name="T3" fmla="*/ 0 h 49"/>
                <a:gd name="T4" fmla="*/ 0 w 49"/>
                <a:gd name="T5" fmla="*/ 0 h 49"/>
                <a:gd name="T6" fmla="*/ 0 w 49"/>
                <a:gd name="T7" fmla="*/ 0 h 49"/>
                <a:gd name="T8" fmla="*/ 0 w 49"/>
                <a:gd name="T9" fmla="*/ 0 h 49"/>
                <a:gd name="T10" fmla="*/ 0 w 49"/>
                <a:gd name="T11" fmla="*/ 0 h 49"/>
                <a:gd name="T12" fmla="*/ 0 60000 65536"/>
                <a:gd name="T13" fmla="*/ 0 60000 65536"/>
                <a:gd name="T14" fmla="*/ 0 60000 65536"/>
                <a:gd name="T15" fmla="*/ 0 60000 65536"/>
                <a:gd name="T16" fmla="*/ 0 60000 65536"/>
                <a:gd name="T17" fmla="*/ 0 60000 65536"/>
                <a:gd name="T18" fmla="*/ 0 w 49"/>
                <a:gd name="T19" fmla="*/ 0 h 49"/>
                <a:gd name="T20" fmla="*/ 49 w 49"/>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49" h="49">
                  <a:moveTo>
                    <a:pt x="0" y="24"/>
                  </a:moveTo>
                  <a:cubicBezTo>
                    <a:pt x="0" y="11"/>
                    <a:pt x="11" y="0"/>
                    <a:pt x="25" y="0"/>
                  </a:cubicBezTo>
                  <a:cubicBezTo>
                    <a:pt x="38" y="0"/>
                    <a:pt x="49" y="11"/>
                    <a:pt x="49" y="24"/>
                  </a:cubicBezTo>
                  <a:cubicBezTo>
                    <a:pt x="49" y="24"/>
                    <a:pt x="49" y="24"/>
                    <a:pt x="49" y="24"/>
                  </a:cubicBezTo>
                  <a:cubicBezTo>
                    <a:pt x="49" y="38"/>
                    <a:pt x="38" y="49"/>
                    <a:pt x="25" y="49"/>
                  </a:cubicBezTo>
                  <a:cubicBezTo>
                    <a:pt x="11" y="49"/>
                    <a:pt x="0" y="38"/>
                    <a:pt x="0" y="24"/>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65" name="Freeform 76">
              <a:extLst>
                <a:ext uri="{FF2B5EF4-FFF2-40B4-BE49-F238E27FC236}">
                  <a16:creationId xmlns:a16="http://schemas.microsoft.com/office/drawing/2014/main" id="{A0A1ACE6-9CB2-C64F-909A-45EB70660838}"/>
                </a:ext>
              </a:extLst>
            </p:cNvPr>
            <p:cNvSpPr>
              <a:spLocks/>
            </p:cNvSpPr>
            <p:nvPr/>
          </p:nvSpPr>
          <p:spPr bwMode="auto">
            <a:xfrm>
              <a:off x="4841" y="3273"/>
              <a:ext cx="22" cy="21"/>
            </a:xfrm>
            <a:custGeom>
              <a:avLst/>
              <a:gdLst>
                <a:gd name="T0" fmla="*/ 0 w 22"/>
                <a:gd name="T1" fmla="*/ 10 h 21"/>
                <a:gd name="T2" fmla="*/ 11 w 22"/>
                <a:gd name="T3" fmla="*/ 0 h 21"/>
                <a:gd name="T4" fmla="*/ 22 w 22"/>
                <a:gd name="T5" fmla="*/ 10 h 21"/>
                <a:gd name="T6" fmla="*/ 22 w 22"/>
                <a:gd name="T7" fmla="*/ 10 h 21"/>
                <a:gd name="T8" fmla="*/ 11 w 22"/>
                <a:gd name="T9" fmla="*/ 21 h 21"/>
                <a:gd name="T10" fmla="*/ 0 w 22"/>
                <a:gd name="T11" fmla="*/ 10 h 21"/>
                <a:gd name="T12" fmla="*/ 0 60000 65536"/>
                <a:gd name="T13" fmla="*/ 0 60000 65536"/>
                <a:gd name="T14" fmla="*/ 0 60000 65536"/>
                <a:gd name="T15" fmla="*/ 0 60000 65536"/>
                <a:gd name="T16" fmla="*/ 0 60000 65536"/>
                <a:gd name="T17" fmla="*/ 0 60000 65536"/>
                <a:gd name="T18" fmla="*/ 0 w 22"/>
                <a:gd name="T19" fmla="*/ 0 h 21"/>
                <a:gd name="T20" fmla="*/ 22 w 22"/>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22" h="21">
                  <a:moveTo>
                    <a:pt x="0" y="10"/>
                  </a:moveTo>
                  <a:cubicBezTo>
                    <a:pt x="0" y="5"/>
                    <a:pt x="5" y="0"/>
                    <a:pt x="11" y="0"/>
                  </a:cubicBezTo>
                  <a:cubicBezTo>
                    <a:pt x="17" y="0"/>
                    <a:pt x="22" y="5"/>
                    <a:pt x="22" y="10"/>
                  </a:cubicBezTo>
                  <a:cubicBezTo>
                    <a:pt x="22" y="10"/>
                    <a:pt x="22" y="10"/>
                    <a:pt x="22" y="10"/>
                  </a:cubicBezTo>
                  <a:cubicBezTo>
                    <a:pt x="22" y="17"/>
                    <a:pt x="17" y="21"/>
                    <a:pt x="11" y="21"/>
                  </a:cubicBezTo>
                  <a:cubicBezTo>
                    <a:pt x="5" y="21"/>
                    <a:pt x="0" y="17"/>
                    <a:pt x="0" y="10"/>
                  </a:cubicBezTo>
                </a:path>
              </a:pathLst>
            </a:custGeom>
            <a:noFill/>
            <a:ln w="31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66" name="Line 77">
              <a:extLst>
                <a:ext uri="{FF2B5EF4-FFF2-40B4-BE49-F238E27FC236}">
                  <a16:creationId xmlns:a16="http://schemas.microsoft.com/office/drawing/2014/main" id="{075E30FB-98F9-CC4B-BAA6-8818847F92D5}"/>
                </a:ext>
              </a:extLst>
            </p:cNvPr>
            <p:cNvSpPr>
              <a:spLocks noChangeShapeType="1"/>
            </p:cNvSpPr>
            <p:nvPr/>
          </p:nvSpPr>
          <p:spPr bwMode="auto">
            <a:xfrm>
              <a:off x="3512" y="3078"/>
              <a:ext cx="1" cy="169"/>
            </a:xfrm>
            <a:prstGeom prst="line">
              <a:avLst/>
            </a:prstGeom>
            <a:noFill/>
            <a:ln w="11113" cap="rnd">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67" name="Freeform 78">
              <a:extLst>
                <a:ext uri="{FF2B5EF4-FFF2-40B4-BE49-F238E27FC236}">
                  <a16:creationId xmlns:a16="http://schemas.microsoft.com/office/drawing/2014/main" id="{B9E4D12F-AAB7-3F4F-83BB-4581F40F6B0E}"/>
                </a:ext>
              </a:extLst>
            </p:cNvPr>
            <p:cNvSpPr>
              <a:spLocks/>
            </p:cNvSpPr>
            <p:nvPr/>
          </p:nvSpPr>
          <p:spPr bwMode="auto">
            <a:xfrm>
              <a:off x="3481" y="3232"/>
              <a:ext cx="62" cy="62"/>
            </a:xfrm>
            <a:custGeom>
              <a:avLst/>
              <a:gdLst>
                <a:gd name="T0" fmla="*/ 0 w 142"/>
                <a:gd name="T1" fmla="*/ 0 h 143"/>
                <a:gd name="T2" fmla="*/ 0 w 142"/>
                <a:gd name="T3" fmla="*/ 0 h 143"/>
                <a:gd name="T4" fmla="*/ 0 w 142"/>
                <a:gd name="T5" fmla="*/ 0 h 143"/>
                <a:gd name="T6" fmla="*/ 0 w 142"/>
                <a:gd name="T7" fmla="*/ 0 h 143"/>
                <a:gd name="T8" fmla="*/ 0 w 142"/>
                <a:gd name="T9" fmla="*/ 0 h 143"/>
                <a:gd name="T10" fmla="*/ 0 60000 65536"/>
                <a:gd name="T11" fmla="*/ 0 60000 65536"/>
                <a:gd name="T12" fmla="*/ 0 60000 65536"/>
                <a:gd name="T13" fmla="*/ 0 60000 65536"/>
                <a:gd name="T14" fmla="*/ 0 60000 65536"/>
                <a:gd name="T15" fmla="*/ 0 w 142"/>
                <a:gd name="T16" fmla="*/ 0 h 143"/>
                <a:gd name="T17" fmla="*/ 142 w 142"/>
                <a:gd name="T18" fmla="*/ 143 h 143"/>
              </a:gdLst>
              <a:ahLst/>
              <a:cxnLst>
                <a:cxn ang="T10">
                  <a:pos x="T0" y="T1"/>
                </a:cxn>
                <a:cxn ang="T11">
                  <a:pos x="T2" y="T3"/>
                </a:cxn>
                <a:cxn ang="T12">
                  <a:pos x="T4" y="T5"/>
                </a:cxn>
                <a:cxn ang="T13">
                  <a:pos x="T6" y="T7"/>
                </a:cxn>
                <a:cxn ang="T14">
                  <a:pos x="T8" y="T9"/>
                </a:cxn>
              </a:cxnLst>
              <a:rect l="T15" t="T16" r="T17" b="T18"/>
              <a:pathLst>
                <a:path w="142" h="143">
                  <a:moveTo>
                    <a:pt x="71" y="143"/>
                  </a:moveTo>
                  <a:lnTo>
                    <a:pt x="0" y="0"/>
                  </a:lnTo>
                  <a:cubicBezTo>
                    <a:pt x="44" y="23"/>
                    <a:pt x="97" y="23"/>
                    <a:pt x="142" y="0"/>
                  </a:cubicBezTo>
                  <a:lnTo>
                    <a:pt x="71" y="143"/>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68" name="Freeform 79">
              <a:extLst>
                <a:ext uri="{FF2B5EF4-FFF2-40B4-BE49-F238E27FC236}">
                  <a16:creationId xmlns:a16="http://schemas.microsoft.com/office/drawing/2014/main" id="{6D335D8D-9989-DC48-8DE4-75A41549B0AC}"/>
                </a:ext>
              </a:extLst>
            </p:cNvPr>
            <p:cNvSpPr>
              <a:spLocks/>
            </p:cNvSpPr>
            <p:nvPr/>
          </p:nvSpPr>
          <p:spPr bwMode="auto">
            <a:xfrm>
              <a:off x="4269" y="2991"/>
              <a:ext cx="86" cy="542"/>
            </a:xfrm>
            <a:custGeom>
              <a:avLst/>
              <a:gdLst>
                <a:gd name="T0" fmla="*/ 0 w 198"/>
                <a:gd name="T1" fmla="*/ 0 h 1241"/>
                <a:gd name="T2" fmla="*/ 0 w 198"/>
                <a:gd name="T3" fmla="*/ 0 h 1241"/>
                <a:gd name="T4" fmla="*/ 0 w 198"/>
                <a:gd name="T5" fmla="*/ 0 h 1241"/>
                <a:gd name="T6" fmla="*/ 0 w 198"/>
                <a:gd name="T7" fmla="*/ 0 h 1241"/>
                <a:gd name="T8" fmla="*/ 0 w 198"/>
                <a:gd name="T9" fmla="*/ 0 h 1241"/>
                <a:gd name="T10" fmla="*/ 0 w 198"/>
                <a:gd name="T11" fmla="*/ 0 h 1241"/>
                <a:gd name="T12" fmla="*/ 0 w 198"/>
                <a:gd name="T13" fmla="*/ 0 h 1241"/>
                <a:gd name="T14" fmla="*/ 0 w 198"/>
                <a:gd name="T15" fmla="*/ 0 h 1241"/>
                <a:gd name="T16" fmla="*/ 0 w 198"/>
                <a:gd name="T17" fmla="*/ 0 h 1241"/>
                <a:gd name="T18" fmla="*/ 0 w 198"/>
                <a:gd name="T19" fmla="*/ 0 h 1241"/>
                <a:gd name="T20" fmla="*/ 0 w 198"/>
                <a:gd name="T21" fmla="*/ 0 h 1241"/>
                <a:gd name="T22" fmla="*/ 0 w 198"/>
                <a:gd name="T23" fmla="*/ 0 h 1241"/>
                <a:gd name="T24" fmla="*/ 0 w 198"/>
                <a:gd name="T25" fmla="*/ 0 h 12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8"/>
                <a:gd name="T40" fmla="*/ 0 h 1241"/>
                <a:gd name="T41" fmla="*/ 198 w 198"/>
                <a:gd name="T42" fmla="*/ 1241 h 12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8" h="1241">
                  <a:moveTo>
                    <a:pt x="198" y="0"/>
                  </a:moveTo>
                  <a:cubicBezTo>
                    <a:pt x="143" y="0"/>
                    <a:pt x="99" y="45"/>
                    <a:pt x="99" y="99"/>
                  </a:cubicBezTo>
                  <a:cubicBezTo>
                    <a:pt x="99" y="99"/>
                    <a:pt x="99" y="99"/>
                    <a:pt x="99" y="99"/>
                  </a:cubicBezTo>
                  <a:lnTo>
                    <a:pt x="99" y="248"/>
                  </a:lnTo>
                  <a:cubicBezTo>
                    <a:pt x="99" y="303"/>
                    <a:pt x="54" y="348"/>
                    <a:pt x="0" y="348"/>
                  </a:cubicBezTo>
                  <a:cubicBezTo>
                    <a:pt x="0" y="348"/>
                    <a:pt x="0" y="348"/>
                    <a:pt x="0" y="348"/>
                  </a:cubicBezTo>
                  <a:cubicBezTo>
                    <a:pt x="54" y="348"/>
                    <a:pt x="99" y="392"/>
                    <a:pt x="99" y="447"/>
                  </a:cubicBezTo>
                  <a:cubicBezTo>
                    <a:pt x="99" y="447"/>
                    <a:pt x="99" y="447"/>
                    <a:pt x="99" y="447"/>
                  </a:cubicBezTo>
                  <a:lnTo>
                    <a:pt x="99" y="1142"/>
                  </a:lnTo>
                  <a:cubicBezTo>
                    <a:pt x="99" y="1197"/>
                    <a:pt x="143" y="1241"/>
                    <a:pt x="198" y="1241"/>
                  </a:cubicBezTo>
                  <a:cubicBezTo>
                    <a:pt x="198" y="1241"/>
                    <a:pt x="198" y="1241"/>
                    <a:pt x="198" y="1241"/>
                  </a:cubicBezTo>
                </a:path>
              </a:pathLst>
            </a:cu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69" name="Freeform 80">
              <a:extLst>
                <a:ext uri="{FF2B5EF4-FFF2-40B4-BE49-F238E27FC236}">
                  <a16:creationId xmlns:a16="http://schemas.microsoft.com/office/drawing/2014/main" id="{9841E86F-21EA-3249-978F-C7217D58AE4E}"/>
                </a:ext>
              </a:extLst>
            </p:cNvPr>
            <p:cNvSpPr>
              <a:spLocks/>
            </p:cNvSpPr>
            <p:nvPr/>
          </p:nvSpPr>
          <p:spPr bwMode="auto">
            <a:xfrm>
              <a:off x="3728" y="3146"/>
              <a:ext cx="544" cy="101"/>
            </a:xfrm>
            <a:custGeom>
              <a:avLst/>
              <a:gdLst>
                <a:gd name="T0" fmla="*/ 544 w 544"/>
                <a:gd name="T1" fmla="*/ 0 h 101"/>
                <a:gd name="T2" fmla="*/ 0 w 544"/>
                <a:gd name="T3" fmla="*/ 0 h 101"/>
                <a:gd name="T4" fmla="*/ 0 w 544"/>
                <a:gd name="T5" fmla="*/ 101 h 101"/>
                <a:gd name="T6" fmla="*/ 0 60000 65536"/>
                <a:gd name="T7" fmla="*/ 0 60000 65536"/>
                <a:gd name="T8" fmla="*/ 0 60000 65536"/>
                <a:gd name="T9" fmla="*/ 0 w 544"/>
                <a:gd name="T10" fmla="*/ 0 h 101"/>
                <a:gd name="T11" fmla="*/ 544 w 544"/>
                <a:gd name="T12" fmla="*/ 101 h 101"/>
              </a:gdLst>
              <a:ahLst/>
              <a:cxnLst>
                <a:cxn ang="T6">
                  <a:pos x="T0" y="T1"/>
                </a:cxn>
                <a:cxn ang="T7">
                  <a:pos x="T2" y="T3"/>
                </a:cxn>
                <a:cxn ang="T8">
                  <a:pos x="T4" y="T5"/>
                </a:cxn>
              </a:cxnLst>
              <a:rect l="T9" t="T10" r="T11" b="T12"/>
              <a:pathLst>
                <a:path w="544" h="101">
                  <a:moveTo>
                    <a:pt x="544" y="0"/>
                  </a:moveTo>
                  <a:lnTo>
                    <a:pt x="0" y="0"/>
                  </a:lnTo>
                  <a:lnTo>
                    <a:pt x="0" y="101"/>
                  </a:lnTo>
                </a:path>
              </a:pathLst>
            </a:cu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70" name="Freeform 81">
              <a:extLst>
                <a:ext uri="{FF2B5EF4-FFF2-40B4-BE49-F238E27FC236}">
                  <a16:creationId xmlns:a16="http://schemas.microsoft.com/office/drawing/2014/main" id="{9952C618-0DF2-C145-8F6F-AEF5D888BEE0}"/>
                </a:ext>
              </a:extLst>
            </p:cNvPr>
            <p:cNvSpPr>
              <a:spLocks/>
            </p:cNvSpPr>
            <p:nvPr/>
          </p:nvSpPr>
          <p:spPr bwMode="auto">
            <a:xfrm>
              <a:off x="3697" y="3232"/>
              <a:ext cx="62" cy="62"/>
            </a:xfrm>
            <a:custGeom>
              <a:avLst/>
              <a:gdLst>
                <a:gd name="T0" fmla="*/ 0 w 143"/>
                <a:gd name="T1" fmla="*/ 0 h 143"/>
                <a:gd name="T2" fmla="*/ 0 w 143"/>
                <a:gd name="T3" fmla="*/ 0 h 143"/>
                <a:gd name="T4" fmla="*/ 0 w 143"/>
                <a:gd name="T5" fmla="*/ 0 h 143"/>
                <a:gd name="T6" fmla="*/ 0 w 143"/>
                <a:gd name="T7" fmla="*/ 0 h 143"/>
                <a:gd name="T8" fmla="*/ 0 w 143"/>
                <a:gd name="T9" fmla="*/ 0 h 143"/>
                <a:gd name="T10" fmla="*/ 0 60000 65536"/>
                <a:gd name="T11" fmla="*/ 0 60000 65536"/>
                <a:gd name="T12" fmla="*/ 0 60000 65536"/>
                <a:gd name="T13" fmla="*/ 0 60000 65536"/>
                <a:gd name="T14" fmla="*/ 0 60000 65536"/>
                <a:gd name="T15" fmla="*/ 0 w 143"/>
                <a:gd name="T16" fmla="*/ 0 h 143"/>
                <a:gd name="T17" fmla="*/ 143 w 143"/>
                <a:gd name="T18" fmla="*/ 143 h 143"/>
              </a:gdLst>
              <a:ahLst/>
              <a:cxnLst>
                <a:cxn ang="T10">
                  <a:pos x="T0" y="T1"/>
                </a:cxn>
                <a:cxn ang="T11">
                  <a:pos x="T2" y="T3"/>
                </a:cxn>
                <a:cxn ang="T12">
                  <a:pos x="T4" y="T5"/>
                </a:cxn>
                <a:cxn ang="T13">
                  <a:pos x="T6" y="T7"/>
                </a:cxn>
                <a:cxn ang="T14">
                  <a:pos x="T8" y="T9"/>
                </a:cxn>
              </a:cxnLst>
              <a:rect l="T15" t="T16" r="T17" b="T18"/>
              <a:pathLst>
                <a:path w="143" h="143">
                  <a:moveTo>
                    <a:pt x="72" y="143"/>
                  </a:moveTo>
                  <a:lnTo>
                    <a:pt x="0" y="0"/>
                  </a:lnTo>
                  <a:cubicBezTo>
                    <a:pt x="45" y="23"/>
                    <a:pt x="98" y="23"/>
                    <a:pt x="143" y="0"/>
                  </a:cubicBezTo>
                  <a:lnTo>
                    <a:pt x="72" y="143"/>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71" name="Rectangle 82">
              <a:extLst>
                <a:ext uri="{FF2B5EF4-FFF2-40B4-BE49-F238E27FC236}">
                  <a16:creationId xmlns:a16="http://schemas.microsoft.com/office/drawing/2014/main" id="{A6B7CD18-90E0-F847-A9E0-DC421AFB50C3}"/>
                </a:ext>
              </a:extLst>
            </p:cNvPr>
            <p:cNvSpPr>
              <a:spLocks noChangeArrowheads="1"/>
            </p:cNvSpPr>
            <p:nvPr/>
          </p:nvSpPr>
          <p:spPr bwMode="auto">
            <a:xfrm>
              <a:off x="3842" y="3152"/>
              <a:ext cx="20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Data</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72" name="Rectangle 83">
              <a:extLst>
                <a:ext uri="{FF2B5EF4-FFF2-40B4-BE49-F238E27FC236}">
                  <a16:creationId xmlns:a16="http://schemas.microsoft.com/office/drawing/2014/main" id="{38F8DED6-3F54-2245-88CB-118F64FE8119}"/>
                </a:ext>
              </a:extLst>
            </p:cNvPr>
            <p:cNvSpPr>
              <a:spLocks noChangeArrowheads="1"/>
            </p:cNvSpPr>
            <p:nvPr/>
          </p:nvSpPr>
          <p:spPr bwMode="auto">
            <a:xfrm>
              <a:off x="3185" y="3110"/>
              <a:ext cx="30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All Hit?</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73" name="Rectangle 84">
              <a:extLst>
                <a:ext uri="{FF2B5EF4-FFF2-40B4-BE49-F238E27FC236}">
                  <a16:creationId xmlns:a16="http://schemas.microsoft.com/office/drawing/2014/main" id="{3772A410-6C78-BC48-BBF2-9D99496EECA1}"/>
                </a:ext>
              </a:extLst>
            </p:cNvPr>
            <p:cNvSpPr>
              <a:spLocks noChangeArrowheads="1"/>
            </p:cNvSpPr>
            <p:nvPr/>
          </p:nvSpPr>
          <p:spPr bwMode="auto">
            <a:xfrm>
              <a:off x="4421" y="2782"/>
              <a:ext cx="250"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Miss?</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74" name="Freeform 85">
              <a:extLst>
                <a:ext uri="{FF2B5EF4-FFF2-40B4-BE49-F238E27FC236}">
                  <a16:creationId xmlns:a16="http://schemas.microsoft.com/office/drawing/2014/main" id="{9C3BE821-75ED-B040-BE71-4E3F1C15CBC3}"/>
                </a:ext>
              </a:extLst>
            </p:cNvPr>
            <p:cNvSpPr>
              <a:spLocks/>
            </p:cNvSpPr>
            <p:nvPr/>
          </p:nvSpPr>
          <p:spPr bwMode="auto">
            <a:xfrm>
              <a:off x="4841" y="3316"/>
              <a:ext cx="22" cy="22"/>
            </a:xfrm>
            <a:custGeom>
              <a:avLst/>
              <a:gdLst>
                <a:gd name="T0" fmla="*/ 0 w 49"/>
                <a:gd name="T1" fmla="*/ 0 h 49"/>
                <a:gd name="T2" fmla="*/ 0 w 49"/>
                <a:gd name="T3" fmla="*/ 0 h 49"/>
                <a:gd name="T4" fmla="*/ 0 w 49"/>
                <a:gd name="T5" fmla="*/ 0 h 49"/>
                <a:gd name="T6" fmla="*/ 0 w 49"/>
                <a:gd name="T7" fmla="*/ 0 h 49"/>
                <a:gd name="T8" fmla="*/ 0 w 49"/>
                <a:gd name="T9" fmla="*/ 0 h 49"/>
                <a:gd name="T10" fmla="*/ 0 w 49"/>
                <a:gd name="T11" fmla="*/ 0 h 49"/>
                <a:gd name="T12" fmla="*/ 0 60000 65536"/>
                <a:gd name="T13" fmla="*/ 0 60000 65536"/>
                <a:gd name="T14" fmla="*/ 0 60000 65536"/>
                <a:gd name="T15" fmla="*/ 0 60000 65536"/>
                <a:gd name="T16" fmla="*/ 0 60000 65536"/>
                <a:gd name="T17" fmla="*/ 0 60000 65536"/>
                <a:gd name="T18" fmla="*/ 0 w 49"/>
                <a:gd name="T19" fmla="*/ 0 h 49"/>
                <a:gd name="T20" fmla="*/ 49 w 49"/>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49" h="49">
                  <a:moveTo>
                    <a:pt x="0" y="25"/>
                  </a:moveTo>
                  <a:cubicBezTo>
                    <a:pt x="0" y="11"/>
                    <a:pt x="11" y="0"/>
                    <a:pt x="25" y="0"/>
                  </a:cubicBezTo>
                  <a:cubicBezTo>
                    <a:pt x="38" y="0"/>
                    <a:pt x="49" y="11"/>
                    <a:pt x="49" y="25"/>
                  </a:cubicBezTo>
                  <a:cubicBezTo>
                    <a:pt x="49" y="25"/>
                    <a:pt x="49" y="25"/>
                    <a:pt x="49" y="25"/>
                  </a:cubicBezTo>
                  <a:cubicBezTo>
                    <a:pt x="49" y="38"/>
                    <a:pt x="38" y="49"/>
                    <a:pt x="25" y="49"/>
                  </a:cubicBezTo>
                  <a:cubicBezTo>
                    <a:pt x="11" y="49"/>
                    <a:pt x="0" y="38"/>
                    <a:pt x="0" y="25"/>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75" name="Freeform 86">
              <a:extLst>
                <a:ext uri="{FF2B5EF4-FFF2-40B4-BE49-F238E27FC236}">
                  <a16:creationId xmlns:a16="http://schemas.microsoft.com/office/drawing/2014/main" id="{60AC778C-E163-C045-83F2-2E7B7DE2EC2F}"/>
                </a:ext>
              </a:extLst>
            </p:cNvPr>
            <p:cNvSpPr>
              <a:spLocks/>
            </p:cNvSpPr>
            <p:nvPr/>
          </p:nvSpPr>
          <p:spPr bwMode="auto">
            <a:xfrm>
              <a:off x="4841" y="3316"/>
              <a:ext cx="22" cy="22"/>
            </a:xfrm>
            <a:custGeom>
              <a:avLst/>
              <a:gdLst>
                <a:gd name="T0" fmla="*/ 0 w 22"/>
                <a:gd name="T1" fmla="*/ 11 h 22"/>
                <a:gd name="T2" fmla="*/ 11 w 22"/>
                <a:gd name="T3" fmla="*/ 0 h 22"/>
                <a:gd name="T4" fmla="*/ 22 w 22"/>
                <a:gd name="T5" fmla="*/ 11 h 22"/>
                <a:gd name="T6" fmla="*/ 22 w 22"/>
                <a:gd name="T7" fmla="*/ 11 h 22"/>
                <a:gd name="T8" fmla="*/ 11 w 22"/>
                <a:gd name="T9" fmla="*/ 22 h 22"/>
                <a:gd name="T10" fmla="*/ 0 w 22"/>
                <a:gd name="T11" fmla="*/ 11 h 22"/>
                <a:gd name="T12" fmla="*/ 0 60000 65536"/>
                <a:gd name="T13" fmla="*/ 0 60000 65536"/>
                <a:gd name="T14" fmla="*/ 0 60000 65536"/>
                <a:gd name="T15" fmla="*/ 0 60000 65536"/>
                <a:gd name="T16" fmla="*/ 0 60000 65536"/>
                <a:gd name="T17" fmla="*/ 0 60000 65536"/>
                <a:gd name="T18" fmla="*/ 0 w 22"/>
                <a:gd name="T19" fmla="*/ 0 h 22"/>
                <a:gd name="T20" fmla="*/ 22 w 22"/>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22" h="22">
                  <a:moveTo>
                    <a:pt x="0" y="11"/>
                  </a:moveTo>
                  <a:cubicBezTo>
                    <a:pt x="0" y="5"/>
                    <a:pt x="5" y="0"/>
                    <a:pt x="11" y="0"/>
                  </a:cubicBezTo>
                  <a:cubicBezTo>
                    <a:pt x="17" y="0"/>
                    <a:pt x="22" y="5"/>
                    <a:pt x="22" y="11"/>
                  </a:cubicBezTo>
                  <a:cubicBezTo>
                    <a:pt x="22" y="11"/>
                    <a:pt x="22" y="11"/>
                    <a:pt x="22" y="11"/>
                  </a:cubicBezTo>
                  <a:cubicBezTo>
                    <a:pt x="22" y="17"/>
                    <a:pt x="17" y="22"/>
                    <a:pt x="11" y="22"/>
                  </a:cubicBezTo>
                  <a:cubicBezTo>
                    <a:pt x="5" y="22"/>
                    <a:pt x="0" y="17"/>
                    <a:pt x="0" y="11"/>
                  </a:cubicBezTo>
                </a:path>
              </a:pathLst>
            </a:custGeom>
            <a:noFill/>
            <a:ln w="31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76" name="Freeform 87">
              <a:extLst>
                <a:ext uri="{FF2B5EF4-FFF2-40B4-BE49-F238E27FC236}">
                  <a16:creationId xmlns:a16="http://schemas.microsoft.com/office/drawing/2014/main" id="{EA47F9E9-3023-1548-964F-014ADC077290}"/>
                </a:ext>
              </a:extLst>
            </p:cNvPr>
            <p:cNvSpPr>
              <a:spLocks/>
            </p:cNvSpPr>
            <p:nvPr/>
          </p:nvSpPr>
          <p:spPr bwMode="auto">
            <a:xfrm>
              <a:off x="4841" y="3359"/>
              <a:ext cx="22" cy="22"/>
            </a:xfrm>
            <a:custGeom>
              <a:avLst/>
              <a:gdLst>
                <a:gd name="T0" fmla="*/ 0 w 49"/>
                <a:gd name="T1" fmla="*/ 0 h 50"/>
                <a:gd name="T2" fmla="*/ 0 w 49"/>
                <a:gd name="T3" fmla="*/ 0 h 50"/>
                <a:gd name="T4" fmla="*/ 0 w 49"/>
                <a:gd name="T5" fmla="*/ 0 h 50"/>
                <a:gd name="T6" fmla="*/ 0 w 49"/>
                <a:gd name="T7" fmla="*/ 0 h 50"/>
                <a:gd name="T8" fmla="*/ 0 w 49"/>
                <a:gd name="T9" fmla="*/ 0 h 50"/>
                <a:gd name="T10" fmla="*/ 0 w 49"/>
                <a:gd name="T11" fmla="*/ 0 h 50"/>
                <a:gd name="T12" fmla="*/ 0 60000 65536"/>
                <a:gd name="T13" fmla="*/ 0 60000 65536"/>
                <a:gd name="T14" fmla="*/ 0 60000 65536"/>
                <a:gd name="T15" fmla="*/ 0 60000 65536"/>
                <a:gd name="T16" fmla="*/ 0 60000 65536"/>
                <a:gd name="T17" fmla="*/ 0 60000 65536"/>
                <a:gd name="T18" fmla="*/ 0 w 49"/>
                <a:gd name="T19" fmla="*/ 0 h 50"/>
                <a:gd name="T20" fmla="*/ 49 w 49"/>
                <a:gd name="T21" fmla="*/ 50 h 50"/>
              </a:gdLst>
              <a:ahLst/>
              <a:cxnLst>
                <a:cxn ang="T12">
                  <a:pos x="T0" y="T1"/>
                </a:cxn>
                <a:cxn ang="T13">
                  <a:pos x="T2" y="T3"/>
                </a:cxn>
                <a:cxn ang="T14">
                  <a:pos x="T4" y="T5"/>
                </a:cxn>
                <a:cxn ang="T15">
                  <a:pos x="T6" y="T7"/>
                </a:cxn>
                <a:cxn ang="T16">
                  <a:pos x="T8" y="T9"/>
                </a:cxn>
                <a:cxn ang="T17">
                  <a:pos x="T10" y="T11"/>
                </a:cxn>
              </a:cxnLst>
              <a:rect l="T18" t="T19" r="T20" b="T21"/>
              <a:pathLst>
                <a:path w="49" h="50">
                  <a:moveTo>
                    <a:pt x="0" y="25"/>
                  </a:moveTo>
                  <a:cubicBezTo>
                    <a:pt x="0" y="11"/>
                    <a:pt x="11" y="0"/>
                    <a:pt x="25" y="0"/>
                  </a:cubicBezTo>
                  <a:cubicBezTo>
                    <a:pt x="38" y="0"/>
                    <a:pt x="49" y="11"/>
                    <a:pt x="49" y="25"/>
                  </a:cubicBezTo>
                  <a:cubicBezTo>
                    <a:pt x="49" y="25"/>
                    <a:pt x="49" y="25"/>
                    <a:pt x="49" y="25"/>
                  </a:cubicBezTo>
                  <a:cubicBezTo>
                    <a:pt x="49" y="39"/>
                    <a:pt x="38" y="50"/>
                    <a:pt x="25" y="50"/>
                  </a:cubicBezTo>
                  <a:cubicBezTo>
                    <a:pt x="11" y="50"/>
                    <a:pt x="0" y="39"/>
                    <a:pt x="0" y="25"/>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77" name="Freeform 88">
              <a:extLst>
                <a:ext uri="{FF2B5EF4-FFF2-40B4-BE49-F238E27FC236}">
                  <a16:creationId xmlns:a16="http://schemas.microsoft.com/office/drawing/2014/main" id="{51969325-EEFE-2948-B645-F56A275BEA48}"/>
                </a:ext>
              </a:extLst>
            </p:cNvPr>
            <p:cNvSpPr>
              <a:spLocks/>
            </p:cNvSpPr>
            <p:nvPr/>
          </p:nvSpPr>
          <p:spPr bwMode="auto">
            <a:xfrm>
              <a:off x="4841" y="3359"/>
              <a:ext cx="22" cy="22"/>
            </a:xfrm>
            <a:custGeom>
              <a:avLst/>
              <a:gdLst>
                <a:gd name="T0" fmla="*/ 0 w 22"/>
                <a:gd name="T1" fmla="*/ 11 h 22"/>
                <a:gd name="T2" fmla="*/ 11 w 22"/>
                <a:gd name="T3" fmla="*/ 0 h 22"/>
                <a:gd name="T4" fmla="*/ 22 w 22"/>
                <a:gd name="T5" fmla="*/ 11 h 22"/>
                <a:gd name="T6" fmla="*/ 22 w 22"/>
                <a:gd name="T7" fmla="*/ 11 h 22"/>
                <a:gd name="T8" fmla="*/ 11 w 22"/>
                <a:gd name="T9" fmla="*/ 22 h 22"/>
                <a:gd name="T10" fmla="*/ 0 w 22"/>
                <a:gd name="T11" fmla="*/ 11 h 22"/>
                <a:gd name="T12" fmla="*/ 0 60000 65536"/>
                <a:gd name="T13" fmla="*/ 0 60000 65536"/>
                <a:gd name="T14" fmla="*/ 0 60000 65536"/>
                <a:gd name="T15" fmla="*/ 0 60000 65536"/>
                <a:gd name="T16" fmla="*/ 0 60000 65536"/>
                <a:gd name="T17" fmla="*/ 0 60000 65536"/>
                <a:gd name="T18" fmla="*/ 0 w 22"/>
                <a:gd name="T19" fmla="*/ 0 h 22"/>
                <a:gd name="T20" fmla="*/ 22 w 22"/>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22" h="22">
                  <a:moveTo>
                    <a:pt x="0" y="11"/>
                  </a:moveTo>
                  <a:cubicBezTo>
                    <a:pt x="0" y="5"/>
                    <a:pt x="5" y="0"/>
                    <a:pt x="11" y="0"/>
                  </a:cubicBezTo>
                  <a:cubicBezTo>
                    <a:pt x="17" y="0"/>
                    <a:pt x="22" y="5"/>
                    <a:pt x="22" y="11"/>
                  </a:cubicBezTo>
                  <a:cubicBezTo>
                    <a:pt x="22" y="11"/>
                    <a:pt x="22" y="11"/>
                    <a:pt x="22" y="11"/>
                  </a:cubicBezTo>
                  <a:cubicBezTo>
                    <a:pt x="22" y="17"/>
                    <a:pt x="17" y="22"/>
                    <a:pt x="11" y="22"/>
                  </a:cubicBezTo>
                  <a:cubicBezTo>
                    <a:pt x="5" y="22"/>
                    <a:pt x="0" y="17"/>
                    <a:pt x="0" y="11"/>
                  </a:cubicBezTo>
                </a:path>
              </a:pathLst>
            </a:custGeom>
            <a:noFill/>
            <a:ln w="31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78" name="Rectangle 89">
              <a:extLst>
                <a:ext uri="{FF2B5EF4-FFF2-40B4-BE49-F238E27FC236}">
                  <a16:creationId xmlns:a16="http://schemas.microsoft.com/office/drawing/2014/main" id="{DAAF72F5-62E1-9341-BB2C-21F7EAD4FE34}"/>
                </a:ext>
              </a:extLst>
            </p:cNvPr>
            <p:cNvSpPr>
              <a:spLocks noChangeArrowheads="1"/>
            </p:cNvSpPr>
            <p:nvPr/>
          </p:nvSpPr>
          <p:spPr bwMode="auto">
            <a:xfrm>
              <a:off x="4330" y="2496"/>
              <a:ext cx="986"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1"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Warps accessing</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79" name="Rectangle 90">
              <a:extLst>
                <a:ext uri="{FF2B5EF4-FFF2-40B4-BE49-F238E27FC236}">
                  <a16:creationId xmlns:a16="http://schemas.microsoft.com/office/drawing/2014/main" id="{37CA6D3D-E6C3-0C48-83A8-B2F5E767BC65}"/>
                </a:ext>
              </a:extLst>
            </p:cNvPr>
            <p:cNvSpPr>
              <a:spLocks noChangeArrowheads="1"/>
            </p:cNvSpPr>
            <p:nvPr/>
          </p:nvSpPr>
          <p:spPr bwMode="auto">
            <a:xfrm>
              <a:off x="4372" y="2635"/>
              <a:ext cx="104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1"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memory hierarchy</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80" name="Rectangle 91">
              <a:extLst>
                <a:ext uri="{FF2B5EF4-FFF2-40B4-BE49-F238E27FC236}">
                  <a16:creationId xmlns:a16="http://schemas.microsoft.com/office/drawing/2014/main" id="{83F4AF8B-1822-2748-8C19-DC655F233760}"/>
                </a:ext>
              </a:extLst>
            </p:cNvPr>
            <p:cNvSpPr>
              <a:spLocks noChangeArrowheads="1"/>
            </p:cNvSpPr>
            <p:nvPr/>
          </p:nvSpPr>
          <p:spPr bwMode="auto">
            <a:xfrm>
              <a:off x="3079" y="998"/>
              <a:ext cx="1125" cy="694"/>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81" name="Rectangle 92">
              <a:extLst>
                <a:ext uri="{FF2B5EF4-FFF2-40B4-BE49-F238E27FC236}">
                  <a16:creationId xmlns:a16="http://schemas.microsoft.com/office/drawing/2014/main" id="{B9EB6500-2260-3B4E-9BBB-375153B4DD2C}"/>
                </a:ext>
              </a:extLst>
            </p:cNvPr>
            <p:cNvSpPr>
              <a:spLocks noChangeArrowheads="1"/>
            </p:cNvSpPr>
            <p:nvPr/>
          </p:nvSpPr>
          <p:spPr bwMode="auto">
            <a:xfrm>
              <a:off x="3079" y="998"/>
              <a:ext cx="1125" cy="694"/>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82" name="Rectangle 93">
              <a:extLst>
                <a:ext uri="{FF2B5EF4-FFF2-40B4-BE49-F238E27FC236}">
                  <a16:creationId xmlns:a16="http://schemas.microsoft.com/office/drawing/2014/main" id="{D4C78DC0-F7B6-C54D-9B2B-04F637AF9B7B}"/>
                </a:ext>
              </a:extLst>
            </p:cNvPr>
            <p:cNvSpPr>
              <a:spLocks noChangeArrowheads="1"/>
            </p:cNvSpPr>
            <p:nvPr/>
          </p:nvSpPr>
          <p:spPr bwMode="auto">
            <a:xfrm>
              <a:off x="3166" y="1085"/>
              <a:ext cx="951" cy="130"/>
            </a:xfrm>
            <a:prstGeom prst="rect">
              <a:avLst/>
            </a:prstGeom>
            <a:solidFill>
              <a:srgbClr val="FFB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83" name="Rectangle 94">
              <a:extLst>
                <a:ext uri="{FF2B5EF4-FFF2-40B4-BE49-F238E27FC236}">
                  <a16:creationId xmlns:a16="http://schemas.microsoft.com/office/drawing/2014/main" id="{8496DCAC-7521-C14C-8BA1-3E0182F680A4}"/>
                </a:ext>
              </a:extLst>
            </p:cNvPr>
            <p:cNvSpPr>
              <a:spLocks noChangeArrowheads="1"/>
            </p:cNvSpPr>
            <p:nvPr/>
          </p:nvSpPr>
          <p:spPr bwMode="auto">
            <a:xfrm>
              <a:off x="3166" y="1085"/>
              <a:ext cx="951" cy="130"/>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84" name="Rectangle 95">
              <a:extLst>
                <a:ext uri="{FF2B5EF4-FFF2-40B4-BE49-F238E27FC236}">
                  <a16:creationId xmlns:a16="http://schemas.microsoft.com/office/drawing/2014/main" id="{CB592180-29EB-7C4C-A43E-F8F73A877946}"/>
                </a:ext>
              </a:extLst>
            </p:cNvPr>
            <p:cNvSpPr>
              <a:spLocks noChangeArrowheads="1"/>
            </p:cNvSpPr>
            <p:nvPr/>
          </p:nvSpPr>
          <p:spPr bwMode="auto">
            <a:xfrm>
              <a:off x="3255" y="1078"/>
              <a:ext cx="80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Thread Warp 3</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85" name="Rectangle 96">
              <a:extLst>
                <a:ext uri="{FF2B5EF4-FFF2-40B4-BE49-F238E27FC236}">
                  <a16:creationId xmlns:a16="http://schemas.microsoft.com/office/drawing/2014/main" id="{14C66D13-F1F6-D94C-A723-FC2E6705AD24}"/>
                </a:ext>
              </a:extLst>
            </p:cNvPr>
            <p:cNvSpPr>
              <a:spLocks noChangeArrowheads="1"/>
            </p:cNvSpPr>
            <p:nvPr/>
          </p:nvSpPr>
          <p:spPr bwMode="auto">
            <a:xfrm>
              <a:off x="3166" y="1215"/>
              <a:ext cx="951" cy="130"/>
            </a:xfrm>
            <a:prstGeom prst="rect">
              <a:avLst/>
            </a:prstGeom>
            <a:solidFill>
              <a:srgbClr val="FFD5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86" name="Rectangle 97">
              <a:extLst>
                <a:ext uri="{FF2B5EF4-FFF2-40B4-BE49-F238E27FC236}">
                  <a16:creationId xmlns:a16="http://schemas.microsoft.com/office/drawing/2014/main" id="{D0C415B5-8951-0247-BD4F-A975684A8D84}"/>
                </a:ext>
              </a:extLst>
            </p:cNvPr>
            <p:cNvSpPr>
              <a:spLocks noChangeArrowheads="1"/>
            </p:cNvSpPr>
            <p:nvPr/>
          </p:nvSpPr>
          <p:spPr bwMode="auto">
            <a:xfrm>
              <a:off x="3166" y="1215"/>
              <a:ext cx="951" cy="130"/>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87" name="Rectangle 98">
              <a:extLst>
                <a:ext uri="{FF2B5EF4-FFF2-40B4-BE49-F238E27FC236}">
                  <a16:creationId xmlns:a16="http://schemas.microsoft.com/office/drawing/2014/main" id="{9639E5B7-930F-364E-8238-0241626C4CCD}"/>
                </a:ext>
              </a:extLst>
            </p:cNvPr>
            <p:cNvSpPr>
              <a:spLocks noChangeArrowheads="1"/>
            </p:cNvSpPr>
            <p:nvPr/>
          </p:nvSpPr>
          <p:spPr bwMode="auto">
            <a:xfrm>
              <a:off x="3255" y="1211"/>
              <a:ext cx="80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Thread Warp 8</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88" name="Freeform 99">
              <a:extLst>
                <a:ext uri="{FF2B5EF4-FFF2-40B4-BE49-F238E27FC236}">
                  <a16:creationId xmlns:a16="http://schemas.microsoft.com/office/drawing/2014/main" id="{D6FE6C0C-012A-334C-AA61-DBBDB341D375}"/>
                </a:ext>
              </a:extLst>
            </p:cNvPr>
            <p:cNvSpPr>
              <a:spLocks/>
            </p:cNvSpPr>
            <p:nvPr/>
          </p:nvSpPr>
          <p:spPr bwMode="auto">
            <a:xfrm>
              <a:off x="3631" y="1367"/>
              <a:ext cx="21" cy="21"/>
            </a:xfrm>
            <a:custGeom>
              <a:avLst/>
              <a:gdLst>
                <a:gd name="T0" fmla="*/ 0 w 49"/>
                <a:gd name="T1" fmla="*/ 0 h 50"/>
                <a:gd name="T2" fmla="*/ 0 w 49"/>
                <a:gd name="T3" fmla="*/ 0 h 50"/>
                <a:gd name="T4" fmla="*/ 0 w 49"/>
                <a:gd name="T5" fmla="*/ 0 h 50"/>
                <a:gd name="T6" fmla="*/ 0 w 49"/>
                <a:gd name="T7" fmla="*/ 0 h 50"/>
                <a:gd name="T8" fmla="*/ 0 w 49"/>
                <a:gd name="T9" fmla="*/ 0 h 50"/>
                <a:gd name="T10" fmla="*/ 0 w 49"/>
                <a:gd name="T11" fmla="*/ 0 h 50"/>
                <a:gd name="T12" fmla="*/ 0 60000 65536"/>
                <a:gd name="T13" fmla="*/ 0 60000 65536"/>
                <a:gd name="T14" fmla="*/ 0 60000 65536"/>
                <a:gd name="T15" fmla="*/ 0 60000 65536"/>
                <a:gd name="T16" fmla="*/ 0 60000 65536"/>
                <a:gd name="T17" fmla="*/ 0 60000 65536"/>
                <a:gd name="T18" fmla="*/ 0 w 49"/>
                <a:gd name="T19" fmla="*/ 0 h 50"/>
                <a:gd name="T20" fmla="*/ 49 w 49"/>
                <a:gd name="T21" fmla="*/ 50 h 50"/>
              </a:gdLst>
              <a:ahLst/>
              <a:cxnLst>
                <a:cxn ang="T12">
                  <a:pos x="T0" y="T1"/>
                </a:cxn>
                <a:cxn ang="T13">
                  <a:pos x="T2" y="T3"/>
                </a:cxn>
                <a:cxn ang="T14">
                  <a:pos x="T4" y="T5"/>
                </a:cxn>
                <a:cxn ang="T15">
                  <a:pos x="T6" y="T7"/>
                </a:cxn>
                <a:cxn ang="T16">
                  <a:pos x="T8" y="T9"/>
                </a:cxn>
                <a:cxn ang="T17">
                  <a:pos x="T10" y="T11"/>
                </a:cxn>
              </a:cxnLst>
              <a:rect l="T18" t="T19" r="T20" b="T21"/>
              <a:pathLst>
                <a:path w="49" h="50">
                  <a:moveTo>
                    <a:pt x="0" y="25"/>
                  </a:moveTo>
                  <a:cubicBezTo>
                    <a:pt x="0" y="11"/>
                    <a:pt x="11" y="0"/>
                    <a:pt x="24" y="0"/>
                  </a:cubicBezTo>
                  <a:cubicBezTo>
                    <a:pt x="38" y="0"/>
                    <a:pt x="49" y="11"/>
                    <a:pt x="49" y="25"/>
                  </a:cubicBezTo>
                  <a:cubicBezTo>
                    <a:pt x="49" y="25"/>
                    <a:pt x="49" y="25"/>
                    <a:pt x="49" y="25"/>
                  </a:cubicBezTo>
                  <a:cubicBezTo>
                    <a:pt x="49" y="39"/>
                    <a:pt x="38" y="50"/>
                    <a:pt x="24" y="50"/>
                  </a:cubicBezTo>
                  <a:cubicBezTo>
                    <a:pt x="11" y="50"/>
                    <a:pt x="0" y="39"/>
                    <a:pt x="0" y="25"/>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89" name="Freeform 100">
              <a:extLst>
                <a:ext uri="{FF2B5EF4-FFF2-40B4-BE49-F238E27FC236}">
                  <a16:creationId xmlns:a16="http://schemas.microsoft.com/office/drawing/2014/main" id="{49C315DE-E95C-C14B-87DC-110B542BD4BA}"/>
                </a:ext>
              </a:extLst>
            </p:cNvPr>
            <p:cNvSpPr>
              <a:spLocks/>
            </p:cNvSpPr>
            <p:nvPr/>
          </p:nvSpPr>
          <p:spPr bwMode="auto">
            <a:xfrm>
              <a:off x="3631" y="1367"/>
              <a:ext cx="21" cy="21"/>
            </a:xfrm>
            <a:custGeom>
              <a:avLst/>
              <a:gdLst>
                <a:gd name="T0" fmla="*/ 0 w 21"/>
                <a:gd name="T1" fmla="*/ 11 h 21"/>
                <a:gd name="T2" fmla="*/ 10 w 21"/>
                <a:gd name="T3" fmla="*/ 0 h 21"/>
                <a:gd name="T4" fmla="*/ 21 w 21"/>
                <a:gd name="T5" fmla="*/ 11 h 21"/>
                <a:gd name="T6" fmla="*/ 21 w 21"/>
                <a:gd name="T7" fmla="*/ 11 h 21"/>
                <a:gd name="T8" fmla="*/ 10 w 21"/>
                <a:gd name="T9" fmla="*/ 21 h 21"/>
                <a:gd name="T10" fmla="*/ 0 w 21"/>
                <a:gd name="T11" fmla="*/ 11 h 21"/>
                <a:gd name="T12" fmla="*/ 0 60000 65536"/>
                <a:gd name="T13" fmla="*/ 0 60000 65536"/>
                <a:gd name="T14" fmla="*/ 0 60000 65536"/>
                <a:gd name="T15" fmla="*/ 0 60000 65536"/>
                <a:gd name="T16" fmla="*/ 0 60000 65536"/>
                <a:gd name="T17" fmla="*/ 0 60000 65536"/>
                <a:gd name="T18" fmla="*/ 0 w 21"/>
                <a:gd name="T19" fmla="*/ 0 h 21"/>
                <a:gd name="T20" fmla="*/ 21 w 21"/>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21" h="21">
                  <a:moveTo>
                    <a:pt x="0" y="11"/>
                  </a:moveTo>
                  <a:cubicBezTo>
                    <a:pt x="0" y="4"/>
                    <a:pt x="5" y="0"/>
                    <a:pt x="10" y="0"/>
                  </a:cubicBezTo>
                  <a:cubicBezTo>
                    <a:pt x="16" y="0"/>
                    <a:pt x="21" y="4"/>
                    <a:pt x="21" y="11"/>
                  </a:cubicBezTo>
                  <a:cubicBezTo>
                    <a:pt x="21" y="11"/>
                    <a:pt x="21" y="11"/>
                    <a:pt x="21" y="11"/>
                  </a:cubicBezTo>
                  <a:cubicBezTo>
                    <a:pt x="21" y="17"/>
                    <a:pt x="16" y="21"/>
                    <a:pt x="10" y="21"/>
                  </a:cubicBezTo>
                  <a:cubicBezTo>
                    <a:pt x="5" y="21"/>
                    <a:pt x="0" y="17"/>
                    <a:pt x="0" y="11"/>
                  </a:cubicBezTo>
                </a:path>
              </a:pathLst>
            </a:custGeom>
            <a:noFill/>
            <a:ln w="31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90" name="Freeform 101">
              <a:extLst>
                <a:ext uri="{FF2B5EF4-FFF2-40B4-BE49-F238E27FC236}">
                  <a16:creationId xmlns:a16="http://schemas.microsoft.com/office/drawing/2014/main" id="{FB5C0108-2EB9-9143-AEB1-C1875D10C163}"/>
                </a:ext>
              </a:extLst>
            </p:cNvPr>
            <p:cNvSpPr>
              <a:spLocks/>
            </p:cNvSpPr>
            <p:nvPr/>
          </p:nvSpPr>
          <p:spPr bwMode="auto">
            <a:xfrm>
              <a:off x="3631" y="1410"/>
              <a:ext cx="21" cy="22"/>
            </a:xfrm>
            <a:custGeom>
              <a:avLst/>
              <a:gdLst>
                <a:gd name="T0" fmla="*/ 0 w 49"/>
                <a:gd name="T1" fmla="*/ 0 h 50"/>
                <a:gd name="T2" fmla="*/ 0 w 49"/>
                <a:gd name="T3" fmla="*/ 0 h 50"/>
                <a:gd name="T4" fmla="*/ 0 w 49"/>
                <a:gd name="T5" fmla="*/ 0 h 50"/>
                <a:gd name="T6" fmla="*/ 0 w 49"/>
                <a:gd name="T7" fmla="*/ 0 h 50"/>
                <a:gd name="T8" fmla="*/ 0 w 49"/>
                <a:gd name="T9" fmla="*/ 0 h 50"/>
                <a:gd name="T10" fmla="*/ 0 w 49"/>
                <a:gd name="T11" fmla="*/ 0 h 50"/>
                <a:gd name="T12" fmla="*/ 0 60000 65536"/>
                <a:gd name="T13" fmla="*/ 0 60000 65536"/>
                <a:gd name="T14" fmla="*/ 0 60000 65536"/>
                <a:gd name="T15" fmla="*/ 0 60000 65536"/>
                <a:gd name="T16" fmla="*/ 0 60000 65536"/>
                <a:gd name="T17" fmla="*/ 0 60000 65536"/>
                <a:gd name="T18" fmla="*/ 0 w 49"/>
                <a:gd name="T19" fmla="*/ 0 h 50"/>
                <a:gd name="T20" fmla="*/ 49 w 49"/>
                <a:gd name="T21" fmla="*/ 50 h 50"/>
              </a:gdLst>
              <a:ahLst/>
              <a:cxnLst>
                <a:cxn ang="T12">
                  <a:pos x="T0" y="T1"/>
                </a:cxn>
                <a:cxn ang="T13">
                  <a:pos x="T2" y="T3"/>
                </a:cxn>
                <a:cxn ang="T14">
                  <a:pos x="T4" y="T5"/>
                </a:cxn>
                <a:cxn ang="T15">
                  <a:pos x="T6" y="T7"/>
                </a:cxn>
                <a:cxn ang="T16">
                  <a:pos x="T8" y="T9"/>
                </a:cxn>
                <a:cxn ang="T17">
                  <a:pos x="T10" y="T11"/>
                </a:cxn>
              </a:cxnLst>
              <a:rect l="T18" t="T19" r="T20" b="T21"/>
              <a:pathLst>
                <a:path w="49" h="50">
                  <a:moveTo>
                    <a:pt x="0" y="25"/>
                  </a:moveTo>
                  <a:cubicBezTo>
                    <a:pt x="0" y="11"/>
                    <a:pt x="11" y="0"/>
                    <a:pt x="24" y="0"/>
                  </a:cubicBezTo>
                  <a:cubicBezTo>
                    <a:pt x="38" y="0"/>
                    <a:pt x="49" y="11"/>
                    <a:pt x="49" y="25"/>
                  </a:cubicBezTo>
                  <a:cubicBezTo>
                    <a:pt x="49" y="25"/>
                    <a:pt x="49" y="25"/>
                    <a:pt x="49" y="25"/>
                  </a:cubicBezTo>
                  <a:cubicBezTo>
                    <a:pt x="49" y="39"/>
                    <a:pt x="38" y="50"/>
                    <a:pt x="24" y="50"/>
                  </a:cubicBezTo>
                  <a:cubicBezTo>
                    <a:pt x="11" y="50"/>
                    <a:pt x="0" y="39"/>
                    <a:pt x="0" y="25"/>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91" name="Freeform 102">
              <a:extLst>
                <a:ext uri="{FF2B5EF4-FFF2-40B4-BE49-F238E27FC236}">
                  <a16:creationId xmlns:a16="http://schemas.microsoft.com/office/drawing/2014/main" id="{DB1BD8BF-D60D-AE4D-A0DC-41A23818A10D}"/>
                </a:ext>
              </a:extLst>
            </p:cNvPr>
            <p:cNvSpPr>
              <a:spLocks/>
            </p:cNvSpPr>
            <p:nvPr/>
          </p:nvSpPr>
          <p:spPr bwMode="auto">
            <a:xfrm>
              <a:off x="3631" y="1410"/>
              <a:ext cx="21" cy="22"/>
            </a:xfrm>
            <a:custGeom>
              <a:avLst/>
              <a:gdLst>
                <a:gd name="T0" fmla="*/ 0 w 21"/>
                <a:gd name="T1" fmla="*/ 11 h 22"/>
                <a:gd name="T2" fmla="*/ 10 w 21"/>
                <a:gd name="T3" fmla="*/ 0 h 22"/>
                <a:gd name="T4" fmla="*/ 21 w 21"/>
                <a:gd name="T5" fmla="*/ 11 h 22"/>
                <a:gd name="T6" fmla="*/ 21 w 21"/>
                <a:gd name="T7" fmla="*/ 11 h 22"/>
                <a:gd name="T8" fmla="*/ 10 w 21"/>
                <a:gd name="T9" fmla="*/ 22 h 22"/>
                <a:gd name="T10" fmla="*/ 0 w 21"/>
                <a:gd name="T11" fmla="*/ 11 h 22"/>
                <a:gd name="T12" fmla="*/ 0 60000 65536"/>
                <a:gd name="T13" fmla="*/ 0 60000 65536"/>
                <a:gd name="T14" fmla="*/ 0 60000 65536"/>
                <a:gd name="T15" fmla="*/ 0 60000 65536"/>
                <a:gd name="T16" fmla="*/ 0 60000 65536"/>
                <a:gd name="T17" fmla="*/ 0 60000 65536"/>
                <a:gd name="T18" fmla="*/ 0 w 21"/>
                <a:gd name="T19" fmla="*/ 0 h 22"/>
                <a:gd name="T20" fmla="*/ 21 w 21"/>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21" h="22">
                  <a:moveTo>
                    <a:pt x="0" y="11"/>
                  </a:moveTo>
                  <a:cubicBezTo>
                    <a:pt x="0" y="5"/>
                    <a:pt x="5" y="0"/>
                    <a:pt x="10" y="0"/>
                  </a:cubicBezTo>
                  <a:cubicBezTo>
                    <a:pt x="16" y="0"/>
                    <a:pt x="21" y="5"/>
                    <a:pt x="21" y="11"/>
                  </a:cubicBezTo>
                  <a:cubicBezTo>
                    <a:pt x="21" y="11"/>
                    <a:pt x="21" y="11"/>
                    <a:pt x="21" y="11"/>
                  </a:cubicBezTo>
                  <a:cubicBezTo>
                    <a:pt x="21" y="17"/>
                    <a:pt x="16" y="22"/>
                    <a:pt x="10" y="22"/>
                  </a:cubicBezTo>
                  <a:cubicBezTo>
                    <a:pt x="5" y="22"/>
                    <a:pt x="0" y="17"/>
                    <a:pt x="0" y="11"/>
                  </a:cubicBezTo>
                </a:path>
              </a:pathLst>
            </a:custGeom>
            <a:noFill/>
            <a:ln w="31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92" name="Freeform 103">
              <a:extLst>
                <a:ext uri="{FF2B5EF4-FFF2-40B4-BE49-F238E27FC236}">
                  <a16:creationId xmlns:a16="http://schemas.microsoft.com/office/drawing/2014/main" id="{6652280C-2158-7F43-8757-43EC3F418769}"/>
                </a:ext>
              </a:extLst>
            </p:cNvPr>
            <p:cNvSpPr>
              <a:spLocks/>
            </p:cNvSpPr>
            <p:nvPr/>
          </p:nvSpPr>
          <p:spPr bwMode="auto">
            <a:xfrm>
              <a:off x="3631" y="1453"/>
              <a:ext cx="21" cy="22"/>
            </a:xfrm>
            <a:custGeom>
              <a:avLst/>
              <a:gdLst>
                <a:gd name="T0" fmla="*/ 0 w 49"/>
                <a:gd name="T1" fmla="*/ 0 h 49"/>
                <a:gd name="T2" fmla="*/ 0 w 49"/>
                <a:gd name="T3" fmla="*/ 0 h 49"/>
                <a:gd name="T4" fmla="*/ 0 w 49"/>
                <a:gd name="T5" fmla="*/ 0 h 49"/>
                <a:gd name="T6" fmla="*/ 0 w 49"/>
                <a:gd name="T7" fmla="*/ 0 h 49"/>
                <a:gd name="T8" fmla="*/ 0 w 49"/>
                <a:gd name="T9" fmla="*/ 0 h 49"/>
                <a:gd name="T10" fmla="*/ 0 w 49"/>
                <a:gd name="T11" fmla="*/ 0 h 49"/>
                <a:gd name="T12" fmla="*/ 0 60000 65536"/>
                <a:gd name="T13" fmla="*/ 0 60000 65536"/>
                <a:gd name="T14" fmla="*/ 0 60000 65536"/>
                <a:gd name="T15" fmla="*/ 0 60000 65536"/>
                <a:gd name="T16" fmla="*/ 0 60000 65536"/>
                <a:gd name="T17" fmla="*/ 0 60000 65536"/>
                <a:gd name="T18" fmla="*/ 0 w 49"/>
                <a:gd name="T19" fmla="*/ 0 h 49"/>
                <a:gd name="T20" fmla="*/ 49 w 49"/>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49" h="49">
                  <a:moveTo>
                    <a:pt x="0" y="24"/>
                  </a:moveTo>
                  <a:cubicBezTo>
                    <a:pt x="0" y="11"/>
                    <a:pt x="11" y="0"/>
                    <a:pt x="24" y="0"/>
                  </a:cubicBezTo>
                  <a:cubicBezTo>
                    <a:pt x="38" y="0"/>
                    <a:pt x="49" y="11"/>
                    <a:pt x="49" y="24"/>
                  </a:cubicBezTo>
                  <a:cubicBezTo>
                    <a:pt x="49" y="24"/>
                    <a:pt x="49" y="24"/>
                    <a:pt x="49" y="24"/>
                  </a:cubicBezTo>
                  <a:cubicBezTo>
                    <a:pt x="49" y="38"/>
                    <a:pt x="38" y="49"/>
                    <a:pt x="24" y="49"/>
                  </a:cubicBezTo>
                  <a:cubicBezTo>
                    <a:pt x="11" y="49"/>
                    <a:pt x="0" y="38"/>
                    <a:pt x="0" y="24"/>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93" name="Freeform 104">
              <a:extLst>
                <a:ext uri="{FF2B5EF4-FFF2-40B4-BE49-F238E27FC236}">
                  <a16:creationId xmlns:a16="http://schemas.microsoft.com/office/drawing/2014/main" id="{A4E5B4E6-D2A8-EF4D-A340-989939F8BD9B}"/>
                </a:ext>
              </a:extLst>
            </p:cNvPr>
            <p:cNvSpPr>
              <a:spLocks/>
            </p:cNvSpPr>
            <p:nvPr/>
          </p:nvSpPr>
          <p:spPr bwMode="auto">
            <a:xfrm>
              <a:off x="3631" y="1453"/>
              <a:ext cx="21" cy="22"/>
            </a:xfrm>
            <a:custGeom>
              <a:avLst/>
              <a:gdLst>
                <a:gd name="T0" fmla="*/ 0 w 21"/>
                <a:gd name="T1" fmla="*/ 11 h 22"/>
                <a:gd name="T2" fmla="*/ 10 w 21"/>
                <a:gd name="T3" fmla="*/ 0 h 22"/>
                <a:gd name="T4" fmla="*/ 21 w 21"/>
                <a:gd name="T5" fmla="*/ 11 h 22"/>
                <a:gd name="T6" fmla="*/ 21 w 21"/>
                <a:gd name="T7" fmla="*/ 11 h 22"/>
                <a:gd name="T8" fmla="*/ 10 w 21"/>
                <a:gd name="T9" fmla="*/ 22 h 22"/>
                <a:gd name="T10" fmla="*/ 0 w 21"/>
                <a:gd name="T11" fmla="*/ 11 h 22"/>
                <a:gd name="T12" fmla="*/ 0 60000 65536"/>
                <a:gd name="T13" fmla="*/ 0 60000 65536"/>
                <a:gd name="T14" fmla="*/ 0 60000 65536"/>
                <a:gd name="T15" fmla="*/ 0 60000 65536"/>
                <a:gd name="T16" fmla="*/ 0 60000 65536"/>
                <a:gd name="T17" fmla="*/ 0 60000 65536"/>
                <a:gd name="T18" fmla="*/ 0 w 21"/>
                <a:gd name="T19" fmla="*/ 0 h 22"/>
                <a:gd name="T20" fmla="*/ 21 w 21"/>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21" h="22">
                  <a:moveTo>
                    <a:pt x="0" y="11"/>
                  </a:moveTo>
                  <a:cubicBezTo>
                    <a:pt x="0" y="5"/>
                    <a:pt x="5" y="0"/>
                    <a:pt x="10" y="0"/>
                  </a:cubicBezTo>
                  <a:cubicBezTo>
                    <a:pt x="16" y="0"/>
                    <a:pt x="21" y="5"/>
                    <a:pt x="21" y="11"/>
                  </a:cubicBezTo>
                  <a:cubicBezTo>
                    <a:pt x="21" y="11"/>
                    <a:pt x="21" y="11"/>
                    <a:pt x="21" y="11"/>
                  </a:cubicBezTo>
                  <a:cubicBezTo>
                    <a:pt x="21" y="17"/>
                    <a:pt x="16" y="22"/>
                    <a:pt x="10" y="22"/>
                  </a:cubicBezTo>
                  <a:cubicBezTo>
                    <a:pt x="5" y="22"/>
                    <a:pt x="0" y="17"/>
                    <a:pt x="0" y="11"/>
                  </a:cubicBezTo>
                </a:path>
              </a:pathLst>
            </a:custGeom>
            <a:noFill/>
            <a:ln w="31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94" name="Line 105">
              <a:extLst>
                <a:ext uri="{FF2B5EF4-FFF2-40B4-BE49-F238E27FC236}">
                  <a16:creationId xmlns:a16="http://schemas.microsoft.com/office/drawing/2014/main" id="{637C5F20-8406-994A-86E5-2B7A391010F0}"/>
                </a:ext>
              </a:extLst>
            </p:cNvPr>
            <p:cNvSpPr>
              <a:spLocks noChangeShapeType="1"/>
            </p:cNvSpPr>
            <p:nvPr/>
          </p:nvSpPr>
          <p:spPr bwMode="auto">
            <a:xfrm>
              <a:off x="3641" y="1627"/>
              <a:ext cx="1" cy="140"/>
            </a:xfrm>
            <a:prstGeom prst="line">
              <a:avLst/>
            </a:prstGeom>
            <a:noFill/>
            <a:ln w="17463" cap="rnd">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95" name="Freeform 106">
              <a:extLst>
                <a:ext uri="{FF2B5EF4-FFF2-40B4-BE49-F238E27FC236}">
                  <a16:creationId xmlns:a16="http://schemas.microsoft.com/office/drawing/2014/main" id="{B748C062-AEE0-ED46-84E0-73400100AD74}"/>
                </a:ext>
              </a:extLst>
            </p:cNvPr>
            <p:cNvSpPr>
              <a:spLocks/>
            </p:cNvSpPr>
            <p:nvPr/>
          </p:nvSpPr>
          <p:spPr bwMode="auto">
            <a:xfrm>
              <a:off x="3606" y="1750"/>
              <a:ext cx="71" cy="72"/>
            </a:xfrm>
            <a:custGeom>
              <a:avLst/>
              <a:gdLst>
                <a:gd name="T0" fmla="*/ 0 w 164"/>
                <a:gd name="T1" fmla="*/ 0 h 165"/>
                <a:gd name="T2" fmla="*/ 0 w 164"/>
                <a:gd name="T3" fmla="*/ 0 h 165"/>
                <a:gd name="T4" fmla="*/ 0 w 164"/>
                <a:gd name="T5" fmla="*/ 0 h 165"/>
                <a:gd name="T6" fmla="*/ 0 w 164"/>
                <a:gd name="T7" fmla="*/ 0 h 165"/>
                <a:gd name="T8" fmla="*/ 0 w 164"/>
                <a:gd name="T9" fmla="*/ 0 h 165"/>
                <a:gd name="T10" fmla="*/ 0 60000 65536"/>
                <a:gd name="T11" fmla="*/ 0 60000 65536"/>
                <a:gd name="T12" fmla="*/ 0 60000 65536"/>
                <a:gd name="T13" fmla="*/ 0 60000 65536"/>
                <a:gd name="T14" fmla="*/ 0 60000 65536"/>
                <a:gd name="T15" fmla="*/ 0 w 164"/>
                <a:gd name="T16" fmla="*/ 0 h 165"/>
                <a:gd name="T17" fmla="*/ 164 w 164"/>
                <a:gd name="T18" fmla="*/ 165 h 165"/>
              </a:gdLst>
              <a:ahLst/>
              <a:cxnLst>
                <a:cxn ang="T10">
                  <a:pos x="T0" y="T1"/>
                </a:cxn>
                <a:cxn ang="T11">
                  <a:pos x="T2" y="T3"/>
                </a:cxn>
                <a:cxn ang="T12">
                  <a:pos x="T4" y="T5"/>
                </a:cxn>
                <a:cxn ang="T13">
                  <a:pos x="T6" y="T7"/>
                </a:cxn>
                <a:cxn ang="T14">
                  <a:pos x="T8" y="T9"/>
                </a:cxn>
              </a:cxnLst>
              <a:rect l="T15" t="T16" r="T17" b="T18"/>
              <a:pathLst>
                <a:path w="164" h="165">
                  <a:moveTo>
                    <a:pt x="82" y="165"/>
                  </a:moveTo>
                  <a:lnTo>
                    <a:pt x="0" y="0"/>
                  </a:lnTo>
                  <a:cubicBezTo>
                    <a:pt x="52" y="26"/>
                    <a:pt x="113" y="26"/>
                    <a:pt x="164" y="0"/>
                  </a:cubicBezTo>
                  <a:lnTo>
                    <a:pt x="82" y="165"/>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96" name="Freeform 107">
              <a:extLst>
                <a:ext uri="{FF2B5EF4-FFF2-40B4-BE49-F238E27FC236}">
                  <a16:creationId xmlns:a16="http://schemas.microsoft.com/office/drawing/2014/main" id="{EBCC4B88-2BBF-244B-8B69-C8F4D0C58D9D}"/>
                </a:ext>
              </a:extLst>
            </p:cNvPr>
            <p:cNvSpPr>
              <a:spLocks/>
            </p:cNvSpPr>
            <p:nvPr/>
          </p:nvSpPr>
          <p:spPr bwMode="auto">
            <a:xfrm>
              <a:off x="2993" y="950"/>
              <a:ext cx="648" cy="2807"/>
            </a:xfrm>
            <a:custGeom>
              <a:avLst/>
              <a:gdLst>
                <a:gd name="T0" fmla="*/ 648 w 648"/>
                <a:gd name="T1" fmla="*/ 3813 h 2751"/>
                <a:gd name="T2" fmla="*/ 648 w 648"/>
                <a:gd name="T3" fmla="*/ 4032 h 2751"/>
                <a:gd name="T4" fmla="*/ 0 w 648"/>
                <a:gd name="T5" fmla="*/ 4032 h 2751"/>
                <a:gd name="T6" fmla="*/ 0 w 648"/>
                <a:gd name="T7" fmla="*/ 0 h 2751"/>
                <a:gd name="T8" fmla="*/ 648 w 648"/>
                <a:gd name="T9" fmla="*/ 0 h 2751"/>
                <a:gd name="T10" fmla="*/ 648 w 648"/>
                <a:gd name="T11" fmla="*/ 80 h 2751"/>
                <a:gd name="T12" fmla="*/ 0 60000 65536"/>
                <a:gd name="T13" fmla="*/ 0 60000 65536"/>
                <a:gd name="T14" fmla="*/ 0 60000 65536"/>
                <a:gd name="T15" fmla="*/ 0 60000 65536"/>
                <a:gd name="T16" fmla="*/ 0 60000 65536"/>
                <a:gd name="T17" fmla="*/ 0 60000 65536"/>
                <a:gd name="T18" fmla="*/ 0 w 648"/>
                <a:gd name="T19" fmla="*/ 0 h 2751"/>
                <a:gd name="T20" fmla="*/ 648 w 648"/>
                <a:gd name="T21" fmla="*/ 2751 h 2751"/>
              </a:gdLst>
              <a:ahLst/>
              <a:cxnLst>
                <a:cxn ang="T12">
                  <a:pos x="T0" y="T1"/>
                </a:cxn>
                <a:cxn ang="T13">
                  <a:pos x="T2" y="T3"/>
                </a:cxn>
                <a:cxn ang="T14">
                  <a:pos x="T4" y="T5"/>
                </a:cxn>
                <a:cxn ang="T15">
                  <a:pos x="T6" y="T7"/>
                </a:cxn>
                <a:cxn ang="T16">
                  <a:pos x="T8" y="T9"/>
                </a:cxn>
                <a:cxn ang="T17">
                  <a:pos x="T10" y="T11"/>
                </a:cxn>
              </a:cxnLst>
              <a:rect l="T18" t="T19" r="T20" b="T21"/>
              <a:pathLst>
                <a:path w="648" h="2751">
                  <a:moveTo>
                    <a:pt x="648" y="2600"/>
                  </a:moveTo>
                  <a:lnTo>
                    <a:pt x="648" y="2751"/>
                  </a:lnTo>
                  <a:lnTo>
                    <a:pt x="0" y="2751"/>
                  </a:lnTo>
                  <a:lnTo>
                    <a:pt x="0" y="0"/>
                  </a:lnTo>
                  <a:lnTo>
                    <a:pt x="648" y="0"/>
                  </a:lnTo>
                  <a:lnTo>
                    <a:pt x="648" y="58"/>
                  </a:lnTo>
                </a:path>
              </a:pathLst>
            </a:custGeom>
            <a:noFill/>
            <a:ln w="174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97" name="Freeform 108">
              <a:extLst>
                <a:ext uri="{FF2B5EF4-FFF2-40B4-BE49-F238E27FC236}">
                  <a16:creationId xmlns:a16="http://schemas.microsoft.com/office/drawing/2014/main" id="{6B979DFB-E4C8-4A44-B53A-916E05A32673}"/>
                </a:ext>
              </a:extLst>
            </p:cNvPr>
            <p:cNvSpPr>
              <a:spLocks/>
            </p:cNvSpPr>
            <p:nvPr/>
          </p:nvSpPr>
          <p:spPr bwMode="auto">
            <a:xfrm>
              <a:off x="3606" y="1018"/>
              <a:ext cx="71" cy="72"/>
            </a:xfrm>
            <a:custGeom>
              <a:avLst/>
              <a:gdLst>
                <a:gd name="T0" fmla="*/ 0 w 164"/>
                <a:gd name="T1" fmla="*/ 0 h 165"/>
                <a:gd name="T2" fmla="*/ 0 w 164"/>
                <a:gd name="T3" fmla="*/ 0 h 165"/>
                <a:gd name="T4" fmla="*/ 0 w 164"/>
                <a:gd name="T5" fmla="*/ 0 h 165"/>
                <a:gd name="T6" fmla="*/ 0 w 164"/>
                <a:gd name="T7" fmla="*/ 0 h 165"/>
                <a:gd name="T8" fmla="*/ 0 w 164"/>
                <a:gd name="T9" fmla="*/ 0 h 165"/>
                <a:gd name="T10" fmla="*/ 0 60000 65536"/>
                <a:gd name="T11" fmla="*/ 0 60000 65536"/>
                <a:gd name="T12" fmla="*/ 0 60000 65536"/>
                <a:gd name="T13" fmla="*/ 0 60000 65536"/>
                <a:gd name="T14" fmla="*/ 0 60000 65536"/>
                <a:gd name="T15" fmla="*/ 0 w 164"/>
                <a:gd name="T16" fmla="*/ 0 h 165"/>
                <a:gd name="T17" fmla="*/ 164 w 164"/>
                <a:gd name="T18" fmla="*/ 165 h 165"/>
              </a:gdLst>
              <a:ahLst/>
              <a:cxnLst>
                <a:cxn ang="T10">
                  <a:pos x="T0" y="T1"/>
                </a:cxn>
                <a:cxn ang="T11">
                  <a:pos x="T2" y="T3"/>
                </a:cxn>
                <a:cxn ang="T12">
                  <a:pos x="T4" y="T5"/>
                </a:cxn>
                <a:cxn ang="T13">
                  <a:pos x="T6" y="T7"/>
                </a:cxn>
                <a:cxn ang="T14">
                  <a:pos x="T8" y="T9"/>
                </a:cxn>
              </a:cxnLst>
              <a:rect l="T15" t="T16" r="T17" b="T18"/>
              <a:pathLst>
                <a:path w="164" h="165">
                  <a:moveTo>
                    <a:pt x="82" y="165"/>
                  </a:moveTo>
                  <a:lnTo>
                    <a:pt x="0" y="0"/>
                  </a:lnTo>
                  <a:cubicBezTo>
                    <a:pt x="52" y="26"/>
                    <a:pt x="113" y="26"/>
                    <a:pt x="164" y="0"/>
                  </a:cubicBezTo>
                  <a:lnTo>
                    <a:pt x="82" y="165"/>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98" name="Rectangle 109">
              <a:extLst>
                <a:ext uri="{FF2B5EF4-FFF2-40B4-BE49-F238E27FC236}">
                  <a16:creationId xmlns:a16="http://schemas.microsoft.com/office/drawing/2014/main" id="{0363BDB1-F7F6-AE4B-9CA9-C864E6FB273C}"/>
                </a:ext>
              </a:extLst>
            </p:cNvPr>
            <p:cNvSpPr>
              <a:spLocks noChangeArrowheads="1"/>
            </p:cNvSpPr>
            <p:nvPr/>
          </p:nvSpPr>
          <p:spPr bwMode="auto">
            <a:xfrm>
              <a:off x="3166" y="3468"/>
              <a:ext cx="951" cy="13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99" name="Rectangle 110">
              <a:extLst>
                <a:ext uri="{FF2B5EF4-FFF2-40B4-BE49-F238E27FC236}">
                  <a16:creationId xmlns:a16="http://schemas.microsoft.com/office/drawing/2014/main" id="{892C6088-0F85-5242-8C81-C34E079C21FA}"/>
                </a:ext>
              </a:extLst>
            </p:cNvPr>
            <p:cNvSpPr>
              <a:spLocks noChangeArrowheads="1"/>
            </p:cNvSpPr>
            <p:nvPr/>
          </p:nvSpPr>
          <p:spPr bwMode="auto">
            <a:xfrm>
              <a:off x="3166" y="3468"/>
              <a:ext cx="951" cy="130"/>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00" name="Rectangle 111">
              <a:extLst>
                <a:ext uri="{FF2B5EF4-FFF2-40B4-BE49-F238E27FC236}">
                  <a16:creationId xmlns:a16="http://schemas.microsoft.com/office/drawing/2014/main" id="{196FBC25-6511-F640-9AC8-DC330BD4C9DF}"/>
                </a:ext>
              </a:extLst>
            </p:cNvPr>
            <p:cNvSpPr>
              <a:spLocks noChangeArrowheads="1"/>
            </p:cNvSpPr>
            <p:nvPr/>
          </p:nvSpPr>
          <p:spPr bwMode="auto">
            <a:xfrm>
              <a:off x="3388" y="3459"/>
              <a:ext cx="53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Writeback</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01" name="Rectangle 112">
              <a:extLst>
                <a:ext uri="{FF2B5EF4-FFF2-40B4-BE49-F238E27FC236}">
                  <a16:creationId xmlns:a16="http://schemas.microsoft.com/office/drawing/2014/main" id="{A8A714B5-DBF3-AA42-B58B-9CB0E828E8C6}"/>
                </a:ext>
              </a:extLst>
            </p:cNvPr>
            <p:cNvSpPr>
              <a:spLocks noChangeArrowheads="1"/>
            </p:cNvSpPr>
            <p:nvPr/>
          </p:nvSpPr>
          <p:spPr bwMode="auto">
            <a:xfrm>
              <a:off x="4344" y="1023"/>
              <a:ext cx="911"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1"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Warps available</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02" name="Rectangle 113">
              <a:extLst>
                <a:ext uri="{FF2B5EF4-FFF2-40B4-BE49-F238E27FC236}">
                  <a16:creationId xmlns:a16="http://schemas.microsoft.com/office/drawing/2014/main" id="{3094FAE2-91CD-5A4D-8653-FF845DF4B465}"/>
                </a:ext>
              </a:extLst>
            </p:cNvPr>
            <p:cNvSpPr>
              <a:spLocks noChangeArrowheads="1"/>
            </p:cNvSpPr>
            <p:nvPr/>
          </p:nvSpPr>
          <p:spPr bwMode="auto">
            <a:xfrm>
              <a:off x="4435" y="1162"/>
              <a:ext cx="82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1"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for scheduling</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03" name="Freeform 114">
              <a:extLst>
                <a:ext uri="{FF2B5EF4-FFF2-40B4-BE49-F238E27FC236}">
                  <a16:creationId xmlns:a16="http://schemas.microsoft.com/office/drawing/2014/main" id="{21CBC687-C7AA-9E4A-BC93-2DFAC238E7B5}"/>
                </a:ext>
              </a:extLst>
            </p:cNvPr>
            <p:cNvSpPr>
              <a:spLocks/>
            </p:cNvSpPr>
            <p:nvPr/>
          </p:nvSpPr>
          <p:spPr bwMode="auto">
            <a:xfrm>
              <a:off x="3674" y="2374"/>
              <a:ext cx="21" cy="22"/>
            </a:xfrm>
            <a:custGeom>
              <a:avLst/>
              <a:gdLst>
                <a:gd name="T0" fmla="*/ 0 w 49"/>
                <a:gd name="T1" fmla="*/ 0 h 50"/>
                <a:gd name="T2" fmla="*/ 0 w 49"/>
                <a:gd name="T3" fmla="*/ 0 h 50"/>
                <a:gd name="T4" fmla="*/ 0 w 49"/>
                <a:gd name="T5" fmla="*/ 0 h 50"/>
                <a:gd name="T6" fmla="*/ 0 w 49"/>
                <a:gd name="T7" fmla="*/ 0 h 50"/>
                <a:gd name="T8" fmla="*/ 0 w 49"/>
                <a:gd name="T9" fmla="*/ 0 h 50"/>
                <a:gd name="T10" fmla="*/ 0 w 49"/>
                <a:gd name="T11" fmla="*/ 0 h 50"/>
                <a:gd name="T12" fmla="*/ 0 60000 65536"/>
                <a:gd name="T13" fmla="*/ 0 60000 65536"/>
                <a:gd name="T14" fmla="*/ 0 60000 65536"/>
                <a:gd name="T15" fmla="*/ 0 60000 65536"/>
                <a:gd name="T16" fmla="*/ 0 60000 65536"/>
                <a:gd name="T17" fmla="*/ 0 60000 65536"/>
                <a:gd name="T18" fmla="*/ 0 w 49"/>
                <a:gd name="T19" fmla="*/ 0 h 50"/>
                <a:gd name="T20" fmla="*/ 49 w 49"/>
                <a:gd name="T21" fmla="*/ 50 h 50"/>
              </a:gdLst>
              <a:ahLst/>
              <a:cxnLst>
                <a:cxn ang="T12">
                  <a:pos x="T0" y="T1"/>
                </a:cxn>
                <a:cxn ang="T13">
                  <a:pos x="T2" y="T3"/>
                </a:cxn>
                <a:cxn ang="T14">
                  <a:pos x="T4" y="T5"/>
                </a:cxn>
                <a:cxn ang="T15">
                  <a:pos x="T6" y="T7"/>
                </a:cxn>
                <a:cxn ang="T16">
                  <a:pos x="T8" y="T9"/>
                </a:cxn>
                <a:cxn ang="T17">
                  <a:pos x="T10" y="T11"/>
                </a:cxn>
              </a:cxnLst>
              <a:rect l="T18" t="T19" r="T20" b="T21"/>
              <a:pathLst>
                <a:path w="49" h="50">
                  <a:moveTo>
                    <a:pt x="0" y="25"/>
                  </a:moveTo>
                  <a:cubicBezTo>
                    <a:pt x="0" y="12"/>
                    <a:pt x="11" y="0"/>
                    <a:pt x="24" y="0"/>
                  </a:cubicBezTo>
                  <a:cubicBezTo>
                    <a:pt x="38" y="0"/>
                    <a:pt x="49" y="12"/>
                    <a:pt x="49" y="25"/>
                  </a:cubicBezTo>
                  <a:cubicBezTo>
                    <a:pt x="49" y="25"/>
                    <a:pt x="49" y="25"/>
                    <a:pt x="49" y="25"/>
                  </a:cubicBezTo>
                  <a:cubicBezTo>
                    <a:pt x="49" y="39"/>
                    <a:pt x="38" y="50"/>
                    <a:pt x="24" y="50"/>
                  </a:cubicBezTo>
                  <a:cubicBezTo>
                    <a:pt x="11" y="50"/>
                    <a:pt x="0" y="39"/>
                    <a:pt x="0" y="25"/>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04" name="Freeform 115">
              <a:extLst>
                <a:ext uri="{FF2B5EF4-FFF2-40B4-BE49-F238E27FC236}">
                  <a16:creationId xmlns:a16="http://schemas.microsoft.com/office/drawing/2014/main" id="{044EFE44-6550-224A-8350-43E9FBD122E3}"/>
                </a:ext>
              </a:extLst>
            </p:cNvPr>
            <p:cNvSpPr>
              <a:spLocks/>
            </p:cNvSpPr>
            <p:nvPr/>
          </p:nvSpPr>
          <p:spPr bwMode="auto">
            <a:xfrm>
              <a:off x="3674" y="2374"/>
              <a:ext cx="21" cy="22"/>
            </a:xfrm>
            <a:custGeom>
              <a:avLst/>
              <a:gdLst>
                <a:gd name="T0" fmla="*/ 0 w 21"/>
                <a:gd name="T1" fmla="*/ 11 h 22"/>
                <a:gd name="T2" fmla="*/ 10 w 21"/>
                <a:gd name="T3" fmla="*/ 0 h 22"/>
                <a:gd name="T4" fmla="*/ 21 w 21"/>
                <a:gd name="T5" fmla="*/ 11 h 22"/>
                <a:gd name="T6" fmla="*/ 21 w 21"/>
                <a:gd name="T7" fmla="*/ 11 h 22"/>
                <a:gd name="T8" fmla="*/ 10 w 21"/>
                <a:gd name="T9" fmla="*/ 22 h 22"/>
                <a:gd name="T10" fmla="*/ 0 w 21"/>
                <a:gd name="T11" fmla="*/ 11 h 22"/>
                <a:gd name="T12" fmla="*/ 0 60000 65536"/>
                <a:gd name="T13" fmla="*/ 0 60000 65536"/>
                <a:gd name="T14" fmla="*/ 0 60000 65536"/>
                <a:gd name="T15" fmla="*/ 0 60000 65536"/>
                <a:gd name="T16" fmla="*/ 0 60000 65536"/>
                <a:gd name="T17" fmla="*/ 0 60000 65536"/>
                <a:gd name="T18" fmla="*/ 0 w 21"/>
                <a:gd name="T19" fmla="*/ 0 h 22"/>
                <a:gd name="T20" fmla="*/ 21 w 21"/>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21" h="22">
                  <a:moveTo>
                    <a:pt x="0" y="11"/>
                  </a:moveTo>
                  <a:cubicBezTo>
                    <a:pt x="0" y="5"/>
                    <a:pt x="5" y="0"/>
                    <a:pt x="10" y="0"/>
                  </a:cubicBezTo>
                  <a:cubicBezTo>
                    <a:pt x="17" y="0"/>
                    <a:pt x="21" y="5"/>
                    <a:pt x="21" y="11"/>
                  </a:cubicBezTo>
                  <a:cubicBezTo>
                    <a:pt x="21" y="11"/>
                    <a:pt x="21" y="11"/>
                    <a:pt x="21" y="11"/>
                  </a:cubicBezTo>
                  <a:cubicBezTo>
                    <a:pt x="21" y="17"/>
                    <a:pt x="17" y="22"/>
                    <a:pt x="10" y="22"/>
                  </a:cubicBezTo>
                  <a:cubicBezTo>
                    <a:pt x="5" y="22"/>
                    <a:pt x="0" y="17"/>
                    <a:pt x="0" y="11"/>
                  </a:cubicBezTo>
                </a:path>
              </a:pathLst>
            </a:custGeom>
            <a:noFill/>
            <a:ln w="31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05" name="Freeform 116">
              <a:extLst>
                <a:ext uri="{FF2B5EF4-FFF2-40B4-BE49-F238E27FC236}">
                  <a16:creationId xmlns:a16="http://schemas.microsoft.com/office/drawing/2014/main" id="{031D9DB4-1152-AE46-9316-FA24B0A206C0}"/>
                </a:ext>
              </a:extLst>
            </p:cNvPr>
            <p:cNvSpPr>
              <a:spLocks/>
            </p:cNvSpPr>
            <p:nvPr/>
          </p:nvSpPr>
          <p:spPr bwMode="auto">
            <a:xfrm>
              <a:off x="3760" y="2374"/>
              <a:ext cx="22" cy="22"/>
            </a:xfrm>
            <a:custGeom>
              <a:avLst/>
              <a:gdLst>
                <a:gd name="T0" fmla="*/ 0 w 49"/>
                <a:gd name="T1" fmla="*/ 0 h 50"/>
                <a:gd name="T2" fmla="*/ 0 w 49"/>
                <a:gd name="T3" fmla="*/ 0 h 50"/>
                <a:gd name="T4" fmla="*/ 0 w 49"/>
                <a:gd name="T5" fmla="*/ 0 h 50"/>
                <a:gd name="T6" fmla="*/ 0 w 49"/>
                <a:gd name="T7" fmla="*/ 0 h 50"/>
                <a:gd name="T8" fmla="*/ 0 w 49"/>
                <a:gd name="T9" fmla="*/ 0 h 50"/>
                <a:gd name="T10" fmla="*/ 0 w 49"/>
                <a:gd name="T11" fmla="*/ 0 h 50"/>
                <a:gd name="T12" fmla="*/ 0 60000 65536"/>
                <a:gd name="T13" fmla="*/ 0 60000 65536"/>
                <a:gd name="T14" fmla="*/ 0 60000 65536"/>
                <a:gd name="T15" fmla="*/ 0 60000 65536"/>
                <a:gd name="T16" fmla="*/ 0 60000 65536"/>
                <a:gd name="T17" fmla="*/ 0 60000 65536"/>
                <a:gd name="T18" fmla="*/ 0 w 49"/>
                <a:gd name="T19" fmla="*/ 0 h 50"/>
                <a:gd name="T20" fmla="*/ 49 w 49"/>
                <a:gd name="T21" fmla="*/ 50 h 50"/>
              </a:gdLst>
              <a:ahLst/>
              <a:cxnLst>
                <a:cxn ang="T12">
                  <a:pos x="T0" y="T1"/>
                </a:cxn>
                <a:cxn ang="T13">
                  <a:pos x="T2" y="T3"/>
                </a:cxn>
                <a:cxn ang="T14">
                  <a:pos x="T4" y="T5"/>
                </a:cxn>
                <a:cxn ang="T15">
                  <a:pos x="T6" y="T7"/>
                </a:cxn>
                <a:cxn ang="T16">
                  <a:pos x="T8" y="T9"/>
                </a:cxn>
                <a:cxn ang="T17">
                  <a:pos x="T10" y="T11"/>
                </a:cxn>
              </a:cxnLst>
              <a:rect l="T18" t="T19" r="T20" b="T21"/>
              <a:pathLst>
                <a:path w="49" h="50">
                  <a:moveTo>
                    <a:pt x="0" y="25"/>
                  </a:moveTo>
                  <a:cubicBezTo>
                    <a:pt x="0" y="12"/>
                    <a:pt x="11" y="0"/>
                    <a:pt x="25" y="0"/>
                  </a:cubicBezTo>
                  <a:cubicBezTo>
                    <a:pt x="38" y="0"/>
                    <a:pt x="49" y="12"/>
                    <a:pt x="49" y="25"/>
                  </a:cubicBezTo>
                  <a:cubicBezTo>
                    <a:pt x="49" y="25"/>
                    <a:pt x="49" y="25"/>
                    <a:pt x="49" y="25"/>
                  </a:cubicBezTo>
                  <a:cubicBezTo>
                    <a:pt x="49" y="39"/>
                    <a:pt x="38" y="50"/>
                    <a:pt x="25" y="50"/>
                  </a:cubicBezTo>
                  <a:cubicBezTo>
                    <a:pt x="11" y="50"/>
                    <a:pt x="0" y="39"/>
                    <a:pt x="0" y="25"/>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06" name="Freeform 117">
              <a:extLst>
                <a:ext uri="{FF2B5EF4-FFF2-40B4-BE49-F238E27FC236}">
                  <a16:creationId xmlns:a16="http://schemas.microsoft.com/office/drawing/2014/main" id="{2882D622-186D-F04A-93CE-667609C5DC7B}"/>
                </a:ext>
              </a:extLst>
            </p:cNvPr>
            <p:cNvSpPr>
              <a:spLocks/>
            </p:cNvSpPr>
            <p:nvPr/>
          </p:nvSpPr>
          <p:spPr bwMode="auto">
            <a:xfrm>
              <a:off x="3760" y="2374"/>
              <a:ext cx="22" cy="22"/>
            </a:xfrm>
            <a:custGeom>
              <a:avLst/>
              <a:gdLst>
                <a:gd name="T0" fmla="*/ 0 w 22"/>
                <a:gd name="T1" fmla="*/ 11 h 22"/>
                <a:gd name="T2" fmla="*/ 11 w 22"/>
                <a:gd name="T3" fmla="*/ 0 h 22"/>
                <a:gd name="T4" fmla="*/ 22 w 22"/>
                <a:gd name="T5" fmla="*/ 11 h 22"/>
                <a:gd name="T6" fmla="*/ 22 w 22"/>
                <a:gd name="T7" fmla="*/ 11 h 22"/>
                <a:gd name="T8" fmla="*/ 11 w 22"/>
                <a:gd name="T9" fmla="*/ 22 h 22"/>
                <a:gd name="T10" fmla="*/ 0 w 22"/>
                <a:gd name="T11" fmla="*/ 11 h 22"/>
                <a:gd name="T12" fmla="*/ 0 60000 65536"/>
                <a:gd name="T13" fmla="*/ 0 60000 65536"/>
                <a:gd name="T14" fmla="*/ 0 60000 65536"/>
                <a:gd name="T15" fmla="*/ 0 60000 65536"/>
                <a:gd name="T16" fmla="*/ 0 60000 65536"/>
                <a:gd name="T17" fmla="*/ 0 60000 65536"/>
                <a:gd name="T18" fmla="*/ 0 w 22"/>
                <a:gd name="T19" fmla="*/ 0 h 22"/>
                <a:gd name="T20" fmla="*/ 22 w 22"/>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22" h="22">
                  <a:moveTo>
                    <a:pt x="0" y="11"/>
                  </a:moveTo>
                  <a:cubicBezTo>
                    <a:pt x="0" y="5"/>
                    <a:pt x="5" y="0"/>
                    <a:pt x="11" y="0"/>
                  </a:cubicBezTo>
                  <a:cubicBezTo>
                    <a:pt x="17" y="0"/>
                    <a:pt x="22" y="5"/>
                    <a:pt x="22" y="11"/>
                  </a:cubicBezTo>
                  <a:cubicBezTo>
                    <a:pt x="22" y="11"/>
                    <a:pt x="22" y="11"/>
                    <a:pt x="22" y="11"/>
                  </a:cubicBezTo>
                  <a:cubicBezTo>
                    <a:pt x="22" y="17"/>
                    <a:pt x="17" y="22"/>
                    <a:pt x="11" y="22"/>
                  </a:cubicBezTo>
                  <a:cubicBezTo>
                    <a:pt x="5" y="22"/>
                    <a:pt x="0" y="17"/>
                    <a:pt x="0" y="11"/>
                  </a:cubicBezTo>
                </a:path>
              </a:pathLst>
            </a:custGeom>
            <a:noFill/>
            <a:ln w="31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07" name="Freeform 118">
              <a:extLst>
                <a:ext uri="{FF2B5EF4-FFF2-40B4-BE49-F238E27FC236}">
                  <a16:creationId xmlns:a16="http://schemas.microsoft.com/office/drawing/2014/main" id="{B9FEC758-D64B-514F-8F3E-F5BE07D7413C}"/>
                </a:ext>
              </a:extLst>
            </p:cNvPr>
            <p:cNvSpPr>
              <a:spLocks/>
            </p:cNvSpPr>
            <p:nvPr/>
          </p:nvSpPr>
          <p:spPr bwMode="auto">
            <a:xfrm>
              <a:off x="3847" y="2374"/>
              <a:ext cx="22" cy="22"/>
            </a:xfrm>
            <a:custGeom>
              <a:avLst/>
              <a:gdLst>
                <a:gd name="T0" fmla="*/ 0 w 50"/>
                <a:gd name="T1" fmla="*/ 0 h 50"/>
                <a:gd name="T2" fmla="*/ 0 w 50"/>
                <a:gd name="T3" fmla="*/ 0 h 50"/>
                <a:gd name="T4" fmla="*/ 0 w 50"/>
                <a:gd name="T5" fmla="*/ 0 h 50"/>
                <a:gd name="T6" fmla="*/ 0 w 50"/>
                <a:gd name="T7" fmla="*/ 0 h 50"/>
                <a:gd name="T8" fmla="*/ 0 w 50"/>
                <a:gd name="T9" fmla="*/ 0 h 50"/>
                <a:gd name="T10" fmla="*/ 0 w 50"/>
                <a:gd name="T11" fmla="*/ 0 h 50"/>
                <a:gd name="T12" fmla="*/ 0 60000 65536"/>
                <a:gd name="T13" fmla="*/ 0 60000 65536"/>
                <a:gd name="T14" fmla="*/ 0 60000 65536"/>
                <a:gd name="T15" fmla="*/ 0 60000 65536"/>
                <a:gd name="T16" fmla="*/ 0 60000 65536"/>
                <a:gd name="T17" fmla="*/ 0 60000 65536"/>
                <a:gd name="T18" fmla="*/ 0 w 50"/>
                <a:gd name="T19" fmla="*/ 0 h 50"/>
                <a:gd name="T20" fmla="*/ 50 w 50"/>
                <a:gd name="T21" fmla="*/ 50 h 50"/>
              </a:gdLst>
              <a:ahLst/>
              <a:cxnLst>
                <a:cxn ang="T12">
                  <a:pos x="T0" y="T1"/>
                </a:cxn>
                <a:cxn ang="T13">
                  <a:pos x="T2" y="T3"/>
                </a:cxn>
                <a:cxn ang="T14">
                  <a:pos x="T4" y="T5"/>
                </a:cxn>
                <a:cxn ang="T15">
                  <a:pos x="T6" y="T7"/>
                </a:cxn>
                <a:cxn ang="T16">
                  <a:pos x="T8" y="T9"/>
                </a:cxn>
                <a:cxn ang="T17">
                  <a:pos x="T10" y="T11"/>
                </a:cxn>
              </a:cxnLst>
              <a:rect l="T18" t="T19" r="T20" b="T21"/>
              <a:pathLst>
                <a:path w="50" h="50">
                  <a:moveTo>
                    <a:pt x="0" y="25"/>
                  </a:moveTo>
                  <a:cubicBezTo>
                    <a:pt x="0" y="12"/>
                    <a:pt x="11" y="0"/>
                    <a:pt x="25" y="0"/>
                  </a:cubicBezTo>
                  <a:cubicBezTo>
                    <a:pt x="39" y="0"/>
                    <a:pt x="50" y="12"/>
                    <a:pt x="50" y="25"/>
                  </a:cubicBezTo>
                  <a:cubicBezTo>
                    <a:pt x="50" y="25"/>
                    <a:pt x="50" y="25"/>
                    <a:pt x="50" y="25"/>
                  </a:cubicBezTo>
                  <a:cubicBezTo>
                    <a:pt x="50" y="39"/>
                    <a:pt x="39" y="50"/>
                    <a:pt x="25" y="50"/>
                  </a:cubicBezTo>
                  <a:cubicBezTo>
                    <a:pt x="11" y="50"/>
                    <a:pt x="0" y="39"/>
                    <a:pt x="0" y="25"/>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08" name="Freeform 119">
              <a:extLst>
                <a:ext uri="{FF2B5EF4-FFF2-40B4-BE49-F238E27FC236}">
                  <a16:creationId xmlns:a16="http://schemas.microsoft.com/office/drawing/2014/main" id="{AECF5A1C-0025-E749-99CE-7B04184F79AE}"/>
                </a:ext>
              </a:extLst>
            </p:cNvPr>
            <p:cNvSpPr>
              <a:spLocks/>
            </p:cNvSpPr>
            <p:nvPr/>
          </p:nvSpPr>
          <p:spPr bwMode="auto">
            <a:xfrm>
              <a:off x="3847" y="2374"/>
              <a:ext cx="22" cy="22"/>
            </a:xfrm>
            <a:custGeom>
              <a:avLst/>
              <a:gdLst>
                <a:gd name="T0" fmla="*/ 0 w 22"/>
                <a:gd name="T1" fmla="*/ 11 h 22"/>
                <a:gd name="T2" fmla="*/ 11 w 22"/>
                <a:gd name="T3" fmla="*/ 0 h 22"/>
                <a:gd name="T4" fmla="*/ 22 w 22"/>
                <a:gd name="T5" fmla="*/ 11 h 22"/>
                <a:gd name="T6" fmla="*/ 22 w 22"/>
                <a:gd name="T7" fmla="*/ 11 h 22"/>
                <a:gd name="T8" fmla="*/ 11 w 22"/>
                <a:gd name="T9" fmla="*/ 22 h 22"/>
                <a:gd name="T10" fmla="*/ 0 w 22"/>
                <a:gd name="T11" fmla="*/ 11 h 22"/>
                <a:gd name="T12" fmla="*/ 0 60000 65536"/>
                <a:gd name="T13" fmla="*/ 0 60000 65536"/>
                <a:gd name="T14" fmla="*/ 0 60000 65536"/>
                <a:gd name="T15" fmla="*/ 0 60000 65536"/>
                <a:gd name="T16" fmla="*/ 0 60000 65536"/>
                <a:gd name="T17" fmla="*/ 0 60000 65536"/>
                <a:gd name="T18" fmla="*/ 0 w 22"/>
                <a:gd name="T19" fmla="*/ 0 h 22"/>
                <a:gd name="T20" fmla="*/ 22 w 22"/>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22" h="22">
                  <a:moveTo>
                    <a:pt x="0" y="11"/>
                  </a:moveTo>
                  <a:cubicBezTo>
                    <a:pt x="0" y="5"/>
                    <a:pt x="5" y="0"/>
                    <a:pt x="11" y="0"/>
                  </a:cubicBezTo>
                  <a:cubicBezTo>
                    <a:pt x="17" y="0"/>
                    <a:pt x="22" y="5"/>
                    <a:pt x="22" y="11"/>
                  </a:cubicBezTo>
                  <a:cubicBezTo>
                    <a:pt x="22" y="11"/>
                    <a:pt x="22" y="11"/>
                    <a:pt x="22" y="11"/>
                  </a:cubicBezTo>
                  <a:cubicBezTo>
                    <a:pt x="22" y="17"/>
                    <a:pt x="17" y="22"/>
                    <a:pt x="11" y="22"/>
                  </a:cubicBezTo>
                  <a:cubicBezTo>
                    <a:pt x="5" y="22"/>
                    <a:pt x="0" y="17"/>
                    <a:pt x="0" y="11"/>
                  </a:cubicBezTo>
                </a:path>
              </a:pathLst>
            </a:custGeom>
            <a:noFill/>
            <a:ln w="31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09" name="Freeform 120">
              <a:extLst>
                <a:ext uri="{FF2B5EF4-FFF2-40B4-BE49-F238E27FC236}">
                  <a16:creationId xmlns:a16="http://schemas.microsoft.com/office/drawing/2014/main" id="{C53D65B4-159B-DB40-800B-FD33DF50A363}"/>
                </a:ext>
              </a:extLst>
            </p:cNvPr>
            <p:cNvSpPr>
              <a:spLocks/>
            </p:cNvSpPr>
            <p:nvPr/>
          </p:nvSpPr>
          <p:spPr bwMode="auto">
            <a:xfrm>
              <a:off x="3674" y="2721"/>
              <a:ext cx="21" cy="21"/>
            </a:xfrm>
            <a:custGeom>
              <a:avLst/>
              <a:gdLst>
                <a:gd name="T0" fmla="*/ 0 w 49"/>
                <a:gd name="T1" fmla="*/ 0 h 49"/>
                <a:gd name="T2" fmla="*/ 0 w 49"/>
                <a:gd name="T3" fmla="*/ 0 h 49"/>
                <a:gd name="T4" fmla="*/ 0 w 49"/>
                <a:gd name="T5" fmla="*/ 0 h 49"/>
                <a:gd name="T6" fmla="*/ 0 w 49"/>
                <a:gd name="T7" fmla="*/ 0 h 49"/>
                <a:gd name="T8" fmla="*/ 0 w 49"/>
                <a:gd name="T9" fmla="*/ 0 h 49"/>
                <a:gd name="T10" fmla="*/ 0 w 49"/>
                <a:gd name="T11" fmla="*/ 0 h 49"/>
                <a:gd name="T12" fmla="*/ 0 60000 65536"/>
                <a:gd name="T13" fmla="*/ 0 60000 65536"/>
                <a:gd name="T14" fmla="*/ 0 60000 65536"/>
                <a:gd name="T15" fmla="*/ 0 60000 65536"/>
                <a:gd name="T16" fmla="*/ 0 60000 65536"/>
                <a:gd name="T17" fmla="*/ 0 60000 65536"/>
                <a:gd name="T18" fmla="*/ 0 w 49"/>
                <a:gd name="T19" fmla="*/ 0 h 49"/>
                <a:gd name="T20" fmla="*/ 49 w 49"/>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49" h="49">
                  <a:moveTo>
                    <a:pt x="0" y="25"/>
                  </a:moveTo>
                  <a:cubicBezTo>
                    <a:pt x="0" y="11"/>
                    <a:pt x="11" y="0"/>
                    <a:pt x="24" y="0"/>
                  </a:cubicBezTo>
                  <a:cubicBezTo>
                    <a:pt x="38" y="0"/>
                    <a:pt x="49" y="11"/>
                    <a:pt x="49" y="25"/>
                  </a:cubicBezTo>
                  <a:cubicBezTo>
                    <a:pt x="49" y="25"/>
                    <a:pt x="49" y="25"/>
                    <a:pt x="49" y="25"/>
                  </a:cubicBezTo>
                  <a:cubicBezTo>
                    <a:pt x="49" y="38"/>
                    <a:pt x="38" y="49"/>
                    <a:pt x="24" y="49"/>
                  </a:cubicBezTo>
                  <a:cubicBezTo>
                    <a:pt x="11" y="49"/>
                    <a:pt x="0" y="38"/>
                    <a:pt x="0" y="25"/>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10" name="Freeform 121">
              <a:extLst>
                <a:ext uri="{FF2B5EF4-FFF2-40B4-BE49-F238E27FC236}">
                  <a16:creationId xmlns:a16="http://schemas.microsoft.com/office/drawing/2014/main" id="{3422CF09-FF47-6F45-8A48-B7227EEDB670}"/>
                </a:ext>
              </a:extLst>
            </p:cNvPr>
            <p:cNvSpPr>
              <a:spLocks/>
            </p:cNvSpPr>
            <p:nvPr/>
          </p:nvSpPr>
          <p:spPr bwMode="auto">
            <a:xfrm>
              <a:off x="3674" y="2721"/>
              <a:ext cx="21" cy="21"/>
            </a:xfrm>
            <a:custGeom>
              <a:avLst/>
              <a:gdLst>
                <a:gd name="T0" fmla="*/ 0 w 21"/>
                <a:gd name="T1" fmla="*/ 11 h 21"/>
                <a:gd name="T2" fmla="*/ 10 w 21"/>
                <a:gd name="T3" fmla="*/ 0 h 21"/>
                <a:gd name="T4" fmla="*/ 21 w 21"/>
                <a:gd name="T5" fmla="*/ 11 h 21"/>
                <a:gd name="T6" fmla="*/ 21 w 21"/>
                <a:gd name="T7" fmla="*/ 11 h 21"/>
                <a:gd name="T8" fmla="*/ 10 w 21"/>
                <a:gd name="T9" fmla="*/ 21 h 21"/>
                <a:gd name="T10" fmla="*/ 0 w 21"/>
                <a:gd name="T11" fmla="*/ 11 h 21"/>
                <a:gd name="T12" fmla="*/ 0 60000 65536"/>
                <a:gd name="T13" fmla="*/ 0 60000 65536"/>
                <a:gd name="T14" fmla="*/ 0 60000 65536"/>
                <a:gd name="T15" fmla="*/ 0 60000 65536"/>
                <a:gd name="T16" fmla="*/ 0 60000 65536"/>
                <a:gd name="T17" fmla="*/ 0 60000 65536"/>
                <a:gd name="T18" fmla="*/ 0 w 21"/>
                <a:gd name="T19" fmla="*/ 0 h 21"/>
                <a:gd name="T20" fmla="*/ 21 w 21"/>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21" h="21">
                  <a:moveTo>
                    <a:pt x="0" y="11"/>
                  </a:moveTo>
                  <a:cubicBezTo>
                    <a:pt x="0" y="4"/>
                    <a:pt x="5" y="0"/>
                    <a:pt x="10" y="0"/>
                  </a:cubicBezTo>
                  <a:cubicBezTo>
                    <a:pt x="17" y="0"/>
                    <a:pt x="21" y="4"/>
                    <a:pt x="21" y="11"/>
                  </a:cubicBezTo>
                  <a:cubicBezTo>
                    <a:pt x="21" y="11"/>
                    <a:pt x="21" y="11"/>
                    <a:pt x="21" y="11"/>
                  </a:cubicBezTo>
                  <a:cubicBezTo>
                    <a:pt x="21" y="16"/>
                    <a:pt x="17" y="21"/>
                    <a:pt x="10" y="21"/>
                  </a:cubicBezTo>
                  <a:cubicBezTo>
                    <a:pt x="5" y="21"/>
                    <a:pt x="0" y="16"/>
                    <a:pt x="0" y="11"/>
                  </a:cubicBezTo>
                </a:path>
              </a:pathLst>
            </a:custGeom>
            <a:noFill/>
            <a:ln w="31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11" name="Freeform 122">
              <a:extLst>
                <a:ext uri="{FF2B5EF4-FFF2-40B4-BE49-F238E27FC236}">
                  <a16:creationId xmlns:a16="http://schemas.microsoft.com/office/drawing/2014/main" id="{E521BD80-78FC-0A4A-A757-CFF71BA4D16D}"/>
                </a:ext>
              </a:extLst>
            </p:cNvPr>
            <p:cNvSpPr>
              <a:spLocks/>
            </p:cNvSpPr>
            <p:nvPr/>
          </p:nvSpPr>
          <p:spPr bwMode="auto">
            <a:xfrm>
              <a:off x="3760" y="2721"/>
              <a:ext cx="22" cy="21"/>
            </a:xfrm>
            <a:custGeom>
              <a:avLst/>
              <a:gdLst>
                <a:gd name="T0" fmla="*/ 0 w 49"/>
                <a:gd name="T1" fmla="*/ 0 h 49"/>
                <a:gd name="T2" fmla="*/ 0 w 49"/>
                <a:gd name="T3" fmla="*/ 0 h 49"/>
                <a:gd name="T4" fmla="*/ 0 w 49"/>
                <a:gd name="T5" fmla="*/ 0 h 49"/>
                <a:gd name="T6" fmla="*/ 0 w 49"/>
                <a:gd name="T7" fmla="*/ 0 h 49"/>
                <a:gd name="T8" fmla="*/ 0 w 49"/>
                <a:gd name="T9" fmla="*/ 0 h 49"/>
                <a:gd name="T10" fmla="*/ 0 w 49"/>
                <a:gd name="T11" fmla="*/ 0 h 49"/>
                <a:gd name="T12" fmla="*/ 0 60000 65536"/>
                <a:gd name="T13" fmla="*/ 0 60000 65536"/>
                <a:gd name="T14" fmla="*/ 0 60000 65536"/>
                <a:gd name="T15" fmla="*/ 0 60000 65536"/>
                <a:gd name="T16" fmla="*/ 0 60000 65536"/>
                <a:gd name="T17" fmla="*/ 0 60000 65536"/>
                <a:gd name="T18" fmla="*/ 0 w 49"/>
                <a:gd name="T19" fmla="*/ 0 h 49"/>
                <a:gd name="T20" fmla="*/ 49 w 49"/>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49" h="49">
                  <a:moveTo>
                    <a:pt x="0" y="25"/>
                  </a:moveTo>
                  <a:cubicBezTo>
                    <a:pt x="0" y="11"/>
                    <a:pt x="11" y="0"/>
                    <a:pt x="25" y="0"/>
                  </a:cubicBezTo>
                  <a:cubicBezTo>
                    <a:pt x="38" y="0"/>
                    <a:pt x="49" y="11"/>
                    <a:pt x="49" y="25"/>
                  </a:cubicBezTo>
                  <a:cubicBezTo>
                    <a:pt x="49" y="25"/>
                    <a:pt x="49" y="25"/>
                    <a:pt x="49" y="25"/>
                  </a:cubicBezTo>
                  <a:cubicBezTo>
                    <a:pt x="49" y="38"/>
                    <a:pt x="38" y="49"/>
                    <a:pt x="25" y="49"/>
                  </a:cubicBezTo>
                  <a:cubicBezTo>
                    <a:pt x="11" y="49"/>
                    <a:pt x="0" y="38"/>
                    <a:pt x="0" y="25"/>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12" name="Freeform 123">
              <a:extLst>
                <a:ext uri="{FF2B5EF4-FFF2-40B4-BE49-F238E27FC236}">
                  <a16:creationId xmlns:a16="http://schemas.microsoft.com/office/drawing/2014/main" id="{D8A2BB7C-3591-B14C-B287-D1CB4CB9E1A9}"/>
                </a:ext>
              </a:extLst>
            </p:cNvPr>
            <p:cNvSpPr>
              <a:spLocks/>
            </p:cNvSpPr>
            <p:nvPr/>
          </p:nvSpPr>
          <p:spPr bwMode="auto">
            <a:xfrm>
              <a:off x="3760" y="2721"/>
              <a:ext cx="22" cy="21"/>
            </a:xfrm>
            <a:custGeom>
              <a:avLst/>
              <a:gdLst>
                <a:gd name="T0" fmla="*/ 0 w 22"/>
                <a:gd name="T1" fmla="*/ 11 h 21"/>
                <a:gd name="T2" fmla="*/ 11 w 22"/>
                <a:gd name="T3" fmla="*/ 0 h 21"/>
                <a:gd name="T4" fmla="*/ 22 w 22"/>
                <a:gd name="T5" fmla="*/ 11 h 21"/>
                <a:gd name="T6" fmla="*/ 22 w 22"/>
                <a:gd name="T7" fmla="*/ 11 h 21"/>
                <a:gd name="T8" fmla="*/ 11 w 22"/>
                <a:gd name="T9" fmla="*/ 21 h 21"/>
                <a:gd name="T10" fmla="*/ 0 w 22"/>
                <a:gd name="T11" fmla="*/ 11 h 21"/>
                <a:gd name="T12" fmla="*/ 0 60000 65536"/>
                <a:gd name="T13" fmla="*/ 0 60000 65536"/>
                <a:gd name="T14" fmla="*/ 0 60000 65536"/>
                <a:gd name="T15" fmla="*/ 0 60000 65536"/>
                <a:gd name="T16" fmla="*/ 0 60000 65536"/>
                <a:gd name="T17" fmla="*/ 0 60000 65536"/>
                <a:gd name="T18" fmla="*/ 0 w 22"/>
                <a:gd name="T19" fmla="*/ 0 h 21"/>
                <a:gd name="T20" fmla="*/ 22 w 22"/>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22" h="21">
                  <a:moveTo>
                    <a:pt x="0" y="11"/>
                  </a:moveTo>
                  <a:cubicBezTo>
                    <a:pt x="0" y="4"/>
                    <a:pt x="5" y="0"/>
                    <a:pt x="11" y="0"/>
                  </a:cubicBezTo>
                  <a:cubicBezTo>
                    <a:pt x="17" y="0"/>
                    <a:pt x="22" y="4"/>
                    <a:pt x="22" y="11"/>
                  </a:cubicBezTo>
                  <a:cubicBezTo>
                    <a:pt x="22" y="11"/>
                    <a:pt x="22" y="11"/>
                    <a:pt x="22" y="11"/>
                  </a:cubicBezTo>
                  <a:cubicBezTo>
                    <a:pt x="22" y="16"/>
                    <a:pt x="17" y="21"/>
                    <a:pt x="11" y="21"/>
                  </a:cubicBezTo>
                  <a:cubicBezTo>
                    <a:pt x="5" y="21"/>
                    <a:pt x="0" y="16"/>
                    <a:pt x="0" y="11"/>
                  </a:cubicBezTo>
                </a:path>
              </a:pathLst>
            </a:custGeom>
            <a:noFill/>
            <a:ln w="31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13" name="Freeform 124">
              <a:extLst>
                <a:ext uri="{FF2B5EF4-FFF2-40B4-BE49-F238E27FC236}">
                  <a16:creationId xmlns:a16="http://schemas.microsoft.com/office/drawing/2014/main" id="{BF4DA96D-A108-6D4E-A599-62FE4718B882}"/>
                </a:ext>
              </a:extLst>
            </p:cNvPr>
            <p:cNvSpPr>
              <a:spLocks/>
            </p:cNvSpPr>
            <p:nvPr/>
          </p:nvSpPr>
          <p:spPr bwMode="auto">
            <a:xfrm>
              <a:off x="3847" y="2721"/>
              <a:ext cx="22" cy="21"/>
            </a:xfrm>
            <a:custGeom>
              <a:avLst/>
              <a:gdLst>
                <a:gd name="T0" fmla="*/ 0 w 50"/>
                <a:gd name="T1" fmla="*/ 0 h 49"/>
                <a:gd name="T2" fmla="*/ 0 w 50"/>
                <a:gd name="T3" fmla="*/ 0 h 49"/>
                <a:gd name="T4" fmla="*/ 0 w 50"/>
                <a:gd name="T5" fmla="*/ 0 h 49"/>
                <a:gd name="T6" fmla="*/ 0 w 50"/>
                <a:gd name="T7" fmla="*/ 0 h 49"/>
                <a:gd name="T8" fmla="*/ 0 w 50"/>
                <a:gd name="T9" fmla="*/ 0 h 49"/>
                <a:gd name="T10" fmla="*/ 0 w 50"/>
                <a:gd name="T11" fmla="*/ 0 h 49"/>
                <a:gd name="T12" fmla="*/ 0 60000 65536"/>
                <a:gd name="T13" fmla="*/ 0 60000 65536"/>
                <a:gd name="T14" fmla="*/ 0 60000 65536"/>
                <a:gd name="T15" fmla="*/ 0 60000 65536"/>
                <a:gd name="T16" fmla="*/ 0 60000 65536"/>
                <a:gd name="T17" fmla="*/ 0 60000 65536"/>
                <a:gd name="T18" fmla="*/ 0 w 50"/>
                <a:gd name="T19" fmla="*/ 0 h 49"/>
                <a:gd name="T20" fmla="*/ 50 w 50"/>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50" h="49">
                  <a:moveTo>
                    <a:pt x="0" y="25"/>
                  </a:moveTo>
                  <a:cubicBezTo>
                    <a:pt x="0" y="11"/>
                    <a:pt x="11" y="0"/>
                    <a:pt x="25" y="0"/>
                  </a:cubicBezTo>
                  <a:cubicBezTo>
                    <a:pt x="39" y="0"/>
                    <a:pt x="50" y="11"/>
                    <a:pt x="50" y="25"/>
                  </a:cubicBezTo>
                  <a:cubicBezTo>
                    <a:pt x="50" y="25"/>
                    <a:pt x="50" y="25"/>
                    <a:pt x="50" y="25"/>
                  </a:cubicBezTo>
                  <a:cubicBezTo>
                    <a:pt x="50" y="38"/>
                    <a:pt x="39" y="49"/>
                    <a:pt x="25" y="49"/>
                  </a:cubicBezTo>
                  <a:cubicBezTo>
                    <a:pt x="11" y="49"/>
                    <a:pt x="0" y="38"/>
                    <a:pt x="0" y="25"/>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14" name="Freeform 125">
              <a:extLst>
                <a:ext uri="{FF2B5EF4-FFF2-40B4-BE49-F238E27FC236}">
                  <a16:creationId xmlns:a16="http://schemas.microsoft.com/office/drawing/2014/main" id="{B07E01FE-4296-2A49-913C-1941478CE73A}"/>
                </a:ext>
              </a:extLst>
            </p:cNvPr>
            <p:cNvSpPr>
              <a:spLocks/>
            </p:cNvSpPr>
            <p:nvPr/>
          </p:nvSpPr>
          <p:spPr bwMode="auto">
            <a:xfrm>
              <a:off x="3847" y="2721"/>
              <a:ext cx="22" cy="21"/>
            </a:xfrm>
            <a:custGeom>
              <a:avLst/>
              <a:gdLst>
                <a:gd name="T0" fmla="*/ 0 w 22"/>
                <a:gd name="T1" fmla="*/ 11 h 21"/>
                <a:gd name="T2" fmla="*/ 11 w 22"/>
                <a:gd name="T3" fmla="*/ 0 h 21"/>
                <a:gd name="T4" fmla="*/ 22 w 22"/>
                <a:gd name="T5" fmla="*/ 11 h 21"/>
                <a:gd name="T6" fmla="*/ 22 w 22"/>
                <a:gd name="T7" fmla="*/ 11 h 21"/>
                <a:gd name="T8" fmla="*/ 11 w 22"/>
                <a:gd name="T9" fmla="*/ 21 h 21"/>
                <a:gd name="T10" fmla="*/ 0 w 22"/>
                <a:gd name="T11" fmla="*/ 11 h 21"/>
                <a:gd name="T12" fmla="*/ 0 60000 65536"/>
                <a:gd name="T13" fmla="*/ 0 60000 65536"/>
                <a:gd name="T14" fmla="*/ 0 60000 65536"/>
                <a:gd name="T15" fmla="*/ 0 60000 65536"/>
                <a:gd name="T16" fmla="*/ 0 60000 65536"/>
                <a:gd name="T17" fmla="*/ 0 60000 65536"/>
                <a:gd name="T18" fmla="*/ 0 w 22"/>
                <a:gd name="T19" fmla="*/ 0 h 21"/>
                <a:gd name="T20" fmla="*/ 22 w 22"/>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22" h="21">
                  <a:moveTo>
                    <a:pt x="0" y="11"/>
                  </a:moveTo>
                  <a:cubicBezTo>
                    <a:pt x="0" y="4"/>
                    <a:pt x="5" y="0"/>
                    <a:pt x="11" y="0"/>
                  </a:cubicBezTo>
                  <a:cubicBezTo>
                    <a:pt x="17" y="0"/>
                    <a:pt x="22" y="4"/>
                    <a:pt x="22" y="11"/>
                  </a:cubicBezTo>
                  <a:cubicBezTo>
                    <a:pt x="22" y="11"/>
                    <a:pt x="22" y="11"/>
                    <a:pt x="22" y="11"/>
                  </a:cubicBezTo>
                  <a:cubicBezTo>
                    <a:pt x="22" y="16"/>
                    <a:pt x="17" y="21"/>
                    <a:pt x="11" y="21"/>
                  </a:cubicBezTo>
                  <a:cubicBezTo>
                    <a:pt x="5" y="21"/>
                    <a:pt x="0" y="16"/>
                    <a:pt x="0" y="11"/>
                  </a:cubicBezTo>
                </a:path>
              </a:pathLst>
            </a:custGeom>
            <a:noFill/>
            <a:ln w="31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15" name="Rectangle 126">
              <a:extLst>
                <a:ext uri="{FF2B5EF4-FFF2-40B4-BE49-F238E27FC236}">
                  <a16:creationId xmlns:a16="http://schemas.microsoft.com/office/drawing/2014/main" id="{AFBD6F37-A6DC-9D46-B353-93290F0868C3}"/>
                </a:ext>
              </a:extLst>
            </p:cNvPr>
            <p:cNvSpPr>
              <a:spLocks noChangeArrowheads="1"/>
            </p:cNvSpPr>
            <p:nvPr/>
          </p:nvSpPr>
          <p:spPr bwMode="auto">
            <a:xfrm>
              <a:off x="3166" y="1497"/>
              <a:ext cx="951" cy="130"/>
            </a:xfrm>
            <a:prstGeom prst="rect">
              <a:avLst/>
            </a:prstGeom>
            <a:solidFill>
              <a:srgbClr val="FFEA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16" name="Rectangle 127">
              <a:extLst>
                <a:ext uri="{FF2B5EF4-FFF2-40B4-BE49-F238E27FC236}">
                  <a16:creationId xmlns:a16="http://schemas.microsoft.com/office/drawing/2014/main" id="{B248225B-AD92-A24C-A73A-2CD02AF6453F}"/>
                </a:ext>
              </a:extLst>
            </p:cNvPr>
            <p:cNvSpPr>
              <a:spLocks noChangeArrowheads="1"/>
            </p:cNvSpPr>
            <p:nvPr/>
          </p:nvSpPr>
          <p:spPr bwMode="auto">
            <a:xfrm>
              <a:off x="3166" y="1497"/>
              <a:ext cx="951" cy="130"/>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17" name="Rectangle 128">
              <a:extLst>
                <a:ext uri="{FF2B5EF4-FFF2-40B4-BE49-F238E27FC236}">
                  <a16:creationId xmlns:a16="http://schemas.microsoft.com/office/drawing/2014/main" id="{265F348F-490E-DA47-9A94-7DA42AA6B370}"/>
                </a:ext>
              </a:extLst>
            </p:cNvPr>
            <p:cNvSpPr>
              <a:spLocks noChangeArrowheads="1"/>
            </p:cNvSpPr>
            <p:nvPr/>
          </p:nvSpPr>
          <p:spPr bwMode="auto">
            <a:xfrm>
              <a:off x="3255" y="1490"/>
              <a:ext cx="80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Thread Warp 7</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18" name="Rectangle 129">
              <a:extLst>
                <a:ext uri="{FF2B5EF4-FFF2-40B4-BE49-F238E27FC236}">
                  <a16:creationId xmlns:a16="http://schemas.microsoft.com/office/drawing/2014/main" id="{B5F0B612-9786-A247-86C8-90E79DE87348}"/>
                </a:ext>
              </a:extLst>
            </p:cNvPr>
            <p:cNvSpPr>
              <a:spLocks noChangeArrowheads="1"/>
            </p:cNvSpPr>
            <p:nvPr/>
          </p:nvSpPr>
          <p:spPr bwMode="auto">
            <a:xfrm>
              <a:off x="3166" y="1822"/>
              <a:ext cx="951" cy="129"/>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19" name="Rectangle 130">
              <a:extLst>
                <a:ext uri="{FF2B5EF4-FFF2-40B4-BE49-F238E27FC236}">
                  <a16:creationId xmlns:a16="http://schemas.microsoft.com/office/drawing/2014/main" id="{79492CD0-1A59-684B-997D-CE9F48B630DB}"/>
                </a:ext>
              </a:extLst>
            </p:cNvPr>
            <p:cNvSpPr>
              <a:spLocks noChangeArrowheads="1"/>
            </p:cNvSpPr>
            <p:nvPr/>
          </p:nvSpPr>
          <p:spPr bwMode="auto">
            <a:xfrm>
              <a:off x="3166" y="1822"/>
              <a:ext cx="951" cy="129"/>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20" name="Rectangle 131">
              <a:extLst>
                <a:ext uri="{FF2B5EF4-FFF2-40B4-BE49-F238E27FC236}">
                  <a16:creationId xmlns:a16="http://schemas.microsoft.com/office/drawing/2014/main" id="{C55C18CF-4B82-2D4A-B197-9AD95B997B71}"/>
                </a:ext>
              </a:extLst>
            </p:cNvPr>
            <p:cNvSpPr>
              <a:spLocks noChangeArrowheads="1"/>
            </p:cNvSpPr>
            <p:nvPr/>
          </p:nvSpPr>
          <p:spPr bwMode="auto">
            <a:xfrm>
              <a:off x="3465" y="1818"/>
              <a:ext cx="37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I-Fetch</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21" name="Rectangle 132">
              <a:extLst>
                <a:ext uri="{FF2B5EF4-FFF2-40B4-BE49-F238E27FC236}">
                  <a16:creationId xmlns:a16="http://schemas.microsoft.com/office/drawing/2014/main" id="{40CB139D-6226-4041-9961-338BF8E467CB}"/>
                </a:ext>
              </a:extLst>
            </p:cNvPr>
            <p:cNvSpPr>
              <a:spLocks noChangeArrowheads="1"/>
            </p:cNvSpPr>
            <p:nvPr/>
          </p:nvSpPr>
          <p:spPr bwMode="auto">
            <a:xfrm>
              <a:off x="4421" y="1560"/>
              <a:ext cx="79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1"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SIMD Pipeline</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22" name="Line 133">
              <a:extLst>
                <a:ext uri="{FF2B5EF4-FFF2-40B4-BE49-F238E27FC236}">
                  <a16:creationId xmlns:a16="http://schemas.microsoft.com/office/drawing/2014/main" id="{F7BB7D63-DCE7-3E45-A970-6FD26B70C9B4}"/>
                </a:ext>
              </a:extLst>
            </p:cNvPr>
            <p:cNvSpPr>
              <a:spLocks noChangeShapeType="1"/>
            </p:cNvSpPr>
            <p:nvPr/>
          </p:nvSpPr>
          <p:spPr bwMode="auto">
            <a:xfrm flipV="1">
              <a:off x="4204" y="1648"/>
              <a:ext cx="172" cy="87"/>
            </a:xfrm>
            <a:prstGeom prst="line">
              <a:avLst/>
            </a:prstGeom>
            <a:noFill/>
            <a:ln w="11113" cap="rnd">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63493" name="TextBox 134">
            <a:extLst>
              <a:ext uri="{FF2B5EF4-FFF2-40B4-BE49-F238E27FC236}">
                <a16:creationId xmlns:a16="http://schemas.microsoft.com/office/drawing/2014/main" id="{0E53C713-8222-5248-8D1D-C9107179615D}"/>
              </a:ext>
            </a:extLst>
          </p:cNvPr>
          <p:cNvSpPr txBox="1">
            <a:spLocks noChangeArrowheads="1"/>
          </p:cNvSpPr>
          <p:nvPr/>
        </p:nvSpPr>
        <p:spPr bwMode="auto">
          <a:xfrm>
            <a:off x="152400" y="6535738"/>
            <a:ext cx="15446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Tor Aamodt</a:t>
            </a:r>
          </a:p>
        </p:txBody>
      </p:sp>
    </p:spTree>
    <p:extLst>
      <p:ext uri="{BB962C8B-B14F-4D97-AF65-F5344CB8AC3E}">
        <p14:creationId xmlns:p14="http://schemas.microsoft.com/office/powerpoint/2010/main" val="277777271"/>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Latency Hiding and Occupancy</a:t>
            </a:r>
          </a:p>
        </p:txBody>
      </p:sp>
      <p:sp>
        <p:nvSpPr>
          <p:cNvPr id="3" name="Marcador de contenido 2"/>
          <p:cNvSpPr>
            <a:spLocks noGrp="1"/>
          </p:cNvSpPr>
          <p:nvPr>
            <p:ph idx="1"/>
          </p:nvPr>
        </p:nvSpPr>
        <p:spPr>
          <a:xfrm>
            <a:off x="251521" y="908720"/>
            <a:ext cx="8640960" cy="5472534"/>
          </a:xfrm>
        </p:spPr>
        <p:txBody>
          <a:bodyPr>
            <a:normAutofit/>
          </a:bodyPr>
          <a:lstStyle/>
          <a:p>
            <a:r>
              <a:rPr lang="en-US" sz="2200" dirty="0">
                <a:solidFill>
                  <a:srgbClr val="00B050"/>
                </a:solidFill>
              </a:rPr>
              <a:t>FGMT</a:t>
            </a:r>
            <a:r>
              <a:rPr lang="en-US" sz="2200" dirty="0"/>
              <a:t> can hide </a:t>
            </a:r>
            <a:r>
              <a:rPr lang="en-US" sz="2200" dirty="0">
                <a:solidFill>
                  <a:srgbClr val="FF0000"/>
                </a:solidFill>
              </a:rPr>
              <a:t>long latency operations </a:t>
            </a:r>
            <a:r>
              <a:rPr lang="en-US" sz="2200" dirty="0"/>
              <a:t>(e.g., memory accesses)</a:t>
            </a:r>
            <a:endParaRPr lang="en-US" sz="2200" dirty="0">
              <a:solidFill>
                <a:srgbClr val="0000FF"/>
              </a:solidFill>
            </a:endParaRPr>
          </a:p>
          <a:p>
            <a:r>
              <a:rPr lang="en-US" sz="2200" dirty="0">
                <a:solidFill>
                  <a:srgbClr val="0000FF"/>
                </a:solidFill>
              </a:rPr>
              <a:t>Occupancy</a:t>
            </a:r>
            <a:r>
              <a:rPr lang="en-US" sz="2200" dirty="0"/>
              <a:t>: ratio of </a:t>
            </a:r>
            <a:r>
              <a:rPr lang="en-US" sz="2200" dirty="0">
                <a:solidFill>
                  <a:srgbClr val="00B050"/>
                </a:solidFill>
              </a:rPr>
              <a:t>active warps </a:t>
            </a:r>
            <a:r>
              <a:rPr lang="en-US" sz="2200" dirty="0"/>
              <a:t>to the maximum number of warps per GPU core</a:t>
            </a:r>
          </a:p>
        </p:txBody>
      </p:sp>
      <p:grpSp>
        <p:nvGrpSpPr>
          <p:cNvPr id="7" name="Agrupar 29"/>
          <p:cNvGrpSpPr/>
          <p:nvPr/>
        </p:nvGrpSpPr>
        <p:grpSpPr>
          <a:xfrm>
            <a:off x="5388469" y="1931857"/>
            <a:ext cx="2371231" cy="4024544"/>
            <a:chOff x="685800" y="2660407"/>
            <a:chExt cx="2371231" cy="3740393"/>
          </a:xfrm>
        </p:grpSpPr>
        <p:pic>
          <p:nvPicPr>
            <p:cNvPr id="8" name="Imagen 7" descr="Multi_exec_1.eps"/>
            <p:cNvPicPr>
              <a:picLocks noChangeAspect="1"/>
            </p:cNvPicPr>
            <p:nvPr/>
          </p:nvPicPr>
          <p:blipFill>
            <a:blip r:embed="rId2"/>
            <a:stretch>
              <a:fillRect/>
            </a:stretch>
          </p:blipFill>
          <p:spPr>
            <a:xfrm>
              <a:off x="685800" y="2997200"/>
              <a:ext cx="1816100" cy="3403600"/>
            </a:xfrm>
            <a:prstGeom prst="rect">
              <a:avLst/>
            </a:prstGeom>
          </p:spPr>
        </p:pic>
        <p:sp>
          <p:nvSpPr>
            <p:cNvPr id="9" name="CuadroTexto 8"/>
            <p:cNvSpPr txBox="1"/>
            <p:nvPr/>
          </p:nvSpPr>
          <p:spPr>
            <a:xfrm>
              <a:off x="1469531" y="2660407"/>
              <a:ext cx="1587500" cy="314651"/>
            </a:xfrm>
            <a:prstGeom prst="rect">
              <a:avLst/>
            </a:prstGeom>
            <a:noFill/>
            <a:ln w="28575" cap="flat" cmpd="sng" algn="ctr">
              <a:noFill/>
              <a:prstDash val="solid"/>
              <a:round/>
              <a:headEnd type="none" w="med" len="med"/>
              <a:tailEnd type="none" w="med" len="med"/>
            </a:ln>
          </p:spPr>
          <p:txBody>
            <a:bodyPr wrap="square" rtlCol="0">
              <a:spAutoFit/>
            </a:bodyPr>
            <a:lstStyle/>
            <a:p>
              <a:r>
                <a:rPr lang="es-ES_tradnl" sz="1600" b="1" dirty="0"/>
                <a:t>4 active </a:t>
              </a:r>
              <a:r>
                <a:rPr lang="es-ES_tradnl" sz="1600" b="1" dirty="0" err="1"/>
                <a:t>warps</a:t>
              </a:r>
              <a:endParaRPr lang="es-ES_tradnl" sz="1600" b="1" dirty="0"/>
            </a:p>
          </p:txBody>
        </p:sp>
      </p:grpSp>
      <p:grpSp>
        <p:nvGrpSpPr>
          <p:cNvPr id="10" name="Agrupar 30"/>
          <p:cNvGrpSpPr/>
          <p:nvPr/>
        </p:nvGrpSpPr>
        <p:grpSpPr>
          <a:xfrm>
            <a:off x="267912" y="2213219"/>
            <a:ext cx="2081588" cy="4088466"/>
            <a:chOff x="5035550" y="2595108"/>
            <a:chExt cx="2081588" cy="3805692"/>
          </a:xfrm>
        </p:grpSpPr>
        <p:pic>
          <p:nvPicPr>
            <p:cNvPr id="11" name="Imagen 10" descr="Multi_exec_1.eps"/>
            <p:cNvPicPr>
              <a:picLocks noChangeAspect="1"/>
            </p:cNvPicPr>
            <p:nvPr/>
          </p:nvPicPr>
          <p:blipFill>
            <a:blip r:embed="rId2"/>
            <a:stretch>
              <a:fillRect/>
            </a:stretch>
          </p:blipFill>
          <p:spPr>
            <a:xfrm>
              <a:off x="5035550" y="2997200"/>
              <a:ext cx="1816100" cy="3403600"/>
            </a:xfrm>
            <a:prstGeom prst="rect">
              <a:avLst/>
            </a:prstGeom>
          </p:spPr>
        </p:pic>
        <p:sp>
          <p:nvSpPr>
            <p:cNvPr id="12" name="CuadroTexto 11"/>
            <p:cNvSpPr txBox="1"/>
            <p:nvPr/>
          </p:nvSpPr>
          <p:spPr>
            <a:xfrm>
              <a:off x="5529638" y="2595108"/>
              <a:ext cx="1587500" cy="315138"/>
            </a:xfrm>
            <a:prstGeom prst="rect">
              <a:avLst/>
            </a:prstGeom>
            <a:noFill/>
            <a:ln w="28575" cap="flat" cmpd="sng" algn="ctr">
              <a:noFill/>
              <a:prstDash val="solid"/>
              <a:round/>
              <a:headEnd type="none" w="med" len="med"/>
              <a:tailEnd type="none" w="med" len="med"/>
            </a:ln>
          </p:spPr>
          <p:txBody>
            <a:bodyPr wrap="square" rtlCol="0">
              <a:spAutoFit/>
            </a:bodyPr>
            <a:lstStyle/>
            <a:p>
              <a:r>
                <a:rPr lang="es-ES_tradnl" sz="1600" b="1" dirty="0"/>
                <a:t>2 active </a:t>
              </a:r>
              <a:r>
                <a:rPr lang="es-ES_tradnl" sz="1600" b="1" dirty="0" err="1"/>
                <a:t>warps</a:t>
              </a:r>
              <a:endParaRPr lang="es-ES_tradnl" sz="1600" b="1" dirty="0"/>
            </a:p>
          </p:txBody>
        </p:sp>
      </p:grpSp>
      <p:pic>
        <p:nvPicPr>
          <p:cNvPr id="13" name="Imagen 12" descr="Multi_exec_2.eps"/>
          <p:cNvPicPr>
            <a:picLocks/>
          </p:cNvPicPr>
          <p:nvPr/>
        </p:nvPicPr>
        <p:blipFill>
          <a:blip r:embed="rId3"/>
          <a:stretch>
            <a:fillRect/>
          </a:stretch>
        </p:blipFill>
        <p:spPr>
          <a:xfrm>
            <a:off x="5826619" y="2928224"/>
            <a:ext cx="1412308" cy="540000"/>
          </a:xfrm>
          <a:prstGeom prst="rect">
            <a:avLst/>
          </a:prstGeom>
        </p:spPr>
      </p:pic>
      <p:pic>
        <p:nvPicPr>
          <p:cNvPr id="14" name="Imagen 13" descr="Multi_exec_3.eps"/>
          <p:cNvPicPr>
            <a:picLocks/>
          </p:cNvPicPr>
          <p:nvPr/>
        </p:nvPicPr>
        <p:blipFill>
          <a:blip r:embed="rId4"/>
          <a:stretch>
            <a:fillRect/>
          </a:stretch>
        </p:blipFill>
        <p:spPr>
          <a:xfrm>
            <a:off x="7426819" y="3730646"/>
            <a:ext cx="1460500" cy="1368000"/>
          </a:xfrm>
          <a:prstGeom prst="rect">
            <a:avLst/>
          </a:prstGeom>
        </p:spPr>
      </p:pic>
      <p:pic>
        <p:nvPicPr>
          <p:cNvPr id="15" name="Imagen 14" descr="Multi_exec_4.eps"/>
          <p:cNvPicPr>
            <a:picLocks/>
          </p:cNvPicPr>
          <p:nvPr/>
        </p:nvPicPr>
        <p:blipFill>
          <a:blip r:embed="rId5"/>
          <a:stretch>
            <a:fillRect/>
          </a:stretch>
        </p:blipFill>
        <p:spPr>
          <a:xfrm>
            <a:off x="5826619" y="3614024"/>
            <a:ext cx="1358900" cy="540000"/>
          </a:xfrm>
          <a:prstGeom prst="rect">
            <a:avLst/>
          </a:prstGeom>
        </p:spPr>
      </p:pic>
      <p:pic>
        <p:nvPicPr>
          <p:cNvPr id="16" name="Imagen 15" descr="Multi_exec_5.eps"/>
          <p:cNvPicPr>
            <a:picLocks/>
          </p:cNvPicPr>
          <p:nvPr/>
        </p:nvPicPr>
        <p:blipFill>
          <a:blip r:embed="rId6"/>
          <a:stretch>
            <a:fillRect/>
          </a:stretch>
        </p:blipFill>
        <p:spPr>
          <a:xfrm>
            <a:off x="5826619" y="4284584"/>
            <a:ext cx="1358900" cy="537600"/>
          </a:xfrm>
          <a:prstGeom prst="rect">
            <a:avLst/>
          </a:prstGeom>
        </p:spPr>
      </p:pic>
      <p:pic>
        <p:nvPicPr>
          <p:cNvPr id="17" name="Imagen 16" descr="Multi_exec_6.eps"/>
          <p:cNvPicPr>
            <a:picLocks/>
          </p:cNvPicPr>
          <p:nvPr/>
        </p:nvPicPr>
        <p:blipFill>
          <a:blip r:embed="rId7"/>
          <a:stretch>
            <a:fillRect/>
          </a:stretch>
        </p:blipFill>
        <p:spPr>
          <a:xfrm>
            <a:off x="5826619" y="4985624"/>
            <a:ext cx="1371600" cy="540000"/>
          </a:xfrm>
          <a:prstGeom prst="rect">
            <a:avLst/>
          </a:prstGeom>
        </p:spPr>
      </p:pic>
      <p:pic>
        <p:nvPicPr>
          <p:cNvPr id="18" name="Imagen 17" descr="Multi_exec_7.eps"/>
          <p:cNvPicPr>
            <a:picLocks/>
          </p:cNvPicPr>
          <p:nvPr/>
        </p:nvPicPr>
        <p:blipFill>
          <a:blip r:embed="rId8"/>
          <a:stretch>
            <a:fillRect/>
          </a:stretch>
        </p:blipFill>
        <p:spPr>
          <a:xfrm>
            <a:off x="5826619" y="5671424"/>
            <a:ext cx="1371600" cy="540000"/>
          </a:xfrm>
          <a:prstGeom prst="rect">
            <a:avLst/>
          </a:prstGeom>
        </p:spPr>
      </p:pic>
      <p:pic>
        <p:nvPicPr>
          <p:cNvPr id="19" name="Imagen 18" descr="Multi_exec_2.eps"/>
          <p:cNvPicPr>
            <a:picLocks/>
          </p:cNvPicPr>
          <p:nvPr/>
        </p:nvPicPr>
        <p:blipFill>
          <a:blip r:embed="rId3"/>
          <a:stretch>
            <a:fillRect/>
          </a:stretch>
        </p:blipFill>
        <p:spPr>
          <a:xfrm>
            <a:off x="706062" y="3396976"/>
            <a:ext cx="1371600" cy="540000"/>
          </a:xfrm>
          <a:prstGeom prst="rect">
            <a:avLst/>
          </a:prstGeom>
        </p:spPr>
      </p:pic>
      <p:pic>
        <p:nvPicPr>
          <p:cNvPr id="20" name="Imagen 19" descr="Multi_exec_3.eps"/>
          <p:cNvPicPr>
            <a:picLocks/>
          </p:cNvPicPr>
          <p:nvPr/>
        </p:nvPicPr>
        <p:blipFill>
          <a:blip r:embed="rId4"/>
          <a:stretch>
            <a:fillRect/>
          </a:stretch>
        </p:blipFill>
        <p:spPr>
          <a:xfrm>
            <a:off x="2306262" y="4082776"/>
            <a:ext cx="1460500" cy="1332000"/>
          </a:xfrm>
          <a:prstGeom prst="rect">
            <a:avLst/>
          </a:prstGeom>
        </p:spPr>
      </p:pic>
      <p:pic>
        <p:nvPicPr>
          <p:cNvPr id="21" name="Imagen 20" descr="Multi_exec_6.eps"/>
          <p:cNvPicPr>
            <a:picLocks/>
          </p:cNvPicPr>
          <p:nvPr/>
        </p:nvPicPr>
        <p:blipFill>
          <a:blip r:embed="rId7"/>
          <a:stretch>
            <a:fillRect/>
          </a:stretch>
        </p:blipFill>
        <p:spPr>
          <a:xfrm>
            <a:off x="706062" y="4158976"/>
            <a:ext cx="1371600" cy="540000"/>
          </a:xfrm>
          <a:prstGeom prst="rect">
            <a:avLst/>
          </a:prstGeom>
        </p:spPr>
      </p:pic>
      <p:pic>
        <p:nvPicPr>
          <p:cNvPr id="22" name="Imagen 21" descr="Multi_exec_7.eps"/>
          <p:cNvPicPr>
            <a:picLocks/>
          </p:cNvPicPr>
          <p:nvPr/>
        </p:nvPicPr>
        <p:blipFill>
          <a:blip r:embed="rId8"/>
          <a:stretch>
            <a:fillRect/>
          </a:stretch>
        </p:blipFill>
        <p:spPr>
          <a:xfrm>
            <a:off x="706062" y="5713456"/>
            <a:ext cx="1371600" cy="540000"/>
          </a:xfrm>
          <a:prstGeom prst="rect">
            <a:avLst/>
          </a:prstGeom>
        </p:spPr>
      </p:pic>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33</a:t>
            </a:fld>
            <a:endParaRPr lang="en-US" altLang="en-US"/>
          </a:p>
        </p:txBody>
      </p:sp>
    </p:spTree>
    <p:extLst>
      <p:ext uri="{BB962C8B-B14F-4D97-AF65-F5344CB8AC3E}">
        <p14:creationId xmlns:p14="http://schemas.microsoft.com/office/powerpoint/2010/main" val="419316373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8600" y="152400"/>
            <a:ext cx="8610600" cy="845127"/>
          </a:xfrm>
        </p:spPr>
        <p:txBody>
          <a:bodyPr anchor="ctr" anchorCtr="0"/>
          <a:lstStyle/>
          <a:p>
            <a:r>
              <a:rPr lang="en-US" dirty="0"/>
              <a:t>Agenda for Today</a:t>
            </a:r>
          </a:p>
        </p:txBody>
      </p:sp>
      <p:sp>
        <p:nvSpPr>
          <p:cNvPr id="3" name="Marcador de contenido 2"/>
          <p:cNvSpPr>
            <a:spLocks noGrp="1"/>
          </p:cNvSpPr>
          <p:nvPr>
            <p:ph idx="1"/>
          </p:nvPr>
        </p:nvSpPr>
        <p:spPr/>
        <p:txBody>
          <a:bodyPr>
            <a:normAutofit/>
          </a:bodyPr>
          <a:lstStyle/>
          <a:p>
            <a:r>
              <a:rPr lang="en-US" altLang="zh-CN" dirty="0">
                <a:ea typeface="ヒラギノ角ゴ Pro W3" pitchFamily="-108" charset="-128"/>
                <a:cs typeface="ヒラギノ角ゴ Pro W3" pitchFamily="-108" charset="-128"/>
              </a:rPr>
              <a:t>SIMT (Hardware) &amp; Warp (Software)</a:t>
            </a:r>
            <a:r>
              <a:rPr lang="en-US" dirty="0">
                <a:ea typeface="ヒラギノ角ゴ Pro W3" pitchFamily="-108" charset="-128"/>
                <a:cs typeface="ヒラギノ角ゴ Pro W3" pitchFamily="-108" charset="-128"/>
              </a:rPr>
              <a:t> </a:t>
            </a:r>
          </a:p>
          <a:p>
            <a:pPr marL="0" indent="0">
              <a:buNone/>
            </a:pPr>
            <a:endParaRPr lang="en-US" dirty="0">
              <a:ea typeface="ヒラギノ角ゴ Pro W3" pitchFamily="-108" charset="-128"/>
              <a:cs typeface="ヒラギノ角ゴ Pro W3" pitchFamily="-108" charset="-128"/>
            </a:endParaRPr>
          </a:p>
          <a:p>
            <a:r>
              <a:rPr lang="en-US" altLang="zh-CN" dirty="0">
                <a:ea typeface="ヒラギノ角ゴ Pro W3" pitchFamily="-108" charset="-128"/>
              </a:rPr>
              <a:t>Optimization of Memory System </a:t>
            </a:r>
          </a:p>
          <a:p>
            <a:pPr lvl="1"/>
            <a:r>
              <a:rPr lang="en-US" dirty="0">
                <a:ea typeface="ヒラギノ角ゴ Pro W3" pitchFamily="-108" charset="-128"/>
                <a:cs typeface="ヒラギノ角ゴ Pro W3" pitchFamily="-108" charset="-128"/>
              </a:rPr>
              <a:t>Multi-threading</a:t>
            </a:r>
          </a:p>
          <a:p>
            <a:pPr lvl="1"/>
            <a:r>
              <a:rPr lang="en-US" dirty="0">
                <a:solidFill>
                  <a:srgbClr val="0432FF"/>
                </a:solidFill>
                <a:ea typeface="ヒラギノ角ゴ Pro W3" pitchFamily="-108" charset="-128"/>
                <a:cs typeface="ヒラギノ角ゴ Pro W3" pitchFamily="-108" charset="-128"/>
              </a:rPr>
              <a:t>Memory Coalescing</a:t>
            </a:r>
          </a:p>
          <a:p>
            <a:pPr lvl="1"/>
            <a:r>
              <a:rPr lang="en-US" dirty="0">
                <a:ea typeface="ヒラギノ角ゴ Pro W3" pitchFamily="-108" charset="-128"/>
                <a:cs typeface="ヒラギノ角ゴ Pro W3" pitchFamily="-108" charset="-128"/>
              </a:rPr>
              <a:t>Shared Memory</a:t>
            </a:r>
          </a:p>
          <a:p>
            <a:pPr lvl="1"/>
            <a:endParaRPr lang="en-US" dirty="0">
              <a:ea typeface="ヒラギノ角ゴ Pro W3" pitchFamily="-108" charset="-128"/>
              <a:cs typeface="ヒラギノ角ゴ Pro W3" pitchFamily="-108" charset="-128"/>
            </a:endParaRPr>
          </a:p>
          <a:p>
            <a:r>
              <a:rPr lang="en-US" altLang="zh-CN" dirty="0">
                <a:ea typeface="ヒラギノ角ゴ Pro W3" pitchFamily="-108" charset="-128"/>
                <a:cs typeface="ヒラギノ角ゴ Pro W3" pitchFamily="-108" charset="-128"/>
              </a:rPr>
              <a:t>SIMT Efficiency</a:t>
            </a:r>
          </a:p>
          <a:p>
            <a:pPr lvl="1"/>
            <a:r>
              <a:rPr lang="en-US" altLang="zh-CN" dirty="0">
                <a:ea typeface="ヒラギノ角ゴ Pro W3" pitchFamily="-108" charset="-128"/>
                <a:cs typeface="ヒラギノ角ゴ Pro W3" pitchFamily="-108" charset="-128"/>
              </a:rPr>
              <a:t>Divergency</a:t>
            </a:r>
          </a:p>
          <a:p>
            <a:pPr lvl="1"/>
            <a:r>
              <a:rPr lang="en-US" altLang="zh-CN" dirty="0">
                <a:ea typeface="ヒラギノ角ゴ Pro W3" pitchFamily="-108" charset="-128"/>
                <a:cs typeface="ヒラギノ角ゴ Pro W3" pitchFamily="-108" charset="-128"/>
              </a:rPr>
              <a:t>Atomic</a:t>
            </a:r>
          </a:p>
          <a:p>
            <a:pPr lvl="1"/>
            <a:r>
              <a:rPr lang="en-US" altLang="zh-CN" dirty="0">
                <a:ea typeface="ヒラギノ角ゴ Pro W3" pitchFamily="-108" charset="-128"/>
                <a:cs typeface="ヒラギノ角ゴ Pro W3" pitchFamily="-108" charset="-128"/>
              </a:rPr>
              <a:t>CPU-GPU Transfer</a:t>
            </a:r>
          </a:p>
          <a:p>
            <a:pPr lvl="1"/>
            <a:endParaRPr lang="en-US" dirty="0">
              <a:ea typeface="ヒラギノ角ゴ Pro W3" pitchFamily="-108" charset="-128"/>
              <a:cs typeface="ヒラギノ角ゴ Pro W3" pitchFamily="-108" charset="-128"/>
            </a:endParaRPr>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34</a:t>
            </a:fld>
            <a:endParaRPr lang="en-US" altLang="en-US"/>
          </a:p>
        </p:txBody>
      </p:sp>
      <p:sp>
        <p:nvSpPr>
          <p:cNvPr id="5" name="Rectangle 4">
            <a:extLst>
              <a:ext uri="{FF2B5EF4-FFF2-40B4-BE49-F238E27FC236}">
                <a16:creationId xmlns:a16="http://schemas.microsoft.com/office/drawing/2014/main" id="{3EAB8116-126C-5648-BEF0-E6606F73B7C9}"/>
              </a:ext>
            </a:extLst>
          </p:cNvPr>
          <p:cNvSpPr>
            <a:spLocks noChangeArrowheads="1"/>
          </p:cNvSpPr>
          <p:nvPr/>
        </p:nvSpPr>
        <p:spPr bwMode="auto">
          <a:xfrm>
            <a:off x="304800" y="2667000"/>
            <a:ext cx="5410200" cy="444500"/>
          </a:xfrm>
          <a:prstGeom prst="rect">
            <a:avLst/>
          </a:prstGeom>
          <a:noFill/>
          <a:ln w="38100">
            <a:solidFill>
              <a:srgbClr val="FF0000"/>
            </a:solidFill>
            <a:miter lim="800000"/>
            <a:headEnd/>
            <a:tailEnd/>
          </a:ln>
          <a:effectLst>
            <a:outerShdw blurRad="63500" dist="23000" dir="5400000" rotWithShape="0">
              <a:srgbClr val="000000">
                <a:alpha val="34998"/>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Tahoma" charset="0"/>
              <a:ea typeface="ＭＳ Ｐゴシック" charset="-128"/>
              <a:cs typeface="+mn-cs"/>
            </a:endParaRPr>
          </a:p>
        </p:txBody>
      </p:sp>
    </p:spTree>
    <p:extLst>
      <p:ext uri="{BB962C8B-B14F-4D97-AF65-F5344CB8AC3E}">
        <p14:creationId xmlns:p14="http://schemas.microsoft.com/office/powerpoint/2010/main" val="1031627390"/>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Coalescing (I)</a:t>
            </a:r>
          </a:p>
        </p:txBody>
      </p:sp>
      <p:sp>
        <p:nvSpPr>
          <p:cNvPr id="3" name="Content Placeholder 2"/>
          <p:cNvSpPr>
            <a:spLocks noGrp="1"/>
          </p:cNvSpPr>
          <p:nvPr>
            <p:ph idx="1"/>
          </p:nvPr>
        </p:nvSpPr>
        <p:spPr/>
        <p:txBody>
          <a:bodyPr>
            <a:noAutofit/>
          </a:bodyPr>
          <a:lstStyle/>
          <a:p>
            <a:r>
              <a:rPr lang="en-US" altLang="zh-CN" b="1" dirty="0"/>
              <a:t>Memory Coalescing</a:t>
            </a:r>
            <a:r>
              <a:rPr lang="zh-CN" altLang="en-US" dirty="0"/>
              <a:t>：</a:t>
            </a:r>
            <a:r>
              <a:rPr lang="en-US" altLang="zh-CN" dirty="0"/>
              <a:t> </a:t>
            </a:r>
          </a:p>
          <a:p>
            <a:pPr lvl="1"/>
            <a:r>
              <a:rPr lang="en-US" dirty="0"/>
              <a:t>When </a:t>
            </a:r>
            <a:r>
              <a:rPr lang="en-US" dirty="0">
                <a:solidFill>
                  <a:srgbClr val="00B050"/>
                </a:solidFill>
              </a:rPr>
              <a:t>threads in the same warp access consecutive memory locations </a:t>
            </a:r>
            <a:r>
              <a:rPr lang="en-US" dirty="0"/>
              <a:t>in the same burst, the accesses can be combined and served by one burst </a:t>
            </a:r>
          </a:p>
          <a:p>
            <a:pPr lvl="1"/>
            <a:r>
              <a:rPr lang="en-US" altLang="zh-CN" dirty="0">
                <a:solidFill>
                  <a:srgbClr val="0432FF"/>
                </a:solidFill>
              </a:rPr>
              <a:t> Only o</a:t>
            </a:r>
            <a:r>
              <a:rPr lang="en-US" dirty="0">
                <a:solidFill>
                  <a:srgbClr val="0432FF"/>
                </a:solidFill>
              </a:rPr>
              <a:t>ne DRAM transaction is needed.</a:t>
            </a:r>
          </a:p>
          <a:p>
            <a:endParaRPr lang="en-US" dirty="0"/>
          </a:p>
          <a:p>
            <a:endParaRPr lang="en-US" dirty="0"/>
          </a:p>
          <a:p>
            <a:r>
              <a:rPr lang="en-US" altLang="zh-CN" b="1" dirty="0">
                <a:solidFill>
                  <a:srgbClr val="C00000"/>
                </a:solidFill>
              </a:rPr>
              <a:t>Memory Divergence</a:t>
            </a:r>
            <a:r>
              <a:rPr lang="zh-CN" altLang="en-US" dirty="0"/>
              <a:t>：</a:t>
            </a:r>
            <a:endParaRPr lang="en-US" altLang="zh-CN" b="1" dirty="0">
              <a:solidFill>
                <a:srgbClr val="C00000"/>
              </a:solidFill>
            </a:endParaRPr>
          </a:p>
          <a:p>
            <a:pPr lvl="1"/>
            <a:r>
              <a:rPr lang="en-US" dirty="0"/>
              <a:t>If </a:t>
            </a:r>
            <a:r>
              <a:rPr lang="en-US" dirty="0">
                <a:solidFill>
                  <a:srgbClr val="FF0000"/>
                </a:solidFill>
              </a:rPr>
              <a:t>threads in the same warp access locations not in the same burst</a:t>
            </a:r>
            <a:r>
              <a:rPr lang="en-US" dirty="0"/>
              <a:t>, accesses cannot be combined</a:t>
            </a:r>
          </a:p>
          <a:p>
            <a:pPr lvl="1"/>
            <a:r>
              <a:rPr lang="en-US" dirty="0">
                <a:solidFill>
                  <a:srgbClr val="C00000"/>
                </a:solidFill>
              </a:rPr>
              <a:t>Multiple memory transactions are needed</a:t>
            </a:r>
          </a:p>
          <a:p>
            <a:pPr lvl="1"/>
            <a:r>
              <a:rPr lang="en-US" dirty="0">
                <a:solidFill>
                  <a:srgbClr val="C00000"/>
                </a:solidFill>
              </a:rPr>
              <a:t>Takes longer to service data to the warp</a:t>
            </a:r>
          </a:p>
        </p:txBody>
      </p:sp>
      <p:sp>
        <p:nvSpPr>
          <p:cNvPr id="4" name="TextBox 610">
            <a:extLst>
              <a:ext uri="{FF2B5EF4-FFF2-40B4-BE49-F238E27FC236}">
                <a16:creationId xmlns:a16="http://schemas.microsoft.com/office/drawing/2014/main" id="{770C5967-2873-DA4A-A511-A25E33EC9D9C}"/>
              </a:ext>
            </a:extLst>
          </p:cNvPr>
          <p:cNvSpPr txBox="1">
            <a:spLocks noChangeArrowheads="1"/>
          </p:cNvSpPr>
          <p:nvPr/>
        </p:nvSpPr>
        <p:spPr bwMode="auto">
          <a:xfrm>
            <a:off x="228600" y="6541584"/>
            <a:ext cx="156164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Izzat El Hajj</a:t>
            </a:r>
          </a:p>
        </p:txBody>
      </p:sp>
      <p:sp>
        <p:nvSpPr>
          <p:cNvPr id="5" name="Marcador de número de diapositiva 1">
            <a:extLst>
              <a:ext uri="{FF2B5EF4-FFF2-40B4-BE49-F238E27FC236}">
                <a16:creationId xmlns:a16="http://schemas.microsoft.com/office/drawing/2014/main" id="{8F0F9DAF-BECA-EC4E-87A3-5964135D5F58}"/>
              </a:ext>
            </a:extLst>
          </p:cNvPr>
          <p:cNvSpPr>
            <a:spLocks noGrp="1"/>
          </p:cNvSpPr>
          <p:nvPr>
            <p:ph type="sldNum" sz="quarter" idx="11"/>
          </p:nvPr>
        </p:nvSpPr>
        <p:spPr>
          <a:xfrm>
            <a:off x="6553200" y="6243638"/>
            <a:ext cx="2133600" cy="457200"/>
          </a:xfrm>
        </p:spPr>
        <p:txBody>
          <a:bodyPr/>
          <a:lstStyle/>
          <a:p>
            <a:fld id="{323594FA-E141-4234-AE05-360401972BE7}" type="slidenum">
              <a:rPr lang="en-US" altLang="en-US" smtClean="0"/>
              <a:pPr/>
              <a:t>35</a:t>
            </a:fld>
            <a:endParaRPr lang="en-US" altLang="en-US" dirty="0"/>
          </a:p>
        </p:txBody>
      </p:sp>
    </p:spTree>
    <p:extLst>
      <p:ext uri="{BB962C8B-B14F-4D97-AF65-F5344CB8AC3E}">
        <p14:creationId xmlns:p14="http://schemas.microsoft.com/office/powerpoint/2010/main" val="276874937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1" name="Rectangle 3"/>
          <p:cNvSpPr>
            <a:spLocks noGrp="1" noChangeArrowheads="1"/>
          </p:cNvSpPr>
          <p:nvPr>
            <p:ph type="body" idx="1"/>
          </p:nvPr>
        </p:nvSpPr>
        <p:spPr>
          <a:xfrm>
            <a:off x="251520" y="908720"/>
            <a:ext cx="8892480" cy="5472608"/>
          </a:xfrm>
        </p:spPr>
        <p:txBody>
          <a:bodyPr/>
          <a:lstStyle/>
          <a:p>
            <a:r>
              <a:rPr lang="en-US" altLang="zh-CN" b="1" dirty="0"/>
              <a:t>Memory Coalescing</a:t>
            </a:r>
            <a:r>
              <a:rPr lang="en-US" altLang="zh-CN" dirty="0"/>
              <a:t>: </a:t>
            </a:r>
            <a:endParaRPr lang="en-US" dirty="0"/>
          </a:p>
          <a:p>
            <a:pPr lvl="1"/>
            <a:r>
              <a:rPr lang="en-US" dirty="0"/>
              <a:t>When accessing global memory, memory coalescing makes sure that </a:t>
            </a:r>
            <a:r>
              <a:rPr lang="en-US" dirty="0">
                <a:solidFill>
                  <a:srgbClr val="00B050"/>
                </a:solidFill>
              </a:rPr>
              <a:t>concurrent threads access nearby memory locations</a:t>
            </a:r>
          </a:p>
          <a:p>
            <a:pPr lvl="1"/>
            <a:r>
              <a:rPr lang="en-US" dirty="0">
                <a:solidFill>
                  <a:srgbClr val="0000FF"/>
                </a:solidFill>
              </a:rPr>
              <a:t>Peak bandwidth</a:t>
            </a:r>
            <a:r>
              <a:rPr lang="en-US" dirty="0"/>
              <a:t> utilization occurs when all threads in a warp access </a:t>
            </a:r>
            <a:r>
              <a:rPr lang="en-US" dirty="0">
                <a:solidFill>
                  <a:srgbClr val="FF0000"/>
                </a:solidFill>
              </a:rPr>
              <a:t>one cache line </a:t>
            </a:r>
            <a:r>
              <a:rPr lang="en-US" dirty="0"/>
              <a:t>(or several consecutive cache lines)</a:t>
            </a:r>
          </a:p>
        </p:txBody>
      </p:sp>
      <p:sp>
        <p:nvSpPr>
          <p:cNvPr id="232452" name="Freeform 4"/>
          <p:cNvSpPr>
            <a:spLocks/>
          </p:cNvSpPr>
          <p:nvPr/>
        </p:nvSpPr>
        <p:spPr bwMode="auto">
          <a:xfrm>
            <a:off x="2771799" y="4273550"/>
            <a:ext cx="2143125" cy="1974850"/>
          </a:xfrm>
          <a:custGeom>
            <a:avLst/>
            <a:gdLst/>
            <a:ahLst/>
            <a:cxnLst>
              <a:cxn ang="0">
                <a:pos x="0" y="0"/>
              </a:cxn>
              <a:cxn ang="0">
                <a:pos x="0" y="1244"/>
              </a:cxn>
              <a:cxn ang="0">
                <a:pos x="1350" y="1244"/>
              </a:cxn>
              <a:cxn ang="0">
                <a:pos x="1350" y="0"/>
              </a:cxn>
              <a:cxn ang="0">
                <a:pos x="0" y="0"/>
              </a:cxn>
              <a:cxn ang="0">
                <a:pos x="0" y="0"/>
              </a:cxn>
            </a:cxnLst>
            <a:rect l="0" t="0" r="r" b="b"/>
            <a:pathLst>
              <a:path w="1350" h="1244">
                <a:moveTo>
                  <a:pt x="0" y="0"/>
                </a:moveTo>
                <a:lnTo>
                  <a:pt x="0" y="1244"/>
                </a:lnTo>
                <a:lnTo>
                  <a:pt x="1350" y="1244"/>
                </a:lnTo>
                <a:lnTo>
                  <a:pt x="1350" y="0"/>
                </a:lnTo>
                <a:lnTo>
                  <a:pt x="0" y="0"/>
                </a:lnTo>
                <a:lnTo>
                  <a:pt x="0" y="0"/>
                </a:lnTo>
                <a:close/>
              </a:path>
            </a:pathLst>
          </a:custGeom>
          <a:solidFill>
            <a:schemeClr val="accent2">
              <a:lumMod val="40000"/>
              <a:lumOff val="60000"/>
            </a:schemeClr>
          </a:solidFill>
          <a:ln w="9525">
            <a:noFill/>
            <a:round/>
            <a:headEnd/>
            <a:tailEnd/>
          </a:ln>
        </p:spPr>
        <p:txBody>
          <a:bodyPr>
            <a:prstTxWarp prst="textNoShape">
              <a:avLst/>
            </a:prstTxWarp>
          </a:bodyPr>
          <a:lstStyle/>
          <a:p>
            <a:endParaRPr lang="es-ES_tradnl">
              <a:solidFill>
                <a:srgbClr val="0070C0"/>
              </a:solidFill>
            </a:endParaRPr>
          </a:p>
        </p:txBody>
      </p:sp>
      <p:sp>
        <p:nvSpPr>
          <p:cNvPr id="232453" name="Rectangle 5"/>
          <p:cNvSpPr>
            <a:spLocks noChangeArrowheads="1"/>
          </p:cNvSpPr>
          <p:nvPr/>
        </p:nvSpPr>
        <p:spPr bwMode="auto">
          <a:xfrm>
            <a:off x="2771799" y="4273550"/>
            <a:ext cx="2143125" cy="1974850"/>
          </a:xfrm>
          <a:prstGeom prst="rect">
            <a:avLst/>
          </a:prstGeom>
          <a:noFill/>
          <a:ln w="9525" cap="rnd">
            <a:solidFill>
              <a:srgbClr val="969696"/>
            </a:solidFill>
            <a:round/>
            <a:headEnd/>
            <a:tailEnd/>
          </a:ln>
        </p:spPr>
        <p:txBody>
          <a:bodyPr>
            <a:prstTxWarp prst="textNoShape">
              <a:avLst/>
            </a:prstTxWarp>
          </a:bodyPr>
          <a:lstStyle/>
          <a:p>
            <a:endParaRPr lang="es-ES_tradnl"/>
          </a:p>
        </p:txBody>
      </p:sp>
      <p:sp>
        <p:nvSpPr>
          <p:cNvPr id="232454" name="Rectangle 6"/>
          <p:cNvSpPr>
            <a:spLocks noChangeArrowheads="1"/>
          </p:cNvSpPr>
          <p:nvPr/>
        </p:nvSpPr>
        <p:spPr bwMode="auto">
          <a:xfrm>
            <a:off x="2898799" y="4329113"/>
            <a:ext cx="184150" cy="152400"/>
          </a:xfrm>
          <a:prstGeom prst="rect">
            <a:avLst/>
          </a:prstGeom>
          <a:noFill/>
          <a:ln w="9525">
            <a:noFill/>
            <a:miter lim="800000"/>
            <a:headEnd/>
            <a:tailEnd/>
          </a:ln>
        </p:spPr>
        <p:txBody>
          <a:bodyPr wrap="none" lIns="0" tIns="0" rIns="0" bIns="0">
            <a:prstTxWarp prst="textNoShape">
              <a:avLst/>
            </a:prstTxWarp>
            <a:spAutoFit/>
          </a:bodyPr>
          <a:lstStyle/>
          <a:p>
            <a:r>
              <a:rPr lang="en-US" sz="1000" b="1">
                <a:solidFill>
                  <a:srgbClr val="FFFFFF"/>
                </a:solidFill>
                <a:latin typeface="Arial" pitchFamily="-111" charset="0"/>
              </a:rPr>
              <a:t>Md</a:t>
            </a:r>
            <a:endParaRPr lang="en-US"/>
          </a:p>
        </p:txBody>
      </p:sp>
      <p:sp>
        <p:nvSpPr>
          <p:cNvPr id="232455" name="Freeform 7"/>
          <p:cNvSpPr>
            <a:spLocks/>
          </p:cNvSpPr>
          <p:nvPr/>
        </p:nvSpPr>
        <p:spPr bwMode="auto">
          <a:xfrm>
            <a:off x="5235599" y="4276725"/>
            <a:ext cx="2144713" cy="1971675"/>
          </a:xfrm>
          <a:custGeom>
            <a:avLst/>
            <a:gdLst/>
            <a:ahLst/>
            <a:cxnLst>
              <a:cxn ang="0">
                <a:pos x="0" y="0"/>
              </a:cxn>
              <a:cxn ang="0">
                <a:pos x="0" y="1242"/>
              </a:cxn>
              <a:cxn ang="0">
                <a:pos x="1351" y="1242"/>
              </a:cxn>
              <a:cxn ang="0">
                <a:pos x="1351" y="0"/>
              </a:cxn>
              <a:cxn ang="0">
                <a:pos x="0" y="0"/>
              </a:cxn>
              <a:cxn ang="0">
                <a:pos x="0" y="0"/>
              </a:cxn>
            </a:cxnLst>
            <a:rect l="0" t="0" r="r" b="b"/>
            <a:pathLst>
              <a:path w="1351" h="1242">
                <a:moveTo>
                  <a:pt x="0" y="0"/>
                </a:moveTo>
                <a:lnTo>
                  <a:pt x="0" y="1242"/>
                </a:lnTo>
                <a:lnTo>
                  <a:pt x="1351" y="1242"/>
                </a:lnTo>
                <a:lnTo>
                  <a:pt x="1351" y="0"/>
                </a:lnTo>
                <a:lnTo>
                  <a:pt x="0" y="0"/>
                </a:lnTo>
                <a:lnTo>
                  <a:pt x="0" y="0"/>
                </a:lnTo>
                <a:close/>
              </a:path>
            </a:pathLst>
          </a:custGeom>
          <a:solidFill>
            <a:schemeClr val="accent2">
              <a:lumMod val="40000"/>
              <a:lumOff val="60000"/>
            </a:schemeClr>
          </a:solidFill>
          <a:ln w="9525">
            <a:noFill/>
            <a:round/>
            <a:headEnd/>
            <a:tailEnd/>
          </a:ln>
        </p:spPr>
        <p:txBody>
          <a:bodyPr>
            <a:prstTxWarp prst="textNoShape">
              <a:avLst/>
            </a:prstTxWarp>
          </a:bodyPr>
          <a:lstStyle/>
          <a:p>
            <a:endParaRPr lang="es-ES_tradnl"/>
          </a:p>
        </p:txBody>
      </p:sp>
      <p:sp>
        <p:nvSpPr>
          <p:cNvPr id="232456" name="Rectangle 8"/>
          <p:cNvSpPr>
            <a:spLocks noChangeArrowheads="1"/>
          </p:cNvSpPr>
          <p:nvPr/>
        </p:nvSpPr>
        <p:spPr bwMode="auto">
          <a:xfrm>
            <a:off x="5235599" y="4276725"/>
            <a:ext cx="2144713" cy="1971675"/>
          </a:xfrm>
          <a:prstGeom prst="rect">
            <a:avLst/>
          </a:prstGeom>
          <a:noFill/>
          <a:ln w="9525" cap="rnd">
            <a:solidFill>
              <a:srgbClr val="969696"/>
            </a:solidFill>
            <a:round/>
            <a:headEnd/>
            <a:tailEnd/>
          </a:ln>
        </p:spPr>
        <p:txBody>
          <a:bodyPr>
            <a:prstTxWarp prst="textNoShape">
              <a:avLst/>
            </a:prstTxWarp>
          </a:bodyPr>
          <a:lstStyle/>
          <a:p>
            <a:endParaRPr lang="es-ES_tradnl"/>
          </a:p>
        </p:txBody>
      </p:sp>
      <p:sp>
        <p:nvSpPr>
          <p:cNvPr id="232457" name="Rectangle 9"/>
          <p:cNvSpPr>
            <a:spLocks noChangeArrowheads="1"/>
          </p:cNvSpPr>
          <p:nvPr/>
        </p:nvSpPr>
        <p:spPr bwMode="auto">
          <a:xfrm>
            <a:off x="5364187" y="4335463"/>
            <a:ext cx="169862" cy="152400"/>
          </a:xfrm>
          <a:prstGeom prst="rect">
            <a:avLst/>
          </a:prstGeom>
          <a:noFill/>
          <a:ln w="9525">
            <a:noFill/>
            <a:miter lim="800000"/>
            <a:headEnd/>
            <a:tailEnd/>
          </a:ln>
        </p:spPr>
        <p:txBody>
          <a:bodyPr wrap="none" lIns="0" tIns="0" rIns="0" bIns="0">
            <a:prstTxWarp prst="textNoShape">
              <a:avLst/>
            </a:prstTxWarp>
            <a:spAutoFit/>
          </a:bodyPr>
          <a:lstStyle/>
          <a:p>
            <a:r>
              <a:rPr lang="en-US" sz="1000" b="1">
                <a:solidFill>
                  <a:srgbClr val="FFFFFF"/>
                </a:solidFill>
                <a:latin typeface="Arial" pitchFamily="-111" charset="0"/>
              </a:rPr>
              <a:t>Nd</a:t>
            </a:r>
            <a:endParaRPr lang="en-US"/>
          </a:p>
        </p:txBody>
      </p:sp>
      <p:sp>
        <p:nvSpPr>
          <p:cNvPr id="232458" name="Freeform 10"/>
          <p:cNvSpPr>
            <a:spLocks/>
          </p:cNvSpPr>
          <p:nvPr/>
        </p:nvSpPr>
        <p:spPr bwMode="auto">
          <a:xfrm>
            <a:off x="6415112" y="4273550"/>
            <a:ext cx="53975" cy="1974850"/>
          </a:xfrm>
          <a:custGeom>
            <a:avLst/>
            <a:gdLst/>
            <a:ahLst/>
            <a:cxnLst>
              <a:cxn ang="0">
                <a:pos x="0" y="0"/>
              </a:cxn>
              <a:cxn ang="0">
                <a:pos x="0" y="1244"/>
              </a:cxn>
              <a:cxn ang="0">
                <a:pos x="34" y="1244"/>
              </a:cxn>
              <a:cxn ang="0">
                <a:pos x="34" y="0"/>
              </a:cxn>
              <a:cxn ang="0">
                <a:pos x="0" y="0"/>
              </a:cxn>
              <a:cxn ang="0">
                <a:pos x="0" y="0"/>
              </a:cxn>
            </a:cxnLst>
            <a:rect l="0" t="0" r="r" b="b"/>
            <a:pathLst>
              <a:path w="34" h="1244">
                <a:moveTo>
                  <a:pt x="0" y="0"/>
                </a:moveTo>
                <a:lnTo>
                  <a:pt x="0" y="1244"/>
                </a:lnTo>
                <a:lnTo>
                  <a:pt x="34" y="1244"/>
                </a:lnTo>
                <a:lnTo>
                  <a:pt x="34" y="0"/>
                </a:lnTo>
                <a:lnTo>
                  <a:pt x="0" y="0"/>
                </a:lnTo>
                <a:lnTo>
                  <a:pt x="0" y="0"/>
                </a:lnTo>
                <a:close/>
              </a:path>
            </a:pathLst>
          </a:custGeom>
          <a:solidFill>
            <a:srgbClr val="FF6600"/>
          </a:solidFill>
          <a:ln w="9525">
            <a:noFill/>
            <a:round/>
            <a:headEnd/>
            <a:tailEnd/>
          </a:ln>
        </p:spPr>
        <p:txBody>
          <a:bodyPr>
            <a:prstTxWarp prst="textNoShape">
              <a:avLst/>
            </a:prstTxWarp>
          </a:bodyPr>
          <a:lstStyle/>
          <a:p>
            <a:endParaRPr lang="es-ES_tradnl"/>
          </a:p>
        </p:txBody>
      </p:sp>
      <p:sp>
        <p:nvSpPr>
          <p:cNvPr id="232459" name="Freeform 11"/>
          <p:cNvSpPr>
            <a:spLocks/>
          </p:cNvSpPr>
          <p:nvPr/>
        </p:nvSpPr>
        <p:spPr bwMode="auto">
          <a:xfrm>
            <a:off x="2771799" y="5459413"/>
            <a:ext cx="2143125" cy="47625"/>
          </a:xfrm>
          <a:custGeom>
            <a:avLst/>
            <a:gdLst/>
            <a:ahLst/>
            <a:cxnLst>
              <a:cxn ang="0">
                <a:pos x="0" y="0"/>
              </a:cxn>
              <a:cxn ang="0">
                <a:pos x="0" y="30"/>
              </a:cxn>
              <a:cxn ang="0">
                <a:pos x="1350" y="30"/>
              </a:cxn>
              <a:cxn ang="0">
                <a:pos x="1350" y="0"/>
              </a:cxn>
              <a:cxn ang="0">
                <a:pos x="0" y="0"/>
              </a:cxn>
              <a:cxn ang="0">
                <a:pos x="0" y="0"/>
              </a:cxn>
            </a:cxnLst>
            <a:rect l="0" t="0" r="r" b="b"/>
            <a:pathLst>
              <a:path w="1350" h="30">
                <a:moveTo>
                  <a:pt x="0" y="0"/>
                </a:moveTo>
                <a:lnTo>
                  <a:pt x="0" y="30"/>
                </a:lnTo>
                <a:lnTo>
                  <a:pt x="1350" y="30"/>
                </a:lnTo>
                <a:lnTo>
                  <a:pt x="1350" y="0"/>
                </a:lnTo>
                <a:lnTo>
                  <a:pt x="0" y="0"/>
                </a:lnTo>
                <a:lnTo>
                  <a:pt x="0" y="0"/>
                </a:lnTo>
                <a:close/>
              </a:path>
            </a:pathLst>
          </a:custGeom>
          <a:solidFill>
            <a:srgbClr val="FF6600"/>
          </a:solidFill>
          <a:ln w="9525">
            <a:noFill/>
            <a:round/>
            <a:headEnd/>
            <a:tailEnd/>
          </a:ln>
        </p:spPr>
        <p:txBody>
          <a:bodyPr>
            <a:prstTxWarp prst="textNoShape">
              <a:avLst/>
            </a:prstTxWarp>
          </a:bodyPr>
          <a:lstStyle/>
          <a:p>
            <a:endParaRPr lang="es-ES_tradnl"/>
          </a:p>
        </p:txBody>
      </p:sp>
      <p:sp>
        <p:nvSpPr>
          <p:cNvPr id="232460" name="Rectangle 12"/>
          <p:cNvSpPr>
            <a:spLocks noChangeArrowheads="1"/>
          </p:cNvSpPr>
          <p:nvPr/>
        </p:nvSpPr>
        <p:spPr bwMode="auto">
          <a:xfrm rot="16200000">
            <a:off x="7106468" y="5318919"/>
            <a:ext cx="101600" cy="122238"/>
          </a:xfrm>
          <a:prstGeom prst="rect">
            <a:avLst/>
          </a:prstGeom>
          <a:noFill/>
          <a:ln w="9525">
            <a:noFill/>
            <a:miter lim="800000"/>
            <a:headEnd/>
            <a:tailEnd/>
          </a:ln>
        </p:spPr>
        <p:txBody>
          <a:bodyPr wrap="none" lIns="0" tIns="0" rIns="0" bIns="0">
            <a:prstTxWarp prst="textNoShape">
              <a:avLst/>
            </a:prstTxWarp>
            <a:spAutoFit/>
          </a:bodyPr>
          <a:lstStyle/>
          <a:p>
            <a:r>
              <a:rPr lang="en-US" sz="800" b="1" dirty="0">
                <a:solidFill>
                  <a:srgbClr val="FFFFFF"/>
                </a:solidFill>
                <a:latin typeface="Times New Roman" pitchFamily="-111" charset="0"/>
              </a:rPr>
              <a:t>W</a:t>
            </a:r>
            <a:endParaRPr lang="en-US" dirty="0"/>
          </a:p>
        </p:txBody>
      </p:sp>
      <p:sp>
        <p:nvSpPr>
          <p:cNvPr id="232461" name="Rectangle 13"/>
          <p:cNvSpPr>
            <a:spLocks noChangeArrowheads="1"/>
          </p:cNvSpPr>
          <p:nvPr/>
        </p:nvSpPr>
        <p:spPr bwMode="auto">
          <a:xfrm rot="16200000">
            <a:off x="7137424" y="5253038"/>
            <a:ext cx="39687" cy="122238"/>
          </a:xfrm>
          <a:prstGeom prst="rect">
            <a:avLst/>
          </a:prstGeom>
          <a:noFill/>
          <a:ln w="9525">
            <a:noFill/>
            <a:miter lim="800000"/>
            <a:headEnd/>
            <a:tailEnd/>
          </a:ln>
        </p:spPr>
        <p:txBody>
          <a:bodyPr wrap="none" lIns="0" tIns="0" rIns="0" bIns="0">
            <a:prstTxWarp prst="textNoShape">
              <a:avLst/>
            </a:prstTxWarp>
            <a:spAutoFit/>
          </a:bodyPr>
          <a:lstStyle/>
          <a:p>
            <a:r>
              <a:rPr lang="en-US" sz="800" b="1">
                <a:solidFill>
                  <a:srgbClr val="FFFFFF"/>
                </a:solidFill>
                <a:latin typeface="Times New Roman" pitchFamily="-111" charset="0"/>
              </a:rPr>
              <a:t>I</a:t>
            </a:r>
            <a:endParaRPr lang="en-US"/>
          </a:p>
        </p:txBody>
      </p:sp>
      <p:sp>
        <p:nvSpPr>
          <p:cNvPr id="232462" name="Rectangle 14"/>
          <p:cNvSpPr>
            <a:spLocks noChangeArrowheads="1"/>
          </p:cNvSpPr>
          <p:nvPr/>
        </p:nvSpPr>
        <p:spPr bwMode="auto">
          <a:xfrm rot="16200000">
            <a:off x="7120755" y="5195094"/>
            <a:ext cx="73025" cy="122238"/>
          </a:xfrm>
          <a:prstGeom prst="rect">
            <a:avLst/>
          </a:prstGeom>
          <a:noFill/>
          <a:ln w="9525">
            <a:noFill/>
            <a:miter lim="800000"/>
            <a:headEnd/>
            <a:tailEnd/>
          </a:ln>
        </p:spPr>
        <p:txBody>
          <a:bodyPr wrap="none" lIns="0" tIns="0" rIns="0" bIns="0">
            <a:prstTxWarp prst="textNoShape">
              <a:avLst/>
            </a:prstTxWarp>
            <a:spAutoFit/>
          </a:bodyPr>
          <a:lstStyle/>
          <a:p>
            <a:r>
              <a:rPr lang="en-US" sz="800" b="1">
                <a:solidFill>
                  <a:srgbClr val="FFFFFF"/>
                </a:solidFill>
                <a:latin typeface="Times New Roman" pitchFamily="-111" charset="0"/>
              </a:rPr>
              <a:t>D</a:t>
            </a:r>
            <a:endParaRPr lang="en-US"/>
          </a:p>
        </p:txBody>
      </p:sp>
      <p:sp>
        <p:nvSpPr>
          <p:cNvPr id="232463" name="Rectangle 15"/>
          <p:cNvSpPr>
            <a:spLocks noChangeArrowheads="1"/>
          </p:cNvSpPr>
          <p:nvPr/>
        </p:nvSpPr>
        <p:spPr bwMode="auto">
          <a:xfrm rot="16200000">
            <a:off x="7123136" y="5126038"/>
            <a:ext cx="68263" cy="122238"/>
          </a:xfrm>
          <a:prstGeom prst="rect">
            <a:avLst/>
          </a:prstGeom>
          <a:noFill/>
          <a:ln w="9525">
            <a:noFill/>
            <a:miter lim="800000"/>
            <a:headEnd/>
            <a:tailEnd/>
          </a:ln>
        </p:spPr>
        <p:txBody>
          <a:bodyPr wrap="none" lIns="0" tIns="0" rIns="0" bIns="0">
            <a:prstTxWarp prst="textNoShape">
              <a:avLst/>
            </a:prstTxWarp>
            <a:spAutoFit/>
          </a:bodyPr>
          <a:lstStyle/>
          <a:p>
            <a:r>
              <a:rPr lang="en-US" sz="800" b="1">
                <a:solidFill>
                  <a:srgbClr val="FFFFFF"/>
                </a:solidFill>
                <a:latin typeface="Times New Roman" pitchFamily="-111" charset="0"/>
              </a:rPr>
              <a:t>T</a:t>
            </a:r>
            <a:endParaRPr lang="en-US"/>
          </a:p>
        </p:txBody>
      </p:sp>
      <p:sp>
        <p:nvSpPr>
          <p:cNvPr id="232464" name="Rectangle 16"/>
          <p:cNvSpPr>
            <a:spLocks noChangeArrowheads="1"/>
          </p:cNvSpPr>
          <p:nvPr/>
        </p:nvSpPr>
        <p:spPr bwMode="auto">
          <a:xfrm rot="16200000">
            <a:off x="7117580" y="5053807"/>
            <a:ext cx="79375" cy="122238"/>
          </a:xfrm>
          <a:prstGeom prst="rect">
            <a:avLst/>
          </a:prstGeom>
          <a:noFill/>
          <a:ln w="9525">
            <a:noFill/>
            <a:miter lim="800000"/>
            <a:headEnd/>
            <a:tailEnd/>
          </a:ln>
        </p:spPr>
        <p:txBody>
          <a:bodyPr wrap="none" lIns="0" tIns="0" rIns="0" bIns="0">
            <a:prstTxWarp prst="textNoShape">
              <a:avLst/>
            </a:prstTxWarp>
            <a:spAutoFit/>
          </a:bodyPr>
          <a:lstStyle/>
          <a:p>
            <a:r>
              <a:rPr lang="en-US" sz="800" b="1">
                <a:solidFill>
                  <a:srgbClr val="FFFFFF"/>
                </a:solidFill>
                <a:latin typeface="Times New Roman" pitchFamily="-111" charset="0"/>
              </a:rPr>
              <a:t>H</a:t>
            </a:r>
            <a:endParaRPr lang="en-US"/>
          </a:p>
        </p:txBody>
      </p:sp>
      <p:sp>
        <p:nvSpPr>
          <p:cNvPr id="232465" name="Rectangle 17"/>
          <p:cNvSpPr>
            <a:spLocks noChangeArrowheads="1"/>
          </p:cNvSpPr>
          <p:nvPr/>
        </p:nvSpPr>
        <p:spPr bwMode="auto">
          <a:xfrm>
            <a:off x="3649687" y="6046788"/>
            <a:ext cx="361950" cy="122237"/>
          </a:xfrm>
          <a:prstGeom prst="rect">
            <a:avLst/>
          </a:prstGeom>
          <a:noFill/>
          <a:ln w="9525">
            <a:noFill/>
            <a:miter lim="800000"/>
            <a:headEnd/>
            <a:tailEnd/>
          </a:ln>
        </p:spPr>
        <p:txBody>
          <a:bodyPr wrap="none" lIns="0" tIns="0" rIns="0" bIns="0">
            <a:prstTxWarp prst="textNoShape">
              <a:avLst/>
            </a:prstTxWarp>
            <a:spAutoFit/>
          </a:bodyPr>
          <a:lstStyle/>
          <a:p>
            <a:r>
              <a:rPr lang="en-US" sz="800" b="1">
                <a:solidFill>
                  <a:srgbClr val="FFFFFF"/>
                </a:solidFill>
                <a:latin typeface="Times New Roman" pitchFamily="-111" charset="0"/>
              </a:rPr>
              <a:t>WIDTH</a:t>
            </a:r>
            <a:endParaRPr lang="en-US"/>
          </a:p>
        </p:txBody>
      </p:sp>
      <p:sp>
        <p:nvSpPr>
          <p:cNvPr id="232466" name="Freeform 18"/>
          <p:cNvSpPr>
            <a:spLocks/>
          </p:cNvSpPr>
          <p:nvPr/>
        </p:nvSpPr>
        <p:spPr bwMode="auto">
          <a:xfrm>
            <a:off x="2771799" y="5187950"/>
            <a:ext cx="2143125" cy="47625"/>
          </a:xfrm>
          <a:custGeom>
            <a:avLst/>
            <a:gdLst/>
            <a:ahLst/>
            <a:cxnLst>
              <a:cxn ang="0">
                <a:pos x="0" y="0"/>
              </a:cxn>
              <a:cxn ang="0">
                <a:pos x="0" y="30"/>
              </a:cxn>
              <a:cxn ang="0">
                <a:pos x="1350" y="30"/>
              </a:cxn>
              <a:cxn ang="0">
                <a:pos x="1350" y="0"/>
              </a:cxn>
              <a:cxn ang="0">
                <a:pos x="0" y="0"/>
              </a:cxn>
              <a:cxn ang="0">
                <a:pos x="0" y="0"/>
              </a:cxn>
            </a:cxnLst>
            <a:rect l="0" t="0" r="r" b="b"/>
            <a:pathLst>
              <a:path w="1350" h="30">
                <a:moveTo>
                  <a:pt x="0" y="0"/>
                </a:moveTo>
                <a:lnTo>
                  <a:pt x="0" y="30"/>
                </a:lnTo>
                <a:lnTo>
                  <a:pt x="1350" y="30"/>
                </a:lnTo>
                <a:lnTo>
                  <a:pt x="1350" y="0"/>
                </a:lnTo>
                <a:lnTo>
                  <a:pt x="0" y="0"/>
                </a:lnTo>
                <a:lnTo>
                  <a:pt x="0" y="0"/>
                </a:lnTo>
                <a:close/>
              </a:path>
            </a:pathLst>
          </a:custGeom>
          <a:solidFill>
            <a:srgbClr val="FF6600"/>
          </a:solidFill>
          <a:ln w="9525">
            <a:noFill/>
            <a:round/>
            <a:headEnd/>
            <a:tailEnd/>
          </a:ln>
        </p:spPr>
        <p:txBody>
          <a:bodyPr>
            <a:prstTxWarp prst="textNoShape">
              <a:avLst/>
            </a:prstTxWarp>
          </a:bodyPr>
          <a:lstStyle/>
          <a:p>
            <a:endParaRPr lang="es-ES_tradnl"/>
          </a:p>
        </p:txBody>
      </p:sp>
      <p:sp>
        <p:nvSpPr>
          <p:cNvPr id="232467" name="Line 19"/>
          <p:cNvSpPr>
            <a:spLocks noChangeShapeType="1"/>
          </p:cNvSpPr>
          <p:nvPr/>
        </p:nvSpPr>
        <p:spPr bwMode="auto">
          <a:xfrm>
            <a:off x="3228999" y="5187950"/>
            <a:ext cx="304800" cy="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232468" name="Text Box 20"/>
          <p:cNvSpPr txBox="1">
            <a:spLocks noChangeArrowheads="1"/>
          </p:cNvSpPr>
          <p:nvPr/>
        </p:nvSpPr>
        <p:spPr bwMode="auto">
          <a:xfrm>
            <a:off x="1552599" y="4959350"/>
            <a:ext cx="1274763" cy="457200"/>
          </a:xfrm>
          <a:prstGeom prst="rect">
            <a:avLst/>
          </a:prstGeom>
          <a:noFill/>
          <a:ln w="9525">
            <a:noFill/>
            <a:miter lim="800000"/>
            <a:headEnd/>
            <a:tailEnd/>
          </a:ln>
          <a:effectLst/>
        </p:spPr>
        <p:txBody>
          <a:bodyPr wrap="none">
            <a:prstTxWarp prst="textNoShape">
              <a:avLst/>
            </a:prstTxWarp>
            <a:spAutoFit/>
          </a:bodyPr>
          <a:lstStyle/>
          <a:p>
            <a:r>
              <a:rPr lang="en-US"/>
              <a:t>Thread 1</a:t>
            </a:r>
          </a:p>
        </p:txBody>
      </p:sp>
      <p:sp>
        <p:nvSpPr>
          <p:cNvPr id="232469" name="Text Box 21"/>
          <p:cNvSpPr txBox="1">
            <a:spLocks noChangeArrowheads="1"/>
          </p:cNvSpPr>
          <p:nvPr/>
        </p:nvSpPr>
        <p:spPr bwMode="auto">
          <a:xfrm>
            <a:off x="1536724" y="5307013"/>
            <a:ext cx="1274763" cy="457200"/>
          </a:xfrm>
          <a:prstGeom prst="rect">
            <a:avLst/>
          </a:prstGeom>
          <a:noFill/>
          <a:ln w="9525">
            <a:noFill/>
            <a:miter lim="800000"/>
            <a:headEnd/>
            <a:tailEnd/>
          </a:ln>
          <a:effectLst/>
        </p:spPr>
        <p:txBody>
          <a:bodyPr wrap="none">
            <a:prstTxWarp prst="textNoShape">
              <a:avLst/>
            </a:prstTxWarp>
            <a:spAutoFit/>
          </a:bodyPr>
          <a:lstStyle/>
          <a:p>
            <a:r>
              <a:rPr lang="en-US"/>
              <a:t>Thread 2</a:t>
            </a:r>
          </a:p>
        </p:txBody>
      </p:sp>
      <p:sp>
        <p:nvSpPr>
          <p:cNvPr id="232470" name="Freeform 22"/>
          <p:cNvSpPr>
            <a:spLocks/>
          </p:cNvSpPr>
          <p:nvPr/>
        </p:nvSpPr>
        <p:spPr bwMode="auto">
          <a:xfrm>
            <a:off x="6124599" y="4273550"/>
            <a:ext cx="53975" cy="1974850"/>
          </a:xfrm>
          <a:custGeom>
            <a:avLst/>
            <a:gdLst/>
            <a:ahLst/>
            <a:cxnLst>
              <a:cxn ang="0">
                <a:pos x="0" y="0"/>
              </a:cxn>
              <a:cxn ang="0">
                <a:pos x="0" y="1244"/>
              </a:cxn>
              <a:cxn ang="0">
                <a:pos x="34" y="1244"/>
              </a:cxn>
              <a:cxn ang="0">
                <a:pos x="34" y="0"/>
              </a:cxn>
              <a:cxn ang="0">
                <a:pos x="0" y="0"/>
              </a:cxn>
              <a:cxn ang="0">
                <a:pos x="0" y="0"/>
              </a:cxn>
            </a:cxnLst>
            <a:rect l="0" t="0" r="r" b="b"/>
            <a:pathLst>
              <a:path w="34" h="1244">
                <a:moveTo>
                  <a:pt x="0" y="0"/>
                </a:moveTo>
                <a:lnTo>
                  <a:pt x="0" y="1244"/>
                </a:lnTo>
                <a:lnTo>
                  <a:pt x="34" y="1244"/>
                </a:lnTo>
                <a:lnTo>
                  <a:pt x="34" y="0"/>
                </a:lnTo>
                <a:lnTo>
                  <a:pt x="0" y="0"/>
                </a:lnTo>
                <a:lnTo>
                  <a:pt x="0" y="0"/>
                </a:lnTo>
                <a:close/>
              </a:path>
            </a:pathLst>
          </a:custGeom>
          <a:solidFill>
            <a:srgbClr val="FF6600"/>
          </a:solidFill>
          <a:ln w="9525">
            <a:noFill/>
            <a:round/>
            <a:headEnd/>
            <a:tailEnd/>
          </a:ln>
        </p:spPr>
        <p:txBody>
          <a:bodyPr>
            <a:prstTxWarp prst="textNoShape">
              <a:avLst/>
            </a:prstTxWarp>
          </a:bodyPr>
          <a:lstStyle/>
          <a:p>
            <a:endParaRPr lang="es-ES_tradnl"/>
          </a:p>
        </p:txBody>
      </p:sp>
      <p:sp>
        <p:nvSpPr>
          <p:cNvPr id="232471" name="Text Box 23"/>
          <p:cNvSpPr txBox="1">
            <a:spLocks noChangeArrowheads="1"/>
          </p:cNvSpPr>
          <p:nvPr/>
        </p:nvSpPr>
        <p:spPr bwMode="auto">
          <a:xfrm>
            <a:off x="3045493" y="3800128"/>
            <a:ext cx="1598515" cy="369332"/>
          </a:xfrm>
          <a:prstGeom prst="rect">
            <a:avLst/>
          </a:prstGeom>
          <a:noFill/>
          <a:ln w="9525">
            <a:noFill/>
            <a:miter lim="800000"/>
            <a:headEnd/>
            <a:tailEnd/>
          </a:ln>
          <a:effectLst/>
        </p:spPr>
        <p:txBody>
          <a:bodyPr wrap="none">
            <a:prstTxWarp prst="textNoShape">
              <a:avLst/>
            </a:prstTxWarp>
            <a:spAutoFit/>
          </a:bodyPr>
          <a:lstStyle/>
          <a:p>
            <a:pPr algn="ctr"/>
            <a:r>
              <a:rPr lang="en-US" dirty="0"/>
              <a:t>Not coalesced</a:t>
            </a:r>
          </a:p>
        </p:txBody>
      </p:sp>
      <p:sp>
        <p:nvSpPr>
          <p:cNvPr id="232472" name="Line 24"/>
          <p:cNvSpPr>
            <a:spLocks noChangeShapeType="1"/>
          </p:cNvSpPr>
          <p:nvPr/>
        </p:nvSpPr>
        <p:spPr bwMode="auto">
          <a:xfrm>
            <a:off x="6124599" y="4578350"/>
            <a:ext cx="0" cy="2286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232473" name="Text Box 25"/>
          <p:cNvSpPr txBox="1">
            <a:spLocks noChangeArrowheads="1"/>
          </p:cNvSpPr>
          <p:nvPr/>
        </p:nvSpPr>
        <p:spPr bwMode="auto">
          <a:xfrm>
            <a:off x="5724128" y="3800128"/>
            <a:ext cx="1202673" cy="369332"/>
          </a:xfrm>
          <a:prstGeom prst="rect">
            <a:avLst/>
          </a:prstGeom>
          <a:noFill/>
          <a:ln w="9525">
            <a:noFill/>
            <a:miter lim="800000"/>
            <a:headEnd/>
            <a:tailEnd/>
          </a:ln>
          <a:effectLst/>
        </p:spPr>
        <p:txBody>
          <a:bodyPr wrap="none">
            <a:prstTxWarp prst="textNoShape">
              <a:avLst/>
            </a:prstTxWarp>
            <a:spAutoFit/>
          </a:bodyPr>
          <a:lstStyle/>
          <a:p>
            <a:r>
              <a:rPr lang="en-US" dirty="0"/>
              <a:t>Coalesced</a:t>
            </a:r>
          </a:p>
        </p:txBody>
      </p:sp>
      <p:sp>
        <p:nvSpPr>
          <p:cNvPr id="3" name="Título 2"/>
          <p:cNvSpPr>
            <a:spLocks noGrp="1"/>
          </p:cNvSpPr>
          <p:nvPr>
            <p:ph type="title"/>
          </p:nvPr>
        </p:nvSpPr>
        <p:spPr>
          <a:xfrm>
            <a:off x="228600" y="152400"/>
            <a:ext cx="8610600" cy="659483"/>
          </a:xfrm>
        </p:spPr>
        <p:txBody>
          <a:bodyPr/>
          <a:lstStyle/>
          <a:p>
            <a:r>
              <a:rPr lang="en-US" dirty="0"/>
              <a:t>Memory Coalescing (II)</a:t>
            </a:r>
          </a:p>
        </p:txBody>
      </p:sp>
      <p:sp>
        <p:nvSpPr>
          <p:cNvPr id="2" name="Marcador de número de diapositiva 1"/>
          <p:cNvSpPr>
            <a:spLocks noGrp="1"/>
          </p:cNvSpPr>
          <p:nvPr>
            <p:ph type="sldNum" sz="quarter" idx="11"/>
          </p:nvPr>
        </p:nvSpPr>
        <p:spPr/>
        <p:txBody>
          <a:bodyPr/>
          <a:lstStyle/>
          <a:p>
            <a:fld id="{323594FA-E141-4234-AE05-360401972BE7}" type="slidenum">
              <a:rPr lang="en-US" altLang="en-US" smtClean="0"/>
              <a:pPr/>
              <a:t>36</a:t>
            </a:fld>
            <a:endParaRPr lang="en-US" altLang="en-US" dirty="0"/>
          </a:p>
        </p:txBody>
      </p:sp>
      <p:sp>
        <p:nvSpPr>
          <p:cNvPr id="27" name="CuadroTexto 26"/>
          <p:cNvSpPr txBox="1"/>
          <p:nvPr/>
        </p:nvSpPr>
        <p:spPr>
          <a:xfrm>
            <a:off x="228600" y="6495225"/>
            <a:ext cx="1274708" cy="215444"/>
          </a:xfrm>
          <a:prstGeom prst="rect">
            <a:avLst/>
          </a:prstGeom>
          <a:noFill/>
        </p:spPr>
        <p:txBody>
          <a:bodyPr wrap="none" rtlCol="0">
            <a:spAutoFit/>
          </a:bodyPr>
          <a:lstStyle/>
          <a:p>
            <a:r>
              <a:rPr lang="en-US" sz="800" dirty="0"/>
              <a:t>Slide credit: </a:t>
            </a:r>
            <a:r>
              <a:rPr lang="en-US" sz="800" dirty="0" err="1"/>
              <a:t>Hwu</a:t>
            </a:r>
            <a:r>
              <a:rPr lang="en-US" sz="800" dirty="0"/>
              <a:t> &amp; Kirk</a:t>
            </a:r>
          </a:p>
        </p:txBody>
      </p:sp>
    </p:spTree>
    <p:extLst>
      <p:ext uri="{BB962C8B-B14F-4D97-AF65-F5344CB8AC3E}">
        <p14:creationId xmlns:p14="http://schemas.microsoft.com/office/powerpoint/2010/main" val="3416389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245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245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245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246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246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246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246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247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32466"/>
                                        </p:tgtEl>
                                        <p:attrNameLst>
                                          <p:attrName>style.visibility</p:attrName>
                                        </p:attrNameLst>
                                      </p:cBhvr>
                                      <p:to>
                                        <p:strVal val="visible"/>
                                      </p:to>
                                    </p:set>
                                    <p:animEffect transition="in" filter="wipe(left)">
                                      <p:cBhvr>
                                        <p:cTn id="25" dur="500"/>
                                        <p:tgtEl>
                                          <p:spTgt spid="232466"/>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232459"/>
                                        </p:tgtEl>
                                        <p:attrNameLst>
                                          <p:attrName>style.visibility</p:attrName>
                                        </p:attrNameLst>
                                      </p:cBhvr>
                                      <p:to>
                                        <p:strVal val="visible"/>
                                      </p:to>
                                    </p:set>
                                    <p:animEffect transition="in" filter="wipe(left)">
                                      <p:cBhvr>
                                        <p:cTn id="28" dur="500"/>
                                        <p:tgtEl>
                                          <p:spTgt spid="232459"/>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245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245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245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246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246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3246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246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246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247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3247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grpId="0" nodeType="clickEffect">
                                  <p:stCondLst>
                                    <p:cond delay="0"/>
                                  </p:stCondLst>
                                  <p:childTnLst>
                                    <p:set>
                                      <p:cBhvr>
                                        <p:cTn id="54" dur="1" fill="hold">
                                          <p:stCondLst>
                                            <p:cond delay="0"/>
                                          </p:stCondLst>
                                        </p:cTn>
                                        <p:tgtEl>
                                          <p:spTgt spid="232470"/>
                                        </p:tgtEl>
                                        <p:attrNameLst>
                                          <p:attrName>style.visibility</p:attrName>
                                        </p:attrNameLst>
                                      </p:cBhvr>
                                      <p:to>
                                        <p:strVal val="visible"/>
                                      </p:to>
                                    </p:set>
                                    <p:animEffect transition="in" filter="wipe(up)">
                                      <p:cBhvr>
                                        <p:cTn id="55" dur="500"/>
                                        <p:tgtEl>
                                          <p:spTgt spid="232470"/>
                                        </p:tgtEl>
                                      </p:cBhvr>
                                    </p:animEffect>
                                  </p:childTnLst>
                                </p:cTn>
                              </p:par>
                              <p:par>
                                <p:cTn id="56" presetID="22" presetClass="entr" presetSubtype="1" fill="hold" grpId="0" nodeType="withEffect">
                                  <p:stCondLst>
                                    <p:cond delay="0"/>
                                  </p:stCondLst>
                                  <p:childTnLst>
                                    <p:set>
                                      <p:cBhvr>
                                        <p:cTn id="57" dur="1" fill="hold">
                                          <p:stCondLst>
                                            <p:cond delay="0"/>
                                          </p:stCondLst>
                                        </p:cTn>
                                        <p:tgtEl>
                                          <p:spTgt spid="232458"/>
                                        </p:tgtEl>
                                        <p:attrNameLst>
                                          <p:attrName>style.visibility</p:attrName>
                                        </p:attrNameLst>
                                      </p:cBhvr>
                                      <p:to>
                                        <p:strVal val="visible"/>
                                      </p:to>
                                    </p:set>
                                    <p:animEffect transition="in" filter="wipe(up)">
                                      <p:cBhvr>
                                        <p:cTn id="58" dur="500"/>
                                        <p:tgtEl>
                                          <p:spTgt spid="2324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2" grpId="0" animBg="1"/>
      <p:bldP spid="232453" grpId="0" animBg="1"/>
      <p:bldP spid="232454" grpId="0"/>
      <p:bldP spid="232455" grpId="0" animBg="1"/>
      <p:bldP spid="232456" grpId="0" animBg="1"/>
      <p:bldP spid="232457" grpId="0"/>
      <p:bldP spid="232458" grpId="0" animBg="1"/>
      <p:bldP spid="232459" grpId="0" animBg="1"/>
      <p:bldP spid="232460" grpId="0"/>
      <p:bldP spid="232461" grpId="0"/>
      <p:bldP spid="232462" grpId="0"/>
      <p:bldP spid="232463" grpId="0"/>
      <p:bldP spid="232464" grpId="0"/>
      <p:bldP spid="232465" grpId="0"/>
      <p:bldP spid="232466" grpId="0" animBg="1"/>
      <p:bldP spid="232467" grpId="0" animBg="1"/>
      <p:bldP spid="232468" grpId="0"/>
      <p:bldP spid="232469" grpId="0"/>
      <p:bldP spid="232470" grpId="0" animBg="1"/>
      <p:bldP spid="232471" grpId="0"/>
      <p:bldP spid="232472" grpId="0" animBg="1"/>
      <p:bldP spid="23247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Uncoalesced Memory Accesses</a:t>
            </a:r>
          </a:p>
        </p:txBody>
      </p:sp>
      <p:sp>
        <p:nvSpPr>
          <p:cNvPr id="193" name="Rectangle 2"/>
          <p:cNvSpPr>
            <a:spLocks noChangeArrowheads="1"/>
          </p:cNvSpPr>
          <p:nvPr/>
        </p:nvSpPr>
        <p:spPr bwMode="auto">
          <a:xfrm>
            <a:off x="3961848" y="2630230"/>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194" name="Rectangle 3"/>
          <p:cNvSpPr>
            <a:spLocks noChangeArrowheads="1"/>
          </p:cNvSpPr>
          <p:nvPr/>
        </p:nvSpPr>
        <p:spPr bwMode="auto">
          <a:xfrm>
            <a:off x="4321848" y="2630230"/>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195" name="Rectangle 4"/>
          <p:cNvSpPr>
            <a:spLocks noChangeArrowheads="1"/>
          </p:cNvSpPr>
          <p:nvPr/>
        </p:nvSpPr>
        <p:spPr bwMode="auto">
          <a:xfrm>
            <a:off x="4681848" y="1412776"/>
            <a:ext cx="360000" cy="405818"/>
          </a:xfrm>
          <a:prstGeom prst="rect">
            <a:avLst/>
          </a:prstGeom>
          <a:solidFill>
            <a:schemeClr val="accent1">
              <a:lumMod val="60000"/>
              <a:lumOff val="40000"/>
            </a:schemeClr>
          </a:solidFill>
          <a:ln w="9525">
            <a:solidFill>
              <a:schemeClr val="tx1"/>
            </a:solidFill>
            <a:miter lim="800000"/>
            <a:headEnd/>
            <a:tailEnd/>
          </a:ln>
          <a:effectLst/>
        </p:spPr>
        <p:txBody>
          <a:bodyPr wrap="none" anchor="ctr">
            <a:prstTxWarp prst="textNoShape">
              <a:avLst/>
            </a:prstTxWarp>
          </a:bodyPr>
          <a:lstStyle/>
          <a:p>
            <a:pPr algn="ctr"/>
            <a:r>
              <a:rPr lang="en-US" sz="1600"/>
              <a:t>M</a:t>
            </a:r>
            <a:r>
              <a:rPr lang="en-US" sz="1600" baseline="-25000"/>
              <a:t>2,0</a:t>
            </a:r>
          </a:p>
        </p:txBody>
      </p:sp>
      <p:sp>
        <p:nvSpPr>
          <p:cNvPr id="196" name="Rectangle 5"/>
          <p:cNvSpPr>
            <a:spLocks noChangeArrowheads="1"/>
          </p:cNvSpPr>
          <p:nvPr/>
        </p:nvSpPr>
        <p:spPr bwMode="auto">
          <a:xfrm>
            <a:off x="4321848" y="2224412"/>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197" name="Rectangle 6"/>
          <p:cNvSpPr>
            <a:spLocks noChangeArrowheads="1"/>
          </p:cNvSpPr>
          <p:nvPr/>
        </p:nvSpPr>
        <p:spPr bwMode="auto">
          <a:xfrm>
            <a:off x="4321848" y="1818594"/>
            <a:ext cx="360000" cy="405818"/>
          </a:xfrm>
          <a:prstGeom prst="rect">
            <a:avLst/>
          </a:prstGeom>
          <a:solidFill>
            <a:srgbClr val="C00000"/>
          </a:solidFill>
          <a:ln w="9525">
            <a:solidFill>
              <a:schemeClr val="tx1"/>
            </a:solidFill>
            <a:miter lim="800000"/>
            <a:headEnd/>
            <a:tailEnd/>
          </a:ln>
          <a:effectLst/>
        </p:spPr>
        <p:txBody>
          <a:bodyPr wrap="none" anchor="ctr">
            <a:prstTxWarp prst="textNoShape">
              <a:avLst/>
            </a:prstTxWarp>
          </a:bodyPr>
          <a:lstStyle/>
          <a:p>
            <a:pPr algn="ctr"/>
            <a:r>
              <a:rPr lang="en-US" sz="1600">
                <a:solidFill>
                  <a:schemeClr val="bg1"/>
                </a:solidFill>
              </a:rPr>
              <a:t>M</a:t>
            </a:r>
            <a:r>
              <a:rPr lang="en-US" sz="1600" baseline="-25000">
                <a:solidFill>
                  <a:schemeClr val="bg1"/>
                </a:solidFill>
              </a:rPr>
              <a:t>1,1</a:t>
            </a:r>
          </a:p>
        </p:txBody>
      </p:sp>
      <p:sp>
        <p:nvSpPr>
          <p:cNvPr id="198" name="Rectangle 7"/>
          <p:cNvSpPr>
            <a:spLocks noChangeArrowheads="1"/>
          </p:cNvSpPr>
          <p:nvPr/>
        </p:nvSpPr>
        <p:spPr bwMode="auto">
          <a:xfrm>
            <a:off x="4321848" y="1412776"/>
            <a:ext cx="360000" cy="405818"/>
          </a:xfrm>
          <a:prstGeom prst="rect">
            <a:avLst/>
          </a:prstGeom>
          <a:solidFill>
            <a:schemeClr val="accent1">
              <a:lumMod val="60000"/>
              <a:lumOff val="40000"/>
            </a:schemeClr>
          </a:solidFill>
          <a:ln w="9525">
            <a:solidFill>
              <a:schemeClr val="tx1"/>
            </a:solidFill>
            <a:miter lim="800000"/>
            <a:headEnd/>
            <a:tailEnd/>
          </a:ln>
          <a:effectLst/>
        </p:spPr>
        <p:txBody>
          <a:bodyPr wrap="none" anchor="ctr">
            <a:prstTxWarp prst="textNoShape">
              <a:avLst/>
            </a:prstTxWarp>
          </a:bodyPr>
          <a:lstStyle/>
          <a:p>
            <a:pPr algn="ctr"/>
            <a:r>
              <a:rPr lang="en-US" sz="1600"/>
              <a:t>M</a:t>
            </a:r>
            <a:r>
              <a:rPr lang="en-US" sz="1600" baseline="-25000"/>
              <a:t>1,0</a:t>
            </a:r>
          </a:p>
        </p:txBody>
      </p:sp>
      <p:sp>
        <p:nvSpPr>
          <p:cNvPr id="199" name="Rectangle 8"/>
          <p:cNvSpPr>
            <a:spLocks noChangeArrowheads="1"/>
          </p:cNvSpPr>
          <p:nvPr/>
        </p:nvSpPr>
        <p:spPr bwMode="auto">
          <a:xfrm>
            <a:off x="3961848" y="1412776"/>
            <a:ext cx="360000" cy="405818"/>
          </a:xfrm>
          <a:prstGeom prst="rect">
            <a:avLst/>
          </a:prstGeom>
          <a:solidFill>
            <a:schemeClr val="accent1">
              <a:lumMod val="60000"/>
              <a:lumOff val="40000"/>
            </a:schemeClr>
          </a:solidFill>
          <a:ln w="9525">
            <a:solidFill>
              <a:schemeClr val="tx1"/>
            </a:solidFill>
            <a:miter lim="800000"/>
            <a:headEnd/>
            <a:tailEnd/>
          </a:ln>
          <a:effectLst/>
        </p:spPr>
        <p:txBody>
          <a:bodyPr wrap="none" anchor="ctr">
            <a:prstTxWarp prst="textNoShape">
              <a:avLst/>
            </a:prstTxWarp>
          </a:bodyPr>
          <a:lstStyle/>
          <a:p>
            <a:pPr algn="ctr"/>
            <a:r>
              <a:rPr lang="en-US" sz="1600"/>
              <a:t>M</a:t>
            </a:r>
            <a:r>
              <a:rPr lang="en-US" sz="1600" baseline="-25000"/>
              <a:t>0,0</a:t>
            </a:r>
          </a:p>
        </p:txBody>
      </p:sp>
      <p:sp>
        <p:nvSpPr>
          <p:cNvPr id="200" name="Rectangle 9"/>
          <p:cNvSpPr>
            <a:spLocks noChangeArrowheads="1"/>
          </p:cNvSpPr>
          <p:nvPr/>
        </p:nvSpPr>
        <p:spPr bwMode="auto">
          <a:xfrm>
            <a:off x="3961848" y="1818594"/>
            <a:ext cx="360000" cy="405818"/>
          </a:xfrm>
          <a:prstGeom prst="rect">
            <a:avLst/>
          </a:prstGeom>
          <a:solidFill>
            <a:srgbClr val="C00000"/>
          </a:solidFill>
          <a:ln w="9525">
            <a:solidFill>
              <a:schemeClr val="tx1"/>
            </a:solidFill>
            <a:miter lim="800000"/>
            <a:headEnd/>
            <a:tailEnd/>
          </a:ln>
          <a:effectLst/>
        </p:spPr>
        <p:txBody>
          <a:bodyPr wrap="none" anchor="ctr">
            <a:prstTxWarp prst="textNoShape">
              <a:avLst/>
            </a:prstTxWarp>
          </a:bodyPr>
          <a:lstStyle/>
          <a:p>
            <a:pPr algn="ctr"/>
            <a:r>
              <a:rPr lang="en-US" sz="1600" dirty="0">
                <a:solidFill>
                  <a:schemeClr val="bg1"/>
                </a:solidFill>
              </a:rPr>
              <a:t>M</a:t>
            </a:r>
            <a:r>
              <a:rPr lang="en-US" sz="1600" baseline="-25000" dirty="0">
                <a:solidFill>
                  <a:schemeClr val="bg1"/>
                </a:solidFill>
              </a:rPr>
              <a:t>0,1</a:t>
            </a:r>
          </a:p>
        </p:txBody>
      </p:sp>
      <p:sp>
        <p:nvSpPr>
          <p:cNvPr id="201" name="Rectangle 10"/>
          <p:cNvSpPr>
            <a:spLocks noChangeArrowheads="1"/>
          </p:cNvSpPr>
          <p:nvPr/>
        </p:nvSpPr>
        <p:spPr bwMode="auto">
          <a:xfrm>
            <a:off x="3961848" y="2224412"/>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02" name="Rectangle 11"/>
          <p:cNvSpPr>
            <a:spLocks noChangeArrowheads="1"/>
          </p:cNvSpPr>
          <p:nvPr/>
        </p:nvSpPr>
        <p:spPr bwMode="auto">
          <a:xfrm>
            <a:off x="5041848" y="1412776"/>
            <a:ext cx="360000" cy="405818"/>
          </a:xfrm>
          <a:prstGeom prst="rect">
            <a:avLst/>
          </a:prstGeom>
          <a:solidFill>
            <a:schemeClr val="accent1">
              <a:lumMod val="60000"/>
              <a:lumOff val="40000"/>
            </a:schemeClr>
          </a:solidFill>
          <a:ln w="9525">
            <a:solidFill>
              <a:schemeClr val="tx1"/>
            </a:solidFill>
            <a:miter lim="800000"/>
            <a:headEnd/>
            <a:tailEnd/>
          </a:ln>
          <a:effectLst/>
        </p:spPr>
        <p:txBody>
          <a:bodyPr wrap="none" anchor="ctr">
            <a:prstTxWarp prst="textNoShape">
              <a:avLst/>
            </a:prstTxWarp>
          </a:bodyPr>
          <a:lstStyle/>
          <a:p>
            <a:pPr algn="ctr"/>
            <a:r>
              <a:rPr lang="en-US" sz="1600"/>
              <a:t>M</a:t>
            </a:r>
            <a:r>
              <a:rPr lang="en-US" sz="1600" baseline="-25000"/>
              <a:t>3,0</a:t>
            </a:r>
          </a:p>
        </p:txBody>
      </p:sp>
      <p:sp>
        <p:nvSpPr>
          <p:cNvPr id="203" name="Rectangle 12"/>
          <p:cNvSpPr>
            <a:spLocks noChangeArrowheads="1"/>
          </p:cNvSpPr>
          <p:nvPr/>
        </p:nvSpPr>
        <p:spPr bwMode="auto">
          <a:xfrm>
            <a:off x="4681848" y="2630230"/>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04" name="Rectangle 13"/>
          <p:cNvSpPr>
            <a:spLocks noChangeArrowheads="1"/>
          </p:cNvSpPr>
          <p:nvPr/>
        </p:nvSpPr>
        <p:spPr bwMode="auto">
          <a:xfrm>
            <a:off x="4681848" y="2224412"/>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05" name="Rectangle 14"/>
          <p:cNvSpPr>
            <a:spLocks noChangeArrowheads="1"/>
          </p:cNvSpPr>
          <p:nvPr/>
        </p:nvSpPr>
        <p:spPr bwMode="auto">
          <a:xfrm>
            <a:off x="4681848" y="1818594"/>
            <a:ext cx="360000" cy="405818"/>
          </a:xfrm>
          <a:prstGeom prst="rect">
            <a:avLst/>
          </a:prstGeom>
          <a:solidFill>
            <a:srgbClr val="C00000"/>
          </a:solidFill>
          <a:ln w="9525">
            <a:solidFill>
              <a:schemeClr val="tx1"/>
            </a:solidFill>
            <a:miter lim="800000"/>
            <a:headEnd/>
            <a:tailEnd/>
          </a:ln>
          <a:effectLst/>
        </p:spPr>
        <p:txBody>
          <a:bodyPr wrap="none" anchor="ctr">
            <a:prstTxWarp prst="textNoShape">
              <a:avLst/>
            </a:prstTxWarp>
          </a:bodyPr>
          <a:lstStyle/>
          <a:p>
            <a:pPr algn="ctr"/>
            <a:r>
              <a:rPr lang="en-US" sz="1600">
                <a:solidFill>
                  <a:schemeClr val="bg1"/>
                </a:solidFill>
              </a:rPr>
              <a:t>M</a:t>
            </a:r>
            <a:r>
              <a:rPr lang="en-US" sz="1600" baseline="-25000">
                <a:solidFill>
                  <a:schemeClr val="bg1"/>
                </a:solidFill>
              </a:rPr>
              <a:t>2,1</a:t>
            </a:r>
          </a:p>
        </p:txBody>
      </p:sp>
      <p:sp>
        <p:nvSpPr>
          <p:cNvPr id="206" name="Rectangle 15"/>
          <p:cNvSpPr>
            <a:spLocks noChangeArrowheads="1"/>
          </p:cNvSpPr>
          <p:nvPr/>
        </p:nvSpPr>
        <p:spPr bwMode="auto">
          <a:xfrm>
            <a:off x="5041848" y="2630230"/>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07" name="Rectangle 16"/>
          <p:cNvSpPr>
            <a:spLocks noChangeArrowheads="1"/>
          </p:cNvSpPr>
          <p:nvPr/>
        </p:nvSpPr>
        <p:spPr bwMode="auto">
          <a:xfrm>
            <a:off x="5041848" y="2224412"/>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08" name="Rectangle 17"/>
          <p:cNvSpPr>
            <a:spLocks noChangeArrowheads="1"/>
          </p:cNvSpPr>
          <p:nvPr/>
        </p:nvSpPr>
        <p:spPr bwMode="auto">
          <a:xfrm>
            <a:off x="5041848" y="1818594"/>
            <a:ext cx="360000" cy="405818"/>
          </a:xfrm>
          <a:prstGeom prst="rect">
            <a:avLst/>
          </a:prstGeom>
          <a:solidFill>
            <a:srgbClr val="C00000"/>
          </a:solidFill>
          <a:ln w="9525">
            <a:solidFill>
              <a:schemeClr val="tx1"/>
            </a:solidFill>
            <a:miter lim="800000"/>
            <a:headEnd/>
            <a:tailEnd/>
          </a:ln>
          <a:effectLst/>
        </p:spPr>
        <p:txBody>
          <a:bodyPr wrap="none" anchor="ctr">
            <a:prstTxWarp prst="textNoShape">
              <a:avLst/>
            </a:prstTxWarp>
          </a:bodyPr>
          <a:lstStyle/>
          <a:p>
            <a:pPr algn="ctr"/>
            <a:r>
              <a:rPr lang="en-US" sz="1600">
                <a:solidFill>
                  <a:schemeClr val="bg1"/>
                </a:solidFill>
              </a:rPr>
              <a:t>M</a:t>
            </a:r>
            <a:r>
              <a:rPr lang="en-US" sz="1600" baseline="-25000">
                <a:solidFill>
                  <a:schemeClr val="bg1"/>
                </a:solidFill>
              </a:rPr>
              <a:t>3,1</a:t>
            </a:r>
          </a:p>
        </p:txBody>
      </p:sp>
      <p:sp>
        <p:nvSpPr>
          <p:cNvPr id="209" name="Rectangle 19"/>
          <p:cNvSpPr>
            <a:spLocks noChangeArrowheads="1"/>
          </p:cNvSpPr>
          <p:nvPr/>
        </p:nvSpPr>
        <p:spPr bwMode="auto">
          <a:xfrm>
            <a:off x="1681847" y="5470957"/>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10" name="Rectangle 20"/>
          <p:cNvSpPr>
            <a:spLocks noChangeArrowheads="1"/>
          </p:cNvSpPr>
          <p:nvPr/>
        </p:nvSpPr>
        <p:spPr bwMode="auto">
          <a:xfrm>
            <a:off x="2041847" y="5470957"/>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11" name="Rectangle 21"/>
          <p:cNvSpPr>
            <a:spLocks noChangeArrowheads="1"/>
          </p:cNvSpPr>
          <p:nvPr/>
        </p:nvSpPr>
        <p:spPr bwMode="auto">
          <a:xfrm>
            <a:off x="2401847" y="5470957"/>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12" name="Rectangle 22"/>
          <p:cNvSpPr>
            <a:spLocks noChangeArrowheads="1"/>
          </p:cNvSpPr>
          <p:nvPr/>
        </p:nvSpPr>
        <p:spPr bwMode="auto">
          <a:xfrm>
            <a:off x="2761847" y="5470957"/>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13" name="Rectangle 23"/>
          <p:cNvSpPr>
            <a:spLocks noChangeArrowheads="1"/>
          </p:cNvSpPr>
          <p:nvPr/>
        </p:nvSpPr>
        <p:spPr bwMode="auto">
          <a:xfrm>
            <a:off x="3121848" y="5470957"/>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14" name="Rectangle 24"/>
          <p:cNvSpPr>
            <a:spLocks noChangeArrowheads="1"/>
          </p:cNvSpPr>
          <p:nvPr/>
        </p:nvSpPr>
        <p:spPr bwMode="auto">
          <a:xfrm>
            <a:off x="3481848" y="5470957"/>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15" name="Rectangle 25"/>
          <p:cNvSpPr>
            <a:spLocks noChangeArrowheads="1"/>
          </p:cNvSpPr>
          <p:nvPr/>
        </p:nvSpPr>
        <p:spPr bwMode="auto">
          <a:xfrm>
            <a:off x="3841848" y="5470957"/>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16" name="Rectangle 26"/>
          <p:cNvSpPr>
            <a:spLocks noChangeArrowheads="1"/>
          </p:cNvSpPr>
          <p:nvPr/>
        </p:nvSpPr>
        <p:spPr bwMode="auto">
          <a:xfrm>
            <a:off x="4201848" y="5470957"/>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17" name="Rectangle 27"/>
          <p:cNvSpPr>
            <a:spLocks noChangeArrowheads="1"/>
          </p:cNvSpPr>
          <p:nvPr/>
        </p:nvSpPr>
        <p:spPr bwMode="auto">
          <a:xfrm>
            <a:off x="4561848" y="5470957"/>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18" name="Rectangle 28"/>
          <p:cNvSpPr>
            <a:spLocks noChangeArrowheads="1"/>
          </p:cNvSpPr>
          <p:nvPr/>
        </p:nvSpPr>
        <p:spPr bwMode="auto">
          <a:xfrm>
            <a:off x="4921848" y="5470957"/>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19" name="Rectangle 29"/>
          <p:cNvSpPr>
            <a:spLocks noChangeArrowheads="1"/>
          </p:cNvSpPr>
          <p:nvPr/>
        </p:nvSpPr>
        <p:spPr bwMode="auto">
          <a:xfrm>
            <a:off x="5281848" y="5470957"/>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20" name="Rectangle 30"/>
          <p:cNvSpPr>
            <a:spLocks noChangeArrowheads="1"/>
          </p:cNvSpPr>
          <p:nvPr/>
        </p:nvSpPr>
        <p:spPr bwMode="auto">
          <a:xfrm>
            <a:off x="5641848" y="5470957"/>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21" name="Rectangle 31"/>
          <p:cNvSpPr>
            <a:spLocks noChangeArrowheads="1"/>
          </p:cNvSpPr>
          <p:nvPr/>
        </p:nvSpPr>
        <p:spPr bwMode="auto">
          <a:xfrm>
            <a:off x="2401847" y="5470957"/>
            <a:ext cx="360000" cy="405818"/>
          </a:xfrm>
          <a:prstGeom prst="rect">
            <a:avLst/>
          </a:prstGeom>
          <a:solidFill>
            <a:schemeClr val="accent1">
              <a:lumMod val="60000"/>
              <a:lumOff val="40000"/>
            </a:schemeClr>
          </a:solidFill>
          <a:ln w="9525">
            <a:solidFill>
              <a:schemeClr val="tx1"/>
            </a:solidFill>
            <a:miter lim="800000"/>
            <a:headEnd/>
            <a:tailEnd/>
          </a:ln>
          <a:effectLst/>
        </p:spPr>
        <p:txBody>
          <a:bodyPr wrap="none" anchor="ctr">
            <a:prstTxWarp prst="textNoShape">
              <a:avLst/>
            </a:prstTxWarp>
          </a:bodyPr>
          <a:lstStyle/>
          <a:p>
            <a:pPr algn="ctr"/>
            <a:r>
              <a:rPr lang="en-US" sz="1600"/>
              <a:t>M</a:t>
            </a:r>
            <a:r>
              <a:rPr lang="en-US" sz="1600" baseline="-25000"/>
              <a:t>2,0</a:t>
            </a:r>
          </a:p>
        </p:txBody>
      </p:sp>
      <p:sp>
        <p:nvSpPr>
          <p:cNvPr id="222" name="Rectangle 32"/>
          <p:cNvSpPr>
            <a:spLocks noChangeArrowheads="1"/>
          </p:cNvSpPr>
          <p:nvPr/>
        </p:nvSpPr>
        <p:spPr bwMode="auto">
          <a:xfrm>
            <a:off x="2041847" y="5470957"/>
            <a:ext cx="360000" cy="405818"/>
          </a:xfrm>
          <a:prstGeom prst="rect">
            <a:avLst/>
          </a:prstGeom>
          <a:solidFill>
            <a:schemeClr val="accent1">
              <a:lumMod val="60000"/>
              <a:lumOff val="40000"/>
            </a:schemeClr>
          </a:solidFill>
          <a:ln w="9525">
            <a:solidFill>
              <a:schemeClr val="tx1"/>
            </a:solidFill>
            <a:miter lim="800000"/>
            <a:headEnd/>
            <a:tailEnd/>
          </a:ln>
          <a:effectLst/>
        </p:spPr>
        <p:txBody>
          <a:bodyPr wrap="none" anchor="ctr">
            <a:prstTxWarp prst="textNoShape">
              <a:avLst/>
            </a:prstTxWarp>
          </a:bodyPr>
          <a:lstStyle/>
          <a:p>
            <a:pPr algn="ctr"/>
            <a:r>
              <a:rPr lang="en-US" sz="1600"/>
              <a:t>M</a:t>
            </a:r>
            <a:r>
              <a:rPr lang="en-US" sz="1600" baseline="-25000"/>
              <a:t>1,0</a:t>
            </a:r>
          </a:p>
        </p:txBody>
      </p:sp>
      <p:sp>
        <p:nvSpPr>
          <p:cNvPr id="223" name="Rectangle 33"/>
          <p:cNvSpPr>
            <a:spLocks noChangeArrowheads="1"/>
          </p:cNvSpPr>
          <p:nvPr/>
        </p:nvSpPr>
        <p:spPr bwMode="auto">
          <a:xfrm>
            <a:off x="1681847" y="5470957"/>
            <a:ext cx="360000" cy="405818"/>
          </a:xfrm>
          <a:prstGeom prst="rect">
            <a:avLst/>
          </a:prstGeom>
          <a:solidFill>
            <a:schemeClr val="accent1">
              <a:lumMod val="60000"/>
              <a:lumOff val="40000"/>
            </a:schemeClr>
          </a:solidFill>
          <a:ln w="9525">
            <a:solidFill>
              <a:schemeClr val="tx1"/>
            </a:solidFill>
            <a:miter lim="800000"/>
            <a:headEnd/>
            <a:tailEnd/>
          </a:ln>
          <a:effectLst/>
        </p:spPr>
        <p:txBody>
          <a:bodyPr wrap="none" anchor="ctr">
            <a:prstTxWarp prst="textNoShape">
              <a:avLst/>
            </a:prstTxWarp>
          </a:bodyPr>
          <a:lstStyle/>
          <a:p>
            <a:pPr algn="ctr"/>
            <a:r>
              <a:rPr lang="en-US" sz="1600"/>
              <a:t>M</a:t>
            </a:r>
            <a:r>
              <a:rPr lang="en-US" sz="1600" baseline="-25000"/>
              <a:t>0,0</a:t>
            </a:r>
          </a:p>
        </p:txBody>
      </p:sp>
      <p:sp>
        <p:nvSpPr>
          <p:cNvPr id="224" name="Rectangle 34"/>
          <p:cNvSpPr>
            <a:spLocks noChangeArrowheads="1"/>
          </p:cNvSpPr>
          <p:nvPr/>
        </p:nvSpPr>
        <p:spPr bwMode="auto">
          <a:xfrm>
            <a:off x="2761847" y="5470957"/>
            <a:ext cx="360000" cy="405818"/>
          </a:xfrm>
          <a:prstGeom prst="rect">
            <a:avLst/>
          </a:prstGeom>
          <a:solidFill>
            <a:schemeClr val="accent1">
              <a:lumMod val="60000"/>
              <a:lumOff val="40000"/>
            </a:schemeClr>
          </a:solidFill>
          <a:ln w="9525">
            <a:solidFill>
              <a:schemeClr val="tx1"/>
            </a:solidFill>
            <a:miter lim="800000"/>
            <a:headEnd/>
            <a:tailEnd/>
          </a:ln>
          <a:effectLst/>
        </p:spPr>
        <p:txBody>
          <a:bodyPr wrap="none" anchor="ctr">
            <a:prstTxWarp prst="textNoShape">
              <a:avLst/>
            </a:prstTxWarp>
          </a:bodyPr>
          <a:lstStyle/>
          <a:p>
            <a:pPr algn="ctr"/>
            <a:r>
              <a:rPr lang="en-US" sz="1600"/>
              <a:t>M</a:t>
            </a:r>
            <a:r>
              <a:rPr lang="en-US" sz="1600" baseline="-25000"/>
              <a:t>3,0</a:t>
            </a:r>
          </a:p>
        </p:txBody>
      </p:sp>
      <p:sp>
        <p:nvSpPr>
          <p:cNvPr id="225" name="Rectangle 35"/>
          <p:cNvSpPr>
            <a:spLocks noChangeArrowheads="1"/>
          </p:cNvSpPr>
          <p:nvPr/>
        </p:nvSpPr>
        <p:spPr bwMode="auto">
          <a:xfrm>
            <a:off x="3481848" y="5470957"/>
            <a:ext cx="360000" cy="405818"/>
          </a:xfrm>
          <a:prstGeom prst="rect">
            <a:avLst/>
          </a:prstGeom>
          <a:solidFill>
            <a:srgbClr val="C00000"/>
          </a:solidFill>
          <a:ln w="9525">
            <a:solidFill>
              <a:schemeClr val="tx1"/>
            </a:solidFill>
            <a:miter lim="800000"/>
            <a:headEnd/>
            <a:tailEnd/>
          </a:ln>
          <a:effectLst/>
        </p:spPr>
        <p:txBody>
          <a:bodyPr wrap="none" anchor="ctr">
            <a:prstTxWarp prst="textNoShape">
              <a:avLst/>
            </a:prstTxWarp>
          </a:bodyPr>
          <a:lstStyle/>
          <a:p>
            <a:pPr algn="ctr"/>
            <a:r>
              <a:rPr lang="en-US" sz="1600">
                <a:solidFill>
                  <a:schemeClr val="bg1"/>
                </a:solidFill>
              </a:rPr>
              <a:t>M</a:t>
            </a:r>
            <a:r>
              <a:rPr lang="en-US" sz="1600" baseline="-25000">
                <a:solidFill>
                  <a:schemeClr val="bg1"/>
                </a:solidFill>
              </a:rPr>
              <a:t>1,1</a:t>
            </a:r>
          </a:p>
        </p:txBody>
      </p:sp>
      <p:sp>
        <p:nvSpPr>
          <p:cNvPr id="226" name="Rectangle 36"/>
          <p:cNvSpPr>
            <a:spLocks noChangeArrowheads="1"/>
          </p:cNvSpPr>
          <p:nvPr/>
        </p:nvSpPr>
        <p:spPr bwMode="auto">
          <a:xfrm>
            <a:off x="3121848" y="5470957"/>
            <a:ext cx="360000" cy="405818"/>
          </a:xfrm>
          <a:prstGeom prst="rect">
            <a:avLst/>
          </a:prstGeom>
          <a:solidFill>
            <a:srgbClr val="C00000"/>
          </a:solidFill>
          <a:ln w="9525">
            <a:solidFill>
              <a:schemeClr val="tx1"/>
            </a:solidFill>
            <a:miter lim="800000"/>
            <a:headEnd/>
            <a:tailEnd/>
          </a:ln>
          <a:effectLst/>
        </p:spPr>
        <p:txBody>
          <a:bodyPr wrap="none" anchor="ctr">
            <a:prstTxWarp prst="textNoShape">
              <a:avLst/>
            </a:prstTxWarp>
          </a:bodyPr>
          <a:lstStyle/>
          <a:p>
            <a:pPr algn="ctr"/>
            <a:r>
              <a:rPr lang="en-US" sz="1600">
                <a:solidFill>
                  <a:schemeClr val="bg1"/>
                </a:solidFill>
              </a:rPr>
              <a:t>M</a:t>
            </a:r>
            <a:r>
              <a:rPr lang="en-US" sz="1600" baseline="-25000">
                <a:solidFill>
                  <a:schemeClr val="bg1"/>
                </a:solidFill>
              </a:rPr>
              <a:t>0,1</a:t>
            </a:r>
          </a:p>
        </p:txBody>
      </p:sp>
      <p:sp>
        <p:nvSpPr>
          <p:cNvPr id="227" name="Rectangle 37"/>
          <p:cNvSpPr>
            <a:spLocks noChangeArrowheads="1"/>
          </p:cNvSpPr>
          <p:nvPr/>
        </p:nvSpPr>
        <p:spPr bwMode="auto">
          <a:xfrm>
            <a:off x="3841848" y="5470957"/>
            <a:ext cx="360000" cy="405818"/>
          </a:xfrm>
          <a:prstGeom prst="rect">
            <a:avLst/>
          </a:prstGeom>
          <a:solidFill>
            <a:srgbClr val="C00000"/>
          </a:solidFill>
          <a:ln w="9525">
            <a:solidFill>
              <a:schemeClr val="tx1"/>
            </a:solidFill>
            <a:miter lim="800000"/>
            <a:headEnd/>
            <a:tailEnd/>
          </a:ln>
          <a:effectLst/>
        </p:spPr>
        <p:txBody>
          <a:bodyPr wrap="none" anchor="ctr">
            <a:prstTxWarp prst="textNoShape">
              <a:avLst/>
            </a:prstTxWarp>
          </a:bodyPr>
          <a:lstStyle/>
          <a:p>
            <a:pPr algn="ctr"/>
            <a:r>
              <a:rPr lang="en-US" sz="1600">
                <a:solidFill>
                  <a:schemeClr val="bg1"/>
                </a:solidFill>
              </a:rPr>
              <a:t>M</a:t>
            </a:r>
            <a:r>
              <a:rPr lang="en-US" sz="1600" baseline="-25000">
                <a:solidFill>
                  <a:schemeClr val="bg1"/>
                </a:solidFill>
              </a:rPr>
              <a:t>2,1</a:t>
            </a:r>
          </a:p>
        </p:txBody>
      </p:sp>
      <p:sp>
        <p:nvSpPr>
          <p:cNvPr id="228" name="Rectangle 38"/>
          <p:cNvSpPr>
            <a:spLocks noChangeArrowheads="1"/>
          </p:cNvSpPr>
          <p:nvPr/>
        </p:nvSpPr>
        <p:spPr bwMode="auto">
          <a:xfrm>
            <a:off x="4201848" y="5470957"/>
            <a:ext cx="360000" cy="405818"/>
          </a:xfrm>
          <a:prstGeom prst="rect">
            <a:avLst/>
          </a:prstGeom>
          <a:solidFill>
            <a:srgbClr val="C00000"/>
          </a:solidFill>
          <a:ln w="9525">
            <a:solidFill>
              <a:schemeClr val="tx1"/>
            </a:solidFill>
            <a:miter lim="800000"/>
            <a:headEnd/>
            <a:tailEnd/>
          </a:ln>
          <a:effectLst/>
        </p:spPr>
        <p:txBody>
          <a:bodyPr wrap="none" anchor="ctr">
            <a:prstTxWarp prst="textNoShape">
              <a:avLst/>
            </a:prstTxWarp>
          </a:bodyPr>
          <a:lstStyle/>
          <a:p>
            <a:pPr algn="ctr"/>
            <a:r>
              <a:rPr lang="en-US" sz="1600">
                <a:solidFill>
                  <a:schemeClr val="bg1"/>
                </a:solidFill>
              </a:rPr>
              <a:t>M</a:t>
            </a:r>
            <a:r>
              <a:rPr lang="en-US" sz="1600" baseline="-25000">
                <a:solidFill>
                  <a:schemeClr val="bg1"/>
                </a:solidFill>
              </a:rPr>
              <a:t>3,1</a:t>
            </a:r>
          </a:p>
        </p:txBody>
      </p:sp>
      <p:sp>
        <p:nvSpPr>
          <p:cNvPr id="229" name="Rectangle 39"/>
          <p:cNvSpPr>
            <a:spLocks noChangeArrowheads="1"/>
          </p:cNvSpPr>
          <p:nvPr/>
        </p:nvSpPr>
        <p:spPr bwMode="auto">
          <a:xfrm>
            <a:off x="4921848" y="5470957"/>
            <a:ext cx="360000" cy="405818"/>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sz="1600">
                <a:solidFill>
                  <a:schemeClr val="bg1"/>
                </a:solidFill>
              </a:rPr>
              <a:t>M</a:t>
            </a:r>
            <a:r>
              <a:rPr lang="en-US" sz="1600" baseline="-25000">
                <a:solidFill>
                  <a:schemeClr val="bg1"/>
                </a:solidFill>
              </a:rPr>
              <a:t>1,2</a:t>
            </a:r>
          </a:p>
        </p:txBody>
      </p:sp>
      <p:sp>
        <p:nvSpPr>
          <p:cNvPr id="230" name="Rectangle 40"/>
          <p:cNvSpPr>
            <a:spLocks noChangeArrowheads="1"/>
          </p:cNvSpPr>
          <p:nvPr/>
        </p:nvSpPr>
        <p:spPr bwMode="auto">
          <a:xfrm>
            <a:off x="4561848" y="5470957"/>
            <a:ext cx="360000" cy="405818"/>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sz="1600">
                <a:solidFill>
                  <a:schemeClr val="bg1"/>
                </a:solidFill>
              </a:rPr>
              <a:t>M</a:t>
            </a:r>
            <a:r>
              <a:rPr lang="en-US" sz="1600" baseline="-25000">
                <a:solidFill>
                  <a:schemeClr val="bg1"/>
                </a:solidFill>
              </a:rPr>
              <a:t>0,2</a:t>
            </a:r>
          </a:p>
        </p:txBody>
      </p:sp>
      <p:sp>
        <p:nvSpPr>
          <p:cNvPr id="231" name="Rectangle 41"/>
          <p:cNvSpPr>
            <a:spLocks noChangeArrowheads="1"/>
          </p:cNvSpPr>
          <p:nvPr/>
        </p:nvSpPr>
        <p:spPr bwMode="auto">
          <a:xfrm>
            <a:off x="5281848" y="5470957"/>
            <a:ext cx="360000" cy="405818"/>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sz="1600">
                <a:solidFill>
                  <a:schemeClr val="bg1"/>
                </a:solidFill>
              </a:rPr>
              <a:t>M</a:t>
            </a:r>
            <a:r>
              <a:rPr lang="en-US" sz="1600" baseline="-25000">
                <a:solidFill>
                  <a:schemeClr val="bg1"/>
                </a:solidFill>
              </a:rPr>
              <a:t>2,2</a:t>
            </a:r>
          </a:p>
        </p:txBody>
      </p:sp>
      <p:sp>
        <p:nvSpPr>
          <p:cNvPr id="232" name="Rectangle 42"/>
          <p:cNvSpPr>
            <a:spLocks noChangeArrowheads="1"/>
          </p:cNvSpPr>
          <p:nvPr/>
        </p:nvSpPr>
        <p:spPr bwMode="auto">
          <a:xfrm>
            <a:off x="5641848" y="5470957"/>
            <a:ext cx="360000" cy="405818"/>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sz="1600">
                <a:solidFill>
                  <a:schemeClr val="bg1"/>
                </a:solidFill>
              </a:rPr>
              <a:t>M</a:t>
            </a:r>
            <a:r>
              <a:rPr lang="en-US" sz="1600" baseline="-25000">
                <a:solidFill>
                  <a:schemeClr val="bg1"/>
                </a:solidFill>
              </a:rPr>
              <a:t>3,2</a:t>
            </a:r>
          </a:p>
        </p:txBody>
      </p:sp>
      <p:sp>
        <p:nvSpPr>
          <p:cNvPr id="233" name="Rectangle 43"/>
          <p:cNvSpPr>
            <a:spLocks noChangeArrowheads="1"/>
          </p:cNvSpPr>
          <p:nvPr/>
        </p:nvSpPr>
        <p:spPr bwMode="auto">
          <a:xfrm>
            <a:off x="3961848" y="2224412"/>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34" name="Rectangle 44"/>
          <p:cNvSpPr>
            <a:spLocks noChangeArrowheads="1"/>
          </p:cNvSpPr>
          <p:nvPr/>
        </p:nvSpPr>
        <p:spPr bwMode="auto">
          <a:xfrm>
            <a:off x="4321848" y="2224412"/>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35" name="Rectangle 45"/>
          <p:cNvSpPr>
            <a:spLocks noChangeArrowheads="1"/>
          </p:cNvSpPr>
          <p:nvPr/>
        </p:nvSpPr>
        <p:spPr bwMode="auto">
          <a:xfrm>
            <a:off x="4681848" y="2224412"/>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36" name="Rectangle 46"/>
          <p:cNvSpPr>
            <a:spLocks noChangeArrowheads="1"/>
          </p:cNvSpPr>
          <p:nvPr/>
        </p:nvSpPr>
        <p:spPr bwMode="auto">
          <a:xfrm>
            <a:off x="5041848" y="2224412"/>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37" name="Rectangle 47"/>
          <p:cNvSpPr>
            <a:spLocks noChangeArrowheads="1"/>
          </p:cNvSpPr>
          <p:nvPr/>
        </p:nvSpPr>
        <p:spPr bwMode="auto">
          <a:xfrm>
            <a:off x="4321848" y="2224412"/>
            <a:ext cx="360000" cy="405818"/>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sz="1600" dirty="0">
                <a:solidFill>
                  <a:schemeClr val="bg1"/>
                </a:solidFill>
              </a:rPr>
              <a:t>M</a:t>
            </a:r>
            <a:r>
              <a:rPr lang="en-US" sz="1600" baseline="-25000" dirty="0">
                <a:solidFill>
                  <a:schemeClr val="bg1"/>
                </a:solidFill>
              </a:rPr>
              <a:t>1,2</a:t>
            </a:r>
          </a:p>
        </p:txBody>
      </p:sp>
      <p:sp>
        <p:nvSpPr>
          <p:cNvPr id="238" name="Rectangle 48"/>
          <p:cNvSpPr>
            <a:spLocks noChangeArrowheads="1"/>
          </p:cNvSpPr>
          <p:nvPr/>
        </p:nvSpPr>
        <p:spPr bwMode="auto">
          <a:xfrm>
            <a:off x="3961848" y="2224412"/>
            <a:ext cx="360000" cy="405818"/>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sz="1600" dirty="0">
                <a:solidFill>
                  <a:schemeClr val="bg1"/>
                </a:solidFill>
              </a:rPr>
              <a:t>M</a:t>
            </a:r>
            <a:r>
              <a:rPr lang="en-US" sz="1600" baseline="-25000" dirty="0">
                <a:solidFill>
                  <a:schemeClr val="bg1"/>
                </a:solidFill>
              </a:rPr>
              <a:t>0,2</a:t>
            </a:r>
          </a:p>
        </p:txBody>
      </p:sp>
      <p:sp>
        <p:nvSpPr>
          <p:cNvPr id="239" name="Rectangle 49"/>
          <p:cNvSpPr>
            <a:spLocks noChangeArrowheads="1"/>
          </p:cNvSpPr>
          <p:nvPr/>
        </p:nvSpPr>
        <p:spPr bwMode="auto">
          <a:xfrm>
            <a:off x="4681848" y="2224412"/>
            <a:ext cx="360000" cy="405818"/>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sz="1600">
                <a:solidFill>
                  <a:schemeClr val="bg1"/>
                </a:solidFill>
              </a:rPr>
              <a:t>M</a:t>
            </a:r>
            <a:r>
              <a:rPr lang="en-US" sz="1600" baseline="-25000">
                <a:solidFill>
                  <a:schemeClr val="bg1"/>
                </a:solidFill>
              </a:rPr>
              <a:t>2,2</a:t>
            </a:r>
          </a:p>
        </p:txBody>
      </p:sp>
      <p:sp>
        <p:nvSpPr>
          <p:cNvPr id="240" name="Rectangle 50"/>
          <p:cNvSpPr>
            <a:spLocks noChangeArrowheads="1"/>
          </p:cNvSpPr>
          <p:nvPr/>
        </p:nvSpPr>
        <p:spPr bwMode="auto">
          <a:xfrm>
            <a:off x="5041848" y="2224412"/>
            <a:ext cx="360000" cy="405818"/>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sz="1600">
                <a:solidFill>
                  <a:schemeClr val="bg1"/>
                </a:solidFill>
              </a:rPr>
              <a:t>M</a:t>
            </a:r>
            <a:r>
              <a:rPr lang="en-US" sz="1600" baseline="-25000">
                <a:solidFill>
                  <a:schemeClr val="bg1"/>
                </a:solidFill>
              </a:rPr>
              <a:t>3,2</a:t>
            </a:r>
          </a:p>
        </p:txBody>
      </p:sp>
      <p:sp>
        <p:nvSpPr>
          <p:cNvPr id="241" name="Rectangle 51"/>
          <p:cNvSpPr>
            <a:spLocks noChangeArrowheads="1"/>
          </p:cNvSpPr>
          <p:nvPr/>
        </p:nvSpPr>
        <p:spPr bwMode="auto">
          <a:xfrm>
            <a:off x="3961848" y="2630230"/>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42" name="Rectangle 52"/>
          <p:cNvSpPr>
            <a:spLocks noChangeArrowheads="1"/>
          </p:cNvSpPr>
          <p:nvPr/>
        </p:nvSpPr>
        <p:spPr bwMode="auto">
          <a:xfrm>
            <a:off x="4321848" y="2630230"/>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43" name="Rectangle 53"/>
          <p:cNvSpPr>
            <a:spLocks noChangeArrowheads="1"/>
          </p:cNvSpPr>
          <p:nvPr/>
        </p:nvSpPr>
        <p:spPr bwMode="auto">
          <a:xfrm>
            <a:off x="4681848" y="2630230"/>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44" name="Rectangle 54"/>
          <p:cNvSpPr>
            <a:spLocks noChangeArrowheads="1"/>
          </p:cNvSpPr>
          <p:nvPr/>
        </p:nvSpPr>
        <p:spPr bwMode="auto">
          <a:xfrm>
            <a:off x="5041848" y="2630230"/>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45" name="Rectangle 55"/>
          <p:cNvSpPr>
            <a:spLocks noChangeArrowheads="1"/>
          </p:cNvSpPr>
          <p:nvPr/>
        </p:nvSpPr>
        <p:spPr bwMode="auto">
          <a:xfrm>
            <a:off x="4321848" y="2630230"/>
            <a:ext cx="360000" cy="405818"/>
          </a:xfrm>
          <a:prstGeom prst="rect">
            <a:avLst/>
          </a:prstGeom>
          <a:solidFill>
            <a:srgbClr val="7AC96C"/>
          </a:solidFill>
          <a:ln w="9525">
            <a:solidFill>
              <a:schemeClr val="tx1"/>
            </a:solidFill>
            <a:miter lim="800000"/>
            <a:headEnd/>
            <a:tailEnd/>
          </a:ln>
          <a:effectLst/>
        </p:spPr>
        <p:txBody>
          <a:bodyPr wrap="none" anchor="ctr">
            <a:prstTxWarp prst="textNoShape">
              <a:avLst/>
            </a:prstTxWarp>
          </a:bodyPr>
          <a:lstStyle/>
          <a:p>
            <a:pPr algn="ctr"/>
            <a:r>
              <a:rPr lang="en-US" sz="1600" dirty="0"/>
              <a:t>M</a:t>
            </a:r>
            <a:r>
              <a:rPr lang="en-US" sz="1600" baseline="-25000" dirty="0"/>
              <a:t>1,3</a:t>
            </a:r>
          </a:p>
        </p:txBody>
      </p:sp>
      <p:sp>
        <p:nvSpPr>
          <p:cNvPr id="246" name="Rectangle 56"/>
          <p:cNvSpPr>
            <a:spLocks noChangeArrowheads="1"/>
          </p:cNvSpPr>
          <p:nvPr/>
        </p:nvSpPr>
        <p:spPr bwMode="auto">
          <a:xfrm>
            <a:off x="3961848" y="2630230"/>
            <a:ext cx="360000" cy="405818"/>
          </a:xfrm>
          <a:prstGeom prst="rect">
            <a:avLst/>
          </a:prstGeom>
          <a:solidFill>
            <a:srgbClr val="7AC96C"/>
          </a:solidFill>
          <a:ln w="9525">
            <a:solidFill>
              <a:schemeClr val="tx1"/>
            </a:solidFill>
            <a:miter lim="800000"/>
            <a:headEnd/>
            <a:tailEnd/>
          </a:ln>
          <a:effectLst/>
        </p:spPr>
        <p:txBody>
          <a:bodyPr wrap="none" anchor="ctr">
            <a:prstTxWarp prst="textNoShape">
              <a:avLst/>
            </a:prstTxWarp>
          </a:bodyPr>
          <a:lstStyle/>
          <a:p>
            <a:pPr algn="ctr"/>
            <a:r>
              <a:rPr lang="en-US" sz="1600" dirty="0"/>
              <a:t>M</a:t>
            </a:r>
            <a:r>
              <a:rPr lang="en-US" sz="1600" baseline="-25000" dirty="0"/>
              <a:t>0,3</a:t>
            </a:r>
          </a:p>
        </p:txBody>
      </p:sp>
      <p:sp>
        <p:nvSpPr>
          <p:cNvPr id="247" name="Rectangle 57"/>
          <p:cNvSpPr>
            <a:spLocks noChangeArrowheads="1"/>
          </p:cNvSpPr>
          <p:nvPr/>
        </p:nvSpPr>
        <p:spPr bwMode="auto">
          <a:xfrm>
            <a:off x="4681848" y="2630230"/>
            <a:ext cx="360000" cy="405818"/>
          </a:xfrm>
          <a:prstGeom prst="rect">
            <a:avLst/>
          </a:prstGeom>
          <a:solidFill>
            <a:srgbClr val="7AC96C"/>
          </a:solidFill>
          <a:ln w="9525">
            <a:solidFill>
              <a:schemeClr val="tx1"/>
            </a:solidFill>
            <a:miter lim="800000"/>
            <a:headEnd/>
            <a:tailEnd/>
          </a:ln>
          <a:effectLst/>
        </p:spPr>
        <p:txBody>
          <a:bodyPr wrap="none" anchor="ctr">
            <a:prstTxWarp prst="textNoShape">
              <a:avLst/>
            </a:prstTxWarp>
          </a:bodyPr>
          <a:lstStyle/>
          <a:p>
            <a:pPr algn="ctr"/>
            <a:r>
              <a:rPr lang="en-US" sz="1600"/>
              <a:t>M</a:t>
            </a:r>
            <a:r>
              <a:rPr lang="en-US" sz="1600" baseline="-25000"/>
              <a:t>2,3</a:t>
            </a:r>
          </a:p>
        </p:txBody>
      </p:sp>
      <p:sp>
        <p:nvSpPr>
          <p:cNvPr id="248" name="Rectangle 58"/>
          <p:cNvSpPr>
            <a:spLocks noChangeArrowheads="1"/>
          </p:cNvSpPr>
          <p:nvPr/>
        </p:nvSpPr>
        <p:spPr bwMode="auto">
          <a:xfrm>
            <a:off x="5041848" y="2630230"/>
            <a:ext cx="360000" cy="405818"/>
          </a:xfrm>
          <a:prstGeom prst="rect">
            <a:avLst/>
          </a:prstGeom>
          <a:solidFill>
            <a:srgbClr val="7AC96C"/>
          </a:solidFill>
          <a:ln w="9525">
            <a:solidFill>
              <a:schemeClr val="tx1"/>
            </a:solidFill>
            <a:miter lim="800000"/>
            <a:headEnd/>
            <a:tailEnd/>
          </a:ln>
          <a:effectLst/>
        </p:spPr>
        <p:txBody>
          <a:bodyPr wrap="none" anchor="ctr">
            <a:prstTxWarp prst="textNoShape">
              <a:avLst/>
            </a:prstTxWarp>
          </a:bodyPr>
          <a:lstStyle/>
          <a:p>
            <a:pPr algn="ctr"/>
            <a:r>
              <a:rPr lang="en-US" sz="1600" dirty="0"/>
              <a:t>M</a:t>
            </a:r>
            <a:r>
              <a:rPr lang="en-US" sz="1600" baseline="-25000" dirty="0"/>
              <a:t>3,3</a:t>
            </a:r>
          </a:p>
        </p:txBody>
      </p:sp>
      <p:sp>
        <p:nvSpPr>
          <p:cNvPr id="249" name="Rectangle 59"/>
          <p:cNvSpPr>
            <a:spLocks noChangeArrowheads="1"/>
          </p:cNvSpPr>
          <p:nvPr/>
        </p:nvSpPr>
        <p:spPr bwMode="auto">
          <a:xfrm>
            <a:off x="6001849" y="5470957"/>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50" name="Rectangle 60"/>
          <p:cNvSpPr>
            <a:spLocks noChangeArrowheads="1"/>
          </p:cNvSpPr>
          <p:nvPr/>
        </p:nvSpPr>
        <p:spPr bwMode="auto">
          <a:xfrm>
            <a:off x="6361849" y="5470957"/>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51" name="Rectangle 61"/>
          <p:cNvSpPr>
            <a:spLocks noChangeArrowheads="1"/>
          </p:cNvSpPr>
          <p:nvPr/>
        </p:nvSpPr>
        <p:spPr bwMode="auto">
          <a:xfrm>
            <a:off x="6721849" y="5470957"/>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52" name="Rectangle 62"/>
          <p:cNvSpPr>
            <a:spLocks noChangeArrowheads="1"/>
          </p:cNvSpPr>
          <p:nvPr/>
        </p:nvSpPr>
        <p:spPr bwMode="auto">
          <a:xfrm>
            <a:off x="7081849" y="5470957"/>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53" name="Rectangle 63"/>
          <p:cNvSpPr>
            <a:spLocks noChangeArrowheads="1"/>
          </p:cNvSpPr>
          <p:nvPr/>
        </p:nvSpPr>
        <p:spPr bwMode="auto">
          <a:xfrm>
            <a:off x="6001849" y="5470957"/>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54" name="Rectangle 64"/>
          <p:cNvSpPr>
            <a:spLocks noChangeArrowheads="1"/>
          </p:cNvSpPr>
          <p:nvPr/>
        </p:nvSpPr>
        <p:spPr bwMode="auto">
          <a:xfrm>
            <a:off x="6361849" y="5470957"/>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55" name="Rectangle 65"/>
          <p:cNvSpPr>
            <a:spLocks noChangeArrowheads="1"/>
          </p:cNvSpPr>
          <p:nvPr/>
        </p:nvSpPr>
        <p:spPr bwMode="auto">
          <a:xfrm>
            <a:off x="6721849" y="5470957"/>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56" name="Rectangle 66"/>
          <p:cNvSpPr>
            <a:spLocks noChangeArrowheads="1"/>
          </p:cNvSpPr>
          <p:nvPr/>
        </p:nvSpPr>
        <p:spPr bwMode="auto">
          <a:xfrm>
            <a:off x="7081849" y="5470957"/>
            <a:ext cx="360000" cy="405818"/>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57" name="Rectangle 67"/>
          <p:cNvSpPr>
            <a:spLocks noChangeArrowheads="1"/>
          </p:cNvSpPr>
          <p:nvPr/>
        </p:nvSpPr>
        <p:spPr bwMode="auto">
          <a:xfrm>
            <a:off x="6361849" y="5470957"/>
            <a:ext cx="360000" cy="405818"/>
          </a:xfrm>
          <a:prstGeom prst="rect">
            <a:avLst/>
          </a:prstGeom>
          <a:solidFill>
            <a:srgbClr val="7AC96C"/>
          </a:solidFill>
          <a:ln w="9525">
            <a:solidFill>
              <a:schemeClr val="tx1"/>
            </a:solidFill>
            <a:miter lim="800000"/>
            <a:headEnd/>
            <a:tailEnd/>
          </a:ln>
          <a:effectLst/>
        </p:spPr>
        <p:txBody>
          <a:bodyPr wrap="none" anchor="ctr">
            <a:prstTxWarp prst="textNoShape">
              <a:avLst/>
            </a:prstTxWarp>
          </a:bodyPr>
          <a:lstStyle/>
          <a:p>
            <a:pPr algn="ctr"/>
            <a:r>
              <a:rPr lang="en-US" sz="1600"/>
              <a:t>M</a:t>
            </a:r>
            <a:r>
              <a:rPr lang="en-US" sz="1600" baseline="-25000"/>
              <a:t>1,3</a:t>
            </a:r>
          </a:p>
        </p:txBody>
      </p:sp>
      <p:sp>
        <p:nvSpPr>
          <p:cNvPr id="258" name="Rectangle 68"/>
          <p:cNvSpPr>
            <a:spLocks noChangeArrowheads="1"/>
          </p:cNvSpPr>
          <p:nvPr/>
        </p:nvSpPr>
        <p:spPr bwMode="auto">
          <a:xfrm>
            <a:off x="6001849" y="5470957"/>
            <a:ext cx="360000" cy="405818"/>
          </a:xfrm>
          <a:prstGeom prst="rect">
            <a:avLst/>
          </a:prstGeom>
          <a:solidFill>
            <a:srgbClr val="7AC96C"/>
          </a:solidFill>
          <a:ln w="9525">
            <a:solidFill>
              <a:schemeClr val="tx1"/>
            </a:solidFill>
            <a:miter lim="800000"/>
            <a:headEnd/>
            <a:tailEnd/>
          </a:ln>
          <a:effectLst/>
        </p:spPr>
        <p:txBody>
          <a:bodyPr wrap="none" anchor="ctr">
            <a:prstTxWarp prst="textNoShape">
              <a:avLst/>
            </a:prstTxWarp>
          </a:bodyPr>
          <a:lstStyle/>
          <a:p>
            <a:pPr algn="ctr"/>
            <a:r>
              <a:rPr lang="en-US" sz="1600"/>
              <a:t>M</a:t>
            </a:r>
            <a:r>
              <a:rPr lang="en-US" sz="1600" baseline="-25000"/>
              <a:t>0,3</a:t>
            </a:r>
          </a:p>
        </p:txBody>
      </p:sp>
      <p:sp>
        <p:nvSpPr>
          <p:cNvPr id="259" name="Rectangle 69"/>
          <p:cNvSpPr>
            <a:spLocks noChangeArrowheads="1"/>
          </p:cNvSpPr>
          <p:nvPr/>
        </p:nvSpPr>
        <p:spPr bwMode="auto">
          <a:xfrm>
            <a:off x="6721849" y="5470957"/>
            <a:ext cx="360000" cy="405818"/>
          </a:xfrm>
          <a:prstGeom prst="rect">
            <a:avLst/>
          </a:prstGeom>
          <a:solidFill>
            <a:srgbClr val="7AC96C"/>
          </a:solidFill>
          <a:ln w="9525">
            <a:solidFill>
              <a:schemeClr val="tx1"/>
            </a:solidFill>
            <a:miter lim="800000"/>
            <a:headEnd/>
            <a:tailEnd/>
          </a:ln>
          <a:effectLst/>
        </p:spPr>
        <p:txBody>
          <a:bodyPr wrap="none" anchor="ctr">
            <a:prstTxWarp prst="textNoShape">
              <a:avLst/>
            </a:prstTxWarp>
          </a:bodyPr>
          <a:lstStyle/>
          <a:p>
            <a:pPr algn="ctr"/>
            <a:r>
              <a:rPr lang="en-US" sz="1600"/>
              <a:t>M</a:t>
            </a:r>
            <a:r>
              <a:rPr lang="en-US" sz="1600" baseline="-25000"/>
              <a:t>2,3</a:t>
            </a:r>
          </a:p>
        </p:txBody>
      </p:sp>
      <p:sp>
        <p:nvSpPr>
          <p:cNvPr id="260" name="Rectangle 70"/>
          <p:cNvSpPr>
            <a:spLocks noChangeArrowheads="1"/>
          </p:cNvSpPr>
          <p:nvPr/>
        </p:nvSpPr>
        <p:spPr bwMode="auto">
          <a:xfrm>
            <a:off x="7081849" y="5470957"/>
            <a:ext cx="360000" cy="405818"/>
          </a:xfrm>
          <a:prstGeom prst="rect">
            <a:avLst/>
          </a:prstGeom>
          <a:solidFill>
            <a:srgbClr val="7AC96C"/>
          </a:solidFill>
          <a:ln w="9525">
            <a:solidFill>
              <a:schemeClr val="tx1"/>
            </a:solidFill>
            <a:miter lim="800000"/>
            <a:headEnd/>
            <a:tailEnd/>
          </a:ln>
          <a:effectLst/>
        </p:spPr>
        <p:txBody>
          <a:bodyPr wrap="none" anchor="ctr">
            <a:prstTxWarp prst="textNoShape">
              <a:avLst/>
            </a:prstTxWarp>
          </a:bodyPr>
          <a:lstStyle/>
          <a:p>
            <a:pPr algn="ctr"/>
            <a:r>
              <a:rPr lang="en-US" sz="1600"/>
              <a:t>M</a:t>
            </a:r>
            <a:r>
              <a:rPr lang="en-US" sz="1600" baseline="-25000"/>
              <a:t>3,3</a:t>
            </a:r>
          </a:p>
        </p:txBody>
      </p:sp>
      <p:sp>
        <p:nvSpPr>
          <p:cNvPr id="261" name="Line 71"/>
          <p:cNvSpPr>
            <a:spLocks noChangeShapeType="1"/>
          </p:cNvSpPr>
          <p:nvPr/>
        </p:nvSpPr>
        <p:spPr bwMode="auto">
          <a:xfrm>
            <a:off x="1681847" y="5132775"/>
            <a:ext cx="0" cy="270545"/>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262" name="Text Box 72"/>
          <p:cNvSpPr txBox="1">
            <a:spLocks noChangeArrowheads="1"/>
          </p:cNvSpPr>
          <p:nvPr/>
        </p:nvSpPr>
        <p:spPr bwMode="auto">
          <a:xfrm>
            <a:off x="1489347" y="4697367"/>
            <a:ext cx="382023" cy="346948"/>
          </a:xfrm>
          <a:prstGeom prst="rect">
            <a:avLst/>
          </a:prstGeom>
          <a:noFill/>
          <a:ln w="9525">
            <a:noFill/>
            <a:miter lim="800000"/>
            <a:headEnd/>
            <a:tailEnd/>
          </a:ln>
          <a:effectLst/>
        </p:spPr>
        <p:txBody>
          <a:bodyPr wrap="none">
            <a:prstTxWarp prst="textNoShape">
              <a:avLst/>
            </a:prstTxWarp>
            <a:spAutoFit/>
          </a:bodyPr>
          <a:lstStyle/>
          <a:p>
            <a:r>
              <a:rPr lang="en-US" dirty="0"/>
              <a:t>M</a:t>
            </a:r>
          </a:p>
        </p:txBody>
      </p:sp>
      <p:sp>
        <p:nvSpPr>
          <p:cNvPr id="263" name="Text Box 73"/>
          <p:cNvSpPr txBox="1">
            <a:spLocks noChangeArrowheads="1"/>
          </p:cNvSpPr>
          <p:nvPr/>
        </p:nvSpPr>
        <p:spPr bwMode="auto">
          <a:xfrm>
            <a:off x="1681847" y="4206099"/>
            <a:ext cx="396312" cy="375861"/>
          </a:xfrm>
          <a:prstGeom prst="rect">
            <a:avLst/>
          </a:prstGeom>
          <a:noFill/>
          <a:ln w="9525">
            <a:noFill/>
            <a:miter lim="800000"/>
            <a:headEnd/>
            <a:tailEnd/>
          </a:ln>
          <a:effectLst/>
        </p:spPr>
        <p:txBody>
          <a:bodyPr wrap="none">
            <a:prstTxWarp prst="textNoShape">
              <a:avLst/>
            </a:prstTxWarp>
            <a:spAutoFit/>
          </a:bodyPr>
          <a:lstStyle/>
          <a:p>
            <a:r>
              <a:rPr lang="en-US" sz="2000" dirty="0"/>
              <a:t>T</a:t>
            </a:r>
            <a:r>
              <a:rPr lang="en-US" sz="2000" baseline="-25000" dirty="0"/>
              <a:t>1</a:t>
            </a:r>
          </a:p>
        </p:txBody>
      </p:sp>
      <p:sp>
        <p:nvSpPr>
          <p:cNvPr id="264" name="Text Box 74"/>
          <p:cNvSpPr txBox="1">
            <a:spLocks noChangeArrowheads="1"/>
          </p:cNvSpPr>
          <p:nvPr/>
        </p:nvSpPr>
        <p:spPr bwMode="auto">
          <a:xfrm>
            <a:off x="3181848" y="4206099"/>
            <a:ext cx="396312" cy="375861"/>
          </a:xfrm>
          <a:prstGeom prst="rect">
            <a:avLst/>
          </a:prstGeom>
          <a:noFill/>
          <a:ln w="9525">
            <a:noFill/>
            <a:miter lim="800000"/>
            <a:headEnd/>
            <a:tailEnd/>
          </a:ln>
          <a:effectLst/>
        </p:spPr>
        <p:txBody>
          <a:bodyPr wrap="none">
            <a:prstTxWarp prst="textNoShape">
              <a:avLst/>
            </a:prstTxWarp>
            <a:spAutoFit/>
          </a:bodyPr>
          <a:lstStyle/>
          <a:p>
            <a:r>
              <a:rPr lang="en-US" sz="2000"/>
              <a:t>T</a:t>
            </a:r>
            <a:r>
              <a:rPr lang="en-US" sz="2000" baseline="-25000"/>
              <a:t>2</a:t>
            </a:r>
          </a:p>
        </p:txBody>
      </p:sp>
      <p:sp>
        <p:nvSpPr>
          <p:cNvPr id="265" name="Text Box 75"/>
          <p:cNvSpPr txBox="1">
            <a:spLocks noChangeArrowheads="1"/>
          </p:cNvSpPr>
          <p:nvPr/>
        </p:nvSpPr>
        <p:spPr bwMode="auto">
          <a:xfrm>
            <a:off x="4501848" y="4206099"/>
            <a:ext cx="396312" cy="375861"/>
          </a:xfrm>
          <a:prstGeom prst="rect">
            <a:avLst/>
          </a:prstGeom>
          <a:noFill/>
          <a:ln w="9525">
            <a:noFill/>
            <a:miter lim="800000"/>
            <a:headEnd/>
            <a:tailEnd/>
          </a:ln>
          <a:effectLst/>
        </p:spPr>
        <p:txBody>
          <a:bodyPr wrap="none">
            <a:prstTxWarp prst="textNoShape">
              <a:avLst/>
            </a:prstTxWarp>
            <a:spAutoFit/>
          </a:bodyPr>
          <a:lstStyle/>
          <a:p>
            <a:r>
              <a:rPr lang="en-US" sz="2000"/>
              <a:t>T</a:t>
            </a:r>
            <a:r>
              <a:rPr lang="en-US" sz="2000" baseline="-25000"/>
              <a:t>3</a:t>
            </a:r>
          </a:p>
        </p:txBody>
      </p:sp>
      <p:sp>
        <p:nvSpPr>
          <p:cNvPr id="266" name="Text Box 76"/>
          <p:cNvSpPr txBox="1">
            <a:spLocks noChangeArrowheads="1"/>
          </p:cNvSpPr>
          <p:nvPr/>
        </p:nvSpPr>
        <p:spPr bwMode="auto">
          <a:xfrm>
            <a:off x="6001849" y="4206099"/>
            <a:ext cx="402674" cy="375861"/>
          </a:xfrm>
          <a:prstGeom prst="rect">
            <a:avLst/>
          </a:prstGeom>
          <a:noFill/>
          <a:ln w="9525">
            <a:noFill/>
            <a:miter lim="800000"/>
            <a:headEnd/>
            <a:tailEnd/>
          </a:ln>
          <a:effectLst/>
        </p:spPr>
        <p:txBody>
          <a:bodyPr wrap="none">
            <a:prstTxWarp prst="textNoShape">
              <a:avLst/>
            </a:prstTxWarp>
            <a:spAutoFit/>
          </a:bodyPr>
          <a:lstStyle/>
          <a:p>
            <a:r>
              <a:rPr lang="en-US" sz="2000"/>
              <a:t>T</a:t>
            </a:r>
            <a:r>
              <a:rPr lang="en-US" sz="2000" baseline="-25000"/>
              <a:t>4</a:t>
            </a:r>
          </a:p>
        </p:txBody>
      </p:sp>
      <p:sp>
        <p:nvSpPr>
          <p:cNvPr id="267" name="Line 77"/>
          <p:cNvSpPr>
            <a:spLocks noChangeShapeType="1"/>
          </p:cNvSpPr>
          <p:nvPr/>
        </p:nvSpPr>
        <p:spPr bwMode="auto">
          <a:xfrm>
            <a:off x="3781848" y="1615685"/>
            <a:ext cx="1860001" cy="0"/>
          </a:xfrm>
          <a:prstGeom prst="line">
            <a:avLst/>
          </a:prstGeom>
          <a:noFill/>
          <a:ln w="44450">
            <a:solidFill>
              <a:schemeClr val="tx1"/>
            </a:solidFill>
            <a:round/>
            <a:headEnd/>
            <a:tailEnd type="triangle" w="med" len="med"/>
          </a:ln>
          <a:effectLst/>
        </p:spPr>
        <p:txBody>
          <a:bodyPr>
            <a:prstTxWarp prst="textNoShape">
              <a:avLst/>
            </a:prstTxWarp>
          </a:bodyPr>
          <a:lstStyle/>
          <a:p>
            <a:endParaRPr lang="es-ES_tradnl"/>
          </a:p>
        </p:txBody>
      </p:sp>
      <p:sp>
        <p:nvSpPr>
          <p:cNvPr id="268" name="Text Box 78"/>
          <p:cNvSpPr txBox="1">
            <a:spLocks noChangeArrowheads="1"/>
          </p:cNvSpPr>
          <p:nvPr/>
        </p:nvSpPr>
        <p:spPr bwMode="auto">
          <a:xfrm>
            <a:off x="3651948" y="3919046"/>
            <a:ext cx="919867" cy="369332"/>
          </a:xfrm>
          <a:prstGeom prst="rect">
            <a:avLst/>
          </a:prstGeom>
          <a:noFill/>
          <a:ln w="9525">
            <a:noFill/>
            <a:miter lim="800000"/>
            <a:headEnd/>
            <a:tailEnd/>
          </a:ln>
          <a:effectLst/>
        </p:spPr>
        <p:txBody>
          <a:bodyPr wrap="none">
            <a:prstTxWarp prst="textNoShape">
              <a:avLst/>
            </a:prstTxWarp>
            <a:spAutoFit/>
          </a:bodyPr>
          <a:lstStyle/>
          <a:p>
            <a:r>
              <a:rPr lang="en-US" sz="1800" dirty="0"/>
              <a:t>Warp 1</a:t>
            </a:r>
          </a:p>
        </p:txBody>
      </p:sp>
      <p:sp>
        <p:nvSpPr>
          <p:cNvPr id="269" name="Text Box 79"/>
          <p:cNvSpPr txBox="1">
            <a:spLocks noChangeArrowheads="1"/>
          </p:cNvSpPr>
          <p:nvPr/>
        </p:nvSpPr>
        <p:spPr bwMode="auto">
          <a:xfrm>
            <a:off x="2101847" y="3394463"/>
            <a:ext cx="396312" cy="375861"/>
          </a:xfrm>
          <a:prstGeom prst="rect">
            <a:avLst/>
          </a:prstGeom>
          <a:noFill/>
          <a:ln w="9525">
            <a:noFill/>
            <a:miter lim="800000"/>
            <a:headEnd/>
            <a:tailEnd/>
          </a:ln>
          <a:effectLst/>
        </p:spPr>
        <p:txBody>
          <a:bodyPr wrap="none">
            <a:prstTxWarp prst="textNoShape">
              <a:avLst/>
            </a:prstTxWarp>
            <a:spAutoFit/>
          </a:bodyPr>
          <a:lstStyle/>
          <a:p>
            <a:r>
              <a:rPr lang="en-US" sz="2000"/>
              <a:t>T</a:t>
            </a:r>
            <a:r>
              <a:rPr lang="en-US" sz="2000" baseline="-25000"/>
              <a:t>1</a:t>
            </a:r>
          </a:p>
        </p:txBody>
      </p:sp>
      <p:sp>
        <p:nvSpPr>
          <p:cNvPr id="270" name="Text Box 80"/>
          <p:cNvSpPr txBox="1">
            <a:spLocks noChangeArrowheads="1"/>
          </p:cNvSpPr>
          <p:nvPr/>
        </p:nvSpPr>
        <p:spPr bwMode="auto">
          <a:xfrm>
            <a:off x="3541848" y="3394463"/>
            <a:ext cx="396312" cy="375861"/>
          </a:xfrm>
          <a:prstGeom prst="rect">
            <a:avLst/>
          </a:prstGeom>
          <a:noFill/>
          <a:ln w="9525">
            <a:noFill/>
            <a:miter lim="800000"/>
            <a:headEnd/>
            <a:tailEnd/>
          </a:ln>
          <a:effectLst/>
        </p:spPr>
        <p:txBody>
          <a:bodyPr wrap="none">
            <a:prstTxWarp prst="textNoShape">
              <a:avLst/>
            </a:prstTxWarp>
            <a:spAutoFit/>
          </a:bodyPr>
          <a:lstStyle/>
          <a:p>
            <a:r>
              <a:rPr lang="en-US" sz="2000"/>
              <a:t>T</a:t>
            </a:r>
            <a:r>
              <a:rPr lang="en-US" sz="2000" baseline="-25000"/>
              <a:t>2</a:t>
            </a:r>
          </a:p>
        </p:txBody>
      </p:sp>
      <p:sp>
        <p:nvSpPr>
          <p:cNvPr id="271" name="Text Box 81"/>
          <p:cNvSpPr txBox="1">
            <a:spLocks noChangeArrowheads="1"/>
          </p:cNvSpPr>
          <p:nvPr/>
        </p:nvSpPr>
        <p:spPr bwMode="auto">
          <a:xfrm>
            <a:off x="4861848" y="3394463"/>
            <a:ext cx="396312" cy="375861"/>
          </a:xfrm>
          <a:prstGeom prst="rect">
            <a:avLst/>
          </a:prstGeom>
          <a:noFill/>
          <a:ln w="9525">
            <a:noFill/>
            <a:miter lim="800000"/>
            <a:headEnd/>
            <a:tailEnd/>
          </a:ln>
          <a:effectLst/>
        </p:spPr>
        <p:txBody>
          <a:bodyPr wrap="none">
            <a:prstTxWarp prst="textNoShape">
              <a:avLst/>
            </a:prstTxWarp>
            <a:spAutoFit/>
          </a:bodyPr>
          <a:lstStyle/>
          <a:p>
            <a:r>
              <a:rPr lang="en-US" sz="2000"/>
              <a:t>T</a:t>
            </a:r>
            <a:r>
              <a:rPr lang="en-US" sz="2000" baseline="-25000"/>
              <a:t>3</a:t>
            </a:r>
          </a:p>
        </p:txBody>
      </p:sp>
      <p:sp>
        <p:nvSpPr>
          <p:cNvPr id="272" name="Text Box 82"/>
          <p:cNvSpPr txBox="1">
            <a:spLocks noChangeArrowheads="1"/>
          </p:cNvSpPr>
          <p:nvPr/>
        </p:nvSpPr>
        <p:spPr bwMode="auto">
          <a:xfrm>
            <a:off x="6421849" y="3394463"/>
            <a:ext cx="402674" cy="375861"/>
          </a:xfrm>
          <a:prstGeom prst="rect">
            <a:avLst/>
          </a:prstGeom>
          <a:noFill/>
          <a:ln w="9525">
            <a:noFill/>
            <a:miter lim="800000"/>
            <a:headEnd/>
            <a:tailEnd/>
          </a:ln>
          <a:effectLst/>
        </p:spPr>
        <p:txBody>
          <a:bodyPr wrap="none">
            <a:prstTxWarp prst="textNoShape">
              <a:avLst/>
            </a:prstTxWarp>
            <a:spAutoFit/>
          </a:bodyPr>
          <a:lstStyle/>
          <a:p>
            <a:r>
              <a:rPr lang="en-US" sz="2000"/>
              <a:t>T</a:t>
            </a:r>
            <a:r>
              <a:rPr lang="en-US" sz="2000" baseline="-25000"/>
              <a:t>4</a:t>
            </a:r>
          </a:p>
        </p:txBody>
      </p:sp>
      <p:sp>
        <p:nvSpPr>
          <p:cNvPr id="273" name="Text Box 83"/>
          <p:cNvSpPr txBox="1">
            <a:spLocks noChangeArrowheads="1"/>
          </p:cNvSpPr>
          <p:nvPr/>
        </p:nvSpPr>
        <p:spPr bwMode="auto">
          <a:xfrm>
            <a:off x="3865548" y="3107410"/>
            <a:ext cx="919867" cy="369332"/>
          </a:xfrm>
          <a:prstGeom prst="rect">
            <a:avLst/>
          </a:prstGeom>
          <a:noFill/>
          <a:ln w="9525">
            <a:noFill/>
            <a:miter lim="800000"/>
            <a:headEnd/>
            <a:tailEnd/>
          </a:ln>
          <a:effectLst/>
        </p:spPr>
        <p:txBody>
          <a:bodyPr wrap="none">
            <a:prstTxWarp prst="textNoShape">
              <a:avLst/>
            </a:prstTxWarp>
            <a:spAutoFit/>
          </a:bodyPr>
          <a:lstStyle/>
          <a:p>
            <a:r>
              <a:rPr lang="en-US" sz="1800" dirty="0"/>
              <a:t>Warp 2</a:t>
            </a:r>
          </a:p>
        </p:txBody>
      </p:sp>
      <p:sp>
        <p:nvSpPr>
          <p:cNvPr id="274" name="Text Box 84"/>
          <p:cNvSpPr txBox="1">
            <a:spLocks noChangeArrowheads="1"/>
          </p:cNvSpPr>
          <p:nvPr/>
        </p:nvSpPr>
        <p:spPr bwMode="auto">
          <a:xfrm>
            <a:off x="2133600" y="1480412"/>
            <a:ext cx="1648247" cy="1015663"/>
          </a:xfrm>
          <a:prstGeom prst="rect">
            <a:avLst/>
          </a:prstGeom>
          <a:noFill/>
          <a:ln w="9525">
            <a:noFill/>
            <a:miter lim="800000"/>
            <a:headEnd/>
            <a:tailEnd/>
          </a:ln>
          <a:effectLst/>
        </p:spPr>
        <p:txBody>
          <a:bodyPr wrap="square">
            <a:prstTxWarp prst="textNoShape">
              <a:avLst/>
            </a:prstTxWarp>
            <a:spAutoFit/>
          </a:bodyPr>
          <a:lstStyle/>
          <a:p>
            <a:r>
              <a:rPr lang="en-US" sz="2000" dirty="0"/>
              <a:t>Access direction of each thread</a:t>
            </a:r>
          </a:p>
        </p:txBody>
      </p:sp>
      <p:sp>
        <p:nvSpPr>
          <p:cNvPr id="275" name="Line 85"/>
          <p:cNvSpPr>
            <a:spLocks noChangeShapeType="1"/>
          </p:cNvSpPr>
          <p:nvPr/>
        </p:nvSpPr>
        <p:spPr bwMode="auto">
          <a:xfrm flipV="1">
            <a:off x="1861847" y="4659321"/>
            <a:ext cx="0" cy="744000"/>
          </a:xfrm>
          <a:prstGeom prst="line">
            <a:avLst/>
          </a:prstGeom>
          <a:noFill/>
          <a:ln w="38100">
            <a:solidFill>
              <a:schemeClr val="tx1"/>
            </a:solidFill>
            <a:round/>
            <a:headEnd/>
            <a:tailEnd type="triangle" w="med" len="med"/>
          </a:ln>
          <a:effectLst/>
        </p:spPr>
        <p:txBody>
          <a:bodyPr>
            <a:prstTxWarp prst="textNoShape">
              <a:avLst/>
            </a:prstTxWarp>
          </a:bodyPr>
          <a:lstStyle/>
          <a:p>
            <a:endParaRPr lang="es-ES_tradnl"/>
          </a:p>
        </p:txBody>
      </p:sp>
      <p:sp>
        <p:nvSpPr>
          <p:cNvPr id="276" name="Line 86"/>
          <p:cNvSpPr>
            <a:spLocks noChangeShapeType="1"/>
          </p:cNvSpPr>
          <p:nvPr/>
        </p:nvSpPr>
        <p:spPr bwMode="auto">
          <a:xfrm flipV="1">
            <a:off x="2221847" y="3847685"/>
            <a:ext cx="0" cy="1555636"/>
          </a:xfrm>
          <a:prstGeom prst="line">
            <a:avLst/>
          </a:prstGeom>
          <a:noFill/>
          <a:ln w="38100">
            <a:solidFill>
              <a:schemeClr val="tx1"/>
            </a:solidFill>
            <a:round/>
            <a:headEnd/>
            <a:tailEnd type="triangle" w="med" len="med"/>
          </a:ln>
          <a:effectLst/>
        </p:spPr>
        <p:txBody>
          <a:bodyPr>
            <a:prstTxWarp prst="textNoShape">
              <a:avLst/>
            </a:prstTxWarp>
          </a:bodyPr>
          <a:lstStyle/>
          <a:p>
            <a:endParaRPr lang="es-ES_tradnl"/>
          </a:p>
        </p:txBody>
      </p:sp>
      <p:sp>
        <p:nvSpPr>
          <p:cNvPr id="277" name="Line 87"/>
          <p:cNvSpPr>
            <a:spLocks noChangeShapeType="1"/>
          </p:cNvSpPr>
          <p:nvPr/>
        </p:nvSpPr>
        <p:spPr bwMode="auto">
          <a:xfrm flipV="1">
            <a:off x="5041848" y="3847685"/>
            <a:ext cx="0" cy="1555636"/>
          </a:xfrm>
          <a:prstGeom prst="line">
            <a:avLst/>
          </a:prstGeom>
          <a:noFill/>
          <a:ln w="38100">
            <a:solidFill>
              <a:schemeClr val="tx1"/>
            </a:solidFill>
            <a:round/>
            <a:headEnd/>
            <a:tailEnd type="triangle" w="med" len="med"/>
          </a:ln>
          <a:effectLst/>
        </p:spPr>
        <p:txBody>
          <a:bodyPr>
            <a:prstTxWarp prst="textNoShape">
              <a:avLst/>
            </a:prstTxWarp>
          </a:bodyPr>
          <a:lstStyle/>
          <a:p>
            <a:endParaRPr lang="es-ES_tradnl"/>
          </a:p>
        </p:txBody>
      </p:sp>
      <p:sp>
        <p:nvSpPr>
          <p:cNvPr id="278" name="Line 88"/>
          <p:cNvSpPr>
            <a:spLocks noChangeShapeType="1"/>
          </p:cNvSpPr>
          <p:nvPr/>
        </p:nvSpPr>
        <p:spPr bwMode="auto">
          <a:xfrm flipV="1">
            <a:off x="6181849" y="4659321"/>
            <a:ext cx="0" cy="744000"/>
          </a:xfrm>
          <a:prstGeom prst="line">
            <a:avLst/>
          </a:prstGeom>
          <a:noFill/>
          <a:ln w="38100">
            <a:solidFill>
              <a:schemeClr val="tx1"/>
            </a:solidFill>
            <a:round/>
            <a:headEnd/>
            <a:tailEnd type="triangle" w="med" len="med"/>
          </a:ln>
          <a:effectLst/>
        </p:spPr>
        <p:txBody>
          <a:bodyPr>
            <a:prstTxWarp prst="textNoShape">
              <a:avLst/>
            </a:prstTxWarp>
          </a:bodyPr>
          <a:lstStyle/>
          <a:p>
            <a:endParaRPr lang="es-ES_tradnl"/>
          </a:p>
        </p:txBody>
      </p:sp>
      <p:sp>
        <p:nvSpPr>
          <p:cNvPr id="279" name="Line 89"/>
          <p:cNvSpPr>
            <a:spLocks noChangeShapeType="1"/>
          </p:cNvSpPr>
          <p:nvPr/>
        </p:nvSpPr>
        <p:spPr bwMode="auto">
          <a:xfrm flipV="1">
            <a:off x="3361848" y="4659321"/>
            <a:ext cx="0" cy="744000"/>
          </a:xfrm>
          <a:prstGeom prst="line">
            <a:avLst/>
          </a:prstGeom>
          <a:noFill/>
          <a:ln w="38100">
            <a:solidFill>
              <a:schemeClr val="tx1"/>
            </a:solidFill>
            <a:round/>
            <a:headEnd/>
            <a:tailEnd type="triangle" w="med" len="med"/>
          </a:ln>
          <a:effectLst/>
        </p:spPr>
        <p:txBody>
          <a:bodyPr>
            <a:prstTxWarp prst="textNoShape">
              <a:avLst/>
            </a:prstTxWarp>
          </a:bodyPr>
          <a:lstStyle/>
          <a:p>
            <a:endParaRPr lang="es-ES_tradnl"/>
          </a:p>
        </p:txBody>
      </p:sp>
      <p:sp>
        <p:nvSpPr>
          <p:cNvPr id="280" name="Line 90"/>
          <p:cNvSpPr>
            <a:spLocks noChangeShapeType="1"/>
          </p:cNvSpPr>
          <p:nvPr/>
        </p:nvSpPr>
        <p:spPr bwMode="auto">
          <a:xfrm flipV="1">
            <a:off x="3721848" y="3847685"/>
            <a:ext cx="0" cy="1555636"/>
          </a:xfrm>
          <a:prstGeom prst="line">
            <a:avLst/>
          </a:prstGeom>
          <a:noFill/>
          <a:ln w="38100">
            <a:solidFill>
              <a:schemeClr val="tx1"/>
            </a:solidFill>
            <a:round/>
            <a:headEnd/>
            <a:tailEnd type="triangle" w="med" len="med"/>
          </a:ln>
          <a:effectLst/>
        </p:spPr>
        <p:txBody>
          <a:bodyPr>
            <a:prstTxWarp prst="textNoShape">
              <a:avLst/>
            </a:prstTxWarp>
          </a:bodyPr>
          <a:lstStyle/>
          <a:p>
            <a:endParaRPr lang="es-ES_tradnl"/>
          </a:p>
        </p:txBody>
      </p:sp>
      <p:sp>
        <p:nvSpPr>
          <p:cNvPr id="281" name="Line 91"/>
          <p:cNvSpPr>
            <a:spLocks noChangeShapeType="1"/>
          </p:cNvSpPr>
          <p:nvPr/>
        </p:nvSpPr>
        <p:spPr bwMode="auto">
          <a:xfrm flipV="1">
            <a:off x="6541849" y="3847685"/>
            <a:ext cx="0" cy="1555636"/>
          </a:xfrm>
          <a:prstGeom prst="line">
            <a:avLst/>
          </a:prstGeom>
          <a:noFill/>
          <a:ln w="38100">
            <a:solidFill>
              <a:schemeClr val="tx1"/>
            </a:solidFill>
            <a:round/>
            <a:headEnd/>
            <a:tailEnd type="triangle" w="med" len="med"/>
          </a:ln>
          <a:effectLst/>
        </p:spPr>
        <p:txBody>
          <a:bodyPr>
            <a:prstTxWarp prst="textNoShape">
              <a:avLst/>
            </a:prstTxWarp>
          </a:bodyPr>
          <a:lstStyle/>
          <a:p>
            <a:endParaRPr lang="es-ES_tradnl"/>
          </a:p>
        </p:txBody>
      </p:sp>
      <p:sp>
        <p:nvSpPr>
          <p:cNvPr id="282" name="Line 92"/>
          <p:cNvSpPr>
            <a:spLocks noChangeShapeType="1"/>
          </p:cNvSpPr>
          <p:nvPr/>
        </p:nvSpPr>
        <p:spPr bwMode="auto">
          <a:xfrm flipV="1">
            <a:off x="4681848" y="4659321"/>
            <a:ext cx="0" cy="744000"/>
          </a:xfrm>
          <a:prstGeom prst="line">
            <a:avLst/>
          </a:prstGeom>
          <a:noFill/>
          <a:ln w="38100">
            <a:solidFill>
              <a:schemeClr val="tx1"/>
            </a:solidFill>
            <a:round/>
            <a:headEnd/>
            <a:tailEnd type="triangle" w="med" len="med"/>
          </a:ln>
          <a:effectLst/>
        </p:spPr>
        <p:txBody>
          <a:bodyPr>
            <a:prstTxWarp prst="textNoShape">
              <a:avLst/>
            </a:prstTxWarp>
          </a:bodyPr>
          <a:lstStyle/>
          <a:p>
            <a:endParaRPr lang="es-ES_tradnl"/>
          </a:p>
        </p:txBody>
      </p:sp>
      <p:sp>
        <p:nvSpPr>
          <p:cNvPr id="283" name="Rectangle 93"/>
          <p:cNvSpPr>
            <a:spLocks noChangeArrowheads="1"/>
          </p:cNvSpPr>
          <p:nvPr/>
        </p:nvSpPr>
        <p:spPr bwMode="auto">
          <a:xfrm>
            <a:off x="1681847" y="3982957"/>
            <a:ext cx="5160002" cy="676363"/>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84" name="Rectangle 94"/>
          <p:cNvSpPr>
            <a:spLocks noChangeArrowheads="1"/>
          </p:cNvSpPr>
          <p:nvPr/>
        </p:nvSpPr>
        <p:spPr bwMode="auto">
          <a:xfrm>
            <a:off x="2101847" y="3171321"/>
            <a:ext cx="5040002" cy="676363"/>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85" name="Text Box 95"/>
          <p:cNvSpPr txBox="1">
            <a:spLocks noChangeArrowheads="1"/>
          </p:cNvSpPr>
          <p:nvPr/>
        </p:nvSpPr>
        <p:spPr bwMode="auto">
          <a:xfrm>
            <a:off x="7305767" y="3134581"/>
            <a:ext cx="348886" cy="346948"/>
          </a:xfrm>
          <a:prstGeom prst="rect">
            <a:avLst/>
          </a:prstGeom>
          <a:noFill/>
          <a:ln w="9525">
            <a:noFill/>
            <a:miter lim="800000"/>
            <a:headEnd/>
            <a:tailEnd/>
          </a:ln>
          <a:effectLst/>
        </p:spPr>
        <p:txBody>
          <a:bodyPr wrap="none">
            <a:prstTxWarp prst="textNoShape">
              <a:avLst/>
            </a:prstTxWarp>
            <a:spAutoFit/>
          </a:bodyPr>
          <a:lstStyle/>
          <a:p>
            <a:r>
              <a:rPr lang="en-US" b="1" dirty="0"/>
              <a:t>…</a:t>
            </a:r>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37</a:t>
            </a:fld>
            <a:endParaRPr lang="en-US" altLang="en-US"/>
          </a:p>
        </p:txBody>
      </p:sp>
      <p:sp>
        <p:nvSpPr>
          <p:cNvPr id="98" name="CuadroTexto 26">
            <a:extLst>
              <a:ext uri="{FF2B5EF4-FFF2-40B4-BE49-F238E27FC236}">
                <a16:creationId xmlns:a16="http://schemas.microsoft.com/office/drawing/2014/main" id="{3AB3BF22-13FF-0D46-8586-5C7D80374038}"/>
              </a:ext>
            </a:extLst>
          </p:cNvPr>
          <p:cNvSpPr txBox="1"/>
          <p:nvPr/>
        </p:nvSpPr>
        <p:spPr>
          <a:xfrm>
            <a:off x="228600" y="6495225"/>
            <a:ext cx="1274708" cy="215444"/>
          </a:xfrm>
          <a:prstGeom prst="rect">
            <a:avLst/>
          </a:prstGeom>
          <a:noFill/>
        </p:spPr>
        <p:txBody>
          <a:bodyPr wrap="none" rtlCol="0">
            <a:spAutoFit/>
          </a:bodyPr>
          <a:lstStyle/>
          <a:p>
            <a:r>
              <a:rPr lang="en-US" sz="800" dirty="0"/>
              <a:t>Slide credit: </a:t>
            </a:r>
            <a:r>
              <a:rPr lang="en-US" sz="800" dirty="0" err="1"/>
              <a:t>Hwu</a:t>
            </a:r>
            <a:r>
              <a:rPr lang="en-US" sz="800" dirty="0"/>
              <a:t> &amp; Kirk</a:t>
            </a:r>
          </a:p>
        </p:txBody>
      </p:sp>
    </p:spTree>
    <p:extLst>
      <p:ext uri="{BB962C8B-B14F-4D97-AF65-F5344CB8AC3E}">
        <p14:creationId xmlns:p14="http://schemas.microsoft.com/office/powerpoint/2010/main" val="18525704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3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3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4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4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4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4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4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4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4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4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48"/>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67"/>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7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09"/>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10"/>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11"/>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1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13"/>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214"/>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215"/>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216"/>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217"/>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218"/>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219"/>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220"/>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221"/>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222"/>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223"/>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224"/>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225"/>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226"/>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227"/>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228"/>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229"/>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230"/>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231"/>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232"/>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249"/>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250"/>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251"/>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252"/>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253"/>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254"/>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255"/>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256"/>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257"/>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258"/>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259"/>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260"/>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261"/>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262"/>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275"/>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279"/>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282"/>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278"/>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266"/>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265"/>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268"/>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283"/>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264"/>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263"/>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276"/>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269"/>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270"/>
                                        </p:tgtEl>
                                        <p:attrNameLst>
                                          <p:attrName>style.visibility</p:attrName>
                                        </p:attrNameLst>
                                      </p:cBhvr>
                                      <p:to>
                                        <p:strVal val="visible"/>
                                      </p:to>
                                    </p:set>
                                  </p:childTnLst>
                                </p:cTn>
                              </p:par>
                              <p:par>
                                <p:cTn id="183" presetID="1" presetClass="entr" presetSubtype="0" fill="hold" grpId="0" nodeType="withEffect">
                                  <p:stCondLst>
                                    <p:cond delay="0"/>
                                  </p:stCondLst>
                                  <p:childTnLst>
                                    <p:set>
                                      <p:cBhvr>
                                        <p:cTn id="184" dur="1" fill="hold">
                                          <p:stCondLst>
                                            <p:cond delay="0"/>
                                          </p:stCondLst>
                                        </p:cTn>
                                        <p:tgtEl>
                                          <p:spTgt spid="271"/>
                                        </p:tgtEl>
                                        <p:attrNameLst>
                                          <p:attrName>style.visibility</p:attrName>
                                        </p:attrNameLst>
                                      </p:cBhvr>
                                      <p:to>
                                        <p:strVal val="visible"/>
                                      </p:to>
                                    </p:set>
                                  </p:childTnLst>
                                </p:cTn>
                              </p:par>
                              <p:par>
                                <p:cTn id="185" presetID="1" presetClass="entr" presetSubtype="0" fill="hold" grpId="0" nodeType="withEffect">
                                  <p:stCondLst>
                                    <p:cond delay="0"/>
                                  </p:stCondLst>
                                  <p:childTnLst>
                                    <p:set>
                                      <p:cBhvr>
                                        <p:cTn id="186" dur="1" fill="hold">
                                          <p:stCondLst>
                                            <p:cond delay="0"/>
                                          </p:stCondLst>
                                        </p:cTn>
                                        <p:tgtEl>
                                          <p:spTgt spid="273"/>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284"/>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272"/>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285"/>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280"/>
                                        </p:tgtEl>
                                        <p:attrNameLst>
                                          <p:attrName>style.visibility</p:attrName>
                                        </p:attrNameLst>
                                      </p:cBhvr>
                                      <p:to>
                                        <p:strVal val="visible"/>
                                      </p:to>
                                    </p:set>
                                  </p:childTnLst>
                                </p:cTn>
                              </p:par>
                              <p:par>
                                <p:cTn id="195" presetID="1" presetClass="entr" presetSubtype="0" fill="hold" grpId="0" nodeType="withEffect">
                                  <p:stCondLst>
                                    <p:cond delay="0"/>
                                  </p:stCondLst>
                                  <p:childTnLst>
                                    <p:set>
                                      <p:cBhvr>
                                        <p:cTn id="196" dur="1" fill="hold">
                                          <p:stCondLst>
                                            <p:cond delay="0"/>
                                          </p:stCondLst>
                                        </p:cTn>
                                        <p:tgtEl>
                                          <p:spTgt spid="277"/>
                                        </p:tgtEl>
                                        <p:attrNameLst>
                                          <p:attrName>style.visibility</p:attrName>
                                        </p:attrNameLst>
                                      </p:cBhvr>
                                      <p:to>
                                        <p:strVal val="visible"/>
                                      </p:to>
                                    </p:set>
                                  </p:childTnLst>
                                </p:cTn>
                              </p:par>
                              <p:par>
                                <p:cTn id="197" presetID="1" presetClass="entr" presetSubtype="0" fill="hold" grpId="0" nodeType="withEffect">
                                  <p:stCondLst>
                                    <p:cond delay="0"/>
                                  </p:stCondLst>
                                  <p:childTnLst>
                                    <p:set>
                                      <p:cBhvr>
                                        <p:cTn id="198" dur="1" fill="hold">
                                          <p:stCondLst>
                                            <p:cond delay="0"/>
                                          </p:stCondLst>
                                        </p:cTn>
                                        <p:tgtEl>
                                          <p:spTgt spid="2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 grpId="0" animBg="1"/>
      <p:bldP spid="194" grpId="0" animBg="1"/>
      <p:bldP spid="195" grpId="0" animBg="1"/>
      <p:bldP spid="196" grpId="0" animBg="1"/>
      <p:bldP spid="197" grpId="0" animBg="1"/>
      <p:bldP spid="198" grpId="0" animBg="1"/>
      <p:bldP spid="199" grpId="0" animBg="1"/>
      <p:bldP spid="200" grpId="0" animBg="1"/>
      <p:bldP spid="201" grpId="0" animBg="1"/>
      <p:bldP spid="202" grpId="0" animBg="1"/>
      <p:bldP spid="203" grpId="0" animBg="1"/>
      <p:bldP spid="204" grpId="0" animBg="1"/>
      <p:bldP spid="205" grpId="0" animBg="1"/>
      <p:bldP spid="206" grpId="0" animBg="1"/>
      <p:bldP spid="207" grpId="0" animBg="1"/>
      <p:bldP spid="208" grpId="0" animBg="1"/>
      <p:bldP spid="209" grpId="0" animBg="1"/>
      <p:bldP spid="210" grpId="0" animBg="1"/>
      <p:bldP spid="211" grpId="0" animBg="1"/>
      <p:bldP spid="212" grpId="0" animBg="1"/>
      <p:bldP spid="213" grpId="0" animBg="1"/>
      <p:bldP spid="214" grpId="0" animBg="1"/>
      <p:bldP spid="215" grpId="0" animBg="1"/>
      <p:bldP spid="216" grpId="0" animBg="1"/>
      <p:bldP spid="217" grpId="0" animBg="1"/>
      <p:bldP spid="218" grpId="0" animBg="1"/>
      <p:bldP spid="219" grpId="0" animBg="1"/>
      <p:bldP spid="220" grpId="0" animBg="1"/>
      <p:bldP spid="221" grpId="0" animBg="1"/>
      <p:bldP spid="222" grpId="0" animBg="1"/>
      <p:bldP spid="223" grpId="0" animBg="1"/>
      <p:bldP spid="224" grpId="0" animBg="1"/>
      <p:bldP spid="225" grpId="0" animBg="1"/>
      <p:bldP spid="226" grpId="0" animBg="1"/>
      <p:bldP spid="227" grpId="0" animBg="1"/>
      <p:bldP spid="228" grpId="0" animBg="1"/>
      <p:bldP spid="229" grpId="0" animBg="1"/>
      <p:bldP spid="230" grpId="0" animBg="1"/>
      <p:bldP spid="231" grpId="0" animBg="1"/>
      <p:bldP spid="232" grpId="0" animBg="1"/>
      <p:bldP spid="233" grpId="0" animBg="1"/>
      <p:bldP spid="234" grpId="0" animBg="1"/>
      <p:bldP spid="235" grpId="0" animBg="1"/>
      <p:bldP spid="236" grpId="0" animBg="1"/>
      <p:bldP spid="237" grpId="0" animBg="1"/>
      <p:bldP spid="238" grpId="0" animBg="1"/>
      <p:bldP spid="239" grpId="0" animBg="1"/>
      <p:bldP spid="240" grpId="0" animBg="1"/>
      <p:bldP spid="241" grpId="0" animBg="1"/>
      <p:bldP spid="242" grpId="0" animBg="1"/>
      <p:bldP spid="243" grpId="0" animBg="1"/>
      <p:bldP spid="244" grpId="0" animBg="1"/>
      <p:bldP spid="245" grpId="0" animBg="1"/>
      <p:bldP spid="246" grpId="0" animBg="1"/>
      <p:bldP spid="247" grpId="0" animBg="1"/>
      <p:bldP spid="248" grpId="0" animBg="1"/>
      <p:bldP spid="249" grpId="0" animBg="1"/>
      <p:bldP spid="250" grpId="0" animBg="1"/>
      <p:bldP spid="251" grpId="0" animBg="1"/>
      <p:bldP spid="252" grpId="0" animBg="1"/>
      <p:bldP spid="253" grpId="0" animBg="1"/>
      <p:bldP spid="254" grpId="0" animBg="1"/>
      <p:bldP spid="255" grpId="0" animBg="1"/>
      <p:bldP spid="256" grpId="0" animBg="1"/>
      <p:bldP spid="257" grpId="0" animBg="1"/>
      <p:bldP spid="258" grpId="0" animBg="1"/>
      <p:bldP spid="259" grpId="0" animBg="1"/>
      <p:bldP spid="260" grpId="0" animBg="1"/>
      <p:bldP spid="261" grpId="0" animBg="1"/>
      <p:bldP spid="262" grpId="0"/>
      <p:bldP spid="263" grpId="0"/>
      <p:bldP spid="264" grpId="0"/>
      <p:bldP spid="265" grpId="0"/>
      <p:bldP spid="266" grpId="0"/>
      <p:bldP spid="267" grpId="0" animBg="1"/>
      <p:bldP spid="268" grpId="0"/>
      <p:bldP spid="269" grpId="0"/>
      <p:bldP spid="270" grpId="0"/>
      <p:bldP spid="271" grpId="0"/>
      <p:bldP spid="272" grpId="0"/>
      <p:bldP spid="273" grpId="0"/>
      <p:bldP spid="274" grpId="0"/>
      <p:bldP spid="275" grpId="0" animBg="1"/>
      <p:bldP spid="276" grpId="0" animBg="1"/>
      <p:bldP spid="277" grpId="0" animBg="1"/>
      <p:bldP spid="278" grpId="0" animBg="1"/>
      <p:bldP spid="279" grpId="0" animBg="1"/>
      <p:bldP spid="280" grpId="0" animBg="1"/>
      <p:bldP spid="281" grpId="0" animBg="1"/>
      <p:bldP spid="282" grpId="0" animBg="1"/>
      <p:bldP spid="283" grpId="0" animBg="1"/>
      <p:bldP spid="284" grpId="0" animBg="1"/>
      <p:bldP spid="28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Coalesced Memory Accesses</a:t>
            </a:r>
          </a:p>
        </p:txBody>
      </p:sp>
      <p:sp>
        <p:nvSpPr>
          <p:cNvPr id="7" name="Rectangle 2"/>
          <p:cNvSpPr>
            <a:spLocks noChangeArrowheads="1"/>
          </p:cNvSpPr>
          <p:nvPr/>
        </p:nvSpPr>
        <p:spPr bwMode="auto">
          <a:xfrm>
            <a:off x="4400125" y="2826376"/>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8" name="Rectangle 3"/>
          <p:cNvSpPr>
            <a:spLocks noChangeArrowheads="1"/>
          </p:cNvSpPr>
          <p:nvPr/>
        </p:nvSpPr>
        <p:spPr bwMode="auto">
          <a:xfrm>
            <a:off x="4796125" y="2826376"/>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9" name="Rectangle 4"/>
          <p:cNvSpPr>
            <a:spLocks noChangeArrowheads="1"/>
          </p:cNvSpPr>
          <p:nvPr/>
        </p:nvSpPr>
        <p:spPr bwMode="auto">
          <a:xfrm>
            <a:off x="5192125" y="1487176"/>
            <a:ext cx="396000" cy="446400"/>
          </a:xfrm>
          <a:prstGeom prst="rect">
            <a:avLst/>
          </a:prstGeom>
          <a:solidFill>
            <a:schemeClr val="accent1">
              <a:lumMod val="60000"/>
              <a:lumOff val="40000"/>
            </a:schemeClr>
          </a:solidFill>
          <a:ln w="9525">
            <a:solidFill>
              <a:schemeClr val="tx1"/>
            </a:solidFill>
            <a:miter lim="800000"/>
            <a:headEnd/>
            <a:tailEnd/>
          </a:ln>
          <a:effectLst/>
        </p:spPr>
        <p:txBody>
          <a:bodyPr wrap="none" anchor="ctr">
            <a:prstTxWarp prst="textNoShape">
              <a:avLst/>
            </a:prstTxWarp>
          </a:bodyPr>
          <a:lstStyle/>
          <a:p>
            <a:pPr algn="ctr"/>
            <a:r>
              <a:rPr lang="en-US" sz="1600" dirty="0"/>
              <a:t>M</a:t>
            </a:r>
            <a:r>
              <a:rPr lang="en-US" sz="1600" baseline="-25000" dirty="0"/>
              <a:t>2,0</a:t>
            </a:r>
          </a:p>
        </p:txBody>
      </p:sp>
      <p:sp>
        <p:nvSpPr>
          <p:cNvPr id="10" name="Rectangle 5"/>
          <p:cNvSpPr>
            <a:spLocks noChangeArrowheads="1"/>
          </p:cNvSpPr>
          <p:nvPr/>
        </p:nvSpPr>
        <p:spPr bwMode="auto">
          <a:xfrm>
            <a:off x="4796125" y="2379976"/>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11" name="Rectangle 6"/>
          <p:cNvSpPr>
            <a:spLocks noChangeArrowheads="1"/>
          </p:cNvSpPr>
          <p:nvPr/>
        </p:nvSpPr>
        <p:spPr bwMode="auto">
          <a:xfrm>
            <a:off x="4796125" y="1933576"/>
            <a:ext cx="396000" cy="446400"/>
          </a:xfrm>
          <a:prstGeom prst="rect">
            <a:avLst/>
          </a:prstGeom>
          <a:solidFill>
            <a:srgbClr val="C00000"/>
          </a:solidFill>
          <a:ln w="9525">
            <a:solidFill>
              <a:schemeClr val="tx1"/>
            </a:solidFill>
            <a:miter lim="800000"/>
            <a:headEnd/>
            <a:tailEnd/>
          </a:ln>
          <a:effectLst/>
        </p:spPr>
        <p:txBody>
          <a:bodyPr wrap="none" anchor="ctr">
            <a:prstTxWarp prst="textNoShape">
              <a:avLst/>
            </a:prstTxWarp>
          </a:bodyPr>
          <a:lstStyle/>
          <a:p>
            <a:pPr algn="ctr"/>
            <a:r>
              <a:rPr lang="en-US" sz="1600">
                <a:solidFill>
                  <a:schemeClr val="bg1"/>
                </a:solidFill>
              </a:rPr>
              <a:t>M</a:t>
            </a:r>
            <a:r>
              <a:rPr lang="en-US" sz="1600" baseline="-25000">
                <a:solidFill>
                  <a:schemeClr val="bg1"/>
                </a:solidFill>
              </a:rPr>
              <a:t>1,1</a:t>
            </a:r>
          </a:p>
        </p:txBody>
      </p:sp>
      <p:sp>
        <p:nvSpPr>
          <p:cNvPr id="12" name="Rectangle 7"/>
          <p:cNvSpPr>
            <a:spLocks noChangeArrowheads="1"/>
          </p:cNvSpPr>
          <p:nvPr/>
        </p:nvSpPr>
        <p:spPr bwMode="auto">
          <a:xfrm>
            <a:off x="4796125" y="1487176"/>
            <a:ext cx="396000" cy="446400"/>
          </a:xfrm>
          <a:prstGeom prst="rect">
            <a:avLst/>
          </a:prstGeom>
          <a:solidFill>
            <a:schemeClr val="accent1">
              <a:lumMod val="60000"/>
              <a:lumOff val="40000"/>
            </a:schemeClr>
          </a:solidFill>
          <a:ln w="9525">
            <a:solidFill>
              <a:schemeClr val="tx1"/>
            </a:solidFill>
            <a:miter lim="800000"/>
            <a:headEnd/>
            <a:tailEnd/>
          </a:ln>
          <a:effectLst/>
        </p:spPr>
        <p:txBody>
          <a:bodyPr wrap="none" anchor="ctr">
            <a:prstTxWarp prst="textNoShape">
              <a:avLst/>
            </a:prstTxWarp>
          </a:bodyPr>
          <a:lstStyle/>
          <a:p>
            <a:pPr algn="ctr"/>
            <a:r>
              <a:rPr lang="en-US" sz="1600"/>
              <a:t>M</a:t>
            </a:r>
            <a:r>
              <a:rPr lang="en-US" sz="1600" baseline="-25000"/>
              <a:t>1,0</a:t>
            </a:r>
          </a:p>
        </p:txBody>
      </p:sp>
      <p:sp>
        <p:nvSpPr>
          <p:cNvPr id="13" name="Rectangle 8"/>
          <p:cNvSpPr>
            <a:spLocks noChangeArrowheads="1"/>
          </p:cNvSpPr>
          <p:nvPr/>
        </p:nvSpPr>
        <p:spPr bwMode="auto">
          <a:xfrm>
            <a:off x="4400125" y="1487176"/>
            <a:ext cx="396000" cy="446400"/>
          </a:xfrm>
          <a:prstGeom prst="rect">
            <a:avLst/>
          </a:prstGeom>
          <a:solidFill>
            <a:schemeClr val="accent1">
              <a:lumMod val="60000"/>
              <a:lumOff val="40000"/>
            </a:schemeClr>
          </a:solidFill>
          <a:ln w="9525">
            <a:solidFill>
              <a:schemeClr val="tx1"/>
            </a:solidFill>
            <a:miter lim="800000"/>
            <a:headEnd/>
            <a:tailEnd/>
          </a:ln>
          <a:effectLst/>
        </p:spPr>
        <p:txBody>
          <a:bodyPr wrap="none" anchor="ctr">
            <a:prstTxWarp prst="textNoShape">
              <a:avLst/>
            </a:prstTxWarp>
          </a:bodyPr>
          <a:lstStyle/>
          <a:p>
            <a:pPr algn="ctr"/>
            <a:r>
              <a:rPr lang="en-US" sz="1600" dirty="0"/>
              <a:t>M</a:t>
            </a:r>
            <a:r>
              <a:rPr lang="en-US" sz="1600" baseline="-25000" dirty="0"/>
              <a:t>0,0</a:t>
            </a:r>
          </a:p>
        </p:txBody>
      </p:sp>
      <p:sp>
        <p:nvSpPr>
          <p:cNvPr id="14" name="Rectangle 9"/>
          <p:cNvSpPr>
            <a:spLocks noChangeArrowheads="1"/>
          </p:cNvSpPr>
          <p:nvPr/>
        </p:nvSpPr>
        <p:spPr bwMode="auto">
          <a:xfrm>
            <a:off x="4400125" y="1933576"/>
            <a:ext cx="396000" cy="446400"/>
          </a:xfrm>
          <a:prstGeom prst="rect">
            <a:avLst/>
          </a:prstGeom>
          <a:solidFill>
            <a:srgbClr val="C00000"/>
          </a:solidFill>
          <a:ln w="9525">
            <a:solidFill>
              <a:schemeClr val="tx1"/>
            </a:solidFill>
            <a:miter lim="800000"/>
            <a:headEnd/>
            <a:tailEnd/>
          </a:ln>
          <a:effectLst/>
        </p:spPr>
        <p:txBody>
          <a:bodyPr wrap="none" anchor="ctr">
            <a:prstTxWarp prst="textNoShape">
              <a:avLst/>
            </a:prstTxWarp>
          </a:bodyPr>
          <a:lstStyle/>
          <a:p>
            <a:pPr algn="ctr"/>
            <a:r>
              <a:rPr lang="en-US" sz="1600" dirty="0">
                <a:solidFill>
                  <a:schemeClr val="bg1"/>
                </a:solidFill>
              </a:rPr>
              <a:t>M</a:t>
            </a:r>
            <a:r>
              <a:rPr lang="en-US" sz="1600" baseline="-25000" dirty="0">
                <a:solidFill>
                  <a:schemeClr val="bg1"/>
                </a:solidFill>
              </a:rPr>
              <a:t>0,1</a:t>
            </a:r>
          </a:p>
        </p:txBody>
      </p:sp>
      <p:sp>
        <p:nvSpPr>
          <p:cNvPr id="15" name="Rectangle 10"/>
          <p:cNvSpPr>
            <a:spLocks noChangeArrowheads="1"/>
          </p:cNvSpPr>
          <p:nvPr/>
        </p:nvSpPr>
        <p:spPr bwMode="auto">
          <a:xfrm>
            <a:off x="4400125" y="2379976"/>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16" name="Rectangle 11"/>
          <p:cNvSpPr>
            <a:spLocks noChangeArrowheads="1"/>
          </p:cNvSpPr>
          <p:nvPr/>
        </p:nvSpPr>
        <p:spPr bwMode="auto">
          <a:xfrm>
            <a:off x="5588125" y="1487176"/>
            <a:ext cx="396000" cy="446400"/>
          </a:xfrm>
          <a:prstGeom prst="rect">
            <a:avLst/>
          </a:prstGeom>
          <a:solidFill>
            <a:schemeClr val="accent1">
              <a:lumMod val="60000"/>
              <a:lumOff val="40000"/>
            </a:schemeClr>
          </a:solidFill>
          <a:ln w="9525">
            <a:solidFill>
              <a:schemeClr val="tx1"/>
            </a:solidFill>
            <a:miter lim="800000"/>
            <a:headEnd/>
            <a:tailEnd/>
          </a:ln>
          <a:effectLst/>
        </p:spPr>
        <p:txBody>
          <a:bodyPr wrap="none" anchor="ctr">
            <a:prstTxWarp prst="textNoShape">
              <a:avLst/>
            </a:prstTxWarp>
          </a:bodyPr>
          <a:lstStyle/>
          <a:p>
            <a:pPr algn="ctr"/>
            <a:r>
              <a:rPr lang="en-US" sz="1600"/>
              <a:t>M</a:t>
            </a:r>
            <a:r>
              <a:rPr lang="en-US" sz="1600" baseline="-25000"/>
              <a:t>3,0</a:t>
            </a:r>
          </a:p>
        </p:txBody>
      </p:sp>
      <p:sp>
        <p:nvSpPr>
          <p:cNvPr id="17" name="Rectangle 12"/>
          <p:cNvSpPr>
            <a:spLocks noChangeArrowheads="1"/>
          </p:cNvSpPr>
          <p:nvPr/>
        </p:nvSpPr>
        <p:spPr bwMode="auto">
          <a:xfrm>
            <a:off x="5192125" y="2826376"/>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18" name="Rectangle 13"/>
          <p:cNvSpPr>
            <a:spLocks noChangeArrowheads="1"/>
          </p:cNvSpPr>
          <p:nvPr/>
        </p:nvSpPr>
        <p:spPr bwMode="auto">
          <a:xfrm>
            <a:off x="5192125" y="2379976"/>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19" name="Rectangle 14"/>
          <p:cNvSpPr>
            <a:spLocks noChangeArrowheads="1"/>
          </p:cNvSpPr>
          <p:nvPr/>
        </p:nvSpPr>
        <p:spPr bwMode="auto">
          <a:xfrm>
            <a:off x="5192125" y="1933576"/>
            <a:ext cx="396000" cy="446400"/>
          </a:xfrm>
          <a:prstGeom prst="rect">
            <a:avLst/>
          </a:prstGeom>
          <a:solidFill>
            <a:srgbClr val="C00000"/>
          </a:solidFill>
          <a:ln w="9525">
            <a:solidFill>
              <a:schemeClr val="tx1"/>
            </a:solidFill>
            <a:miter lim="800000"/>
            <a:headEnd/>
            <a:tailEnd/>
          </a:ln>
          <a:effectLst/>
        </p:spPr>
        <p:txBody>
          <a:bodyPr wrap="none" anchor="ctr">
            <a:prstTxWarp prst="textNoShape">
              <a:avLst/>
            </a:prstTxWarp>
          </a:bodyPr>
          <a:lstStyle/>
          <a:p>
            <a:pPr algn="ctr"/>
            <a:r>
              <a:rPr lang="en-US" sz="1600">
                <a:solidFill>
                  <a:schemeClr val="bg1"/>
                </a:solidFill>
              </a:rPr>
              <a:t>M</a:t>
            </a:r>
            <a:r>
              <a:rPr lang="en-US" sz="1600" baseline="-25000">
                <a:solidFill>
                  <a:schemeClr val="bg1"/>
                </a:solidFill>
              </a:rPr>
              <a:t>2,1</a:t>
            </a:r>
          </a:p>
        </p:txBody>
      </p:sp>
      <p:sp>
        <p:nvSpPr>
          <p:cNvPr id="20" name="Rectangle 15"/>
          <p:cNvSpPr>
            <a:spLocks noChangeArrowheads="1"/>
          </p:cNvSpPr>
          <p:nvPr/>
        </p:nvSpPr>
        <p:spPr bwMode="auto">
          <a:xfrm>
            <a:off x="5588125" y="2826376"/>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1" name="Rectangle 16"/>
          <p:cNvSpPr>
            <a:spLocks noChangeArrowheads="1"/>
          </p:cNvSpPr>
          <p:nvPr/>
        </p:nvSpPr>
        <p:spPr bwMode="auto">
          <a:xfrm>
            <a:off x="5588125" y="2379976"/>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2" name="Rectangle 17"/>
          <p:cNvSpPr>
            <a:spLocks noChangeArrowheads="1"/>
          </p:cNvSpPr>
          <p:nvPr/>
        </p:nvSpPr>
        <p:spPr bwMode="auto">
          <a:xfrm>
            <a:off x="5588125" y="1933576"/>
            <a:ext cx="396000" cy="446400"/>
          </a:xfrm>
          <a:prstGeom prst="rect">
            <a:avLst/>
          </a:prstGeom>
          <a:solidFill>
            <a:srgbClr val="C00000"/>
          </a:solidFill>
          <a:ln w="9525">
            <a:solidFill>
              <a:schemeClr val="tx1"/>
            </a:solidFill>
            <a:miter lim="800000"/>
            <a:headEnd/>
            <a:tailEnd/>
          </a:ln>
          <a:effectLst/>
        </p:spPr>
        <p:txBody>
          <a:bodyPr wrap="none" anchor="ctr">
            <a:prstTxWarp prst="textNoShape">
              <a:avLst/>
            </a:prstTxWarp>
          </a:bodyPr>
          <a:lstStyle/>
          <a:p>
            <a:pPr algn="ctr"/>
            <a:r>
              <a:rPr lang="en-US" sz="1600">
                <a:solidFill>
                  <a:schemeClr val="bg1"/>
                </a:solidFill>
              </a:rPr>
              <a:t>M</a:t>
            </a:r>
            <a:r>
              <a:rPr lang="en-US" sz="1600" baseline="-25000">
                <a:solidFill>
                  <a:schemeClr val="bg1"/>
                </a:solidFill>
              </a:rPr>
              <a:t>3,1</a:t>
            </a:r>
          </a:p>
        </p:txBody>
      </p:sp>
      <p:sp>
        <p:nvSpPr>
          <p:cNvPr id="23" name="Rectangle 19"/>
          <p:cNvSpPr>
            <a:spLocks noChangeArrowheads="1"/>
          </p:cNvSpPr>
          <p:nvPr/>
        </p:nvSpPr>
        <p:spPr bwMode="auto">
          <a:xfrm>
            <a:off x="1509875" y="5430375"/>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4" name="Rectangle 20"/>
          <p:cNvSpPr>
            <a:spLocks noChangeArrowheads="1"/>
          </p:cNvSpPr>
          <p:nvPr/>
        </p:nvSpPr>
        <p:spPr bwMode="auto">
          <a:xfrm>
            <a:off x="1905875" y="5430375"/>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5" name="Rectangle 21"/>
          <p:cNvSpPr>
            <a:spLocks noChangeArrowheads="1"/>
          </p:cNvSpPr>
          <p:nvPr/>
        </p:nvSpPr>
        <p:spPr bwMode="auto">
          <a:xfrm>
            <a:off x="2301875" y="5430375"/>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6" name="Rectangle 22"/>
          <p:cNvSpPr>
            <a:spLocks noChangeArrowheads="1"/>
          </p:cNvSpPr>
          <p:nvPr/>
        </p:nvSpPr>
        <p:spPr bwMode="auto">
          <a:xfrm>
            <a:off x="2697875" y="5430375"/>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7" name="Rectangle 23"/>
          <p:cNvSpPr>
            <a:spLocks noChangeArrowheads="1"/>
          </p:cNvSpPr>
          <p:nvPr/>
        </p:nvSpPr>
        <p:spPr bwMode="auto">
          <a:xfrm>
            <a:off x="3093875" y="5430375"/>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8" name="Rectangle 24"/>
          <p:cNvSpPr>
            <a:spLocks noChangeArrowheads="1"/>
          </p:cNvSpPr>
          <p:nvPr/>
        </p:nvSpPr>
        <p:spPr bwMode="auto">
          <a:xfrm>
            <a:off x="3489875" y="5430375"/>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9" name="Rectangle 25"/>
          <p:cNvSpPr>
            <a:spLocks noChangeArrowheads="1"/>
          </p:cNvSpPr>
          <p:nvPr/>
        </p:nvSpPr>
        <p:spPr bwMode="auto">
          <a:xfrm>
            <a:off x="3885875" y="5430375"/>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30" name="Rectangle 26"/>
          <p:cNvSpPr>
            <a:spLocks noChangeArrowheads="1"/>
          </p:cNvSpPr>
          <p:nvPr/>
        </p:nvSpPr>
        <p:spPr bwMode="auto">
          <a:xfrm>
            <a:off x="4281875" y="5430375"/>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31" name="Rectangle 27"/>
          <p:cNvSpPr>
            <a:spLocks noChangeArrowheads="1"/>
          </p:cNvSpPr>
          <p:nvPr/>
        </p:nvSpPr>
        <p:spPr bwMode="auto">
          <a:xfrm>
            <a:off x="4677875" y="5430375"/>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32" name="Rectangle 28"/>
          <p:cNvSpPr>
            <a:spLocks noChangeArrowheads="1"/>
          </p:cNvSpPr>
          <p:nvPr/>
        </p:nvSpPr>
        <p:spPr bwMode="auto">
          <a:xfrm>
            <a:off x="5073875" y="5430375"/>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33" name="Rectangle 29"/>
          <p:cNvSpPr>
            <a:spLocks noChangeArrowheads="1"/>
          </p:cNvSpPr>
          <p:nvPr/>
        </p:nvSpPr>
        <p:spPr bwMode="auto">
          <a:xfrm>
            <a:off x="5469875" y="5430375"/>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34" name="Rectangle 30"/>
          <p:cNvSpPr>
            <a:spLocks noChangeArrowheads="1"/>
          </p:cNvSpPr>
          <p:nvPr/>
        </p:nvSpPr>
        <p:spPr bwMode="auto">
          <a:xfrm>
            <a:off x="5865875" y="5430375"/>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35" name="Rectangle 31"/>
          <p:cNvSpPr>
            <a:spLocks noChangeArrowheads="1"/>
          </p:cNvSpPr>
          <p:nvPr/>
        </p:nvSpPr>
        <p:spPr bwMode="auto">
          <a:xfrm>
            <a:off x="2301875" y="5430375"/>
            <a:ext cx="396000" cy="446400"/>
          </a:xfrm>
          <a:prstGeom prst="rect">
            <a:avLst/>
          </a:prstGeom>
          <a:solidFill>
            <a:schemeClr val="accent1">
              <a:lumMod val="60000"/>
              <a:lumOff val="40000"/>
            </a:schemeClr>
          </a:solidFill>
          <a:ln w="9525">
            <a:solidFill>
              <a:schemeClr val="tx1"/>
            </a:solidFill>
            <a:miter lim="800000"/>
            <a:headEnd/>
            <a:tailEnd/>
          </a:ln>
          <a:effectLst/>
        </p:spPr>
        <p:txBody>
          <a:bodyPr wrap="none" anchor="ctr">
            <a:prstTxWarp prst="textNoShape">
              <a:avLst/>
            </a:prstTxWarp>
          </a:bodyPr>
          <a:lstStyle/>
          <a:p>
            <a:pPr algn="ctr"/>
            <a:r>
              <a:rPr lang="en-US" sz="1600"/>
              <a:t>M</a:t>
            </a:r>
            <a:r>
              <a:rPr lang="en-US" sz="1600" baseline="-25000"/>
              <a:t>2,0</a:t>
            </a:r>
          </a:p>
        </p:txBody>
      </p:sp>
      <p:sp>
        <p:nvSpPr>
          <p:cNvPr id="36" name="Rectangle 32"/>
          <p:cNvSpPr>
            <a:spLocks noChangeArrowheads="1"/>
          </p:cNvSpPr>
          <p:nvPr/>
        </p:nvSpPr>
        <p:spPr bwMode="auto">
          <a:xfrm>
            <a:off x="1905875" y="5430375"/>
            <a:ext cx="396000" cy="446400"/>
          </a:xfrm>
          <a:prstGeom prst="rect">
            <a:avLst/>
          </a:prstGeom>
          <a:solidFill>
            <a:schemeClr val="accent1">
              <a:lumMod val="60000"/>
              <a:lumOff val="40000"/>
            </a:schemeClr>
          </a:solidFill>
          <a:ln w="9525">
            <a:solidFill>
              <a:schemeClr val="tx1"/>
            </a:solidFill>
            <a:miter lim="800000"/>
            <a:headEnd/>
            <a:tailEnd/>
          </a:ln>
          <a:effectLst/>
        </p:spPr>
        <p:txBody>
          <a:bodyPr wrap="none" anchor="ctr">
            <a:prstTxWarp prst="textNoShape">
              <a:avLst/>
            </a:prstTxWarp>
          </a:bodyPr>
          <a:lstStyle/>
          <a:p>
            <a:pPr algn="ctr"/>
            <a:r>
              <a:rPr lang="en-US" sz="1600"/>
              <a:t>M</a:t>
            </a:r>
            <a:r>
              <a:rPr lang="en-US" sz="1600" baseline="-25000"/>
              <a:t>1,0</a:t>
            </a:r>
          </a:p>
        </p:txBody>
      </p:sp>
      <p:sp>
        <p:nvSpPr>
          <p:cNvPr id="37" name="Rectangle 33"/>
          <p:cNvSpPr>
            <a:spLocks noChangeArrowheads="1"/>
          </p:cNvSpPr>
          <p:nvPr/>
        </p:nvSpPr>
        <p:spPr bwMode="auto">
          <a:xfrm>
            <a:off x="1509875" y="5430375"/>
            <a:ext cx="396000" cy="446400"/>
          </a:xfrm>
          <a:prstGeom prst="rect">
            <a:avLst/>
          </a:prstGeom>
          <a:solidFill>
            <a:schemeClr val="accent1">
              <a:lumMod val="60000"/>
              <a:lumOff val="40000"/>
            </a:schemeClr>
          </a:solidFill>
          <a:ln w="9525">
            <a:solidFill>
              <a:schemeClr val="tx1"/>
            </a:solidFill>
            <a:miter lim="800000"/>
            <a:headEnd/>
            <a:tailEnd/>
          </a:ln>
          <a:effectLst/>
        </p:spPr>
        <p:txBody>
          <a:bodyPr wrap="none" anchor="ctr">
            <a:prstTxWarp prst="textNoShape">
              <a:avLst/>
            </a:prstTxWarp>
          </a:bodyPr>
          <a:lstStyle/>
          <a:p>
            <a:pPr algn="ctr"/>
            <a:r>
              <a:rPr lang="en-US" sz="1600"/>
              <a:t>M</a:t>
            </a:r>
            <a:r>
              <a:rPr lang="en-US" sz="1600" baseline="-25000"/>
              <a:t>0,0</a:t>
            </a:r>
          </a:p>
        </p:txBody>
      </p:sp>
      <p:sp>
        <p:nvSpPr>
          <p:cNvPr id="38" name="Rectangle 34"/>
          <p:cNvSpPr>
            <a:spLocks noChangeArrowheads="1"/>
          </p:cNvSpPr>
          <p:nvPr/>
        </p:nvSpPr>
        <p:spPr bwMode="auto">
          <a:xfrm>
            <a:off x="2697875" y="5430375"/>
            <a:ext cx="396000" cy="446400"/>
          </a:xfrm>
          <a:prstGeom prst="rect">
            <a:avLst/>
          </a:prstGeom>
          <a:solidFill>
            <a:schemeClr val="accent1">
              <a:lumMod val="60000"/>
              <a:lumOff val="40000"/>
            </a:schemeClr>
          </a:solidFill>
          <a:ln w="9525">
            <a:solidFill>
              <a:schemeClr val="tx1"/>
            </a:solidFill>
            <a:miter lim="800000"/>
            <a:headEnd/>
            <a:tailEnd/>
          </a:ln>
          <a:effectLst/>
        </p:spPr>
        <p:txBody>
          <a:bodyPr wrap="none" anchor="ctr">
            <a:prstTxWarp prst="textNoShape">
              <a:avLst/>
            </a:prstTxWarp>
          </a:bodyPr>
          <a:lstStyle/>
          <a:p>
            <a:pPr algn="ctr"/>
            <a:r>
              <a:rPr lang="en-US" sz="1600"/>
              <a:t>M</a:t>
            </a:r>
            <a:r>
              <a:rPr lang="en-US" sz="1600" baseline="-25000"/>
              <a:t>3,0</a:t>
            </a:r>
          </a:p>
        </p:txBody>
      </p:sp>
      <p:sp>
        <p:nvSpPr>
          <p:cNvPr id="39" name="Rectangle 35"/>
          <p:cNvSpPr>
            <a:spLocks noChangeArrowheads="1"/>
          </p:cNvSpPr>
          <p:nvPr/>
        </p:nvSpPr>
        <p:spPr bwMode="auto">
          <a:xfrm>
            <a:off x="3489875" y="5430375"/>
            <a:ext cx="396000" cy="446400"/>
          </a:xfrm>
          <a:prstGeom prst="rect">
            <a:avLst/>
          </a:prstGeom>
          <a:solidFill>
            <a:srgbClr val="C00000"/>
          </a:solidFill>
          <a:ln w="9525">
            <a:solidFill>
              <a:schemeClr val="tx1"/>
            </a:solidFill>
            <a:miter lim="800000"/>
            <a:headEnd/>
            <a:tailEnd/>
          </a:ln>
          <a:effectLst/>
        </p:spPr>
        <p:txBody>
          <a:bodyPr wrap="none" anchor="ctr">
            <a:prstTxWarp prst="textNoShape">
              <a:avLst/>
            </a:prstTxWarp>
          </a:bodyPr>
          <a:lstStyle/>
          <a:p>
            <a:pPr algn="ctr"/>
            <a:r>
              <a:rPr lang="en-US" sz="1600">
                <a:solidFill>
                  <a:schemeClr val="bg1"/>
                </a:solidFill>
              </a:rPr>
              <a:t>M</a:t>
            </a:r>
            <a:r>
              <a:rPr lang="en-US" sz="1600" baseline="-25000">
                <a:solidFill>
                  <a:schemeClr val="bg1"/>
                </a:solidFill>
              </a:rPr>
              <a:t>1,1</a:t>
            </a:r>
          </a:p>
        </p:txBody>
      </p:sp>
      <p:sp>
        <p:nvSpPr>
          <p:cNvPr id="40" name="Rectangle 36"/>
          <p:cNvSpPr>
            <a:spLocks noChangeArrowheads="1"/>
          </p:cNvSpPr>
          <p:nvPr/>
        </p:nvSpPr>
        <p:spPr bwMode="auto">
          <a:xfrm>
            <a:off x="3093875" y="5430375"/>
            <a:ext cx="396000" cy="446400"/>
          </a:xfrm>
          <a:prstGeom prst="rect">
            <a:avLst/>
          </a:prstGeom>
          <a:solidFill>
            <a:srgbClr val="C00000"/>
          </a:solidFill>
          <a:ln w="9525">
            <a:solidFill>
              <a:schemeClr val="tx1"/>
            </a:solidFill>
            <a:miter lim="800000"/>
            <a:headEnd/>
            <a:tailEnd/>
          </a:ln>
          <a:effectLst/>
        </p:spPr>
        <p:txBody>
          <a:bodyPr wrap="none" anchor="ctr">
            <a:prstTxWarp prst="textNoShape">
              <a:avLst/>
            </a:prstTxWarp>
          </a:bodyPr>
          <a:lstStyle/>
          <a:p>
            <a:pPr algn="ctr"/>
            <a:r>
              <a:rPr lang="en-US" sz="1600">
                <a:solidFill>
                  <a:schemeClr val="bg1"/>
                </a:solidFill>
              </a:rPr>
              <a:t>M</a:t>
            </a:r>
            <a:r>
              <a:rPr lang="en-US" sz="1600" baseline="-25000">
                <a:solidFill>
                  <a:schemeClr val="bg1"/>
                </a:solidFill>
              </a:rPr>
              <a:t>0,1</a:t>
            </a:r>
          </a:p>
        </p:txBody>
      </p:sp>
      <p:sp>
        <p:nvSpPr>
          <p:cNvPr id="41" name="Rectangle 37"/>
          <p:cNvSpPr>
            <a:spLocks noChangeArrowheads="1"/>
          </p:cNvSpPr>
          <p:nvPr/>
        </p:nvSpPr>
        <p:spPr bwMode="auto">
          <a:xfrm>
            <a:off x="3885875" y="5430375"/>
            <a:ext cx="396000" cy="446400"/>
          </a:xfrm>
          <a:prstGeom prst="rect">
            <a:avLst/>
          </a:prstGeom>
          <a:solidFill>
            <a:srgbClr val="C00000"/>
          </a:solidFill>
          <a:ln w="9525">
            <a:solidFill>
              <a:schemeClr val="tx1"/>
            </a:solidFill>
            <a:miter lim="800000"/>
            <a:headEnd/>
            <a:tailEnd/>
          </a:ln>
          <a:effectLst/>
        </p:spPr>
        <p:txBody>
          <a:bodyPr wrap="none" anchor="ctr">
            <a:prstTxWarp prst="textNoShape">
              <a:avLst/>
            </a:prstTxWarp>
          </a:bodyPr>
          <a:lstStyle/>
          <a:p>
            <a:pPr algn="ctr"/>
            <a:r>
              <a:rPr lang="en-US" sz="1600">
                <a:solidFill>
                  <a:schemeClr val="bg1"/>
                </a:solidFill>
              </a:rPr>
              <a:t>M</a:t>
            </a:r>
            <a:r>
              <a:rPr lang="en-US" sz="1600" baseline="-25000">
                <a:solidFill>
                  <a:schemeClr val="bg1"/>
                </a:solidFill>
              </a:rPr>
              <a:t>2,1</a:t>
            </a:r>
          </a:p>
        </p:txBody>
      </p:sp>
      <p:sp>
        <p:nvSpPr>
          <p:cNvPr id="42" name="Rectangle 38"/>
          <p:cNvSpPr>
            <a:spLocks noChangeArrowheads="1"/>
          </p:cNvSpPr>
          <p:nvPr/>
        </p:nvSpPr>
        <p:spPr bwMode="auto">
          <a:xfrm>
            <a:off x="4281875" y="5430375"/>
            <a:ext cx="396000" cy="446400"/>
          </a:xfrm>
          <a:prstGeom prst="rect">
            <a:avLst/>
          </a:prstGeom>
          <a:solidFill>
            <a:srgbClr val="C00000"/>
          </a:solidFill>
          <a:ln w="9525">
            <a:solidFill>
              <a:schemeClr val="tx1"/>
            </a:solidFill>
            <a:miter lim="800000"/>
            <a:headEnd/>
            <a:tailEnd/>
          </a:ln>
          <a:effectLst/>
        </p:spPr>
        <p:txBody>
          <a:bodyPr wrap="none" anchor="ctr">
            <a:prstTxWarp prst="textNoShape">
              <a:avLst/>
            </a:prstTxWarp>
          </a:bodyPr>
          <a:lstStyle/>
          <a:p>
            <a:pPr algn="ctr"/>
            <a:r>
              <a:rPr lang="en-US" sz="1600">
                <a:solidFill>
                  <a:schemeClr val="bg1"/>
                </a:solidFill>
              </a:rPr>
              <a:t>M</a:t>
            </a:r>
            <a:r>
              <a:rPr lang="en-US" sz="1600" baseline="-25000">
                <a:solidFill>
                  <a:schemeClr val="bg1"/>
                </a:solidFill>
              </a:rPr>
              <a:t>3,1</a:t>
            </a:r>
          </a:p>
        </p:txBody>
      </p:sp>
      <p:sp>
        <p:nvSpPr>
          <p:cNvPr id="43" name="Rectangle 39"/>
          <p:cNvSpPr>
            <a:spLocks noChangeArrowheads="1"/>
          </p:cNvSpPr>
          <p:nvPr/>
        </p:nvSpPr>
        <p:spPr bwMode="auto">
          <a:xfrm>
            <a:off x="5073875" y="5430375"/>
            <a:ext cx="396000" cy="4464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sz="1600">
                <a:solidFill>
                  <a:schemeClr val="bg1"/>
                </a:solidFill>
              </a:rPr>
              <a:t>M</a:t>
            </a:r>
            <a:r>
              <a:rPr lang="en-US" sz="1600" baseline="-25000">
                <a:solidFill>
                  <a:schemeClr val="bg1"/>
                </a:solidFill>
              </a:rPr>
              <a:t>1,2</a:t>
            </a:r>
          </a:p>
        </p:txBody>
      </p:sp>
      <p:sp>
        <p:nvSpPr>
          <p:cNvPr id="44" name="Rectangle 40"/>
          <p:cNvSpPr>
            <a:spLocks noChangeArrowheads="1"/>
          </p:cNvSpPr>
          <p:nvPr/>
        </p:nvSpPr>
        <p:spPr bwMode="auto">
          <a:xfrm>
            <a:off x="4677875" y="5430375"/>
            <a:ext cx="396000" cy="4464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sz="1600">
                <a:solidFill>
                  <a:schemeClr val="bg1"/>
                </a:solidFill>
              </a:rPr>
              <a:t>M</a:t>
            </a:r>
            <a:r>
              <a:rPr lang="en-US" sz="1600" baseline="-25000">
                <a:solidFill>
                  <a:schemeClr val="bg1"/>
                </a:solidFill>
              </a:rPr>
              <a:t>0,2</a:t>
            </a:r>
          </a:p>
        </p:txBody>
      </p:sp>
      <p:sp>
        <p:nvSpPr>
          <p:cNvPr id="45" name="Rectangle 41"/>
          <p:cNvSpPr>
            <a:spLocks noChangeArrowheads="1"/>
          </p:cNvSpPr>
          <p:nvPr/>
        </p:nvSpPr>
        <p:spPr bwMode="auto">
          <a:xfrm>
            <a:off x="5469875" y="5430375"/>
            <a:ext cx="396000" cy="4464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sz="1600">
                <a:solidFill>
                  <a:schemeClr val="bg1"/>
                </a:solidFill>
              </a:rPr>
              <a:t>M</a:t>
            </a:r>
            <a:r>
              <a:rPr lang="en-US" sz="1600" baseline="-25000">
                <a:solidFill>
                  <a:schemeClr val="bg1"/>
                </a:solidFill>
              </a:rPr>
              <a:t>2,2</a:t>
            </a:r>
          </a:p>
        </p:txBody>
      </p:sp>
      <p:sp>
        <p:nvSpPr>
          <p:cNvPr id="46" name="Rectangle 42"/>
          <p:cNvSpPr>
            <a:spLocks noChangeArrowheads="1"/>
          </p:cNvSpPr>
          <p:nvPr/>
        </p:nvSpPr>
        <p:spPr bwMode="auto">
          <a:xfrm>
            <a:off x="5865875" y="5430375"/>
            <a:ext cx="396000" cy="4464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sz="1600">
                <a:solidFill>
                  <a:schemeClr val="bg1"/>
                </a:solidFill>
              </a:rPr>
              <a:t>M</a:t>
            </a:r>
            <a:r>
              <a:rPr lang="en-US" sz="1600" baseline="-25000">
                <a:solidFill>
                  <a:schemeClr val="bg1"/>
                </a:solidFill>
              </a:rPr>
              <a:t>3,2</a:t>
            </a:r>
          </a:p>
        </p:txBody>
      </p:sp>
      <p:sp>
        <p:nvSpPr>
          <p:cNvPr id="47" name="Rectangle 43"/>
          <p:cNvSpPr>
            <a:spLocks noChangeArrowheads="1"/>
          </p:cNvSpPr>
          <p:nvPr/>
        </p:nvSpPr>
        <p:spPr bwMode="auto">
          <a:xfrm>
            <a:off x="4400125" y="2379976"/>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48" name="Rectangle 44"/>
          <p:cNvSpPr>
            <a:spLocks noChangeArrowheads="1"/>
          </p:cNvSpPr>
          <p:nvPr/>
        </p:nvSpPr>
        <p:spPr bwMode="auto">
          <a:xfrm>
            <a:off x="4796125" y="2379976"/>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49" name="Rectangle 45"/>
          <p:cNvSpPr>
            <a:spLocks noChangeArrowheads="1"/>
          </p:cNvSpPr>
          <p:nvPr/>
        </p:nvSpPr>
        <p:spPr bwMode="auto">
          <a:xfrm>
            <a:off x="5192125" y="2379976"/>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0" name="Rectangle 46"/>
          <p:cNvSpPr>
            <a:spLocks noChangeArrowheads="1"/>
          </p:cNvSpPr>
          <p:nvPr/>
        </p:nvSpPr>
        <p:spPr bwMode="auto">
          <a:xfrm>
            <a:off x="5588125" y="2379976"/>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1" name="Rectangle 47"/>
          <p:cNvSpPr>
            <a:spLocks noChangeArrowheads="1"/>
          </p:cNvSpPr>
          <p:nvPr/>
        </p:nvSpPr>
        <p:spPr bwMode="auto">
          <a:xfrm>
            <a:off x="4796125" y="2379976"/>
            <a:ext cx="396000" cy="4464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sz="1600">
                <a:solidFill>
                  <a:schemeClr val="bg1"/>
                </a:solidFill>
              </a:rPr>
              <a:t>M</a:t>
            </a:r>
            <a:r>
              <a:rPr lang="en-US" sz="1600" baseline="-25000">
                <a:solidFill>
                  <a:schemeClr val="bg1"/>
                </a:solidFill>
              </a:rPr>
              <a:t>1,2</a:t>
            </a:r>
          </a:p>
        </p:txBody>
      </p:sp>
      <p:sp>
        <p:nvSpPr>
          <p:cNvPr id="52" name="Rectangle 48"/>
          <p:cNvSpPr>
            <a:spLocks noChangeArrowheads="1"/>
          </p:cNvSpPr>
          <p:nvPr/>
        </p:nvSpPr>
        <p:spPr bwMode="auto">
          <a:xfrm>
            <a:off x="4400125" y="2379976"/>
            <a:ext cx="396000" cy="4464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sz="1600" dirty="0">
                <a:solidFill>
                  <a:schemeClr val="bg1"/>
                </a:solidFill>
              </a:rPr>
              <a:t>M</a:t>
            </a:r>
            <a:r>
              <a:rPr lang="en-US" sz="1600" baseline="-25000" dirty="0">
                <a:solidFill>
                  <a:schemeClr val="bg1"/>
                </a:solidFill>
              </a:rPr>
              <a:t>0,2</a:t>
            </a:r>
          </a:p>
        </p:txBody>
      </p:sp>
      <p:sp>
        <p:nvSpPr>
          <p:cNvPr id="53" name="Rectangle 49"/>
          <p:cNvSpPr>
            <a:spLocks noChangeArrowheads="1"/>
          </p:cNvSpPr>
          <p:nvPr/>
        </p:nvSpPr>
        <p:spPr bwMode="auto">
          <a:xfrm>
            <a:off x="5192125" y="2379976"/>
            <a:ext cx="396000" cy="4464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sz="1600">
                <a:solidFill>
                  <a:schemeClr val="bg1"/>
                </a:solidFill>
              </a:rPr>
              <a:t>M</a:t>
            </a:r>
            <a:r>
              <a:rPr lang="en-US" sz="1600" baseline="-25000">
                <a:solidFill>
                  <a:schemeClr val="bg1"/>
                </a:solidFill>
              </a:rPr>
              <a:t>2,2</a:t>
            </a:r>
          </a:p>
        </p:txBody>
      </p:sp>
      <p:sp>
        <p:nvSpPr>
          <p:cNvPr id="54" name="Rectangle 50"/>
          <p:cNvSpPr>
            <a:spLocks noChangeArrowheads="1"/>
          </p:cNvSpPr>
          <p:nvPr/>
        </p:nvSpPr>
        <p:spPr bwMode="auto">
          <a:xfrm>
            <a:off x="5588125" y="2379976"/>
            <a:ext cx="396000" cy="4464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sz="1600">
                <a:solidFill>
                  <a:schemeClr val="bg1"/>
                </a:solidFill>
              </a:rPr>
              <a:t>M</a:t>
            </a:r>
            <a:r>
              <a:rPr lang="en-US" sz="1600" baseline="-25000">
                <a:solidFill>
                  <a:schemeClr val="bg1"/>
                </a:solidFill>
              </a:rPr>
              <a:t>3,2</a:t>
            </a:r>
          </a:p>
        </p:txBody>
      </p:sp>
      <p:sp>
        <p:nvSpPr>
          <p:cNvPr id="55" name="Rectangle 51"/>
          <p:cNvSpPr>
            <a:spLocks noChangeArrowheads="1"/>
          </p:cNvSpPr>
          <p:nvPr/>
        </p:nvSpPr>
        <p:spPr bwMode="auto">
          <a:xfrm>
            <a:off x="4400125" y="2826376"/>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6" name="Rectangle 52"/>
          <p:cNvSpPr>
            <a:spLocks noChangeArrowheads="1"/>
          </p:cNvSpPr>
          <p:nvPr/>
        </p:nvSpPr>
        <p:spPr bwMode="auto">
          <a:xfrm>
            <a:off x="4796125" y="2826376"/>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7" name="Rectangle 53"/>
          <p:cNvSpPr>
            <a:spLocks noChangeArrowheads="1"/>
          </p:cNvSpPr>
          <p:nvPr/>
        </p:nvSpPr>
        <p:spPr bwMode="auto">
          <a:xfrm>
            <a:off x="5192125" y="2826376"/>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8" name="Rectangle 54"/>
          <p:cNvSpPr>
            <a:spLocks noChangeArrowheads="1"/>
          </p:cNvSpPr>
          <p:nvPr/>
        </p:nvSpPr>
        <p:spPr bwMode="auto">
          <a:xfrm>
            <a:off x="5588125" y="2826376"/>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9" name="Rectangle 55"/>
          <p:cNvSpPr>
            <a:spLocks noChangeArrowheads="1"/>
          </p:cNvSpPr>
          <p:nvPr/>
        </p:nvSpPr>
        <p:spPr bwMode="auto">
          <a:xfrm>
            <a:off x="4796125" y="2826376"/>
            <a:ext cx="396000" cy="446400"/>
          </a:xfrm>
          <a:prstGeom prst="rect">
            <a:avLst/>
          </a:prstGeom>
          <a:solidFill>
            <a:srgbClr val="7AC96C"/>
          </a:solidFill>
          <a:ln w="9525">
            <a:solidFill>
              <a:schemeClr val="tx1"/>
            </a:solidFill>
            <a:miter lim="800000"/>
            <a:headEnd/>
            <a:tailEnd/>
          </a:ln>
          <a:effectLst/>
        </p:spPr>
        <p:txBody>
          <a:bodyPr wrap="none" anchor="ctr">
            <a:prstTxWarp prst="textNoShape">
              <a:avLst/>
            </a:prstTxWarp>
          </a:bodyPr>
          <a:lstStyle/>
          <a:p>
            <a:pPr algn="ctr"/>
            <a:r>
              <a:rPr lang="en-US" sz="1600"/>
              <a:t>M</a:t>
            </a:r>
            <a:r>
              <a:rPr lang="en-US" sz="1600" baseline="-25000"/>
              <a:t>1,3</a:t>
            </a:r>
          </a:p>
        </p:txBody>
      </p:sp>
      <p:sp>
        <p:nvSpPr>
          <p:cNvPr id="60" name="Rectangle 56"/>
          <p:cNvSpPr>
            <a:spLocks noChangeArrowheads="1"/>
          </p:cNvSpPr>
          <p:nvPr/>
        </p:nvSpPr>
        <p:spPr bwMode="auto">
          <a:xfrm>
            <a:off x="4400125" y="2826376"/>
            <a:ext cx="396000" cy="446400"/>
          </a:xfrm>
          <a:prstGeom prst="rect">
            <a:avLst/>
          </a:prstGeom>
          <a:solidFill>
            <a:srgbClr val="7AC96C"/>
          </a:solidFill>
          <a:ln w="9525">
            <a:solidFill>
              <a:schemeClr val="tx1"/>
            </a:solidFill>
            <a:miter lim="800000"/>
            <a:headEnd/>
            <a:tailEnd/>
          </a:ln>
          <a:effectLst/>
        </p:spPr>
        <p:txBody>
          <a:bodyPr wrap="none" anchor="ctr">
            <a:prstTxWarp prst="textNoShape">
              <a:avLst/>
            </a:prstTxWarp>
          </a:bodyPr>
          <a:lstStyle/>
          <a:p>
            <a:pPr algn="ctr"/>
            <a:r>
              <a:rPr lang="en-US" sz="1600"/>
              <a:t>M</a:t>
            </a:r>
            <a:r>
              <a:rPr lang="en-US" sz="1600" baseline="-25000"/>
              <a:t>0,3</a:t>
            </a:r>
          </a:p>
        </p:txBody>
      </p:sp>
      <p:sp>
        <p:nvSpPr>
          <p:cNvPr id="61" name="Rectangle 57"/>
          <p:cNvSpPr>
            <a:spLocks noChangeArrowheads="1"/>
          </p:cNvSpPr>
          <p:nvPr/>
        </p:nvSpPr>
        <p:spPr bwMode="auto">
          <a:xfrm>
            <a:off x="5192125" y="2826376"/>
            <a:ext cx="396000" cy="446400"/>
          </a:xfrm>
          <a:prstGeom prst="rect">
            <a:avLst/>
          </a:prstGeom>
          <a:solidFill>
            <a:srgbClr val="7AC96C"/>
          </a:solidFill>
          <a:ln w="9525">
            <a:solidFill>
              <a:schemeClr val="tx1"/>
            </a:solidFill>
            <a:miter lim="800000"/>
            <a:headEnd/>
            <a:tailEnd/>
          </a:ln>
          <a:effectLst/>
        </p:spPr>
        <p:txBody>
          <a:bodyPr wrap="none" anchor="ctr">
            <a:prstTxWarp prst="textNoShape">
              <a:avLst/>
            </a:prstTxWarp>
          </a:bodyPr>
          <a:lstStyle/>
          <a:p>
            <a:pPr algn="ctr"/>
            <a:r>
              <a:rPr lang="en-US" sz="1600"/>
              <a:t>M</a:t>
            </a:r>
            <a:r>
              <a:rPr lang="en-US" sz="1600" baseline="-25000"/>
              <a:t>2,3</a:t>
            </a:r>
          </a:p>
        </p:txBody>
      </p:sp>
      <p:sp>
        <p:nvSpPr>
          <p:cNvPr id="62" name="Rectangle 58"/>
          <p:cNvSpPr>
            <a:spLocks noChangeArrowheads="1"/>
          </p:cNvSpPr>
          <p:nvPr/>
        </p:nvSpPr>
        <p:spPr bwMode="auto">
          <a:xfrm>
            <a:off x="5588125" y="2826376"/>
            <a:ext cx="396000" cy="446400"/>
          </a:xfrm>
          <a:prstGeom prst="rect">
            <a:avLst/>
          </a:prstGeom>
          <a:solidFill>
            <a:srgbClr val="7AC96C"/>
          </a:solidFill>
          <a:ln w="9525">
            <a:solidFill>
              <a:schemeClr val="tx1"/>
            </a:solidFill>
            <a:miter lim="800000"/>
            <a:headEnd/>
            <a:tailEnd/>
          </a:ln>
          <a:effectLst/>
        </p:spPr>
        <p:txBody>
          <a:bodyPr wrap="none" anchor="ctr">
            <a:prstTxWarp prst="textNoShape">
              <a:avLst/>
            </a:prstTxWarp>
          </a:bodyPr>
          <a:lstStyle/>
          <a:p>
            <a:pPr algn="ctr"/>
            <a:r>
              <a:rPr lang="en-US" sz="1600"/>
              <a:t>M</a:t>
            </a:r>
            <a:r>
              <a:rPr lang="en-US" sz="1600" baseline="-25000"/>
              <a:t>3,3</a:t>
            </a:r>
          </a:p>
        </p:txBody>
      </p:sp>
      <p:sp>
        <p:nvSpPr>
          <p:cNvPr id="63" name="Rectangle 59"/>
          <p:cNvSpPr>
            <a:spLocks noChangeArrowheads="1"/>
          </p:cNvSpPr>
          <p:nvPr/>
        </p:nvSpPr>
        <p:spPr bwMode="auto">
          <a:xfrm>
            <a:off x="6261875" y="5430375"/>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64" name="Rectangle 60"/>
          <p:cNvSpPr>
            <a:spLocks noChangeArrowheads="1"/>
          </p:cNvSpPr>
          <p:nvPr/>
        </p:nvSpPr>
        <p:spPr bwMode="auto">
          <a:xfrm>
            <a:off x="6657875" y="5430375"/>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65" name="Rectangle 61"/>
          <p:cNvSpPr>
            <a:spLocks noChangeArrowheads="1"/>
          </p:cNvSpPr>
          <p:nvPr/>
        </p:nvSpPr>
        <p:spPr bwMode="auto">
          <a:xfrm>
            <a:off x="7053875" y="5430375"/>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66" name="Rectangle 62"/>
          <p:cNvSpPr>
            <a:spLocks noChangeArrowheads="1"/>
          </p:cNvSpPr>
          <p:nvPr/>
        </p:nvSpPr>
        <p:spPr bwMode="auto">
          <a:xfrm>
            <a:off x="7449875" y="5430375"/>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67" name="Rectangle 63"/>
          <p:cNvSpPr>
            <a:spLocks noChangeArrowheads="1"/>
          </p:cNvSpPr>
          <p:nvPr/>
        </p:nvSpPr>
        <p:spPr bwMode="auto">
          <a:xfrm>
            <a:off x="6261875" y="5430375"/>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68" name="Rectangle 64"/>
          <p:cNvSpPr>
            <a:spLocks noChangeArrowheads="1"/>
          </p:cNvSpPr>
          <p:nvPr/>
        </p:nvSpPr>
        <p:spPr bwMode="auto">
          <a:xfrm>
            <a:off x="6657875" y="5430375"/>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69" name="Rectangle 65"/>
          <p:cNvSpPr>
            <a:spLocks noChangeArrowheads="1"/>
          </p:cNvSpPr>
          <p:nvPr/>
        </p:nvSpPr>
        <p:spPr bwMode="auto">
          <a:xfrm>
            <a:off x="7053875" y="5430375"/>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70" name="Rectangle 66"/>
          <p:cNvSpPr>
            <a:spLocks noChangeArrowheads="1"/>
          </p:cNvSpPr>
          <p:nvPr/>
        </p:nvSpPr>
        <p:spPr bwMode="auto">
          <a:xfrm>
            <a:off x="7449875" y="5430375"/>
            <a:ext cx="396000" cy="4464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71" name="Rectangle 67"/>
          <p:cNvSpPr>
            <a:spLocks noChangeArrowheads="1"/>
          </p:cNvSpPr>
          <p:nvPr/>
        </p:nvSpPr>
        <p:spPr bwMode="auto">
          <a:xfrm>
            <a:off x="6657875" y="5430375"/>
            <a:ext cx="396000" cy="446400"/>
          </a:xfrm>
          <a:prstGeom prst="rect">
            <a:avLst/>
          </a:prstGeom>
          <a:solidFill>
            <a:srgbClr val="7AC96C"/>
          </a:solidFill>
          <a:ln w="9525">
            <a:solidFill>
              <a:schemeClr val="tx1"/>
            </a:solidFill>
            <a:miter lim="800000"/>
            <a:headEnd/>
            <a:tailEnd/>
          </a:ln>
          <a:effectLst/>
        </p:spPr>
        <p:txBody>
          <a:bodyPr wrap="none" anchor="ctr">
            <a:prstTxWarp prst="textNoShape">
              <a:avLst/>
            </a:prstTxWarp>
          </a:bodyPr>
          <a:lstStyle/>
          <a:p>
            <a:pPr algn="ctr"/>
            <a:r>
              <a:rPr lang="en-US" sz="1600"/>
              <a:t>M</a:t>
            </a:r>
            <a:r>
              <a:rPr lang="en-US" sz="1600" baseline="-25000"/>
              <a:t>1,3</a:t>
            </a:r>
          </a:p>
        </p:txBody>
      </p:sp>
      <p:sp>
        <p:nvSpPr>
          <p:cNvPr id="72" name="Rectangle 68"/>
          <p:cNvSpPr>
            <a:spLocks noChangeArrowheads="1"/>
          </p:cNvSpPr>
          <p:nvPr/>
        </p:nvSpPr>
        <p:spPr bwMode="auto">
          <a:xfrm>
            <a:off x="6261875" y="5430375"/>
            <a:ext cx="396000" cy="446400"/>
          </a:xfrm>
          <a:prstGeom prst="rect">
            <a:avLst/>
          </a:prstGeom>
          <a:solidFill>
            <a:srgbClr val="7AC96C"/>
          </a:solidFill>
          <a:ln w="9525">
            <a:solidFill>
              <a:schemeClr val="tx1"/>
            </a:solidFill>
            <a:miter lim="800000"/>
            <a:headEnd/>
            <a:tailEnd/>
          </a:ln>
          <a:effectLst/>
        </p:spPr>
        <p:txBody>
          <a:bodyPr wrap="none" anchor="ctr">
            <a:prstTxWarp prst="textNoShape">
              <a:avLst/>
            </a:prstTxWarp>
          </a:bodyPr>
          <a:lstStyle/>
          <a:p>
            <a:pPr algn="ctr"/>
            <a:r>
              <a:rPr lang="en-US" sz="1600"/>
              <a:t>M</a:t>
            </a:r>
            <a:r>
              <a:rPr lang="en-US" sz="1600" baseline="-25000"/>
              <a:t>0,3</a:t>
            </a:r>
          </a:p>
        </p:txBody>
      </p:sp>
      <p:sp>
        <p:nvSpPr>
          <p:cNvPr id="73" name="Rectangle 69"/>
          <p:cNvSpPr>
            <a:spLocks noChangeArrowheads="1"/>
          </p:cNvSpPr>
          <p:nvPr/>
        </p:nvSpPr>
        <p:spPr bwMode="auto">
          <a:xfrm>
            <a:off x="7053875" y="5430375"/>
            <a:ext cx="396000" cy="446400"/>
          </a:xfrm>
          <a:prstGeom prst="rect">
            <a:avLst/>
          </a:prstGeom>
          <a:solidFill>
            <a:srgbClr val="7AC96C"/>
          </a:solidFill>
          <a:ln w="9525">
            <a:solidFill>
              <a:schemeClr val="tx1"/>
            </a:solidFill>
            <a:miter lim="800000"/>
            <a:headEnd/>
            <a:tailEnd/>
          </a:ln>
          <a:effectLst/>
        </p:spPr>
        <p:txBody>
          <a:bodyPr wrap="none" anchor="ctr">
            <a:prstTxWarp prst="textNoShape">
              <a:avLst/>
            </a:prstTxWarp>
          </a:bodyPr>
          <a:lstStyle/>
          <a:p>
            <a:pPr algn="ctr"/>
            <a:r>
              <a:rPr lang="en-US" sz="1600"/>
              <a:t>M</a:t>
            </a:r>
            <a:r>
              <a:rPr lang="en-US" sz="1600" baseline="-25000"/>
              <a:t>2,3</a:t>
            </a:r>
          </a:p>
        </p:txBody>
      </p:sp>
      <p:sp>
        <p:nvSpPr>
          <p:cNvPr id="74" name="Rectangle 70"/>
          <p:cNvSpPr>
            <a:spLocks noChangeArrowheads="1"/>
          </p:cNvSpPr>
          <p:nvPr/>
        </p:nvSpPr>
        <p:spPr bwMode="auto">
          <a:xfrm>
            <a:off x="7449875" y="5430375"/>
            <a:ext cx="396000" cy="446400"/>
          </a:xfrm>
          <a:prstGeom prst="rect">
            <a:avLst/>
          </a:prstGeom>
          <a:solidFill>
            <a:srgbClr val="7AC96C"/>
          </a:solidFill>
          <a:ln w="9525">
            <a:solidFill>
              <a:schemeClr val="tx1"/>
            </a:solidFill>
            <a:miter lim="800000"/>
            <a:headEnd/>
            <a:tailEnd/>
          </a:ln>
          <a:effectLst/>
        </p:spPr>
        <p:txBody>
          <a:bodyPr wrap="none" anchor="ctr">
            <a:prstTxWarp prst="textNoShape">
              <a:avLst/>
            </a:prstTxWarp>
          </a:bodyPr>
          <a:lstStyle/>
          <a:p>
            <a:pPr algn="ctr"/>
            <a:r>
              <a:rPr lang="en-US" sz="1600"/>
              <a:t>M</a:t>
            </a:r>
            <a:r>
              <a:rPr lang="en-US" sz="1600" baseline="-25000"/>
              <a:t>3,3</a:t>
            </a:r>
          </a:p>
        </p:txBody>
      </p:sp>
      <p:sp>
        <p:nvSpPr>
          <p:cNvPr id="75" name="Line 71"/>
          <p:cNvSpPr>
            <a:spLocks noChangeShapeType="1"/>
          </p:cNvSpPr>
          <p:nvPr/>
        </p:nvSpPr>
        <p:spPr bwMode="auto">
          <a:xfrm>
            <a:off x="1509875" y="5058375"/>
            <a:ext cx="0" cy="2976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6" name="Text Box 72"/>
          <p:cNvSpPr txBox="1">
            <a:spLocks noChangeArrowheads="1"/>
          </p:cNvSpPr>
          <p:nvPr/>
        </p:nvSpPr>
        <p:spPr bwMode="auto">
          <a:xfrm>
            <a:off x="1298125" y="4686375"/>
            <a:ext cx="382023" cy="346948"/>
          </a:xfrm>
          <a:prstGeom prst="rect">
            <a:avLst/>
          </a:prstGeom>
          <a:noFill/>
          <a:ln w="9525">
            <a:noFill/>
            <a:miter lim="800000"/>
            <a:headEnd/>
            <a:tailEnd/>
          </a:ln>
          <a:effectLst/>
        </p:spPr>
        <p:txBody>
          <a:bodyPr wrap="none">
            <a:prstTxWarp prst="textNoShape">
              <a:avLst/>
            </a:prstTxWarp>
            <a:spAutoFit/>
          </a:bodyPr>
          <a:lstStyle/>
          <a:p>
            <a:r>
              <a:rPr lang="en-US" dirty="0"/>
              <a:t>M</a:t>
            </a:r>
          </a:p>
        </p:txBody>
      </p:sp>
      <p:sp>
        <p:nvSpPr>
          <p:cNvPr id="77" name="Text Box 73"/>
          <p:cNvSpPr txBox="1">
            <a:spLocks noChangeArrowheads="1"/>
          </p:cNvSpPr>
          <p:nvPr/>
        </p:nvSpPr>
        <p:spPr bwMode="auto">
          <a:xfrm>
            <a:off x="1509875" y="4076100"/>
            <a:ext cx="396312" cy="375861"/>
          </a:xfrm>
          <a:prstGeom prst="rect">
            <a:avLst/>
          </a:prstGeom>
          <a:noFill/>
          <a:ln w="9525">
            <a:noFill/>
            <a:miter lim="800000"/>
            <a:headEnd/>
            <a:tailEnd/>
          </a:ln>
          <a:effectLst/>
        </p:spPr>
        <p:txBody>
          <a:bodyPr wrap="none">
            <a:prstTxWarp prst="textNoShape">
              <a:avLst/>
            </a:prstTxWarp>
            <a:spAutoFit/>
          </a:bodyPr>
          <a:lstStyle/>
          <a:p>
            <a:r>
              <a:rPr lang="en-US" sz="2000" dirty="0"/>
              <a:t>T</a:t>
            </a:r>
            <a:r>
              <a:rPr lang="en-US" sz="2000" baseline="-25000" dirty="0"/>
              <a:t>1</a:t>
            </a:r>
          </a:p>
        </p:txBody>
      </p:sp>
      <p:sp>
        <p:nvSpPr>
          <p:cNvPr id="78" name="Text Box 74"/>
          <p:cNvSpPr txBox="1">
            <a:spLocks noChangeArrowheads="1"/>
          </p:cNvSpPr>
          <p:nvPr/>
        </p:nvSpPr>
        <p:spPr bwMode="auto">
          <a:xfrm>
            <a:off x="1905875" y="4076100"/>
            <a:ext cx="396312" cy="375861"/>
          </a:xfrm>
          <a:prstGeom prst="rect">
            <a:avLst/>
          </a:prstGeom>
          <a:noFill/>
          <a:ln w="9525">
            <a:noFill/>
            <a:miter lim="800000"/>
            <a:headEnd/>
            <a:tailEnd/>
          </a:ln>
          <a:effectLst/>
        </p:spPr>
        <p:txBody>
          <a:bodyPr wrap="none">
            <a:prstTxWarp prst="textNoShape">
              <a:avLst/>
            </a:prstTxWarp>
            <a:spAutoFit/>
          </a:bodyPr>
          <a:lstStyle/>
          <a:p>
            <a:r>
              <a:rPr lang="en-US" sz="2000"/>
              <a:t>T</a:t>
            </a:r>
            <a:r>
              <a:rPr lang="en-US" sz="2000" baseline="-25000"/>
              <a:t>2</a:t>
            </a:r>
          </a:p>
        </p:txBody>
      </p:sp>
      <p:sp>
        <p:nvSpPr>
          <p:cNvPr id="79" name="Text Box 75"/>
          <p:cNvSpPr txBox="1">
            <a:spLocks noChangeArrowheads="1"/>
          </p:cNvSpPr>
          <p:nvPr/>
        </p:nvSpPr>
        <p:spPr bwMode="auto">
          <a:xfrm>
            <a:off x="2301875" y="4076100"/>
            <a:ext cx="396312" cy="375861"/>
          </a:xfrm>
          <a:prstGeom prst="rect">
            <a:avLst/>
          </a:prstGeom>
          <a:noFill/>
          <a:ln w="9525">
            <a:noFill/>
            <a:miter lim="800000"/>
            <a:headEnd/>
            <a:tailEnd/>
          </a:ln>
          <a:effectLst/>
        </p:spPr>
        <p:txBody>
          <a:bodyPr wrap="none">
            <a:prstTxWarp prst="textNoShape">
              <a:avLst/>
            </a:prstTxWarp>
            <a:spAutoFit/>
          </a:bodyPr>
          <a:lstStyle/>
          <a:p>
            <a:r>
              <a:rPr lang="en-US" sz="2000"/>
              <a:t>T</a:t>
            </a:r>
            <a:r>
              <a:rPr lang="en-US" sz="2000" baseline="-25000"/>
              <a:t>3</a:t>
            </a:r>
          </a:p>
        </p:txBody>
      </p:sp>
      <p:sp>
        <p:nvSpPr>
          <p:cNvPr id="80" name="Text Box 76"/>
          <p:cNvSpPr txBox="1">
            <a:spLocks noChangeArrowheads="1"/>
          </p:cNvSpPr>
          <p:nvPr/>
        </p:nvSpPr>
        <p:spPr bwMode="auto">
          <a:xfrm>
            <a:off x="2697875" y="4076100"/>
            <a:ext cx="402674" cy="375861"/>
          </a:xfrm>
          <a:prstGeom prst="rect">
            <a:avLst/>
          </a:prstGeom>
          <a:noFill/>
          <a:ln w="9525">
            <a:noFill/>
            <a:miter lim="800000"/>
            <a:headEnd/>
            <a:tailEnd/>
          </a:ln>
          <a:effectLst/>
        </p:spPr>
        <p:txBody>
          <a:bodyPr wrap="none">
            <a:prstTxWarp prst="textNoShape">
              <a:avLst/>
            </a:prstTxWarp>
            <a:spAutoFit/>
          </a:bodyPr>
          <a:lstStyle/>
          <a:p>
            <a:r>
              <a:rPr lang="en-US" sz="2000"/>
              <a:t>T</a:t>
            </a:r>
            <a:r>
              <a:rPr lang="en-US" sz="2000" baseline="-25000"/>
              <a:t>4</a:t>
            </a:r>
          </a:p>
        </p:txBody>
      </p:sp>
      <p:sp>
        <p:nvSpPr>
          <p:cNvPr id="81" name="Line 77"/>
          <p:cNvSpPr>
            <a:spLocks noChangeShapeType="1"/>
          </p:cNvSpPr>
          <p:nvPr/>
        </p:nvSpPr>
        <p:spPr bwMode="auto">
          <a:xfrm>
            <a:off x="4598125" y="1412776"/>
            <a:ext cx="0" cy="2083200"/>
          </a:xfrm>
          <a:prstGeom prst="line">
            <a:avLst/>
          </a:prstGeom>
          <a:noFill/>
          <a:ln w="44450">
            <a:solidFill>
              <a:schemeClr val="tx1"/>
            </a:solidFill>
            <a:round/>
            <a:headEnd/>
            <a:tailEnd type="triangle" w="med" len="med"/>
          </a:ln>
          <a:effectLst/>
        </p:spPr>
        <p:txBody>
          <a:bodyPr>
            <a:prstTxWarp prst="textNoShape">
              <a:avLst/>
            </a:prstTxWarp>
          </a:bodyPr>
          <a:lstStyle/>
          <a:p>
            <a:endParaRPr lang="es-ES_tradnl"/>
          </a:p>
        </p:txBody>
      </p:sp>
      <p:sp>
        <p:nvSpPr>
          <p:cNvPr id="82" name="Text Box 78"/>
          <p:cNvSpPr txBox="1">
            <a:spLocks noChangeArrowheads="1"/>
          </p:cNvSpPr>
          <p:nvPr/>
        </p:nvSpPr>
        <p:spPr bwMode="auto">
          <a:xfrm>
            <a:off x="1878958" y="3796243"/>
            <a:ext cx="919867" cy="369332"/>
          </a:xfrm>
          <a:prstGeom prst="rect">
            <a:avLst/>
          </a:prstGeom>
          <a:noFill/>
          <a:ln w="9525">
            <a:noFill/>
            <a:miter lim="800000"/>
            <a:headEnd/>
            <a:tailEnd/>
          </a:ln>
          <a:effectLst/>
        </p:spPr>
        <p:txBody>
          <a:bodyPr wrap="none">
            <a:prstTxWarp prst="textNoShape">
              <a:avLst/>
            </a:prstTxWarp>
            <a:spAutoFit/>
          </a:bodyPr>
          <a:lstStyle/>
          <a:p>
            <a:r>
              <a:rPr lang="en-US" sz="1800" dirty="0"/>
              <a:t>Warp 1</a:t>
            </a:r>
          </a:p>
        </p:txBody>
      </p:sp>
      <p:sp>
        <p:nvSpPr>
          <p:cNvPr id="83" name="Text Box 79"/>
          <p:cNvSpPr txBox="1">
            <a:spLocks noChangeArrowheads="1"/>
          </p:cNvSpPr>
          <p:nvPr/>
        </p:nvSpPr>
        <p:spPr bwMode="auto">
          <a:xfrm>
            <a:off x="3159875" y="4076100"/>
            <a:ext cx="396312" cy="375861"/>
          </a:xfrm>
          <a:prstGeom prst="rect">
            <a:avLst/>
          </a:prstGeom>
          <a:noFill/>
          <a:ln w="9525">
            <a:noFill/>
            <a:miter lim="800000"/>
            <a:headEnd/>
            <a:tailEnd/>
          </a:ln>
          <a:effectLst/>
        </p:spPr>
        <p:txBody>
          <a:bodyPr wrap="none">
            <a:prstTxWarp prst="textNoShape">
              <a:avLst/>
            </a:prstTxWarp>
            <a:spAutoFit/>
          </a:bodyPr>
          <a:lstStyle/>
          <a:p>
            <a:r>
              <a:rPr lang="en-US" sz="2000"/>
              <a:t>T</a:t>
            </a:r>
            <a:r>
              <a:rPr lang="en-US" sz="2000" baseline="-25000"/>
              <a:t>1</a:t>
            </a:r>
          </a:p>
        </p:txBody>
      </p:sp>
      <p:sp>
        <p:nvSpPr>
          <p:cNvPr id="84" name="Text Box 80"/>
          <p:cNvSpPr txBox="1">
            <a:spLocks noChangeArrowheads="1"/>
          </p:cNvSpPr>
          <p:nvPr/>
        </p:nvSpPr>
        <p:spPr bwMode="auto">
          <a:xfrm>
            <a:off x="3555875" y="4076100"/>
            <a:ext cx="396312" cy="375861"/>
          </a:xfrm>
          <a:prstGeom prst="rect">
            <a:avLst/>
          </a:prstGeom>
          <a:noFill/>
          <a:ln w="9525">
            <a:noFill/>
            <a:miter lim="800000"/>
            <a:headEnd/>
            <a:tailEnd/>
          </a:ln>
          <a:effectLst/>
        </p:spPr>
        <p:txBody>
          <a:bodyPr wrap="none">
            <a:prstTxWarp prst="textNoShape">
              <a:avLst/>
            </a:prstTxWarp>
            <a:spAutoFit/>
          </a:bodyPr>
          <a:lstStyle/>
          <a:p>
            <a:r>
              <a:rPr lang="en-US" sz="2000"/>
              <a:t>T</a:t>
            </a:r>
            <a:r>
              <a:rPr lang="en-US" sz="2000" baseline="-25000"/>
              <a:t>2</a:t>
            </a:r>
          </a:p>
        </p:txBody>
      </p:sp>
      <p:sp>
        <p:nvSpPr>
          <p:cNvPr id="85" name="Text Box 81"/>
          <p:cNvSpPr txBox="1">
            <a:spLocks noChangeArrowheads="1"/>
          </p:cNvSpPr>
          <p:nvPr/>
        </p:nvSpPr>
        <p:spPr bwMode="auto">
          <a:xfrm>
            <a:off x="3951875" y="4076100"/>
            <a:ext cx="396312" cy="375861"/>
          </a:xfrm>
          <a:prstGeom prst="rect">
            <a:avLst/>
          </a:prstGeom>
          <a:noFill/>
          <a:ln w="9525">
            <a:noFill/>
            <a:miter lim="800000"/>
            <a:headEnd/>
            <a:tailEnd/>
          </a:ln>
          <a:effectLst/>
        </p:spPr>
        <p:txBody>
          <a:bodyPr wrap="none">
            <a:prstTxWarp prst="textNoShape">
              <a:avLst/>
            </a:prstTxWarp>
            <a:spAutoFit/>
          </a:bodyPr>
          <a:lstStyle/>
          <a:p>
            <a:r>
              <a:rPr lang="en-US" sz="2000"/>
              <a:t>T</a:t>
            </a:r>
            <a:r>
              <a:rPr lang="en-US" sz="2000" baseline="-25000"/>
              <a:t>3</a:t>
            </a:r>
          </a:p>
        </p:txBody>
      </p:sp>
      <p:sp>
        <p:nvSpPr>
          <p:cNvPr id="86" name="Text Box 82"/>
          <p:cNvSpPr txBox="1">
            <a:spLocks noChangeArrowheads="1"/>
          </p:cNvSpPr>
          <p:nvPr/>
        </p:nvSpPr>
        <p:spPr bwMode="auto">
          <a:xfrm>
            <a:off x="4347875" y="4076100"/>
            <a:ext cx="402674" cy="375861"/>
          </a:xfrm>
          <a:prstGeom prst="rect">
            <a:avLst/>
          </a:prstGeom>
          <a:noFill/>
          <a:ln w="9525">
            <a:noFill/>
            <a:miter lim="800000"/>
            <a:headEnd/>
            <a:tailEnd/>
          </a:ln>
          <a:effectLst/>
        </p:spPr>
        <p:txBody>
          <a:bodyPr wrap="none">
            <a:prstTxWarp prst="textNoShape">
              <a:avLst/>
            </a:prstTxWarp>
            <a:spAutoFit/>
          </a:bodyPr>
          <a:lstStyle/>
          <a:p>
            <a:r>
              <a:rPr lang="en-US" sz="2000"/>
              <a:t>T</a:t>
            </a:r>
            <a:r>
              <a:rPr lang="en-US" sz="2000" baseline="-25000"/>
              <a:t>4</a:t>
            </a:r>
          </a:p>
        </p:txBody>
      </p:sp>
      <p:sp>
        <p:nvSpPr>
          <p:cNvPr id="87" name="Text Box 83"/>
          <p:cNvSpPr txBox="1">
            <a:spLocks noChangeArrowheads="1"/>
          </p:cNvSpPr>
          <p:nvPr/>
        </p:nvSpPr>
        <p:spPr bwMode="auto">
          <a:xfrm>
            <a:off x="3480258" y="3793575"/>
            <a:ext cx="919867" cy="369332"/>
          </a:xfrm>
          <a:prstGeom prst="rect">
            <a:avLst/>
          </a:prstGeom>
          <a:noFill/>
          <a:ln w="9525">
            <a:noFill/>
            <a:miter lim="800000"/>
            <a:headEnd/>
            <a:tailEnd/>
          </a:ln>
          <a:effectLst/>
        </p:spPr>
        <p:txBody>
          <a:bodyPr wrap="none">
            <a:prstTxWarp prst="textNoShape">
              <a:avLst/>
            </a:prstTxWarp>
            <a:spAutoFit/>
          </a:bodyPr>
          <a:lstStyle/>
          <a:p>
            <a:r>
              <a:rPr lang="en-US" sz="1800" dirty="0"/>
              <a:t>Warp 2</a:t>
            </a:r>
          </a:p>
        </p:txBody>
      </p:sp>
      <p:sp>
        <p:nvSpPr>
          <p:cNvPr id="89" name="Line 85"/>
          <p:cNvSpPr>
            <a:spLocks noChangeShapeType="1"/>
          </p:cNvSpPr>
          <p:nvPr/>
        </p:nvSpPr>
        <p:spPr bwMode="auto">
          <a:xfrm flipV="1">
            <a:off x="1707875" y="4537575"/>
            <a:ext cx="0" cy="818400"/>
          </a:xfrm>
          <a:prstGeom prst="line">
            <a:avLst/>
          </a:prstGeom>
          <a:noFill/>
          <a:ln w="38100">
            <a:solidFill>
              <a:schemeClr val="tx1"/>
            </a:solidFill>
            <a:round/>
            <a:headEnd/>
            <a:tailEnd type="triangle" w="med" len="med"/>
          </a:ln>
          <a:effectLst/>
        </p:spPr>
        <p:txBody>
          <a:bodyPr>
            <a:prstTxWarp prst="textNoShape">
              <a:avLst/>
            </a:prstTxWarp>
          </a:bodyPr>
          <a:lstStyle/>
          <a:p>
            <a:endParaRPr lang="es-ES_tradnl"/>
          </a:p>
        </p:txBody>
      </p:sp>
      <p:sp>
        <p:nvSpPr>
          <p:cNvPr id="90" name="Line 86"/>
          <p:cNvSpPr>
            <a:spLocks noChangeShapeType="1"/>
          </p:cNvSpPr>
          <p:nvPr/>
        </p:nvSpPr>
        <p:spPr bwMode="auto">
          <a:xfrm flipV="1">
            <a:off x="2103875" y="4537575"/>
            <a:ext cx="0" cy="818400"/>
          </a:xfrm>
          <a:prstGeom prst="line">
            <a:avLst/>
          </a:prstGeom>
          <a:noFill/>
          <a:ln w="38100">
            <a:solidFill>
              <a:schemeClr val="tx1"/>
            </a:solidFill>
            <a:round/>
            <a:headEnd/>
            <a:tailEnd type="triangle" w="med" len="med"/>
          </a:ln>
          <a:effectLst/>
        </p:spPr>
        <p:txBody>
          <a:bodyPr>
            <a:prstTxWarp prst="textNoShape">
              <a:avLst/>
            </a:prstTxWarp>
          </a:bodyPr>
          <a:lstStyle/>
          <a:p>
            <a:endParaRPr lang="es-ES_tradnl"/>
          </a:p>
        </p:txBody>
      </p:sp>
      <p:sp>
        <p:nvSpPr>
          <p:cNvPr id="91" name="Line 87"/>
          <p:cNvSpPr>
            <a:spLocks noChangeShapeType="1"/>
          </p:cNvSpPr>
          <p:nvPr/>
        </p:nvSpPr>
        <p:spPr bwMode="auto">
          <a:xfrm flipV="1">
            <a:off x="2499875" y="4537575"/>
            <a:ext cx="0" cy="818400"/>
          </a:xfrm>
          <a:prstGeom prst="line">
            <a:avLst/>
          </a:prstGeom>
          <a:noFill/>
          <a:ln w="38100">
            <a:solidFill>
              <a:schemeClr val="tx1"/>
            </a:solidFill>
            <a:round/>
            <a:headEnd/>
            <a:tailEnd type="triangle" w="med" len="med"/>
          </a:ln>
          <a:effectLst/>
        </p:spPr>
        <p:txBody>
          <a:bodyPr>
            <a:prstTxWarp prst="textNoShape">
              <a:avLst/>
            </a:prstTxWarp>
          </a:bodyPr>
          <a:lstStyle/>
          <a:p>
            <a:endParaRPr lang="es-ES_tradnl"/>
          </a:p>
        </p:txBody>
      </p:sp>
      <p:sp>
        <p:nvSpPr>
          <p:cNvPr id="92" name="Line 88"/>
          <p:cNvSpPr>
            <a:spLocks noChangeShapeType="1"/>
          </p:cNvSpPr>
          <p:nvPr/>
        </p:nvSpPr>
        <p:spPr bwMode="auto">
          <a:xfrm flipV="1">
            <a:off x="2895875" y="4537575"/>
            <a:ext cx="0" cy="818400"/>
          </a:xfrm>
          <a:prstGeom prst="line">
            <a:avLst/>
          </a:prstGeom>
          <a:noFill/>
          <a:ln w="38100">
            <a:solidFill>
              <a:schemeClr val="tx1"/>
            </a:solidFill>
            <a:round/>
            <a:headEnd/>
            <a:tailEnd type="triangle" w="med" len="med"/>
          </a:ln>
          <a:effectLst/>
        </p:spPr>
        <p:txBody>
          <a:bodyPr>
            <a:prstTxWarp prst="textNoShape">
              <a:avLst/>
            </a:prstTxWarp>
          </a:bodyPr>
          <a:lstStyle/>
          <a:p>
            <a:endParaRPr lang="es-ES_tradnl"/>
          </a:p>
        </p:txBody>
      </p:sp>
      <p:sp>
        <p:nvSpPr>
          <p:cNvPr id="93" name="Line 89"/>
          <p:cNvSpPr>
            <a:spLocks noChangeShapeType="1"/>
          </p:cNvSpPr>
          <p:nvPr/>
        </p:nvSpPr>
        <p:spPr bwMode="auto">
          <a:xfrm flipV="1">
            <a:off x="3357875" y="4537575"/>
            <a:ext cx="0" cy="818400"/>
          </a:xfrm>
          <a:prstGeom prst="line">
            <a:avLst/>
          </a:prstGeom>
          <a:noFill/>
          <a:ln w="38100">
            <a:solidFill>
              <a:schemeClr val="tx1"/>
            </a:solidFill>
            <a:round/>
            <a:headEnd/>
            <a:tailEnd type="triangle" w="med" len="med"/>
          </a:ln>
          <a:effectLst/>
        </p:spPr>
        <p:txBody>
          <a:bodyPr>
            <a:prstTxWarp prst="textNoShape">
              <a:avLst/>
            </a:prstTxWarp>
          </a:bodyPr>
          <a:lstStyle/>
          <a:p>
            <a:endParaRPr lang="es-ES_tradnl"/>
          </a:p>
        </p:txBody>
      </p:sp>
      <p:sp>
        <p:nvSpPr>
          <p:cNvPr id="94" name="Line 90"/>
          <p:cNvSpPr>
            <a:spLocks noChangeShapeType="1"/>
          </p:cNvSpPr>
          <p:nvPr/>
        </p:nvSpPr>
        <p:spPr bwMode="auto">
          <a:xfrm flipV="1">
            <a:off x="3753875" y="4537575"/>
            <a:ext cx="0" cy="818400"/>
          </a:xfrm>
          <a:prstGeom prst="line">
            <a:avLst/>
          </a:prstGeom>
          <a:noFill/>
          <a:ln w="38100">
            <a:solidFill>
              <a:schemeClr val="tx1"/>
            </a:solidFill>
            <a:round/>
            <a:headEnd/>
            <a:tailEnd type="triangle" w="med" len="med"/>
          </a:ln>
          <a:effectLst/>
        </p:spPr>
        <p:txBody>
          <a:bodyPr>
            <a:prstTxWarp prst="textNoShape">
              <a:avLst/>
            </a:prstTxWarp>
          </a:bodyPr>
          <a:lstStyle/>
          <a:p>
            <a:endParaRPr lang="es-ES_tradnl"/>
          </a:p>
        </p:txBody>
      </p:sp>
      <p:sp>
        <p:nvSpPr>
          <p:cNvPr id="95" name="Line 91"/>
          <p:cNvSpPr>
            <a:spLocks noChangeShapeType="1"/>
          </p:cNvSpPr>
          <p:nvPr/>
        </p:nvSpPr>
        <p:spPr bwMode="auto">
          <a:xfrm flipV="1">
            <a:off x="4149875" y="4537575"/>
            <a:ext cx="0" cy="818400"/>
          </a:xfrm>
          <a:prstGeom prst="line">
            <a:avLst/>
          </a:prstGeom>
          <a:noFill/>
          <a:ln w="38100">
            <a:solidFill>
              <a:schemeClr val="tx1"/>
            </a:solidFill>
            <a:round/>
            <a:headEnd/>
            <a:tailEnd type="triangle" w="med" len="med"/>
          </a:ln>
          <a:effectLst/>
        </p:spPr>
        <p:txBody>
          <a:bodyPr>
            <a:prstTxWarp prst="textNoShape">
              <a:avLst/>
            </a:prstTxWarp>
          </a:bodyPr>
          <a:lstStyle/>
          <a:p>
            <a:endParaRPr lang="es-ES_tradnl"/>
          </a:p>
        </p:txBody>
      </p:sp>
      <p:sp>
        <p:nvSpPr>
          <p:cNvPr id="96" name="Line 92"/>
          <p:cNvSpPr>
            <a:spLocks noChangeShapeType="1"/>
          </p:cNvSpPr>
          <p:nvPr/>
        </p:nvSpPr>
        <p:spPr bwMode="auto">
          <a:xfrm flipV="1">
            <a:off x="4545875" y="4537575"/>
            <a:ext cx="0" cy="818400"/>
          </a:xfrm>
          <a:prstGeom prst="line">
            <a:avLst/>
          </a:prstGeom>
          <a:noFill/>
          <a:ln w="38100">
            <a:solidFill>
              <a:schemeClr val="tx1"/>
            </a:solidFill>
            <a:round/>
            <a:headEnd/>
            <a:tailEnd type="triangle" w="med" len="med"/>
          </a:ln>
          <a:effectLst/>
        </p:spPr>
        <p:txBody>
          <a:bodyPr>
            <a:prstTxWarp prst="textNoShape">
              <a:avLst/>
            </a:prstTxWarp>
          </a:bodyPr>
          <a:lstStyle/>
          <a:p>
            <a:endParaRPr lang="es-ES_tradnl"/>
          </a:p>
        </p:txBody>
      </p:sp>
      <p:sp>
        <p:nvSpPr>
          <p:cNvPr id="97" name="Rectangle 93"/>
          <p:cNvSpPr>
            <a:spLocks noChangeArrowheads="1"/>
          </p:cNvSpPr>
          <p:nvPr/>
        </p:nvSpPr>
        <p:spPr bwMode="auto">
          <a:xfrm>
            <a:off x="1509875" y="3793575"/>
            <a:ext cx="1584000" cy="744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98" name="Rectangle 94"/>
          <p:cNvSpPr>
            <a:spLocks noChangeArrowheads="1"/>
          </p:cNvSpPr>
          <p:nvPr/>
        </p:nvSpPr>
        <p:spPr bwMode="auto">
          <a:xfrm>
            <a:off x="3159875" y="3793575"/>
            <a:ext cx="1584000" cy="744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99" name="Text Box 95"/>
          <p:cNvSpPr txBox="1">
            <a:spLocks noChangeArrowheads="1"/>
          </p:cNvSpPr>
          <p:nvPr/>
        </p:nvSpPr>
        <p:spPr bwMode="auto">
          <a:xfrm>
            <a:off x="5051965" y="3905175"/>
            <a:ext cx="348886" cy="346948"/>
          </a:xfrm>
          <a:prstGeom prst="rect">
            <a:avLst/>
          </a:prstGeom>
          <a:noFill/>
          <a:ln w="9525">
            <a:noFill/>
            <a:miter lim="800000"/>
            <a:headEnd/>
            <a:tailEnd/>
          </a:ln>
          <a:effectLst/>
        </p:spPr>
        <p:txBody>
          <a:bodyPr wrap="none">
            <a:prstTxWarp prst="textNoShape">
              <a:avLst/>
            </a:prstTxWarp>
            <a:spAutoFit/>
          </a:bodyPr>
          <a:lstStyle/>
          <a:p>
            <a:r>
              <a:rPr lang="en-US" b="1" dirty="0"/>
              <a:t>…</a:t>
            </a:r>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38</a:t>
            </a:fld>
            <a:endParaRPr lang="en-US" altLang="en-US" dirty="0"/>
          </a:p>
        </p:txBody>
      </p:sp>
      <p:sp>
        <p:nvSpPr>
          <p:cNvPr id="101" name="CuadroTexto 26">
            <a:extLst>
              <a:ext uri="{FF2B5EF4-FFF2-40B4-BE49-F238E27FC236}">
                <a16:creationId xmlns:a16="http://schemas.microsoft.com/office/drawing/2014/main" id="{049227E1-60AC-014F-A4FA-264A9F51CE83}"/>
              </a:ext>
            </a:extLst>
          </p:cNvPr>
          <p:cNvSpPr txBox="1"/>
          <p:nvPr/>
        </p:nvSpPr>
        <p:spPr>
          <a:xfrm>
            <a:off x="228600" y="6495225"/>
            <a:ext cx="1274708" cy="215444"/>
          </a:xfrm>
          <a:prstGeom prst="rect">
            <a:avLst/>
          </a:prstGeom>
          <a:noFill/>
        </p:spPr>
        <p:txBody>
          <a:bodyPr wrap="none" rtlCol="0">
            <a:spAutoFit/>
          </a:bodyPr>
          <a:lstStyle/>
          <a:p>
            <a:r>
              <a:rPr lang="en-US" sz="800" dirty="0"/>
              <a:t>Slide credit: </a:t>
            </a:r>
            <a:r>
              <a:rPr lang="en-US" sz="800" dirty="0" err="1"/>
              <a:t>Hwu</a:t>
            </a:r>
            <a:r>
              <a:rPr lang="en-US" sz="800" dirty="0"/>
              <a:t> &amp; Kirk</a:t>
            </a:r>
          </a:p>
        </p:txBody>
      </p:sp>
      <p:sp>
        <p:nvSpPr>
          <p:cNvPr id="100" name="Text Box 84">
            <a:extLst>
              <a:ext uri="{FF2B5EF4-FFF2-40B4-BE49-F238E27FC236}">
                <a16:creationId xmlns:a16="http://schemas.microsoft.com/office/drawing/2014/main" id="{7BC6944F-99CC-4EDB-B818-6AD0473216E5}"/>
              </a:ext>
            </a:extLst>
          </p:cNvPr>
          <p:cNvSpPr txBox="1">
            <a:spLocks noChangeArrowheads="1"/>
          </p:cNvSpPr>
          <p:nvPr/>
        </p:nvSpPr>
        <p:spPr bwMode="auto">
          <a:xfrm>
            <a:off x="2133600" y="1480412"/>
            <a:ext cx="1648247" cy="1015663"/>
          </a:xfrm>
          <a:prstGeom prst="rect">
            <a:avLst/>
          </a:prstGeom>
          <a:noFill/>
          <a:ln w="9525">
            <a:noFill/>
            <a:miter lim="800000"/>
            <a:headEnd/>
            <a:tailEnd/>
          </a:ln>
          <a:effectLst/>
        </p:spPr>
        <p:txBody>
          <a:bodyPr wrap="square">
            <a:prstTxWarp prst="textNoShape">
              <a:avLst/>
            </a:prstTxWarp>
            <a:spAutoFit/>
          </a:bodyPr>
          <a:lstStyle/>
          <a:p>
            <a:r>
              <a:rPr lang="en-US" sz="2000" dirty="0"/>
              <a:t>Access direction of each thread</a:t>
            </a:r>
          </a:p>
        </p:txBody>
      </p:sp>
    </p:spTree>
    <p:extLst>
      <p:ext uri="{BB962C8B-B14F-4D97-AF65-F5344CB8AC3E}">
        <p14:creationId xmlns:p14="http://schemas.microsoft.com/office/powerpoint/2010/main" val="98133880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76"/>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0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3"/>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4"/>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6"/>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2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28"/>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29"/>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30"/>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31"/>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32"/>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34"/>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35"/>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36"/>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37"/>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38"/>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39"/>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40"/>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41"/>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42"/>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43"/>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44"/>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45"/>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46"/>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63"/>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64"/>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65"/>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66"/>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67"/>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68"/>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69"/>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70"/>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71"/>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72"/>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73"/>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74"/>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82"/>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97"/>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77"/>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78"/>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79"/>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80"/>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89"/>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90"/>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91"/>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92"/>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grpId="0" nodeType="clickEffect">
                                  <p:stCondLst>
                                    <p:cond delay="0"/>
                                  </p:stCondLst>
                                  <p:childTnLst>
                                    <p:set>
                                      <p:cBhvr>
                                        <p:cTn id="176" dur="1" fill="hold">
                                          <p:stCondLst>
                                            <p:cond delay="0"/>
                                          </p:stCondLst>
                                        </p:cTn>
                                        <p:tgtEl>
                                          <p:spTgt spid="87"/>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83"/>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84"/>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85"/>
                                        </p:tgtEl>
                                        <p:attrNameLst>
                                          <p:attrName>style.visibility</p:attrName>
                                        </p:attrNameLst>
                                      </p:cBhvr>
                                      <p:to>
                                        <p:strVal val="visible"/>
                                      </p:to>
                                    </p:set>
                                  </p:childTnLst>
                                </p:cTn>
                              </p:par>
                              <p:par>
                                <p:cTn id="183" presetID="1" presetClass="entr" presetSubtype="0" fill="hold" grpId="0" nodeType="withEffect">
                                  <p:stCondLst>
                                    <p:cond delay="0"/>
                                  </p:stCondLst>
                                  <p:childTnLst>
                                    <p:set>
                                      <p:cBhvr>
                                        <p:cTn id="184" dur="1" fill="hold">
                                          <p:stCondLst>
                                            <p:cond delay="0"/>
                                          </p:stCondLst>
                                        </p:cTn>
                                        <p:tgtEl>
                                          <p:spTgt spid="86"/>
                                        </p:tgtEl>
                                        <p:attrNameLst>
                                          <p:attrName>style.visibility</p:attrName>
                                        </p:attrNameLst>
                                      </p:cBhvr>
                                      <p:to>
                                        <p:strVal val="visible"/>
                                      </p:to>
                                    </p:set>
                                  </p:childTnLst>
                                </p:cTn>
                              </p:par>
                              <p:par>
                                <p:cTn id="185" presetID="1" presetClass="entr" presetSubtype="0" fill="hold" grpId="0" nodeType="withEffect">
                                  <p:stCondLst>
                                    <p:cond delay="0"/>
                                  </p:stCondLst>
                                  <p:childTnLst>
                                    <p:set>
                                      <p:cBhvr>
                                        <p:cTn id="186" dur="1" fill="hold">
                                          <p:stCondLst>
                                            <p:cond delay="0"/>
                                          </p:stCondLst>
                                        </p:cTn>
                                        <p:tgtEl>
                                          <p:spTgt spid="98"/>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96"/>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95"/>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94"/>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93"/>
                                        </p:tgtEl>
                                        <p:attrNameLst>
                                          <p:attrName>style.visibility</p:attrName>
                                        </p:attrNameLst>
                                      </p:cBhvr>
                                      <p:to>
                                        <p:strVal val="visible"/>
                                      </p:to>
                                    </p:set>
                                  </p:childTnLst>
                                </p:cTn>
                              </p:par>
                              <p:par>
                                <p:cTn id="195" presetID="1" presetClass="entr" presetSubtype="0" fill="hold" grpId="0" nodeType="withEffect">
                                  <p:stCondLst>
                                    <p:cond delay="0"/>
                                  </p:stCondLst>
                                  <p:childTnLst>
                                    <p:set>
                                      <p:cBhvr>
                                        <p:cTn id="196"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p:bldP spid="77" grpId="0"/>
      <p:bldP spid="78" grpId="0"/>
      <p:bldP spid="79" grpId="0"/>
      <p:bldP spid="80" grpId="0"/>
      <p:bldP spid="81" grpId="0" animBg="1"/>
      <p:bldP spid="82" grpId="0"/>
      <p:bldP spid="83" grpId="0"/>
      <p:bldP spid="84" grpId="0"/>
      <p:bldP spid="85" grpId="0"/>
      <p:bldP spid="86" grpId="0"/>
      <p:bldP spid="87" grpId="0"/>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p:bldP spid="10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Content Placeholder 1">
            <a:extLst>
              <a:ext uri="{FF2B5EF4-FFF2-40B4-BE49-F238E27FC236}">
                <a16:creationId xmlns:a16="http://schemas.microsoft.com/office/drawing/2014/main" id="{8E832873-6322-2C4A-94DE-E03C451A1D0E}"/>
              </a:ext>
            </a:extLst>
          </p:cNvPr>
          <p:cNvSpPr>
            <a:spLocks noGrp="1"/>
          </p:cNvSpPr>
          <p:nvPr>
            <p:ph sz="quarter" idx="1"/>
          </p:nvPr>
        </p:nvSpPr>
        <p:spPr>
          <a:xfrm>
            <a:off x="228600" y="996950"/>
            <a:ext cx="8610600" cy="5194300"/>
          </a:xfrm>
        </p:spPr>
        <p:txBody>
          <a:bodyPr/>
          <a:lstStyle/>
          <a:p>
            <a:r>
              <a:rPr lang="en-US" altLang="en-US" dirty="0">
                <a:ea typeface="ＭＳ Ｐゴシック" panose="020B0600070205080204" pitchFamily="34" charset="-128"/>
              </a:rPr>
              <a:t>Same instruction in different threads uses </a:t>
            </a:r>
            <a:r>
              <a:rPr lang="en-US" altLang="en-US" dirty="0">
                <a:solidFill>
                  <a:srgbClr val="0432FF"/>
                </a:solidFill>
                <a:ea typeface="ＭＳ Ｐゴシック" panose="020B0600070205080204" pitchFamily="34" charset="-128"/>
              </a:rPr>
              <a:t>thread id </a:t>
            </a:r>
            <a:r>
              <a:rPr lang="en-US" altLang="en-US" dirty="0">
                <a:ea typeface="ＭＳ Ｐゴシック" panose="020B0600070205080204" pitchFamily="34" charset="-128"/>
              </a:rPr>
              <a:t>to index and access different data elements</a:t>
            </a:r>
          </a:p>
          <a:p>
            <a:endParaRPr lang="en-US" altLang="en-US" dirty="0">
              <a:ea typeface="ＭＳ Ｐゴシック" panose="020B0600070205080204" pitchFamily="34" charset="-128"/>
            </a:endParaRPr>
          </a:p>
        </p:txBody>
      </p:sp>
      <p:sp>
        <p:nvSpPr>
          <p:cNvPr id="68610" name="Title 2">
            <a:extLst>
              <a:ext uri="{FF2B5EF4-FFF2-40B4-BE49-F238E27FC236}">
                <a16:creationId xmlns:a16="http://schemas.microsoft.com/office/drawing/2014/main" id="{46933849-077D-3940-917D-DA1D9B1FA3D1}"/>
              </a:ext>
            </a:extLst>
          </p:cNvPr>
          <p:cNvSpPr>
            <a:spLocks noGrp="1"/>
          </p:cNvSpPr>
          <p:nvPr>
            <p:ph type="title"/>
          </p:nvPr>
        </p:nvSpPr>
        <p:spPr/>
        <p:txBody>
          <a:bodyPr/>
          <a:lstStyle/>
          <a:p>
            <a:r>
              <a:rPr lang="en-US" altLang="en-US">
                <a:ea typeface="ＭＳ Ｐゴシック" panose="020B0600070205080204" pitchFamily="34" charset="-128"/>
              </a:rPr>
              <a:t>SIMT Memory Access</a:t>
            </a:r>
          </a:p>
        </p:txBody>
      </p:sp>
      <p:sp>
        <p:nvSpPr>
          <p:cNvPr id="68611" name="Content Placeholder 2">
            <a:extLst>
              <a:ext uri="{FF2B5EF4-FFF2-40B4-BE49-F238E27FC236}">
                <a16:creationId xmlns:a16="http://schemas.microsoft.com/office/drawing/2014/main" id="{74A5D4DD-D77A-0940-A16F-F6AE851C3660}"/>
              </a:ext>
            </a:extLst>
          </p:cNvPr>
          <p:cNvSpPr txBox="1">
            <a:spLocks/>
          </p:cNvSpPr>
          <p:nvPr/>
        </p:nvSpPr>
        <p:spPr bwMode="auto">
          <a:xfrm>
            <a:off x="947738" y="2217738"/>
            <a:ext cx="7434262"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319088" marR="0" lvl="0" indent="-319088" algn="l" defTabSz="914400" rtl="0" eaLnBrk="1" fontAlgn="base" latinLnBrk="0" hangingPunct="1">
              <a:lnSpc>
                <a:spcPct val="100000"/>
              </a:lnSpc>
              <a:spcBef>
                <a:spcPts val="700"/>
              </a:spcBef>
              <a:spcAft>
                <a:spcPct val="0"/>
              </a:spcAft>
              <a:buClr>
                <a:srgbClr val="EB6841"/>
              </a:buClr>
              <a:buSzPct val="60000"/>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Let’s assume N=16, 4 threads per warp </a:t>
            </a: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sym typeface="Wingdings" pitchFamily="2" charset="2"/>
              </a:rPr>
              <a:t> 4 warps </a:t>
            </a:r>
            <a:endPar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 name="Rectangle 4">
            <a:extLst>
              <a:ext uri="{FF2B5EF4-FFF2-40B4-BE49-F238E27FC236}">
                <a16:creationId xmlns:a16="http://schemas.microsoft.com/office/drawing/2014/main" id="{D826D127-6321-1041-A77D-1BF6CBD21E68}"/>
              </a:ext>
            </a:extLst>
          </p:cNvPr>
          <p:cNvSpPr/>
          <p:nvPr/>
        </p:nvSpPr>
        <p:spPr>
          <a:xfrm>
            <a:off x="1017588" y="2759075"/>
            <a:ext cx="388937"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0</a:t>
            </a:r>
          </a:p>
        </p:txBody>
      </p:sp>
      <p:sp>
        <p:nvSpPr>
          <p:cNvPr id="6" name="Rectangle 5">
            <a:extLst>
              <a:ext uri="{FF2B5EF4-FFF2-40B4-BE49-F238E27FC236}">
                <a16:creationId xmlns:a16="http://schemas.microsoft.com/office/drawing/2014/main" id="{1DAA838D-A1C3-C647-B555-E5B897F4A410}"/>
              </a:ext>
            </a:extLst>
          </p:cNvPr>
          <p:cNvSpPr/>
          <p:nvPr/>
        </p:nvSpPr>
        <p:spPr>
          <a:xfrm>
            <a:off x="1406525" y="2759075"/>
            <a:ext cx="387350"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1</a:t>
            </a:r>
          </a:p>
        </p:txBody>
      </p:sp>
      <p:sp>
        <p:nvSpPr>
          <p:cNvPr id="7" name="Rectangle 6">
            <a:extLst>
              <a:ext uri="{FF2B5EF4-FFF2-40B4-BE49-F238E27FC236}">
                <a16:creationId xmlns:a16="http://schemas.microsoft.com/office/drawing/2014/main" id="{EA3AD4EC-58A2-0045-A93F-5887297E6ABE}"/>
              </a:ext>
            </a:extLst>
          </p:cNvPr>
          <p:cNvSpPr/>
          <p:nvPr/>
        </p:nvSpPr>
        <p:spPr>
          <a:xfrm>
            <a:off x="1793875" y="2759075"/>
            <a:ext cx="388938"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2</a:t>
            </a:r>
          </a:p>
        </p:txBody>
      </p:sp>
      <p:sp>
        <p:nvSpPr>
          <p:cNvPr id="8" name="Rectangle 7">
            <a:extLst>
              <a:ext uri="{FF2B5EF4-FFF2-40B4-BE49-F238E27FC236}">
                <a16:creationId xmlns:a16="http://schemas.microsoft.com/office/drawing/2014/main" id="{2F8D141F-0AF7-764A-AB73-8683E6717A46}"/>
              </a:ext>
            </a:extLst>
          </p:cNvPr>
          <p:cNvSpPr/>
          <p:nvPr/>
        </p:nvSpPr>
        <p:spPr>
          <a:xfrm>
            <a:off x="2182813" y="2759075"/>
            <a:ext cx="388937"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3</a:t>
            </a:r>
          </a:p>
        </p:txBody>
      </p:sp>
      <p:sp>
        <p:nvSpPr>
          <p:cNvPr id="9" name="Rectangle 8">
            <a:extLst>
              <a:ext uri="{FF2B5EF4-FFF2-40B4-BE49-F238E27FC236}">
                <a16:creationId xmlns:a16="http://schemas.microsoft.com/office/drawing/2014/main" id="{82A032E5-047E-384A-837F-DC92BDEDB76C}"/>
              </a:ext>
            </a:extLst>
          </p:cNvPr>
          <p:cNvSpPr/>
          <p:nvPr/>
        </p:nvSpPr>
        <p:spPr>
          <a:xfrm>
            <a:off x="498475" y="4117975"/>
            <a:ext cx="388938"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10" name="Rectangle 9">
            <a:extLst>
              <a:ext uri="{FF2B5EF4-FFF2-40B4-BE49-F238E27FC236}">
                <a16:creationId xmlns:a16="http://schemas.microsoft.com/office/drawing/2014/main" id="{F3FEEC06-0CE7-4C42-90D1-ECEC43513CE4}"/>
              </a:ext>
            </a:extLst>
          </p:cNvPr>
          <p:cNvSpPr/>
          <p:nvPr/>
        </p:nvSpPr>
        <p:spPr>
          <a:xfrm>
            <a:off x="887413" y="4117975"/>
            <a:ext cx="388937"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11" name="Rectangle 10">
            <a:extLst>
              <a:ext uri="{FF2B5EF4-FFF2-40B4-BE49-F238E27FC236}">
                <a16:creationId xmlns:a16="http://schemas.microsoft.com/office/drawing/2014/main" id="{AF97E484-CBE5-014C-B6C2-B58669F93806}"/>
              </a:ext>
            </a:extLst>
          </p:cNvPr>
          <p:cNvSpPr/>
          <p:nvPr/>
        </p:nvSpPr>
        <p:spPr>
          <a:xfrm>
            <a:off x="1276350" y="4117975"/>
            <a:ext cx="388938"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12" name="Rectangle 11">
            <a:extLst>
              <a:ext uri="{FF2B5EF4-FFF2-40B4-BE49-F238E27FC236}">
                <a16:creationId xmlns:a16="http://schemas.microsoft.com/office/drawing/2014/main" id="{4EB22C74-A3B8-E549-BB49-CE3C30BC0B16}"/>
              </a:ext>
            </a:extLst>
          </p:cNvPr>
          <p:cNvSpPr/>
          <p:nvPr/>
        </p:nvSpPr>
        <p:spPr>
          <a:xfrm>
            <a:off x="1665288" y="4117975"/>
            <a:ext cx="388937"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13" name="Rectangle 12">
            <a:extLst>
              <a:ext uri="{FF2B5EF4-FFF2-40B4-BE49-F238E27FC236}">
                <a16:creationId xmlns:a16="http://schemas.microsoft.com/office/drawing/2014/main" id="{1388E91C-64B7-6548-B493-24E821E6A61F}"/>
              </a:ext>
            </a:extLst>
          </p:cNvPr>
          <p:cNvSpPr/>
          <p:nvPr/>
        </p:nvSpPr>
        <p:spPr>
          <a:xfrm>
            <a:off x="2441575" y="4117975"/>
            <a:ext cx="388938"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14" name="Rectangle 13">
            <a:extLst>
              <a:ext uri="{FF2B5EF4-FFF2-40B4-BE49-F238E27FC236}">
                <a16:creationId xmlns:a16="http://schemas.microsoft.com/office/drawing/2014/main" id="{9A129EA9-7701-AA49-80BF-E52A13C3A61E}"/>
              </a:ext>
            </a:extLst>
          </p:cNvPr>
          <p:cNvSpPr/>
          <p:nvPr/>
        </p:nvSpPr>
        <p:spPr>
          <a:xfrm>
            <a:off x="2830513" y="4117975"/>
            <a:ext cx="388937"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15" name="Rectangle 14">
            <a:extLst>
              <a:ext uri="{FF2B5EF4-FFF2-40B4-BE49-F238E27FC236}">
                <a16:creationId xmlns:a16="http://schemas.microsoft.com/office/drawing/2014/main" id="{3EAABC66-36CB-DC4D-8A9E-B92EBE19493E}"/>
              </a:ext>
            </a:extLst>
          </p:cNvPr>
          <p:cNvSpPr/>
          <p:nvPr/>
        </p:nvSpPr>
        <p:spPr>
          <a:xfrm>
            <a:off x="3219450" y="4117975"/>
            <a:ext cx="388938"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16" name="Rectangle 15">
            <a:extLst>
              <a:ext uri="{FF2B5EF4-FFF2-40B4-BE49-F238E27FC236}">
                <a16:creationId xmlns:a16="http://schemas.microsoft.com/office/drawing/2014/main" id="{7E06C03E-ADB3-7143-90E9-1256C059DBB7}"/>
              </a:ext>
            </a:extLst>
          </p:cNvPr>
          <p:cNvSpPr/>
          <p:nvPr/>
        </p:nvSpPr>
        <p:spPr>
          <a:xfrm>
            <a:off x="3608388" y="4117975"/>
            <a:ext cx="388937"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17" name="Rectangle 16">
            <a:extLst>
              <a:ext uri="{FF2B5EF4-FFF2-40B4-BE49-F238E27FC236}">
                <a16:creationId xmlns:a16="http://schemas.microsoft.com/office/drawing/2014/main" id="{6FD50FAB-A897-CF48-81F3-3B345AA63134}"/>
              </a:ext>
            </a:extLst>
          </p:cNvPr>
          <p:cNvSpPr/>
          <p:nvPr/>
        </p:nvSpPr>
        <p:spPr>
          <a:xfrm>
            <a:off x="4321175" y="4117975"/>
            <a:ext cx="387350"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18" name="Rectangle 17">
            <a:extLst>
              <a:ext uri="{FF2B5EF4-FFF2-40B4-BE49-F238E27FC236}">
                <a16:creationId xmlns:a16="http://schemas.microsoft.com/office/drawing/2014/main" id="{45ECEF67-E66A-EE47-A043-B6751793F336}"/>
              </a:ext>
            </a:extLst>
          </p:cNvPr>
          <p:cNvSpPr/>
          <p:nvPr/>
        </p:nvSpPr>
        <p:spPr>
          <a:xfrm>
            <a:off x="4708525" y="4117975"/>
            <a:ext cx="388938"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19" name="Rectangle 18">
            <a:extLst>
              <a:ext uri="{FF2B5EF4-FFF2-40B4-BE49-F238E27FC236}">
                <a16:creationId xmlns:a16="http://schemas.microsoft.com/office/drawing/2014/main" id="{DFF484D4-477E-1F4E-ADEA-B13DD984DBC6}"/>
              </a:ext>
            </a:extLst>
          </p:cNvPr>
          <p:cNvSpPr/>
          <p:nvPr/>
        </p:nvSpPr>
        <p:spPr>
          <a:xfrm>
            <a:off x="5097463" y="4117975"/>
            <a:ext cx="388937"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20" name="Rectangle 19">
            <a:extLst>
              <a:ext uri="{FF2B5EF4-FFF2-40B4-BE49-F238E27FC236}">
                <a16:creationId xmlns:a16="http://schemas.microsoft.com/office/drawing/2014/main" id="{119D3DDE-72AA-C041-963D-65608E2CA5B4}"/>
              </a:ext>
            </a:extLst>
          </p:cNvPr>
          <p:cNvSpPr/>
          <p:nvPr/>
        </p:nvSpPr>
        <p:spPr>
          <a:xfrm>
            <a:off x="5486400" y="4117975"/>
            <a:ext cx="388938"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21" name="Rectangle 20">
            <a:extLst>
              <a:ext uri="{FF2B5EF4-FFF2-40B4-BE49-F238E27FC236}">
                <a16:creationId xmlns:a16="http://schemas.microsoft.com/office/drawing/2014/main" id="{4766D5C6-8109-124F-B626-06E79E80017D}"/>
              </a:ext>
            </a:extLst>
          </p:cNvPr>
          <p:cNvSpPr/>
          <p:nvPr/>
        </p:nvSpPr>
        <p:spPr>
          <a:xfrm>
            <a:off x="6264275" y="4117975"/>
            <a:ext cx="387350"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22" name="Rectangle 21">
            <a:extLst>
              <a:ext uri="{FF2B5EF4-FFF2-40B4-BE49-F238E27FC236}">
                <a16:creationId xmlns:a16="http://schemas.microsoft.com/office/drawing/2014/main" id="{70A80258-E345-C74C-B432-CC8D1FC5A5F7}"/>
              </a:ext>
            </a:extLst>
          </p:cNvPr>
          <p:cNvSpPr/>
          <p:nvPr/>
        </p:nvSpPr>
        <p:spPr>
          <a:xfrm>
            <a:off x="6651625" y="4117975"/>
            <a:ext cx="388938"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23" name="Rectangle 22">
            <a:extLst>
              <a:ext uri="{FF2B5EF4-FFF2-40B4-BE49-F238E27FC236}">
                <a16:creationId xmlns:a16="http://schemas.microsoft.com/office/drawing/2014/main" id="{9B0A7DD5-7C08-C04C-BEE5-2F76ACCDC461}"/>
              </a:ext>
            </a:extLst>
          </p:cNvPr>
          <p:cNvSpPr/>
          <p:nvPr/>
        </p:nvSpPr>
        <p:spPr>
          <a:xfrm>
            <a:off x="7040563" y="4117975"/>
            <a:ext cx="388937"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24" name="Rectangle 23">
            <a:extLst>
              <a:ext uri="{FF2B5EF4-FFF2-40B4-BE49-F238E27FC236}">
                <a16:creationId xmlns:a16="http://schemas.microsoft.com/office/drawing/2014/main" id="{F6695496-1C59-EC4F-9E84-06FCFDEAF9FC}"/>
              </a:ext>
            </a:extLst>
          </p:cNvPr>
          <p:cNvSpPr/>
          <p:nvPr/>
        </p:nvSpPr>
        <p:spPr>
          <a:xfrm>
            <a:off x="7429500" y="4117975"/>
            <a:ext cx="388938"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25" name="Rectangle 24">
            <a:extLst>
              <a:ext uri="{FF2B5EF4-FFF2-40B4-BE49-F238E27FC236}">
                <a16:creationId xmlns:a16="http://schemas.microsoft.com/office/drawing/2014/main" id="{578DAB97-0D34-8D41-A08A-47C4D619481B}"/>
              </a:ext>
            </a:extLst>
          </p:cNvPr>
          <p:cNvSpPr/>
          <p:nvPr/>
        </p:nvSpPr>
        <p:spPr>
          <a:xfrm>
            <a:off x="2571750" y="2759075"/>
            <a:ext cx="388938"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4</a:t>
            </a:r>
          </a:p>
        </p:txBody>
      </p:sp>
      <p:sp>
        <p:nvSpPr>
          <p:cNvPr id="26" name="Rectangle 25">
            <a:extLst>
              <a:ext uri="{FF2B5EF4-FFF2-40B4-BE49-F238E27FC236}">
                <a16:creationId xmlns:a16="http://schemas.microsoft.com/office/drawing/2014/main" id="{DA979283-D54C-2146-8753-8E836346856D}"/>
              </a:ext>
            </a:extLst>
          </p:cNvPr>
          <p:cNvSpPr/>
          <p:nvPr/>
        </p:nvSpPr>
        <p:spPr>
          <a:xfrm>
            <a:off x="2960688" y="2759075"/>
            <a:ext cx="388937"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5</a:t>
            </a:r>
          </a:p>
        </p:txBody>
      </p:sp>
      <p:sp>
        <p:nvSpPr>
          <p:cNvPr id="27" name="Rectangle 26">
            <a:extLst>
              <a:ext uri="{FF2B5EF4-FFF2-40B4-BE49-F238E27FC236}">
                <a16:creationId xmlns:a16="http://schemas.microsoft.com/office/drawing/2014/main" id="{A641BFC1-C124-534C-9AC4-1D11C00E035B}"/>
              </a:ext>
            </a:extLst>
          </p:cNvPr>
          <p:cNvSpPr/>
          <p:nvPr/>
        </p:nvSpPr>
        <p:spPr>
          <a:xfrm>
            <a:off x="3349625" y="2759075"/>
            <a:ext cx="387350"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6</a:t>
            </a:r>
          </a:p>
        </p:txBody>
      </p:sp>
      <p:sp>
        <p:nvSpPr>
          <p:cNvPr id="28" name="Rectangle 27">
            <a:extLst>
              <a:ext uri="{FF2B5EF4-FFF2-40B4-BE49-F238E27FC236}">
                <a16:creationId xmlns:a16="http://schemas.microsoft.com/office/drawing/2014/main" id="{75EC848E-B3FB-9E46-8F79-D2CBABA5C4CD}"/>
              </a:ext>
            </a:extLst>
          </p:cNvPr>
          <p:cNvSpPr/>
          <p:nvPr/>
        </p:nvSpPr>
        <p:spPr>
          <a:xfrm>
            <a:off x="3736975" y="2759075"/>
            <a:ext cx="388938"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7</a:t>
            </a:r>
          </a:p>
        </p:txBody>
      </p:sp>
      <p:sp>
        <p:nvSpPr>
          <p:cNvPr id="29" name="Rectangle 28">
            <a:extLst>
              <a:ext uri="{FF2B5EF4-FFF2-40B4-BE49-F238E27FC236}">
                <a16:creationId xmlns:a16="http://schemas.microsoft.com/office/drawing/2014/main" id="{3E644A32-EBAF-284B-86EF-99A99ED9F041}"/>
              </a:ext>
            </a:extLst>
          </p:cNvPr>
          <p:cNvSpPr/>
          <p:nvPr/>
        </p:nvSpPr>
        <p:spPr>
          <a:xfrm>
            <a:off x="4125913" y="2759075"/>
            <a:ext cx="388937"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8</a:t>
            </a:r>
          </a:p>
        </p:txBody>
      </p:sp>
      <p:sp>
        <p:nvSpPr>
          <p:cNvPr id="30" name="Rectangle 29">
            <a:extLst>
              <a:ext uri="{FF2B5EF4-FFF2-40B4-BE49-F238E27FC236}">
                <a16:creationId xmlns:a16="http://schemas.microsoft.com/office/drawing/2014/main" id="{8875AFBA-4BB6-0D42-AFAA-3743968DEAEE}"/>
              </a:ext>
            </a:extLst>
          </p:cNvPr>
          <p:cNvSpPr/>
          <p:nvPr/>
        </p:nvSpPr>
        <p:spPr>
          <a:xfrm>
            <a:off x="4514850" y="2759075"/>
            <a:ext cx="388938"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9</a:t>
            </a:r>
          </a:p>
        </p:txBody>
      </p:sp>
      <p:sp>
        <p:nvSpPr>
          <p:cNvPr id="31" name="Rectangle 30">
            <a:extLst>
              <a:ext uri="{FF2B5EF4-FFF2-40B4-BE49-F238E27FC236}">
                <a16:creationId xmlns:a16="http://schemas.microsoft.com/office/drawing/2014/main" id="{076EFB86-85F0-1F41-BE1C-E0CA128397AA}"/>
              </a:ext>
            </a:extLst>
          </p:cNvPr>
          <p:cNvSpPr/>
          <p:nvPr/>
        </p:nvSpPr>
        <p:spPr>
          <a:xfrm>
            <a:off x="4903788" y="2759075"/>
            <a:ext cx="388937"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10</a:t>
            </a:r>
          </a:p>
        </p:txBody>
      </p:sp>
      <p:sp>
        <p:nvSpPr>
          <p:cNvPr id="32" name="Rectangle 31">
            <a:extLst>
              <a:ext uri="{FF2B5EF4-FFF2-40B4-BE49-F238E27FC236}">
                <a16:creationId xmlns:a16="http://schemas.microsoft.com/office/drawing/2014/main" id="{8B6680A6-D5D7-E740-8A1C-8E7DD22E41AA}"/>
              </a:ext>
            </a:extLst>
          </p:cNvPr>
          <p:cNvSpPr/>
          <p:nvPr/>
        </p:nvSpPr>
        <p:spPr>
          <a:xfrm>
            <a:off x="5292725" y="2759075"/>
            <a:ext cx="387350"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11</a:t>
            </a:r>
          </a:p>
        </p:txBody>
      </p:sp>
      <p:sp>
        <p:nvSpPr>
          <p:cNvPr id="33" name="Rectangle 32">
            <a:extLst>
              <a:ext uri="{FF2B5EF4-FFF2-40B4-BE49-F238E27FC236}">
                <a16:creationId xmlns:a16="http://schemas.microsoft.com/office/drawing/2014/main" id="{578D821B-CFB6-794D-B12E-C9DB600E6DEA}"/>
              </a:ext>
            </a:extLst>
          </p:cNvPr>
          <p:cNvSpPr/>
          <p:nvPr/>
        </p:nvSpPr>
        <p:spPr>
          <a:xfrm>
            <a:off x="5680075" y="2759075"/>
            <a:ext cx="388938"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12</a:t>
            </a:r>
          </a:p>
        </p:txBody>
      </p:sp>
      <p:sp>
        <p:nvSpPr>
          <p:cNvPr id="34" name="Rectangle 33">
            <a:extLst>
              <a:ext uri="{FF2B5EF4-FFF2-40B4-BE49-F238E27FC236}">
                <a16:creationId xmlns:a16="http://schemas.microsoft.com/office/drawing/2014/main" id="{63E4E294-3A54-9B40-B6EB-4C9D8CE2AC30}"/>
              </a:ext>
            </a:extLst>
          </p:cNvPr>
          <p:cNvSpPr/>
          <p:nvPr/>
        </p:nvSpPr>
        <p:spPr>
          <a:xfrm>
            <a:off x="6069013" y="2759075"/>
            <a:ext cx="388937"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13</a:t>
            </a:r>
          </a:p>
        </p:txBody>
      </p:sp>
      <p:sp>
        <p:nvSpPr>
          <p:cNvPr id="35" name="Rectangle 34">
            <a:extLst>
              <a:ext uri="{FF2B5EF4-FFF2-40B4-BE49-F238E27FC236}">
                <a16:creationId xmlns:a16="http://schemas.microsoft.com/office/drawing/2014/main" id="{6B855652-2015-B44A-8031-927A222EB748}"/>
              </a:ext>
            </a:extLst>
          </p:cNvPr>
          <p:cNvSpPr/>
          <p:nvPr/>
        </p:nvSpPr>
        <p:spPr>
          <a:xfrm>
            <a:off x="6457950" y="2759075"/>
            <a:ext cx="388938"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14</a:t>
            </a:r>
          </a:p>
        </p:txBody>
      </p:sp>
      <p:sp>
        <p:nvSpPr>
          <p:cNvPr id="36" name="Rectangle 35">
            <a:extLst>
              <a:ext uri="{FF2B5EF4-FFF2-40B4-BE49-F238E27FC236}">
                <a16:creationId xmlns:a16="http://schemas.microsoft.com/office/drawing/2014/main" id="{FC042EF1-895C-4B47-B45B-E1F9560C44DC}"/>
              </a:ext>
            </a:extLst>
          </p:cNvPr>
          <p:cNvSpPr/>
          <p:nvPr/>
        </p:nvSpPr>
        <p:spPr>
          <a:xfrm>
            <a:off x="6846888" y="2759075"/>
            <a:ext cx="388937" cy="303213"/>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15</a:t>
            </a:r>
          </a:p>
        </p:txBody>
      </p:sp>
      <p:sp>
        <p:nvSpPr>
          <p:cNvPr id="37" name="Rectangle 36">
            <a:extLst>
              <a:ext uri="{FF2B5EF4-FFF2-40B4-BE49-F238E27FC236}">
                <a16:creationId xmlns:a16="http://schemas.microsoft.com/office/drawing/2014/main" id="{E6DA8435-186F-5848-A7BD-BA0E765B254F}"/>
              </a:ext>
            </a:extLst>
          </p:cNvPr>
          <p:cNvSpPr/>
          <p:nvPr/>
        </p:nvSpPr>
        <p:spPr>
          <a:xfrm>
            <a:off x="1017588" y="3213100"/>
            <a:ext cx="388937"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0</a:t>
            </a:r>
          </a:p>
        </p:txBody>
      </p:sp>
      <p:sp>
        <p:nvSpPr>
          <p:cNvPr id="38" name="Rectangle 37">
            <a:extLst>
              <a:ext uri="{FF2B5EF4-FFF2-40B4-BE49-F238E27FC236}">
                <a16:creationId xmlns:a16="http://schemas.microsoft.com/office/drawing/2014/main" id="{8A52B0D6-A4E9-9C41-8FFF-B749E03A133D}"/>
              </a:ext>
            </a:extLst>
          </p:cNvPr>
          <p:cNvSpPr/>
          <p:nvPr/>
        </p:nvSpPr>
        <p:spPr>
          <a:xfrm>
            <a:off x="1406525" y="3213100"/>
            <a:ext cx="387350"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1</a:t>
            </a:r>
          </a:p>
        </p:txBody>
      </p:sp>
      <p:sp>
        <p:nvSpPr>
          <p:cNvPr id="39" name="Rectangle 38">
            <a:extLst>
              <a:ext uri="{FF2B5EF4-FFF2-40B4-BE49-F238E27FC236}">
                <a16:creationId xmlns:a16="http://schemas.microsoft.com/office/drawing/2014/main" id="{0F98498B-86D9-CB42-94D5-B77FDCA1CDD8}"/>
              </a:ext>
            </a:extLst>
          </p:cNvPr>
          <p:cNvSpPr/>
          <p:nvPr/>
        </p:nvSpPr>
        <p:spPr>
          <a:xfrm>
            <a:off x="1793875" y="3213100"/>
            <a:ext cx="388938"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2</a:t>
            </a:r>
          </a:p>
        </p:txBody>
      </p:sp>
      <p:sp>
        <p:nvSpPr>
          <p:cNvPr id="40" name="Rectangle 39">
            <a:extLst>
              <a:ext uri="{FF2B5EF4-FFF2-40B4-BE49-F238E27FC236}">
                <a16:creationId xmlns:a16="http://schemas.microsoft.com/office/drawing/2014/main" id="{705F7735-1DF1-1F41-B344-4780621CE59F}"/>
              </a:ext>
            </a:extLst>
          </p:cNvPr>
          <p:cNvSpPr/>
          <p:nvPr/>
        </p:nvSpPr>
        <p:spPr>
          <a:xfrm>
            <a:off x="2182813" y="3213100"/>
            <a:ext cx="388937"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3</a:t>
            </a:r>
          </a:p>
        </p:txBody>
      </p:sp>
      <p:sp>
        <p:nvSpPr>
          <p:cNvPr id="41" name="Rectangle 40">
            <a:extLst>
              <a:ext uri="{FF2B5EF4-FFF2-40B4-BE49-F238E27FC236}">
                <a16:creationId xmlns:a16="http://schemas.microsoft.com/office/drawing/2014/main" id="{4C06ADC5-3B9C-0844-B352-50AEE8302127}"/>
              </a:ext>
            </a:extLst>
          </p:cNvPr>
          <p:cNvSpPr/>
          <p:nvPr/>
        </p:nvSpPr>
        <p:spPr>
          <a:xfrm>
            <a:off x="2571750" y="3213100"/>
            <a:ext cx="388938"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4</a:t>
            </a:r>
          </a:p>
        </p:txBody>
      </p:sp>
      <p:sp>
        <p:nvSpPr>
          <p:cNvPr id="42" name="Rectangle 41">
            <a:extLst>
              <a:ext uri="{FF2B5EF4-FFF2-40B4-BE49-F238E27FC236}">
                <a16:creationId xmlns:a16="http://schemas.microsoft.com/office/drawing/2014/main" id="{E3213785-59AF-794A-847C-63D5FD4AFA76}"/>
              </a:ext>
            </a:extLst>
          </p:cNvPr>
          <p:cNvSpPr/>
          <p:nvPr/>
        </p:nvSpPr>
        <p:spPr>
          <a:xfrm>
            <a:off x="2960688" y="3213100"/>
            <a:ext cx="388937"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5</a:t>
            </a:r>
          </a:p>
        </p:txBody>
      </p:sp>
      <p:sp>
        <p:nvSpPr>
          <p:cNvPr id="43" name="Rectangle 42">
            <a:extLst>
              <a:ext uri="{FF2B5EF4-FFF2-40B4-BE49-F238E27FC236}">
                <a16:creationId xmlns:a16="http://schemas.microsoft.com/office/drawing/2014/main" id="{B7CD4457-8F81-734F-AA09-57A47AB5832B}"/>
              </a:ext>
            </a:extLst>
          </p:cNvPr>
          <p:cNvSpPr/>
          <p:nvPr/>
        </p:nvSpPr>
        <p:spPr>
          <a:xfrm>
            <a:off x="3349625" y="3213100"/>
            <a:ext cx="387350"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6</a:t>
            </a:r>
          </a:p>
        </p:txBody>
      </p:sp>
      <p:sp>
        <p:nvSpPr>
          <p:cNvPr id="44" name="Rectangle 43">
            <a:extLst>
              <a:ext uri="{FF2B5EF4-FFF2-40B4-BE49-F238E27FC236}">
                <a16:creationId xmlns:a16="http://schemas.microsoft.com/office/drawing/2014/main" id="{B8F3CC07-668B-D245-AAA3-D5021B8745BD}"/>
              </a:ext>
            </a:extLst>
          </p:cNvPr>
          <p:cNvSpPr/>
          <p:nvPr/>
        </p:nvSpPr>
        <p:spPr>
          <a:xfrm>
            <a:off x="3736975" y="3213100"/>
            <a:ext cx="388938"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7</a:t>
            </a:r>
          </a:p>
        </p:txBody>
      </p:sp>
      <p:sp>
        <p:nvSpPr>
          <p:cNvPr id="45" name="Rectangle 44">
            <a:extLst>
              <a:ext uri="{FF2B5EF4-FFF2-40B4-BE49-F238E27FC236}">
                <a16:creationId xmlns:a16="http://schemas.microsoft.com/office/drawing/2014/main" id="{56E4C541-E56C-D743-A011-697091598A52}"/>
              </a:ext>
            </a:extLst>
          </p:cNvPr>
          <p:cNvSpPr/>
          <p:nvPr/>
        </p:nvSpPr>
        <p:spPr>
          <a:xfrm>
            <a:off x="4125913" y="3213100"/>
            <a:ext cx="388937"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8</a:t>
            </a:r>
          </a:p>
        </p:txBody>
      </p:sp>
      <p:sp>
        <p:nvSpPr>
          <p:cNvPr id="46" name="Rectangle 45">
            <a:extLst>
              <a:ext uri="{FF2B5EF4-FFF2-40B4-BE49-F238E27FC236}">
                <a16:creationId xmlns:a16="http://schemas.microsoft.com/office/drawing/2014/main" id="{EC1B42CC-7DB2-2642-BE5F-5867236ED8B1}"/>
              </a:ext>
            </a:extLst>
          </p:cNvPr>
          <p:cNvSpPr/>
          <p:nvPr/>
        </p:nvSpPr>
        <p:spPr>
          <a:xfrm>
            <a:off x="4514850" y="3213100"/>
            <a:ext cx="388938"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9</a:t>
            </a:r>
          </a:p>
        </p:txBody>
      </p:sp>
      <p:sp>
        <p:nvSpPr>
          <p:cNvPr id="47" name="Rectangle 46">
            <a:extLst>
              <a:ext uri="{FF2B5EF4-FFF2-40B4-BE49-F238E27FC236}">
                <a16:creationId xmlns:a16="http://schemas.microsoft.com/office/drawing/2014/main" id="{A5782D08-DC76-A448-A8A7-A8CE1AFC4BD5}"/>
              </a:ext>
            </a:extLst>
          </p:cNvPr>
          <p:cNvSpPr/>
          <p:nvPr/>
        </p:nvSpPr>
        <p:spPr>
          <a:xfrm>
            <a:off x="4903788" y="3213100"/>
            <a:ext cx="388937"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10</a:t>
            </a:r>
          </a:p>
        </p:txBody>
      </p:sp>
      <p:sp>
        <p:nvSpPr>
          <p:cNvPr id="48" name="Rectangle 47">
            <a:extLst>
              <a:ext uri="{FF2B5EF4-FFF2-40B4-BE49-F238E27FC236}">
                <a16:creationId xmlns:a16="http://schemas.microsoft.com/office/drawing/2014/main" id="{F3F3F008-7BD3-B24E-AB15-5BEFD7932659}"/>
              </a:ext>
            </a:extLst>
          </p:cNvPr>
          <p:cNvSpPr/>
          <p:nvPr/>
        </p:nvSpPr>
        <p:spPr>
          <a:xfrm>
            <a:off x="5292725" y="3213100"/>
            <a:ext cx="387350"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11</a:t>
            </a:r>
          </a:p>
        </p:txBody>
      </p:sp>
      <p:sp>
        <p:nvSpPr>
          <p:cNvPr id="49" name="Rectangle 48">
            <a:extLst>
              <a:ext uri="{FF2B5EF4-FFF2-40B4-BE49-F238E27FC236}">
                <a16:creationId xmlns:a16="http://schemas.microsoft.com/office/drawing/2014/main" id="{30BD9733-C965-D84A-9DE8-0DEEBF44DCB3}"/>
              </a:ext>
            </a:extLst>
          </p:cNvPr>
          <p:cNvSpPr/>
          <p:nvPr/>
        </p:nvSpPr>
        <p:spPr>
          <a:xfrm>
            <a:off x="5680075" y="3213100"/>
            <a:ext cx="388938"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12</a:t>
            </a:r>
          </a:p>
        </p:txBody>
      </p:sp>
      <p:sp>
        <p:nvSpPr>
          <p:cNvPr id="50" name="Rectangle 49">
            <a:extLst>
              <a:ext uri="{FF2B5EF4-FFF2-40B4-BE49-F238E27FC236}">
                <a16:creationId xmlns:a16="http://schemas.microsoft.com/office/drawing/2014/main" id="{3681B00A-76A6-D34C-B034-CD2EC6CBC7D9}"/>
              </a:ext>
            </a:extLst>
          </p:cNvPr>
          <p:cNvSpPr/>
          <p:nvPr/>
        </p:nvSpPr>
        <p:spPr>
          <a:xfrm>
            <a:off x="6069013" y="3213100"/>
            <a:ext cx="388937"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13</a:t>
            </a:r>
          </a:p>
        </p:txBody>
      </p:sp>
      <p:sp>
        <p:nvSpPr>
          <p:cNvPr id="51" name="Rectangle 50">
            <a:extLst>
              <a:ext uri="{FF2B5EF4-FFF2-40B4-BE49-F238E27FC236}">
                <a16:creationId xmlns:a16="http://schemas.microsoft.com/office/drawing/2014/main" id="{42C8E07E-9068-324A-95AF-FD148A847E24}"/>
              </a:ext>
            </a:extLst>
          </p:cNvPr>
          <p:cNvSpPr/>
          <p:nvPr/>
        </p:nvSpPr>
        <p:spPr>
          <a:xfrm>
            <a:off x="6457950" y="3213100"/>
            <a:ext cx="388938"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14</a:t>
            </a:r>
          </a:p>
        </p:txBody>
      </p:sp>
      <p:sp>
        <p:nvSpPr>
          <p:cNvPr id="52" name="Rectangle 51">
            <a:extLst>
              <a:ext uri="{FF2B5EF4-FFF2-40B4-BE49-F238E27FC236}">
                <a16:creationId xmlns:a16="http://schemas.microsoft.com/office/drawing/2014/main" id="{863F6255-6BCE-454A-B92D-FF69A3309D96}"/>
              </a:ext>
            </a:extLst>
          </p:cNvPr>
          <p:cNvSpPr/>
          <p:nvPr/>
        </p:nvSpPr>
        <p:spPr>
          <a:xfrm>
            <a:off x="6846888" y="3213100"/>
            <a:ext cx="388937"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Tahoma"/>
                <a:ea typeface="+mn-ea"/>
                <a:cs typeface="+mn-cs"/>
              </a:rPr>
              <a:t>15</a:t>
            </a:r>
          </a:p>
        </p:txBody>
      </p:sp>
      <p:sp>
        <p:nvSpPr>
          <p:cNvPr id="53" name="Rectangle 52">
            <a:extLst>
              <a:ext uri="{FF2B5EF4-FFF2-40B4-BE49-F238E27FC236}">
                <a16:creationId xmlns:a16="http://schemas.microsoft.com/office/drawing/2014/main" id="{B16BFF32-824C-6042-950C-98E725E229A5}"/>
              </a:ext>
            </a:extLst>
          </p:cNvPr>
          <p:cNvSpPr/>
          <p:nvPr/>
        </p:nvSpPr>
        <p:spPr>
          <a:xfrm>
            <a:off x="498475" y="4572000"/>
            <a:ext cx="388938"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54" name="Rectangle 53">
            <a:extLst>
              <a:ext uri="{FF2B5EF4-FFF2-40B4-BE49-F238E27FC236}">
                <a16:creationId xmlns:a16="http://schemas.microsoft.com/office/drawing/2014/main" id="{8E95D9B0-32DD-4946-B59E-50D036F6F7B5}"/>
              </a:ext>
            </a:extLst>
          </p:cNvPr>
          <p:cNvSpPr/>
          <p:nvPr/>
        </p:nvSpPr>
        <p:spPr>
          <a:xfrm>
            <a:off x="887413" y="4572000"/>
            <a:ext cx="388937"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55" name="Rectangle 54">
            <a:extLst>
              <a:ext uri="{FF2B5EF4-FFF2-40B4-BE49-F238E27FC236}">
                <a16:creationId xmlns:a16="http://schemas.microsoft.com/office/drawing/2014/main" id="{F6E4657E-BF75-7244-8F0F-C5EE5B78877E}"/>
              </a:ext>
            </a:extLst>
          </p:cNvPr>
          <p:cNvSpPr/>
          <p:nvPr/>
        </p:nvSpPr>
        <p:spPr>
          <a:xfrm>
            <a:off x="1276350" y="4572000"/>
            <a:ext cx="388938"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56" name="Rectangle 55">
            <a:extLst>
              <a:ext uri="{FF2B5EF4-FFF2-40B4-BE49-F238E27FC236}">
                <a16:creationId xmlns:a16="http://schemas.microsoft.com/office/drawing/2014/main" id="{F4DFD4EA-F996-5449-8F78-D71AD32C0BC1}"/>
              </a:ext>
            </a:extLst>
          </p:cNvPr>
          <p:cNvSpPr/>
          <p:nvPr/>
        </p:nvSpPr>
        <p:spPr>
          <a:xfrm>
            <a:off x="1665288" y="4572000"/>
            <a:ext cx="388937"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57" name="Rectangle 56">
            <a:extLst>
              <a:ext uri="{FF2B5EF4-FFF2-40B4-BE49-F238E27FC236}">
                <a16:creationId xmlns:a16="http://schemas.microsoft.com/office/drawing/2014/main" id="{86DD4187-CBAF-B846-84D1-034E5CF2C377}"/>
              </a:ext>
            </a:extLst>
          </p:cNvPr>
          <p:cNvSpPr/>
          <p:nvPr/>
        </p:nvSpPr>
        <p:spPr>
          <a:xfrm>
            <a:off x="2441575" y="4572000"/>
            <a:ext cx="388938"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58" name="Rectangle 57">
            <a:extLst>
              <a:ext uri="{FF2B5EF4-FFF2-40B4-BE49-F238E27FC236}">
                <a16:creationId xmlns:a16="http://schemas.microsoft.com/office/drawing/2014/main" id="{B22D04DE-50F6-314E-8E2E-CA7FEFDCE48E}"/>
              </a:ext>
            </a:extLst>
          </p:cNvPr>
          <p:cNvSpPr/>
          <p:nvPr/>
        </p:nvSpPr>
        <p:spPr>
          <a:xfrm>
            <a:off x="2830513" y="4572000"/>
            <a:ext cx="388937"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59" name="Rectangle 58">
            <a:extLst>
              <a:ext uri="{FF2B5EF4-FFF2-40B4-BE49-F238E27FC236}">
                <a16:creationId xmlns:a16="http://schemas.microsoft.com/office/drawing/2014/main" id="{466CF78B-E557-EA47-A8B2-25AC275BBFF3}"/>
              </a:ext>
            </a:extLst>
          </p:cNvPr>
          <p:cNvSpPr/>
          <p:nvPr/>
        </p:nvSpPr>
        <p:spPr>
          <a:xfrm>
            <a:off x="3219450" y="4572000"/>
            <a:ext cx="388938"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60" name="Rectangle 59">
            <a:extLst>
              <a:ext uri="{FF2B5EF4-FFF2-40B4-BE49-F238E27FC236}">
                <a16:creationId xmlns:a16="http://schemas.microsoft.com/office/drawing/2014/main" id="{64638EEF-316B-3D4F-96BF-9FCD83332EBA}"/>
              </a:ext>
            </a:extLst>
          </p:cNvPr>
          <p:cNvSpPr/>
          <p:nvPr/>
        </p:nvSpPr>
        <p:spPr>
          <a:xfrm>
            <a:off x="3608388" y="4572000"/>
            <a:ext cx="388937"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61" name="Rectangle 60">
            <a:extLst>
              <a:ext uri="{FF2B5EF4-FFF2-40B4-BE49-F238E27FC236}">
                <a16:creationId xmlns:a16="http://schemas.microsoft.com/office/drawing/2014/main" id="{14B443E5-5682-FB4F-BE68-5C73C597FF64}"/>
              </a:ext>
            </a:extLst>
          </p:cNvPr>
          <p:cNvSpPr/>
          <p:nvPr/>
        </p:nvSpPr>
        <p:spPr>
          <a:xfrm>
            <a:off x="4321175" y="4572000"/>
            <a:ext cx="387350"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62" name="Rectangle 61">
            <a:extLst>
              <a:ext uri="{FF2B5EF4-FFF2-40B4-BE49-F238E27FC236}">
                <a16:creationId xmlns:a16="http://schemas.microsoft.com/office/drawing/2014/main" id="{F8BC56A1-3AB0-2445-8A4A-5063103125BB}"/>
              </a:ext>
            </a:extLst>
          </p:cNvPr>
          <p:cNvSpPr/>
          <p:nvPr/>
        </p:nvSpPr>
        <p:spPr>
          <a:xfrm>
            <a:off x="4708525" y="4572000"/>
            <a:ext cx="388938"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63" name="Rectangle 62">
            <a:extLst>
              <a:ext uri="{FF2B5EF4-FFF2-40B4-BE49-F238E27FC236}">
                <a16:creationId xmlns:a16="http://schemas.microsoft.com/office/drawing/2014/main" id="{D9A1F0B1-97EB-5548-8662-9F764492B036}"/>
              </a:ext>
            </a:extLst>
          </p:cNvPr>
          <p:cNvSpPr/>
          <p:nvPr/>
        </p:nvSpPr>
        <p:spPr>
          <a:xfrm>
            <a:off x="5097463" y="4572000"/>
            <a:ext cx="388937"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64" name="Rectangle 63">
            <a:extLst>
              <a:ext uri="{FF2B5EF4-FFF2-40B4-BE49-F238E27FC236}">
                <a16:creationId xmlns:a16="http://schemas.microsoft.com/office/drawing/2014/main" id="{FDE3756D-789D-A84F-A57A-9B62617832A8}"/>
              </a:ext>
            </a:extLst>
          </p:cNvPr>
          <p:cNvSpPr/>
          <p:nvPr/>
        </p:nvSpPr>
        <p:spPr>
          <a:xfrm>
            <a:off x="5486400" y="4572000"/>
            <a:ext cx="388938"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65" name="Rectangle 64">
            <a:extLst>
              <a:ext uri="{FF2B5EF4-FFF2-40B4-BE49-F238E27FC236}">
                <a16:creationId xmlns:a16="http://schemas.microsoft.com/office/drawing/2014/main" id="{6ACB2964-3E28-8B46-B7EB-E12D1F854D03}"/>
              </a:ext>
            </a:extLst>
          </p:cNvPr>
          <p:cNvSpPr/>
          <p:nvPr/>
        </p:nvSpPr>
        <p:spPr>
          <a:xfrm>
            <a:off x="6264275" y="4572000"/>
            <a:ext cx="387350"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66" name="Rectangle 65">
            <a:extLst>
              <a:ext uri="{FF2B5EF4-FFF2-40B4-BE49-F238E27FC236}">
                <a16:creationId xmlns:a16="http://schemas.microsoft.com/office/drawing/2014/main" id="{9839DF7C-0D0E-6A40-936A-842336F7DBE4}"/>
              </a:ext>
            </a:extLst>
          </p:cNvPr>
          <p:cNvSpPr/>
          <p:nvPr/>
        </p:nvSpPr>
        <p:spPr>
          <a:xfrm>
            <a:off x="6651625" y="4572000"/>
            <a:ext cx="388938"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67" name="Rectangle 66">
            <a:extLst>
              <a:ext uri="{FF2B5EF4-FFF2-40B4-BE49-F238E27FC236}">
                <a16:creationId xmlns:a16="http://schemas.microsoft.com/office/drawing/2014/main" id="{2DDEBCEE-403C-4543-894B-9BD70E88B0AF}"/>
              </a:ext>
            </a:extLst>
          </p:cNvPr>
          <p:cNvSpPr/>
          <p:nvPr/>
        </p:nvSpPr>
        <p:spPr>
          <a:xfrm>
            <a:off x="7040563" y="4572000"/>
            <a:ext cx="388937"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68" name="Rectangle 67">
            <a:extLst>
              <a:ext uri="{FF2B5EF4-FFF2-40B4-BE49-F238E27FC236}">
                <a16:creationId xmlns:a16="http://schemas.microsoft.com/office/drawing/2014/main" id="{BBEBFA62-7693-104C-BAB2-53E3F2E70341}"/>
              </a:ext>
            </a:extLst>
          </p:cNvPr>
          <p:cNvSpPr/>
          <p:nvPr/>
        </p:nvSpPr>
        <p:spPr>
          <a:xfrm>
            <a:off x="7429500" y="4572000"/>
            <a:ext cx="388938" cy="30162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ahoma"/>
              <a:ea typeface="+mn-ea"/>
              <a:cs typeface="+mn-cs"/>
            </a:endParaRPr>
          </a:p>
        </p:txBody>
      </p:sp>
      <p:sp>
        <p:nvSpPr>
          <p:cNvPr id="68676" name="TextBox 70">
            <a:extLst>
              <a:ext uri="{FF2B5EF4-FFF2-40B4-BE49-F238E27FC236}">
                <a16:creationId xmlns:a16="http://schemas.microsoft.com/office/drawing/2014/main" id="{2E8345C5-37CA-794B-8489-7C8AC96C6917}"/>
              </a:ext>
            </a:extLst>
          </p:cNvPr>
          <p:cNvSpPr txBox="1">
            <a:spLocks noChangeArrowheads="1"/>
          </p:cNvSpPr>
          <p:nvPr/>
        </p:nvSpPr>
        <p:spPr bwMode="auto">
          <a:xfrm>
            <a:off x="563563" y="2960688"/>
            <a:ext cx="365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t>
            </a:r>
          </a:p>
        </p:txBody>
      </p:sp>
      <p:sp>
        <p:nvSpPr>
          <p:cNvPr id="68677" name="TextBox 73">
            <a:extLst>
              <a:ext uri="{FF2B5EF4-FFF2-40B4-BE49-F238E27FC236}">
                <a16:creationId xmlns:a16="http://schemas.microsoft.com/office/drawing/2014/main" id="{E9C9EA99-BFD9-0141-93C0-EBD2599E69FE}"/>
              </a:ext>
            </a:extLst>
          </p:cNvPr>
          <p:cNvSpPr txBox="1">
            <a:spLocks noChangeArrowheads="1"/>
          </p:cNvSpPr>
          <p:nvPr/>
        </p:nvSpPr>
        <p:spPr bwMode="auto">
          <a:xfrm>
            <a:off x="304800" y="4319588"/>
            <a:ext cx="333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t>
            </a:r>
          </a:p>
        </p:txBody>
      </p:sp>
      <p:sp>
        <p:nvSpPr>
          <p:cNvPr id="68678" name="Freeform 10">
            <a:extLst>
              <a:ext uri="{FF2B5EF4-FFF2-40B4-BE49-F238E27FC236}">
                <a16:creationId xmlns:a16="http://schemas.microsoft.com/office/drawing/2014/main" id="{785210B4-2EB6-5848-8F0F-3E837E628714}"/>
              </a:ext>
            </a:extLst>
          </p:cNvPr>
          <p:cNvSpPr>
            <a:spLocks/>
          </p:cNvSpPr>
          <p:nvPr/>
        </p:nvSpPr>
        <p:spPr bwMode="auto">
          <a:xfrm>
            <a:off x="563563" y="4068763"/>
            <a:ext cx="276225" cy="852487"/>
          </a:xfrm>
          <a:custGeom>
            <a:avLst/>
            <a:gdLst>
              <a:gd name="T0" fmla="*/ 2147483647 w 208"/>
              <a:gd name="T1" fmla="*/ 0 h 1536"/>
              <a:gd name="T2" fmla="*/ 2147483647 w 208"/>
              <a:gd name="T3" fmla="*/ 2147483647 h 1536"/>
              <a:gd name="T4" fmla="*/ 2147483647 w 208"/>
              <a:gd name="T5" fmla="*/ 2147483647 h 1536"/>
              <a:gd name="T6" fmla="*/ 2147483647 w 208"/>
              <a:gd name="T7" fmla="*/ 2147483647 h 1536"/>
              <a:gd name="T8" fmla="*/ 2147483647 w 208"/>
              <a:gd name="T9" fmla="*/ 2147483647 h 1536"/>
              <a:gd name="T10" fmla="*/ 2147483647 w 208"/>
              <a:gd name="T11" fmla="*/ 2147483647 h 1536"/>
              <a:gd name="T12" fmla="*/ 2147483647 w 208"/>
              <a:gd name="T13" fmla="*/ 2147483647 h 1536"/>
              <a:gd name="T14" fmla="*/ 2147483647 w 208"/>
              <a:gd name="T15" fmla="*/ 2147483647 h 1536"/>
              <a:gd name="T16" fmla="*/ 2147483647 w 208"/>
              <a:gd name="T17" fmla="*/ 2147483647 h 1536"/>
              <a:gd name="T18" fmla="*/ 2147483647 w 208"/>
              <a:gd name="T19" fmla="*/ 2147483647 h 1536"/>
              <a:gd name="T20" fmla="*/ 2147483647 w 208"/>
              <a:gd name="T21" fmla="*/ 2147483647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679" name="Freeform 11">
            <a:extLst>
              <a:ext uri="{FF2B5EF4-FFF2-40B4-BE49-F238E27FC236}">
                <a16:creationId xmlns:a16="http://schemas.microsoft.com/office/drawing/2014/main" id="{1E420989-498F-EB4B-87CB-B0844E64CAC7}"/>
              </a:ext>
            </a:extLst>
          </p:cNvPr>
          <p:cNvSpPr>
            <a:spLocks/>
          </p:cNvSpPr>
          <p:nvPr/>
        </p:nvSpPr>
        <p:spPr bwMode="auto">
          <a:xfrm>
            <a:off x="952500" y="4068763"/>
            <a:ext cx="276225" cy="852487"/>
          </a:xfrm>
          <a:custGeom>
            <a:avLst/>
            <a:gdLst>
              <a:gd name="T0" fmla="*/ 2147483647 w 208"/>
              <a:gd name="T1" fmla="*/ 0 h 1536"/>
              <a:gd name="T2" fmla="*/ 2147483647 w 208"/>
              <a:gd name="T3" fmla="*/ 2147483647 h 1536"/>
              <a:gd name="T4" fmla="*/ 2147483647 w 208"/>
              <a:gd name="T5" fmla="*/ 2147483647 h 1536"/>
              <a:gd name="T6" fmla="*/ 2147483647 w 208"/>
              <a:gd name="T7" fmla="*/ 2147483647 h 1536"/>
              <a:gd name="T8" fmla="*/ 2147483647 w 208"/>
              <a:gd name="T9" fmla="*/ 2147483647 h 1536"/>
              <a:gd name="T10" fmla="*/ 2147483647 w 208"/>
              <a:gd name="T11" fmla="*/ 2147483647 h 1536"/>
              <a:gd name="T12" fmla="*/ 2147483647 w 208"/>
              <a:gd name="T13" fmla="*/ 2147483647 h 1536"/>
              <a:gd name="T14" fmla="*/ 2147483647 w 208"/>
              <a:gd name="T15" fmla="*/ 2147483647 h 1536"/>
              <a:gd name="T16" fmla="*/ 2147483647 w 208"/>
              <a:gd name="T17" fmla="*/ 2147483647 h 1536"/>
              <a:gd name="T18" fmla="*/ 2147483647 w 208"/>
              <a:gd name="T19" fmla="*/ 2147483647 h 1536"/>
              <a:gd name="T20" fmla="*/ 2147483647 w 208"/>
              <a:gd name="T21" fmla="*/ 2147483647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680" name="Freeform 12">
            <a:extLst>
              <a:ext uri="{FF2B5EF4-FFF2-40B4-BE49-F238E27FC236}">
                <a16:creationId xmlns:a16="http://schemas.microsoft.com/office/drawing/2014/main" id="{C92F0F44-9370-934C-ACAD-F4DCC120734E}"/>
              </a:ext>
            </a:extLst>
          </p:cNvPr>
          <p:cNvSpPr>
            <a:spLocks/>
          </p:cNvSpPr>
          <p:nvPr/>
        </p:nvSpPr>
        <p:spPr bwMode="auto">
          <a:xfrm>
            <a:off x="1341438" y="4068763"/>
            <a:ext cx="276225" cy="852487"/>
          </a:xfrm>
          <a:custGeom>
            <a:avLst/>
            <a:gdLst>
              <a:gd name="T0" fmla="*/ 2147483647 w 208"/>
              <a:gd name="T1" fmla="*/ 0 h 1536"/>
              <a:gd name="T2" fmla="*/ 2147483647 w 208"/>
              <a:gd name="T3" fmla="*/ 2147483647 h 1536"/>
              <a:gd name="T4" fmla="*/ 2147483647 w 208"/>
              <a:gd name="T5" fmla="*/ 2147483647 h 1536"/>
              <a:gd name="T6" fmla="*/ 2147483647 w 208"/>
              <a:gd name="T7" fmla="*/ 2147483647 h 1536"/>
              <a:gd name="T8" fmla="*/ 2147483647 w 208"/>
              <a:gd name="T9" fmla="*/ 2147483647 h 1536"/>
              <a:gd name="T10" fmla="*/ 2147483647 w 208"/>
              <a:gd name="T11" fmla="*/ 2147483647 h 1536"/>
              <a:gd name="T12" fmla="*/ 2147483647 w 208"/>
              <a:gd name="T13" fmla="*/ 2147483647 h 1536"/>
              <a:gd name="T14" fmla="*/ 2147483647 w 208"/>
              <a:gd name="T15" fmla="*/ 2147483647 h 1536"/>
              <a:gd name="T16" fmla="*/ 2147483647 w 208"/>
              <a:gd name="T17" fmla="*/ 2147483647 h 1536"/>
              <a:gd name="T18" fmla="*/ 2147483647 w 208"/>
              <a:gd name="T19" fmla="*/ 2147483647 h 1536"/>
              <a:gd name="T20" fmla="*/ 2147483647 w 208"/>
              <a:gd name="T21" fmla="*/ 2147483647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681" name="Freeform 14">
            <a:extLst>
              <a:ext uri="{FF2B5EF4-FFF2-40B4-BE49-F238E27FC236}">
                <a16:creationId xmlns:a16="http://schemas.microsoft.com/office/drawing/2014/main" id="{9547AC96-CC0C-4245-853A-E348B8A4EBE0}"/>
              </a:ext>
            </a:extLst>
          </p:cNvPr>
          <p:cNvSpPr>
            <a:spLocks/>
          </p:cNvSpPr>
          <p:nvPr/>
        </p:nvSpPr>
        <p:spPr bwMode="auto">
          <a:xfrm>
            <a:off x="1793875" y="4068763"/>
            <a:ext cx="274638" cy="852487"/>
          </a:xfrm>
          <a:custGeom>
            <a:avLst/>
            <a:gdLst>
              <a:gd name="T0" fmla="*/ 2147483647 w 208"/>
              <a:gd name="T1" fmla="*/ 0 h 1536"/>
              <a:gd name="T2" fmla="*/ 2147483647 w 208"/>
              <a:gd name="T3" fmla="*/ 2147483647 h 1536"/>
              <a:gd name="T4" fmla="*/ 2147483647 w 208"/>
              <a:gd name="T5" fmla="*/ 2147483647 h 1536"/>
              <a:gd name="T6" fmla="*/ 2147483647 w 208"/>
              <a:gd name="T7" fmla="*/ 2147483647 h 1536"/>
              <a:gd name="T8" fmla="*/ 2147483647 w 208"/>
              <a:gd name="T9" fmla="*/ 2147483647 h 1536"/>
              <a:gd name="T10" fmla="*/ 2147483647 w 208"/>
              <a:gd name="T11" fmla="*/ 2147483647 h 1536"/>
              <a:gd name="T12" fmla="*/ 2147483647 w 208"/>
              <a:gd name="T13" fmla="*/ 2147483647 h 1536"/>
              <a:gd name="T14" fmla="*/ 2147483647 w 208"/>
              <a:gd name="T15" fmla="*/ 2147483647 h 1536"/>
              <a:gd name="T16" fmla="*/ 2147483647 w 208"/>
              <a:gd name="T17" fmla="*/ 2147483647 h 1536"/>
              <a:gd name="T18" fmla="*/ 2147483647 w 208"/>
              <a:gd name="T19" fmla="*/ 2147483647 h 1536"/>
              <a:gd name="T20" fmla="*/ 2147483647 w 208"/>
              <a:gd name="T21" fmla="*/ 2147483647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682" name="TextBox 79">
            <a:extLst>
              <a:ext uri="{FF2B5EF4-FFF2-40B4-BE49-F238E27FC236}">
                <a16:creationId xmlns:a16="http://schemas.microsoft.com/office/drawing/2014/main" id="{5B2B7488-F538-FC42-AFF3-CCD4209F0D5E}"/>
              </a:ext>
            </a:extLst>
          </p:cNvPr>
          <p:cNvSpPr txBox="1">
            <a:spLocks noChangeArrowheads="1"/>
          </p:cNvSpPr>
          <p:nvPr/>
        </p:nvSpPr>
        <p:spPr bwMode="auto">
          <a:xfrm>
            <a:off x="2247900" y="4319588"/>
            <a:ext cx="333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t>
            </a:r>
          </a:p>
        </p:txBody>
      </p:sp>
      <p:sp>
        <p:nvSpPr>
          <p:cNvPr id="68683" name="Freeform 10">
            <a:extLst>
              <a:ext uri="{FF2B5EF4-FFF2-40B4-BE49-F238E27FC236}">
                <a16:creationId xmlns:a16="http://schemas.microsoft.com/office/drawing/2014/main" id="{63C9AF80-AEA5-1B48-A189-AA4FC6A5A18A}"/>
              </a:ext>
            </a:extLst>
          </p:cNvPr>
          <p:cNvSpPr>
            <a:spLocks/>
          </p:cNvSpPr>
          <p:nvPr/>
        </p:nvSpPr>
        <p:spPr bwMode="auto">
          <a:xfrm>
            <a:off x="2506663" y="4068763"/>
            <a:ext cx="276225" cy="852487"/>
          </a:xfrm>
          <a:custGeom>
            <a:avLst/>
            <a:gdLst>
              <a:gd name="T0" fmla="*/ 2147483647 w 208"/>
              <a:gd name="T1" fmla="*/ 0 h 1536"/>
              <a:gd name="T2" fmla="*/ 2147483647 w 208"/>
              <a:gd name="T3" fmla="*/ 2147483647 h 1536"/>
              <a:gd name="T4" fmla="*/ 2147483647 w 208"/>
              <a:gd name="T5" fmla="*/ 2147483647 h 1536"/>
              <a:gd name="T6" fmla="*/ 2147483647 w 208"/>
              <a:gd name="T7" fmla="*/ 2147483647 h 1536"/>
              <a:gd name="T8" fmla="*/ 2147483647 w 208"/>
              <a:gd name="T9" fmla="*/ 2147483647 h 1536"/>
              <a:gd name="T10" fmla="*/ 2147483647 w 208"/>
              <a:gd name="T11" fmla="*/ 2147483647 h 1536"/>
              <a:gd name="T12" fmla="*/ 2147483647 w 208"/>
              <a:gd name="T13" fmla="*/ 2147483647 h 1536"/>
              <a:gd name="T14" fmla="*/ 2147483647 w 208"/>
              <a:gd name="T15" fmla="*/ 2147483647 h 1536"/>
              <a:gd name="T16" fmla="*/ 2147483647 w 208"/>
              <a:gd name="T17" fmla="*/ 2147483647 h 1536"/>
              <a:gd name="T18" fmla="*/ 2147483647 w 208"/>
              <a:gd name="T19" fmla="*/ 2147483647 h 1536"/>
              <a:gd name="T20" fmla="*/ 2147483647 w 208"/>
              <a:gd name="T21" fmla="*/ 2147483647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684" name="Freeform 11">
            <a:extLst>
              <a:ext uri="{FF2B5EF4-FFF2-40B4-BE49-F238E27FC236}">
                <a16:creationId xmlns:a16="http://schemas.microsoft.com/office/drawing/2014/main" id="{FBCD1E8C-AAD6-2E4C-B47C-48BED53938EE}"/>
              </a:ext>
            </a:extLst>
          </p:cNvPr>
          <p:cNvSpPr>
            <a:spLocks/>
          </p:cNvSpPr>
          <p:nvPr/>
        </p:nvSpPr>
        <p:spPr bwMode="auto">
          <a:xfrm>
            <a:off x="2895600" y="4068763"/>
            <a:ext cx="276225" cy="852487"/>
          </a:xfrm>
          <a:custGeom>
            <a:avLst/>
            <a:gdLst>
              <a:gd name="T0" fmla="*/ 2147483647 w 208"/>
              <a:gd name="T1" fmla="*/ 0 h 1536"/>
              <a:gd name="T2" fmla="*/ 2147483647 w 208"/>
              <a:gd name="T3" fmla="*/ 2147483647 h 1536"/>
              <a:gd name="T4" fmla="*/ 2147483647 w 208"/>
              <a:gd name="T5" fmla="*/ 2147483647 h 1536"/>
              <a:gd name="T6" fmla="*/ 2147483647 w 208"/>
              <a:gd name="T7" fmla="*/ 2147483647 h 1536"/>
              <a:gd name="T8" fmla="*/ 2147483647 w 208"/>
              <a:gd name="T9" fmla="*/ 2147483647 h 1536"/>
              <a:gd name="T10" fmla="*/ 2147483647 w 208"/>
              <a:gd name="T11" fmla="*/ 2147483647 h 1536"/>
              <a:gd name="T12" fmla="*/ 2147483647 w 208"/>
              <a:gd name="T13" fmla="*/ 2147483647 h 1536"/>
              <a:gd name="T14" fmla="*/ 2147483647 w 208"/>
              <a:gd name="T15" fmla="*/ 2147483647 h 1536"/>
              <a:gd name="T16" fmla="*/ 2147483647 w 208"/>
              <a:gd name="T17" fmla="*/ 2147483647 h 1536"/>
              <a:gd name="T18" fmla="*/ 2147483647 w 208"/>
              <a:gd name="T19" fmla="*/ 2147483647 h 1536"/>
              <a:gd name="T20" fmla="*/ 2147483647 w 208"/>
              <a:gd name="T21" fmla="*/ 2147483647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685" name="Freeform 12">
            <a:extLst>
              <a:ext uri="{FF2B5EF4-FFF2-40B4-BE49-F238E27FC236}">
                <a16:creationId xmlns:a16="http://schemas.microsoft.com/office/drawing/2014/main" id="{900A092A-E5BE-DA4A-9FB6-A25FEEFB2453}"/>
              </a:ext>
            </a:extLst>
          </p:cNvPr>
          <p:cNvSpPr>
            <a:spLocks/>
          </p:cNvSpPr>
          <p:nvPr/>
        </p:nvSpPr>
        <p:spPr bwMode="auto">
          <a:xfrm>
            <a:off x="3284538" y="4068763"/>
            <a:ext cx="276225" cy="852487"/>
          </a:xfrm>
          <a:custGeom>
            <a:avLst/>
            <a:gdLst>
              <a:gd name="T0" fmla="*/ 2147483647 w 208"/>
              <a:gd name="T1" fmla="*/ 0 h 1536"/>
              <a:gd name="T2" fmla="*/ 2147483647 w 208"/>
              <a:gd name="T3" fmla="*/ 2147483647 h 1536"/>
              <a:gd name="T4" fmla="*/ 2147483647 w 208"/>
              <a:gd name="T5" fmla="*/ 2147483647 h 1536"/>
              <a:gd name="T6" fmla="*/ 2147483647 w 208"/>
              <a:gd name="T7" fmla="*/ 2147483647 h 1536"/>
              <a:gd name="T8" fmla="*/ 2147483647 w 208"/>
              <a:gd name="T9" fmla="*/ 2147483647 h 1536"/>
              <a:gd name="T10" fmla="*/ 2147483647 w 208"/>
              <a:gd name="T11" fmla="*/ 2147483647 h 1536"/>
              <a:gd name="T12" fmla="*/ 2147483647 w 208"/>
              <a:gd name="T13" fmla="*/ 2147483647 h 1536"/>
              <a:gd name="T14" fmla="*/ 2147483647 w 208"/>
              <a:gd name="T15" fmla="*/ 2147483647 h 1536"/>
              <a:gd name="T16" fmla="*/ 2147483647 w 208"/>
              <a:gd name="T17" fmla="*/ 2147483647 h 1536"/>
              <a:gd name="T18" fmla="*/ 2147483647 w 208"/>
              <a:gd name="T19" fmla="*/ 2147483647 h 1536"/>
              <a:gd name="T20" fmla="*/ 2147483647 w 208"/>
              <a:gd name="T21" fmla="*/ 2147483647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686" name="Freeform 14">
            <a:extLst>
              <a:ext uri="{FF2B5EF4-FFF2-40B4-BE49-F238E27FC236}">
                <a16:creationId xmlns:a16="http://schemas.microsoft.com/office/drawing/2014/main" id="{DEAF24E9-1424-1A46-926A-DE47750912E8}"/>
              </a:ext>
            </a:extLst>
          </p:cNvPr>
          <p:cNvSpPr>
            <a:spLocks/>
          </p:cNvSpPr>
          <p:nvPr/>
        </p:nvSpPr>
        <p:spPr bwMode="auto">
          <a:xfrm>
            <a:off x="3736975" y="4068763"/>
            <a:ext cx="274638" cy="852487"/>
          </a:xfrm>
          <a:custGeom>
            <a:avLst/>
            <a:gdLst>
              <a:gd name="T0" fmla="*/ 2147483647 w 208"/>
              <a:gd name="T1" fmla="*/ 0 h 1536"/>
              <a:gd name="T2" fmla="*/ 2147483647 w 208"/>
              <a:gd name="T3" fmla="*/ 2147483647 h 1536"/>
              <a:gd name="T4" fmla="*/ 2147483647 w 208"/>
              <a:gd name="T5" fmla="*/ 2147483647 h 1536"/>
              <a:gd name="T6" fmla="*/ 2147483647 w 208"/>
              <a:gd name="T7" fmla="*/ 2147483647 h 1536"/>
              <a:gd name="T8" fmla="*/ 2147483647 w 208"/>
              <a:gd name="T9" fmla="*/ 2147483647 h 1536"/>
              <a:gd name="T10" fmla="*/ 2147483647 w 208"/>
              <a:gd name="T11" fmla="*/ 2147483647 h 1536"/>
              <a:gd name="T12" fmla="*/ 2147483647 w 208"/>
              <a:gd name="T13" fmla="*/ 2147483647 h 1536"/>
              <a:gd name="T14" fmla="*/ 2147483647 w 208"/>
              <a:gd name="T15" fmla="*/ 2147483647 h 1536"/>
              <a:gd name="T16" fmla="*/ 2147483647 w 208"/>
              <a:gd name="T17" fmla="*/ 2147483647 h 1536"/>
              <a:gd name="T18" fmla="*/ 2147483647 w 208"/>
              <a:gd name="T19" fmla="*/ 2147483647 h 1536"/>
              <a:gd name="T20" fmla="*/ 2147483647 w 208"/>
              <a:gd name="T21" fmla="*/ 2147483647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687" name="TextBox 84">
            <a:extLst>
              <a:ext uri="{FF2B5EF4-FFF2-40B4-BE49-F238E27FC236}">
                <a16:creationId xmlns:a16="http://schemas.microsoft.com/office/drawing/2014/main" id="{11A4FC70-C814-114A-B2B8-90A03C40CF9D}"/>
              </a:ext>
            </a:extLst>
          </p:cNvPr>
          <p:cNvSpPr txBox="1">
            <a:spLocks noChangeArrowheads="1"/>
          </p:cNvSpPr>
          <p:nvPr/>
        </p:nvSpPr>
        <p:spPr bwMode="auto">
          <a:xfrm>
            <a:off x="4060825" y="4319588"/>
            <a:ext cx="3349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t>
            </a:r>
          </a:p>
        </p:txBody>
      </p:sp>
      <p:sp>
        <p:nvSpPr>
          <p:cNvPr id="68688" name="Freeform 10">
            <a:extLst>
              <a:ext uri="{FF2B5EF4-FFF2-40B4-BE49-F238E27FC236}">
                <a16:creationId xmlns:a16="http://schemas.microsoft.com/office/drawing/2014/main" id="{BAB3C52A-4B6C-8B40-B4BE-413A95885197}"/>
              </a:ext>
            </a:extLst>
          </p:cNvPr>
          <p:cNvSpPr>
            <a:spLocks/>
          </p:cNvSpPr>
          <p:nvPr/>
        </p:nvSpPr>
        <p:spPr bwMode="auto">
          <a:xfrm>
            <a:off x="4321175" y="4068763"/>
            <a:ext cx="276225" cy="852487"/>
          </a:xfrm>
          <a:custGeom>
            <a:avLst/>
            <a:gdLst>
              <a:gd name="T0" fmla="*/ 2147483647 w 208"/>
              <a:gd name="T1" fmla="*/ 0 h 1536"/>
              <a:gd name="T2" fmla="*/ 2147483647 w 208"/>
              <a:gd name="T3" fmla="*/ 2147483647 h 1536"/>
              <a:gd name="T4" fmla="*/ 2147483647 w 208"/>
              <a:gd name="T5" fmla="*/ 2147483647 h 1536"/>
              <a:gd name="T6" fmla="*/ 2147483647 w 208"/>
              <a:gd name="T7" fmla="*/ 2147483647 h 1536"/>
              <a:gd name="T8" fmla="*/ 2147483647 w 208"/>
              <a:gd name="T9" fmla="*/ 2147483647 h 1536"/>
              <a:gd name="T10" fmla="*/ 2147483647 w 208"/>
              <a:gd name="T11" fmla="*/ 2147483647 h 1536"/>
              <a:gd name="T12" fmla="*/ 2147483647 w 208"/>
              <a:gd name="T13" fmla="*/ 2147483647 h 1536"/>
              <a:gd name="T14" fmla="*/ 2147483647 w 208"/>
              <a:gd name="T15" fmla="*/ 2147483647 h 1536"/>
              <a:gd name="T16" fmla="*/ 2147483647 w 208"/>
              <a:gd name="T17" fmla="*/ 2147483647 h 1536"/>
              <a:gd name="T18" fmla="*/ 2147483647 w 208"/>
              <a:gd name="T19" fmla="*/ 2147483647 h 1536"/>
              <a:gd name="T20" fmla="*/ 2147483647 w 208"/>
              <a:gd name="T21" fmla="*/ 2147483647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689" name="Freeform 11">
            <a:extLst>
              <a:ext uri="{FF2B5EF4-FFF2-40B4-BE49-F238E27FC236}">
                <a16:creationId xmlns:a16="http://schemas.microsoft.com/office/drawing/2014/main" id="{F717BC35-B639-F94D-A1F8-BFA5BE83ECC2}"/>
              </a:ext>
            </a:extLst>
          </p:cNvPr>
          <p:cNvSpPr>
            <a:spLocks/>
          </p:cNvSpPr>
          <p:nvPr/>
        </p:nvSpPr>
        <p:spPr bwMode="auto">
          <a:xfrm>
            <a:off x="4708525" y="4068763"/>
            <a:ext cx="276225" cy="852487"/>
          </a:xfrm>
          <a:custGeom>
            <a:avLst/>
            <a:gdLst>
              <a:gd name="T0" fmla="*/ 2147483647 w 208"/>
              <a:gd name="T1" fmla="*/ 0 h 1536"/>
              <a:gd name="T2" fmla="*/ 2147483647 w 208"/>
              <a:gd name="T3" fmla="*/ 2147483647 h 1536"/>
              <a:gd name="T4" fmla="*/ 2147483647 w 208"/>
              <a:gd name="T5" fmla="*/ 2147483647 h 1536"/>
              <a:gd name="T6" fmla="*/ 2147483647 w 208"/>
              <a:gd name="T7" fmla="*/ 2147483647 h 1536"/>
              <a:gd name="T8" fmla="*/ 2147483647 w 208"/>
              <a:gd name="T9" fmla="*/ 2147483647 h 1536"/>
              <a:gd name="T10" fmla="*/ 2147483647 w 208"/>
              <a:gd name="T11" fmla="*/ 2147483647 h 1536"/>
              <a:gd name="T12" fmla="*/ 2147483647 w 208"/>
              <a:gd name="T13" fmla="*/ 2147483647 h 1536"/>
              <a:gd name="T14" fmla="*/ 2147483647 w 208"/>
              <a:gd name="T15" fmla="*/ 2147483647 h 1536"/>
              <a:gd name="T16" fmla="*/ 2147483647 w 208"/>
              <a:gd name="T17" fmla="*/ 2147483647 h 1536"/>
              <a:gd name="T18" fmla="*/ 2147483647 w 208"/>
              <a:gd name="T19" fmla="*/ 2147483647 h 1536"/>
              <a:gd name="T20" fmla="*/ 2147483647 w 208"/>
              <a:gd name="T21" fmla="*/ 2147483647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690" name="Freeform 12">
            <a:extLst>
              <a:ext uri="{FF2B5EF4-FFF2-40B4-BE49-F238E27FC236}">
                <a16:creationId xmlns:a16="http://schemas.microsoft.com/office/drawing/2014/main" id="{0012A1D8-F4F2-9640-A26A-AAC136AAC7F4}"/>
              </a:ext>
            </a:extLst>
          </p:cNvPr>
          <p:cNvSpPr>
            <a:spLocks/>
          </p:cNvSpPr>
          <p:nvPr/>
        </p:nvSpPr>
        <p:spPr bwMode="auto">
          <a:xfrm>
            <a:off x="5097463" y="4068763"/>
            <a:ext cx="276225" cy="852487"/>
          </a:xfrm>
          <a:custGeom>
            <a:avLst/>
            <a:gdLst>
              <a:gd name="T0" fmla="*/ 2147483647 w 208"/>
              <a:gd name="T1" fmla="*/ 0 h 1536"/>
              <a:gd name="T2" fmla="*/ 2147483647 w 208"/>
              <a:gd name="T3" fmla="*/ 2147483647 h 1536"/>
              <a:gd name="T4" fmla="*/ 2147483647 w 208"/>
              <a:gd name="T5" fmla="*/ 2147483647 h 1536"/>
              <a:gd name="T6" fmla="*/ 2147483647 w 208"/>
              <a:gd name="T7" fmla="*/ 2147483647 h 1536"/>
              <a:gd name="T8" fmla="*/ 2147483647 w 208"/>
              <a:gd name="T9" fmla="*/ 2147483647 h 1536"/>
              <a:gd name="T10" fmla="*/ 2147483647 w 208"/>
              <a:gd name="T11" fmla="*/ 2147483647 h 1536"/>
              <a:gd name="T12" fmla="*/ 2147483647 w 208"/>
              <a:gd name="T13" fmla="*/ 2147483647 h 1536"/>
              <a:gd name="T14" fmla="*/ 2147483647 w 208"/>
              <a:gd name="T15" fmla="*/ 2147483647 h 1536"/>
              <a:gd name="T16" fmla="*/ 2147483647 w 208"/>
              <a:gd name="T17" fmla="*/ 2147483647 h 1536"/>
              <a:gd name="T18" fmla="*/ 2147483647 w 208"/>
              <a:gd name="T19" fmla="*/ 2147483647 h 1536"/>
              <a:gd name="T20" fmla="*/ 2147483647 w 208"/>
              <a:gd name="T21" fmla="*/ 2147483647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691" name="Freeform 14">
            <a:extLst>
              <a:ext uri="{FF2B5EF4-FFF2-40B4-BE49-F238E27FC236}">
                <a16:creationId xmlns:a16="http://schemas.microsoft.com/office/drawing/2014/main" id="{C88E3EB9-B546-5447-9FF8-656F9243D2BA}"/>
              </a:ext>
            </a:extLst>
          </p:cNvPr>
          <p:cNvSpPr>
            <a:spLocks/>
          </p:cNvSpPr>
          <p:nvPr/>
        </p:nvSpPr>
        <p:spPr bwMode="auto">
          <a:xfrm>
            <a:off x="5551488" y="4068763"/>
            <a:ext cx="274637" cy="852487"/>
          </a:xfrm>
          <a:custGeom>
            <a:avLst/>
            <a:gdLst>
              <a:gd name="T0" fmla="*/ 2147483647 w 208"/>
              <a:gd name="T1" fmla="*/ 0 h 1536"/>
              <a:gd name="T2" fmla="*/ 2147483647 w 208"/>
              <a:gd name="T3" fmla="*/ 2147483647 h 1536"/>
              <a:gd name="T4" fmla="*/ 2147483647 w 208"/>
              <a:gd name="T5" fmla="*/ 2147483647 h 1536"/>
              <a:gd name="T6" fmla="*/ 2147483647 w 208"/>
              <a:gd name="T7" fmla="*/ 2147483647 h 1536"/>
              <a:gd name="T8" fmla="*/ 2147483647 w 208"/>
              <a:gd name="T9" fmla="*/ 2147483647 h 1536"/>
              <a:gd name="T10" fmla="*/ 2147483647 w 208"/>
              <a:gd name="T11" fmla="*/ 2147483647 h 1536"/>
              <a:gd name="T12" fmla="*/ 2147483647 w 208"/>
              <a:gd name="T13" fmla="*/ 2147483647 h 1536"/>
              <a:gd name="T14" fmla="*/ 2147483647 w 208"/>
              <a:gd name="T15" fmla="*/ 2147483647 h 1536"/>
              <a:gd name="T16" fmla="*/ 2147483647 w 208"/>
              <a:gd name="T17" fmla="*/ 2147483647 h 1536"/>
              <a:gd name="T18" fmla="*/ 2147483647 w 208"/>
              <a:gd name="T19" fmla="*/ 2147483647 h 1536"/>
              <a:gd name="T20" fmla="*/ 2147483647 w 208"/>
              <a:gd name="T21" fmla="*/ 2147483647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692" name="TextBox 89">
            <a:extLst>
              <a:ext uri="{FF2B5EF4-FFF2-40B4-BE49-F238E27FC236}">
                <a16:creationId xmlns:a16="http://schemas.microsoft.com/office/drawing/2014/main" id="{1CCB1356-2118-B444-983C-E246F07A9514}"/>
              </a:ext>
            </a:extLst>
          </p:cNvPr>
          <p:cNvSpPr txBox="1">
            <a:spLocks noChangeArrowheads="1"/>
          </p:cNvSpPr>
          <p:nvPr/>
        </p:nvSpPr>
        <p:spPr bwMode="auto">
          <a:xfrm>
            <a:off x="5989638" y="4319588"/>
            <a:ext cx="333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t>
            </a:r>
          </a:p>
        </p:txBody>
      </p:sp>
      <p:sp>
        <p:nvSpPr>
          <p:cNvPr id="68693" name="Freeform 10">
            <a:extLst>
              <a:ext uri="{FF2B5EF4-FFF2-40B4-BE49-F238E27FC236}">
                <a16:creationId xmlns:a16="http://schemas.microsoft.com/office/drawing/2014/main" id="{348661F1-CFF3-8641-80C2-1849911EDCFE}"/>
              </a:ext>
            </a:extLst>
          </p:cNvPr>
          <p:cNvSpPr>
            <a:spLocks/>
          </p:cNvSpPr>
          <p:nvPr/>
        </p:nvSpPr>
        <p:spPr bwMode="auto">
          <a:xfrm>
            <a:off x="6248400" y="4068763"/>
            <a:ext cx="276225" cy="852487"/>
          </a:xfrm>
          <a:custGeom>
            <a:avLst/>
            <a:gdLst>
              <a:gd name="T0" fmla="*/ 2147483647 w 208"/>
              <a:gd name="T1" fmla="*/ 0 h 1536"/>
              <a:gd name="T2" fmla="*/ 2147483647 w 208"/>
              <a:gd name="T3" fmla="*/ 2147483647 h 1536"/>
              <a:gd name="T4" fmla="*/ 2147483647 w 208"/>
              <a:gd name="T5" fmla="*/ 2147483647 h 1536"/>
              <a:gd name="T6" fmla="*/ 2147483647 w 208"/>
              <a:gd name="T7" fmla="*/ 2147483647 h 1536"/>
              <a:gd name="T8" fmla="*/ 2147483647 w 208"/>
              <a:gd name="T9" fmla="*/ 2147483647 h 1536"/>
              <a:gd name="T10" fmla="*/ 2147483647 w 208"/>
              <a:gd name="T11" fmla="*/ 2147483647 h 1536"/>
              <a:gd name="T12" fmla="*/ 2147483647 w 208"/>
              <a:gd name="T13" fmla="*/ 2147483647 h 1536"/>
              <a:gd name="T14" fmla="*/ 2147483647 w 208"/>
              <a:gd name="T15" fmla="*/ 2147483647 h 1536"/>
              <a:gd name="T16" fmla="*/ 2147483647 w 208"/>
              <a:gd name="T17" fmla="*/ 2147483647 h 1536"/>
              <a:gd name="T18" fmla="*/ 2147483647 w 208"/>
              <a:gd name="T19" fmla="*/ 2147483647 h 1536"/>
              <a:gd name="T20" fmla="*/ 2147483647 w 208"/>
              <a:gd name="T21" fmla="*/ 2147483647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694" name="Freeform 11">
            <a:extLst>
              <a:ext uri="{FF2B5EF4-FFF2-40B4-BE49-F238E27FC236}">
                <a16:creationId xmlns:a16="http://schemas.microsoft.com/office/drawing/2014/main" id="{34282089-0BCB-3F41-993E-47F5F87445C8}"/>
              </a:ext>
            </a:extLst>
          </p:cNvPr>
          <p:cNvSpPr>
            <a:spLocks/>
          </p:cNvSpPr>
          <p:nvPr/>
        </p:nvSpPr>
        <p:spPr bwMode="auto">
          <a:xfrm>
            <a:off x="6637338" y="4068763"/>
            <a:ext cx="276225" cy="852487"/>
          </a:xfrm>
          <a:custGeom>
            <a:avLst/>
            <a:gdLst>
              <a:gd name="T0" fmla="*/ 2147483647 w 208"/>
              <a:gd name="T1" fmla="*/ 0 h 1536"/>
              <a:gd name="T2" fmla="*/ 2147483647 w 208"/>
              <a:gd name="T3" fmla="*/ 2147483647 h 1536"/>
              <a:gd name="T4" fmla="*/ 2147483647 w 208"/>
              <a:gd name="T5" fmla="*/ 2147483647 h 1536"/>
              <a:gd name="T6" fmla="*/ 2147483647 w 208"/>
              <a:gd name="T7" fmla="*/ 2147483647 h 1536"/>
              <a:gd name="T8" fmla="*/ 2147483647 w 208"/>
              <a:gd name="T9" fmla="*/ 2147483647 h 1536"/>
              <a:gd name="T10" fmla="*/ 2147483647 w 208"/>
              <a:gd name="T11" fmla="*/ 2147483647 h 1536"/>
              <a:gd name="T12" fmla="*/ 2147483647 w 208"/>
              <a:gd name="T13" fmla="*/ 2147483647 h 1536"/>
              <a:gd name="T14" fmla="*/ 2147483647 w 208"/>
              <a:gd name="T15" fmla="*/ 2147483647 h 1536"/>
              <a:gd name="T16" fmla="*/ 2147483647 w 208"/>
              <a:gd name="T17" fmla="*/ 2147483647 h 1536"/>
              <a:gd name="T18" fmla="*/ 2147483647 w 208"/>
              <a:gd name="T19" fmla="*/ 2147483647 h 1536"/>
              <a:gd name="T20" fmla="*/ 2147483647 w 208"/>
              <a:gd name="T21" fmla="*/ 2147483647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695" name="Freeform 12">
            <a:extLst>
              <a:ext uri="{FF2B5EF4-FFF2-40B4-BE49-F238E27FC236}">
                <a16:creationId xmlns:a16="http://schemas.microsoft.com/office/drawing/2014/main" id="{1855D686-B564-9245-9C37-986D2286FB55}"/>
              </a:ext>
            </a:extLst>
          </p:cNvPr>
          <p:cNvSpPr>
            <a:spLocks/>
          </p:cNvSpPr>
          <p:nvPr/>
        </p:nvSpPr>
        <p:spPr bwMode="auto">
          <a:xfrm>
            <a:off x="7026275" y="4068763"/>
            <a:ext cx="276225" cy="852487"/>
          </a:xfrm>
          <a:custGeom>
            <a:avLst/>
            <a:gdLst>
              <a:gd name="T0" fmla="*/ 2147483647 w 208"/>
              <a:gd name="T1" fmla="*/ 0 h 1536"/>
              <a:gd name="T2" fmla="*/ 2147483647 w 208"/>
              <a:gd name="T3" fmla="*/ 2147483647 h 1536"/>
              <a:gd name="T4" fmla="*/ 2147483647 w 208"/>
              <a:gd name="T5" fmla="*/ 2147483647 h 1536"/>
              <a:gd name="T6" fmla="*/ 2147483647 w 208"/>
              <a:gd name="T7" fmla="*/ 2147483647 h 1536"/>
              <a:gd name="T8" fmla="*/ 2147483647 w 208"/>
              <a:gd name="T9" fmla="*/ 2147483647 h 1536"/>
              <a:gd name="T10" fmla="*/ 2147483647 w 208"/>
              <a:gd name="T11" fmla="*/ 2147483647 h 1536"/>
              <a:gd name="T12" fmla="*/ 2147483647 w 208"/>
              <a:gd name="T13" fmla="*/ 2147483647 h 1536"/>
              <a:gd name="T14" fmla="*/ 2147483647 w 208"/>
              <a:gd name="T15" fmla="*/ 2147483647 h 1536"/>
              <a:gd name="T16" fmla="*/ 2147483647 w 208"/>
              <a:gd name="T17" fmla="*/ 2147483647 h 1536"/>
              <a:gd name="T18" fmla="*/ 2147483647 w 208"/>
              <a:gd name="T19" fmla="*/ 2147483647 h 1536"/>
              <a:gd name="T20" fmla="*/ 2147483647 w 208"/>
              <a:gd name="T21" fmla="*/ 2147483647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696" name="Freeform 14">
            <a:extLst>
              <a:ext uri="{FF2B5EF4-FFF2-40B4-BE49-F238E27FC236}">
                <a16:creationId xmlns:a16="http://schemas.microsoft.com/office/drawing/2014/main" id="{B02585F2-A058-5546-9D7F-FDFE10023B75}"/>
              </a:ext>
            </a:extLst>
          </p:cNvPr>
          <p:cNvSpPr>
            <a:spLocks/>
          </p:cNvSpPr>
          <p:nvPr/>
        </p:nvSpPr>
        <p:spPr bwMode="auto">
          <a:xfrm>
            <a:off x="7478713" y="4068763"/>
            <a:ext cx="274637" cy="852487"/>
          </a:xfrm>
          <a:custGeom>
            <a:avLst/>
            <a:gdLst>
              <a:gd name="T0" fmla="*/ 2147483647 w 208"/>
              <a:gd name="T1" fmla="*/ 0 h 1536"/>
              <a:gd name="T2" fmla="*/ 2147483647 w 208"/>
              <a:gd name="T3" fmla="*/ 2147483647 h 1536"/>
              <a:gd name="T4" fmla="*/ 2147483647 w 208"/>
              <a:gd name="T5" fmla="*/ 2147483647 h 1536"/>
              <a:gd name="T6" fmla="*/ 2147483647 w 208"/>
              <a:gd name="T7" fmla="*/ 2147483647 h 1536"/>
              <a:gd name="T8" fmla="*/ 2147483647 w 208"/>
              <a:gd name="T9" fmla="*/ 2147483647 h 1536"/>
              <a:gd name="T10" fmla="*/ 2147483647 w 208"/>
              <a:gd name="T11" fmla="*/ 2147483647 h 1536"/>
              <a:gd name="T12" fmla="*/ 2147483647 w 208"/>
              <a:gd name="T13" fmla="*/ 2147483647 h 1536"/>
              <a:gd name="T14" fmla="*/ 2147483647 w 208"/>
              <a:gd name="T15" fmla="*/ 2147483647 h 1536"/>
              <a:gd name="T16" fmla="*/ 2147483647 w 208"/>
              <a:gd name="T17" fmla="*/ 2147483647 h 1536"/>
              <a:gd name="T18" fmla="*/ 2147483647 w 208"/>
              <a:gd name="T19" fmla="*/ 2147483647 h 1536"/>
              <a:gd name="T20" fmla="*/ 2147483647 w 208"/>
              <a:gd name="T21" fmla="*/ 2147483647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5400">
            <a:solidFill>
              <a:schemeClr val="tx1"/>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95" name="Straight Connector 94">
            <a:extLst>
              <a:ext uri="{FF2B5EF4-FFF2-40B4-BE49-F238E27FC236}">
                <a16:creationId xmlns:a16="http://schemas.microsoft.com/office/drawing/2014/main" id="{27EF9CD9-BC0F-EB46-9BE0-62A4EB739105}"/>
              </a:ext>
            </a:extLst>
          </p:cNvPr>
          <p:cNvCxnSpPr/>
          <p:nvPr/>
        </p:nvCxnSpPr>
        <p:spPr>
          <a:xfrm rot="5400000">
            <a:off x="456407" y="3556793"/>
            <a:ext cx="603250" cy="519113"/>
          </a:xfrm>
          <a:prstGeom prst="line">
            <a:avLst/>
          </a:prstGeom>
        </p:spPr>
        <p:style>
          <a:lnRef idx="1">
            <a:schemeClr val="dk1"/>
          </a:lnRef>
          <a:fillRef idx="0">
            <a:schemeClr val="dk1"/>
          </a:fillRef>
          <a:effectRef idx="0">
            <a:schemeClr val="dk1"/>
          </a:effectRef>
          <a:fontRef idx="minor">
            <a:schemeClr val="tx1"/>
          </a:fontRef>
        </p:style>
      </p:cxnSp>
      <p:cxnSp>
        <p:nvCxnSpPr>
          <p:cNvPr id="96" name="Straight Connector 95">
            <a:extLst>
              <a:ext uri="{FF2B5EF4-FFF2-40B4-BE49-F238E27FC236}">
                <a16:creationId xmlns:a16="http://schemas.microsoft.com/office/drawing/2014/main" id="{7FC09C2A-389D-B143-BCA2-F087DB4C4F3E}"/>
              </a:ext>
            </a:extLst>
          </p:cNvPr>
          <p:cNvCxnSpPr/>
          <p:nvPr/>
        </p:nvCxnSpPr>
        <p:spPr>
          <a:xfrm rot="5400000">
            <a:off x="2011363" y="3557587"/>
            <a:ext cx="603250" cy="517525"/>
          </a:xfrm>
          <a:prstGeom prst="line">
            <a:avLst/>
          </a:prstGeom>
        </p:spPr>
        <p:style>
          <a:lnRef idx="1">
            <a:schemeClr val="dk1"/>
          </a:lnRef>
          <a:fillRef idx="0">
            <a:schemeClr val="dk1"/>
          </a:fillRef>
          <a:effectRef idx="0">
            <a:schemeClr val="dk1"/>
          </a:effectRef>
          <a:fontRef idx="minor">
            <a:schemeClr val="tx1"/>
          </a:fontRef>
        </p:style>
      </p:cxnSp>
      <p:cxnSp>
        <p:nvCxnSpPr>
          <p:cNvPr id="97" name="Straight Connector 96">
            <a:extLst>
              <a:ext uri="{FF2B5EF4-FFF2-40B4-BE49-F238E27FC236}">
                <a16:creationId xmlns:a16="http://schemas.microsoft.com/office/drawing/2014/main" id="{51AE4C99-9669-A640-A029-73FC7A4C1238}"/>
              </a:ext>
            </a:extLst>
          </p:cNvPr>
          <p:cNvCxnSpPr/>
          <p:nvPr/>
        </p:nvCxnSpPr>
        <p:spPr>
          <a:xfrm rot="5400000">
            <a:off x="2205038" y="3751262"/>
            <a:ext cx="603250" cy="130175"/>
          </a:xfrm>
          <a:prstGeom prst="line">
            <a:avLst/>
          </a:prstGeom>
        </p:spPr>
        <p:style>
          <a:lnRef idx="1">
            <a:schemeClr val="dk1"/>
          </a:lnRef>
          <a:fillRef idx="0">
            <a:schemeClr val="dk1"/>
          </a:fillRef>
          <a:effectRef idx="0">
            <a:schemeClr val="dk1"/>
          </a:effectRef>
          <a:fontRef idx="minor">
            <a:schemeClr val="tx1"/>
          </a:fontRef>
        </p:style>
      </p:cxnSp>
      <p:cxnSp>
        <p:nvCxnSpPr>
          <p:cNvPr id="98" name="Straight Connector 97">
            <a:extLst>
              <a:ext uri="{FF2B5EF4-FFF2-40B4-BE49-F238E27FC236}">
                <a16:creationId xmlns:a16="http://schemas.microsoft.com/office/drawing/2014/main" id="{FCE77F94-16D4-AE40-A6CF-BEB04B83956D}"/>
              </a:ext>
            </a:extLst>
          </p:cNvPr>
          <p:cNvCxnSpPr/>
          <p:nvPr/>
        </p:nvCxnSpPr>
        <p:spPr>
          <a:xfrm rot="5400000">
            <a:off x="3752057" y="3694906"/>
            <a:ext cx="554038" cy="193675"/>
          </a:xfrm>
          <a:prstGeom prst="line">
            <a:avLst/>
          </a:prstGeom>
        </p:spPr>
        <p:style>
          <a:lnRef idx="1">
            <a:schemeClr val="dk1"/>
          </a:lnRef>
          <a:fillRef idx="0">
            <a:schemeClr val="dk1"/>
          </a:fillRef>
          <a:effectRef idx="0">
            <a:schemeClr val="dk1"/>
          </a:effectRef>
          <a:fontRef idx="minor">
            <a:schemeClr val="tx1"/>
          </a:fontRef>
        </p:style>
      </p:cxnSp>
      <p:cxnSp>
        <p:nvCxnSpPr>
          <p:cNvPr id="99" name="Straight Connector 98">
            <a:extLst>
              <a:ext uri="{FF2B5EF4-FFF2-40B4-BE49-F238E27FC236}">
                <a16:creationId xmlns:a16="http://schemas.microsoft.com/office/drawing/2014/main" id="{49053C17-6F56-7345-9654-3DB95EAB774E}"/>
              </a:ext>
            </a:extLst>
          </p:cNvPr>
          <p:cNvCxnSpPr/>
          <p:nvPr/>
        </p:nvCxnSpPr>
        <p:spPr>
          <a:xfrm rot="16200000" flipH="1">
            <a:off x="3946525" y="3694113"/>
            <a:ext cx="554038" cy="195262"/>
          </a:xfrm>
          <a:prstGeom prst="line">
            <a:avLst/>
          </a:prstGeom>
        </p:spPr>
        <p:style>
          <a:lnRef idx="1">
            <a:schemeClr val="dk1"/>
          </a:lnRef>
          <a:fillRef idx="0">
            <a:schemeClr val="dk1"/>
          </a:fillRef>
          <a:effectRef idx="0">
            <a:schemeClr val="dk1"/>
          </a:effectRef>
          <a:fontRef idx="minor">
            <a:schemeClr val="tx1"/>
          </a:fontRef>
        </p:style>
      </p:cxnSp>
      <p:cxnSp>
        <p:nvCxnSpPr>
          <p:cNvPr id="100" name="Straight Connector 99">
            <a:extLst>
              <a:ext uri="{FF2B5EF4-FFF2-40B4-BE49-F238E27FC236}">
                <a16:creationId xmlns:a16="http://schemas.microsoft.com/office/drawing/2014/main" id="{23AD26FE-E6EF-4E4B-970B-C74259F69F1C}"/>
              </a:ext>
            </a:extLst>
          </p:cNvPr>
          <p:cNvCxnSpPr/>
          <p:nvPr/>
        </p:nvCxnSpPr>
        <p:spPr>
          <a:xfrm rot="16200000" flipH="1">
            <a:off x="5703094" y="3556794"/>
            <a:ext cx="603250" cy="519112"/>
          </a:xfrm>
          <a:prstGeom prst="line">
            <a:avLst/>
          </a:prstGeom>
        </p:spPr>
        <p:style>
          <a:lnRef idx="1">
            <a:schemeClr val="dk1"/>
          </a:lnRef>
          <a:fillRef idx="0">
            <a:schemeClr val="dk1"/>
          </a:fillRef>
          <a:effectRef idx="0">
            <a:schemeClr val="dk1"/>
          </a:effectRef>
          <a:fontRef idx="minor">
            <a:schemeClr val="tx1"/>
          </a:fontRef>
        </p:style>
      </p:cxnSp>
      <p:cxnSp>
        <p:nvCxnSpPr>
          <p:cNvPr id="101" name="Straight Connector 100">
            <a:extLst>
              <a:ext uri="{FF2B5EF4-FFF2-40B4-BE49-F238E27FC236}">
                <a16:creationId xmlns:a16="http://schemas.microsoft.com/office/drawing/2014/main" id="{28B6D919-4140-CC48-8CF1-9DE11A250C56}"/>
              </a:ext>
            </a:extLst>
          </p:cNvPr>
          <p:cNvCxnSpPr/>
          <p:nvPr/>
        </p:nvCxnSpPr>
        <p:spPr>
          <a:xfrm rot="16200000" flipH="1">
            <a:off x="5476082" y="3718718"/>
            <a:ext cx="603250" cy="195263"/>
          </a:xfrm>
          <a:prstGeom prst="line">
            <a:avLst/>
          </a:prstGeom>
        </p:spPr>
        <p:style>
          <a:lnRef idx="1">
            <a:schemeClr val="dk1"/>
          </a:lnRef>
          <a:fillRef idx="0">
            <a:schemeClr val="dk1"/>
          </a:fillRef>
          <a:effectRef idx="0">
            <a:schemeClr val="dk1"/>
          </a:effectRef>
          <a:fontRef idx="minor">
            <a:schemeClr val="tx1"/>
          </a:fontRef>
        </p:style>
      </p:cxnSp>
      <p:cxnSp>
        <p:nvCxnSpPr>
          <p:cNvPr id="102" name="Straight Connector 101">
            <a:extLst>
              <a:ext uri="{FF2B5EF4-FFF2-40B4-BE49-F238E27FC236}">
                <a16:creationId xmlns:a16="http://schemas.microsoft.com/office/drawing/2014/main" id="{F8666209-456C-5A4F-890E-59A9EA57139B}"/>
              </a:ext>
            </a:extLst>
          </p:cNvPr>
          <p:cNvCxnSpPr/>
          <p:nvPr/>
        </p:nvCxnSpPr>
        <p:spPr>
          <a:xfrm rot="16200000" flipH="1">
            <a:off x="7225507" y="3525043"/>
            <a:ext cx="603250" cy="582613"/>
          </a:xfrm>
          <a:prstGeom prst="line">
            <a:avLst/>
          </a:prstGeom>
        </p:spPr>
        <p:style>
          <a:lnRef idx="1">
            <a:schemeClr val="dk1"/>
          </a:lnRef>
          <a:fillRef idx="0">
            <a:schemeClr val="dk1"/>
          </a:fillRef>
          <a:effectRef idx="0">
            <a:schemeClr val="dk1"/>
          </a:effectRef>
          <a:fontRef idx="minor">
            <a:schemeClr val="tx1"/>
          </a:fontRef>
        </p:style>
      </p:cxnSp>
      <p:sp>
        <p:nvSpPr>
          <p:cNvPr id="68705" name="TextBox 134">
            <a:extLst>
              <a:ext uri="{FF2B5EF4-FFF2-40B4-BE49-F238E27FC236}">
                <a16:creationId xmlns:a16="http://schemas.microsoft.com/office/drawing/2014/main" id="{2D881B8C-3942-204B-BF14-30FC7A7BFA64}"/>
              </a:ext>
            </a:extLst>
          </p:cNvPr>
          <p:cNvSpPr txBox="1">
            <a:spLocks noChangeArrowheads="1"/>
          </p:cNvSpPr>
          <p:nvPr/>
        </p:nvSpPr>
        <p:spPr bwMode="auto">
          <a:xfrm>
            <a:off x="152400" y="6535738"/>
            <a:ext cx="165258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Hyesoon Kim</a:t>
            </a:r>
          </a:p>
        </p:txBody>
      </p:sp>
      <p:sp>
        <p:nvSpPr>
          <p:cNvPr id="68706" name="TextBox 1">
            <a:extLst>
              <a:ext uri="{FF2B5EF4-FFF2-40B4-BE49-F238E27FC236}">
                <a16:creationId xmlns:a16="http://schemas.microsoft.com/office/drawing/2014/main" id="{7338F471-4A33-174C-B030-6FB52E515831}"/>
              </a:ext>
            </a:extLst>
          </p:cNvPr>
          <p:cNvSpPr txBox="1">
            <a:spLocks noChangeArrowheads="1"/>
          </p:cNvSpPr>
          <p:nvPr/>
        </p:nvSpPr>
        <p:spPr bwMode="auto">
          <a:xfrm>
            <a:off x="7391400" y="2743200"/>
            <a:ext cx="10318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Threads</a:t>
            </a:r>
          </a:p>
        </p:txBody>
      </p:sp>
      <p:sp>
        <p:nvSpPr>
          <p:cNvPr id="68707" name="TextBox 102">
            <a:extLst>
              <a:ext uri="{FF2B5EF4-FFF2-40B4-BE49-F238E27FC236}">
                <a16:creationId xmlns:a16="http://schemas.microsoft.com/office/drawing/2014/main" id="{CD155F7E-98EA-7B48-8D79-BDD2EBC2F874}"/>
              </a:ext>
            </a:extLst>
          </p:cNvPr>
          <p:cNvSpPr txBox="1">
            <a:spLocks noChangeArrowheads="1"/>
          </p:cNvSpPr>
          <p:nvPr/>
        </p:nvSpPr>
        <p:spPr bwMode="auto">
          <a:xfrm>
            <a:off x="7391400" y="3211513"/>
            <a:ext cx="1673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Data elements</a:t>
            </a:r>
          </a:p>
        </p:txBody>
      </p:sp>
      <p:sp>
        <p:nvSpPr>
          <p:cNvPr id="68708" name="TextBox 103">
            <a:extLst>
              <a:ext uri="{FF2B5EF4-FFF2-40B4-BE49-F238E27FC236}">
                <a16:creationId xmlns:a16="http://schemas.microsoft.com/office/drawing/2014/main" id="{860D9E74-1F63-8C4D-956D-2A6A9E67E8A8}"/>
              </a:ext>
            </a:extLst>
          </p:cNvPr>
          <p:cNvSpPr txBox="1">
            <a:spLocks noChangeArrowheads="1"/>
          </p:cNvSpPr>
          <p:nvPr/>
        </p:nvSpPr>
        <p:spPr bwMode="auto">
          <a:xfrm>
            <a:off x="450850" y="5029200"/>
            <a:ext cx="9207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Warp 0</a:t>
            </a:r>
          </a:p>
        </p:txBody>
      </p:sp>
      <p:sp>
        <p:nvSpPr>
          <p:cNvPr id="68709" name="TextBox 104">
            <a:extLst>
              <a:ext uri="{FF2B5EF4-FFF2-40B4-BE49-F238E27FC236}">
                <a16:creationId xmlns:a16="http://schemas.microsoft.com/office/drawing/2014/main" id="{08493696-99D5-FE4D-969A-C8BF02FBFF2F}"/>
              </a:ext>
            </a:extLst>
          </p:cNvPr>
          <p:cNvSpPr txBox="1">
            <a:spLocks noChangeArrowheads="1"/>
          </p:cNvSpPr>
          <p:nvPr/>
        </p:nvSpPr>
        <p:spPr bwMode="auto">
          <a:xfrm>
            <a:off x="2438400" y="5029200"/>
            <a:ext cx="9207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Warp 1</a:t>
            </a:r>
          </a:p>
        </p:txBody>
      </p:sp>
      <p:sp>
        <p:nvSpPr>
          <p:cNvPr id="68710" name="TextBox 105">
            <a:extLst>
              <a:ext uri="{FF2B5EF4-FFF2-40B4-BE49-F238E27FC236}">
                <a16:creationId xmlns:a16="http://schemas.microsoft.com/office/drawing/2014/main" id="{9EB99BAB-AD6C-AF4B-9A73-38470EE1932A}"/>
              </a:ext>
            </a:extLst>
          </p:cNvPr>
          <p:cNvSpPr txBox="1">
            <a:spLocks noChangeArrowheads="1"/>
          </p:cNvSpPr>
          <p:nvPr/>
        </p:nvSpPr>
        <p:spPr bwMode="auto">
          <a:xfrm>
            <a:off x="4267200" y="5029200"/>
            <a:ext cx="9207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Warp 2</a:t>
            </a:r>
          </a:p>
        </p:txBody>
      </p:sp>
      <p:sp>
        <p:nvSpPr>
          <p:cNvPr id="68711" name="TextBox 106">
            <a:extLst>
              <a:ext uri="{FF2B5EF4-FFF2-40B4-BE49-F238E27FC236}">
                <a16:creationId xmlns:a16="http://schemas.microsoft.com/office/drawing/2014/main" id="{EB0137E1-2F66-5848-A9FD-083B3704E2E1}"/>
              </a:ext>
            </a:extLst>
          </p:cNvPr>
          <p:cNvSpPr txBox="1">
            <a:spLocks noChangeArrowheads="1"/>
          </p:cNvSpPr>
          <p:nvPr/>
        </p:nvSpPr>
        <p:spPr bwMode="auto">
          <a:xfrm>
            <a:off x="6248400" y="5029200"/>
            <a:ext cx="9207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Warp 3</a:t>
            </a:r>
          </a:p>
        </p:txBody>
      </p:sp>
      <p:sp>
        <p:nvSpPr>
          <p:cNvPr id="105" name="Slide Number Placeholder 3">
            <a:extLst>
              <a:ext uri="{FF2B5EF4-FFF2-40B4-BE49-F238E27FC236}">
                <a16:creationId xmlns:a16="http://schemas.microsoft.com/office/drawing/2014/main" id="{91D9459B-F5D2-E34A-9ADC-C5A396E51A40}"/>
              </a:ext>
            </a:extLst>
          </p:cNvPr>
          <p:cNvSpPr>
            <a:spLocks noGrp="1"/>
          </p:cNvSpPr>
          <p:nvPr>
            <p:ph type="sldNum" sz="quarter" idx="11"/>
          </p:nvPr>
        </p:nvSpPr>
        <p:spPr>
          <a:xfrm>
            <a:off x="6777038" y="632460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17A79AA-CD33-9448-B7F6-6F507EA8DB00}"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39</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929336570"/>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8600" y="152400"/>
            <a:ext cx="8610600" cy="845127"/>
          </a:xfrm>
        </p:spPr>
        <p:txBody>
          <a:bodyPr anchor="ctr" anchorCtr="0"/>
          <a:lstStyle/>
          <a:p>
            <a:r>
              <a:rPr lang="en-US" dirty="0"/>
              <a:t>Agenda for Today</a:t>
            </a:r>
          </a:p>
        </p:txBody>
      </p:sp>
      <p:sp>
        <p:nvSpPr>
          <p:cNvPr id="3" name="Marcador de contenido 2"/>
          <p:cNvSpPr>
            <a:spLocks noGrp="1"/>
          </p:cNvSpPr>
          <p:nvPr>
            <p:ph idx="1"/>
          </p:nvPr>
        </p:nvSpPr>
        <p:spPr/>
        <p:txBody>
          <a:bodyPr>
            <a:normAutofit/>
          </a:bodyPr>
          <a:lstStyle/>
          <a:p>
            <a:r>
              <a:rPr lang="en-US" altLang="zh-CN" dirty="0">
                <a:ea typeface="ヒラギノ角ゴ Pro W3" pitchFamily="-108" charset="-128"/>
                <a:cs typeface="ヒラギノ角ゴ Pro W3" pitchFamily="-108" charset="-128"/>
              </a:rPr>
              <a:t>SIMT (Hardware) &amp; Warp (Software)</a:t>
            </a:r>
            <a:r>
              <a:rPr lang="en-US" dirty="0">
                <a:ea typeface="ヒラギノ角ゴ Pro W3" pitchFamily="-108" charset="-128"/>
                <a:cs typeface="ヒラギノ角ゴ Pro W3" pitchFamily="-108" charset="-128"/>
              </a:rPr>
              <a:t> </a:t>
            </a:r>
          </a:p>
          <a:p>
            <a:pPr marL="0" indent="0">
              <a:buNone/>
            </a:pPr>
            <a:endParaRPr lang="en-US" dirty="0">
              <a:ea typeface="ヒラギノ角ゴ Pro W3" pitchFamily="-108" charset="-128"/>
              <a:cs typeface="ヒラギノ角ゴ Pro W3" pitchFamily="-108" charset="-128"/>
            </a:endParaRPr>
          </a:p>
          <a:p>
            <a:r>
              <a:rPr lang="en-US" altLang="zh-CN" dirty="0">
                <a:ea typeface="ヒラギノ角ゴ Pro W3" pitchFamily="-108" charset="-128"/>
              </a:rPr>
              <a:t>Optimization of Memory System </a:t>
            </a:r>
          </a:p>
          <a:p>
            <a:pPr lvl="1"/>
            <a:r>
              <a:rPr lang="en-US" dirty="0">
                <a:ea typeface="ヒラギノ角ゴ Pro W3" pitchFamily="-108" charset="-128"/>
                <a:cs typeface="ヒラギノ角ゴ Pro W3" pitchFamily="-108" charset="-128"/>
              </a:rPr>
              <a:t>Multi-threading</a:t>
            </a:r>
          </a:p>
          <a:p>
            <a:pPr lvl="1"/>
            <a:r>
              <a:rPr lang="en-US" dirty="0">
                <a:ea typeface="ヒラギノ角ゴ Pro W3" pitchFamily="-108" charset="-128"/>
                <a:cs typeface="ヒラギノ角ゴ Pro W3" pitchFamily="-108" charset="-128"/>
              </a:rPr>
              <a:t>Memory Coalescing</a:t>
            </a:r>
          </a:p>
          <a:p>
            <a:pPr lvl="1"/>
            <a:r>
              <a:rPr lang="en-US" dirty="0">
                <a:solidFill>
                  <a:srgbClr val="0432FF"/>
                </a:solidFill>
                <a:ea typeface="ヒラギノ角ゴ Pro W3" pitchFamily="-108" charset="-128"/>
                <a:cs typeface="ヒラギノ角ゴ Pro W3" pitchFamily="-108" charset="-128"/>
              </a:rPr>
              <a:t>Shared Memory</a:t>
            </a:r>
          </a:p>
          <a:p>
            <a:pPr lvl="1"/>
            <a:endParaRPr lang="en-US" dirty="0">
              <a:ea typeface="ヒラギノ角ゴ Pro W3" pitchFamily="-108" charset="-128"/>
              <a:cs typeface="ヒラギノ角ゴ Pro W3" pitchFamily="-108" charset="-128"/>
            </a:endParaRPr>
          </a:p>
          <a:p>
            <a:r>
              <a:rPr lang="en-US" altLang="zh-CN" dirty="0">
                <a:ea typeface="ヒラギノ角ゴ Pro W3" pitchFamily="-108" charset="-128"/>
                <a:cs typeface="ヒラギノ角ゴ Pro W3" pitchFamily="-108" charset="-128"/>
              </a:rPr>
              <a:t>SIMT Efficiency</a:t>
            </a:r>
          </a:p>
          <a:p>
            <a:pPr lvl="1"/>
            <a:r>
              <a:rPr lang="en-US" altLang="zh-CN" dirty="0">
                <a:ea typeface="ヒラギノ角ゴ Pro W3" pitchFamily="-108" charset="-128"/>
                <a:cs typeface="ヒラギノ角ゴ Pro W3" pitchFamily="-108" charset="-128"/>
              </a:rPr>
              <a:t>Divergency</a:t>
            </a:r>
          </a:p>
          <a:p>
            <a:pPr lvl="1"/>
            <a:r>
              <a:rPr lang="en-US" altLang="zh-CN" dirty="0">
                <a:ea typeface="ヒラギノ角ゴ Pro W3" pitchFamily="-108" charset="-128"/>
                <a:cs typeface="ヒラギノ角ゴ Pro W3" pitchFamily="-108" charset="-128"/>
              </a:rPr>
              <a:t>Atomic</a:t>
            </a:r>
          </a:p>
          <a:p>
            <a:pPr lvl="1"/>
            <a:r>
              <a:rPr lang="en-US" altLang="zh-CN" dirty="0">
                <a:ea typeface="ヒラギノ角ゴ Pro W3" pitchFamily="-108" charset="-128"/>
                <a:cs typeface="ヒラギノ角ゴ Pro W3" pitchFamily="-108" charset="-128"/>
              </a:rPr>
              <a:t>CPU-GPU Transfer</a:t>
            </a:r>
          </a:p>
          <a:p>
            <a:pPr lvl="1"/>
            <a:endParaRPr lang="en-US" dirty="0">
              <a:ea typeface="ヒラギノ角ゴ Pro W3" pitchFamily="-108" charset="-128"/>
              <a:cs typeface="ヒラギノ角ゴ Pro W3" pitchFamily="-108" charset="-128"/>
            </a:endParaRPr>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40</a:t>
            </a:fld>
            <a:endParaRPr lang="en-US" altLang="en-US"/>
          </a:p>
        </p:txBody>
      </p:sp>
      <p:sp>
        <p:nvSpPr>
          <p:cNvPr id="5" name="Rectangle 4">
            <a:extLst>
              <a:ext uri="{FF2B5EF4-FFF2-40B4-BE49-F238E27FC236}">
                <a16:creationId xmlns:a16="http://schemas.microsoft.com/office/drawing/2014/main" id="{3EAB8116-126C-5648-BEF0-E6606F73B7C9}"/>
              </a:ext>
            </a:extLst>
          </p:cNvPr>
          <p:cNvSpPr>
            <a:spLocks noChangeArrowheads="1"/>
          </p:cNvSpPr>
          <p:nvPr/>
        </p:nvSpPr>
        <p:spPr bwMode="auto">
          <a:xfrm>
            <a:off x="330740" y="3130433"/>
            <a:ext cx="5410200" cy="444500"/>
          </a:xfrm>
          <a:prstGeom prst="rect">
            <a:avLst/>
          </a:prstGeom>
          <a:noFill/>
          <a:ln w="38100">
            <a:solidFill>
              <a:srgbClr val="FF0000"/>
            </a:solidFill>
            <a:miter lim="800000"/>
            <a:headEnd/>
            <a:tailEnd/>
          </a:ln>
          <a:effectLst>
            <a:outerShdw blurRad="63500" dist="23000" dir="5400000" rotWithShape="0">
              <a:srgbClr val="000000">
                <a:alpha val="34998"/>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Tahoma" charset="0"/>
              <a:ea typeface="ＭＳ Ｐゴシック" charset="-128"/>
              <a:cs typeface="+mn-cs"/>
            </a:endParaRPr>
          </a:p>
        </p:txBody>
      </p:sp>
    </p:spTree>
    <p:extLst>
      <p:ext uri="{BB962C8B-B14F-4D97-AF65-F5344CB8AC3E}">
        <p14:creationId xmlns:p14="http://schemas.microsoft.com/office/powerpoint/2010/main" val="974961460"/>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Shared Memory</a:t>
            </a:r>
          </a:p>
        </p:txBody>
      </p:sp>
      <p:sp>
        <p:nvSpPr>
          <p:cNvPr id="3" name="Marcador de contenido 2"/>
          <p:cNvSpPr>
            <a:spLocks noGrp="1"/>
          </p:cNvSpPr>
          <p:nvPr>
            <p:ph idx="1"/>
          </p:nvPr>
        </p:nvSpPr>
        <p:spPr>
          <a:xfrm>
            <a:off x="251521" y="908720"/>
            <a:ext cx="8640960" cy="5472534"/>
          </a:xfrm>
        </p:spPr>
        <p:txBody>
          <a:bodyPr>
            <a:normAutofit/>
          </a:bodyPr>
          <a:lstStyle/>
          <a:p>
            <a:r>
              <a:rPr lang="en-US" dirty="0"/>
              <a:t>Shared memory is an </a:t>
            </a:r>
            <a:r>
              <a:rPr lang="en-US" dirty="0">
                <a:solidFill>
                  <a:srgbClr val="0000FF"/>
                </a:solidFill>
              </a:rPr>
              <a:t>interleaved (banked) memory</a:t>
            </a:r>
          </a:p>
          <a:p>
            <a:pPr lvl="1"/>
            <a:r>
              <a:rPr lang="en-US" dirty="0"/>
              <a:t>Each bank can service one address per cycle</a:t>
            </a:r>
          </a:p>
          <a:p>
            <a:pPr lvl="1"/>
            <a:endParaRPr lang="en-US" dirty="0"/>
          </a:p>
          <a:p>
            <a:r>
              <a:rPr lang="en-US" dirty="0"/>
              <a:t>Typically, 32 banks in NVIDIA GPUs</a:t>
            </a:r>
          </a:p>
          <a:p>
            <a:pPr lvl="1"/>
            <a:r>
              <a:rPr lang="en-US" dirty="0"/>
              <a:t>Successive 32-bit words are assigned to successive banks</a:t>
            </a:r>
          </a:p>
          <a:p>
            <a:pPr lvl="2"/>
            <a:r>
              <a:rPr lang="en-US" dirty="0">
                <a:solidFill>
                  <a:srgbClr val="FF0000"/>
                </a:solidFill>
              </a:rPr>
              <a:t>Bank = Address % 32</a:t>
            </a:r>
          </a:p>
          <a:p>
            <a:endParaRPr lang="en-US" dirty="0"/>
          </a:p>
          <a:p>
            <a:r>
              <a:rPr lang="en-US" dirty="0"/>
              <a:t>Bank conflicts are only </a:t>
            </a:r>
            <a:r>
              <a:rPr lang="en-US" b="1" dirty="0"/>
              <a:t>possible within a warp</a:t>
            </a:r>
          </a:p>
          <a:p>
            <a:pPr lvl="1"/>
            <a:r>
              <a:rPr lang="en-US" dirty="0"/>
              <a:t>No bank conflicts between different warps</a:t>
            </a:r>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41</a:t>
            </a:fld>
            <a:endParaRPr lang="en-US" altLang="en-US"/>
          </a:p>
        </p:txBody>
      </p:sp>
    </p:spTree>
    <p:extLst>
      <p:ext uri="{BB962C8B-B14F-4D97-AF65-F5344CB8AC3E}">
        <p14:creationId xmlns:p14="http://schemas.microsoft.com/office/powerpoint/2010/main" val="371874697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Shared Memory Bank Conflicts (I)</a:t>
            </a:r>
          </a:p>
        </p:txBody>
      </p:sp>
      <p:sp>
        <p:nvSpPr>
          <p:cNvPr id="3" name="Marcador de contenido 2"/>
          <p:cNvSpPr>
            <a:spLocks noGrp="1"/>
          </p:cNvSpPr>
          <p:nvPr>
            <p:ph idx="1"/>
          </p:nvPr>
        </p:nvSpPr>
        <p:spPr>
          <a:xfrm>
            <a:off x="251521" y="908720"/>
            <a:ext cx="8640960" cy="5472534"/>
          </a:xfrm>
        </p:spPr>
        <p:txBody>
          <a:bodyPr>
            <a:normAutofit/>
          </a:bodyPr>
          <a:lstStyle/>
          <a:p>
            <a:r>
              <a:rPr lang="en-US" dirty="0">
                <a:solidFill>
                  <a:srgbClr val="0000FF"/>
                </a:solidFill>
              </a:rPr>
              <a:t>Bank conflict free</a:t>
            </a:r>
          </a:p>
        </p:txBody>
      </p:sp>
      <p:grpSp>
        <p:nvGrpSpPr>
          <p:cNvPr id="6" name="Group 6"/>
          <p:cNvGrpSpPr>
            <a:grpSpLocks/>
          </p:cNvGrpSpPr>
          <p:nvPr/>
        </p:nvGrpSpPr>
        <p:grpSpPr bwMode="auto">
          <a:xfrm>
            <a:off x="3049960" y="1772816"/>
            <a:ext cx="1219200" cy="3276600"/>
            <a:chOff x="4656" y="1488"/>
            <a:chExt cx="768" cy="2064"/>
          </a:xfrm>
          <a:solidFill>
            <a:srgbClr val="0070C0"/>
          </a:solidFill>
        </p:grpSpPr>
        <p:sp>
          <p:nvSpPr>
            <p:cNvPr id="30" name="AutoShape 7"/>
            <p:cNvSpPr>
              <a:spLocks noChangeArrowheads="1"/>
            </p:cNvSpPr>
            <p:nvPr/>
          </p:nvSpPr>
          <p:spPr bwMode="auto">
            <a:xfrm>
              <a:off x="4656" y="3312"/>
              <a:ext cx="768" cy="240"/>
            </a:xfrm>
            <a:prstGeom prst="cube">
              <a:avLst>
                <a:gd name="adj" fmla="val 26565"/>
              </a:avLst>
            </a:prstGeom>
            <a:grpFill/>
            <a:ln w="9525">
              <a:solidFill>
                <a:srgbClr val="9DC3E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Bank 15</a:t>
              </a:r>
            </a:p>
          </p:txBody>
        </p:sp>
        <p:sp>
          <p:nvSpPr>
            <p:cNvPr id="31" name="AutoShape 8"/>
            <p:cNvSpPr>
              <a:spLocks noChangeArrowheads="1"/>
            </p:cNvSpPr>
            <p:nvPr/>
          </p:nvSpPr>
          <p:spPr bwMode="auto">
            <a:xfrm>
              <a:off x="4656" y="2688"/>
              <a:ext cx="768" cy="240"/>
            </a:xfrm>
            <a:prstGeom prst="cube">
              <a:avLst>
                <a:gd name="adj" fmla="val 26565"/>
              </a:avLst>
            </a:prstGeom>
            <a:grpFill/>
            <a:ln w="9525">
              <a:solidFill>
                <a:srgbClr val="9DC3E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Bank 7</a:t>
              </a:r>
            </a:p>
          </p:txBody>
        </p:sp>
        <p:sp>
          <p:nvSpPr>
            <p:cNvPr id="32" name="AutoShape 9"/>
            <p:cNvSpPr>
              <a:spLocks noChangeArrowheads="1"/>
            </p:cNvSpPr>
            <p:nvPr/>
          </p:nvSpPr>
          <p:spPr bwMode="auto">
            <a:xfrm>
              <a:off x="4656" y="2514"/>
              <a:ext cx="768" cy="240"/>
            </a:xfrm>
            <a:prstGeom prst="cube">
              <a:avLst>
                <a:gd name="adj" fmla="val 26565"/>
              </a:avLst>
            </a:prstGeom>
            <a:grpFill/>
            <a:ln w="9525">
              <a:solidFill>
                <a:srgbClr val="9DC3E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Bank 6</a:t>
              </a:r>
            </a:p>
          </p:txBody>
        </p:sp>
        <p:sp>
          <p:nvSpPr>
            <p:cNvPr id="33" name="AutoShape 10"/>
            <p:cNvSpPr>
              <a:spLocks noChangeArrowheads="1"/>
            </p:cNvSpPr>
            <p:nvPr/>
          </p:nvSpPr>
          <p:spPr bwMode="auto">
            <a:xfrm>
              <a:off x="4656" y="2346"/>
              <a:ext cx="768" cy="240"/>
            </a:xfrm>
            <a:prstGeom prst="cube">
              <a:avLst>
                <a:gd name="adj" fmla="val 26565"/>
              </a:avLst>
            </a:prstGeom>
            <a:grpFill/>
            <a:ln w="9525">
              <a:solidFill>
                <a:srgbClr val="9DC3E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Bank 5</a:t>
              </a:r>
            </a:p>
          </p:txBody>
        </p:sp>
        <p:sp>
          <p:nvSpPr>
            <p:cNvPr id="34" name="AutoShape 11"/>
            <p:cNvSpPr>
              <a:spLocks noChangeArrowheads="1"/>
            </p:cNvSpPr>
            <p:nvPr/>
          </p:nvSpPr>
          <p:spPr bwMode="auto">
            <a:xfrm>
              <a:off x="4656" y="2172"/>
              <a:ext cx="768" cy="240"/>
            </a:xfrm>
            <a:prstGeom prst="cube">
              <a:avLst>
                <a:gd name="adj" fmla="val 26565"/>
              </a:avLst>
            </a:prstGeom>
            <a:grpFill/>
            <a:ln w="9525">
              <a:solidFill>
                <a:srgbClr val="9DC3E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Bank 4</a:t>
              </a:r>
            </a:p>
          </p:txBody>
        </p:sp>
        <p:sp>
          <p:nvSpPr>
            <p:cNvPr id="35" name="AutoShape 12"/>
            <p:cNvSpPr>
              <a:spLocks noChangeArrowheads="1"/>
            </p:cNvSpPr>
            <p:nvPr/>
          </p:nvSpPr>
          <p:spPr bwMode="auto">
            <a:xfrm>
              <a:off x="4656" y="1998"/>
              <a:ext cx="768" cy="240"/>
            </a:xfrm>
            <a:prstGeom prst="cube">
              <a:avLst>
                <a:gd name="adj" fmla="val 26565"/>
              </a:avLst>
            </a:prstGeom>
            <a:grpFill/>
            <a:ln w="9525">
              <a:solidFill>
                <a:srgbClr val="9DC3E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Bank 3</a:t>
              </a:r>
            </a:p>
          </p:txBody>
        </p:sp>
        <p:sp>
          <p:nvSpPr>
            <p:cNvPr id="36" name="AutoShape 13"/>
            <p:cNvSpPr>
              <a:spLocks noChangeArrowheads="1"/>
            </p:cNvSpPr>
            <p:nvPr/>
          </p:nvSpPr>
          <p:spPr bwMode="auto">
            <a:xfrm>
              <a:off x="4656" y="1830"/>
              <a:ext cx="768" cy="240"/>
            </a:xfrm>
            <a:prstGeom prst="cube">
              <a:avLst>
                <a:gd name="adj" fmla="val 26565"/>
              </a:avLst>
            </a:prstGeom>
            <a:grpFill/>
            <a:ln w="9525">
              <a:solidFill>
                <a:srgbClr val="9DC3E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Bank 2</a:t>
              </a:r>
            </a:p>
          </p:txBody>
        </p:sp>
        <p:sp>
          <p:nvSpPr>
            <p:cNvPr id="37" name="AutoShape 14"/>
            <p:cNvSpPr>
              <a:spLocks noChangeArrowheads="1"/>
            </p:cNvSpPr>
            <p:nvPr/>
          </p:nvSpPr>
          <p:spPr bwMode="auto">
            <a:xfrm>
              <a:off x="4656" y="1656"/>
              <a:ext cx="768" cy="240"/>
            </a:xfrm>
            <a:prstGeom prst="cube">
              <a:avLst>
                <a:gd name="adj" fmla="val 26565"/>
              </a:avLst>
            </a:prstGeom>
            <a:grpFill/>
            <a:ln w="9525">
              <a:solidFill>
                <a:srgbClr val="9DC3E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Bank 1</a:t>
              </a:r>
            </a:p>
          </p:txBody>
        </p:sp>
        <p:sp>
          <p:nvSpPr>
            <p:cNvPr id="38" name="AutoShape 15"/>
            <p:cNvSpPr>
              <a:spLocks noChangeArrowheads="1"/>
            </p:cNvSpPr>
            <p:nvPr/>
          </p:nvSpPr>
          <p:spPr bwMode="auto">
            <a:xfrm>
              <a:off x="4656" y="1488"/>
              <a:ext cx="768" cy="240"/>
            </a:xfrm>
            <a:prstGeom prst="cube">
              <a:avLst>
                <a:gd name="adj" fmla="val 26565"/>
              </a:avLst>
            </a:prstGeom>
            <a:grpFill/>
            <a:ln w="9525">
              <a:solidFill>
                <a:srgbClr val="9DC3E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Bank 0</a:t>
              </a:r>
            </a:p>
          </p:txBody>
        </p:sp>
        <p:grpSp>
          <p:nvGrpSpPr>
            <p:cNvPr id="39" name="Group 16"/>
            <p:cNvGrpSpPr>
              <a:grpSpLocks/>
            </p:cNvGrpSpPr>
            <p:nvPr/>
          </p:nvGrpSpPr>
          <p:grpSpPr bwMode="auto">
            <a:xfrm>
              <a:off x="5010" y="3000"/>
              <a:ext cx="48" cy="240"/>
              <a:chOff x="2400" y="2832"/>
              <a:chExt cx="48" cy="240"/>
            </a:xfrm>
            <a:grpFill/>
          </p:grpSpPr>
          <p:sp>
            <p:nvSpPr>
              <p:cNvPr id="40" name="Oval 17"/>
              <p:cNvSpPr>
                <a:spLocks noChangeArrowheads="1"/>
              </p:cNvSpPr>
              <p:nvPr/>
            </p:nvSpPr>
            <p:spPr bwMode="auto">
              <a:xfrm>
                <a:off x="2400" y="2832"/>
                <a:ext cx="48" cy="48"/>
              </a:xfrm>
              <a:prstGeom prst="ellipse">
                <a:avLst/>
              </a:prstGeom>
              <a:grpFill/>
              <a:ln w="9525">
                <a:solidFill>
                  <a:srgbClr val="9DC3E6"/>
                </a:solidFill>
                <a:round/>
                <a:headEnd/>
                <a:tailEnd/>
              </a:ln>
              <a:effectLst/>
            </p:spPr>
            <p:txBody>
              <a:bodyPr wrap="none" anchor="ctr">
                <a:prstTxWarp prst="textNoShape">
                  <a:avLst/>
                </a:prstTxWarp>
              </a:bodyPr>
              <a:lstStyle/>
              <a:p>
                <a:endParaRPr lang="es-ES_tradnl"/>
              </a:p>
            </p:txBody>
          </p:sp>
          <p:sp>
            <p:nvSpPr>
              <p:cNvPr id="41" name="Oval 18"/>
              <p:cNvSpPr>
                <a:spLocks noChangeArrowheads="1"/>
              </p:cNvSpPr>
              <p:nvPr/>
            </p:nvSpPr>
            <p:spPr bwMode="auto">
              <a:xfrm>
                <a:off x="2400" y="2928"/>
                <a:ext cx="48" cy="48"/>
              </a:xfrm>
              <a:prstGeom prst="ellipse">
                <a:avLst/>
              </a:prstGeom>
              <a:grpFill/>
              <a:ln w="9525">
                <a:solidFill>
                  <a:srgbClr val="9DC3E6"/>
                </a:solidFill>
                <a:round/>
                <a:headEnd/>
                <a:tailEnd/>
              </a:ln>
              <a:effectLst/>
            </p:spPr>
            <p:txBody>
              <a:bodyPr wrap="none" anchor="ctr">
                <a:prstTxWarp prst="textNoShape">
                  <a:avLst/>
                </a:prstTxWarp>
              </a:bodyPr>
              <a:lstStyle/>
              <a:p>
                <a:endParaRPr lang="es-ES_tradnl"/>
              </a:p>
            </p:txBody>
          </p:sp>
          <p:sp>
            <p:nvSpPr>
              <p:cNvPr id="42" name="Oval 19"/>
              <p:cNvSpPr>
                <a:spLocks noChangeArrowheads="1"/>
              </p:cNvSpPr>
              <p:nvPr/>
            </p:nvSpPr>
            <p:spPr bwMode="auto">
              <a:xfrm>
                <a:off x="2400" y="3024"/>
                <a:ext cx="48" cy="48"/>
              </a:xfrm>
              <a:prstGeom prst="ellipse">
                <a:avLst/>
              </a:prstGeom>
              <a:grpFill/>
              <a:ln w="9525">
                <a:solidFill>
                  <a:srgbClr val="9DC3E6"/>
                </a:solidFill>
                <a:round/>
                <a:headEnd/>
                <a:tailEnd/>
              </a:ln>
              <a:effectLst/>
            </p:spPr>
            <p:txBody>
              <a:bodyPr wrap="none" anchor="ctr">
                <a:prstTxWarp prst="textNoShape">
                  <a:avLst/>
                </a:prstTxWarp>
              </a:bodyPr>
              <a:lstStyle/>
              <a:p>
                <a:endParaRPr lang="es-ES_tradnl"/>
              </a:p>
            </p:txBody>
          </p:sp>
        </p:grpSp>
      </p:grpSp>
      <p:grpSp>
        <p:nvGrpSpPr>
          <p:cNvPr id="7" name="Group 20"/>
          <p:cNvGrpSpPr>
            <a:grpSpLocks/>
          </p:cNvGrpSpPr>
          <p:nvPr/>
        </p:nvGrpSpPr>
        <p:grpSpPr bwMode="auto">
          <a:xfrm>
            <a:off x="611560" y="1772816"/>
            <a:ext cx="1219200" cy="3276600"/>
            <a:chOff x="4656" y="1488"/>
            <a:chExt cx="768" cy="2064"/>
          </a:xfrm>
          <a:solidFill>
            <a:srgbClr val="00B050"/>
          </a:solidFill>
        </p:grpSpPr>
        <p:sp>
          <p:nvSpPr>
            <p:cNvPr id="17" name="AutoShape 21"/>
            <p:cNvSpPr>
              <a:spLocks noChangeArrowheads="1"/>
            </p:cNvSpPr>
            <p:nvPr/>
          </p:nvSpPr>
          <p:spPr bwMode="auto">
            <a:xfrm>
              <a:off x="4656" y="3312"/>
              <a:ext cx="768" cy="240"/>
            </a:xfrm>
            <a:prstGeom prst="cube">
              <a:avLst>
                <a:gd name="adj" fmla="val 26565"/>
              </a:avLst>
            </a:prstGeom>
            <a:grpFill/>
            <a:ln w="9525">
              <a:solidFill>
                <a:schemeClr val="accent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Thread 15</a:t>
              </a:r>
            </a:p>
          </p:txBody>
        </p:sp>
        <p:sp>
          <p:nvSpPr>
            <p:cNvPr id="18" name="AutoShape 22"/>
            <p:cNvSpPr>
              <a:spLocks noChangeArrowheads="1"/>
            </p:cNvSpPr>
            <p:nvPr/>
          </p:nvSpPr>
          <p:spPr bwMode="auto">
            <a:xfrm>
              <a:off x="4656" y="2688"/>
              <a:ext cx="768" cy="240"/>
            </a:xfrm>
            <a:prstGeom prst="cube">
              <a:avLst>
                <a:gd name="adj" fmla="val 26565"/>
              </a:avLst>
            </a:prstGeom>
            <a:grpFill/>
            <a:ln w="9525">
              <a:solidFill>
                <a:schemeClr val="accent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Thread 7</a:t>
              </a:r>
            </a:p>
          </p:txBody>
        </p:sp>
        <p:sp>
          <p:nvSpPr>
            <p:cNvPr id="19" name="AutoShape 23"/>
            <p:cNvSpPr>
              <a:spLocks noChangeArrowheads="1"/>
            </p:cNvSpPr>
            <p:nvPr/>
          </p:nvSpPr>
          <p:spPr bwMode="auto">
            <a:xfrm>
              <a:off x="4656" y="2514"/>
              <a:ext cx="768" cy="240"/>
            </a:xfrm>
            <a:prstGeom prst="cube">
              <a:avLst>
                <a:gd name="adj" fmla="val 26565"/>
              </a:avLst>
            </a:prstGeom>
            <a:grpFill/>
            <a:ln w="9525">
              <a:solidFill>
                <a:schemeClr val="accent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Thread 6</a:t>
              </a:r>
            </a:p>
          </p:txBody>
        </p:sp>
        <p:sp>
          <p:nvSpPr>
            <p:cNvPr id="20" name="AutoShape 24"/>
            <p:cNvSpPr>
              <a:spLocks noChangeArrowheads="1"/>
            </p:cNvSpPr>
            <p:nvPr/>
          </p:nvSpPr>
          <p:spPr bwMode="auto">
            <a:xfrm>
              <a:off x="4656" y="2346"/>
              <a:ext cx="768" cy="240"/>
            </a:xfrm>
            <a:prstGeom prst="cube">
              <a:avLst>
                <a:gd name="adj" fmla="val 26565"/>
              </a:avLst>
            </a:prstGeom>
            <a:grpFill/>
            <a:ln w="9525">
              <a:solidFill>
                <a:schemeClr val="accent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Thread 5</a:t>
              </a:r>
            </a:p>
          </p:txBody>
        </p:sp>
        <p:sp>
          <p:nvSpPr>
            <p:cNvPr id="21" name="AutoShape 25"/>
            <p:cNvSpPr>
              <a:spLocks noChangeArrowheads="1"/>
            </p:cNvSpPr>
            <p:nvPr/>
          </p:nvSpPr>
          <p:spPr bwMode="auto">
            <a:xfrm>
              <a:off x="4656" y="2172"/>
              <a:ext cx="768" cy="240"/>
            </a:xfrm>
            <a:prstGeom prst="cube">
              <a:avLst>
                <a:gd name="adj" fmla="val 26565"/>
              </a:avLst>
            </a:prstGeom>
            <a:grpFill/>
            <a:ln w="9525">
              <a:solidFill>
                <a:schemeClr val="accent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Thread 4</a:t>
              </a:r>
            </a:p>
          </p:txBody>
        </p:sp>
        <p:sp>
          <p:nvSpPr>
            <p:cNvPr id="22" name="AutoShape 26"/>
            <p:cNvSpPr>
              <a:spLocks noChangeArrowheads="1"/>
            </p:cNvSpPr>
            <p:nvPr/>
          </p:nvSpPr>
          <p:spPr bwMode="auto">
            <a:xfrm>
              <a:off x="4656" y="1998"/>
              <a:ext cx="768" cy="240"/>
            </a:xfrm>
            <a:prstGeom prst="cube">
              <a:avLst>
                <a:gd name="adj" fmla="val 26565"/>
              </a:avLst>
            </a:prstGeom>
            <a:grpFill/>
            <a:ln w="9525">
              <a:solidFill>
                <a:schemeClr val="accent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Thread 3</a:t>
              </a:r>
            </a:p>
          </p:txBody>
        </p:sp>
        <p:sp>
          <p:nvSpPr>
            <p:cNvPr id="23" name="AutoShape 27"/>
            <p:cNvSpPr>
              <a:spLocks noChangeArrowheads="1"/>
            </p:cNvSpPr>
            <p:nvPr/>
          </p:nvSpPr>
          <p:spPr bwMode="auto">
            <a:xfrm>
              <a:off x="4656" y="1830"/>
              <a:ext cx="768" cy="240"/>
            </a:xfrm>
            <a:prstGeom prst="cube">
              <a:avLst>
                <a:gd name="adj" fmla="val 26565"/>
              </a:avLst>
            </a:prstGeom>
            <a:grpFill/>
            <a:ln w="9525">
              <a:solidFill>
                <a:schemeClr val="accent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Thread 2</a:t>
              </a:r>
            </a:p>
          </p:txBody>
        </p:sp>
        <p:sp>
          <p:nvSpPr>
            <p:cNvPr id="24" name="AutoShape 28"/>
            <p:cNvSpPr>
              <a:spLocks noChangeArrowheads="1"/>
            </p:cNvSpPr>
            <p:nvPr/>
          </p:nvSpPr>
          <p:spPr bwMode="auto">
            <a:xfrm>
              <a:off x="4656" y="1656"/>
              <a:ext cx="768" cy="240"/>
            </a:xfrm>
            <a:prstGeom prst="cube">
              <a:avLst>
                <a:gd name="adj" fmla="val 26565"/>
              </a:avLst>
            </a:prstGeom>
            <a:grpFill/>
            <a:ln w="9525">
              <a:solidFill>
                <a:schemeClr val="accent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Thread 1</a:t>
              </a:r>
            </a:p>
          </p:txBody>
        </p:sp>
        <p:sp>
          <p:nvSpPr>
            <p:cNvPr id="25" name="AutoShape 29"/>
            <p:cNvSpPr>
              <a:spLocks noChangeArrowheads="1"/>
            </p:cNvSpPr>
            <p:nvPr/>
          </p:nvSpPr>
          <p:spPr bwMode="auto">
            <a:xfrm>
              <a:off x="4656" y="1488"/>
              <a:ext cx="768" cy="240"/>
            </a:xfrm>
            <a:prstGeom prst="cube">
              <a:avLst>
                <a:gd name="adj" fmla="val 26565"/>
              </a:avLst>
            </a:prstGeom>
            <a:grpFill/>
            <a:ln w="9525">
              <a:solidFill>
                <a:schemeClr val="accent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Thread 0</a:t>
              </a:r>
            </a:p>
          </p:txBody>
        </p:sp>
        <p:grpSp>
          <p:nvGrpSpPr>
            <p:cNvPr id="26" name="Group 30"/>
            <p:cNvGrpSpPr>
              <a:grpSpLocks/>
            </p:cNvGrpSpPr>
            <p:nvPr/>
          </p:nvGrpSpPr>
          <p:grpSpPr bwMode="auto">
            <a:xfrm>
              <a:off x="5010" y="3000"/>
              <a:ext cx="48" cy="240"/>
              <a:chOff x="2400" y="2832"/>
              <a:chExt cx="48" cy="240"/>
            </a:xfrm>
            <a:grpFill/>
          </p:grpSpPr>
          <p:sp>
            <p:nvSpPr>
              <p:cNvPr id="27" name="Oval 31"/>
              <p:cNvSpPr>
                <a:spLocks noChangeArrowheads="1"/>
              </p:cNvSpPr>
              <p:nvPr/>
            </p:nvSpPr>
            <p:spPr bwMode="auto">
              <a:xfrm>
                <a:off x="2400" y="2832"/>
                <a:ext cx="48" cy="48"/>
              </a:xfrm>
              <a:prstGeom prst="ellipse">
                <a:avLst/>
              </a:prstGeom>
              <a:grpFill/>
              <a:ln w="9525">
                <a:solidFill>
                  <a:schemeClr val="accent6"/>
                </a:solidFill>
                <a:round/>
                <a:headEnd/>
                <a:tailEnd/>
              </a:ln>
              <a:effectLst/>
            </p:spPr>
            <p:txBody>
              <a:bodyPr wrap="none" anchor="ctr">
                <a:prstTxWarp prst="textNoShape">
                  <a:avLst/>
                </a:prstTxWarp>
              </a:bodyPr>
              <a:lstStyle/>
              <a:p>
                <a:endParaRPr lang="es-ES_tradnl"/>
              </a:p>
            </p:txBody>
          </p:sp>
          <p:sp>
            <p:nvSpPr>
              <p:cNvPr id="28" name="Oval 32"/>
              <p:cNvSpPr>
                <a:spLocks noChangeArrowheads="1"/>
              </p:cNvSpPr>
              <p:nvPr/>
            </p:nvSpPr>
            <p:spPr bwMode="auto">
              <a:xfrm>
                <a:off x="2400" y="2928"/>
                <a:ext cx="48" cy="48"/>
              </a:xfrm>
              <a:prstGeom prst="ellipse">
                <a:avLst/>
              </a:prstGeom>
              <a:grpFill/>
              <a:ln w="9525">
                <a:solidFill>
                  <a:schemeClr val="accent6"/>
                </a:solidFill>
                <a:round/>
                <a:headEnd/>
                <a:tailEnd/>
              </a:ln>
              <a:effectLst/>
            </p:spPr>
            <p:txBody>
              <a:bodyPr wrap="none" anchor="ctr">
                <a:prstTxWarp prst="textNoShape">
                  <a:avLst/>
                </a:prstTxWarp>
              </a:bodyPr>
              <a:lstStyle/>
              <a:p>
                <a:endParaRPr lang="es-ES_tradnl"/>
              </a:p>
            </p:txBody>
          </p:sp>
          <p:sp>
            <p:nvSpPr>
              <p:cNvPr id="29" name="Oval 33"/>
              <p:cNvSpPr>
                <a:spLocks noChangeArrowheads="1"/>
              </p:cNvSpPr>
              <p:nvPr/>
            </p:nvSpPr>
            <p:spPr bwMode="auto">
              <a:xfrm>
                <a:off x="2400" y="3024"/>
                <a:ext cx="48" cy="48"/>
              </a:xfrm>
              <a:prstGeom prst="ellipse">
                <a:avLst/>
              </a:prstGeom>
              <a:grpFill/>
              <a:ln w="9525">
                <a:solidFill>
                  <a:schemeClr val="accent6"/>
                </a:solidFill>
                <a:round/>
                <a:headEnd/>
                <a:tailEnd/>
              </a:ln>
              <a:effectLst/>
            </p:spPr>
            <p:txBody>
              <a:bodyPr wrap="none" anchor="ctr">
                <a:prstTxWarp prst="textNoShape">
                  <a:avLst/>
                </a:prstTxWarp>
              </a:bodyPr>
              <a:lstStyle/>
              <a:p>
                <a:endParaRPr lang="es-ES_tradnl"/>
              </a:p>
            </p:txBody>
          </p:sp>
        </p:grpSp>
      </p:grpSp>
      <p:cxnSp>
        <p:nvCxnSpPr>
          <p:cNvPr id="8" name="AutoShape 34"/>
          <p:cNvCxnSpPr>
            <a:cxnSpLocks noChangeShapeType="1"/>
            <a:stCxn id="25" idx="4"/>
            <a:endCxn id="38" idx="2"/>
          </p:cNvCxnSpPr>
          <p:nvPr/>
        </p:nvCxnSpPr>
        <p:spPr bwMode="auto">
          <a:xfrm>
            <a:off x="1729160" y="2014116"/>
            <a:ext cx="1320800" cy="0"/>
          </a:xfrm>
          <a:prstGeom prst="straightConnector1">
            <a:avLst/>
          </a:prstGeom>
          <a:noFill/>
          <a:ln w="25400">
            <a:solidFill>
              <a:schemeClr val="tx1"/>
            </a:solidFill>
            <a:round/>
            <a:headEnd/>
            <a:tailEnd type="triangle" w="lg" len="lg"/>
          </a:ln>
          <a:effectLst/>
        </p:spPr>
      </p:cxnSp>
      <p:cxnSp>
        <p:nvCxnSpPr>
          <p:cNvPr id="9" name="AutoShape 35"/>
          <p:cNvCxnSpPr>
            <a:cxnSpLocks noChangeShapeType="1"/>
            <a:stCxn id="24" idx="4"/>
            <a:endCxn id="37" idx="2"/>
          </p:cNvCxnSpPr>
          <p:nvPr/>
        </p:nvCxnSpPr>
        <p:spPr bwMode="auto">
          <a:xfrm>
            <a:off x="1729160" y="2280816"/>
            <a:ext cx="1320800" cy="0"/>
          </a:xfrm>
          <a:prstGeom prst="straightConnector1">
            <a:avLst/>
          </a:prstGeom>
          <a:noFill/>
          <a:ln w="25400">
            <a:solidFill>
              <a:schemeClr val="tx1"/>
            </a:solidFill>
            <a:round/>
            <a:headEnd/>
            <a:tailEnd type="triangle" w="lg" len="lg"/>
          </a:ln>
          <a:effectLst/>
        </p:spPr>
      </p:cxnSp>
      <p:cxnSp>
        <p:nvCxnSpPr>
          <p:cNvPr id="10" name="AutoShape 36"/>
          <p:cNvCxnSpPr>
            <a:cxnSpLocks noChangeShapeType="1"/>
            <a:stCxn id="23" idx="4"/>
            <a:endCxn id="36" idx="2"/>
          </p:cNvCxnSpPr>
          <p:nvPr/>
        </p:nvCxnSpPr>
        <p:spPr bwMode="auto">
          <a:xfrm>
            <a:off x="1729160" y="2557041"/>
            <a:ext cx="1320800" cy="0"/>
          </a:xfrm>
          <a:prstGeom prst="straightConnector1">
            <a:avLst/>
          </a:prstGeom>
          <a:noFill/>
          <a:ln w="25400">
            <a:solidFill>
              <a:schemeClr val="tx1"/>
            </a:solidFill>
            <a:round/>
            <a:headEnd/>
            <a:tailEnd type="triangle" w="lg" len="lg"/>
          </a:ln>
          <a:effectLst/>
        </p:spPr>
      </p:cxnSp>
      <p:cxnSp>
        <p:nvCxnSpPr>
          <p:cNvPr id="11" name="AutoShape 37"/>
          <p:cNvCxnSpPr>
            <a:cxnSpLocks noChangeShapeType="1"/>
            <a:stCxn id="22" idx="4"/>
            <a:endCxn id="35" idx="2"/>
          </p:cNvCxnSpPr>
          <p:nvPr/>
        </p:nvCxnSpPr>
        <p:spPr bwMode="auto">
          <a:xfrm>
            <a:off x="1729160" y="2823741"/>
            <a:ext cx="1320800" cy="0"/>
          </a:xfrm>
          <a:prstGeom prst="straightConnector1">
            <a:avLst/>
          </a:prstGeom>
          <a:noFill/>
          <a:ln w="25400">
            <a:solidFill>
              <a:schemeClr val="tx1"/>
            </a:solidFill>
            <a:round/>
            <a:headEnd/>
            <a:tailEnd type="triangle" w="lg" len="lg"/>
          </a:ln>
          <a:effectLst/>
        </p:spPr>
      </p:cxnSp>
      <p:cxnSp>
        <p:nvCxnSpPr>
          <p:cNvPr id="12" name="AutoShape 38"/>
          <p:cNvCxnSpPr>
            <a:cxnSpLocks noChangeShapeType="1"/>
            <a:stCxn id="21" idx="4"/>
            <a:endCxn id="34" idx="2"/>
          </p:cNvCxnSpPr>
          <p:nvPr/>
        </p:nvCxnSpPr>
        <p:spPr bwMode="auto">
          <a:xfrm>
            <a:off x="1729160" y="3099966"/>
            <a:ext cx="1320800" cy="0"/>
          </a:xfrm>
          <a:prstGeom prst="straightConnector1">
            <a:avLst/>
          </a:prstGeom>
          <a:noFill/>
          <a:ln w="25400">
            <a:solidFill>
              <a:schemeClr val="tx1"/>
            </a:solidFill>
            <a:round/>
            <a:headEnd/>
            <a:tailEnd type="triangle" w="lg" len="lg"/>
          </a:ln>
          <a:effectLst/>
        </p:spPr>
      </p:cxnSp>
      <p:cxnSp>
        <p:nvCxnSpPr>
          <p:cNvPr id="13" name="AutoShape 39"/>
          <p:cNvCxnSpPr>
            <a:cxnSpLocks noChangeShapeType="1"/>
            <a:stCxn id="20" idx="4"/>
            <a:endCxn id="33" idx="2"/>
          </p:cNvCxnSpPr>
          <p:nvPr/>
        </p:nvCxnSpPr>
        <p:spPr bwMode="auto">
          <a:xfrm>
            <a:off x="1729160" y="3376191"/>
            <a:ext cx="1320800" cy="0"/>
          </a:xfrm>
          <a:prstGeom prst="straightConnector1">
            <a:avLst/>
          </a:prstGeom>
          <a:noFill/>
          <a:ln w="25400">
            <a:solidFill>
              <a:schemeClr val="tx1"/>
            </a:solidFill>
            <a:round/>
            <a:headEnd/>
            <a:tailEnd type="triangle" w="lg" len="lg"/>
          </a:ln>
          <a:effectLst/>
        </p:spPr>
      </p:cxnSp>
      <p:cxnSp>
        <p:nvCxnSpPr>
          <p:cNvPr id="14" name="AutoShape 40"/>
          <p:cNvCxnSpPr>
            <a:cxnSpLocks noChangeShapeType="1"/>
            <a:stCxn id="19" idx="4"/>
            <a:endCxn id="32" idx="2"/>
          </p:cNvCxnSpPr>
          <p:nvPr/>
        </p:nvCxnSpPr>
        <p:spPr bwMode="auto">
          <a:xfrm>
            <a:off x="1729160" y="3642891"/>
            <a:ext cx="1320800" cy="0"/>
          </a:xfrm>
          <a:prstGeom prst="straightConnector1">
            <a:avLst/>
          </a:prstGeom>
          <a:noFill/>
          <a:ln w="25400">
            <a:solidFill>
              <a:schemeClr val="tx1"/>
            </a:solidFill>
            <a:round/>
            <a:headEnd/>
            <a:tailEnd type="triangle" w="lg" len="lg"/>
          </a:ln>
          <a:effectLst/>
        </p:spPr>
      </p:cxnSp>
      <p:cxnSp>
        <p:nvCxnSpPr>
          <p:cNvPr id="15" name="AutoShape 41"/>
          <p:cNvCxnSpPr>
            <a:cxnSpLocks noChangeShapeType="1"/>
            <a:stCxn id="18" idx="4"/>
            <a:endCxn id="31" idx="2"/>
          </p:cNvCxnSpPr>
          <p:nvPr/>
        </p:nvCxnSpPr>
        <p:spPr bwMode="auto">
          <a:xfrm>
            <a:off x="1729160" y="3919116"/>
            <a:ext cx="1320800" cy="0"/>
          </a:xfrm>
          <a:prstGeom prst="straightConnector1">
            <a:avLst/>
          </a:prstGeom>
          <a:noFill/>
          <a:ln w="25400">
            <a:solidFill>
              <a:schemeClr val="tx1"/>
            </a:solidFill>
            <a:round/>
            <a:headEnd/>
            <a:tailEnd type="triangle" w="lg" len="lg"/>
          </a:ln>
          <a:effectLst/>
        </p:spPr>
      </p:cxnSp>
      <p:cxnSp>
        <p:nvCxnSpPr>
          <p:cNvPr id="16" name="AutoShape 42"/>
          <p:cNvCxnSpPr>
            <a:cxnSpLocks noChangeShapeType="1"/>
            <a:stCxn id="17" idx="4"/>
            <a:endCxn id="30" idx="2"/>
          </p:cNvCxnSpPr>
          <p:nvPr/>
        </p:nvCxnSpPr>
        <p:spPr bwMode="auto">
          <a:xfrm>
            <a:off x="1729160" y="4909716"/>
            <a:ext cx="1320800" cy="0"/>
          </a:xfrm>
          <a:prstGeom prst="straightConnector1">
            <a:avLst/>
          </a:prstGeom>
          <a:noFill/>
          <a:ln w="25400">
            <a:solidFill>
              <a:schemeClr val="tx1"/>
            </a:solidFill>
            <a:round/>
            <a:headEnd/>
            <a:tailEnd type="triangle" w="lg" len="lg"/>
          </a:ln>
          <a:effectLst/>
        </p:spPr>
      </p:cxnSp>
      <p:grpSp>
        <p:nvGrpSpPr>
          <p:cNvPr id="44" name="Group 44"/>
          <p:cNvGrpSpPr>
            <a:grpSpLocks/>
          </p:cNvGrpSpPr>
          <p:nvPr/>
        </p:nvGrpSpPr>
        <p:grpSpPr bwMode="auto">
          <a:xfrm>
            <a:off x="7240960" y="1772816"/>
            <a:ext cx="1219200" cy="3276600"/>
            <a:chOff x="4656" y="1488"/>
            <a:chExt cx="768" cy="2064"/>
          </a:xfrm>
          <a:solidFill>
            <a:srgbClr val="0070C0"/>
          </a:solidFill>
        </p:grpSpPr>
        <p:sp>
          <p:nvSpPr>
            <p:cNvPr id="68" name="AutoShape 45"/>
            <p:cNvSpPr>
              <a:spLocks noChangeArrowheads="1"/>
            </p:cNvSpPr>
            <p:nvPr/>
          </p:nvSpPr>
          <p:spPr bwMode="auto">
            <a:xfrm>
              <a:off x="4656" y="3312"/>
              <a:ext cx="768" cy="240"/>
            </a:xfrm>
            <a:prstGeom prst="cube">
              <a:avLst>
                <a:gd name="adj" fmla="val 26565"/>
              </a:avLst>
            </a:prstGeom>
            <a:grpFill/>
            <a:ln w="9525">
              <a:solidFill>
                <a:srgbClr val="9DC3E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Bank 15</a:t>
              </a:r>
            </a:p>
          </p:txBody>
        </p:sp>
        <p:sp>
          <p:nvSpPr>
            <p:cNvPr id="69" name="AutoShape 46"/>
            <p:cNvSpPr>
              <a:spLocks noChangeArrowheads="1"/>
            </p:cNvSpPr>
            <p:nvPr/>
          </p:nvSpPr>
          <p:spPr bwMode="auto">
            <a:xfrm>
              <a:off x="4656" y="2688"/>
              <a:ext cx="768" cy="240"/>
            </a:xfrm>
            <a:prstGeom prst="cube">
              <a:avLst>
                <a:gd name="adj" fmla="val 26565"/>
              </a:avLst>
            </a:prstGeom>
            <a:grpFill/>
            <a:ln w="9525">
              <a:solidFill>
                <a:srgbClr val="9DC3E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Bank 7</a:t>
              </a:r>
            </a:p>
          </p:txBody>
        </p:sp>
        <p:sp>
          <p:nvSpPr>
            <p:cNvPr id="70" name="AutoShape 47"/>
            <p:cNvSpPr>
              <a:spLocks noChangeArrowheads="1"/>
            </p:cNvSpPr>
            <p:nvPr/>
          </p:nvSpPr>
          <p:spPr bwMode="auto">
            <a:xfrm>
              <a:off x="4656" y="2514"/>
              <a:ext cx="768" cy="240"/>
            </a:xfrm>
            <a:prstGeom prst="cube">
              <a:avLst>
                <a:gd name="adj" fmla="val 26565"/>
              </a:avLst>
            </a:prstGeom>
            <a:grpFill/>
            <a:ln w="9525">
              <a:solidFill>
                <a:srgbClr val="9DC3E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Bank 6</a:t>
              </a:r>
            </a:p>
          </p:txBody>
        </p:sp>
        <p:sp>
          <p:nvSpPr>
            <p:cNvPr id="71" name="AutoShape 48"/>
            <p:cNvSpPr>
              <a:spLocks noChangeArrowheads="1"/>
            </p:cNvSpPr>
            <p:nvPr/>
          </p:nvSpPr>
          <p:spPr bwMode="auto">
            <a:xfrm>
              <a:off x="4656" y="2346"/>
              <a:ext cx="768" cy="240"/>
            </a:xfrm>
            <a:prstGeom prst="cube">
              <a:avLst>
                <a:gd name="adj" fmla="val 26565"/>
              </a:avLst>
            </a:prstGeom>
            <a:grpFill/>
            <a:ln w="9525">
              <a:solidFill>
                <a:srgbClr val="9DC3E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Bank 5</a:t>
              </a:r>
            </a:p>
          </p:txBody>
        </p:sp>
        <p:sp>
          <p:nvSpPr>
            <p:cNvPr id="72" name="AutoShape 49"/>
            <p:cNvSpPr>
              <a:spLocks noChangeArrowheads="1"/>
            </p:cNvSpPr>
            <p:nvPr/>
          </p:nvSpPr>
          <p:spPr bwMode="auto">
            <a:xfrm>
              <a:off x="4656" y="2172"/>
              <a:ext cx="768" cy="240"/>
            </a:xfrm>
            <a:prstGeom prst="cube">
              <a:avLst>
                <a:gd name="adj" fmla="val 26565"/>
              </a:avLst>
            </a:prstGeom>
            <a:grpFill/>
            <a:ln w="9525">
              <a:solidFill>
                <a:srgbClr val="9DC3E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Bank 4</a:t>
              </a:r>
            </a:p>
          </p:txBody>
        </p:sp>
        <p:sp>
          <p:nvSpPr>
            <p:cNvPr id="73" name="AutoShape 50"/>
            <p:cNvSpPr>
              <a:spLocks noChangeArrowheads="1"/>
            </p:cNvSpPr>
            <p:nvPr/>
          </p:nvSpPr>
          <p:spPr bwMode="auto">
            <a:xfrm>
              <a:off x="4656" y="1998"/>
              <a:ext cx="768" cy="240"/>
            </a:xfrm>
            <a:prstGeom prst="cube">
              <a:avLst>
                <a:gd name="adj" fmla="val 26565"/>
              </a:avLst>
            </a:prstGeom>
            <a:grpFill/>
            <a:ln w="9525">
              <a:solidFill>
                <a:srgbClr val="9DC3E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Bank 3</a:t>
              </a:r>
            </a:p>
          </p:txBody>
        </p:sp>
        <p:sp>
          <p:nvSpPr>
            <p:cNvPr id="74" name="AutoShape 51"/>
            <p:cNvSpPr>
              <a:spLocks noChangeArrowheads="1"/>
            </p:cNvSpPr>
            <p:nvPr/>
          </p:nvSpPr>
          <p:spPr bwMode="auto">
            <a:xfrm>
              <a:off x="4656" y="1830"/>
              <a:ext cx="768" cy="240"/>
            </a:xfrm>
            <a:prstGeom prst="cube">
              <a:avLst>
                <a:gd name="adj" fmla="val 26565"/>
              </a:avLst>
            </a:prstGeom>
            <a:grpFill/>
            <a:ln w="9525">
              <a:solidFill>
                <a:srgbClr val="9DC3E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Bank 2</a:t>
              </a:r>
            </a:p>
          </p:txBody>
        </p:sp>
        <p:sp>
          <p:nvSpPr>
            <p:cNvPr id="75" name="AutoShape 52"/>
            <p:cNvSpPr>
              <a:spLocks noChangeArrowheads="1"/>
            </p:cNvSpPr>
            <p:nvPr/>
          </p:nvSpPr>
          <p:spPr bwMode="auto">
            <a:xfrm>
              <a:off x="4656" y="1656"/>
              <a:ext cx="768" cy="240"/>
            </a:xfrm>
            <a:prstGeom prst="cube">
              <a:avLst>
                <a:gd name="adj" fmla="val 26565"/>
              </a:avLst>
            </a:prstGeom>
            <a:grpFill/>
            <a:ln w="9525">
              <a:solidFill>
                <a:srgbClr val="9DC3E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Bank 1</a:t>
              </a:r>
            </a:p>
          </p:txBody>
        </p:sp>
        <p:sp>
          <p:nvSpPr>
            <p:cNvPr id="76" name="AutoShape 53"/>
            <p:cNvSpPr>
              <a:spLocks noChangeArrowheads="1"/>
            </p:cNvSpPr>
            <p:nvPr/>
          </p:nvSpPr>
          <p:spPr bwMode="auto">
            <a:xfrm>
              <a:off x="4656" y="1488"/>
              <a:ext cx="768" cy="240"/>
            </a:xfrm>
            <a:prstGeom prst="cube">
              <a:avLst>
                <a:gd name="adj" fmla="val 26565"/>
              </a:avLst>
            </a:prstGeom>
            <a:grpFill/>
            <a:ln w="9525">
              <a:solidFill>
                <a:srgbClr val="9DC3E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Bank 0</a:t>
              </a:r>
            </a:p>
          </p:txBody>
        </p:sp>
        <p:grpSp>
          <p:nvGrpSpPr>
            <p:cNvPr id="77" name="Group 54"/>
            <p:cNvGrpSpPr>
              <a:grpSpLocks/>
            </p:cNvGrpSpPr>
            <p:nvPr/>
          </p:nvGrpSpPr>
          <p:grpSpPr bwMode="auto">
            <a:xfrm>
              <a:off x="5010" y="3000"/>
              <a:ext cx="48" cy="240"/>
              <a:chOff x="2400" y="2832"/>
              <a:chExt cx="48" cy="240"/>
            </a:xfrm>
            <a:grpFill/>
          </p:grpSpPr>
          <p:sp>
            <p:nvSpPr>
              <p:cNvPr id="78" name="Oval 55"/>
              <p:cNvSpPr>
                <a:spLocks noChangeArrowheads="1"/>
              </p:cNvSpPr>
              <p:nvPr/>
            </p:nvSpPr>
            <p:spPr bwMode="auto">
              <a:xfrm>
                <a:off x="2400" y="2832"/>
                <a:ext cx="48" cy="48"/>
              </a:xfrm>
              <a:prstGeom prst="ellipse">
                <a:avLst/>
              </a:prstGeom>
              <a:grpFill/>
              <a:ln w="9525">
                <a:solidFill>
                  <a:srgbClr val="9DC3E6"/>
                </a:solidFill>
                <a:round/>
                <a:headEnd/>
                <a:tailEnd/>
              </a:ln>
              <a:effectLst/>
            </p:spPr>
            <p:txBody>
              <a:bodyPr wrap="none" anchor="ctr">
                <a:prstTxWarp prst="textNoShape">
                  <a:avLst/>
                </a:prstTxWarp>
              </a:bodyPr>
              <a:lstStyle/>
              <a:p>
                <a:endParaRPr lang="es-ES_tradnl"/>
              </a:p>
            </p:txBody>
          </p:sp>
          <p:sp>
            <p:nvSpPr>
              <p:cNvPr id="79" name="Oval 56"/>
              <p:cNvSpPr>
                <a:spLocks noChangeArrowheads="1"/>
              </p:cNvSpPr>
              <p:nvPr/>
            </p:nvSpPr>
            <p:spPr bwMode="auto">
              <a:xfrm>
                <a:off x="2400" y="2928"/>
                <a:ext cx="48" cy="48"/>
              </a:xfrm>
              <a:prstGeom prst="ellipse">
                <a:avLst/>
              </a:prstGeom>
              <a:grpFill/>
              <a:ln w="9525">
                <a:solidFill>
                  <a:srgbClr val="9DC3E6"/>
                </a:solidFill>
                <a:round/>
                <a:headEnd/>
                <a:tailEnd/>
              </a:ln>
              <a:effectLst/>
            </p:spPr>
            <p:txBody>
              <a:bodyPr wrap="none" anchor="ctr">
                <a:prstTxWarp prst="textNoShape">
                  <a:avLst/>
                </a:prstTxWarp>
              </a:bodyPr>
              <a:lstStyle/>
              <a:p>
                <a:endParaRPr lang="es-ES_tradnl"/>
              </a:p>
            </p:txBody>
          </p:sp>
          <p:sp>
            <p:nvSpPr>
              <p:cNvPr id="80" name="Oval 57"/>
              <p:cNvSpPr>
                <a:spLocks noChangeArrowheads="1"/>
              </p:cNvSpPr>
              <p:nvPr/>
            </p:nvSpPr>
            <p:spPr bwMode="auto">
              <a:xfrm>
                <a:off x="2400" y="3024"/>
                <a:ext cx="48" cy="48"/>
              </a:xfrm>
              <a:prstGeom prst="ellipse">
                <a:avLst/>
              </a:prstGeom>
              <a:grpFill/>
              <a:ln w="9525">
                <a:solidFill>
                  <a:srgbClr val="9DC3E6"/>
                </a:solidFill>
                <a:round/>
                <a:headEnd/>
                <a:tailEnd/>
              </a:ln>
              <a:effectLst/>
            </p:spPr>
            <p:txBody>
              <a:bodyPr wrap="none" anchor="ctr">
                <a:prstTxWarp prst="textNoShape">
                  <a:avLst/>
                </a:prstTxWarp>
              </a:bodyPr>
              <a:lstStyle/>
              <a:p>
                <a:endParaRPr lang="es-ES_tradnl"/>
              </a:p>
            </p:txBody>
          </p:sp>
        </p:grpSp>
      </p:grpSp>
      <p:grpSp>
        <p:nvGrpSpPr>
          <p:cNvPr id="45" name="Group 58"/>
          <p:cNvGrpSpPr>
            <a:grpSpLocks/>
          </p:cNvGrpSpPr>
          <p:nvPr/>
        </p:nvGrpSpPr>
        <p:grpSpPr bwMode="auto">
          <a:xfrm>
            <a:off x="4802560" y="1772816"/>
            <a:ext cx="1219200" cy="3276600"/>
            <a:chOff x="4656" y="1488"/>
            <a:chExt cx="768" cy="2064"/>
          </a:xfrm>
          <a:solidFill>
            <a:srgbClr val="00B050"/>
          </a:solidFill>
        </p:grpSpPr>
        <p:sp>
          <p:nvSpPr>
            <p:cNvPr id="55" name="AutoShape 59"/>
            <p:cNvSpPr>
              <a:spLocks noChangeArrowheads="1"/>
            </p:cNvSpPr>
            <p:nvPr/>
          </p:nvSpPr>
          <p:spPr bwMode="auto">
            <a:xfrm>
              <a:off x="4656" y="3312"/>
              <a:ext cx="768" cy="240"/>
            </a:xfrm>
            <a:prstGeom prst="cube">
              <a:avLst>
                <a:gd name="adj" fmla="val 26565"/>
              </a:avLst>
            </a:prstGeom>
            <a:grpFill/>
            <a:ln w="9525">
              <a:solidFill>
                <a:schemeClr val="accent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Thread 15</a:t>
              </a:r>
            </a:p>
          </p:txBody>
        </p:sp>
        <p:sp>
          <p:nvSpPr>
            <p:cNvPr id="56" name="AutoShape 60"/>
            <p:cNvSpPr>
              <a:spLocks noChangeArrowheads="1"/>
            </p:cNvSpPr>
            <p:nvPr/>
          </p:nvSpPr>
          <p:spPr bwMode="auto">
            <a:xfrm>
              <a:off x="4656" y="2688"/>
              <a:ext cx="768" cy="240"/>
            </a:xfrm>
            <a:prstGeom prst="cube">
              <a:avLst>
                <a:gd name="adj" fmla="val 26565"/>
              </a:avLst>
            </a:prstGeom>
            <a:grpFill/>
            <a:ln w="9525">
              <a:solidFill>
                <a:schemeClr val="accent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Thread 7</a:t>
              </a:r>
            </a:p>
          </p:txBody>
        </p:sp>
        <p:sp>
          <p:nvSpPr>
            <p:cNvPr id="57" name="AutoShape 61"/>
            <p:cNvSpPr>
              <a:spLocks noChangeArrowheads="1"/>
            </p:cNvSpPr>
            <p:nvPr/>
          </p:nvSpPr>
          <p:spPr bwMode="auto">
            <a:xfrm>
              <a:off x="4656" y="2514"/>
              <a:ext cx="768" cy="240"/>
            </a:xfrm>
            <a:prstGeom prst="cube">
              <a:avLst>
                <a:gd name="adj" fmla="val 26565"/>
              </a:avLst>
            </a:prstGeom>
            <a:grpFill/>
            <a:ln w="9525">
              <a:solidFill>
                <a:schemeClr val="accent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Thread 6</a:t>
              </a:r>
            </a:p>
          </p:txBody>
        </p:sp>
        <p:sp>
          <p:nvSpPr>
            <p:cNvPr id="58" name="AutoShape 62"/>
            <p:cNvSpPr>
              <a:spLocks noChangeArrowheads="1"/>
            </p:cNvSpPr>
            <p:nvPr/>
          </p:nvSpPr>
          <p:spPr bwMode="auto">
            <a:xfrm>
              <a:off x="4656" y="2346"/>
              <a:ext cx="768" cy="240"/>
            </a:xfrm>
            <a:prstGeom prst="cube">
              <a:avLst>
                <a:gd name="adj" fmla="val 26565"/>
              </a:avLst>
            </a:prstGeom>
            <a:grpFill/>
            <a:ln w="9525">
              <a:solidFill>
                <a:schemeClr val="accent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Thread 5</a:t>
              </a:r>
            </a:p>
          </p:txBody>
        </p:sp>
        <p:sp>
          <p:nvSpPr>
            <p:cNvPr id="59" name="AutoShape 63"/>
            <p:cNvSpPr>
              <a:spLocks noChangeArrowheads="1"/>
            </p:cNvSpPr>
            <p:nvPr/>
          </p:nvSpPr>
          <p:spPr bwMode="auto">
            <a:xfrm>
              <a:off x="4656" y="2172"/>
              <a:ext cx="768" cy="240"/>
            </a:xfrm>
            <a:prstGeom prst="cube">
              <a:avLst>
                <a:gd name="adj" fmla="val 26565"/>
              </a:avLst>
            </a:prstGeom>
            <a:grpFill/>
            <a:ln w="9525">
              <a:solidFill>
                <a:schemeClr val="accent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Thread 4</a:t>
              </a:r>
            </a:p>
          </p:txBody>
        </p:sp>
        <p:sp>
          <p:nvSpPr>
            <p:cNvPr id="60" name="AutoShape 64"/>
            <p:cNvSpPr>
              <a:spLocks noChangeArrowheads="1"/>
            </p:cNvSpPr>
            <p:nvPr/>
          </p:nvSpPr>
          <p:spPr bwMode="auto">
            <a:xfrm>
              <a:off x="4656" y="1998"/>
              <a:ext cx="768" cy="240"/>
            </a:xfrm>
            <a:prstGeom prst="cube">
              <a:avLst>
                <a:gd name="adj" fmla="val 26565"/>
              </a:avLst>
            </a:prstGeom>
            <a:grpFill/>
            <a:ln w="9525">
              <a:solidFill>
                <a:schemeClr val="accent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Thread 3</a:t>
              </a:r>
            </a:p>
          </p:txBody>
        </p:sp>
        <p:sp>
          <p:nvSpPr>
            <p:cNvPr id="61" name="AutoShape 65"/>
            <p:cNvSpPr>
              <a:spLocks noChangeArrowheads="1"/>
            </p:cNvSpPr>
            <p:nvPr/>
          </p:nvSpPr>
          <p:spPr bwMode="auto">
            <a:xfrm>
              <a:off x="4656" y="1830"/>
              <a:ext cx="768" cy="240"/>
            </a:xfrm>
            <a:prstGeom prst="cube">
              <a:avLst>
                <a:gd name="adj" fmla="val 26565"/>
              </a:avLst>
            </a:prstGeom>
            <a:grpFill/>
            <a:ln w="9525">
              <a:solidFill>
                <a:schemeClr val="accent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Thread 2</a:t>
              </a:r>
            </a:p>
          </p:txBody>
        </p:sp>
        <p:sp>
          <p:nvSpPr>
            <p:cNvPr id="62" name="AutoShape 66"/>
            <p:cNvSpPr>
              <a:spLocks noChangeArrowheads="1"/>
            </p:cNvSpPr>
            <p:nvPr/>
          </p:nvSpPr>
          <p:spPr bwMode="auto">
            <a:xfrm>
              <a:off x="4656" y="1656"/>
              <a:ext cx="768" cy="240"/>
            </a:xfrm>
            <a:prstGeom prst="cube">
              <a:avLst>
                <a:gd name="adj" fmla="val 26565"/>
              </a:avLst>
            </a:prstGeom>
            <a:grpFill/>
            <a:ln w="9525">
              <a:solidFill>
                <a:schemeClr val="accent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Thread 1</a:t>
              </a:r>
            </a:p>
          </p:txBody>
        </p:sp>
        <p:sp>
          <p:nvSpPr>
            <p:cNvPr id="63" name="AutoShape 67"/>
            <p:cNvSpPr>
              <a:spLocks noChangeArrowheads="1"/>
            </p:cNvSpPr>
            <p:nvPr/>
          </p:nvSpPr>
          <p:spPr bwMode="auto">
            <a:xfrm>
              <a:off x="4656" y="1488"/>
              <a:ext cx="768" cy="240"/>
            </a:xfrm>
            <a:prstGeom prst="cube">
              <a:avLst>
                <a:gd name="adj" fmla="val 26565"/>
              </a:avLst>
            </a:prstGeom>
            <a:grpFill/>
            <a:ln w="9525">
              <a:solidFill>
                <a:schemeClr val="accent6"/>
              </a:solidFill>
              <a:miter lim="800000"/>
              <a:headEnd/>
              <a:tailEnd/>
            </a:ln>
            <a:effectLst/>
          </p:spPr>
          <p:txBody>
            <a:bodyPr wrap="none" anchor="ctr">
              <a:prstTxWarp prst="textNoShape">
                <a:avLst/>
              </a:prstTxWarp>
            </a:bodyPr>
            <a:lstStyle/>
            <a:p>
              <a:pPr algn="ctr"/>
              <a:r>
                <a:rPr lang="en-US" sz="1800" dirty="0">
                  <a:solidFill>
                    <a:schemeClr val="bg1"/>
                  </a:solidFill>
                  <a:latin typeface="Arial" pitchFamily="-111" charset="0"/>
                </a:rPr>
                <a:t>Thread 0</a:t>
              </a:r>
            </a:p>
          </p:txBody>
        </p:sp>
        <p:grpSp>
          <p:nvGrpSpPr>
            <p:cNvPr id="64" name="Group 68"/>
            <p:cNvGrpSpPr>
              <a:grpSpLocks/>
            </p:cNvGrpSpPr>
            <p:nvPr/>
          </p:nvGrpSpPr>
          <p:grpSpPr bwMode="auto">
            <a:xfrm>
              <a:off x="5010" y="3000"/>
              <a:ext cx="48" cy="240"/>
              <a:chOff x="2400" y="2832"/>
              <a:chExt cx="48" cy="240"/>
            </a:xfrm>
            <a:grpFill/>
          </p:grpSpPr>
          <p:sp>
            <p:nvSpPr>
              <p:cNvPr id="65" name="Oval 69"/>
              <p:cNvSpPr>
                <a:spLocks noChangeArrowheads="1"/>
              </p:cNvSpPr>
              <p:nvPr/>
            </p:nvSpPr>
            <p:spPr bwMode="auto">
              <a:xfrm>
                <a:off x="2400" y="2832"/>
                <a:ext cx="48" cy="48"/>
              </a:xfrm>
              <a:prstGeom prst="ellipse">
                <a:avLst/>
              </a:prstGeom>
              <a:grpFill/>
              <a:ln w="9525">
                <a:solidFill>
                  <a:schemeClr val="accent6"/>
                </a:solidFill>
                <a:round/>
                <a:headEnd/>
                <a:tailEnd/>
              </a:ln>
              <a:effectLst/>
            </p:spPr>
            <p:txBody>
              <a:bodyPr wrap="none" anchor="ctr">
                <a:prstTxWarp prst="textNoShape">
                  <a:avLst/>
                </a:prstTxWarp>
              </a:bodyPr>
              <a:lstStyle/>
              <a:p>
                <a:endParaRPr lang="es-ES_tradnl"/>
              </a:p>
            </p:txBody>
          </p:sp>
          <p:sp>
            <p:nvSpPr>
              <p:cNvPr id="66" name="Oval 70"/>
              <p:cNvSpPr>
                <a:spLocks noChangeArrowheads="1"/>
              </p:cNvSpPr>
              <p:nvPr/>
            </p:nvSpPr>
            <p:spPr bwMode="auto">
              <a:xfrm>
                <a:off x="2400" y="2928"/>
                <a:ext cx="48" cy="48"/>
              </a:xfrm>
              <a:prstGeom prst="ellipse">
                <a:avLst/>
              </a:prstGeom>
              <a:grpFill/>
              <a:ln w="9525">
                <a:solidFill>
                  <a:schemeClr val="accent6"/>
                </a:solidFill>
                <a:round/>
                <a:headEnd/>
                <a:tailEnd/>
              </a:ln>
              <a:effectLst/>
            </p:spPr>
            <p:txBody>
              <a:bodyPr wrap="none" anchor="ctr">
                <a:prstTxWarp prst="textNoShape">
                  <a:avLst/>
                </a:prstTxWarp>
              </a:bodyPr>
              <a:lstStyle/>
              <a:p>
                <a:endParaRPr lang="es-ES_tradnl"/>
              </a:p>
            </p:txBody>
          </p:sp>
          <p:sp>
            <p:nvSpPr>
              <p:cNvPr id="67" name="Oval 71"/>
              <p:cNvSpPr>
                <a:spLocks noChangeArrowheads="1"/>
              </p:cNvSpPr>
              <p:nvPr/>
            </p:nvSpPr>
            <p:spPr bwMode="auto">
              <a:xfrm>
                <a:off x="2400" y="3024"/>
                <a:ext cx="48" cy="48"/>
              </a:xfrm>
              <a:prstGeom prst="ellipse">
                <a:avLst/>
              </a:prstGeom>
              <a:grpFill/>
              <a:ln w="9525">
                <a:solidFill>
                  <a:schemeClr val="accent6"/>
                </a:solidFill>
                <a:round/>
                <a:headEnd/>
                <a:tailEnd/>
              </a:ln>
              <a:effectLst/>
            </p:spPr>
            <p:txBody>
              <a:bodyPr wrap="none" anchor="ctr">
                <a:prstTxWarp prst="textNoShape">
                  <a:avLst/>
                </a:prstTxWarp>
              </a:bodyPr>
              <a:lstStyle/>
              <a:p>
                <a:endParaRPr lang="es-ES_tradnl"/>
              </a:p>
            </p:txBody>
          </p:sp>
        </p:grpSp>
      </p:grpSp>
      <p:cxnSp>
        <p:nvCxnSpPr>
          <p:cNvPr id="46" name="AutoShape 72"/>
          <p:cNvCxnSpPr>
            <a:cxnSpLocks noChangeShapeType="1"/>
            <a:stCxn id="63" idx="4"/>
            <a:endCxn id="75" idx="2"/>
          </p:cNvCxnSpPr>
          <p:nvPr/>
        </p:nvCxnSpPr>
        <p:spPr bwMode="auto">
          <a:xfrm>
            <a:off x="5920160" y="2014116"/>
            <a:ext cx="1320800" cy="266700"/>
          </a:xfrm>
          <a:prstGeom prst="straightConnector1">
            <a:avLst/>
          </a:prstGeom>
          <a:noFill/>
          <a:ln w="25400">
            <a:solidFill>
              <a:schemeClr val="tx1"/>
            </a:solidFill>
            <a:round/>
            <a:headEnd/>
            <a:tailEnd type="triangle" w="lg" len="lg"/>
          </a:ln>
          <a:effectLst/>
        </p:spPr>
      </p:cxnSp>
      <p:cxnSp>
        <p:nvCxnSpPr>
          <p:cNvPr id="47" name="AutoShape 73"/>
          <p:cNvCxnSpPr>
            <a:cxnSpLocks noChangeShapeType="1"/>
            <a:stCxn id="62" idx="4"/>
            <a:endCxn id="71" idx="2"/>
          </p:cNvCxnSpPr>
          <p:nvPr/>
        </p:nvCxnSpPr>
        <p:spPr bwMode="auto">
          <a:xfrm>
            <a:off x="5920160" y="2280816"/>
            <a:ext cx="1320800" cy="1095375"/>
          </a:xfrm>
          <a:prstGeom prst="straightConnector1">
            <a:avLst/>
          </a:prstGeom>
          <a:noFill/>
          <a:ln w="25400">
            <a:solidFill>
              <a:schemeClr val="tx1"/>
            </a:solidFill>
            <a:round/>
            <a:headEnd/>
            <a:tailEnd type="triangle" w="lg" len="lg"/>
          </a:ln>
          <a:effectLst/>
        </p:spPr>
      </p:cxnSp>
      <p:cxnSp>
        <p:nvCxnSpPr>
          <p:cNvPr id="48" name="AutoShape 74"/>
          <p:cNvCxnSpPr>
            <a:cxnSpLocks noChangeShapeType="1"/>
            <a:stCxn id="61" idx="4"/>
            <a:endCxn id="74" idx="2"/>
          </p:cNvCxnSpPr>
          <p:nvPr/>
        </p:nvCxnSpPr>
        <p:spPr bwMode="auto">
          <a:xfrm>
            <a:off x="5920160" y="2557041"/>
            <a:ext cx="1320800" cy="0"/>
          </a:xfrm>
          <a:prstGeom prst="straightConnector1">
            <a:avLst/>
          </a:prstGeom>
          <a:noFill/>
          <a:ln w="25400">
            <a:solidFill>
              <a:schemeClr val="tx1"/>
            </a:solidFill>
            <a:round/>
            <a:headEnd/>
            <a:tailEnd type="triangle" w="lg" len="lg"/>
          </a:ln>
          <a:effectLst/>
        </p:spPr>
      </p:cxnSp>
      <p:cxnSp>
        <p:nvCxnSpPr>
          <p:cNvPr id="49" name="AutoShape 75"/>
          <p:cNvCxnSpPr>
            <a:cxnSpLocks noChangeShapeType="1"/>
            <a:stCxn id="60" idx="4"/>
            <a:endCxn id="76" idx="2"/>
          </p:cNvCxnSpPr>
          <p:nvPr/>
        </p:nvCxnSpPr>
        <p:spPr bwMode="auto">
          <a:xfrm flipV="1">
            <a:off x="5920160" y="2014116"/>
            <a:ext cx="1320800" cy="809625"/>
          </a:xfrm>
          <a:prstGeom prst="straightConnector1">
            <a:avLst/>
          </a:prstGeom>
          <a:noFill/>
          <a:ln w="25400">
            <a:solidFill>
              <a:schemeClr val="tx1"/>
            </a:solidFill>
            <a:round/>
            <a:headEnd/>
            <a:tailEnd type="triangle" w="lg" len="lg"/>
          </a:ln>
          <a:effectLst/>
        </p:spPr>
      </p:cxnSp>
      <p:cxnSp>
        <p:nvCxnSpPr>
          <p:cNvPr id="50" name="AutoShape 76"/>
          <p:cNvCxnSpPr>
            <a:cxnSpLocks noChangeShapeType="1"/>
            <a:stCxn id="59" idx="4"/>
            <a:endCxn id="73" idx="2"/>
          </p:cNvCxnSpPr>
          <p:nvPr/>
        </p:nvCxnSpPr>
        <p:spPr bwMode="auto">
          <a:xfrm flipV="1">
            <a:off x="5920160" y="2823741"/>
            <a:ext cx="1320800" cy="276225"/>
          </a:xfrm>
          <a:prstGeom prst="straightConnector1">
            <a:avLst/>
          </a:prstGeom>
          <a:noFill/>
          <a:ln w="25400">
            <a:solidFill>
              <a:schemeClr val="tx1"/>
            </a:solidFill>
            <a:round/>
            <a:headEnd/>
            <a:tailEnd type="triangle" w="lg" len="lg"/>
          </a:ln>
          <a:effectLst/>
        </p:spPr>
      </p:cxnSp>
      <p:cxnSp>
        <p:nvCxnSpPr>
          <p:cNvPr id="51" name="AutoShape 77"/>
          <p:cNvCxnSpPr>
            <a:cxnSpLocks noChangeShapeType="1"/>
            <a:stCxn id="58" idx="4"/>
            <a:endCxn id="69" idx="2"/>
          </p:cNvCxnSpPr>
          <p:nvPr/>
        </p:nvCxnSpPr>
        <p:spPr bwMode="auto">
          <a:xfrm>
            <a:off x="5920160" y="3376191"/>
            <a:ext cx="1320800" cy="542925"/>
          </a:xfrm>
          <a:prstGeom prst="straightConnector1">
            <a:avLst/>
          </a:prstGeom>
          <a:noFill/>
          <a:ln w="25400">
            <a:solidFill>
              <a:schemeClr val="tx1"/>
            </a:solidFill>
            <a:round/>
            <a:headEnd/>
            <a:tailEnd type="triangle" w="lg" len="lg"/>
          </a:ln>
          <a:effectLst/>
        </p:spPr>
      </p:cxnSp>
      <p:cxnSp>
        <p:nvCxnSpPr>
          <p:cNvPr id="52" name="AutoShape 78"/>
          <p:cNvCxnSpPr>
            <a:cxnSpLocks noChangeShapeType="1"/>
            <a:stCxn id="57" idx="4"/>
            <a:endCxn id="70" idx="2"/>
          </p:cNvCxnSpPr>
          <p:nvPr/>
        </p:nvCxnSpPr>
        <p:spPr bwMode="auto">
          <a:xfrm>
            <a:off x="5920160" y="3642891"/>
            <a:ext cx="1320800" cy="0"/>
          </a:xfrm>
          <a:prstGeom prst="straightConnector1">
            <a:avLst/>
          </a:prstGeom>
          <a:noFill/>
          <a:ln w="25400">
            <a:solidFill>
              <a:schemeClr val="tx1"/>
            </a:solidFill>
            <a:round/>
            <a:headEnd/>
            <a:tailEnd type="triangle" w="lg" len="lg"/>
          </a:ln>
          <a:effectLst/>
        </p:spPr>
      </p:cxnSp>
      <p:cxnSp>
        <p:nvCxnSpPr>
          <p:cNvPr id="53" name="AutoShape 79"/>
          <p:cNvCxnSpPr>
            <a:cxnSpLocks noChangeShapeType="1"/>
            <a:stCxn id="56" idx="4"/>
            <a:endCxn id="68" idx="2"/>
          </p:cNvCxnSpPr>
          <p:nvPr/>
        </p:nvCxnSpPr>
        <p:spPr bwMode="auto">
          <a:xfrm>
            <a:off x="5920160" y="3919116"/>
            <a:ext cx="1320800" cy="990600"/>
          </a:xfrm>
          <a:prstGeom prst="straightConnector1">
            <a:avLst/>
          </a:prstGeom>
          <a:noFill/>
          <a:ln w="25400">
            <a:solidFill>
              <a:schemeClr val="tx1"/>
            </a:solidFill>
            <a:round/>
            <a:headEnd/>
            <a:tailEnd type="triangle" w="lg" len="lg"/>
          </a:ln>
          <a:effectLst/>
        </p:spPr>
      </p:cxnSp>
      <p:cxnSp>
        <p:nvCxnSpPr>
          <p:cNvPr id="54" name="AutoShape 80"/>
          <p:cNvCxnSpPr>
            <a:cxnSpLocks noChangeShapeType="1"/>
            <a:stCxn id="55" idx="4"/>
            <a:endCxn id="72" idx="2"/>
          </p:cNvCxnSpPr>
          <p:nvPr/>
        </p:nvCxnSpPr>
        <p:spPr bwMode="auto">
          <a:xfrm flipV="1">
            <a:off x="5920160" y="3099966"/>
            <a:ext cx="1320800" cy="1809750"/>
          </a:xfrm>
          <a:prstGeom prst="straightConnector1">
            <a:avLst/>
          </a:prstGeom>
          <a:noFill/>
          <a:ln w="25400">
            <a:solidFill>
              <a:schemeClr val="tx1"/>
            </a:solidFill>
            <a:round/>
            <a:headEnd/>
            <a:tailEnd type="triangle" w="lg" len="lg"/>
          </a:ln>
          <a:effectLst/>
        </p:spPr>
      </p:cxnSp>
      <p:sp>
        <p:nvSpPr>
          <p:cNvPr id="81" name="CuadroTexto 80"/>
          <p:cNvSpPr txBox="1"/>
          <p:nvPr/>
        </p:nvSpPr>
        <p:spPr>
          <a:xfrm>
            <a:off x="792767" y="5507940"/>
            <a:ext cx="3131161" cy="369332"/>
          </a:xfrm>
          <a:prstGeom prst="rect">
            <a:avLst/>
          </a:prstGeom>
          <a:noFill/>
        </p:spPr>
        <p:txBody>
          <a:bodyPr wrap="none" rtlCol="0">
            <a:spAutoFit/>
          </a:bodyPr>
          <a:lstStyle/>
          <a:p>
            <a:r>
              <a:rPr lang="en-US" dirty="0"/>
              <a:t>Linear addressing: stride = 1</a:t>
            </a:r>
          </a:p>
        </p:txBody>
      </p:sp>
      <p:sp>
        <p:nvSpPr>
          <p:cNvPr id="82" name="CuadroTexto 81"/>
          <p:cNvSpPr txBox="1"/>
          <p:nvPr/>
        </p:nvSpPr>
        <p:spPr>
          <a:xfrm>
            <a:off x="5351337" y="5507940"/>
            <a:ext cx="2677047" cy="369332"/>
          </a:xfrm>
          <a:prstGeom prst="rect">
            <a:avLst/>
          </a:prstGeom>
          <a:noFill/>
        </p:spPr>
        <p:txBody>
          <a:bodyPr wrap="none" rtlCol="0">
            <a:spAutoFit/>
          </a:bodyPr>
          <a:lstStyle/>
          <a:p>
            <a:r>
              <a:rPr lang="en-US" dirty="0"/>
              <a:t>Random addressing 1:1</a:t>
            </a:r>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42</a:t>
            </a:fld>
            <a:endParaRPr lang="en-US" altLang="en-US"/>
          </a:p>
        </p:txBody>
      </p:sp>
      <p:sp>
        <p:nvSpPr>
          <p:cNvPr id="84" name="CuadroTexto 26">
            <a:extLst>
              <a:ext uri="{FF2B5EF4-FFF2-40B4-BE49-F238E27FC236}">
                <a16:creationId xmlns:a16="http://schemas.microsoft.com/office/drawing/2014/main" id="{083B6337-257C-254A-A2F6-674F8BFD2BF4}"/>
              </a:ext>
            </a:extLst>
          </p:cNvPr>
          <p:cNvSpPr txBox="1"/>
          <p:nvPr/>
        </p:nvSpPr>
        <p:spPr>
          <a:xfrm>
            <a:off x="228600" y="6495225"/>
            <a:ext cx="1274708" cy="215444"/>
          </a:xfrm>
          <a:prstGeom prst="rect">
            <a:avLst/>
          </a:prstGeom>
          <a:noFill/>
        </p:spPr>
        <p:txBody>
          <a:bodyPr wrap="none" rtlCol="0">
            <a:spAutoFit/>
          </a:bodyPr>
          <a:lstStyle/>
          <a:p>
            <a:r>
              <a:rPr lang="en-US" sz="800" dirty="0"/>
              <a:t>Slide credit: </a:t>
            </a:r>
            <a:r>
              <a:rPr lang="en-US" sz="800" dirty="0" err="1"/>
              <a:t>Hwu</a:t>
            </a:r>
            <a:r>
              <a:rPr lang="en-US" sz="800" dirty="0"/>
              <a:t> &amp; Kirk</a:t>
            </a:r>
          </a:p>
        </p:txBody>
      </p:sp>
    </p:spTree>
    <p:extLst>
      <p:ext uri="{BB962C8B-B14F-4D97-AF65-F5344CB8AC3E}">
        <p14:creationId xmlns:p14="http://schemas.microsoft.com/office/powerpoint/2010/main" val="307451920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P spid="8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Shared Memory Bank Conflicts (II)</a:t>
            </a:r>
          </a:p>
        </p:txBody>
      </p:sp>
      <p:sp>
        <p:nvSpPr>
          <p:cNvPr id="3" name="Marcador de contenido 2"/>
          <p:cNvSpPr>
            <a:spLocks noGrp="1"/>
          </p:cNvSpPr>
          <p:nvPr>
            <p:ph idx="1"/>
          </p:nvPr>
        </p:nvSpPr>
        <p:spPr>
          <a:xfrm>
            <a:off x="251521" y="908720"/>
            <a:ext cx="8640960" cy="5472534"/>
          </a:xfrm>
        </p:spPr>
        <p:txBody>
          <a:bodyPr>
            <a:normAutofit/>
          </a:bodyPr>
          <a:lstStyle/>
          <a:p>
            <a:r>
              <a:rPr lang="en-US" dirty="0">
                <a:solidFill>
                  <a:srgbClr val="FF0000"/>
                </a:solidFill>
              </a:rPr>
              <a:t>N-way bank conflicts</a:t>
            </a:r>
          </a:p>
        </p:txBody>
      </p:sp>
      <p:sp>
        <p:nvSpPr>
          <p:cNvPr id="81" name="CuadroTexto 80"/>
          <p:cNvSpPr txBox="1"/>
          <p:nvPr/>
        </p:nvSpPr>
        <p:spPr>
          <a:xfrm>
            <a:off x="792767" y="5507940"/>
            <a:ext cx="3313753" cy="369332"/>
          </a:xfrm>
          <a:prstGeom prst="rect">
            <a:avLst/>
          </a:prstGeom>
          <a:noFill/>
        </p:spPr>
        <p:txBody>
          <a:bodyPr wrap="none" rtlCol="0">
            <a:spAutoFit/>
          </a:bodyPr>
          <a:lstStyle/>
          <a:p>
            <a:r>
              <a:rPr lang="en-US" dirty="0"/>
              <a:t>2-way bank conflict: stride = 2</a:t>
            </a:r>
          </a:p>
        </p:txBody>
      </p:sp>
      <p:sp>
        <p:nvSpPr>
          <p:cNvPr id="82" name="CuadroTexto 81"/>
          <p:cNvSpPr txBox="1"/>
          <p:nvPr/>
        </p:nvSpPr>
        <p:spPr>
          <a:xfrm>
            <a:off x="5004048" y="5507940"/>
            <a:ext cx="3313753" cy="369332"/>
          </a:xfrm>
          <a:prstGeom prst="rect">
            <a:avLst/>
          </a:prstGeom>
          <a:noFill/>
        </p:spPr>
        <p:txBody>
          <a:bodyPr wrap="none" rtlCol="0">
            <a:spAutoFit/>
          </a:bodyPr>
          <a:lstStyle/>
          <a:p>
            <a:r>
              <a:rPr lang="en-US" dirty="0"/>
              <a:t>8-way bank conflict: stride = 8</a:t>
            </a:r>
          </a:p>
        </p:txBody>
      </p:sp>
      <p:sp>
        <p:nvSpPr>
          <p:cNvPr id="84" name="AutoShape 6"/>
          <p:cNvSpPr>
            <a:spLocks noChangeArrowheads="1"/>
          </p:cNvSpPr>
          <p:nvPr/>
        </p:nvSpPr>
        <p:spPr bwMode="auto">
          <a:xfrm>
            <a:off x="611560" y="4672608"/>
            <a:ext cx="1219200" cy="381000"/>
          </a:xfrm>
          <a:prstGeom prst="cube">
            <a:avLst>
              <a:gd name="adj" fmla="val 26565"/>
            </a:avLst>
          </a:prstGeom>
          <a:solidFill>
            <a:srgbClr val="00B050"/>
          </a:solidFill>
          <a:ln w="9525">
            <a:solidFill>
              <a:schemeClr val="accent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Thread 11</a:t>
            </a:r>
          </a:p>
        </p:txBody>
      </p:sp>
      <p:sp>
        <p:nvSpPr>
          <p:cNvPr id="85" name="AutoShape 7"/>
          <p:cNvSpPr>
            <a:spLocks noChangeArrowheads="1"/>
          </p:cNvSpPr>
          <p:nvPr/>
        </p:nvSpPr>
        <p:spPr bwMode="auto">
          <a:xfrm>
            <a:off x="611560" y="4396383"/>
            <a:ext cx="1219200" cy="381000"/>
          </a:xfrm>
          <a:prstGeom prst="cube">
            <a:avLst>
              <a:gd name="adj" fmla="val 26565"/>
            </a:avLst>
          </a:prstGeom>
          <a:solidFill>
            <a:srgbClr val="00B050"/>
          </a:solidFill>
          <a:ln w="9525">
            <a:solidFill>
              <a:schemeClr val="accent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Thread 10</a:t>
            </a:r>
          </a:p>
        </p:txBody>
      </p:sp>
      <p:sp>
        <p:nvSpPr>
          <p:cNvPr id="86" name="AutoShape 8"/>
          <p:cNvSpPr>
            <a:spLocks noChangeArrowheads="1"/>
          </p:cNvSpPr>
          <p:nvPr/>
        </p:nvSpPr>
        <p:spPr bwMode="auto">
          <a:xfrm>
            <a:off x="611560" y="4120158"/>
            <a:ext cx="1219200" cy="381000"/>
          </a:xfrm>
          <a:prstGeom prst="cube">
            <a:avLst>
              <a:gd name="adj" fmla="val 26565"/>
            </a:avLst>
          </a:prstGeom>
          <a:solidFill>
            <a:srgbClr val="00B050"/>
          </a:solidFill>
          <a:ln w="9525">
            <a:solidFill>
              <a:schemeClr val="accent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Thread 9</a:t>
            </a:r>
          </a:p>
        </p:txBody>
      </p:sp>
      <p:sp>
        <p:nvSpPr>
          <p:cNvPr id="87" name="AutoShape 9"/>
          <p:cNvSpPr>
            <a:spLocks noChangeArrowheads="1"/>
          </p:cNvSpPr>
          <p:nvPr/>
        </p:nvSpPr>
        <p:spPr bwMode="auto">
          <a:xfrm>
            <a:off x="611560" y="3853458"/>
            <a:ext cx="1219200" cy="381000"/>
          </a:xfrm>
          <a:prstGeom prst="cube">
            <a:avLst>
              <a:gd name="adj" fmla="val 26565"/>
            </a:avLst>
          </a:prstGeom>
          <a:solidFill>
            <a:srgbClr val="00B050"/>
          </a:solidFill>
          <a:ln w="9525">
            <a:solidFill>
              <a:schemeClr val="accent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Thread 8</a:t>
            </a:r>
          </a:p>
        </p:txBody>
      </p:sp>
      <p:sp>
        <p:nvSpPr>
          <p:cNvPr id="88" name="AutoShape 10"/>
          <p:cNvSpPr>
            <a:spLocks noChangeArrowheads="1"/>
          </p:cNvSpPr>
          <p:nvPr/>
        </p:nvSpPr>
        <p:spPr bwMode="auto">
          <a:xfrm>
            <a:off x="611560" y="2862858"/>
            <a:ext cx="1219200" cy="381000"/>
          </a:xfrm>
          <a:prstGeom prst="cube">
            <a:avLst>
              <a:gd name="adj" fmla="val 26565"/>
            </a:avLst>
          </a:prstGeom>
          <a:solidFill>
            <a:srgbClr val="00B050"/>
          </a:solidFill>
          <a:ln w="9525">
            <a:solidFill>
              <a:schemeClr val="accent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Thread 4</a:t>
            </a:r>
          </a:p>
        </p:txBody>
      </p:sp>
      <p:sp>
        <p:nvSpPr>
          <p:cNvPr id="89" name="AutoShape 11"/>
          <p:cNvSpPr>
            <a:spLocks noChangeArrowheads="1"/>
          </p:cNvSpPr>
          <p:nvPr/>
        </p:nvSpPr>
        <p:spPr bwMode="auto">
          <a:xfrm>
            <a:off x="611560" y="2586633"/>
            <a:ext cx="1219200" cy="381000"/>
          </a:xfrm>
          <a:prstGeom prst="cube">
            <a:avLst>
              <a:gd name="adj" fmla="val 26565"/>
            </a:avLst>
          </a:prstGeom>
          <a:solidFill>
            <a:srgbClr val="00B050"/>
          </a:solidFill>
          <a:ln w="9525">
            <a:solidFill>
              <a:schemeClr val="accent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Thread 3</a:t>
            </a:r>
          </a:p>
        </p:txBody>
      </p:sp>
      <p:sp>
        <p:nvSpPr>
          <p:cNvPr id="90" name="AutoShape 12"/>
          <p:cNvSpPr>
            <a:spLocks noChangeArrowheads="1"/>
          </p:cNvSpPr>
          <p:nvPr/>
        </p:nvSpPr>
        <p:spPr bwMode="auto">
          <a:xfrm>
            <a:off x="611560" y="2319933"/>
            <a:ext cx="1219200" cy="381000"/>
          </a:xfrm>
          <a:prstGeom prst="cube">
            <a:avLst>
              <a:gd name="adj" fmla="val 26565"/>
            </a:avLst>
          </a:prstGeom>
          <a:solidFill>
            <a:srgbClr val="00B050"/>
          </a:solidFill>
          <a:ln w="9525">
            <a:solidFill>
              <a:schemeClr val="accent6"/>
            </a:solidFill>
            <a:miter lim="800000"/>
            <a:headEnd/>
            <a:tailEnd/>
          </a:ln>
          <a:effectLst/>
        </p:spPr>
        <p:txBody>
          <a:bodyPr wrap="none" anchor="ctr">
            <a:prstTxWarp prst="textNoShape">
              <a:avLst/>
            </a:prstTxWarp>
          </a:bodyPr>
          <a:lstStyle/>
          <a:p>
            <a:pPr algn="ctr"/>
            <a:r>
              <a:rPr lang="en-US" sz="1800" dirty="0">
                <a:solidFill>
                  <a:schemeClr val="bg1"/>
                </a:solidFill>
                <a:latin typeface="Arial" pitchFamily="-111" charset="0"/>
              </a:rPr>
              <a:t>Thread 2</a:t>
            </a:r>
          </a:p>
        </p:txBody>
      </p:sp>
      <p:sp>
        <p:nvSpPr>
          <p:cNvPr id="91" name="AutoShape 13"/>
          <p:cNvSpPr>
            <a:spLocks noChangeArrowheads="1"/>
          </p:cNvSpPr>
          <p:nvPr/>
        </p:nvSpPr>
        <p:spPr bwMode="auto">
          <a:xfrm>
            <a:off x="611560" y="2043708"/>
            <a:ext cx="1219200" cy="381000"/>
          </a:xfrm>
          <a:prstGeom prst="cube">
            <a:avLst>
              <a:gd name="adj" fmla="val 26565"/>
            </a:avLst>
          </a:prstGeom>
          <a:solidFill>
            <a:srgbClr val="00B050"/>
          </a:solidFill>
          <a:ln w="9525">
            <a:solidFill>
              <a:schemeClr val="accent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Thread 1</a:t>
            </a:r>
          </a:p>
        </p:txBody>
      </p:sp>
      <p:sp>
        <p:nvSpPr>
          <p:cNvPr id="92" name="AutoShape 14"/>
          <p:cNvSpPr>
            <a:spLocks noChangeArrowheads="1"/>
          </p:cNvSpPr>
          <p:nvPr/>
        </p:nvSpPr>
        <p:spPr bwMode="auto">
          <a:xfrm>
            <a:off x="611560" y="1777008"/>
            <a:ext cx="1219200" cy="381000"/>
          </a:xfrm>
          <a:prstGeom prst="cube">
            <a:avLst>
              <a:gd name="adj" fmla="val 26565"/>
            </a:avLst>
          </a:prstGeom>
          <a:solidFill>
            <a:srgbClr val="00B050"/>
          </a:solidFill>
          <a:ln w="9525">
            <a:solidFill>
              <a:schemeClr val="accent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Thread 0</a:t>
            </a:r>
          </a:p>
        </p:txBody>
      </p:sp>
      <p:grpSp>
        <p:nvGrpSpPr>
          <p:cNvPr id="93" name="Group 15"/>
          <p:cNvGrpSpPr>
            <a:grpSpLocks/>
          </p:cNvGrpSpPr>
          <p:nvPr/>
        </p:nvGrpSpPr>
        <p:grpSpPr bwMode="auto">
          <a:xfrm>
            <a:off x="1144960" y="3377208"/>
            <a:ext cx="76200" cy="381000"/>
            <a:chOff x="2400" y="2832"/>
            <a:chExt cx="48" cy="240"/>
          </a:xfrm>
          <a:solidFill>
            <a:srgbClr val="00B050"/>
          </a:solidFill>
        </p:grpSpPr>
        <p:sp>
          <p:nvSpPr>
            <p:cNvPr id="117" name="Oval 16"/>
            <p:cNvSpPr>
              <a:spLocks noChangeArrowheads="1"/>
            </p:cNvSpPr>
            <p:nvPr/>
          </p:nvSpPr>
          <p:spPr bwMode="auto">
            <a:xfrm>
              <a:off x="2400" y="2832"/>
              <a:ext cx="48" cy="48"/>
            </a:xfrm>
            <a:prstGeom prst="ellipse">
              <a:avLst/>
            </a:prstGeom>
            <a:grpFill/>
            <a:ln w="9525">
              <a:solidFill>
                <a:schemeClr val="accent6"/>
              </a:solidFill>
              <a:round/>
              <a:headEnd/>
              <a:tailEnd/>
            </a:ln>
            <a:effectLst/>
          </p:spPr>
          <p:txBody>
            <a:bodyPr wrap="none" anchor="ctr">
              <a:prstTxWarp prst="textNoShape">
                <a:avLst/>
              </a:prstTxWarp>
            </a:bodyPr>
            <a:lstStyle/>
            <a:p>
              <a:endParaRPr lang="es-ES_tradnl"/>
            </a:p>
          </p:txBody>
        </p:sp>
        <p:sp>
          <p:nvSpPr>
            <p:cNvPr id="118" name="Oval 17"/>
            <p:cNvSpPr>
              <a:spLocks noChangeArrowheads="1"/>
            </p:cNvSpPr>
            <p:nvPr/>
          </p:nvSpPr>
          <p:spPr bwMode="auto">
            <a:xfrm>
              <a:off x="2400" y="2928"/>
              <a:ext cx="48" cy="48"/>
            </a:xfrm>
            <a:prstGeom prst="ellipse">
              <a:avLst/>
            </a:prstGeom>
            <a:grpFill/>
            <a:ln w="9525">
              <a:solidFill>
                <a:schemeClr val="accent6"/>
              </a:solidFill>
              <a:round/>
              <a:headEnd/>
              <a:tailEnd/>
            </a:ln>
            <a:effectLst/>
          </p:spPr>
          <p:txBody>
            <a:bodyPr wrap="none" anchor="ctr">
              <a:prstTxWarp prst="textNoShape">
                <a:avLst/>
              </a:prstTxWarp>
            </a:bodyPr>
            <a:lstStyle/>
            <a:p>
              <a:endParaRPr lang="es-ES_tradnl"/>
            </a:p>
          </p:txBody>
        </p:sp>
        <p:sp>
          <p:nvSpPr>
            <p:cNvPr id="119" name="Oval 18"/>
            <p:cNvSpPr>
              <a:spLocks noChangeArrowheads="1"/>
            </p:cNvSpPr>
            <p:nvPr/>
          </p:nvSpPr>
          <p:spPr bwMode="auto">
            <a:xfrm>
              <a:off x="2400" y="3024"/>
              <a:ext cx="48" cy="48"/>
            </a:xfrm>
            <a:prstGeom prst="ellipse">
              <a:avLst/>
            </a:prstGeom>
            <a:grpFill/>
            <a:ln w="9525">
              <a:solidFill>
                <a:schemeClr val="accent6"/>
              </a:solidFill>
              <a:round/>
              <a:headEnd/>
              <a:tailEnd/>
            </a:ln>
            <a:effectLst/>
          </p:spPr>
          <p:txBody>
            <a:bodyPr wrap="none" anchor="ctr">
              <a:prstTxWarp prst="textNoShape">
                <a:avLst/>
              </a:prstTxWarp>
            </a:bodyPr>
            <a:lstStyle/>
            <a:p>
              <a:endParaRPr lang="es-ES_tradnl"/>
            </a:p>
          </p:txBody>
        </p:sp>
      </p:grpSp>
      <p:cxnSp>
        <p:nvCxnSpPr>
          <p:cNvPr id="94" name="AutoShape 19"/>
          <p:cNvCxnSpPr>
            <a:cxnSpLocks noChangeShapeType="1"/>
            <a:stCxn id="92" idx="4"/>
          </p:cNvCxnSpPr>
          <p:nvPr/>
        </p:nvCxnSpPr>
        <p:spPr bwMode="auto">
          <a:xfrm>
            <a:off x="1729160" y="2018308"/>
            <a:ext cx="1320800" cy="0"/>
          </a:xfrm>
          <a:prstGeom prst="straightConnector1">
            <a:avLst/>
          </a:prstGeom>
          <a:noFill/>
          <a:ln w="25400">
            <a:solidFill>
              <a:schemeClr val="tx1"/>
            </a:solidFill>
            <a:round/>
            <a:headEnd/>
            <a:tailEnd type="triangle" w="lg" len="lg"/>
          </a:ln>
          <a:effectLst/>
        </p:spPr>
      </p:cxnSp>
      <p:cxnSp>
        <p:nvCxnSpPr>
          <p:cNvPr id="95" name="AutoShape 20"/>
          <p:cNvCxnSpPr>
            <a:cxnSpLocks noChangeShapeType="1"/>
            <a:stCxn id="91" idx="4"/>
          </p:cNvCxnSpPr>
          <p:nvPr/>
        </p:nvCxnSpPr>
        <p:spPr bwMode="auto">
          <a:xfrm>
            <a:off x="1729160" y="2285008"/>
            <a:ext cx="1320800" cy="276225"/>
          </a:xfrm>
          <a:prstGeom prst="straightConnector1">
            <a:avLst/>
          </a:prstGeom>
          <a:noFill/>
          <a:ln w="25400">
            <a:solidFill>
              <a:schemeClr val="tx1"/>
            </a:solidFill>
            <a:round/>
            <a:headEnd/>
            <a:tailEnd type="triangle" w="lg" len="lg"/>
          </a:ln>
          <a:effectLst/>
        </p:spPr>
      </p:cxnSp>
      <p:cxnSp>
        <p:nvCxnSpPr>
          <p:cNvPr id="96" name="AutoShape 21"/>
          <p:cNvCxnSpPr>
            <a:cxnSpLocks noChangeShapeType="1"/>
            <a:stCxn id="90" idx="4"/>
          </p:cNvCxnSpPr>
          <p:nvPr/>
        </p:nvCxnSpPr>
        <p:spPr bwMode="auto">
          <a:xfrm>
            <a:off x="1729160" y="2561233"/>
            <a:ext cx="1320800" cy="542925"/>
          </a:xfrm>
          <a:prstGeom prst="straightConnector1">
            <a:avLst/>
          </a:prstGeom>
          <a:noFill/>
          <a:ln w="25400">
            <a:solidFill>
              <a:schemeClr val="tx1"/>
            </a:solidFill>
            <a:round/>
            <a:headEnd/>
            <a:tailEnd type="triangle" w="lg" len="lg"/>
          </a:ln>
          <a:effectLst/>
        </p:spPr>
      </p:cxnSp>
      <p:cxnSp>
        <p:nvCxnSpPr>
          <p:cNvPr id="97" name="AutoShape 22"/>
          <p:cNvCxnSpPr>
            <a:cxnSpLocks noChangeShapeType="1"/>
            <a:stCxn id="89" idx="4"/>
          </p:cNvCxnSpPr>
          <p:nvPr/>
        </p:nvCxnSpPr>
        <p:spPr bwMode="auto">
          <a:xfrm>
            <a:off x="1729160" y="2827933"/>
            <a:ext cx="1320800" cy="819150"/>
          </a:xfrm>
          <a:prstGeom prst="straightConnector1">
            <a:avLst/>
          </a:prstGeom>
          <a:noFill/>
          <a:ln w="25400">
            <a:solidFill>
              <a:schemeClr val="tx1"/>
            </a:solidFill>
            <a:round/>
            <a:headEnd/>
            <a:tailEnd type="triangle" w="lg" len="lg"/>
          </a:ln>
          <a:effectLst/>
        </p:spPr>
      </p:cxnSp>
      <p:cxnSp>
        <p:nvCxnSpPr>
          <p:cNvPr id="98" name="AutoShape 23"/>
          <p:cNvCxnSpPr>
            <a:cxnSpLocks noChangeShapeType="1"/>
            <a:stCxn id="87" idx="4"/>
          </p:cNvCxnSpPr>
          <p:nvPr/>
        </p:nvCxnSpPr>
        <p:spPr bwMode="auto">
          <a:xfrm flipV="1">
            <a:off x="1729160" y="2018308"/>
            <a:ext cx="1320800" cy="2076450"/>
          </a:xfrm>
          <a:prstGeom prst="straightConnector1">
            <a:avLst/>
          </a:prstGeom>
          <a:noFill/>
          <a:ln w="25400">
            <a:solidFill>
              <a:schemeClr val="tx1"/>
            </a:solidFill>
            <a:round/>
            <a:headEnd/>
            <a:tailEnd type="triangle" w="lg" len="lg"/>
          </a:ln>
          <a:effectLst/>
        </p:spPr>
      </p:cxnSp>
      <p:cxnSp>
        <p:nvCxnSpPr>
          <p:cNvPr id="99" name="AutoShape 24"/>
          <p:cNvCxnSpPr>
            <a:cxnSpLocks noChangeShapeType="1"/>
            <a:stCxn id="86" idx="4"/>
          </p:cNvCxnSpPr>
          <p:nvPr/>
        </p:nvCxnSpPr>
        <p:spPr bwMode="auto">
          <a:xfrm flipV="1">
            <a:off x="1729160" y="2561233"/>
            <a:ext cx="1320800" cy="1800225"/>
          </a:xfrm>
          <a:prstGeom prst="straightConnector1">
            <a:avLst/>
          </a:prstGeom>
          <a:noFill/>
          <a:ln w="25400">
            <a:solidFill>
              <a:schemeClr val="tx1"/>
            </a:solidFill>
            <a:round/>
            <a:headEnd/>
            <a:tailEnd type="triangle" w="lg" len="lg"/>
          </a:ln>
          <a:effectLst/>
        </p:spPr>
      </p:cxnSp>
      <p:cxnSp>
        <p:nvCxnSpPr>
          <p:cNvPr id="100" name="AutoShape 25"/>
          <p:cNvCxnSpPr>
            <a:cxnSpLocks noChangeShapeType="1"/>
            <a:stCxn id="85" idx="4"/>
          </p:cNvCxnSpPr>
          <p:nvPr/>
        </p:nvCxnSpPr>
        <p:spPr bwMode="auto">
          <a:xfrm flipV="1">
            <a:off x="1729160" y="3104158"/>
            <a:ext cx="1320800" cy="1533525"/>
          </a:xfrm>
          <a:prstGeom prst="straightConnector1">
            <a:avLst/>
          </a:prstGeom>
          <a:noFill/>
          <a:ln w="25400">
            <a:solidFill>
              <a:schemeClr val="tx1"/>
            </a:solidFill>
            <a:round/>
            <a:headEnd/>
            <a:tailEnd type="triangle" w="lg" len="lg"/>
          </a:ln>
          <a:effectLst/>
        </p:spPr>
      </p:cxnSp>
      <p:cxnSp>
        <p:nvCxnSpPr>
          <p:cNvPr id="101" name="AutoShape 26"/>
          <p:cNvCxnSpPr>
            <a:cxnSpLocks noChangeShapeType="1"/>
            <a:stCxn id="84" idx="4"/>
          </p:cNvCxnSpPr>
          <p:nvPr/>
        </p:nvCxnSpPr>
        <p:spPr bwMode="auto">
          <a:xfrm flipV="1">
            <a:off x="1729160" y="3647083"/>
            <a:ext cx="1320800" cy="1266825"/>
          </a:xfrm>
          <a:prstGeom prst="straightConnector1">
            <a:avLst/>
          </a:prstGeom>
          <a:noFill/>
          <a:ln w="25400">
            <a:solidFill>
              <a:schemeClr val="tx1"/>
            </a:solidFill>
            <a:round/>
            <a:headEnd/>
            <a:tailEnd type="triangle" w="lg" len="lg"/>
          </a:ln>
          <a:effectLst/>
        </p:spPr>
      </p:cxnSp>
      <p:cxnSp>
        <p:nvCxnSpPr>
          <p:cNvPr id="102" name="AutoShape 27"/>
          <p:cNvCxnSpPr>
            <a:cxnSpLocks noChangeShapeType="1"/>
            <a:stCxn id="88" idx="4"/>
          </p:cNvCxnSpPr>
          <p:nvPr/>
        </p:nvCxnSpPr>
        <p:spPr bwMode="auto">
          <a:xfrm>
            <a:off x="1729160" y="3104158"/>
            <a:ext cx="1320800" cy="1095375"/>
          </a:xfrm>
          <a:prstGeom prst="straightConnector1">
            <a:avLst/>
          </a:prstGeom>
          <a:noFill/>
          <a:ln w="25400">
            <a:solidFill>
              <a:schemeClr val="tx1"/>
            </a:solidFill>
            <a:prstDash val="dash"/>
            <a:round/>
            <a:headEnd/>
            <a:tailEnd type="triangle" w="lg" len="lg"/>
          </a:ln>
          <a:effectLst/>
        </p:spPr>
      </p:cxnSp>
      <p:sp>
        <p:nvSpPr>
          <p:cNvPr id="104" name="AutoShape 29"/>
          <p:cNvSpPr>
            <a:spLocks noChangeArrowheads="1"/>
          </p:cNvSpPr>
          <p:nvPr/>
        </p:nvSpPr>
        <p:spPr bwMode="auto">
          <a:xfrm>
            <a:off x="3049960" y="4672608"/>
            <a:ext cx="1219200" cy="381000"/>
          </a:xfrm>
          <a:prstGeom prst="cube">
            <a:avLst>
              <a:gd name="adj" fmla="val 26565"/>
            </a:avLst>
          </a:prstGeom>
          <a:solidFill>
            <a:srgbClr val="0070C0"/>
          </a:solidFill>
          <a:ln w="9525">
            <a:solidFill>
              <a:srgbClr val="9DC3E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Bank 15</a:t>
            </a:r>
          </a:p>
        </p:txBody>
      </p:sp>
      <p:sp>
        <p:nvSpPr>
          <p:cNvPr id="105" name="AutoShape 30"/>
          <p:cNvSpPr>
            <a:spLocks noChangeArrowheads="1"/>
          </p:cNvSpPr>
          <p:nvPr/>
        </p:nvSpPr>
        <p:spPr bwMode="auto">
          <a:xfrm>
            <a:off x="3049960" y="3682008"/>
            <a:ext cx="1219200" cy="381000"/>
          </a:xfrm>
          <a:prstGeom prst="cube">
            <a:avLst>
              <a:gd name="adj" fmla="val 26565"/>
            </a:avLst>
          </a:prstGeom>
          <a:solidFill>
            <a:srgbClr val="0070C0"/>
          </a:solidFill>
          <a:ln w="9525">
            <a:solidFill>
              <a:srgbClr val="9DC3E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Bank 7</a:t>
            </a:r>
          </a:p>
        </p:txBody>
      </p:sp>
      <p:sp>
        <p:nvSpPr>
          <p:cNvPr id="106" name="AutoShape 31"/>
          <p:cNvSpPr>
            <a:spLocks noChangeArrowheads="1"/>
          </p:cNvSpPr>
          <p:nvPr/>
        </p:nvSpPr>
        <p:spPr bwMode="auto">
          <a:xfrm>
            <a:off x="3049960" y="3405783"/>
            <a:ext cx="1219200" cy="381000"/>
          </a:xfrm>
          <a:prstGeom prst="cube">
            <a:avLst>
              <a:gd name="adj" fmla="val 26565"/>
            </a:avLst>
          </a:prstGeom>
          <a:solidFill>
            <a:srgbClr val="0070C0"/>
          </a:solidFill>
          <a:ln w="9525">
            <a:solidFill>
              <a:srgbClr val="9DC3E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Bank 6</a:t>
            </a:r>
          </a:p>
        </p:txBody>
      </p:sp>
      <p:sp>
        <p:nvSpPr>
          <p:cNvPr id="107" name="AutoShape 32"/>
          <p:cNvSpPr>
            <a:spLocks noChangeArrowheads="1"/>
          </p:cNvSpPr>
          <p:nvPr/>
        </p:nvSpPr>
        <p:spPr bwMode="auto">
          <a:xfrm>
            <a:off x="3049960" y="3139083"/>
            <a:ext cx="1219200" cy="381000"/>
          </a:xfrm>
          <a:prstGeom prst="cube">
            <a:avLst>
              <a:gd name="adj" fmla="val 26565"/>
            </a:avLst>
          </a:prstGeom>
          <a:solidFill>
            <a:srgbClr val="0070C0"/>
          </a:solidFill>
          <a:ln w="9525">
            <a:solidFill>
              <a:srgbClr val="9DC3E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Bank 5</a:t>
            </a:r>
          </a:p>
        </p:txBody>
      </p:sp>
      <p:sp>
        <p:nvSpPr>
          <p:cNvPr id="108" name="AutoShape 33"/>
          <p:cNvSpPr>
            <a:spLocks noChangeArrowheads="1"/>
          </p:cNvSpPr>
          <p:nvPr/>
        </p:nvSpPr>
        <p:spPr bwMode="auto">
          <a:xfrm>
            <a:off x="3049960" y="2862858"/>
            <a:ext cx="1219200" cy="381000"/>
          </a:xfrm>
          <a:prstGeom prst="cube">
            <a:avLst>
              <a:gd name="adj" fmla="val 26565"/>
            </a:avLst>
          </a:prstGeom>
          <a:solidFill>
            <a:srgbClr val="0070C0"/>
          </a:solidFill>
          <a:ln w="9525">
            <a:solidFill>
              <a:srgbClr val="9DC3E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Bank 4</a:t>
            </a:r>
          </a:p>
        </p:txBody>
      </p:sp>
      <p:sp>
        <p:nvSpPr>
          <p:cNvPr id="109" name="AutoShape 34"/>
          <p:cNvSpPr>
            <a:spLocks noChangeArrowheads="1"/>
          </p:cNvSpPr>
          <p:nvPr/>
        </p:nvSpPr>
        <p:spPr bwMode="auto">
          <a:xfrm>
            <a:off x="3049960" y="2586633"/>
            <a:ext cx="1219200" cy="381000"/>
          </a:xfrm>
          <a:prstGeom prst="cube">
            <a:avLst>
              <a:gd name="adj" fmla="val 26565"/>
            </a:avLst>
          </a:prstGeom>
          <a:solidFill>
            <a:srgbClr val="0070C0"/>
          </a:solidFill>
          <a:ln w="9525">
            <a:solidFill>
              <a:srgbClr val="9DC3E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Bank 3</a:t>
            </a:r>
          </a:p>
        </p:txBody>
      </p:sp>
      <p:sp>
        <p:nvSpPr>
          <p:cNvPr id="110" name="AutoShape 35"/>
          <p:cNvSpPr>
            <a:spLocks noChangeArrowheads="1"/>
          </p:cNvSpPr>
          <p:nvPr/>
        </p:nvSpPr>
        <p:spPr bwMode="auto">
          <a:xfrm>
            <a:off x="3049960" y="2319933"/>
            <a:ext cx="1219200" cy="381000"/>
          </a:xfrm>
          <a:prstGeom prst="cube">
            <a:avLst>
              <a:gd name="adj" fmla="val 26565"/>
            </a:avLst>
          </a:prstGeom>
          <a:solidFill>
            <a:srgbClr val="0070C0"/>
          </a:solidFill>
          <a:ln w="9525">
            <a:solidFill>
              <a:srgbClr val="9DC3E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Bank 2</a:t>
            </a:r>
          </a:p>
        </p:txBody>
      </p:sp>
      <p:sp>
        <p:nvSpPr>
          <p:cNvPr id="111" name="AutoShape 36"/>
          <p:cNvSpPr>
            <a:spLocks noChangeArrowheads="1"/>
          </p:cNvSpPr>
          <p:nvPr/>
        </p:nvSpPr>
        <p:spPr bwMode="auto">
          <a:xfrm>
            <a:off x="3049960" y="2043708"/>
            <a:ext cx="1219200" cy="381000"/>
          </a:xfrm>
          <a:prstGeom prst="cube">
            <a:avLst>
              <a:gd name="adj" fmla="val 26565"/>
            </a:avLst>
          </a:prstGeom>
          <a:solidFill>
            <a:srgbClr val="0070C0"/>
          </a:solidFill>
          <a:ln w="9525">
            <a:solidFill>
              <a:srgbClr val="9DC3E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Bank 1</a:t>
            </a:r>
          </a:p>
        </p:txBody>
      </p:sp>
      <p:sp>
        <p:nvSpPr>
          <p:cNvPr id="112" name="AutoShape 37"/>
          <p:cNvSpPr>
            <a:spLocks noChangeArrowheads="1"/>
          </p:cNvSpPr>
          <p:nvPr/>
        </p:nvSpPr>
        <p:spPr bwMode="auto">
          <a:xfrm>
            <a:off x="3049960" y="1777008"/>
            <a:ext cx="1219200" cy="381000"/>
          </a:xfrm>
          <a:prstGeom prst="cube">
            <a:avLst>
              <a:gd name="adj" fmla="val 26565"/>
            </a:avLst>
          </a:prstGeom>
          <a:solidFill>
            <a:srgbClr val="0070C0"/>
          </a:solidFill>
          <a:ln w="9525">
            <a:solidFill>
              <a:srgbClr val="9DC3E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Bank 0</a:t>
            </a:r>
          </a:p>
        </p:txBody>
      </p:sp>
      <p:grpSp>
        <p:nvGrpSpPr>
          <p:cNvPr id="113" name="Group 38"/>
          <p:cNvGrpSpPr>
            <a:grpSpLocks/>
          </p:cNvGrpSpPr>
          <p:nvPr/>
        </p:nvGrpSpPr>
        <p:grpSpPr bwMode="auto">
          <a:xfrm>
            <a:off x="3611935" y="4177308"/>
            <a:ext cx="76200" cy="381000"/>
            <a:chOff x="2400" y="2832"/>
            <a:chExt cx="48" cy="240"/>
          </a:xfrm>
          <a:solidFill>
            <a:srgbClr val="0070C0"/>
          </a:solidFill>
        </p:grpSpPr>
        <p:sp>
          <p:nvSpPr>
            <p:cNvPr id="114" name="Oval 39"/>
            <p:cNvSpPr>
              <a:spLocks noChangeArrowheads="1"/>
            </p:cNvSpPr>
            <p:nvPr/>
          </p:nvSpPr>
          <p:spPr bwMode="auto">
            <a:xfrm>
              <a:off x="2400" y="2832"/>
              <a:ext cx="48" cy="48"/>
            </a:xfrm>
            <a:prstGeom prst="ellipse">
              <a:avLst/>
            </a:prstGeom>
            <a:grpFill/>
            <a:ln w="9525">
              <a:solidFill>
                <a:srgbClr val="9DC3E6"/>
              </a:solidFill>
              <a:round/>
              <a:headEnd/>
              <a:tailEnd/>
            </a:ln>
            <a:effectLst/>
          </p:spPr>
          <p:txBody>
            <a:bodyPr wrap="none" anchor="ctr">
              <a:prstTxWarp prst="textNoShape">
                <a:avLst/>
              </a:prstTxWarp>
            </a:bodyPr>
            <a:lstStyle/>
            <a:p>
              <a:endParaRPr lang="es-ES_tradnl"/>
            </a:p>
          </p:txBody>
        </p:sp>
        <p:sp>
          <p:nvSpPr>
            <p:cNvPr id="115" name="Oval 40"/>
            <p:cNvSpPr>
              <a:spLocks noChangeArrowheads="1"/>
            </p:cNvSpPr>
            <p:nvPr/>
          </p:nvSpPr>
          <p:spPr bwMode="auto">
            <a:xfrm>
              <a:off x="2400" y="2928"/>
              <a:ext cx="48" cy="48"/>
            </a:xfrm>
            <a:prstGeom prst="ellipse">
              <a:avLst/>
            </a:prstGeom>
            <a:grpFill/>
            <a:ln w="9525">
              <a:solidFill>
                <a:srgbClr val="9DC3E6"/>
              </a:solidFill>
              <a:round/>
              <a:headEnd/>
              <a:tailEnd/>
            </a:ln>
            <a:effectLst/>
          </p:spPr>
          <p:txBody>
            <a:bodyPr wrap="none" anchor="ctr">
              <a:prstTxWarp prst="textNoShape">
                <a:avLst/>
              </a:prstTxWarp>
            </a:bodyPr>
            <a:lstStyle/>
            <a:p>
              <a:endParaRPr lang="es-ES_tradnl"/>
            </a:p>
          </p:txBody>
        </p:sp>
        <p:sp>
          <p:nvSpPr>
            <p:cNvPr id="116" name="Oval 41"/>
            <p:cNvSpPr>
              <a:spLocks noChangeArrowheads="1"/>
            </p:cNvSpPr>
            <p:nvPr/>
          </p:nvSpPr>
          <p:spPr bwMode="auto">
            <a:xfrm>
              <a:off x="2400" y="3024"/>
              <a:ext cx="48" cy="48"/>
            </a:xfrm>
            <a:prstGeom prst="ellipse">
              <a:avLst/>
            </a:prstGeom>
            <a:grpFill/>
            <a:ln w="9525">
              <a:solidFill>
                <a:srgbClr val="9DC3E6"/>
              </a:solidFill>
              <a:round/>
              <a:headEnd/>
              <a:tailEnd/>
            </a:ln>
            <a:effectLst/>
          </p:spPr>
          <p:txBody>
            <a:bodyPr wrap="none" anchor="ctr">
              <a:prstTxWarp prst="textNoShape">
                <a:avLst/>
              </a:prstTxWarp>
            </a:bodyPr>
            <a:lstStyle/>
            <a:p>
              <a:endParaRPr lang="es-ES_tradnl"/>
            </a:p>
          </p:txBody>
        </p:sp>
      </p:grpSp>
      <p:grpSp>
        <p:nvGrpSpPr>
          <p:cNvPr id="121" name="Group 43"/>
          <p:cNvGrpSpPr>
            <a:grpSpLocks/>
          </p:cNvGrpSpPr>
          <p:nvPr/>
        </p:nvGrpSpPr>
        <p:grpSpPr bwMode="auto">
          <a:xfrm>
            <a:off x="4802560" y="1777008"/>
            <a:ext cx="1219200" cy="3276600"/>
            <a:chOff x="4656" y="1488"/>
            <a:chExt cx="768" cy="2064"/>
          </a:xfrm>
          <a:solidFill>
            <a:srgbClr val="00B050"/>
          </a:solidFill>
        </p:grpSpPr>
        <p:sp>
          <p:nvSpPr>
            <p:cNvPr id="149" name="AutoShape 44"/>
            <p:cNvSpPr>
              <a:spLocks noChangeArrowheads="1"/>
            </p:cNvSpPr>
            <p:nvPr/>
          </p:nvSpPr>
          <p:spPr bwMode="auto">
            <a:xfrm>
              <a:off x="4656" y="3312"/>
              <a:ext cx="768" cy="240"/>
            </a:xfrm>
            <a:prstGeom prst="cube">
              <a:avLst>
                <a:gd name="adj" fmla="val 26565"/>
              </a:avLst>
            </a:prstGeom>
            <a:grpFill/>
            <a:ln w="9525">
              <a:solidFill>
                <a:schemeClr val="accent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Thread 15</a:t>
              </a:r>
            </a:p>
          </p:txBody>
        </p:sp>
        <p:sp>
          <p:nvSpPr>
            <p:cNvPr id="150" name="AutoShape 45"/>
            <p:cNvSpPr>
              <a:spLocks noChangeArrowheads="1"/>
            </p:cNvSpPr>
            <p:nvPr/>
          </p:nvSpPr>
          <p:spPr bwMode="auto">
            <a:xfrm>
              <a:off x="4656" y="2688"/>
              <a:ext cx="768" cy="240"/>
            </a:xfrm>
            <a:prstGeom prst="cube">
              <a:avLst>
                <a:gd name="adj" fmla="val 26565"/>
              </a:avLst>
            </a:prstGeom>
            <a:grpFill/>
            <a:ln w="9525">
              <a:solidFill>
                <a:schemeClr val="accent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Thread 7</a:t>
              </a:r>
            </a:p>
          </p:txBody>
        </p:sp>
        <p:sp>
          <p:nvSpPr>
            <p:cNvPr id="151" name="AutoShape 46"/>
            <p:cNvSpPr>
              <a:spLocks noChangeArrowheads="1"/>
            </p:cNvSpPr>
            <p:nvPr/>
          </p:nvSpPr>
          <p:spPr bwMode="auto">
            <a:xfrm>
              <a:off x="4656" y="2514"/>
              <a:ext cx="768" cy="240"/>
            </a:xfrm>
            <a:prstGeom prst="cube">
              <a:avLst>
                <a:gd name="adj" fmla="val 26565"/>
              </a:avLst>
            </a:prstGeom>
            <a:grpFill/>
            <a:ln w="9525">
              <a:solidFill>
                <a:schemeClr val="accent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Thread 6</a:t>
              </a:r>
            </a:p>
          </p:txBody>
        </p:sp>
        <p:sp>
          <p:nvSpPr>
            <p:cNvPr id="152" name="AutoShape 47"/>
            <p:cNvSpPr>
              <a:spLocks noChangeArrowheads="1"/>
            </p:cNvSpPr>
            <p:nvPr/>
          </p:nvSpPr>
          <p:spPr bwMode="auto">
            <a:xfrm>
              <a:off x="4656" y="2346"/>
              <a:ext cx="768" cy="240"/>
            </a:xfrm>
            <a:prstGeom prst="cube">
              <a:avLst>
                <a:gd name="adj" fmla="val 26565"/>
              </a:avLst>
            </a:prstGeom>
            <a:grpFill/>
            <a:ln w="9525">
              <a:solidFill>
                <a:schemeClr val="accent6"/>
              </a:solidFill>
              <a:miter lim="800000"/>
              <a:headEnd/>
              <a:tailEnd/>
            </a:ln>
            <a:effectLst/>
          </p:spPr>
          <p:txBody>
            <a:bodyPr wrap="none" anchor="ctr">
              <a:prstTxWarp prst="textNoShape">
                <a:avLst/>
              </a:prstTxWarp>
            </a:bodyPr>
            <a:lstStyle/>
            <a:p>
              <a:pPr algn="ctr"/>
              <a:r>
                <a:rPr lang="en-US" sz="1800" dirty="0">
                  <a:solidFill>
                    <a:schemeClr val="bg1"/>
                  </a:solidFill>
                  <a:latin typeface="Arial" pitchFamily="-111" charset="0"/>
                </a:rPr>
                <a:t>Thread 5</a:t>
              </a:r>
            </a:p>
          </p:txBody>
        </p:sp>
        <p:sp>
          <p:nvSpPr>
            <p:cNvPr id="153" name="AutoShape 48"/>
            <p:cNvSpPr>
              <a:spLocks noChangeArrowheads="1"/>
            </p:cNvSpPr>
            <p:nvPr/>
          </p:nvSpPr>
          <p:spPr bwMode="auto">
            <a:xfrm>
              <a:off x="4656" y="2172"/>
              <a:ext cx="768" cy="240"/>
            </a:xfrm>
            <a:prstGeom prst="cube">
              <a:avLst>
                <a:gd name="adj" fmla="val 26565"/>
              </a:avLst>
            </a:prstGeom>
            <a:grpFill/>
            <a:ln w="9525">
              <a:solidFill>
                <a:schemeClr val="accent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Thread 4</a:t>
              </a:r>
            </a:p>
          </p:txBody>
        </p:sp>
        <p:sp>
          <p:nvSpPr>
            <p:cNvPr id="154" name="AutoShape 49"/>
            <p:cNvSpPr>
              <a:spLocks noChangeArrowheads="1"/>
            </p:cNvSpPr>
            <p:nvPr/>
          </p:nvSpPr>
          <p:spPr bwMode="auto">
            <a:xfrm>
              <a:off x="4656" y="1998"/>
              <a:ext cx="768" cy="240"/>
            </a:xfrm>
            <a:prstGeom prst="cube">
              <a:avLst>
                <a:gd name="adj" fmla="val 26565"/>
              </a:avLst>
            </a:prstGeom>
            <a:grpFill/>
            <a:ln w="9525">
              <a:solidFill>
                <a:schemeClr val="accent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Thread 3</a:t>
              </a:r>
            </a:p>
          </p:txBody>
        </p:sp>
        <p:sp>
          <p:nvSpPr>
            <p:cNvPr id="155" name="AutoShape 50"/>
            <p:cNvSpPr>
              <a:spLocks noChangeArrowheads="1"/>
            </p:cNvSpPr>
            <p:nvPr/>
          </p:nvSpPr>
          <p:spPr bwMode="auto">
            <a:xfrm>
              <a:off x="4656" y="1830"/>
              <a:ext cx="768" cy="240"/>
            </a:xfrm>
            <a:prstGeom prst="cube">
              <a:avLst>
                <a:gd name="adj" fmla="val 26565"/>
              </a:avLst>
            </a:prstGeom>
            <a:grpFill/>
            <a:ln w="9525">
              <a:solidFill>
                <a:schemeClr val="accent6"/>
              </a:solidFill>
              <a:miter lim="800000"/>
              <a:headEnd/>
              <a:tailEnd/>
            </a:ln>
            <a:effectLst/>
          </p:spPr>
          <p:txBody>
            <a:bodyPr wrap="none" anchor="ctr">
              <a:prstTxWarp prst="textNoShape">
                <a:avLst/>
              </a:prstTxWarp>
            </a:bodyPr>
            <a:lstStyle/>
            <a:p>
              <a:pPr algn="ctr"/>
              <a:r>
                <a:rPr lang="en-US" sz="1800" dirty="0">
                  <a:solidFill>
                    <a:schemeClr val="bg1"/>
                  </a:solidFill>
                  <a:latin typeface="Arial" pitchFamily="-111" charset="0"/>
                </a:rPr>
                <a:t>Thread 2</a:t>
              </a:r>
            </a:p>
          </p:txBody>
        </p:sp>
        <p:sp>
          <p:nvSpPr>
            <p:cNvPr id="156" name="AutoShape 51"/>
            <p:cNvSpPr>
              <a:spLocks noChangeArrowheads="1"/>
            </p:cNvSpPr>
            <p:nvPr/>
          </p:nvSpPr>
          <p:spPr bwMode="auto">
            <a:xfrm>
              <a:off x="4656" y="1656"/>
              <a:ext cx="768" cy="240"/>
            </a:xfrm>
            <a:prstGeom prst="cube">
              <a:avLst>
                <a:gd name="adj" fmla="val 26565"/>
              </a:avLst>
            </a:prstGeom>
            <a:grpFill/>
            <a:ln w="9525">
              <a:solidFill>
                <a:schemeClr val="accent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Thread 1</a:t>
              </a:r>
            </a:p>
          </p:txBody>
        </p:sp>
        <p:sp>
          <p:nvSpPr>
            <p:cNvPr id="157" name="AutoShape 52"/>
            <p:cNvSpPr>
              <a:spLocks noChangeArrowheads="1"/>
            </p:cNvSpPr>
            <p:nvPr/>
          </p:nvSpPr>
          <p:spPr bwMode="auto">
            <a:xfrm>
              <a:off x="4656" y="1488"/>
              <a:ext cx="768" cy="240"/>
            </a:xfrm>
            <a:prstGeom prst="cube">
              <a:avLst>
                <a:gd name="adj" fmla="val 26565"/>
              </a:avLst>
            </a:prstGeom>
            <a:grpFill/>
            <a:ln w="9525">
              <a:solidFill>
                <a:schemeClr val="accent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Thread 0</a:t>
              </a:r>
            </a:p>
          </p:txBody>
        </p:sp>
        <p:grpSp>
          <p:nvGrpSpPr>
            <p:cNvPr id="158" name="Group 53"/>
            <p:cNvGrpSpPr>
              <a:grpSpLocks/>
            </p:cNvGrpSpPr>
            <p:nvPr/>
          </p:nvGrpSpPr>
          <p:grpSpPr bwMode="auto">
            <a:xfrm>
              <a:off x="5010" y="3000"/>
              <a:ext cx="48" cy="240"/>
              <a:chOff x="2400" y="2832"/>
              <a:chExt cx="48" cy="240"/>
            </a:xfrm>
            <a:grpFill/>
          </p:grpSpPr>
          <p:sp>
            <p:nvSpPr>
              <p:cNvPr id="159" name="Oval 54"/>
              <p:cNvSpPr>
                <a:spLocks noChangeArrowheads="1"/>
              </p:cNvSpPr>
              <p:nvPr/>
            </p:nvSpPr>
            <p:spPr bwMode="auto">
              <a:xfrm>
                <a:off x="2400" y="2832"/>
                <a:ext cx="48" cy="48"/>
              </a:xfrm>
              <a:prstGeom prst="ellipse">
                <a:avLst/>
              </a:prstGeom>
              <a:grpFill/>
              <a:ln w="9525">
                <a:solidFill>
                  <a:schemeClr val="accent6"/>
                </a:solidFill>
                <a:round/>
                <a:headEnd/>
                <a:tailEnd/>
              </a:ln>
              <a:effectLst/>
            </p:spPr>
            <p:txBody>
              <a:bodyPr wrap="none" anchor="ctr">
                <a:prstTxWarp prst="textNoShape">
                  <a:avLst/>
                </a:prstTxWarp>
              </a:bodyPr>
              <a:lstStyle/>
              <a:p>
                <a:endParaRPr lang="es-ES_tradnl"/>
              </a:p>
            </p:txBody>
          </p:sp>
          <p:sp>
            <p:nvSpPr>
              <p:cNvPr id="160" name="Oval 55"/>
              <p:cNvSpPr>
                <a:spLocks noChangeArrowheads="1"/>
              </p:cNvSpPr>
              <p:nvPr/>
            </p:nvSpPr>
            <p:spPr bwMode="auto">
              <a:xfrm>
                <a:off x="2400" y="2928"/>
                <a:ext cx="48" cy="48"/>
              </a:xfrm>
              <a:prstGeom prst="ellipse">
                <a:avLst/>
              </a:prstGeom>
              <a:grpFill/>
              <a:ln w="9525">
                <a:solidFill>
                  <a:schemeClr val="accent6"/>
                </a:solidFill>
                <a:round/>
                <a:headEnd/>
                <a:tailEnd/>
              </a:ln>
              <a:effectLst/>
            </p:spPr>
            <p:txBody>
              <a:bodyPr wrap="none" anchor="ctr">
                <a:prstTxWarp prst="textNoShape">
                  <a:avLst/>
                </a:prstTxWarp>
              </a:bodyPr>
              <a:lstStyle/>
              <a:p>
                <a:endParaRPr lang="es-ES_tradnl"/>
              </a:p>
            </p:txBody>
          </p:sp>
          <p:sp>
            <p:nvSpPr>
              <p:cNvPr id="161" name="Oval 56"/>
              <p:cNvSpPr>
                <a:spLocks noChangeArrowheads="1"/>
              </p:cNvSpPr>
              <p:nvPr/>
            </p:nvSpPr>
            <p:spPr bwMode="auto">
              <a:xfrm>
                <a:off x="2400" y="3024"/>
                <a:ext cx="48" cy="48"/>
              </a:xfrm>
              <a:prstGeom prst="ellipse">
                <a:avLst/>
              </a:prstGeom>
              <a:grpFill/>
              <a:ln w="9525">
                <a:solidFill>
                  <a:schemeClr val="accent6"/>
                </a:solidFill>
                <a:round/>
                <a:headEnd/>
                <a:tailEnd/>
              </a:ln>
              <a:effectLst/>
            </p:spPr>
            <p:txBody>
              <a:bodyPr wrap="none" anchor="ctr">
                <a:prstTxWarp prst="textNoShape">
                  <a:avLst/>
                </a:prstTxWarp>
              </a:bodyPr>
              <a:lstStyle/>
              <a:p>
                <a:endParaRPr lang="es-ES_tradnl"/>
              </a:p>
            </p:txBody>
          </p:sp>
        </p:grpSp>
      </p:grpSp>
      <p:cxnSp>
        <p:nvCxnSpPr>
          <p:cNvPr id="122" name="AutoShape 57"/>
          <p:cNvCxnSpPr>
            <a:cxnSpLocks noChangeShapeType="1"/>
            <a:stCxn id="157" idx="4"/>
            <a:endCxn id="140" idx="2"/>
          </p:cNvCxnSpPr>
          <p:nvPr/>
        </p:nvCxnSpPr>
        <p:spPr bwMode="auto">
          <a:xfrm>
            <a:off x="5920160" y="2018308"/>
            <a:ext cx="1320800" cy="0"/>
          </a:xfrm>
          <a:prstGeom prst="straightConnector1">
            <a:avLst/>
          </a:prstGeom>
          <a:noFill/>
          <a:ln w="25400">
            <a:solidFill>
              <a:schemeClr val="tx1"/>
            </a:solidFill>
            <a:round/>
            <a:headEnd/>
            <a:tailEnd type="triangle" w="lg" len="lg"/>
          </a:ln>
          <a:effectLst/>
        </p:spPr>
      </p:cxnSp>
      <p:cxnSp>
        <p:nvCxnSpPr>
          <p:cNvPr id="123" name="AutoShape 58"/>
          <p:cNvCxnSpPr>
            <a:cxnSpLocks noChangeShapeType="1"/>
            <a:stCxn id="156" idx="4"/>
            <a:endCxn id="135" idx="2"/>
          </p:cNvCxnSpPr>
          <p:nvPr/>
        </p:nvCxnSpPr>
        <p:spPr bwMode="auto">
          <a:xfrm>
            <a:off x="5920160" y="2285008"/>
            <a:ext cx="1320800" cy="1457325"/>
          </a:xfrm>
          <a:prstGeom prst="straightConnector1">
            <a:avLst/>
          </a:prstGeom>
          <a:noFill/>
          <a:ln w="25400">
            <a:solidFill>
              <a:schemeClr val="tx1"/>
            </a:solidFill>
            <a:round/>
            <a:headEnd/>
            <a:tailEnd type="triangle" w="lg" len="lg"/>
          </a:ln>
          <a:effectLst/>
        </p:spPr>
      </p:cxnSp>
      <p:cxnSp>
        <p:nvCxnSpPr>
          <p:cNvPr id="124" name="AutoShape 59"/>
          <p:cNvCxnSpPr>
            <a:cxnSpLocks noChangeShapeType="1"/>
            <a:stCxn id="155" idx="4"/>
            <a:endCxn id="140" idx="2"/>
          </p:cNvCxnSpPr>
          <p:nvPr/>
        </p:nvCxnSpPr>
        <p:spPr bwMode="auto">
          <a:xfrm flipV="1">
            <a:off x="5920160" y="2018308"/>
            <a:ext cx="1320800" cy="542925"/>
          </a:xfrm>
          <a:prstGeom prst="straightConnector1">
            <a:avLst/>
          </a:prstGeom>
          <a:noFill/>
          <a:ln w="25400">
            <a:solidFill>
              <a:schemeClr val="tx1"/>
            </a:solidFill>
            <a:round/>
            <a:headEnd/>
            <a:tailEnd type="triangle" w="lg" len="lg"/>
          </a:ln>
          <a:effectLst/>
        </p:spPr>
      </p:cxnSp>
      <p:cxnSp>
        <p:nvCxnSpPr>
          <p:cNvPr id="125" name="AutoShape 60"/>
          <p:cNvCxnSpPr>
            <a:cxnSpLocks noChangeShapeType="1"/>
            <a:stCxn id="154" idx="4"/>
            <a:endCxn id="135" idx="2"/>
          </p:cNvCxnSpPr>
          <p:nvPr/>
        </p:nvCxnSpPr>
        <p:spPr bwMode="auto">
          <a:xfrm>
            <a:off x="5920160" y="2827933"/>
            <a:ext cx="1320800" cy="914400"/>
          </a:xfrm>
          <a:prstGeom prst="straightConnector1">
            <a:avLst/>
          </a:prstGeom>
          <a:noFill/>
          <a:ln w="25400">
            <a:solidFill>
              <a:schemeClr val="tx1"/>
            </a:solidFill>
            <a:round/>
            <a:headEnd/>
            <a:tailEnd type="triangle" w="lg" len="lg"/>
          </a:ln>
          <a:effectLst/>
        </p:spPr>
      </p:cxnSp>
      <p:cxnSp>
        <p:nvCxnSpPr>
          <p:cNvPr id="126" name="AutoShape 61"/>
          <p:cNvCxnSpPr>
            <a:cxnSpLocks noChangeShapeType="1"/>
            <a:stCxn id="153" idx="4"/>
            <a:endCxn id="140" idx="2"/>
          </p:cNvCxnSpPr>
          <p:nvPr/>
        </p:nvCxnSpPr>
        <p:spPr bwMode="auto">
          <a:xfrm flipV="1">
            <a:off x="5920160" y="2018308"/>
            <a:ext cx="1320800" cy="1085850"/>
          </a:xfrm>
          <a:prstGeom prst="straightConnector1">
            <a:avLst/>
          </a:prstGeom>
          <a:noFill/>
          <a:ln w="25400">
            <a:solidFill>
              <a:schemeClr val="tx1"/>
            </a:solidFill>
            <a:round/>
            <a:headEnd/>
            <a:tailEnd type="triangle" w="lg" len="lg"/>
          </a:ln>
          <a:effectLst/>
        </p:spPr>
      </p:cxnSp>
      <p:cxnSp>
        <p:nvCxnSpPr>
          <p:cNvPr id="127" name="AutoShape 62"/>
          <p:cNvCxnSpPr>
            <a:cxnSpLocks noChangeShapeType="1"/>
            <a:stCxn id="152" idx="4"/>
            <a:endCxn id="135" idx="2"/>
          </p:cNvCxnSpPr>
          <p:nvPr/>
        </p:nvCxnSpPr>
        <p:spPr bwMode="auto">
          <a:xfrm>
            <a:off x="5920160" y="3380383"/>
            <a:ext cx="1320800" cy="361950"/>
          </a:xfrm>
          <a:prstGeom prst="straightConnector1">
            <a:avLst/>
          </a:prstGeom>
          <a:noFill/>
          <a:ln w="25400">
            <a:solidFill>
              <a:schemeClr val="tx1"/>
            </a:solidFill>
            <a:round/>
            <a:headEnd/>
            <a:tailEnd type="triangle" w="lg" len="lg"/>
          </a:ln>
          <a:effectLst/>
        </p:spPr>
      </p:cxnSp>
      <p:cxnSp>
        <p:nvCxnSpPr>
          <p:cNvPr id="128" name="AutoShape 63"/>
          <p:cNvCxnSpPr>
            <a:cxnSpLocks noChangeShapeType="1"/>
            <a:stCxn id="151" idx="4"/>
            <a:endCxn id="140" idx="2"/>
          </p:cNvCxnSpPr>
          <p:nvPr/>
        </p:nvCxnSpPr>
        <p:spPr bwMode="auto">
          <a:xfrm flipV="1">
            <a:off x="5920160" y="2018308"/>
            <a:ext cx="1320800" cy="1628775"/>
          </a:xfrm>
          <a:prstGeom prst="straightConnector1">
            <a:avLst/>
          </a:prstGeom>
          <a:noFill/>
          <a:ln w="25400">
            <a:solidFill>
              <a:schemeClr val="tx1"/>
            </a:solidFill>
            <a:round/>
            <a:headEnd/>
            <a:tailEnd type="triangle" w="lg" len="lg"/>
          </a:ln>
          <a:effectLst/>
        </p:spPr>
      </p:cxnSp>
      <p:cxnSp>
        <p:nvCxnSpPr>
          <p:cNvPr id="129" name="AutoShape 64"/>
          <p:cNvCxnSpPr>
            <a:cxnSpLocks noChangeShapeType="1"/>
            <a:stCxn id="150" idx="4"/>
            <a:endCxn id="135" idx="2"/>
          </p:cNvCxnSpPr>
          <p:nvPr/>
        </p:nvCxnSpPr>
        <p:spPr bwMode="auto">
          <a:xfrm flipV="1">
            <a:off x="5920160" y="3742333"/>
            <a:ext cx="1320800" cy="180975"/>
          </a:xfrm>
          <a:prstGeom prst="straightConnector1">
            <a:avLst/>
          </a:prstGeom>
          <a:noFill/>
          <a:ln w="25400">
            <a:solidFill>
              <a:schemeClr val="tx1"/>
            </a:solidFill>
            <a:round/>
            <a:headEnd/>
            <a:tailEnd type="triangle" w="lg" len="lg"/>
          </a:ln>
          <a:effectLst/>
        </p:spPr>
      </p:cxnSp>
      <p:cxnSp>
        <p:nvCxnSpPr>
          <p:cNvPr id="130" name="AutoShape 65"/>
          <p:cNvCxnSpPr>
            <a:cxnSpLocks noChangeShapeType="1"/>
            <a:stCxn id="149" idx="4"/>
            <a:endCxn id="135" idx="2"/>
          </p:cNvCxnSpPr>
          <p:nvPr/>
        </p:nvCxnSpPr>
        <p:spPr bwMode="auto">
          <a:xfrm flipV="1">
            <a:off x="5920160" y="3742333"/>
            <a:ext cx="1320800" cy="1171575"/>
          </a:xfrm>
          <a:prstGeom prst="straightConnector1">
            <a:avLst/>
          </a:prstGeom>
          <a:noFill/>
          <a:ln w="25400">
            <a:solidFill>
              <a:schemeClr val="tx1"/>
            </a:solidFill>
            <a:round/>
            <a:headEnd/>
            <a:tailEnd type="triangle" w="lg" len="lg"/>
          </a:ln>
          <a:effectLst/>
        </p:spPr>
      </p:cxnSp>
      <p:sp>
        <p:nvSpPr>
          <p:cNvPr id="134" name="AutoShape 67"/>
          <p:cNvSpPr>
            <a:spLocks noChangeArrowheads="1"/>
          </p:cNvSpPr>
          <p:nvPr/>
        </p:nvSpPr>
        <p:spPr bwMode="auto">
          <a:xfrm>
            <a:off x="7240960" y="3758208"/>
            <a:ext cx="1219200" cy="381000"/>
          </a:xfrm>
          <a:prstGeom prst="cube">
            <a:avLst>
              <a:gd name="adj" fmla="val 26565"/>
            </a:avLst>
          </a:prstGeom>
          <a:solidFill>
            <a:srgbClr val="0070C0"/>
          </a:solidFill>
          <a:ln w="9525">
            <a:solidFill>
              <a:srgbClr val="9DC3E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Bank 9</a:t>
            </a:r>
          </a:p>
        </p:txBody>
      </p:sp>
      <p:sp>
        <p:nvSpPr>
          <p:cNvPr id="135" name="AutoShape 68"/>
          <p:cNvSpPr>
            <a:spLocks noChangeArrowheads="1"/>
          </p:cNvSpPr>
          <p:nvPr/>
        </p:nvSpPr>
        <p:spPr bwMode="auto">
          <a:xfrm>
            <a:off x="7240960" y="3501033"/>
            <a:ext cx="1219200" cy="381000"/>
          </a:xfrm>
          <a:prstGeom prst="cube">
            <a:avLst>
              <a:gd name="adj" fmla="val 26565"/>
            </a:avLst>
          </a:prstGeom>
          <a:solidFill>
            <a:srgbClr val="0070C0"/>
          </a:solidFill>
          <a:ln w="9525">
            <a:solidFill>
              <a:srgbClr val="9DC3E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Bank 8</a:t>
            </a:r>
          </a:p>
        </p:txBody>
      </p:sp>
      <p:sp>
        <p:nvSpPr>
          <p:cNvPr id="136" name="AutoShape 69"/>
          <p:cNvSpPr>
            <a:spLocks noChangeArrowheads="1"/>
          </p:cNvSpPr>
          <p:nvPr/>
        </p:nvSpPr>
        <p:spPr bwMode="auto">
          <a:xfrm>
            <a:off x="7240960" y="4672608"/>
            <a:ext cx="1219200" cy="381000"/>
          </a:xfrm>
          <a:prstGeom prst="cube">
            <a:avLst>
              <a:gd name="adj" fmla="val 26565"/>
            </a:avLst>
          </a:prstGeom>
          <a:solidFill>
            <a:srgbClr val="0070C0"/>
          </a:solidFill>
          <a:ln w="9525">
            <a:solidFill>
              <a:srgbClr val="9DC3E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Bank 15</a:t>
            </a:r>
          </a:p>
        </p:txBody>
      </p:sp>
      <p:sp>
        <p:nvSpPr>
          <p:cNvPr id="137" name="AutoShape 70"/>
          <p:cNvSpPr>
            <a:spLocks noChangeArrowheads="1"/>
          </p:cNvSpPr>
          <p:nvPr/>
        </p:nvSpPr>
        <p:spPr bwMode="auto">
          <a:xfrm>
            <a:off x="7240960" y="3224808"/>
            <a:ext cx="1219200" cy="381000"/>
          </a:xfrm>
          <a:prstGeom prst="cube">
            <a:avLst>
              <a:gd name="adj" fmla="val 26565"/>
            </a:avLst>
          </a:prstGeom>
          <a:solidFill>
            <a:srgbClr val="0070C0"/>
          </a:solidFill>
          <a:ln w="9525">
            <a:solidFill>
              <a:srgbClr val="9DC3E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Bank 7</a:t>
            </a:r>
          </a:p>
        </p:txBody>
      </p:sp>
      <p:sp>
        <p:nvSpPr>
          <p:cNvPr id="138" name="AutoShape 71"/>
          <p:cNvSpPr>
            <a:spLocks noChangeArrowheads="1"/>
          </p:cNvSpPr>
          <p:nvPr/>
        </p:nvSpPr>
        <p:spPr bwMode="auto">
          <a:xfrm>
            <a:off x="7240960" y="2319933"/>
            <a:ext cx="1219200" cy="381000"/>
          </a:xfrm>
          <a:prstGeom prst="cube">
            <a:avLst>
              <a:gd name="adj" fmla="val 26565"/>
            </a:avLst>
          </a:prstGeom>
          <a:solidFill>
            <a:srgbClr val="0070C0"/>
          </a:solidFill>
          <a:ln w="9525">
            <a:solidFill>
              <a:srgbClr val="9DC3E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Bank 2</a:t>
            </a:r>
          </a:p>
        </p:txBody>
      </p:sp>
      <p:sp>
        <p:nvSpPr>
          <p:cNvPr id="139" name="AutoShape 72"/>
          <p:cNvSpPr>
            <a:spLocks noChangeArrowheads="1"/>
          </p:cNvSpPr>
          <p:nvPr/>
        </p:nvSpPr>
        <p:spPr bwMode="auto">
          <a:xfrm>
            <a:off x="7240960" y="2043708"/>
            <a:ext cx="1219200" cy="381000"/>
          </a:xfrm>
          <a:prstGeom prst="cube">
            <a:avLst>
              <a:gd name="adj" fmla="val 26565"/>
            </a:avLst>
          </a:prstGeom>
          <a:solidFill>
            <a:srgbClr val="0070C0"/>
          </a:solidFill>
          <a:ln w="9525">
            <a:solidFill>
              <a:srgbClr val="9DC3E6"/>
            </a:solidFill>
            <a:miter lim="800000"/>
            <a:headEnd/>
            <a:tailEnd/>
          </a:ln>
          <a:effectLst/>
        </p:spPr>
        <p:txBody>
          <a:bodyPr wrap="none" anchor="ctr">
            <a:prstTxWarp prst="textNoShape">
              <a:avLst/>
            </a:prstTxWarp>
          </a:bodyPr>
          <a:lstStyle/>
          <a:p>
            <a:pPr algn="ctr"/>
            <a:r>
              <a:rPr lang="en-US" sz="1800">
                <a:solidFill>
                  <a:schemeClr val="bg1"/>
                </a:solidFill>
                <a:latin typeface="Arial" pitchFamily="-111" charset="0"/>
              </a:rPr>
              <a:t>Bank 1</a:t>
            </a:r>
          </a:p>
        </p:txBody>
      </p:sp>
      <p:sp>
        <p:nvSpPr>
          <p:cNvPr id="140" name="AutoShape 73"/>
          <p:cNvSpPr>
            <a:spLocks noChangeArrowheads="1"/>
          </p:cNvSpPr>
          <p:nvPr/>
        </p:nvSpPr>
        <p:spPr bwMode="auto">
          <a:xfrm>
            <a:off x="7240960" y="1777008"/>
            <a:ext cx="1219200" cy="381000"/>
          </a:xfrm>
          <a:prstGeom prst="cube">
            <a:avLst>
              <a:gd name="adj" fmla="val 26565"/>
            </a:avLst>
          </a:prstGeom>
          <a:solidFill>
            <a:srgbClr val="0070C0"/>
          </a:solidFill>
          <a:ln w="9525">
            <a:solidFill>
              <a:srgbClr val="9DC3E6"/>
            </a:solidFill>
            <a:miter lim="800000"/>
            <a:headEnd/>
            <a:tailEnd/>
          </a:ln>
          <a:effectLst/>
        </p:spPr>
        <p:txBody>
          <a:bodyPr wrap="none" anchor="ctr">
            <a:prstTxWarp prst="textNoShape">
              <a:avLst/>
            </a:prstTxWarp>
          </a:bodyPr>
          <a:lstStyle/>
          <a:p>
            <a:pPr algn="ctr"/>
            <a:r>
              <a:rPr lang="en-US" sz="1800" dirty="0">
                <a:solidFill>
                  <a:schemeClr val="bg1"/>
                </a:solidFill>
                <a:latin typeface="Arial" pitchFamily="-111" charset="0"/>
              </a:rPr>
              <a:t>Bank 0</a:t>
            </a:r>
          </a:p>
        </p:txBody>
      </p:sp>
      <p:grpSp>
        <p:nvGrpSpPr>
          <p:cNvPr id="141" name="Group 74"/>
          <p:cNvGrpSpPr>
            <a:grpSpLocks/>
          </p:cNvGrpSpPr>
          <p:nvPr/>
        </p:nvGrpSpPr>
        <p:grpSpPr bwMode="auto">
          <a:xfrm>
            <a:off x="7802935" y="4215408"/>
            <a:ext cx="76200" cy="381000"/>
            <a:chOff x="2400" y="2832"/>
            <a:chExt cx="48" cy="240"/>
          </a:xfrm>
          <a:solidFill>
            <a:srgbClr val="0070C0"/>
          </a:solidFill>
        </p:grpSpPr>
        <p:sp>
          <p:nvSpPr>
            <p:cNvPr id="146" name="Oval 75"/>
            <p:cNvSpPr>
              <a:spLocks noChangeArrowheads="1"/>
            </p:cNvSpPr>
            <p:nvPr/>
          </p:nvSpPr>
          <p:spPr bwMode="auto">
            <a:xfrm>
              <a:off x="2400" y="2832"/>
              <a:ext cx="48" cy="48"/>
            </a:xfrm>
            <a:prstGeom prst="ellipse">
              <a:avLst/>
            </a:prstGeom>
            <a:grpFill/>
            <a:ln w="9525">
              <a:solidFill>
                <a:srgbClr val="9DC3E6"/>
              </a:solidFill>
              <a:round/>
              <a:headEnd/>
              <a:tailEnd/>
            </a:ln>
            <a:effectLst/>
          </p:spPr>
          <p:txBody>
            <a:bodyPr wrap="none" anchor="ctr">
              <a:prstTxWarp prst="textNoShape">
                <a:avLst/>
              </a:prstTxWarp>
            </a:bodyPr>
            <a:lstStyle/>
            <a:p>
              <a:endParaRPr lang="es-ES_tradnl"/>
            </a:p>
          </p:txBody>
        </p:sp>
        <p:sp>
          <p:nvSpPr>
            <p:cNvPr id="147" name="Oval 76"/>
            <p:cNvSpPr>
              <a:spLocks noChangeArrowheads="1"/>
            </p:cNvSpPr>
            <p:nvPr/>
          </p:nvSpPr>
          <p:spPr bwMode="auto">
            <a:xfrm>
              <a:off x="2400" y="2928"/>
              <a:ext cx="48" cy="48"/>
            </a:xfrm>
            <a:prstGeom prst="ellipse">
              <a:avLst/>
            </a:prstGeom>
            <a:grpFill/>
            <a:ln w="9525">
              <a:solidFill>
                <a:srgbClr val="9DC3E6"/>
              </a:solidFill>
              <a:round/>
              <a:headEnd/>
              <a:tailEnd/>
            </a:ln>
            <a:effectLst/>
          </p:spPr>
          <p:txBody>
            <a:bodyPr wrap="none" anchor="ctr">
              <a:prstTxWarp prst="textNoShape">
                <a:avLst/>
              </a:prstTxWarp>
            </a:bodyPr>
            <a:lstStyle/>
            <a:p>
              <a:endParaRPr lang="es-ES_tradnl"/>
            </a:p>
          </p:txBody>
        </p:sp>
        <p:sp>
          <p:nvSpPr>
            <p:cNvPr id="148" name="Oval 77"/>
            <p:cNvSpPr>
              <a:spLocks noChangeArrowheads="1"/>
            </p:cNvSpPr>
            <p:nvPr/>
          </p:nvSpPr>
          <p:spPr bwMode="auto">
            <a:xfrm>
              <a:off x="2400" y="3024"/>
              <a:ext cx="48" cy="48"/>
            </a:xfrm>
            <a:prstGeom prst="ellipse">
              <a:avLst/>
            </a:prstGeom>
            <a:grpFill/>
            <a:ln w="9525">
              <a:solidFill>
                <a:srgbClr val="9DC3E6"/>
              </a:solidFill>
              <a:round/>
              <a:headEnd/>
              <a:tailEnd/>
            </a:ln>
            <a:effectLst/>
          </p:spPr>
          <p:txBody>
            <a:bodyPr wrap="none" anchor="ctr">
              <a:prstTxWarp prst="textNoShape">
                <a:avLst/>
              </a:prstTxWarp>
            </a:bodyPr>
            <a:lstStyle/>
            <a:p>
              <a:endParaRPr lang="es-ES_tradnl"/>
            </a:p>
          </p:txBody>
        </p:sp>
      </p:grpSp>
      <p:grpSp>
        <p:nvGrpSpPr>
          <p:cNvPr id="142" name="Group 78"/>
          <p:cNvGrpSpPr>
            <a:grpSpLocks/>
          </p:cNvGrpSpPr>
          <p:nvPr/>
        </p:nvGrpSpPr>
        <p:grpSpPr bwMode="auto">
          <a:xfrm>
            <a:off x="7802935" y="2767608"/>
            <a:ext cx="76200" cy="381000"/>
            <a:chOff x="2400" y="2832"/>
            <a:chExt cx="48" cy="240"/>
          </a:xfrm>
          <a:solidFill>
            <a:srgbClr val="0070C0"/>
          </a:solidFill>
        </p:grpSpPr>
        <p:sp>
          <p:nvSpPr>
            <p:cNvPr id="143" name="Oval 79"/>
            <p:cNvSpPr>
              <a:spLocks noChangeArrowheads="1"/>
            </p:cNvSpPr>
            <p:nvPr/>
          </p:nvSpPr>
          <p:spPr bwMode="auto">
            <a:xfrm>
              <a:off x="2400" y="2832"/>
              <a:ext cx="48" cy="48"/>
            </a:xfrm>
            <a:prstGeom prst="ellipse">
              <a:avLst/>
            </a:prstGeom>
            <a:grpFill/>
            <a:ln w="9525">
              <a:solidFill>
                <a:srgbClr val="9DC3E6"/>
              </a:solidFill>
              <a:round/>
              <a:headEnd/>
              <a:tailEnd/>
            </a:ln>
            <a:effectLst/>
          </p:spPr>
          <p:txBody>
            <a:bodyPr wrap="none" anchor="ctr">
              <a:prstTxWarp prst="textNoShape">
                <a:avLst/>
              </a:prstTxWarp>
            </a:bodyPr>
            <a:lstStyle/>
            <a:p>
              <a:endParaRPr lang="es-ES_tradnl"/>
            </a:p>
          </p:txBody>
        </p:sp>
        <p:sp>
          <p:nvSpPr>
            <p:cNvPr id="144" name="Oval 80"/>
            <p:cNvSpPr>
              <a:spLocks noChangeArrowheads="1"/>
            </p:cNvSpPr>
            <p:nvPr/>
          </p:nvSpPr>
          <p:spPr bwMode="auto">
            <a:xfrm>
              <a:off x="2400" y="2928"/>
              <a:ext cx="48" cy="48"/>
            </a:xfrm>
            <a:prstGeom prst="ellipse">
              <a:avLst/>
            </a:prstGeom>
            <a:grpFill/>
            <a:ln w="9525">
              <a:solidFill>
                <a:srgbClr val="9DC3E6"/>
              </a:solidFill>
              <a:round/>
              <a:headEnd/>
              <a:tailEnd/>
            </a:ln>
            <a:effectLst/>
          </p:spPr>
          <p:txBody>
            <a:bodyPr wrap="none" anchor="ctr">
              <a:prstTxWarp prst="textNoShape">
                <a:avLst/>
              </a:prstTxWarp>
            </a:bodyPr>
            <a:lstStyle/>
            <a:p>
              <a:endParaRPr lang="es-ES_tradnl"/>
            </a:p>
          </p:txBody>
        </p:sp>
        <p:sp>
          <p:nvSpPr>
            <p:cNvPr id="145" name="Oval 81"/>
            <p:cNvSpPr>
              <a:spLocks noChangeArrowheads="1"/>
            </p:cNvSpPr>
            <p:nvPr/>
          </p:nvSpPr>
          <p:spPr bwMode="auto">
            <a:xfrm>
              <a:off x="2400" y="3024"/>
              <a:ext cx="48" cy="48"/>
            </a:xfrm>
            <a:prstGeom prst="ellipse">
              <a:avLst/>
            </a:prstGeom>
            <a:grpFill/>
            <a:ln w="9525">
              <a:solidFill>
                <a:srgbClr val="9DC3E6"/>
              </a:solidFill>
              <a:round/>
              <a:headEnd/>
              <a:tailEnd/>
            </a:ln>
            <a:effectLst/>
          </p:spPr>
          <p:txBody>
            <a:bodyPr wrap="none" anchor="ctr">
              <a:prstTxWarp prst="textNoShape">
                <a:avLst/>
              </a:prstTxWarp>
            </a:bodyPr>
            <a:lstStyle/>
            <a:p>
              <a:endParaRPr lang="es-ES_tradnl"/>
            </a:p>
          </p:txBody>
        </p:sp>
      </p:grpSp>
      <p:sp>
        <p:nvSpPr>
          <p:cNvPr id="132" name="Text Box 82"/>
          <p:cNvSpPr txBox="1">
            <a:spLocks noChangeArrowheads="1"/>
          </p:cNvSpPr>
          <p:nvPr/>
        </p:nvSpPr>
        <p:spPr bwMode="auto">
          <a:xfrm>
            <a:off x="6783760" y="1700808"/>
            <a:ext cx="425450" cy="366713"/>
          </a:xfrm>
          <a:prstGeom prst="rect">
            <a:avLst/>
          </a:prstGeom>
          <a:noFill/>
          <a:ln w="9525">
            <a:noFill/>
            <a:miter lim="800000"/>
            <a:headEnd/>
            <a:tailEnd/>
          </a:ln>
          <a:effectLst/>
        </p:spPr>
        <p:txBody>
          <a:bodyPr wrap="none">
            <a:prstTxWarp prst="textNoShape">
              <a:avLst/>
            </a:prstTxWarp>
            <a:spAutoFit/>
          </a:bodyPr>
          <a:lstStyle/>
          <a:p>
            <a:r>
              <a:rPr lang="en-US" sz="1800">
                <a:latin typeface="Arial" pitchFamily="-111" charset="0"/>
              </a:rPr>
              <a:t>x8</a:t>
            </a:r>
          </a:p>
        </p:txBody>
      </p:sp>
      <p:sp>
        <p:nvSpPr>
          <p:cNvPr id="133" name="Text Box 83"/>
          <p:cNvSpPr txBox="1">
            <a:spLocks noChangeArrowheads="1"/>
          </p:cNvSpPr>
          <p:nvPr/>
        </p:nvSpPr>
        <p:spPr bwMode="auto">
          <a:xfrm>
            <a:off x="6859960" y="3910608"/>
            <a:ext cx="425450" cy="366713"/>
          </a:xfrm>
          <a:prstGeom prst="rect">
            <a:avLst/>
          </a:prstGeom>
          <a:noFill/>
          <a:ln w="9525">
            <a:noFill/>
            <a:miter lim="800000"/>
            <a:headEnd/>
            <a:tailEnd/>
          </a:ln>
          <a:effectLst/>
        </p:spPr>
        <p:txBody>
          <a:bodyPr wrap="none">
            <a:prstTxWarp prst="textNoShape">
              <a:avLst/>
            </a:prstTxWarp>
            <a:spAutoFit/>
          </a:bodyPr>
          <a:lstStyle/>
          <a:p>
            <a:r>
              <a:rPr lang="en-US" sz="1800" dirty="0">
                <a:latin typeface="Arial" pitchFamily="-111" charset="0"/>
              </a:rPr>
              <a:t>x8</a:t>
            </a:r>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43</a:t>
            </a:fld>
            <a:endParaRPr lang="en-US" altLang="en-US"/>
          </a:p>
        </p:txBody>
      </p:sp>
      <p:sp>
        <p:nvSpPr>
          <p:cNvPr id="120" name="CuadroTexto 26">
            <a:extLst>
              <a:ext uri="{FF2B5EF4-FFF2-40B4-BE49-F238E27FC236}">
                <a16:creationId xmlns:a16="http://schemas.microsoft.com/office/drawing/2014/main" id="{505D64B6-0D5B-AC46-8EF0-DD5FA87C6291}"/>
              </a:ext>
            </a:extLst>
          </p:cNvPr>
          <p:cNvSpPr txBox="1"/>
          <p:nvPr/>
        </p:nvSpPr>
        <p:spPr>
          <a:xfrm>
            <a:off x="228600" y="6495225"/>
            <a:ext cx="1274708" cy="215444"/>
          </a:xfrm>
          <a:prstGeom prst="rect">
            <a:avLst/>
          </a:prstGeom>
          <a:noFill/>
        </p:spPr>
        <p:txBody>
          <a:bodyPr wrap="none" rtlCol="0">
            <a:spAutoFit/>
          </a:bodyPr>
          <a:lstStyle/>
          <a:p>
            <a:r>
              <a:rPr lang="en-US" sz="800" dirty="0"/>
              <a:t>Slide credit: </a:t>
            </a:r>
            <a:r>
              <a:rPr lang="en-US" sz="800" dirty="0" err="1"/>
              <a:t>Hwu</a:t>
            </a:r>
            <a:r>
              <a:rPr lang="en-US" sz="800" dirty="0"/>
              <a:t> &amp; Kirk</a:t>
            </a:r>
          </a:p>
        </p:txBody>
      </p:sp>
    </p:spTree>
    <p:extLst>
      <p:ext uri="{BB962C8B-B14F-4D97-AF65-F5344CB8AC3E}">
        <p14:creationId xmlns:p14="http://schemas.microsoft.com/office/powerpoint/2010/main" val="266414175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1"/>
                                        </p:tgtEl>
                                        <p:attrNameLst>
                                          <p:attrName>style.visibility</p:attrName>
                                        </p:attrNameLst>
                                      </p:cBhvr>
                                      <p:to>
                                        <p:strVal val="visible"/>
                                      </p:to>
                                    </p:set>
                                  </p:childTnLst>
                                </p:cTn>
                              </p:par>
                              <p:par>
                                <p:cTn id="25" presetID="24" presetClass="emph" presetSubtype="0" fill="hold" grpId="0" nodeType="withEffect">
                                  <p:stCondLst>
                                    <p:cond delay="0"/>
                                  </p:stCondLst>
                                  <p:childTnLst>
                                    <p:animClr clrSpc="hsl" dir="cw">
                                      <p:cBhvr override="childStyle">
                                        <p:cTn id="26" dur="500" fill="hold"/>
                                        <p:tgtEl>
                                          <p:spTgt spid="112"/>
                                        </p:tgtEl>
                                        <p:attrNameLst>
                                          <p:attrName>style.color</p:attrName>
                                        </p:attrNameLst>
                                      </p:cBhvr>
                                      <p:by>
                                        <p:hsl h="0" s="-12549" l="-25098"/>
                                      </p:by>
                                    </p:animClr>
                                    <p:animClr clrSpc="hsl" dir="cw">
                                      <p:cBhvr>
                                        <p:cTn id="27" dur="500" fill="hold"/>
                                        <p:tgtEl>
                                          <p:spTgt spid="112"/>
                                        </p:tgtEl>
                                        <p:attrNameLst>
                                          <p:attrName>fillcolor</p:attrName>
                                        </p:attrNameLst>
                                      </p:cBhvr>
                                      <p:by>
                                        <p:hsl h="0" s="-12549" l="-25098"/>
                                      </p:by>
                                    </p:animClr>
                                    <p:animClr clrSpc="hsl" dir="cw">
                                      <p:cBhvr>
                                        <p:cTn id="28" dur="500" fill="hold"/>
                                        <p:tgtEl>
                                          <p:spTgt spid="112"/>
                                        </p:tgtEl>
                                        <p:attrNameLst>
                                          <p:attrName>stroke.color</p:attrName>
                                        </p:attrNameLst>
                                      </p:cBhvr>
                                      <p:by>
                                        <p:hsl h="0" s="-12549" l="-25098"/>
                                      </p:by>
                                    </p:animClr>
                                    <p:set>
                                      <p:cBhvr>
                                        <p:cTn id="29" dur="500" fill="hold"/>
                                        <p:tgtEl>
                                          <p:spTgt spid="112"/>
                                        </p:tgtEl>
                                        <p:attrNameLst>
                                          <p:attrName>fill.type</p:attrName>
                                        </p:attrNameLst>
                                      </p:cBhvr>
                                      <p:to>
                                        <p:strVal val="solid"/>
                                      </p:to>
                                    </p:set>
                                  </p:childTnLst>
                                </p:cTn>
                              </p:par>
                              <p:par>
                                <p:cTn id="30" presetID="24" presetClass="emph" presetSubtype="0" fill="hold" grpId="0" nodeType="withEffect">
                                  <p:stCondLst>
                                    <p:cond delay="0"/>
                                  </p:stCondLst>
                                  <p:childTnLst>
                                    <p:animClr clrSpc="hsl" dir="cw">
                                      <p:cBhvr override="childStyle">
                                        <p:cTn id="31" dur="500" fill="hold"/>
                                        <p:tgtEl>
                                          <p:spTgt spid="110"/>
                                        </p:tgtEl>
                                        <p:attrNameLst>
                                          <p:attrName>style.color</p:attrName>
                                        </p:attrNameLst>
                                      </p:cBhvr>
                                      <p:by>
                                        <p:hsl h="0" s="-12549" l="-25098"/>
                                      </p:by>
                                    </p:animClr>
                                    <p:animClr clrSpc="hsl" dir="cw">
                                      <p:cBhvr>
                                        <p:cTn id="32" dur="500" fill="hold"/>
                                        <p:tgtEl>
                                          <p:spTgt spid="110"/>
                                        </p:tgtEl>
                                        <p:attrNameLst>
                                          <p:attrName>fillcolor</p:attrName>
                                        </p:attrNameLst>
                                      </p:cBhvr>
                                      <p:by>
                                        <p:hsl h="0" s="-12549" l="-25098"/>
                                      </p:by>
                                    </p:animClr>
                                    <p:animClr clrSpc="hsl" dir="cw">
                                      <p:cBhvr>
                                        <p:cTn id="33" dur="500" fill="hold"/>
                                        <p:tgtEl>
                                          <p:spTgt spid="110"/>
                                        </p:tgtEl>
                                        <p:attrNameLst>
                                          <p:attrName>stroke.color</p:attrName>
                                        </p:attrNameLst>
                                      </p:cBhvr>
                                      <p:by>
                                        <p:hsl h="0" s="-12549" l="-25098"/>
                                      </p:by>
                                    </p:animClr>
                                    <p:set>
                                      <p:cBhvr>
                                        <p:cTn id="34" dur="500" fill="hold"/>
                                        <p:tgtEl>
                                          <p:spTgt spid="110"/>
                                        </p:tgtEl>
                                        <p:attrNameLst>
                                          <p:attrName>fill.type</p:attrName>
                                        </p:attrNameLst>
                                      </p:cBhvr>
                                      <p:to>
                                        <p:strVal val="solid"/>
                                      </p:to>
                                    </p:set>
                                  </p:childTnLst>
                                </p:cTn>
                              </p:par>
                              <p:par>
                                <p:cTn id="35" presetID="24" presetClass="emph" presetSubtype="0" fill="hold" grpId="0" nodeType="withEffect">
                                  <p:stCondLst>
                                    <p:cond delay="0"/>
                                  </p:stCondLst>
                                  <p:childTnLst>
                                    <p:animClr clrSpc="hsl" dir="cw">
                                      <p:cBhvr override="childStyle">
                                        <p:cTn id="36" dur="500" fill="hold"/>
                                        <p:tgtEl>
                                          <p:spTgt spid="108"/>
                                        </p:tgtEl>
                                        <p:attrNameLst>
                                          <p:attrName>style.color</p:attrName>
                                        </p:attrNameLst>
                                      </p:cBhvr>
                                      <p:by>
                                        <p:hsl h="0" s="-12549" l="-25098"/>
                                      </p:by>
                                    </p:animClr>
                                    <p:animClr clrSpc="hsl" dir="cw">
                                      <p:cBhvr>
                                        <p:cTn id="37" dur="500" fill="hold"/>
                                        <p:tgtEl>
                                          <p:spTgt spid="108"/>
                                        </p:tgtEl>
                                        <p:attrNameLst>
                                          <p:attrName>fillcolor</p:attrName>
                                        </p:attrNameLst>
                                      </p:cBhvr>
                                      <p:by>
                                        <p:hsl h="0" s="-12549" l="-25098"/>
                                      </p:by>
                                    </p:animClr>
                                    <p:animClr clrSpc="hsl" dir="cw">
                                      <p:cBhvr>
                                        <p:cTn id="38" dur="500" fill="hold"/>
                                        <p:tgtEl>
                                          <p:spTgt spid="108"/>
                                        </p:tgtEl>
                                        <p:attrNameLst>
                                          <p:attrName>stroke.color</p:attrName>
                                        </p:attrNameLst>
                                      </p:cBhvr>
                                      <p:by>
                                        <p:hsl h="0" s="-12549" l="-25098"/>
                                      </p:by>
                                    </p:animClr>
                                    <p:set>
                                      <p:cBhvr>
                                        <p:cTn id="39" dur="500" fill="hold"/>
                                        <p:tgtEl>
                                          <p:spTgt spid="108"/>
                                        </p:tgtEl>
                                        <p:attrNameLst>
                                          <p:attrName>fill.type</p:attrName>
                                        </p:attrNameLst>
                                      </p:cBhvr>
                                      <p:to>
                                        <p:strVal val="solid"/>
                                      </p:to>
                                    </p:set>
                                  </p:childTnLst>
                                </p:cTn>
                              </p:par>
                              <p:par>
                                <p:cTn id="40" presetID="24" presetClass="emph" presetSubtype="0" fill="hold" grpId="0" nodeType="withEffect">
                                  <p:stCondLst>
                                    <p:cond delay="0"/>
                                  </p:stCondLst>
                                  <p:childTnLst>
                                    <p:animClr clrSpc="hsl" dir="cw">
                                      <p:cBhvr override="childStyle">
                                        <p:cTn id="41" dur="500" fill="hold"/>
                                        <p:tgtEl>
                                          <p:spTgt spid="106"/>
                                        </p:tgtEl>
                                        <p:attrNameLst>
                                          <p:attrName>style.color</p:attrName>
                                        </p:attrNameLst>
                                      </p:cBhvr>
                                      <p:by>
                                        <p:hsl h="0" s="-12549" l="-25098"/>
                                      </p:by>
                                    </p:animClr>
                                    <p:animClr clrSpc="hsl" dir="cw">
                                      <p:cBhvr>
                                        <p:cTn id="42" dur="500" fill="hold"/>
                                        <p:tgtEl>
                                          <p:spTgt spid="106"/>
                                        </p:tgtEl>
                                        <p:attrNameLst>
                                          <p:attrName>fillcolor</p:attrName>
                                        </p:attrNameLst>
                                      </p:cBhvr>
                                      <p:by>
                                        <p:hsl h="0" s="-12549" l="-25098"/>
                                      </p:by>
                                    </p:animClr>
                                    <p:animClr clrSpc="hsl" dir="cw">
                                      <p:cBhvr>
                                        <p:cTn id="43" dur="500" fill="hold"/>
                                        <p:tgtEl>
                                          <p:spTgt spid="106"/>
                                        </p:tgtEl>
                                        <p:attrNameLst>
                                          <p:attrName>stroke.color</p:attrName>
                                        </p:attrNameLst>
                                      </p:cBhvr>
                                      <p:by>
                                        <p:hsl h="0" s="-12549" l="-25098"/>
                                      </p:by>
                                    </p:animClr>
                                    <p:set>
                                      <p:cBhvr>
                                        <p:cTn id="44" dur="500" fill="hold"/>
                                        <p:tgtEl>
                                          <p:spTgt spid="106"/>
                                        </p:tgtEl>
                                        <p:attrNameLst>
                                          <p:attrName>fill.type</p:attrName>
                                        </p:attrNameLst>
                                      </p:cBhvr>
                                      <p:to>
                                        <p:strVal val="solid"/>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2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3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36"/>
                                        </p:tgtEl>
                                        <p:attrNameLst>
                                          <p:attrName>style.visibility</p:attrName>
                                        </p:attrNameLst>
                                      </p:cBhvr>
                                      <p:to>
                                        <p:strVal val="visible"/>
                                      </p:to>
                                    </p:set>
                                  </p:childTnLst>
                                </p:cTn>
                              </p:par>
                              <p:par>
                                <p:cTn id="53" presetID="1" presetClass="entr" presetSubtype="0" fill="hold" grpId="1" nodeType="withEffect">
                                  <p:stCondLst>
                                    <p:cond delay="0"/>
                                  </p:stCondLst>
                                  <p:childTnLst>
                                    <p:set>
                                      <p:cBhvr>
                                        <p:cTn id="54" dur="1" fill="hold">
                                          <p:stCondLst>
                                            <p:cond delay="0"/>
                                          </p:stCondLst>
                                        </p:cTn>
                                        <p:tgtEl>
                                          <p:spTgt spid="13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3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3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39"/>
                                        </p:tgtEl>
                                        <p:attrNameLst>
                                          <p:attrName>style.visibility</p:attrName>
                                        </p:attrNameLst>
                                      </p:cBhvr>
                                      <p:to>
                                        <p:strVal val="visible"/>
                                      </p:to>
                                    </p:set>
                                  </p:childTnLst>
                                </p:cTn>
                              </p:par>
                              <p:par>
                                <p:cTn id="61" presetID="1" presetClass="entr" presetSubtype="0" fill="hold" grpId="1" nodeType="withEffect">
                                  <p:stCondLst>
                                    <p:cond delay="0"/>
                                  </p:stCondLst>
                                  <p:childTnLst>
                                    <p:set>
                                      <p:cBhvr>
                                        <p:cTn id="62" dur="1" fill="hold">
                                          <p:stCondLst>
                                            <p:cond delay="0"/>
                                          </p:stCondLst>
                                        </p:cTn>
                                        <p:tgtEl>
                                          <p:spTgt spid="140"/>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41"/>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4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32"/>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22"/>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24"/>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26"/>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28"/>
                                        </p:tgtEl>
                                        <p:attrNameLst>
                                          <p:attrName>style.visibility</p:attrName>
                                        </p:attrNameLst>
                                      </p:cBhvr>
                                      <p:to>
                                        <p:strVal val="visible"/>
                                      </p:to>
                                    </p:set>
                                  </p:childTnLst>
                                </p:cTn>
                              </p:par>
                              <p:par>
                                <p:cTn id="79" presetID="24" presetClass="emph" presetSubtype="0" fill="hold" grpId="0" nodeType="withEffect">
                                  <p:stCondLst>
                                    <p:cond delay="0"/>
                                  </p:stCondLst>
                                  <p:childTnLst>
                                    <p:animClr clrSpc="hsl" dir="cw">
                                      <p:cBhvr override="childStyle">
                                        <p:cTn id="80" dur="500" fill="hold"/>
                                        <p:tgtEl>
                                          <p:spTgt spid="140"/>
                                        </p:tgtEl>
                                        <p:attrNameLst>
                                          <p:attrName>style.color</p:attrName>
                                        </p:attrNameLst>
                                      </p:cBhvr>
                                      <p:by>
                                        <p:hsl h="0" s="-12549" l="-25098"/>
                                      </p:by>
                                    </p:animClr>
                                    <p:animClr clrSpc="hsl" dir="cw">
                                      <p:cBhvr>
                                        <p:cTn id="81" dur="500" fill="hold"/>
                                        <p:tgtEl>
                                          <p:spTgt spid="140"/>
                                        </p:tgtEl>
                                        <p:attrNameLst>
                                          <p:attrName>fillcolor</p:attrName>
                                        </p:attrNameLst>
                                      </p:cBhvr>
                                      <p:by>
                                        <p:hsl h="0" s="-12549" l="-25098"/>
                                      </p:by>
                                    </p:animClr>
                                    <p:animClr clrSpc="hsl" dir="cw">
                                      <p:cBhvr>
                                        <p:cTn id="82" dur="500" fill="hold"/>
                                        <p:tgtEl>
                                          <p:spTgt spid="140"/>
                                        </p:tgtEl>
                                        <p:attrNameLst>
                                          <p:attrName>stroke.color</p:attrName>
                                        </p:attrNameLst>
                                      </p:cBhvr>
                                      <p:by>
                                        <p:hsl h="0" s="-12549" l="-25098"/>
                                      </p:by>
                                    </p:animClr>
                                    <p:set>
                                      <p:cBhvr>
                                        <p:cTn id="83" dur="500" fill="hold"/>
                                        <p:tgtEl>
                                          <p:spTgt spid="140"/>
                                        </p:tgtEl>
                                        <p:attrNameLst>
                                          <p:attrName>fill.type</p:attrName>
                                        </p:attrNameLst>
                                      </p:cBhvr>
                                      <p:to>
                                        <p:strVal val="solid"/>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133"/>
                                        </p:tgtEl>
                                        <p:attrNameLst>
                                          <p:attrName>style.visibility</p:attrName>
                                        </p:attrNameLst>
                                      </p:cBhvr>
                                      <p:to>
                                        <p:strVal val="visible"/>
                                      </p:to>
                                    </p:set>
                                  </p:childTnLst>
                                </p:cTn>
                              </p:par>
                              <p:par>
                                <p:cTn id="88" presetID="1" presetClass="entr" presetSubtype="0" fill="hold" nodeType="withEffect">
                                  <p:stCondLst>
                                    <p:cond delay="0"/>
                                  </p:stCondLst>
                                  <p:childTnLst>
                                    <p:set>
                                      <p:cBhvr>
                                        <p:cTn id="89" dur="1" fill="hold">
                                          <p:stCondLst>
                                            <p:cond delay="0"/>
                                          </p:stCondLst>
                                        </p:cTn>
                                        <p:tgtEl>
                                          <p:spTgt spid="123"/>
                                        </p:tgtEl>
                                        <p:attrNameLst>
                                          <p:attrName>style.visibility</p:attrName>
                                        </p:attrNameLst>
                                      </p:cBhvr>
                                      <p:to>
                                        <p:strVal val="visible"/>
                                      </p:to>
                                    </p:set>
                                  </p:childTnLst>
                                </p:cTn>
                              </p:par>
                              <p:par>
                                <p:cTn id="90" presetID="1" presetClass="entr" presetSubtype="0" fill="hold" nodeType="withEffect">
                                  <p:stCondLst>
                                    <p:cond delay="0"/>
                                  </p:stCondLst>
                                  <p:childTnLst>
                                    <p:set>
                                      <p:cBhvr>
                                        <p:cTn id="91" dur="1" fill="hold">
                                          <p:stCondLst>
                                            <p:cond delay="0"/>
                                          </p:stCondLst>
                                        </p:cTn>
                                        <p:tgtEl>
                                          <p:spTgt spid="125"/>
                                        </p:tgtEl>
                                        <p:attrNameLst>
                                          <p:attrName>style.visibility</p:attrName>
                                        </p:attrNameLst>
                                      </p:cBhvr>
                                      <p:to>
                                        <p:strVal val="visible"/>
                                      </p:to>
                                    </p:set>
                                  </p:childTnLst>
                                </p:cTn>
                              </p:par>
                              <p:par>
                                <p:cTn id="92" presetID="1" presetClass="entr" presetSubtype="0" fill="hold" nodeType="withEffect">
                                  <p:stCondLst>
                                    <p:cond delay="0"/>
                                  </p:stCondLst>
                                  <p:childTnLst>
                                    <p:set>
                                      <p:cBhvr>
                                        <p:cTn id="93" dur="1" fill="hold">
                                          <p:stCondLst>
                                            <p:cond delay="0"/>
                                          </p:stCondLst>
                                        </p:cTn>
                                        <p:tgtEl>
                                          <p:spTgt spid="127"/>
                                        </p:tgtEl>
                                        <p:attrNameLst>
                                          <p:attrName>style.visibility</p:attrName>
                                        </p:attrNameLst>
                                      </p:cBhvr>
                                      <p:to>
                                        <p:strVal val="visible"/>
                                      </p:to>
                                    </p:set>
                                  </p:childTnLst>
                                </p:cTn>
                              </p:par>
                              <p:par>
                                <p:cTn id="94" presetID="1" presetClass="entr" presetSubtype="0" fill="hold" nodeType="withEffect">
                                  <p:stCondLst>
                                    <p:cond delay="0"/>
                                  </p:stCondLst>
                                  <p:childTnLst>
                                    <p:set>
                                      <p:cBhvr>
                                        <p:cTn id="95" dur="1" fill="hold">
                                          <p:stCondLst>
                                            <p:cond delay="0"/>
                                          </p:stCondLst>
                                        </p:cTn>
                                        <p:tgtEl>
                                          <p:spTgt spid="129"/>
                                        </p:tgtEl>
                                        <p:attrNameLst>
                                          <p:attrName>style.visibility</p:attrName>
                                        </p:attrNameLst>
                                      </p:cBhvr>
                                      <p:to>
                                        <p:strVal val="visible"/>
                                      </p:to>
                                    </p:set>
                                  </p:childTnLst>
                                </p:cTn>
                              </p:par>
                              <p:par>
                                <p:cTn id="96" presetID="1" presetClass="entr" presetSubtype="0" fill="hold" nodeType="withEffect">
                                  <p:stCondLst>
                                    <p:cond delay="0"/>
                                  </p:stCondLst>
                                  <p:childTnLst>
                                    <p:set>
                                      <p:cBhvr>
                                        <p:cTn id="97" dur="1" fill="hold">
                                          <p:stCondLst>
                                            <p:cond delay="0"/>
                                          </p:stCondLst>
                                        </p:cTn>
                                        <p:tgtEl>
                                          <p:spTgt spid="130"/>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82"/>
                                        </p:tgtEl>
                                        <p:attrNameLst>
                                          <p:attrName>style.visibility</p:attrName>
                                        </p:attrNameLst>
                                      </p:cBhvr>
                                      <p:to>
                                        <p:strVal val="visible"/>
                                      </p:to>
                                    </p:set>
                                  </p:childTnLst>
                                </p:cTn>
                              </p:par>
                              <p:par>
                                <p:cTn id="100" presetID="24" presetClass="emph" presetSubtype="0" fill="hold" grpId="0" nodeType="withEffect">
                                  <p:stCondLst>
                                    <p:cond delay="0"/>
                                  </p:stCondLst>
                                  <p:childTnLst>
                                    <p:animClr clrSpc="hsl" dir="cw">
                                      <p:cBhvr override="childStyle">
                                        <p:cTn id="101" dur="500" fill="hold"/>
                                        <p:tgtEl>
                                          <p:spTgt spid="135"/>
                                        </p:tgtEl>
                                        <p:attrNameLst>
                                          <p:attrName>style.color</p:attrName>
                                        </p:attrNameLst>
                                      </p:cBhvr>
                                      <p:by>
                                        <p:hsl h="0" s="-12549" l="-25098"/>
                                      </p:by>
                                    </p:animClr>
                                    <p:animClr clrSpc="hsl" dir="cw">
                                      <p:cBhvr>
                                        <p:cTn id="102" dur="500" fill="hold"/>
                                        <p:tgtEl>
                                          <p:spTgt spid="135"/>
                                        </p:tgtEl>
                                        <p:attrNameLst>
                                          <p:attrName>fillcolor</p:attrName>
                                        </p:attrNameLst>
                                      </p:cBhvr>
                                      <p:by>
                                        <p:hsl h="0" s="-12549" l="-25098"/>
                                      </p:by>
                                    </p:animClr>
                                    <p:animClr clrSpc="hsl" dir="cw">
                                      <p:cBhvr>
                                        <p:cTn id="103" dur="500" fill="hold"/>
                                        <p:tgtEl>
                                          <p:spTgt spid="135"/>
                                        </p:tgtEl>
                                        <p:attrNameLst>
                                          <p:attrName>stroke.color</p:attrName>
                                        </p:attrNameLst>
                                      </p:cBhvr>
                                      <p:by>
                                        <p:hsl h="0" s="-12549" l="-25098"/>
                                      </p:by>
                                    </p:animClr>
                                    <p:set>
                                      <p:cBhvr>
                                        <p:cTn id="104" dur="500" fill="hold"/>
                                        <p:tgtEl>
                                          <p:spTgt spid="135"/>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P spid="82" grpId="0"/>
      <p:bldP spid="106" grpId="0" animBg="1"/>
      <p:bldP spid="108" grpId="0" animBg="1"/>
      <p:bldP spid="110" grpId="0" animBg="1"/>
      <p:bldP spid="112" grpId="0" animBg="1"/>
      <p:bldP spid="134" grpId="0" animBg="1"/>
      <p:bldP spid="135" grpId="0" animBg="1"/>
      <p:bldP spid="135" grpId="1" animBg="1"/>
      <p:bldP spid="136" grpId="0" animBg="1"/>
      <p:bldP spid="137" grpId="0" animBg="1"/>
      <p:bldP spid="138" grpId="0" animBg="1"/>
      <p:bldP spid="139" grpId="0" animBg="1"/>
      <p:bldP spid="140" grpId="0" animBg="1"/>
      <p:bldP spid="140" grpId="1" animBg="1"/>
      <p:bldP spid="132" grpId="0"/>
      <p:bldP spid="13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2"/>
          <p:cNvSpPr>
            <a:spLocks noGrp="1" noChangeArrowheads="1"/>
          </p:cNvSpPr>
          <p:nvPr>
            <p:ph type="title"/>
          </p:nvPr>
        </p:nvSpPr>
        <p:spPr>
          <a:xfrm>
            <a:off x="231504" y="0"/>
            <a:ext cx="8732984" cy="919370"/>
          </a:xfrm>
        </p:spPr>
        <p:txBody>
          <a:bodyPr>
            <a:normAutofit/>
          </a:bodyPr>
          <a:lstStyle/>
          <a:p>
            <a:r>
              <a:rPr lang="en-US" sz="3800" dirty="0"/>
              <a:t>Use Shared Memory to Improve Coalescing</a:t>
            </a:r>
          </a:p>
        </p:txBody>
      </p:sp>
      <p:sp>
        <p:nvSpPr>
          <p:cNvPr id="260099" name="Line 3"/>
          <p:cNvSpPr>
            <a:spLocks noChangeShapeType="1"/>
          </p:cNvSpPr>
          <p:nvPr/>
        </p:nvSpPr>
        <p:spPr bwMode="auto">
          <a:xfrm flipH="1">
            <a:off x="6934200" y="1124744"/>
            <a:ext cx="45719" cy="5105400"/>
          </a:xfrm>
          <a:prstGeom prst="line">
            <a:avLst/>
          </a:prstGeom>
          <a:noFill/>
          <a:ln w="9525">
            <a:solidFill>
              <a:schemeClr val="tx1"/>
            </a:solidFill>
            <a:prstDash val="dash"/>
            <a:round/>
            <a:headEnd/>
            <a:tailEnd/>
          </a:ln>
          <a:effectLst/>
        </p:spPr>
        <p:txBody>
          <a:bodyPr>
            <a:prstTxWarp prst="textNoShape">
              <a:avLst/>
            </a:prstTxWarp>
          </a:bodyPr>
          <a:lstStyle/>
          <a:p>
            <a:endParaRPr lang="es-ES_tradnl"/>
          </a:p>
        </p:txBody>
      </p:sp>
      <p:sp>
        <p:nvSpPr>
          <p:cNvPr id="260101" name="Freeform 5"/>
          <p:cNvSpPr>
            <a:spLocks/>
          </p:cNvSpPr>
          <p:nvPr/>
        </p:nvSpPr>
        <p:spPr bwMode="auto">
          <a:xfrm>
            <a:off x="2103438" y="1334294"/>
            <a:ext cx="2143125" cy="1974850"/>
          </a:xfrm>
          <a:custGeom>
            <a:avLst/>
            <a:gdLst/>
            <a:ahLst/>
            <a:cxnLst>
              <a:cxn ang="0">
                <a:pos x="0" y="0"/>
              </a:cxn>
              <a:cxn ang="0">
                <a:pos x="0" y="1244"/>
              </a:cxn>
              <a:cxn ang="0">
                <a:pos x="1350" y="1244"/>
              </a:cxn>
              <a:cxn ang="0">
                <a:pos x="1350" y="0"/>
              </a:cxn>
              <a:cxn ang="0">
                <a:pos x="0" y="0"/>
              </a:cxn>
              <a:cxn ang="0">
                <a:pos x="0" y="0"/>
              </a:cxn>
            </a:cxnLst>
            <a:rect l="0" t="0" r="r" b="b"/>
            <a:pathLst>
              <a:path w="1350" h="1244">
                <a:moveTo>
                  <a:pt x="0" y="0"/>
                </a:moveTo>
                <a:lnTo>
                  <a:pt x="0" y="1244"/>
                </a:lnTo>
                <a:lnTo>
                  <a:pt x="1350" y="1244"/>
                </a:lnTo>
                <a:lnTo>
                  <a:pt x="1350" y="0"/>
                </a:lnTo>
                <a:lnTo>
                  <a:pt x="0" y="0"/>
                </a:lnTo>
                <a:lnTo>
                  <a:pt x="0" y="0"/>
                </a:lnTo>
                <a:close/>
              </a:path>
            </a:pathLst>
          </a:custGeom>
          <a:solidFill>
            <a:schemeClr val="accent2">
              <a:lumMod val="40000"/>
              <a:lumOff val="60000"/>
            </a:schemeClr>
          </a:solidFill>
          <a:ln w="9525">
            <a:noFill/>
            <a:round/>
            <a:headEnd/>
            <a:tailEnd/>
          </a:ln>
        </p:spPr>
        <p:txBody>
          <a:bodyPr>
            <a:prstTxWarp prst="textNoShape">
              <a:avLst/>
            </a:prstTxWarp>
          </a:bodyPr>
          <a:lstStyle/>
          <a:p>
            <a:endParaRPr lang="es-ES_tradnl"/>
          </a:p>
        </p:txBody>
      </p:sp>
      <p:sp>
        <p:nvSpPr>
          <p:cNvPr id="260102" name="Rectangle 6"/>
          <p:cNvSpPr>
            <a:spLocks noChangeArrowheads="1"/>
          </p:cNvSpPr>
          <p:nvPr/>
        </p:nvSpPr>
        <p:spPr bwMode="auto">
          <a:xfrm>
            <a:off x="2103438" y="1334294"/>
            <a:ext cx="2143125" cy="1974850"/>
          </a:xfrm>
          <a:prstGeom prst="rect">
            <a:avLst/>
          </a:prstGeom>
          <a:noFill/>
          <a:ln w="9525" cap="rnd">
            <a:solidFill>
              <a:srgbClr val="969696"/>
            </a:solidFill>
            <a:round/>
            <a:headEnd/>
            <a:tailEnd/>
          </a:ln>
        </p:spPr>
        <p:txBody>
          <a:bodyPr>
            <a:prstTxWarp prst="textNoShape">
              <a:avLst/>
            </a:prstTxWarp>
          </a:bodyPr>
          <a:lstStyle/>
          <a:p>
            <a:endParaRPr lang="es-ES_tradnl"/>
          </a:p>
        </p:txBody>
      </p:sp>
      <p:sp>
        <p:nvSpPr>
          <p:cNvPr id="260103" name="Rectangle 7"/>
          <p:cNvSpPr>
            <a:spLocks noChangeArrowheads="1"/>
          </p:cNvSpPr>
          <p:nvPr/>
        </p:nvSpPr>
        <p:spPr bwMode="auto">
          <a:xfrm>
            <a:off x="2230438" y="1389857"/>
            <a:ext cx="184150" cy="152400"/>
          </a:xfrm>
          <a:prstGeom prst="rect">
            <a:avLst/>
          </a:prstGeom>
          <a:noFill/>
          <a:ln w="9525">
            <a:noFill/>
            <a:miter lim="800000"/>
            <a:headEnd/>
            <a:tailEnd/>
          </a:ln>
        </p:spPr>
        <p:txBody>
          <a:bodyPr wrap="none" lIns="0" tIns="0" rIns="0" bIns="0">
            <a:prstTxWarp prst="textNoShape">
              <a:avLst/>
            </a:prstTxWarp>
            <a:spAutoFit/>
          </a:bodyPr>
          <a:lstStyle/>
          <a:p>
            <a:r>
              <a:rPr lang="en-US" sz="1000" b="1">
                <a:solidFill>
                  <a:srgbClr val="FFFFFF"/>
                </a:solidFill>
                <a:latin typeface="Arial" pitchFamily="-111" charset="0"/>
              </a:rPr>
              <a:t>Md</a:t>
            </a:r>
            <a:endParaRPr lang="en-US"/>
          </a:p>
        </p:txBody>
      </p:sp>
      <p:sp>
        <p:nvSpPr>
          <p:cNvPr id="260104" name="Freeform 8"/>
          <p:cNvSpPr>
            <a:spLocks/>
          </p:cNvSpPr>
          <p:nvPr/>
        </p:nvSpPr>
        <p:spPr bwMode="auto">
          <a:xfrm>
            <a:off x="4567238" y="1337469"/>
            <a:ext cx="2144712" cy="1971675"/>
          </a:xfrm>
          <a:custGeom>
            <a:avLst/>
            <a:gdLst/>
            <a:ahLst/>
            <a:cxnLst>
              <a:cxn ang="0">
                <a:pos x="0" y="0"/>
              </a:cxn>
              <a:cxn ang="0">
                <a:pos x="0" y="1242"/>
              </a:cxn>
              <a:cxn ang="0">
                <a:pos x="1351" y="1242"/>
              </a:cxn>
              <a:cxn ang="0">
                <a:pos x="1351" y="0"/>
              </a:cxn>
              <a:cxn ang="0">
                <a:pos x="0" y="0"/>
              </a:cxn>
              <a:cxn ang="0">
                <a:pos x="0" y="0"/>
              </a:cxn>
            </a:cxnLst>
            <a:rect l="0" t="0" r="r" b="b"/>
            <a:pathLst>
              <a:path w="1351" h="1242">
                <a:moveTo>
                  <a:pt x="0" y="0"/>
                </a:moveTo>
                <a:lnTo>
                  <a:pt x="0" y="1242"/>
                </a:lnTo>
                <a:lnTo>
                  <a:pt x="1351" y="1242"/>
                </a:lnTo>
                <a:lnTo>
                  <a:pt x="1351" y="0"/>
                </a:lnTo>
                <a:lnTo>
                  <a:pt x="0" y="0"/>
                </a:lnTo>
                <a:lnTo>
                  <a:pt x="0" y="0"/>
                </a:lnTo>
                <a:close/>
              </a:path>
            </a:pathLst>
          </a:custGeom>
          <a:solidFill>
            <a:schemeClr val="accent2">
              <a:lumMod val="40000"/>
              <a:lumOff val="60000"/>
            </a:schemeClr>
          </a:solidFill>
          <a:ln w="9525">
            <a:noFill/>
            <a:round/>
            <a:headEnd/>
            <a:tailEnd/>
          </a:ln>
        </p:spPr>
        <p:txBody>
          <a:bodyPr>
            <a:prstTxWarp prst="textNoShape">
              <a:avLst/>
            </a:prstTxWarp>
          </a:bodyPr>
          <a:lstStyle/>
          <a:p>
            <a:endParaRPr lang="es-ES_tradnl"/>
          </a:p>
        </p:txBody>
      </p:sp>
      <p:sp>
        <p:nvSpPr>
          <p:cNvPr id="260105" name="Rectangle 9"/>
          <p:cNvSpPr>
            <a:spLocks noChangeArrowheads="1"/>
          </p:cNvSpPr>
          <p:nvPr/>
        </p:nvSpPr>
        <p:spPr bwMode="auto">
          <a:xfrm>
            <a:off x="4567238" y="1337469"/>
            <a:ext cx="2144712" cy="1971675"/>
          </a:xfrm>
          <a:prstGeom prst="rect">
            <a:avLst/>
          </a:prstGeom>
          <a:noFill/>
          <a:ln w="9525" cap="rnd">
            <a:solidFill>
              <a:srgbClr val="969696"/>
            </a:solidFill>
            <a:round/>
            <a:headEnd/>
            <a:tailEnd/>
          </a:ln>
        </p:spPr>
        <p:txBody>
          <a:bodyPr>
            <a:prstTxWarp prst="textNoShape">
              <a:avLst/>
            </a:prstTxWarp>
          </a:bodyPr>
          <a:lstStyle/>
          <a:p>
            <a:endParaRPr lang="es-ES_tradnl"/>
          </a:p>
        </p:txBody>
      </p:sp>
      <p:sp>
        <p:nvSpPr>
          <p:cNvPr id="260106" name="Rectangle 10"/>
          <p:cNvSpPr>
            <a:spLocks noChangeArrowheads="1"/>
          </p:cNvSpPr>
          <p:nvPr/>
        </p:nvSpPr>
        <p:spPr bwMode="auto">
          <a:xfrm>
            <a:off x="4695825" y="1396207"/>
            <a:ext cx="169863" cy="152400"/>
          </a:xfrm>
          <a:prstGeom prst="rect">
            <a:avLst/>
          </a:prstGeom>
          <a:noFill/>
          <a:ln w="9525">
            <a:noFill/>
            <a:miter lim="800000"/>
            <a:headEnd/>
            <a:tailEnd/>
          </a:ln>
        </p:spPr>
        <p:txBody>
          <a:bodyPr wrap="none" lIns="0" tIns="0" rIns="0" bIns="0">
            <a:prstTxWarp prst="textNoShape">
              <a:avLst/>
            </a:prstTxWarp>
            <a:spAutoFit/>
          </a:bodyPr>
          <a:lstStyle/>
          <a:p>
            <a:r>
              <a:rPr lang="en-US" sz="1000" b="1">
                <a:solidFill>
                  <a:srgbClr val="FFFFFF"/>
                </a:solidFill>
                <a:latin typeface="Arial" pitchFamily="-111" charset="0"/>
              </a:rPr>
              <a:t>Nd</a:t>
            </a:r>
            <a:endParaRPr lang="en-US"/>
          </a:p>
        </p:txBody>
      </p:sp>
      <p:sp>
        <p:nvSpPr>
          <p:cNvPr id="260107" name="Freeform 11"/>
          <p:cNvSpPr>
            <a:spLocks/>
          </p:cNvSpPr>
          <p:nvPr/>
        </p:nvSpPr>
        <p:spPr bwMode="auto">
          <a:xfrm>
            <a:off x="5746750" y="1334294"/>
            <a:ext cx="53975" cy="1974850"/>
          </a:xfrm>
          <a:custGeom>
            <a:avLst/>
            <a:gdLst/>
            <a:ahLst/>
            <a:cxnLst>
              <a:cxn ang="0">
                <a:pos x="0" y="0"/>
              </a:cxn>
              <a:cxn ang="0">
                <a:pos x="0" y="1244"/>
              </a:cxn>
              <a:cxn ang="0">
                <a:pos x="34" y="1244"/>
              </a:cxn>
              <a:cxn ang="0">
                <a:pos x="34" y="0"/>
              </a:cxn>
              <a:cxn ang="0">
                <a:pos x="0" y="0"/>
              </a:cxn>
              <a:cxn ang="0">
                <a:pos x="0" y="0"/>
              </a:cxn>
            </a:cxnLst>
            <a:rect l="0" t="0" r="r" b="b"/>
            <a:pathLst>
              <a:path w="34" h="1244">
                <a:moveTo>
                  <a:pt x="0" y="0"/>
                </a:moveTo>
                <a:lnTo>
                  <a:pt x="0" y="1244"/>
                </a:lnTo>
                <a:lnTo>
                  <a:pt x="34" y="1244"/>
                </a:lnTo>
                <a:lnTo>
                  <a:pt x="34" y="0"/>
                </a:lnTo>
                <a:lnTo>
                  <a:pt x="0" y="0"/>
                </a:lnTo>
                <a:lnTo>
                  <a:pt x="0" y="0"/>
                </a:lnTo>
                <a:close/>
              </a:path>
            </a:pathLst>
          </a:custGeom>
          <a:solidFill>
            <a:srgbClr val="FF6600"/>
          </a:solidFill>
          <a:ln w="9525">
            <a:noFill/>
            <a:round/>
            <a:headEnd/>
            <a:tailEnd/>
          </a:ln>
        </p:spPr>
        <p:txBody>
          <a:bodyPr>
            <a:prstTxWarp prst="textNoShape">
              <a:avLst/>
            </a:prstTxWarp>
          </a:bodyPr>
          <a:lstStyle/>
          <a:p>
            <a:endParaRPr lang="es-ES_tradnl"/>
          </a:p>
        </p:txBody>
      </p:sp>
      <p:sp>
        <p:nvSpPr>
          <p:cNvPr id="260108" name="Freeform 12"/>
          <p:cNvSpPr>
            <a:spLocks/>
          </p:cNvSpPr>
          <p:nvPr/>
        </p:nvSpPr>
        <p:spPr bwMode="auto">
          <a:xfrm>
            <a:off x="2103438" y="2520157"/>
            <a:ext cx="2143125" cy="47625"/>
          </a:xfrm>
          <a:custGeom>
            <a:avLst/>
            <a:gdLst/>
            <a:ahLst/>
            <a:cxnLst>
              <a:cxn ang="0">
                <a:pos x="0" y="0"/>
              </a:cxn>
              <a:cxn ang="0">
                <a:pos x="0" y="30"/>
              </a:cxn>
              <a:cxn ang="0">
                <a:pos x="1350" y="30"/>
              </a:cxn>
              <a:cxn ang="0">
                <a:pos x="1350" y="0"/>
              </a:cxn>
              <a:cxn ang="0">
                <a:pos x="0" y="0"/>
              </a:cxn>
              <a:cxn ang="0">
                <a:pos x="0" y="0"/>
              </a:cxn>
            </a:cxnLst>
            <a:rect l="0" t="0" r="r" b="b"/>
            <a:pathLst>
              <a:path w="1350" h="30">
                <a:moveTo>
                  <a:pt x="0" y="0"/>
                </a:moveTo>
                <a:lnTo>
                  <a:pt x="0" y="30"/>
                </a:lnTo>
                <a:lnTo>
                  <a:pt x="1350" y="30"/>
                </a:lnTo>
                <a:lnTo>
                  <a:pt x="1350" y="0"/>
                </a:lnTo>
                <a:lnTo>
                  <a:pt x="0" y="0"/>
                </a:lnTo>
                <a:lnTo>
                  <a:pt x="0" y="0"/>
                </a:lnTo>
                <a:close/>
              </a:path>
            </a:pathLst>
          </a:custGeom>
          <a:solidFill>
            <a:srgbClr val="FF6600"/>
          </a:solidFill>
          <a:ln w="9525">
            <a:noFill/>
            <a:round/>
            <a:headEnd/>
            <a:tailEnd/>
          </a:ln>
        </p:spPr>
        <p:txBody>
          <a:bodyPr>
            <a:prstTxWarp prst="textNoShape">
              <a:avLst/>
            </a:prstTxWarp>
          </a:bodyPr>
          <a:lstStyle/>
          <a:p>
            <a:endParaRPr lang="es-ES_tradnl"/>
          </a:p>
        </p:txBody>
      </p:sp>
      <p:sp>
        <p:nvSpPr>
          <p:cNvPr id="260109" name="Freeform 13"/>
          <p:cNvSpPr>
            <a:spLocks noEditPoints="1"/>
          </p:cNvSpPr>
          <p:nvPr/>
        </p:nvSpPr>
        <p:spPr bwMode="auto">
          <a:xfrm>
            <a:off x="6561138" y="1334294"/>
            <a:ext cx="69850" cy="1974850"/>
          </a:xfrm>
          <a:custGeom>
            <a:avLst/>
            <a:gdLst/>
            <a:ahLst/>
            <a:cxnLst>
              <a:cxn ang="0">
                <a:pos x="71" y="4676"/>
              </a:cxn>
              <a:cxn ang="0">
                <a:pos x="62" y="126"/>
              </a:cxn>
              <a:cxn ang="0">
                <a:pos x="75" y="113"/>
              </a:cxn>
              <a:cxn ang="0">
                <a:pos x="87" y="126"/>
              </a:cxn>
              <a:cxn ang="0">
                <a:pos x="96" y="4675"/>
              </a:cxn>
              <a:cxn ang="0">
                <a:pos x="84" y="4688"/>
              </a:cxn>
              <a:cxn ang="0">
                <a:pos x="71" y="4676"/>
              </a:cxn>
              <a:cxn ang="0">
                <a:pos x="158" y="4650"/>
              </a:cxn>
              <a:cxn ang="0">
                <a:pos x="84" y="4800"/>
              </a:cxn>
              <a:cxn ang="0">
                <a:pos x="9" y="4650"/>
              </a:cxn>
              <a:cxn ang="0">
                <a:pos x="158" y="4650"/>
              </a:cxn>
              <a:cxn ang="0">
                <a:pos x="0" y="150"/>
              </a:cxn>
              <a:cxn ang="0">
                <a:pos x="75" y="0"/>
              </a:cxn>
              <a:cxn ang="0">
                <a:pos x="149" y="150"/>
              </a:cxn>
              <a:cxn ang="0">
                <a:pos x="0" y="150"/>
              </a:cxn>
            </a:cxnLst>
            <a:rect l="0" t="0" r="r" b="b"/>
            <a:pathLst>
              <a:path w="158" h="4800">
                <a:moveTo>
                  <a:pt x="71" y="4676"/>
                </a:moveTo>
                <a:lnTo>
                  <a:pt x="62" y="126"/>
                </a:lnTo>
                <a:cubicBezTo>
                  <a:pt x="62" y="119"/>
                  <a:pt x="68" y="113"/>
                  <a:pt x="75" y="113"/>
                </a:cubicBezTo>
                <a:cubicBezTo>
                  <a:pt x="81" y="113"/>
                  <a:pt x="87" y="119"/>
                  <a:pt x="87" y="126"/>
                </a:cubicBezTo>
                <a:lnTo>
                  <a:pt x="96" y="4675"/>
                </a:lnTo>
                <a:cubicBezTo>
                  <a:pt x="96" y="4683"/>
                  <a:pt x="90" y="4688"/>
                  <a:pt x="84" y="4688"/>
                </a:cubicBezTo>
                <a:cubicBezTo>
                  <a:pt x="77" y="4688"/>
                  <a:pt x="71" y="4683"/>
                  <a:pt x="71" y="4676"/>
                </a:cubicBezTo>
                <a:close/>
                <a:moveTo>
                  <a:pt x="158" y="4650"/>
                </a:moveTo>
                <a:lnTo>
                  <a:pt x="84" y="4800"/>
                </a:lnTo>
                <a:lnTo>
                  <a:pt x="9" y="4650"/>
                </a:lnTo>
                <a:lnTo>
                  <a:pt x="158" y="4650"/>
                </a:lnTo>
                <a:close/>
                <a:moveTo>
                  <a:pt x="0" y="150"/>
                </a:moveTo>
                <a:lnTo>
                  <a:pt x="75" y="0"/>
                </a:lnTo>
                <a:lnTo>
                  <a:pt x="149" y="150"/>
                </a:lnTo>
                <a:lnTo>
                  <a:pt x="0" y="150"/>
                </a:lnTo>
                <a:close/>
              </a:path>
            </a:pathLst>
          </a:custGeom>
          <a:solidFill>
            <a:srgbClr val="000000"/>
          </a:solidFill>
          <a:ln w="0">
            <a:solidFill>
              <a:srgbClr val="000000"/>
            </a:solidFill>
            <a:prstDash val="solid"/>
            <a:round/>
            <a:headEnd/>
            <a:tailEnd/>
          </a:ln>
        </p:spPr>
        <p:txBody>
          <a:bodyPr>
            <a:prstTxWarp prst="textNoShape">
              <a:avLst/>
            </a:prstTxWarp>
          </a:bodyPr>
          <a:lstStyle/>
          <a:p>
            <a:endParaRPr lang="es-ES_tradnl"/>
          </a:p>
        </p:txBody>
      </p:sp>
      <p:sp>
        <p:nvSpPr>
          <p:cNvPr id="260110" name="Freeform 14"/>
          <p:cNvSpPr>
            <a:spLocks noEditPoints="1"/>
          </p:cNvSpPr>
          <p:nvPr/>
        </p:nvSpPr>
        <p:spPr bwMode="auto">
          <a:xfrm>
            <a:off x="6561138" y="1334294"/>
            <a:ext cx="69850" cy="1974850"/>
          </a:xfrm>
          <a:custGeom>
            <a:avLst/>
            <a:gdLst/>
            <a:ahLst/>
            <a:cxnLst>
              <a:cxn ang="0">
                <a:pos x="71" y="4676"/>
              </a:cxn>
              <a:cxn ang="0">
                <a:pos x="62" y="126"/>
              </a:cxn>
              <a:cxn ang="0">
                <a:pos x="75" y="113"/>
              </a:cxn>
              <a:cxn ang="0">
                <a:pos x="87" y="126"/>
              </a:cxn>
              <a:cxn ang="0">
                <a:pos x="96" y="4675"/>
              </a:cxn>
              <a:cxn ang="0">
                <a:pos x="84" y="4688"/>
              </a:cxn>
              <a:cxn ang="0">
                <a:pos x="71" y="4676"/>
              </a:cxn>
              <a:cxn ang="0">
                <a:pos x="158" y="4650"/>
              </a:cxn>
              <a:cxn ang="0">
                <a:pos x="84" y="4800"/>
              </a:cxn>
              <a:cxn ang="0">
                <a:pos x="9" y="4650"/>
              </a:cxn>
              <a:cxn ang="0">
                <a:pos x="158" y="4650"/>
              </a:cxn>
              <a:cxn ang="0">
                <a:pos x="0" y="150"/>
              </a:cxn>
              <a:cxn ang="0">
                <a:pos x="75" y="0"/>
              </a:cxn>
              <a:cxn ang="0">
                <a:pos x="149" y="150"/>
              </a:cxn>
              <a:cxn ang="0">
                <a:pos x="0" y="150"/>
              </a:cxn>
            </a:cxnLst>
            <a:rect l="0" t="0" r="r" b="b"/>
            <a:pathLst>
              <a:path w="158" h="4800">
                <a:moveTo>
                  <a:pt x="71" y="4676"/>
                </a:moveTo>
                <a:lnTo>
                  <a:pt x="62" y="126"/>
                </a:lnTo>
                <a:cubicBezTo>
                  <a:pt x="62" y="119"/>
                  <a:pt x="68" y="113"/>
                  <a:pt x="75" y="113"/>
                </a:cubicBezTo>
                <a:cubicBezTo>
                  <a:pt x="81" y="113"/>
                  <a:pt x="87" y="119"/>
                  <a:pt x="87" y="126"/>
                </a:cubicBezTo>
                <a:lnTo>
                  <a:pt x="96" y="4675"/>
                </a:lnTo>
                <a:cubicBezTo>
                  <a:pt x="96" y="4683"/>
                  <a:pt x="90" y="4688"/>
                  <a:pt x="84" y="4688"/>
                </a:cubicBezTo>
                <a:cubicBezTo>
                  <a:pt x="77" y="4688"/>
                  <a:pt x="71" y="4683"/>
                  <a:pt x="71" y="4676"/>
                </a:cubicBezTo>
                <a:close/>
                <a:moveTo>
                  <a:pt x="158" y="4650"/>
                </a:moveTo>
                <a:lnTo>
                  <a:pt x="84" y="4800"/>
                </a:lnTo>
                <a:lnTo>
                  <a:pt x="9" y="4650"/>
                </a:lnTo>
                <a:lnTo>
                  <a:pt x="158" y="4650"/>
                </a:lnTo>
                <a:close/>
                <a:moveTo>
                  <a:pt x="0" y="150"/>
                </a:moveTo>
                <a:lnTo>
                  <a:pt x="75" y="0"/>
                </a:lnTo>
                <a:lnTo>
                  <a:pt x="149" y="150"/>
                </a:lnTo>
                <a:lnTo>
                  <a:pt x="0" y="150"/>
                </a:lnTo>
                <a:close/>
              </a:path>
            </a:pathLst>
          </a:custGeom>
          <a:noFill/>
          <a:ln w="1588" cap="rnd">
            <a:solidFill>
              <a:srgbClr val="000000"/>
            </a:solidFill>
            <a:prstDash val="solid"/>
            <a:round/>
            <a:headEnd/>
            <a:tailEnd/>
          </a:ln>
        </p:spPr>
        <p:txBody>
          <a:bodyPr>
            <a:prstTxWarp prst="textNoShape">
              <a:avLst/>
            </a:prstTxWarp>
          </a:bodyPr>
          <a:lstStyle/>
          <a:p>
            <a:endParaRPr lang="es-ES_tradnl"/>
          </a:p>
        </p:txBody>
      </p:sp>
      <p:sp>
        <p:nvSpPr>
          <p:cNvPr id="260111" name="Freeform 15"/>
          <p:cNvSpPr>
            <a:spLocks noEditPoints="1"/>
          </p:cNvSpPr>
          <p:nvPr/>
        </p:nvSpPr>
        <p:spPr bwMode="auto">
          <a:xfrm>
            <a:off x="2101850" y="3226594"/>
            <a:ext cx="2144713" cy="68263"/>
          </a:xfrm>
          <a:custGeom>
            <a:avLst/>
            <a:gdLst/>
            <a:ahLst/>
            <a:cxnLst>
              <a:cxn ang="0">
                <a:pos x="4669" y="97"/>
              </a:cxn>
              <a:cxn ang="0">
                <a:pos x="132" y="94"/>
              </a:cxn>
              <a:cxn ang="0">
                <a:pos x="119" y="80"/>
              </a:cxn>
              <a:cxn ang="0">
                <a:pos x="132" y="67"/>
              </a:cxn>
              <a:cxn ang="0">
                <a:pos x="4669" y="70"/>
              </a:cxn>
              <a:cxn ang="0">
                <a:pos x="4682" y="84"/>
              </a:cxn>
              <a:cxn ang="0">
                <a:pos x="4669" y="97"/>
              </a:cxn>
              <a:cxn ang="0">
                <a:pos x="4643" y="4"/>
              </a:cxn>
              <a:cxn ang="0">
                <a:pos x="4800" y="84"/>
              </a:cxn>
              <a:cxn ang="0">
                <a:pos x="4643" y="164"/>
              </a:cxn>
              <a:cxn ang="0">
                <a:pos x="4643" y="4"/>
              </a:cxn>
              <a:cxn ang="0">
                <a:pos x="158" y="161"/>
              </a:cxn>
              <a:cxn ang="0">
                <a:pos x="0" y="80"/>
              </a:cxn>
              <a:cxn ang="0">
                <a:pos x="159" y="0"/>
              </a:cxn>
              <a:cxn ang="0">
                <a:pos x="158" y="161"/>
              </a:cxn>
            </a:cxnLst>
            <a:rect l="0" t="0" r="r" b="b"/>
            <a:pathLst>
              <a:path w="4800" h="164">
                <a:moveTo>
                  <a:pt x="4669" y="97"/>
                </a:moveTo>
                <a:lnTo>
                  <a:pt x="132" y="94"/>
                </a:lnTo>
                <a:cubicBezTo>
                  <a:pt x="125" y="94"/>
                  <a:pt x="119" y="88"/>
                  <a:pt x="119" y="80"/>
                </a:cubicBezTo>
                <a:cubicBezTo>
                  <a:pt x="119" y="73"/>
                  <a:pt x="125" y="67"/>
                  <a:pt x="132" y="67"/>
                </a:cubicBezTo>
                <a:lnTo>
                  <a:pt x="4669" y="70"/>
                </a:lnTo>
                <a:cubicBezTo>
                  <a:pt x="4676" y="70"/>
                  <a:pt x="4682" y="76"/>
                  <a:pt x="4682" y="84"/>
                </a:cubicBezTo>
                <a:cubicBezTo>
                  <a:pt x="4682" y="91"/>
                  <a:pt x="4676" y="97"/>
                  <a:pt x="4669" y="97"/>
                </a:cubicBezTo>
                <a:close/>
                <a:moveTo>
                  <a:pt x="4643" y="4"/>
                </a:moveTo>
                <a:lnTo>
                  <a:pt x="4800" y="84"/>
                </a:lnTo>
                <a:lnTo>
                  <a:pt x="4643" y="164"/>
                </a:lnTo>
                <a:lnTo>
                  <a:pt x="4643" y="4"/>
                </a:lnTo>
                <a:close/>
                <a:moveTo>
                  <a:pt x="158" y="161"/>
                </a:moveTo>
                <a:lnTo>
                  <a:pt x="0" y="80"/>
                </a:lnTo>
                <a:lnTo>
                  <a:pt x="159" y="0"/>
                </a:lnTo>
                <a:lnTo>
                  <a:pt x="158" y="161"/>
                </a:lnTo>
                <a:close/>
              </a:path>
            </a:pathLst>
          </a:custGeom>
          <a:solidFill>
            <a:srgbClr val="000000"/>
          </a:solidFill>
          <a:ln w="0">
            <a:solidFill>
              <a:srgbClr val="000000"/>
            </a:solidFill>
            <a:prstDash val="solid"/>
            <a:round/>
            <a:headEnd/>
            <a:tailEnd/>
          </a:ln>
        </p:spPr>
        <p:txBody>
          <a:bodyPr>
            <a:prstTxWarp prst="textNoShape">
              <a:avLst/>
            </a:prstTxWarp>
          </a:bodyPr>
          <a:lstStyle/>
          <a:p>
            <a:endParaRPr lang="es-ES_tradnl"/>
          </a:p>
        </p:txBody>
      </p:sp>
      <p:sp>
        <p:nvSpPr>
          <p:cNvPr id="260112" name="Freeform 16"/>
          <p:cNvSpPr>
            <a:spLocks noEditPoints="1"/>
          </p:cNvSpPr>
          <p:nvPr/>
        </p:nvSpPr>
        <p:spPr bwMode="auto">
          <a:xfrm>
            <a:off x="2101850" y="3226594"/>
            <a:ext cx="2144713" cy="68263"/>
          </a:xfrm>
          <a:custGeom>
            <a:avLst/>
            <a:gdLst/>
            <a:ahLst/>
            <a:cxnLst>
              <a:cxn ang="0">
                <a:pos x="4669" y="97"/>
              </a:cxn>
              <a:cxn ang="0">
                <a:pos x="132" y="94"/>
              </a:cxn>
              <a:cxn ang="0">
                <a:pos x="119" y="80"/>
              </a:cxn>
              <a:cxn ang="0">
                <a:pos x="132" y="67"/>
              </a:cxn>
              <a:cxn ang="0">
                <a:pos x="4669" y="70"/>
              </a:cxn>
              <a:cxn ang="0">
                <a:pos x="4682" y="84"/>
              </a:cxn>
              <a:cxn ang="0">
                <a:pos x="4669" y="97"/>
              </a:cxn>
              <a:cxn ang="0">
                <a:pos x="4643" y="4"/>
              </a:cxn>
              <a:cxn ang="0">
                <a:pos x="4800" y="84"/>
              </a:cxn>
              <a:cxn ang="0">
                <a:pos x="4643" y="164"/>
              </a:cxn>
              <a:cxn ang="0">
                <a:pos x="4643" y="4"/>
              </a:cxn>
              <a:cxn ang="0">
                <a:pos x="158" y="161"/>
              </a:cxn>
              <a:cxn ang="0">
                <a:pos x="0" y="80"/>
              </a:cxn>
              <a:cxn ang="0">
                <a:pos x="159" y="0"/>
              </a:cxn>
              <a:cxn ang="0">
                <a:pos x="158" y="161"/>
              </a:cxn>
            </a:cxnLst>
            <a:rect l="0" t="0" r="r" b="b"/>
            <a:pathLst>
              <a:path w="4800" h="164">
                <a:moveTo>
                  <a:pt x="4669" y="97"/>
                </a:moveTo>
                <a:lnTo>
                  <a:pt x="132" y="94"/>
                </a:lnTo>
                <a:cubicBezTo>
                  <a:pt x="125" y="94"/>
                  <a:pt x="119" y="88"/>
                  <a:pt x="119" y="80"/>
                </a:cubicBezTo>
                <a:cubicBezTo>
                  <a:pt x="119" y="73"/>
                  <a:pt x="125" y="67"/>
                  <a:pt x="132" y="67"/>
                </a:cubicBezTo>
                <a:lnTo>
                  <a:pt x="4669" y="70"/>
                </a:lnTo>
                <a:cubicBezTo>
                  <a:pt x="4676" y="70"/>
                  <a:pt x="4682" y="76"/>
                  <a:pt x="4682" y="84"/>
                </a:cubicBezTo>
                <a:cubicBezTo>
                  <a:pt x="4682" y="91"/>
                  <a:pt x="4676" y="97"/>
                  <a:pt x="4669" y="97"/>
                </a:cubicBezTo>
                <a:close/>
                <a:moveTo>
                  <a:pt x="4643" y="4"/>
                </a:moveTo>
                <a:lnTo>
                  <a:pt x="4800" y="84"/>
                </a:lnTo>
                <a:lnTo>
                  <a:pt x="4643" y="164"/>
                </a:lnTo>
                <a:lnTo>
                  <a:pt x="4643" y="4"/>
                </a:lnTo>
                <a:close/>
                <a:moveTo>
                  <a:pt x="158" y="161"/>
                </a:moveTo>
                <a:lnTo>
                  <a:pt x="0" y="80"/>
                </a:lnTo>
                <a:lnTo>
                  <a:pt x="159" y="0"/>
                </a:lnTo>
                <a:lnTo>
                  <a:pt x="158" y="161"/>
                </a:lnTo>
                <a:close/>
              </a:path>
            </a:pathLst>
          </a:custGeom>
          <a:noFill/>
          <a:ln w="1588" cap="rnd">
            <a:solidFill>
              <a:srgbClr val="000000"/>
            </a:solidFill>
            <a:prstDash val="solid"/>
            <a:round/>
            <a:headEnd/>
            <a:tailEnd/>
          </a:ln>
        </p:spPr>
        <p:txBody>
          <a:bodyPr>
            <a:prstTxWarp prst="textNoShape">
              <a:avLst/>
            </a:prstTxWarp>
          </a:bodyPr>
          <a:lstStyle/>
          <a:p>
            <a:endParaRPr lang="es-ES_tradnl"/>
          </a:p>
        </p:txBody>
      </p:sp>
      <p:sp>
        <p:nvSpPr>
          <p:cNvPr id="260113" name="Rectangle 17"/>
          <p:cNvSpPr>
            <a:spLocks noChangeArrowheads="1"/>
          </p:cNvSpPr>
          <p:nvPr/>
        </p:nvSpPr>
        <p:spPr bwMode="auto">
          <a:xfrm rot="16200000">
            <a:off x="6438107" y="2379663"/>
            <a:ext cx="101600" cy="122237"/>
          </a:xfrm>
          <a:prstGeom prst="rect">
            <a:avLst/>
          </a:prstGeom>
          <a:noFill/>
          <a:ln w="9525">
            <a:noFill/>
            <a:miter lim="800000"/>
            <a:headEnd/>
            <a:tailEnd/>
          </a:ln>
        </p:spPr>
        <p:txBody>
          <a:bodyPr wrap="none" lIns="0" tIns="0" rIns="0" bIns="0">
            <a:prstTxWarp prst="textNoShape">
              <a:avLst/>
            </a:prstTxWarp>
            <a:spAutoFit/>
          </a:bodyPr>
          <a:lstStyle/>
          <a:p>
            <a:r>
              <a:rPr lang="en-US" sz="800" b="1">
                <a:solidFill>
                  <a:srgbClr val="FFFFFF"/>
                </a:solidFill>
                <a:latin typeface="Times New Roman" pitchFamily="-111" charset="0"/>
              </a:rPr>
              <a:t>W</a:t>
            </a:r>
            <a:endParaRPr lang="en-US"/>
          </a:p>
        </p:txBody>
      </p:sp>
      <p:sp>
        <p:nvSpPr>
          <p:cNvPr id="260114" name="Rectangle 18"/>
          <p:cNvSpPr>
            <a:spLocks noChangeArrowheads="1"/>
          </p:cNvSpPr>
          <p:nvPr/>
        </p:nvSpPr>
        <p:spPr bwMode="auto">
          <a:xfrm rot="16200000">
            <a:off x="6469063" y="2313782"/>
            <a:ext cx="39687" cy="122237"/>
          </a:xfrm>
          <a:prstGeom prst="rect">
            <a:avLst/>
          </a:prstGeom>
          <a:noFill/>
          <a:ln w="9525">
            <a:noFill/>
            <a:miter lim="800000"/>
            <a:headEnd/>
            <a:tailEnd/>
          </a:ln>
        </p:spPr>
        <p:txBody>
          <a:bodyPr wrap="none" lIns="0" tIns="0" rIns="0" bIns="0">
            <a:prstTxWarp prst="textNoShape">
              <a:avLst/>
            </a:prstTxWarp>
            <a:spAutoFit/>
          </a:bodyPr>
          <a:lstStyle/>
          <a:p>
            <a:r>
              <a:rPr lang="en-US" sz="800" b="1">
                <a:solidFill>
                  <a:srgbClr val="FFFFFF"/>
                </a:solidFill>
                <a:latin typeface="Times New Roman" pitchFamily="-111" charset="0"/>
              </a:rPr>
              <a:t>I</a:t>
            </a:r>
            <a:endParaRPr lang="en-US"/>
          </a:p>
        </p:txBody>
      </p:sp>
      <p:sp>
        <p:nvSpPr>
          <p:cNvPr id="260115" name="Rectangle 19"/>
          <p:cNvSpPr>
            <a:spLocks noChangeArrowheads="1"/>
          </p:cNvSpPr>
          <p:nvPr/>
        </p:nvSpPr>
        <p:spPr bwMode="auto">
          <a:xfrm rot="16200000">
            <a:off x="6452394" y="2255838"/>
            <a:ext cx="73025" cy="122237"/>
          </a:xfrm>
          <a:prstGeom prst="rect">
            <a:avLst/>
          </a:prstGeom>
          <a:noFill/>
          <a:ln w="9525">
            <a:noFill/>
            <a:miter lim="800000"/>
            <a:headEnd/>
            <a:tailEnd/>
          </a:ln>
        </p:spPr>
        <p:txBody>
          <a:bodyPr wrap="none" lIns="0" tIns="0" rIns="0" bIns="0">
            <a:prstTxWarp prst="textNoShape">
              <a:avLst/>
            </a:prstTxWarp>
            <a:spAutoFit/>
          </a:bodyPr>
          <a:lstStyle/>
          <a:p>
            <a:r>
              <a:rPr lang="en-US" sz="800" b="1">
                <a:solidFill>
                  <a:srgbClr val="FFFFFF"/>
                </a:solidFill>
                <a:latin typeface="Times New Roman" pitchFamily="-111" charset="0"/>
              </a:rPr>
              <a:t>D</a:t>
            </a:r>
            <a:endParaRPr lang="en-US"/>
          </a:p>
        </p:txBody>
      </p:sp>
      <p:sp>
        <p:nvSpPr>
          <p:cNvPr id="260116" name="Rectangle 20"/>
          <p:cNvSpPr>
            <a:spLocks noChangeArrowheads="1"/>
          </p:cNvSpPr>
          <p:nvPr/>
        </p:nvSpPr>
        <p:spPr bwMode="auto">
          <a:xfrm rot="16200000">
            <a:off x="6454775" y="2186782"/>
            <a:ext cx="68263" cy="122237"/>
          </a:xfrm>
          <a:prstGeom prst="rect">
            <a:avLst/>
          </a:prstGeom>
          <a:noFill/>
          <a:ln w="9525">
            <a:noFill/>
            <a:miter lim="800000"/>
            <a:headEnd/>
            <a:tailEnd/>
          </a:ln>
        </p:spPr>
        <p:txBody>
          <a:bodyPr wrap="none" lIns="0" tIns="0" rIns="0" bIns="0">
            <a:prstTxWarp prst="textNoShape">
              <a:avLst/>
            </a:prstTxWarp>
            <a:spAutoFit/>
          </a:bodyPr>
          <a:lstStyle/>
          <a:p>
            <a:r>
              <a:rPr lang="en-US" sz="800" b="1">
                <a:solidFill>
                  <a:srgbClr val="FFFFFF"/>
                </a:solidFill>
                <a:latin typeface="Times New Roman" pitchFamily="-111" charset="0"/>
              </a:rPr>
              <a:t>T</a:t>
            </a:r>
            <a:endParaRPr lang="en-US"/>
          </a:p>
        </p:txBody>
      </p:sp>
      <p:sp>
        <p:nvSpPr>
          <p:cNvPr id="260117" name="Rectangle 21"/>
          <p:cNvSpPr>
            <a:spLocks noChangeArrowheads="1"/>
          </p:cNvSpPr>
          <p:nvPr/>
        </p:nvSpPr>
        <p:spPr bwMode="auto">
          <a:xfrm rot="16200000">
            <a:off x="6449219" y="2114551"/>
            <a:ext cx="79375" cy="122237"/>
          </a:xfrm>
          <a:prstGeom prst="rect">
            <a:avLst/>
          </a:prstGeom>
          <a:noFill/>
          <a:ln w="9525">
            <a:noFill/>
            <a:miter lim="800000"/>
            <a:headEnd/>
            <a:tailEnd/>
          </a:ln>
        </p:spPr>
        <p:txBody>
          <a:bodyPr wrap="none" lIns="0" tIns="0" rIns="0" bIns="0">
            <a:prstTxWarp prst="textNoShape">
              <a:avLst/>
            </a:prstTxWarp>
            <a:spAutoFit/>
          </a:bodyPr>
          <a:lstStyle/>
          <a:p>
            <a:r>
              <a:rPr lang="en-US" sz="800" b="1">
                <a:solidFill>
                  <a:srgbClr val="FFFFFF"/>
                </a:solidFill>
                <a:latin typeface="Times New Roman" pitchFamily="-111" charset="0"/>
              </a:rPr>
              <a:t>H</a:t>
            </a:r>
            <a:endParaRPr lang="en-US"/>
          </a:p>
        </p:txBody>
      </p:sp>
      <p:sp>
        <p:nvSpPr>
          <p:cNvPr id="260118" name="Rectangle 22"/>
          <p:cNvSpPr>
            <a:spLocks noChangeArrowheads="1"/>
          </p:cNvSpPr>
          <p:nvPr/>
        </p:nvSpPr>
        <p:spPr bwMode="auto">
          <a:xfrm>
            <a:off x="2981325" y="3107532"/>
            <a:ext cx="361950" cy="122237"/>
          </a:xfrm>
          <a:prstGeom prst="rect">
            <a:avLst/>
          </a:prstGeom>
          <a:noFill/>
          <a:ln w="9525">
            <a:noFill/>
            <a:miter lim="800000"/>
            <a:headEnd/>
            <a:tailEnd/>
          </a:ln>
        </p:spPr>
        <p:txBody>
          <a:bodyPr wrap="none" lIns="0" tIns="0" rIns="0" bIns="0">
            <a:prstTxWarp prst="textNoShape">
              <a:avLst/>
            </a:prstTxWarp>
            <a:spAutoFit/>
          </a:bodyPr>
          <a:lstStyle/>
          <a:p>
            <a:r>
              <a:rPr lang="en-US" sz="800" b="1">
                <a:solidFill>
                  <a:srgbClr val="FFFFFF"/>
                </a:solidFill>
                <a:latin typeface="Times New Roman" pitchFamily="-111" charset="0"/>
              </a:rPr>
              <a:t>WIDTH</a:t>
            </a:r>
            <a:endParaRPr lang="en-US"/>
          </a:p>
        </p:txBody>
      </p:sp>
      <p:sp>
        <p:nvSpPr>
          <p:cNvPr id="260119" name="Freeform 23"/>
          <p:cNvSpPr>
            <a:spLocks/>
          </p:cNvSpPr>
          <p:nvPr/>
        </p:nvSpPr>
        <p:spPr bwMode="auto">
          <a:xfrm>
            <a:off x="2103438" y="3899694"/>
            <a:ext cx="2143125" cy="1974850"/>
          </a:xfrm>
          <a:custGeom>
            <a:avLst/>
            <a:gdLst/>
            <a:ahLst/>
            <a:cxnLst>
              <a:cxn ang="0">
                <a:pos x="0" y="0"/>
              </a:cxn>
              <a:cxn ang="0">
                <a:pos x="0" y="1244"/>
              </a:cxn>
              <a:cxn ang="0">
                <a:pos x="1350" y="1244"/>
              </a:cxn>
              <a:cxn ang="0">
                <a:pos x="1350" y="0"/>
              </a:cxn>
              <a:cxn ang="0">
                <a:pos x="0" y="0"/>
              </a:cxn>
              <a:cxn ang="0">
                <a:pos x="0" y="0"/>
              </a:cxn>
            </a:cxnLst>
            <a:rect l="0" t="0" r="r" b="b"/>
            <a:pathLst>
              <a:path w="1350" h="1244">
                <a:moveTo>
                  <a:pt x="0" y="0"/>
                </a:moveTo>
                <a:lnTo>
                  <a:pt x="0" y="1244"/>
                </a:lnTo>
                <a:lnTo>
                  <a:pt x="1350" y="1244"/>
                </a:lnTo>
                <a:lnTo>
                  <a:pt x="1350" y="0"/>
                </a:lnTo>
                <a:lnTo>
                  <a:pt x="0" y="0"/>
                </a:lnTo>
                <a:lnTo>
                  <a:pt x="0" y="0"/>
                </a:lnTo>
                <a:close/>
              </a:path>
            </a:pathLst>
          </a:custGeom>
          <a:solidFill>
            <a:schemeClr val="accent2">
              <a:lumMod val="40000"/>
              <a:lumOff val="60000"/>
            </a:schemeClr>
          </a:solidFill>
          <a:ln w="9525">
            <a:noFill/>
            <a:round/>
            <a:headEnd/>
            <a:tailEnd/>
          </a:ln>
        </p:spPr>
        <p:txBody>
          <a:bodyPr>
            <a:prstTxWarp prst="textNoShape">
              <a:avLst/>
            </a:prstTxWarp>
          </a:bodyPr>
          <a:lstStyle/>
          <a:p>
            <a:endParaRPr lang="es-ES_tradnl"/>
          </a:p>
        </p:txBody>
      </p:sp>
      <p:sp>
        <p:nvSpPr>
          <p:cNvPr id="260120" name="Rectangle 24"/>
          <p:cNvSpPr>
            <a:spLocks noChangeArrowheads="1"/>
          </p:cNvSpPr>
          <p:nvPr/>
        </p:nvSpPr>
        <p:spPr bwMode="auto">
          <a:xfrm>
            <a:off x="2103438" y="3899694"/>
            <a:ext cx="2143125" cy="1974850"/>
          </a:xfrm>
          <a:prstGeom prst="rect">
            <a:avLst/>
          </a:prstGeom>
          <a:noFill/>
          <a:ln w="9525" cap="rnd">
            <a:solidFill>
              <a:srgbClr val="969696"/>
            </a:solidFill>
            <a:round/>
            <a:headEnd/>
            <a:tailEnd/>
          </a:ln>
        </p:spPr>
        <p:txBody>
          <a:bodyPr>
            <a:prstTxWarp prst="textNoShape">
              <a:avLst/>
            </a:prstTxWarp>
          </a:bodyPr>
          <a:lstStyle/>
          <a:p>
            <a:endParaRPr lang="es-ES_tradnl"/>
          </a:p>
        </p:txBody>
      </p:sp>
      <p:sp>
        <p:nvSpPr>
          <p:cNvPr id="260121" name="Rectangle 25"/>
          <p:cNvSpPr>
            <a:spLocks noChangeArrowheads="1"/>
          </p:cNvSpPr>
          <p:nvPr/>
        </p:nvSpPr>
        <p:spPr bwMode="auto">
          <a:xfrm>
            <a:off x="2230438" y="3955257"/>
            <a:ext cx="184150" cy="152400"/>
          </a:xfrm>
          <a:prstGeom prst="rect">
            <a:avLst/>
          </a:prstGeom>
          <a:noFill/>
          <a:ln w="9525">
            <a:noFill/>
            <a:miter lim="800000"/>
            <a:headEnd/>
            <a:tailEnd/>
          </a:ln>
        </p:spPr>
        <p:txBody>
          <a:bodyPr wrap="none" lIns="0" tIns="0" rIns="0" bIns="0">
            <a:prstTxWarp prst="textNoShape">
              <a:avLst/>
            </a:prstTxWarp>
            <a:spAutoFit/>
          </a:bodyPr>
          <a:lstStyle/>
          <a:p>
            <a:r>
              <a:rPr lang="en-US" sz="1000" b="1">
                <a:solidFill>
                  <a:srgbClr val="FFFFFF"/>
                </a:solidFill>
                <a:latin typeface="Arial" pitchFamily="-111" charset="0"/>
              </a:rPr>
              <a:t>Md</a:t>
            </a:r>
            <a:endParaRPr lang="en-US"/>
          </a:p>
        </p:txBody>
      </p:sp>
      <p:sp>
        <p:nvSpPr>
          <p:cNvPr id="260122" name="Freeform 26"/>
          <p:cNvSpPr>
            <a:spLocks/>
          </p:cNvSpPr>
          <p:nvPr/>
        </p:nvSpPr>
        <p:spPr bwMode="auto">
          <a:xfrm>
            <a:off x="4567238" y="3902869"/>
            <a:ext cx="2144712" cy="1971675"/>
          </a:xfrm>
          <a:custGeom>
            <a:avLst/>
            <a:gdLst/>
            <a:ahLst/>
            <a:cxnLst>
              <a:cxn ang="0">
                <a:pos x="0" y="0"/>
              </a:cxn>
              <a:cxn ang="0">
                <a:pos x="0" y="1242"/>
              </a:cxn>
              <a:cxn ang="0">
                <a:pos x="1351" y="1242"/>
              </a:cxn>
              <a:cxn ang="0">
                <a:pos x="1351" y="0"/>
              </a:cxn>
              <a:cxn ang="0">
                <a:pos x="0" y="0"/>
              </a:cxn>
              <a:cxn ang="0">
                <a:pos x="0" y="0"/>
              </a:cxn>
            </a:cxnLst>
            <a:rect l="0" t="0" r="r" b="b"/>
            <a:pathLst>
              <a:path w="1351" h="1242">
                <a:moveTo>
                  <a:pt x="0" y="0"/>
                </a:moveTo>
                <a:lnTo>
                  <a:pt x="0" y="1242"/>
                </a:lnTo>
                <a:lnTo>
                  <a:pt x="1351" y="1242"/>
                </a:lnTo>
                <a:lnTo>
                  <a:pt x="1351" y="0"/>
                </a:lnTo>
                <a:lnTo>
                  <a:pt x="0" y="0"/>
                </a:lnTo>
                <a:lnTo>
                  <a:pt x="0" y="0"/>
                </a:lnTo>
                <a:close/>
              </a:path>
            </a:pathLst>
          </a:custGeom>
          <a:solidFill>
            <a:schemeClr val="accent2">
              <a:lumMod val="40000"/>
              <a:lumOff val="60000"/>
            </a:schemeClr>
          </a:solidFill>
          <a:ln w="9525">
            <a:noFill/>
            <a:round/>
            <a:headEnd/>
            <a:tailEnd/>
          </a:ln>
        </p:spPr>
        <p:txBody>
          <a:bodyPr>
            <a:prstTxWarp prst="textNoShape">
              <a:avLst/>
            </a:prstTxWarp>
          </a:bodyPr>
          <a:lstStyle/>
          <a:p>
            <a:endParaRPr lang="es-ES_tradnl"/>
          </a:p>
        </p:txBody>
      </p:sp>
      <p:sp>
        <p:nvSpPr>
          <p:cNvPr id="260123" name="Rectangle 27"/>
          <p:cNvSpPr>
            <a:spLocks noChangeArrowheads="1"/>
          </p:cNvSpPr>
          <p:nvPr/>
        </p:nvSpPr>
        <p:spPr bwMode="auto">
          <a:xfrm>
            <a:off x="4567238" y="3902869"/>
            <a:ext cx="2144712" cy="1971675"/>
          </a:xfrm>
          <a:prstGeom prst="rect">
            <a:avLst/>
          </a:prstGeom>
          <a:noFill/>
          <a:ln w="9525" cap="rnd">
            <a:solidFill>
              <a:srgbClr val="969696"/>
            </a:solidFill>
            <a:round/>
            <a:headEnd/>
            <a:tailEnd/>
          </a:ln>
        </p:spPr>
        <p:txBody>
          <a:bodyPr>
            <a:prstTxWarp prst="textNoShape">
              <a:avLst/>
            </a:prstTxWarp>
          </a:bodyPr>
          <a:lstStyle/>
          <a:p>
            <a:endParaRPr lang="es-ES_tradnl"/>
          </a:p>
        </p:txBody>
      </p:sp>
      <p:sp>
        <p:nvSpPr>
          <p:cNvPr id="260124" name="Rectangle 28"/>
          <p:cNvSpPr>
            <a:spLocks noChangeArrowheads="1"/>
          </p:cNvSpPr>
          <p:nvPr/>
        </p:nvSpPr>
        <p:spPr bwMode="auto">
          <a:xfrm>
            <a:off x="4695825" y="3963194"/>
            <a:ext cx="169863" cy="152400"/>
          </a:xfrm>
          <a:prstGeom prst="rect">
            <a:avLst/>
          </a:prstGeom>
          <a:noFill/>
          <a:ln w="9525">
            <a:noFill/>
            <a:miter lim="800000"/>
            <a:headEnd/>
            <a:tailEnd/>
          </a:ln>
        </p:spPr>
        <p:txBody>
          <a:bodyPr wrap="none" lIns="0" tIns="0" rIns="0" bIns="0">
            <a:prstTxWarp prst="textNoShape">
              <a:avLst/>
            </a:prstTxWarp>
            <a:spAutoFit/>
          </a:bodyPr>
          <a:lstStyle/>
          <a:p>
            <a:r>
              <a:rPr lang="en-US" sz="1000" b="1">
                <a:solidFill>
                  <a:srgbClr val="FFFFFF"/>
                </a:solidFill>
                <a:latin typeface="Arial" pitchFamily="-111" charset="0"/>
              </a:rPr>
              <a:t>Nd</a:t>
            </a:r>
            <a:endParaRPr lang="en-US"/>
          </a:p>
        </p:txBody>
      </p:sp>
      <p:sp>
        <p:nvSpPr>
          <p:cNvPr id="260127" name="Freeform 31"/>
          <p:cNvSpPr>
            <a:spLocks/>
          </p:cNvSpPr>
          <p:nvPr/>
        </p:nvSpPr>
        <p:spPr bwMode="auto">
          <a:xfrm>
            <a:off x="7356475" y="4194969"/>
            <a:ext cx="427038" cy="396875"/>
          </a:xfrm>
          <a:custGeom>
            <a:avLst/>
            <a:gdLst/>
            <a:ahLst/>
            <a:cxnLst>
              <a:cxn ang="0">
                <a:pos x="0" y="0"/>
              </a:cxn>
              <a:cxn ang="0">
                <a:pos x="0" y="250"/>
              </a:cxn>
              <a:cxn ang="0">
                <a:pos x="269" y="250"/>
              </a:cxn>
              <a:cxn ang="0">
                <a:pos x="269" y="0"/>
              </a:cxn>
              <a:cxn ang="0">
                <a:pos x="0" y="0"/>
              </a:cxn>
              <a:cxn ang="0">
                <a:pos x="0" y="0"/>
              </a:cxn>
            </a:cxnLst>
            <a:rect l="0" t="0" r="r" b="b"/>
            <a:pathLst>
              <a:path w="269" h="250">
                <a:moveTo>
                  <a:pt x="0" y="0"/>
                </a:moveTo>
                <a:lnTo>
                  <a:pt x="0" y="250"/>
                </a:lnTo>
                <a:lnTo>
                  <a:pt x="269" y="250"/>
                </a:lnTo>
                <a:lnTo>
                  <a:pt x="269" y="0"/>
                </a:lnTo>
                <a:lnTo>
                  <a:pt x="0" y="0"/>
                </a:lnTo>
                <a:lnTo>
                  <a:pt x="0" y="0"/>
                </a:lnTo>
                <a:close/>
              </a:path>
            </a:pathLst>
          </a:custGeom>
          <a:solidFill>
            <a:srgbClr val="00B0F0"/>
          </a:solidFill>
          <a:ln w="9525">
            <a:solidFill>
              <a:srgbClr val="0000FF"/>
            </a:solidFill>
            <a:round/>
            <a:headEnd/>
            <a:tailEnd/>
          </a:ln>
        </p:spPr>
        <p:txBody>
          <a:bodyPr>
            <a:prstTxWarp prst="textNoShape">
              <a:avLst/>
            </a:prstTxWarp>
          </a:bodyPr>
          <a:lstStyle/>
          <a:p>
            <a:endParaRPr lang="es-ES_tradnl"/>
          </a:p>
        </p:txBody>
      </p:sp>
      <p:sp>
        <p:nvSpPr>
          <p:cNvPr id="260128" name="Freeform 32"/>
          <p:cNvSpPr>
            <a:spLocks/>
          </p:cNvSpPr>
          <p:nvPr/>
        </p:nvSpPr>
        <p:spPr bwMode="auto">
          <a:xfrm>
            <a:off x="7999413" y="4194969"/>
            <a:ext cx="427037" cy="396875"/>
          </a:xfrm>
          <a:custGeom>
            <a:avLst/>
            <a:gdLst/>
            <a:ahLst/>
            <a:cxnLst>
              <a:cxn ang="0">
                <a:pos x="0" y="0"/>
              </a:cxn>
              <a:cxn ang="0">
                <a:pos x="0" y="250"/>
              </a:cxn>
              <a:cxn ang="0">
                <a:pos x="269" y="250"/>
              </a:cxn>
              <a:cxn ang="0">
                <a:pos x="269" y="0"/>
              </a:cxn>
              <a:cxn ang="0">
                <a:pos x="0" y="0"/>
              </a:cxn>
              <a:cxn ang="0">
                <a:pos x="0" y="0"/>
              </a:cxn>
            </a:cxnLst>
            <a:rect l="0" t="0" r="r" b="b"/>
            <a:pathLst>
              <a:path w="269" h="250">
                <a:moveTo>
                  <a:pt x="0" y="0"/>
                </a:moveTo>
                <a:lnTo>
                  <a:pt x="0" y="250"/>
                </a:lnTo>
                <a:lnTo>
                  <a:pt x="269" y="250"/>
                </a:lnTo>
                <a:lnTo>
                  <a:pt x="269" y="0"/>
                </a:lnTo>
                <a:lnTo>
                  <a:pt x="0" y="0"/>
                </a:lnTo>
                <a:lnTo>
                  <a:pt x="0" y="0"/>
                </a:lnTo>
                <a:close/>
              </a:path>
            </a:pathLst>
          </a:custGeom>
          <a:solidFill>
            <a:srgbClr val="00B0F0"/>
          </a:solidFill>
          <a:ln w="9525">
            <a:solidFill>
              <a:srgbClr val="0000FF"/>
            </a:solidFill>
            <a:round/>
            <a:headEnd/>
            <a:tailEnd/>
          </a:ln>
        </p:spPr>
        <p:txBody>
          <a:bodyPr>
            <a:prstTxWarp prst="textNoShape">
              <a:avLst/>
            </a:prstTxWarp>
          </a:bodyPr>
          <a:lstStyle/>
          <a:p>
            <a:endParaRPr lang="es-ES_tradnl"/>
          </a:p>
        </p:txBody>
      </p:sp>
      <p:sp>
        <p:nvSpPr>
          <p:cNvPr id="260129" name="Freeform 33"/>
          <p:cNvSpPr>
            <a:spLocks/>
          </p:cNvSpPr>
          <p:nvPr/>
        </p:nvSpPr>
        <p:spPr bwMode="auto">
          <a:xfrm>
            <a:off x="7354888" y="4393407"/>
            <a:ext cx="428625" cy="49212"/>
          </a:xfrm>
          <a:custGeom>
            <a:avLst/>
            <a:gdLst/>
            <a:ahLst/>
            <a:cxnLst>
              <a:cxn ang="0">
                <a:pos x="0" y="0"/>
              </a:cxn>
              <a:cxn ang="0">
                <a:pos x="0" y="31"/>
              </a:cxn>
              <a:cxn ang="0">
                <a:pos x="270" y="31"/>
              </a:cxn>
              <a:cxn ang="0">
                <a:pos x="270" y="0"/>
              </a:cxn>
              <a:cxn ang="0">
                <a:pos x="0" y="0"/>
              </a:cxn>
              <a:cxn ang="0">
                <a:pos x="0" y="0"/>
              </a:cxn>
            </a:cxnLst>
            <a:rect l="0" t="0" r="r" b="b"/>
            <a:pathLst>
              <a:path w="270" h="31">
                <a:moveTo>
                  <a:pt x="0" y="0"/>
                </a:moveTo>
                <a:lnTo>
                  <a:pt x="0" y="31"/>
                </a:lnTo>
                <a:lnTo>
                  <a:pt x="270" y="31"/>
                </a:lnTo>
                <a:lnTo>
                  <a:pt x="270" y="0"/>
                </a:lnTo>
                <a:lnTo>
                  <a:pt x="0" y="0"/>
                </a:lnTo>
                <a:lnTo>
                  <a:pt x="0" y="0"/>
                </a:lnTo>
                <a:close/>
              </a:path>
            </a:pathLst>
          </a:custGeom>
          <a:solidFill>
            <a:srgbClr val="FF6600"/>
          </a:solidFill>
          <a:ln w="9525">
            <a:noFill/>
            <a:round/>
            <a:headEnd/>
            <a:tailEnd/>
          </a:ln>
        </p:spPr>
        <p:txBody>
          <a:bodyPr>
            <a:prstTxWarp prst="textNoShape">
              <a:avLst/>
            </a:prstTxWarp>
          </a:bodyPr>
          <a:lstStyle/>
          <a:p>
            <a:endParaRPr lang="es-ES_tradnl"/>
          </a:p>
        </p:txBody>
      </p:sp>
      <p:sp>
        <p:nvSpPr>
          <p:cNvPr id="260130" name="Freeform 34"/>
          <p:cNvSpPr>
            <a:spLocks/>
          </p:cNvSpPr>
          <p:nvPr/>
        </p:nvSpPr>
        <p:spPr bwMode="auto">
          <a:xfrm>
            <a:off x="8158163" y="4196557"/>
            <a:ext cx="53975" cy="395287"/>
          </a:xfrm>
          <a:custGeom>
            <a:avLst/>
            <a:gdLst/>
            <a:ahLst/>
            <a:cxnLst>
              <a:cxn ang="0">
                <a:pos x="0" y="0"/>
              </a:cxn>
              <a:cxn ang="0">
                <a:pos x="0" y="249"/>
              </a:cxn>
              <a:cxn ang="0">
                <a:pos x="34" y="249"/>
              </a:cxn>
              <a:cxn ang="0">
                <a:pos x="34" y="0"/>
              </a:cxn>
              <a:cxn ang="0">
                <a:pos x="0" y="0"/>
              </a:cxn>
              <a:cxn ang="0">
                <a:pos x="0" y="0"/>
              </a:cxn>
            </a:cxnLst>
            <a:rect l="0" t="0" r="r" b="b"/>
            <a:pathLst>
              <a:path w="34" h="249">
                <a:moveTo>
                  <a:pt x="0" y="0"/>
                </a:moveTo>
                <a:lnTo>
                  <a:pt x="0" y="249"/>
                </a:lnTo>
                <a:lnTo>
                  <a:pt x="34" y="249"/>
                </a:lnTo>
                <a:lnTo>
                  <a:pt x="34" y="0"/>
                </a:lnTo>
                <a:lnTo>
                  <a:pt x="0" y="0"/>
                </a:lnTo>
                <a:lnTo>
                  <a:pt x="0" y="0"/>
                </a:lnTo>
                <a:close/>
              </a:path>
            </a:pathLst>
          </a:custGeom>
          <a:solidFill>
            <a:srgbClr val="FF6600"/>
          </a:solidFill>
          <a:ln w="9525">
            <a:noFill/>
            <a:round/>
            <a:headEnd/>
            <a:tailEnd/>
          </a:ln>
        </p:spPr>
        <p:txBody>
          <a:bodyPr>
            <a:prstTxWarp prst="textNoShape">
              <a:avLst/>
            </a:prstTxWarp>
          </a:bodyPr>
          <a:lstStyle/>
          <a:p>
            <a:endParaRPr lang="es-ES_tradnl"/>
          </a:p>
        </p:txBody>
      </p:sp>
      <p:sp>
        <p:nvSpPr>
          <p:cNvPr id="260163" name="Rectangle 67"/>
          <p:cNvSpPr>
            <a:spLocks noChangeArrowheads="1"/>
          </p:cNvSpPr>
          <p:nvPr/>
        </p:nvSpPr>
        <p:spPr bwMode="auto">
          <a:xfrm>
            <a:off x="1036638" y="1962944"/>
            <a:ext cx="835165" cy="246221"/>
          </a:xfrm>
          <a:prstGeom prst="rect">
            <a:avLst/>
          </a:prstGeom>
          <a:noFill/>
          <a:ln w="9525">
            <a:noFill/>
            <a:miter lim="800000"/>
            <a:headEnd/>
            <a:tailEnd/>
          </a:ln>
        </p:spPr>
        <p:txBody>
          <a:bodyPr wrap="none" lIns="0" tIns="0" rIns="0" bIns="0">
            <a:prstTxWarp prst="textNoShape">
              <a:avLst/>
            </a:prstTxWarp>
            <a:spAutoFit/>
          </a:bodyPr>
          <a:lstStyle/>
          <a:p>
            <a:r>
              <a:rPr lang="en-US" sz="1600" b="1">
                <a:solidFill>
                  <a:srgbClr val="000000"/>
                </a:solidFill>
                <a:latin typeface="Arial" pitchFamily="-111" charset="0"/>
              </a:rPr>
              <a:t>Original </a:t>
            </a:r>
            <a:endParaRPr lang="en-US" b="1"/>
          </a:p>
        </p:txBody>
      </p:sp>
      <p:sp>
        <p:nvSpPr>
          <p:cNvPr id="260164" name="Rectangle 68"/>
          <p:cNvSpPr>
            <a:spLocks noChangeArrowheads="1"/>
          </p:cNvSpPr>
          <p:nvPr/>
        </p:nvSpPr>
        <p:spPr bwMode="auto">
          <a:xfrm>
            <a:off x="1058863" y="2199482"/>
            <a:ext cx="716543" cy="246221"/>
          </a:xfrm>
          <a:prstGeom prst="rect">
            <a:avLst/>
          </a:prstGeom>
          <a:noFill/>
          <a:ln w="9525">
            <a:noFill/>
            <a:miter lim="800000"/>
            <a:headEnd/>
            <a:tailEnd/>
          </a:ln>
        </p:spPr>
        <p:txBody>
          <a:bodyPr wrap="none" lIns="0" tIns="0" rIns="0" bIns="0">
            <a:prstTxWarp prst="textNoShape">
              <a:avLst/>
            </a:prstTxWarp>
            <a:spAutoFit/>
          </a:bodyPr>
          <a:lstStyle/>
          <a:p>
            <a:r>
              <a:rPr lang="en-US" sz="1600" b="1">
                <a:solidFill>
                  <a:srgbClr val="000000"/>
                </a:solidFill>
                <a:latin typeface="Arial" pitchFamily="-111" charset="0"/>
              </a:rPr>
              <a:t>Access</a:t>
            </a:r>
            <a:endParaRPr lang="en-US" b="1"/>
          </a:p>
        </p:txBody>
      </p:sp>
      <p:sp>
        <p:nvSpPr>
          <p:cNvPr id="260165" name="Rectangle 69"/>
          <p:cNvSpPr>
            <a:spLocks noChangeArrowheads="1"/>
          </p:cNvSpPr>
          <p:nvPr/>
        </p:nvSpPr>
        <p:spPr bwMode="auto">
          <a:xfrm>
            <a:off x="1058863" y="2436019"/>
            <a:ext cx="706925" cy="246221"/>
          </a:xfrm>
          <a:prstGeom prst="rect">
            <a:avLst/>
          </a:prstGeom>
          <a:noFill/>
          <a:ln w="9525">
            <a:noFill/>
            <a:miter lim="800000"/>
            <a:headEnd/>
            <a:tailEnd/>
          </a:ln>
        </p:spPr>
        <p:txBody>
          <a:bodyPr wrap="none" lIns="0" tIns="0" rIns="0" bIns="0">
            <a:prstTxWarp prst="textNoShape">
              <a:avLst/>
            </a:prstTxWarp>
            <a:spAutoFit/>
          </a:bodyPr>
          <a:lstStyle/>
          <a:p>
            <a:r>
              <a:rPr lang="en-US" sz="1600" b="1">
                <a:solidFill>
                  <a:srgbClr val="000000"/>
                </a:solidFill>
                <a:latin typeface="Arial" pitchFamily="-111" charset="0"/>
              </a:rPr>
              <a:t>Pattern</a:t>
            </a:r>
            <a:endParaRPr lang="en-US" b="1"/>
          </a:p>
        </p:txBody>
      </p:sp>
      <p:sp>
        <p:nvSpPr>
          <p:cNvPr id="260166" name="Rectangle 70"/>
          <p:cNvSpPr>
            <a:spLocks noChangeArrowheads="1"/>
          </p:cNvSpPr>
          <p:nvPr/>
        </p:nvSpPr>
        <p:spPr bwMode="auto">
          <a:xfrm>
            <a:off x="1173163" y="4534694"/>
            <a:ext cx="533288" cy="246221"/>
          </a:xfrm>
          <a:prstGeom prst="rect">
            <a:avLst/>
          </a:prstGeom>
          <a:noFill/>
          <a:ln w="9525">
            <a:noFill/>
            <a:miter lim="800000"/>
            <a:headEnd/>
            <a:tailEnd/>
          </a:ln>
        </p:spPr>
        <p:txBody>
          <a:bodyPr wrap="none" lIns="0" tIns="0" rIns="0" bIns="0">
            <a:prstTxWarp prst="textNoShape">
              <a:avLst/>
            </a:prstTxWarp>
            <a:spAutoFit/>
          </a:bodyPr>
          <a:lstStyle/>
          <a:p>
            <a:r>
              <a:rPr lang="en-US" sz="1600" b="1">
                <a:solidFill>
                  <a:srgbClr val="000000"/>
                </a:solidFill>
                <a:latin typeface="Arial" pitchFamily="-111" charset="0"/>
              </a:rPr>
              <a:t>Tiled </a:t>
            </a:r>
            <a:endParaRPr lang="en-US" b="1"/>
          </a:p>
        </p:txBody>
      </p:sp>
      <p:sp>
        <p:nvSpPr>
          <p:cNvPr id="260167" name="Rectangle 71"/>
          <p:cNvSpPr>
            <a:spLocks noChangeArrowheads="1"/>
          </p:cNvSpPr>
          <p:nvPr/>
        </p:nvSpPr>
        <p:spPr bwMode="auto">
          <a:xfrm>
            <a:off x="1058863" y="4764882"/>
            <a:ext cx="716543" cy="246221"/>
          </a:xfrm>
          <a:prstGeom prst="rect">
            <a:avLst/>
          </a:prstGeom>
          <a:noFill/>
          <a:ln w="9525">
            <a:noFill/>
            <a:miter lim="800000"/>
            <a:headEnd/>
            <a:tailEnd/>
          </a:ln>
        </p:spPr>
        <p:txBody>
          <a:bodyPr wrap="none" lIns="0" tIns="0" rIns="0" bIns="0">
            <a:prstTxWarp prst="textNoShape">
              <a:avLst/>
            </a:prstTxWarp>
            <a:spAutoFit/>
          </a:bodyPr>
          <a:lstStyle/>
          <a:p>
            <a:r>
              <a:rPr lang="en-US" sz="1600" b="1">
                <a:solidFill>
                  <a:srgbClr val="000000"/>
                </a:solidFill>
                <a:latin typeface="Arial" pitchFamily="-111" charset="0"/>
              </a:rPr>
              <a:t>Access</a:t>
            </a:r>
            <a:endParaRPr lang="en-US" b="1"/>
          </a:p>
        </p:txBody>
      </p:sp>
      <p:sp>
        <p:nvSpPr>
          <p:cNvPr id="260168" name="Rectangle 72"/>
          <p:cNvSpPr>
            <a:spLocks noChangeArrowheads="1"/>
          </p:cNvSpPr>
          <p:nvPr/>
        </p:nvSpPr>
        <p:spPr bwMode="auto">
          <a:xfrm>
            <a:off x="1058863" y="5001419"/>
            <a:ext cx="706925" cy="246221"/>
          </a:xfrm>
          <a:prstGeom prst="rect">
            <a:avLst/>
          </a:prstGeom>
          <a:noFill/>
          <a:ln w="9525">
            <a:noFill/>
            <a:miter lim="800000"/>
            <a:headEnd/>
            <a:tailEnd/>
          </a:ln>
        </p:spPr>
        <p:txBody>
          <a:bodyPr wrap="none" lIns="0" tIns="0" rIns="0" bIns="0">
            <a:prstTxWarp prst="textNoShape">
              <a:avLst/>
            </a:prstTxWarp>
            <a:spAutoFit/>
          </a:bodyPr>
          <a:lstStyle/>
          <a:p>
            <a:r>
              <a:rPr lang="en-US" sz="1600" b="1">
                <a:solidFill>
                  <a:srgbClr val="000000"/>
                </a:solidFill>
                <a:latin typeface="Arial" pitchFamily="-111" charset="0"/>
              </a:rPr>
              <a:t>Pattern</a:t>
            </a:r>
            <a:endParaRPr lang="en-US" b="1"/>
          </a:p>
        </p:txBody>
      </p:sp>
      <p:sp>
        <p:nvSpPr>
          <p:cNvPr id="260169" name="Freeform 73"/>
          <p:cNvSpPr>
            <a:spLocks/>
          </p:cNvSpPr>
          <p:nvPr/>
        </p:nvSpPr>
        <p:spPr bwMode="auto">
          <a:xfrm>
            <a:off x="5854700" y="3879057"/>
            <a:ext cx="2220913" cy="234950"/>
          </a:xfrm>
          <a:custGeom>
            <a:avLst/>
            <a:gdLst/>
            <a:ahLst/>
            <a:cxnLst>
              <a:cxn ang="0">
                <a:pos x="0" y="102"/>
              </a:cxn>
              <a:cxn ang="0">
                <a:pos x="1399" y="148"/>
              </a:cxn>
            </a:cxnLst>
            <a:rect l="0" t="0" r="r" b="b"/>
            <a:pathLst>
              <a:path w="1399" h="148">
                <a:moveTo>
                  <a:pt x="0" y="102"/>
                </a:moveTo>
                <a:cubicBezTo>
                  <a:pt x="615" y="0"/>
                  <a:pt x="1204" y="19"/>
                  <a:pt x="1399" y="148"/>
                </a:cubicBezTo>
              </a:path>
            </a:pathLst>
          </a:custGeom>
          <a:noFill/>
          <a:ln w="14288" cap="rnd">
            <a:solidFill>
              <a:srgbClr val="000000"/>
            </a:solidFill>
            <a:prstDash val="solid"/>
            <a:round/>
            <a:headEnd/>
            <a:tailEnd/>
          </a:ln>
        </p:spPr>
        <p:txBody>
          <a:bodyPr>
            <a:prstTxWarp prst="textNoShape">
              <a:avLst/>
            </a:prstTxWarp>
          </a:bodyPr>
          <a:lstStyle/>
          <a:p>
            <a:endParaRPr lang="es-ES_tradnl"/>
          </a:p>
        </p:txBody>
      </p:sp>
      <p:sp>
        <p:nvSpPr>
          <p:cNvPr id="260170" name="Freeform 74"/>
          <p:cNvSpPr>
            <a:spLocks/>
          </p:cNvSpPr>
          <p:nvPr/>
        </p:nvSpPr>
        <p:spPr bwMode="auto">
          <a:xfrm>
            <a:off x="8035925" y="4079082"/>
            <a:ext cx="122238" cy="117475"/>
          </a:xfrm>
          <a:custGeom>
            <a:avLst/>
            <a:gdLst/>
            <a:ahLst/>
            <a:cxnLst>
              <a:cxn ang="0">
                <a:pos x="41" y="0"/>
              </a:cxn>
              <a:cxn ang="0">
                <a:pos x="77" y="74"/>
              </a:cxn>
              <a:cxn ang="0">
                <a:pos x="0" y="35"/>
              </a:cxn>
              <a:cxn ang="0">
                <a:pos x="41" y="0"/>
              </a:cxn>
            </a:cxnLst>
            <a:rect l="0" t="0" r="r" b="b"/>
            <a:pathLst>
              <a:path w="77" h="74">
                <a:moveTo>
                  <a:pt x="41" y="0"/>
                </a:moveTo>
                <a:lnTo>
                  <a:pt x="77" y="74"/>
                </a:lnTo>
                <a:lnTo>
                  <a:pt x="0" y="35"/>
                </a:lnTo>
                <a:lnTo>
                  <a:pt x="41" y="0"/>
                </a:lnTo>
                <a:close/>
              </a:path>
            </a:pathLst>
          </a:custGeom>
          <a:solidFill>
            <a:srgbClr val="000000"/>
          </a:solidFill>
          <a:ln w="9525">
            <a:noFill/>
            <a:round/>
            <a:headEnd/>
            <a:tailEnd/>
          </a:ln>
        </p:spPr>
        <p:txBody>
          <a:bodyPr>
            <a:prstTxWarp prst="textNoShape">
              <a:avLst/>
            </a:prstTxWarp>
          </a:bodyPr>
          <a:lstStyle/>
          <a:p>
            <a:endParaRPr lang="es-ES_tradnl"/>
          </a:p>
        </p:txBody>
      </p:sp>
      <p:sp>
        <p:nvSpPr>
          <p:cNvPr id="260172" name="Freeform 76"/>
          <p:cNvSpPr>
            <a:spLocks/>
          </p:cNvSpPr>
          <p:nvPr/>
        </p:nvSpPr>
        <p:spPr bwMode="auto">
          <a:xfrm>
            <a:off x="7439025" y="4591844"/>
            <a:ext cx="130175" cy="109538"/>
          </a:xfrm>
          <a:custGeom>
            <a:avLst/>
            <a:gdLst/>
            <a:ahLst/>
            <a:cxnLst>
              <a:cxn ang="0">
                <a:pos x="0" y="30"/>
              </a:cxn>
              <a:cxn ang="0">
                <a:pos x="82" y="0"/>
              </a:cxn>
              <a:cxn ang="0">
                <a:pos x="36" y="69"/>
              </a:cxn>
              <a:cxn ang="0">
                <a:pos x="0" y="30"/>
              </a:cxn>
            </a:cxnLst>
            <a:rect l="0" t="0" r="r" b="b"/>
            <a:pathLst>
              <a:path w="82" h="69">
                <a:moveTo>
                  <a:pt x="0" y="30"/>
                </a:moveTo>
                <a:lnTo>
                  <a:pt x="82" y="0"/>
                </a:lnTo>
                <a:lnTo>
                  <a:pt x="36" y="69"/>
                </a:lnTo>
                <a:lnTo>
                  <a:pt x="0" y="30"/>
                </a:lnTo>
                <a:close/>
              </a:path>
            </a:pathLst>
          </a:custGeom>
          <a:solidFill>
            <a:srgbClr val="000000"/>
          </a:solidFill>
          <a:ln w="9525">
            <a:noFill/>
            <a:round/>
            <a:headEnd/>
            <a:tailEnd/>
          </a:ln>
        </p:spPr>
        <p:txBody>
          <a:bodyPr>
            <a:prstTxWarp prst="textNoShape">
              <a:avLst/>
            </a:prstTxWarp>
          </a:bodyPr>
          <a:lstStyle/>
          <a:p>
            <a:endParaRPr lang="es-ES_tradnl"/>
          </a:p>
        </p:txBody>
      </p:sp>
      <p:sp>
        <p:nvSpPr>
          <p:cNvPr id="260173" name="Rectangle 77"/>
          <p:cNvSpPr>
            <a:spLocks noChangeArrowheads="1"/>
          </p:cNvSpPr>
          <p:nvPr/>
        </p:nvSpPr>
        <p:spPr bwMode="auto">
          <a:xfrm>
            <a:off x="7332663" y="3199607"/>
            <a:ext cx="914400" cy="244475"/>
          </a:xfrm>
          <a:prstGeom prst="rect">
            <a:avLst/>
          </a:prstGeom>
          <a:noFill/>
          <a:ln w="9525">
            <a:noFill/>
            <a:miter lim="800000"/>
            <a:headEnd/>
            <a:tailEnd/>
          </a:ln>
        </p:spPr>
        <p:txBody>
          <a:bodyPr wrap="none" lIns="0" tIns="0" rIns="0" bIns="0">
            <a:prstTxWarp prst="textNoShape">
              <a:avLst/>
            </a:prstTxWarp>
            <a:spAutoFit/>
          </a:bodyPr>
          <a:lstStyle/>
          <a:p>
            <a:r>
              <a:rPr lang="en-US" sz="1600">
                <a:solidFill>
                  <a:srgbClr val="000000"/>
                </a:solidFill>
                <a:latin typeface="Arial" pitchFamily="-111" charset="0"/>
              </a:rPr>
              <a:t>Copy into </a:t>
            </a:r>
            <a:endParaRPr lang="en-US"/>
          </a:p>
        </p:txBody>
      </p:sp>
      <p:sp>
        <p:nvSpPr>
          <p:cNvPr id="260174" name="Rectangle 78"/>
          <p:cNvSpPr>
            <a:spLocks noChangeArrowheads="1"/>
          </p:cNvSpPr>
          <p:nvPr/>
        </p:nvSpPr>
        <p:spPr bwMode="auto">
          <a:xfrm>
            <a:off x="7261225" y="3436144"/>
            <a:ext cx="1050925" cy="244475"/>
          </a:xfrm>
          <a:prstGeom prst="rect">
            <a:avLst/>
          </a:prstGeom>
          <a:noFill/>
          <a:ln w="9525">
            <a:noFill/>
            <a:miter lim="800000"/>
            <a:headEnd/>
            <a:tailEnd/>
          </a:ln>
        </p:spPr>
        <p:txBody>
          <a:bodyPr wrap="none" lIns="0" tIns="0" rIns="0" bIns="0">
            <a:prstTxWarp prst="textNoShape">
              <a:avLst/>
            </a:prstTxWarp>
            <a:spAutoFit/>
          </a:bodyPr>
          <a:lstStyle/>
          <a:p>
            <a:r>
              <a:rPr lang="en-US" sz="1600" dirty="0">
                <a:solidFill>
                  <a:srgbClr val="000000"/>
                </a:solidFill>
                <a:latin typeface="Arial" pitchFamily="-111" charset="0"/>
              </a:rPr>
              <a:t>scratchpad </a:t>
            </a:r>
            <a:endParaRPr lang="en-US" dirty="0"/>
          </a:p>
        </p:txBody>
      </p:sp>
      <p:sp>
        <p:nvSpPr>
          <p:cNvPr id="260175" name="Rectangle 79"/>
          <p:cNvSpPr>
            <a:spLocks noChangeArrowheads="1"/>
          </p:cNvSpPr>
          <p:nvPr/>
        </p:nvSpPr>
        <p:spPr bwMode="auto">
          <a:xfrm>
            <a:off x="7397750" y="3672682"/>
            <a:ext cx="735013" cy="244475"/>
          </a:xfrm>
          <a:prstGeom prst="rect">
            <a:avLst/>
          </a:prstGeom>
          <a:noFill/>
          <a:ln w="9525">
            <a:noFill/>
            <a:miter lim="800000"/>
            <a:headEnd/>
            <a:tailEnd/>
          </a:ln>
        </p:spPr>
        <p:txBody>
          <a:bodyPr wrap="none" lIns="0" tIns="0" rIns="0" bIns="0">
            <a:prstTxWarp prst="textNoShape">
              <a:avLst/>
            </a:prstTxWarp>
            <a:spAutoFit/>
          </a:bodyPr>
          <a:lstStyle/>
          <a:p>
            <a:r>
              <a:rPr lang="en-US" sz="1600">
                <a:solidFill>
                  <a:srgbClr val="000000"/>
                </a:solidFill>
                <a:latin typeface="Arial" pitchFamily="-111" charset="0"/>
              </a:rPr>
              <a:t>memory</a:t>
            </a:r>
            <a:endParaRPr lang="en-US"/>
          </a:p>
        </p:txBody>
      </p:sp>
      <p:sp>
        <p:nvSpPr>
          <p:cNvPr id="260176" name="Rectangle 80"/>
          <p:cNvSpPr>
            <a:spLocks noChangeArrowheads="1"/>
          </p:cNvSpPr>
          <p:nvPr/>
        </p:nvSpPr>
        <p:spPr bwMode="auto">
          <a:xfrm>
            <a:off x="7454900" y="4902994"/>
            <a:ext cx="781050" cy="244475"/>
          </a:xfrm>
          <a:prstGeom prst="rect">
            <a:avLst/>
          </a:prstGeom>
          <a:noFill/>
          <a:ln w="9525">
            <a:noFill/>
            <a:miter lim="800000"/>
            <a:headEnd/>
            <a:tailEnd/>
          </a:ln>
        </p:spPr>
        <p:txBody>
          <a:bodyPr wrap="none" lIns="0" tIns="0" rIns="0" bIns="0">
            <a:prstTxWarp prst="textNoShape">
              <a:avLst/>
            </a:prstTxWarp>
            <a:spAutoFit/>
          </a:bodyPr>
          <a:lstStyle/>
          <a:p>
            <a:r>
              <a:rPr lang="en-US" sz="1600">
                <a:solidFill>
                  <a:srgbClr val="000000"/>
                </a:solidFill>
                <a:latin typeface="Arial" pitchFamily="-111" charset="0"/>
              </a:rPr>
              <a:t>Perform </a:t>
            </a:r>
            <a:endParaRPr lang="en-US"/>
          </a:p>
        </p:txBody>
      </p:sp>
      <p:sp>
        <p:nvSpPr>
          <p:cNvPr id="260177" name="Rectangle 81"/>
          <p:cNvSpPr>
            <a:spLocks noChangeArrowheads="1"/>
          </p:cNvSpPr>
          <p:nvPr/>
        </p:nvSpPr>
        <p:spPr bwMode="auto">
          <a:xfrm>
            <a:off x="7218363" y="5139532"/>
            <a:ext cx="1228725" cy="244475"/>
          </a:xfrm>
          <a:prstGeom prst="rect">
            <a:avLst/>
          </a:prstGeom>
          <a:noFill/>
          <a:ln w="9525">
            <a:noFill/>
            <a:miter lim="800000"/>
            <a:headEnd/>
            <a:tailEnd/>
          </a:ln>
        </p:spPr>
        <p:txBody>
          <a:bodyPr wrap="none" lIns="0" tIns="0" rIns="0" bIns="0">
            <a:prstTxWarp prst="textNoShape">
              <a:avLst/>
            </a:prstTxWarp>
            <a:spAutoFit/>
          </a:bodyPr>
          <a:lstStyle/>
          <a:p>
            <a:r>
              <a:rPr lang="en-US" sz="1600" dirty="0">
                <a:solidFill>
                  <a:srgbClr val="000000"/>
                </a:solidFill>
                <a:latin typeface="Arial" pitchFamily="-111" charset="0"/>
              </a:rPr>
              <a:t>multiplication </a:t>
            </a:r>
            <a:endParaRPr lang="en-US" dirty="0"/>
          </a:p>
        </p:txBody>
      </p:sp>
      <p:sp>
        <p:nvSpPr>
          <p:cNvPr id="260178" name="Rectangle 82"/>
          <p:cNvSpPr>
            <a:spLocks noChangeArrowheads="1"/>
          </p:cNvSpPr>
          <p:nvPr/>
        </p:nvSpPr>
        <p:spPr bwMode="auto">
          <a:xfrm>
            <a:off x="7089775" y="5377657"/>
            <a:ext cx="1468438" cy="244475"/>
          </a:xfrm>
          <a:prstGeom prst="rect">
            <a:avLst/>
          </a:prstGeom>
          <a:noFill/>
          <a:ln w="9525">
            <a:noFill/>
            <a:miter lim="800000"/>
            <a:headEnd/>
            <a:tailEnd/>
          </a:ln>
        </p:spPr>
        <p:txBody>
          <a:bodyPr wrap="none" lIns="0" tIns="0" rIns="0" bIns="0">
            <a:prstTxWarp prst="textNoShape">
              <a:avLst/>
            </a:prstTxWarp>
            <a:spAutoFit/>
          </a:bodyPr>
          <a:lstStyle/>
          <a:p>
            <a:r>
              <a:rPr lang="en-US" sz="1600">
                <a:solidFill>
                  <a:srgbClr val="000000"/>
                </a:solidFill>
                <a:latin typeface="Arial" pitchFamily="-111" charset="0"/>
              </a:rPr>
              <a:t>with scratchpad </a:t>
            </a:r>
            <a:endParaRPr lang="en-US"/>
          </a:p>
        </p:txBody>
      </p:sp>
      <p:sp>
        <p:nvSpPr>
          <p:cNvPr id="260179" name="Rectangle 83"/>
          <p:cNvSpPr>
            <a:spLocks noChangeArrowheads="1"/>
          </p:cNvSpPr>
          <p:nvPr/>
        </p:nvSpPr>
        <p:spPr bwMode="auto">
          <a:xfrm>
            <a:off x="7526338" y="5614194"/>
            <a:ext cx="585787" cy="244475"/>
          </a:xfrm>
          <a:prstGeom prst="rect">
            <a:avLst/>
          </a:prstGeom>
          <a:noFill/>
          <a:ln w="9525">
            <a:noFill/>
            <a:miter lim="800000"/>
            <a:headEnd/>
            <a:tailEnd/>
          </a:ln>
        </p:spPr>
        <p:txBody>
          <a:bodyPr wrap="none" lIns="0" tIns="0" rIns="0" bIns="0">
            <a:prstTxWarp prst="textNoShape">
              <a:avLst/>
            </a:prstTxWarp>
            <a:spAutoFit/>
          </a:bodyPr>
          <a:lstStyle/>
          <a:p>
            <a:r>
              <a:rPr lang="en-US" sz="1600">
                <a:solidFill>
                  <a:srgbClr val="000000"/>
                </a:solidFill>
                <a:latin typeface="Arial" pitchFamily="-111" charset="0"/>
              </a:rPr>
              <a:t>values</a:t>
            </a:r>
            <a:endParaRPr lang="en-US"/>
          </a:p>
        </p:txBody>
      </p:sp>
      <p:sp>
        <p:nvSpPr>
          <p:cNvPr id="85" name="CuadroTexto 26">
            <a:extLst>
              <a:ext uri="{FF2B5EF4-FFF2-40B4-BE49-F238E27FC236}">
                <a16:creationId xmlns:a16="http://schemas.microsoft.com/office/drawing/2014/main" id="{F3830453-7646-1447-A90D-74711FCAA180}"/>
              </a:ext>
            </a:extLst>
          </p:cNvPr>
          <p:cNvSpPr txBox="1"/>
          <p:nvPr/>
        </p:nvSpPr>
        <p:spPr>
          <a:xfrm>
            <a:off x="228600" y="6495225"/>
            <a:ext cx="1274708" cy="215444"/>
          </a:xfrm>
          <a:prstGeom prst="rect">
            <a:avLst/>
          </a:prstGeom>
          <a:noFill/>
        </p:spPr>
        <p:txBody>
          <a:bodyPr wrap="none" rtlCol="0">
            <a:spAutoFit/>
          </a:bodyPr>
          <a:lstStyle/>
          <a:p>
            <a:r>
              <a:rPr lang="en-US" sz="800" dirty="0"/>
              <a:t>Slide credit: </a:t>
            </a:r>
            <a:r>
              <a:rPr lang="en-US" sz="800" dirty="0" err="1"/>
              <a:t>Hwu</a:t>
            </a:r>
            <a:r>
              <a:rPr lang="en-US" sz="800" dirty="0"/>
              <a:t> &amp; Kirk</a:t>
            </a:r>
          </a:p>
        </p:txBody>
      </p:sp>
      <p:sp>
        <p:nvSpPr>
          <p:cNvPr id="88" name="Marcador de número de diapositiva 3">
            <a:extLst>
              <a:ext uri="{FF2B5EF4-FFF2-40B4-BE49-F238E27FC236}">
                <a16:creationId xmlns:a16="http://schemas.microsoft.com/office/drawing/2014/main" id="{DC8F983B-5E20-E646-B7B6-4D287960B297}"/>
              </a:ext>
            </a:extLst>
          </p:cNvPr>
          <p:cNvSpPr>
            <a:spLocks noGrp="1"/>
          </p:cNvSpPr>
          <p:nvPr>
            <p:ph type="sldNum" sz="quarter" idx="11"/>
          </p:nvPr>
        </p:nvSpPr>
        <p:spPr>
          <a:xfrm>
            <a:off x="6553200" y="6243638"/>
            <a:ext cx="2133600" cy="457200"/>
          </a:xfrm>
        </p:spPr>
        <p:txBody>
          <a:bodyPr/>
          <a:lstStyle/>
          <a:p>
            <a:fld id="{323594FA-E141-4234-AE05-360401972BE7}" type="slidenum">
              <a:rPr lang="en-US" altLang="en-US" smtClean="0"/>
              <a:pPr/>
              <a:t>44</a:t>
            </a:fld>
            <a:endParaRPr lang="en-US" altLang="en-US" dirty="0"/>
          </a:p>
        </p:txBody>
      </p:sp>
      <p:sp>
        <p:nvSpPr>
          <p:cNvPr id="89" name="Freeform 30">
            <a:extLst>
              <a:ext uri="{FF2B5EF4-FFF2-40B4-BE49-F238E27FC236}">
                <a16:creationId xmlns:a16="http://schemas.microsoft.com/office/drawing/2014/main" id="{6665BF40-7586-0646-A4E8-12CB669837D9}"/>
              </a:ext>
            </a:extLst>
          </p:cNvPr>
          <p:cNvSpPr>
            <a:spLocks/>
          </p:cNvSpPr>
          <p:nvPr/>
        </p:nvSpPr>
        <p:spPr bwMode="auto">
          <a:xfrm>
            <a:off x="5581650" y="3910806"/>
            <a:ext cx="436562" cy="384176"/>
          </a:xfrm>
          <a:custGeom>
            <a:avLst/>
            <a:gdLst/>
            <a:ahLst/>
            <a:cxnLst>
              <a:cxn ang="0">
                <a:pos x="0" y="0"/>
              </a:cxn>
              <a:cxn ang="0">
                <a:pos x="0" y="249"/>
              </a:cxn>
              <a:cxn ang="0">
                <a:pos x="269" y="249"/>
              </a:cxn>
              <a:cxn ang="0">
                <a:pos x="269" y="0"/>
              </a:cxn>
              <a:cxn ang="0">
                <a:pos x="0" y="0"/>
              </a:cxn>
              <a:cxn ang="0">
                <a:pos x="0" y="0"/>
              </a:cxn>
            </a:cxnLst>
            <a:rect l="0" t="0" r="r" b="b"/>
            <a:pathLst>
              <a:path w="269" h="249">
                <a:moveTo>
                  <a:pt x="0" y="0"/>
                </a:moveTo>
                <a:lnTo>
                  <a:pt x="0" y="249"/>
                </a:lnTo>
                <a:lnTo>
                  <a:pt x="269" y="249"/>
                </a:lnTo>
                <a:lnTo>
                  <a:pt x="269" y="0"/>
                </a:lnTo>
                <a:lnTo>
                  <a:pt x="0" y="0"/>
                </a:lnTo>
                <a:lnTo>
                  <a:pt x="0" y="0"/>
                </a:lnTo>
                <a:close/>
              </a:path>
            </a:pathLst>
          </a:custGeom>
          <a:solidFill>
            <a:srgbClr val="00B0F0"/>
          </a:solidFill>
          <a:ln w="9525">
            <a:solidFill>
              <a:srgbClr val="0000FF"/>
            </a:solidFill>
            <a:round/>
            <a:headEnd/>
            <a:tailEnd/>
          </a:ln>
        </p:spPr>
        <p:txBody>
          <a:bodyPr>
            <a:prstTxWarp prst="textNoShape">
              <a:avLst/>
            </a:prstTxWarp>
          </a:bodyPr>
          <a:lstStyle/>
          <a:p>
            <a:endParaRPr lang="es-ES_tradnl"/>
          </a:p>
        </p:txBody>
      </p:sp>
      <p:sp>
        <p:nvSpPr>
          <p:cNvPr id="90" name="Rectangle 53">
            <a:extLst>
              <a:ext uri="{FF2B5EF4-FFF2-40B4-BE49-F238E27FC236}">
                <a16:creationId xmlns:a16="http://schemas.microsoft.com/office/drawing/2014/main" id="{93798ACB-8CFA-3D47-8F50-148E09118C23}"/>
              </a:ext>
            </a:extLst>
          </p:cNvPr>
          <p:cNvSpPr>
            <a:spLocks noChangeArrowheads="1"/>
          </p:cNvSpPr>
          <p:nvPr/>
        </p:nvSpPr>
        <p:spPr bwMode="auto">
          <a:xfrm>
            <a:off x="5581650" y="4291807"/>
            <a:ext cx="436563" cy="407987"/>
          </a:xfrm>
          <a:prstGeom prst="rect">
            <a:avLst/>
          </a:prstGeom>
          <a:solidFill>
            <a:srgbClr val="00B0F0"/>
          </a:solidFill>
          <a:ln w="9525">
            <a:solidFill>
              <a:srgbClr val="0000FF"/>
            </a:solidFill>
            <a:miter lim="800000"/>
            <a:headEnd/>
            <a:tailEnd/>
          </a:ln>
        </p:spPr>
        <p:txBody>
          <a:bodyPr>
            <a:prstTxWarp prst="textNoShape">
              <a:avLst/>
            </a:prstTxWarp>
          </a:bodyPr>
          <a:lstStyle/>
          <a:p>
            <a:endParaRPr lang="es-ES_tradnl"/>
          </a:p>
        </p:txBody>
      </p:sp>
      <p:sp>
        <p:nvSpPr>
          <p:cNvPr id="91" name="Rectangle 57">
            <a:extLst>
              <a:ext uri="{FF2B5EF4-FFF2-40B4-BE49-F238E27FC236}">
                <a16:creationId xmlns:a16="http://schemas.microsoft.com/office/drawing/2014/main" id="{B4D27480-8FFC-6848-9080-62EABFF56332}"/>
              </a:ext>
            </a:extLst>
          </p:cNvPr>
          <p:cNvSpPr>
            <a:spLocks noChangeArrowheads="1"/>
          </p:cNvSpPr>
          <p:nvPr/>
        </p:nvSpPr>
        <p:spPr bwMode="auto">
          <a:xfrm>
            <a:off x="5581650" y="4687094"/>
            <a:ext cx="436563" cy="407988"/>
          </a:xfrm>
          <a:prstGeom prst="rect">
            <a:avLst/>
          </a:prstGeom>
          <a:solidFill>
            <a:srgbClr val="00B0F0"/>
          </a:solidFill>
          <a:ln w="9525">
            <a:solidFill>
              <a:srgbClr val="0000FF"/>
            </a:solidFill>
            <a:miter lim="800000"/>
            <a:headEnd/>
            <a:tailEnd/>
          </a:ln>
        </p:spPr>
        <p:txBody>
          <a:bodyPr>
            <a:prstTxWarp prst="textNoShape">
              <a:avLst/>
            </a:prstTxWarp>
          </a:bodyPr>
          <a:lstStyle/>
          <a:p>
            <a:endParaRPr lang="es-ES_tradnl"/>
          </a:p>
        </p:txBody>
      </p:sp>
      <p:sp>
        <p:nvSpPr>
          <p:cNvPr id="92" name="Rectangle 61">
            <a:extLst>
              <a:ext uri="{FF2B5EF4-FFF2-40B4-BE49-F238E27FC236}">
                <a16:creationId xmlns:a16="http://schemas.microsoft.com/office/drawing/2014/main" id="{3E2CD2E7-C4CB-9145-B67C-C1004CDF5BE0}"/>
              </a:ext>
            </a:extLst>
          </p:cNvPr>
          <p:cNvSpPr>
            <a:spLocks noChangeArrowheads="1"/>
          </p:cNvSpPr>
          <p:nvPr/>
        </p:nvSpPr>
        <p:spPr bwMode="auto">
          <a:xfrm>
            <a:off x="5581650" y="5080794"/>
            <a:ext cx="436563" cy="407988"/>
          </a:xfrm>
          <a:prstGeom prst="rect">
            <a:avLst/>
          </a:prstGeom>
          <a:solidFill>
            <a:srgbClr val="00B0F0"/>
          </a:solidFill>
          <a:ln w="9525">
            <a:solidFill>
              <a:srgbClr val="0000FF"/>
            </a:solidFill>
            <a:miter lim="800000"/>
            <a:headEnd/>
            <a:tailEnd/>
          </a:ln>
        </p:spPr>
        <p:txBody>
          <a:bodyPr>
            <a:prstTxWarp prst="textNoShape">
              <a:avLst/>
            </a:prstTxWarp>
          </a:bodyPr>
          <a:lstStyle/>
          <a:p>
            <a:endParaRPr lang="es-ES_tradnl"/>
          </a:p>
        </p:txBody>
      </p:sp>
      <p:sp>
        <p:nvSpPr>
          <p:cNvPr id="93" name="Rectangle 65">
            <a:extLst>
              <a:ext uri="{FF2B5EF4-FFF2-40B4-BE49-F238E27FC236}">
                <a16:creationId xmlns:a16="http://schemas.microsoft.com/office/drawing/2014/main" id="{96EABECD-2278-1243-8FB5-F39CB1E0B717}"/>
              </a:ext>
            </a:extLst>
          </p:cNvPr>
          <p:cNvSpPr>
            <a:spLocks noChangeArrowheads="1"/>
          </p:cNvSpPr>
          <p:nvPr/>
        </p:nvSpPr>
        <p:spPr bwMode="auto">
          <a:xfrm>
            <a:off x="5581650" y="5476083"/>
            <a:ext cx="436563" cy="393700"/>
          </a:xfrm>
          <a:prstGeom prst="rect">
            <a:avLst/>
          </a:prstGeom>
          <a:solidFill>
            <a:srgbClr val="00B0F0"/>
          </a:solidFill>
          <a:ln w="9525">
            <a:solidFill>
              <a:srgbClr val="0000FF"/>
            </a:solidFill>
            <a:miter lim="800000"/>
            <a:headEnd/>
            <a:tailEnd/>
          </a:ln>
        </p:spPr>
        <p:txBody>
          <a:bodyPr>
            <a:prstTxWarp prst="textNoShape">
              <a:avLst/>
            </a:prstTxWarp>
          </a:bodyPr>
          <a:lstStyle/>
          <a:p>
            <a:endParaRPr lang="es-ES_tradnl"/>
          </a:p>
        </p:txBody>
      </p:sp>
      <p:sp>
        <p:nvSpPr>
          <p:cNvPr id="101" name="Rectangle 41">
            <a:extLst>
              <a:ext uri="{FF2B5EF4-FFF2-40B4-BE49-F238E27FC236}">
                <a16:creationId xmlns:a16="http://schemas.microsoft.com/office/drawing/2014/main" id="{A3C33D2A-A593-1345-A0C3-424561A625AE}"/>
              </a:ext>
            </a:extLst>
          </p:cNvPr>
          <p:cNvSpPr>
            <a:spLocks noChangeArrowheads="1"/>
          </p:cNvSpPr>
          <p:nvPr/>
        </p:nvSpPr>
        <p:spPr bwMode="auto">
          <a:xfrm>
            <a:off x="2959100" y="4883944"/>
            <a:ext cx="436563" cy="407988"/>
          </a:xfrm>
          <a:prstGeom prst="rect">
            <a:avLst/>
          </a:prstGeom>
          <a:solidFill>
            <a:srgbClr val="00B0F0"/>
          </a:solidFill>
          <a:ln w="9525">
            <a:solidFill>
              <a:srgbClr val="0000FF"/>
            </a:solidFill>
            <a:miter lim="800000"/>
            <a:headEnd/>
            <a:tailEnd/>
          </a:ln>
        </p:spPr>
        <p:txBody>
          <a:bodyPr>
            <a:prstTxWarp prst="textNoShape">
              <a:avLst/>
            </a:prstTxWarp>
          </a:bodyPr>
          <a:lstStyle/>
          <a:p>
            <a:endParaRPr lang="es-ES_tradnl"/>
          </a:p>
        </p:txBody>
      </p:sp>
      <p:sp>
        <p:nvSpPr>
          <p:cNvPr id="102" name="Rectangle 45">
            <a:extLst>
              <a:ext uri="{FF2B5EF4-FFF2-40B4-BE49-F238E27FC236}">
                <a16:creationId xmlns:a16="http://schemas.microsoft.com/office/drawing/2014/main" id="{8EA6A65D-68AE-8144-BC48-7BDE2954A2AF}"/>
              </a:ext>
            </a:extLst>
          </p:cNvPr>
          <p:cNvSpPr>
            <a:spLocks noChangeArrowheads="1"/>
          </p:cNvSpPr>
          <p:nvPr/>
        </p:nvSpPr>
        <p:spPr bwMode="auto">
          <a:xfrm>
            <a:off x="3387725" y="4883944"/>
            <a:ext cx="436563" cy="407988"/>
          </a:xfrm>
          <a:prstGeom prst="rect">
            <a:avLst/>
          </a:prstGeom>
          <a:solidFill>
            <a:srgbClr val="00B0F0"/>
          </a:solidFill>
          <a:ln w="9525">
            <a:solidFill>
              <a:srgbClr val="0000FF"/>
            </a:solidFill>
            <a:miter lim="800000"/>
            <a:headEnd/>
            <a:tailEnd/>
          </a:ln>
        </p:spPr>
        <p:txBody>
          <a:bodyPr>
            <a:prstTxWarp prst="textNoShape">
              <a:avLst/>
            </a:prstTxWarp>
          </a:bodyPr>
          <a:lstStyle/>
          <a:p>
            <a:endParaRPr lang="es-ES_tradnl"/>
          </a:p>
        </p:txBody>
      </p:sp>
      <p:sp>
        <p:nvSpPr>
          <p:cNvPr id="103" name="Rectangle 49">
            <a:extLst>
              <a:ext uri="{FF2B5EF4-FFF2-40B4-BE49-F238E27FC236}">
                <a16:creationId xmlns:a16="http://schemas.microsoft.com/office/drawing/2014/main" id="{11DFAF88-2689-C147-9AC4-5A2DA56D055D}"/>
              </a:ext>
            </a:extLst>
          </p:cNvPr>
          <p:cNvSpPr>
            <a:spLocks noChangeArrowheads="1"/>
          </p:cNvSpPr>
          <p:nvPr/>
        </p:nvSpPr>
        <p:spPr bwMode="auto">
          <a:xfrm>
            <a:off x="3816350" y="4883944"/>
            <a:ext cx="428625" cy="407988"/>
          </a:xfrm>
          <a:prstGeom prst="rect">
            <a:avLst/>
          </a:prstGeom>
          <a:solidFill>
            <a:srgbClr val="00B0F0"/>
          </a:solidFill>
          <a:ln w="9525">
            <a:solidFill>
              <a:srgbClr val="0000FF"/>
            </a:solidFill>
            <a:miter lim="800000"/>
            <a:headEnd/>
            <a:tailEnd/>
          </a:ln>
        </p:spPr>
        <p:txBody>
          <a:bodyPr>
            <a:prstTxWarp prst="textNoShape">
              <a:avLst/>
            </a:prstTxWarp>
          </a:bodyPr>
          <a:lstStyle/>
          <a:p>
            <a:endParaRPr lang="es-ES_tradnl"/>
          </a:p>
        </p:txBody>
      </p:sp>
      <p:sp>
        <p:nvSpPr>
          <p:cNvPr id="260171" name="Freeform 75"/>
          <p:cNvSpPr>
            <a:spLocks/>
          </p:cNvSpPr>
          <p:nvPr/>
        </p:nvSpPr>
        <p:spPr bwMode="auto">
          <a:xfrm>
            <a:off x="2652713" y="4663282"/>
            <a:ext cx="4822825" cy="1262062"/>
          </a:xfrm>
          <a:custGeom>
            <a:avLst/>
            <a:gdLst/>
            <a:ahLst/>
            <a:cxnLst>
              <a:cxn ang="0">
                <a:pos x="0" y="327"/>
              </a:cxn>
              <a:cxn ang="0">
                <a:pos x="3250" y="0"/>
              </a:cxn>
            </a:cxnLst>
            <a:rect l="0" t="0" r="r" b="b"/>
            <a:pathLst>
              <a:path w="3250" h="795">
                <a:moveTo>
                  <a:pt x="0" y="327"/>
                </a:moveTo>
                <a:cubicBezTo>
                  <a:pt x="1000" y="795"/>
                  <a:pt x="2374" y="657"/>
                  <a:pt x="3250" y="0"/>
                </a:cubicBezTo>
              </a:path>
            </a:pathLst>
          </a:custGeom>
          <a:noFill/>
          <a:ln w="14288" cap="rnd">
            <a:solidFill>
              <a:srgbClr val="000000"/>
            </a:solidFill>
            <a:prstDash val="solid"/>
            <a:round/>
            <a:headEnd/>
            <a:tailEnd/>
          </a:ln>
        </p:spPr>
        <p:txBody>
          <a:bodyPr>
            <a:prstTxWarp prst="textNoShape">
              <a:avLst/>
            </a:prstTxWarp>
          </a:bodyPr>
          <a:lstStyle/>
          <a:p>
            <a:endParaRPr lang="es-ES_tradnl"/>
          </a:p>
        </p:txBody>
      </p:sp>
      <p:sp>
        <p:nvSpPr>
          <p:cNvPr id="99" name="Freeform 29">
            <a:extLst>
              <a:ext uri="{FF2B5EF4-FFF2-40B4-BE49-F238E27FC236}">
                <a16:creationId xmlns:a16="http://schemas.microsoft.com/office/drawing/2014/main" id="{098BB07C-FD8A-1446-9F1D-D15B3802BB84}"/>
              </a:ext>
            </a:extLst>
          </p:cNvPr>
          <p:cNvSpPr>
            <a:spLocks/>
          </p:cNvSpPr>
          <p:nvPr/>
        </p:nvSpPr>
        <p:spPr bwMode="auto">
          <a:xfrm>
            <a:off x="2101850" y="4885532"/>
            <a:ext cx="422275" cy="406400"/>
          </a:xfrm>
          <a:custGeom>
            <a:avLst/>
            <a:gdLst/>
            <a:ahLst/>
            <a:cxnLst>
              <a:cxn ang="0">
                <a:pos x="0" y="0"/>
              </a:cxn>
              <a:cxn ang="0">
                <a:pos x="0" y="250"/>
              </a:cxn>
              <a:cxn ang="0">
                <a:pos x="269" y="250"/>
              </a:cxn>
              <a:cxn ang="0">
                <a:pos x="269" y="0"/>
              </a:cxn>
              <a:cxn ang="0">
                <a:pos x="0" y="0"/>
              </a:cxn>
              <a:cxn ang="0">
                <a:pos x="0" y="0"/>
              </a:cxn>
            </a:cxnLst>
            <a:rect l="0" t="0" r="r" b="b"/>
            <a:pathLst>
              <a:path w="269" h="250">
                <a:moveTo>
                  <a:pt x="0" y="0"/>
                </a:moveTo>
                <a:lnTo>
                  <a:pt x="0" y="250"/>
                </a:lnTo>
                <a:lnTo>
                  <a:pt x="269" y="250"/>
                </a:lnTo>
                <a:lnTo>
                  <a:pt x="269" y="0"/>
                </a:lnTo>
                <a:lnTo>
                  <a:pt x="0" y="0"/>
                </a:lnTo>
                <a:lnTo>
                  <a:pt x="0" y="0"/>
                </a:lnTo>
                <a:close/>
              </a:path>
            </a:pathLst>
          </a:custGeom>
          <a:solidFill>
            <a:srgbClr val="00B0F0"/>
          </a:solidFill>
          <a:ln w="9525">
            <a:solidFill>
              <a:srgbClr val="0000FF"/>
            </a:solidFill>
            <a:round/>
            <a:headEnd/>
            <a:tailEnd/>
          </a:ln>
        </p:spPr>
        <p:txBody>
          <a:bodyPr>
            <a:prstTxWarp prst="textNoShape">
              <a:avLst/>
            </a:prstTxWarp>
          </a:bodyPr>
          <a:lstStyle/>
          <a:p>
            <a:endParaRPr lang="es-ES_tradnl"/>
          </a:p>
        </p:txBody>
      </p:sp>
      <p:sp>
        <p:nvSpPr>
          <p:cNvPr id="100" name="Rectangle 37">
            <a:extLst>
              <a:ext uri="{FF2B5EF4-FFF2-40B4-BE49-F238E27FC236}">
                <a16:creationId xmlns:a16="http://schemas.microsoft.com/office/drawing/2014/main" id="{C40D97B1-19C2-1B41-B815-162AD18BD406}"/>
              </a:ext>
            </a:extLst>
          </p:cNvPr>
          <p:cNvSpPr>
            <a:spLocks noChangeArrowheads="1"/>
          </p:cNvSpPr>
          <p:nvPr/>
        </p:nvSpPr>
        <p:spPr bwMode="auto">
          <a:xfrm>
            <a:off x="2524125" y="4883944"/>
            <a:ext cx="442913" cy="407988"/>
          </a:xfrm>
          <a:prstGeom prst="rect">
            <a:avLst/>
          </a:prstGeom>
          <a:solidFill>
            <a:srgbClr val="00B0F0"/>
          </a:solidFill>
          <a:ln w="9525">
            <a:solidFill>
              <a:srgbClr val="0000FF"/>
            </a:solidFill>
            <a:miter lim="800000"/>
            <a:headEnd/>
            <a:tailEnd/>
          </a:ln>
        </p:spPr>
        <p:txBody>
          <a:bodyPr>
            <a:prstTxWarp prst="textNoShape">
              <a:avLst/>
            </a:prstTxWarp>
          </a:bodyPr>
          <a:lstStyle/>
          <a:p>
            <a:endParaRPr lang="es-ES_tradnl"/>
          </a:p>
        </p:txBody>
      </p:sp>
    </p:spTree>
    <p:extLst>
      <p:ext uri="{BB962C8B-B14F-4D97-AF65-F5344CB8AC3E}">
        <p14:creationId xmlns:p14="http://schemas.microsoft.com/office/powerpoint/2010/main" val="1246024071"/>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Reducing Shared Memory Bank Conflicts</a:t>
            </a:r>
          </a:p>
        </p:txBody>
      </p:sp>
      <p:sp>
        <p:nvSpPr>
          <p:cNvPr id="3" name="Marcador de contenido 2"/>
          <p:cNvSpPr>
            <a:spLocks noGrp="1"/>
          </p:cNvSpPr>
          <p:nvPr>
            <p:ph idx="1"/>
          </p:nvPr>
        </p:nvSpPr>
        <p:spPr>
          <a:xfrm>
            <a:off x="251521" y="908720"/>
            <a:ext cx="8640960" cy="4577680"/>
          </a:xfrm>
        </p:spPr>
        <p:txBody>
          <a:bodyPr>
            <a:normAutofit/>
          </a:bodyPr>
          <a:lstStyle/>
          <a:p>
            <a:r>
              <a:rPr lang="en-US" dirty="0"/>
              <a:t>Bank conflicts are only possible within a warp</a:t>
            </a:r>
          </a:p>
          <a:p>
            <a:pPr lvl="1"/>
            <a:r>
              <a:rPr lang="en-US" dirty="0"/>
              <a:t>No bank conflicts between different warps</a:t>
            </a:r>
          </a:p>
          <a:p>
            <a:endParaRPr lang="en-US" dirty="0"/>
          </a:p>
          <a:p>
            <a:r>
              <a:rPr lang="en-US" dirty="0"/>
              <a:t>If </a:t>
            </a:r>
            <a:r>
              <a:rPr lang="en-US" dirty="0" err="1"/>
              <a:t>strided</a:t>
            </a:r>
            <a:r>
              <a:rPr lang="en-US" dirty="0"/>
              <a:t> accesses are needed, some </a:t>
            </a:r>
            <a:r>
              <a:rPr lang="en-US" dirty="0">
                <a:solidFill>
                  <a:srgbClr val="0000FF"/>
                </a:solidFill>
              </a:rPr>
              <a:t>optimization techniques</a:t>
            </a:r>
            <a:r>
              <a:rPr lang="en-US" dirty="0"/>
              <a:t> can help</a:t>
            </a:r>
          </a:p>
          <a:p>
            <a:pPr lvl="1"/>
            <a:r>
              <a:rPr lang="en-US" dirty="0">
                <a:solidFill>
                  <a:srgbClr val="00B050"/>
                </a:solidFill>
              </a:rPr>
              <a:t>Padding</a:t>
            </a:r>
          </a:p>
          <a:p>
            <a:pPr lvl="1"/>
            <a:r>
              <a:rPr lang="en-US" dirty="0">
                <a:solidFill>
                  <a:srgbClr val="00B050"/>
                </a:solidFill>
              </a:rPr>
              <a:t>Randomized mapping</a:t>
            </a:r>
          </a:p>
          <a:p>
            <a:pPr lvl="2"/>
            <a:r>
              <a:rPr lang="en-US" altLang="en-US" dirty="0">
                <a:ea typeface="ＭＳ Ｐゴシック" panose="020B0600070205080204" pitchFamily="34" charset="-128"/>
              </a:rPr>
              <a:t>Rau, “</a:t>
            </a:r>
            <a:r>
              <a:rPr lang="en-US" altLang="ja-JP" dirty="0">
                <a:solidFill>
                  <a:srgbClr val="0000FF"/>
                </a:solidFill>
                <a:ea typeface="ＭＳ Ｐゴシック" panose="020B0600070205080204" pitchFamily="34" charset="-128"/>
              </a:rPr>
              <a:t>Pseudo-randomly interleaved memory</a:t>
            </a:r>
            <a:r>
              <a:rPr lang="en-US" altLang="ja-JP" dirty="0">
                <a:ea typeface="ＭＳ Ｐゴシック" panose="020B0600070205080204" pitchFamily="34" charset="-128"/>
              </a:rPr>
              <a:t>,</a:t>
            </a:r>
            <a:r>
              <a:rPr lang="en-US" altLang="en-US" dirty="0">
                <a:ea typeface="ＭＳ Ｐゴシック" panose="020B0600070205080204" pitchFamily="34" charset="-128"/>
              </a:rPr>
              <a:t>”</a:t>
            </a:r>
            <a:r>
              <a:rPr lang="en-US" altLang="ja-JP" dirty="0">
                <a:ea typeface="ＭＳ Ｐゴシック" panose="020B0600070205080204" pitchFamily="34" charset="-128"/>
              </a:rPr>
              <a:t> ISCA 1991</a:t>
            </a:r>
            <a:endParaRPr lang="en-US" dirty="0"/>
          </a:p>
          <a:p>
            <a:pPr lvl="1"/>
            <a:r>
              <a:rPr lang="en-US" dirty="0">
                <a:solidFill>
                  <a:srgbClr val="00B050"/>
                </a:solidFill>
              </a:rPr>
              <a:t>Hash functions</a:t>
            </a:r>
          </a:p>
          <a:p>
            <a:pPr lvl="2"/>
            <a:r>
              <a:rPr lang="en-US" altLang="en-US" dirty="0" err="1">
                <a:solidFill>
                  <a:srgbClr val="000000"/>
                </a:solidFill>
              </a:rPr>
              <a:t>V.d.Braak</a:t>
            </a:r>
            <a:r>
              <a:rPr lang="en-US" altLang="en-US" kern="1200" dirty="0">
                <a:solidFill>
                  <a:srgbClr val="000000"/>
                </a:solidFill>
                <a:latin typeface="Arial" panose="020B0604020202020204" pitchFamily="34" charset="0"/>
                <a:ea typeface="ＭＳ Ｐゴシック" panose="020B0600070205080204" pitchFamily="34" charset="-128"/>
              </a:rPr>
              <a:t>+, </a:t>
            </a:r>
            <a:r>
              <a:rPr lang="ja-JP" altLang="en-US" kern="1200" dirty="0">
                <a:solidFill>
                  <a:srgbClr val="000000"/>
                </a:solidFill>
                <a:latin typeface="Arial" panose="020B0604020202020204" pitchFamily="34" charset="0"/>
                <a:ea typeface="ＭＳ Ｐゴシック" panose="020B0600070205080204" pitchFamily="34" charset="-128"/>
              </a:rPr>
              <a:t>“</a:t>
            </a:r>
            <a:r>
              <a:rPr lang="en-US" dirty="0">
                <a:solidFill>
                  <a:srgbClr val="0000FF"/>
                </a:solidFill>
              </a:rPr>
              <a:t>Configurable XOR Hash Functions for Banked Scratchpad Memories in GPUs</a:t>
            </a:r>
            <a:r>
              <a:rPr lang="en-US" altLang="ja-JP" kern="1200" dirty="0">
                <a:solidFill>
                  <a:srgbClr val="000000"/>
                </a:solidFill>
                <a:latin typeface="Arial" panose="020B0604020202020204" pitchFamily="34" charset="0"/>
                <a:ea typeface="ＭＳ Ｐゴシック" panose="020B0600070205080204" pitchFamily="34" charset="-128"/>
              </a:rPr>
              <a:t>,</a:t>
            </a:r>
            <a:r>
              <a:rPr lang="ja-JP" altLang="en-US" kern="1200" dirty="0">
                <a:solidFill>
                  <a:srgbClr val="000000"/>
                </a:solidFill>
                <a:latin typeface="Arial" panose="020B0604020202020204" pitchFamily="34" charset="0"/>
                <a:ea typeface="ＭＳ Ｐゴシック" panose="020B0600070205080204" pitchFamily="34" charset="-128"/>
              </a:rPr>
              <a:t>”</a:t>
            </a:r>
            <a:r>
              <a:rPr lang="en-US" altLang="ja-JP" kern="1200" dirty="0">
                <a:solidFill>
                  <a:srgbClr val="000000"/>
                </a:solidFill>
                <a:latin typeface="Arial" panose="020B0604020202020204" pitchFamily="34" charset="0"/>
                <a:ea typeface="ＭＳ Ｐゴシック" panose="020B0600070205080204" pitchFamily="34" charset="-128"/>
              </a:rPr>
              <a:t> IEEE TC, 2016</a:t>
            </a:r>
            <a:endParaRPr lang="en-US" dirty="0"/>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45</a:t>
            </a:fld>
            <a:endParaRPr lang="en-US" altLang="en-US"/>
          </a:p>
        </p:txBody>
      </p:sp>
    </p:spTree>
    <p:extLst>
      <p:ext uri="{BB962C8B-B14F-4D97-AF65-F5344CB8AC3E}">
        <p14:creationId xmlns:p14="http://schemas.microsoft.com/office/powerpoint/2010/main" val="415121013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No Data Reuse</a:t>
            </a:r>
          </a:p>
        </p:txBody>
      </p:sp>
      <p:sp>
        <p:nvSpPr>
          <p:cNvPr id="3" name="Marcador de contenido 2"/>
          <p:cNvSpPr>
            <a:spLocks noGrp="1"/>
          </p:cNvSpPr>
          <p:nvPr>
            <p:ph idx="1"/>
          </p:nvPr>
        </p:nvSpPr>
        <p:spPr>
          <a:xfrm>
            <a:off x="251521" y="908720"/>
            <a:ext cx="8568952" cy="5472534"/>
          </a:xfrm>
        </p:spPr>
        <p:txBody>
          <a:bodyPr>
            <a:normAutofit/>
          </a:bodyPr>
          <a:lstStyle/>
          <a:p>
            <a:r>
              <a:rPr lang="en-US" b="1" dirty="0"/>
              <a:t>No Data reuse</a:t>
            </a:r>
            <a:r>
              <a:rPr lang="en-US" dirty="0"/>
              <a:t>:</a:t>
            </a:r>
          </a:p>
          <a:p>
            <a:pPr lvl="1"/>
            <a:r>
              <a:rPr lang="en-US" dirty="0"/>
              <a:t>Each thread reads its only elements.</a:t>
            </a:r>
          </a:p>
        </p:txBody>
      </p:sp>
      <p:sp>
        <p:nvSpPr>
          <p:cNvPr id="7" name="CuadroTexto 6"/>
          <p:cNvSpPr txBox="1"/>
          <p:nvPr/>
        </p:nvSpPr>
        <p:spPr>
          <a:xfrm>
            <a:off x="286228" y="4994811"/>
            <a:ext cx="8520546" cy="1323439"/>
          </a:xfrm>
          <a:prstGeom prst="rect">
            <a:avLst/>
          </a:prstGeom>
          <a:solidFill>
            <a:schemeClr val="bg1">
              <a:lumMod val="95000"/>
            </a:schemeClr>
          </a:solidFill>
        </p:spPr>
        <p:txBody>
          <a:bodyPr wrap="square" rtlCol="0">
            <a:spAutoFit/>
          </a:bodyPr>
          <a:lstStyle/>
          <a:p>
            <a:r>
              <a:rPr lang="en-US" sz="1600" dirty="0">
                <a:latin typeface="Courier"/>
                <a:cs typeface="Courier"/>
              </a:rPr>
              <a:t>for (</a:t>
            </a:r>
            <a:r>
              <a:rPr lang="en-US" sz="1600" dirty="0" err="1">
                <a:latin typeface="Courier"/>
                <a:cs typeface="Courier"/>
              </a:rPr>
              <a:t>int</a:t>
            </a:r>
            <a:r>
              <a:rPr lang="en-US" sz="1600" dirty="0">
                <a:latin typeface="Courier"/>
                <a:cs typeface="Courier"/>
              </a:rPr>
              <a:t> </a:t>
            </a:r>
            <a:r>
              <a:rPr lang="en-US" sz="1600" dirty="0" err="1">
                <a:latin typeface="Courier"/>
                <a:cs typeface="Courier"/>
              </a:rPr>
              <a:t>i</a:t>
            </a:r>
            <a:r>
              <a:rPr lang="en-US" sz="1600" dirty="0">
                <a:latin typeface="Courier"/>
                <a:cs typeface="Courier"/>
              </a:rPr>
              <a:t> = 0; </a:t>
            </a:r>
            <a:r>
              <a:rPr lang="en-US" sz="1600" dirty="0" err="1">
                <a:latin typeface="Courier"/>
                <a:cs typeface="Courier"/>
              </a:rPr>
              <a:t>i</a:t>
            </a:r>
            <a:r>
              <a:rPr lang="en-US" sz="1600" dirty="0">
                <a:latin typeface="Courier"/>
                <a:cs typeface="Courier"/>
              </a:rPr>
              <a:t> &lt; 3; </a:t>
            </a:r>
            <a:r>
              <a:rPr lang="en-US" sz="1600" dirty="0" err="1">
                <a:latin typeface="Courier"/>
                <a:cs typeface="Courier"/>
              </a:rPr>
              <a:t>i</a:t>
            </a:r>
            <a:r>
              <a:rPr lang="en-US" sz="1600" dirty="0">
                <a:latin typeface="Courier"/>
                <a:cs typeface="Courier"/>
              </a:rPr>
              <a:t>++){</a:t>
            </a:r>
          </a:p>
          <a:p>
            <a:r>
              <a:rPr lang="en-US" sz="1600" dirty="0">
                <a:latin typeface="Courier"/>
                <a:cs typeface="Courier"/>
              </a:rPr>
              <a:t>    for (</a:t>
            </a:r>
            <a:r>
              <a:rPr lang="en-US" sz="1600" dirty="0" err="1">
                <a:latin typeface="Courier"/>
                <a:cs typeface="Courier"/>
              </a:rPr>
              <a:t>int</a:t>
            </a:r>
            <a:r>
              <a:rPr lang="en-US" sz="1600" dirty="0">
                <a:latin typeface="Courier"/>
                <a:cs typeface="Courier"/>
              </a:rPr>
              <a:t> j = 0; j &lt; 3; j++){</a:t>
            </a:r>
          </a:p>
          <a:p>
            <a:r>
              <a:rPr lang="en-US" sz="1600" dirty="0">
                <a:latin typeface="Courier"/>
                <a:cs typeface="Courier"/>
              </a:rPr>
              <a:t>        sum += gauss[</a:t>
            </a:r>
            <a:r>
              <a:rPr lang="en-US" sz="1600" dirty="0" err="1">
                <a:latin typeface="Courier"/>
                <a:cs typeface="Courier"/>
              </a:rPr>
              <a:t>i</a:t>
            </a:r>
            <a:r>
              <a:rPr lang="en-US" sz="1600" dirty="0">
                <a:latin typeface="Courier"/>
                <a:cs typeface="Courier"/>
              </a:rPr>
              <a:t>][j] * Image[(i+row-1)*width + (j+col-1)];</a:t>
            </a:r>
          </a:p>
          <a:p>
            <a:r>
              <a:rPr lang="en-US" sz="1600" dirty="0">
                <a:latin typeface="Courier"/>
                <a:cs typeface="Courier"/>
              </a:rPr>
              <a:t>    }</a:t>
            </a:r>
          </a:p>
          <a:p>
            <a:r>
              <a:rPr lang="en-US" sz="1600" dirty="0">
                <a:latin typeface="Courier"/>
                <a:cs typeface="Courier"/>
              </a:rPr>
              <a:t>}</a:t>
            </a:r>
          </a:p>
        </p:txBody>
      </p:sp>
      <p:pic>
        <p:nvPicPr>
          <p:cNvPr id="8" name="Imagen 7"/>
          <p:cNvPicPr>
            <a:picLocks/>
          </p:cNvPicPr>
          <p:nvPr/>
        </p:nvPicPr>
        <p:blipFill>
          <a:blip r:embed="rId3"/>
          <a:stretch>
            <a:fillRect/>
          </a:stretch>
        </p:blipFill>
        <p:spPr>
          <a:xfrm>
            <a:off x="3492000" y="1845112"/>
            <a:ext cx="2592000" cy="2592000"/>
          </a:xfrm>
          <a:prstGeom prst="rect">
            <a:avLst/>
          </a:prstGeom>
        </p:spPr>
      </p:pic>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46</a:t>
            </a:fld>
            <a:endParaRPr lang="en-US" altLang="en-US"/>
          </a:p>
        </p:txBody>
      </p:sp>
      <p:sp>
        <p:nvSpPr>
          <p:cNvPr id="5" name="文本框 4">
            <a:extLst>
              <a:ext uri="{FF2B5EF4-FFF2-40B4-BE49-F238E27FC236}">
                <a16:creationId xmlns:a16="http://schemas.microsoft.com/office/drawing/2014/main" id="{ED83ABFB-AD45-4D20-B025-B98AC929982A}"/>
              </a:ext>
            </a:extLst>
          </p:cNvPr>
          <p:cNvSpPr txBox="1"/>
          <p:nvPr/>
        </p:nvSpPr>
        <p:spPr>
          <a:xfrm>
            <a:off x="231294" y="2876173"/>
            <a:ext cx="3180679" cy="830997"/>
          </a:xfrm>
          <a:prstGeom prst="rect">
            <a:avLst/>
          </a:prstGeom>
          <a:noFill/>
        </p:spPr>
        <p:txBody>
          <a:bodyPr wrap="none" rtlCol="0">
            <a:spAutoFit/>
          </a:bodyPr>
          <a:lstStyle/>
          <a:p>
            <a:r>
              <a:rPr lang="en-US" altLang="zh-CN" sz="2400" dirty="0"/>
              <a:t>Loading Amount: </a:t>
            </a:r>
          </a:p>
          <a:p>
            <a:r>
              <a:rPr lang="en-US" altLang="zh-CN" sz="2400" dirty="0">
                <a:solidFill>
                  <a:srgbClr val="C00000"/>
                </a:solidFill>
              </a:rPr>
              <a:t>9 elements per thread</a:t>
            </a:r>
            <a:endParaRPr lang="zh-CN" altLang="en-US" sz="2400" dirty="0">
              <a:solidFill>
                <a:srgbClr val="C00000"/>
              </a:solidFill>
            </a:endParaRPr>
          </a:p>
        </p:txBody>
      </p:sp>
    </p:spTree>
    <p:extLst>
      <p:ext uri="{BB962C8B-B14F-4D97-AF65-F5344CB8AC3E}">
        <p14:creationId xmlns:p14="http://schemas.microsoft.com/office/powerpoint/2010/main" val="253944916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Data Reuse: Tiling</a:t>
            </a:r>
          </a:p>
        </p:txBody>
      </p:sp>
      <p:sp>
        <p:nvSpPr>
          <p:cNvPr id="3" name="Marcador de contenido 2"/>
          <p:cNvSpPr>
            <a:spLocks noGrp="1"/>
          </p:cNvSpPr>
          <p:nvPr>
            <p:ph idx="1"/>
          </p:nvPr>
        </p:nvSpPr>
        <p:spPr>
          <a:xfrm>
            <a:off x="251520" y="908720"/>
            <a:ext cx="8892479" cy="5472534"/>
          </a:xfrm>
        </p:spPr>
        <p:txBody>
          <a:bodyPr>
            <a:normAutofit/>
          </a:bodyPr>
          <a:lstStyle/>
          <a:p>
            <a:r>
              <a:rPr lang="en-US" sz="2200" dirty="0"/>
              <a:t>For data reuse,</a:t>
            </a:r>
            <a:r>
              <a:rPr lang="en-US" sz="2200" dirty="0">
                <a:solidFill>
                  <a:srgbClr val="0000FF"/>
                </a:solidFill>
              </a:rPr>
              <a:t> </a:t>
            </a:r>
            <a:r>
              <a:rPr lang="en-US" sz="2200" dirty="0"/>
              <a:t>we divide the input into </a:t>
            </a:r>
            <a:r>
              <a:rPr lang="en-US" sz="2200" dirty="0">
                <a:solidFill>
                  <a:srgbClr val="0000FF"/>
                </a:solidFill>
              </a:rPr>
              <a:t>tiles</a:t>
            </a:r>
            <a:r>
              <a:rPr lang="en-US" sz="2200" dirty="0"/>
              <a:t>, each of which loads </a:t>
            </a:r>
            <a:r>
              <a:rPr lang="en-US" altLang="zh-CN" sz="2000" dirty="0">
                <a:solidFill>
                  <a:srgbClr val="C00000"/>
                </a:solidFill>
              </a:rPr>
              <a:t>L_SIZE </a:t>
            </a:r>
            <a:r>
              <a:rPr lang="en-US" altLang="zh-CN" sz="2000" dirty="0"/>
              <a:t>chunks together</a:t>
            </a:r>
            <a:r>
              <a:rPr lang="en-US" sz="2200" dirty="0"/>
              <a:t> into </a:t>
            </a:r>
            <a:r>
              <a:rPr lang="en-US" sz="2200" dirty="0">
                <a:solidFill>
                  <a:srgbClr val="00B050"/>
                </a:solidFill>
              </a:rPr>
              <a:t>shared memory</a:t>
            </a:r>
            <a:r>
              <a:rPr lang="en-US" altLang="zh-CN" sz="2200" dirty="0"/>
              <a:t>, then compute together</a:t>
            </a:r>
            <a:endParaRPr lang="en-US" sz="2200" dirty="0"/>
          </a:p>
        </p:txBody>
      </p:sp>
      <p:pic>
        <p:nvPicPr>
          <p:cNvPr id="9" name="Imagen 8"/>
          <p:cNvPicPr>
            <a:picLocks/>
          </p:cNvPicPr>
          <p:nvPr/>
        </p:nvPicPr>
        <p:blipFill>
          <a:blip r:embed="rId3"/>
          <a:stretch>
            <a:fillRect/>
          </a:stretch>
        </p:blipFill>
        <p:spPr>
          <a:xfrm>
            <a:off x="3492000" y="1701096"/>
            <a:ext cx="2592000" cy="2592000"/>
          </a:xfrm>
          <a:prstGeom prst="rect">
            <a:avLst/>
          </a:prstGeom>
        </p:spPr>
      </p:pic>
      <p:sp>
        <p:nvSpPr>
          <p:cNvPr id="10" name="CuadroTexto 9"/>
          <p:cNvSpPr txBox="1"/>
          <p:nvPr/>
        </p:nvSpPr>
        <p:spPr>
          <a:xfrm>
            <a:off x="251521" y="4293096"/>
            <a:ext cx="8568952" cy="2031325"/>
          </a:xfrm>
          <a:prstGeom prst="rect">
            <a:avLst/>
          </a:prstGeom>
          <a:solidFill>
            <a:schemeClr val="bg1">
              <a:lumMod val="95000"/>
            </a:schemeClr>
          </a:solidFill>
        </p:spPr>
        <p:txBody>
          <a:bodyPr wrap="square" rtlCol="0">
            <a:spAutoFit/>
          </a:bodyPr>
          <a:lstStyle/>
          <a:p>
            <a:r>
              <a:rPr lang="en-US" sz="1400" b="1" dirty="0">
                <a:solidFill>
                  <a:srgbClr val="0000FF"/>
                </a:solidFill>
                <a:latin typeface="Courier"/>
                <a:cs typeface="Courier"/>
              </a:rPr>
              <a:t>__shared__ </a:t>
            </a:r>
            <a:r>
              <a:rPr lang="en-US" sz="1400" b="1" dirty="0" err="1">
                <a:solidFill>
                  <a:srgbClr val="0000FF"/>
                </a:solidFill>
                <a:latin typeface="Courier"/>
                <a:cs typeface="Courier"/>
              </a:rPr>
              <a:t>int</a:t>
            </a:r>
            <a:r>
              <a:rPr lang="en-US" sz="1400" b="1" dirty="0">
                <a:solidFill>
                  <a:srgbClr val="0000FF"/>
                </a:solidFill>
                <a:latin typeface="Courier"/>
                <a:cs typeface="Courier"/>
              </a:rPr>
              <a:t> </a:t>
            </a:r>
            <a:r>
              <a:rPr lang="en-US" sz="1400" b="1" dirty="0" err="1">
                <a:solidFill>
                  <a:srgbClr val="0000FF"/>
                </a:solidFill>
                <a:latin typeface="Courier"/>
                <a:cs typeface="Courier"/>
              </a:rPr>
              <a:t>l_data</a:t>
            </a:r>
            <a:r>
              <a:rPr lang="en-US" sz="1400" b="1" dirty="0">
                <a:solidFill>
                  <a:srgbClr val="0000FF"/>
                </a:solidFill>
                <a:latin typeface="Courier"/>
                <a:cs typeface="Courier"/>
              </a:rPr>
              <a:t>[(L_SIZE+2)*(L_SIZE+2)];</a:t>
            </a:r>
          </a:p>
          <a:p>
            <a:r>
              <a:rPr lang="is-IS" sz="1400" dirty="0">
                <a:latin typeface="Courier"/>
                <a:cs typeface="Courier"/>
              </a:rPr>
              <a:t>…</a:t>
            </a:r>
            <a:endParaRPr lang="en-US" sz="1400" dirty="0">
              <a:latin typeface="Courier"/>
              <a:cs typeface="Courier"/>
            </a:endParaRPr>
          </a:p>
          <a:p>
            <a:r>
              <a:rPr lang="en-US" sz="1400" i="1" dirty="0">
                <a:latin typeface="Courier"/>
                <a:cs typeface="Courier"/>
              </a:rPr>
              <a:t>Load tile into shared memory </a:t>
            </a:r>
            <a:r>
              <a:rPr lang="en-US" altLang="zh-CN" sz="1400" dirty="0" err="1">
                <a:solidFill>
                  <a:srgbClr val="0432FF"/>
                </a:solidFill>
                <a:latin typeface="Courier"/>
                <a:cs typeface="Courier"/>
              </a:rPr>
              <a:t>l_data</a:t>
            </a:r>
            <a:endParaRPr lang="en-US" sz="1400" dirty="0">
              <a:latin typeface="Courier"/>
              <a:cs typeface="Courier"/>
            </a:endParaRPr>
          </a:p>
          <a:p>
            <a:r>
              <a:rPr lang="en-US" sz="1400" b="1" dirty="0">
                <a:solidFill>
                  <a:srgbClr val="00B050"/>
                </a:solidFill>
                <a:latin typeface="Courier"/>
                <a:cs typeface="Courier"/>
              </a:rPr>
              <a:t>__</a:t>
            </a:r>
            <a:r>
              <a:rPr lang="en-US" sz="1400" b="1" dirty="0" err="1">
                <a:solidFill>
                  <a:srgbClr val="00B050"/>
                </a:solidFill>
                <a:latin typeface="Courier"/>
                <a:cs typeface="Courier"/>
              </a:rPr>
              <a:t>syncthreads</a:t>
            </a:r>
            <a:r>
              <a:rPr lang="en-US" sz="1400" b="1" dirty="0">
                <a:solidFill>
                  <a:srgbClr val="00B050"/>
                </a:solidFill>
                <a:latin typeface="Courier"/>
                <a:cs typeface="Courier"/>
              </a:rPr>
              <a:t>();</a:t>
            </a:r>
          </a:p>
          <a:p>
            <a:r>
              <a:rPr lang="en-US" sz="1400" dirty="0">
                <a:latin typeface="Courier"/>
                <a:cs typeface="Courier"/>
              </a:rPr>
              <a:t>for (</a:t>
            </a:r>
            <a:r>
              <a:rPr lang="en-US" sz="1400" dirty="0" err="1">
                <a:latin typeface="Courier"/>
                <a:cs typeface="Courier"/>
              </a:rPr>
              <a:t>int</a:t>
            </a:r>
            <a:r>
              <a:rPr lang="en-US" sz="1400" dirty="0">
                <a:latin typeface="Courier"/>
                <a:cs typeface="Courier"/>
              </a:rPr>
              <a:t> </a:t>
            </a:r>
            <a:r>
              <a:rPr lang="en-US" sz="1400" dirty="0" err="1">
                <a:latin typeface="Courier"/>
                <a:cs typeface="Courier"/>
              </a:rPr>
              <a:t>i</a:t>
            </a:r>
            <a:r>
              <a:rPr lang="en-US" sz="1400" dirty="0">
                <a:latin typeface="Courier"/>
                <a:cs typeface="Courier"/>
              </a:rPr>
              <a:t> = 0; </a:t>
            </a:r>
            <a:r>
              <a:rPr lang="en-US" sz="1400" dirty="0" err="1">
                <a:latin typeface="Courier"/>
                <a:cs typeface="Courier"/>
              </a:rPr>
              <a:t>i</a:t>
            </a:r>
            <a:r>
              <a:rPr lang="en-US" sz="1400" dirty="0">
                <a:latin typeface="Courier"/>
                <a:cs typeface="Courier"/>
              </a:rPr>
              <a:t> &lt; 3; </a:t>
            </a:r>
            <a:r>
              <a:rPr lang="en-US" sz="1400" dirty="0" err="1">
                <a:latin typeface="Courier"/>
                <a:cs typeface="Courier"/>
              </a:rPr>
              <a:t>i</a:t>
            </a:r>
            <a:r>
              <a:rPr lang="en-US" sz="1400" dirty="0">
                <a:latin typeface="Courier"/>
                <a:cs typeface="Courier"/>
              </a:rPr>
              <a:t>++){</a:t>
            </a:r>
          </a:p>
          <a:p>
            <a:r>
              <a:rPr lang="en-US" sz="1400" dirty="0">
                <a:latin typeface="Courier"/>
                <a:cs typeface="Courier"/>
              </a:rPr>
              <a:t>  for (</a:t>
            </a:r>
            <a:r>
              <a:rPr lang="en-US" sz="1400" dirty="0" err="1">
                <a:latin typeface="Courier"/>
                <a:cs typeface="Courier"/>
              </a:rPr>
              <a:t>int</a:t>
            </a:r>
            <a:r>
              <a:rPr lang="en-US" sz="1400" dirty="0">
                <a:latin typeface="Courier"/>
                <a:cs typeface="Courier"/>
              </a:rPr>
              <a:t> j = 0; j &lt; 3; j++){</a:t>
            </a:r>
          </a:p>
          <a:p>
            <a:r>
              <a:rPr lang="en-US" sz="1400" dirty="0">
                <a:latin typeface="Courier"/>
                <a:cs typeface="Courier"/>
              </a:rPr>
              <a:t>    sum += gauss[</a:t>
            </a:r>
            <a:r>
              <a:rPr lang="en-US" sz="1400" dirty="0" err="1">
                <a:latin typeface="Courier"/>
                <a:cs typeface="Courier"/>
              </a:rPr>
              <a:t>i</a:t>
            </a:r>
            <a:r>
              <a:rPr lang="en-US" sz="1400" dirty="0">
                <a:latin typeface="Courier"/>
                <a:cs typeface="Courier"/>
              </a:rPr>
              <a:t>][j] * </a:t>
            </a:r>
            <a:r>
              <a:rPr lang="en-US" sz="1400" dirty="0" err="1">
                <a:solidFill>
                  <a:srgbClr val="0432FF"/>
                </a:solidFill>
                <a:latin typeface="Courier"/>
                <a:cs typeface="Courier"/>
              </a:rPr>
              <a:t>l_data</a:t>
            </a:r>
            <a:r>
              <a:rPr lang="en-US" sz="1400" dirty="0">
                <a:latin typeface="Courier"/>
                <a:cs typeface="Courier"/>
              </a:rPr>
              <a:t>[(i+l_row-1)*(L_SIZE+2)+j+l_col-1];</a:t>
            </a:r>
          </a:p>
          <a:p>
            <a:r>
              <a:rPr lang="en-US" sz="1400" dirty="0">
                <a:latin typeface="Courier"/>
                <a:cs typeface="Courier"/>
              </a:rPr>
              <a:t>  }</a:t>
            </a:r>
          </a:p>
          <a:p>
            <a:r>
              <a:rPr lang="en-US" sz="1400" dirty="0">
                <a:latin typeface="Courier"/>
                <a:cs typeface="Courier"/>
              </a:rPr>
              <a:t>}</a:t>
            </a:r>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47</a:t>
            </a:fld>
            <a:endParaRPr lang="en-US" altLang="en-US"/>
          </a:p>
        </p:txBody>
      </p:sp>
      <p:sp>
        <p:nvSpPr>
          <p:cNvPr id="7" name="文本框 6">
            <a:extLst>
              <a:ext uri="{FF2B5EF4-FFF2-40B4-BE49-F238E27FC236}">
                <a16:creationId xmlns:a16="http://schemas.microsoft.com/office/drawing/2014/main" id="{156D6D73-80FB-4FC9-92B0-52239F285BC7}"/>
              </a:ext>
            </a:extLst>
          </p:cNvPr>
          <p:cNvSpPr txBox="1"/>
          <p:nvPr/>
        </p:nvSpPr>
        <p:spPr>
          <a:xfrm>
            <a:off x="152400" y="2525315"/>
            <a:ext cx="3190297" cy="1200329"/>
          </a:xfrm>
          <a:prstGeom prst="rect">
            <a:avLst/>
          </a:prstGeom>
          <a:noFill/>
        </p:spPr>
        <p:txBody>
          <a:bodyPr wrap="none" rtlCol="0">
            <a:spAutoFit/>
          </a:bodyPr>
          <a:lstStyle/>
          <a:p>
            <a:r>
              <a:rPr lang="en-US" altLang="zh-CN" sz="2400" dirty="0"/>
              <a:t>Loading Amount: </a:t>
            </a:r>
            <a:endParaRPr lang="en-US" altLang="zh-CN" sz="2400" dirty="0">
              <a:solidFill>
                <a:srgbClr val="C00000"/>
              </a:solidFill>
            </a:endParaRPr>
          </a:p>
          <a:p>
            <a:r>
              <a:rPr lang="en-US" altLang="zh-CN" sz="2400" dirty="0">
                <a:solidFill>
                  <a:srgbClr val="C00000"/>
                </a:solidFill>
              </a:rPr>
              <a:t>(L_SIZE+2)</a:t>
            </a:r>
            <a:r>
              <a:rPr lang="en-US" altLang="zh-CN" sz="2400" baseline="30000" dirty="0">
                <a:solidFill>
                  <a:srgbClr val="C00000"/>
                </a:solidFill>
              </a:rPr>
              <a:t>2</a:t>
            </a:r>
            <a:r>
              <a:rPr lang="en-US" altLang="zh-CN" sz="2400" dirty="0">
                <a:solidFill>
                  <a:srgbClr val="C00000"/>
                </a:solidFill>
              </a:rPr>
              <a:t>/L_SIZE</a:t>
            </a:r>
            <a:r>
              <a:rPr lang="en-US" altLang="zh-CN" sz="2400" baseline="30000" dirty="0">
                <a:solidFill>
                  <a:srgbClr val="C00000"/>
                </a:solidFill>
              </a:rPr>
              <a:t>2</a:t>
            </a:r>
            <a:r>
              <a:rPr lang="en-US" altLang="zh-CN" sz="2400" dirty="0">
                <a:solidFill>
                  <a:srgbClr val="C00000"/>
                </a:solidFill>
              </a:rPr>
              <a:t> </a:t>
            </a:r>
          </a:p>
          <a:p>
            <a:r>
              <a:rPr lang="en-US" altLang="zh-CN" sz="2400" dirty="0">
                <a:solidFill>
                  <a:srgbClr val="C00000"/>
                </a:solidFill>
              </a:rPr>
              <a:t>elements per thread</a:t>
            </a:r>
            <a:endParaRPr lang="zh-CN" altLang="en-US" sz="2400" dirty="0">
              <a:solidFill>
                <a:srgbClr val="C00000"/>
              </a:solidFill>
            </a:endParaRPr>
          </a:p>
        </p:txBody>
      </p:sp>
      <p:sp>
        <p:nvSpPr>
          <p:cNvPr id="5" name="文本框 6">
            <a:extLst>
              <a:ext uri="{FF2B5EF4-FFF2-40B4-BE49-F238E27FC236}">
                <a16:creationId xmlns:a16="http://schemas.microsoft.com/office/drawing/2014/main" id="{D375ED1F-10DD-6621-74FD-47BC2C7725CC}"/>
              </a:ext>
            </a:extLst>
          </p:cNvPr>
          <p:cNvSpPr txBox="1"/>
          <p:nvPr/>
        </p:nvSpPr>
        <p:spPr>
          <a:xfrm>
            <a:off x="6183120" y="2306013"/>
            <a:ext cx="2734082" cy="830997"/>
          </a:xfrm>
          <a:prstGeom prst="rect">
            <a:avLst/>
          </a:prstGeom>
          <a:noFill/>
        </p:spPr>
        <p:txBody>
          <a:bodyPr wrap="none" rtlCol="0">
            <a:spAutoFit/>
          </a:bodyPr>
          <a:lstStyle/>
          <a:p>
            <a:r>
              <a:rPr lang="en-US" altLang="zh-CN" sz="2400" dirty="0"/>
              <a:t>Compute Amount: </a:t>
            </a:r>
            <a:endParaRPr lang="en-US" altLang="zh-CN" sz="2400" dirty="0">
              <a:solidFill>
                <a:srgbClr val="C00000"/>
              </a:solidFill>
            </a:endParaRPr>
          </a:p>
          <a:p>
            <a:r>
              <a:rPr lang="en-US" altLang="zh-CN" sz="2400" dirty="0">
                <a:solidFill>
                  <a:srgbClr val="C00000"/>
                </a:solidFill>
              </a:rPr>
              <a:t>The</a:t>
            </a:r>
            <a:r>
              <a:rPr lang="zh-CN" altLang="en-US" sz="2400" dirty="0">
                <a:solidFill>
                  <a:srgbClr val="C00000"/>
                </a:solidFill>
              </a:rPr>
              <a:t> </a:t>
            </a:r>
            <a:r>
              <a:rPr lang="en-US" altLang="zh-CN" sz="2400" dirty="0">
                <a:solidFill>
                  <a:srgbClr val="C00000"/>
                </a:solidFill>
              </a:rPr>
              <a:t>same</a:t>
            </a:r>
            <a:endParaRPr lang="zh-CN" altLang="en-US" sz="2400" dirty="0">
              <a:solidFill>
                <a:srgbClr val="C00000"/>
              </a:solidFill>
            </a:endParaRPr>
          </a:p>
        </p:txBody>
      </p:sp>
    </p:spTree>
    <p:extLst>
      <p:ext uri="{BB962C8B-B14F-4D97-AF65-F5344CB8AC3E}">
        <p14:creationId xmlns:p14="http://schemas.microsoft.com/office/powerpoint/2010/main" val="5834877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1" name="Rectangle 3"/>
          <p:cNvSpPr>
            <a:spLocks noGrp="1" noChangeArrowheads="1"/>
          </p:cNvSpPr>
          <p:nvPr>
            <p:ph type="body" idx="1"/>
          </p:nvPr>
        </p:nvSpPr>
        <p:spPr>
          <a:xfrm>
            <a:off x="298648" y="1124744"/>
            <a:ext cx="8305800" cy="3523456"/>
          </a:xfrm>
        </p:spPr>
        <p:txBody>
          <a:bodyPr/>
          <a:lstStyle/>
          <a:p>
            <a:pPr marL="457200" indent="-457200"/>
            <a:r>
              <a:rPr lang="en-US" altLang="zh-TW" b="1" dirty="0">
                <a:latin typeface="Courier New" pitchFamily="-111" charset="0"/>
                <a:ea typeface="新細明體" pitchFamily="16" charset="-128"/>
                <a:cs typeface="新細明體" pitchFamily="16" charset="-128"/>
              </a:rPr>
              <a:t>void __</a:t>
            </a:r>
            <a:r>
              <a:rPr lang="en-US" altLang="zh-TW" b="1" dirty="0" err="1">
                <a:latin typeface="Courier New" pitchFamily="-111" charset="0"/>
                <a:ea typeface="新細明體" pitchFamily="16" charset="-128"/>
                <a:cs typeface="新細明體" pitchFamily="16" charset="-128"/>
              </a:rPr>
              <a:t>syncthreads</a:t>
            </a:r>
            <a:r>
              <a:rPr lang="en-US" altLang="zh-TW" b="1" dirty="0">
                <a:latin typeface="Courier New" pitchFamily="-111" charset="0"/>
                <a:ea typeface="新細明體" pitchFamily="16" charset="-128"/>
                <a:cs typeface="新細明體" pitchFamily="16" charset="-128"/>
              </a:rPr>
              <a:t>();</a:t>
            </a:r>
          </a:p>
          <a:p>
            <a:pPr marL="784225" lvl="1" indent="-457200"/>
            <a:r>
              <a:rPr lang="en-US" altLang="zh-TW" dirty="0">
                <a:solidFill>
                  <a:srgbClr val="00B050"/>
                </a:solidFill>
                <a:ea typeface="新細明體" pitchFamily="16" charset="-128"/>
                <a:cs typeface="新細明體" pitchFamily="16" charset="-128"/>
              </a:rPr>
              <a:t>Synchronizes all threads in a block</a:t>
            </a:r>
          </a:p>
          <a:p>
            <a:pPr marL="457200" indent="-457200"/>
            <a:endParaRPr lang="en-US" altLang="zh-TW" dirty="0">
              <a:ea typeface="新細明體" pitchFamily="16" charset="-128"/>
              <a:cs typeface="新細明體" pitchFamily="16" charset="-128"/>
            </a:endParaRPr>
          </a:p>
          <a:p>
            <a:pPr marL="784225" lvl="1" indent="-457200"/>
            <a:r>
              <a:rPr lang="en-US" altLang="zh-TW" dirty="0">
                <a:ea typeface="新細明體" pitchFamily="16" charset="-128"/>
                <a:cs typeface="新細明體" pitchFamily="16" charset="-128"/>
              </a:rPr>
              <a:t>Once all threads in a block have reached this point, execution resumes normally</a:t>
            </a:r>
          </a:p>
          <a:p>
            <a:pPr marL="457200" indent="-457200"/>
            <a:endParaRPr lang="en-US" altLang="zh-TW" dirty="0">
              <a:ea typeface="新細明體" pitchFamily="16" charset="-128"/>
              <a:cs typeface="新細明體" pitchFamily="16" charset="-128"/>
            </a:endParaRPr>
          </a:p>
          <a:p>
            <a:pPr marL="784225" lvl="1" indent="-457200"/>
            <a:r>
              <a:rPr lang="en-US" altLang="zh-TW" dirty="0">
                <a:ea typeface="新細明體" pitchFamily="16" charset="-128"/>
                <a:cs typeface="新細明體" pitchFamily="16" charset="-128"/>
              </a:rPr>
              <a:t>Used to avoid RAW / WAR / WAW hazards when accessing shared or global memory</a:t>
            </a:r>
          </a:p>
        </p:txBody>
      </p:sp>
      <p:sp>
        <p:nvSpPr>
          <p:cNvPr id="7" name="Marcador de número de diapositiva 5"/>
          <p:cNvSpPr>
            <a:spLocks noGrp="1"/>
          </p:cNvSpPr>
          <p:nvPr>
            <p:ph type="sldNum" sz="quarter" idx="11"/>
          </p:nvPr>
        </p:nvSpPr>
        <p:spPr>
          <a:xfrm>
            <a:off x="7239000" y="6400800"/>
            <a:ext cx="1905000" cy="457200"/>
          </a:xfrm>
        </p:spPr>
        <p:txBody>
          <a:bodyPr/>
          <a:lstStyle/>
          <a:p>
            <a:pPr algn="r"/>
            <a:fld id="{36265653-2103-314A-B641-CF45047AE0C4}" type="slidenum">
              <a:rPr lang="en-US"/>
              <a:pPr algn="r"/>
              <a:t>48</a:t>
            </a:fld>
            <a:endParaRPr lang="en-US" dirty="0"/>
          </a:p>
        </p:txBody>
      </p:sp>
      <p:sp>
        <p:nvSpPr>
          <p:cNvPr id="3" name="Title 2">
            <a:extLst>
              <a:ext uri="{FF2B5EF4-FFF2-40B4-BE49-F238E27FC236}">
                <a16:creationId xmlns:a16="http://schemas.microsoft.com/office/drawing/2014/main" id="{5CBE5485-E692-6348-9DEF-C0C1F3E43DF7}"/>
              </a:ext>
            </a:extLst>
          </p:cNvPr>
          <p:cNvSpPr>
            <a:spLocks noGrp="1"/>
          </p:cNvSpPr>
          <p:nvPr>
            <p:ph type="title"/>
          </p:nvPr>
        </p:nvSpPr>
        <p:spPr/>
        <p:txBody>
          <a:bodyPr/>
          <a:lstStyle/>
          <a:p>
            <a:r>
              <a:rPr lang="en-US" dirty="0"/>
              <a:t>Synchronization Function</a:t>
            </a:r>
          </a:p>
        </p:txBody>
      </p:sp>
    </p:spTree>
    <p:extLst>
      <p:ext uri="{BB962C8B-B14F-4D97-AF65-F5344CB8AC3E}">
        <p14:creationId xmlns:p14="http://schemas.microsoft.com/office/powerpoint/2010/main" val="1088552525"/>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3" name="Title 1">
            <a:extLst>
              <a:ext uri="{FF2B5EF4-FFF2-40B4-BE49-F238E27FC236}">
                <a16:creationId xmlns:a16="http://schemas.microsoft.com/office/drawing/2014/main" id="{16B53E08-421B-7A45-8C30-E6FB197D67F0}"/>
              </a:ext>
            </a:extLst>
          </p:cNvPr>
          <p:cNvSpPr>
            <a:spLocks noGrp="1" noChangeArrowheads="1"/>
          </p:cNvSpPr>
          <p:nvPr>
            <p:ph type="title"/>
          </p:nvPr>
        </p:nvSpPr>
        <p:spPr/>
        <p:txBody>
          <a:bodyPr/>
          <a:lstStyle/>
          <a:p>
            <a:r>
              <a:rPr lang="en-US" altLang="en-US" dirty="0">
                <a:ea typeface="ＭＳ Ｐゴシック" panose="020B0600070205080204" pitchFamily="34" charset="-128"/>
              </a:rPr>
              <a:t>Tiling/Blocking in On-chip Memories</a:t>
            </a:r>
          </a:p>
        </p:txBody>
      </p:sp>
      <p:sp>
        <p:nvSpPr>
          <p:cNvPr id="35843" name="Content Placeholder 2">
            <a:extLst>
              <a:ext uri="{FF2B5EF4-FFF2-40B4-BE49-F238E27FC236}">
                <a16:creationId xmlns:a16="http://schemas.microsoft.com/office/drawing/2014/main" id="{7D554ED4-E9EE-AF40-8D7E-E9E980194DC4}"/>
              </a:ext>
            </a:extLst>
          </p:cNvPr>
          <p:cNvSpPr>
            <a:spLocks noGrp="1" noChangeArrowheads="1"/>
          </p:cNvSpPr>
          <p:nvPr>
            <p:ph idx="1"/>
          </p:nvPr>
        </p:nvSpPr>
        <p:spPr>
          <a:xfrm>
            <a:off x="228600" y="980728"/>
            <a:ext cx="8610600" cy="4048472"/>
          </a:xfrm>
        </p:spPr>
        <p:txBody>
          <a:bodyPr/>
          <a:lstStyle/>
          <a:p>
            <a:r>
              <a:rPr lang="en-US" altLang="en-US" b="1" dirty="0">
                <a:solidFill>
                  <a:srgbClr val="0000FF"/>
                </a:solidFill>
                <a:ea typeface="ＭＳ Ｐゴシック" panose="020B0600070205080204" pitchFamily="34" charset="-128"/>
              </a:rPr>
              <a:t>Tiling </a:t>
            </a:r>
            <a:r>
              <a:rPr lang="en-US" altLang="en-US" b="1" dirty="0">
                <a:ea typeface="ＭＳ Ｐゴシック" panose="020B0600070205080204" pitchFamily="34" charset="-128"/>
              </a:rPr>
              <a:t>or</a:t>
            </a:r>
            <a:r>
              <a:rPr lang="en-US" altLang="en-US" b="1" dirty="0">
                <a:solidFill>
                  <a:srgbClr val="0000FF"/>
                </a:solidFill>
                <a:ea typeface="ＭＳ Ｐゴシック" panose="020B0600070205080204" pitchFamily="34" charset="-128"/>
              </a:rPr>
              <a:t> Blocking</a:t>
            </a:r>
            <a:r>
              <a:rPr lang="en-US" altLang="en-US" b="1" dirty="0">
                <a:ea typeface="ＭＳ Ｐゴシック" panose="020B0600070205080204" pitchFamily="34" charset="-128"/>
              </a:rPr>
              <a:t> </a:t>
            </a:r>
            <a:endParaRPr lang="en-US" altLang="en-US" b="1" dirty="0">
              <a:solidFill>
                <a:srgbClr val="0000FF"/>
              </a:solidFill>
              <a:ea typeface="ＭＳ Ｐゴシック" panose="020B0600070205080204" pitchFamily="34" charset="-128"/>
            </a:endParaRPr>
          </a:p>
          <a:p>
            <a:pPr lvl="1"/>
            <a:r>
              <a:rPr lang="en-US" altLang="en-US" dirty="0">
                <a:ea typeface="ＭＳ Ｐゴシック" panose="020B0600070205080204" pitchFamily="34" charset="-128"/>
              </a:rPr>
              <a:t>Divide loops operating on arrays into computation chunks so that each chunk can hold its data in the on-chip RAM (or other on-chip memory, e.g., scratchpad)</a:t>
            </a:r>
          </a:p>
          <a:p>
            <a:pPr lvl="1"/>
            <a:endParaRPr lang="en-US" altLang="en-US" dirty="0">
              <a:ea typeface="ＭＳ Ｐゴシック" panose="020B0600070205080204" pitchFamily="34" charset="-128"/>
            </a:endParaRPr>
          </a:p>
          <a:p>
            <a:pPr lvl="1"/>
            <a:r>
              <a:rPr lang="en-US" altLang="en-US" dirty="0">
                <a:ea typeface="ＭＳ Ｐゴシック" panose="020B0600070205080204" pitchFamily="34" charset="-128"/>
              </a:rPr>
              <a:t>Avoids on-chip RAM conflicts between different chunks of computation</a:t>
            </a:r>
          </a:p>
          <a:p>
            <a:pPr lvl="1"/>
            <a:endParaRPr lang="en-US" altLang="en-US" dirty="0">
              <a:ea typeface="ＭＳ Ｐゴシック" panose="020B0600070205080204" pitchFamily="34" charset="-128"/>
            </a:endParaRPr>
          </a:p>
          <a:p>
            <a:pPr lvl="1"/>
            <a:r>
              <a:rPr lang="en-US" altLang="en-US" dirty="0">
                <a:ea typeface="ＭＳ Ｐゴシック" panose="020B0600070205080204" pitchFamily="34" charset="-128"/>
              </a:rPr>
              <a:t>Essentially: </a:t>
            </a:r>
            <a:r>
              <a:rPr lang="en-US" altLang="en-US" dirty="0">
                <a:solidFill>
                  <a:srgbClr val="0432FF"/>
                </a:solidFill>
                <a:ea typeface="ＭＳ Ｐゴシック" panose="020B0600070205080204" pitchFamily="34" charset="-128"/>
              </a:rPr>
              <a:t>Divide the working set so that each piece fits in the on-chip RAMs</a:t>
            </a:r>
          </a:p>
          <a:p>
            <a:pPr lvl="1"/>
            <a:endParaRPr lang="en-US" altLang="en-US" dirty="0">
              <a:solidFill>
                <a:srgbClr val="0432FF"/>
              </a:solidFill>
              <a:ea typeface="ＭＳ Ｐゴシック" panose="020B0600070205080204" pitchFamily="34" charset="-128"/>
            </a:endParaRPr>
          </a:p>
        </p:txBody>
      </p:sp>
      <p:sp>
        <p:nvSpPr>
          <p:cNvPr id="248835" name="Slide Number Placeholder 3">
            <a:extLst>
              <a:ext uri="{FF2B5EF4-FFF2-40B4-BE49-F238E27FC236}">
                <a16:creationId xmlns:a16="http://schemas.microsoft.com/office/drawing/2014/main" id="{CCE4354E-DC2C-8E49-A078-0EEB05C17BC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77E7AE0-EC71-4D48-959A-8A23F1B03886}"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49</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291320012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84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5843">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584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3" name="Title 1">
            <a:extLst>
              <a:ext uri="{FF2B5EF4-FFF2-40B4-BE49-F238E27FC236}">
                <a16:creationId xmlns:a16="http://schemas.microsoft.com/office/drawing/2014/main" id="{16B53E08-421B-7A45-8C30-E6FB197D67F0}"/>
              </a:ext>
            </a:extLst>
          </p:cNvPr>
          <p:cNvSpPr>
            <a:spLocks noGrp="1" noChangeArrowheads="1"/>
          </p:cNvSpPr>
          <p:nvPr>
            <p:ph type="title"/>
          </p:nvPr>
        </p:nvSpPr>
        <p:spPr/>
        <p:txBody>
          <a:bodyPr/>
          <a:lstStyle/>
          <a:p>
            <a:r>
              <a:rPr lang="en-US" altLang="en-US" dirty="0">
                <a:ea typeface="ＭＳ Ｐゴシック" panose="020B0600070205080204" pitchFamily="34" charset="-128"/>
              </a:rPr>
              <a:t>CPU: Naïve Matrix Multiplication (I)</a:t>
            </a:r>
          </a:p>
        </p:txBody>
      </p:sp>
      <p:sp>
        <p:nvSpPr>
          <p:cNvPr id="35843" name="Content Placeholder 2">
            <a:extLst>
              <a:ext uri="{FF2B5EF4-FFF2-40B4-BE49-F238E27FC236}">
                <a16:creationId xmlns:a16="http://schemas.microsoft.com/office/drawing/2014/main" id="{7D554ED4-E9EE-AF40-8D7E-E9E980194DC4}"/>
              </a:ext>
            </a:extLst>
          </p:cNvPr>
          <p:cNvSpPr>
            <a:spLocks noGrp="1" noChangeArrowheads="1"/>
          </p:cNvSpPr>
          <p:nvPr>
            <p:ph idx="1"/>
          </p:nvPr>
        </p:nvSpPr>
        <p:spPr>
          <a:xfrm>
            <a:off x="228600" y="914400"/>
            <a:ext cx="8610600" cy="5486400"/>
          </a:xfrm>
        </p:spPr>
        <p:txBody>
          <a:bodyPr/>
          <a:lstStyle/>
          <a:p>
            <a:r>
              <a:rPr lang="en-US" altLang="en-US" dirty="0">
                <a:ea typeface="ＭＳ Ｐゴシック" panose="020B0600070205080204" pitchFamily="34" charset="-128"/>
              </a:rPr>
              <a:t>Matrix multiplication: C = A x B</a:t>
            </a:r>
          </a:p>
          <a:p>
            <a:r>
              <a:rPr lang="en-US" altLang="en-US" dirty="0">
                <a:ea typeface="ＭＳ Ｐゴシック" panose="020B0600070205080204" pitchFamily="34" charset="-128"/>
              </a:rPr>
              <a:t>Consider </a:t>
            </a:r>
            <a:r>
              <a:rPr lang="en-US" altLang="en-US" dirty="0">
                <a:solidFill>
                  <a:srgbClr val="0432FF"/>
                </a:solidFill>
                <a:ea typeface="ＭＳ Ｐゴシック" panose="020B0600070205080204" pitchFamily="34" charset="-128"/>
              </a:rPr>
              <a:t>two input matrices A and B</a:t>
            </a:r>
            <a:r>
              <a:rPr lang="en-US" altLang="en-US" dirty="0">
                <a:ea typeface="ＭＳ Ｐゴシック" panose="020B0600070205080204" pitchFamily="34" charset="-128"/>
              </a:rPr>
              <a:t> in </a:t>
            </a:r>
            <a:r>
              <a:rPr lang="en-US" altLang="en-US" dirty="0">
                <a:solidFill>
                  <a:srgbClr val="FF0000"/>
                </a:solidFill>
                <a:ea typeface="ＭＳ Ｐゴシック" panose="020B0600070205080204" pitchFamily="34" charset="-128"/>
              </a:rPr>
              <a:t>row-major layout</a:t>
            </a:r>
          </a:p>
          <a:p>
            <a:pPr lvl="1"/>
            <a:r>
              <a:rPr lang="en-US" altLang="en-US" dirty="0">
                <a:ea typeface="ＭＳ Ｐゴシック" panose="020B0600070205080204" pitchFamily="34" charset="-128"/>
              </a:rPr>
              <a:t>A size is M x P</a:t>
            </a:r>
          </a:p>
          <a:p>
            <a:pPr lvl="1"/>
            <a:r>
              <a:rPr lang="en-US" altLang="en-US" dirty="0">
                <a:ea typeface="ＭＳ Ｐゴシック" panose="020B0600070205080204" pitchFamily="34" charset="-128"/>
              </a:rPr>
              <a:t>B size is P x N</a:t>
            </a:r>
          </a:p>
          <a:p>
            <a:pPr lvl="1"/>
            <a:r>
              <a:rPr lang="en-US" altLang="en-US" dirty="0">
                <a:ea typeface="ＭＳ Ｐゴシック" panose="020B0600070205080204" pitchFamily="34" charset="-128"/>
              </a:rPr>
              <a:t>C size is M x N</a:t>
            </a:r>
          </a:p>
        </p:txBody>
      </p:sp>
      <p:sp>
        <p:nvSpPr>
          <p:cNvPr id="248835" name="Slide Number Placeholder 3">
            <a:extLst>
              <a:ext uri="{FF2B5EF4-FFF2-40B4-BE49-F238E27FC236}">
                <a16:creationId xmlns:a16="http://schemas.microsoft.com/office/drawing/2014/main" id="{CCE4354E-DC2C-8E49-A078-0EEB05C17BC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77E7AE0-EC71-4D48-959A-8A23F1B03886}"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50</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grpSp>
        <p:nvGrpSpPr>
          <p:cNvPr id="6" name="Group 5">
            <a:extLst>
              <a:ext uri="{FF2B5EF4-FFF2-40B4-BE49-F238E27FC236}">
                <a16:creationId xmlns:a16="http://schemas.microsoft.com/office/drawing/2014/main" id="{04F80419-249D-9549-9B6F-B0C46450232C}"/>
              </a:ext>
            </a:extLst>
          </p:cNvPr>
          <p:cNvGrpSpPr>
            <a:grpSpLocks noChangeAspect="1"/>
          </p:cNvGrpSpPr>
          <p:nvPr/>
        </p:nvGrpSpPr>
        <p:grpSpPr>
          <a:xfrm>
            <a:off x="3691772" y="2004600"/>
            <a:ext cx="4461628" cy="4320000"/>
            <a:chOff x="992187" y="1066801"/>
            <a:chExt cx="5484813" cy="5310703"/>
          </a:xfrm>
        </p:grpSpPr>
        <p:sp>
          <p:nvSpPr>
            <p:cNvPr id="7" name="Shape 104">
              <a:extLst>
                <a:ext uri="{FF2B5EF4-FFF2-40B4-BE49-F238E27FC236}">
                  <a16:creationId xmlns:a16="http://schemas.microsoft.com/office/drawing/2014/main" id="{7DD78102-1781-0349-A9FC-2D6471213884}"/>
                </a:ext>
              </a:extLst>
            </p:cNvPr>
            <p:cNvSpPr txBox="1"/>
            <p:nvPr/>
          </p:nvSpPr>
          <p:spPr>
            <a:xfrm>
              <a:off x="992187" y="3581400"/>
              <a:ext cx="2468563" cy="2468563"/>
            </a:xfrm>
            <a:prstGeom prst="rect">
              <a:avLst/>
            </a:prstGeom>
            <a:solidFill>
              <a:schemeClr val="accent2">
                <a:lumMod val="20000"/>
                <a:lumOff val="80000"/>
              </a:schemeClr>
            </a:solidFill>
            <a:ln w="9525" cap="flat" cmpd="sng">
              <a:solidFill>
                <a:srgbClr val="969696"/>
              </a:solidFill>
              <a:prstDash val="solid"/>
              <a:miter/>
              <a:headEnd type="none" w="med" len="med"/>
              <a:tailEnd type="none" w="med" len="med"/>
            </a:ln>
          </p:spPr>
          <p:txBody>
            <a:bodyPr lIns="91425" tIns="45700" rIns="91425" bIns="45700" anchor="t" anchorCtr="0">
              <a:noAutofit/>
            </a:bodyPr>
            <a:lstStyle/>
            <a:p>
              <a:pPr marL="0" marR="0" lvl="0" indent="0" algn="l" rtl="0">
                <a:spcBef>
                  <a:spcPts val="0"/>
                </a:spcBef>
                <a:buSzPct val="25000"/>
                <a:buNone/>
              </a:pPr>
              <a:r>
                <a:rPr lang="en-US" sz="2000" b="1" dirty="0">
                  <a:latin typeface="Arial"/>
                  <a:ea typeface="Arial"/>
                  <a:cs typeface="Arial"/>
                  <a:sym typeface="Arial"/>
                </a:rPr>
                <a:t>A</a:t>
              </a:r>
            </a:p>
          </p:txBody>
        </p:sp>
        <p:sp>
          <p:nvSpPr>
            <p:cNvPr id="8" name="Shape 105">
              <a:extLst>
                <a:ext uri="{FF2B5EF4-FFF2-40B4-BE49-F238E27FC236}">
                  <a16:creationId xmlns:a16="http://schemas.microsoft.com/office/drawing/2014/main" id="{FDD4F747-0E8B-394F-AC76-9E7A560894A2}"/>
                </a:ext>
              </a:extLst>
            </p:cNvPr>
            <p:cNvSpPr txBox="1"/>
            <p:nvPr/>
          </p:nvSpPr>
          <p:spPr>
            <a:xfrm>
              <a:off x="3505200" y="1066801"/>
              <a:ext cx="2468561" cy="2468563"/>
            </a:xfrm>
            <a:prstGeom prst="rect">
              <a:avLst/>
            </a:prstGeom>
            <a:solidFill>
              <a:schemeClr val="accent2">
                <a:lumMod val="20000"/>
                <a:lumOff val="80000"/>
              </a:schemeClr>
            </a:solidFill>
            <a:ln w="9525" cap="flat" cmpd="sng">
              <a:solidFill>
                <a:srgbClr val="969696"/>
              </a:solidFill>
              <a:prstDash val="solid"/>
              <a:miter/>
              <a:headEnd type="none" w="med" len="med"/>
              <a:tailEnd type="none" w="med" len="med"/>
            </a:ln>
          </p:spPr>
          <p:txBody>
            <a:bodyPr lIns="91425" tIns="45700" rIns="91425" bIns="45700" anchor="t" anchorCtr="0">
              <a:noAutofit/>
            </a:bodyPr>
            <a:lstStyle/>
            <a:p>
              <a:pPr marL="0" marR="0" lvl="0" indent="0" algn="l" rtl="0">
                <a:spcBef>
                  <a:spcPts val="0"/>
                </a:spcBef>
                <a:buSzPct val="25000"/>
                <a:buNone/>
              </a:pPr>
              <a:r>
                <a:rPr lang="en-US" sz="2000" b="1" dirty="0">
                  <a:latin typeface="Arial"/>
                  <a:ea typeface="Arial"/>
                  <a:cs typeface="Arial"/>
                  <a:sym typeface="Arial"/>
                </a:rPr>
                <a:t>B</a:t>
              </a:r>
            </a:p>
          </p:txBody>
        </p:sp>
        <p:sp>
          <p:nvSpPr>
            <p:cNvPr id="9" name="Shape 106">
              <a:extLst>
                <a:ext uri="{FF2B5EF4-FFF2-40B4-BE49-F238E27FC236}">
                  <a16:creationId xmlns:a16="http://schemas.microsoft.com/office/drawing/2014/main" id="{B1055AA5-E84F-9D4C-AE63-DAC426A509D9}"/>
                </a:ext>
              </a:extLst>
            </p:cNvPr>
            <p:cNvSpPr txBox="1"/>
            <p:nvPr/>
          </p:nvSpPr>
          <p:spPr>
            <a:xfrm>
              <a:off x="3505200" y="3581400"/>
              <a:ext cx="2468561" cy="2468563"/>
            </a:xfrm>
            <a:prstGeom prst="rect">
              <a:avLst/>
            </a:prstGeom>
            <a:solidFill>
              <a:schemeClr val="accent2">
                <a:lumMod val="60000"/>
                <a:lumOff val="40000"/>
              </a:schemeClr>
            </a:solidFill>
            <a:ln w="9525" cap="flat" cmpd="sng">
              <a:solidFill>
                <a:srgbClr val="969696"/>
              </a:solidFill>
              <a:prstDash val="solid"/>
              <a:miter/>
              <a:headEnd type="none" w="med" len="med"/>
              <a:tailEnd type="none" w="med" len="med"/>
            </a:ln>
          </p:spPr>
          <p:txBody>
            <a:bodyPr lIns="91425" tIns="45700" rIns="91425" bIns="45700" anchor="t" anchorCtr="0">
              <a:noAutofit/>
            </a:bodyPr>
            <a:lstStyle/>
            <a:p>
              <a:pPr marL="0" marR="0" lvl="0" indent="0" algn="l" rtl="0">
                <a:spcBef>
                  <a:spcPts val="0"/>
                </a:spcBef>
                <a:buSzPct val="25000"/>
                <a:buNone/>
              </a:pPr>
              <a:r>
                <a:rPr lang="en-US" sz="2000" b="1" dirty="0">
                  <a:latin typeface="Arial"/>
                  <a:ea typeface="Arial"/>
                  <a:cs typeface="Arial"/>
                  <a:sym typeface="Arial"/>
                </a:rPr>
                <a:t>C</a:t>
              </a:r>
            </a:p>
          </p:txBody>
        </p:sp>
        <p:sp>
          <p:nvSpPr>
            <p:cNvPr id="10" name="Shape 107">
              <a:extLst>
                <a:ext uri="{FF2B5EF4-FFF2-40B4-BE49-F238E27FC236}">
                  <a16:creationId xmlns:a16="http://schemas.microsoft.com/office/drawing/2014/main" id="{E1656F01-D496-954E-A2B2-545BC3F6D183}"/>
                </a:ext>
              </a:extLst>
            </p:cNvPr>
            <p:cNvSpPr txBox="1"/>
            <p:nvPr/>
          </p:nvSpPr>
          <p:spPr>
            <a:xfrm>
              <a:off x="4864100" y="1073151"/>
              <a:ext cx="45718" cy="2448000"/>
            </a:xfrm>
            <a:prstGeom prst="rect">
              <a:avLst/>
            </a:prstGeom>
            <a:solidFill>
              <a:srgbClr val="FF7E79"/>
            </a:solidFill>
            <a:ln w="9525" cap="flat" cmpd="sng">
              <a:solidFill>
                <a:srgbClr val="969696"/>
              </a:solidFill>
              <a:prstDash val="solid"/>
              <a:miter/>
              <a:headEnd type="none" w="med" len="med"/>
              <a:tailEnd type="none" w="med" len="med"/>
            </a:ln>
          </p:spPr>
          <p:txBody>
            <a:bodyPr lIns="0" tIns="91425" rIns="0" bIns="0" anchor="t" anchorCtr="0">
              <a:noAutofit/>
            </a:bodyPr>
            <a:lstStyle/>
            <a:p>
              <a:pPr marL="0" marR="0" lvl="0" indent="0" algn="l" rtl="0">
                <a:spcBef>
                  <a:spcPts val="0"/>
                </a:spcBef>
                <a:buNone/>
              </a:pPr>
              <a:endParaRPr sz="1800">
                <a:solidFill>
                  <a:schemeClr val="dk1"/>
                </a:solidFill>
                <a:latin typeface="Arial"/>
                <a:ea typeface="Arial"/>
                <a:cs typeface="Arial"/>
                <a:sym typeface="Arial"/>
              </a:endParaRPr>
            </a:p>
          </p:txBody>
        </p:sp>
        <p:cxnSp>
          <p:nvCxnSpPr>
            <p:cNvPr id="11" name="Shape 108">
              <a:extLst>
                <a:ext uri="{FF2B5EF4-FFF2-40B4-BE49-F238E27FC236}">
                  <a16:creationId xmlns:a16="http://schemas.microsoft.com/office/drawing/2014/main" id="{6559B4A9-3DEA-5B47-AA4F-9752315D2B74}"/>
                </a:ext>
              </a:extLst>
            </p:cNvPr>
            <p:cNvCxnSpPr>
              <a:cxnSpLocks/>
              <a:endCxn id="26" idx="3"/>
            </p:cNvCxnSpPr>
            <p:nvPr/>
          </p:nvCxnSpPr>
          <p:spPr>
            <a:xfrm>
              <a:off x="4906962" y="3581400"/>
              <a:ext cx="25399" cy="1322387"/>
            </a:xfrm>
            <a:prstGeom prst="straightConnector1">
              <a:avLst/>
            </a:prstGeom>
            <a:noFill/>
            <a:ln w="9525" cap="flat" cmpd="sng">
              <a:solidFill>
                <a:srgbClr val="969696"/>
              </a:solidFill>
              <a:prstDash val="dash"/>
              <a:round/>
              <a:headEnd type="none" w="med" len="med"/>
              <a:tailEnd type="none" w="med" len="med"/>
            </a:ln>
          </p:spPr>
        </p:cxnSp>
        <p:cxnSp>
          <p:nvCxnSpPr>
            <p:cNvPr id="12" name="Shape 109">
              <a:extLst>
                <a:ext uri="{FF2B5EF4-FFF2-40B4-BE49-F238E27FC236}">
                  <a16:creationId xmlns:a16="http://schemas.microsoft.com/office/drawing/2014/main" id="{F9CC8485-F4EA-CA4E-9828-BA23DD5FCEA1}"/>
                </a:ext>
              </a:extLst>
            </p:cNvPr>
            <p:cNvCxnSpPr>
              <a:cxnSpLocks/>
              <a:endCxn id="26" idx="1"/>
            </p:cNvCxnSpPr>
            <p:nvPr/>
          </p:nvCxnSpPr>
          <p:spPr>
            <a:xfrm>
              <a:off x="4864100" y="3581400"/>
              <a:ext cx="12700" cy="1322387"/>
            </a:xfrm>
            <a:prstGeom prst="straightConnector1">
              <a:avLst/>
            </a:prstGeom>
            <a:noFill/>
            <a:ln w="9525" cap="flat" cmpd="sng">
              <a:solidFill>
                <a:srgbClr val="969696"/>
              </a:solidFill>
              <a:prstDash val="dash"/>
              <a:round/>
              <a:headEnd type="none" w="med" len="med"/>
              <a:tailEnd type="none" w="med" len="med"/>
            </a:ln>
          </p:spPr>
        </p:cxnSp>
        <p:cxnSp>
          <p:nvCxnSpPr>
            <p:cNvPr id="13" name="Shape 110">
              <a:extLst>
                <a:ext uri="{FF2B5EF4-FFF2-40B4-BE49-F238E27FC236}">
                  <a16:creationId xmlns:a16="http://schemas.microsoft.com/office/drawing/2014/main" id="{E9B8FE00-E828-8440-9A27-916E9B46B5F1}"/>
                </a:ext>
              </a:extLst>
            </p:cNvPr>
            <p:cNvCxnSpPr/>
            <p:nvPr/>
          </p:nvCxnSpPr>
          <p:spPr>
            <a:xfrm rot="10800000">
              <a:off x="3526221" y="6176633"/>
              <a:ext cx="2468561" cy="0"/>
            </a:xfrm>
            <a:prstGeom prst="straightConnector1">
              <a:avLst/>
            </a:prstGeom>
            <a:noFill/>
            <a:ln w="9525" cap="flat" cmpd="sng">
              <a:solidFill>
                <a:srgbClr val="000000"/>
              </a:solidFill>
              <a:prstDash val="solid"/>
              <a:round/>
              <a:headEnd type="triangle" w="lg" len="lg"/>
              <a:tailEnd type="triangle" w="lg" len="lg"/>
            </a:ln>
          </p:spPr>
        </p:cxnSp>
        <p:cxnSp>
          <p:nvCxnSpPr>
            <p:cNvPr id="14" name="Shape 115">
              <a:extLst>
                <a:ext uri="{FF2B5EF4-FFF2-40B4-BE49-F238E27FC236}">
                  <a16:creationId xmlns:a16="http://schemas.microsoft.com/office/drawing/2014/main" id="{D801F1E5-D7AC-FA46-8F80-5429A667211A}"/>
                </a:ext>
              </a:extLst>
            </p:cNvPr>
            <p:cNvCxnSpPr/>
            <p:nvPr/>
          </p:nvCxnSpPr>
          <p:spPr>
            <a:xfrm rot="10800000">
              <a:off x="6106725" y="1073151"/>
              <a:ext cx="6349" cy="2392363"/>
            </a:xfrm>
            <a:prstGeom prst="straightConnector1">
              <a:avLst/>
            </a:prstGeom>
            <a:noFill/>
            <a:ln w="9525" cap="flat" cmpd="sng">
              <a:solidFill>
                <a:srgbClr val="000000"/>
              </a:solidFill>
              <a:prstDash val="solid"/>
              <a:round/>
              <a:headEnd type="triangle" w="lg" len="lg"/>
              <a:tailEnd type="triangle" w="lg" len="lg"/>
            </a:ln>
          </p:spPr>
        </p:cxnSp>
        <p:cxnSp>
          <p:nvCxnSpPr>
            <p:cNvPr id="15" name="Shape 116">
              <a:extLst>
                <a:ext uri="{FF2B5EF4-FFF2-40B4-BE49-F238E27FC236}">
                  <a16:creationId xmlns:a16="http://schemas.microsoft.com/office/drawing/2014/main" id="{AB90CDB4-8858-0748-9667-55F2F10463F1}"/>
                </a:ext>
              </a:extLst>
            </p:cNvPr>
            <p:cNvCxnSpPr/>
            <p:nvPr/>
          </p:nvCxnSpPr>
          <p:spPr>
            <a:xfrm rot="10800000">
              <a:off x="6104154" y="3593770"/>
              <a:ext cx="4762" cy="2468563"/>
            </a:xfrm>
            <a:prstGeom prst="straightConnector1">
              <a:avLst/>
            </a:prstGeom>
            <a:noFill/>
            <a:ln w="9525" cap="flat" cmpd="sng">
              <a:solidFill>
                <a:srgbClr val="000000"/>
              </a:solidFill>
              <a:prstDash val="solid"/>
              <a:round/>
              <a:headEnd type="triangle" w="lg" len="lg"/>
              <a:tailEnd type="triangle" w="lg" len="lg"/>
            </a:ln>
          </p:spPr>
        </p:cxnSp>
        <p:cxnSp>
          <p:nvCxnSpPr>
            <p:cNvPr id="16" name="Shape 117">
              <a:extLst>
                <a:ext uri="{FF2B5EF4-FFF2-40B4-BE49-F238E27FC236}">
                  <a16:creationId xmlns:a16="http://schemas.microsoft.com/office/drawing/2014/main" id="{44511172-9CAC-C446-8C24-D133591D6FD3}"/>
                </a:ext>
              </a:extLst>
            </p:cNvPr>
            <p:cNvCxnSpPr/>
            <p:nvPr/>
          </p:nvCxnSpPr>
          <p:spPr>
            <a:xfrm rot="10800000">
              <a:off x="992187" y="6172200"/>
              <a:ext cx="2468563" cy="0"/>
            </a:xfrm>
            <a:prstGeom prst="straightConnector1">
              <a:avLst/>
            </a:prstGeom>
            <a:noFill/>
            <a:ln w="9525" cap="flat" cmpd="sng">
              <a:solidFill>
                <a:srgbClr val="000000"/>
              </a:solidFill>
              <a:prstDash val="solid"/>
              <a:round/>
              <a:headEnd type="triangle" w="lg" len="lg"/>
              <a:tailEnd type="triangle" w="lg" len="lg"/>
            </a:ln>
          </p:spPr>
        </p:cxnSp>
        <p:sp>
          <p:nvSpPr>
            <p:cNvPr id="17" name="Shape 118">
              <a:extLst>
                <a:ext uri="{FF2B5EF4-FFF2-40B4-BE49-F238E27FC236}">
                  <a16:creationId xmlns:a16="http://schemas.microsoft.com/office/drawing/2014/main" id="{F6C8930F-3306-0849-9068-A01A6CB465B7}"/>
                </a:ext>
              </a:extLst>
            </p:cNvPr>
            <p:cNvSpPr txBox="1"/>
            <p:nvPr/>
          </p:nvSpPr>
          <p:spPr>
            <a:xfrm>
              <a:off x="6019800" y="2149476"/>
              <a:ext cx="406399" cy="136524"/>
            </a:xfrm>
            <a:prstGeom prst="rect">
              <a:avLst/>
            </a:prstGeom>
            <a:noFill/>
            <a:ln>
              <a:noFill/>
            </a:ln>
          </p:spPr>
          <p:txBody>
            <a:bodyPr lIns="0" tIns="0" rIns="0" bIns="0" anchor="t" anchorCtr="0">
              <a:noAutofit/>
            </a:bodyPr>
            <a:lstStyle/>
            <a:p>
              <a:pPr marL="0" marR="0" lvl="0" indent="0" algn="ctr" rtl="0">
                <a:spcBef>
                  <a:spcPts val="0"/>
                </a:spcBef>
                <a:buSzPct val="25000"/>
                <a:buNone/>
              </a:pPr>
              <a:r>
                <a:rPr lang="en-US" dirty="0">
                  <a:latin typeface="Courier New" panose="02070309020205020404" pitchFamily="49" charset="0"/>
                  <a:ea typeface="Times New Roman"/>
                  <a:cs typeface="Courier New" panose="02070309020205020404" pitchFamily="49" charset="0"/>
                  <a:sym typeface="Times New Roman"/>
                </a:rPr>
                <a:t>P</a:t>
              </a:r>
            </a:p>
          </p:txBody>
        </p:sp>
        <p:sp>
          <p:nvSpPr>
            <p:cNvPr id="18" name="Shape 119">
              <a:extLst>
                <a:ext uri="{FF2B5EF4-FFF2-40B4-BE49-F238E27FC236}">
                  <a16:creationId xmlns:a16="http://schemas.microsoft.com/office/drawing/2014/main" id="{77523AF1-62F2-754B-BF9D-46D4543177DC}"/>
                </a:ext>
              </a:extLst>
            </p:cNvPr>
            <p:cNvSpPr txBox="1"/>
            <p:nvPr/>
          </p:nvSpPr>
          <p:spPr>
            <a:xfrm>
              <a:off x="6070601" y="4800600"/>
              <a:ext cx="406399" cy="136524"/>
            </a:xfrm>
            <a:prstGeom prst="rect">
              <a:avLst/>
            </a:prstGeom>
            <a:noFill/>
            <a:ln>
              <a:noFill/>
            </a:ln>
          </p:spPr>
          <p:txBody>
            <a:bodyPr lIns="0" tIns="0" rIns="0" bIns="0" anchor="t" anchorCtr="0">
              <a:noAutofit/>
            </a:bodyPr>
            <a:lstStyle/>
            <a:p>
              <a:pPr marL="0" marR="0" lvl="0" indent="0" algn="ctr" rtl="0">
                <a:spcBef>
                  <a:spcPts val="0"/>
                </a:spcBef>
                <a:buSzPct val="25000"/>
                <a:buNone/>
              </a:pPr>
              <a:r>
                <a:rPr lang="en-US" dirty="0">
                  <a:latin typeface="Courier New" panose="02070309020205020404" pitchFamily="49" charset="0"/>
                  <a:ea typeface="Times New Roman"/>
                  <a:cs typeface="Courier New" panose="02070309020205020404" pitchFamily="49" charset="0"/>
                  <a:sym typeface="Times New Roman"/>
                </a:rPr>
                <a:t>M</a:t>
              </a:r>
            </a:p>
          </p:txBody>
        </p:sp>
        <p:sp>
          <p:nvSpPr>
            <p:cNvPr id="19" name="Shape 120">
              <a:extLst>
                <a:ext uri="{FF2B5EF4-FFF2-40B4-BE49-F238E27FC236}">
                  <a16:creationId xmlns:a16="http://schemas.microsoft.com/office/drawing/2014/main" id="{B803603D-8D72-2242-8011-37CF3E470E7D}"/>
                </a:ext>
              </a:extLst>
            </p:cNvPr>
            <p:cNvSpPr txBox="1"/>
            <p:nvPr/>
          </p:nvSpPr>
          <p:spPr>
            <a:xfrm>
              <a:off x="1942838" y="6192838"/>
              <a:ext cx="546624" cy="184666"/>
            </a:xfrm>
            <a:prstGeom prst="rect">
              <a:avLst/>
            </a:prstGeom>
            <a:noFill/>
            <a:ln>
              <a:noFill/>
            </a:ln>
          </p:spPr>
          <p:txBody>
            <a:bodyPr lIns="0" tIns="0" rIns="0" bIns="0" anchor="t" anchorCtr="0">
              <a:noAutofit/>
            </a:bodyPr>
            <a:lstStyle/>
            <a:p>
              <a:pPr marL="0" marR="0" lvl="0" indent="0" algn="ctr" rtl="0">
                <a:spcBef>
                  <a:spcPts val="0"/>
                </a:spcBef>
                <a:buSzPct val="25000"/>
                <a:buNone/>
              </a:pPr>
              <a:r>
                <a:rPr lang="en-US" dirty="0">
                  <a:latin typeface="Courier New" panose="02070309020205020404" pitchFamily="49" charset="0"/>
                  <a:ea typeface="Times New Roman"/>
                  <a:cs typeface="Courier New" panose="02070309020205020404" pitchFamily="49" charset="0"/>
                  <a:sym typeface="Times New Roman"/>
                </a:rPr>
                <a:t>P</a:t>
              </a:r>
            </a:p>
          </p:txBody>
        </p:sp>
        <p:sp>
          <p:nvSpPr>
            <p:cNvPr id="20" name="Shape 121">
              <a:extLst>
                <a:ext uri="{FF2B5EF4-FFF2-40B4-BE49-F238E27FC236}">
                  <a16:creationId xmlns:a16="http://schemas.microsoft.com/office/drawing/2014/main" id="{31FAD670-37D9-4E43-8A82-82E150A43C91}"/>
                </a:ext>
              </a:extLst>
            </p:cNvPr>
            <p:cNvSpPr txBox="1"/>
            <p:nvPr/>
          </p:nvSpPr>
          <p:spPr>
            <a:xfrm>
              <a:off x="4421308" y="6172200"/>
              <a:ext cx="546624" cy="184666"/>
            </a:xfrm>
            <a:prstGeom prst="rect">
              <a:avLst/>
            </a:prstGeom>
            <a:noFill/>
            <a:ln>
              <a:noFill/>
            </a:ln>
          </p:spPr>
          <p:txBody>
            <a:bodyPr lIns="0" tIns="0" rIns="0" bIns="0" anchor="t" anchorCtr="0">
              <a:noAutofit/>
            </a:bodyPr>
            <a:lstStyle/>
            <a:p>
              <a:pPr marL="0" marR="0" lvl="0" indent="0" algn="ctr" rtl="0">
                <a:spcBef>
                  <a:spcPts val="0"/>
                </a:spcBef>
                <a:buSzPct val="25000"/>
                <a:buNone/>
              </a:pPr>
              <a:r>
                <a:rPr lang="en-US" dirty="0">
                  <a:latin typeface="Courier New" panose="02070309020205020404" pitchFamily="49" charset="0"/>
                  <a:ea typeface="Times New Roman"/>
                  <a:cs typeface="Courier New" panose="02070309020205020404" pitchFamily="49" charset="0"/>
                  <a:sym typeface="Times New Roman"/>
                </a:rPr>
                <a:t>N</a:t>
              </a:r>
            </a:p>
          </p:txBody>
        </p:sp>
        <p:sp>
          <p:nvSpPr>
            <p:cNvPr id="21" name="Shape 122">
              <a:extLst>
                <a:ext uri="{FF2B5EF4-FFF2-40B4-BE49-F238E27FC236}">
                  <a16:creationId xmlns:a16="http://schemas.microsoft.com/office/drawing/2014/main" id="{F3AFA727-CBD2-954A-93AA-B52611621237}"/>
                </a:ext>
              </a:extLst>
            </p:cNvPr>
            <p:cNvSpPr txBox="1"/>
            <p:nvPr/>
          </p:nvSpPr>
          <p:spPr>
            <a:xfrm>
              <a:off x="4897437" y="4398963"/>
              <a:ext cx="454024" cy="4572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dirty="0" err="1">
                  <a:latin typeface="Courier New" panose="02070309020205020404" pitchFamily="49" charset="0"/>
                  <a:ea typeface="Palatino"/>
                  <a:cs typeface="Courier New" panose="02070309020205020404" pitchFamily="49" charset="0"/>
                  <a:sym typeface="Palatino"/>
                </a:rPr>
                <a:t>i</a:t>
              </a:r>
              <a:endParaRPr lang="en-US" dirty="0">
                <a:latin typeface="Courier New" panose="02070309020205020404" pitchFamily="49" charset="0"/>
                <a:ea typeface="Palatino"/>
                <a:cs typeface="Courier New" panose="02070309020205020404" pitchFamily="49" charset="0"/>
                <a:sym typeface="Palatino"/>
              </a:endParaRPr>
            </a:p>
          </p:txBody>
        </p:sp>
        <p:sp>
          <p:nvSpPr>
            <p:cNvPr id="22" name="Shape 123">
              <a:extLst>
                <a:ext uri="{FF2B5EF4-FFF2-40B4-BE49-F238E27FC236}">
                  <a16:creationId xmlns:a16="http://schemas.microsoft.com/office/drawing/2014/main" id="{D8BDC32B-E5B6-C74B-A4DD-0C52A5FF0314}"/>
                </a:ext>
              </a:extLst>
            </p:cNvPr>
            <p:cNvSpPr txBox="1"/>
            <p:nvPr/>
          </p:nvSpPr>
          <p:spPr>
            <a:xfrm>
              <a:off x="4366484" y="4902136"/>
              <a:ext cx="441324" cy="4572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dirty="0">
                  <a:latin typeface="Courier New" panose="02070309020205020404" pitchFamily="49" charset="0"/>
                  <a:ea typeface="Palatino"/>
                  <a:cs typeface="Courier New" panose="02070309020205020404" pitchFamily="49" charset="0"/>
                  <a:sym typeface="Palatino"/>
                </a:rPr>
                <a:t>j</a:t>
              </a:r>
            </a:p>
          </p:txBody>
        </p:sp>
        <p:sp>
          <p:nvSpPr>
            <p:cNvPr id="23" name="Shape 124">
              <a:extLst>
                <a:ext uri="{FF2B5EF4-FFF2-40B4-BE49-F238E27FC236}">
                  <a16:creationId xmlns:a16="http://schemas.microsoft.com/office/drawing/2014/main" id="{88AB1FE3-EF75-7B4A-94AC-51634E2F39E8}"/>
                </a:ext>
              </a:extLst>
            </p:cNvPr>
            <p:cNvSpPr txBox="1"/>
            <p:nvPr/>
          </p:nvSpPr>
          <p:spPr>
            <a:xfrm>
              <a:off x="992187" y="4876800"/>
              <a:ext cx="2468563" cy="55562"/>
            </a:xfrm>
            <a:prstGeom prst="rect">
              <a:avLst/>
            </a:prstGeom>
            <a:solidFill>
              <a:srgbClr val="FF7E79"/>
            </a:solidFill>
            <a:ln w="9525" cap="flat" cmpd="sng">
              <a:solidFill>
                <a:srgbClr val="969696"/>
              </a:solidFill>
              <a:prstDash val="solid"/>
              <a:miter/>
              <a:headEnd type="none" w="med" len="med"/>
              <a:tailEnd type="none" w="med" len="med"/>
            </a:ln>
          </p:spPr>
          <p:txBody>
            <a:bodyPr lIns="0" tIns="91425" rIns="0" bIns="0" anchor="t" anchorCtr="0">
              <a:noAutofit/>
            </a:bodyPr>
            <a:lstStyle/>
            <a:p>
              <a:pPr marL="0" marR="0" lvl="0" indent="0" algn="l" rtl="0">
                <a:spcBef>
                  <a:spcPts val="0"/>
                </a:spcBef>
                <a:buNone/>
              </a:pPr>
              <a:endParaRPr sz="1800">
                <a:solidFill>
                  <a:schemeClr val="dk1"/>
                </a:solidFill>
                <a:latin typeface="Arial"/>
                <a:ea typeface="Arial"/>
                <a:cs typeface="Arial"/>
                <a:sym typeface="Arial"/>
              </a:endParaRPr>
            </a:p>
          </p:txBody>
        </p:sp>
        <p:cxnSp>
          <p:nvCxnSpPr>
            <p:cNvPr id="24" name="Shape 125">
              <a:extLst>
                <a:ext uri="{FF2B5EF4-FFF2-40B4-BE49-F238E27FC236}">
                  <a16:creationId xmlns:a16="http://schemas.microsoft.com/office/drawing/2014/main" id="{1FE05AB7-838F-4A45-910E-976873E19EAF}"/>
                </a:ext>
              </a:extLst>
            </p:cNvPr>
            <p:cNvCxnSpPr>
              <a:cxnSpLocks/>
            </p:cNvCxnSpPr>
            <p:nvPr/>
          </p:nvCxnSpPr>
          <p:spPr>
            <a:xfrm flipV="1">
              <a:off x="3516312" y="4921250"/>
              <a:ext cx="1335088" cy="12700"/>
            </a:xfrm>
            <a:prstGeom prst="straightConnector1">
              <a:avLst/>
            </a:prstGeom>
            <a:noFill/>
            <a:ln w="9525" cap="flat" cmpd="sng">
              <a:solidFill>
                <a:srgbClr val="969696"/>
              </a:solidFill>
              <a:prstDash val="dash"/>
              <a:round/>
              <a:headEnd type="none" w="med" len="med"/>
              <a:tailEnd type="none" w="med" len="med"/>
            </a:ln>
          </p:spPr>
        </p:cxnSp>
        <p:cxnSp>
          <p:nvCxnSpPr>
            <p:cNvPr id="25" name="Shape 126">
              <a:extLst>
                <a:ext uri="{FF2B5EF4-FFF2-40B4-BE49-F238E27FC236}">
                  <a16:creationId xmlns:a16="http://schemas.microsoft.com/office/drawing/2014/main" id="{BAF6D766-07C2-1F4E-9834-E2A83BD80C8D}"/>
                </a:ext>
              </a:extLst>
            </p:cNvPr>
            <p:cNvCxnSpPr>
              <a:cxnSpLocks/>
            </p:cNvCxnSpPr>
            <p:nvPr/>
          </p:nvCxnSpPr>
          <p:spPr>
            <a:xfrm>
              <a:off x="3516312" y="4883150"/>
              <a:ext cx="1381125" cy="0"/>
            </a:xfrm>
            <a:prstGeom prst="straightConnector1">
              <a:avLst/>
            </a:prstGeom>
            <a:noFill/>
            <a:ln w="9525" cap="flat" cmpd="sng">
              <a:solidFill>
                <a:srgbClr val="969696"/>
              </a:solidFill>
              <a:prstDash val="dash"/>
              <a:round/>
              <a:headEnd type="none" w="med" len="med"/>
              <a:tailEnd type="none" w="med" len="med"/>
            </a:ln>
          </p:spPr>
        </p:cxnSp>
        <p:sp>
          <p:nvSpPr>
            <p:cNvPr id="26" name="Shape 127">
              <a:extLst>
                <a:ext uri="{FF2B5EF4-FFF2-40B4-BE49-F238E27FC236}">
                  <a16:creationId xmlns:a16="http://schemas.microsoft.com/office/drawing/2014/main" id="{AC8724FF-531F-1447-AE9F-67B8CE3F6C83}"/>
                </a:ext>
              </a:extLst>
            </p:cNvPr>
            <p:cNvSpPr txBox="1"/>
            <p:nvPr/>
          </p:nvSpPr>
          <p:spPr>
            <a:xfrm>
              <a:off x="4876800" y="4876800"/>
              <a:ext cx="55561" cy="53974"/>
            </a:xfrm>
            <a:prstGeom prst="rect">
              <a:avLst/>
            </a:prstGeom>
            <a:solidFill>
              <a:srgbClr val="C00000"/>
            </a:solidFill>
            <a:ln w="19050" cap="flat" cmpd="sng">
              <a:solidFill>
                <a:srgbClr val="C00000"/>
              </a:solidFill>
              <a:prstDash val="solid"/>
              <a:miter/>
              <a:headEnd type="none" w="med" len="med"/>
              <a:tailEnd type="none" w="med" len="med"/>
            </a:ln>
          </p:spPr>
          <p:txBody>
            <a:bodyPr lIns="0" tIns="91425" rIns="0" bIns="0" anchor="t" anchorCtr="0">
              <a:noAutofit/>
            </a:bodyPr>
            <a:lstStyle/>
            <a:p>
              <a:pPr marL="0" marR="0" lvl="0" indent="0" algn="l" rtl="0">
                <a:spcBef>
                  <a:spcPts val="0"/>
                </a:spcBef>
                <a:buNone/>
              </a:pPr>
              <a:endParaRPr sz="1200">
                <a:solidFill>
                  <a:schemeClr val="dk1"/>
                </a:solidFill>
                <a:latin typeface="Times New Roman"/>
                <a:ea typeface="Times New Roman"/>
                <a:cs typeface="Times New Roman"/>
                <a:sym typeface="Times New Roman"/>
              </a:endParaRPr>
            </a:p>
            <a:p>
              <a:pPr marL="0" marR="0" lvl="0" indent="0" algn="l" rtl="0">
                <a:spcBef>
                  <a:spcPts val="0"/>
                </a:spcBef>
                <a:buNone/>
              </a:pPr>
              <a:endParaRPr sz="1200">
                <a:solidFill>
                  <a:schemeClr val="dk1"/>
                </a:solidFill>
                <a:latin typeface="Times New Roman"/>
                <a:ea typeface="Times New Roman"/>
                <a:cs typeface="Times New Roman"/>
                <a:sym typeface="Times New Roman"/>
              </a:endParaRPr>
            </a:p>
            <a:p>
              <a:pPr marL="0" marR="0" lvl="0" indent="0" algn="l" rtl="0">
                <a:spcBef>
                  <a:spcPts val="0"/>
                </a:spcBef>
                <a:buNone/>
              </a:pPr>
              <a:endParaRPr sz="1800">
                <a:solidFill>
                  <a:schemeClr val="dk1"/>
                </a:solidFill>
                <a:latin typeface="Arial"/>
                <a:ea typeface="Arial"/>
                <a:cs typeface="Arial"/>
                <a:sym typeface="Arial"/>
              </a:endParaRPr>
            </a:p>
          </p:txBody>
        </p:sp>
        <p:sp>
          <p:nvSpPr>
            <p:cNvPr id="27" name="Shape 123">
              <a:extLst>
                <a:ext uri="{FF2B5EF4-FFF2-40B4-BE49-F238E27FC236}">
                  <a16:creationId xmlns:a16="http://schemas.microsoft.com/office/drawing/2014/main" id="{DBDD19EA-A1F8-6B4B-90C5-C325B87E428E}"/>
                </a:ext>
              </a:extLst>
            </p:cNvPr>
            <p:cNvSpPr txBox="1"/>
            <p:nvPr/>
          </p:nvSpPr>
          <p:spPr>
            <a:xfrm>
              <a:off x="1942838" y="5033962"/>
              <a:ext cx="441324" cy="4572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dirty="0">
                  <a:latin typeface="Courier New" panose="02070309020205020404" pitchFamily="49" charset="0"/>
                  <a:ea typeface="Palatino"/>
                  <a:cs typeface="Courier New" panose="02070309020205020404" pitchFamily="49" charset="0"/>
                  <a:sym typeface="Palatino"/>
                </a:rPr>
                <a:t>k</a:t>
              </a:r>
            </a:p>
          </p:txBody>
        </p:sp>
        <p:sp>
          <p:nvSpPr>
            <p:cNvPr id="28" name="Shape 123">
              <a:extLst>
                <a:ext uri="{FF2B5EF4-FFF2-40B4-BE49-F238E27FC236}">
                  <a16:creationId xmlns:a16="http://schemas.microsoft.com/office/drawing/2014/main" id="{C44409CE-70D8-AA45-BFD1-A692C4EAB211}"/>
                </a:ext>
              </a:extLst>
            </p:cNvPr>
            <p:cNvSpPr txBox="1"/>
            <p:nvPr/>
          </p:nvSpPr>
          <p:spPr>
            <a:xfrm>
              <a:off x="4341811" y="2097089"/>
              <a:ext cx="441324" cy="4572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dirty="0">
                  <a:latin typeface="Courier New" panose="02070309020205020404" pitchFamily="49" charset="0"/>
                  <a:ea typeface="Palatino"/>
                  <a:cs typeface="Courier New" panose="02070309020205020404" pitchFamily="49" charset="0"/>
                  <a:sym typeface="Palatino"/>
                </a:rPr>
                <a:t>k</a:t>
              </a:r>
            </a:p>
          </p:txBody>
        </p:sp>
        <p:cxnSp>
          <p:nvCxnSpPr>
            <p:cNvPr id="29" name="Shape 117">
              <a:extLst>
                <a:ext uri="{FF2B5EF4-FFF2-40B4-BE49-F238E27FC236}">
                  <a16:creationId xmlns:a16="http://schemas.microsoft.com/office/drawing/2014/main" id="{92249D24-CD1A-3746-9B1B-95D1E7FB9064}"/>
                </a:ext>
              </a:extLst>
            </p:cNvPr>
            <p:cNvCxnSpPr>
              <a:cxnSpLocks/>
            </p:cNvCxnSpPr>
            <p:nvPr/>
          </p:nvCxnSpPr>
          <p:spPr>
            <a:xfrm flipH="1">
              <a:off x="1173694" y="5084762"/>
              <a:ext cx="1979612" cy="0"/>
            </a:xfrm>
            <a:prstGeom prst="straightConnector1">
              <a:avLst/>
            </a:prstGeom>
            <a:noFill/>
            <a:ln w="9525" cap="flat" cmpd="sng">
              <a:solidFill>
                <a:srgbClr val="000000"/>
              </a:solidFill>
              <a:prstDash val="solid"/>
              <a:round/>
              <a:headEnd type="triangle" w="lg" len="lg"/>
              <a:tailEnd type="none" w="lg" len="lg"/>
            </a:ln>
          </p:spPr>
        </p:cxnSp>
        <p:cxnSp>
          <p:nvCxnSpPr>
            <p:cNvPr id="30" name="Shape 115">
              <a:extLst>
                <a:ext uri="{FF2B5EF4-FFF2-40B4-BE49-F238E27FC236}">
                  <a16:creationId xmlns:a16="http://schemas.microsoft.com/office/drawing/2014/main" id="{FF3E5107-C7EF-DB4F-894B-261878AC8CA4}"/>
                </a:ext>
              </a:extLst>
            </p:cNvPr>
            <p:cNvCxnSpPr>
              <a:cxnSpLocks/>
            </p:cNvCxnSpPr>
            <p:nvPr/>
          </p:nvCxnSpPr>
          <p:spPr>
            <a:xfrm flipH="1" flipV="1">
              <a:off x="4694620" y="1440693"/>
              <a:ext cx="1" cy="1712915"/>
            </a:xfrm>
            <a:prstGeom prst="straightConnector1">
              <a:avLst/>
            </a:prstGeom>
            <a:noFill/>
            <a:ln w="9525" cap="flat" cmpd="sng">
              <a:solidFill>
                <a:srgbClr val="000000"/>
              </a:solidFill>
              <a:prstDash val="solid"/>
              <a:round/>
              <a:headEnd type="triangle" w="lg" len="lg"/>
              <a:tailEnd type="none" w="lg" len="lg"/>
            </a:ln>
          </p:spPr>
        </p:cxnSp>
      </p:grpSp>
    </p:spTree>
    <p:extLst>
      <p:ext uri="{BB962C8B-B14F-4D97-AF65-F5344CB8AC3E}">
        <p14:creationId xmlns:p14="http://schemas.microsoft.com/office/powerpoint/2010/main" val="3152307308"/>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3" name="Title 1">
            <a:extLst>
              <a:ext uri="{FF2B5EF4-FFF2-40B4-BE49-F238E27FC236}">
                <a16:creationId xmlns:a16="http://schemas.microsoft.com/office/drawing/2014/main" id="{16B53E08-421B-7A45-8C30-E6FB197D67F0}"/>
              </a:ext>
            </a:extLst>
          </p:cNvPr>
          <p:cNvSpPr>
            <a:spLocks noGrp="1" noChangeArrowheads="1"/>
          </p:cNvSpPr>
          <p:nvPr>
            <p:ph type="title"/>
          </p:nvPr>
        </p:nvSpPr>
        <p:spPr/>
        <p:txBody>
          <a:bodyPr/>
          <a:lstStyle/>
          <a:p>
            <a:r>
              <a:rPr lang="en-US" altLang="en-US" dirty="0">
                <a:ea typeface="ＭＳ Ｐゴシック" panose="020B0600070205080204" pitchFamily="34" charset="-128"/>
              </a:rPr>
              <a:t>CPU: Naïve Matrix Multiplication (II)</a:t>
            </a:r>
          </a:p>
        </p:txBody>
      </p:sp>
      <p:sp>
        <p:nvSpPr>
          <p:cNvPr id="35843" name="Content Placeholder 2">
            <a:extLst>
              <a:ext uri="{FF2B5EF4-FFF2-40B4-BE49-F238E27FC236}">
                <a16:creationId xmlns:a16="http://schemas.microsoft.com/office/drawing/2014/main" id="{7D554ED4-E9EE-AF40-8D7E-E9E980194DC4}"/>
              </a:ext>
            </a:extLst>
          </p:cNvPr>
          <p:cNvSpPr>
            <a:spLocks noGrp="1" noChangeArrowheads="1"/>
          </p:cNvSpPr>
          <p:nvPr>
            <p:ph idx="1"/>
          </p:nvPr>
        </p:nvSpPr>
        <p:spPr>
          <a:xfrm>
            <a:off x="228600" y="914400"/>
            <a:ext cx="8610600" cy="5486400"/>
          </a:xfrm>
        </p:spPr>
        <p:txBody>
          <a:bodyPr/>
          <a:lstStyle/>
          <a:p>
            <a:r>
              <a:rPr lang="en-US" altLang="en-US" dirty="0">
                <a:solidFill>
                  <a:srgbClr val="C00000"/>
                </a:solidFill>
                <a:ea typeface="ＭＳ Ｐゴシック" panose="020B0600070205080204" pitchFamily="34" charset="-128"/>
              </a:rPr>
              <a:t>Naïve implementation </a:t>
            </a:r>
            <a:r>
              <a:rPr lang="en-US" altLang="en-US" dirty="0">
                <a:ea typeface="ＭＳ Ｐゴシック" panose="020B0600070205080204" pitchFamily="34" charset="-128"/>
              </a:rPr>
              <a:t>of matrix multiplication </a:t>
            </a:r>
          </a:p>
          <a:p>
            <a:pPr lvl="1"/>
            <a:r>
              <a:rPr lang="en-US" altLang="zh-CN" dirty="0">
                <a:solidFill>
                  <a:srgbClr val="FF0000"/>
                </a:solidFill>
                <a:ea typeface="ＭＳ Ｐゴシック" panose="020B0600070205080204" pitchFamily="34" charset="-128"/>
              </a:rPr>
              <a:t>P</a:t>
            </a:r>
            <a:r>
              <a:rPr lang="en-US" altLang="en-US" dirty="0">
                <a:solidFill>
                  <a:srgbClr val="FF0000"/>
                </a:solidFill>
                <a:ea typeface="ＭＳ Ｐゴシック" panose="020B0600070205080204" pitchFamily="34" charset="-128"/>
              </a:rPr>
              <a:t>oor </a:t>
            </a:r>
            <a:r>
              <a:rPr lang="en-US" altLang="zh-CN" dirty="0">
                <a:solidFill>
                  <a:srgbClr val="FF0000"/>
                </a:solidFill>
                <a:ea typeface="ＭＳ Ｐゴシック" panose="020B0600070205080204" pitchFamily="34" charset="-128"/>
              </a:rPr>
              <a:t>access</a:t>
            </a:r>
            <a:r>
              <a:rPr lang="en-US" altLang="en-US" dirty="0">
                <a:solidFill>
                  <a:srgbClr val="FF0000"/>
                </a:solidFill>
                <a:ea typeface="ＭＳ Ｐゴシック" panose="020B0600070205080204" pitchFamily="34" charset="-128"/>
              </a:rPr>
              <a:t> locality</a:t>
            </a:r>
          </a:p>
        </p:txBody>
      </p:sp>
      <p:sp>
        <p:nvSpPr>
          <p:cNvPr id="248835" name="Slide Number Placeholder 3">
            <a:extLst>
              <a:ext uri="{FF2B5EF4-FFF2-40B4-BE49-F238E27FC236}">
                <a16:creationId xmlns:a16="http://schemas.microsoft.com/office/drawing/2014/main" id="{CCE4354E-DC2C-8E49-A078-0EEB05C17BC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77E7AE0-EC71-4D48-959A-8A23F1B03886}"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51</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
        <p:nvSpPr>
          <p:cNvPr id="2" name="TextBox 1">
            <a:extLst>
              <a:ext uri="{FF2B5EF4-FFF2-40B4-BE49-F238E27FC236}">
                <a16:creationId xmlns:a16="http://schemas.microsoft.com/office/drawing/2014/main" id="{D8C761A8-1BFB-A243-A6F4-CDBAACB54B37}"/>
              </a:ext>
            </a:extLst>
          </p:cNvPr>
          <p:cNvSpPr txBox="1"/>
          <p:nvPr/>
        </p:nvSpPr>
        <p:spPr>
          <a:xfrm>
            <a:off x="576119" y="1828866"/>
            <a:ext cx="5999532" cy="2462213"/>
          </a:xfrm>
          <a:prstGeom prst="rect">
            <a:avLst/>
          </a:prstGeom>
          <a:solidFill>
            <a:schemeClr val="accent1">
              <a:lumMod val="20000"/>
              <a:lumOff val="80000"/>
            </a:schemeClr>
          </a:solidFill>
          <a:ln>
            <a:solidFill>
              <a:schemeClr val="accent1"/>
            </a:solidFill>
          </a:ln>
        </p:spPr>
        <p:txBody>
          <a:bodyPr wrap="square" rtlCol="0">
            <a:spAutoFit/>
          </a:bodyPr>
          <a:lstStyle/>
          <a:p>
            <a:r>
              <a:rPr lang="en-US" sz="1400" dirty="0">
                <a:solidFill>
                  <a:schemeClr val="bg1">
                    <a:lumMod val="50000"/>
                  </a:schemeClr>
                </a:solidFill>
                <a:latin typeface="Courier New" panose="02070309020205020404" pitchFamily="49" charset="0"/>
                <a:cs typeface="Courier New" panose="02070309020205020404" pitchFamily="49" charset="0"/>
              </a:rPr>
              <a:t>#define A(</a:t>
            </a:r>
            <a:r>
              <a:rPr lang="en-US" sz="1400" dirty="0" err="1">
                <a:solidFill>
                  <a:schemeClr val="bg1">
                    <a:lumMod val="50000"/>
                  </a:schemeClr>
                </a:solidFill>
                <a:latin typeface="Courier New" panose="02070309020205020404" pitchFamily="49" charset="0"/>
                <a:cs typeface="Courier New" panose="02070309020205020404" pitchFamily="49" charset="0"/>
              </a:rPr>
              <a:t>i,j</a:t>
            </a:r>
            <a:r>
              <a:rPr lang="en-US" sz="1400" dirty="0">
                <a:solidFill>
                  <a:schemeClr val="bg1">
                    <a:lumMod val="50000"/>
                  </a:schemeClr>
                </a:solidFill>
                <a:latin typeface="Courier New" panose="02070309020205020404" pitchFamily="49" charset="0"/>
                <a:cs typeface="Courier New" panose="02070309020205020404" pitchFamily="49" charset="0"/>
              </a:rPr>
              <a:t>) </a:t>
            </a:r>
            <a:r>
              <a:rPr lang="en-US" sz="1400" dirty="0" err="1">
                <a:solidFill>
                  <a:schemeClr val="bg1">
                    <a:lumMod val="50000"/>
                  </a:schemeClr>
                </a:solidFill>
                <a:latin typeface="Courier New" panose="02070309020205020404" pitchFamily="49" charset="0"/>
                <a:cs typeface="Courier New" panose="02070309020205020404" pitchFamily="49" charset="0"/>
              </a:rPr>
              <a:t>matrix_A</a:t>
            </a:r>
            <a:r>
              <a:rPr lang="en-US" sz="1400" dirty="0">
                <a:solidFill>
                  <a:schemeClr val="bg1">
                    <a:lumMod val="50000"/>
                  </a:schemeClr>
                </a:solidFill>
                <a:latin typeface="Courier New" panose="02070309020205020404" pitchFamily="49" charset="0"/>
                <a:cs typeface="Courier New" panose="02070309020205020404" pitchFamily="49" charset="0"/>
              </a:rPr>
              <a:t>[</a:t>
            </a:r>
            <a:r>
              <a:rPr lang="en-US" sz="1400" dirty="0" err="1">
                <a:solidFill>
                  <a:schemeClr val="bg1">
                    <a:lumMod val="50000"/>
                  </a:schemeClr>
                </a:solidFill>
                <a:latin typeface="Courier New" panose="02070309020205020404" pitchFamily="49" charset="0"/>
                <a:cs typeface="Courier New" panose="02070309020205020404" pitchFamily="49" charset="0"/>
              </a:rPr>
              <a:t>i</a:t>
            </a:r>
            <a:r>
              <a:rPr lang="en-US" sz="1400" dirty="0">
                <a:solidFill>
                  <a:schemeClr val="bg1">
                    <a:lumMod val="50000"/>
                  </a:schemeClr>
                </a:solidFill>
                <a:latin typeface="Courier New" panose="02070309020205020404" pitchFamily="49" charset="0"/>
                <a:cs typeface="Courier New" panose="02070309020205020404" pitchFamily="49" charset="0"/>
              </a:rPr>
              <a:t> * P + j] </a:t>
            </a:r>
          </a:p>
          <a:p>
            <a:r>
              <a:rPr lang="en-US" sz="1400" dirty="0">
                <a:solidFill>
                  <a:schemeClr val="bg1">
                    <a:lumMod val="50000"/>
                  </a:schemeClr>
                </a:solidFill>
                <a:latin typeface="Courier New" panose="02070309020205020404" pitchFamily="49" charset="0"/>
                <a:cs typeface="Courier New" panose="02070309020205020404" pitchFamily="49" charset="0"/>
              </a:rPr>
              <a:t>#define B(</a:t>
            </a:r>
            <a:r>
              <a:rPr lang="en-US" sz="1400" dirty="0" err="1">
                <a:solidFill>
                  <a:schemeClr val="bg1">
                    <a:lumMod val="50000"/>
                  </a:schemeClr>
                </a:solidFill>
                <a:latin typeface="Courier New" panose="02070309020205020404" pitchFamily="49" charset="0"/>
                <a:cs typeface="Courier New" panose="02070309020205020404" pitchFamily="49" charset="0"/>
              </a:rPr>
              <a:t>i,j</a:t>
            </a:r>
            <a:r>
              <a:rPr lang="en-US" sz="1400" dirty="0">
                <a:solidFill>
                  <a:schemeClr val="bg1">
                    <a:lumMod val="50000"/>
                  </a:schemeClr>
                </a:solidFill>
                <a:latin typeface="Courier New" panose="02070309020205020404" pitchFamily="49" charset="0"/>
                <a:cs typeface="Courier New" panose="02070309020205020404" pitchFamily="49" charset="0"/>
              </a:rPr>
              <a:t>) </a:t>
            </a:r>
            <a:r>
              <a:rPr lang="en-US" sz="1400" dirty="0" err="1">
                <a:solidFill>
                  <a:schemeClr val="bg1">
                    <a:lumMod val="50000"/>
                  </a:schemeClr>
                </a:solidFill>
                <a:latin typeface="Courier New" panose="02070309020205020404" pitchFamily="49" charset="0"/>
                <a:cs typeface="Courier New" panose="02070309020205020404" pitchFamily="49" charset="0"/>
              </a:rPr>
              <a:t>matrix_B</a:t>
            </a:r>
            <a:r>
              <a:rPr lang="en-US" sz="1400" dirty="0">
                <a:solidFill>
                  <a:schemeClr val="bg1">
                    <a:lumMod val="50000"/>
                  </a:schemeClr>
                </a:solidFill>
                <a:latin typeface="Courier New" panose="02070309020205020404" pitchFamily="49" charset="0"/>
                <a:cs typeface="Courier New" panose="02070309020205020404" pitchFamily="49" charset="0"/>
              </a:rPr>
              <a:t>[</a:t>
            </a:r>
            <a:r>
              <a:rPr lang="en-US" sz="1400" dirty="0" err="1">
                <a:solidFill>
                  <a:schemeClr val="bg1">
                    <a:lumMod val="50000"/>
                  </a:schemeClr>
                </a:solidFill>
                <a:latin typeface="Courier New" panose="02070309020205020404" pitchFamily="49" charset="0"/>
                <a:cs typeface="Courier New" panose="02070309020205020404" pitchFamily="49" charset="0"/>
              </a:rPr>
              <a:t>i</a:t>
            </a:r>
            <a:r>
              <a:rPr lang="en-US" sz="1400" dirty="0">
                <a:solidFill>
                  <a:schemeClr val="bg1">
                    <a:lumMod val="50000"/>
                  </a:schemeClr>
                </a:solidFill>
                <a:latin typeface="Courier New" panose="02070309020205020404" pitchFamily="49" charset="0"/>
                <a:cs typeface="Courier New" panose="02070309020205020404" pitchFamily="49" charset="0"/>
              </a:rPr>
              <a:t> * N + j] </a:t>
            </a:r>
          </a:p>
          <a:p>
            <a:r>
              <a:rPr lang="en-US" sz="1400" dirty="0">
                <a:solidFill>
                  <a:schemeClr val="bg1">
                    <a:lumMod val="50000"/>
                  </a:schemeClr>
                </a:solidFill>
                <a:latin typeface="Courier New" panose="02070309020205020404" pitchFamily="49" charset="0"/>
                <a:cs typeface="Courier New" panose="02070309020205020404" pitchFamily="49" charset="0"/>
              </a:rPr>
              <a:t>#define C(</a:t>
            </a:r>
            <a:r>
              <a:rPr lang="en-US" sz="1400" dirty="0" err="1">
                <a:solidFill>
                  <a:schemeClr val="bg1">
                    <a:lumMod val="50000"/>
                  </a:schemeClr>
                </a:solidFill>
                <a:latin typeface="Courier New" panose="02070309020205020404" pitchFamily="49" charset="0"/>
                <a:cs typeface="Courier New" panose="02070309020205020404" pitchFamily="49" charset="0"/>
              </a:rPr>
              <a:t>i,j</a:t>
            </a:r>
            <a:r>
              <a:rPr lang="en-US" sz="1400" dirty="0">
                <a:solidFill>
                  <a:schemeClr val="bg1">
                    <a:lumMod val="50000"/>
                  </a:schemeClr>
                </a:solidFill>
                <a:latin typeface="Courier New" panose="02070309020205020404" pitchFamily="49" charset="0"/>
                <a:cs typeface="Courier New" panose="02070309020205020404" pitchFamily="49" charset="0"/>
              </a:rPr>
              <a:t>) </a:t>
            </a:r>
            <a:r>
              <a:rPr lang="en-US" sz="1400" dirty="0" err="1">
                <a:solidFill>
                  <a:schemeClr val="bg1">
                    <a:lumMod val="50000"/>
                  </a:schemeClr>
                </a:solidFill>
                <a:latin typeface="Courier New" panose="02070309020205020404" pitchFamily="49" charset="0"/>
                <a:cs typeface="Courier New" panose="02070309020205020404" pitchFamily="49" charset="0"/>
              </a:rPr>
              <a:t>matrix_C</a:t>
            </a:r>
            <a:r>
              <a:rPr lang="en-US" sz="1400" dirty="0">
                <a:solidFill>
                  <a:schemeClr val="bg1">
                    <a:lumMod val="50000"/>
                  </a:schemeClr>
                </a:solidFill>
                <a:latin typeface="Courier New" panose="02070309020205020404" pitchFamily="49" charset="0"/>
                <a:cs typeface="Courier New" panose="02070309020205020404" pitchFamily="49" charset="0"/>
              </a:rPr>
              <a:t>[</a:t>
            </a:r>
            <a:r>
              <a:rPr lang="en-US" sz="1400" dirty="0" err="1">
                <a:solidFill>
                  <a:schemeClr val="bg1">
                    <a:lumMod val="50000"/>
                  </a:schemeClr>
                </a:solidFill>
                <a:latin typeface="Courier New" panose="02070309020205020404" pitchFamily="49" charset="0"/>
                <a:cs typeface="Courier New" panose="02070309020205020404" pitchFamily="49" charset="0"/>
              </a:rPr>
              <a:t>i</a:t>
            </a:r>
            <a:r>
              <a:rPr lang="en-US" sz="1400" dirty="0">
                <a:solidFill>
                  <a:schemeClr val="bg1">
                    <a:lumMod val="50000"/>
                  </a:schemeClr>
                </a:solidFill>
                <a:latin typeface="Courier New" panose="02070309020205020404" pitchFamily="49" charset="0"/>
                <a:cs typeface="Courier New" panose="02070309020205020404" pitchFamily="49" charset="0"/>
              </a:rPr>
              <a:t> * N + j]</a:t>
            </a:r>
          </a:p>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for (</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 = 0; </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 &lt; M; </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 </a:t>
            </a:r>
            <a:r>
              <a:rPr lang="en-US" sz="1400" dirty="0">
                <a:solidFill>
                  <a:schemeClr val="bg1">
                    <a:lumMod val="50000"/>
                  </a:schemeClr>
                </a:solidFill>
                <a:latin typeface="Courier New" panose="02070309020205020404" pitchFamily="49" charset="0"/>
                <a:cs typeface="Courier New" panose="02070309020205020404" pitchFamily="49" charset="0"/>
              </a:rPr>
              <a:t>// </a:t>
            </a:r>
            <a:r>
              <a:rPr lang="en-US" sz="1400" dirty="0" err="1">
                <a:solidFill>
                  <a:schemeClr val="bg1">
                    <a:lumMod val="50000"/>
                  </a:schemeClr>
                </a:solidFill>
                <a:latin typeface="Courier New" panose="02070309020205020404" pitchFamily="49" charset="0"/>
                <a:cs typeface="Courier New" panose="02070309020205020404" pitchFamily="49" charset="0"/>
              </a:rPr>
              <a:t>i</a:t>
            </a:r>
            <a:r>
              <a:rPr lang="en-US" sz="1400" dirty="0">
                <a:solidFill>
                  <a:schemeClr val="bg1">
                    <a:lumMod val="50000"/>
                  </a:schemeClr>
                </a:solidFill>
                <a:latin typeface="Courier New" panose="02070309020205020404" pitchFamily="49" charset="0"/>
                <a:cs typeface="Courier New" panose="02070309020205020404" pitchFamily="49" charset="0"/>
              </a:rPr>
              <a:t> = row index</a:t>
            </a:r>
          </a:p>
          <a:p>
            <a:r>
              <a:rPr lang="en-US" sz="1400" dirty="0">
                <a:latin typeface="Courier New" panose="02070309020205020404" pitchFamily="49" charset="0"/>
                <a:cs typeface="Courier New" panose="02070309020205020404" pitchFamily="49" charset="0"/>
              </a:rPr>
              <a:t>    for (j = 0; j &lt; N; </a:t>
            </a:r>
            <a:r>
              <a:rPr lang="en-US" sz="1400" dirty="0" err="1">
                <a:latin typeface="Courier New" panose="02070309020205020404" pitchFamily="49" charset="0"/>
                <a:cs typeface="Courier New" panose="02070309020205020404" pitchFamily="49" charset="0"/>
              </a:rPr>
              <a:t>j++</a:t>
            </a:r>
            <a:r>
              <a:rPr lang="en-US" sz="1400" dirty="0">
                <a:latin typeface="Courier New" panose="02070309020205020404" pitchFamily="49" charset="0"/>
                <a:cs typeface="Courier New" panose="02070309020205020404" pitchFamily="49" charset="0"/>
              </a:rPr>
              <a:t>){ </a:t>
            </a:r>
            <a:r>
              <a:rPr lang="en-US" sz="1400" dirty="0">
                <a:solidFill>
                  <a:schemeClr val="bg1">
                    <a:lumMod val="50000"/>
                  </a:schemeClr>
                </a:solidFill>
                <a:latin typeface="Courier New" panose="02070309020205020404" pitchFamily="49" charset="0"/>
                <a:cs typeface="Courier New" panose="02070309020205020404" pitchFamily="49" charset="0"/>
              </a:rPr>
              <a:t>// j = column index</a:t>
            </a:r>
          </a:p>
          <a:p>
            <a:r>
              <a:rPr lang="en-US" sz="1400" dirty="0">
                <a:latin typeface="Courier New" panose="02070309020205020404" pitchFamily="49" charset="0"/>
                <a:cs typeface="Courier New" panose="02070309020205020404" pitchFamily="49" charset="0"/>
              </a:rPr>
              <a:t>        C(</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 j) = 0; </a:t>
            </a:r>
            <a:r>
              <a:rPr lang="en-US" sz="1400" dirty="0">
                <a:solidFill>
                  <a:schemeClr val="bg1">
                    <a:lumMod val="50000"/>
                  </a:schemeClr>
                </a:solidFill>
                <a:latin typeface="Courier New" panose="02070309020205020404" pitchFamily="49" charset="0"/>
                <a:cs typeface="Courier New" panose="02070309020205020404" pitchFamily="49" charset="0"/>
              </a:rPr>
              <a:t>// Set to zero</a:t>
            </a:r>
          </a:p>
          <a:p>
            <a:r>
              <a:rPr lang="en-US" sz="1400" dirty="0">
                <a:latin typeface="Courier New" panose="02070309020205020404" pitchFamily="49" charset="0"/>
                <a:cs typeface="Courier New" panose="02070309020205020404" pitchFamily="49" charset="0"/>
              </a:rPr>
              <a:t>        for (k = 0; k &lt; P; k++) </a:t>
            </a:r>
            <a:r>
              <a:rPr lang="en-US" sz="1400" dirty="0">
                <a:solidFill>
                  <a:schemeClr val="bg1">
                    <a:lumMod val="50000"/>
                  </a:schemeClr>
                </a:solidFill>
                <a:latin typeface="Courier New" panose="02070309020205020404" pitchFamily="49" charset="0"/>
                <a:cs typeface="Courier New" panose="02070309020205020404" pitchFamily="49" charset="0"/>
              </a:rPr>
              <a:t>// Row x Col</a:t>
            </a:r>
          </a:p>
          <a:p>
            <a:r>
              <a:rPr lang="en-US" sz="1400" dirty="0">
                <a:latin typeface="Courier New" panose="02070309020205020404" pitchFamily="49" charset="0"/>
                <a:cs typeface="Courier New" panose="02070309020205020404" pitchFamily="49" charset="0"/>
              </a:rPr>
              <a:t>            C(</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 j) += A(</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 k) * B(k, j); </a:t>
            </a:r>
          </a:p>
          <a:p>
            <a:r>
              <a:rPr lang="en-US" sz="1400" dirty="0">
                <a:latin typeface="Courier New" panose="02070309020205020404" pitchFamily="49" charset="0"/>
                <a:cs typeface="Courier New" panose="02070309020205020404" pitchFamily="49" charset="0"/>
              </a:rPr>
              <a:t>    } </a:t>
            </a:r>
          </a:p>
          <a:p>
            <a:r>
              <a:rPr lang="en-US" sz="1400" dirty="0">
                <a:latin typeface="Courier New" panose="02070309020205020404" pitchFamily="49" charset="0"/>
                <a:cs typeface="Courier New" panose="02070309020205020404" pitchFamily="49" charset="0"/>
              </a:rPr>
              <a:t>} </a:t>
            </a:r>
          </a:p>
        </p:txBody>
      </p:sp>
      <p:grpSp>
        <p:nvGrpSpPr>
          <p:cNvPr id="6" name="Group 5">
            <a:extLst>
              <a:ext uri="{FF2B5EF4-FFF2-40B4-BE49-F238E27FC236}">
                <a16:creationId xmlns:a16="http://schemas.microsoft.com/office/drawing/2014/main" id="{04F80419-249D-9549-9B6F-B0C46450232C}"/>
              </a:ext>
            </a:extLst>
          </p:cNvPr>
          <p:cNvGrpSpPr>
            <a:grpSpLocks noChangeAspect="1"/>
          </p:cNvGrpSpPr>
          <p:nvPr/>
        </p:nvGrpSpPr>
        <p:grpSpPr>
          <a:xfrm>
            <a:off x="5395495" y="2739586"/>
            <a:ext cx="3718025" cy="3600000"/>
            <a:chOff x="992187" y="1066801"/>
            <a:chExt cx="5484813" cy="5310703"/>
          </a:xfrm>
        </p:grpSpPr>
        <p:sp>
          <p:nvSpPr>
            <p:cNvPr id="7" name="Shape 104">
              <a:extLst>
                <a:ext uri="{FF2B5EF4-FFF2-40B4-BE49-F238E27FC236}">
                  <a16:creationId xmlns:a16="http://schemas.microsoft.com/office/drawing/2014/main" id="{7DD78102-1781-0349-A9FC-2D6471213884}"/>
                </a:ext>
              </a:extLst>
            </p:cNvPr>
            <p:cNvSpPr txBox="1"/>
            <p:nvPr/>
          </p:nvSpPr>
          <p:spPr>
            <a:xfrm>
              <a:off x="992187" y="3581400"/>
              <a:ext cx="2468563" cy="2468563"/>
            </a:xfrm>
            <a:prstGeom prst="rect">
              <a:avLst/>
            </a:prstGeom>
            <a:solidFill>
              <a:schemeClr val="accent2">
                <a:lumMod val="20000"/>
                <a:lumOff val="80000"/>
              </a:schemeClr>
            </a:solidFill>
            <a:ln w="9525" cap="flat" cmpd="sng">
              <a:solidFill>
                <a:srgbClr val="969696"/>
              </a:solidFill>
              <a:prstDash val="solid"/>
              <a:miter/>
              <a:headEnd type="none" w="med" len="med"/>
              <a:tailEnd type="none" w="med" len="med"/>
            </a:ln>
          </p:spPr>
          <p:txBody>
            <a:bodyPr lIns="91425" tIns="45700" rIns="91425" bIns="45700" anchor="t" anchorCtr="0">
              <a:noAutofit/>
            </a:bodyPr>
            <a:lstStyle/>
            <a:p>
              <a:pPr marL="0" marR="0" lvl="0" indent="0" algn="l" rtl="0">
                <a:spcBef>
                  <a:spcPts val="0"/>
                </a:spcBef>
                <a:buSzPct val="25000"/>
                <a:buNone/>
              </a:pPr>
              <a:r>
                <a:rPr lang="en-US" sz="2000" b="1" dirty="0">
                  <a:latin typeface="Arial"/>
                  <a:ea typeface="Arial"/>
                  <a:cs typeface="Arial"/>
                  <a:sym typeface="Arial"/>
                </a:rPr>
                <a:t>A</a:t>
              </a:r>
            </a:p>
          </p:txBody>
        </p:sp>
        <p:sp>
          <p:nvSpPr>
            <p:cNvPr id="8" name="Shape 105">
              <a:extLst>
                <a:ext uri="{FF2B5EF4-FFF2-40B4-BE49-F238E27FC236}">
                  <a16:creationId xmlns:a16="http://schemas.microsoft.com/office/drawing/2014/main" id="{FDD4F747-0E8B-394F-AC76-9E7A560894A2}"/>
                </a:ext>
              </a:extLst>
            </p:cNvPr>
            <p:cNvSpPr txBox="1"/>
            <p:nvPr/>
          </p:nvSpPr>
          <p:spPr>
            <a:xfrm>
              <a:off x="3505200" y="1066801"/>
              <a:ext cx="2468561" cy="2468563"/>
            </a:xfrm>
            <a:prstGeom prst="rect">
              <a:avLst/>
            </a:prstGeom>
            <a:solidFill>
              <a:schemeClr val="accent2">
                <a:lumMod val="20000"/>
                <a:lumOff val="80000"/>
              </a:schemeClr>
            </a:solidFill>
            <a:ln w="9525" cap="flat" cmpd="sng">
              <a:solidFill>
                <a:srgbClr val="969696"/>
              </a:solidFill>
              <a:prstDash val="solid"/>
              <a:miter/>
              <a:headEnd type="none" w="med" len="med"/>
              <a:tailEnd type="none" w="med" len="med"/>
            </a:ln>
          </p:spPr>
          <p:txBody>
            <a:bodyPr lIns="91425" tIns="45700" rIns="91425" bIns="45700" anchor="t" anchorCtr="0">
              <a:noAutofit/>
            </a:bodyPr>
            <a:lstStyle/>
            <a:p>
              <a:pPr marL="0" marR="0" lvl="0" indent="0" algn="l" rtl="0">
                <a:spcBef>
                  <a:spcPts val="0"/>
                </a:spcBef>
                <a:buSzPct val="25000"/>
                <a:buNone/>
              </a:pPr>
              <a:r>
                <a:rPr lang="en-US" sz="2000" b="1" dirty="0">
                  <a:latin typeface="Arial"/>
                  <a:ea typeface="Arial"/>
                  <a:cs typeface="Arial"/>
                  <a:sym typeface="Arial"/>
                </a:rPr>
                <a:t>B</a:t>
              </a:r>
            </a:p>
          </p:txBody>
        </p:sp>
        <p:sp>
          <p:nvSpPr>
            <p:cNvPr id="9" name="Shape 106">
              <a:extLst>
                <a:ext uri="{FF2B5EF4-FFF2-40B4-BE49-F238E27FC236}">
                  <a16:creationId xmlns:a16="http://schemas.microsoft.com/office/drawing/2014/main" id="{B1055AA5-E84F-9D4C-AE63-DAC426A509D9}"/>
                </a:ext>
              </a:extLst>
            </p:cNvPr>
            <p:cNvSpPr txBox="1"/>
            <p:nvPr/>
          </p:nvSpPr>
          <p:spPr>
            <a:xfrm>
              <a:off x="3505200" y="3581400"/>
              <a:ext cx="2468561" cy="2468563"/>
            </a:xfrm>
            <a:prstGeom prst="rect">
              <a:avLst/>
            </a:prstGeom>
            <a:solidFill>
              <a:schemeClr val="accent2">
                <a:lumMod val="60000"/>
                <a:lumOff val="40000"/>
              </a:schemeClr>
            </a:solidFill>
            <a:ln w="9525" cap="flat" cmpd="sng">
              <a:solidFill>
                <a:srgbClr val="969696"/>
              </a:solidFill>
              <a:prstDash val="solid"/>
              <a:miter/>
              <a:headEnd type="none" w="med" len="med"/>
              <a:tailEnd type="none" w="med" len="med"/>
            </a:ln>
          </p:spPr>
          <p:txBody>
            <a:bodyPr lIns="91425" tIns="45700" rIns="91425" bIns="45700" anchor="t" anchorCtr="0">
              <a:noAutofit/>
            </a:bodyPr>
            <a:lstStyle/>
            <a:p>
              <a:pPr marL="0" marR="0" lvl="0" indent="0" algn="l" rtl="0">
                <a:spcBef>
                  <a:spcPts val="0"/>
                </a:spcBef>
                <a:buSzPct val="25000"/>
                <a:buNone/>
              </a:pPr>
              <a:r>
                <a:rPr lang="en-US" sz="2000" b="1" dirty="0">
                  <a:latin typeface="Arial"/>
                  <a:ea typeface="Arial"/>
                  <a:cs typeface="Arial"/>
                  <a:sym typeface="Arial"/>
                </a:rPr>
                <a:t>C</a:t>
              </a:r>
            </a:p>
          </p:txBody>
        </p:sp>
        <p:sp>
          <p:nvSpPr>
            <p:cNvPr id="10" name="Shape 107">
              <a:extLst>
                <a:ext uri="{FF2B5EF4-FFF2-40B4-BE49-F238E27FC236}">
                  <a16:creationId xmlns:a16="http://schemas.microsoft.com/office/drawing/2014/main" id="{E1656F01-D496-954E-A2B2-545BC3F6D183}"/>
                </a:ext>
              </a:extLst>
            </p:cNvPr>
            <p:cNvSpPr txBox="1"/>
            <p:nvPr/>
          </p:nvSpPr>
          <p:spPr>
            <a:xfrm>
              <a:off x="4864100" y="1073151"/>
              <a:ext cx="45718" cy="2448000"/>
            </a:xfrm>
            <a:prstGeom prst="rect">
              <a:avLst/>
            </a:prstGeom>
            <a:solidFill>
              <a:srgbClr val="FF7E79"/>
            </a:solidFill>
            <a:ln w="9525" cap="flat" cmpd="sng">
              <a:solidFill>
                <a:srgbClr val="969696"/>
              </a:solidFill>
              <a:prstDash val="solid"/>
              <a:miter/>
              <a:headEnd type="none" w="med" len="med"/>
              <a:tailEnd type="none" w="med" len="med"/>
            </a:ln>
          </p:spPr>
          <p:txBody>
            <a:bodyPr lIns="0" tIns="91425" rIns="0" bIns="0" anchor="t" anchorCtr="0">
              <a:noAutofit/>
            </a:bodyPr>
            <a:lstStyle/>
            <a:p>
              <a:pPr marL="0" marR="0" lvl="0" indent="0" algn="l" rtl="0">
                <a:spcBef>
                  <a:spcPts val="0"/>
                </a:spcBef>
                <a:buNone/>
              </a:pPr>
              <a:endParaRPr sz="1800">
                <a:solidFill>
                  <a:schemeClr val="dk1"/>
                </a:solidFill>
                <a:latin typeface="Arial"/>
                <a:ea typeface="Arial"/>
                <a:cs typeface="Arial"/>
                <a:sym typeface="Arial"/>
              </a:endParaRPr>
            </a:p>
          </p:txBody>
        </p:sp>
        <p:cxnSp>
          <p:nvCxnSpPr>
            <p:cNvPr id="11" name="Shape 108">
              <a:extLst>
                <a:ext uri="{FF2B5EF4-FFF2-40B4-BE49-F238E27FC236}">
                  <a16:creationId xmlns:a16="http://schemas.microsoft.com/office/drawing/2014/main" id="{6559B4A9-3DEA-5B47-AA4F-9752315D2B74}"/>
                </a:ext>
              </a:extLst>
            </p:cNvPr>
            <p:cNvCxnSpPr>
              <a:cxnSpLocks/>
              <a:endCxn id="26" idx="3"/>
            </p:cNvCxnSpPr>
            <p:nvPr/>
          </p:nvCxnSpPr>
          <p:spPr>
            <a:xfrm>
              <a:off x="4906962" y="3581400"/>
              <a:ext cx="25399" cy="1322387"/>
            </a:xfrm>
            <a:prstGeom prst="straightConnector1">
              <a:avLst/>
            </a:prstGeom>
            <a:noFill/>
            <a:ln w="9525" cap="flat" cmpd="sng">
              <a:solidFill>
                <a:srgbClr val="969696"/>
              </a:solidFill>
              <a:prstDash val="dash"/>
              <a:round/>
              <a:headEnd type="none" w="med" len="med"/>
              <a:tailEnd type="none" w="med" len="med"/>
            </a:ln>
          </p:spPr>
        </p:cxnSp>
        <p:cxnSp>
          <p:nvCxnSpPr>
            <p:cNvPr id="12" name="Shape 109">
              <a:extLst>
                <a:ext uri="{FF2B5EF4-FFF2-40B4-BE49-F238E27FC236}">
                  <a16:creationId xmlns:a16="http://schemas.microsoft.com/office/drawing/2014/main" id="{F9CC8485-F4EA-CA4E-9828-BA23DD5FCEA1}"/>
                </a:ext>
              </a:extLst>
            </p:cNvPr>
            <p:cNvCxnSpPr>
              <a:cxnSpLocks/>
              <a:endCxn id="26" idx="1"/>
            </p:cNvCxnSpPr>
            <p:nvPr/>
          </p:nvCxnSpPr>
          <p:spPr>
            <a:xfrm>
              <a:off x="4864100" y="3581400"/>
              <a:ext cx="12700" cy="1322387"/>
            </a:xfrm>
            <a:prstGeom prst="straightConnector1">
              <a:avLst/>
            </a:prstGeom>
            <a:noFill/>
            <a:ln w="9525" cap="flat" cmpd="sng">
              <a:solidFill>
                <a:srgbClr val="969696"/>
              </a:solidFill>
              <a:prstDash val="dash"/>
              <a:round/>
              <a:headEnd type="none" w="med" len="med"/>
              <a:tailEnd type="none" w="med" len="med"/>
            </a:ln>
          </p:spPr>
        </p:cxnSp>
        <p:cxnSp>
          <p:nvCxnSpPr>
            <p:cNvPr id="13" name="Shape 110">
              <a:extLst>
                <a:ext uri="{FF2B5EF4-FFF2-40B4-BE49-F238E27FC236}">
                  <a16:creationId xmlns:a16="http://schemas.microsoft.com/office/drawing/2014/main" id="{E9B8FE00-E828-8440-9A27-916E9B46B5F1}"/>
                </a:ext>
              </a:extLst>
            </p:cNvPr>
            <p:cNvCxnSpPr/>
            <p:nvPr/>
          </p:nvCxnSpPr>
          <p:spPr>
            <a:xfrm rot="10800000">
              <a:off x="3526221" y="6176633"/>
              <a:ext cx="2468561" cy="0"/>
            </a:xfrm>
            <a:prstGeom prst="straightConnector1">
              <a:avLst/>
            </a:prstGeom>
            <a:noFill/>
            <a:ln w="9525" cap="flat" cmpd="sng">
              <a:solidFill>
                <a:srgbClr val="000000"/>
              </a:solidFill>
              <a:prstDash val="solid"/>
              <a:round/>
              <a:headEnd type="triangle" w="lg" len="lg"/>
              <a:tailEnd type="triangle" w="lg" len="lg"/>
            </a:ln>
          </p:spPr>
        </p:cxnSp>
        <p:cxnSp>
          <p:nvCxnSpPr>
            <p:cNvPr id="14" name="Shape 115">
              <a:extLst>
                <a:ext uri="{FF2B5EF4-FFF2-40B4-BE49-F238E27FC236}">
                  <a16:creationId xmlns:a16="http://schemas.microsoft.com/office/drawing/2014/main" id="{D801F1E5-D7AC-FA46-8F80-5429A667211A}"/>
                </a:ext>
              </a:extLst>
            </p:cNvPr>
            <p:cNvCxnSpPr/>
            <p:nvPr/>
          </p:nvCxnSpPr>
          <p:spPr>
            <a:xfrm rot="10800000">
              <a:off x="6106725" y="1073151"/>
              <a:ext cx="6349" cy="2392363"/>
            </a:xfrm>
            <a:prstGeom prst="straightConnector1">
              <a:avLst/>
            </a:prstGeom>
            <a:noFill/>
            <a:ln w="9525" cap="flat" cmpd="sng">
              <a:solidFill>
                <a:srgbClr val="000000"/>
              </a:solidFill>
              <a:prstDash val="solid"/>
              <a:round/>
              <a:headEnd type="triangle" w="lg" len="lg"/>
              <a:tailEnd type="triangle" w="lg" len="lg"/>
            </a:ln>
          </p:spPr>
        </p:cxnSp>
        <p:cxnSp>
          <p:nvCxnSpPr>
            <p:cNvPr id="15" name="Shape 116">
              <a:extLst>
                <a:ext uri="{FF2B5EF4-FFF2-40B4-BE49-F238E27FC236}">
                  <a16:creationId xmlns:a16="http://schemas.microsoft.com/office/drawing/2014/main" id="{AB90CDB4-8858-0748-9667-55F2F10463F1}"/>
                </a:ext>
              </a:extLst>
            </p:cNvPr>
            <p:cNvCxnSpPr/>
            <p:nvPr/>
          </p:nvCxnSpPr>
          <p:spPr>
            <a:xfrm rot="10800000">
              <a:off x="6104154" y="3593770"/>
              <a:ext cx="4762" cy="2468563"/>
            </a:xfrm>
            <a:prstGeom prst="straightConnector1">
              <a:avLst/>
            </a:prstGeom>
            <a:noFill/>
            <a:ln w="9525" cap="flat" cmpd="sng">
              <a:solidFill>
                <a:srgbClr val="000000"/>
              </a:solidFill>
              <a:prstDash val="solid"/>
              <a:round/>
              <a:headEnd type="triangle" w="lg" len="lg"/>
              <a:tailEnd type="triangle" w="lg" len="lg"/>
            </a:ln>
          </p:spPr>
        </p:cxnSp>
        <p:cxnSp>
          <p:nvCxnSpPr>
            <p:cNvPr id="16" name="Shape 117">
              <a:extLst>
                <a:ext uri="{FF2B5EF4-FFF2-40B4-BE49-F238E27FC236}">
                  <a16:creationId xmlns:a16="http://schemas.microsoft.com/office/drawing/2014/main" id="{44511172-9CAC-C446-8C24-D133591D6FD3}"/>
                </a:ext>
              </a:extLst>
            </p:cNvPr>
            <p:cNvCxnSpPr/>
            <p:nvPr/>
          </p:nvCxnSpPr>
          <p:spPr>
            <a:xfrm rot="10800000">
              <a:off x="992187" y="6172200"/>
              <a:ext cx="2468563" cy="0"/>
            </a:xfrm>
            <a:prstGeom prst="straightConnector1">
              <a:avLst/>
            </a:prstGeom>
            <a:noFill/>
            <a:ln w="9525" cap="flat" cmpd="sng">
              <a:solidFill>
                <a:srgbClr val="000000"/>
              </a:solidFill>
              <a:prstDash val="solid"/>
              <a:round/>
              <a:headEnd type="triangle" w="lg" len="lg"/>
              <a:tailEnd type="triangle" w="lg" len="lg"/>
            </a:ln>
          </p:spPr>
        </p:cxnSp>
        <p:sp>
          <p:nvSpPr>
            <p:cNvPr id="17" name="Shape 118">
              <a:extLst>
                <a:ext uri="{FF2B5EF4-FFF2-40B4-BE49-F238E27FC236}">
                  <a16:creationId xmlns:a16="http://schemas.microsoft.com/office/drawing/2014/main" id="{F6C8930F-3306-0849-9068-A01A6CB465B7}"/>
                </a:ext>
              </a:extLst>
            </p:cNvPr>
            <p:cNvSpPr txBox="1"/>
            <p:nvPr/>
          </p:nvSpPr>
          <p:spPr>
            <a:xfrm>
              <a:off x="6019800" y="2149476"/>
              <a:ext cx="406399" cy="136524"/>
            </a:xfrm>
            <a:prstGeom prst="rect">
              <a:avLst/>
            </a:prstGeom>
            <a:noFill/>
            <a:ln>
              <a:noFill/>
            </a:ln>
          </p:spPr>
          <p:txBody>
            <a:bodyPr lIns="0" tIns="0" rIns="0" bIns="0" anchor="t" anchorCtr="0">
              <a:noAutofit/>
            </a:bodyPr>
            <a:lstStyle/>
            <a:p>
              <a:pPr marL="0" marR="0" lvl="0" indent="0" algn="ctr" rtl="0">
                <a:spcBef>
                  <a:spcPts val="0"/>
                </a:spcBef>
                <a:buSzPct val="25000"/>
                <a:buNone/>
              </a:pPr>
              <a:r>
                <a:rPr lang="en-US" dirty="0">
                  <a:latin typeface="Courier New" panose="02070309020205020404" pitchFamily="49" charset="0"/>
                  <a:ea typeface="Times New Roman"/>
                  <a:cs typeface="Courier New" panose="02070309020205020404" pitchFamily="49" charset="0"/>
                  <a:sym typeface="Times New Roman"/>
                </a:rPr>
                <a:t>P</a:t>
              </a:r>
            </a:p>
          </p:txBody>
        </p:sp>
        <p:sp>
          <p:nvSpPr>
            <p:cNvPr id="18" name="Shape 119">
              <a:extLst>
                <a:ext uri="{FF2B5EF4-FFF2-40B4-BE49-F238E27FC236}">
                  <a16:creationId xmlns:a16="http://schemas.microsoft.com/office/drawing/2014/main" id="{77523AF1-62F2-754B-BF9D-46D4543177DC}"/>
                </a:ext>
              </a:extLst>
            </p:cNvPr>
            <p:cNvSpPr txBox="1"/>
            <p:nvPr/>
          </p:nvSpPr>
          <p:spPr>
            <a:xfrm>
              <a:off x="6070601" y="4800600"/>
              <a:ext cx="406399" cy="136524"/>
            </a:xfrm>
            <a:prstGeom prst="rect">
              <a:avLst/>
            </a:prstGeom>
            <a:noFill/>
            <a:ln>
              <a:noFill/>
            </a:ln>
          </p:spPr>
          <p:txBody>
            <a:bodyPr lIns="0" tIns="0" rIns="0" bIns="0" anchor="t" anchorCtr="0">
              <a:noAutofit/>
            </a:bodyPr>
            <a:lstStyle/>
            <a:p>
              <a:pPr marL="0" marR="0" lvl="0" indent="0" algn="ctr" rtl="0">
                <a:spcBef>
                  <a:spcPts val="0"/>
                </a:spcBef>
                <a:buSzPct val="25000"/>
                <a:buNone/>
              </a:pPr>
              <a:r>
                <a:rPr lang="en-US" dirty="0">
                  <a:latin typeface="Courier New" panose="02070309020205020404" pitchFamily="49" charset="0"/>
                  <a:ea typeface="Times New Roman"/>
                  <a:cs typeface="Courier New" panose="02070309020205020404" pitchFamily="49" charset="0"/>
                  <a:sym typeface="Times New Roman"/>
                </a:rPr>
                <a:t>M</a:t>
              </a:r>
            </a:p>
          </p:txBody>
        </p:sp>
        <p:sp>
          <p:nvSpPr>
            <p:cNvPr id="19" name="Shape 120">
              <a:extLst>
                <a:ext uri="{FF2B5EF4-FFF2-40B4-BE49-F238E27FC236}">
                  <a16:creationId xmlns:a16="http://schemas.microsoft.com/office/drawing/2014/main" id="{B803603D-8D72-2242-8011-37CF3E470E7D}"/>
                </a:ext>
              </a:extLst>
            </p:cNvPr>
            <p:cNvSpPr txBox="1"/>
            <p:nvPr/>
          </p:nvSpPr>
          <p:spPr>
            <a:xfrm>
              <a:off x="1942838" y="6192838"/>
              <a:ext cx="546624" cy="184666"/>
            </a:xfrm>
            <a:prstGeom prst="rect">
              <a:avLst/>
            </a:prstGeom>
            <a:noFill/>
            <a:ln>
              <a:noFill/>
            </a:ln>
          </p:spPr>
          <p:txBody>
            <a:bodyPr lIns="0" tIns="0" rIns="0" bIns="0" anchor="t" anchorCtr="0">
              <a:noAutofit/>
            </a:bodyPr>
            <a:lstStyle/>
            <a:p>
              <a:pPr marL="0" marR="0" lvl="0" indent="0" algn="ctr" rtl="0">
                <a:spcBef>
                  <a:spcPts val="0"/>
                </a:spcBef>
                <a:buSzPct val="25000"/>
                <a:buNone/>
              </a:pPr>
              <a:r>
                <a:rPr lang="en-US" dirty="0">
                  <a:latin typeface="Courier New" panose="02070309020205020404" pitchFamily="49" charset="0"/>
                  <a:ea typeface="Times New Roman"/>
                  <a:cs typeface="Courier New" panose="02070309020205020404" pitchFamily="49" charset="0"/>
                  <a:sym typeface="Times New Roman"/>
                </a:rPr>
                <a:t>P</a:t>
              </a:r>
            </a:p>
          </p:txBody>
        </p:sp>
        <p:sp>
          <p:nvSpPr>
            <p:cNvPr id="20" name="Shape 121">
              <a:extLst>
                <a:ext uri="{FF2B5EF4-FFF2-40B4-BE49-F238E27FC236}">
                  <a16:creationId xmlns:a16="http://schemas.microsoft.com/office/drawing/2014/main" id="{31FAD670-37D9-4E43-8A82-82E150A43C91}"/>
                </a:ext>
              </a:extLst>
            </p:cNvPr>
            <p:cNvSpPr txBox="1"/>
            <p:nvPr/>
          </p:nvSpPr>
          <p:spPr>
            <a:xfrm>
              <a:off x="4421308" y="6172200"/>
              <a:ext cx="546624" cy="184666"/>
            </a:xfrm>
            <a:prstGeom prst="rect">
              <a:avLst/>
            </a:prstGeom>
            <a:noFill/>
            <a:ln>
              <a:noFill/>
            </a:ln>
          </p:spPr>
          <p:txBody>
            <a:bodyPr lIns="0" tIns="0" rIns="0" bIns="0" anchor="t" anchorCtr="0">
              <a:noAutofit/>
            </a:bodyPr>
            <a:lstStyle/>
            <a:p>
              <a:pPr marL="0" marR="0" lvl="0" indent="0" algn="ctr" rtl="0">
                <a:spcBef>
                  <a:spcPts val="0"/>
                </a:spcBef>
                <a:buSzPct val="25000"/>
                <a:buNone/>
              </a:pPr>
              <a:r>
                <a:rPr lang="en-US" dirty="0">
                  <a:latin typeface="Courier New" panose="02070309020205020404" pitchFamily="49" charset="0"/>
                  <a:ea typeface="Times New Roman"/>
                  <a:cs typeface="Courier New" panose="02070309020205020404" pitchFamily="49" charset="0"/>
                  <a:sym typeface="Times New Roman"/>
                </a:rPr>
                <a:t>N</a:t>
              </a:r>
            </a:p>
          </p:txBody>
        </p:sp>
        <p:sp>
          <p:nvSpPr>
            <p:cNvPr id="21" name="Shape 122">
              <a:extLst>
                <a:ext uri="{FF2B5EF4-FFF2-40B4-BE49-F238E27FC236}">
                  <a16:creationId xmlns:a16="http://schemas.microsoft.com/office/drawing/2014/main" id="{F3AFA727-CBD2-954A-93AA-B52611621237}"/>
                </a:ext>
              </a:extLst>
            </p:cNvPr>
            <p:cNvSpPr txBox="1"/>
            <p:nvPr/>
          </p:nvSpPr>
          <p:spPr>
            <a:xfrm>
              <a:off x="4897437" y="4398963"/>
              <a:ext cx="454024" cy="4572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dirty="0" err="1">
                  <a:latin typeface="Courier New" panose="02070309020205020404" pitchFamily="49" charset="0"/>
                  <a:ea typeface="Palatino"/>
                  <a:cs typeface="Courier New" panose="02070309020205020404" pitchFamily="49" charset="0"/>
                  <a:sym typeface="Palatino"/>
                </a:rPr>
                <a:t>i</a:t>
              </a:r>
              <a:endParaRPr lang="en-US" dirty="0">
                <a:latin typeface="Courier New" panose="02070309020205020404" pitchFamily="49" charset="0"/>
                <a:ea typeface="Palatino"/>
                <a:cs typeface="Courier New" panose="02070309020205020404" pitchFamily="49" charset="0"/>
                <a:sym typeface="Palatino"/>
              </a:endParaRPr>
            </a:p>
          </p:txBody>
        </p:sp>
        <p:sp>
          <p:nvSpPr>
            <p:cNvPr id="22" name="Shape 123">
              <a:extLst>
                <a:ext uri="{FF2B5EF4-FFF2-40B4-BE49-F238E27FC236}">
                  <a16:creationId xmlns:a16="http://schemas.microsoft.com/office/drawing/2014/main" id="{D8BDC32B-E5B6-C74B-A4DD-0C52A5FF0314}"/>
                </a:ext>
              </a:extLst>
            </p:cNvPr>
            <p:cNvSpPr txBox="1"/>
            <p:nvPr/>
          </p:nvSpPr>
          <p:spPr>
            <a:xfrm>
              <a:off x="4366484" y="4902136"/>
              <a:ext cx="441324" cy="4572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dirty="0">
                  <a:latin typeface="Courier New" panose="02070309020205020404" pitchFamily="49" charset="0"/>
                  <a:ea typeface="Palatino"/>
                  <a:cs typeface="Courier New" panose="02070309020205020404" pitchFamily="49" charset="0"/>
                  <a:sym typeface="Palatino"/>
                </a:rPr>
                <a:t>j</a:t>
              </a:r>
            </a:p>
          </p:txBody>
        </p:sp>
        <p:sp>
          <p:nvSpPr>
            <p:cNvPr id="23" name="Shape 124">
              <a:extLst>
                <a:ext uri="{FF2B5EF4-FFF2-40B4-BE49-F238E27FC236}">
                  <a16:creationId xmlns:a16="http://schemas.microsoft.com/office/drawing/2014/main" id="{88AB1FE3-EF75-7B4A-94AC-51634E2F39E8}"/>
                </a:ext>
              </a:extLst>
            </p:cNvPr>
            <p:cNvSpPr txBox="1"/>
            <p:nvPr/>
          </p:nvSpPr>
          <p:spPr>
            <a:xfrm>
              <a:off x="992187" y="4876800"/>
              <a:ext cx="2468563" cy="55562"/>
            </a:xfrm>
            <a:prstGeom prst="rect">
              <a:avLst/>
            </a:prstGeom>
            <a:solidFill>
              <a:srgbClr val="FF7E79"/>
            </a:solidFill>
            <a:ln w="9525" cap="flat" cmpd="sng">
              <a:solidFill>
                <a:srgbClr val="969696"/>
              </a:solidFill>
              <a:prstDash val="solid"/>
              <a:miter/>
              <a:headEnd type="none" w="med" len="med"/>
              <a:tailEnd type="none" w="med" len="med"/>
            </a:ln>
          </p:spPr>
          <p:txBody>
            <a:bodyPr lIns="0" tIns="91425" rIns="0" bIns="0" anchor="t" anchorCtr="0">
              <a:noAutofit/>
            </a:bodyPr>
            <a:lstStyle/>
            <a:p>
              <a:pPr marL="0" marR="0" lvl="0" indent="0" algn="l" rtl="0">
                <a:spcBef>
                  <a:spcPts val="0"/>
                </a:spcBef>
                <a:buNone/>
              </a:pPr>
              <a:endParaRPr sz="1800">
                <a:solidFill>
                  <a:schemeClr val="dk1"/>
                </a:solidFill>
                <a:latin typeface="Arial"/>
                <a:ea typeface="Arial"/>
                <a:cs typeface="Arial"/>
                <a:sym typeface="Arial"/>
              </a:endParaRPr>
            </a:p>
          </p:txBody>
        </p:sp>
        <p:cxnSp>
          <p:nvCxnSpPr>
            <p:cNvPr id="24" name="Shape 125">
              <a:extLst>
                <a:ext uri="{FF2B5EF4-FFF2-40B4-BE49-F238E27FC236}">
                  <a16:creationId xmlns:a16="http://schemas.microsoft.com/office/drawing/2014/main" id="{1FE05AB7-838F-4A45-910E-976873E19EAF}"/>
                </a:ext>
              </a:extLst>
            </p:cNvPr>
            <p:cNvCxnSpPr>
              <a:cxnSpLocks/>
            </p:cNvCxnSpPr>
            <p:nvPr/>
          </p:nvCxnSpPr>
          <p:spPr>
            <a:xfrm flipV="1">
              <a:off x="3516312" y="4921250"/>
              <a:ext cx="1335088" cy="12700"/>
            </a:xfrm>
            <a:prstGeom prst="straightConnector1">
              <a:avLst/>
            </a:prstGeom>
            <a:noFill/>
            <a:ln w="9525" cap="flat" cmpd="sng">
              <a:solidFill>
                <a:srgbClr val="969696"/>
              </a:solidFill>
              <a:prstDash val="dash"/>
              <a:round/>
              <a:headEnd type="none" w="med" len="med"/>
              <a:tailEnd type="none" w="med" len="med"/>
            </a:ln>
          </p:spPr>
        </p:cxnSp>
        <p:cxnSp>
          <p:nvCxnSpPr>
            <p:cNvPr id="25" name="Shape 126">
              <a:extLst>
                <a:ext uri="{FF2B5EF4-FFF2-40B4-BE49-F238E27FC236}">
                  <a16:creationId xmlns:a16="http://schemas.microsoft.com/office/drawing/2014/main" id="{BAF6D766-07C2-1F4E-9834-E2A83BD80C8D}"/>
                </a:ext>
              </a:extLst>
            </p:cNvPr>
            <p:cNvCxnSpPr>
              <a:cxnSpLocks/>
            </p:cNvCxnSpPr>
            <p:nvPr/>
          </p:nvCxnSpPr>
          <p:spPr>
            <a:xfrm>
              <a:off x="3516312" y="4883150"/>
              <a:ext cx="1381125" cy="0"/>
            </a:xfrm>
            <a:prstGeom prst="straightConnector1">
              <a:avLst/>
            </a:prstGeom>
            <a:noFill/>
            <a:ln w="9525" cap="flat" cmpd="sng">
              <a:solidFill>
                <a:srgbClr val="969696"/>
              </a:solidFill>
              <a:prstDash val="dash"/>
              <a:round/>
              <a:headEnd type="none" w="med" len="med"/>
              <a:tailEnd type="none" w="med" len="med"/>
            </a:ln>
          </p:spPr>
        </p:cxnSp>
        <p:sp>
          <p:nvSpPr>
            <p:cNvPr id="26" name="Shape 127">
              <a:extLst>
                <a:ext uri="{FF2B5EF4-FFF2-40B4-BE49-F238E27FC236}">
                  <a16:creationId xmlns:a16="http://schemas.microsoft.com/office/drawing/2014/main" id="{AC8724FF-531F-1447-AE9F-67B8CE3F6C83}"/>
                </a:ext>
              </a:extLst>
            </p:cNvPr>
            <p:cNvSpPr txBox="1"/>
            <p:nvPr/>
          </p:nvSpPr>
          <p:spPr>
            <a:xfrm>
              <a:off x="4876800" y="4876800"/>
              <a:ext cx="55561" cy="53974"/>
            </a:xfrm>
            <a:prstGeom prst="rect">
              <a:avLst/>
            </a:prstGeom>
            <a:solidFill>
              <a:srgbClr val="C00000"/>
            </a:solidFill>
            <a:ln w="19050" cap="flat" cmpd="sng">
              <a:solidFill>
                <a:srgbClr val="C00000"/>
              </a:solidFill>
              <a:prstDash val="solid"/>
              <a:miter/>
              <a:headEnd type="none" w="med" len="med"/>
              <a:tailEnd type="none" w="med" len="med"/>
            </a:ln>
          </p:spPr>
          <p:txBody>
            <a:bodyPr lIns="0" tIns="91425" rIns="0" bIns="0" anchor="t" anchorCtr="0">
              <a:noAutofit/>
            </a:bodyPr>
            <a:lstStyle/>
            <a:p>
              <a:pPr marL="0" marR="0" lvl="0" indent="0" algn="l" rtl="0">
                <a:spcBef>
                  <a:spcPts val="0"/>
                </a:spcBef>
                <a:buNone/>
              </a:pPr>
              <a:endParaRPr sz="1200">
                <a:solidFill>
                  <a:schemeClr val="dk1"/>
                </a:solidFill>
                <a:latin typeface="Times New Roman"/>
                <a:ea typeface="Times New Roman"/>
                <a:cs typeface="Times New Roman"/>
                <a:sym typeface="Times New Roman"/>
              </a:endParaRPr>
            </a:p>
            <a:p>
              <a:pPr marL="0" marR="0" lvl="0" indent="0" algn="l" rtl="0">
                <a:spcBef>
                  <a:spcPts val="0"/>
                </a:spcBef>
                <a:buNone/>
              </a:pPr>
              <a:endParaRPr sz="1200">
                <a:solidFill>
                  <a:schemeClr val="dk1"/>
                </a:solidFill>
                <a:latin typeface="Times New Roman"/>
                <a:ea typeface="Times New Roman"/>
                <a:cs typeface="Times New Roman"/>
                <a:sym typeface="Times New Roman"/>
              </a:endParaRPr>
            </a:p>
            <a:p>
              <a:pPr marL="0" marR="0" lvl="0" indent="0" algn="l" rtl="0">
                <a:spcBef>
                  <a:spcPts val="0"/>
                </a:spcBef>
                <a:buNone/>
              </a:pPr>
              <a:endParaRPr sz="1800">
                <a:solidFill>
                  <a:schemeClr val="dk1"/>
                </a:solidFill>
                <a:latin typeface="Arial"/>
                <a:ea typeface="Arial"/>
                <a:cs typeface="Arial"/>
                <a:sym typeface="Arial"/>
              </a:endParaRPr>
            </a:p>
          </p:txBody>
        </p:sp>
        <p:sp>
          <p:nvSpPr>
            <p:cNvPr id="27" name="Shape 123">
              <a:extLst>
                <a:ext uri="{FF2B5EF4-FFF2-40B4-BE49-F238E27FC236}">
                  <a16:creationId xmlns:a16="http://schemas.microsoft.com/office/drawing/2014/main" id="{DBDD19EA-A1F8-6B4B-90C5-C325B87E428E}"/>
                </a:ext>
              </a:extLst>
            </p:cNvPr>
            <p:cNvSpPr txBox="1"/>
            <p:nvPr/>
          </p:nvSpPr>
          <p:spPr>
            <a:xfrm>
              <a:off x="1942838" y="5033962"/>
              <a:ext cx="441324" cy="4572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dirty="0">
                  <a:latin typeface="Courier New" panose="02070309020205020404" pitchFamily="49" charset="0"/>
                  <a:ea typeface="Palatino"/>
                  <a:cs typeface="Courier New" panose="02070309020205020404" pitchFamily="49" charset="0"/>
                  <a:sym typeface="Palatino"/>
                </a:rPr>
                <a:t>k</a:t>
              </a:r>
            </a:p>
          </p:txBody>
        </p:sp>
        <p:sp>
          <p:nvSpPr>
            <p:cNvPr id="28" name="Shape 123">
              <a:extLst>
                <a:ext uri="{FF2B5EF4-FFF2-40B4-BE49-F238E27FC236}">
                  <a16:creationId xmlns:a16="http://schemas.microsoft.com/office/drawing/2014/main" id="{C44409CE-70D8-AA45-BFD1-A692C4EAB211}"/>
                </a:ext>
              </a:extLst>
            </p:cNvPr>
            <p:cNvSpPr txBox="1"/>
            <p:nvPr/>
          </p:nvSpPr>
          <p:spPr>
            <a:xfrm>
              <a:off x="4341811" y="2097089"/>
              <a:ext cx="441324" cy="4572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dirty="0">
                  <a:latin typeface="Courier New" panose="02070309020205020404" pitchFamily="49" charset="0"/>
                  <a:ea typeface="Palatino"/>
                  <a:cs typeface="Courier New" panose="02070309020205020404" pitchFamily="49" charset="0"/>
                  <a:sym typeface="Palatino"/>
                </a:rPr>
                <a:t>k</a:t>
              </a:r>
            </a:p>
          </p:txBody>
        </p:sp>
        <p:cxnSp>
          <p:nvCxnSpPr>
            <p:cNvPr id="29" name="Shape 117">
              <a:extLst>
                <a:ext uri="{FF2B5EF4-FFF2-40B4-BE49-F238E27FC236}">
                  <a16:creationId xmlns:a16="http://schemas.microsoft.com/office/drawing/2014/main" id="{92249D24-CD1A-3746-9B1B-95D1E7FB9064}"/>
                </a:ext>
              </a:extLst>
            </p:cNvPr>
            <p:cNvCxnSpPr>
              <a:cxnSpLocks/>
            </p:cNvCxnSpPr>
            <p:nvPr/>
          </p:nvCxnSpPr>
          <p:spPr>
            <a:xfrm flipH="1">
              <a:off x="1173694" y="5084762"/>
              <a:ext cx="1979612" cy="0"/>
            </a:xfrm>
            <a:prstGeom prst="straightConnector1">
              <a:avLst/>
            </a:prstGeom>
            <a:noFill/>
            <a:ln w="9525" cap="flat" cmpd="sng">
              <a:solidFill>
                <a:srgbClr val="000000"/>
              </a:solidFill>
              <a:prstDash val="solid"/>
              <a:round/>
              <a:headEnd type="triangle" w="lg" len="lg"/>
              <a:tailEnd type="none" w="lg" len="lg"/>
            </a:ln>
          </p:spPr>
        </p:cxnSp>
        <p:cxnSp>
          <p:nvCxnSpPr>
            <p:cNvPr id="30" name="Shape 115">
              <a:extLst>
                <a:ext uri="{FF2B5EF4-FFF2-40B4-BE49-F238E27FC236}">
                  <a16:creationId xmlns:a16="http://schemas.microsoft.com/office/drawing/2014/main" id="{FF3E5107-C7EF-DB4F-894B-261878AC8CA4}"/>
                </a:ext>
              </a:extLst>
            </p:cNvPr>
            <p:cNvCxnSpPr>
              <a:cxnSpLocks/>
            </p:cNvCxnSpPr>
            <p:nvPr/>
          </p:nvCxnSpPr>
          <p:spPr>
            <a:xfrm flipH="1" flipV="1">
              <a:off x="4694620" y="1440693"/>
              <a:ext cx="1" cy="1712915"/>
            </a:xfrm>
            <a:prstGeom prst="straightConnector1">
              <a:avLst/>
            </a:prstGeom>
            <a:noFill/>
            <a:ln w="9525" cap="flat" cmpd="sng">
              <a:solidFill>
                <a:srgbClr val="000000"/>
              </a:solidFill>
              <a:prstDash val="solid"/>
              <a:round/>
              <a:headEnd type="triangle" w="lg" len="lg"/>
              <a:tailEnd type="none" w="lg" len="lg"/>
            </a:ln>
          </p:spPr>
        </p:cxnSp>
      </p:grpSp>
      <p:sp>
        <p:nvSpPr>
          <p:cNvPr id="3" name="Oval 2">
            <a:extLst>
              <a:ext uri="{FF2B5EF4-FFF2-40B4-BE49-F238E27FC236}">
                <a16:creationId xmlns:a16="http://schemas.microsoft.com/office/drawing/2014/main" id="{E2598D22-9BD7-3B4E-AA29-E2F211DD37F4}"/>
              </a:ext>
            </a:extLst>
          </p:cNvPr>
          <p:cNvSpPr/>
          <p:nvPr/>
        </p:nvSpPr>
        <p:spPr bwMode="auto">
          <a:xfrm>
            <a:off x="3886200" y="3566051"/>
            <a:ext cx="1066800" cy="320149"/>
          </a:xfrm>
          <a:prstGeom prst="ellipse">
            <a:avLst/>
          </a:prstGeom>
          <a:noFill/>
          <a:ln w="254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endParaRPr>
          </a:p>
        </p:txBody>
      </p:sp>
      <p:cxnSp>
        <p:nvCxnSpPr>
          <p:cNvPr id="5" name="Straight Arrow Connector 4">
            <a:extLst>
              <a:ext uri="{FF2B5EF4-FFF2-40B4-BE49-F238E27FC236}">
                <a16:creationId xmlns:a16="http://schemas.microsoft.com/office/drawing/2014/main" id="{84C606CB-C78B-EA45-A933-069B20DC53BA}"/>
              </a:ext>
            </a:extLst>
          </p:cNvPr>
          <p:cNvCxnSpPr>
            <a:cxnSpLocks/>
            <a:stCxn id="3" idx="4"/>
          </p:cNvCxnSpPr>
          <p:nvPr/>
        </p:nvCxnSpPr>
        <p:spPr bwMode="auto">
          <a:xfrm flipH="1">
            <a:off x="3276600" y="3886200"/>
            <a:ext cx="1143000" cy="914400"/>
          </a:xfrm>
          <a:prstGeom prst="straightConnector1">
            <a:avLst/>
          </a:prstGeom>
          <a:solidFill>
            <a:srgbClr val="C0C0C0"/>
          </a:solidFill>
          <a:ln w="25400" cap="flat" cmpd="sng" algn="ctr">
            <a:solidFill>
              <a:srgbClr val="FF0000"/>
            </a:solidFill>
            <a:prstDash val="solid"/>
            <a:round/>
            <a:headEnd type="none" w="med" len="med"/>
            <a:tailEnd type="triangle"/>
          </a:ln>
          <a:effectLst/>
        </p:spPr>
      </p:cxnSp>
      <p:sp>
        <p:nvSpPr>
          <p:cNvPr id="32" name="TextBox 31">
            <a:extLst>
              <a:ext uri="{FF2B5EF4-FFF2-40B4-BE49-F238E27FC236}">
                <a16:creationId xmlns:a16="http://schemas.microsoft.com/office/drawing/2014/main" id="{E0EA9DDE-20F6-3747-8FBF-189C111A531A}"/>
              </a:ext>
            </a:extLst>
          </p:cNvPr>
          <p:cNvSpPr txBox="1"/>
          <p:nvPr/>
        </p:nvSpPr>
        <p:spPr>
          <a:xfrm>
            <a:off x="576119" y="4819149"/>
            <a:ext cx="4398217" cy="1200329"/>
          </a:xfrm>
          <a:prstGeom prst="rect">
            <a:avLst/>
          </a:prstGeom>
          <a:noFill/>
        </p:spPr>
        <p:txBody>
          <a:bodyPr wrap="square" rtlCol="0">
            <a:spAutoFit/>
          </a:bodyPr>
          <a:lstStyle/>
          <a:p>
            <a:r>
              <a:rPr lang="en-US" dirty="0"/>
              <a:t>Consecutive accesses to B are far from each other, in </a:t>
            </a:r>
            <a:r>
              <a:rPr lang="en-US" dirty="0">
                <a:solidFill>
                  <a:srgbClr val="C00000"/>
                </a:solidFill>
              </a:rPr>
              <a:t>different </a:t>
            </a:r>
            <a:r>
              <a:rPr lang="en-US" altLang="zh-CN" dirty="0">
                <a:solidFill>
                  <a:srgbClr val="C00000"/>
                </a:solidFill>
              </a:rPr>
              <a:t>memory</a:t>
            </a:r>
            <a:r>
              <a:rPr lang="en-US" dirty="0">
                <a:solidFill>
                  <a:srgbClr val="C00000"/>
                </a:solidFill>
              </a:rPr>
              <a:t> lines</a:t>
            </a:r>
            <a:r>
              <a:rPr lang="en-US" dirty="0"/>
              <a:t>. </a:t>
            </a:r>
          </a:p>
          <a:p>
            <a:r>
              <a:rPr lang="en-US" dirty="0">
                <a:solidFill>
                  <a:srgbClr val="FF0000"/>
                </a:solidFill>
              </a:rPr>
              <a:t>Every access to B is likely to cause a </a:t>
            </a:r>
            <a:r>
              <a:rPr lang="en-US" altLang="zh-CN" dirty="0">
                <a:solidFill>
                  <a:srgbClr val="FF0000"/>
                </a:solidFill>
              </a:rPr>
              <a:t>row buffer</a:t>
            </a:r>
            <a:r>
              <a:rPr lang="en-US" dirty="0">
                <a:solidFill>
                  <a:srgbClr val="FF0000"/>
                </a:solidFill>
              </a:rPr>
              <a:t> miss</a:t>
            </a:r>
          </a:p>
        </p:txBody>
      </p:sp>
    </p:spTree>
    <p:extLst>
      <p:ext uri="{BB962C8B-B14F-4D97-AF65-F5344CB8AC3E}">
        <p14:creationId xmlns:p14="http://schemas.microsoft.com/office/powerpoint/2010/main" val="42588566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3" name="Title 1">
            <a:extLst>
              <a:ext uri="{FF2B5EF4-FFF2-40B4-BE49-F238E27FC236}">
                <a16:creationId xmlns:a16="http://schemas.microsoft.com/office/drawing/2014/main" id="{16B53E08-421B-7A45-8C30-E6FB197D67F0}"/>
              </a:ext>
            </a:extLst>
          </p:cNvPr>
          <p:cNvSpPr>
            <a:spLocks noGrp="1" noChangeArrowheads="1"/>
          </p:cNvSpPr>
          <p:nvPr>
            <p:ph type="title"/>
          </p:nvPr>
        </p:nvSpPr>
        <p:spPr/>
        <p:txBody>
          <a:bodyPr/>
          <a:lstStyle/>
          <a:p>
            <a:r>
              <a:rPr lang="en-US" altLang="en-US" dirty="0">
                <a:ea typeface="ＭＳ Ｐゴシック" panose="020B0600070205080204" pitchFamily="34" charset="-128"/>
              </a:rPr>
              <a:t>CPU: Tiled Matrix Multiplication (I)</a:t>
            </a:r>
          </a:p>
        </p:txBody>
      </p:sp>
      <p:sp>
        <p:nvSpPr>
          <p:cNvPr id="35843" name="Content Placeholder 2">
            <a:extLst>
              <a:ext uri="{FF2B5EF4-FFF2-40B4-BE49-F238E27FC236}">
                <a16:creationId xmlns:a16="http://schemas.microsoft.com/office/drawing/2014/main" id="{7D554ED4-E9EE-AF40-8D7E-E9E980194DC4}"/>
              </a:ext>
            </a:extLst>
          </p:cNvPr>
          <p:cNvSpPr>
            <a:spLocks noGrp="1" noChangeArrowheads="1"/>
          </p:cNvSpPr>
          <p:nvPr>
            <p:ph idx="1"/>
          </p:nvPr>
        </p:nvSpPr>
        <p:spPr>
          <a:xfrm>
            <a:off x="228598" y="914400"/>
            <a:ext cx="5327682" cy="5486400"/>
          </a:xfrm>
        </p:spPr>
        <p:txBody>
          <a:bodyPr/>
          <a:lstStyle/>
          <a:p>
            <a:r>
              <a:rPr lang="en-US" altLang="en-US" dirty="0">
                <a:ea typeface="ＭＳ Ｐゴシック" panose="020B0600070205080204" pitchFamily="34" charset="-128"/>
              </a:rPr>
              <a:t>Tiled Matrix Multiplication: </a:t>
            </a:r>
          </a:p>
          <a:p>
            <a:pPr lvl="1"/>
            <a:r>
              <a:rPr lang="en-US" altLang="en-US" dirty="0">
                <a:ea typeface="ＭＳ Ｐゴシック" panose="020B0600070205080204" pitchFamily="34" charset="-128"/>
              </a:rPr>
              <a:t>Achieve better on-chip RAM locality by computing on </a:t>
            </a:r>
            <a:r>
              <a:rPr lang="en-US" altLang="en-US" dirty="0">
                <a:solidFill>
                  <a:srgbClr val="00B050"/>
                </a:solidFill>
                <a:ea typeface="ＭＳ Ｐゴシック" panose="020B0600070205080204" pitchFamily="34" charset="-128"/>
              </a:rPr>
              <a:t>smaller tiles or blocks that fit in the RAMs</a:t>
            </a:r>
          </a:p>
        </p:txBody>
      </p:sp>
      <p:sp>
        <p:nvSpPr>
          <p:cNvPr id="248835" name="Slide Number Placeholder 3">
            <a:extLst>
              <a:ext uri="{FF2B5EF4-FFF2-40B4-BE49-F238E27FC236}">
                <a16:creationId xmlns:a16="http://schemas.microsoft.com/office/drawing/2014/main" id="{CCE4354E-DC2C-8E49-A078-0EEB05C17BC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77E7AE0-EC71-4D48-959A-8A23F1B03886}"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52</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
        <p:nvSpPr>
          <p:cNvPr id="31" name="Shape 104">
            <a:extLst>
              <a:ext uri="{FF2B5EF4-FFF2-40B4-BE49-F238E27FC236}">
                <a16:creationId xmlns:a16="http://schemas.microsoft.com/office/drawing/2014/main" id="{79801E3F-353D-A244-84BE-EE5ADC7FD9A3}"/>
              </a:ext>
            </a:extLst>
          </p:cNvPr>
          <p:cNvSpPr txBox="1"/>
          <p:nvPr/>
        </p:nvSpPr>
        <p:spPr>
          <a:xfrm>
            <a:off x="3506787" y="3671022"/>
            <a:ext cx="2342733" cy="2342733"/>
          </a:xfrm>
          <a:prstGeom prst="rect">
            <a:avLst/>
          </a:prstGeom>
          <a:solidFill>
            <a:schemeClr val="accent2">
              <a:lumMod val="20000"/>
              <a:lumOff val="80000"/>
            </a:schemeClr>
          </a:solidFill>
          <a:ln w="9525" cap="flat" cmpd="sng">
            <a:solidFill>
              <a:srgbClr val="969696"/>
            </a:solidFill>
            <a:prstDash val="solid"/>
            <a:miter/>
            <a:headEnd type="none" w="med" len="med"/>
            <a:tailEnd type="none" w="med" len="med"/>
          </a:ln>
        </p:spPr>
        <p:txBody>
          <a:bodyPr lIns="91425" tIns="45700" rIns="91425" bIns="45700" anchor="t" anchorCtr="0">
            <a:noAutofit/>
          </a:bodyPr>
          <a:lstStyle/>
          <a:p>
            <a:pPr marL="0" marR="0" lvl="0" indent="0" algn="l" rtl="0">
              <a:spcBef>
                <a:spcPts val="0"/>
              </a:spcBef>
              <a:buSzPct val="25000"/>
              <a:buNone/>
            </a:pPr>
            <a:r>
              <a:rPr lang="en-US" sz="2000" b="1" dirty="0">
                <a:latin typeface="Arial"/>
                <a:ea typeface="Arial"/>
                <a:cs typeface="Arial"/>
                <a:sym typeface="Arial"/>
              </a:rPr>
              <a:t>A</a:t>
            </a:r>
          </a:p>
        </p:txBody>
      </p:sp>
      <p:sp>
        <p:nvSpPr>
          <p:cNvPr id="32" name="Shape 105">
            <a:extLst>
              <a:ext uri="{FF2B5EF4-FFF2-40B4-BE49-F238E27FC236}">
                <a16:creationId xmlns:a16="http://schemas.microsoft.com/office/drawing/2014/main" id="{19C4C1DB-5EFB-A24C-A70A-7A56718E5E94}"/>
              </a:ext>
            </a:extLst>
          </p:cNvPr>
          <p:cNvSpPr txBox="1"/>
          <p:nvPr/>
        </p:nvSpPr>
        <p:spPr>
          <a:xfrm>
            <a:off x="5891704" y="1284600"/>
            <a:ext cx="2342731" cy="2342733"/>
          </a:xfrm>
          <a:prstGeom prst="rect">
            <a:avLst/>
          </a:prstGeom>
          <a:solidFill>
            <a:schemeClr val="accent2">
              <a:lumMod val="20000"/>
              <a:lumOff val="80000"/>
            </a:schemeClr>
          </a:solidFill>
          <a:ln w="9525" cap="flat" cmpd="sng">
            <a:solidFill>
              <a:srgbClr val="969696"/>
            </a:solidFill>
            <a:prstDash val="solid"/>
            <a:miter/>
            <a:headEnd type="none" w="med" len="med"/>
            <a:tailEnd type="none" w="med" len="med"/>
          </a:ln>
        </p:spPr>
        <p:txBody>
          <a:bodyPr lIns="91425" tIns="45700" rIns="91425" bIns="45700" anchor="t" anchorCtr="0">
            <a:noAutofit/>
          </a:bodyPr>
          <a:lstStyle/>
          <a:p>
            <a:pPr marL="0" marR="0" lvl="0" indent="0" algn="l" rtl="0">
              <a:spcBef>
                <a:spcPts val="0"/>
              </a:spcBef>
              <a:buSzPct val="25000"/>
              <a:buNone/>
            </a:pPr>
            <a:r>
              <a:rPr lang="en-US" sz="2000" b="1" dirty="0">
                <a:latin typeface="Arial"/>
                <a:ea typeface="Arial"/>
                <a:cs typeface="Arial"/>
                <a:sym typeface="Arial"/>
              </a:rPr>
              <a:t>B</a:t>
            </a:r>
          </a:p>
        </p:txBody>
      </p:sp>
      <p:sp>
        <p:nvSpPr>
          <p:cNvPr id="33" name="Shape 106">
            <a:extLst>
              <a:ext uri="{FF2B5EF4-FFF2-40B4-BE49-F238E27FC236}">
                <a16:creationId xmlns:a16="http://schemas.microsoft.com/office/drawing/2014/main" id="{6AFA148A-1062-B342-849A-BA428A5C3CE3}"/>
              </a:ext>
            </a:extLst>
          </p:cNvPr>
          <p:cNvSpPr txBox="1"/>
          <p:nvPr/>
        </p:nvSpPr>
        <p:spPr>
          <a:xfrm>
            <a:off x="5891704" y="3671022"/>
            <a:ext cx="2342731" cy="2342733"/>
          </a:xfrm>
          <a:prstGeom prst="rect">
            <a:avLst/>
          </a:prstGeom>
          <a:solidFill>
            <a:schemeClr val="accent2">
              <a:lumMod val="60000"/>
              <a:lumOff val="40000"/>
            </a:schemeClr>
          </a:solidFill>
          <a:ln w="9525" cap="flat" cmpd="sng">
            <a:solidFill>
              <a:srgbClr val="969696"/>
            </a:solidFill>
            <a:prstDash val="solid"/>
            <a:miter/>
            <a:headEnd type="none" w="med" len="med"/>
            <a:tailEnd type="none" w="med" len="med"/>
          </a:ln>
        </p:spPr>
        <p:txBody>
          <a:bodyPr lIns="91425" tIns="45700" rIns="91425" bIns="45700" anchor="t" anchorCtr="0">
            <a:noAutofit/>
          </a:bodyPr>
          <a:lstStyle/>
          <a:p>
            <a:pPr marL="0" marR="0" lvl="0" indent="0" algn="l" rtl="0">
              <a:spcBef>
                <a:spcPts val="0"/>
              </a:spcBef>
              <a:buSzPct val="25000"/>
              <a:buNone/>
            </a:pPr>
            <a:r>
              <a:rPr lang="en-US" sz="2000" b="1" dirty="0">
                <a:latin typeface="Arial"/>
                <a:ea typeface="Arial"/>
                <a:cs typeface="Arial"/>
                <a:sym typeface="Arial"/>
              </a:rPr>
              <a:t>C</a:t>
            </a:r>
          </a:p>
        </p:txBody>
      </p:sp>
      <p:sp>
        <p:nvSpPr>
          <p:cNvPr id="34" name="Shape 107">
            <a:extLst>
              <a:ext uri="{FF2B5EF4-FFF2-40B4-BE49-F238E27FC236}">
                <a16:creationId xmlns:a16="http://schemas.microsoft.com/office/drawing/2014/main" id="{32E9E000-5DB3-D046-8250-4D57470E9880}"/>
              </a:ext>
            </a:extLst>
          </p:cNvPr>
          <p:cNvSpPr txBox="1"/>
          <p:nvPr/>
        </p:nvSpPr>
        <p:spPr>
          <a:xfrm>
            <a:off x="7181337" y="1290626"/>
            <a:ext cx="43388" cy="2323218"/>
          </a:xfrm>
          <a:prstGeom prst="rect">
            <a:avLst/>
          </a:prstGeom>
          <a:solidFill>
            <a:srgbClr val="FF7E79"/>
          </a:solidFill>
          <a:ln w="9525" cap="flat" cmpd="sng">
            <a:solidFill>
              <a:srgbClr val="969696"/>
            </a:solidFill>
            <a:prstDash val="solid"/>
            <a:miter/>
            <a:headEnd type="none" w="med" len="med"/>
            <a:tailEnd type="none" w="med" len="med"/>
          </a:ln>
        </p:spPr>
        <p:txBody>
          <a:bodyPr lIns="0" tIns="91425" rIns="0" bIns="0" anchor="t" anchorCtr="0">
            <a:noAutofit/>
          </a:bodyPr>
          <a:lstStyle/>
          <a:p>
            <a:pPr marL="0" marR="0" lvl="0" indent="0" algn="l" rtl="0">
              <a:spcBef>
                <a:spcPts val="0"/>
              </a:spcBef>
              <a:buNone/>
            </a:pPr>
            <a:endParaRPr sz="1800">
              <a:solidFill>
                <a:schemeClr val="dk1"/>
              </a:solidFill>
              <a:latin typeface="Arial"/>
              <a:ea typeface="Arial"/>
              <a:cs typeface="Arial"/>
              <a:sym typeface="Arial"/>
            </a:endParaRPr>
          </a:p>
        </p:txBody>
      </p:sp>
      <p:cxnSp>
        <p:nvCxnSpPr>
          <p:cNvPr id="35" name="Shape 108">
            <a:extLst>
              <a:ext uri="{FF2B5EF4-FFF2-40B4-BE49-F238E27FC236}">
                <a16:creationId xmlns:a16="http://schemas.microsoft.com/office/drawing/2014/main" id="{1B7B6958-23BC-C64C-8114-35F4C4B31CEC}"/>
              </a:ext>
            </a:extLst>
          </p:cNvPr>
          <p:cNvCxnSpPr>
            <a:cxnSpLocks/>
            <a:endCxn id="48" idx="3"/>
          </p:cNvCxnSpPr>
          <p:nvPr/>
        </p:nvCxnSpPr>
        <p:spPr>
          <a:xfrm>
            <a:off x="7222014" y="3671022"/>
            <a:ext cx="24104" cy="1254981"/>
          </a:xfrm>
          <a:prstGeom prst="straightConnector1">
            <a:avLst/>
          </a:prstGeom>
          <a:noFill/>
          <a:ln w="9525" cap="flat" cmpd="sng">
            <a:solidFill>
              <a:srgbClr val="969696"/>
            </a:solidFill>
            <a:prstDash val="dash"/>
            <a:round/>
            <a:headEnd type="none" w="med" len="med"/>
            <a:tailEnd type="none" w="med" len="med"/>
          </a:ln>
        </p:spPr>
      </p:cxnSp>
      <p:cxnSp>
        <p:nvCxnSpPr>
          <p:cNvPr id="36" name="Shape 109">
            <a:extLst>
              <a:ext uri="{FF2B5EF4-FFF2-40B4-BE49-F238E27FC236}">
                <a16:creationId xmlns:a16="http://schemas.microsoft.com/office/drawing/2014/main" id="{030E587F-1A17-6940-A120-60CA3D4CD049}"/>
              </a:ext>
            </a:extLst>
          </p:cNvPr>
          <p:cNvCxnSpPr>
            <a:cxnSpLocks/>
            <a:endCxn id="48" idx="1"/>
          </p:cNvCxnSpPr>
          <p:nvPr/>
        </p:nvCxnSpPr>
        <p:spPr>
          <a:xfrm>
            <a:off x="7181337" y="3671022"/>
            <a:ext cx="12053" cy="1254981"/>
          </a:xfrm>
          <a:prstGeom prst="straightConnector1">
            <a:avLst/>
          </a:prstGeom>
          <a:noFill/>
          <a:ln w="9525" cap="flat" cmpd="sng">
            <a:solidFill>
              <a:srgbClr val="969696"/>
            </a:solidFill>
            <a:prstDash val="dash"/>
            <a:round/>
            <a:headEnd type="none" w="med" len="med"/>
            <a:tailEnd type="none" w="med" len="med"/>
          </a:ln>
        </p:spPr>
      </p:cxnSp>
      <p:cxnSp>
        <p:nvCxnSpPr>
          <p:cNvPr id="37" name="Shape 110">
            <a:extLst>
              <a:ext uri="{FF2B5EF4-FFF2-40B4-BE49-F238E27FC236}">
                <a16:creationId xmlns:a16="http://schemas.microsoft.com/office/drawing/2014/main" id="{1BB3C25D-1972-A746-9C4B-C54E908A74D6}"/>
              </a:ext>
            </a:extLst>
          </p:cNvPr>
          <p:cNvCxnSpPr/>
          <p:nvPr/>
        </p:nvCxnSpPr>
        <p:spPr>
          <a:xfrm rot="10800000">
            <a:off x="5911653" y="6133968"/>
            <a:ext cx="2342731" cy="0"/>
          </a:xfrm>
          <a:prstGeom prst="straightConnector1">
            <a:avLst/>
          </a:prstGeom>
          <a:noFill/>
          <a:ln w="9525" cap="flat" cmpd="sng">
            <a:solidFill>
              <a:srgbClr val="000000"/>
            </a:solidFill>
            <a:prstDash val="solid"/>
            <a:round/>
            <a:headEnd type="triangle" w="lg" len="lg"/>
            <a:tailEnd type="triangle" w="lg" len="lg"/>
          </a:ln>
        </p:spPr>
      </p:cxnSp>
      <p:cxnSp>
        <p:nvCxnSpPr>
          <p:cNvPr id="38" name="Shape 115">
            <a:extLst>
              <a:ext uri="{FF2B5EF4-FFF2-40B4-BE49-F238E27FC236}">
                <a16:creationId xmlns:a16="http://schemas.microsoft.com/office/drawing/2014/main" id="{D1B4F5D4-50FE-7043-B504-6968A5F2CBBF}"/>
              </a:ext>
            </a:extLst>
          </p:cNvPr>
          <p:cNvCxnSpPr/>
          <p:nvPr/>
        </p:nvCxnSpPr>
        <p:spPr>
          <a:xfrm rot="10800000">
            <a:off x="8360621" y="1290626"/>
            <a:ext cx="6025" cy="2270417"/>
          </a:xfrm>
          <a:prstGeom prst="straightConnector1">
            <a:avLst/>
          </a:prstGeom>
          <a:noFill/>
          <a:ln w="9525" cap="flat" cmpd="sng">
            <a:solidFill>
              <a:srgbClr val="000000"/>
            </a:solidFill>
            <a:prstDash val="solid"/>
            <a:round/>
            <a:headEnd type="triangle" w="lg" len="lg"/>
            <a:tailEnd type="triangle" w="lg" len="lg"/>
          </a:ln>
        </p:spPr>
      </p:cxnSp>
      <p:cxnSp>
        <p:nvCxnSpPr>
          <p:cNvPr id="39" name="Shape 116">
            <a:extLst>
              <a:ext uri="{FF2B5EF4-FFF2-40B4-BE49-F238E27FC236}">
                <a16:creationId xmlns:a16="http://schemas.microsoft.com/office/drawing/2014/main" id="{A35A96E5-7B57-2D4E-9A7B-278435099ADF}"/>
              </a:ext>
            </a:extLst>
          </p:cNvPr>
          <p:cNvCxnSpPr/>
          <p:nvPr/>
        </p:nvCxnSpPr>
        <p:spPr>
          <a:xfrm rot="10800000">
            <a:off x="8358181" y="3682762"/>
            <a:ext cx="4519" cy="2342733"/>
          </a:xfrm>
          <a:prstGeom prst="straightConnector1">
            <a:avLst/>
          </a:prstGeom>
          <a:noFill/>
          <a:ln w="9525" cap="flat" cmpd="sng">
            <a:solidFill>
              <a:srgbClr val="000000"/>
            </a:solidFill>
            <a:prstDash val="solid"/>
            <a:round/>
            <a:headEnd type="triangle" w="lg" len="lg"/>
            <a:tailEnd type="triangle" w="lg" len="lg"/>
          </a:ln>
        </p:spPr>
      </p:cxnSp>
      <p:cxnSp>
        <p:nvCxnSpPr>
          <p:cNvPr id="40" name="Shape 117">
            <a:extLst>
              <a:ext uri="{FF2B5EF4-FFF2-40B4-BE49-F238E27FC236}">
                <a16:creationId xmlns:a16="http://schemas.microsoft.com/office/drawing/2014/main" id="{EAD60028-E557-1E47-B970-ED6B17F2F6AB}"/>
              </a:ext>
            </a:extLst>
          </p:cNvPr>
          <p:cNvCxnSpPr/>
          <p:nvPr/>
        </p:nvCxnSpPr>
        <p:spPr>
          <a:xfrm rot="10800000">
            <a:off x="3506787" y="6129761"/>
            <a:ext cx="2342733" cy="0"/>
          </a:xfrm>
          <a:prstGeom prst="straightConnector1">
            <a:avLst/>
          </a:prstGeom>
          <a:noFill/>
          <a:ln w="9525" cap="flat" cmpd="sng">
            <a:solidFill>
              <a:srgbClr val="000000"/>
            </a:solidFill>
            <a:prstDash val="solid"/>
            <a:round/>
            <a:headEnd type="triangle" w="lg" len="lg"/>
            <a:tailEnd type="triangle" w="lg" len="lg"/>
          </a:ln>
        </p:spPr>
      </p:cxnSp>
      <p:sp>
        <p:nvSpPr>
          <p:cNvPr id="41" name="Shape 118">
            <a:extLst>
              <a:ext uri="{FF2B5EF4-FFF2-40B4-BE49-F238E27FC236}">
                <a16:creationId xmlns:a16="http://schemas.microsoft.com/office/drawing/2014/main" id="{DD558314-475D-CE41-80A4-150C102260BB}"/>
              </a:ext>
            </a:extLst>
          </p:cNvPr>
          <p:cNvSpPr txBox="1"/>
          <p:nvPr/>
        </p:nvSpPr>
        <p:spPr>
          <a:xfrm>
            <a:off x="8278127" y="2312088"/>
            <a:ext cx="385684" cy="129565"/>
          </a:xfrm>
          <a:prstGeom prst="rect">
            <a:avLst/>
          </a:prstGeom>
          <a:noFill/>
          <a:ln>
            <a:noFill/>
          </a:ln>
        </p:spPr>
        <p:txBody>
          <a:bodyPr lIns="0" tIns="0" rIns="0" bIns="0" anchor="t" anchorCtr="0">
            <a:noAutofit/>
          </a:bodyPr>
          <a:lstStyle/>
          <a:p>
            <a:pPr marL="0" marR="0" lvl="0" indent="0" algn="ctr" rtl="0">
              <a:spcBef>
                <a:spcPts val="0"/>
              </a:spcBef>
              <a:buSzPct val="25000"/>
              <a:buNone/>
            </a:pPr>
            <a:r>
              <a:rPr lang="en-US" dirty="0">
                <a:latin typeface="Courier New" panose="02070309020205020404" pitchFamily="49" charset="0"/>
                <a:ea typeface="Times New Roman"/>
                <a:cs typeface="Courier New" panose="02070309020205020404" pitchFamily="49" charset="0"/>
                <a:sym typeface="Times New Roman"/>
              </a:rPr>
              <a:t>P</a:t>
            </a:r>
          </a:p>
        </p:txBody>
      </p:sp>
      <p:sp>
        <p:nvSpPr>
          <p:cNvPr id="42" name="Shape 119">
            <a:extLst>
              <a:ext uri="{FF2B5EF4-FFF2-40B4-BE49-F238E27FC236}">
                <a16:creationId xmlns:a16="http://schemas.microsoft.com/office/drawing/2014/main" id="{893FE719-B361-4540-98AB-54C7E99FAEB6}"/>
              </a:ext>
            </a:extLst>
          </p:cNvPr>
          <p:cNvSpPr txBox="1"/>
          <p:nvPr/>
        </p:nvSpPr>
        <p:spPr>
          <a:xfrm>
            <a:off x="8326338" y="4828076"/>
            <a:ext cx="385684" cy="129565"/>
          </a:xfrm>
          <a:prstGeom prst="rect">
            <a:avLst/>
          </a:prstGeom>
          <a:noFill/>
          <a:ln>
            <a:noFill/>
          </a:ln>
        </p:spPr>
        <p:txBody>
          <a:bodyPr lIns="0" tIns="0" rIns="0" bIns="0" anchor="t" anchorCtr="0">
            <a:noAutofit/>
          </a:bodyPr>
          <a:lstStyle/>
          <a:p>
            <a:pPr marL="0" marR="0" lvl="0" indent="0" algn="ctr" rtl="0">
              <a:spcBef>
                <a:spcPts val="0"/>
              </a:spcBef>
              <a:buSzPct val="25000"/>
              <a:buNone/>
            </a:pPr>
            <a:r>
              <a:rPr lang="en-US" dirty="0">
                <a:latin typeface="Courier New" panose="02070309020205020404" pitchFamily="49" charset="0"/>
                <a:ea typeface="Times New Roman"/>
                <a:cs typeface="Courier New" panose="02070309020205020404" pitchFamily="49" charset="0"/>
                <a:sym typeface="Times New Roman"/>
              </a:rPr>
              <a:t>M</a:t>
            </a:r>
          </a:p>
        </p:txBody>
      </p:sp>
      <p:sp>
        <p:nvSpPr>
          <p:cNvPr id="43" name="Shape 120">
            <a:extLst>
              <a:ext uri="{FF2B5EF4-FFF2-40B4-BE49-F238E27FC236}">
                <a16:creationId xmlns:a16="http://schemas.microsoft.com/office/drawing/2014/main" id="{88A9C680-74FF-134D-A631-EAC3654075BB}"/>
              </a:ext>
            </a:extLst>
          </p:cNvPr>
          <p:cNvSpPr txBox="1"/>
          <p:nvPr/>
        </p:nvSpPr>
        <p:spPr>
          <a:xfrm>
            <a:off x="4408980" y="6149347"/>
            <a:ext cx="518761" cy="175253"/>
          </a:xfrm>
          <a:prstGeom prst="rect">
            <a:avLst/>
          </a:prstGeom>
          <a:noFill/>
          <a:ln>
            <a:noFill/>
          </a:ln>
        </p:spPr>
        <p:txBody>
          <a:bodyPr lIns="0" tIns="0" rIns="0" bIns="0" anchor="t" anchorCtr="0">
            <a:noAutofit/>
          </a:bodyPr>
          <a:lstStyle/>
          <a:p>
            <a:pPr marL="0" marR="0" lvl="0" indent="0" algn="ctr" rtl="0">
              <a:spcBef>
                <a:spcPts val="0"/>
              </a:spcBef>
              <a:buSzPct val="25000"/>
              <a:buNone/>
            </a:pPr>
            <a:r>
              <a:rPr lang="en-US" dirty="0">
                <a:latin typeface="Courier New" panose="02070309020205020404" pitchFamily="49" charset="0"/>
                <a:ea typeface="Times New Roman"/>
                <a:cs typeface="Courier New" panose="02070309020205020404" pitchFamily="49" charset="0"/>
                <a:sym typeface="Times New Roman"/>
              </a:rPr>
              <a:t>P</a:t>
            </a:r>
          </a:p>
        </p:txBody>
      </p:sp>
      <p:sp>
        <p:nvSpPr>
          <p:cNvPr id="44" name="Shape 121">
            <a:extLst>
              <a:ext uri="{FF2B5EF4-FFF2-40B4-BE49-F238E27FC236}">
                <a16:creationId xmlns:a16="http://schemas.microsoft.com/office/drawing/2014/main" id="{7F6907DE-130A-D047-8E8C-FC00B9C9A900}"/>
              </a:ext>
            </a:extLst>
          </p:cNvPr>
          <p:cNvSpPr txBox="1"/>
          <p:nvPr/>
        </p:nvSpPr>
        <p:spPr>
          <a:xfrm>
            <a:off x="6761115" y="6129761"/>
            <a:ext cx="518761" cy="175253"/>
          </a:xfrm>
          <a:prstGeom prst="rect">
            <a:avLst/>
          </a:prstGeom>
          <a:noFill/>
          <a:ln>
            <a:noFill/>
          </a:ln>
        </p:spPr>
        <p:txBody>
          <a:bodyPr lIns="0" tIns="0" rIns="0" bIns="0" anchor="t" anchorCtr="0">
            <a:noAutofit/>
          </a:bodyPr>
          <a:lstStyle/>
          <a:p>
            <a:pPr marL="0" marR="0" lvl="0" indent="0" algn="ctr" rtl="0">
              <a:spcBef>
                <a:spcPts val="0"/>
              </a:spcBef>
              <a:buSzPct val="25000"/>
              <a:buNone/>
            </a:pPr>
            <a:r>
              <a:rPr lang="en-US" dirty="0">
                <a:latin typeface="Courier New" panose="02070309020205020404" pitchFamily="49" charset="0"/>
                <a:ea typeface="Times New Roman"/>
                <a:cs typeface="Courier New" panose="02070309020205020404" pitchFamily="49" charset="0"/>
                <a:sym typeface="Times New Roman"/>
              </a:rPr>
              <a:t>N</a:t>
            </a:r>
          </a:p>
        </p:txBody>
      </p:sp>
      <p:sp>
        <p:nvSpPr>
          <p:cNvPr id="45" name="Shape 124">
            <a:extLst>
              <a:ext uri="{FF2B5EF4-FFF2-40B4-BE49-F238E27FC236}">
                <a16:creationId xmlns:a16="http://schemas.microsoft.com/office/drawing/2014/main" id="{CC9E38D3-DA96-054A-87BE-CC79CCF089C8}"/>
              </a:ext>
            </a:extLst>
          </p:cNvPr>
          <p:cNvSpPr txBox="1"/>
          <p:nvPr/>
        </p:nvSpPr>
        <p:spPr>
          <a:xfrm>
            <a:off x="3506787" y="4900392"/>
            <a:ext cx="2342733" cy="52730"/>
          </a:xfrm>
          <a:prstGeom prst="rect">
            <a:avLst/>
          </a:prstGeom>
          <a:solidFill>
            <a:srgbClr val="FF7E79"/>
          </a:solidFill>
          <a:ln w="9525" cap="flat" cmpd="sng">
            <a:solidFill>
              <a:srgbClr val="969696"/>
            </a:solidFill>
            <a:prstDash val="solid"/>
            <a:miter/>
            <a:headEnd type="none" w="med" len="med"/>
            <a:tailEnd type="none" w="med" len="med"/>
          </a:ln>
        </p:spPr>
        <p:txBody>
          <a:bodyPr lIns="0" tIns="91425" rIns="0" bIns="0" anchor="t" anchorCtr="0">
            <a:noAutofit/>
          </a:bodyPr>
          <a:lstStyle/>
          <a:p>
            <a:pPr marL="0" marR="0" lvl="0" indent="0" algn="l" rtl="0">
              <a:spcBef>
                <a:spcPts val="0"/>
              </a:spcBef>
              <a:buNone/>
            </a:pPr>
            <a:endParaRPr sz="1800">
              <a:solidFill>
                <a:schemeClr val="dk1"/>
              </a:solidFill>
              <a:latin typeface="Arial"/>
              <a:ea typeface="Arial"/>
              <a:cs typeface="Arial"/>
              <a:sym typeface="Arial"/>
            </a:endParaRPr>
          </a:p>
        </p:txBody>
      </p:sp>
      <p:cxnSp>
        <p:nvCxnSpPr>
          <p:cNvPr id="46" name="Shape 125">
            <a:extLst>
              <a:ext uri="{FF2B5EF4-FFF2-40B4-BE49-F238E27FC236}">
                <a16:creationId xmlns:a16="http://schemas.microsoft.com/office/drawing/2014/main" id="{FAD1F689-5EE1-7348-8464-47FD242EDD63}"/>
              </a:ext>
            </a:extLst>
          </p:cNvPr>
          <p:cNvCxnSpPr>
            <a:cxnSpLocks/>
          </p:cNvCxnSpPr>
          <p:nvPr/>
        </p:nvCxnSpPr>
        <p:spPr>
          <a:xfrm flipV="1">
            <a:off x="5902249" y="4942576"/>
            <a:ext cx="1267034" cy="12053"/>
          </a:xfrm>
          <a:prstGeom prst="straightConnector1">
            <a:avLst/>
          </a:prstGeom>
          <a:noFill/>
          <a:ln w="9525" cap="flat" cmpd="sng">
            <a:solidFill>
              <a:srgbClr val="969696"/>
            </a:solidFill>
            <a:prstDash val="dash"/>
            <a:round/>
            <a:headEnd type="none" w="med" len="med"/>
            <a:tailEnd type="none" w="med" len="med"/>
          </a:ln>
        </p:spPr>
      </p:cxnSp>
      <p:cxnSp>
        <p:nvCxnSpPr>
          <p:cNvPr id="47" name="Shape 126">
            <a:extLst>
              <a:ext uri="{FF2B5EF4-FFF2-40B4-BE49-F238E27FC236}">
                <a16:creationId xmlns:a16="http://schemas.microsoft.com/office/drawing/2014/main" id="{88F81A91-CD41-6741-885E-1C7E1EBA7006}"/>
              </a:ext>
            </a:extLst>
          </p:cNvPr>
          <p:cNvCxnSpPr>
            <a:cxnSpLocks/>
          </p:cNvCxnSpPr>
          <p:nvPr/>
        </p:nvCxnSpPr>
        <p:spPr>
          <a:xfrm>
            <a:off x="5902249" y="4906418"/>
            <a:ext cx="1310725" cy="0"/>
          </a:xfrm>
          <a:prstGeom prst="straightConnector1">
            <a:avLst/>
          </a:prstGeom>
          <a:noFill/>
          <a:ln w="9525" cap="flat" cmpd="sng">
            <a:solidFill>
              <a:srgbClr val="969696"/>
            </a:solidFill>
            <a:prstDash val="dash"/>
            <a:round/>
            <a:headEnd type="none" w="med" len="med"/>
            <a:tailEnd type="none" w="med" len="med"/>
          </a:ln>
        </p:spPr>
      </p:cxnSp>
      <p:sp>
        <p:nvSpPr>
          <p:cNvPr id="48" name="Shape 127">
            <a:extLst>
              <a:ext uri="{FF2B5EF4-FFF2-40B4-BE49-F238E27FC236}">
                <a16:creationId xmlns:a16="http://schemas.microsoft.com/office/drawing/2014/main" id="{B63D502A-1662-EF4B-AB9B-224DFE0ED2B7}"/>
              </a:ext>
            </a:extLst>
          </p:cNvPr>
          <p:cNvSpPr txBox="1"/>
          <p:nvPr/>
        </p:nvSpPr>
        <p:spPr>
          <a:xfrm>
            <a:off x="7193389" y="4900392"/>
            <a:ext cx="52729" cy="51223"/>
          </a:xfrm>
          <a:prstGeom prst="rect">
            <a:avLst/>
          </a:prstGeom>
          <a:solidFill>
            <a:srgbClr val="C00000"/>
          </a:solidFill>
          <a:ln w="19050" cap="flat" cmpd="sng">
            <a:solidFill>
              <a:srgbClr val="C00000"/>
            </a:solidFill>
            <a:prstDash val="solid"/>
            <a:miter/>
            <a:headEnd type="none" w="med" len="med"/>
            <a:tailEnd type="none" w="med" len="med"/>
          </a:ln>
        </p:spPr>
        <p:txBody>
          <a:bodyPr lIns="0" tIns="91425" rIns="0" bIns="0" anchor="t" anchorCtr="0">
            <a:noAutofit/>
          </a:bodyPr>
          <a:lstStyle/>
          <a:p>
            <a:pPr marL="0" marR="0" lvl="0" indent="0" algn="l" rtl="0">
              <a:spcBef>
                <a:spcPts val="0"/>
              </a:spcBef>
              <a:buNone/>
            </a:pPr>
            <a:endParaRPr sz="1200">
              <a:solidFill>
                <a:schemeClr val="dk1"/>
              </a:solidFill>
              <a:latin typeface="Times New Roman"/>
              <a:ea typeface="Times New Roman"/>
              <a:cs typeface="Times New Roman"/>
              <a:sym typeface="Times New Roman"/>
            </a:endParaRPr>
          </a:p>
          <a:p>
            <a:pPr marL="0" marR="0" lvl="0" indent="0" algn="l" rtl="0">
              <a:spcBef>
                <a:spcPts val="0"/>
              </a:spcBef>
              <a:buNone/>
            </a:pPr>
            <a:endParaRPr sz="1200">
              <a:solidFill>
                <a:schemeClr val="dk1"/>
              </a:solidFill>
              <a:latin typeface="Times New Roman"/>
              <a:ea typeface="Times New Roman"/>
              <a:cs typeface="Times New Roman"/>
              <a:sym typeface="Times New Roman"/>
            </a:endParaRPr>
          </a:p>
          <a:p>
            <a:pPr marL="0" marR="0" lvl="0" indent="0" algn="l" rtl="0">
              <a:spcBef>
                <a:spcPts val="0"/>
              </a:spcBef>
              <a:buNone/>
            </a:pPr>
            <a:endParaRPr sz="1800">
              <a:solidFill>
                <a:schemeClr val="dk1"/>
              </a:solidFill>
              <a:latin typeface="Arial"/>
              <a:ea typeface="Arial"/>
              <a:cs typeface="Arial"/>
              <a:sym typeface="Arial"/>
            </a:endParaRPr>
          </a:p>
        </p:txBody>
      </p:sp>
      <p:sp>
        <p:nvSpPr>
          <p:cNvPr id="49" name="Shape 216">
            <a:extLst>
              <a:ext uri="{FF2B5EF4-FFF2-40B4-BE49-F238E27FC236}">
                <a16:creationId xmlns:a16="http://schemas.microsoft.com/office/drawing/2014/main" id="{7933860E-C797-3E4F-9370-0231BE2DB44D}"/>
              </a:ext>
            </a:extLst>
          </p:cNvPr>
          <p:cNvSpPr txBox="1"/>
          <p:nvPr/>
        </p:nvSpPr>
        <p:spPr>
          <a:xfrm>
            <a:off x="6786102" y="1291503"/>
            <a:ext cx="814574" cy="879583"/>
          </a:xfrm>
          <a:prstGeom prst="rect">
            <a:avLst/>
          </a:prstGeom>
          <a:solidFill>
            <a:schemeClr val="accent1">
              <a:lumMod val="40000"/>
              <a:lumOff val="60000"/>
              <a:alpha val="50196"/>
            </a:schemeClr>
          </a:solidFill>
          <a:ln w="9525" cap="flat" cmpd="sng">
            <a:solidFill>
              <a:srgbClr val="969696"/>
            </a:solidFill>
            <a:prstDash val="solid"/>
            <a:miter/>
            <a:headEnd type="none" w="med" len="med"/>
            <a:tailEnd type="none" w="med" len="med"/>
          </a:ln>
        </p:spPr>
        <p:txBody>
          <a:bodyPr lIns="0" tIns="0" rIns="0" bIns="0" anchor="t" anchorCtr="0">
            <a:noAutofit/>
          </a:bodyPr>
          <a:lstStyle/>
          <a:p>
            <a:pPr marL="0" marR="0" lvl="0" indent="0" algn="l" rtl="0">
              <a:spcBef>
                <a:spcPts val="0"/>
              </a:spcBef>
              <a:buNone/>
            </a:pPr>
            <a:endParaRPr sz="1800">
              <a:solidFill>
                <a:schemeClr val="dk1"/>
              </a:solidFill>
              <a:latin typeface="Arial"/>
              <a:ea typeface="Arial"/>
              <a:cs typeface="Arial"/>
              <a:sym typeface="Arial"/>
            </a:endParaRPr>
          </a:p>
        </p:txBody>
      </p:sp>
      <p:sp>
        <p:nvSpPr>
          <p:cNvPr id="50" name="Shape 216">
            <a:extLst>
              <a:ext uri="{FF2B5EF4-FFF2-40B4-BE49-F238E27FC236}">
                <a16:creationId xmlns:a16="http://schemas.microsoft.com/office/drawing/2014/main" id="{F8F8AA73-92A1-E641-9FA6-8543F587E565}"/>
              </a:ext>
            </a:extLst>
          </p:cNvPr>
          <p:cNvSpPr txBox="1"/>
          <p:nvPr/>
        </p:nvSpPr>
        <p:spPr>
          <a:xfrm>
            <a:off x="3514459" y="4460600"/>
            <a:ext cx="814574" cy="879583"/>
          </a:xfrm>
          <a:prstGeom prst="rect">
            <a:avLst/>
          </a:prstGeom>
          <a:solidFill>
            <a:schemeClr val="accent1">
              <a:lumMod val="40000"/>
              <a:lumOff val="60000"/>
              <a:alpha val="50196"/>
            </a:schemeClr>
          </a:solidFill>
          <a:ln w="9525" cap="flat" cmpd="sng">
            <a:solidFill>
              <a:srgbClr val="969696"/>
            </a:solidFill>
            <a:prstDash val="solid"/>
            <a:miter/>
            <a:headEnd type="none" w="med" len="med"/>
            <a:tailEnd type="none" w="med" len="med"/>
          </a:ln>
        </p:spPr>
        <p:txBody>
          <a:bodyPr lIns="0" tIns="0" rIns="0" bIns="0" anchor="t" anchorCtr="0">
            <a:noAutofit/>
          </a:bodyPr>
          <a:lstStyle/>
          <a:p>
            <a:pPr marL="0" marR="0" lvl="0" indent="0" algn="l" rtl="0">
              <a:spcBef>
                <a:spcPts val="0"/>
              </a:spcBef>
              <a:buNone/>
            </a:pPr>
            <a:endParaRPr sz="1800">
              <a:solidFill>
                <a:schemeClr val="dk1"/>
              </a:solidFill>
              <a:latin typeface="Arial"/>
              <a:ea typeface="Arial"/>
              <a:cs typeface="Arial"/>
              <a:sym typeface="Arial"/>
            </a:endParaRPr>
          </a:p>
        </p:txBody>
      </p:sp>
      <p:sp>
        <p:nvSpPr>
          <p:cNvPr id="51" name="Shape 216">
            <a:extLst>
              <a:ext uri="{FF2B5EF4-FFF2-40B4-BE49-F238E27FC236}">
                <a16:creationId xmlns:a16="http://schemas.microsoft.com/office/drawing/2014/main" id="{49CB1BE6-CAFC-FB4A-9EF7-D924CA6B7853}"/>
              </a:ext>
            </a:extLst>
          </p:cNvPr>
          <p:cNvSpPr txBox="1"/>
          <p:nvPr/>
        </p:nvSpPr>
        <p:spPr>
          <a:xfrm>
            <a:off x="6786102" y="2168417"/>
            <a:ext cx="814574" cy="879583"/>
          </a:xfrm>
          <a:prstGeom prst="rect">
            <a:avLst/>
          </a:prstGeom>
          <a:solidFill>
            <a:schemeClr val="accent1">
              <a:alpha val="50196"/>
            </a:schemeClr>
          </a:solidFill>
          <a:ln w="9525" cap="flat" cmpd="sng">
            <a:solidFill>
              <a:srgbClr val="969696"/>
            </a:solidFill>
            <a:prstDash val="solid"/>
            <a:miter/>
            <a:headEnd type="none" w="med" len="med"/>
            <a:tailEnd type="none" w="med" len="med"/>
          </a:ln>
        </p:spPr>
        <p:txBody>
          <a:bodyPr lIns="0" tIns="0" rIns="0" bIns="0" anchor="t" anchorCtr="0">
            <a:noAutofit/>
          </a:bodyPr>
          <a:lstStyle/>
          <a:p>
            <a:pPr marL="0" marR="0" lvl="0" indent="0" algn="l" rtl="0">
              <a:spcBef>
                <a:spcPts val="0"/>
              </a:spcBef>
              <a:buNone/>
            </a:pPr>
            <a:endParaRPr sz="1800">
              <a:solidFill>
                <a:schemeClr val="dk1"/>
              </a:solidFill>
              <a:latin typeface="Arial"/>
              <a:ea typeface="Arial"/>
              <a:cs typeface="Arial"/>
              <a:sym typeface="Arial"/>
            </a:endParaRPr>
          </a:p>
        </p:txBody>
      </p:sp>
      <p:sp>
        <p:nvSpPr>
          <p:cNvPr id="52" name="Shape 216">
            <a:extLst>
              <a:ext uri="{FF2B5EF4-FFF2-40B4-BE49-F238E27FC236}">
                <a16:creationId xmlns:a16="http://schemas.microsoft.com/office/drawing/2014/main" id="{2C01009A-8ECF-CE49-A9B5-CB99CE18EFB4}"/>
              </a:ext>
            </a:extLst>
          </p:cNvPr>
          <p:cNvSpPr txBox="1"/>
          <p:nvPr/>
        </p:nvSpPr>
        <p:spPr>
          <a:xfrm>
            <a:off x="4329033" y="4455808"/>
            <a:ext cx="814574" cy="879583"/>
          </a:xfrm>
          <a:prstGeom prst="rect">
            <a:avLst/>
          </a:prstGeom>
          <a:solidFill>
            <a:schemeClr val="accent1">
              <a:alpha val="50196"/>
            </a:schemeClr>
          </a:solidFill>
          <a:ln w="9525" cap="flat" cmpd="sng">
            <a:solidFill>
              <a:srgbClr val="969696"/>
            </a:solidFill>
            <a:prstDash val="solid"/>
            <a:miter/>
            <a:headEnd type="none" w="med" len="med"/>
            <a:tailEnd type="none" w="med" len="med"/>
          </a:ln>
        </p:spPr>
        <p:txBody>
          <a:bodyPr lIns="0" tIns="0" rIns="0" bIns="0" anchor="t" anchorCtr="0">
            <a:noAutofit/>
          </a:bodyPr>
          <a:lstStyle/>
          <a:p>
            <a:pPr marL="0" marR="0" lvl="0" indent="0" algn="l" rtl="0">
              <a:spcBef>
                <a:spcPts val="0"/>
              </a:spcBef>
              <a:buNone/>
            </a:pPr>
            <a:endParaRPr sz="1800">
              <a:solidFill>
                <a:schemeClr val="dk1"/>
              </a:solidFill>
              <a:latin typeface="Arial"/>
              <a:ea typeface="Arial"/>
              <a:cs typeface="Arial"/>
              <a:sym typeface="Arial"/>
            </a:endParaRPr>
          </a:p>
        </p:txBody>
      </p:sp>
      <p:sp>
        <p:nvSpPr>
          <p:cNvPr id="53" name="Shape 123">
            <a:extLst>
              <a:ext uri="{FF2B5EF4-FFF2-40B4-BE49-F238E27FC236}">
                <a16:creationId xmlns:a16="http://schemas.microsoft.com/office/drawing/2014/main" id="{4AFBF24C-E4F9-5349-8336-8949948BA6A5}"/>
              </a:ext>
            </a:extLst>
          </p:cNvPr>
          <p:cNvSpPr txBox="1"/>
          <p:nvPr/>
        </p:nvSpPr>
        <p:spPr>
          <a:xfrm>
            <a:off x="6685670" y="2262371"/>
            <a:ext cx="418828" cy="433895"/>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dirty="0">
                <a:latin typeface="Courier New" panose="02070309020205020404" pitchFamily="49" charset="0"/>
                <a:ea typeface="Palatino"/>
                <a:cs typeface="Courier New" panose="02070309020205020404" pitchFamily="49" charset="0"/>
                <a:sym typeface="Palatino"/>
              </a:rPr>
              <a:t>k</a:t>
            </a:r>
          </a:p>
        </p:txBody>
      </p:sp>
      <p:cxnSp>
        <p:nvCxnSpPr>
          <p:cNvPr id="54" name="Shape 115">
            <a:extLst>
              <a:ext uri="{FF2B5EF4-FFF2-40B4-BE49-F238E27FC236}">
                <a16:creationId xmlns:a16="http://schemas.microsoft.com/office/drawing/2014/main" id="{F14E16E6-7060-874A-ADA9-183FCBBE979A}"/>
              </a:ext>
            </a:extLst>
          </p:cNvPr>
          <p:cNvCxnSpPr>
            <a:cxnSpLocks/>
          </p:cNvCxnSpPr>
          <p:nvPr/>
        </p:nvCxnSpPr>
        <p:spPr>
          <a:xfrm flipH="1" flipV="1">
            <a:off x="7020495" y="1639434"/>
            <a:ext cx="1" cy="1625602"/>
          </a:xfrm>
          <a:prstGeom prst="straightConnector1">
            <a:avLst/>
          </a:prstGeom>
          <a:noFill/>
          <a:ln w="9525" cap="flat" cmpd="sng">
            <a:solidFill>
              <a:srgbClr val="000000"/>
            </a:solidFill>
            <a:prstDash val="solid"/>
            <a:round/>
            <a:headEnd type="triangle" w="lg" len="lg"/>
            <a:tailEnd type="none" w="lg" len="lg"/>
          </a:ln>
        </p:spPr>
      </p:cxnSp>
      <p:sp>
        <p:nvSpPr>
          <p:cNvPr id="55" name="Shape 123">
            <a:extLst>
              <a:ext uri="{FF2B5EF4-FFF2-40B4-BE49-F238E27FC236}">
                <a16:creationId xmlns:a16="http://schemas.microsoft.com/office/drawing/2014/main" id="{FF010DB3-DB09-C847-B290-7029635811C9}"/>
              </a:ext>
            </a:extLst>
          </p:cNvPr>
          <p:cNvSpPr txBox="1"/>
          <p:nvPr/>
        </p:nvSpPr>
        <p:spPr>
          <a:xfrm>
            <a:off x="4408980" y="5049543"/>
            <a:ext cx="418828" cy="433895"/>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dirty="0">
                <a:latin typeface="Courier New" panose="02070309020205020404" pitchFamily="49" charset="0"/>
                <a:ea typeface="Palatino"/>
                <a:cs typeface="Courier New" panose="02070309020205020404" pitchFamily="49" charset="0"/>
                <a:sym typeface="Palatino"/>
              </a:rPr>
              <a:t>k</a:t>
            </a:r>
          </a:p>
        </p:txBody>
      </p:sp>
      <p:cxnSp>
        <p:nvCxnSpPr>
          <p:cNvPr id="56" name="Shape 117">
            <a:extLst>
              <a:ext uri="{FF2B5EF4-FFF2-40B4-BE49-F238E27FC236}">
                <a16:creationId xmlns:a16="http://schemas.microsoft.com/office/drawing/2014/main" id="{183E6285-90A1-3D48-9293-415C42DE0DD4}"/>
              </a:ext>
            </a:extLst>
          </p:cNvPr>
          <p:cNvCxnSpPr>
            <a:cxnSpLocks/>
          </p:cNvCxnSpPr>
          <p:nvPr/>
        </p:nvCxnSpPr>
        <p:spPr>
          <a:xfrm flipH="1">
            <a:off x="3679042" y="5097753"/>
            <a:ext cx="1878705" cy="0"/>
          </a:xfrm>
          <a:prstGeom prst="straightConnector1">
            <a:avLst/>
          </a:prstGeom>
          <a:noFill/>
          <a:ln w="9525" cap="flat" cmpd="sng">
            <a:solidFill>
              <a:srgbClr val="000000"/>
            </a:solidFill>
            <a:prstDash val="solid"/>
            <a:round/>
            <a:headEnd type="triangle" w="lg" len="lg"/>
            <a:tailEnd type="none" w="lg" len="lg"/>
          </a:ln>
        </p:spPr>
      </p:cxnSp>
      <p:cxnSp>
        <p:nvCxnSpPr>
          <p:cNvPr id="57" name="Shape 110">
            <a:extLst>
              <a:ext uri="{FF2B5EF4-FFF2-40B4-BE49-F238E27FC236}">
                <a16:creationId xmlns:a16="http://schemas.microsoft.com/office/drawing/2014/main" id="{AFA89398-F617-9E4E-B278-597E7C4BE006}"/>
              </a:ext>
            </a:extLst>
          </p:cNvPr>
          <p:cNvCxnSpPr>
            <a:cxnSpLocks/>
          </p:cNvCxnSpPr>
          <p:nvPr/>
        </p:nvCxnSpPr>
        <p:spPr>
          <a:xfrm flipH="1">
            <a:off x="3503734" y="5445120"/>
            <a:ext cx="825299" cy="0"/>
          </a:xfrm>
          <a:prstGeom prst="straightConnector1">
            <a:avLst/>
          </a:prstGeom>
          <a:noFill/>
          <a:ln w="9525" cap="flat" cmpd="sng">
            <a:solidFill>
              <a:srgbClr val="000000"/>
            </a:solidFill>
            <a:prstDash val="solid"/>
            <a:round/>
            <a:headEnd type="triangle" w="lg" len="lg"/>
            <a:tailEnd type="triangle" w="lg" len="lg"/>
          </a:ln>
        </p:spPr>
      </p:cxnSp>
      <p:cxnSp>
        <p:nvCxnSpPr>
          <p:cNvPr id="58" name="Shape 116">
            <a:extLst>
              <a:ext uri="{FF2B5EF4-FFF2-40B4-BE49-F238E27FC236}">
                <a16:creationId xmlns:a16="http://schemas.microsoft.com/office/drawing/2014/main" id="{774CCC5B-0CE1-0E4C-8694-9DB79B91C0EF}"/>
              </a:ext>
            </a:extLst>
          </p:cNvPr>
          <p:cNvCxnSpPr>
            <a:cxnSpLocks/>
          </p:cNvCxnSpPr>
          <p:nvPr/>
        </p:nvCxnSpPr>
        <p:spPr>
          <a:xfrm flipV="1">
            <a:off x="3377749" y="4456955"/>
            <a:ext cx="1" cy="878436"/>
          </a:xfrm>
          <a:prstGeom prst="straightConnector1">
            <a:avLst/>
          </a:prstGeom>
          <a:noFill/>
          <a:ln w="9525" cap="flat" cmpd="sng">
            <a:solidFill>
              <a:srgbClr val="000000"/>
            </a:solidFill>
            <a:prstDash val="solid"/>
            <a:round/>
            <a:headEnd type="triangle" w="lg" len="lg"/>
            <a:tailEnd type="triangle" w="lg" len="lg"/>
          </a:ln>
        </p:spPr>
      </p:cxnSp>
      <p:sp>
        <p:nvSpPr>
          <p:cNvPr id="59" name="Shape 120">
            <a:extLst>
              <a:ext uri="{FF2B5EF4-FFF2-40B4-BE49-F238E27FC236}">
                <a16:creationId xmlns:a16="http://schemas.microsoft.com/office/drawing/2014/main" id="{6AB6F6F8-A006-C94B-A5E2-F2FD81CCF74A}"/>
              </a:ext>
            </a:extLst>
          </p:cNvPr>
          <p:cNvSpPr txBox="1"/>
          <p:nvPr/>
        </p:nvSpPr>
        <p:spPr>
          <a:xfrm>
            <a:off x="3464603" y="5548861"/>
            <a:ext cx="932901" cy="231538"/>
          </a:xfrm>
          <a:prstGeom prst="rect">
            <a:avLst/>
          </a:prstGeom>
          <a:noFill/>
          <a:ln>
            <a:noFill/>
          </a:ln>
        </p:spPr>
        <p:txBody>
          <a:bodyPr lIns="0" tIns="0" rIns="0" bIns="0" anchor="t" anchorCtr="0">
            <a:noAutofit/>
          </a:bodyPr>
          <a:lstStyle/>
          <a:p>
            <a:pPr marL="0" marR="0" lvl="0" indent="0" algn="ctr" rtl="0">
              <a:spcBef>
                <a:spcPts val="0"/>
              </a:spcBef>
              <a:buSzPct val="25000"/>
              <a:buNone/>
            </a:pPr>
            <a:r>
              <a:rPr lang="en-US" sz="1400" dirty="0" err="1">
                <a:latin typeface="Courier New" panose="02070309020205020404" pitchFamily="49" charset="0"/>
                <a:ea typeface="Times New Roman"/>
                <a:cs typeface="Courier New" panose="02070309020205020404" pitchFamily="49" charset="0"/>
                <a:sym typeface="Times New Roman"/>
              </a:rPr>
              <a:t>tile_dim</a:t>
            </a:r>
            <a:endParaRPr lang="en-US" sz="1400" dirty="0">
              <a:latin typeface="Courier New" panose="02070309020205020404" pitchFamily="49" charset="0"/>
              <a:ea typeface="Times New Roman"/>
              <a:cs typeface="Courier New" panose="02070309020205020404" pitchFamily="49" charset="0"/>
              <a:sym typeface="Times New Roman"/>
            </a:endParaRPr>
          </a:p>
        </p:txBody>
      </p:sp>
      <p:sp>
        <p:nvSpPr>
          <p:cNvPr id="60" name="Shape 120">
            <a:extLst>
              <a:ext uri="{FF2B5EF4-FFF2-40B4-BE49-F238E27FC236}">
                <a16:creationId xmlns:a16="http://schemas.microsoft.com/office/drawing/2014/main" id="{4CF762B6-D1C8-0840-8566-72EF0E883927}"/>
              </a:ext>
            </a:extLst>
          </p:cNvPr>
          <p:cNvSpPr txBox="1"/>
          <p:nvPr/>
        </p:nvSpPr>
        <p:spPr>
          <a:xfrm rot="16200000">
            <a:off x="2697319" y="4808666"/>
            <a:ext cx="932901" cy="231538"/>
          </a:xfrm>
          <a:prstGeom prst="rect">
            <a:avLst/>
          </a:prstGeom>
          <a:noFill/>
          <a:ln>
            <a:noFill/>
          </a:ln>
        </p:spPr>
        <p:txBody>
          <a:bodyPr lIns="0" tIns="0" rIns="0" bIns="0" anchor="t" anchorCtr="0">
            <a:noAutofit/>
          </a:bodyPr>
          <a:lstStyle/>
          <a:p>
            <a:pPr marL="0" marR="0" lvl="0" indent="0" algn="ctr" rtl="0">
              <a:spcBef>
                <a:spcPts val="0"/>
              </a:spcBef>
              <a:buSzPct val="25000"/>
              <a:buNone/>
            </a:pPr>
            <a:r>
              <a:rPr lang="en-US" sz="1400" dirty="0" err="1">
                <a:latin typeface="Courier New" panose="02070309020205020404" pitchFamily="49" charset="0"/>
                <a:ea typeface="Times New Roman"/>
                <a:cs typeface="Courier New" panose="02070309020205020404" pitchFamily="49" charset="0"/>
                <a:sym typeface="Times New Roman"/>
              </a:rPr>
              <a:t>tile_dim</a:t>
            </a:r>
            <a:endParaRPr lang="en-US" sz="1400" dirty="0">
              <a:latin typeface="Courier New" panose="02070309020205020404" pitchFamily="49" charset="0"/>
              <a:ea typeface="Times New Roman"/>
              <a:cs typeface="Courier New" panose="02070309020205020404" pitchFamily="49" charset="0"/>
              <a:sym typeface="Times New Roman"/>
            </a:endParaRPr>
          </a:p>
        </p:txBody>
      </p:sp>
      <p:sp>
        <p:nvSpPr>
          <p:cNvPr id="61" name="Shape 216">
            <a:extLst>
              <a:ext uri="{FF2B5EF4-FFF2-40B4-BE49-F238E27FC236}">
                <a16:creationId xmlns:a16="http://schemas.microsoft.com/office/drawing/2014/main" id="{BA2D8D25-7A8B-EC4E-9FC2-7DCE6A5DF529}"/>
              </a:ext>
            </a:extLst>
          </p:cNvPr>
          <p:cNvSpPr txBox="1"/>
          <p:nvPr/>
        </p:nvSpPr>
        <p:spPr>
          <a:xfrm>
            <a:off x="6781800" y="4455808"/>
            <a:ext cx="814574" cy="879583"/>
          </a:xfrm>
          <a:prstGeom prst="rect">
            <a:avLst/>
          </a:prstGeom>
          <a:solidFill>
            <a:schemeClr val="accent1">
              <a:lumMod val="60000"/>
              <a:lumOff val="40000"/>
              <a:alpha val="50196"/>
            </a:schemeClr>
          </a:solidFill>
          <a:ln w="9525" cap="flat" cmpd="sng">
            <a:solidFill>
              <a:srgbClr val="969696"/>
            </a:solidFill>
            <a:prstDash val="solid"/>
            <a:miter/>
            <a:headEnd type="none" w="med" len="med"/>
            <a:tailEnd type="none" w="med" len="med"/>
          </a:ln>
        </p:spPr>
        <p:txBody>
          <a:bodyPr lIns="0" tIns="0" rIns="0" bIns="0" anchor="t" anchorCtr="0">
            <a:noAutofit/>
          </a:bodyPr>
          <a:lstStyle/>
          <a:p>
            <a:pPr marL="0" marR="0" lvl="0" indent="0" algn="l" rtl="0">
              <a:spcBef>
                <a:spcPts val="0"/>
              </a:spcBef>
              <a:buNone/>
            </a:pPr>
            <a:endParaRPr sz="1800">
              <a:solidFill>
                <a:schemeClr val="dk1"/>
              </a:solidFill>
              <a:latin typeface="Arial"/>
              <a:ea typeface="Arial"/>
              <a:cs typeface="Arial"/>
              <a:sym typeface="Arial"/>
            </a:endParaRPr>
          </a:p>
        </p:txBody>
      </p:sp>
      <p:sp>
        <p:nvSpPr>
          <p:cNvPr id="62" name="Shape 216">
            <a:extLst>
              <a:ext uri="{FF2B5EF4-FFF2-40B4-BE49-F238E27FC236}">
                <a16:creationId xmlns:a16="http://schemas.microsoft.com/office/drawing/2014/main" id="{366ACF5D-B8ED-4649-B78A-E94BC227FB0B}"/>
              </a:ext>
            </a:extLst>
          </p:cNvPr>
          <p:cNvSpPr txBox="1"/>
          <p:nvPr/>
        </p:nvSpPr>
        <p:spPr>
          <a:xfrm>
            <a:off x="6781800" y="4455808"/>
            <a:ext cx="814574" cy="879583"/>
          </a:xfrm>
          <a:prstGeom prst="rect">
            <a:avLst/>
          </a:prstGeom>
          <a:solidFill>
            <a:schemeClr val="accent1">
              <a:alpha val="50196"/>
            </a:schemeClr>
          </a:solidFill>
          <a:ln w="9525" cap="flat" cmpd="sng">
            <a:solidFill>
              <a:srgbClr val="969696"/>
            </a:solidFill>
            <a:prstDash val="solid"/>
            <a:miter/>
            <a:headEnd type="none" w="med" len="med"/>
            <a:tailEnd type="none" w="med" len="med"/>
          </a:ln>
        </p:spPr>
        <p:txBody>
          <a:bodyPr lIns="0" tIns="0" rIns="0" bIns="0" anchor="t" anchorCtr="0">
            <a:noAutofit/>
          </a:bodyPr>
          <a:lstStyle/>
          <a:p>
            <a:pPr marL="0" marR="0" lvl="0" indent="0" algn="l" rtl="0">
              <a:spcBef>
                <a:spcPts val="0"/>
              </a:spcBef>
              <a:buNone/>
            </a:pPr>
            <a:endParaRPr sz="1800">
              <a:solidFill>
                <a:schemeClr val="dk1"/>
              </a:solidFill>
              <a:latin typeface="Arial"/>
              <a:ea typeface="Arial"/>
              <a:cs typeface="Arial"/>
              <a:sym typeface="Arial"/>
            </a:endParaRPr>
          </a:p>
        </p:txBody>
      </p:sp>
      <p:sp>
        <p:nvSpPr>
          <p:cNvPr id="63" name="Shape 122">
            <a:extLst>
              <a:ext uri="{FF2B5EF4-FFF2-40B4-BE49-F238E27FC236}">
                <a16:creationId xmlns:a16="http://schemas.microsoft.com/office/drawing/2014/main" id="{86272C85-1C9A-3443-87E2-8B1DBE84C24D}"/>
              </a:ext>
            </a:extLst>
          </p:cNvPr>
          <p:cNvSpPr txBox="1"/>
          <p:nvPr/>
        </p:nvSpPr>
        <p:spPr>
          <a:xfrm>
            <a:off x="7212974" y="4446911"/>
            <a:ext cx="430881" cy="433895"/>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dirty="0" err="1">
                <a:latin typeface="Courier New" panose="02070309020205020404" pitchFamily="49" charset="0"/>
                <a:ea typeface="Palatino"/>
                <a:cs typeface="Courier New" panose="02070309020205020404" pitchFamily="49" charset="0"/>
                <a:sym typeface="Palatino"/>
              </a:rPr>
              <a:t>i</a:t>
            </a:r>
            <a:endParaRPr lang="en-US" dirty="0">
              <a:latin typeface="Courier New" panose="02070309020205020404" pitchFamily="49" charset="0"/>
              <a:ea typeface="Palatino"/>
              <a:cs typeface="Courier New" panose="02070309020205020404" pitchFamily="49" charset="0"/>
              <a:sym typeface="Palatino"/>
            </a:endParaRPr>
          </a:p>
        </p:txBody>
      </p:sp>
      <p:sp>
        <p:nvSpPr>
          <p:cNvPr id="64" name="Shape 123">
            <a:extLst>
              <a:ext uri="{FF2B5EF4-FFF2-40B4-BE49-F238E27FC236}">
                <a16:creationId xmlns:a16="http://schemas.microsoft.com/office/drawing/2014/main" id="{D4A59185-92E8-6E4A-836C-CEBD6DBDAE71}"/>
              </a:ext>
            </a:extLst>
          </p:cNvPr>
          <p:cNvSpPr txBox="1"/>
          <p:nvPr/>
        </p:nvSpPr>
        <p:spPr>
          <a:xfrm>
            <a:off x="6709086" y="4924436"/>
            <a:ext cx="418828" cy="433895"/>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dirty="0">
                <a:latin typeface="Courier New" panose="02070309020205020404" pitchFamily="49" charset="0"/>
                <a:ea typeface="Palatino"/>
                <a:cs typeface="Courier New" panose="02070309020205020404" pitchFamily="49" charset="0"/>
                <a:sym typeface="Palatino"/>
              </a:rPr>
              <a:t>j</a:t>
            </a:r>
          </a:p>
        </p:txBody>
      </p:sp>
      <p:sp>
        <p:nvSpPr>
          <p:cNvPr id="66" name="TextBox 65">
            <a:extLst>
              <a:ext uri="{FF2B5EF4-FFF2-40B4-BE49-F238E27FC236}">
                <a16:creationId xmlns:a16="http://schemas.microsoft.com/office/drawing/2014/main" id="{C8F294CD-E532-2249-AF8B-8D8AEA9D1D69}"/>
              </a:ext>
            </a:extLst>
          </p:cNvPr>
          <p:cNvSpPr txBox="1"/>
          <p:nvPr/>
        </p:nvSpPr>
        <p:spPr>
          <a:xfrm>
            <a:off x="228600" y="6453547"/>
            <a:ext cx="7848623" cy="438582"/>
          </a:xfrm>
          <a:prstGeom prst="rect">
            <a:avLst/>
          </a:prstGeom>
          <a:noFill/>
        </p:spPr>
        <p:txBody>
          <a:bodyPr wrap="none" rtlCol="0">
            <a:spAutoFit/>
          </a:bodyPr>
          <a:lstStyle/>
          <a:p>
            <a:pPr lvl="0">
              <a:defRPr/>
            </a:pPr>
            <a:r>
              <a:rPr lang="en-US" sz="750" dirty="0"/>
              <a:t>Lam+, "The cache performance and optimizations of blocked algorithms," ASPLOS 1991. </a:t>
            </a:r>
            <a:r>
              <a:rPr lang="en-US" sz="750" dirty="0">
                <a:hlinkClick r:id="rId3"/>
              </a:rPr>
              <a:t>https://doi.org/10.1145/106972.106981</a:t>
            </a:r>
            <a:endParaRPr lang="en-US" sz="750" dirty="0"/>
          </a:p>
          <a:p>
            <a:pPr lvl="0">
              <a:defRPr/>
            </a:pPr>
            <a:r>
              <a:rPr lang="en-US" sz="750" dirty="0"/>
              <a:t>Bansal+, "Chapter 15 - Fast Matrix Computations on Heterogeneous Streams," in "High Performance Parallelism Pearls", 2015. </a:t>
            </a:r>
            <a:r>
              <a:rPr lang="en-US" sz="750" dirty="0">
                <a:hlinkClick r:id="rId4"/>
              </a:rPr>
              <a:t>https://doi.org/10.1016/B978-0-12-803819-2.00011-2</a:t>
            </a:r>
            <a:endParaRPr lang="en-US" sz="750" dirty="0"/>
          </a:p>
          <a:p>
            <a:pPr lvl="0">
              <a:defRPr/>
            </a:pPr>
            <a:r>
              <a:rPr lang="en-US" sz="750" dirty="0"/>
              <a:t>Kirk &amp; </a:t>
            </a:r>
            <a:r>
              <a:rPr lang="en-US" sz="750" dirty="0" err="1"/>
              <a:t>Hwu</a:t>
            </a:r>
            <a:r>
              <a:rPr lang="en-US" sz="750" dirty="0"/>
              <a:t>, "Chapter 5 - Performance considerations," in "Programming Massively Parallel Processors (Third Edition)", 2017. </a:t>
            </a:r>
            <a:r>
              <a:rPr lang="en-US" sz="750" dirty="0">
                <a:hlinkClick r:id="rId5"/>
              </a:rPr>
              <a:t>https://doi.org/10.1016/B978-0-12-811986-0.00005-4</a:t>
            </a:r>
            <a:endParaRPr lang="en-US" sz="750" dirty="0"/>
          </a:p>
        </p:txBody>
      </p:sp>
    </p:spTree>
    <p:extLst>
      <p:ext uri="{BB962C8B-B14F-4D97-AF65-F5344CB8AC3E}">
        <p14:creationId xmlns:p14="http://schemas.microsoft.com/office/powerpoint/2010/main" val="293992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0" grpId="0" animBg="1"/>
      <p:bldP spid="51" grpId="0" animBg="1"/>
      <p:bldP spid="52" grpId="0" animBg="1"/>
      <p:bldP spid="59" grpId="0"/>
      <p:bldP spid="60" grpId="0"/>
      <p:bldP spid="61" grpId="0" animBg="1"/>
      <p:bldP spid="62"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3" name="Title 1">
            <a:extLst>
              <a:ext uri="{FF2B5EF4-FFF2-40B4-BE49-F238E27FC236}">
                <a16:creationId xmlns:a16="http://schemas.microsoft.com/office/drawing/2014/main" id="{16B53E08-421B-7A45-8C30-E6FB197D67F0}"/>
              </a:ext>
            </a:extLst>
          </p:cNvPr>
          <p:cNvSpPr>
            <a:spLocks noGrp="1" noChangeArrowheads="1"/>
          </p:cNvSpPr>
          <p:nvPr>
            <p:ph type="title"/>
          </p:nvPr>
        </p:nvSpPr>
        <p:spPr/>
        <p:txBody>
          <a:bodyPr/>
          <a:lstStyle/>
          <a:p>
            <a:r>
              <a:rPr lang="en-US" altLang="en-US" dirty="0">
                <a:ea typeface="ＭＳ Ｐゴシック" panose="020B0600070205080204" pitchFamily="34" charset="-128"/>
              </a:rPr>
              <a:t>CPU: Tiled Matrix Multiplication (II)</a:t>
            </a:r>
          </a:p>
        </p:txBody>
      </p:sp>
      <p:sp>
        <p:nvSpPr>
          <p:cNvPr id="35843" name="Content Placeholder 2">
            <a:extLst>
              <a:ext uri="{FF2B5EF4-FFF2-40B4-BE49-F238E27FC236}">
                <a16:creationId xmlns:a16="http://schemas.microsoft.com/office/drawing/2014/main" id="{7D554ED4-E9EE-AF40-8D7E-E9E980194DC4}"/>
              </a:ext>
            </a:extLst>
          </p:cNvPr>
          <p:cNvSpPr>
            <a:spLocks noGrp="1" noChangeArrowheads="1"/>
          </p:cNvSpPr>
          <p:nvPr>
            <p:ph idx="1"/>
          </p:nvPr>
        </p:nvSpPr>
        <p:spPr>
          <a:xfrm>
            <a:off x="228600" y="914400"/>
            <a:ext cx="8610600" cy="5486400"/>
          </a:xfrm>
        </p:spPr>
        <p:txBody>
          <a:bodyPr/>
          <a:lstStyle/>
          <a:p>
            <a:r>
              <a:rPr lang="en-US" altLang="en-US" dirty="0">
                <a:solidFill>
                  <a:srgbClr val="0432FF"/>
                </a:solidFill>
                <a:ea typeface="ＭＳ Ｐゴシック" panose="020B0600070205080204" pitchFamily="34" charset="-128"/>
              </a:rPr>
              <a:t>Tiled implementation</a:t>
            </a:r>
            <a:r>
              <a:rPr lang="en-US" altLang="en-US" dirty="0">
                <a:ea typeface="ＭＳ Ｐゴシック" panose="020B0600070205080204" pitchFamily="34" charset="-128"/>
              </a:rPr>
              <a:t> operates on submatrices (tiles or blocks) that fit fast RAMs (cache, scratchpad, RF)</a:t>
            </a:r>
            <a:endParaRPr lang="en-US" altLang="en-US" dirty="0">
              <a:solidFill>
                <a:srgbClr val="FF0000"/>
              </a:solidFill>
              <a:ea typeface="ＭＳ Ｐゴシック" panose="020B0600070205080204" pitchFamily="34" charset="-128"/>
            </a:endParaRPr>
          </a:p>
        </p:txBody>
      </p:sp>
      <p:sp>
        <p:nvSpPr>
          <p:cNvPr id="248835" name="Slide Number Placeholder 3">
            <a:extLst>
              <a:ext uri="{FF2B5EF4-FFF2-40B4-BE49-F238E27FC236}">
                <a16:creationId xmlns:a16="http://schemas.microsoft.com/office/drawing/2014/main" id="{CCE4354E-DC2C-8E49-A078-0EEB05C17BC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77E7AE0-EC71-4D48-959A-8A23F1B03886}"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53</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
        <p:nvSpPr>
          <p:cNvPr id="2" name="TextBox 1">
            <a:extLst>
              <a:ext uri="{FF2B5EF4-FFF2-40B4-BE49-F238E27FC236}">
                <a16:creationId xmlns:a16="http://schemas.microsoft.com/office/drawing/2014/main" id="{D8C761A8-1BFB-A243-A6F4-CDBAACB54B37}"/>
              </a:ext>
            </a:extLst>
          </p:cNvPr>
          <p:cNvSpPr txBox="1"/>
          <p:nvPr/>
        </p:nvSpPr>
        <p:spPr>
          <a:xfrm>
            <a:off x="351742" y="1864126"/>
            <a:ext cx="6565484" cy="2462213"/>
          </a:xfrm>
          <a:prstGeom prst="rect">
            <a:avLst/>
          </a:prstGeom>
          <a:solidFill>
            <a:schemeClr val="accent1">
              <a:lumMod val="20000"/>
              <a:lumOff val="80000"/>
            </a:schemeClr>
          </a:solidFill>
          <a:ln>
            <a:solidFill>
              <a:schemeClr val="accent1"/>
            </a:solidFill>
          </a:ln>
        </p:spPr>
        <p:txBody>
          <a:bodyPr wrap="square" rtlCol="0">
            <a:spAutoFit/>
          </a:bodyPr>
          <a:lstStyle/>
          <a:p>
            <a:r>
              <a:rPr lang="en-US" sz="1400" dirty="0">
                <a:solidFill>
                  <a:schemeClr val="bg1">
                    <a:lumMod val="50000"/>
                  </a:schemeClr>
                </a:solidFill>
                <a:latin typeface="Courier New" panose="02070309020205020404" pitchFamily="49" charset="0"/>
                <a:cs typeface="Courier New" panose="02070309020205020404" pitchFamily="49" charset="0"/>
              </a:rPr>
              <a:t>#define A(</a:t>
            </a:r>
            <a:r>
              <a:rPr lang="en-US" sz="1400" dirty="0" err="1">
                <a:solidFill>
                  <a:schemeClr val="bg1">
                    <a:lumMod val="50000"/>
                  </a:schemeClr>
                </a:solidFill>
                <a:latin typeface="Courier New" panose="02070309020205020404" pitchFamily="49" charset="0"/>
                <a:cs typeface="Courier New" panose="02070309020205020404" pitchFamily="49" charset="0"/>
              </a:rPr>
              <a:t>i,j</a:t>
            </a:r>
            <a:r>
              <a:rPr lang="en-US" sz="1400" dirty="0">
                <a:solidFill>
                  <a:schemeClr val="bg1">
                    <a:lumMod val="50000"/>
                  </a:schemeClr>
                </a:solidFill>
                <a:latin typeface="Courier New" panose="02070309020205020404" pitchFamily="49" charset="0"/>
                <a:cs typeface="Courier New" panose="02070309020205020404" pitchFamily="49" charset="0"/>
              </a:rPr>
              <a:t>) </a:t>
            </a:r>
            <a:r>
              <a:rPr lang="en-US" sz="1400" dirty="0" err="1">
                <a:solidFill>
                  <a:schemeClr val="bg1">
                    <a:lumMod val="50000"/>
                  </a:schemeClr>
                </a:solidFill>
                <a:latin typeface="Courier New" panose="02070309020205020404" pitchFamily="49" charset="0"/>
                <a:cs typeface="Courier New" panose="02070309020205020404" pitchFamily="49" charset="0"/>
              </a:rPr>
              <a:t>matrix_A</a:t>
            </a:r>
            <a:r>
              <a:rPr lang="en-US" sz="1400" dirty="0">
                <a:solidFill>
                  <a:schemeClr val="bg1">
                    <a:lumMod val="50000"/>
                  </a:schemeClr>
                </a:solidFill>
                <a:latin typeface="Courier New" panose="02070309020205020404" pitchFamily="49" charset="0"/>
                <a:cs typeface="Courier New" panose="02070309020205020404" pitchFamily="49" charset="0"/>
              </a:rPr>
              <a:t>[</a:t>
            </a:r>
            <a:r>
              <a:rPr lang="en-US" sz="1400" dirty="0" err="1">
                <a:solidFill>
                  <a:schemeClr val="bg1">
                    <a:lumMod val="50000"/>
                  </a:schemeClr>
                </a:solidFill>
                <a:latin typeface="Courier New" panose="02070309020205020404" pitchFamily="49" charset="0"/>
                <a:cs typeface="Courier New" panose="02070309020205020404" pitchFamily="49" charset="0"/>
              </a:rPr>
              <a:t>i</a:t>
            </a:r>
            <a:r>
              <a:rPr lang="en-US" sz="1400" dirty="0">
                <a:solidFill>
                  <a:schemeClr val="bg1">
                    <a:lumMod val="50000"/>
                  </a:schemeClr>
                </a:solidFill>
                <a:latin typeface="Courier New" panose="02070309020205020404" pitchFamily="49" charset="0"/>
                <a:cs typeface="Courier New" panose="02070309020205020404" pitchFamily="49" charset="0"/>
              </a:rPr>
              <a:t> * P + j] </a:t>
            </a:r>
          </a:p>
          <a:p>
            <a:r>
              <a:rPr lang="en-US" sz="1400" dirty="0">
                <a:solidFill>
                  <a:schemeClr val="bg1">
                    <a:lumMod val="50000"/>
                  </a:schemeClr>
                </a:solidFill>
                <a:latin typeface="Courier New" panose="02070309020205020404" pitchFamily="49" charset="0"/>
                <a:cs typeface="Courier New" panose="02070309020205020404" pitchFamily="49" charset="0"/>
              </a:rPr>
              <a:t>#define B(</a:t>
            </a:r>
            <a:r>
              <a:rPr lang="en-US" sz="1400" dirty="0" err="1">
                <a:solidFill>
                  <a:schemeClr val="bg1">
                    <a:lumMod val="50000"/>
                  </a:schemeClr>
                </a:solidFill>
                <a:latin typeface="Courier New" panose="02070309020205020404" pitchFamily="49" charset="0"/>
                <a:cs typeface="Courier New" panose="02070309020205020404" pitchFamily="49" charset="0"/>
              </a:rPr>
              <a:t>i,j</a:t>
            </a:r>
            <a:r>
              <a:rPr lang="en-US" sz="1400" dirty="0">
                <a:solidFill>
                  <a:schemeClr val="bg1">
                    <a:lumMod val="50000"/>
                  </a:schemeClr>
                </a:solidFill>
                <a:latin typeface="Courier New" panose="02070309020205020404" pitchFamily="49" charset="0"/>
                <a:cs typeface="Courier New" panose="02070309020205020404" pitchFamily="49" charset="0"/>
              </a:rPr>
              <a:t>) </a:t>
            </a:r>
            <a:r>
              <a:rPr lang="en-US" sz="1400" dirty="0" err="1">
                <a:solidFill>
                  <a:schemeClr val="bg1">
                    <a:lumMod val="50000"/>
                  </a:schemeClr>
                </a:solidFill>
                <a:latin typeface="Courier New" panose="02070309020205020404" pitchFamily="49" charset="0"/>
                <a:cs typeface="Courier New" panose="02070309020205020404" pitchFamily="49" charset="0"/>
              </a:rPr>
              <a:t>matrix_B</a:t>
            </a:r>
            <a:r>
              <a:rPr lang="en-US" sz="1400" dirty="0">
                <a:solidFill>
                  <a:schemeClr val="bg1">
                    <a:lumMod val="50000"/>
                  </a:schemeClr>
                </a:solidFill>
                <a:latin typeface="Courier New" panose="02070309020205020404" pitchFamily="49" charset="0"/>
                <a:cs typeface="Courier New" panose="02070309020205020404" pitchFamily="49" charset="0"/>
              </a:rPr>
              <a:t>[</a:t>
            </a:r>
            <a:r>
              <a:rPr lang="en-US" sz="1400" dirty="0" err="1">
                <a:solidFill>
                  <a:schemeClr val="bg1">
                    <a:lumMod val="50000"/>
                  </a:schemeClr>
                </a:solidFill>
                <a:latin typeface="Courier New" panose="02070309020205020404" pitchFamily="49" charset="0"/>
                <a:cs typeface="Courier New" panose="02070309020205020404" pitchFamily="49" charset="0"/>
              </a:rPr>
              <a:t>i</a:t>
            </a:r>
            <a:r>
              <a:rPr lang="en-US" sz="1400" dirty="0">
                <a:solidFill>
                  <a:schemeClr val="bg1">
                    <a:lumMod val="50000"/>
                  </a:schemeClr>
                </a:solidFill>
                <a:latin typeface="Courier New" panose="02070309020205020404" pitchFamily="49" charset="0"/>
                <a:cs typeface="Courier New" panose="02070309020205020404" pitchFamily="49" charset="0"/>
              </a:rPr>
              <a:t> * N + j] </a:t>
            </a:r>
          </a:p>
          <a:p>
            <a:r>
              <a:rPr lang="en-US" sz="1400" dirty="0">
                <a:solidFill>
                  <a:schemeClr val="bg1">
                    <a:lumMod val="50000"/>
                  </a:schemeClr>
                </a:solidFill>
                <a:latin typeface="Courier New" panose="02070309020205020404" pitchFamily="49" charset="0"/>
                <a:cs typeface="Courier New" panose="02070309020205020404" pitchFamily="49" charset="0"/>
              </a:rPr>
              <a:t>#define C(</a:t>
            </a:r>
            <a:r>
              <a:rPr lang="en-US" sz="1400" dirty="0" err="1">
                <a:solidFill>
                  <a:schemeClr val="bg1">
                    <a:lumMod val="50000"/>
                  </a:schemeClr>
                </a:solidFill>
                <a:latin typeface="Courier New" panose="02070309020205020404" pitchFamily="49" charset="0"/>
                <a:cs typeface="Courier New" panose="02070309020205020404" pitchFamily="49" charset="0"/>
              </a:rPr>
              <a:t>i,j</a:t>
            </a:r>
            <a:r>
              <a:rPr lang="en-US" sz="1400" dirty="0">
                <a:solidFill>
                  <a:schemeClr val="bg1">
                    <a:lumMod val="50000"/>
                  </a:schemeClr>
                </a:solidFill>
                <a:latin typeface="Courier New" panose="02070309020205020404" pitchFamily="49" charset="0"/>
                <a:cs typeface="Courier New" panose="02070309020205020404" pitchFamily="49" charset="0"/>
              </a:rPr>
              <a:t>) </a:t>
            </a:r>
            <a:r>
              <a:rPr lang="en-US" sz="1400" dirty="0" err="1">
                <a:solidFill>
                  <a:schemeClr val="bg1">
                    <a:lumMod val="50000"/>
                  </a:schemeClr>
                </a:solidFill>
                <a:latin typeface="Courier New" panose="02070309020205020404" pitchFamily="49" charset="0"/>
                <a:cs typeface="Courier New" panose="02070309020205020404" pitchFamily="49" charset="0"/>
              </a:rPr>
              <a:t>matrix_C</a:t>
            </a:r>
            <a:r>
              <a:rPr lang="en-US" sz="1400" dirty="0">
                <a:solidFill>
                  <a:schemeClr val="bg1">
                    <a:lumMod val="50000"/>
                  </a:schemeClr>
                </a:solidFill>
                <a:latin typeface="Courier New" panose="02070309020205020404" pitchFamily="49" charset="0"/>
                <a:cs typeface="Courier New" panose="02070309020205020404" pitchFamily="49" charset="0"/>
              </a:rPr>
              <a:t>[</a:t>
            </a:r>
            <a:r>
              <a:rPr lang="en-US" sz="1400" dirty="0" err="1">
                <a:solidFill>
                  <a:schemeClr val="bg1">
                    <a:lumMod val="50000"/>
                  </a:schemeClr>
                </a:solidFill>
                <a:latin typeface="Courier New" panose="02070309020205020404" pitchFamily="49" charset="0"/>
                <a:cs typeface="Courier New" panose="02070309020205020404" pitchFamily="49" charset="0"/>
              </a:rPr>
              <a:t>i</a:t>
            </a:r>
            <a:r>
              <a:rPr lang="en-US" sz="1400" dirty="0">
                <a:solidFill>
                  <a:schemeClr val="bg1">
                    <a:lumMod val="50000"/>
                  </a:schemeClr>
                </a:solidFill>
                <a:latin typeface="Courier New" panose="02070309020205020404" pitchFamily="49" charset="0"/>
                <a:cs typeface="Courier New" panose="02070309020205020404" pitchFamily="49" charset="0"/>
              </a:rPr>
              <a:t> * N + j]</a:t>
            </a:r>
          </a:p>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for (I = 0; I &lt; M; I += </a:t>
            </a:r>
            <a:r>
              <a:rPr lang="en-US" sz="1400" dirty="0" err="1">
                <a:latin typeface="Courier New" panose="02070309020205020404" pitchFamily="49" charset="0"/>
                <a:cs typeface="Courier New" panose="02070309020205020404" pitchFamily="49" charset="0"/>
              </a:rPr>
              <a:t>tile_dim</a:t>
            </a:r>
            <a:r>
              <a:rPr lang="en-US" sz="1400" dirty="0">
                <a:latin typeface="Courier New" panose="02070309020205020404" pitchFamily="49" charset="0"/>
                <a:cs typeface="Courier New" panose="02070309020205020404" pitchFamily="49" charset="0"/>
              </a:rPr>
              <a:t>){</a:t>
            </a:r>
          </a:p>
          <a:p>
            <a:r>
              <a:rPr lang="en-US" sz="1400" dirty="0">
                <a:latin typeface="Courier New" panose="02070309020205020404" pitchFamily="49" charset="0"/>
                <a:cs typeface="Courier New" panose="02070309020205020404" pitchFamily="49" charset="0"/>
              </a:rPr>
              <a:t>    for (J = 0; J &lt; N; J += </a:t>
            </a:r>
            <a:r>
              <a:rPr lang="en-US" sz="1400" dirty="0" err="1">
                <a:latin typeface="Courier New" panose="02070309020205020404" pitchFamily="49" charset="0"/>
                <a:cs typeface="Courier New" panose="02070309020205020404" pitchFamily="49" charset="0"/>
              </a:rPr>
              <a:t>tile_dim</a:t>
            </a:r>
            <a:r>
              <a:rPr lang="en-US" sz="1400" dirty="0">
                <a:latin typeface="Courier New" panose="02070309020205020404" pitchFamily="49" charset="0"/>
                <a:cs typeface="Courier New" panose="02070309020205020404" pitchFamily="49" charset="0"/>
              </a:rPr>
              <a:t>){ </a:t>
            </a:r>
            <a:endParaRPr lang="en-US" sz="1400" dirty="0">
              <a:solidFill>
                <a:schemeClr val="bg1">
                  <a:lumMod val="50000"/>
                </a:schemeClr>
              </a:solidFill>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Set_to_zero</a:t>
            </a:r>
            <a:r>
              <a:rPr lang="en-US" sz="1400" dirty="0">
                <a:latin typeface="Courier New" panose="02070309020205020404" pitchFamily="49" charset="0"/>
                <a:cs typeface="Courier New" panose="02070309020205020404" pitchFamily="49" charset="0"/>
              </a:rPr>
              <a:t>(&amp;C(I, J)); </a:t>
            </a:r>
            <a:r>
              <a:rPr lang="en-US" sz="1400" dirty="0">
                <a:solidFill>
                  <a:schemeClr val="bg1">
                    <a:lumMod val="50000"/>
                  </a:schemeClr>
                </a:solidFill>
                <a:latin typeface="Courier New" panose="02070309020205020404" pitchFamily="49" charset="0"/>
                <a:cs typeface="Courier New" panose="02070309020205020404" pitchFamily="49" charset="0"/>
              </a:rPr>
              <a:t>// Set to zero </a:t>
            </a:r>
          </a:p>
          <a:p>
            <a:r>
              <a:rPr lang="en-US" sz="1400" dirty="0">
                <a:latin typeface="Courier New" panose="02070309020205020404" pitchFamily="49" charset="0"/>
                <a:cs typeface="Courier New" panose="02070309020205020404" pitchFamily="49" charset="0"/>
              </a:rPr>
              <a:t>        for (K = 0; K &lt; P; K += </a:t>
            </a:r>
            <a:r>
              <a:rPr lang="en-US" sz="1400" dirty="0" err="1">
                <a:latin typeface="Courier New" panose="02070309020205020404" pitchFamily="49" charset="0"/>
                <a:cs typeface="Courier New" panose="02070309020205020404" pitchFamily="49" charset="0"/>
              </a:rPr>
              <a:t>tile_dim</a:t>
            </a:r>
            <a:r>
              <a:rPr lang="en-US" sz="1400" dirty="0">
                <a:latin typeface="Courier New" panose="02070309020205020404" pitchFamily="49" charset="0"/>
                <a:cs typeface="Courier New" panose="02070309020205020404" pitchFamily="49" charset="0"/>
              </a:rPr>
              <a:t>) </a:t>
            </a:r>
          </a:p>
          <a:p>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Multiply_tiles</a:t>
            </a:r>
            <a:r>
              <a:rPr lang="en-US" sz="1400" dirty="0">
                <a:latin typeface="Courier New" panose="02070309020205020404" pitchFamily="49" charset="0"/>
                <a:cs typeface="Courier New" panose="02070309020205020404" pitchFamily="49" charset="0"/>
              </a:rPr>
              <a:t>(&amp;C(I, J), &amp;A(I, K), &amp;B(K, J)); </a:t>
            </a:r>
          </a:p>
          <a:p>
            <a:r>
              <a:rPr lang="en-US" sz="1400" dirty="0">
                <a:latin typeface="Courier New" panose="02070309020205020404" pitchFamily="49" charset="0"/>
                <a:cs typeface="Courier New" panose="02070309020205020404" pitchFamily="49" charset="0"/>
              </a:rPr>
              <a:t>    } </a:t>
            </a:r>
          </a:p>
          <a:p>
            <a:r>
              <a:rPr lang="en-US" sz="1400" dirty="0">
                <a:latin typeface="Courier New" panose="02070309020205020404" pitchFamily="49" charset="0"/>
                <a:cs typeface="Courier New" panose="02070309020205020404" pitchFamily="49" charset="0"/>
              </a:rPr>
              <a:t>} </a:t>
            </a:r>
          </a:p>
        </p:txBody>
      </p:sp>
      <p:cxnSp>
        <p:nvCxnSpPr>
          <p:cNvPr id="5" name="Straight Arrow Connector 4">
            <a:extLst>
              <a:ext uri="{FF2B5EF4-FFF2-40B4-BE49-F238E27FC236}">
                <a16:creationId xmlns:a16="http://schemas.microsoft.com/office/drawing/2014/main" id="{84C606CB-C78B-EA45-A933-069B20DC53BA}"/>
              </a:ext>
            </a:extLst>
          </p:cNvPr>
          <p:cNvCxnSpPr>
            <a:cxnSpLocks/>
          </p:cNvCxnSpPr>
          <p:nvPr/>
        </p:nvCxnSpPr>
        <p:spPr bwMode="auto">
          <a:xfrm flipH="1">
            <a:off x="3073299" y="3882927"/>
            <a:ext cx="1143000" cy="914400"/>
          </a:xfrm>
          <a:prstGeom prst="straightConnector1">
            <a:avLst/>
          </a:prstGeom>
          <a:solidFill>
            <a:srgbClr val="C0C0C0"/>
          </a:solidFill>
          <a:ln w="25400" cap="flat" cmpd="sng" algn="ctr">
            <a:solidFill>
              <a:srgbClr val="00B050"/>
            </a:solidFill>
            <a:prstDash val="solid"/>
            <a:round/>
            <a:headEnd type="none" w="med" len="med"/>
            <a:tailEnd type="triangle"/>
          </a:ln>
          <a:effectLst/>
        </p:spPr>
      </p:cxnSp>
      <p:sp>
        <p:nvSpPr>
          <p:cNvPr id="32" name="TextBox 31">
            <a:extLst>
              <a:ext uri="{FF2B5EF4-FFF2-40B4-BE49-F238E27FC236}">
                <a16:creationId xmlns:a16="http://schemas.microsoft.com/office/drawing/2014/main" id="{E0EA9DDE-20F6-3747-8FBF-189C111A531A}"/>
              </a:ext>
            </a:extLst>
          </p:cNvPr>
          <p:cNvSpPr txBox="1"/>
          <p:nvPr/>
        </p:nvSpPr>
        <p:spPr>
          <a:xfrm>
            <a:off x="319889" y="4833790"/>
            <a:ext cx="4452202" cy="646331"/>
          </a:xfrm>
          <a:prstGeom prst="rect">
            <a:avLst/>
          </a:prstGeom>
          <a:noFill/>
        </p:spPr>
        <p:txBody>
          <a:bodyPr wrap="square" rtlCol="0">
            <a:spAutoFit/>
          </a:bodyPr>
          <a:lstStyle/>
          <a:p>
            <a:r>
              <a:rPr lang="en-US" dirty="0">
                <a:solidFill>
                  <a:srgbClr val="00B050"/>
                </a:solidFill>
              </a:rPr>
              <a:t>Multiply small submatrices (tiles or blocks) </a:t>
            </a:r>
            <a:r>
              <a:rPr lang="en-US" dirty="0"/>
              <a:t>of size </a:t>
            </a:r>
            <a:r>
              <a:rPr lang="en-US" dirty="0" err="1">
                <a:latin typeface="Courier New" panose="02070309020205020404" pitchFamily="49" charset="0"/>
                <a:cs typeface="Courier New" panose="02070309020205020404" pitchFamily="49" charset="0"/>
              </a:rPr>
              <a:t>tile_dim</a:t>
            </a:r>
            <a:r>
              <a:rPr lang="en-US" dirty="0">
                <a:latin typeface="Courier New" panose="02070309020205020404" pitchFamily="49" charset="0"/>
                <a:cs typeface="Courier New" panose="02070309020205020404" pitchFamily="49" charset="0"/>
              </a:rPr>
              <a:t> x </a:t>
            </a:r>
            <a:r>
              <a:rPr lang="en-US" dirty="0" err="1">
                <a:latin typeface="Courier New" panose="02070309020205020404" pitchFamily="49" charset="0"/>
                <a:cs typeface="Courier New" panose="02070309020205020404" pitchFamily="49" charset="0"/>
              </a:rPr>
              <a:t>tile_dim</a:t>
            </a:r>
            <a:endParaRPr lang="en-US" dirty="0">
              <a:solidFill>
                <a:srgbClr val="FF0000"/>
              </a:solidFill>
              <a:latin typeface="Courier New" panose="02070309020205020404" pitchFamily="49" charset="0"/>
              <a:cs typeface="Courier New" panose="02070309020205020404" pitchFamily="49" charset="0"/>
            </a:endParaRPr>
          </a:p>
        </p:txBody>
      </p:sp>
      <p:grpSp>
        <p:nvGrpSpPr>
          <p:cNvPr id="4" name="Group 3">
            <a:extLst>
              <a:ext uri="{FF2B5EF4-FFF2-40B4-BE49-F238E27FC236}">
                <a16:creationId xmlns:a16="http://schemas.microsoft.com/office/drawing/2014/main" id="{26AFC1BE-6C7A-D14E-A799-A7288626AE94}"/>
              </a:ext>
            </a:extLst>
          </p:cNvPr>
          <p:cNvGrpSpPr>
            <a:grpSpLocks noChangeAspect="1"/>
          </p:cNvGrpSpPr>
          <p:nvPr/>
        </p:nvGrpSpPr>
        <p:grpSpPr>
          <a:xfrm>
            <a:off x="5098271" y="2743200"/>
            <a:ext cx="4045729" cy="3600000"/>
            <a:chOff x="533401" y="1066801"/>
            <a:chExt cx="5664021" cy="5040000"/>
          </a:xfrm>
        </p:grpSpPr>
        <p:sp>
          <p:nvSpPr>
            <p:cNvPr id="34" name="Shape 104">
              <a:extLst>
                <a:ext uri="{FF2B5EF4-FFF2-40B4-BE49-F238E27FC236}">
                  <a16:creationId xmlns:a16="http://schemas.microsoft.com/office/drawing/2014/main" id="{9597BFB7-8D42-3441-904F-5BB1CE095100}"/>
                </a:ext>
              </a:extLst>
            </p:cNvPr>
            <p:cNvSpPr txBox="1"/>
            <p:nvPr/>
          </p:nvSpPr>
          <p:spPr>
            <a:xfrm>
              <a:off x="992187" y="3453223"/>
              <a:ext cx="2342733" cy="2342733"/>
            </a:xfrm>
            <a:prstGeom prst="rect">
              <a:avLst/>
            </a:prstGeom>
            <a:solidFill>
              <a:schemeClr val="accent2">
                <a:lumMod val="20000"/>
                <a:lumOff val="80000"/>
              </a:schemeClr>
            </a:solidFill>
            <a:ln w="9525" cap="flat" cmpd="sng">
              <a:solidFill>
                <a:srgbClr val="969696"/>
              </a:solidFill>
              <a:prstDash val="solid"/>
              <a:miter/>
              <a:headEnd type="none" w="med" len="med"/>
              <a:tailEnd type="none" w="med" len="med"/>
            </a:ln>
          </p:spPr>
          <p:txBody>
            <a:bodyPr lIns="91425" tIns="45700" rIns="91425" bIns="45700" anchor="t" anchorCtr="0">
              <a:noAutofit/>
            </a:bodyPr>
            <a:lstStyle/>
            <a:p>
              <a:pPr marL="0" marR="0" lvl="0" indent="0" algn="l" rtl="0">
                <a:spcBef>
                  <a:spcPts val="0"/>
                </a:spcBef>
                <a:buSzPct val="25000"/>
                <a:buNone/>
              </a:pPr>
              <a:r>
                <a:rPr lang="en-US" sz="2000" b="1" dirty="0">
                  <a:latin typeface="Arial"/>
                  <a:ea typeface="Arial"/>
                  <a:cs typeface="Arial"/>
                  <a:sym typeface="Arial"/>
                </a:rPr>
                <a:t>A</a:t>
              </a:r>
            </a:p>
          </p:txBody>
        </p:sp>
        <p:sp>
          <p:nvSpPr>
            <p:cNvPr id="35" name="Shape 105">
              <a:extLst>
                <a:ext uri="{FF2B5EF4-FFF2-40B4-BE49-F238E27FC236}">
                  <a16:creationId xmlns:a16="http://schemas.microsoft.com/office/drawing/2014/main" id="{73A8DB43-498C-A641-8E08-9D8F0A7F3B2F}"/>
                </a:ext>
              </a:extLst>
            </p:cNvPr>
            <p:cNvSpPr txBox="1"/>
            <p:nvPr/>
          </p:nvSpPr>
          <p:spPr>
            <a:xfrm>
              <a:off x="3377104" y="1066801"/>
              <a:ext cx="2342731" cy="2342733"/>
            </a:xfrm>
            <a:prstGeom prst="rect">
              <a:avLst/>
            </a:prstGeom>
            <a:solidFill>
              <a:schemeClr val="accent2">
                <a:lumMod val="20000"/>
                <a:lumOff val="80000"/>
              </a:schemeClr>
            </a:solidFill>
            <a:ln w="9525" cap="flat" cmpd="sng">
              <a:solidFill>
                <a:srgbClr val="969696"/>
              </a:solidFill>
              <a:prstDash val="solid"/>
              <a:miter/>
              <a:headEnd type="none" w="med" len="med"/>
              <a:tailEnd type="none" w="med" len="med"/>
            </a:ln>
          </p:spPr>
          <p:txBody>
            <a:bodyPr lIns="91425" tIns="45700" rIns="91425" bIns="45700" anchor="t" anchorCtr="0">
              <a:noAutofit/>
            </a:bodyPr>
            <a:lstStyle/>
            <a:p>
              <a:pPr marL="0" marR="0" lvl="0" indent="0" algn="l" rtl="0">
                <a:spcBef>
                  <a:spcPts val="0"/>
                </a:spcBef>
                <a:buSzPct val="25000"/>
                <a:buNone/>
              </a:pPr>
              <a:r>
                <a:rPr lang="en-US" sz="2000" b="1" dirty="0">
                  <a:latin typeface="Arial"/>
                  <a:ea typeface="Arial"/>
                  <a:cs typeface="Arial"/>
                  <a:sym typeface="Arial"/>
                </a:rPr>
                <a:t>B</a:t>
              </a:r>
            </a:p>
          </p:txBody>
        </p:sp>
        <p:sp>
          <p:nvSpPr>
            <p:cNvPr id="36" name="Shape 106">
              <a:extLst>
                <a:ext uri="{FF2B5EF4-FFF2-40B4-BE49-F238E27FC236}">
                  <a16:creationId xmlns:a16="http://schemas.microsoft.com/office/drawing/2014/main" id="{47CAC158-29DB-7546-A1E7-124CCD174C89}"/>
                </a:ext>
              </a:extLst>
            </p:cNvPr>
            <p:cNvSpPr txBox="1"/>
            <p:nvPr/>
          </p:nvSpPr>
          <p:spPr>
            <a:xfrm>
              <a:off x="3377104" y="3453223"/>
              <a:ext cx="2342731" cy="2342733"/>
            </a:xfrm>
            <a:prstGeom prst="rect">
              <a:avLst/>
            </a:prstGeom>
            <a:solidFill>
              <a:schemeClr val="accent2">
                <a:lumMod val="60000"/>
                <a:lumOff val="40000"/>
              </a:schemeClr>
            </a:solidFill>
            <a:ln w="9525" cap="flat" cmpd="sng">
              <a:solidFill>
                <a:srgbClr val="969696"/>
              </a:solidFill>
              <a:prstDash val="solid"/>
              <a:miter/>
              <a:headEnd type="none" w="med" len="med"/>
              <a:tailEnd type="none" w="med" len="med"/>
            </a:ln>
          </p:spPr>
          <p:txBody>
            <a:bodyPr lIns="91425" tIns="45700" rIns="91425" bIns="45700" anchor="t" anchorCtr="0">
              <a:noAutofit/>
            </a:bodyPr>
            <a:lstStyle/>
            <a:p>
              <a:pPr marL="0" marR="0" lvl="0" indent="0" algn="l" rtl="0">
                <a:spcBef>
                  <a:spcPts val="0"/>
                </a:spcBef>
                <a:buSzPct val="25000"/>
                <a:buNone/>
              </a:pPr>
              <a:r>
                <a:rPr lang="en-US" sz="2000" b="1" dirty="0">
                  <a:latin typeface="Arial"/>
                  <a:ea typeface="Arial"/>
                  <a:cs typeface="Arial"/>
                  <a:sym typeface="Arial"/>
                </a:rPr>
                <a:t>C</a:t>
              </a:r>
            </a:p>
          </p:txBody>
        </p:sp>
        <p:sp>
          <p:nvSpPr>
            <p:cNvPr id="37" name="Shape 107">
              <a:extLst>
                <a:ext uri="{FF2B5EF4-FFF2-40B4-BE49-F238E27FC236}">
                  <a16:creationId xmlns:a16="http://schemas.microsoft.com/office/drawing/2014/main" id="{A9CB02FF-EBD7-E943-B5A7-05935856F42D}"/>
                </a:ext>
              </a:extLst>
            </p:cNvPr>
            <p:cNvSpPr txBox="1"/>
            <p:nvPr/>
          </p:nvSpPr>
          <p:spPr>
            <a:xfrm>
              <a:off x="4666737" y="1072827"/>
              <a:ext cx="43388" cy="2323218"/>
            </a:xfrm>
            <a:prstGeom prst="rect">
              <a:avLst/>
            </a:prstGeom>
            <a:solidFill>
              <a:srgbClr val="FF7E79"/>
            </a:solidFill>
            <a:ln w="9525" cap="flat" cmpd="sng">
              <a:solidFill>
                <a:srgbClr val="969696"/>
              </a:solidFill>
              <a:prstDash val="solid"/>
              <a:miter/>
              <a:headEnd type="none" w="med" len="med"/>
              <a:tailEnd type="none" w="med" len="med"/>
            </a:ln>
          </p:spPr>
          <p:txBody>
            <a:bodyPr lIns="0" tIns="91425" rIns="0" bIns="0" anchor="t" anchorCtr="0">
              <a:noAutofit/>
            </a:bodyPr>
            <a:lstStyle/>
            <a:p>
              <a:pPr marL="0" marR="0" lvl="0" indent="0" algn="l" rtl="0">
                <a:spcBef>
                  <a:spcPts val="0"/>
                </a:spcBef>
                <a:buNone/>
              </a:pPr>
              <a:endParaRPr sz="1800">
                <a:solidFill>
                  <a:schemeClr val="dk1"/>
                </a:solidFill>
                <a:latin typeface="Arial"/>
                <a:ea typeface="Arial"/>
                <a:cs typeface="Arial"/>
                <a:sym typeface="Arial"/>
              </a:endParaRPr>
            </a:p>
          </p:txBody>
        </p:sp>
        <p:cxnSp>
          <p:nvCxnSpPr>
            <p:cNvPr id="38" name="Shape 108">
              <a:extLst>
                <a:ext uri="{FF2B5EF4-FFF2-40B4-BE49-F238E27FC236}">
                  <a16:creationId xmlns:a16="http://schemas.microsoft.com/office/drawing/2014/main" id="{19E72F2E-2556-E242-8969-333BB08653DE}"/>
                </a:ext>
              </a:extLst>
            </p:cNvPr>
            <p:cNvCxnSpPr>
              <a:cxnSpLocks/>
              <a:endCxn id="51" idx="3"/>
            </p:cNvCxnSpPr>
            <p:nvPr/>
          </p:nvCxnSpPr>
          <p:spPr>
            <a:xfrm>
              <a:off x="4707414" y="3453223"/>
              <a:ext cx="24104" cy="1254981"/>
            </a:xfrm>
            <a:prstGeom prst="straightConnector1">
              <a:avLst/>
            </a:prstGeom>
            <a:noFill/>
            <a:ln w="9525" cap="flat" cmpd="sng">
              <a:solidFill>
                <a:srgbClr val="969696"/>
              </a:solidFill>
              <a:prstDash val="dash"/>
              <a:round/>
              <a:headEnd type="none" w="med" len="med"/>
              <a:tailEnd type="none" w="med" len="med"/>
            </a:ln>
          </p:spPr>
        </p:cxnSp>
        <p:cxnSp>
          <p:nvCxnSpPr>
            <p:cNvPr id="39" name="Shape 109">
              <a:extLst>
                <a:ext uri="{FF2B5EF4-FFF2-40B4-BE49-F238E27FC236}">
                  <a16:creationId xmlns:a16="http://schemas.microsoft.com/office/drawing/2014/main" id="{0B566D8B-8E5D-7944-AE8A-7045EE5E2452}"/>
                </a:ext>
              </a:extLst>
            </p:cNvPr>
            <p:cNvCxnSpPr>
              <a:cxnSpLocks/>
              <a:endCxn id="51" idx="1"/>
            </p:cNvCxnSpPr>
            <p:nvPr/>
          </p:nvCxnSpPr>
          <p:spPr>
            <a:xfrm>
              <a:off x="4666737" y="3453223"/>
              <a:ext cx="12053" cy="1254981"/>
            </a:xfrm>
            <a:prstGeom prst="straightConnector1">
              <a:avLst/>
            </a:prstGeom>
            <a:noFill/>
            <a:ln w="9525" cap="flat" cmpd="sng">
              <a:solidFill>
                <a:srgbClr val="969696"/>
              </a:solidFill>
              <a:prstDash val="dash"/>
              <a:round/>
              <a:headEnd type="none" w="med" len="med"/>
              <a:tailEnd type="none" w="med" len="med"/>
            </a:ln>
          </p:spPr>
        </p:cxnSp>
        <p:cxnSp>
          <p:nvCxnSpPr>
            <p:cNvPr id="40" name="Shape 110">
              <a:extLst>
                <a:ext uri="{FF2B5EF4-FFF2-40B4-BE49-F238E27FC236}">
                  <a16:creationId xmlns:a16="http://schemas.microsoft.com/office/drawing/2014/main" id="{F84856A2-FF8A-DC43-B4BB-8FB8A84E24B2}"/>
                </a:ext>
              </a:extLst>
            </p:cNvPr>
            <p:cNvCxnSpPr/>
            <p:nvPr/>
          </p:nvCxnSpPr>
          <p:spPr>
            <a:xfrm rot="10800000">
              <a:off x="3397053" y="5916169"/>
              <a:ext cx="2342731" cy="0"/>
            </a:xfrm>
            <a:prstGeom prst="straightConnector1">
              <a:avLst/>
            </a:prstGeom>
            <a:noFill/>
            <a:ln w="9525" cap="flat" cmpd="sng">
              <a:solidFill>
                <a:srgbClr val="000000"/>
              </a:solidFill>
              <a:prstDash val="solid"/>
              <a:round/>
              <a:headEnd type="triangle" w="lg" len="lg"/>
              <a:tailEnd type="triangle" w="lg" len="lg"/>
            </a:ln>
          </p:spPr>
        </p:cxnSp>
        <p:cxnSp>
          <p:nvCxnSpPr>
            <p:cNvPr id="41" name="Shape 115">
              <a:extLst>
                <a:ext uri="{FF2B5EF4-FFF2-40B4-BE49-F238E27FC236}">
                  <a16:creationId xmlns:a16="http://schemas.microsoft.com/office/drawing/2014/main" id="{D43A8B19-F181-8643-8584-11D93ED2DBDA}"/>
                </a:ext>
              </a:extLst>
            </p:cNvPr>
            <p:cNvCxnSpPr/>
            <p:nvPr/>
          </p:nvCxnSpPr>
          <p:spPr>
            <a:xfrm rot="10800000">
              <a:off x="5846021" y="1072827"/>
              <a:ext cx="6025" cy="2270417"/>
            </a:xfrm>
            <a:prstGeom prst="straightConnector1">
              <a:avLst/>
            </a:prstGeom>
            <a:noFill/>
            <a:ln w="9525" cap="flat" cmpd="sng">
              <a:solidFill>
                <a:srgbClr val="000000"/>
              </a:solidFill>
              <a:prstDash val="solid"/>
              <a:round/>
              <a:headEnd type="triangle" w="lg" len="lg"/>
              <a:tailEnd type="triangle" w="lg" len="lg"/>
            </a:ln>
          </p:spPr>
        </p:cxnSp>
        <p:cxnSp>
          <p:nvCxnSpPr>
            <p:cNvPr id="42" name="Shape 116">
              <a:extLst>
                <a:ext uri="{FF2B5EF4-FFF2-40B4-BE49-F238E27FC236}">
                  <a16:creationId xmlns:a16="http://schemas.microsoft.com/office/drawing/2014/main" id="{B611FAAB-F055-3948-81C1-1EE7A54D3715}"/>
                </a:ext>
              </a:extLst>
            </p:cNvPr>
            <p:cNvCxnSpPr/>
            <p:nvPr/>
          </p:nvCxnSpPr>
          <p:spPr>
            <a:xfrm rot="10800000">
              <a:off x="5843581" y="3464963"/>
              <a:ext cx="4519" cy="2342733"/>
            </a:xfrm>
            <a:prstGeom prst="straightConnector1">
              <a:avLst/>
            </a:prstGeom>
            <a:noFill/>
            <a:ln w="9525" cap="flat" cmpd="sng">
              <a:solidFill>
                <a:srgbClr val="000000"/>
              </a:solidFill>
              <a:prstDash val="solid"/>
              <a:round/>
              <a:headEnd type="triangle" w="lg" len="lg"/>
              <a:tailEnd type="triangle" w="lg" len="lg"/>
            </a:ln>
          </p:spPr>
        </p:cxnSp>
        <p:cxnSp>
          <p:nvCxnSpPr>
            <p:cNvPr id="43" name="Shape 117">
              <a:extLst>
                <a:ext uri="{FF2B5EF4-FFF2-40B4-BE49-F238E27FC236}">
                  <a16:creationId xmlns:a16="http://schemas.microsoft.com/office/drawing/2014/main" id="{4F86C0D1-87C3-6446-86AE-AE00EA7C686F}"/>
                </a:ext>
              </a:extLst>
            </p:cNvPr>
            <p:cNvCxnSpPr/>
            <p:nvPr/>
          </p:nvCxnSpPr>
          <p:spPr>
            <a:xfrm rot="10800000">
              <a:off x="992187" y="5911962"/>
              <a:ext cx="2342733" cy="0"/>
            </a:xfrm>
            <a:prstGeom prst="straightConnector1">
              <a:avLst/>
            </a:prstGeom>
            <a:noFill/>
            <a:ln w="9525" cap="flat" cmpd="sng">
              <a:solidFill>
                <a:srgbClr val="000000"/>
              </a:solidFill>
              <a:prstDash val="solid"/>
              <a:round/>
              <a:headEnd type="triangle" w="lg" len="lg"/>
              <a:tailEnd type="triangle" w="lg" len="lg"/>
            </a:ln>
          </p:spPr>
        </p:cxnSp>
        <p:sp>
          <p:nvSpPr>
            <p:cNvPr id="44" name="Shape 118">
              <a:extLst>
                <a:ext uri="{FF2B5EF4-FFF2-40B4-BE49-F238E27FC236}">
                  <a16:creationId xmlns:a16="http://schemas.microsoft.com/office/drawing/2014/main" id="{085C6E32-5A64-B446-8376-7B398BDA8230}"/>
                </a:ext>
              </a:extLst>
            </p:cNvPr>
            <p:cNvSpPr txBox="1"/>
            <p:nvPr/>
          </p:nvSpPr>
          <p:spPr>
            <a:xfrm>
              <a:off x="5763527" y="2094289"/>
              <a:ext cx="385684" cy="129565"/>
            </a:xfrm>
            <a:prstGeom prst="rect">
              <a:avLst/>
            </a:prstGeom>
            <a:noFill/>
            <a:ln>
              <a:noFill/>
            </a:ln>
          </p:spPr>
          <p:txBody>
            <a:bodyPr lIns="0" tIns="0" rIns="0" bIns="0" anchor="t" anchorCtr="0">
              <a:noAutofit/>
            </a:bodyPr>
            <a:lstStyle/>
            <a:p>
              <a:pPr marL="0" marR="0" lvl="0" indent="0" algn="ctr" rtl="0">
                <a:spcBef>
                  <a:spcPts val="0"/>
                </a:spcBef>
                <a:buSzPct val="25000"/>
                <a:buNone/>
              </a:pPr>
              <a:r>
                <a:rPr lang="en-US" dirty="0">
                  <a:latin typeface="Courier New" panose="02070309020205020404" pitchFamily="49" charset="0"/>
                  <a:ea typeface="Times New Roman"/>
                  <a:cs typeface="Courier New" panose="02070309020205020404" pitchFamily="49" charset="0"/>
                  <a:sym typeface="Times New Roman"/>
                </a:rPr>
                <a:t>P</a:t>
              </a:r>
            </a:p>
          </p:txBody>
        </p:sp>
        <p:sp>
          <p:nvSpPr>
            <p:cNvPr id="45" name="Shape 119">
              <a:extLst>
                <a:ext uri="{FF2B5EF4-FFF2-40B4-BE49-F238E27FC236}">
                  <a16:creationId xmlns:a16="http://schemas.microsoft.com/office/drawing/2014/main" id="{DB2C9A47-F1BB-D54F-A852-C02F5BCE547E}"/>
                </a:ext>
              </a:extLst>
            </p:cNvPr>
            <p:cNvSpPr txBox="1"/>
            <p:nvPr/>
          </p:nvSpPr>
          <p:spPr>
            <a:xfrm>
              <a:off x="5811738" y="4610277"/>
              <a:ext cx="385684" cy="129565"/>
            </a:xfrm>
            <a:prstGeom prst="rect">
              <a:avLst/>
            </a:prstGeom>
            <a:noFill/>
            <a:ln>
              <a:noFill/>
            </a:ln>
          </p:spPr>
          <p:txBody>
            <a:bodyPr lIns="0" tIns="0" rIns="0" bIns="0" anchor="t" anchorCtr="0">
              <a:noAutofit/>
            </a:bodyPr>
            <a:lstStyle/>
            <a:p>
              <a:pPr marL="0" marR="0" lvl="0" indent="0" algn="ctr" rtl="0">
                <a:spcBef>
                  <a:spcPts val="0"/>
                </a:spcBef>
                <a:buSzPct val="25000"/>
                <a:buNone/>
              </a:pPr>
              <a:r>
                <a:rPr lang="en-US" dirty="0">
                  <a:latin typeface="Courier New" panose="02070309020205020404" pitchFamily="49" charset="0"/>
                  <a:ea typeface="Times New Roman"/>
                  <a:cs typeface="Courier New" panose="02070309020205020404" pitchFamily="49" charset="0"/>
                  <a:sym typeface="Times New Roman"/>
                </a:rPr>
                <a:t>M</a:t>
              </a:r>
            </a:p>
          </p:txBody>
        </p:sp>
        <p:sp>
          <p:nvSpPr>
            <p:cNvPr id="46" name="Shape 120">
              <a:extLst>
                <a:ext uri="{FF2B5EF4-FFF2-40B4-BE49-F238E27FC236}">
                  <a16:creationId xmlns:a16="http://schemas.microsoft.com/office/drawing/2014/main" id="{E80BFA99-E931-7C42-8ACA-43E4C2FA973A}"/>
                </a:ext>
              </a:extLst>
            </p:cNvPr>
            <p:cNvSpPr txBox="1"/>
            <p:nvPr/>
          </p:nvSpPr>
          <p:spPr>
            <a:xfrm>
              <a:off x="1894380" y="5931548"/>
              <a:ext cx="518761" cy="175253"/>
            </a:xfrm>
            <a:prstGeom prst="rect">
              <a:avLst/>
            </a:prstGeom>
            <a:noFill/>
            <a:ln>
              <a:noFill/>
            </a:ln>
          </p:spPr>
          <p:txBody>
            <a:bodyPr lIns="0" tIns="0" rIns="0" bIns="0" anchor="t" anchorCtr="0">
              <a:noAutofit/>
            </a:bodyPr>
            <a:lstStyle/>
            <a:p>
              <a:pPr marL="0" marR="0" lvl="0" indent="0" algn="ctr" rtl="0">
                <a:spcBef>
                  <a:spcPts val="0"/>
                </a:spcBef>
                <a:buSzPct val="25000"/>
                <a:buNone/>
              </a:pPr>
              <a:r>
                <a:rPr lang="en-US" dirty="0">
                  <a:latin typeface="Courier New" panose="02070309020205020404" pitchFamily="49" charset="0"/>
                  <a:ea typeface="Times New Roman"/>
                  <a:cs typeface="Courier New" panose="02070309020205020404" pitchFamily="49" charset="0"/>
                  <a:sym typeface="Times New Roman"/>
                </a:rPr>
                <a:t>P</a:t>
              </a:r>
            </a:p>
          </p:txBody>
        </p:sp>
        <p:sp>
          <p:nvSpPr>
            <p:cNvPr id="47" name="Shape 121">
              <a:extLst>
                <a:ext uri="{FF2B5EF4-FFF2-40B4-BE49-F238E27FC236}">
                  <a16:creationId xmlns:a16="http://schemas.microsoft.com/office/drawing/2014/main" id="{9D43BC57-FACC-C74E-B7F5-DC494DA82BA4}"/>
                </a:ext>
              </a:extLst>
            </p:cNvPr>
            <p:cNvSpPr txBox="1"/>
            <p:nvPr/>
          </p:nvSpPr>
          <p:spPr>
            <a:xfrm>
              <a:off x="4246515" y="5911962"/>
              <a:ext cx="518761" cy="175253"/>
            </a:xfrm>
            <a:prstGeom prst="rect">
              <a:avLst/>
            </a:prstGeom>
            <a:noFill/>
            <a:ln>
              <a:noFill/>
            </a:ln>
          </p:spPr>
          <p:txBody>
            <a:bodyPr lIns="0" tIns="0" rIns="0" bIns="0" anchor="t" anchorCtr="0">
              <a:noAutofit/>
            </a:bodyPr>
            <a:lstStyle/>
            <a:p>
              <a:pPr marL="0" marR="0" lvl="0" indent="0" algn="ctr" rtl="0">
                <a:spcBef>
                  <a:spcPts val="0"/>
                </a:spcBef>
                <a:buSzPct val="25000"/>
                <a:buNone/>
              </a:pPr>
              <a:r>
                <a:rPr lang="en-US" dirty="0">
                  <a:latin typeface="Courier New" panose="02070309020205020404" pitchFamily="49" charset="0"/>
                  <a:ea typeface="Times New Roman"/>
                  <a:cs typeface="Courier New" panose="02070309020205020404" pitchFamily="49" charset="0"/>
                  <a:sym typeface="Times New Roman"/>
                </a:rPr>
                <a:t>N</a:t>
              </a:r>
            </a:p>
          </p:txBody>
        </p:sp>
        <p:sp>
          <p:nvSpPr>
            <p:cNvPr id="48" name="Shape 124">
              <a:extLst>
                <a:ext uri="{FF2B5EF4-FFF2-40B4-BE49-F238E27FC236}">
                  <a16:creationId xmlns:a16="http://schemas.microsoft.com/office/drawing/2014/main" id="{02D64E22-F4CF-3844-9AA1-A50A7CD34D2E}"/>
                </a:ext>
              </a:extLst>
            </p:cNvPr>
            <p:cNvSpPr txBox="1"/>
            <p:nvPr/>
          </p:nvSpPr>
          <p:spPr>
            <a:xfrm>
              <a:off x="992187" y="4682593"/>
              <a:ext cx="2342733" cy="52730"/>
            </a:xfrm>
            <a:prstGeom prst="rect">
              <a:avLst/>
            </a:prstGeom>
            <a:solidFill>
              <a:srgbClr val="FF7E79"/>
            </a:solidFill>
            <a:ln w="9525" cap="flat" cmpd="sng">
              <a:solidFill>
                <a:srgbClr val="969696"/>
              </a:solidFill>
              <a:prstDash val="solid"/>
              <a:miter/>
              <a:headEnd type="none" w="med" len="med"/>
              <a:tailEnd type="none" w="med" len="med"/>
            </a:ln>
          </p:spPr>
          <p:txBody>
            <a:bodyPr lIns="0" tIns="91425" rIns="0" bIns="0" anchor="t" anchorCtr="0">
              <a:noAutofit/>
            </a:bodyPr>
            <a:lstStyle/>
            <a:p>
              <a:pPr marL="0" marR="0" lvl="0" indent="0" algn="l" rtl="0">
                <a:spcBef>
                  <a:spcPts val="0"/>
                </a:spcBef>
                <a:buNone/>
              </a:pPr>
              <a:endParaRPr sz="1800">
                <a:solidFill>
                  <a:schemeClr val="dk1"/>
                </a:solidFill>
                <a:latin typeface="Arial"/>
                <a:ea typeface="Arial"/>
                <a:cs typeface="Arial"/>
                <a:sym typeface="Arial"/>
              </a:endParaRPr>
            </a:p>
          </p:txBody>
        </p:sp>
        <p:cxnSp>
          <p:nvCxnSpPr>
            <p:cNvPr id="49" name="Shape 125">
              <a:extLst>
                <a:ext uri="{FF2B5EF4-FFF2-40B4-BE49-F238E27FC236}">
                  <a16:creationId xmlns:a16="http://schemas.microsoft.com/office/drawing/2014/main" id="{86A29219-6E05-2841-8A19-106BD338ED84}"/>
                </a:ext>
              </a:extLst>
            </p:cNvPr>
            <p:cNvCxnSpPr>
              <a:cxnSpLocks/>
            </p:cNvCxnSpPr>
            <p:nvPr/>
          </p:nvCxnSpPr>
          <p:spPr>
            <a:xfrm flipV="1">
              <a:off x="3387649" y="4724777"/>
              <a:ext cx="1267034" cy="12053"/>
            </a:xfrm>
            <a:prstGeom prst="straightConnector1">
              <a:avLst/>
            </a:prstGeom>
            <a:noFill/>
            <a:ln w="9525" cap="flat" cmpd="sng">
              <a:solidFill>
                <a:srgbClr val="969696"/>
              </a:solidFill>
              <a:prstDash val="dash"/>
              <a:round/>
              <a:headEnd type="none" w="med" len="med"/>
              <a:tailEnd type="none" w="med" len="med"/>
            </a:ln>
          </p:spPr>
        </p:cxnSp>
        <p:cxnSp>
          <p:nvCxnSpPr>
            <p:cNvPr id="50" name="Shape 126">
              <a:extLst>
                <a:ext uri="{FF2B5EF4-FFF2-40B4-BE49-F238E27FC236}">
                  <a16:creationId xmlns:a16="http://schemas.microsoft.com/office/drawing/2014/main" id="{B21960EB-34DE-1648-A4B2-80D6276EB293}"/>
                </a:ext>
              </a:extLst>
            </p:cNvPr>
            <p:cNvCxnSpPr>
              <a:cxnSpLocks/>
            </p:cNvCxnSpPr>
            <p:nvPr/>
          </p:nvCxnSpPr>
          <p:spPr>
            <a:xfrm>
              <a:off x="3387649" y="4688619"/>
              <a:ext cx="1310725" cy="0"/>
            </a:xfrm>
            <a:prstGeom prst="straightConnector1">
              <a:avLst/>
            </a:prstGeom>
            <a:noFill/>
            <a:ln w="9525" cap="flat" cmpd="sng">
              <a:solidFill>
                <a:srgbClr val="969696"/>
              </a:solidFill>
              <a:prstDash val="dash"/>
              <a:round/>
              <a:headEnd type="none" w="med" len="med"/>
              <a:tailEnd type="none" w="med" len="med"/>
            </a:ln>
          </p:spPr>
        </p:cxnSp>
        <p:sp>
          <p:nvSpPr>
            <p:cNvPr id="51" name="Shape 127">
              <a:extLst>
                <a:ext uri="{FF2B5EF4-FFF2-40B4-BE49-F238E27FC236}">
                  <a16:creationId xmlns:a16="http://schemas.microsoft.com/office/drawing/2014/main" id="{C2A32B2E-E833-4646-8E01-074C202D4DEC}"/>
                </a:ext>
              </a:extLst>
            </p:cNvPr>
            <p:cNvSpPr txBox="1"/>
            <p:nvPr/>
          </p:nvSpPr>
          <p:spPr>
            <a:xfrm>
              <a:off x="4678789" y="4682593"/>
              <a:ext cx="52729" cy="51223"/>
            </a:xfrm>
            <a:prstGeom prst="rect">
              <a:avLst/>
            </a:prstGeom>
            <a:solidFill>
              <a:srgbClr val="C00000"/>
            </a:solidFill>
            <a:ln w="19050" cap="flat" cmpd="sng">
              <a:solidFill>
                <a:srgbClr val="C00000"/>
              </a:solidFill>
              <a:prstDash val="solid"/>
              <a:miter/>
              <a:headEnd type="none" w="med" len="med"/>
              <a:tailEnd type="none" w="med" len="med"/>
            </a:ln>
          </p:spPr>
          <p:txBody>
            <a:bodyPr lIns="0" tIns="91425" rIns="0" bIns="0" anchor="t" anchorCtr="0">
              <a:noAutofit/>
            </a:bodyPr>
            <a:lstStyle/>
            <a:p>
              <a:pPr marL="0" marR="0" lvl="0" indent="0" algn="l" rtl="0">
                <a:spcBef>
                  <a:spcPts val="0"/>
                </a:spcBef>
                <a:buNone/>
              </a:pPr>
              <a:endParaRPr sz="1200">
                <a:solidFill>
                  <a:schemeClr val="dk1"/>
                </a:solidFill>
                <a:latin typeface="Times New Roman"/>
                <a:ea typeface="Times New Roman"/>
                <a:cs typeface="Times New Roman"/>
                <a:sym typeface="Times New Roman"/>
              </a:endParaRPr>
            </a:p>
            <a:p>
              <a:pPr marL="0" marR="0" lvl="0" indent="0" algn="l" rtl="0">
                <a:spcBef>
                  <a:spcPts val="0"/>
                </a:spcBef>
                <a:buNone/>
              </a:pPr>
              <a:endParaRPr sz="1200">
                <a:solidFill>
                  <a:schemeClr val="dk1"/>
                </a:solidFill>
                <a:latin typeface="Times New Roman"/>
                <a:ea typeface="Times New Roman"/>
                <a:cs typeface="Times New Roman"/>
                <a:sym typeface="Times New Roman"/>
              </a:endParaRPr>
            </a:p>
            <a:p>
              <a:pPr marL="0" marR="0" lvl="0" indent="0" algn="l" rtl="0">
                <a:spcBef>
                  <a:spcPts val="0"/>
                </a:spcBef>
                <a:buNone/>
              </a:pPr>
              <a:endParaRPr sz="1800">
                <a:solidFill>
                  <a:schemeClr val="dk1"/>
                </a:solidFill>
                <a:latin typeface="Arial"/>
                <a:ea typeface="Arial"/>
                <a:cs typeface="Arial"/>
                <a:sym typeface="Arial"/>
              </a:endParaRPr>
            </a:p>
          </p:txBody>
        </p:sp>
        <p:sp>
          <p:nvSpPr>
            <p:cNvPr id="52" name="Shape 216">
              <a:extLst>
                <a:ext uri="{FF2B5EF4-FFF2-40B4-BE49-F238E27FC236}">
                  <a16:creationId xmlns:a16="http://schemas.microsoft.com/office/drawing/2014/main" id="{A26D472C-A25F-E34A-88B5-E1376621088F}"/>
                </a:ext>
              </a:extLst>
            </p:cNvPr>
            <p:cNvSpPr txBox="1"/>
            <p:nvPr/>
          </p:nvSpPr>
          <p:spPr>
            <a:xfrm>
              <a:off x="4271502" y="1082041"/>
              <a:ext cx="814574" cy="879583"/>
            </a:xfrm>
            <a:prstGeom prst="rect">
              <a:avLst/>
            </a:prstGeom>
            <a:solidFill>
              <a:schemeClr val="accent1">
                <a:lumMod val="40000"/>
                <a:lumOff val="60000"/>
                <a:alpha val="50196"/>
              </a:schemeClr>
            </a:solidFill>
            <a:ln w="9525" cap="flat" cmpd="sng">
              <a:solidFill>
                <a:srgbClr val="969696"/>
              </a:solidFill>
              <a:prstDash val="solid"/>
              <a:miter/>
              <a:headEnd type="none" w="med" len="med"/>
              <a:tailEnd type="none" w="med" len="med"/>
            </a:ln>
          </p:spPr>
          <p:txBody>
            <a:bodyPr lIns="0" tIns="0" rIns="0" bIns="0" anchor="t" anchorCtr="0">
              <a:noAutofit/>
            </a:bodyPr>
            <a:lstStyle/>
            <a:p>
              <a:pPr marL="0" marR="0" lvl="0" indent="0" algn="l" rtl="0">
                <a:spcBef>
                  <a:spcPts val="0"/>
                </a:spcBef>
                <a:buNone/>
              </a:pPr>
              <a:endParaRPr sz="1800">
                <a:solidFill>
                  <a:schemeClr val="dk1"/>
                </a:solidFill>
                <a:latin typeface="Arial"/>
                <a:ea typeface="Arial"/>
                <a:cs typeface="Arial"/>
                <a:sym typeface="Arial"/>
              </a:endParaRPr>
            </a:p>
          </p:txBody>
        </p:sp>
        <p:sp>
          <p:nvSpPr>
            <p:cNvPr id="53" name="Shape 216">
              <a:extLst>
                <a:ext uri="{FF2B5EF4-FFF2-40B4-BE49-F238E27FC236}">
                  <a16:creationId xmlns:a16="http://schemas.microsoft.com/office/drawing/2014/main" id="{78220921-5F0D-484B-9306-75CF2E8CB772}"/>
                </a:ext>
              </a:extLst>
            </p:cNvPr>
            <p:cNvSpPr txBox="1"/>
            <p:nvPr/>
          </p:nvSpPr>
          <p:spPr>
            <a:xfrm>
              <a:off x="999859" y="4242801"/>
              <a:ext cx="814574" cy="879583"/>
            </a:xfrm>
            <a:prstGeom prst="rect">
              <a:avLst/>
            </a:prstGeom>
            <a:solidFill>
              <a:schemeClr val="accent1">
                <a:lumMod val="40000"/>
                <a:lumOff val="60000"/>
                <a:alpha val="50196"/>
              </a:schemeClr>
            </a:solidFill>
            <a:ln w="9525" cap="flat" cmpd="sng">
              <a:solidFill>
                <a:srgbClr val="969696"/>
              </a:solidFill>
              <a:prstDash val="solid"/>
              <a:miter/>
              <a:headEnd type="none" w="med" len="med"/>
              <a:tailEnd type="none" w="med" len="med"/>
            </a:ln>
          </p:spPr>
          <p:txBody>
            <a:bodyPr lIns="0" tIns="0" rIns="0" bIns="0" anchor="t" anchorCtr="0">
              <a:noAutofit/>
            </a:bodyPr>
            <a:lstStyle/>
            <a:p>
              <a:pPr marL="0" marR="0" lvl="0" indent="0" algn="l" rtl="0">
                <a:spcBef>
                  <a:spcPts val="0"/>
                </a:spcBef>
                <a:buNone/>
              </a:pPr>
              <a:endParaRPr sz="1800">
                <a:solidFill>
                  <a:schemeClr val="dk1"/>
                </a:solidFill>
                <a:latin typeface="Arial"/>
                <a:ea typeface="Arial"/>
                <a:cs typeface="Arial"/>
                <a:sym typeface="Arial"/>
              </a:endParaRPr>
            </a:p>
          </p:txBody>
        </p:sp>
        <p:sp>
          <p:nvSpPr>
            <p:cNvPr id="54" name="Shape 216">
              <a:extLst>
                <a:ext uri="{FF2B5EF4-FFF2-40B4-BE49-F238E27FC236}">
                  <a16:creationId xmlns:a16="http://schemas.microsoft.com/office/drawing/2014/main" id="{E4165564-4B79-1044-BE62-F511B4352F65}"/>
                </a:ext>
              </a:extLst>
            </p:cNvPr>
            <p:cNvSpPr txBox="1"/>
            <p:nvPr/>
          </p:nvSpPr>
          <p:spPr>
            <a:xfrm>
              <a:off x="4271502" y="1958955"/>
              <a:ext cx="814574" cy="879583"/>
            </a:xfrm>
            <a:prstGeom prst="rect">
              <a:avLst/>
            </a:prstGeom>
            <a:solidFill>
              <a:schemeClr val="accent1">
                <a:alpha val="50196"/>
              </a:schemeClr>
            </a:solidFill>
            <a:ln w="9525" cap="flat" cmpd="sng">
              <a:solidFill>
                <a:srgbClr val="969696"/>
              </a:solidFill>
              <a:prstDash val="solid"/>
              <a:miter/>
              <a:headEnd type="none" w="med" len="med"/>
              <a:tailEnd type="none" w="med" len="med"/>
            </a:ln>
          </p:spPr>
          <p:txBody>
            <a:bodyPr lIns="0" tIns="0" rIns="0" bIns="0" anchor="t" anchorCtr="0">
              <a:noAutofit/>
            </a:bodyPr>
            <a:lstStyle/>
            <a:p>
              <a:pPr marL="0" marR="0" lvl="0" indent="0" algn="l" rtl="0">
                <a:spcBef>
                  <a:spcPts val="0"/>
                </a:spcBef>
                <a:buNone/>
              </a:pPr>
              <a:endParaRPr sz="1800">
                <a:solidFill>
                  <a:schemeClr val="dk1"/>
                </a:solidFill>
                <a:latin typeface="Arial"/>
                <a:ea typeface="Arial"/>
                <a:cs typeface="Arial"/>
                <a:sym typeface="Arial"/>
              </a:endParaRPr>
            </a:p>
          </p:txBody>
        </p:sp>
        <p:sp>
          <p:nvSpPr>
            <p:cNvPr id="55" name="Shape 216">
              <a:extLst>
                <a:ext uri="{FF2B5EF4-FFF2-40B4-BE49-F238E27FC236}">
                  <a16:creationId xmlns:a16="http://schemas.microsoft.com/office/drawing/2014/main" id="{68D78CB9-F3B9-0F46-AC2A-5319F821624F}"/>
                </a:ext>
              </a:extLst>
            </p:cNvPr>
            <p:cNvSpPr txBox="1"/>
            <p:nvPr/>
          </p:nvSpPr>
          <p:spPr>
            <a:xfrm>
              <a:off x="1814433" y="4238009"/>
              <a:ext cx="814574" cy="879583"/>
            </a:xfrm>
            <a:prstGeom prst="rect">
              <a:avLst/>
            </a:prstGeom>
            <a:solidFill>
              <a:schemeClr val="accent1">
                <a:alpha val="50196"/>
              </a:schemeClr>
            </a:solidFill>
            <a:ln w="9525" cap="flat" cmpd="sng">
              <a:solidFill>
                <a:srgbClr val="969696"/>
              </a:solidFill>
              <a:prstDash val="solid"/>
              <a:miter/>
              <a:headEnd type="none" w="med" len="med"/>
              <a:tailEnd type="none" w="med" len="med"/>
            </a:ln>
          </p:spPr>
          <p:txBody>
            <a:bodyPr lIns="0" tIns="0" rIns="0" bIns="0" anchor="t" anchorCtr="0">
              <a:noAutofit/>
            </a:bodyPr>
            <a:lstStyle/>
            <a:p>
              <a:pPr marL="0" marR="0" lvl="0" indent="0" algn="l" rtl="0">
                <a:spcBef>
                  <a:spcPts val="0"/>
                </a:spcBef>
                <a:buNone/>
              </a:pPr>
              <a:endParaRPr sz="1800">
                <a:solidFill>
                  <a:schemeClr val="dk1"/>
                </a:solidFill>
                <a:latin typeface="Arial"/>
                <a:ea typeface="Arial"/>
                <a:cs typeface="Arial"/>
                <a:sym typeface="Arial"/>
              </a:endParaRPr>
            </a:p>
          </p:txBody>
        </p:sp>
        <p:sp>
          <p:nvSpPr>
            <p:cNvPr id="56" name="Shape 123">
              <a:extLst>
                <a:ext uri="{FF2B5EF4-FFF2-40B4-BE49-F238E27FC236}">
                  <a16:creationId xmlns:a16="http://schemas.microsoft.com/office/drawing/2014/main" id="{58CAAC14-61BB-7C4C-833A-6B9B7DB8C1E0}"/>
                </a:ext>
              </a:extLst>
            </p:cNvPr>
            <p:cNvSpPr txBox="1"/>
            <p:nvPr/>
          </p:nvSpPr>
          <p:spPr>
            <a:xfrm>
              <a:off x="4171070" y="2044572"/>
              <a:ext cx="418828" cy="433895"/>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dirty="0">
                  <a:latin typeface="Courier New" panose="02070309020205020404" pitchFamily="49" charset="0"/>
                  <a:ea typeface="Palatino"/>
                  <a:cs typeface="Courier New" panose="02070309020205020404" pitchFamily="49" charset="0"/>
                  <a:sym typeface="Palatino"/>
                </a:rPr>
                <a:t>k</a:t>
              </a:r>
            </a:p>
          </p:txBody>
        </p:sp>
        <p:cxnSp>
          <p:nvCxnSpPr>
            <p:cNvPr id="57" name="Shape 115">
              <a:extLst>
                <a:ext uri="{FF2B5EF4-FFF2-40B4-BE49-F238E27FC236}">
                  <a16:creationId xmlns:a16="http://schemas.microsoft.com/office/drawing/2014/main" id="{1533A194-1654-EC4C-A222-7794FDDA86B6}"/>
                </a:ext>
              </a:extLst>
            </p:cNvPr>
            <p:cNvCxnSpPr>
              <a:cxnSpLocks/>
            </p:cNvCxnSpPr>
            <p:nvPr/>
          </p:nvCxnSpPr>
          <p:spPr>
            <a:xfrm flipH="1" flipV="1">
              <a:off x="4505895" y="1421635"/>
              <a:ext cx="1" cy="1625602"/>
            </a:xfrm>
            <a:prstGeom prst="straightConnector1">
              <a:avLst/>
            </a:prstGeom>
            <a:noFill/>
            <a:ln w="9525" cap="flat" cmpd="sng">
              <a:solidFill>
                <a:srgbClr val="000000"/>
              </a:solidFill>
              <a:prstDash val="solid"/>
              <a:round/>
              <a:headEnd type="triangle" w="lg" len="lg"/>
              <a:tailEnd type="none" w="lg" len="lg"/>
            </a:ln>
          </p:spPr>
        </p:cxnSp>
        <p:sp>
          <p:nvSpPr>
            <p:cNvPr id="58" name="Shape 123">
              <a:extLst>
                <a:ext uri="{FF2B5EF4-FFF2-40B4-BE49-F238E27FC236}">
                  <a16:creationId xmlns:a16="http://schemas.microsoft.com/office/drawing/2014/main" id="{1B593D83-3BFE-AE40-965E-9778F6E93BF4}"/>
                </a:ext>
              </a:extLst>
            </p:cNvPr>
            <p:cNvSpPr txBox="1"/>
            <p:nvPr/>
          </p:nvSpPr>
          <p:spPr>
            <a:xfrm>
              <a:off x="1894380" y="4831744"/>
              <a:ext cx="418828" cy="433895"/>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dirty="0">
                  <a:latin typeface="Courier New" panose="02070309020205020404" pitchFamily="49" charset="0"/>
                  <a:ea typeface="Palatino"/>
                  <a:cs typeface="Courier New" panose="02070309020205020404" pitchFamily="49" charset="0"/>
                  <a:sym typeface="Palatino"/>
                </a:rPr>
                <a:t>k</a:t>
              </a:r>
            </a:p>
          </p:txBody>
        </p:sp>
        <p:cxnSp>
          <p:nvCxnSpPr>
            <p:cNvPr id="59" name="Shape 117">
              <a:extLst>
                <a:ext uri="{FF2B5EF4-FFF2-40B4-BE49-F238E27FC236}">
                  <a16:creationId xmlns:a16="http://schemas.microsoft.com/office/drawing/2014/main" id="{CD63020B-0B8E-694B-85E5-4DF542FB833C}"/>
                </a:ext>
              </a:extLst>
            </p:cNvPr>
            <p:cNvCxnSpPr>
              <a:cxnSpLocks/>
            </p:cNvCxnSpPr>
            <p:nvPr/>
          </p:nvCxnSpPr>
          <p:spPr>
            <a:xfrm flipH="1">
              <a:off x="1164442" y="4879954"/>
              <a:ext cx="1878705" cy="0"/>
            </a:xfrm>
            <a:prstGeom prst="straightConnector1">
              <a:avLst/>
            </a:prstGeom>
            <a:noFill/>
            <a:ln w="9525" cap="flat" cmpd="sng">
              <a:solidFill>
                <a:srgbClr val="000000"/>
              </a:solidFill>
              <a:prstDash val="solid"/>
              <a:round/>
              <a:headEnd type="triangle" w="lg" len="lg"/>
              <a:tailEnd type="none" w="lg" len="lg"/>
            </a:ln>
          </p:spPr>
        </p:cxnSp>
        <p:cxnSp>
          <p:nvCxnSpPr>
            <p:cNvPr id="60" name="Shape 110">
              <a:extLst>
                <a:ext uri="{FF2B5EF4-FFF2-40B4-BE49-F238E27FC236}">
                  <a16:creationId xmlns:a16="http://schemas.microsoft.com/office/drawing/2014/main" id="{B3A3D7C2-8EB6-144A-A9DD-C22820B4E40C}"/>
                </a:ext>
              </a:extLst>
            </p:cNvPr>
            <p:cNvCxnSpPr>
              <a:cxnSpLocks/>
            </p:cNvCxnSpPr>
            <p:nvPr/>
          </p:nvCxnSpPr>
          <p:spPr>
            <a:xfrm flipH="1">
              <a:off x="989134" y="5227321"/>
              <a:ext cx="825299" cy="0"/>
            </a:xfrm>
            <a:prstGeom prst="straightConnector1">
              <a:avLst/>
            </a:prstGeom>
            <a:noFill/>
            <a:ln w="9525" cap="flat" cmpd="sng">
              <a:solidFill>
                <a:srgbClr val="000000"/>
              </a:solidFill>
              <a:prstDash val="solid"/>
              <a:round/>
              <a:headEnd type="triangle" w="lg" len="lg"/>
              <a:tailEnd type="triangle" w="lg" len="lg"/>
            </a:ln>
          </p:spPr>
        </p:cxnSp>
        <p:cxnSp>
          <p:nvCxnSpPr>
            <p:cNvPr id="61" name="Shape 116">
              <a:extLst>
                <a:ext uri="{FF2B5EF4-FFF2-40B4-BE49-F238E27FC236}">
                  <a16:creationId xmlns:a16="http://schemas.microsoft.com/office/drawing/2014/main" id="{D54A5568-4928-7341-B74B-6942C078983D}"/>
                </a:ext>
              </a:extLst>
            </p:cNvPr>
            <p:cNvCxnSpPr>
              <a:cxnSpLocks/>
            </p:cNvCxnSpPr>
            <p:nvPr/>
          </p:nvCxnSpPr>
          <p:spPr>
            <a:xfrm flipV="1">
              <a:off x="863149" y="4239156"/>
              <a:ext cx="1" cy="878436"/>
            </a:xfrm>
            <a:prstGeom prst="straightConnector1">
              <a:avLst/>
            </a:prstGeom>
            <a:noFill/>
            <a:ln w="9525" cap="flat" cmpd="sng">
              <a:solidFill>
                <a:srgbClr val="000000"/>
              </a:solidFill>
              <a:prstDash val="solid"/>
              <a:round/>
              <a:headEnd type="triangle" w="lg" len="lg"/>
              <a:tailEnd type="triangle" w="lg" len="lg"/>
            </a:ln>
          </p:spPr>
        </p:cxnSp>
        <p:sp>
          <p:nvSpPr>
            <p:cNvPr id="62" name="Shape 120">
              <a:extLst>
                <a:ext uri="{FF2B5EF4-FFF2-40B4-BE49-F238E27FC236}">
                  <a16:creationId xmlns:a16="http://schemas.microsoft.com/office/drawing/2014/main" id="{8925448D-7B05-2C45-9EB3-E80D70247C05}"/>
                </a:ext>
              </a:extLst>
            </p:cNvPr>
            <p:cNvSpPr txBox="1"/>
            <p:nvPr/>
          </p:nvSpPr>
          <p:spPr>
            <a:xfrm>
              <a:off x="950003" y="5331062"/>
              <a:ext cx="932901" cy="231538"/>
            </a:xfrm>
            <a:prstGeom prst="rect">
              <a:avLst/>
            </a:prstGeom>
            <a:noFill/>
            <a:ln>
              <a:noFill/>
            </a:ln>
          </p:spPr>
          <p:txBody>
            <a:bodyPr lIns="0" tIns="0" rIns="0" bIns="0" anchor="t" anchorCtr="0">
              <a:noAutofit/>
            </a:bodyPr>
            <a:lstStyle/>
            <a:p>
              <a:pPr marL="0" marR="0" lvl="0" indent="0" algn="ctr" rtl="0">
                <a:spcBef>
                  <a:spcPts val="0"/>
                </a:spcBef>
                <a:buSzPct val="25000"/>
                <a:buNone/>
              </a:pPr>
              <a:r>
                <a:rPr lang="en-US" sz="1000" dirty="0" err="1">
                  <a:latin typeface="Courier New" panose="02070309020205020404" pitchFamily="49" charset="0"/>
                  <a:ea typeface="Times New Roman"/>
                  <a:cs typeface="Courier New" panose="02070309020205020404" pitchFamily="49" charset="0"/>
                  <a:sym typeface="Times New Roman"/>
                </a:rPr>
                <a:t>tile_dim</a:t>
              </a:r>
              <a:endParaRPr lang="en-US" sz="1000" dirty="0">
                <a:latin typeface="Courier New" panose="02070309020205020404" pitchFamily="49" charset="0"/>
                <a:ea typeface="Times New Roman"/>
                <a:cs typeface="Courier New" panose="02070309020205020404" pitchFamily="49" charset="0"/>
                <a:sym typeface="Times New Roman"/>
              </a:endParaRPr>
            </a:p>
          </p:txBody>
        </p:sp>
        <p:sp>
          <p:nvSpPr>
            <p:cNvPr id="63" name="Shape 120">
              <a:extLst>
                <a:ext uri="{FF2B5EF4-FFF2-40B4-BE49-F238E27FC236}">
                  <a16:creationId xmlns:a16="http://schemas.microsoft.com/office/drawing/2014/main" id="{22325915-F61F-1747-9612-E9834F33D054}"/>
                </a:ext>
              </a:extLst>
            </p:cNvPr>
            <p:cNvSpPr txBox="1"/>
            <p:nvPr/>
          </p:nvSpPr>
          <p:spPr>
            <a:xfrm rot="16200000">
              <a:off x="182719" y="4590867"/>
              <a:ext cx="932901" cy="231538"/>
            </a:xfrm>
            <a:prstGeom prst="rect">
              <a:avLst/>
            </a:prstGeom>
            <a:noFill/>
            <a:ln>
              <a:noFill/>
            </a:ln>
          </p:spPr>
          <p:txBody>
            <a:bodyPr lIns="0" tIns="0" rIns="0" bIns="0" anchor="t" anchorCtr="0">
              <a:noAutofit/>
            </a:bodyPr>
            <a:lstStyle/>
            <a:p>
              <a:pPr marL="0" marR="0" lvl="0" indent="0" algn="ctr" rtl="0">
                <a:spcBef>
                  <a:spcPts val="0"/>
                </a:spcBef>
                <a:buSzPct val="25000"/>
                <a:buNone/>
              </a:pPr>
              <a:r>
                <a:rPr lang="en-US" sz="1000" dirty="0" err="1">
                  <a:latin typeface="Courier New" panose="02070309020205020404" pitchFamily="49" charset="0"/>
                  <a:ea typeface="Times New Roman"/>
                  <a:cs typeface="Courier New" panose="02070309020205020404" pitchFamily="49" charset="0"/>
                  <a:sym typeface="Times New Roman"/>
                </a:rPr>
                <a:t>tile_dim</a:t>
              </a:r>
              <a:endParaRPr lang="en-US" sz="1000" dirty="0">
                <a:latin typeface="Courier New" panose="02070309020205020404" pitchFamily="49" charset="0"/>
                <a:ea typeface="Times New Roman"/>
                <a:cs typeface="Courier New" panose="02070309020205020404" pitchFamily="49" charset="0"/>
                <a:sym typeface="Times New Roman"/>
              </a:endParaRPr>
            </a:p>
          </p:txBody>
        </p:sp>
        <p:sp>
          <p:nvSpPr>
            <p:cNvPr id="64" name="Shape 216">
              <a:extLst>
                <a:ext uri="{FF2B5EF4-FFF2-40B4-BE49-F238E27FC236}">
                  <a16:creationId xmlns:a16="http://schemas.microsoft.com/office/drawing/2014/main" id="{CF401C58-4C53-1840-A47B-802CB27C6B7E}"/>
                </a:ext>
              </a:extLst>
            </p:cNvPr>
            <p:cNvSpPr txBox="1"/>
            <p:nvPr/>
          </p:nvSpPr>
          <p:spPr>
            <a:xfrm>
              <a:off x="4267200" y="4238009"/>
              <a:ext cx="814574" cy="879583"/>
            </a:xfrm>
            <a:prstGeom prst="rect">
              <a:avLst/>
            </a:prstGeom>
            <a:solidFill>
              <a:schemeClr val="accent1">
                <a:lumMod val="60000"/>
                <a:lumOff val="40000"/>
                <a:alpha val="50196"/>
              </a:schemeClr>
            </a:solidFill>
            <a:ln w="9525" cap="flat" cmpd="sng">
              <a:solidFill>
                <a:srgbClr val="969696"/>
              </a:solidFill>
              <a:prstDash val="solid"/>
              <a:miter/>
              <a:headEnd type="none" w="med" len="med"/>
              <a:tailEnd type="none" w="med" len="med"/>
            </a:ln>
          </p:spPr>
          <p:txBody>
            <a:bodyPr lIns="0" tIns="0" rIns="0" bIns="0" anchor="t" anchorCtr="0">
              <a:noAutofit/>
            </a:bodyPr>
            <a:lstStyle/>
            <a:p>
              <a:pPr marL="0" marR="0" lvl="0" indent="0" algn="l" rtl="0">
                <a:spcBef>
                  <a:spcPts val="0"/>
                </a:spcBef>
                <a:buNone/>
              </a:pPr>
              <a:endParaRPr sz="1800">
                <a:solidFill>
                  <a:schemeClr val="dk1"/>
                </a:solidFill>
                <a:latin typeface="Arial"/>
                <a:ea typeface="Arial"/>
                <a:cs typeface="Arial"/>
                <a:sym typeface="Arial"/>
              </a:endParaRPr>
            </a:p>
          </p:txBody>
        </p:sp>
        <p:sp>
          <p:nvSpPr>
            <p:cNvPr id="65" name="Shape 216">
              <a:extLst>
                <a:ext uri="{FF2B5EF4-FFF2-40B4-BE49-F238E27FC236}">
                  <a16:creationId xmlns:a16="http://schemas.microsoft.com/office/drawing/2014/main" id="{A3F912E7-0346-D544-9F32-3E0653D6C5EB}"/>
                </a:ext>
              </a:extLst>
            </p:cNvPr>
            <p:cNvSpPr txBox="1"/>
            <p:nvPr/>
          </p:nvSpPr>
          <p:spPr>
            <a:xfrm>
              <a:off x="4267200" y="4238009"/>
              <a:ext cx="814574" cy="879583"/>
            </a:xfrm>
            <a:prstGeom prst="rect">
              <a:avLst/>
            </a:prstGeom>
            <a:solidFill>
              <a:schemeClr val="accent1">
                <a:alpha val="50196"/>
              </a:schemeClr>
            </a:solidFill>
            <a:ln w="9525" cap="flat" cmpd="sng">
              <a:solidFill>
                <a:srgbClr val="969696"/>
              </a:solidFill>
              <a:prstDash val="solid"/>
              <a:miter/>
              <a:headEnd type="none" w="med" len="med"/>
              <a:tailEnd type="none" w="med" len="med"/>
            </a:ln>
          </p:spPr>
          <p:txBody>
            <a:bodyPr lIns="0" tIns="0" rIns="0" bIns="0" anchor="t" anchorCtr="0">
              <a:noAutofit/>
            </a:bodyPr>
            <a:lstStyle/>
            <a:p>
              <a:pPr marL="0" marR="0" lvl="0" indent="0" algn="l" rtl="0">
                <a:spcBef>
                  <a:spcPts val="0"/>
                </a:spcBef>
                <a:buNone/>
              </a:pPr>
              <a:endParaRPr sz="1800">
                <a:solidFill>
                  <a:schemeClr val="dk1"/>
                </a:solidFill>
                <a:latin typeface="Arial"/>
                <a:ea typeface="Arial"/>
                <a:cs typeface="Arial"/>
                <a:sym typeface="Arial"/>
              </a:endParaRPr>
            </a:p>
          </p:txBody>
        </p:sp>
        <p:sp>
          <p:nvSpPr>
            <p:cNvPr id="66" name="Shape 122">
              <a:extLst>
                <a:ext uri="{FF2B5EF4-FFF2-40B4-BE49-F238E27FC236}">
                  <a16:creationId xmlns:a16="http://schemas.microsoft.com/office/drawing/2014/main" id="{472D9250-8153-F043-B302-2026CF4859A0}"/>
                </a:ext>
              </a:extLst>
            </p:cNvPr>
            <p:cNvSpPr txBox="1"/>
            <p:nvPr/>
          </p:nvSpPr>
          <p:spPr>
            <a:xfrm>
              <a:off x="4698374" y="4229112"/>
              <a:ext cx="430881" cy="433895"/>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dirty="0" err="1">
                  <a:latin typeface="Courier New" panose="02070309020205020404" pitchFamily="49" charset="0"/>
                  <a:ea typeface="Palatino"/>
                  <a:cs typeface="Courier New" panose="02070309020205020404" pitchFamily="49" charset="0"/>
                  <a:sym typeface="Palatino"/>
                </a:rPr>
                <a:t>i</a:t>
              </a:r>
              <a:endParaRPr lang="en-US" dirty="0">
                <a:latin typeface="Courier New" panose="02070309020205020404" pitchFamily="49" charset="0"/>
                <a:ea typeface="Palatino"/>
                <a:cs typeface="Courier New" panose="02070309020205020404" pitchFamily="49" charset="0"/>
                <a:sym typeface="Palatino"/>
              </a:endParaRPr>
            </a:p>
          </p:txBody>
        </p:sp>
        <p:sp>
          <p:nvSpPr>
            <p:cNvPr id="67" name="Shape 123">
              <a:extLst>
                <a:ext uri="{FF2B5EF4-FFF2-40B4-BE49-F238E27FC236}">
                  <a16:creationId xmlns:a16="http://schemas.microsoft.com/office/drawing/2014/main" id="{F3EE0D1C-7940-9347-A4CE-DEC522677A5B}"/>
                </a:ext>
              </a:extLst>
            </p:cNvPr>
            <p:cNvSpPr txBox="1"/>
            <p:nvPr/>
          </p:nvSpPr>
          <p:spPr>
            <a:xfrm>
              <a:off x="4194486" y="4706637"/>
              <a:ext cx="418828" cy="433895"/>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dirty="0">
                  <a:latin typeface="Courier New" panose="02070309020205020404" pitchFamily="49" charset="0"/>
                  <a:ea typeface="Palatino"/>
                  <a:cs typeface="Courier New" panose="02070309020205020404" pitchFamily="49" charset="0"/>
                  <a:sym typeface="Palatino"/>
                </a:rPr>
                <a:t>j</a:t>
              </a:r>
            </a:p>
          </p:txBody>
        </p:sp>
      </p:grpSp>
      <p:sp>
        <p:nvSpPr>
          <p:cNvPr id="31" name="Rounded Rectangle 30">
            <a:extLst>
              <a:ext uri="{FF2B5EF4-FFF2-40B4-BE49-F238E27FC236}">
                <a16:creationId xmlns:a16="http://schemas.microsoft.com/office/drawing/2014/main" id="{90D95119-CE85-7246-865B-698A69FB4D20}"/>
              </a:ext>
            </a:extLst>
          </p:cNvPr>
          <p:cNvSpPr/>
          <p:nvPr/>
        </p:nvSpPr>
        <p:spPr bwMode="auto">
          <a:xfrm>
            <a:off x="1600200" y="3596570"/>
            <a:ext cx="4994933" cy="289630"/>
          </a:xfrm>
          <a:prstGeom prst="roundRect">
            <a:avLst/>
          </a:prstGeom>
          <a:noFill/>
          <a:ln w="2857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endParaRPr>
          </a:p>
        </p:txBody>
      </p:sp>
      <p:sp>
        <p:nvSpPr>
          <p:cNvPr id="68" name="TextBox 67">
            <a:extLst>
              <a:ext uri="{FF2B5EF4-FFF2-40B4-BE49-F238E27FC236}">
                <a16:creationId xmlns:a16="http://schemas.microsoft.com/office/drawing/2014/main" id="{072BEC36-0096-A044-8094-05571ACF4C19}"/>
              </a:ext>
            </a:extLst>
          </p:cNvPr>
          <p:cNvSpPr txBox="1"/>
          <p:nvPr/>
        </p:nvSpPr>
        <p:spPr>
          <a:xfrm>
            <a:off x="196786" y="6447160"/>
            <a:ext cx="7848623" cy="438582"/>
          </a:xfrm>
          <a:prstGeom prst="rect">
            <a:avLst/>
          </a:prstGeom>
          <a:noFill/>
        </p:spPr>
        <p:txBody>
          <a:bodyPr wrap="none" rtlCol="0">
            <a:spAutoFit/>
          </a:bodyPr>
          <a:lstStyle/>
          <a:p>
            <a:pPr lvl="0">
              <a:defRPr/>
            </a:pPr>
            <a:r>
              <a:rPr lang="en-US" sz="750" dirty="0"/>
              <a:t>Lam+, "The cache performance and optimizations of blocked algorithms," ASPLOS 1991. </a:t>
            </a:r>
            <a:r>
              <a:rPr lang="en-US" sz="750" dirty="0">
                <a:hlinkClick r:id="rId2"/>
              </a:rPr>
              <a:t>https://doi.org/10.1145/106972.106981</a:t>
            </a:r>
            <a:endParaRPr lang="en-US" sz="750" dirty="0"/>
          </a:p>
          <a:p>
            <a:pPr lvl="0">
              <a:defRPr/>
            </a:pPr>
            <a:r>
              <a:rPr lang="en-US" sz="750" dirty="0"/>
              <a:t>Bansal+, "Chapter 15 - Fast Matrix Computations on Heterogeneous Streams," in "High Performance Parallelism Pearls", 2015. </a:t>
            </a:r>
            <a:r>
              <a:rPr lang="en-US" sz="750" dirty="0">
                <a:hlinkClick r:id="rId3"/>
              </a:rPr>
              <a:t>https://doi.org/10.1016/B978-0-12-803819-2.00011-2</a:t>
            </a:r>
            <a:endParaRPr lang="en-US" sz="750" dirty="0"/>
          </a:p>
          <a:p>
            <a:pPr lvl="0">
              <a:defRPr/>
            </a:pPr>
            <a:r>
              <a:rPr lang="en-US" sz="750" dirty="0"/>
              <a:t>Kirk &amp; </a:t>
            </a:r>
            <a:r>
              <a:rPr lang="en-US" sz="750" dirty="0" err="1"/>
              <a:t>Hwu</a:t>
            </a:r>
            <a:r>
              <a:rPr lang="en-US" sz="750" dirty="0"/>
              <a:t>, "Chapter 5 - Performance considerations," in "Programming Massively Parallel Processors (Third Edition)", 2017. </a:t>
            </a:r>
            <a:r>
              <a:rPr lang="en-US" sz="750" dirty="0">
                <a:hlinkClick r:id="rId4"/>
              </a:rPr>
              <a:t>https://doi.org/10.1016/B978-0-12-811986-0.00005-4</a:t>
            </a:r>
            <a:endParaRPr lang="en-US" sz="750" dirty="0"/>
          </a:p>
        </p:txBody>
      </p:sp>
    </p:spTree>
    <p:extLst>
      <p:ext uri="{BB962C8B-B14F-4D97-AF65-F5344CB8AC3E}">
        <p14:creationId xmlns:p14="http://schemas.microsoft.com/office/powerpoint/2010/main" val="41471907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1"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4525767" y="3962507"/>
            <a:ext cx="91371" cy="2077284"/>
            <a:chOff x="4515210" y="3721867"/>
            <a:chExt cx="91371" cy="2077284"/>
          </a:xfrm>
        </p:grpSpPr>
        <p:cxnSp>
          <p:nvCxnSpPr>
            <p:cNvPr id="14" name="Straight Arrow Connector 13"/>
            <p:cNvCxnSpPr/>
            <p:nvPr/>
          </p:nvCxnSpPr>
          <p:spPr>
            <a:xfrm>
              <a:off x="4561637" y="3721867"/>
              <a:ext cx="0" cy="2077284"/>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15" name="TextBox 14"/>
            <p:cNvSpPr txBox="1"/>
            <p:nvPr/>
          </p:nvSpPr>
          <p:spPr>
            <a:xfrm>
              <a:off x="4515210" y="4668176"/>
              <a:ext cx="91371" cy="169277"/>
            </a:xfrm>
            <a:prstGeom prst="rect">
              <a:avLst/>
            </a:prstGeom>
            <a:solidFill>
              <a:schemeClr val="bg1"/>
            </a:solidFill>
            <a:ln>
              <a:noFill/>
            </a:ln>
          </p:spPr>
          <p:txBody>
            <a:bodyPr wrap="none" lIns="0" tIns="0" rIns="0" bIns="0" rtlCol="0">
              <a:spAutoFit/>
            </a:bodyPr>
            <a:lstStyle/>
            <a:p>
              <a:pPr algn="ctr"/>
              <a:r>
                <a:rPr lang="en-US" sz="1100" dirty="0"/>
                <a:t>N</a:t>
              </a:r>
            </a:p>
          </p:txBody>
        </p:sp>
      </p:grpSp>
      <p:grpSp>
        <p:nvGrpSpPr>
          <p:cNvPr id="21" name="Group 20"/>
          <p:cNvGrpSpPr/>
          <p:nvPr/>
        </p:nvGrpSpPr>
        <p:grpSpPr>
          <a:xfrm>
            <a:off x="4633452" y="3762417"/>
            <a:ext cx="2011680" cy="169277"/>
            <a:chOff x="4648200" y="3521102"/>
            <a:chExt cx="2011680" cy="169277"/>
          </a:xfrm>
        </p:grpSpPr>
        <p:cxnSp>
          <p:nvCxnSpPr>
            <p:cNvPr id="18" name="Straight Arrow Connector 17"/>
            <p:cNvCxnSpPr/>
            <p:nvPr/>
          </p:nvCxnSpPr>
          <p:spPr>
            <a:xfrm rot="16200000">
              <a:off x="5654040" y="2599901"/>
              <a:ext cx="0" cy="2011680"/>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0" name="TextBox 19"/>
            <p:cNvSpPr txBox="1"/>
            <p:nvPr/>
          </p:nvSpPr>
          <p:spPr>
            <a:xfrm>
              <a:off x="5617171" y="3521102"/>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aphicFrame>
        <p:nvGraphicFramePr>
          <p:cNvPr id="12" name="Table 11"/>
          <p:cNvGraphicFramePr>
            <a:graphicFrameLocks noGrp="1"/>
          </p:cNvGraphicFramePr>
          <p:nvPr/>
        </p:nvGraphicFramePr>
        <p:xfrm>
          <a:off x="4649676" y="3954556"/>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solidFill>
                      <a:schemeClr val="accent2">
                        <a:lumMod val="60000"/>
                        <a:lumOff val="40000"/>
                      </a:schemeClr>
                    </a:solid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extLst>
                  <a:ext uri="{0D108BD9-81ED-4DB2-BD59-A6C34878D82A}">
                    <a16:rowId xmlns:a16="http://schemas.microsoft.com/office/drawing/2014/main" val="10011"/>
                  </a:ext>
                </a:extLst>
              </a:tr>
            </a:tbl>
          </a:graphicData>
        </a:graphic>
      </p:graphicFrame>
      <p:sp>
        <p:nvSpPr>
          <p:cNvPr id="2" name="Title 1"/>
          <p:cNvSpPr>
            <a:spLocks noGrp="1"/>
          </p:cNvSpPr>
          <p:nvPr>
            <p:ph type="title"/>
          </p:nvPr>
        </p:nvSpPr>
        <p:spPr/>
        <p:txBody>
          <a:bodyPr>
            <a:normAutofit/>
          </a:bodyPr>
          <a:lstStyle/>
          <a:p>
            <a:r>
              <a:rPr lang="en-US" sz="3600" dirty="0"/>
              <a:t>GPU: Matrix-Matrix Multiplication (I)</a:t>
            </a:r>
          </a:p>
        </p:txBody>
      </p:sp>
      <p:sp>
        <p:nvSpPr>
          <p:cNvPr id="7" name="TextBox 6"/>
          <p:cNvSpPr txBox="1"/>
          <p:nvPr/>
        </p:nvSpPr>
        <p:spPr>
          <a:xfrm>
            <a:off x="1331640" y="2413709"/>
            <a:ext cx="2249760" cy="646331"/>
          </a:xfrm>
          <a:prstGeom prst="rect">
            <a:avLst/>
          </a:prstGeom>
          <a:noFill/>
        </p:spPr>
        <p:txBody>
          <a:bodyPr wrap="square" rtlCol="0">
            <a:spAutoFit/>
          </a:bodyPr>
          <a:lstStyle/>
          <a:p>
            <a:pPr algn="ctr"/>
            <a:r>
              <a:rPr lang="en-US" sz="3600" dirty="0"/>
              <a:t>C = A x B</a:t>
            </a:r>
          </a:p>
        </p:txBody>
      </p:sp>
      <p:sp>
        <p:nvSpPr>
          <p:cNvPr id="8" name="TextBox 7"/>
          <p:cNvSpPr txBox="1"/>
          <p:nvPr/>
        </p:nvSpPr>
        <p:spPr>
          <a:xfrm>
            <a:off x="1828800" y="4731975"/>
            <a:ext cx="609600" cy="461665"/>
          </a:xfrm>
          <a:prstGeom prst="rect">
            <a:avLst/>
          </a:prstGeom>
          <a:noFill/>
        </p:spPr>
        <p:txBody>
          <a:bodyPr wrap="square" rtlCol="0">
            <a:spAutoFit/>
          </a:bodyPr>
          <a:lstStyle/>
          <a:p>
            <a:pPr algn="ctr"/>
            <a:r>
              <a:rPr lang="en-US" sz="2400" dirty="0"/>
              <a:t>A</a:t>
            </a:r>
          </a:p>
        </p:txBody>
      </p:sp>
      <p:sp>
        <p:nvSpPr>
          <p:cNvPr id="9" name="TextBox 8"/>
          <p:cNvSpPr txBox="1"/>
          <p:nvPr/>
        </p:nvSpPr>
        <p:spPr>
          <a:xfrm>
            <a:off x="6705600" y="2522175"/>
            <a:ext cx="609600" cy="461665"/>
          </a:xfrm>
          <a:prstGeom prst="rect">
            <a:avLst/>
          </a:prstGeom>
          <a:noFill/>
        </p:spPr>
        <p:txBody>
          <a:bodyPr wrap="square" rtlCol="0">
            <a:spAutoFit/>
          </a:bodyPr>
          <a:lstStyle/>
          <a:p>
            <a:pPr algn="ctr"/>
            <a:r>
              <a:rPr lang="en-US" sz="2400" dirty="0"/>
              <a:t>B</a:t>
            </a:r>
          </a:p>
        </p:txBody>
      </p:sp>
      <p:sp>
        <p:nvSpPr>
          <p:cNvPr id="10" name="TextBox 9"/>
          <p:cNvSpPr txBox="1"/>
          <p:nvPr/>
        </p:nvSpPr>
        <p:spPr>
          <a:xfrm>
            <a:off x="6705600" y="4731975"/>
            <a:ext cx="609600" cy="461665"/>
          </a:xfrm>
          <a:prstGeom prst="rect">
            <a:avLst/>
          </a:prstGeom>
          <a:noFill/>
        </p:spPr>
        <p:txBody>
          <a:bodyPr wrap="square" rtlCol="0">
            <a:spAutoFit/>
          </a:bodyPr>
          <a:lstStyle/>
          <a:p>
            <a:pPr algn="ctr"/>
            <a:r>
              <a:rPr lang="en-US" sz="2400" dirty="0"/>
              <a:t>C</a:t>
            </a:r>
          </a:p>
        </p:txBody>
      </p:sp>
      <p:grpSp>
        <p:nvGrpSpPr>
          <p:cNvPr id="22" name="Group 21"/>
          <p:cNvGrpSpPr/>
          <p:nvPr/>
        </p:nvGrpSpPr>
        <p:grpSpPr>
          <a:xfrm>
            <a:off x="4535385" y="1668556"/>
            <a:ext cx="91372" cy="2077284"/>
            <a:chOff x="4500783" y="3721867"/>
            <a:chExt cx="91372" cy="2077284"/>
          </a:xfrm>
        </p:grpSpPr>
        <p:cxnSp>
          <p:nvCxnSpPr>
            <p:cNvPr id="23" name="Straight Arrow Connector 22"/>
            <p:cNvCxnSpPr/>
            <p:nvPr/>
          </p:nvCxnSpPr>
          <p:spPr>
            <a:xfrm>
              <a:off x="4545543" y="3721867"/>
              <a:ext cx="0" cy="2077284"/>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4" name="TextBox 23"/>
            <p:cNvSpPr txBox="1"/>
            <p:nvPr/>
          </p:nvSpPr>
          <p:spPr>
            <a:xfrm>
              <a:off x="4500783" y="4668176"/>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pSp>
        <p:nvGrpSpPr>
          <p:cNvPr id="25" name="Group 24"/>
          <p:cNvGrpSpPr/>
          <p:nvPr/>
        </p:nvGrpSpPr>
        <p:grpSpPr>
          <a:xfrm>
            <a:off x="2484120" y="3762417"/>
            <a:ext cx="2011680" cy="169277"/>
            <a:chOff x="4648200" y="3521102"/>
            <a:chExt cx="2011680" cy="169277"/>
          </a:xfrm>
        </p:grpSpPr>
        <p:cxnSp>
          <p:nvCxnSpPr>
            <p:cNvPr id="26" name="Straight Arrow Connector 25"/>
            <p:cNvCxnSpPr/>
            <p:nvPr/>
          </p:nvCxnSpPr>
          <p:spPr>
            <a:xfrm rot="16200000">
              <a:off x="5654040" y="2599901"/>
              <a:ext cx="0" cy="2011680"/>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7" name="TextBox 26"/>
            <p:cNvSpPr txBox="1"/>
            <p:nvPr/>
          </p:nvSpPr>
          <p:spPr>
            <a:xfrm>
              <a:off x="5617171" y="3521102"/>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aphicFrame>
        <p:nvGraphicFramePr>
          <p:cNvPr id="28" name="Table 27"/>
          <p:cNvGraphicFramePr>
            <a:graphicFrameLocks noGrp="1"/>
          </p:cNvGraphicFramePr>
          <p:nvPr/>
        </p:nvGraphicFramePr>
        <p:xfrm>
          <a:off x="4646724" y="1688440"/>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extLst>
                  <a:ext uri="{0D108BD9-81ED-4DB2-BD59-A6C34878D82A}">
                    <a16:rowId xmlns:a16="http://schemas.microsoft.com/office/drawing/2014/main" val="10011"/>
                  </a:ext>
                </a:extLst>
              </a:tr>
            </a:tbl>
          </a:graphicData>
        </a:graphic>
      </p:graphicFrame>
      <p:graphicFrame>
        <p:nvGraphicFramePr>
          <p:cNvPr id="29" name="Table 28"/>
          <p:cNvGraphicFramePr>
            <a:graphicFrameLocks noGrp="1"/>
          </p:cNvGraphicFramePr>
          <p:nvPr/>
        </p:nvGraphicFramePr>
        <p:xfrm>
          <a:off x="2482644" y="3954556"/>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extLst>
                  <a:ext uri="{0D108BD9-81ED-4DB2-BD59-A6C34878D82A}">
                    <a16:rowId xmlns:a16="http://schemas.microsoft.com/office/drawing/2014/main" val="10011"/>
                  </a:ext>
                </a:extLst>
              </a:tr>
            </a:tbl>
          </a:graphicData>
        </a:graphic>
      </p:graphicFrame>
      <p:grpSp>
        <p:nvGrpSpPr>
          <p:cNvPr id="45" name="Group 44"/>
          <p:cNvGrpSpPr/>
          <p:nvPr/>
        </p:nvGrpSpPr>
        <p:grpSpPr>
          <a:xfrm>
            <a:off x="4646724" y="1499279"/>
            <a:ext cx="2011680" cy="169277"/>
            <a:chOff x="4648200" y="3521102"/>
            <a:chExt cx="2011680" cy="169277"/>
          </a:xfrm>
        </p:grpSpPr>
        <p:cxnSp>
          <p:nvCxnSpPr>
            <p:cNvPr id="46" name="Straight Arrow Connector 45"/>
            <p:cNvCxnSpPr/>
            <p:nvPr/>
          </p:nvCxnSpPr>
          <p:spPr>
            <a:xfrm rot="16200000">
              <a:off x="5654040" y="2599901"/>
              <a:ext cx="0" cy="2011680"/>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47" name="TextBox 46"/>
            <p:cNvSpPr txBox="1"/>
            <p:nvPr/>
          </p:nvSpPr>
          <p:spPr>
            <a:xfrm>
              <a:off x="5617171" y="3521102"/>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pSp>
        <p:nvGrpSpPr>
          <p:cNvPr id="48" name="Group 47"/>
          <p:cNvGrpSpPr/>
          <p:nvPr/>
        </p:nvGrpSpPr>
        <p:grpSpPr>
          <a:xfrm>
            <a:off x="2341719" y="3962507"/>
            <a:ext cx="91371" cy="2077284"/>
            <a:chOff x="4515210" y="3721867"/>
            <a:chExt cx="91371" cy="2077284"/>
          </a:xfrm>
        </p:grpSpPr>
        <p:cxnSp>
          <p:nvCxnSpPr>
            <p:cNvPr id="49" name="Straight Arrow Connector 48"/>
            <p:cNvCxnSpPr/>
            <p:nvPr/>
          </p:nvCxnSpPr>
          <p:spPr>
            <a:xfrm>
              <a:off x="4561637" y="3721867"/>
              <a:ext cx="0" cy="2077284"/>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50" name="TextBox 49"/>
            <p:cNvSpPr txBox="1"/>
            <p:nvPr/>
          </p:nvSpPr>
          <p:spPr>
            <a:xfrm>
              <a:off x="4515210" y="4668176"/>
              <a:ext cx="91371" cy="169277"/>
            </a:xfrm>
            <a:prstGeom prst="rect">
              <a:avLst/>
            </a:prstGeom>
            <a:solidFill>
              <a:schemeClr val="bg1"/>
            </a:solidFill>
            <a:ln>
              <a:noFill/>
            </a:ln>
          </p:spPr>
          <p:txBody>
            <a:bodyPr wrap="none" lIns="0" tIns="0" rIns="0" bIns="0" rtlCol="0">
              <a:spAutoFit/>
            </a:bodyPr>
            <a:lstStyle/>
            <a:p>
              <a:pPr algn="ctr"/>
              <a:r>
                <a:rPr lang="en-US" sz="1100" dirty="0"/>
                <a:t>N</a:t>
              </a:r>
            </a:p>
          </p:txBody>
        </p:sp>
      </p:grpSp>
      <p:sp>
        <p:nvSpPr>
          <p:cNvPr id="30" name="TextBox 610">
            <a:extLst>
              <a:ext uri="{FF2B5EF4-FFF2-40B4-BE49-F238E27FC236}">
                <a16:creationId xmlns:a16="http://schemas.microsoft.com/office/drawing/2014/main" id="{4B7C71BF-A3B9-6B4C-82F4-B68971DAEE7C}"/>
              </a:ext>
            </a:extLst>
          </p:cNvPr>
          <p:cNvSpPr txBox="1">
            <a:spLocks noChangeArrowheads="1"/>
          </p:cNvSpPr>
          <p:nvPr/>
        </p:nvSpPr>
        <p:spPr bwMode="auto">
          <a:xfrm>
            <a:off x="228600" y="6541584"/>
            <a:ext cx="156164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Izzat El Hajj</a:t>
            </a:r>
          </a:p>
        </p:txBody>
      </p:sp>
      <p:sp>
        <p:nvSpPr>
          <p:cNvPr id="31" name="Slide Number Placeholder 3">
            <a:extLst>
              <a:ext uri="{FF2B5EF4-FFF2-40B4-BE49-F238E27FC236}">
                <a16:creationId xmlns:a16="http://schemas.microsoft.com/office/drawing/2014/main" id="{2FB98EFD-7B8D-AB45-98E7-81C43CB11D45}"/>
              </a:ext>
            </a:extLst>
          </p:cNvPr>
          <p:cNvSpPr>
            <a:spLocks noGrp="1"/>
          </p:cNvSpPr>
          <p:nvPr>
            <p:ph type="sldNum" sz="quarter" idx="11"/>
          </p:nvPr>
        </p:nvSpPr>
        <p:spPr>
          <a:xfrm>
            <a:off x="6553200" y="6243638"/>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77E7AE0-EC71-4D48-959A-8A23F1B03886}"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54</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104142690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4525767" y="3962507"/>
            <a:ext cx="91371" cy="2077284"/>
            <a:chOff x="4515210" y="3721867"/>
            <a:chExt cx="91371" cy="2077284"/>
          </a:xfrm>
        </p:grpSpPr>
        <p:cxnSp>
          <p:nvCxnSpPr>
            <p:cNvPr id="14" name="Straight Arrow Connector 13"/>
            <p:cNvCxnSpPr/>
            <p:nvPr/>
          </p:nvCxnSpPr>
          <p:spPr>
            <a:xfrm>
              <a:off x="4561637" y="3721867"/>
              <a:ext cx="0" cy="2077284"/>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15" name="TextBox 14"/>
            <p:cNvSpPr txBox="1"/>
            <p:nvPr/>
          </p:nvSpPr>
          <p:spPr>
            <a:xfrm>
              <a:off x="4515210" y="4668176"/>
              <a:ext cx="91371" cy="169277"/>
            </a:xfrm>
            <a:prstGeom prst="rect">
              <a:avLst/>
            </a:prstGeom>
            <a:solidFill>
              <a:schemeClr val="bg1"/>
            </a:solidFill>
            <a:ln>
              <a:noFill/>
            </a:ln>
          </p:spPr>
          <p:txBody>
            <a:bodyPr wrap="none" lIns="0" tIns="0" rIns="0" bIns="0" rtlCol="0">
              <a:spAutoFit/>
            </a:bodyPr>
            <a:lstStyle/>
            <a:p>
              <a:pPr algn="ctr"/>
              <a:r>
                <a:rPr lang="en-US" sz="1100" dirty="0"/>
                <a:t>N</a:t>
              </a:r>
            </a:p>
          </p:txBody>
        </p:sp>
      </p:grpSp>
      <p:grpSp>
        <p:nvGrpSpPr>
          <p:cNvPr id="21" name="Group 20"/>
          <p:cNvGrpSpPr/>
          <p:nvPr/>
        </p:nvGrpSpPr>
        <p:grpSpPr>
          <a:xfrm>
            <a:off x="4633452" y="3762417"/>
            <a:ext cx="2011680" cy="169277"/>
            <a:chOff x="4648200" y="3521102"/>
            <a:chExt cx="2011680" cy="169277"/>
          </a:xfrm>
        </p:grpSpPr>
        <p:cxnSp>
          <p:nvCxnSpPr>
            <p:cNvPr id="18" name="Straight Arrow Connector 17"/>
            <p:cNvCxnSpPr/>
            <p:nvPr/>
          </p:nvCxnSpPr>
          <p:spPr>
            <a:xfrm rot="16200000">
              <a:off x="5654040" y="2599901"/>
              <a:ext cx="0" cy="2011680"/>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0" name="TextBox 19"/>
            <p:cNvSpPr txBox="1"/>
            <p:nvPr/>
          </p:nvSpPr>
          <p:spPr>
            <a:xfrm>
              <a:off x="5617171" y="3521102"/>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aphicFrame>
        <p:nvGraphicFramePr>
          <p:cNvPr id="12" name="Table 11"/>
          <p:cNvGraphicFramePr>
            <a:graphicFrameLocks noGrp="1"/>
          </p:cNvGraphicFramePr>
          <p:nvPr/>
        </p:nvGraphicFramePr>
        <p:xfrm>
          <a:off x="4649676" y="3954556"/>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solidFill>
                      <a:schemeClr val="accent2">
                        <a:lumMod val="60000"/>
                        <a:lumOff val="40000"/>
                      </a:schemeClr>
                    </a:solid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extLst>
                  <a:ext uri="{0D108BD9-81ED-4DB2-BD59-A6C34878D82A}">
                    <a16:rowId xmlns:a16="http://schemas.microsoft.com/office/drawing/2014/main" val="10011"/>
                  </a:ext>
                </a:extLst>
              </a:tr>
            </a:tbl>
          </a:graphicData>
        </a:graphic>
      </p:graphicFrame>
      <p:sp>
        <p:nvSpPr>
          <p:cNvPr id="2" name="Title 1"/>
          <p:cNvSpPr>
            <a:spLocks noGrp="1"/>
          </p:cNvSpPr>
          <p:nvPr>
            <p:ph type="title"/>
          </p:nvPr>
        </p:nvSpPr>
        <p:spPr/>
        <p:txBody>
          <a:bodyPr>
            <a:normAutofit/>
          </a:bodyPr>
          <a:lstStyle/>
          <a:p>
            <a:r>
              <a:rPr lang="en-US" altLang="zh-CN" sz="3600" dirty="0"/>
              <a:t>GPU</a:t>
            </a:r>
            <a:r>
              <a:rPr lang="en-US" sz="3600" dirty="0"/>
              <a:t>: Matrix-Matrix Multiplication (II)</a:t>
            </a:r>
          </a:p>
        </p:txBody>
      </p:sp>
      <p:sp>
        <p:nvSpPr>
          <p:cNvPr id="8" name="TextBox 7"/>
          <p:cNvSpPr txBox="1"/>
          <p:nvPr/>
        </p:nvSpPr>
        <p:spPr>
          <a:xfrm>
            <a:off x="1828800" y="4731975"/>
            <a:ext cx="609600" cy="461665"/>
          </a:xfrm>
          <a:prstGeom prst="rect">
            <a:avLst/>
          </a:prstGeom>
          <a:noFill/>
        </p:spPr>
        <p:txBody>
          <a:bodyPr wrap="square" rtlCol="0">
            <a:spAutoFit/>
          </a:bodyPr>
          <a:lstStyle/>
          <a:p>
            <a:pPr algn="ctr"/>
            <a:r>
              <a:rPr lang="en-US" sz="2400" dirty="0"/>
              <a:t>A</a:t>
            </a:r>
          </a:p>
        </p:txBody>
      </p:sp>
      <p:sp>
        <p:nvSpPr>
          <p:cNvPr id="9" name="TextBox 8"/>
          <p:cNvSpPr txBox="1"/>
          <p:nvPr/>
        </p:nvSpPr>
        <p:spPr>
          <a:xfrm>
            <a:off x="6705600" y="2522175"/>
            <a:ext cx="609600" cy="461665"/>
          </a:xfrm>
          <a:prstGeom prst="rect">
            <a:avLst/>
          </a:prstGeom>
          <a:noFill/>
        </p:spPr>
        <p:txBody>
          <a:bodyPr wrap="square" rtlCol="0">
            <a:spAutoFit/>
          </a:bodyPr>
          <a:lstStyle/>
          <a:p>
            <a:pPr algn="ctr"/>
            <a:r>
              <a:rPr lang="en-US" sz="2400" dirty="0"/>
              <a:t>B</a:t>
            </a:r>
          </a:p>
        </p:txBody>
      </p:sp>
      <p:sp>
        <p:nvSpPr>
          <p:cNvPr id="10" name="TextBox 9"/>
          <p:cNvSpPr txBox="1"/>
          <p:nvPr/>
        </p:nvSpPr>
        <p:spPr>
          <a:xfrm>
            <a:off x="6705600" y="4731975"/>
            <a:ext cx="609600" cy="461665"/>
          </a:xfrm>
          <a:prstGeom prst="rect">
            <a:avLst/>
          </a:prstGeom>
          <a:noFill/>
        </p:spPr>
        <p:txBody>
          <a:bodyPr wrap="square" rtlCol="0">
            <a:spAutoFit/>
          </a:bodyPr>
          <a:lstStyle/>
          <a:p>
            <a:pPr algn="ctr"/>
            <a:r>
              <a:rPr lang="en-US" sz="2400" dirty="0"/>
              <a:t>C</a:t>
            </a:r>
          </a:p>
        </p:txBody>
      </p:sp>
      <p:grpSp>
        <p:nvGrpSpPr>
          <p:cNvPr id="22" name="Group 21"/>
          <p:cNvGrpSpPr/>
          <p:nvPr/>
        </p:nvGrpSpPr>
        <p:grpSpPr>
          <a:xfrm>
            <a:off x="4535385" y="1668556"/>
            <a:ext cx="91372" cy="2077284"/>
            <a:chOff x="4500783" y="3721867"/>
            <a:chExt cx="91372" cy="2077284"/>
          </a:xfrm>
        </p:grpSpPr>
        <p:cxnSp>
          <p:nvCxnSpPr>
            <p:cNvPr id="23" name="Straight Arrow Connector 22"/>
            <p:cNvCxnSpPr/>
            <p:nvPr/>
          </p:nvCxnSpPr>
          <p:spPr>
            <a:xfrm>
              <a:off x="4545543" y="3721867"/>
              <a:ext cx="0" cy="2077284"/>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4" name="TextBox 23"/>
            <p:cNvSpPr txBox="1"/>
            <p:nvPr/>
          </p:nvSpPr>
          <p:spPr>
            <a:xfrm>
              <a:off x="4500783" y="4668176"/>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pSp>
        <p:nvGrpSpPr>
          <p:cNvPr id="25" name="Group 24"/>
          <p:cNvGrpSpPr/>
          <p:nvPr/>
        </p:nvGrpSpPr>
        <p:grpSpPr>
          <a:xfrm>
            <a:off x="2484120" y="3762417"/>
            <a:ext cx="2011680" cy="169277"/>
            <a:chOff x="4648200" y="3521102"/>
            <a:chExt cx="2011680" cy="169277"/>
          </a:xfrm>
        </p:grpSpPr>
        <p:cxnSp>
          <p:nvCxnSpPr>
            <p:cNvPr id="26" name="Straight Arrow Connector 25"/>
            <p:cNvCxnSpPr/>
            <p:nvPr/>
          </p:nvCxnSpPr>
          <p:spPr>
            <a:xfrm rot="16200000">
              <a:off x="5654040" y="2599901"/>
              <a:ext cx="0" cy="2011680"/>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7" name="TextBox 26"/>
            <p:cNvSpPr txBox="1"/>
            <p:nvPr/>
          </p:nvSpPr>
          <p:spPr>
            <a:xfrm>
              <a:off x="5617171" y="3521102"/>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aphicFrame>
        <p:nvGraphicFramePr>
          <p:cNvPr id="28" name="Table 27"/>
          <p:cNvGraphicFramePr>
            <a:graphicFrameLocks noGrp="1"/>
          </p:cNvGraphicFramePr>
          <p:nvPr/>
        </p:nvGraphicFramePr>
        <p:xfrm>
          <a:off x="4646724" y="1688440"/>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extLst>
                  <a:ext uri="{0D108BD9-81ED-4DB2-BD59-A6C34878D82A}">
                    <a16:rowId xmlns:a16="http://schemas.microsoft.com/office/drawing/2014/main" val="10011"/>
                  </a:ext>
                </a:extLst>
              </a:tr>
            </a:tbl>
          </a:graphicData>
        </a:graphic>
      </p:graphicFrame>
      <p:graphicFrame>
        <p:nvGraphicFramePr>
          <p:cNvPr id="29" name="Table 28"/>
          <p:cNvGraphicFramePr>
            <a:graphicFrameLocks noGrp="1"/>
          </p:cNvGraphicFramePr>
          <p:nvPr/>
        </p:nvGraphicFramePr>
        <p:xfrm>
          <a:off x="2482644" y="3954556"/>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a:p>
                  </a:txBody>
                  <a:tcPr marL="41910" marR="41910" marT="20955" marB="20955">
                    <a:solidFill>
                      <a:schemeClr val="bg1"/>
                    </a:solidFill>
                  </a:tcPr>
                </a:tc>
                <a:tc>
                  <a:txBody>
                    <a:bodyPr/>
                    <a:lstStyle/>
                    <a:p>
                      <a:endParaRPr lang="en-US" sz="100" dirty="0"/>
                    </a:p>
                  </a:txBody>
                  <a:tcPr marL="41910" marR="41910" marT="20955" marB="20955">
                    <a:solidFill>
                      <a:schemeClr val="bg1"/>
                    </a:solidFill>
                  </a:tcPr>
                </a:tc>
                <a:extLst>
                  <a:ext uri="{0D108BD9-81ED-4DB2-BD59-A6C34878D82A}">
                    <a16:rowId xmlns:a16="http://schemas.microsoft.com/office/drawing/2014/main" val="10011"/>
                  </a:ext>
                </a:extLst>
              </a:tr>
            </a:tbl>
          </a:graphicData>
        </a:graphic>
      </p:graphicFrame>
      <p:grpSp>
        <p:nvGrpSpPr>
          <p:cNvPr id="45" name="Group 44"/>
          <p:cNvGrpSpPr/>
          <p:nvPr/>
        </p:nvGrpSpPr>
        <p:grpSpPr>
          <a:xfrm>
            <a:off x="4646724" y="1499279"/>
            <a:ext cx="2011680" cy="169277"/>
            <a:chOff x="4648200" y="3521102"/>
            <a:chExt cx="2011680" cy="169277"/>
          </a:xfrm>
        </p:grpSpPr>
        <p:cxnSp>
          <p:nvCxnSpPr>
            <p:cNvPr id="46" name="Straight Arrow Connector 45"/>
            <p:cNvCxnSpPr/>
            <p:nvPr/>
          </p:nvCxnSpPr>
          <p:spPr>
            <a:xfrm rot="16200000">
              <a:off x="5654040" y="2599901"/>
              <a:ext cx="0" cy="2011680"/>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47" name="TextBox 46"/>
            <p:cNvSpPr txBox="1"/>
            <p:nvPr/>
          </p:nvSpPr>
          <p:spPr>
            <a:xfrm>
              <a:off x="5617171" y="3521102"/>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pSp>
        <p:nvGrpSpPr>
          <p:cNvPr id="48" name="Group 47"/>
          <p:cNvGrpSpPr/>
          <p:nvPr/>
        </p:nvGrpSpPr>
        <p:grpSpPr>
          <a:xfrm>
            <a:off x="2341719" y="3962507"/>
            <a:ext cx="91371" cy="2077284"/>
            <a:chOff x="4515210" y="3721867"/>
            <a:chExt cx="91371" cy="2077284"/>
          </a:xfrm>
        </p:grpSpPr>
        <p:cxnSp>
          <p:nvCxnSpPr>
            <p:cNvPr id="49" name="Straight Arrow Connector 48"/>
            <p:cNvCxnSpPr/>
            <p:nvPr/>
          </p:nvCxnSpPr>
          <p:spPr>
            <a:xfrm>
              <a:off x="4561637" y="3721867"/>
              <a:ext cx="0" cy="2077284"/>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50" name="TextBox 49"/>
            <p:cNvSpPr txBox="1"/>
            <p:nvPr/>
          </p:nvSpPr>
          <p:spPr>
            <a:xfrm>
              <a:off x="4515210" y="4668176"/>
              <a:ext cx="91371" cy="169277"/>
            </a:xfrm>
            <a:prstGeom prst="rect">
              <a:avLst/>
            </a:prstGeom>
            <a:solidFill>
              <a:schemeClr val="bg1"/>
            </a:solidFill>
            <a:ln>
              <a:noFill/>
            </a:ln>
          </p:spPr>
          <p:txBody>
            <a:bodyPr wrap="none" lIns="0" tIns="0" rIns="0" bIns="0" rtlCol="0">
              <a:spAutoFit/>
            </a:bodyPr>
            <a:lstStyle/>
            <a:p>
              <a:pPr algn="ctr"/>
              <a:r>
                <a:rPr lang="en-US" sz="1100" dirty="0"/>
                <a:t>N</a:t>
              </a:r>
            </a:p>
          </p:txBody>
        </p:sp>
      </p:grpSp>
      <p:sp>
        <p:nvSpPr>
          <p:cNvPr id="51" name="TextBox 50"/>
          <p:cNvSpPr txBox="1"/>
          <p:nvPr/>
        </p:nvSpPr>
        <p:spPr>
          <a:xfrm>
            <a:off x="7" y="980728"/>
            <a:ext cx="9143994" cy="369332"/>
          </a:xfrm>
          <a:prstGeom prst="rect">
            <a:avLst/>
          </a:prstGeom>
          <a:noFill/>
        </p:spPr>
        <p:txBody>
          <a:bodyPr wrap="square" rtlCol="0">
            <a:spAutoFit/>
          </a:bodyPr>
          <a:lstStyle/>
          <a:p>
            <a:pPr algn="ctr"/>
            <a:r>
              <a:rPr lang="en-US" dirty="0">
                <a:solidFill>
                  <a:srgbClr val="0000FF"/>
                </a:solidFill>
              </a:rPr>
              <a:t>Parallelization approach: assign one thread to each element in the output matrix (C)</a:t>
            </a:r>
          </a:p>
        </p:txBody>
      </p:sp>
      <p:graphicFrame>
        <p:nvGraphicFramePr>
          <p:cNvPr id="31" name="Table 30"/>
          <p:cNvGraphicFramePr>
            <a:graphicFrameLocks noGrp="1"/>
          </p:cNvGraphicFramePr>
          <p:nvPr/>
        </p:nvGraphicFramePr>
        <p:xfrm>
          <a:off x="4646724" y="3954556"/>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tcPr>
                </a:tc>
                <a:tc>
                  <a:txBody>
                    <a:bodyPr/>
                    <a:lstStyle/>
                    <a:p>
                      <a:endParaRPr lang="en-US" sz="100" dirty="0"/>
                    </a:p>
                  </a:txBody>
                  <a:tcPr marL="41910" marR="41910" marT="20955" marB="20955">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tcPr>
                </a:tc>
                <a:tc>
                  <a:txBody>
                    <a:bodyPr/>
                    <a:lstStyle/>
                    <a:p>
                      <a:endParaRPr lang="en-US" sz="100" dirty="0"/>
                    </a:p>
                  </a:txBody>
                  <a:tcPr marL="41910" marR="41910" marT="20955" marB="20955"/>
                </a:tc>
                <a:tc>
                  <a:txBody>
                    <a:bodyPr/>
                    <a:lstStyle/>
                    <a:p>
                      <a:endParaRPr lang="en-US" sz="100" dirty="0"/>
                    </a:p>
                  </a:txBody>
                  <a:tcPr marL="41910" marR="41910" marT="20955" marB="20955"/>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tcPr>
                </a:tc>
                <a:tc>
                  <a:txBody>
                    <a:bodyPr/>
                    <a:lstStyle/>
                    <a:p>
                      <a:endParaRPr lang="en-US" sz="100"/>
                    </a:p>
                  </a:txBody>
                  <a:tcPr marL="41910" marR="41910" marT="20955" marB="20955"/>
                </a:tc>
                <a:tc>
                  <a:txBody>
                    <a:bodyPr/>
                    <a:lstStyle/>
                    <a:p>
                      <a:endParaRPr lang="en-US" sz="100"/>
                    </a:p>
                  </a:txBody>
                  <a:tcPr marL="41910" marR="41910" marT="20955" marB="20955"/>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tcPr>
                </a:tc>
                <a:tc>
                  <a:txBody>
                    <a:bodyPr/>
                    <a:lstStyle/>
                    <a:p>
                      <a:endParaRPr lang="en-US" sz="100" dirty="0"/>
                    </a:p>
                  </a:txBody>
                  <a:tcPr marL="41910" marR="41910" marT="20955" marB="20955"/>
                </a:tc>
                <a:tc>
                  <a:txBody>
                    <a:bodyPr/>
                    <a:lstStyle/>
                    <a:p>
                      <a:endParaRPr lang="en-US" sz="100" dirty="0"/>
                    </a:p>
                  </a:txBody>
                  <a:tcPr marL="41910" marR="41910" marT="20955" marB="20955">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tcPr>
                </a:tc>
                <a:tc>
                  <a:txBody>
                    <a:bodyPr/>
                    <a:lstStyle/>
                    <a:p>
                      <a:endParaRPr lang="en-US" sz="100"/>
                    </a:p>
                  </a:txBody>
                  <a:tcPr marL="41910" marR="41910" marT="20955" marB="20955"/>
                </a:tc>
                <a:tc>
                  <a:txBody>
                    <a:bodyPr/>
                    <a:lstStyle/>
                    <a:p>
                      <a:endParaRPr lang="en-US" sz="100"/>
                    </a:p>
                  </a:txBody>
                  <a:tcPr marL="41910" marR="41910" marT="20955" marB="20955"/>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tcPr>
                </a:tc>
                <a:tc>
                  <a:txBody>
                    <a:bodyPr/>
                    <a:lstStyle/>
                    <a:p>
                      <a:endParaRPr lang="en-US" sz="100"/>
                    </a:p>
                  </a:txBody>
                  <a:tcPr marL="41910" marR="41910" marT="20955" marB="20955"/>
                </a:tc>
                <a:tc>
                  <a:txBody>
                    <a:bodyPr/>
                    <a:lstStyle/>
                    <a:p>
                      <a:endParaRPr lang="en-US" sz="100"/>
                    </a:p>
                  </a:txBody>
                  <a:tcPr marL="41910" marR="41910" marT="20955" marB="20955"/>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tcPr>
                </a:tc>
                <a:tc>
                  <a:txBody>
                    <a:bodyPr/>
                    <a:lstStyle/>
                    <a:p>
                      <a:endParaRPr lang="en-US" sz="100"/>
                    </a:p>
                  </a:txBody>
                  <a:tcPr marL="41910" marR="41910" marT="20955" marB="20955"/>
                </a:tc>
                <a:tc>
                  <a:txBody>
                    <a:bodyPr/>
                    <a:lstStyle/>
                    <a:p>
                      <a:endParaRPr lang="en-US" sz="100" dirty="0"/>
                    </a:p>
                  </a:txBody>
                  <a:tcPr marL="41910" marR="41910" marT="20955" marB="20955">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tcPr>
                </a:tc>
                <a:tc>
                  <a:txBody>
                    <a:bodyPr/>
                    <a:lstStyle/>
                    <a:p>
                      <a:endParaRPr lang="en-US" sz="100" dirty="0"/>
                    </a:p>
                  </a:txBody>
                  <a:tcPr marL="41910" marR="41910" marT="20955" marB="20955">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00"/>
                    </a:p>
                  </a:txBody>
                  <a:tcPr marL="41910" marR="41910" marT="20955" marB="20955">
                    <a:lnL w="1270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tcPr>
                </a:tc>
                <a:tc>
                  <a:txBody>
                    <a:bodyPr/>
                    <a:lstStyle/>
                    <a:p>
                      <a:endParaRPr lang="en-US" sz="100" dirty="0"/>
                    </a:p>
                  </a:txBody>
                  <a:tcPr marL="41910" marR="41910" marT="20955" marB="20955"/>
                </a:tc>
                <a:tc>
                  <a:txBody>
                    <a:bodyPr/>
                    <a:lstStyle/>
                    <a:p>
                      <a:endParaRPr lang="en-US" sz="100"/>
                    </a:p>
                  </a:txBody>
                  <a:tcPr marL="41910" marR="41910" marT="20955" marB="20955"/>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tcPr>
                </a:tc>
                <a:tc>
                  <a:txBody>
                    <a:bodyPr/>
                    <a:lstStyle/>
                    <a:p>
                      <a:endParaRPr lang="en-US" sz="100"/>
                    </a:p>
                  </a:txBody>
                  <a:tcPr marL="41910" marR="41910" marT="20955" marB="20955"/>
                </a:tc>
                <a:tc>
                  <a:txBody>
                    <a:bodyPr/>
                    <a:lstStyle/>
                    <a:p>
                      <a:endParaRPr lang="en-US" sz="100" dirty="0"/>
                    </a:p>
                  </a:txBody>
                  <a:tcPr marL="41910" marR="41910" marT="20955" marB="20955"/>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tcPr>
                </a:tc>
                <a:tc>
                  <a:txBody>
                    <a:bodyPr/>
                    <a:lstStyle/>
                    <a:p>
                      <a:endParaRPr lang="en-US" sz="100"/>
                    </a:p>
                  </a:txBody>
                  <a:tcPr marL="41910" marR="41910" marT="20955" marB="20955"/>
                </a:tc>
                <a:tc>
                  <a:txBody>
                    <a:bodyPr/>
                    <a:lstStyle/>
                    <a:p>
                      <a:endParaRPr lang="en-US" sz="100" dirty="0"/>
                    </a:p>
                  </a:txBody>
                  <a:tcPr marL="41910" marR="41910" marT="20955" marB="20955">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00"/>
                    </a:p>
                  </a:txBody>
                  <a:tcPr marL="41910" marR="41910" marT="20955" marB="20955">
                    <a:lnL w="1270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tcPr>
                </a:tc>
                <a:tc>
                  <a:txBody>
                    <a:bodyPr/>
                    <a:lstStyle/>
                    <a:p>
                      <a:endParaRPr lang="en-US" sz="100" dirty="0"/>
                    </a:p>
                  </a:txBody>
                  <a:tcPr marL="41910" marR="41910" marT="20955" marB="20955"/>
                </a:tc>
                <a:tc>
                  <a:txBody>
                    <a:bodyPr/>
                    <a:lstStyle/>
                    <a:p>
                      <a:endParaRPr lang="en-US" sz="100" dirty="0"/>
                    </a:p>
                  </a:txBody>
                  <a:tcPr marL="41910" marR="41910" marT="20955" marB="20955"/>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tcPr>
                </a:tc>
                <a:tc>
                  <a:txBody>
                    <a:bodyPr/>
                    <a:lstStyle/>
                    <a:p>
                      <a:endParaRPr lang="en-US" sz="100" dirty="0"/>
                    </a:p>
                  </a:txBody>
                  <a:tcPr marL="41910" marR="41910" marT="20955" marB="20955"/>
                </a:tc>
                <a:tc>
                  <a:txBody>
                    <a:bodyPr/>
                    <a:lstStyle/>
                    <a:p>
                      <a:endParaRPr lang="en-US" sz="100" dirty="0"/>
                    </a:p>
                  </a:txBody>
                  <a:tcPr marL="41910" marR="41910" marT="20955" marB="20955">
                    <a:solidFill>
                      <a:schemeClr val="accent2">
                        <a:lumMod val="60000"/>
                        <a:lumOff val="40000"/>
                      </a:schemeClr>
                    </a:solid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tcPr>
                </a:tc>
                <a:tc>
                  <a:txBody>
                    <a:bodyPr/>
                    <a:lstStyle/>
                    <a:p>
                      <a:endParaRPr lang="en-US" sz="100"/>
                    </a:p>
                  </a:txBody>
                  <a:tcPr marL="41910" marR="41910" marT="20955" marB="20955"/>
                </a:tc>
                <a:tc>
                  <a:txBody>
                    <a:bodyPr/>
                    <a:lstStyle/>
                    <a:p>
                      <a:endParaRPr lang="en-US" sz="100" dirty="0"/>
                    </a:p>
                  </a:txBody>
                  <a:tcPr marL="41910" marR="41910" marT="20955" marB="20955">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tcPr>
                </a:tc>
                <a:tc>
                  <a:txBody>
                    <a:bodyPr/>
                    <a:lstStyle/>
                    <a:p>
                      <a:endParaRPr lang="en-US" sz="100" dirty="0"/>
                    </a:p>
                  </a:txBody>
                  <a:tcPr marL="41910" marR="41910" marT="20955" marB="20955">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00"/>
                    </a:p>
                  </a:txBody>
                  <a:tcPr marL="41910" marR="41910" marT="20955" marB="20955">
                    <a:lnL w="1270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tcPr>
                </a:tc>
                <a:tc>
                  <a:txBody>
                    <a:bodyPr/>
                    <a:lstStyle/>
                    <a:p>
                      <a:endParaRPr lang="en-US" sz="100" dirty="0"/>
                    </a:p>
                  </a:txBody>
                  <a:tcPr marL="41910" marR="41910" marT="20955" marB="20955"/>
                </a:tc>
                <a:tc>
                  <a:txBody>
                    <a:bodyPr/>
                    <a:lstStyle/>
                    <a:p>
                      <a:endParaRPr lang="en-US" sz="100" dirty="0"/>
                    </a:p>
                  </a:txBody>
                  <a:tcPr marL="41910" marR="41910" marT="20955" marB="20955"/>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tcPr>
                </a:tc>
                <a:tc>
                  <a:txBody>
                    <a:bodyPr/>
                    <a:lstStyle/>
                    <a:p>
                      <a:endParaRPr lang="en-US" sz="100"/>
                    </a:p>
                  </a:txBody>
                  <a:tcPr marL="41910" marR="41910" marT="20955" marB="20955"/>
                </a:tc>
                <a:tc>
                  <a:txBody>
                    <a:bodyPr/>
                    <a:lstStyle/>
                    <a:p>
                      <a:endParaRPr lang="en-US" sz="100"/>
                    </a:p>
                  </a:txBody>
                  <a:tcPr marL="41910" marR="41910" marT="20955" marB="20955"/>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tcPr>
                </a:tc>
                <a:tc>
                  <a:txBody>
                    <a:bodyPr/>
                    <a:lstStyle/>
                    <a:p>
                      <a:endParaRPr lang="en-US" sz="100"/>
                    </a:p>
                  </a:txBody>
                  <a:tcPr marL="41910" marR="41910" marT="20955" marB="20955"/>
                </a:tc>
                <a:tc>
                  <a:txBody>
                    <a:bodyPr/>
                    <a:lstStyle/>
                    <a:p>
                      <a:endParaRPr lang="en-US" sz="100" dirty="0"/>
                    </a:p>
                  </a:txBody>
                  <a:tcPr marL="41910" marR="41910" marT="20955" marB="20955">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R w="57150" cap="flat" cmpd="sng" algn="ctr">
                      <a:noFill/>
                      <a:prstDash val="solid"/>
                      <a:round/>
                      <a:headEnd type="none" w="med" len="med"/>
                      <a:tailEnd type="none" w="med" len="med"/>
                    </a:lnR>
                    <a:lnB w="57150" cap="flat" cmpd="sng" algn="ctr">
                      <a:noFill/>
                      <a:prstDash val="solid"/>
                      <a:round/>
                      <a:headEnd type="none" w="med" len="med"/>
                      <a:tailEnd type="none" w="med" len="med"/>
                    </a:lnB>
                  </a:tcPr>
                </a:tc>
                <a:tc>
                  <a:txBody>
                    <a:bodyPr/>
                    <a:lstStyle/>
                    <a:p>
                      <a:endParaRPr lang="en-US" sz="100" dirty="0"/>
                    </a:p>
                  </a:txBody>
                  <a:tcPr marL="41910" marR="41910" marT="20955" marB="20955">
                    <a:lnL w="57150" cap="flat" cmpd="sng" algn="ctr">
                      <a:noFill/>
                      <a:prstDash val="solid"/>
                      <a:round/>
                      <a:headEnd type="none" w="med" len="med"/>
                      <a:tailEnd type="none" w="med" len="med"/>
                    </a:lnL>
                    <a:lnR w="57150" cap="flat" cmpd="sng" algn="ctr">
                      <a:noFill/>
                      <a:prstDash val="solid"/>
                      <a:round/>
                      <a:headEnd type="none" w="med" len="med"/>
                      <a:tailEnd type="none" w="med" len="med"/>
                    </a:lnR>
                    <a:lnB w="57150" cap="flat" cmpd="sng" algn="ctr">
                      <a:noFill/>
                      <a:prstDash val="solid"/>
                      <a:round/>
                      <a:headEnd type="none" w="med" len="med"/>
                      <a:tailEnd type="none" w="med" len="med"/>
                    </a:lnB>
                  </a:tcPr>
                </a:tc>
                <a:tc>
                  <a:txBody>
                    <a:bodyPr/>
                    <a:lstStyle/>
                    <a:p>
                      <a:endParaRPr lang="en-US" sz="100" dirty="0"/>
                    </a:p>
                  </a:txBody>
                  <a:tcPr marL="41910" marR="41910" marT="20955" marB="20955">
                    <a:lnL w="57150" cap="flat" cmpd="sng" algn="ctr">
                      <a:noFill/>
                      <a:prstDash val="solid"/>
                      <a:round/>
                      <a:headEnd type="none" w="med" len="med"/>
                      <a:tailEnd type="none" w="med" len="med"/>
                    </a:lnL>
                    <a:lnR w="57150" cap="flat" cmpd="sng" algn="ctr">
                      <a:noFill/>
                      <a:prstDash val="solid"/>
                      <a:round/>
                      <a:headEnd type="none" w="med" len="med"/>
                      <a:tailEnd type="none" w="med" len="med"/>
                    </a:lnR>
                    <a:lnB w="57150" cap="flat" cmpd="sng" algn="ctr">
                      <a:noFill/>
                      <a:prstDash val="solid"/>
                      <a:round/>
                      <a:headEnd type="none" w="med" len="med"/>
                      <a:tailEnd type="none" w="med" len="med"/>
                    </a:lnB>
                  </a:tcPr>
                </a:tc>
                <a:tc>
                  <a:txBody>
                    <a:bodyPr/>
                    <a:lstStyle/>
                    <a:p>
                      <a:endParaRPr lang="en-US" sz="100" dirty="0"/>
                    </a:p>
                  </a:txBody>
                  <a:tcPr marL="41910" marR="41910" marT="20955" marB="20955">
                    <a:lnL w="57150" cap="flat" cmpd="sng" algn="ctr">
                      <a:noFill/>
                      <a:prstDash val="solid"/>
                      <a:round/>
                      <a:headEnd type="none" w="med" len="med"/>
                      <a:tailEnd type="none" w="med" len="med"/>
                    </a:lnL>
                    <a:lnR w="57150" cap="flat" cmpd="sng" algn="ctr">
                      <a:solidFill>
                        <a:schemeClr val="tx1"/>
                      </a:solidFill>
                      <a:prstDash val="solid"/>
                      <a:round/>
                      <a:headEnd type="none" w="med" len="med"/>
                      <a:tailEnd type="none" w="med" len="med"/>
                    </a:lnR>
                    <a:lnB w="57150" cap="flat" cmpd="sng" algn="ctr">
                      <a:noFill/>
                      <a:prstDash val="solid"/>
                      <a:round/>
                      <a:headEnd type="none" w="med" len="med"/>
                      <a:tailEnd type="none" w="med" len="med"/>
                    </a:lnB>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R w="57150" cap="flat" cmpd="sng" algn="ctr">
                      <a:noFill/>
                      <a:prstDash val="solid"/>
                      <a:round/>
                      <a:headEnd type="none" w="med" len="med"/>
                      <a:tailEnd type="none" w="med" len="med"/>
                    </a:lnR>
                    <a:lnB w="57150" cap="flat" cmpd="sng" algn="ctr">
                      <a:noFill/>
                      <a:prstDash val="solid"/>
                      <a:round/>
                      <a:headEnd type="none" w="med" len="med"/>
                      <a:tailEnd type="none" w="med" len="med"/>
                    </a:lnB>
                  </a:tcPr>
                </a:tc>
                <a:tc>
                  <a:txBody>
                    <a:bodyPr/>
                    <a:lstStyle/>
                    <a:p>
                      <a:endParaRPr lang="en-US" sz="100"/>
                    </a:p>
                  </a:txBody>
                  <a:tcPr marL="41910" marR="41910" marT="20955" marB="20955">
                    <a:lnL w="57150" cap="flat" cmpd="sng" algn="ctr">
                      <a:noFill/>
                      <a:prstDash val="solid"/>
                      <a:round/>
                      <a:headEnd type="none" w="med" len="med"/>
                      <a:tailEnd type="none" w="med" len="med"/>
                    </a:lnL>
                    <a:lnR w="57150" cap="flat" cmpd="sng" algn="ctr">
                      <a:noFill/>
                      <a:prstDash val="solid"/>
                      <a:round/>
                      <a:headEnd type="none" w="med" len="med"/>
                      <a:tailEnd type="none" w="med" len="med"/>
                    </a:lnR>
                    <a:lnB w="57150" cap="flat" cmpd="sng" algn="ctr">
                      <a:noFill/>
                      <a:prstDash val="solid"/>
                      <a:round/>
                      <a:headEnd type="none" w="med" len="med"/>
                      <a:tailEnd type="none" w="med" len="med"/>
                    </a:lnB>
                  </a:tcPr>
                </a:tc>
                <a:tc>
                  <a:txBody>
                    <a:bodyPr/>
                    <a:lstStyle/>
                    <a:p>
                      <a:endParaRPr lang="en-US" sz="100" dirty="0"/>
                    </a:p>
                  </a:txBody>
                  <a:tcPr marL="41910" marR="41910" marT="20955" marB="20955">
                    <a:lnL w="57150" cap="flat" cmpd="sng" algn="ctr">
                      <a:noFill/>
                      <a:prstDash val="solid"/>
                      <a:round/>
                      <a:headEnd type="none" w="med" len="med"/>
                      <a:tailEnd type="none" w="med" len="med"/>
                    </a:lnL>
                    <a:lnR w="57150" cap="flat" cmpd="sng" algn="ctr">
                      <a:noFill/>
                      <a:prstDash val="solid"/>
                      <a:round/>
                      <a:headEnd type="none" w="med" len="med"/>
                      <a:tailEnd type="none" w="med" len="med"/>
                    </a:lnR>
                    <a:lnB w="57150" cap="flat" cmpd="sng" algn="ctr">
                      <a:noFill/>
                      <a:prstDash val="solid"/>
                      <a:round/>
                      <a:headEnd type="none" w="med" len="med"/>
                      <a:tailEnd type="none" w="med" len="med"/>
                    </a:lnB>
                  </a:tcPr>
                </a:tc>
                <a:tc>
                  <a:txBody>
                    <a:bodyPr/>
                    <a:lstStyle/>
                    <a:p>
                      <a:endParaRPr lang="en-US" sz="100" dirty="0"/>
                    </a:p>
                  </a:txBody>
                  <a:tcPr marL="41910" marR="41910" marT="20955" marB="20955">
                    <a:lnL w="57150" cap="flat" cmpd="sng" algn="ctr">
                      <a:noFill/>
                      <a:prstDash val="solid"/>
                      <a:round/>
                      <a:headEnd type="none" w="med" len="med"/>
                      <a:tailEnd type="none" w="med" len="med"/>
                    </a:lnL>
                    <a:lnR w="57150" cap="flat" cmpd="sng" algn="ctr">
                      <a:solidFill>
                        <a:schemeClr val="tx1"/>
                      </a:solidFill>
                      <a:prstDash val="solid"/>
                      <a:round/>
                      <a:headEnd type="none" w="med" len="med"/>
                      <a:tailEnd type="none" w="med" len="med"/>
                    </a:lnR>
                    <a:lnB w="57150" cap="flat" cmpd="sng" algn="ctr">
                      <a:noFill/>
                      <a:prstDash val="solid"/>
                      <a:round/>
                      <a:headEnd type="none" w="med" len="med"/>
                      <a:tailEnd type="none" w="med" len="med"/>
                    </a:lnB>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R w="57150" cap="flat" cmpd="sng" algn="ctr">
                      <a:noFill/>
                      <a:prstDash val="solid"/>
                      <a:round/>
                      <a:headEnd type="none" w="med" len="med"/>
                      <a:tailEnd type="none" w="med" len="med"/>
                    </a:lnR>
                    <a:lnB w="57150" cap="flat" cmpd="sng" algn="ctr">
                      <a:noFill/>
                      <a:prstDash val="solid"/>
                      <a:round/>
                      <a:headEnd type="none" w="med" len="med"/>
                      <a:tailEnd type="none" w="med" len="med"/>
                    </a:lnB>
                  </a:tcPr>
                </a:tc>
                <a:tc>
                  <a:txBody>
                    <a:bodyPr/>
                    <a:lstStyle/>
                    <a:p>
                      <a:endParaRPr lang="en-US" sz="100"/>
                    </a:p>
                  </a:txBody>
                  <a:tcPr marL="41910" marR="41910" marT="20955" marB="20955">
                    <a:lnL w="57150" cap="flat" cmpd="sng" algn="ctr">
                      <a:noFill/>
                      <a:prstDash val="solid"/>
                      <a:round/>
                      <a:headEnd type="none" w="med" len="med"/>
                      <a:tailEnd type="none" w="med" len="med"/>
                    </a:lnL>
                    <a:lnR w="57150" cap="flat" cmpd="sng" algn="ctr">
                      <a:noFill/>
                      <a:prstDash val="solid"/>
                      <a:round/>
                      <a:headEnd type="none" w="med" len="med"/>
                      <a:tailEnd type="none" w="med" len="med"/>
                    </a:lnR>
                    <a:lnB w="57150" cap="flat" cmpd="sng" algn="ctr">
                      <a:noFill/>
                      <a:prstDash val="solid"/>
                      <a:round/>
                      <a:headEnd type="none" w="med" len="med"/>
                      <a:tailEnd type="none" w="med" len="med"/>
                    </a:lnB>
                  </a:tcPr>
                </a:tc>
                <a:tc>
                  <a:txBody>
                    <a:bodyPr/>
                    <a:lstStyle/>
                    <a:p>
                      <a:endParaRPr lang="en-US" sz="100" dirty="0"/>
                    </a:p>
                  </a:txBody>
                  <a:tcPr marL="41910" marR="41910" marT="20955" marB="20955">
                    <a:lnL w="5715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endParaRPr lang="en-US" sz="100" dirty="0"/>
                    </a:p>
                  </a:txBody>
                  <a:tcPr marL="41910" marR="41910" marT="20955" marB="20955">
                    <a:lnL w="57150" cap="flat" cmpd="sng" algn="ctr">
                      <a:no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L w="57150" cap="flat" cmpd="sng" algn="ctr">
                      <a:no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L w="57150" cap="flat" cmpd="sng" algn="ctr">
                      <a:no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tcPr>
                </a:tc>
                <a:tc>
                  <a:txBody>
                    <a:bodyPr/>
                    <a:lstStyle/>
                    <a:p>
                      <a:endParaRPr lang="en-US" sz="100" dirty="0"/>
                    </a:p>
                  </a:txBody>
                  <a:tcPr marL="41910" marR="41910" marT="20955" marB="20955">
                    <a:lnL w="57150" cap="flat" cmpd="sng" algn="ctr">
                      <a:no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30" name="TextBox 610">
            <a:extLst>
              <a:ext uri="{FF2B5EF4-FFF2-40B4-BE49-F238E27FC236}">
                <a16:creationId xmlns:a16="http://schemas.microsoft.com/office/drawing/2014/main" id="{DF9E6586-99D0-9645-85BF-FEC890067A93}"/>
              </a:ext>
            </a:extLst>
          </p:cNvPr>
          <p:cNvSpPr txBox="1">
            <a:spLocks noChangeArrowheads="1"/>
          </p:cNvSpPr>
          <p:nvPr/>
        </p:nvSpPr>
        <p:spPr bwMode="auto">
          <a:xfrm>
            <a:off x="228600" y="6541584"/>
            <a:ext cx="156164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Izzat El Hajj</a:t>
            </a:r>
          </a:p>
        </p:txBody>
      </p:sp>
      <p:sp>
        <p:nvSpPr>
          <p:cNvPr id="32" name="TextBox 31">
            <a:extLst>
              <a:ext uri="{FF2B5EF4-FFF2-40B4-BE49-F238E27FC236}">
                <a16:creationId xmlns:a16="http://schemas.microsoft.com/office/drawing/2014/main" id="{00CE55A5-A998-694A-8AD0-8A4E982A62F4}"/>
              </a:ext>
            </a:extLst>
          </p:cNvPr>
          <p:cNvSpPr txBox="1"/>
          <p:nvPr/>
        </p:nvSpPr>
        <p:spPr>
          <a:xfrm>
            <a:off x="1331640" y="2413709"/>
            <a:ext cx="2249760" cy="646331"/>
          </a:xfrm>
          <a:prstGeom prst="rect">
            <a:avLst/>
          </a:prstGeom>
          <a:noFill/>
        </p:spPr>
        <p:txBody>
          <a:bodyPr wrap="square" rtlCol="0">
            <a:spAutoFit/>
          </a:bodyPr>
          <a:lstStyle/>
          <a:p>
            <a:pPr algn="ctr"/>
            <a:r>
              <a:rPr lang="en-US" sz="3600" dirty="0"/>
              <a:t>C = A x B</a:t>
            </a:r>
          </a:p>
        </p:txBody>
      </p:sp>
      <p:sp>
        <p:nvSpPr>
          <p:cNvPr id="33" name="Slide Number Placeholder 3">
            <a:extLst>
              <a:ext uri="{FF2B5EF4-FFF2-40B4-BE49-F238E27FC236}">
                <a16:creationId xmlns:a16="http://schemas.microsoft.com/office/drawing/2014/main" id="{CD8FAD94-1A2B-064D-9382-A196DC738CC9}"/>
              </a:ext>
            </a:extLst>
          </p:cNvPr>
          <p:cNvSpPr>
            <a:spLocks noGrp="1"/>
          </p:cNvSpPr>
          <p:nvPr>
            <p:ph type="sldNum" sz="quarter" idx="11"/>
          </p:nvPr>
        </p:nvSpPr>
        <p:spPr>
          <a:xfrm>
            <a:off x="6553200" y="6243638"/>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77E7AE0-EC71-4D48-959A-8A23F1B03886}"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55</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4252223640"/>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3600" dirty="0"/>
              <a:t>GPU</a:t>
            </a:r>
            <a:r>
              <a:rPr lang="en-US" sz="3600" dirty="0"/>
              <a:t>: Matrix-Matrix Multiplication (III)</a:t>
            </a:r>
          </a:p>
        </p:txBody>
      </p:sp>
      <p:sp>
        <p:nvSpPr>
          <p:cNvPr id="3" name="Rectangle 2"/>
          <p:cNvSpPr/>
          <p:nvPr/>
        </p:nvSpPr>
        <p:spPr>
          <a:xfrm>
            <a:off x="485802" y="1690689"/>
            <a:ext cx="8172396" cy="2677656"/>
          </a:xfrm>
          <a:prstGeom prst="rect">
            <a:avLst/>
          </a:prstGeom>
        </p:spPr>
        <p:txBody>
          <a:bodyPr wrap="square">
            <a:spAutoFit/>
          </a:bodyPr>
          <a:lstStyle/>
          <a:p>
            <a:r>
              <a:rPr lang="en-US" sz="1400" dirty="0">
                <a:solidFill>
                  <a:srgbClr val="00BF00"/>
                </a:solidFill>
                <a:latin typeface="Lucida Console" panose="020B0609040504020204" pitchFamily="49" charset="0"/>
              </a:rPr>
              <a:t>__global__</a:t>
            </a:r>
            <a:r>
              <a:rPr lang="en-US" sz="1400" dirty="0">
                <a:solidFill>
                  <a:prstClr val="black"/>
                </a:solidFill>
                <a:latin typeface="Lucida Console" panose="020B0609040504020204" pitchFamily="49" charset="0"/>
              </a:rPr>
              <a:t> </a:t>
            </a:r>
            <a:r>
              <a:rPr lang="en-US" sz="1400" dirty="0">
                <a:solidFill>
                  <a:srgbClr val="00BF00"/>
                </a:solidFill>
                <a:latin typeface="Lucida Console" panose="020B0609040504020204" pitchFamily="49" charset="0"/>
              </a:rPr>
              <a:t>void</a:t>
            </a:r>
            <a:r>
              <a:rPr lang="en-US" sz="1400" dirty="0">
                <a:solidFill>
                  <a:prstClr val="black"/>
                </a:solidFill>
                <a:latin typeface="Lucida Console" panose="020B0609040504020204" pitchFamily="49" charset="0"/>
              </a:rPr>
              <a:t> </a:t>
            </a:r>
            <a:r>
              <a:rPr lang="en-US" sz="1400" dirty="0" err="1">
                <a:solidFill>
                  <a:prstClr val="black"/>
                </a:solidFill>
                <a:latin typeface="Lucida Console" panose="020B0609040504020204" pitchFamily="49" charset="0"/>
              </a:rPr>
              <a:t>mm_kernel</a:t>
            </a:r>
            <a:r>
              <a:rPr lang="en-US" sz="1400" dirty="0">
                <a:solidFill>
                  <a:prstClr val="black"/>
                </a:solidFill>
                <a:latin typeface="Lucida Console" panose="020B0609040504020204" pitchFamily="49" charset="0"/>
              </a:rPr>
              <a:t>(</a:t>
            </a:r>
            <a:r>
              <a:rPr lang="en-US" sz="1400" dirty="0">
                <a:solidFill>
                  <a:srgbClr val="00BF00"/>
                </a:solidFill>
                <a:latin typeface="Lucida Console" panose="020B0609040504020204" pitchFamily="49" charset="0"/>
              </a:rPr>
              <a:t>float</a:t>
            </a:r>
            <a:r>
              <a:rPr lang="en-US" sz="1400" dirty="0">
                <a:solidFill>
                  <a:prstClr val="black"/>
                </a:solidFill>
                <a:latin typeface="Lucida Console" panose="020B0609040504020204" pitchFamily="49" charset="0"/>
              </a:rPr>
              <a:t>* A, </a:t>
            </a:r>
            <a:r>
              <a:rPr lang="en-US" sz="1400" dirty="0">
                <a:solidFill>
                  <a:srgbClr val="00BF00"/>
                </a:solidFill>
                <a:latin typeface="Lucida Console" panose="020B0609040504020204" pitchFamily="49" charset="0"/>
              </a:rPr>
              <a:t>float</a:t>
            </a:r>
            <a:r>
              <a:rPr lang="en-US" sz="1400" dirty="0">
                <a:solidFill>
                  <a:prstClr val="black"/>
                </a:solidFill>
                <a:latin typeface="Lucida Console" panose="020B0609040504020204" pitchFamily="49" charset="0"/>
              </a:rPr>
              <a:t>* B, </a:t>
            </a:r>
            <a:r>
              <a:rPr lang="en-US" sz="1400" dirty="0">
                <a:solidFill>
                  <a:srgbClr val="00BF00"/>
                </a:solidFill>
                <a:latin typeface="Lucida Console" panose="020B0609040504020204" pitchFamily="49" charset="0"/>
              </a:rPr>
              <a:t>float</a:t>
            </a:r>
            <a:r>
              <a:rPr lang="en-US" sz="1400" dirty="0">
                <a:solidFill>
                  <a:prstClr val="black"/>
                </a:solidFill>
                <a:latin typeface="Lucida Console" panose="020B0609040504020204" pitchFamily="49" charset="0"/>
              </a:rPr>
              <a:t>* C, </a:t>
            </a:r>
            <a:r>
              <a:rPr lang="en-US" sz="1400" dirty="0">
                <a:solidFill>
                  <a:srgbClr val="00BF00"/>
                </a:solidFill>
                <a:latin typeface="Lucida Console" panose="020B0609040504020204" pitchFamily="49" charset="0"/>
              </a:rPr>
              <a:t>unsigned</a:t>
            </a:r>
            <a:r>
              <a:rPr lang="en-US" sz="1400" dirty="0">
                <a:solidFill>
                  <a:prstClr val="black"/>
                </a:solidFill>
                <a:latin typeface="Lucida Console" panose="020B0609040504020204" pitchFamily="49" charset="0"/>
              </a:rPr>
              <a:t> </a:t>
            </a:r>
            <a:r>
              <a:rPr lang="en-US" sz="1400" dirty="0" err="1">
                <a:solidFill>
                  <a:srgbClr val="00BF00"/>
                </a:solidFill>
                <a:latin typeface="Lucida Console" panose="020B0609040504020204" pitchFamily="49" charset="0"/>
              </a:rPr>
              <a:t>int</a:t>
            </a:r>
            <a:r>
              <a:rPr lang="en-US" sz="1400" dirty="0">
                <a:solidFill>
                  <a:prstClr val="black"/>
                </a:solidFill>
                <a:latin typeface="Lucida Console" panose="020B0609040504020204" pitchFamily="49" charset="0"/>
              </a:rPr>
              <a:t> N) {</a:t>
            </a:r>
          </a:p>
          <a:p>
            <a:endParaRPr lang="en-US" sz="1400" dirty="0">
              <a:solidFill>
                <a:prstClr val="black"/>
              </a:solidFill>
              <a:latin typeface="Lucida Console" panose="020B0609040504020204" pitchFamily="49" charset="0"/>
            </a:endParaRPr>
          </a:p>
          <a:p>
            <a:r>
              <a:rPr lang="en-US" sz="1400" dirty="0">
                <a:solidFill>
                  <a:prstClr val="black"/>
                </a:solidFill>
                <a:latin typeface="Lucida Console" panose="020B0609040504020204" pitchFamily="49" charset="0"/>
              </a:rPr>
              <a:t>    </a:t>
            </a:r>
            <a:r>
              <a:rPr lang="en-US" sz="1400" dirty="0">
                <a:solidFill>
                  <a:srgbClr val="00BF00"/>
                </a:solidFill>
                <a:latin typeface="Lucida Console" panose="020B0609040504020204" pitchFamily="49" charset="0"/>
              </a:rPr>
              <a:t>unsigned</a:t>
            </a:r>
            <a:r>
              <a:rPr lang="en-US" sz="1400" dirty="0">
                <a:solidFill>
                  <a:prstClr val="black"/>
                </a:solidFill>
                <a:latin typeface="Lucida Console" panose="020B0609040504020204" pitchFamily="49" charset="0"/>
              </a:rPr>
              <a:t> </a:t>
            </a:r>
            <a:r>
              <a:rPr lang="en-US" sz="1400" dirty="0" err="1">
                <a:solidFill>
                  <a:srgbClr val="00BF00"/>
                </a:solidFill>
                <a:latin typeface="Lucida Console" panose="020B0609040504020204" pitchFamily="49" charset="0"/>
              </a:rPr>
              <a:t>int</a:t>
            </a:r>
            <a:r>
              <a:rPr lang="en-US" sz="1400" dirty="0">
                <a:solidFill>
                  <a:prstClr val="black"/>
                </a:solidFill>
                <a:latin typeface="Lucida Console" panose="020B0609040504020204" pitchFamily="49" charset="0"/>
              </a:rPr>
              <a:t> row = </a:t>
            </a:r>
            <a:r>
              <a:rPr lang="en-US" sz="1400" dirty="0" err="1">
                <a:solidFill>
                  <a:srgbClr val="00BFBF"/>
                </a:solidFill>
                <a:latin typeface="Lucida Console" panose="020B0609040504020204" pitchFamily="49" charset="0"/>
              </a:rPr>
              <a:t>blockIdx</a:t>
            </a:r>
            <a:r>
              <a:rPr lang="en-US" sz="1400" dirty="0" err="1">
                <a:solidFill>
                  <a:prstClr val="black"/>
                </a:solidFill>
                <a:latin typeface="Lucida Console" panose="020B0609040504020204" pitchFamily="49" charset="0"/>
              </a:rPr>
              <a:t>.y</a:t>
            </a:r>
            <a:r>
              <a:rPr lang="en-US" sz="1400" dirty="0">
                <a:solidFill>
                  <a:prstClr val="black"/>
                </a:solidFill>
                <a:latin typeface="Lucida Console" panose="020B0609040504020204" pitchFamily="49" charset="0"/>
              </a:rPr>
              <a:t>*</a:t>
            </a:r>
            <a:r>
              <a:rPr lang="en-US" sz="1400" dirty="0" err="1">
                <a:solidFill>
                  <a:srgbClr val="00BFBF"/>
                </a:solidFill>
                <a:latin typeface="Lucida Console" panose="020B0609040504020204" pitchFamily="49" charset="0"/>
              </a:rPr>
              <a:t>blockDim</a:t>
            </a:r>
            <a:r>
              <a:rPr lang="en-US" sz="1400" dirty="0" err="1">
                <a:solidFill>
                  <a:prstClr val="black"/>
                </a:solidFill>
                <a:latin typeface="Lucida Console" panose="020B0609040504020204" pitchFamily="49" charset="0"/>
              </a:rPr>
              <a:t>.y</a:t>
            </a:r>
            <a:r>
              <a:rPr lang="en-US" sz="1400" dirty="0">
                <a:solidFill>
                  <a:prstClr val="black"/>
                </a:solidFill>
                <a:latin typeface="Lucida Console" panose="020B0609040504020204" pitchFamily="49" charset="0"/>
              </a:rPr>
              <a:t> + </a:t>
            </a:r>
            <a:r>
              <a:rPr lang="en-US" sz="1400" dirty="0" err="1">
                <a:solidFill>
                  <a:srgbClr val="00BFBF"/>
                </a:solidFill>
                <a:latin typeface="Lucida Console" panose="020B0609040504020204" pitchFamily="49" charset="0"/>
              </a:rPr>
              <a:t>threadIdx</a:t>
            </a:r>
            <a:r>
              <a:rPr lang="en-US" sz="1400" dirty="0" err="1">
                <a:solidFill>
                  <a:prstClr val="black"/>
                </a:solidFill>
                <a:latin typeface="Lucida Console" panose="020B0609040504020204" pitchFamily="49" charset="0"/>
              </a:rPr>
              <a:t>.y</a:t>
            </a:r>
            <a:r>
              <a:rPr lang="en-US" sz="1400" dirty="0">
                <a:solidFill>
                  <a:prstClr val="black"/>
                </a:solidFill>
                <a:latin typeface="Lucida Console" panose="020B0609040504020204" pitchFamily="49" charset="0"/>
              </a:rPr>
              <a:t>;</a:t>
            </a:r>
          </a:p>
          <a:p>
            <a:r>
              <a:rPr lang="en-US" sz="1400" dirty="0">
                <a:solidFill>
                  <a:prstClr val="black"/>
                </a:solidFill>
                <a:latin typeface="Lucida Console" panose="020B0609040504020204" pitchFamily="49" charset="0"/>
              </a:rPr>
              <a:t>    </a:t>
            </a:r>
            <a:r>
              <a:rPr lang="en-US" sz="1400" dirty="0">
                <a:solidFill>
                  <a:srgbClr val="00BF00"/>
                </a:solidFill>
                <a:latin typeface="Lucida Console" panose="020B0609040504020204" pitchFamily="49" charset="0"/>
              </a:rPr>
              <a:t>unsigned</a:t>
            </a:r>
            <a:r>
              <a:rPr lang="en-US" sz="1400" dirty="0">
                <a:solidFill>
                  <a:prstClr val="black"/>
                </a:solidFill>
                <a:latin typeface="Lucida Console" panose="020B0609040504020204" pitchFamily="49" charset="0"/>
              </a:rPr>
              <a:t> </a:t>
            </a:r>
            <a:r>
              <a:rPr lang="en-US" sz="1400" dirty="0" err="1">
                <a:solidFill>
                  <a:srgbClr val="00BF00"/>
                </a:solidFill>
                <a:latin typeface="Lucida Console" panose="020B0609040504020204" pitchFamily="49" charset="0"/>
              </a:rPr>
              <a:t>int</a:t>
            </a:r>
            <a:r>
              <a:rPr lang="en-US" sz="1400" dirty="0">
                <a:solidFill>
                  <a:prstClr val="black"/>
                </a:solidFill>
                <a:latin typeface="Lucida Console" panose="020B0609040504020204" pitchFamily="49" charset="0"/>
              </a:rPr>
              <a:t> col = </a:t>
            </a:r>
            <a:r>
              <a:rPr lang="en-US" sz="1400" dirty="0" err="1">
                <a:solidFill>
                  <a:srgbClr val="00BFBF"/>
                </a:solidFill>
                <a:latin typeface="Lucida Console" panose="020B0609040504020204" pitchFamily="49" charset="0"/>
              </a:rPr>
              <a:t>blockIdx</a:t>
            </a:r>
            <a:r>
              <a:rPr lang="en-US" sz="1400" dirty="0" err="1">
                <a:solidFill>
                  <a:prstClr val="black"/>
                </a:solidFill>
                <a:latin typeface="Lucida Console" panose="020B0609040504020204" pitchFamily="49" charset="0"/>
              </a:rPr>
              <a:t>.x</a:t>
            </a:r>
            <a:r>
              <a:rPr lang="en-US" sz="1400" dirty="0">
                <a:solidFill>
                  <a:prstClr val="black"/>
                </a:solidFill>
                <a:latin typeface="Lucida Console" panose="020B0609040504020204" pitchFamily="49" charset="0"/>
              </a:rPr>
              <a:t>*</a:t>
            </a:r>
            <a:r>
              <a:rPr lang="en-US" sz="1400" dirty="0" err="1">
                <a:solidFill>
                  <a:srgbClr val="00BFBF"/>
                </a:solidFill>
                <a:latin typeface="Lucida Console" panose="020B0609040504020204" pitchFamily="49" charset="0"/>
              </a:rPr>
              <a:t>blockDim</a:t>
            </a:r>
            <a:r>
              <a:rPr lang="en-US" sz="1400" dirty="0" err="1">
                <a:solidFill>
                  <a:prstClr val="black"/>
                </a:solidFill>
                <a:latin typeface="Lucida Console" panose="020B0609040504020204" pitchFamily="49" charset="0"/>
              </a:rPr>
              <a:t>.x</a:t>
            </a:r>
            <a:r>
              <a:rPr lang="en-US" sz="1400" dirty="0">
                <a:solidFill>
                  <a:prstClr val="black"/>
                </a:solidFill>
                <a:latin typeface="Lucida Console" panose="020B0609040504020204" pitchFamily="49" charset="0"/>
              </a:rPr>
              <a:t> + </a:t>
            </a:r>
            <a:r>
              <a:rPr lang="en-US" sz="1400" dirty="0" err="1">
                <a:solidFill>
                  <a:srgbClr val="00BFBF"/>
                </a:solidFill>
                <a:latin typeface="Lucida Console" panose="020B0609040504020204" pitchFamily="49" charset="0"/>
              </a:rPr>
              <a:t>threadIdx</a:t>
            </a:r>
            <a:r>
              <a:rPr lang="en-US" sz="1400" dirty="0" err="1">
                <a:solidFill>
                  <a:prstClr val="black"/>
                </a:solidFill>
                <a:latin typeface="Lucida Console" panose="020B0609040504020204" pitchFamily="49" charset="0"/>
              </a:rPr>
              <a:t>.x</a:t>
            </a:r>
            <a:r>
              <a:rPr lang="en-US" sz="1400" dirty="0">
                <a:solidFill>
                  <a:prstClr val="black"/>
                </a:solidFill>
                <a:latin typeface="Lucida Console" panose="020B0609040504020204" pitchFamily="49" charset="0"/>
              </a:rPr>
              <a:t>;</a:t>
            </a:r>
          </a:p>
          <a:p>
            <a:endParaRPr lang="pt-BR" sz="1400" dirty="0">
              <a:solidFill>
                <a:prstClr val="black"/>
              </a:solidFill>
              <a:latin typeface="Lucida Console" panose="020B0609040504020204" pitchFamily="49" charset="0"/>
            </a:endParaRPr>
          </a:p>
          <a:p>
            <a:r>
              <a:rPr lang="en-US" sz="1400" dirty="0">
                <a:solidFill>
                  <a:prstClr val="black"/>
                </a:solidFill>
                <a:latin typeface="Lucida Console" panose="020B0609040504020204" pitchFamily="49" charset="0"/>
              </a:rPr>
              <a:t>    </a:t>
            </a:r>
            <a:r>
              <a:rPr lang="en-US" sz="1400" dirty="0">
                <a:solidFill>
                  <a:srgbClr val="00BF00"/>
                </a:solidFill>
                <a:latin typeface="Lucida Console" panose="020B0609040504020204" pitchFamily="49" charset="0"/>
              </a:rPr>
              <a:t>float</a:t>
            </a:r>
            <a:r>
              <a:rPr lang="en-US" sz="1400" dirty="0">
                <a:solidFill>
                  <a:prstClr val="black"/>
                </a:solidFill>
                <a:latin typeface="Lucida Console" panose="020B0609040504020204" pitchFamily="49" charset="0"/>
              </a:rPr>
              <a:t> sum = </a:t>
            </a:r>
            <a:r>
              <a:rPr lang="en-US" sz="1400" dirty="0">
                <a:solidFill>
                  <a:srgbClr val="BFBF00"/>
                </a:solidFill>
                <a:latin typeface="Lucida Console" panose="020B0609040504020204" pitchFamily="49" charset="0"/>
              </a:rPr>
              <a:t>0.0f</a:t>
            </a:r>
            <a:r>
              <a:rPr lang="en-US" sz="1400" dirty="0">
                <a:solidFill>
                  <a:prstClr val="black"/>
                </a:solidFill>
                <a:latin typeface="Lucida Console" panose="020B0609040504020204" pitchFamily="49" charset="0"/>
              </a:rPr>
              <a:t>;</a:t>
            </a:r>
          </a:p>
          <a:p>
            <a:r>
              <a:rPr lang="en-US" sz="1400" dirty="0">
                <a:solidFill>
                  <a:prstClr val="black"/>
                </a:solidFill>
                <a:latin typeface="Lucida Console" panose="020B0609040504020204" pitchFamily="49" charset="0"/>
              </a:rPr>
              <a:t>    </a:t>
            </a:r>
            <a:r>
              <a:rPr lang="en-US" sz="1400" dirty="0">
                <a:solidFill>
                  <a:srgbClr val="BFBF00"/>
                </a:solidFill>
                <a:latin typeface="Lucida Console" panose="020B0609040504020204" pitchFamily="49" charset="0"/>
              </a:rPr>
              <a:t>for</a:t>
            </a:r>
            <a:r>
              <a:rPr lang="en-US" sz="1400" dirty="0">
                <a:solidFill>
                  <a:prstClr val="black"/>
                </a:solidFill>
                <a:latin typeface="Lucida Console" panose="020B0609040504020204" pitchFamily="49" charset="0"/>
              </a:rPr>
              <a:t>(</a:t>
            </a:r>
            <a:r>
              <a:rPr lang="en-US" sz="1400" dirty="0">
                <a:solidFill>
                  <a:srgbClr val="00BF00"/>
                </a:solidFill>
                <a:latin typeface="Lucida Console" panose="020B0609040504020204" pitchFamily="49" charset="0"/>
              </a:rPr>
              <a:t>unsigned</a:t>
            </a:r>
            <a:r>
              <a:rPr lang="en-US" sz="1400" dirty="0">
                <a:solidFill>
                  <a:prstClr val="black"/>
                </a:solidFill>
                <a:latin typeface="Lucida Console" panose="020B0609040504020204" pitchFamily="49" charset="0"/>
              </a:rPr>
              <a:t> </a:t>
            </a:r>
            <a:r>
              <a:rPr lang="en-US" sz="1400" dirty="0" err="1">
                <a:solidFill>
                  <a:srgbClr val="00BF00"/>
                </a:solidFill>
                <a:latin typeface="Lucida Console" panose="020B0609040504020204" pitchFamily="49" charset="0"/>
              </a:rPr>
              <a:t>int</a:t>
            </a:r>
            <a:r>
              <a:rPr lang="en-US" sz="1400" dirty="0">
                <a:solidFill>
                  <a:prstClr val="black"/>
                </a:solidFill>
                <a:latin typeface="Lucida Console" panose="020B0609040504020204" pitchFamily="49" charset="0"/>
              </a:rPr>
              <a:t> </a:t>
            </a:r>
            <a:r>
              <a:rPr lang="en-US" sz="1400" dirty="0" err="1">
                <a:solidFill>
                  <a:prstClr val="black"/>
                </a:solidFill>
                <a:latin typeface="Lucida Console" panose="020B0609040504020204" pitchFamily="49" charset="0"/>
              </a:rPr>
              <a:t>i</a:t>
            </a:r>
            <a:r>
              <a:rPr lang="en-US" sz="1400" dirty="0">
                <a:solidFill>
                  <a:prstClr val="black"/>
                </a:solidFill>
                <a:latin typeface="Lucida Console" panose="020B0609040504020204" pitchFamily="49" charset="0"/>
              </a:rPr>
              <a:t> = </a:t>
            </a:r>
            <a:r>
              <a:rPr lang="en-US" sz="1400" dirty="0">
                <a:solidFill>
                  <a:srgbClr val="BFBF00"/>
                </a:solidFill>
                <a:latin typeface="Lucida Console" panose="020B0609040504020204" pitchFamily="49" charset="0"/>
              </a:rPr>
              <a:t>0</a:t>
            </a:r>
            <a:r>
              <a:rPr lang="en-US" sz="1400" dirty="0">
                <a:solidFill>
                  <a:prstClr val="black"/>
                </a:solidFill>
                <a:latin typeface="Lucida Console" panose="020B0609040504020204" pitchFamily="49" charset="0"/>
              </a:rPr>
              <a:t>; </a:t>
            </a:r>
            <a:r>
              <a:rPr lang="en-US" sz="1400" dirty="0" err="1">
                <a:solidFill>
                  <a:prstClr val="black"/>
                </a:solidFill>
                <a:latin typeface="Lucida Console" panose="020B0609040504020204" pitchFamily="49" charset="0"/>
              </a:rPr>
              <a:t>i</a:t>
            </a:r>
            <a:r>
              <a:rPr lang="en-US" sz="1400" dirty="0">
                <a:solidFill>
                  <a:prstClr val="black"/>
                </a:solidFill>
                <a:latin typeface="Lucida Console" panose="020B0609040504020204" pitchFamily="49" charset="0"/>
              </a:rPr>
              <a:t> &lt; N; ++</a:t>
            </a:r>
            <a:r>
              <a:rPr lang="en-US" sz="1400" dirty="0" err="1">
                <a:solidFill>
                  <a:prstClr val="black"/>
                </a:solidFill>
                <a:latin typeface="Lucida Console" panose="020B0609040504020204" pitchFamily="49" charset="0"/>
              </a:rPr>
              <a:t>i</a:t>
            </a:r>
            <a:r>
              <a:rPr lang="en-US" sz="1400" dirty="0">
                <a:solidFill>
                  <a:prstClr val="black"/>
                </a:solidFill>
                <a:latin typeface="Lucida Console" panose="020B0609040504020204" pitchFamily="49" charset="0"/>
              </a:rPr>
              <a:t>) {</a:t>
            </a:r>
          </a:p>
          <a:p>
            <a:r>
              <a:rPr lang="pt-BR" sz="1400" dirty="0">
                <a:solidFill>
                  <a:prstClr val="black"/>
                </a:solidFill>
                <a:latin typeface="Lucida Console" panose="020B0609040504020204" pitchFamily="49" charset="0"/>
              </a:rPr>
              <a:t>        sum += A[row*N + i]*B[i*N + col];</a:t>
            </a:r>
          </a:p>
          <a:p>
            <a:r>
              <a:rPr lang="en-US" sz="1400" dirty="0">
                <a:solidFill>
                  <a:prstClr val="black"/>
                </a:solidFill>
                <a:latin typeface="Lucida Console" panose="020B0609040504020204" pitchFamily="49" charset="0"/>
              </a:rPr>
              <a:t>    }</a:t>
            </a:r>
          </a:p>
          <a:p>
            <a:r>
              <a:rPr lang="en-US" sz="1400" dirty="0">
                <a:solidFill>
                  <a:prstClr val="black"/>
                </a:solidFill>
                <a:latin typeface="Lucida Console" panose="020B0609040504020204" pitchFamily="49" charset="0"/>
              </a:rPr>
              <a:t>    C[row*N + col] = sum;</a:t>
            </a:r>
          </a:p>
          <a:p>
            <a:endParaRPr lang="en-US" sz="1400" dirty="0">
              <a:solidFill>
                <a:prstClr val="black"/>
              </a:solidFill>
              <a:latin typeface="Lucida Console" panose="020B0609040504020204" pitchFamily="49" charset="0"/>
            </a:endParaRPr>
          </a:p>
          <a:p>
            <a:r>
              <a:rPr lang="en-US" sz="1400" dirty="0">
                <a:solidFill>
                  <a:prstClr val="black"/>
                </a:solidFill>
                <a:latin typeface="Lucida Console" panose="020B0609040504020204" pitchFamily="49" charset="0"/>
              </a:rPr>
              <a:t>}</a:t>
            </a:r>
            <a:endParaRPr lang="en-US" sz="1300" dirty="0"/>
          </a:p>
        </p:txBody>
      </p:sp>
      <p:sp>
        <p:nvSpPr>
          <p:cNvPr id="4" name="TextBox 610">
            <a:extLst>
              <a:ext uri="{FF2B5EF4-FFF2-40B4-BE49-F238E27FC236}">
                <a16:creationId xmlns:a16="http://schemas.microsoft.com/office/drawing/2014/main" id="{3CA99614-C5F5-EA4C-A42E-75960B5C607C}"/>
              </a:ext>
            </a:extLst>
          </p:cNvPr>
          <p:cNvSpPr txBox="1">
            <a:spLocks noChangeArrowheads="1"/>
          </p:cNvSpPr>
          <p:nvPr/>
        </p:nvSpPr>
        <p:spPr bwMode="auto">
          <a:xfrm>
            <a:off x="228600" y="6541584"/>
            <a:ext cx="156164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Izzat El Hajj</a:t>
            </a:r>
          </a:p>
        </p:txBody>
      </p:sp>
      <p:sp>
        <p:nvSpPr>
          <p:cNvPr id="5" name="Slide Number Placeholder 3">
            <a:extLst>
              <a:ext uri="{FF2B5EF4-FFF2-40B4-BE49-F238E27FC236}">
                <a16:creationId xmlns:a16="http://schemas.microsoft.com/office/drawing/2014/main" id="{540ECE76-D38A-734B-824D-13FBCB3DDDFB}"/>
              </a:ext>
            </a:extLst>
          </p:cNvPr>
          <p:cNvSpPr>
            <a:spLocks noGrp="1"/>
          </p:cNvSpPr>
          <p:nvPr>
            <p:ph type="sldNum" sz="quarter" idx="11"/>
          </p:nvPr>
        </p:nvSpPr>
        <p:spPr>
          <a:xfrm>
            <a:off x="6553200" y="6243638"/>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77E7AE0-EC71-4D48-959A-8A23F1B03886}"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56</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pic>
        <p:nvPicPr>
          <p:cNvPr id="6" name="Picture 5">
            <a:extLst>
              <a:ext uri="{FF2B5EF4-FFF2-40B4-BE49-F238E27FC236}">
                <a16:creationId xmlns:a16="http://schemas.microsoft.com/office/drawing/2014/main" id="{1B079990-0F0E-7C49-B5CA-BE86A4476272}"/>
              </a:ext>
            </a:extLst>
          </p:cNvPr>
          <p:cNvPicPr>
            <a:picLocks noChangeAspect="1"/>
          </p:cNvPicPr>
          <p:nvPr/>
        </p:nvPicPr>
        <p:blipFill>
          <a:blip r:embed="rId2"/>
          <a:stretch>
            <a:fillRect/>
          </a:stretch>
        </p:blipFill>
        <p:spPr>
          <a:xfrm>
            <a:off x="5690986" y="3828480"/>
            <a:ext cx="3148214" cy="2415158"/>
          </a:xfrm>
          <a:prstGeom prst="rect">
            <a:avLst/>
          </a:prstGeom>
        </p:spPr>
      </p:pic>
    </p:spTree>
    <p:extLst>
      <p:ext uri="{BB962C8B-B14F-4D97-AF65-F5344CB8AC3E}">
        <p14:creationId xmlns:p14="http://schemas.microsoft.com/office/powerpoint/2010/main" val="832868760"/>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4525767" y="3962507"/>
            <a:ext cx="91371" cy="2077284"/>
            <a:chOff x="4515210" y="3721867"/>
            <a:chExt cx="91371" cy="2077284"/>
          </a:xfrm>
        </p:grpSpPr>
        <p:cxnSp>
          <p:nvCxnSpPr>
            <p:cNvPr id="14" name="Straight Arrow Connector 13"/>
            <p:cNvCxnSpPr/>
            <p:nvPr/>
          </p:nvCxnSpPr>
          <p:spPr>
            <a:xfrm>
              <a:off x="4561637" y="3721867"/>
              <a:ext cx="0" cy="2077284"/>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15" name="TextBox 14"/>
            <p:cNvSpPr txBox="1"/>
            <p:nvPr/>
          </p:nvSpPr>
          <p:spPr>
            <a:xfrm>
              <a:off x="4515210" y="4668176"/>
              <a:ext cx="91371" cy="169277"/>
            </a:xfrm>
            <a:prstGeom prst="rect">
              <a:avLst/>
            </a:prstGeom>
            <a:solidFill>
              <a:schemeClr val="bg1"/>
            </a:solidFill>
            <a:ln>
              <a:noFill/>
            </a:ln>
          </p:spPr>
          <p:txBody>
            <a:bodyPr wrap="none" lIns="0" tIns="0" rIns="0" bIns="0" rtlCol="0">
              <a:spAutoFit/>
            </a:bodyPr>
            <a:lstStyle/>
            <a:p>
              <a:pPr algn="ctr"/>
              <a:r>
                <a:rPr lang="en-US" sz="1100" dirty="0"/>
                <a:t>N</a:t>
              </a:r>
            </a:p>
          </p:txBody>
        </p:sp>
      </p:grpSp>
      <p:grpSp>
        <p:nvGrpSpPr>
          <p:cNvPr id="21" name="Group 20"/>
          <p:cNvGrpSpPr/>
          <p:nvPr/>
        </p:nvGrpSpPr>
        <p:grpSpPr>
          <a:xfrm>
            <a:off x="4633452" y="3762417"/>
            <a:ext cx="2011680" cy="169277"/>
            <a:chOff x="4648200" y="3521102"/>
            <a:chExt cx="2011680" cy="169277"/>
          </a:xfrm>
        </p:grpSpPr>
        <p:cxnSp>
          <p:nvCxnSpPr>
            <p:cNvPr id="18" name="Straight Arrow Connector 17"/>
            <p:cNvCxnSpPr/>
            <p:nvPr/>
          </p:nvCxnSpPr>
          <p:spPr>
            <a:xfrm rot="16200000">
              <a:off x="5654040" y="2599901"/>
              <a:ext cx="0" cy="2011680"/>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0" name="TextBox 19"/>
            <p:cNvSpPr txBox="1"/>
            <p:nvPr/>
          </p:nvSpPr>
          <p:spPr>
            <a:xfrm>
              <a:off x="5617171" y="3521102"/>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aphicFrame>
        <p:nvGraphicFramePr>
          <p:cNvPr id="12" name="Table 11"/>
          <p:cNvGraphicFramePr>
            <a:graphicFrameLocks noGrp="1"/>
          </p:cNvGraphicFramePr>
          <p:nvPr/>
        </p:nvGraphicFramePr>
        <p:xfrm>
          <a:off x="4649676" y="3954556"/>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solidFill>
                      <a:schemeClr val="accent2">
                        <a:lumMod val="60000"/>
                        <a:lumOff val="40000"/>
                      </a:schemeClr>
                    </a:solid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solidFill>
                      <a:schemeClr val="accent2">
                        <a:lumMod val="60000"/>
                        <a:lumOff val="40000"/>
                      </a:schemeClr>
                    </a:solid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solidFill>
                      <a:schemeClr val="accent2">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solidFill>
                      <a:schemeClr val="accent2">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bl>
          </a:graphicData>
        </a:graphic>
      </p:graphicFrame>
      <p:sp>
        <p:nvSpPr>
          <p:cNvPr id="2" name="Title 1"/>
          <p:cNvSpPr>
            <a:spLocks noGrp="1"/>
          </p:cNvSpPr>
          <p:nvPr>
            <p:ph type="title"/>
          </p:nvPr>
        </p:nvSpPr>
        <p:spPr/>
        <p:txBody>
          <a:bodyPr>
            <a:normAutofit/>
          </a:bodyPr>
          <a:lstStyle/>
          <a:p>
            <a:r>
              <a:rPr lang="en-US" altLang="zh-CN" sz="3600" dirty="0"/>
              <a:t>GPU: </a:t>
            </a:r>
            <a:r>
              <a:rPr lang="en-US" sz="3600" dirty="0"/>
              <a:t>Reuse in Matrix-Matrix Multiplication (I)</a:t>
            </a:r>
          </a:p>
        </p:txBody>
      </p:sp>
      <p:sp>
        <p:nvSpPr>
          <p:cNvPr id="8" name="TextBox 7"/>
          <p:cNvSpPr txBox="1"/>
          <p:nvPr/>
        </p:nvSpPr>
        <p:spPr>
          <a:xfrm>
            <a:off x="1828800" y="4731975"/>
            <a:ext cx="609600" cy="461665"/>
          </a:xfrm>
          <a:prstGeom prst="rect">
            <a:avLst/>
          </a:prstGeom>
          <a:noFill/>
        </p:spPr>
        <p:txBody>
          <a:bodyPr wrap="square" rtlCol="0">
            <a:spAutoFit/>
          </a:bodyPr>
          <a:lstStyle/>
          <a:p>
            <a:pPr algn="ctr"/>
            <a:r>
              <a:rPr lang="en-US" sz="2400" dirty="0"/>
              <a:t>A</a:t>
            </a:r>
          </a:p>
        </p:txBody>
      </p:sp>
      <p:sp>
        <p:nvSpPr>
          <p:cNvPr id="9" name="TextBox 8"/>
          <p:cNvSpPr txBox="1"/>
          <p:nvPr/>
        </p:nvSpPr>
        <p:spPr>
          <a:xfrm>
            <a:off x="6705600" y="2522175"/>
            <a:ext cx="609600" cy="461665"/>
          </a:xfrm>
          <a:prstGeom prst="rect">
            <a:avLst/>
          </a:prstGeom>
          <a:noFill/>
        </p:spPr>
        <p:txBody>
          <a:bodyPr wrap="square" rtlCol="0">
            <a:spAutoFit/>
          </a:bodyPr>
          <a:lstStyle/>
          <a:p>
            <a:pPr algn="ctr"/>
            <a:r>
              <a:rPr lang="en-US" sz="2400" dirty="0"/>
              <a:t>B</a:t>
            </a:r>
          </a:p>
        </p:txBody>
      </p:sp>
      <p:sp>
        <p:nvSpPr>
          <p:cNvPr id="10" name="TextBox 9"/>
          <p:cNvSpPr txBox="1"/>
          <p:nvPr/>
        </p:nvSpPr>
        <p:spPr>
          <a:xfrm>
            <a:off x="6705600" y="4731975"/>
            <a:ext cx="609600" cy="461665"/>
          </a:xfrm>
          <a:prstGeom prst="rect">
            <a:avLst/>
          </a:prstGeom>
          <a:noFill/>
        </p:spPr>
        <p:txBody>
          <a:bodyPr wrap="square" rtlCol="0">
            <a:spAutoFit/>
          </a:bodyPr>
          <a:lstStyle/>
          <a:p>
            <a:pPr algn="ctr"/>
            <a:r>
              <a:rPr lang="en-US" sz="2400" dirty="0"/>
              <a:t>C</a:t>
            </a:r>
          </a:p>
        </p:txBody>
      </p:sp>
      <p:grpSp>
        <p:nvGrpSpPr>
          <p:cNvPr id="22" name="Group 21"/>
          <p:cNvGrpSpPr/>
          <p:nvPr/>
        </p:nvGrpSpPr>
        <p:grpSpPr>
          <a:xfrm>
            <a:off x="4525767" y="1668556"/>
            <a:ext cx="91372" cy="2077284"/>
            <a:chOff x="4513483" y="3721867"/>
            <a:chExt cx="91372" cy="2077284"/>
          </a:xfrm>
        </p:grpSpPr>
        <p:cxnSp>
          <p:nvCxnSpPr>
            <p:cNvPr id="23" name="Straight Arrow Connector 22"/>
            <p:cNvCxnSpPr/>
            <p:nvPr/>
          </p:nvCxnSpPr>
          <p:spPr>
            <a:xfrm>
              <a:off x="4545543" y="3721867"/>
              <a:ext cx="0" cy="2077284"/>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4" name="TextBox 23"/>
            <p:cNvSpPr txBox="1"/>
            <p:nvPr/>
          </p:nvSpPr>
          <p:spPr>
            <a:xfrm>
              <a:off x="4513483" y="4668176"/>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pSp>
        <p:nvGrpSpPr>
          <p:cNvPr id="25" name="Group 24"/>
          <p:cNvGrpSpPr/>
          <p:nvPr/>
        </p:nvGrpSpPr>
        <p:grpSpPr>
          <a:xfrm>
            <a:off x="2484120" y="3762417"/>
            <a:ext cx="2011680" cy="169277"/>
            <a:chOff x="4648200" y="3521102"/>
            <a:chExt cx="2011680" cy="169277"/>
          </a:xfrm>
        </p:grpSpPr>
        <p:cxnSp>
          <p:nvCxnSpPr>
            <p:cNvPr id="26" name="Straight Arrow Connector 25"/>
            <p:cNvCxnSpPr/>
            <p:nvPr/>
          </p:nvCxnSpPr>
          <p:spPr>
            <a:xfrm rot="16200000">
              <a:off x="5654040" y="2599901"/>
              <a:ext cx="0" cy="2011680"/>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7" name="TextBox 26"/>
            <p:cNvSpPr txBox="1"/>
            <p:nvPr/>
          </p:nvSpPr>
          <p:spPr>
            <a:xfrm>
              <a:off x="5617171" y="3521102"/>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aphicFrame>
        <p:nvGraphicFramePr>
          <p:cNvPr id="28" name="Table 27"/>
          <p:cNvGraphicFramePr>
            <a:graphicFrameLocks noGrp="1"/>
          </p:cNvGraphicFramePr>
          <p:nvPr/>
        </p:nvGraphicFramePr>
        <p:xfrm>
          <a:off x="4646724" y="1688440"/>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extLst>
                  <a:ext uri="{0D108BD9-81ED-4DB2-BD59-A6C34878D82A}">
                    <a16:rowId xmlns:a16="http://schemas.microsoft.com/office/drawing/2014/main" val="10011"/>
                  </a:ext>
                </a:extLst>
              </a:tr>
            </a:tbl>
          </a:graphicData>
        </a:graphic>
      </p:graphicFrame>
      <p:graphicFrame>
        <p:nvGraphicFramePr>
          <p:cNvPr id="29" name="Table 28"/>
          <p:cNvGraphicFramePr>
            <a:graphicFrameLocks noGrp="1"/>
          </p:cNvGraphicFramePr>
          <p:nvPr/>
        </p:nvGraphicFramePr>
        <p:xfrm>
          <a:off x="2482644" y="3954556"/>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extLst>
                  <a:ext uri="{0D108BD9-81ED-4DB2-BD59-A6C34878D82A}">
                    <a16:rowId xmlns:a16="http://schemas.microsoft.com/office/drawing/2014/main" val="10011"/>
                  </a:ext>
                </a:extLst>
              </a:tr>
            </a:tbl>
          </a:graphicData>
        </a:graphic>
      </p:graphicFrame>
      <p:grpSp>
        <p:nvGrpSpPr>
          <p:cNvPr id="45" name="Group 44"/>
          <p:cNvGrpSpPr/>
          <p:nvPr/>
        </p:nvGrpSpPr>
        <p:grpSpPr>
          <a:xfrm>
            <a:off x="4646724" y="1499279"/>
            <a:ext cx="2011680" cy="169277"/>
            <a:chOff x="4648200" y="3521102"/>
            <a:chExt cx="2011680" cy="169277"/>
          </a:xfrm>
        </p:grpSpPr>
        <p:cxnSp>
          <p:nvCxnSpPr>
            <p:cNvPr id="46" name="Straight Arrow Connector 45"/>
            <p:cNvCxnSpPr/>
            <p:nvPr/>
          </p:nvCxnSpPr>
          <p:spPr>
            <a:xfrm rot="16200000">
              <a:off x="5654040" y="2599901"/>
              <a:ext cx="0" cy="2011680"/>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47" name="TextBox 46"/>
            <p:cNvSpPr txBox="1"/>
            <p:nvPr/>
          </p:nvSpPr>
          <p:spPr>
            <a:xfrm>
              <a:off x="5617171" y="3521102"/>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pSp>
        <p:nvGrpSpPr>
          <p:cNvPr id="48" name="Group 47"/>
          <p:cNvGrpSpPr/>
          <p:nvPr/>
        </p:nvGrpSpPr>
        <p:grpSpPr>
          <a:xfrm>
            <a:off x="2341719" y="3962507"/>
            <a:ext cx="91371" cy="2077284"/>
            <a:chOff x="4515210" y="3721867"/>
            <a:chExt cx="91371" cy="2077284"/>
          </a:xfrm>
        </p:grpSpPr>
        <p:cxnSp>
          <p:nvCxnSpPr>
            <p:cNvPr id="49" name="Straight Arrow Connector 48"/>
            <p:cNvCxnSpPr/>
            <p:nvPr/>
          </p:nvCxnSpPr>
          <p:spPr>
            <a:xfrm>
              <a:off x="4561637" y="3721867"/>
              <a:ext cx="0" cy="2077284"/>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50" name="TextBox 49"/>
            <p:cNvSpPr txBox="1"/>
            <p:nvPr/>
          </p:nvSpPr>
          <p:spPr>
            <a:xfrm>
              <a:off x="4515210" y="4668176"/>
              <a:ext cx="91371" cy="169277"/>
            </a:xfrm>
            <a:prstGeom prst="rect">
              <a:avLst/>
            </a:prstGeom>
            <a:solidFill>
              <a:schemeClr val="bg1"/>
            </a:solidFill>
            <a:ln>
              <a:noFill/>
            </a:ln>
          </p:spPr>
          <p:txBody>
            <a:bodyPr wrap="none" lIns="0" tIns="0" rIns="0" bIns="0" rtlCol="0">
              <a:spAutoFit/>
            </a:bodyPr>
            <a:lstStyle/>
            <a:p>
              <a:pPr algn="ctr"/>
              <a:r>
                <a:rPr lang="en-US" sz="1100" dirty="0"/>
                <a:t>N</a:t>
              </a:r>
            </a:p>
          </p:txBody>
        </p:sp>
      </p:grpSp>
      <p:sp>
        <p:nvSpPr>
          <p:cNvPr id="34" name="Rectangle 33"/>
          <p:cNvSpPr/>
          <p:nvPr/>
        </p:nvSpPr>
        <p:spPr>
          <a:xfrm>
            <a:off x="6882408" y="3031447"/>
            <a:ext cx="2018312" cy="1631216"/>
          </a:xfrm>
          <a:prstGeom prst="rect">
            <a:avLst/>
          </a:prstGeom>
        </p:spPr>
        <p:txBody>
          <a:bodyPr wrap="square">
            <a:spAutoFit/>
          </a:bodyPr>
          <a:lstStyle/>
          <a:p>
            <a:pPr algn="ctr"/>
            <a:r>
              <a:rPr lang="en-US" sz="2000" dirty="0"/>
              <a:t>Some of the threads in the same thread block use the same input data</a:t>
            </a:r>
          </a:p>
        </p:txBody>
      </p:sp>
      <p:sp>
        <p:nvSpPr>
          <p:cNvPr id="30" name="TextBox 610">
            <a:extLst>
              <a:ext uri="{FF2B5EF4-FFF2-40B4-BE49-F238E27FC236}">
                <a16:creationId xmlns:a16="http://schemas.microsoft.com/office/drawing/2014/main" id="{AFD9AC6C-684A-DD4C-910E-A2FB30395560}"/>
              </a:ext>
            </a:extLst>
          </p:cNvPr>
          <p:cNvSpPr txBox="1">
            <a:spLocks noChangeArrowheads="1"/>
          </p:cNvSpPr>
          <p:nvPr/>
        </p:nvSpPr>
        <p:spPr bwMode="auto">
          <a:xfrm>
            <a:off x="228600" y="6541584"/>
            <a:ext cx="156164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Izzat El Hajj</a:t>
            </a:r>
          </a:p>
        </p:txBody>
      </p:sp>
      <p:sp>
        <p:nvSpPr>
          <p:cNvPr id="31" name="TextBox 30">
            <a:extLst>
              <a:ext uri="{FF2B5EF4-FFF2-40B4-BE49-F238E27FC236}">
                <a16:creationId xmlns:a16="http://schemas.microsoft.com/office/drawing/2014/main" id="{7E5AC96E-7387-2742-A7E7-2801F23B3BCD}"/>
              </a:ext>
            </a:extLst>
          </p:cNvPr>
          <p:cNvSpPr txBox="1"/>
          <p:nvPr/>
        </p:nvSpPr>
        <p:spPr>
          <a:xfrm>
            <a:off x="1331640" y="2413709"/>
            <a:ext cx="2249760" cy="646331"/>
          </a:xfrm>
          <a:prstGeom prst="rect">
            <a:avLst/>
          </a:prstGeom>
          <a:noFill/>
        </p:spPr>
        <p:txBody>
          <a:bodyPr wrap="square" rtlCol="0">
            <a:spAutoFit/>
          </a:bodyPr>
          <a:lstStyle/>
          <a:p>
            <a:pPr algn="ctr"/>
            <a:r>
              <a:rPr lang="en-US" sz="3600" dirty="0"/>
              <a:t>C = A x B</a:t>
            </a:r>
          </a:p>
        </p:txBody>
      </p:sp>
      <p:sp>
        <p:nvSpPr>
          <p:cNvPr id="32" name="Slide Number Placeholder 3">
            <a:extLst>
              <a:ext uri="{FF2B5EF4-FFF2-40B4-BE49-F238E27FC236}">
                <a16:creationId xmlns:a16="http://schemas.microsoft.com/office/drawing/2014/main" id="{1FC596F5-541C-EE48-AA8C-F7BC65F00C76}"/>
              </a:ext>
            </a:extLst>
          </p:cNvPr>
          <p:cNvSpPr>
            <a:spLocks noGrp="1"/>
          </p:cNvSpPr>
          <p:nvPr>
            <p:ph type="sldNum" sz="quarter" idx="11"/>
          </p:nvPr>
        </p:nvSpPr>
        <p:spPr>
          <a:xfrm>
            <a:off x="6553200" y="6243638"/>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77E7AE0-EC71-4D48-959A-8A23F1B03886}"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57</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4228508631"/>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4525767" y="3962507"/>
            <a:ext cx="91371" cy="2077284"/>
            <a:chOff x="4515210" y="3721867"/>
            <a:chExt cx="91371" cy="2077284"/>
          </a:xfrm>
        </p:grpSpPr>
        <p:cxnSp>
          <p:nvCxnSpPr>
            <p:cNvPr id="14" name="Straight Arrow Connector 13"/>
            <p:cNvCxnSpPr/>
            <p:nvPr/>
          </p:nvCxnSpPr>
          <p:spPr>
            <a:xfrm>
              <a:off x="4561637" y="3721867"/>
              <a:ext cx="0" cy="2077284"/>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15" name="TextBox 14"/>
            <p:cNvSpPr txBox="1"/>
            <p:nvPr/>
          </p:nvSpPr>
          <p:spPr>
            <a:xfrm>
              <a:off x="4515210" y="4668176"/>
              <a:ext cx="91371" cy="169277"/>
            </a:xfrm>
            <a:prstGeom prst="rect">
              <a:avLst/>
            </a:prstGeom>
            <a:solidFill>
              <a:schemeClr val="bg1"/>
            </a:solidFill>
            <a:ln>
              <a:noFill/>
            </a:ln>
          </p:spPr>
          <p:txBody>
            <a:bodyPr wrap="none" lIns="0" tIns="0" rIns="0" bIns="0" rtlCol="0">
              <a:spAutoFit/>
            </a:bodyPr>
            <a:lstStyle/>
            <a:p>
              <a:pPr algn="ctr"/>
              <a:r>
                <a:rPr lang="en-US" sz="1100" dirty="0"/>
                <a:t>N</a:t>
              </a:r>
            </a:p>
          </p:txBody>
        </p:sp>
      </p:grpSp>
      <p:grpSp>
        <p:nvGrpSpPr>
          <p:cNvPr id="21" name="Group 20"/>
          <p:cNvGrpSpPr/>
          <p:nvPr/>
        </p:nvGrpSpPr>
        <p:grpSpPr>
          <a:xfrm>
            <a:off x="4633452" y="3762417"/>
            <a:ext cx="2011680" cy="169277"/>
            <a:chOff x="4648200" y="3521102"/>
            <a:chExt cx="2011680" cy="169277"/>
          </a:xfrm>
        </p:grpSpPr>
        <p:cxnSp>
          <p:nvCxnSpPr>
            <p:cNvPr id="18" name="Straight Arrow Connector 17"/>
            <p:cNvCxnSpPr/>
            <p:nvPr/>
          </p:nvCxnSpPr>
          <p:spPr>
            <a:xfrm rot="16200000">
              <a:off x="5654040" y="2599901"/>
              <a:ext cx="0" cy="2011680"/>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0" name="TextBox 19"/>
            <p:cNvSpPr txBox="1"/>
            <p:nvPr/>
          </p:nvSpPr>
          <p:spPr>
            <a:xfrm>
              <a:off x="5617171" y="3521102"/>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aphicFrame>
        <p:nvGraphicFramePr>
          <p:cNvPr id="12" name="Table 11"/>
          <p:cNvGraphicFramePr>
            <a:graphicFrameLocks noGrp="1"/>
          </p:cNvGraphicFramePr>
          <p:nvPr/>
        </p:nvGraphicFramePr>
        <p:xfrm>
          <a:off x="4649676" y="3954556"/>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solidFill>
                      <a:schemeClr val="accent2">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solidFill>
                      <a:schemeClr val="accent2">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solidFill>
                      <a:schemeClr val="accent2">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bl>
          </a:graphicData>
        </a:graphic>
      </p:graphicFrame>
      <p:sp>
        <p:nvSpPr>
          <p:cNvPr id="2" name="Title 1"/>
          <p:cNvSpPr>
            <a:spLocks noGrp="1"/>
          </p:cNvSpPr>
          <p:nvPr>
            <p:ph type="title"/>
          </p:nvPr>
        </p:nvSpPr>
        <p:spPr/>
        <p:txBody>
          <a:bodyPr>
            <a:normAutofit fontScale="90000"/>
          </a:bodyPr>
          <a:lstStyle/>
          <a:p>
            <a:r>
              <a:rPr lang="en-US" altLang="zh-CN" sz="3600" dirty="0"/>
              <a:t>GPU: </a:t>
            </a:r>
            <a:r>
              <a:rPr lang="en-US" sz="3600" dirty="0"/>
              <a:t>Reuse in Matrix-Matrix Multiplication (II)</a:t>
            </a:r>
          </a:p>
        </p:txBody>
      </p:sp>
      <p:sp>
        <p:nvSpPr>
          <p:cNvPr id="8" name="TextBox 7"/>
          <p:cNvSpPr txBox="1"/>
          <p:nvPr/>
        </p:nvSpPr>
        <p:spPr>
          <a:xfrm>
            <a:off x="1828800" y="4731975"/>
            <a:ext cx="609600" cy="461665"/>
          </a:xfrm>
          <a:prstGeom prst="rect">
            <a:avLst/>
          </a:prstGeom>
          <a:noFill/>
        </p:spPr>
        <p:txBody>
          <a:bodyPr wrap="square" rtlCol="0">
            <a:spAutoFit/>
          </a:bodyPr>
          <a:lstStyle/>
          <a:p>
            <a:pPr algn="ctr"/>
            <a:r>
              <a:rPr lang="en-US" sz="2400" dirty="0"/>
              <a:t>A</a:t>
            </a:r>
          </a:p>
        </p:txBody>
      </p:sp>
      <p:sp>
        <p:nvSpPr>
          <p:cNvPr id="9" name="TextBox 8"/>
          <p:cNvSpPr txBox="1"/>
          <p:nvPr/>
        </p:nvSpPr>
        <p:spPr>
          <a:xfrm>
            <a:off x="6705600" y="2522175"/>
            <a:ext cx="609600" cy="461665"/>
          </a:xfrm>
          <a:prstGeom prst="rect">
            <a:avLst/>
          </a:prstGeom>
          <a:noFill/>
        </p:spPr>
        <p:txBody>
          <a:bodyPr wrap="square" rtlCol="0">
            <a:spAutoFit/>
          </a:bodyPr>
          <a:lstStyle/>
          <a:p>
            <a:pPr algn="ctr"/>
            <a:r>
              <a:rPr lang="en-US" sz="2400" dirty="0"/>
              <a:t>B</a:t>
            </a:r>
          </a:p>
        </p:txBody>
      </p:sp>
      <p:sp>
        <p:nvSpPr>
          <p:cNvPr id="10" name="TextBox 9"/>
          <p:cNvSpPr txBox="1"/>
          <p:nvPr/>
        </p:nvSpPr>
        <p:spPr>
          <a:xfrm>
            <a:off x="6705600" y="4731975"/>
            <a:ext cx="609600" cy="461665"/>
          </a:xfrm>
          <a:prstGeom prst="rect">
            <a:avLst/>
          </a:prstGeom>
          <a:noFill/>
        </p:spPr>
        <p:txBody>
          <a:bodyPr wrap="square" rtlCol="0">
            <a:spAutoFit/>
          </a:bodyPr>
          <a:lstStyle/>
          <a:p>
            <a:pPr algn="ctr"/>
            <a:r>
              <a:rPr lang="en-US" sz="2400" dirty="0"/>
              <a:t>C</a:t>
            </a:r>
          </a:p>
        </p:txBody>
      </p:sp>
      <p:grpSp>
        <p:nvGrpSpPr>
          <p:cNvPr id="22" name="Group 21"/>
          <p:cNvGrpSpPr/>
          <p:nvPr/>
        </p:nvGrpSpPr>
        <p:grpSpPr>
          <a:xfrm>
            <a:off x="4525767" y="1668556"/>
            <a:ext cx="91372" cy="2077284"/>
            <a:chOff x="4513483" y="3721867"/>
            <a:chExt cx="91372" cy="2077284"/>
          </a:xfrm>
        </p:grpSpPr>
        <p:cxnSp>
          <p:nvCxnSpPr>
            <p:cNvPr id="23" name="Straight Arrow Connector 22"/>
            <p:cNvCxnSpPr/>
            <p:nvPr/>
          </p:nvCxnSpPr>
          <p:spPr>
            <a:xfrm>
              <a:off x="4545543" y="3721867"/>
              <a:ext cx="0" cy="2077284"/>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4" name="TextBox 23"/>
            <p:cNvSpPr txBox="1"/>
            <p:nvPr/>
          </p:nvSpPr>
          <p:spPr>
            <a:xfrm>
              <a:off x="4513483" y="4668176"/>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pSp>
        <p:nvGrpSpPr>
          <p:cNvPr id="25" name="Group 24"/>
          <p:cNvGrpSpPr/>
          <p:nvPr/>
        </p:nvGrpSpPr>
        <p:grpSpPr>
          <a:xfrm>
            <a:off x="2484120" y="3762417"/>
            <a:ext cx="2011680" cy="169277"/>
            <a:chOff x="4648200" y="3521102"/>
            <a:chExt cx="2011680" cy="169277"/>
          </a:xfrm>
        </p:grpSpPr>
        <p:cxnSp>
          <p:nvCxnSpPr>
            <p:cNvPr id="26" name="Straight Arrow Connector 25"/>
            <p:cNvCxnSpPr/>
            <p:nvPr/>
          </p:nvCxnSpPr>
          <p:spPr>
            <a:xfrm rot="16200000">
              <a:off x="5654040" y="2599901"/>
              <a:ext cx="0" cy="2011680"/>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7" name="TextBox 26"/>
            <p:cNvSpPr txBox="1"/>
            <p:nvPr/>
          </p:nvSpPr>
          <p:spPr>
            <a:xfrm>
              <a:off x="5617171" y="3521102"/>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aphicFrame>
        <p:nvGraphicFramePr>
          <p:cNvPr id="28" name="Table 27"/>
          <p:cNvGraphicFramePr>
            <a:graphicFrameLocks noGrp="1"/>
          </p:cNvGraphicFramePr>
          <p:nvPr/>
        </p:nvGraphicFramePr>
        <p:xfrm>
          <a:off x="4646724" y="1688440"/>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extLst>
                  <a:ext uri="{0D108BD9-81ED-4DB2-BD59-A6C34878D82A}">
                    <a16:rowId xmlns:a16="http://schemas.microsoft.com/office/drawing/2014/main" val="10011"/>
                  </a:ext>
                </a:extLst>
              </a:tr>
            </a:tbl>
          </a:graphicData>
        </a:graphic>
      </p:graphicFrame>
      <p:graphicFrame>
        <p:nvGraphicFramePr>
          <p:cNvPr id="29" name="Table 28"/>
          <p:cNvGraphicFramePr>
            <a:graphicFrameLocks noGrp="1"/>
          </p:cNvGraphicFramePr>
          <p:nvPr/>
        </p:nvGraphicFramePr>
        <p:xfrm>
          <a:off x="2482644" y="3954556"/>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extLst>
                  <a:ext uri="{0D108BD9-81ED-4DB2-BD59-A6C34878D82A}">
                    <a16:rowId xmlns:a16="http://schemas.microsoft.com/office/drawing/2014/main" val="10011"/>
                  </a:ext>
                </a:extLst>
              </a:tr>
            </a:tbl>
          </a:graphicData>
        </a:graphic>
      </p:graphicFrame>
      <p:grpSp>
        <p:nvGrpSpPr>
          <p:cNvPr id="45" name="Group 44"/>
          <p:cNvGrpSpPr/>
          <p:nvPr/>
        </p:nvGrpSpPr>
        <p:grpSpPr>
          <a:xfrm>
            <a:off x="4646724" y="1499279"/>
            <a:ext cx="2011680" cy="169277"/>
            <a:chOff x="4648200" y="3521102"/>
            <a:chExt cx="2011680" cy="169277"/>
          </a:xfrm>
        </p:grpSpPr>
        <p:cxnSp>
          <p:nvCxnSpPr>
            <p:cNvPr id="46" name="Straight Arrow Connector 45"/>
            <p:cNvCxnSpPr/>
            <p:nvPr/>
          </p:nvCxnSpPr>
          <p:spPr>
            <a:xfrm rot="16200000">
              <a:off x="5654040" y="2599901"/>
              <a:ext cx="0" cy="2011680"/>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47" name="TextBox 46"/>
            <p:cNvSpPr txBox="1"/>
            <p:nvPr/>
          </p:nvSpPr>
          <p:spPr>
            <a:xfrm>
              <a:off x="5617171" y="3521102"/>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pSp>
        <p:nvGrpSpPr>
          <p:cNvPr id="48" name="Group 47"/>
          <p:cNvGrpSpPr/>
          <p:nvPr/>
        </p:nvGrpSpPr>
        <p:grpSpPr>
          <a:xfrm>
            <a:off x="2341719" y="3962507"/>
            <a:ext cx="91371" cy="2077284"/>
            <a:chOff x="4515210" y="3721867"/>
            <a:chExt cx="91371" cy="2077284"/>
          </a:xfrm>
        </p:grpSpPr>
        <p:cxnSp>
          <p:nvCxnSpPr>
            <p:cNvPr id="49" name="Straight Arrow Connector 48"/>
            <p:cNvCxnSpPr/>
            <p:nvPr/>
          </p:nvCxnSpPr>
          <p:spPr>
            <a:xfrm>
              <a:off x="4561637" y="3721867"/>
              <a:ext cx="0" cy="2077284"/>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50" name="TextBox 49"/>
            <p:cNvSpPr txBox="1"/>
            <p:nvPr/>
          </p:nvSpPr>
          <p:spPr>
            <a:xfrm>
              <a:off x="4515210" y="4668176"/>
              <a:ext cx="91371" cy="169277"/>
            </a:xfrm>
            <a:prstGeom prst="rect">
              <a:avLst/>
            </a:prstGeom>
            <a:solidFill>
              <a:schemeClr val="bg1"/>
            </a:solidFill>
            <a:ln>
              <a:noFill/>
            </a:ln>
          </p:spPr>
          <p:txBody>
            <a:bodyPr wrap="none" lIns="0" tIns="0" rIns="0" bIns="0" rtlCol="0">
              <a:spAutoFit/>
            </a:bodyPr>
            <a:lstStyle/>
            <a:p>
              <a:pPr algn="ctr"/>
              <a:r>
                <a:rPr lang="en-US" sz="1100" dirty="0"/>
                <a:t>N</a:t>
              </a:r>
            </a:p>
          </p:txBody>
        </p:sp>
      </p:grpSp>
      <p:sp>
        <p:nvSpPr>
          <p:cNvPr id="34" name="Rectangle 33"/>
          <p:cNvSpPr/>
          <p:nvPr/>
        </p:nvSpPr>
        <p:spPr>
          <a:xfrm>
            <a:off x="6882408" y="3031447"/>
            <a:ext cx="2018312" cy="1631216"/>
          </a:xfrm>
          <a:prstGeom prst="rect">
            <a:avLst/>
          </a:prstGeom>
        </p:spPr>
        <p:txBody>
          <a:bodyPr wrap="square">
            <a:spAutoFit/>
          </a:bodyPr>
          <a:lstStyle/>
          <a:p>
            <a:pPr algn="ctr"/>
            <a:r>
              <a:rPr lang="en-US" sz="2000" dirty="0"/>
              <a:t>Some of the threads in the same thread block use the same input data</a:t>
            </a:r>
          </a:p>
        </p:txBody>
      </p:sp>
      <p:sp>
        <p:nvSpPr>
          <p:cNvPr id="30" name="TextBox 610">
            <a:extLst>
              <a:ext uri="{FF2B5EF4-FFF2-40B4-BE49-F238E27FC236}">
                <a16:creationId xmlns:a16="http://schemas.microsoft.com/office/drawing/2014/main" id="{D4227FD2-4B1F-0F47-BFCE-0B2D7C64C6D9}"/>
              </a:ext>
            </a:extLst>
          </p:cNvPr>
          <p:cNvSpPr txBox="1">
            <a:spLocks noChangeArrowheads="1"/>
          </p:cNvSpPr>
          <p:nvPr/>
        </p:nvSpPr>
        <p:spPr bwMode="auto">
          <a:xfrm>
            <a:off x="228600" y="6541584"/>
            <a:ext cx="156164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Izzat El Hajj</a:t>
            </a:r>
          </a:p>
        </p:txBody>
      </p:sp>
      <p:sp>
        <p:nvSpPr>
          <p:cNvPr id="31" name="TextBox 30">
            <a:extLst>
              <a:ext uri="{FF2B5EF4-FFF2-40B4-BE49-F238E27FC236}">
                <a16:creationId xmlns:a16="http://schemas.microsoft.com/office/drawing/2014/main" id="{1AB97254-813E-904C-896F-677C3B58D787}"/>
              </a:ext>
            </a:extLst>
          </p:cNvPr>
          <p:cNvSpPr txBox="1"/>
          <p:nvPr/>
        </p:nvSpPr>
        <p:spPr>
          <a:xfrm>
            <a:off x="1331640" y="2413709"/>
            <a:ext cx="2249760" cy="646331"/>
          </a:xfrm>
          <a:prstGeom prst="rect">
            <a:avLst/>
          </a:prstGeom>
          <a:noFill/>
        </p:spPr>
        <p:txBody>
          <a:bodyPr wrap="square" rtlCol="0">
            <a:spAutoFit/>
          </a:bodyPr>
          <a:lstStyle/>
          <a:p>
            <a:pPr algn="ctr"/>
            <a:r>
              <a:rPr lang="en-US" sz="3600" dirty="0"/>
              <a:t>C = A x B</a:t>
            </a:r>
          </a:p>
        </p:txBody>
      </p:sp>
      <p:sp>
        <p:nvSpPr>
          <p:cNvPr id="32" name="Slide Number Placeholder 3">
            <a:extLst>
              <a:ext uri="{FF2B5EF4-FFF2-40B4-BE49-F238E27FC236}">
                <a16:creationId xmlns:a16="http://schemas.microsoft.com/office/drawing/2014/main" id="{32A1FDAA-7BDC-BE47-8A6B-8C4E816704C0}"/>
              </a:ext>
            </a:extLst>
          </p:cNvPr>
          <p:cNvSpPr>
            <a:spLocks noGrp="1"/>
          </p:cNvSpPr>
          <p:nvPr>
            <p:ph type="sldNum" sz="quarter" idx="11"/>
          </p:nvPr>
        </p:nvSpPr>
        <p:spPr>
          <a:xfrm>
            <a:off x="6553200" y="6243638"/>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77E7AE0-EC71-4D48-959A-8A23F1B03886}"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58</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1394284497"/>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4525767" y="3962507"/>
            <a:ext cx="91371" cy="2077284"/>
            <a:chOff x="4515210" y="3721867"/>
            <a:chExt cx="91371" cy="2077284"/>
          </a:xfrm>
        </p:grpSpPr>
        <p:cxnSp>
          <p:nvCxnSpPr>
            <p:cNvPr id="14" name="Straight Arrow Connector 13"/>
            <p:cNvCxnSpPr/>
            <p:nvPr/>
          </p:nvCxnSpPr>
          <p:spPr>
            <a:xfrm>
              <a:off x="4561637" y="3721867"/>
              <a:ext cx="0" cy="2077284"/>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15" name="TextBox 14"/>
            <p:cNvSpPr txBox="1"/>
            <p:nvPr/>
          </p:nvSpPr>
          <p:spPr>
            <a:xfrm>
              <a:off x="4515210" y="4668176"/>
              <a:ext cx="91371" cy="169277"/>
            </a:xfrm>
            <a:prstGeom prst="rect">
              <a:avLst/>
            </a:prstGeom>
            <a:solidFill>
              <a:schemeClr val="bg1"/>
            </a:solidFill>
            <a:ln>
              <a:noFill/>
            </a:ln>
          </p:spPr>
          <p:txBody>
            <a:bodyPr wrap="none" lIns="0" tIns="0" rIns="0" bIns="0" rtlCol="0">
              <a:spAutoFit/>
            </a:bodyPr>
            <a:lstStyle/>
            <a:p>
              <a:pPr algn="ctr"/>
              <a:r>
                <a:rPr lang="en-US" sz="1100" dirty="0"/>
                <a:t>N</a:t>
              </a:r>
            </a:p>
          </p:txBody>
        </p:sp>
      </p:grpSp>
      <p:grpSp>
        <p:nvGrpSpPr>
          <p:cNvPr id="21" name="Group 20"/>
          <p:cNvGrpSpPr/>
          <p:nvPr/>
        </p:nvGrpSpPr>
        <p:grpSpPr>
          <a:xfrm>
            <a:off x="4633452" y="3762417"/>
            <a:ext cx="2011680" cy="169277"/>
            <a:chOff x="4648200" y="3521102"/>
            <a:chExt cx="2011680" cy="169277"/>
          </a:xfrm>
        </p:grpSpPr>
        <p:cxnSp>
          <p:nvCxnSpPr>
            <p:cNvPr id="18" name="Straight Arrow Connector 17"/>
            <p:cNvCxnSpPr/>
            <p:nvPr/>
          </p:nvCxnSpPr>
          <p:spPr>
            <a:xfrm rot="16200000">
              <a:off x="5654040" y="2599901"/>
              <a:ext cx="0" cy="2011680"/>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0" name="TextBox 19"/>
            <p:cNvSpPr txBox="1"/>
            <p:nvPr/>
          </p:nvSpPr>
          <p:spPr>
            <a:xfrm>
              <a:off x="5617171" y="3521102"/>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aphicFrame>
        <p:nvGraphicFramePr>
          <p:cNvPr id="12" name="Table 11"/>
          <p:cNvGraphicFramePr>
            <a:graphicFrameLocks noGrp="1"/>
          </p:cNvGraphicFramePr>
          <p:nvPr/>
        </p:nvGraphicFramePr>
        <p:xfrm>
          <a:off x="4649676" y="3954556"/>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solidFill>
                      <a:schemeClr val="accent2">
                        <a:lumMod val="60000"/>
                        <a:lumOff val="40000"/>
                      </a:schemeClr>
                    </a:solid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solidFill>
                      <a:schemeClr val="accent2">
                        <a:lumMod val="60000"/>
                        <a:lumOff val="40000"/>
                      </a:schemeClr>
                    </a:solid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solidFill>
                      <a:schemeClr val="accent2">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solidFill>
                      <a:schemeClr val="accent2">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solidFill>
                      <a:schemeClr val="accent2">
                        <a:lumMod val="60000"/>
                        <a:lumOff val="40000"/>
                      </a:schemeClr>
                    </a:solidFill>
                  </a:tcPr>
                </a:tc>
                <a:tc>
                  <a:txBody>
                    <a:bodyPr/>
                    <a:lstStyle/>
                    <a:p>
                      <a:endParaRPr lang="en-US" sz="100" dirty="0"/>
                    </a:p>
                  </a:txBody>
                  <a:tcPr marL="41910" marR="41910" marT="20955" marB="20955">
                    <a:solidFill>
                      <a:schemeClr val="accent2">
                        <a:lumMod val="60000"/>
                        <a:lumOff val="40000"/>
                      </a:schemeClr>
                    </a:solidFill>
                  </a:tcPr>
                </a:tc>
                <a:tc>
                  <a:txBody>
                    <a:bodyPr/>
                    <a:lstStyle/>
                    <a:p>
                      <a:endParaRPr lang="en-US" sz="100" dirty="0"/>
                    </a:p>
                  </a:txBody>
                  <a:tcPr marL="41910" marR="41910" marT="20955" marB="20955">
                    <a:solidFill>
                      <a:schemeClr val="accent2">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solidFill>
                      <a:schemeClr val="accent2">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solidFill>
                      <a:schemeClr val="accent2">
                        <a:lumMod val="60000"/>
                        <a:lumOff val="40000"/>
                      </a:schemeClr>
                    </a:solidFill>
                  </a:tcPr>
                </a:tc>
                <a:tc>
                  <a:txBody>
                    <a:bodyPr/>
                    <a:lstStyle/>
                    <a:p>
                      <a:endParaRPr lang="en-US" sz="100" dirty="0"/>
                    </a:p>
                  </a:txBody>
                  <a:tcPr marL="41910" marR="41910" marT="20955" marB="20955">
                    <a:solidFill>
                      <a:schemeClr val="accent2">
                        <a:lumMod val="60000"/>
                        <a:lumOff val="40000"/>
                      </a:schemeClr>
                    </a:solidFill>
                  </a:tcPr>
                </a:tc>
                <a:tc>
                  <a:txBody>
                    <a:bodyPr/>
                    <a:lstStyle/>
                    <a:p>
                      <a:endParaRPr lang="en-US" sz="100" dirty="0"/>
                    </a:p>
                  </a:txBody>
                  <a:tcPr marL="41910" marR="41910" marT="20955" marB="20955">
                    <a:solidFill>
                      <a:schemeClr val="accent2">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solidFill>
                      <a:schemeClr val="accent2">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bl>
          </a:graphicData>
        </a:graphic>
      </p:graphicFrame>
      <p:sp>
        <p:nvSpPr>
          <p:cNvPr id="2" name="Title 1"/>
          <p:cNvSpPr>
            <a:spLocks noGrp="1"/>
          </p:cNvSpPr>
          <p:nvPr>
            <p:ph type="title"/>
          </p:nvPr>
        </p:nvSpPr>
        <p:spPr/>
        <p:txBody>
          <a:bodyPr>
            <a:normAutofit fontScale="90000"/>
          </a:bodyPr>
          <a:lstStyle/>
          <a:p>
            <a:r>
              <a:rPr lang="en-US" altLang="zh-CN" dirty="0"/>
              <a:t>GPU: </a:t>
            </a:r>
            <a:r>
              <a:rPr lang="en-US" dirty="0"/>
              <a:t>Tiled Matrix-Matrix Multiplication (I)</a:t>
            </a:r>
          </a:p>
        </p:txBody>
      </p:sp>
      <p:sp>
        <p:nvSpPr>
          <p:cNvPr id="8" name="TextBox 7"/>
          <p:cNvSpPr txBox="1"/>
          <p:nvPr/>
        </p:nvSpPr>
        <p:spPr>
          <a:xfrm>
            <a:off x="1828800" y="4731975"/>
            <a:ext cx="609600" cy="461665"/>
          </a:xfrm>
          <a:prstGeom prst="rect">
            <a:avLst/>
          </a:prstGeom>
          <a:noFill/>
        </p:spPr>
        <p:txBody>
          <a:bodyPr wrap="square" rtlCol="0">
            <a:spAutoFit/>
          </a:bodyPr>
          <a:lstStyle/>
          <a:p>
            <a:pPr algn="ctr"/>
            <a:r>
              <a:rPr lang="en-US" sz="2400" dirty="0"/>
              <a:t>A</a:t>
            </a:r>
          </a:p>
        </p:txBody>
      </p:sp>
      <p:sp>
        <p:nvSpPr>
          <p:cNvPr id="9" name="TextBox 8"/>
          <p:cNvSpPr txBox="1"/>
          <p:nvPr/>
        </p:nvSpPr>
        <p:spPr>
          <a:xfrm>
            <a:off x="6705600" y="2522175"/>
            <a:ext cx="609600" cy="461665"/>
          </a:xfrm>
          <a:prstGeom prst="rect">
            <a:avLst/>
          </a:prstGeom>
          <a:noFill/>
        </p:spPr>
        <p:txBody>
          <a:bodyPr wrap="square" rtlCol="0">
            <a:spAutoFit/>
          </a:bodyPr>
          <a:lstStyle/>
          <a:p>
            <a:pPr algn="ctr"/>
            <a:r>
              <a:rPr lang="en-US" sz="2400" dirty="0"/>
              <a:t>B</a:t>
            </a:r>
          </a:p>
        </p:txBody>
      </p:sp>
      <p:sp>
        <p:nvSpPr>
          <p:cNvPr id="10" name="TextBox 9"/>
          <p:cNvSpPr txBox="1"/>
          <p:nvPr/>
        </p:nvSpPr>
        <p:spPr>
          <a:xfrm>
            <a:off x="6705600" y="4731975"/>
            <a:ext cx="609600" cy="461665"/>
          </a:xfrm>
          <a:prstGeom prst="rect">
            <a:avLst/>
          </a:prstGeom>
          <a:noFill/>
        </p:spPr>
        <p:txBody>
          <a:bodyPr wrap="square" rtlCol="0">
            <a:spAutoFit/>
          </a:bodyPr>
          <a:lstStyle/>
          <a:p>
            <a:pPr algn="ctr"/>
            <a:r>
              <a:rPr lang="en-US" sz="2400" dirty="0"/>
              <a:t>C</a:t>
            </a:r>
          </a:p>
        </p:txBody>
      </p:sp>
      <p:grpSp>
        <p:nvGrpSpPr>
          <p:cNvPr id="22" name="Group 21"/>
          <p:cNvGrpSpPr/>
          <p:nvPr/>
        </p:nvGrpSpPr>
        <p:grpSpPr>
          <a:xfrm>
            <a:off x="4525767" y="1668556"/>
            <a:ext cx="91372" cy="2077284"/>
            <a:chOff x="4513483" y="3721867"/>
            <a:chExt cx="91372" cy="2077284"/>
          </a:xfrm>
        </p:grpSpPr>
        <p:cxnSp>
          <p:nvCxnSpPr>
            <p:cNvPr id="23" name="Straight Arrow Connector 22"/>
            <p:cNvCxnSpPr/>
            <p:nvPr/>
          </p:nvCxnSpPr>
          <p:spPr>
            <a:xfrm>
              <a:off x="4545543" y="3721867"/>
              <a:ext cx="0" cy="2077284"/>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4" name="TextBox 23"/>
            <p:cNvSpPr txBox="1"/>
            <p:nvPr/>
          </p:nvSpPr>
          <p:spPr>
            <a:xfrm>
              <a:off x="4513483" y="4668176"/>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pSp>
        <p:nvGrpSpPr>
          <p:cNvPr id="25" name="Group 24"/>
          <p:cNvGrpSpPr/>
          <p:nvPr/>
        </p:nvGrpSpPr>
        <p:grpSpPr>
          <a:xfrm>
            <a:off x="2484120" y="3762417"/>
            <a:ext cx="2011680" cy="169277"/>
            <a:chOff x="4648200" y="3521102"/>
            <a:chExt cx="2011680" cy="169277"/>
          </a:xfrm>
        </p:grpSpPr>
        <p:cxnSp>
          <p:nvCxnSpPr>
            <p:cNvPr id="26" name="Straight Arrow Connector 25"/>
            <p:cNvCxnSpPr/>
            <p:nvPr/>
          </p:nvCxnSpPr>
          <p:spPr>
            <a:xfrm rot="16200000">
              <a:off x="5654040" y="2599901"/>
              <a:ext cx="0" cy="2011680"/>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7" name="TextBox 26"/>
            <p:cNvSpPr txBox="1"/>
            <p:nvPr/>
          </p:nvSpPr>
          <p:spPr>
            <a:xfrm>
              <a:off x="5617171" y="3521102"/>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aphicFrame>
        <p:nvGraphicFramePr>
          <p:cNvPr id="28" name="Table 27"/>
          <p:cNvGraphicFramePr>
            <a:graphicFrameLocks noGrp="1"/>
          </p:cNvGraphicFramePr>
          <p:nvPr/>
        </p:nvGraphicFramePr>
        <p:xfrm>
          <a:off x="4646724" y="1688440"/>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bl>
          </a:graphicData>
        </a:graphic>
      </p:graphicFrame>
      <p:graphicFrame>
        <p:nvGraphicFramePr>
          <p:cNvPr id="29" name="Table 28"/>
          <p:cNvGraphicFramePr>
            <a:graphicFrameLocks noGrp="1"/>
          </p:cNvGraphicFramePr>
          <p:nvPr/>
        </p:nvGraphicFramePr>
        <p:xfrm>
          <a:off x="2482644" y="3954556"/>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solidFill>
                      <a:schemeClr val="accent5">
                        <a:lumMod val="60000"/>
                        <a:lumOff val="40000"/>
                      </a:schemeClr>
                    </a:solid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solidFill>
                      <a:schemeClr val="accent5">
                        <a:lumMod val="60000"/>
                        <a:lumOff val="40000"/>
                      </a:schemeClr>
                    </a:solid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solidFill>
                      <a:schemeClr val="accent5">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solidFill>
                      <a:schemeClr val="accent5">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solidFill>
                      <a:schemeClr val="accent5">
                        <a:lumMod val="60000"/>
                        <a:lumOff val="40000"/>
                      </a:schemeClr>
                    </a:solid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solidFill>
                      <a:schemeClr val="accent5">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bl>
          </a:graphicData>
        </a:graphic>
      </p:graphicFrame>
      <p:grpSp>
        <p:nvGrpSpPr>
          <p:cNvPr id="45" name="Group 44"/>
          <p:cNvGrpSpPr/>
          <p:nvPr/>
        </p:nvGrpSpPr>
        <p:grpSpPr>
          <a:xfrm>
            <a:off x="4646724" y="1499279"/>
            <a:ext cx="2011680" cy="169277"/>
            <a:chOff x="4648200" y="3521102"/>
            <a:chExt cx="2011680" cy="169277"/>
          </a:xfrm>
        </p:grpSpPr>
        <p:cxnSp>
          <p:nvCxnSpPr>
            <p:cNvPr id="46" name="Straight Arrow Connector 45"/>
            <p:cNvCxnSpPr/>
            <p:nvPr/>
          </p:nvCxnSpPr>
          <p:spPr>
            <a:xfrm rot="16200000">
              <a:off x="5654040" y="2599901"/>
              <a:ext cx="0" cy="2011680"/>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47" name="TextBox 46"/>
            <p:cNvSpPr txBox="1"/>
            <p:nvPr/>
          </p:nvSpPr>
          <p:spPr>
            <a:xfrm>
              <a:off x="5617171" y="3521102"/>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pSp>
        <p:nvGrpSpPr>
          <p:cNvPr id="48" name="Group 47"/>
          <p:cNvGrpSpPr/>
          <p:nvPr/>
        </p:nvGrpSpPr>
        <p:grpSpPr>
          <a:xfrm>
            <a:off x="2341719" y="3962507"/>
            <a:ext cx="91371" cy="2077284"/>
            <a:chOff x="4515210" y="3721867"/>
            <a:chExt cx="91371" cy="2077284"/>
          </a:xfrm>
        </p:grpSpPr>
        <p:cxnSp>
          <p:nvCxnSpPr>
            <p:cNvPr id="49" name="Straight Arrow Connector 48"/>
            <p:cNvCxnSpPr/>
            <p:nvPr/>
          </p:nvCxnSpPr>
          <p:spPr>
            <a:xfrm>
              <a:off x="4561637" y="3721867"/>
              <a:ext cx="0" cy="2077284"/>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50" name="TextBox 49"/>
            <p:cNvSpPr txBox="1"/>
            <p:nvPr/>
          </p:nvSpPr>
          <p:spPr>
            <a:xfrm>
              <a:off x="4515210" y="4668176"/>
              <a:ext cx="91371" cy="169277"/>
            </a:xfrm>
            <a:prstGeom prst="rect">
              <a:avLst/>
            </a:prstGeom>
            <a:solidFill>
              <a:schemeClr val="bg1"/>
            </a:solidFill>
            <a:ln>
              <a:noFill/>
            </a:ln>
          </p:spPr>
          <p:txBody>
            <a:bodyPr wrap="none" lIns="0" tIns="0" rIns="0" bIns="0" rtlCol="0">
              <a:spAutoFit/>
            </a:bodyPr>
            <a:lstStyle/>
            <a:p>
              <a:pPr algn="ctr"/>
              <a:r>
                <a:rPr lang="en-US" sz="1100" dirty="0"/>
                <a:t>N</a:t>
              </a:r>
            </a:p>
          </p:txBody>
        </p:sp>
      </p:grpSp>
      <p:sp>
        <p:nvSpPr>
          <p:cNvPr id="30" name="Rectangle 29"/>
          <p:cNvSpPr/>
          <p:nvPr/>
        </p:nvSpPr>
        <p:spPr>
          <a:xfrm>
            <a:off x="7084300" y="2924944"/>
            <a:ext cx="2011680" cy="2246769"/>
          </a:xfrm>
          <a:prstGeom prst="rect">
            <a:avLst/>
          </a:prstGeom>
        </p:spPr>
        <p:txBody>
          <a:bodyPr wrap="square">
            <a:spAutoFit/>
          </a:bodyPr>
          <a:lstStyle/>
          <a:p>
            <a:pPr algn="ctr"/>
            <a:r>
              <a:rPr lang="en-US" sz="2000" b="1" u="sng" dirty="0"/>
              <a:t>Step 1:</a:t>
            </a:r>
            <a:r>
              <a:rPr lang="en-US" sz="2000" dirty="0"/>
              <a:t> Load the first tile of each input matrix to shared memory (each thread loads one element)</a:t>
            </a:r>
          </a:p>
        </p:txBody>
      </p:sp>
      <p:sp>
        <p:nvSpPr>
          <p:cNvPr id="31" name="TextBox 610">
            <a:extLst>
              <a:ext uri="{FF2B5EF4-FFF2-40B4-BE49-F238E27FC236}">
                <a16:creationId xmlns:a16="http://schemas.microsoft.com/office/drawing/2014/main" id="{A9969577-3015-2C4B-895B-7CEFC109267A}"/>
              </a:ext>
            </a:extLst>
          </p:cNvPr>
          <p:cNvSpPr txBox="1">
            <a:spLocks noChangeArrowheads="1"/>
          </p:cNvSpPr>
          <p:nvPr/>
        </p:nvSpPr>
        <p:spPr bwMode="auto">
          <a:xfrm>
            <a:off x="228600" y="6541584"/>
            <a:ext cx="156164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Izzat El Hajj</a:t>
            </a:r>
          </a:p>
        </p:txBody>
      </p:sp>
      <p:sp>
        <p:nvSpPr>
          <p:cNvPr id="32" name="TextBox 31">
            <a:extLst>
              <a:ext uri="{FF2B5EF4-FFF2-40B4-BE49-F238E27FC236}">
                <a16:creationId xmlns:a16="http://schemas.microsoft.com/office/drawing/2014/main" id="{4DAC967F-7377-FC4B-B85D-CB0CEA00A75B}"/>
              </a:ext>
            </a:extLst>
          </p:cNvPr>
          <p:cNvSpPr txBox="1"/>
          <p:nvPr/>
        </p:nvSpPr>
        <p:spPr>
          <a:xfrm>
            <a:off x="304799" y="2413709"/>
            <a:ext cx="3962393" cy="646331"/>
          </a:xfrm>
          <a:prstGeom prst="rect">
            <a:avLst/>
          </a:prstGeom>
          <a:noFill/>
        </p:spPr>
        <p:txBody>
          <a:bodyPr wrap="square" rtlCol="0">
            <a:spAutoFit/>
          </a:bodyPr>
          <a:lstStyle/>
          <a:p>
            <a:pPr algn="ctr"/>
            <a:r>
              <a:rPr lang="en-US" altLang="zh-CN" sz="3600" dirty="0" err="1"/>
              <a:t>C</a:t>
            </a:r>
            <a:r>
              <a:rPr lang="en-US" altLang="zh-CN" sz="3600" baseline="-25000" dirty="0" err="1"/>
              <a:t>tile</a:t>
            </a:r>
            <a:r>
              <a:rPr lang="en-US" altLang="zh-CN" sz="3600" dirty="0"/>
              <a:t> = A</a:t>
            </a:r>
            <a:r>
              <a:rPr lang="en-US" altLang="zh-CN" sz="3600" baseline="-25000" dirty="0"/>
              <a:t>tile1</a:t>
            </a:r>
            <a:r>
              <a:rPr lang="en-US" altLang="zh-CN" sz="3600" dirty="0"/>
              <a:t> x B</a:t>
            </a:r>
            <a:r>
              <a:rPr lang="en-US" altLang="zh-CN" sz="3600" baseline="-25000" dirty="0"/>
              <a:t>tile1</a:t>
            </a:r>
            <a:endParaRPr lang="en-US" altLang="zh-CN" sz="3600" dirty="0"/>
          </a:p>
        </p:txBody>
      </p:sp>
      <p:sp>
        <p:nvSpPr>
          <p:cNvPr id="33" name="Slide Number Placeholder 3">
            <a:extLst>
              <a:ext uri="{FF2B5EF4-FFF2-40B4-BE49-F238E27FC236}">
                <a16:creationId xmlns:a16="http://schemas.microsoft.com/office/drawing/2014/main" id="{5BC4F237-A923-5548-BB5A-DE408FE3BE7B}"/>
              </a:ext>
            </a:extLst>
          </p:cNvPr>
          <p:cNvSpPr>
            <a:spLocks noGrp="1"/>
          </p:cNvSpPr>
          <p:nvPr>
            <p:ph type="sldNum" sz="quarter" idx="11"/>
          </p:nvPr>
        </p:nvSpPr>
        <p:spPr>
          <a:xfrm>
            <a:off x="6553200" y="6243638"/>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77E7AE0-EC71-4D48-959A-8A23F1B03886}"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59</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278854962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 name="Table 27"/>
          <p:cNvGraphicFramePr>
            <a:graphicFrameLocks noGrp="1"/>
          </p:cNvGraphicFramePr>
          <p:nvPr/>
        </p:nvGraphicFramePr>
        <p:xfrm>
          <a:off x="4646724" y="1688440"/>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sz="100"/>
                    </a:p>
                  </a:txBody>
                  <a:tcPr marL="41910" marR="41910" marT="20955" marB="2095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ap="flat" cmpd="sng" algn="ctr">
                      <a:solidFill>
                        <a:schemeClr val="tx1"/>
                      </a:solid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sz="10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sz="100"/>
                    </a:p>
                  </a:txBody>
                  <a:tcPr marL="41910" marR="41910" marT="20955" marB="20955">
                    <a:lnL w="12700" cap="flat" cmpd="sng" algn="ctr">
                      <a:solidFill>
                        <a:schemeClr val="tx1"/>
                      </a:solid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5715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bl>
          </a:graphicData>
        </a:graphic>
      </p:graphicFrame>
      <p:graphicFrame>
        <p:nvGraphicFramePr>
          <p:cNvPr id="12" name="Table 11"/>
          <p:cNvGraphicFramePr>
            <a:graphicFrameLocks noGrp="1"/>
          </p:cNvGraphicFramePr>
          <p:nvPr/>
        </p:nvGraphicFramePr>
        <p:xfrm>
          <a:off x="4649676" y="3954556"/>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ap="flat" cmpd="sng" algn="ctr">
                      <a:solidFill>
                        <a:schemeClr val="tx1"/>
                      </a:solid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bl>
          </a:graphicData>
        </a:graphic>
      </p:graphicFrame>
      <p:sp>
        <p:nvSpPr>
          <p:cNvPr id="2" name="Title 1"/>
          <p:cNvSpPr>
            <a:spLocks noGrp="1"/>
          </p:cNvSpPr>
          <p:nvPr>
            <p:ph type="title"/>
          </p:nvPr>
        </p:nvSpPr>
        <p:spPr/>
        <p:txBody>
          <a:bodyPr>
            <a:normAutofit fontScale="90000"/>
          </a:bodyPr>
          <a:lstStyle/>
          <a:p>
            <a:r>
              <a:rPr lang="en-US" altLang="zh-CN" dirty="0"/>
              <a:t>GPU: </a:t>
            </a:r>
            <a:r>
              <a:rPr lang="en-US" dirty="0"/>
              <a:t>Tiled Matrix-Matrix Multiplication (II)</a:t>
            </a:r>
          </a:p>
        </p:txBody>
      </p:sp>
      <p:sp>
        <p:nvSpPr>
          <p:cNvPr id="7" name="TextBox 6"/>
          <p:cNvSpPr txBox="1"/>
          <p:nvPr/>
        </p:nvSpPr>
        <p:spPr>
          <a:xfrm>
            <a:off x="533401" y="2413709"/>
            <a:ext cx="3957970" cy="646331"/>
          </a:xfrm>
          <a:prstGeom prst="rect">
            <a:avLst/>
          </a:prstGeom>
          <a:noFill/>
        </p:spPr>
        <p:txBody>
          <a:bodyPr wrap="square" rtlCol="0">
            <a:spAutoFit/>
          </a:bodyPr>
          <a:lstStyle/>
          <a:p>
            <a:pPr algn="ctr"/>
            <a:r>
              <a:rPr lang="en-US" sz="3600" dirty="0" err="1"/>
              <a:t>C</a:t>
            </a:r>
            <a:r>
              <a:rPr lang="en-US" sz="3600" baseline="-25000" dirty="0" err="1"/>
              <a:t>tile</a:t>
            </a:r>
            <a:r>
              <a:rPr lang="en-US" sz="3600" dirty="0"/>
              <a:t> += A</a:t>
            </a:r>
            <a:r>
              <a:rPr lang="en-US" sz="3600" baseline="-25000" dirty="0"/>
              <a:t>tile2</a:t>
            </a:r>
            <a:r>
              <a:rPr lang="en-US" sz="3600" dirty="0"/>
              <a:t> x B</a:t>
            </a:r>
            <a:r>
              <a:rPr lang="en-US" sz="3600" baseline="-25000" dirty="0"/>
              <a:t>tile2</a:t>
            </a:r>
            <a:endParaRPr lang="en-US" sz="3600" dirty="0"/>
          </a:p>
        </p:txBody>
      </p:sp>
      <p:sp>
        <p:nvSpPr>
          <p:cNvPr id="8" name="TextBox 7"/>
          <p:cNvSpPr txBox="1"/>
          <p:nvPr/>
        </p:nvSpPr>
        <p:spPr>
          <a:xfrm>
            <a:off x="1676401" y="4731975"/>
            <a:ext cx="806244" cy="461665"/>
          </a:xfrm>
          <a:prstGeom prst="rect">
            <a:avLst/>
          </a:prstGeom>
          <a:noFill/>
        </p:spPr>
        <p:txBody>
          <a:bodyPr wrap="square" rtlCol="0">
            <a:spAutoFit/>
          </a:bodyPr>
          <a:lstStyle/>
          <a:p>
            <a:pPr algn="ctr"/>
            <a:r>
              <a:rPr lang="en-US" sz="2400" dirty="0"/>
              <a:t>A</a:t>
            </a:r>
            <a:r>
              <a:rPr lang="en-US" sz="2400" baseline="-25000" dirty="0"/>
              <a:t>tile2</a:t>
            </a:r>
            <a:endParaRPr lang="en-US" sz="2400" dirty="0"/>
          </a:p>
        </p:txBody>
      </p:sp>
      <p:sp>
        <p:nvSpPr>
          <p:cNvPr id="9" name="TextBox 8"/>
          <p:cNvSpPr txBox="1"/>
          <p:nvPr/>
        </p:nvSpPr>
        <p:spPr>
          <a:xfrm>
            <a:off x="5978553" y="1750388"/>
            <a:ext cx="835203" cy="461665"/>
          </a:xfrm>
          <a:prstGeom prst="rect">
            <a:avLst/>
          </a:prstGeom>
          <a:noFill/>
        </p:spPr>
        <p:txBody>
          <a:bodyPr wrap="square" rtlCol="0">
            <a:spAutoFit/>
          </a:bodyPr>
          <a:lstStyle/>
          <a:p>
            <a:pPr algn="ctr"/>
            <a:r>
              <a:rPr lang="en-US" sz="2400" dirty="0"/>
              <a:t>B</a:t>
            </a:r>
            <a:r>
              <a:rPr lang="en-US" sz="2400" baseline="-25000" dirty="0"/>
              <a:t>tile2</a:t>
            </a:r>
            <a:endParaRPr lang="en-US" sz="2400" dirty="0"/>
          </a:p>
        </p:txBody>
      </p:sp>
      <p:sp>
        <p:nvSpPr>
          <p:cNvPr id="10" name="TextBox 9"/>
          <p:cNvSpPr txBox="1"/>
          <p:nvPr/>
        </p:nvSpPr>
        <p:spPr>
          <a:xfrm>
            <a:off x="5978554" y="4762365"/>
            <a:ext cx="679850" cy="461665"/>
          </a:xfrm>
          <a:prstGeom prst="rect">
            <a:avLst/>
          </a:prstGeom>
          <a:noFill/>
        </p:spPr>
        <p:txBody>
          <a:bodyPr wrap="square" rtlCol="0">
            <a:spAutoFit/>
          </a:bodyPr>
          <a:lstStyle/>
          <a:p>
            <a:pPr algn="ctr"/>
            <a:r>
              <a:rPr lang="en-US" sz="2400" dirty="0" err="1"/>
              <a:t>C</a:t>
            </a:r>
            <a:r>
              <a:rPr lang="en-US" sz="2400" baseline="-25000" dirty="0" err="1"/>
              <a:t>tile</a:t>
            </a:r>
            <a:endParaRPr lang="en-US" sz="2400" dirty="0"/>
          </a:p>
        </p:txBody>
      </p:sp>
      <p:graphicFrame>
        <p:nvGraphicFramePr>
          <p:cNvPr id="29" name="Table 28"/>
          <p:cNvGraphicFramePr>
            <a:graphicFrameLocks noGrp="1"/>
          </p:cNvGraphicFramePr>
          <p:nvPr/>
        </p:nvGraphicFramePr>
        <p:xfrm>
          <a:off x="2482644" y="3954556"/>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
                    </a:p>
                  </a:txBody>
                  <a:tcPr marL="41910" marR="41910" marT="20955" marB="2095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bl>
          </a:graphicData>
        </a:graphic>
      </p:graphicFrame>
      <p:sp>
        <p:nvSpPr>
          <p:cNvPr id="30" name="Rectangle 29"/>
          <p:cNvSpPr/>
          <p:nvPr/>
        </p:nvSpPr>
        <p:spPr>
          <a:xfrm>
            <a:off x="6974905" y="2726918"/>
            <a:ext cx="2133600" cy="2554545"/>
          </a:xfrm>
          <a:prstGeom prst="rect">
            <a:avLst/>
          </a:prstGeom>
        </p:spPr>
        <p:txBody>
          <a:bodyPr wrap="square">
            <a:spAutoFit/>
          </a:bodyPr>
          <a:lstStyle/>
          <a:p>
            <a:pPr algn="ctr"/>
            <a:r>
              <a:rPr lang="en-US" sz="2000" b="1" u="sng" dirty="0"/>
              <a:t>Step 2:</a:t>
            </a:r>
            <a:r>
              <a:rPr lang="en-US" sz="2000" dirty="0"/>
              <a:t> Each thread computes its partial sum from the tiles in shared memory (threads wait for each other to finish)</a:t>
            </a:r>
          </a:p>
        </p:txBody>
      </p:sp>
      <p:sp>
        <p:nvSpPr>
          <p:cNvPr id="11" name="TextBox 610">
            <a:extLst>
              <a:ext uri="{FF2B5EF4-FFF2-40B4-BE49-F238E27FC236}">
                <a16:creationId xmlns:a16="http://schemas.microsoft.com/office/drawing/2014/main" id="{F7246574-211F-344F-B607-1830B663C6B6}"/>
              </a:ext>
            </a:extLst>
          </p:cNvPr>
          <p:cNvSpPr txBox="1">
            <a:spLocks noChangeArrowheads="1"/>
          </p:cNvSpPr>
          <p:nvPr/>
        </p:nvSpPr>
        <p:spPr bwMode="auto">
          <a:xfrm>
            <a:off x="228600" y="6541584"/>
            <a:ext cx="156164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Izzat El Hajj</a:t>
            </a:r>
          </a:p>
        </p:txBody>
      </p:sp>
      <p:sp>
        <p:nvSpPr>
          <p:cNvPr id="14" name="Slide Number Placeholder 3">
            <a:extLst>
              <a:ext uri="{FF2B5EF4-FFF2-40B4-BE49-F238E27FC236}">
                <a16:creationId xmlns:a16="http://schemas.microsoft.com/office/drawing/2014/main" id="{61501FC7-C537-9F4B-841D-11545712496F}"/>
              </a:ext>
            </a:extLst>
          </p:cNvPr>
          <p:cNvSpPr>
            <a:spLocks noGrp="1"/>
          </p:cNvSpPr>
          <p:nvPr>
            <p:ph type="sldNum" sz="quarter" idx="11"/>
          </p:nvPr>
        </p:nvSpPr>
        <p:spPr>
          <a:xfrm>
            <a:off x="6553200" y="6243638"/>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77E7AE0-EC71-4D48-959A-8A23F1B03886}"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60</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21648603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4525767" y="3962507"/>
            <a:ext cx="91371" cy="2077284"/>
            <a:chOff x="4515210" y="3721867"/>
            <a:chExt cx="91371" cy="2077284"/>
          </a:xfrm>
        </p:grpSpPr>
        <p:cxnSp>
          <p:nvCxnSpPr>
            <p:cNvPr id="14" name="Straight Arrow Connector 13"/>
            <p:cNvCxnSpPr/>
            <p:nvPr/>
          </p:nvCxnSpPr>
          <p:spPr>
            <a:xfrm>
              <a:off x="4561637" y="3721867"/>
              <a:ext cx="0" cy="2077284"/>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15" name="TextBox 14"/>
            <p:cNvSpPr txBox="1"/>
            <p:nvPr/>
          </p:nvSpPr>
          <p:spPr>
            <a:xfrm>
              <a:off x="4515210" y="4668176"/>
              <a:ext cx="91371" cy="169277"/>
            </a:xfrm>
            <a:prstGeom prst="rect">
              <a:avLst/>
            </a:prstGeom>
            <a:solidFill>
              <a:schemeClr val="bg1"/>
            </a:solidFill>
            <a:ln>
              <a:noFill/>
            </a:ln>
          </p:spPr>
          <p:txBody>
            <a:bodyPr wrap="none" lIns="0" tIns="0" rIns="0" bIns="0" rtlCol="0">
              <a:spAutoFit/>
            </a:bodyPr>
            <a:lstStyle/>
            <a:p>
              <a:pPr algn="ctr"/>
              <a:r>
                <a:rPr lang="en-US" sz="1100" dirty="0"/>
                <a:t>N</a:t>
              </a:r>
            </a:p>
          </p:txBody>
        </p:sp>
      </p:grpSp>
      <p:grpSp>
        <p:nvGrpSpPr>
          <p:cNvPr id="21" name="Group 20"/>
          <p:cNvGrpSpPr/>
          <p:nvPr/>
        </p:nvGrpSpPr>
        <p:grpSpPr>
          <a:xfrm>
            <a:off x="4633452" y="3762417"/>
            <a:ext cx="2011680" cy="169277"/>
            <a:chOff x="4648200" y="3521102"/>
            <a:chExt cx="2011680" cy="169277"/>
          </a:xfrm>
        </p:grpSpPr>
        <p:cxnSp>
          <p:nvCxnSpPr>
            <p:cNvPr id="18" name="Straight Arrow Connector 17"/>
            <p:cNvCxnSpPr/>
            <p:nvPr/>
          </p:nvCxnSpPr>
          <p:spPr>
            <a:xfrm rot="16200000">
              <a:off x="5654040" y="2599901"/>
              <a:ext cx="0" cy="2011680"/>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0" name="TextBox 19"/>
            <p:cNvSpPr txBox="1"/>
            <p:nvPr/>
          </p:nvSpPr>
          <p:spPr>
            <a:xfrm>
              <a:off x="5617171" y="3521102"/>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aphicFrame>
        <p:nvGraphicFramePr>
          <p:cNvPr id="12" name="Table 11"/>
          <p:cNvGraphicFramePr>
            <a:graphicFrameLocks noGrp="1"/>
          </p:cNvGraphicFramePr>
          <p:nvPr/>
        </p:nvGraphicFramePr>
        <p:xfrm>
          <a:off x="4649676" y="3954556"/>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solidFill>
                      <a:schemeClr val="accent2">
                        <a:lumMod val="60000"/>
                        <a:lumOff val="40000"/>
                      </a:schemeClr>
                    </a:solid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solidFill>
                      <a:schemeClr val="accent2">
                        <a:lumMod val="60000"/>
                        <a:lumOff val="40000"/>
                      </a:schemeClr>
                    </a:solid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solidFill>
                      <a:schemeClr val="accent2">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solidFill>
                      <a:schemeClr val="accent2">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solidFill>
                      <a:schemeClr val="accent2">
                        <a:lumMod val="60000"/>
                        <a:lumOff val="40000"/>
                      </a:schemeClr>
                    </a:solidFill>
                  </a:tcPr>
                </a:tc>
                <a:tc>
                  <a:txBody>
                    <a:bodyPr/>
                    <a:lstStyle/>
                    <a:p>
                      <a:endParaRPr lang="en-US" sz="100" dirty="0"/>
                    </a:p>
                  </a:txBody>
                  <a:tcPr marL="41910" marR="41910" marT="20955" marB="20955">
                    <a:solidFill>
                      <a:schemeClr val="accent2">
                        <a:lumMod val="60000"/>
                        <a:lumOff val="40000"/>
                      </a:schemeClr>
                    </a:solidFill>
                  </a:tcPr>
                </a:tc>
                <a:tc>
                  <a:txBody>
                    <a:bodyPr/>
                    <a:lstStyle/>
                    <a:p>
                      <a:endParaRPr lang="en-US" sz="100" dirty="0"/>
                    </a:p>
                  </a:txBody>
                  <a:tcPr marL="41910" marR="41910" marT="20955" marB="20955">
                    <a:solidFill>
                      <a:schemeClr val="accent2">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solidFill>
                      <a:schemeClr val="accent2">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solidFill>
                      <a:schemeClr val="accent2">
                        <a:lumMod val="60000"/>
                        <a:lumOff val="40000"/>
                      </a:schemeClr>
                    </a:solidFill>
                  </a:tcPr>
                </a:tc>
                <a:tc>
                  <a:txBody>
                    <a:bodyPr/>
                    <a:lstStyle/>
                    <a:p>
                      <a:endParaRPr lang="en-US" sz="100" dirty="0"/>
                    </a:p>
                  </a:txBody>
                  <a:tcPr marL="41910" marR="41910" marT="20955" marB="20955">
                    <a:solidFill>
                      <a:schemeClr val="accent2">
                        <a:lumMod val="60000"/>
                        <a:lumOff val="40000"/>
                      </a:schemeClr>
                    </a:solidFill>
                  </a:tcPr>
                </a:tc>
                <a:tc>
                  <a:txBody>
                    <a:bodyPr/>
                    <a:lstStyle/>
                    <a:p>
                      <a:endParaRPr lang="en-US" sz="100" dirty="0"/>
                    </a:p>
                  </a:txBody>
                  <a:tcPr marL="41910" marR="41910" marT="20955" marB="20955">
                    <a:solidFill>
                      <a:schemeClr val="accent2">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solidFill>
                      <a:schemeClr val="accent2">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bl>
          </a:graphicData>
        </a:graphic>
      </p:graphicFrame>
      <p:sp>
        <p:nvSpPr>
          <p:cNvPr id="2" name="Title 1"/>
          <p:cNvSpPr>
            <a:spLocks noGrp="1"/>
          </p:cNvSpPr>
          <p:nvPr>
            <p:ph type="title"/>
          </p:nvPr>
        </p:nvSpPr>
        <p:spPr/>
        <p:txBody>
          <a:bodyPr>
            <a:normAutofit fontScale="90000"/>
          </a:bodyPr>
          <a:lstStyle/>
          <a:p>
            <a:r>
              <a:rPr lang="en-US" altLang="zh-CN" dirty="0"/>
              <a:t>GPU: </a:t>
            </a:r>
            <a:r>
              <a:rPr lang="en-US" dirty="0"/>
              <a:t>Tiled Matrix-Matrix Multiplication (III)</a:t>
            </a:r>
          </a:p>
        </p:txBody>
      </p:sp>
      <p:sp>
        <p:nvSpPr>
          <p:cNvPr id="8" name="TextBox 7"/>
          <p:cNvSpPr txBox="1"/>
          <p:nvPr/>
        </p:nvSpPr>
        <p:spPr>
          <a:xfrm>
            <a:off x="1828800" y="4731975"/>
            <a:ext cx="609600" cy="461665"/>
          </a:xfrm>
          <a:prstGeom prst="rect">
            <a:avLst/>
          </a:prstGeom>
          <a:noFill/>
        </p:spPr>
        <p:txBody>
          <a:bodyPr wrap="square" rtlCol="0">
            <a:spAutoFit/>
          </a:bodyPr>
          <a:lstStyle/>
          <a:p>
            <a:pPr algn="ctr"/>
            <a:r>
              <a:rPr lang="en-US" sz="2400" dirty="0"/>
              <a:t>A</a:t>
            </a:r>
          </a:p>
        </p:txBody>
      </p:sp>
      <p:sp>
        <p:nvSpPr>
          <p:cNvPr id="9" name="TextBox 8"/>
          <p:cNvSpPr txBox="1"/>
          <p:nvPr/>
        </p:nvSpPr>
        <p:spPr>
          <a:xfrm>
            <a:off x="6705600" y="2522175"/>
            <a:ext cx="609600" cy="461665"/>
          </a:xfrm>
          <a:prstGeom prst="rect">
            <a:avLst/>
          </a:prstGeom>
          <a:noFill/>
        </p:spPr>
        <p:txBody>
          <a:bodyPr wrap="square" rtlCol="0">
            <a:spAutoFit/>
          </a:bodyPr>
          <a:lstStyle/>
          <a:p>
            <a:pPr algn="ctr"/>
            <a:r>
              <a:rPr lang="en-US" sz="2400" dirty="0"/>
              <a:t>B</a:t>
            </a:r>
          </a:p>
        </p:txBody>
      </p:sp>
      <p:sp>
        <p:nvSpPr>
          <p:cNvPr id="10" name="TextBox 9"/>
          <p:cNvSpPr txBox="1"/>
          <p:nvPr/>
        </p:nvSpPr>
        <p:spPr>
          <a:xfrm>
            <a:off x="6705600" y="4731975"/>
            <a:ext cx="609600" cy="461665"/>
          </a:xfrm>
          <a:prstGeom prst="rect">
            <a:avLst/>
          </a:prstGeom>
          <a:noFill/>
        </p:spPr>
        <p:txBody>
          <a:bodyPr wrap="square" rtlCol="0">
            <a:spAutoFit/>
          </a:bodyPr>
          <a:lstStyle/>
          <a:p>
            <a:pPr algn="ctr"/>
            <a:r>
              <a:rPr lang="en-US" sz="2400" dirty="0"/>
              <a:t>C</a:t>
            </a:r>
          </a:p>
        </p:txBody>
      </p:sp>
      <p:grpSp>
        <p:nvGrpSpPr>
          <p:cNvPr id="22" name="Group 21"/>
          <p:cNvGrpSpPr/>
          <p:nvPr/>
        </p:nvGrpSpPr>
        <p:grpSpPr>
          <a:xfrm>
            <a:off x="4525767" y="1668556"/>
            <a:ext cx="91372" cy="2077284"/>
            <a:chOff x="4513483" y="3721867"/>
            <a:chExt cx="91372" cy="2077284"/>
          </a:xfrm>
        </p:grpSpPr>
        <p:cxnSp>
          <p:nvCxnSpPr>
            <p:cNvPr id="23" name="Straight Arrow Connector 22"/>
            <p:cNvCxnSpPr/>
            <p:nvPr/>
          </p:nvCxnSpPr>
          <p:spPr>
            <a:xfrm>
              <a:off x="4545543" y="3721867"/>
              <a:ext cx="0" cy="2077284"/>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4" name="TextBox 23"/>
            <p:cNvSpPr txBox="1"/>
            <p:nvPr/>
          </p:nvSpPr>
          <p:spPr>
            <a:xfrm>
              <a:off x="4513483" y="4668176"/>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pSp>
        <p:nvGrpSpPr>
          <p:cNvPr id="25" name="Group 24"/>
          <p:cNvGrpSpPr/>
          <p:nvPr/>
        </p:nvGrpSpPr>
        <p:grpSpPr>
          <a:xfrm>
            <a:off x="2484120" y="3762417"/>
            <a:ext cx="2011680" cy="169277"/>
            <a:chOff x="4648200" y="3521102"/>
            <a:chExt cx="2011680" cy="169277"/>
          </a:xfrm>
        </p:grpSpPr>
        <p:cxnSp>
          <p:nvCxnSpPr>
            <p:cNvPr id="26" name="Straight Arrow Connector 25"/>
            <p:cNvCxnSpPr/>
            <p:nvPr/>
          </p:nvCxnSpPr>
          <p:spPr>
            <a:xfrm rot="16200000">
              <a:off x="5654040" y="2599901"/>
              <a:ext cx="0" cy="2011680"/>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7" name="TextBox 26"/>
            <p:cNvSpPr txBox="1"/>
            <p:nvPr/>
          </p:nvSpPr>
          <p:spPr>
            <a:xfrm>
              <a:off x="5617171" y="3521102"/>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aphicFrame>
        <p:nvGraphicFramePr>
          <p:cNvPr id="28" name="Table 27"/>
          <p:cNvGraphicFramePr>
            <a:graphicFrameLocks noGrp="1"/>
          </p:cNvGraphicFramePr>
          <p:nvPr/>
        </p:nvGraphicFramePr>
        <p:xfrm>
          <a:off x="4646724" y="1688440"/>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bl>
          </a:graphicData>
        </a:graphic>
      </p:graphicFrame>
      <p:graphicFrame>
        <p:nvGraphicFramePr>
          <p:cNvPr id="29" name="Table 28"/>
          <p:cNvGraphicFramePr>
            <a:graphicFrameLocks noGrp="1"/>
          </p:cNvGraphicFramePr>
          <p:nvPr/>
        </p:nvGraphicFramePr>
        <p:xfrm>
          <a:off x="2482644" y="3954556"/>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solidFill>
                      <a:schemeClr val="accent5">
                        <a:lumMod val="60000"/>
                        <a:lumOff val="40000"/>
                      </a:schemeClr>
                    </a:solid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solidFill>
                      <a:schemeClr val="accent5">
                        <a:lumMod val="60000"/>
                        <a:lumOff val="40000"/>
                      </a:schemeClr>
                    </a:solid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solidFill>
                      <a:schemeClr val="accent5">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solidFill>
                      <a:schemeClr val="accent5">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solidFill>
                      <a:schemeClr val="accent5">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solidFill>
                      <a:schemeClr val="accent5">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bl>
          </a:graphicData>
        </a:graphic>
      </p:graphicFrame>
      <p:grpSp>
        <p:nvGrpSpPr>
          <p:cNvPr id="45" name="Group 44"/>
          <p:cNvGrpSpPr/>
          <p:nvPr/>
        </p:nvGrpSpPr>
        <p:grpSpPr>
          <a:xfrm>
            <a:off x="4646724" y="1499279"/>
            <a:ext cx="2011680" cy="169277"/>
            <a:chOff x="4648200" y="3521102"/>
            <a:chExt cx="2011680" cy="169277"/>
          </a:xfrm>
        </p:grpSpPr>
        <p:cxnSp>
          <p:nvCxnSpPr>
            <p:cNvPr id="46" name="Straight Arrow Connector 45"/>
            <p:cNvCxnSpPr/>
            <p:nvPr/>
          </p:nvCxnSpPr>
          <p:spPr>
            <a:xfrm rot="16200000">
              <a:off x="5654040" y="2599901"/>
              <a:ext cx="0" cy="2011680"/>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47" name="TextBox 46"/>
            <p:cNvSpPr txBox="1"/>
            <p:nvPr/>
          </p:nvSpPr>
          <p:spPr>
            <a:xfrm>
              <a:off x="5617171" y="3521102"/>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pSp>
        <p:nvGrpSpPr>
          <p:cNvPr id="48" name="Group 47"/>
          <p:cNvGrpSpPr/>
          <p:nvPr/>
        </p:nvGrpSpPr>
        <p:grpSpPr>
          <a:xfrm>
            <a:off x="2341719" y="3962507"/>
            <a:ext cx="91371" cy="2077284"/>
            <a:chOff x="4515210" y="3721867"/>
            <a:chExt cx="91371" cy="2077284"/>
          </a:xfrm>
        </p:grpSpPr>
        <p:cxnSp>
          <p:nvCxnSpPr>
            <p:cNvPr id="49" name="Straight Arrow Connector 48"/>
            <p:cNvCxnSpPr/>
            <p:nvPr/>
          </p:nvCxnSpPr>
          <p:spPr>
            <a:xfrm>
              <a:off x="4561637" y="3721867"/>
              <a:ext cx="0" cy="2077284"/>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50" name="TextBox 49"/>
            <p:cNvSpPr txBox="1"/>
            <p:nvPr/>
          </p:nvSpPr>
          <p:spPr>
            <a:xfrm>
              <a:off x="4515210" y="4668176"/>
              <a:ext cx="91371" cy="169277"/>
            </a:xfrm>
            <a:prstGeom prst="rect">
              <a:avLst/>
            </a:prstGeom>
            <a:solidFill>
              <a:schemeClr val="bg1"/>
            </a:solidFill>
            <a:ln>
              <a:noFill/>
            </a:ln>
          </p:spPr>
          <p:txBody>
            <a:bodyPr wrap="none" lIns="0" tIns="0" rIns="0" bIns="0" rtlCol="0">
              <a:spAutoFit/>
            </a:bodyPr>
            <a:lstStyle/>
            <a:p>
              <a:pPr algn="ctr"/>
              <a:r>
                <a:rPr lang="en-US" sz="1100" dirty="0"/>
                <a:t>N</a:t>
              </a:r>
            </a:p>
          </p:txBody>
        </p:sp>
      </p:grpSp>
      <p:sp>
        <p:nvSpPr>
          <p:cNvPr id="30" name="Rectangle 29"/>
          <p:cNvSpPr/>
          <p:nvPr/>
        </p:nvSpPr>
        <p:spPr>
          <a:xfrm>
            <a:off x="7010400" y="3391897"/>
            <a:ext cx="1905000" cy="707886"/>
          </a:xfrm>
          <a:prstGeom prst="rect">
            <a:avLst/>
          </a:prstGeom>
        </p:spPr>
        <p:txBody>
          <a:bodyPr wrap="square">
            <a:spAutoFit/>
          </a:bodyPr>
          <a:lstStyle/>
          <a:p>
            <a:pPr algn="ctr"/>
            <a:r>
              <a:rPr lang="en-US" sz="2000"/>
              <a:t>…</a:t>
            </a:r>
            <a:r>
              <a:rPr lang="en-US" altLang="zh-CN" sz="2000"/>
              <a:t>accumulate </a:t>
            </a:r>
            <a:r>
              <a:rPr lang="en-US" sz="2000"/>
              <a:t>the </a:t>
            </a:r>
            <a:r>
              <a:rPr lang="en-US" altLang="zh-CN" sz="2000" dirty="0"/>
              <a:t>second</a:t>
            </a:r>
            <a:r>
              <a:rPr lang="en-US" sz="2000" dirty="0"/>
              <a:t> tile</a:t>
            </a:r>
          </a:p>
        </p:txBody>
      </p:sp>
      <p:sp>
        <p:nvSpPr>
          <p:cNvPr id="31" name="TextBox 610">
            <a:extLst>
              <a:ext uri="{FF2B5EF4-FFF2-40B4-BE49-F238E27FC236}">
                <a16:creationId xmlns:a16="http://schemas.microsoft.com/office/drawing/2014/main" id="{329F6D48-F7C0-8244-86BC-B95362CB9D49}"/>
              </a:ext>
            </a:extLst>
          </p:cNvPr>
          <p:cNvSpPr txBox="1">
            <a:spLocks noChangeArrowheads="1"/>
          </p:cNvSpPr>
          <p:nvPr/>
        </p:nvSpPr>
        <p:spPr bwMode="auto">
          <a:xfrm>
            <a:off x="228600" y="6541584"/>
            <a:ext cx="156164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Izzat El Hajj</a:t>
            </a:r>
          </a:p>
        </p:txBody>
      </p:sp>
      <p:sp>
        <p:nvSpPr>
          <p:cNvPr id="32" name="TextBox 31">
            <a:extLst>
              <a:ext uri="{FF2B5EF4-FFF2-40B4-BE49-F238E27FC236}">
                <a16:creationId xmlns:a16="http://schemas.microsoft.com/office/drawing/2014/main" id="{63774F4B-E2C3-0144-82AA-B79B3E5B6A2A}"/>
              </a:ext>
            </a:extLst>
          </p:cNvPr>
          <p:cNvSpPr txBox="1"/>
          <p:nvPr/>
        </p:nvSpPr>
        <p:spPr>
          <a:xfrm>
            <a:off x="360523" y="2434598"/>
            <a:ext cx="3962391" cy="646331"/>
          </a:xfrm>
          <a:prstGeom prst="rect">
            <a:avLst/>
          </a:prstGeom>
          <a:noFill/>
        </p:spPr>
        <p:txBody>
          <a:bodyPr wrap="square" rtlCol="0">
            <a:spAutoFit/>
          </a:bodyPr>
          <a:lstStyle/>
          <a:p>
            <a:pPr algn="ctr"/>
            <a:r>
              <a:rPr lang="en-US" altLang="zh-CN" sz="3600" dirty="0" err="1"/>
              <a:t>C</a:t>
            </a:r>
            <a:r>
              <a:rPr lang="en-US" altLang="zh-CN" sz="3600" baseline="-25000" dirty="0" err="1"/>
              <a:t>tile</a:t>
            </a:r>
            <a:r>
              <a:rPr lang="en-US" altLang="zh-CN" sz="3600" dirty="0"/>
              <a:t> += A</a:t>
            </a:r>
            <a:r>
              <a:rPr lang="en-US" altLang="zh-CN" sz="3600" baseline="-25000" dirty="0"/>
              <a:t>tile2</a:t>
            </a:r>
            <a:r>
              <a:rPr lang="en-US" altLang="zh-CN" sz="3600" dirty="0"/>
              <a:t> x B</a:t>
            </a:r>
            <a:r>
              <a:rPr lang="en-US" altLang="zh-CN" sz="3600" baseline="-25000" dirty="0"/>
              <a:t>tile2</a:t>
            </a:r>
            <a:endParaRPr lang="en-US" altLang="zh-CN" sz="3600" dirty="0"/>
          </a:p>
        </p:txBody>
      </p:sp>
      <p:sp>
        <p:nvSpPr>
          <p:cNvPr id="33" name="Slide Number Placeholder 3">
            <a:extLst>
              <a:ext uri="{FF2B5EF4-FFF2-40B4-BE49-F238E27FC236}">
                <a16:creationId xmlns:a16="http://schemas.microsoft.com/office/drawing/2014/main" id="{1324AE52-ED18-F14C-8591-70BABC5DBDAF}"/>
              </a:ext>
            </a:extLst>
          </p:cNvPr>
          <p:cNvSpPr>
            <a:spLocks noGrp="1"/>
          </p:cNvSpPr>
          <p:nvPr>
            <p:ph type="sldNum" sz="quarter" idx="11"/>
          </p:nvPr>
        </p:nvSpPr>
        <p:spPr>
          <a:xfrm>
            <a:off x="6553200" y="6243638"/>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77E7AE0-EC71-4D48-959A-8A23F1B03886}"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61</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3734542146"/>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4525767" y="3962507"/>
            <a:ext cx="91371" cy="2077284"/>
            <a:chOff x="4515210" y="3721867"/>
            <a:chExt cx="91371" cy="2077284"/>
          </a:xfrm>
        </p:grpSpPr>
        <p:cxnSp>
          <p:nvCxnSpPr>
            <p:cNvPr id="14" name="Straight Arrow Connector 13"/>
            <p:cNvCxnSpPr/>
            <p:nvPr/>
          </p:nvCxnSpPr>
          <p:spPr>
            <a:xfrm>
              <a:off x="4561637" y="3721867"/>
              <a:ext cx="0" cy="2077284"/>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15" name="TextBox 14"/>
            <p:cNvSpPr txBox="1"/>
            <p:nvPr/>
          </p:nvSpPr>
          <p:spPr>
            <a:xfrm>
              <a:off x="4515210" y="4668176"/>
              <a:ext cx="91371" cy="169277"/>
            </a:xfrm>
            <a:prstGeom prst="rect">
              <a:avLst/>
            </a:prstGeom>
            <a:solidFill>
              <a:schemeClr val="bg1"/>
            </a:solidFill>
            <a:ln>
              <a:noFill/>
            </a:ln>
          </p:spPr>
          <p:txBody>
            <a:bodyPr wrap="none" lIns="0" tIns="0" rIns="0" bIns="0" rtlCol="0">
              <a:spAutoFit/>
            </a:bodyPr>
            <a:lstStyle/>
            <a:p>
              <a:pPr algn="ctr"/>
              <a:r>
                <a:rPr lang="en-US" sz="1100" dirty="0"/>
                <a:t>N</a:t>
              </a:r>
            </a:p>
          </p:txBody>
        </p:sp>
      </p:grpSp>
      <p:grpSp>
        <p:nvGrpSpPr>
          <p:cNvPr id="21" name="Group 20"/>
          <p:cNvGrpSpPr/>
          <p:nvPr/>
        </p:nvGrpSpPr>
        <p:grpSpPr>
          <a:xfrm>
            <a:off x="4633452" y="3762417"/>
            <a:ext cx="2011680" cy="169277"/>
            <a:chOff x="4648200" y="3521102"/>
            <a:chExt cx="2011680" cy="169277"/>
          </a:xfrm>
        </p:grpSpPr>
        <p:cxnSp>
          <p:nvCxnSpPr>
            <p:cNvPr id="18" name="Straight Arrow Connector 17"/>
            <p:cNvCxnSpPr/>
            <p:nvPr/>
          </p:nvCxnSpPr>
          <p:spPr>
            <a:xfrm rot="16200000">
              <a:off x="5654040" y="2599901"/>
              <a:ext cx="0" cy="2011680"/>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0" name="TextBox 19"/>
            <p:cNvSpPr txBox="1"/>
            <p:nvPr/>
          </p:nvSpPr>
          <p:spPr>
            <a:xfrm>
              <a:off x="5617171" y="3521102"/>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aphicFrame>
        <p:nvGraphicFramePr>
          <p:cNvPr id="12" name="Table 11"/>
          <p:cNvGraphicFramePr>
            <a:graphicFrameLocks noGrp="1"/>
          </p:cNvGraphicFramePr>
          <p:nvPr/>
        </p:nvGraphicFramePr>
        <p:xfrm>
          <a:off x="4649676" y="3954556"/>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solidFill>
                      <a:schemeClr val="accent2">
                        <a:lumMod val="60000"/>
                        <a:lumOff val="40000"/>
                      </a:schemeClr>
                    </a:solid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solidFill>
                      <a:schemeClr val="accent2">
                        <a:lumMod val="60000"/>
                        <a:lumOff val="40000"/>
                      </a:schemeClr>
                    </a:solid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solidFill>
                      <a:schemeClr val="accent2">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solidFill>
                      <a:schemeClr val="accent2">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solidFill>
                      <a:schemeClr val="accent2">
                        <a:lumMod val="60000"/>
                        <a:lumOff val="40000"/>
                      </a:schemeClr>
                    </a:solidFill>
                  </a:tcPr>
                </a:tc>
                <a:tc>
                  <a:txBody>
                    <a:bodyPr/>
                    <a:lstStyle/>
                    <a:p>
                      <a:endParaRPr lang="en-US" sz="100" dirty="0"/>
                    </a:p>
                  </a:txBody>
                  <a:tcPr marL="41910" marR="41910" marT="20955" marB="20955">
                    <a:solidFill>
                      <a:schemeClr val="accent2">
                        <a:lumMod val="60000"/>
                        <a:lumOff val="40000"/>
                      </a:schemeClr>
                    </a:solidFill>
                  </a:tcPr>
                </a:tc>
                <a:tc>
                  <a:txBody>
                    <a:bodyPr/>
                    <a:lstStyle/>
                    <a:p>
                      <a:endParaRPr lang="en-US" sz="100" dirty="0"/>
                    </a:p>
                  </a:txBody>
                  <a:tcPr marL="41910" marR="41910" marT="20955" marB="20955">
                    <a:solidFill>
                      <a:schemeClr val="accent2">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solidFill>
                      <a:schemeClr val="accent2">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solidFill>
                      <a:schemeClr val="accent2">
                        <a:lumMod val="60000"/>
                        <a:lumOff val="40000"/>
                      </a:schemeClr>
                    </a:solidFill>
                  </a:tcPr>
                </a:tc>
                <a:tc>
                  <a:txBody>
                    <a:bodyPr/>
                    <a:lstStyle/>
                    <a:p>
                      <a:endParaRPr lang="en-US" sz="100" dirty="0"/>
                    </a:p>
                  </a:txBody>
                  <a:tcPr marL="41910" marR="41910" marT="20955" marB="20955">
                    <a:solidFill>
                      <a:schemeClr val="accent2">
                        <a:lumMod val="60000"/>
                        <a:lumOff val="40000"/>
                      </a:schemeClr>
                    </a:solidFill>
                  </a:tcPr>
                </a:tc>
                <a:tc>
                  <a:txBody>
                    <a:bodyPr/>
                    <a:lstStyle/>
                    <a:p>
                      <a:endParaRPr lang="en-US" sz="100" dirty="0"/>
                    </a:p>
                  </a:txBody>
                  <a:tcPr marL="41910" marR="41910" marT="20955" marB="20955">
                    <a:solidFill>
                      <a:schemeClr val="accent2">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solidFill>
                      <a:schemeClr val="accent2">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bl>
          </a:graphicData>
        </a:graphic>
      </p:graphicFrame>
      <p:sp>
        <p:nvSpPr>
          <p:cNvPr id="2" name="Title 1"/>
          <p:cNvSpPr>
            <a:spLocks noGrp="1"/>
          </p:cNvSpPr>
          <p:nvPr>
            <p:ph type="title"/>
          </p:nvPr>
        </p:nvSpPr>
        <p:spPr/>
        <p:txBody>
          <a:bodyPr>
            <a:normAutofit fontScale="90000"/>
          </a:bodyPr>
          <a:lstStyle/>
          <a:p>
            <a:r>
              <a:rPr lang="en-US" altLang="zh-CN" dirty="0"/>
              <a:t>GPU: </a:t>
            </a:r>
            <a:r>
              <a:rPr lang="en-US" dirty="0"/>
              <a:t>Tiled Matrix-Matrix Multiplication (IV)</a:t>
            </a:r>
          </a:p>
        </p:txBody>
      </p:sp>
      <p:sp>
        <p:nvSpPr>
          <p:cNvPr id="8" name="TextBox 7"/>
          <p:cNvSpPr txBox="1"/>
          <p:nvPr/>
        </p:nvSpPr>
        <p:spPr>
          <a:xfrm>
            <a:off x="1828800" y="4731975"/>
            <a:ext cx="609600" cy="461665"/>
          </a:xfrm>
          <a:prstGeom prst="rect">
            <a:avLst/>
          </a:prstGeom>
          <a:noFill/>
        </p:spPr>
        <p:txBody>
          <a:bodyPr wrap="square" rtlCol="0">
            <a:spAutoFit/>
          </a:bodyPr>
          <a:lstStyle/>
          <a:p>
            <a:pPr algn="ctr"/>
            <a:r>
              <a:rPr lang="en-US" sz="2400" dirty="0"/>
              <a:t>A</a:t>
            </a:r>
          </a:p>
        </p:txBody>
      </p:sp>
      <p:sp>
        <p:nvSpPr>
          <p:cNvPr id="9" name="TextBox 8"/>
          <p:cNvSpPr txBox="1"/>
          <p:nvPr/>
        </p:nvSpPr>
        <p:spPr>
          <a:xfrm>
            <a:off x="6705600" y="2522175"/>
            <a:ext cx="609600" cy="461665"/>
          </a:xfrm>
          <a:prstGeom prst="rect">
            <a:avLst/>
          </a:prstGeom>
          <a:noFill/>
        </p:spPr>
        <p:txBody>
          <a:bodyPr wrap="square" rtlCol="0">
            <a:spAutoFit/>
          </a:bodyPr>
          <a:lstStyle/>
          <a:p>
            <a:pPr algn="ctr"/>
            <a:r>
              <a:rPr lang="en-US" sz="2400" dirty="0"/>
              <a:t>B</a:t>
            </a:r>
          </a:p>
        </p:txBody>
      </p:sp>
      <p:sp>
        <p:nvSpPr>
          <p:cNvPr id="10" name="TextBox 9"/>
          <p:cNvSpPr txBox="1"/>
          <p:nvPr/>
        </p:nvSpPr>
        <p:spPr>
          <a:xfrm>
            <a:off x="6705600" y="4731975"/>
            <a:ext cx="609600" cy="461665"/>
          </a:xfrm>
          <a:prstGeom prst="rect">
            <a:avLst/>
          </a:prstGeom>
          <a:noFill/>
        </p:spPr>
        <p:txBody>
          <a:bodyPr wrap="square" rtlCol="0">
            <a:spAutoFit/>
          </a:bodyPr>
          <a:lstStyle/>
          <a:p>
            <a:pPr algn="ctr"/>
            <a:r>
              <a:rPr lang="en-US" sz="2400" dirty="0"/>
              <a:t>C</a:t>
            </a:r>
          </a:p>
        </p:txBody>
      </p:sp>
      <p:grpSp>
        <p:nvGrpSpPr>
          <p:cNvPr id="22" name="Group 21"/>
          <p:cNvGrpSpPr/>
          <p:nvPr/>
        </p:nvGrpSpPr>
        <p:grpSpPr>
          <a:xfrm>
            <a:off x="4525767" y="1668556"/>
            <a:ext cx="91372" cy="2077284"/>
            <a:chOff x="4513483" y="3721867"/>
            <a:chExt cx="91372" cy="2077284"/>
          </a:xfrm>
        </p:grpSpPr>
        <p:cxnSp>
          <p:nvCxnSpPr>
            <p:cNvPr id="23" name="Straight Arrow Connector 22"/>
            <p:cNvCxnSpPr/>
            <p:nvPr/>
          </p:nvCxnSpPr>
          <p:spPr>
            <a:xfrm>
              <a:off x="4545543" y="3721867"/>
              <a:ext cx="0" cy="2077284"/>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4" name="TextBox 23"/>
            <p:cNvSpPr txBox="1"/>
            <p:nvPr/>
          </p:nvSpPr>
          <p:spPr>
            <a:xfrm>
              <a:off x="4513483" y="4668176"/>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pSp>
        <p:nvGrpSpPr>
          <p:cNvPr id="25" name="Group 24"/>
          <p:cNvGrpSpPr/>
          <p:nvPr/>
        </p:nvGrpSpPr>
        <p:grpSpPr>
          <a:xfrm>
            <a:off x="2484120" y="3762417"/>
            <a:ext cx="2011680" cy="169277"/>
            <a:chOff x="4648200" y="3521102"/>
            <a:chExt cx="2011680" cy="169277"/>
          </a:xfrm>
        </p:grpSpPr>
        <p:cxnSp>
          <p:nvCxnSpPr>
            <p:cNvPr id="26" name="Straight Arrow Connector 25"/>
            <p:cNvCxnSpPr/>
            <p:nvPr/>
          </p:nvCxnSpPr>
          <p:spPr>
            <a:xfrm rot="16200000">
              <a:off x="5654040" y="2599901"/>
              <a:ext cx="0" cy="2011680"/>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7" name="TextBox 26"/>
            <p:cNvSpPr txBox="1"/>
            <p:nvPr/>
          </p:nvSpPr>
          <p:spPr>
            <a:xfrm>
              <a:off x="5617171" y="3521102"/>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aphicFrame>
        <p:nvGraphicFramePr>
          <p:cNvPr id="28" name="Table 27"/>
          <p:cNvGraphicFramePr>
            <a:graphicFrameLocks noGrp="1"/>
          </p:cNvGraphicFramePr>
          <p:nvPr/>
        </p:nvGraphicFramePr>
        <p:xfrm>
          <a:off x="4646724" y="1688440"/>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bl>
          </a:graphicData>
        </a:graphic>
      </p:graphicFrame>
      <p:graphicFrame>
        <p:nvGraphicFramePr>
          <p:cNvPr id="29" name="Table 28"/>
          <p:cNvGraphicFramePr>
            <a:graphicFrameLocks noGrp="1"/>
          </p:cNvGraphicFramePr>
          <p:nvPr/>
        </p:nvGraphicFramePr>
        <p:xfrm>
          <a:off x="2482644" y="3954556"/>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solidFill>
                      <a:schemeClr val="accent5">
                        <a:lumMod val="60000"/>
                        <a:lumOff val="40000"/>
                      </a:schemeClr>
                    </a:solid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solidFill>
                      <a:schemeClr val="accent5">
                        <a:lumMod val="60000"/>
                        <a:lumOff val="40000"/>
                      </a:schemeClr>
                    </a:solid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solidFill>
                      <a:schemeClr val="accent5">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solidFill>
                      <a:schemeClr val="accent5">
                        <a:lumMod val="60000"/>
                        <a:lumOff val="40000"/>
                      </a:schemeClr>
                    </a:solid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a:p>
                  </a:txBody>
                  <a:tcPr marL="41910" marR="41910" marT="20955" marB="20955">
                    <a:solidFill>
                      <a:schemeClr val="accent5">
                        <a:lumMod val="60000"/>
                        <a:lumOff val="40000"/>
                      </a:schemeClr>
                    </a:solid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solidFill>
                      <a:schemeClr val="accent5">
                        <a:lumMod val="60000"/>
                        <a:lumOff val="40000"/>
                      </a:schemeClr>
                    </a:solid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solidFill>
                      <a:schemeClr val="accent5">
                        <a:lumMod val="60000"/>
                        <a:lumOff val="40000"/>
                      </a:schemeClr>
                    </a:solid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bl>
          </a:graphicData>
        </a:graphic>
      </p:graphicFrame>
      <p:grpSp>
        <p:nvGrpSpPr>
          <p:cNvPr id="45" name="Group 44"/>
          <p:cNvGrpSpPr/>
          <p:nvPr/>
        </p:nvGrpSpPr>
        <p:grpSpPr>
          <a:xfrm>
            <a:off x="4646724" y="1499279"/>
            <a:ext cx="2011680" cy="169277"/>
            <a:chOff x="4648200" y="3521102"/>
            <a:chExt cx="2011680" cy="169277"/>
          </a:xfrm>
        </p:grpSpPr>
        <p:cxnSp>
          <p:nvCxnSpPr>
            <p:cNvPr id="46" name="Straight Arrow Connector 45"/>
            <p:cNvCxnSpPr/>
            <p:nvPr/>
          </p:nvCxnSpPr>
          <p:spPr>
            <a:xfrm rot="16200000">
              <a:off x="5654040" y="2599901"/>
              <a:ext cx="0" cy="2011680"/>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47" name="TextBox 46"/>
            <p:cNvSpPr txBox="1"/>
            <p:nvPr/>
          </p:nvSpPr>
          <p:spPr>
            <a:xfrm>
              <a:off x="5617171" y="3521102"/>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pSp>
        <p:nvGrpSpPr>
          <p:cNvPr id="48" name="Group 47"/>
          <p:cNvGrpSpPr/>
          <p:nvPr/>
        </p:nvGrpSpPr>
        <p:grpSpPr>
          <a:xfrm>
            <a:off x="2341719" y="3962507"/>
            <a:ext cx="91371" cy="2077284"/>
            <a:chOff x="4515210" y="3721867"/>
            <a:chExt cx="91371" cy="2077284"/>
          </a:xfrm>
        </p:grpSpPr>
        <p:cxnSp>
          <p:nvCxnSpPr>
            <p:cNvPr id="49" name="Straight Arrow Connector 48"/>
            <p:cNvCxnSpPr/>
            <p:nvPr/>
          </p:nvCxnSpPr>
          <p:spPr>
            <a:xfrm>
              <a:off x="4561637" y="3721867"/>
              <a:ext cx="0" cy="2077284"/>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50" name="TextBox 49"/>
            <p:cNvSpPr txBox="1"/>
            <p:nvPr/>
          </p:nvSpPr>
          <p:spPr>
            <a:xfrm>
              <a:off x="4515210" y="4668176"/>
              <a:ext cx="91371" cy="169277"/>
            </a:xfrm>
            <a:prstGeom prst="rect">
              <a:avLst/>
            </a:prstGeom>
            <a:solidFill>
              <a:schemeClr val="bg1"/>
            </a:solidFill>
            <a:ln>
              <a:noFill/>
            </a:ln>
          </p:spPr>
          <p:txBody>
            <a:bodyPr wrap="none" lIns="0" tIns="0" rIns="0" bIns="0" rtlCol="0">
              <a:spAutoFit/>
            </a:bodyPr>
            <a:lstStyle/>
            <a:p>
              <a:pPr algn="ctr"/>
              <a:r>
                <a:rPr lang="en-US" sz="1100" dirty="0"/>
                <a:t>N</a:t>
              </a:r>
            </a:p>
          </p:txBody>
        </p:sp>
      </p:grpSp>
      <p:sp>
        <p:nvSpPr>
          <p:cNvPr id="31" name="Rectangle 30"/>
          <p:cNvSpPr/>
          <p:nvPr/>
        </p:nvSpPr>
        <p:spPr>
          <a:xfrm>
            <a:off x="7086600" y="3391897"/>
            <a:ext cx="1752600" cy="1015663"/>
          </a:xfrm>
          <a:prstGeom prst="rect">
            <a:avLst/>
          </a:prstGeom>
        </p:spPr>
        <p:txBody>
          <a:bodyPr wrap="square">
            <a:spAutoFit/>
          </a:bodyPr>
          <a:lstStyle/>
          <a:p>
            <a:pPr algn="ctr"/>
            <a:r>
              <a:rPr lang="en-US" sz="2000" dirty="0"/>
              <a:t>…and </a:t>
            </a:r>
            <a:r>
              <a:rPr lang="en-US" altLang="zh-CN" sz="2000" dirty="0"/>
              <a:t>accumulate </a:t>
            </a:r>
            <a:r>
              <a:rPr lang="en-US" sz="2000" dirty="0"/>
              <a:t>the </a:t>
            </a:r>
            <a:r>
              <a:rPr lang="en-US" altLang="zh-CN" sz="2000" dirty="0"/>
              <a:t>third</a:t>
            </a:r>
            <a:r>
              <a:rPr lang="en-US" sz="2000" dirty="0"/>
              <a:t> tile</a:t>
            </a:r>
          </a:p>
        </p:txBody>
      </p:sp>
      <p:sp>
        <p:nvSpPr>
          <p:cNvPr id="30" name="TextBox 610">
            <a:extLst>
              <a:ext uri="{FF2B5EF4-FFF2-40B4-BE49-F238E27FC236}">
                <a16:creationId xmlns:a16="http://schemas.microsoft.com/office/drawing/2014/main" id="{CB293287-D080-564F-9420-5D1C75E10864}"/>
              </a:ext>
            </a:extLst>
          </p:cNvPr>
          <p:cNvSpPr txBox="1">
            <a:spLocks noChangeArrowheads="1"/>
          </p:cNvSpPr>
          <p:nvPr/>
        </p:nvSpPr>
        <p:spPr bwMode="auto">
          <a:xfrm>
            <a:off x="228600" y="6541584"/>
            <a:ext cx="156164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Izzat El Hajj</a:t>
            </a:r>
          </a:p>
        </p:txBody>
      </p:sp>
      <p:sp>
        <p:nvSpPr>
          <p:cNvPr id="32" name="TextBox 31">
            <a:extLst>
              <a:ext uri="{FF2B5EF4-FFF2-40B4-BE49-F238E27FC236}">
                <a16:creationId xmlns:a16="http://schemas.microsoft.com/office/drawing/2014/main" id="{4B44A2EA-F910-8C47-BF6A-F4B4C5F238CB}"/>
              </a:ext>
            </a:extLst>
          </p:cNvPr>
          <p:cNvSpPr txBox="1"/>
          <p:nvPr/>
        </p:nvSpPr>
        <p:spPr>
          <a:xfrm>
            <a:off x="381007" y="2413709"/>
            <a:ext cx="3962387" cy="646331"/>
          </a:xfrm>
          <a:prstGeom prst="rect">
            <a:avLst/>
          </a:prstGeom>
          <a:noFill/>
        </p:spPr>
        <p:txBody>
          <a:bodyPr wrap="square" rtlCol="0">
            <a:spAutoFit/>
          </a:bodyPr>
          <a:lstStyle/>
          <a:p>
            <a:pPr algn="ctr"/>
            <a:r>
              <a:rPr lang="en-US" altLang="zh-CN" sz="3600" dirty="0" err="1"/>
              <a:t>C</a:t>
            </a:r>
            <a:r>
              <a:rPr lang="en-US" altLang="zh-CN" sz="3600" baseline="-25000" dirty="0" err="1"/>
              <a:t>tile</a:t>
            </a:r>
            <a:r>
              <a:rPr lang="en-US" altLang="zh-CN" sz="3600" dirty="0"/>
              <a:t> += A</a:t>
            </a:r>
            <a:r>
              <a:rPr lang="en-US" altLang="zh-CN" sz="3600" baseline="-25000" dirty="0"/>
              <a:t>tile3</a:t>
            </a:r>
            <a:r>
              <a:rPr lang="en-US" altLang="zh-CN" sz="3600" dirty="0"/>
              <a:t> x B</a:t>
            </a:r>
            <a:r>
              <a:rPr lang="en-US" altLang="zh-CN" sz="3600" baseline="-25000" dirty="0"/>
              <a:t>tile3</a:t>
            </a:r>
            <a:endParaRPr lang="en-US" altLang="zh-CN" sz="3600" dirty="0"/>
          </a:p>
        </p:txBody>
      </p:sp>
      <p:sp>
        <p:nvSpPr>
          <p:cNvPr id="33" name="Slide Number Placeholder 3">
            <a:extLst>
              <a:ext uri="{FF2B5EF4-FFF2-40B4-BE49-F238E27FC236}">
                <a16:creationId xmlns:a16="http://schemas.microsoft.com/office/drawing/2014/main" id="{E6E031DD-C50C-8D48-89E4-7B6F58C0BB7F}"/>
              </a:ext>
            </a:extLst>
          </p:cNvPr>
          <p:cNvSpPr>
            <a:spLocks noGrp="1"/>
          </p:cNvSpPr>
          <p:nvPr>
            <p:ph type="sldNum" sz="quarter" idx="11"/>
          </p:nvPr>
        </p:nvSpPr>
        <p:spPr>
          <a:xfrm>
            <a:off x="6553200" y="6243638"/>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77E7AE0-EC71-4D48-959A-8A23F1B03886}"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62</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3309294140"/>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52400"/>
            <a:ext cx="9144000" cy="1066800"/>
          </a:xfrm>
        </p:spPr>
        <p:txBody>
          <a:bodyPr/>
          <a:lstStyle/>
          <a:p>
            <a:r>
              <a:rPr lang="en-US" altLang="zh-CN" dirty="0"/>
              <a:t>GPU: </a:t>
            </a:r>
            <a:r>
              <a:rPr lang="en-US" dirty="0"/>
              <a:t>Tiled Matrix-Matrix Multiplication (V)</a:t>
            </a:r>
          </a:p>
        </p:txBody>
      </p:sp>
      <p:sp>
        <p:nvSpPr>
          <p:cNvPr id="5" name="Rectangle 4"/>
          <p:cNvSpPr/>
          <p:nvPr/>
        </p:nvSpPr>
        <p:spPr>
          <a:xfrm>
            <a:off x="204624" y="980728"/>
            <a:ext cx="8439325" cy="5262979"/>
          </a:xfrm>
          <a:prstGeom prst="rect">
            <a:avLst/>
          </a:prstGeom>
        </p:spPr>
        <p:txBody>
          <a:bodyPr wrap="square">
            <a:spAutoFit/>
          </a:bodyPr>
          <a:lstStyle/>
          <a:p>
            <a:r>
              <a:rPr lang="en-US" sz="1400" dirty="0">
                <a:solidFill>
                  <a:srgbClr val="00BF00"/>
                </a:solidFill>
                <a:latin typeface="Lucida Console" panose="020B0609040504020204" pitchFamily="49" charset="0"/>
              </a:rPr>
              <a:t>__shared__</a:t>
            </a:r>
            <a:r>
              <a:rPr lang="en-US" sz="1400" dirty="0">
                <a:solidFill>
                  <a:prstClr val="black"/>
                </a:solidFill>
                <a:latin typeface="Lucida Console" panose="020B0609040504020204" pitchFamily="49" charset="0"/>
              </a:rPr>
              <a:t> </a:t>
            </a:r>
            <a:r>
              <a:rPr lang="en-US" sz="1400" dirty="0">
                <a:solidFill>
                  <a:srgbClr val="00BF00"/>
                </a:solidFill>
                <a:latin typeface="Lucida Console" panose="020B0609040504020204" pitchFamily="49" charset="0"/>
              </a:rPr>
              <a:t>float</a:t>
            </a:r>
            <a:r>
              <a:rPr lang="en-US" sz="1400" dirty="0">
                <a:solidFill>
                  <a:prstClr val="black"/>
                </a:solidFill>
                <a:latin typeface="Lucida Console" panose="020B0609040504020204" pitchFamily="49" charset="0"/>
              </a:rPr>
              <a:t> A_s[TILE_DIM][TILE_DIM];</a:t>
            </a:r>
          </a:p>
          <a:p>
            <a:r>
              <a:rPr lang="en-US" sz="1400" dirty="0">
                <a:solidFill>
                  <a:srgbClr val="00BF00"/>
                </a:solidFill>
                <a:latin typeface="Lucida Console" panose="020B0609040504020204" pitchFamily="49" charset="0"/>
              </a:rPr>
              <a:t>__shared__</a:t>
            </a:r>
            <a:r>
              <a:rPr lang="en-US" sz="1400" dirty="0">
                <a:solidFill>
                  <a:prstClr val="black"/>
                </a:solidFill>
                <a:latin typeface="Lucida Console" panose="020B0609040504020204" pitchFamily="49" charset="0"/>
              </a:rPr>
              <a:t> </a:t>
            </a:r>
            <a:r>
              <a:rPr lang="en-US" sz="1400" dirty="0">
                <a:solidFill>
                  <a:srgbClr val="00BF00"/>
                </a:solidFill>
                <a:latin typeface="Lucida Console" panose="020B0609040504020204" pitchFamily="49" charset="0"/>
              </a:rPr>
              <a:t>float</a:t>
            </a:r>
            <a:r>
              <a:rPr lang="en-US" sz="1400" dirty="0">
                <a:solidFill>
                  <a:prstClr val="black"/>
                </a:solidFill>
                <a:latin typeface="Lucida Console" panose="020B0609040504020204" pitchFamily="49" charset="0"/>
              </a:rPr>
              <a:t> B_s[TILE_DIM][TILE_DIM];</a:t>
            </a:r>
          </a:p>
          <a:p>
            <a:endParaRPr lang="en-US" sz="1400" dirty="0">
              <a:solidFill>
                <a:srgbClr val="00BF00"/>
              </a:solidFill>
              <a:latin typeface="Lucida Console" panose="020B0609040504020204" pitchFamily="49" charset="0"/>
            </a:endParaRPr>
          </a:p>
          <a:p>
            <a:r>
              <a:rPr lang="en-US" sz="1400" dirty="0">
                <a:solidFill>
                  <a:srgbClr val="00BF00"/>
                </a:solidFill>
                <a:latin typeface="Lucida Console" panose="020B0609040504020204" pitchFamily="49" charset="0"/>
              </a:rPr>
              <a:t>unsigned</a:t>
            </a:r>
            <a:r>
              <a:rPr lang="en-US" sz="1400" dirty="0">
                <a:solidFill>
                  <a:prstClr val="black"/>
                </a:solidFill>
                <a:latin typeface="Lucida Console" panose="020B0609040504020204" pitchFamily="49" charset="0"/>
              </a:rPr>
              <a:t> </a:t>
            </a:r>
            <a:r>
              <a:rPr lang="en-US" sz="1400" dirty="0" err="1">
                <a:solidFill>
                  <a:srgbClr val="00BF00"/>
                </a:solidFill>
                <a:latin typeface="Lucida Console" panose="020B0609040504020204" pitchFamily="49" charset="0"/>
              </a:rPr>
              <a:t>int</a:t>
            </a:r>
            <a:r>
              <a:rPr lang="en-US" sz="1400" dirty="0">
                <a:solidFill>
                  <a:prstClr val="black"/>
                </a:solidFill>
                <a:latin typeface="Lucida Console" panose="020B0609040504020204" pitchFamily="49" charset="0"/>
              </a:rPr>
              <a:t> row = </a:t>
            </a:r>
            <a:r>
              <a:rPr lang="en-US" sz="1400" dirty="0" err="1">
                <a:solidFill>
                  <a:srgbClr val="00BFBF"/>
                </a:solidFill>
                <a:latin typeface="Lucida Console" panose="020B0609040504020204" pitchFamily="49" charset="0"/>
              </a:rPr>
              <a:t>blockIdx</a:t>
            </a:r>
            <a:r>
              <a:rPr lang="en-US" sz="1400" dirty="0" err="1">
                <a:solidFill>
                  <a:prstClr val="black"/>
                </a:solidFill>
                <a:latin typeface="Lucida Console" panose="020B0609040504020204" pitchFamily="49" charset="0"/>
              </a:rPr>
              <a:t>.y</a:t>
            </a:r>
            <a:r>
              <a:rPr lang="en-US" sz="1400" dirty="0">
                <a:solidFill>
                  <a:prstClr val="black"/>
                </a:solidFill>
                <a:latin typeface="Lucida Console" panose="020B0609040504020204" pitchFamily="49" charset="0"/>
              </a:rPr>
              <a:t>*</a:t>
            </a:r>
            <a:r>
              <a:rPr lang="en-US" sz="1400" dirty="0" err="1">
                <a:solidFill>
                  <a:srgbClr val="00BFBF"/>
                </a:solidFill>
                <a:latin typeface="Lucida Console" panose="020B0609040504020204" pitchFamily="49" charset="0"/>
              </a:rPr>
              <a:t>blockDim</a:t>
            </a:r>
            <a:r>
              <a:rPr lang="en-US" sz="1400" dirty="0" err="1">
                <a:solidFill>
                  <a:prstClr val="black"/>
                </a:solidFill>
                <a:latin typeface="Lucida Console" panose="020B0609040504020204" pitchFamily="49" charset="0"/>
              </a:rPr>
              <a:t>.y</a:t>
            </a:r>
            <a:r>
              <a:rPr lang="en-US" sz="1400" dirty="0">
                <a:solidFill>
                  <a:prstClr val="black"/>
                </a:solidFill>
                <a:latin typeface="Lucida Console" panose="020B0609040504020204" pitchFamily="49" charset="0"/>
              </a:rPr>
              <a:t> + </a:t>
            </a:r>
            <a:r>
              <a:rPr lang="en-US" sz="1400" dirty="0" err="1">
                <a:solidFill>
                  <a:srgbClr val="00BFBF"/>
                </a:solidFill>
                <a:latin typeface="Lucida Console" panose="020B0609040504020204" pitchFamily="49" charset="0"/>
              </a:rPr>
              <a:t>threadIdx</a:t>
            </a:r>
            <a:r>
              <a:rPr lang="en-US" sz="1400" dirty="0" err="1">
                <a:solidFill>
                  <a:prstClr val="black"/>
                </a:solidFill>
                <a:latin typeface="Lucida Console" panose="020B0609040504020204" pitchFamily="49" charset="0"/>
              </a:rPr>
              <a:t>.y</a:t>
            </a:r>
            <a:r>
              <a:rPr lang="en-US" sz="1400" dirty="0">
                <a:solidFill>
                  <a:prstClr val="black"/>
                </a:solidFill>
                <a:latin typeface="Lucida Console" panose="020B0609040504020204" pitchFamily="49" charset="0"/>
              </a:rPr>
              <a:t>;</a:t>
            </a:r>
          </a:p>
          <a:p>
            <a:r>
              <a:rPr lang="en-US" sz="1400" dirty="0">
                <a:solidFill>
                  <a:srgbClr val="00BF00"/>
                </a:solidFill>
                <a:latin typeface="Lucida Console" panose="020B0609040504020204" pitchFamily="49" charset="0"/>
              </a:rPr>
              <a:t>unsigned</a:t>
            </a:r>
            <a:r>
              <a:rPr lang="en-US" sz="1400" dirty="0">
                <a:solidFill>
                  <a:prstClr val="black"/>
                </a:solidFill>
                <a:latin typeface="Lucida Console" panose="020B0609040504020204" pitchFamily="49" charset="0"/>
              </a:rPr>
              <a:t> </a:t>
            </a:r>
            <a:r>
              <a:rPr lang="en-US" sz="1400" dirty="0" err="1">
                <a:solidFill>
                  <a:srgbClr val="00BF00"/>
                </a:solidFill>
                <a:latin typeface="Lucida Console" panose="020B0609040504020204" pitchFamily="49" charset="0"/>
              </a:rPr>
              <a:t>int</a:t>
            </a:r>
            <a:r>
              <a:rPr lang="en-US" sz="1400" dirty="0">
                <a:solidFill>
                  <a:prstClr val="black"/>
                </a:solidFill>
                <a:latin typeface="Lucida Console" panose="020B0609040504020204" pitchFamily="49" charset="0"/>
              </a:rPr>
              <a:t> col = </a:t>
            </a:r>
            <a:r>
              <a:rPr lang="en-US" sz="1400" dirty="0" err="1">
                <a:solidFill>
                  <a:srgbClr val="00BFBF"/>
                </a:solidFill>
                <a:latin typeface="Lucida Console" panose="020B0609040504020204" pitchFamily="49" charset="0"/>
              </a:rPr>
              <a:t>blockIdx</a:t>
            </a:r>
            <a:r>
              <a:rPr lang="en-US" sz="1400" dirty="0" err="1">
                <a:solidFill>
                  <a:prstClr val="black"/>
                </a:solidFill>
                <a:latin typeface="Lucida Console" panose="020B0609040504020204" pitchFamily="49" charset="0"/>
              </a:rPr>
              <a:t>.x</a:t>
            </a:r>
            <a:r>
              <a:rPr lang="en-US" sz="1400" dirty="0">
                <a:solidFill>
                  <a:prstClr val="black"/>
                </a:solidFill>
                <a:latin typeface="Lucida Console" panose="020B0609040504020204" pitchFamily="49" charset="0"/>
              </a:rPr>
              <a:t>*</a:t>
            </a:r>
            <a:r>
              <a:rPr lang="en-US" sz="1400" dirty="0" err="1">
                <a:solidFill>
                  <a:srgbClr val="00BFBF"/>
                </a:solidFill>
                <a:latin typeface="Lucida Console" panose="020B0609040504020204" pitchFamily="49" charset="0"/>
              </a:rPr>
              <a:t>blockDim</a:t>
            </a:r>
            <a:r>
              <a:rPr lang="en-US" sz="1400" dirty="0" err="1">
                <a:solidFill>
                  <a:prstClr val="black"/>
                </a:solidFill>
                <a:latin typeface="Lucida Console" panose="020B0609040504020204" pitchFamily="49" charset="0"/>
              </a:rPr>
              <a:t>.x</a:t>
            </a:r>
            <a:r>
              <a:rPr lang="en-US" sz="1400" dirty="0">
                <a:solidFill>
                  <a:prstClr val="black"/>
                </a:solidFill>
                <a:latin typeface="Lucida Console" panose="020B0609040504020204" pitchFamily="49" charset="0"/>
              </a:rPr>
              <a:t> + </a:t>
            </a:r>
            <a:r>
              <a:rPr lang="en-US" sz="1400" dirty="0" err="1">
                <a:solidFill>
                  <a:srgbClr val="00BFBF"/>
                </a:solidFill>
                <a:latin typeface="Lucida Console" panose="020B0609040504020204" pitchFamily="49" charset="0"/>
              </a:rPr>
              <a:t>threadIdx</a:t>
            </a:r>
            <a:r>
              <a:rPr lang="en-US" sz="1400" dirty="0" err="1">
                <a:solidFill>
                  <a:prstClr val="black"/>
                </a:solidFill>
                <a:latin typeface="Lucida Console" panose="020B0609040504020204" pitchFamily="49" charset="0"/>
              </a:rPr>
              <a:t>.x</a:t>
            </a:r>
            <a:r>
              <a:rPr lang="en-US" sz="1400" dirty="0">
                <a:solidFill>
                  <a:prstClr val="black"/>
                </a:solidFill>
                <a:latin typeface="Lucida Console" panose="020B0609040504020204" pitchFamily="49" charset="0"/>
              </a:rPr>
              <a:t>;</a:t>
            </a:r>
          </a:p>
          <a:p>
            <a:endParaRPr lang="en-US" sz="1400" dirty="0">
              <a:solidFill>
                <a:srgbClr val="00BF00"/>
              </a:solidFill>
              <a:latin typeface="Lucida Console" panose="020B0609040504020204" pitchFamily="49" charset="0"/>
            </a:endParaRPr>
          </a:p>
          <a:p>
            <a:r>
              <a:rPr lang="en-US" sz="1400" dirty="0">
                <a:solidFill>
                  <a:srgbClr val="00BF00"/>
                </a:solidFill>
                <a:latin typeface="Lucida Console" panose="020B0609040504020204" pitchFamily="49" charset="0"/>
              </a:rPr>
              <a:t>float</a:t>
            </a:r>
            <a:r>
              <a:rPr lang="en-US" sz="1400" dirty="0">
                <a:solidFill>
                  <a:prstClr val="black"/>
                </a:solidFill>
                <a:latin typeface="Lucida Console" panose="020B0609040504020204" pitchFamily="49" charset="0"/>
              </a:rPr>
              <a:t> sum = </a:t>
            </a:r>
            <a:r>
              <a:rPr lang="en-US" sz="1400" dirty="0">
                <a:solidFill>
                  <a:srgbClr val="BF0000"/>
                </a:solidFill>
                <a:latin typeface="Lucida Console" panose="020B0609040504020204" pitchFamily="49" charset="0"/>
              </a:rPr>
              <a:t>0.0f</a:t>
            </a:r>
            <a:r>
              <a:rPr lang="en-US" sz="1400" dirty="0">
                <a:solidFill>
                  <a:prstClr val="black"/>
                </a:solidFill>
                <a:latin typeface="Lucida Console" panose="020B0609040504020204" pitchFamily="49" charset="0"/>
              </a:rPr>
              <a:t>;</a:t>
            </a:r>
          </a:p>
          <a:p>
            <a:endParaRPr lang="en-US" sz="1400" dirty="0">
              <a:solidFill>
                <a:srgbClr val="BFBF00"/>
              </a:solidFill>
              <a:latin typeface="Lucida Console" panose="020B0609040504020204" pitchFamily="49" charset="0"/>
            </a:endParaRPr>
          </a:p>
          <a:p>
            <a:r>
              <a:rPr lang="en-US" sz="1400" dirty="0">
                <a:solidFill>
                  <a:srgbClr val="BFBF00"/>
                </a:solidFill>
                <a:latin typeface="Lucida Console" panose="020B0609040504020204" pitchFamily="49" charset="0"/>
              </a:rPr>
              <a:t>for</a:t>
            </a:r>
            <a:r>
              <a:rPr lang="en-US" sz="1400" dirty="0">
                <a:solidFill>
                  <a:prstClr val="black"/>
                </a:solidFill>
                <a:latin typeface="Lucida Console" panose="020B0609040504020204" pitchFamily="49" charset="0"/>
              </a:rPr>
              <a:t>(</a:t>
            </a:r>
            <a:r>
              <a:rPr lang="en-US" sz="1400" dirty="0">
                <a:solidFill>
                  <a:srgbClr val="00BF00"/>
                </a:solidFill>
                <a:latin typeface="Lucida Console" panose="020B0609040504020204" pitchFamily="49" charset="0"/>
              </a:rPr>
              <a:t>unsigned</a:t>
            </a:r>
            <a:r>
              <a:rPr lang="en-US" sz="1400" dirty="0">
                <a:solidFill>
                  <a:prstClr val="black"/>
                </a:solidFill>
                <a:latin typeface="Lucida Console" panose="020B0609040504020204" pitchFamily="49" charset="0"/>
              </a:rPr>
              <a:t> </a:t>
            </a:r>
            <a:r>
              <a:rPr lang="en-US" sz="1400" dirty="0" err="1">
                <a:solidFill>
                  <a:srgbClr val="00BF00"/>
                </a:solidFill>
                <a:latin typeface="Lucida Console" panose="020B0609040504020204" pitchFamily="49" charset="0"/>
              </a:rPr>
              <a:t>int</a:t>
            </a:r>
            <a:r>
              <a:rPr lang="en-US" sz="1400" dirty="0">
                <a:solidFill>
                  <a:prstClr val="black"/>
                </a:solidFill>
                <a:latin typeface="Lucida Console" panose="020B0609040504020204" pitchFamily="49" charset="0"/>
              </a:rPr>
              <a:t> tile = </a:t>
            </a:r>
            <a:r>
              <a:rPr lang="en-US" sz="1400" dirty="0">
                <a:solidFill>
                  <a:srgbClr val="BF0000"/>
                </a:solidFill>
                <a:latin typeface="Lucida Console" panose="020B0609040504020204" pitchFamily="49" charset="0"/>
              </a:rPr>
              <a:t>0</a:t>
            </a:r>
            <a:r>
              <a:rPr lang="en-US" sz="1400" dirty="0">
                <a:solidFill>
                  <a:prstClr val="black"/>
                </a:solidFill>
                <a:latin typeface="Lucida Console" panose="020B0609040504020204" pitchFamily="49" charset="0"/>
              </a:rPr>
              <a:t>; tile &lt; N/TILE_DIM; ++tile) {</a:t>
            </a:r>
          </a:p>
          <a:p>
            <a:endParaRPr lang="en-US" sz="1400" dirty="0">
              <a:solidFill>
                <a:prstClr val="black"/>
              </a:solidFill>
              <a:latin typeface="Lucida Console" panose="020B0609040504020204" pitchFamily="49" charset="0"/>
            </a:endParaRPr>
          </a:p>
          <a:p>
            <a:r>
              <a:rPr lang="en-US" sz="1400" dirty="0">
                <a:solidFill>
                  <a:prstClr val="black"/>
                </a:solidFill>
                <a:latin typeface="Lucida Console" panose="020B0609040504020204" pitchFamily="49" charset="0"/>
              </a:rPr>
              <a:t>    </a:t>
            </a:r>
            <a:r>
              <a:rPr lang="en-US" sz="1400" dirty="0">
                <a:solidFill>
                  <a:srgbClr val="0000BF"/>
                </a:solidFill>
                <a:latin typeface="Lucida Console" panose="020B0609040504020204" pitchFamily="49" charset="0"/>
              </a:rPr>
              <a:t>// Load tile to shared memory</a:t>
            </a:r>
          </a:p>
          <a:p>
            <a:r>
              <a:rPr lang="en-US" sz="1400" dirty="0">
                <a:solidFill>
                  <a:prstClr val="black"/>
                </a:solidFill>
                <a:latin typeface="Lucida Console" panose="020B0609040504020204" pitchFamily="49" charset="0"/>
              </a:rPr>
              <a:t>    A_s[</a:t>
            </a:r>
            <a:r>
              <a:rPr lang="en-US" sz="1400" dirty="0" err="1">
                <a:solidFill>
                  <a:srgbClr val="00BFBF"/>
                </a:solidFill>
                <a:latin typeface="Lucida Console" panose="020B0609040504020204" pitchFamily="49" charset="0"/>
              </a:rPr>
              <a:t>threadIdx</a:t>
            </a:r>
            <a:r>
              <a:rPr lang="en-US" sz="1400" dirty="0" err="1">
                <a:solidFill>
                  <a:prstClr val="black"/>
                </a:solidFill>
                <a:latin typeface="Lucida Console" panose="020B0609040504020204" pitchFamily="49" charset="0"/>
              </a:rPr>
              <a:t>.y</a:t>
            </a:r>
            <a:r>
              <a:rPr lang="en-US" sz="1400" dirty="0">
                <a:solidFill>
                  <a:prstClr val="black"/>
                </a:solidFill>
                <a:latin typeface="Lucida Console" panose="020B0609040504020204" pitchFamily="49" charset="0"/>
              </a:rPr>
              <a:t>][</a:t>
            </a:r>
            <a:r>
              <a:rPr lang="en-US" sz="1400" dirty="0" err="1">
                <a:solidFill>
                  <a:srgbClr val="00BFBF"/>
                </a:solidFill>
                <a:latin typeface="Lucida Console" panose="020B0609040504020204" pitchFamily="49" charset="0"/>
              </a:rPr>
              <a:t>threadIdx</a:t>
            </a:r>
            <a:r>
              <a:rPr lang="en-US" sz="1400" dirty="0" err="1">
                <a:solidFill>
                  <a:prstClr val="black"/>
                </a:solidFill>
                <a:latin typeface="Lucida Console" panose="020B0609040504020204" pitchFamily="49" charset="0"/>
              </a:rPr>
              <a:t>.x</a:t>
            </a:r>
            <a:r>
              <a:rPr lang="en-US" sz="1400" dirty="0">
                <a:solidFill>
                  <a:prstClr val="black"/>
                </a:solidFill>
                <a:latin typeface="Lucida Console" panose="020B0609040504020204" pitchFamily="49" charset="0"/>
              </a:rPr>
              <a:t>] = A[row*N + tile*TILE_DIM + </a:t>
            </a:r>
            <a:r>
              <a:rPr lang="en-US" sz="1400" dirty="0" err="1">
                <a:solidFill>
                  <a:srgbClr val="00BFBF"/>
                </a:solidFill>
                <a:latin typeface="Lucida Console" panose="020B0609040504020204" pitchFamily="49" charset="0"/>
              </a:rPr>
              <a:t>threadIdx</a:t>
            </a:r>
            <a:r>
              <a:rPr lang="en-US" sz="1400" dirty="0" err="1">
                <a:solidFill>
                  <a:prstClr val="black"/>
                </a:solidFill>
                <a:latin typeface="Lucida Console" panose="020B0609040504020204" pitchFamily="49" charset="0"/>
              </a:rPr>
              <a:t>.x</a:t>
            </a:r>
            <a:r>
              <a:rPr lang="en-US" sz="1400" dirty="0">
                <a:solidFill>
                  <a:prstClr val="black"/>
                </a:solidFill>
                <a:latin typeface="Lucida Console" panose="020B0609040504020204" pitchFamily="49" charset="0"/>
              </a:rPr>
              <a:t>];</a:t>
            </a:r>
          </a:p>
          <a:p>
            <a:r>
              <a:rPr lang="en-US" sz="1400" dirty="0">
                <a:solidFill>
                  <a:prstClr val="black"/>
                </a:solidFill>
                <a:latin typeface="Lucida Console" panose="020B0609040504020204" pitchFamily="49" charset="0"/>
              </a:rPr>
              <a:t>    B_s[</a:t>
            </a:r>
            <a:r>
              <a:rPr lang="en-US" sz="1400" dirty="0" err="1">
                <a:solidFill>
                  <a:srgbClr val="00BFBF"/>
                </a:solidFill>
                <a:latin typeface="Lucida Console" panose="020B0609040504020204" pitchFamily="49" charset="0"/>
              </a:rPr>
              <a:t>threadIdx</a:t>
            </a:r>
            <a:r>
              <a:rPr lang="en-US" sz="1400" dirty="0" err="1">
                <a:solidFill>
                  <a:prstClr val="black"/>
                </a:solidFill>
                <a:latin typeface="Lucida Console" panose="020B0609040504020204" pitchFamily="49" charset="0"/>
              </a:rPr>
              <a:t>.y</a:t>
            </a:r>
            <a:r>
              <a:rPr lang="en-US" sz="1400" dirty="0">
                <a:solidFill>
                  <a:prstClr val="black"/>
                </a:solidFill>
                <a:latin typeface="Lucida Console" panose="020B0609040504020204" pitchFamily="49" charset="0"/>
              </a:rPr>
              <a:t>][</a:t>
            </a:r>
            <a:r>
              <a:rPr lang="en-US" sz="1400" dirty="0" err="1">
                <a:solidFill>
                  <a:srgbClr val="00BFBF"/>
                </a:solidFill>
                <a:latin typeface="Lucida Console" panose="020B0609040504020204" pitchFamily="49" charset="0"/>
              </a:rPr>
              <a:t>threadIdx</a:t>
            </a:r>
            <a:r>
              <a:rPr lang="en-US" sz="1400" dirty="0" err="1">
                <a:solidFill>
                  <a:prstClr val="black"/>
                </a:solidFill>
                <a:latin typeface="Lucida Console" panose="020B0609040504020204" pitchFamily="49" charset="0"/>
              </a:rPr>
              <a:t>.x</a:t>
            </a:r>
            <a:r>
              <a:rPr lang="en-US" sz="1400" dirty="0">
                <a:solidFill>
                  <a:prstClr val="black"/>
                </a:solidFill>
                <a:latin typeface="Lucida Console" panose="020B0609040504020204" pitchFamily="49" charset="0"/>
              </a:rPr>
              <a:t>] = B[(tile*TILE_DIM + </a:t>
            </a:r>
            <a:r>
              <a:rPr lang="en-US" sz="1400" dirty="0" err="1">
                <a:solidFill>
                  <a:srgbClr val="00BFBF"/>
                </a:solidFill>
                <a:latin typeface="Lucida Console" panose="020B0609040504020204" pitchFamily="49" charset="0"/>
              </a:rPr>
              <a:t>threadIdx</a:t>
            </a:r>
            <a:r>
              <a:rPr lang="en-US" sz="1400" dirty="0" err="1">
                <a:solidFill>
                  <a:prstClr val="black"/>
                </a:solidFill>
                <a:latin typeface="Lucida Console" panose="020B0609040504020204" pitchFamily="49" charset="0"/>
              </a:rPr>
              <a:t>.y</a:t>
            </a:r>
            <a:r>
              <a:rPr lang="en-US" sz="1400" dirty="0">
                <a:solidFill>
                  <a:prstClr val="black"/>
                </a:solidFill>
                <a:latin typeface="Lucida Console" panose="020B0609040504020204" pitchFamily="49" charset="0"/>
              </a:rPr>
              <a:t>)*N + col];</a:t>
            </a:r>
          </a:p>
          <a:p>
            <a:r>
              <a:rPr lang="en-US" sz="1400" dirty="0">
                <a:solidFill>
                  <a:prstClr val="black"/>
                </a:solidFill>
                <a:latin typeface="Lucida Console" panose="020B0609040504020204" pitchFamily="49" charset="0"/>
              </a:rPr>
              <a:t>    __</a:t>
            </a:r>
            <a:r>
              <a:rPr lang="en-US" sz="1400" dirty="0" err="1">
                <a:solidFill>
                  <a:prstClr val="black"/>
                </a:solidFill>
                <a:latin typeface="Lucida Console" panose="020B0609040504020204" pitchFamily="49" charset="0"/>
              </a:rPr>
              <a:t>syncthreads</a:t>
            </a:r>
            <a:r>
              <a:rPr lang="en-US" sz="1400" dirty="0">
                <a:solidFill>
                  <a:prstClr val="black"/>
                </a:solidFill>
                <a:latin typeface="Lucida Console" panose="020B0609040504020204" pitchFamily="49" charset="0"/>
              </a:rPr>
              <a:t>();</a:t>
            </a:r>
          </a:p>
          <a:p>
            <a:endParaRPr lang="en-US" sz="1400" dirty="0">
              <a:solidFill>
                <a:prstClr val="black"/>
              </a:solidFill>
              <a:latin typeface="Lucida Console" panose="020B0609040504020204" pitchFamily="49" charset="0"/>
            </a:endParaRPr>
          </a:p>
          <a:p>
            <a:r>
              <a:rPr lang="en-US" sz="1400" dirty="0">
                <a:solidFill>
                  <a:prstClr val="black"/>
                </a:solidFill>
                <a:latin typeface="Lucida Console" panose="020B0609040504020204" pitchFamily="49" charset="0"/>
              </a:rPr>
              <a:t>    </a:t>
            </a:r>
            <a:r>
              <a:rPr lang="en-US" sz="1400" dirty="0">
                <a:solidFill>
                  <a:srgbClr val="0000BF"/>
                </a:solidFill>
                <a:latin typeface="Lucida Console" panose="020B0609040504020204" pitchFamily="49" charset="0"/>
              </a:rPr>
              <a:t>// Compute with tile</a:t>
            </a:r>
          </a:p>
          <a:p>
            <a:r>
              <a:rPr lang="en-US" sz="1400" dirty="0">
                <a:solidFill>
                  <a:prstClr val="black"/>
                </a:solidFill>
                <a:latin typeface="Lucida Console" panose="020B0609040504020204" pitchFamily="49" charset="0"/>
              </a:rPr>
              <a:t>    </a:t>
            </a:r>
            <a:r>
              <a:rPr lang="en-US" sz="1400" dirty="0">
                <a:solidFill>
                  <a:srgbClr val="BFBF00"/>
                </a:solidFill>
                <a:latin typeface="Lucida Console" panose="020B0609040504020204" pitchFamily="49" charset="0"/>
              </a:rPr>
              <a:t>for</a:t>
            </a:r>
            <a:r>
              <a:rPr lang="en-US" sz="1400" dirty="0">
                <a:solidFill>
                  <a:prstClr val="black"/>
                </a:solidFill>
                <a:latin typeface="Lucida Console" panose="020B0609040504020204" pitchFamily="49" charset="0"/>
              </a:rPr>
              <a:t>(</a:t>
            </a:r>
            <a:r>
              <a:rPr lang="en-US" sz="1400" dirty="0">
                <a:solidFill>
                  <a:srgbClr val="00BF00"/>
                </a:solidFill>
                <a:latin typeface="Lucida Console" panose="020B0609040504020204" pitchFamily="49" charset="0"/>
              </a:rPr>
              <a:t>unsigned</a:t>
            </a:r>
            <a:r>
              <a:rPr lang="en-US" sz="1400" dirty="0">
                <a:solidFill>
                  <a:prstClr val="black"/>
                </a:solidFill>
                <a:latin typeface="Lucida Console" panose="020B0609040504020204" pitchFamily="49" charset="0"/>
              </a:rPr>
              <a:t> </a:t>
            </a:r>
            <a:r>
              <a:rPr lang="en-US" sz="1400" dirty="0" err="1">
                <a:solidFill>
                  <a:srgbClr val="00BF00"/>
                </a:solidFill>
                <a:latin typeface="Lucida Console" panose="020B0609040504020204" pitchFamily="49" charset="0"/>
              </a:rPr>
              <a:t>int</a:t>
            </a:r>
            <a:r>
              <a:rPr lang="en-US" sz="1400" dirty="0">
                <a:solidFill>
                  <a:prstClr val="black"/>
                </a:solidFill>
                <a:latin typeface="Lucida Console" panose="020B0609040504020204" pitchFamily="49" charset="0"/>
              </a:rPr>
              <a:t> </a:t>
            </a:r>
            <a:r>
              <a:rPr lang="en-US" sz="1400" dirty="0" err="1">
                <a:solidFill>
                  <a:prstClr val="black"/>
                </a:solidFill>
                <a:latin typeface="Lucida Console" panose="020B0609040504020204" pitchFamily="49" charset="0"/>
              </a:rPr>
              <a:t>i</a:t>
            </a:r>
            <a:r>
              <a:rPr lang="en-US" sz="1400" dirty="0">
                <a:solidFill>
                  <a:prstClr val="black"/>
                </a:solidFill>
                <a:latin typeface="Lucida Console" panose="020B0609040504020204" pitchFamily="49" charset="0"/>
              </a:rPr>
              <a:t> = </a:t>
            </a:r>
            <a:r>
              <a:rPr lang="en-US" sz="1400" dirty="0">
                <a:solidFill>
                  <a:srgbClr val="BF0000"/>
                </a:solidFill>
                <a:latin typeface="Lucida Console" panose="020B0609040504020204" pitchFamily="49" charset="0"/>
              </a:rPr>
              <a:t>0</a:t>
            </a:r>
            <a:r>
              <a:rPr lang="en-US" sz="1400" dirty="0">
                <a:solidFill>
                  <a:prstClr val="black"/>
                </a:solidFill>
                <a:latin typeface="Lucida Console" panose="020B0609040504020204" pitchFamily="49" charset="0"/>
              </a:rPr>
              <a:t>; </a:t>
            </a:r>
            <a:r>
              <a:rPr lang="en-US" sz="1400" dirty="0" err="1">
                <a:solidFill>
                  <a:prstClr val="black"/>
                </a:solidFill>
                <a:latin typeface="Lucida Console" panose="020B0609040504020204" pitchFamily="49" charset="0"/>
              </a:rPr>
              <a:t>i</a:t>
            </a:r>
            <a:r>
              <a:rPr lang="en-US" sz="1400" dirty="0">
                <a:solidFill>
                  <a:prstClr val="black"/>
                </a:solidFill>
                <a:latin typeface="Lucida Console" panose="020B0609040504020204" pitchFamily="49" charset="0"/>
              </a:rPr>
              <a:t> &lt; TILE_DIM; ++</a:t>
            </a:r>
            <a:r>
              <a:rPr lang="en-US" sz="1400" dirty="0" err="1">
                <a:solidFill>
                  <a:prstClr val="black"/>
                </a:solidFill>
                <a:latin typeface="Lucida Console" panose="020B0609040504020204" pitchFamily="49" charset="0"/>
              </a:rPr>
              <a:t>i</a:t>
            </a:r>
            <a:r>
              <a:rPr lang="en-US" sz="1400" dirty="0">
                <a:solidFill>
                  <a:prstClr val="black"/>
                </a:solidFill>
                <a:latin typeface="Lucida Console" panose="020B0609040504020204" pitchFamily="49" charset="0"/>
              </a:rPr>
              <a:t>) {</a:t>
            </a:r>
          </a:p>
          <a:p>
            <a:r>
              <a:rPr lang="en-US" sz="1400" dirty="0">
                <a:solidFill>
                  <a:prstClr val="black"/>
                </a:solidFill>
                <a:latin typeface="Lucida Console" panose="020B0609040504020204" pitchFamily="49" charset="0"/>
              </a:rPr>
              <a:t>        sum += A_s[</a:t>
            </a:r>
            <a:r>
              <a:rPr lang="en-US" sz="1400" dirty="0" err="1">
                <a:solidFill>
                  <a:srgbClr val="00BFBF"/>
                </a:solidFill>
                <a:latin typeface="Lucida Console" panose="020B0609040504020204" pitchFamily="49" charset="0"/>
              </a:rPr>
              <a:t>threadIdx</a:t>
            </a:r>
            <a:r>
              <a:rPr lang="en-US" sz="1400" dirty="0" err="1">
                <a:solidFill>
                  <a:prstClr val="black"/>
                </a:solidFill>
                <a:latin typeface="Lucida Console" panose="020B0609040504020204" pitchFamily="49" charset="0"/>
              </a:rPr>
              <a:t>.y</a:t>
            </a:r>
            <a:r>
              <a:rPr lang="en-US" sz="1400" dirty="0">
                <a:solidFill>
                  <a:prstClr val="black"/>
                </a:solidFill>
                <a:latin typeface="Lucida Console" panose="020B0609040504020204" pitchFamily="49" charset="0"/>
              </a:rPr>
              <a:t>][</a:t>
            </a:r>
            <a:r>
              <a:rPr lang="en-US" sz="1400" dirty="0" err="1">
                <a:solidFill>
                  <a:prstClr val="black"/>
                </a:solidFill>
                <a:latin typeface="Lucida Console" panose="020B0609040504020204" pitchFamily="49" charset="0"/>
              </a:rPr>
              <a:t>i</a:t>
            </a:r>
            <a:r>
              <a:rPr lang="en-US" sz="1400" dirty="0">
                <a:solidFill>
                  <a:prstClr val="black"/>
                </a:solidFill>
                <a:latin typeface="Lucida Console" panose="020B0609040504020204" pitchFamily="49" charset="0"/>
              </a:rPr>
              <a:t>]*B_s[</a:t>
            </a:r>
            <a:r>
              <a:rPr lang="en-US" sz="1400" dirty="0" err="1">
                <a:solidFill>
                  <a:prstClr val="black"/>
                </a:solidFill>
                <a:latin typeface="Lucida Console" panose="020B0609040504020204" pitchFamily="49" charset="0"/>
              </a:rPr>
              <a:t>i</a:t>
            </a:r>
            <a:r>
              <a:rPr lang="en-US" sz="1400" dirty="0">
                <a:solidFill>
                  <a:prstClr val="black"/>
                </a:solidFill>
                <a:latin typeface="Lucida Console" panose="020B0609040504020204" pitchFamily="49" charset="0"/>
              </a:rPr>
              <a:t>][</a:t>
            </a:r>
            <a:r>
              <a:rPr lang="en-US" sz="1400" dirty="0" err="1">
                <a:solidFill>
                  <a:srgbClr val="00BFBF"/>
                </a:solidFill>
                <a:latin typeface="Lucida Console" panose="020B0609040504020204" pitchFamily="49" charset="0"/>
              </a:rPr>
              <a:t>threadIdx</a:t>
            </a:r>
            <a:r>
              <a:rPr lang="en-US" sz="1400" dirty="0" err="1">
                <a:solidFill>
                  <a:prstClr val="black"/>
                </a:solidFill>
                <a:latin typeface="Lucida Console" panose="020B0609040504020204" pitchFamily="49" charset="0"/>
              </a:rPr>
              <a:t>.x</a:t>
            </a:r>
            <a:r>
              <a:rPr lang="en-US" sz="1400" dirty="0">
                <a:solidFill>
                  <a:prstClr val="black"/>
                </a:solidFill>
                <a:latin typeface="Lucida Console" panose="020B0609040504020204" pitchFamily="49" charset="0"/>
              </a:rPr>
              <a:t>];</a:t>
            </a:r>
          </a:p>
          <a:p>
            <a:r>
              <a:rPr lang="en-US" sz="1400" dirty="0">
                <a:solidFill>
                  <a:prstClr val="black"/>
                </a:solidFill>
                <a:latin typeface="Lucida Console" panose="020B0609040504020204" pitchFamily="49" charset="0"/>
              </a:rPr>
              <a:t>    }</a:t>
            </a:r>
          </a:p>
          <a:p>
            <a:r>
              <a:rPr lang="en-US" sz="1400" dirty="0">
                <a:solidFill>
                  <a:prstClr val="black"/>
                </a:solidFill>
                <a:latin typeface="Lucida Console" panose="020B0609040504020204" pitchFamily="49" charset="0"/>
              </a:rPr>
              <a:t>    __</a:t>
            </a:r>
            <a:r>
              <a:rPr lang="en-US" sz="1400" dirty="0" err="1">
                <a:solidFill>
                  <a:prstClr val="black"/>
                </a:solidFill>
                <a:latin typeface="Lucida Console" panose="020B0609040504020204" pitchFamily="49" charset="0"/>
              </a:rPr>
              <a:t>syncthreads</a:t>
            </a:r>
            <a:r>
              <a:rPr lang="en-US" sz="1400" dirty="0">
                <a:solidFill>
                  <a:prstClr val="black"/>
                </a:solidFill>
                <a:latin typeface="Lucida Console" panose="020B0609040504020204" pitchFamily="49" charset="0"/>
              </a:rPr>
              <a:t>();</a:t>
            </a:r>
          </a:p>
          <a:p>
            <a:endParaRPr lang="en-US" sz="1400" dirty="0">
              <a:solidFill>
                <a:prstClr val="black"/>
              </a:solidFill>
              <a:latin typeface="Lucida Console" panose="020B0609040504020204" pitchFamily="49" charset="0"/>
            </a:endParaRPr>
          </a:p>
          <a:p>
            <a:r>
              <a:rPr lang="en-US" sz="1400" dirty="0">
                <a:solidFill>
                  <a:prstClr val="black"/>
                </a:solidFill>
                <a:latin typeface="Lucida Console" panose="020B0609040504020204" pitchFamily="49" charset="0"/>
              </a:rPr>
              <a:t>}</a:t>
            </a:r>
          </a:p>
          <a:p>
            <a:endParaRPr lang="en-US" sz="1400" dirty="0">
              <a:solidFill>
                <a:prstClr val="black"/>
              </a:solidFill>
              <a:latin typeface="Lucida Console" panose="020B0609040504020204" pitchFamily="49" charset="0"/>
            </a:endParaRPr>
          </a:p>
          <a:p>
            <a:r>
              <a:rPr lang="en-US" sz="1400" dirty="0">
                <a:solidFill>
                  <a:prstClr val="black"/>
                </a:solidFill>
                <a:latin typeface="Lucida Console" panose="020B0609040504020204" pitchFamily="49" charset="0"/>
              </a:rPr>
              <a:t>C[row*N + col] = sum;</a:t>
            </a:r>
            <a:endParaRPr lang="en-US" sz="1400" dirty="0"/>
          </a:p>
        </p:txBody>
      </p:sp>
      <p:sp>
        <p:nvSpPr>
          <p:cNvPr id="6" name="TextBox 5"/>
          <p:cNvSpPr txBox="1"/>
          <p:nvPr/>
        </p:nvSpPr>
        <p:spPr>
          <a:xfrm>
            <a:off x="5417872" y="1082198"/>
            <a:ext cx="3176895" cy="338554"/>
          </a:xfrm>
          <a:prstGeom prst="callout1">
            <a:avLst>
              <a:gd name="adj1" fmla="val 50549"/>
              <a:gd name="adj2" fmla="val 760"/>
              <a:gd name="adj3" fmla="val 48900"/>
              <a:gd name="adj4" fmla="val -19885"/>
            </a:avLst>
          </a:prstGeom>
          <a:noFill/>
          <a:ln>
            <a:solidFill>
              <a:schemeClr val="bg1">
                <a:lumMod val="50000"/>
              </a:schemeClr>
            </a:solidFill>
          </a:ln>
        </p:spPr>
        <p:txBody>
          <a:bodyPr wrap="none" rtlCol="0">
            <a:spAutoFit/>
          </a:bodyPr>
          <a:lstStyle/>
          <a:p>
            <a:pPr algn="ctr"/>
            <a:r>
              <a:rPr lang="en-US" sz="1600" dirty="0">
                <a:solidFill>
                  <a:srgbClr val="0000FF"/>
                </a:solidFill>
              </a:rPr>
              <a:t>Declare arrays in shared memory</a:t>
            </a:r>
          </a:p>
        </p:txBody>
      </p:sp>
      <p:sp>
        <p:nvSpPr>
          <p:cNvPr id="7" name="TextBox 6"/>
          <p:cNvSpPr txBox="1"/>
          <p:nvPr/>
        </p:nvSpPr>
        <p:spPr>
          <a:xfrm>
            <a:off x="2903726" y="3902297"/>
            <a:ext cx="5851858" cy="338554"/>
          </a:xfrm>
          <a:prstGeom prst="callout1">
            <a:avLst>
              <a:gd name="adj1" fmla="val 50549"/>
              <a:gd name="adj2" fmla="val 760"/>
              <a:gd name="adj3" fmla="val 3472"/>
              <a:gd name="adj4" fmla="val -7650"/>
            </a:avLst>
          </a:prstGeom>
          <a:noFill/>
          <a:ln>
            <a:solidFill>
              <a:schemeClr val="bg1">
                <a:lumMod val="50000"/>
              </a:schemeClr>
            </a:solidFill>
          </a:ln>
        </p:spPr>
        <p:txBody>
          <a:bodyPr wrap="none" rtlCol="0">
            <a:spAutoFit/>
          </a:bodyPr>
          <a:lstStyle/>
          <a:p>
            <a:r>
              <a:rPr lang="en-US" sz="1600" dirty="0">
                <a:solidFill>
                  <a:srgbClr val="0000FF"/>
                </a:solidFill>
              </a:rPr>
              <a:t>Threads wait for each other to finish loading before computing</a:t>
            </a:r>
          </a:p>
        </p:txBody>
      </p:sp>
      <p:sp>
        <p:nvSpPr>
          <p:cNvPr id="8" name="TextBox 7"/>
          <p:cNvSpPr txBox="1"/>
          <p:nvPr/>
        </p:nvSpPr>
        <p:spPr>
          <a:xfrm>
            <a:off x="2903726" y="5162044"/>
            <a:ext cx="5851858" cy="338554"/>
          </a:xfrm>
          <a:prstGeom prst="callout1">
            <a:avLst>
              <a:gd name="adj1" fmla="val 50549"/>
              <a:gd name="adj2" fmla="val 760"/>
              <a:gd name="adj3" fmla="val 8015"/>
              <a:gd name="adj4" fmla="val -7650"/>
            </a:avLst>
          </a:prstGeom>
          <a:noFill/>
          <a:ln>
            <a:solidFill>
              <a:schemeClr val="bg1">
                <a:lumMod val="50000"/>
              </a:schemeClr>
            </a:solidFill>
          </a:ln>
        </p:spPr>
        <p:txBody>
          <a:bodyPr wrap="none" rtlCol="0">
            <a:spAutoFit/>
          </a:bodyPr>
          <a:lstStyle/>
          <a:p>
            <a:r>
              <a:rPr lang="en-US" sz="1600" dirty="0">
                <a:solidFill>
                  <a:srgbClr val="0000FF"/>
                </a:solidFill>
              </a:rPr>
              <a:t>Threads wait for each other to finish computing before loading</a:t>
            </a:r>
          </a:p>
        </p:txBody>
      </p:sp>
      <p:sp>
        <p:nvSpPr>
          <p:cNvPr id="9" name="TextBox 610">
            <a:extLst>
              <a:ext uri="{FF2B5EF4-FFF2-40B4-BE49-F238E27FC236}">
                <a16:creationId xmlns:a16="http://schemas.microsoft.com/office/drawing/2014/main" id="{80F48FFC-BE8F-FD49-81D6-122FEBFB86B4}"/>
              </a:ext>
            </a:extLst>
          </p:cNvPr>
          <p:cNvSpPr txBox="1">
            <a:spLocks noChangeArrowheads="1"/>
          </p:cNvSpPr>
          <p:nvPr/>
        </p:nvSpPr>
        <p:spPr bwMode="auto">
          <a:xfrm>
            <a:off x="228600" y="6541584"/>
            <a:ext cx="156164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Izzat El Hajj</a:t>
            </a:r>
          </a:p>
        </p:txBody>
      </p:sp>
      <p:sp>
        <p:nvSpPr>
          <p:cNvPr id="10" name="Slide Number Placeholder 3">
            <a:extLst>
              <a:ext uri="{FF2B5EF4-FFF2-40B4-BE49-F238E27FC236}">
                <a16:creationId xmlns:a16="http://schemas.microsoft.com/office/drawing/2014/main" id="{EE00BFFE-7828-2649-80A1-008D3EF9B04B}"/>
              </a:ext>
            </a:extLst>
          </p:cNvPr>
          <p:cNvSpPr>
            <a:spLocks noGrp="1"/>
          </p:cNvSpPr>
          <p:nvPr>
            <p:ph type="sldNum" sz="quarter" idx="11"/>
          </p:nvPr>
        </p:nvSpPr>
        <p:spPr>
          <a:xfrm>
            <a:off x="6553200" y="6243638"/>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77E7AE0-EC71-4D48-959A-8A23F1B03886}"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63</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34807323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8600" y="152400"/>
            <a:ext cx="8610600" cy="845127"/>
          </a:xfrm>
        </p:spPr>
        <p:txBody>
          <a:bodyPr anchor="ctr" anchorCtr="0"/>
          <a:lstStyle/>
          <a:p>
            <a:r>
              <a:rPr lang="en-US" dirty="0"/>
              <a:t>Agenda for Today</a:t>
            </a:r>
          </a:p>
        </p:txBody>
      </p:sp>
      <p:sp>
        <p:nvSpPr>
          <p:cNvPr id="3" name="Marcador de contenido 2"/>
          <p:cNvSpPr>
            <a:spLocks noGrp="1"/>
          </p:cNvSpPr>
          <p:nvPr>
            <p:ph idx="1"/>
          </p:nvPr>
        </p:nvSpPr>
        <p:spPr>
          <a:xfrm>
            <a:off x="228600" y="997527"/>
            <a:ext cx="8610600" cy="5193723"/>
          </a:xfrm>
        </p:spPr>
        <p:txBody>
          <a:bodyPr>
            <a:normAutofit/>
          </a:bodyPr>
          <a:lstStyle/>
          <a:p>
            <a:r>
              <a:rPr lang="en-US" altLang="zh-CN" dirty="0">
                <a:ea typeface="ヒラギノ角ゴ Pro W3" pitchFamily="-108" charset="-128"/>
                <a:cs typeface="ヒラギノ角ゴ Pro W3" pitchFamily="-108" charset="-128"/>
              </a:rPr>
              <a:t>SIMT (Hardware) &amp; Warp (Software)</a:t>
            </a:r>
            <a:r>
              <a:rPr lang="en-US" dirty="0">
                <a:ea typeface="ヒラギノ角ゴ Pro W3" pitchFamily="-108" charset="-128"/>
                <a:cs typeface="ヒラギノ角ゴ Pro W3" pitchFamily="-108" charset="-128"/>
              </a:rPr>
              <a:t> </a:t>
            </a:r>
          </a:p>
          <a:p>
            <a:pPr marL="0" indent="0">
              <a:buNone/>
            </a:pPr>
            <a:endParaRPr lang="en-US" dirty="0">
              <a:ea typeface="ヒラギノ角ゴ Pro W3" pitchFamily="-108" charset="-128"/>
              <a:cs typeface="ヒラギノ角ゴ Pro W3" pitchFamily="-108" charset="-128"/>
            </a:endParaRPr>
          </a:p>
          <a:p>
            <a:r>
              <a:rPr lang="en-US" altLang="zh-CN" dirty="0">
                <a:ea typeface="ヒラギノ角ゴ Pro W3" pitchFamily="-108" charset="-128"/>
              </a:rPr>
              <a:t>Optimization of Memory System </a:t>
            </a:r>
          </a:p>
          <a:p>
            <a:pPr lvl="1"/>
            <a:r>
              <a:rPr lang="en-US" dirty="0">
                <a:ea typeface="ヒラギノ角ゴ Pro W3" pitchFamily="-108" charset="-128"/>
                <a:cs typeface="ヒラギノ角ゴ Pro W3" pitchFamily="-108" charset="-128"/>
              </a:rPr>
              <a:t>Multi-threading</a:t>
            </a:r>
          </a:p>
          <a:p>
            <a:pPr lvl="1"/>
            <a:r>
              <a:rPr lang="en-US" dirty="0">
                <a:ea typeface="ヒラギノ角ゴ Pro W3" pitchFamily="-108" charset="-128"/>
                <a:cs typeface="ヒラギノ角ゴ Pro W3" pitchFamily="-108" charset="-128"/>
              </a:rPr>
              <a:t>Memory Coalescing</a:t>
            </a:r>
          </a:p>
          <a:p>
            <a:pPr lvl="1"/>
            <a:r>
              <a:rPr lang="en-US" dirty="0">
                <a:ea typeface="ヒラギノ角ゴ Pro W3" pitchFamily="-108" charset="-128"/>
                <a:cs typeface="ヒラギノ角ゴ Pro W3" pitchFamily="-108" charset="-128"/>
              </a:rPr>
              <a:t>Shared Memory</a:t>
            </a:r>
          </a:p>
          <a:p>
            <a:pPr lvl="1"/>
            <a:endParaRPr lang="en-US" dirty="0">
              <a:ea typeface="ヒラギノ角ゴ Pro W3" pitchFamily="-108" charset="-128"/>
              <a:cs typeface="ヒラギノ角ゴ Pro W3" pitchFamily="-108" charset="-128"/>
            </a:endParaRPr>
          </a:p>
          <a:p>
            <a:r>
              <a:rPr lang="en-US" altLang="zh-CN" dirty="0">
                <a:solidFill>
                  <a:srgbClr val="0432FF"/>
                </a:solidFill>
                <a:ea typeface="ヒラギノ角ゴ Pro W3" pitchFamily="-108" charset="-128"/>
                <a:cs typeface="ヒラギノ角ゴ Pro W3" pitchFamily="-108" charset="-128"/>
              </a:rPr>
              <a:t>SIMT Efficiency</a:t>
            </a:r>
          </a:p>
          <a:p>
            <a:pPr lvl="1"/>
            <a:r>
              <a:rPr lang="en-US" altLang="zh-CN" dirty="0">
                <a:solidFill>
                  <a:srgbClr val="0432FF"/>
                </a:solidFill>
                <a:ea typeface="ヒラギノ角ゴ Pro W3" pitchFamily="-108" charset="-128"/>
                <a:cs typeface="ヒラギノ角ゴ Pro W3" pitchFamily="-108" charset="-128"/>
              </a:rPr>
              <a:t>Divergency</a:t>
            </a:r>
          </a:p>
          <a:p>
            <a:pPr lvl="1"/>
            <a:r>
              <a:rPr lang="en-US" altLang="zh-CN" dirty="0">
                <a:ea typeface="ヒラギノ角ゴ Pro W3" pitchFamily="-108" charset="-128"/>
                <a:cs typeface="ヒラギノ角ゴ Pro W3" pitchFamily="-108" charset="-128"/>
              </a:rPr>
              <a:t>Atomic</a:t>
            </a:r>
          </a:p>
          <a:p>
            <a:pPr lvl="1"/>
            <a:r>
              <a:rPr lang="en-US" altLang="zh-CN" dirty="0">
                <a:ea typeface="ヒラギノ角ゴ Pro W3" pitchFamily="-108" charset="-128"/>
                <a:cs typeface="ヒラギノ角ゴ Pro W3" pitchFamily="-108" charset="-128"/>
              </a:rPr>
              <a:t>CPU-GPU Transfer</a:t>
            </a:r>
          </a:p>
          <a:p>
            <a:pPr lvl="1"/>
            <a:endParaRPr lang="en-US" dirty="0">
              <a:ea typeface="ヒラギノ角ゴ Pro W3" pitchFamily="-108" charset="-128"/>
              <a:cs typeface="ヒラギノ角ゴ Pro W3" pitchFamily="-108" charset="-128"/>
            </a:endParaRPr>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64</a:t>
            </a:fld>
            <a:endParaRPr lang="en-US" altLang="en-US"/>
          </a:p>
        </p:txBody>
      </p:sp>
      <p:sp>
        <p:nvSpPr>
          <p:cNvPr id="5" name="Rectangle 4">
            <a:extLst>
              <a:ext uri="{FF2B5EF4-FFF2-40B4-BE49-F238E27FC236}">
                <a16:creationId xmlns:a16="http://schemas.microsoft.com/office/drawing/2014/main" id="{3EAB8116-126C-5648-BEF0-E6606F73B7C9}"/>
              </a:ext>
            </a:extLst>
          </p:cNvPr>
          <p:cNvSpPr>
            <a:spLocks noChangeArrowheads="1"/>
          </p:cNvSpPr>
          <p:nvPr/>
        </p:nvSpPr>
        <p:spPr bwMode="auto">
          <a:xfrm>
            <a:off x="152400" y="3886200"/>
            <a:ext cx="5410200" cy="914400"/>
          </a:xfrm>
          <a:prstGeom prst="rect">
            <a:avLst/>
          </a:prstGeom>
          <a:noFill/>
          <a:ln w="38100">
            <a:solidFill>
              <a:srgbClr val="FF0000"/>
            </a:solidFill>
            <a:miter lim="800000"/>
            <a:headEnd/>
            <a:tailEnd/>
          </a:ln>
          <a:effectLst>
            <a:outerShdw blurRad="63500" dist="23000" dir="5400000" rotWithShape="0">
              <a:srgbClr val="000000">
                <a:alpha val="34998"/>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Tahoma" charset="0"/>
              <a:ea typeface="ＭＳ Ｐゴシック" charset="-128"/>
              <a:cs typeface="+mn-cs"/>
            </a:endParaRPr>
          </a:p>
        </p:txBody>
      </p:sp>
    </p:spTree>
    <p:extLst>
      <p:ext uri="{BB962C8B-B14F-4D97-AF65-F5344CB8AC3E}">
        <p14:creationId xmlns:p14="http://schemas.microsoft.com/office/powerpoint/2010/main" val="1801650690"/>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itle 1">
            <a:extLst>
              <a:ext uri="{FF2B5EF4-FFF2-40B4-BE49-F238E27FC236}">
                <a16:creationId xmlns:a16="http://schemas.microsoft.com/office/drawing/2014/main" id="{3F3BEF55-502B-E543-9F01-780C791BF653}"/>
              </a:ext>
            </a:extLst>
          </p:cNvPr>
          <p:cNvSpPr>
            <a:spLocks noGrp="1"/>
          </p:cNvSpPr>
          <p:nvPr>
            <p:ph type="title"/>
          </p:nvPr>
        </p:nvSpPr>
        <p:spPr/>
        <p:txBody>
          <a:bodyPr/>
          <a:lstStyle/>
          <a:p>
            <a:r>
              <a:rPr lang="en-US" altLang="en-US" sz="3000" dirty="0">
                <a:ea typeface="ＭＳ Ｐゴシック" panose="020B0600070205080204" pitchFamily="34" charset="-128"/>
              </a:rPr>
              <a:t>Threads Can Take Different Paths in Warp-based SIMT</a:t>
            </a:r>
          </a:p>
        </p:txBody>
      </p:sp>
      <p:sp>
        <p:nvSpPr>
          <p:cNvPr id="74754" name="Content Placeholder 2">
            <a:extLst>
              <a:ext uri="{FF2B5EF4-FFF2-40B4-BE49-F238E27FC236}">
                <a16:creationId xmlns:a16="http://schemas.microsoft.com/office/drawing/2014/main" id="{A839ED51-1224-694E-8165-46E0370E3B58}"/>
              </a:ext>
            </a:extLst>
          </p:cNvPr>
          <p:cNvSpPr>
            <a:spLocks noGrp="1"/>
          </p:cNvSpPr>
          <p:nvPr>
            <p:ph idx="1"/>
          </p:nvPr>
        </p:nvSpPr>
        <p:spPr>
          <a:xfrm>
            <a:off x="228600" y="996950"/>
            <a:ext cx="8610600" cy="5194300"/>
          </a:xfrm>
        </p:spPr>
        <p:txBody>
          <a:bodyPr/>
          <a:lstStyle/>
          <a:p>
            <a:r>
              <a:rPr lang="en-CA" altLang="en-US" dirty="0">
                <a:latin typeface="Arial  " charset="0"/>
                <a:ea typeface="ＭＳ Ｐゴシック" panose="020B0600070205080204" pitchFamily="34" charset="-128"/>
              </a:rPr>
              <a:t>Each thread can have </a:t>
            </a:r>
            <a:r>
              <a:rPr lang="en-CA" altLang="en-US" dirty="0">
                <a:solidFill>
                  <a:srgbClr val="0432FF"/>
                </a:solidFill>
                <a:latin typeface="Arial  " charset="0"/>
                <a:ea typeface="ＭＳ Ｐゴシック" panose="020B0600070205080204" pitchFamily="34" charset="-128"/>
              </a:rPr>
              <a:t>conditional control flow instructions</a:t>
            </a:r>
          </a:p>
          <a:p>
            <a:r>
              <a:rPr lang="en-CA" altLang="en-US" dirty="0">
                <a:latin typeface="Arial  " charset="0"/>
                <a:ea typeface="ＭＳ Ｐゴシック" panose="020B0600070205080204" pitchFamily="34" charset="-128"/>
              </a:rPr>
              <a:t>Threads can execute different control flow paths</a:t>
            </a:r>
            <a:endParaRPr lang="en-US" altLang="en-US" dirty="0">
              <a:ea typeface="ＭＳ Ｐゴシック" panose="020B0600070205080204" pitchFamily="34" charset="-128"/>
            </a:endParaRPr>
          </a:p>
        </p:txBody>
      </p:sp>
      <p:sp>
        <p:nvSpPr>
          <p:cNvPr id="74755" name="Slide Number Placeholder 3">
            <a:extLst>
              <a:ext uri="{FF2B5EF4-FFF2-40B4-BE49-F238E27FC236}">
                <a16:creationId xmlns:a16="http://schemas.microsoft.com/office/drawing/2014/main" id="{72F8444A-20B4-8A42-868D-CA95820175C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5594703-842D-BE41-9AF0-496458107D79}"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65</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grpSp>
        <p:nvGrpSpPr>
          <p:cNvPr id="2" name="Group 82">
            <a:extLst>
              <a:ext uri="{FF2B5EF4-FFF2-40B4-BE49-F238E27FC236}">
                <a16:creationId xmlns:a16="http://schemas.microsoft.com/office/drawing/2014/main" id="{4A5C4837-71FF-2E4E-9013-32E87F3F4D6B}"/>
              </a:ext>
            </a:extLst>
          </p:cNvPr>
          <p:cNvGrpSpPr>
            <a:grpSpLocks/>
          </p:cNvGrpSpPr>
          <p:nvPr/>
        </p:nvGrpSpPr>
        <p:grpSpPr bwMode="auto">
          <a:xfrm>
            <a:off x="3957638" y="3409950"/>
            <a:ext cx="4648200" cy="1143000"/>
            <a:chOff x="2541" y="1241"/>
            <a:chExt cx="2928" cy="720"/>
          </a:xfrm>
        </p:grpSpPr>
        <p:sp>
          <p:nvSpPr>
            <p:cNvPr id="74785" name="Rectangle 74">
              <a:extLst>
                <a:ext uri="{FF2B5EF4-FFF2-40B4-BE49-F238E27FC236}">
                  <a16:creationId xmlns:a16="http://schemas.microsoft.com/office/drawing/2014/main" id="{8236E1DA-53F3-A444-A813-1BBC3830D609}"/>
                </a:ext>
              </a:extLst>
            </p:cNvPr>
            <p:cNvSpPr>
              <a:spLocks noChangeArrowheads="1"/>
            </p:cNvSpPr>
            <p:nvPr/>
          </p:nvSpPr>
          <p:spPr bwMode="auto">
            <a:xfrm>
              <a:off x="2541" y="1241"/>
              <a:ext cx="2928" cy="720"/>
            </a:xfrm>
            <a:prstGeom prst="rect">
              <a:avLst/>
            </a:prstGeom>
            <a:solidFill>
              <a:srgbClr val="FFBFDF"/>
            </a:solidFill>
            <a:ln w="19050">
              <a:solidFill>
                <a:schemeClr val="tx1"/>
              </a:solidFill>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4786" name="Rectangle 75">
              <a:extLst>
                <a:ext uri="{FF2B5EF4-FFF2-40B4-BE49-F238E27FC236}">
                  <a16:creationId xmlns:a16="http://schemas.microsoft.com/office/drawing/2014/main" id="{0052BC61-4A95-E54C-94F7-DD90700CE71C}"/>
                </a:ext>
              </a:extLst>
            </p:cNvPr>
            <p:cNvSpPr>
              <a:spLocks noChangeArrowheads="1"/>
            </p:cNvSpPr>
            <p:nvPr/>
          </p:nvSpPr>
          <p:spPr bwMode="auto">
            <a:xfrm>
              <a:off x="2605" y="1280"/>
              <a:ext cx="757"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Thread Warp</a:t>
              </a:r>
            </a:p>
          </p:txBody>
        </p:sp>
        <p:sp>
          <p:nvSpPr>
            <p:cNvPr id="74787" name="Rectangle 76">
              <a:extLst>
                <a:ext uri="{FF2B5EF4-FFF2-40B4-BE49-F238E27FC236}">
                  <a16:creationId xmlns:a16="http://schemas.microsoft.com/office/drawing/2014/main" id="{EC2FC70C-F923-0B41-9A5E-2D48D04E63BF}"/>
                </a:ext>
              </a:extLst>
            </p:cNvPr>
            <p:cNvSpPr>
              <a:spLocks noChangeArrowheads="1"/>
            </p:cNvSpPr>
            <p:nvPr/>
          </p:nvSpPr>
          <p:spPr bwMode="auto">
            <a:xfrm>
              <a:off x="4438" y="1241"/>
              <a:ext cx="1031" cy="203"/>
            </a:xfrm>
            <a:prstGeom prst="rect">
              <a:avLst/>
            </a:prstGeom>
            <a:solidFill>
              <a:srgbClr val="FFEAF4"/>
            </a:solidFill>
            <a:ln w="19050">
              <a:solidFill>
                <a:schemeClr val="tx1"/>
              </a:solidFill>
              <a:miter lim="800000"/>
              <a:headEnd/>
              <a:tailEnd/>
            </a:ln>
          </p:spPr>
          <p:txBody>
            <a:bodyPr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Common PC</a:t>
              </a:r>
            </a:p>
          </p:txBody>
        </p:sp>
      </p:grpSp>
      <p:sp>
        <p:nvSpPr>
          <p:cNvPr id="9" name="Rectangle 51">
            <a:extLst>
              <a:ext uri="{FF2B5EF4-FFF2-40B4-BE49-F238E27FC236}">
                <a16:creationId xmlns:a16="http://schemas.microsoft.com/office/drawing/2014/main" id="{727E6ED2-739B-2C4C-8F3D-319CDAC8C57C}"/>
              </a:ext>
            </a:extLst>
          </p:cNvPr>
          <p:cNvSpPr>
            <a:spLocks noChangeArrowheads="1"/>
          </p:cNvSpPr>
          <p:nvPr/>
        </p:nvSpPr>
        <p:spPr bwMode="auto">
          <a:xfrm>
            <a:off x="5378450" y="3910013"/>
            <a:ext cx="838200" cy="533400"/>
          </a:xfrm>
          <a:prstGeom prst="rect">
            <a:avLst/>
          </a:prstGeom>
          <a:solidFill>
            <a:srgbClr val="FFEAF4"/>
          </a:solidFill>
          <a:ln w="17526" cap="rnd">
            <a:solidFill>
              <a:srgbClr val="000000"/>
            </a:solidFill>
            <a:round/>
            <a:headEnd/>
            <a:tailEnd/>
          </a:ln>
        </p:spPr>
        <p:txBody>
          <a:bodyPr lIns="0" rIns="0"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Thread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2</a:t>
            </a:r>
          </a:p>
        </p:txBody>
      </p:sp>
      <p:sp>
        <p:nvSpPr>
          <p:cNvPr id="10" name="Rectangle 52">
            <a:extLst>
              <a:ext uri="{FF2B5EF4-FFF2-40B4-BE49-F238E27FC236}">
                <a16:creationId xmlns:a16="http://schemas.microsoft.com/office/drawing/2014/main" id="{87A7D427-C3D7-D540-ADB6-4697BD2E87F4}"/>
              </a:ext>
            </a:extLst>
          </p:cNvPr>
          <p:cNvSpPr>
            <a:spLocks noChangeArrowheads="1"/>
          </p:cNvSpPr>
          <p:nvPr/>
        </p:nvSpPr>
        <p:spPr bwMode="auto">
          <a:xfrm>
            <a:off x="6223000" y="3910013"/>
            <a:ext cx="838200" cy="533400"/>
          </a:xfrm>
          <a:prstGeom prst="rect">
            <a:avLst/>
          </a:prstGeom>
          <a:solidFill>
            <a:srgbClr val="FFEAF4"/>
          </a:solidFill>
          <a:ln w="17526" cap="rnd">
            <a:solidFill>
              <a:srgbClr val="000000"/>
            </a:solidFill>
            <a:round/>
            <a:headEnd/>
            <a:tailEnd/>
          </a:ln>
        </p:spPr>
        <p:txBody>
          <a:bodyPr lIns="0" rIns="0"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Thread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3</a:t>
            </a:r>
          </a:p>
        </p:txBody>
      </p:sp>
      <p:sp>
        <p:nvSpPr>
          <p:cNvPr id="11" name="Rectangle 53">
            <a:extLst>
              <a:ext uri="{FF2B5EF4-FFF2-40B4-BE49-F238E27FC236}">
                <a16:creationId xmlns:a16="http://schemas.microsoft.com/office/drawing/2014/main" id="{93161DB7-BB89-9B45-8AC1-841CA6491E08}"/>
              </a:ext>
            </a:extLst>
          </p:cNvPr>
          <p:cNvSpPr>
            <a:spLocks noChangeArrowheads="1"/>
          </p:cNvSpPr>
          <p:nvPr/>
        </p:nvSpPr>
        <p:spPr bwMode="auto">
          <a:xfrm>
            <a:off x="7069138" y="3910013"/>
            <a:ext cx="838200" cy="533400"/>
          </a:xfrm>
          <a:prstGeom prst="rect">
            <a:avLst/>
          </a:prstGeom>
          <a:solidFill>
            <a:srgbClr val="FFEAF4"/>
          </a:solidFill>
          <a:ln w="17526" cap="rnd">
            <a:solidFill>
              <a:srgbClr val="000000"/>
            </a:solidFill>
            <a:round/>
            <a:headEnd/>
            <a:tailEnd/>
          </a:ln>
        </p:spPr>
        <p:txBody>
          <a:bodyPr lIns="0" rIns="0"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Thread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4</a:t>
            </a:r>
          </a:p>
        </p:txBody>
      </p:sp>
      <p:sp>
        <p:nvSpPr>
          <p:cNvPr id="12" name="Rectangle 55">
            <a:extLst>
              <a:ext uri="{FF2B5EF4-FFF2-40B4-BE49-F238E27FC236}">
                <a16:creationId xmlns:a16="http://schemas.microsoft.com/office/drawing/2014/main" id="{5E9AE57F-165C-994A-A781-F987CFBA8C46}"/>
              </a:ext>
            </a:extLst>
          </p:cNvPr>
          <p:cNvSpPr>
            <a:spLocks noChangeArrowheads="1"/>
          </p:cNvSpPr>
          <p:nvPr/>
        </p:nvSpPr>
        <p:spPr bwMode="auto">
          <a:xfrm>
            <a:off x="4533900" y="3910013"/>
            <a:ext cx="838200" cy="533400"/>
          </a:xfrm>
          <a:prstGeom prst="rect">
            <a:avLst/>
          </a:prstGeom>
          <a:solidFill>
            <a:srgbClr val="FFEAF4"/>
          </a:solidFill>
          <a:ln w="17526" cap="rnd">
            <a:solidFill>
              <a:srgbClr val="000000"/>
            </a:solidFill>
            <a:round/>
            <a:headEnd/>
            <a:tailEnd/>
          </a:ln>
        </p:spPr>
        <p:txBody>
          <a:bodyPr lIns="0" rIns="0"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Thread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1</a:t>
            </a:r>
          </a:p>
        </p:txBody>
      </p:sp>
      <p:grpSp>
        <p:nvGrpSpPr>
          <p:cNvPr id="74761" name="Group 85">
            <a:extLst>
              <a:ext uri="{FF2B5EF4-FFF2-40B4-BE49-F238E27FC236}">
                <a16:creationId xmlns:a16="http://schemas.microsoft.com/office/drawing/2014/main" id="{914A5AA1-2167-FE44-A7DE-1A767E43CA68}"/>
              </a:ext>
            </a:extLst>
          </p:cNvPr>
          <p:cNvGrpSpPr>
            <a:grpSpLocks/>
          </p:cNvGrpSpPr>
          <p:nvPr/>
        </p:nvGrpSpPr>
        <p:grpSpPr bwMode="auto">
          <a:xfrm>
            <a:off x="1076325" y="2897188"/>
            <a:ext cx="2509838" cy="2689225"/>
            <a:chOff x="678" y="1595"/>
            <a:chExt cx="1581" cy="1694"/>
          </a:xfrm>
        </p:grpSpPr>
        <p:sp>
          <p:nvSpPr>
            <p:cNvPr id="74769" name="Rectangle 6">
              <a:extLst>
                <a:ext uri="{FF2B5EF4-FFF2-40B4-BE49-F238E27FC236}">
                  <a16:creationId xmlns:a16="http://schemas.microsoft.com/office/drawing/2014/main" id="{837DF8B7-D6D8-CD4B-809A-4F1905C5DDEA}"/>
                </a:ext>
              </a:extLst>
            </p:cNvPr>
            <p:cNvSpPr>
              <a:spLocks noChangeArrowheads="1"/>
            </p:cNvSpPr>
            <p:nvPr/>
          </p:nvSpPr>
          <p:spPr bwMode="auto">
            <a:xfrm>
              <a:off x="945" y="2039"/>
              <a:ext cx="468" cy="177"/>
            </a:xfrm>
            <a:prstGeom prst="rect">
              <a:avLst/>
            </a:prstGeom>
            <a:solidFill>
              <a:srgbClr val="CCCCFF"/>
            </a:solidFill>
            <a:ln w="28575">
              <a:solidFill>
                <a:schemeClr val="tx1"/>
              </a:solidFill>
              <a:miter lim="800000"/>
              <a:headEnd/>
              <a:tailEnd/>
            </a:ln>
          </p:spPr>
          <p:txBody>
            <a:bodyPr lIns="0" tIns="0" rIns="0" bIns="0"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B</a:t>
              </a:r>
            </a:p>
          </p:txBody>
        </p:sp>
        <p:sp>
          <p:nvSpPr>
            <p:cNvPr id="74770" name="Rectangle 9">
              <a:extLst>
                <a:ext uri="{FF2B5EF4-FFF2-40B4-BE49-F238E27FC236}">
                  <a16:creationId xmlns:a16="http://schemas.microsoft.com/office/drawing/2014/main" id="{3E16413C-DD03-004C-B199-CF661F508579}"/>
                </a:ext>
              </a:extLst>
            </p:cNvPr>
            <p:cNvSpPr>
              <a:spLocks noChangeArrowheads="1"/>
            </p:cNvSpPr>
            <p:nvPr/>
          </p:nvSpPr>
          <p:spPr bwMode="auto">
            <a:xfrm>
              <a:off x="678" y="2378"/>
              <a:ext cx="468" cy="171"/>
            </a:xfrm>
            <a:prstGeom prst="rect">
              <a:avLst/>
            </a:prstGeom>
            <a:solidFill>
              <a:srgbClr val="CCCCFF"/>
            </a:solidFill>
            <a:ln w="28575">
              <a:solidFill>
                <a:schemeClr val="tx1"/>
              </a:solidFill>
              <a:miter lim="800000"/>
              <a:headEnd/>
              <a:tailEnd/>
            </a:ln>
          </p:spPr>
          <p:txBody>
            <a:bodyPr lIns="0" tIns="0" rIns="0" bIns="0"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C</a:t>
              </a:r>
            </a:p>
          </p:txBody>
        </p:sp>
        <p:sp>
          <p:nvSpPr>
            <p:cNvPr id="74771" name="Rectangle 12">
              <a:extLst>
                <a:ext uri="{FF2B5EF4-FFF2-40B4-BE49-F238E27FC236}">
                  <a16:creationId xmlns:a16="http://schemas.microsoft.com/office/drawing/2014/main" id="{9E3F5993-FB94-7C4C-9FE7-D604A257CFE4}"/>
                </a:ext>
              </a:extLst>
            </p:cNvPr>
            <p:cNvSpPr>
              <a:spLocks noChangeArrowheads="1"/>
            </p:cNvSpPr>
            <p:nvPr/>
          </p:nvSpPr>
          <p:spPr bwMode="auto">
            <a:xfrm>
              <a:off x="1235" y="2378"/>
              <a:ext cx="465" cy="171"/>
            </a:xfrm>
            <a:prstGeom prst="rect">
              <a:avLst/>
            </a:prstGeom>
            <a:solidFill>
              <a:srgbClr val="CCCCFF"/>
            </a:solidFill>
            <a:ln w="28575">
              <a:solidFill>
                <a:schemeClr val="tx1"/>
              </a:solidFill>
              <a:miter lim="800000"/>
              <a:headEnd/>
              <a:tailEnd/>
            </a:ln>
          </p:spPr>
          <p:txBody>
            <a:bodyPr lIns="0" tIns="0" rIns="0" bIns="0"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
              </a:r>
            </a:p>
          </p:txBody>
        </p:sp>
        <p:sp>
          <p:nvSpPr>
            <p:cNvPr id="74772" name="Rectangle 15">
              <a:extLst>
                <a:ext uri="{FF2B5EF4-FFF2-40B4-BE49-F238E27FC236}">
                  <a16:creationId xmlns:a16="http://schemas.microsoft.com/office/drawing/2014/main" id="{95367880-E8B2-FA4B-9B7B-D175C7949978}"/>
                </a:ext>
              </a:extLst>
            </p:cNvPr>
            <p:cNvSpPr>
              <a:spLocks noChangeArrowheads="1"/>
            </p:cNvSpPr>
            <p:nvPr/>
          </p:nvSpPr>
          <p:spPr bwMode="auto">
            <a:xfrm>
              <a:off x="945" y="2765"/>
              <a:ext cx="468" cy="177"/>
            </a:xfrm>
            <a:prstGeom prst="rect">
              <a:avLst/>
            </a:prstGeom>
            <a:solidFill>
              <a:srgbClr val="CCCCFF"/>
            </a:solidFill>
            <a:ln w="28575">
              <a:solidFill>
                <a:schemeClr val="tx1"/>
              </a:solidFill>
              <a:miter lim="800000"/>
              <a:headEnd/>
              <a:tailEnd/>
            </a:ln>
          </p:spPr>
          <p:txBody>
            <a:bodyPr lIns="0" tIns="0" rIns="0" bIns="0"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4773" name="Rectangle 30">
              <a:extLst>
                <a:ext uri="{FF2B5EF4-FFF2-40B4-BE49-F238E27FC236}">
                  <a16:creationId xmlns:a16="http://schemas.microsoft.com/office/drawing/2014/main" id="{D51F234D-E135-8E4F-9179-EEDF2F117604}"/>
                </a:ext>
              </a:extLst>
            </p:cNvPr>
            <p:cNvSpPr>
              <a:spLocks noChangeArrowheads="1"/>
            </p:cNvSpPr>
            <p:nvPr/>
          </p:nvSpPr>
          <p:spPr bwMode="auto">
            <a:xfrm>
              <a:off x="1791" y="2378"/>
              <a:ext cx="468" cy="177"/>
            </a:xfrm>
            <a:prstGeom prst="rect">
              <a:avLst/>
            </a:prstGeom>
            <a:solidFill>
              <a:srgbClr val="CCCCFF"/>
            </a:solidFill>
            <a:ln w="28575">
              <a:solidFill>
                <a:schemeClr val="tx1"/>
              </a:solidFill>
              <a:miter lim="800000"/>
              <a:headEnd/>
              <a:tailEnd/>
            </a:ln>
          </p:spPr>
          <p:txBody>
            <a:bodyPr lIns="0" tIns="0" rIns="0" bIns="0"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t>
              </a:r>
            </a:p>
          </p:txBody>
        </p:sp>
        <p:sp>
          <p:nvSpPr>
            <p:cNvPr id="74774" name="Rectangle 33">
              <a:extLst>
                <a:ext uri="{FF2B5EF4-FFF2-40B4-BE49-F238E27FC236}">
                  <a16:creationId xmlns:a16="http://schemas.microsoft.com/office/drawing/2014/main" id="{88378157-71C8-D847-9B08-8E42C830B59D}"/>
                </a:ext>
              </a:extLst>
            </p:cNvPr>
            <p:cNvSpPr>
              <a:spLocks noChangeArrowheads="1"/>
            </p:cNvSpPr>
            <p:nvPr/>
          </p:nvSpPr>
          <p:spPr bwMode="auto">
            <a:xfrm>
              <a:off x="1235" y="1604"/>
              <a:ext cx="468" cy="175"/>
            </a:xfrm>
            <a:prstGeom prst="rect">
              <a:avLst/>
            </a:prstGeom>
            <a:solidFill>
              <a:srgbClr val="CCCCFF"/>
            </a:solidFill>
            <a:ln w="28575">
              <a:solidFill>
                <a:schemeClr val="tx1"/>
              </a:solidFill>
              <a:miter lim="800000"/>
              <a:headEnd/>
              <a:tailEnd/>
            </a:ln>
          </p:spPr>
          <p:txBody>
            <a:bodyPr lIns="0" tIns="0" rIns="0" bIns="0"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a:t>
              </a:r>
            </a:p>
          </p:txBody>
        </p:sp>
        <p:sp>
          <p:nvSpPr>
            <p:cNvPr id="74775" name="Rectangle 40">
              <a:extLst>
                <a:ext uri="{FF2B5EF4-FFF2-40B4-BE49-F238E27FC236}">
                  <a16:creationId xmlns:a16="http://schemas.microsoft.com/office/drawing/2014/main" id="{90F2C1E3-C969-4445-9FBD-D9F714BE8EB4}"/>
                </a:ext>
              </a:extLst>
            </p:cNvPr>
            <p:cNvSpPr>
              <a:spLocks noChangeArrowheads="1"/>
            </p:cNvSpPr>
            <p:nvPr/>
          </p:nvSpPr>
          <p:spPr bwMode="auto">
            <a:xfrm>
              <a:off x="1235" y="3104"/>
              <a:ext cx="468" cy="176"/>
            </a:xfrm>
            <a:prstGeom prst="rect">
              <a:avLst/>
            </a:prstGeom>
            <a:solidFill>
              <a:srgbClr val="CCCCFF"/>
            </a:solidFill>
            <a:ln w="28575">
              <a:solidFill>
                <a:schemeClr val="tx1"/>
              </a:solidFill>
              <a:miter lim="800000"/>
              <a:headEnd/>
              <a:tailEnd/>
            </a:ln>
          </p:spPr>
          <p:txBody>
            <a:bodyPr lIns="0" tIns="0" rIns="0" bIns="0"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G</a:t>
              </a:r>
            </a:p>
          </p:txBody>
        </p:sp>
        <p:cxnSp>
          <p:nvCxnSpPr>
            <p:cNvPr id="74776" name="AutoShape 57">
              <a:extLst>
                <a:ext uri="{FF2B5EF4-FFF2-40B4-BE49-F238E27FC236}">
                  <a16:creationId xmlns:a16="http://schemas.microsoft.com/office/drawing/2014/main" id="{F5C053E1-AF72-C24C-BB1C-031260F70332}"/>
                </a:ext>
              </a:extLst>
            </p:cNvPr>
            <p:cNvCxnSpPr>
              <a:cxnSpLocks noChangeShapeType="1"/>
              <a:stCxn id="74769" idx="2"/>
              <a:endCxn id="74771" idx="0"/>
            </p:cNvCxnSpPr>
            <p:nvPr/>
          </p:nvCxnSpPr>
          <p:spPr bwMode="auto">
            <a:xfrm>
              <a:off x="1179" y="2225"/>
              <a:ext cx="289" cy="144"/>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74777" name="AutoShape 58">
              <a:extLst>
                <a:ext uri="{FF2B5EF4-FFF2-40B4-BE49-F238E27FC236}">
                  <a16:creationId xmlns:a16="http://schemas.microsoft.com/office/drawing/2014/main" id="{D9C066DE-AF73-A344-9684-E2505451F55B}"/>
                </a:ext>
              </a:extLst>
            </p:cNvPr>
            <p:cNvCxnSpPr>
              <a:cxnSpLocks noChangeShapeType="1"/>
              <a:stCxn id="74769" idx="2"/>
              <a:endCxn id="74770" idx="0"/>
            </p:cNvCxnSpPr>
            <p:nvPr/>
          </p:nvCxnSpPr>
          <p:spPr bwMode="auto">
            <a:xfrm flipH="1">
              <a:off x="912" y="2225"/>
              <a:ext cx="267" cy="144"/>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74778" name="AutoShape 59">
              <a:extLst>
                <a:ext uri="{FF2B5EF4-FFF2-40B4-BE49-F238E27FC236}">
                  <a16:creationId xmlns:a16="http://schemas.microsoft.com/office/drawing/2014/main" id="{530A04FE-6A55-D143-9ABB-B7A822A85ABF}"/>
                </a:ext>
              </a:extLst>
            </p:cNvPr>
            <p:cNvCxnSpPr>
              <a:cxnSpLocks noChangeShapeType="1"/>
              <a:stCxn id="74771" idx="2"/>
              <a:endCxn id="74772" idx="0"/>
            </p:cNvCxnSpPr>
            <p:nvPr/>
          </p:nvCxnSpPr>
          <p:spPr bwMode="auto">
            <a:xfrm flipH="1">
              <a:off x="1179" y="2558"/>
              <a:ext cx="289" cy="198"/>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74779" name="AutoShape 60">
              <a:extLst>
                <a:ext uri="{FF2B5EF4-FFF2-40B4-BE49-F238E27FC236}">
                  <a16:creationId xmlns:a16="http://schemas.microsoft.com/office/drawing/2014/main" id="{1010172B-CD74-F44B-8BB5-AC194BA16931}"/>
                </a:ext>
              </a:extLst>
            </p:cNvPr>
            <p:cNvCxnSpPr>
              <a:cxnSpLocks noChangeShapeType="1"/>
              <a:stCxn id="74770" idx="2"/>
              <a:endCxn id="74772" idx="0"/>
            </p:cNvCxnSpPr>
            <p:nvPr/>
          </p:nvCxnSpPr>
          <p:spPr bwMode="auto">
            <a:xfrm>
              <a:off x="912" y="2558"/>
              <a:ext cx="267" cy="198"/>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74780" name="AutoShape 61">
              <a:extLst>
                <a:ext uri="{FF2B5EF4-FFF2-40B4-BE49-F238E27FC236}">
                  <a16:creationId xmlns:a16="http://schemas.microsoft.com/office/drawing/2014/main" id="{5CABDBDD-7D02-674C-97DC-EF237F14C33F}"/>
                </a:ext>
              </a:extLst>
            </p:cNvPr>
            <p:cNvCxnSpPr>
              <a:cxnSpLocks noChangeShapeType="1"/>
              <a:stCxn id="74774" idx="2"/>
              <a:endCxn id="74773" idx="0"/>
            </p:cNvCxnSpPr>
            <p:nvPr/>
          </p:nvCxnSpPr>
          <p:spPr bwMode="auto">
            <a:xfrm>
              <a:off x="1469" y="1788"/>
              <a:ext cx="556" cy="581"/>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74781" name="AutoShape 62">
              <a:extLst>
                <a:ext uri="{FF2B5EF4-FFF2-40B4-BE49-F238E27FC236}">
                  <a16:creationId xmlns:a16="http://schemas.microsoft.com/office/drawing/2014/main" id="{4C13CC2D-0182-8242-9458-3F8869618AEA}"/>
                </a:ext>
              </a:extLst>
            </p:cNvPr>
            <p:cNvCxnSpPr>
              <a:cxnSpLocks noChangeShapeType="1"/>
              <a:stCxn id="74774" idx="2"/>
              <a:endCxn id="74769" idx="0"/>
            </p:cNvCxnSpPr>
            <p:nvPr/>
          </p:nvCxnSpPr>
          <p:spPr bwMode="auto">
            <a:xfrm flipH="1">
              <a:off x="1179" y="1788"/>
              <a:ext cx="290" cy="242"/>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74782" name="AutoShape 63">
              <a:extLst>
                <a:ext uri="{FF2B5EF4-FFF2-40B4-BE49-F238E27FC236}">
                  <a16:creationId xmlns:a16="http://schemas.microsoft.com/office/drawing/2014/main" id="{0576358E-0F8D-2640-9632-70D53F2FBA62}"/>
                </a:ext>
              </a:extLst>
            </p:cNvPr>
            <p:cNvCxnSpPr>
              <a:cxnSpLocks noChangeShapeType="1"/>
              <a:stCxn id="74773" idx="2"/>
              <a:endCxn id="74775" idx="0"/>
            </p:cNvCxnSpPr>
            <p:nvPr/>
          </p:nvCxnSpPr>
          <p:spPr bwMode="auto">
            <a:xfrm flipH="1">
              <a:off x="1469" y="2564"/>
              <a:ext cx="556" cy="531"/>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74783" name="AutoShape 64">
              <a:extLst>
                <a:ext uri="{FF2B5EF4-FFF2-40B4-BE49-F238E27FC236}">
                  <a16:creationId xmlns:a16="http://schemas.microsoft.com/office/drawing/2014/main" id="{64C1B5D6-5F07-964C-A448-E2D929FA88F7}"/>
                </a:ext>
              </a:extLst>
            </p:cNvPr>
            <p:cNvCxnSpPr>
              <a:cxnSpLocks noChangeShapeType="1"/>
              <a:stCxn id="74772" idx="2"/>
              <a:endCxn id="74775" idx="0"/>
            </p:cNvCxnSpPr>
            <p:nvPr/>
          </p:nvCxnSpPr>
          <p:spPr bwMode="auto">
            <a:xfrm>
              <a:off x="1179" y="2951"/>
              <a:ext cx="290" cy="144"/>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74784" name="AutoShape 66">
              <a:extLst>
                <a:ext uri="{FF2B5EF4-FFF2-40B4-BE49-F238E27FC236}">
                  <a16:creationId xmlns:a16="http://schemas.microsoft.com/office/drawing/2014/main" id="{9AF46694-F3A4-8F4F-867C-DDD06190CE0F}"/>
                </a:ext>
              </a:extLst>
            </p:cNvPr>
            <p:cNvCxnSpPr>
              <a:cxnSpLocks noChangeShapeType="1"/>
              <a:stCxn id="74775" idx="2"/>
              <a:endCxn id="74774" idx="0"/>
            </p:cNvCxnSpPr>
            <p:nvPr/>
          </p:nvCxnSpPr>
          <p:spPr bwMode="auto">
            <a:xfrm rot="5400000" flipH="1" flipV="1">
              <a:off x="623" y="2441"/>
              <a:ext cx="1694" cy="1"/>
            </a:xfrm>
            <a:prstGeom prst="curvedConnector5">
              <a:avLst>
                <a:gd name="adj1" fmla="val -7968"/>
                <a:gd name="adj2" fmla="val -102600000"/>
                <a:gd name="adj3" fmla="val 107968"/>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grpSp>
      <p:sp>
        <p:nvSpPr>
          <p:cNvPr id="30" name="Freeform 68">
            <a:extLst>
              <a:ext uri="{FF2B5EF4-FFF2-40B4-BE49-F238E27FC236}">
                <a16:creationId xmlns:a16="http://schemas.microsoft.com/office/drawing/2014/main" id="{9A52064D-79A0-C54F-B09B-845B0D368C19}"/>
              </a:ext>
            </a:extLst>
          </p:cNvPr>
          <p:cNvSpPr>
            <a:spLocks/>
          </p:cNvSpPr>
          <p:nvPr/>
        </p:nvSpPr>
        <p:spPr bwMode="auto">
          <a:xfrm>
            <a:off x="1422400" y="3063875"/>
            <a:ext cx="852488" cy="2419350"/>
          </a:xfrm>
          <a:custGeom>
            <a:avLst/>
            <a:gdLst>
              <a:gd name="T0" fmla="*/ 2147483647 w 537"/>
              <a:gd name="T1" fmla="*/ 0 h 1524"/>
              <a:gd name="T2" fmla="*/ 2147483647 w 537"/>
              <a:gd name="T3" fmla="*/ 2147483647 h 1524"/>
              <a:gd name="T4" fmla="*/ 2147483647 w 537"/>
              <a:gd name="T5" fmla="*/ 2147483647 h 1524"/>
              <a:gd name="T6" fmla="*/ 2147483647 w 537"/>
              <a:gd name="T7" fmla="*/ 2147483647 h 1524"/>
              <a:gd name="T8" fmla="*/ 2147483647 w 537"/>
              <a:gd name="T9" fmla="*/ 2147483647 h 1524"/>
              <a:gd name="T10" fmla="*/ 0 60000 65536"/>
              <a:gd name="T11" fmla="*/ 0 60000 65536"/>
              <a:gd name="T12" fmla="*/ 0 60000 65536"/>
              <a:gd name="T13" fmla="*/ 0 60000 65536"/>
              <a:gd name="T14" fmla="*/ 0 60000 65536"/>
              <a:gd name="T15" fmla="*/ 0 w 537"/>
              <a:gd name="T16" fmla="*/ 0 h 1524"/>
              <a:gd name="T17" fmla="*/ 537 w 537"/>
              <a:gd name="T18" fmla="*/ 1524 h 1524"/>
            </a:gdLst>
            <a:ahLst/>
            <a:cxnLst>
              <a:cxn ang="T10">
                <a:pos x="T0" y="T1"/>
              </a:cxn>
              <a:cxn ang="T11">
                <a:pos x="T2" y="T3"/>
              </a:cxn>
              <a:cxn ang="T12">
                <a:pos x="T4" y="T5"/>
              </a:cxn>
              <a:cxn ang="T13">
                <a:pos x="T6" y="T7"/>
              </a:cxn>
              <a:cxn ang="T14">
                <a:pos x="T8" y="T9"/>
              </a:cxn>
            </a:cxnLst>
            <a:rect l="T15" t="T16" r="T17" b="T18"/>
            <a:pathLst>
              <a:path w="537" h="1524">
                <a:moveTo>
                  <a:pt x="537" y="0"/>
                </a:moveTo>
                <a:cubicBezTo>
                  <a:pt x="436" y="153"/>
                  <a:pt x="335" y="307"/>
                  <a:pt x="246" y="436"/>
                </a:cubicBezTo>
                <a:cubicBezTo>
                  <a:pt x="157" y="565"/>
                  <a:pt x="8" y="649"/>
                  <a:pt x="4" y="774"/>
                </a:cubicBezTo>
                <a:cubicBezTo>
                  <a:pt x="0" y="899"/>
                  <a:pt x="133" y="1061"/>
                  <a:pt x="222" y="1186"/>
                </a:cubicBezTo>
                <a:cubicBezTo>
                  <a:pt x="311" y="1311"/>
                  <a:pt x="424" y="1417"/>
                  <a:pt x="537" y="1524"/>
                </a:cubicBezTo>
              </a:path>
            </a:pathLst>
          </a:custGeom>
          <a:noFill/>
          <a:ln w="381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 name="Freeform 71">
            <a:extLst>
              <a:ext uri="{FF2B5EF4-FFF2-40B4-BE49-F238E27FC236}">
                <a16:creationId xmlns:a16="http://schemas.microsoft.com/office/drawing/2014/main" id="{640A71CC-2AF4-4C41-B37D-9E50F2472EF5}"/>
              </a:ext>
            </a:extLst>
          </p:cNvPr>
          <p:cNvSpPr>
            <a:spLocks/>
          </p:cNvSpPr>
          <p:nvPr/>
        </p:nvSpPr>
        <p:spPr bwMode="auto">
          <a:xfrm>
            <a:off x="1844675" y="3063875"/>
            <a:ext cx="468313" cy="2381250"/>
          </a:xfrm>
          <a:custGeom>
            <a:avLst/>
            <a:gdLst>
              <a:gd name="T0" fmla="*/ 2147483647 w 295"/>
              <a:gd name="T1" fmla="*/ 0 h 1500"/>
              <a:gd name="T2" fmla="*/ 0 w 295"/>
              <a:gd name="T3" fmla="*/ 2147483647 h 1500"/>
              <a:gd name="T4" fmla="*/ 2147483647 w 295"/>
              <a:gd name="T5" fmla="*/ 2147483647 h 1500"/>
              <a:gd name="T6" fmla="*/ 2147483647 w 295"/>
              <a:gd name="T7" fmla="*/ 2147483647 h 1500"/>
              <a:gd name="T8" fmla="*/ 2147483647 w 295"/>
              <a:gd name="T9" fmla="*/ 2147483647 h 1500"/>
              <a:gd name="T10" fmla="*/ 0 60000 65536"/>
              <a:gd name="T11" fmla="*/ 0 60000 65536"/>
              <a:gd name="T12" fmla="*/ 0 60000 65536"/>
              <a:gd name="T13" fmla="*/ 0 60000 65536"/>
              <a:gd name="T14" fmla="*/ 0 60000 65536"/>
              <a:gd name="T15" fmla="*/ 0 w 295"/>
              <a:gd name="T16" fmla="*/ 0 h 1500"/>
              <a:gd name="T17" fmla="*/ 295 w 295"/>
              <a:gd name="T18" fmla="*/ 1500 h 1500"/>
            </a:gdLst>
            <a:ahLst/>
            <a:cxnLst>
              <a:cxn ang="T10">
                <a:pos x="T0" y="T1"/>
              </a:cxn>
              <a:cxn ang="T11">
                <a:pos x="T2" y="T3"/>
              </a:cxn>
              <a:cxn ang="T12">
                <a:pos x="T4" y="T5"/>
              </a:cxn>
              <a:cxn ang="T13">
                <a:pos x="T6" y="T7"/>
              </a:cxn>
              <a:cxn ang="T14">
                <a:pos x="T8" y="T9"/>
              </a:cxn>
            </a:cxnLst>
            <a:rect l="T15" t="T16" r="T17" b="T18"/>
            <a:pathLst>
              <a:path w="295" h="1500">
                <a:moveTo>
                  <a:pt x="291" y="0"/>
                </a:moveTo>
                <a:cubicBezTo>
                  <a:pt x="145" y="155"/>
                  <a:pt x="0" y="311"/>
                  <a:pt x="0" y="436"/>
                </a:cubicBezTo>
                <a:cubicBezTo>
                  <a:pt x="0" y="561"/>
                  <a:pt x="287" y="629"/>
                  <a:pt x="291" y="750"/>
                </a:cubicBezTo>
                <a:cubicBezTo>
                  <a:pt x="295" y="871"/>
                  <a:pt x="25" y="1037"/>
                  <a:pt x="25" y="1162"/>
                </a:cubicBezTo>
                <a:cubicBezTo>
                  <a:pt x="25" y="1287"/>
                  <a:pt x="158" y="1393"/>
                  <a:pt x="291" y="1500"/>
                </a:cubicBezTo>
              </a:path>
            </a:pathLst>
          </a:custGeom>
          <a:noFill/>
          <a:ln w="38100">
            <a:solidFill>
              <a:srgbClr val="66FF33"/>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 name="Freeform 72">
            <a:extLst>
              <a:ext uri="{FF2B5EF4-FFF2-40B4-BE49-F238E27FC236}">
                <a16:creationId xmlns:a16="http://schemas.microsoft.com/office/drawing/2014/main" id="{04BB21C7-6AFD-EB4B-8C97-C9E2CC5753FE}"/>
              </a:ext>
            </a:extLst>
          </p:cNvPr>
          <p:cNvSpPr>
            <a:spLocks/>
          </p:cNvSpPr>
          <p:nvPr/>
        </p:nvSpPr>
        <p:spPr bwMode="auto">
          <a:xfrm>
            <a:off x="2344738" y="3063875"/>
            <a:ext cx="884237" cy="2381250"/>
          </a:xfrm>
          <a:custGeom>
            <a:avLst/>
            <a:gdLst>
              <a:gd name="T0" fmla="*/ 0 w 557"/>
              <a:gd name="T1" fmla="*/ 0 h 1500"/>
              <a:gd name="T2" fmla="*/ 2147483647 w 557"/>
              <a:gd name="T3" fmla="*/ 2147483647 h 1500"/>
              <a:gd name="T4" fmla="*/ 0 w 557"/>
              <a:gd name="T5" fmla="*/ 2147483647 h 1500"/>
              <a:gd name="T6" fmla="*/ 0 60000 65536"/>
              <a:gd name="T7" fmla="*/ 0 60000 65536"/>
              <a:gd name="T8" fmla="*/ 0 60000 65536"/>
              <a:gd name="T9" fmla="*/ 0 w 557"/>
              <a:gd name="T10" fmla="*/ 0 h 1500"/>
              <a:gd name="T11" fmla="*/ 557 w 557"/>
              <a:gd name="T12" fmla="*/ 1500 h 1500"/>
            </a:gdLst>
            <a:ahLst/>
            <a:cxnLst>
              <a:cxn ang="T6">
                <a:pos x="T0" y="T1"/>
              </a:cxn>
              <a:cxn ang="T7">
                <a:pos x="T2" y="T3"/>
              </a:cxn>
              <a:cxn ang="T8">
                <a:pos x="T4" y="T5"/>
              </a:cxn>
            </a:cxnLst>
            <a:rect l="T9" t="T10" r="T11" b="T12"/>
            <a:pathLst>
              <a:path w="557" h="1500">
                <a:moveTo>
                  <a:pt x="0" y="0"/>
                </a:moveTo>
                <a:cubicBezTo>
                  <a:pt x="93" y="130"/>
                  <a:pt x="557" y="528"/>
                  <a:pt x="557" y="778"/>
                </a:cubicBezTo>
                <a:cubicBezTo>
                  <a:pt x="557" y="1028"/>
                  <a:pt x="116" y="1350"/>
                  <a:pt x="0" y="1500"/>
                </a:cubicBezTo>
              </a:path>
            </a:pathLst>
          </a:custGeom>
          <a:noFill/>
          <a:ln w="38100">
            <a:solidFill>
              <a:srgbClr val="66FFFF"/>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 name="Freeform 84">
            <a:extLst>
              <a:ext uri="{FF2B5EF4-FFF2-40B4-BE49-F238E27FC236}">
                <a16:creationId xmlns:a16="http://schemas.microsoft.com/office/drawing/2014/main" id="{CD38D7D2-C6EB-CD44-B7AF-C71745DD2E0A}"/>
              </a:ext>
            </a:extLst>
          </p:cNvPr>
          <p:cNvSpPr>
            <a:spLocks/>
          </p:cNvSpPr>
          <p:nvPr/>
        </p:nvSpPr>
        <p:spPr bwMode="auto">
          <a:xfrm>
            <a:off x="1922463" y="3103563"/>
            <a:ext cx="468312" cy="2381250"/>
          </a:xfrm>
          <a:custGeom>
            <a:avLst/>
            <a:gdLst>
              <a:gd name="T0" fmla="*/ 2147483647 w 295"/>
              <a:gd name="T1" fmla="*/ 0 h 1500"/>
              <a:gd name="T2" fmla="*/ 0 w 295"/>
              <a:gd name="T3" fmla="*/ 2147483647 h 1500"/>
              <a:gd name="T4" fmla="*/ 2147483647 w 295"/>
              <a:gd name="T5" fmla="*/ 2147483647 h 1500"/>
              <a:gd name="T6" fmla="*/ 2147483647 w 295"/>
              <a:gd name="T7" fmla="*/ 2147483647 h 1500"/>
              <a:gd name="T8" fmla="*/ 2147483647 w 295"/>
              <a:gd name="T9" fmla="*/ 2147483647 h 1500"/>
              <a:gd name="T10" fmla="*/ 0 60000 65536"/>
              <a:gd name="T11" fmla="*/ 0 60000 65536"/>
              <a:gd name="T12" fmla="*/ 0 60000 65536"/>
              <a:gd name="T13" fmla="*/ 0 60000 65536"/>
              <a:gd name="T14" fmla="*/ 0 60000 65536"/>
              <a:gd name="T15" fmla="*/ 0 w 295"/>
              <a:gd name="T16" fmla="*/ 0 h 1500"/>
              <a:gd name="T17" fmla="*/ 295 w 295"/>
              <a:gd name="T18" fmla="*/ 1500 h 1500"/>
            </a:gdLst>
            <a:ahLst/>
            <a:cxnLst>
              <a:cxn ang="T10">
                <a:pos x="T0" y="T1"/>
              </a:cxn>
              <a:cxn ang="T11">
                <a:pos x="T2" y="T3"/>
              </a:cxn>
              <a:cxn ang="T12">
                <a:pos x="T4" y="T5"/>
              </a:cxn>
              <a:cxn ang="T13">
                <a:pos x="T6" y="T7"/>
              </a:cxn>
              <a:cxn ang="T14">
                <a:pos x="T8" y="T9"/>
              </a:cxn>
            </a:cxnLst>
            <a:rect l="T15" t="T16" r="T17" b="T18"/>
            <a:pathLst>
              <a:path w="295" h="1500">
                <a:moveTo>
                  <a:pt x="291" y="0"/>
                </a:moveTo>
                <a:cubicBezTo>
                  <a:pt x="145" y="155"/>
                  <a:pt x="0" y="311"/>
                  <a:pt x="0" y="436"/>
                </a:cubicBezTo>
                <a:cubicBezTo>
                  <a:pt x="0" y="561"/>
                  <a:pt x="287" y="629"/>
                  <a:pt x="291" y="750"/>
                </a:cubicBezTo>
                <a:cubicBezTo>
                  <a:pt x="295" y="871"/>
                  <a:pt x="25" y="1037"/>
                  <a:pt x="25" y="1162"/>
                </a:cubicBezTo>
                <a:cubicBezTo>
                  <a:pt x="25" y="1287"/>
                  <a:pt x="158" y="1393"/>
                  <a:pt x="291" y="1500"/>
                </a:cubicBezTo>
              </a:path>
            </a:pathLst>
          </a:custGeom>
          <a:noFill/>
          <a:ln w="38100">
            <a:solidFill>
              <a:srgbClr val="FF00FF"/>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4766" name="Line 86">
            <a:extLst>
              <a:ext uri="{FF2B5EF4-FFF2-40B4-BE49-F238E27FC236}">
                <a16:creationId xmlns:a16="http://schemas.microsoft.com/office/drawing/2014/main" id="{576EAAD6-0B82-CD4D-8DD8-65D9EEB6F006}"/>
              </a:ext>
            </a:extLst>
          </p:cNvPr>
          <p:cNvSpPr>
            <a:spLocks noChangeShapeType="1"/>
          </p:cNvSpPr>
          <p:nvPr/>
        </p:nvSpPr>
        <p:spPr bwMode="auto">
          <a:xfrm>
            <a:off x="2344738" y="2527300"/>
            <a:ext cx="0" cy="344488"/>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4767" name="Line 87">
            <a:extLst>
              <a:ext uri="{FF2B5EF4-FFF2-40B4-BE49-F238E27FC236}">
                <a16:creationId xmlns:a16="http://schemas.microsoft.com/office/drawing/2014/main" id="{D3099C03-672A-734A-9055-4FB363B34A1C}"/>
              </a:ext>
            </a:extLst>
          </p:cNvPr>
          <p:cNvSpPr>
            <a:spLocks noChangeShapeType="1"/>
          </p:cNvSpPr>
          <p:nvPr/>
        </p:nvSpPr>
        <p:spPr bwMode="auto">
          <a:xfrm>
            <a:off x="2344738" y="5599113"/>
            <a:ext cx="0" cy="344487"/>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4768" name="TextBox 35">
            <a:extLst>
              <a:ext uri="{FF2B5EF4-FFF2-40B4-BE49-F238E27FC236}">
                <a16:creationId xmlns:a16="http://schemas.microsoft.com/office/drawing/2014/main" id="{27632FC8-15F1-0D45-91CD-FAAD3E9ACD24}"/>
              </a:ext>
            </a:extLst>
          </p:cNvPr>
          <p:cNvSpPr txBox="1">
            <a:spLocks noChangeArrowheads="1"/>
          </p:cNvSpPr>
          <p:nvPr/>
        </p:nvSpPr>
        <p:spPr bwMode="auto">
          <a:xfrm>
            <a:off x="152400" y="6553200"/>
            <a:ext cx="15446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Tor Aamodt</a:t>
            </a:r>
          </a:p>
        </p:txBody>
      </p:sp>
    </p:spTree>
    <p:extLst>
      <p:ext uri="{BB962C8B-B14F-4D97-AF65-F5344CB8AC3E}">
        <p14:creationId xmlns:p14="http://schemas.microsoft.com/office/powerpoint/2010/main" val="298026765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7" presetClass="emph" presetSubtype="1" nodeType="clickEffect">
                                  <p:stCondLst>
                                    <p:cond delay="0"/>
                                  </p:stCondLst>
                                  <p:childTnLst>
                                    <p:set>
                                      <p:cBhvr>
                                        <p:cTn id="12" dur="indefinite"/>
                                        <p:tgtEl>
                                          <p:spTgt spid="30"/>
                                        </p:tgtEl>
                                        <p:attrNameLst>
                                          <p:attrName>stroke.color</p:attrName>
                                        </p:attrNameLst>
                                      </p:cBhvr>
                                      <p:to>
                                        <p:clrVal>
                                          <a:srgbClr val="C0C000"/>
                                        </p:clrVal>
                                      </p:to>
                                    </p:set>
                                    <p:set>
                                      <p:cBhvr>
                                        <p:cTn id="13" dur="indefinite"/>
                                        <p:tgtEl>
                                          <p:spTgt spid="30"/>
                                        </p:tgtEl>
                                        <p:attrNameLst>
                                          <p:attrName>stroke.on</p:attrName>
                                        </p:attrNameLst>
                                      </p:cBhvr>
                                      <p:to>
                                        <p:strVal val="true"/>
                                      </p:to>
                                    </p:set>
                                  </p:childTnLst>
                                </p:cTn>
                              </p:par>
                              <p:par>
                                <p:cTn id="14" presetID="1" presetClass="entr" presetSubtype="0" fill="hold" grpId="0" nodeType="withEffect">
                                  <p:stCondLst>
                                    <p:cond delay="0"/>
                                  </p:stCondLst>
                                  <p:childTnLst>
                                    <p:set>
                                      <p:cBhvr>
                                        <p:cTn id="15" dur="1" fill="hold">
                                          <p:stCondLst>
                                            <p:cond delay="0"/>
                                          </p:stCondLst>
                                        </p:cTn>
                                        <p:tgtEl>
                                          <p:spTgt spid="31"/>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7" presetClass="emph" presetSubtype="1" nodeType="clickEffect">
                                  <p:stCondLst>
                                    <p:cond delay="0"/>
                                  </p:stCondLst>
                                  <p:childTnLst>
                                    <p:set>
                                      <p:cBhvr>
                                        <p:cTn id="21" dur="indefinite"/>
                                        <p:tgtEl>
                                          <p:spTgt spid="31"/>
                                        </p:tgtEl>
                                        <p:attrNameLst>
                                          <p:attrName>stroke.color</p:attrName>
                                        </p:attrNameLst>
                                      </p:cBhvr>
                                      <p:to>
                                        <p:clrVal>
                                          <a:srgbClr val="C0C000"/>
                                        </p:clrVal>
                                      </p:to>
                                    </p:set>
                                    <p:set>
                                      <p:cBhvr>
                                        <p:cTn id="22" dur="indefinite"/>
                                        <p:tgtEl>
                                          <p:spTgt spid="31"/>
                                        </p:tgtEl>
                                        <p:attrNameLst>
                                          <p:attrName>stroke.on</p:attrName>
                                        </p:attrNameLst>
                                      </p:cBhvr>
                                      <p:to>
                                        <p:strVal val="tru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7" presetClass="emph" presetSubtype="1" nodeType="clickEffect">
                                  <p:stCondLst>
                                    <p:cond delay="0"/>
                                  </p:stCondLst>
                                  <p:childTnLst>
                                    <p:set>
                                      <p:cBhvr>
                                        <p:cTn id="30" dur="indefinite"/>
                                        <p:tgtEl>
                                          <p:spTgt spid="33"/>
                                        </p:tgtEl>
                                        <p:attrNameLst>
                                          <p:attrName>stroke.color</p:attrName>
                                        </p:attrNameLst>
                                      </p:cBhvr>
                                      <p:to>
                                        <p:clrVal>
                                          <a:srgbClr val="C0C000"/>
                                        </p:clrVal>
                                      </p:to>
                                    </p:set>
                                    <p:set>
                                      <p:cBhvr>
                                        <p:cTn id="31" dur="indefinite"/>
                                        <p:tgtEl>
                                          <p:spTgt spid="33"/>
                                        </p:tgtEl>
                                        <p:attrNameLst>
                                          <p:attrName>stroke.on</p:attrName>
                                        </p:attrNameLst>
                                      </p:cBhvr>
                                      <p:to>
                                        <p:strVal val="true"/>
                                      </p:to>
                                    </p:set>
                                  </p:childTnLst>
                                </p:cTn>
                              </p:par>
                              <p:par>
                                <p:cTn id="32" presetID="1" presetClass="entr" presetSubtype="0" fill="hold" grpId="0" nodeType="withEffect">
                                  <p:stCondLst>
                                    <p:cond delay="0"/>
                                  </p:stCondLst>
                                  <p:childTnLst>
                                    <p:set>
                                      <p:cBhvr>
                                        <p:cTn id="33" dur="1" fill="hold">
                                          <p:stCondLst>
                                            <p:cond delay="0"/>
                                          </p:stCondLst>
                                        </p:cTn>
                                        <p:tgtEl>
                                          <p:spTgt spid="32"/>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childTnLst>
                                </p:cTn>
                              </p:par>
                              <p:par>
                                <p:cTn id="40" presetID="7" presetClass="emph" presetSubtype="2" fill="hold" nodeType="withEffect">
                                  <p:stCondLst>
                                    <p:cond delay="0"/>
                                  </p:stCondLst>
                                  <p:childTnLst>
                                    <p:animClr clrSpc="rgb" dir="cw">
                                      <p:cBhvr>
                                        <p:cTn id="41" dur="500" fill="hold"/>
                                        <p:tgtEl>
                                          <p:spTgt spid="32"/>
                                        </p:tgtEl>
                                        <p:attrNameLst>
                                          <p:attrName>stroke.color</p:attrName>
                                        </p:attrNameLst>
                                      </p:cBhvr>
                                      <p:to>
                                        <a:srgbClr val="66FFFF"/>
                                      </p:to>
                                    </p:animClr>
                                    <p:set>
                                      <p:cBhvr>
                                        <p:cTn id="42" dur="500" fill="hold"/>
                                        <p:tgtEl>
                                          <p:spTgt spid="32"/>
                                        </p:tgtEl>
                                        <p:attrNameLst>
                                          <p:attrName>stroke.on</p:attrName>
                                        </p:attrNameLst>
                                      </p:cBhvr>
                                      <p:to>
                                        <p:strVal val="true"/>
                                      </p:to>
                                    </p:set>
                                  </p:childTnLst>
                                </p:cTn>
                              </p:par>
                              <p:par>
                                <p:cTn id="43" presetID="7" presetClass="emph" presetSubtype="1" nodeType="withEffect">
                                  <p:stCondLst>
                                    <p:cond delay="0"/>
                                  </p:stCondLst>
                                  <p:childTnLst>
                                    <p:set>
                                      <p:cBhvr>
                                        <p:cTn id="44" dur="indefinite"/>
                                        <p:tgtEl>
                                          <p:spTgt spid="31"/>
                                        </p:tgtEl>
                                        <p:attrNameLst>
                                          <p:attrName>stroke.color</p:attrName>
                                        </p:attrNameLst>
                                      </p:cBhvr>
                                      <p:to>
                                        <p:clrVal>
                                          <a:srgbClr val="FF6600"/>
                                        </p:clrVal>
                                      </p:to>
                                    </p:set>
                                    <p:set>
                                      <p:cBhvr>
                                        <p:cTn id="45" dur="indefinite"/>
                                        <p:tgtEl>
                                          <p:spTgt spid="31"/>
                                        </p:tgtEl>
                                        <p:attrNameLst>
                                          <p:attrName>stroke.on</p:attrName>
                                        </p:attrNameLst>
                                      </p:cBhvr>
                                      <p:to>
                                        <p:strVal val="true"/>
                                      </p:to>
                                    </p:set>
                                  </p:childTnLst>
                                </p:cTn>
                              </p:par>
                              <p:par>
                                <p:cTn id="46" presetID="7" presetClass="emph" presetSubtype="1" nodeType="withEffect">
                                  <p:stCondLst>
                                    <p:cond delay="0"/>
                                  </p:stCondLst>
                                  <p:childTnLst>
                                    <p:set>
                                      <p:cBhvr>
                                        <p:cTn id="47" dur="indefinite"/>
                                        <p:tgtEl>
                                          <p:spTgt spid="30"/>
                                        </p:tgtEl>
                                        <p:attrNameLst>
                                          <p:attrName>stroke.color</p:attrName>
                                        </p:attrNameLst>
                                      </p:cBhvr>
                                      <p:to>
                                        <p:clrVal>
                                          <a:srgbClr val="00FF00"/>
                                        </p:clrVal>
                                      </p:to>
                                    </p:set>
                                    <p:set>
                                      <p:cBhvr>
                                        <p:cTn id="48" dur="indefinite"/>
                                        <p:tgtEl>
                                          <p:spTgt spid="30"/>
                                        </p:tgtEl>
                                        <p:attrNameLst>
                                          <p:attrName>stroke.on</p:attrName>
                                        </p:attrNameLst>
                                      </p:cBhvr>
                                      <p:to>
                                        <p:strVal val="true"/>
                                      </p:to>
                                    </p:set>
                                  </p:childTnLst>
                                </p:cTn>
                              </p:par>
                              <p:par>
                                <p:cTn id="49" presetID="7" presetClass="emph" presetSubtype="1" nodeType="withEffect">
                                  <p:stCondLst>
                                    <p:cond delay="0"/>
                                  </p:stCondLst>
                                  <p:childTnLst>
                                    <p:set>
                                      <p:cBhvr>
                                        <p:cTn id="50" dur="indefinite"/>
                                        <p:tgtEl>
                                          <p:spTgt spid="33"/>
                                        </p:tgtEl>
                                        <p:attrNameLst>
                                          <p:attrName>stroke.color</p:attrName>
                                        </p:attrNameLst>
                                      </p:cBhvr>
                                      <p:to>
                                        <p:clrVal>
                                          <a:srgbClr val="00FF00"/>
                                        </p:clrVal>
                                      </p:to>
                                    </p:set>
                                    <p:set>
                                      <p:cBhvr>
                                        <p:cTn id="51" dur="indefinite"/>
                                        <p:tgtEl>
                                          <p:spTgt spid="33"/>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30" grpId="0" animBg="1"/>
      <p:bldP spid="31" grpId="0" animBg="1"/>
      <p:bldP spid="32" grpId="0" animBg="1"/>
      <p:bldP spid="33"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a:extLst>
              <a:ext uri="{FF2B5EF4-FFF2-40B4-BE49-F238E27FC236}">
                <a16:creationId xmlns:a16="http://schemas.microsoft.com/office/drawing/2014/main" id="{6E0F5ECC-15F8-0B4F-9986-239C7E89B1A2}"/>
              </a:ext>
            </a:extLst>
          </p:cNvPr>
          <p:cNvSpPr>
            <a:spLocks noGrp="1"/>
          </p:cNvSpPr>
          <p:nvPr>
            <p:ph type="title"/>
          </p:nvPr>
        </p:nvSpPr>
        <p:spPr/>
        <p:txBody>
          <a:bodyPr/>
          <a:lstStyle/>
          <a:p>
            <a:r>
              <a:rPr lang="en-US" altLang="en-US" dirty="0">
                <a:ea typeface="ＭＳ Ｐゴシック" panose="020B0600070205080204" pitchFamily="34" charset="-128"/>
              </a:rPr>
              <a:t>Control Flow Problem in GPUs/SIMT</a:t>
            </a:r>
          </a:p>
        </p:txBody>
      </p:sp>
      <p:sp>
        <p:nvSpPr>
          <p:cNvPr id="193538" name="Content Placeholder 2">
            <a:extLst>
              <a:ext uri="{FF2B5EF4-FFF2-40B4-BE49-F238E27FC236}">
                <a16:creationId xmlns:a16="http://schemas.microsoft.com/office/drawing/2014/main" id="{1BD1EC6F-17C7-6A4D-8FFC-0D37DA22B450}"/>
              </a:ext>
            </a:extLst>
          </p:cNvPr>
          <p:cNvSpPr>
            <a:spLocks noGrp="1"/>
          </p:cNvSpPr>
          <p:nvPr>
            <p:ph idx="1"/>
          </p:nvPr>
        </p:nvSpPr>
        <p:spPr>
          <a:xfrm>
            <a:off x="228600" y="996950"/>
            <a:ext cx="3962400" cy="5194300"/>
          </a:xfrm>
        </p:spPr>
        <p:txBody>
          <a:bodyPr/>
          <a:lstStyle/>
          <a:p>
            <a:r>
              <a:rPr lang="en-US" altLang="en-US" sz="2600" dirty="0">
                <a:ea typeface="ＭＳ Ｐゴシック" panose="020B0600070205080204" pitchFamily="34" charset="-128"/>
              </a:rPr>
              <a:t>A GPU uses a SIMT pipeline to save area on control logic</a:t>
            </a:r>
          </a:p>
          <a:p>
            <a:pPr lvl="1"/>
            <a:r>
              <a:rPr lang="en-US" altLang="en-US" dirty="0">
                <a:ea typeface="ＭＳ Ｐゴシック" panose="020B0600070205080204" pitchFamily="34" charset="-128"/>
              </a:rPr>
              <a:t>Groups scalar threads into warps</a:t>
            </a:r>
          </a:p>
          <a:p>
            <a:endParaRPr lang="en-US" altLang="en-US" sz="2600" i="1" u="sng" dirty="0">
              <a:ea typeface="ＭＳ Ｐゴシック" panose="020B0600070205080204" pitchFamily="34" charset="-128"/>
            </a:endParaRPr>
          </a:p>
          <a:p>
            <a:r>
              <a:rPr lang="en-US" altLang="en-US" sz="2600" b="1" dirty="0">
                <a:solidFill>
                  <a:srgbClr val="FF0000"/>
                </a:solidFill>
                <a:ea typeface="ＭＳ Ｐゴシック" panose="020B0600070205080204" pitchFamily="34" charset="-128"/>
              </a:rPr>
              <a:t>Branch divergence </a:t>
            </a:r>
            <a:r>
              <a:rPr lang="en-US" altLang="en-US" sz="2600" dirty="0">
                <a:ea typeface="ＭＳ Ｐゴシック" panose="020B0600070205080204" pitchFamily="34" charset="-128"/>
              </a:rPr>
              <a:t>occurs when threads inside warps branch to different execution paths</a:t>
            </a:r>
          </a:p>
          <a:p>
            <a:endParaRPr lang="en-US" altLang="en-US" dirty="0">
              <a:ea typeface="ＭＳ Ｐゴシック" panose="020B0600070205080204" pitchFamily="34" charset="-128"/>
            </a:endParaRPr>
          </a:p>
        </p:txBody>
      </p:sp>
      <p:sp>
        <p:nvSpPr>
          <p:cNvPr id="75779" name="Slide Number Placeholder 3">
            <a:extLst>
              <a:ext uri="{FF2B5EF4-FFF2-40B4-BE49-F238E27FC236}">
                <a16:creationId xmlns:a16="http://schemas.microsoft.com/office/drawing/2014/main" id="{041F44E4-663D-814A-A9DB-ABA87609C19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ECAA269-04D5-6E42-B06E-A2328687D28D}"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66</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grpSp>
        <p:nvGrpSpPr>
          <p:cNvPr id="2" name="Group 94">
            <a:extLst>
              <a:ext uri="{FF2B5EF4-FFF2-40B4-BE49-F238E27FC236}">
                <a16:creationId xmlns:a16="http://schemas.microsoft.com/office/drawing/2014/main" id="{E3BDC5F8-3685-7D48-9533-FF99994F6DBB}"/>
              </a:ext>
            </a:extLst>
          </p:cNvPr>
          <p:cNvGrpSpPr>
            <a:grpSpLocks/>
          </p:cNvGrpSpPr>
          <p:nvPr/>
        </p:nvGrpSpPr>
        <p:grpSpPr bwMode="auto">
          <a:xfrm>
            <a:off x="6262688" y="1776413"/>
            <a:ext cx="2265362" cy="576262"/>
            <a:chOff x="3944" y="1361"/>
            <a:chExt cx="1427" cy="363"/>
          </a:xfrm>
        </p:grpSpPr>
        <p:sp>
          <p:nvSpPr>
            <p:cNvPr id="75835" name="Rectangle 12">
              <a:extLst>
                <a:ext uri="{FF2B5EF4-FFF2-40B4-BE49-F238E27FC236}">
                  <a16:creationId xmlns:a16="http://schemas.microsoft.com/office/drawing/2014/main" id="{EA5891B2-64ED-B242-929B-513F02053706}"/>
                </a:ext>
              </a:extLst>
            </p:cNvPr>
            <p:cNvSpPr>
              <a:spLocks noChangeArrowheads="1"/>
            </p:cNvSpPr>
            <p:nvPr/>
          </p:nvSpPr>
          <p:spPr bwMode="auto">
            <a:xfrm>
              <a:off x="3944" y="1361"/>
              <a:ext cx="1427" cy="3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36" name="Line 4">
              <a:extLst>
                <a:ext uri="{FF2B5EF4-FFF2-40B4-BE49-F238E27FC236}">
                  <a16:creationId xmlns:a16="http://schemas.microsoft.com/office/drawing/2014/main" id="{040553CD-0E68-8B47-9D1E-36D416E844A7}"/>
                </a:ext>
              </a:extLst>
            </p:cNvPr>
            <p:cNvSpPr>
              <a:spLocks noChangeShapeType="1"/>
            </p:cNvSpPr>
            <p:nvPr/>
          </p:nvSpPr>
          <p:spPr bwMode="auto">
            <a:xfrm>
              <a:off x="4065" y="1410"/>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37" name="Line 5">
              <a:extLst>
                <a:ext uri="{FF2B5EF4-FFF2-40B4-BE49-F238E27FC236}">
                  <a16:creationId xmlns:a16="http://schemas.microsoft.com/office/drawing/2014/main" id="{C5C16642-6B70-714B-9819-85DBDAF2AC8D}"/>
                </a:ext>
              </a:extLst>
            </p:cNvPr>
            <p:cNvSpPr>
              <a:spLocks noChangeShapeType="1"/>
            </p:cNvSpPr>
            <p:nvPr/>
          </p:nvSpPr>
          <p:spPr bwMode="auto">
            <a:xfrm>
              <a:off x="4234" y="1410"/>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38" name="Line 6">
              <a:extLst>
                <a:ext uri="{FF2B5EF4-FFF2-40B4-BE49-F238E27FC236}">
                  <a16:creationId xmlns:a16="http://schemas.microsoft.com/office/drawing/2014/main" id="{A813722D-FF28-664F-A201-4426C1A7AD5E}"/>
                </a:ext>
              </a:extLst>
            </p:cNvPr>
            <p:cNvSpPr>
              <a:spLocks noChangeShapeType="1"/>
            </p:cNvSpPr>
            <p:nvPr/>
          </p:nvSpPr>
          <p:spPr bwMode="auto">
            <a:xfrm>
              <a:off x="4404" y="1410"/>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39" name="Line 7">
              <a:extLst>
                <a:ext uri="{FF2B5EF4-FFF2-40B4-BE49-F238E27FC236}">
                  <a16:creationId xmlns:a16="http://schemas.microsoft.com/office/drawing/2014/main" id="{B9A81661-08C9-6145-BF5E-83991450C8EA}"/>
                </a:ext>
              </a:extLst>
            </p:cNvPr>
            <p:cNvSpPr>
              <a:spLocks noChangeShapeType="1"/>
            </p:cNvSpPr>
            <p:nvPr/>
          </p:nvSpPr>
          <p:spPr bwMode="auto">
            <a:xfrm>
              <a:off x="4573" y="1410"/>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40" name="Line 8">
              <a:extLst>
                <a:ext uri="{FF2B5EF4-FFF2-40B4-BE49-F238E27FC236}">
                  <a16:creationId xmlns:a16="http://schemas.microsoft.com/office/drawing/2014/main" id="{77906939-F474-0643-9241-3735E8E9D880}"/>
                </a:ext>
              </a:extLst>
            </p:cNvPr>
            <p:cNvSpPr>
              <a:spLocks noChangeShapeType="1"/>
            </p:cNvSpPr>
            <p:nvPr/>
          </p:nvSpPr>
          <p:spPr bwMode="auto">
            <a:xfrm>
              <a:off x="4742" y="1410"/>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41" name="Line 9">
              <a:extLst>
                <a:ext uri="{FF2B5EF4-FFF2-40B4-BE49-F238E27FC236}">
                  <a16:creationId xmlns:a16="http://schemas.microsoft.com/office/drawing/2014/main" id="{B582470E-0A21-DA44-BD5E-90A1D14930B7}"/>
                </a:ext>
              </a:extLst>
            </p:cNvPr>
            <p:cNvSpPr>
              <a:spLocks noChangeShapeType="1"/>
            </p:cNvSpPr>
            <p:nvPr/>
          </p:nvSpPr>
          <p:spPr bwMode="auto">
            <a:xfrm>
              <a:off x="4911" y="1410"/>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42" name="Line 10">
              <a:extLst>
                <a:ext uri="{FF2B5EF4-FFF2-40B4-BE49-F238E27FC236}">
                  <a16:creationId xmlns:a16="http://schemas.microsoft.com/office/drawing/2014/main" id="{DCB5BD54-4137-814C-8FFB-501A5DC262F6}"/>
                </a:ext>
              </a:extLst>
            </p:cNvPr>
            <p:cNvSpPr>
              <a:spLocks noChangeShapeType="1"/>
            </p:cNvSpPr>
            <p:nvPr/>
          </p:nvSpPr>
          <p:spPr bwMode="auto">
            <a:xfrm>
              <a:off x="5081" y="1410"/>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43" name="Line 11">
              <a:extLst>
                <a:ext uri="{FF2B5EF4-FFF2-40B4-BE49-F238E27FC236}">
                  <a16:creationId xmlns:a16="http://schemas.microsoft.com/office/drawing/2014/main" id="{3D27AE5B-E48E-394C-9FD4-E22BD2F5C304}"/>
                </a:ext>
              </a:extLst>
            </p:cNvPr>
            <p:cNvSpPr>
              <a:spLocks noChangeShapeType="1"/>
            </p:cNvSpPr>
            <p:nvPr/>
          </p:nvSpPr>
          <p:spPr bwMode="auto">
            <a:xfrm>
              <a:off x="5250" y="1410"/>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 name="Group 95">
            <a:extLst>
              <a:ext uri="{FF2B5EF4-FFF2-40B4-BE49-F238E27FC236}">
                <a16:creationId xmlns:a16="http://schemas.microsoft.com/office/drawing/2014/main" id="{EA02F274-2FCC-CE46-822E-7432C82D1BBF}"/>
              </a:ext>
            </a:extLst>
          </p:cNvPr>
          <p:cNvGrpSpPr>
            <a:grpSpLocks/>
          </p:cNvGrpSpPr>
          <p:nvPr/>
        </p:nvGrpSpPr>
        <p:grpSpPr bwMode="auto">
          <a:xfrm>
            <a:off x="6262688" y="2468563"/>
            <a:ext cx="2265362" cy="576262"/>
            <a:chOff x="3944" y="1797"/>
            <a:chExt cx="1427" cy="363"/>
          </a:xfrm>
        </p:grpSpPr>
        <p:sp>
          <p:nvSpPr>
            <p:cNvPr id="75826" name="Rectangle 13">
              <a:extLst>
                <a:ext uri="{FF2B5EF4-FFF2-40B4-BE49-F238E27FC236}">
                  <a16:creationId xmlns:a16="http://schemas.microsoft.com/office/drawing/2014/main" id="{F51B704B-95FC-9540-A1A7-AEA62AE45401}"/>
                </a:ext>
              </a:extLst>
            </p:cNvPr>
            <p:cNvSpPr>
              <a:spLocks noChangeArrowheads="1"/>
            </p:cNvSpPr>
            <p:nvPr/>
          </p:nvSpPr>
          <p:spPr bwMode="auto">
            <a:xfrm>
              <a:off x="3944" y="1797"/>
              <a:ext cx="1427" cy="3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27" name="Line 14">
              <a:extLst>
                <a:ext uri="{FF2B5EF4-FFF2-40B4-BE49-F238E27FC236}">
                  <a16:creationId xmlns:a16="http://schemas.microsoft.com/office/drawing/2014/main" id="{A4C02EB5-B9E8-B344-A6A5-EC939FB15F55}"/>
                </a:ext>
              </a:extLst>
            </p:cNvPr>
            <p:cNvSpPr>
              <a:spLocks noChangeShapeType="1"/>
            </p:cNvSpPr>
            <p:nvPr/>
          </p:nvSpPr>
          <p:spPr bwMode="auto">
            <a:xfrm>
              <a:off x="4065" y="1846"/>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28" name="Line 15">
              <a:extLst>
                <a:ext uri="{FF2B5EF4-FFF2-40B4-BE49-F238E27FC236}">
                  <a16:creationId xmlns:a16="http://schemas.microsoft.com/office/drawing/2014/main" id="{5ED46DE8-A930-C74C-A533-9AA81A79D2A9}"/>
                </a:ext>
              </a:extLst>
            </p:cNvPr>
            <p:cNvSpPr>
              <a:spLocks noChangeShapeType="1"/>
            </p:cNvSpPr>
            <p:nvPr/>
          </p:nvSpPr>
          <p:spPr bwMode="auto">
            <a:xfrm>
              <a:off x="4234" y="1846"/>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29" name="Line 16">
              <a:extLst>
                <a:ext uri="{FF2B5EF4-FFF2-40B4-BE49-F238E27FC236}">
                  <a16:creationId xmlns:a16="http://schemas.microsoft.com/office/drawing/2014/main" id="{95D22B09-A641-004A-80FE-E663E52AA0C3}"/>
                </a:ext>
              </a:extLst>
            </p:cNvPr>
            <p:cNvSpPr>
              <a:spLocks noChangeShapeType="1"/>
            </p:cNvSpPr>
            <p:nvPr/>
          </p:nvSpPr>
          <p:spPr bwMode="auto">
            <a:xfrm>
              <a:off x="4404" y="1846"/>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30" name="Line 17">
              <a:extLst>
                <a:ext uri="{FF2B5EF4-FFF2-40B4-BE49-F238E27FC236}">
                  <a16:creationId xmlns:a16="http://schemas.microsoft.com/office/drawing/2014/main" id="{6D700F15-3140-BF4B-AEC8-2FC0AC493422}"/>
                </a:ext>
              </a:extLst>
            </p:cNvPr>
            <p:cNvSpPr>
              <a:spLocks noChangeShapeType="1"/>
            </p:cNvSpPr>
            <p:nvPr/>
          </p:nvSpPr>
          <p:spPr bwMode="auto">
            <a:xfrm>
              <a:off x="4573" y="1846"/>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31" name="Line 18">
              <a:extLst>
                <a:ext uri="{FF2B5EF4-FFF2-40B4-BE49-F238E27FC236}">
                  <a16:creationId xmlns:a16="http://schemas.microsoft.com/office/drawing/2014/main" id="{E99E9007-0B9F-6E42-9FD8-122E0F3FC9DA}"/>
                </a:ext>
              </a:extLst>
            </p:cNvPr>
            <p:cNvSpPr>
              <a:spLocks noChangeShapeType="1"/>
            </p:cNvSpPr>
            <p:nvPr/>
          </p:nvSpPr>
          <p:spPr bwMode="auto">
            <a:xfrm>
              <a:off x="4742" y="1846"/>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32" name="Line 19">
              <a:extLst>
                <a:ext uri="{FF2B5EF4-FFF2-40B4-BE49-F238E27FC236}">
                  <a16:creationId xmlns:a16="http://schemas.microsoft.com/office/drawing/2014/main" id="{424C2935-072E-3D49-94E6-EE716B0494BF}"/>
                </a:ext>
              </a:extLst>
            </p:cNvPr>
            <p:cNvSpPr>
              <a:spLocks noChangeShapeType="1"/>
            </p:cNvSpPr>
            <p:nvPr/>
          </p:nvSpPr>
          <p:spPr bwMode="auto">
            <a:xfrm>
              <a:off x="4911" y="1846"/>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33" name="Line 20">
              <a:extLst>
                <a:ext uri="{FF2B5EF4-FFF2-40B4-BE49-F238E27FC236}">
                  <a16:creationId xmlns:a16="http://schemas.microsoft.com/office/drawing/2014/main" id="{525D47A4-60F5-7744-B965-4BE27E71CCC0}"/>
                </a:ext>
              </a:extLst>
            </p:cNvPr>
            <p:cNvSpPr>
              <a:spLocks noChangeShapeType="1"/>
            </p:cNvSpPr>
            <p:nvPr/>
          </p:nvSpPr>
          <p:spPr bwMode="auto">
            <a:xfrm>
              <a:off x="5081" y="1846"/>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34" name="Line 21">
              <a:extLst>
                <a:ext uri="{FF2B5EF4-FFF2-40B4-BE49-F238E27FC236}">
                  <a16:creationId xmlns:a16="http://schemas.microsoft.com/office/drawing/2014/main" id="{4BFE99ED-99A1-3541-A849-681A1258AC12}"/>
                </a:ext>
              </a:extLst>
            </p:cNvPr>
            <p:cNvSpPr>
              <a:spLocks noChangeShapeType="1"/>
            </p:cNvSpPr>
            <p:nvPr/>
          </p:nvSpPr>
          <p:spPr bwMode="auto">
            <a:xfrm>
              <a:off x="5250" y="1846"/>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4" name="Group 96">
            <a:extLst>
              <a:ext uri="{FF2B5EF4-FFF2-40B4-BE49-F238E27FC236}">
                <a16:creationId xmlns:a16="http://schemas.microsoft.com/office/drawing/2014/main" id="{264F1DFE-44DC-CB41-80F4-F17CF937E9B6}"/>
              </a:ext>
            </a:extLst>
          </p:cNvPr>
          <p:cNvGrpSpPr>
            <a:grpSpLocks/>
          </p:cNvGrpSpPr>
          <p:nvPr/>
        </p:nvGrpSpPr>
        <p:grpSpPr bwMode="auto">
          <a:xfrm>
            <a:off x="6262688" y="3159125"/>
            <a:ext cx="2265362" cy="576263"/>
            <a:chOff x="3944" y="2232"/>
            <a:chExt cx="1427" cy="363"/>
          </a:xfrm>
        </p:grpSpPr>
        <p:sp>
          <p:nvSpPr>
            <p:cNvPr id="75821" name="Rectangle 31">
              <a:extLst>
                <a:ext uri="{FF2B5EF4-FFF2-40B4-BE49-F238E27FC236}">
                  <a16:creationId xmlns:a16="http://schemas.microsoft.com/office/drawing/2014/main" id="{03CEBB62-44A2-B14A-B988-9A4B4E71E9FB}"/>
                </a:ext>
              </a:extLst>
            </p:cNvPr>
            <p:cNvSpPr>
              <a:spLocks noChangeArrowheads="1"/>
            </p:cNvSpPr>
            <p:nvPr/>
          </p:nvSpPr>
          <p:spPr bwMode="auto">
            <a:xfrm>
              <a:off x="3944" y="2232"/>
              <a:ext cx="1427" cy="3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22" name="Line 32">
              <a:extLst>
                <a:ext uri="{FF2B5EF4-FFF2-40B4-BE49-F238E27FC236}">
                  <a16:creationId xmlns:a16="http://schemas.microsoft.com/office/drawing/2014/main" id="{2C1A53E2-9C5D-E841-8DB5-E0FA6266B078}"/>
                </a:ext>
              </a:extLst>
            </p:cNvPr>
            <p:cNvSpPr>
              <a:spLocks noChangeShapeType="1"/>
            </p:cNvSpPr>
            <p:nvPr/>
          </p:nvSpPr>
          <p:spPr bwMode="auto">
            <a:xfrm>
              <a:off x="4065" y="2281"/>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23" name="Line 34">
              <a:extLst>
                <a:ext uri="{FF2B5EF4-FFF2-40B4-BE49-F238E27FC236}">
                  <a16:creationId xmlns:a16="http://schemas.microsoft.com/office/drawing/2014/main" id="{4938EFBF-8067-7742-A21E-4BE7110065EC}"/>
                </a:ext>
              </a:extLst>
            </p:cNvPr>
            <p:cNvSpPr>
              <a:spLocks noChangeShapeType="1"/>
            </p:cNvSpPr>
            <p:nvPr/>
          </p:nvSpPr>
          <p:spPr bwMode="auto">
            <a:xfrm>
              <a:off x="4404" y="2281"/>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24" name="Line 35">
              <a:extLst>
                <a:ext uri="{FF2B5EF4-FFF2-40B4-BE49-F238E27FC236}">
                  <a16:creationId xmlns:a16="http://schemas.microsoft.com/office/drawing/2014/main" id="{2AA6A3FD-F3FB-2943-B7D3-5E2457CD22B5}"/>
                </a:ext>
              </a:extLst>
            </p:cNvPr>
            <p:cNvSpPr>
              <a:spLocks noChangeShapeType="1"/>
            </p:cNvSpPr>
            <p:nvPr/>
          </p:nvSpPr>
          <p:spPr bwMode="auto">
            <a:xfrm>
              <a:off x="4573" y="2281"/>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25" name="Line 39">
              <a:extLst>
                <a:ext uri="{FF2B5EF4-FFF2-40B4-BE49-F238E27FC236}">
                  <a16:creationId xmlns:a16="http://schemas.microsoft.com/office/drawing/2014/main" id="{83BC20FE-D2B4-9F42-8047-3A130F2FBB16}"/>
                </a:ext>
              </a:extLst>
            </p:cNvPr>
            <p:cNvSpPr>
              <a:spLocks noChangeShapeType="1"/>
            </p:cNvSpPr>
            <p:nvPr/>
          </p:nvSpPr>
          <p:spPr bwMode="auto">
            <a:xfrm>
              <a:off x="5250" y="2281"/>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 name="Group 97">
            <a:extLst>
              <a:ext uri="{FF2B5EF4-FFF2-40B4-BE49-F238E27FC236}">
                <a16:creationId xmlns:a16="http://schemas.microsoft.com/office/drawing/2014/main" id="{319CCFFE-A01E-004D-BC82-FA7883BA4BF8}"/>
              </a:ext>
            </a:extLst>
          </p:cNvPr>
          <p:cNvGrpSpPr>
            <a:grpSpLocks/>
          </p:cNvGrpSpPr>
          <p:nvPr/>
        </p:nvGrpSpPr>
        <p:grpSpPr bwMode="auto">
          <a:xfrm>
            <a:off x="6262688" y="3851275"/>
            <a:ext cx="2265362" cy="576263"/>
            <a:chOff x="3944" y="2668"/>
            <a:chExt cx="1427" cy="363"/>
          </a:xfrm>
        </p:grpSpPr>
        <p:sp>
          <p:nvSpPr>
            <p:cNvPr id="75816" name="Rectangle 40">
              <a:extLst>
                <a:ext uri="{FF2B5EF4-FFF2-40B4-BE49-F238E27FC236}">
                  <a16:creationId xmlns:a16="http://schemas.microsoft.com/office/drawing/2014/main" id="{D17AA01B-8D5B-154A-A347-EC775CEE2CC8}"/>
                </a:ext>
              </a:extLst>
            </p:cNvPr>
            <p:cNvSpPr>
              <a:spLocks noChangeArrowheads="1"/>
            </p:cNvSpPr>
            <p:nvPr/>
          </p:nvSpPr>
          <p:spPr bwMode="auto">
            <a:xfrm>
              <a:off x="3944" y="2668"/>
              <a:ext cx="1427" cy="3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17" name="Line 42">
              <a:extLst>
                <a:ext uri="{FF2B5EF4-FFF2-40B4-BE49-F238E27FC236}">
                  <a16:creationId xmlns:a16="http://schemas.microsoft.com/office/drawing/2014/main" id="{CB131EDA-2245-8749-8F34-B06DFC3A7996}"/>
                </a:ext>
              </a:extLst>
            </p:cNvPr>
            <p:cNvSpPr>
              <a:spLocks noChangeShapeType="1"/>
            </p:cNvSpPr>
            <p:nvPr/>
          </p:nvSpPr>
          <p:spPr bwMode="auto">
            <a:xfrm>
              <a:off x="4234" y="2717"/>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18" name="Line 45">
              <a:extLst>
                <a:ext uri="{FF2B5EF4-FFF2-40B4-BE49-F238E27FC236}">
                  <a16:creationId xmlns:a16="http://schemas.microsoft.com/office/drawing/2014/main" id="{43F8A12E-6B02-014C-8793-226538DE18AF}"/>
                </a:ext>
              </a:extLst>
            </p:cNvPr>
            <p:cNvSpPr>
              <a:spLocks noChangeShapeType="1"/>
            </p:cNvSpPr>
            <p:nvPr/>
          </p:nvSpPr>
          <p:spPr bwMode="auto">
            <a:xfrm>
              <a:off x="4742" y="2717"/>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19" name="Line 46">
              <a:extLst>
                <a:ext uri="{FF2B5EF4-FFF2-40B4-BE49-F238E27FC236}">
                  <a16:creationId xmlns:a16="http://schemas.microsoft.com/office/drawing/2014/main" id="{6DBB3AE9-1E57-8946-813D-1C59019733D3}"/>
                </a:ext>
              </a:extLst>
            </p:cNvPr>
            <p:cNvSpPr>
              <a:spLocks noChangeShapeType="1"/>
            </p:cNvSpPr>
            <p:nvPr/>
          </p:nvSpPr>
          <p:spPr bwMode="auto">
            <a:xfrm>
              <a:off x="4911" y="2717"/>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20" name="Line 47">
              <a:extLst>
                <a:ext uri="{FF2B5EF4-FFF2-40B4-BE49-F238E27FC236}">
                  <a16:creationId xmlns:a16="http://schemas.microsoft.com/office/drawing/2014/main" id="{F1AF1A97-407E-644F-8E16-42483B064C43}"/>
                </a:ext>
              </a:extLst>
            </p:cNvPr>
            <p:cNvSpPr>
              <a:spLocks noChangeShapeType="1"/>
            </p:cNvSpPr>
            <p:nvPr/>
          </p:nvSpPr>
          <p:spPr bwMode="auto">
            <a:xfrm>
              <a:off x="5081" y="2717"/>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 name="Group 98">
            <a:extLst>
              <a:ext uri="{FF2B5EF4-FFF2-40B4-BE49-F238E27FC236}">
                <a16:creationId xmlns:a16="http://schemas.microsoft.com/office/drawing/2014/main" id="{89B2CA6B-2146-D444-97A8-41605B830701}"/>
              </a:ext>
            </a:extLst>
          </p:cNvPr>
          <p:cNvGrpSpPr>
            <a:grpSpLocks/>
          </p:cNvGrpSpPr>
          <p:nvPr/>
        </p:nvGrpSpPr>
        <p:grpSpPr bwMode="auto">
          <a:xfrm>
            <a:off x="6262688" y="4541838"/>
            <a:ext cx="2265362" cy="576262"/>
            <a:chOff x="3944" y="3103"/>
            <a:chExt cx="1427" cy="363"/>
          </a:xfrm>
        </p:grpSpPr>
        <p:sp>
          <p:nvSpPr>
            <p:cNvPr id="75807" name="Rectangle 49">
              <a:extLst>
                <a:ext uri="{FF2B5EF4-FFF2-40B4-BE49-F238E27FC236}">
                  <a16:creationId xmlns:a16="http://schemas.microsoft.com/office/drawing/2014/main" id="{74138048-66CB-FA4A-8D65-78AE9CF267D6}"/>
                </a:ext>
              </a:extLst>
            </p:cNvPr>
            <p:cNvSpPr>
              <a:spLocks noChangeArrowheads="1"/>
            </p:cNvSpPr>
            <p:nvPr/>
          </p:nvSpPr>
          <p:spPr bwMode="auto">
            <a:xfrm>
              <a:off x="3944" y="3103"/>
              <a:ext cx="1427" cy="3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08" name="Line 50">
              <a:extLst>
                <a:ext uri="{FF2B5EF4-FFF2-40B4-BE49-F238E27FC236}">
                  <a16:creationId xmlns:a16="http://schemas.microsoft.com/office/drawing/2014/main" id="{7ECB4966-EB5D-5449-8C73-84823325CC6E}"/>
                </a:ext>
              </a:extLst>
            </p:cNvPr>
            <p:cNvSpPr>
              <a:spLocks noChangeShapeType="1"/>
            </p:cNvSpPr>
            <p:nvPr/>
          </p:nvSpPr>
          <p:spPr bwMode="auto">
            <a:xfrm>
              <a:off x="4065" y="3152"/>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09" name="Line 51">
              <a:extLst>
                <a:ext uri="{FF2B5EF4-FFF2-40B4-BE49-F238E27FC236}">
                  <a16:creationId xmlns:a16="http://schemas.microsoft.com/office/drawing/2014/main" id="{61E44F57-BFAA-3342-B1A8-D0F7AFA4C4DC}"/>
                </a:ext>
              </a:extLst>
            </p:cNvPr>
            <p:cNvSpPr>
              <a:spLocks noChangeShapeType="1"/>
            </p:cNvSpPr>
            <p:nvPr/>
          </p:nvSpPr>
          <p:spPr bwMode="auto">
            <a:xfrm>
              <a:off x="4234" y="3152"/>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10" name="Line 52">
              <a:extLst>
                <a:ext uri="{FF2B5EF4-FFF2-40B4-BE49-F238E27FC236}">
                  <a16:creationId xmlns:a16="http://schemas.microsoft.com/office/drawing/2014/main" id="{76ECD0EE-5B45-194A-981E-9662C3E4396D}"/>
                </a:ext>
              </a:extLst>
            </p:cNvPr>
            <p:cNvSpPr>
              <a:spLocks noChangeShapeType="1"/>
            </p:cNvSpPr>
            <p:nvPr/>
          </p:nvSpPr>
          <p:spPr bwMode="auto">
            <a:xfrm>
              <a:off x="4404" y="3152"/>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11" name="Line 53">
              <a:extLst>
                <a:ext uri="{FF2B5EF4-FFF2-40B4-BE49-F238E27FC236}">
                  <a16:creationId xmlns:a16="http://schemas.microsoft.com/office/drawing/2014/main" id="{6763B786-1F59-674C-92F8-784420AE5430}"/>
                </a:ext>
              </a:extLst>
            </p:cNvPr>
            <p:cNvSpPr>
              <a:spLocks noChangeShapeType="1"/>
            </p:cNvSpPr>
            <p:nvPr/>
          </p:nvSpPr>
          <p:spPr bwMode="auto">
            <a:xfrm>
              <a:off x="4573" y="3152"/>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12" name="Line 54">
              <a:extLst>
                <a:ext uri="{FF2B5EF4-FFF2-40B4-BE49-F238E27FC236}">
                  <a16:creationId xmlns:a16="http://schemas.microsoft.com/office/drawing/2014/main" id="{205E1CAF-97EC-D849-80AF-174F56A3F445}"/>
                </a:ext>
              </a:extLst>
            </p:cNvPr>
            <p:cNvSpPr>
              <a:spLocks noChangeShapeType="1"/>
            </p:cNvSpPr>
            <p:nvPr/>
          </p:nvSpPr>
          <p:spPr bwMode="auto">
            <a:xfrm>
              <a:off x="4742" y="3152"/>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13" name="Line 55">
              <a:extLst>
                <a:ext uri="{FF2B5EF4-FFF2-40B4-BE49-F238E27FC236}">
                  <a16:creationId xmlns:a16="http://schemas.microsoft.com/office/drawing/2014/main" id="{F44657C9-2568-1A46-BED4-6AEFE9042E4E}"/>
                </a:ext>
              </a:extLst>
            </p:cNvPr>
            <p:cNvSpPr>
              <a:spLocks noChangeShapeType="1"/>
            </p:cNvSpPr>
            <p:nvPr/>
          </p:nvSpPr>
          <p:spPr bwMode="auto">
            <a:xfrm>
              <a:off x="4911" y="3152"/>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14" name="Line 56">
              <a:extLst>
                <a:ext uri="{FF2B5EF4-FFF2-40B4-BE49-F238E27FC236}">
                  <a16:creationId xmlns:a16="http://schemas.microsoft.com/office/drawing/2014/main" id="{9D390699-F1C9-8C4D-81A0-068BBBFBC9AE}"/>
                </a:ext>
              </a:extLst>
            </p:cNvPr>
            <p:cNvSpPr>
              <a:spLocks noChangeShapeType="1"/>
            </p:cNvSpPr>
            <p:nvPr/>
          </p:nvSpPr>
          <p:spPr bwMode="auto">
            <a:xfrm>
              <a:off x="5081" y="3152"/>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815" name="Line 57">
              <a:extLst>
                <a:ext uri="{FF2B5EF4-FFF2-40B4-BE49-F238E27FC236}">
                  <a16:creationId xmlns:a16="http://schemas.microsoft.com/office/drawing/2014/main" id="{7FE1A7F5-2E19-6049-AF09-DB1163957719}"/>
                </a:ext>
              </a:extLst>
            </p:cNvPr>
            <p:cNvSpPr>
              <a:spLocks noChangeShapeType="1"/>
            </p:cNvSpPr>
            <p:nvPr/>
          </p:nvSpPr>
          <p:spPr bwMode="auto">
            <a:xfrm>
              <a:off x="5250" y="3152"/>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8" name="Rectangle 58">
            <a:extLst>
              <a:ext uri="{FF2B5EF4-FFF2-40B4-BE49-F238E27FC236}">
                <a16:creationId xmlns:a16="http://schemas.microsoft.com/office/drawing/2014/main" id="{BE9991FD-0729-6147-8B06-B5A9AF1C5C49}"/>
              </a:ext>
            </a:extLst>
          </p:cNvPr>
          <p:cNvSpPr>
            <a:spLocks noChangeArrowheads="1"/>
          </p:cNvSpPr>
          <p:nvPr/>
        </p:nvSpPr>
        <p:spPr bwMode="auto">
          <a:xfrm>
            <a:off x="6186488" y="3121025"/>
            <a:ext cx="2419350" cy="1344613"/>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75786" name="Group 79">
            <a:extLst>
              <a:ext uri="{FF2B5EF4-FFF2-40B4-BE49-F238E27FC236}">
                <a16:creationId xmlns:a16="http://schemas.microsoft.com/office/drawing/2014/main" id="{F3977809-8D08-704A-897C-1075D297729D}"/>
              </a:ext>
            </a:extLst>
          </p:cNvPr>
          <p:cNvGrpSpPr>
            <a:grpSpLocks/>
          </p:cNvGrpSpPr>
          <p:nvPr/>
        </p:nvGrpSpPr>
        <p:grpSpPr bwMode="auto">
          <a:xfrm>
            <a:off x="4765675" y="1892300"/>
            <a:ext cx="1343025" cy="3073400"/>
            <a:chOff x="3001" y="1193"/>
            <a:chExt cx="846" cy="1936"/>
          </a:xfrm>
        </p:grpSpPr>
        <p:sp>
          <p:nvSpPr>
            <p:cNvPr id="75797" name="Rectangle 59">
              <a:extLst>
                <a:ext uri="{FF2B5EF4-FFF2-40B4-BE49-F238E27FC236}">
                  <a16:creationId xmlns:a16="http://schemas.microsoft.com/office/drawing/2014/main" id="{4D466021-2760-A94F-90E9-FD9FF620F82B}"/>
                </a:ext>
              </a:extLst>
            </p:cNvPr>
            <p:cNvSpPr>
              <a:spLocks noChangeArrowheads="1"/>
            </p:cNvSpPr>
            <p:nvPr/>
          </p:nvSpPr>
          <p:spPr bwMode="auto">
            <a:xfrm>
              <a:off x="3170" y="1193"/>
              <a:ext cx="508" cy="194"/>
            </a:xfrm>
            <a:prstGeom prst="rect">
              <a:avLst/>
            </a:prstGeom>
            <a:solidFill>
              <a:srgbClr val="CCCCFF"/>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798" name="Rectangle 64">
              <a:extLst>
                <a:ext uri="{FF2B5EF4-FFF2-40B4-BE49-F238E27FC236}">
                  <a16:creationId xmlns:a16="http://schemas.microsoft.com/office/drawing/2014/main" id="{4C22EFAF-BCEF-7A42-8FE0-02BAB7572865}"/>
                </a:ext>
              </a:extLst>
            </p:cNvPr>
            <p:cNvSpPr>
              <a:spLocks noChangeArrowheads="1"/>
            </p:cNvSpPr>
            <p:nvPr/>
          </p:nvSpPr>
          <p:spPr bwMode="auto">
            <a:xfrm>
              <a:off x="3170" y="1629"/>
              <a:ext cx="508" cy="194"/>
            </a:xfrm>
            <a:prstGeom prst="rect">
              <a:avLst/>
            </a:prstGeom>
            <a:solidFill>
              <a:srgbClr val="CCCCFF"/>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Branch</a:t>
              </a:r>
            </a:p>
          </p:txBody>
        </p:sp>
        <p:sp>
          <p:nvSpPr>
            <p:cNvPr id="75799" name="Rectangle 65">
              <a:extLst>
                <a:ext uri="{FF2B5EF4-FFF2-40B4-BE49-F238E27FC236}">
                  <a16:creationId xmlns:a16="http://schemas.microsoft.com/office/drawing/2014/main" id="{9356DE6F-480D-E84C-93FB-DF6089648853}"/>
                </a:ext>
              </a:extLst>
            </p:cNvPr>
            <p:cNvSpPr>
              <a:spLocks noChangeArrowheads="1"/>
            </p:cNvSpPr>
            <p:nvPr/>
          </p:nvSpPr>
          <p:spPr bwMode="auto">
            <a:xfrm>
              <a:off x="3339" y="2064"/>
              <a:ext cx="508" cy="194"/>
            </a:xfrm>
            <a:prstGeom prst="rect">
              <a:avLst/>
            </a:prstGeom>
            <a:solidFill>
              <a:srgbClr val="CCCCFF"/>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Path A</a:t>
              </a:r>
            </a:p>
          </p:txBody>
        </p:sp>
        <p:sp>
          <p:nvSpPr>
            <p:cNvPr id="75800" name="Rectangle 66">
              <a:extLst>
                <a:ext uri="{FF2B5EF4-FFF2-40B4-BE49-F238E27FC236}">
                  <a16:creationId xmlns:a16="http://schemas.microsoft.com/office/drawing/2014/main" id="{4E2AE25A-FD43-C04A-886F-37405A4897CF}"/>
                </a:ext>
              </a:extLst>
            </p:cNvPr>
            <p:cNvSpPr>
              <a:spLocks noChangeArrowheads="1"/>
            </p:cNvSpPr>
            <p:nvPr/>
          </p:nvSpPr>
          <p:spPr bwMode="auto">
            <a:xfrm>
              <a:off x="3001" y="2499"/>
              <a:ext cx="508" cy="194"/>
            </a:xfrm>
            <a:prstGeom prst="rect">
              <a:avLst/>
            </a:prstGeom>
            <a:solidFill>
              <a:srgbClr val="CCCCFF"/>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Path B</a:t>
              </a:r>
            </a:p>
          </p:txBody>
        </p:sp>
        <p:sp>
          <p:nvSpPr>
            <p:cNvPr id="75801" name="Rectangle 67">
              <a:extLst>
                <a:ext uri="{FF2B5EF4-FFF2-40B4-BE49-F238E27FC236}">
                  <a16:creationId xmlns:a16="http://schemas.microsoft.com/office/drawing/2014/main" id="{75977CCA-E430-8445-B61C-BD69BFEC9014}"/>
                </a:ext>
              </a:extLst>
            </p:cNvPr>
            <p:cNvSpPr>
              <a:spLocks noChangeArrowheads="1"/>
            </p:cNvSpPr>
            <p:nvPr/>
          </p:nvSpPr>
          <p:spPr bwMode="auto">
            <a:xfrm>
              <a:off x="3170" y="2935"/>
              <a:ext cx="508" cy="194"/>
            </a:xfrm>
            <a:prstGeom prst="rect">
              <a:avLst/>
            </a:prstGeom>
            <a:solidFill>
              <a:srgbClr val="CCCCFF"/>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75802" name="AutoShape 68">
              <a:extLst>
                <a:ext uri="{FF2B5EF4-FFF2-40B4-BE49-F238E27FC236}">
                  <a16:creationId xmlns:a16="http://schemas.microsoft.com/office/drawing/2014/main" id="{ED152167-E649-C64A-A2BD-55D276979FC5}"/>
                </a:ext>
              </a:extLst>
            </p:cNvPr>
            <p:cNvCxnSpPr>
              <a:cxnSpLocks noChangeShapeType="1"/>
              <a:stCxn id="75797" idx="2"/>
              <a:endCxn id="75798" idx="0"/>
            </p:cNvCxnSpPr>
            <p:nvPr/>
          </p:nvCxnSpPr>
          <p:spPr bwMode="auto">
            <a:xfrm rot="5400000">
              <a:off x="3312" y="1508"/>
              <a:ext cx="224" cy="0"/>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5803" name="AutoShape 75">
              <a:extLst>
                <a:ext uri="{FF2B5EF4-FFF2-40B4-BE49-F238E27FC236}">
                  <a16:creationId xmlns:a16="http://schemas.microsoft.com/office/drawing/2014/main" id="{4AB98BB0-C799-F045-8673-62CA2064FA39}"/>
                </a:ext>
              </a:extLst>
            </p:cNvPr>
            <p:cNvCxnSpPr>
              <a:cxnSpLocks noChangeShapeType="1"/>
              <a:stCxn id="75798" idx="2"/>
              <a:endCxn id="75800" idx="0"/>
            </p:cNvCxnSpPr>
            <p:nvPr/>
          </p:nvCxnSpPr>
          <p:spPr bwMode="auto">
            <a:xfrm rot="5400000">
              <a:off x="3011" y="2076"/>
              <a:ext cx="658" cy="169"/>
            </a:xfrm>
            <a:prstGeom prst="curvedConnector3">
              <a:avLst>
                <a:gd name="adj1" fmla="val 20060"/>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5804" name="AutoShape 76">
              <a:extLst>
                <a:ext uri="{FF2B5EF4-FFF2-40B4-BE49-F238E27FC236}">
                  <a16:creationId xmlns:a16="http://schemas.microsoft.com/office/drawing/2014/main" id="{D29A596B-2627-5D44-884E-399E9EDFFD37}"/>
                </a:ext>
              </a:extLst>
            </p:cNvPr>
            <p:cNvCxnSpPr>
              <a:cxnSpLocks noChangeShapeType="1"/>
              <a:stCxn id="75798" idx="2"/>
              <a:endCxn id="75799" idx="0"/>
            </p:cNvCxnSpPr>
            <p:nvPr/>
          </p:nvCxnSpPr>
          <p:spPr bwMode="auto">
            <a:xfrm rot="16200000" flipH="1">
              <a:off x="3397" y="1859"/>
              <a:ext cx="223" cy="169"/>
            </a:xfrm>
            <a:prstGeom prst="curvedConnector3">
              <a:avLst>
                <a:gd name="adj1" fmla="val 49778"/>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5805" name="AutoShape 77">
              <a:extLst>
                <a:ext uri="{FF2B5EF4-FFF2-40B4-BE49-F238E27FC236}">
                  <a16:creationId xmlns:a16="http://schemas.microsoft.com/office/drawing/2014/main" id="{8E59BE40-7967-8947-9B1D-14E99CBD1E70}"/>
                </a:ext>
              </a:extLst>
            </p:cNvPr>
            <p:cNvCxnSpPr>
              <a:cxnSpLocks noChangeShapeType="1"/>
              <a:stCxn id="75799" idx="2"/>
              <a:endCxn id="75801" idx="0"/>
            </p:cNvCxnSpPr>
            <p:nvPr/>
          </p:nvCxnSpPr>
          <p:spPr bwMode="auto">
            <a:xfrm rot="5400000">
              <a:off x="3179" y="2512"/>
              <a:ext cx="659" cy="169"/>
            </a:xfrm>
            <a:prstGeom prst="curvedConnector3">
              <a:avLst>
                <a:gd name="adj1" fmla="val 82852"/>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5806" name="AutoShape 78">
              <a:extLst>
                <a:ext uri="{FF2B5EF4-FFF2-40B4-BE49-F238E27FC236}">
                  <a16:creationId xmlns:a16="http://schemas.microsoft.com/office/drawing/2014/main" id="{F77C14F0-29B2-4F48-B6E4-40BD05069C0A}"/>
                </a:ext>
              </a:extLst>
            </p:cNvPr>
            <p:cNvCxnSpPr>
              <a:cxnSpLocks noChangeShapeType="1"/>
              <a:stCxn id="75800" idx="2"/>
              <a:endCxn id="75801" idx="0"/>
            </p:cNvCxnSpPr>
            <p:nvPr/>
          </p:nvCxnSpPr>
          <p:spPr bwMode="auto">
            <a:xfrm rot="16200000" flipH="1">
              <a:off x="3228" y="2729"/>
              <a:ext cx="224" cy="169"/>
            </a:xfrm>
            <a:prstGeom prst="curvedConnector3">
              <a:avLst>
                <a:gd name="adj1" fmla="val 50000"/>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60" name="Rectangle 84">
            <a:extLst>
              <a:ext uri="{FF2B5EF4-FFF2-40B4-BE49-F238E27FC236}">
                <a16:creationId xmlns:a16="http://schemas.microsoft.com/office/drawing/2014/main" id="{4F3876E2-A276-BD40-930D-9F55D7D7914F}"/>
              </a:ext>
            </a:extLst>
          </p:cNvPr>
          <p:cNvSpPr>
            <a:spLocks noChangeArrowheads="1"/>
          </p:cNvSpPr>
          <p:nvPr/>
        </p:nvSpPr>
        <p:spPr bwMode="auto">
          <a:xfrm>
            <a:off x="5033963" y="1892300"/>
            <a:ext cx="806450" cy="307975"/>
          </a:xfrm>
          <a:prstGeom prst="rect">
            <a:avLst/>
          </a:prstGeom>
          <a:solidFill>
            <a:srgbClr val="FF6699"/>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1" name="Rectangle 85">
            <a:extLst>
              <a:ext uri="{FF2B5EF4-FFF2-40B4-BE49-F238E27FC236}">
                <a16:creationId xmlns:a16="http://schemas.microsoft.com/office/drawing/2014/main" id="{DD29741A-A73F-8F4E-89FA-5EDB8CDE2AF1}"/>
              </a:ext>
            </a:extLst>
          </p:cNvPr>
          <p:cNvSpPr>
            <a:spLocks noChangeArrowheads="1"/>
          </p:cNvSpPr>
          <p:nvPr/>
        </p:nvSpPr>
        <p:spPr bwMode="auto">
          <a:xfrm>
            <a:off x="5033963" y="2584450"/>
            <a:ext cx="806450" cy="307975"/>
          </a:xfrm>
          <a:prstGeom prst="rect">
            <a:avLst/>
          </a:prstGeom>
          <a:solidFill>
            <a:srgbClr val="FF6699"/>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Branch</a:t>
            </a:r>
          </a:p>
        </p:txBody>
      </p:sp>
      <p:sp>
        <p:nvSpPr>
          <p:cNvPr id="62" name="Rectangle 86">
            <a:extLst>
              <a:ext uri="{FF2B5EF4-FFF2-40B4-BE49-F238E27FC236}">
                <a16:creationId xmlns:a16="http://schemas.microsoft.com/office/drawing/2014/main" id="{B22C2764-A06C-7D4A-97F6-EC22E0F3109F}"/>
              </a:ext>
            </a:extLst>
          </p:cNvPr>
          <p:cNvSpPr>
            <a:spLocks noChangeArrowheads="1"/>
          </p:cNvSpPr>
          <p:nvPr/>
        </p:nvSpPr>
        <p:spPr bwMode="auto">
          <a:xfrm>
            <a:off x="5302250" y="3275013"/>
            <a:ext cx="806450" cy="307975"/>
          </a:xfrm>
          <a:prstGeom prst="rect">
            <a:avLst/>
          </a:prstGeom>
          <a:solidFill>
            <a:srgbClr val="FF6699"/>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Path A</a:t>
            </a:r>
          </a:p>
        </p:txBody>
      </p:sp>
      <p:sp>
        <p:nvSpPr>
          <p:cNvPr id="63" name="Rectangle 87">
            <a:extLst>
              <a:ext uri="{FF2B5EF4-FFF2-40B4-BE49-F238E27FC236}">
                <a16:creationId xmlns:a16="http://schemas.microsoft.com/office/drawing/2014/main" id="{6D802625-32F3-F44B-B239-A28E6617E334}"/>
              </a:ext>
            </a:extLst>
          </p:cNvPr>
          <p:cNvSpPr>
            <a:spLocks noChangeArrowheads="1"/>
          </p:cNvSpPr>
          <p:nvPr/>
        </p:nvSpPr>
        <p:spPr bwMode="auto">
          <a:xfrm>
            <a:off x="4765675" y="3965575"/>
            <a:ext cx="806450" cy="307975"/>
          </a:xfrm>
          <a:prstGeom prst="rect">
            <a:avLst/>
          </a:prstGeom>
          <a:solidFill>
            <a:srgbClr val="FF6699"/>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Path B</a:t>
            </a:r>
          </a:p>
        </p:txBody>
      </p:sp>
      <p:sp>
        <p:nvSpPr>
          <p:cNvPr id="64" name="Rectangle 88">
            <a:extLst>
              <a:ext uri="{FF2B5EF4-FFF2-40B4-BE49-F238E27FC236}">
                <a16:creationId xmlns:a16="http://schemas.microsoft.com/office/drawing/2014/main" id="{06083A22-E492-2F49-A9CE-1229BDA5A928}"/>
              </a:ext>
            </a:extLst>
          </p:cNvPr>
          <p:cNvSpPr>
            <a:spLocks noChangeArrowheads="1"/>
          </p:cNvSpPr>
          <p:nvPr/>
        </p:nvSpPr>
        <p:spPr bwMode="auto">
          <a:xfrm>
            <a:off x="5033963" y="4657725"/>
            <a:ext cx="806450" cy="307975"/>
          </a:xfrm>
          <a:prstGeom prst="rect">
            <a:avLst/>
          </a:prstGeom>
          <a:solidFill>
            <a:srgbClr val="FF6699"/>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 name="Group 102">
            <a:extLst>
              <a:ext uri="{FF2B5EF4-FFF2-40B4-BE49-F238E27FC236}">
                <a16:creationId xmlns:a16="http://schemas.microsoft.com/office/drawing/2014/main" id="{C2A32945-80FD-2948-871E-AD6456DA41BD}"/>
              </a:ext>
            </a:extLst>
          </p:cNvPr>
          <p:cNvGrpSpPr>
            <a:grpSpLocks/>
          </p:cNvGrpSpPr>
          <p:nvPr/>
        </p:nvGrpSpPr>
        <p:grpSpPr bwMode="auto">
          <a:xfrm>
            <a:off x="5073650" y="2814638"/>
            <a:ext cx="690563" cy="384175"/>
            <a:chOff x="3195" y="2015"/>
            <a:chExt cx="435" cy="242"/>
          </a:xfrm>
        </p:grpSpPr>
        <p:sp>
          <p:nvSpPr>
            <p:cNvPr id="75795" name="AutoShape 100">
              <a:extLst>
                <a:ext uri="{FF2B5EF4-FFF2-40B4-BE49-F238E27FC236}">
                  <a16:creationId xmlns:a16="http://schemas.microsoft.com/office/drawing/2014/main" id="{32A9578C-9F3D-3544-80DB-47D538C400F5}"/>
                </a:ext>
              </a:extLst>
            </p:cNvPr>
            <p:cNvSpPr>
              <a:spLocks noChangeArrowheads="1"/>
            </p:cNvSpPr>
            <p:nvPr/>
          </p:nvSpPr>
          <p:spPr bwMode="auto">
            <a:xfrm>
              <a:off x="3195" y="2015"/>
              <a:ext cx="435" cy="242"/>
            </a:xfrm>
            <a:prstGeom prst="irregularSeal1">
              <a:avLst/>
            </a:prstGeom>
            <a:solidFill>
              <a:srgbClr val="FF3300"/>
            </a:solidFill>
            <a:ln w="952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796" name="AutoShape 101">
              <a:extLst>
                <a:ext uri="{FF2B5EF4-FFF2-40B4-BE49-F238E27FC236}">
                  <a16:creationId xmlns:a16="http://schemas.microsoft.com/office/drawing/2014/main" id="{49F23E53-3EBD-3D46-882B-978A7A87DE22}"/>
                </a:ext>
              </a:extLst>
            </p:cNvPr>
            <p:cNvSpPr>
              <a:spLocks noChangeArrowheads="1"/>
            </p:cNvSpPr>
            <p:nvPr/>
          </p:nvSpPr>
          <p:spPr bwMode="auto">
            <a:xfrm>
              <a:off x="3267" y="2087"/>
              <a:ext cx="290" cy="97"/>
            </a:xfrm>
            <a:prstGeom prst="irregularSeal1">
              <a:avLst/>
            </a:prstGeom>
            <a:solidFill>
              <a:srgbClr val="FFFF00"/>
            </a:solidFill>
            <a:ln w="952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75793" name="TextBox 67">
            <a:extLst>
              <a:ext uri="{FF2B5EF4-FFF2-40B4-BE49-F238E27FC236}">
                <a16:creationId xmlns:a16="http://schemas.microsoft.com/office/drawing/2014/main" id="{F6F0FA66-FE52-004E-A70A-9AF597E8B86D}"/>
              </a:ext>
            </a:extLst>
          </p:cNvPr>
          <p:cNvSpPr txBox="1">
            <a:spLocks noChangeArrowheads="1"/>
          </p:cNvSpPr>
          <p:nvPr/>
        </p:nvSpPr>
        <p:spPr bwMode="auto">
          <a:xfrm>
            <a:off x="152400" y="6553200"/>
            <a:ext cx="15446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Tor Aamodt</a:t>
            </a:r>
          </a:p>
        </p:txBody>
      </p:sp>
    </p:spTree>
    <p:extLst>
      <p:ext uri="{BB962C8B-B14F-4D97-AF65-F5344CB8AC3E}">
        <p14:creationId xmlns:p14="http://schemas.microsoft.com/office/powerpoint/2010/main" val="12822663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3538">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xit" presetSubtype="0" fill="hold" grpId="1" nodeType="withEffect">
                                  <p:stCondLst>
                                    <p:cond delay="0"/>
                                  </p:stCondLst>
                                  <p:childTnLst>
                                    <p:set>
                                      <p:cBhvr>
                                        <p:cTn id="18" dur="1" fill="hold">
                                          <p:stCondLst>
                                            <p:cond delay="0"/>
                                          </p:stCondLst>
                                        </p:cTn>
                                        <p:tgtEl>
                                          <p:spTgt spid="60"/>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6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xit" presetSubtype="0" fill="hold" grpId="1" nodeType="withEffect">
                                  <p:stCondLst>
                                    <p:cond delay="0"/>
                                  </p:stCondLst>
                                  <p:childTnLst>
                                    <p:set>
                                      <p:cBhvr>
                                        <p:cTn id="28" dur="1" fill="hold">
                                          <p:stCondLst>
                                            <p:cond delay="0"/>
                                          </p:stCondLst>
                                        </p:cTn>
                                        <p:tgtEl>
                                          <p:spTgt spid="61"/>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62"/>
                                        </p:tgtEl>
                                        <p:attrNameLst>
                                          <p:attrName>style.visibility</p:attrName>
                                        </p:attrNameLst>
                                      </p:cBhvr>
                                      <p:to>
                                        <p:strVal val="visible"/>
                                      </p:to>
                                    </p:set>
                                  </p:childTnLst>
                                </p:cTn>
                              </p:par>
                              <p:par>
                                <p:cTn id="31" presetID="1" presetClass="exit" presetSubtype="0" fill="hold" nodeType="withEffect">
                                  <p:stCondLst>
                                    <p:cond delay="0"/>
                                  </p:stCondLst>
                                  <p:childTnLst>
                                    <p:set>
                                      <p:cBhvr>
                                        <p:cTn id="32" dur="1" fill="hold">
                                          <p:stCondLst>
                                            <p:cond delay="0"/>
                                          </p:stCondLst>
                                        </p:cTn>
                                        <p:tgtEl>
                                          <p:spTgt spid="8"/>
                                        </p:tgtEl>
                                        <p:attrNameLst>
                                          <p:attrName>style.visibility</p:attrName>
                                        </p:attrNameLst>
                                      </p:cBhvr>
                                      <p:to>
                                        <p:strVal val="hidden"/>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par>
                                <p:cTn id="37" presetID="1" presetClass="exit" presetSubtype="0" fill="hold" grpId="1" nodeType="withEffect">
                                  <p:stCondLst>
                                    <p:cond delay="0"/>
                                  </p:stCondLst>
                                  <p:childTnLst>
                                    <p:set>
                                      <p:cBhvr>
                                        <p:cTn id="38" dur="1" fill="hold">
                                          <p:stCondLst>
                                            <p:cond delay="0"/>
                                          </p:stCondLst>
                                        </p:cTn>
                                        <p:tgtEl>
                                          <p:spTgt spid="62"/>
                                        </p:tgtEl>
                                        <p:attrNameLst>
                                          <p:attrName>style.visibility</p:attrName>
                                        </p:attrNameLst>
                                      </p:cBhvr>
                                      <p:to>
                                        <p:strVal val="hidden"/>
                                      </p:to>
                                    </p:set>
                                  </p:childTnLst>
                                </p:cTn>
                              </p:par>
                              <p:par>
                                <p:cTn id="39" presetID="1" presetClass="entr" presetSubtype="0" fill="hold" grpId="0" nodeType="withEffect">
                                  <p:stCondLst>
                                    <p:cond delay="0"/>
                                  </p:stCondLst>
                                  <p:childTnLst>
                                    <p:set>
                                      <p:cBhvr>
                                        <p:cTn id="40" dur="1" fill="hold">
                                          <p:stCondLst>
                                            <p:cond delay="0"/>
                                          </p:stCondLst>
                                        </p:cTn>
                                        <p:tgtEl>
                                          <p:spTgt spid="63"/>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0"/>
                                          </p:stCondLst>
                                        </p:cTn>
                                        <p:tgtEl>
                                          <p:spTgt spid="6"/>
                                        </p:tgtEl>
                                        <p:attrNameLst>
                                          <p:attrName>style.visibility</p:attrName>
                                        </p:attrNameLst>
                                      </p:cBhvr>
                                      <p:to>
                                        <p:strVal val="visible"/>
                                      </p:to>
                                    </p:set>
                                  </p:childTnLst>
                                </p:cTn>
                              </p:par>
                              <p:par>
                                <p:cTn id="45" presetID="1" presetClass="exit" presetSubtype="0" fill="hold" grpId="1" nodeType="withEffect">
                                  <p:stCondLst>
                                    <p:cond delay="0"/>
                                  </p:stCondLst>
                                  <p:childTnLst>
                                    <p:set>
                                      <p:cBhvr>
                                        <p:cTn id="46" dur="1" fill="hold">
                                          <p:stCondLst>
                                            <p:cond delay="0"/>
                                          </p:stCondLst>
                                        </p:cTn>
                                        <p:tgtEl>
                                          <p:spTgt spid="63"/>
                                        </p:tgtEl>
                                        <p:attrNameLst>
                                          <p:attrName>style.visibility</p:attrName>
                                        </p:attrNameLst>
                                      </p:cBhvr>
                                      <p:to>
                                        <p:strVal val="hidden"/>
                                      </p:to>
                                    </p:set>
                                  </p:childTnLst>
                                </p:cTn>
                              </p:par>
                              <p:par>
                                <p:cTn id="47" presetID="1" presetClass="entr" presetSubtype="0" fill="hold" grpId="0" nodeType="withEffect">
                                  <p:stCondLst>
                                    <p:cond delay="0"/>
                                  </p:stCondLst>
                                  <p:childTnLst>
                                    <p:set>
                                      <p:cBhvr>
                                        <p:cTn id="48" dur="1" fill="hold">
                                          <p:stCondLst>
                                            <p:cond delay="0"/>
                                          </p:stCondLst>
                                        </p:cTn>
                                        <p:tgtEl>
                                          <p:spTgt spid="64"/>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8"/>
                                        </p:tgtEl>
                                        <p:attrNameLst>
                                          <p:attrName>style.visibility</p:attrName>
                                        </p:attrNameLst>
                                      </p:cBhvr>
                                      <p:to>
                                        <p:strVal val="visible"/>
                                      </p:to>
                                    </p:set>
                                  </p:childTnLst>
                                </p:cTn>
                              </p:par>
                              <p:par>
                                <p:cTn id="53" presetID="1" presetClass="exit" presetSubtype="0" fill="hold" grpId="1" nodeType="withEffect">
                                  <p:stCondLst>
                                    <p:cond delay="0"/>
                                  </p:stCondLst>
                                  <p:childTnLst>
                                    <p:set>
                                      <p:cBhvr>
                                        <p:cTn id="54" dur="1" fill="hold">
                                          <p:stCondLst>
                                            <p:cond delay="0"/>
                                          </p:stCondLst>
                                        </p:cTn>
                                        <p:tgtEl>
                                          <p:spTgt spid="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60" grpId="0" animBg="1"/>
      <p:bldP spid="60" grpId="1" animBg="1"/>
      <p:bldP spid="61" grpId="0" animBg="1"/>
      <p:bldP spid="61" grpId="1" animBg="1"/>
      <p:bldP spid="62" grpId="0" animBg="1"/>
      <p:bldP spid="62" grpId="1" animBg="1"/>
      <p:bldP spid="63" grpId="0" animBg="1"/>
      <p:bldP spid="63" grpId="1" animBg="1"/>
      <p:bldP spid="64" grpId="0" animBg="1"/>
      <p:bldP spid="64" grpId="1"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SIMT Utilization</a:t>
            </a:r>
          </a:p>
        </p:txBody>
      </p:sp>
      <p:sp>
        <p:nvSpPr>
          <p:cNvPr id="3" name="Marcador de contenido 2"/>
          <p:cNvSpPr>
            <a:spLocks noGrp="1"/>
          </p:cNvSpPr>
          <p:nvPr>
            <p:ph idx="1"/>
          </p:nvPr>
        </p:nvSpPr>
        <p:spPr>
          <a:xfrm>
            <a:off x="251521" y="908720"/>
            <a:ext cx="8568952" cy="5472534"/>
          </a:xfrm>
        </p:spPr>
        <p:txBody>
          <a:bodyPr>
            <a:normAutofit/>
          </a:bodyPr>
          <a:lstStyle/>
          <a:p>
            <a:r>
              <a:rPr lang="en-US" dirty="0"/>
              <a:t>Intra-warp </a:t>
            </a:r>
            <a:r>
              <a:rPr lang="en-US" dirty="0">
                <a:solidFill>
                  <a:srgbClr val="FF0000"/>
                </a:solidFill>
              </a:rPr>
              <a:t>divergence</a:t>
            </a:r>
          </a:p>
        </p:txBody>
      </p:sp>
      <p:sp>
        <p:nvSpPr>
          <p:cNvPr id="7" name="CuadroTexto 6"/>
          <p:cNvSpPr txBox="1"/>
          <p:nvPr/>
        </p:nvSpPr>
        <p:spPr>
          <a:xfrm>
            <a:off x="578104" y="1772816"/>
            <a:ext cx="4209920" cy="1815882"/>
          </a:xfrm>
          <a:prstGeom prst="rect">
            <a:avLst/>
          </a:prstGeom>
          <a:solidFill>
            <a:schemeClr val="bg1">
              <a:lumMod val="95000"/>
            </a:schemeClr>
          </a:solidFill>
        </p:spPr>
        <p:txBody>
          <a:bodyPr wrap="square" rtlCol="0">
            <a:spAutoFit/>
          </a:bodyPr>
          <a:lstStyle/>
          <a:p>
            <a:r>
              <a:rPr lang="en-US" sz="1600" dirty="0">
                <a:latin typeface="Courier"/>
                <a:cs typeface="Courier"/>
              </a:rPr>
              <a:t>Compute(</a:t>
            </a:r>
            <a:r>
              <a:rPr lang="en-US" sz="1600" dirty="0" err="1">
                <a:latin typeface="Courier"/>
                <a:cs typeface="Courier"/>
              </a:rPr>
              <a:t>threadIdx.x</a:t>
            </a:r>
            <a:r>
              <a:rPr lang="en-US" sz="1600" dirty="0">
                <a:latin typeface="Courier"/>
                <a:cs typeface="Courier"/>
              </a:rPr>
              <a:t>);</a:t>
            </a:r>
          </a:p>
          <a:p>
            <a:r>
              <a:rPr lang="en-US" sz="1600" dirty="0">
                <a:latin typeface="Courier"/>
                <a:cs typeface="Courier"/>
              </a:rPr>
              <a:t>if (</a:t>
            </a:r>
            <a:r>
              <a:rPr lang="en-US" sz="1600" dirty="0" err="1">
                <a:latin typeface="Courier"/>
                <a:cs typeface="Courier"/>
              </a:rPr>
              <a:t>threadIdx.x</a:t>
            </a:r>
            <a:r>
              <a:rPr lang="en-US" sz="1600" dirty="0">
                <a:latin typeface="Courier"/>
                <a:cs typeface="Courier"/>
              </a:rPr>
              <a:t> % 2 == 0){</a:t>
            </a:r>
          </a:p>
          <a:p>
            <a:r>
              <a:rPr lang="en-US" sz="1600" dirty="0">
                <a:latin typeface="Courier"/>
                <a:cs typeface="Courier"/>
              </a:rPr>
              <a:t>  </a:t>
            </a:r>
            <a:r>
              <a:rPr lang="en-US" sz="1600" dirty="0" err="1">
                <a:latin typeface="Courier"/>
                <a:cs typeface="Courier"/>
              </a:rPr>
              <a:t>Do_this</a:t>
            </a:r>
            <a:r>
              <a:rPr lang="en-US" sz="1600" dirty="0">
                <a:latin typeface="Courier"/>
                <a:cs typeface="Courier"/>
              </a:rPr>
              <a:t>(</a:t>
            </a:r>
            <a:r>
              <a:rPr lang="en-US" sz="1600" dirty="0" err="1">
                <a:latin typeface="Courier"/>
                <a:cs typeface="Courier"/>
              </a:rPr>
              <a:t>threadIdx.x</a:t>
            </a:r>
            <a:r>
              <a:rPr lang="en-US" sz="1600" dirty="0">
                <a:latin typeface="Courier"/>
                <a:cs typeface="Courier"/>
              </a:rPr>
              <a:t>);</a:t>
            </a:r>
          </a:p>
          <a:p>
            <a:r>
              <a:rPr lang="en-US" sz="1600" dirty="0">
                <a:latin typeface="Courier"/>
                <a:cs typeface="Courier"/>
              </a:rPr>
              <a:t>}</a:t>
            </a:r>
          </a:p>
          <a:p>
            <a:r>
              <a:rPr lang="en-US" sz="1600" dirty="0">
                <a:latin typeface="Courier"/>
                <a:cs typeface="Courier"/>
              </a:rPr>
              <a:t>else{</a:t>
            </a:r>
          </a:p>
          <a:p>
            <a:r>
              <a:rPr lang="en-US" sz="1600" dirty="0">
                <a:latin typeface="Courier"/>
                <a:cs typeface="Courier"/>
              </a:rPr>
              <a:t>  </a:t>
            </a:r>
            <a:r>
              <a:rPr lang="en-US" sz="1600" dirty="0" err="1">
                <a:latin typeface="Courier"/>
                <a:cs typeface="Courier"/>
              </a:rPr>
              <a:t>Do_that</a:t>
            </a:r>
            <a:r>
              <a:rPr lang="en-US" sz="1600" dirty="0">
                <a:latin typeface="Courier"/>
                <a:cs typeface="Courier"/>
              </a:rPr>
              <a:t>(</a:t>
            </a:r>
            <a:r>
              <a:rPr lang="en-US" sz="1600" dirty="0" err="1">
                <a:latin typeface="Courier"/>
                <a:cs typeface="Courier"/>
              </a:rPr>
              <a:t>threadIdx.x</a:t>
            </a:r>
            <a:r>
              <a:rPr lang="en-US" sz="1600" dirty="0">
                <a:latin typeface="Courier"/>
                <a:cs typeface="Courier"/>
              </a:rPr>
              <a:t>);</a:t>
            </a:r>
          </a:p>
          <a:p>
            <a:r>
              <a:rPr lang="en-US" sz="1600" dirty="0">
                <a:latin typeface="Courier"/>
                <a:cs typeface="Courier"/>
              </a:rPr>
              <a:t>}</a:t>
            </a:r>
          </a:p>
        </p:txBody>
      </p:sp>
      <p:pic>
        <p:nvPicPr>
          <p:cNvPr id="5" name="Imagen 4"/>
          <p:cNvPicPr>
            <a:picLocks noChangeAspect="1"/>
          </p:cNvPicPr>
          <p:nvPr/>
        </p:nvPicPr>
        <p:blipFill>
          <a:blip r:embed="rId2"/>
          <a:stretch>
            <a:fillRect/>
          </a:stretch>
        </p:blipFill>
        <p:spPr>
          <a:xfrm>
            <a:off x="5405976" y="1340768"/>
            <a:ext cx="2964460" cy="4680000"/>
          </a:xfrm>
          <a:prstGeom prst="rect">
            <a:avLst/>
          </a:prstGeom>
        </p:spPr>
      </p:pic>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67</a:t>
            </a:fld>
            <a:endParaRPr lang="en-US" altLang="en-US"/>
          </a:p>
        </p:txBody>
      </p:sp>
    </p:spTree>
    <p:extLst>
      <p:ext uri="{BB962C8B-B14F-4D97-AF65-F5344CB8AC3E}">
        <p14:creationId xmlns:p14="http://schemas.microsoft.com/office/powerpoint/2010/main" val="208229643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Increasing SIMT Utilization</a:t>
            </a:r>
          </a:p>
        </p:txBody>
      </p:sp>
      <p:sp>
        <p:nvSpPr>
          <p:cNvPr id="3" name="Marcador de contenido 2"/>
          <p:cNvSpPr>
            <a:spLocks noGrp="1"/>
          </p:cNvSpPr>
          <p:nvPr>
            <p:ph idx="1"/>
          </p:nvPr>
        </p:nvSpPr>
        <p:spPr>
          <a:xfrm>
            <a:off x="251521" y="908720"/>
            <a:ext cx="8568952" cy="5472534"/>
          </a:xfrm>
        </p:spPr>
        <p:txBody>
          <a:bodyPr>
            <a:normAutofit/>
          </a:bodyPr>
          <a:lstStyle/>
          <a:p>
            <a:r>
              <a:rPr lang="en-US" dirty="0">
                <a:solidFill>
                  <a:srgbClr val="0000FF"/>
                </a:solidFill>
              </a:rPr>
              <a:t>Divergence-free</a:t>
            </a:r>
            <a:r>
              <a:rPr lang="en-US" dirty="0"/>
              <a:t> execution</a:t>
            </a:r>
          </a:p>
        </p:txBody>
      </p:sp>
      <p:sp>
        <p:nvSpPr>
          <p:cNvPr id="7" name="CuadroTexto 6"/>
          <p:cNvSpPr txBox="1"/>
          <p:nvPr/>
        </p:nvSpPr>
        <p:spPr>
          <a:xfrm>
            <a:off x="578104" y="1772816"/>
            <a:ext cx="4425944" cy="1815882"/>
          </a:xfrm>
          <a:prstGeom prst="rect">
            <a:avLst/>
          </a:prstGeom>
          <a:solidFill>
            <a:schemeClr val="bg1">
              <a:lumMod val="95000"/>
            </a:schemeClr>
          </a:solidFill>
        </p:spPr>
        <p:txBody>
          <a:bodyPr wrap="square" rtlCol="0">
            <a:spAutoFit/>
          </a:bodyPr>
          <a:lstStyle/>
          <a:p>
            <a:r>
              <a:rPr lang="en-US" sz="1600" dirty="0">
                <a:latin typeface="Courier"/>
                <a:cs typeface="Courier"/>
              </a:rPr>
              <a:t>Compute(</a:t>
            </a:r>
            <a:r>
              <a:rPr lang="en-US" sz="1600" dirty="0" err="1">
                <a:latin typeface="Courier"/>
                <a:cs typeface="Courier"/>
              </a:rPr>
              <a:t>threadIdx.x</a:t>
            </a:r>
            <a:r>
              <a:rPr lang="en-US" sz="1600" dirty="0">
                <a:latin typeface="Courier"/>
                <a:cs typeface="Courier"/>
              </a:rPr>
              <a:t>);</a:t>
            </a:r>
          </a:p>
          <a:p>
            <a:r>
              <a:rPr lang="en-US" sz="1600" dirty="0">
                <a:latin typeface="Courier"/>
                <a:cs typeface="Courier"/>
              </a:rPr>
              <a:t>if (</a:t>
            </a:r>
            <a:r>
              <a:rPr lang="en-US" sz="1600" dirty="0" err="1">
                <a:latin typeface="Courier"/>
                <a:cs typeface="Courier"/>
              </a:rPr>
              <a:t>threadIdx.x</a:t>
            </a:r>
            <a:r>
              <a:rPr lang="en-US" sz="1600" dirty="0">
                <a:latin typeface="Courier"/>
                <a:cs typeface="Courier"/>
              </a:rPr>
              <a:t> &lt; 32){</a:t>
            </a:r>
          </a:p>
          <a:p>
            <a:r>
              <a:rPr lang="en-US" sz="1600" dirty="0">
                <a:latin typeface="Courier"/>
                <a:cs typeface="Courier"/>
              </a:rPr>
              <a:t>  </a:t>
            </a:r>
            <a:r>
              <a:rPr lang="en-US" sz="1600" dirty="0" err="1">
                <a:latin typeface="Courier"/>
                <a:cs typeface="Courier"/>
              </a:rPr>
              <a:t>Do_this</a:t>
            </a:r>
            <a:r>
              <a:rPr lang="en-US" sz="1600" dirty="0">
                <a:latin typeface="Courier"/>
                <a:cs typeface="Courier"/>
              </a:rPr>
              <a:t>(</a:t>
            </a:r>
            <a:r>
              <a:rPr lang="en-US" sz="1600" dirty="0" err="1">
                <a:latin typeface="Courier"/>
                <a:cs typeface="Courier"/>
              </a:rPr>
              <a:t>threadIdx.x</a:t>
            </a:r>
            <a:r>
              <a:rPr lang="en-US" sz="1600" dirty="0">
                <a:latin typeface="Courier"/>
                <a:cs typeface="Courier"/>
              </a:rPr>
              <a:t> * 2);</a:t>
            </a:r>
          </a:p>
          <a:p>
            <a:r>
              <a:rPr lang="en-US" sz="1600" dirty="0">
                <a:latin typeface="Courier"/>
                <a:cs typeface="Courier"/>
              </a:rPr>
              <a:t>}</a:t>
            </a:r>
          </a:p>
          <a:p>
            <a:r>
              <a:rPr lang="en-US" sz="1600" dirty="0">
                <a:latin typeface="Courier"/>
                <a:cs typeface="Courier"/>
              </a:rPr>
              <a:t>else{</a:t>
            </a:r>
          </a:p>
          <a:p>
            <a:r>
              <a:rPr lang="en-US" sz="1600" dirty="0">
                <a:latin typeface="Courier"/>
                <a:cs typeface="Courier"/>
              </a:rPr>
              <a:t>  </a:t>
            </a:r>
            <a:r>
              <a:rPr lang="en-US" sz="1600" dirty="0" err="1">
                <a:latin typeface="Courier"/>
                <a:cs typeface="Courier"/>
              </a:rPr>
              <a:t>Do_that</a:t>
            </a:r>
            <a:r>
              <a:rPr lang="en-US" sz="1600" dirty="0">
                <a:latin typeface="Courier"/>
                <a:cs typeface="Courier"/>
              </a:rPr>
              <a:t>((threadIdx.x%32)*2+1);</a:t>
            </a:r>
          </a:p>
          <a:p>
            <a:r>
              <a:rPr lang="en-US" sz="1600" dirty="0">
                <a:latin typeface="Courier"/>
                <a:cs typeface="Courier"/>
              </a:rPr>
              <a:t>}</a:t>
            </a:r>
          </a:p>
        </p:txBody>
      </p:sp>
      <p:pic>
        <p:nvPicPr>
          <p:cNvPr id="5" name="Imagen 4"/>
          <p:cNvPicPr>
            <a:picLocks noChangeAspect="1"/>
          </p:cNvPicPr>
          <p:nvPr/>
        </p:nvPicPr>
        <p:blipFill>
          <a:blip r:embed="rId2"/>
          <a:stretch>
            <a:fillRect/>
          </a:stretch>
        </p:blipFill>
        <p:spPr>
          <a:xfrm>
            <a:off x="5417641" y="1340768"/>
            <a:ext cx="2970783" cy="4680000"/>
          </a:xfrm>
          <a:prstGeom prst="rect">
            <a:avLst/>
          </a:prstGeom>
        </p:spPr>
      </p:pic>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68</a:t>
            </a:fld>
            <a:endParaRPr lang="en-US" altLang="en-US"/>
          </a:p>
        </p:txBody>
      </p:sp>
    </p:spTree>
    <p:extLst>
      <p:ext uri="{BB962C8B-B14F-4D97-AF65-F5344CB8AC3E}">
        <p14:creationId xmlns:p14="http://schemas.microsoft.com/office/powerpoint/2010/main" val="4504107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Vector Reduction: Naïve Mapping (I)</a:t>
            </a:r>
          </a:p>
        </p:txBody>
      </p:sp>
      <p:sp>
        <p:nvSpPr>
          <p:cNvPr id="5" name="Rectangle 2"/>
          <p:cNvSpPr>
            <a:spLocks noChangeArrowheads="1"/>
          </p:cNvSpPr>
          <p:nvPr/>
        </p:nvSpPr>
        <p:spPr bwMode="auto">
          <a:xfrm>
            <a:off x="7380000" y="1605705"/>
            <a:ext cx="648000" cy="4320000"/>
          </a:xfrm>
          <a:prstGeom prst="rect">
            <a:avLst/>
          </a:prstGeom>
          <a:solidFill>
            <a:srgbClr val="7AC96C">
              <a:alpha val="50196"/>
            </a:srgbClr>
          </a:solidFill>
          <a:ln w="9525">
            <a:solidFill>
              <a:schemeClr val="tx1"/>
            </a:solidFill>
            <a:miter lim="800000"/>
            <a:headEnd/>
            <a:tailEnd/>
          </a:ln>
          <a:effectLst/>
        </p:spPr>
        <p:txBody>
          <a:bodyPr wrap="none" anchor="ctr">
            <a:prstTxWarp prst="textNoShape">
              <a:avLst/>
            </a:prstTxWarp>
          </a:bodyPr>
          <a:lstStyle/>
          <a:p>
            <a:endParaRPr lang="es-ES_tradnl"/>
          </a:p>
        </p:txBody>
      </p:sp>
      <p:sp>
        <p:nvSpPr>
          <p:cNvPr id="6" name="Rectangle 3"/>
          <p:cNvSpPr>
            <a:spLocks noChangeArrowheads="1"/>
          </p:cNvSpPr>
          <p:nvPr/>
        </p:nvSpPr>
        <p:spPr bwMode="auto">
          <a:xfrm>
            <a:off x="4788000" y="1605705"/>
            <a:ext cx="648000" cy="4320000"/>
          </a:xfrm>
          <a:prstGeom prst="rect">
            <a:avLst/>
          </a:prstGeom>
          <a:solidFill>
            <a:srgbClr val="7AC96C">
              <a:alpha val="50196"/>
            </a:srgbClr>
          </a:solidFill>
          <a:ln w="9525">
            <a:solidFill>
              <a:schemeClr val="tx1"/>
            </a:solidFill>
            <a:miter lim="800000"/>
            <a:headEnd/>
            <a:tailEnd/>
          </a:ln>
          <a:effectLst/>
        </p:spPr>
        <p:txBody>
          <a:bodyPr wrap="none" anchor="ctr">
            <a:prstTxWarp prst="textNoShape">
              <a:avLst/>
            </a:prstTxWarp>
          </a:bodyPr>
          <a:lstStyle/>
          <a:p>
            <a:endParaRPr lang="es-ES_tradnl"/>
          </a:p>
        </p:txBody>
      </p:sp>
      <p:sp>
        <p:nvSpPr>
          <p:cNvPr id="7" name="Rectangle 4"/>
          <p:cNvSpPr>
            <a:spLocks noChangeArrowheads="1"/>
          </p:cNvSpPr>
          <p:nvPr/>
        </p:nvSpPr>
        <p:spPr bwMode="auto">
          <a:xfrm>
            <a:off x="2196000" y="1605705"/>
            <a:ext cx="648000" cy="4320000"/>
          </a:xfrm>
          <a:prstGeom prst="rect">
            <a:avLst/>
          </a:prstGeom>
          <a:solidFill>
            <a:srgbClr val="7AC96C">
              <a:alpha val="50196"/>
            </a:srgbClr>
          </a:solidFill>
          <a:ln w="9525">
            <a:solidFill>
              <a:schemeClr val="tx1"/>
            </a:solidFill>
            <a:miter lim="800000"/>
            <a:headEnd/>
            <a:tailEnd/>
          </a:ln>
          <a:effectLst/>
        </p:spPr>
        <p:txBody>
          <a:bodyPr wrap="none" anchor="ctr">
            <a:prstTxWarp prst="textNoShape">
              <a:avLst/>
            </a:prstTxWarp>
          </a:bodyPr>
          <a:lstStyle/>
          <a:p>
            <a:endParaRPr lang="es-ES_tradnl"/>
          </a:p>
        </p:txBody>
      </p:sp>
      <p:sp>
        <p:nvSpPr>
          <p:cNvPr id="8" name="Rectangle 5"/>
          <p:cNvSpPr>
            <a:spLocks noChangeArrowheads="1"/>
          </p:cNvSpPr>
          <p:nvPr/>
        </p:nvSpPr>
        <p:spPr bwMode="auto">
          <a:xfrm>
            <a:off x="3492000" y="1605705"/>
            <a:ext cx="648000" cy="4320000"/>
          </a:xfrm>
          <a:prstGeom prst="rect">
            <a:avLst/>
          </a:prstGeom>
          <a:solidFill>
            <a:srgbClr val="FFD147">
              <a:alpha val="50196"/>
            </a:srgbClr>
          </a:solidFill>
          <a:ln w="9525">
            <a:solidFill>
              <a:schemeClr val="tx1"/>
            </a:solidFill>
            <a:miter lim="800000"/>
            <a:headEnd/>
            <a:tailEnd/>
          </a:ln>
          <a:effectLst/>
        </p:spPr>
        <p:txBody>
          <a:bodyPr wrap="none" anchor="ctr">
            <a:prstTxWarp prst="textNoShape">
              <a:avLst/>
            </a:prstTxWarp>
          </a:bodyPr>
          <a:lstStyle/>
          <a:p>
            <a:endParaRPr lang="es-ES_tradnl"/>
          </a:p>
        </p:txBody>
      </p:sp>
      <p:sp>
        <p:nvSpPr>
          <p:cNvPr id="9" name="Rectangle 6"/>
          <p:cNvSpPr>
            <a:spLocks noChangeArrowheads="1"/>
          </p:cNvSpPr>
          <p:nvPr/>
        </p:nvSpPr>
        <p:spPr bwMode="auto">
          <a:xfrm>
            <a:off x="6084000" y="1605705"/>
            <a:ext cx="648000" cy="4320000"/>
          </a:xfrm>
          <a:prstGeom prst="rect">
            <a:avLst/>
          </a:prstGeom>
          <a:solidFill>
            <a:srgbClr val="FF6600">
              <a:alpha val="50196"/>
            </a:srgbClr>
          </a:solidFill>
          <a:ln w="9525">
            <a:solidFill>
              <a:schemeClr val="tx1"/>
            </a:solidFill>
            <a:miter lim="800000"/>
            <a:headEnd/>
            <a:tailEnd/>
          </a:ln>
          <a:effectLst/>
        </p:spPr>
        <p:txBody>
          <a:bodyPr wrap="none" anchor="ctr">
            <a:prstTxWarp prst="textNoShape">
              <a:avLst/>
            </a:prstTxWarp>
          </a:bodyPr>
          <a:lstStyle/>
          <a:p>
            <a:pPr algn="ctr"/>
            <a:endParaRPr lang="es-ES_tradnl" sz="1600"/>
          </a:p>
        </p:txBody>
      </p:sp>
      <p:sp>
        <p:nvSpPr>
          <p:cNvPr id="10" name="Rectangle 7"/>
          <p:cNvSpPr>
            <a:spLocks noChangeArrowheads="1"/>
          </p:cNvSpPr>
          <p:nvPr/>
        </p:nvSpPr>
        <p:spPr bwMode="auto">
          <a:xfrm>
            <a:off x="900000" y="1605705"/>
            <a:ext cx="648000" cy="4320000"/>
          </a:xfrm>
          <a:prstGeom prst="rect">
            <a:avLst/>
          </a:prstGeom>
          <a:solidFill>
            <a:srgbClr val="FF6600">
              <a:alpha val="50196"/>
            </a:srgbClr>
          </a:solidFill>
          <a:ln w="9525">
            <a:solidFill>
              <a:schemeClr val="tx1"/>
            </a:solidFill>
            <a:miter lim="800000"/>
            <a:headEnd/>
            <a:tailEnd/>
          </a:ln>
          <a:effectLst/>
        </p:spPr>
        <p:txBody>
          <a:bodyPr wrap="none" anchor="ctr">
            <a:prstTxWarp prst="textNoShape">
              <a:avLst/>
            </a:prstTxWarp>
          </a:bodyPr>
          <a:lstStyle/>
          <a:p>
            <a:pPr algn="ctr"/>
            <a:endParaRPr lang="es-ES_tradnl" sz="1600"/>
          </a:p>
        </p:txBody>
      </p:sp>
      <p:sp>
        <p:nvSpPr>
          <p:cNvPr id="11" name="Rectangle 9"/>
          <p:cNvSpPr>
            <a:spLocks noChangeArrowheads="1"/>
          </p:cNvSpPr>
          <p:nvPr/>
        </p:nvSpPr>
        <p:spPr bwMode="auto">
          <a:xfrm>
            <a:off x="900000" y="2037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dirty="0">
                <a:solidFill>
                  <a:schemeClr val="bg1"/>
                </a:solidFill>
              </a:rPr>
              <a:t>0</a:t>
            </a:r>
          </a:p>
        </p:txBody>
      </p:sp>
      <p:sp>
        <p:nvSpPr>
          <p:cNvPr id="12" name="Rectangle 10"/>
          <p:cNvSpPr>
            <a:spLocks noChangeArrowheads="1"/>
          </p:cNvSpPr>
          <p:nvPr/>
        </p:nvSpPr>
        <p:spPr bwMode="auto">
          <a:xfrm>
            <a:off x="1548000" y="2037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1</a:t>
            </a:r>
          </a:p>
        </p:txBody>
      </p:sp>
      <p:sp>
        <p:nvSpPr>
          <p:cNvPr id="13" name="Rectangle 11"/>
          <p:cNvSpPr>
            <a:spLocks noChangeArrowheads="1"/>
          </p:cNvSpPr>
          <p:nvPr/>
        </p:nvSpPr>
        <p:spPr bwMode="auto">
          <a:xfrm>
            <a:off x="2196000" y="2037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2</a:t>
            </a:r>
          </a:p>
        </p:txBody>
      </p:sp>
      <p:sp>
        <p:nvSpPr>
          <p:cNvPr id="14" name="Rectangle 12"/>
          <p:cNvSpPr>
            <a:spLocks noChangeArrowheads="1"/>
          </p:cNvSpPr>
          <p:nvPr/>
        </p:nvSpPr>
        <p:spPr bwMode="auto">
          <a:xfrm>
            <a:off x="2844000" y="2037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3</a:t>
            </a:r>
          </a:p>
        </p:txBody>
      </p:sp>
      <p:sp>
        <p:nvSpPr>
          <p:cNvPr id="15" name="Rectangle 13"/>
          <p:cNvSpPr>
            <a:spLocks noChangeArrowheads="1"/>
          </p:cNvSpPr>
          <p:nvPr/>
        </p:nvSpPr>
        <p:spPr bwMode="auto">
          <a:xfrm>
            <a:off x="3492000" y="2037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4</a:t>
            </a:r>
          </a:p>
        </p:txBody>
      </p:sp>
      <p:sp>
        <p:nvSpPr>
          <p:cNvPr id="16" name="Rectangle 14"/>
          <p:cNvSpPr>
            <a:spLocks noChangeArrowheads="1"/>
          </p:cNvSpPr>
          <p:nvPr/>
        </p:nvSpPr>
        <p:spPr bwMode="auto">
          <a:xfrm>
            <a:off x="4140000" y="2037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5</a:t>
            </a:r>
          </a:p>
        </p:txBody>
      </p:sp>
      <p:sp>
        <p:nvSpPr>
          <p:cNvPr id="17" name="Rectangle 15"/>
          <p:cNvSpPr>
            <a:spLocks noChangeArrowheads="1"/>
          </p:cNvSpPr>
          <p:nvPr/>
        </p:nvSpPr>
        <p:spPr bwMode="auto">
          <a:xfrm>
            <a:off x="5436000" y="2037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7</a:t>
            </a:r>
          </a:p>
        </p:txBody>
      </p:sp>
      <p:sp>
        <p:nvSpPr>
          <p:cNvPr id="18" name="Rectangle 16"/>
          <p:cNvSpPr>
            <a:spLocks noChangeArrowheads="1"/>
          </p:cNvSpPr>
          <p:nvPr/>
        </p:nvSpPr>
        <p:spPr bwMode="auto">
          <a:xfrm>
            <a:off x="4788000" y="2037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6</a:t>
            </a:r>
          </a:p>
        </p:txBody>
      </p:sp>
      <p:sp>
        <p:nvSpPr>
          <p:cNvPr id="19" name="Rectangle 17"/>
          <p:cNvSpPr>
            <a:spLocks noChangeArrowheads="1"/>
          </p:cNvSpPr>
          <p:nvPr/>
        </p:nvSpPr>
        <p:spPr bwMode="auto">
          <a:xfrm>
            <a:off x="7380000" y="2037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10</a:t>
            </a:r>
          </a:p>
        </p:txBody>
      </p:sp>
      <p:sp>
        <p:nvSpPr>
          <p:cNvPr id="20" name="Rectangle 18"/>
          <p:cNvSpPr>
            <a:spLocks noChangeArrowheads="1"/>
          </p:cNvSpPr>
          <p:nvPr/>
        </p:nvSpPr>
        <p:spPr bwMode="auto">
          <a:xfrm>
            <a:off x="6732000" y="2037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9</a:t>
            </a:r>
          </a:p>
        </p:txBody>
      </p:sp>
      <p:sp>
        <p:nvSpPr>
          <p:cNvPr id="21" name="Rectangle 19"/>
          <p:cNvSpPr>
            <a:spLocks noChangeArrowheads="1"/>
          </p:cNvSpPr>
          <p:nvPr/>
        </p:nvSpPr>
        <p:spPr bwMode="auto">
          <a:xfrm>
            <a:off x="6084000" y="2037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8</a:t>
            </a:r>
          </a:p>
        </p:txBody>
      </p:sp>
      <p:sp>
        <p:nvSpPr>
          <p:cNvPr id="22" name="Rectangle 20"/>
          <p:cNvSpPr>
            <a:spLocks noChangeArrowheads="1"/>
          </p:cNvSpPr>
          <p:nvPr/>
        </p:nvSpPr>
        <p:spPr bwMode="auto">
          <a:xfrm>
            <a:off x="8028000" y="2037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11</a:t>
            </a:r>
          </a:p>
        </p:txBody>
      </p:sp>
      <p:sp>
        <p:nvSpPr>
          <p:cNvPr id="23" name="Rectangle 21"/>
          <p:cNvSpPr>
            <a:spLocks noChangeArrowheads="1"/>
          </p:cNvSpPr>
          <p:nvPr/>
        </p:nvSpPr>
        <p:spPr bwMode="auto">
          <a:xfrm>
            <a:off x="900000" y="3045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dirty="0">
                <a:solidFill>
                  <a:schemeClr val="bg1"/>
                </a:solidFill>
              </a:rPr>
              <a:t>0+1</a:t>
            </a:r>
          </a:p>
        </p:txBody>
      </p:sp>
      <p:sp>
        <p:nvSpPr>
          <p:cNvPr id="24" name="Rectangle 22"/>
          <p:cNvSpPr>
            <a:spLocks noChangeArrowheads="1"/>
          </p:cNvSpPr>
          <p:nvPr/>
        </p:nvSpPr>
        <p:spPr bwMode="auto">
          <a:xfrm>
            <a:off x="1548000" y="304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5" name="Rectangle 23"/>
          <p:cNvSpPr>
            <a:spLocks noChangeArrowheads="1"/>
          </p:cNvSpPr>
          <p:nvPr/>
        </p:nvSpPr>
        <p:spPr bwMode="auto">
          <a:xfrm>
            <a:off x="2196000" y="3045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2+3</a:t>
            </a:r>
          </a:p>
        </p:txBody>
      </p:sp>
      <p:sp>
        <p:nvSpPr>
          <p:cNvPr id="26" name="Rectangle 24"/>
          <p:cNvSpPr>
            <a:spLocks noChangeArrowheads="1"/>
          </p:cNvSpPr>
          <p:nvPr/>
        </p:nvSpPr>
        <p:spPr bwMode="auto">
          <a:xfrm>
            <a:off x="2844000" y="304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7" name="Rectangle 25"/>
          <p:cNvSpPr>
            <a:spLocks noChangeArrowheads="1"/>
          </p:cNvSpPr>
          <p:nvPr/>
        </p:nvSpPr>
        <p:spPr bwMode="auto">
          <a:xfrm>
            <a:off x="3492000" y="3045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4+5</a:t>
            </a:r>
          </a:p>
        </p:txBody>
      </p:sp>
      <p:sp>
        <p:nvSpPr>
          <p:cNvPr id="28" name="Rectangle 26"/>
          <p:cNvSpPr>
            <a:spLocks noChangeArrowheads="1"/>
          </p:cNvSpPr>
          <p:nvPr/>
        </p:nvSpPr>
        <p:spPr bwMode="auto">
          <a:xfrm>
            <a:off x="4140000" y="304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29" name="Rectangle 27"/>
          <p:cNvSpPr>
            <a:spLocks noChangeArrowheads="1"/>
          </p:cNvSpPr>
          <p:nvPr/>
        </p:nvSpPr>
        <p:spPr bwMode="auto">
          <a:xfrm>
            <a:off x="5436000" y="304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30" name="Rectangle 28"/>
          <p:cNvSpPr>
            <a:spLocks noChangeArrowheads="1"/>
          </p:cNvSpPr>
          <p:nvPr/>
        </p:nvSpPr>
        <p:spPr bwMode="auto">
          <a:xfrm>
            <a:off x="4788000" y="3045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6+7</a:t>
            </a:r>
          </a:p>
        </p:txBody>
      </p:sp>
      <p:sp>
        <p:nvSpPr>
          <p:cNvPr id="31" name="Rectangle 29"/>
          <p:cNvSpPr>
            <a:spLocks noChangeArrowheads="1"/>
          </p:cNvSpPr>
          <p:nvPr/>
        </p:nvSpPr>
        <p:spPr bwMode="auto">
          <a:xfrm>
            <a:off x="7380000" y="3045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10+11</a:t>
            </a:r>
          </a:p>
        </p:txBody>
      </p:sp>
      <p:sp>
        <p:nvSpPr>
          <p:cNvPr id="32" name="Rectangle 30"/>
          <p:cNvSpPr>
            <a:spLocks noChangeArrowheads="1"/>
          </p:cNvSpPr>
          <p:nvPr/>
        </p:nvSpPr>
        <p:spPr bwMode="auto">
          <a:xfrm>
            <a:off x="6732000" y="304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33" name="Rectangle 31"/>
          <p:cNvSpPr>
            <a:spLocks noChangeArrowheads="1"/>
          </p:cNvSpPr>
          <p:nvPr/>
        </p:nvSpPr>
        <p:spPr bwMode="auto">
          <a:xfrm>
            <a:off x="6084000" y="3045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8+9</a:t>
            </a:r>
          </a:p>
        </p:txBody>
      </p:sp>
      <p:sp>
        <p:nvSpPr>
          <p:cNvPr id="34" name="Rectangle 32"/>
          <p:cNvSpPr>
            <a:spLocks noChangeArrowheads="1"/>
          </p:cNvSpPr>
          <p:nvPr/>
        </p:nvSpPr>
        <p:spPr bwMode="auto">
          <a:xfrm>
            <a:off x="8028000" y="304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35" name="Rectangle 33"/>
          <p:cNvSpPr>
            <a:spLocks noChangeArrowheads="1"/>
          </p:cNvSpPr>
          <p:nvPr/>
        </p:nvSpPr>
        <p:spPr bwMode="auto">
          <a:xfrm>
            <a:off x="900000" y="4125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0...3</a:t>
            </a:r>
          </a:p>
        </p:txBody>
      </p:sp>
      <p:sp>
        <p:nvSpPr>
          <p:cNvPr id="36" name="Rectangle 34"/>
          <p:cNvSpPr>
            <a:spLocks noChangeArrowheads="1"/>
          </p:cNvSpPr>
          <p:nvPr/>
        </p:nvSpPr>
        <p:spPr bwMode="auto">
          <a:xfrm>
            <a:off x="1548000" y="412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37" name="Rectangle 35"/>
          <p:cNvSpPr>
            <a:spLocks noChangeArrowheads="1"/>
          </p:cNvSpPr>
          <p:nvPr/>
        </p:nvSpPr>
        <p:spPr bwMode="auto">
          <a:xfrm>
            <a:off x="2196000" y="412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38" name="Rectangle 36"/>
          <p:cNvSpPr>
            <a:spLocks noChangeArrowheads="1"/>
          </p:cNvSpPr>
          <p:nvPr/>
        </p:nvSpPr>
        <p:spPr bwMode="auto">
          <a:xfrm>
            <a:off x="2844000" y="412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39" name="Rectangle 37"/>
          <p:cNvSpPr>
            <a:spLocks noChangeArrowheads="1"/>
          </p:cNvSpPr>
          <p:nvPr/>
        </p:nvSpPr>
        <p:spPr bwMode="auto">
          <a:xfrm>
            <a:off x="3492000" y="4125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4..7</a:t>
            </a:r>
          </a:p>
        </p:txBody>
      </p:sp>
      <p:sp>
        <p:nvSpPr>
          <p:cNvPr id="40" name="Rectangle 38"/>
          <p:cNvSpPr>
            <a:spLocks noChangeArrowheads="1"/>
          </p:cNvSpPr>
          <p:nvPr/>
        </p:nvSpPr>
        <p:spPr bwMode="auto">
          <a:xfrm>
            <a:off x="4140000" y="412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41" name="Rectangle 39"/>
          <p:cNvSpPr>
            <a:spLocks noChangeArrowheads="1"/>
          </p:cNvSpPr>
          <p:nvPr/>
        </p:nvSpPr>
        <p:spPr bwMode="auto">
          <a:xfrm>
            <a:off x="5436000" y="412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42" name="Rectangle 40"/>
          <p:cNvSpPr>
            <a:spLocks noChangeArrowheads="1"/>
          </p:cNvSpPr>
          <p:nvPr/>
        </p:nvSpPr>
        <p:spPr bwMode="auto">
          <a:xfrm>
            <a:off x="4788000" y="412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43" name="Rectangle 41"/>
          <p:cNvSpPr>
            <a:spLocks noChangeArrowheads="1"/>
          </p:cNvSpPr>
          <p:nvPr/>
        </p:nvSpPr>
        <p:spPr bwMode="auto">
          <a:xfrm>
            <a:off x="7380000" y="412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44" name="Rectangle 42"/>
          <p:cNvSpPr>
            <a:spLocks noChangeArrowheads="1"/>
          </p:cNvSpPr>
          <p:nvPr/>
        </p:nvSpPr>
        <p:spPr bwMode="auto">
          <a:xfrm>
            <a:off x="6732000" y="412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45" name="Rectangle 43"/>
          <p:cNvSpPr>
            <a:spLocks noChangeArrowheads="1"/>
          </p:cNvSpPr>
          <p:nvPr/>
        </p:nvSpPr>
        <p:spPr bwMode="auto">
          <a:xfrm>
            <a:off x="6084000" y="4125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8..11</a:t>
            </a:r>
          </a:p>
        </p:txBody>
      </p:sp>
      <p:sp>
        <p:nvSpPr>
          <p:cNvPr id="46" name="Rectangle 44"/>
          <p:cNvSpPr>
            <a:spLocks noChangeArrowheads="1"/>
          </p:cNvSpPr>
          <p:nvPr/>
        </p:nvSpPr>
        <p:spPr bwMode="auto">
          <a:xfrm>
            <a:off x="8028000" y="412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47" name="Rectangle 45"/>
          <p:cNvSpPr>
            <a:spLocks noChangeArrowheads="1"/>
          </p:cNvSpPr>
          <p:nvPr/>
        </p:nvSpPr>
        <p:spPr bwMode="auto">
          <a:xfrm>
            <a:off x="900000" y="5205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0..7</a:t>
            </a:r>
          </a:p>
        </p:txBody>
      </p:sp>
      <p:sp>
        <p:nvSpPr>
          <p:cNvPr id="48" name="Rectangle 46"/>
          <p:cNvSpPr>
            <a:spLocks noChangeArrowheads="1"/>
          </p:cNvSpPr>
          <p:nvPr/>
        </p:nvSpPr>
        <p:spPr bwMode="auto">
          <a:xfrm>
            <a:off x="1548000" y="520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49" name="Rectangle 47"/>
          <p:cNvSpPr>
            <a:spLocks noChangeArrowheads="1"/>
          </p:cNvSpPr>
          <p:nvPr/>
        </p:nvSpPr>
        <p:spPr bwMode="auto">
          <a:xfrm>
            <a:off x="2196000" y="520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0" name="Rectangle 48"/>
          <p:cNvSpPr>
            <a:spLocks noChangeArrowheads="1"/>
          </p:cNvSpPr>
          <p:nvPr/>
        </p:nvSpPr>
        <p:spPr bwMode="auto">
          <a:xfrm>
            <a:off x="2844000" y="520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1" name="Rectangle 49"/>
          <p:cNvSpPr>
            <a:spLocks noChangeArrowheads="1"/>
          </p:cNvSpPr>
          <p:nvPr/>
        </p:nvSpPr>
        <p:spPr bwMode="auto">
          <a:xfrm>
            <a:off x="3492000" y="520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2" name="Rectangle 50"/>
          <p:cNvSpPr>
            <a:spLocks noChangeArrowheads="1"/>
          </p:cNvSpPr>
          <p:nvPr/>
        </p:nvSpPr>
        <p:spPr bwMode="auto">
          <a:xfrm>
            <a:off x="4140000" y="520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3" name="Rectangle 51"/>
          <p:cNvSpPr>
            <a:spLocks noChangeArrowheads="1"/>
          </p:cNvSpPr>
          <p:nvPr/>
        </p:nvSpPr>
        <p:spPr bwMode="auto">
          <a:xfrm>
            <a:off x="5436000" y="520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4" name="Rectangle 52"/>
          <p:cNvSpPr>
            <a:spLocks noChangeArrowheads="1"/>
          </p:cNvSpPr>
          <p:nvPr/>
        </p:nvSpPr>
        <p:spPr bwMode="auto">
          <a:xfrm>
            <a:off x="4788000" y="520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5" name="Rectangle 53"/>
          <p:cNvSpPr>
            <a:spLocks noChangeArrowheads="1"/>
          </p:cNvSpPr>
          <p:nvPr/>
        </p:nvSpPr>
        <p:spPr bwMode="auto">
          <a:xfrm>
            <a:off x="7380000" y="520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6" name="Rectangle 54"/>
          <p:cNvSpPr>
            <a:spLocks noChangeArrowheads="1"/>
          </p:cNvSpPr>
          <p:nvPr/>
        </p:nvSpPr>
        <p:spPr bwMode="auto">
          <a:xfrm>
            <a:off x="6732000" y="520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7" name="Rectangle 55"/>
          <p:cNvSpPr>
            <a:spLocks noChangeArrowheads="1"/>
          </p:cNvSpPr>
          <p:nvPr/>
        </p:nvSpPr>
        <p:spPr bwMode="auto">
          <a:xfrm>
            <a:off x="6084000" y="5205705"/>
            <a:ext cx="648000" cy="43200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8..15</a:t>
            </a:r>
          </a:p>
        </p:txBody>
      </p:sp>
      <p:sp>
        <p:nvSpPr>
          <p:cNvPr id="58" name="Rectangle 56"/>
          <p:cNvSpPr>
            <a:spLocks noChangeArrowheads="1"/>
          </p:cNvSpPr>
          <p:nvPr/>
        </p:nvSpPr>
        <p:spPr bwMode="auto">
          <a:xfrm>
            <a:off x="8028000" y="5205705"/>
            <a:ext cx="648000" cy="43200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9" name="Line 57"/>
          <p:cNvSpPr>
            <a:spLocks noChangeShapeType="1"/>
          </p:cNvSpPr>
          <p:nvPr/>
        </p:nvSpPr>
        <p:spPr bwMode="auto">
          <a:xfrm>
            <a:off x="1188000" y="2469705"/>
            <a:ext cx="0" cy="576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60" name="Line 58"/>
          <p:cNvSpPr>
            <a:spLocks noChangeShapeType="1"/>
          </p:cNvSpPr>
          <p:nvPr/>
        </p:nvSpPr>
        <p:spPr bwMode="auto">
          <a:xfrm flipH="1">
            <a:off x="1332000" y="2469705"/>
            <a:ext cx="504000" cy="576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61" name="Line 59"/>
          <p:cNvSpPr>
            <a:spLocks noChangeShapeType="1"/>
          </p:cNvSpPr>
          <p:nvPr/>
        </p:nvSpPr>
        <p:spPr bwMode="auto">
          <a:xfrm>
            <a:off x="2556000" y="2469705"/>
            <a:ext cx="0" cy="576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62" name="Line 60"/>
          <p:cNvSpPr>
            <a:spLocks noChangeShapeType="1"/>
          </p:cNvSpPr>
          <p:nvPr/>
        </p:nvSpPr>
        <p:spPr bwMode="auto">
          <a:xfrm flipH="1">
            <a:off x="2700000" y="2469705"/>
            <a:ext cx="504000" cy="576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63" name="Line 61"/>
          <p:cNvSpPr>
            <a:spLocks noChangeShapeType="1"/>
          </p:cNvSpPr>
          <p:nvPr/>
        </p:nvSpPr>
        <p:spPr bwMode="auto">
          <a:xfrm>
            <a:off x="3780000" y="2469705"/>
            <a:ext cx="0" cy="576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64" name="Line 62"/>
          <p:cNvSpPr>
            <a:spLocks noChangeShapeType="1"/>
          </p:cNvSpPr>
          <p:nvPr/>
        </p:nvSpPr>
        <p:spPr bwMode="auto">
          <a:xfrm flipH="1">
            <a:off x="3924000" y="2469705"/>
            <a:ext cx="504000" cy="576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65" name="Line 63"/>
          <p:cNvSpPr>
            <a:spLocks noChangeShapeType="1"/>
          </p:cNvSpPr>
          <p:nvPr/>
        </p:nvSpPr>
        <p:spPr bwMode="auto">
          <a:xfrm>
            <a:off x="5148000" y="2469705"/>
            <a:ext cx="0" cy="576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66" name="Line 64"/>
          <p:cNvSpPr>
            <a:spLocks noChangeShapeType="1"/>
          </p:cNvSpPr>
          <p:nvPr/>
        </p:nvSpPr>
        <p:spPr bwMode="auto">
          <a:xfrm flipH="1">
            <a:off x="5292000" y="2469705"/>
            <a:ext cx="504000" cy="576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67" name="Line 65"/>
          <p:cNvSpPr>
            <a:spLocks noChangeShapeType="1"/>
          </p:cNvSpPr>
          <p:nvPr/>
        </p:nvSpPr>
        <p:spPr bwMode="auto">
          <a:xfrm>
            <a:off x="6444000" y="2469705"/>
            <a:ext cx="0" cy="576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68" name="Line 66"/>
          <p:cNvSpPr>
            <a:spLocks noChangeShapeType="1"/>
          </p:cNvSpPr>
          <p:nvPr/>
        </p:nvSpPr>
        <p:spPr bwMode="auto">
          <a:xfrm flipH="1">
            <a:off x="6588000" y="2469705"/>
            <a:ext cx="504000" cy="576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69" name="Line 67"/>
          <p:cNvSpPr>
            <a:spLocks noChangeShapeType="1"/>
          </p:cNvSpPr>
          <p:nvPr/>
        </p:nvSpPr>
        <p:spPr bwMode="auto">
          <a:xfrm>
            <a:off x="7740000" y="2469705"/>
            <a:ext cx="0" cy="576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0" name="Line 68"/>
          <p:cNvSpPr>
            <a:spLocks noChangeShapeType="1"/>
          </p:cNvSpPr>
          <p:nvPr/>
        </p:nvSpPr>
        <p:spPr bwMode="auto">
          <a:xfrm flipH="1">
            <a:off x="7884000" y="2469705"/>
            <a:ext cx="504000" cy="576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1" name="Line 69"/>
          <p:cNvSpPr>
            <a:spLocks noChangeShapeType="1"/>
          </p:cNvSpPr>
          <p:nvPr/>
        </p:nvSpPr>
        <p:spPr bwMode="auto">
          <a:xfrm>
            <a:off x="1188000" y="3477705"/>
            <a:ext cx="0" cy="648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2" name="Line 70"/>
          <p:cNvSpPr>
            <a:spLocks noChangeShapeType="1"/>
          </p:cNvSpPr>
          <p:nvPr/>
        </p:nvSpPr>
        <p:spPr bwMode="auto">
          <a:xfrm flipH="1">
            <a:off x="1332000" y="3477705"/>
            <a:ext cx="1296000" cy="648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3" name="Line 71"/>
          <p:cNvSpPr>
            <a:spLocks noChangeShapeType="1"/>
          </p:cNvSpPr>
          <p:nvPr/>
        </p:nvSpPr>
        <p:spPr bwMode="auto">
          <a:xfrm>
            <a:off x="3780000" y="3477705"/>
            <a:ext cx="0" cy="648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4" name="Line 72"/>
          <p:cNvSpPr>
            <a:spLocks noChangeShapeType="1"/>
          </p:cNvSpPr>
          <p:nvPr/>
        </p:nvSpPr>
        <p:spPr bwMode="auto">
          <a:xfrm flipH="1">
            <a:off x="3924000" y="3477705"/>
            <a:ext cx="1296000" cy="648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5" name="Line 73"/>
          <p:cNvSpPr>
            <a:spLocks noChangeShapeType="1"/>
          </p:cNvSpPr>
          <p:nvPr/>
        </p:nvSpPr>
        <p:spPr bwMode="auto">
          <a:xfrm>
            <a:off x="6444000" y="3477705"/>
            <a:ext cx="0" cy="648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6" name="Line 74"/>
          <p:cNvSpPr>
            <a:spLocks noChangeShapeType="1"/>
          </p:cNvSpPr>
          <p:nvPr/>
        </p:nvSpPr>
        <p:spPr bwMode="auto">
          <a:xfrm flipH="1">
            <a:off x="6516000" y="3477705"/>
            <a:ext cx="1296000" cy="648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7" name="Line 75"/>
          <p:cNvSpPr>
            <a:spLocks noChangeShapeType="1"/>
          </p:cNvSpPr>
          <p:nvPr/>
        </p:nvSpPr>
        <p:spPr bwMode="auto">
          <a:xfrm>
            <a:off x="1188000" y="4557705"/>
            <a:ext cx="0" cy="648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8" name="Line 76"/>
          <p:cNvSpPr>
            <a:spLocks noChangeShapeType="1"/>
          </p:cNvSpPr>
          <p:nvPr/>
        </p:nvSpPr>
        <p:spPr bwMode="auto">
          <a:xfrm flipH="1">
            <a:off x="1332000" y="4557705"/>
            <a:ext cx="2592000" cy="648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9" name="Text Box 77"/>
          <p:cNvSpPr txBox="1">
            <a:spLocks noChangeArrowheads="1"/>
          </p:cNvSpPr>
          <p:nvPr/>
        </p:nvSpPr>
        <p:spPr bwMode="auto">
          <a:xfrm>
            <a:off x="612000" y="3045705"/>
            <a:ext cx="318000" cy="432000"/>
          </a:xfrm>
          <a:prstGeom prst="rect">
            <a:avLst/>
          </a:prstGeom>
          <a:noFill/>
          <a:ln w="9525">
            <a:noFill/>
            <a:miter lim="800000"/>
            <a:headEnd/>
            <a:tailEnd/>
          </a:ln>
          <a:effectLst/>
        </p:spPr>
        <p:txBody>
          <a:bodyPr wrap="none">
            <a:prstTxWarp prst="textNoShape">
              <a:avLst/>
            </a:prstTxWarp>
            <a:spAutoFit/>
          </a:bodyPr>
          <a:lstStyle/>
          <a:p>
            <a:r>
              <a:rPr lang="en-US"/>
              <a:t>1</a:t>
            </a:r>
          </a:p>
        </p:txBody>
      </p:sp>
      <p:sp>
        <p:nvSpPr>
          <p:cNvPr id="80" name="Text Box 78"/>
          <p:cNvSpPr txBox="1">
            <a:spLocks noChangeArrowheads="1"/>
          </p:cNvSpPr>
          <p:nvPr/>
        </p:nvSpPr>
        <p:spPr bwMode="auto">
          <a:xfrm>
            <a:off x="612000" y="4125705"/>
            <a:ext cx="318000" cy="432000"/>
          </a:xfrm>
          <a:prstGeom prst="rect">
            <a:avLst/>
          </a:prstGeom>
          <a:noFill/>
          <a:ln w="9525">
            <a:noFill/>
            <a:miter lim="800000"/>
            <a:headEnd/>
            <a:tailEnd/>
          </a:ln>
          <a:effectLst/>
        </p:spPr>
        <p:txBody>
          <a:bodyPr wrap="none">
            <a:prstTxWarp prst="textNoShape">
              <a:avLst/>
            </a:prstTxWarp>
            <a:spAutoFit/>
          </a:bodyPr>
          <a:lstStyle/>
          <a:p>
            <a:r>
              <a:rPr lang="en-US"/>
              <a:t>2</a:t>
            </a:r>
          </a:p>
        </p:txBody>
      </p:sp>
      <p:sp>
        <p:nvSpPr>
          <p:cNvPr id="81" name="Text Box 79"/>
          <p:cNvSpPr txBox="1">
            <a:spLocks noChangeArrowheads="1"/>
          </p:cNvSpPr>
          <p:nvPr/>
        </p:nvSpPr>
        <p:spPr bwMode="auto">
          <a:xfrm>
            <a:off x="612000" y="5205705"/>
            <a:ext cx="318000" cy="432000"/>
          </a:xfrm>
          <a:prstGeom prst="rect">
            <a:avLst/>
          </a:prstGeom>
          <a:noFill/>
          <a:ln w="9525">
            <a:noFill/>
            <a:miter lim="800000"/>
            <a:headEnd/>
            <a:tailEnd/>
          </a:ln>
          <a:effectLst/>
        </p:spPr>
        <p:txBody>
          <a:bodyPr wrap="none">
            <a:prstTxWarp prst="textNoShape">
              <a:avLst/>
            </a:prstTxWarp>
            <a:spAutoFit/>
          </a:bodyPr>
          <a:lstStyle/>
          <a:p>
            <a:r>
              <a:rPr lang="en-US"/>
              <a:t>3</a:t>
            </a:r>
          </a:p>
        </p:txBody>
      </p:sp>
      <p:sp>
        <p:nvSpPr>
          <p:cNvPr id="83" name="Line 81"/>
          <p:cNvSpPr>
            <a:spLocks noChangeShapeType="1"/>
          </p:cNvSpPr>
          <p:nvPr/>
        </p:nvSpPr>
        <p:spPr bwMode="auto">
          <a:xfrm>
            <a:off x="6444000" y="4557705"/>
            <a:ext cx="0" cy="648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84" name="Line 82"/>
          <p:cNvSpPr>
            <a:spLocks noChangeShapeType="1"/>
          </p:cNvSpPr>
          <p:nvPr/>
        </p:nvSpPr>
        <p:spPr bwMode="auto">
          <a:xfrm flipH="1">
            <a:off x="6588000" y="4629705"/>
            <a:ext cx="2304000" cy="576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85" name="Line 83"/>
          <p:cNvSpPr>
            <a:spLocks noChangeShapeType="1"/>
          </p:cNvSpPr>
          <p:nvPr/>
        </p:nvSpPr>
        <p:spPr bwMode="auto">
          <a:xfrm>
            <a:off x="1188000" y="5637705"/>
            <a:ext cx="0" cy="432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86" name="Line 84"/>
          <p:cNvSpPr>
            <a:spLocks noChangeShapeType="1"/>
          </p:cNvSpPr>
          <p:nvPr/>
        </p:nvSpPr>
        <p:spPr bwMode="auto">
          <a:xfrm flipH="1">
            <a:off x="1476000" y="5637705"/>
            <a:ext cx="4968000" cy="43200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88" name="Text Box 87"/>
          <p:cNvSpPr txBox="1">
            <a:spLocks noChangeArrowheads="1"/>
          </p:cNvSpPr>
          <p:nvPr/>
        </p:nvSpPr>
        <p:spPr bwMode="auto">
          <a:xfrm rot="16200000">
            <a:off x="-171000" y="4822959"/>
            <a:ext cx="972000" cy="318000"/>
          </a:xfrm>
          <a:prstGeom prst="rect">
            <a:avLst/>
          </a:prstGeom>
          <a:noFill/>
          <a:ln w="9525">
            <a:noFill/>
            <a:miter lim="800000"/>
            <a:headEnd/>
            <a:tailEnd/>
          </a:ln>
          <a:effectLst/>
        </p:spPr>
        <p:txBody>
          <a:bodyPr wrap="none">
            <a:prstTxWarp prst="textNoShape">
              <a:avLst/>
            </a:prstTxWarp>
            <a:spAutoFit/>
          </a:bodyPr>
          <a:lstStyle/>
          <a:p>
            <a:r>
              <a:rPr lang="en-US" sz="1600" dirty="0"/>
              <a:t>iterations</a:t>
            </a:r>
          </a:p>
        </p:txBody>
      </p:sp>
      <p:sp>
        <p:nvSpPr>
          <p:cNvPr id="89" name="Line 88"/>
          <p:cNvSpPr>
            <a:spLocks noChangeShapeType="1"/>
          </p:cNvSpPr>
          <p:nvPr/>
        </p:nvSpPr>
        <p:spPr bwMode="auto">
          <a:xfrm>
            <a:off x="468000" y="4845705"/>
            <a:ext cx="0" cy="720000"/>
          </a:xfrm>
          <a:prstGeom prst="line">
            <a:avLst/>
          </a:prstGeom>
          <a:noFill/>
          <a:ln w="38100">
            <a:solidFill>
              <a:schemeClr val="tx1"/>
            </a:solidFill>
            <a:round/>
            <a:headEnd/>
            <a:tailEnd type="triangle" w="med" len="med"/>
          </a:ln>
          <a:effectLst/>
        </p:spPr>
        <p:txBody>
          <a:bodyPr>
            <a:prstTxWarp prst="textNoShape">
              <a:avLst/>
            </a:prstTxWarp>
          </a:bodyPr>
          <a:lstStyle/>
          <a:p>
            <a:endParaRPr lang="es-ES_tradnl"/>
          </a:p>
        </p:txBody>
      </p:sp>
      <p:sp>
        <p:nvSpPr>
          <p:cNvPr id="90" name="Text Box 89"/>
          <p:cNvSpPr txBox="1">
            <a:spLocks noChangeArrowheads="1"/>
          </p:cNvSpPr>
          <p:nvPr/>
        </p:nvSpPr>
        <p:spPr bwMode="auto">
          <a:xfrm>
            <a:off x="828000" y="1340768"/>
            <a:ext cx="794641" cy="276999"/>
          </a:xfrm>
          <a:prstGeom prst="rect">
            <a:avLst/>
          </a:prstGeom>
          <a:noFill/>
          <a:ln w="9525">
            <a:noFill/>
            <a:miter lim="800000"/>
            <a:headEnd/>
            <a:tailEnd/>
          </a:ln>
          <a:effectLst/>
        </p:spPr>
        <p:txBody>
          <a:bodyPr wrap="none">
            <a:prstTxWarp prst="textNoShape">
              <a:avLst/>
            </a:prstTxWarp>
            <a:spAutoFit/>
          </a:bodyPr>
          <a:lstStyle/>
          <a:p>
            <a:r>
              <a:rPr lang="en-US" sz="1200" dirty="0"/>
              <a:t>Thread 0</a:t>
            </a:r>
          </a:p>
        </p:txBody>
      </p:sp>
      <p:sp>
        <p:nvSpPr>
          <p:cNvPr id="91" name="Text Box 90"/>
          <p:cNvSpPr txBox="1">
            <a:spLocks noChangeArrowheads="1"/>
          </p:cNvSpPr>
          <p:nvPr/>
        </p:nvSpPr>
        <p:spPr bwMode="auto">
          <a:xfrm>
            <a:off x="6012000" y="1340768"/>
            <a:ext cx="794641" cy="276999"/>
          </a:xfrm>
          <a:prstGeom prst="rect">
            <a:avLst/>
          </a:prstGeom>
          <a:noFill/>
          <a:ln w="9525">
            <a:noFill/>
            <a:miter lim="800000"/>
            <a:headEnd/>
            <a:tailEnd/>
          </a:ln>
          <a:effectLst/>
        </p:spPr>
        <p:txBody>
          <a:bodyPr wrap="none">
            <a:prstTxWarp prst="textNoShape">
              <a:avLst/>
            </a:prstTxWarp>
            <a:spAutoFit/>
          </a:bodyPr>
          <a:lstStyle/>
          <a:p>
            <a:r>
              <a:rPr lang="en-US" sz="1200"/>
              <a:t>Thread 8</a:t>
            </a:r>
          </a:p>
        </p:txBody>
      </p:sp>
      <p:sp>
        <p:nvSpPr>
          <p:cNvPr id="92" name="Text Box 91"/>
          <p:cNvSpPr txBox="1">
            <a:spLocks noChangeArrowheads="1"/>
          </p:cNvSpPr>
          <p:nvPr/>
        </p:nvSpPr>
        <p:spPr bwMode="auto">
          <a:xfrm>
            <a:off x="2124000" y="1340768"/>
            <a:ext cx="794641" cy="276999"/>
          </a:xfrm>
          <a:prstGeom prst="rect">
            <a:avLst/>
          </a:prstGeom>
          <a:noFill/>
          <a:ln w="9525">
            <a:noFill/>
            <a:miter lim="800000"/>
            <a:headEnd/>
            <a:tailEnd/>
          </a:ln>
          <a:effectLst/>
        </p:spPr>
        <p:txBody>
          <a:bodyPr wrap="none">
            <a:prstTxWarp prst="textNoShape">
              <a:avLst/>
            </a:prstTxWarp>
            <a:spAutoFit/>
          </a:bodyPr>
          <a:lstStyle/>
          <a:p>
            <a:r>
              <a:rPr lang="en-US" sz="1200"/>
              <a:t>Thread 2</a:t>
            </a:r>
          </a:p>
        </p:txBody>
      </p:sp>
      <p:sp>
        <p:nvSpPr>
          <p:cNvPr id="93" name="Text Box 92"/>
          <p:cNvSpPr txBox="1">
            <a:spLocks noChangeArrowheads="1"/>
          </p:cNvSpPr>
          <p:nvPr/>
        </p:nvSpPr>
        <p:spPr bwMode="auto">
          <a:xfrm>
            <a:off x="3420000" y="1340768"/>
            <a:ext cx="794641" cy="276999"/>
          </a:xfrm>
          <a:prstGeom prst="rect">
            <a:avLst/>
          </a:prstGeom>
          <a:noFill/>
          <a:ln w="9525">
            <a:noFill/>
            <a:miter lim="800000"/>
            <a:headEnd/>
            <a:tailEnd/>
          </a:ln>
          <a:effectLst/>
        </p:spPr>
        <p:txBody>
          <a:bodyPr wrap="none">
            <a:prstTxWarp prst="textNoShape">
              <a:avLst/>
            </a:prstTxWarp>
            <a:spAutoFit/>
          </a:bodyPr>
          <a:lstStyle/>
          <a:p>
            <a:r>
              <a:rPr lang="en-US" sz="1200"/>
              <a:t>Thread 4</a:t>
            </a:r>
          </a:p>
        </p:txBody>
      </p:sp>
      <p:sp>
        <p:nvSpPr>
          <p:cNvPr id="94" name="Text Box 93"/>
          <p:cNvSpPr txBox="1">
            <a:spLocks noChangeArrowheads="1"/>
          </p:cNvSpPr>
          <p:nvPr/>
        </p:nvSpPr>
        <p:spPr bwMode="auto">
          <a:xfrm>
            <a:off x="4716000" y="1340768"/>
            <a:ext cx="794641" cy="276999"/>
          </a:xfrm>
          <a:prstGeom prst="rect">
            <a:avLst/>
          </a:prstGeom>
          <a:noFill/>
          <a:ln w="9525">
            <a:noFill/>
            <a:miter lim="800000"/>
            <a:headEnd/>
            <a:tailEnd/>
          </a:ln>
          <a:effectLst/>
        </p:spPr>
        <p:txBody>
          <a:bodyPr wrap="none">
            <a:prstTxWarp prst="textNoShape">
              <a:avLst/>
            </a:prstTxWarp>
            <a:spAutoFit/>
          </a:bodyPr>
          <a:lstStyle/>
          <a:p>
            <a:r>
              <a:rPr lang="en-US" sz="1200" dirty="0"/>
              <a:t>Thread 6</a:t>
            </a:r>
          </a:p>
        </p:txBody>
      </p:sp>
      <p:sp>
        <p:nvSpPr>
          <p:cNvPr id="95" name="Text Box 94"/>
          <p:cNvSpPr txBox="1">
            <a:spLocks noChangeArrowheads="1"/>
          </p:cNvSpPr>
          <p:nvPr/>
        </p:nvSpPr>
        <p:spPr bwMode="auto">
          <a:xfrm>
            <a:off x="7308000" y="1340768"/>
            <a:ext cx="877997" cy="276999"/>
          </a:xfrm>
          <a:prstGeom prst="rect">
            <a:avLst/>
          </a:prstGeom>
          <a:noFill/>
          <a:ln w="9525">
            <a:noFill/>
            <a:miter lim="800000"/>
            <a:headEnd/>
            <a:tailEnd/>
          </a:ln>
          <a:effectLst/>
        </p:spPr>
        <p:txBody>
          <a:bodyPr wrap="none">
            <a:prstTxWarp prst="textNoShape">
              <a:avLst/>
            </a:prstTxWarp>
            <a:spAutoFit/>
          </a:bodyPr>
          <a:lstStyle/>
          <a:p>
            <a:r>
              <a:rPr lang="en-US" sz="1200"/>
              <a:t>Thread 10</a:t>
            </a:r>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69</a:t>
            </a:fld>
            <a:endParaRPr lang="en-US" altLang="en-US"/>
          </a:p>
        </p:txBody>
      </p:sp>
      <p:sp>
        <p:nvSpPr>
          <p:cNvPr id="97" name="CuadroTexto 26">
            <a:extLst>
              <a:ext uri="{FF2B5EF4-FFF2-40B4-BE49-F238E27FC236}">
                <a16:creationId xmlns:a16="http://schemas.microsoft.com/office/drawing/2014/main" id="{1D24DD0F-C82B-9B44-A534-ADB88735E535}"/>
              </a:ext>
            </a:extLst>
          </p:cNvPr>
          <p:cNvSpPr txBox="1"/>
          <p:nvPr/>
        </p:nvSpPr>
        <p:spPr>
          <a:xfrm>
            <a:off x="228600" y="6495225"/>
            <a:ext cx="1274708" cy="215444"/>
          </a:xfrm>
          <a:prstGeom prst="rect">
            <a:avLst/>
          </a:prstGeom>
          <a:noFill/>
        </p:spPr>
        <p:txBody>
          <a:bodyPr wrap="none" rtlCol="0">
            <a:spAutoFit/>
          </a:bodyPr>
          <a:lstStyle/>
          <a:p>
            <a:r>
              <a:rPr lang="en-US" sz="800" dirty="0"/>
              <a:t>Slide credit: </a:t>
            </a:r>
            <a:r>
              <a:rPr lang="en-US" sz="800" dirty="0" err="1"/>
              <a:t>Hwu</a:t>
            </a:r>
            <a:r>
              <a:rPr lang="en-US" sz="800" dirty="0"/>
              <a:t> &amp; Kirk</a:t>
            </a:r>
          </a:p>
        </p:txBody>
      </p:sp>
      <p:sp>
        <p:nvSpPr>
          <p:cNvPr id="3" name="TextBox 2">
            <a:extLst>
              <a:ext uri="{FF2B5EF4-FFF2-40B4-BE49-F238E27FC236}">
                <a16:creationId xmlns:a16="http://schemas.microsoft.com/office/drawing/2014/main" id="{11A9BA15-B558-6649-8760-B1A1BBE8F0F2}"/>
              </a:ext>
            </a:extLst>
          </p:cNvPr>
          <p:cNvSpPr txBox="1"/>
          <p:nvPr/>
        </p:nvSpPr>
        <p:spPr>
          <a:xfrm>
            <a:off x="8652290" y="2000392"/>
            <a:ext cx="373820"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36191214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7"/>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8"/>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69"/>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0"/>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7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89"/>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88"/>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35"/>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36"/>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37"/>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38"/>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39"/>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40"/>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41"/>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42"/>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43"/>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44"/>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45"/>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46"/>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71"/>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72"/>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73"/>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74"/>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75"/>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76"/>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80"/>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47"/>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48"/>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49"/>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50"/>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51"/>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52"/>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53"/>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54"/>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55"/>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56"/>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57"/>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58"/>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77"/>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78"/>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83"/>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84"/>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81"/>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grpId="0" nodeType="clickEffect">
                                  <p:stCondLst>
                                    <p:cond delay="0"/>
                                  </p:stCondLst>
                                  <p:childTnLst>
                                    <p:set>
                                      <p:cBhvr>
                                        <p:cTn id="164" dur="1" fill="hold">
                                          <p:stCondLst>
                                            <p:cond delay="0"/>
                                          </p:stCondLst>
                                        </p:cTn>
                                        <p:tgtEl>
                                          <p:spTgt spid="85"/>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p:bldP spid="80" grpId="0"/>
      <p:bldP spid="81" grpId="0"/>
      <p:bldP spid="83" grpId="0" animBg="1"/>
      <p:bldP spid="84" grpId="0" animBg="1"/>
      <p:bldP spid="85" grpId="0" animBg="1"/>
      <p:bldP spid="86" grpId="0" animBg="1"/>
      <p:bldP spid="88" grpId="0"/>
      <p:bldP spid="89" grpId="0" animBg="1"/>
      <p:bldP spid="90" grpId="0"/>
      <p:bldP spid="91" grpId="0"/>
      <p:bldP spid="92" grpId="0"/>
      <p:bldP spid="93" grpId="0"/>
      <p:bldP spid="94" grpId="0"/>
      <p:bldP spid="95"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Vector Reduction: Naïve Mapping (II)</a:t>
            </a:r>
          </a:p>
        </p:txBody>
      </p:sp>
      <p:sp>
        <p:nvSpPr>
          <p:cNvPr id="3" name="Marcador de contenido 2"/>
          <p:cNvSpPr>
            <a:spLocks noGrp="1"/>
          </p:cNvSpPr>
          <p:nvPr>
            <p:ph idx="1"/>
          </p:nvPr>
        </p:nvSpPr>
        <p:spPr>
          <a:xfrm>
            <a:off x="251521" y="908720"/>
            <a:ext cx="8568952" cy="5472534"/>
          </a:xfrm>
        </p:spPr>
        <p:txBody>
          <a:bodyPr>
            <a:normAutofit/>
          </a:bodyPr>
          <a:lstStyle/>
          <a:p>
            <a:r>
              <a:rPr lang="en-US" dirty="0"/>
              <a:t>Program with </a:t>
            </a:r>
            <a:r>
              <a:rPr lang="en-US" dirty="0">
                <a:solidFill>
                  <a:srgbClr val="FF0000"/>
                </a:solidFill>
              </a:rPr>
              <a:t>low SIMD utilization</a:t>
            </a:r>
          </a:p>
        </p:txBody>
      </p:sp>
      <p:sp>
        <p:nvSpPr>
          <p:cNvPr id="5" name="CuadroTexto 4"/>
          <p:cNvSpPr txBox="1"/>
          <p:nvPr/>
        </p:nvSpPr>
        <p:spPr>
          <a:xfrm>
            <a:off x="594832" y="1905506"/>
            <a:ext cx="7954336" cy="3046988"/>
          </a:xfrm>
          <a:prstGeom prst="rect">
            <a:avLst/>
          </a:prstGeom>
          <a:solidFill>
            <a:schemeClr val="bg1">
              <a:lumMod val="95000"/>
            </a:schemeClr>
          </a:solidFill>
        </p:spPr>
        <p:txBody>
          <a:bodyPr wrap="square" rtlCol="0">
            <a:spAutoFit/>
          </a:bodyPr>
          <a:lstStyle/>
          <a:p>
            <a:pPr marL="0" lvl="1" indent="-403225">
              <a:buFontTx/>
              <a:buNone/>
            </a:pPr>
            <a:r>
              <a:rPr lang="en-US" sz="1600" dirty="0">
                <a:latin typeface="Courier"/>
                <a:cs typeface="Courier"/>
              </a:rPr>
              <a:t>__shared__ float </a:t>
            </a:r>
            <a:r>
              <a:rPr lang="en-US" sz="1600" dirty="0" err="1">
                <a:latin typeface="Courier"/>
                <a:cs typeface="Courier"/>
              </a:rPr>
              <a:t>partialSum</a:t>
            </a:r>
            <a:r>
              <a:rPr lang="en-US" sz="1600" dirty="0">
                <a:latin typeface="Courier"/>
                <a:cs typeface="Courier"/>
              </a:rPr>
              <a:t>[]</a:t>
            </a:r>
          </a:p>
          <a:p>
            <a:pPr marL="0" lvl="1" indent="-403225">
              <a:buFontTx/>
              <a:buNone/>
            </a:pPr>
            <a:endParaRPr lang="en-US" sz="1600" dirty="0">
              <a:latin typeface="Courier"/>
              <a:cs typeface="Courier"/>
            </a:endParaRPr>
          </a:p>
          <a:p>
            <a:pPr marL="0" lvl="1" indent="-403225">
              <a:buFontTx/>
              <a:buNone/>
            </a:pPr>
            <a:r>
              <a:rPr lang="en-US" sz="1600" dirty="0">
                <a:latin typeface="Courier"/>
                <a:cs typeface="Courier"/>
              </a:rPr>
              <a:t>unsigned </a:t>
            </a:r>
            <a:r>
              <a:rPr lang="en-US" sz="1600" dirty="0" err="1">
                <a:latin typeface="Courier"/>
                <a:cs typeface="Courier"/>
              </a:rPr>
              <a:t>int</a:t>
            </a:r>
            <a:r>
              <a:rPr lang="en-US" sz="1600" dirty="0">
                <a:latin typeface="Courier"/>
                <a:cs typeface="Courier"/>
              </a:rPr>
              <a:t> t = </a:t>
            </a:r>
            <a:r>
              <a:rPr lang="en-US" sz="1600" dirty="0" err="1">
                <a:latin typeface="Courier"/>
                <a:cs typeface="Courier"/>
              </a:rPr>
              <a:t>threadIdx.x</a:t>
            </a:r>
            <a:r>
              <a:rPr lang="en-US" sz="1600" dirty="0">
                <a:latin typeface="Courier"/>
                <a:cs typeface="Courier"/>
              </a:rPr>
              <a:t>;</a:t>
            </a:r>
          </a:p>
          <a:p>
            <a:pPr marL="0" lvl="1" indent="-403225">
              <a:buFontTx/>
              <a:buNone/>
            </a:pPr>
            <a:endParaRPr lang="en-US" sz="1600" dirty="0">
              <a:latin typeface="Courier"/>
              <a:cs typeface="Courier"/>
            </a:endParaRPr>
          </a:p>
          <a:p>
            <a:pPr marL="0" lvl="1" indent="-403225">
              <a:buFontTx/>
              <a:buNone/>
            </a:pPr>
            <a:r>
              <a:rPr lang="en-US" sz="1600" dirty="0">
                <a:solidFill>
                  <a:srgbClr val="0000FF"/>
                </a:solidFill>
                <a:latin typeface="Courier"/>
                <a:cs typeface="Courier"/>
              </a:rPr>
              <a:t>for (</a:t>
            </a:r>
            <a:r>
              <a:rPr lang="en-US" sz="1600" dirty="0" err="1">
                <a:solidFill>
                  <a:srgbClr val="0000FF"/>
                </a:solidFill>
                <a:latin typeface="Courier"/>
                <a:cs typeface="Courier"/>
              </a:rPr>
              <a:t>int</a:t>
            </a:r>
            <a:r>
              <a:rPr lang="en-US" sz="1600" dirty="0">
                <a:solidFill>
                  <a:srgbClr val="0000FF"/>
                </a:solidFill>
                <a:latin typeface="Courier"/>
                <a:cs typeface="Courier"/>
              </a:rPr>
              <a:t> stride = 1; stride &lt; </a:t>
            </a:r>
            <a:r>
              <a:rPr lang="en-US" sz="1600" dirty="0" err="1">
                <a:solidFill>
                  <a:srgbClr val="0000FF"/>
                </a:solidFill>
                <a:latin typeface="Courier"/>
                <a:cs typeface="Courier"/>
              </a:rPr>
              <a:t>blockDim.x</a:t>
            </a:r>
            <a:r>
              <a:rPr lang="en-US" sz="1600" dirty="0">
                <a:solidFill>
                  <a:srgbClr val="0000FF"/>
                </a:solidFill>
                <a:latin typeface="Courier"/>
                <a:cs typeface="Courier"/>
              </a:rPr>
              <a:t>; stride *= 2) {</a:t>
            </a:r>
          </a:p>
          <a:p>
            <a:pPr marL="0" lvl="1" indent="-403225">
              <a:buFontTx/>
              <a:buNone/>
            </a:pPr>
            <a:endParaRPr lang="en-US" sz="1600" dirty="0">
              <a:latin typeface="Courier"/>
              <a:cs typeface="Courier"/>
            </a:endParaRPr>
          </a:p>
          <a:p>
            <a:pPr marL="0" lvl="1" indent="-403225">
              <a:buFontTx/>
              <a:buNone/>
            </a:pPr>
            <a:r>
              <a:rPr lang="en-US" sz="1600" dirty="0">
                <a:latin typeface="Courier"/>
                <a:cs typeface="Courier"/>
              </a:rPr>
              <a:t>  __</a:t>
            </a:r>
            <a:r>
              <a:rPr lang="en-US" sz="1600" dirty="0" err="1">
                <a:latin typeface="Courier"/>
                <a:cs typeface="Courier"/>
              </a:rPr>
              <a:t>syncthreads</a:t>
            </a:r>
            <a:r>
              <a:rPr lang="en-US" sz="1600" dirty="0">
                <a:latin typeface="Courier"/>
                <a:cs typeface="Courier"/>
              </a:rPr>
              <a:t>();</a:t>
            </a:r>
          </a:p>
          <a:p>
            <a:pPr marL="0" lvl="1" indent="-403225">
              <a:buFontTx/>
              <a:buNone/>
            </a:pPr>
            <a:endParaRPr lang="en-US" sz="1600" dirty="0">
              <a:latin typeface="Courier"/>
              <a:cs typeface="Courier"/>
            </a:endParaRPr>
          </a:p>
          <a:p>
            <a:pPr marL="0" lvl="1" indent="-403225">
              <a:buFontTx/>
              <a:buNone/>
            </a:pPr>
            <a:r>
              <a:rPr lang="en-US" sz="1600" dirty="0">
                <a:solidFill>
                  <a:srgbClr val="FF0000"/>
                </a:solidFill>
                <a:latin typeface="Courier"/>
                <a:cs typeface="Courier"/>
              </a:rPr>
              <a:t>  if (t % (2*stride) == 0)</a:t>
            </a:r>
          </a:p>
          <a:p>
            <a:pPr marL="0" lvl="1" indent="-403225">
              <a:buFontTx/>
              <a:buNone/>
            </a:pPr>
            <a:r>
              <a:rPr lang="en-US" sz="1600" dirty="0">
                <a:latin typeface="Courier"/>
                <a:cs typeface="Courier"/>
              </a:rPr>
              <a:t>    </a:t>
            </a:r>
            <a:r>
              <a:rPr lang="en-US" sz="1600" dirty="0" err="1">
                <a:latin typeface="Courier"/>
                <a:cs typeface="Courier"/>
              </a:rPr>
              <a:t>partialSum</a:t>
            </a:r>
            <a:r>
              <a:rPr lang="en-US" sz="1600" dirty="0">
                <a:latin typeface="Courier"/>
                <a:cs typeface="Courier"/>
              </a:rPr>
              <a:t>[t] += </a:t>
            </a:r>
            <a:r>
              <a:rPr lang="en-US" sz="1600" dirty="0" err="1">
                <a:latin typeface="Courier"/>
                <a:cs typeface="Courier"/>
              </a:rPr>
              <a:t>partialSum</a:t>
            </a:r>
            <a:r>
              <a:rPr lang="en-US" sz="1600" dirty="0">
                <a:latin typeface="Courier"/>
                <a:cs typeface="Courier"/>
              </a:rPr>
              <a:t>[t + stride];</a:t>
            </a:r>
          </a:p>
          <a:p>
            <a:pPr marL="0" lvl="1" indent="-403225">
              <a:buFontTx/>
              <a:buNone/>
            </a:pPr>
            <a:endParaRPr lang="en-US" sz="1600" dirty="0">
              <a:latin typeface="Courier"/>
              <a:cs typeface="Courier"/>
            </a:endParaRPr>
          </a:p>
          <a:p>
            <a:pPr marL="0" lvl="1" indent="-403225">
              <a:buFontTx/>
              <a:buNone/>
            </a:pPr>
            <a:r>
              <a:rPr lang="en-US" sz="1600" dirty="0">
                <a:latin typeface="Courier"/>
                <a:cs typeface="Courier"/>
              </a:rPr>
              <a:t>}</a:t>
            </a:r>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70</a:t>
            </a:fld>
            <a:endParaRPr lang="en-US" altLang="en-US"/>
          </a:p>
        </p:txBody>
      </p:sp>
    </p:spTree>
    <p:extLst>
      <p:ext uri="{BB962C8B-B14F-4D97-AF65-F5344CB8AC3E}">
        <p14:creationId xmlns:p14="http://schemas.microsoft.com/office/powerpoint/2010/main" val="983733957"/>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Divergence-Free Mapping (I)</a:t>
            </a:r>
          </a:p>
        </p:txBody>
      </p:sp>
      <p:sp>
        <p:nvSpPr>
          <p:cNvPr id="3" name="Marcador de contenido 2"/>
          <p:cNvSpPr>
            <a:spLocks noGrp="1"/>
          </p:cNvSpPr>
          <p:nvPr>
            <p:ph idx="1"/>
          </p:nvPr>
        </p:nvSpPr>
        <p:spPr>
          <a:xfrm>
            <a:off x="251521" y="908720"/>
            <a:ext cx="8568952" cy="5472534"/>
          </a:xfrm>
        </p:spPr>
        <p:txBody>
          <a:bodyPr>
            <a:normAutofit/>
          </a:bodyPr>
          <a:lstStyle/>
          <a:p>
            <a:r>
              <a:rPr lang="en-US" dirty="0"/>
              <a:t>All active threads belong to the same warp</a:t>
            </a:r>
          </a:p>
        </p:txBody>
      </p:sp>
      <p:sp>
        <p:nvSpPr>
          <p:cNvPr id="10" name="Rectangle 6"/>
          <p:cNvSpPr>
            <a:spLocks noChangeArrowheads="1"/>
          </p:cNvSpPr>
          <p:nvPr/>
        </p:nvSpPr>
        <p:spPr bwMode="auto">
          <a:xfrm>
            <a:off x="4100067" y="1799210"/>
            <a:ext cx="653445" cy="4356302"/>
          </a:xfrm>
          <a:prstGeom prst="rect">
            <a:avLst/>
          </a:prstGeom>
          <a:solidFill>
            <a:srgbClr val="FFD147">
              <a:alpha val="50196"/>
            </a:srgbClr>
          </a:solidFill>
          <a:ln w="9525">
            <a:solidFill>
              <a:schemeClr val="tx1"/>
            </a:solidFill>
            <a:miter lim="800000"/>
            <a:headEnd/>
            <a:tailEnd/>
          </a:ln>
          <a:effectLst/>
        </p:spPr>
        <p:txBody>
          <a:bodyPr wrap="none" anchor="ctr">
            <a:prstTxWarp prst="textNoShape">
              <a:avLst/>
            </a:prstTxWarp>
          </a:bodyPr>
          <a:lstStyle/>
          <a:p>
            <a:pPr algn="ctr"/>
            <a:endParaRPr lang="es-ES_tradnl" sz="1600"/>
          </a:p>
        </p:txBody>
      </p:sp>
      <p:sp>
        <p:nvSpPr>
          <p:cNvPr id="11" name="Rectangle 7"/>
          <p:cNvSpPr>
            <a:spLocks noChangeArrowheads="1"/>
          </p:cNvSpPr>
          <p:nvPr/>
        </p:nvSpPr>
        <p:spPr bwMode="auto">
          <a:xfrm>
            <a:off x="4753513" y="1799210"/>
            <a:ext cx="653445" cy="4356302"/>
          </a:xfrm>
          <a:prstGeom prst="rect">
            <a:avLst/>
          </a:prstGeom>
          <a:solidFill>
            <a:srgbClr val="FF6600">
              <a:alpha val="50196"/>
            </a:srgbClr>
          </a:solidFill>
          <a:ln w="9525">
            <a:solidFill>
              <a:schemeClr val="tx1"/>
            </a:solidFill>
            <a:miter lim="800000"/>
            <a:headEnd/>
            <a:tailEnd/>
          </a:ln>
          <a:effectLst/>
        </p:spPr>
        <p:txBody>
          <a:bodyPr wrap="none" anchor="ctr">
            <a:prstTxWarp prst="textNoShape">
              <a:avLst/>
            </a:prstTxWarp>
          </a:bodyPr>
          <a:lstStyle/>
          <a:p>
            <a:pPr algn="ctr"/>
            <a:endParaRPr lang="es-ES_tradnl" sz="1600"/>
          </a:p>
        </p:txBody>
      </p:sp>
      <p:sp>
        <p:nvSpPr>
          <p:cNvPr id="12" name="Rectangle 8"/>
          <p:cNvSpPr>
            <a:spLocks noChangeArrowheads="1"/>
          </p:cNvSpPr>
          <p:nvPr/>
        </p:nvSpPr>
        <p:spPr bwMode="auto">
          <a:xfrm>
            <a:off x="5406958" y="1799210"/>
            <a:ext cx="653445" cy="4356302"/>
          </a:xfrm>
          <a:prstGeom prst="rect">
            <a:avLst/>
          </a:prstGeom>
          <a:solidFill>
            <a:srgbClr val="7AC96C">
              <a:alpha val="50196"/>
            </a:srgbClr>
          </a:solidFill>
          <a:ln w="9525">
            <a:solidFill>
              <a:schemeClr val="tx1"/>
            </a:solidFill>
            <a:miter lim="800000"/>
            <a:headEnd/>
            <a:tailEnd/>
          </a:ln>
          <a:effectLst/>
        </p:spPr>
        <p:txBody>
          <a:bodyPr wrap="none" anchor="ctr">
            <a:prstTxWarp prst="textNoShape">
              <a:avLst/>
            </a:prstTxWarp>
          </a:bodyPr>
          <a:lstStyle/>
          <a:p>
            <a:pPr algn="ctr"/>
            <a:endParaRPr lang="es-ES_tradnl" sz="1600"/>
          </a:p>
        </p:txBody>
      </p:sp>
      <p:sp>
        <p:nvSpPr>
          <p:cNvPr id="13" name="Rectangle 9"/>
          <p:cNvSpPr>
            <a:spLocks noChangeArrowheads="1"/>
          </p:cNvSpPr>
          <p:nvPr/>
        </p:nvSpPr>
        <p:spPr bwMode="auto">
          <a:xfrm>
            <a:off x="1486286" y="1799210"/>
            <a:ext cx="653445" cy="4356302"/>
          </a:xfrm>
          <a:prstGeom prst="rect">
            <a:avLst/>
          </a:prstGeom>
          <a:solidFill>
            <a:srgbClr val="7AC96C">
              <a:alpha val="50196"/>
            </a:srgbClr>
          </a:solidFill>
          <a:ln w="9525">
            <a:solidFill>
              <a:schemeClr val="tx1"/>
            </a:solidFill>
            <a:miter lim="800000"/>
            <a:headEnd/>
            <a:tailEnd/>
          </a:ln>
          <a:effectLst/>
        </p:spPr>
        <p:txBody>
          <a:bodyPr wrap="none" anchor="ctr">
            <a:prstTxWarp prst="textNoShape">
              <a:avLst/>
            </a:prstTxWarp>
          </a:bodyPr>
          <a:lstStyle/>
          <a:p>
            <a:pPr algn="ctr"/>
            <a:endParaRPr lang="es-ES_tradnl" sz="1600"/>
          </a:p>
        </p:txBody>
      </p:sp>
      <p:sp>
        <p:nvSpPr>
          <p:cNvPr id="14" name="Rectangle 10"/>
          <p:cNvSpPr>
            <a:spLocks noChangeArrowheads="1"/>
          </p:cNvSpPr>
          <p:nvPr/>
        </p:nvSpPr>
        <p:spPr bwMode="auto">
          <a:xfrm>
            <a:off x="2139731" y="1799210"/>
            <a:ext cx="653445" cy="4356302"/>
          </a:xfrm>
          <a:prstGeom prst="rect">
            <a:avLst/>
          </a:prstGeom>
          <a:solidFill>
            <a:srgbClr val="FFD147">
              <a:alpha val="50196"/>
            </a:srgbClr>
          </a:solidFill>
          <a:ln w="9525">
            <a:solidFill>
              <a:schemeClr val="tx1"/>
            </a:solidFill>
            <a:miter lim="800000"/>
            <a:headEnd/>
            <a:tailEnd/>
          </a:ln>
          <a:effectLst/>
        </p:spPr>
        <p:txBody>
          <a:bodyPr wrap="none" anchor="ctr">
            <a:prstTxWarp prst="textNoShape">
              <a:avLst/>
            </a:prstTxWarp>
          </a:bodyPr>
          <a:lstStyle/>
          <a:p>
            <a:pPr algn="ctr"/>
            <a:endParaRPr lang="es-ES_tradnl" sz="1600"/>
          </a:p>
        </p:txBody>
      </p:sp>
      <p:sp>
        <p:nvSpPr>
          <p:cNvPr id="15" name="Rectangle 11"/>
          <p:cNvSpPr>
            <a:spLocks noChangeArrowheads="1"/>
          </p:cNvSpPr>
          <p:nvPr/>
        </p:nvSpPr>
        <p:spPr bwMode="auto">
          <a:xfrm>
            <a:off x="2793176" y="1799210"/>
            <a:ext cx="653445" cy="4356302"/>
          </a:xfrm>
          <a:prstGeom prst="rect">
            <a:avLst/>
          </a:prstGeom>
          <a:solidFill>
            <a:srgbClr val="FF6600">
              <a:alpha val="50196"/>
            </a:srgbClr>
          </a:solidFill>
          <a:ln w="9525">
            <a:solidFill>
              <a:schemeClr val="tx1"/>
            </a:solidFill>
            <a:miter lim="800000"/>
            <a:headEnd/>
            <a:tailEnd/>
          </a:ln>
          <a:effectLst/>
        </p:spPr>
        <p:txBody>
          <a:bodyPr wrap="none" anchor="ctr">
            <a:prstTxWarp prst="textNoShape">
              <a:avLst/>
            </a:prstTxWarp>
          </a:bodyPr>
          <a:lstStyle/>
          <a:p>
            <a:pPr algn="ctr"/>
            <a:endParaRPr lang="es-ES_tradnl" sz="1600"/>
          </a:p>
        </p:txBody>
      </p:sp>
      <p:sp>
        <p:nvSpPr>
          <p:cNvPr id="16" name="Rectangle 12"/>
          <p:cNvSpPr>
            <a:spLocks noChangeArrowheads="1"/>
          </p:cNvSpPr>
          <p:nvPr/>
        </p:nvSpPr>
        <p:spPr bwMode="auto">
          <a:xfrm>
            <a:off x="3446622" y="1799210"/>
            <a:ext cx="653445" cy="4356302"/>
          </a:xfrm>
          <a:prstGeom prst="rect">
            <a:avLst/>
          </a:prstGeom>
          <a:solidFill>
            <a:srgbClr val="7AC96C">
              <a:alpha val="50196"/>
            </a:srgbClr>
          </a:solidFill>
          <a:ln w="9525">
            <a:solidFill>
              <a:schemeClr val="tx1"/>
            </a:solidFill>
            <a:miter lim="800000"/>
            <a:headEnd/>
            <a:tailEnd/>
          </a:ln>
          <a:effectLst/>
        </p:spPr>
        <p:txBody>
          <a:bodyPr wrap="none" anchor="ctr">
            <a:prstTxWarp prst="textNoShape">
              <a:avLst/>
            </a:prstTxWarp>
          </a:bodyPr>
          <a:lstStyle/>
          <a:p>
            <a:pPr algn="ctr"/>
            <a:endParaRPr lang="es-ES_tradnl" sz="1600"/>
          </a:p>
        </p:txBody>
      </p:sp>
      <p:sp>
        <p:nvSpPr>
          <p:cNvPr id="17" name="Rectangle 13"/>
          <p:cNvSpPr>
            <a:spLocks noChangeArrowheads="1"/>
          </p:cNvSpPr>
          <p:nvPr/>
        </p:nvSpPr>
        <p:spPr bwMode="auto">
          <a:xfrm>
            <a:off x="832840" y="1799210"/>
            <a:ext cx="653445" cy="4356302"/>
          </a:xfrm>
          <a:prstGeom prst="rect">
            <a:avLst/>
          </a:prstGeom>
          <a:solidFill>
            <a:srgbClr val="FF6600">
              <a:alpha val="50196"/>
            </a:srgbClr>
          </a:solidFill>
          <a:ln w="9525">
            <a:solidFill>
              <a:schemeClr val="tx1"/>
            </a:solidFill>
            <a:miter lim="800000"/>
            <a:headEnd/>
            <a:tailEnd/>
          </a:ln>
          <a:effectLst/>
        </p:spPr>
        <p:txBody>
          <a:bodyPr wrap="none" anchor="ctr">
            <a:prstTxWarp prst="textNoShape">
              <a:avLst/>
            </a:prstTxWarp>
          </a:bodyPr>
          <a:lstStyle/>
          <a:p>
            <a:pPr algn="ctr"/>
            <a:endParaRPr lang="es-ES_tradnl" sz="1600"/>
          </a:p>
        </p:txBody>
      </p:sp>
      <p:sp>
        <p:nvSpPr>
          <p:cNvPr id="18" name="Text Box 14"/>
          <p:cNvSpPr txBox="1">
            <a:spLocks noChangeArrowheads="1"/>
          </p:cNvSpPr>
          <p:nvPr/>
        </p:nvSpPr>
        <p:spPr bwMode="auto">
          <a:xfrm>
            <a:off x="760235" y="1556792"/>
            <a:ext cx="744114" cy="261610"/>
          </a:xfrm>
          <a:prstGeom prst="rect">
            <a:avLst/>
          </a:prstGeom>
          <a:noFill/>
          <a:ln w="9525">
            <a:noFill/>
            <a:miter lim="800000"/>
            <a:headEnd/>
            <a:tailEnd/>
          </a:ln>
          <a:effectLst/>
        </p:spPr>
        <p:txBody>
          <a:bodyPr wrap="none">
            <a:prstTxWarp prst="textNoShape">
              <a:avLst/>
            </a:prstTxWarp>
            <a:spAutoFit/>
          </a:bodyPr>
          <a:lstStyle/>
          <a:p>
            <a:r>
              <a:rPr lang="en-US" sz="1100" dirty="0"/>
              <a:t>Thread 0</a:t>
            </a:r>
          </a:p>
        </p:txBody>
      </p:sp>
      <p:sp>
        <p:nvSpPr>
          <p:cNvPr id="19" name="Rectangle 16"/>
          <p:cNvSpPr>
            <a:spLocks noChangeArrowheads="1"/>
          </p:cNvSpPr>
          <p:nvPr/>
        </p:nvSpPr>
        <p:spPr bwMode="auto">
          <a:xfrm>
            <a:off x="832840" y="2234840"/>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0</a:t>
            </a:r>
          </a:p>
        </p:txBody>
      </p:sp>
      <p:sp>
        <p:nvSpPr>
          <p:cNvPr id="20" name="Rectangle 17"/>
          <p:cNvSpPr>
            <a:spLocks noChangeArrowheads="1"/>
          </p:cNvSpPr>
          <p:nvPr/>
        </p:nvSpPr>
        <p:spPr bwMode="auto">
          <a:xfrm>
            <a:off x="1486286" y="2234840"/>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dirty="0">
                <a:solidFill>
                  <a:schemeClr val="bg1"/>
                </a:solidFill>
              </a:rPr>
              <a:t>1</a:t>
            </a:r>
          </a:p>
        </p:txBody>
      </p:sp>
      <p:sp>
        <p:nvSpPr>
          <p:cNvPr id="21" name="Rectangle 18"/>
          <p:cNvSpPr>
            <a:spLocks noChangeArrowheads="1"/>
          </p:cNvSpPr>
          <p:nvPr/>
        </p:nvSpPr>
        <p:spPr bwMode="auto">
          <a:xfrm>
            <a:off x="2139731" y="2234840"/>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2</a:t>
            </a:r>
          </a:p>
        </p:txBody>
      </p:sp>
      <p:sp>
        <p:nvSpPr>
          <p:cNvPr id="22" name="Rectangle 19"/>
          <p:cNvSpPr>
            <a:spLocks noChangeArrowheads="1"/>
          </p:cNvSpPr>
          <p:nvPr/>
        </p:nvSpPr>
        <p:spPr bwMode="auto">
          <a:xfrm>
            <a:off x="2793176" y="2234840"/>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3</a:t>
            </a:r>
          </a:p>
        </p:txBody>
      </p:sp>
      <p:sp>
        <p:nvSpPr>
          <p:cNvPr id="23" name="Rectangle 20"/>
          <p:cNvSpPr>
            <a:spLocks noChangeArrowheads="1"/>
          </p:cNvSpPr>
          <p:nvPr/>
        </p:nvSpPr>
        <p:spPr bwMode="auto">
          <a:xfrm>
            <a:off x="3446622" y="2234840"/>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b="1">
                <a:solidFill>
                  <a:schemeClr val="bg1"/>
                </a:solidFill>
              </a:rPr>
              <a:t>…</a:t>
            </a:r>
          </a:p>
        </p:txBody>
      </p:sp>
      <p:sp>
        <p:nvSpPr>
          <p:cNvPr id="24" name="Rectangle 21"/>
          <p:cNvSpPr>
            <a:spLocks noChangeArrowheads="1"/>
          </p:cNvSpPr>
          <p:nvPr/>
        </p:nvSpPr>
        <p:spPr bwMode="auto">
          <a:xfrm>
            <a:off x="4100067" y="2234840"/>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13</a:t>
            </a:r>
          </a:p>
        </p:txBody>
      </p:sp>
      <p:sp>
        <p:nvSpPr>
          <p:cNvPr id="25" name="Rectangle 22"/>
          <p:cNvSpPr>
            <a:spLocks noChangeArrowheads="1"/>
          </p:cNvSpPr>
          <p:nvPr/>
        </p:nvSpPr>
        <p:spPr bwMode="auto">
          <a:xfrm>
            <a:off x="5406958" y="2234840"/>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15</a:t>
            </a:r>
          </a:p>
        </p:txBody>
      </p:sp>
      <p:sp>
        <p:nvSpPr>
          <p:cNvPr id="26" name="Rectangle 23"/>
          <p:cNvSpPr>
            <a:spLocks noChangeArrowheads="1"/>
          </p:cNvSpPr>
          <p:nvPr/>
        </p:nvSpPr>
        <p:spPr bwMode="auto">
          <a:xfrm>
            <a:off x="4753513" y="2234840"/>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14</a:t>
            </a:r>
          </a:p>
        </p:txBody>
      </p:sp>
      <p:sp>
        <p:nvSpPr>
          <p:cNvPr id="27" name="Rectangle 24"/>
          <p:cNvSpPr>
            <a:spLocks noChangeArrowheads="1"/>
          </p:cNvSpPr>
          <p:nvPr/>
        </p:nvSpPr>
        <p:spPr bwMode="auto">
          <a:xfrm>
            <a:off x="7367294" y="2234840"/>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18</a:t>
            </a:r>
          </a:p>
        </p:txBody>
      </p:sp>
      <p:sp>
        <p:nvSpPr>
          <p:cNvPr id="28" name="Rectangle 25"/>
          <p:cNvSpPr>
            <a:spLocks noChangeArrowheads="1"/>
          </p:cNvSpPr>
          <p:nvPr/>
        </p:nvSpPr>
        <p:spPr bwMode="auto">
          <a:xfrm>
            <a:off x="6713849" y="2234840"/>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17</a:t>
            </a:r>
          </a:p>
        </p:txBody>
      </p:sp>
      <p:sp>
        <p:nvSpPr>
          <p:cNvPr id="29" name="Rectangle 26"/>
          <p:cNvSpPr>
            <a:spLocks noChangeArrowheads="1"/>
          </p:cNvSpPr>
          <p:nvPr/>
        </p:nvSpPr>
        <p:spPr bwMode="auto">
          <a:xfrm>
            <a:off x="6060403" y="2234840"/>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16</a:t>
            </a:r>
          </a:p>
        </p:txBody>
      </p:sp>
      <p:sp>
        <p:nvSpPr>
          <p:cNvPr id="30" name="Rectangle 27"/>
          <p:cNvSpPr>
            <a:spLocks noChangeArrowheads="1"/>
          </p:cNvSpPr>
          <p:nvPr/>
        </p:nvSpPr>
        <p:spPr bwMode="auto">
          <a:xfrm>
            <a:off x="8020739" y="2234840"/>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a:solidFill>
                  <a:schemeClr val="bg1"/>
                </a:solidFill>
              </a:rPr>
              <a:t>19</a:t>
            </a:r>
          </a:p>
        </p:txBody>
      </p:sp>
      <p:sp>
        <p:nvSpPr>
          <p:cNvPr id="31" name="Rectangle 28"/>
          <p:cNvSpPr>
            <a:spLocks noChangeArrowheads="1"/>
          </p:cNvSpPr>
          <p:nvPr/>
        </p:nvSpPr>
        <p:spPr bwMode="auto">
          <a:xfrm>
            <a:off x="832840" y="3251311"/>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dirty="0">
                <a:solidFill>
                  <a:schemeClr val="bg1"/>
                </a:solidFill>
              </a:rPr>
              <a:t>0+16</a:t>
            </a:r>
          </a:p>
        </p:txBody>
      </p:sp>
      <p:sp>
        <p:nvSpPr>
          <p:cNvPr id="32" name="Rectangle 29"/>
          <p:cNvSpPr>
            <a:spLocks noChangeArrowheads="1"/>
          </p:cNvSpPr>
          <p:nvPr/>
        </p:nvSpPr>
        <p:spPr bwMode="auto">
          <a:xfrm>
            <a:off x="1486286" y="3251311"/>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endParaRPr lang="es-ES_tradnl">
              <a:solidFill>
                <a:schemeClr val="bg1"/>
              </a:solidFill>
            </a:endParaRPr>
          </a:p>
        </p:txBody>
      </p:sp>
      <p:sp>
        <p:nvSpPr>
          <p:cNvPr id="33" name="Rectangle 30"/>
          <p:cNvSpPr>
            <a:spLocks noChangeArrowheads="1"/>
          </p:cNvSpPr>
          <p:nvPr/>
        </p:nvSpPr>
        <p:spPr bwMode="auto">
          <a:xfrm>
            <a:off x="2139731" y="3251311"/>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endParaRPr lang="es-ES_tradnl">
              <a:solidFill>
                <a:schemeClr val="bg1"/>
              </a:solidFill>
            </a:endParaRPr>
          </a:p>
        </p:txBody>
      </p:sp>
      <p:sp>
        <p:nvSpPr>
          <p:cNvPr id="34" name="Rectangle 31"/>
          <p:cNvSpPr>
            <a:spLocks noChangeArrowheads="1"/>
          </p:cNvSpPr>
          <p:nvPr/>
        </p:nvSpPr>
        <p:spPr bwMode="auto">
          <a:xfrm>
            <a:off x="2793176" y="3251311"/>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endParaRPr lang="es-ES_tradnl">
              <a:solidFill>
                <a:schemeClr val="bg1"/>
              </a:solidFill>
            </a:endParaRPr>
          </a:p>
        </p:txBody>
      </p:sp>
      <p:sp>
        <p:nvSpPr>
          <p:cNvPr id="35" name="Rectangle 32"/>
          <p:cNvSpPr>
            <a:spLocks noChangeArrowheads="1"/>
          </p:cNvSpPr>
          <p:nvPr/>
        </p:nvSpPr>
        <p:spPr bwMode="auto">
          <a:xfrm>
            <a:off x="3446622" y="3251311"/>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endParaRPr lang="es-ES_tradnl">
              <a:solidFill>
                <a:schemeClr val="bg1"/>
              </a:solidFill>
            </a:endParaRPr>
          </a:p>
        </p:txBody>
      </p:sp>
      <p:sp>
        <p:nvSpPr>
          <p:cNvPr id="36" name="Rectangle 33"/>
          <p:cNvSpPr>
            <a:spLocks noChangeArrowheads="1"/>
          </p:cNvSpPr>
          <p:nvPr/>
        </p:nvSpPr>
        <p:spPr bwMode="auto">
          <a:xfrm>
            <a:off x="4100067" y="3251311"/>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endParaRPr lang="es-ES_tradnl">
              <a:solidFill>
                <a:schemeClr val="bg1"/>
              </a:solidFill>
            </a:endParaRPr>
          </a:p>
        </p:txBody>
      </p:sp>
      <p:sp>
        <p:nvSpPr>
          <p:cNvPr id="37" name="Rectangle 34"/>
          <p:cNvSpPr>
            <a:spLocks noChangeArrowheads="1"/>
          </p:cNvSpPr>
          <p:nvPr/>
        </p:nvSpPr>
        <p:spPr bwMode="auto">
          <a:xfrm>
            <a:off x="5406958" y="3251311"/>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r>
              <a:rPr lang="en-US" dirty="0">
                <a:solidFill>
                  <a:schemeClr val="bg1"/>
                </a:solidFill>
              </a:rPr>
              <a:t>15+31</a:t>
            </a:r>
          </a:p>
        </p:txBody>
      </p:sp>
      <p:sp>
        <p:nvSpPr>
          <p:cNvPr id="38" name="Rectangle 35"/>
          <p:cNvSpPr>
            <a:spLocks noChangeArrowheads="1"/>
          </p:cNvSpPr>
          <p:nvPr/>
        </p:nvSpPr>
        <p:spPr bwMode="auto">
          <a:xfrm>
            <a:off x="4753513" y="3251311"/>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endParaRPr lang="es-ES_tradnl">
              <a:solidFill>
                <a:schemeClr val="bg1"/>
              </a:solidFill>
            </a:endParaRPr>
          </a:p>
        </p:txBody>
      </p:sp>
      <p:sp>
        <p:nvSpPr>
          <p:cNvPr id="39" name="Rectangle 36"/>
          <p:cNvSpPr>
            <a:spLocks noChangeArrowheads="1"/>
          </p:cNvSpPr>
          <p:nvPr/>
        </p:nvSpPr>
        <p:spPr bwMode="auto">
          <a:xfrm>
            <a:off x="7367294" y="3251311"/>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40" name="Rectangle 37"/>
          <p:cNvSpPr>
            <a:spLocks noChangeArrowheads="1"/>
          </p:cNvSpPr>
          <p:nvPr/>
        </p:nvSpPr>
        <p:spPr bwMode="auto">
          <a:xfrm>
            <a:off x="6713849" y="3251311"/>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41" name="Rectangle 38"/>
          <p:cNvSpPr>
            <a:spLocks noChangeArrowheads="1"/>
          </p:cNvSpPr>
          <p:nvPr/>
        </p:nvSpPr>
        <p:spPr bwMode="auto">
          <a:xfrm>
            <a:off x="6060403" y="3251311"/>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42" name="Rectangle 39"/>
          <p:cNvSpPr>
            <a:spLocks noChangeArrowheads="1"/>
          </p:cNvSpPr>
          <p:nvPr/>
        </p:nvSpPr>
        <p:spPr bwMode="auto">
          <a:xfrm>
            <a:off x="8020739" y="3251311"/>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43" name="Rectangle 40"/>
          <p:cNvSpPr>
            <a:spLocks noChangeArrowheads="1"/>
          </p:cNvSpPr>
          <p:nvPr/>
        </p:nvSpPr>
        <p:spPr bwMode="auto">
          <a:xfrm>
            <a:off x="832840" y="4340386"/>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pPr algn="ctr"/>
            <a:endParaRPr lang="es-ES_tradnl">
              <a:solidFill>
                <a:schemeClr val="bg1"/>
              </a:solidFill>
            </a:endParaRPr>
          </a:p>
        </p:txBody>
      </p:sp>
      <p:sp>
        <p:nvSpPr>
          <p:cNvPr id="44" name="Rectangle 41"/>
          <p:cNvSpPr>
            <a:spLocks noChangeArrowheads="1"/>
          </p:cNvSpPr>
          <p:nvPr/>
        </p:nvSpPr>
        <p:spPr bwMode="auto">
          <a:xfrm>
            <a:off x="1486286" y="4340386"/>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endParaRPr lang="es-ES_tradnl">
              <a:solidFill>
                <a:schemeClr val="bg1"/>
              </a:solidFill>
            </a:endParaRPr>
          </a:p>
        </p:txBody>
      </p:sp>
      <p:sp>
        <p:nvSpPr>
          <p:cNvPr id="45" name="Rectangle 42"/>
          <p:cNvSpPr>
            <a:spLocks noChangeArrowheads="1"/>
          </p:cNvSpPr>
          <p:nvPr/>
        </p:nvSpPr>
        <p:spPr bwMode="auto">
          <a:xfrm>
            <a:off x="2139731" y="4340386"/>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endParaRPr lang="es-ES_tradnl">
              <a:solidFill>
                <a:schemeClr val="bg1"/>
              </a:solidFill>
            </a:endParaRPr>
          </a:p>
        </p:txBody>
      </p:sp>
      <p:sp>
        <p:nvSpPr>
          <p:cNvPr id="46" name="Rectangle 43"/>
          <p:cNvSpPr>
            <a:spLocks noChangeArrowheads="1"/>
          </p:cNvSpPr>
          <p:nvPr/>
        </p:nvSpPr>
        <p:spPr bwMode="auto">
          <a:xfrm>
            <a:off x="2793176" y="4340386"/>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endParaRPr lang="es-ES_tradnl">
              <a:solidFill>
                <a:schemeClr val="bg1"/>
              </a:solidFill>
            </a:endParaRPr>
          </a:p>
        </p:txBody>
      </p:sp>
      <p:sp>
        <p:nvSpPr>
          <p:cNvPr id="47" name="Rectangle 44"/>
          <p:cNvSpPr>
            <a:spLocks noChangeArrowheads="1"/>
          </p:cNvSpPr>
          <p:nvPr/>
        </p:nvSpPr>
        <p:spPr bwMode="auto">
          <a:xfrm>
            <a:off x="3446622" y="4340386"/>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48" name="Rectangle 45"/>
          <p:cNvSpPr>
            <a:spLocks noChangeArrowheads="1"/>
          </p:cNvSpPr>
          <p:nvPr/>
        </p:nvSpPr>
        <p:spPr bwMode="auto">
          <a:xfrm>
            <a:off x="4100067" y="4340386"/>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49" name="Rectangle 46"/>
          <p:cNvSpPr>
            <a:spLocks noChangeArrowheads="1"/>
          </p:cNvSpPr>
          <p:nvPr/>
        </p:nvSpPr>
        <p:spPr bwMode="auto">
          <a:xfrm>
            <a:off x="5406958" y="4340386"/>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0" name="Rectangle 47"/>
          <p:cNvSpPr>
            <a:spLocks noChangeArrowheads="1"/>
          </p:cNvSpPr>
          <p:nvPr/>
        </p:nvSpPr>
        <p:spPr bwMode="auto">
          <a:xfrm>
            <a:off x="4753513" y="4340386"/>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1" name="Rectangle 48"/>
          <p:cNvSpPr>
            <a:spLocks noChangeArrowheads="1"/>
          </p:cNvSpPr>
          <p:nvPr/>
        </p:nvSpPr>
        <p:spPr bwMode="auto">
          <a:xfrm>
            <a:off x="7367294" y="4340386"/>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2" name="Rectangle 49"/>
          <p:cNvSpPr>
            <a:spLocks noChangeArrowheads="1"/>
          </p:cNvSpPr>
          <p:nvPr/>
        </p:nvSpPr>
        <p:spPr bwMode="auto">
          <a:xfrm>
            <a:off x="6713849" y="4340386"/>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3" name="Rectangle 50"/>
          <p:cNvSpPr>
            <a:spLocks noChangeArrowheads="1"/>
          </p:cNvSpPr>
          <p:nvPr/>
        </p:nvSpPr>
        <p:spPr bwMode="auto">
          <a:xfrm>
            <a:off x="6060403" y="4340386"/>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4" name="Rectangle 51"/>
          <p:cNvSpPr>
            <a:spLocks noChangeArrowheads="1"/>
          </p:cNvSpPr>
          <p:nvPr/>
        </p:nvSpPr>
        <p:spPr bwMode="auto">
          <a:xfrm>
            <a:off x="8020739" y="4340386"/>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5" name="Rectangle 52"/>
          <p:cNvSpPr>
            <a:spLocks noChangeArrowheads="1"/>
          </p:cNvSpPr>
          <p:nvPr/>
        </p:nvSpPr>
        <p:spPr bwMode="auto">
          <a:xfrm>
            <a:off x="832840" y="5429462"/>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endParaRPr lang="es-ES_tradnl"/>
          </a:p>
        </p:txBody>
      </p:sp>
      <p:sp>
        <p:nvSpPr>
          <p:cNvPr id="56" name="Rectangle 53"/>
          <p:cNvSpPr>
            <a:spLocks noChangeArrowheads="1"/>
          </p:cNvSpPr>
          <p:nvPr/>
        </p:nvSpPr>
        <p:spPr bwMode="auto">
          <a:xfrm>
            <a:off x="1486286" y="5429462"/>
            <a:ext cx="653445" cy="435630"/>
          </a:xfrm>
          <a:prstGeom prst="rect">
            <a:avLst/>
          </a:prstGeom>
          <a:solidFill>
            <a:srgbClr val="0070C0"/>
          </a:solidFill>
          <a:ln w="9525">
            <a:solidFill>
              <a:schemeClr val="tx1"/>
            </a:solidFill>
            <a:miter lim="800000"/>
            <a:headEnd/>
            <a:tailEnd/>
          </a:ln>
          <a:effectLst/>
        </p:spPr>
        <p:txBody>
          <a:bodyPr wrap="none" anchor="ctr">
            <a:prstTxWarp prst="textNoShape">
              <a:avLst/>
            </a:prstTxWarp>
          </a:bodyPr>
          <a:lstStyle/>
          <a:p>
            <a:endParaRPr lang="es-ES_tradnl"/>
          </a:p>
        </p:txBody>
      </p:sp>
      <p:sp>
        <p:nvSpPr>
          <p:cNvPr id="57" name="Rectangle 54"/>
          <p:cNvSpPr>
            <a:spLocks noChangeArrowheads="1"/>
          </p:cNvSpPr>
          <p:nvPr/>
        </p:nvSpPr>
        <p:spPr bwMode="auto">
          <a:xfrm>
            <a:off x="2139731" y="5429462"/>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8" name="Rectangle 55"/>
          <p:cNvSpPr>
            <a:spLocks noChangeArrowheads="1"/>
          </p:cNvSpPr>
          <p:nvPr/>
        </p:nvSpPr>
        <p:spPr bwMode="auto">
          <a:xfrm>
            <a:off x="2793176" y="5429462"/>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59" name="Rectangle 56"/>
          <p:cNvSpPr>
            <a:spLocks noChangeArrowheads="1"/>
          </p:cNvSpPr>
          <p:nvPr/>
        </p:nvSpPr>
        <p:spPr bwMode="auto">
          <a:xfrm>
            <a:off x="3446622" y="5429462"/>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60" name="Rectangle 57"/>
          <p:cNvSpPr>
            <a:spLocks noChangeArrowheads="1"/>
          </p:cNvSpPr>
          <p:nvPr/>
        </p:nvSpPr>
        <p:spPr bwMode="auto">
          <a:xfrm>
            <a:off x="4100067" y="5429462"/>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61" name="Rectangle 58"/>
          <p:cNvSpPr>
            <a:spLocks noChangeArrowheads="1"/>
          </p:cNvSpPr>
          <p:nvPr/>
        </p:nvSpPr>
        <p:spPr bwMode="auto">
          <a:xfrm>
            <a:off x="5406958" y="5429462"/>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62" name="Rectangle 59"/>
          <p:cNvSpPr>
            <a:spLocks noChangeArrowheads="1"/>
          </p:cNvSpPr>
          <p:nvPr/>
        </p:nvSpPr>
        <p:spPr bwMode="auto">
          <a:xfrm>
            <a:off x="4753513" y="5429462"/>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63" name="Rectangle 60"/>
          <p:cNvSpPr>
            <a:spLocks noChangeArrowheads="1"/>
          </p:cNvSpPr>
          <p:nvPr/>
        </p:nvSpPr>
        <p:spPr bwMode="auto">
          <a:xfrm>
            <a:off x="7367294" y="5429462"/>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64" name="Rectangle 61"/>
          <p:cNvSpPr>
            <a:spLocks noChangeArrowheads="1"/>
          </p:cNvSpPr>
          <p:nvPr/>
        </p:nvSpPr>
        <p:spPr bwMode="auto">
          <a:xfrm>
            <a:off x="6713849" y="5429462"/>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65" name="Rectangle 62"/>
          <p:cNvSpPr>
            <a:spLocks noChangeArrowheads="1"/>
          </p:cNvSpPr>
          <p:nvPr/>
        </p:nvSpPr>
        <p:spPr bwMode="auto">
          <a:xfrm>
            <a:off x="6060403" y="5429462"/>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66" name="Rectangle 63"/>
          <p:cNvSpPr>
            <a:spLocks noChangeArrowheads="1"/>
          </p:cNvSpPr>
          <p:nvPr/>
        </p:nvSpPr>
        <p:spPr bwMode="auto">
          <a:xfrm>
            <a:off x="8020739" y="5429462"/>
            <a:ext cx="653445" cy="435630"/>
          </a:xfrm>
          <a:prstGeom prst="rect">
            <a:avLst/>
          </a:prstGeom>
          <a:noFill/>
          <a:ln w="9525">
            <a:solidFill>
              <a:schemeClr val="tx1"/>
            </a:solidFill>
            <a:miter lim="800000"/>
            <a:headEnd/>
            <a:tailEnd/>
          </a:ln>
          <a:effectLst/>
        </p:spPr>
        <p:txBody>
          <a:bodyPr wrap="none" anchor="ctr">
            <a:prstTxWarp prst="textNoShape">
              <a:avLst/>
            </a:prstTxWarp>
          </a:bodyPr>
          <a:lstStyle/>
          <a:p>
            <a:endParaRPr lang="es-ES_tradnl"/>
          </a:p>
        </p:txBody>
      </p:sp>
      <p:sp>
        <p:nvSpPr>
          <p:cNvPr id="67" name="Line 64"/>
          <p:cNvSpPr>
            <a:spLocks noChangeShapeType="1"/>
          </p:cNvSpPr>
          <p:nvPr/>
        </p:nvSpPr>
        <p:spPr bwMode="auto">
          <a:xfrm>
            <a:off x="1123261" y="2670470"/>
            <a:ext cx="0" cy="58084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68" name="Line 65"/>
          <p:cNvSpPr>
            <a:spLocks noChangeShapeType="1"/>
          </p:cNvSpPr>
          <p:nvPr/>
        </p:nvSpPr>
        <p:spPr bwMode="auto">
          <a:xfrm flipH="1">
            <a:off x="1268471" y="2670470"/>
            <a:ext cx="4937143" cy="58084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69" name="Line 66"/>
          <p:cNvSpPr>
            <a:spLocks noChangeShapeType="1"/>
          </p:cNvSpPr>
          <p:nvPr/>
        </p:nvSpPr>
        <p:spPr bwMode="auto">
          <a:xfrm>
            <a:off x="1776706" y="2670470"/>
            <a:ext cx="0" cy="58084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0" name="Line 67"/>
          <p:cNvSpPr>
            <a:spLocks noChangeShapeType="1"/>
          </p:cNvSpPr>
          <p:nvPr/>
        </p:nvSpPr>
        <p:spPr bwMode="auto">
          <a:xfrm flipH="1">
            <a:off x="1849311" y="2670470"/>
            <a:ext cx="5009748" cy="58084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1" name="Line 68"/>
          <p:cNvSpPr>
            <a:spLocks noChangeShapeType="1"/>
          </p:cNvSpPr>
          <p:nvPr/>
        </p:nvSpPr>
        <p:spPr bwMode="auto">
          <a:xfrm>
            <a:off x="2430151" y="2670470"/>
            <a:ext cx="0" cy="58084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2" name="Line 69"/>
          <p:cNvSpPr>
            <a:spLocks noChangeShapeType="1"/>
          </p:cNvSpPr>
          <p:nvPr/>
        </p:nvSpPr>
        <p:spPr bwMode="auto">
          <a:xfrm flipH="1">
            <a:off x="2502756" y="2670470"/>
            <a:ext cx="5082353" cy="58084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3" name="Line 70"/>
          <p:cNvSpPr>
            <a:spLocks noChangeShapeType="1"/>
          </p:cNvSpPr>
          <p:nvPr/>
        </p:nvSpPr>
        <p:spPr bwMode="auto">
          <a:xfrm>
            <a:off x="3083597" y="2670470"/>
            <a:ext cx="0" cy="58084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4" name="Line 71"/>
          <p:cNvSpPr>
            <a:spLocks noChangeShapeType="1"/>
          </p:cNvSpPr>
          <p:nvPr/>
        </p:nvSpPr>
        <p:spPr bwMode="auto">
          <a:xfrm flipH="1">
            <a:off x="3156202" y="2670470"/>
            <a:ext cx="5082353" cy="58084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5" name="Line 72"/>
          <p:cNvSpPr>
            <a:spLocks noChangeShapeType="1"/>
          </p:cNvSpPr>
          <p:nvPr/>
        </p:nvSpPr>
        <p:spPr bwMode="auto">
          <a:xfrm>
            <a:off x="3737042" y="2670470"/>
            <a:ext cx="0" cy="58084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6" name="Line 73"/>
          <p:cNvSpPr>
            <a:spLocks noChangeShapeType="1"/>
          </p:cNvSpPr>
          <p:nvPr/>
        </p:nvSpPr>
        <p:spPr bwMode="auto">
          <a:xfrm flipH="1">
            <a:off x="3882252" y="2670470"/>
            <a:ext cx="5009748" cy="58084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7" name="Line 74"/>
          <p:cNvSpPr>
            <a:spLocks noChangeShapeType="1"/>
          </p:cNvSpPr>
          <p:nvPr/>
        </p:nvSpPr>
        <p:spPr bwMode="auto">
          <a:xfrm>
            <a:off x="4390487" y="2670470"/>
            <a:ext cx="0" cy="58084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8" name="Line 75"/>
          <p:cNvSpPr>
            <a:spLocks noChangeShapeType="1"/>
          </p:cNvSpPr>
          <p:nvPr/>
        </p:nvSpPr>
        <p:spPr bwMode="auto">
          <a:xfrm>
            <a:off x="1123261" y="3686941"/>
            <a:ext cx="0" cy="653445"/>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79" name="Line 76"/>
          <p:cNvSpPr>
            <a:spLocks noChangeShapeType="1"/>
          </p:cNvSpPr>
          <p:nvPr/>
        </p:nvSpPr>
        <p:spPr bwMode="auto">
          <a:xfrm flipH="1">
            <a:off x="1268471" y="3686941"/>
            <a:ext cx="2323361" cy="653445"/>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80" name="Line 77"/>
          <p:cNvSpPr>
            <a:spLocks noChangeShapeType="1"/>
          </p:cNvSpPr>
          <p:nvPr/>
        </p:nvSpPr>
        <p:spPr bwMode="auto">
          <a:xfrm>
            <a:off x="1776706" y="3686941"/>
            <a:ext cx="0" cy="653445"/>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81" name="Line 78"/>
          <p:cNvSpPr>
            <a:spLocks noChangeShapeType="1"/>
          </p:cNvSpPr>
          <p:nvPr/>
        </p:nvSpPr>
        <p:spPr bwMode="auto">
          <a:xfrm flipH="1">
            <a:off x="1921916" y="3686941"/>
            <a:ext cx="2323361" cy="653445"/>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82" name="Line 79"/>
          <p:cNvSpPr>
            <a:spLocks noChangeShapeType="1"/>
          </p:cNvSpPr>
          <p:nvPr/>
        </p:nvSpPr>
        <p:spPr bwMode="auto">
          <a:xfrm>
            <a:off x="1123261" y="4776016"/>
            <a:ext cx="0" cy="653445"/>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83" name="Line 80"/>
          <p:cNvSpPr>
            <a:spLocks noChangeShapeType="1"/>
          </p:cNvSpPr>
          <p:nvPr/>
        </p:nvSpPr>
        <p:spPr bwMode="auto">
          <a:xfrm flipH="1">
            <a:off x="3301412" y="3686941"/>
            <a:ext cx="2395966" cy="653445"/>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84" name="Text Box 81"/>
          <p:cNvSpPr txBox="1">
            <a:spLocks noChangeArrowheads="1"/>
          </p:cNvSpPr>
          <p:nvPr/>
        </p:nvSpPr>
        <p:spPr bwMode="auto">
          <a:xfrm>
            <a:off x="542420" y="3251311"/>
            <a:ext cx="320672" cy="435630"/>
          </a:xfrm>
          <a:prstGeom prst="rect">
            <a:avLst/>
          </a:prstGeom>
          <a:noFill/>
          <a:ln w="9525">
            <a:noFill/>
            <a:miter lim="800000"/>
            <a:headEnd/>
            <a:tailEnd/>
          </a:ln>
          <a:effectLst/>
        </p:spPr>
        <p:txBody>
          <a:bodyPr wrap="none">
            <a:prstTxWarp prst="textNoShape">
              <a:avLst/>
            </a:prstTxWarp>
            <a:spAutoFit/>
          </a:bodyPr>
          <a:lstStyle/>
          <a:p>
            <a:r>
              <a:rPr lang="en-US"/>
              <a:t>1</a:t>
            </a:r>
          </a:p>
        </p:txBody>
      </p:sp>
      <p:sp>
        <p:nvSpPr>
          <p:cNvPr id="85" name="Text Box 82"/>
          <p:cNvSpPr txBox="1">
            <a:spLocks noChangeArrowheads="1"/>
          </p:cNvSpPr>
          <p:nvPr/>
        </p:nvSpPr>
        <p:spPr bwMode="auto">
          <a:xfrm>
            <a:off x="542420" y="4340386"/>
            <a:ext cx="311304" cy="369332"/>
          </a:xfrm>
          <a:prstGeom prst="rect">
            <a:avLst/>
          </a:prstGeom>
          <a:noFill/>
          <a:ln w="9525">
            <a:noFill/>
            <a:miter lim="800000"/>
            <a:headEnd/>
            <a:tailEnd/>
          </a:ln>
          <a:effectLst/>
        </p:spPr>
        <p:txBody>
          <a:bodyPr wrap="none">
            <a:prstTxWarp prst="textNoShape">
              <a:avLst/>
            </a:prstTxWarp>
            <a:spAutoFit/>
          </a:bodyPr>
          <a:lstStyle/>
          <a:p>
            <a:r>
              <a:rPr lang="en-US" dirty="0"/>
              <a:t>2</a:t>
            </a:r>
          </a:p>
        </p:txBody>
      </p:sp>
      <p:sp>
        <p:nvSpPr>
          <p:cNvPr id="86" name="Text Box 83"/>
          <p:cNvSpPr txBox="1">
            <a:spLocks noChangeArrowheads="1"/>
          </p:cNvSpPr>
          <p:nvPr/>
        </p:nvSpPr>
        <p:spPr bwMode="auto">
          <a:xfrm>
            <a:off x="542420" y="5429462"/>
            <a:ext cx="311304" cy="369332"/>
          </a:xfrm>
          <a:prstGeom prst="rect">
            <a:avLst/>
          </a:prstGeom>
          <a:noFill/>
          <a:ln w="9525">
            <a:noFill/>
            <a:miter lim="800000"/>
            <a:headEnd/>
            <a:tailEnd/>
          </a:ln>
          <a:effectLst/>
        </p:spPr>
        <p:txBody>
          <a:bodyPr wrap="none">
            <a:prstTxWarp prst="textNoShape">
              <a:avLst/>
            </a:prstTxWarp>
            <a:spAutoFit/>
          </a:bodyPr>
          <a:lstStyle/>
          <a:p>
            <a:r>
              <a:rPr lang="en-US" dirty="0"/>
              <a:t>3</a:t>
            </a:r>
          </a:p>
        </p:txBody>
      </p:sp>
      <p:sp>
        <p:nvSpPr>
          <p:cNvPr id="87" name="Line 84"/>
          <p:cNvSpPr>
            <a:spLocks noChangeShapeType="1"/>
          </p:cNvSpPr>
          <p:nvPr/>
        </p:nvSpPr>
        <p:spPr bwMode="auto">
          <a:xfrm>
            <a:off x="5043933" y="2670470"/>
            <a:ext cx="0" cy="58084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88" name="Line 85"/>
          <p:cNvSpPr>
            <a:spLocks noChangeShapeType="1"/>
          </p:cNvSpPr>
          <p:nvPr/>
        </p:nvSpPr>
        <p:spPr bwMode="auto">
          <a:xfrm>
            <a:off x="5697378" y="2670470"/>
            <a:ext cx="0" cy="580840"/>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89" name="Line 86"/>
          <p:cNvSpPr>
            <a:spLocks noChangeShapeType="1"/>
          </p:cNvSpPr>
          <p:nvPr/>
        </p:nvSpPr>
        <p:spPr bwMode="auto">
          <a:xfrm>
            <a:off x="2430151" y="3686941"/>
            <a:ext cx="0" cy="653445"/>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90" name="Line 87"/>
          <p:cNvSpPr>
            <a:spLocks noChangeShapeType="1"/>
          </p:cNvSpPr>
          <p:nvPr/>
        </p:nvSpPr>
        <p:spPr bwMode="auto">
          <a:xfrm>
            <a:off x="3083597" y="3686941"/>
            <a:ext cx="0" cy="653445"/>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91" name="Line 88"/>
          <p:cNvSpPr>
            <a:spLocks noChangeShapeType="1"/>
          </p:cNvSpPr>
          <p:nvPr/>
        </p:nvSpPr>
        <p:spPr bwMode="auto">
          <a:xfrm flipH="1">
            <a:off x="2647966" y="3686941"/>
            <a:ext cx="2323361" cy="653445"/>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92" name="Line 89"/>
          <p:cNvSpPr>
            <a:spLocks noChangeShapeType="1"/>
          </p:cNvSpPr>
          <p:nvPr/>
        </p:nvSpPr>
        <p:spPr bwMode="auto">
          <a:xfrm>
            <a:off x="1776706" y="4776016"/>
            <a:ext cx="0" cy="653445"/>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93" name="Line 90"/>
          <p:cNvSpPr>
            <a:spLocks noChangeShapeType="1"/>
          </p:cNvSpPr>
          <p:nvPr/>
        </p:nvSpPr>
        <p:spPr bwMode="auto">
          <a:xfrm flipH="1">
            <a:off x="1341076" y="4776016"/>
            <a:ext cx="1089076" cy="653445"/>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94" name="Line 91"/>
          <p:cNvSpPr>
            <a:spLocks noChangeShapeType="1"/>
          </p:cNvSpPr>
          <p:nvPr/>
        </p:nvSpPr>
        <p:spPr bwMode="auto">
          <a:xfrm flipH="1">
            <a:off x="1921916" y="4776016"/>
            <a:ext cx="1161681" cy="653445"/>
          </a:xfrm>
          <a:prstGeom prst="line">
            <a:avLst/>
          </a:prstGeom>
          <a:noFill/>
          <a:ln w="9525">
            <a:solidFill>
              <a:schemeClr val="tx1"/>
            </a:solidFill>
            <a:round/>
            <a:headEnd/>
            <a:tailEnd type="triangle" w="med" len="med"/>
          </a:ln>
          <a:effectLst/>
        </p:spPr>
        <p:txBody>
          <a:bodyPr>
            <a:prstTxWarp prst="textNoShape">
              <a:avLst/>
            </a:prstTxWarp>
          </a:bodyPr>
          <a:lstStyle/>
          <a:p>
            <a:endParaRPr lang="es-ES_tradnl"/>
          </a:p>
        </p:txBody>
      </p:sp>
      <p:sp>
        <p:nvSpPr>
          <p:cNvPr id="95" name="Text Box 92"/>
          <p:cNvSpPr txBox="1">
            <a:spLocks noChangeArrowheads="1"/>
          </p:cNvSpPr>
          <p:nvPr/>
        </p:nvSpPr>
        <p:spPr bwMode="auto">
          <a:xfrm>
            <a:off x="1413681" y="1556792"/>
            <a:ext cx="744114" cy="261610"/>
          </a:xfrm>
          <a:prstGeom prst="rect">
            <a:avLst/>
          </a:prstGeom>
          <a:noFill/>
          <a:ln w="9525">
            <a:noFill/>
            <a:miter lim="800000"/>
            <a:headEnd/>
            <a:tailEnd/>
          </a:ln>
          <a:effectLst/>
        </p:spPr>
        <p:txBody>
          <a:bodyPr wrap="none">
            <a:prstTxWarp prst="textNoShape">
              <a:avLst/>
            </a:prstTxWarp>
            <a:spAutoFit/>
          </a:bodyPr>
          <a:lstStyle/>
          <a:p>
            <a:r>
              <a:rPr lang="en-US" sz="1100"/>
              <a:t>Thread 1</a:t>
            </a:r>
          </a:p>
        </p:txBody>
      </p:sp>
      <p:sp>
        <p:nvSpPr>
          <p:cNvPr id="96" name="Text Box 93"/>
          <p:cNvSpPr txBox="1">
            <a:spLocks noChangeArrowheads="1"/>
          </p:cNvSpPr>
          <p:nvPr/>
        </p:nvSpPr>
        <p:spPr bwMode="auto">
          <a:xfrm>
            <a:off x="2067126" y="1556792"/>
            <a:ext cx="744114" cy="261610"/>
          </a:xfrm>
          <a:prstGeom prst="rect">
            <a:avLst/>
          </a:prstGeom>
          <a:noFill/>
          <a:ln w="9525">
            <a:noFill/>
            <a:miter lim="800000"/>
            <a:headEnd/>
            <a:tailEnd/>
          </a:ln>
          <a:effectLst/>
        </p:spPr>
        <p:txBody>
          <a:bodyPr wrap="none">
            <a:prstTxWarp prst="textNoShape">
              <a:avLst/>
            </a:prstTxWarp>
            <a:spAutoFit/>
          </a:bodyPr>
          <a:lstStyle/>
          <a:p>
            <a:r>
              <a:rPr lang="en-US" sz="1100" dirty="0"/>
              <a:t>Thread 2</a:t>
            </a:r>
          </a:p>
        </p:txBody>
      </p:sp>
      <p:sp>
        <p:nvSpPr>
          <p:cNvPr id="97" name="Text Box 94"/>
          <p:cNvSpPr txBox="1">
            <a:spLocks noChangeArrowheads="1"/>
          </p:cNvSpPr>
          <p:nvPr/>
        </p:nvSpPr>
        <p:spPr bwMode="auto">
          <a:xfrm>
            <a:off x="4644008" y="1556792"/>
            <a:ext cx="821059" cy="261610"/>
          </a:xfrm>
          <a:prstGeom prst="rect">
            <a:avLst/>
          </a:prstGeom>
          <a:noFill/>
          <a:ln w="9525">
            <a:noFill/>
            <a:miter lim="800000"/>
            <a:headEnd/>
            <a:tailEnd/>
          </a:ln>
          <a:effectLst/>
        </p:spPr>
        <p:txBody>
          <a:bodyPr wrap="none">
            <a:prstTxWarp prst="textNoShape">
              <a:avLst/>
            </a:prstTxWarp>
            <a:spAutoFit/>
          </a:bodyPr>
          <a:lstStyle/>
          <a:p>
            <a:r>
              <a:rPr lang="en-US" sz="1100" dirty="0"/>
              <a:t>Thread 14</a:t>
            </a:r>
          </a:p>
        </p:txBody>
      </p:sp>
      <p:sp>
        <p:nvSpPr>
          <p:cNvPr id="98" name="Text Box 95"/>
          <p:cNvSpPr txBox="1">
            <a:spLocks noChangeArrowheads="1"/>
          </p:cNvSpPr>
          <p:nvPr/>
        </p:nvSpPr>
        <p:spPr bwMode="auto">
          <a:xfrm>
            <a:off x="5334353" y="1556792"/>
            <a:ext cx="821059" cy="261610"/>
          </a:xfrm>
          <a:prstGeom prst="rect">
            <a:avLst/>
          </a:prstGeom>
          <a:noFill/>
          <a:ln w="9525">
            <a:noFill/>
            <a:miter lim="800000"/>
            <a:headEnd/>
            <a:tailEnd/>
          </a:ln>
          <a:effectLst/>
        </p:spPr>
        <p:txBody>
          <a:bodyPr wrap="none">
            <a:prstTxWarp prst="textNoShape">
              <a:avLst/>
            </a:prstTxWarp>
            <a:spAutoFit/>
          </a:bodyPr>
          <a:lstStyle/>
          <a:p>
            <a:r>
              <a:rPr lang="en-US" sz="1100"/>
              <a:t>Thread 15</a:t>
            </a:r>
          </a:p>
        </p:txBody>
      </p:sp>
      <p:sp>
        <p:nvSpPr>
          <p:cNvPr id="99" name="Text Box 87"/>
          <p:cNvSpPr txBox="1">
            <a:spLocks noChangeArrowheads="1"/>
          </p:cNvSpPr>
          <p:nvPr/>
        </p:nvSpPr>
        <p:spPr bwMode="auto">
          <a:xfrm rot="16200000">
            <a:off x="-180484" y="5085369"/>
            <a:ext cx="980168" cy="320672"/>
          </a:xfrm>
          <a:prstGeom prst="rect">
            <a:avLst/>
          </a:prstGeom>
          <a:noFill/>
          <a:ln w="9525">
            <a:noFill/>
            <a:miter lim="800000"/>
            <a:headEnd/>
            <a:tailEnd/>
          </a:ln>
          <a:effectLst/>
        </p:spPr>
        <p:txBody>
          <a:bodyPr wrap="none">
            <a:prstTxWarp prst="textNoShape">
              <a:avLst/>
            </a:prstTxWarp>
            <a:spAutoFit/>
          </a:bodyPr>
          <a:lstStyle/>
          <a:p>
            <a:r>
              <a:rPr lang="en-US" sz="1600" dirty="0"/>
              <a:t>iterations</a:t>
            </a:r>
          </a:p>
        </p:txBody>
      </p:sp>
      <p:sp>
        <p:nvSpPr>
          <p:cNvPr id="100" name="Line 88"/>
          <p:cNvSpPr>
            <a:spLocks noChangeShapeType="1"/>
          </p:cNvSpPr>
          <p:nvPr/>
        </p:nvSpPr>
        <p:spPr bwMode="auto">
          <a:xfrm>
            <a:off x="469815" y="5075205"/>
            <a:ext cx="0" cy="726050"/>
          </a:xfrm>
          <a:prstGeom prst="line">
            <a:avLst/>
          </a:prstGeom>
          <a:noFill/>
          <a:ln w="38100">
            <a:solidFill>
              <a:schemeClr val="tx1"/>
            </a:solidFill>
            <a:round/>
            <a:headEnd/>
            <a:tailEnd type="triangle" w="med" len="med"/>
          </a:ln>
          <a:effectLst/>
        </p:spPr>
        <p:txBody>
          <a:bodyPr>
            <a:prstTxWarp prst="textNoShape">
              <a:avLst/>
            </a:prstTxWarp>
          </a:bodyPr>
          <a:lstStyle/>
          <a:p>
            <a:endParaRPr lang="es-ES_tradnl"/>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71</a:t>
            </a:fld>
            <a:endParaRPr lang="en-US" altLang="en-US"/>
          </a:p>
        </p:txBody>
      </p:sp>
      <p:sp>
        <p:nvSpPr>
          <p:cNvPr id="102" name="CuadroTexto 26">
            <a:extLst>
              <a:ext uri="{FF2B5EF4-FFF2-40B4-BE49-F238E27FC236}">
                <a16:creationId xmlns:a16="http://schemas.microsoft.com/office/drawing/2014/main" id="{9BBD14E6-7C12-094E-80BE-D5360A3E1470}"/>
              </a:ext>
            </a:extLst>
          </p:cNvPr>
          <p:cNvSpPr txBox="1"/>
          <p:nvPr/>
        </p:nvSpPr>
        <p:spPr>
          <a:xfrm>
            <a:off x="228600" y="6495225"/>
            <a:ext cx="1274708" cy="215444"/>
          </a:xfrm>
          <a:prstGeom prst="rect">
            <a:avLst/>
          </a:prstGeom>
          <a:noFill/>
        </p:spPr>
        <p:txBody>
          <a:bodyPr wrap="none" rtlCol="0">
            <a:spAutoFit/>
          </a:bodyPr>
          <a:lstStyle/>
          <a:p>
            <a:r>
              <a:rPr lang="en-US" sz="800" dirty="0"/>
              <a:t>Slide credit: </a:t>
            </a:r>
            <a:r>
              <a:rPr lang="en-US" sz="800" dirty="0" err="1"/>
              <a:t>Hwu</a:t>
            </a:r>
            <a:r>
              <a:rPr lang="en-US" sz="800" dirty="0"/>
              <a:t> &amp; Kirk</a:t>
            </a:r>
          </a:p>
        </p:txBody>
      </p:sp>
      <p:sp>
        <p:nvSpPr>
          <p:cNvPr id="101" name="Text Box 93">
            <a:extLst>
              <a:ext uri="{FF2B5EF4-FFF2-40B4-BE49-F238E27FC236}">
                <a16:creationId xmlns:a16="http://schemas.microsoft.com/office/drawing/2014/main" id="{3F240E91-1B52-7843-A63A-BEDA2889C7C1}"/>
              </a:ext>
            </a:extLst>
          </p:cNvPr>
          <p:cNvSpPr txBox="1">
            <a:spLocks noChangeArrowheads="1"/>
          </p:cNvSpPr>
          <p:nvPr/>
        </p:nvSpPr>
        <p:spPr bwMode="auto">
          <a:xfrm>
            <a:off x="2787358" y="1503481"/>
            <a:ext cx="309700" cy="276999"/>
          </a:xfrm>
          <a:prstGeom prst="rect">
            <a:avLst/>
          </a:prstGeom>
          <a:noFill/>
          <a:ln w="9525">
            <a:noFill/>
            <a:miter lim="800000"/>
            <a:headEnd/>
            <a:tailEnd/>
          </a:ln>
          <a:effectLst/>
        </p:spPr>
        <p:txBody>
          <a:bodyPr wrap="none">
            <a:prstTxWarp prst="textNoShape">
              <a:avLst/>
            </a:prstTxWarp>
            <a:spAutoFit/>
          </a:bodyPr>
          <a:lstStyle/>
          <a:p>
            <a:r>
              <a:rPr lang="en-US" sz="1200" dirty="0"/>
              <a:t>…</a:t>
            </a:r>
          </a:p>
        </p:txBody>
      </p:sp>
    </p:spTree>
    <p:extLst>
      <p:ext uri="{BB962C8B-B14F-4D97-AF65-F5344CB8AC3E}">
        <p14:creationId xmlns:p14="http://schemas.microsoft.com/office/powerpoint/2010/main" val="267173002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7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8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87"/>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88"/>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00"/>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99"/>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43"/>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44"/>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45"/>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46"/>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47"/>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48"/>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49"/>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50"/>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51"/>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52"/>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53"/>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54"/>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78"/>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79"/>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80"/>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81"/>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83"/>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85"/>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89"/>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90"/>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91"/>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55"/>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56"/>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57"/>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58"/>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59"/>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60"/>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61"/>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62"/>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63"/>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64"/>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65"/>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66"/>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82"/>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86"/>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92"/>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93"/>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94"/>
                                        </p:tgtEl>
                                        <p:attrNameLst>
                                          <p:attrName>style.visibility</p:attrName>
                                        </p:attrNameLst>
                                      </p:cBhvr>
                                      <p:to>
                                        <p:strVal val="visible"/>
                                      </p:to>
                                    </p:set>
                                  </p:childTnLst>
                                </p:cTn>
                              </p:par>
                              <p:par>
                                <p:cTn id="169" presetID="1" presetClass="entr" presetSubtype="0" fill="hold" grpId="1" nodeType="withEffect">
                                  <p:stCondLst>
                                    <p:cond delay="0"/>
                                  </p:stCondLst>
                                  <p:childTnLst>
                                    <p:set>
                                      <p:cBhvr>
                                        <p:cTn id="170" dur="1" fill="hold">
                                          <p:stCondLst>
                                            <p:cond delay="0"/>
                                          </p:stCondLst>
                                        </p:cTn>
                                        <p:tgtEl>
                                          <p:spTgt spid="99"/>
                                        </p:tgtEl>
                                        <p:attrNameLst>
                                          <p:attrName>style.visibility</p:attrName>
                                        </p:attrNameLst>
                                      </p:cBhvr>
                                      <p:to>
                                        <p:strVal val="visible"/>
                                      </p:to>
                                    </p:set>
                                  </p:childTnLst>
                                </p:cTn>
                              </p:par>
                              <p:par>
                                <p:cTn id="171" presetID="1" presetClass="entr" presetSubtype="0" fill="hold" grpId="1" nodeType="withEffect">
                                  <p:stCondLst>
                                    <p:cond delay="0"/>
                                  </p:stCondLst>
                                  <p:childTnLst>
                                    <p:set>
                                      <p:cBhvr>
                                        <p:cTn id="172" dur="1" fill="hold">
                                          <p:stCondLst>
                                            <p:cond delay="0"/>
                                          </p:stCondLst>
                                        </p:cTn>
                                        <p:tgtEl>
                                          <p:spTgt spid="100"/>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p:bldP spid="85" grpId="0"/>
      <p:bldP spid="86" grpId="0"/>
      <p:bldP spid="87" grpId="0" animBg="1"/>
      <p:bldP spid="88" grpId="0" animBg="1"/>
      <p:bldP spid="89" grpId="0" animBg="1"/>
      <p:bldP spid="90" grpId="0" animBg="1"/>
      <p:bldP spid="91" grpId="0" animBg="1"/>
      <p:bldP spid="92" grpId="0" animBg="1"/>
      <p:bldP spid="93" grpId="0" animBg="1"/>
      <p:bldP spid="94" grpId="0" animBg="1"/>
      <p:bldP spid="95" grpId="0"/>
      <p:bldP spid="96" grpId="0"/>
      <p:bldP spid="97" grpId="0"/>
      <p:bldP spid="98" grpId="0"/>
      <p:bldP spid="99" grpId="0"/>
      <p:bldP spid="99" grpId="1"/>
      <p:bldP spid="100" grpId="0" animBg="1"/>
      <p:bldP spid="100" grpId="1" animBg="1"/>
      <p:bldP spid="101"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Divergence-Free Mapping (II)</a:t>
            </a:r>
            <a:endParaRPr lang="en-US" b="1" dirty="0"/>
          </a:p>
        </p:txBody>
      </p:sp>
      <p:sp>
        <p:nvSpPr>
          <p:cNvPr id="3" name="Marcador de contenido 2"/>
          <p:cNvSpPr>
            <a:spLocks noGrp="1"/>
          </p:cNvSpPr>
          <p:nvPr>
            <p:ph idx="1"/>
          </p:nvPr>
        </p:nvSpPr>
        <p:spPr>
          <a:xfrm>
            <a:off x="251521" y="908720"/>
            <a:ext cx="8568952" cy="5472534"/>
          </a:xfrm>
        </p:spPr>
        <p:txBody>
          <a:bodyPr>
            <a:normAutofit/>
          </a:bodyPr>
          <a:lstStyle/>
          <a:p>
            <a:r>
              <a:rPr lang="en-US" dirty="0"/>
              <a:t>Program with </a:t>
            </a:r>
            <a:r>
              <a:rPr lang="en-US" dirty="0">
                <a:solidFill>
                  <a:srgbClr val="00B050"/>
                </a:solidFill>
              </a:rPr>
              <a:t>high SIMD utilization</a:t>
            </a:r>
          </a:p>
        </p:txBody>
      </p:sp>
      <p:sp>
        <p:nvSpPr>
          <p:cNvPr id="5" name="CuadroTexto 4"/>
          <p:cNvSpPr txBox="1"/>
          <p:nvPr/>
        </p:nvSpPr>
        <p:spPr>
          <a:xfrm>
            <a:off x="594832" y="1905506"/>
            <a:ext cx="7954336" cy="3046988"/>
          </a:xfrm>
          <a:prstGeom prst="rect">
            <a:avLst/>
          </a:prstGeom>
          <a:solidFill>
            <a:schemeClr val="bg1">
              <a:lumMod val="95000"/>
            </a:schemeClr>
          </a:solidFill>
        </p:spPr>
        <p:txBody>
          <a:bodyPr wrap="square" rtlCol="0">
            <a:spAutoFit/>
          </a:bodyPr>
          <a:lstStyle/>
          <a:p>
            <a:pPr marL="0" lvl="1" indent="-403225"/>
            <a:r>
              <a:rPr lang="en-US" sz="1600" dirty="0">
                <a:latin typeface="Courier"/>
                <a:cs typeface="Courier"/>
              </a:rPr>
              <a:t>__shared__ float </a:t>
            </a:r>
            <a:r>
              <a:rPr lang="en-US" sz="1600" dirty="0" err="1">
                <a:latin typeface="Courier"/>
                <a:cs typeface="Courier"/>
              </a:rPr>
              <a:t>partialSum</a:t>
            </a:r>
            <a:r>
              <a:rPr lang="en-US" sz="1600" dirty="0">
                <a:latin typeface="Courier"/>
                <a:cs typeface="Courier"/>
              </a:rPr>
              <a:t>[]</a:t>
            </a:r>
          </a:p>
          <a:p>
            <a:pPr marL="0" lvl="1" indent="-403225"/>
            <a:endParaRPr lang="en-US" sz="1600" dirty="0">
              <a:latin typeface="Courier"/>
              <a:cs typeface="Courier"/>
            </a:endParaRPr>
          </a:p>
          <a:p>
            <a:pPr marL="0" lvl="1" indent="-403225"/>
            <a:r>
              <a:rPr lang="en-US" sz="1600" dirty="0">
                <a:latin typeface="Courier"/>
                <a:cs typeface="Courier"/>
              </a:rPr>
              <a:t>unsigned </a:t>
            </a:r>
            <a:r>
              <a:rPr lang="en-US" sz="1600" dirty="0" err="1">
                <a:latin typeface="Courier"/>
                <a:cs typeface="Courier"/>
              </a:rPr>
              <a:t>int</a:t>
            </a:r>
            <a:r>
              <a:rPr lang="en-US" sz="1600" dirty="0">
                <a:latin typeface="Courier"/>
                <a:cs typeface="Courier"/>
              </a:rPr>
              <a:t> t = </a:t>
            </a:r>
            <a:r>
              <a:rPr lang="en-US" sz="1600" dirty="0" err="1">
                <a:latin typeface="Courier"/>
                <a:cs typeface="Courier"/>
              </a:rPr>
              <a:t>threadIdx.x</a:t>
            </a:r>
            <a:r>
              <a:rPr lang="en-US" sz="1600" dirty="0">
                <a:latin typeface="Courier"/>
                <a:cs typeface="Courier"/>
              </a:rPr>
              <a:t>;</a:t>
            </a:r>
          </a:p>
          <a:p>
            <a:pPr marL="0" lvl="1" indent="-403225"/>
            <a:endParaRPr lang="en-US" sz="1600" dirty="0">
              <a:latin typeface="Courier"/>
              <a:cs typeface="Courier"/>
            </a:endParaRPr>
          </a:p>
          <a:p>
            <a:pPr marL="0" lvl="1" indent="-403225"/>
            <a:r>
              <a:rPr lang="en-US" sz="1600" dirty="0">
                <a:solidFill>
                  <a:srgbClr val="0000FF"/>
                </a:solidFill>
                <a:latin typeface="Courier"/>
                <a:cs typeface="Courier"/>
              </a:rPr>
              <a:t>for (</a:t>
            </a:r>
            <a:r>
              <a:rPr lang="en-US" sz="1600" dirty="0" err="1">
                <a:solidFill>
                  <a:srgbClr val="0000FF"/>
                </a:solidFill>
                <a:latin typeface="Courier"/>
                <a:cs typeface="Courier"/>
              </a:rPr>
              <a:t>int</a:t>
            </a:r>
            <a:r>
              <a:rPr lang="en-US" sz="1600" dirty="0">
                <a:solidFill>
                  <a:srgbClr val="0000FF"/>
                </a:solidFill>
                <a:latin typeface="Courier"/>
                <a:cs typeface="Courier"/>
              </a:rPr>
              <a:t> stride = </a:t>
            </a:r>
            <a:r>
              <a:rPr lang="en-US" sz="1600" dirty="0" err="1">
                <a:solidFill>
                  <a:srgbClr val="0000FF"/>
                </a:solidFill>
                <a:latin typeface="Courier"/>
                <a:cs typeface="Courier"/>
              </a:rPr>
              <a:t>blockDim.x</a:t>
            </a:r>
            <a:r>
              <a:rPr lang="en-US" sz="1600" dirty="0">
                <a:solidFill>
                  <a:srgbClr val="0000FF"/>
                </a:solidFill>
                <a:latin typeface="Courier"/>
                <a:cs typeface="Courier"/>
              </a:rPr>
              <a:t>; stride &gt; 0;  stride &gt;&gt; 1){</a:t>
            </a:r>
          </a:p>
          <a:p>
            <a:pPr marL="0" lvl="1" indent="-403225"/>
            <a:endParaRPr lang="en-US" sz="1600" dirty="0">
              <a:latin typeface="Courier"/>
              <a:cs typeface="Courier"/>
            </a:endParaRPr>
          </a:p>
          <a:p>
            <a:pPr marL="0" lvl="1" indent="-403225"/>
            <a:r>
              <a:rPr lang="en-US" sz="1600" dirty="0">
                <a:latin typeface="Courier"/>
                <a:cs typeface="Courier"/>
              </a:rPr>
              <a:t>  __</a:t>
            </a:r>
            <a:r>
              <a:rPr lang="en-US" sz="1600" dirty="0" err="1">
                <a:latin typeface="Courier"/>
                <a:cs typeface="Courier"/>
              </a:rPr>
              <a:t>syncthreads</a:t>
            </a:r>
            <a:r>
              <a:rPr lang="en-US" sz="1600" dirty="0">
                <a:latin typeface="Courier"/>
                <a:cs typeface="Courier"/>
              </a:rPr>
              <a:t>();</a:t>
            </a:r>
          </a:p>
          <a:p>
            <a:pPr marL="0" lvl="1" indent="-403225"/>
            <a:endParaRPr lang="en-US" sz="1600" dirty="0">
              <a:latin typeface="Courier"/>
              <a:cs typeface="Courier"/>
            </a:endParaRPr>
          </a:p>
          <a:p>
            <a:pPr marL="0" lvl="1" indent="-403225"/>
            <a:r>
              <a:rPr lang="en-US" sz="1600" dirty="0">
                <a:solidFill>
                  <a:srgbClr val="00B050"/>
                </a:solidFill>
                <a:latin typeface="Courier"/>
                <a:cs typeface="Courier"/>
              </a:rPr>
              <a:t>  if (t &lt; stride)</a:t>
            </a:r>
          </a:p>
          <a:p>
            <a:pPr marL="0" lvl="1" indent="-403225"/>
            <a:r>
              <a:rPr lang="en-US" sz="1600" dirty="0">
                <a:latin typeface="Courier"/>
                <a:cs typeface="Courier"/>
              </a:rPr>
              <a:t>    </a:t>
            </a:r>
            <a:r>
              <a:rPr lang="en-US" sz="1600" dirty="0" err="1">
                <a:latin typeface="Courier"/>
                <a:cs typeface="Courier"/>
              </a:rPr>
              <a:t>partialSum</a:t>
            </a:r>
            <a:r>
              <a:rPr lang="en-US" sz="1600" dirty="0">
                <a:latin typeface="Courier"/>
                <a:cs typeface="Courier"/>
              </a:rPr>
              <a:t>[t] += </a:t>
            </a:r>
            <a:r>
              <a:rPr lang="en-US" sz="1600" dirty="0" err="1">
                <a:latin typeface="Courier"/>
                <a:cs typeface="Courier"/>
              </a:rPr>
              <a:t>partialSum</a:t>
            </a:r>
            <a:r>
              <a:rPr lang="en-US" sz="1600" dirty="0">
                <a:latin typeface="Courier"/>
                <a:cs typeface="Courier"/>
              </a:rPr>
              <a:t>[t + stride];</a:t>
            </a:r>
          </a:p>
          <a:p>
            <a:pPr marL="0" lvl="1" indent="-403225"/>
            <a:endParaRPr lang="en-US" sz="1600" dirty="0">
              <a:latin typeface="Courier"/>
              <a:cs typeface="Courier"/>
            </a:endParaRPr>
          </a:p>
          <a:p>
            <a:pPr marL="0" lvl="1" indent="-403225"/>
            <a:r>
              <a:rPr lang="en-US" sz="1600" dirty="0">
                <a:latin typeface="Courier"/>
                <a:cs typeface="Courier"/>
              </a:rPr>
              <a:t>}</a:t>
            </a:r>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72</a:t>
            </a:fld>
            <a:endParaRPr lang="en-US" altLang="en-US"/>
          </a:p>
        </p:txBody>
      </p:sp>
    </p:spTree>
    <p:extLst>
      <p:ext uri="{BB962C8B-B14F-4D97-AF65-F5344CB8AC3E}">
        <p14:creationId xmlns:p14="http://schemas.microsoft.com/office/powerpoint/2010/main" val="1757092994"/>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8600" y="152400"/>
            <a:ext cx="8610600" cy="845127"/>
          </a:xfrm>
        </p:spPr>
        <p:txBody>
          <a:bodyPr anchor="ctr" anchorCtr="0"/>
          <a:lstStyle/>
          <a:p>
            <a:r>
              <a:rPr lang="en-US" dirty="0"/>
              <a:t>Agenda for Today</a:t>
            </a:r>
          </a:p>
        </p:txBody>
      </p:sp>
      <p:sp>
        <p:nvSpPr>
          <p:cNvPr id="3" name="Marcador de contenido 2"/>
          <p:cNvSpPr>
            <a:spLocks noGrp="1"/>
          </p:cNvSpPr>
          <p:nvPr>
            <p:ph idx="1"/>
          </p:nvPr>
        </p:nvSpPr>
        <p:spPr>
          <a:xfrm>
            <a:off x="228600" y="997527"/>
            <a:ext cx="8610600" cy="5193723"/>
          </a:xfrm>
        </p:spPr>
        <p:txBody>
          <a:bodyPr>
            <a:normAutofit/>
          </a:bodyPr>
          <a:lstStyle/>
          <a:p>
            <a:r>
              <a:rPr lang="en-US" altLang="zh-CN" dirty="0">
                <a:ea typeface="ヒラギノ角ゴ Pro W3" pitchFamily="-108" charset="-128"/>
                <a:cs typeface="ヒラギノ角ゴ Pro W3" pitchFamily="-108" charset="-128"/>
              </a:rPr>
              <a:t>SIMT (Hardware) &amp; Warp (Software)</a:t>
            </a:r>
            <a:r>
              <a:rPr lang="en-US" dirty="0">
                <a:ea typeface="ヒラギノ角ゴ Pro W3" pitchFamily="-108" charset="-128"/>
                <a:cs typeface="ヒラギノ角ゴ Pro W3" pitchFamily="-108" charset="-128"/>
              </a:rPr>
              <a:t> </a:t>
            </a:r>
          </a:p>
          <a:p>
            <a:pPr marL="0" indent="0">
              <a:buNone/>
            </a:pPr>
            <a:endParaRPr lang="en-US" dirty="0">
              <a:ea typeface="ヒラギノ角ゴ Pro W3" pitchFamily="-108" charset="-128"/>
              <a:cs typeface="ヒラギノ角ゴ Pro W3" pitchFamily="-108" charset="-128"/>
            </a:endParaRPr>
          </a:p>
          <a:p>
            <a:r>
              <a:rPr lang="en-US" altLang="zh-CN" dirty="0">
                <a:ea typeface="ヒラギノ角ゴ Pro W3" pitchFamily="-108" charset="-128"/>
              </a:rPr>
              <a:t>Optimization of Memory System </a:t>
            </a:r>
          </a:p>
          <a:p>
            <a:pPr lvl="1"/>
            <a:r>
              <a:rPr lang="en-US" dirty="0">
                <a:ea typeface="ヒラギノ角ゴ Pro W3" pitchFamily="-108" charset="-128"/>
                <a:cs typeface="ヒラギノ角ゴ Pro W3" pitchFamily="-108" charset="-128"/>
              </a:rPr>
              <a:t>Multi-threading</a:t>
            </a:r>
          </a:p>
          <a:p>
            <a:pPr lvl="1"/>
            <a:r>
              <a:rPr lang="en-US" dirty="0">
                <a:ea typeface="ヒラギノ角ゴ Pro W3" pitchFamily="-108" charset="-128"/>
                <a:cs typeface="ヒラギノ角ゴ Pro W3" pitchFamily="-108" charset="-128"/>
              </a:rPr>
              <a:t>Memory Coalescing</a:t>
            </a:r>
          </a:p>
          <a:p>
            <a:pPr lvl="1"/>
            <a:r>
              <a:rPr lang="en-US" dirty="0">
                <a:ea typeface="ヒラギノ角ゴ Pro W3" pitchFamily="-108" charset="-128"/>
                <a:cs typeface="ヒラギノ角ゴ Pro W3" pitchFamily="-108" charset="-128"/>
              </a:rPr>
              <a:t>Shared Memory</a:t>
            </a:r>
          </a:p>
          <a:p>
            <a:pPr lvl="1"/>
            <a:endParaRPr lang="en-US" dirty="0">
              <a:ea typeface="ヒラギノ角ゴ Pro W3" pitchFamily="-108" charset="-128"/>
              <a:cs typeface="ヒラギノ角ゴ Pro W3" pitchFamily="-108" charset="-128"/>
            </a:endParaRPr>
          </a:p>
          <a:p>
            <a:r>
              <a:rPr lang="en-US" altLang="zh-CN" dirty="0">
                <a:ea typeface="ヒラギノ角ゴ Pro W3" pitchFamily="-108" charset="-128"/>
                <a:cs typeface="ヒラギノ角ゴ Pro W3" pitchFamily="-108" charset="-128"/>
              </a:rPr>
              <a:t>SIMT Efficiency</a:t>
            </a:r>
          </a:p>
          <a:p>
            <a:pPr lvl="1"/>
            <a:r>
              <a:rPr lang="en-US" altLang="zh-CN" dirty="0">
                <a:ea typeface="ヒラギノ角ゴ Pro W3" pitchFamily="-108" charset="-128"/>
                <a:cs typeface="ヒラギノ角ゴ Pro W3" pitchFamily="-108" charset="-128"/>
              </a:rPr>
              <a:t>Divergency</a:t>
            </a:r>
          </a:p>
          <a:p>
            <a:pPr lvl="1"/>
            <a:r>
              <a:rPr lang="en-US" altLang="zh-CN" dirty="0">
                <a:solidFill>
                  <a:srgbClr val="0432FF"/>
                </a:solidFill>
                <a:ea typeface="ヒラギノ角ゴ Pro W3" pitchFamily="-108" charset="-128"/>
                <a:cs typeface="ヒラギノ角ゴ Pro W3" pitchFamily="-108" charset="-128"/>
              </a:rPr>
              <a:t>Atomic</a:t>
            </a:r>
          </a:p>
          <a:p>
            <a:pPr lvl="1"/>
            <a:r>
              <a:rPr lang="en-US" altLang="zh-CN" dirty="0">
                <a:ea typeface="ヒラギノ角ゴ Pro W3" pitchFamily="-108" charset="-128"/>
                <a:cs typeface="ヒラギノ角ゴ Pro W3" pitchFamily="-108" charset="-128"/>
              </a:rPr>
              <a:t>CPU-GPU Transfer</a:t>
            </a:r>
          </a:p>
          <a:p>
            <a:pPr lvl="1"/>
            <a:endParaRPr lang="en-US" dirty="0">
              <a:ea typeface="ヒラギノ角ゴ Pro W3" pitchFamily="-108" charset="-128"/>
              <a:cs typeface="ヒラギノ角ゴ Pro W3" pitchFamily="-108" charset="-128"/>
            </a:endParaRPr>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73</a:t>
            </a:fld>
            <a:endParaRPr lang="en-US" altLang="en-US"/>
          </a:p>
        </p:txBody>
      </p:sp>
      <p:sp>
        <p:nvSpPr>
          <p:cNvPr id="5" name="Rectangle 4">
            <a:extLst>
              <a:ext uri="{FF2B5EF4-FFF2-40B4-BE49-F238E27FC236}">
                <a16:creationId xmlns:a16="http://schemas.microsoft.com/office/drawing/2014/main" id="{3EAB8116-126C-5648-BEF0-E6606F73B7C9}"/>
              </a:ext>
            </a:extLst>
          </p:cNvPr>
          <p:cNvSpPr>
            <a:spLocks noChangeArrowheads="1"/>
          </p:cNvSpPr>
          <p:nvPr/>
        </p:nvSpPr>
        <p:spPr bwMode="auto">
          <a:xfrm>
            <a:off x="152400" y="4800600"/>
            <a:ext cx="5410200" cy="381000"/>
          </a:xfrm>
          <a:prstGeom prst="rect">
            <a:avLst/>
          </a:prstGeom>
          <a:noFill/>
          <a:ln w="38100">
            <a:solidFill>
              <a:srgbClr val="FF0000"/>
            </a:solidFill>
            <a:miter lim="800000"/>
            <a:headEnd/>
            <a:tailEnd/>
          </a:ln>
          <a:effectLst>
            <a:outerShdw blurRad="63500" dist="23000" dir="5400000" rotWithShape="0">
              <a:srgbClr val="000000">
                <a:alpha val="34998"/>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Tahoma" charset="0"/>
              <a:ea typeface="ＭＳ Ｐゴシック" charset="-128"/>
              <a:cs typeface="+mn-cs"/>
            </a:endParaRPr>
          </a:p>
        </p:txBody>
      </p:sp>
    </p:spTree>
    <p:extLst>
      <p:ext uri="{BB962C8B-B14F-4D97-AF65-F5344CB8AC3E}">
        <p14:creationId xmlns:p14="http://schemas.microsoft.com/office/powerpoint/2010/main" val="2367379808"/>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4">
            <a:extLst>
              <a:ext uri="{FF2B5EF4-FFF2-40B4-BE49-F238E27FC236}">
                <a16:creationId xmlns:a16="http://schemas.microsoft.com/office/drawing/2014/main" id="{6C599EA8-303B-8F44-B67E-1E9A7D6B8361}"/>
              </a:ext>
            </a:extLst>
          </p:cNvPr>
          <p:cNvSpPr>
            <a:spLocks noGrp="1" noChangeArrowheads="1"/>
          </p:cNvSpPr>
          <p:nvPr>
            <p:ph type="ctrTitle"/>
          </p:nvPr>
        </p:nvSpPr>
        <p:spPr>
          <a:xfrm>
            <a:off x="366713" y="1747838"/>
            <a:ext cx="8428037" cy="995362"/>
          </a:xfrm>
        </p:spPr>
        <p:txBody>
          <a:bodyPr/>
          <a:lstStyle/>
          <a:p>
            <a:pPr algn="ctr" eaLnBrk="1" hangingPunct="1"/>
            <a:r>
              <a:rPr lang="en-US" altLang="en-US" dirty="0">
                <a:ea typeface="ＭＳ Ｐゴシック" panose="020B0600070205080204" pitchFamily="34" charset="-128"/>
              </a:rPr>
              <a:t>Atomic Operations</a:t>
            </a:r>
          </a:p>
        </p:txBody>
      </p:sp>
      <p:sp>
        <p:nvSpPr>
          <p:cNvPr id="81922" name="Rectangle 5">
            <a:extLst>
              <a:ext uri="{FF2B5EF4-FFF2-40B4-BE49-F238E27FC236}">
                <a16:creationId xmlns:a16="http://schemas.microsoft.com/office/drawing/2014/main" id="{EB66DB82-34C1-994A-A27C-C184C7C5BDDA}"/>
              </a:ext>
            </a:extLst>
          </p:cNvPr>
          <p:cNvSpPr>
            <a:spLocks noGrp="1" noChangeArrowheads="1"/>
          </p:cNvSpPr>
          <p:nvPr>
            <p:ph type="subTitle" idx="1"/>
          </p:nvPr>
        </p:nvSpPr>
        <p:spPr>
          <a:xfrm>
            <a:off x="304800" y="3581400"/>
            <a:ext cx="8458200" cy="2900363"/>
          </a:xfrm>
        </p:spPr>
        <p:txBody>
          <a:bodyPr/>
          <a:lstStyle/>
          <a:p>
            <a:pPr eaLnBrk="1" hangingPunct="1"/>
            <a:endParaRPr lang="en-US" altLang="en-US" i="1">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p:txBody>
      </p:sp>
    </p:spTree>
    <p:extLst>
      <p:ext uri="{BB962C8B-B14F-4D97-AF65-F5344CB8AC3E}">
        <p14:creationId xmlns:p14="http://schemas.microsoft.com/office/powerpoint/2010/main" val="248177476"/>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51520" y="14908"/>
            <a:ext cx="8496944" cy="893811"/>
          </a:xfrm>
        </p:spPr>
        <p:txBody>
          <a:bodyPr>
            <a:normAutofit/>
          </a:bodyPr>
          <a:lstStyle/>
          <a:p>
            <a:r>
              <a:rPr lang="en-US" dirty="0"/>
              <a:t>Atomic Operations (I)</a:t>
            </a:r>
          </a:p>
        </p:txBody>
      </p:sp>
      <p:sp>
        <p:nvSpPr>
          <p:cNvPr id="3" name="Marcador de contenido 2"/>
          <p:cNvSpPr>
            <a:spLocks noGrp="1"/>
          </p:cNvSpPr>
          <p:nvPr>
            <p:ph idx="1"/>
          </p:nvPr>
        </p:nvSpPr>
        <p:spPr>
          <a:xfrm>
            <a:off x="251520" y="908720"/>
            <a:ext cx="8706296" cy="5472608"/>
          </a:xfrm>
        </p:spPr>
        <p:txBody>
          <a:bodyPr>
            <a:normAutofit/>
          </a:bodyPr>
          <a:lstStyle/>
          <a:p>
            <a:r>
              <a:rPr lang="en-US" sz="2400" dirty="0"/>
              <a:t>CUDA provides </a:t>
            </a:r>
            <a:r>
              <a:rPr lang="en-US" sz="2400" dirty="0">
                <a:solidFill>
                  <a:srgbClr val="00B050"/>
                </a:solidFill>
              </a:rPr>
              <a:t>atomic instructions</a:t>
            </a:r>
            <a:r>
              <a:rPr lang="en-US" sz="2400" dirty="0"/>
              <a:t> on shared memory and global memory</a:t>
            </a:r>
          </a:p>
          <a:p>
            <a:pPr lvl="1"/>
            <a:r>
              <a:rPr lang="en-US" dirty="0"/>
              <a:t>They perform </a:t>
            </a:r>
            <a:r>
              <a:rPr lang="en-US" dirty="0">
                <a:solidFill>
                  <a:srgbClr val="0070C0"/>
                </a:solidFill>
              </a:rPr>
              <a:t>read-modify-write </a:t>
            </a:r>
            <a:r>
              <a:rPr lang="en-US" dirty="0"/>
              <a:t>operations atomically</a:t>
            </a:r>
            <a:endParaRPr lang="en-US" sz="1200" dirty="0"/>
          </a:p>
          <a:p>
            <a:endParaRPr lang="en-US" sz="1800" dirty="0"/>
          </a:p>
          <a:p>
            <a:r>
              <a:rPr lang="en-US" sz="2400" dirty="0"/>
              <a:t>Arithmetic functions</a:t>
            </a:r>
          </a:p>
          <a:p>
            <a:pPr lvl="1"/>
            <a:r>
              <a:rPr lang="en-US" sz="2000" dirty="0"/>
              <a:t>Add, sub, max, min, </a:t>
            </a:r>
            <a:r>
              <a:rPr lang="en-US" sz="2000" dirty="0" err="1"/>
              <a:t>exch</a:t>
            </a:r>
            <a:r>
              <a:rPr lang="en-US" sz="2000" dirty="0"/>
              <a:t>, inc, dec, CAS</a:t>
            </a:r>
            <a:endParaRPr lang="en-US" sz="1953" dirty="0"/>
          </a:p>
          <a:p>
            <a:pPr lvl="1" algn="ctr">
              <a:buNone/>
            </a:pPr>
            <a:r>
              <a:rPr lang="en-US" sz="2000" dirty="0">
                <a:latin typeface="Courier"/>
                <a:cs typeface="Courier"/>
              </a:rPr>
              <a:t>int </a:t>
            </a:r>
            <a:r>
              <a:rPr lang="en-US" sz="2000" dirty="0" err="1">
                <a:latin typeface="Courier"/>
                <a:cs typeface="Courier"/>
              </a:rPr>
              <a:t>atomicAdd</a:t>
            </a:r>
            <a:r>
              <a:rPr lang="en-US" sz="2000" dirty="0">
                <a:latin typeface="Courier"/>
                <a:cs typeface="Courier"/>
              </a:rPr>
              <a:t>(int*, int);</a:t>
            </a:r>
          </a:p>
          <a:p>
            <a:pPr lvl="1">
              <a:buNone/>
            </a:pPr>
            <a:endParaRPr lang="en-US" sz="2353" dirty="0"/>
          </a:p>
          <a:p>
            <a:pPr lvl="1">
              <a:buNone/>
            </a:pPr>
            <a:endParaRPr lang="en-US" sz="2353" dirty="0"/>
          </a:p>
          <a:p>
            <a:r>
              <a:rPr lang="en-US" sz="2353" dirty="0"/>
              <a:t>Bitwise functions</a:t>
            </a:r>
          </a:p>
          <a:p>
            <a:pPr lvl="1"/>
            <a:r>
              <a:rPr lang="en-US" sz="1953" dirty="0"/>
              <a:t>And, or, </a:t>
            </a:r>
            <a:r>
              <a:rPr lang="en-US" sz="1953" dirty="0" err="1"/>
              <a:t>xor</a:t>
            </a:r>
            <a:endParaRPr lang="en-US" sz="1953" dirty="0"/>
          </a:p>
          <a:p>
            <a:pPr lvl="1"/>
            <a:endParaRPr lang="en-US" sz="1953" dirty="0"/>
          </a:p>
          <a:p>
            <a:r>
              <a:rPr lang="en-US" sz="2353" dirty="0"/>
              <a:t>Datatypes: int, </a:t>
            </a:r>
            <a:r>
              <a:rPr lang="en-US" sz="2353" dirty="0" err="1"/>
              <a:t>uint</a:t>
            </a:r>
            <a:r>
              <a:rPr lang="en-US" sz="2353" dirty="0"/>
              <a:t>, </a:t>
            </a:r>
            <a:r>
              <a:rPr lang="en-US" sz="2353" dirty="0" err="1"/>
              <a:t>ull</a:t>
            </a:r>
            <a:r>
              <a:rPr lang="en-US" sz="2353" dirty="0"/>
              <a:t>, float (half, single, double)*</a:t>
            </a:r>
          </a:p>
          <a:p>
            <a:pPr>
              <a:buNone/>
            </a:pPr>
            <a:endParaRPr lang="en-US" sz="2353" dirty="0"/>
          </a:p>
        </p:txBody>
      </p:sp>
      <p:sp>
        <p:nvSpPr>
          <p:cNvPr id="5" name="Slide Number Placeholder 3">
            <a:extLst>
              <a:ext uri="{FF2B5EF4-FFF2-40B4-BE49-F238E27FC236}">
                <a16:creationId xmlns:a16="http://schemas.microsoft.com/office/drawing/2014/main" id="{10CAF86E-3475-5F43-8E3F-81A2C7A28243}"/>
              </a:ext>
            </a:extLst>
          </p:cNvPr>
          <p:cNvSpPr>
            <a:spLocks noGrp="1"/>
          </p:cNvSpPr>
          <p:nvPr>
            <p:ph type="sldNum" sz="quarter" idx="11"/>
          </p:nvPr>
        </p:nvSpPr>
        <p:spPr>
          <a:xfrm>
            <a:off x="6553200" y="6243638"/>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5594703-842D-BE41-9AF0-496458107D79}"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75</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4" name="TextBox 3">
            <a:extLst>
              <a:ext uri="{FF2B5EF4-FFF2-40B4-BE49-F238E27FC236}">
                <a16:creationId xmlns:a16="http://schemas.microsoft.com/office/drawing/2014/main" id="{7064C80D-A5E2-884B-A4C4-857DF256DDD0}"/>
              </a:ext>
            </a:extLst>
          </p:cNvPr>
          <p:cNvSpPr txBox="1"/>
          <p:nvPr/>
        </p:nvSpPr>
        <p:spPr>
          <a:xfrm>
            <a:off x="3851920" y="3831431"/>
            <a:ext cx="1944215" cy="461665"/>
          </a:xfrm>
          <a:prstGeom prst="rect">
            <a:avLst/>
          </a:prstGeom>
          <a:noFill/>
        </p:spPr>
        <p:txBody>
          <a:bodyPr wrap="square" rtlCol="0">
            <a:spAutoFit/>
          </a:bodyPr>
          <a:lstStyle/>
          <a:p>
            <a:r>
              <a:rPr lang="en-CH" sz="1200" dirty="0">
                <a:solidFill>
                  <a:srgbClr val="0070C0"/>
                </a:solidFill>
              </a:rPr>
              <a:t>Pointer to shared memory or global memory</a:t>
            </a:r>
          </a:p>
        </p:txBody>
      </p:sp>
      <p:sp>
        <p:nvSpPr>
          <p:cNvPr id="6" name="TextBox 5">
            <a:extLst>
              <a:ext uri="{FF2B5EF4-FFF2-40B4-BE49-F238E27FC236}">
                <a16:creationId xmlns:a16="http://schemas.microsoft.com/office/drawing/2014/main" id="{94D3EEC6-2CA9-5B4E-8F9B-6AF110588640}"/>
              </a:ext>
            </a:extLst>
          </p:cNvPr>
          <p:cNvSpPr txBox="1"/>
          <p:nvPr/>
        </p:nvSpPr>
        <p:spPr>
          <a:xfrm>
            <a:off x="6228184" y="3933056"/>
            <a:ext cx="1944215" cy="276999"/>
          </a:xfrm>
          <a:prstGeom prst="rect">
            <a:avLst/>
          </a:prstGeom>
          <a:noFill/>
        </p:spPr>
        <p:txBody>
          <a:bodyPr wrap="square" rtlCol="0">
            <a:spAutoFit/>
          </a:bodyPr>
          <a:lstStyle/>
          <a:p>
            <a:r>
              <a:rPr lang="en-CH" sz="1200" dirty="0">
                <a:solidFill>
                  <a:srgbClr val="0070C0"/>
                </a:solidFill>
              </a:rPr>
              <a:t>Value to add</a:t>
            </a:r>
          </a:p>
        </p:txBody>
      </p:sp>
      <p:sp>
        <p:nvSpPr>
          <p:cNvPr id="7" name="TextBox 6">
            <a:extLst>
              <a:ext uri="{FF2B5EF4-FFF2-40B4-BE49-F238E27FC236}">
                <a16:creationId xmlns:a16="http://schemas.microsoft.com/office/drawing/2014/main" id="{0968CEC2-04F4-2945-8892-A026230C2264}"/>
              </a:ext>
            </a:extLst>
          </p:cNvPr>
          <p:cNvSpPr txBox="1"/>
          <p:nvPr/>
        </p:nvSpPr>
        <p:spPr>
          <a:xfrm>
            <a:off x="1547664" y="3933056"/>
            <a:ext cx="1944215" cy="276999"/>
          </a:xfrm>
          <a:prstGeom prst="rect">
            <a:avLst/>
          </a:prstGeom>
          <a:noFill/>
        </p:spPr>
        <p:txBody>
          <a:bodyPr wrap="square" rtlCol="0">
            <a:spAutoFit/>
          </a:bodyPr>
          <a:lstStyle/>
          <a:p>
            <a:r>
              <a:rPr lang="en-CH" sz="1200" dirty="0">
                <a:solidFill>
                  <a:srgbClr val="0070C0"/>
                </a:solidFill>
              </a:rPr>
              <a:t>Return value (old value)</a:t>
            </a:r>
          </a:p>
        </p:txBody>
      </p:sp>
      <p:cxnSp>
        <p:nvCxnSpPr>
          <p:cNvPr id="9" name="Straight Arrow Connector 8">
            <a:extLst>
              <a:ext uri="{FF2B5EF4-FFF2-40B4-BE49-F238E27FC236}">
                <a16:creationId xmlns:a16="http://schemas.microsoft.com/office/drawing/2014/main" id="{4C09634C-9415-A14C-A231-6CB6B6922208}"/>
              </a:ext>
            </a:extLst>
          </p:cNvPr>
          <p:cNvCxnSpPr>
            <a:cxnSpLocks/>
          </p:cNvCxnSpPr>
          <p:nvPr/>
        </p:nvCxnSpPr>
        <p:spPr>
          <a:xfrm flipV="1">
            <a:off x="2411760" y="3573016"/>
            <a:ext cx="654743" cy="360039"/>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8AF45B1-BACA-D042-A845-E514E74E1D80}"/>
              </a:ext>
            </a:extLst>
          </p:cNvPr>
          <p:cNvCxnSpPr>
            <a:cxnSpLocks/>
          </p:cNvCxnSpPr>
          <p:nvPr/>
        </p:nvCxnSpPr>
        <p:spPr>
          <a:xfrm flipH="1" flipV="1">
            <a:off x="6228184" y="3573016"/>
            <a:ext cx="536723" cy="389718"/>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5CB0D75-8DB6-FB4F-9C6A-8A5E1E507D1C}"/>
              </a:ext>
            </a:extLst>
          </p:cNvPr>
          <p:cNvCxnSpPr>
            <a:cxnSpLocks/>
          </p:cNvCxnSpPr>
          <p:nvPr/>
        </p:nvCxnSpPr>
        <p:spPr>
          <a:xfrm flipV="1">
            <a:off x="4824028" y="3573016"/>
            <a:ext cx="402715" cy="288032"/>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3CB21DC-A137-844E-8DD9-A16A71D7A419}"/>
              </a:ext>
            </a:extLst>
          </p:cNvPr>
          <p:cNvSpPr txBox="1"/>
          <p:nvPr/>
        </p:nvSpPr>
        <p:spPr>
          <a:xfrm>
            <a:off x="251520" y="6453336"/>
            <a:ext cx="7669087" cy="246221"/>
          </a:xfrm>
          <a:prstGeom prst="rect">
            <a:avLst/>
          </a:prstGeom>
          <a:noFill/>
        </p:spPr>
        <p:txBody>
          <a:bodyPr wrap="none" rtlCol="0">
            <a:spAutoFit/>
          </a:bodyPr>
          <a:lstStyle/>
          <a:p>
            <a:r>
              <a:rPr lang="en-US" sz="1000" dirty="0"/>
              <a:t>* Datatypes for different atomic operations in </a:t>
            </a:r>
            <a:r>
              <a:rPr lang="en-US" sz="1000" dirty="0">
                <a:solidFill>
                  <a:srgbClr val="0000FF"/>
                </a:solidFill>
                <a:hlinkClick r:id="rId3">
                  <a:extLst>
                    <a:ext uri="{A12FA001-AC4F-418D-AE19-62706E023703}">
                      <ahyp:hlinkClr xmlns:ahyp="http://schemas.microsoft.com/office/drawing/2018/hyperlinkcolor" val="tx"/>
                    </a:ext>
                  </a:extLst>
                </a:hlinkClick>
              </a:rPr>
              <a:t>https://docs.nvidia.com/cuda/cuda-c-programming-guide/index.html#atomic-functions</a:t>
            </a:r>
            <a:endParaRPr lang="en-US" sz="1000" dirty="0">
              <a:solidFill>
                <a:srgbClr val="0000FF"/>
              </a:solidFill>
            </a:endParaRPr>
          </a:p>
        </p:txBody>
      </p:sp>
    </p:spTree>
    <p:extLst>
      <p:ext uri="{BB962C8B-B14F-4D97-AF65-F5344CB8AC3E}">
        <p14:creationId xmlns:p14="http://schemas.microsoft.com/office/powerpoint/2010/main" val="25900976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17"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51520" y="933757"/>
            <a:ext cx="8568952" cy="4525963"/>
          </a:xfrm>
        </p:spPr>
        <p:txBody>
          <a:bodyPr>
            <a:noAutofit/>
          </a:bodyPr>
          <a:lstStyle/>
          <a:p>
            <a:pPr>
              <a:spcAft>
                <a:spcPts val="600"/>
              </a:spcAft>
            </a:pPr>
            <a:r>
              <a:rPr lang="en-US" sz="2400" dirty="0"/>
              <a:t>Atomic operations serialize the execution if there are atomic conflicts</a:t>
            </a:r>
            <a:endParaRPr lang="en-US" sz="2000" dirty="0"/>
          </a:p>
        </p:txBody>
      </p:sp>
      <p:sp>
        <p:nvSpPr>
          <p:cNvPr id="10" name="Título 1"/>
          <p:cNvSpPr>
            <a:spLocks noGrp="1"/>
          </p:cNvSpPr>
          <p:nvPr>
            <p:ph type="title"/>
          </p:nvPr>
        </p:nvSpPr>
        <p:spPr>
          <a:xfrm>
            <a:off x="251520" y="-3010"/>
            <a:ext cx="8568952" cy="911729"/>
          </a:xfrm>
        </p:spPr>
        <p:txBody>
          <a:bodyPr>
            <a:normAutofit/>
          </a:bodyPr>
          <a:lstStyle/>
          <a:p>
            <a:r>
              <a:rPr lang="en-US" dirty="0"/>
              <a:t>Atomic Operations (II)</a:t>
            </a:r>
          </a:p>
        </p:txBody>
      </p:sp>
      <p:pic>
        <p:nvPicPr>
          <p:cNvPr id="7" name="Imagen 6" descr="Atomics_th0.eps"/>
          <p:cNvPicPr>
            <a:picLocks noChangeAspect="1"/>
          </p:cNvPicPr>
          <p:nvPr/>
        </p:nvPicPr>
        <p:blipFill>
          <a:blip r:embed="rId2"/>
          <a:stretch>
            <a:fillRect/>
          </a:stretch>
        </p:blipFill>
        <p:spPr>
          <a:xfrm>
            <a:off x="6120292" y="3321223"/>
            <a:ext cx="139700" cy="622300"/>
          </a:xfrm>
          <a:prstGeom prst="rect">
            <a:avLst/>
          </a:prstGeom>
        </p:spPr>
      </p:pic>
      <p:pic>
        <p:nvPicPr>
          <p:cNvPr id="11" name="Imagen 10" descr="Atomics_th1.eps"/>
          <p:cNvPicPr>
            <a:picLocks noChangeAspect="1"/>
          </p:cNvPicPr>
          <p:nvPr/>
        </p:nvPicPr>
        <p:blipFill>
          <a:blip r:embed="rId3"/>
          <a:stretch>
            <a:fillRect/>
          </a:stretch>
        </p:blipFill>
        <p:spPr>
          <a:xfrm>
            <a:off x="6120292" y="2648123"/>
            <a:ext cx="127000" cy="622300"/>
          </a:xfrm>
          <a:prstGeom prst="rect">
            <a:avLst/>
          </a:prstGeom>
        </p:spPr>
      </p:pic>
      <p:grpSp>
        <p:nvGrpSpPr>
          <p:cNvPr id="2" name="Agrupar 24"/>
          <p:cNvGrpSpPr/>
          <p:nvPr/>
        </p:nvGrpSpPr>
        <p:grpSpPr>
          <a:xfrm>
            <a:off x="6335216" y="2648123"/>
            <a:ext cx="1828800" cy="1295400"/>
            <a:chOff x="4114800" y="1981200"/>
            <a:chExt cx="1828800" cy="1295400"/>
          </a:xfrm>
        </p:grpSpPr>
        <p:sp>
          <p:nvSpPr>
            <p:cNvPr id="14" name="CuadroTexto 13"/>
            <p:cNvSpPr txBox="1"/>
            <p:nvPr/>
          </p:nvSpPr>
          <p:spPr>
            <a:xfrm>
              <a:off x="4356100" y="2794198"/>
              <a:ext cx="1422400" cy="307777"/>
            </a:xfrm>
            <a:prstGeom prst="rect">
              <a:avLst/>
            </a:prstGeom>
            <a:noFill/>
            <a:ln w="28575" cap="flat" cmpd="sng" algn="ctr">
              <a:noFill/>
              <a:prstDash val="solid"/>
              <a:round/>
              <a:headEnd type="none" w="med" len="med"/>
              <a:tailEnd type="none" w="med" len="med"/>
            </a:ln>
          </p:spPr>
          <p:txBody>
            <a:bodyPr wrap="square" rtlCol="0">
              <a:spAutoFit/>
            </a:bodyPr>
            <a:lstStyle/>
            <a:p>
              <a:r>
                <a:rPr lang="es-ES_tradnl" sz="1400" i="1" dirty="0" err="1"/>
                <a:t>t</a:t>
              </a:r>
              <a:r>
                <a:rPr lang="es-ES_tradnl" sz="1400" i="1" baseline="-25000" dirty="0" err="1"/>
                <a:t>base</a:t>
              </a:r>
              <a:endParaRPr lang="es-ES_tradnl" sz="1400" i="1" baseline="-25000" dirty="0"/>
            </a:p>
          </p:txBody>
        </p:sp>
        <p:sp>
          <p:nvSpPr>
            <p:cNvPr id="15" name="Cerrar llave 14"/>
            <p:cNvSpPr/>
            <p:nvPr/>
          </p:nvSpPr>
          <p:spPr>
            <a:xfrm>
              <a:off x="4114800" y="2631000"/>
              <a:ext cx="304800" cy="645600"/>
            </a:xfrm>
            <a:prstGeom prst="rightBrace">
              <a:avLst>
                <a:gd name="adj1" fmla="val 4166"/>
                <a:gd name="adj2" fmla="val 48958"/>
              </a:avLst>
            </a:prstGeom>
            <a:ln>
              <a:solidFill>
                <a:srgbClr val="008000"/>
              </a:solidFill>
            </a:ln>
            <a:effectLst/>
          </p:spPr>
          <p:style>
            <a:lnRef idx="2">
              <a:schemeClr val="accent1"/>
            </a:lnRef>
            <a:fillRef idx="0">
              <a:schemeClr val="accent1"/>
            </a:fillRef>
            <a:effectRef idx="1">
              <a:schemeClr val="accent1"/>
            </a:effectRef>
            <a:fontRef idx="minor">
              <a:schemeClr val="tx1"/>
            </a:fontRef>
          </p:style>
          <p:txBody>
            <a:bodyPr anchor="t" anchorCtr="0"/>
            <a:lstStyle/>
            <a:p>
              <a:endParaRPr lang="es-ES_tradnl" dirty="0"/>
            </a:p>
          </p:txBody>
        </p:sp>
        <p:sp>
          <p:nvSpPr>
            <p:cNvPr id="16" name="CuadroTexto 15"/>
            <p:cNvSpPr txBox="1"/>
            <p:nvPr/>
          </p:nvSpPr>
          <p:spPr>
            <a:xfrm>
              <a:off x="4356100" y="2144398"/>
              <a:ext cx="1587500" cy="307777"/>
            </a:xfrm>
            <a:prstGeom prst="rect">
              <a:avLst/>
            </a:prstGeom>
            <a:noFill/>
            <a:ln w="28575" cap="flat" cmpd="sng" algn="ctr">
              <a:noFill/>
              <a:prstDash val="solid"/>
              <a:round/>
              <a:headEnd type="none" w="med" len="med"/>
              <a:tailEnd type="none" w="med" len="med"/>
            </a:ln>
          </p:spPr>
          <p:txBody>
            <a:bodyPr wrap="square" rtlCol="0">
              <a:spAutoFit/>
            </a:bodyPr>
            <a:lstStyle/>
            <a:p>
              <a:r>
                <a:rPr lang="es-ES_tradnl" sz="1400" i="1" dirty="0" err="1"/>
                <a:t>t</a:t>
              </a:r>
              <a:r>
                <a:rPr lang="es-ES_tradnl" sz="1400" i="1" baseline="-25000" dirty="0" err="1"/>
                <a:t>conflict</a:t>
              </a:r>
              <a:endParaRPr lang="es-ES_tradnl" sz="1400" i="1" baseline="-25000" dirty="0"/>
            </a:p>
          </p:txBody>
        </p:sp>
        <p:sp>
          <p:nvSpPr>
            <p:cNvPr id="17" name="Cerrar llave 16"/>
            <p:cNvSpPr/>
            <p:nvPr/>
          </p:nvSpPr>
          <p:spPr>
            <a:xfrm>
              <a:off x="4114800" y="1981200"/>
              <a:ext cx="304800" cy="645600"/>
            </a:xfrm>
            <a:prstGeom prst="rightBrace">
              <a:avLst>
                <a:gd name="adj1" fmla="val 4166"/>
                <a:gd name="adj2" fmla="val 48958"/>
              </a:avLst>
            </a:prstGeom>
            <a:ln>
              <a:solidFill>
                <a:srgbClr val="008000"/>
              </a:solidFill>
            </a:ln>
            <a:effectLst/>
          </p:spPr>
          <p:style>
            <a:lnRef idx="2">
              <a:schemeClr val="accent1"/>
            </a:lnRef>
            <a:fillRef idx="0">
              <a:schemeClr val="accent1"/>
            </a:fillRef>
            <a:effectRef idx="1">
              <a:schemeClr val="accent1"/>
            </a:effectRef>
            <a:fontRef idx="minor">
              <a:schemeClr val="tx1"/>
            </a:fontRef>
          </p:style>
          <p:txBody>
            <a:bodyPr anchor="t" anchorCtr="0"/>
            <a:lstStyle/>
            <a:p>
              <a:endParaRPr lang="es-ES_tradnl" dirty="0"/>
            </a:p>
          </p:txBody>
        </p:sp>
      </p:grpSp>
      <p:grpSp>
        <p:nvGrpSpPr>
          <p:cNvPr id="4" name="Agrupar 50"/>
          <p:cNvGrpSpPr/>
          <p:nvPr/>
        </p:nvGrpSpPr>
        <p:grpSpPr>
          <a:xfrm>
            <a:off x="4735016" y="2790800"/>
            <a:ext cx="3581400" cy="2435423"/>
            <a:chOff x="4495800" y="3352800"/>
            <a:chExt cx="3581400" cy="2435423"/>
          </a:xfrm>
        </p:grpSpPr>
        <p:pic>
          <p:nvPicPr>
            <p:cNvPr id="19" name="Imagen 18" descr="Atomics_posth01.eps"/>
            <p:cNvPicPr>
              <a:picLocks noChangeAspect="1"/>
            </p:cNvPicPr>
            <p:nvPr/>
          </p:nvPicPr>
          <p:blipFill>
            <a:blip r:embed="rId4"/>
            <a:stretch>
              <a:fillRect/>
            </a:stretch>
          </p:blipFill>
          <p:spPr>
            <a:xfrm>
              <a:off x="4495800" y="3352800"/>
              <a:ext cx="685800" cy="1064795"/>
            </a:xfrm>
            <a:prstGeom prst="rect">
              <a:avLst/>
            </a:prstGeom>
            <a:ln>
              <a:noFill/>
            </a:ln>
          </p:spPr>
        </p:pic>
        <p:grpSp>
          <p:nvGrpSpPr>
            <p:cNvPr id="5" name="Agrupar 26"/>
            <p:cNvGrpSpPr/>
            <p:nvPr/>
          </p:nvGrpSpPr>
          <p:grpSpPr>
            <a:xfrm>
              <a:off x="5346700" y="4505523"/>
              <a:ext cx="2730500" cy="1282700"/>
              <a:chOff x="3365500" y="3276600"/>
              <a:chExt cx="2730500" cy="1282700"/>
            </a:xfrm>
          </p:grpSpPr>
          <p:pic>
            <p:nvPicPr>
              <p:cNvPr id="21" name="Imagen 20" descr="Atomics_mempos.eps"/>
              <p:cNvPicPr>
                <a:picLocks noChangeAspect="1"/>
              </p:cNvPicPr>
              <p:nvPr/>
            </p:nvPicPr>
            <p:blipFill>
              <a:blip r:embed="rId5"/>
              <a:stretch>
                <a:fillRect/>
              </a:stretch>
            </p:blipFill>
            <p:spPr>
              <a:xfrm>
                <a:off x="3365500" y="3276600"/>
                <a:ext cx="2413000" cy="1282700"/>
              </a:xfrm>
              <a:prstGeom prst="rect">
                <a:avLst/>
              </a:prstGeom>
            </p:spPr>
          </p:pic>
          <p:sp>
            <p:nvSpPr>
              <p:cNvPr id="22" name="CuadroTexto 21"/>
              <p:cNvSpPr txBox="1"/>
              <p:nvPr/>
            </p:nvSpPr>
            <p:spPr>
              <a:xfrm>
                <a:off x="4357076" y="4248725"/>
                <a:ext cx="1738924" cy="307777"/>
              </a:xfrm>
              <a:prstGeom prst="rect">
                <a:avLst/>
              </a:prstGeom>
              <a:noFill/>
              <a:ln w="28575" cap="flat" cmpd="sng" algn="ctr">
                <a:noFill/>
                <a:prstDash val="solid"/>
                <a:round/>
                <a:headEnd type="none" w="med" len="med"/>
                <a:tailEnd type="none" w="med" len="med"/>
              </a:ln>
            </p:spPr>
            <p:txBody>
              <a:bodyPr wrap="square" rtlCol="0">
                <a:spAutoFit/>
              </a:bodyPr>
              <a:lstStyle/>
              <a:p>
                <a:r>
                  <a:rPr lang="es-ES_tradnl" sz="1400" dirty="0" err="1"/>
                  <a:t>Shared</a:t>
                </a:r>
                <a:r>
                  <a:rPr lang="es-ES_tradnl" sz="1400" dirty="0"/>
                  <a:t> </a:t>
                </a:r>
                <a:r>
                  <a:rPr lang="es-ES_tradnl" sz="1400" dirty="0" err="1"/>
                  <a:t>memory</a:t>
                </a:r>
                <a:endParaRPr lang="es-ES_tradnl" sz="1400" dirty="0"/>
              </a:p>
            </p:txBody>
          </p:sp>
        </p:grpSp>
      </p:grpSp>
      <p:grpSp>
        <p:nvGrpSpPr>
          <p:cNvPr id="6" name="Agrupar 49"/>
          <p:cNvGrpSpPr/>
          <p:nvPr/>
        </p:nvGrpSpPr>
        <p:grpSpPr>
          <a:xfrm>
            <a:off x="772616" y="2790800"/>
            <a:ext cx="3592414" cy="2438400"/>
            <a:chOff x="533400" y="3352800"/>
            <a:chExt cx="3592414" cy="2438400"/>
          </a:xfrm>
        </p:grpSpPr>
        <p:grpSp>
          <p:nvGrpSpPr>
            <p:cNvPr id="8" name="Agrupar 30"/>
            <p:cNvGrpSpPr/>
            <p:nvPr/>
          </p:nvGrpSpPr>
          <p:grpSpPr>
            <a:xfrm>
              <a:off x="1396290" y="4505523"/>
              <a:ext cx="2729524" cy="1285677"/>
              <a:chOff x="685800" y="4279900"/>
              <a:chExt cx="2729524" cy="1285677"/>
            </a:xfrm>
          </p:grpSpPr>
          <p:pic>
            <p:nvPicPr>
              <p:cNvPr id="26" name="Imagen 25" descr="Atomics_mempos02.eps"/>
              <p:cNvPicPr>
                <a:picLocks noChangeAspect="1"/>
              </p:cNvPicPr>
              <p:nvPr/>
            </p:nvPicPr>
            <p:blipFill>
              <a:blip r:embed="rId6"/>
              <a:stretch>
                <a:fillRect/>
              </a:stretch>
            </p:blipFill>
            <p:spPr>
              <a:xfrm>
                <a:off x="685800" y="4279900"/>
                <a:ext cx="2413000" cy="1282700"/>
              </a:xfrm>
              <a:prstGeom prst="rect">
                <a:avLst/>
              </a:prstGeom>
            </p:spPr>
          </p:pic>
          <p:sp>
            <p:nvSpPr>
              <p:cNvPr id="27" name="CuadroTexto 26"/>
              <p:cNvSpPr txBox="1"/>
              <p:nvPr/>
            </p:nvSpPr>
            <p:spPr>
              <a:xfrm>
                <a:off x="1676400" y="5257800"/>
                <a:ext cx="1738924" cy="307777"/>
              </a:xfrm>
              <a:prstGeom prst="rect">
                <a:avLst/>
              </a:prstGeom>
              <a:noFill/>
              <a:ln w="28575" cap="flat" cmpd="sng" algn="ctr">
                <a:noFill/>
                <a:prstDash val="solid"/>
                <a:round/>
                <a:headEnd type="none" w="med" len="med"/>
                <a:tailEnd type="none" w="med" len="med"/>
              </a:ln>
            </p:spPr>
            <p:txBody>
              <a:bodyPr wrap="square" rtlCol="0">
                <a:spAutoFit/>
              </a:bodyPr>
              <a:lstStyle/>
              <a:p>
                <a:r>
                  <a:rPr lang="es-ES_tradnl" sz="1400" dirty="0" err="1"/>
                  <a:t>Shared</a:t>
                </a:r>
                <a:r>
                  <a:rPr lang="es-ES_tradnl" sz="1400" dirty="0"/>
                  <a:t> </a:t>
                </a:r>
                <a:r>
                  <a:rPr lang="es-ES_tradnl" sz="1400" dirty="0" err="1"/>
                  <a:t>memory</a:t>
                </a:r>
                <a:endParaRPr lang="es-ES_tradnl" sz="1400" dirty="0"/>
              </a:p>
            </p:txBody>
          </p:sp>
        </p:grpSp>
        <p:pic>
          <p:nvPicPr>
            <p:cNvPr id="25" name="Imagen 24" descr="Atomics_bankth02.eps"/>
            <p:cNvPicPr>
              <a:picLocks noChangeAspect="1"/>
            </p:cNvPicPr>
            <p:nvPr/>
          </p:nvPicPr>
          <p:blipFill>
            <a:blip r:embed="rId7"/>
            <a:stretch>
              <a:fillRect/>
            </a:stretch>
          </p:blipFill>
          <p:spPr>
            <a:xfrm>
              <a:off x="533400" y="3352800"/>
              <a:ext cx="696814" cy="1081893"/>
            </a:xfrm>
            <a:prstGeom prst="rect">
              <a:avLst/>
            </a:prstGeom>
          </p:spPr>
        </p:pic>
      </p:grpSp>
      <p:grpSp>
        <p:nvGrpSpPr>
          <p:cNvPr id="9" name="Agrupar 37"/>
          <p:cNvGrpSpPr/>
          <p:nvPr/>
        </p:nvGrpSpPr>
        <p:grpSpPr>
          <a:xfrm>
            <a:off x="1687016" y="3334590"/>
            <a:ext cx="618835" cy="622300"/>
            <a:chOff x="1447800" y="3896590"/>
            <a:chExt cx="618835" cy="622300"/>
          </a:xfrm>
        </p:grpSpPr>
        <p:pic>
          <p:nvPicPr>
            <p:cNvPr id="29" name="Imagen 28" descr="Atomics_th0.eps"/>
            <p:cNvPicPr>
              <a:picLocks noChangeAspect="1"/>
            </p:cNvPicPr>
            <p:nvPr/>
          </p:nvPicPr>
          <p:blipFill>
            <a:blip r:embed="rId2"/>
            <a:stretch>
              <a:fillRect/>
            </a:stretch>
          </p:blipFill>
          <p:spPr>
            <a:xfrm>
              <a:off x="1447800" y="3896590"/>
              <a:ext cx="139700" cy="622300"/>
            </a:xfrm>
            <a:prstGeom prst="rect">
              <a:avLst/>
            </a:prstGeom>
          </p:spPr>
        </p:pic>
        <p:pic>
          <p:nvPicPr>
            <p:cNvPr id="30" name="Imagen 29" descr="Atomics_th1.eps"/>
            <p:cNvPicPr>
              <a:picLocks noChangeAspect="1"/>
            </p:cNvPicPr>
            <p:nvPr/>
          </p:nvPicPr>
          <p:blipFill>
            <a:blip r:embed="rId3"/>
            <a:stretch>
              <a:fillRect/>
            </a:stretch>
          </p:blipFill>
          <p:spPr>
            <a:xfrm>
              <a:off x="1939635" y="3896590"/>
              <a:ext cx="127000" cy="622300"/>
            </a:xfrm>
            <a:prstGeom prst="rect">
              <a:avLst/>
            </a:prstGeom>
          </p:spPr>
        </p:pic>
      </p:grpSp>
      <p:grpSp>
        <p:nvGrpSpPr>
          <p:cNvPr id="12" name="Agrupar 38"/>
          <p:cNvGrpSpPr/>
          <p:nvPr/>
        </p:nvGrpSpPr>
        <p:grpSpPr>
          <a:xfrm>
            <a:off x="2372816" y="3294180"/>
            <a:ext cx="1663700" cy="645600"/>
            <a:chOff x="2133600" y="3856180"/>
            <a:chExt cx="1663700" cy="645600"/>
          </a:xfrm>
        </p:grpSpPr>
        <p:sp>
          <p:nvSpPr>
            <p:cNvPr id="32" name="CuadroTexto 31"/>
            <p:cNvSpPr txBox="1"/>
            <p:nvPr/>
          </p:nvSpPr>
          <p:spPr>
            <a:xfrm>
              <a:off x="2374900" y="4019378"/>
              <a:ext cx="1422400" cy="307777"/>
            </a:xfrm>
            <a:prstGeom prst="rect">
              <a:avLst/>
            </a:prstGeom>
            <a:noFill/>
            <a:ln w="28575" cap="flat" cmpd="sng" algn="ctr">
              <a:noFill/>
              <a:prstDash val="solid"/>
              <a:round/>
              <a:headEnd type="none" w="med" len="med"/>
              <a:tailEnd type="none" w="med" len="med"/>
            </a:ln>
          </p:spPr>
          <p:txBody>
            <a:bodyPr wrap="square" rtlCol="0">
              <a:spAutoFit/>
            </a:bodyPr>
            <a:lstStyle/>
            <a:p>
              <a:r>
                <a:rPr lang="es-ES_tradnl" sz="1400" i="1" dirty="0" err="1"/>
                <a:t>t</a:t>
              </a:r>
              <a:r>
                <a:rPr lang="es-ES_tradnl" sz="1400" i="1" baseline="-25000" dirty="0" err="1"/>
                <a:t>base</a:t>
              </a:r>
              <a:endParaRPr lang="es-ES_tradnl" sz="1400" i="1" baseline="-25000" dirty="0"/>
            </a:p>
          </p:txBody>
        </p:sp>
        <p:sp>
          <p:nvSpPr>
            <p:cNvPr id="33" name="Cerrar llave 32"/>
            <p:cNvSpPr/>
            <p:nvPr/>
          </p:nvSpPr>
          <p:spPr>
            <a:xfrm>
              <a:off x="2133600" y="3856180"/>
              <a:ext cx="304800" cy="645600"/>
            </a:xfrm>
            <a:prstGeom prst="rightBrace">
              <a:avLst>
                <a:gd name="adj1" fmla="val 4166"/>
                <a:gd name="adj2" fmla="val 48958"/>
              </a:avLst>
            </a:prstGeom>
            <a:ln>
              <a:solidFill>
                <a:srgbClr val="008000"/>
              </a:solidFill>
            </a:ln>
            <a:effectLst/>
          </p:spPr>
          <p:style>
            <a:lnRef idx="2">
              <a:schemeClr val="accent1"/>
            </a:lnRef>
            <a:fillRef idx="0">
              <a:schemeClr val="accent1"/>
            </a:fillRef>
            <a:effectRef idx="1">
              <a:schemeClr val="accent1"/>
            </a:effectRef>
            <a:fontRef idx="minor">
              <a:schemeClr val="tx1"/>
            </a:fontRef>
          </p:style>
          <p:txBody>
            <a:bodyPr anchor="t" anchorCtr="0"/>
            <a:lstStyle/>
            <a:p>
              <a:endParaRPr lang="es-ES_tradnl" dirty="0"/>
            </a:p>
          </p:txBody>
        </p:sp>
      </p:grpSp>
      <p:grpSp>
        <p:nvGrpSpPr>
          <p:cNvPr id="18" name="Agrupar 31"/>
          <p:cNvGrpSpPr/>
          <p:nvPr/>
        </p:nvGrpSpPr>
        <p:grpSpPr>
          <a:xfrm>
            <a:off x="1698561" y="4559779"/>
            <a:ext cx="6185807" cy="653042"/>
            <a:chOff x="1459345" y="3863110"/>
            <a:chExt cx="6185807" cy="653042"/>
          </a:xfrm>
        </p:grpSpPr>
        <p:sp>
          <p:nvSpPr>
            <p:cNvPr id="35" name="CuadroTexto 34"/>
            <p:cNvSpPr txBox="1"/>
            <p:nvPr/>
          </p:nvSpPr>
          <p:spPr>
            <a:xfrm>
              <a:off x="1459345" y="3863110"/>
              <a:ext cx="2285290" cy="646331"/>
            </a:xfrm>
            <a:prstGeom prst="rect">
              <a:avLst/>
            </a:prstGeom>
            <a:solidFill>
              <a:schemeClr val="bg1"/>
            </a:solidFill>
            <a:ln w="28575" cap="flat" cmpd="sng" algn="ctr">
              <a:solidFill>
                <a:srgbClr val="008000"/>
              </a:solidFill>
              <a:prstDash val="solid"/>
              <a:round/>
              <a:headEnd type="none" w="med" len="med"/>
              <a:tailEnd type="none" w="med" len="med"/>
            </a:ln>
          </p:spPr>
          <p:txBody>
            <a:bodyPr wrap="square" rtlCol="0">
              <a:spAutoFit/>
            </a:bodyPr>
            <a:lstStyle/>
            <a:p>
              <a:pPr algn="ctr"/>
              <a:r>
                <a:rPr lang="es-ES_tradnl" dirty="0">
                  <a:solidFill>
                    <a:srgbClr val="008000"/>
                  </a:solidFill>
                </a:rPr>
                <a:t>No </a:t>
              </a:r>
              <a:r>
                <a:rPr lang="es-ES_tradnl" dirty="0" err="1">
                  <a:solidFill>
                    <a:srgbClr val="008000"/>
                  </a:solidFill>
                </a:rPr>
                <a:t>atomic</a:t>
              </a:r>
              <a:r>
                <a:rPr lang="es-ES_tradnl" dirty="0">
                  <a:solidFill>
                    <a:srgbClr val="008000"/>
                  </a:solidFill>
                </a:rPr>
                <a:t> </a:t>
              </a:r>
              <a:r>
                <a:rPr lang="es-ES_tradnl" dirty="0" err="1">
                  <a:solidFill>
                    <a:srgbClr val="008000"/>
                  </a:solidFill>
                </a:rPr>
                <a:t>conflict</a:t>
              </a:r>
              <a:r>
                <a:rPr lang="es-ES_tradnl" dirty="0">
                  <a:solidFill>
                    <a:srgbClr val="008000"/>
                  </a:solidFill>
                </a:rPr>
                <a:t> = </a:t>
              </a:r>
              <a:r>
                <a:rPr lang="es-ES_tradnl" dirty="0" err="1">
                  <a:solidFill>
                    <a:srgbClr val="008000"/>
                  </a:solidFill>
                </a:rPr>
                <a:t>concurrent</a:t>
              </a:r>
              <a:r>
                <a:rPr lang="es-ES_tradnl" dirty="0">
                  <a:solidFill>
                    <a:srgbClr val="008000"/>
                  </a:solidFill>
                </a:rPr>
                <a:t> </a:t>
              </a:r>
              <a:r>
                <a:rPr lang="es-ES_tradnl" dirty="0" err="1">
                  <a:solidFill>
                    <a:srgbClr val="008000"/>
                  </a:solidFill>
                </a:rPr>
                <a:t>updates</a:t>
              </a:r>
              <a:endParaRPr lang="es-ES_tradnl" dirty="0">
                <a:solidFill>
                  <a:srgbClr val="008000"/>
                </a:solidFill>
              </a:endParaRPr>
            </a:p>
          </p:txBody>
        </p:sp>
        <p:sp>
          <p:nvSpPr>
            <p:cNvPr id="36" name="CuadroTexto 35"/>
            <p:cNvSpPr txBox="1"/>
            <p:nvPr/>
          </p:nvSpPr>
          <p:spPr>
            <a:xfrm>
              <a:off x="5587752" y="3869821"/>
              <a:ext cx="2057400" cy="646331"/>
            </a:xfrm>
            <a:prstGeom prst="rect">
              <a:avLst/>
            </a:prstGeom>
            <a:solidFill>
              <a:schemeClr val="bg1"/>
            </a:solidFill>
            <a:ln w="28575" cap="flat" cmpd="sng" algn="ctr">
              <a:solidFill>
                <a:srgbClr val="FF0000"/>
              </a:solidFill>
              <a:prstDash val="solid"/>
              <a:round/>
              <a:headEnd type="none" w="med" len="med"/>
              <a:tailEnd type="none" w="med" len="med"/>
            </a:ln>
          </p:spPr>
          <p:txBody>
            <a:bodyPr wrap="square" rtlCol="0">
              <a:spAutoFit/>
            </a:bodyPr>
            <a:lstStyle/>
            <a:p>
              <a:pPr algn="ctr"/>
              <a:r>
                <a:rPr lang="es-ES_tradnl" dirty="0" err="1">
                  <a:solidFill>
                    <a:srgbClr val="FF0000"/>
                  </a:solidFill>
                </a:rPr>
                <a:t>Atomic</a:t>
              </a:r>
              <a:r>
                <a:rPr lang="es-ES_tradnl" dirty="0">
                  <a:solidFill>
                    <a:srgbClr val="FF0000"/>
                  </a:solidFill>
                </a:rPr>
                <a:t> </a:t>
              </a:r>
              <a:r>
                <a:rPr lang="es-ES_tradnl" dirty="0" err="1">
                  <a:solidFill>
                    <a:srgbClr val="FF0000"/>
                  </a:solidFill>
                </a:rPr>
                <a:t>conflict</a:t>
              </a:r>
              <a:r>
                <a:rPr lang="es-ES_tradnl" dirty="0">
                  <a:solidFill>
                    <a:srgbClr val="FF0000"/>
                  </a:solidFill>
                </a:rPr>
                <a:t> = </a:t>
              </a:r>
              <a:r>
                <a:rPr lang="es-ES_tradnl" dirty="0" err="1">
                  <a:solidFill>
                    <a:srgbClr val="FF0000"/>
                  </a:solidFill>
                </a:rPr>
                <a:t>serialized</a:t>
              </a:r>
              <a:r>
                <a:rPr lang="es-ES_tradnl" dirty="0">
                  <a:solidFill>
                    <a:srgbClr val="FF0000"/>
                  </a:solidFill>
                </a:rPr>
                <a:t> </a:t>
              </a:r>
              <a:r>
                <a:rPr lang="es-ES_tradnl" dirty="0" err="1">
                  <a:solidFill>
                    <a:srgbClr val="FF0000"/>
                  </a:solidFill>
                </a:rPr>
                <a:t>updates</a:t>
              </a:r>
              <a:endParaRPr lang="es-ES_tradnl" dirty="0">
                <a:solidFill>
                  <a:srgbClr val="FF0000"/>
                </a:solidFill>
              </a:endParaRPr>
            </a:p>
          </p:txBody>
        </p:sp>
      </p:grpSp>
      <p:sp>
        <p:nvSpPr>
          <p:cNvPr id="34" name="Slide Number Placeholder 3">
            <a:extLst>
              <a:ext uri="{FF2B5EF4-FFF2-40B4-BE49-F238E27FC236}">
                <a16:creationId xmlns:a16="http://schemas.microsoft.com/office/drawing/2014/main" id="{3BAFDAB2-7D95-EC48-926A-ACCBD4E78BC2}"/>
              </a:ext>
            </a:extLst>
          </p:cNvPr>
          <p:cNvSpPr>
            <a:spLocks noGrp="1"/>
          </p:cNvSpPr>
          <p:nvPr>
            <p:ph type="sldNum" sz="quarter" idx="11"/>
          </p:nvPr>
        </p:nvSpPr>
        <p:spPr>
          <a:xfrm>
            <a:off x="6553200" y="6243638"/>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5594703-842D-BE41-9AF0-496458107D79}"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76</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4562366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51520" y="0"/>
            <a:ext cx="8568952" cy="908720"/>
          </a:xfrm>
        </p:spPr>
        <p:txBody>
          <a:bodyPr>
            <a:normAutofit/>
          </a:bodyPr>
          <a:lstStyle/>
          <a:p>
            <a:r>
              <a:rPr lang="en-US" dirty="0"/>
              <a:t>Uses of Atomic Operations</a:t>
            </a:r>
          </a:p>
        </p:txBody>
      </p:sp>
      <p:sp>
        <p:nvSpPr>
          <p:cNvPr id="3" name="Marcador de contenido 2"/>
          <p:cNvSpPr>
            <a:spLocks noGrp="1"/>
          </p:cNvSpPr>
          <p:nvPr>
            <p:ph idx="1"/>
          </p:nvPr>
        </p:nvSpPr>
        <p:spPr>
          <a:xfrm>
            <a:off x="251520" y="908720"/>
            <a:ext cx="8568952" cy="5418856"/>
          </a:xfrm>
        </p:spPr>
        <p:txBody>
          <a:bodyPr>
            <a:normAutofit/>
          </a:bodyPr>
          <a:lstStyle/>
          <a:p>
            <a:r>
              <a:rPr lang="en-US" altLang="zh-CN" dirty="0"/>
              <a:t>Use atomic operations to prevent </a:t>
            </a:r>
            <a:r>
              <a:rPr lang="en-US" altLang="zh-CN" dirty="0">
                <a:solidFill>
                  <a:srgbClr val="C00000"/>
                </a:solidFill>
              </a:rPr>
              <a:t>data races </a:t>
            </a:r>
            <a:r>
              <a:rPr lang="en-US" altLang="zh-CN" dirty="0"/>
              <a:t>when more than one thread need to update the same memory location</a:t>
            </a:r>
          </a:p>
          <a:p>
            <a:endParaRPr lang="en-US" sz="2400" dirty="0">
              <a:solidFill>
                <a:srgbClr val="0070C0"/>
              </a:solidFill>
            </a:endParaRPr>
          </a:p>
          <a:p>
            <a:r>
              <a:rPr lang="en-US" sz="2400" dirty="0">
                <a:solidFill>
                  <a:srgbClr val="0070C0"/>
                </a:solidFill>
              </a:rPr>
              <a:t>Computation</a:t>
            </a:r>
          </a:p>
          <a:p>
            <a:pPr lvl="1"/>
            <a:r>
              <a:rPr lang="en-US" sz="2000" dirty="0"/>
              <a:t>Atomics on an array that will be the output of the kernel</a:t>
            </a:r>
          </a:p>
          <a:p>
            <a:pPr lvl="1"/>
            <a:r>
              <a:rPr lang="en-US" sz="2000" dirty="0"/>
              <a:t>Example</a:t>
            </a:r>
          </a:p>
          <a:p>
            <a:pPr lvl="2"/>
            <a:r>
              <a:rPr lang="en-US" sz="1800" dirty="0"/>
              <a:t>Histogram, reduction</a:t>
            </a:r>
          </a:p>
          <a:p>
            <a:pPr lvl="2"/>
            <a:endParaRPr lang="en-US" sz="1800" dirty="0"/>
          </a:p>
          <a:p>
            <a:r>
              <a:rPr lang="en-US" sz="2400" dirty="0">
                <a:solidFill>
                  <a:srgbClr val="0070C0"/>
                </a:solidFill>
              </a:rPr>
              <a:t>Synchronization</a:t>
            </a:r>
          </a:p>
          <a:p>
            <a:pPr lvl="1"/>
            <a:r>
              <a:rPr lang="en-US" sz="2000" dirty="0"/>
              <a:t>Atomics on memory locations that are used for synchronization or coordination</a:t>
            </a:r>
          </a:p>
          <a:p>
            <a:pPr lvl="1"/>
            <a:r>
              <a:rPr lang="en-US" sz="2000" dirty="0"/>
              <a:t>Example</a:t>
            </a:r>
          </a:p>
          <a:p>
            <a:pPr lvl="2"/>
            <a:r>
              <a:rPr lang="en-US" sz="1800" dirty="0"/>
              <a:t>Counters, locks, flags…</a:t>
            </a:r>
          </a:p>
          <a:p>
            <a:endParaRPr lang="en-US" sz="2353" dirty="0"/>
          </a:p>
          <a:p>
            <a:endParaRPr lang="en-US" sz="2353" dirty="0"/>
          </a:p>
          <a:p>
            <a:pPr>
              <a:buNone/>
            </a:pPr>
            <a:endParaRPr lang="en-US" sz="2353" dirty="0"/>
          </a:p>
        </p:txBody>
      </p:sp>
      <p:sp>
        <p:nvSpPr>
          <p:cNvPr id="5" name="Slide Number Placeholder 3">
            <a:extLst>
              <a:ext uri="{FF2B5EF4-FFF2-40B4-BE49-F238E27FC236}">
                <a16:creationId xmlns:a16="http://schemas.microsoft.com/office/drawing/2014/main" id="{23B3B672-FA7F-0442-AF8B-4E3E912C955C}"/>
              </a:ext>
            </a:extLst>
          </p:cNvPr>
          <p:cNvSpPr>
            <a:spLocks noGrp="1"/>
          </p:cNvSpPr>
          <p:nvPr>
            <p:ph type="sldNum" sz="quarter" idx="11"/>
          </p:nvPr>
        </p:nvSpPr>
        <p:spPr>
          <a:xfrm>
            <a:off x="6553200" y="6243638"/>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5594703-842D-BE41-9AF0-496458107D79}"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77</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619713695"/>
      </p:ext>
    </p:extLst>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53981" y="908720"/>
            <a:ext cx="8566491" cy="4756150"/>
          </a:xfrm>
        </p:spPr>
        <p:txBody>
          <a:bodyPr>
            <a:normAutofit/>
          </a:bodyPr>
          <a:lstStyle/>
          <a:p>
            <a:pPr marL="342900" lvl="1" indent="-342900">
              <a:spcAft>
                <a:spcPts val="600"/>
              </a:spcAft>
              <a:buClr>
                <a:schemeClr val="accent1"/>
              </a:buClr>
              <a:buSzPct val="65000"/>
              <a:buFont typeface="Wingdings" pitchFamily="2" charset="2"/>
              <a:buChar char="n"/>
            </a:pPr>
            <a:r>
              <a:rPr lang="en-US" sz="2400" dirty="0">
                <a:ea typeface="+mn-ea"/>
                <a:cs typeface="+mn-cs"/>
              </a:rPr>
              <a:t>Histograms are widely used in </a:t>
            </a:r>
            <a:r>
              <a:rPr lang="en-US" sz="2400" dirty="0">
                <a:solidFill>
                  <a:srgbClr val="00B050"/>
                </a:solidFill>
                <a:ea typeface="+mn-ea"/>
                <a:cs typeface="+mn-cs"/>
              </a:rPr>
              <a:t>image processing</a:t>
            </a:r>
          </a:p>
          <a:p>
            <a:pPr lvl="1"/>
            <a:r>
              <a:rPr lang="en-US" sz="2000" dirty="0"/>
              <a:t>Some </a:t>
            </a:r>
            <a:r>
              <a:rPr lang="en-US" sz="2000" dirty="0">
                <a:solidFill>
                  <a:srgbClr val="0070C0"/>
                </a:solidFill>
              </a:rPr>
              <a:t>computation before voting </a:t>
            </a:r>
            <a:r>
              <a:rPr lang="en-US" sz="2000" dirty="0"/>
              <a:t>in the histogram may be needed</a:t>
            </a:r>
          </a:p>
          <a:p>
            <a:pPr marL="695325" lvl="2" indent="-342900">
              <a:spcAft>
                <a:spcPts val="600"/>
              </a:spcAft>
            </a:pPr>
            <a:endParaRPr lang="en-US" dirty="0">
              <a:ea typeface="+mn-ea"/>
              <a:cs typeface="+mn-cs"/>
            </a:endParaRPr>
          </a:p>
          <a:p>
            <a:pPr marL="695325" lvl="2" indent="-342900">
              <a:spcAft>
                <a:spcPts val="600"/>
              </a:spcAft>
            </a:pPr>
            <a:endParaRPr lang="en-US" dirty="0">
              <a:ea typeface="+mn-ea"/>
              <a:cs typeface="+mn-cs"/>
            </a:endParaRPr>
          </a:p>
          <a:p>
            <a:pPr marL="695325" lvl="2" indent="-342900">
              <a:spcAft>
                <a:spcPts val="600"/>
              </a:spcAft>
            </a:pPr>
            <a:endParaRPr lang="en-US" dirty="0">
              <a:ea typeface="+mn-ea"/>
              <a:cs typeface="+mn-cs"/>
            </a:endParaRPr>
          </a:p>
          <a:p>
            <a:pPr lvl="1"/>
            <a:r>
              <a:rPr lang="en-US" sz="2000" dirty="0"/>
              <a:t>Parallel threads frequently incur </a:t>
            </a:r>
            <a:r>
              <a:rPr lang="en-US" sz="2000" dirty="0">
                <a:solidFill>
                  <a:srgbClr val="C00000"/>
                </a:solidFill>
              </a:rPr>
              <a:t>atomic conflicts </a:t>
            </a:r>
            <a:r>
              <a:rPr lang="en-US" sz="2000" dirty="0"/>
              <a:t>in image histogram computation</a:t>
            </a:r>
          </a:p>
          <a:p>
            <a:pPr marL="0" lvl="1" indent="0">
              <a:spcAft>
                <a:spcPts val="600"/>
              </a:spcAft>
              <a:buNone/>
            </a:pPr>
            <a:endParaRPr lang="en-US" sz="2400" dirty="0"/>
          </a:p>
        </p:txBody>
      </p:sp>
      <p:sp>
        <p:nvSpPr>
          <p:cNvPr id="7" name="Text Box 2"/>
          <p:cNvSpPr txBox="1">
            <a:spLocks noChangeArrowheads="1"/>
          </p:cNvSpPr>
          <p:nvPr/>
        </p:nvSpPr>
        <p:spPr bwMode="auto">
          <a:xfrm>
            <a:off x="457200" y="1897228"/>
            <a:ext cx="8244000" cy="1171732"/>
          </a:xfrm>
          <a:prstGeom prst="rect">
            <a:avLst/>
          </a:prstGeom>
          <a:solidFill>
            <a:schemeClr val="bg1">
              <a:lumMod val="95000"/>
            </a:schemeClr>
          </a:solidFill>
          <a:ln w="12700">
            <a:noFill/>
            <a:round/>
            <a:headEnd/>
            <a:tailEnd/>
          </a:ln>
          <a:effectLst/>
        </p:spPr>
        <p:txBody>
          <a:bodyPr lIns="90000" tIns="46800" rIns="90000" bIns="46800">
            <a:prstTxWarp prst="textNoShape">
              <a:avLst/>
            </a:prstTxWarp>
            <a:spAutoFit/>
          </a:bodyPr>
          <a:lstStyle/>
          <a:p>
            <a:pPr marL="0" marR="0" lvl="0" indent="0" algn="l" defTabSz="449263" rtl="0" eaLnBrk="1" fontAlgn="auto" latinLnBrk="0" hangingPunct="1">
              <a:lnSpc>
                <a:spcPct val="100000"/>
              </a:lnSpc>
              <a:spcBef>
                <a:spcPts val="0"/>
              </a:spcBef>
              <a:spcAft>
                <a:spcPts val="0"/>
              </a:spcAft>
              <a:buClr>
                <a:srgbClr val="000000"/>
              </a:buClr>
              <a:buSzPct val="100000"/>
              <a:buFont typeface="Arial" pitchFamily="-111"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1400" b="0" i="0" u="none" strike="noStrike" kern="1200" cap="none" spc="0" normalizeH="0" baseline="0" noProof="0" dirty="0">
                <a:ln>
                  <a:noFill/>
                </a:ln>
                <a:solidFill>
                  <a:srgbClr val="000000"/>
                </a:solidFill>
                <a:effectLst/>
                <a:uLnTx/>
                <a:uFillTx/>
                <a:latin typeface="Courier"/>
                <a:ea typeface="Arial" pitchFamily="-111" charset="0"/>
                <a:cs typeface="Courier"/>
              </a:rPr>
              <a:t>For (each pixel </a:t>
            </a:r>
            <a:r>
              <a:rPr kumimoji="0" lang="en-US" sz="1400" b="0" i="0" u="none" strike="noStrike" kern="1200" cap="none" spc="0" normalizeH="0" baseline="0" noProof="0" dirty="0" err="1">
                <a:ln>
                  <a:noFill/>
                </a:ln>
                <a:solidFill>
                  <a:srgbClr val="000000"/>
                </a:solidFill>
                <a:effectLst/>
                <a:uLnTx/>
                <a:uFillTx/>
                <a:latin typeface="Courier"/>
                <a:ea typeface="Arial" pitchFamily="-111" charset="0"/>
                <a:cs typeface="Courier"/>
              </a:rPr>
              <a:t>i</a:t>
            </a:r>
            <a:r>
              <a:rPr kumimoji="0" lang="en-US" sz="1400" b="0" i="0" u="none" strike="noStrike" kern="1200" cap="none" spc="0" normalizeH="0" baseline="0" noProof="0" dirty="0">
                <a:ln>
                  <a:noFill/>
                </a:ln>
                <a:solidFill>
                  <a:srgbClr val="000000"/>
                </a:solidFill>
                <a:effectLst/>
                <a:uLnTx/>
                <a:uFillTx/>
                <a:latin typeface="Courier"/>
                <a:ea typeface="Arial" pitchFamily="-111" charset="0"/>
                <a:cs typeface="Courier"/>
              </a:rPr>
              <a:t> in image I){</a:t>
            </a:r>
          </a:p>
          <a:p>
            <a:pPr marL="457200" marR="0" lvl="1" indent="0" algn="l" defTabSz="449263" rtl="0" eaLnBrk="1" fontAlgn="auto" latinLnBrk="0" hangingPunct="1">
              <a:lnSpc>
                <a:spcPct val="100000"/>
              </a:lnSpc>
              <a:spcBef>
                <a:spcPts val="0"/>
              </a:spcBef>
              <a:spcAft>
                <a:spcPts val="0"/>
              </a:spcAft>
              <a:buClr>
                <a:srgbClr val="000000"/>
              </a:buClr>
              <a:buSzPct val="100000"/>
              <a:buFont typeface="Arial" pitchFamily="-111"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1400" b="0" i="0" u="none" strike="noStrike" kern="1200" cap="none" spc="0" normalizeH="0" baseline="0" noProof="0" dirty="0">
                <a:ln>
                  <a:noFill/>
                </a:ln>
                <a:solidFill>
                  <a:srgbClr val="000000"/>
                </a:solidFill>
                <a:effectLst/>
                <a:uLnTx/>
                <a:uFillTx/>
                <a:latin typeface="Courier"/>
                <a:ea typeface="Arial" pitchFamily="-111" charset="0"/>
                <a:cs typeface="Courier"/>
              </a:rPr>
              <a:t>Pixel = </a:t>
            </a:r>
            <a:r>
              <a:rPr kumimoji="0" lang="en-US" sz="1400" b="0" i="0" u="none" strike="noStrike" kern="1200" cap="none" spc="0" normalizeH="0" baseline="0" noProof="0" dirty="0" err="1">
                <a:ln>
                  <a:noFill/>
                </a:ln>
                <a:solidFill>
                  <a:srgbClr val="000000"/>
                </a:solidFill>
                <a:effectLst/>
                <a:uLnTx/>
                <a:uFillTx/>
                <a:latin typeface="Courier"/>
                <a:ea typeface="Arial" pitchFamily="-111" charset="0"/>
                <a:cs typeface="Courier"/>
              </a:rPr>
              <a:t>I[i</a:t>
            </a:r>
            <a:r>
              <a:rPr kumimoji="0" lang="en-US" sz="1400" b="0" i="0" u="none" strike="noStrike" kern="1200" cap="none" spc="0" normalizeH="0" baseline="0" noProof="0" dirty="0">
                <a:ln>
                  <a:noFill/>
                </a:ln>
                <a:solidFill>
                  <a:srgbClr val="000000"/>
                </a:solidFill>
                <a:effectLst/>
                <a:uLnTx/>
                <a:uFillTx/>
                <a:latin typeface="Courier"/>
                <a:ea typeface="Arial" pitchFamily="-111" charset="0"/>
                <a:cs typeface="Courier"/>
              </a:rPr>
              <a:t>]			</a:t>
            </a:r>
            <a:r>
              <a:rPr kumimoji="0" lang="en-US" sz="1400" b="0" i="0" u="none" strike="noStrike" kern="1200" cap="none" spc="0" normalizeH="0" baseline="0" noProof="0" dirty="0">
                <a:ln>
                  <a:noFill/>
                </a:ln>
                <a:solidFill>
                  <a:srgbClr val="FFFFFF">
                    <a:lumMod val="50000"/>
                  </a:srgbClr>
                </a:solidFill>
                <a:effectLst/>
                <a:uLnTx/>
                <a:uFillTx/>
                <a:latin typeface="Courier"/>
                <a:ea typeface="Arial" pitchFamily="-111" charset="0"/>
                <a:cs typeface="Courier"/>
              </a:rPr>
              <a:t>// Read pixel</a:t>
            </a:r>
          </a:p>
          <a:p>
            <a:pPr marL="457200" marR="0" lvl="1" indent="0" algn="l" defTabSz="449263" rtl="0" eaLnBrk="1" fontAlgn="auto" latinLnBrk="0" hangingPunct="1">
              <a:lnSpc>
                <a:spcPct val="100000"/>
              </a:lnSpc>
              <a:spcBef>
                <a:spcPts val="0"/>
              </a:spcBef>
              <a:spcAft>
                <a:spcPts val="0"/>
              </a:spcAft>
              <a:buClr>
                <a:srgbClr val="000000"/>
              </a:buClr>
              <a:buSzPct val="100000"/>
              <a:buFont typeface="Arial" pitchFamily="-111"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1400" b="0" i="0" u="none" strike="noStrike" kern="1200" cap="none" spc="0" normalizeH="0" baseline="0" noProof="0" dirty="0">
                <a:ln>
                  <a:noFill/>
                </a:ln>
                <a:solidFill>
                  <a:srgbClr val="000000"/>
                </a:solidFill>
                <a:effectLst/>
                <a:uLnTx/>
                <a:uFillTx/>
                <a:latin typeface="Courier"/>
                <a:ea typeface="Arial" pitchFamily="-111" charset="0"/>
                <a:cs typeface="Courier"/>
              </a:rPr>
              <a:t>Pixel’ = </a:t>
            </a:r>
            <a:r>
              <a:rPr kumimoji="0" lang="en-US" sz="1400" b="0" i="0" u="none" strike="noStrike" kern="1200" cap="none" spc="0" normalizeH="0" baseline="0" noProof="0" dirty="0" err="1">
                <a:ln>
                  <a:noFill/>
                </a:ln>
                <a:solidFill>
                  <a:srgbClr val="0070C0"/>
                </a:solidFill>
                <a:effectLst/>
                <a:uLnTx/>
                <a:uFillTx/>
                <a:latin typeface="Courier"/>
                <a:ea typeface="Arial" pitchFamily="-111" charset="0"/>
                <a:cs typeface="Courier"/>
              </a:rPr>
              <a:t>Computation(Pixel</a:t>
            </a:r>
            <a:r>
              <a:rPr kumimoji="0" lang="en-US" sz="1400" b="0" i="0" u="none" strike="noStrike" kern="1200" cap="none" spc="0" normalizeH="0" baseline="0" noProof="0" dirty="0">
                <a:ln>
                  <a:noFill/>
                </a:ln>
                <a:solidFill>
                  <a:srgbClr val="0070C0"/>
                </a:solidFill>
                <a:effectLst/>
                <a:uLnTx/>
                <a:uFillTx/>
                <a:latin typeface="Courier"/>
                <a:ea typeface="Arial" pitchFamily="-111" charset="0"/>
                <a:cs typeface="Courier"/>
              </a:rPr>
              <a:t>)</a:t>
            </a:r>
            <a:r>
              <a:rPr kumimoji="0" lang="en-US" sz="1400" b="0" i="0" u="none" strike="noStrike" kern="1200" cap="none" spc="0" normalizeH="0" baseline="0" noProof="0" dirty="0">
                <a:ln>
                  <a:noFill/>
                </a:ln>
                <a:solidFill>
                  <a:srgbClr val="000000"/>
                </a:solidFill>
                <a:effectLst/>
                <a:uLnTx/>
                <a:uFillTx/>
                <a:latin typeface="Courier"/>
                <a:ea typeface="Arial" pitchFamily="-111" charset="0"/>
                <a:cs typeface="Courier"/>
              </a:rPr>
              <a:t>	</a:t>
            </a:r>
            <a:r>
              <a:rPr kumimoji="0" lang="en-US" sz="1400" b="0" i="0" u="none" strike="noStrike" kern="1200" cap="none" spc="0" normalizeH="0" baseline="0" noProof="0" dirty="0">
                <a:ln>
                  <a:noFill/>
                </a:ln>
                <a:solidFill>
                  <a:srgbClr val="FFFFFF">
                    <a:lumMod val="50000"/>
                  </a:srgbClr>
                </a:solidFill>
                <a:effectLst/>
                <a:uLnTx/>
                <a:uFillTx/>
                <a:latin typeface="Courier"/>
                <a:ea typeface="Arial" pitchFamily="-111" charset="0"/>
                <a:cs typeface="Courier"/>
              </a:rPr>
              <a:t>// Optional computation</a:t>
            </a:r>
          </a:p>
          <a:p>
            <a:pPr marL="457200" marR="0" lvl="1" indent="0" algn="l" defTabSz="449263" rtl="0" eaLnBrk="1" fontAlgn="auto" latinLnBrk="0" hangingPunct="1">
              <a:lnSpc>
                <a:spcPct val="100000"/>
              </a:lnSpc>
              <a:spcBef>
                <a:spcPts val="0"/>
              </a:spcBef>
              <a:spcAft>
                <a:spcPts val="0"/>
              </a:spcAft>
              <a:buClr>
                <a:srgbClr val="000000"/>
              </a:buClr>
              <a:buSzPct val="100000"/>
              <a:buFont typeface="Arial" pitchFamily="-111"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1400" b="0" i="0" u="none" strike="noStrike" kern="1200" cap="none" spc="0" normalizeH="0" baseline="0" noProof="0" dirty="0" err="1">
                <a:ln>
                  <a:noFill/>
                </a:ln>
                <a:solidFill>
                  <a:srgbClr val="000000"/>
                </a:solidFill>
                <a:effectLst/>
                <a:uLnTx/>
                <a:uFillTx/>
                <a:latin typeface="Courier"/>
                <a:ea typeface="Arial" pitchFamily="-111" charset="0"/>
                <a:cs typeface="Courier"/>
              </a:rPr>
              <a:t>Histogram[Pixel</a:t>
            </a:r>
            <a:r>
              <a:rPr kumimoji="0" lang="en-US" sz="1400" b="0" i="0" u="none" strike="noStrike" kern="1200" cap="none" spc="0" normalizeH="0" baseline="0" noProof="0" dirty="0">
                <a:ln>
                  <a:noFill/>
                </a:ln>
                <a:solidFill>
                  <a:srgbClr val="000000"/>
                </a:solidFill>
                <a:effectLst/>
                <a:uLnTx/>
                <a:uFillTx/>
                <a:latin typeface="Courier"/>
                <a:ea typeface="Arial" pitchFamily="-111" charset="0"/>
                <a:cs typeface="Courier"/>
              </a:rPr>
              <a:t>’]++		</a:t>
            </a:r>
            <a:r>
              <a:rPr kumimoji="0" lang="en-US" sz="1400" b="0" i="0" u="none" strike="noStrike" kern="1200" cap="none" spc="0" normalizeH="0" baseline="0" noProof="0" dirty="0">
                <a:ln>
                  <a:noFill/>
                </a:ln>
                <a:solidFill>
                  <a:srgbClr val="FFFFFF">
                    <a:lumMod val="50000"/>
                  </a:srgbClr>
                </a:solidFill>
                <a:effectLst/>
                <a:uLnTx/>
                <a:uFillTx/>
                <a:latin typeface="Courier"/>
                <a:ea typeface="Arial" pitchFamily="-111" charset="0"/>
                <a:cs typeface="Courier"/>
              </a:rPr>
              <a:t>// Vote in histogram bin</a:t>
            </a:r>
          </a:p>
          <a:p>
            <a:pPr marL="0" marR="0" lvl="0" indent="0" algn="l" defTabSz="449263" rtl="0" eaLnBrk="1" fontAlgn="auto" latinLnBrk="0" hangingPunct="1">
              <a:lnSpc>
                <a:spcPct val="100000"/>
              </a:lnSpc>
              <a:spcBef>
                <a:spcPts val="0"/>
              </a:spcBef>
              <a:spcAft>
                <a:spcPts val="0"/>
              </a:spcAft>
              <a:buClr>
                <a:srgbClr val="000000"/>
              </a:buClr>
              <a:buSzPct val="100000"/>
              <a:buFont typeface="Arial" pitchFamily="-111"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1400" b="0" i="0" u="none" strike="noStrike" kern="1200" cap="none" spc="0" normalizeH="0" baseline="0" noProof="0" dirty="0">
                <a:ln>
                  <a:noFill/>
                </a:ln>
                <a:solidFill>
                  <a:srgbClr val="000000"/>
                </a:solidFill>
                <a:effectLst/>
                <a:uLnTx/>
                <a:uFillTx/>
                <a:latin typeface="Courier"/>
                <a:ea typeface="Arial" pitchFamily="-111" charset="0"/>
                <a:cs typeface="Courier"/>
              </a:rPr>
              <a:t>}</a:t>
            </a:r>
            <a:endParaRPr kumimoji="0" lang="en-US" sz="1600" b="0" i="0" u="none" strike="noStrike" kern="1200" cap="none" spc="0" normalizeH="0" baseline="0" noProof="0" dirty="0">
              <a:ln>
                <a:noFill/>
              </a:ln>
              <a:solidFill>
                <a:srgbClr val="000000"/>
              </a:solidFill>
              <a:effectLst/>
              <a:uLnTx/>
              <a:uFillTx/>
              <a:latin typeface="Courier"/>
              <a:ea typeface="Arial" pitchFamily="-111" charset="0"/>
              <a:cs typeface="Courier"/>
            </a:endParaRPr>
          </a:p>
        </p:txBody>
      </p:sp>
      <p:pic>
        <p:nvPicPr>
          <p:cNvPr id="11" name="Imagen 10" descr="Apps_histogram.eps"/>
          <p:cNvPicPr>
            <a:picLocks noChangeAspect="1"/>
          </p:cNvPicPr>
          <p:nvPr/>
        </p:nvPicPr>
        <p:blipFill>
          <a:blip r:embed="rId2"/>
          <a:stretch>
            <a:fillRect/>
          </a:stretch>
        </p:blipFill>
        <p:spPr>
          <a:xfrm>
            <a:off x="2806266" y="3799534"/>
            <a:ext cx="3531468" cy="2509785"/>
          </a:xfrm>
          <a:prstGeom prst="rect">
            <a:avLst/>
          </a:prstGeom>
        </p:spPr>
      </p:pic>
      <p:sp>
        <p:nvSpPr>
          <p:cNvPr id="9" name="Título 1"/>
          <p:cNvSpPr>
            <a:spLocks noGrp="1"/>
          </p:cNvSpPr>
          <p:nvPr>
            <p:ph type="title"/>
          </p:nvPr>
        </p:nvSpPr>
        <p:spPr>
          <a:xfrm>
            <a:off x="179512" y="0"/>
            <a:ext cx="8567936" cy="908720"/>
          </a:xfrm>
        </p:spPr>
        <p:txBody>
          <a:bodyPr>
            <a:normAutofit/>
          </a:bodyPr>
          <a:lstStyle/>
          <a:p>
            <a:r>
              <a:rPr lang="en-US" dirty="0"/>
              <a:t>Image Histogram</a:t>
            </a:r>
          </a:p>
        </p:txBody>
      </p:sp>
      <p:sp>
        <p:nvSpPr>
          <p:cNvPr id="8" name="Slide Number Placeholder 3">
            <a:extLst>
              <a:ext uri="{FF2B5EF4-FFF2-40B4-BE49-F238E27FC236}">
                <a16:creationId xmlns:a16="http://schemas.microsoft.com/office/drawing/2014/main" id="{E923B5B4-B8A4-7E44-BE46-5D3B92154C0C}"/>
              </a:ext>
            </a:extLst>
          </p:cNvPr>
          <p:cNvSpPr>
            <a:spLocks noGrp="1"/>
          </p:cNvSpPr>
          <p:nvPr>
            <p:ph type="sldNum" sz="quarter" idx="11"/>
          </p:nvPr>
        </p:nvSpPr>
        <p:spPr>
          <a:xfrm>
            <a:off x="6553200" y="6243638"/>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5594703-842D-BE41-9AF0-496458107D79}"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78</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9780750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8600" y="152400"/>
            <a:ext cx="8610600" cy="845127"/>
          </a:xfrm>
        </p:spPr>
        <p:txBody>
          <a:bodyPr anchor="ctr" anchorCtr="0"/>
          <a:lstStyle/>
          <a:p>
            <a:r>
              <a:rPr lang="en-US" dirty="0"/>
              <a:t>Agenda for Today</a:t>
            </a:r>
          </a:p>
        </p:txBody>
      </p:sp>
      <p:sp>
        <p:nvSpPr>
          <p:cNvPr id="3" name="Marcador de contenido 2"/>
          <p:cNvSpPr>
            <a:spLocks noGrp="1"/>
          </p:cNvSpPr>
          <p:nvPr>
            <p:ph idx="1"/>
          </p:nvPr>
        </p:nvSpPr>
        <p:spPr>
          <a:xfrm>
            <a:off x="228600" y="997527"/>
            <a:ext cx="8610600" cy="5193723"/>
          </a:xfrm>
        </p:spPr>
        <p:txBody>
          <a:bodyPr>
            <a:normAutofit/>
          </a:bodyPr>
          <a:lstStyle/>
          <a:p>
            <a:r>
              <a:rPr lang="en-US" altLang="zh-CN" dirty="0">
                <a:ea typeface="ヒラギノ角ゴ Pro W3" pitchFamily="-108" charset="-128"/>
                <a:cs typeface="ヒラギノ角ゴ Pro W3" pitchFamily="-108" charset="-128"/>
              </a:rPr>
              <a:t>SIMT (Hardware) &amp; Warp (Software)</a:t>
            </a:r>
            <a:r>
              <a:rPr lang="en-US" dirty="0">
                <a:ea typeface="ヒラギノ角ゴ Pro W3" pitchFamily="-108" charset="-128"/>
                <a:cs typeface="ヒラギノ角ゴ Pro W3" pitchFamily="-108" charset="-128"/>
              </a:rPr>
              <a:t> </a:t>
            </a:r>
          </a:p>
          <a:p>
            <a:pPr marL="0" indent="0">
              <a:buNone/>
            </a:pPr>
            <a:endParaRPr lang="en-US" dirty="0">
              <a:ea typeface="ヒラギノ角ゴ Pro W3" pitchFamily="-108" charset="-128"/>
              <a:cs typeface="ヒラギノ角ゴ Pro W3" pitchFamily="-108" charset="-128"/>
            </a:endParaRPr>
          </a:p>
          <a:p>
            <a:r>
              <a:rPr lang="en-US" altLang="zh-CN" dirty="0">
                <a:ea typeface="ヒラギノ角ゴ Pro W3" pitchFamily="-108" charset="-128"/>
              </a:rPr>
              <a:t>Optimization of Memory System </a:t>
            </a:r>
          </a:p>
          <a:p>
            <a:pPr lvl="1"/>
            <a:r>
              <a:rPr lang="en-US" dirty="0">
                <a:ea typeface="ヒラギノ角ゴ Pro W3" pitchFamily="-108" charset="-128"/>
                <a:cs typeface="ヒラギノ角ゴ Pro W3" pitchFamily="-108" charset="-128"/>
              </a:rPr>
              <a:t>Multi-threading</a:t>
            </a:r>
          </a:p>
          <a:p>
            <a:pPr lvl="1"/>
            <a:r>
              <a:rPr lang="en-US" dirty="0">
                <a:ea typeface="ヒラギノ角ゴ Pro W3" pitchFamily="-108" charset="-128"/>
                <a:cs typeface="ヒラギノ角ゴ Pro W3" pitchFamily="-108" charset="-128"/>
              </a:rPr>
              <a:t>Memory Coalescing</a:t>
            </a:r>
          </a:p>
          <a:p>
            <a:pPr lvl="1"/>
            <a:r>
              <a:rPr lang="en-US" dirty="0">
                <a:ea typeface="ヒラギノ角ゴ Pro W3" pitchFamily="-108" charset="-128"/>
                <a:cs typeface="ヒラギノ角ゴ Pro W3" pitchFamily="-108" charset="-128"/>
              </a:rPr>
              <a:t>Shared Memory</a:t>
            </a:r>
          </a:p>
          <a:p>
            <a:pPr lvl="1"/>
            <a:endParaRPr lang="en-US" dirty="0">
              <a:ea typeface="ヒラギノ角ゴ Pro W3" pitchFamily="-108" charset="-128"/>
              <a:cs typeface="ヒラギノ角ゴ Pro W3" pitchFamily="-108" charset="-128"/>
            </a:endParaRPr>
          </a:p>
          <a:p>
            <a:r>
              <a:rPr lang="en-US" altLang="zh-CN" dirty="0">
                <a:ea typeface="ヒラギノ角ゴ Pro W3" pitchFamily="-108" charset="-128"/>
                <a:cs typeface="ヒラギノ角ゴ Pro W3" pitchFamily="-108" charset="-128"/>
              </a:rPr>
              <a:t>SIMT Efficiency</a:t>
            </a:r>
          </a:p>
          <a:p>
            <a:pPr lvl="1"/>
            <a:r>
              <a:rPr lang="en-US" altLang="zh-CN" dirty="0">
                <a:ea typeface="ヒラギノ角ゴ Pro W3" pitchFamily="-108" charset="-128"/>
                <a:cs typeface="ヒラギノ角ゴ Pro W3" pitchFamily="-108" charset="-128"/>
              </a:rPr>
              <a:t>Divergency</a:t>
            </a:r>
          </a:p>
          <a:p>
            <a:pPr lvl="1"/>
            <a:r>
              <a:rPr lang="en-US" altLang="zh-CN" dirty="0">
                <a:ea typeface="ヒラギノ角ゴ Pro W3" pitchFamily="-108" charset="-128"/>
                <a:cs typeface="ヒラギノ角ゴ Pro W3" pitchFamily="-108" charset="-128"/>
              </a:rPr>
              <a:t>Atomic</a:t>
            </a:r>
          </a:p>
          <a:p>
            <a:pPr lvl="1"/>
            <a:r>
              <a:rPr lang="en-US" altLang="zh-CN" dirty="0">
                <a:solidFill>
                  <a:srgbClr val="0432FF"/>
                </a:solidFill>
                <a:ea typeface="ヒラギノ角ゴ Pro W3" pitchFamily="-108" charset="-128"/>
                <a:cs typeface="ヒラギノ角ゴ Pro W3" pitchFamily="-108" charset="-128"/>
              </a:rPr>
              <a:t>CPU-GPU Transfer</a:t>
            </a:r>
          </a:p>
          <a:p>
            <a:pPr lvl="1"/>
            <a:endParaRPr lang="en-US" dirty="0">
              <a:ea typeface="ヒラギノ角ゴ Pro W3" pitchFamily="-108" charset="-128"/>
              <a:cs typeface="ヒラギノ角ゴ Pro W3" pitchFamily="-108" charset="-128"/>
            </a:endParaRPr>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79</a:t>
            </a:fld>
            <a:endParaRPr lang="en-US" altLang="en-US"/>
          </a:p>
        </p:txBody>
      </p:sp>
      <p:sp>
        <p:nvSpPr>
          <p:cNvPr id="5" name="Rectangle 4">
            <a:extLst>
              <a:ext uri="{FF2B5EF4-FFF2-40B4-BE49-F238E27FC236}">
                <a16:creationId xmlns:a16="http://schemas.microsoft.com/office/drawing/2014/main" id="{3EAB8116-126C-5648-BEF0-E6606F73B7C9}"/>
              </a:ext>
            </a:extLst>
          </p:cNvPr>
          <p:cNvSpPr>
            <a:spLocks noChangeArrowheads="1"/>
          </p:cNvSpPr>
          <p:nvPr/>
        </p:nvSpPr>
        <p:spPr bwMode="auto">
          <a:xfrm>
            <a:off x="227135" y="5181600"/>
            <a:ext cx="5410200" cy="381000"/>
          </a:xfrm>
          <a:prstGeom prst="rect">
            <a:avLst/>
          </a:prstGeom>
          <a:noFill/>
          <a:ln w="38100">
            <a:solidFill>
              <a:srgbClr val="FF0000"/>
            </a:solidFill>
            <a:miter lim="800000"/>
            <a:headEnd/>
            <a:tailEnd/>
          </a:ln>
          <a:effectLst>
            <a:outerShdw blurRad="63500" dist="23000" dir="5400000" rotWithShape="0">
              <a:srgbClr val="000000">
                <a:alpha val="34998"/>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Tahoma" charset="0"/>
              <a:ea typeface="ＭＳ Ｐゴシック" charset="-128"/>
              <a:cs typeface="+mn-cs"/>
            </a:endParaRPr>
          </a:p>
        </p:txBody>
      </p:sp>
    </p:spTree>
    <p:extLst>
      <p:ext uri="{BB962C8B-B14F-4D97-AF65-F5344CB8AC3E}">
        <p14:creationId xmlns:p14="http://schemas.microsoft.com/office/powerpoint/2010/main" val="1826967966"/>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4">
            <a:extLst>
              <a:ext uri="{FF2B5EF4-FFF2-40B4-BE49-F238E27FC236}">
                <a16:creationId xmlns:a16="http://schemas.microsoft.com/office/drawing/2014/main" id="{6C599EA8-303B-8F44-B67E-1E9A7D6B8361}"/>
              </a:ext>
            </a:extLst>
          </p:cNvPr>
          <p:cNvSpPr>
            <a:spLocks noGrp="1" noChangeArrowheads="1"/>
          </p:cNvSpPr>
          <p:nvPr>
            <p:ph type="ctrTitle"/>
          </p:nvPr>
        </p:nvSpPr>
        <p:spPr>
          <a:xfrm>
            <a:off x="467544" y="1124744"/>
            <a:ext cx="8208912" cy="2232248"/>
          </a:xfrm>
        </p:spPr>
        <p:txBody>
          <a:bodyPr/>
          <a:lstStyle/>
          <a:p>
            <a:pPr algn="ctr" eaLnBrk="1" hangingPunct="1"/>
            <a:r>
              <a:rPr lang="en-US" altLang="en-US" sz="4200" dirty="0">
                <a:ea typeface="ＭＳ Ｐゴシック" panose="020B0600070205080204" pitchFamily="34" charset="-128"/>
              </a:rPr>
              <a:t>Asynchronous Data Transfers </a:t>
            </a:r>
            <a:br>
              <a:rPr lang="en-US" altLang="en-US" sz="4200" dirty="0">
                <a:ea typeface="ＭＳ Ｐゴシック" panose="020B0600070205080204" pitchFamily="34" charset="-128"/>
              </a:rPr>
            </a:br>
            <a:r>
              <a:rPr lang="en-US" altLang="en-US" sz="4200" dirty="0">
                <a:ea typeface="ＭＳ Ｐゴシック" panose="020B0600070205080204" pitchFamily="34" charset="-128"/>
              </a:rPr>
              <a:t>between CPU and GPU</a:t>
            </a:r>
          </a:p>
        </p:txBody>
      </p:sp>
      <p:sp>
        <p:nvSpPr>
          <p:cNvPr id="81922" name="Rectangle 5">
            <a:extLst>
              <a:ext uri="{FF2B5EF4-FFF2-40B4-BE49-F238E27FC236}">
                <a16:creationId xmlns:a16="http://schemas.microsoft.com/office/drawing/2014/main" id="{EB66DB82-34C1-994A-A27C-C184C7C5BDDA}"/>
              </a:ext>
            </a:extLst>
          </p:cNvPr>
          <p:cNvSpPr>
            <a:spLocks noGrp="1" noChangeArrowheads="1"/>
          </p:cNvSpPr>
          <p:nvPr>
            <p:ph type="subTitle" idx="1"/>
          </p:nvPr>
        </p:nvSpPr>
        <p:spPr>
          <a:xfrm>
            <a:off x="304800" y="3581400"/>
            <a:ext cx="8458200" cy="2900363"/>
          </a:xfrm>
        </p:spPr>
        <p:txBody>
          <a:bodyPr/>
          <a:lstStyle/>
          <a:p>
            <a:pPr eaLnBrk="1" hangingPunct="1"/>
            <a:endParaRPr lang="en-US" altLang="en-US" i="1">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p:txBody>
      </p:sp>
    </p:spTree>
    <p:extLst>
      <p:ext uri="{BB962C8B-B14F-4D97-AF65-F5344CB8AC3E}">
        <p14:creationId xmlns:p14="http://schemas.microsoft.com/office/powerpoint/2010/main" val="1432733213"/>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n-US" dirty="0"/>
              <a:t>CUDA Streams</a:t>
            </a:r>
          </a:p>
        </p:txBody>
      </p:sp>
      <p:sp>
        <p:nvSpPr>
          <p:cNvPr id="3" name="Marcador de contenido 2"/>
          <p:cNvSpPr>
            <a:spLocks noGrp="1"/>
          </p:cNvSpPr>
          <p:nvPr>
            <p:ph idx="1"/>
          </p:nvPr>
        </p:nvSpPr>
        <p:spPr>
          <a:xfrm>
            <a:off x="228600" y="908721"/>
            <a:ext cx="8610600" cy="5544734"/>
          </a:xfrm>
        </p:spPr>
        <p:txBody>
          <a:bodyPr>
            <a:normAutofit/>
          </a:bodyPr>
          <a:lstStyle/>
          <a:p>
            <a:r>
              <a:rPr lang="en-US" dirty="0">
                <a:solidFill>
                  <a:srgbClr val="0070C0"/>
                </a:solidFill>
              </a:rPr>
              <a:t>CUDA streams </a:t>
            </a:r>
            <a:r>
              <a:rPr lang="en-US" dirty="0"/>
              <a:t>(command queues in OpenCL)</a:t>
            </a:r>
          </a:p>
          <a:p>
            <a:r>
              <a:rPr lang="en-US" dirty="0"/>
              <a:t>S</a:t>
            </a:r>
            <a:r>
              <a:rPr dirty="0"/>
              <a:t>equence of operations that are performed in order</a:t>
            </a:r>
            <a:endParaRPr lang="es-ES_tradnl" dirty="0"/>
          </a:p>
          <a:p>
            <a:pPr lvl="1"/>
            <a:r>
              <a:rPr lang="en-US" dirty="0"/>
              <a:t>1. Data transfer CPU-GPU</a:t>
            </a:r>
          </a:p>
          <a:p>
            <a:pPr lvl="1"/>
            <a:r>
              <a:rPr lang="en-US" dirty="0"/>
              <a:t>2. Kernel execution</a:t>
            </a:r>
          </a:p>
          <a:p>
            <a:pPr lvl="2"/>
            <a:r>
              <a:rPr lang="en-US" dirty="0"/>
              <a:t>D input data instances, B blocks</a:t>
            </a:r>
          </a:p>
          <a:p>
            <a:pPr lvl="2"/>
            <a:r>
              <a:rPr lang="en-US" dirty="0"/>
              <a:t>#Streams: (D / #Streams) data instances, (B / #Streams) blocks</a:t>
            </a:r>
          </a:p>
          <a:p>
            <a:pPr lvl="1"/>
            <a:r>
              <a:rPr lang="en-US" dirty="0"/>
              <a:t>3. Data transfer GPU-CPU</a:t>
            </a:r>
          </a:p>
        </p:txBody>
      </p:sp>
      <p:pic>
        <p:nvPicPr>
          <p:cNvPr id="13" name="Imagen 12" descr="Stream_best_streams.eps"/>
          <p:cNvPicPr>
            <a:picLocks noChangeAspect="1"/>
          </p:cNvPicPr>
          <p:nvPr/>
        </p:nvPicPr>
        <p:blipFill>
          <a:blip r:embed="rId3"/>
          <a:stretch>
            <a:fillRect/>
          </a:stretch>
        </p:blipFill>
        <p:spPr>
          <a:xfrm>
            <a:off x="1233342" y="3905901"/>
            <a:ext cx="6677316" cy="2187395"/>
          </a:xfrm>
          <a:prstGeom prst="rect">
            <a:avLst/>
          </a:prstGeom>
        </p:spPr>
      </p:pic>
      <p:sp>
        <p:nvSpPr>
          <p:cNvPr id="9" name="Slide Number Placeholder 3">
            <a:extLst>
              <a:ext uri="{FF2B5EF4-FFF2-40B4-BE49-F238E27FC236}">
                <a16:creationId xmlns:a16="http://schemas.microsoft.com/office/drawing/2014/main" id="{B8665A90-8118-8748-8EF3-0EBA2F610317}"/>
              </a:ext>
            </a:extLst>
          </p:cNvPr>
          <p:cNvSpPr>
            <a:spLocks noGrp="1"/>
          </p:cNvSpPr>
          <p:nvPr>
            <p:ph type="sldNum" sz="quarter" idx="11"/>
          </p:nvPr>
        </p:nvSpPr>
        <p:spPr>
          <a:xfrm>
            <a:off x="6553200" y="6243638"/>
            <a:ext cx="2133600" cy="4572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3594FA-E141-4234-AE05-360401972BE7}" type="slidenum">
              <a:rPr kumimoji="0" lang="en-US" altLang="en-US" sz="1600" b="0" i="0" u="none" strike="noStrike" kern="1200" cap="none" spc="0" normalizeH="0" baseline="0" noProof="0" smtClean="0">
                <a:ln>
                  <a:noFill/>
                </a:ln>
                <a:solidFill>
                  <a:srgbClr val="000000"/>
                </a:solidFill>
                <a:effectLst/>
                <a:uLnTx/>
                <a:uFillTx/>
                <a:latin typeface="Garamond"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en-US" altLang="en-US" sz="1600" b="0" i="0" u="none" strike="noStrike" kern="1200" cap="none" spc="0" normalizeH="0" baseline="0" noProof="0" dirty="0">
              <a:ln>
                <a:noFill/>
              </a:ln>
              <a:solidFill>
                <a:srgbClr val="000000"/>
              </a:solidFill>
              <a:effectLst/>
              <a:uLnTx/>
              <a:uFillTx/>
              <a:latin typeface="Garamond" pitchFamily="18" charset="0"/>
              <a:ea typeface="+mn-ea"/>
              <a:cs typeface="+mn-cs"/>
            </a:endParaRPr>
          </a:p>
        </p:txBody>
      </p:sp>
    </p:spTree>
    <p:extLst>
      <p:ext uri="{BB962C8B-B14F-4D97-AF65-F5344CB8AC3E}">
        <p14:creationId xmlns:p14="http://schemas.microsoft.com/office/powerpoint/2010/main" val="2024504797"/>
      </p:ext>
    </p:extLst>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8600" y="0"/>
            <a:ext cx="8807896" cy="908720"/>
          </a:xfrm>
        </p:spPr>
        <p:txBody>
          <a:bodyPr>
            <a:normAutofit fontScale="90000"/>
          </a:bodyPr>
          <a:lstStyle/>
          <a:p>
            <a:r>
              <a:rPr lang="en-US" dirty="0"/>
              <a:t>Asynchronous Transfers between CPU &amp; GPU</a:t>
            </a:r>
          </a:p>
        </p:txBody>
      </p:sp>
      <p:sp>
        <p:nvSpPr>
          <p:cNvPr id="3" name="Marcador de contenido 2"/>
          <p:cNvSpPr>
            <a:spLocks noGrp="1"/>
          </p:cNvSpPr>
          <p:nvPr>
            <p:ph idx="1"/>
          </p:nvPr>
        </p:nvSpPr>
        <p:spPr>
          <a:xfrm>
            <a:off x="251520" y="908721"/>
            <a:ext cx="8568952" cy="5472607"/>
          </a:xfrm>
        </p:spPr>
        <p:txBody>
          <a:bodyPr>
            <a:normAutofit/>
          </a:bodyPr>
          <a:lstStyle/>
          <a:p>
            <a:r>
              <a:rPr lang="en-US" dirty="0"/>
              <a:t>Computation </a:t>
            </a:r>
            <a:r>
              <a:rPr lang="en-US" dirty="0">
                <a:solidFill>
                  <a:srgbClr val="0070C0"/>
                </a:solidFill>
              </a:rPr>
              <a:t>divided into #Streams</a:t>
            </a:r>
          </a:p>
          <a:p>
            <a:pPr lvl="1"/>
            <a:r>
              <a:rPr lang="en-US" dirty="0"/>
              <a:t>D input data instances, B blocks</a:t>
            </a:r>
          </a:p>
          <a:p>
            <a:pPr lvl="1"/>
            <a:r>
              <a:rPr lang="en-US" dirty="0"/>
              <a:t>#Streams</a:t>
            </a:r>
          </a:p>
          <a:p>
            <a:pPr lvl="2"/>
            <a:r>
              <a:rPr lang="en-US" dirty="0"/>
              <a:t>D/#Streams data instances</a:t>
            </a:r>
          </a:p>
          <a:p>
            <a:pPr lvl="2"/>
            <a:r>
              <a:rPr lang="en-US" dirty="0"/>
              <a:t>B/#Streams blocks</a:t>
            </a:r>
          </a:p>
          <a:p>
            <a:pPr lvl="2"/>
            <a:endParaRPr lang="en-US" dirty="0"/>
          </a:p>
          <a:p>
            <a:pPr lvl="2"/>
            <a:endParaRPr lang="en-US" dirty="0"/>
          </a:p>
          <a:p>
            <a:pPr lvl="2"/>
            <a:endParaRPr lang="en-US" dirty="0"/>
          </a:p>
          <a:p>
            <a:pPr lvl="2"/>
            <a:endParaRPr lang="en-US" dirty="0"/>
          </a:p>
          <a:p>
            <a:pPr lvl="2"/>
            <a:endParaRPr lang="en-US" dirty="0"/>
          </a:p>
          <a:p>
            <a:pPr lvl="2"/>
            <a:endParaRPr lang="en-US" dirty="0"/>
          </a:p>
          <a:p>
            <a:pPr lvl="1">
              <a:lnSpc>
                <a:spcPct val="90000"/>
              </a:lnSpc>
            </a:pPr>
            <a:endParaRPr lang="en-US" dirty="0"/>
          </a:p>
          <a:p>
            <a:pPr lvl="1">
              <a:lnSpc>
                <a:spcPct val="90000"/>
              </a:lnSpc>
            </a:pPr>
            <a:r>
              <a:rPr lang="en-US" dirty="0"/>
              <a:t>Estimates</a:t>
            </a:r>
          </a:p>
        </p:txBody>
      </p:sp>
      <p:pic>
        <p:nvPicPr>
          <p:cNvPr id="13" name="Imagen 12" descr="Stream_best_streams.eps"/>
          <p:cNvPicPr>
            <a:picLocks noChangeAspect="1"/>
          </p:cNvPicPr>
          <p:nvPr/>
        </p:nvPicPr>
        <p:blipFill>
          <a:blip r:embed="rId3"/>
          <a:stretch>
            <a:fillRect/>
          </a:stretch>
        </p:blipFill>
        <p:spPr>
          <a:xfrm>
            <a:off x="1908384" y="2924944"/>
            <a:ext cx="6120000" cy="2004826"/>
          </a:xfrm>
          <a:prstGeom prst="rect">
            <a:avLst/>
          </a:prstGeom>
        </p:spPr>
      </p:pic>
      <p:sp>
        <p:nvSpPr>
          <p:cNvPr id="5" name="CuadroTexto 4"/>
          <p:cNvSpPr txBox="1"/>
          <p:nvPr/>
        </p:nvSpPr>
        <p:spPr>
          <a:xfrm>
            <a:off x="2450886" y="6021288"/>
            <a:ext cx="291320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err="1">
                <a:ln>
                  <a:noFill/>
                </a:ln>
                <a:solidFill>
                  <a:srgbClr val="000000"/>
                </a:solidFill>
                <a:effectLst/>
                <a:uLnTx/>
                <a:uFillTx/>
                <a:latin typeface="Tahoma"/>
                <a:ea typeface="+mn-ea"/>
                <a:cs typeface="+mn-cs"/>
              </a:rPr>
              <a:t>t</a:t>
            </a:r>
            <a:r>
              <a:rPr kumimoji="0" lang="en-US" sz="1800" b="0" i="1" u="none" strike="noStrike" kern="1200" cap="none" spc="0" normalizeH="0" baseline="-25000" noProof="0" dirty="0" err="1">
                <a:ln>
                  <a:noFill/>
                </a:ln>
                <a:solidFill>
                  <a:srgbClr val="000000"/>
                </a:solidFill>
                <a:effectLst/>
                <a:uLnTx/>
                <a:uFillTx/>
                <a:latin typeface="Tahoma"/>
                <a:ea typeface="+mn-ea"/>
                <a:cs typeface="+mn-cs"/>
              </a:rPr>
              <a:t>E</a:t>
            </a:r>
            <a:r>
              <a:rPr kumimoji="0" lang="en-US" sz="1800" b="0" i="0" u="none" strike="noStrike" kern="1200" cap="none" spc="0" normalizeH="0" baseline="0" noProof="0" dirty="0">
                <a:ln>
                  <a:noFill/>
                </a:ln>
                <a:solidFill>
                  <a:srgbClr val="000000"/>
                </a:solidFill>
                <a:effectLst/>
                <a:uLnTx/>
                <a:uFillTx/>
                <a:latin typeface="Tahoma"/>
                <a:ea typeface="+mn-ea"/>
                <a:cs typeface="+mn-cs"/>
              </a:rPr>
              <a:t> &gt;= </a:t>
            </a:r>
            <a:r>
              <a:rPr kumimoji="0" lang="en-US" sz="1800" b="0" i="1" u="none" strike="noStrike" kern="1200" cap="none" spc="0" normalizeH="0" baseline="0" noProof="0" dirty="0" err="1">
                <a:ln>
                  <a:noFill/>
                </a:ln>
                <a:solidFill>
                  <a:srgbClr val="000000"/>
                </a:solidFill>
                <a:effectLst/>
                <a:uLnTx/>
                <a:uFillTx/>
                <a:latin typeface="Tahoma"/>
                <a:ea typeface="+mn-ea"/>
                <a:cs typeface="+mn-cs"/>
              </a:rPr>
              <a:t>t</a:t>
            </a:r>
            <a:r>
              <a:rPr kumimoji="0" lang="en-US" sz="1800" b="0" i="1" u="none" strike="noStrike" kern="1200" cap="none" spc="0" normalizeH="0" baseline="-25000" noProof="0" dirty="0" err="1">
                <a:ln>
                  <a:noFill/>
                </a:ln>
                <a:solidFill>
                  <a:srgbClr val="000000"/>
                </a:solidFill>
                <a:effectLst/>
                <a:uLnTx/>
                <a:uFillTx/>
                <a:latin typeface="Tahoma"/>
                <a:ea typeface="+mn-ea"/>
                <a:cs typeface="+mn-cs"/>
              </a:rPr>
              <a:t>T</a:t>
            </a:r>
            <a:r>
              <a:rPr kumimoji="0" lang="en-US" sz="1800" b="0" i="0" u="none" strike="noStrike" kern="1200" cap="none" spc="0" normalizeH="0" baseline="0" noProof="0" dirty="0">
                <a:ln>
                  <a:noFill/>
                </a:ln>
                <a:solidFill>
                  <a:srgbClr val="000000"/>
                </a:solidFill>
                <a:effectLst/>
                <a:uLnTx/>
                <a:uFillTx/>
                <a:latin typeface="Tahoma"/>
                <a:ea typeface="+mn-ea"/>
                <a:cs typeface="+mn-cs"/>
              </a:rPr>
              <a:t> (dominant kernel)</a:t>
            </a:r>
          </a:p>
        </p:txBody>
      </p:sp>
      <p:sp>
        <p:nvSpPr>
          <p:cNvPr id="8" name="CuadroTexto 7"/>
          <p:cNvSpPr txBox="1"/>
          <p:nvPr/>
        </p:nvSpPr>
        <p:spPr>
          <a:xfrm>
            <a:off x="5796136" y="6011996"/>
            <a:ext cx="30129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err="1">
                <a:ln>
                  <a:noFill/>
                </a:ln>
                <a:solidFill>
                  <a:srgbClr val="000000"/>
                </a:solidFill>
                <a:effectLst/>
                <a:uLnTx/>
                <a:uFillTx/>
                <a:latin typeface="Tahoma"/>
                <a:ea typeface="+mn-ea"/>
                <a:cs typeface="+mn-cs"/>
              </a:rPr>
              <a:t>t</a:t>
            </a:r>
            <a:r>
              <a:rPr kumimoji="0" lang="en-US" sz="1800" b="0" i="1" u="none" strike="noStrike" kern="1200" cap="none" spc="0" normalizeH="0" baseline="-25000" noProof="0" dirty="0" err="1">
                <a:ln>
                  <a:noFill/>
                </a:ln>
                <a:solidFill>
                  <a:srgbClr val="000000"/>
                </a:solidFill>
                <a:effectLst/>
                <a:uLnTx/>
                <a:uFillTx/>
                <a:latin typeface="Tahoma"/>
                <a:ea typeface="+mn-ea"/>
                <a:cs typeface="+mn-cs"/>
              </a:rPr>
              <a:t>T</a:t>
            </a:r>
            <a:r>
              <a:rPr kumimoji="0" lang="en-US" sz="1800" b="0" i="0" u="none" strike="noStrike" kern="1200" cap="none" spc="0" normalizeH="0" baseline="0" noProof="0" dirty="0">
                <a:ln>
                  <a:noFill/>
                </a:ln>
                <a:solidFill>
                  <a:srgbClr val="000000"/>
                </a:solidFill>
                <a:effectLst/>
                <a:uLnTx/>
                <a:uFillTx/>
                <a:latin typeface="Tahoma"/>
                <a:ea typeface="+mn-ea"/>
                <a:cs typeface="+mn-cs"/>
              </a:rPr>
              <a:t> &gt; </a:t>
            </a:r>
            <a:r>
              <a:rPr kumimoji="0" lang="en-US" sz="1800" b="0" i="1" u="none" strike="noStrike" kern="1200" cap="none" spc="0" normalizeH="0" baseline="0" noProof="0" dirty="0" err="1">
                <a:ln>
                  <a:noFill/>
                </a:ln>
                <a:solidFill>
                  <a:srgbClr val="000000"/>
                </a:solidFill>
                <a:effectLst/>
                <a:uLnTx/>
                <a:uFillTx/>
                <a:latin typeface="Tahoma"/>
                <a:ea typeface="+mn-ea"/>
                <a:cs typeface="+mn-cs"/>
              </a:rPr>
              <a:t>t</a:t>
            </a:r>
            <a:r>
              <a:rPr kumimoji="0" lang="en-US" sz="1800" b="0" i="1" u="none" strike="noStrike" kern="1200" cap="none" spc="0" normalizeH="0" baseline="-25000" noProof="0" dirty="0" err="1">
                <a:ln>
                  <a:noFill/>
                </a:ln>
                <a:solidFill>
                  <a:srgbClr val="000000"/>
                </a:solidFill>
                <a:effectLst/>
                <a:uLnTx/>
                <a:uFillTx/>
                <a:latin typeface="Tahoma"/>
                <a:ea typeface="+mn-ea"/>
                <a:cs typeface="+mn-cs"/>
              </a:rPr>
              <a:t>E</a:t>
            </a:r>
            <a:r>
              <a:rPr kumimoji="0" lang="en-US" sz="1800" b="0" i="0" u="none" strike="noStrike" kern="1200" cap="none" spc="0" normalizeH="0" baseline="0" noProof="0" dirty="0">
                <a:ln>
                  <a:noFill/>
                </a:ln>
                <a:solidFill>
                  <a:srgbClr val="000000"/>
                </a:solidFill>
                <a:effectLst/>
                <a:uLnTx/>
                <a:uFillTx/>
                <a:latin typeface="Tahoma"/>
                <a:ea typeface="+mn-ea"/>
                <a:cs typeface="+mn-cs"/>
              </a:rPr>
              <a:t> (dominant transfers)</a:t>
            </a:r>
          </a:p>
        </p:txBody>
      </p:sp>
      <p:sp>
        <p:nvSpPr>
          <p:cNvPr id="4" name="Marcador de número de diapositiva 3"/>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3594FA-E141-4234-AE05-360401972BE7}" type="slidenum">
              <a:rPr kumimoji="0" lang="en-US" altLang="en-US" sz="1600" b="0" i="0" u="none" strike="noStrike" kern="1200" cap="none" spc="0" normalizeH="0" baseline="0" noProof="0" smtClean="0">
                <a:ln>
                  <a:noFill/>
                </a:ln>
                <a:solidFill>
                  <a:srgbClr val="000000"/>
                </a:solidFill>
                <a:effectLst/>
                <a:uLnTx/>
                <a:uFillTx/>
                <a:latin typeface="Garamond"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82</a:t>
            </a:fld>
            <a:endParaRPr kumimoji="0" lang="en-US" altLang="en-US" sz="1600" b="0" i="0" u="none" strike="noStrike" kern="1200" cap="none" spc="0" normalizeH="0" baseline="0" noProof="0">
              <a:ln>
                <a:noFill/>
              </a:ln>
              <a:solidFill>
                <a:srgbClr val="000000"/>
              </a:solidFill>
              <a:effectLst/>
              <a:uLnTx/>
              <a:uFillTx/>
              <a:latin typeface="Garamond" pitchFamily="18" charset="0"/>
              <a:ea typeface="+mn-ea"/>
              <a:cs typeface="+mn-cs"/>
            </a:endParaRPr>
          </a:p>
        </p:txBody>
      </p:sp>
      <p:sp>
        <p:nvSpPr>
          <p:cNvPr id="9" name="TextBox 8">
            <a:extLst>
              <a:ext uri="{FF2B5EF4-FFF2-40B4-BE49-F238E27FC236}">
                <a16:creationId xmlns:a16="http://schemas.microsoft.com/office/drawing/2014/main" id="{E37DCE7F-AE68-394C-BCFE-C42646249BF1}"/>
              </a:ext>
            </a:extLst>
          </p:cNvPr>
          <p:cNvSpPr txBox="1"/>
          <p:nvPr/>
        </p:nvSpPr>
        <p:spPr>
          <a:xfrm>
            <a:off x="269174" y="3356992"/>
            <a:ext cx="135049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Tahoma"/>
                <a:ea typeface="+mn-ea"/>
                <a:cs typeface="+mn-cs"/>
              </a:rPr>
              <a:t>Default stream</a:t>
            </a:r>
          </a:p>
        </p:txBody>
      </p:sp>
      <p:sp>
        <p:nvSpPr>
          <p:cNvPr id="11" name="TextBox 10">
            <a:extLst>
              <a:ext uri="{FF2B5EF4-FFF2-40B4-BE49-F238E27FC236}">
                <a16:creationId xmlns:a16="http://schemas.microsoft.com/office/drawing/2014/main" id="{6D9D95BA-9C3E-6D4A-97BA-0312401A3EB5}"/>
              </a:ext>
            </a:extLst>
          </p:cNvPr>
          <p:cNvSpPr txBox="1"/>
          <p:nvPr/>
        </p:nvSpPr>
        <p:spPr>
          <a:xfrm>
            <a:off x="269174" y="4437112"/>
            <a:ext cx="143795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Tahoma"/>
                <a:ea typeface="+mn-ea"/>
                <a:cs typeface="+mn-cs"/>
              </a:rPr>
              <a:t>Several streams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DA49AC2-F2E8-1D4C-B8DC-4E949241EB1C}"/>
                  </a:ext>
                </a:extLst>
              </p:cNvPr>
              <p:cNvSpPr txBox="1"/>
              <p:nvPr/>
            </p:nvSpPr>
            <p:spPr>
              <a:xfrm>
                <a:off x="2843808" y="5337573"/>
                <a:ext cx="1919756" cy="61170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2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s-ES" sz="22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𝑡</m:t>
                          </m:r>
                        </m:e>
                        <m:sub>
                          <m:r>
                            <a:rPr kumimoji="0" lang="es-ES" sz="22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𝐸</m:t>
                          </m:r>
                        </m:sub>
                      </m:sSub>
                      <m:r>
                        <a:rPr kumimoji="0" lang="es-ES" sz="22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ctrlPr>
                            <a:rPr kumimoji="0" lang="es-ES" sz="22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sSub>
                            <m:sSubPr>
                              <m:ctrlPr>
                                <a:rPr kumimoji="0" lang="es-ES" sz="22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s-ES" sz="22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𝑡</m:t>
                              </m:r>
                            </m:e>
                            <m:sub>
                              <m:r>
                                <a:rPr kumimoji="0" lang="es-ES" sz="22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𝑇</m:t>
                              </m:r>
                            </m:sub>
                          </m:sSub>
                        </m:num>
                        <m:den>
                          <m:r>
                            <a:rPr kumimoji="0" lang="es-ES" sz="22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s-ES" sz="22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𝑆𝑡𝑟𝑒𝑎𝑚𝑠</m:t>
                          </m:r>
                        </m:den>
                      </m:f>
                    </m:oMath>
                  </m:oMathPara>
                </a14:m>
                <a:endParaRPr kumimoji="0" lang="en-US" sz="2200" b="0" i="0" u="none" strike="noStrike" kern="1200" cap="none" spc="0" normalizeH="0" baseline="0" noProof="0" dirty="0">
                  <a:ln>
                    <a:noFill/>
                  </a:ln>
                  <a:solidFill>
                    <a:srgbClr val="000000"/>
                  </a:solidFill>
                  <a:effectLst/>
                  <a:uLnTx/>
                  <a:uFillTx/>
                  <a:latin typeface="Tahoma"/>
                  <a:ea typeface="+mn-ea"/>
                  <a:cs typeface="+mn-cs"/>
                </a:endParaRPr>
              </a:p>
            </p:txBody>
          </p:sp>
        </mc:Choice>
        <mc:Fallback xmlns="">
          <p:sp>
            <p:nvSpPr>
              <p:cNvPr id="10" name="TextBox 9">
                <a:extLst>
                  <a:ext uri="{FF2B5EF4-FFF2-40B4-BE49-F238E27FC236}">
                    <a16:creationId xmlns:a16="http://schemas.microsoft.com/office/drawing/2014/main" id="{2DA49AC2-F2E8-1D4C-B8DC-4E949241EB1C}"/>
                  </a:ext>
                </a:extLst>
              </p:cNvPr>
              <p:cNvSpPr txBox="1">
                <a:spLocks noRot="1" noChangeAspect="1" noMove="1" noResize="1" noEditPoints="1" noAdjustHandles="1" noChangeArrowheads="1" noChangeShapeType="1" noTextEdit="1"/>
              </p:cNvSpPr>
              <p:nvPr/>
            </p:nvSpPr>
            <p:spPr>
              <a:xfrm>
                <a:off x="2843808" y="5337573"/>
                <a:ext cx="1919756" cy="611706"/>
              </a:xfrm>
              <a:prstGeom prst="rect">
                <a:avLst/>
              </a:prstGeom>
              <a:blipFill>
                <a:blip r:embed="rId4"/>
                <a:stretch>
                  <a:fillRect l="-1987" r="-2649"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BC847BE-B700-AC45-A696-85866C3856B9}"/>
                  </a:ext>
                </a:extLst>
              </p:cNvPr>
              <p:cNvSpPr txBox="1"/>
              <p:nvPr/>
            </p:nvSpPr>
            <p:spPr>
              <a:xfrm>
                <a:off x="6300192" y="5337573"/>
                <a:ext cx="1923219" cy="61170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2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s-ES" sz="22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𝑡</m:t>
                          </m:r>
                        </m:e>
                        <m:sub>
                          <m:r>
                            <a:rPr kumimoji="0" lang="es-ES" sz="22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𝑇</m:t>
                          </m:r>
                        </m:sub>
                      </m:sSub>
                      <m:r>
                        <a:rPr kumimoji="0" lang="es-ES" sz="22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ctrlPr>
                            <a:rPr kumimoji="0" lang="es-ES" sz="22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sSub>
                            <m:sSubPr>
                              <m:ctrlPr>
                                <a:rPr kumimoji="0" lang="es-ES" sz="22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s-ES" sz="22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𝑡</m:t>
                              </m:r>
                            </m:e>
                            <m:sub>
                              <m:r>
                                <a:rPr kumimoji="0" lang="es-ES" sz="22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𝐸</m:t>
                              </m:r>
                            </m:sub>
                          </m:sSub>
                        </m:num>
                        <m:den>
                          <m:r>
                            <a:rPr kumimoji="0" lang="es-ES" sz="22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s-ES" sz="22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𝑆𝑡𝑟𝑒𝑎𝑚𝑠</m:t>
                          </m:r>
                        </m:den>
                      </m:f>
                    </m:oMath>
                  </m:oMathPara>
                </a14:m>
                <a:endParaRPr kumimoji="0" lang="en-US" sz="2200" b="0" i="0" u="none" strike="noStrike" kern="1200" cap="none" spc="0" normalizeH="0" baseline="0" noProof="0" dirty="0">
                  <a:ln>
                    <a:noFill/>
                  </a:ln>
                  <a:solidFill>
                    <a:srgbClr val="000000"/>
                  </a:solidFill>
                  <a:effectLst/>
                  <a:uLnTx/>
                  <a:uFillTx/>
                  <a:latin typeface="Tahoma"/>
                  <a:ea typeface="+mn-ea"/>
                  <a:cs typeface="+mn-cs"/>
                </a:endParaRPr>
              </a:p>
            </p:txBody>
          </p:sp>
        </mc:Choice>
        <mc:Fallback xmlns="">
          <p:sp>
            <p:nvSpPr>
              <p:cNvPr id="14" name="TextBox 13">
                <a:extLst>
                  <a:ext uri="{FF2B5EF4-FFF2-40B4-BE49-F238E27FC236}">
                    <a16:creationId xmlns:a16="http://schemas.microsoft.com/office/drawing/2014/main" id="{ABC847BE-B700-AC45-A696-85866C3856B9}"/>
                  </a:ext>
                </a:extLst>
              </p:cNvPr>
              <p:cNvSpPr txBox="1">
                <a:spLocks noRot="1" noChangeAspect="1" noMove="1" noResize="1" noEditPoints="1" noAdjustHandles="1" noChangeArrowheads="1" noChangeShapeType="1" noTextEdit="1"/>
              </p:cNvSpPr>
              <p:nvPr/>
            </p:nvSpPr>
            <p:spPr>
              <a:xfrm>
                <a:off x="6300192" y="5337573"/>
                <a:ext cx="1923219" cy="611706"/>
              </a:xfrm>
              <a:prstGeom prst="rect">
                <a:avLst/>
              </a:prstGeom>
              <a:blipFill>
                <a:blip r:embed="rId5"/>
                <a:stretch>
                  <a:fillRect l="-1307" r="-1961" b="-14286"/>
                </a:stretch>
              </a:blipFill>
            </p:spPr>
            <p:txBody>
              <a:bodyPr/>
              <a:lstStyle/>
              <a:p>
                <a:r>
                  <a:rPr lang="en-US">
                    <a:noFill/>
                  </a:rPr>
                  <a:t> </a:t>
                </a:r>
              </a:p>
            </p:txBody>
          </p:sp>
        </mc:Fallback>
      </mc:AlternateContent>
    </p:spTree>
    <p:extLst>
      <p:ext uri="{BB962C8B-B14F-4D97-AF65-F5344CB8AC3E}">
        <p14:creationId xmlns:p14="http://schemas.microsoft.com/office/powerpoint/2010/main" val="47553530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P spid="11" grpId="0"/>
      <p:bldP spid="10" grpId="0"/>
      <p:bldP spid="14"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Marcador de número de diapositiva 8"/>
          <p:cNvSpPr>
            <a:spLocks noGrp="1"/>
          </p:cNvSpPr>
          <p:nvPr>
            <p:ph type="sldNum" sz="quarter" idx="12"/>
          </p:nvPr>
        </p:nvSpPr>
        <p:spPr>
          <a:xfrm>
            <a:off x="8735326" y="6504317"/>
            <a:ext cx="2844059" cy="365125"/>
          </a:xfrm>
          <a:prstGeom prst="rect">
            <a:avLst/>
          </a:prstGeom>
        </p:spPr>
        <p:txBody>
          <a:bodyPr vert="horz" lIns="117200" tIns="58600" rIns="117200" bIns="58600" rtlCol="0" anchor="ctr"/>
          <a:lstStyle>
            <a:defPPr>
              <a:defRPr lang="es-ES"/>
            </a:defPPr>
            <a:lvl1pPr marL="0" algn="r" defTabSz="585999" rtl="0" eaLnBrk="1" latinLnBrk="0" hangingPunct="1">
              <a:defRPr sz="1300" kern="1200">
                <a:solidFill>
                  <a:schemeClr val="tx1">
                    <a:tint val="75000"/>
                  </a:schemeClr>
                </a:solidFill>
                <a:latin typeface="+mn-lt"/>
                <a:ea typeface="+mn-ea"/>
                <a:cs typeface="+mn-cs"/>
              </a:defRPr>
            </a:lvl1pPr>
            <a:lvl2pPr marL="585999" algn="l" defTabSz="585999" rtl="0" eaLnBrk="1" latinLnBrk="0" hangingPunct="1">
              <a:defRPr sz="2300" kern="1200">
                <a:solidFill>
                  <a:schemeClr val="tx1"/>
                </a:solidFill>
                <a:latin typeface="+mn-lt"/>
                <a:ea typeface="+mn-ea"/>
                <a:cs typeface="+mn-cs"/>
              </a:defRPr>
            </a:lvl2pPr>
            <a:lvl3pPr marL="1171998" algn="l" defTabSz="585999" rtl="0" eaLnBrk="1" latinLnBrk="0" hangingPunct="1">
              <a:defRPr sz="2300" kern="1200">
                <a:solidFill>
                  <a:schemeClr val="tx1"/>
                </a:solidFill>
                <a:latin typeface="+mn-lt"/>
                <a:ea typeface="+mn-ea"/>
                <a:cs typeface="+mn-cs"/>
              </a:defRPr>
            </a:lvl3pPr>
            <a:lvl4pPr marL="1757998" algn="l" defTabSz="585999" rtl="0" eaLnBrk="1" latinLnBrk="0" hangingPunct="1">
              <a:defRPr sz="2300" kern="1200">
                <a:solidFill>
                  <a:schemeClr val="tx1"/>
                </a:solidFill>
                <a:latin typeface="+mn-lt"/>
                <a:ea typeface="+mn-ea"/>
                <a:cs typeface="+mn-cs"/>
              </a:defRPr>
            </a:lvl4pPr>
            <a:lvl5pPr marL="2343997" algn="l" defTabSz="585999" rtl="0" eaLnBrk="1" latinLnBrk="0" hangingPunct="1">
              <a:defRPr sz="2300" kern="1200">
                <a:solidFill>
                  <a:schemeClr val="tx1"/>
                </a:solidFill>
                <a:latin typeface="+mn-lt"/>
                <a:ea typeface="+mn-ea"/>
                <a:cs typeface="+mn-cs"/>
              </a:defRPr>
            </a:lvl5pPr>
            <a:lvl6pPr marL="2929996" algn="l" defTabSz="585999" rtl="0" eaLnBrk="1" latinLnBrk="0" hangingPunct="1">
              <a:defRPr sz="2300" kern="1200">
                <a:solidFill>
                  <a:schemeClr val="tx1"/>
                </a:solidFill>
                <a:latin typeface="+mn-lt"/>
                <a:ea typeface="+mn-ea"/>
                <a:cs typeface="+mn-cs"/>
              </a:defRPr>
            </a:lvl6pPr>
            <a:lvl7pPr marL="3515995" algn="l" defTabSz="585999" rtl="0" eaLnBrk="1" latinLnBrk="0" hangingPunct="1">
              <a:defRPr sz="2300" kern="1200">
                <a:solidFill>
                  <a:schemeClr val="tx1"/>
                </a:solidFill>
                <a:latin typeface="+mn-lt"/>
                <a:ea typeface="+mn-ea"/>
                <a:cs typeface="+mn-cs"/>
              </a:defRPr>
            </a:lvl7pPr>
            <a:lvl8pPr marL="4101995" algn="l" defTabSz="585999" rtl="0" eaLnBrk="1" latinLnBrk="0" hangingPunct="1">
              <a:defRPr sz="2300" kern="1200">
                <a:solidFill>
                  <a:schemeClr val="tx1"/>
                </a:solidFill>
                <a:latin typeface="+mn-lt"/>
                <a:ea typeface="+mn-ea"/>
                <a:cs typeface="+mn-cs"/>
              </a:defRPr>
            </a:lvl8pPr>
            <a:lvl9pPr marL="4687994" algn="l" defTabSz="585999" rtl="0" eaLnBrk="1" latinLnBrk="0" hangingPunct="1">
              <a:defRPr sz="2300" kern="1200">
                <a:solidFill>
                  <a:schemeClr val="tx1"/>
                </a:solidFill>
                <a:latin typeface="+mn-lt"/>
                <a:ea typeface="+mn-ea"/>
                <a:cs typeface="+mn-cs"/>
              </a:defRPr>
            </a:lvl9pPr>
          </a:lstStyle>
          <a:p>
            <a:pPr marL="0" marR="0" lvl="0" indent="0" algn="r" defTabSz="585999" rtl="0" eaLnBrk="1" fontAlgn="auto" latinLnBrk="0" hangingPunct="1">
              <a:lnSpc>
                <a:spcPct val="100000"/>
              </a:lnSpc>
              <a:spcBef>
                <a:spcPts val="0"/>
              </a:spcBef>
              <a:spcAft>
                <a:spcPts val="0"/>
              </a:spcAft>
              <a:buClrTx/>
              <a:buSzTx/>
              <a:buFontTx/>
              <a:buNone/>
              <a:tabLst/>
              <a:defRPr/>
            </a:pPr>
            <a:fld id="{669B3D8F-BA00-2E49-BD66-8B99874540CC}" type="slidenum">
              <a:rPr kumimoji="0" lang="en-US" sz="1300" b="0" i="0" u="none" strike="noStrike" kern="1200" cap="none" spc="0" normalizeH="0" baseline="0" noProof="0" smtClean="0">
                <a:ln>
                  <a:noFill/>
                </a:ln>
                <a:solidFill>
                  <a:srgbClr val="000000">
                    <a:tint val="75000"/>
                  </a:srgbClr>
                </a:solidFill>
                <a:effectLst/>
                <a:uLnTx/>
                <a:uFillTx/>
                <a:latin typeface="Tahoma"/>
                <a:ea typeface="+mn-ea"/>
                <a:cs typeface="+mn-cs"/>
              </a:rPr>
              <a:pPr marL="0" marR="0" lvl="0" indent="0" algn="r" defTabSz="585999" rtl="0" eaLnBrk="1" fontAlgn="auto" latinLnBrk="0" hangingPunct="1">
                <a:lnSpc>
                  <a:spcPct val="100000"/>
                </a:lnSpc>
                <a:spcBef>
                  <a:spcPts val="0"/>
                </a:spcBef>
                <a:spcAft>
                  <a:spcPts val="0"/>
                </a:spcAft>
                <a:buClrTx/>
                <a:buSzTx/>
                <a:buFontTx/>
                <a:buNone/>
                <a:tabLst/>
                <a:defRPr/>
              </a:pPr>
              <a:t>83</a:t>
            </a:fld>
            <a:endParaRPr kumimoji="0" lang="en-US" sz="1300" b="0" i="0" u="none" strike="noStrike" kern="1200" cap="none" spc="0" normalizeH="0" baseline="0" noProof="0">
              <a:ln>
                <a:noFill/>
              </a:ln>
              <a:solidFill>
                <a:srgbClr val="000000">
                  <a:tint val="75000"/>
                </a:srgbClr>
              </a:solidFill>
              <a:effectLst/>
              <a:uLnTx/>
              <a:uFillTx/>
              <a:latin typeface="Tahoma"/>
              <a:ea typeface="+mn-ea"/>
              <a:cs typeface="+mn-cs"/>
            </a:endParaRPr>
          </a:p>
        </p:txBody>
      </p:sp>
      <p:sp>
        <p:nvSpPr>
          <p:cNvPr id="271" name="Title 4">
            <a:extLst>
              <a:ext uri="{FF2B5EF4-FFF2-40B4-BE49-F238E27FC236}">
                <a16:creationId xmlns:a16="http://schemas.microsoft.com/office/drawing/2014/main" id="{6F92FEE4-E178-8647-BCD3-79ACB3D37227}"/>
              </a:ext>
            </a:extLst>
          </p:cNvPr>
          <p:cNvSpPr txBox="1">
            <a:spLocks/>
          </p:cNvSpPr>
          <p:nvPr/>
        </p:nvSpPr>
        <p:spPr>
          <a:xfrm>
            <a:off x="228600" y="0"/>
            <a:ext cx="8915400" cy="908720"/>
          </a:xfrm>
          <a:prstGeom prst="rect">
            <a:avLst/>
          </a:prstGeom>
        </p:spPr>
        <p:txBody>
          <a:bodyPr anchor="ctr"/>
          <a:lst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Garamond" pitchFamily="18" charset="0"/>
              </a:defRPr>
            </a:lvl2pPr>
            <a:lvl3pPr algn="l" rtl="0" eaLnBrk="0" fontAlgn="base" hangingPunct="0">
              <a:spcBef>
                <a:spcPct val="0"/>
              </a:spcBef>
              <a:spcAft>
                <a:spcPct val="0"/>
              </a:spcAft>
              <a:defRPr sz="4000">
                <a:solidFill>
                  <a:schemeClr val="tx2"/>
                </a:solidFill>
                <a:latin typeface="Garamond" pitchFamily="18" charset="0"/>
              </a:defRPr>
            </a:lvl3pPr>
            <a:lvl4pPr algn="l" rtl="0" eaLnBrk="0" fontAlgn="base" hangingPunct="0">
              <a:spcBef>
                <a:spcPct val="0"/>
              </a:spcBef>
              <a:spcAft>
                <a:spcPct val="0"/>
              </a:spcAft>
              <a:defRPr sz="4000">
                <a:solidFill>
                  <a:schemeClr val="tx2"/>
                </a:solidFill>
                <a:latin typeface="Garamond" pitchFamily="18" charset="0"/>
              </a:defRPr>
            </a:lvl4pPr>
            <a:lvl5pPr algn="l" rtl="0" eaLnBrk="0" fontAlgn="base" hangingPunct="0">
              <a:spcBef>
                <a:spcPct val="0"/>
              </a:spcBef>
              <a:spcAft>
                <a:spcPct val="0"/>
              </a:spcAft>
              <a:defRPr sz="4000">
                <a:solidFill>
                  <a:schemeClr val="tx2"/>
                </a:solidFill>
                <a:latin typeface="Garamond" pitchFamily="18" charset="0"/>
              </a:defRPr>
            </a:lvl5pPr>
            <a:lvl6pPr marL="457200" algn="l" rtl="0" fontAlgn="base">
              <a:spcBef>
                <a:spcPct val="0"/>
              </a:spcBef>
              <a:spcAft>
                <a:spcPct val="0"/>
              </a:spcAft>
              <a:defRPr sz="4000">
                <a:solidFill>
                  <a:schemeClr val="tx2"/>
                </a:solidFill>
                <a:latin typeface="Garamond" pitchFamily="18" charset="0"/>
              </a:defRPr>
            </a:lvl6pPr>
            <a:lvl7pPr marL="914400" algn="l" rtl="0" fontAlgn="base">
              <a:spcBef>
                <a:spcPct val="0"/>
              </a:spcBef>
              <a:spcAft>
                <a:spcPct val="0"/>
              </a:spcAft>
              <a:defRPr sz="4000">
                <a:solidFill>
                  <a:schemeClr val="tx2"/>
                </a:solidFill>
                <a:latin typeface="Garamond" pitchFamily="18" charset="0"/>
              </a:defRPr>
            </a:lvl7pPr>
            <a:lvl8pPr marL="1371600" algn="l" rtl="0" fontAlgn="base">
              <a:spcBef>
                <a:spcPct val="0"/>
              </a:spcBef>
              <a:spcAft>
                <a:spcPct val="0"/>
              </a:spcAft>
              <a:defRPr sz="4000">
                <a:solidFill>
                  <a:schemeClr val="tx2"/>
                </a:solidFill>
                <a:latin typeface="Garamond" pitchFamily="18" charset="0"/>
              </a:defRPr>
            </a:lvl8pPr>
            <a:lvl9pPr marL="1828800" algn="l" rtl="0" fontAlgn="base">
              <a:spcBef>
                <a:spcPct val="0"/>
              </a:spcBef>
              <a:spcAft>
                <a:spcPct val="0"/>
              </a:spcAft>
              <a:defRPr sz="4000">
                <a:solidFill>
                  <a:schemeClr val="tx2"/>
                </a:solidFill>
                <a:latin typeface="Garamond"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600" b="0" i="0" u="none" strike="noStrike" kern="0" cap="none" spc="0" normalizeH="0" baseline="0" noProof="0" dirty="0">
                <a:ln>
                  <a:noFill/>
                </a:ln>
                <a:solidFill>
                  <a:srgbClr val="006633"/>
                </a:solidFill>
                <a:effectLst/>
                <a:uLnTx/>
                <a:uFillTx/>
                <a:latin typeface="Garamond"/>
                <a:ea typeface="+mj-ea"/>
                <a:cs typeface="+mj-cs"/>
              </a:rPr>
              <a:t>Overlap of Data Transfers and Kernel Execution</a:t>
            </a:r>
          </a:p>
        </p:txBody>
      </p:sp>
      <p:sp>
        <p:nvSpPr>
          <p:cNvPr id="272" name="Slide Number Placeholder 3">
            <a:extLst>
              <a:ext uri="{FF2B5EF4-FFF2-40B4-BE49-F238E27FC236}">
                <a16:creationId xmlns:a16="http://schemas.microsoft.com/office/drawing/2014/main" id="{90AEC657-24C1-0C45-9046-6F8A098248F0}"/>
              </a:ext>
            </a:extLst>
          </p:cNvPr>
          <p:cNvSpPr>
            <a:spLocks noGrp="1"/>
          </p:cNvSpPr>
          <p:nvPr>
            <p:ph type="sldNum" sz="quarter" idx="11"/>
          </p:nvPr>
        </p:nvSpPr>
        <p:spPr>
          <a:xfrm>
            <a:off x="6553200" y="6243638"/>
            <a:ext cx="2133600" cy="4572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3594FA-E141-4234-AE05-360401972BE7}" type="slidenum">
              <a:rPr kumimoji="0" lang="en-US" altLang="en-US" sz="1600" b="0" i="0" u="none" strike="noStrike" kern="1200" cap="none" spc="0" normalizeH="0" baseline="0" noProof="0" smtClean="0">
                <a:ln>
                  <a:noFill/>
                </a:ln>
                <a:solidFill>
                  <a:srgbClr val="000000"/>
                </a:solidFill>
                <a:effectLst/>
                <a:uLnTx/>
                <a:uFillTx/>
                <a:latin typeface="Garamond"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en-US" altLang="en-US" sz="1600" b="0" i="0" u="none" strike="noStrike" kern="1200" cap="none" spc="0" normalizeH="0" baseline="0" noProof="0" dirty="0">
              <a:ln>
                <a:noFill/>
              </a:ln>
              <a:solidFill>
                <a:srgbClr val="000000"/>
              </a:solidFill>
              <a:effectLst/>
              <a:uLnTx/>
              <a:uFillTx/>
              <a:latin typeface="Garamond" pitchFamily="18" charset="0"/>
              <a:ea typeface="+mn-ea"/>
              <a:cs typeface="+mn-cs"/>
            </a:endParaRPr>
          </a:p>
        </p:txBody>
      </p:sp>
      <p:sp>
        <p:nvSpPr>
          <p:cNvPr id="3" name="TextBox 2">
            <a:extLst>
              <a:ext uri="{FF2B5EF4-FFF2-40B4-BE49-F238E27FC236}">
                <a16:creationId xmlns:a16="http://schemas.microsoft.com/office/drawing/2014/main" id="{65105F9B-0BD2-5345-AC04-7C5758CDC32C}"/>
              </a:ext>
            </a:extLst>
          </p:cNvPr>
          <p:cNvSpPr txBox="1"/>
          <p:nvPr/>
        </p:nvSpPr>
        <p:spPr>
          <a:xfrm>
            <a:off x="654631" y="1086991"/>
            <a:ext cx="8273419" cy="507831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DC3E6"/>
                </a:solidFill>
                <a:effectLst/>
                <a:uLnTx/>
                <a:uFillTx/>
                <a:latin typeface="Courier" pitchFamily="2" charset="0"/>
                <a:ea typeface="+mn-ea"/>
                <a:cs typeface="+mn-cs"/>
              </a:rPr>
              <a:t>// Create streams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ourier" pitchFamily="2" charset="0"/>
                <a:ea typeface="+mn-ea"/>
                <a:cs typeface="+mn-cs"/>
              </a:rPr>
              <a:t>int</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number_of_streams</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 </a:t>
            </a:r>
            <a:r>
              <a:rPr kumimoji="0" lang="en-US" sz="1200" b="0" i="0" u="none" strike="noStrike" kern="1200" cap="none" spc="0" normalizeH="0" baseline="0" noProof="0" dirty="0">
                <a:ln>
                  <a:noFill/>
                </a:ln>
                <a:solidFill>
                  <a:srgbClr val="CC9900"/>
                </a:solidFill>
                <a:effectLst/>
                <a:uLnTx/>
                <a:uFillTx/>
                <a:latin typeface="Courier" pitchFamily="2" charset="0"/>
                <a:ea typeface="+mn-ea"/>
                <a:cs typeface="+mn-cs"/>
              </a:rPr>
              <a:t>32</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cudaStream_t</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stream[</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number_of_streams</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a:ln>
                  <a:noFill/>
                </a:ln>
                <a:solidFill>
                  <a:srgbClr val="9DC3E6"/>
                </a:solidFill>
                <a:effectLst/>
                <a:uLnTx/>
                <a:uFillTx/>
                <a:latin typeface="Courier" pitchFamily="2" charset="0"/>
                <a:ea typeface="+mn-ea"/>
                <a:cs typeface="+mn-cs"/>
              </a:rPr>
              <a:t>// Stream declaration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C9900"/>
                </a:solidFill>
                <a:effectLst/>
                <a:uLnTx/>
                <a:uFillTx/>
                <a:latin typeface="Courier" pitchFamily="2" charset="0"/>
                <a:ea typeface="+mn-ea"/>
                <a:cs typeface="+mn-cs"/>
              </a:rPr>
              <a:t>for</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a:t>
            </a:r>
            <a:r>
              <a:rPr kumimoji="0" lang="en-US" sz="1200" b="0" i="0" u="none" strike="noStrike" kern="1200" cap="none" spc="0" normalizeH="0" baseline="0" noProof="0" dirty="0">
                <a:ln>
                  <a:noFill/>
                </a:ln>
                <a:solidFill>
                  <a:srgbClr val="00B050"/>
                </a:solidFill>
                <a:effectLst/>
                <a:uLnTx/>
                <a:uFillTx/>
                <a:latin typeface="Courier" pitchFamily="2" charset="0"/>
                <a:ea typeface="+mn-ea"/>
                <a:cs typeface="+mn-cs"/>
              </a:rPr>
              <a:t>int</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i</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 </a:t>
            </a:r>
            <a:r>
              <a:rPr kumimoji="0" lang="en-US" sz="1200" b="0" i="0" u="none" strike="noStrike" kern="1200" cap="none" spc="0" normalizeH="0" baseline="0" noProof="0" dirty="0">
                <a:ln>
                  <a:noFill/>
                </a:ln>
                <a:solidFill>
                  <a:srgbClr val="CC9900"/>
                </a:solidFill>
                <a:effectLst/>
                <a:uLnTx/>
                <a:uFillTx/>
                <a:latin typeface="Courier" pitchFamily="2" charset="0"/>
                <a:ea typeface="+mn-ea"/>
                <a:cs typeface="+mn-cs"/>
              </a:rPr>
              <a:t>0</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i</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&lt;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number_of_streams</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i</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cudaStreamCreate</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(&amp;stream[</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i</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a:ln>
                  <a:noFill/>
                </a:ln>
                <a:solidFill>
                  <a:srgbClr val="9DC3E6"/>
                </a:solidFill>
                <a:effectLst/>
                <a:uLnTx/>
                <a:uFillTx/>
                <a:latin typeface="Courier" pitchFamily="2" charset="0"/>
                <a:ea typeface="+mn-ea"/>
                <a:cs typeface="+mn-cs"/>
              </a:rPr>
              <a:t>// Stream creation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DC3E6"/>
                </a:solidFill>
                <a:effectLst/>
                <a:uLnTx/>
                <a:uFillTx/>
                <a:latin typeface="Courier" pitchFamily="2" charset="0"/>
                <a:ea typeface="+mn-ea"/>
                <a:cs typeface="+mn-cs"/>
              </a:rPr>
              <a:t>// CPU-GPU data transfers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C9900"/>
                </a:solidFill>
                <a:effectLst/>
                <a:uLnTx/>
                <a:uFillTx/>
                <a:latin typeface="Courier" pitchFamily="2" charset="0"/>
                <a:ea typeface="+mn-ea"/>
                <a:cs typeface="+mn-cs"/>
              </a:rPr>
              <a:t>for</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a:ln>
                  <a:noFill/>
                </a:ln>
                <a:solidFill>
                  <a:srgbClr val="00B050"/>
                </a:solidFill>
                <a:effectLst/>
                <a:uLnTx/>
                <a:uFillTx/>
                <a:latin typeface="Courier" pitchFamily="2" charset="0"/>
                <a:ea typeface="+mn-ea"/>
                <a:cs typeface="+mn-cs"/>
              </a:rPr>
              <a:t>int</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i</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 </a:t>
            </a:r>
            <a:r>
              <a:rPr kumimoji="0" lang="en-US" sz="1200" b="0" i="0" u="none" strike="noStrike" kern="1200" cap="none" spc="0" normalizeH="0" baseline="0" noProof="0" dirty="0">
                <a:ln>
                  <a:noFill/>
                </a:ln>
                <a:solidFill>
                  <a:srgbClr val="CC9900"/>
                </a:solidFill>
                <a:effectLst/>
                <a:uLnTx/>
                <a:uFillTx/>
                <a:latin typeface="Courier" pitchFamily="2" charset="0"/>
                <a:ea typeface="+mn-ea"/>
                <a:cs typeface="+mn-cs"/>
              </a:rPr>
              <a:t>0</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i</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&lt;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number_of_streams</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i</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cudaMemcpyAsync</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inputDevPtr</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i</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 size,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hostPtr</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i</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 size, size,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err="1">
                <a:ln>
                  <a:noFill/>
                </a:ln>
                <a:solidFill>
                  <a:srgbClr val="CC9900"/>
                </a:solidFill>
                <a:effectLst/>
                <a:uLnTx/>
                <a:uFillTx/>
                <a:latin typeface="Courier" pitchFamily="2" charset="0"/>
                <a:ea typeface="+mn-ea"/>
                <a:cs typeface="+mn-cs"/>
              </a:rPr>
              <a:t>cudaMemcpyHostToDevice</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stream[</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i</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DC3E6"/>
                </a:solidFill>
                <a:effectLst/>
                <a:uLnTx/>
                <a:uFillTx/>
                <a:latin typeface="Courier" pitchFamily="2" charset="0"/>
                <a:ea typeface="+mn-ea"/>
                <a:cs typeface="+mn-cs"/>
              </a:rPr>
              <a:t>// Kernel launches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C9900"/>
                </a:solidFill>
                <a:effectLst/>
                <a:uLnTx/>
                <a:uFillTx/>
                <a:latin typeface="Courier" pitchFamily="2" charset="0"/>
                <a:ea typeface="+mn-ea"/>
                <a:cs typeface="+mn-cs"/>
              </a:rPr>
              <a:t>for</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a:ln>
                  <a:noFill/>
                </a:ln>
                <a:solidFill>
                  <a:srgbClr val="00B050"/>
                </a:solidFill>
                <a:effectLst/>
                <a:uLnTx/>
                <a:uFillTx/>
                <a:latin typeface="Courier" pitchFamily="2" charset="0"/>
                <a:ea typeface="+mn-ea"/>
                <a:cs typeface="+mn-cs"/>
              </a:rPr>
              <a:t>int</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i</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 </a:t>
            </a:r>
            <a:r>
              <a:rPr kumimoji="0" lang="en-US" sz="1200" b="0" i="0" u="none" strike="noStrike" kern="1200" cap="none" spc="0" normalizeH="0" baseline="0" noProof="0" dirty="0">
                <a:ln>
                  <a:noFill/>
                </a:ln>
                <a:solidFill>
                  <a:srgbClr val="CC9900"/>
                </a:solidFill>
                <a:effectLst/>
                <a:uLnTx/>
                <a:uFillTx/>
                <a:latin typeface="Courier" pitchFamily="2" charset="0"/>
                <a:ea typeface="+mn-ea"/>
                <a:cs typeface="+mn-cs"/>
              </a:rPr>
              <a:t>0</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i</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&lt;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number_of_streams</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i</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MyKernel</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&lt;&lt;&lt;</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num_blocks</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number_of_streams</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num_threads</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a:ln>
                  <a:noFill/>
                </a:ln>
                <a:solidFill>
                  <a:srgbClr val="CC9900"/>
                </a:solidFill>
                <a:effectLst/>
                <a:uLnTx/>
                <a:uFillTx/>
                <a:latin typeface="Courier" pitchFamily="2" charset="0"/>
                <a:ea typeface="+mn-ea"/>
                <a:cs typeface="+mn-cs"/>
              </a:rPr>
              <a:t>0</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stream[</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i</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]&gt;&gt;&gt;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outputDevPtr</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i</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 size,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inputDevPtr</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i</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 size, size);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DC3E6"/>
                </a:solidFill>
                <a:effectLst/>
                <a:uLnTx/>
                <a:uFillTx/>
                <a:latin typeface="Courier" pitchFamily="2" charset="0"/>
                <a:ea typeface="+mn-ea"/>
                <a:cs typeface="+mn-cs"/>
              </a:rPr>
              <a:t>// GPU-CPU data transfers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C9900"/>
                </a:solidFill>
                <a:effectLst/>
                <a:uLnTx/>
                <a:uFillTx/>
                <a:latin typeface="Courier" pitchFamily="2" charset="0"/>
                <a:ea typeface="+mn-ea"/>
                <a:cs typeface="+mn-cs"/>
              </a:rPr>
              <a:t>for</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a:ln>
                  <a:noFill/>
                </a:ln>
                <a:solidFill>
                  <a:srgbClr val="00B050"/>
                </a:solidFill>
                <a:effectLst/>
                <a:uLnTx/>
                <a:uFillTx/>
                <a:latin typeface="Courier" pitchFamily="2" charset="0"/>
                <a:ea typeface="+mn-ea"/>
                <a:cs typeface="+mn-cs"/>
              </a:rPr>
              <a:t>int</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i</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 </a:t>
            </a:r>
            <a:r>
              <a:rPr kumimoji="0" lang="en-US" sz="1200" b="0" i="0" u="none" strike="noStrike" kern="1200" cap="none" spc="0" normalizeH="0" baseline="0" noProof="0" dirty="0">
                <a:ln>
                  <a:noFill/>
                </a:ln>
                <a:solidFill>
                  <a:srgbClr val="CC9900"/>
                </a:solidFill>
                <a:effectLst/>
                <a:uLnTx/>
                <a:uFillTx/>
                <a:latin typeface="Courier" pitchFamily="2" charset="0"/>
                <a:ea typeface="+mn-ea"/>
                <a:cs typeface="+mn-cs"/>
              </a:rPr>
              <a:t>0</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i</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&lt;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number_of_streams</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i</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cudaMemcpyAsync</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hostPtr</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i</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 size,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outputDevPtr</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i</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 size, size,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err="1">
                <a:ln>
                  <a:noFill/>
                </a:ln>
                <a:solidFill>
                  <a:srgbClr val="CC9900"/>
                </a:solidFill>
                <a:effectLst/>
                <a:uLnTx/>
                <a:uFillTx/>
                <a:latin typeface="Courier" pitchFamily="2" charset="0"/>
                <a:ea typeface="+mn-ea"/>
                <a:cs typeface="+mn-cs"/>
              </a:rPr>
              <a:t>cudaMemcpyDeviceToHost</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stream[</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i</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cudaDeviceSynchronize</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a:ln>
                  <a:noFill/>
                </a:ln>
                <a:solidFill>
                  <a:srgbClr val="9DC3E6"/>
                </a:solidFill>
                <a:effectLst/>
                <a:uLnTx/>
                <a:uFillTx/>
                <a:latin typeface="Courier" pitchFamily="2" charset="0"/>
                <a:ea typeface="+mn-ea"/>
                <a:cs typeface="+mn-cs"/>
              </a:rPr>
              <a:t>// Explicit synchronization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DC3E6"/>
                </a:solidFill>
                <a:effectLst/>
                <a:uLnTx/>
                <a:uFillTx/>
                <a:latin typeface="Courier" pitchFamily="2" charset="0"/>
                <a:ea typeface="+mn-ea"/>
                <a:cs typeface="+mn-cs"/>
              </a:rPr>
              <a:t>// Destroy streams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C9900"/>
                </a:solidFill>
                <a:effectLst/>
                <a:uLnTx/>
                <a:uFillTx/>
                <a:latin typeface="Courier" pitchFamily="2" charset="0"/>
                <a:ea typeface="+mn-ea"/>
                <a:cs typeface="+mn-cs"/>
              </a:rPr>
              <a:t>for</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a:ln>
                  <a:noFill/>
                </a:ln>
                <a:solidFill>
                  <a:srgbClr val="00B050"/>
                </a:solidFill>
                <a:effectLst/>
                <a:uLnTx/>
                <a:uFillTx/>
                <a:latin typeface="Courier" pitchFamily="2" charset="0"/>
                <a:ea typeface="+mn-ea"/>
                <a:cs typeface="+mn-cs"/>
              </a:rPr>
              <a:t>int</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i</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 </a:t>
            </a:r>
            <a:r>
              <a:rPr kumimoji="0" lang="en-US" sz="1200" b="0" i="0" u="none" strike="noStrike" kern="1200" cap="none" spc="0" normalizeH="0" baseline="0" noProof="0" dirty="0">
                <a:ln>
                  <a:noFill/>
                </a:ln>
                <a:solidFill>
                  <a:srgbClr val="CC9900"/>
                </a:solidFill>
                <a:effectLst/>
                <a:uLnTx/>
                <a:uFillTx/>
                <a:latin typeface="Courier" pitchFamily="2" charset="0"/>
                <a:ea typeface="+mn-ea"/>
                <a:cs typeface="+mn-cs"/>
              </a:rPr>
              <a:t>0</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i</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&lt;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number_of_streams</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i</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cudaStreamDestroy</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(stream[</a:t>
            </a:r>
            <a:r>
              <a:rPr kumimoji="0" lang="en-US" sz="1200" b="0" i="0" u="none" strike="noStrike" kern="1200" cap="none" spc="0" normalizeH="0" baseline="0" noProof="0" dirty="0" err="1">
                <a:ln>
                  <a:noFill/>
                </a:ln>
                <a:solidFill>
                  <a:srgbClr val="000000"/>
                </a:solidFill>
                <a:effectLst/>
                <a:uLnTx/>
                <a:uFillTx/>
                <a:latin typeface="Courier" pitchFamily="2" charset="0"/>
                <a:ea typeface="+mn-ea"/>
                <a:cs typeface="+mn-cs"/>
              </a:rPr>
              <a:t>i</a:t>
            </a:r>
            <a:r>
              <a:rPr kumimoji="0" lang="en-US" sz="1200" b="0" i="0" u="none" strike="noStrike" kern="1200" cap="none" spc="0" normalizeH="0" baseline="0" noProof="0" dirty="0">
                <a:ln>
                  <a:noFill/>
                </a:ln>
                <a:solidFill>
                  <a:srgbClr val="000000"/>
                </a:solidFill>
                <a:effectLst/>
                <a:uLnTx/>
                <a:uFillTx/>
                <a:latin typeface="Courier" pitchFamily="2" charset="0"/>
                <a:ea typeface="+mn-ea"/>
                <a:cs typeface="+mn-cs"/>
              </a:rPr>
              <a:t>]); </a:t>
            </a:r>
            <a:r>
              <a:rPr kumimoji="0" lang="en-US" sz="1200" b="0" i="0" u="none" strike="noStrike" kern="1200" cap="none" spc="0" normalizeH="0" baseline="0" noProof="0" dirty="0">
                <a:ln>
                  <a:noFill/>
                </a:ln>
                <a:solidFill>
                  <a:srgbClr val="9DC3E6"/>
                </a:solidFill>
                <a:effectLst/>
                <a:uLnTx/>
                <a:uFillTx/>
                <a:latin typeface="Courier" pitchFamily="2" charset="0"/>
                <a:ea typeface="+mn-ea"/>
                <a:cs typeface="+mn-cs"/>
              </a:rPr>
              <a:t>// Stream destruction</a:t>
            </a:r>
          </a:p>
        </p:txBody>
      </p:sp>
      <p:sp>
        <p:nvSpPr>
          <p:cNvPr id="10" name="TextBox 9">
            <a:extLst>
              <a:ext uri="{FF2B5EF4-FFF2-40B4-BE49-F238E27FC236}">
                <a16:creationId xmlns:a16="http://schemas.microsoft.com/office/drawing/2014/main" id="{199C1005-C5E8-1546-9F1C-8E2BBB104DB0}"/>
              </a:ext>
            </a:extLst>
          </p:cNvPr>
          <p:cNvSpPr txBox="1"/>
          <p:nvPr/>
        </p:nvSpPr>
        <p:spPr>
          <a:xfrm>
            <a:off x="4592587" y="908720"/>
            <a:ext cx="444390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Tahoma"/>
                <a:ea typeface="+mn-ea"/>
                <a:cs typeface="+mn-cs"/>
              </a:rPr>
              <a:t>Code for devices that do not support concurrent data transfers</a:t>
            </a:r>
          </a:p>
        </p:txBody>
      </p:sp>
      <p:sp>
        <p:nvSpPr>
          <p:cNvPr id="273" name="TextBox 272">
            <a:extLst>
              <a:ext uri="{FF2B5EF4-FFF2-40B4-BE49-F238E27FC236}">
                <a16:creationId xmlns:a16="http://schemas.microsoft.com/office/drawing/2014/main" id="{FBC202FE-EE33-0448-8C9E-D9A4ED89E5F4}"/>
              </a:ext>
            </a:extLst>
          </p:cNvPr>
          <p:cNvSpPr txBox="1">
            <a:spLocks noChangeArrowheads="1"/>
          </p:cNvSpPr>
          <p:nvPr/>
        </p:nvSpPr>
        <p:spPr bwMode="auto">
          <a:xfrm>
            <a:off x="152400" y="6445066"/>
            <a:ext cx="8534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Gomez-Luna+, </a:t>
            </a:r>
            <a:r>
              <a:rPr kumimoji="0" lang="ja-JP" altLang="en-US" sz="12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Tahoma" panose="020B0604030504040204" pitchFamily="34" charset="0"/>
              </a:rPr>
              <a:t>“</a:t>
            </a:r>
            <a:r>
              <a:rPr kumimoji="0" lang="en-US" sz="12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Performance Models for Asynchronous Data Transfers on Consumer Graphics Processing Units</a:t>
            </a:r>
            <a:r>
              <a:rPr kumimoji="0" lang="en-US" altLang="ja-JP" sz="12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a:t>
            </a:r>
            <a:r>
              <a:rPr kumimoji="0" lang="ja-JP" altLang="en-US" sz="12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Tahoma" panose="020B0604030504040204" pitchFamily="34" charset="0"/>
              </a:rPr>
              <a:t>”</a:t>
            </a:r>
            <a:r>
              <a:rPr kumimoji="0" lang="en-US" altLang="ja-JP" sz="12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ja-JP" sz="12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JPDC, 2012</a:t>
            </a:r>
            <a:endParaRPr kumimoji="0" lang="en-US" altLang="en-US" sz="12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1" name="TextBox 10">
            <a:extLst>
              <a:ext uri="{FF2B5EF4-FFF2-40B4-BE49-F238E27FC236}">
                <a16:creationId xmlns:a16="http://schemas.microsoft.com/office/drawing/2014/main" id="{7ECF684B-209A-1E46-BE4C-E1A5A0264C54}"/>
              </a:ext>
            </a:extLst>
          </p:cNvPr>
          <p:cNvSpPr txBox="1"/>
          <p:nvPr/>
        </p:nvSpPr>
        <p:spPr>
          <a:xfrm>
            <a:off x="6444208" y="5733256"/>
            <a:ext cx="260263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Tahoma"/>
                <a:ea typeface="+mn-ea"/>
                <a:cs typeface="+mn-cs"/>
              </a:rPr>
              <a:t>Check CUDA programming guide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FF"/>
                </a:solidFill>
                <a:effectLst/>
                <a:uLnTx/>
                <a:uFillTx/>
                <a:latin typeface="Tahoma"/>
                <a:ea typeface="+mn-ea"/>
                <a:cs typeface="+mn-cs"/>
                <a:hlinkClick r:id="rId3">
                  <a:extLst>
                    <a:ext uri="{A12FA001-AC4F-418D-AE19-62706E023703}">
                      <ahyp:hlinkClr xmlns:ahyp="http://schemas.microsoft.com/office/drawing/2018/hyperlinkcolor" val="tx"/>
                    </a:ext>
                  </a:extLst>
                </a:hlinkClick>
              </a:rPr>
              <a:t>https://docs.nvidia.com/cuda/cuda-c-programming-guide/index.html#streams</a:t>
            </a:r>
            <a:endParaRPr kumimoji="0" lang="en-US" sz="800" b="0" i="0" u="none" strike="noStrike" kern="1200" cap="none" spc="0" normalizeH="0" baseline="0" noProof="0" dirty="0">
              <a:ln>
                <a:noFill/>
              </a:ln>
              <a:solidFill>
                <a:srgbClr val="0000FF"/>
              </a:solidFill>
              <a:effectLst/>
              <a:uLnTx/>
              <a:uFillTx/>
              <a:latin typeface="Tahoma"/>
              <a:ea typeface="+mn-ea"/>
              <a:cs typeface="+mn-cs"/>
            </a:endParaRPr>
          </a:p>
        </p:txBody>
      </p:sp>
    </p:spTree>
    <p:extLst>
      <p:ext uri="{BB962C8B-B14F-4D97-AF65-F5344CB8AC3E}">
        <p14:creationId xmlns:p14="http://schemas.microsoft.com/office/powerpoint/2010/main" val="12536790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7" end="17"/>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8" end="18"/>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19" end="19"/>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
                                            <p:txEl>
                                              <p:pRg st="20" end="2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22" end="2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24" end="24"/>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
                                            <p:txEl>
                                              <p:pRg st="25" end="25"/>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
                                            <p:txEl>
                                              <p:pRg st="26" end="26"/>
                                            </p:tx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51520" y="908720"/>
            <a:ext cx="8568952" cy="5472608"/>
          </a:xfrm>
        </p:spPr>
        <p:txBody>
          <a:bodyPr>
            <a:normAutofit/>
          </a:bodyPr>
          <a:lstStyle/>
          <a:p>
            <a:r>
              <a:rPr lang="en-US" sz="2200" dirty="0"/>
              <a:t>Applications with independent computation on different data instances can benefit from asynchronous transfers</a:t>
            </a:r>
          </a:p>
          <a:p>
            <a:r>
              <a:rPr lang="en-US" sz="2200" dirty="0"/>
              <a:t>For instance, </a:t>
            </a:r>
            <a:r>
              <a:rPr lang="en-US" sz="2200" dirty="0">
                <a:solidFill>
                  <a:srgbClr val="0070C0"/>
                </a:solidFill>
              </a:rPr>
              <a:t>video processing</a:t>
            </a:r>
          </a:p>
          <a:p>
            <a:endParaRPr lang="en-US" sz="2200" dirty="0"/>
          </a:p>
          <a:p>
            <a:endParaRPr lang="en-US" sz="2200" dirty="0"/>
          </a:p>
          <a:p>
            <a:endParaRPr lang="en-US" sz="2200" dirty="0"/>
          </a:p>
          <a:p>
            <a:endParaRPr lang="en-US" sz="2200" dirty="0"/>
          </a:p>
          <a:p>
            <a:endParaRPr lang="en-US" sz="2200" dirty="0"/>
          </a:p>
          <a:p>
            <a:endParaRPr lang="en-US" sz="2200" dirty="0"/>
          </a:p>
          <a:p>
            <a:endParaRPr lang="en-US" sz="2200" dirty="0"/>
          </a:p>
          <a:p>
            <a:endParaRPr lang="en-US" sz="2200" dirty="0"/>
          </a:p>
          <a:p>
            <a:endParaRPr lang="en-US" sz="2200" dirty="0"/>
          </a:p>
          <a:p>
            <a:endParaRPr lang="en-US" sz="2200" dirty="0"/>
          </a:p>
          <a:p>
            <a:endParaRPr lang="en-US" sz="2200" dirty="0"/>
          </a:p>
        </p:txBody>
      </p:sp>
      <p:pic>
        <p:nvPicPr>
          <p:cNvPr id="15" name="Imagen 14" descr="Stream_video_streams.eps"/>
          <p:cNvPicPr>
            <a:picLocks noChangeAspect="1"/>
          </p:cNvPicPr>
          <p:nvPr/>
        </p:nvPicPr>
        <p:blipFill>
          <a:blip r:embed="rId3"/>
          <a:stretch>
            <a:fillRect/>
          </a:stretch>
        </p:blipFill>
        <p:spPr>
          <a:xfrm>
            <a:off x="998601" y="2259581"/>
            <a:ext cx="7146799" cy="3977731"/>
          </a:xfrm>
          <a:prstGeom prst="rect">
            <a:avLst/>
          </a:prstGeom>
        </p:spPr>
      </p:pic>
      <p:sp>
        <p:nvSpPr>
          <p:cNvPr id="2" name="Título 1"/>
          <p:cNvSpPr>
            <a:spLocks noGrp="1"/>
          </p:cNvSpPr>
          <p:nvPr>
            <p:ph type="title"/>
          </p:nvPr>
        </p:nvSpPr>
        <p:spPr/>
        <p:txBody>
          <a:bodyPr/>
          <a:lstStyle/>
          <a:p>
            <a:r>
              <a:rPr lang="en-US" sz="3600" dirty="0"/>
              <a:t>Use Case: Video Processing</a:t>
            </a:r>
          </a:p>
        </p:txBody>
      </p:sp>
      <p:sp>
        <p:nvSpPr>
          <p:cNvPr id="4" name="Marcador de número de diapositiva 3"/>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3594FA-E141-4234-AE05-360401972BE7}" type="slidenum">
              <a:rPr kumimoji="0" lang="en-US" altLang="en-US" sz="1600" b="0" i="0" u="none" strike="noStrike" kern="1200" cap="none" spc="0" normalizeH="0" baseline="0" noProof="0" smtClean="0">
                <a:ln>
                  <a:noFill/>
                </a:ln>
                <a:solidFill>
                  <a:srgbClr val="000000"/>
                </a:solidFill>
                <a:effectLst/>
                <a:uLnTx/>
                <a:uFillTx/>
                <a:latin typeface="Garamond"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en-US" altLang="en-US" sz="1600" b="0" i="0" u="none" strike="noStrike" kern="1200" cap="none" spc="0" normalizeH="0" baseline="0" noProof="0">
              <a:ln>
                <a:noFill/>
              </a:ln>
              <a:solidFill>
                <a:srgbClr val="000000"/>
              </a:solidFill>
              <a:effectLst/>
              <a:uLnTx/>
              <a:uFillTx/>
              <a:latin typeface="Garamond" pitchFamily="18" charset="0"/>
              <a:ea typeface="+mn-ea"/>
              <a:cs typeface="+mn-cs"/>
            </a:endParaRPr>
          </a:p>
        </p:txBody>
      </p:sp>
      <p:sp>
        <p:nvSpPr>
          <p:cNvPr id="7" name="TextBox 6">
            <a:extLst>
              <a:ext uri="{FF2B5EF4-FFF2-40B4-BE49-F238E27FC236}">
                <a16:creationId xmlns:a16="http://schemas.microsoft.com/office/drawing/2014/main" id="{0056C7BF-EB4B-CC47-857E-6C44BBEDEFB5}"/>
              </a:ext>
            </a:extLst>
          </p:cNvPr>
          <p:cNvSpPr txBox="1">
            <a:spLocks noChangeArrowheads="1"/>
          </p:cNvSpPr>
          <p:nvPr/>
        </p:nvSpPr>
        <p:spPr bwMode="auto">
          <a:xfrm>
            <a:off x="152400" y="6381328"/>
            <a:ext cx="8534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Gomez-Luna+, </a:t>
            </a:r>
            <a:r>
              <a:rPr kumimoji="0" lang="ja-JP" altLang="en-US" sz="12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Tahoma" panose="020B0604030504040204" pitchFamily="34" charset="0"/>
              </a:rPr>
              <a:t>“</a:t>
            </a:r>
            <a:r>
              <a:rPr kumimoji="0" lang="en-US" sz="12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Performance Models for Asynchronous Data Transfers on Consumer Graphics Processing Units</a:t>
            </a:r>
            <a:r>
              <a:rPr kumimoji="0" lang="en-US" altLang="ja-JP" sz="12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a:t>
            </a:r>
            <a:r>
              <a:rPr kumimoji="0" lang="ja-JP" altLang="en-US" sz="12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Tahoma" panose="020B0604030504040204" pitchFamily="34" charset="0"/>
              </a:rPr>
              <a:t>”</a:t>
            </a:r>
            <a:r>
              <a:rPr kumimoji="0" lang="en-US" altLang="ja-JP" sz="12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ja-JP" sz="12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JPDC, 2012</a:t>
            </a:r>
            <a:endParaRPr kumimoji="0" lang="en-US" altLang="en-US" sz="12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4554535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E5D416A-4B91-DB47-96B2-B5A66BAFEC27}"/>
              </a:ext>
            </a:extLst>
          </p:cNvPr>
          <p:cNvSpPr txBox="1">
            <a:spLocks/>
          </p:cNvSpPr>
          <p:nvPr/>
        </p:nvSpPr>
        <p:spPr bwMode="auto">
          <a:xfrm>
            <a:off x="228600" y="914400"/>
            <a:ext cx="8610600"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a:lstStyle>
          <a:p>
            <a:pPr marL="342900" marR="0" lvl="0" indent="-342900" algn="l" defTabSz="914400" rtl="0" eaLnBrk="0" fontAlgn="base" latinLnBrk="0" hangingPunct="0">
              <a:lnSpc>
                <a:spcPct val="100000"/>
              </a:lnSpc>
              <a:spcBef>
                <a:spcPct val="20000"/>
              </a:spcBef>
              <a:spcAft>
                <a:spcPct val="0"/>
              </a:spcAft>
              <a:buClr>
                <a:srgbClr val="CC9900"/>
              </a:buClr>
              <a:buSzPct val="65000"/>
              <a:buFont typeface="Wingdings" pitchFamily="2" charset="2"/>
              <a:buChar char="n"/>
              <a:tabLst/>
              <a:defRPr/>
            </a:pPr>
            <a:r>
              <a:rPr kumimoji="0" lang="en-US" altLang="en-US" sz="22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Asynchronous memory copy with LDGSTS instruction vs. TMA</a:t>
            </a:r>
            <a:endParaRPr kumimoji="0" lang="en-US" altLang="en-US" sz="2200" b="0" i="0" u="none" strike="noStrike" kern="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3969" name="Title 1">
            <a:extLst>
              <a:ext uri="{FF2B5EF4-FFF2-40B4-BE49-F238E27FC236}">
                <a16:creationId xmlns:a16="http://schemas.microsoft.com/office/drawing/2014/main" id="{37341F1E-EEC5-5E40-B8E1-F001AF083003}"/>
              </a:ext>
            </a:extLst>
          </p:cNvPr>
          <p:cNvSpPr>
            <a:spLocks noGrp="1"/>
          </p:cNvSpPr>
          <p:nvPr>
            <p:ph type="title"/>
          </p:nvPr>
        </p:nvSpPr>
        <p:spPr>
          <a:xfrm>
            <a:off x="228600" y="0"/>
            <a:ext cx="8796404" cy="914400"/>
          </a:xfrm>
        </p:spPr>
        <p:txBody>
          <a:bodyPr/>
          <a:lstStyle/>
          <a:p>
            <a:r>
              <a:rPr lang="en-US" altLang="en-US" sz="3800" dirty="0">
                <a:ea typeface="ＭＳ Ｐゴシック" panose="020B0600070205080204" pitchFamily="34" charset="-128"/>
              </a:rPr>
              <a:t>NVIDIA H100 Tensor Memory Accelerator</a:t>
            </a:r>
          </a:p>
        </p:txBody>
      </p:sp>
      <p:sp>
        <p:nvSpPr>
          <p:cNvPr id="10" name="Slide Number Placeholder 3">
            <a:extLst>
              <a:ext uri="{FF2B5EF4-FFF2-40B4-BE49-F238E27FC236}">
                <a16:creationId xmlns:a16="http://schemas.microsoft.com/office/drawing/2014/main" id="{FC5739B9-63E5-1E41-8390-7E8804EBCA86}"/>
              </a:ext>
            </a:extLst>
          </p:cNvPr>
          <p:cNvSpPr>
            <a:spLocks noGrp="1"/>
          </p:cNvSpPr>
          <p:nvPr>
            <p:ph type="sldNum" sz="quarter" idx="11"/>
          </p:nvPr>
        </p:nvSpPr>
        <p:spPr>
          <a:xfrm>
            <a:off x="6777038" y="631825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B31A252-A455-7E4D-8859-45EB22A1C42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85</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11" name="TextBox 10"/>
          <p:cNvSpPr txBox="1"/>
          <p:nvPr/>
        </p:nvSpPr>
        <p:spPr>
          <a:xfrm>
            <a:off x="174209" y="6496734"/>
            <a:ext cx="3357009" cy="215444"/>
          </a:xfrm>
          <a:prstGeom prst="rect">
            <a:avLst/>
          </a:prstGeom>
          <a:noFill/>
        </p:spPr>
        <p:txBody>
          <a:bodyPr wrap="none" rtlCol="0">
            <a:spAutoFit/>
          </a:bodyPr>
          <a:lstStyle/>
          <a:p>
            <a:pPr lvl="0" fontAlgn="base">
              <a:spcBef>
                <a:spcPct val="0"/>
              </a:spcBef>
              <a:spcAft>
                <a:spcPct val="0"/>
              </a:spcAft>
              <a:defRPr/>
            </a:pPr>
            <a:r>
              <a:rPr lang="en-US" sz="800" dirty="0">
                <a:solidFill>
                  <a:srgbClr val="0000FF"/>
                </a:solidFill>
                <a:latin typeface="Arial" panose="020B0604020202020204" pitchFamily="34" charset="0"/>
                <a:ea typeface="ＭＳ Ｐゴシック" panose="020B0600070205080204" pitchFamily="34" charset="-128"/>
                <a:hlinkClick r:id="rId3">
                  <a:extLst>
                    <a:ext uri="{A12FA001-AC4F-418D-AE19-62706E023703}">
                      <ahyp:hlinkClr xmlns:ahyp="http://schemas.microsoft.com/office/drawing/2018/hyperlinkcolor" val="tx"/>
                    </a:ext>
                  </a:extLst>
                </a:hlinkClick>
              </a:rPr>
              <a:t>https://developer.nvidia.com/blog/nvidia-hopper-architecture-in-depth/</a:t>
            </a:r>
            <a:endParaRPr lang="en-US" sz="800" dirty="0">
              <a:solidFill>
                <a:srgbClr val="0000FF"/>
              </a:solidFill>
              <a:latin typeface="Arial" panose="020B0604020202020204" pitchFamily="34" charset="0"/>
              <a:ea typeface="ＭＳ Ｐゴシック" panose="020B0600070205080204" pitchFamily="34" charset="-128"/>
            </a:endParaRPr>
          </a:p>
        </p:txBody>
      </p:sp>
      <p:pic>
        <p:nvPicPr>
          <p:cNvPr id="4" name="Picture 3">
            <a:extLst>
              <a:ext uri="{FF2B5EF4-FFF2-40B4-BE49-F238E27FC236}">
                <a16:creationId xmlns:a16="http://schemas.microsoft.com/office/drawing/2014/main" id="{6E28D8AA-CD68-234E-AADA-32FEC8DF0F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07999" y="1340768"/>
            <a:ext cx="5928002" cy="2628000"/>
          </a:xfrm>
          <a:prstGeom prst="rect">
            <a:avLst/>
          </a:prstGeom>
        </p:spPr>
      </p:pic>
      <p:pic>
        <p:nvPicPr>
          <p:cNvPr id="8" name="Picture 7">
            <a:extLst>
              <a:ext uri="{FF2B5EF4-FFF2-40B4-BE49-F238E27FC236}">
                <a16:creationId xmlns:a16="http://schemas.microsoft.com/office/drawing/2014/main" id="{B25F1C80-7185-EB4C-B0A4-A117742639A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77234" y="4395136"/>
            <a:ext cx="4787254" cy="1819852"/>
          </a:xfrm>
          <a:prstGeom prst="rect">
            <a:avLst/>
          </a:prstGeom>
        </p:spPr>
      </p:pic>
      <p:sp>
        <p:nvSpPr>
          <p:cNvPr id="14" name="Content Placeholder 2">
            <a:extLst>
              <a:ext uri="{FF2B5EF4-FFF2-40B4-BE49-F238E27FC236}">
                <a16:creationId xmlns:a16="http://schemas.microsoft.com/office/drawing/2014/main" id="{C172B94F-3BE9-E644-BC77-E506CFBB0139}"/>
              </a:ext>
            </a:extLst>
          </p:cNvPr>
          <p:cNvSpPr>
            <a:spLocks noGrp="1"/>
          </p:cNvSpPr>
          <p:nvPr>
            <p:ph idx="1"/>
          </p:nvPr>
        </p:nvSpPr>
        <p:spPr>
          <a:xfrm>
            <a:off x="319874" y="4365104"/>
            <a:ext cx="3748070" cy="1944216"/>
          </a:xfrm>
        </p:spPr>
        <p:txBody>
          <a:bodyPr anchor="t"/>
          <a:lstStyle/>
          <a:p>
            <a:pPr marL="0">
              <a:spcBef>
                <a:spcPts val="0"/>
              </a:spcBef>
              <a:buFont typeface="Wingdings" pitchFamily="2" charset="2"/>
              <a:buNone/>
            </a:pPr>
            <a:r>
              <a:rPr lang="en-US" altLang="en-US" sz="1600" dirty="0">
                <a:ea typeface="ＭＳ Ｐゴシック" panose="020B0600070205080204" pitchFamily="34" charset="-128"/>
              </a:rPr>
              <a:t>TMA unit </a:t>
            </a:r>
            <a:r>
              <a:rPr lang="en-US" altLang="en-US" sz="1600" dirty="0">
                <a:solidFill>
                  <a:srgbClr val="7030A0"/>
                </a:solidFill>
                <a:ea typeface="ＭＳ Ｐゴシック" panose="020B0600070205080204" pitchFamily="34" charset="-128"/>
              </a:rPr>
              <a:t>reduces addressing overhead</a:t>
            </a:r>
          </a:p>
          <a:p>
            <a:pPr marL="0">
              <a:spcBef>
                <a:spcPts val="0"/>
              </a:spcBef>
              <a:buFont typeface="Wingdings" pitchFamily="2" charset="2"/>
              <a:buNone/>
            </a:pPr>
            <a:endParaRPr lang="en-US" altLang="en-US" sz="1600" dirty="0">
              <a:ea typeface="ＭＳ Ｐゴシック" panose="020B0600070205080204" pitchFamily="34" charset="-128"/>
            </a:endParaRPr>
          </a:p>
          <a:p>
            <a:pPr marL="0">
              <a:spcBef>
                <a:spcPts val="0"/>
              </a:spcBef>
              <a:buNone/>
            </a:pPr>
            <a:r>
              <a:rPr lang="en-US" altLang="en-US" sz="1600" dirty="0">
                <a:solidFill>
                  <a:srgbClr val="00B050"/>
                </a:solidFill>
                <a:ea typeface="ＭＳ Ｐゴシック" panose="020B0600070205080204" pitchFamily="34" charset="-128"/>
              </a:rPr>
              <a:t>A single thread per warp issues </a:t>
            </a:r>
            <a:r>
              <a:rPr lang="en-US" altLang="en-US" sz="1600" dirty="0">
                <a:ea typeface="ＭＳ Ｐゴシック" panose="020B0600070205080204" pitchFamily="34" charset="-128"/>
              </a:rPr>
              <a:t>the TMA operation </a:t>
            </a:r>
          </a:p>
          <a:p>
            <a:pPr marL="0">
              <a:spcBef>
                <a:spcPts val="0"/>
              </a:spcBef>
              <a:buFont typeface="Wingdings" pitchFamily="2" charset="2"/>
              <a:buNone/>
            </a:pPr>
            <a:endParaRPr lang="en-US" altLang="en-US" sz="1600" dirty="0">
              <a:ea typeface="ＭＳ Ｐゴシック" panose="020B0600070205080204" pitchFamily="34" charset="-128"/>
            </a:endParaRPr>
          </a:p>
          <a:p>
            <a:pPr marL="0">
              <a:spcBef>
                <a:spcPts val="0"/>
              </a:spcBef>
              <a:buFont typeface="Wingdings" pitchFamily="2" charset="2"/>
              <a:buNone/>
            </a:pPr>
            <a:r>
              <a:rPr lang="en-US" altLang="en-US" sz="1600" dirty="0">
                <a:ea typeface="ＭＳ Ｐゴシック" panose="020B0600070205080204" pitchFamily="34" charset="-128"/>
              </a:rPr>
              <a:t>Support for different tensor layouts (1D-5D)</a:t>
            </a:r>
          </a:p>
          <a:p>
            <a:pPr marL="0">
              <a:spcBef>
                <a:spcPts val="0"/>
              </a:spcBef>
              <a:buFont typeface="Wingdings" pitchFamily="2" charset="2"/>
              <a:buNone/>
            </a:pPr>
            <a:endParaRPr lang="en-US" altLang="en-US" sz="1600" dirty="0">
              <a:solidFill>
                <a:srgbClr val="00B050"/>
              </a:solidFill>
              <a:ea typeface="ＭＳ Ｐゴシック" panose="020B0600070205080204" pitchFamily="34" charset="-128"/>
            </a:endParaRPr>
          </a:p>
        </p:txBody>
      </p:sp>
    </p:spTree>
    <p:extLst>
      <p:ext uri="{BB962C8B-B14F-4D97-AF65-F5344CB8AC3E}">
        <p14:creationId xmlns:p14="http://schemas.microsoft.com/office/powerpoint/2010/main" val="573859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Rectangle 2"/>
          <p:cNvSpPr>
            <a:spLocks noGrp="1" noChangeArrowheads="1"/>
          </p:cNvSpPr>
          <p:nvPr>
            <p:ph type="title"/>
          </p:nvPr>
        </p:nvSpPr>
        <p:spPr>
          <a:xfrm>
            <a:off x="76200" y="152400"/>
            <a:ext cx="9372600" cy="697468"/>
          </a:xfrm>
        </p:spPr>
        <p:txBody>
          <a:bodyPr/>
          <a:lstStyle/>
          <a:p>
            <a:r>
              <a:rPr lang="en-US" altLang="zh-CN" sz="3200" dirty="0"/>
              <a:t>State-of-the-art CPU GPU and FPGA</a:t>
            </a:r>
            <a:endParaRPr lang="en-US" altLang="zh-CN" sz="3200" dirty="0">
              <a:solidFill>
                <a:schemeClr val="tx1"/>
              </a:solidFill>
            </a:endParaRPr>
          </a:p>
        </p:txBody>
      </p:sp>
      <p:graphicFrame>
        <p:nvGraphicFramePr>
          <p:cNvPr id="7" name="Table 5">
            <a:extLst>
              <a:ext uri="{FF2B5EF4-FFF2-40B4-BE49-F238E27FC236}">
                <a16:creationId xmlns:a16="http://schemas.microsoft.com/office/drawing/2014/main" id="{7A13CA69-8874-E642-87B1-F20CB644B842}"/>
              </a:ext>
            </a:extLst>
          </p:cNvPr>
          <p:cNvGraphicFramePr>
            <a:graphicFrameLocks noGrp="1"/>
          </p:cNvGraphicFramePr>
          <p:nvPr/>
        </p:nvGraphicFramePr>
        <p:xfrm>
          <a:off x="328559" y="1828800"/>
          <a:ext cx="8486882" cy="283464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278082">
                  <a:extLst>
                    <a:ext uri="{9D8B030D-6E8A-4147-A177-3AD203B41FA5}">
                      <a16:colId xmlns:a16="http://schemas.microsoft.com/office/drawing/2014/main" val="1580565294"/>
                    </a:ext>
                  </a:extLst>
                </a:gridCol>
                <a:gridCol w="1167732">
                  <a:extLst>
                    <a:ext uri="{9D8B030D-6E8A-4147-A177-3AD203B41FA5}">
                      <a16:colId xmlns:a16="http://schemas.microsoft.com/office/drawing/2014/main" val="108976409"/>
                    </a:ext>
                  </a:extLst>
                </a:gridCol>
                <a:gridCol w="1693718">
                  <a:extLst>
                    <a:ext uri="{9D8B030D-6E8A-4147-A177-3AD203B41FA5}">
                      <a16:colId xmlns:a16="http://schemas.microsoft.com/office/drawing/2014/main" val="753782186"/>
                    </a:ext>
                  </a:extLst>
                </a:gridCol>
                <a:gridCol w="1907978">
                  <a:extLst>
                    <a:ext uri="{9D8B030D-6E8A-4147-A177-3AD203B41FA5}">
                      <a16:colId xmlns:a16="http://schemas.microsoft.com/office/drawing/2014/main" val="2743234395"/>
                    </a:ext>
                  </a:extLst>
                </a:gridCol>
                <a:gridCol w="1396331">
                  <a:extLst>
                    <a:ext uri="{9D8B030D-6E8A-4147-A177-3AD203B41FA5}">
                      <a16:colId xmlns:a16="http://schemas.microsoft.com/office/drawing/2014/main" val="2943297131"/>
                    </a:ext>
                  </a:extLst>
                </a:gridCol>
                <a:gridCol w="1043041">
                  <a:extLst>
                    <a:ext uri="{9D8B030D-6E8A-4147-A177-3AD203B41FA5}">
                      <a16:colId xmlns:a16="http://schemas.microsoft.com/office/drawing/2014/main" val="3639835837"/>
                    </a:ext>
                  </a:extLst>
                </a:gridCol>
              </a:tblGrid>
              <a:tr h="480060">
                <a:tc>
                  <a:txBody>
                    <a:bodyPr/>
                    <a:lstStyle/>
                    <a:p>
                      <a:pPr algn="ctr">
                        <a:lnSpc>
                          <a:spcPct val="100000"/>
                        </a:lnSpc>
                      </a:pPr>
                      <a:endParaRPr lang="en-CN" sz="1400" dirty="0">
                        <a:latin typeface="+mn-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CN" sz="1400" dirty="0">
                          <a:solidFill>
                            <a:schemeClr val="tx1"/>
                          </a:solidFill>
                          <a:latin typeface="+mn-lt"/>
                        </a:rPr>
                        <a:t>Cores (Threads)</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latin typeface="+mn-lt"/>
                        </a:rPr>
                        <a:t>TFLOPS</a:t>
                      </a:r>
                      <a:endParaRPr lang="en-CN" sz="1400" dirty="0">
                        <a:solidFill>
                          <a:schemeClr val="tx1"/>
                        </a:solidFill>
                        <a:latin typeface="+mn-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CN" sz="1400" dirty="0">
                          <a:solidFill>
                            <a:schemeClr val="tx1"/>
                          </a:solidFill>
                          <a:latin typeface="+mn-lt"/>
                        </a:rPr>
                        <a:t>Memory Size (Bandwidth)</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CN" sz="1400" dirty="0">
                          <a:solidFill>
                            <a:schemeClr val="tx1"/>
                          </a:solidFill>
                          <a:latin typeface="+mn-lt"/>
                        </a:rPr>
                        <a:t>PCIe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CN" sz="1400" dirty="0">
                          <a:solidFill>
                            <a:schemeClr val="tx1"/>
                          </a:solidFill>
                          <a:latin typeface="+mn-lt"/>
                        </a:rPr>
                        <a:t>Network</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818669"/>
                  </a:ext>
                </a:extLst>
              </a:tr>
              <a:tr h="6858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b="1" dirty="0">
                          <a:latin typeface="+mn-lt"/>
                        </a:rPr>
                        <a:t>CPU (</a:t>
                      </a:r>
                      <a:r>
                        <a:rPr lang="en-US" sz="1400" b="1" dirty="0">
                          <a:latin typeface="+mn-lt"/>
                        </a:rPr>
                        <a:t>AMD </a:t>
                      </a:r>
                      <a:r>
                        <a:rPr lang="en-US" sz="1400" b="1" dirty="0" err="1">
                          <a:latin typeface="+mn-lt"/>
                        </a:rPr>
                        <a:t>Threadripper</a:t>
                      </a:r>
                      <a:r>
                        <a:rPr lang="en-US" sz="1400" b="1" dirty="0">
                          <a:latin typeface="+mn-lt"/>
                        </a:rPr>
                        <a:t> 3995WX</a:t>
                      </a:r>
                      <a:r>
                        <a:rPr lang="en-CN" sz="1400" b="1" dirty="0">
                          <a:latin typeface="+mn-lt"/>
                        </a:rPr>
                        <a: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CN" sz="1400" dirty="0">
                          <a:latin typeface="+mn-lt"/>
                        </a:rPr>
                        <a:t>64 (128)</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dirty="0">
                          <a:latin typeface="+mn-lt"/>
                        </a:rPr>
                        <a:t>2.8 (FP32), </a:t>
                      </a:r>
                    </a:p>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dirty="0">
                          <a:latin typeface="+mn-lt"/>
                        </a:rPr>
                        <a:t>1.4 (FP64)</a:t>
                      </a:r>
                    </a:p>
                    <a:p>
                      <a:pPr algn="ctr">
                        <a:lnSpc>
                          <a:spcPct val="100000"/>
                        </a:lnSpc>
                      </a:pPr>
                      <a:endParaRPr lang="en-CN" sz="1400" dirty="0">
                        <a:latin typeface="+mn-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CN" sz="1400" dirty="0">
                          <a:latin typeface="+mn-lt"/>
                        </a:rPr>
                        <a:t>512GB </a:t>
                      </a:r>
                      <a:endParaRPr lang="en-US" sz="1400" dirty="0">
                        <a:latin typeface="+mn-lt"/>
                      </a:endParaRPr>
                    </a:p>
                    <a:p>
                      <a:pPr algn="ctr">
                        <a:lnSpc>
                          <a:spcPct val="100000"/>
                        </a:lnSpc>
                      </a:pPr>
                      <a:r>
                        <a:rPr lang="en-CN" sz="1400" dirty="0">
                          <a:latin typeface="+mn-lt"/>
                        </a:rPr>
                        <a:t>(</a:t>
                      </a:r>
                      <a:r>
                        <a:rPr lang="en-US" altLang="zh-CN" sz="1400" dirty="0">
                          <a:latin typeface="+mn-lt"/>
                        </a:rPr>
                        <a:t>80</a:t>
                      </a:r>
                      <a:r>
                        <a:rPr lang="en-CN" sz="1400" dirty="0">
                          <a:latin typeface="+mn-lt"/>
                        </a:rPr>
                        <a:t>GB/s)</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CN" sz="1400" dirty="0">
                          <a:latin typeface="+mn-lt"/>
                        </a:rPr>
                        <a:t>3</a:t>
                      </a:r>
                      <a:r>
                        <a:rPr lang="en-US" altLang="zh-CN" sz="1400" dirty="0">
                          <a:latin typeface="+mn-lt"/>
                        </a:rPr>
                        <a:t>2</a:t>
                      </a:r>
                      <a:r>
                        <a:rPr lang="en-CN" sz="1400" dirty="0">
                          <a:latin typeface="+mn-lt"/>
                        </a:rPr>
                        <a:t>.0GB/s </a:t>
                      </a:r>
                      <a:endParaRPr lang="en-US" sz="1400" dirty="0">
                        <a:latin typeface="+mn-lt"/>
                      </a:endParaRPr>
                    </a:p>
                    <a:p>
                      <a:pPr algn="ctr">
                        <a:lnSpc>
                          <a:spcPct val="100000"/>
                        </a:lnSpc>
                      </a:pPr>
                      <a:r>
                        <a:rPr lang="en-CN" sz="1400" dirty="0">
                          <a:latin typeface="+mn-lt"/>
                        </a:rPr>
                        <a:t>(PCIe 4.0</a:t>
                      </a:r>
                      <a:r>
                        <a:rPr lang="zh-CN" altLang="en-US" sz="1400" dirty="0">
                          <a:latin typeface="+mn-lt"/>
                        </a:rPr>
                        <a:t> </a:t>
                      </a:r>
                      <a:r>
                        <a:rPr lang="en-CN" sz="1400" dirty="0">
                          <a:latin typeface="+mn-lt"/>
                        </a:rPr>
                        <a:t>X</a:t>
                      </a:r>
                      <a:r>
                        <a:rPr lang="en-US" altLang="zh-CN" sz="1400" dirty="0">
                          <a:latin typeface="+mn-lt"/>
                        </a:rPr>
                        <a:t>16</a:t>
                      </a:r>
                      <a:r>
                        <a:rPr lang="en-CN" sz="1400" dirty="0">
                          <a:latin typeface="+mn-lt"/>
                        </a:rPr>
                        <a: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CN" sz="1400" dirty="0">
                          <a:latin typeface="+mn-lt"/>
                        </a:rPr>
                        <a:t>No</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2051521"/>
                  </a:ext>
                </a:extLst>
              </a:tr>
              <a:tr h="891540">
                <a:tc>
                  <a:txBody>
                    <a:bodyPr/>
                    <a:lstStyle/>
                    <a:p>
                      <a:pPr algn="ctr">
                        <a:lnSpc>
                          <a:spcPct val="100000"/>
                        </a:lnSpc>
                      </a:pPr>
                      <a:r>
                        <a:rPr lang="en-CN" sz="1400" b="1" dirty="0">
                          <a:solidFill>
                            <a:srgbClr val="0432FF"/>
                          </a:solidFill>
                          <a:latin typeface="+mn-lt"/>
                        </a:rPr>
                        <a:t>GPU (Nvidia A100)</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US" altLang="zh-CN" sz="1400" dirty="0">
                          <a:solidFill>
                            <a:srgbClr val="0432FF"/>
                          </a:solidFill>
                          <a:latin typeface="+mn-lt"/>
                        </a:rPr>
                        <a:t>8192</a:t>
                      </a:r>
                      <a:r>
                        <a:rPr lang="zh-CN" altLang="en-US" sz="1400" dirty="0">
                          <a:solidFill>
                            <a:srgbClr val="0432FF"/>
                          </a:solidFill>
                          <a:latin typeface="+mn-lt"/>
                        </a:rPr>
                        <a:t> </a:t>
                      </a:r>
                      <a:r>
                        <a:rPr lang="en-US" altLang="zh-CN" sz="1400" dirty="0">
                          <a:solidFill>
                            <a:srgbClr val="0432FF"/>
                          </a:solidFill>
                          <a:latin typeface="+mn-lt"/>
                        </a:rPr>
                        <a:t>(128K)</a:t>
                      </a:r>
                      <a:endParaRPr lang="en-CN" sz="1400" dirty="0">
                        <a:solidFill>
                          <a:srgbClr val="0432FF"/>
                        </a:solidFill>
                        <a:latin typeface="+mn-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CN" sz="1400" dirty="0">
                          <a:solidFill>
                            <a:srgbClr val="0432FF"/>
                          </a:solidFill>
                          <a:latin typeface="+mn-lt"/>
                        </a:rPr>
                        <a:t>19.5 (FP32),</a:t>
                      </a:r>
                    </a:p>
                    <a:p>
                      <a:pPr algn="ctr">
                        <a:lnSpc>
                          <a:spcPct val="100000"/>
                        </a:lnSpc>
                      </a:pPr>
                      <a:r>
                        <a:rPr lang="en-CN" sz="1400" dirty="0">
                          <a:solidFill>
                            <a:srgbClr val="0432FF"/>
                          </a:solidFill>
                          <a:latin typeface="+mn-lt"/>
                        </a:rPr>
                        <a:t>9.7 (FP64),</a:t>
                      </a:r>
                    </a:p>
                    <a:p>
                      <a:pPr algn="ctr">
                        <a:lnSpc>
                          <a:spcPct val="100000"/>
                        </a:lnSpc>
                      </a:pPr>
                      <a:r>
                        <a:rPr lang="en-CN" sz="1400" dirty="0">
                          <a:solidFill>
                            <a:srgbClr val="0432FF"/>
                          </a:solidFill>
                          <a:latin typeface="+mn-lt"/>
                        </a:rPr>
                        <a:t>156 (FP32, Tensor),</a:t>
                      </a:r>
                    </a:p>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dirty="0">
                          <a:solidFill>
                            <a:srgbClr val="0432FF"/>
                          </a:solidFill>
                          <a:latin typeface="+mn-lt"/>
                        </a:rPr>
                        <a:t>312 (FP16, Tensor)</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dirty="0">
                          <a:solidFill>
                            <a:srgbClr val="0432FF"/>
                          </a:solidFill>
                          <a:latin typeface="+mn-lt"/>
                        </a:rPr>
                        <a:t>40/80GB </a:t>
                      </a:r>
                      <a:endParaRPr lang="en-US" sz="1400" dirty="0">
                        <a:solidFill>
                          <a:srgbClr val="0432FF"/>
                        </a:solidFill>
                        <a:latin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dirty="0">
                          <a:solidFill>
                            <a:srgbClr val="0432FF"/>
                          </a:solidFill>
                          <a:latin typeface="+mn-lt"/>
                        </a:rPr>
                        <a:t>(1935GB/s)</a:t>
                      </a:r>
                    </a:p>
                    <a:p>
                      <a:pPr algn="ctr">
                        <a:lnSpc>
                          <a:spcPct val="100000"/>
                        </a:lnSpc>
                      </a:pPr>
                      <a:endParaRPr lang="en-CN" sz="1400" dirty="0">
                        <a:solidFill>
                          <a:srgbClr val="0432FF"/>
                        </a:solidFill>
                        <a:latin typeface="+mn-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dirty="0">
                          <a:solidFill>
                            <a:srgbClr val="0432FF"/>
                          </a:solidFill>
                          <a:latin typeface="+mn-lt"/>
                        </a:rPr>
                        <a:t>3</a:t>
                      </a:r>
                      <a:r>
                        <a:rPr lang="en-US" altLang="zh-CN" sz="1400" dirty="0">
                          <a:solidFill>
                            <a:srgbClr val="0432FF"/>
                          </a:solidFill>
                          <a:latin typeface="+mn-lt"/>
                        </a:rPr>
                        <a:t>2</a:t>
                      </a:r>
                      <a:r>
                        <a:rPr lang="en-CN" sz="1400" dirty="0">
                          <a:solidFill>
                            <a:srgbClr val="0432FF"/>
                          </a:solidFill>
                          <a:latin typeface="+mn-lt"/>
                        </a:rPr>
                        <a:t>.0GB/s </a:t>
                      </a:r>
                      <a:endParaRPr lang="en-US" sz="1400" dirty="0">
                        <a:solidFill>
                          <a:srgbClr val="0432FF"/>
                        </a:solidFill>
                        <a:latin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dirty="0">
                          <a:solidFill>
                            <a:srgbClr val="0432FF"/>
                          </a:solidFill>
                          <a:latin typeface="+mn-lt"/>
                        </a:rPr>
                        <a:t>(PCIe 4.0</a:t>
                      </a:r>
                      <a:r>
                        <a:rPr lang="zh-CN" altLang="en-US" sz="1400" dirty="0">
                          <a:solidFill>
                            <a:srgbClr val="0432FF"/>
                          </a:solidFill>
                          <a:latin typeface="+mn-lt"/>
                        </a:rPr>
                        <a:t> </a:t>
                      </a:r>
                      <a:r>
                        <a:rPr lang="en-CN" sz="1400" dirty="0">
                          <a:solidFill>
                            <a:srgbClr val="0432FF"/>
                          </a:solidFill>
                          <a:latin typeface="+mn-lt"/>
                        </a:rPr>
                        <a:t>X</a:t>
                      </a:r>
                      <a:r>
                        <a:rPr lang="en-US" altLang="zh-CN" sz="1400" dirty="0">
                          <a:solidFill>
                            <a:srgbClr val="0432FF"/>
                          </a:solidFill>
                          <a:latin typeface="+mn-lt"/>
                        </a:rPr>
                        <a:t>16</a:t>
                      </a:r>
                      <a:r>
                        <a:rPr lang="en-CN" sz="1400" dirty="0">
                          <a:solidFill>
                            <a:srgbClr val="0432FF"/>
                          </a:solidFill>
                          <a:latin typeface="+mn-lt"/>
                        </a:rPr>
                        <a: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en-CN" sz="1400" dirty="0">
                          <a:solidFill>
                            <a:srgbClr val="0432FF"/>
                          </a:solidFill>
                          <a:latin typeface="+mn-lt"/>
                        </a:rPr>
                        <a:t>No</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4776214"/>
                  </a:ext>
                </a:extLst>
              </a:tr>
              <a:tr h="685800">
                <a:tc>
                  <a:txBody>
                    <a:bodyPr/>
                    <a:lstStyle/>
                    <a:p>
                      <a:pPr algn="ctr">
                        <a:lnSpc>
                          <a:spcPct val="100000"/>
                        </a:lnSpc>
                      </a:pPr>
                      <a:r>
                        <a:rPr lang="en-CN" sz="1400" b="1" dirty="0">
                          <a:latin typeface="+mn-lt"/>
                        </a:rPr>
                        <a:t>FPGA (U280)</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kern="1200" dirty="0">
                          <a:solidFill>
                            <a:schemeClr val="dk1"/>
                          </a:solidFill>
                          <a:effectLst/>
                          <a:latin typeface="+mn-lt"/>
                          <a:ea typeface="+mn-ea"/>
                          <a:cs typeface="+mn-cs"/>
                        </a:rPr>
                        <a:t>9,024 </a:t>
                      </a:r>
                      <a:endParaRPr lang="en-CN" sz="1400" dirty="0">
                        <a:effectLst/>
                      </a:endParaRPr>
                    </a:p>
                    <a:p>
                      <a:pPr algn="ctr">
                        <a:lnSpc>
                          <a:spcPct val="100000"/>
                        </a:lnSpc>
                      </a:pPr>
                      <a:r>
                        <a:rPr lang="en-CN" sz="1400" dirty="0">
                          <a:latin typeface="+mn-lt"/>
                        </a:rPr>
                        <a:t>(25x18 </a:t>
                      </a:r>
                      <a:r>
                        <a:rPr lang="en-CN" sz="1400" dirty="0">
                          <a:solidFill>
                            <a:schemeClr val="accent2"/>
                          </a:solidFill>
                          <a:latin typeface="+mn-lt"/>
                        </a:rPr>
                        <a:t>MULs</a:t>
                      </a:r>
                      <a:r>
                        <a:rPr lang="en-CN" sz="1400" dirty="0">
                          <a:latin typeface="+mn-lt"/>
                        </a:rPr>
                        <a: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dirty="0">
                          <a:latin typeface="+mn-lt"/>
                        </a:rPr>
                        <a:t>1.8 (FP32)</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dirty="0">
                          <a:latin typeface="+mn-lt"/>
                        </a:rPr>
                        <a:t>40GB </a:t>
                      </a:r>
                      <a:endParaRPr lang="en-US" sz="1400" dirty="0">
                        <a:latin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dirty="0">
                          <a:latin typeface="+mn-lt"/>
                        </a:rPr>
                        <a:t>(</a:t>
                      </a:r>
                      <a:r>
                        <a:rPr lang="en-US" altLang="zh-CN" sz="1400" dirty="0">
                          <a:latin typeface="+mn-lt"/>
                        </a:rPr>
                        <a:t>460</a:t>
                      </a:r>
                      <a:r>
                        <a:rPr lang="en-CN" sz="1400" dirty="0">
                          <a:latin typeface="+mn-lt"/>
                        </a:rPr>
                        <a:t>GB/s)</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dirty="0">
                          <a:latin typeface="+mn-lt"/>
                        </a:rPr>
                        <a:t>1</a:t>
                      </a:r>
                      <a:r>
                        <a:rPr lang="en-US" altLang="zh-CN" sz="1400" dirty="0">
                          <a:latin typeface="+mn-lt"/>
                        </a:rPr>
                        <a:t>6</a:t>
                      </a:r>
                      <a:r>
                        <a:rPr lang="en-CN" sz="1400" dirty="0">
                          <a:latin typeface="+mn-lt"/>
                        </a:rPr>
                        <a:t>.0GB/s </a:t>
                      </a:r>
                      <a:endParaRPr lang="en-US" sz="1400" dirty="0">
                        <a:latin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dirty="0">
                          <a:latin typeface="+mn-lt"/>
                        </a:rPr>
                        <a:t>(PCIe 4.0</a:t>
                      </a:r>
                      <a:r>
                        <a:rPr lang="zh-CN" altLang="en-US" sz="1400" dirty="0">
                          <a:latin typeface="+mn-lt"/>
                        </a:rPr>
                        <a:t> </a:t>
                      </a:r>
                      <a:r>
                        <a:rPr lang="en-CN" sz="1400" dirty="0">
                          <a:latin typeface="+mn-lt"/>
                        </a:rPr>
                        <a:t>X</a:t>
                      </a:r>
                      <a:r>
                        <a:rPr lang="en-US" altLang="zh-CN" sz="1400" dirty="0">
                          <a:latin typeface="+mn-lt"/>
                        </a:rPr>
                        <a:t>8</a:t>
                      </a:r>
                      <a:r>
                        <a:rPr lang="en-CN" sz="1400" dirty="0">
                          <a:latin typeface="+mn-lt"/>
                        </a:rPr>
                        <a: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sz="1400" dirty="0">
                          <a:latin typeface="+mn-lt"/>
                        </a:rPr>
                        <a:t>Yes</a:t>
                      </a:r>
                    </a:p>
                    <a:p>
                      <a:pPr algn="ctr">
                        <a:lnSpc>
                          <a:spcPct val="100000"/>
                        </a:lnSpc>
                      </a:pPr>
                      <a:endParaRPr lang="en-CN" sz="1400" dirty="0">
                        <a:latin typeface="+mn-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0744454"/>
                  </a:ext>
                </a:extLst>
              </a:tr>
            </a:tbl>
          </a:graphicData>
        </a:graphic>
      </p:graphicFrame>
    </p:spTree>
    <p:extLst>
      <p:ext uri="{BB962C8B-B14F-4D97-AF65-F5344CB8AC3E}">
        <p14:creationId xmlns:p14="http://schemas.microsoft.com/office/powerpoint/2010/main" val="3120339931"/>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a:extLst>
              <a:ext uri="{FF2B5EF4-FFF2-40B4-BE49-F238E27FC236}">
                <a16:creationId xmlns:a16="http://schemas.microsoft.com/office/drawing/2014/main" id="{4EE5B2AA-FF9B-DB4E-97CC-0C4C71C6AE2A}"/>
              </a:ext>
            </a:extLst>
          </p:cNvPr>
          <p:cNvSpPr>
            <a:spLocks noGrp="1"/>
          </p:cNvSpPr>
          <p:nvPr>
            <p:ph type="title"/>
          </p:nvPr>
        </p:nvSpPr>
        <p:spPr/>
        <p:txBody>
          <a:bodyPr/>
          <a:lstStyle/>
          <a:p>
            <a:r>
              <a:rPr lang="en-US" altLang="zh-CN" dirty="0">
                <a:ea typeface="ＭＳ Ｐゴシック" panose="020B0600070205080204" pitchFamily="34" charset="-128"/>
              </a:rPr>
              <a:t>Limitation of GPU</a:t>
            </a:r>
            <a:endParaRPr lang="en-US" altLang="en-US" dirty="0">
              <a:ea typeface="ＭＳ Ｐゴシック" panose="020B0600070205080204" pitchFamily="34" charset="-128"/>
            </a:endParaRPr>
          </a:p>
        </p:txBody>
      </p:sp>
      <p:sp>
        <p:nvSpPr>
          <p:cNvPr id="47107" name="Slide Number Placeholder 3">
            <a:extLst>
              <a:ext uri="{FF2B5EF4-FFF2-40B4-BE49-F238E27FC236}">
                <a16:creationId xmlns:a16="http://schemas.microsoft.com/office/drawing/2014/main" id="{21907114-80D5-1F47-B079-9D046A445A1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391526B-700D-0C48-A91E-64A8292463A0}"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87</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5" name="object 4">
            <a:extLst>
              <a:ext uri="{FF2B5EF4-FFF2-40B4-BE49-F238E27FC236}">
                <a16:creationId xmlns:a16="http://schemas.microsoft.com/office/drawing/2014/main" id="{C9D9701A-BE8C-8B44-B096-9E2F462BB203}"/>
              </a:ext>
            </a:extLst>
          </p:cNvPr>
          <p:cNvSpPr/>
          <p:nvPr/>
        </p:nvSpPr>
        <p:spPr>
          <a:xfrm>
            <a:off x="4302354" y="1414723"/>
            <a:ext cx="4169664" cy="5117592"/>
          </a:xfrm>
          <a:prstGeom prst="rect">
            <a:avLst/>
          </a:prstGeom>
          <a:blipFill>
            <a:blip r:embed="rId2" cstate="print"/>
            <a:stretch>
              <a:fillRect/>
            </a:stretch>
          </a:blipFill>
        </p:spPr>
        <p:txBody>
          <a:bodyPr wrap="square" lIns="0" tIns="0" rIns="0" bIns="0" rtlCol="0"/>
          <a:lstStyle/>
          <a:p>
            <a:endParaRPr sz="2800"/>
          </a:p>
        </p:txBody>
      </p:sp>
      <p:sp>
        <p:nvSpPr>
          <p:cNvPr id="6" name="object 5">
            <a:extLst>
              <a:ext uri="{FF2B5EF4-FFF2-40B4-BE49-F238E27FC236}">
                <a16:creationId xmlns:a16="http://schemas.microsoft.com/office/drawing/2014/main" id="{C8F144F2-0929-0D4C-B386-460EAE296BD3}"/>
              </a:ext>
            </a:extLst>
          </p:cNvPr>
          <p:cNvSpPr/>
          <p:nvPr/>
        </p:nvSpPr>
        <p:spPr>
          <a:xfrm>
            <a:off x="260684" y="2113670"/>
            <a:ext cx="2242843" cy="1687387"/>
          </a:xfrm>
          <a:prstGeom prst="rect">
            <a:avLst/>
          </a:prstGeom>
          <a:blipFill>
            <a:blip r:embed="rId3" cstate="print"/>
            <a:stretch>
              <a:fillRect/>
            </a:stretch>
          </a:blipFill>
        </p:spPr>
        <p:txBody>
          <a:bodyPr wrap="square" lIns="0" tIns="0" rIns="0" bIns="0" rtlCol="0"/>
          <a:lstStyle/>
          <a:p>
            <a:endParaRPr/>
          </a:p>
        </p:txBody>
      </p:sp>
      <p:sp>
        <p:nvSpPr>
          <p:cNvPr id="7" name="object 6">
            <a:extLst>
              <a:ext uri="{FF2B5EF4-FFF2-40B4-BE49-F238E27FC236}">
                <a16:creationId xmlns:a16="http://schemas.microsoft.com/office/drawing/2014/main" id="{3DC59F8D-770C-5445-859D-208C6883D507}"/>
              </a:ext>
            </a:extLst>
          </p:cNvPr>
          <p:cNvSpPr/>
          <p:nvPr/>
        </p:nvSpPr>
        <p:spPr>
          <a:xfrm>
            <a:off x="2361731" y="2653823"/>
            <a:ext cx="1999614" cy="571500"/>
          </a:xfrm>
          <a:custGeom>
            <a:avLst/>
            <a:gdLst/>
            <a:ahLst/>
            <a:cxnLst/>
            <a:rect l="l" t="t" r="r" b="b"/>
            <a:pathLst>
              <a:path w="1999614" h="571500">
                <a:moveTo>
                  <a:pt x="0" y="285750"/>
                </a:moveTo>
                <a:lnTo>
                  <a:pt x="285750" y="0"/>
                </a:lnTo>
                <a:lnTo>
                  <a:pt x="285750" y="142875"/>
                </a:lnTo>
                <a:lnTo>
                  <a:pt x="1713738" y="142875"/>
                </a:lnTo>
                <a:lnTo>
                  <a:pt x="1713738" y="0"/>
                </a:lnTo>
                <a:lnTo>
                  <a:pt x="1999488" y="285750"/>
                </a:lnTo>
                <a:lnTo>
                  <a:pt x="1713738" y="571500"/>
                </a:lnTo>
                <a:lnTo>
                  <a:pt x="1713738" y="428625"/>
                </a:lnTo>
                <a:lnTo>
                  <a:pt x="285750" y="428625"/>
                </a:lnTo>
                <a:lnTo>
                  <a:pt x="285750" y="571500"/>
                </a:lnTo>
                <a:lnTo>
                  <a:pt x="0" y="285750"/>
                </a:lnTo>
                <a:close/>
              </a:path>
            </a:pathLst>
          </a:custGeom>
          <a:ln w="25400">
            <a:solidFill>
              <a:schemeClr val="tx1"/>
            </a:solidFill>
          </a:ln>
        </p:spPr>
        <p:txBody>
          <a:bodyPr wrap="square" lIns="0" tIns="0" rIns="0" bIns="0" rtlCol="0"/>
          <a:lstStyle/>
          <a:p>
            <a:endParaRPr dirty="0"/>
          </a:p>
        </p:txBody>
      </p:sp>
      <p:sp>
        <p:nvSpPr>
          <p:cNvPr id="8" name="object 13">
            <a:extLst>
              <a:ext uri="{FF2B5EF4-FFF2-40B4-BE49-F238E27FC236}">
                <a16:creationId xmlns:a16="http://schemas.microsoft.com/office/drawing/2014/main" id="{214B47D5-708E-7B4F-B7CF-01BC9218CDD9}"/>
              </a:ext>
            </a:extLst>
          </p:cNvPr>
          <p:cNvSpPr txBox="1"/>
          <p:nvPr/>
        </p:nvSpPr>
        <p:spPr>
          <a:xfrm>
            <a:off x="915813" y="1667893"/>
            <a:ext cx="932584" cy="444352"/>
          </a:xfrm>
          <a:prstGeom prst="rect">
            <a:avLst/>
          </a:prstGeom>
        </p:spPr>
        <p:txBody>
          <a:bodyPr vert="horz" wrap="square" lIns="0" tIns="13335" rIns="0" bIns="0" rtlCol="0">
            <a:spAutoFit/>
          </a:bodyPr>
          <a:lstStyle/>
          <a:p>
            <a:pPr marL="12700">
              <a:lnSpc>
                <a:spcPct val="100000"/>
              </a:lnSpc>
              <a:spcBef>
                <a:spcPts val="105"/>
              </a:spcBef>
            </a:pPr>
            <a:r>
              <a:rPr lang="en-US" sz="2800" b="1" dirty="0">
                <a:solidFill>
                  <a:srgbClr val="004730"/>
                </a:solidFill>
                <a:latin typeface="Calibri" panose="020F0502020204030204"/>
                <a:cs typeface="Calibri" panose="020F0502020204030204"/>
              </a:rPr>
              <a:t>CPU</a:t>
            </a:r>
          </a:p>
        </p:txBody>
      </p:sp>
      <p:sp>
        <p:nvSpPr>
          <p:cNvPr id="9" name="object 13">
            <a:extLst>
              <a:ext uri="{FF2B5EF4-FFF2-40B4-BE49-F238E27FC236}">
                <a16:creationId xmlns:a16="http://schemas.microsoft.com/office/drawing/2014/main" id="{B721BD3C-7C9D-2746-895C-25954D4701A0}"/>
              </a:ext>
            </a:extLst>
          </p:cNvPr>
          <p:cNvSpPr txBox="1"/>
          <p:nvPr/>
        </p:nvSpPr>
        <p:spPr>
          <a:xfrm flipH="1">
            <a:off x="5985177" y="999907"/>
            <a:ext cx="4169664" cy="444352"/>
          </a:xfrm>
          <a:prstGeom prst="rect">
            <a:avLst/>
          </a:prstGeom>
        </p:spPr>
        <p:txBody>
          <a:bodyPr vert="horz" wrap="square" lIns="0" tIns="13335" rIns="0" bIns="0" rtlCol="0">
            <a:spAutoFit/>
          </a:bodyPr>
          <a:lstStyle/>
          <a:p>
            <a:pPr marL="12700">
              <a:lnSpc>
                <a:spcPct val="100000"/>
              </a:lnSpc>
              <a:spcBef>
                <a:spcPts val="105"/>
              </a:spcBef>
            </a:pPr>
            <a:r>
              <a:rPr lang="en-US" sz="2800" b="1" dirty="0">
                <a:solidFill>
                  <a:srgbClr val="004730"/>
                </a:solidFill>
                <a:latin typeface="Calibri" panose="020F0502020204030204"/>
                <a:cs typeface="Calibri" panose="020F0502020204030204"/>
              </a:rPr>
              <a:t>GPU</a:t>
            </a:r>
          </a:p>
        </p:txBody>
      </p:sp>
      <p:sp>
        <p:nvSpPr>
          <p:cNvPr id="10" name="object 13">
            <a:extLst>
              <a:ext uri="{FF2B5EF4-FFF2-40B4-BE49-F238E27FC236}">
                <a16:creationId xmlns:a16="http://schemas.microsoft.com/office/drawing/2014/main" id="{AD256F98-4A99-EB4B-8D85-3E1F5F6FA4C1}"/>
              </a:ext>
            </a:extLst>
          </p:cNvPr>
          <p:cNvSpPr txBox="1"/>
          <p:nvPr/>
        </p:nvSpPr>
        <p:spPr>
          <a:xfrm flipH="1">
            <a:off x="2988787" y="2709243"/>
            <a:ext cx="971136" cy="444352"/>
          </a:xfrm>
          <a:prstGeom prst="rect">
            <a:avLst/>
          </a:prstGeom>
        </p:spPr>
        <p:txBody>
          <a:bodyPr vert="horz" wrap="square" lIns="0" tIns="13335" rIns="0" bIns="0" rtlCol="0">
            <a:spAutoFit/>
          </a:bodyPr>
          <a:lstStyle/>
          <a:p>
            <a:pPr marL="12700">
              <a:lnSpc>
                <a:spcPct val="100000"/>
              </a:lnSpc>
              <a:spcBef>
                <a:spcPts val="105"/>
              </a:spcBef>
            </a:pPr>
            <a:r>
              <a:rPr lang="en-US" sz="2800" b="1" dirty="0">
                <a:solidFill>
                  <a:schemeClr val="tx2"/>
                </a:solidFill>
                <a:latin typeface="Calibri" panose="020F0502020204030204"/>
                <a:cs typeface="Calibri" panose="020F0502020204030204"/>
              </a:rPr>
              <a:t>PCIe</a:t>
            </a:r>
          </a:p>
        </p:txBody>
      </p:sp>
      <p:sp>
        <p:nvSpPr>
          <p:cNvPr id="11" name="object 13">
            <a:extLst>
              <a:ext uri="{FF2B5EF4-FFF2-40B4-BE49-F238E27FC236}">
                <a16:creationId xmlns:a16="http://schemas.microsoft.com/office/drawing/2014/main" id="{1E14EACF-C263-1C4B-AF22-B5E6F37EA7B2}"/>
              </a:ext>
            </a:extLst>
          </p:cNvPr>
          <p:cNvSpPr txBox="1"/>
          <p:nvPr/>
        </p:nvSpPr>
        <p:spPr>
          <a:xfrm flipH="1">
            <a:off x="2745433" y="3203186"/>
            <a:ext cx="1343891" cy="382797"/>
          </a:xfrm>
          <a:prstGeom prst="rect">
            <a:avLst/>
          </a:prstGeom>
        </p:spPr>
        <p:txBody>
          <a:bodyPr vert="horz" wrap="square" lIns="0" tIns="13335" rIns="0" bIns="0" rtlCol="0">
            <a:spAutoFit/>
          </a:bodyPr>
          <a:lstStyle/>
          <a:p>
            <a:pPr marL="12700">
              <a:lnSpc>
                <a:spcPct val="100000"/>
              </a:lnSpc>
              <a:spcBef>
                <a:spcPts val="105"/>
              </a:spcBef>
            </a:pPr>
            <a:r>
              <a:rPr lang="en-US" sz="2400" b="1" dirty="0">
                <a:solidFill>
                  <a:srgbClr val="FF0000"/>
                </a:solidFill>
                <a:latin typeface="Calibri" panose="020F0502020204030204"/>
                <a:cs typeface="Calibri" panose="020F0502020204030204"/>
              </a:rPr>
              <a:t>32.0GB/s</a:t>
            </a:r>
          </a:p>
        </p:txBody>
      </p:sp>
      <p:sp>
        <p:nvSpPr>
          <p:cNvPr id="12" name="object 13">
            <a:extLst>
              <a:ext uri="{FF2B5EF4-FFF2-40B4-BE49-F238E27FC236}">
                <a16:creationId xmlns:a16="http://schemas.microsoft.com/office/drawing/2014/main" id="{F13874FF-BD5C-D34A-8FD8-78BCE2BA7955}"/>
              </a:ext>
            </a:extLst>
          </p:cNvPr>
          <p:cNvSpPr txBox="1"/>
          <p:nvPr/>
        </p:nvSpPr>
        <p:spPr>
          <a:xfrm flipH="1">
            <a:off x="2789903" y="5181600"/>
            <a:ext cx="1512639" cy="382797"/>
          </a:xfrm>
          <a:prstGeom prst="rect">
            <a:avLst/>
          </a:prstGeom>
        </p:spPr>
        <p:txBody>
          <a:bodyPr vert="horz" wrap="square" lIns="0" tIns="13335" rIns="0" bIns="0" rtlCol="0">
            <a:spAutoFit/>
          </a:bodyPr>
          <a:lstStyle/>
          <a:p>
            <a:pPr marL="12700">
              <a:lnSpc>
                <a:spcPct val="100000"/>
              </a:lnSpc>
              <a:spcBef>
                <a:spcPts val="105"/>
              </a:spcBef>
            </a:pPr>
            <a:r>
              <a:rPr lang="en-US" sz="2400" b="1" dirty="0">
                <a:solidFill>
                  <a:srgbClr val="004730"/>
                </a:solidFill>
                <a:latin typeface="Calibri" panose="020F0502020204030204"/>
                <a:cs typeface="Calibri" panose="020F0502020204030204"/>
              </a:rPr>
              <a:t>1935GB/s</a:t>
            </a:r>
          </a:p>
        </p:txBody>
      </p:sp>
    </p:spTree>
    <p:extLst>
      <p:ext uri="{BB962C8B-B14F-4D97-AF65-F5344CB8AC3E}">
        <p14:creationId xmlns:p14="http://schemas.microsoft.com/office/powerpoint/2010/main" val="11909225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Slide Number Placeholder 3">
            <a:extLst>
              <a:ext uri="{FF2B5EF4-FFF2-40B4-BE49-F238E27FC236}">
                <a16:creationId xmlns:a16="http://schemas.microsoft.com/office/drawing/2014/main" id="{21907114-80D5-1F47-B079-9D046A445A1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391526B-700D-0C48-A91E-64A8292463A0}"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88</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7" name="Rectangle 6">
            <a:extLst>
              <a:ext uri="{FF2B5EF4-FFF2-40B4-BE49-F238E27FC236}">
                <a16:creationId xmlns:a16="http://schemas.microsoft.com/office/drawing/2014/main" id="{358D82AB-8375-2E42-8042-70DB0F1CBC10}"/>
              </a:ext>
            </a:extLst>
          </p:cNvPr>
          <p:cNvSpPr/>
          <p:nvPr/>
        </p:nvSpPr>
        <p:spPr>
          <a:xfrm>
            <a:off x="39330" y="1528465"/>
            <a:ext cx="4419600" cy="400110"/>
          </a:xfrm>
          <a:prstGeom prst="rect">
            <a:avLst/>
          </a:prstGeom>
        </p:spPr>
        <p:txBody>
          <a:bodyPr wrap="square">
            <a:spAutoFit/>
          </a:bodyPr>
          <a:lstStyle/>
          <a:p>
            <a:r>
              <a:rPr lang="en-US" sz="2000" dirty="0">
                <a:solidFill>
                  <a:schemeClr val="accent2"/>
                </a:solidFill>
              </a:rPr>
              <a:t>Serial Code of Prefix sum</a:t>
            </a:r>
            <a:r>
              <a:rPr lang="en-US" sz="2000" dirty="0"/>
              <a:t>:</a:t>
            </a:r>
          </a:p>
        </p:txBody>
      </p:sp>
      <p:pic>
        <p:nvPicPr>
          <p:cNvPr id="9" name="Picture 2" descr="Parallel Prefix Sum Scan GPU Graphics Gary J">
            <a:extLst>
              <a:ext uri="{FF2B5EF4-FFF2-40B4-BE49-F238E27FC236}">
                <a16:creationId xmlns:a16="http://schemas.microsoft.com/office/drawing/2014/main" id="{4031F353-1C5B-E14A-9B7D-C29E6AC184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8325" y="2409277"/>
            <a:ext cx="5270540" cy="3952905"/>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77DF1823-706E-1A41-8676-BB29714516B8}"/>
              </a:ext>
            </a:extLst>
          </p:cNvPr>
          <p:cNvSpPr/>
          <p:nvPr/>
        </p:nvSpPr>
        <p:spPr>
          <a:xfrm>
            <a:off x="39331" y="3886200"/>
            <a:ext cx="4419600" cy="707886"/>
          </a:xfrm>
          <a:prstGeom prst="rect">
            <a:avLst/>
          </a:prstGeom>
        </p:spPr>
        <p:txBody>
          <a:bodyPr wrap="square">
            <a:spAutoFit/>
          </a:bodyPr>
          <a:lstStyle/>
          <a:p>
            <a:r>
              <a:rPr lang="en-US" sz="2000" dirty="0">
                <a:solidFill>
                  <a:schemeClr val="accent2"/>
                </a:solidFill>
              </a:rPr>
              <a:t>GPU Code of Prefix sum</a:t>
            </a:r>
            <a:r>
              <a:rPr lang="en-US" sz="2000" dirty="0"/>
              <a:t>:</a:t>
            </a:r>
          </a:p>
          <a:p>
            <a:r>
              <a:rPr lang="en-US" sz="2000" dirty="0"/>
              <a:t>    </a:t>
            </a:r>
            <a:r>
              <a:rPr lang="en-US" sz="2000" dirty="0">
                <a:solidFill>
                  <a:srgbClr val="FF0000"/>
                </a:solidFill>
              </a:rPr>
              <a:t>Multi-pass (ISSUE)</a:t>
            </a:r>
          </a:p>
        </p:txBody>
      </p:sp>
      <p:sp>
        <p:nvSpPr>
          <p:cNvPr id="47105" name="Title 1">
            <a:extLst>
              <a:ext uri="{FF2B5EF4-FFF2-40B4-BE49-F238E27FC236}">
                <a16:creationId xmlns:a16="http://schemas.microsoft.com/office/drawing/2014/main" id="{4EE5B2AA-FF9B-DB4E-97CC-0C4C71C6AE2A}"/>
              </a:ext>
            </a:extLst>
          </p:cNvPr>
          <p:cNvSpPr>
            <a:spLocks noGrp="1"/>
          </p:cNvSpPr>
          <p:nvPr>
            <p:ph type="title"/>
          </p:nvPr>
        </p:nvSpPr>
        <p:spPr/>
        <p:txBody>
          <a:bodyPr/>
          <a:lstStyle/>
          <a:p>
            <a:r>
              <a:rPr lang="en-US" altLang="zh-CN" dirty="0">
                <a:ea typeface="ＭＳ Ｐゴシック" panose="020B0600070205080204" pitchFamily="34" charset="-128"/>
              </a:rPr>
              <a:t>Limitation of GPU</a:t>
            </a:r>
            <a:endParaRPr lang="en-US" altLang="en-US" dirty="0">
              <a:ea typeface="ＭＳ Ｐゴシック" panose="020B0600070205080204" pitchFamily="34" charset="-128"/>
            </a:endParaRPr>
          </a:p>
        </p:txBody>
      </p:sp>
      <p:sp>
        <p:nvSpPr>
          <p:cNvPr id="8" name="Rectangle 7">
            <a:extLst>
              <a:ext uri="{FF2B5EF4-FFF2-40B4-BE49-F238E27FC236}">
                <a16:creationId xmlns:a16="http://schemas.microsoft.com/office/drawing/2014/main" id="{CDDA7D92-8DE6-5449-8535-DAE69C26ACAC}"/>
              </a:ext>
            </a:extLst>
          </p:cNvPr>
          <p:cNvSpPr/>
          <p:nvPr/>
        </p:nvSpPr>
        <p:spPr>
          <a:xfrm>
            <a:off x="3429000" y="996458"/>
            <a:ext cx="5715001" cy="1815882"/>
          </a:xfrm>
          <a:prstGeom prst="rect">
            <a:avLst/>
          </a:prstGeom>
          <a:solidFill>
            <a:schemeClr val="bg1"/>
          </a:solidFill>
        </p:spPr>
        <p:txBody>
          <a:bodyPr wrap="square">
            <a:spAutoFit/>
          </a:bodyPr>
          <a:lstStyle/>
          <a:p>
            <a:pPr fontAlgn="base"/>
            <a:r>
              <a:rPr lang="en-US" sz="1600" dirty="0">
                <a:solidFill>
                  <a:srgbClr val="273239"/>
                </a:solidFill>
                <a:latin typeface="Consolas" panose="020B0609020204030204" pitchFamily="49" charset="0"/>
              </a:rPr>
              <a:t>// Fills prefix sum array</a:t>
            </a:r>
          </a:p>
          <a:p>
            <a:pPr fontAlgn="base"/>
            <a:r>
              <a:rPr lang="en-US" sz="1600" dirty="0">
                <a:solidFill>
                  <a:srgbClr val="273239"/>
                </a:solidFill>
                <a:latin typeface="Consolas" panose="020B0609020204030204" pitchFamily="49" charset="0"/>
              </a:rPr>
              <a:t>void </a:t>
            </a:r>
            <a:r>
              <a:rPr lang="en-US" sz="1600" b="1" dirty="0" err="1">
                <a:solidFill>
                  <a:srgbClr val="273239"/>
                </a:solidFill>
                <a:latin typeface="Consolas" panose="020B0609020204030204" pitchFamily="49" charset="0"/>
              </a:rPr>
              <a:t>fillPrefixSum</a:t>
            </a:r>
            <a:r>
              <a:rPr lang="en-US" sz="1600" dirty="0">
                <a:solidFill>
                  <a:srgbClr val="273239"/>
                </a:solidFill>
                <a:latin typeface="Consolas" panose="020B0609020204030204" pitchFamily="49" charset="0"/>
              </a:rPr>
              <a:t>(int </a:t>
            </a:r>
            <a:r>
              <a:rPr lang="en-US" sz="1600" dirty="0" err="1">
                <a:solidFill>
                  <a:srgbClr val="273239"/>
                </a:solidFill>
                <a:latin typeface="Consolas" panose="020B0609020204030204" pitchFamily="49" charset="0"/>
              </a:rPr>
              <a:t>arr</a:t>
            </a:r>
            <a:r>
              <a:rPr lang="en-US" sz="1600" dirty="0">
                <a:solidFill>
                  <a:srgbClr val="273239"/>
                </a:solidFill>
                <a:latin typeface="Consolas" panose="020B0609020204030204" pitchFamily="49" charset="0"/>
              </a:rPr>
              <a:t>[], int n, int </a:t>
            </a:r>
            <a:r>
              <a:rPr lang="en-US" sz="1600" dirty="0" err="1">
                <a:solidFill>
                  <a:srgbClr val="273239"/>
                </a:solidFill>
                <a:latin typeface="Consolas" panose="020B0609020204030204" pitchFamily="49" charset="0"/>
              </a:rPr>
              <a:t>prefixSum</a:t>
            </a:r>
            <a:r>
              <a:rPr lang="en-US" sz="1600" dirty="0">
                <a:solidFill>
                  <a:srgbClr val="273239"/>
                </a:solidFill>
                <a:latin typeface="Consolas" panose="020B0609020204030204" pitchFamily="49" charset="0"/>
              </a:rPr>
              <a:t>[])</a:t>
            </a:r>
          </a:p>
          <a:p>
            <a:pPr fontAlgn="base"/>
            <a:r>
              <a:rPr lang="en-US" sz="1600" dirty="0">
                <a:solidFill>
                  <a:srgbClr val="273239"/>
                </a:solidFill>
                <a:latin typeface="Consolas" panose="020B0609020204030204" pitchFamily="49" charset="0"/>
              </a:rPr>
              <a:t>{ </a:t>
            </a:r>
            <a:r>
              <a:rPr lang="en-US" sz="1600" dirty="0" err="1">
                <a:solidFill>
                  <a:srgbClr val="273239"/>
                </a:solidFill>
                <a:latin typeface="Consolas" panose="020B0609020204030204" pitchFamily="49" charset="0"/>
              </a:rPr>
              <a:t>prefixSum</a:t>
            </a:r>
            <a:r>
              <a:rPr lang="en-US" sz="1600" dirty="0">
                <a:solidFill>
                  <a:srgbClr val="273239"/>
                </a:solidFill>
                <a:latin typeface="Consolas" panose="020B0609020204030204" pitchFamily="49" charset="0"/>
              </a:rPr>
              <a:t>[0] = </a:t>
            </a:r>
            <a:r>
              <a:rPr lang="en-US" sz="1600" dirty="0" err="1">
                <a:solidFill>
                  <a:srgbClr val="273239"/>
                </a:solidFill>
                <a:latin typeface="Consolas" panose="020B0609020204030204" pitchFamily="49" charset="0"/>
              </a:rPr>
              <a:t>arr</a:t>
            </a:r>
            <a:r>
              <a:rPr lang="en-US" sz="1600" dirty="0">
                <a:solidFill>
                  <a:srgbClr val="273239"/>
                </a:solidFill>
                <a:latin typeface="Consolas" panose="020B0609020204030204" pitchFamily="49" charset="0"/>
              </a:rPr>
              <a:t>[0];</a:t>
            </a:r>
          </a:p>
          <a:p>
            <a:pPr fontAlgn="base"/>
            <a:r>
              <a:rPr lang="en-US" sz="1600" dirty="0">
                <a:solidFill>
                  <a:srgbClr val="273239"/>
                </a:solidFill>
                <a:latin typeface="Consolas" panose="020B0609020204030204" pitchFamily="49" charset="0"/>
              </a:rPr>
              <a:t>  // Adding present element</a:t>
            </a:r>
          </a:p>
          <a:p>
            <a:pPr fontAlgn="base"/>
            <a:r>
              <a:rPr lang="en-US" sz="1600" dirty="0">
                <a:solidFill>
                  <a:srgbClr val="273239"/>
                </a:solidFill>
                <a:latin typeface="Consolas" panose="020B0609020204030204" pitchFamily="49" charset="0"/>
              </a:rPr>
              <a:t>  for (int </a:t>
            </a:r>
            <a:r>
              <a:rPr lang="en-US" sz="1600" dirty="0" err="1">
                <a:solidFill>
                  <a:srgbClr val="273239"/>
                </a:solidFill>
                <a:latin typeface="Consolas" panose="020B0609020204030204" pitchFamily="49" charset="0"/>
              </a:rPr>
              <a:t>i</a:t>
            </a:r>
            <a:r>
              <a:rPr lang="en-US" sz="1600" dirty="0">
                <a:solidFill>
                  <a:srgbClr val="273239"/>
                </a:solidFill>
                <a:latin typeface="Consolas" panose="020B0609020204030204" pitchFamily="49" charset="0"/>
              </a:rPr>
              <a:t> = 1; </a:t>
            </a:r>
            <a:r>
              <a:rPr lang="en-US" sz="1600" dirty="0" err="1">
                <a:solidFill>
                  <a:srgbClr val="273239"/>
                </a:solidFill>
                <a:latin typeface="Consolas" panose="020B0609020204030204" pitchFamily="49" charset="0"/>
              </a:rPr>
              <a:t>i</a:t>
            </a:r>
            <a:r>
              <a:rPr lang="en-US" sz="1600" dirty="0">
                <a:solidFill>
                  <a:srgbClr val="273239"/>
                </a:solidFill>
                <a:latin typeface="Consolas" panose="020B0609020204030204" pitchFamily="49" charset="0"/>
              </a:rPr>
              <a:t> &lt; n; </a:t>
            </a:r>
            <a:r>
              <a:rPr lang="en-US" sz="1600" dirty="0" err="1">
                <a:solidFill>
                  <a:srgbClr val="273239"/>
                </a:solidFill>
                <a:latin typeface="Consolas" panose="020B0609020204030204" pitchFamily="49" charset="0"/>
              </a:rPr>
              <a:t>i</a:t>
            </a:r>
            <a:r>
              <a:rPr lang="en-US" sz="1600" dirty="0">
                <a:solidFill>
                  <a:srgbClr val="273239"/>
                </a:solidFill>
                <a:latin typeface="Consolas" panose="020B0609020204030204" pitchFamily="49" charset="0"/>
              </a:rPr>
              <a:t>++)</a:t>
            </a:r>
          </a:p>
          <a:p>
            <a:pPr fontAlgn="base"/>
            <a:r>
              <a:rPr lang="en-US" sz="1600" dirty="0">
                <a:solidFill>
                  <a:srgbClr val="273239"/>
                </a:solidFill>
                <a:latin typeface="Consolas" panose="020B0609020204030204" pitchFamily="49" charset="0"/>
              </a:rPr>
              <a:t>  </a:t>
            </a:r>
            <a:r>
              <a:rPr lang="zh-CN" altLang="en-US" sz="1600" dirty="0">
                <a:solidFill>
                  <a:srgbClr val="273239"/>
                </a:solidFill>
                <a:latin typeface="Consolas" panose="020B0609020204030204" pitchFamily="49" charset="0"/>
              </a:rPr>
              <a:t> </a:t>
            </a:r>
            <a:r>
              <a:rPr lang="en-US" sz="1600" dirty="0" err="1">
                <a:solidFill>
                  <a:srgbClr val="273239"/>
                </a:solidFill>
                <a:latin typeface="Consolas" panose="020B0609020204030204" pitchFamily="49" charset="0"/>
              </a:rPr>
              <a:t>prefixSum</a:t>
            </a:r>
            <a:r>
              <a:rPr lang="en-US" sz="1600" dirty="0">
                <a:solidFill>
                  <a:srgbClr val="273239"/>
                </a:solidFill>
                <a:latin typeface="Consolas" panose="020B0609020204030204" pitchFamily="49" charset="0"/>
              </a:rPr>
              <a:t>[</a:t>
            </a:r>
            <a:r>
              <a:rPr lang="en-US" sz="1600" dirty="0" err="1">
                <a:solidFill>
                  <a:srgbClr val="273239"/>
                </a:solidFill>
                <a:latin typeface="Consolas" panose="020B0609020204030204" pitchFamily="49" charset="0"/>
              </a:rPr>
              <a:t>i</a:t>
            </a:r>
            <a:r>
              <a:rPr lang="en-US" sz="1600" dirty="0">
                <a:solidFill>
                  <a:srgbClr val="273239"/>
                </a:solidFill>
                <a:latin typeface="Consolas" panose="020B0609020204030204" pitchFamily="49" charset="0"/>
              </a:rPr>
              <a:t>] = </a:t>
            </a:r>
            <a:r>
              <a:rPr lang="en-US" sz="1600" dirty="0" err="1">
                <a:solidFill>
                  <a:srgbClr val="273239"/>
                </a:solidFill>
                <a:latin typeface="Consolas" panose="020B0609020204030204" pitchFamily="49" charset="0"/>
              </a:rPr>
              <a:t>prefixSum</a:t>
            </a:r>
            <a:r>
              <a:rPr lang="en-US" sz="1600" dirty="0">
                <a:solidFill>
                  <a:srgbClr val="273239"/>
                </a:solidFill>
                <a:latin typeface="Consolas" panose="020B0609020204030204" pitchFamily="49" charset="0"/>
              </a:rPr>
              <a:t>[i-1] + </a:t>
            </a:r>
            <a:r>
              <a:rPr lang="en-US" sz="1600" dirty="0" err="1">
                <a:solidFill>
                  <a:srgbClr val="273239"/>
                </a:solidFill>
                <a:latin typeface="Consolas" panose="020B0609020204030204" pitchFamily="49" charset="0"/>
              </a:rPr>
              <a:t>arr</a:t>
            </a:r>
            <a:r>
              <a:rPr lang="en-US" sz="1600" dirty="0">
                <a:solidFill>
                  <a:srgbClr val="273239"/>
                </a:solidFill>
                <a:latin typeface="Consolas" panose="020B0609020204030204" pitchFamily="49" charset="0"/>
              </a:rPr>
              <a:t>[</a:t>
            </a:r>
            <a:r>
              <a:rPr lang="en-US" sz="1600" dirty="0" err="1">
                <a:solidFill>
                  <a:srgbClr val="273239"/>
                </a:solidFill>
                <a:latin typeface="Consolas" panose="020B0609020204030204" pitchFamily="49" charset="0"/>
              </a:rPr>
              <a:t>i</a:t>
            </a:r>
            <a:r>
              <a:rPr lang="en-US" sz="1600" dirty="0">
                <a:solidFill>
                  <a:srgbClr val="273239"/>
                </a:solidFill>
                <a:latin typeface="Consolas" panose="020B0609020204030204" pitchFamily="49" charset="0"/>
              </a:rPr>
              <a:t>]; }</a:t>
            </a:r>
            <a:endParaRPr lang="en-US" sz="1600" b="0" i="0" dirty="0">
              <a:solidFill>
                <a:srgbClr val="273239"/>
              </a:solidFill>
              <a:effectLst/>
              <a:latin typeface="Consolas" panose="020B0609020204030204" pitchFamily="49" charset="0"/>
            </a:endParaRPr>
          </a:p>
        </p:txBody>
      </p:sp>
    </p:spTree>
    <p:extLst>
      <p:ext uri="{BB962C8B-B14F-4D97-AF65-F5344CB8AC3E}">
        <p14:creationId xmlns:p14="http://schemas.microsoft.com/office/powerpoint/2010/main" val="173359114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Nvidia’s Success: Transparent Scalability</a:t>
            </a:r>
          </a:p>
        </p:txBody>
      </p:sp>
      <p:sp>
        <p:nvSpPr>
          <p:cNvPr id="3" name="Marcador de contenido 2"/>
          <p:cNvSpPr>
            <a:spLocks noGrp="1"/>
          </p:cNvSpPr>
          <p:nvPr>
            <p:ph idx="1"/>
          </p:nvPr>
        </p:nvSpPr>
        <p:spPr>
          <a:xfrm>
            <a:off x="304800" y="1044638"/>
            <a:ext cx="8568952" cy="5472534"/>
          </a:xfrm>
        </p:spPr>
        <p:txBody>
          <a:bodyPr>
            <a:normAutofit/>
          </a:bodyPr>
          <a:lstStyle/>
          <a:p>
            <a:r>
              <a:rPr lang="en-US" dirty="0"/>
              <a:t>Hardware is </a:t>
            </a:r>
            <a:r>
              <a:rPr lang="en-US" dirty="0">
                <a:solidFill>
                  <a:srgbClr val="0000FF"/>
                </a:solidFill>
              </a:rPr>
              <a:t>free to schedule</a:t>
            </a:r>
            <a:r>
              <a:rPr lang="en-US" dirty="0"/>
              <a:t> thread blocks</a:t>
            </a:r>
          </a:p>
        </p:txBody>
      </p:sp>
      <p:grpSp>
        <p:nvGrpSpPr>
          <p:cNvPr id="6" name="Group 5"/>
          <p:cNvGrpSpPr>
            <a:grpSpLocks/>
          </p:cNvGrpSpPr>
          <p:nvPr/>
        </p:nvGrpSpPr>
        <p:grpSpPr bwMode="auto">
          <a:xfrm>
            <a:off x="638051" y="2287984"/>
            <a:ext cx="1620838" cy="665163"/>
            <a:chOff x="691" y="1737"/>
            <a:chExt cx="1021" cy="419"/>
          </a:xfrm>
        </p:grpSpPr>
        <p:sp>
          <p:nvSpPr>
            <p:cNvPr id="41" name="Text Box 6"/>
            <p:cNvSpPr txBox="1">
              <a:spLocks noChangeArrowheads="1"/>
            </p:cNvSpPr>
            <p:nvPr/>
          </p:nvSpPr>
          <p:spPr bwMode="auto">
            <a:xfrm>
              <a:off x="691" y="1737"/>
              <a:ext cx="1021" cy="419"/>
            </a:xfrm>
            <a:prstGeom prst="rect">
              <a:avLst/>
            </a:prstGeom>
            <a:solidFill>
              <a:srgbClr val="99CCFF"/>
            </a:solidFill>
            <a:ln w="9525">
              <a:solidFill>
                <a:srgbClr val="969696"/>
              </a:solidFill>
              <a:miter lim="800000"/>
              <a:headEnd/>
              <a:tailEnd/>
            </a:ln>
          </p:spPr>
          <p:txBody>
            <a:bodyPr>
              <a:prstTxWarp prst="textNoShape">
                <a:avLst/>
              </a:prstTxWarp>
            </a:bodyPr>
            <a:lstStyle/>
            <a:p>
              <a:r>
                <a:rPr lang="en-US" altLang="zh-TW" sz="1200" b="1">
                  <a:solidFill>
                    <a:schemeClr val="bg1"/>
                  </a:solidFill>
                  <a:latin typeface="Arial" pitchFamily="-111" charset="0"/>
                  <a:ea typeface="新細明體" pitchFamily="16" charset="-128"/>
                  <a:cs typeface="新細明體" pitchFamily="16" charset="-128"/>
                </a:rPr>
                <a:t>Device</a:t>
              </a:r>
            </a:p>
          </p:txBody>
        </p:sp>
        <p:sp>
          <p:nvSpPr>
            <p:cNvPr id="42" name="Text Box 7"/>
            <p:cNvSpPr txBox="1">
              <a:spLocks noChangeArrowheads="1"/>
            </p:cNvSpPr>
            <p:nvPr/>
          </p:nvSpPr>
          <p:spPr bwMode="auto">
            <a:xfrm>
              <a:off x="727" y="1901"/>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43" name="Text Box 8"/>
            <p:cNvSpPr txBox="1">
              <a:spLocks noChangeArrowheads="1"/>
            </p:cNvSpPr>
            <p:nvPr/>
          </p:nvSpPr>
          <p:spPr bwMode="auto">
            <a:xfrm>
              <a:off x="1212" y="1901"/>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grpSp>
      <p:grpSp>
        <p:nvGrpSpPr>
          <p:cNvPr id="7" name="Group 9"/>
          <p:cNvGrpSpPr>
            <a:grpSpLocks/>
          </p:cNvGrpSpPr>
          <p:nvPr/>
        </p:nvGrpSpPr>
        <p:grpSpPr bwMode="auto">
          <a:xfrm>
            <a:off x="401513" y="3227784"/>
            <a:ext cx="1844675" cy="2049463"/>
            <a:chOff x="542" y="2321"/>
            <a:chExt cx="1162" cy="1291"/>
          </a:xfrm>
        </p:grpSpPr>
        <p:sp>
          <p:nvSpPr>
            <p:cNvPr id="8" name="Line 10"/>
            <p:cNvSpPr>
              <a:spLocks noChangeShapeType="1"/>
            </p:cNvSpPr>
            <p:nvPr/>
          </p:nvSpPr>
          <p:spPr bwMode="auto">
            <a:xfrm>
              <a:off x="542" y="2321"/>
              <a:ext cx="1" cy="1283"/>
            </a:xfrm>
            <a:prstGeom prst="line">
              <a:avLst/>
            </a:prstGeom>
            <a:noFill/>
            <a:ln w="25400">
              <a:solidFill>
                <a:schemeClr val="tx1"/>
              </a:solidFill>
              <a:round/>
              <a:headEnd/>
              <a:tailEnd type="triangle" w="lg" len="lg"/>
            </a:ln>
          </p:spPr>
          <p:txBody>
            <a:bodyPr>
              <a:prstTxWarp prst="textNoShape">
                <a:avLst/>
              </a:prstTxWarp>
            </a:bodyPr>
            <a:lstStyle/>
            <a:p>
              <a:endParaRPr lang="es-ES_tradnl"/>
            </a:p>
          </p:txBody>
        </p:sp>
        <p:grpSp>
          <p:nvGrpSpPr>
            <p:cNvPr id="9" name="Group 11"/>
            <p:cNvGrpSpPr>
              <a:grpSpLocks/>
            </p:cNvGrpSpPr>
            <p:nvPr/>
          </p:nvGrpSpPr>
          <p:grpSpPr bwMode="auto">
            <a:xfrm>
              <a:off x="683" y="2321"/>
              <a:ext cx="1021" cy="291"/>
              <a:chOff x="1843" y="2745"/>
              <a:chExt cx="1021" cy="291"/>
            </a:xfrm>
          </p:grpSpPr>
          <p:sp>
            <p:nvSpPr>
              <p:cNvPr id="34" name="Text Box 12"/>
              <p:cNvSpPr txBox="1">
                <a:spLocks noChangeArrowheads="1"/>
              </p:cNvSpPr>
              <p:nvPr/>
            </p:nvSpPr>
            <p:spPr bwMode="auto">
              <a:xfrm>
                <a:off x="1843" y="2745"/>
                <a:ext cx="1021" cy="291"/>
              </a:xfrm>
              <a:prstGeom prst="rect">
                <a:avLst/>
              </a:prstGeom>
              <a:solidFill>
                <a:srgbClr val="99CCFF"/>
              </a:solidFill>
              <a:ln w="9525">
                <a:solidFill>
                  <a:srgbClr val="969696"/>
                </a:solidFill>
                <a:miter lim="800000"/>
                <a:headEnd/>
                <a:tailEnd/>
              </a:ln>
            </p:spPr>
            <p:txBody>
              <a:bodyPr>
                <a:prstTxWarp prst="textNoShape">
                  <a:avLst/>
                </a:prstTxWarp>
              </a:bodyPr>
              <a:lstStyle/>
              <a:p>
                <a:endParaRPr lang="zh-TW" altLang="en-US" sz="1200" b="1">
                  <a:solidFill>
                    <a:schemeClr val="bg1"/>
                  </a:solidFill>
                  <a:latin typeface="Arial" pitchFamily="-111" charset="0"/>
                  <a:ea typeface="新細明體" pitchFamily="16" charset="-128"/>
                  <a:cs typeface="新細明體" pitchFamily="16" charset="-128"/>
                </a:endParaRPr>
              </a:p>
            </p:txBody>
          </p:sp>
          <p:grpSp>
            <p:nvGrpSpPr>
              <p:cNvPr id="35" name="Group 13"/>
              <p:cNvGrpSpPr>
                <a:grpSpLocks/>
              </p:cNvGrpSpPr>
              <p:nvPr/>
            </p:nvGrpSpPr>
            <p:grpSpPr bwMode="auto">
              <a:xfrm>
                <a:off x="1879" y="2781"/>
                <a:ext cx="461" cy="230"/>
                <a:chOff x="3775" y="2037"/>
                <a:chExt cx="461" cy="230"/>
              </a:xfrm>
            </p:grpSpPr>
            <p:sp>
              <p:nvSpPr>
                <p:cNvPr id="39" name="Text Box 14"/>
                <p:cNvSpPr txBox="1">
                  <a:spLocks noChangeArrowheads="1"/>
                </p:cNvSpPr>
                <p:nvPr/>
              </p:nvSpPr>
              <p:spPr bwMode="auto">
                <a:xfrm>
                  <a:off x="3775" y="2037"/>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40" name="Text Box 15"/>
                <p:cNvSpPr txBox="1">
                  <a:spLocks noChangeArrowheads="1"/>
                </p:cNvSpPr>
                <p:nvPr/>
              </p:nvSpPr>
              <p:spPr bwMode="auto">
                <a:xfrm>
                  <a:off x="3804" y="2066"/>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0</a:t>
                  </a:r>
                </a:p>
              </p:txBody>
            </p:sp>
          </p:grpSp>
          <p:grpSp>
            <p:nvGrpSpPr>
              <p:cNvPr id="36" name="Group 16"/>
              <p:cNvGrpSpPr>
                <a:grpSpLocks/>
              </p:cNvGrpSpPr>
              <p:nvPr/>
            </p:nvGrpSpPr>
            <p:grpSpPr bwMode="auto">
              <a:xfrm>
                <a:off x="2364" y="2781"/>
                <a:ext cx="461" cy="230"/>
                <a:chOff x="3775" y="2037"/>
                <a:chExt cx="461" cy="230"/>
              </a:xfrm>
            </p:grpSpPr>
            <p:sp>
              <p:nvSpPr>
                <p:cNvPr id="37" name="Text Box 17"/>
                <p:cNvSpPr txBox="1">
                  <a:spLocks noChangeArrowheads="1"/>
                </p:cNvSpPr>
                <p:nvPr/>
              </p:nvSpPr>
              <p:spPr bwMode="auto">
                <a:xfrm>
                  <a:off x="3775" y="2037"/>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38" name="Text Box 18"/>
                <p:cNvSpPr txBox="1">
                  <a:spLocks noChangeArrowheads="1"/>
                </p:cNvSpPr>
                <p:nvPr/>
              </p:nvSpPr>
              <p:spPr bwMode="auto">
                <a:xfrm>
                  <a:off x="3804" y="2066"/>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1</a:t>
                  </a:r>
                </a:p>
              </p:txBody>
            </p:sp>
          </p:grpSp>
        </p:grpSp>
        <p:grpSp>
          <p:nvGrpSpPr>
            <p:cNvPr id="10" name="Group 19"/>
            <p:cNvGrpSpPr>
              <a:grpSpLocks/>
            </p:cNvGrpSpPr>
            <p:nvPr/>
          </p:nvGrpSpPr>
          <p:grpSpPr bwMode="auto">
            <a:xfrm>
              <a:off x="683" y="2654"/>
              <a:ext cx="1021" cy="291"/>
              <a:chOff x="1843" y="2745"/>
              <a:chExt cx="1021" cy="291"/>
            </a:xfrm>
          </p:grpSpPr>
          <p:sp>
            <p:nvSpPr>
              <p:cNvPr id="27" name="Text Box 20"/>
              <p:cNvSpPr txBox="1">
                <a:spLocks noChangeArrowheads="1"/>
              </p:cNvSpPr>
              <p:nvPr/>
            </p:nvSpPr>
            <p:spPr bwMode="auto">
              <a:xfrm>
                <a:off x="1843" y="2745"/>
                <a:ext cx="1021" cy="291"/>
              </a:xfrm>
              <a:prstGeom prst="rect">
                <a:avLst/>
              </a:prstGeom>
              <a:solidFill>
                <a:srgbClr val="99CCFF"/>
              </a:solidFill>
              <a:ln w="9525">
                <a:solidFill>
                  <a:srgbClr val="969696"/>
                </a:solidFill>
                <a:miter lim="800000"/>
                <a:headEnd/>
                <a:tailEnd/>
              </a:ln>
            </p:spPr>
            <p:txBody>
              <a:bodyPr>
                <a:prstTxWarp prst="textNoShape">
                  <a:avLst/>
                </a:prstTxWarp>
              </a:bodyPr>
              <a:lstStyle/>
              <a:p>
                <a:endParaRPr lang="zh-TW" altLang="en-US" sz="1200" b="1">
                  <a:solidFill>
                    <a:schemeClr val="bg1"/>
                  </a:solidFill>
                  <a:latin typeface="Arial" pitchFamily="-111" charset="0"/>
                  <a:ea typeface="新細明體" pitchFamily="16" charset="-128"/>
                  <a:cs typeface="新細明體" pitchFamily="16" charset="-128"/>
                </a:endParaRPr>
              </a:p>
            </p:txBody>
          </p:sp>
          <p:grpSp>
            <p:nvGrpSpPr>
              <p:cNvPr id="28" name="Group 21"/>
              <p:cNvGrpSpPr>
                <a:grpSpLocks/>
              </p:cNvGrpSpPr>
              <p:nvPr/>
            </p:nvGrpSpPr>
            <p:grpSpPr bwMode="auto">
              <a:xfrm>
                <a:off x="1879" y="2781"/>
                <a:ext cx="461" cy="230"/>
                <a:chOff x="3775" y="2037"/>
                <a:chExt cx="461" cy="230"/>
              </a:xfrm>
            </p:grpSpPr>
            <p:sp>
              <p:nvSpPr>
                <p:cNvPr id="32" name="Text Box 22"/>
                <p:cNvSpPr txBox="1">
                  <a:spLocks noChangeArrowheads="1"/>
                </p:cNvSpPr>
                <p:nvPr/>
              </p:nvSpPr>
              <p:spPr bwMode="auto">
                <a:xfrm>
                  <a:off x="3775" y="2037"/>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33" name="Text Box 23"/>
                <p:cNvSpPr txBox="1">
                  <a:spLocks noChangeArrowheads="1"/>
                </p:cNvSpPr>
                <p:nvPr/>
              </p:nvSpPr>
              <p:spPr bwMode="auto">
                <a:xfrm>
                  <a:off x="3804" y="2066"/>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2</a:t>
                  </a:r>
                </a:p>
              </p:txBody>
            </p:sp>
          </p:grpSp>
          <p:grpSp>
            <p:nvGrpSpPr>
              <p:cNvPr id="29" name="Group 24"/>
              <p:cNvGrpSpPr>
                <a:grpSpLocks/>
              </p:cNvGrpSpPr>
              <p:nvPr/>
            </p:nvGrpSpPr>
            <p:grpSpPr bwMode="auto">
              <a:xfrm>
                <a:off x="2364" y="2781"/>
                <a:ext cx="461" cy="230"/>
                <a:chOff x="3775" y="2037"/>
                <a:chExt cx="461" cy="230"/>
              </a:xfrm>
            </p:grpSpPr>
            <p:sp>
              <p:nvSpPr>
                <p:cNvPr id="30" name="Text Box 25"/>
                <p:cNvSpPr txBox="1">
                  <a:spLocks noChangeArrowheads="1"/>
                </p:cNvSpPr>
                <p:nvPr/>
              </p:nvSpPr>
              <p:spPr bwMode="auto">
                <a:xfrm>
                  <a:off x="3775" y="2037"/>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31" name="Text Box 26"/>
                <p:cNvSpPr txBox="1">
                  <a:spLocks noChangeArrowheads="1"/>
                </p:cNvSpPr>
                <p:nvPr/>
              </p:nvSpPr>
              <p:spPr bwMode="auto">
                <a:xfrm>
                  <a:off x="3804" y="2066"/>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3</a:t>
                  </a:r>
                </a:p>
              </p:txBody>
            </p:sp>
          </p:grpSp>
        </p:grpSp>
        <p:grpSp>
          <p:nvGrpSpPr>
            <p:cNvPr id="11" name="Group 27"/>
            <p:cNvGrpSpPr>
              <a:grpSpLocks/>
            </p:cNvGrpSpPr>
            <p:nvPr/>
          </p:nvGrpSpPr>
          <p:grpSpPr bwMode="auto">
            <a:xfrm>
              <a:off x="683" y="2987"/>
              <a:ext cx="1021" cy="291"/>
              <a:chOff x="1843" y="2745"/>
              <a:chExt cx="1021" cy="291"/>
            </a:xfrm>
          </p:grpSpPr>
          <p:sp>
            <p:nvSpPr>
              <p:cNvPr id="20" name="Text Box 28"/>
              <p:cNvSpPr txBox="1">
                <a:spLocks noChangeArrowheads="1"/>
              </p:cNvSpPr>
              <p:nvPr/>
            </p:nvSpPr>
            <p:spPr bwMode="auto">
              <a:xfrm>
                <a:off x="1843" y="2745"/>
                <a:ext cx="1021" cy="291"/>
              </a:xfrm>
              <a:prstGeom prst="rect">
                <a:avLst/>
              </a:prstGeom>
              <a:solidFill>
                <a:srgbClr val="99CCFF"/>
              </a:solidFill>
              <a:ln w="9525">
                <a:solidFill>
                  <a:srgbClr val="969696"/>
                </a:solidFill>
                <a:miter lim="800000"/>
                <a:headEnd/>
                <a:tailEnd/>
              </a:ln>
            </p:spPr>
            <p:txBody>
              <a:bodyPr>
                <a:prstTxWarp prst="textNoShape">
                  <a:avLst/>
                </a:prstTxWarp>
              </a:bodyPr>
              <a:lstStyle/>
              <a:p>
                <a:endParaRPr lang="zh-TW" altLang="en-US" sz="1200" b="1">
                  <a:solidFill>
                    <a:schemeClr val="bg1"/>
                  </a:solidFill>
                  <a:latin typeface="Arial" pitchFamily="-111" charset="0"/>
                  <a:ea typeface="新細明體" pitchFamily="16" charset="-128"/>
                  <a:cs typeface="新細明體" pitchFamily="16" charset="-128"/>
                </a:endParaRPr>
              </a:p>
            </p:txBody>
          </p:sp>
          <p:grpSp>
            <p:nvGrpSpPr>
              <p:cNvPr id="21" name="Group 29"/>
              <p:cNvGrpSpPr>
                <a:grpSpLocks/>
              </p:cNvGrpSpPr>
              <p:nvPr/>
            </p:nvGrpSpPr>
            <p:grpSpPr bwMode="auto">
              <a:xfrm>
                <a:off x="1879" y="2781"/>
                <a:ext cx="461" cy="230"/>
                <a:chOff x="3775" y="2037"/>
                <a:chExt cx="461" cy="230"/>
              </a:xfrm>
            </p:grpSpPr>
            <p:sp>
              <p:nvSpPr>
                <p:cNvPr id="25" name="Text Box 30"/>
                <p:cNvSpPr txBox="1">
                  <a:spLocks noChangeArrowheads="1"/>
                </p:cNvSpPr>
                <p:nvPr/>
              </p:nvSpPr>
              <p:spPr bwMode="auto">
                <a:xfrm>
                  <a:off x="3775" y="2037"/>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26" name="Text Box 31"/>
                <p:cNvSpPr txBox="1">
                  <a:spLocks noChangeArrowheads="1"/>
                </p:cNvSpPr>
                <p:nvPr/>
              </p:nvSpPr>
              <p:spPr bwMode="auto">
                <a:xfrm>
                  <a:off x="3804" y="2066"/>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4</a:t>
                  </a:r>
                </a:p>
              </p:txBody>
            </p:sp>
          </p:grpSp>
          <p:grpSp>
            <p:nvGrpSpPr>
              <p:cNvPr id="22" name="Group 32"/>
              <p:cNvGrpSpPr>
                <a:grpSpLocks/>
              </p:cNvGrpSpPr>
              <p:nvPr/>
            </p:nvGrpSpPr>
            <p:grpSpPr bwMode="auto">
              <a:xfrm>
                <a:off x="2364" y="2781"/>
                <a:ext cx="461" cy="230"/>
                <a:chOff x="3775" y="2037"/>
                <a:chExt cx="461" cy="230"/>
              </a:xfrm>
            </p:grpSpPr>
            <p:sp>
              <p:nvSpPr>
                <p:cNvPr id="23" name="Text Box 33"/>
                <p:cNvSpPr txBox="1">
                  <a:spLocks noChangeArrowheads="1"/>
                </p:cNvSpPr>
                <p:nvPr/>
              </p:nvSpPr>
              <p:spPr bwMode="auto">
                <a:xfrm>
                  <a:off x="3775" y="2037"/>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24" name="Text Box 34"/>
                <p:cNvSpPr txBox="1">
                  <a:spLocks noChangeArrowheads="1"/>
                </p:cNvSpPr>
                <p:nvPr/>
              </p:nvSpPr>
              <p:spPr bwMode="auto">
                <a:xfrm>
                  <a:off x="3804" y="2066"/>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5</a:t>
                  </a:r>
                </a:p>
              </p:txBody>
            </p:sp>
          </p:grpSp>
        </p:grpSp>
        <p:grpSp>
          <p:nvGrpSpPr>
            <p:cNvPr id="12" name="Group 35"/>
            <p:cNvGrpSpPr>
              <a:grpSpLocks/>
            </p:cNvGrpSpPr>
            <p:nvPr/>
          </p:nvGrpSpPr>
          <p:grpSpPr bwMode="auto">
            <a:xfrm>
              <a:off x="683" y="3321"/>
              <a:ext cx="1021" cy="291"/>
              <a:chOff x="1843" y="2745"/>
              <a:chExt cx="1021" cy="291"/>
            </a:xfrm>
          </p:grpSpPr>
          <p:sp>
            <p:nvSpPr>
              <p:cNvPr id="13" name="Text Box 36"/>
              <p:cNvSpPr txBox="1">
                <a:spLocks noChangeArrowheads="1"/>
              </p:cNvSpPr>
              <p:nvPr/>
            </p:nvSpPr>
            <p:spPr bwMode="auto">
              <a:xfrm>
                <a:off x="1843" y="2745"/>
                <a:ext cx="1021" cy="291"/>
              </a:xfrm>
              <a:prstGeom prst="rect">
                <a:avLst/>
              </a:prstGeom>
              <a:solidFill>
                <a:srgbClr val="99CCFF"/>
              </a:solidFill>
              <a:ln w="9525">
                <a:solidFill>
                  <a:srgbClr val="969696"/>
                </a:solidFill>
                <a:miter lim="800000"/>
                <a:headEnd/>
                <a:tailEnd/>
              </a:ln>
            </p:spPr>
            <p:txBody>
              <a:bodyPr>
                <a:prstTxWarp prst="textNoShape">
                  <a:avLst/>
                </a:prstTxWarp>
              </a:bodyPr>
              <a:lstStyle/>
              <a:p>
                <a:endParaRPr lang="zh-TW" altLang="en-US" sz="1200" b="1">
                  <a:solidFill>
                    <a:schemeClr val="bg1"/>
                  </a:solidFill>
                  <a:latin typeface="Arial" pitchFamily="-111" charset="0"/>
                  <a:ea typeface="新細明體" pitchFamily="16" charset="-128"/>
                  <a:cs typeface="新細明體" pitchFamily="16" charset="-128"/>
                </a:endParaRPr>
              </a:p>
            </p:txBody>
          </p:sp>
          <p:grpSp>
            <p:nvGrpSpPr>
              <p:cNvPr id="14" name="Group 37"/>
              <p:cNvGrpSpPr>
                <a:grpSpLocks/>
              </p:cNvGrpSpPr>
              <p:nvPr/>
            </p:nvGrpSpPr>
            <p:grpSpPr bwMode="auto">
              <a:xfrm>
                <a:off x="1879" y="2781"/>
                <a:ext cx="461" cy="230"/>
                <a:chOff x="3775" y="2037"/>
                <a:chExt cx="461" cy="230"/>
              </a:xfrm>
            </p:grpSpPr>
            <p:sp>
              <p:nvSpPr>
                <p:cNvPr id="18" name="Text Box 38"/>
                <p:cNvSpPr txBox="1">
                  <a:spLocks noChangeArrowheads="1"/>
                </p:cNvSpPr>
                <p:nvPr/>
              </p:nvSpPr>
              <p:spPr bwMode="auto">
                <a:xfrm>
                  <a:off x="3775" y="2037"/>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19" name="Text Box 39"/>
                <p:cNvSpPr txBox="1">
                  <a:spLocks noChangeArrowheads="1"/>
                </p:cNvSpPr>
                <p:nvPr/>
              </p:nvSpPr>
              <p:spPr bwMode="auto">
                <a:xfrm>
                  <a:off x="3804" y="2066"/>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6</a:t>
                  </a:r>
                </a:p>
              </p:txBody>
            </p:sp>
          </p:grpSp>
          <p:grpSp>
            <p:nvGrpSpPr>
              <p:cNvPr id="15" name="Group 40"/>
              <p:cNvGrpSpPr>
                <a:grpSpLocks/>
              </p:cNvGrpSpPr>
              <p:nvPr/>
            </p:nvGrpSpPr>
            <p:grpSpPr bwMode="auto">
              <a:xfrm>
                <a:off x="2364" y="2781"/>
                <a:ext cx="461" cy="230"/>
                <a:chOff x="3775" y="2037"/>
                <a:chExt cx="461" cy="230"/>
              </a:xfrm>
            </p:grpSpPr>
            <p:sp>
              <p:nvSpPr>
                <p:cNvPr id="16" name="Text Box 41"/>
                <p:cNvSpPr txBox="1">
                  <a:spLocks noChangeArrowheads="1"/>
                </p:cNvSpPr>
                <p:nvPr/>
              </p:nvSpPr>
              <p:spPr bwMode="auto">
                <a:xfrm>
                  <a:off x="3775" y="2037"/>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17" name="Text Box 42"/>
                <p:cNvSpPr txBox="1">
                  <a:spLocks noChangeArrowheads="1"/>
                </p:cNvSpPr>
                <p:nvPr/>
              </p:nvSpPr>
              <p:spPr bwMode="auto">
                <a:xfrm>
                  <a:off x="3804" y="2066"/>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7</a:t>
                  </a:r>
                </a:p>
              </p:txBody>
            </p:sp>
          </p:grpSp>
        </p:grpSp>
      </p:grpSp>
      <p:grpSp>
        <p:nvGrpSpPr>
          <p:cNvPr id="44" name="Group 43"/>
          <p:cNvGrpSpPr>
            <a:grpSpLocks/>
          </p:cNvGrpSpPr>
          <p:nvPr/>
        </p:nvGrpSpPr>
        <p:grpSpPr bwMode="auto">
          <a:xfrm>
            <a:off x="3149476" y="2276872"/>
            <a:ext cx="1471612" cy="1681162"/>
            <a:chOff x="2233" y="1609"/>
            <a:chExt cx="927" cy="1059"/>
          </a:xfrm>
        </p:grpSpPr>
        <p:sp>
          <p:nvSpPr>
            <p:cNvPr id="45" name="Text Box 44"/>
            <p:cNvSpPr txBox="1">
              <a:spLocks noChangeArrowheads="1"/>
            </p:cNvSpPr>
            <p:nvPr/>
          </p:nvSpPr>
          <p:spPr bwMode="auto">
            <a:xfrm>
              <a:off x="2233" y="1609"/>
              <a:ext cx="927" cy="1059"/>
            </a:xfrm>
            <a:prstGeom prst="rect">
              <a:avLst/>
            </a:prstGeom>
            <a:solidFill>
              <a:srgbClr val="99FF66"/>
            </a:solidFill>
            <a:ln w="9525">
              <a:solidFill>
                <a:srgbClr val="969696"/>
              </a:solidFill>
              <a:miter lim="800000"/>
              <a:headEnd/>
              <a:tailEnd/>
            </a:ln>
          </p:spPr>
          <p:txBody>
            <a:bodyPr>
              <a:prstTxWarp prst="textNoShape">
                <a:avLst/>
              </a:prstTxWarp>
            </a:bodyPr>
            <a:lstStyle/>
            <a:p>
              <a:r>
                <a:rPr lang="en-US" altLang="zh-TW" sz="1200" b="1">
                  <a:solidFill>
                    <a:schemeClr val="bg1"/>
                  </a:solidFill>
                  <a:latin typeface="Arial" pitchFamily="-111" charset="0"/>
                  <a:ea typeface="新細明體" pitchFamily="16" charset="-128"/>
                  <a:cs typeface="新細明體" pitchFamily="16" charset="-128"/>
                </a:rPr>
                <a:t>Kernel grid</a:t>
              </a:r>
            </a:p>
          </p:txBody>
        </p:sp>
        <p:grpSp>
          <p:nvGrpSpPr>
            <p:cNvPr id="46" name="Group 45"/>
            <p:cNvGrpSpPr>
              <a:grpSpLocks/>
            </p:cNvGrpSpPr>
            <p:nvPr/>
          </p:nvGrpSpPr>
          <p:grpSpPr bwMode="auto">
            <a:xfrm>
              <a:off x="2279" y="1809"/>
              <a:ext cx="835" cy="805"/>
              <a:chOff x="2353" y="1809"/>
              <a:chExt cx="835" cy="805"/>
            </a:xfrm>
          </p:grpSpPr>
          <p:grpSp>
            <p:nvGrpSpPr>
              <p:cNvPr id="47" name="Group 46"/>
              <p:cNvGrpSpPr>
                <a:grpSpLocks/>
              </p:cNvGrpSpPr>
              <p:nvPr/>
            </p:nvGrpSpPr>
            <p:grpSpPr bwMode="auto">
              <a:xfrm>
                <a:off x="2353" y="1809"/>
                <a:ext cx="835" cy="173"/>
                <a:chOff x="2257" y="1809"/>
                <a:chExt cx="835" cy="173"/>
              </a:xfrm>
            </p:grpSpPr>
            <p:sp>
              <p:nvSpPr>
                <p:cNvPr id="57" name="Text Box 47"/>
                <p:cNvSpPr txBox="1">
                  <a:spLocks noChangeArrowheads="1"/>
                </p:cNvSpPr>
                <p:nvPr/>
              </p:nvSpPr>
              <p:spPr bwMode="auto">
                <a:xfrm>
                  <a:off x="2257" y="1809"/>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0</a:t>
                  </a:r>
                </a:p>
              </p:txBody>
            </p:sp>
            <p:sp>
              <p:nvSpPr>
                <p:cNvPr id="58" name="Text Box 48"/>
                <p:cNvSpPr txBox="1">
                  <a:spLocks noChangeArrowheads="1"/>
                </p:cNvSpPr>
                <p:nvPr/>
              </p:nvSpPr>
              <p:spPr bwMode="auto">
                <a:xfrm>
                  <a:off x="2689" y="1809"/>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1</a:t>
                  </a:r>
                </a:p>
              </p:txBody>
            </p:sp>
          </p:grpSp>
          <p:grpSp>
            <p:nvGrpSpPr>
              <p:cNvPr id="48" name="Group 49"/>
              <p:cNvGrpSpPr>
                <a:grpSpLocks/>
              </p:cNvGrpSpPr>
              <p:nvPr/>
            </p:nvGrpSpPr>
            <p:grpSpPr bwMode="auto">
              <a:xfrm>
                <a:off x="2353" y="2019"/>
                <a:ext cx="835" cy="173"/>
                <a:chOff x="2257" y="1809"/>
                <a:chExt cx="835" cy="173"/>
              </a:xfrm>
            </p:grpSpPr>
            <p:sp>
              <p:nvSpPr>
                <p:cNvPr id="55" name="Text Box 50"/>
                <p:cNvSpPr txBox="1">
                  <a:spLocks noChangeArrowheads="1"/>
                </p:cNvSpPr>
                <p:nvPr/>
              </p:nvSpPr>
              <p:spPr bwMode="auto">
                <a:xfrm>
                  <a:off x="2257" y="1809"/>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2</a:t>
                  </a:r>
                </a:p>
              </p:txBody>
            </p:sp>
            <p:sp>
              <p:nvSpPr>
                <p:cNvPr id="56" name="Text Box 51"/>
                <p:cNvSpPr txBox="1">
                  <a:spLocks noChangeArrowheads="1"/>
                </p:cNvSpPr>
                <p:nvPr/>
              </p:nvSpPr>
              <p:spPr bwMode="auto">
                <a:xfrm>
                  <a:off x="2689" y="1809"/>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3</a:t>
                  </a:r>
                </a:p>
              </p:txBody>
            </p:sp>
          </p:grpSp>
          <p:grpSp>
            <p:nvGrpSpPr>
              <p:cNvPr id="49" name="Group 52"/>
              <p:cNvGrpSpPr>
                <a:grpSpLocks/>
              </p:cNvGrpSpPr>
              <p:nvPr/>
            </p:nvGrpSpPr>
            <p:grpSpPr bwMode="auto">
              <a:xfrm>
                <a:off x="2353" y="2230"/>
                <a:ext cx="835" cy="173"/>
                <a:chOff x="2257" y="1809"/>
                <a:chExt cx="835" cy="173"/>
              </a:xfrm>
            </p:grpSpPr>
            <p:sp>
              <p:nvSpPr>
                <p:cNvPr id="53" name="Text Box 53"/>
                <p:cNvSpPr txBox="1">
                  <a:spLocks noChangeArrowheads="1"/>
                </p:cNvSpPr>
                <p:nvPr/>
              </p:nvSpPr>
              <p:spPr bwMode="auto">
                <a:xfrm>
                  <a:off x="2257" y="1809"/>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4</a:t>
                  </a:r>
                </a:p>
              </p:txBody>
            </p:sp>
            <p:sp>
              <p:nvSpPr>
                <p:cNvPr id="54" name="Text Box 54"/>
                <p:cNvSpPr txBox="1">
                  <a:spLocks noChangeArrowheads="1"/>
                </p:cNvSpPr>
                <p:nvPr/>
              </p:nvSpPr>
              <p:spPr bwMode="auto">
                <a:xfrm>
                  <a:off x="2689" y="1809"/>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5</a:t>
                  </a:r>
                </a:p>
              </p:txBody>
            </p:sp>
          </p:grpSp>
          <p:grpSp>
            <p:nvGrpSpPr>
              <p:cNvPr id="50" name="Group 55"/>
              <p:cNvGrpSpPr>
                <a:grpSpLocks/>
              </p:cNvGrpSpPr>
              <p:nvPr/>
            </p:nvGrpSpPr>
            <p:grpSpPr bwMode="auto">
              <a:xfrm>
                <a:off x="2353" y="2441"/>
                <a:ext cx="835" cy="173"/>
                <a:chOff x="2257" y="1809"/>
                <a:chExt cx="835" cy="173"/>
              </a:xfrm>
            </p:grpSpPr>
            <p:sp>
              <p:nvSpPr>
                <p:cNvPr id="51" name="Text Box 56"/>
                <p:cNvSpPr txBox="1">
                  <a:spLocks noChangeArrowheads="1"/>
                </p:cNvSpPr>
                <p:nvPr/>
              </p:nvSpPr>
              <p:spPr bwMode="auto">
                <a:xfrm>
                  <a:off x="2257" y="1809"/>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6</a:t>
                  </a:r>
                </a:p>
              </p:txBody>
            </p:sp>
            <p:sp>
              <p:nvSpPr>
                <p:cNvPr id="52" name="Text Box 57"/>
                <p:cNvSpPr txBox="1">
                  <a:spLocks noChangeArrowheads="1"/>
                </p:cNvSpPr>
                <p:nvPr/>
              </p:nvSpPr>
              <p:spPr bwMode="auto">
                <a:xfrm>
                  <a:off x="2689" y="1809"/>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7</a:t>
                  </a:r>
                </a:p>
              </p:txBody>
            </p:sp>
          </p:grpSp>
        </p:grpSp>
      </p:grpSp>
      <p:grpSp>
        <p:nvGrpSpPr>
          <p:cNvPr id="59" name="Group 59"/>
          <p:cNvGrpSpPr>
            <a:grpSpLocks/>
          </p:cNvGrpSpPr>
          <p:nvPr/>
        </p:nvGrpSpPr>
        <p:grpSpPr bwMode="auto">
          <a:xfrm>
            <a:off x="5530726" y="2467372"/>
            <a:ext cx="3144837" cy="665162"/>
            <a:chOff x="3643" y="1817"/>
            <a:chExt cx="1981" cy="419"/>
          </a:xfrm>
        </p:grpSpPr>
        <p:sp>
          <p:nvSpPr>
            <p:cNvPr id="60" name="Text Box 60"/>
            <p:cNvSpPr txBox="1">
              <a:spLocks noChangeArrowheads="1"/>
            </p:cNvSpPr>
            <p:nvPr/>
          </p:nvSpPr>
          <p:spPr bwMode="auto">
            <a:xfrm>
              <a:off x="3643" y="1817"/>
              <a:ext cx="1981" cy="419"/>
            </a:xfrm>
            <a:prstGeom prst="rect">
              <a:avLst/>
            </a:prstGeom>
            <a:solidFill>
              <a:srgbClr val="99CCFF"/>
            </a:solidFill>
            <a:ln w="9525">
              <a:solidFill>
                <a:srgbClr val="969696"/>
              </a:solidFill>
              <a:miter lim="800000"/>
              <a:headEnd/>
              <a:tailEnd/>
            </a:ln>
          </p:spPr>
          <p:txBody>
            <a:bodyPr>
              <a:prstTxWarp prst="textNoShape">
                <a:avLst/>
              </a:prstTxWarp>
            </a:bodyPr>
            <a:lstStyle/>
            <a:p>
              <a:r>
                <a:rPr lang="en-US" altLang="zh-TW" sz="1200" b="1">
                  <a:solidFill>
                    <a:schemeClr val="bg1"/>
                  </a:solidFill>
                  <a:latin typeface="Arial" pitchFamily="-111" charset="0"/>
                  <a:ea typeface="新細明體" pitchFamily="16" charset="-128"/>
                  <a:cs typeface="新細明體" pitchFamily="16" charset="-128"/>
                </a:rPr>
                <a:t>Device</a:t>
              </a:r>
            </a:p>
          </p:txBody>
        </p:sp>
        <p:sp>
          <p:nvSpPr>
            <p:cNvPr id="61" name="Text Box 61"/>
            <p:cNvSpPr txBox="1">
              <a:spLocks noChangeArrowheads="1"/>
            </p:cNvSpPr>
            <p:nvPr/>
          </p:nvSpPr>
          <p:spPr bwMode="auto">
            <a:xfrm>
              <a:off x="3679" y="1981"/>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62" name="Text Box 62"/>
            <p:cNvSpPr txBox="1">
              <a:spLocks noChangeArrowheads="1"/>
            </p:cNvSpPr>
            <p:nvPr/>
          </p:nvSpPr>
          <p:spPr bwMode="auto">
            <a:xfrm>
              <a:off x="4164" y="1981"/>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63" name="Text Box 63"/>
            <p:cNvSpPr txBox="1">
              <a:spLocks noChangeArrowheads="1"/>
            </p:cNvSpPr>
            <p:nvPr/>
          </p:nvSpPr>
          <p:spPr bwMode="auto">
            <a:xfrm>
              <a:off x="4649" y="1981"/>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64" name="Text Box 64"/>
            <p:cNvSpPr txBox="1">
              <a:spLocks noChangeArrowheads="1"/>
            </p:cNvSpPr>
            <p:nvPr/>
          </p:nvSpPr>
          <p:spPr bwMode="auto">
            <a:xfrm>
              <a:off x="5135" y="1981"/>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grpSp>
      <p:grpSp>
        <p:nvGrpSpPr>
          <p:cNvPr id="65" name="Group 65"/>
          <p:cNvGrpSpPr>
            <a:grpSpLocks/>
          </p:cNvGrpSpPr>
          <p:nvPr/>
        </p:nvGrpSpPr>
        <p:grpSpPr bwMode="auto">
          <a:xfrm>
            <a:off x="5530726" y="3407172"/>
            <a:ext cx="3144837" cy="461962"/>
            <a:chOff x="3659" y="2649"/>
            <a:chExt cx="1981" cy="291"/>
          </a:xfrm>
        </p:grpSpPr>
        <p:sp>
          <p:nvSpPr>
            <p:cNvPr id="66" name="Text Box 66"/>
            <p:cNvSpPr txBox="1">
              <a:spLocks noChangeArrowheads="1"/>
            </p:cNvSpPr>
            <p:nvPr/>
          </p:nvSpPr>
          <p:spPr bwMode="auto">
            <a:xfrm>
              <a:off x="3659" y="2649"/>
              <a:ext cx="1981" cy="291"/>
            </a:xfrm>
            <a:prstGeom prst="rect">
              <a:avLst/>
            </a:prstGeom>
            <a:solidFill>
              <a:srgbClr val="99CCFF"/>
            </a:solidFill>
            <a:ln w="9525">
              <a:solidFill>
                <a:srgbClr val="969696"/>
              </a:solidFill>
              <a:miter lim="800000"/>
              <a:headEnd/>
              <a:tailEnd/>
            </a:ln>
          </p:spPr>
          <p:txBody>
            <a:bodyPr>
              <a:prstTxWarp prst="textNoShape">
                <a:avLst/>
              </a:prstTxWarp>
            </a:bodyPr>
            <a:lstStyle/>
            <a:p>
              <a:endParaRPr lang="zh-TW" altLang="en-US" sz="1200" b="1">
                <a:solidFill>
                  <a:schemeClr val="bg1"/>
                </a:solidFill>
                <a:latin typeface="Arial" pitchFamily="-111" charset="0"/>
                <a:ea typeface="新細明體" pitchFamily="16" charset="-128"/>
                <a:cs typeface="新細明體" pitchFamily="16" charset="-128"/>
              </a:endParaRPr>
            </a:p>
          </p:txBody>
        </p:sp>
        <p:grpSp>
          <p:nvGrpSpPr>
            <p:cNvPr id="67" name="Group 67"/>
            <p:cNvGrpSpPr>
              <a:grpSpLocks/>
            </p:cNvGrpSpPr>
            <p:nvPr/>
          </p:nvGrpSpPr>
          <p:grpSpPr bwMode="auto">
            <a:xfrm>
              <a:off x="3695" y="2685"/>
              <a:ext cx="461" cy="230"/>
              <a:chOff x="3775" y="2037"/>
              <a:chExt cx="461" cy="230"/>
            </a:xfrm>
          </p:grpSpPr>
          <p:sp>
            <p:nvSpPr>
              <p:cNvPr id="77" name="Text Box 68"/>
              <p:cNvSpPr txBox="1">
                <a:spLocks noChangeArrowheads="1"/>
              </p:cNvSpPr>
              <p:nvPr/>
            </p:nvSpPr>
            <p:spPr bwMode="auto">
              <a:xfrm>
                <a:off x="3775" y="2037"/>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78" name="Text Box 69"/>
              <p:cNvSpPr txBox="1">
                <a:spLocks noChangeArrowheads="1"/>
              </p:cNvSpPr>
              <p:nvPr/>
            </p:nvSpPr>
            <p:spPr bwMode="auto">
              <a:xfrm>
                <a:off x="3804" y="2066"/>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0</a:t>
                </a:r>
              </a:p>
            </p:txBody>
          </p:sp>
        </p:grpSp>
        <p:grpSp>
          <p:nvGrpSpPr>
            <p:cNvPr id="68" name="Group 70"/>
            <p:cNvGrpSpPr>
              <a:grpSpLocks/>
            </p:cNvGrpSpPr>
            <p:nvPr/>
          </p:nvGrpSpPr>
          <p:grpSpPr bwMode="auto">
            <a:xfrm>
              <a:off x="4180" y="2685"/>
              <a:ext cx="461" cy="230"/>
              <a:chOff x="3775" y="2037"/>
              <a:chExt cx="461" cy="230"/>
            </a:xfrm>
          </p:grpSpPr>
          <p:sp>
            <p:nvSpPr>
              <p:cNvPr id="75" name="Text Box 71"/>
              <p:cNvSpPr txBox="1">
                <a:spLocks noChangeArrowheads="1"/>
              </p:cNvSpPr>
              <p:nvPr/>
            </p:nvSpPr>
            <p:spPr bwMode="auto">
              <a:xfrm>
                <a:off x="3775" y="2037"/>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76" name="Text Box 72"/>
              <p:cNvSpPr txBox="1">
                <a:spLocks noChangeArrowheads="1"/>
              </p:cNvSpPr>
              <p:nvPr/>
            </p:nvSpPr>
            <p:spPr bwMode="auto">
              <a:xfrm>
                <a:off x="3804" y="2066"/>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1</a:t>
                </a:r>
              </a:p>
            </p:txBody>
          </p:sp>
        </p:grpSp>
        <p:grpSp>
          <p:nvGrpSpPr>
            <p:cNvPr id="69" name="Group 73"/>
            <p:cNvGrpSpPr>
              <a:grpSpLocks/>
            </p:cNvGrpSpPr>
            <p:nvPr/>
          </p:nvGrpSpPr>
          <p:grpSpPr bwMode="auto">
            <a:xfrm>
              <a:off x="4665" y="2685"/>
              <a:ext cx="461" cy="230"/>
              <a:chOff x="3775" y="2037"/>
              <a:chExt cx="461" cy="230"/>
            </a:xfrm>
          </p:grpSpPr>
          <p:sp>
            <p:nvSpPr>
              <p:cNvPr id="73" name="Text Box 74"/>
              <p:cNvSpPr txBox="1">
                <a:spLocks noChangeArrowheads="1"/>
              </p:cNvSpPr>
              <p:nvPr/>
            </p:nvSpPr>
            <p:spPr bwMode="auto">
              <a:xfrm>
                <a:off x="3775" y="2037"/>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74" name="Text Box 75"/>
              <p:cNvSpPr txBox="1">
                <a:spLocks noChangeArrowheads="1"/>
              </p:cNvSpPr>
              <p:nvPr/>
            </p:nvSpPr>
            <p:spPr bwMode="auto">
              <a:xfrm>
                <a:off x="3804" y="2066"/>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2</a:t>
                </a:r>
              </a:p>
            </p:txBody>
          </p:sp>
        </p:grpSp>
        <p:grpSp>
          <p:nvGrpSpPr>
            <p:cNvPr id="70" name="Group 76"/>
            <p:cNvGrpSpPr>
              <a:grpSpLocks/>
            </p:cNvGrpSpPr>
            <p:nvPr/>
          </p:nvGrpSpPr>
          <p:grpSpPr bwMode="auto">
            <a:xfrm>
              <a:off x="5151" y="2685"/>
              <a:ext cx="461" cy="230"/>
              <a:chOff x="3775" y="2037"/>
              <a:chExt cx="461" cy="230"/>
            </a:xfrm>
          </p:grpSpPr>
          <p:sp>
            <p:nvSpPr>
              <p:cNvPr id="71" name="Text Box 77"/>
              <p:cNvSpPr txBox="1">
                <a:spLocks noChangeArrowheads="1"/>
              </p:cNvSpPr>
              <p:nvPr/>
            </p:nvSpPr>
            <p:spPr bwMode="auto">
              <a:xfrm>
                <a:off x="3775" y="2037"/>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72" name="Text Box 78"/>
              <p:cNvSpPr txBox="1">
                <a:spLocks noChangeArrowheads="1"/>
              </p:cNvSpPr>
              <p:nvPr/>
            </p:nvSpPr>
            <p:spPr bwMode="auto">
              <a:xfrm>
                <a:off x="3804" y="2066"/>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3</a:t>
                </a:r>
              </a:p>
            </p:txBody>
          </p:sp>
        </p:grpSp>
      </p:grpSp>
      <p:grpSp>
        <p:nvGrpSpPr>
          <p:cNvPr id="79" name="Group 79"/>
          <p:cNvGrpSpPr>
            <a:grpSpLocks/>
          </p:cNvGrpSpPr>
          <p:nvPr/>
        </p:nvGrpSpPr>
        <p:grpSpPr bwMode="auto">
          <a:xfrm>
            <a:off x="5530726" y="3927872"/>
            <a:ext cx="3144837" cy="461962"/>
            <a:chOff x="3603" y="3225"/>
            <a:chExt cx="1981" cy="291"/>
          </a:xfrm>
        </p:grpSpPr>
        <p:sp>
          <p:nvSpPr>
            <p:cNvPr id="80" name="Text Box 80"/>
            <p:cNvSpPr txBox="1">
              <a:spLocks noChangeArrowheads="1"/>
            </p:cNvSpPr>
            <p:nvPr/>
          </p:nvSpPr>
          <p:spPr bwMode="auto">
            <a:xfrm>
              <a:off x="3603" y="3225"/>
              <a:ext cx="1981" cy="291"/>
            </a:xfrm>
            <a:prstGeom prst="rect">
              <a:avLst/>
            </a:prstGeom>
            <a:solidFill>
              <a:srgbClr val="99CCFF"/>
            </a:solidFill>
            <a:ln w="9525">
              <a:solidFill>
                <a:srgbClr val="969696"/>
              </a:solidFill>
              <a:miter lim="800000"/>
              <a:headEnd/>
              <a:tailEnd/>
            </a:ln>
          </p:spPr>
          <p:txBody>
            <a:bodyPr>
              <a:prstTxWarp prst="textNoShape">
                <a:avLst/>
              </a:prstTxWarp>
            </a:bodyPr>
            <a:lstStyle/>
            <a:p>
              <a:endParaRPr lang="zh-TW" altLang="en-US" sz="1200" b="1">
                <a:solidFill>
                  <a:schemeClr val="bg1"/>
                </a:solidFill>
                <a:latin typeface="Arial" pitchFamily="-111" charset="0"/>
                <a:ea typeface="新細明體" pitchFamily="16" charset="-128"/>
                <a:cs typeface="新細明體" pitchFamily="16" charset="-128"/>
              </a:endParaRPr>
            </a:p>
          </p:txBody>
        </p:sp>
        <p:grpSp>
          <p:nvGrpSpPr>
            <p:cNvPr id="81" name="Group 81"/>
            <p:cNvGrpSpPr>
              <a:grpSpLocks/>
            </p:cNvGrpSpPr>
            <p:nvPr/>
          </p:nvGrpSpPr>
          <p:grpSpPr bwMode="auto">
            <a:xfrm>
              <a:off x="3639" y="3261"/>
              <a:ext cx="461" cy="230"/>
              <a:chOff x="3775" y="2037"/>
              <a:chExt cx="461" cy="230"/>
            </a:xfrm>
          </p:grpSpPr>
          <p:sp>
            <p:nvSpPr>
              <p:cNvPr id="91" name="Text Box 82"/>
              <p:cNvSpPr txBox="1">
                <a:spLocks noChangeArrowheads="1"/>
              </p:cNvSpPr>
              <p:nvPr/>
            </p:nvSpPr>
            <p:spPr bwMode="auto">
              <a:xfrm>
                <a:off x="3775" y="2037"/>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92" name="Text Box 83"/>
              <p:cNvSpPr txBox="1">
                <a:spLocks noChangeArrowheads="1"/>
              </p:cNvSpPr>
              <p:nvPr/>
            </p:nvSpPr>
            <p:spPr bwMode="auto">
              <a:xfrm>
                <a:off x="3804" y="2066"/>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4</a:t>
                </a:r>
              </a:p>
            </p:txBody>
          </p:sp>
        </p:grpSp>
        <p:grpSp>
          <p:nvGrpSpPr>
            <p:cNvPr id="82" name="Group 84"/>
            <p:cNvGrpSpPr>
              <a:grpSpLocks/>
            </p:cNvGrpSpPr>
            <p:nvPr/>
          </p:nvGrpSpPr>
          <p:grpSpPr bwMode="auto">
            <a:xfrm>
              <a:off x="4124" y="3261"/>
              <a:ext cx="461" cy="230"/>
              <a:chOff x="3775" y="2037"/>
              <a:chExt cx="461" cy="230"/>
            </a:xfrm>
          </p:grpSpPr>
          <p:sp>
            <p:nvSpPr>
              <p:cNvPr id="89" name="Text Box 85"/>
              <p:cNvSpPr txBox="1">
                <a:spLocks noChangeArrowheads="1"/>
              </p:cNvSpPr>
              <p:nvPr/>
            </p:nvSpPr>
            <p:spPr bwMode="auto">
              <a:xfrm>
                <a:off x="3775" y="2037"/>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90" name="Text Box 86"/>
              <p:cNvSpPr txBox="1">
                <a:spLocks noChangeArrowheads="1"/>
              </p:cNvSpPr>
              <p:nvPr/>
            </p:nvSpPr>
            <p:spPr bwMode="auto">
              <a:xfrm>
                <a:off x="3804" y="2066"/>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5</a:t>
                </a:r>
              </a:p>
            </p:txBody>
          </p:sp>
        </p:grpSp>
        <p:grpSp>
          <p:nvGrpSpPr>
            <p:cNvPr id="83" name="Group 87"/>
            <p:cNvGrpSpPr>
              <a:grpSpLocks/>
            </p:cNvGrpSpPr>
            <p:nvPr/>
          </p:nvGrpSpPr>
          <p:grpSpPr bwMode="auto">
            <a:xfrm>
              <a:off x="4609" y="3261"/>
              <a:ext cx="461" cy="230"/>
              <a:chOff x="3775" y="2037"/>
              <a:chExt cx="461" cy="230"/>
            </a:xfrm>
          </p:grpSpPr>
          <p:sp>
            <p:nvSpPr>
              <p:cNvPr id="87" name="Text Box 88"/>
              <p:cNvSpPr txBox="1">
                <a:spLocks noChangeArrowheads="1"/>
              </p:cNvSpPr>
              <p:nvPr/>
            </p:nvSpPr>
            <p:spPr bwMode="auto">
              <a:xfrm>
                <a:off x="3775" y="2037"/>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88" name="Text Box 89"/>
              <p:cNvSpPr txBox="1">
                <a:spLocks noChangeArrowheads="1"/>
              </p:cNvSpPr>
              <p:nvPr/>
            </p:nvSpPr>
            <p:spPr bwMode="auto">
              <a:xfrm>
                <a:off x="3804" y="2066"/>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6</a:t>
                </a:r>
              </a:p>
            </p:txBody>
          </p:sp>
        </p:grpSp>
        <p:grpSp>
          <p:nvGrpSpPr>
            <p:cNvPr id="84" name="Group 90"/>
            <p:cNvGrpSpPr>
              <a:grpSpLocks/>
            </p:cNvGrpSpPr>
            <p:nvPr/>
          </p:nvGrpSpPr>
          <p:grpSpPr bwMode="auto">
            <a:xfrm>
              <a:off x="5095" y="3261"/>
              <a:ext cx="461" cy="230"/>
              <a:chOff x="3775" y="2037"/>
              <a:chExt cx="461" cy="230"/>
            </a:xfrm>
          </p:grpSpPr>
          <p:sp>
            <p:nvSpPr>
              <p:cNvPr id="85" name="Text Box 91"/>
              <p:cNvSpPr txBox="1">
                <a:spLocks noChangeArrowheads="1"/>
              </p:cNvSpPr>
              <p:nvPr/>
            </p:nvSpPr>
            <p:spPr bwMode="auto">
              <a:xfrm>
                <a:off x="3775" y="2037"/>
                <a:ext cx="461" cy="230"/>
              </a:xfrm>
              <a:prstGeom prst="rect">
                <a:avLst/>
              </a:prstGeom>
              <a:solidFill>
                <a:srgbClr val="FFCC00"/>
              </a:solidFill>
              <a:ln w="9525">
                <a:solidFill>
                  <a:srgbClr val="969696"/>
                </a:solidFill>
                <a:miter lim="800000"/>
                <a:headEnd/>
                <a:tailEnd/>
              </a:ln>
            </p:spPr>
            <p:txBody>
              <a:bodyPr wrap="none">
                <a:prstTxWarp prst="textNoShape">
                  <a:avLst/>
                </a:prstTxWarp>
              </a:bodyPr>
              <a:lstStyle/>
              <a:p>
                <a:pPr algn="ctr"/>
                <a:endParaRPr lang="zh-TW" altLang="en-US" sz="1800">
                  <a:solidFill>
                    <a:srgbClr val="003300"/>
                  </a:solidFill>
                  <a:latin typeface="Arial" pitchFamily="-111" charset="0"/>
                  <a:ea typeface="新細明體" pitchFamily="16" charset="-128"/>
                  <a:cs typeface="新細明體" pitchFamily="16" charset="-128"/>
                </a:endParaRPr>
              </a:p>
            </p:txBody>
          </p:sp>
          <p:sp>
            <p:nvSpPr>
              <p:cNvPr id="86" name="Text Box 92"/>
              <p:cNvSpPr txBox="1">
                <a:spLocks noChangeArrowheads="1"/>
              </p:cNvSpPr>
              <p:nvPr/>
            </p:nvSpPr>
            <p:spPr bwMode="auto">
              <a:xfrm>
                <a:off x="3804" y="2066"/>
                <a:ext cx="403" cy="173"/>
              </a:xfrm>
              <a:prstGeom prst="rect">
                <a:avLst/>
              </a:prstGeom>
              <a:solidFill>
                <a:srgbClr val="FF9900"/>
              </a:solidFill>
              <a:ln w="9525">
                <a:solidFill>
                  <a:srgbClr val="969696"/>
                </a:solidFill>
                <a:miter lim="800000"/>
                <a:headEnd/>
                <a:tailEnd/>
              </a:ln>
            </p:spPr>
            <p:txBody>
              <a:bodyPr wrap="none">
                <a:prstTxWarp prst="textNoShape">
                  <a:avLst/>
                </a:prstTxWarp>
              </a:bodyPr>
              <a:lstStyle/>
              <a:p>
                <a:pPr algn="ctr"/>
                <a:r>
                  <a:rPr lang="en-US" altLang="zh-TW" sz="1200" b="1">
                    <a:solidFill>
                      <a:srgbClr val="003300"/>
                    </a:solidFill>
                    <a:latin typeface="Arial" pitchFamily="-111" charset="0"/>
                    <a:ea typeface="新細明體" pitchFamily="16" charset="-128"/>
                    <a:cs typeface="新細明體" pitchFamily="16" charset="-128"/>
                  </a:rPr>
                  <a:t>Block 7</a:t>
                </a:r>
              </a:p>
            </p:txBody>
          </p:sp>
        </p:grpSp>
      </p:grpSp>
      <p:sp>
        <p:nvSpPr>
          <p:cNvPr id="93" name="Line 93"/>
          <p:cNvSpPr>
            <a:spLocks noChangeShapeType="1"/>
          </p:cNvSpPr>
          <p:nvPr/>
        </p:nvSpPr>
        <p:spPr bwMode="auto">
          <a:xfrm>
            <a:off x="5306888" y="3583384"/>
            <a:ext cx="0" cy="982663"/>
          </a:xfrm>
          <a:prstGeom prst="line">
            <a:avLst/>
          </a:prstGeom>
          <a:noFill/>
          <a:ln w="25400">
            <a:solidFill>
              <a:schemeClr val="tx1"/>
            </a:solidFill>
            <a:round/>
            <a:headEnd/>
            <a:tailEnd type="triangle" w="lg" len="lg"/>
          </a:ln>
        </p:spPr>
        <p:txBody>
          <a:bodyPr>
            <a:prstTxWarp prst="textNoShape">
              <a:avLst/>
            </a:prstTxWarp>
          </a:bodyPr>
          <a:lstStyle/>
          <a:p>
            <a:endParaRPr lang="es-ES_tradnl"/>
          </a:p>
        </p:txBody>
      </p:sp>
      <p:sp>
        <p:nvSpPr>
          <p:cNvPr id="94" name="Line 94"/>
          <p:cNvSpPr>
            <a:spLocks noChangeShapeType="1"/>
          </p:cNvSpPr>
          <p:nvPr/>
        </p:nvSpPr>
        <p:spPr bwMode="auto">
          <a:xfrm flipH="1">
            <a:off x="2300163" y="2935684"/>
            <a:ext cx="825500" cy="457200"/>
          </a:xfrm>
          <a:prstGeom prst="line">
            <a:avLst/>
          </a:prstGeom>
          <a:noFill/>
          <a:ln w="63500">
            <a:solidFill>
              <a:schemeClr val="accent2"/>
            </a:solidFill>
            <a:round/>
            <a:headEnd/>
            <a:tailEnd type="triangle" w="lg" len="med"/>
          </a:ln>
          <a:effectLst/>
        </p:spPr>
        <p:txBody>
          <a:bodyPr>
            <a:prstTxWarp prst="textNoShape">
              <a:avLst/>
            </a:prstTxWarp>
          </a:bodyPr>
          <a:lstStyle/>
          <a:p>
            <a:endParaRPr lang="es-ES_tradnl"/>
          </a:p>
        </p:txBody>
      </p:sp>
      <p:sp>
        <p:nvSpPr>
          <p:cNvPr id="95" name="Line 95"/>
          <p:cNvSpPr>
            <a:spLocks noChangeShapeType="1"/>
          </p:cNvSpPr>
          <p:nvPr/>
        </p:nvSpPr>
        <p:spPr bwMode="auto">
          <a:xfrm>
            <a:off x="4668713" y="2935684"/>
            <a:ext cx="825500" cy="457200"/>
          </a:xfrm>
          <a:prstGeom prst="line">
            <a:avLst/>
          </a:prstGeom>
          <a:noFill/>
          <a:ln w="63500">
            <a:solidFill>
              <a:schemeClr val="accent2"/>
            </a:solidFill>
            <a:round/>
            <a:headEnd/>
            <a:tailEnd type="triangle" w="lg" len="med"/>
          </a:ln>
          <a:effectLst/>
        </p:spPr>
        <p:txBody>
          <a:bodyPr>
            <a:prstTxWarp prst="textNoShape">
              <a:avLst/>
            </a:prstTxWarp>
          </a:bodyPr>
          <a:lstStyle/>
          <a:p>
            <a:endParaRPr lang="es-ES_tradnl"/>
          </a:p>
        </p:txBody>
      </p:sp>
      <p:sp>
        <p:nvSpPr>
          <p:cNvPr id="96" name="Text Box 96"/>
          <p:cNvSpPr txBox="1">
            <a:spLocks noChangeArrowheads="1"/>
          </p:cNvSpPr>
          <p:nvPr/>
        </p:nvSpPr>
        <p:spPr bwMode="auto">
          <a:xfrm>
            <a:off x="2624013" y="4650740"/>
            <a:ext cx="6340475" cy="369332"/>
          </a:xfrm>
          <a:prstGeom prst="rect">
            <a:avLst/>
          </a:prstGeom>
          <a:noFill/>
          <a:ln w="9525">
            <a:noFill/>
            <a:miter lim="800000"/>
            <a:headEnd/>
            <a:tailEnd/>
          </a:ln>
          <a:effectLst/>
        </p:spPr>
        <p:txBody>
          <a:bodyPr wrap="square">
            <a:prstTxWarp prst="textNoShape">
              <a:avLst/>
            </a:prstTxWarp>
            <a:spAutoFit/>
          </a:bodyPr>
          <a:lstStyle/>
          <a:p>
            <a:r>
              <a:rPr lang="en-US" altLang="zh-TW" dirty="0">
                <a:ea typeface="新細明體" pitchFamily="16" charset="-128"/>
                <a:cs typeface="新細明體" pitchFamily="16" charset="-128"/>
              </a:rPr>
              <a:t>Each block can execute in any order relative to other blocks. </a:t>
            </a:r>
          </a:p>
        </p:txBody>
      </p:sp>
      <p:sp>
        <p:nvSpPr>
          <p:cNvPr id="97" name="Text Box 97"/>
          <p:cNvSpPr txBox="1">
            <a:spLocks noChangeArrowheads="1"/>
          </p:cNvSpPr>
          <p:nvPr/>
        </p:nvSpPr>
        <p:spPr bwMode="auto">
          <a:xfrm rot="16200000">
            <a:off x="4799484" y="3626247"/>
            <a:ext cx="722313" cy="457200"/>
          </a:xfrm>
          <a:prstGeom prst="rect">
            <a:avLst/>
          </a:prstGeom>
          <a:noFill/>
          <a:ln w="9525">
            <a:noFill/>
            <a:miter lim="800000"/>
            <a:headEnd/>
            <a:tailEnd/>
          </a:ln>
          <a:effectLst/>
        </p:spPr>
        <p:txBody>
          <a:bodyPr wrap="none">
            <a:prstTxWarp prst="textNoShape">
              <a:avLst/>
            </a:prstTxWarp>
            <a:spAutoFit/>
          </a:bodyPr>
          <a:lstStyle/>
          <a:p>
            <a:r>
              <a:rPr lang="en-US" altLang="zh-TW">
                <a:ea typeface="新細明體" pitchFamily="16" charset="-128"/>
                <a:cs typeface="新細明體" pitchFamily="16" charset="-128"/>
              </a:rPr>
              <a:t>time</a:t>
            </a:r>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89</a:t>
            </a:fld>
            <a:endParaRPr lang="en-US" altLang="en-US"/>
          </a:p>
        </p:txBody>
      </p:sp>
      <p:sp>
        <p:nvSpPr>
          <p:cNvPr id="98" name="CuadroTexto 97"/>
          <p:cNvSpPr txBox="1"/>
          <p:nvPr/>
        </p:nvSpPr>
        <p:spPr>
          <a:xfrm>
            <a:off x="7545764" y="6165304"/>
            <a:ext cx="1274708" cy="215444"/>
          </a:xfrm>
          <a:prstGeom prst="rect">
            <a:avLst/>
          </a:prstGeom>
          <a:noFill/>
        </p:spPr>
        <p:txBody>
          <a:bodyPr wrap="none" rtlCol="0">
            <a:spAutoFit/>
          </a:bodyPr>
          <a:lstStyle/>
          <a:p>
            <a:r>
              <a:rPr lang="en-US" sz="800" dirty="0"/>
              <a:t>Slide credit: </a:t>
            </a:r>
            <a:r>
              <a:rPr lang="en-US" sz="800" dirty="0" err="1"/>
              <a:t>Hwu</a:t>
            </a:r>
            <a:r>
              <a:rPr lang="en-US" sz="800" dirty="0"/>
              <a:t> &amp; Kirk</a:t>
            </a:r>
          </a:p>
        </p:txBody>
      </p:sp>
      <p:sp>
        <p:nvSpPr>
          <p:cNvPr id="99" name="Text Box 97"/>
          <p:cNvSpPr txBox="1">
            <a:spLocks noChangeArrowheads="1"/>
          </p:cNvSpPr>
          <p:nvPr/>
        </p:nvSpPr>
        <p:spPr bwMode="auto">
          <a:xfrm rot="16200000">
            <a:off x="-77911" y="3333749"/>
            <a:ext cx="722313" cy="457200"/>
          </a:xfrm>
          <a:prstGeom prst="rect">
            <a:avLst/>
          </a:prstGeom>
          <a:noFill/>
          <a:ln w="9525">
            <a:noFill/>
            <a:miter lim="800000"/>
            <a:headEnd/>
            <a:tailEnd/>
          </a:ln>
          <a:effectLst/>
        </p:spPr>
        <p:txBody>
          <a:bodyPr wrap="none">
            <a:prstTxWarp prst="textNoShape">
              <a:avLst/>
            </a:prstTxWarp>
            <a:spAutoFit/>
          </a:bodyPr>
          <a:lstStyle/>
          <a:p>
            <a:r>
              <a:rPr lang="en-US" altLang="zh-TW" dirty="0">
                <a:ea typeface="新細明體" pitchFamily="16" charset="-128"/>
                <a:cs typeface="新細明體" pitchFamily="16" charset="-128"/>
              </a:rPr>
              <a:t>time</a:t>
            </a:r>
          </a:p>
        </p:txBody>
      </p:sp>
      <p:sp>
        <p:nvSpPr>
          <p:cNvPr id="5" name="Rectangle 4">
            <a:extLst>
              <a:ext uri="{FF2B5EF4-FFF2-40B4-BE49-F238E27FC236}">
                <a16:creationId xmlns:a16="http://schemas.microsoft.com/office/drawing/2014/main" id="{E537DCA2-9DE0-FC40-8E72-8B7E460ABC08}"/>
              </a:ext>
            </a:extLst>
          </p:cNvPr>
          <p:cNvSpPr/>
          <p:nvPr/>
        </p:nvSpPr>
        <p:spPr>
          <a:xfrm>
            <a:off x="1029248" y="1811595"/>
            <a:ext cx="825867" cy="369332"/>
          </a:xfrm>
          <a:prstGeom prst="rect">
            <a:avLst/>
          </a:prstGeom>
        </p:spPr>
        <p:txBody>
          <a:bodyPr wrap="none">
            <a:spAutoFit/>
          </a:bodyPr>
          <a:lstStyle/>
          <a:p>
            <a:r>
              <a:rPr lang="en-US" b="1" dirty="0"/>
              <a:t>Gen 1</a:t>
            </a:r>
            <a:endParaRPr lang="en-CN" b="1" dirty="0"/>
          </a:p>
        </p:txBody>
      </p:sp>
      <p:sp>
        <p:nvSpPr>
          <p:cNvPr id="100" name="Rectangle 99">
            <a:extLst>
              <a:ext uri="{FF2B5EF4-FFF2-40B4-BE49-F238E27FC236}">
                <a16:creationId xmlns:a16="http://schemas.microsoft.com/office/drawing/2014/main" id="{66898B1D-E630-2042-A992-D52CDD4FDA9E}"/>
              </a:ext>
            </a:extLst>
          </p:cNvPr>
          <p:cNvSpPr/>
          <p:nvPr/>
        </p:nvSpPr>
        <p:spPr>
          <a:xfrm>
            <a:off x="6690210" y="1963949"/>
            <a:ext cx="825867" cy="369332"/>
          </a:xfrm>
          <a:prstGeom prst="rect">
            <a:avLst/>
          </a:prstGeom>
        </p:spPr>
        <p:txBody>
          <a:bodyPr wrap="none">
            <a:spAutoFit/>
          </a:bodyPr>
          <a:lstStyle/>
          <a:p>
            <a:r>
              <a:rPr lang="en-US" b="1" dirty="0"/>
              <a:t>Gen 2</a:t>
            </a:r>
            <a:endParaRPr lang="en-CN" b="1" dirty="0"/>
          </a:p>
        </p:txBody>
      </p:sp>
      <p:sp>
        <p:nvSpPr>
          <p:cNvPr id="101" name="Text Box 96">
            <a:extLst>
              <a:ext uri="{FF2B5EF4-FFF2-40B4-BE49-F238E27FC236}">
                <a16:creationId xmlns:a16="http://schemas.microsoft.com/office/drawing/2014/main" id="{7C44D933-A45C-B64E-9801-7477DD8ED4C0}"/>
              </a:ext>
            </a:extLst>
          </p:cNvPr>
          <p:cNvSpPr txBox="1">
            <a:spLocks noChangeArrowheads="1"/>
          </p:cNvSpPr>
          <p:nvPr/>
        </p:nvSpPr>
        <p:spPr bwMode="auto">
          <a:xfrm>
            <a:off x="1503025" y="5460557"/>
            <a:ext cx="6090075" cy="646331"/>
          </a:xfrm>
          <a:prstGeom prst="rect">
            <a:avLst/>
          </a:prstGeom>
          <a:noFill/>
          <a:ln w="12700">
            <a:solidFill>
              <a:srgbClr val="0432FF"/>
            </a:solidFill>
            <a:miter lim="800000"/>
            <a:headEnd/>
            <a:tailEnd/>
          </a:ln>
          <a:effectLst/>
        </p:spPr>
        <p:txBody>
          <a:bodyPr wrap="square">
            <a:prstTxWarp prst="textNoShape">
              <a:avLst/>
            </a:prstTxWarp>
            <a:spAutoFit/>
          </a:bodyPr>
          <a:lstStyle/>
          <a:p>
            <a:r>
              <a:rPr lang="en-CN" dirty="0">
                <a:solidFill>
                  <a:srgbClr val="0432FF"/>
                </a:solidFill>
              </a:rPr>
              <a:t>T</a:t>
            </a:r>
            <a:r>
              <a:rPr lang="en-US" dirty="0">
                <a:solidFill>
                  <a:srgbClr val="0432FF"/>
                </a:solidFill>
              </a:rPr>
              <a:t>h</a:t>
            </a:r>
            <a:r>
              <a:rPr lang="en-CN" dirty="0">
                <a:solidFill>
                  <a:srgbClr val="0432FF"/>
                </a:solidFill>
              </a:rPr>
              <a:t>e CUDA code stays the same and enjoys performance improvement while GPU hardware evolves. </a:t>
            </a:r>
          </a:p>
        </p:txBody>
      </p:sp>
    </p:spTree>
    <p:extLst>
      <p:ext uri="{BB962C8B-B14F-4D97-AF65-F5344CB8AC3E}">
        <p14:creationId xmlns:p14="http://schemas.microsoft.com/office/powerpoint/2010/main" val="5522807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animBg="1"/>
      <p:bldP spid="94" grpId="0" animBg="1"/>
      <p:bldP spid="95" grpId="0" animBg="1"/>
      <p:bldP spid="96" grpId="0"/>
      <p:bldP spid="97" grpId="0"/>
      <p:bldP spid="98" grpId="0"/>
      <p:bldP spid="99" grpId="0"/>
      <p:bldP spid="5" grpId="0"/>
      <p:bldP spid="100" grpId="0"/>
      <p:bldP spid="101"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a:extLst>
              <a:ext uri="{FF2B5EF4-FFF2-40B4-BE49-F238E27FC236}">
                <a16:creationId xmlns:a16="http://schemas.microsoft.com/office/drawing/2014/main" id="{4EE5B2AA-FF9B-DB4E-97CC-0C4C71C6AE2A}"/>
              </a:ext>
            </a:extLst>
          </p:cNvPr>
          <p:cNvSpPr>
            <a:spLocks noGrp="1"/>
          </p:cNvSpPr>
          <p:nvPr>
            <p:ph type="title"/>
          </p:nvPr>
        </p:nvSpPr>
        <p:spPr/>
        <p:txBody>
          <a:bodyPr/>
          <a:lstStyle/>
          <a:p>
            <a:r>
              <a:rPr lang="en-US" altLang="zh-CN" dirty="0">
                <a:ea typeface="ＭＳ Ｐゴシック" panose="020B0600070205080204" pitchFamily="34" charset="-128"/>
              </a:rPr>
              <a:t>Key Messages:</a:t>
            </a:r>
            <a:endParaRPr lang="en-US" altLang="en-US" dirty="0">
              <a:ea typeface="ＭＳ Ｐゴシック" panose="020B0600070205080204" pitchFamily="34" charset="-128"/>
            </a:endParaRPr>
          </a:p>
        </p:txBody>
      </p:sp>
      <p:sp>
        <p:nvSpPr>
          <p:cNvPr id="3" name="Content Placeholder 2">
            <a:extLst>
              <a:ext uri="{FF2B5EF4-FFF2-40B4-BE49-F238E27FC236}">
                <a16:creationId xmlns:a16="http://schemas.microsoft.com/office/drawing/2014/main" id="{66925FF1-1AA1-FD41-844F-947ABC7D4E7F}"/>
              </a:ext>
            </a:extLst>
          </p:cNvPr>
          <p:cNvSpPr>
            <a:spLocks noGrp="1"/>
          </p:cNvSpPr>
          <p:nvPr>
            <p:ph idx="1"/>
          </p:nvPr>
        </p:nvSpPr>
        <p:spPr>
          <a:xfrm>
            <a:off x="228600" y="996950"/>
            <a:ext cx="8610600" cy="5194300"/>
          </a:xfrm>
        </p:spPr>
        <p:txBody>
          <a:bodyPr/>
          <a:lstStyle/>
          <a:p>
            <a:r>
              <a:rPr lang="en-US" altLang="en-US" dirty="0">
                <a:ea typeface="ＭＳ Ｐゴシック" panose="020B0600070205080204" pitchFamily="34" charset="-128"/>
              </a:rPr>
              <a:t>Programming model is the key success of Nvidia, rather than the GPU itself. </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GPU has an order of magnitude higher memory bandwidth and compute power than CPU.</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Offloading a task to GPU pays off only when the task has enough compute intensity. </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AI task needs compute-i</a:t>
            </a:r>
            <a:r>
              <a:rPr lang="en-US" altLang="zh-CN" dirty="0">
                <a:ea typeface="ＭＳ Ｐゴシック" panose="020B0600070205080204" pitchFamily="34" charset="-128"/>
              </a:rPr>
              <a:t>n</a:t>
            </a:r>
            <a:r>
              <a:rPr lang="en-US" altLang="en-US" dirty="0">
                <a:ea typeface="ＭＳ Ｐゴシック" panose="020B0600070205080204" pitchFamily="34" charset="-128"/>
              </a:rPr>
              <a:t>tensive accelerators, e.g., GPU and AI processor.</a:t>
            </a: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pPr marL="344487" lvl="1" indent="0">
              <a:buNone/>
            </a:pPr>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47107" name="Slide Number Placeholder 3">
            <a:extLst>
              <a:ext uri="{FF2B5EF4-FFF2-40B4-BE49-F238E27FC236}">
                <a16:creationId xmlns:a16="http://schemas.microsoft.com/office/drawing/2014/main" id="{21907114-80D5-1F47-B079-9D046A445A1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391526B-700D-0C48-A91E-64A8292463A0}"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90</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71540139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a:extLst>
              <a:ext uri="{FF2B5EF4-FFF2-40B4-BE49-F238E27FC236}">
                <a16:creationId xmlns:a16="http://schemas.microsoft.com/office/drawing/2014/main" id="{A1C351C6-746F-0D48-8860-0236CFB67AD7}"/>
              </a:ext>
            </a:extLst>
          </p:cNvPr>
          <p:cNvSpPr>
            <a:spLocks noGrp="1"/>
          </p:cNvSpPr>
          <p:nvPr>
            <p:ph type="title"/>
          </p:nvPr>
        </p:nvSpPr>
        <p:spPr>
          <a:xfrm>
            <a:off x="152400" y="152400"/>
            <a:ext cx="8915400" cy="1066800"/>
          </a:xfrm>
        </p:spPr>
        <p:txBody>
          <a:bodyPr/>
          <a:lstStyle/>
          <a:p>
            <a:r>
              <a:rPr lang="en-US" altLang="en-US">
                <a:ea typeface="ＭＳ Ｐゴシック" panose="020B0600070205080204" pitchFamily="34" charset="-128"/>
              </a:rPr>
              <a:t>Prog. Model 3: Multithreaded</a:t>
            </a:r>
          </a:p>
        </p:txBody>
      </p:sp>
      <p:sp>
        <p:nvSpPr>
          <p:cNvPr id="53250" name="Slide Number Placeholder 3">
            <a:extLst>
              <a:ext uri="{FF2B5EF4-FFF2-40B4-BE49-F238E27FC236}">
                <a16:creationId xmlns:a16="http://schemas.microsoft.com/office/drawing/2014/main" id="{AE287651-3BF7-1941-A294-4E4FD7E8A405}"/>
              </a:ext>
            </a:extLst>
          </p:cNvPr>
          <p:cNvSpPr>
            <a:spLocks noGrp="1"/>
          </p:cNvSpPr>
          <p:nvPr>
            <p:ph type="sldNum" sz="quarter" idx="11"/>
          </p:nvPr>
        </p:nvSpPr>
        <p:spPr>
          <a:xfrm>
            <a:off x="5280025" y="6021639"/>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CE5B54D-6199-A74B-B1BD-2B8BC2055760}"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91</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53251" name="Text Box 3">
            <a:extLst>
              <a:ext uri="{FF2B5EF4-FFF2-40B4-BE49-F238E27FC236}">
                <a16:creationId xmlns:a16="http://schemas.microsoft.com/office/drawing/2014/main" id="{CAE0E314-6E5C-6842-BFEB-99244D2B8B4D}"/>
              </a:ext>
            </a:extLst>
          </p:cNvPr>
          <p:cNvSpPr txBox="1">
            <a:spLocks noChangeArrowheads="1"/>
          </p:cNvSpPr>
          <p:nvPr/>
        </p:nvSpPr>
        <p:spPr bwMode="auto">
          <a:xfrm>
            <a:off x="6248400" y="152400"/>
            <a:ext cx="30162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10000"/>
              </a:spcBef>
              <a:spcAft>
                <a:spcPct val="0"/>
              </a:spcAft>
              <a:buClrTx/>
              <a:buSzTx/>
              <a:buFontTx/>
              <a:buNone/>
              <a:tabLst/>
              <a:defRPr/>
            </a:pPr>
            <a:r>
              <a:rPr kumimoji="0" lang="en-US" altLang="ko-KR" sz="1600" b="1" i="0" u="none" strike="noStrike" kern="1200" cap="none" spc="0" normalizeH="0" baseline="0" noProof="0">
                <a:ln>
                  <a:noFill/>
                </a:ln>
                <a:solidFill>
                  <a:srgbClr val="000000"/>
                </a:solidFill>
                <a:effectLst/>
                <a:uLnTx/>
                <a:uFillTx/>
                <a:latin typeface="Courier New" panose="02070309020205020404" pitchFamily="49" charset="0"/>
                <a:ea typeface="굴림" panose="020B0600000101010101" pitchFamily="34" charset="-127"/>
                <a:cs typeface="+mn-cs"/>
              </a:rPr>
              <a:t>for (i=0; i &lt; N; i++)</a:t>
            </a:r>
          </a:p>
          <a:p>
            <a:pPr marL="0" marR="0" lvl="0" indent="0" algn="l" defTabSz="914400" rtl="0" eaLnBrk="1" fontAlgn="base" latinLnBrk="0" hangingPunct="1">
              <a:lnSpc>
                <a:spcPct val="100000"/>
              </a:lnSpc>
              <a:spcBef>
                <a:spcPct val="10000"/>
              </a:spcBef>
              <a:spcAft>
                <a:spcPct val="0"/>
              </a:spcAft>
              <a:buClrTx/>
              <a:buSzTx/>
              <a:buFontTx/>
              <a:buNone/>
              <a:tabLst/>
              <a:defRPr/>
            </a:pPr>
            <a:r>
              <a:rPr kumimoji="0" lang="en-US" altLang="ko-KR" sz="1600" b="1" i="0" u="none" strike="noStrike" kern="1200" cap="none" spc="0" normalizeH="0" baseline="0" noProof="0">
                <a:ln>
                  <a:noFill/>
                </a:ln>
                <a:solidFill>
                  <a:srgbClr val="000000"/>
                </a:solidFill>
                <a:effectLst/>
                <a:uLnTx/>
                <a:uFillTx/>
                <a:latin typeface="Courier New" panose="02070309020205020404" pitchFamily="49" charset="0"/>
                <a:ea typeface="굴림" panose="020B0600000101010101" pitchFamily="34" charset="-127"/>
                <a:cs typeface="+mn-cs"/>
              </a:rPr>
              <a:t>    C[i] = A[i] + B[i];</a:t>
            </a:r>
          </a:p>
        </p:txBody>
      </p:sp>
      <p:grpSp>
        <p:nvGrpSpPr>
          <p:cNvPr id="53252" name="Group 5">
            <a:extLst>
              <a:ext uri="{FF2B5EF4-FFF2-40B4-BE49-F238E27FC236}">
                <a16:creationId xmlns:a16="http://schemas.microsoft.com/office/drawing/2014/main" id="{2BFF135F-0013-F543-ABB7-211257A0A819}"/>
              </a:ext>
            </a:extLst>
          </p:cNvPr>
          <p:cNvGrpSpPr>
            <a:grpSpLocks/>
          </p:cNvGrpSpPr>
          <p:nvPr/>
        </p:nvGrpSpPr>
        <p:grpSpPr bwMode="auto">
          <a:xfrm>
            <a:off x="1905000" y="1014691"/>
            <a:ext cx="1981200" cy="2590800"/>
            <a:chOff x="949325" y="1509713"/>
            <a:chExt cx="1981200" cy="2590800"/>
          </a:xfrm>
        </p:grpSpPr>
        <p:sp>
          <p:nvSpPr>
            <p:cNvPr id="53269" name="AutoShape 33">
              <a:extLst>
                <a:ext uri="{FF2B5EF4-FFF2-40B4-BE49-F238E27FC236}">
                  <a16:creationId xmlns:a16="http://schemas.microsoft.com/office/drawing/2014/main" id="{3628CC74-DB5F-0744-825F-1CDA5025446E}"/>
                </a:ext>
              </a:extLst>
            </p:cNvPr>
            <p:cNvSpPr>
              <a:spLocks noChangeArrowheads="1"/>
            </p:cNvSpPr>
            <p:nvPr/>
          </p:nvSpPr>
          <p:spPr bwMode="auto">
            <a:xfrm>
              <a:off x="1198563" y="1601788"/>
              <a:ext cx="700088" cy="401638"/>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3270" name="AutoShape 34">
              <a:extLst>
                <a:ext uri="{FF2B5EF4-FFF2-40B4-BE49-F238E27FC236}">
                  <a16:creationId xmlns:a16="http://schemas.microsoft.com/office/drawing/2014/main" id="{19D75240-26B4-A84F-A057-5E1A54DD54E3}"/>
                </a:ext>
              </a:extLst>
            </p:cNvPr>
            <p:cNvSpPr>
              <a:spLocks noChangeArrowheads="1"/>
            </p:cNvSpPr>
            <p:nvPr/>
          </p:nvSpPr>
          <p:spPr bwMode="auto">
            <a:xfrm>
              <a:off x="2112963" y="2211388"/>
              <a:ext cx="700088" cy="401638"/>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3271" name="AutoShape 35">
              <a:extLst>
                <a:ext uri="{FF2B5EF4-FFF2-40B4-BE49-F238E27FC236}">
                  <a16:creationId xmlns:a16="http://schemas.microsoft.com/office/drawing/2014/main" id="{130D1E90-31E3-E64B-B0C4-5F4A5196C60C}"/>
                </a:ext>
              </a:extLst>
            </p:cNvPr>
            <p:cNvSpPr>
              <a:spLocks noChangeArrowheads="1"/>
            </p:cNvSpPr>
            <p:nvPr/>
          </p:nvSpPr>
          <p:spPr bwMode="auto">
            <a:xfrm>
              <a:off x="1573213" y="2897188"/>
              <a:ext cx="638175" cy="401638"/>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add</a:t>
              </a:r>
            </a:p>
          </p:txBody>
        </p:sp>
        <p:sp>
          <p:nvSpPr>
            <p:cNvPr id="53272" name="AutoShape 36">
              <a:extLst>
                <a:ext uri="{FF2B5EF4-FFF2-40B4-BE49-F238E27FC236}">
                  <a16:creationId xmlns:a16="http://schemas.microsoft.com/office/drawing/2014/main" id="{6E3986F6-FB5A-034A-8428-A17A968EB6E0}"/>
                </a:ext>
              </a:extLst>
            </p:cNvPr>
            <p:cNvSpPr>
              <a:spLocks noChangeArrowheads="1"/>
            </p:cNvSpPr>
            <p:nvPr/>
          </p:nvSpPr>
          <p:spPr bwMode="auto">
            <a:xfrm>
              <a:off x="1530350" y="3506788"/>
              <a:ext cx="800100" cy="401638"/>
            </a:xfrm>
            <a:prstGeom prst="roundRect">
              <a:avLst>
                <a:gd name="adj" fmla="val 16667"/>
              </a:avLst>
            </a:prstGeom>
            <a:solidFill>
              <a:schemeClr val="hlink"/>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store</a:t>
              </a:r>
            </a:p>
          </p:txBody>
        </p:sp>
        <p:sp>
          <p:nvSpPr>
            <p:cNvPr id="53273" name="Line 37">
              <a:extLst>
                <a:ext uri="{FF2B5EF4-FFF2-40B4-BE49-F238E27FC236}">
                  <a16:creationId xmlns:a16="http://schemas.microsoft.com/office/drawing/2014/main" id="{5A1C65CC-389B-2943-858C-A3ED8D38C2C8}"/>
                </a:ext>
              </a:extLst>
            </p:cNvPr>
            <p:cNvSpPr>
              <a:spLocks noChangeShapeType="1"/>
            </p:cNvSpPr>
            <p:nvPr/>
          </p:nvSpPr>
          <p:spPr bwMode="auto">
            <a:xfrm>
              <a:off x="1558925" y="2043113"/>
              <a:ext cx="228600" cy="8382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3274" name="Line 38">
              <a:extLst>
                <a:ext uri="{FF2B5EF4-FFF2-40B4-BE49-F238E27FC236}">
                  <a16:creationId xmlns:a16="http://schemas.microsoft.com/office/drawing/2014/main" id="{2D213853-DC23-3144-AF8D-0B32AD8360DC}"/>
                </a:ext>
              </a:extLst>
            </p:cNvPr>
            <p:cNvSpPr>
              <a:spLocks noChangeShapeType="1"/>
            </p:cNvSpPr>
            <p:nvPr/>
          </p:nvSpPr>
          <p:spPr bwMode="auto">
            <a:xfrm flipH="1">
              <a:off x="2016125" y="2652713"/>
              <a:ext cx="22860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3275" name="Line 39">
              <a:extLst>
                <a:ext uri="{FF2B5EF4-FFF2-40B4-BE49-F238E27FC236}">
                  <a16:creationId xmlns:a16="http://schemas.microsoft.com/office/drawing/2014/main" id="{F964E992-5F3E-2545-A108-E05FED75E116}"/>
                </a:ext>
              </a:extLst>
            </p:cNvPr>
            <p:cNvSpPr>
              <a:spLocks noChangeShapeType="1"/>
            </p:cNvSpPr>
            <p:nvPr/>
          </p:nvSpPr>
          <p:spPr bwMode="auto">
            <a:xfrm>
              <a:off x="1939925" y="3338513"/>
              <a:ext cx="0" cy="1524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3276" name="AutoShape 47">
              <a:extLst>
                <a:ext uri="{FF2B5EF4-FFF2-40B4-BE49-F238E27FC236}">
                  <a16:creationId xmlns:a16="http://schemas.microsoft.com/office/drawing/2014/main" id="{F1BDA115-D10E-1547-A010-BF77C55EE6FA}"/>
                </a:ext>
              </a:extLst>
            </p:cNvPr>
            <p:cNvSpPr>
              <a:spLocks noChangeArrowheads="1"/>
            </p:cNvSpPr>
            <p:nvPr/>
          </p:nvSpPr>
          <p:spPr bwMode="auto">
            <a:xfrm>
              <a:off x="949325" y="1509713"/>
              <a:ext cx="1981200" cy="2590800"/>
            </a:xfrm>
            <a:prstGeom prst="roundRect">
              <a:avLst>
                <a:gd name="adj" fmla="val 16667"/>
              </a:avLst>
            </a:prstGeom>
            <a:noFill/>
            <a:ln w="38100" cap="rnd">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3253" name="Group 4">
            <a:extLst>
              <a:ext uri="{FF2B5EF4-FFF2-40B4-BE49-F238E27FC236}">
                <a16:creationId xmlns:a16="http://schemas.microsoft.com/office/drawing/2014/main" id="{C4F3A047-4C05-C449-BE54-8CFD4FF4B310}"/>
              </a:ext>
            </a:extLst>
          </p:cNvPr>
          <p:cNvGrpSpPr>
            <a:grpSpLocks/>
          </p:cNvGrpSpPr>
          <p:nvPr/>
        </p:nvGrpSpPr>
        <p:grpSpPr bwMode="auto">
          <a:xfrm>
            <a:off x="4370387" y="1014691"/>
            <a:ext cx="1981200" cy="2590800"/>
            <a:chOff x="2930525" y="1509713"/>
            <a:chExt cx="1981200" cy="2590800"/>
          </a:xfrm>
        </p:grpSpPr>
        <p:sp>
          <p:nvSpPr>
            <p:cNvPr id="53261" name="AutoShape 40">
              <a:extLst>
                <a:ext uri="{FF2B5EF4-FFF2-40B4-BE49-F238E27FC236}">
                  <a16:creationId xmlns:a16="http://schemas.microsoft.com/office/drawing/2014/main" id="{D4F78968-6CD3-5544-8092-6909A2C952C2}"/>
                </a:ext>
              </a:extLst>
            </p:cNvPr>
            <p:cNvSpPr>
              <a:spLocks noChangeArrowheads="1"/>
            </p:cNvSpPr>
            <p:nvPr/>
          </p:nvSpPr>
          <p:spPr bwMode="auto">
            <a:xfrm>
              <a:off x="3103563" y="1601788"/>
              <a:ext cx="700088" cy="401638"/>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3262" name="AutoShape 41">
              <a:extLst>
                <a:ext uri="{FF2B5EF4-FFF2-40B4-BE49-F238E27FC236}">
                  <a16:creationId xmlns:a16="http://schemas.microsoft.com/office/drawing/2014/main" id="{AA4258D6-55C2-4342-9EC6-6743C39E8E94}"/>
                </a:ext>
              </a:extLst>
            </p:cNvPr>
            <p:cNvSpPr>
              <a:spLocks noChangeArrowheads="1"/>
            </p:cNvSpPr>
            <p:nvPr/>
          </p:nvSpPr>
          <p:spPr bwMode="auto">
            <a:xfrm>
              <a:off x="4017963" y="2211388"/>
              <a:ext cx="700088" cy="401638"/>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load</a:t>
              </a:r>
            </a:p>
          </p:txBody>
        </p:sp>
        <p:sp>
          <p:nvSpPr>
            <p:cNvPr id="53263" name="AutoShape 42">
              <a:extLst>
                <a:ext uri="{FF2B5EF4-FFF2-40B4-BE49-F238E27FC236}">
                  <a16:creationId xmlns:a16="http://schemas.microsoft.com/office/drawing/2014/main" id="{ED970D25-0FD8-2D40-B395-B194F6835579}"/>
                </a:ext>
              </a:extLst>
            </p:cNvPr>
            <p:cNvSpPr>
              <a:spLocks noChangeArrowheads="1"/>
            </p:cNvSpPr>
            <p:nvPr/>
          </p:nvSpPr>
          <p:spPr bwMode="auto">
            <a:xfrm>
              <a:off x="3478213" y="2897188"/>
              <a:ext cx="638175" cy="401638"/>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add</a:t>
              </a:r>
            </a:p>
          </p:txBody>
        </p:sp>
        <p:sp>
          <p:nvSpPr>
            <p:cNvPr id="53264" name="AutoShape 43">
              <a:extLst>
                <a:ext uri="{FF2B5EF4-FFF2-40B4-BE49-F238E27FC236}">
                  <a16:creationId xmlns:a16="http://schemas.microsoft.com/office/drawing/2014/main" id="{78DFBAAF-B82B-9C44-9568-4F92D5DBFEDA}"/>
                </a:ext>
              </a:extLst>
            </p:cNvPr>
            <p:cNvSpPr>
              <a:spLocks noChangeArrowheads="1"/>
            </p:cNvSpPr>
            <p:nvPr/>
          </p:nvSpPr>
          <p:spPr bwMode="auto">
            <a:xfrm>
              <a:off x="3435350" y="3506788"/>
              <a:ext cx="800100" cy="401638"/>
            </a:xfrm>
            <a:prstGeom prst="roundRect">
              <a:avLst>
                <a:gd name="adj" fmla="val 16667"/>
              </a:avLst>
            </a:prstGeom>
            <a:solidFill>
              <a:schemeClr val="accent2"/>
            </a:solidFill>
            <a:ln w="3175">
              <a:solidFill>
                <a:schemeClr val="tx1"/>
              </a:solidFill>
              <a:round/>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a:ln>
                    <a:noFill/>
                  </a:ln>
                  <a:solidFill>
                    <a:srgbClr val="FFFFFF"/>
                  </a:solidFill>
                  <a:effectLst/>
                  <a:uLnTx/>
                  <a:uFillTx/>
                  <a:latin typeface="Verdana" panose="020B0604030504040204" pitchFamily="34" charset="0"/>
                  <a:ea typeface="굴림" panose="020B0600000101010101" pitchFamily="34" charset="-127"/>
                  <a:cs typeface="+mn-cs"/>
                </a:rPr>
                <a:t>store</a:t>
              </a:r>
            </a:p>
          </p:txBody>
        </p:sp>
        <p:sp>
          <p:nvSpPr>
            <p:cNvPr id="53265" name="Line 44">
              <a:extLst>
                <a:ext uri="{FF2B5EF4-FFF2-40B4-BE49-F238E27FC236}">
                  <a16:creationId xmlns:a16="http://schemas.microsoft.com/office/drawing/2014/main" id="{6A9798BE-CC37-F648-9347-B0D8FD71569E}"/>
                </a:ext>
              </a:extLst>
            </p:cNvPr>
            <p:cNvSpPr>
              <a:spLocks noChangeShapeType="1"/>
            </p:cNvSpPr>
            <p:nvPr/>
          </p:nvSpPr>
          <p:spPr bwMode="auto">
            <a:xfrm>
              <a:off x="3387725" y="2043113"/>
              <a:ext cx="304800" cy="8382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3266" name="Line 45">
              <a:extLst>
                <a:ext uri="{FF2B5EF4-FFF2-40B4-BE49-F238E27FC236}">
                  <a16:creationId xmlns:a16="http://schemas.microsoft.com/office/drawing/2014/main" id="{777939F2-390B-9549-BD58-099E0CE7FF89}"/>
                </a:ext>
              </a:extLst>
            </p:cNvPr>
            <p:cNvSpPr>
              <a:spLocks noChangeShapeType="1"/>
            </p:cNvSpPr>
            <p:nvPr/>
          </p:nvSpPr>
          <p:spPr bwMode="auto">
            <a:xfrm flipH="1">
              <a:off x="3921125" y="2652713"/>
              <a:ext cx="22860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3267" name="Line 46">
              <a:extLst>
                <a:ext uri="{FF2B5EF4-FFF2-40B4-BE49-F238E27FC236}">
                  <a16:creationId xmlns:a16="http://schemas.microsoft.com/office/drawing/2014/main" id="{AA3A3F9A-852D-E642-BCFC-AB0D42ECD385}"/>
                </a:ext>
              </a:extLst>
            </p:cNvPr>
            <p:cNvSpPr>
              <a:spLocks noChangeShapeType="1"/>
            </p:cNvSpPr>
            <p:nvPr/>
          </p:nvSpPr>
          <p:spPr bwMode="auto">
            <a:xfrm>
              <a:off x="3844925" y="3338513"/>
              <a:ext cx="0" cy="1524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3268" name="AutoShape 48">
              <a:extLst>
                <a:ext uri="{FF2B5EF4-FFF2-40B4-BE49-F238E27FC236}">
                  <a16:creationId xmlns:a16="http://schemas.microsoft.com/office/drawing/2014/main" id="{05A74A3E-C6B7-CF47-B117-029ED40298AB}"/>
                </a:ext>
              </a:extLst>
            </p:cNvPr>
            <p:cNvSpPr>
              <a:spLocks noChangeArrowheads="1"/>
            </p:cNvSpPr>
            <p:nvPr/>
          </p:nvSpPr>
          <p:spPr bwMode="auto">
            <a:xfrm>
              <a:off x="2930525" y="1509713"/>
              <a:ext cx="1981200" cy="2590800"/>
            </a:xfrm>
            <a:prstGeom prst="roundRect">
              <a:avLst>
                <a:gd name="adj" fmla="val 16667"/>
              </a:avLst>
            </a:prstGeom>
            <a:noFill/>
            <a:ln w="38100" cap="rnd">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53254" name="Text Box 49">
            <a:extLst>
              <a:ext uri="{FF2B5EF4-FFF2-40B4-BE49-F238E27FC236}">
                <a16:creationId xmlns:a16="http://schemas.microsoft.com/office/drawing/2014/main" id="{9CF6ABC8-C429-3D4B-A35D-DD138450E476}"/>
              </a:ext>
            </a:extLst>
          </p:cNvPr>
          <p:cNvSpPr txBox="1">
            <a:spLocks noChangeArrowheads="1"/>
          </p:cNvSpPr>
          <p:nvPr/>
        </p:nvSpPr>
        <p:spPr bwMode="auto">
          <a:xfrm>
            <a:off x="2445543" y="3645178"/>
            <a:ext cx="9731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dirty="0" err="1">
                <a:ln>
                  <a:noFill/>
                </a:ln>
                <a:solidFill>
                  <a:srgbClr val="000000"/>
                </a:solidFill>
                <a:effectLst/>
                <a:uLnTx/>
                <a:uFillTx/>
                <a:latin typeface="Verdana" panose="020B0604030504040204" pitchFamily="34" charset="0"/>
                <a:ea typeface="굴림" panose="020B0600000101010101" pitchFamily="34" charset="-127"/>
                <a:cs typeface="+mn-cs"/>
              </a:rPr>
              <a:t>Iter</a:t>
            </a:r>
            <a:r>
              <a:rPr kumimoji="0" lang="en-US" altLang="ko-KR" sz="1800" b="0" i="0" u="none" strike="noStrike" kern="1200" cap="none" spc="0" normalizeH="0" baseline="0" noProof="0" dirty="0">
                <a:ln>
                  <a:noFill/>
                </a:ln>
                <a:solidFill>
                  <a:srgbClr val="000000"/>
                </a:solidFill>
                <a:effectLst/>
                <a:uLnTx/>
                <a:uFillTx/>
                <a:latin typeface="Verdana" panose="020B0604030504040204" pitchFamily="34" charset="0"/>
                <a:ea typeface="굴림" panose="020B0600000101010101" pitchFamily="34" charset="-127"/>
                <a:cs typeface="+mn-cs"/>
              </a:rPr>
              <a:t>. 1</a:t>
            </a:r>
          </a:p>
        </p:txBody>
      </p:sp>
      <p:sp>
        <p:nvSpPr>
          <p:cNvPr id="53255" name="Text Box 50">
            <a:extLst>
              <a:ext uri="{FF2B5EF4-FFF2-40B4-BE49-F238E27FC236}">
                <a16:creationId xmlns:a16="http://schemas.microsoft.com/office/drawing/2014/main" id="{3317CA91-375B-6946-B938-999EEF6CFA48}"/>
              </a:ext>
            </a:extLst>
          </p:cNvPr>
          <p:cNvSpPr txBox="1">
            <a:spLocks noChangeArrowheads="1"/>
          </p:cNvSpPr>
          <p:nvPr/>
        </p:nvSpPr>
        <p:spPr bwMode="auto">
          <a:xfrm>
            <a:off x="4866197" y="3631446"/>
            <a:ext cx="10656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dirty="0" err="1">
                <a:ln>
                  <a:noFill/>
                </a:ln>
                <a:solidFill>
                  <a:srgbClr val="000000"/>
                </a:solidFill>
                <a:effectLst/>
                <a:uLnTx/>
                <a:uFillTx/>
                <a:latin typeface="Verdana" panose="020B0604030504040204" pitchFamily="34" charset="0"/>
                <a:ea typeface="굴림" panose="020B0600000101010101" pitchFamily="34" charset="-127"/>
                <a:cs typeface="+mn-cs"/>
              </a:rPr>
              <a:t>Iter</a:t>
            </a:r>
            <a:r>
              <a:rPr kumimoji="0" lang="en-US" altLang="ko-KR" sz="1800" b="0" i="0" u="none" strike="noStrike" kern="1200" cap="none" spc="0" normalizeH="0" baseline="0" noProof="0" dirty="0">
                <a:ln>
                  <a:noFill/>
                </a:ln>
                <a:solidFill>
                  <a:srgbClr val="000000"/>
                </a:solidFill>
                <a:effectLst/>
                <a:uLnTx/>
                <a:uFillTx/>
                <a:latin typeface="Verdana" panose="020B0604030504040204" pitchFamily="34" charset="0"/>
                <a:ea typeface="굴림" panose="020B0600000101010101" pitchFamily="34" charset="-127"/>
                <a:cs typeface="+mn-cs"/>
              </a:rPr>
              <a:t>. 2</a:t>
            </a:r>
          </a:p>
        </p:txBody>
      </p:sp>
      <p:sp>
        <p:nvSpPr>
          <p:cNvPr id="53256" name="Line 55">
            <a:extLst>
              <a:ext uri="{FF2B5EF4-FFF2-40B4-BE49-F238E27FC236}">
                <a16:creationId xmlns:a16="http://schemas.microsoft.com/office/drawing/2014/main" id="{E645DAEE-8156-2A41-8D30-37891889C01C}"/>
              </a:ext>
            </a:extLst>
          </p:cNvPr>
          <p:cNvSpPr>
            <a:spLocks noChangeShapeType="1"/>
          </p:cNvSpPr>
          <p:nvPr/>
        </p:nvSpPr>
        <p:spPr bwMode="auto">
          <a:xfrm>
            <a:off x="7113587" y="2005291"/>
            <a:ext cx="533400" cy="0"/>
          </a:xfrm>
          <a:prstGeom prst="line">
            <a:avLst/>
          </a:prstGeom>
          <a:noFill/>
          <a:ln w="76200">
            <a:solidFill>
              <a:schemeClr val="tx1"/>
            </a:solidFill>
            <a:prstDash val="sysDot"/>
            <a:round/>
            <a:headEnd/>
            <a:tailEn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 name="Text Box 26">
            <a:extLst>
              <a:ext uri="{FF2B5EF4-FFF2-40B4-BE49-F238E27FC236}">
                <a16:creationId xmlns:a16="http://schemas.microsoft.com/office/drawing/2014/main" id="{A8EAD19A-2231-4544-9184-C6EBB24FE021}"/>
              </a:ext>
            </a:extLst>
          </p:cNvPr>
          <p:cNvSpPr txBox="1">
            <a:spLocks noChangeArrowheads="1"/>
          </p:cNvSpPr>
          <p:nvPr/>
        </p:nvSpPr>
        <p:spPr bwMode="auto">
          <a:xfrm>
            <a:off x="1893887" y="4139259"/>
            <a:ext cx="5867400" cy="16312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175">
                <a:solidFill>
                  <a:srgbClr val="000000"/>
                </a:solidFill>
                <a:miter lim="800000"/>
                <a:headEnd/>
                <a:tailEnd/>
              </a14:hiddenLine>
            </a:ext>
          </a:extLst>
        </p:spPr>
        <p:txBody>
          <a:bodyPr anchor="ct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2000" b="0" i="0" u="none" strike="noStrike" kern="1200" cap="none" spc="0" normalizeH="0" baseline="0" noProof="0" dirty="0">
                <a:ln>
                  <a:noFill/>
                </a:ln>
                <a:solidFill>
                  <a:srgbClr val="000000"/>
                </a:solidFill>
                <a:effectLst/>
                <a:uLnTx/>
                <a:uFillTx/>
                <a:latin typeface="Tahoma"/>
                <a:ea typeface="굴림" charset="0"/>
                <a:cs typeface="굴림" charset="0"/>
              </a:rPr>
              <a:t>Realization</a:t>
            </a:r>
            <a:r>
              <a:rPr kumimoji="0" lang="en-US" altLang="ko-KR" sz="2000" b="0" i="0" u="none" strike="noStrike" kern="1200" cap="none" spc="0" normalizeH="0" baseline="0" noProof="0" dirty="0">
                <a:ln>
                  <a:noFill/>
                </a:ln>
                <a:solidFill>
                  <a:srgbClr val="0000FF"/>
                </a:solidFill>
                <a:effectLst/>
                <a:uLnTx/>
                <a:uFillTx/>
                <a:latin typeface="Tahoma"/>
                <a:ea typeface="굴림" charset="0"/>
                <a:cs typeface="굴림" charset="0"/>
              </a:rPr>
              <a:t>: Each iteration is independent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ko-KR" sz="2000" b="0" i="0" u="none" strike="noStrike" kern="1200" cap="none" spc="0" normalizeH="0" baseline="0" noProof="0" dirty="0">
              <a:ln>
                <a:noFill/>
              </a:ln>
              <a:solidFill>
                <a:srgbClr val="0000FF"/>
              </a:solidFill>
              <a:effectLst/>
              <a:uLnTx/>
              <a:uFillTx/>
              <a:latin typeface="Tahoma"/>
              <a:ea typeface="굴림" charset="0"/>
              <a:cs typeface="굴림"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2000" b="0" i="0" u="none" strike="noStrike" kern="1200" cap="none" spc="0" normalizeH="0" baseline="0" noProof="0" dirty="0">
                <a:ln>
                  <a:noFill/>
                </a:ln>
                <a:solidFill>
                  <a:srgbClr val="000000"/>
                </a:solidFill>
                <a:effectLst/>
                <a:uLnTx/>
                <a:uFillTx/>
                <a:latin typeface="Tahoma"/>
                <a:ea typeface="굴림" charset="0"/>
                <a:cs typeface="굴림" charset="0"/>
              </a:rPr>
              <a:t>Idea: </a:t>
            </a:r>
            <a:r>
              <a:rPr kumimoji="0" lang="en-US" altLang="ko-KR" sz="2000" b="0" i="0" u="none" strike="noStrike" kern="1200" cap="none" spc="0" normalizeH="0" baseline="0" noProof="0" dirty="0">
                <a:ln>
                  <a:noFill/>
                </a:ln>
                <a:solidFill>
                  <a:srgbClr val="0000FF"/>
                </a:solidFill>
                <a:effectLst/>
                <a:uLnTx/>
                <a:uFillTx/>
                <a:latin typeface="Tahoma"/>
                <a:ea typeface="굴림" charset="0"/>
                <a:cs typeface="굴림" charset="0"/>
              </a:rPr>
              <a:t>Programmer or compiler generates a thread to execute each iteration. Each thread does the same thing (but on different data)</a:t>
            </a:r>
          </a:p>
        </p:txBody>
      </p:sp>
      <p:sp>
        <p:nvSpPr>
          <p:cNvPr id="53258" name="TextBox 2">
            <a:extLst>
              <a:ext uri="{FF2B5EF4-FFF2-40B4-BE49-F238E27FC236}">
                <a16:creationId xmlns:a16="http://schemas.microsoft.com/office/drawing/2014/main" id="{D57B0119-35B6-7549-933E-91B6A41D6929}"/>
              </a:ext>
            </a:extLst>
          </p:cNvPr>
          <p:cNvSpPr txBox="1">
            <a:spLocks noChangeArrowheads="1"/>
          </p:cNvSpPr>
          <p:nvPr/>
        </p:nvSpPr>
        <p:spPr bwMode="auto">
          <a:xfrm>
            <a:off x="1717675" y="4752974"/>
            <a:ext cx="5929312" cy="954088"/>
          </a:xfrm>
          <a:prstGeom prst="rect">
            <a:avLst/>
          </a:prstGeom>
          <a:solidFill>
            <a:schemeClr val="bg1"/>
          </a:solidFill>
          <a:ln w="9525">
            <a:solidFill>
              <a:schemeClr val="tx1"/>
            </a:solidFill>
            <a:miter lim="800000"/>
            <a:headEnd/>
            <a:tailEnd/>
          </a:ln>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2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This programming model (software) is called:</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2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200" b="0" i="0" u="none" strike="noStrike" kern="1200" cap="none" spc="0" normalizeH="0" baseline="0" noProof="0" dirty="0">
                <a:ln>
                  <a:noFill/>
                </a:ln>
                <a:solidFill>
                  <a:srgbClr val="0432FF"/>
                </a:solidFill>
                <a:effectLst/>
                <a:uLnTx/>
                <a:uFillTx/>
                <a:latin typeface="Arial" panose="020B0604020202020204" pitchFamily="34" charset="0"/>
                <a:ea typeface="ＭＳ Ｐゴシック" panose="020B0600070205080204" pitchFamily="34" charset="-128"/>
                <a:cs typeface="+mn-cs"/>
              </a:rPr>
              <a:t>SPMD: Single Program Multiple Data</a:t>
            </a:r>
          </a:p>
        </p:txBody>
      </p:sp>
      <p:sp>
        <p:nvSpPr>
          <p:cNvPr id="53" name="TextBox 52">
            <a:extLst>
              <a:ext uri="{FF2B5EF4-FFF2-40B4-BE49-F238E27FC236}">
                <a16:creationId xmlns:a16="http://schemas.microsoft.com/office/drawing/2014/main" id="{390187D9-676E-E148-A515-C7033054E65E}"/>
              </a:ext>
            </a:extLst>
          </p:cNvPr>
          <p:cNvSpPr txBox="1">
            <a:spLocks noChangeArrowheads="1"/>
          </p:cNvSpPr>
          <p:nvPr/>
        </p:nvSpPr>
        <p:spPr bwMode="auto">
          <a:xfrm>
            <a:off x="1717675" y="5707062"/>
            <a:ext cx="5938838" cy="769441"/>
          </a:xfrm>
          <a:prstGeom prst="rect">
            <a:avLst/>
          </a:prstGeom>
          <a:solidFill>
            <a:schemeClr val="bg1"/>
          </a:solidFill>
          <a:ln w="9525">
            <a:solidFill>
              <a:schemeClr val="tx1"/>
            </a:solidFill>
            <a:miter lim="800000"/>
            <a:headEnd/>
            <a:tailEnd/>
          </a:ln>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200" b="0" i="0" u="none" strike="noStrike" kern="1200" cap="none" spc="0" normalizeH="0" baseline="0" noProof="0" dirty="0">
                <a:ln>
                  <a:noFill/>
                </a:ln>
                <a:effectLst/>
                <a:uLnTx/>
                <a:uFillTx/>
                <a:latin typeface="Arial" panose="020B0604020202020204" pitchFamily="34" charset="0"/>
                <a:ea typeface="ＭＳ Ｐゴシック" panose="020B0600070205080204" pitchFamily="34" charset="-128"/>
                <a:cs typeface="+mn-cs"/>
              </a:rPr>
              <a:t>Executed on a SIMT machine (hardware)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200" b="0" i="0" u="none" strike="noStrike" kern="1200" cap="none" spc="0" normalizeH="0" baseline="0" noProof="0" dirty="0">
                <a:ln>
                  <a:noFill/>
                </a:ln>
                <a:solidFill>
                  <a:srgbClr val="0432FF"/>
                </a:solidFill>
                <a:effectLst/>
                <a:uLnTx/>
                <a:uFillTx/>
                <a:latin typeface="Arial" panose="020B0604020202020204" pitchFamily="34" charset="0"/>
                <a:ea typeface="ＭＳ Ｐゴシック" panose="020B0600070205080204" pitchFamily="34" charset="-128"/>
                <a:cs typeface="+mn-cs"/>
              </a:rPr>
              <a:t>Single Instruction Multiple Thread</a:t>
            </a:r>
          </a:p>
        </p:txBody>
      </p:sp>
    </p:spTree>
    <p:extLst>
      <p:ext uri="{BB962C8B-B14F-4D97-AF65-F5344CB8AC3E}">
        <p14:creationId xmlns:p14="http://schemas.microsoft.com/office/powerpoint/2010/main" val="36686821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a:extLst>
              <a:ext uri="{FF2B5EF4-FFF2-40B4-BE49-F238E27FC236}">
                <a16:creationId xmlns:a16="http://schemas.microsoft.com/office/drawing/2014/main" id="{34081757-7B7F-894C-A7B9-00F62849FE30}"/>
              </a:ext>
            </a:extLst>
          </p:cNvPr>
          <p:cNvSpPr>
            <a:spLocks noGrp="1"/>
          </p:cNvSpPr>
          <p:nvPr>
            <p:ph type="title"/>
          </p:nvPr>
        </p:nvSpPr>
        <p:spPr/>
        <p:txBody>
          <a:bodyPr/>
          <a:lstStyle/>
          <a:p>
            <a:r>
              <a:rPr lang="en-US" altLang="en-US">
                <a:ea typeface="ＭＳ Ｐゴシック" panose="020B0600070205080204" pitchFamily="34" charset="-128"/>
              </a:rPr>
              <a:t>A GPU is a SIMD (SIMT) Machine</a:t>
            </a:r>
          </a:p>
        </p:txBody>
      </p:sp>
      <p:sp>
        <p:nvSpPr>
          <p:cNvPr id="3" name="Content Placeholder 2">
            <a:extLst>
              <a:ext uri="{FF2B5EF4-FFF2-40B4-BE49-F238E27FC236}">
                <a16:creationId xmlns:a16="http://schemas.microsoft.com/office/drawing/2014/main" id="{2B472305-74A7-ED41-B0CC-F5C17C4A8393}"/>
              </a:ext>
            </a:extLst>
          </p:cNvPr>
          <p:cNvSpPr>
            <a:spLocks noGrp="1"/>
          </p:cNvSpPr>
          <p:nvPr>
            <p:ph idx="1"/>
          </p:nvPr>
        </p:nvSpPr>
        <p:spPr>
          <a:xfrm>
            <a:off x="228600" y="996950"/>
            <a:ext cx="8915400" cy="5194300"/>
          </a:xfrm>
        </p:spPr>
        <p:txBody>
          <a:bodyPr/>
          <a:lstStyle/>
          <a:p>
            <a:r>
              <a:rPr lang="en-US" altLang="en-US" dirty="0">
                <a:ea typeface="ＭＳ Ｐゴシック" panose="020B0600070205080204" pitchFamily="34" charset="-128"/>
              </a:rPr>
              <a:t>Except it is </a:t>
            </a:r>
            <a:r>
              <a:rPr lang="en-US" altLang="en-US" b="1" dirty="0">
                <a:solidFill>
                  <a:srgbClr val="FF0000"/>
                </a:solidFill>
                <a:ea typeface="ＭＳ Ｐゴシック" panose="020B0600070205080204" pitchFamily="34" charset="-128"/>
              </a:rPr>
              <a:t>not</a:t>
            </a:r>
            <a:r>
              <a:rPr lang="en-US" altLang="en-US" dirty="0">
                <a:ea typeface="ＭＳ Ｐゴシック" panose="020B0600070205080204" pitchFamily="34" charset="-128"/>
              </a:rPr>
              <a:t> programmed using SIMD instructions</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It is </a:t>
            </a:r>
            <a:r>
              <a:rPr lang="en-US" altLang="en-US" dirty="0">
                <a:solidFill>
                  <a:srgbClr val="00B050"/>
                </a:solidFill>
                <a:ea typeface="ＭＳ Ｐゴシック" panose="020B0600070205080204" pitchFamily="34" charset="-128"/>
              </a:rPr>
              <a:t>programmed using threads </a:t>
            </a:r>
            <a:r>
              <a:rPr lang="en-US" altLang="en-US" dirty="0">
                <a:ea typeface="ＭＳ Ｐゴシック" panose="020B0600070205080204" pitchFamily="34" charset="-128"/>
              </a:rPr>
              <a:t>(SPMD programming model)</a:t>
            </a:r>
          </a:p>
          <a:p>
            <a:pPr lvl="1"/>
            <a:r>
              <a:rPr lang="en-US" altLang="en-US" dirty="0">
                <a:ea typeface="ＭＳ Ｐゴシック" panose="020B0600070205080204" pitchFamily="34" charset="-128"/>
              </a:rPr>
              <a:t>Each thread executes the same code but operates a different piece of data</a:t>
            </a:r>
          </a:p>
          <a:p>
            <a:pPr lvl="1"/>
            <a:r>
              <a:rPr lang="en-US" altLang="en-US" dirty="0">
                <a:ea typeface="ＭＳ Ｐゴシック" panose="020B0600070205080204" pitchFamily="34" charset="-128"/>
              </a:rPr>
              <a:t>Each thread has its own context (i.e., can be treated/restarted/executed independently)</a:t>
            </a:r>
          </a:p>
          <a:p>
            <a:pPr lvl="1"/>
            <a:endParaRPr lang="en-US" altLang="en-US" dirty="0">
              <a:ea typeface="ＭＳ Ｐゴシック" panose="020B0600070205080204" pitchFamily="34" charset="-128"/>
            </a:endParaRPr>
          </a:p>
          <a:p>
            <a:r>
              <a:rPr lang="en-US" altLang="en-US" dirty="0">
                <a:solidFill>
                  <a:srgbClr val="0000FF"/>
                </a:solidFill>
                <a:ea typeface="ＭＳ Ｐゴシック" panose="020B0600070205080204" pitchFamily="34" charset="-128"/>
              </a:rPr>
              <a:t>A set of threads executing the same instruction are dynamically grouped into a </a:t>
            </a:r>
            <a:r>
              <a:rPr lang="en-US" altLang="en-US" b="1" dirty="0">
                <a:solidFill>
                  <a:srgbClr val="0000FF"/>
                </a:solidFill>
                <a:ea typeface="ＭＳ Ｐゴシック" panose="020B0600070205080204" pitchFamily="34" charset="-128"/>
              </a:rPr>
              <a:t>warp (</a:t>
            </a:r>
            <a:r>
              <a:rPr lang="en-US" altLang="en-US" b="1" dirty="0" err="1">
                <a:solidFill>
                  <a:srgbClr val="0000FF"/>
                </a:solidFill>
                <a:ea typeface="ＭＳ Ｐゴシック" panose="020B0600070205080204" pitchFamily="34" charset="-128"/>
              </a:rPr>
              <a:t>wavefront</a:t>
            </a:r>
            <a:r>
              <a:rPr lang="en-US" altLang="en-US" b="1" dirty="0">
                <a:solidFill>
                  <a:srgbClr val="0000FF"/>
                </a:solidFill>
                <a:ea typeface="ＭＳ Ｐゴシック" panose="020B0600070205080204" pitchFamily="34" charset="-128"/>
              </a:rPr>
              <a:t>)</a:t>
            </a:r>
            <a:r>
              <a:rPr lang="en-US" altLang="en-US" dirty="0">
                <a:solidFill>
                  <a:srgbClr val="0000FF"/>
                </a:solidFill>
                <a:ea typeface="ＭＳ Ｐゴシック" panose="020B0600070205080204" pitchFamily="34" charset="-128"/>
              </a:rPr>
              <a:t> by the hardware</a:t>
            </a:r>
          </a:p>
          <a:p>
            <a:pPr lvl="1"/>
            <a:r>
              <a:rPr lang="en-US" altLang="en-US" dirty="0">
                <a:ea typeface="ＭＳ Ｐゴシック" panose="020B0600070205080204" pitchFamily="34" charset="-128"/>
              </a:rPr>
              <a:t>A warp is essentially a </a:t>
            </a:r>
            <a:r>
              <a:rPr lang="en-US" altLang="en-US" dirty="0">
                <a:solidFill>
                  <a:srgbClr val="00B050"/>
                </a:solidFill>
                <a:ea typeface="ＭＳ Ｐゴシック" panose="020B0600070205080204" pitchFamily="34" charset="-128"/>
              </a:rPr>
              <a:t>SIMD operation formed by hardware</a:t>
            </a:r>
            <a:r>
              <a:rPr lang="en-US" altLang="en-US" dirty="0">
                <a:ea typeface="ＭＳ Ｐゴシック" panose="020B0600070205080204" pitchFamily="34" charset="-128"/>
              </a:rPr>
              <a:t>!</a:t>
            </a: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54275" name="Slide Number Placeholder 3">
            <a:extLst>
              <a:ext uri="{FF2B5EF4-FFF2-40B4-BE49-F238E27FC236}">
                <a16:creationId xmlns:a16="http://schemas.microsoft.com/office/drawing/2014/main" id="{FC7B8D12-D0E7-1546-8AC5-D55A220A39D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6FF8143-2F74-B340-8F66-44E3252F6EC3}"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92</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84634591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Title 1">
            <a:extLst>
              <a:ext uri="{FF2B5EF4-FFF2-40B4-BE49-F238E27FC236}">
                <a16:creationId xmlns:a16="http://schemas.microsoft.com/office/drawing/2014/main" id="{260A4906-15D6-9842-8493-08E81182E954}"/>
              </a:ext>
            </a:extLst>
          </p:cNvPr>
          <p:cNvSpPr>
            <a:spLocks noGrp="1"/>
          </p:cNvSpPr>
          <p:nvPr>
            <p:ph type="title"/>
          </p:nvPr>
        </p:nvSpPr>
        <p:spPr/>
        <p:txBody>
          <a:bodyPr/>
          <a:lstStyle/>
          <a:p>
            <a:r>
              <a:rPr lang="en-US" altLang="en-US">
                <a:ea typeface="ＭＳ Ｐゴシック" panose="020B0600070205080204" pitchFamily="34" charset="-128"/>
              </a:rPr>
              <a:t>SIMD vs. SIMT Execution Model</a:t>
            </a:r>
          </a:p>
        </p:txBody>
      </p:sp>
      <p:sp>
        <p:nvSpPr>
          <p:cNvPr id="73730" name="Content Placeholder 2">
            <a:extLst>
              <a:ext uri="{FF2B5EF4-FFF2-40B4-BE49-F238E27FC236}">
                <a16:creationId xmlns:a16="http://schemas.microsoft.com/office/drawing/2014/main" id="{4BED5FCD-6B58-124A-A46B-CA071A0E0C59}"/>
              </a:ext>
            </a:extLst>
          </p:cNvPr>
          <p:cNvSpPr>
            <a:spLocks noGrp="1"/>
          </p:cNvSpPr>
          <p:nvPr>
            <p:ph idx="1"/>
          </p:nvPr>
        </p:nvSpPr>
        <p:spPr>
          <a:xfrm>
            <a:off x="0" y="996950"/>
            <a:ext cx="9144000" cy="5194300"/>
          </a:xfrm>
        </p:spPr>
        <p:txBody>
          <a:bodyPr/>
          <a:lstStyle/>
          <a:p>
            <a:r>
              <a:rPr lang="en-US" altLang="en-US" b="1" dirty="0">
                <a:ea typeface="ＭＳ Ｐゴシック" panose="020B0600070205080204" pitchFamily="34" charset="-128"/>
              </a:rPr>
              <a:t>SIMD</a:t>
            </a:r>
            <a:r>
              <a:rPr lang="en-US" altLang="en-US" dirty="0">
                <a:ea typeface="ＭＳ Ｐゴシック" panose="020B0600070205080204" pitchFamily="34" charset="-128"/>
              </a:rPr>
              <a:t>: A single </a:t>
            </a:r>
            <a:r>
              <a:rPr lang="en-US" altLang="en-US" dirty="0">
                <a:solidFill>
                  <a:srgbClr val="0000FF"/>
                </a:solidFill>
                <a:ea typeface="ＭＳ Ｐゴシック" panose="020B0600070205080204" pitchFamily="34" charset="-128"/>
              </a:rPr>
              <a:t>sequential</a:t>
            </a:r>
            <a:r>
              <a:rPr lang="en-US" altLang="en-US" dirty="0">
                <a:ea typeface="ＭＳ Ｐゴシック" panose="020B0600070205080204" pitchFamily="34" charset="-128"/>
              </a:rPr>
              <a:t> </a:t>
            </a:r>
            <a:r>
              <a:rPr lang="en-US" altLang="en-US" dirty="0">
                <a:solidFill>
                  <a:srgbClr val="0000FF"/>
                </a:solidFill>
                <a:ea typeface="ＭＳ Ｐゴシック" panose="020B0600070205080204" pitchFamily="34" charset="-128"/>
              </a:rPr>
              <a:t>instruction stream </a:t>
            </a:r>
            <a:r>
              <a:rPr lang="en-US" altLang="en-US" dirty="0">
                <a:ea typeface="ＭＳ Ｐゴシック" panose="020B0600070205080204" pitchFamily="34" charset="-128"/>
              </a:rPr>
              <a:t>of </a:t>
            </a:r>
            <a:r>
              <a:rPr lang="en-US" altLang="en-US" dirty="0">
                <a:solidFill>
                  <a:srgbClr val="0000FF"/>
                </a:solidFill>
                <a:ea typeface="ＭＳ Ｐゴシック" panose="020B0600070205080204" pitchFamily="34" charset="-128"/>
              </a:rPr>
              <a:t>SIMD instructions </a:t>
            </a:r>
            <a:r>
              <a:rPr lang="en-US" altLang="en-US" dirty="0">
                <a:ea typeface="ＭＳ Ｐゴシック" panose="020B0600070205080204" pitchFamily="34" charset="-128"/>
                <a:sym typeface="Wingdings" pitchFamily="2" charset="2"/>
              </a:rPr>
              <a:t> each instruction specifies multiple data inputs</a:t>
            </a:r>
            <a:endParaRPr lang="en-US" altLang="en-US" dirty="0">
              <a:ea typeface="ＭＳ Ｐゴシック" panose="020B0600070205080204" pitchFamily="34" charset="-128"/>
            </a:endParaRPr>
          </a:p>
          <a:p>
            <a:pPr lvl="1"/>
            <a:r>
              <a:rPr lang="en-US" altLang="en-US" dirty="0">
                <a:ea typeface="ＭＳ Ｐゴシック" panose="020B0600070205080204" pitchFamily="34" charset="-128"/>
              </a:rPr>
              <a:t>[VLD, VLD, VADD, VST], VLEN</a:t>
            </a:r>
          </a:p>
          <a:p>
            <a:pPr lvl="1"/>
            <a:endParaRPr lang="en-US" altLang="en-US" dirty="0">
              <a:ea typeface="ＭＳ Ｐゴシック" panose="020B0600070205080204" pitchFamily="34" charset="-128"/>
            </a:endParaRPr>
          </a:p>
          <a:p>
            <a:r>
              <a:rPr lang="en-US" altLang="en-US" b="1" dirty="0">
                <a:ea typeface="ＭＳ Ｐゴシック" panose="020B0600070205080204" pitchFamily="34" charset="-128"/>
              </a:rPr>
              <a:t>SIMT</a:t>
            </a:r>
            <a:r>
              <a:rPr lang="en-US" altLang="en-US" dirty="0">
                <a:ea typeface="ＭＳ Ｐゴシック" panose="020B0600070205080204" pitchFamily="34" charset="-128"/>
              </a:rPr>
              <a:t>: </a:t>
            </a:r>
            <a:r>
              <a:rPr lang="en-US" altLang="en-US" dirty="0">
                <a:solidFill>
                  <a:srgbClr val="0000FF"/>
                </a:solidFill>
                <a:ea typeface="ＭＳ Ｐゴシック" panose="020B0600070205080204" pitchFamily="34" charset="-128"/>
              </a:rPr>
              <a:t>Multiple instruction streams </a:t>
            </a:r>
            <a:r>
              <a:rPr lang="en-US" altLang="en-US" dirty="0">
                <a:ea typeface="ＭＳ Ｐゴシック" panose="020B0600070205080204" pitchFamily="34" charset="-128"/>
              </a:rPr>
              <a:t>of </a:t>
            </a:r>
            <a:r>
              <a:rPr lang="en-US" altLang="en-US" dirty="0">
                <a:solidFill>
                  <a:srgbClr val="0000FF"/>
                </a:solidFill>
                <a:ea typeface="ＭＳ Ｐゴシック" panose="020B0600070205080204" pitchFamily="34" charset="-128"/>
              </a:rPr>
              <a:t>scalar instructions </a:t>
            </a:r>
            <a:r>
              <a:rPr lang="en-US" altLang="en-US" dirty="0">
                <a:ea typeface="ＭＳ Ｐゴシック" panose="020B0600070205080204" pitchFamily="34" charset="-128"/>
                <a:sym typeface="Wingdings" pitchFamily="2" charset="2"/>
              </a:rPr>
              <a:t> threads grouped dynamically into warps</a:t>
            </a:r>
            <a:endParaRPr lang="en-US" altLang="en-US" dirty="0">
              <a:ea typeface="ＭＳ Ｐゴシック" panose="020B0600070205080204" pitchFamily="34" charset="-128"/>
            </a:endParaRPr>
          </a:p>
          <a:p>
            <a:pPr lvl="1"/>
            <a:r>
              <a:rPr lang="en-US" altLang="en-US" dirty="0">
                <a:ea typeface="ＭＳ Ｐゴシック" panose="020B0600070205080204" pitchFamily="34" charset="-128"/>
              </a:rPr>
              <a:t>[LD, LD, ADD, ST], </a:t>
            </a:r>
            <a:r>
              <a:rPr lang="en-US" altLang="en-US" dirty="0" err="1">
                <a:ea typeface="ＭＳ Ｐゴシック" panose="020B0600070205080204" pitchFamily="34" charset="-128"/>
              </a:rPr>
              <a:t>NumThreads</a:t>
            </a:r>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a:p>
            <a:r>
              <a:rPr lang="en-US" altLang="en-US" dirty="0">
                <a:ea typeface="ＭＳ Ｐゴシック" panose="020B0600070205080204" pitchFamily="34" charset="-128"/>
              </a:rPr>
              <a:t>Two Major SIMT Advantages: </a:t>
            </a:r>
          </a:p>
          <a:p>
            <a:pPr lvl="1"/>
            <a:r>
              <a:rPr lang="en-US" altLang="en-US" dirty="0">
                <a:solidFill>
                  <a:srgbClr val="0000FF"/>
                </a:solidFill>
                <a:ea typeface="ＭＳ Ｐゴシック" panose="020B0600070205080204" pitchFamily="34" charset="-128"/>
              </a:rPr>
              <a:t>Can treat each thread separately </a:t>
            </a:r>
            <a:r>
              <a:rPr lang="en-US" altLang="en-US" dirty="0">
                <a:ea typeface="ＭＳ Ｐゴシック" panose="020B0600070205080204" pitchFamily="34" charset="-128"/>
                <a:sym typeface="Wingdings" pitchFamily="2" charset="2"/>
              </a:rPr>
              <a:t> i.e., can execute each thread independently on any type of scalar pipeline</a:t>
            </a:r>
          </a:p>
          <a:p>
            <a:pPr lvl="1"/>
            <a:r>
              <a:rPr lang="en-US" altLang="en-US" dirty="0">
                <a:solidFill>
                  <a:srgbClr val="0000FF"/>
                </a:solidFill>
                <a:ea typeface="ＭＳ Ｐゴシック" panose="020B0600070205080204" pitchFamily="34" charset="-128"/>
              </a:rPr>
              <a:t>Can group threads into warps flexibly </a:t>
            </a:r>
            <a:r>
              <a:rPr lang="en-US" altLang="en-US" dirty="0">
                <a:ea typeface="ＭＳ Ｐゴシック" panose="020B0600070205080204" pitchFamily="34" charset="-128"/>
                <a:sym typeface="Wingdings" pitchFamily="2" charset="2"/>
              </a:rPr>
              <a:t> i.e., can group threads that are supposed to </a:t>
            </a:r>
            <a:r>
              <a:rPr lang="en-US" altLang="en-US" i="1" dirty="0">
                <a:ea typeface="ＭＳ Ｐゴシック" panose="020B0600070205080204" pitchFamily="34" charset="-128"/>
                <a:sym typeface="Wingdings" pitchFamily="2" charset="2"/>
              </a:rPr>
              <a:t>truly</a:t>
            </a:r>
            <a:r>
              <a:rPr lang="en-US" altLang="en-US" dirty="0">
                <a:ea typeface="ＭＳ Ｐゴシック" panose="020B0600070205080204" pitchFamily="34" charset="-128"/>
                <a:sym typeface="Wingdings" pitchFamily="2" charset="2"/>
              </a:rPr>
              <a:t> execute the same instruction  dynamically obtain and maximize benefits of SIMD processing</a:t>
            </a:r>
            <a:endParaRPr lang="en-US" altLang="en-US" dirty="0">
              <a:ea typeface="ＭＳ Ｐゴシック" panose="020B0600070205080204" pitchFamily="34" charset="-128"/>
            </a:endParaRPr>
          </a:p>
        </p:txBody>
      </p:sp>
      <p:sp>
        <p:nvSpPr>
          <p:cNvPr id="73731" name="Slide Number Placeholder 3">
            <a:extLst>
              <a:ext uri="{FF2B5EF4-FFF2-40B4-BE49-F238E27FC236}">
                <a16:creationId xmlns:a16="http://schemas.microsoft.com/office/drawing/2014/main" id="{482C74E1-8488-FF4C-8722-CD2DC80A827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936760A-0F51-9B49-A5E0-2F6EEA64335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93</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5" name="Rounded Rectangle 130">
            <a:extLst>
              <a:ext uri="{FF2B5EF4-FFF2-40B4-BE49-F238E27FC236}">
                <a16:creationId xmlns:a16="http://schemas.microsoft.com/office/drawing/2014/main" id="{03BAFC8F-404F-B54A-821B-3B87EC3EE73B}"/>
              </a:ext>
            </a:extLst>
          </p:cNvPr>
          <p:cNvSpPr>
            <a:spLocks noChangeArrowheads="1"/>
          </p:cNvSpPr>
          <p:nvPr/>
        </p:nvSpPr>
        <p:spPr bwMode="auto">
          <a:xfrm>
            <a:off x="152400" y="5410200"/>
            <a:ext cx="8839200" cy="1066800"/>
          </a:xfrm>
          <a:prstGeom prst="roundRect">
            <a:avLst>
              <a:gd name="adj" fmla="val 16667"/>
            </a:avLst>
          </a:prstGeom>
          <a:noFill/>
          <a:ln w="539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17187959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Brief Review of GPU Architecture (I)</a:t>
            </a:r>
          </a:p>
        </p:txBody>
      </p:sp>
      <p:sp>
        <p:nvSpPr>
          <p:cNvPr id="3" name="Marcador de contenido 2"/>
          <p:cNvSpPr>
            <a:spLocks noGrp="1"/>
          </p:cNvSpPr>
          <p:nvPr>
            <p:ph idx="1"/>
          </p:nvPr>
        </p:nvSpPr>
        <p:spPr>
          <a:xfrm>
            <a:off x="251521" y="908720"/>
            <a:ext cx="5251660" cy="5472534"/>
          </a:xfrm>
        </p:spPr>
        <p:txBody>
          <a:bodyPr>
            <a:normAutofit/>
          </a:bodyPr>
          <a:lstStyle/>
          <a:p>
            <a:r>
              <a:rPr lang="en-US" dirty="0"/>
              <a:t>Streaming Processor Array</a:t>
            </a:r>
          </a:p>
          <a:p>
            <a:pPr lvl="1"/>
            <a:r>
              <a:rPr lang="en-US" dirty="0"/>
              <a:t>Tesla architecture (G80/GT200)</a:t>
            </a:r>
          </a:p>
          <a:p>
            <a:pPr lvl="1"/>
            <a:endParaRPr lang="en-US" dirty="0"/>
          </a:p>
        </p:txBody>
      </p:sp>
      <p:pic>
        <p:nvPicPr>
          <p:cNvPr id="9" name="Imagen 8" descr="CUDA_SM1x.eps"/>
          <p:cNvPicPr>
            <a:picLocks noChangeAspect="1"/>
          </p:cNvPicPr>
          <p:nvPr/>
        </p:nvPicPr>
        <p:blipFill>
          <a:blip r:embed="rId2"/>
          <a:stretch>
            <a:fillRect/>
          </a:stretch>
        </p:blipFill>
        <p:spPr>
          <a:xfrm>
            <a:off x="5431564" y="1269280"/>
            <a:ext cx="3244892" cy="4680000"/>
          </a:xfrm>
          <a:prstGeom prst="rect">
            <a:avLst/>
          </a:prstGeom>
        </p:spPr>
      </p:pic>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94</a:t>
            </a:fld>
            <a:endParaRPr lang="en-US" altLang="en-US"/>
          </a:p>
        </p:txBody>
      </p:sp>
    </p:spTree>
    <p:extLst>
      <p:ext uri="{BB962C8B-B14F-4D97-AF65-F5344CB8AC3E}">
        <p14:creationId xmlns:p14="http://schemas.microsoft.com/office/powerpoint/2010/main" val="4185670768"/>
      </p:ext>
    </p:extLst>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Brief Review of GPU Architecture (II)</a:t>
            </a:r>
          </a:p>
        </p:txBody>
      </p:sp>
      <p:sp>
        <p:nvSpPr>
          <p:cNvPr id="3" name="Marcador de contenido 2"/>
          <p:cNvSpPr>
            <a:spLocks noGrp="1"/>
          </p:cNvSpPr>
          <p:nvPr>
            <p:ph idx="1"/>
          </p:nvPr>
        </p:nvSpPr>
        <p:spPr>
          <a:xfrm>
            <a:off x="251520" y="908720"/>
            <a:ext cx="4824535" cy="5472534"/>
          </a:xfrm>
        </p:spPr>
        <p:txBody>
          <a:bodyPr>
            <a:normAutofit/>
          </a:bodyPr>
          <a:lstStyle/>
          <a:p>
            <a:r>
              <a:rPr lang="en-US" dirty="0"/>
              <a:t>Streaming Multiprocessors (SM)</a:t>
            </a:r>
          </a:p>
          <a:p>
            <a:pPr lvl="1"/>
            <a:r>
              <a:rPr lang="en-US" dirty="0"/>
              <a:t>Streaming Processors (SP)</a:t>
            </a:r>
          </a:p>
          <a:p>
            <a:endParaRPr lang="en-US" dirty="0"/>
          </a:p>
          <a:p>
            <a:r>
              <a:rPr lang="en-US" dirty="0"/>
              <a:t>Blocks are divided into </a:t>
            </a:r>
            <a:r>
              <a:rPr lang="en-US" dirty="0">
                <a:solidFill>
                  <a:srgbClr val="0000FF"/>
                </a:solidFill>
              </a:rPr>
              <a:t>warps</a:t>
            </a:r>
          </a:p>
          <a:p>
            <a:pPr lvl="1"/>
            <a:r>
              <a:rPr lang="en-US" dirty="0"/>
              <a:t>SIMD unit (32 threads)</a:t>
            </a:r>
          </a:p>
          <a:p>
            <a:pPr lvl="1"/>
            <a:endParaRPr lang="en-US" dirty="0"/>
          </a:p>
        </p:txBody>
      </p:sp>
      <p:pic>
        <p:nvPicPr>
          <p:cNvPr id="9" name="Imagen 8" descr="CUDA_SM2x.eps"/>
          <p:cNvPicPr>
            <a:picLocks noChangeAspect="1"/>
          </p:cNvPicPr>
          <p:nvPr/>
        </p:nvPicPr>
        <p:blipFill>
          <a:blip r:embed="rId2"/>
          <a:stretch>
            <a:fillRect/>
          </a:stretch>
        </p:blipFill>
        <p:spPr>
          <a:xfrm>
            <a:off x="5880822" y="1125304"/>
            <a:ext cx="2855652" cy="4895984"/>
          </a:xfrm>
          <a:prstGeom prst="rect">
            <a:avLst/>
          </a:prstGeom>
        </p:spPr>
      </p:pic>
      <p:sp>
        <p:nvSpPr>
          <p:cNvPr id="7" name="Rectangle 73"/>
          <p:cNvSpPr>
            <a:spLocks noChangeArrowheads="1"/>
          </p:cNvSpPr>
          <p:nvPr/>
        </p:nvSpPr>
        <p:spPr bwMode="auto">
          <a:xfrm>
            <a:off x="622589" y="3996680"/>
            <a:ext cx="1093787" cy="1057275"/>
          </a:xfrm>
          <a:prstGeom prst="rect">
            <a:avLst/>
          </a:prstGeom>
          <a:solidFill>
            <a:schemeClr val="bg1"/>
          </a:solidFill>
          <a:ln w="25400">
            <a:solidFill>
              <a:srgbClr val="00CC00"/>
            </a:solidFill>
            <a:miter lim="800000"/>
            <a:headEnd/>
            <a:tailEnd/>
          </a:ln>
          <a:effectLst/>
        </p:spPr>
        <p:txBody>
          <a:bodyPr wrap="none" anchor="ctr">
            <a:prstTxWarp prst="textNoShape">
              <a:avLst/>
            </a:prstTxWarp>
          </a:bodyPr>
          <a:lstStyle/>
          <a:p>
            <a:endParaRPr lang="es-ES_tradnl"/>
          </a:p>
        </p:txBody>
      </p:sp>
      <p:sp>
        <p:nvSpPr>
          <p:cNvPr id="10" name="Rectangle 74"/>
          <p:cNvSpPr>
            <a:spLocks noChangeArrowheads="1"/>
          </p:cNvSpPr>
          <p:nvPr/>
        </p:nvSpPr>
        <p:spPr bwMode="auto">
          <a:xfrm>
            <a:off x="774989" y="4149080"/>
            <a:ext cx="1093787" cy="1057275"/>
          </a:xfrm>
          <a:prstGeom prst="rect">
            <a:avLst/>
          </a:prstGeom>
          <a:solidFill>
            <a:schemeClr val="bg1"/>
          </a:solidFill>
          <a:ln w="25400">
            <a:solidFill>
              <a:srgbClr val="00CC00"/>
            </a:solidFill>
            <a:miter lim="800000"/>
            <a:headEnd/>
            <a:tailEnd/>
          </a:ln>
          <a:effectLst/>
        </p:spPr>
        <p:txBody>
          <a:bodyPr wrap="none" anchor="ctr">
            <a:prstTxWarp prst="textNoShape">
              <a:avLst/>
            </a:prstTxWarp>
          </a:bodyPr>
          <a:lstStyle/>
          <a:p>
            <a:pPr algn="ctr"/>
            <a:r>
              <a:rPr lang="en-US" altLang="zh-TW">
                <a:ea typeface="新細明體" pitchFamily="16" charset="-128"/>
                <a:cs typeface="Arial" pitchFamily="-111" charset="0"/>
              </a:rPr>
              <a:t>…</a:t>
            </a:r>
          </a:p>
        </p:txBody>
      </p:sp>
      <p:grpSp>
        <p:nvGrpSpPr>
          <p:cNvPr id="11" name="Group 75"/>
          <p:cNvGrpSpPr>
            <a:grpSpLocks/>
          </p:cNvGrpSpPr>
          <p:nvPr/>
        </p:nvGrpSpPr>
        <p:grpSpPr bwMode="auto">
          <a:xfrm>
            <a:off x="1002001" y="4377680"/>
            <a:ext cx="1066800" cy="1022350"/>
            <a:chOff x="568" y="2568"/>
            <a:chExt cx="1219" cy="1480"/>
          </a:xfrm>
        </p:grpSpPr>
        <p:sp>
          <p:nvSpPr>
            <p:cNvPr id="12" name="Text Box 76"/>
            <p:cNvSpPr txBox="1">
              <a:spLocks noChangeArrowheads="1"/>
            </p:cNvSpPr>
            <p:nvPr/>
          </p:nvSpPr>
          <p:spPr bwMode="auto">
            <a:xfrm>
              <a:off x="568" y="2568"/>
              <a:ext cx="1219" cy="1480"/>
            </a:xfrm>
            <a:prstGeom prst="rect">
              <a:avLst/>
            </a:prstGeom>
            <a:solidFill>
              <a:schemeClr val="bg1">
                <a:alpha val="67000"/>
              </a:schemeClr>
            </a:solidFill>
            <a:ln w="28575">
              <a:solidFill>
                <a:srgbClr val="00CC00"/>
              </a:solidFill>
              <a:miter lim="800000"/>
              <a:headEnd/>
              <a:tailEnd/>
            </a:ln>
            <a:effectLst/>
          </p:spPr>
          <p:txBody>
            <a:bodyPr lIns="0" rIns="0">
              <a:prstTxWarp prst="textNoShape">
                <a:avLst/>
              </a:prstTxWarp>
            </a:bodyPr>
            <a:lstStyle/>
            <a:p>
              <a:pPr algn="ctr">
                <a:lnSpc>
                  <a:spcPct val="85000"/>
                </a:lnSpc>
                <a:spcBef>
                  <a:spcPct val="10000"/>
                </a:spcBef>
              </a:pPr>
              <a:r>
                <a:rPr lang="en-US" altLang="zh-TW" sz="1200">
                  <a:latin typeface="Tahoma" pitchFamily="-111" charset="0"/>
                  <a:ea typeface="新細明體" pitchFamily="16" charset="-128"/>
                  <a:cs typeface="Arial" pitchFamily="-111" charset="0"/>
                </a:rPr>
                <a:t>t0 t1 t2 … t31</a:t>
              </a:r>
              <a:endParaRPr lang="en-US" altLang="zh-TW" sz="1200">
                <a:latin typeface="Arial" pitchFamily="-111" charset="0"/>
                <a:ea typeface="新細明體" pitchFamily="16" charset="-128"/>
                <a:cs typeface="Arial" pitchFamily="-111" charset="0"/>
              </a:endParaRPr>
            </a:p>
          </p:txBody>
        </p:sp>
        <p:sp>
          <p:nvSpPr>
            <p:cNvPr id="13" name="Freeform 77"/>
            <p:cNvSpPr>
              <a:spLocks/>
            </p:cNvSpPr>
            <p:nvPr/>
          </p:nvSpPr>
          <p:spPr bwMode="auto">
            <a:xfrm>
              <a:off x="704"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14" name="Freeform 78"/>
            <p:cNvSpPr>
              <a:spLocks/>
            </p:cNvSpPr>
            <p:nvPr/>
          </p:nvSpPr>
          <p:spPr bwMode="auto">
            <a:xfrm>
              <a:off x="784"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15" name="Freeform 79"/>
            <p:cNvSpPr>
              <a:spLocks/>
            </p:cNvSpPr>
            <p:nvPr/>
          </p:nvSpPr>
          <p:spPr bwMode="auto">
            <a:xfrm>
              <a:off x="858"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16" name="Freeform 80"/>
            <p:cNvSpPr>
              <a:spLocks/>
            </p:cNvSpPr>
            <p:nvPr/>
          </p:nvSpPr>
          <p:spPr bwMode="auto">
            <a:xfrm>
              <a:off x="932"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17" name="Freeform 81"/>
            <p:cNvSpPr>
              <a:spLocks/>
            </p:cNvSpPr>
            <p:nvPr/>
          </p:nvSpPr>
          <p:spPr bwMode="auto">
            <a:xfrm>
              <a:off x="1006"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18" name="Freeform 82"/>
            <p:cNvSpPr>
              <a:spLocks/>
            </p:cNvSpPr>
            <p:nvPr/>
          </p:nvSpPr>
          <p:spPr bwMode="auto">
            <a:xfrm>
              <a:off x="1080"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19" name="Freeform 83"/>
            <p:cNvSpPr>
              <a:spLocks/>
            </p:cNvSpPr>
            <p:nvPr/>
          </p:nvSpPr>
          <p:spPr bwMode="auto">
            <a:xfrm>
              <a:off x="1154"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20" name="Freeform 84"/>
            <p:cNvSpPr>
              <a:spLocks/>
            </p:cNvSpPr>
            <p:nvPr/>
          </p:nvSpPr>
          <p:spPr bwMode="auto">
            <a:xfrm>
              <a:off x="1228"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21" name="Freeform 85"/>
            <p:cNvSpPr>
              <a:spLocks/>
            </p:cNvSpPr>
            <p:nvPr/>
          </p:nvSpPr>
          <p:spPr bwMode="auto">
            <a:xfrm>
              <a:off x="1302"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22" name="Freeform 86"/>
            <p:cNvSpPr>
              <a:spLocks/>
            </p:cNvSpPr>
            <p:nvPr/>
          </p:nvSpPr>
          <p:spPr bwMode="auto">
            <a:xfrm>
              <a:off x="1376"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23" name="Freeform 87"/>
            <p:cNvSpPr>
              <a:spLocks/>
            </p:cNvSpPr>
            <p:nvPr/>
          </p:nvSpPr>
          <p:spPr bwMode="auto">
            <a:xfrm>
              <a:off x="1450"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grpSp>
      <p:sp>
        <p:nvSpPr>
          <p:cNvPr id="24" name="Text Box 88"/>
          <p:cNvSpPr txBox="1">
            <a:spLocks noChangeArrowheads="1"/>
          </p:cNvSpPr>
          <p:nvPr/>
        </p:nvSpPr>
        <p:spPr bwMode="auto">
          <a:xfrm>
            <a:off x="822614" y="3996680"/>
            <a:ext cx="488950" cy="457200"/>
          </a:xfrm>
          <a:prstGeom prst="rect">
            <a:avLst/>
          </a:prstGeom>
          <a:noFill/>
          <a:ln w="9525">
            <a:noFill/>
            <a:miter lim="800000"/>
            <a:headEnd/>
            <a:tailEnd/>
          </a:ln>
          <a:effectLst/>
        </p:spPr>
        <p:txBody>
          <a:bodyPr wrap="none">
            <a:prstTxWarp prst="textNoShape">
              <a:avLst/>
            </a:prstTxWarp>
            <a:spAutoFit/>
          </a:bodyPr>
          <a:lstStyle/>
          <a:p>
            <a:r>
              <a:rPr lang="en-US" altLang="zh-TW">
                <a:ea typeface="新細明體" pitchFamily="16" charset="-128"/>
                <a:cs typeface="Arial" pitchFamily="-111" charset="0"/>
              </a:rPr>
              <a:t>…</a:t>
            </a:r>
          </a:p>
        </p:txBody>
      </p:sp>
      <p:sp>
        <p:nvSpPr>
          <p:cNvPr id="25" name="Rectangle 89"/>
          <p:cNvSpPr>
            <a:spLocks noChangeArrowheads="1"/>
          </p:cNvSpPr>
          <p:nvPr/>
        </p:nvSpPr>
        <p:spPr bwMode="auto">
          <a:xfrm>
            <a:off x="2222789" y="3996680"/>
            <a:ext cx="1093787" cy="1057275"/>
          </a:xfrm>
          <a:prstGeom prst="rect">
            <a:avLst/>
          </a:prstGeom>
          <a:solidFill>
            <a:schemeClr val="bg1"/>
          </a:solidFill>
          <a:ln w="25400">
            <a:solidFill>
              <a:srgbClr val="FF6600"/>
            </a:solidFill>
            <a:miter lim="800000"/>
            <a:headEnd/>
            <a:tailEnd/>
          </a:ln>
          <a:effectLst/>
        </p:spPr>
        <p:txBody>
          <a:bodyPr wrap="none" anchor="ctr">
            <a:prstTxWarp prst="textNoShape">
              <a:avLst/>
            </a:prstTxWarp>
          </a:bodyPr>
          <a:lstStyle/>
          <a:p>
            <a:endParaRPr lang="es-ES_tradnl"/>
          </a:p>
        </p:txBody>
      </p:sp>
      <p:sp>
        <p:nvSpPr>
          <p:cNvPr id="26" name="Rectangle 90"/>
          <p:cNvSpPr>
            <a:spLocks noChangeArrowheads="1"/>
          </p:cNvSpPr>
          <p:nvPr/>
        </p:nvSpPr>
        <p:spPr bwMode="auto">
          <a:xfrm>
            <a:off x="2375189" y="4149080"/>
            <a:ext cx="1093787" cy="1057275"/>
          </a:xfrm>
          <a:prstGeom prst="rect">
            <a:avLst/>
          </a:prstGeom>
          <a:solidFill>
            <a:schemeClr val="bg1"/>
          </a:solidFill>
          <a:ln w="25400">
            <a:solidFill>
              <a:srgbClr val="FF6600"/>
            </a:solidFill>
            <a:miter lim="800000"/>
            <a:headEnd/>
            <a:tailEnd/>
          </a:ln>
          <a:effectLst/>
        </p:spPr>
        <p:txBody>
          <a:bodyPr wrap="none" anchor="ctr">
            <a:prstTxWarp prst="textNoShape">
              <a:avLst/>
            </a:prstTxWarp>
          </a:bodyPr>
          <a:lstStyle/>
          <a:p>
            <a:pPr algn="ctr"/>
            <a:r>
              <a:rPr lang="en-US" altLang="zh-TW">
                <a:ea typeface="新細明體" pitchFamily="16" charset="-128"/>
                <a:cs typeface="Arial" pitchFamily="-111" charset="0"/>
              </a:rPr>
              <a:t>…</a:t>
            </a:r>
          </a:p>
        </p:txBody>
      </p:sp>
      <p:grpSp>
        <p:nvGrpSpPr>
          <p:cNvPr id="27" name="Group 91"/>
          <p:cNvGrpSpPr>
            <a:grpSpLocks/>
          </p:cNvGrpSpPr>
          <p:nvPr/>
        </p:nvGrpSpPr>
        <p:grpSpPr bwMode="auto">
          <a:xfrm>
            <a:off x="2602201" y="4377680"/>
            <a:ext cx="1066800" cy="1022350"/>
            <a:chOff x="568" y="2568"/>
            <a:chExt cx="1219" cy="1480"/>
          </a:xfrm>
        </p:grpSpPr>
        <p:sp>
          <p:nvSpPr>
            <p:cNvPr id="28" name="Text Box 92"/>
            <p:cNvSpPr txBox="1">
              <a:spLocks noChangeArrowheads="1"/>
            </p:cNvSpPr>
            <p:nvPr/>
          </p:nvSpPr>
          <p:spPr bwMode="auto">
            <a:xfrm>
              <a:off x="568" y="2568"/>
              <a:ext cx="1219" cy="1480"/>
            </a:xfrm>
            <a:prstGeom prst="rect">
              <a:avLst/>
            </a:prstGeom>
            <a:solidFill>
              <a:schemeClr val="bg1">
                <a:alpha val="67000"/>
              </a:schemeClr>
            </a:solidFill>
            <a:ln w="28575">
              <a:solidFill>
                <a:srgbClr val="FF6600"/>
              </a:solidFill>
              <a:miter lim="800000"/>
              <a:headEnd/>
              <a:tailEnd/>
            </a:ln>
            <a:effectLst/>
          </p:spPr>
          <p:txBody>
            <a:bodyPr lIns="0" rIns="0">
              <a:prstTxWarp prst="textNoShape">
                <a:avLst/>
              </a:prstTxWarp>
            </a:bodyPr>
            <a:lstStyle/>
            <a:p>
              <a:pPr algn="ctr">
                <a:lnSpc>
                  <a:spcPct val="85000"/>
                </a:lnSpc>
                <a:spcBef>
                  <a:spcPct val="10000"/>
                </a:spcBef>
              </a:pPr>
              <a:r>
                <a:rPr lang="en-US" altLang="zh-TW" sz="1200">
                  <a:latin typeface="Tahoma" pitchFamily="-111" charset="0"/>
                  <a:ea typeface="新細明體" pitchFamily="16" charset="-128"/>
                  <a:cs typeface="Arial" pitchFamily="-111" charset="0"/>
                </a:rPr>
                <a:t>t0 t1 t2 … t31</a:t>
              </a:r>
              <a:endParaRPr lang="en-US" altLang="zh-TW" sz="1200">
                <a:latin typeface="Arial" pitchFamily="-111" charset="0"/>
                <a:ea typeface="新細明體" pitchFamily="16" charset="-128"/>
                <a:cs typeface="Arial" pitchFamily="-111" charset="0"/>
              </a:endParaRPr>
            </a:p>
          </p:txBody>
        </p:sp>
        <p:sp>
          <p:nvSpPr>
            <p:cNvPr id="29" name="Freeform 93"/>
            <p:cNvSpPr>
              <a:spLocks/>
            </p:cNvSpPr>
            <p:nvPr/>
          </p:nvSpPr>
          <p:spPr bwMode="auto">
            <a:xfrm>
              <a:off x="704"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0" name="Freeform 94"/>
            <p:cNvSpPr>
              <a:spLocks/>
            </p:cNvSpPr>
            <p:nvPr/>
          </p:nvSpPr>
          <p:spPr bwMode="auto">
            <a:xfrm>
              <a:off x="784"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1" name="Freeform 95"/>
            <p:cNvSpPr>
              <a:spLocks/>
            </p:cNvSpPr>
            <p:nvPr/>
          </p:nvSpPr>
          <p:spPr bwMode="auto">
            <a:xfrm>
              <a:off x="858"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2" name="Freeform 96"/>
            <p:cNvSpPr>
              <a:spLocks/>
            </p:cNvSpPr>
            <p:nvPr/>
          </p:nvSpPr>
          <p:spPr bwMode="auto">
            <a:xfrm>
              <a:off x="932"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3" name="Freeform 97"/>
            <p:cNvSpPr>
              <a:spLocks/>
            </p:cNvSpPr>
            <p:nvPr/>
          </p:nvSpPr>
          <p:spPr bwMode="auto">
            <a:xfrm>
              <a:off x="1006"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4" name="Freeform 98"/>
            <p:cNvSpPr>
              <a:spLocks/>
            </p:cNvSpPr>
            <p:nvPr/>
          </p:nvSpPr>
          <p:spPr bwMode="auto">
            <a:xfrm>
              <a:off x="1080"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5" name="Freeform 99"/>
            <p:cNvSpPr>
              <a:spLocks/>
            </p:cNvSpPr>
            <p:nvPr/>
          </p:nvSpPr>
          <p:spPr bwMode="auto">
            <a:xfrm>
              <a:off x="1154"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6" name="Freeform 100"/>
            <p:cNvSpPr>
              <a:spLocks/>
            </p:cNvSpPr>
            <p:nvPr/>
          </p:nvSpPr>
          <p:spPr bwMode="auto">
            <a:xfrm>
              <a:off x="1228"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7" name="Freeform 101"/>
            <p:cNvSpPr>
              <a:spLocks/>
            </p:cNvSpPr>
            <p:nvPr/>
          </p:nvSpPr>
          <p:spPr bwMode="auto">
            <a:xfrm>
              <a:off x="1302"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8" name="Freeform 102"/>
            <p:cNvSpPr>
              <a:spLocks/>
            </p:cNvSpPr>
            <p:nvPr/>
          </p:nvSpPr>
          <p:spPr bwMode="auto">
            <a:xfrm>
              <a:off x="1376"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9" name="Freeform 103"/>
            <p:cNvSpPr>
              <a:spLocks/>
            </p:cNvSpPr>
            <p:nvPr/>
          </p:nvSpPr>
          <p:spPr bwMode="auto">
            <a:xfrm>
              <a:off x="1450"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grpSp>
      <p:sp>
        <p:nvSpPr>
          <p:cNvPr id="40" name="Text Box 104"/>
          <p:cNvSpPr txBox="1">
            <a:spLocks noChangeArrowheads="1"/>
          </p:cNvSpPr>
          <p:nvPr/>
        </p:nvSpPr>
        <p:spPr bwMode="auto">
          <a:xfrm>
            <a:off x="2422814" y="3996680"/>
            <a:ext cx="488950" cy="457200"/>
          </a:xfrm>
          <a:prstGeom prst="rect">
            <a:avLst/>
          </a:prstGeom>
          <a:noFill/>
          <a:ln w="9525">
            <a:noFill/>
            <a:miter lim="800000"/>
            <a:headEnd/>
            <a:tailEnd/>
          </a:ln>
          <a:effectLst/>
        </p:spPr>
        <p:txBody>
          <a:bodyPr wrap="none">
            <a:prstTxWarp prst="textNoShape">
              <a:avLst/>
            </a:prstTxWarp>
            <a:spAutoFit/>
          </a:bodyPr>
          <a:lstStyle/>
          <a:p>
            <a:r>
              <a:rPr lang="en-US" altLang="zh-TW">
                <a:ea typeface="新細明體" pitchFamily="16" charset="-128"/>
                <a:cs typeface="Arial" pitchFamily="-111" charset="0"/>
              </a:rPr>
              <a:t>…</a:t>
            </a:r>
          </a:p>
        </p:txBody>
      </p:sp>
      <p:sp>
        <p:nvSpPr>
          <p:cNvPr id="41" name="Text Box 105"/>
          <p:cNvSpPr txBox="1">
            <a:spLocks noChangeArrowheads="1"/>
          </p:cNvSpPr>
          <p:nvPr/>
        </p:nvSpPr>
        <p:spPr bwMode="auto">
          <a:xfrm>
            <a:off x="539552" y="3717032"/>
            <a:ext cx="1250913" cy="276999"/>
          </a:xfrm>
          <a:prstGeom prst="rect">
            <a:avLst/>
          </a:prstGeom>
          <a:noFill/>
          <a:ln w="9525">
            <a:noFill/>
            <a:miter lim="800000"/>
            <a:headEnd/>
            <a:tailEnd/>
          </a:ln>
          <a:effectLst/>
        </p:spPr>
        <p:txBody>
          <a:bodyPr wrap="none">
            <a:prstTxWarp prst="textNoShape">
              <a:avLst/>
            </a:prstTxWarp>
            <a:spAutoFit/>
          </a:bodyPr>
          <a:lstStyle/>
          <a:p>
            <a:r>
              <a:rPr lang="en-US" altLang="zh-TW" sz="1200" dirty="0">
                <a:latin typeface="Arial" pitchFamily="-111" charset="0"/>
                <a:ea typeface="新細明體" pitchFamily="16" charset="-128"/>
                <a:cs typeface="Arial" pitchFamily="-111" charset="0"/>
              </a:rPr>
              <a:t>Block 0’s warps</a:t>
            </a:r>
          </a:p>
        </p:txBody>
      </p:sp>
      <p:sp>
        <p:nvSpPr>
          <p:cNvPr id="42" name="Text Box 106"/>
          <p:cNvSpPr txBox="1">
            <a:spLocks noChangeArrowheads="1"/>
          </p:cNvSpPr>
          <p:nvPr/>
        </p:nvSpPr>
        <p:spPr bwMode="auto">
          <a:xfrm>
            <a:off x="2215952" y="3717032"/>
            <a:ext cx="1250913" cy="276999"/>
          </a:xfrm>
          <a:prstGeom prst="rect">
            <a:avLst/>
          </a:prstGeom>
          <a:noFill/>
          <a:ln w="9525">
            <a:noFill/>
            <a:miter lim="800000"/>
            <a:headEnd/>
            <a:tailEnd/>
          </a:ln>
          <a:effectLst/>
        </p:spPr>
        <p:txBody>
          <a:bodyPr wrap="none">
            <a:prstTxWarp prst="textNoShape">
              <a:avLst/>
            </a:prstTxWarp>
            <a:spAutoFit/>
          </a:bodyPr>
          <a:lstStyle/>
          <a:p>
            <a:r>
              <a:rPr lang="en-US" altLang="zh-TW" sz="1200" dirty="0">
                <a:latin typeface="Arial" pitchFamily="-111" charset="0"/>
                <a:ea typeface="新細明體" pitchFamily="16" charset="-128"/>
                <a:cs typeface="Arial" pitchFamily="-111" charset="0"/>
              </a:rPr>
              <a:t>Block 1’s warps</a:t>
            </a:r>
          </a:p>
        </p:txBody>
      </p:sp>
      <p:sp>
        <p:nvSpPr>
          <p:cNvPr id="43" name="Rectangle 135"/>
          <p:cNvSpPr>
            <a:spLocks noChangeArrowheads="1"/>
          </p:cNvSpPr>
          <p:nvPr/>
        </p:nvSpPr>
        <p:spPr bwMode="auto">
          <a:xfrm>
            <a:off x="3899189" y="3996680"/>
            <a:ext cx="1093787" cy="1057275"/>
          </a:xfrm>
          <a:prstGeom prst="rect">
            <a:avLst/>
          </a:prstGeom>
          <a:solidFill>
            <a:schemeClr val="bg1"/>
          </a:solidFill>
          <a:ln w="25400">
            <a:solidFill>
              <a:schemeClr val="accent2"/>
            </a:solidFill>
            <a:miter lim="800000"/>
            <a:headEnd/>
            <a:tailEnd/>
          </a:ln>
          <a:effectLst/>
        </p:spPr>
        <p:txBody>
          <a:bodyPr wrap="none" anchor="ctr">
            <a:prstTxWarp prst="textNoShape">
              <a:avLst/>
            </a:prstTxWarp>
          </a:bodyPr>
          <a:lstStyle/>
          <a:p>
            <a:endParaRPr lang="es-ES_tradnl"/>
          </a:p>
        </p:txBody>
      </p:sp>
      <p:sp>
        <p:nvSpPr>
          <p:cNvPr id="44" name="Rectangle 136"/>
          <p:cNvSpPr>
            <a:spLocks noChangeArrowheads="1"/>
          </p:cNvSpPr>
          <p:nvPr/>
        </p:nvSpPr>
        <p:spPr bwMode="auto">
          <a:xfrm>
            <a:off x="4051589" y="4149080"/>
            <a:ext cx="1093787" cy="1057275"/>
          </a:xfrm>
          <a:prstGeom prst="rect">
            <a:avLst/>
          </a:prstGeom>
          <a:solidFill>
            <a:schemeClr val="bg1"/>
          </a:solidFill>
          <a:ln w="25400">
            <a:solidFill>
              <a:schemeClr val="accent2"/>
            </a:solidFill>
            <a:miter lim="800000"/>
            <a:headEnd/>
            <a:tailEnd/>
          </a:ln>
          <a:effectLst/>
        </p:spPr>
        <p:txBody>
          <a:bodyPr wrap="none" anchor="ctr">
            <a:prstTxWarp prst="textNoShape">
              <a:avLst/>
            </a:prstTxWarp>
          </a:bodyPr>
          <a:lstStyle/>
          <a:p>
            <a:pPr algn="ctr"/>
            <a:r>
              <a:rPr lang="en-US" altLang="zh-TW">
                <a:ea typeface="新細明體" pitchFamily="16" charset="-128"/>
                <a:cs typeface="Arial" pitchFamily="-111" charset="0"/>
              </a:rPr>
              <a:t>…</a:t>
            </a:r>
          </a:p>
        </p:txBody>
      </p:sp>
      <p:grpSp>
        <p:nvGrpSpPr>
          <p:cNvPr id="45" name="Group 137"/>
          <p:cNvGrpSpPr>
            <a:grpSpLocks/>
          </p:cNvGrpSpPr>
          <p:nvPr/>
        </p:nvGrpSpPr>
        <p:grpSpPr bwMode="auto">
          <a:xfrm>
            <a:off x="4278601" y="4377680"/>
            <a:ext cx="1066800" cy="1022350"/>
            <a:chOff x="568" y="2568"/>
            <a:chExt cx="1219" cy="1480"/>
          </a:xfrm>
        </p:grpSpPr>
        <p:sp>
          <p:nvSpPr>
            <p:cNvPr id="46" name="Text Box 138"/>
            <p:cNvSpPr txBox="1">
              <a:spLocks noChangeArrowheads="1"/>
            </p:cNvSpPr>
            <p:nvPr/>
          </p:nvSpPr>
          <p:spPr bwMode="auto">
            <a:xfrm>
              <a:off x="568" y="2568"/>
              <a:ext cx="1219" cy="1480"/>
            </a:xfrm>
            <a:prstGeom prst="rect">
              <a:avLst/>
            </a:prstGeom>
            <a:solidFill>
              <a:schemeClr val="bg1">
                <a:alpha val="67000"/>
              </a:schemeClr>
            </a:solidFill>
            <a:ln w="28575">
              <a:solidFill>
                <a:schemeClr val="accent2"/>
              </a:solidFill>
              <a:miter lim="800000"/>
              <a:headEnd/>
              <a:tailEnd/>
            </a:ln>
            <a:effectLst/>
          </p:spPr>
          <p:txBody>
            <a:bodyPr lIns="0" rIns="0">
              <a:prstTxWarp prst="textNoShape">
                <a:avLst/>
              </a:prstTxWarp>
            </a:bodyPr>
            <a:lstStyle/>
            <a:p>
              <a:pPr algn="ctr">
                <a:lnSpc>
                  <a:spcPct val="85000"/>
                </a:lnSpc>
                <a:spcBef>
                  <a:spcPct val="10000"/>
                </a:spcBef>
              </a:pPr>
              <a:r>
                <a:rPr lang="en-US" altLang="zh-TW" sz="1200">
                  <a:latin typeface="Tahoma" pitchFamily="-111" charset="0"/>
                  <a:ea typeface="新細明體" pitchFamily="16" charset="-128"/>
                  <a:cs typeface="Arial" pitchFamily="-111" charset="0"/>
                </a:rPr>
                <a:t>t0 t1 t2 … t31</a:t>
              </a:r>
              <a:endParaRPr lang="en-US" altLang="zh-TW" sz="1200">
                <a:latin typeface="Arial" pitchFamily="-111" charset="0"/>
                <a:ea typeface="新細明體" pitchFamily="16" charset="-128"/>
                <a:cs typeface="Arial" pitchFamily="-111" charset="0"/>
              </a:endParaRPr>
            </a:p>
          </p:txBody>
        </p:sp>
        <p:sp>
          <p:nvSpPr>
            <p:cNvPr id="47" name="Freeform 139"/>
            <p:cNvSpPr>
              <a:spLocks/>
            </p:cNvSpPr>
            <p:nvPr/>
          </p:nvSpPr>
          <p:spPr bwMode="auto">
            <a:xfrm>
              <a:off x="704"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48" name="Freeform 140"/>
            <p:cNvSpPr>
              <a:spLocks/>
            </p:cNvSpPr>
            <p:nvPr/>
          </p:nvSpPr>
          <p:spPr bwMode="auto">
            <a:xfrm>
              <a:off x="784"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49" name="Freeform 141"/>
            <p:cNvSpPr>
              <a:spLocks/>
            </p:cNvSpPr>
            <p:nvPr/>
          </p:nvSpPr>
          <p:spPr bwMode="auto">
            <a:xfrm>
              <a:off x="858"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50" name="Freeform 142"/>
            <p:cNvSpPr>
              <a:spLocks/>
            </p:cNvSpPr>
            <p:nvPr/>
          </p:nvSpPr>
          <p:spPr bwMode="auto">
            <a:xfrm>
              <a:off x="932"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51" name="Freeform 143"/>
            <p:cNvSpPr>
              <a:spLocks/>
            </p:cNvSpPr>
            <p:nvPr/>
          </p:nvSpPr>
          <p:spPr bwMode="auto">
            <a:xfrm>
              <a:off x="1006"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52" name="Freeform 144"/>
            <p:cNvSpPr>
              <a:spLocks/>
            </p:cNvSpPr>
            <p:nvPr/>
          </p:nvSpPr>
          <p:spPr bwMode="auto">
            <a:xfrm>
              <a:off x="1080"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53" name="Freeform 145"/>
            <p:cNvSpPr>
              <a:spLocks/>
            </p:cNvSpPr>
            <p:nvPr/>
          </p:nvSpPr>
          <p:spPr bwMode="auto">
            <a:xfrm>
              <a:off x="1154"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54" name="Freeform 146"/>
            <p:cNvSpPr>
              <a:spLocks/>
            </p:cNvSpPr>
            <p:nvPr/>
          </p:nvSpPr>
          <p:spPr bwMode="auto">
            <a:xfrm>
              <a:off x="1228"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55" name="Freeform 147"/>
            <p:cNvSpPr>
              <a:spLocks/>
            </p:cNvSpPr>
            <p:nvPr/>
          </p:nvSpPr>
          <p:spPr bwMode="auto">
            <a:xfrm>
              <a:off x="1302"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56" name="Freeform 148"/>
            <p:cNvSpPr>
              <a:spLocks/>
            </p:cNvSpPr>
            <p:nvPr/>
          </p:nvSpPr>
          <p:spPr bwMode="auto">
            <a:xfrm>
              <a:off x="1376"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57" name="Freeform 149"/>
            <p:cNvSpPr>
              <a:spLocks/>
            </p:cNvSpPr>
            <p:nvPr/>
          </p:nvSpPr>
          <p:spPr bwMode="auto">
            <a:xfrm>
              <a:off x="1450"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grpSp>
      <p:sp>
        <p:nvSpPr>
          <p:cNvPr id="58" name="Text Box 150"/>
          <p:cNvSpPr txBox="1">
            <a:spLocks noChangeArrowheads="1"/>
          </p:cNvSpPr>
          <p:nvPr/>
        </p:nvSpPr>
        <p:spPr bwMode="auto">
          <a:xfrm>
            <a:off x="4099214" y="3996680"/>
            <a:ext cx="488950" cy="457200"/>
          </a:xfrm>
          <a:prstGeom prst="rect">
            <a:avLst/>
          </a:prstGeom>
          <a:noFill/>
          <a:ln w="9525">
            <a:noFill/>
            <a:miter lim="800000"/>
            <a:headEnd/>
            <a:tailEnd/>
          </a:ln>
          <a:effectLst/>
        </p:spPr>
        <p:txBody>
          <a:bodyPr wrap="none">
            <a:prstTxWarp prst="textNoShape">
              <a:avLst/>
            </a:prstTxWarp>
            <a:spAutoFit/>
          </a:bodyPr>
          <a:lstStyle/>
          <a:p>
            <a:r>
              <a:rPr lang="en-US" altLang="zh-TW">
                <a:ea typeface="新細明體" pitchFamily="16" charset="-128"/>
                <a:cs typeface="Arial" pitchFamily="-111" charset="0"/>
              </a:rPr>
              <a:t>…</a:t>
            </a:r>
          </a:p>
        </p:txBody>
      </p:sp>
      <p:sp>
        <p:nvSpPr>
          <p:cNvPr id="59" name="Text Box 151"/>
          <p:cNvSpPr txBox="1">
            <a:spLocks noChangeArrowheads="1"/>
          </p:cNvSpPr>
          <p:nvPr/>
        </p:nvSpPr>
        <p:spPr bwMode="auto">
          <a:xfrm>
            <a:off x="3816152" y="3717032"/>
            <a:ext cx="1250913" cy="276999"/>
          </a:xfrm>
          <a:prstGeom prst="rect">
            <a:avLst/>
          </a:prstGeom>
          <a:noFill/>
          <a:ln w="9525">
            <a:noFill/>
            <a:miter lim="800000"/>
            <a:headEnd/>
            <a:tailEnd/>
          </a:ln>
          <a:effectLst/>
        </p:spPr>
        <p:txBody>
          <a:bodyPr wrap="none">
            <a:prstTxWarp prst="textNoShape">
              <a:avLst/>
            </a:prstTxWarp>
            <a:spAutoFit/>
          </a:bodyPr>
          <a:lstStyle/>
          <a:p>
            <a:r>
              <a:rPr lang="en-US" altLang="zh-TW" sz="1200" dirty="0">
                <a:latin typeface="Arial" pitchFamily="-111" charset="0"/>
                <a:ea typeface="新細明體" pitchFamily="16" charset="-128"/>
                <a:cs typeface="Arial" pitchFamily="-111" charset="0"/>
              </a:rPr>
              <a:t>Block 2’s warps</a:t>
            </a:r>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95</a:t>
            </a:fld>
            <a:endParaRPr lang="en-US" altLang="en-US"/>
          </a:p>
        </p:txBody>
      </p:sp>
      <p:sp>
        <p:nvSpPr>
          <p:cNvPr id="5" name="TextBox 4"/>
          <p:cNvSpPr txBox="1"/>
          <p:nvPr/>
        </p:nvSpPr>
        <p:spPr>
          <a:xfrm>
            <a:off x="5880821" y="6011996"/>
            <a:ext cx="2861489" cy="369332"/>
          </a:xfrm>
          <a:prstGeom prst="rect">
            <a:avLst/>
          </a:prstGeom>
          <a:noFill/>
        </p:spPr>
        <p:txBody>
          <a:bodyPr wrap="none" rtlCol="0">
            <a:spAutoFit/>
          </a:bodyPr>
          <a:lstStyle/>
          <a:p>
            <a:r>
              <a:rPr lang="en-US" dirty="0"/>
              <a:t>NVIDIA </a:t>
            </a:r>
            <a:r>
              <a:rPr lang="en-US"/>
              <a:t>Fermi architecture</a:t>
            </a:r>
          </a:p>
        </p:txBody>
      </p:sp>
    </p:spTree>
    <p:extLst>
      <p:ext uri="{BB962C8B-B14F-4D97-AF65-F5344CB8AC3E}">
        <p14:creationId xmlns:p14="http://schemas.microsoft.com/office/powerpoint/2010/main" val="319490443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24" grpId="0"/>
      <p:bldP spid="25" grpId="0" animBg="1"/>
      <p:bldP spid="26" grpId="0" animBg="1"/>
      <p:bldP spid="40" grpId="0"/>
      <p:bldP spid="41" grpId="0"/>
      <p:bldP spid="42" grpId="0"/>
      <p:bldP spid="43" grpId="0" animBg="1"/>
      <p:bldP spid="44" grpId="0" animBg="1"/>
      <p:bldP spid="58" grpId="0"/>
      <p:bldP spid="59" grpId="0"/>
      <p:bldP spid="5"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Brief Review of GPU Architecture (III)</a:t>
            </a:r>
          </a:p>
        </p:txBody>
      </p:sp>
      <p:sp>
        <p:nvSpPr>
          <p:cNvPr id="3" name="Marcador de contenido 2"/>
          <p:cNvSpPr>
            <a:spLocks noGrp="1"/>
          </p:cNvSpPr>
          <p:nvPr>
            <p:ph idx="1"/>
          </p:nvPr>
        </p:nvSpPr>
        <p:spPr>
          <a:xfrm>
            <a:off x="251521" y="908720"/>
            <a:ext cx="8568952" cy="5472534"/>
          </a:xfrm>
        </p:spPr>
        <p:txBody>
          <a:bodyPr>
            <a:normAutofit/>
          </a:bodyPr>
          <a:lstStyle/>
          <a:p>
            <a:r>
              <a:rPr lang="en-US" dirty="0">
                <a:solidFill>
                  <a:srgbClr val="0000FF"/>
                </a:solidFill>
              </a:rPr>
              <a:t>Streaming Multiprocessors</a:t>
            </a:r>
            <a:r>
              <a:rPr lang="en-US" dirty="0"/>
              <a:t> (SM) or Compute Units (CU)</a:t>
            </a:r>
          </a:p>
          <a:p>
            <a:pPr lvl="1"/>
            <a:r>
              <a:rPr lang="en-US" dirty="0">
                <a:solidFill>
                  <a:srgbClr val="00B050"/>
                </a:solidFill>
              </a:rPr>
              <a:t>SIMD pipelines</a:t>
            </a:r>
          </a:p>
          <a:p>
            <a:endParaRPr lang="en-US" dirty="0"/>
          </a:p>
          <a:p>
            <a:r>
              <a:rPr lang="en-US" dirty="0">
                <a:solidFill>
                  <a:srgbClr val="0000FF"/>
                </a:solidFill>
              </a:rPr>
              <a:t>Streaming Processors </a:t>
            </a:r>
            <a:r>
              <a:rPr lang="en-US" dirty="0"/>
              <a:t>(SP) or CUDA ”cores”</a:t>
            </a:r>
          </a:p>
          <a:p>
            <a:pPr lvl="1"/>
            <a:r>
              <a:rPr lang="en-US" dirty="0">
                <a:solidFill>
                  <a:srgbClr val="00B050"/>
                </a:solidFill>
              </a:rPr>
              <a:t>Vector lanes</a:t>
            </a:r>
          </a:p>
          <a:p>
            <a:endParaRPr lang="en-US" dirty="0"/>
          </a:p>
          <a:p>
            <a:r>
              <a:rPr lang="en-US" dirty="0">
                <a:solidFill>
                  <a:srgbClr val="0000FF"/>
                </a:solidFill>
              </a:rPr>
              <a:t>Number of SMs x SPs </a:t>
            </a:r>
            <a:r>
              <a:rPr lang="en-US" dirty="0"/>
              <a:t>across generations</a:t>
            </a:r>
          </a:p>
          <a:p>
            <a:pPr lvl="1"/>
            <a:r>
              <a:rPr lang="en-US" dirty="0"/>
              <a:t>Tesla (2007): 30 x 8</a:t>
            </a:r>
          </a:p>
          <a:p>
            <a:pPr lvl="1"/>
            <a:r>
              <a:rPr lang="en-US" dirty="0"/>
              <a:t>Fermi (2010): 16 x 32</a:t>
            </a:r>
          </a:p>
          <a:p>
            <a:pPr lvl="1"/>
            <a:r>
              <a:rPr lang="en-US" dirty="0" err="1"/>
              <a:t>Kepler</a:t>
            </a:r>
            <a:r>
              <a:rPr lang="en-US" dirty="0"/>
              <a:t> (2012): 15 x 192</a:t>
            </a:r>
          </a:p>
          <a:p>
            <a:pPr lvl="1"/>
            <a:r>
              <a:rPr lang="en-US" dirty="0"/>
              <a:t>Maxwell (2014): 24 x 128</a:t>
            </a:r>
          </a:p>
          <a:p>
            <a:pPr lvl="1"/>
            <a:r>
              <a:rPr lang="en-US" dirty="0"/>
              <a:t>Pascal (2016): 56 x 64</a:t>
            </a:r>
          </a:p>
          <a:p>
            <a:pPr lvl="1"/>
            <a:r>
              <a:rPr lang="en-US" dirty="0"/>
              <a:t>Volta (2017): 80 x 64</a:t>
            </a:r>
          </a:p>
          <a:p>
            <a:pPr lvl="1"/>
            <a:endParaRPr lang="en-US" dirty="0"/>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96</a:t>
            </a:fld>
            <a:endParaRPr lang="en-US" altLang="en-US"/>
          </a:p>
        </p:txBody>
      </p:sp>
    </p:spTree>
    <p:extLst>
      <p:ext uri="{BB962C8B-B14F-4D97-AF65-F5344CB8AC3E}">
        <p14:creationId xmlns:p14="http://schemas.microsoft.com/office/powerpoint/2010/main" val="301777233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4">
            <a:extLst>
              <a:ext uri="{FF2B5EF4-FFF2-40B4-BE49-F238E27FC236}">
                <a16:creationId xmlns:a16="http://schemas.microsoft.com/office/drawing/2014/main" id="{96F16AB2-DFA1-CC48-94A4-6317B5EE6807}"/>
              </a:ext>
            </a:extLst>
          </p:cNvPr>
          <p:cNvSpPr>
            <a:spLocks noGrp="1" noChangeArrowheads="1"/>
          </p:cNvSpPr>
          <p:nvPr>
            <p:ph type="ctrTitle"/>
          </p:nvPr>
        </p:nvSpPr>
        <p:spPr>
          <a:xfrm>
            <a:off x="366713" y="1747838"/>
            <a:ext cx="8428037" cy="995362"/>
          </a:xfrm>
        </p:spPr>
        <p:txBody>
          <a:bodyPr/>
          <a:lstStyle/>
          <a:p>
            <a:pPr algn="ctr" eaLnBrk="1" hangingPunct="1"/>
            <a:r>
              <a:rPr lang="en-US" altLang="en-US" sz="4000">
                <a:ea typeface="ＭＳ Ｐゴシック" panose="020B0600070205080204" pitchFamily="34" charset="-128"/>
              </a:rPr>
              <a:t>Graphics Processing Units</a:t>
            </a:r>
            <a:br>
              <a:rPr lang="en-US" altLang="en-US" sz="4000">
                <a:ea typeface="ＭＳ Ｐゴシック" panose="020B0600070205080204" pitchFamily="34" charset="-128"/>
              </a:rPr>
            </a:br>
            <a:r>
              <a:rPr lang="en-US" altLang="en-US" sz="3600">
                <a:ea typeface="ＭＳ Ｐゴシック" panose="020B0600070205080204" pitchFamily="34" charset="-128"/>
              </a:rPr>
              <a:t>SIMD not Exposed to Programmer (SIMT)</a:t>
            </a:r>
          </a:p>
        </p:txBody>
      </p:sp>
      <p:sp>
        <p:nvSpPr>
          <p:cNvPr id="56322" name="Rectangle 5">
            <a:extLst>
              <a:ext uri="{FF2B5EF4-FFF2-40B4-BE49-F238E27FC236}">
                <a16:creationId xmlns:a16="http://schemas.microsoft.com/office/drawing/2014/main" id="{1623883C-F8C3-614D-97AA-0263C61BC202}"/>
              </a:ext>
            </a:extLst>
          </p:cNvPr>
          <p:cNvSpPr>
            <a:spLocks noGrp="1" noChangeArrowheads="1"/>
          </p:cNvSpPr>
          <p:nvPr>
            <p:ph type="subTitle" idx="1"/>
          </p:nvPr>
        </p:nvSpPr>
        <p:spPr>
          <a:xfrm>
            <a:off x="304800" y="3581400"/>
            <a:ext cx="8458200" cy="2900363"/>
          </a:xfrm>
        </p:spPr>
        <p:txBody>
          <a:bodyPr/>
          <a:lstStyle/>
          <a:p>
            <a:pPr eaLnBrk="1" hangingPunct="1"/>
            <a:endParaRPr lang="en-US" altLang="en-US" i="1">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a:p>
            <a:pPr eaLnBrk="1" hangingPunct="1"/>
            <a:endParaRPr lang="en-US" altLang="en-US">
              <a:ea typeface="ＭＳ Ｐゴシック" panose="020B0600070205080204" pitchFamily="34" charset="-128"/>
            </a:endParaRPr>
          </a:p>
        </p:txBody>
      </p:sp>
    </p:spTree>
    <p:extLst>
      <p:ext uri="{BB962C8B-B14F-4D97-AF65-F5344CB8AC3E}">
        <p14:creationId xmlns:p14="http://schemas.microsoft.com/office/powerpoint/2010/main" val="3449363362"/>
      </p:ext>
    </p:extLst>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a:extLst>
              <a:ext uri="{FF2B5EF4-FFF2-40B4-BE49-F238E27FC236}">
                <a16:creationId xmlns:a16="http://schemas.microsoft.com/office/drawing/2014/main" id="{B7B6E58D-9ED7-7748-B3EC-9AD7F8F0C855}"/>
              </a:ext>
            </a:extLst>
          </p:cNvPr>
          <p:cNvSpPr>
            <a:spLocks noGrp="1"/>
          </p:cNvSpPr>
          <p:nvPr>
            <p:ph type="title"/>
          </p:nvPr>
        </p:nvSpPr>
        <p:spPr/>
        <p:txBody>
          <a:bodyPr/>
          <a:lstStyle/>
          <a:p>
            <a:r>
              <a:rPr lang="en-US" altLang="en-US">
                <a:ea typeface="ＭＳ Ｐゴシック" panose="020B0600070205080204" pitchFamily="34" charset="-128"/>
              </a:rPr>
              <a:t>SIMD vs. SIMT Execution Model</a:t>
            </a:r>
          </a:p>
        </p:txBody>
      </p:sp>
      <p:sp>
        <p:nvSpPr>
          <p:cNvPr id="3" name="Content Placeholder 2">
            <a:extLst>
              <a:ext uri="{FF2B5EF4-FFF2-40B4-BE49-F238E27FC236}">
                <a16:creationId xmlns:a16="http://schemas.microsoft.com/office/drawing/2014/main" id="{FF9588E0-6767-BC41-A8A5-2D8E424D7DE2}"/>
              </a:ext>
            </a:extLst>
          </p:cNvPr>
          <p:cNvSpPr>
            <a:spLocks noGrp="1"/>
          </p:cNvSpPr>
          <p:nvPr>
            <p:ph idx="1"/>
          </p:nvPr>
        </p:nvSpPr>
        <p:spPr>
          <a:xfrm>
            <a:off x="0" y="996950"/>
            <a:ext cx="9144000" cy="5194300"/>
          </a:xfrm>
        </p:spPr>
        <p:txBody>
          <a:bodyPr/>
          <a:lstStyle/>
          <a:p>
            <a:r>
              <a:rPr lang="en-US" altLang="en-US" b="1" dirty="0">
                <a:ea typeface="ＭＳ Ｐゴシック" panose="020B0600070205080204" pitchFamily="34" charset="-128"/>
              </a:rPr>
              <a:t>SIMD</a:t>
            </a:r>
            <a:r>
              <a:rPr lang="en-US" altLang="en-US" dirty="0">
                <a:ea typeface="ＭＳ Ｐゴシック" panose="020B0600070205080204" pitchFamily="34" charset="-128"/>
              </a:rPr>
              <a:t>: A single </a:t>
            </a:r>
            <a:r>
              <a:rPr lang="en-US" altLang="en-US" dirty="0">
                <a:solidFill>
                  <a:srgbClr val="0000FF"/>
                </a:solidFill>
                <a:ea typeface="ＭＳ Ｐゴシック" panose="020B0600070205080204" pitchFamily="34" charset="-128"/>
              </a:rPr>
              <a:t>sequential</a:t>
            </a:r>
            <a:r>
              <a:rPr lang="en-US" altLang="en-US" dirty="0">
                <a:ea typeface="ＭＳ Ｐゴシック" panose="020B0600070205080204" pitchFamily="34" charset="-128"/>
              </a:rPr>
              <a:t> </a:t>
            </a:r>
            <a:r>
              <a:rPr lang="en-US" altLang="en-US" dirty="0">
                <a:solidFill>
                  <a:srgbClr val="0000FF"/>
                </a:solidFill>
                <a:ea typeface="ＭＳ Ｐゴシック" panose="020B0600070205080204" pitchFamily="34" charset="-128"/>
              </a:rPr>
              <a:t>instruction stream </a:t>
            </a:r>
            <a:r>
              <a:rPr lang="en-US" altLang="en-US" dirty="0">
                <a:ea typeface="ＭＳ Ｐゴシック" panose="020B0600070205080204" pitchFamily="34" charset="-128"/>
              </a:rPr>
              <a:t>of </a:t>
            </a:r>
            <a:r>
              <a:rPr lang="en-US" altLang="en-US" dirty="0">
                <a:solidFill>
                  <a:srgbClr val="0000FF"/>
                </a:solidFill>
                <a:ea typeface="ＭＳ Ｐゴシック" panose="020B0600070205080204" pitchFamily="34" charset="-128"/>
              </a:rPr>
              <a:t>SIMD instructions </a:t>
            </a:r>
            <a:r>
              <a:rPr lang="en-US" altLang="en-US" dirty="0">
                <a:ea typeface="ＭＳ Ｐゴシック" panose="020B0600070205080204" pitchFamily="34" charset="-128"/>
                <a:sym typeface="Wingdings" pitchFamily="2" charset="2"/>
              </a:rPr>
              <a:t> each instruction specifies multiple data inputs</a:t>
            </a:r>
            <a:endParaRPr lang="en-US" altLang="en-US" dirty="0">
              <a:ea typeface="ＭＳ Ｐゴシック" panose="020B0600070205080204" pitchFamily="34" charset="-128"/>
            </a:endParaRPr>
          </a:p>
          <a:p>
            <a:pPr lvl="1"/>
            <a:r>
              <a:rPr lang="en-US" altLang="en-US" dirty="0">
                <a:ea typeface="ＭＳ Ｐゴシック" panose="020B0600070205080204" pitchFamily="34" charset="-128"/>
              </a:rPr>
              <a:t>[VLD, VLD, VADD, VST], VLEN</a:t>
            </a:r>
          </a:p>
          <a:p>
            <a:pPr lvl="1"/>
            <a:endParaRPr lang="en-US" altLang="en-US" dirty="0">
              <a:ea typeface="ＭＳ Ｐゴシック" panose="020B0600070205080204" pitchFamily="34" charset="-128"/>
            </a:endParaRPr>
          </a:p>
          <a:p>
            <a:r>
              <a:rPr lang="en-US" altLang="en-US" b="1" dirty="0">
                <a:ea typeface="ＭＳ Ｐゴシック" panose="020B0600070205080204" pitchFamily="34" charset="-128"/>
              </a:rPr>
              <a:t>SIMT</a:t>
            </a:r>
            <a:r>
              <a:rPr lang="en-US" altLang="en-US" dirty="0">
                <a:ea typeface="ＭＳ Ｐゴシック" panose="020B0600070205080204" pitchFamily="34" charset="-128"/>
              </a:rPr>
              <a:t>: </a:t>
            </a:r>
            <a:r>
              <a:rPr lang="en-US" altLang="en-US" dirty="0">
                <a:solidFill>
                  <a:srgbClr val="0000FF"/>
                </a:solidFill>
                <a:ea typeface="ＭＳ Ｐゴシック" panose="020B0600070205080204" pitchFamily="34" charset="-128"/>
              </a:rPr>
              <a:t>Multiple instruction streams </a:t>
            </a:r>
            <a:r>
              <a:rPr lang="en-US" altLang="en-US" dirty="0">
                <a:ea typeface="ＭＳ Ｐゴシック" panose="020B0600070205080204" pitchFamily="34" charset="-128"/>
              </a:rPr>
              <a:t>of </a:t>
            </a:r>
            <a:r>
              <a:rPr lang="en-US" altLang="en-US" dirty="0">
                <a:solidFill>
                  <a:srgbClr val="0000FF"/>
                </a:solidFill>
                <a:ea typeface="ＭＳ Ｐゴシック" panose="020B0600070205080204" pitchFamily="34" charset="-128"/>
              </a:rPr>
              <a:t>scalar instructions </a:t>
            </a:r>
            <a:r>
              <a:rPr lang="en-US" altLang="en-US" dirty="0">
                <a:ea typeface="ＭＳ Ｐゴシック" panose="020B0600070205080204" pitchFamily="34" charset="-128"/>
                <a:sym typeface="Wingdings" pitchFamily="2" charset="2"/>
              </a:rPr>
              <a:t> threads grouped dynamically into warps</a:t>
            </a:r>
            <a:endParaRPr lang="en-US" altLang="en-US" dirty="0">
              <a:ea typeface="ＭＳ Ｐゴシック" panose="020B0600070205080204" pitchFamily="34" charset="-128"/>
            </a:endParaRPr>
          </a:p>
          <a:p>
            <a:pPr lvl="1"/>
            <a:r>
              <a:rPr lang="en-US" altLang="en-US" dirty="0">
                <a:ea typeface="ＭＳ Ｐゴシック" panose="020B0600070205080204" pitchFamily="34" charset="-128"/>
              </a:rPr>
              <a:t>[LD, LD, ADD, ST], </a:t>
            </a:r>
            <a:r>
              <a:rPr lang="en-US" altLang="en-US" dirty="0" err="1">
                <a:ea typeface="ＭＳ Ｐゴシック" panose="020B0600070205080204" pitchFamily="34" charset="-128"/>
              </a:rPr>
              <a:t>NumThreads</a:t>
            </a:r>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a:p>
            <a:r>
              <a:rPr lang="en-US" altLang="en-US" dirty="0">
                <a:ea typeface="ＭＳ Ｐゴシック" panose="020B0600070205080204" pitchFamily="34" charset="-128"/>
              </a:rPr>
              <a:t>Two Major SIMT Advantages: </a:t>
            </a:r>
          </a:p>
          <a:p>
            <a:pPr lvl="1"/>
            <a:r>
              <a:rPr lang="en-US" altLang="en-US" dirty="0">
                <a:solidFill>
                  <a:srgbClr val="0000FF"/>
                </a:solidFill>
                <a:ea typeface="ＭＳ Ｐゴシック" panose="020B0600070205080204" pitchFamily="34" charset="-128"/>
              </a:rPr>
              <a:t>Can treat each thread separately </a:t>
            </a:r>
            <a:r>
              <a:rPr lang="en-US" altLang="en-US" dirty="0">
                <a:ea typeface="ＭＳ Ｐゴシック" panose="020B0600070205080204" pitchFamily="34" charset="-128"/>
                <a:sym typeface="Wingdings" pitchFamily="2" charset="2"/>
              </a:rPr>
              <a:t> i.e., can execute each thread independently (on any type of scalar pipeline)  MIMD processing</a:t>
            </a:r>
          </a:p>
          <a:p>
            <a:pPr lvl="1"/>
            <a:r>
              <a:rPr lang="en-US" altLang="en-US" dirty="0">
                <a:solidFill>
                  <a:srgbClr val="0000FF"/>
                </a:solidFill>
                <a:ea typeface="ＭＳ Ｐゴシック" panose="020B0600070205080204" pitchFamily="34" charset="-128"/>
              </a:rPr>
              <a:t>Can group threads into warps flexibly </a:t>
            </a:r>
            <a:r>
              <a:rPr lang="en-US" altLang="en-US" dirty="0">
                <a:ea typeface="ＭＳ Ｐゴシック" panose="020B0600070205080204" pitchFamily="34" charset="-128"/>
                <a:sym typeface="Wingdings" pitchFamily="2" charset="2"/>
              </a:rPr>
              <a:t> i.e., can group threads that are supposed to </a:t>
            </a:r>
            <a:r>
              <a:rPr lang="en-US" altLang="en-US" i="1" dirty="0">
                <a:ea typeface="ＭＳ Ｐゴシック" panose="020B0600070205080204" pitchFamily="34" charset="-128"/>
                <a:sym typeface="Wingdings" pitchFamily="2" charset="2"/>
              </a:rPr>
              <a:t>truly</a:t>
            </a:r>
            <a:r>
              <a:rPr lang="en-US" altLang="en-US" dirty="0">
                <a:ea typeface="ＭＳ Ｐゴシック" panose="020B0600070205080204" pitchFamily="34" charset="-128"/>
                <a:sym typeface="Wingdings" pitchFamily="2" charset="2"/>
              </a:rPr>
              <a:t> execute the same instruction  dynamically obtain and maximize benefits of SIMD processing</a:t>
            </a:r>
            <a:endParaRPr lang="en-US" altLang="en-US" dirty="0">
              <a:ea typeface="ＭＳ Ｐゴシック" panose="020B0600070205080204" pitchFamily="34" charset="-128"/>
            </a:endParaRPr>
          </a:p>
        </p:txBody>
      </p:sp>
      <p:sp>
        <p:nvSpPr>
          <p:cNvPr id="58371" name="Slide Number Placeholder 3">
            <a:extLst>
              <a:ext uri="{FF2B5EF4-FFF2-40B4-BE49-F238E27FC236}">
                <a16:creationId xmlns:a16="http://schemas.microsoft.com/office/drawing/2014/main" id="{27AAB33F-A66B-1F40-A44A-0A1E45EFACC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9762063-6020-8F44-B9D6-0F3D795542B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98</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5" name="Rounded Rectangle 130">
            <a:extLst>
              <a:ext uri="{FF2B5EF4-FFF2-40B4-BE49-F238E27FC236}">
                <a16:creationId xmlns:a16="http://schemas.microsoft.com/office/drawing/2014/main" id="{19C5B0F9-79F7-684A-948B-1625BD38D01D}"/>
              </a:ext>
            </a:extLst>
          </p:cNvPr>
          <p:cNvSpPr>
            <a:spLocks noChangeArrowheads="1"/>
          </p:cNvSpPr>
          <p:nvPr/>
        </p:nvSpPr>
        <p:spPr bwMode="auto">
          <a:xfrm>
            <a:off x="381000" y="4633913"/>
            <a:ext cx="8686800" cy="838200"/>
          </a:xfrm>
          <a:prstGeom prst="roundRect">
            <a:avLst>
              <a:gd name="adj" fmla="val 16667"/>
            </a:avLst>
          </a:prstGeom>
          <a:noFill/>
          <a:ln w="539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96797068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a:extLst>
              <a:ext uri="{FF2B5EF4-FFF2-40B4-BE49-F238E27FC236}">
                <a16:creationId xmlns:a16="http://schemas.microsoft.com/office/drawing/2014/main" id="{1D2AF8E5-6E4E-C049-94D3-A70265AA716F}"/>
              </a:ext>
            </a:extLst>
          </p:cNvPr>
          <p:cNvSpPr>
            <a:spLocks noGrp="1"/>
          </p:cNvSpPr>
          <p:nvPr>
            <p:ph type="title"/>
          </p:nvPr>
        </p:nvSpPr>
        <p:spPr/>
        <p:txBody>
          <a:bodyPr/>
          <a:lstStyle/>
          <a:p>
            <a:r>
              <a:rPr lang="en-US" altLang="en-US">
                <a:ea typeface="ＭＳ Ｐゴシック" panose="020B0600070205080204" pitchFamily="34" charset="-128"/>
              </a:rPr>
              <a:t>High-Level View of a GPU</a:t>
            </a:r>
          </a:p>
        </p:txBody>
      </p:sp>
      <p:sp>
        <p:nvSpPr>
          <p:cNvPr id="62466" name="Content Placeholder 2">
            <a:extLst>
              <a:ext uri="{FF2B5EF4-FFF2-40B4-BE49-F238E27FC236}">
                <a16:creationId xmlns:a16="http://schemas.microsoft.com/office/drawing/2014/main" id="{EE65F96B-992F-8C4C-AF4D-1EE8E75CE6A9}"/>
              </a:ext>
            </a:extLst>
          </p:cNvPr>
          <p:cNvSpPr>
            <a:spLocks noGrp="1"/>
          </p:cNvSpPr>
          <p:nvPr>
            <p:ph idx="1"/>
          </p:nvPr>
        </p:nvSpPr>
        <p:spPr>
          <a:xfrm>
            <a:off x="228600" y="996950"/>
            <a:ext cx="8610600" cy="5194300"/>
          </a:xfrm>
        </p:spPr>
        <p:txBody>
          <a:bodyPr/>
          <a:lstStyle/>
          <a:p>
            <a:endParaRPr lang="en-US" altLang="en-US">
              <a:ea typeface="ＭＳ Ｐゴシック" panose="020B0600070205080204" pitchFamily="34" charset="-128"/>
            </a:endParaRPr>
          </a:p>
        </p:txBody>
      </p:sp>
      <p:sp>
        <p:nvSpPr>
          <p:cNvPr id="62467" name="Slide Number Placeholder 3">
            <a:extLst>
              <a:ext uri="{FF2B5EF4-FFF2-40B4-BE49-F238E27FC236}">
                <a16:creationId xmlns:a16="http://schemas.microsoft.com/office/drawing/2014/main" id="{E0EDF134-4D97-4646-B8F1-284F114FE53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E607CA4-6E39-ED47-98C2-C877BA4D0DA4}"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99</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pic>
        <p:nvPicPr>
          <p:cNvPr id="62468" name="Picture 4">
            <a:extLst>
              <a:ext uri="{FF2B5EF4-FFF2-40B4-BE49-F238E27FC236}">
                <a16:creationId xmlns:a16="http://schemas.microsoft.com/office/drawing/2014/main" id="{1AA1C136-3BFD-8648-815E-6EFB09F953F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8900" y="952500"/>
            <a:ext cx="89662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6">
            <a:extLst>
              <a:ext uri="{FF2B5EF4-FFF2-40B4-BE49-F238E27FC236}">
                <a16:creationId xmlns:a16="http://schemas.microsoft.com/office/drawing/2014/main" id="{83549B3B-99FF-C04B-99BB-FF05222AC337}"/>
              </a:ext>
            </a:extLst>
          </p:cNvPr>
          <p:cNvSpPr txBox="1">
            <a:spLocks noChangeArrowheads="1"/>
          </p:cNvSpPr>
          <p:nvPr/>
        </p:nvSpPr>
        <p:spPr bwMode="auto">
          <a:xfrm>
            <a:off x="152400" y="6477000"/>
            <a:ext cx="98298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lvl="0" eaLnBrk="1" hangingPunct="1">
              <a:defRPr/>
            </a:pPr>
            <a:r>
              <a:rPr lang="en-US" altLang="en-US" sz="1600" dirty="0"/>
              <a:t>Lindholm et al., "</a:t>
            </a:r>
            <a:r>
              <a:rPr lang="en-US" altLang="en-US" sz="1600" dirty="0">
                <a:solidFill>
                  <a:srgbClr val="0000FF"/>
                </a:solidFill>
              </a:rPr>
              <a:t>NVIDIA Tesla: A Unified Graphics and Computing Architecture</a:t>
            </a:r>
            <a:r>
              <a:rPr lang="en-US" altLang="en-US" sz="1600" dirty="0"/>
              <a:t>," IEEE Micro 2008.</a:t>
            </a: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418788126"/>
      </p:ext>
    </p:extLst>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a:extLst>
              <a:ext uri="{FF2B5EF4-FFF2-40B4-BE49-F238E27FC236}">
                <a16:creationId xmlns:a16="http://schemas.microsoft.com/office/drawing/2014/main" id="{382DADE0-873F-DC4C-A8BD-DBAA0EB1065E}"/>
              </a:ext>
            </a:extLst>
          </p:cNvPr>
          <p:cNvSpPr>
            <a:spLocks noGrp="1"/>
          </p:cNvSpPr>
          <p:nvPr>
            <p:ph type="title"/>
          </p:nvPr>
        </p:nvSpPr>
        <p:spPr/>
        <p:txBody>
          <a:bodyPr/>
          <a:lstStyle/>
          <a:p>
            <a:r>
              <a:rPr lang="en-US" altLang="en-US">
                <a:ea typeface="ＭＳ Ｐゴシック" panose="020B0600070205080204" pitchFamily="34" charset="-128"/>
              </a:rPr>
              <a:t>Latency Hiding via Warp-Level FGMT</a:t>
            </a:r>
          </a:p>
        </p:txBody>
      </p:sp>
      <p:sp>
        <p:nvSpPr>
          <p:cNvPr id="100354" name="Content Placeholder 2">
            <a:extLst>
              <a:ext uri="{FF2B5EF4-FFF2-40B4-BE49-F238E27FC236}">
                <a16:creationId xmlns:a16="http://schemas.microsoft.com/office/drawing/2014/main" id="{1776B76E-79CD-5D45-98BE-9742A2484220}"/>
              </a:ext>
            </a:extLst>
          </p:cNvPr>
          <p:cNvSpPr>
            <a:spLocks noGrp="1"/>
          </p:cNvSpPr>
          <p:nvPr>
            <p:ph idx="1"/>
          </p:nvPr>
        </p:nvSpPr>
        <p:spPr>
          <a:xfrm>
            <a:off x="76200" y="996950"/>
            <a:ext cx="4876800" cy="5194300"/>
          </a:xfrm>
        </p:spPr>
        <p:txBody>
          <a:bodyPr/>
          <a:lstStyle/>
          <a:p>
            <a:r>
              <a:rPr lang="en-US" altLang="en-US" dirty="0">
                <a:ea typeface="ＭＳ Ｐゴシック" panose="020B0600070205080204" pitchFamily="34" charset="-128"/>
              </a:rPr>
              <a:t>Warp: A set of threads that execute the same instruction (on different data elements)</a:t>
            </a:r>
          </a:p>
          <a:p>
            <a:endParaRPr lang="en-US" altLang="en-US" dirty="0">
              <a:ea typeface="ＭＳ Ｐゴシック" panose="020B0600070205080204" pitchFamily="34" charset="-128"/>
            </a:endParaRPr>
          </a:p>
          <a:p>
            <a:pPr>
              <a:lnSpc>
                <a:spcPct val="90000"/>
              </a:lnSpc>
            </a:pPr>
            <a:r>
              <a:rPr lang="en-CA" altLang="ja-JP" dirty="0">
                <a:solidFill>
                  <a:srgbClr val="0432FF"/>
                </a:solidFill>
                <a:ea typeface="ＭＳ Ｐゴシック" panose="020B0600070205080204" pitchFamily="34" charset="-128"/>
              </a:rPr>
              <a:t>Fine-grained multithreading</a:t>
            </a:r>
          </a:p>
          <a:p>
            <a:pPr lvl="1"/>
            <a:r>
              <a:rPr lang="en-US" altLang="en-US" sz="2000" dirty="0">
                <a:ea typeface="ＭＳ Ｐゴシック" panose="020B0600070205080204" pitchFamily="34" charset="-128"/>
              </a:rPr>
              <a:t>No interlocking: One instruction per thread in pipeline at a time.</a:t>
            </a:r>
          </a:p>
          <a:p>
            <a:pPr lvl="1"/>
            <a:r>
              <a:rPr lang="en-US" altLang="en-US" sz="2000" dirty="0">
                <a:ea typeface="ＭＳ Ｐゴシック" panose="020B0600070205080204" pitchFamily="34" charset="-128"/>
              </a:rPr>
              <a:t>Interleave warp execution to hide latencies</a:t>
            </a:r>
          </a:p>
          <a:p>
            <a:r>
              <a:rPr lang="en-US" altLang="en-US" sz="2000" dirty="0">
                <a:ea typeface="ＭＳ Ｐゴシック" panose="020B0600070205080204" pitchFamily="34" charset="-128"/>
              </a:rPr>
              <a:t>Register values of all threads stay in register file</a:t>
            </a:r>
          </a:p>
          <a:p>
            <a:r>
              <a:rPr lang="en-US" altLang="en-US" sz="2000" dirty="0">
                <a:ea typeface="ＭＳ Ｐゴシック" panose="020B0600070205080204" pitchFamily="34" charset="-128"/>
              </a:rPr>
              <a:t>FGMT enables long latency tolerance</a:t>
            </a:r>
          </a:p>
          <a:p>
            <a:pPr lvl="1"/>
            <a:r>
              <a:rPr lang="en-US" altLang="en-US" sz="1800" dirty="0">
                <a:ea typeface="ＭＳ Ｐゴシック" panose="020B0600070205080204" pitchFamily="34" charset="-128"/>
              </a:rPr>
              <a:t>Millions of pixels </a:t>
            </a:r>
          </a:p>
        </p:txBody>
      </p:sp>
      <p:sp>
        <p:nvSpPr>
          <p:cNvPr id="63491" name="Slide Number Placeholder 3">
            <a:extLst>
              <a:ext uri="{FF2B5EF4-FFF2-40B4-BE49-F238E27FC236}">
                <a16:creationId xmlns:a16="http://schemas.microsoft.com/office/drawing/2014/main" id="{261CCAFF-BE26-884E-AF2C-823D5C68ED3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709DDD4-DC23-E44E-91C0-ABDC87AEE372}"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100</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grpSp>
        <p:nvGrpSpPr>
          <p:cNvPr id="63492" name="Group 4">
            <a:extLst>
              <a:ext uri="{FF2B5EF4-FFF2-40B4-BE49-F238E27FC236}">
                <a16:creationId xmlns:a16="http://schemas.microsoft.com/office/drawing/2014/main" id="{A19BA67A-7642-BC44-AF7D-D31E1EE9530F}"/>
              </a:ext>
            </a:extLst>
          </p:cNvPr>
          <p:cNvGrpSpPr>
            <a:grpSpLocks/>
          </p:cNvGrpSpPr>
          <p:nvPr/>
        </p:nvGrpSpPr>
        <p:grpSpPr bwMode="auto">
          <a:xfrm>
            <a:off x="5040313" y="1540669"/>
            <a:ext cx="3870325" cy="4456112"/>
            <a:chOff x="2976" y="950"/>
            <a:chExt cx="2438" cy="2807"/>
          </a:xfrm>
        </p:grpSpPr>
        <p:sp>
          <p:nvSpPr>
            <p:cNvPr id="63494" name="AutoShape 5">
              <a:extLst>
                <a:ext uri="{FF2B5EF4-FFF2-40B4-BE49-F238E27FC236}">
                  <a16:creationId xmlns:a16="http://schemas.microsoft.com/office/drawing/2014/main" id="{4836A043-7607-C24E-8860-F3130D0B6BB2}"/>
                </a:ext>
              </a:extLst>
            </p:cNvPr>
            <p:cNvSpPr>
              <a:spLocks noChangeAspect="1" noChangeArrowheads="1" noTextEdit="1"/>
            </p:cNvSpPr>
            <p:nvPr/>
          </p:nvSpPr>
          <p:spPr bwMode="auto">
            <a:xfrm>
              <a:off x="2976" y="960"/>
              <a:ext cx="2406" cy="2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495" name="Rectangle 6">
              <a:extLst>
                <a:ext uri="{FF2B5EF4-FFF2-40B4-BE49-F238E27FC236}">
                  <a16:creationId xmlns:a16="http://schemas.microsoft.com/office/drawing/2014/main" id="{D31E52DD-5B33-D44B-BC0D-DCD0790B2E71}"/>
                </a:ext>
              </a:extLst>
            </p:cNvPr>
            <p:cNvSpPr>
              <a:spLocks noChangeArrowheads="1"/>
            </p:cNvSpPr>
            <p:nvPr/>
          </p:nvSpPr>
          <p:spPr bwMode="auto">
            <a:xfrm>
              <a:off x="3079" y="1735"/>
              <a:ext cx="1125" cy="1949"/>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496" name="Rectangle 7">
              <a:extLst>
                <a:ext uri="{FF2B5EF4-FFF2-40B4-BE49-F238E27FC236}">
                  <a16:creationId xmlns:a16="http://schemas.microsoft.com/office/drawing/2014/main" id="{3D785802-BFC5-A745-B4DB-9D549EB2D88D}"/>
                </a:ext>
              </a:extLst>
            </p:cNvPr>
            <p:cNvSpPr>
              <a:spLocks noChangeArrowheads="1"/>
            </p:cNvSpPr>
            <p:nvPr/>
          </p:nvSpPr>
          <p:spPr bwMode="auto">
            <a:xfrm>
              <a:off x="3079" y="1735"/>
              <a:ext cx="1125" cy="1949"/>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497" name="Rectangle 8">
              <a:extLst>
                <a:ext uri="{FF2B5EF4-FFF2-40B4-BE49-F238E27FC236}">
                  <a16:creationId xmlns:a16="http://schemas.microsoft.com/office/drawing/2014/main" id="{F656F4D3-75FC-4242-9495-6B29679BA1B0}"/>
                </a:ext>
              </a:extLst>
            </p:cNvPr>
            <p:cNvSpPr>
              <a:spLocks noChangeArrowheads="1"/>
            </p:cNvSpPr>
            <p:nvPr/>
          </p:nvSpPr>
          <p:spPr bwMode="auto">
            <a:xfrm>
              <a:off x="3166" y="2038"/>
              <a:ext cx="951" cy="13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498" name="Rectangle 9">
              <a:extLst>
                <a:ext uri="{FF2B5EF4-FFF2-40B4-BE49-F238E27FC236}">
                  <a16:creationId xmlns:a16="http://schemas.microsoft.com/office/drawing/2014/main" id="{C17EA225-A104-6347-BEB4-F27C723E3EF4}"/>
                </a:ext>
              </a:extLst>
            </p:cNvPr>
            <p:cNvSpPr>
              <a:spLocks noChangeArrowheads="1"/>
            </p:cNvSpPr>
            <p:nvPr/>
          </p:nvSpPr>
          <p:spPr bwMode="auto">
            <a:xfrm>
              <a:off x="3166" y="2038"/>
              <a:ext cx="951" cy="130"/>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499" name="Rectangle 10">
              <a:extLst>
                <a:ext uri="{FF2B5EF4-FFF2-40B4-BE49-F238E27FC236}">
                  <a16:creationId xmlns:a16="http://schemas.microsoft.com/office/drawing/2014/main" id="{17273952-E54E-4F44-B778-3C535E20B99A}"/>
                </a:ext>
              </a:extLst>
            </p:cNvPr>
            <p:cNvSpPr>
              <a:spLocks noChangeArrowheads="1"/>
            </p:cNvSpPr>
            <p:nvPr/>
          </p:nvSpPr>
          <p:spPr bwMode="auto">
            <a:xfrm>
              <a:off x="3444" y="2035"/>
              <a:ext cx="41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Decode</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00" name="Rectangle 11">
              <a:extLst>
                <a:ext uri="{FF2B5EF4-FFF2-40B4-BE49-F238E27FC236}">
                  <a16:creationId xmlns:a16="http://schemas.microsoft.com/office/drawing/2014/main" id="{6822130B-2EB9-9648-9394-5F3E1FBE7876}"/>
                </a:ext>
              </a:extLst>
            </p:cNvPr>
            <p:cNvSpPr>
              <a:spLocks noChangeArrowheads="1"/>
            </p:cNvSpPr>
            <p:nvPr/>
          </p:nvSpPr>
          <p:spPr bwMode="auto">
            <a:xfrm>
              <a:off x="3166" y="2255"/>
              <a:ext cx="173" cy="26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01" name="Rectangle 12">
              <a:extLst>
                <a:ext uri="{FF2B5EF4-FFF2-40B4-BE49-F238E27FC236}">
                  <a16:creationId xmlns:a16="http://schemas.microsoft.com/office/drawing/2014/main" id="{CC5A43EE-56FB-5F43-B1CD-B30570819031}"/>
                </a:ext>
              </a:extLst>
            </p:cNvPr>
            <p:cNvSpPr>
              <a:spLocks noChangeArrowheads="1"/>
            </p:cNvSpPr>
            <p:nvPr/>
          </p:nvSpPr>
          <p:spPr bwMode="auto">
            <a:xfrm>
              <a:off x="3166" y="2255"/>
              <a:ext cx="173" cy="260"/>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02" name="Rectangle 13">
              <a:extLst>
                <a:ext uri="{FF2B5EF4-FFF2-40B4-BE49-F238E27FC236}">
                  <a16:creationId xmlns:a16="http://schemas.microsoft.com/office/drawing/2014/main" id="{289347E0-0660-EF4C-9ED2-1855B1F9FB31}"/>
                </a:ext>
              </a:extLst>
            </p:cNvPr>
            <p:cNvSpPr>
              <a:spLocks noChangeArrowheads="1"/>
            </p:cNvSpPr>
            <p:nvPr/>
          </p:nvSpPr>
          <p:spPr bwMode="auto">
            <a:xfrm rot="5400000">
              <a:off x="3215" y="2287"/>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03" name="Rectangle 14">
              <a:extLst>
                <a:ext uri="{FF2B5EF4-FFF2-40B4-BE49-F238E27FC236}">
                  <a16:creationId xmlns:a16="http://schemas.microsoft.com/office/drawing/2014/main" id="{9696E501-07B7-2D4B-BC68-B0F1572F6A69}"/>
                </a:ext>
              </a:extLst>
            </p:cNvPr>
            <p:cNvSpPr>
              <a:spLocks noChangeArrowheads="1"/>
            </p:cNvSpPr>
            <p:nvPr/>
          </p:nvSpPr>
          <p:spPr bwMode="auto">
            <a:xfrm rot="5400000">
              <a:off x="3222" y="2350"/>
              <a:ext cx="7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04" name="Rectangle 15">
              <a:extLst>
                <a:ext uri="{FF2B5EF4-FFF2-40B4-BE49-F238E27FC236}">
                  <a16:creationId xmlns:a16="http://schemas.microsoft.com/office/drawing/2014/main" id="{9A4B3488-F90C-4C4E-A061-104A96E99A50}"/>
                </a:ext>
              </a:extLst>
            </p:cNvPr>
            <p:cNvSpPr>
              <a:spLocks noChangeArrowheads="1"/>
            </p:cNvSpPr>
            <p:nvPr/>
          </p:nvSpPr>
          <p:spPr bwMode="auto">
            <a:xfrm>
              <a:off x="3944" y="2255"/>
              <a:ext cx="173" cy="26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05" name="Rectangle 16">
              <a:extLst>
                <a:ext uri="{FF2B5EF4-FFF2-40B4-BE49-F238E27FC236}">
                  <a16:creationId xmlns:a16="http://schemas.microsoft.com/office/drawing/2014/main" id="{91DB80FD-9F97-FF44-8939-AB0C93166026}"/>
                </a:ext>
              </a:extLst>
            </p:cNvPr>
            <p:cNvSpPr>
              <a:spLocks noChangeArrowheads="1"/>
            </p:cNvSpPr>
            <p:nvPr/>
          </p:nvSpPr>
          <p:spPr bwMode="auto">
            <a:xfrm>
              <a:off x="3944" y="2255"/>
              <a:ext cx="173" cy="260"/>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06" name="Rectangle 17">
              <a:extLst>
                <a:ext uri="{FF2B5EF4-FFF2-40B4-BE49-F238E27FC236}">
                  <a16:creationId xmlns:a16="http://schemas.microsoft.com/office/drawing/2014/main" id="{B48D4D9A-D4B6-664A-93EC-AABA590DA1C5}"/>
                </a:ext>
              </a:extLst>
            </p:cNvPr>
            <p:cNvSpPr>
              <a:spLocks noChangeArrowheads="1"/>
            </p:cNvSpPr>
            <p:nvPr/>
          </p:nvSpPr>
          <p:spPr bwMode="auto">
            <a:xfrm rot="5400000">
              <a:off x="3997" y="2280"/>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07" name="Rectangle 18">
              <a:extLst>
                <a:ext uri="{FF2B5EF4-FFF2-40B4-BE49-F238E27FC236}">
                  <a16:creationId xmlns:a16="http://schemas.microsoft.com/office/drawing/2014/main" id="{CE537CFC-96E0-CA46-BEF5-91D639E1BF2E}"/>
                </a:ext>
              </a:extLst>
            </p:cNvPr>
            <p:cNvSpPr>
              <a:spLocks noChangeArrowheads="1"/>
            </p:cNvSpPr>
            <p:nvPr/>
          </p:nvSpPr>
          <p:spPr bwMode="auto">
            <a:xfrm rot="5400000">
              <a:off x="4004" y="2343"/>
              <a:ext cx="7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08" name="Rectangle 19">
              <a:extLst>
                <a:ext uri="{FF2B5EF4-FFF2-40B4-BE49-F238E27FC236}">
                  <a16:creationId xmlns:a16="http://schemas.microsoft.com/office/drawing/2014/main" id="{399B4D6C-3D37-2043-8EB4-283C17C2451F}"/>
                </a:ext>
              </a:extLst>
            </p:cNvPr>
            <p:cNvSpPr>
              <a:spLocks noChangeArrowheads="1"/>
            </p:cNvSpPr>
            <p:nvPr/>
          </p:nvSpPr>
          <p:spPr bwMode="auto">
            <a:xfrm>
              <a:off x="3425" y="2255"/>
              <a:ext cx="173" cy="26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09" name="Rectangle 20">
              <a:extLst>
                <a:ext uri="{FF2B5EF4-FFF2-40B4-BE49-F238E27FC236}">
                  <a16:creationId xmlns:a16="http://schemas.microsoft.com/office/drawing/2014/main" id="{42B086BD-BCC3-9147-91C4-25D46A1DBE7F}"/>
                </a:ext>
              </a:extLst>
            </p:cNvPr>
            <p:cNvSpPr>
              <a:spLocks noChangeArrowheads="1"/>
            </p:cNvSpPr>
            <p:nvPr/>
          </p:nvSpPr>
          <p:spPr bwMode="auto">
            <a:xfrm>
              <a:off x="3425" y="2255"/>
              <a:ext cx="173" cy="260"/>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10" name="Rectangle 21">
              <a:extLst>
                <a:ext uri="{FF2B5EF4-FFF2-40B4-BE49-F238E27FC236}">
                  <a16:creationId xmlns:a16="http://schemas.microsoft.com/office/drawing/2014/main" id="{2B2BF338-72CF-F649-BB90-7747D8CF165E}"/>
                </a:ext>
              </a:extLst>
            </p:cNvPr>
            <p:cNvSpPr>
              <a:spLocks noChangeArrowheads="1"/>
            </p:cNvSpPr>
            <p:nvPr/>
          </p:nvSpPr>
          <p:spPr bwMode="auto">
            <a:xfrm rot="5400000">
              <a:off x="3481" y="2287"/>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11" name="Rectangle 22">
              <a:extLst>
                <a:ext uri="{FF2B5EF4-FFF2-40B4-BE49-F238E27FC236}">
                  <a16:creationId xmlns:a16="http://schemas.microsoft.com/office/drawing/2014/main" id="{5A020C80-17B6-C94B-8FE3-DD1D01B4188A}"/>
                </a:ext>
              </a:extLst>
            </p:cNvPr>
            <p:cNvSpPr>
              <a:spLocks noChangeArrowheads="1"/>
            </p:cNvSpPr>
            <p:nvPr/>
          </p:nvSpPr>
          <p:spPr bwMode="auto">
            <a:xfrm rot="5400000">
              <a:off x="3488" y="2350"/>
              <a:ext cx="7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12" name="Line 23">
              <a:extLst>
                <a:ext uri="{FF2B5EF4-FFF2-40B4-BE49-F238E27FC236}">
                  <a16:creationId xmlns:a16="http://schemas.microsoft.com/office/drawing/2014/main" id="{05CF951A-CBC3-E74E-AA72-46B81EA8474A}"/>
                </a:ext>
              </a:extLst>
            </p:cNvPr>
            <p:cNvSpPr>
              <a:spLocks noChangeShapeType="1"/>
            </p:cNvSpPr>
            <p:nvPr/>
          </p:nvSpPr>
          <p:spPr bwMode="auto">
            <a:xfrm>
              <a:off x="3641" y="1951"/>
              <a:ext cx="1" cy="33"/>
            </a:xfrm>
            <a:prstGeom prst="line">
              <a:avLst/>
            </a:prstGeom>
            <a:noFill/>
            <a:ln w="17463" cap="rnd">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13" name="Freeform 24">
              <a:extLst>
                <a:ext uri="{FF2B5EF4-FFF2-40B4-BE49-F238E27FC236}">
                  <a16:creationId xmlns:a16="http://schemas.microsoft.com/office/drawing/2014/main" id="{6C0149AA-2802-CA4C-B7FB-C7E186E0D155}"/>
                </a:ext>
              </a:extLst>
            </p:cNvPr>
            <p:cNvSpPr>
              <a:spLocks/>
            </p:cNvSpPr>
            <p:nvPr/>
          </p:nvSpPr>
          <p:spPr bwMode="auto">
            <a:xfrm>
              <a:off x="3606" y="1967"/>
              <a:ext cx="71" cy="71"/>
            </a:xfrm>
            <a:custGeom>
              <a:avLst/>
              <a:gdLst>
                <a:gd name="T0" fmla="*/ 0 w 164"/>
                <a:gd name="T1" fmla="*/ 0 h 164"/>
                <a:gd name="T2" fmla="*/ 0 w 164"/>
                <a:gd name="T3" fmla="*/ 0 h 164"/>
                <a:gd name="T4" fmla="*/ 0 w 164"/>
                <a:gd name="T5" fmla="*/ 0 h 164"/>
                <a:gd name="T6" fmla="*/ 0 w 164"/>
                <a:gd name="T7" fmla="*/ 0 h 164"/>
                <a:gd name="T8" fmla="*/ 0 60000 65536"/>
                <a:gd name="T9" fmla="*/ 0 60000 65536"/>
                <a:gd name="T10" fmla="*/ 0 60000 65536"/>
                <a:gd name="T11" fmla="*/ 0 60000 65536"/>
                <a:gd name="T12" fmla="*/ 0 w 164"/>
                <a:gd name="T13" fmla="*/ 0 h 164"/>
                <a:gd name="T14" fmla="*/ 164 w 164"/>
                <a:gd name="T15" fmla="*/ 164 h 164"/>
              </a:gdLst>
              <a:ahLst/>
              <a:cxnLst>
                <a:cxn ang="T8">
                  <a:pos x="T0" y="T1"/>
                </a:cxn>
                <a:cxn ang="T9">
                  <a:pos x="T2" y="T3"/>
                </a:cxn>
                <a:cxn ang="T10">
                  <a:pos x="T4" y="T5"/>
                </a:cxn>
                <a:cxn ang="T11">
                  <a:pos x="T6" y="T7"/>
                </a:cxn>
              </a:cxnLst>
              <a:rect l="T12" t="T13" r="T14" b="T15"/>
              <a:pathLst>
                <a:path w="164" h="164">
                  <a:moveTo>
                    <a:pt x="82" y="164"/>
                  </a:moveTo>
                  <a:lnTo>
                    <a:pt x="0" y="0"/>
                  </a:lnTo>
                  <a:cubicBezTo>
                    <a:pt x="52" y="26"/>
                    <a:pt x="113" y="26"/>
                    <a:pt x="164" y="0"/>
                  </a:cubicBezTo>
                  <a:lnTo>
                    <a:pt x="82" y="164"/>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14" name="Rectangle 25">
              <a:extLst>
                <a:ext uri="{FF2B5EF4-FFF2-40B4-BE49-F238E27FC236}">
                  <a16:creationId xmlns:a16="http://schemas.microsoft.com/office/drawing/2014/main" id="{E02AA9D1-020E-FF46-8670-6254ABAC7DEC}"/>
                </a:ext>
              </a:extLst>
            </p:cNvPr>
            <p:cNvSpPr>
              <a:spLocks noChangeArrowheads="1"/>
            </p:cNvSpPr>
            <p:nvPr/>
          </p:nvSpPr>
          <p:spPr bwMode="auto">
            <a:xfrm>
              <a:off x="3166" y="2601"/>
              <a:ext cx="173" cy="26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15" name="Rectangle 26">
              <a:extLst>
                <a:ext uri="{FF2B5EF4-FFF2-40B4-BE49-F238E27FC236}">
                  <a16:creationId xmlns:a16="http://schemas.microsoft.com/office/drawing/2014/main" id="{87EF70EF-5E40-F345-A150-CE22769D4B5C}"/>
                </a:ext>
              </a:extLst>
            </p:cNvPr>
            <p:cNvSpPr>
              <a:spLocks noChangeArrowheads="1"/>
            </p:cNvSpPr>
            <p:nvPr/>
          </p:nvSpPr>
          <p:spPr bwMode="auto">
            <a:xfrm>
              <a:off x="3166" y="2601"/>
              <a:ext cx="173" cy="260"/>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16" name="Rectangle 27">
              <a:extLst>
                <a:ext uri="{FF2B5EF4-FFF2-40B4-BE49-F238E27FC236}">
                  <a16:creationId xmlns:a16="http://schemas.microsoft.com/office/drawing/2014/main" id="{0465929B-E2A2-774C-96C0-6E6A08D9CE01}"/>
                </a:ext>
              </a:extLst>
            </p:cNvPr>
            <p:cNvSpPr>
              <a:spLocks noChangeArrowheads="1"/>
            </p:cNvSpPr>
            <p:nvPr/>
          </p:nvSpPr>
          <p:spPr bwMode="auto">
            <a:xfrm rot="5400000">
              <a:off x="3219" y="2605"/>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17" name="Rectangle 28">
              <a:extLst>
                <a:ext uri="{FF2B5EF4-FFF2-40B4-BE49-F238E27FC236}">
                  <a16:creationId xmlns:a16="http://schemas.microsoft.com/office/drawing/2014/main" id="{64D9F7F2-E1E1-B946-8EC2-6F5FFC7EE468}"/>
                </a:ext>
              </a:extLst>
            </p:cNvPr>
            <p:cNvSpPr>
              <a:spLocks noChangeArrowheads="1"/>
            </p:cNvSpPr>
            <p:nvPr/>
          </p:nvSpPr>
          <p:spPr bwMode="auto">
            <a:xfrm rot="5400000">
              <a:off x="3225" y="2661"/>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L</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18" name="Rectangle 29">
              <a:extLst>
                <a:ext uri="{FF2B5EF4-FFF2-40B4-BE49-F238E27FC236}">
                  <a16:creationId xmlns:a16="http://schemas.microsoft.com/office/drawing/2014/main" id="{970E3B59-2D7D-5540-8D09-A5F26C8B80F4}"/>
                </a:ext>
              </a:extLst>
            </p:cNvPr>
            <p:cNvSpPr>
              <a:spLocks noChangeArrowheads="1"/>
            </p:cNvSpPr>
            <p:nvPr/>
          </p:nvSpPr>
          <p:spPr bwMode="auto">
            <a:xfrm rot="5400000">
              <a:off x="3215" y="2726"/>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19" name="Rectangle 30">
              <a:extLst>
                <a:ext uri="{FF2B5EF4-FFF2-40B4-BE49-F238E27FC236}">
                  <a16:creationId xmlns:a16="http://schemas.microsoft.com/office/drawing/2014/main" id="{1D337B57-A267-544F-BB19-F783085F23E1}"/>
                </a:ext>
              </a:extLst>
            </p:cNvPr>
            <p:cNvSpPr>
              <a:spLocks noChangeArrowheads="1"/>
            </p:cNvSpPr>
            <p:nvPr/>
          </p:nvSpPr>
          <p:spPr bwMode="auto">
            <a:xfrm>
              <a:off x="3425" y="2601"/>
              <a:ext cx="173" cy="26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20" name="Rectangle 31">
              <a:extLst>
                <a:ext uri="{FF2B5EF4-FFF2-40B4-BE49-F238E27FC236}">
                  <a16:creationId xmlns:a16="http://schemas.microsoft.com/office/drawing/2014/main" id="{BA4FC8D7-2EAD-F545-A594-708D466D1B74}"/>
                </a:ext>
              </a:extLst>
            </p:cNvPr>
            <p:cNvSpPr>
              <a:spLocks noChangeArrowheads="1"/>
            </p:cNvSpPr>
            <p:nvPr/>
          </p:nvSpPr>
          <p:spPr bwMode="auto">
            <a:xfrm>
              <a:off x="3425" y="2601"/>
              <a:ext cx="173" cy="260"/>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21" name="Rectangle 32">
              <a:extLst>
                <a:ext uri="{FF2B5EF4-FFF2-40B4-BE49-F238E27FC236}">
                  <a16:creationId xmlns:a16="http://schemas.microsoft.com/office/drawing/2014/main" id="{A58D15DD-F564-E14D-AE3F-E18CC6F3A2BD}"/>
                </a:ext>
              </a:extLst>
            </p:cNvPr>
            <p:cNvSpPr>
              <a:spLocks noChangeArrowheads="1"/>
            </p:cNvSpPr>
            <p:nvPr/>
          </p:nvSpPr>
          <p:spPr bwMode="auto">
            <a:xfrm rot="5400000">
              <a:off x="3485" y="2605"/>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22" name="Rectangle 33">
              <a:extLst>
                <a:ext uri="{FF2B5EF4-FFF2-40B4-BE49-F238E27FC236}">
                  <a16:creationId xmlns:a16="http://schemas.microsoft.com/office/drawing/2014/main" id="{5140AF8B-0E67-6940-A01D-A856F4743DBF}"/>
                </a:ext>
              </a:extLst>
            </p:cNvPr>
            <p:cNvSpPr>
              <a:spLocks noChangeArrowheads="1"/>
            </p:cNvSpPr>
            <p:nvPr/>
          </p:nvSpPr>
          <p:spPr bwMode="auto">
            <a:xfrm rot="5400000">
              <a:off x="3491" y="2661"/>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L</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23" name="Rectangle 34">
              <a:extLst>
                <a:ext uri="{FF2B5EF4-FFF2-40B4-BE49-F238E27FC236}">
                  <a16:creationId xmlns:a16="http://schemas.microsoft.com/office/drawing/2014/main" id="{3D243E21-49DE-BA43-ABEB-89BD54A7EC01}"/>
                </a:ext>
              </a:extLst>
            </p:cNvPr>
            <p:cNvSpPr>
              <a:spLocks noChangeArrowheads="1"/>
            </p:cNvSpPr>
            <p:nvPr/>
          </p:nvSpPr>
          <p:spPr bwMode="auto">
            <a:xfrm rot="5400000">
              <a:off x="3481" y="2726"/>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24" name="Rectangle 35">
              <a:extLst>
                <a:ext uri="{FF2B5EF4-FFF2-40B4-BE49-F238E27FC236}">
                  <a16:creationId xmlns:a16="http://schemas.microsoft.com/office/drawing/2014/main" id="{57BFFBE5-61B2-6641-B1A5-156344A6C7F5}"/>
                </a:ext>
              </a:extLst>
            </p:cNvPr>
            <p:cNvSpPr>
              <a:spLocks noChangeArrowheads="1"/>
            </p:cNvSpPr>
            <p:nvPr/>
          </p:nvSpPr>
          <p:spPr bwMode="auto">
            <a:xfrm>
              <a:off x="3944" y="2601"/>
              <a:ext cx="173" cy="26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25" name="Rectangle 36">
              <a:extLst>
                <a:ext uri="{FF2B5EF4-FFF2-40B4-BE49-F238E27FC236}">
                  <a16:creationId xmlns:a16="http://schemas.microsoft.com/office/drawing/2014/main" id="{B856395B-E110-F747-A137-8F76B2CF5B65}"/>
                </a:ext>
              </a:extLst>
            </p:cNvPr>
            <p:cNvSpPr>
              <a:spLocks noChangeArrowheads="1"/>
            </p:cNvSpPr>
            <p:nvPr/>
          </p:nvSpPr>
          <p:spPr bwMode="auto">
            <a:xfrm>
              <a:off x="3944" y="2601"/>
              <a:ext cx="173" cy="260"/>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26" name="Rectangle 37">
              <a:extLst>
                <a:ext uri="{FF2B5EF4-FFF2-40B4-BE49-F238E27FC236}">
                  <a16:creationId xmlns:a16="http://schemas.microsoft.com/office/drawing/2014/main" id="{E88CF8EB-5829-1A47-9583-AF6C300B17E8}"/>
                </a:ext>
              </a:extLst>
            </p:cNvPr>
            <p:cNvSpPr>
              <a:spLocks noChangeArrowheads="1"/>
            </p:cNvSpPr>
            <p:nvPr/>
          </p:nvSpPr>
          <p:spPr bwMode="auto">
            <a:xfrm rot="5400000">
              <a:off x="4001" y="2605"/>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27" name="Rectangle 38">
              <a:extLst>
                <a:ext uri="{FF2B5EF4-FFF2-40B4-BE49-F238E27FC236}">
                  <a16:creationId xmlns:a16="http://schemas.microsoft.com/office/drawing/2014/main" id="{742C163C-ADB0-994D-8AD0-868E346EECC3}"/>
                </a:ext>
              </a:extLst>
            </p:cNvPr>
            <p:cNvSpPr>
              <a:spLocks noChangeArrowheads="1"/>
            </p:cNvSpPr>
            <p:nvPr/>
          </p:nvSpPr>
          <p:spPr bwMode="auto">
            <a:xfrm rot="5400000">
              <a:off x="4007" y="2661"/>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L</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28" name="Rectangle 39">
              <a:extLst>
                <a:ext uri="{FF2B5EF4-FFF2-40B4-BE49-F238E27FC236}">
                  <a16:creationId xmlns:a16="http://schemas.microsoft.com/office/drawing/2014/main" id="{9FE2840E-42A0-0E4F-8150-59D0848C4EEA}"/>
                </a:ext>
              </a:extLst>
            </p:cNvPr>
            <p:cNvSpPr>
              <a:spLocks noChangeArrowheads="1"/>
            </p:cNvSpPr>
            <p:nvPr/>
          </p:nvSpPr>
          <p:spPr bwMode="auto">
            <a:xfrm rot="5400000">
              <a:off x="3997" y="2726"/>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29" name="Line 40">
              <a:extLst>
                <a:ext uri="{FF2B5EF4-FFF2-40B4-BE49-F238E27FC236}">
                  <a16:creationId xmlns:a16="http://schemas.microsoft.com/office/drawing/2014/main" id="{6471AB7C-8396-494C-B272-D4AA9023348D}"/>
                </a:ext>
              </a:extLst>
            </p:cNvPr>
            <p:cNvSpPr>
              <a:spLocks noChangeShapeType="1"/>
            </p:cNvSpPr>
            <p:nvPr/>
          </p:nvSpPr>
          <p:spPr bwMode="auto">
            <a:xfrm>
              <a:off x="3252" y="2515"/>
              <a:ext cx="1" cy="39"/>
            </a:xfrm>
            <a:prstGeom prst="line">
              <a:avLst/>
            </a:prstGeom>
            <a:noFill/>
            <a:ln w="11113" cap="rnd">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30" name="Freeform 41">
              <a:extLst>
                <a:ext uri="{FF2B5EF4-FFF2-40B4-BE49-F238E27FC236}">
                  <a16:creationId xmlns:a16="http://schemas.microsoft.com/office/drawing/2014/main" id="{48E449FF-7534-D74E-B113-CD60ACF15378}"/>
                </a:ext>
              </a:extLst>
            </p:cNvPr>
            <p:cNvSpPr>
              <a:spLocks/>
            </p:cNvSpPr>
            <p:nvPr/>
          </p:nvSpPr>
          <p:spPr bwMode="auto">
            <a:xfrm>
              <a:off x="3221" y="2539"/>
              <a:ext cx="63" cy="62"/>
            </a:xfrm>
            <a:custGeom>
              <a:avLst/>
              <a:gdLst>
                <a:gd name="T0" fmla="*/ 0 w 143"/>
                <a:gd name="T1" fmla="*/ 0 h 143"/>
                <a:gd name="T2" fmla="*/ 0 w 143"/>
                <a:gd name="T3" fmla="*/ 0 h 143"/>
                <a:gd name="T4" fmla="*/ 0 w 143"/>
                <a:gd name="T5" fmla="*/ 0 h 143"/>
                <a:gd name="T6" fmla="*/ 0 w 143"/>
                <a:gd name="T7" fmla="*/ 0 h 143"/>
                <a:gd name="T8" fmla="*/ 0 60000 65536"/>
                <a:gd name="T9" fmla="*/ 0 60000 65536"/>
                <a:gd name="T10" fmla="*/ 0 60000 65536"/>
                <a:gd name="T11" fmla="*/ 0 60000 65536"/>
                <a:gd name="T12" fmla="*/ 0 w 143"/>
                <a:gd name="T13" fmla="*/ 0 h 143"/>
                <a:gd name="T14" fmla="*/ 143 w 143"/>
                <a:gd name="T15" fmla="*/ 143 h 143"/>
              </a:gdLst>
              <a:ahLst/>
              <a:cxnLst>
                <a:cxn ang="T8">
                  <a:pos x="T0" y="T1"/>
                </a:cxn>
                <a:cxn ang="T9">
                  <a:pos x="T2" y="T3"/>
                </a:cxn>
                <a:cxn ang="T10">
                  <a:pos x="T4" y="T5"/>
                </a:cxn>
                <a:cxn ang="T11">
                  <a:pos x="T6" y="T7"/>
                </a:cxn>
              </a:cxnLst>
              <a:rect l="T12" t="T13" r="T14" b="T15"/>
              <a:pathLst>
                <a:path w="143" h="143">
                  <a:moveTo>
                    <a:pt x="71" y="143"/>
                  </a:moveTo>
                  <a:lnTo>
                    <a:pt x="0" y="0"/>
                  </a:lnTo>
                  <a:cubicBezTo>
                    <a:pt x="45" y="22"/>
                    <a:pt x="98" y="22"/>
                    <a:pt x="143" y="0"/>
                  </a:cubicBezTo>
                  <a:lnTo>
                    <a:pt x="71" y="143"/>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31" name="Line 42">
              <a:extLst>
                <a:ext uri="{FF2B5EF4-FFF2-40B4-BE49-F238E27FC236}">
                  <a16:creationId xmlns:a16="http://schemas.microsoft.com/office/drawing/2014/main" id="{D7A0697C-5A55-C545-AD5C-1567BAC56717}"/>
                </a:ext>
              </a:extLst>
            </p:cNvPr>
            <p:cNvSpPr>
              <a:spLocks noChangeShapeType="1"/>
            </p:cNvSpPr>
            <p:nvPr/>
          </p:nvSpPr>
          <p:spPr bwMode="auto">
            <a:xfrm>
              <a:off x="3512" y="2515"/>
              <a:ext cx="1" cy="39"/>
            </a:xfrm>
            <a:prstGeom prst="line">
              <a:avLst/>
            </a:prstGeom>
            <a:noFill/>
            <a:ln w="11113" cap="rnd">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32" name="Freeform 43">
              <a:extLst>
                <a:ext uri="{FF2B5EF4-FFF2-40B4-BE49-F238E27FC236}">
                  <a16:creationId xmlns:a16="http://schemas.microsoft.com/office/drawing/2014/main" id="{CD0777B5-9186-2748-A941-62F0DDDCF90A}"/>
                </a:ext>
              </a:extLst>
            </p:cNvPr>
            <p:cNvSpPr>
              <a:spLocks/>
            </p:cNvSpPr>
            <p:nvPr/>
          </p:nvSpPr>
          <p:spPr bwMode="auto">
            <a:xfrm>
              <a:off x="3481" y="2539"/>
              <a:ext cx="62" cy="62"/>
            </a:xfrm>
            <a:custGeom>
              <a:avLst/>
              <a:gdLst>
                <a:gd name="T0" fmla="*/ 0 w 142"/>
                <a:gd name="T1" fmla="*/ 0 h 143"/>
                <a:gd name="T2" fmla="*/ 0 w 142"/>
                <a:gd name="T3" fmla="*/ 0 h 143"/>
                <a:gd name="T4" fmla="*/ 0 w 142"/>
                <a:gd name="T5" fmla="*/ 0 h 143"/>
                <a:gd name="T6" fmla="*/ 0 w 142"/>
                <a:gd name="T7" fmla="*/ 0 h 143"/>
                <a:gd name="T8" fmla="*/ 0 60000 65536"/>
                <a:gd name="T9" fmla="*/ 0 60000 65536"/>
                <a:gd name="T10" fmla="*/ 0 60000 65536"/>
                <a:gd name="T11" fmla="*/ 0 60000 65536"/>
                <a:gd name="T12" fmla="*/ 0 w 142"/>
                <a:gd name="T13" fmla="*/ 0 h 143"/>
                <a:gd name="T14" fmla="*/ 142 w 142"/>
                <a:gd name="T15" fmla="*/ 143 h 143"/>
              </a:gdLst>
              <a:ahLst/>
              <a:cxnLst>
                <a:cxn ang="T8">
                  <a:pos x="T0" y="T1"/>
                </a:cxn>
                <a:cxn ang="T9">
                  <a:pos x="T2" y="T3"/>
                </a:cxn>
                <a:cxn ang="T10">
                  <a:pos x="T4" y="T5"/>
                </a:cxn>
                <a:cxn ang="T11">
                  <a:pos x="T6" y="T7"/>
                </a:cxn>
              </a:cxnLst>
              <a:rect l="T12" t="T13" r="T14" b="T15"/>
              <a:pathLst>
                <a:path w="142" h="143">
                  <a:moveTo>
                    <a:pt x="71" y="143"/>
                  </a:moveTo>
                  <a:lnTo>
                    <a:pt x="0" y="0"/>
                  </a:lnTo>
                  <a:cubicBezTo>
                    <a:pt x="44" y="22"/>
                    <a:pt x="97" y="22"/>
                    <a:pt x="142" y="0"/>
                  </a:cubicBezTo>
                  <a:lnTo>
                    <a:pt x="71" y="143"/>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33" name="Line 44">
              <a:extLst>
                <a:ext uri="{FF2B5EF4-FFF2-40B4-BE49-F238E27FC236}">
                  <a16:creationId xmlns:a16="http://schemas.microsoft.com/office/drawing/2014/main" id="{8A15098D-EBE9-8B40-A200-241A02059128}"/>
                </a:ext>
              </a:extLst>
            </p:cNvPr>
            <p:cNvSpPr>
              <a:spLocks noChangeShapeType="1"/>
            </p:cNvSpPr>
            <p:nvPr/>
          </p:nvSpPr>
          <p:spPr bwMode="auto">
            <a:xfrm>
              <a:off x="4030" y="2515"/>
              <a:ext cx="1" cy="39"/>
            </a:xfrm>
            <a:prstGeom prst="line">
              <a:avLst/>
            </a:prstGeom>
            <a:noFill/>
            <a:ln w="11113" cap="rnd">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34" name="Freeform 45">
              <a:extLst>
                <a:ext uri="{FF2B5EF4-FFF2-40B4-BE49-F238E27FC236}">
                  <a16:creationId xmlns:a16="http://schemas.microsoft.com/office/drawing/2014/main" id="{FEF6BC78-6003-DD45-B657-60381EEFA08F}"/>
                </a:ext>
              </a:extLst>
            </p:cNvPr>
            <p:cNvSpPr>
              <a:spLocks/>
            </p:cNvSpPr>
            <p:nvPr/>
          </p:nvSpPr>
          <p:spPr bwMode="auto">
            <a:xfrm>
              <a:off x="3999" y="2539"/>
              <a:ext cx="63" cy="62"/>
            </a:xfrm>
            <a:custGeom>
              <a:avLst/>
              <a:gdLst>
                <a:gd name="T0" fmla="*/ 0 w 143"/>
                <a:gd name="T1" fmla="*/ 0 h 143"/>
                <a:gd name="T2" fmla="*/ 0 w 143"/>
                <a:gd name="T3" fmla="*/ 0 h 143"/>
                <a:gd name="T4" fmla="*/ 0 w 143"/>
                <a:gd name="T5" fmla="*/ 0 h 143"/>
                <a:gd name="T6" fmla="*/ 0 w 143"/>
                <a:gd name="T7" fmla="*/ 0 h 143"/>
                <a:gd name="T8" fmla="*/ 0 60000 65536"/>
                <a:gd name="T9" fmla="*/ 0 60000 65536"/>
                <a:gd name="T10" fmla="*/ 0 60000 65536"/>
                <a:gd name="T11" fmla="*/ 0 60000 65536"/>
                <a:gd name="T12" fmla="*/ 0 w 143"/>
                <a:gd name="T13" fmla="*/ 0 h 143"/>
                <a:gd name="T14" fmla="*/ 143 w 143"/>
                <a:gd name="T15" fmla="*/ 143 h 143"/>
              </a:gdLst>
              <a:ahLst/>
              <a:cxnLst>
                <a:cxn ang="T8">
                  <a:pos x="T0" y="T1"/>
                </a:cxn>
                <a:cxn ang="T9">
                  <a:pos x="T2" y="T3"/>
                </a:cxn>
                <a:cxn ang="T10">
                  <a:pos x="T4" y="T5"/>
                </a:cxn>
                <a:cxn ang="T11">
                  <a:pos x="T6" y="T7"/>
                </a:cxn>
              </a:cxnLst>
              <a:rect l="T12" t="T13" r="T14" b="T15"/>
              <a:pathLst>
                <a:path w="143" h="143">
                  <a:moveTo>
                    <a:pt x="71" y="143"/>
                  </a:moveTo>
                  <a:lnTo>
                    <a:pt x="0" y="0"/>
                  </a:lnTo>
                  <a:cubicBezTo>
                    <a:pt x="45" y="22"/>
                    <a:pt x="98" y="22"/>
                    <a:pt x="143" y="0"/>
                  </a:cubicBezTo>
                  <a:lnTo>
                    <a:pt x="71" y="143"/>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35" name="Line 46">
              <a:extLst>
                <a:ext uri="{FF2B5EF4-FFF2-40B4-BE49-F238E27FC236}">
                  <a16:creationId xmlns:a16="http://schemas.microsoft.com/office/drawing/2014/main" id="{7A4FA6A2-04BD-D541-A4F8-2E395A5E0913}"/>
                </a:ext>
              </a:extLst>
            </p:cNvPr>
            <p:cNvSpPr>
              <a:spLocks noChangeShapeType="1"/>
            </p:cNvSpPr>
            <p:nvPr/>
          </p:nvSpPr>
          <p:spPr bwMode="auto">
            <a:xfrm>
              <a:off x="3252" y="2168"/>
              <a:ext cx="1" cy="39"/>
            </a:xfrm>
            <a:prstGeom prst="line">
              <a:avLst/>
            </a:prstGeom>
            <a:noFill/>
            <a:ln w="11113" cap="rnd">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36" name="Freeform 47">
              <a:extLst>
                <a:ext uri="{FF2B5EF4-FFF2-40B4-BE49-F238E27FC236}">
                  <a16:creationId xmlns:a16="http://schemas.microsoft.com/office/drawing/2014/main" id="{4510C343-DA6B-9445-BBC0-0B0086CA858B}"/>
                </a:ext>
              </a:extLst>
            </p:cNvPr>
            <p:cNvSpPr>
              <a:spLocks/>
            </p:cNvSpPr>
            <p:nvPr/>
          </p:nvSpPr>
          <p:spPr bwMode="auto">
            <a:xfrm>
              <a:off x="3221" y="2192"/>
              <a:ext cx="63" cy="63"/>
            </a:xfrm>
            <a:custGeom>
              <a:avLst/>
              <a:gdLst>
                <a:gd name="T0" fmla="*/ 0 w 143"/>
                <a:gd name="T1" fmla="*/ 0 h 143"/>
                <a:gd name="T2" fmla="*/ 0 w 143"/>
                <a:gd name="T3" fmla="*/ 0 h 143"/>
                <a:gd name="T4" fmla="*/ 0 w 143"/>
                <a:gd name="T5" fmla="*/ 0 h 143"/>
                <a:gd name="T6" fmla="*/ 0 w 143"/>
                <a:gd name="T7" fmla="*/ 0 h 143"/>
                <a:gd name="T8" fmla="*/ 0 60000 65536"/>
                <a:gd name="T9" fmla="*/ 0 60000 65536"/>
                <a:gd name="T10" fmla="*/ 0 60000 65536"/>
                <a:gd name="T11" fmla="*/ 0 60000 65536"/>
                <a:gd name="T12" fmla="*/ 0 w 143"/>
                <a:gd name="T13" fmla="*/ 0 h 143"/>
                <a:gd name="T14" fmla="*/ 143 w 143"/>
                <a:gd name="T15" fmla="*/ 143 h 143"/>
              </a:gdLst>
              <a:ahLst/>
              <a:cxnLst>
                <a:cxn ang="T8">
                  <a:pos x="T0" y="T1"/>
                </a:cxn>
                <a:cxn ang="T9">
                  <a:pos x="T2" y="T3"/>
                </a:cxn>
                <a:cxn ang="T10">
                  <a:pos x="T4" y="T5"/>
                </a:cxn>
                <a:cxn ang="T11">
                  <a:pos x="T6" y="T7"/>
                </a:cxn>
              </a:cxnLst>
              <a:rect l="T12" t="T13" r="T14" b="T15"/>
              <a:pathLst>
                <a:path w="143" h="143">
                  <a:moveTo>
                    <a:pt x="71" y="143"/>
                  </a:moveTo>
                  <a:lnTo>
                    <a:pt x="0" y="0"/>
                  </a:lnTo>
                  <a:cubicBezTo>
                    <a:pt x="45" y="23"/>
                    <a:pt x="98" y="23"/>
                    <a:pt x="143" y="0"/>
                  </a:cubicBezTo>
                  <a:lnTo>
                    <a:pt x="71" y="143"/>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37" name="Line 48">
              <a:extLst>
                <a:ext uri="{FF2B5EF4-FFF2-40B4-BE49-F238E27FC236}">
                  <a16:creationId xmlns:a16="http://schemas.microsoft.com/office/drawing/2014/main" id="{D3B1643B-B778-EA49-860D-9217B6400EDD}"/>
                </a:ext>
              </a:extLst>
            </p:cNvPr>
            <p:cNvSpPr>
              <a:spLocks noChangeShapeType="1"/>
            </p:cNvSpPr>
            <p:nvPr/>
          </p:nvSpPr>
          <p:spPr bwMode="auto">
            <a:xfrm>
              <a:off x="3512" y="2168"/>
              <a:ext cx="1" cy="39"/>
            </a:xfrm>
            <a:prstGeom prst="line">
              <a:avLst/>
            </a:prstGeom>
            <a:noFill/>
            <a:ln w="11113" cap="rnd">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38" name="Freeform 49">
              <a:extLst>
                <a:ext uri="{FF2B5EF4-FFF2-40B4-BE49-F238E27FC236}">
                  <a16:creationId xmlns:a16="http://schemas.microsoft.com/office/drawing/2014/main" id="{040DB2EF-670C-6340-854E-3460ADFF8847}"/>
                </a:ext>
              </a:extLst>
            </p:cNvPr>
            <p:cNvSpPr>
              <a:spLocks/>
            </p:cNvSpPr>
            <p:nvPr/>
          </p:nvSpPr>
          <p:spPr bwMode="auto">
            <a:xfrm>
              <a:off x="3481" y="2192"/>
              <a:ext cx="62" cy="63"/>
            </a:xfrm>
            <a:custGeom>
              <a:avLst/>
              <a:gdLst>
                <a:gd name="T0" fmla="*/ 0 w 142"/>
                <a:gd name="T1" fmla="*/ 0 h 143"/>
                <a:gd name="T2" fmla="*/ 0 w 142"/>
                <a:gd name="T3" fmla="*/ 0 h 143"/>
                <a:gd name="T4" fmla="*/ 0 w 142"/>
                <a:gd name="T5" fmla="*/ 0 h 143"/>
                <a:gd name="T6" fmla="*/ 0 w 142"/>
                <a:gd name="T7" fmla="*/ 0 h 143"/>
                <a:gd name="T8" fmla="*/ 0 60000 65536"/>
                <a:gd name="T9" fmla="*/ 0 60000 65536"/>
                <a:gd name="T10" fmla="*/ 0 60000 65536"/>
                <a:gd name="T11" fmla="*/ 0 60000 65536"/>
                <a:gd name="T12" fmla="*/ 0 w 142"/>
                <a:gd name="T13" fmla="*/ 0 h 143"/>
                <a:gd name="T14" fmla="*/ 142 w 142"/>
                <a:gd name="T15" fmla="*/ 143 h 143"/>
              </a:gdLst>
              <a:ahLst/>
              <a:cxnLst>
                <a:cxn ang="T8">
                  <a:pos x="T0" y="T1"/>
                </a:cxn>
                <a:cxn ang="T9">
                  <a:pos x="T2" y="T3"/>
                </a:cxn>
                <a:cxn ang="T10">
                  <a:pos x="T4" y="T5"/>
                </a:cxn>
                <a:cxn ang="T11">
                  <a:pos x="T6" y="T7"/>
                </a:cxn>
              </a:cxnLst>
              <a:rect l="T12" t="T13" r="T14" b="T15"/>
              <a:pathLst>
                <a:path w="142" h="143">
                  <a:moveTo>
                    <a:pt x="71" y="143"/>
                  </a:moveTo>
                  <a:lnTo>
                    <a:pt x="0" y="0"/>
                  </a:lnTo>
                  <a:cubicBezTo>
                    <a:pt x="44" y="23"/>
                    <a:pt x="97" y="23"/>
                    <a:pt x="142" y="0"/>
                  </a:cubicBezTo>
                  <a:lnTo>
                    <a:pt x="71" y="143"/>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39" name="Line 50">
              <a:extLst>
                <a:ext uri="{FF2B5EF4-FFF2-40B4-BE49-F238E27FC236}">
                  <a16:creationId xmlns:a16="http://schemas.microsoft.com/office/drawing/2014/main" id="{4C37394A-0A31-5040-8F34-AC23DA5FFD62}"/>
                </a:ext>
              </a:extLst>
            </p:cNvPr>
            <p:cNvSpPr>
              <a:spLocks noChangeShapeType="1"/>
            </p:cNvSpPr>
            <p:nvPr/>
          </p:nvSpPr>
          <p:spPr bwMode="auto">
            <a:xfrm>
              <a:off x="4030" y="2168"/>
              <a:ext cx="1" cy="39"/>
            </a:xfrm>
            <a:prstGeom prst="line">
              <a:avLst/>
            </a:prstGeom>
            <a:noFill/>
            <a:ln w="11113" cap="rnd">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40" name="Freeform 51">
              <a:extLst>
                <a:ext uri="{FF2B5EF4-FFF2-40B4-BE49-F238E27FC236}">
                  <a16:creationId xmlns:a16="http://schemas.microsoft.com/office/drawing/2014/main" id="{9AAF1A53-AE7E-3144-A07B-7131E4560805}"/>
                </a:ext>
              </a:extLst>
            </p:cNvPr>
            <p:cNvSpPr>
              <a:spLocks/>
            </p:cNvSpPr>
            <p:nvPr/>
          </p:nvSpPr>
          <p:spPr bwMode="auto">
            <a:xfrm>
              <a:off x="3999" y="2192"/>
              <a:ext cx="63" cy="63"/>
            </a:xfrm>
            <a:custGeom>
              <a:avLst/>
              <a:gdLst>
                <a:gd name="T0" fmla="*/ 0 w 143"/>
                <a:gd name="T1" fmla="*/ 0 h 143"/>
                <a:gd name="T2" fmla="*/ 0 w 143"/>
                <a:gd name="T3" fmla="*/ 0 h 143"/>
                <a:gd name="T4" fmla="*/ 0 w 143"/>
                <a:gd name="T5" fmla="*/ 0 h 143"/>
                <a:gd name="T6" fmla="*/ 0 w 143"/>
                <a:gd name="T7" fmla="*/ 0 h 143"/>
                <a:gd name="T8" fmla="*/ 0 60000 65536"/>
                <a:gd name="T9" fmla="*/ 0 60000 65536"/>
                <a:gd name="T10" fmla="*/ 0 60000 65536"/>
                <a:gd name="T11" fmla="*/ 0 60000 65536"/>
                <a:gd name="T12" fmla="*/ 0 w 143"/>
                <a:gd name="T13" fmla="*/ 0 h 143"/>
                <a:gd name="T14" fmla="*/ 143 w 143"/>
                <a:gd name="T15" fmla="*/ 143 h 143"/>
              </a:gdLst>
              <a:ahLst/>
              <a:cxnLst>
                <a:cxn ang="T8">
                  <a:pos x="T0" y="T1"/>
                </a:cxn>
                <a:cxn ang="T9">
                  <a:pos x="T2" y="T3"/>
                </a:cxn>
                <a:cxn ang="T10">
                  <a:pos x="T4" y="T5"/>
                </a:cxn>
                <a:cxn ang="T11">
                  <a:pos x="T6" y="T7"/>
                </a:cxn>
              </a:cxnLst>
              <a:rect l="T12" t="T13" r="T14" b="T15"/>
              <a:pathLst>
                <a:path w="143" h="143">
                  <a:moveTo>
                    <a:pt x="71" y="143"/>
                  </a:moveTo>
                  <a:lnTo>
                    <a:pt x="0" y="0"/>
                  </a:lnTo>
                  <a:cubicBezTo>
                    <a:pt x="45" y="23"/>
                    <a:pt x="98" y="23"/>
                    <a:pt x="143" y="0"/>
                  </a:cubicBezTo>
                  <a:lnTo>
                    <a:pt x="71" y="143"/>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41" name="Rectangle 52">
              <a:extLst>
                <a:ext uri="{FF2B5EF4-FFF2-40B4-BE49-F238E27FC236}">
                  <a16:creationId xmlns:a16="http://schemas.microsoft.com/office/drawing/2014/main" id="{65DFCE4B-5EFE-8E49-B1C7-EB45011E093F}"/>
                </a:ext>
              </a:extLst>
            </p:cNvPr>
            <p:cNvSpPr>
              <a:spLocks noChangeArrowheads="1"/>
            </p:cNvSpPr>
            <p:nvPr/>
          </p:nvSpPr>
          <p:spPr bwMode="auto">
            <a:xfrm>
              <a:off x="3166" y="2948"/>
              <a:ext cx="951" cy="13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42" name="Rectangle 53">
              <a:extLst>
                <a:ext uri="{FF2B5EF4-FFF2-40B4-BE49-F238E27FC236}">
                  <a16:creationId xmlns:a16="http://schemas.microsoft.com/office/drawing/2014/main" id="{078AE8CA-F2DC-2749-AD75-F3F4856F1E53}"/>
                </a:ext>
              </a:extLst>
            </p:cNvPr>
            <p:cNvSpPr>
              <a:spLocks noChangeArrowheads="1"/>
            </p:cNvSpPr>
            <p:nvPr/>
          </p:nvSpPr>
          <p:spPr bwMode="auto">
            <a:xfrm>
              <a:off x="3166" y="2948"/>
              <a:ext cx="951" cy="130"/>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43" name="Rectangle 54">
              <a:extLst>
                <a:ext uri="{FF2B5EF4-FFF2-40B4-BE49-F238E27FC236}">
                  <a16:creationId xmlns:a16="http://schemas.microsoft.com/office/drawing/2014/main" id="{70E809A1-9691-9846-BA10-3B9E72C49FE4}"/>
                </a:ext>
              </a:extLst>
            </p:cNvPr>
            <p:cNvSpPr>
              <a:spLocks noChangeArrowheads="1"/>
            </p:cNvSpPr>
            <p:nvPr/>
          </p:nvSpPr>
          <p:spPr bwMode="auto">
            <a:xfrm>
              <a:off x="3416" y="2942"/>
              <a:ext cx="4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D-Cache</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44" name="Line 55">
              <a:extLst>
                <a:ext uri="{FF2B5EF4-FFF2-40B4-BE49-F238E27FC236}">
                  <a16:creationId xmlns:a16="http://schemas.microsoft.com/office/drawing/2014/main" id="{C3BF36DA-A331-5E4E-B599-7F5847F591D1}"/>
                </a:ext>
              </a:extLst>
            </p:cNvPr>
            <p:cNvSpPr>
              <a:spLocks noChangeShapeType="1"/>
            </p:cNvSpPr>
            <p:nvPr/>
          </p:nvSpPr>
          <p:spPr bwMode="auto">
            <a:xfrm>
              <a:off x="3252" y="2861"/>
              <a:ext cx="1" cy="40"/>
            </a:xfrm>
            <a:prstGeom prst="line">
              <a:avLst/>
            </a:prstGeom>
            <a:noFill/>
            <a:ln w="11113" cap="rnd">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45" name="Freeform 56">
              <a:extLst>
                <a:ext uri="{FF2B5EF4-FFF2-40B4-BE49-F238E27FC236}">
                  <a16:creationId xmlns:a16="http://schemas.microsoft.com/office/drawing/2014/main" id="{B313FE38-7C1B-594A-A274-F9BFA572FD74}"/>
                </a:ext>
              </a:extLst>
            </p:cNvPr>
            <p:cNvSpPr>
              <a:spLocks/>
            </p:cNvSpPr>
            <p:nvPr/>
          </p:nvSpPr>
          <p:spPr bwMode="auto">
            <a:xfrm>
              <a:off x="3221" y="2886"/>
              <a:ext cx="63" cy="62"/>
            </a:xfrm>
            <a:custGeom>
              <a:avLst/>
              <a:gdLst>
                <a:gd name="T0" fmla="*/ 0 w 143"/>
                <a:gd name="T1" fmla="*/ 0 h 143"/>
                <a:gd name="T2" fmla="*/ 0 w 143"/>
                <a:gd name="T3" fmla="*/ 0 h 143"/>
                <a:gd name="T4" fmla="*/ 0 w 143"/>
                <a:gd name="T5" fmla="*/ 0 h 143"/>
                <a:gd name="T6" fmla="*/ 0 w 143"/>
                <a:gd name="T7" fmla="*/ 0 h 143"/>
                <a:gd name="T8" fmla="*/ 0 w 143"/>
                <a:gd name="T9" fmla="*/ 0 h 143"/>
                <a:gd name="T10" fmla="*/ 0 60000 65536"/>
                <a:gd name="T11" fmla="*/ 0 60000 65536"/>
                <a:gd name="T12" fmla="*/ 0 60000 65536"/>
                <a:gd name="T13" fmla="*/ 0 60000 65536"/>
                <a:gd name="T14" fmla="*/ 0 60000 65536"/>
                <a:gd name="T15" fmla="*/ 0 w 143"/>
                <a:gd name="T16" fmla="*/ 0 h 143"/>
                <a:gd name="T17" fmla="*/ 143 w 143"/>
                <a:gd name="T18" fmla="*/ 143 h 143"/>
              </a:gdLst>
              <a:ahLst/>
              <a:cxnLst>
                <a:cxn ang="T10">
                  <a:pos x="T0" y="T1"/>
                </a:cxn>
                <a:cxn ang="T11">
                  <a:pos x="T2" y="T3"/>
                </a:cxn>
                <a:cxn ang="T12">
                  <a:pos x="T4" y="T5"/>
                </a:cxn>
                <a:cxn ang="T13">
                  <a:pos x="T6" y="T7"/>
                </a:cxn>
                <a:cxn ang="T14">
                  <a:pos x="T8" y="T9"/>
                </a:cxn>
              </a:cxnLst>
              <a:rect l="T15" t="T16" r="T17" b="T18"/>
              <a:pathLst>
                <a:path w="143" h="143">
                  <a:moveTo>
                    <a:pt x="71" y="143"/>
                  </a:moveTo>
                  <a:lnTo>
                    <a:pt x="0" y="0"/>
                  </a:lnTo>
                  <a:cubicBezTo>
                    <a:pt x="45" y="22"/>
                    <a:pt x="98" y="22"/>
                    <a:pt x="143" y="0"/>
                  </a:cubicBezTo>
                  <a:lnTo>
                    <a:pt x="71" y="143"/>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46" name="Line 57">
              <a:extLst>
                <a:ext uri="{FF2B5EF4-FFF2-40B4-BE49-F238E27FC236}">
                  <a16:creationId xmlns:a16="http://schemas.microsoft.com/office/drawing/2014/main" id="{A6B979C8-30EA-8340-BB45-56B5B059ACFE}"/>
                </a:ext>
              </a:extLst>
            </p:cNvPr>
            <p:cNvSpPr>
              <a:spLocks noChangeShapeType="1"/>
            </p:cNvSpPr>
            <p:nvPr/>
          </p:nvSpPr>
          <p:spPr bwMode="auto">
            <a:xfrm>
              <a:off x="3512" y="2861"/>
              <a:ext cx="1" cy="40"/>
            </a:xfrm>
            <a:prstGeom prst="line">
              <a:avLst/>
            </a:prstGeom>
            <a:noFill/>
            <a:ln w="11113" cap="rnd">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47" name="Freeform 58">
              <a:extLst>
                <a:ext uri="{FF2B5EF4-FFF2-40B4-BE49-F238E27FC236}">
                  <a16:creationId xmlns:a16="http://schemas.microsoft.com/office/drawing/2014/main" id="{5192BEE4-5F3D-EA4F-B1C8-21EDDB9A9D8C}"/>
                </a:ext>
              </a:extLst>
            </p:cNvPr>
            <p:cNvSpPr>
              <a:spLocks/>
            </p:cNvSpPr>
            <p:nvPr/>
          </p:nvSpPr>
          <p:spPr bwMode="auto">
            <a:xfrm>
              <a:off x="3481" y="2886"/>
              <a:ext cx="62" cy="62"/>
            </a:xfrm>
            <a:custGeom>
              <a:avLst/>
              <a:gdLst>
                <a:gd name="T0" fmla="*/ 0 w 142"/>
                <a:gd name="T1" fmla="*/ 0 h 143"/>
                <a:gd name="T2" fmla="*/ 0 w 142"/>
                <a:gd name="T3" fmla="*/ 0 h 143"/>
                <a:gd name="T4" fmla="*/ 0 w 142"/>
                <a:gd name="T5" fmla="*/ 0 h 143"/>
                <a:gd name="T6" fmla="*/ 0 w 142"/>
                <a:gd name="T7" fmla="*/ 0 h 143"/>
                <a:gd name="T8" fmla="*/ 0 w 142"/>
                <a:gd name="T9" fmla="*/ 0 h 143"/>
                <a:gd name="T10" fmla="*/ 0 60000 65536"/>
                <a:gd name="T11" fmla="*/ 0 60000 65536"/>
                <a:gd name="T12" fmla="*/ 0 60000 65536"/>
                <a:gd name="T13" fmla="*/ 0 60000 65536"/>
                <a:gd name="T14" fmla="*/ 0 60000 65536"/>
                <a:gd name="T15" fmla="*/ 0 w 142"/>
                <a:gd name="T16" fmla="*/ 0 h 143"/>
                <a:gd name="T17" fmla="*/ 142 w 142"/>
                <a:gd name="T18" fmla="*/ 143 h 143"/>
              </a:gdLst>
              <a:ahLst/>
              <a:cxnLst>
                <a:cxn ang="T10">
                  <a:pos x="T0" y="T1"/>
                </a:cxn>
                <a:cxn ang="T11">
                  <a:pos x="T2" y="T3"/>
                </a:cxn>
                <a:cxn ang="T12">
                  <a:pos x="T4" y="T5"/>
                </a:cxn>
                <a:cxn ang="T13">
                  <a:pos x="T6" y="T7"/>
                </a:cxn>
                <a:cxn ang="T14">
                  <a:pos x="T8" y="T9"/>
                </a:cxn>
              </a:cxnLst>
              <a:rect l="T15" t="T16" r="T17" b="T18"/>
              <a:pathLst>
                <a:path w="142" h="143">
                  <a:moveTo>
                    <a:pt x="71" y="143"/>
                  </a:moveTo>
                  <a:lnTo>
                    <a:pt x="0" y="0"/>
                  </a:lnTo>
                  <a:cubicBezTo>
                    <a:pt x="44" y="22"/>
                    <a:pt x="97" y="22"/>
                    <a:pt x="142" y="0"/>
                  </a:cubicBezTo>
                  <a:lnTo>
                    <a:pt x="71" y="143"/>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48" name="Line 59">
              <a:extLst>
                <a:ext uri="{FF2B5EF4-FFF2-40B4-BE49-F238E27FC236}">
                  <a16:creationId xmlns:a16="http://schemas.microsoft.com/office/drawing/2014/main" id="{ABB6A684-E5E3-E649-80CC-03A98597C2FA}"/>
                </a:ext>
              </a:extLst>
            </p:cNvPr>
            <p:cNvSpPr>
              <a:spLocks noChangeShapeType="1"/>
            </p:cNvSpPr>
            <p:nvPr/>
          </p:nvSpPr>
          <p:spPr bwMode="auto">
            <a:xfrm>
              <a:off x="4030" y="2861"/>
              <a:ext cx="1" cy="40"/>
            </a:xfrm>
            <a:prstGeom prst="line">
              <a:avLst/>
            </a:prstGeom>
            <a:noFill/>
            <a:ln w="11113" cap="rnd">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49" name="Freeform 60">
              <a:extLst>
                <a:ext uri="{FF2B5EF4-FFF2-40B4-BE49-F238E27FC236}">
                  <a16:creationId xmlns:a16="http://schemas.microsoft.com/office/drawing/2014/main" id="{D1196B3D-94F4-0C45-9166-DC51E5383B00}"/>
                </a:ext>
              </a:extLst>
            </p:cNvPr>
            <p:cNvSpPr>
              <a:spLocks/>
            </p:cNvSpPr>
            <p:nvPr/>
          </p:nvSpPr>
          <p:spPr bwMode="auto">
            <a:xfrm>
              <a:off x="3999" y="2886"/>
              <a:ext cx="63" cy="62"/>
            </a:xfrm>
            <a:custGeom>
              <a:avLst/>
              <a:gdLst>
                <a:gd name="T0" fmla="*/ 0 w 143"/>
                <a:gd name="T1" fmla="*/ 0 h 143"/>
                <a:gd name="T2" fmla="*/ 0 w 143"/>
                <a:gd name="T3" fmla="*/ 0 h 143"/>
                <a:gd name="T4" fmla="*/ 0 w 143"/>
                <a:gd name="T5" fmla="*/ 0 h 143"/>
                <a:gd name="T6" fmla="*/ 0 w 143"/>
                <a:gd name="T7" fmla="*/ 0 h 143"/>
                <a:gd name="T8" fmla="*/ 0 w 143"/>
                <a:gd name="T9" fmla="*/ 0 h 143"/>
                <a:gd name="T10" fmla="*/ 0 60000 65536"/>
                <a:gd name="T11" fmla="*/ 0 60000 65536"/>
                <a:gd name="T12" fmla="*/ 0 60000 65536"/>
                <a:gd name="T13" fmla="*/ 0 60000 65536"/>
                <a:gd name="T14" fmla="*/ 0 60000 65536"/>
                <a:gd name="T15" fmla="*/ 0 w 143"/>
                <a:gd name="T16" fmla="*/ 0 h 143"/>
                <a:gd name="T17" fmla="*/ 143 w 143"/>
                <a:gd name="T18" fmla="*/ 143 h 143"/>
              </a:gdLst>
              <a:ahLst/>
              <a:cxnLst>
                <a:cxn ang="T10">
                  <a:pos x="T0" y="T1"/>
                </a:cxn>
                <a:cxn ang="T11">
                  <a:pos x="T2" y="T3"/>
                </a:cxn>
                <a:cxn ang="T12">
                  <a:pos x="T4" y="T5"/>
                </a:cxn>
                <a:cxn ang="T13">
                  <a:pos x="T6" y="T7"/>
                </a:cxn>
                <a:cxn ang="T14">
                  <a:pos x="T8" y="T9"/>
                </a:cxn>
              </a:cxnLst>
              <a:rect l="T15" t="T16" r="T17" b="T18"/>
              <a:pathLst>
                <a:path w="143" h="143">
                  <a:moveTo>
                    <a:pt x="71" y="143"/>
                  </a:moveTo>
                  <a:lnTo>
                    <a:pt x="0" y="0"/>
                  </a:lnTo>
                  <a:cubicBezTo>
                    <a:pt x="45" y="22"/>
                    <a:pt x="98" y="22"/>
                    <a:pt x="143" y="0"/>
                  </a:cubicBezTo>
                  <a:lnTo>
                    <a:pt x="71" y="143"/>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50" name="Freeform 61">
              <a:extLst>
                <a:ext uri="{FF2B5EF4-FFF2-40B4-BE49-F238E27FC236}">
                  <a16:creationId xmlns:a16="http://schemas.microsoft.com/office/drawing/2014/main" id="{7B2663F1-BC02-8D45-A4B9-826C12870CBD}"/>
                </a:ext>
              </a:extLst>
            </p:cNvPr>
            <p:cNvSpPr>
              <a:spLocks/>
            </p:cNvSpPr>
            <p:nvPr/>
          </p:nvSpPr>
          <p:spPr bwMode="auto">
            <a:xfrm>
              <a:off x="3339" y="3294"/>
              <a:ext cx="605" cy="87"/>
            </a:xfrm>
            <a:custGeom>
              <a:avLst/>
              <a:gdLst>
                <a:gd name="T0" fmla="*/ 0 w 605"/>
                <a:gd name="T1" fmla="*/ 0 h 87"/>
                <a:gd name="T2" fmla="*/ 605 w 605"/>
                <a:gd name="T3" fmla="*/ 0 h 87"/>
                <a:gd name="T4" fmla="*/ 504 w 605"/>
                <a:gd name="T5" fmla="*/ 87 h 87"/>
                <a:gd name="T6" fmla="*/ 101 w 605"/>
                <a:gd name="T7" fmla="*/ 87 h 87"/>
                <a:gd name="T8" fmla="*/ 0 w 605"/>
                <a:gd name="T9" fmla="*/ 0 h 87"/>
                <a:gd name="T10" fmla="*/ 0 60000 65536"/>
                <a:gd name="T11" fmla="*/ 0 60000 65536"/>
                <a:gd name="T12" fmla="*/ 0 60000 65536"/>
                <a:gd name="T13" fmla="*/ 0 60000 65536"/>
                <a:gd name="T14" fmla="*/ 0 60000 65536"/>
                <a:gd name="T15" fmla="*/ 0 w 605"/>
                <a:gd name="T16" fmla="*/ 0 h 87"/>
                <a:gd name="T17" fmla="*/ 605 w 605"/>
                <a:gd name="T18" fmla="*/ 87 h 87"/>
              </a:gdLst>
              <a:ahLst/>
              <a:cxnLst>
                <a:cxn ang="T10">
                  <a:pos x="T0" y="T1"/>
                </a:cxn>
                <a:cxn ang="T11">
                  <a:pos x="T2" y="T3"/>
                </a:cxn>
                <a:cxn ang="T12">
                  <a:pos x="T4" y="T5"/>
                </a:cxn>
                <a:cxn ang="T13">
                  <a:pos x="T6" y="T7"/>
                </a:cxn>
                <a:cxn ang="T14">
                  <a:pos x="T8" y="T9"/>
                </a:cxn>
              </a:cxnLst>
              <a:rect l="T15" t="T16" r="T17" b="T18"/>
              <a:pathLst>
                <a:path w="605" h="87">
                  <a:moveTo>
                    <a:pt x="0" y="0"/>
                  </a:moveTo>
                  <a:lnTo>
                    <a:pt x="605" y="0"/>
                  </a:lnTo>
                  <a:lnTo>
                    <a:pt x="504" y="87"/>
                  </a:lnTo>
                  <a:lnTo>
                    <a:pt x="101" y="87"/>
                  </a:lnTo>
                  <a:lnTo>
                    <a:pt x="0" y="0"/>
                  </a:lnTo>
                </a:path>
              </a:pathLst>
            </a:cu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51" name="Line 62">
              <a:extLst>
                <a:ext uri="{FF2B5EF4-FFF2-40B4-BE49-F238E27FC236}">
                  <a16:creationId xmlns:a16="http://schemas.microsoft.com/office/drawing/2014/main" id="{F36FD4F6-46AB-AD41-86DB-F3284E5C42A6}"/>
                </a:ext>
              </a:extLst>
            </p:cNvPr>
            <p:cNvSpPr>
              <a:spLocks noChangeShapeType="1"/>
            </p:cNvSpPr>
            <p:nvPr/>
          </p:nvSpPr>
          <p:spPr bwMode="auto">
            <a:xfrm>
              <a:off x="3641" y="3381"/>
              <a:ext cx="1" cy="39"/>
            </a:xfrm>
            <a:prstGeom prst="line">
              <a:avLst/>
            </a:prstGeom>
            <a:noFill/>
            <a:ln w="11113" cap="rnd">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52" name="Freeform 63">
              <a:extLst>
                <a:ext uri="{FF2B5EF4-FFF2-40B4-BE49-F238E27FC236}">
                  <a16:creationId xmlns:a16="http://schemas.microsoft.com/office/drawing/2014/main" id="{9276109E-0609-6F4F-ACD8-BF344578A451}"/>
                </a:ext>
              </a:extLst>
            </p:cNvPr>
            <p:cNvSpPr>
              <a:spLocks/>
            </p:cNvSpPr>
            <p:nvPr/>
          </p:nvSpPr>
          <p:spPr bwMode="auto">
            <a:xfrm>
              <a:off x="3610" y="3405"/>
              <a:ext cx="63" cy="63"/>
            </a:xfrm>
            <a:custGeom>
              <a:avLst/>
              <a:gdLst>
                <a:gd name="T0" fmla="*/ 0 w 143"/>
                <a:gd name="T1" fmla="*/ 0 h 143"/>
                <a:gd name="T2" fmla="*/ 0 w 143"/>
                <a:gd name="T3" fmla="*/ 0 h 143"/>
                <a:gd name="T4" fmla="*/ 0 w 143"/>
                <a:gd name="T5" fmla="*/ 0 h 143"/>
                <a:gd name="T6" fmla="*/ 0 w 143"/>
                <a:gd name="T7" fmla="*/ 0 h 143"/>
                <a:gd name="T8" fmla="*/ 0 60000 65536"/>
                <a:gd name="T9" fmla="*/ 0 60000 65536"/>
                <a:gd name="T10" fmla="*/ 0 60000 65536"/>
                <a:gd name="T11" fmla="*/ 0 60000 65536"/>
                <a:gd name="T12" fmla="*/ 0 w 143"/>
                <a:gd name="T13" fmla="*/ 0 h 143"/>
                <a:gd name="T14" fmla="*/ 143 w 143"/>
                <a:gd name="T15" fmla="*/ 143 h 143"/>
              </a:gdLst>
              <a:ahLst/>
              <a:cxnLst>
                <a:cxn ang="T8">
                  <a:pos x="T0" y="T1"/>
                </a:cxn>
                <a:cxn ang="T9">
                  <a:pos x="T2" y="T3"/>
                </a:cxn>
                <a:cxn ang="T10">
                  <a:pos x="T4" y="T5"/>
                </a:cxn>
                <a:cxn ang="T11">
                  <a:pos x="T6" y="T7"/>
                </a:cxn>
              </a:cxnLst>
              <a:rect l="T12" t="T13" r="T14" b="T15"/>
              <a:pathLst>
                <a:path w="143" h="143">
                  <a:moveTo>
                    <a:pt x="71" y="143"/>
                  </a:moveTo>
                  <a:lnTo>
                    <a:pt x="0" y="0"/>
                  </a:lnTo>
                  <a:cubicBezTo>
                    <a:pt x="45" y="23"/>
                    <a:pt x="98" y="23"/>
                    <a:pt x="143" y="0"/>
                  </a:cubicBezTo>
                  <a:lnTo>
                    <a:pt x="71" y="143"/>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53" name="Rectangle 64">
              <a:extLst>
                <a:ext uri="{FF2B5EF4-FFF2-40B4-BE49-F238E27FC236}">
                  <a16:creationId xmlns:a16="http://schemas.microsoft.com/office/drawing/2014/main" id="{2FDE6135-CA01-7741-802D-DB4C328F81AD}"/>
                </a:ext>
              </a:extLst>
            </p:cNvPr>
            <p:cNvSpPr>
              <a:spLocks noChangeArrowheads="1"/>
            </p:cNvSpPr>
            <p:nvPr/>
          </p:nvSpPr>
          <p:spPr bwMode="auto">
            <a:xfrm>
              <a:off x="4376" y="3403"/>
              <a:ext cx="952" cy="130"/>
            </a:xfrm>
            <a:prstGeom prst="rect">
              <a:avLst/>
            </a:prstGeom>
            <a:solidFill>
              <a:srgbClr val="BFD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54" name="Rectangle 65">
              <a:extLst>
                <a:ext uri="{FF2B5EF4-FFF2-40B4-BE49-F238E27FC236}">
                  <a16:creationId xmlns:a16="http://schemas.microsoft.com/office/drawing/2014/main" id="{C7A52106-BBDD-1247-A7C7-5FFCBAF5D326}"/>
                </a:ext>
              </a:extLst>
            </p:cNvPr>
            <p:cNvSpPr>
              <a:spLocks noChangeArrowheads="1"/>
            </p:cNvSpPr>
            <p:nvPr/>
          </p:nvSpPr>
          <p:spPr bwMode="auto">
            <a:xfrm>
              <a:off x="4376" y="3403"/>
              <a:ext cx="952" cy="130"/>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55" name="Rectangle 66">
              <a:extLst>
                <a:ext uri="{FF2B5EF4-FFF2-40B4-BE49-F238E27FC236}">
                  <a16:creationId xmlns:a16="http://schemas.microsoft.com/office/drawing/2014/main" id="{5DBFDCFD-920C-5A4F-B705-9B96A3754A1C}"/>
                </a:ext>
              </a:extLst>
            </p:cNvPr>
            <p:cNvSpPr>
              <a:spLocks noChangeArrowheads="1"/>
            </p:cNvSpPr>
            <p:nvPr/>
          </p:nvSpPr>
          <p:spPr bwMode="auto">
            <a:xfrm>
              <a:off x="4470" y="3396"/>
              <a:ext cx="80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Thread Warp 6</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56" name="Rectangle 67">
              <a:extLst>
                <a:ext uri="{FF2B5EF4-FFF2-40B4-BE49-F238E27FC236}">
                  <a16:creationId xmlns:a16="http://schemas.microsoft.com/office/drawing/2014/main" id="{966D3C63-B738-DD4D-AB41-14BAF226B1B6}"/>
                </a:ext>
              </a:extLst>
            </p:cNvPr>
            <p:cNvSpPr>
              <a:spLocks noChangeArrowheads="1"/>
            </p:cNvSpPr>
            <p:nvPr/>
          </p:nvSpPr>
          <p:spPr bwMode="auto">
            <a:xfrm>
              <a:off x="4376" y="2991"/>
              <a:ext cx="952" cy="130"/>
            </a:xfrm>
            <a:prstGeom prst="rect">
              <a:avLst/>
            </a:prstGeom>
            <a:solidFill>
              <a:srgbClr val="D5EA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57" name="Rectangle 68">
              <a:extLst>
                <a:ext uri="{FF2B5EF4-FFF2-40B4-BE49-F238E27FC236}">
                  <a16:creationId xmlns:a16="http://schemas.microsoft.com/office/drawing/2014/main" id="{A4208EFA-555E-764B-AE84-2D3B5A705FF0}"/>
                </a:ext>
              </a:extLst>
            </p:cNvPr>
            <p:cNvSpPr>
              <a:spLocks noChangeArrowheads="1"/>
            </p:cNvSpPr>
            <p:nvPr/>
          </p:nvSpPr>
          <p:spPr bwMode="auto">
            <a:xfrm>
              <a:off x="4376" y="2991"/>
              <a:ext cx="952" cy="130"/>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58" name="Rectangle 69">
              <a:extLst>
                <a:ext uri="{FF2B5EF4-FFF2-40B4-BE49-F238E27FC236}">
                  <a16:creationId xmlns:a16="http://schemas.microsoft.com/office/drawing/2014/main" id="{8E86F7AF-0165-FF4A-8F3D-DCAA068EEB1B}"/>
                </a:ext>
              </a:extLst>
            </p:cNvPr>
            <p:cNvSpPr>
              <a:spLocks noChangeArrowheads="1"/>
            </p:cNvSpPr>
            <p:nvPr/>
          </p:nvSpPr>
          <p:spPr bwMode="auto">
            <a:xfrm>
              <a:off x="4470" y="2984"/>
              <a:ext cx="80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Thread Warp 1</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59" name="Rectangle 70">
              <a:extLst>
                <a:ext uri="{FF2B5EF4-FFF2-40B4-BE49-F238E27FC236}">
                  <a16:creationId xmlns:a16="http://schemas.microsoft.com/office/drawing/2014/main" id="{CC6F9E5E-86FB-AE4C-BE00-78E24B35D58A}"/>
                </a:ext>
              </a:extLst>
            </p:cNvPr>
            <p:cNvSpPr>
              <a:spLocks noChangeArrowheads="1"/>
            </p:cNvSpPr>
            <p:nvPr/>
          </p:nvSpPr>
          <p:spPr bwMode="auto">
            <a:xfrm>
              <a:off x="4376" y="3121"/>
              <a:ext cx="952" cy="130"/>
            </a:xfrm>
            <a:prstGeom prst="rect">
              <a:avLst/>
            </a:prstGeom>
            <a:solidFill>
              <a:srgbClr val="EAF4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60" name="Rectangle 71">
              <a:extLst>
                <a:ext uri="{FF2B5EF4-FFF2-40B4-BE49-F238E27FC236}">
                  <a16:creationId xmlns:a16="http://schemas.microsoft.com/office/drawing/2014/main" id="{90E69AFD-A2F3-9C41-A16D-9DEFE28A1572}"/>
                </a:ext>
              </a:extLst>
            </p:cNvPr>
            <p:cNvSpPr>
              <a:spLocks noChangeArrowheads="1"/>
            </p:cNvSpPr>
            <p:nvPr/>
          </p:nvSpPr>
          <p:spPr bwMode="auto">
            <a:xfrm>
              <a:off x="4376" y="3121"/>
              <a:ext cx="952" cy="130"/>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61" name="Rectangle 72">
              <a:extLst>
                <a:ext uri="{FF2B5EF4-FFF2-40B4-BE49-F238E27FC236}">
                  <a16:creationId xmlns:a16="http://schemas.microsoft.com/office/drawing/2014/main" id="{17C1D3E4-C60E-6948-A778-5EBDA3FF1E5B}"/>
                </a:ext>
              </a:extLst>
            </p:cNvPr>
            <p:cNvSpPr>
              <a:spLocks noChangeArrowheads="1"/>
            </p:cNvSpPr>
            <p:nvPr/>
          </p:nvSpPr>
          <p:spPr bwMode="auto">
            <a:xfrm>
              <a:off x="4470" y="3117"/>
              <a:ext cx="80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Thread Warp 2</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62" name="Freeform 73">
              <a:extLst>
                <a:ext uri="{FF2B5EF4-FFF2-40B4-BE49-F238E27FC236}">
                  <a16:creationId xmlns:a16="http://schemas.microsoft.com/office/drawing/2014/main" id="{C82BB6B2-6040-D044-93E2-34B23BA9FDE2}"/>
                </a:ext>
              </a:extLst>
            </p:cNvPr>
            <p:cNvSpPr>
              <a:spLocks/>
            </p:cNvSpPr>
            <p:nvPr/>
          </p:nvSpPr>
          <p:spPr bwMode="auto">
            <a:xfrm>
              <a:off x="4117" y="2905"/>
              <a:ext cx="735" cy="108"/>
            </a:xfrm>
            <a:custGeom>
              <a:avLst/>
              <a:gdLst>
                <a:gd name="T0" fmla="*/ 0 w 1685"/>
                <a:gd name="T1" fmla="*/ 0 h 248"/>
                <a:gd name="T2" fmla="*/ 0 w 1685"/>
                <a:gd name="T3" fmla="*/ 0 h 248"/>
                <a:gd name="T4" fmla="*/ 0 w 1685"/>
                <a:gd name="T5" fmla="*/ 0 h 248"/>
                <a:gd name="T6" fmla="*/ 0 w 1685"/>
                <a:gd name="T7" fmla="*/ 0 h 248"/>
                <a:gd name="T8" fmla="*/ 0 w 1685"/>
                <a:gd name="T9" fmla="*/ 0 h 248"/>
                <a:gd name="T10" fmla="*/ 0 w 1685"/>
                <a:gd name="T11" fmla="*/ 0 h 248"/>
                <a:gd name="T12" fmla="*/ 0 w 1685"/>
                <a:gd name="T13" fmla="*/ 0 h 248"/>
                <a:gd name="T14" fmla="*/ 0 w 1685"/>
                <a:gd name="T15" fmla="*/ 0 h 248"/>
                <a:gd name="T16" fmla="*/ 0 w 1685"/>
                <a:gd name="T17" fmla="*/ 0 h 24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85"/>
                <a:gd name="T28" fmla="*/ 0 h 248"/>
                <a:gd name="T29" fmla="*/ 1685 w 1685"/>
                <a:gd name="T30" fmla="*/ 248 h 24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85" h="248">
                  <a:moveTo>
                    <a:pt x="1685" y="198"/>
                  </a:moveTo>
                  <a:lnTo>
                    <a:pt x="1685" y="99"/>
                  </a:lnTo>
                  <a:cubicBezTo>
                    <a:pt x="1685" y="44"/>
                    <a:pt x="1640" y="0"/>
                    <a:pt x="1586" y="0"/>
                  </a:cubicBezTo>
                  <a:lnTo>
                    <a:pt x="520" y="0"/>
                  </a:lnTo>
                  <a:cubicBezTo>
                    <a:pt x="452" y="0"/>
                    <a:pt x="396" y="55"/>
                    <a:pt x="396" y="124"/>
                  </a:cubicBezTo>
                  <a:cubicBezTo>
                    <a:pt x="396" y="192"/>
                    <a:pt x="341" y="248"/>
                    <a:pt x="272" y="248"/>
                  </a:cubicBezTo>
                  <a:lnTo>
                    <a:pt x="0" y="248"/>
                  </a:lnTo>
                </a:path>
              </a:pathLst>
            </a:cu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63" name="Freeform 74">
              <a:extLst>
                <a:ext uri="{FF2B5EF4-FFF2-40B4-BE49-F238E27FC236}">
                  <a16:creationId xmlns:a16="http://schemas.microsoft.com/office/drawing/2014/main" id="{FFD5ADE2-0547-E34E-A63D-16D6E6996841}"/>
                </a:ext>
              </a:extLst>
            </p:cNvPr>
            <p:cNvSpPr>
              <a:spLocks/>
            </p:cNvSpPr>
            <p:nvPr/>
          </p:nvSpPr>
          <p:spPr bwMode="auto">
            <a:xfrm>
              <a:off x="4821" y="2929"/>
              <a:ext cx="62" cy="62"/>
            </a:xfrm>
            <a:custGeom>
              <a:avLst/>
              <a:gdLst>
                <a:gd name="T0" fmla="*/ 0 w 143"/>
                <a:gd name="T1" fmla="*/ 0 h 143"/>
                <a:gd name="T2" fmla="*/ 0 w 143"/>
                <a:gd name="T3" fmla="*/ 0 h 143"/>
                <a:gd name="T4" fmla="*/ 0 w 143"/>
                <a:gd name="T5" fmla="*/ 0 h 143"/>
                <a:gd name="T6" fmla="*/ 0 w 143"/>
                <a:gd name="T7" fmla="*/ 0 h 143"/>
                <a:gd name="T8" fmla="*/ 0 60000 65536"/>
                <a:gd name="T9" fmla="*/ 0 60000 65536"/>
                <a:gd name="T10" fmla="*/ 0 60000 65536"/>
                <a:gd name="T11" fmla="*/ 0 60000 65536"/>
                <a:gd name="T12" fmla="*/ 0 w 143"/>
                <a:gd name="T13" fmla="*/ 0 h 143"/>
                <a:gd name="T14" fmla="*/ 143 w 143"/>
                <a:gd name="T15" fmla="*/ 143 h 143"/>
              </a:gdLst>
              <a:ahLst/>
              <a:cxnLst>
                <a:cxn ang="T8">
                  <a:pos x="T0" y="T1"/>
                </a:cxn>
                <a:cxn ang="T9">
                  <a:pos x="T2" y="T3"/>
                </a:cxn>
                <a:cxn ang="T10">
                  <a:pos x="T4" y="T5"/>
                </a:cxn>
                <a:cxn ang="T11">
                  <a:pos x="T6" y="T7"/>
                </a:cxn>
              </a:cxnLst>
              <a:rect l="T12" t="T13" r="T14" b="T15"/>
              <a:pathLst>
                <a:path w="143" h="143">
                  <a:moveTo>
                    <a:pt x="72" y="143"/>
                  </a:moveTo>
                  <a:lnTo>
                    <a:pt x="0" y="0"/>
                  </a:lnTo>
                  <a:cubicBezTo>
                    <a:pt x="45" y="23"/>
                    <a:pt x="98" y="23"/>
                    <a:pt x="143" y="0"/>
                  </a:cubicBezTo>
                  <a:lnTo>
                    <a:pt x="72" y="143"/>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64" name="Freeform 75">
              <a:extLst>
                <a:ext uri="{FF2B5EF4-FFF2-40B4-BE49-F238E27FC236}">
                  <a16:creationId xmlns:a16="http://schemas.microsoft.com/office/drawing/2014/main" id="{EC1DCC90-CF10-A146-9AAD-22396AF17C3C}"/>
                </a:ext>
              </a:extLst>
            </p:cNvPr>
            <p:cNvSpPr>
              <a:spLocks/>
            </p:cNvSpPr>
            <p:nvPr/>
          </p:nvSpPr>
          <p:spPr bwMode="auto">
            <a:xfrm>
              <a:off x="4841" y="3273"/>
              <a:ext cx="22" cy="21"/>
            </a:xfrm>
            <a:custGeom>
              <a:avLst/>
              <a:gdLst>
                <a:gd name="T0" fmla="*/ 0 w 49"/>
                <a:gd name="T1" fmla="*/ 0 h 49"/>
                <a:gd name="T2" fmla="*/ 0 w 49"/>
                <a:gd name="T3" fmla="*/ 0 h 49"/>
                <a:gd name="T4" fmla="*/ 0 w 49"/>
                <a:gd name="T5" fmla="*/ 0 h 49"/>
                <a:gd name="T6" fmla="*/ 0 w 49"/>
                <a:gd name="T7" fmla="*/ 0 h 49"/>
                <a:gd name="T8" fmla="*/ 0 w 49"/>
                <a:gd name="T9" fmla="*/ 0 h 49"/>
                <a:gd name="T10" fmla="*/ 0 w 49"/>
                <a:gd name="T11" fmla="*/ 0 h 49"/>
                <a:gd name="T12" fmla="*/ 0 60000 65536"/>
                <a:gd name="T13" fmla="*/ 0 60000 65536"/>
                <a:gd name="T14" fmla="*/ 0 60000 65536"/>
                <a:gd name="T15" fmla="*/ 0 60000 65536"/>
                <a:gd name="T16" fmla="*/ 0 60000 65536"/>
                <a:gd name="T17" fmla="*/ 0 60000 65536"/>
                <a:gd name="T18" fmla="*/ 0 w 49"/>
                <a:gd name="T19" fmla="*/ 0 h 49"/>
                <a:gd name="T20" fmla="*/ 49 w 49"/>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49" h="49">
                  <a:moveTo>
                    <a:pt x="0" y="24"/>
                  </a:moveTo>
                  <a:cubicBezTo>
                    <a:pt x="0" y="11"/>
                    <a:pt x="11" y="0"/>
                    <a:pt x="25" y="0"/>
                  </a:cubicBezTo>
                  <a:cubicBezTo>
                    <a:pt x="38" y="0"/>
                    <a:pt x="49" y="11"/>
                    <a:pt x="49" y="24"/>
                  </a:cubicBezTo>
                  <a:cubicBezTo>
                    <a:pt x="49" y="24"/>
                    <a:pt x="49" y="24"/>
                    <a:pt x="49" y="24"/>
                  </a:cubicBezTo>
                  <a:cubicBezTo>
                    <a:pt x="49" y="38"/>
                    <a:pt x="38" y="49"/>
                    <a:pt x="25" y="49"/>
                  </a:cubicBezTo>
                  <a:cubicBezTo>
                    <a:pt x="11" y="49"/>
                    <a:pt x="0" y="38"/>
                    <a:pt x="0" y="24"/>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65" name="Freeform 76">
              <a:extLst>
                <a:ext uri="{FF2B5EF4-FFF2-40B4-BE49-F238E27FC236}">
                  <a16:creationId xmlns:a16="http://schemas.microsoft.com/office/drawing/2014/main" id="{A0A1ACE6-9CB2-C64F-909A-45EB70660838}"/>
                </a:ext>
              </a:extLst>
            </p:cNvPr>
            <p:cNvSpPr>
              <a:spLocks/>
            </p:cNvSpPr>
            <p:nvPr/>
          </p:nvSpPr>
          <p:spPr bwMode="auto">
            <a:xfrm>
              <a:off x="4841" y="3273"/>
              <a:ext cx="22" cy="21"/>
            </a:xfrm>
            <a:custGeom>
              <a:avLst/>
              <a:gdLst>
                <a:gd name="T0" fmla="*/ 0 w 22"/>
                <a:gd name="T1" fmla="*/ 10 h 21"/>
                <a:gd name="T2" fmla="*/ 11 w 22"/>
                <a:gd name="T3" fmla="*/ 0 h 21"/>
                <a:gd name="T4" fmla="*/ 22 w 22"/>
                <a:gd name="T5" fmla="*/ 10 h 21"/>
                <a:gd name="T6" fmla="*/ 22 w 22"/>
                <a:gd name="T7" fmla="*/ 10 h 21"/>
                <a:gd name="T8" fmla="*/ 11 w 22"/>
                <a:gd name="T9" fmla="*/ 21 h 21"/>
                <a:gd name="T10" fmla="*/ 0 w 22"/>
                <a:gd name="T11" fmla="*/ 10 h 21"/>
                <a:gd name="T12" fmla="*/ 0 60000 65536"/>
                <a:gd name="T13" fmla="*/ 0 60000 65536"/>
                <a:gd name="T14" fmla="*/ 0 60000 65536"/>
                <a:gd name="T15" fmla="*/ 0 60000 65536"/>
                <a:gd name="T16" fmla="*/ 0 60000 65536"/>
                <a:gd name="T17" fmla="*/ 0 60000 65536"/>
                <a:gd name="T18" fmla="*/ 0 w 22"/>
                <a:gd name="T19" fmla="*/ 0 h 21"/>
                <a:gd name="T20" fmla="*/ 22 w 22"/>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22" h="21">
                  <a:moveTo>
                    <a:pt x="0" y="10"/>
                  </a:moveTo>
                  <a:cubicBezTo>
                    <a:pt x="0" y="5"/>
                    <a:pt x="5" y="0"/>
                    <a:pt x="11" y="0"/>
                  </a:cubicBezTo>
                  <a:cubicBezTo>
                    <a:pt x="17" y="0"/>
                    <a:pt x="22" y="5"/>
                    <a:pt x="22" y="10"/>
                  </a:cubicBezTo>
                  <a:cubicBezTo>
                    <a:pt x="22" y="10"/>
                    <a:pt x="22" y="10"/>
                    <a:pt x="22" y="10"/>
                  </a:cubicBezTo>
                  <a:cubicBezTo>
                    <a:pt x="22" y="17"/>
                    <a:pt x="17" y="21"/>
                    <a:pt x="11" y="21"/>
                  </a:cubicBezTo>
                  <a:cubicBezTo>
                    <a:pt x="5" y="21"/>
                    <a:pt x="0" y="17"/>
                    <a:pt x="0" y="10"/>
                  </a:cubicBezTo>
                </a:path>
              </a:pathLst>
            </a:custGeom>
            <a:noFill/>
            <a:ln w="31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66" name="Line 77">
              <a:extLst>
                <a:ext uri="{FF2B5EF4-FFF2-40B4-BE49-F238E27FC236}">
                  <a16:creationId xmlns:a16="http://schemas.microsoft.com/office/drawing/2014/main" id="{075E30FB-98F9-CC4B-BAA6-8818847F92D5}"/>
                </a:ext>
              </a:extLst>
            </p:cNvPr>
            <p:cNvSpPr>
              <a:spLocks noChangeShapeType="1"/>
            </p:cNvSpPr>
            <p:nvPr/>
          </p:nvSpPr>
          <p:spPr bwMode="auto">
            <a:xfrm>
              <a:off x="3512" y="3078"/>
              <a:ext cx="1" cy="169"/>
            </a:xfrm>
            <a:prstGeom prst="line">
              <a:avLst/>
            </a:prstGeom>
            <a:noFill/>
            <a:ln w="11113" cap="rnd">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67" name="Freeform 78">
              <a:extLst>
                <a:ext uri="{FF2B5EF4-FFF2-40B4-BE49-F238E27FC236}">
                  <a16:creationId xmlns:a16="http://schemas.microsoft.com/office/drawing/2014/main" id="{B9E4D12F-AAB7-3F4F-83BB-4581F40F6B0E}"/>
                </a:ext>
              </a:extLst>
            </p:cNvPr>
            <p:cNvSpPr>
              <a:spLocks/>
            </p:cNvSpPr>
            <p:nvPr/>
          </p:nvSpPr>
          <p:spPr bwMode="auto">
            <a:xfrm>
              <a:off x="3481" y="3232"/>
              <a:ext cx="62" cy="62"/>
            </a:xfrm>
            <a:custGeom>
              <a:avLst/>
              <a:gdLst>
                <a:gd name="T0" fmla="*/ 0 w 142"/>
                <a:gd name="T1" fmla="*/ 0 h 143"/>
                <a:gd name="T2" fmla="*/ 0 w 142"/>
                <a:gd name="T3" fmla="*/ 0 h 143"/>
                <a:gd name="T4" fmla="*/ 0 w 142"/>
                <a:gd name="T5" fmla="*/ 0 h 143"/>
                <a:gd name="T6" fmla="*/ 0 w 142"/>
                <a:gd name="T7" fmla="*/ 0 h 143"/>
                <a:gd name="T8" fmla="*/ 0 w 142"/>
                <a:gd name="T9" fmla="*/ 0 h 143"/>
                <a:gd name="T10" fmla="*/ 0 60000 65536"/>
                <a:gd name="T11" fmla="*/ 0 60000 65536"/>
                <a:gd name="T12" fmla="*/ 0 60000 65536"/>
                <a:gd name="T13" fmla="*/ 0 60000 65536"/>
                <a:gd name="T14" fmla="*/ 0 60000 65536"/>
                <a:gd name="T15" fmla="*/ 0 w 142"/>
                <a:gd name="T16" fmla="*/ 0 h 143"/>
                <a:gd name="T17" fmla="*/ 142 w 142"/>
                <a:gd name="T18" fmla="*/ 143 h 143"/>
              </a:gdLst>
              <a:ahLst/>
              <a:cxnLst>
                <a:cxn ang="T10">
                  <a:pos x="T0" y="T1"/>
                </a:cxn>
                <a:cxn ang="T11">
                  <a:pos x="T2" y="T3"/>
                </a:cxn>
                <a:cxn ang="T12">
                  <a:pos x="T4" y="T5"/>
                </a:cxn>
                <a:cxn ang="T13">
                  <a:pos x="T6" y="T7"/>
                </a:cxn>
                <a:cxn ang="T14">
                  <a:pos x="T8" y="T9"/>
                </a:cxn>
              </a:cxnLst>
              <a:rect l="T15" t="T16" r="T17" b="T18"/>
              <a:pathLst>
                <a:path w="142" h="143">
                  <a:moveTo>
                    <a:pt x="71" y="143"/>
                  </a:moveTo>
                  <a:lnTo>
                    <a:pt x="0" y="0"/>
                  </a:lnTo>
                  <a:cubicBezTo>
                    <a:pt x="44" y="23"/>
                    <a:pt x="97" y="23"/>
                    <a:pt x="142" y="0"/>
                  </a:cubicBezTo>
                  <a:lnTo>
                    <a:pt x="71" y="143"/>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68" name="Freeform 79">
              <a:extLst>
                <a:ext uri="{FF2B5EF4-FFF2-40B4-BE49-F238E27FC236}">
                  <a16:creationId xmlns:a16="http://schemas.microsoft.com/office/drawing/2014/main" id="{6D335D8D-9989-DC48-8DE4-75A41549B0AC}"/>
                </a:ext>
              </a:extLst>
            </p:cNvPr>
            <p:cNvSpPr>
              <a:spLocks/>
            </p:cNvSpPr>
            <p:nvPr/>
          </p:nvSpPr>
          <p:spPr bwMode="auto">
            <a:xfrm>
              <a:off x="4269" y="2991"/>
              <a:ext cx="86" cy="542"/>
            </a:xfrm>
            <a:custGeom>
              <a:avLst/>
              <a:gdLst>
                <a:gd name="T0" fmla="*/ 0 w 198"/>
                <a:gd name="T1" fmla="*/ 0 h 1241"/>
                <a:gd name="T2" fmla="*/ 0 w 198"/>
                <a:gd name="T3" fmla="*/ 0 h 1241"/>
                <a:gd name="T4" fmla="*/ 0 w 198"/>
                <a:gd name="T5" fmla="*/ 0 h 1241"/>
                <a:gd name="T6" fmla="*/ 0 w 198"/>
                <a:gd name="T7" fmla="*/ 0 h 1241"/>
                <a:gd name="T8" fmla="*/ 0 w 198"/>
                <a:gd name="T9" fmla="*/ 0 h 1241"/>
                <a:gd name="T10" fmla="*/ 0 w 198"/>
                <a:gd name="T11" fmla="*/ 0 h 1241"/>
                <a:gd name="T12" fmla="*/ 0 w 198"/>
                <a:gd name="T13" fmla="*/ 0 h 1241"/>
                <a:gd name="T14" fmla="*/ 0 w 198"/>
                <a:gd name="T15" fmla="*/ 0 h 1241"/>
                <a:gd name="T16" fmla="*/ 0 w 198"/>
                <a:gd name="T17" fmla="*/ 0 h 1241"/>
                <a:gd name="T18" fmla="*/ 0 w 198"/>
                <a:gd name="T19" fmla="*/ 0 h 1241"/>
                <a:gd name="T20" fmla="*/ 0 w 198"/>
                <a:gd name="T21" fmla="*/ 0 h 1241"/>
                <a:gd name="T22" fmla="*/ 0 w 198"/>
                <a:gd name="T23" fmla="*/ 0 h 1241"/>
                <a:gd name="T24" fmla="*/ 0 w 198"/>
                <a:gd name="T25" fmla="*/ 0 h 12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8"/>
                <a:gd name="T40" fmla="*/ 0 h 1241"/>
                <a:gd name="T41" fmla="*/ 198 w 198"/>
                <a:gd name="T42" fmla="*/ 1241 h 12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8" h="1241">
                  <a:moveTo>
                    <a:pt x="198" y="0"/>
                  </a:moveTo>
                  <a:cubicBezTo>
                    <a:pt x="143" y="0"/>
                    <a:pt x="99" y="45"/>
                    <a:pt x="99" y="99"/>
                  </a:cubicBezTo>
                  <a:cubicBezTo>
                    <a:pt x="99" y="99"/>
                    <a:pt x="99" y="99"/>
                    <a:pt x="99" y="99"/>
                  </a:cubicBezTo>
                  <a:lnTo>
                    <a:pt x="99" y="248"/>
                  </a:lnTo>
                  <a:cubicBezTo>
                    <a:pt x="99" y="303"/>
                    <a:pt x="54" y="348"/>
                    <a:pt x="0" y="348"/>
                  </a:cubicBezTo>
                  <a:cubicBezTo>
                    <a:pt x="0" y="348"/>
                    <a:pt x="0" y="348"/>
                    <a:pt x="0" y="348"/>
                  </a:cubicBezTo>
                  <a:cubicBezTo>
                    <a:pt x="54" y="348"/>
                    <a:pt x="99" y="392"/>
                    <a:pt x="99" y="447"/>
                  </a:cubicBezTo>
                  <a:cubicBezTo>
                    <a:pt x="99" y="447"/>
                    <a:pt x="99" y="447"/>
                    <a:pt x="99" y="447"/>
                  </a:cubicBezTo>
                  <a:lnTo>
                    <a:pt x="99" y="1142"/>
                  </a:lnTo>
                  <a:cubicBezTo>
                    <a:pt x="99" y="1197"/>
                    <a:pt x="143" y="1241"/>
                    <a:pt x="198" y="1241"/>
                  </a:cubicBezTo>
                  <a:cubicBezTo>
                    <a:pt x="198" y="1241"/>
                    <a:pt x="198" y="1241"/>
                    <a:pt x="198" y="1241"/>
                  </a:cubicBezTo>
                </a:path>
              </a:pathLst>
            </a:cu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69" name="Freeform 80">
              <a:extLst>
                <a:ext uri="{FF2B5EF4-FFF2-40B4-BE49-F238E27FC236}">
                  <a16:creationId xmlns:a16="http://schemas.microsoft.com/office/drawing/2014/main" id="{9841E86F-21EA-3249-978F-C7217D58AE4E}"/>
                </a:ext>
              </a:extLst>
            </p:cNvPr>
            <p:cNvSpPr>
              <a:spLocks/>
            </p:cNvSpPr>
            <p:nvPr/>
          </p:nvSpPr>
          <p:spPr bwMode="auto">
            <a:xfrm>
              <a:off x="3728" y="3146"/>
              <a:ext cx="544" cy="101"/>
            </a:xfrm>
            <a:custGeom>
              <a:avLst/>
              <a:gdLst>
                <a:gd name="T0" fmla="*/ 544 w 544"/>
                <a:gd name="T1" fmla="*/ 0 h 101"/>
                <a:gd name="T2" fmla="*/ 0 w 544"/>
                <a:gd name="T3" fmla="*/ 0 h 101"/>
                <a:gd name="T4" fmla="*/ 0 w 544"/>
                <a:gd name="T5" fmla="*/ 101 h 101"/>
                <a:gd name="T6" fmla="*/ 0 60000 65536"/>
                <a:gd name="T7" fmla="*/ 0 60000 65536"/>
                <a:gd name="T8" fmla="*/ 0 60000 65536"/>
                <a:gd name="T9" fmla="*/ 0 w 544"/>
                <a:gd name="T10" fmla="*/ 0 h 101"/>
                <a:gd name="T11" fmla="*/ 544 w 544"/>
                <a:gd name="T12" fmla="*/ 101 h 101"/>
              </a:gdLst>
              <a:ahLst/>
              <a:cxnLst>
                <a:cxn ang="T6">
                  <a:pos x="T0" y="T1"/>
                </a:cxn>
                <a:cxn ang="T7">
                  <a:pos x="T2" y="T3"/>
                </a:cxn>
                <a:cxn ang="T8">
                  <a:pos x="T4" y="T5"/>
                </a:cxn>
              </a:cxnLst>
              <a:rect l="T9" t="T10" r="T11" b="T12"/>
              <a:pathLst>
                <a:path w="544" h="101">
                  <a:moveTo>
                    <a:pt x="544" y="0"/>
                  </a:moveTo>
                  <a:lnTo>
                    <a:pt x="0" y="0"/>
                  </a:lnTo>
                  <a:lnTo>
                    <a:pt x="0" y="101"/>
                  </a:lnTo>
                </a:path>
              </a:pathLst>
            </a:cu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70" name="Freeform 81">
              <a:extLst>
                <a:ext uri="{FF2B5EF4-FFF2-40B4-BE49-F238E27FC236}">
                  <a16:creationId xmlns:a16="http://schemas.microsoft.com/office/drawing/2014/main" id="{9952C618-0DF2-C145-8F6F-AEF5D888BEE0}"/>
                </a:ext>
              </a:extLst>
            </p:cNvPr>
            <p:cNvSpPr>
              <a:spLocks/>
            </p:cNvSpPr>
            <p:nvPr/>
          </p:nvSpPr>
          <p:spPr bwMode="auto">
            <a:xfrm>
              <a:off x="3697" y="3232"/>
              <a:ext cx="62" cy="62"/>
            </a:xfrm>
            <a:custGeom>
              <a:avLst/>
              <a:gdLst>
                <a:gd name="T0" fmla="*/ 0 w 143"/>
                <a:gd name="T1" fmla="*/ 0 h 143"/>
                <a:gd name="T2" fmla="*/ 0 w 143"/>
                <a:gd name="T3" fmla="*/ 0 h 143"/>
                <a:gd name="T4" fmla="*/ 0 w 143"/>
                <a:gd name="T5" fmla="*/ 0 h 143"/>
                <a:gd name="T6" fmla="*/ 0 w 143"/>
                <a:gd name="T7" fmla="*/ 0 h 143"/>
                <a:gd name="T8" fmla="*/ 0 w 143"/>
                <a:gd name="T9" fmla="*/ 0 h 143"/>
                <a:gd name="T10" fmla="*/ 0 60000 65536"/>
                <a:gd name="T11" fmla="*/ 0 60000 65536"/>
                <a:gd name="T12" fmla="*/ 0 60000 65536"/>
                <a:gd name="T13" fmla="*/ 0 60000 65536"/>
                <a:gd name="T14" fmla="*/ 0 60000 65536"/>
                <a:gd name="T15" fmla="*/ 0 w 143"/>
                <a:gd name="T16" fmla="*/ 0 h 143"/>
                <a:gd name="T17" fmla="*/ 143 w 143"/>
                <a:gd name="T18" fmla="*/ 143 h 143"/>
              </a:gdLst>
              <a:ahLst/>
              <a:cxnLst>
                <a:cxn ang="T10">
                  <a:pos x="T0" y="T1"/>
                </a:cxn>
                <a:cxn ang="T11">
                  <a:pos x="T2" y="T3"/>
                </a:cxn>
                <a:cxn ang="T12">
                  <a:pos x="T4" y="T5"/>
                </a:cxn>
                <a:cxn ang="T13">
                  <a:pos x="T6" y="T7"/>
                </a:cxn>
                <a:cxn ang="T14">
                  <a:pos x="T8" y="T9"/>
                </a:cxn>
              </a:cxnLst>
              <a:rect l="T15" t="T16" r="T17" b="T18"/>
              <a:pathLst>
                <a:path w="143" h="143">
                  <a:moveTo>
                    <a:pt x="72" y="143"/>
                  </a:moveTo>
                  <a:lnTo>
                    <a:pt x="0" y="0"/>
                  </a:lnTo>
                  <a:cubicBezTo>
                    <a:pt x="45" y="23"/>
                    <a:pt x="98" y="23"/>
                    <a:pt x="143" y="0"/>
                  </a:cubicBezTo>
                  <a:lnTo>
                    <a:pt x="72" y="143"/>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71" name="Rectangle 82">
              <a:extLst>
                <a:ext uri="{FF2B5EF4-FFF2-40B4-BE49-F238E27FC236}">
                  <a16:creationId xmlns:a16="http://schemas.microsoft.com/office/drawing/2014/main" id="{A6B7CD18-90E0-F847-A9E0-DC421AFB50C3}"/>
                </a:ext>
              </a:extLst>
            </p:cNvPr>
            <p:cNvSpPr>
              <a:spLocks noChangeArrowheads="1"/>
            </p:cNvSpPr>
            <p:nvPr/>
          </p:nvSpPr>
          <p:spPr bwMode="auto">
            <a:xfrm>
              <a:off x="3842" y="3152"/>
              <a:ext cx="20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Data</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72" name="Rectangle 83">
              <a:extLst>
                <a:ext uri="{FF2B5EF4-FFF2-40B4-BE49-F238E27FC236}">
                  <a16:creationId xmlns:a16="http://schemas.microsoft.com/office/drawing/2014/main" id="{38F8DED6-3F54-2245-88CB-118F64FE8119}"/>
                </a:ext>
              </a:extLst>
            </p:cNvPr>
            <p:cNvSpPr>
              <a:spLocks noChangeArrowheads="1"/>
            </p:cNvSpPr>
            <p:nvPr/>
          </p:nvSpPr>
          <p:spPr bwMode="auto">
            <a:xfrm>
              <a:off x="3185" y="3110"/>
              <a:ext cx="30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All Hit?</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73" name="Rectangle 84">
              <a:extLst>
                <a:ext uri="{FF2B5EF4-FFF2-40B4-BE49-F238E27FC236}">
                  <a16:creationId xmlns:a16="http://schemas.microsoft.com/office/drawing/2014/main" id="{3772A410-6C78-BC48-BBF2-9D99496EECA1}"/>
                </a:ext>
              </a:extLst>
            </p:cNvPr>
            <p:cNvSpPr>
              <a:spLocks noChangeArrowheads="1"/>
            </p:cNvSpPr>
            <p:nvPr/>
          </p:nvSpPr>
          <p:spPr bwMode="auto">
            <a:xfrm>
              <a:off x="4421" y="2782"/>
              <a:ext cx="250"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Miss?</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74" name="Freeform 85">
              <a:extLst>
                <a:ext uri="{FF2B5EF4-FFF2-40B4-BE49-F238E27FC236}">
                  <a16:creationId xmlns:a16="http://schemas.microsoft.com/office/drawing/2014/main" id="{9C3BE821-75ED-B040-BE71-4E3F1C15CBC3}"/>
                </a:ext>
              </a:extLst>
            </p:cNvPr>
            <p:cNvSpPr>
              <a:spLocks/>
            </p:cNvSpPr>
            <p:nvPr/>
          </p:nvSpPr>
          <p:spPr bwMode="auto">
            <a:xfrm>
              <a:off x="4841" y="3316"/>
              <a:ext cx="22" cy="22"/>
            </a:xfrm>
            <a:custGeom>
              <a:avLst/>
              <a:gdLst>
                <a:gd name="T0" fmla="*/ 0 w 49"/>
                <a:gd name="T1" fmla="*/ 0 h 49"/>
                <a:gd name="T2" fmla="*/ 0 w 49"/>
                <a:gd name="T3" fmla="*/ 0 h 49"/>
                <a:gd name="T4" fmla="*/ 0 w 49"/>
                <a:gd name="T5" fmla="*/ 0 h 49"/>
                <a:gd name="T6" fmla="*/ 0 w 49"/>
                <a:gd name="T7" fmla="*/ 0 h 49"/>
                <a:gd name="T8" fmla="*/ 0 w 49"/>
                <a:gd name="T9" fmla="*/ 0 h 49"/>
                <a:gd name="T10" fmla="*/ 0 w 49"/>
                <a:gd name="T11" fmla="*/ 0 h 49"/>
                <a:gd name="T12" fmla="*/ 0 60000 65536"/>
                <a:gd name="T13" fmla="*/ 0 60000 65536"/>
                <a:gd name="T14" fmla="*/ 0 60000 65536"/>
                <a:gd name="T15" fmla="*/ 0 60000 65536"/>
                <a:gd name="T16" fmla="*/ 0 60000 65536"/>
                <a:gd name="T17" fmla="*/ 0 60000 65536"/>
                <a:gd name="T18" fmla="*/ 0 w 49"/>
                <a:gd name="T19" fmla="*/ 0 h 49"/>
                <a:gd name="T20" fmla="*/ 49 w 49"/>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49" h="49">
                  <a:moveTo>
                    <a:pt x="0" y="25"/>
                  </a:moveTo>
                  <a:cubicBezTo>
                    <a:pt x="0" y="11"/>
                    <a:pt x="11" y="0"/>
                    <a:pt x="25" y="0"/>
                  </a:cubicBezTo>
                  <a:cubicBezTo>
                    <a:pt x="38" y="0"/>
                    <a:pt x="49" y="11"/>
                    <a:pt x="49" y="25"/>
                  </a:cubicBezTo>
                  <a:cubicBezTo>
                    <a:pt x="49" y="25"/>
                    <a:pt x="49" y="25"/>
                    <a:pt x="49" y="25"/>
                  </a:cubicBezTo>
                  <a:cubicBezTo>
                    <a:pt x="49" y="38"/>
                    <a:pt x="38" y="49"/>
                    <a:pt x="25" y="49"/>
                  </a:cubicBezTo>
                  <a:cubicBezTo>
                    <a:pt x="11" y="49"/>
                    <a:pt x="0" y="38"/>
                    <a:pt x="0" y="25"/>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75" name="Freeform 86">
              <a:extLst>
                <a:ext uri="{FF2B5EF4-FFF2-40B4-BE49-F238E27FC236}">
                  <a16:creationId xmlns:a16="http://schemas.microsoft.com/office/drawing/2014/main" id="{60AC778C-E163-C045-83F2-2E7B7DE2EC2F}"/>
                </a:ext>
              </a:extLst>
            </p:cNvPr>
            <p:cNvSpPr>
              <a:spLocks/>
            </p:cNvSpPr>
            <p:nvPr/>
          </p:nvSpPr>
          <p:spPr bwMode="auto">
            <a:xfrm>
              <a:off x="4841" y="3316"/>
              <a:ext cx="22" cy="22"/>
            </a:xfrm>
            <a:custGeom>
              <a:avLst/>
              <a:gdLst>
                <a:gd name="T0" fmla="*/ 0 w 22"/>
                <a:gd name="T1" fmla="*/ 11 h 22"/>
                <a:gd name="T2" fmla="*/ 11 w 22"/>
                <a:gd name="T3" fmla="*/ 0 h 22"/>
                <a:gd name="T4" fmla="*/ 22 w 22"/>
                <a:gd name="T5" fmla="*/ 11 h 22"/>
                <a:gd name="T6" fmla="*/ 22 w 22"/>
                <a:gd name="T7" fmla="*/ 11 h 22"/>
                <a:gd name="T8" fmla="*/ 11 w 22"/>
                <a:gd name="T9" fmla="*/ 22 h 22"/>
                <a:gd name="T10" fmla="*/ 0 w 22"/>
                <a:gd name="T11" fmla="*/ 11 h 22"/>
                <a:gd name="T12" fmla="*/ 0 60000 65536"/>
                <a:gd name="T13" fmla="*/ 0 60000 65536"/>
                <a:gd name="T14" fmla="*/ 0 60000 65536"/>
                <a:gd name="T15" fmla="*/ 0 60000 65536"/>
                <a:gd name="T16" fmla="*/ 0 60000 65536"/>
                <a:gd name="T17" fmla="*/ 0 60000 65536"/>
                <a:gd name="T18" fmla="*/ 0 w 22"/>
                <a:gd name="T19" fmla="*/ 0 h 22"/>
                <a:gd name="T20" fmla="*/ 22 w 22"/>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22" h="22">
                  <a:moveTo>
                    <a:pt x="0" y="11"/>
                  </a:moveTo>
                  <a:cubicBezTo>
                    <a:pt x="0" y="5"/>
                    <a:pt x="5" y="0"/>
                    <a:pt x="11" y="0"/>
                  </a:cubicBezTo>
                  <a:cubicBezTo>
                    <a:pt x="17" y="0"/>
                    <a:pt x="22" y="5"/>
                    <a:pt x="22" y="11"/>
                  </a:cubicBezTo>
                  <a:cubicBezTo>
                    <a:pt x="22" y="11"/>
                    <a:pt x="22" y="11"/>
                    <a:pt x="22" y="11"/>
                  </a:cubicBezTo>
                  <a:cubicBezTo>
                    <a:pt x="22" y="17"/>
                    <a:pt x="17" y="22"/>
                    <a:pt x="11" y="22"/>
                  </a:cubicBezTo>
                  <a:cubicBezTo>
                    <a:pt x="5" y="22"/>
                    <a:pt x="0" y="17"/>
                    <a:pt x="0" y="11"/>
                  </a:cubicBezTo>
                </a:path>
              </a:pathLst>
            </a:custGeom>
            <a:noFill/>
            <a:ln w="31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76" name="Freeform 87">
              <a:extLst>
                <a:ext uri="{FF2B5EF4-FFF2-40B4-BE49-F238E27FC236}">
                  <a16:creationId xmlns:a16="http://schemas.microsoft.com/office/drawing/2014/main" id="{EA47F9E9-3023-1548-964F-014ADC077290}"/>
                </a:ext>
              </a:extLst>
            </p:cNvPr>
            <p:cNvSpPr>
              <a:spLocks/>
            </p:cNvSpPr>
            <p:nvPr/>
          </p:nvSpPr>
          <p:spPr bwMode="auto">
            <a:xfrm>
              <a:off x="4841" y="3359"/>
              <a:ext cx="22" cy="22"/>
            </a:xfrm>
            <a:custGeom>
              <a:avLst/>
              <a:gdLst>
                <a:gd name="T0" fmla="*/ 0 w 49"/>
                <a:gd name="T1" fmla="*/ 0 h 50"/>
                <a:gd name="T2" fmla="*/ 0 w 49"/>
                <a:gd name="T3" fmla="*/ 0 h 50"/>
                <a:gd name="T4" fmla="*/ 0 w 49"/>
                <a:gd name="T5" fmla="*/ 0 h 50"/>
                <a:gd name="T6" fmla="*/ 0 w 49"/>
                <a:gd name="T7" fmla="*/ 0 h 50"/>
                <a:gd name="T8" fmla="*/ 0 w 49"/>
                <a:gd name="T9" fmla="*/ 0 h 50"/>
                <a:gd name="T10" fmla="*/ 0 w 49"/>
                <a:gd name="T11" fmla="*/ 0 h 50"/>
                <a:gd name="T12" fmla="*/ 0 60000 65536"/>
                <a:gd name="T13" fmla="*/ 0 60000 65536"/>
                <a:gd name="T14" fmla="*/ 0 60000 65536"/>
                <a:gd name="T15" fmla="*/ 0 60000 65536"/>
                <a:gd name="T16" fmla="*/ 0 60000 65536"/>
                <a:gd name="T17" fmla="*/ 0 60000 65536"/>
                <a:gd name="T18" fmla="*/ 0 w 49"/>
                <a:gd name="T19" fmla="*/ 0 h 50"/>
                <a:gd name="T20" fmla="*/ 49 w 49"/>
                <a:gd name="T21" fmla="*/ 50 h 50"/>
              </a:gdLst>
              <a:ahLst/>
              <a:cxnLst>
                <a:cxn ang="T12">
                  <a:pos x="T0" y="T1"/>
                </a:cxn>
                <a:cxn ang="T13">
                  <a:pos x="T2" y="T3"/>
                </a:cxn>
                <a:cxn ang="T14">
                  <a:pos x="T4" y="T5"/>
                </a:cxn>
                <a:cxn ang="T15">
                  <a:pos x="T6" y="T7"/>
                </a:cxn>
                <a:cxn ang="T16">
                  <a:pos x="T8" y="T9"/>
                </a:cxn>
                <a:cxn ang="T17">
                  <a:pos x="T10" y="T11"/>
                </a:cxn>
              </a:cxnLst>
              <a:rect l="T18" t="T19" r="T20" b="T21"/>
              <a:pathLst>
                <a:path w="49" h="50">
                  <a:moveTo>
                    <a:pt x="0" y="25"/>
                  </a:moveTo>
                  <a:cubicBezTo>
                    <a:pt x="0" y="11"/>
                    <a:pt x="11" y="0"/>
                    <a:pt x="25" y="0"/>
                  </a:cubicBezTo>
                  <a:cubicBezTo>
                    <a:pt x="38" y="0"/>
                    <a:pt x="49" y="11"/>
                    <a:pt x="49" y="25"/>
                  </a:cubicBezTo>
                  <a:cubicBezTo>
                    <a:pt x="49" y="25"/>
                    <a:pt x="49" y="25"/>
                    <a:pt x="49" y="25"/>
                  </a:cubicBezTo>
                  <a:cubicBezTo>
                    <a:pt x="49" y="39"/>
                    <a:pt x="38" y="50"/>
                    <a:pt x="25" y="50"/>
                  </a:cubicBezTo>
                  <a:cubicBezTo>
                    <a:pt x="11" y="50"/>
                    <a:pt x="0" y="39"/>
                    <a:pt x="0" y="25"/>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77" name="Freeform 88">
              <a:extLst>
                <a:ext uri="{FF2B5EF4-FFF2-40B4-BE49-F238E27FC236}">
                  <a16:creationId xmlns:a16="http://schemas.microsoft.com/office/drawing/2014/main" id="{51969325-EEFE-2948-B645-F56A275BEA48}"/>
                </a:ext>
              </a:extLst>
            </p:cNvPr>
            <p:cNvSpPr>
              <a:spLocks/>
            </p:cNvSpPr>
            <p:nvPr/>
          </p:nvSpPr>
          <p:spPr bwMode="auto">
            <a:xfrm>
              <a:off x="4841" y="3359"/>
              <a:ext cx="22" cy="22"/>
            </a:xfrm>
            <a:custGeom>
              <a:avLst/>
              <a:gdLst>
                <a:gd name="T0" fmla="*/ 0 w 22"/>
                <a:gd name="T1" fmla="*/ 11 h 22"/>
                <a:gd name="T2" fmla="*/ 11 w 22"/>
                <a:gd name="T3" fmla="*/ 0 h 22"/>
                <a:gd name="T4" fmla="*/ 22 w 22"/>
                <a:gd name="T5" fmla="*/ 11 h 22"/>
                <a:gd name="T6" fmla="*/ 22 w 22"/>
                <a:gd name="T7" fmla="*/ 11 h 22"/>
                <a:gd name="T8" fmla="*/ 11 w 22"/>
                <a:gd name="T9" fmla="*/ 22 h 22"/>
                <a:gd name="T10" fmla="*/ 0 w 22"/>
                <a:gd name="T11" fmla="*/ 11 h 22"/>
                <a:gd name="T12" fmla="*/ 0 60000 65536"/>
                <a:gd name="T13" fmla="*/ 0 60000 65536"/>
                <a:gd name="T14" fmla="*/ 0 60000 65536"/>
                <a:gd name="T15" fmla="*/ 0 60000 65536"/>
                <a:gd name="T16" fmla="*/ 0 60000 65536"/>
                <a:gd name="T17" fmla="*/ 0 60000 65536"/>
                <a:gd name="T18" fmla="*/ 0 w 22"/>
                <a:gd name="T19" fmla="*/ 0 h 22"/>
                <a:gd name="T20" fmla="*/ 22 w 22"/>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22" h="22">
                  <a:moveTo>
                    <a:pt x="0" y="11"/>
                  </a:moveTo>
                  <a:cubicBezTo>
                    <a:pt x="0" y="5"/>
                    <a:pt x="5" y="0"/>
                    <a:pt x="11" y="0"/>
                  </a:cubicBezTo>
                  <a:cubicBezTo>
                    <a:pt x="17" y="0"/>
                    <a:pt x="22" y="5"/>
                    <a:pt x="22" y="11"/>
                  </a:cubicBezTo>
                  <a:cubicBezTo>
                    <a:pt x="22" y="11"/>
                    <a:pt x="22" y="11"/>
                    <a:pt x="22" y="11"/>
                  </a:cubicBezTo>
                  <a:cubicBezTo>
                    <a:pt x="22" y="17"/>
                    <a:pt x="17" y="22"/>
                    <a:pt x="11" y="22"/>
                  </a:cubicBezTo>
                  <a:cubicBezTo>
                    <a:pt x="5" y="22"/>
                    <a:pt x="0" y="17"/>
                    <a:pt x="0" y="11"/>
                  </a:cubicBezTo>
                </a:path>
              </a:pathLst>
            </a:custGeom>
            <a:noFill/>
            <a:ln w="31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78" name="Rectangle 89">
              <a:extLst>
                <a:ext uri="{FF2B5EF4-FFF2-40B4-BE49-F238E27FC236}">
                  <a16:creationId xmlns:a16="http://schemas.microsoft.com/office/drawing/2014/main" id="{DAAF72F5-62E1-9341-BB2C-21F7EAD4FE34}"/>
                </a:ext>
              </a:extLst>
            </p:cNvPr>
            <p:cNvSpPr>
              <a:spLocks noChangeArrowheads="1"/>
            </p:cNvSpPr>
            <p:nvPr/>
          </p:nvSpPr>
          <p:spPr bwMode="auto">
            <a:xfrm>
              <a:off x="4330" y="2496"/>
              <a:ext cx="986"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1"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Warps accessing</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79" name="Rectangle 90">
              <a:extLst>
                <a:ext uri="{FF2B5EF4-FFF2-40B4-BE49-F238E27FC236}">
                  <a16:creationId xmlns:a16="http://schemas.microsoft.com/office/drawing/2014/main" id="{37CA6D3D-E6C3-0C48-83A8-B2F5E767BC65}"/>
                </a:ext>
              </a:extLst>
            </p:cNvPr>
            <p:cNvSpPr>
              <a:spLocks noChangeArrowheads="1"/>
            </p:cNvSpPr>
            <p:nvPr/>
          </p:nvSpPr>
          <p:spPr bwMode="auto">
            <a:xfrm>
              <a:off x="4372" y="2635"/>
              <a:ext cx="104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1"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memory hierarchy</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80" name="Rectangle 91">
              <a:extLst>
                <a:ext uri="{FF2B5EF4-FFF2-40B4-BE49-F238E27FC236}">
                  <a16:creationId xmlns:a16="http://schemas.microsoft.com/office/drawing/2014/main" id="{83F4AF8B-1822-2748-8C19-DC655F233760}"/>
                </a:ext>
              </a:extLst>
            </p:cNvPr>
            <p:cNvSpPr>
              <a:spLocks noChangeArrowheads="1"/>
            </p:cNvSpPr>
            <p:nvPr/>
          </p:nvSpPr>
          <p:spPr bwMode="auto">
            <a:xfrm>
              <a:off x="3079" y="998"/>
              <a:ext cx="1125" cy="694"/>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81" name="Rectangle 92">
              <a:extLst>
                <a:ext uri="{FF2B5EF4-FFF2-40B4-BE49-F238E27FC236}">
                  <a16:creationId xmlns:a16="http://schemas.microsoft.com/office/drawing/2014/main" id="{B9EB6500-2260-3B4E-9BBB-375153B4DD2C}"/>
                </a:ext>
              </a:extLst>
            </p:cNvPr>
            <p:cNvSpPr>
              <a:spLocks noChangeArrowheads="1"/>
            </p:cNvSpPr>
            <p:nvPr/>
          </p:nvSpPr>
          <p:spPr bwMode="auto">
            <a:xfrm>
              <a:off x="3079" y="998"/>
              <a:ext cx="1125" cy="694"/>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82" name="Rectangle 93">
              <a:extLst>
                <a:ext uri="{FF2B5EF4-FFF2-40B4-BE49-F238E27FC236}">
                  <a16:creationId xmlns:a16="http://schemas.microsoft.com/office/drawing/2014/main" id="{D4C78DC0-F7B6-C54D-9B2B-04F637AF9B7B}"/>
                </a:ext>
              </a:extLst>
            </p:cNvPr>
            <p:cNvSpPr>
              <a:spLocks noChangeArrowheads="1"/>
            </p:cNvSpPr>
            <p:nvPr/>
          </p:nvSpPr>
          <p:spPr bwMode="auto">
            <a:xfrm>
              <a:off x="3166" y="1085"/>
              <a:ext cx="951" cy="130"/>
            </a:xfrm>
            <a:prstGeom prst="rect">
              <a:avLst/>
            </a:prstGeom>
            <a:solidFill>
              <a:srgbClr val="FFB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83" name="Rectangle 94">
              <a:extLst>
                <a:ext uri="{FF2B5EF4-FFF2-40B4-BE49-F238E27FC236}">
                  <a16:creationId xmlns:a16="http://schemas.microsoft.com/office/drawing/2014/main" id="{8496DCAC-7521-C14C-8BA1-3E0182F680A4}"/>
                </a:ext>
              </a:extLst>
            </p:cNvPr>
            <p:cNvSpPr>
              <a:spLocks noChangeArrowheads="1"/>
            </p:cNvSpPr>
            <p:nvPr/>
          </p:nvSpPr>
          <p:spPr bwMode="auto">
            <a:xfrm>
              <a:off x="3166" y="1085"/>
              <a:ext cx="951" cy="130"/>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84" name="Rectangle 95">
              <a:extLst>
                <a:ext uri="{FF2B5EF4-FFF2-40B4-BE49-F238E27FC236}">
                  <a16:creationId xmlns:a16="http://schemas.microsoft.com/office/drawing/2014/main" id="{CB592180-29EB-7C4C-A43E-F8F73A877946}"/>
                </a:ext>
              </a:extLst>
            </p:cNvPr>
            <p:cNvSpPr>
              <a:spLocks noChangeArrowheads="1"/>
            </p:cNvSpPr>
            <p:nvPr/>
          </p:nvSpPr>
          <p:spPr bwMode="auto">
            <a:xfrm>
              <a:off x="3255" y="1078"/>
              <a:ext cx="80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Thread Warp 3</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85" name="Rectangle 96">
              <a:extLst>
                <a:ext uri="{FF2B5EF4-FFF2-40B4-BE49-F238E27FC236}">
                  <a16:creationId xmlns:a16="http://schemas.microsoft.com/office/drawing/2014/main" id="{14C66D13-F1F6-D94C-A723-FC2E6705AD24}"/>
                </a:ext>
              </a:extLst>
            </p:cNvPr>
            <p:cNvSpPr>
              <a:spLocks noChangeArrowheads="1"/>
            </p:cNvSpPr>
            <p:nvPr/>
          </p:nvSpPr>
          <p:spPr bwMode="auto">
            <a:xfrm>
              <a:off x="3166" y="1215"/>
              <a:ext cx="951" cy="130"/>
            </a:xfrm>
            <a:prstGeom prst="rect">
              <a:avLst/>
            </a:prstGeom>
            <a:solidFill>
              <a:srgbClr val="FFD5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86" name="Rectangle 97">
              <a:extLst>
                <a:ext uri="{FF2B5EF4-FFF2-40B4-BE49-F238E27FC236}">
                  <a16:creationId xmlns:a16="http://schemas.microsoft.com/office/drawing/2014/main" id="{D0C415B5-8951-0247-BD4F-A975684A8D84}"/>
                </a:ext>
              </a:extLst>
            </p:cNvPr>
            <p:cNvSpPr>
              <a:spLocks noChangeArrowheads="1"/>
            </p:cNvSpPr>
            <p:nvPr/>
          </p:nvSpPr>
          <p:spPr bwMode="auto">
            <a:xfrm>
              <a:off x="3166" y="1215"/>
              <a:ext cx="951" cy="130"/>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87" name="Rectangle 98">
              <a:extLst>
                <a:ext uri="{FF2B5EF4-FFF2-40B4-BE49-F238E27FC236}">
                  <a16:creationId xmlns:a16="http://schemas.microsoft.com/office/drawing/2014/main" id="{9639E5B7-930F-364E-8238-0241626C4CCD}"/>
                </a:ext>
              </a:extLst>
            </p:cNvPr>
            <p:cNvSpPr>
              <a:spLocks noChangeArrowheads="1"/>
            </p:cNvSpPr>
            <p:nvPr/>
          </p:nvSpPr>
          <p:spPr bwMode="auto">
            <a:xfrm>
              <a:off x="3255" y="1211"/>
              <a:ext cx="80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Thread Warp 8</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88" name="Freeform 99">
              <a:extLst>
                <a:ext uri="{FF2B5EF4-FFF2-40B4-BE49-F238E27FC236}">
                  <a16:creationId xmlns:a16="http://schemas.microsoft.com/office/drawing/2014/main" id="{D6FE6C0C-012A-334C-AA61-DBBDB341D375}"/>
                </a:ext>
              </a:extLst>
            </p:cNvPr>
            <p:cNvSpPr>
              <a:spLocks/>
            </p:cNvSpPr>
            <p:nvPr/>
          </p:nvSpPr>
          <p:spPr bwMode="auto">
            <a:xfrm>
              <a:off x="3631" y="1367"/>
              <a:ext cx="21" cy="21"/>
            </a:xfrm>
            <a:custGeom>
              <a:avLst/>
              <a:gdLst>
                <a:gd name="T0" fmla="*/ 0 w 49"/>
                <a:gd name="T1" fmla="*/ 0 h 50"/>
                <a:gd name="T2" fmla="*/ 0 w 49"/>
                <a:gd name="T3" fmla="*/ 0 h 50"/>
                <a:gd name="T4" fmla="*/ 0 w 49"/>
                <a:gd name="T5" fmla="*/ 0 h 50"/>
                <a:gd name="T6" fmla="*/ 0 w 49"/>
                <a:gd name="T7" fmla="*/ 0 h 50"/>
                <a:gd name="T8" fmla="*/ 0 w 49"/>
                <a:gd name="T9" fmla="*/ 0 h 50"/>
                <a:gd name="T10" fmla="*/ 0 w 49"/>
                <a:gd name="T11" fmla="*/ 0 h 50"/>
                <a:gd name="T12" fmla="*/ 0 60000 65536"/>
                <a:gd name="T13" fmla="*/ 0 60000 65536"/>
                <a:gd name="T14" fmla="*/ 0 60000 65536"/>
                <a:gd name="T15" fmla="*/ 0 60000 65536"/>
                <a:gd name="T16" fmla="*/ 0 60000 65536"/>
                <a:gd name="T17" fmla="*/ 0 60000 65536"/>
                <a:gd name="T18" fmla="*/ 0 w 49"/>
                <a:gd name="T19" fmla="*/ 0 h 50"/>
                <a:gd name="T20" fmla="*/ 49 w 49"/>
                <a:gd name="T21" fmla="*/ 50 h 50"/>
              </a:gdLst>
              <a:ahLst/>
              <a:cxnLst>
                <a:cxn ang="T12">
                  <a:pos x="T0" y="T1"/>
                </a:cxn>
                <a:cxn ang="T13">
                  <a:pos x="T2" y="T3"/>
                </a:cxn>
                <a:cxn ang="T14">
                  <a:pos x="T4" y="T5"/>
                </a:cxn>
                <a:cxn ang="T15">
                  <a:pos x="T6" y="T7"/>
                </a:cxn>
                <a:cxn ang="T16">
                  <a:pos x="T8" y="T9"/>
                </a:cxn>
                <a:cxn ang="T17">
                  <a:pos x="T10" y="T11"/>
                </a:cxn>
              </a:cxnLst>
              <a:rect l="T18" t="T19" r="T20" b="T21"/>
              <a:pathLst>
                <a:path w="49" h="50">
                  <a:moveTo>
                    <a:pt x="0" y="25"/>
                  </a:moveTo>
                  <a:cubicBezTo>
                    <a:pt x="0" y="11"/>
                    <a:pt x="11" y="0"/>
                    <a:pt x="24" y="0"/>
                  </a:cubicBezTo>
                  <a:cubicBezTo>
                    <a:pt x="38" y="0"/>
                    <a:pt x="49" y="11"/>
                    <a:pt x="49" y="25"/>
                  </a:cubicBezTo>
                  <a:cubicBezTo>
                    <a:pt x="49" y="25"/>
                    <a:pt x="49" y="25"/>
                    <a:pt x="49" y="25"/>
                  </a:cubicBezTo>
                  <a:cubicBezTo>
                    <a:pt x="49" y="39"/>
                    <a:pt x="38" y="50"/>
                    <a:pt x="24" y="50"/>
                  </a:cubicBezTo>
                  <a:cubicBezTo>
                    <a:pt x="11" y="50"/>
                    <a:pt x="0" y="39"/>
                    <a:pt x="0" y="25"/>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89" name="Freeform 100">
              <a:extLst>
                <a:ext uri="{FF2B5EF4-FFF2-40B4-BE49-F238E27FC236}">
                  <a16:creationId xmlns:a16="http://schemas.microsoft.com/office/drawing/2014/main" id="{49C315DE-E95C-C14B-87DC-110B542BD4BA}"/>
                </a:ext>
              </a:extLst>
            </p:cNvPr>
            <p:cNvSpPr>
              <a:spLocks/>
            </p:cNvSpPr>
            <p:nvPr/>
          </p:nvSpPr>
          <p:spPr bwMode="auto">
            <a:xfrm>
              <a:off x="3631" y="1367"/>
              <a:ext cx="21" cy="21"/>
            </a:xfrm>
            <a:custGeom>
              <a:avLst/>
              <a:gdLst>
                <a:gd name="T0" fmla="*/ 0 w 21"/>
                <a:gd name="T1" fmla="*/ 11 h 21"/>
                <a:gd name="T2" fmla="*/ 10 w 21"/>
                <a:gd name="T3" fmla="*/ 0 h 21"/>
                <a:gd name="T4" fmla="*/ 21 w 21"/>
                <a:gd name="T5" fmla="*/ 11 h 21"/>
                <a:gd name="T6" fmla="*/ 21 w 21"/>
                <a:gd name="T7" fmla="*/ 11 h 21"/>
                <a:gd name="T8" fmla="*/ 10 w 21"/>
                <a:gd name="T9" fmla="*/ 21 h 21"/>
                <a:gd name="T10" fmla="*/ 0 w 21"/>
                <a:gd name="T11" fmla="*/ 11 h 21"/>
                <a:gd name="T12" fmla="*/ 0 60000 65536"/>
                <a:gd name="T13" fmla="*/ 0 60000 65536"/>
                <a:gd name="T14" fmla="*/ 0 60000 65536"/>
                <a:gd name="T15" fmla="*/ 0 60000 65536"/>
                <a:gd name="T16" fmla="*/ 0 60000 65536"/>
                <a:gd name="T17" fmla="*/ 0 60000 65536"/>
                <a:gd name="T18" fmla="*/ 0 w 21"/>
                <a:gd name="T19" fmla="*/ 0 h 21"/>
                <a:gd name="T20" fmla="*/ 21 w 21"/>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21" h="21">
                  <a:moveTo>
                    <a:pt x="0" y="11"/>
                  </a:moveTo>
                  <a:cubicBezTo>
                    <a:pt x="0" y="4"/>
                    <a:pt x="5" y="0"/>
                    <a:pt x="10" y="0"/>
                  </a:cubicBezTo>
                  <a:cubicBezTo>
                    <a:pt x="16" y="0"/>
                    <a:pt x="21" y="4"/>
                    <a:pt x="21" y="11"/>
                  </a:cubicBezTo>
                  <a:cubicBezTo>
                    <a:pt x="21" y="11"/>
                    <a:pt x="21" y="11"/>
                    <a:pt x="21" y="11"/>
                  </a:cubicBezTo>
                  <a:cubicBezTo>
                    <a:pt x="21" y="17"/>
                    <a:pt x="16" y="21"/>
                    <a:pt x="10" y="21"/>
                  </a:cubicBezTo>
                  <a:cubicBezTo>
                    <a:pt x="5" y="21"/>
                    <a:pt x="0" y="17"/>
                    <a:pt x="0" y="11"/>
                  </a:cubicBezTo>
                </a:path>
              </a:pathLst>
            </a:custGeom>
            <a:noFill/>
            <a:ln w="31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90" name="Freeform 101">
              <a:extLst>
                <a:ext uri="{FF2B5EF4-FFF2-40B4-BE49-F238E27FC236}">
                  <a16:creationId xmlns:a16="http://schemas.microsoft.com/office/drawing/2014/main" id="{FB5C0108-2EB9-9143-AEB1-C1875D10C163}"/>
                </a:ext>
              </a:extLst>
            </p:cNvPr>
            <p:cNvSpPr>
              <a:spLocks/>
            </p:cNvSpPr>
            <p:nvPr/>
          </p:nvSpPr>
          <p:spPr bwMode="auto">
            <a:xfrm>
              <a:off x="3631" y="1410"/>
              <a:ext cx="21" cy="22"/>
            </a:xfrm>
            <a:custGeom>
              <a:avLst/>
              <a:gdLst>
                <a:gd name="T0" fmla="*/ 0 w 49"/>
                <a:gd name="T1" fmla="*/ 0 h 50"/>
                <a:gd name="T2" fmla="*/ 0 w 49"/>
                <a:gd name="T3" fmla="*/ 0 h 50"/>
                <a:gd name="T4" fmla="*/ 0 w 49"/>
                <a:gd name="T5" fmla="*/ 0 h 50"/>
                <a:gd name="T6" fmla="*/ 0 w 49"/>
                <a:gd name="T7" fmla="*/ 0 h 50"/>
                <a:gd name="T8" fmla="*/ 0 w 49"/>
                <a:gd name="T9" fmla="*/ 0 h 50"/>
                <a:gd name="T10" fmla="*/ 0 w 49"/>
                <a:gd name="T11" fmla="*/ 0 h 50"/>
                <a:gd name="T12" fmla="*/ 0 60000 65536"/>
                <a:gd name="T13" fmla="*/ 0 60000 65536"/>
                <a:gd name="T14" fmla="*/ 0 60000 65536"/>
                <a:gd name="T15" fmla="*/ 0 60000 65536"/>
                <a:gd name="T16" fmla="*/ 0 60000 65536"/>
                <a:gd name="T17" fmla="*/ 0 60000 65536"/>
                <a:gd name="T18" fmla="*/ 0 w 49"/>
                <a:gd name="T19" fmla="*/ 0 h 50"/>
                <a:gd name="T20" fmla="*/ 49 w 49"/>
                <a:gd name="T21" fmla="*/ 50 h 50"/>
              </a:gdLst>
              <a:ahLst/>
              <a:cxnLst>
                <a:cxn ang="T12">
                  <a:pos x="T0" y="T1"/>
                </a:cxn>
                <a:cxn ang="T13">
                  <a:pos x="T2" y="T3"/>
                </a:cxn>
                <a:cxn ang="T14">
                  <a:pos x="T4" y="T5"/>
                </a:cxn>
                <a:cxn ang="T15">
                  <a:pos x="T6" y="T7"/>
                </a:cxn>
                <a:cxn ang="T16">
                  <a:pos x="T8" y="T9"/>
                </a:cxn>
                <a:cxn ang="T17">
                  <a:pos x="T10" y="T11"/>
                </a:cxn>
              </a:cxnLst>
              <a:rect l="T18" t="T19" r="T20" b="T21"/>
              <a:pathLst>
                <a:path w="49" h="50">
                  <a:moveTo>
                    <a:pt x="0" y="25"/>
                  </a:moveTo>
                  <a:cubicBezTo>
                    <a:pt x="0" y="11"/>
                    <a:pt x="11" y="0"/>
                    <a:pt x="24" y="0"/>
                  </a:cubicBezTo>
                  <a:cubicBezTo>
                    <a:pt x="38" y="0"/>
                    <a:pt x="49" y="11"/>
                    <a:pt x="49" y="25"/>
                  </a:cubicBezTo>
                  <a:cubicBezTo>
                    <a:pt x="49" y="25"/>
                    <a:pt x="49" y="25"/>
                    <a:pt x="49" y="25"/>
                  </a:cubicBezTo>
                  <a:cubicBezTo>
                    <a:pt x="49" y="39"/>
                    <a:pt x="38" y="50"/>
                    <a:pt x="24" y="50"/>
                  </a:cubicBezTo>
                  <a:cubicBezTo>
                    <a:pt x="11" y="50"/>
                    <a:pt x="0" y="39"/>
                    <a:pt x="0" y="25"/>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91" name="Freeform 102">
              <a:extLst>
                <a:ext uri="{FF2B5EF4-FFF2-40B4-BE49-F238E27FC236}">
                  <a16:creationId xmlns:a16="http://schemas.microsoft.com/office/drawing/2014/main" id="{DB1BD8BF-D60D-AE4D-A0DC-41A23818A10D}"/>
                </a:ext>
              </a:extLst>
            </p:cNvPr>
            <p:cNvSpPr>
              <a:spLocks/>
            </p:cNvSpPr>
            <p:nvPr/>
          </p:nvSpPr>
          <p:spPr bwMode="auto">
            <a:xfrm>
              <a:off x="3631" y="1410"/>
              <a:ext cx="21" cy="22"/>
            </a:xfrm>
            <a:custGeom>
              <a:avLst/>
              <a:gdLst>
                <a:gd name="T0" fmla="*/ 0 w 21"/>
                <a:gd name="T1" fmla="*/ 11 h 22"/>
                <a:gd name="T2" fmla="*/ 10 w 21"/>
                <a:gd name="T3" fmla="*/ 0 h 22"/>
                <a:gd name="T4" fmla="*/ 21 w 21"/>
                <a:gd name="T5" fmla="*/ 11 h 22"/>
                <a:gd name="T6" fmla="*/ 21 w 21"/>
                <a:gd name="T7" fmla="*/ 11 h 22"/>
                <a:gd name="T8" fmla="*/ 10 w 21"/>
                <a:gd name="T9" fmla="*/ 22 h 22"/>
                <a:gd name="T10" fmla="*/ 0 w 21"/>
                <a:gd name="T11" fmla="*/ 11 h 22"/>
                <a:gd name="T12" fmla="*/ 0 60000 65536"/>
                <a:gd name="T13" fmla="*/ 0 60000 65536"/>
                <a:gd name="T14" fmla="*/ 0 60000 65536"/>
                <a:gd name="T15" fmla="*/ 0 60000 65536"/>
                <a:gd name="T16" fmla="*/ 0 60000 65536"/>
                <a:gd name="T17" fmla="*/ 0 60000 65536"/>
                <a:gd name="T18" fmla="*/ 0 w 21"/>
                <a:gd name="T19" fmla="*/ 0 h 22"/>
                <a:gd name="T20" fmla="*/ 21 w 21"/>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21" h="22">
                  <a:moveTo>
                    <a:pt x="0" y="11"/>
                  </a:moveTo>
                  <a:cubicBezTo>
                    <a:pt x="0" y="5"/>
                    <a:pt x="5" y="0"/>
                    <a:pt x="10" y="0"/>
                  </a:cubicBezTo>
                  <a:cubicBezTo>
                    <a:pt x="16" y="0"/>
                    <a:pt x="21" y="5"/>
                    <a:pt x="21" y="11"/>
                  </a:cubicBezTo>
                  <a:cubicBezTo>
                    <a:pt x="21" y="11"/>
                    <a:pt x="21" y="11"/>
                    <a:pt x="21" y="11"/>
                  </a:cubicBezTo>
                  <a:cubicBezTo>
                    <a:pt x="21" y="17"/>
                    <a:pt x="16" y="22"/>
                    <a:pt x="10" y="22"/>
                  </a:cubicBezTo>
                  <a:cubicBezTo>
                    <a:pt x="5" y="22"/>
                    <a:pt x="0" y="17"/>
                    <a:pt x="0" y="11"/>
                  </a:cubicBezTo>
                </a:path>
              </a:pathLst>
            </a:custGeom>
            <a:noFill/>
            <a:ln w="31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92" name="Freeform 103">
              <a:extLst>
                <a:ext uri="{FF2B5EF4-FFF2-40B4-BE49-F238E27FC236}">
                  <a16:creationId xmlns:a16="http://schemas.microsoft.com/office/drawing/2014/main" id="{6652280C-2158-7F43-8757-43EC3F418769}"/>
                </a:ext>
              </a:extLst>
            </p:cNvPr>
            <p:cNvSpPr>
              <a:spLocks/>
            </p:cNvSpPr>
            <p:nvPr/>
          </p:nvSpPr>
          <p:spPr bwMode="auto">
            <a:xfrm>
              <a:off x="3631" y="1453"/>
              <a:ext cx="21" cy="22"/>
            </a:xfrm>
            <a:custGeom>
              <a:avLst/>
              <a:gdLst>
                <a:gd name="T0" fmla="*/ 0 w 49"/>
                <a:gd name="T1" fmla="*/ 0 h 49"/>
                <a:gd name="T2" fmla="*/ 0 w 49"/>
                <a:gd name="T3" fmla="*/ 0 h 49"/>
                <a:gd name="T4" fmla="*/ 0 w 49"/>
                <a:gd name="T5" fmla="*/ 0 h 49"/>
                <a:gd name="T6" fmla="*/ 0 w 49"/>
                <a:gd name="T7" fmla="*/ 0 h 49"/>
                <a:gd name="T8" fmla="*/ 0 w 49"/>
                <a:gd name="T9" fmla="*/ 0 h 49"/>
                <a:gd name="T10" fmla="*/ 0 w 49"/>
                <a:gd name="T11" fmla="*/ 0 h 49"/>
                <a:gd name="T12" fmla="*/ 0 60000 65536"/>
                <a:gd name="T13" fmla="*/ 0 60000 65536"/>
                <a:gd name="T14" fmla="*/ 0 60000 65536"/>
                <a:gd name="T15" fmla="*/ 0 60000 65536"/>
                <a:gd name="T16" fmla="*/ 0 60000 65536"/>
                <a:gd name="T17" fmla="*/ 0 60000 65536"/>
                <a:gd name="T18" fmla="*/ 0 w 49"/>
                <a:gd name="T19" fmla="*/ 0 h 49"/>
                <a:gd name="T20" fmla="*/ 49 w 49"/>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49" h="49">
                  <a:moveTo>
                    <a:pt x="0" y="24"/>
                  </a:moveTo>
                  <a:cubicBezTo>
                    <a:pt x="0" y="11"/>
                    <a:pt x="11" y="0"/>
                    <a:pt x="24" y="0"/>
                  </a:cubicBezTo>
                  <a:cubicBezTo>
                    <a:pt x="38" y="0"/>
                    <a:pt x="49" y="11"/>
                    <a:pt x="49" y="24"/>
                  </a:cubicBezTo>
                  <a:cubicBezTo>
                    <a:pt x="49" y="24"/>
                    <a:pt x="49" y="24"/>
                    <a:pt x="49" y="24"/>
                  </a:cubicBezTo>
                  <a:cubicBezTo>
                    <a:pt x="49" y="38"/>
                    <a:pt x="38" y="49"/>
                    <a:pt x="24" y="49"/>
                  </a:cubicBezTo>
                  <a:cubicBezTo>
                    <a:pt x="11" y="49"/>
                    <a:pt x="0" y="38"/>
                    <a:pt x="0" y="24"/>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93" name="Freeform 104">
              <a:extLst>
                <a:ext uri="{FF2B5EF4-FFF2-40B4-BE49-F238E27FC236}">
                  <a16:creationId xmlns:a16="http://schemas.microsoft.com/office/drawing/2014/main" id="{A4E5B4E6-D2A8-EF4D-A340-989939F8BD9B}"/>
                </a:ext>
              </a:extLst>
            </p:cNvPr>
            <p:cNvSpPr>
              <a:spLocks/>
            </p:cNvSpPr>
            <p:nvPr/>
          </p:nvSpPr>
          <p:spPr bwMode="auto">
            <a:xfrm>
              <a:off x="3631" y="1453"/>
              <a:ext cx="21" cy="22"/>
            </a:xfrm>
            <a:custGeom>
              <a:avLst/>
              <a:gdLst>
                <a:gd name="T0" fmla="*/ 0 w 21"/>
                <a:gd name="T1" fmla="*/ 11 h 22"/>
                <a:gd name="T2" fmla="*/ 10 w 21"/>
                <a:gd name="T3" fmla="*/ 0 h 22"/>
                <a:gd name="T4" fmla="*/ 21 w 21"/>
                <a:gd name="T5" fmla="*/ 11 h 22"/>
                <a:gd name="T6" fmla="*/ 21 w 21"/>
                <a:gd name="T7" fmla="*/ 11 h 22"/>
                <a:gd name="T8" fmla="*/ 10 w 21"/>
                <a:gd name="T9" fmla="*/ 22 h 22"/>
                <a:gd name="T10" fmla="*/ 0 w 21"/>
                <a:gd name="T11" fmla="*/ 11 h 22"/>
                <a:gd name="T12" fmla="*/ 0 60000 65536"/>
                <a:gd name="T13" fmla="*/ 0 60000 65536"/>
                <a:gd name="T14" fmla="*/ 0 60000 65536"/>
                <a:gd name="T15" fmla="*/ 0 60000 65536"/>
                <a:gd name="T16" fmla="*/ 0 60000 65536"/>
                <a:gd name="T17" fmla="*/ 0 60000 65536"/>
                <a:gd name="T18" fmla="*/ 0 w 21"/>
                <a:gd name="T19" fmla="*/ 0 h 22"/>
                <a:gd name="T20" fmla="*/ 21 w 21"/>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21" h="22">
                  <a:moveTo>
                    <a:pt x="0" y="11"/>
                  </a:moveTo>
                  <a:cubicBezTo>
                    <a:pt x="0" y="5"/>
                    <a:pt x="5" y="0"/>
                    <a:pt x="10" y="0"/>
                  </a:cubicBezTo>
                  <a:cubicBezTo>
                    <a:pt x="16" y="0"/>
                    <a:pt x="21" y="5"/>
                    <a:pt x="21" y="11"/>
                  </a:cubicBezTo>
                  <a:cubicBezTo>
                    <a:pt x="21" y="11"/>
                    <a:pt x="21" y="11"/>
                    <a:pt x="21" y="11"/>
                  </a:cubicBezTo>
                  <a:cubicBezTo>
                    <a:pt x="21" y="17"/>
                    <a:pt x="16" y="22"/>
                    <a:pt x="10" y="22"/>
                  </a:cubicBezTo>
                  <a:cubicBezTo>
                    <a:pt x="5" y="22"/>
                    <a:pt x="0" y="17"/>
                    <a:pt x="0" y="11"/>
                  </a:cubicBezTo>
                </a:path>
              </a:pathLst>
            </a:custGeom>
            <a:noFill/>
            <a:ln w="31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94" name="Line 105">
              <a:extLst>
                <a:ext uri="{FF2B5EF4-FFF2-40B4-BE49-F238E27FC236}">
                  <a16:creationId xmlns:a16="http://schemas.microsoft.com/office/drawing/2014/main" id="{637C5F20-8406-994A-86E5-2B7A391010F0}"/>
                </a:ext>
              </a:extLst>
            </p:cNvPr>
            <p:cNvSpPr>
              <a:spLocks noChangeShapeType="1"/>
            </p:cNvSpPr>
            <p:nvPr/>
          </p:nvSpPr>
          <p:spPr bwMode="auto">
            <a:xfrm>
              <a:off x="3641" y="1627"/>
              <a:ext cx="1" cy="140"/>
            </a:xfrm>
            <a:prstGeom prst="line">
              <a:avLst/>
            </a:prstGeom>
            <a:noFill/>
            <a:ln w="17463" cap="rnd">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95" name="Freeform 106">
              <a:extLst>
                <a:ext uri="{FF2B5EF4-FFF2-40B4-BE49-F238E27FC236}">
                  <a16:creationId xmlns:a16="http://schemas.microsoft.com/office/drawing/2014/main" id="{B748C062-AEE0-ED46-84E0-73400100AD74}"/>
                </a:ext>
              </a:extLst>
            </p:cNvPr>
            <p:cNvSpPr>
              <a:spLocks/>
            </p:cNvSpPr>
            <p:nvPr/>
          </p:nvSpPr>
          <p:spPr bwMode="auto">
            <a:xfrm>
              <a:off x="3606" y="1750"/>
              <a:ext cx="71" cy="72"/>
            </a:xfrm>
            <a:custGeom>
              <a:avLst/>
              <a:gdLst>
                <a:gd name="T0" fmla="*/ 0 w 164"/>
                <a:gd name="T1" fmla="*/ 0 h 165"/>
                <a:gd name="T2" fmla="*/ 0 w 164"/>
                <a:gd name="T3" fmla="*/ 0 h 165"/>
                <a:gd name="T4" fmla="*/ 0 w 164"/>
                <a:gd name="T5" fmla="*/ 0 h 165"/>
                <a:gd name="T6" fmla="*/ 0 w 164"/>
                <a:gd name="T7" fmla="*/ 0 h 165"/>
                <a:gd name="T8" fmla="*/ 0 w 164"/>
                <a:gd name="T9" fmla="*/ 0 h 165"/>
                <a:gd name="T10" fmla="*/ 0 60000 65536"/>
                <a:gd name="T11" fmla="*/ 0 60000 65536"/>
                <a:gd name="T12" fmla="*/ 0 60000 65536"/>
                <a:gd name="T13" fmla="*/ 0 60000 65536"/>
                <a:gd name="T14" fmla="*/ 0 60000 65536"/>
                <a:gd name="T15" fmla="*/ 0 w 164"/>
                <a:gd name="T16" fmla="*/ 0 h 165"/>
                <a:gd name="T17" fmla="*/ 164 w 164"/>
                <a:gd name="T18" fmla="*/ 165 h 165"/>
              </a:gdLst>
              <a:ahLst/>
              <a:cxnLst>
                <a:cxn ang="T10">
                  <a:pos x="T0" y="T1"/>
                </a:cxn>
                <a:cxn ang="T11">
                  <a:pos x="T2" y="T3"/>
                </a:cxn>
                <a:cxn ang="T12">
                  <a:pos x="T4" y="T5"/>
                </a:cxn>
                <a:cxn ang="T13">
                  <a:pos x="T6" y="T7"/>
                </a:cxn>
                <a:cxn ang="T14">
                  <a:pos x="T8" y="T9"/>
                </a:cxn>
              </a:cxnLst>
              <a:rect l="T15" t="T16" r="T17" b="T18"/>
              <a:pathLst>
                <a:path w="164" h="165">
                  <a:moveTo>
                    <a:pt x="82" y="165"/>
                  </a:moveTo>
                  <a:lnTo>
                    <a:pt x="0" y="0"/>
                  </a:lnTo>
                  <a:cubicBezTo>
                    <a:pt x="52" y="26"/>
                    <a:pt x="113" y="26"/>
                    <a:pt x="164" y="0"/>
                  </a:cubicBezTo>
                  <a:lnTo>
                    <a:pt x="82" y="165"/>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96" name="Freeform 107">
              <a:extLst>
                <a:ext uri="{FF2B5EF4-FFF2-40B4-BE49-F238E27FC236}">
                  <a16:creationId xmlns:a16="http://schemas.microsoft.com/office/drawing/2014/main" id="{EBCC4B88-2BBF-244B-8B69-C8F4D0C58D9D}"/>
                </a:ext>
              </a:extLst>
            </p:cNvPr>
            <p:cNvSpPr>
              <a:spLocks/>
            </p:cNvSpPr>
            <p:nvPr/>
          </p:nvSpPr>
          <p:spPr bwMode="auto">
            <a:xfrm>
              <a:off x="2993" y="950"/>
              <a:ext cx="648" cy="2807"/>
            </a:xfrm>
            <a:custGeom>
              <a:avLst/>
              <a:gdLst>
                <a:gd name="T0" fmla="*/ 648 w 648"/>
                <a:gd name="T1" fmla="*/ 3813 h 2751"/>
                <a:gd name="T2" fmla="*/ 648 w 648"/>
                <a:gd name="T3" fmla="*/ 4032 h 2751"/>
                <a:gd name="T4" fmla="*/ 0 w 648"/>
                <a:gd name="T5" fmla="*/ 4032 h 2751"/>
                <a:gd name="T6" fmla="*/ 0 w 648"/>
                <a:gd name="T7" fmla="*/ 0 h 2751"/>
                <a:gd name="T8" fmla="*/ 648 w 648"/>
                <a:gd name="T9" fmla="*/ 0 h 2751"/>
                <a:gd name="T10" fmla="*/ 648 w 648"/>
                <a:gd name="T11" fmla="*/ 80 h 2751"/>
                <a:gd name="T12" fmla="*/ 0 60000 65536"/>
                <a:gd name="T13" fmla="*/ 0 60000 65536"/>
                <a:gd name="T14" fmla="*/ 0 60000 65536"/>
                <a:gd name="T15" fmla="*/ 0 60000 65536"/>
                <a:gd name="T16" fmla="*/ 0 60000 65536"/>
                <a:gd name="T17" fmla="*/ 0 60000 65536"/>
                <a:gd name="T18" fmla="*/ 0 w 648"/>
                <a:gd name="T19" fmla="*/ 0 h 2751"/>
                <a:gd name="T20" fmla="*/ 648 w 648"/>
                <a:gd name="T21" fmla="*/ 2751 h 2751"/>
              </a:gdLst>
              <a:ahLst/>
              <a:cxnLst>
                <a:cxn ang="T12">
                  <a:pos x="T0" y="T1"/>
                </a:cxn>
                <a:cxn ang="T13">
                  <a:pos x="T2" y="T3"/>
                </a:cxn>
                <a:cxn ang="T14">
                  <a:pos x="T4" y="T5"/>
                </a:cxn>
                <a:cxn ang="T15">
                  <a:pos x="T6" y="T7"/>
                </a:cxn>
                <a:cxn ang="T16">
                  <a:pos x="T8" y="T9"/>
                </a:cxn>
                <a:cxn ang="T17">
                  <a:pos x="T10" y="T11"/>
                </a:cxn>
              </a:cxnLst>
              <a:rect l="T18" t="T19" r="T20" b="T21"/>
              <a:pathLst>
                <a:path w="648" h="2751">
                  <a:moveTo>
                    <a:pt x="648" y="2600"/>
                  </a:moveTo>
                  <a:lnTo>
                    <a:pt x="648" y="2751"/>
                  </a:lnTo>
                  <a:lnTo>
                    <a:pt x="0" y="2751"/>
                  </a:lnTo>
                  <a:lnTo>
                    <a:pt x="0" y="0"/>
                  </a:lnTo>
                  <a:lnTo>
                    <a:pt x="648" y="0"/>
                  </a:lnTo>
                  <a:lnTo>
                    <a:pt x="648" y="58"/>
                  </a:lnTo>
                </a:path>
              </a:pathLst>
            </a:custGeom>
            <a:noFill/>
            <a:ln w="174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97" name="Freeform 108">
              <a:extLst>
                <a:ext uri="{FF2B5EF4-FFF2-40B4-BE49-F238E27FC236}">
                  <a16:creationId xmlns:a16="http://schemas.microsoft.com/office/drawing/2014/main" id="{6B979DFB-E4C8-4A44-B53A-916E05A32673}"/>
                </a:ext>
              </a:extLst>
            </p:cNvPr>
            <p:cNvSpPr>
              <a:spLocks/>
            </p:cNvSpPr>
            <p:nvPr/>
          </p:nvSpPr>
          <p:spPr bwMode="auto">
            <a:xfrm>
              <a:off x="3606" y="1018"/>
              <a:ext cx="71" cy="72"/>
            </a:xfrm>
            <a:custGeom>
              <a:avLst/>
              <a:gdLst>
                <a:gd name="T0" fmla="*/ 0 w 164"/>
                <a:gd name="T1" fmla="*/ 0 h 165"/>
                <a:gd name="T2" fmla="*/ 0 w 164"/>
                <a:gd name="T3" fmla="*/ 0 h 165"/>
                <a:gd name="T4" fmla="*/ 0 w 164"/>
                <a:gd name="T5" fmla="*/ 0 h 165"/>
                <a:gd name="T6" fmla="*/ 0 w 164"/>
                <a:gd name="T7" fmla="*/ 0 h 165"/>
                <a:gd name="T8" fmla="*/ 0 w 164"/>
                <a:gd name="T9" fmla="*/ 0 h 165"/>
                <a:gd name="T10" fmla="*/ 0 60000 65536"/>
                <a:gd name="T11" fmla="*/ 0 60000 65536"/>
                <a:gd name="T12" fmla="*/ 0 60000 65536"/>
                <a:gd name="T13" fmla="*/ 0 60000 65536"/>
                <a:gd name="T14" fmla="*/ 0 60000 65536"/>
                <a:gd name="T15" fmla="*/ 0 w 164"/>
                <a:gd name="T16" fmla="*/ 0 h 165"/>
                <a:gd name="T17" fmla="*/ 164 w 164"/>
                <a:gd name="T18" fmla="*/ 165 h 165"/>
              </a:gdLst>
              <a:ahLst/>
              <a:cxnLst>
                <a:cxn ang="T10">
                  <a:pos x="T0" y="T1"/>
                </a:cxn>
                <a:cxn ang="T11">
                  <a:pos x="T2" y="T3"/>
                </a:cxn>
                <a:cxn ang="T12">
                  <a:pos x="T4" y="T5"/>
                </a:cxn>
                <a:cxn ang="T13">
                  <a:pos x="T6" y="T7"/>
                </a:cxn>
                <a:cxn ang="T14">
                  <a:pos x="T8" y="T9"/>
                </a:cxn>
              </a:cxnLst>
              <a:rect l="T15" t="T16" r="T17" b="T18"/>
              <a:pathLst>
                <a:path w="164" h="165">
                  <a:moveTo>
                    <a:pt x="82" y="165"/>
                  </a:moveTo>
                  <a:lnTo>
                    <a:pt x="0" y="0"/>
                  </a:lnTo>
                  <a:cubicBezTo>
                    <a:pt x="52" y="26"/>
                    <a:pt x="113" y="26"/>
                    <a:pt x="164" y="0"/>
                  </a:cubicBezTo>
                  <a:lnTo>
                    <a:pt x="82" y="165"/>
                  </a:lnTo>
                  <a:close/>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98" name="Rectangle 109">
              <a:extLst>
                <a:ext uri="{FF2B5EF4-FFF2-40B4-BE49-F238E27FC236}">
                  <a16:creationId xmlns:a16="http://schemas.microsoft.com/office/drawing/2014/main" id="{0363BDB1-F7F6-AE4B-9CA9-C864E6FB273C}"/>
                </a:ext>
              </a:extLst>
            </p:cNvPr>
            <p:cNvSpPr>
              <a:spLocks noChangeArrowheads="1"/>
            </p:cNvSpPr>
            <p:nvPr/>
          </p:nvSpPr>
          <p:spPr bwMode="auto">
            <a:xfrm>
              <a:off x="3166" y="3468"/>
              <a:ext cx="951" cy="13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99" name="Rectangle 110">
              <a:extLst>
                <a:ext uri="{FF2B5EF4-FFF2-40B4-BE49-F238E27FC236}">
                  <a16:creationId xmlns:a16="http://schemas.microsoft.com/office/drawing/2014/main" id="{892C6088-0F85-5242-8C81-C34E079C21FA}"/>
                </a:ext>
              </a:extLst>
            </p:cNvPr>
            <p:cNvSpPr>
              <a:spLocks noChangeArrowheads="1"/>
            </p:cNvSpPr>
            <p:nvPr/>
          </p:nvSpPr>
          <p:spPr bwMode="auto">
            <a:xfrm>
              <a:off x="3166" y="3468"/>
              <a:ext cx="951" cy="130"/>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00" name="Rectangle 111">
              <a:extLst>
                <a:ext uri="{FF2B5EF4-FFF2-40B4-BE49-F238E27FC236}">
                  <a16:creationId xmlns:a16="http://schemas.microsoft.com/office/drawing/2014/main" id="{196FBC25-6511-F640-9AC8-DC330BD4C9DF}"/>
                </a:ext>
              </a:extLst>
            </p:cNvPr>
            <p:cNvSpPr>
              <a:spLocks noChangeArrowheads="1"/>
            </p:cNvSpPr>
            <p:nvPr/>
          </p:nvSpPr>
          <p:spPr bwMode="auto">
            <a:xfrm>
              <a:off x="3388" y="3459"/>
              <a:ext cx="53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Writeback</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01" name="Rectangle 112">
              <a:extLst>
                <a:ext uri="{FF2B5EF4-FFF2-40B4-BE49-F238E27FC236}">
                  <a16:creationId xmlns:a16="http://schemas.microsoft.com/office/drawing/2014/main" id="{A8A714B5-DBF3-AA42-B58B-9CB0E828E8C6}"/>
                </a:ext>
              </a:extLst>
            </p:cNvPr>
            <p:cNvSpPr>
              <a:spLocks noChangeArrowheads="1"/>
            </p:cNvSpPr>
            <p:nvPr/>
          </p:nvSpPr>
          <p:spPr bwMode="auto">
            <a:xfrm>
              <a:off x="4344" y="1023"/>
              <a:ext cx="911"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1"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Warps available</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02" name="Rectangle 113">
              <a:extLst>
                <a:ext uri="{FF2B5EF4-FFF2-40B4-BE49-F238E27FC236}">
                  <a16:creationId xmlns:a16="http://schemas.microsoft.com/office/drawing/2014/main" id="{3094FAE2-91CD-5A4D-8653-FF845DF4B465}"/>
                </a:ext>
              </a:extLst>
            </p:cNvPr>
            <p:cNvSpPr>
              <a:spLocks noChangeArrowheads="1"/>
            </p:cNvSpPr>
            <p:nvPr/>
          </p:nvSpPr>
          <p:spPr bwMode="auto">
            <a:xfrm>
              <a:off x="4435" y="1162"/>
              <a:ext cx="82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1"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for scheduling</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03" name="Freeform 114">
              <a:extLst>
                <a:ext uri="{FF2B5EF4-FFF2-40B4-BE49-F238E27FC236}">
                  <a16:creationId xmlns:a16="http://schemas.microsoft.com/office/drawing/2014/main" id="{21CBC687-C7AA-9E4A-BC93-2DFAC238E7B5}"/>
                </a:ext>
              </a:extLst>
            </p:cNvPr>
            <p:cNvSpPr>
              <a:spLocks/>
            </p:cNvSpPr>
            <p:nvPr/>
          </p:nvSpPr>
          <p:spPr bwMode="auto">
            <a:xfrm>
              <a:off x="3674" y="2374"/>
              <a:ext cx="21" cy="22"/>
            </a:xfrm>
            <a:custGeom>
              <a:avLst/>
              <a:gdLst>
                <a:gd name="T0" fmla="*/ 0 w 49"/>
                <a:gd name="T1" fmla="*/ 0 h 50"/>
                <a:gd name="T2" fmla="*/ 0 w 49"/>
                <a:gd name="T3" fmla="*/ 0 h 50"/>
                <a:gd name="T4" fmla="*/ 0 w 49"/>
                <a:gd name="T5" fmla="*/ 0 h 50"/>
                <a:gd name="T6" fmla="*/ 0 w 49"/>
                <a:gd name="T7" fmla="*/ 0 h 50"/>
                <a:gd name="T8" fmla="*/ 0 w 49"/>
                <a:gd name="T9" fmla="*/ 0 h 50"/>
                <a:gd name="T10" fmla="*/ 0 w 49"/>
                <a:gd name="T11" fmla="*/ 0 h 50"/>
                <a:gd name="T12" fmla="*/ 0 60000 65536"/>
                <a:gd name="T13" fmla="*/ 0 60000 65536"/>
                <a:gd name="T14" fmla="*/ 0 60000 65536"/>
                <a:gd name="T15" fmla="*/ 0 60000 65536"/>
                <a:gd name="T16" fmla="*/ 0 60000 65536"/>
                <a:gd name="T17" fmla="*/ 0 60000 65536"/>
                <a:gd name="T18" fmla="*/ 0 w 49"/>
                <a:gd name="T19" fmla="*/ 0 h 50"/>
                <a:gd name="T20" fmla="*/ 49 w 49"/>
                <a:gd name="T21" fmla="*/ 50 h 50"/>
              </a:gdLst>
              <a:ahLst/>
              <a:cxnLst>
                <a:cxn ang="T12">
                  <a:pos x="T0" y="T1"/>
                </a:cxn>
                <a:cxn ang="T13">
                  <a:pos x="T2" y="T3"/>
                </a:cxn>
                <a:cxn ang="T14">
                  <a:pos x="T4" y="T5"/>
                </a:cxn>
                <a:cxn ang="T15">
                  <a:pos x="T6" y="T7"/>
                </a:cxn>
                <a:cxn ang="T16">
                  <a:pos x="T8" y="T9"/>
                </a:cxn>
                <a:cxn ang="T17">
                  <a:pos x="T10" y="T11"/>
                </a:cxn>
              </a:cxnLst>
              <a:rect l="T18" t="T19" r="T20" b="T21"/>
              <a:pathLst>
                <a:path w="49" h="50">
                  <a:moveTo>
                    <a:pt x="0" y="25"/>
                  </a:moveTo>
                  <a:cubicBezTo>
                    <a:pt x="0" y="12"/>
                    <a:pt x="11" y="0"/>
                    <a:pt x="24" y="0"/>
                  </a:cubicBezTo>
                  <a:cubicBezTo>
                    <a:pt x="38" y="0"/>
                    <a:pt x="49" y="12"/>
                    <a:pt x="49" y="25"/>
                  </a:cubicBezTo>
                  <a:cubicBezTo>
                    <a:pt x="49" y="25"/>
                    <a:pt x="49" y="25"/>
                    <a:pt x="49" y="25"/>
                  </a:cubicBezTo>
                  <a:cubicBezTo>
                    <a:pt x="49" y="39"/>
                    <a:pt x="38" y="50"/>
                    <a:pt x="24" y="50"/>
                  </a:cubicBezTo>
                  <a:cubicBezTo>
                    <a:pt x="11" y="50"/>
                    <a:pt x="0" y="39"/>
                    <a:pt x="0" y="25"/>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04" name="Freeform 115">
              <a:extLst>
                <a:ext uri="{FF2B5EF4-FFF2-40B4-BE49-F238E27FC236}">
                  <a16:creationId xmlns:a16="http://schemas.microsoft.com/office/drawing/2014/main" id="{044EFE44-6550-224A-8350-43E9FBD122E3}"/>
                </a:ext>
              </a:extLst>
            </p:cNvPr>
            <p:cNvSpPr>
              <a:spLocks/>
            </p:cNvSpPr>
            <p:nvPr/>
          </p:nvSpPr>
          <p:spPr bwMode="auto">
            <a:xfrm>
              <a:off x="3674" y="2374"/>
              <a:ext cx="21" cy="22"/>
            </a:xfrm>
            <a:custGeom>
              <a:avLst/>
              <a:gdLst>
                <a:gd name="T0" fmla="*/ 0 w 21"/>
                <a:gd name="T1" fmla="*/ 11 h 22"/>
                <a:gd name="T2" fmla="*/ 10 w 21"/>
                <a:gd name="T3" fmla="*/ 0 h 22"/>
                <a:gd name="T4" fmla="*/ 21 w 21"/>
                <a:gd name="T5" fmla="*/ 11 h 22"/>
                <a:gd name="T6" fmla="*/ 21 w 21"/>
                <a:gd name="T7" fmla="*/ 11 h 22"/>
                <a:gd name="T8" fmla="*/ 10 w 21"/>
                <a:gd name="T9" fmla="*/ 22 h 22"/>
                <a:gd name="T10" fmla="*/ 0 w 21"/>
                <a:gd name="T11" fmla="*/ 11 h 22"/>
                <a:gd name="T12" fmla="*/ 0 60000 65536"/>
                <a:gd name="T13" fmla="*/ 0 60000 65536"/>
                <a:gd name="T14" fmla="*/ 0 60000 65536"/>
                <a:gd name="T15" fmla="*/ 0 60000 65536"/>
                <a:gd name="T16" fmla="*/ 0 60000 65536"/>
                <a:gd name="T17" fmla="*/ 0 60000 65536"/>
                <a:gd name="T18" fmla="*/ 0 w 21"/>
                <a:gd name="T19" fmla="*/ 0 h 22"/>
                <a:gd name="T20" fmla="*/ 21 w 21"/>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21" h="22">
                  <a:moveTo>
                    <a:pt x="0" y="11"/>
                  </a:moveTo>
                  <a:cubicBezTo>
                    <a:pt x="0" y="5"/>
                    <a:pt x="5" y="0"/>
                    <a:pt x="10" y="0"/>
                  </a:cubicBezTo>
                  <a:cubicBezTo>
                    <a:pt x="17" y="0"/>
                    <a:pt x="21" y="5"/>
                    <a:pt x="21" y="11"/>
                  </a:cubicBezTo>
                  <a:cubicBezTo>
                    <a:pt x="21" y="11"/>
                    <a:pt x="21" y="11"/>
                    <a:pt x="21" y="11"/>
                  </a:cubicBezTo>
                  <a:cubicBezTo>
                    <a:pt x="21" y="17"/>
                    <a:pt x="17" y="22"/>
                    <a:pt x="10" y="22"/>
                  </a:cubicBezTo>
                  <a:cubicBezTo>
                    <a:pt x="5" y="22"/>
                    <a:pt x="0" y="17"/>
                    <a:pt x="0" y="11"/>
                  </a:cubicBezTo>
                </a:path>
              </a:pathLst>
            </a:custGeom>
            <a:noFill/>
            <a:ln w="31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05" name="Freeform 116">
              <a:extLst>
                <a:ext uri="{FF2B5EF4-FFF2-40B4-BE49-F238E27FC236}">
                  <a16:creationId xmlns:a16="http://schemas.microsoft.com/office/drawing/2014/main" id="{031D9DB4-1152-AE46-9316-FA24B0A206C0}"/>
                </a:ext>
              </a:extLst>
            </p:cNvPr>
            <p:cNvSpPr>
              <a:spLocks/>
            </p:cNvSpPr>
            <p:nvPr/>
          </p:nvSpPr>
          <p:spPr bwMode="auto">
            <a:xfrm>
              <a:off x="3760" y="2374"/>
              <a:ext cx="22" cy="22"/>
            </a:xfrm>
            <a:custGeom>
              <a:avLst/>
              <a:gdLst>
                <a:gd name="T0" fmla="*/ 0 w 49"/>
                <a:gd name="T1" fmla="*/ 0 h 50"/>
                <a:gd name="T2" fmla="*/ 0 w 49"/>
                <a:gd name="T3" fmla="*/ 0 h 50"/>
                <a:gd name="T4" fmla="*/ 0 w 49"/>
                <a:gd name="T5" fmla="*/ 0 h 50"/>
                <a:gd name="T6" fmla="*/ 0 w 49"/>
                <a:gd name="T7" fmla="*/ 0 h 50"/>
                <a:gd name="T8" fmla="*/ 0 w 49"/>
                <a:gd name="T9" fmla="*/ 0 h 50"/>
                <a:gd name="T10" fmla="*/ 0 w 49"/>
                <a:gd name="T11" fmla="*/ 0 h 50"/>
                <a:gd name="T12" fmla="*/ 0 60000 65536"/>
                <a:gd name="T13" fmla="*/ 0 60000 65536"/>
                <a:gd name="T14" fmla="*/ 0 60000 65536"/>
                <a:gd name="T15" fmla="*/ 0 60000 65536"/>
                <a:gd name="T16" fmla="*/ 0 60000 65536"/>
                <a:gd name="T17" fmla="*/ 0 60000 65536"/>
                <a:gd name="T18" fmla="*/ 0 w 49"/>
                <a:gd name="T19" fmla="*/ 0 h 50"/>
                <a:gd name="T20" fmla="*/ 49 w 49"/>
                <a:gd name="T21" fmla="*/ 50 h 50"/>
              </a:gdLst>
              <a:ahLst/>
              <a:cxnLst>
                <a:cxn ang="T12">
                  <a:pos x="T0" y="T1"/>
                </a:cxn>
                <a:cxn ang="T13">
                  <a:pos x="T2" y="T3"/>
                </a:cxn>
                <a:cxn ang="T14">
                  <a:pos x="T4" y="T5"/>
                </a:cxn>
                <a:cxn ang="T15">
                  <a:pos x="T6" y="T7"/>
                </a:cxn>
                <a:cxn ang="T16">
                  <a:pos x="T8" y="T9"/>
                </a:cxn>
                <a:cxn ang="T17">
                  <a:pos x="T10" y="T11"/>
                </a:cxn>
              </a:cxnLst>
              <a:rect l="T18" t="T19" r="T20" b="T21"/>
              <a:pathLst>
                <a:path w="49" h="50">
                  <a:moveTo>
                    <a:pt x="0" y="25"/>
                  </a:moveTo>
                  <a:cubicBezTo>
                    <a:pt x="0" y="12"/>
                    <a:pt x="11" y="0"/>
                    <a:pt x="25" y="0"/>
                  </a:cubicBezTo>
                  <a:cubicBezTo>
                    <a:pt x="38" y="0"/>
                    <a:pt x="49" y="12"/>
                    <a:pt x="49" y="25"/>
                  </a:cubicBezTo>
                  <a:cubicBezTo>
                    <a:pt x="49" y="25"/>
                    <a:pt x="49" y="25"/>
                    <a:pt x="49" y="25"/>
                  </a:cubicBezTo>
                  <a:cubicBezTo>
                    <a:pt x="49" y="39"/>
                    <a:pt x="38" y="50"/>
                    <a:pt x="25" y="50"/>
                  </a:cubicBezTo>
                  <a:cubicBezTo>
                    <a:pt x="11" y="50"/>
                    <a:pt x="0" y="39"/>
                    <a:pt x="0" y="25"/>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06" name="Freeform 117">
              <a:extLst>
                <a:ext uri="{FF2B5EF4-FFF2-40B4-BE49-F238E27FC236}">
                  <a16:creationId xmlns:a16="http://schemas.microsoft.com/office/drawing/2014/main" id="{2882D622-186D-F04A-93CE-667609C5DC7B}"/>
                </a:ext>
              </a:extLst>
            </p:cNvPr>
            <p:cNvSpPr>
              <a:spLocks/>
            </p:cNvSpPr>
            <p:nvPr/>
          </p:nvSpPr>
          <p:spPr bwMode="auto">
            <a:xfrm>
              <a:off x="3760" y="2374"/>
              <a:ext cx="22" cy="22"/>
            </a:xfrm>
            <a:custGeom>
              <a:avLst/>
              <a:gdLst>
                <a:gd name="T0" fmla="*/ 0 w 22"/>
                <a:gd name="T1" fmla="*/ 11 h 22"/>
                <a:gd name="T2" fmla="*/ 11 w 22"/>
                <a:gd name="T3" fmla="*/ 0 h 22"/>
                <a:gd name="T4" fmla="*/ 22 w 22"/>
                <a:gd name="T5" fmla="*/ 11 h 22"/>
                <a:gd name="T6" fmla="*/ 22 w 22"/>
                <a:gd name="T7" fmla="*/ 11 h 22"/>
                <a:gd name="T8" fmla="*/ 11 w 22"/>
                <a:gd name="T9" fmla="*/ 22 h 22"/>
                <a:gd name="T10" fmla="*/ 0 w 22"/>
                <a:gd name="T11" fmla="*/ 11 h 22"/>
                <a:gd name="T12" fmla="*/ 0 60000 65536"/>
                <a:gd name="T13" fmla="*/ 0 60000 65536"/>
                <a:gd name="T14" fmla="*/ 0 60000 65536"/>
                <a:gd name="T15" fmla="*/ 0 60000 65536"/>
                <a:gd name="T16" fmla="*/ 0 60000 65536"/>
                <a:gd name="T17" fmla="*/ 0 60000 65536"/>
                <a:gd name="T18" fmla="*/ 0 w 22"/>
                <a:gd name="T19" fmla="*/ 0 h 22"/>
                <a:gd name="T20" fmla="*/ 22 w 22"/>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22" h="22">
                  <a:moveTo>
                    <a:pt x="0" y="11"/>
                  </a:moveTo>
                  <a:cubicBezTo>
                    <a:pt x="0" y="5"/>
                    <a:pt x="5" y="0"/>
                    <a:pt x="11" y="0"/>
                  </a:cubicBezTo>
                  <a:cubicBezTo>
                    <a:pt x="17" y="0"/>
                    <a:pt x="22" y="5"/>
                    <a:pt x="22" y="11"/>
                  </a:cubicBezTo>
                  <a:cubicBezTo>
                    <a:pt x="22" y="11"/>
                    <a:pt x="22" y="11"/>
                    <a:pt x="22" y="11"/>
                  </a:cubicBezTo>
                  <a:cubicBezTo>
                    <a:pt x="22" y="17"/>
                    <a:pt x="17" y="22"/>
                    <a:pt x="11" y="22"/>
                  </a:cubicBezTo>
                  <a:cubicBezTo>
                    <a:pt x="5" y="22"/>
                    <a:pt x="0" y="17"/>
                    <a:pt x="0" y="11"/>
                  </a:cubicBezTo>
                </a:path>
              </a:pathLst>
            </a:custGeom>
            <a:noFill/>
            <a:ln w="31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07" name="Freeform 118">
              <a:extLst>
                <a:ext uri="{FF2B5EF4-FFF2-40B4-BE49-F238E27FC236}">
                  <a16:creationId xmlns:a16="http://schemas.microsoft.com/office/drawing/2014/main" id="{B9FEC758-D64B-514F-8F3E-F5BE07D7413C}"/>
                </a:ext>
              </a:extLst>
            </p:cNvPr>
            <p:cNvSpPr>
              <a:spLocks/>
            </p:cNvSpPr>
            <p:nvPr/>
          </p:nvSpPr>
          <p:spPr bwMode="auto">
            <a:xfrm>
              <a:off x="3847" y="2374"/>
              <a:ext cx="22" cy="22"/>
            </a:xfrm>
            <a:custGeom>
              <a:avLst/>
              <a:gdLst>
                <a:gd name="T0" fmla="*/ 0 w 50"/>
                <a:gd name="T1" fmla="*/ 0 h 50"/>
                <a:gd name="T2" fmla="*/ 0 w 50"/>
                <a:gd name="T3" fmla="*/ 0 h 50"/>
                <a:gd name="T4" fmla="*/ 0 w 50"/>
                <a:gd name="T5" fmla="*/ 0 h 50"/>
                <a:gd name="T6" fmla="*/ 0 w 50"/>
                <a:gd name="T7" fmla="*/ 0 h 50"/>
                <a:gd name="T8" fmla="*/ 0 w 50"/>
                <a:gd name="T9" fmla="*/ 0 h 50"/>
                <a:gd name="T10" fmla="*/ 0 w 50"/>
                <a:gd name="T11" fmla="*/ 0 h 50"/>
                <a:gd name="T12" fmla="*/ 0 60000 65536"/>
                <a:gd name="T13" fmla="*/ 0 60000 65536"/>
                <a:gd name="T14" fmla="*/ 0 60000 65536"/>
                <a:gd name="T15" fmla="*/ 0 60000 65536"/>
                <a:gd name="T16" fmla="*/ 0 60000 65536"/>
                <a:gd name="T17" fmla="*/ 0 60000 65536"/>
                <a:gd name="T18" fmla="*/ 0 w 50"/>
                <a:gd name="T19" fmla="*/ 0 h 50"/>
                <a:gd name="T20" fmla="*/ 50 w 50"/>
                <a:gd name="T21" fmla="*/ 50 h 50"/>
              </a:gdLst>
              <a:ahLst/>
              <a:cxnLst>
                <a:cxn ang="T12">
                  <a:pos x="T0" y="T1"/>
                </a:cxn>
                <a:cxn ang="T13">
                  <a:pos x="T2" y="T3"/>
                </a:cxn>
                <a:cxn ang="T14">
                  <a:pos x="T4" y="T5"/>
                </a:cxn>
                <a:cxn ang="T15">
                  <a:pos x="T6" y="T7"/>
                </a:cxn>
                <a:cxn ang="T16">
                  <a:pos x="T8" y="T9"/>
                </a:cxn>
                <a:cxn ang="T17">
                  <a:pos x="T10" y="T11"/>
                </a:cxn>
              </a:cxnLst>
              <a:rect l="T18" t="T19" r="T20" b="T21"/>
              <a:pathLst>
                <a:path w="50" h="50">
                  <a:moveTo>
                    <a:pt x="0" y="25"/>
                  </a:moveTo>
                  <a:cubicBezTo>
                    <a:pt x="0" y="12"/>
                    <a:pt x="11" y="0"/>
                    <a:pt x="25" y="0"/>
                  </a:cubicBezTo>
                  <a:cubicBezTo>
                    <a:pt x="39" y="0"/>
                    <a:pt x="50" y="12"/>
                    <a:pt x="50" y="25"/>
                  </a:cubicBezTo>
                  <a:cubicBezTo>
                    <a:pt x="50" y="25"/>
                    <a:pt x="50" y="25"/>
                    <a:pt x="50" y="25"/>
                  </a:cubicBezTo>
                  <a:cubicBezTo>
                    <a:pt x="50" y="39"/>
                    <a:pt x="39" y="50"/>
                    <a:pt x="25" y="50"/>
                  </a:cubicBezTo>
                  <a:cubicBezTo>
                    <a:pt x="11" y="50"/>
                    <a:pt x="0" y="39"/>
                    <a:pt x="0" y="25"/>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08" name="Freeform 119">
              <a:extLst>
                <a:ext uri="{FF2B5EF4-FFF2-40B4-BE49-F238E27FC236}">
                  <a16:creationId xmlns:a16="http://schemas.microsoft.com/office/drawing/2014/main" id="{AECF5A1C-0025-E749-99CE-7B04184F79AE}"/>
                </a:ext>
              </a:extLst>
            </p:cNvPr>
            <p:cNvSpPr>
              <a:spLocks/>
            </p:cNvSpPr>
            <p:nvPr/>
          </p:nvSpPr>
          <p:spPr bwMode="auto">
            <a:xfrm>
              <a:off x="3847" y="2374"/>
              <a:ext cx="22" cy="22"/>
            </a:xfrm>
            <a:custGeom>
              <a:avLst/>
              <a:gdLst>
                <a:gd name="T0" fmla="*/ 0 w 22"/>
                <a:gd name="T1" fmla="*/ 11 h 22"/>
                <a:gd name="T2" fmla="*/ 11 w 22"/>
                <a:gd name="T3" fmla="*/ 0 h 22"/>
                <a:gd name="T4" fmla="*/ 22 w 22"/>
                <a:gd name="T5" fmla="*/ 11 h 22"/>
                <a:gd name="T6" fmla="*/ 22 w 22"/>
                <a:gd name="T7" fmla="*/ 11 h 22"/>
                <a:gd name="T8" fmla="*/ 11 w 22"/>
                <a:gd name="T9" fmla="*/ 22 h 22"/>
                <a:gd name="T10" fmla="*/ 0 w 22"/>
                <a:gd name="T11" fmla="*/ 11 h 22"/>
                <a:gd name="T12" fmla="*/ 0 60000 65536"/>
                <a:gd name="T13" fmla="*/ 0 60000 65536"/>
                <a:gd name="T14" fmla="*/ 0 60000 65536"/>
                <a:gd name="T15" fmla="*/ 0 60000 65536"/>
                <a:gd name="T16" fmla="*/ 0 60000 65536"/>
                <a:gd name="T17" fmla="*/ 0 60000 65536"/>
                <a:gd name="T18" fmla="*/ 0 w 22"/>
                <a:gd name="T19" fmla="*/ 0 h 22"/>
                <a:gd name="T20" fmla="*/ 22 w 22"/>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22" h="22">
                  <a:moveTo>
                    <a:pt x="0" y="11"/>
                  </a:moveTo>
                  <a:cubicBezTo>
                    <a:pt x="0" y="5"/>
                    <a:pt x="5" y="0"/>
                    <a:pt x="11" y="0"/>
                  </a:cubicBezTo>
                  <a:cubicBezTo>
                    <a:pt x="17" y="0"/>
                    <a:pt x="22" y="5"/>
                    <a:pt x="22" y="11"/>
                  </a:cubicBezTo>
                  <a:cubicBezTo>
                    <a:pt x="22" y="11"/>
                    <a:pt x="22" y="11"/>
                    <a:pt x="22" y="11"/>
                  </a:cubicBezTo>
                  <a:cubicBezTo>
                    <a:pt x="22" y="17"/>
                    <a:pt x="17" y="22"/>
                    <a:pt x="11" y="22"/>
                  </a:cubicBezTo>
                  <a:cubicBezTo>
                    <a:pt x="5" y="22"/>
                    <a:pt x="0" y="17"/>
                    <a:pt x="0" y="11"/>
                  </a:cubicBezTo>
                </a:path>
              </a:pathLst>
            </a:custGeom>
            <a:noFill/>
            <a:ln w="31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09" name="Freeform 120">
              <a:extLst>
                <a:ext uri="{FF2B5EF4-FFF2-40B4-BE49-F238E27FC236}">
                  <a16:creationId xmlns:a16="http://schemas.microsoft.com/office/drawing/2014/main" id="{C53D65B4-159B-DB40-800B-FD33DF50A363}"/>
                </a:ext>
              </a:extLst>
            </p:cNvPr>
            <p:cNvSpPr>
              <a:spLocks/>
            </p:cNvSpPr>
            <p:nvPr/>
          </p:nvSpPr>
          <p:spPr bwMode="auto">
            <a:xfrm>
              <a:off x="3674" y="2721"/>
              <a:ext cx="21" cy="21"/>
            </a:xfrm>
            <a:custGeom>
              <a:avLst/>
              <a:gdLst>
                <a:gd name="T0" fmla="*/ 0 w 49"/>
                <a:gd name="T1" fmla="*/ 0 h 49"/>
                <a:gd name="T2" fmla="*/ 0 w 49"/>
                <a:gd name="T3" fmla="*/ 0 h 49"/>
                <a:gd name="T4" fmla="*/ 0 w 49"/>
                <a:gd name="T5" fmla="*/ 0 h 49"/>
                <a:gd name="T6" fmla="*/ 0 w 49"/>
                <a:gd name="T7" fmla="*/ 0 h 49"/>
                <a:gd name="T8" fmla="*/ 0 w 49"/>
                <a:gd name="T9" fmla="*/ 0 h 49"/>
                <a:gd name="T10" fmla="*/ 0 w 49"/>
                <a:gd name="T11" fmla="*/ 0 h 49"/>
                <a:gd name="T12" fmla="*/ 0 60000 65536"/>
                <a:gd name="T13" fmla="*/ 0 60000 65536"/>
                <a:gd name="T14" fmla="*/ 0 60000 65536"/>
                <a:gd name="T15" fmla="*/ 0 60000 65536"/>
                <a:gd name="T16" fmla="*/ 0 60000 65536"/>
                <a:gd name="T17" fmla="*/ 0 60000 65536"/>
                <a:gd name="T18" fmla="*/ 0 w 49"/>
                <a:gd name="T19" fmla="*/ 0 h 49"/>
                <a:gd name="T20" fmla="*/ 49 w 49"/>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49" h="49">
                  <a:moveTo>
                    <a:pt x="0" y="25"/>
                  </a:moveTo>
                  <a:cubicBezTo>
                    <a:pt x="0" y="11"/>
                    <a:pt x="11" y="0"/>
                    <a:pt x="24" y="0"/>
                  </a:cubicBezTo>
                  <a:cubicBezTo>
                    <a:pt x="38" y="0"/>
                    <a:pt x="49" y="11"/>
                    <a:pt x="49" y="25"/>
                  </a:cubicBezTo>
                  <a:cubicBezTo>
                    <a:pt x="49" y="25"/>
                    <a:pt x="49" y="25"/>
                    <a:pt x="49" y="25"/>
                  </a:cubicBezTo>
                  <a:cubicBezTo>
                    <a:pt x="49" y="38"/>
                    <a:pt x="38" y="49"/>
                    <a:pt x="24" y="49"/>
                  </a:cubicBezTo>
                  <a:cubicBezTo>
                    <a:pt x="11" y="49"/>
                    <a:pt x="0" y="38"/>
                    <a:pt x="0" y="25"/>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10" name="Freeform 121">
              <a:extLst>
                <a:ext uri="{FF2B5EF4-FFF2-40B4-BE49-F238E27FC236}">
                  <a16:creationId xmlns:a16="http://schemas.microsoft.com/office/drawing/2014/main" id="{3422CF09-FF47-6F45-8A48-B7227EEDB670}"/>
                </a:ext>
              </a:extLst>
            </p:cNvPr>
            <p:cNvSpPr>
              <a:spLocks/>
            </p:cNvSpPr>
            <p:nvPr/>
          </p:nvSpPr>
          <p:spPr bwMode="auto">
            <a:xfrm>
              <a:off x="3674" y="2721"/>
              <a:ext cx="21" cy="21"/>
            </a:xfrm>
            <a:custGeom>
              <a:avLst/>
              <a:gdLst>
                <a:gd name="T0" fmla="*/ 0 w 21"/>
                <a:gd name="T1" fmla="*/ 11 h 21"/>
                <a:gd name="T2" fmla="*/ 10 w 21"/>
                <a:gd name="T3" fmla="*/ 0 h 21"/>
                <a:gd name="T4" fmla="*/ 21 w 21"/>
                <a:gd name="T5" fmla="*/ 11 h 21"/>
                <a:gd name="T6" fmla="*/ 21 w 21"/>
                <a:gd name="T7" fmla="*/ 11 h 21"/>
                <a:gd name="T8" fmla="*/ 10 w 21"/>
                <a:gd name="T9" fmla="*/ 21 h 21"/>
                <a:gd name="T10" fmla="*/ 0 w 21"/>
                <a:gd name="T11" fmla="*/ 11 h 21"/>
                <a:gd name="T12" fmla="*/ 0 60000 65536"/>
                <a:gd name="T13" fmla="*/ 0 60000 65536"/>
                <a:gd name="T14" fmla="*/ 0 60000 65536"/>
                <a:gd name="T15" fmla="*/ 0 60000 65536"/>
                <a:gd name="T16" fmla="*/ 0 60000 65536"/>
                <a:gd name="T17" fmla="*/ 0 60000 65536"/>
                <a:gd name="T18" fmla="*/ 0 w 21"/>
                <a:gd name="T19" fmla="*/ 0 h 21"/>
                <a:gd name="T20" fmla="*/ 21 w 21"/>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21" h="21">
                  <a:moveTo>
                    <a:pt x="0" y="11"/>
                  </a:moveTo>
                  <a:cubicBezTo>
                    <a:pt x="0" y="4"/>
                    <a:pt x="5" y="0"/>
                    <a:pt x="10" y="0"/>
                  </a:cubicBezTo>
                  <a:cubicBezTo>
                    <a:pt x="17" y="0"/>
                    <a:pt x="21" y="4"/>
                    <a:pt x="21" y="11"/>
                  </a:cubicBezTo>
                  <a:cubicBezTo>
                    <a:pt x="21" y="11"/>
                    <a:pt x="21" y="11"/>
                    <a:pt x="21" y="11"/>
                  </a:cubicBezTo>
                  <a:cubicBezTo>
                    <a:pt x="21" y="16"/>
                    <a:pt x="17" y="21"/>
                    <a:pt x="10" y="21"/>
                  </a:cubicBezTo>
                  <a:cubicBezTo>
                    <a:pt x="5" y="21"/>
                    <a:pt x="0" y="16"/>
                    <a:pt x="0" y="11"/>
                  </a:cubicBezTo>
                </a:path>
              </a:pathLst>
            </a:custGeom>
            <a:noFill/>
            <a:ln w="31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11" name="Freeform 122">
              <a:extLst>
                <a:ext uri="{FF2B5EF4-FFF2-40B4-BE49-F238E27FC236}">
                  <a16:creationId xmlns:a16="http://schemas.microsoft.com/office/drawing/2014/main" id="{E521BD80-78FC-0A4A-A757-CFF71BA4D16D}"/>
                </a:ext>
              </a:extLst>
            </p:cNvPr>
            <p:cNvSpPr>
              <a:spLocks/>
            </p:cNvSpPr>
            <p:nvPr/>
          </p:nvSpPr>
          <p:spPr bwMode="auto">
            <a:xfrm>
              <a:off x="3760" y="2721"/>
              <a:ext cx="22" cy="21"/>
            </a:xfrm>
            <a:custGeom>
              <a:avLst/>
              <a:gdLst>
                <a:gd name="T0" fmla="*/ 0 w 49"/>
                <a:gd name="T1" fmla="*/ 0 h 49"/>
                <a:gd name="T2" fmla="*/ 0 w 49"/>
                <a:gd name="T3" fmla="*/ 0 h 49"/>
                <a:gd name="T4" fmla="*/ 0 w 49"/>
                <a:gd name="T5" fmla="*/ 0 h 49"/>
                <a:gd name="T6" fmla="*/ 0 w 49"/>
                <a:gd name="T7" fmla="*/ 0 h 49"/>
                <a:gd name="T8" fmla="*/ 0 w 49"/>
                <a:gd name="T9" fmla="*/ 0 h 49"/>
                <a:gd name="T10" fmla="*/ 0 w 49"/>
                <a:gd name="T11" fmla="*/ 0 h 49"/>
                <a:gd name="T12" fmla="*/ 0 60000 65536"/>
                <a:gd name="T13" fmla="*/ 0 60000 65536"/>
                <a:gd name="T14" fmla="*/ 0 60000 65536"/>
                <a:gd name="T15" fmla="*/ 0 60000 65536"/>
                <a:gd name="T16" fmla="*/ 0 60000 65536"/>
                <a:gd name="T17" fmla="*/ 0 60000 65536"/>
                <a:gd name="T18" fmla="*/ 0 w 49"/>
                <a:gd name="T19" fmla="*/ 0 h 49"/>
                <a:gd name="T20" fmla="*/ 49 w 49"/>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49" h="49">
                  <a:moveTo>
                    <a:pt x="0" y="25"/>
                  </a:moveTo>
                  <a:cubicBezTo>
                    <a:pt x="0" y="11"/>
                    <a:pt x="11" y="0"/>
                    <a:pt x="25" y="0"/>
                  </a:cubicBezTo>
                  <a:cubicBezTo>
                    <a:pt x="38" y="0"/>
                    <a:pt x="49" y="11"/>
                    <a:pt x="49" y="25"/>
                  </a:cubicBezTo>
                  <a:cubicBezTo>
                    <a:pt x="49" y="25"/>
                    <a:pt x="49" y="25"/>
                    <a:pt x="49" y="25"/>
                  </a:cubicBezTo>
                  <a:cubicBezTo>
                    <a:pt x="49" y="38"/>
                    <a:pt x="38" y="49"/>
                    <a:pt x="25" y="49"/>
                  </a:cubicBezTo>
                  <a:cubicBezTo>
                    <a:pt x="11" y="49"/>
                    <a:pt x="0" y="38"/>
                    <a:pt x="0" y="25"/>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12" name="Freeform 123">
              <a:extLst>
                <a:ext uri="{FF2B5EF4-FFF2-40B4-BE49-F238E27FC236}">
                  <a16:creationId xmlns:a16="http://schemas.microsoft.com/office/drawing/2014/main" id="{D8A2BB7C-3591-B14C-B287-D1CB4CB9E1A9}"/>
                </a:ext>
              </a:extLst>
            </p:cNvPr>
            <p:cNvSpPr>
              <a:spLocks/>
            </p:cNvSpPr>
            <p:nvPr/>
          </p:nvSpPr>
          <p:spPr bwMode="auto">
            <a:xfrm>
              <a:off x="3760" y="2721"/>
              <a:ext cx="22" cy="21"/>
            </a:xfrm>
            <a:custGeom>
              <a:avLst/>
              <a:gdLst>
                <a:gd name="T0" fmla="*/ 0 w 22"/>
                <a:gd name="T1" fmla="*/ 11 h 21"/>
                <a:gd name="T2" fmla="*/ 11 w 22"/>
                <a:gd name="T3" fmla="*/ 0 h 21"/>
                <a:gd name="T4" fmla="*/ 22 w 22"/>
                <a:gd name="T5" fmla="*/ 11 h 21"/>
                <a:gd name="T6" fmla="*/ 22 w 22"/>
                <a:gd name="T7" fmla="*/ 11 h 21"/>
                <a:gd name="T8" fmla="*/ 11 w 22"/>
                <a:gd name="T9" fmla="*/ 21 h 21"/>
                <a:gd name="T10" fmla="*/ 0 w 22"/>
                <a:gd name="T11" fmla="*/ 11 h 21"/>
                <a:gd name="T12" fmla="*/ 0 60000 65536"/>
                <a:gd name="T13" fmla="*/ 0 60000 65536"/>
                <a:gd name="T14" fmla="*/ 0 60000 65536"/>
                <a:gd name="T15" fmla="*/ 0 60000 65536"/>
                <a:gd name="T16" fmla="*/ 0 60000 65536"/>
                <a:gd name="T17" fmla="*/ 0 60000 65536"/>
                <a:gd name="T18" fmla="*/ 0 w 22"/>
                <a:gd name="T19" fmla="*/ 0 h 21"/>
                <a:gd name="T20" fmla="*/ 22 w 22"/>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22" h="21">
                  <a:moveTo>
                    <a:pt x="0" y="11"/>
                  </a:moveTo>
                  <a:cubicBezTo>
                    <a:pt x="0" y="4"/>
                    <a:pt x="5" y="0"/>
                    <a:pt x="11" y="0"/>
                  </a:cubicBezTo>
                  <a:cubicBezTo>
                    <a:pt x="17" y="0"/>
                    <a:pt x="22" y="4"/>
                    <a:pt x="22" y="11"/>
                  </a:cubicBezTo>
                  <a:cubicBezTo>
                    <a:pt x="22" y="11"/>
                    <a:pt x="22" y="11"/>
                    <a:pt x="22" y="11"/>
                  </a:cubicBezTo>
                  <a:cubicBezTo>
                    <a:pt x="22" y="16"/>
                    <a:pt x="17" y="21"/>
                    <a:pt x="11" y="21"/>
                  </a:cubicBezTo>
                  <a:cubicBezTo>
                    <a:pt x="5" y="21"/>
                    <a:pt x="0" y="16"/>
                    <a:pt x="0" y="11"/>
                  </a:cubicBezTo>
                </a:path>
              </a:pathLst>
            </a:custGeom>
            <a:noFill/>
            <a:ln w="31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13" name="Freeform 124">
              <a:extLst>
                <a:ext uri="{FF2B5EF4-FFF2-40B4-BE49-F238E27FC236}">
                  <a16:creationId xmlns:a16="http://schemas.microsoft.com/office/drawing/2014/main" id="{BF4DA96D-A108-6D4E-A599-62FE4718B882}"/>
                </a:ext>
              </a:extLst>
            </p:cNvPr>
            <p:cNvSpPr>
              <a:spLocks/>
            </p:cNvSpPr>
            <p:nvPr/>
          </p:nvSpPr>
          <p:spPr bwMode="auto">
            <a:xfrm>
              <a:off x="3847" y="2721"/>
              <a:ext cx="22" cy="21"/>
            </a:xfrm>
            <a:custGeom>
              <a:avLst/>
              <a:gdLst>
                <a:gd name="T0" fmla="*/ 0 w 50"/>
                <a:gd name="T1" fmla="*/ 0 h 49"/>
                <a:gd name="T2" fmla="*/ 0 w 50"/>
                <a:gd name="T3" fmla="*/ 0 h 49"/>
                <a:gd name="T4" fmla="*/ 0 w 50"/>
                <a:gd name="T5" fmla="*/ 0 h 49"/>
                <a:gd name="T6" fmla="*/ 0 w 50"/>
                <a:gd name="T7" fmla="*/ 0 h 49"/>
                <a:gd name="T8" fmla="*/ 0 w 50"/>
                <a:gd name="T9" fmla="*/ 0 h 49"/>
                <a:gd name="T10" fmla="*/ 0 w 50"/>
                <a:gd name="T11" fmla="*/ 0 h 49"/>
                <a:gd name="T12" fmla="*/ 0 60000 65536"/>
                <a:gd name="T13" fmla="*/ 0 60000 65536"/>
                <a:gd name="T14" fmla="*/ 0 60000 65536"/>
                <a:gd name="T15" fmla="*/ 0 60000 65536"/>
                <a:gd name="T16" fmla="*/ 0 60000 65536"/>
                <a:gd name="T17" fmla="*/ 0 60000 65536"/>
                <a:gd name="T18" fmla="*/ 0 w 50"/>
                <a:gd name="T19" fmla="*/ 0 h 49"/>
                <a:gd name="T20" fmla="*/ 50 w 50"/>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50" h="49">
                  <a:moveTo>
                    <a:pt x="0" y="25"/>
                  </a:moveTo>
                  <a:cubicBezTo>
                    <a:pt x="0" y="11"/>
                    <a:pt x="11" y="0"/>
                    <a:pt x="25" y="0"/>
                  </a:cubicBezTo>
                  <a:cubicBezTo>
                    <a:pt x="39" y="0"/>
                    <a:pt x="50" y="11"/>
                    <a:pt x="50" y="25"/>
                  </a:cubicBezTo>
                  <a:cubicBezTo>
                    <a:pt x="50" y="25"/>
                    <a:pt x="50" y="25"/>
                    <a:pt x="50" y="25"/>
                  </a:cubicBezTo>
                  <a:cubicBezTo>
                    <a:pt x="50" y="38"/>
                    <a:pt x="39" y="49"/>
                    <a:pt x="25" y="49"/>
                  </a:cubicBezTo>
                  <a:cubicBezTo>
                    <a:pt x="11" y="49"/>
                    <a:pt x="0" y="38"/>
                    <a:pt x="0" y="25"/>
                  </a:cubicBezTo>
                </a:path>
              </a:pathLst>
            </a:custGeom>
            <a:solidFill>
              <a:srgbClr val="000000"/>
            </a:solid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14" name="Freeform 125">
              <a:extLst>
                <a:ext uri="{FF2B5EF4-FFF2-40B4-BE49-F238E27FC236}">
                  <a16:creationId xmlns:a16="http://schemas.microsoft.com/office/drawing/2014/main" id="{B07E01FE-4296-2A49-913C-1941478CE73A}"/>
                </a:ext>
              </a:extLst>
            </p:cNvPr>
            <p:cNvSpPr>
              <a:spLocks/>
            </p:cNvSpPr>
            <p:nvPr/>
          </p:nvSpPr>
          <p:spPr bwMode="auto">
            <a:xfrm>
              <a:off x="3847" y="2721"/>
              <a:ext cx="22" cy="21"/>
            </a:xfrm>
            <a:custGeom>
              <a:avLst/>
              <a:gdLst>
                <a:gd name="T0" fmla="*/ 0 w 22"/>
                <a:gd name="T1" fmla="*/ 11 h 21"/>
                <a:gd name="T2" fmla="*/ 11 w 22"/>
                <a:gd name="T3" fmla="*/ 0 h 21"/>
                <a:gd name="T4" fmla="*/ 22 w 22"/>
                <a:gd name="T5" fmla="*/ 11 h 21"/>
                <a:gd name="T6" fmla="*/ 22 w 22"/>
                <a:gd name="T7" fmla="*/ 11 h 21"/>
                <a:gd name="T8" fmla="*/ 11 w 22"/>
                <a:gd name="T9" fmla="*/ 21 h 21"/>
                <a:gd name="T10" fmla="*/ 0 w 22"/>
                <a:gd name="T11" fmla="*/ 11 h 21"/>
                <a:gd name="T12" fmla="*/ 0 60000 65536"/>
                <a:gd name="T13" fmla="*/ 0 60000 65536"/>
                <a:gd name="T14" fmla="*/ 0 60000 65536"/>
                <a:gd name="T15" fmla="*/ 0 60000 65536"/>
                <a:gd name="T16" fmla="*/ 0 60000 65536"/>
                <a:gd name="T17" fmla="*/ 0 60000 65536"/>
                <a:gd name="T18" fmla="*/ 0 w 22"/>
                <a:gd name="T19" fmla="*/ 0 h 21"/>
                <a:gd name="T20" fmla="*/ 22 w 22"/>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22" h="21">
                  <a:moveTo>
                    <a:pt x="0" y="11"/>
                  </a:moveTo>
                  <a:cubicBezTo>
                    <a:pt x="0" y="4"/>
                    <a:pt x="5" y="0"/>
                    <a:pt x="11" y="0"/>
                  </a:cubicBezTo>
                  <a:cubicBezTo>
                    <a:pt x="17" y="0"/>
                    <a:pt x="22" y="4"/>
                    <a:pt x="22" y="11"/>
                  </a:cubicBezTo>
                  <a:cubicBezTo>
                    <a:pt x="22" y="11"/>
                    <a:pt x="22" y="11"/>
                    <a:pt x="22" y="11"/>
                  </a:cubicBezTo>
                  <a:cubicBezTo>
                    <a:pt x="22" y="16"/>
                    <a:pt x="17" y="21"/>
                    <a:pt x="11" y="21"/>
                  </a:cubicBezTo>
                  <a:cubicBezTo>
                    <a:pt x="5" y="21"/>
                    <a:pt x="0" y="16"/>
                    <a:pt x="0" y="11"/>
                  </a:cubicBezTo>
                </a:path>
              </a:pathLst>
            </a:custGeom>
            <a:noFill/>
            <a:ln w="31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15" name="Rectangle 126">
              <a:extLst>
                <a:ext uri="{FF2B5EF4-FFF2-40B4-BE49-F238E27FC236}">
                  <a16:creationId xmlns:a16="http://schemas.microsoft.com/office/drawing/2014/main" id="{AFBD6F37-A6DC-9D46-B353-93290F0868C3}"/>
                </a:ext>
              </a:extLst>
            </p:cNvPr>
            <p:cNvSpPr>
              <a:spLocks noChangeArrowheads="1"/>
            </p:cNvSpPr>
            <p:nvPr/>
          </p:nvSpPr>
          <p:spPr bwMode="auto">
            <a:xfrm>
              <a:off x="3166" y="1497"/>
              <a:ext cx="951" cy="130"/>
            </a:xfrm>
            <a:prstGeom prst="rect">
              <a:avLst/>
            </a:prstGeom>
            <a:solidFill>
              <a:srgbClr val="FFEA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16" name="Rectangle 127">
              <a:extLst>
                <a:ext uri="{FF2B5EF4-FFF2-40B4-BE49-F238E27FC236}">
                  <a16:creationId xmlns:a16="http://schemas.microsoft.com/office/drawing/2014/main" id="{B248225B-AD92-A24C-A73A-2CD02AF6453F}"/>
                </a:ext>
              </a:extLst>
            </p:cNvPr>
            <p:cNvSpPr>
              <a:spLocks noChangeArrowheads="1"/>
            </p:cNvSpPr>
            <p:nvPr/>
          </p:nvSpPr>
          <p:spPr bwMode="auto">
            <a:xfrm>
              <a:off x="3166" y="1497"/>
              <a:ext cx="951" cy="130"/>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17" name="Rectangle 128">
              <a:extLst>
                <a:ext uri="{FF2B5EF4-FFF2-40B4-BE49-F238E27FC236}">
                  <a16:creationId xmlns:a16="http://schemas.microsoft.com/office/drawing/2014/main" id="{265F348F-490E-DA47-9A94-7DA42AA6B370}"/>
                </a:ext>
              </a:extLst>
            </p:cNvPr>
            <p:cNvSpPr>
              <a:spLocks noChangeArrowheads="1"/>
            </p:cNvSpPr>
            <p:nvPr/>
          </p:nvSpPr>
          <p:spPr bwMode="auto">
            <a:xfrm>
              <a:off x="3255" y="1490"/>
              <a:ext cx="80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Thread Warp 7</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18" name="Rectangle 129">
              <a:extLst>
                <a:ext uri="{FF2B5EF4-FFF2-40B4-BE49-F238E27FC236}">
                  <a16:creationId xmlns:a16="http://schemas.microsoft.com/office/drawing/2014/main" id="{B5F0B612-9786-A247-86C8-90E79DE87348}"/>
                </a:ext>
              </a:extLst>
            </p:cNvPr>
            <p:cNvSpPr>
              <a:spLocks noChangeArrowheads="1"/>
            </p:cNvSpPr>
            <p:nvPr/>
          </p:nvSpPr>
          <p:spPr bwMode="auto">
            <a:xfrm>
              <a:off x="3166" y="1822"/>
              <a:ext cx="951" cy="129"/>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19" name="Rectangle 130">
              <a:extLst>
                <a:ext uri="{FF2B5EF4-FFF2-40B4-BE49-F238E27FC236}">
                  <a16:creationId xmlns:a16="http://schemas.microsoft.com/office/drawing/2014/main" id="{79492CD0-1A59-684B-997D-CE9F48B630DB}"/>
                </a:ext>
              </a:extLst>
            </p:cNvPr>
            <p:cNvSpPr>
              <a:spLocks noChangeArrowheads="1"/>
            </p:cNvSpPr>
            <p:nvPr/>
          </p:nvSpPr>
          <p:spPr bwMode="auto">
            <a:xfrm>
              <a:off x="3166" y="1822"/>
              <a:ext cx="951" cy="129"/>
            </a:xfrm>
            <a:prstGeom prst="rect">
              <a:avLst/>
            </a:prstGeom>
            <a:noFill/>
            <a:ln w="1111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20" name="Rectangle 131">
              <a:extLst>
                <a:ext uri="{FF2B5EF4-FFF2-40B4-BE49-F238E27FC236}">
                  <a16:creationId xmlns:a16="http://schemas.microsoft.com/office/drawing/2014/main" id="{C55C18CF-4B82-2D4A-B197-9AD95B997B71}"/>
                </a:ext>
              </a:extLst>
            </p:cNvPr>
            <p:cNvSpPr>
              <a:spLocks noChangeArrowheads="1"/>
            </p:cNvSpPr>
            <p:nvPr/>
          </p:nvSpPr>
          <p:spPr bwMode="auto">
            <a:xfrm>
              <a:off x="3465" y="1818"/>
              <a:ext cx="37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I-Fetch</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21" name="Rectangle 132">
              <a:extLst>
                <a:ext uri="{FF2B5EF4-FFF2-40B4-BE49-F238E27FC236}">
                  <a16:creationId xmlns:a16="http://schemas.microsoft.com/office/drawing/2014/main" id="{40CB139D-6226-4041-9961-338BF8E467CB}"/>
                </a:ext>
              </a:extLst>
            </p:cNvPr>
            <p:cNvSpPr>
              <a:spLocks noChangeArrowheads="1"/>
            </p:cNvSpPr>
            <p:nvPr/>
          </p:nvSpPr>
          <p:spPr bwMode="auto">
            <a:xfrm>
              <a:off x="4421" y="1560"/>
              <a:ext cx="79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1"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SIMD Pipeline</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622" name="Line 133">
              <a:extLst>
                <a:ext uri="{FF2B5EF4-FFF2-40B4-BE49-F238E27FC236}">
                  <a16:creationId xmlns:a16="http://schemas.microsoft.com/office/drawing/2014/main" id="{F7BB7D63-DCE7-3E45-A970-6FD26B70C9B4}"/>
                </a:ext>
              </a:extLst>
            </p:cNvPr>
            <p:cNvSpPr>
              <a:spLocks noChangeShapeType="1"/>
            </p:cNvSpPr>
            <p:nvPr/>
          </p:nvSpPr>
          <p:spPr bwMode="auto">
            <a:xfrm flipV="1">
              <a:off x="4204" y="1648"/>
              <a:ext cx="172" cy="87"/>
            </a:xfrm>
            <a:prstGeom prst="line">
              <a:avLst/>
            </a:prstGeom>
            <a:noFill/>
            <a:ln w="11113" cap="rnd">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63493" name="TextBox 134">
            <a:extLst>
              <a:ext uri="{FF2B5EF4-FFF2-40B4-BE49-F238E27FC236}">
                <a16:creationId xmlns:a16="http://schemas.microsoft.com/office/drawing/2014/main" id="{0E53C713-8222-5248-8D1D-C9107179615D}"/>
              </a:ext>
            </a:extLst>
          </p:cNvPr>
          <p:cNvSpPr txBox="1">
            <a:spLocks noChangeArrowheads="1"/>
          </p:cNvSpPr>
          <p:nvPr/>
        </p:nvSpPr>
        <p:spPr bwMode="auto">
          <a:xfrm>
            <a:off x="152400" y="6535738"/>
            <a:ext cx="15446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Tor Aamodt</a:t>
            </a:r>
          </a:p>
        </p:txBody>
      </p:sp>
    </p:spTree>
    <p:extLst>
      <p:ext uri="{BB962C8B-B14F-4D97-AF65-F5344CB8AC3E}">
        <p14:creationId xmlns:p14="http://schemas.microsoft.com/office/powerpoint/2010/main" val="401899305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0354">
                                            <p:txEl>
                                              <p:pRg st="5" end="5"/>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0354">
                                            <p:txEl>
                                              <p:pRg st="6" end="6"/>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0035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itle 1">
            <a:extLst>
              <a:ext uri="{FF2B5EF4-FFF2-40B4-BE49-F238E27FC236}">
                <a16:creationId xmlns:a16="http://schemas.microsoft.com/office/drawing/2014/main" id="{9F65752D-C02D-4949-9CC1-F725B8EA5ED2}"/>
              </a:ext>
            </a:extLst>
          </p:cNvPr>
          <p:cNvSpPr>
            <a:spLocks noGrp="1"/>
          </p:cNvSpPr>
          <p:nvPr>
            <p:ph type="title"/>
          </p:nvPr>
        </p:nvSpPr>
        <p:spPr/>
        <p:txBody>
          <a:bodyPr/>
          <a:lstStyle/>
          <a:p>
            <a:r>
              <a:rPr lang="en-US" altLang="en-US" dirty="0">
                <a:ea typeface="ＭＳ Ｐゴシック" panose="020B0600070205080204" pitchFamily="34" charset="-128"/>
              </a:rPr>
              <a:t>Warp Execution (Recall the Slide)</a:t>
            </a:r>
          </a:p>
        </p:txBody>
      </p:sp>
      <p:sp>
        <p:nvSpPr>
          <p:cNvPr id="74755" name="Slide Number Placeholder 3">
            <a:extLst>
              <a:ext uri="{FF2B5EF4-FFF2-40B4-BE49-F238E27FC236}">
                <a16:creationId xmlns:a16="http://schemas.microsoft.com/office/drawing/2014/main" id="{F808F74E-5624-AF4D-84E5-03209D7CB84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13D5E509-E522-DE41-B7C6-646542A2C2E3}" type="slidenum">
              <a:rPr lang="en-US" altLang="en-US" sz="1600">
                <a:solidFill>
                  <a:srgbClr val="000000"/>
                </a:solidFill>
                <a:latin typeface="Garamond" panose="02020404030301010803" pitchFamily="18" charset="0"/>
              </a:rPr>
              <a:pPr eaLnBrk="1" hangingPunct="1"/>
              <a:t>101</a:t>
            </a:fld>
            <a:endParaRPr lang="en-US" altLang="en-US" sz="1600">
              <a:solidFill>
                <a:srgbClr val="000000"/>
              </a:solidFill>
              <a:latin typeface="Garamond" panose="02020404030301010803" pitchFamily="18" charset="0"/>
            </a:endParaRPr>
          </a:p>
        </p:txBody>
      </p:sp>
      <p:sp>
        <p:nvSpPr>
          <p:cNvPr id="74756" name="Text Box 3">
            <a:extLst>
              <a:ext uri="{FF2B5EF4-FFF2-40B4-BE49-F238E27FC236}">
                <a16:creationId xmlns:a16="http://schemas.microsoft.com/office/drawing/2014/main" id="{827B33F5-DE7B-A44D-A5A7-3071D083402C}"/>
              </a:ext>
            </a:extLst>
          </p:cNvPr>
          <p:cNvSpPr txBox="1">
            <a:spLocks noChangeArrowheads="1"/>
          </p:cNvSpPr>
          <p:nvPr/>
        </p:nvSpPr>
        <p:spPr bwMode="auto">
          <a:xfrm>
            <a:off x="1401004" y="963890"/>
            <a:ext cx="63419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lvl="0" eaLnBrk="1" hangingPunct="1">
              <a:defRPr/>
            </a:pPr>
            <a:r>
              <a:rPr lang="en-US" altLang="ko-KR" sz="1800" dirty="0">
                <a:solidFill>
                  <a:srgbClr val="000000"/>
                </a:solidFill>
                <a:latin typeface="Verdana" panose="020B0604030504040204" pitchFamily="34" charset="0"/>
                <a:ea typeface="굴림" panose="020B0600000101010101" pitchFamily="34" charset="-127"/>
              </a:rPr>
              <a:t>32-thread warp executing ADD A[</a:t>
            </a:r>
            <a:r>
              <a:rPr lang="en-US" altLang="ko-KR" sz="1800" dirty="0" err="1">
                <a:solidFill>
                  <a:srgbClr val="000000"/>
                </a:solidFill>
                <a:latin typeface="Verdana" panose="020B0604030504040204" pitchFamily="34" charset="0"/>
                <a:ea typeface="굴림" panose="020B0600000101010101" pitchFamily="34" charset="-127"/>
              </a:rPr>
              <a:t>tid</a:t>
            </a:r>
            <a:r>
              <a:rPr lang="en-US" altLang="ko-KR" sz="1800" dirty="0">
                <a:solidFill>
                  <a:srgbClr val="000000"/>
                </a:solidFill>
                <a:latin typeface="Verdana" panose="020B0604030504040204" pitchFamily="34" charset="0"/>
                <a:ea typeface="굴림" panose="020B0600000101010101" pitchFamily="34" charset="-127"/>
              </a:rPr>
              <a:t>],B[</a:t>
            </a:r>
            <a:r>
              <a:rPr lang="en-US" altLang="ko-KR" sz="1800" dirty="0" err="1">
                <a:solidFill>
                  <a:srgbClr val="000000"/>
                </a:solidFill>
                <a:latin typeface="Verdana" panose="020B0604030504040204" pitchFamily="34" charset="0"/>
                <a:ea typeface="굴림" panose="020B0600000101010101" pitchFamily="34" charset="-127"/>
              </a:rPr>
              <a:t>tid</a:t>
            </a:r>
            <a:r>
              <a:rPr lang="en-US" altLang="ko-KR" sz="1800" dirty="0">
                <a:solidFill>
                  <a:srgbClr val="000000"/>
                </a:solidFill>
                <a:latin typeface="Verdana" panose="020B0604030504040204" pitchFamily="34" charset="0"/>
                <a:ea typeface="굴림" panose="020B0600000101010101" pitchFamily="34" charset="-127"/>
              </a:rPr>
              <a:t>] </a:t>
            </a:r>
            <a:r>
              <a:rPr lang="en-US" altLang="ko-KR" sz="1800" dirty="0">
                <a:solidFill>
                  <a:srgbClr val="000000"/>
                </a:solidFill>
                <a:latin typeface="Verdana" panose="020B0604030504040204" pitchFamily="34" charset="0"/>
                <a:ea typeface="굴림" panose="020B0600000101010101" pitchFamily="34" charset="-127"/>
                <a:sym typeface="Wingdings" pitchFamily="2" charset="2"/>
              </a:rPr>
              <a:t> C[</a:t>
            </a:r>
            <a:r>
              <a:rPr lang="en-US" altLang="ko-KR" sz="1800" dirty="0" err="1">
                <a:solidFill>
                  <a:srgbClr val="000000"/>
                </a:solidFill>
                <a:latin typeface="Verdana" panose="020B0604030504040204" pitchFamily="34" charset="0"/>
                <a:ea typeface="굴림" panose="020B0600000101010101" pitchFamily="34" charset="-127"/>
                <a:sym typeface="Wingdings" pitchFamily="2" charset="2"/>
              </a:rPr>
              <a:t>tid</a:t>
            </a:r>
            <a:r>
              <a:rPr lang="en-US" altLang="ko-KR" sz="1800" dirty="0">
                <a:solidFill>
                  <a:srgbClr val="000000"/>
                </a:solidFill>
                <a:latin typeface="Verdana" panose="020B0604030504040204" pitchFamily="34" charset="0"/>
                <a:ea typeface="굴림" panose="020B0600000101010101" pitchFamily="34" charset="-127"/>
                <a:sym typeface="Wingdings" pitchFamily="2" charset="2"/>
              </a:rPr>
              <a:t>]</a:t>
            </a:r>
            <a:endParaRPr lang="en-US" altLang="ko-KR" sz="1800" dirty="0">
              <a:solidFill>
                <a:srgbClr val="000000"/>
              </a:solidFill>
              <a:latin typeface="Verdana" panose="020B0604030504040204" pitchFamily="34" charset="0"/>
              <a:ea typeface="굴림" panose="020B0600000101010101" pitchFamily="34" charset="-127"/>
            </a:endParaRPr>
          </a:p>
        </p:txBody>
      </p:sp>
      <p:grpSp>
        <p:nvGrpSpPr>
          <p:cNvPr id="2" name="Group 4">
            <a:extLst>
              <a:ext uri="{FF2B5EF4-FFF2-40B4-BE49-F238E27FC236}">
                <a16:creationId xmlns:a16="http://schemas.microsoft.com/office/drawing/2014/main" id="{05485BC7-FB89-184A-B979-963DF3B88796}"/>
              </a:ext>
            </a:extLst>
          </p:cNvPr>
          <p:cNvGrpSpPr>
            <a:grpSpLocks/>
          </p:cNvGrpSpPr>
          <p:nvPr/>
        </p:nvGrpSpPr>
        <p:grpSpPr bwMode="auto">
          <a:xfrm>
            <a:off x="693738" y="1408113"/>
            <a:ext cx="2741612" cy="4816475"/>
            <a:chOff x="480" y="816"/>
            <a:chExt cx="1727" cy="3034"/>
          </a:xfrm>
        </p:grpSpPr>
        <p:grpSp>
          <p:nvGrpSpPr>
            <p:cNvPr id="74874" name="Group 5">
              <a:extLst>
                <a:ext uri="{FF2B5EF4-FFF2-40B4-BE49-F238E27FC236}">
                  <a16:creationId xmlns:a16="http://schemas.microsoft.com/office/drawing/2014/main" id="{E4482E14-93A8-794D-BCBB-B99A14E759CC}"/>
                </a:ext>
              </a:extLst>
            </p:cNvPr>
            <p:cNvGrpSpPr>
              <a:grpSpLocks/>
            </p:cNvGrpSpPr>
            <p:nvPr/>
          </p:nvGrpSpPr>
          <p:grpSpPr bwMode="auto">
            <a:xfrm>
              <a:off x="658" y="1882"/>
              <a:ext cx="798" cy="1968"/>
              <a:chOff x="815" y="1402"/>
              <a:chExt cx="798" cy="1968"/>
            </a:xfrm>
          </p:grpSpPr>
          <p:sp>
            <p:nvSpPr>
              <p:cNvPr id="74877" name="Freeform 6">
                <a:extLst>
                  <a:ext uri="{FF2B5EF4-FFF2-40B4-BE49-F238E27FC236}">
                    <a16:creationId xmlns:a16="http://schemas.microsoft.com/office/drawing/2014/main" id="{FC23C536-5141-A545-888F-41A621B4E2D3}"/>
                  </a:ext>
                </a:extLst>
              </p:cNvPr>
              <p:cNvSpPr>
                <a:spLocks/>
              </p:cNvSpPr>
              <p:nvPr/>
            </p:nvSpPr>
            <p:spPr bwMode="auto">
              <a:xfrm>
                <a:off x="960" y="2352"/>
                <a:ext cx="576" cy="672"/>
              </a:xfrm>
              <a:custGeom>
                <a:avLst/>
                <a:gdLst>
                  <a:gd name="T0" fmla="*/ 0 w 576"/>
                  <a:gd name="T1" fmla="*/ 0 h 672"/>
                  <a:gd name="T2" fmla="*/ 144 w 576"/>
                  <a:gd name="T3" fmla="*/ 672 h 672"/>
                  <a:gd name="T4" fmla="*/ 450 w 576"/>
                  <a:gd name="T5" fmla="*/ 672 h 672"/>
                  <a:gd name="T6" fmla="*/ 576 w 576"/>
                  <a:gd name="T7" fmla="*/ 0 h 672"/>
                  <a:gd name="T8" fmla="*/ 336 w 576"/>
                  <a:gd name="T9" fmla="*/ 0 h 672"/>
                  <a:gd name="T10" fmla="*/ 288 w 576"/>
                  <a:gd name="T11" fmla="*/ 96 h 672"/>
                  <a:gd name="T12" fmla="*/ 240 w 576"/>
                  <a:gd name="T13" fmla="*/ 0 h 672"/>
                  <a:gd name="T14" fmla="*/ 0 w 576"/>
                  <a:gd name="T15" fmla="*/ 0 h 672"/>
                  <a:gd name="T16" fmla="*/ 0 60000 65536"/>
                  <a:gd name="T17" fmla="*/ 0 60000 65536"/>
                  <a:gd name="T18" fmla="*/ 0 60000 65536"/>
                  <a:gd name="T19" fmla="*/ 0 60000 65536"/>
                  <a:gd name="T20" fmla="*/ 0 60000 65536"/>
                  <a:gd name="T21" fmla="*/ 0 60000 65536"/>
                  <a:gd name="T22" fmla="*/ 0 60000 65536"/>
                  <a:gd name="T23" fmla="*/ 0 60000 65536"/>
                  <a:gd name="T24" fmla="*/ 0 w 576"/>
                  <a:gd name="T25" fmla="*/ 0 h 672"/>
                  <a:gd name="T26" fmla="*/ 576 w 576"/>
                  <a:gd name="T27" fmla="*/ 672 h 6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6" h="672">
                    <a:moveTo>
                      <a:pt x="0" y="0"/>
                    </a:moveTo>
                    <a:lnTo>
                      <a:pt x="144" y="672"/>
                    </a:lnTo>
                    <a:lnTo>
                      <a:pt x="450" y="672"/>
                    </a:lnTo>
                    <a:lnTo>
                      <a:pt x="576" y="0"/>
                    </a:lnTo>
                    <a:lnTo>
                      <a:pt x="336" y="0"/>
                    </a:lnTo>
                    <a:lnTo>
                      <a:pt x="288" y="96"/>
                    </a:lnTo>
                    <a:lnTo>
                      <a:pt x="240" y="0"/>
                    </a:lnTo>
                    <a:lnTo>
                      <a:pt x="0" y="0"/>
                    </a:lnTo>
                    <a:close/>
                  </a:path>
                </a:pathLst>
              </a:custGeom>
              <a:noFill/>
              <a:ln w="31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a:p>
            </p:txBody>
          </p:sp>
          <p:grpSp>
            <p:nvGrpSpPr>
              <p:cNvPr id="74878" name="Group 10">
                <a:extLst>
                  <a:ext uri="{FF2B5EF4-FFF2-40B4-BE49-F238E27FC236}">
                    <a16:creationId xmlns:a16="http://schemas.microsoft.com/office/drawing/2014/main" id="{831DCD93-2284-5241-91A8-B7B94468BC31}"/>
                  </a:ext>
                </a:extLst>
              </p:cNvPr>
              <p:cNvGrpSpPr>
                <a:grpSpLocks/>
              </p:cNvGrpSpPr>
              <p:nvPr/>
            </p:nvGrpSpPr>
            <p:grpSpPr bwMode="auto">
              <a:xfrm>
                <a:off x="960" y="2928"/>
                <a:ext cx="626" cy="48"/>
                <a:chOff x="1536" y="2256"/>
                <a:chExt cx="626" cy="48"/>
              </a:xfrm>
            </p:grpSpPr>
            <p:sp>
              <p:nvSpPr>
                <p:cNvPr id="74901" name="Rectangle 8">
                  <a:extLst>
                    <a:ext uri="{FF2B5EF4-FFF2-40B4-BE49-F238E27FC236}">
                      <a16:creationId xmlns:a16="http://schemas.microsoft.com/office/drawing/2014/main" id="{56057FA4-B3A2-3243-8791-D07159FE21E9}"/>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solidFill>
                      <a:srgbClr val="000000"/>
                    </a:solidFill>
                  </a:endParaRPr>
                </a:p>
              </p:txBody>
            </p:sp>
            <p:sp>
              <p:nvSpPr>
                <p:cNvPr id="74902" name="Freeform 9">
                  <a:extLst>
                    <a:ext uri="{FF2B5EF4-FFF2-40B4-BE49-F238E27FC236}">
                      <a16:creationId xmlns:a16="http://schemas.microsoft.com/office/drawing/2014/main" id="{DF2CD131-3C2E-4640-88AE-C5B6EF04B175}"/>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endParaRPr lang="en-US"/>
                </a:p>
              </p:txBody>
            </p:sp>
            <p:sp>
              <p:nvSpPr>
                <p:cNvPr id="74903" name="Line 10">
                  <a:extLst>
                    <a:ext uri="{FF2B5EF4-FFF2-40B4-BE49-F238E27FC236}">
                      <a16:creationId xmlns:a16="http://schemas.microsoft.com/office/drawing/2014/main" id="{E7A35EB9-9F57-B842-8E18-3D3C4E4FED8D}"/>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nvGrpSpPr>
              <p:cNvPr id="74879" name="Group 11">
                <a:extLst>
                  <a:ext uri="{FF2B5EF4-FFF2-40B4-BE49-F238E27FC236}">
                    <a16:creationId xmlns:a16="http://schemas.microsoft.com/office/drawing/2014/main" id="{3AB07780-D267-164C-AA13-4520612B9D0D}"/>
                  </a:ext>
                </a:extLst>
              </p:cNvPr>
              <p:cNvGrpSpPr>
                <a:grpSpLocks/>
              </p:cNvGrpSpPr>
              <p:nvPr/>
            </p:nvGrpSpPr>
            <p:grpSpPr bwMode="auto">
              <a:xfrm>
                <a:off x="960" y="2448"/>
                <a:ext cx="626" cy="48"/>
                <a:chOff x="1536" y="2256"/>
                <a:chExt cx="626" cy="48"/>
              </a:xfrm>
            </p:grpSpPr>
            <p:sp>
              <p:nvSpPr>
                <p:cNvPr id="74898" name="Rectangle 12">
                  <a:extLst>
                    <a:ext uri="{FF2B5EF4-FFF2-40B4-BE49-F238E27FC236}">
                      <a16:creationId xmlns:a16="http://schemas.microsoft.com/office/drawing/2014/main" id="{EF75FD83-E120-0342-9173-526DE684CCA7}"/>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solidFill>
                      <a:srgbClr val="000000"/>
                    </a:solidFill>
                  </a:endParaRPr>
                </a:p>
              </p:txBody>
            </p:sp>
            <p:sp>
              <p:nvSpPr>
                <p:cNvPr id="74899" name="Freeform 13">
                  <a:extLst>
                    <a:ext uri="{FF2B5EF4-FFF2-40B4-BE49-F238E27FC236}">
                      <a16:creationId xmlns:a16="http://schemas.microsoft.com/office/drawing/2014/main" id="{229D2B4C-A0F0-B644-9B69-794311325D1C}"/>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endParaRPr lang="en-US"/>
                </a:p>
              </p:txBody>
            </p:sp>
            <p:sp>
              <p:nvSpPr>
                <p:cNvPr id="74900" name="Line 14">
                  <a:extLst>
                    <a:ext uri="{FF2B5EF4-FFF2-40B4-BE49-F238E27FC236}">
                      <a16:creationId xmlns:a16="http://schemas.microsoft.com/office/drawing/2014/main" id="{D55416D2-8AA6-FF4F-8B62-03F60ABB02E9}"/>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nvGrpSpPr>
              <p:cNvPr id="74880" name="Group 15">
                <a:extLst>
                  <a:ext uri="{FF2B5EF4-FFF2-40B4-BE49-F238E27FC236}">
                    <a16:creationId xmlns:a16="http://schemas.microsoft.com/office/drawing/2014/main" id="{18A79702-7989-5746-BB87-844C6ED90E52}"/>
                  </a:ext>
                </a:extLst>
              </p:cNvPr>
              <p:cNvGrpSpPr>
                <a:grpSpLocks/>
              </p:cNvGrpSpPr>
              <p:nvPr/>
            </p:nvGrpSpPr>
            <p:grpSpPr bwMode="auto">
              <a:xfrm>
                <a:off x="960" y="2688"/>
                <a:ext cx="626" cy="48"/>
                <a:chOff x="1536" y="2256"/>
                <a:chExt cx="626" cy="48"/>
              </a:xfrm>
            </p:grpSpPr>
            <p:sp>
              <p:nvSpPr>
                <p:cNvPr id="74895" name="Rectangle 16">
                  <a:extLst>
                    <a:ext uri="{FF2B5EF4-FFF2-40B4-BE49-F238E27FC236}">
                      <a16:creationId xmlns:a16="http://schemas.microsoft.com/office/drawing/2014/main" id="{9C038483-31DF-654B-8965-EA5C0BFAF5CC}"/>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solidFill>
                      <a:srgbClr val="000000"/>
                    </a:solidFill>
                  </a:endParaRPr>
                </a:p>
              </p:txBody>
            </p:sp>
            <p:sp>
              <p:nvSpPr>
                <p:cNvPr id="74896" name="Freeform 17">
                  <a:extLst>
                    <a:ext uri="{FF2B5EF4-FFF2-40B4-BE49-F238E27FC236}">
                      <a16:creationId xmlns:a16="http://schemas.microsoft.com/office/drawing/2014/main" id="{1D66400C-70B5-9845-8DFD-C4107FD6E9F1}"/>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endParaRPr lang="en-US"/>
                </a:p>
              </p:txBody>
            </p:sp>
            <p:sp>
              <p:nvSpPr>
                <p:cNvPr id="74897" name="Line 18">
                  <a:extLst>
                    <a:ext uri="{FF2B5EF4-FFF2-40B4-BE49-F238E27FC236}">
                      <a16:creationId xmlns:a16="http://schemas.microsoft.com/office/drawing/2014/main" id="{022B9447-F16B-0745-9BF1-91D8C0FAB029}"/>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74881" name="Text Box 19">
                <a:extLst>
                  <a:ext uri="{FF2B5EF4-FFF2-40B4-BE49-F238E27FC236}">
                    <a16:creationId xmlns:a16="http://schemas.microsoft.com/office/drawing/2014/main" id="{735DDC71-F324-9C42-A273-48F6B84941B5}"/>
                  </a:ext>
                </a:extLst>
              </p:cNvPr>
              <p:cNvSpPr txBox="1">
                <a:spLocks noChangeArrowheads="1"/>
              </p:cNvSpPr>
              <p:nvPr/>
            </p:nvSpPr>
            <p:spPr bwMode="auto">
              <a:xfrm>
                <a:off x="1055" y="2698"/>
                <a:ext cx="36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C[1]</a:t>
                </a:r>
              </a:p>
            </p:txBody>
          </p:sp>
          <p:sp>
            <p:nvSpPr>
              <p:cNvPr id="74882" name="Text Box 20">
                <a:extLst>
                  <a:ext uri="{FF2B5EF4-FFF2-40B4-BE49-F238E27FC236}">
                    <a16:creationId xmlns:a16="http://schemas.microsoft.com/office/drawing/2014/main" id="{47522607-B169-464D-A470-3D106B0FED97}"/>
                  </a:ext>
                </a:extLst>
              </p:cNvPr>
              <p:cNvSpPr txBox="1">
                <a:spLocks noChangeArrowheads="1"/>
              </p:cNvSpPr>
              <p:nvPr/>
            </p:nvSpPr>
            <p:spPr bwMode="auto">
              <a:xfrm>
                <a:off x="1055" y="2458"/>
                <a:ext cx="36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C[2]</a:t>
                </a:r>
              </a:p>
            </p:txBody>
          </p:sp>
          <p:sp>
            <p:nvSpPr>
              <p:cNvPr id="74883" name="Text Box 21">
                <a:extLst>
                  <a:ext uri="{FF2B5EF4-FFF2-40B4-BE49-F238E27FC236}">
                    <a16:creationId xmlns:a16="http://schemas.microsoft.com/office/drawing/2014/main" id="{AB00B122-1E25-DC47-83FE-ABF1A810EE1E}"/>
                  </a:ext>
                </a:extLst>
              </p:cNvPr>
              <p:cNvSpPr txBox="1">
                <a:spLocks noChangeArrowheads="1"/>
              </p:cNvSpPr>
              <p:nvPr/>
            </p:nvSpPr>
            <p:spPr bwMode="auto">
              <a:xfrm>
                <a:off x="1055" y="3178"/>
                <a:ext cx="36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C[0]</a:t>
                </a:r>
              </a:p>
            </p:txBody>
          </p:sp>
          <p:sp>
            <p:nvSpPr>
              <p:cNvPr id="74884" name="Line 22">
                <a:extLst>
                  <a:ext uri="{FF2B5EF4-FFF2-40B4-BE49-F238E27FC236}">
                    <a16:creationId xmlns:a16="http://schemas.microsoft.com/office/drawing/2014/main" id="{39627250-6E62-4844-AFAA-DAF04BE67078}"/>
                  </a:ext>
                </a:extLst>
              </p:cNvPr>
              <p:cNvSpPr>
                <a:spLocks noChangeShapeType="1"/>
              </p:cNvSpPr>
              <p:nvPr/>
            </p:nvSpPr>
            <p:spPr bwMode="auto">
              <a:xfrm>
                <a:off x="1248" y="3024"/>
                <a:ext cx="0" cy="144"/>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74885" name="Line 23">
                <a:extLst>
                  <a:ext uri="{FF2B5EF4-FFF2-40B4-BE49-F238E27FC236}">
                    <a16:creationId xmlns:a16="http://schemas.microsoft.com/office/drawing/2014/main" id="{17FB9D52-4034-DA4B-9997-FB0A3BA0246C}"/>
                  </a:ext>
                </a:extLst>
              </p:cNvPr>
              <p:cNvSpPr>
                <a:spLocks noChangeShapeType="1"/>
              </p:cNvSpPr>
              <p:nvPr/>
            </p:nvSpPr>
            <p:spPr bwMode="auto">
              <a:xfrm>
                <a:off x="1440" y="2208"/>
                <a:ext cx="0" cy="144"/>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74886" name="Line 24">
                <a:extLst>
                  <a:ext uri="{FF2B5EF4-FFF2-40B4-BE49-F238E27FC236}">
                    <a16:creationId xmlns:a16="http://schemas.microsoft.com/office/drawing/2014/main" id="{25298472-D226-D14F-AA43-698BEB11FDE6}"/>
                  </a:ext>
                </a:extLst>
              </p:cNvPr>
              <p:cNvSpPr>
                <a:spLocks noChangeShapeType="1"/>
              </p:cNvSpPr>
              <p:nvPr/>
            </p:nvSpPr>
            <p:spPr bwMode="auto">
              <a:xfrm>
                <a:off x="1056" y="2208"/>
                <a:ext cx="0" cy="144"/>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74887" name="Text Box 25">
                <a:extLst>
                  <a:ext uri="{FF2B5EF4-FFF2-40B4-BE49-F238E27FC236}">
                    <a16:creationId xmlns:a16="http://schemas.microsoft.com/office/drawing/2014/main" id="{560ABF64-A42A-784A-8B61-51791794CE9B}"/>
                  </a:ext>
                </a:extLst>
              </p:cNvPr>
              <p:cNvSpPr txBox="1">
                <a:spLocks noChangeArrowheads="1"/>
              </p:cNvSpPr>
              <p:nvPr/>
            </p:nvSpPr>
            <p:spPr bwMode="auto">
              <a:xfrm>
                <a:off x="815" y="1978"/>
                <a:ext cx="36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A[3]</a:t>
                </a:r>
              </a:p>
            </p:txBody>
          </p:sp>
          <p:sp>
            <p:nvSpPr>
              <p:cNvPr id="74888" name="Text Box 26">
                <a:extLst>
                  <a:ext uri="{FF2B5EF4-FFF2-40B4-BE49-F238E27FC236}">
                    <a16:creationId xmlns:a16="http://schemas.microsoft.com/office/drawing/2014/main" id="{CABF8891-DD72-FF4F-AAE8-6C5FCAE0CE13}"/>
                  </a:ext>
                </a:extLst>
              </p:cNvPr>
              <p:cNvSpPr txBox="1">
                <a:spLocks noChangeArrowheads="1"/>
              </p:cNvSpPr>
              <p:nvPr/>
            </p:nvSpPr>
            <p:spPr bwMode="auto">
              <a:xfrm>
                <a:off x="1247" y="1978"/>
                <a:ext cx="36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B[3]</a:t>
                </a:r>
              </a:p>
            </p:txBody>
          </p:sp>
          <p:sp>
            <p:nvSpPr>
              <p:cNvPr id="74889" name="Text Box 27">
                <a:extLst>
                  <a:ext uri="{FF2B5EF4-FFF2-40B4-BE49-F238E27FC236}">
                    <a16:creationId xmlns:a16="http://schemas.microsoft.com/office/drawing/2014/main" id="{53BE1A10-B7E3-034E-911E-D10522ADD408}"/>
                  </a:ext>
                </a:extLst>
              </p:cNvPr>
              <p:cNvSpPr txBox="1">
                <a:spLocks noChangeArrowheads="1"/>
              </p:cNvSpPr>
              <p:nvPr/>
            </p:nvSpPr>
            <p:spPr bwMode="auto">
              <a:xfrm>
                <a:off x="815" y="1786"/>
                <a:ext cx="36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A[4]</a:t>
                </a:r>
              </a:p>
            </p:txBody>
          </p:sp>
          <p:sp>
            <p:nvSpPr>
              <p:cNvPr id="74890" name="Text Box 28">
                <a:extLst>
                  <a:ext uri="{FF2B5EF4-FFF2-40B4-BE49-F238E27FC236}">
                    <a16:creationId xmlns:a16="http://schemas.microsoft.com/office/drawing/2014/main" id="{1C8A28CD-7111-684A-B73F-A8D964121C9C}"/>
                  </a:ext>
                </a:extLst>
              </p:cNvPr>
              <p:cNvSpPr txBox="1">
                <a:spLocks noChangeArrowheads="1"/>
              </p:cNvSpPr>
              <p:nvPr/>
            </p:nvSpPr>
            <p:spPr bwMode="auto">
              <a:xfrm>
                <a:off x="1247" y="1786"/>
                <a:ext cx="36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B[4]</a:t>
                </a:r>
              </a:p>
            </p:txBody>
          </p:sp>
          <p:sp>
            <p:nvSpPr>
              <p:cNvPr id="74891" name="Text Box 29">
                <a:extLst>
                  <a:ext uri="{FF2B5EF4-FFF2-40B4-BE49-F238E27FC236}">
                    <a16:creationId xmlns:a16="http://schemas.microsoft.com/office/drawing/2014/main" id="{F2039000-B813-8245-92AE-23CED2AB757B}"/>
                  </a:ext>
                </a:extLst>
              </p:cNvPr>
              <p:cNvSpPr txBox="1">
                <a:spLocks noChangeArrowheads="1"/>
              </p:cNvSpPr>
              <p:nvPr/>
            </p:nvSpPr>
            <p:spPr bwMode="auto">
              <a:xfrm>
                <a:off x="815" y="1594"/>
                <a:ext cx="36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A[5]</a:t>
                </a:r>
              </a:p>
            </p:txBody>
          </p:sp>
          <p:sp>
            <p:nvSpPr>
              <p:cNvPr id="74892" name="Text Box 30">
                <a:extLst>
                  <a:ext uri="{FF2B5EF4-FFF2-40B4-BE49-F238E27FC236}">
                    <a16:creationId xmlns:a16="http://schemas.microsoft.com/office/drawing/2014/main" id="{A12CFD36-BC76-184B-9576-8B87D281C733}"/>
                  </a:ext>
                </a:extLst>
              </p:cNvPr>
              <p:cNvSpPr txBox="1">
                <a:spLocks noChangeArrowheads="1"/>
              </p:cNvSpPr>
              <p:nvPr/>
            </p:nvSpPr>
            <p:spPr bwMode="auto">
              <a:xfrm>
                <a:off x="1247" y="1594"/>
                <a:ext cx="36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B[5]</a:t>
                </a:r>
              </a:p>
            </p:txBody>
          </p:sp>
          <p:sp>
            <p:nvSpPr>
              <p:cNvPr id="74893" name="Text Box 31">
                <a:extLst>
                  <a:ext uri="{FF2B5EF4-FFF2-40B4-BE49-F238E27FC236}">
                    <a16:creationId xmlns:a16="http://schemas.microsoft.com/office/drawing/2014/main" id="{048889D1-2A10-9D46-A408-DBEA8E5C0C90}"/>
                  </a:ext>
                </a:extLst>
              </p:cNvPr>
              <p:cNvSpPr txBox="1">
                <a:spLocks noChangeArrowheads="1"/>
              </p:cNvSpPr>
              <p:nvPr/>
            </p:nvSpPr>
            <p:spPr bwMode="auto">
              <a:xfrm>
                <a:off x="815" y="1402"/>
                <a:ext cx="36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A[6]</a:t>
                </a:r>
              </a:p>
            </p:txBody>
          </p:sp>
          <p:sp>
            <p:nvSpPr>
              <p:cNvPr id="74894" name="Text Box 32">
                <a:extLst>
                  <a:ext uri="{FF2B5EF4-FFF2-40B4-BE49-F238E27FC236}">
                    <a16:creationId xmlns:a16="http://schemas.microsoft.com/office/drawing/2014/main" id="{4E7CB7EB-06F0-D640-94F7-D9BBDBD50B4F}"/>
                  </a:ext>
                </a:extLst>
              </p:cNvPr>
              <p:cNvSpPr txBox="1">
                <a:spLocks noChangeArrowheads="1"/>
              </p:cNvSpPr>
              <p:nvPr/>
            </p:nvSpPr>
            <p:spPr bwMode="auto">
              <a:xfrm>
                <a:off x="1247" y="1402"/>
                <a:ext cx="36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B[6]</a:t>
                </a:r>
              </a:p>
            </p:txBody>
          </p:sp>
        </p:grpSp>
        <p:sp>
          <p:nvSpPr>
            <p:cNvPr id="74875" name="Line 33">
              <a:extLst>
                <a:ext uri="{FF2B5EF4-FFF2-40B4-BE49-F238E27FC236}">
                  <a16:creationId xmlns:a16="http://schemas.microsoft.com/office/drawing/2014/main" id="{3E0FF2A0-7494-194A-B49B-DACF7E908168}"/>
                </a:ext>
              </a:extLst>
            </p:cNvPr>
            <p:cNvSpPr>
              <a:spLocks noChangeShapeType="1"/>
            </p:cNvSpPr>
            <p:nvPr/>
          </p:nvSpPr>
          <p:spPr bwMode="auto">
            <a:xfrm flipH="1">
              <a:off x="1152" y="816"/>
              <a:ext cx="1008" cy="1056"/>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74876" name="Oval 34">
              <a:extLst>
                <a:ext uri="{FF2B5EF4-FFF2-40B4-BE49-F238E27FC236}">
                  <a16:creationId xmlns:a16="http://schemas.microsoft.com/office/drawing/2014/main" id="{62669911-D161-1548-8669-4980A3E94588}"/>
                </a:ext>
              </a:extLst>
            </p:cNvPr>
            <p:cNvSpPr>
              <a:spLocks noChangeArrowheads="1"/>
            </p:cNvSpPr>
            <p:nvPr/>
          </p:nvSpPr>
          <p:spPr bwMode="auto">
            <a:xfrm>
              <a:off x="480" y="954"/>
              <a:ext cx="1727" cy="630"/>
            </a:xfrm>
            <a:prstGeom prst="ellipse">
              <a:avLst/>
            </a:prstGeom>
            <a:solidFill>
              <a:schemeClr val="bg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i="1">
                  <a:solidFill>
                    <a:srgbClr val="000000"/>
                  </a:solidFill>
                  <a:latin typeface="Verdana" panose="020B0604030504040204" pitchFamily="34" charset="0"/>
                  <a:ea typeface="굴림" panose="020B0600000101010101" pitchFamily="34" charset="-127"/>
                </a:rPr>
                <a:t>Execution using one pipelined functional unit</a:t>
              </a:r>
            </a:p>
          </p:txBody>
        </p:sp>
      </p:grpSp>
      <p:grpSp>
        <p:nvGrpSpPr>
          <p:cNvPr id="7" name="Group 35">
            <a:extLst>
              <a:ext uri="{FF2B5EF4-FFF2-40B4-BE49-F238E27FC236}">
                <a16:creationId xmlns:a16="http://schemas.microsoft.com/office/drawing/2014/main" id="{B5A15705-87A8-554E-8948-3DD3E77F527F}"/>
              </a:ext>
            </a:extLst>
          </p:cNvPr>
          <p:cNvGrpSpPr>
            <a:grpSpLocks/>
          </p:cNvGrpSpPr>
          <p:nvPr/>
        </p:nvGrpSpPr>
        <p:grpSpPr bwMode="auto">
          <a:xfrm>
            <a:off x="3130550" y="1408113"/>
            <a:ext cx="5341938" cy="4816475"/>
            <a:chOff x="2015" y="816"/>
            <a:chExt cx="3365" cy="3034"/>
          </a:xfrm>
        </p:grpSpPr>
        <p:grpSp>
          <p:nvGrpSpPr>
            <p:cNvPr id="74760" name="Group 36">
              <a:extLst>
                <a:ext uri="{FF2B5EF4-FFF2-40B4-BE49-F238E27FC236}">
                  <a16:creationId xmlns:a16="http://schemas.microsoft.com/office/drawing/2014/main" id="{D946D18C-533E-BB40-92D4-6D333E63809B}"/>
                </a:ext>
              </a:extLst>
            </p:cNvPr>
            <p:cNvGrpSpPr>
              <a:grpSpLocks/>
            </p:cNvGrpSpPr>
            <p:nvPr/>
          </p:nvGrpSpPr>
          <p:grpSpPr bwMode="auto">
            <a:xfrm>
              <a:off x="2015" y="1882"/>
              <a:ext cx="869" cy="1968"/>
              <a:chOff x="780" y="1402"/>
              <a:chExt cx="869" cy="1968"/>
            </a:xfrm>
          </p:grpSpPr>
          <p:sp>
            <p:nvSpPr>
              <p:cNvPr id="74847" name="Freeform 37">
                <a:extLst>
                  <a:ext uri="{FF2B5EF4-FFF2-40B4-BE49-F238E27FC236}">
                    <a16:creationId xmlns:a16="http://schemas.microsoft.com/office/drawing/2014/main" id="{91B22A2B-916E-8F4B-A1DF-B2AA272DB1DB}"/>
                  </a:ext>
                </a:extLst>
              </p:cNvPr>
              <p:cNvSpPr>
                <a:spLocks/>
              </p:cNvSpPr>
              <p:nvPr/>
            </p:nvSpPr>
            <p:spPr bwMode="auto">
              <a:xfrm>
                <a:off x="960" y="2352"/>
                <a:ext cx="576" cy="672"/>
              </a:xfrm>
              <a:custGeom>
                <a:avLst/>
                <a:gdLst>
                  <a:gd name="T0" fmla="*/ 0 w 576"/>
                  <a:gd name="T1" fmla="*/ 0 h 672"/>
                  <a:gd name="T2" fmla="*/ 144 w 576"/>
                  <a:gd name="T3" fmla="*/ 672 h 672"/>
                  <a:gd name="T4" fmla="*/ 450 w 576"/>
                  <a:gd name="T5" fmla="*/ 672 h 672"/>
                  <a:gd name="T6" fmla="*/ 576 w 576"/>
                  <a:gd name="T7" fmla="*/ 0 h 672"/>
                  <a:gd name="T8" fmla="*/ 336 w 576"/>
                  <a:gd name="T9" fmla="*/ 0 h 672"/>
                  <a:gd name="T10" fmla="*/ 288 w 576"/>
                  <a:gd name="T11" fmla="*/ 96 h 672"/>
                  <a:gd name="T12" fmla="*/ 240 w 576"/>
                  <a:gd name="T13" fmla="*/ 0 h 672"/>
                  <a:gd name="T14" fmla="*/ 0 w 576"/>
                  <a:gd name="T15" fmla="*/ 0 h 672"/>
                  <a:gd name="T16" fmla="*/ 0 60000 65536"/>
                  <a:gd name="T17" fmla="*/ 0 60000 65536"/>
                  <a:gd name="T18" fmla="*/ 0 60000 65536"/>
                  <a:gd name="T19" fmla="*/ 0 60000 65536"/>
                  <a:gd name="T20" fmla="*/ 0 60000 65536"/>
                  <a:gd name="T21" fmla="*/ 0 60000 65536"/>
                  <a:gd name="T22" fmla="*/ 0 60000 65536"/>
                  <a:gd name="T23" fmla="*/ 0 60000 65536"/>
                  <a:gd name="T24" fmla="*/ 0 w 576"/>
                  <a:gd name="T25" fmla="*/ 0 h 672"/>
                  <a:gd name="T26" fmla="*/ 576 w 576"/>
                  <a:gd name="T27" fmla="*/ 672 h 6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6" h="672">
                    <a:moveTo>
                      <a:pt x="0" y="0"/>
                    </a:moveTo>
                    <a:lnTo>
                      <a:pt x="144" y="672"/>
                    </a:lnTo>
                    <a:lnTo>
                      <a:pt x="450" y="672"/>
                    </a:lnTo>
                    <a:lnTo>
                      <a:pt x="576" y="0"/>
                    </a:lnTo>
                    <a:lnTo>
                      <a:pt x="336" y="0"/>
                    </a:lnTo>
                    <a:lnTo>
                      <a:pt x="288" y="96"/>
                    </a:lnTo>
                    <a:lnTo>
                      <a:pt x="240" y="0"/>
                    </a:lnTo>
                    <a:lnTo>
                      <a:pt x="0" y="0"/>
                    </a:lnTo>
                    <a:close/>
                  </a:path>
                </a:pathLst>
              </a:custGeom>
              <a:noFill/>
              <a:ln w="31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a:p>
            </p:txBody>
          </p:sp>
          <p:grpSp>
            <p:nvGrpSpPr>
              <p:cNvPr id="74848" name="Group 38">
                <a:extLst>
                  <a:ext uri="{FF2B5EF4-FFF2-40B4-BE49-F238E27FC236}">
                    <a16:creationId xmlns:a16="http://schemas.microsoft.com/office/drawing/2014/main" id="{62486E91-9B0F-CA47-8F8F-33B31FF615C3}"/>
                  </a:ext>
                </a:extLst>
              </p:cNvPr>
              <p:cNvGrpSpPr>
                <a:grpSpLocks/>
              </p:cNvGrpSpPr>
              <p:nvPr/>
            </p:nvGrpSpPr>
            <p:grpSpPr bwMode="auto">
              <a:xfrm>
                <a:off x="960" y="2928"/>
                <a:ext cx="626" cy="48"/>
                <a:chOff x="1536" y="2256"/>
                <a:chExt cx="626" cy="48"/>
              </a:xfrm>
            </p:grpSpPr>
            <p:sp>
              <p:nvSpPr>
                <p:cNvPr id="74871" name="Rectangle 39">
                  <a:extLst>
                    <a:ext uri="{FF2B5EF4-FFF2-40B4-BE49-F238E27FC236}">
                      <a16:creationId xmlns:a16="http://schemas.microsoft.com/office/drawing/2014/main" id="{1900F5E9-5392-F147-978D-148E0CCDC060}"/>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solidFill>
                      <a:srgbClr val="000000"/>
                    </a:solidFill>
                  </a:endParaRPr>
                </a:p>
              </p:txBody>
            </p:sp>
            <p:sp>
              <p:nvSpPr>
                <p:cNvPr id="74872" name="Freeform 40">
                  <a:extLst>
                    <a:ext uri="{FF2B5EF4-FFF2-40B4-BE49-F238E27FC236}">
                      <a16:creationId xmlns:a16="http://schemas.microsoft.com/office/drawing/2014/main" id="{D5DA8388-0D6F-B649-83C8-9FBC2F46CC4F}"/>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endParaRPr lang="en-US"/>
                </a:p>
              </p:txBody>
            </p:sp>
            <p:sp>
              <p:nvSpPr>
                <p:cNvPr id="74873" name="Line 41">
                  <a:extLst>
                    <a:ext uri="{FF2B5EF4-FFF2-40B4-BE49-F238E27FC236}">
                      <a16:creationId xmlns:a16="http://schemas.microsoft.com/office/drawing/2014/main" id="{A854B3D6-1070-AE40-BB1C-31B48B623A82}"/>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nvGrpSpPr>
              <p:cNvPr id="74849" name="Group 42">
                <a:extLst>
                  <a:ext uri="{FF2B5EF4-FFF2-40B4-BE49-F238E27FC236}">
                    <a16:creationId xmlns:a16="http://schemas.microsoft.com/office/drawing/2014/main" id="{A31B36DE-76A8-204B-A3D2-B94C70072149}"/>
                  </a:ext>
                </a:extLst>
              </p:cNvPr>
              <p:cNvGrpSpPr>
                <a:grpSpLocks/>
              </p:cNvGrpSpPr>
              <p:nvPr/>
            </p:nvGrpSpPr>
            <p:grpSpPr bwMode="auto">
              <a:xfrm>
                <a:off x="960" y="2448"/>
                <a:ext cx="626" cy="48"/>
                <a:chOff x="1536" y="2256"/>
                <a:chExt cx="626" cy="48"/>
              </a:xfrm>
            </p:grpSpPr>
            <p:sp>
              <p:nvSpPr>
                <p:cNvPr id="74868" name="Rectangle 43">
                  <a:extLst>
                    <a:ext uri="{FF2B5EF4-FFF2-40B4-BE49-F238E27FC236}">
                      <a16:creationId xmlns:a16="http://schemas.microsoft.com/office/drawing/2014/main" id="{46295252-2D55-8D40-9903-3AA91A6FB06B}"/>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solidFill>
                      <a:srgbClr val="000000"/>
                    </a:solidFill>
                  </a:endParaRPr>
                </a:p>
              </p:txBody>
            </p:sp>
            <p:sp>
              <p:nvSpPr>
                <p:cNvPr id="74869" name="Freeform 44">
                  <a:extLst>
                    <a:ext uri="{FF2B5EF4-FFF2-40B4-BE49-F238E27FC236}">
                      <a16:creationId xmlns:a16="http://schemas.microsoft.com/office/drawing/2014/main" id="{BB0252C8-346A-F64F-9AE8-94C78F683E02}"/>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endParaRPr lang="en-US"/>
                </a:p>
              </p:txBody>
            </p:sp>
            <p:sp>
              <p:nvSpPr>
                <p:cNvPr id="74870" name="Line 45">
                  <a:extLst>
                    <a:ext uri="{FF2B5EF4-FFF2-40B4-BE49-F238E27FC236}">
                      <a16:creationId xmlns:a16="http://schemas.microsoft.com/office/drawing/2014/main" id="{373951D1-BCB6-C24A-8D04-FD2D24357F5E}"/>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nvGrpSpPr>
              <p:cNvPr id="74850" name="Group 46">
                <a:extLst>
                  <a:ext uri="{FF2B5EF4-FFF2-40B4-BE49-F238E27FC236}">
                    <a16:creationId xmlns:a16="http://schemas.microsoft.com/office/drawing/2014/main" id="{B8CA4ABC-60CC-F642-904D-82422246CE08}"/>
                  </a:ext>
                </a:extLst>
              </p:cNvPr>
              <p:cNvGrpSpPr>
                <a:grpSpLocks/>
              </p:cNvGrpSpPr>
              <p:nvPr/>
            </p:nvGrpSpPr>
            <p:grpSpPr bwMode="auto">
              <a:xfrm>
                <a:off x="960" y="2688"/>
                <a:ext cx="626" cy="48"/>
                <a:chOff x="1536" y="2256"/>
                <a:chExt cx="626" cy="48"/>
              </a:xfrm>
            </p:grpSpPr>
            <p:sp>
              <p:nvSpPr>
                <p:cNvPr id="74865" name="Rectangle 47">
                  <a:extLst>
                    <a:ext uri="{FF2B5EF4-FFF2-40B4-BE49-F238E27FC236}">
                      <a16:creationId xmlns:a16="http://schemas.microsoft.com/office/drawing/2014/main" id="{F356D892-FADC-434A-B4F6-1B1AAD7FE6CA}"/>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solidFill>
                      <a:srgbClr val="000000"/>
                    </a:solidFill>
                  </a:endParaRPr>
                </a:p>
              </p:txBody>
            </p:sp>
            <p:sp>
              <p:nvSpPr>
                <p:cNvPr id="74866" name="Freeform 48">
                  <a:extLst>
                    <a:ext uri="{FF2B5EF4-FFF2-40B4-BE49-F238E27FC236}">
                      <a16:creationId xmlns:a16="http://schemas.microsoft.com/office/drawing/2014/main" id="{8230FD62-6E7E-A647-AB75-83BEE3D2E9BA}"/>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endParaRPr lang="en-US"/>
                </a:p>
              </p:txBody>
            </p:sp>
            <p:sp>
              <p:nvSpPr>
                <p:cNvPr id="74867" name="Line 49">
                  <a:extLst>
                    <a:ext uri="{FF2B5EF4-FFF2-40B4-BE49-F238E27FC236}">
                      <a16:creationId xmlns:a16="http://schemas.microsoft.com/office/drawing/2014/main" id="{E9A0363E-0BF7-B74B-AFEE-CB766B9AE7B1}"/>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74851" name="Text Box 50">
                <a:extLst>
                  <a:ext uri="{FF2B5EF4-FFF2-40B4-BE49-F238E27FC236}">
                    <a16:creationId xmlns:a16="http://schemas.microsoft.com/office/drawing/2014/main" id="{502CAB3F-8452-A543-80A8-7B7648FC2F5C}"/>
                  </a:ext>
                </a:extLst>
              </p:cNvPr>
              <p:cNvSpPr txBox="1">
                <a:spLocks noChangeArrowheads="1"/>
              </p:cNvSpPr>
              <p:nvPr/>
            </p:nvSpPr>
            <p:spPr bwMode="auto">
              <a:xfrm>
                <a:off x="1055" y="2698"/>
                <a:ext cx="36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C[4]</a:t>
                </a:r>
              </a:p>
            </p:txBody>
          </p:sp>
          <p:sp>
            <p:nvSpPr>
              <p:cNvPr id="74852" name="Text Box 51">
                <a:extLst>
                  <a:ext uri="{FF2B5EF4-FFF2-40B4-BE49-F238E27FC236}">
                    <a16:creationId xmlns:a16="http://schemas.microsoft.com/office/drawing/2014/main" id="{852A4419-1C23-204C-B132-8315576DAAC6}"/>
                  </a:ext>
                </a:extLst>
              </p:cNvPr>
              <p:cNvSpPr txBox="1">
                <a:spLocks noChangeArrowheads="1"/>
              </p:cNvSpPr>
              <p:nvPr/>
            </p:nvSpPr>
            <p:spPr bwMode="auto">
              <a:xfrm>
                <a:off x="1055" y="2458"/>
                <a:ext cx="36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C[8]</a:t>
                </a:r>
              </a:p>
            </p:txBody>
          </p:sp>
          <p:sp>
            <p:nvSpPr>
              <p:cNvPr id="74853" name="Text Box 52">
                <a:extLst>
                  <a:ext uri="{FF2B5EF4-FFF2-40B4-BE49-F238E27FC236}">
                    <a16:creationId xmlns:a16="http://schemas.microsoft.com/office/drawing/2014/main" id="{B4018164-4476-E746-A009-40B44512D2B7}"/>
                  </a:ext>
                </a:extLst>
              </p:cNvPr>
              <p:cNvSpPr txBox="1">
                <a:spLocks noChangeArrowheads="1"/>
              </p:cNvSpPr>
              <p:nvPr/>
            </p:nvSpPr>
            <p:spPr bwMode="auto">
              <a:xfrm>
                <a:off x="1055" y="3178"/>
                <a:ext cx="36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C[0]</a:t>
                </a:r>
              </a:p>
            </p:txBody>
          </p:sp>
          <p:sp>
            <p:nvSpPr>
              <p:cNvPr id="74854" name="Line 53">
                <a:extLst>
                  <a:ext uri="{FF2B5EF4-FFF2-40B4-BE49-F238E27FC236}">
                    <a16:creationId xmlns:a16="http://schemas.microsoft.com/office/drawing/2014/main" id="{8D51AE15-40D5-5E46-BEC4-6A4071CAA9D8}"/>
                  </a:ext>
                </a:extLst>
              </p:cNvPr>
              <p:cNvSpPr>
                <a:spLocks noChangeShapeType="1"/>
              </p:cNvSpPr>
              <p:nvPr/>
            </p:nvSpPr>
            <p:spPr bwMode="auto">
              <a:xfrm>
                <a:off x="1248" y="3024"/>
                <a:ext cx="0" cy="144"/>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74855" name="Line 54">
                <a:extLst>
                  <a:ext uri="{FF2B5EF4-FFF2-40B4-BE49-F238E27FC236}">
                    <a16:creationId xmlns:a16="http://schemas.microsoft.com/office/drawing/2014/main" id="{1F83372E-D2D0-964E-9F95-130F655D40D2}"/>
                  </a:ext>
                </a:extLst>
              </p:cNvPr>
              <p:cNvSpPr>
                <a:spLocks noChangeShapeType="1"/>
              </p:cNvSpPr>
              <p:nvPr/>
            </p:nvSpPr>
            <p:spPr bwMode="auto">
              <a:xfrm>
                <a:off x="1440" y="2208"/>
                <a:ext cx="0" cy="144"/>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74856" name="Line 55">
                <a:extLst>
                  <a:ext uri="{FF2B5EF4-FFF2-40B4-BE49-F238E27FC236}">
                    <a16:creationId xmlns:a16="http://schemas.microsoft.com/office/drawing/2014/main" id="{E58F5DCB-4462-6D47-8FD6-F7A1D0469F26}"/>
                  </a:ext>
                </a:extLst>
              </p:cNvPr>
              <p:cNvSpPr>
                <a:spLocks noChangeShapeType="1"/>
              </p:cNvSpPr>
              <p:nvPr/>
            </p:nvSpPr>
            <p:spPr bwMode="auto">
              <a:xfrm>
                <a:off x="1056" y="2208"/>
                <a:ext cx="0" cy="144"/>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74857" name="Text Box 56">
                <a:extLst>
                  <a:ext uri="{FF2B5EF4-FFF2-40B4-BE49-F238E27FC236}">
                    <a16:creationId xmlns:a16="http://schemas.microsoft.com/office/drawing/2014/main" id="{32656B49-188B-C54B-AFBB-3B4E40909607}"/>
                  </a:ext>
                </a:extLst>
              </p:cNvPr>
              <p:cNvSpPr txBox="1">
                <a:spLocks noChangeArrowheads="1"/>
              </p:cNvSpPr>
              <p:nvPr/>
            </p:nvSpPr>
            <p:spPr bwMode="auto">
              <a:xfrm>
                <a:off x="780" y="1978"/>
                <a:ext cx="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A[12]</a:t>
                </a:r>
              </a:p>
            </p:txBody>
          </p:sp>
          <p:sp>
            <p:nvSpPr>
              <p:cNvPr id="74858" name="Text Box 57">
                <a:extLst>
                  <a:ext uri="{FF2B5EF4-FFF2-40B4-BE49-F238E27FC236}">
                    <a16:creationId xmlns:a16="http://schemas.microsoft.com/office/drawing/2014/main" id="{18104E93-AEA4-9241-A565-449CA152F83D}"/>
                  </a:ext>
                </a:extLst>
              </p:cNvPr>
              <p:cNvSpPr txBox="1">
                <a:spLocks noChangeArrowheads="1"/>
              </p:cNvSpPr>
              <p:nvPr/>
            </p:nvSpPr>
            <p:spPr bwMode="auto">
              <a:xfrm>
                <a:off x="1212" y="1978"/>
                <a:ext cx="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B[12]</a:t>
                </a:r>
              </a:p>
            </p:txBody>
          </p:sp>
          <p:sp>
            <p:nvSpPr>
              <p:cNvPr id="74859" name="Text Box 58">
                <a:extLst>
                  <a:ext uri="{FF2B5EF4-FFF2-40B4-BE49-F238E27FC236}">
                    <a16:creationId xmlns:a16="http://schemas.microsoft.com/office/drawing/2014/main" id="{AC04FD90-C682-B846-8669-0F75599D285B}"/>
                  </a:ext>
                </a:extLst>
              </p:cNvPr>
              <p:cNvSpPr txBox="1">
                <a:spLocks noChangeArrowheads="1"/>
              </p:cNvSpPr>
              <p:nvPr/>
            </p:nvSpPr>
            <p:spPr bwMode="auto">
              <a:xfrm>
                <a:off x="780" y="1786"/>
                <a:ext cx="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A[16]</a:t>
                </a:r>
              </a:p>
            </p:txBody>
          </p:sp>
          <p:sp>
            <p:nvSpPr>
              <p:cNvPr id="74860" name="Text Box 59">
                <a:extLst>
                  <a:ext uri="{FF2B5EF4-FFF2-40B4-BE49-F238E27FC236}">
                    <a16:creationId xmlns:a16="http://schemas.microsoft.com/office/drawing/2014/main" id="{81E36E6B-ADEE-A345-9A3E-17B6DF3FF3DC}"/>
                  </a:ext>
                </a:extLst>
              </p:cNvPr>
              <p:cNvSpPr txBox="1">
                <a:spLocks noChangeArrowheads="1"/>
              </p:cNvSpPr>
              <p:nvPr/>
            </p:nvSpPr>
            <p:spPr bwMode="auto">
              <a:xfrm>
                <a:off x="1212" y="1786"/>
                <a:ext cx="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B[16]</a:t>
                </a:r>
              </a:p>
            </p:txBody>
          </p:sp>
          <p:sp>
            <p:nvSpPr>
              <p:cNvPr id="74861" name="Text Box 60">
                <a:extLst>
                  <a:ext uri="{FF2B5EF4-FFF2-40B4-BE49-F238E27FC236}">
                    <a16:creationId xmlns:a16="http://schemas.microsoft.com/office/drawing/2014/main" id="{0C12FBFA-E9F4-3D4C-B203-FC5C14D45A2A}"/>
                  </a:ext>
                </a:extLst>
              </p:cNvPr>
              <p:cNvSpPr txBox="1">
                <a:spLocks noChangeArrowheads="1"/>
              </p:cNvSpPr>
              <p:nvPr/>
            </p:nvSpPr>
            <p:spPr bwMode="auto">
              <a:xfrm>
                <a:off x="780" y="1594"/>
                <a:ext cx="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A[20]</a:t>
                </a:r>
              </a:p>
            </p:txBody>
          </p:sp>
          <p:sp>
            <p:nvSpPr>
              <p:cNvPr id="74862" name="Text Box 61">
                <a:extLst>
                  <a:ext uri="{FF2B5EF4-FFF2-40B4-BE49-F238E27FC236}">
                    <a16:creationId xmlns:a16="http://schemas.microsoft.com/office/drawing/2014/main" id="{A17AE39B-04CC-DA4B-A204-AC43E03749B2}"/>
                  </a:ext>
                </a:extLst>
              </p:cNvPr>
              <p:cNvSpPr txBox="1">
                <a:spLocks noChangeArrowheads="1"/>
              </p:cNvSpPr>
              <p:nvPr/>
            </p:nvSpPr>
            <p:spPr bwMode="auto">
              <a:xfrm>
                <a:off x="1212" y="1594"/>
                <a:ext cx="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B[20]</a:t>
                </a:r>
              </a:p>
            </p:txBody>
          </p:sp>
          <p:sp>
            <p:nvSpPr>
              <p:cNvPr id="74863" name="Text Box 62">
                <a:extLst>
                  <a:ext uri="{FF2B5EF4-FFF2-40B4-BE49-F238E27FC236}">
                    <a16:creationId xmlns:a16="http://schemas.microsoft.com/office/drawing/2014/main" id="{C0B7D492-65B9-E04C-8982-CF464DA42453}"/>
                  </a:ext>
                </a:extLst>
              </p:cNvPr>
              <p:cNvSpPr txBox="1">
                <a:spLocks noChangeArrowheads="1"/>
              </p:cNvSpPr>
              <p:nvPr/>
            </p:nvSpPr>
            <p:spPr bwMode="auto">
              <a:xfrm>
                <a:off x="780" y="1402"/>
                <a:ext cx="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A[24]</a:t>
                </a:r>
              </a:p>
            </p:txBody>
          </p:sp>
          <p:sp>
            <p:nvSpPr>
              <p:cNvPr id="74864" name="Text Box 63">
                <a:extLst>
                  <a:ext uri="{FF2B5EF4-FFF2-40B4-BE49-F238E27FC236}">
                    <a16:creationId xmlns:a16="http://schemas.microsoft.com/office/drawing/2014/main" id="{2295B267-95F2-9B4F-89BC-3151F93F14C8}"/>
                  </a:ext>
                </a:extLst>
              </p:cNvPr>
              <p:cNvSpPr txBox="1">
                <a:spLocks noChangeArrowheads="1"/>
              </p:cNvSpPr>
              <p:nvPr/>
            </p:nvSpPr>
            <p:spPr bwMode="auto">
              <a:xfrm>
                <a:off x="1212" y="1402"/>
                <a:ext cx="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B[24]</a:t>
                </a:r>
              </a:p>
            </p:txBody>
          </p:sp>
        </p:grpSp>
        <p:grpSp>
          <p:nvGrpSpPr>
            <p:cNvPr id="74761" name="Group 64">
              <a:extLst>
                <a:ext uri="{FF2B5EF4-FFF2-40B4-BE49-F238E27FC236}">
                  <a16:creationId xmlns:a16="http://schemas.microsoft.com/office/drawing/2014/main" id="{819DC128-2E67-C548-9E6C-943EE4258C7E}"/>
                </a:ext>
              </a:extLst>
            </p:cNvPr>
            <p:cNvGrpSpPr>
              <a:grpSpLocks/>
            </p:cNvGrpSpPr>
            <p:nvPr/>
          </p:nvGrpSpPr>
          <p:grpSpPr bwMode="auto">
            <a:xfrm>
              <a:off x="2879" y="1882"/>
              <a:ext cx="869" cy="1968"/>
              <a:chOff x="780" y="1402"/>
              <a:chExt cx="869" cy="1968"/>
            </a:xfrm>
          </p:grpSpPr>
          <p:sp>
            <p:nvSpPr>
              <p:cNvPr id="74820" name="Freeform 65">
                <a:extLst>
                  <a:ext uri="{FF2B5EF4-FFF2-40B4-BE49-F238E27FC236}">
                    <a16:creationId xmlns:a16="http://schemas.microsoft.com/office/drawing/2014/main" id="{A5633978-0B5B-864F-9E90-DA54BFCD49E8}"/>
                  </a:ext>
                </a:extLst>
              </p:cNvPr>
              <p:cNvSpPr>
                <a:spLocks/>
              </p:cNvSpPr>
              <p:nvPr/>
            </p:nvSpPr>
            <p:spPr bwMode="auto">
              <a:xfrm>
                <a:off x="960" y="2352"/>
                <a:ext cx="576" cy="672"/>
              </a:xfrm>
              <a:custGeom>
                <a:avLst/>
                <a:gdLst>
                  <a:gd name="T0" fmla="*/ 0 w 576"/>
                  <a:gd name="T1" fmla="*/ 0 h 672"/>
                  <a:gd name="T2" fmla="*/ 144 w 576"/>
                  <a:gd name="T3" fmla="*/ 672 h 672"/>
                  <a:gd name="T4" fmla="*/ 450 w 576"/>
                  <a:gd name="T5" fmla="*/ 672 h 672"/>
                  <a:gd name="T6" fmla="*/ 576 w 576"/>
                  <a:gd name="T7" fmla="*/ 0 h 672"/>
                  <a:gd name="T8" fmla="*/ 336 w 576"/>
                  <a:gd name="T9" fmla="*/ 0 h 672"/>
                  <a:gd name="T10" fmla="*/ 288 w 576"/>
                  <a:gd name="T11" fmla="*/ 96 h 672"/>
                  <a:gd name="T12" fmla="*/ 240 w 576"/>
                  <a:gd name="T13" fmla="*/ 0 h 672"/>
                  <a:gd name="T14" fmla="*/ 0 w 576"/>
                  <a:gd name="T15" fmla="*/ 0 h 672"/>
                  <a:gd name="T16" fmla="*/ 0 60000 65536"/>
                  <a:gd name="T17" fmla="*/ 0 60000 65536"/>
                  <a:gd name="T18" fmla="*/ 0 60000 65536"/>
                  <a:gd name="T19" fmla="*/ 0 60000 65536"/>
                  <a:gd name="T20" fmla="*/ 0 60000 65536"/>
                  <a:gd name="T21" fmla="*/ 0 60000 65536"/>
                  <a:gd name="T22" fmla="*/ 0 60000 65536"/>
                  <a:gd name="T23" fmla="*/ 0 60000 65536"/>
                  <a:gd name="T24" fmla="*/ 0 w 576"/>
                  <a:gd name="T25" fmla="*/ 0 h 672"/>
                  <a:gd name="T26" fmla="*/ 576 w 576"/>
                  <a:gd name="T27" fmla="*/ 672 h 6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6" h="672">
                    <a:moveTo>
                      <a:pt x="0" y="0"/>
                    </a:moveTo>
                    <a:lnTo>
                      <a:pt x="144" y="672"/>
                    </a:lnTo>
                    <a:lnTo>
                      <a:pt x="450" y="672"/>
                    </a:lnTo>
                    <a:lnTo>
                      <a:pt x="576" y="0"/>
                    </a:lnTo>
                    <a:lnTo>
                      <a:pt x="336" y="0"/>
                    </a:lnTo>
                    <a:lnTo>
                      <a:pt x="288" y="96"/>
                    </a:lnTo>
                    <a:lnTo>
                      <a:pt x="240" y="0"/>
                    </a:lnTo>
                    <a:lnTo>
                      <a:pt x="0" y="0"/>
                    </a:lnTo>
                    <a:close/>
                  </a:path>
                </a:pathLst>
              </a:custGeom>
              <a:noFill/>
              <a:ln w="31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a:p>
            </p:txBody>
          </p:sp>
          <p:grpSp>
            <p:nvGrpSpPr>
              <p:cNvPr id="74821" name="Group 66">
                <a:extLst>
                  <a:ext uri="{FF2B5EF4-FFF2-40B4-BE49-F238E27FC236}">
                    <a16:creationId xmlns:a16="http://schemas.microsoft.com/office/drawing/2014/main" id="{6E321B49-C2A7-1241-8AF1-77D1EECC320C}"/>
                  </a:ext>
                </a:extLst>
              </p:cNvPr>
              <p:cNvGrpSpPr>
                <a:grpSpLocks/>
              </p:cNvGrpSpPr>
              <p:nvPr/>
            </p:nvGrpSpPr>
            <p:grpSpPr bwMode="auto">
              <a:xfrm>
                <a:off x="960" y="2928"/>
                <a:ext cx="626" cy="48"/>
                <a:chOff x="1536" y="2256"/>
                <a:chExt cx="626" cy="48"/>
              </a:xfrm>
            </p:grpSpPr>
            <p:sp>
              <p:nvSpPr>
                <p:cNvPr id="74844" name="Rectangle 67">
                  <a:extLst>
                    <a:ext uri="{FF2B5EF4-FFF2-40B4-BE49-F238E27FC236}">
                      <a16:creationId xmlns:a16="http://schemas.microsoft.com/office/drawing/2014/main" id="{D39E5477-73AE-D849-BA63-0F6EF80D289D}"/>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solidFill>
                      <a:srgbClr val="000000"/>
                    </a:solidFill>
                  </a:endParaRPr>
                </a:p>
              </p:txBody>
            </p:sp>
            <p:sp>
              <p:nvSpPr>
                <p:cNvPr id="74845" name="Freeform 68">
                  <a:extLst>
                    <a:ext uri="{FF2B5EF4-FFF2-40B4-BE49-F238E27FC236}">
                      <a16:creationId xmlns:a16="http://schemas.microsoft.com/office/drawing/2014/main" id="{970DA98B-31EC-3444-B1B4-961A6ED0D459}"/>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endParaRPr lang="en-US"/>
                </a:p>
              </p:txBody>
            </p:sp>
            <p:sp>
              <p:nvSpPr>
                <p:cNvPr id="74846" name="Line 69">
                  <a:extLst>
                    <a:ext uri="{FF2B5EF4-FFF2-40B4-BE49-F238E27FC236}">
                      <a16:creationId xmlns:a16="http://schemas.microsoft.com/office/drawing/2014/main" id="{F6349728-840E-A341-B7D1-2A4CB88B3123}"/>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nvGrpSpPr>
              <p:cNvPr id="74822" name="Group 70">
                <a:extLst>
                  <a:ext uri="{FF2B5EF4-FFF2-40B4-BE49-F238E27FC236}">
                    <a16:creationId xmlns:a16="http://schemas.microsoft.com/office/drawing/2014/main" id="{6CB8B7E5-1025-9244-B8F3-A5E796D73685}"/>
                  </a:ext>
                </a:extLst>
              </p:cNvPr>
              <p:cNvGrpSpPr>
                <a:grpSpLocks/>
              </p:cNvGrpSpPr>
              <p:nvPr/>
            </p:nvGrpSpPr>
            <p:grpSpPr bwMode="auto">
              <a:xfrm>
                <a:off x="960" y="2448"/>
                <a:ext cx="626" cy="48"/>
                <a:chOff x="1536" y="2256"/>
                <a:chExt cx="626" cy="48"/>
              </a:xfrm>
            </p:grpSpPr>
            <p:sp>
              <p:nvSpPr>
                <p:cNvPr id="74841" name="Rectangle 71">
                  <a:extLst>
                    <a:ext uri="{FF2B5EF4-FFF2-40B4-BE49-F238E27FC236}">
                      <a16:creationId xmlns:a16="http://schemas.microsoft.com/office/drawing/2014/main" id="{D5953BFB-3499-8346-96F4-3D2972A7C134}"/>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solidFill>
                      <a:srgbClr val="000000"/>
                    </a:solidFill>
                  </a:endParaRPr>
                </a:p>
              </p:txBody>
            </p:sp>
            <p:sp>
              <p:nvSpPr>
                <p:cNvPr id="74842" name="Freeform 72">
                  <a:extLst>
                    <a:ext uri="{FF2B5EF4-FFF2-40B4-BE49-F238E27FC236}">
                      <a16:creationId xmlns:a16="http://schemas.microsoft.com/office/drawing/2014/main" id="{BA120321-652E-2C42-9506-D7EB4676E3B6}"/>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endParaRPr lang="en-US"/>
                </a:p>
              </p:txBody>
            </p:sp>
            <p:sp>
              <p:nvSpPr>
                <p:cNvPr id="74843" name="Line 73">
                  <a:extLst>
                    <a:ext uri="{FF2B5EF4-FFF2-40B4-BE49-F238E27FC236}">
                      <a16:creationId xmlns:a16="http://schemas.microsoft.com/office/drawing/2014/main" id="{E701E328-44A2-1045-B7E9-F866E553CB0E}"/>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nvGrpSpPr>
              <p:cNvPr id="74823" name="Group 74">
                <a:extLst>
                  <a:ext uri="{FF2B5EF4-FFF2-40B4-BE49-F238E27FC236}">
                    <a16:creationId xmlns:a16="http://schemas.microsoft.com/office/drawing/2014/main" id="{23F9771E-CA3C-AA4B-AD92-723D8D9C5048}"/>
                  </a:ext>
                </a:extLst>
              </p:cNvPr>
              <p:cNvGrpSpPr>
                <a:grpSpLocks/>
              </p:cNvGrpSpPr>
              <p:nvPr/>
            </p:nvGrpSpPr>
            <p:grpSpPr bwMode="auto">
              <a:xfrm>
                <a:off x="960" y="2688"/>
                <a:ext cx="626" cy="48"/>
                <a:chOff x="1536" y="2256"/>
                <a:chExt cx="626" cy="48"/>
              </a:xfrm>
            </p:grpSpPr>
            <p:sp>
              <p:nvSpPr>
                <p:cNvPr id="74838" name="Rectangle 75">
                  <a:extLst>
                    <a:ext uri="{FF2B5EF4-FFF2-40B4-BE49-F238E27FC236}">
                      <a16:creationId xmlns:a16="http://schemas.microsoft.com/office/drawing/2014/main" id="{E024342C-29D6-1543-95D9-1FF79A2A180F}"/>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solidFill>
                      <a:srgbClr val="000000"/>
                    </a:solidFill>
                  </a:endParaRPr>
                </a:p>
              </p:txBody>
            </p:sp>
            <p:sp>
              <p:nvSpPr>
                <p:cNvPr id="74839" name="Freeform 76">
                  <a:extLst>
                    <a:ext uri="{FF2B5EF4-FFF2-40B4-BE49-F238E27FC236}">
                      <a16:creationId xmlns:a16="http://schemas.microsoft.com/office/drawing/2014/main" id="{A9D66E4F-9482-AD4B-BCBC-80AABDD348A5}"/>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endParaRPr lang="en-US"/>
                </a:p>
              </p:txBody>
            </p:sp>
            <p:sp>
              <p:nvSpPr>
                <p:cNvPr id="74840" name="Line 77">
                  <a:extLst>
                    <a:ext uri="{FF2B5EF4-FFF2-40B4-BE49-F238E27FC236}">
                      <a16:creationId xmlns:a16="http://schemas.microsoft.com/office/drawing/2014/main" id="{637F7D9D-BE07-F744-9288-3FFE070BED5A}"/>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74824" name="Text Box 78">
                <a:extLst>
                  <a:ext uri="{FF2B5EF4-FFF2-40B4-BE49-F238E27FC236}">
                    <a16:creationId xmlns:a16="http://schemas.microsoft.com/office/drawing/2014/main" id="{AAC9A3D1-EA65-5843-B4E3-F90A14C17D99}"/>
                  </a:ext>
                </a:extLst>
              </p:cNvPr>
              <p:cNvSpPr txBox="1">
                <a:spLocks noChangeArrowheads="1"/>
              </p:cNvSpPr>
              <p:nvPr/>
            </p:nvSpPr>
            <p:spPr bwMode="auto">
              <a:xfrm>
                <a:off x="1055" y="2698"/>
                <a:ext cx="36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C[5]</a:t>
                </a:r>
              </a:p>
            </p:txBody>
          </p:sp>
          <p:sp>
            <p:nvSpPr>
              <p:cNvPr id="74825" name="Text Box 79">
                <a:extLst>
                  <a:ext uri="{FF2B5EF4-FFF2-40B4-BE49-F238E27FC236}">
                    <a16:creationId xmlns:a16="http://schemas.microsoft.com/office/drawing/2014/main" id="{EAEAAE9C-6D40-B443-ABF4-B216D5D62353}"/>
                  </a:ext>
                </a:extLst>
              </p:cNvPr>
              <p:cNvSpPr txBox="1">
                <a:spLocks noChangeArrowheads="1"/>
              </p:cNvSpPr>
              <p:nvPr/>
            </p:nvSpPr>
            <p:spPr bwMode="auto">
              <a:xfrm>
                <a:off x="1055" y="2458"/>
                <a:ext cx="36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C[9]</a:t>
                </a:r>
              </a:p>
            </p:txBody>
          </p:sp>
          <p:sp>
            <p:nvSpPr>
              <p:cNvPr id="74826" name="Text Box 80">
                <a:extLst>
                  <a:ext uri="{FF2B5EF4-FFF2-40B4-BE49-F238E27FC236}">
                    <a16:creationId xmlns:a16="http://schemas.microsoft.com/office/drawing/2014/main" id="{FFB54CF2-36FE-6E46-AC1C-659AB5DA4EF3}"/>
                  </a:ext>
                </a:extLst>
              </p:cNvPr>
              <p:cNvSpPr txBox="1">
                <a:spLocks noChangeArrowheads="1"/>
              </p:cNvSpPr>
              <p:nvPr/>
            </p:nvSpPr>
            <p:spPr bwMode="auto">
              <a:xfrm>
                <a:off x="1055" y="3178"/>
                <a:ext cx="36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C[1]</a:t>
                </a:r>
              </a:p>
            </p:txBody>
          </p:sp>
          <p:sp>
            <p:nvSpPr>
              <p:cNvPr id="74827" name="Line 81">
                <a:extLst>
                  <a:ext uri="{FF2B5EF4-FFF2-40B4-BE49-F238E27FC236}">
                    <a16:creationId xmlns:a16="http://schemas.microsoft.com/office/drawing/2014/main" id="{A67E2FC2-31FF-C946-A43C-36D8C9D53FB8}"/>
                  </a:ext>
                </a:extLst>
              </p:cNvPr>
              <p:cNvSpPr>
                <a:spLocks noChangeShapeType="1"/>
              </p:cNvSpPr>
              <p:nvPr/>
            </p:nvSpPr>
            <p:spPr bwMode="auto">
              <a:xfrm>
                <a:off x="1248" y="3024"/>
                <a:ext cx="0" cy="144"/>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74828" name="Line 82">
                <a:extLst>
                  <a:ext uri="{FF2B5EF4-FFF2-40B4-BE49-F238E27FC236}">
                    <a16:creationId xmlns:a16="http://schemas.microsoft.com/office/drawing/2014/main" id="{CC85917B-DD22-224E-ADFA-E882C9F9FB7E}"/>
                  </a:ext>
                </a:extLst>
              </p:cNvPr>
              <p:cNvSpPr>
                <a:spLocks noChangeShapeType="1"/>
              </p:cNvSpPr>
              <p:nvPr/>
            </p:nvSpPr>
            <p:spPr bwMode="auto">
              <a:xfrm>
                <a:off x="1440" y="2208"/>
                <a:ext cx="0" cy="144"/>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74829" name="Line 83">
                <a:extLst>
                  <a:ext uri="{FF2B5EF4-FFF2-40B4-BE49-F238E27FC236}">
                    <a16:creationId xmlns:a16="http://schemas.microsoft.com/office/drawing/2014/main" id="{37B8DEE5-2F1D-C849-8814-CD0C037A5FE1}"/>
                  </a:ext>
                </a:extLst>
              </p:cNvPr>
              <p:cNvSpPr>
                <a:spLocks noChangeShapeType="1"/>
              </p:cNvSpPr>
              <p:nvPr/>
            </p:nvSpPr>
            <p:spPr bwMode="auto">
              <a:xfrm>
                <a:off x="1056" y="2208"/>
                <a:ext cx="0" cy="144"/>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74830" name="Text Box 84">
                <a:extLst>
                  <a:ext uri="{FF2B5EF4-FFF2-40B4-BE49-F238E27FC236}">
                    <a16:creationId xmlns:a16="http://schemas.microsoft.com/office/drawing/2014/main" id="{434F0FB1-E9D5-2E40-9FC2-A6078B750165}"/>
                  </a:ext>
                </a:extLst>
              </p:cNvPr>
              <p:cNvSpPr txBox="1">
                <a:spLocks noChangeArrowheads="1"/>
              </p:cNvSpPr>
              <p:nvPr/>
            </p:nvSpPr>
            <p:spPr bwMode="auto">
              <a:xfrm>
                <a:off x="780" y="1978"/>
                <a:ext cx="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A[13]</a:t>
                </a:r>
              </a:p>
            </p:txBody>
          </p:sp>
          <p:sp>
            <p:nvSpPr>
              <p:cNvPr id="74831" name="Text Box 85">
                <a:extLst>
                  <a:ext uri="{FF2B5EF4-FFF2-40B4-BE49-F238E27FC236}">
                    <a16:creationId xmlns:a16="http://schemas.microsoft.com/office/drawing/2014/main" id="{D1875F39-7AD9-B849-828B-737185DA362A}"/>
                  </a:ext>
                </a:extLst>
              </p:cNvPr>
              <p:cNvSpPr txBox="1">
                <a:spLocks noChangeArrowheads="1"/>
              </p:cNvSpPr>
              <p:nvPr/>
            </p:nvSpPr>
            <p:spPr bwMode="auto">
              <a:xfrm>
                <a:off x="1212" y="1978"/>
                <a:ext cx="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B[13]</a:t>
                </a:r>
              </a:p>
            </p:txBody>
          </p:sp>
          <p:sp>
            <p:nvSpPr>
              <p:cNvPr id="74832" name="Text Box 86">
                <a:extLst>
                  <a:ext uri="{FF2B5EF4-FFF2-40B4-BE49-F238E27FC236}">
                    <a16:creationId xmlns:a16="http://schemas.microsoft.com/office/drawing/2014/main" id="{3C6C657A-FC35-3A4C-88BA-7F824F8A39B5}"/>
                  </a:ext>
                </a:extLst>
              </p:cNvPr>
              <p:cNvSpPr txBox="1">
                <a:spLocks noChangeArrowheads="1"/>
              </p:cNvSpPr>
              <p:nvPr/>
            </p:nvSpPr>
            <p:spPr bwMode="auto">
              <a:xfrm>
                <a:off x="780" y="1786"/>
                <a:ext cx="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A[17]</a:t>
                </a:r>
              </a:p>
            </p:txBody>
          </p:sp>
          <p:sp>
            <p:nvSpPr>
              <p:cNvPr id="74833" name="Text Box 87">
                <a:extLst>
                  <a:ext uri="{FF2B5EF4-FFF2-40B4-BE49-F238E27FC236}">
                    <a16:creationId xmlns:a16="http://schemas.microsoft.com/office/drawing/2014/main" id="{386EF3C4-C47F-6D4E-8DBD-C372D023F256}"/>
                  </a:ext>
                </a:extLst>
              </p:cNvPr>
              <p:cNvSpPr txBox="1">
                <a:spLocks noChangeArrowheads="1"/>
              </p:cNvSpPr>
              <p:nvPr/>
            </p:nvSpPr>
            <p:spPr bwMode="auto">
              <a:xfrm>
                <a:off x="1212" y="1786"/>
                <a:ext cx="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B[17]</a:t>
                </a:r>
              </a:p>
            </p:txBody>
          </p:sp>
          <p:sp>
            <p:nvSpPr>
              <p:cNvPr id="74834" name="Text Box 88">
                <a:extLst>
                  <a:ext uri="{FF2B5EF4-FFF2-40B4-BE49-F238E27FC236}">
                    <a16:creationId xmlns:a16="http://schemas.microsoft.com/office/drawing/2014/main" id="{89158DD7-E693-3944-B308-7D92B14B9271}"/>
                  </a:ext>
                </a:extLst>
              </p:cNvPr>
              <p:cNvSpPr txBox="1">
                <a:spLocks noChangeArrowheads="1"/>
              </p:cNvSpPr>
              <p:nvPr/>
            </p:nvSpPr>
            <p:spPr bwMode="auto">
              <a:xfrm>
                <a:off x="780" y="1594"/>
                <a:ext cx="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A[21]</a:t>
                </a:r>
              </a:p>
            </p:txBody>
          </p:sp>
          <p:sp>
            <p:nvSpPr>
              <p:cNvPr id="74835" name="Text Box 89">
                <a:extLst>
                  <a:ext uri="{FF2B5EF4-FFF2-40B4-BE49-F238E27FC236}">
                    <a16:creationId xmlns:a16="http://schemas.microsoft.com/office/drawing/2014/main" id="{5C32EF01-149D-A14F-8EBF-7A60788D4147}"/>
                  </a:ext>
                </a:extLst>
              </p:cNvPr>
              <p:cNvSpPr txBox="1">
                <a:spLocks noChangeArrowheads="1"/>
              </p:cNvSpPr>
              <p:nvPr/>
            </p:nvSpPr>
            <p:spPr bwMode="auto">
              <a:xfrm>
                <a:off x="1212" y="1594"/>
                <a:ext cx="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B[21]</a:t>
                </a:r>
              </a:p>
            </p:txBody>
          </p:sp>
          <p:sp>
            <p:nvSpPr>
              <p:cNvPr id="74836" name="Text Box 90">
                <a:extLst>
                  <a:ext uri="{FF2B5EF4-FFF2-40B4-BE49-F238E27FC236}">
                    <a16:creationId xmlns:a16="http://schemas.microsoft.com/office/drawing/2014/main" id="{144E010F-6F93-CE49-B7B6-F0531266A91E}"/>
                  </a:ext>
                </a:extLst>
              </p:cNvPr>
              <p:cNvSpPr txBox="1">
                <a:spLocks noChangeArrowheads="1"/>
              </p:cNvSpPr>
              <p:nvPr/>
            </p:nvSpPr>
            <p:spPr bwMode="auto">
              <a:xfrm>
                <a:off x="780" y="1402"/>
                <a:ext cx="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A[25]</a:t>
                </a:r>
              </a:p>
            </p:txBody>
          </p:sp>
          <p:sp>
            <p:nvSpPr>
              <p:cNvPr id="74837" name="Text Box 91">
                <a:extLst>
                  <a:ext uri="{FF2B5EF4-FFF2-40B4-BE49-F238E27FC236}">
                    <a16:creationId xmlns:a16="http://schemas.microsoft.com/office/drawing/2014/main" id="{E45BA666-89D7-364C-8E75-A48910AD7600}"/>
                  </a:ext>
                </a:extLst>
              </p:cNvPr>
              <p:cNvSpPr txBox="1">
                <a:spLocks noChangeArrowheads="1"/>
              </p:cNvSpPr>
              <p:nvPr/>
            </p:nvSpPr>
            <p:spPr bwMode="auto">
              <a:xfrm>
                <a:off x="1212" y="1402"/>
                <a:ext cx="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B[25]</a:t>
                </a:r>
              </a:p>
            </p:txBody>
          </p:sp>
        </p:grpSp>
        <p:grpSp>
          <p:nvGrpSpPr>
            <p:cNvPr id="74762" name="Group 92">
              <a:extLst>
                <a:ext uri="{FF2B5EF4-FFF2-40B4-BE49-F238E27FC236}">
                  <a16:creationId xmlns:a16="http://schemas.microsoft.com/office/drawing/2014/main" id="{9CD0065F-AF18-CD49-AADE-3D3AFAABD29C}"/>
                </a:ext>
              </a:extLst>
            </p:cNvPr>
            <p:cNvGrpSpPr>
              <a:grpSpLocks/>
            </p:cNvGrpSpPr>
            <p:nvPr/>
          </p:nvGrpSpPr>
          <p:grpSpPr bwMode="auto">
            <a:xfrm>
              <a:off x="3695" y="1882"/>
              <a:ext cx="869" cy="1968"/>
              <a:chOff x="780" y="1402"/>
              <a:chExt cx="869" cy="1968"/>
            </a:xfrm>
          </p:grpSpPr>
          <p:sp>
            <p:nvSpPr>
              <p:cNvPr id="74793" name="Freeform 93">
                <a:extLst>
                  <a:ext uri="{FF2B5EF4-FFF2-40B4-BE49-F238E27FC236}">
                    <a16:creationId xmlns:a16="http://schemas.microsoft.com/office/drawing/2014/main" id="{CD9D4390-E3C8-8A49-9AF8-3AF15E11A8FB}"/>
                  </a:ext>
                </a:extLst>
              </p:cNvPr>
              <p:cNvSpPr>
                <a:spLocks/>
              </p:cNvSpPr>
              <p:nvPr/>
            </p:nvSpPr>
            <p:spPr bwMode="auto">
              <a:xfrm>
                <a:off x="960" y="2352"/>
                <a:ext cx="576" cy="672"/>
              </a:xfrm>
              <a:custGeom>
                <a:avLst/>
                <a:gdLst>
                  <a:gd name="T0" fmla="*/ 0 w 576"/>
                  <a:gd name="T1" fmla="*/ 0 h 672"/>
                  <a:gd name="T2" fmla="*/ 144 w 576"/>
                  <a:gd name="T3" fmla="*/ 672 h 672"/>
                  <a:gd name="T4" fmla="*/ 450 w 576"/>
                  <a:gd name="T5" fmla="*/ 672 h 672"/>
                  <a:gd name="T6" fmla="*/ 576 w 576"/>
                  <a:gd name="T7" fmla="*/ 0 h 672"/>
                  <a:gd name="T8" fmla="*/ 336 w 576"/>
                  <a:gd name="T9" fmla="*/ 0 h 672"/>
                  <a:gd name="T10" fmla="*/ 288 w 576"/>
                  <a:gd name="T11" fmla="*/ 96 h 672"/>
                  <a:gd name="T12" fmla="*/ 240 w 576"/>
                  <a:gd name="T13" fmla="*/ 0 h 672"/>
                  <a:gd name="T14" fmla="*/ 0 w 576"/>
                  <a:gd name="T15" fmla="*/ 0 h 672"/>
                  <a:gd name="T16" fmla="*/ 0 60000 65536"/>
                  <a:gd name="T17" fmla="*/ 0 60000 65536"/>
                  <a:gd name="T18" fmla="*/ 0 60000 65536"/>
                  <a:gd name="T19" fmla="*/ 0 60000 65536"/>
                  <a:gd name="T20" fmla="*/ 0 60000 65536"/>
                  <a:gd name="T21" fmla="*/ 0 60000 65536"/>
                  <a:gd name="T22" fmla="*/ 0 60000 65536"/>
                  <a:gd name="T23" fmla="*/ 0 60000 65536"/>
                  <a:gd name="T24" fmla="*/ 0 w 576"/>
                  <a:gd name="T25" fmla="*/ 0 h 672"/>
                  <a:gd name="T26" fmla="*/ 576 w 576"/>
                  <a:gd name="T27" fmla="*/ 672 h 6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6" h="672">
                    <a:moveTo>
                      <a:pt x="0" y="0"/>
                    </a:moveTo>
                    <a:lnTo>
                      <a:pt x="144" y="672"/>
                    </a:lnTo>
                    <a:lnTo>
                      <a:pt x="450" y="672"/>
                    </a:lnTo>
                    <a:lnTo>
                      <a:pt x="576" y="0"/>
                    </a:lnTo>
                    <a:lnTo>
                      <a:pt x="336" y="0"/>
                    </a:lnTo>
                    <a:lnTo>
                      <a:pt x="288" y="96"/>
                    </a:lnTo>
                    <a:lnTo>
                      <a:pt x="240" y="0"/>
                    </a:lnTo>
                    <a:lnTo>
                      <a:pt x="0" y="0"/>
                    </a:lnTo>
                    <a:close/>
                  </a:path>
                </a:pathLst>
              </a:custGeom>
              <a:noFill/>
              <a:ln w="31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a:p>
            </p:txBody>
          </p:sp>
          <p:grpSp>
            <p:nvGrpSpPr>
              <p:cNvPr id="74794" name="Group 94">
                <a:extLst>
                  <a:ext uri="{FF2B5EF4-FFF2-40B4-BE49-F238E27FC236}">
                    <a16:creationId xmlns:a16="http://schemas.microsoft.com/office/drawing/2014/main" id="{ECB6919E-6FBC-3C41-816A-4D311377F866}"/>
                  </a:ext>
                </a:extLst>
              </p:cNvPr>
              <p:cNvGrpSpPr>
                <a:grpSpLocks/>
              </p:cNvGrpSpPr>
              <p:nvPr/>
            </p:nvGrpSpPr>
            <p:grpSpPr bwMode="auto">
              <a:xfrm>
                <a:off x="960" y="2928"/>
                <a:ext cx="626" cy="48"/>
                <a:chOff x="1536" y="2256"/>
                <a:chExt cx="626" cy="48"/>
              </a:xfrm>
            </p:grpSpPr>
            <p:sp>
              <p:nvSpPr>
                <p:cNvPr id="74817" name="Rectangle 95">
                  <a:extLst>
                    <a:ext uri="{FF2B5EF4-FFF2-40B4-BE49-F238E27FC236}">
                      <a16:creationId xmlns:a16="http://schemas.microsoft.com/office/drawing/2014/main" id="{5C025DB8-CFC0-7F4B-852C-C1AE92C8E3AF}"/>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solidFill>
                      <a:srgbClr val="000000"/>
                    </a:solidFill>
                  </a:endParaRPr>
                </a:p>
              </p:txBody>
            </p:sp>
            <p:sp>
              <p:nvSpPr>
                <p:cNvPr id="74818" name="Freeform 96">
                  <a:extLst>
                    <a:ext uri="{FF2B5EF4-FFF2-40B4-BE49-F238E27FC236}">
                      <a16:creationId xmlns:a16="http://schemas.microsoft.com/office/drawing/2014/main" id="{9BF298A6-29C3-604E-8DE2-5EC9C6AB676B}"/>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endParaRPr lang="en-US"/>
                </a:p>
              </p:txBody>
            </p:sp>
            <p:sp>
              <p:nvSpPr>
                <p:cNvPr id="74819" name="Line 97">
                  <a:extLst>
                    <a:ext uri="{FF2B5EF4-FFF2-40B4-BE49-F238E27FC236}">
                      <a16:creationId xmlns:a16="http://schemas.microsoft.com/office/drawing/2014/main" id="{616AEAF9-471C-2C49-9310-C6796A4AAD49}"/>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nvGrpSpPr>
              <p:cNvPr id="74795" name="Group 98">
                <a:extLst>
                  <a:ext uri="{FF2B5EF4-FFF2-40B4-BE49-F238E27FC236}">
                    <a16:creationId xmlns:a16="http://schemas.microsoft.com/office/drawing/2014/main" id="{B98890CF-09B4-CC4B-9705-5CEB588BA899}"/>
                  </a:ext>
                </a:extLst>
              </p:cNvPr>
              <p:cNvGrpSpPr>
                <a:grpSpLocks/>
              </p:cNvGrpSpPr>
              <p:nvPr/>
            </p:nvGrpSpPr>
            <p:grpSpPr bwMode="auto">
              <a:xfrm>
                <a:off x="960" y="2448"/>
                <a:ext cx="626" cy="48"/>
                <a:chOff x="1536" y="2256"/>
                <a:chExt cx="626" cy="48"/>
              </a:xfrm>
            </p:grpSpPr>
            <p:sp>
              <p:nvSpPr>
                <p:cNvPr id="74814" name="Rectangle 99">
                  <a:extLst>
                    <a:ext uri="{FF2B5EF4-FFF2-40B4-BE49-F238E27FC236}">
                      <a16:creationId xmlns:a16="http://schemas.microsoft.com/office/drawing/2014/main" id="{26E67A31-7223-F647-9406-0B99243C75CC}"/>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solidFill>
                      <a:srgbClr val="000000"/>
                    </a:solidFill>
                  </a:endParaRPr>
                </a:p>
              </p:txBody>
            </p:sp>
            <p:sp>
              <p:nvSpPr>
                <p:cNvPr id="74815" name="Freeform 100">
                  <a:extLst>
                    <a:ext uri="{FF2B5EF4-FFF2-40B4-BE49-F238E27FC236}">
                      <a16:creationId xmlns:a16="http://schemas.microsoft.com/office/drawing/2014/main" id="{F8DB6709-9CFA-5545-8099-738811E52824}"/>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endParaRPr lang="en-US"/>
                </a:p>
              </p:txBody>
            </p:sp>
            <p:sp>
              <p:nvSpPr>
                <p:cNvPr id="74816" name="Line 101">
                  <a:extLst>
                    <a:ext uri="{FF2B5EF4-FFF2-40B4-BE49-F238E27FC236}">
                      <a16:creationId xmlns:a16="http://schemas.microsoft.com/office/drawing/2014/main" id="{63AE26F4-6061-A443-B123-782B93D55876}"/>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nvGrpSpPr>
              <p:cNvPr id="74796" name="Group 102">
                <a:extLst>
                  <a:ext uri="{FF2B5EF4-FFF2-40B4-BE49-F238E27FC236}">
                    <a16:creationId xmlns:a16="http://schemas.microsoft.com/office/drawing/2014/main" id="{A15367B9-B422-9C42-BAB8-C214DAFE89A8}"/>
                  </a:ext>
                </a:extLst>
              </p:cNvPr>
              <p:cNvGrpSpPr>
                <a:grpSpLocks/>
              </p:cNvGrpSpPr>
              <p:nvPr/>
            </p:nvGrpSpPr>
            <p:grpSpPr bwMode="auto">
              <a:xfrm>
                <a:off x="960" y="2688"/>
                <a:ext cx="626" cy="48"/>
                <a:chOff x="1536" y="2256"/>
                <a:chExt cx="626" cy="48"/>
              </a:xfrm>
            </p:grpSpPr>
            <p:sp>
              <p:nvSpPr>
                <p:cNvPr id="74811" name="Rectangle 103">
                  <a:extLst>
                    <a:ext uri="{FF2B5EF4-FFF2-40B4-BE49-F238E27FC236}">
                      <a16:creationId xmlns:a16="http://schemas.microsoft.com/office/drawing/2014/main" id="{981FE147-BFB8-8F44-B565-7213DDCB3C69}"/>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solidFill>
                      <a:srgbClr val="000000"/>
                    </a:solidFill>
                  </a:endParaRPr>
                </a:p>
              </p:txBody>
            </p:sp>
            <p:sp>
              <p:nvSpPr>
                <p:cNvPr id="74812" name="Freeform 104">
                  <a:extLst>
                    <a:ext uri="{FF2B5EF4-FFF2-40B4-BE49-F238E27FC236}">
                      <a16:creationId xmlns:a16="http://schemas.microsoft.com/office/drawing/2014/main" id="{298088E1-18CB-5942-8947-AECEC6A1A339}"/>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endParaRPr lang="en-US"/>
                </a:p>
              </p:txBody>
            </p:sp>
            <p:sp>
              <p:nvSpPr>
                <p:cNvPr id="74813" name="Line 105">
                  <a:extLst>
                    <a:ext uri="{FF2B5EF4-FFF2-40B4-BE49-F238E27FC236}">
                      <a16:creationId xmlns:a16="http://schemas.microsoft.com/office/drawing/2014/main" id="{76224A3D-340C-7B49-A4CF-E80C809C9C13}"/>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74797" name="Text Box 106">
                <a:extLst>
                  <a:ext uri="{FF2B5EF4-FFF2-40B4-BE49-F238E27FC236}">
                    <a16:creationId xmlns:a16="http://schemas.microsoft.com/office/drawing/2014/main" id="{9F780738-7423-E74C-B639-90F494C58D89}"/>
                  </a:ext>
                </a:extLst>
              </p:cNvPr>
              <p:cNvSpPr txBox="1">
                <a:spLocks noChangeArrowheads="1"/>
              </p:cNvSpPr>
              <p:nvPr/>
            </p:nvSpPr>
            <p:spPr bwMode="auto">
              <a:xfrm>
                <a:off x="1055" y="2698"/>
                <a:ext cx="36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C[6]</a:t>
                </a:r>
              </a:p>
            </p:txBody>
          </p:sp>
          <p:sp>
            <p:nvSpPr>
              <p:cNvPr id="74798" name="Text Box 107">
                <a:extLst>
                  <a:ext uri="{FF2B5EF4-FFF2-40B4-BE49-F238E27FC236}">
                    <a16:creationId xmlns:a16="http://schemas.microsoft.com/office/drawing/2014/main" id="{89CD457C-32E1-CF48-A466-A74AA96253B1}"/>
                  </a:ext>
                </a:extLst>
              </p:cNvPr>
              <p:cNvSpPr txBox="1">
                <a:spLocks noChangeArrowheads="1"/>
              </p:cNvSpPr>
              <p:nvPr/>
            </p:nvSpPr>
            <p:spPr bwMode="auto">
              <a:xfrm>
                <a:off x="1020" y="2458"/>
                <a:ext cx="43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C[10]</a:t>
                </a:r>
              </a:p>
            </p:txBody>
          </p:sp>
          <p:sp>
            <p:nvSpPr>
              <p:cNvPr id="74799" name="Text Box 108">
                <a:extLst>
                  <a:ext uri="{FF2B5EF4-FFF2-40B4-BE49-F238E27FC236}">
                    <a16:creationId xmlns:a16="http://schemas.microsoft.com/office/drawing/2014/main" id="{D229B5D3-88E8-2744-A59F-F12CA7B03D1E}"/>
                  </a:ext>
                </a:extLst>
              </p:cNvPr>
              <p:cNvSpPr txBox="1">
                <a:spLocks noChangeArrowheads="1"/>
              </p:cNvSpPr>
              <p:nvPr/>
            </p:nvSpPr>
            <p:spPr bwMode="auto">
              <a:xfrm>
                <a:off x="1055" y="3178"/>
                <a:ext cx="36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C[2]</a:t>
                </a:r>
              </a:p>
            </p:txBody>
          </p:sp>
          <p:sp>
            <p:nvSpPr>
              <p:cNvPr id="74800" name="Line 109">
                <a:extLst>
                  <a:ext uri="{FF2B5EF4-FFF2-40B4-BE49-F238E27FC236}">
                    <a16:creationId xmlns:a16="http://schemas.microsoft.com/office/drawing/2014/main" id="{935BDBB9-795F-BD48-ABB2-756147DC0025}"/>
                  </a:ext>
                </a:extLst>
              </p:cNvPr>
              <p:cNvSpPr>
                <a:spLocks noChangeShapeType="1"/>
              </p:cNvSpPr>
              <p:nvPr/>
            </p:nvSpPr>
            <p:spPr bwMode="auto">
              <a:xfrm>
                <a:off x="1248" y="3024"/>
                <a:ext cx="0" cy="144"/>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74801" name="Line 110">
                <a:extLst>
                  <a:ext uri="{FF2B5EF4-FFF2-40B4-BE49-F238E27FC236}">
                    <a16:creationId xmlns:a16="http://schemas.microsoft.com/office/drawing/2014/main" id="{997DB30B-990E-3442-BBDE-69E03BB67E8A}"/>
                  </a:ext>
                </a:extLst>
              </p:cNvPr>
              <p:cNvSpPr>
                <a:spLocks noChangeShapeType="1"/>
              </p:cNvSpPr>
              <p:nvPr/>
            </p:nvSpPr>
            <p:spPr bwMode="auto">
              <a:xfrm>
                <a:off x="1440" y="2208"/>
                <a:ext cx="0" cy="144"/>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74802" name="Line 111">
                <a:extLst>
                  <a:ext uri="{FF2B5EF4-FFF2-40B4-BE49-F238E27FC236}">
                    <a16:creationId xmlns:a16="http://schemas.microsoft.com/office/drawing/2014/main" id="{CFFD94A8-59F5-5548-8B6E-226E571B9843}"/>
                  </a:ext>
                </a:extLst>
              </p:cNvPr>
              <p:cNvSpPr>
                <a:spLocks noChangeShapeType="1"/>
              </p:cNvSpPr>
              <p:nvPr/>
            </p:nvSpPr>
            <p:spPr bwMode="auto">
              <a:xfrm>
                <a:off x="1056" y="2208"/>
                <a:ext cx="0" cy="144"/>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74803" name="Text Box 112">
                <a:extLst>
                  <a:ext uri="{FF2B5EF4-FFF2-40B4-BE49-F238E27FC236}">
                    <a16:creationId xmlns:a16="http://schemas.microsoft.com/office/drawing/2014/main" id="{D6B716EE-4E2B-B94F-9E71-935D93F928C6}"/>
                  </a:ext>
                </a:extLst>
              </p:cNvPr>
              <p:cNvSpPr txBox="1">
                <a:spLocks noChangeArrowheads="1"/>
              </p:cNvSpPr>
              <p:nvPr/>
            </p:nvSpPr>
            <p:spPr bwMode="auto">
              <a:xfrm>
                <a:off x="780" y="1978"/>
                <a:ext cx="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A[14]</a:t>
                </a:r>
              </a:p>
            </p:txBody>
          </p:sp>
          <p:sp>
            <p:nvSpPr>
              <p:cNvPr id="74804" name="Text Box 113">
                <a:extLst>
                  <a:ext uri="{FF2B5EF4-FFF2-40B4-BE49-F238E27FC236}">
                    <a16:creationId xmlns:a16="http://schemas.microsoft.com/office/drawing/2014/main" id="{7DFD8E5F-3F2C-ED48-9138-EBDF0465FE19}"/>
                  </a:ext>
                </a:extLst>
              </p:cNvPr>
              <p:cNvSpPr txBox="1">
                <a:spLocks noChangeArrowheads="1"/>
              </p:cNvSpPr>
              <p:nvPr/>
            </p:nvSpPr>
            <p:spPr bwMode="auto">
              <a:xfrm>
                <a:off x="1212" y="1978"/>
                <a:ext cx="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B[14]</a:t>
                </a:r>
              </a:p>
            </p:txBody>
          </p:sp>
          <p:sp>
            <p:nvSpPr>
              <p:cNvPr id="74805" name="Text Box 114">
                <a:extLst>
                  <a:ext uri="{FF2B5EF4-FFF2-40B4-BE49-F238E27FC236}">
                    <a16:creationId xmlns:a16="http://schemas.microsoft.com/office/drawing/2014/main" id="{25697BD5-4B57-634C-8636-4FA0A6C8E585}"/>
                  </a:ext>
                </a:extLst>
              </p:cNvPr>
              <p:cNvSpPr txBox="1">
                <a:spLocks noChangeArrowheads="1"/>
              </p:cNvSpPr>
              <p:nvPr/>
            </p:nvSpPr>
            <p:spPr bwMode="auto">
              <a:xfrm>
                <a:off x="780" y="1786"/>
                <a:ext cx="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A[18]</a:t>
                </a:r>
              </a:p>
            </p:txBody>
          </p:sp>
          <p:sp>
            <p:nvSpPr>
              <p:cNvPr id="74806" name="Text Box 115">
                <a:extLst>
                  <a:ext uri="{FF2B5EF4-FFF2-40B4-BE49-F238E27FC236}">
                    <a16:creationId xmlns:a16="http://schemas.microsoft.com/office/drawing/2014/main" id="{25EF80A4-1D44-CC45-8B61-CFC3ACC5C400}"/>
                  </a:ext>
                </a:extLst>
              </p:cNvPr>
              <p:cNvSpPr txBox="1">
                <a:spLocks noChangeArrowheads="1"/>
              </p:cNvSpPr>
              <p:nvPr/>
            </p:nvSpPr>
            <p:spPr bwMode="auto">
              <a:xfrm>
                <a:off x="1212" y="1786"/>
                <a:ext cx="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B[18]</a:t>
                </a:r>
              </a:p>
            </p:txBody>
          </p:sp>
          <p:sp>
            <p:nvSpPr>
              <p:cNvPr id="74807" name="Text Box 116">
                <a:extLst>
                  <a:ext uri="{FF2B5EF4-FFF2-40B4-BE49-F238E27FC236}">
                    <a16:creationId xmlns:a16="http://schemas.microsoft.com/office/drawing/2014/main" id="{43C86522-ADA5-914F-B366-04D656D4B421}"/>
                  </a:ext>
                </a:extLst>
              </p:cNvPr>
              <p:cNvSpPr txBox="1">
                <a:spLocks noChangeArrowheads="1"/>
              </p:cNvSpPr>
              <p:nvPr/>
            </p:nvSpPr>
            <p:spPr bwMode="auto">
              <a:xfrm>
                <a:off x="780" y="1594"/>
                <a:ext cx="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A[22]</a:t>
                </a:r>
              </a:p>
            </p:txBody>
          </p:sp>
          <p:sp>
            <p:nvSpPr>
              <p:cNvPr id="74808" name="Text Box 117">
                <a:extLst>
                  <a:ext uri="{FF2B5EF4-FFF2-40B4-BE49-F238E27FC236}">
                    <a16:creationId xmlns:a16="http://schemas.microsoft.com/office/drawing/2014/main" id="{8262C81C-2D16-194C-8ECA-A1EE60D25E4D}"/>
                  </a:ext>
                </a:extLst>
              </p:cNvPr>
              <p:cNvSpPr txBox="1">
                <a:spLocks noChangeArrowheads="1"/>
              </p:cNvSpPr>
              <p:nvPr/>
            </p:nvSpPr>
            <p:spPr bwMode="auto">
              <a:xfrm>
                <a:off x="1212" y="1594"/>
                <a:ext cx="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B[22]</a:t>
                </a:r>
              </a:p>
            </p:txBody>
          </p:sp>
          <p:sp>
            <p:nvSpPr>
              <p:cNvPr id="74809" name="Text Box 118">
                <a:extLst>
                  <a:ext uri="{FF2B5EF4-FFF2-40B4-BE49-F238E27FC236}">
                    <a16:creationId xmlns:a16="http://schemas.microsoft.com/office/drawing/2014/main" id="{CD37BA4E-D173-A94C-AF37-F736819BADD5}"/>
                  </a:ext>
                </a:extLst>
              </p:cNvPr>
              <p:cNvSpPr txBox="1">
                <a:spLocks noChangeArrowheads="1"/>
              </p:cNvSpPr>
              <p:nvPr/>
            </p:nvSpPr>
            <p:spPr bwMode="auto">
              <a:xfrm>
                <a:off x="780" y="1402"/>
                <a:ext cx="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A[26]</a:t>
                </a:r>
              </a:p>
            </p:txBody>
          </p:sp>
          <p:sp>
            <p:nvSpPr>
              <p:cNvPr id="74810" name="Text Box 119">
                <a:extLst>
                  <a:ext uri="{FF2B5EF4-FFF2-40B4-BE49-F238E27FC236}">
                    <a16:creationId xmlns:a16="http://schemas.microsoft.com/office/drawing/2014/main" id="{86E09385-87EB-3044-96A8-230FD3B0543C}"/>
                  </a:ext>
                </a:extLst>
              </p:cNvPr>
              <p:cNvSpPr txBox="1">
                <a:spLocks noChangeArrowheads="1"/>
              </p:cNvSpPr>
              <p:nvPr/>
            </p:nvSpPr>
            <p:spPr bwMode="auto">
              <a:xfrm>
                <a:off x="1212" y="1402"/>
                <a:ext cx="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B[26]</a:t>
                </a:r>
              </a:p>
            </p:txBody>
          </p:sp>
        </p:grpSp>
        <p:grpSp>
          <p:nvGrpSpPr>
            <p:cNvPr id="74763" name="Group 120">
              <a:extLst>
                <a:ext uri="{FF2B5EF4-FFF2-40B4-BE49-F238E27FC236}">
                  <a16:creationId xmlns:a16="http://schemas.microsoft.com/office/drawing/2014/main" id="{0FADC0DC-AC2A-024C-ABDB-763C39639609}"/>
                </a:ext>
              </a:extLst>
            </p:cNvPr>
            <p:cNvGrpSpPr>
              <a:grpSpLocks/>
            </p:cNvGrpSpPr>
            <p:nvPr/>
          </p:nvGrpSpPr>
          <p:grpSpPr bwMode="auto">
            <a:xfrm>
              <a:off x="4511" y="1882"/>
              <a:ext cx="869" cy="1968"/>
              <a:chOff x="780" y="1402"/>
              <a:chExt cx="869" cy="1968"/>
            </a:xfrm>
          </p:grpSpPr>
          <p:sp>
            <p:nvSpPr>
              <p:cNvPr id="74766" name="Freeform 121">
                <a:extLst>
                  <a:ext uri="{FF2B5EF4-FFF2-40B4-BE49-F238E27FC236}">
                    <a16:creationId xmlns:a16="http://schemas.microsoft.com/office/drawing/2014/main" id="{0CA54AEA-B081-3648-9C0B-55BDCFEE7C93}"/>
                  </a:ext>
                </a:extLst>
              </p:cNvPr>
              <p:cNvSpPr>
                <a:spLocks/>
              </p:cNvSpPr>
              <p:nvPr/>
            </p:nvSpPr>
            <p:spPr bwMode="auto">
              <a:xfrm>
                <a:off x="960" y="2352"/>
                <a:ext cx="576" cy="672"/>
              </a:xfrm>
              <a:custGeom>
                <a:avLst/>
                <a:gdLst>
                  <a:gd name="T0" fmla="*/ 0 w 576"/>
                  <a:gd name="T1" fmla="*/ 0 h 672"/>
                  <a:gd name="T2" fmla="*/ 144 w 576"/>
                  <a:gd name="T3" fmla="*/ 672 h 672"/>
                  <a:gd name="T4" fmla="*/ 450 w 576"/>
                  <a:gd name="T5" fmla="*/ 672 h 672"/>
                  <a:gd name="T6" fmla="*/ 576 w 576"/>
                  <a:gd name="T7" fmla="*/ 0 h 672"/>
                  <a:gd name="T8" fmla="*/ 336 w 576"/>
                  <a:gd name="T9" fmla="*/ 0 h 672"/>
                  <a:gd name="T10" fmla="*/ 288 w 576"/>
                  <a:gd name="T11" fmla="*/ 96 h 672"/>
                  <a:gd name="T12" fmla="*/ 240 w 576"/>
                  <a:gd name="T13" fmla="*/ 0 h 672"/>
                  <a:gd name="T14" fmla="*/ 0 w 576"/>
                  <a:gd name="T15" fmla="*/ 0 h 672"/>
                  <a:gd name="T16" fmla="*/ 0 60000 65536"/>
                  <a:gd name="T17" fmla="*/ 0 60000 65536"/>
                  <a:gd name="T18" fmla="*/ 0 60000 65536"/>
                  <a:gd name="T19" fmla="*/ 0 60000 65536"/>
                  <a:gd name="T20" fmla="*/ 0 60000 65536"/>
                  <a:gd name="T21" fmla="*/ 0 60000 65536"/>
                  <a:gd name="T22" fmla="*/ 0 60000 65536"/>
                  <a:gd name="T23" fmla="*/ 0 60000 65536"/>
                  <a:gd name="T24" fmla="*/ 0 w 576"/>
                  <a:gd name="T25" fmla="*/ 0 h 672"/>
                  <a:gd name="T26" fmla="*/ 576 w 576"/>
                  <a:gd name="T27" fmla="*/ 672 h 6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6" h="672">
                    <a:moveTo>
                      <a:pt x="0" y="0"/>
                    </a:moveTo>
                    <a:lnTo>
                      <a:pt x="144" y="672"/>
                    </a:lnTo>
                    <a:lnTo>
                      <a:pt x="450" y="672"/>
                    </a:lnTo>
                    <a:lnTo>
                      <a:pt x="576" y="0"/>
                    </a:lnTo>
                    <a:lnTo>
                      <a:pt x="336" y="0"/>
                    </a:lnTo>
                    <a:lnTo>
                      <a:pt x="288" y="96"/>
                    </a:lnTo>
                    <a:lnTo>
                      <a:pt x="240" y="0"/>
                    </a:lnTo>
                    <a:lnTo>
                      <a:pt x="0" y="0"/>
                    </a:lnTo>
                    <a:close/>
                  </a:path>
                </a:pathLst>
              </a:custGeom>
              <a:noFill/>
              <a:ln w="31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a:p>
            </p:txBody>
          </p:sp>
          <p:grpSp>
            <p:nvGrpSpPr>
              <p:cNvPr id="74767" name="Group 122">
                <a:extLst>
                  <a:ext uri="{FF2B5EF4-FFF2-40B4-BE49-F238E27FC236}">
                    <a16:creationId xmlns:a16="http://schemas.microsoft.com/office/drawing/2014/main" id="{CA193154-C906-E840-B86E-AA9E91FFD8FA}"/>
                  </a:ext>
                </a:extLst>
              </p:cNvPr>
              <p:cNvGrpSpPr>
                <a:grpSpLocks/>
              </p:cNvGrpSpPr>
              <p:nvPr/>
            </p:nvGrpSpPr>
            <p:grpSpPr bwMode="auto">
              <a:xfrm>
                <a:off x="960" y="2928"/>
                <a:ext cx="626" cy="48"/>
                <a:chOff x="1536" y="2256"/>
                <a:chExt cx="626" cy="48"/>
              </a:xfrm>
            </p:grpSpPr>
            <p:sp>
              <p:nvSpPr>
                <p:cNvPr id="74790" name="Rectangle 123">
                  <a:extLst>
                    <a:ext uri="{FF2B5EF4-FFF2-40B4-BE49-F238E27FC236}">
                      <a16:creationId xmlns:a16="http://schemas.microsoft.com/office/drawing/2014/main" id="{F1126EBA-09FB-D241-BD68-C5B47B16BC23}"/>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solidFill>
                      <a:srgbClr val="000000"/>
                    </a:solidFill>
                  </a:endParaRPr>
                </a:p>
              </p:txBody>
            </p:sp>
            <p:sp>
              <p:nvSpPr>
                <p:cNvPr id="74791" name="Freeform 124">
                  <a:extLst>
                    <a:ext uri="{FF2B5EF4-FFF2-40B4-BE49-F238E27FC236}">
                      <a16:creationId xmlns:a16="http://schemas.microsoft.com/office/drawing/2014/main" id="{F4FA5337-CD99-A84C-9D79-400A2C362C1A}"/>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endParaRPr lang="en-US"/>
                </a:p>
              </p:txBody>
            </p:sp>
            <p:sp>
              <p:nvSpPr>
                <p:cNvPr id="74792" name="Line 125">
                  <a:extLst>
                    <a:ext uri="{FF2B5EF4-FFF2-40B4-BE49-F238E27FC236}">
                      <a16:creationId xmlns:a16="http://schemas.microsoft.com/office/drawing/2014/main" id="{8039D187-1569-3844-A4E5-8C25C9F0C380}"/>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nvGrpSpPr>
              <p:cNvPr id="74768" name="Group 126">
                <a:extLst>
                  <a:ext uri="{FF2B5EF4-FFF2-40B4-BE49-F238E27FC236}">
                    <a16:creationId xmlns:a16="http://schemas.microsoft.com/office/drawing/2014/main" id="{54D6A3A5-8E21-A84E-A573-4CD899FDEBC0}"/>
                  </a:ext>
                </a:extLst>
              </p:cNvPr>
              <p:cNvGrpSpPr>
                <a:grpSpLocks/>
              </p:cNvGrpSpPr>
              <p:nvPr/>
            </p:nvGrpSpPr>
            <p:grpSpPr bwMode="auto">
              <a:xfrm>
                <a:off x="960" y="2448"/>
                <a:ext cx="626" cy="48"/>
                <a:chOff x="1536" y="2256"/>
                <a:chExt cx="626" cy="48"/>
              </a:xfrm>
            </p:grpSpPr>
            <p:sp>
              <p:nvSpPr>
                <p:cNvPr id="74787" name="Rectangle 127">
                  <a:extLst>
                    <a:ext uri="{FF2B5EF4-FFF2-40B4-BE49-F238E27FC236}">
                      <a16:creationId xmlns:a16="http://schemas.microsoft.com/office/drawing/2014/main" id="{396C6CCD-1455-B44D-9494-832847253275}"/>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solidFill>
                      <a:srgbClr val="000000"/>
                    </a:solidFill>
                  </a:endParaRPr>
                </a:p>
              </p:txBody>
            </p:sp>
            <p:sp>
              <p:nvSpPr>
                <p:cNvPr id="74788" name="Freeform 128">
                  <a:extLst>
                    <a:ext uri="{FF2B5EF4-FFF2-40B4-BE49-F238E27FC236}">
                      <a16:creationId xmlns:a16="http://schemas.microsoft.com/office/drawing/2014/main" id="{168EF07D-00D2-864C-8E1D-3847E991D338}"/>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endParaRPr lang="en-US"/>
                </a:p>
              </p:txBody>
            </p:sp>
            <p:sp>
              <p:nvSpPr>
                <p:cNvPr id="74789" name="Line 129">
                  <a:extLst>
                    <a:ext uri="{FF2B5EF4-FFF2-40B4-BE49-F238E27FC236}">
                      <a16:creationId xmlns:a16="http://schemas.microsoft.com/office/drawing/2014/main" id="{7CD0A548-6657-B54C-B422-20FEE4DF2E7D}"/>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nvGrpSpPr>
              <p:cNvPr id="74769" name="Group 130">
                <a:extLst>
                  <a:ext uri="{FF2B5EF4-FFF2-40B4-BE49-F238E27FC236}">
                    <a16:creationId xmlns:a16="http://schemas.microsoft.com/office/drawing/2014/main" id="{702A8FE0-7081-E74B-8041-9980B938949B}"/>
                  </a:ext>
                </a:extLst>
              </p:cNvPr>
              <p:cNvGrpSpPr>
                <a:grpSpLocks/>
              </p:cNvGrpSpPr>
              <p:nvPr/>
            </p:nvGrpSpPr>
            <p:grpSpPr bwMode="auto">
              <a:xfrm>
                <a:off x="960" y="2688"/>
                <a:ext cx="626" cy="48"/>
                <a:chOff x="1536" y="2256"/>
                <a:chExt cx="626" cy="48"/>
              </a:xfrm>
            </p:grpSpPr>
            <p:sp>
              <p:nvSpPr>
                <p:cNvPr id="74784" name="Rectangle 131">
                  <a:extLst>
                    <a:ext uri="{FF2B5EF4-FFF2-40B4-BE49-F238E27FC236}">
                      <a16:creationId xmlns:a16="http://schemas.microsoft.com/office/drawing/2014/main" id="{0BD6015D-3DAD-2741-9656-0970CB6377ED}"/>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solidFill>
                      <a:srgbClr val="000000"/>
                    </a:solidFill>
                  </a:endParaRPr>
                </a:p>
              </p:txBody>
            </p:sp>
            <p:sp>
              <p:nvSpPr>
                <p:cNvPr id="74785" name="Freeform 132">
                  <a:extLst>
                    <a:ext uri="{FF2B5EF4-FFF2-40B4-BE49-F238E27FC236}">
                      <a16:creationId xmlns:a16="http://schemas.microsoft.com/office/drawing/2014/main" id="{E165FB31-37CB-E74E-B820-CD6152BE9EBB}"/>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endParaRPr lang="en-US"/>
                </a:p>
              </p:txBody>
            </p:sp>
            <p:sp>
              <p:nvSpPr>
                <p:cNvPr id="74786" name="Line 133">
                  <a:extLst>
                    <a:ext uri="{FF2B5EF4-FFF2-40B4-BE49-F238E27FC236}">
                      <a16:creationId xmlns:a16="http://schemas.microsoft.com/office/drawing/2014/main" id="{42A7067F-829F-3340-B1F4-C348F6132E6A}"/>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74770" name="Text Box 134">
                <a:extLst>
                  <a:ext uri="{FF2B5EF4-FFF2-40B4-BE49-F238E27FC236}">
                    <a16:creationId xmlns:a16="http://schemas.microsoft.com/office/drawing/2014/main" id="{F203CC43-A2C7-1A4E-B8BD-419C9D343901}"/>
                  </a:ext>
                </a:extLst>
              </p:cNvPr>
              <p:cNvSpPr txBox="1">
                <a:spLocks noChangeArrowheads="1"/>
              </p:cNvSpPr>
              <p:nvPr/>
            </p:nvSpPr>
            <p:spPr bwMode="auto">
              <a:xfrm>
                <a:off x="1055" y="2698"/>
                <a:ext cx="36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C[7]</a:t>
                </a:r>
              </a:p>
            </p:txBody>
          </p:sp>
          <p:sp>
            <p:nvSpPr>
              <p:cNvPr id="74771" name="Text Box 135">
                <a:extLst>
                  <a:ext uri="{FF2B5EF4-FFF2-40B4-BE49-F238E27FC236}">
                    <a16:creationId xmlns:a16="http://schemas.microsoft.com/office/drawing/2014/main" id="{B0B63A1F-31C3-BE42-926B-26D9E7F280AF}"/>
                  </a:ext>
                </a:extLst>
              </p:cNvPr>
              <p:cNvSpPr txBox="1">
                <a:spLocks noChangeArrowheads="1"/>
              </p:cNvSpPr>
              <p:nvPr/>
            </p:nvSpPr>
            <p:spPr bwMode="auto">
              <a:xfrm>
                <a:off x="1020" y="2458"/>
                <a:ext cx="43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C[11]</a:t>
                </a:r>
              </a:p>
            </p:txBody>
          </p:sp>
          <p:sp>
            <p:nvSpPr>
              <p:cNvPr id="74772" name="Text Box 136">
                <a:extLst>
                  <a:ext uri="{FF2B5EF4-FFF2-40B4-BE49-F238E27FC236}">
                    <a16:creationId xmlns:a16="http://schemas.microsoft.com/office/drawing/2014/main" id="{C1E1B2E1-C716-6E47-8CA5-5261E91CA2EC}"/>
                  </a:ext>
                </a:extLst>
              </p:cNvPr>
              <p:cNvSpPr txBox="1">
                <a:spLocks noChangeArrowheads="1"/>
              </p:cNvSpPr>
              <p:nvPr/>
            </p:nvSpPr>
            <p:spPr bwMode="auto">
              <a:xfrm>
                <a:off x="1055" y="3178"/>
                <a:ext cx="36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C[3]</a:t>
                </a:r>
              </a:p>
            </p:txBody>
          </p:sp>
          <p:sp>
            <p:nvSpPr>
              <p:cNvPr id="74773" name="Line 137">
                <a:extLst>
                  <a:ext uri="{FF2B5EF4-FFF2-40B4-BE49-F238E27FC236}">
                    <a16:creationId xmlns:a16="http://schemas.microsoft.com/office/drawing/2014/main" id="{F3A96E7D-F645-0F43-BA2A-11FCC84CBC72}"/>
                  </a:ext>
                </a:extLst>
              </p:cNvPr>
              <p:cNvSpPr>
                <a:spLocks noChangeShapeType="1"/>
              </p:cNvSpPr>
              <p:nvPr/>
            </p:nvSpPr>
            <p:spPr bwMode="auto">
              <a:xfrm>
                <a:off x="1248" y="3024"/>
                <a:ext cx="0" cy="144"/>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74774" name="Line 138">
                <a:extLst>
                  <a:ext uri="{FF2B5EF4-FFF2-40B4-BE49-F238E27FC236}">
                    <a16:creationId xmlns:a16="http://schemas.microsoft.com/office/drawing/2014/main" id="{2D3B8E5B-AEFD-7A4F-BAD7-10907866FB47}"/>
                  </a:ext>
                </a:extLst>
              </p:cNvPr>
              <p:cNvSpPr>
                <a:spLocks noChangeShapeType="1"/>
              </p:cNvSpPr>
              <p:nvPr/>
            </p:nvSpPr>
            <p:spPr bwMode="auto">
              <a:xfrm>
                <a:off x="1440" y="2208"/>
                <a:ext cx="0" cy="144"/>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74775" name="Line 139">
                <a:extLst>
                  <a:ext uri="{FF2B5EF4-FFF2-40B4-BE49-F238E27FC236}">
                    <a16:creationId xmlns:a16="http://schemas.microsoft.com/office/drawing/2014/main" id="{4E670A8F-10E5-9E40-8949-A8F4170ABD1B}"/>
                  </a:ext>
                </a:extLst>
              </p:cNvPr>
              <p:cNvSpPr>
                <a:spLocks noChangeShapeType="1"/>
              </p:cNvSpPr>
              <p:nvPr/>
            </p:nvSpPr>
            <p:spPr bwMode="auto">
              <a:xfrm>
                <a:off x="1056" y="2208"/>
                <a:ext cx="0" cy="144"/>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74776" name="Text Box 140">
                <a:extLst>
                  <a:ext uri="{FF2B5EF4-FFF2-40B4-BE49-F238E27FC236}">
                    <a16:creationId xmlns:a16="http://schemas.microsoft.com/office/drawing/2014/main" id="{B91C90B0-E0B5-BE42-8A78-89DA51CB5945}"/>
                  </a:ext>
                </a:extLst>
              </p:cNvPr>
              <p:cNvSpPr txBox="1">
                <a:spLocks noChangeArrowheads="1"/>
              </p:cNvSpPr>
              <p:nvPr/>
            </p:nvSpPr>
            <p:spPr bwMode="auto">
              <a:xfrm>
                <a:off x="780" y="1978"/>
                <a:ext cx="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A[15]</a:t>
                </a:r>
              </a:p>
            </p:txBody>
          </p:sp>
          <p:sp>
            <p:nvSpPr>
              <p:cNvPr id="74777" name="Text Box 141">
                <a:extLst>
                  <a:ext uri="{FF2B5EF4-FFF2-40B4-BE49-F238E27FC236}">
                    <a16:creationId xmlns:a16="http://schemas.microsoft.com/office/drawing/2014/main" id="{49638BA1-6867-3F4F-9CDB-5F8CA8FC401B}"/>
                  </a:ext>
                </a:extLst>
              </p:cNvPr>
              <p:cNvSpPr txBox="1">
                <a:spLocks noChangeArrowheads="1"/>
              </p:cNvSpPr>
              <p:nvPr/>
            </p:nvSpPr>
            <p:spPr bwMode="auto">
              <a:xfrm>
                <a:off x="1212" y="1978"/>
                <a:ext cx="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B[15]</a:t>
                </a:r>
              </a:p>
            </p:txBody>
          </p:sp>
          <p:sp>
            <p:nvSpPr>
              <p:cNvPr id="74778" name="Text Box 142">
                <a:extLst>
                  <a:ext uri="{FF2B5EF4-FFF2-40B4-BE49-F238E27FC236}">
                    <a16:creationId xmlns:a16="http://schemas.microsoft.com/office/drawing/2014/main" id="{B782ABDE-8ACD-9C4E-8D75-1FA8A0CB01D7}"/>
                  </a:ext>
                </a:extLst>
              </p:cNvPr>
              <p:cNvSpPr txBox="1">
                <a:spLocks noChangeArrowheads="1"/>
              </p:cNvSpPr>
              <p:nvPr/>
            </p:nvSpPr>
            <p:spPr bwMode="auto">
              <a:xfrm>
                <a:off x="780" y="1786"/>
                <a:ext cx="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A[19]</a:t>
                </a:r>
              </a:p>
            </p:txBody>
          </p:sp>
          <p:sp>
            <p:nvSpPr>
              <p:cNvPr id="74779" name="Text Box 143">
                <a:extLst>
                  <a:ext uri="{FF2B5EF4-FFF2-40B4-BE49-F238E27FC236}">
                    <a16:creationId xmlns:a16="http://schemas.microsoft.com/office/drawing/2014/main" id="{33D7E6F3-81F3-BD44-AE39-26FB4CDB0353}"/>
                  </a:ext>
                </a:extLst>
              </p:cNvPr>
              <p:cNvSpPr txBox="1">
                <a:spLocks noChangeArrowheads="1"/>
              </p:cNvSpPr>
              <p:nvPr/>
            </p:nvSpPr>
            <p:spPr bwMode="auto">
              <a:xfrm>
                <a:off x="1212" y="1786"/>
                <a:ext cx="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B[19]</a:t>
                </a:r>
              </a:p>
            </p:txBody>
          </p:sp>
          <p:sp>
            <p:nvSpPr>
              <p:cNvPr id="74780" name="Text Box 144">
                <a:extLst>
                  <a:ext uri="{FF2B5EF4-FFF2-40B4-BE49-F238E27FC236}">
                    <a16:creationId xmlns:a16="http://schemas.microsoft.com/office/drawing/2014/main" id="{9359D5BC-7CA9-9E4B-A987-49FBC0A2F187}"/>
                  </a:ext>
                </a:extLst>
              </p:cNvPr>
              <p:cNvSpPr txBox="1">
                <a:spLocks noChangeArrowheads="1"/>
              </p:cNvSpPr>
              <p:nvPr/>
            </p:nvSpPr>
            <p:spPr bwMode="auto">
              <a:xfrm>
                <a:off x="780" y="1594"/>
                <a:ext cx="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A[23]</a:t>
                </a:r>
              </a:p>
            </p:txBody>
          </p:sp>
          <p:sp>
            <p:nvSpPr>
              <p:cNvPr id="74781" name="Text Box 145">
                <a:extLst>
                  <a:ext uri="{FF2B5EF4-FFF2-40B4-BE49-F238E27FC236}">
                    <a16:creationId xmlns:a16="http://schemas.microsoft.com/office/drawing/2014/main" id="{9CBC8D70-82A0-E147-8422-4F356D80E4AF}"/>
                  </a:ext>
                </a:extLst>
              </p:cNvPr>
              <p:cNvSpPr txBox="1">
                <a:spLocks noChangeArrowheads="1"/>
              </p:cNvSpPr>
              <p:nvPr/>
            </p:nvSpPr>
            <p:spPr bwMode="auto">
              <a:xfrm>
                <a:off x="1212" y="1594"/>
                <a:ext cx="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B[23]</a:t>
                </a:r>
              </a:p>
            </p:txBody>
          </p:sp>
          <p:sp>
            <p:nvSpPr>
              <p:cNvPr id="74782" name="Text Box 146">
                <a:extLst>
                  <a:ext uri="{FF2B5EF4-FFF2-40B4-BE49-F238E27FC236}">
                    <a16:creationId xmlns:a16="http://schemas.microsoft.com/office/drawing/2014/main" id="{7565C0B8-EE95-E54F-BB75-9A80C1EA1922}"/>
                  </a:ext>
                </a:extLst>
              </p:cNvPr>
              <p:cNvSpPr txBox="1">
                <a:spLocks noChangeArrowheads="1"/>
              </p:cNvSpPr>
              <p:nvPr/>
            </p:nvSpPr>
            <p:spPr bwMode="auto">
              <a:xfrm>
                <a:off x="780" y="1402"/>
                <a:ext cx="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A[27]</a:t>
                </a:r>
              </a:p>
            </p:txBody>
          </p:sp>
          <p:sp>
            <p:nvSpPr>
              <p:cNvPr id="74783" name="Text Box 147">
                <a:extLst>
                  <a:ext uri="{FF2B5EF4-FFF2-40B4-BE49-F238E27FC236}">
                    <a16:creationId xmlns:a16="http://schemas.microsoft.com/office/drawing/2014/main" id="{F3C6EA35-7061-674E-A438-594BF9FB9B68}"/>
                  </a:ext>
                </a:extLst>
              </p:cNvPr>
              <p:cNvSpPr txBox="1">
                <a:spLocks noChangeArrowheads="1"/>
              </p:cNvSpPr>
              <p:nvPr/>
            </p:nvSpPr>
            <p:spPr bwMode="auto">
              <a:xfrm>
                <a:off x="1212" y="1402"/>
                <a:ext cx="4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a:solidFill>
                      <a:srgbClr val="000000"/>
                    </a:solidFill>
                    <a:latin typeface="Verdana" panose="020B0604030504040204" pitchFamily="34" charset="0"/>
                    <a:ea typeface="굴림" panose="020B0600000101010101" pitchFamily="34" charset="-127"/>
                  </a:rPr>
                  <a:t>B[27]</a:t>
                </a:r>
              </a:p>
            </p:txBody>
          </p:sp>
        </p:grpSp>
        <p:sp>
          <p:nvSpPr>
            <p:cNvPr id="74764" name="Line 148">
              <a:extLst>
                <a:ext uri="{FF2B5EF4-FFF2-40B4-BE49-F238E27FC236}">
                  <a16:creationId xmlns:a16="http://schemas.microsoft.com/office/drawing/2014/main" id="{59EB3045-70FC-3744-8FB2-3F0CF0C7A530}"/>
                </a:ext>
              </a:extLst>
            </p:cNvPr>
            <p:cNvSpPr>
              <a:spLocks noChangeShapeType="1"/>
            </p:cNvSpPr>
            <p:nvPr/>
          </p:nvSpPr>
          <p:spPr bwMode="auto">
            <a:xfrm>
              <a:off x="2736" y="816"/>
              <a:ext cx="912" cy="1008"/>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74765" name="Oval 149">
              <a:extLst>
                <a:ext uri="{FF2B5EF4-FFF2-40B4-BE49-F238E27FC236}">
                  <a16:creationId xmlns:a16="http://schemas.microsoft.com/office/drawing/2014/main" id="{1B963468-1ACE-BE43-9EDC-CA7FCD01AFE2}"/>
                </a:ext>
              </a:extLst>
            </p:cNvPr>
            <p:cNvSpPr>
              <a:spLocks noChangeArrowheads="1"/>
            </p:cNvSpPr>
            <p:nvPr/>
          </p:nvSpPr>
          <p:spPr bwMode="auto">
            <a:xfrm flipH="1">
              <a:off x="2307" y="954"/>
              <a:ext cx="1727" cy="630"/>
            </a:xfrm>
            <a:prstGeom prst="ellipse">
              <a:avLst/>
            </a:prstGeom>
            <a:solidFill>
              <a:schemeClr val="bg1"/>
            </a:solidFill>
            <a:ln w="3175">
              <a:solidFill>
                <a:schemeClr val="tx1"/>
              </a:solidFill>
              <a:round/>
              <a:headEnd/>
              <a:tailEnd/>
            </a:ln>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ko-KR" sz="1400" i="1">
                  <a:solidFill>
                    <a:srgbClr val="000000"/>
                  </a:solidFill>
                  <a:latin typeface="Verdana" panose="020B0604030504040204" pitchFamily="34" charset="0"/>
                  <a:ea typeface="굴림" panose="020B0600000101010101" pitchFamily="34" charset="-127"/>
                </a:rPr>
                <a:t>Execution using four pipelined functional units</a:t>
              </a:r>
            </a:p>
          </p:txBody>
        </p:sp>
      </p:grpSp>
      <p:sp>
        <p:nvSpPr>
          <p:cNvPr id="74759" name="TextBox 151">
            <a:extLst>
              <a:ext uri="{FF2B5EF4-FFF2-40B4-BE49-F238E27FC236}">
                <a16:creationId xmlns:a16="http://schemas.microsoft.com/office/drawing/2014/main" id="{C8B3D8C5-C922-4B4B-85C9-0B703FB0CD95}"/>
              </a:ext>
            </a:extLst>
          </p:cNvPr>
          <p:cNvSpPr txBox="1">
            <a:spLocks noChangeArrowheads="1"/>
          </p:cNvSpPr>
          <p:nvPr/>
        </p:nvSpPr>
        <p:spPr bwMode="auto">
          <a:xfrm>
            <a:off x="152400" y="6535738"/>
            <a:ext cx="1738313"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000">
                <a:solidFill>
                  <a:srgbClr val="000000"/>
                </a:solidFill>
              </a:rPr>
              <a:t>Slide credit: Krste Asanovic</a:t>
            </a:r>
          </a:p>
        </p:txBody>
      </p:sp>
      <p:cxnSp>
        <p:nvCxnSpPr>
          <p:cNvPr id="153" name="Straight Arrow Connector 86">
            <a:extLst>
              <a:ext uri="{FF2B5EF4-FFF2-40B4-BE49-F238E27FC236}">
                <a16:creationId xmlns:a16="http://schemas.microsoft.com/office/drawing/2014/main" id="{6350CA4E-75FD-9645-AB68-A7D412CB378D}"/>
              </a:ext>
            </a:extLst>
          </p:cNvPr>
          <p:cNvCxnSpPr>
            <a:cxnSpLocks noChangeShapeType="1"/>
          </p:cNvCxnSpPr>
          <p:nvPr/>
        </p:nvCxnSpPr>
        <p:spPr bwMode="auto">
          <a:xfrm rot="5400000">
            <a:off x="-544258" y="4434682"/>
            <a:ext cx="2174875" cy="1588"/>
          </a:xfrm>
          <a:prstGeom prst="straightConnector1">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cxnSp>
      <p:sp>
        <p:nvSpPr>
          <p:cNvPr id="154" name="TextBox 87">
            <a:extLst>
              <a:ext uri="{FF2B5EF4-FFF2-40B4-BE49-F238E27FC236}">
                <a16:creationId xmlns:a16="http://schemas.microsoft.com/office/drawing/2014/main" id="{9835812B-B2C5-7E47-B44B-6BFF496AF5DF}"/>
              </a:ext>
            </a:extLst>
          </p:cNvPr>
          <p:cNvSpPr txBox="1">
            <a:spLocks noChangeArrowheads="1"/>
          </p:cNvSpPr>
          <p:nvPr/>
        </p:nvSpPr>
        <p:spPr bwMode="auto">
          <a:xfrm>
            <a:off x="197899" y="5522913"/>
            <a:ext cx="6889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solidFill>
                  <a:srgbClr val="000000"/>
                </a:solidFill>
              </a:rPr>
              <a:t>Time</a:t>
            </a:r>
          </a:p>
        </p:txBody>
      </p:sp>
      <p:cxnSp>
        <p:nvCxnSpPr>
          <p:cNvPr id="155" name="Straight Arrow Connector 121">
            <a:extLst>
              <a:ext uri="{FF2B5EF4-FFF2-40B4-BE49-F238E27FC236}">
                <a16:creationId xmlns:a16="http://schemas.microsoft.com/office/drawing/2014/main" id="{45474115-CF72-1D4A-B48B-9E9BFF8EFEDA}"/>
              </a:ext>
            </a:extLst>
          </p:cNvPr>
          <p:cNvCxnSpPr>
            <a:cxnSpLocks noChangeShapeType="1"/>
          </p:cNvCxnSpPr>
          <p:nvPr/>
        </p:nvCxnSpPr>
        <p:spPr bwMode="auto">
          <a:xfrm>
            <a:off x="6272212" y="6369050"/>
            <a:ext cx="2100263" cy="0"/>
          </a:xfrm>
          <a:prstGeom prst="straightConnector1">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cxnSp>
      <p:sp>
        <p:nvSpPr>
          <p:cNvPr id="156" name="TextBox 123">
            <a:extLst>
              <a:ext uri="{FF2B5EF4-FFF2-40B4-BE49-F238E27FC236}">
                <a16:creationId xmlns:a16="http://schemas.microsoft.com/office/drawing/2014/main" id="{397B8244-9081-0D43-B611-C4274F027C86}"/>
              </a:ext>
            </a:extLst>
          </p:cNvPr>
          <p:cNvSpPr txBox="1">
            <a:spLocks noChangeArrowheads="1"/>
          </p:cNvSpPr>
          <p:nvPr/>
        </p:nvSpPr>
        <p:spPr bwMode="auto">
          <a:xfrm>
            <a:off x="5534025" y="6184900"/>
            <a:ext cx="8382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solidFill>
                  <a:srgbClr val="000000"/>
                </a:solidFill>
              </a:rPr>
              <a:t>Space</a:t>
            </a:r>
          </a:p>
        </p:txBody>
      </p:sp>
      <p:cxnSp>
        <p:nvCxnSpPr>
          <p:cNvPr id="157" name="Straight Arrow Connector 124">
            <a:extLst>
              <a:ext uri="{FF2B5EF4-FFF2-40B4-BE49-F238E27FC236}">
                <a16:creationId xmlns:a16="http://schemas.microsoft.com/office/drawing/2014/main" id="{3FCBF931-3C6F-A24D-8ABD-7FCC972E33B1}"/>
              </a:ext>
            </a:extLst>
          </p:cNvPr>
          <p:cNvCxnSpPr>
            <a:cxnSpLocks noChangeShapeType="1"/>
          </p:cNvCxnSpPr>
          <p:nvPr/>
        </p:nvCxnSpPr>
        <p:spPr bwMode="auto">
          <a:xfrm flipH="1">
            <a:off x="3355180" y="6369050"/>
            <a:ext cx="2274095" cy="0"/>
          </a:xfrm>
          <a:prstGeom prst="straightConnector1">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58" name="Straight Arrow Connector 86">
            <a:extLst>
              <a:ext uri="{FF2B5EF4-FFF2-40B4-BE49-F238E27FC236}">
                <a16:creationId xmlns:a16="http://schemas.microsoft.com/office/drawing/2014/main" id="{6350CA4E-75FD-9645-AB68-A7D412CB378D}"/>
              </a:ext>
            </a:extLst>
          </p:cNvPr>
          <p:cNvCxnSpPr>
            <a:cxnSpLocks noChangeShapeType="1"/>
          </p:cNvCxnSpPr>
          <p:nvPr/>
        </p:nvCxnSpPr>
        <p:spPr bwMode="auto">
          <a:xfrm rot="5400000">
            <a:off x="1848643" y="4439444"/>
            <a:ext cx="2174875" cy="1588"/>
          </a:xfrm>
          <a:prstGeom prst="straightConnector1">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cxnSp>
      <p:sp>
        <p:nvSpPr>
          <p:cNvPr id="159" name="TextBox 87">
            <a:extLst>
              <a:ext uri="{FF2B5EF4-FFF2-40B4-BE49-F238E27FC236}">
                <a16:creationId xmlns:a16="http://schemas.microsoft.com/office/drawing/2014/main" id="{9835812B-B2C5-7E47-B44B-6BFF496AF5DF}"/>
              </a:ext>
            </a:extLst>
          </p:cNvPr>
          <p:cNvSpPr txBox="1">
            <a:spLocks noChangeArrowheads="1"/>
          </p:cNvSpPr>
          <p:nvPr/>
        </p:nvSpPr>
        <p:spPr bwMode="auto">
          <a:xfrm>
            <a:off x="2590800" y="5527675"/>
            <a:ext cx="6889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solidFill>
                  <a:srgbClr val="000000"/>
                </a:solidFill>
              </a:rPr>
              <a:t>Time</a:t>
            </a:r>
          </a:p>
        </p:txBody>
      </p:sp>
    </p:spTree>
    <p:extLst>
      <p:ext uri="{BB962C8B-B14F-4D97-AF65-F5344CB8AC3E}">
        <p14:creationId xmlns:p14="http://schemas.microsoft.com/office/powerpoint/2010/main" val="64874879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 grpId="0"/>
      <p:bldP spid="156" grpId="0"/>
      <p:bldP spid="159"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Number Placeholder 3">
            <a:extLst>
              <a:ext uri="{FF2B5EF4-FFF2-40B4-BE49-F238E27FC236}">
                <a16:creationId xmlns:a16="http://schemas.microsoft.com/office/drawing/2014/main" id="{256D8E4F-DE57-1349-A8A2-C7CFB05A77D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39CAF4E-35B8-4E44-825B-00DEFEBFBA14}"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102</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66563" name="Freeform 3">
            <a:extLst>
              <a:ext uri="{FF2B5EF4-FFF2-40B4-BE49-F238E27FC236}">
                <a16:creationId xmlns:a16="http://schemas.microsoft.com/office/drawing/2014/main" id="{F1693629-3D10-E947-B563-F799443EA2FB}"/>
              </a:ext>
            </a:extLst>
          </p:cNvPr>
          <p:cNvSpPr>
            <a:spLocks/>
          </p:cNvSpPr>
          <p:nvPr/>
        </p:nvSpPr>
        <p:spPr bwMode="auto">
          <a:xfrm>
            <a:off x="1477963" y="4114800"/>
            <a:ext cx="914400" cy="1066800"/>
          </a:xfrm>
          <a:custGeom>
            <a:avLst/>
            <a:gdLst>
              <a:gd name="T0" fmla="*/ 0 w 576"/>
              <a:gd name="T1" fmla="*/ 0 h 672"/>
              <a:gd name="T2" fmla="*/ 2147483647 w 576"/>
              <a:gd name="T3" fmla="*/ 2147483647 h 672"/>
              <a:gd name="T4" fmla="*/ 2147483647 w 576"/>
              <a:gd name="T5" fmla="*/ 2147483647 h 672"/>
              <a:gd name="T6" fmla="*/ 2147483647 w 576"/>
              <a:gd name="T7" fmla="*/ 0 h 672"/>
              <a:gd name="T8" fmla="*/ 2147483647 w 576"/>
              <a:gd name="T9" fmla="*/ 0 h 672"/>
              <a:gd name="T10" fmla="*/ 2147483647 w 576"/>
              <a:gd name="T11" fmla="*/ 2147483647 h 672"/>
              <a:gd name="T12" fmla="*/ 2147483647 w 576"/>
              <a:gd name="T13" fmla="*/ 0 h 672"/>
              <a:gd name="T14" fmla="*/ 0 w 576"/>
              <a:gd name="T15" fmla="*/ 0 h 672"/>
              <a:gd name="T16" fmla="*/ 0 60000 65536"/>
              <a:gd name="T17" fmla="*/ 0 60000 65536"/>
              <a:gd name="T18" fmla="*/ 0 60000 65536"/>
              <a:gd name="T19" fmla="*/ 0 60000 65536"/>
              <a:gd name="T20" fmla="*/ 0 60000 65536"/>
              <a:gd name="T21" fmla="*/ 0 60000 65536"/>
              <a:gd name="T22" fmla="*/ 0 60000 65536"/>
              <a:gd name="T23" fmla="*/ 0 60000 65536"/>
              <a:gd name="T24" fmla="*/ 0 w 576"/>
              <a:gd name="T25" fmla="*/ 0 h 672"/>
              <a:gd name="T26" fmla="*/ 576 w 576"/>
              <a:gd name="T27" fmla="*/ 672 h 6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6" h="672">
                <a:moveTo>
                  <a:pt x="0" y="0"/>
                </a:moveTo>
                <a:lnTo>
                  <a:pt x="144" y="672"/>
                </a:lnTo>
                <a:lnTo>
                  <a:pt x="450" y="672"/>
                </a:lnTo>
                <a:lnTo>
                  <a:pt x="576" y="0"/>
                </a:lnTo>
                <a:lnTo>
                  <a:pt x="336" y="0"/>
                </a:lnTo>
                <a:lnTo>
                  <a:pt x="288" y="96"/>
                </a:lnTo>
                <a:lnTo>
                  <a:pt x="240" y="0"/>
                </a:lnTo>
                <a:lnTo>
                  <a:pt x="0" y="0"/>
                </a:lnTo>
                <a:close/>
              </a:path>
            </a:pathLst>
          </a:custGeom>
          <a:noFill/>
          <a:ln w="31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66564" name="Group 4">
            <a:extLst>
              <a:ext uri="{FF2B5EF4-FFF2-40B4-BE49-F238E27FC236}">
                <a16:creationId xmlns:a16="http://schemas.microsoft.com/office/drawing/2014/main" id="{0C2FC0D8-4D7C-8C41-B273-A400C1A631B6}"/>
              </a:ext>
            </a:extLst>
          </p:cNvPr>
          <p:cNvGrpSpPr>
            <a:grpSpLocks/>
          </p:cNvGrpSpPr>
          <p:nvPr/>
        </p:nvGrpSpPr>
        <p:grpSpPr bwMode="auto">
          <a:xfrm>
            <a:off x="1477963" y="5029200"/>
            <a:ext cx="993775" cy="76200"/>
            <a:chOff x="1536" y="2256"/>
            <a:chExt cx="626" cy="48"/>
          </a:xfrm>
        </p:grpSpPr>
        <p:sp>
          <p:nvSpPr>
            <p:cNvPr id="66729" name="Rectangle 5">
              <a:extLst>
                <a:ext uri="{FF2B5EF4-FFF2-40B4-BE49-F238E27FC236}">
                  <a16:creationId xmlns:a16="http://schemas.microsoft.com/office/drawing/2014/main" id="{199144FF-3F79-A547-8D69-D7793A275E97}"/>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730" name="Freeform 6">
              <a:extLst>
                <a:ext uri="{FF2B5EF4-FFF2-40B4-BE49-F238E27FC236}">
                  <a16:creationId xmlns:a16="http://schemas.microsoft.com/office/drawing/2014/main" id="{D11B1191-B914-8049-AC77-3FC6E73661D2}"/>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731" name="Line 7">
              <a:extLst>
                <a:ext uri="{FF2B5EF4-FFF2-40B4-BE49-F238E27FC236}">
                  <a16:creationId xmlns:a16="http://schemas.microsoft.com/office/drawing/2014/main" id="{92C726AD-DCCB-B245-A289-4627F5D21C5F}"/>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6565" name="Group 8">
            <a:extLst>
              <a:ext uri="{FF2B5EF4-FFF2-40B4-BE49-F238E27FC236}">
                <a16:creationId xmlns:a16="http://schemas.microsoft.com/office/drawing/2014/main" id="{C734FCA0-378A-5F48-9B6F-12F77F887F67}"/>
              </a:ext>
            </a:extLst>
          </p:cNvPr>
          <p:cNvGrpSpPr>
            <a:grpSpLocks/>
          </p:cNvGrpSpPr>
          <p:nvPr/>
        </p:nvGrpSpPr>
        <p:grpSpPr bwMode="auto">
          <a:xfrm>
            <a:off x="1477963" y="4267200"/>
            <a:ext cx="993775" cy="76200"/>
            <a:chOff x="1536" y="2256"/>
            <a:chExt cx="626" cy="48"/>
          </a:xfrm>
        </p:grpSpPr>
        <p:sp>
          <p:nvSpPr>
            <p:cNvPr id="66726" name="Rectangle 9">
              <a:extLst>
                <a:ext uri="{FF2B5EF4-FFF2-40B4-BE49-F238E27FC236}">
                  <a16:creationId xmlns:a16="http://schemas.microsoft.com/office/drawing/2014/main" id="{9CCE7432-3676-9B4D-8C46-0603BCF01F92}"/>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727" name="Freeform 10">
              <a:extLst>
                <a:ext uri="{FF2B5EF4-FFF2-40B4-BE49-F238E27FC236}">
                  <a16:creationId xmlns:a16="http://schemas.microsoft.com/office/drawing/2014/main" id="{E04A2B96-EE04-C84A-9334-5485F7A433A4}"/>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728" name="Line 11">
              <a:extLst>
                <a:ext uri="{FF2B5EF4-FFF2-40B4-BE49-F238E27FC236}">
                  <a16:creationId xmlns:a16="http://schemas.microsoft.com/office/drawing/2014/main" id="{398D8879-D01D-9945-A5D4-7959C2A2FFA6}"/>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6566" name="Group 12">
            <a:extLst>
              <a:ext uri="{FF2B5EF4-FFF2-40B4-BE49-F238E27FC236}">
                <a16:creationId xmlns:a16="http://schemas.microsoft.com/office/drawing/2014/main" id="{D5E52042-D0C5-FF40-B876-97720B3A1194}"/>
              </a:ext>
            </a:extLst>
          </p:cNvPr>
          <p:cNvGrpSpPr>
            <a:grpSpLocks/>
          </p:cNvGrpSpPr>
          <p:nvPr/>
        </p:nvGrpSpPr>
        <p:grpSpPr bwMode="auto">
          <a:xfrm>
            <a:off x="1477963" y="4648200"/>
            <a:ext cx="993775" cy="76200"/>
            <a:chOff x="1536" y="2256"/>
            <a:chExt cx="626" cy="48"/>
          </a:xfrm>
        </p:grpSpPr>
        <p:sp>
          <p:nvSpPr>
            <p:cNvPr id="66723" name="Rectangle 13">
              <a:extLst>
                <a:ext uri="{FF2B5EF4-FFF2-40B4-BE49-F238E27FC236}">
                  <a16:creationId xmlns:a16="http://schemas.microsoft.com/office/drawing/2014/main" id="{39B6FB41-C810-9242-904E-3AE2E18A102C}"/>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724" name="Freeform 14">
              <a:extLst>
                <a:ext uri="{FF2B5EF4-FFF2-40B4-BE49-F238E27FC236}">
                  <a16:creationId xmlns:a16="http://schemas.microsoft.com/office/drawing/2014/main" id="{2EA27B3A-AB15-504A-929F-14D96C114184}"/>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725" name="Line 15">
              <a:extLst>
                <a:ext uri="{FF2B5EF4-FFF2-40B4-BE49-F238E27FC236}">
                  <a16:creationId xmlns:a16="http://schemas.microsoft.com/office/drawing/2014/main" id="{0F30C162-B43D-E54B-9218-942591D4F17E}"/>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66567" name="Line 16">
            <a:extLst>
              <a:ext uri="{FF2B5EF4-FFF2-40B4-BE49-F238E27FC236}">
                <a16:creationId xmlns:a16="http://schemas.microsoft.com/office/drawing/2014/main" id="{A8CA5E14-5787-8540-AE6D-B9F3315DD5B4}"/>
              </a:ext>
            </a:extLst>
          </p:cNvPr>
          <p:cNvSpPr>
            <a:spLocks noChangeShapeType="1"/>
          </p:cNvSpPr>
          <p:nvPr/>
        </p:nvSpPr>
        <p:spPr bwMode="auto">
          <a:xfrm>
            <a:off x="2239963" y="3886200"/>
            <a:ext cx="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568" name="Line 17">
            <a:extLst>
              <a:ext uri="{FF2B5EF4-FFF2-40B4-BE49-F238E27FC236}">
                <a16:creationId xmlns:a16="http://schemas.microsoft.com/office/drawing/2014/main" id="{BA9D2B20-A7CF-EF4B-868D-94A2F0CA350D}"/>
              </a:ext>
            </a:extLst>
          </p:cNvPr>
          <p:cNvSpPr>
            <a:spLocks noChangeShapeType="1"/>
          </p:cNvSpPr>
          <p:nvPr/>
        </p:nvSpPr>
        <p:spPr bwMode="auto">
          <a:xfrm>
            <a:off x="1630363" y="3886200"/>
            <a:ext cx="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569" name="Freeform 18">
            <a:extLst>
              <a:ext uri="{FF2B5EF4-FFF2-40B4-BE49-F238E27FC236}">
                <a16:creationId xmlns:a16="http://schemas.microsoft.com/office/drawing/2014/main" id="{DCA8C5C2-9552-6247-85E9-83039B7ADDBE}"/>
              </a:ext>
            </a:extLst>
          </p:cNvPr>
          <p:cNvSpPr>
            <a:spLocks/>
          </p:cNvSpPr>
          <p:nvPr/>
        </p:nvSpPr>
        <p:spPr bwMode="auto">
          <a:xfrm flipV="1">
            <a:off x="1477963" y="1524000"/>
            <a:ext cx="914400" cy="1066800"/>
          </a:xfrm>
          <a:custGeom>
            <a:avLst/>
            <a:gdLst>
              <a:gd name="T0" fmla="*/ 0 w 576"/>
              <a:gd name="T1" fmla="*/ 0 h 672"/>
              <a:gd name="T2" fmla="*/ 2147483647 w 576"/>
              <a:gd name="T3" fmla="*/ 2147483647 h 672"/>
              <a:gd name="T4" fmla="*/ 2147483647 w 576"/>
              <a:gd name="T5" fmla="*/ 2147483647 h 672"/>
              <a:gd name="T6" fmla="*/ 2147483647 w 576"/>
              <a:gd name="T7" fmla="*/ 0 h 672"/>
              <a:gd name="T8" fmla="*/ 2147483647 w 576"/>
              <a:gd name="T9" fmla="*/ 0 h 672"/>
              <a:gd name="T10" fmla="*/ 2147483647 w 576"/>
              <a:gd name="T11" fmla="*/ 2147483647 h 672"/>
              <a:gd name="T12" fmla="*/ 2147483647 w 576"/>
              <a:gd name="T13" fmla="*/ 0 h 672"/>
              <a:gd name="T14" fmla="*/ 0 w 576"/>
              <a:gd name="T15" fmla="*/ 0 h 672"/>
              <a:gd name="T16" fmla="*/ 0 60000 65536"/>
              <a:gd name="T17" fmla="*/ 0 60000 65536"/>
              <a:gd name="T18" fmla="*/ 0 60000 65536"/>
              <a:gd name="T19" fmla="*/ 0 60000 65536"/>
              <a:gd name="T20" fmla="*/ 0 60000 65536"/>
              <a:gd name="T21" fmla="*/ 0 60000 65536"/>
              <a:gd name="T22" fmla="*/ 0 60000 65536"/>
              <a:gd name="T23" fmla="*/ 0 60000 65536"/>
              <a:gd name="T24" fmla="*/ 0 w 576"/>
              <a:gd name="T25" fmla="*/ 0 h 672"/>
              <a:gd name="T26" fmla="*/ 576 w 576"/>
              <a:gd name="T27" fmla="*/ 672 h 6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6" h="672">
                <a:moveTo>
                  <a:pt x="0" y="0"/>
                </a:moveTo>
                <a:lnTo>
                  <a:pt x="144" y="672"/>
                </a:lnTo>
                <a:lnTo>
                  <a:pt x="450" y="672"/>
                </a:lnTo>
                <a:lnTo>
                  <a:pt x="576" y="0"/>
                </a:lnTo>
                <a:lnTo>
                  <a:pt x="336" y="0"/>
                </a:lnTo>
                <a:lnTo>
                  <a:pt x="288" y="96"/>
                </a:lnTo>
                <a:lnTo>
                  <a:pt x="240" y="0"/>
                </a:lnTo>
                <a:lnTo>
                  <a:pt x="0" y="0"/>
                </a:lnTo>
                <a:close/>
              </a:path>
            </a:pathLst>
          </a:custGeom>
          <a:noFill/>
          <a:ln w="31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66570" name="Group 19">
            <a:extLst>
              <a:ext uri="{FF2B5EF4-FFF2-40B4-BE49-F238E27FC236}">
                <a16:creationId xmlns:a16="http://schemas.microsoft.com/office/drawing/2014/main" id="{098AE361-C158-5246-9B57-EE898AA1DA38}"/>
              </a:ext>
            </a:extLst>
          </p:cNvPr>
          <p:cNvGrpSpPr>
            <a:grpSpLocks/>
          </p:cNvGrpSpPr>
          <p:nvPr/>
        </p:nvGrpSpPr>
        <p:grpSpPr bwMode="auto">
          <a:xfrm flipV="1">
            <a:off x="1477963" y="1600200"/>
            <a:ext cx="993775" cy="76200"/>
            <a:chOff x="1536" y="2256"/>
            <a:chExt cx="626" cy="48"/>
          </a:xfrm>
        </p:grpSpPr>
        <p:sp>
          <p:nvSpPr>
            <p:cNvPr id="66720" name="Rectangle 20">
              <a:extLst>
                <a:ext uri="{FF2B5EF4-FFF2-40B4-BE49-F238E27FC236}">
                  <a16:creationId xmlns:a16="http://schemas.microsoft.com/office/drawing/2014/main" id="{9CCFED39-2A07-6443-B256-E6E1DA73E120}"/>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721" name="Freeform 21">
              <a:extLst>
                <a:ext uri="{FF2B5EF4-FFF2-40B4-BE49-F238E27FC236}">
                  <a16:creationId xmlns:a16="http://schemas.microsoft.com/office/drawing/2014/main" id="{7FF3545A-D6A4-AA4D-A14C-C512A6EF74E0}"/>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722" name="Line 22">
              <a:extLst>
                <a:ext uri="{FF2B5EF4-FFF2-40B4-BE49-F238E27FC236}">
                  <a16:creationId xmlns:a16="http://schemas.microsoft.com/office/drawing/2014/main" id="{EDF1CEBF-D564-1847-866B-5B7E26FEED0E}"/>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6571" name="Group 23">
            <a:extLst>
              <a:ext uri="{FF2B5EF4-FFF2-40B4-BE49-F238E27FC236}">
                <a16:creationId xmlns:a16="http://schemas.microsoft.com/office/drawing/2014/main" id="{18CF58D0-C6CD-6A49-8CF3-C60E679ADC73}"/>
              </a:ext>
            </a:extLst>
          </p:cNvPr>
          <p:cNvGrpSpPr>
            <a:grpSpLocks/>
          </p:cNvGrpSpPr>
          <p:nvPr/>
        </p:nvGrpSpPr>
        <p:grpSpPr bwMode="auto">
          <a:xfrm flipV="1">
            <a:off x="1477963" y="2362200"/>
            <a:ext cx="993775" cy="76200"/>
            <a:chOff x="1536" y="2256"/>
            <a:chExt cx="626" cy="48"/>
          </a:xfrm>
        </p:grpSpPr>
        <p:sp>
          <p:nvSpPr>
            <p:cNvPr id="66717" name="Rectangle 24">
              <a:extLst>
                <a:ext uri="{FF2B5EF4-FFF2-40B4-BE49-F238E27FC236}">
                  <a16:creationId xmlns:a16="http://schemas.microsoft.com/office/drawing/2014/main" id="{EEDAA941-E7E8-A643-92EA-A5866FA70EA1}"/>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718" name="Freeform 25">
              <a:extLst>
                <a:ext uri="{FF2B5EF4-FFF2-40B4-BE49-F238E27FC236}">
                  <a16:creationId xmlns:a16="http://schemas.microsoft.com/office/drawing/2014/main" id="{14D8AFA5-D046-4F4B-B21C-E9CDD5AEA3E5}"/>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719" name="Line 26">
              <a:extLst>
                <a:ext uri="{FF2B5EF4-FFF2-40B4-BE49-F238E27FC236}">
                  <a16:creationId xmlns:a16="http://schemas.microsoft.com/office/drawing/2014/main" id="{BCBDBCDB-1A2C-684B-A509-16AF58A6792F}"/>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6572" name="Group 27">
            <a:extLst>
              <a:ext uri="{FF2B5EF4-FFF2-40B4-BE49-F238E27FC236}">
                <a16:creationId xmlns:a16="http://schemas.microsoft.com/office/drawing/2014/main" id="{3C4A63FC-8504-6349-ACED-D4FD09168EC6}"/>
              </a:ext>
            </a:extLst>
          </p:cNvPr>
          <p:cNvGrpSpPr>
            <a:grpSpLocks/>
          </p:cNvGrpSpPr>
          <p:nvPr/>
        </p:nvGrpSpPr>
        <p:grpSpPr bwMode="auto">
          <a:xfrm flipV="1">
            <a:off x="1477963" y="1981200"/>
            <a:ext cx="993775" cy="76200"/>
            <a:chOff x="1536" y="2256"/>
            <a:chExt cx="626" cy="48"/>
          </a:xfrm>
        </p:grpSpPr>
        <p:sp>
          <p:nvSpPr>
            <p:cNvPr id="66714" name="Rectangle 28">
              <a:extLst>
                <a:ext uri="{FF2B5EF4-FFF2-40B4-BE49-F238E27FC236}">
                  <a16:creationId xmlns:a16="http://schemas.microsoft.com/office/drawing/2014/main" id="{5A281271-DC98-FD45-B1C3-24F4312B998E}"/>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715" name="Freeform 29">
              <a:extLst>
                <a:ext uri="{FF2B5EF4-FFF2-40B4-BE49-F238E27FC236}">
                  <a16:creationId xmlns:a16="http://schemas.microsoft.com/office/drawing/2014/main" id="{5CAFD317-651D-D14D-9A52-98B74E32138C}"/>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716" name="Line 30">
              <a:extLst>
                <a:ext uri="{FF2B5EF4-FFF2-40B4-BE49-F238E27FC236}">
                  <a16:creationId xmlns:a16="http://schemas.microsoft.com/office/drawing/2014/main" id="{A4944BD2-EAF1-CA41-B479-F8C61D6A5B64}"/>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66573" name="Line 31">
            <a:extLst>
              <a:ext uri="{FF2B5EF4-FFF2-40B4-BE49-F238E27FC236}">
                <a16:creationId xmlns:a16="http://schemas.microsoft.com/office/drawing/2014/main" id="{4CF91BD2-31B7-4D45-9D23-AA5D6FE786CD}"/>
              </a:ext>
            </a:extLst>
          </p:cNvPr>
          <p:cNvSpPr>
            <a:spLocks noChangeShapeType="1"/>
          </p:cNvSpPr>
          <p:nvPr/>
        </p:nvSpPr>
        <p:spPr bwMode="auto">
          <a:xfrm flipV="1">
            <a:off x="2239963" y="2590800"/>
            <a:ext cx="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574" name="Line 32">
            <a:extLst>
              <a:ext uri="{FF2B5EF4-FFF2-40B4-BE49-F238E27FC236}">
                <a16:creationId xmlns:a16="http://schemas.microsoft.com/office/drawing/2014/main" id="{553DF3C5-42B7-EF47-8C18-7B4A2E61B709}"/>
              </a:ext>
            </a:extLst>
          </p:cNvPr>
          <p:cNvSpPr>
            <a:spLocks noChangeShapeType="1"/>
          </p:cNvSpPr>
          <p:nvPr/>
        </p:nvSpPr>
        <p:spPr bwMode="auto">
          <a:xfrm flipV="1">
            <a:off x="1630363" y="2590800"/>
            <a:ext cx="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575" name="Rectangle 33">
            <a:extLst>
              <a:ext uri="{FF2B5EF4-FFF2-40B4-BE49-F238E27FC236}">
                <a16:creationId xmlns:a16="http://schemas.microsoft.com/office/drawing/2014/main" id="{A7AA953E-9ACA-214E-ADF2-9922E39E451A}"/>
              </a:ext>
            </a:extLst>
          </p:cNvPr>
          <p:cNvSpPr>
            <a:spLocks noChangeArrowheads="1"/>
          </p:cNvSpPr>
          <p:nvPr/>
        </p:nvSpPr>
        <p:spPr bwMode="auto">
          <a:xfrm>
            <a:off x="1173163" y="2819400"/>
            <a:ext cx="1524000" cy="10668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576" name="Freeform 34">
            <a:extLst>
              <a:ext uri="{FF2B5EF4-FFF2-40B4-BE49-F238E27FC236}">
                <a16:creationId xmlns:a16="http://schemas.microsoft.com/office/drawing/2014/main" id="{C50F44F2-652B-0040-B421-C38123FE715F}"/>
              </a:ext>
            </a:extLst>
          </p:cNvPr>
          <p:cNvSpPr>
            <a:spLocks/>
          </p:cNvSpPr>
          <p:nvPr/>
        </p:nvSpPr>
        <p:spPr bwMode="auto">
          <a:xfrm>
            <a:off x="1935163" y="3886200"/>
            <a:ext cx="685800" cy="1447800"/>
          </a:xfrm>
          <a:custGeom>
            <a:avLst/>
            <a:gdLst>
              <a:gd name="T0" fmla="*/ 0 w 432"/>
              <a:gd name="T1" fmla="*/ 2147483647 h 912"/>
              <a:gd name="T2" fmla="*/ 0 w 432"/>
              <a:gd name="T3" fmla="*/ 2147483647 h 912"/>
              <a:gd name="T4" fmla="*/ 2147483647 w 432"/>
              <a:gd name="T5" fmla="*/ 2147483647 h 912"/>
              <a:gd name="T6" fmla="*/ 2147483647 w 432"/>
              <a:gd name="T7" fmla="*/ 0 h 912"/>
              <a:gd name="T8" fmla="*/ 0 60000 65536"/>
              <a:gd name="T9" fmla="*/ 0 60000 65536"/>
              <a:gd name="T10" fmla="*/ 0 60000 65536"/>
              <a:gd name="T11" fmla="*/ 0 60000 65536"/>
              <a:gd name="T12" fmla="*/ 0 w 432"/>
              <a:gd name="T13" fmla="*/ 0 h 912"/>
              <a:gd name="T14" fmla="*/ 432 w 432"/>
              <a:gd name="T15" fmla="*/ 912 h 912"/>
            </a:gdLst>
            <a:ahLst/>
            <a:cxnLst>
              <a:cxn ang="T8">
                <a:pos x="T0" y="T1"/>
              </a:cxn>
              <a:cxn ang="T9">
                <a:pos x="T2" y="T3"/>
              </a:cxn>
              <a:cxn ang="T10">
                <a:pos x="T4" y="T5"/>
              </a:cxn>
              <a:cxn ang="T11">
                <a:pos x="T6" y="T7"/>
              </a:cxn>
            </a:cxnLst>
            <a:rect l="T12" t="T13" r="T14" b="T15"/>
            <a:pathLst>
              <a:path w="432" h="912">
                <a:moveTo>
                  <a:pt x="0" y="816"/>
                </a:moveTo>
                <a:lnTo>
                  <a:pt x="0" y="912"/>
                </a:lnTo>
                <a:lnTo>
                  <a:pt x="432" y="912"/>
                </a:lnTo>
                <a:lnTo>
                  <a:pt x="432" y="0"/>
                </a:lnTo>
              </a:path>
            </a:pathLst>
          </a:custGeom>
          <a:noFill/>
          <a:ln w="31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577" name="Freeform 35">
            <a:extLst>
              <a:ext uri="{FF2B5EF4-FFF2-40B4-BE49-F238E27FC236}">
                <a16:creationId xmlns:a16="http://schemas.microsoft.com/office/drawing/2014/main" id="{2945D334-F5D7-2D44-9C53-D252039657DF}"/>
              </a:ext>
            </a:extLst>
          </p:cNvPr>
          <p:cNvSpPr>
            <a:spLocks/>
          </p:cNvSpPr>
          <p:nvPr/>
        </p:nvSpPr>
        <p:spPr bwMode="auto">
          <a:xfrm flipV="1">
            <a:off x="1935163" y="1371600"/>
            <a:ext cx="685800" cy="1447800"/>
          </a:xfrm>
          <a:custGeom>
            <a:avLst/>
            <a:gdLst>
              <a:gd name="T0" fmla="*/ 0 w 432"/>
              <a:gd name="T1" fmla="*/ 2147483647 h 912"/>
              <a:gd name="T2" fmla="*/ 0 w 432"/>
              <a:gd name="T3" fmla="*/ 2147483647 h 912"/>
              <a:gd name="T4" fmla="*/ 2147483647 w 432"/>
              <a:gd name="T5" fmla="*/ 2147483647 h 912"/>
              <a:gd name="T6" fmla="*/ 2147483647 w 432"/>
              <a:gd name="T7" fmla="*/ 0 h 912"/>
              <a:gd name="T8" fmla="*/ 0 60000 65536"/>
              <a:gd name="T9" fmla="*/ 0 60000 65536"/>
              <a:gd name="T10" fmla="*/ 0 60000 65536"/>
              <a:gd name="T11" fmla="*/ 0 60000 65536"/>
              <a:gd name="T12" fmla="*/ 0 w 432"/>
              <a:gd name="T13" fmla="*/ 0 h 912"/>
              <a:gd name="T14" fmla="*/ 432 w 432"/>
              <a:gd name="T15" fmla="*/ 912 h 912"/>
            </a:gdLst>
            <a:ahLst/>
            <a:cxnLst>
              <a:cxn ang="T8">
                <a:pos x="T0" y="T1"/>
              </a:cxn>
              <a:cxn ang="T9">
                <a:pos x="T2" y="T3"/>
              </a:cxn>
              <a:cxn ang="T10">
                <a:pos x="T4" y="T5"/>
              </a:cxn>
              <a:cxn ang="T11">
                <a:pos x="T6" y="T7"/>
              </a:cxn>
            </a:cxnLst>
            <a:rect l="T12" t="T13" r="T14" b="T15"/>
            <a:pathLst>
              <a:path w="432" h="912">
                <a:moveTo>
                  <a:pt x="0" y="816"/>
                </a:moveTo>
                <a:lnTo>
                  <a:pt x="0" y="912"/>
                </a:lnTo>
                <a:lnTo>
                  <a:pt x="432" y="912"/>
                </a:lnTo>
                <a:lnTo>
                  <a:pt x="432" y="0"/>
                </a:lnTo>
              </a:path>
            </a:pathLst>
          </a:custGeom>
          <a:noFill/>
          <a:ln w="31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578" name="Line 36">
            <a:extLst>
              <a:ext uri="{FF2B5EF4-FFF2-40B4-BE49-F238E27FC236}">
                <a16:creationId xmlns:a16="http://schemas.microsoft.com/office/drawing/2014/main" id="{32F88052-E22F-CB46-A9C2-685C7E9988D3}"/>
              </a:ext>
            </a:extLst>
          </p:cNvPr>
          <p:cNvSpPr>
            <a:spLocks noChangeShapeType="1"/>
          </p:cNvSpPr>
          <p:nvPr/>
        </p:nvSpPr>
        <p:spPr bwMode="auto">
          <a:xfrm flipV="1">
            <a:off x="1249363" y="3886200"/>
            <a:ext cx="0" cy="19812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579" name="Line 37">
            <a:extLst>
              <a:ext uri="{FF2B5EF4-FFF2-40B4-BE49-F238E27FC236}">
                <a16:creationId xmlns:a16="http://schemas.microsoft.com/office/drawing/2014/main" id="{46101832-588F-7540-81FA-F60D29119327}"/>
              </a:ext>
            </a:extLst>
          </p:cNvPr>
          <p:cNvSpPr>
            <a:spLocks noChangeShapeType="1"/>
          </p:cNvSpPr>
          <p:nvPr/>
        </p:nvSpPr>
        <p:spPr bwMode="auto">
          <a:xfrm>
            <a:off x="1401763" y="3886200"/>
            <a:ext cx="0" cy="19812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580" name="Freeform 38">
            <a:extLst>
              <a:ext uri="{FF2B5EF4-FFF2-40B4-BE49-F238E27FC236}">
                <a16:creationId xmlns:a16="http://schemas.microsoft.com/office/drawing/2014/main" id="{145AEB49-E906-064B-9A34-AC4E25472E13}"/>
              </a:ext>
            </a:extLst>
          </p:cNvPr>
          <p:cNvSpPr>
            <a:spLocks/>
          </p:cNvSpPr>
          <p:nvPr/>
        </p:nvSpPr>
        <p:spPr bwMode="auto">
          <a:xfrm>
            <a:off x="3382963" y="4114800"/>
            <a:ext cx="914400" cy="1066800"/>
          </a:xfrm>
          <a:custGeom>
            <a:avLst/>
            <a:gdLst>
              <a:gd name="T0" fmla="*/ 0 w 576"/>
              <a:gd name="T1" fmla="*/ 0 h 672"/>
              <a:gd name="T2" fmla="*/ 2147483647 w 576"/>
              <a:gd name="T3" fmla="*/ 2147483647 h 672"/>
              <a:gd name="T4" fmla="*/ 2147483647 w 576"/>
              <a:gd name="T5" fmla="*/ 2147483647 h 672"/>
              <a:gd name="T6" fmla="*/ 2147483647 w 576"/>
              <a:gd name="T7" fmla="*/ 0 h 672"/>
              <a:gd name="T8" fmla="*/ 2147483647 w 576"/>
              <a:gd name="T9" fmla="*/ 0 h 672"/>
              <a:gd name="T10" fmla="*/ 2147483647 w 576"/>
              <a:gd name="T11" fmla="*/ 2147483647 h 672"/>
              <a:gd name="T12" fmla="*/ 2147483647 w 576"/>
              <a:gd name="T13" fmla="*/ 0 h 672"/>
              <a:gd name="T14" fmla="*/ 0 w 576"/>
              <a:gd name="T15" fmla="*/ 0 h 672"/>
              <a:gd name="T16" fmla="*/ 0 60000 65536"/>
              <a:gd name="T17" fmla="*/ 0 60000 65536"/>
              <a:gd name="T18" fmla="*/ 0 60000 65536"/>
              <a:gd name="T19" fmla="*/ 0 60000 65536"/>
              <a:gd name="T20" fmla="*/ 0 60000 65536"/>
              <a:gd name="T21" fmla="*/ 0 60000 65536"/>
              <a:gd name="T22" fmla="*/ 0 60000 65536"/>
              <a:gd name="T23" fmla="*/ 0 60000 65536"/>
              <a:gd name="T24" fmla="*/ 0 w 576"/>
              <a:gd name="T25" fmla="*/ 0 h 672"/>
              <a:gd name="T26" fmla="*/ 576 w 576"/>
              <a:gd name="T27" fmla="*/ 672 h 6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6" h="672">
                <a:moveTo>
                  <a:pt x="0" y="0"/>
                </a:moveTo>
                <a:lnTo>
                  <a:pt x="144" y="672"/>
                </a:lnTo>
                <a:lnTo>
                  <a:pt x="450" y="672"/>
                </a:lnTo>
                <a:lnTo>
                  <a:pt x="576" y="0"/>
                </a:lnTo>
                <a:lnTo>
                  <a:pt x="336" y="0"/>
                </a:lnTo>
                <a:lnTo>
                  <a:pt x="288" y="96"/>
                </a:lnTo>
                <a:lnTo>
                  <a:pt x="240" y="0"/>
                </a:lnTo>
                <a:lnTo>
                  <a:pt x="0" y="0"/>
                </a:lnTo>
                <a:close/>
              </a:path>
            </a:pathLst>
          </a:custGeom>
          <a:noFill/>
          <a:ln w="31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66581" name="Group 39">
            <a:extLst>
              <a:ext uri="{FF2B5EF4-FFF2-40B4-BE49-F238E27FC236}">
                <a16:creationId xmlns:a16="http://schemas.microsoft.com/office/drawing/2014/main" id="{9CAB2524-759A-CB46-B163-53CFD565653B}"/>
              </a:ext>
            </a:extLst>
          </p:cNvPr>
          <p:cNvGrpSpPr>
            <a:grpSpLocks/>
          </p:cNvGrpSpPr>
          <p:nvPr/>
        </p:nvGrpSpPr>
        <p:grpSpPr bwMode="auto">
          <a:xfrm>
            <a:off x="3382963" y="5029200"/>
            <a:ext cx="993775" cy="76200"/>
            <a:chOff x="1536" y="2256"/>
            <a:chExt cx="626" cy="48"/>
          </a:xfrm>
        </p:grpSpPr>
        <p:sp>
          <p:nvSpPr>
            <p:cNvPr id="66711" name="Rectangle 40">
              <a:extLst>
                <a:ext uri="{FF2B5EF4-FFF2-40B4-BE49-F238E27FC236}">
                  <a16:creationId xmlns:a16="http://schemas.microsoft.com/office/drawing/2014/main" id="{DEDE2F62-5A26-364B-AD3C-B37D577AF28A}"/>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712" name="Freeform 41">
              <a:extLst>
                <a:ext uri="{FF2B5EF4-FFF2-40B4-BE49-F238E27FC236}">
                  <a16:creationId xmlns:a16="http://schemas.microsoft.com/office/drawing/2014/main" id="{24846CD9-1FB8-D041-A7F5-A2416F54FBF2}"/>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713" name="Line 42">
              <a:extLst>
                <a:ext uri="{FF2B5EF4-FFF2-40B4-BE49-F238E27FC236}">
                  <a16:creationId xmlns:a16="http://schemas.microsoft.com/office/drawing/2014/main" id="{EA622EF7-2F64-B847-8DC1-8B3CA8169F73}"/>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6582" name="Group 43">
            <a:extLst>
              <a:ext uri="{FF2B5EF4-FFF2-40B4-BE49-F238E27FC236}">
                <a16:creationId xmlns:a16="http://schemas.microsoft.com/office/drawing/2014/main" id="{13687453-1598-B746-B12D-26EF8B0670C6}"/>
              </a:ext>
            </a:extLst>
          </p:cNvPr>
          <p:cNvGrpSpPr>
            <a:grpSpLocks/>
          </p:cNvGrpSpPr>
          <p:nvPr/>
        </p:nvGrpSpPr>
        <p:grpSpPr bwMode="auto">
          <a:xfrm>
            <a:off x="3382963" y="4267200"/>
            <a:ext cx="993775" cy="76200"/>
            <a:chOff x="1536" y="2256"/>
            <a:chExt cx="626" cy="48"/>
          </a:xfrm>
        </p:grpSpPr>
        <p:sp>
          <p:nvSpPr>
            <p:cNvPr id="66708" name="Rectangle 44">
              <a:extLst>
                <a:ext uri="{FF2B5EF4-FFF2-40B4-BE49-F238E27FC236}">
                  <a16:creationId xmlns:a16="http://schemas.microsoft.com/office/drawing/2014/main" id="{5D0965D0-FE54-8F4E-8953-50DBB5D4B417}"/>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709" name="Freeform 45">
              <a:extLst>
                <a:ext uri="{FF2B5EF4-FFF2-40B4-BE49-F238E27FC236}">
                  <a16:creationId xmlns:a16="http://schemas.microsoft.com/office/drawing/2014/main" id="{486A4323-B5A1-7F49-AC8B-76968CFC92A5}"/>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710" name="Line 46">
              <a:extLst>
                <a:ext uri="{FF2B5EF4-FFF2-40B4-BE49-F238E27FC236}">
                  <a16:creationId xmlns:a16="http://schemas.microsoft.com/office/drawing/2014/main" id="{C946A91B-B048-5E4D-9839-D0DD059927F2}"/>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6583" name="Group 47">
            <a:extLst>
              <a:ext uri="{FF2B5EF4-FFF2-40B4-BE49-F238E27FC236}">
                <a16:creationId xmlns:a16="http://schemas.microsoft.com/office/drawing/2014/main" id="{D5B6A187-8122-E74D-9154-4F89461E5C22}"/>
              </a:ext>
            </a:extLst>
          </p:cNvPr>
          <p:cNvGrpSpPr>
            <a:grpSpLocks/>
          </p:cNvGrpSpPr>
          <p:nvPr/>
        </p:nvGrpSpPr>
        <p:grpSpPr bwMode="auto">
          <a:xfrm>
            <a:off x="3382963" y="4648200"/>
            <a:ext cx="993775" cy="76200"/>
            <a:chOff x="1536" y="2256"/>
            <a:chExt cx="626" cy="48"/>
          </a:xfrm>
        </p:grpSpPr>
        <p:sp>
          <p:nvSpPr>
            <p:cNvPr id="66705" name="Rectangle 48">
              <a:extLst>
                <a:ext uri="{FF2B5EF4-FFF2-40B4-BE49-F238E27FC236}">
                  <a16:creationId xmlns:a16="http://schemas.microsoft.com/office/drawing/2014/main" id="{5D923209-8921-C942-B20B-DE9065FC5877}"/>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706" name="Freeform 49">
              <a:extLst>
                <a:ext uri="{FF2B5EF4-FFF2-40B4-BE49-F238E27FC236}">
                  <a16:creationId xmlns:a16="http://schemas.microsoft.com/office/drawing/2014/main" id="{932F4CC8-E0B7-174A-9344-4B720AAD5702}"/>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707" name="Line 50">
              <a:extLst>
                <a:ext uri="{FF2B5EF4-FFF2-40B4-BE49-F238E27FC236}">
                  <a16:creationId xmlns:a16="http://schemas.microsoft.com/office/drawing/2014/main" id="{56FC3718-4AAF-3846-9FBE-987B5514F43A}"/>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66584" name="Line 51">
            <a:extLst>
              <a:ext uri="{FF2B5EF4-FFF2-40B4-BE49-F238E27FC236}">
                <a16:creationId xmlns:a16="http://schemas.microsoft.com/office/drawing/2014/main" id="{0AA34253-55EB-F84F-87AA-2C62A1FF6A7B}"/>
              </a:ext>
            </a:extLst>
          </p:cNvPr>
          <p:cNvSpPr>
            <a:spLocks noChangeShapeType="1"/>
          </p:cNvSpPr>
          <p:nvPr/>
        </p:nvSpPr>
        <p:spPr bwMode="auto">
          <a:xfrm>
            <a:off x="4144963" y="3886200"/>
            <a:ext cx="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585" name="Line 52">
            <a:extLst>
              <a:ext uri="{FF2B5EF4-FFF2-40B4-BE49-F238E27FC236}">
                <a16:creationId xmlns:a16="http://schemas.microsoft.com/office/drawing/2014/main" id="{1CF1CBA1-0853-5444-8ECF-B1F5EEB66449}"/>
              </a:ext>
            </a:extLst>
          </p:cNvPr>
          <p:cNvSpPr>
            <a:spLocks noChangeShapeType="1"/>
          </p:cNvSpPr>
          <p:nvPr/>
        </p:nvSpPr>
        <p:spPr bwMode="auto">
          <a:xfrm>
            <a:off x="3535363" y="3886200"/>
            <a:ext cx="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586" name="Freeform 53">
            <a:extLst>
              <a:ext uri="{FF2B5EF4-FFF2-40B4-BE49-F238E27FC236}">
                <a16:creationId xmlns:a16="http://schemas.microsoft.com/office/drawing/2014/main" id="{18793B94-B15C-9D46-B7D8-CA7A5E23D8C4}"/>
              </a:ext>
            </a:extLst>
          </p:cNvPr>
          <p:cNvSpPr>
            <a:spLocks/>
          </p:cNvSpPr>
          <p:nvPr/>
        </p:nvSpPr>
        <p:spPr bwMode="auto">
          <a:xfrm flipV="1">
            <a:off x="3382963" y="1524000"/>
            <a:ext cx="914400" cy="1066800"/>
          </a:xfrm>
          <a:custGeom>
            <a:avLst/>
            <a:gdLst>
              <a:gd name="T0" fmla="*/ 0 w 576"/>
              <a:gd name="T1" fmla="*/ 0 h 672"/>
              <a:gd name="T2" fmla="*/ 2147483647 w 576"/>
              <a:gd name="T3" fmla="*/ 2147483647 h 672"/>
              <a:gd name="T4" fmla="*/ 2147483647 w 576"/>
              <a:gd name="T5" fmla="*/ 2147483647 h 672"/>
              <a:gd name="T6" fmla="*/ 2147483647 w 576"/>
              <a:gd name="T7" fmla="*/ 0 h 672"/>
              <a:gd name="T8" fmla="*/ 2147483647 w 576"/>
              <a:gd name="T9" fmla="*/ 0 h 672"/>
              <a:gd name="T10" fmla="*/ 2147483647 w 576"/>
              <a:gd name="T11" fmla="*/ 2147483647 h 672"/>
              <a:gd name="T12" fmla="*/ 2147483647 w 576"/>
              <a:gd name="T13" fmla="*/ 0 h 672"/>
              <a:gd name="T14" fmla="*/ 0 w 576"/>
              <a:gd name="T15" fmla="*/ 0 h 672"/>
              <a:gd name="T16" fmla="*/ 0 60000 65536"/>
              <a:gd name="T17" fmla="*/ 0 60000 65536"/>
              <a:gd name="T18" fmla="*/ 0 60000 65536"/>
              <a:gd name="T19" fmla="*/ 0 60000 65536"/>
              <a:gd name="T20" fmla="*/ 0 60000 65536"/>
              <a:gd name="T21" fmla="*/ 0 60000 65536"/>
              <a:gd name="T22" fmla="*/ 0 60000 65536"/>
              <a:gd name="T23" fmla="*/ 0 60000 65536"/>
              <a:gd name="T24" fmla="*/ 0 w 576"/>
              <a:gd name="T25" fmla="*/ 0 h 672"/>
              <a:gd name="T26" fmla="*/ 576 w 576"/>
              <a:gd name="T27" fmla="*/ 672 h 6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6" h="672">
                <a:moveTo>
                  <a:pt x="0" y="0"/>
                </a:moveTo>
                <a:lnTo>
                  <a:pt x="144" y="672"/>
                </a:lnTo>
                <a:lnTo>
                  <a:pt x="450" y="672"/>
                </a:lnTo>
                <a:lnTo>
                  <a:pt x="576" y="0"/>
                </a:lnTo>
                <a:lnTo>
                  <a:pt x="336" y="0"/>
                </a:lnTo>
                <a:lnTo>
                  <a:pt x="288" y="96"/>
                </a:lnTo>
                <a:lnTo>
                  <a:pt x="240" y="0"/>
                </a:lnTo>
                <a:lnTo>
                  <a:pt x="0" y="0"/>
                </a:lnTo>
                <a:close/>
              </a:path>
            </a:pathLst>
          </a:custGeom>
          <a:noFill/>
          <a:ln w="31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66587" name="Group 54">
            <a:extLst>
              <a:ext uri="{FF2B5EF4-FFF2-40B4-BE49-F238E27FC236}">
                <a16:creationId xmlns:a16="http://schemas.microsoft.com/office/drawing/2014/main" id="{2C6517D2-946A-4845-96AA-851F833291B4}"/>
              </a:ext>
            </a:extLst>
          </p:cNvPr>
          <p:cNvGrpSpPr>
            <a:grpSpLocks/>
          </p:cNvGrpSpPr>
          <p:nvPr/>
        </p:nvGrpSpPr>
        <p:grpSpPr bwMode="auto">
          <a:xfrm flipV="1">
            <a:off x="3382963" y="1600200"/>
            <a:ext cx="993775" cy="76200"/>
            <a:chOff x="1536" y="2256"/>
            <a:chExt cx="626" cy="48"/>
          </a:xfrm>
        </p:grpSpPr>
        <p:sp>
          <p:nvSpPr>
            <p:cNvPr id="66702" name="Rectangle 55">
              <a:extLst>
                <a:ext uri="{FF2B5EF4-FFF2-40B4-BE49-F238E27FC236}">
                  <a16:creationId xmlns:a16="http://schemas.microsoft.com/office/drawing/2014/main" id="{BF31DEFB-4898-F648-8430-9399795252D8}"/>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703" name="Freeform 56">
              <a:extLst>
                <a:ext uri="{FF2B5EF4-FFF2-40B4-BE49-F238E27FC236}">
                  <a16:creationId xmlns:a16="http://schemas.microsoft.com/office/drawing/2014/main" id="{16AD1741-7C6C-CA45-BC0C-F2967335795B}"/>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704" name="Line 57">
              <a:extLst>
                <a:ext uri="{FF2B5EF4-FFF2-40B4-BE49-F238E27FC236}">
                  <a16:creationId xmlns:a16="http://schemas.microsoft.com/office/drawing/2014/main" id="{E597F026-DC9C-3848-B2E3-FE793CB19991}"/>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6588" name="Group 58">
            <a:extLst>
              <a:ext uri="{FF2B5EF4-FFF2-40B4-BE49-F238E27FC236}">
                <a16:creationId xmlns:a16="http://schemas.microsoft.com/office/drawing/2014/main" id="{A9D0C095-9846-2446-9BA2-F8AFBDD863D0}"/>
              </a:ext>
            </a:extLst>
          </p:cNvPr>
          <p:cNvGrpSpPr>
            <a:grpSpLocks/>
          </p:cNvGrpSpPr>
          <p:nvPr/>
        </p:nvGrpSpPr>
        <p:grpSpPr bwMode="auto">
          <a:xfrm flipV="1">
            <a:off x="3382963" y="2362200"/>
            <a:ext cx="993775" cy="76200"/>
            <a:chOff x="1536" y="2256"/>
            <a:chExt cx="626" cy="48"/>
          </a:xfrm>
        </p:grpSpPr>
        <p:sp>
          <p:nvSpPr>
            <p:cNvPr id="66699" name="Rectangle 59">
              <a:extLst>
                <a:ext uri="{FF2B5EF4-FFF2-40B4-BE49-F238E27FC236}">
                  <a16:creationId xmlns:a16="http://schemas.microsoft.com/office/drawing/2014/main" id="{80E14F2F-3A72-A24B-8A50-22ECBCBE9391}"/>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700" name="Freeform 60">
              <a:extLst>
                <a:ext uri="{FF2B5EF4-FFF2-40B4-BE49-F238E27FC236}">
                  <a16:creationId xmlns:a16="http://schemas.microsoft.com/office/drawing/2014/main" id="{0216D032-D443-674C-B9B5-C6C2339D661D}"/>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701" name="Line 61">
              <a:extLst>
                <a:ext uri="{FF2B5EF4-FFF2-40B4-BE49-F238E27FC236}">
                  <a16:creationId xmlns:a16="http://schemas.microsoft.com/office/drawing/2014/main" id="{DD0A7CE3-FD36-544D-AFEF-7C5C9BFCBC74}"/>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6589" name="Group 62">
            <a:extLst>
              <a:ext uri="{FF2B5EF4-FFF2-40B4-BE49-F238E27FC236}">
                <a16:creationId xmlns:a16="http://schemas.microsoft.com/office/drawing/2014/main" id="{5B222038-73BE-C14B-B9B5-2E554165049A}"/>
              </a:ext>
            </a:extLst>
          </p:cNvPr>
          <p:cNvGrpSpPr>
            <a:grpSpLocks/>
          </p:cNvGrpSpPr>
          <p:nvPr/>
        </p:nvGrpSpPr>
        <p:grpSpPr bwMode="auto">
          <a:xfrm flipV="1">
            <a:off x="3382963" y="1981200"/>
            <a:ext cx="993775" cy="76200"/>
            <a:chOff x="1536" y="2256"/>
            <a:chExt cx="626" cy="48"/>
          </a:xfrm>
        </p:grpSpPr>
        <p:sp>
          <p:nvSpPr>
            <p:cNvPr id="66696" name="Rectangle 63">
              <a:extLst>
                <a:ext uri="{FF2B5EF4-FFF2-40B4-BE49-F238E27FC236}">
                  <a16:creationId xmlns:a16="http://schemas.microsoft.com/office/drawing/2014/main" id="{EB27D5FD-F3BD-CE48-BB5E-B1511181EC8D}"/>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97" name="Freeform 64">
              <a:extLst>
                <a:ext uri="{FF2B5EF4-FFF2-40B4-BE49-F238E27FC236}">
                  <a16:creationId xmlns:a16="http://schemas.microsoft.com/office/drawing/2014/main" id="{F27738E5-780C-BC4B-9CED-7E6B587ED2A4}"/>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98" name="Line 65">
              <a:extLst>
                <a:ext uri="{FF2B5EF4-FFF2-40B4-BE49-F238E27FC236}">
                  <a16:creationId xmlns:a16="http://schemas.microsoft.com/office/drawing/2014/main" id="{0992E2EC-0D59-8545-ABD4-7BD9F2659C88}"/>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66590" name="Line 66">
            <a:extLst>
              <a:ext uri="{FF2B5EF4-FFF2-40B4-BE49-F238E27FC236}">
                <a16:creationId xmlns:a16="http://schemas.microsoft.com/office/drawing/2014/main" id="{62F848BD-2168-3546-B6E3-FF14CCBBB041}"/>
              </a:ext>
            </a:extLst>
          </p:cNvPr>
          <p:cNvSpPr>
            <a:spLocks noChangeShapeType="1"/>
          </p:cNvSpPr>
          <p:nvPr/>
        </p:nvSpPr>
        <p:spPr bwMode="auto">
          <a:xfrm flipV="1">
            <a:off x="4144963" y="2590800"/>
            <a:ext cx="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591" name="Line 67">
            <a:extLst>
              <a:ext uri="{FF2B5EF4-FFF2-40B4-BE49-F238E27FC236}">
                <a16:creationId xmlns:a16="http://schemas.microsoft.com/office/drawing/2014/main" id="{3F6A985E-F94A-A749-9206-3D614AE01936}"/>
              </a:ext>
            </a:extLst>
          </p:cNvPr>
          <p:cNvSpPr>
            <a:spLocks noChangeShapeType="1"/>
          </p:cNvSpPr>
          <p:nvPr/>
        </p:nvSpPr>
        <p:spPr bwMode="auto">
          <a:xfrm flipV="1">
            <a:off x="3535363" y="2590800"/>
            <a:ext cx="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592" name="Rectangle 68">
            <a:extLst>
              <a:ext uri="{FF2B5EF4-FFF2-40B4-BE49-F238E27FC236}">
                <a16:creationId xmlns:a16="http://schemas.microsoft.com/office/drawing/2014/main" id="{49EA7A7F-B1B2-4E4E-BEA0-8AD40A4933A4}"/>
              </a:ext>
            </a:extLst>
          </p:cNvPr>
          <p:cNvSpPr>
            <a:spLocks noChangeArrowheads="1"/>
          </p:cNvSpPr>
          <p:nvPr/>
        </p:nvSpPr>
        <p:spPr bwMode="auto">
          <a:xfrm>
            <a:off x="3078163" y="2819400"/>
            <a:ext cx="1524000" cy="10668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593" name="Freeform 69">
            <a:extLst>
              <a:ext uri="{FF2B5EF4-FFF2-40B4-BE49-F238E27FC236}">
                <a16:creationId xmlns:a16="http://schemas.microsoft.com/office/drawing/2014/main" id="{AACA14D7-224D-7540-A443-9AF9FAD46007}"/>
              </a:ext>
            </a:extLst>
          </p:cNvPr>
          <p:cNvSpPr>
            <a:spLocks/>
          </p:cNvSpPr>
          <p:nvPr/>
        </p:nvSpPr>
        <p:spPr bwMode="auto">
          <a:xfrm>
            <a:off x="3840163" y="3886200"/>
            <a:ext cx="685800" cy="1447800"/>
          </a:xfrm>
          <a:custGeom>
            <a:avLst/>
            <a:gdLst>
              <a:gd name="T0" fmla="*/ 0 w 432"/>
              <a:gd name="T1" fmla="*/ 2147483647 h 912"/>
              <a:gd name="T2" fmla="*/ 0 w 432"/>
              <a:gd name="T3" fmla="*/ 2147483647 h 912"/>
              <a:gd name="T4" fmla="*/ 2147483647 w 432"/>
              <a:gd name="T5" fmla="*/ 2147483647 h 912"/>
              <a:gd name="T6" fmla="*/ 2147483647 w 432"/>
              <a:gd name="T7" fmla="*/ 0 h 912"/>
              <a:gd name="T8" fmla="*/ 0 60000 65536"/>
              <a:gd name="T9" fmla="*/ 0 60000 65536"/>
              <a:gd name="T10" fmla="*/ 0 60000 65536"/>
              <a:gd name="T11" fmla="*/ 0 60000 65536"/>
              <a:gd name="T12" fmla="*/ 0 w 432"/>
              <a:gd name="T13" fmla="*/ 0 h 912"/>
              <a:gd name="T14" fmla="*/ 432 w 432"/>
              <a:gd name="T15" fmla="*/ 912 h 912"/>
            </a:gdLst>
            <a:ahLst/>
            <a:cxnLst>
              <a:cxn ang="T8">
                <a:pos x="T0" y="T1"/>
              </a:cxn>
              <a:cxn ang="T9">
                <a:pos x="T2" y="T3"/>
              </a:cxn>
              <a:cxn ang="T10">
                <a:pos x="T4" y="T5"/>
              </a:cxn>
              <a:cxn ang="T11">
                <a:pos x="T6" y="T7"/>
              </a:cxn>
            </a:cxnLst>
            <a:rect l="T12" t="T13" r="T14" b="T15"/>
            <a:pathLst>
              <a:path w="432" h="912">
                <a:moveTo>
                  <a:pt x="0" y="816"/>
                </a:moveTo>
                <a:lnTo>
                  <a:pt x="0" y="912"/>
                </a:lnTo>
                <a:lnTo>
                  <a:pt x="432" y="912"/>
                </a:lnTo>
                <a:lnTo>
                  <a:pt x="432" y="0"/>
                </a:lnTo>
              </a:path>
            </a:pathLst>
          </a:custGeom>
          <a:noFill/>
          <a:ln w="31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594" name="Freeform 70">
            <a:extLst>
              <a:ext uri="{FF2B5EF4-FFF2-40B4-BE49-F238E27FC236}">
                <a16:creationId xmlns:a16="http://schemas.microsoft.com/office/drawing/2014/main" id="{FA2691F3-F91B-9F4E-81C1-772478002072}"/>
              </a:ext>
            </a:extLst>
          </p:cNvPr>
          <p:cNvSpPr>
            <a:spLocks/>
          </p:cNvSpPr>
          <p:nvPr/>
        </p:nvSpPr>
        <p:spPr bwMode="auto">
          <a:xfrm flipV="1">
            <a:off x="3840163" y="1371600"/>
            <a:ext cx="685800" cy="1447800"/>
          </a:xfrm>
          <a:custGeom>
            <a:avLst/>
            <a:gdLst>
              <a:gd name="T0" fmla="*/ 0 w 432"/>
              <a:gd name="T1" fmla="*/ 2147483647 h 912"/>
              <a:gd name="T2" fmla="*/ 0 w 432"/>
              <a:gd name="T3" fmla="*/ 2147483647 h 912"/>
              <a:gd name="T4" fmla="*/ 2147483647 w 432"/>
              <a:gd name="T5" fmla="*/ 2147483647 h 912"/>
              <a:gd name="T6" fmla="*/ 2147483647 w 432"/>
              <a:gd name="T7" fmla="*/ 0 h 912"/>
              <a:gd name="T8" fmla="*/ 0 60000 65536"/>
              <a:gd name="T9" fmla="*/ 0 60000 65536"/>
              <a:gd name="T10" fmla="*/ 0 60000 65536"/>
              <a:gd name="T11" fmla="*/ 0 60000 65536"/>
              <a:gd name="T12" fmla="*/ 0 w 432"/>
              <a:gd name="T13" fmla="*/ 0 h 912"/>
              <a:gd name="T14" fmla="*/ 432 w 432"/>
              <a:gd name="T15" fmla="*/ 912 h 912"/>
            </a:gdLst>
            <a:ahLst/>
            <a:cxnLst>
              <a:cxn ang="T8">
                <a:pos x="T0" y="T1"/>
              </a:cxn>
              <a:cxn ang="T9">
                <a:pos x="T2" y="T3"/>
              </a:cxn>
              <a:cxn ang="T10">
                <a:pos x="T4" y="T5"/>
              </a:cxn>
              <a:cxn ang="T11">
                <a:pos x="T6" y="T7"/>
              </a:cxn>
            </a:cxnLst>
            <a:rect l="T12" t="T13" r="T14" b="T15"/>
            <a:pathLst>
              <a:path w="432" h="912">
                <a:moveTo>
                  <a:pt x="0" y="816"/>
                </a:moveTo>
                <a:lnTo>
                  <a:pt x="0" y="912"/>
                </a:lnTo>
                <a:lnTo>
                  <a:pt x="432" y="912"/>
                </a:lnTo>
                <a:lnTo>
                  <a:pt x="432" y="0"/>
                </a:lnTo>
              </a:path>
            </a:pathLst>
          </a:custGeom>
          <a:noFill/>
          <a:ln w="31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595" name="Line 71">
            <a:extLst>
              <a:ext uri="{FF2B5EF4-FFF2-40B4-BE49-F238E27FC236}">
                <a16:creationId xmlns:a16="http://schemas.microsoft.com/office/drawing/2014/main" id="{30C94DF7-1CA4-5347-9B0F-C3BFDC95D7FC}"/>
              </a:ext>
            </a:extLst>
          </p:cNvPr>
          <p:cNvSpPr>
            <a:spLocks noChangeShapeType="1"/>
          </p:cNvSpPr>
          <p:nvPr/>
        </p:nvSpPr>
        <p:spPr bwMode="auto">
          <a:xfrm flipV="1">
            <a:off x="3154363" y="3886200"/>
            <a:ext cx="0" cy="19812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596" name="Line 72">
            <a:extLst>
              <a:ext uri="{FF2B5EF4-FFF2-40B4-BE49-F238E27FC236}">
                <a16:creationId xmlns:a16="http://schemas.microsoft.com/office/drawing/2014/main" id="{C4729DF6-BA4E-7B4F-A1BB-E6490135E402}"/>
              </a:ext>
            </a:extLst>
          </p:cNvPr>
          <p:cNvSpPr>
            <a:spLocks noChangeShapeType="1"/>
          </p:cNvSpPr>
          <p:nvPr/>
        </p:nvSpPr>
        <p:spPr bwMode="auto">
          <a:xfrm>
            <a:off x="3306763" y="3886200"/>
            <a:ext cx="0" cy="19812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597" name="Freeform 73">
            <a:extLst>
              <a:ext uri="{FF2B5EF4-FFF2-40B4-BE49-F238E27FC236}">
                <a16:creationId xmlns:a16="http://schemas.microsoft.com/office/drawing/2014/main" id="{3CF91C27-2256-8E4B-81C5-2D858546E8AB}"/>
              </a:ext>
            </a:extLst>
          </p:cNvPr>
          <p:cNvSpPr>
            <a:spLocks/>
          </p:cNvSpPr>
          <p:nvPr/>
        </p:nvSpPr>
        <p:spPr bwMode="auto">
          <a:xfrm>
            <a:off x="5287963" y="4114800"/>
            <a:ext cx="914400" cy="1066800"/>
          </a:xfrm>
          <a:custGeom>
            <a:avLst/>
            <a:gdLst>
              <a:gd name="T0" fmla="*/ 0 w 576"/>
              <a:gd name="T1" fmla="*/ 0 h 672"/>
              <a:gd name="T2" fmla="*/ 2147483647 w 576"/>
              <a:gd name="T3" fmla="*/ 2147483647 h 672"/>
              <a:gd name="T4" fmla="*/ 2147483647 w 576"/>
              <a:gd name="T5" fmla="*/ 2147483647 h 672"/>
              <a:gd name="T6" fmla="*/ 2147483647 w 576"/>
              <a:gd name="T7" fmla="*/ 0 h 672"/>
              <a:gd name="T8" fmla="*/ 2147483647 w 576"/>
              <a:gd name="T9" fmla="*/ 0 h 672"/>
              <a:gd name="T10" fmla="*/ 2147483647 w 576"/>
              <a:gd name="T11" fmla="*/ 2147483647 h 672"/>
              <a:gd name="T12" fmla="*/ 2147483647 w 576"/>
              <a:gd name="T13" fmla="*/ 0 h 672"/>
              <a:gd name="T14" fmla="*/ 0 w 576"/>
              <a:gd name="T15" fmla="*/ 0 h 672"/>
              <a:gd name="T16" fmla="*/ 0 60000 65536"/>
              <a:gd name="T17" fmla="*/ 0 60000 65536"/>
              <a:gd name="T18" fmla="*/ 0 60000 65536"/>
              <a:gd name="T19" fmla="*/ 0 60000 65536"/>
              <a:gd name="T20" fmla="*/ 0 60000 65536"/>
              <a:gd name="T21" fmla="*/ 0 60000 65536"/>
              <a:gd name="T22" fmla="*/ 0 60000 65536"/>
              <a:gd name="T23" fmla="*/ 0 60000 65536"/>
              <a:gd name="T24" fmla="*/ 0 w 576"/>
              <a:gd name="T25" fmla="*/ 0 h 672"/>
              <a:gd name="T26" fmla="*/ 576 w 576"/>
              <a:gd name="T27" fmla="*/ 672 h 6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6" h="672">
                <a:moveTo>
                  <a:pt x="0" y="0"/>
                </a:moveTo>
                <a:lnTo>
                  <a:pt x="144" y="672"/>
                </a:lnTo>
                <a:lnTo>
                  <a:pt x="450" y="672"/>
                </a:lnTo>
                <a:lnTo>
                  <a:pt x="576" y="0"/>
                </a:lnTo>
                <a:lnTo>
                  <a:pt x="336" y="0"/>
                </a:lnTo>
                <a:lnTo>
                  <a:pt x="288" y="96"/>
                </a:lnTo>
                <a:lnTo>
                  <a:pt x="240" y="0"/>
                </a:lnTo>
                <a:lnTo>
                  <a:pt x="0" y="0"/>
                </a:lnTo>
                <a:close/>
              </a:path>
            </a:pathLst>
          </a:custGeom>
          <a:noFill/>
          <a:ln w="31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66598" name="Group 74">
            <a:extLst>
              <a:ext uri="{FF2B5EF4-FFF2-40B4-BE49-F238E27FC236}">
                <a16:creationId xmlns:a16="http://schemas.microsoft.com/office/drawing/2014/main" id="{4811D60D-A7C2-FC4C-871F-24F1CC72C15F}"/>
              </a:ext>
            </a:extLst>
          </p:cNvPr>
          <p:cNvGrpSpPr>
            <a:grpSpLocks/>
          </p:cNvGrpSpPr>
          <p:nvPr/>
        </p:nvGrpSpPr>
        <p:grpSpPr bwMode="auto">
          <a:xfrm>
            <a:off x="5287963" y="5029200"/>
            <a:ext cx="993775" cy="76200"/>
            <a:chOff x="1536" y="2256"/>
            <a:chExt cx="626" cy="48"/>
          </a:xfrm>
        </p:grpSpPr>
        <p:sp>
          <p:nvSpPr>
            <p:cNvPr id="66693" name="Rectangle 75">
              <a:extLst>
                <a:ext uri="{FF2B5EF4-FFF2-40B4-BE49-F238E27FC236}">
                  <a16:creationId xmlns:a16="http://schemas.microsoft.com/office/drawing/2014/main" id="{D4A92B86-D43A-BB49-B628-C87BC949BB8D}"/>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94" name="Freeform 76">
              <a:extLst>
                <a:ext uri="{FF2B5EF4-FFF2-40B4-BE49-F238E27FC236}">
                  <a16:creationId xmlns:a16="http://schemas.microsoft.com/office/drawing/2014/main" id="{AD85ABFC-E060-7B43-AA42-FAC900B0DF1C}"/>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95" name="Line 77">
              <a:extLst>
                <a:ext uri="{FF2B5EF4-FFF2-40B4-BE49-F238E27FC236}">
                  <a16:creationId xmlns:a16="http://schemas.microsoft.com/office/drawing/2014/main" id="{56B5DB1A-9955-314C-BAC8-0CEC05CCF01E}"/>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6599" name="Group 78">
            <a:extLst>
              <a:ext uri="{FF2B5EF4-FFF2-40B4-BE49-F238E27FC236}">
                <a16:creationId xmlns:a16="http://schemas.microsoft.com/office/drawing/2014/main" id="{1289823B-BA5D-BD4C-8016-F0BEE005919F}"/>
              </a:ext>
            </a:extLst>
          </p:cNvPr>
          <p:cNvGrpSpPr>
            <a:grpSpLocks/>
          </p:cNvGrpSpPr>
          <p:nvPr/>
        </p:nvGrpSpPr>
        <p:grpSpPr bwMode="auto">
          <a:xfrm>
            <a:off x="5287963" y="4267200"/>
            <a:ext cx="993775" cy="76200"/>
            <a:chOff x="1536" y="2256"/>
            <a:chExt cx="626" cy="48"/>
          </a:xfrm>
        </p:grpSpPr>
        <p:sp>
          <p:nvSpPr>
            <p:cNvPr id="66690" name="Rectangle 79">
              <a:extLst>
                <a:ext uri="{FF2B5EF4-FFF2-40B4-BE49-F238E27FC236}">
                  <a16:creationId xmlns:a16="http://schemas.microsoft.com/office/drawing/2014/main" id="{C7664496-CD11-AB46-8130-63BC2378AC1E}"/>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91" name="Freeform 80">
              <a:extLst>
                <a:ext uri="{FF2B5EF4-FFF2-40B4-BE49-F238E27FC236}">
                  <a16:creationId xmlns:a16="http://schemas.microsoft.com/office/drawing/2014/main" id="{4BD34DED-52B1-8F4D-9D7C-48CE11698076}"/>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92" name="Line 81">
              <a:extLst>
                <a:ext uri="{FF2B5EF4-FFF2-40B4-BE49-F238E27FC236}">
                  <a16:creationId xmlns:a16="http://schemas.microsoft.com/office/drawing/2014/main" id="{5A6607D6-D128-DB4A-8D30-1EF695058723}"/>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6600" name="Group 82">
            <a:extLst>
              <a:ext uri="{FF2B5EF4-FFF2-40B4-BE49-F238E27FC236}">
                <a16:creationId xmlns:a16="http://schemas.microsoft.com/office/drawing/2014/main" id="{0DBDDBB4-7FA1-1B4D-8238-9748A98689E4}"/>
              </a:ext>
            </a:extLst>
          </p:cNvPr>
          <p:cNvGrpSpPr>
            <a:grpSpLocks/>
          </p:cNvGrpSpPr>
          <p:nvPr/>
        </p:nvGrpSpPr>
        <p:grpSpPr bwMode="auto">
          <a:xfrm>
            <a:off x="5287963" y="4648200"/>
            <a:ext cx="993775" cy="76200"/>
            <a:chOff x="1536" y="2256"/>
            <a:chExt cx="626" cy="48"/>
          </a:xfrm>
        </p:grpSpPr>
        <p:sp>
          <p:nvSpPr>
            <p:cNvPr id="66687" name="Rectangle 83">
              <a:extLst>
                <a:ext uri="{FF2B5EF4-FFF2-40B4-BE49-F238E27FC236}">
                  <a16:creationId xmlns:a16="http://schemas.microsoft.com/office/drawing/2014/main" id="{45E27A68-1BAC-6B4F-AAC4-8C79BF370E33}"/>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88" name="Freeform 84">
              <a:extLst>
                <a:ext uri="{FF2B5EF4-FFF2-40B4-BE49-F238E27FC236}">
                  <a16:creationId xmlns:a16="http://schemas.microsoft.com/office/drawing/2014/main" id="{0F00A484-883C-E149-B569-38B9397E303D}"/>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89" name="Line 85">
              <a:extLst>
                <a:ext uri="{FF2B5EF4-FFF2-40B4-BE49-F238E27FC236}">
                  <a16:creationId xmlns:a16="http://schemas.microsoft.com/office/drawing/2014/main" id="{413C3AF1-6C22-C541-9A02-6DA84C05EB55}"/>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66601" name="Line 86">
            <a:extLst>
              <a:ext uri="{FF2B5EF4-FFF2-40B4-BE49-F238E27FC236}">
                <a16:creationId xmlns:a16="http://schemas.microsoft.com/office/drawing/2014/main" id="{213153C1-1A06-494C-8D37-9C1120EFE888}"/>
              </a:ext>
            </a:extLst>
          </p:cNvPr>
          <p:cNvSpPr>
            <a:spLocks noChangeShapeType="1"/>
          </p:cNvSpPr>
          <p:nvPr/>
        </p:nvSpPr>
        <p:spPr bwMode="auto">
          <a:xfrm>
            <a:off x="6049963" y="3886200"/>
            <a:ext cx="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02" name="Line 87">
            <a:extLst>
              <a:ext uri="{FF2B5EF4-FFF2-40B4-BE49-F238E27FC236}">
                <a16:creationId xmlns:a16="http://schemas.microsoft.com/office/drawing/2014/main" id="{354AC6A5-B241-5F48-ACE5-C3EBF6CBA6BB}"/>
              </a:ext>
            </a:extLst>
          </p:cNvPr>
          <p:cNvSpPr>
            <a:spLocks noChangeShapeType="1"/>
          </p:cNvSpPr>
          <p:nvPr/>
        </p:nvSpPr>
        <p:spPr bwMode="auto">
          <a:xfrm>
            <a:off x="5440363" y="3886200"/>
            <a:ext cx="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03" name="Freeform 88">
            <a:extLst>
              <a:ext uri="{FF2B5EF4-FFF2-40B4-BE49-F238E27FC236}">
                <a16:creationId xmlns:a16="http://schemas.microsoft.com/office/drawing/2014/main" id="{F25B06CD-37D4-864C-804B-CD6841A8BAA5}"/>
              </a:ext>
            </a:extLst>
          </p:cNvPr>
          <p:cNvSpPr>
            <a:spLocks/>
          </p:cNvSpPr>
          <p:nvPr/>
        </p:nvSpPr>
        <p:spPr bwMode="auto">
          <a:xfrm flipV="1">
            <a:off x="5287963" y="1524000"/>
            <a:ext cx="914400" cy="1066800"/>
          </a:xfrm>
          <a:custGeom>
            <a:avLst/>
            <a:gdLst>
              <a:gd name="T0" fmla="*/ 0 w 576"/>
              <a:gd name="T1" fmla="*/ 0 h 672"/>
              <a:gd name="T2" fmla="*/ 2147483647 w 576"/>
              <a:gd name="T3" fmla="*/ 2147483647 h 672"/>
              <a:gd name="T4" fmla="*/ 2147483647 w 576"/>
              <a:gd name="T5" fmla="*/ 2147483647 h 672"/>
              <a:gd name="T6" fmla="*/ 2147483647 w 576"/>
              <a:gd name="T7" fmla="*/ 0 h 672"/>
              <a:gd name="T8" fmla="*/ 2147483647 w 576"/>
              <a:gd name="T9" fmla="*/ 0 h 672"/>
              <a:gd name="T10" fmla="*/ 2147483647 w 576"/>
              <a:gd name="T11" fmla="*/ 2147483647 h 672"/>
              <a:gd name="T12" fmla="*/ 2147483647 w 576"/>
              <a:gd name="T13" fmla="*/ 0 h 672"/>
              <a:gd name="T14" fmla="*/ 0 w 576"/>
              <a:gd name="T15" fmla="*/ 0 h 672"/>
              <a:gd name="T16" fmla="*/ 0 60000 65536"/>
              <a:gd name="T17" fmla="*/ 0 60000 65536"/>
              <a:gd name="T18" fmla="*/ 0 60000 65536"/>
              <a:gd name="T19" fmla="*/ 0 60000 65536"/>
              <a:gd name="T20" fmla="*/ 0 60000 65536"/>
              <a:gd name="T21" fmla="*/ 0 60000 65536"/>
              <a:gd name="T22" fmla="*/ 0 60000 65536"/>
              <a:gd name="T23" fmla="*/ 0 60000 65536"/>
              <a:gd name="T24" fmla="*/ 0 w 576"/>
              <a:gd name="T25" fmla="*/ 0 h 672"/>
              <a:gd name="T26" fmla="*/ 576 w 576"/>
              <a:gd name="T27" fmla="*/ 672 h 6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6" h="672">
                <a:moveTo>
                  <a:pt x="0" y="0"/>
                </a:moveTo>
                <a:lnTo>
                  <a:pt x="144" y="672"/>
                </a:lnTo>
                <a:lnTo>
                  <a:pt x="450" y="672"/>
                </a:lnTo>
                <a:lnTo>
                  <a:pt x="576" y="0"/>
                </a:lnTo>
                <a:lnTo>
                  <a:pt x="336" y="0"/>
                </a:lnTo>
                <a:lnTo>
                  <a:pt x="288" y="96"/>
                </a:lnTo>
                <a:lnTo>
                  <a:pt x="240" y="0"/>
                </a:lnTo>
                <a:lnTo>
                  <a:pt x="0" y="0"/>
                </a:lnTo>
                <a:close/>
              </a:path>
            </a:pathLst>
          </a:custGeom>
          <a:noFill/>
          <a:ln w="31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66604" name="Group 89">
            <a:extLst>
              <a:ext uri="{FF2B5EF4-FFF2-40B4-BE49-F238E27FC236}">
                <a16:creationId xmlns:a16="http://schemas.microsoft.com/office/drawing/2014/main" id="{54BC6AB1-95D3-7A43-936F-31D4E2487CE0}"/>
              </a:ext>
            </a:extLst>
          </p:cNvPr>
          <p:cNvGrpSpPr>
            <a:grpSpLocks/>
          </p:cNvGrpSpPr>
          <p:nvPr/>
        </p:nvGrpSpPr>
        <p:grpSpPr bwMode="auto">
          <a:xfrm flipV="1">
            <a:off x="5287963" y="1600200"/>
            <a:ext cx="993775" cy="76200"/>
            <a:chOff x="1536" y="2256"/>
            <a:chExt cx="626" cy="48"/>
          </a:xfrm>
        </p:grpSpPr>
        <p:sp>
          <p:nvSpPr>
            <p:cNvPr id="66684" name="Rectangle 90">
              <a:extLst>
                <a:ext uri="{FF2B5EF4-FFF2-40B4-BE49-F238E27FC236}">
                  <a16:creationId xmlns:a16="http://schemas.microsoft.com/office/drawing/2014/main" id="{C8305F61-1959-8742-8715-F6FE3E337CA8}"/>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85" name="Freeform 91">
              <a:extLst>
                <a:ext uri="{FF2B5EF4-FFF2-40B4-BE49-F238E27FC236}">
                  <a16:creationId xmlns:a16="http://schemas.microsoft.com/office/drawing/2014/main" id="{DF629603-0A5C-7846-94BE-7BBB4DCE8564}"/>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86" name="Line 92">
              <a:extLst>
                <a:ext uri="{FF2B5EF4-FFF2-40B4-BE49-F238E27FC236}">
                  <a16:creationId xmlns:a16="http://schemas.microsoft.com/office/drawing/2014/main" id="{8864CBD5-E762-464B-9835-CA2254F49F9E}"/>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6605" name="Group 93">
            <a:extLst>
              <a:ext uri="{FF2B5EF4-FFF2-40B4-BE49-F238E27FC236}">
                <a16:creationId xmlns:a16="http://schemas.microsoft.com/office/drawing/2014/main" id="{7A4B1C36-9731-D649-AA05-3625D1EE026D}"/>
              </a:ext>
            </a:extLst>
          </p:cNvPr>
          <p:cNvGrpSpPr>
            <a:grpSpLocks/>
          </p:cNvGrpSpPr>
          <p:nvPr/>
        </p:nvGrpSpPr>
        <p:grpSpPr bwMode="auto">
          <a:xfrm flipV="1">
            <a:off x="5287963" y="2362200"/>
            <a:ext cx="993775" cy="76200"/>
            <a:chOff x="1536" y="2256"/>
            <a:chExt cx="626" cy="48"/>
          </a:xfrm>
        </p:grpSpPr>
        <p:sp>
          <p:nvSpPr>
            <p:cNvPr id="66681" name="Rectangle 94">
              <a:extLst>
                <a:ext uri="{FF2B5EF4-FFF2-40B4-BE49-F238E27FC236}">
                  <a16:creationId xmlns:a16="http://schemas.microsoft.com/office/drawing/2014/main" id="{2FA6E96A-9C1E-4449-ABE8-79ADF6C42C06}"/>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82" name="Freeform 95">
              <a:extLst>
                <a:ext uri="{FF2B5EF4-FFF2-40B4-BE49-F238E27FC236}">
                  <a16:creationId xmlns:a16="http://schemas.microsoft.com/office/drawing/2014/main" id="{116908B6-076E-B442-BD70-C6CC3E980338}"/>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83" name="Line 96">
              <a:extLst>
                <a:ext uri="{FF2B5EF4-FFF2-40B4-BE49-F238E27FC236}">
                  <a16:creationId xmlns:a16="http://schemas.microsoft.com/office/drawing/2014/main" id="{BCC8FFDB-D6C3-944C-A829-0A332609564B}"/>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6606" name="Group 97">
            <a:extLst>
              <a:ext uri="{FF2B5EF4-FFF2-40B4-BE49-F238E27FC236}">
                <a16:creationId xmlns:a16="http://schemas.microsoft.com/office/drawing/2014/main" id="{3702E68F-2388-3E4B-AF27-D9556316D4AD}"/>
              </a:ext>
            </a:extLst>
          </p:cNvPr>
          <p:cNvGrpSpPr>
            <a:grpSpLocks/>
          </p:cNvGrpSpPr>
          <p:nvPr/>
        </p:nvGrpSpPr>
        <p:grpSpPr bwMode="auto">
          <a:xfrm flipV="1">
            <a:off x="5287963" y="1981200"/>
            <a:ext cx="993775" cy="76200"/>
            <a:chOff x="1536" y="2256"/>
            <a:chExt cx="626" cy="48"/>
          </a:xfrm>
        </p:grpSpPr>
        <p:sp>
          <p:nvSpPr>
            <p:cNvPr id="66678" name="Rectangle 98">
              <a:extLst>
                <a:ext uri="{FF2B5EF4-FFF2-40B4-BE49-F238E27FC236}">
                  <a16:creationId xmlns:a16="http://schemas.microsoft.com/office/drawing/2014/main" id="{A7BAB597-B52D-4545-84D4-AEBE5215CDE8}"/>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79" name="Freeform 99">
              <a:extLst>
                <a:ext uri="{FF2B5EF4-FFF2-40B4-BE49-F238E27FC236}">
                  <a16:creationId xmlns:a16="http://schemas.microsoft.com/office/drawing/2014/main" id="{B9FE51E6-F0FB-8246-94BF-C82C9F7BA058}"/>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80" name="Line 100">
              <a:extLst>
                <a:ext uri="{FF2B5EF4-FFF2-40B4-BE49-F238E27FC236}">
                  <a16:creationId xmlns:a16="http://schemas.microsoft.com/office/drawing/2014/main" id="{C87A66A8-B9D9-2F49-B1E7-F67CAB4BFF28}"/>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66607" name="Line 101">
            <a:extLst>
              <a:ext uri="{FF2B5EF4-FFF2-40B4-BE49-F238E27FC236}">
                <a16:creationId xmlns:a16="http://schemas.microsoft.com/office/drawing/2014/main" id="{CFD207D7-6EE6-D440-8FCC-268DF5D74919}"/>
              </a:ext>
            </a:extLst>
          </p:cNvPr>
          <p:cNvSpPr>
            <a:spLocks noChangeShapeType="1"/>
          </p:cNvSpPr>
          <p:nvPr/>
        </p:nvSpPr>
        <p:spPr bwMode="auto">
          <a:xfrm flipV="1">
            <a:off x="6049963" y="2590800"/>
            <a:ext cx="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08" name="Line 102">
            <a:extLst>
              <a:ext uri="{FF2B5EF4-FFF2-40B4-BE49-F238E27FC236}">
                <a16:creationId xmlns:a16="http://schemas.microsoft.com/office/drawing/2014/main" id="{5C6956BE-7EA8-B941-82A5-E8FAE12D1602}"/>
              </a:ext>
            </a:extLst>
          </p:cNvPr>
          <p:cNvSpPr>
            <a:spLocks noChangeShapeType="1"/>
          </p:cNvSpPr>
          <p:nvPr/>
        </p:nvSpPr>
        <p:spPr bwMode="auto">
          <a:xfrm flipV="1">
            <a:off x="5440363" y="2590800"/>
            <a:ext cx="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09" name="Rectangle 103">
            <a:extLst>
              <a:ext uri="{FF2B5EF4-FFF2-40B4-BE49-F238E27FC236}">
                <a16:creationId xmlns:a16="http://schemas.microsoft.com/office/drawing/2014/main" id="{F11333C8-BC58-004A-BFAB-F889954A1D9D}"/>
              </a:ext>
            </a:extLst>
          </p:cNvPr>
          <p:cNvSpPr>
            <a:spLocks noChangeArrowheads="1"/>
          </p:cNvSpPr>
          <p:nvPr/>
        </p:nvSpPr>
        <p:spPr bwMode="auto">
          <a:xfrm>
            <a:off x="4983163" y="2819400"/>
            <a:ext cx="1524000" cy="10668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10" name="Freeform 104">
            <a:extLst>
              <a:ext uri="{FF2B5EF4-FFF2-40B4-BE49-F238E27FC236}">
                <a16:creationId xmlns:a16="http://schemas.microsoft.com/office/drawing/2014/main" id="{354B240C-6AF7-114D-BFC4-A140B9147169}"/>
              </a:ext>
            </a:extLst>
          </p:cNvPr>
          <p:cNvSpPr>
            <a:spLocks/>
          </p:cNvSpPr>
          <p:nvPr/>
        </p:nvSpPr>
        <p:spPr bwMode="auto">
          <a:xfrm>
            <a:off x="5745163" y="3886200"/>
            <a:ext cx="685800" cy="1447800"/>
          </a:xfrm>
          <a:custGeom>
            <a:avLst/>
            <a:gdLst>
              <a:gd name="T0" fmla="*/ 0 w 432"/>
              <a:gd name="T1" fmla="*/ 2147483647 h 912"/>
              <a:gd name="T2" fmla="*/ 0 w 432"/>
              <a:gd name="T3" fmla="*/ 2147483647 h 912"/>
              <a:gd name="T4" fmla="*/ 2147483647 w 432"/>
              <a:gd name="T5" fmla="*/ 2147483647 h 912"/>
              <a:gd name="T6" fmla="*/ 2147483647 w 432"/>
              <a:gd name="T7" fmla="*/ 0 h 912"/>
              <a:gd name="T8" fmla="*/ 0 60000 65536"/>
              <a:gd name="T9" fmla="*/ 0 60000 65536"/>
              <a:gd name="T10" fmla="*/ 0 60000 65536"/>
              <a:gd name="T11" fmla="*/ 0 60000 65536"/>
              <a:gd name="T12" fmla="*/ 0 w 432"/>
              <a:gd name="T13" fmla="*/ 0 h 912"/>
              <a:gd name="T14" fmla="*/ 432 w 432"/>
              <a:gd name="T15" fmla="*/ 912 h 912"/>
            </a:gdLst>
            <a:ahLst/>
            <a:cxnLst>
              <a:cxn ang="T8">
                <a:pos x="T0" y="T1"/>
              </a:cxn>
              <a:cxn ang="T9">
                <a:pos x="T2" y="T3"/>
              </a:cxn>
              <a:cxn ang="T10">
                <a:pos x="T4" y="T5"/>
              </a:cxn>
              <a:cxn ang="T11">
                <a:pos x="T6" y="T7"/>
              </a:cxn>
            </a:cxnLst>
            <a:rect l="T12" t="T13" r="T14" b="T15"/>
            <a:pathLst>
              <a:path w="432" h="912">
                <a:moveTo>
                  <a:pt x="0" y="816"/>
                </a:moveTo>
                <a:lnTo>
                  <a:pt x="0" y="912"/>
                </a:lnTo>
                <a:lnTo>
                  <a:pt x="432" y="912"/>
                </a:lnTo>
                <a:lnTo>
                  <a:pt x="432" y="0"/>
                </a:lnTo>
              </a:path>
            </a:pathLst>
          </a:custGeom>
          <a:noFill/>
          <a:ln w="31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11" name="Freeform 105">
            <a:extLst>
              <a:ext uri="{FF2B5EF4-FFF2-40B4-BE49-F238E27FC236}">
                <a16:creationId xmlns:a16="http://schemas.microsoft.com/office/drawing/2014/main" id="{2CAA6221-8D6F-BD4F-9E85-1870DA21AE82}"/>
              </a:ext>
            </a:extLst>
          </p:cNvPr>
          <p:cNvSpPr>
            <a:spLocks/>
          </p:cNvSpPr>
          <p:nvPr/>
        </p:nvSpPr>
        <p:spPr bwMode="auto">
          <a:xfrm flipV="1">
            <a:off x="5745163" y="1371600"/>
            <a:ext cx="685800" cy="1447800"/>
          </a:xfrm>
          <a:custGeom>
            <a:avLst/>
            <a:gdLst>
              <a:gd name="T0" fmla="*/ 0 w 432"/>
              <a:gd name="T1" fmla="*/ 2147483647 h 912"/>
              <a:gd name="T2" fmla="*/ 0 w 432"/>
              <a:gd name="T3" fmla="*/ 2147483647 h 912"/>
              <a:gd name="T4" fmla="*/ 2147483647 w 432"/>
              <a:gd name="T5" fmla="*/ 2147483647 h 912"/>
              <a:gd name="T6" fmla="*/ 2147483647 w 432"/>
              <a:gd name="T7" fmla="*/ 0 h 912"/>
              <a:gd name="T8" fmla="*/ 0 60000 65536"/>
              <a:gd name="T9" fmla="*/ 0 60000 65536"/>
              <a:gd name="T10" fmla="*/ 0 60000 65536"/>
              <a:gd name="T11" fmla="*/ 0 60000 65536"/>
              <a:gd name="T12" fmla="*/ 0 w 432"/>
              <a:gd name="T13" fmla="*/ 0 h 912"/>
              <a:gd name="T14" fmla="*/ 432 w 432"/>
              <a:gd name="T15" fmla="*/ 912 h 912"/>
            </a:gdLst>
            <a:ahLst/>
            <a:cxnLst>
              <a:cxn ang="T8">
                <a:pos x="T0" y="T1"/>
              </a:cxn>
              <a:cxn ang="T9">
                <a:pos x="T2" y="T3"/>
              </a:cxn>
              <a:cxn ang="T10">
                <a:pos x="T4" y="T5"/>
              </a:cxn>
              <a:cxn ang="T11">
                <a:pos x="T6" y="T7"/>
              </a:cxn>
            </a:cxnLst>
            <a:rect l="T12" t="T13" r="T14" b="T15"/>
            <a:pathLst>
              <a:path w="432" h="912">
                <a:moveTo>
                  <a:pt x="0" y="816"/>
                </a:moveTo>
                <a:lnTo>
                  <a:pt x="0" y="912"/>
                </a:lnTo>
                <a:lnTo>
                  <a:pt x="432" y="912"/>
                </a:lnTo>
                <a:lnTo>
                  <a:pt x="432" y="0"/>
                </a:lnTo>
              </a:path>
            </a:pathLst>
          </a:custGeom>
          <a:noFill/>
          <a:ln w="31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12" name="Line 106">
            <a:extLst>
              <a:ext uri="{FF2B5EF4-FFF2-40B4-BE49-F238E27FC236}">
                <a16:creationId xmlns:a16="http://schemas.microsoft.com/office/drawing/2014/main" id="{9240E0AD-8683-7C41-BDF4-9C5EF9C53E54}"/>
              </a:ext>
            </a:extLst>
          </p:cNvPr>
          <p:cNvSpPr>
            <a:spLocks noChangeShapeType="1"/>
          </p:cNvSpPr>
          <p:nvPr/>
        </p:nvSpPr>
        <p:spPr bwMode="auto">
          <a:xfrm flipV="1">
            <a:off x="5059363" y="3886200"/>
            <a:ext cx="0" cy="19812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13" name="Line 107">
            <a:extLst>
              <a:ext uri="{FF2B5EF4-FFF2-40B4-BE49-F238E27FC236}">
                <a16:creationId xmlns:a16="http://schemas.microsoft.com/office/drawing/2014/main" id="{8AAE7F2C-37F4-FC46-B7DD-BCD0698C8E67}"/>
              </a:ext>
            </a:extLst>
          </p:cNvPr>
          <p:cNvSpPr>
            <a:spLocks noChangeShapeType="1"/>
          </p:cNvSpPr>
          <p:nvPr/>
        </p:nvSpPr>
        <p:spPr bwMode="auto">
          <a:xfrm>
            <a:off x="5211763" y="3886200"/>
            <a:ext cx="0" cy="19812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14" name="Freeform 108">
            <a:extLst>
              <a:ext uri="{FF2B5EF4-FFF2-40B4-BE49-F238E27FC236}">
                <a16:creationId xmlns:a16="http://schemas.microsoft.com/office/drawing/2014/main" id="{25ABB5A2-273E-4740-ABFC-E96942E3908C}"/>
              </a:ext>
            </a:extLst>
          </p:cNvPr>
          <p:cNvSpPr>
            <a:spLocks/>
          </p:cNvSpPr>
          <p:nvPr/>
        </p:nvSpPr>
        <p:spPr bwMode="auto">
          <a:xfrm>
            <a:off x="7192963" y="4114800"/>
            <a:ext cx="914400" cy="1066800"/>
          </a:xfrm>
          <a:custGeom>
            <a:avLst/>
            <a:gdLst>
              <a:gd name="T0" fmla="*/ 0 w 576"/>
              <a:gd name="T1" fmla="*/ 0 h 672"/>
              <a:gd name="T2" fmla="*/ 2147483647 w 576"/>
              <a:gd name="T3" fmla="*/ 2147483647 h 672"/>
              <a:gd name="T4" fmla="*/ 2147483647 w 576"/>
              <a:gd name="T5" fmla="*/ 2147483647 h 672"/>
              <a:gd name="T6" fmla="*/ 2147483647 w 576"/>
              <a:gd name="T7" fmla="*/ 0 h 672"/>
              <a:gd name="T8" fmla="*/ 2147483647 w 576"/>
              <a:gd name="T9" fmla="*/ 0 h 672"/>
              <a:gd name="T10" fmla="*/ 2147483647 w 576"/>
              <a:gd name="T11" fmla="*/ 2147483647 h 672"/>
              <a:gd name="T12" fmla="*/ 2147483647 w 576"/>
              <a:gd name="T13" fmla="*/ 0 h 672"/>
              <a:gd name="T14" fmla="*/ 0 w 576"/>
              <a:gd name="T15" fmla="*/ 0 h 672"/>
              <a:gd name="T16" fmla="*/ 0 60000 65536"/>
              <a:gd name="T17" fmla="*/ 0 60000 65536"/>
              <a:gd name="T18" fmla="*/ 0 60000 65536"/>
              <a:gd name="T19" fmla="*/ 0 60000 65536"/>
              <a:gd name="T20" fmla="*/ 0 60000 65536"/>
              <a:gd name="T21" fmla="*/ 0 60000 65536"/>
              <a:gd name="T22" fmla="*/ 0 60000 65536"/>
              <a:gd name="T23" fmla="*/ 0 60000 65536"/>
              <a:gd name="T24" fmla="*/ 0 w 576"/>
              <a:gd name="T25" fmla="*/ 0 h 672"/>
              <a:gd name="T26" fmla="*/ 576 w 576"/>
              <a:gd name="T27" fmla="*/ 672 h 6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6" h="672">
                <a:moveTo>
                  <a:pt x="0" y="0"/>
                </a:moveTo>
                <a:lnTo>
                  <a:pt x="144" y="672"/>
                </a:lnTo>
                <a:lnTo>
                  <a:pt x="450" y="672"/>
                </a:lnTo>
                <a:lnTo>
                  <a:pt x="576" y="0"/>
                </a:lnTo>
                <a:lnTo>
                  <a:pt x="336" y="0"/>
                </a:lnTo>
                <a:lnTo>
                  <a:pt x="288" y="96"/>
                </a:lnTo>
                <a:lnTo>
                  <a:pt x="240" y="0"/>
                </a:lnTo>
                <a:lnTo>
                  <a:pt x="0" y="0"/>
                </a:lnTo>
                <a:close/>
              </a:path>
            </a:pathLst>
          </a:custGeom>
          <a:noFill/>
          <a:ln w="31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66615" name="Group 109">
            <a:extLst>
              <a:ext uri="{FF2B5EF4-FFF2-40B4-BE49-F238E27FC236}">
                <a16:creationId xmlns:a16="http://schemas.microsoft.com/office/drawing/2014/main" id="{AE44A678-5882-CC40-82CB-EBB05C25C09E}"/>
              </a:ext>
            </a:extLst>
          </p:cNvPr>
          <p:cNvGrpSpPr>
            <a:grpSpLocks/>
          </p:cNvGrpSpPr>
          <p:nvPr/>
        </p:nvGrpSpPr>
        <p:grpSpPr bwMode="auto">
          <a:xfrm>
            <a:off x="7192963" y="5029200"/>
            <a:ext cx="993775" cy="76200"/>
            <a:chOff x="1536" y="2256"/>
            <a:chExt cx="626" cy="48"/>
          </a:xfrm>
        </p:grpSpPr>
        <p:sp>
          <p:nvSpPr>
            <p:cNvPr id="66675" name="Rectangle 110">
              <a:extLst>
                <a:ext uri="{FF2B5EF4-FFF2-40B4-BE49-F238E27FC236}">
                  <a16:creationId xmlns:a16="http://schemas.microsoft.com/office/drawing/2014/main" id="{59CE2BFA-D6EC-BC4A-9BF0-16B107A0650E}"/>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76" name="Freeform 111">
              <a:extLst>
                <a:ext uri="{FF2B5EF4-FFF2-40B4-BE49-F238E27FC236}">
                  <a16:creationId xmlns:a16="http://schemas.microsoft.com/office/drawing/2014/main" id="{8D22BD3C-9217-7E48-84A2-96DA3532649F}"/>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77" name="Line 112">
              <a:extLst>
                <a:ext uri="{FF2B5EF4-FFF2-40B4-BE49-F238E27FC236}">
                  <a16:creationId xmlns:a16="http://schemas.microsoft.com/office/drawing/2014/main" id="{F82167B0-D50B-A34F-9668-5430FA7DAD38}"/>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6616" name="Group 113">
            <a:extLst>
              <a:ext uri="{FF2B5EF4-FFF2-40B4-BE49-F238E27FC236}">
                <a16:creationId xmlns:a16="http://schemas.microsoft.com/office/drawing/2014/main" id="{B2BEE0AA-FCFC-9045-BD29-CBDA6D3338D6}"/>
              </a:ext>
            </a:extLst>
          </p:cNvPr>
          <p:cNvGrpSpPr>
            <a:grpSpLocks/>
          </p:cNvGrpSpPr>
          <p:nvPr/>
        </p:nvGrpSpPr>
        <p:grpSpPr bwMode="auto">
          <a:xfrm>
            <a:off x="7192963" y="4267200"/>
            <a:ext cx="993775" cy="76200"/>
            <a:chOff x="1536" y="2256"/>
            <a:chExt cx="626" cy="48"/>
          </a:xfrm>
        </p:grpSpPr>
        <p:sp>
          <p:nvSpPr>
            <p:cNvPr id="66672" name="Rectangle 114">
              <a:extLst>
                <a:ext uri="{FF2B5EF4-FFF2-40B4-BE49-F238E27FC236}">
                  <a16:creationId xmlns:a16="http://schemas.microsoft.com/office/drawing/2014/main" id="{9C2B0DEB-26D9-EF41-A1CC-F8F4434B1600}"/>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73" name="Freeform 115">
              <a:extLst>
                <a:ext uri="{FF2B5EF4-FFF2-40B4-BE49-F238E27FC236}">
                  <a16:creationId xmlns:a16="http://schemas.microsoft.com/office/drawing/2014/main" id="{EF739C15-9CBC-8C4D-BCB6-88FF1D7F4C24}"/>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74" name="Line 116">
              <a:extLst>
                <a:ext uri="{FF2B5EF4-FFF2-40B4-BE49-F238E27FC236}">
                  <a16:creationId xmlns:a16="http://schemas.microsoft.com/office/drawing/2014/main" id="{57B482CE-A218-5A4D-AD53-F270184CAD81}"/>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6617" name="Group 117">
            <a:extLst>
              <a:ext uri="{FF2B5EF4-FFF2-40B4-BE49-F238E27FC236}">
                <a16:creationId xmlns:a16="http://schemas.microsoft.com/office/drawing/2014/main" id="{D76B03D9-9269-9447-8094-8FEA0F64D73B}"/>
              </a:ext>
            </a:extLst>
          </p:cNvPr>
          <p:cNvGrpSpPr>
            <a:grpSpLocks/>
          </p:cNvGrpSpPr>
          <p:nvPr/>
        </p:nvGrpSpPr>
        <p:grpSpPr bwMode="auto">
          <a:xfrm>
            <a:off x="7192963" y="4648200"/>
            <a:ext cx="993775" cy="76200"/>
            <a:chOff x="1536" y="2256"/>
            <a:chExt cx="626" cy="48"/>
          </a:xfrm>
        </p:grpSpPr>
        <p:sp>
          <p:nvSpPr>
            <p:cNvPr id="66669" name="Rectangle 118">
              <a:extLst>
                <a:ext uri="{FF2B5EF4-FFF2-40B4-BE49-F238E27FC236}">
                  <a16:creationId xmlns:a16="http://schemas.microsoft.com/office/drawing/2014/main" id="{1358B5E0-BE09-BB43-85F8-687EAAC78C8C}"/>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70" name="Freeform 119">
              <a:extLst>
                <a:ext uri="{FF2B5EF4-FFF2-40B4-BE49-F238E27FC236}">
                  <a16:creationId xmlns:a16="http://schemas.microsoft.com/office/drawing/2014/main" id="{4778BDF0-59D9-5246-BE75-F24A42A6B752}"/>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71" name="Line 120">
              <a:extLst>
                <a:ext uri="{FF2B5EF4-FFF2-40B4-BE49-F238E27FC236}">
                  <a16:creationId xmlns:a16="http://schemas.microsoft.com/office/drawing/2014/main" id="{DBDD23B0-CEF3-7146-AD09-4A3025730D73}"/>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66618" name="Line 121">
            <a:extLst>
              <a:ext uri="{FF2B5EF4-FFF2-40B4-BE49-F238E27FC236}">
                <a16:creationId xmlns:a16="http://schemas.microsoft.com/office/drawing/2014/main" id="{59EF73E6-9CCF-1C48-919B-050874E74163}"/>
              </a:ext>
            </a:extLst>
          </p:cNvPr>
          <p:cNvSpPr>
            <a:spLocks noChangeShapeType="1"/>
          </p:cNvSpPr>
          <p:nvPr/>
        </p:nvSpPr>
        <p:spPr bwMode="auto">
          <a:xfrm>
            <a:off x="7954963" y="3886200"/>
            <a:ext cx="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19" name="Line 122">
            <a:extLst>
              <a:ext uri="{FF2B5EF4-FFF2-40B4-BE49-F238E27FC236}">
                <a16:creationId xmlns:a16="http://schemas.microsoft.com/office/drawing/2014/main" id="{D7F6B361-03DC-3D41-BA68-9A632122EA7A}"/>
              </a:ext>
            </a:extLst>
          </p:cNvPr>
          <p:cNvSpPr>
            <a:spLocks noChangeShapeType="1"/>
          </p:cNvSpPr>
          <p:nvPr/>
        </p:nvSpPr>
        <p:spPr bwMode="auto">
          <a:xfrm>
            <a:off x="7345363" y="3886200"/>
            <a:ext cx="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20" name="Freeform 123">
            <a:extLst>
              <a:ext uri="{FF2B5EF4-FFF2-40B4-BE49-F238E27FC236}">
                <a16:creationId xmlns:a16="http://schemas.microsoft.com/office/drawing/2014/main" id="{4526B0BE-2FFB-014C-B126-AC04A777B1CF}"/>
              </a:ext>
            </a:extLst>
          </p:cNvPr>
          <p:cNvSpPr>
            <a:spLocks/>
          </p:cNvSpPr>
          <p:nvPr/>
        </p:nvSpPr>
        <p:spPr bwMode="auto">
          <a:xfrm flipV="1">
            <a:off x="7192963" y="1524000"/>
            <a:ext cx="914400" cy="1066800"/>
          </a:xfrm>
          <a:custGeom>
            <a:avLst/>
            <a:gdLst>
              <a:gd name="T0" fmla="*/ 0 w 576"/>
              <a:gd name="T1" fmla="*/ 0 h 672"/>
              <a:gd name="T2" fmla="*/ 2147483647 w 576"/>
              <a:gd name="T3" fmla="*/ 2147483647 h 672"/>
              <a:gd name="T4" fmla="*/ 2147483647 w 576"/>
              <a:gd name="T5" fmla="*/ 2147483647 h 672"/>
              <a:gd name="T6" fmla="*/ 2147483647 w 576"/>
              <a:gd name="T7" fmla="*/ 0 h 672"/>
              <a:gd name="T8" fmla="*/ 2147483647 w 576"/>
              <a:gd name="T9" fmla="*/ 0 h 672"/>
              <a:gd name="T10" fmla="*/ 2147483647 w 576"/>
              <a:gd name="T11" fmla="*/ 2147483647 h 672"/>
              <a:gd name="T12" fmla="*/ 2147483647 w 576"/>
              <a:gd name="T13" fmla="*/ 0 h 672"/>
              <a:gd name="T14" fmla="*/ 0 w 576"/>
              <a:gd name="T15" fmla="*/ 0 h 672"/>
              <a:gd name="T16" fmla="*/ 0 60000 65536"/>
              <a:gd name="T17" fmla="*/ 0 60000 65536"/>
              <a:gd name="T18" fmla="*/ 0 60000 65536"/>
              <a:gd name="T19" fmla="*/ 0 60000 65536"/>
              <a:gd name="T20" fmla="*/ 0 60000 65536"/>
              <a:gd name="T21" fmla="*/ 0 60000 65536"/>
              <a:gd name="T22" fmla="*/ 0 60000 65536"/>
              <a:gd name="T23" fmla="*/ 0 60000 65536"/>
              <a:gd name="T24" fmla="*/ 0 w 576"/>
              <a:gd name="T25" fmla="*/ 0 h 672"/>
              <a:gd name="T26" fmla="*/ 576 w 576"/>
              <a:gd name="T27" fmla="*/ 672 h 6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6" h="672">
                <a:moveTo>
                  <a:pt x="0" y="0"/>
                </a:moveTo>
                <a:lnTo>
                  <a:pt x="144" y="672"/>
                </a:lnTo>
                <a:lnTo>
                  <a:pt x="450" y="672"/>
                </a:lnTo>
                <a:lnTo>
                  <a:pt x="576" y="0"/>
                </a:lnTo>
                <a:lnTo>
                  <a:pt x="336" y="0"/>
                </a:lnTo>
                <a:lnTo>
                  <a:pt x="288" y="96"/>
                </a:lnTo>
                <a:lnTo>
                  <a:pt x="240" y="0"/>
                </a:lnTo>
                <a:lnTo>
                  <a:pt x="0" y="0"/>
                </a:lnTo>
                <a:close/>
              </a:path>
            </a:pathLst>
          </a:custGeom>
          <a:noFill/>
          <a:ln w="31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66621" name="Group 124">
            <a:extLst>
              <a:ext uri="{FF2B5EF4-FFF2-40B4-BE49-F238E27FC236}">
                <a16:creationId xmlns:a16="http://schemas.microsoft.com/office/drawing/2014/main" id="{1BAED0E8-9CB5-9442-8681-5395ABA1B52C}"/>
              </a:ext>
            </a:extLst>
          </p:cNvPr>
          <p:cNvGrpSpPr>
            <a:grpSpLocks/>
          </p:cNvGrpSpPr>
          <p:nvPr/>
        </p:nvGrpSpPr>
        <p:grpSpPr bwMode="auto">
          <a:xfrm flipV="1">
            <a:off x="7192963" y="1600200"/>
            <a:ext cx="993775" cy="76200"/>
            <a:chOff x="1536" y="2256"/>
            <a:chExt cx="626" cy="48"/>
          </a:xfrm>
        </p:grpSpPr>
        <p:sp>
          <p:nvSpPr>
            <p:cNvPr id="66666" name="Rectangle 125">
              <a:extLst>
                <a:ext uri="{FF2B5EF4-FFF2-40B4-BE49-F238E27FC236}">
                  <a16:creationId xmlns:a16="http://schemas.microsoft.com/office/drawing/2014/main" id="{ABDF6C24-F263-B642-A1DE-8D3E8108224D}"/>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67" name="Freeform 126">
              <a:extLst>
                <a:ext uri="{FF2B5EF4-FFF2-40B4-BE49-F238E27FC236}">
                  <a16:creationId xmlns:a16="http://schemas.microsoft.com/office/drawing/2014/main" id="{D2994F99-12AC-BE45-9D5C-5A80F4986D4E}"/>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68" name="Line 127">
              <a:extLst>
                <a:ext uri="{FF2B5EF4-FFF2-40B4-BE49-F238E27FC236}">
                  <a16:creationId xmlns:a16="http://schemas.microsoft.com/office/drawing/2014/main" id="{E11ECB3C-4DDD-1348-BEC0-D4EF4C62F97E}"/>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6622" name="Group 128">
            <a:extLst>
              <a:ext uri="{FF2B5EF4-FFF2-40B4-BE49-F238E27FC236}">
                <a16:creationId xmlns:a16="http://schemas.microsoft.com/office/drawing/2014/main" id="{F72619D4-3C82-744E-88F3-A40CA3B240C8}"/>
              </a:ext>
            </a:extLst>
          </p:cNvPr>
          <p:cNvGrpSpPr>
            <a:grpSpLocks/>
          </p:cNvGrpSpPr>
          <p:nvPr/>
        </p:nvGrpSpPr>
        <p:grpSpPr bwMode="auto">
          <a:xfrm flipV="1">
            <a:off x="7192963" y="2362200"/>
            <a:ext cx="993775" cy="76200"/>
            <a:chOff x="1536" y="2256"/>
            <a:chExt cx="626" cy="48"/>
          </a:xfrm>
        </p:grpSpPr>
        <p:sp>
          <p:nvSpPr>
            <p:cNvPr id="66663" name="Rectangle 129">
              <a:extLst>
                <a:ext uri="{FF2B5EF4-FFF2-40B4-BE49-F238E27FC236}">
                  <a16:creationId xmlns:a16="http://schemas.microsoft.com/office/drawing/2014/main" id="{DC888338-1BB5-1441-B1AA-DAEFB4D335BD}"/>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64" name="Freeform 130">
              <a:extLst>
                <a:ext uri="{FF2B5EF4-FFF2-40B4-BE49-F238E27FC236}">
                  <a16:creationId xmlns:a16="http://schemas.microsoft.com/office/drawing/2014/main" id="{252BC1BE-4805-B742-823F-81B4BE26281C}"/>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65" name="Line 131">
              <a:extLst>
                <a:ext uri="{FF2B5EF4-FFF2-40B4-BE49-F238E27FC236}">
                  <a16:creationId xmlns:a16="http://schemas.microsoft.com/office/drawing/2014/main" id="{AB1DF4C9-BF5C-564B-8FAC-81ECC6E9E80F}"/>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6623" name="Group 132">
            <a:extLst>
              <a:ext uri="{FF2B5EF4-FFF2-40B4-BE49-F238E27FC236}">
                <a16:creationId xmlns:a16="http://schemas.microsoft.com/office/drawing/2014/main" id="{81B46292-80CD-4849-8B87-BEEE85AB44E7}"/>
              </a:ext>
            </a:extLst>
          </p:cNvPr>
          <p:cNvGrpSpPr>
            <a:grpSpLocks/>
          </p:cNvGrpSpPr>
          <p:nvPr/>
        </p:nvGrpSpPr>
        <p:grpSpPr bwMode="auto">
          <a:xfrm flipV="1">
            <a:off x="7192963" y="1981200"/>
            <a:ext cx="993775" cy="76200"/>
            <a:chOff x="1536" y="2256"/>
            <a:chExt cx="626" cy="48"/>
          </a:xfrm>
        </p:grpSpPr>
        <p:sp>
          <p:nvSpPr>
            <p:cNvPr id="66660" name="Rectangle 133">
              <a:extLst>
                <a:ext uri="{FF2B5EF4-FFF2-40B4-BE49-F238E27FC236}">
                  <a16:creationId xmlns:a16="http://schemas.microsoft.com/office/drawing/2014/main" id="{D1130B98-900C-934F-920D-3EFBEA3C32CC}"/>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61" name="Freeform 134">
              <a:extLst>
                <a:ext uri="{FF2B5EF4-FFF2-40B4-BE49-F238E27FC236}">
                  <a16:creationId xmlns:a16="http://schemas.microsoft.com/office/drawing/2014/main" id="{FEAED4C6-3A40-714F-BC70-BACDDC3A0A5A}"/>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62" name="Line 135">
              <a:extLst>
                <a:ext uri="{FF2B5EF4-FFF2-40B4-BE49-F238E27FC236}">
                  <a16:creationId xmlns:a16="http://schemas.microsoft.com/office/drawing/2014/main" id="{1B4C1274-D727-3244-ABF6-C94F0A75104D}"/>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66624" name="Line 136">
            <a:extLst>
              <a:ext uri="{FF2B5EF4-FFF2-40B4-BE49-F238E27FC236}">
                <a16:creationId xmlns:a16="http://schemas.microsoft.com/office/drawing/2014/main" id="{DFD653D3-759C-134B-8F17-1BBA5EAEBB77}"/>
              </a:ext>
            </a:extLst>
          </p:cNvPr>
          <p:cNvSpPr>
            <a:spLocks noChangeShapeType="1"/>
          </p:cNvSpPr>
          <p:nvPr/>
        </p:nvSpPr>
        <p:spPr bwMode="auto">
          <a:xfrm flipV="1">
            <a:off x="7954963" y="2590800"/>
            <a:ext cx="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25" name="Line 137">
            <a:extLst>
              <a:ext uri="{FF2B5EF4-FFF2-40B4-BE49-F238E27FC236}">
                <a16:creationId xmlns:a16="http://schemas.microsoft.com/office/drawing/2014/main" id="{C0DAA389-39DF-8246-A444-E9CFDEE70448}"/>
              </a:ext>
            </a:extLst>
          </p:cNvPr>
          <p:cNvSpPr>
            <a:spLocks noChangeShapeType="1"/>
          </p:cNvSpPr>
          <p:nvPr/>
        </p:nvSpPr>
        <p:spPr bwMode="auto">
          <a:xfrm flipV="1">
            <a:off x="7345363" y="2590800"/>
            <a:ext cx="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26" name="Rectangle 138">
            <a:extLst>
              <a:ext uri="{FF2B5EF4-FFF2-40B4-BE49-F238E27FC236}">
                <a16:creationId xmlns:a16="http://schemas.microsoft.com/office/drawing/2014/main" id="{05B8DABA-60BF-6F42-9527-ECD8E0CA0E23}"/>
              </a:ext>
            </a:extLst>
          </p:cNvPr>
          <p:cNvSpPr>
            <a:spLocks noChangeArrowheads="1"/>
          </p:cNvSpPr>
          <p:nvPr/>
        </p:nvSpPr>
        <p:spPr bwMode="auto">
          <a:xfrm>
            <a:off x="6888163" y="2819400"/>
            <a:ext cx="1524000" cy="10668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27" name="Freeform 139">
            <a:extLst>
              <a:ext uri="{FF2B5EF4-FFF2-40B4-BE49-F238E27FC236}">
                <a16:creationId xmlns:a16="http://schemas.microsoft.com/office/drawing/2014/main" id="{834C312D-FC15-734F-A009-65D5BC88ACDB}"/>
              </a:ext>
            </a:extLst>
          </p:cNvPr>
          <p:cNvSpPr>
            <a:spLocks/>
          </p:cNvSpPr>
          <p:nvPr/>
        </p:nvSpPr>
        <p:spPr bwMode="auto">
          <a:xfrm>
            <a:off x="7650163" y="3886200"/>
            <a:ext cx="685800" cy="1447800"/>
          </a:xfrm>
          <a:custGeom>
            <a:avLst/>
            <a:gdLst>
              <a:gd name="T0" fmla="*/ 0 w 432"/>
              <a:gd name="T1" fmla="*/ 2147483647 h 912"/>
              <a:gd name="T2" fmla="*/ 0 w 432"/>
              <a:gd name="T3" fmla="*/ 2147483647 h 912"/>
              <a:gd name="T4" fmla="*/ 2147483647 w 432"/>
              <a:gd name="T5" fmla="*/ 2147483647 h 912"/>
              <a:gd name="T6" fmla="*/ 2147483647 w 432"/>
              <a:gd name="T7" fmla="*/ 0 h 912"/>
              <a:gd name="T8" fmla="*/ 0 60000 65536"/>
              <a:gd name="T9" fmla="*/ 0 60000 65536"/>
              <a:gd name="T10" fmla="*/ 0 60000 65536"/>
              <a:gd name="T11" fmla="*/ 0 60000 65536"/>
              <a:gd name="T12" fmla="*/ 0 w 432"/>
              <a:gd name="T13" fmla="*/ 0 h 912"/>
              <a:gd name="T14" fmla="*/ 432 w 432"/>
              <a:gd name="T15" fmla="*/ 912 h 912"/>
            </a:gdLst>
            <a:ahLst/>
            <a:cxnLst>
              <a:cxn ang="T8">
                <a:pos x="T0" y="T1"/>
              </a:cxn>
              <a:cxn ang="T9">
                <a:pos x="T2" y="T3"/>
              </a:cxn>
              <a:cxn ang="T10">
                <a:pos x="T4" y="T5"/>
              </a:cxn>
              <a:cxn ang="T11">
                <a:pos x="T6" y="T7"/>
              </a:cxn>
            </a:cxnLst>
            <a:rect l="T12" t="T13" r="T14" b="T15"/>
            <a:pathLst>
              <a:path w="432" h="912">
                <a:moveTo>
                  <a:pt x="0" y="816"/>
                </a:moveTo>
                <a:lnTo>
                  <a:pt x="0" y="912"/>
                </a:lnTo>
                <a:lnTo>
                  <a:pt x="432" y="912"/>
                </a:lnTo>
                <a:lnTo>
                  <a:pt x="432" y="0"/>
                </a:lnTo>
              </a:path>
            </a:pathLst>
          </a:custGeom>
          <a:noFill/>
          <a:ln w="31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28" name="Freeform 140">
            <a:extLst>
              <a:ext uri="{FF2B5EF4-FFF2-40B4-BE49-F238E27FC236}">
                <a16:creationId xmlns:a16="http://schemas.microsoft.com/office/drawing/2014/main" id="{175336A6-63C2-A04C-AC7B-921B1DE70977}"/>
              </a:ext>
            </a:extLst>
          </p:cNvPr>
          <p:cNvSpPr>
            <a:spLocks/>
          </p:cNvSpPr>
          <p:nvPr/>
        </p:nvSpPr>
        <p:spPr bwMode="auto">
          <a:xfrm flipV="1">
            <a:off x="7650163" y="1371600"/>
            <a:ext cx="685800" cy="1447800"/>
          </a:xfrm>
          <a:custGeom>
            <a:avLst/>
            <a:gdLst>
              <a:gd name="T0" fmla="*/ 0 w 432"/>
              <a:gd name="T1" fmla="*/ 2147483647 h 912"/>
              <a:gd name="T2" fmla="*/ 0 w 432"/>
              <a:gd name="T3" fmla="*/ 2147483647 h 912"/>
              <a:gd name="T4" fmla="*/ 2147483647 w 432"/>
              <a:gd name="T5" fmla="*/ 2147483647 h 912"/>
              <a:gd name="T6" fmla="*/ 2147483647 w 432"/>
              <a:gd name="T7" fmla="*/ 0 h 912"/>
              <a:gd name="T8" fmla="*/ 0 60000 65536"/>
              <a:gd name="T9" fmla="*/ 0 60000 65536"/>
              <a:gd name="T10" fmla="*/ 0 60000 65536"/>
              <a:gd name="T11" fmla="*/ 0 60000 65536"/>
              <a:gd name="T12" fmla="*/ 0 w 432"/>
              <a:gd name="T13" fmla="*/ 0 h 912"/>
              <a:gd name="T14" fmla="*/ 432 w 432"/>
              <a:gd name="T15" fmla="*/ 912 h 912"/>
            </a:gdLst>
            <a:ahLst/>
            <a:cxnLst>
              <a:cxn ang="T8">
                <a:pos x="T0" y="T1"/>
              </a:cxn>
              <a:cxn ang="T9">
                <a:pos x="T2" y="T3"/>
              </a:cxn>
              <a:cxn ang="T10">
                <a:pos x="T4" y="T5"/>
              </a:cxn>
              <a:cxn ang="T11">
                <a:pos x="T6" y="T7"/>
              </a:cxn>
            </a:cxnLst>
            <a:rect l="T12" t="T13" r="T14" b="T15"/>
            <a:pathLst>
              <a:path w="432" h="912">
                <a:moveTo>
                  <a:pt x="0" y="816"/>
                </a:moveTo>
                <a:lnTo>
                  <a:pt x="0" y="912"/>
                </a:lnTo>
                <a:lnTo>
                  <a:pt x="432" y="912"/>
                </a:lnTo>
                <a:lnTo>
                  <a:pt x="432" y="0"/>
                </a:lnTo>
              </a:path>
            </a:pathLst>
          </a:custGeom>
          <a:noFill/>
          <a:ln w="31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29" name="Line 141">
            <a:extLst>
              <a:ext uri="{FF2B5EF4-FFF2-40B4-BE49-F238E27FC236}">
                <a16:creationId xmlns:a16="http://schemas.microsoft.com/office/drawing/2014/main" id="{41A7B153-C553-8149-99BD-CACD25E2092A}"/>
              </a:ext>
            </a:extLst>
          </p:cNvPr>
          <p:cNvSpPr>
            <a:spLocks noChangeShapeType="1"/>
          </p:cNvSpPr>
          <p:nvPr/>
        </p:nvSpPr>
        <p:spPr bwMode="auto">
          <a:xfrm flipV="1">
            <a:off x="6964363" y="3886200"/>
            <a:ext cx="0" cy="19812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30" name="Line 142">
            <a:extLst>
              <a:ext uri="{FF2B5EF4-FFF2-40B4-BE49-F238E27FC236}">
                <a16:creationId xmlns:a16="http://schemas.microsoft.com/office/drawing/2014/main" id="{4F08FD57-4B46-BB4A-8547-E585DC5C427E}"/>
              </a:ext>
            </a:extLst>
          </p:cNvPr>
          <p:cNvSpPr>
            <a:spLocks noChangeShapeType="1"/>
          </p:cNvSpPr>
          <p:nvPr/>
        </p:nvSpPr>
        <p:spPr bwMode="auto">
          <a:xfrm>
            <a:off x="7116763" y="3886200"/>
            <a:ext cx="0" cy="19812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66631" name="Group 143">
            <a:extLst>
              <a:ext uri="{FF2B5EF4-FFF2-40B4-BE49-F238E27FC236}">
                <a16:creationId xmlns:a16="http://schemas.microsoft.com/office/drawing/2014/main" id="{822AC084-8831-F848-AD51-D2B75B5BE55B}"/>
              </a:ext>
            </a:extLst>
          </p:cNvPr>
          <p:cNvGrpSpPr>
            <a:grpSpLocks/>
          </p:cNvGrpSpPr>
          <p:nvPr/>
        </p:nvGrpSpPr>
        <p:grpSpPr bwMode="auto">
          <a:xfrm>
            <a:off x="-44450" y="1143000"/>
            <a:ext cx="2894013" cy="4495800"/>
            <a:chOff x="193" y="816"/>
            <a:chExt cx="1823" cy="2832"/>
          </a:xfrm>
        </p:grpSpPr>
        <p:sp>
          <p:nvSpPr>
            <p:cNvPr id="66657" name="AutoShape 144">
              <a:extLst>
                <a:ext uri="{FF2B5EF4-FFF2-40B4-BE49-F238E27FC236}">
                  <a16:creationId xmlns:a16="http://schemas.microsoft.com/office/drawing/2014/main" id="{B2EC49B6-AD60-EB49-BB4C-487F5098BCF6}"/>
                </a:ext>
              </a:extLst>
            </p:cNvPr>
            <p:cNvSpPr>
              <a:spLocks noChangeArrowheads="1"/>
            </p:cNvSpPr>
            <p:nvPr/>
          </p:nvSpPr>
          <p:spPr bwMode="auto">
            <a:xfrm>
              <a:off x="864" y="816"/>
              <a:ext cx="1152" cy="2736"/>
            </a:xfrm>
            <a:prstGeom prst="roundRect">
              <a:avLst>
                <a:gd name="adj" fmla="val 16667"/>
              </a:avLst>
            </a:pr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58" name="Line 145">
              <a:extLst>
                <a:ext uri="{FF2B5EF4-FFF2-40B4-BE49-F238E27FC236}">
                  <a16:creationId xmlns:a16="http://schemas.microsoft.com/office/drawing/2014/main" id="{80002CF0-42E7-0C49-997E-4392A56D7B87}"/>
                </a:ext>
              </a:extLst>
            </p:cNvPr>
            <p:cNvSpPr>
              <a:spLocks noChangeShapeType="1"/>
            </p:cNvSpPr>
            <p:nvPr/>
          </p:nvSpPr>
          <p:spPr bwMode="auto">
            <a:xfrm flipH="1">
              <a:off x="576" y="3312"/>
              <a:ext cx="286" cy="15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59" name="Text Box 146">
              <a:extLst>
                <a:ext uri="{FF2B5EF4-FFF2-40B4-BE49-F238E27FC236}">
                  <a16:creationId xmlns:a16="http://schemas.microsoft.com/office/drawing/2014/main" id="{331C2B86-D850-9E41-9D1F-4D49FBAEA909}"/>
                </a:ext>
              </a:extLst>
            </p:cNvPr>
            <p:cNvSpPr txBox="1">
              <a:spLocks noChangeArrowheads="1"/>
            </p:cNvSpPr>
            <p:nvPr/>
          </p:nvSpPr>
          <p:spPr bwMode="auto">
            <a:xfrm>
              <a:off x="193" y="3417"/>
              <a:ext cx="4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1" u="none" strike="noStrike" kern="1200" cap="none" spc="0" normalizeH="0" baseline="0" noProof="0">
                  <a:ln>
                    <a:noFill/>
                  </a:ln>
                  <a:solidFill>
                    <a:srgbClr val="996600"/>
                  </a:solidFill>
                  <a:effectLst/>
                  <a:uLnTx/>
                  <a:uFillTx/>
                  <a:latin typeface="Verdana" panose="020B0604030504040204" pitchFamily="34" charset="0"/>
                  <a:ea typeface="굴림" panose="020B0600000101010101" pitchFamily="34" charset="-127"/>
                  <a:cs typeface="+mn-cs"/>
                </a:rPr>
                <a:t>Lane</a:t>
              </a:r>
            </a:p>
          </p:txBody>
        </p:sp>
      </p:grpSp>
      <p:grpSp>
        <p:nvGrpSpPr>
          <p:cNvPr id="66632" name="Group 147">
            <a:extLst>
              <a:ext uri="{FF2B5EF4-FFF2-40B4-BE49-F238E27FC236}">
                <a16:creationId xmlns:a16="http://schemas.microsoft.com/office/drawing/2014/main" id="{ACAD5106-E3E2-E94A-B064-BABDDDCE325B}"/>
              </a:ext>
            </a:extLst>
          </p:cNvPr>
          <p:cNvGrpSpPr>
            <a:grpSpLocks/>
          </p:cNvGrpSpPr>
          <p:nvPr/>
        </p:nvGrpSpPr>
        <p:grpSpPr bwMode="auto">
          <a:xfrm>
            <a:off x="1173163" y="852488"/>
            <a:ext cx="7391400" cy="1814512"/>
            <a:chOff x="960" y="633"/>
            <a:chExt cx="4656" cy="1143"/>
          </a:xfrm>
        </p:grpSpPr>
        <p:sp>
          <p:nvSpPr>
            <p:cNvPr id="66654" name="AutoShape 148">
              <a:extLst>
                <a:ext uri="{FF2B5EF4-FFF2-40B4-BE49-F238E27FC236}">
                  <a16:creationId xmlns:a16="http://schemas.microsoft.com/office/drawing/2014/main" id="{512276B8-7EAF-CB40-AE16-CF507199EF2F}"/>
                </a:ext>
              </a:extLst>
            </p:cNvPr>
            <p:cNvSpPr>
              <a:spLocks noChangeArrowheads="1"/>
            </p:cNvSpPr>
            <p:nvPr/>
          </p:nvSpPr>
          <p:spPr bwMode="auto">
            <a:xfrm>
              <a:off x="960" y="912"/>
              <a:ext cx="4656" cy="864"/>
            </a:xfrm>
            <a:prstGeom prst="roundRect">
              <a:avLst>
                <a:gd name="adj" fmla="val 16667"/>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55" name="Line 149">
              <a:extLst>
                <a:ext uri="{FF2B5EF4-FFF2-40B4-BE49-F238E27FC236}">
                  <a16:creationId xmlns:a16="http://schemas.microsoft.com/office/drawing/2014/main" id="{1AAB99F3-551F-B747-9BE6-062F312DC7D3}"/>
                </a:ext>
              </a:extLst>
            </p:cNvPr>
            <p:cNvSpPr>
              <a:spLocks noChangeShapeType="1"/>
            </p:cNvSpPr>
            <p:nvPr/>
          </p:nvSpPr>
          <p:spPr bwMode="auto">
            <a:xfrm flipV="1">
              <a:off x="3504" y="768"/>
              <a:ext cx="240" cy="144"/>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56" name="Text Box 150">
              <a:extLst>
                <a:ext uri="{FF2B5EF4-FFF2-40B4-BE49-F238E27FC236}">
                  <a16:creationId xmlns:a16="http://schemas.microsoft.com/office/drawing/2014/main" id="{19E5EE67-30AE-564D-A109-E2404704D097}"/>
                </a:ext>
              </a:extLst>
            </p:cNvPr>
            <p:cNvSpPr txBox="1">
              <a:spLocks noChangeArrowheads="1"/>
            </p:cNvSpPr>
            <p:nvPr/>
          </p:nvSpPr>
          <p:spPr bwMode="auto">
            <a:xfrm>
              <a:off x="3736" y="633"/>
              <a:ext cx="12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1" u="none" strike="noStrike" kern="1200" cap="none" spc="0" normalizeH="0" baseline="0" noProof="0">
                  <a:ln>
                    <a:noFill/>
                  </a:ln>
                  <a:solidFill>
                    <a:srgbClr val="CC9900"/>
                  </a:solidFill>
                  <a:effectLst/>
                  <a:uLnTx/>
                  <a:uFillTx/>
                  <a:latin typeface="Verdana" panose="020B0604030504040204" pitchFamily="34" charset="0"/>
                  <a:ea typeface="굴림" panose="020B0600000101010101" pitchFamily="34" charset="-127"/>
                  <a:cs typeface="+mn-cs"/>
                </a:rPr>
                <a:t>Functional Unit</a:t>
              </a:r>
            </a:p>
          </p:txBody>
        </p:sp>
      </p:grpSp>
      <p:sp>
        <p:nvSpPr>
          <p:cNvPr id="66633" name="Text Box 151">
            <a:extLst>
              <a:ext uri="{FF2B5EF4-FFF2-40B4-BE49-F238E27FC236}">
                <a16:creationId xmlns:a16="http://schemas.microsoft.com/office/drawing/2014/main" id="{30CF4196-60DB-F94D-B129-3165C9FD231F}"/>
              </a:ext>
            </a:extLst>
          </p:cNvPr>
          <p:cNvSpPr txBox="1">
            <a:spLocks noChangeArrowheads="1"/>
          </p:cNvSpPr>
          <p:nvPr/>
        </p:nvSpPr>
        <p:spPr bwMode="auto">
          <a:xfrm>
            <a:off x="-26988" y="2209800"/>
            <a:ext cx="1198563"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ko-KR" sz="1600" b="0" i="1" u="none" strike="noStrike" kern="1200" cap="none" spc="0" normalizeH="0" baseline="0" noProof="0" dirty="0">
              <a:ln>
                <a:noFill/>
              </a:ln>
              <a:solidFill>
                <a:srgbClr val="0000FF"/>
              </a:solidFill>
              <a:effectLst/>
              <a:uLnTx/>
              <a:uFillTx/>
              <a:latin typeface="Verdana" panose="020B0604030504040204" pitchFamily="34" charset="0"/>
              <a:ea typeface="굴림" panose="020B0600000101010101" pitchFamily="34" charset="-127"/>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600" b="0" i="1" u="none" strike="noStrike" kern="1200" cap="none" spc="0" normalizeH="0" baseline="0" noProof="0" dirty="0">
                <a:ln>
                  <a:noFill/>
                </a:ln>
                <a:solidFill>
                  <a:srgbClr val="0000FF"/>
                </a:solidFill>
                <a:effectLst/>
                <a:uLnTx/>
                <a:uFillTx/>
                <a:latin typeface="Verdana" panose="020B0604030504040204" pitchFamily="34" charset="0"/>
                <a:ea typeface="굴림" panose="020B0600000101010101" pitchFamily="34" charset="-127"/>
                <a:cs typeface="+mn-cs"/>
              </a:rPr>
              <a:t>Registers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600" b="0" i="1" u="none" strike="noStrike" kern="1200" cap="none" spc="0" normalizeH="0" baseline="0" noProof="0" dirty="0">
                <a:ln>
                  <a:noFill/>
                </a:ln>
                <a:solidFill>
                  <a:srgbClr val="0000FF"/>
                </a:solidFill>
                <a:effectLst/>
                <a:uLnTx/>
                <a:uFillTx/>
                <a:latin typeface="Verdana" panose="020B0604030504040204" pitchFamily="34" charset="0"/>
                <a:ea typeface="굴림" panose="020B0600000101010101" pitchFamily="34" charset="-127"/>
                <a:cs typeface="+mn-cs"/>
              </a:rPr>
              <a:t>for each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600" b="0" i="1" u="none" strike="noStrike" kern="1200" cap="none" spc="0" normalizeH="0" baseline="0" noProof="0" dirty="0">
                <a:ln>
                  <a:noFill/>
                </a:ln>
                <a:solidFill>
                  <a:srgbClr val="0000FF"/>
                </a:solidFill>
                <a:effectLst/>
                <a:uLnTx/>
                <a:uFillTx/>
                <a:latin typeface="Verdana" panose="020B0604030504040204" pitchFamily="34" charset="0"/>
                <a:ea typeface="굴림" panose="020B0600000101010101" pitchFamily="34" charset="-127"/>
                <a:cs typeface="+mn-cs"/>
              </a:rPr>
              <a:t>Thread</a:t>
            </a:r>
          </a:p>
        </p:txBody>
      </p:sp>
      <p:sp>
        <p:nvSpPr>
          <p:cNvPr id="66634" name="Line 152">
            <a:extLst>
              <a:ext uri="{FF2B5EF4-FFF2-40B4-BE49-F238E27FC236}">
                <a16:creationId xmlns:a16="http://schemas.microsoft.com/office/drawing/2014/main" id="{189C895D-7213-184F-8513-EDEF6E9318D2}"/>
              </a:ext>
            </a:extLst>
          </p:cNvPr>
          <p:cNvSpPr>
            <a:spLocks noChangeShapeType="1"/>
          </p:cNvSpPr>
          <p:nvPr/>
        </p:nvSpPr>
        <p:spPr bwMode="auto">
          <a:xfrm flipH="1" flipV="1">
            <a:off x="676275" y="3233738"/>
            <a:ext cx="496888" cy="1698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35" name="Rectangle 153">
            <a:extLst>
              <a:ext uri="{FF2B5EF4-FFF2-40B4-BE49-F238E27FC236}">
                <a16:creationId xmlns:a16="http://schemas.microsoft.com/office/drawing/2014/main" id="{1504DCA2-9DA1-744F-9791-191DC7A9B993}"/>
              </a:ext>
            </a:extLst>
          </p:cNvPr>
          <p:cNvSpPr>
            <a:spLocks noChangeArrowheads="1"/>
          </p:cNvSpPr>
          <p:nvPr/>
        </p:nvSpPr>
        <p:spPr bwMode="auto">
          <a:xfrm>
            <a:off x="1096963" y="5867400"/>
            <a:ext cx="7315200" cy="5334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ko-KR" sz="1800" b="0" i="1" u="none" strike="noStrike" kern="1200" cap="none" spc="0" normalizeH="0" baseline="0" noProof="0" dirty="0">
                <a:ln>
                  <a:noFill/>
                </a:ln>
                <a:solidFill>
                  <a:srgbClr val="000000"/>
                </a:solidFill>
                <a:effectLst/>
                <a:uLnTx/>
                <a:uFillTx/>
                <a:latin typeface="Verdana" panose="020B0604030504040204" pitchFamily="34" charset="0"/>
                <a:ea typeface="굴림" panose="020B0600000101010101" pitchFamily="34" charset="-127"/>
                <a:cs typeface="+mn-cs"/>
              </a:rPr>
              <a:t>Memory Subsystem</a:t>
            </a:r>
          </a:p>
        </p:txBody>
      </p:sp>
      <p:sp>
        <p:nvSpPr>
          <p:cNvPr id="66636" name="Text Box 154">
            <a:extLst>
              <a:ext uri="{FF2B5EF4-FFF2-40B4-BE49-F238E27FC236}">
                <a16:creationId xmlns:a16="http://schemas.microsoft.com/office/drawing/2014/main" id="{40E5EF15-FFF5-FC47-A6A9-AEB2041EA946}"/>
              </a:ext>
            </a:extLst>
          </p:cNvPr>
          <p:cNvSpPr txBox="1">
            <a:spLocks noChangeArrowheads="1"/>
          </p:cNvSpPr>
          <p:nvPr/>
        </p:nvSpPr>
        <p:spPr bwMode="auto">
          <a:xfrm>
            <a:off x="1325563" y="2919413"/>
            <a:ext cx="1341437"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4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Registers for thread IDs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4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0, 4, 8, …</a:t>
            </a:r>
          </a:p>
        </p:txBody>
      </p:sp>
      <p:sp>
        <p:nvSpPr>
          <p:cNvPr id="66637" name="Text Box 155">
            <a:extLst>
              <a:ext uri="{FF2B5EF4-FFF2-40B4-BE49-F238E27FC236}">
                <a16:creationId xmlns:a16="http://schemas.microsoft.com/office/drawing/2014/main" id="{1F009DC5-0434-BF41-9C79-A21C42046F20}"/>
              </a:ext>
            </a:extLst>
          </p:cNvPr>
          <p:cNvSpPr txBox="1">
            <a:spLocks noChangeArrowheads="1"/>
          </p:cNvSpPr>
          <p:nvPr/>
        </p:nvSpPr>
        <p:spPr bwMode="auto">
          <a:xfrm>
            <a:off x="3230563" y="2971800"/>
            <a:ext cx="1570037"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4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Registers for thread IDs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4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1, 5, 9, …</a:t>
            </a:r>
          </a:p>
        </p:txBody>
      </p:sp>
      <p:sp>
        <p:nvSpPr>
          <p:cNvPr id="66638" name="Text Box 156">
            <a:extLst>
              <a:ext uri="{FF2B5EF4-FFF2-40B4-BE49-F238E27FC236}">
                <a16:creationId xmlns:a16="http://schemas.microsoft.com/office/drawing/2014/main" id="{761C94E1-114E-7B44-8DF6-74ABEF4A6512}"/>
              </a:ext>
            </a:extLst>
          </p:cNvPr>
          <p:cNvSpPr txBox="1">
            <a:spLocks noChangeArrowheads="1"/>
          </p:cNvSpPr>
          <p:nvPr/>
        </p:nvSpPr>
        <p:spPr bwMode="auto">
          <a:xfrm>
            <a:off x="5135563" y="2971800"/>
            <a:ext cx="1417637"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4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Registers for thread IDs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4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2, 6, 10, …</a:t>
            </a:r>
          </a:p>
        </p:txBody>
      </p:sp>
      <p:sp>
        <p:nvSpPr>
          <p:cNvPr id="66639" name="Text Box 157">
            <a:extLst>
              <a:ext uri="{FF2B5EF4-FFF2-40B4-BE49-F238E27FC236}">
                <a16:creationId xmlns:a16="http://schemas.microsoft.com/office/drawing/2014/main" id="{0D2C62C6-6853-9746-8563-0B7BE7E9A610}"/>
              </a:ext>
            </a:extLst>
          </p:cNvPr>
          <p:cNvSpPr txBox="1">
            <a:spLocks noChangeArrowheads="1"/>
          </p:cNvSpPr>
          <p:nvPr/>
        </p:nvSpPr>
        <p:spPr bwMode="auto">
          <a:xfrm>
            <a:off x="7040563" y="2981325"/>
            <a:ext cx="1417637"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4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Registers for thread IDs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4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3, 7, 11, …</a:t>
            </a:r>
          </a:p>
        </p:txBody>
      </p:sp>
      <p:sp>
        <p:nvSpPr>
          <p:cNvPr id="66640" name="TextBox 161">
            <a:extLst>
              <a:ext uri="{FF2B5EF4-FFF2-40B4-BE49-F238E27FC236}">
                <a16:creationId xmlns:a16="http://schemas.microsoft.com/office/drawing/2014/main" id="{22D25BBB-3DFE-BB47-B64F-102B64ED1A94}"/>
              </a:ext>
            </a:extLst>
          </p:cNvPr>
          <p:cNvSpPr txBox="1">
            <a:spLocks noChangeArrowheads="1"/>
          </p:cNvSpPr>
          <p:nvPr/>
        </p:nvSpPr>
        <p:spPr bwMode="auto">
          <a:xfrm>
            <a:off x="152400" y="6535738"/>
            <a:ext cx="1738313"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Krste Asanovic</a:t>
            </a:r>
          </a:p>
        </p:txBody>
      </p:sp>
      <p:sp>
        <p:nvSpPr>
          <p:cNvPr id="66641" name="Rectangle 68">
            <a:extLst>
              <a:ext uri="{FF2B5EF4-FFF2-40B4-BE49-F238E27FC236}">
                <a16:creationId xmlns:a16="http://schemas.microsoft.com/office/drawing/2014/main" id="{307E2749-653C-AB41-AB1A-BB3A1225EAE0}"/>
              </a:ext>
            </a:extLst>
          </p:cNvPr>
          <p:cNvSpPr>
            <a:spLocks noChangeArrowheads="1"/>
          </p:cNvSpPr>
          <p:nvPr/>
        </p:nvSpPr>
        <p:spPr bwMode="auto">
          <a:xfrm>
            <a:off x="3124200" y="2819400"/>
            <a:ext cx="1524000" cy="10668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42" name="Rectangle 68">
            <a:extLst>
              <a:ext uri="{FF2B5EF4-FFF2-40B4-BE49-F238E27FC236}">
                <a16:creationId xmlns:a16="http://schemas.microsoft.com/office/drawing/2014/main" id="{D6A6D67B-8F9B-154B-BAE6-DE1E5F679854}"/>
              </a:ext>
            </a:extLst>
          </p:cNvPr>
          <p:cNvSpPr>
            <a:spLocks noChangeArrowheads="1"/>
          </p:cNvSpPr>
          <p:nvPr/>
        </p:nvSpPr>
        <p:spPr bwMode="auto">
          <a:xfrm>
            <a:off x="3200400" y="2819400"/>
            <a:ext cx="1524000" cy="10668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43" name="Rectangle 68">
            <a:extLst>
              <a:ext uri="{FF2B5EF4-FFF2-40B4-BE49-F238E27FC236}">
                <a16:creationId xmlns:a16="http://schemas.microsoft.com/office/drawing/2014/main" id="{DDBCA44E-8053-474B-B102-FFE9BFEA6F1B}"/>
              </a:ext>
            </a:extLst>
          </p:cNvPr>
          <p:cNvSpPr>
            <a:spLocks noChangeArrowheads="1"/>
          </p:cNvSpPr>
          <p:nvPr/>
        </p:nvSpPr>
        <p:spPr bwMode="auto">
          <a:xfrm>
            <a:off x="3276600" y="2819400"/>
            <a:ext cx="1524000" cy="10668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44" name="Rectangle 103">
            <a:extLst>
              <a:ext uri="{FF2B5EF4-FFF2-40B4-BE49-F238E27FC236}">
                <a16:creationId xmlns:a16="http://schemas.microsoft.com/office/drawing/2014/main" id="{1D50BEE0-E566-B040-80A6-6343ED44384D}"/>
              </a:ext>
            </a:extLst>
          </p:cNvPr>
          <p:cNvSpPr>
            <a:spLocks noChangeArrowheads="1"/>
          </p:cNvSpPr>
          <p:nvPr/>
        </p:nvSpPr>
        <p:spPr bwMode="auto">
          <a:xfrm>
            <a:off x="5029200" y="2819400"/>
            <a:ext cx="1524000" cy="10668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45" name="Rectangle 103">
            <a:extLst>
              <a:ext uri="{FF2B5EF4-FFF2-40B4-BE49-F238E27FC236}">
                <a16:creationId xmlns:a16="http://schemas.microsoft.com/office/drawing/2014/main" id="{B7580704-8329-9C4D-AFB1-3F3A814C797C}"/>
              </a:ext>
            </a:extLst>
          </p:cNvPr>
          <p:cNvSpPr>
            <a:spLocks noChangeArrowheads="1"/>
          </p:cNvSpPr>
          <p:nvPr/>
        </p:nvSpPr>
        <p:spPr bwMode="auto">
          <a:xfrm>
            <a:off x="5105400" y="2819400"/>
            <a:ext cx="1524000" cy="10668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46" name="Rectangle 103">
            <a:extLst>
              <a:ext uri="{FF2B5EF4-FFF2-40B4-BE49-F238E27FC236}">
                <a16:creationId xmlns:a16="http://schemas.microsoft.com/office/drawing/2014/main" id="{CE53C43B-6305-204F-A4BC-590F6E89B24B}"/>
              </a:ext>
            </a:extLst>
          </p:cNvPr>
          <p:cNvSpPr>
            <a:spLocks noChangeArrowheads="1"/>
          </p:cNvSpPr>
          <p:nvPr/>
        </p:nvSpPr>
        <p:spPr bwMode="auto">
          <a:xfrm>
            <a:off x="5181600" y="2819400"/>
            <a:ext cx="1524000" cy="10668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47" name="Rectangle 103">
            <a:extLst>
              <a:ext uri="{FF2B5EF4-FFF2-40B4-BE49-F238E27FC236}">
                <a16:creationId xmlns:a16="http://schemas.microsoft.com/office/drawing/2014/main" id="{7196F419-D504-4C46-8D33-304990ADF5B7}"/>
              </a:ext>
            </a:extLst>
          </p:cNvPr>
          <p:cNvSpPr>
            <a:spLocks noChangeArrowheads="1"/>
          </p:cNvSpPr>
          <p:nvPr/>
        </p:nvSpPr>
        <p:spPr bwMode="auto">
          <a:xfrm>
            <a:off x="6934200" y="2819400"/>
            <a:ext cx="1524000" cy="10668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48" name="Rectangle 103">
            <a:extLst>
              <a:ext uri="{FF2B5EF4-FFF2-40B4-BE49-F238E27FC236}">
                <a16:creationId xmlns:a16="http://schemas.microsoft.com/office/drawing/2014/main" id="{2A2E481F-6980-8440-8DC4-647670F671AC}"/>
              </a:ext>
            </a:extLst>
          </p:cNvPr>
          <p:cNvSpPr>
            <a:spLocks noChangeArrowheads="1"/>
          </p:cNvSpPr>
          <p:nvPr/>
        </p:nvSpPr>
        <p:spPr bwMode="auto">
          <a:xfrm>
            <a:off x="7010400" y="2819400"/>
            <a:ext cx="1524000" cy="10668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49" name="Rectangle 103">
            <a:extLst>
              <a:ext uri="{FF2B5EF4-FFF2-40B4-BE49-F238E27FC236}">
                <a16:creationId xmlns:a16="http://schemas.microsoft.com/office/drawing/2014/main" id="{2C20A078-DFDA-B746-86EF-AC28B9ADE11F}"/>
              </a:ext>
            </a:extLst>
          </p:cNvPr>
          <p:cNvSpPr>
            <a:spLocks noChangeArrowheads="1"/>
          </p:cNvSpPr>
          <p:nvPr/>
        </p:nvSpPr>
        <p:spPr bwMode="auto">
          <a:xfrm>
            <a:off x="7086600" y="2819400"/>
            <a:ext cx="1524000" cy="10668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50" name="Rectangle 33">
            <a:extLst>
              <a:ext uri="{FF2B5EF4-FFF2-40B4-BE49-F238E27FC236}">
                <a16:creationId xmlns:a16="http://schemas.microsoft.com/office/drawing/2014/main" id="{E507A526-C94F-554A-97C1-1AF2C9763B1B}"/>
              </a:ext>
            </a:extLst>
          </p:cNvPr>
          <p:cNvSpPr>
            <a:spLocks noChangeArrowheads="1"/>
          </p:cNvSpPr>
          <p:nvPr/>
        </p:nvSpPr>
        <p:spPr bwMode="auto">
          <a:xfrm>
            <a:off x="1219200" y="2819400"/>
            <a:ext cx="1524000" cy="10668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51" name="Rectangle 33">
            <a:extLst>
              <a:ext uri="{FF2B5EF4-FFF2-40B4-BE49-F238E27FC236}">
                <a16:creationId xmlns:a16="http://schemas.microsoft.com/office/drawing/2014/main" id="{77CE148D-DF03-0C41-85E2-1EA123C7CEAA}"/>
              </a:ext>
            </a:extLst>
          </p:cNvPr>
          <p:cNvSpPr>
            <a:spLocks noChangeArrowheads="1"/>
          </p:cNvSpPr>
          <p:nvPr/>
        </p:nvSpPr>
        <p:spPr bwMode="auto">
          <a:xfrm>
            <a:off x="1295400" y="2819400"/>
            <a:ext cx="1524000" cy="10668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52" name="Rectangle 33">
            <a:extLst>
              <a:ext uri="{FF2B5EF4-FFF2-40B4-BE49-F238E27FC236}">
                <a16:creationId xmlns:a16="http://schemas.microsoft.com/office/drawing/2014/main" id="{C2E478D2-5588-4C49-90AB-42637BB3F896}"/>
              </a:ext>
            </a:extLst>
          </p:cNvPr>
          <p:cNvSpPr>
            <a:spLocks noChangeArrowheads="1"/>
          </p:cNvSpPr>
          <p:nvPr/>
        </p:nvSpPr>
        <p:spPr bwMode="auto">
          <a:xfrm>
            <a:off x="1371600" y="2819400"/>
            <a:ext cx="1524000" cy="10668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653" name="Title 1">
            <a:extLst>
              <a:ext uri="{FF2B5EF4-FFF2-40B4-BE49-F238E27FC236}">
                <a16:creationId xmlns:a16="http://schemas.microsoft.com/office/drawing/2014/main" id="{E119534D-25BC-E04D-85AC-8F599AFF284A}"/>
              </a:ext>
            </a:extLst>
          </p:cNvPr>
          <p:cNvSpPr txBox="1">
            <a:spLocks/>
          </p:cNvSpPr>
          <p:nvPr/>
        </p:nvSpPr>
        <p:spPr bwMode="auto">
          <a:xfrm>
            <a:off x="304800" y="152400"/>
            <a:ext cx="8610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4000" b="0" i="0" u="none" strike="noStrike" kern="1200" cap="none" spc="0" normalizeH="0" baseline="0" noProof="0">
                <a:ln>
                  <a:noFill/>
                </a:ln>
                <a:solidFill>
                  <a:srgbClr val="006633"/>
                </a:solidFill>
                <a:effectLst/>
                <a:uLnTx/>
                <a:uFillTx/>
                <a:latin typeface="Garamond" panose="02020404030301010803" pitchFamily="18" charset="0"/>
                <a:ea typeface="ＭＳ Ｐゴシック" panose="020B0600070205080204" pitchFamily="34" charset="-128"/>
                <a:cs typeface="+mn-cs"/>
              </a:rPr>
              <a:t>SIMD Execution Unit Structure</a:t>
            </a:r>
          </a:p>
        </p:txBody>
      </p:sp>
    </p:spTree>
    <p:extLst>
      <p:ext uri="{BB962C8B-B14F-4D97-AF65-F5344CB8AC3E}">
        <p14:creationId xmlns:p14="http://schemas.microsoft.com/office/powerpoint/2010/main" val="1699147046"/>
      </p:ext>
    </p:extLst>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contenido 2"/>
          <p:cNvSpPr>
            <a:spLocks noGrp="1"/>
          </p:cNvSpPr>
          <p:nvPr>
            <p:ph idx="1"/>
          </p:nvPr>
        </p:nvSpPr>
        <p:spPr>
          <a:xfrm>
            <a:off x="251520" y="908720"/>
            <a:ext cx="8568952" cy="5472608"/>
          </a:xfrm>
        </p:spPr>
        <p:txBody>
          <a:bodyPr/>
          <a:lstStyle/>
          <a:p>
            <a:r>
              <a:rPr lang="en-US" dirty="0">
                <a:cs typeface="Verdana"/>
              </a:rPr>
              <a:t>CPU threads and GPU kernels</a:t>
            </a:r>
          </a:p>
          <a:p>
            <a:pPr lvl="1"/>
            <a:r>
              <a:rPr lang="en-US" dirty="0">
                <a:solidFill>
                  <a:srgbClr val="0000FF"/>
                </a:solidFill>
                <a:cs typeface="Verdana"/>
              </a:rPr>
              <a:t>Sequential or modestly parallel</a:t>
            </a:r>
            <a:r>
              <a:rPr lang="en-US" dirty="0">
                <a:cs typeface="Verdana"/>
              </a:rPr>
              <a:t> sections on CPU</a:t>
            </a:r>
          </a:p>
          <a:p>
            <a:pPr lvl="1"/>
            <a:r>
              <a:rPr lang="en-US" dirty="0">
                <a:solidFill>
                  <a:srgbClr val="0000FF"/>
                </a:solidFill>
                <a:cs typeface="Verdana"/>
              </a:rPr>
              <a:t>Massively parallel</a:t>
            </a:r>
            <a:r>
              <a:rPr lang="en-US" dirty="0">
                <a:cs typeface="Verdana"/>
              </a:rPr>
              <a:t> sections on GPU: </a:t>
            </a:r>
            <a:r>
              <a:rPr lang="en-US" dirty="0">
                <a:solidFill>
                  <a:srgbClr val="00B050"/>
                </a:solidFill>
                <a:cs typeface="Verdana"/>
              </a:rPr>
              <a:t>Blocks of threads</a:t>
            </a:r>
          </a:p>
        </p:txBody>
      </p:sp>
      <p:sp>
        <p:nvSpPr>
          <p:cNvPr id="11" name="Text Box 4"/>
          <p:cNvSpPr txBox="1">
            <a:spLocks noChangeArrowheads="1"/>
          </p:cNvSpPr>
          <p:nvPr/>
        </p:nvSpPr>
        <p:spPr bwMode="auto">
          <a:xfrm>
            <a:off x="1152159" y="2448837"/>
            <a:ext cx="2262188" cy="329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lIns="90000" tIns="46800" rIns="90000" bIns="46800">
            <a:spAutoFit/>
          </a:bodyPr>
          <a:lstStyle>
            <a:lvl1pPr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1pPr>
            <a:lvl2pPr marL="37931725" indent="-37474525"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5pPr>
            <a:lvl6pPr marL="4572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6pPr>
            <a:lvl7pPr marL="9144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7pPr>
            <a:lvl8pPr marL="13716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8pPr>
            <a:lvl9pPr marL="18288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9pPr>
          </a:lstStyle>
          <a:p>
            <a:pPr algn="ctr">
              <a:lnSpc>
                <a:spcPct val="85000"/>
              </a:lnSpc>
              <a:spcBef>
                <a:spcPts val="225"/>
              </a:spcBef>
              <a:buClr>
                <a:srgbClr val="3333CC"/>
              </a:buClr>
              <a:buSzPct val="100000"/>
              <a:buFont typeface="Arial" charset="0"/>
              <a:buNone/>
            </a:pPr>
            <a:r>
              <a:rPr lang="en-US" b="1" dirty="0">
                <a:solidFill>
                  <a:srgbClr val="3333CC"/>
                </a:solidFill>
                <a:latin typeface="Arial" charset="0"/>
                <a:ea typeface="ＭＳ Ｐゴシック" charset="0"/>
                <a:cs typeface="ＭＳ Ｐゴシック" charset="0"/>
              </a:rPr>
              <a:t>Serial Code (host)</a:t>
            </a:r>
          </a:p>
        </p:txBody>
      </p:sp>
      <p:grpSp>
        <p:nvGrpSpPr>
          <p:cNvPr id="12" name="Group 5"/>
          <p:cNvGrpSpPr>
            <a:grpSpLocks noChangeAspect="1"/>
          </p:cNvGrpSpPr>
          <p:nvPr/>
        </p:nvGrpSpPr>
        <p:grpSpPr bwMode="auto">
          <a:xfrm>
            <a:off x="4345686" y="3074195"/>
            <a:ext cx="4536000" cy="964405"/>
            <a:chOff x="2817" y="2296"/>
            <a:chExt cx="2474" cy="526"/>
          </a:xfrm>
        </p:grpSpPr>
        <p:sp>
          <p:nvSpPr>
            <p:cNvPr id="13" name="Rectangle 6"/>
            <p:cNvSpPr>
              <a:spLocks noChangeArrowheads="1"/>
            </p:cNvSpPr>
            <p:nvPr/>
          </p:nvSpPr>
          <p:spPr bwMode="auto">
            <a:xfrm>
              <a:off x="2817" y="2296"/>
              <a:ext cx="2474" cy="526"/>
            </a:xfrm>
            <a:prstGeom prst="rect">
              <a:avLst/>
            </a:prstGeom>
            <a:noFill/>
            <a:ln w="28440">
              <a:solidFill>
                <a:srgbClr val="00CC00"/>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14" name="Text Box 7"/>
            <p:cNvSpPr txBox="1">
              <a:spLocks noChangeArrowheads="1"/>
            </p:cNvSpPr>
            <p:nvPr/>
          </p:nvSpPr>
          <p:spPr bwMode="auto">
            <a:xfrm>
              <a:off x="4431" y="2498"/>
              <a:ext cx="316" cy="23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lIns="90000" tIns="46800" rIns="90000" bIns="46800">
              <a:spAutoFit/>
            </a:bodyPr>
            <a:lstStyle>
              <a:lvl1pPr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1pPr>
              <a:lvl2pPr marL="37931725" indent="-37474525"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5pPr>
              <a:lvl6pPr marL="4572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6pPr>
              <a:lvl7pPr marL="9144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7pPr>
              <a:lvl8pPr marL="13716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8pPr>
              <a:lvl9pPr marL="18288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9pPr>
            </a:lstStyle>
            <a:p>
              <a:pPr algn="ctr">
                <a:buClr>
                  <a:srgbClr val="000000"/>
                </a:buClr>
                <a:buSzPct val="100000"/>
                <a:buFont typeface="Arial" charset="0"/>
                <a:buNone/>
              </a:pPr>
              <a:r>
                <a:rPr lang="en-US" b="1" dirty="0">
                  <a:solidFill>
                    <a:srgbClr val="000000"/>
                  </a:solidFill>
                  <a:latin typeface="Arial" charset="0"/>
                  <a:ea typeface="ＭＳ Ｐゴシック" charset="0"/>
                  <a:cs typeface="ＭＳ Ｐゴシック" charset="0"/>
                </a:rPr>
                <a:t>. . .</a:t>
              </a:r>
            </a:p>
          </p:txBody>
        </p:sp>
        <p:grpSp>
          <p:nvGrpSpPr>
            <p:cNvPr id="15" name="Group 8"/>
            <p:cNvGrpSpPr>
              <a:grpSpLocks/>
            </p:cNvGrpSpPr>
            <p:nvPr/>
          </p:nvGrpSpPr>
          <p:grpSpPr bwMode="auto">
            <a:xfrm>
              <a:off x="2872" y="2339"/>
              <a:ext cx="489" cy="440"/>
              <a:chOff x="2872" y="2339"/>
              <a:chExt cx="489" cy="440"/>
            </a:xfrm>
          </p:grpSpPr>
          <p:sp>
            <p:nvSpPr>
              <p:cNvPr id="58" name="Text Box 9"/>
              <p:cNvSpPr txBox="1">
                <a:spLocks noChangeArrowheads="1"/>
              </p:cNvSpPr>
              <p:nvPr/>
            </p:nvSpPr>
            <p:spPr bwMode="auto">
              <a:xfrm>
                <a:off x="2872" y="2339"/>
                <a:ext cx="490" cy="441"/>
              </a:xfrm>
              <a:prstGeom prst="rect">
                <a:avLst/>
              </a:prstGeom>
              <a:noFill/>
              <a:ln w="19080">
                <a:solidFill>
                  <a:srgbClr val="00CC00"/>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a:defRPr>
                    <a:solidFill>
                      <a:schemeClr val="tx1"/>
                    </a:solidFill>
                    <a:latin typeface="Calibri" charset="0"/>
                    <a:ea typeface="ヒラギノ角ゴ Pro W3" charset="0"/>
                    <a:cs typeface="ヒラギノ角ゴ Pro W3" charset="0"/>
                  </a:defRPr>
                </a:lvl1pPr>
                <a:lvl2pPr marL="37931725" indent="-37474525">
                  <a:defRPr>
                    <a:solidFill>
                      <a:schemeClr val="tx1"/>
                    </a:solidFill>
                    <a:latin typeface="Calibri" charset="0"/>
                    <a:ea typeface="ヒラギノ角ゴ Pro W3" charset="0"/>
                    <a:cs typeface="ヒラギノ角ゴ Pro W3" charset="0"/>
                  </a:defRPr>
                </a:lvl2pPr>
                <a:lvl3pPr>
                  <a:defRPr>
                    <a:solidFill>
                      <a:schemeClr val="tx1"/>
                    </a:solidFill>
                    <a:latin typeface="Calibri" charset="0"/>
                    <a:ea typeface="ヒラギノ角ゴ Pro W3" charset="0"/>
                    <a:cs typeface="ヒラギノ角ゴ Pro W3" charset="0"/>
                  </a:defRPr>
                </a:lvl3pPr>
                <a:lvl4pPr>
                  <a:defRPr>
                    <a:solidFill>
                      <a:schemeClr val="tx1"/>
                    </a:solidFill>
                    <a:latin typeface="Calibri" charset="0"/>
                    <a:ea typeface="ヒラギノ角ゴ Pro W3" charset="0"/>
                    <a:cs typeface="ヒラギノ角ゴ Pro W3" charset="0"/>
                  </a:defRPr>
                </a:lvl4pPr>
                <a:lvl5pPr>
                  <a:defRPr>
                    <a:solidFill>
                      <a:schemeClr val="tx1"/>
                    </a:solidFill>
                    <a:latin typeface="Calibri" charset="0"/>
                    <a:ea typeface="ヒラギノ角ゴ Pro W3" charset="0"/>
                    <a:cs typeface="ヒラギノ角ゴ Pro W3" charset="0"/>
                  </a:defRPr>
                </a:lvl5pPr>
                <a:lvl6pPr marL="457200" fontAlgn="base">
                  <a:spcBef>
                    <a:spcPct val="0"/>
                  </a:spcBef>
                  <a:spcAft>
                    <a:spcPct val="0"/>
                  </a:spcAft>
                  <a:defRPr>
                    <a:solidFill>
                      <a:schemeClr val="tx1"/>
                    </a:solidFill>
                    <a:latin typeface="Calibri" charset="0"/>
                    <a:ea typeface="ヒラギノ角ゴ Pro W3" charset="0"/>
                    <a:cs typeface="ヒラギノ角ゴ Pro W3" charset="0"/>
                  </a:defRPr>
                </a:lvl6pPr>
                <a:lvl7pPr marL="914400" fontAlgn="base">
                  <a:spcBef>
                    <a:spcPct val="0"/>
                  </a:spcBef>
                  <a:spcAft>
                    <a:spcPct val="0"/>
                  </a:spcAft>
                  <a:defRPr>
                    <a:solidFill>
                      <a:schemeClr val="tx1"/>
                    </a:solidFill>
                    <a:latin typeface="Calibri" charset="0"/>
                    <a:ea typeface="ヒラギノ角ゴ Pro W3" charset="0"/>
                    <a:cs typeface="ヒラギノ角ゴ Pro W3" charset="0"/>
                  </a:defRPr>
                </a:lvl7pPr>
                <a:lvl8pPr marL="1371600" fontAlgn="base">
                  <a:spcBef>
                    <a:spcPct val="0"/>
                  </a:spcBef>
                  <a:spcAft>
                    <a:spcPct val="0"/>
                  </a:spcAft>
                  <a:defRPr>
                    <a:solidFill>
                      <a:schemeClr val="tx1"/>
                    </a:solidFill>
                    <a:latin typeface="Calibri" charset="0"/>
                    <a:ea typeface="ヒラギノ角ゴ Pro W3" charset="0"/>
                    <a:cs typeface="ヒラギノ角ゴ Pro W3" charset="0"/>
                  </a:defRPr>
                </a:lvl8pPr>
                <a:lvl9pPr marL="1828800" fontAlgn="base">
                  <a:spcBef>
                    <a:spcPct val="0"/>
                  </a:spcBef>
                  <a:spcAft>
                    <a:spcPct val="0"/>
                  </a:spcAft>
                  <a:defRPr>
                    <a:solidFill>
                      <a:schemeClr val="tx1"/>
                    </a:solidFill>
                    <a:latin typeface="Calibri" charset="0"/>
                    <a:ea typeface="ヒラギノ角ゴ Pro W3" charset="0"/>
                    <a:cs typeface="ヒラギノ角ゴ Pro W3" charset="0"/>
                  </a:defRPr>
                </a:lvl9pPr>
              </a:lstStyle>
              <a:p>
                <a:endParaRPr lang="en-US"/>
              </a:p>
            </p:txBody>
          </p:sp>
          <p:grpSp>
            <p:nvGrpSpPr>
              <p:cNvPr id="59" name="Group 10"/>
              <p:cNvGrpSpPr>
                <a:grpSpLocks/>
              </p:cNvGrpSpPr>
              <p:nvPr/>
            </p:nvGrpSpPr>
            <p:grpSpPr bwMode="auto">
              <a:xfrm>
                <a:off x="2920" y="2393"/>
                <a:ext cx="392" cy="332"/>
                <a:chOff x="2920" y="2393"/>
                <a:chExt cx="392" cy="332"/>
              </a:xfrm>
            </p:grpSpPr>
            <p:sp>
              <p:nvSpPr>
                <p:cNvPr id="60" name="Freeform 11"/>
                <p:cNvSpPr>
                  <a:spLocks/>
                </p:cNvSpPr>
                <p:nvPr/>
              </p:nvSpPr>
              <p:spPr bwMode="auto">
                <a:xfrm>
                  <a:off x="2920" y="2393"/>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61" name="Freeform 12"/>
                <p:cNvSpPr>
                  <a:spLocks/>
                </p:cNvSpPr>
                <p:nvPr/>
              </p:nvSpPr>
              <p:spPr bwMode="auto">
                <a:xfrm>
                  <a:off x="2955" y="2393"/>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62" name="Freeform 13"/>
                <p:cNvSpPr>
                  <a:spLocks/>
                </p:cNvSpPr>
                <p:nvPr/>
              </p:nvSpPr>
              <p:spPr bwMode="auto">
                <a:xfrm>
                  <a:off x="2986" y="2393"/>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63" name="Freeform 14"/>
                <p:cNvSpPr>
                  <a:spLocks/>
                </p:cNvSpPr>
                <p:nvPr/>
              </p:nvSpPr>
              <p:spPr bwMode="auto">
                <a:xfrm>
                  <a:off x="3019" y="2393"/>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64" name="Freeform 15"/>
                <p:cNvSpPr>
                  <a:spLocks/>
                </p:cNvSpPr>
                <p:nvPr/>
              </p:nvSpPr>
              <p:spPr bwMode="auto">
                <a:xfrm>
                  <a:off x="3050"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65" name="Freeform 16"/>
                <p:cNvSpPr>
                  <a:spLocks/>
                </p:cNvSpPr>
                <p:nvPr/>
              </p:nvSpPr>
              <p:spPr bwMode="auto">
                <a:xfrm>
                  <a:off x="3083"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66" name="Freeform 17"/>
                <p:cNvSpPr>
                  <a:spLocks/>
                </p:cNvSpPr>
                <p:nvPr/>
              </p:nvSpPr>
              <p:spPr bwMode="auto">
                <a:xfrm>
                  <a:off x="3114"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67" name="Freeform 18"/>
                <p:cNvSpPr>
                  <a:spLocks/>
                </p:cNvSpPr>
                <p:nvPr/>
              </p:nvSpPr>
              <p:spPr bwMode="auto">
                <a:xfrm>
                  <a:off x="3146"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68" name="Freeform 19"/>
                <p:cNvSpPr>
                  <a:spLocks/>
                </p:cNvSpPr>
                <p:nvPr/>
              </p:nvSpPr>
              <p:spPr bwMode="auto">
                <a:xfrm>
                  <a:off x="3178"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69" name="Freeform 20"/>
                <p:cNvSpPr>
                  <a:spLocks/>
                </p:cNvSpPr>
                <p:nvPr/>
              </p:nvSpPr>
              <p:spPr bwMode="auto">
                <a:xfrm>
                  <a:off x="3210"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70" name="Freeform 21"/>
                <p:cNvSpPr>
                  <a:spLocks/>
                </p:cNvSpPr>
                <p:nvPr/>
              </p:nvSpPr>
              <p:spPr bwMode="auto">
                <a:xfrm>
                  <a:off x="3242"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grpSp>
        </p:grpSp>
        <p:grpSp>
          <p:nvGrpSpPr>
            <p:cNvPr id="16" name="Group 22"/>
            <p:cNvGrpSpPr>
              <a:grpSpLocks/>
            </p:cNvGrpSpPr>
            <p:nvPr/>
          </p:nvGrpSpPr>
          <p:grpSpPr bwMode="auto">
            <a:xfrm>
              <a:off x="3406" y="2339"/>
              <a:ext cx="489" cy="440"/>
              <a:chOff x="3406" y="2339"/>
              <a:chExt cx="489" cy="440"/>
            </a:xfrm>
          </p:grpSpPr>
          <p:sp>
            <p:nvSpPr>
              <p:cNvPr id="45" name="Text Box 23"/>
              <p:cNvSpPr txBox="1">
                <a:spLocks noChangeArrowheads="1"/>
              </p:cNvSpPr>
              <p:nvPr/>
            </p:nvSpPr>
            <p:spPr bwMode="auto">
              <a:xfrm>
                <a:off x="3406" y="2339"/>
                <a:ext cx="490" cy="441"/>
              </a:xfrm>
              <a:prstGeom prst="rect">
                <a:avLst/>
              </a:prstGeom>
              <a:noFill/>
              <a:ln w="19080">
                <a:solidFill>
                  <a:srgbClr val="00CC00"/>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a:defRPr>
                    <a:solidFill>
                      <a:schemeClr val="tx1"/>
                    </a:solidFill>
                    <a:latin typeface="Calibri" charset="0"/>
                    <a:ea typeface="ヒラギノ角ゴ Pro W3" charset="0"/>
                    <a:cs typeface="ヒラギノ角ゴ Pro W3" charset="0"/>
                  </a:defRPr>
                </a:lvl1pPr>
                <a:lvl2pPr marL="37931725" indent="-37474525">
                  <a:defRPr>
                    <a:solidFill>
                      <a:schemeClr val="tx1"/>
                    </a:solidFill>
                    <a:latin typeface="Calibri" charset="0"/>
                    <a:ea typeface="ヒラギノ角ゴ Pro W3" charset="0"/>
                    <a:cs typeface="ヒラギノ角ゴ Pro W3" charset="0"/>
                  </a:defRPr>
                </a:lvl2pPr>
                <a:lvl3pPr>
                  <a:defRPr>
                    <a:solidFill>
                      <a:schemeClr val="tx1"/>
                    </a:solidFill>
                    <a:latin typeface="Calibri" charset="0"/>
                    <a:ea typeface="ヒラギノ角ゴ Pro W3" charset="0"/>
                    <a:cs typeface="ヒラギノ角ゴ Pro W3" charset="0"/>
                  </a:defRPr>
                </a:lvl3pPr>
                <a:lvl4pPr>
                  <a:defRPr>
                    <a:solidFill>
                      <a:schemeClr val="tx1"/>
                    </a:solidFill>
                    <a:latin typeface="Calibri" charset="0"/>
                    <a:ea typeface="ヒラギノ角ゴ Pro W3" charset="0"/>
                    <a:cs typeface="ヒラギノ角ゴ Pro W3" charset="0"/>
                  </a:defRPr>
                </a:lvl4pPr>
                <a:lvl5pPr>
                  <a:defRPr>
                    <a:solidFill>
                      <a:schemeClr val="tx1"/>
                    </a:solidFill>
                    <a:latin typeface="Calibri" charset="0"/>
                    <a:ea typeface="ヒラギノ角ゴ Pro W3" charset="0"/>
                    <a:cs typeface="ヒラギノ角ゴ Pro W3" charset="0"/>
                  </a:defRPr>
                </a:lvl5pPr>
                <a:lvl6pPr marL="457200" fontAlgn="base">
                  <a:spcBef>
                    <a:spcPct val="0"/>
                  </a:spcBef>
                  <a:spcAft>
                    <a:spcPct val="0"/>
                  </a:spcAft>
                  <a:defRPr>
                    <a:solidFill>
                      <a:schemeClr val="tx1"/>
                    </a:solidFill>
                    <a:latin typeface="Calibri" charset="0"/>
                    <a:ea typeface="ヒラギノ角ゴ Pro W3" charset="0"/>
                    <a:cs typeface="ヒラギノ角ゴ Pro W3" charset="0"/>
                  </a:defRPr>
                </a:lvl6pPr>
                <a:lvl7pPr marL="914400" fontAlgn="base">
                  <a:spcBef>
                    <a:spcPct val="0"/>
                  </a:spcBef>
                  <a:spcAft>
                    <a:spcPct val="0"/>
                  </a:spcAft>
                  <a:defRPr>
                    <a:solidFill>
                      <a:schemeClr val="tx1"/>
                    </a:solidFill>
                    <a:latin typeface="Calibri" charset="0"/>
                    <a:ea typeface="ヒラギノ角ゴ Pro W3" charset="0"/>
                    <a:cs typeface="ヒラギノ角ゴ Pro W3" charset="0"/>
                  </a:defRPr>
                </a:lvl7pPr>
                <a:lvl8pPr marL="1371600" fontAlgn="base">
                  <a:spcBef>
                    <a:spcPct val="0"/>
                  </a:spcBef>
                  <a:spcAft>
                    <a:spcPct val="0"/>
                  </a:spcAft>
                  <a:defRPr>
                    <a:solidFill>
                      <a:schemeClr val="tx1"/>
                    </a:solidFill>
                    <a:latin typeface="Calibri" charset="0"/>
                    <a:ea typeface="ヒラギノ角ゴ Pro W3" charset="0"/>
                    <a:cs typeface="ヒラギノ角ゴ Pro W3" charset="0"/>
                  </a:defRPr>
                </a:lvl8pPr>
                <a:lvl9pPr marL="1828800" fontAlgn="base">
                  <a:spcBef>
                    <a:spcPct val="0"/>
                  </a:spcBef>
                  <a:spcAft>
                    <a:spcPct val="0"/>
                  </a:spcAft>
                  <a:defRPr>
                    <a:solidFill>
                      <a:schemeClr val="tx1"/>
                    </a:solidFill>
                    <a:latin typeface="Calibri" charset="0"/>
                    <a:ea typeface="ヒラギノ角ゴ Pro W3" charset="0"/>
                    <a:cs typeface="ヒラギノ角ゴ Pro W3" charset="0"/>
                  </a:defRPr>
                </a:lvl9pPr>
              </a:lstStyle>
              <a:p>
                <a:endParaRPr lang="en-US"/>
              </a:p>
            </p:txBody>
          </p:sp>
          <p:grpSp>
            <p:nvGrpSpPr>
              <p:cNvPr id="46" name="Group 24"/>
              <p:cNvGrpSpPr>
                <a:grpSpLocks/>
              </p:cNvGrpSpPr>
              <p:nvPr/>
            </p:nvGrpSpPr>
            <p:grpSpPr bwMode="auto">
              <a:xfrm>
                <a:off x="3454" y="2393"/>
                <a:ext cx="392" cy="332"/>
                <a:chOff x="3454" y="2393"/>
                <a:chExt cx="392" cy="332"/>
              </a:xfrm>
            </p:grpSpPr>
            <p:sp>
              <p:nvSpPr>
                <p:cNvPr id="47" name="Freeform 25"/>
                <p:cNvSpPr>
                  <a:spLocks/>
                </p:cNvSpPr>
                <p:nvPr/>
              </p:nvSpPr>
              <p:spPr bwMode="auto">
                <a:xfrm>
                  <a:off x="3454" y="2393"/>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48" name="Freeform 26"/>
                <p:cNvSpPr>
                  <a:spLocks/>
                </p:cNvSpPr>
                <p:nvPr/>
              </p:nvSpPr>
              <p:spPr bwMode="auto">
                <a:xfrm>
                  <a:off x="3489" y="2393"/>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49" name="Freeform 27"/>
                <p:cNvSpPr>
                  <a:spLocks/>
                </p:cNvSpPr>
                <p:nvPr/>
              </p:nvSpPr>
              <p:spPr bwMode="auto">
                <a:xfrm>
                  <a:off x="3520" y="2393"/>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50" name="Freeform 28"/>
                <p:cNvSpPr>
                  <a:spLocks/>
                </p:cNvSpPr>
                <p:nvPr/>
              </p:nvSpPr>
              <p:spPr bwMode="auto">
                <a:xfrm>
                  <a:off x="3553" y="2393"/>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51" name="Freeform 29"/>
                <p:cNvSpPr>
                  <a:spLocks/>
                </p:cNvSpPr>
                <p:nvPr/>
              </p:nvSpPr>
              <p:spPr bwMode="auto">
                <a:xfrm>
                  <a:off x="3584"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52" name="Freeform 30"/>
                <p:cNvSpPr>
                  <a:spLocks/>
                </p:cNvSpPr>
                <p:nvPr/>
              </p:nvSpPr>
              <p:spPr bwMode="auto">
                <a:xfrm>
                  <a:off x="3617"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53" name="Freeform 31"/>
                <p:cNvSpPr>
                  <a:spLocks/>
                </p:cNvSpPr>
                <p:nvPr/>
              </p:nvSpPr>
              <p:spPr bwMode="auto">
                <a:xfrm>
                  <a:off x="3648"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54" name="Freeform 32"/>
                <p:cNvSpPr>
                  <a:spLocks/>
                </p:cNvSpPr>
                <p:nvPr/>
              </p:nvSpPr>
              <p:spPr bwMode="auto">
                <a:xfrm>
                  <a:off x="3680"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55" name="Freeform 33"/>
                <p:cNvSpPr>
                  <a:spLocks/>
                </p:cNvSpPr>
                <p:nvPr/>
              </p:nvSpPr>
              <p:spPr bwMode="auto">
                <a:xfrm>
                  <a:off x="3712"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56" name="Freeform 34"/>
                <p:cNvSpPr>
                  <a:spLocks/>
                </p:cNvSpPr>
                <p:nvPr/>
              </p:nvSpPr>
              <p:spPr bwMode="auto">
                <a:xfrm>
                  <a:off x="3744"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57" name="Freeform 35"/>
                <p:cNvSpPr>
                  <a:spLocks/>
                </p:cNvSpPr>
                <p:nvPr/>
              </p:nvSpPr>
              <p:spPr bwMode="auto">
                <a:xfrm>
                  <a:off x="3776"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grpSp>
        </p:grpSp>
        <p:grpSp>
          <p:nvGrpSpPr>
            <p:cNvPr id="17" name="Group 36"/>
            <p:cNvGrpSpPr>
              <a:grpSpLocks/>
            </p:cNvGrpSpPr>
            <p:nvPr/>
          </p:nvGrpSpPr>
          <p:grpSpPr bwMode="auto">
            <a:xfrm>
              <a:off x="4746" y="2339"/>
              <a:ext cx="489" cy="440"/>
              <a:chOff x="4746" y="2339"/>
              <a:chExt cx="489" cy="440"/>
            </a:xfrm>
          </p:grpSpPr>
          <p:sp>
            <p:nvSpPr>
              <p:cNvPr id="32" name="Text Box 37"/>
              <p:cNvSpPr txBox="1">
                <a:spLocks noChangeArrowheads="1"/>
              </p:cNvSpPr>
              <p:nvPr/>
            </p:nvSpPr>
            <p:spPr bwMode="auto">
              <a:xfrm>
                <a:off x="4746" y="2339"/>
                <a:ext cx="490" cy="441"/>
              </a:xfrm>
              <a:prstGeom prst="rect">
                <a:avLst/>
              </a:prstGeom>
              <a:noFill/>
              <a:ln w="19080">
                <a:solidFill>
                  <a:srgbClr val="00CC00"/>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a:defRPr>
                    <a:solidFill>
                      <a:schemeClr val="tx1"/>
                    </a:solidFill>
                    <a:latin typeface="Calibri" charset="0"/>
                    <a:ea typeface="ヒラギノ角ゴ Pro W3" charset="0"/>
                    <a:cs typeface="ヒラギノ角ゴ Pro W3" charset="0"/>
                  </a:defRPr>
                </a:lvl1pPr>
                <a:lvl2pPr marL="37931725" indent="-37474525">
                  <a:defRPr>
                    <a:solidFill>
                      <a:schemeClr val="tx1"/>
                    </a:solidFill>
                    <a:latin typeface="Calibri" charset="0"/>
                    <a:ea typeface="ヒラギノ角ゴ Pro W3" charset="0"/>
                    <a:cs typeface="ヒラギノ角ゴ Pro W3" charset="0"/>
                  </a:defRPr>
                </a:lvl2pPr>
                <a:lvl3pPr>
                  <a:defRPr>
                    <a:solidFill>
                      <a:schemeClr val="tx1"/>
                    </a:solidFill>
                    <a:latin typeface="Calibri" charset="0"/>
                    <a:ea typeface="ヒラギノ角ゴ Pro W3" charset="0"/>
                    <a:cs typeface="ヒラギノ角ゴ Pro W3" charset="0"/>
                  </a:defRPr>
                </a:lvl3pPr>
                <a:lvl4pPr>
                  <a:defRPr>
                    <a:solidFill>
                      <a:schemeClr val="tx1"/>
                    </a:solidFill>
                    <a:latin typeface="Calibri" charset="0"/>
                    <a:ea typeface="ヒラギノ角ゴ Pro W3" charset="0"/>
                    <a:cs typeface="ヒラギノ角ゴ Pro W3" charset="0"/>
                  </a:defRPr>
                </a:lvl4pPr>
                <a:lvl5pPr>
                  <a:defRPr>
                    <a:solidFill>
                      <a:schemeClr val="tx1"/>
                    </a:solidFill>
                    <a:latin typeface="Calibri" charset="0"/>
                    <a:ea typeface="ヒラギノ角ゴ Pro W3" charset="0"/>
                    <a:cs typeface="ヒラギノ角ゴ Pro W3" charset="0"/>
                  </a:defRPr>
                </a:lvl5pPr>
                <a:lvl6pPr marL="457200" fontAlgn="base">
                  <a:spcBef>
                    <a:spcPct val="0"/>
                  </a:spcBef>
                  <a:spcAft>
                    <a:spcPct val="0"/>
                  </a:spcAft>
                  <a:defRPr>
                    <a:solidFill>
                      <a:schemeClr val="tx1"/>
                    </a:solidFill>
                    <a:latin typeface="Calibri" charset="0"/>
                    <a:ea typeface="ヒラギノ角ゴ Pro W3" charset="0"/>
                    <a:cs typeface="ヒラギノ角ゴ Pro W3" charset="0"/>
                  </a:defRPr>
                </a:lvl6pPr>
                <a:lvl7pPr marL="914400" fontAlgn="base">
                  <a:spcBef>
                    <a:spcPct val="0"/>
                  </a:spcBef>
                  <a:spcAft>
                    <a:spcPct val="0"/>
                  </a:spcAft>
                  <a:defRPr>
                    <a:solidFill>
                      <a:schemeClr val="tx1"/>
                    </a:solidFill>
                    <a:latin typeface="Calibri" charset="0"/>
                    <a:ea typeface="ヒラギノ角ゴ Pro W3" charset="0"/>
                    <a:cs typeface="ヒラギノ角ゴ Pro W3" charset="0"/>
                  </a:defRPr>
                </a:lvl7pPr>
                <a:lvl8pPr marL="1371600" fontAlgn="base">
                  <a:spcBef>
                    <a:spcPct val="0"/>
                  </a:spcBef>
                  <a:spcAft>
                    <a:spcPct val="0"/>
                  </a:spcAft>
                  <a:defRPr>
                    <a:solidFill>
                      <a:schemeClr val="tx1"/>
                    </a:solidFill>
                    <a:latin typeface="Calibri" charset="0"/>
                    <a:ea typeface="ヒラギノ角ゴ Pro W3" charset="0"/>
                    <a:cs typeface="ヒラギノ角ゴ Pro W3" charset="0"/>
                  </a:defRPr>
                </a:lvl8pPr>
                <a:lvl9pPr marL="1828800" fontAlgn="base">
                  <a:spcBef>
                    <a:spcPct val="0"/>
                  </a:spcBef>
                  <a:spcAft>
                    <a:spcPct val="0"/>
                  </a:spcAft>
                  <a:defRPr>
                    <a:solidFill>
                      <a:schemeClr val="tx1"/>
                    </a:solidFill>
                    <a:latin typeface="Calibri" charset="0"/>
                    <a:ea typeface="ヒラギノ角ゴ Pro W3" charset="0"/>
                    <a:cs typeface="ヒラギノ角ゴ Pro W3" charset="0"/>
                  </a:defRPr>
                </a:lvl9pPr>
              </a:lstStyle>
              <a:p>
                <a:endParaRPr lang="en-US"/>
              </a:p>
            </p:txBody>
          </p:sp>
          <p:grpSp>
            <p:nvGrpSpPr>
              <p:cNvPr id="33" name="Group 38"/>
              <p:cNvGrpSpPr>
                <a:grpSpLocks/>
              </p:cNvGrpSpPr>
              <p:nvPr/>
            </p:nvGrpSpPr>
            <p:grpSpPr bwMode="auto">
              <a:xfrm>
                <a:off x="4794" y="2393"/>
                <a:ext cx="392" cy="332"/>
                <a:chOff x="4794" y="2393"/>
                <a:chExt cx="392" cy="332"/>
              </a:xfrm>
            </p:grpSpPr>
            <p:sp>
              <p:nvSpPr>
                <p:cNvPr id="34" name="Freeform 39"/>
                <p:cNvSpPr>
                  <a:spLocks/>
                </p:cNvSpPr>
                <p:nvPr/>
              </p:nvSpPr>
              <p:spPr bwMode="auto">
                <a:xfrm>
                  <a:off x="4794" y="2393"/>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5" name="Freeform 40"/>
                <p:cNvSpPr>
                  <a:spLocks/>
                </p:cNvSpPr>
                <p:nvPr/>
              </p:nvSpPr>
              <p:spPr bwMode="auto">
                <a:xfrm>
                  <a:off x="4829" y="2393"/>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6" name="Freeform 41"/>
                <p:cNvSpPr>
                  <a:spLocks/>
                </p:cNvSpPr>
                <p:nvPr/>
              </p:nvSpPr>
              <p:spPr bwMode="auto">
                <a:xfrm>
                  <a:off x="4860" y="2393"/>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7" name="Freeform 42"/>
                <p:cNvSpPr>
                  <a:spLocks/>
                </p:cNvSpPr>
                <p:nvPr/>
              </p:nvSpPr>
              <p:spPr bwMode="auto">
                <a:xfrm>
                  <a:off x="4893" y="2393"/>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8" name="Freeform 43"/>
                <p:cNvSpPr>
                  <a:spLocks/>
                </p:cNvSpPr>
                <p:nvPr/>
              </p:nvSpPr>
              <p:spPr bwMode="auto">
                <a:xfrm>
                  <a:off x="4924"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9" name="Freeform 44"/>
                <p:cNvSpPr>
                  <a:spLocks/>
                </p:cNvSpPr>
                <p:nvPr/>
              </p:nvSpPr>
              <p:spPr bwMode="auto">
                <a:xfrm>
                  <a:off x="4957"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40" name="Freeform 45"/>
                <p:cNvSpPr>
                  <a:spLocks/>
                </p:cNvSpPr>
                <p:nvPr/>
              </p:nvSpPr>
              <p:spPr bwMode="auto">
                <a:xfrm>
                  <a:off x="4988"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41" name="Freeform 46"/>
                <p:cNvSpPr>
                  <a:spLocks/>
                </p:cNvSpPr>
                <p:nvPr/>
              </p:nvSpPr>
              <p:spPr bwMode="auto">
                <a:xfrm>
                  <a:off x="5020"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42" name="Freeform 47"/>
                <p:cNvSpPr>
                  <a:spLocks/>
                </p:cNvSpPr>
                <p:nvPr/>
              </p:nvSpPr>
              <p:spPr bwMode="auto">
                <a:xfrm>
                  <a:off x="5052"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43" name="Freeform 48"/>
                <p:cNvSpPr>
                  <a:spLocks/>
                </p:cNvSpPr>
                <p:nvPr/>
              </p:nvSpPr>
              <p:spPr bwMode="auto">
                <a:xfrm>
                  <a:off x="5084"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44" name="Freeform 49"/>
                <p:cNvSpPr>
                  <a:spLocks/>
                </p:cNvSpPr>
                <p:nvPr/>
              </p:nvSpPr>
              <p:spPr bwMode="auto">
                <a:xfrm>
                  <a:off x="5116"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grpSp>
        </p:grpSp>
        <p:grpSp>
          <p:nvGrpSpPr>
            <p:cNvPr id="18" name="Group 50"/>
            <p:cNvGrpSpPr>
              <a:grpSpLocks/>
            </p:cNvGrpSpPr>
            <p:nvPr/>
          </p:nvGrpSpPr>
          <p:grpSpPr bwMode="auto">
            <a:xfrm>
              <a:off x="3942" y="2339"/>
              <a:ext cx="488" cy="440"/>
              <a:chOff x="3942" y="2339"/>
              <a:chExt cx="488" cy="440"/>
            </a:xfrm>
          </p:grpSpPr>
          <p:sp>
            <p:nvSpPr>
              <p:cNvPr id="19" name="Text Box 51"/>
              <p:cNvSpPr txBox="1">
                <a:spLocks noChangeArrowheads="1"/>
              </p:cNvSpPr>
              <p:nvPr/>
            </p:nvSpPr>
            <p:spPr bwMode="auto">
              <a:xfrm>
                <a:off x="3942" y="2339"/>
                <a:ext cx="489" cy="441"/>
              </a:xfrm>
              <a:prstGeom prst="rect">
                <a:avLst/>
              </a:prstGeom>
              <a:noFill/>
              <a:ln w="19080">
                <a:solidFill>
                  <a:srgbClr val="00CC00"/>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a:defRPr>
                    <a:solidFill>
                      <a:schemeClr val="tx1"/>
                    </a:solidFill>
                    <a:latin typeface="Calibri" charset="0"/>
                    <a:ea typeface="ヒラギノ角ゴ Pro W3" charset="0"/>
                    <a:cs typeface="ヒラギノ角ゴ Pro W3" charset="0"/>
                  </a:defRPr>
                </a:lvl1pPr>
                <a:lvl2pPr marL="37931725" indent="-37474525">
                  <a:defRPr>
                    <a:solidFill>
                      <a:schemeClr val="tx1"/>
                    </a:solidFill>
                    <a:latin typeface="Calibri" charset="0"/>
                    <a:ea typeface="ヒラギノ角ゴ Pro W3" charset="0"/>
                    <a:cs typeface="ヒラギノ角ゴ Pro W3" charset="0"/>
                  </a:defRPr>
                </a:lvl2pPr>
                <a:lvl3pPr>
                  <a:defRPr>
                    <a:solidFill>
                      <a:schemeClr val="tx1"/>
                    </a:solidFill>
                    <a:latin typeface="Calibri" charset="0"/>
                    <a:ea typeface="ヒラギノ角ゴ Pro W3" charset="0"/>
                    <a:cs typeface="ヒラギノ角ゴ Pro W3" charset="0"/>
                  </a:defRPr>
                </a:lvl3pPr>
                <a:lvl4pPr>
                  <a:defRPr>
                    <a:solidFill>
                      <a:schemeClr val="tx1"/>
                    </a:solidFill>
                    <a:latin typeface="Calibri" charset="0"/>
                    <a:ea typeface="ヒラギノ角ゴ Pro W3" charset="0"/>
                    <a:cs typeface="ヒラギノ角ゴ Pro W3" charset="0"/>
                  </a:defRPr>
                </a:lvl4pPr>
                <a:lvl5pPr>
                  <a:defRPr>
                    <a:solidFill>
                      <a:schemeClr val="tx1"/>
                    </a:solidFill>
                    <a:latin typeface="Calibri" charset="0"/>
                    <a:ea typeface="ヒラギノ角ゴ Pro W3" charset="0"/>
                    <a:cs typeface="ヒラギノ角ゴ Pro W3" charset="0"/>
                  </a:defRPr>
                </a:lvl5pPr>
                <a:lvl6pPr marL="457200" fontAlgn="base">
                  <a:spcBef>
                    <a:spcPct val="0"/>
                  </a:spcBef>
                  <a:spcAft>
                    <a:spcPct val="0"/>
                  </a:spcAft>
                  <a:defRPr>
                    <a:solidFill>
                      <a:schemeClr val="tx1"/>
                    </a:solidFill>
                    <a:latin typeface="Calibri" charset="0"/>
                    <a:ea typeface="ヒラギノ角ゴ Pro W3" charset="0"/>
                    <a:cs typeface="ヒラギノ角ゴ Pro W3" charset="0"/>
                  </a:defRPr>
                </a:lvl6pPr>
                <a:lvl7pPr marL="914400" fontAlgn="base">
                  <a:spcBef>
                    <a:spcPct val="0"/>
                  </a:spcBef>
                  <a:spcAft>
                    <a:spcPct val="0"/>
                  </a:spcAft>
                  <a:defRPr>
                    <a:solidFill>
                      <a:schemeClr val="tx1"/>
                    </a:solidFill>
                    <a:latin typeface="Calibri" charset="0"/>
                    <a:ea typeface="ヒラギノ角ゴ Pro W3" charset="0"/>
                    <a:cs typeface="ヒラギノ角ゴ Pro W3" charset="0"/>
                  </a:defRPr>
                </a:lvl7pPr>
                <a:lvl8pPr marL="1371600" fontAlgn="base">
                  <a:spcBef>
                    <a:spcPct val="0"/>
                  </a:spcBef>
                  <a:spcAft>
                    <a:spcPct val="0"/>
                  </a:spcAft>
                  <a:defRPr>
                    <a:solidFill>
                      <a:schemeClr val="tx1"/>
                    </a:solidFill>
                    <a:latin typeface="Calibri" charset="0"/>
                    <a:ea typeface="ヒラギノ角ゴ Pro W3" charset="0"/>
                    <a:cs typeface="ヒラギノ角ゴ Pro W3" charset="0"/>
                  </a:defRPr>
                </a:lvl8pPr>
                <a:lvl9pPr marL="1828800" fontAlgn="base">
                  <a:spcBef>
                    <a:spcPct val="0"/>
                  </a:spcBef>
                  <a:spcAft>
                    <a:spcPct val="0"/>
                  </a:spcAft>
                  <a:defRPr>
                    <a:solidFill>
                      <a:schemeClr val="tx1"/>
                    </a:solidFill>
                    <a:latin typeface="Calibri" charset="0"/>
                    <a:ea typeface="ヒラギノ角ゴ Pro W3" charset="0"/>
                    <a:cs typeface="ヒラギノ角ゴ Pro W3" charset="0"/>
                  </a:defRPr>
                </a:lvl9pPr>
              </a:lstStyle>
              <a:p>
                <a:endParaRPr lang="en-US"/>
              </a:p>
            </p:txBody>
          </p:sp>
          <p:grpSp>
            <p:nvGrpSpPr>
              <p:cNvPr id="20" name="Group 52"/>
              <p:cNvGrpSpPr>
                <a:grpSpLocks/>
              </p:cNvGrpSpPr>
              <p:nvPr/>
            </p:nvGrpSpPr>
            <p:grpSpPr bwMode="auto">
              <a:xfrm>
                <a:off x="3990" y="2393"/>
                <a:ext cx="391" cy="332"/>
                <a:chOff x="3990" y="2393"/>
                <a:chExt cx="391" cy="332"/>
              </a:xfrm>
            </p:grpSpPr>
            <p:sp>
              <p:nvSpPr>
                <p:cNvPr id="21" name="Freeform 53"/>
                <p:cNvSpPr>
                  <a:spLocks/>
                </p:cNvSpPr>
                <p:nvPr/>
              </p:nvSpPr>
              <p:spPr bwMode="auto">
                <a:xfrm>
                  <a:off x="3990"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22" name="Freeform 54"/>
                <p:cNvSpPr>
                  <a:spLocks/>
                </p:cNvSpPr>
                <p:nvPr/>
              </p:nvSpPr>
              <p:spPr bwMode="auto">
                <a:xfrm>
                  <a:off x="4025"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23" name="Freeform 55"/>
                <p:cNvSpPr>
                  <a:spLocks/>
                </p:cNvSpPr>
                <p:nvPr/>
              </p:nvSpPr>
              <p:spPr bwMode="auto">
                <a:xfrm>
                  <a:off x="4056"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24" name="Freeform 56"/>
                <p:cNvSpPr>
                  <a:spLocks/>
                </p:cNvSpPr>
                <p:nvPr/>
              </p:nvSpPr>
              <p:spPr bwMode="auto">
                <a:xfrm>
                  <a:off x="4088"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25" name="Freeform 57"/>
                <p:cNvSpPr>
                  <a:spLocks/>
                </p:cNvSpPr>
                <p:nvPr/>
              </p:nvSpPr>
              <p:spPr bwMode="auto">
                <a:xfrm>
                  <a:off x="4120"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26" name="Freeform 58"/>
                <p:cNvSpPr>
                  <a:spLocks/>
                </p:cNvSpPr>
                <p:nvPr/>
              </p:nvSpPr>
              <p:spPr bwMode="auto">
                <a:xfrm>
                  <a:off x="4152"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27" name="Freeform 59"/>
                <p:cNvSpPr>
                  <a:spLocks/>
                </p:cNvSpPr>
                <p:nvPr/>
              </p:nvSpPr>
              <p:spPr bwMode="auto">
                <a:xfrm>
                  <a:off x="4184"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28" name="Freeform 60"/>
                <p:cNvSpPr>
                  <a:spLocks/>
                </p:cNvSpPr>
                <p:nvPr/>
              </p:nvSpPr>
              <p:spPr bwMode="auto">
                <a:xfrm>
                  <a:off x="4216"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29" name="Freeform 61"/>
                <p:cNvSpPr>
                  <a:spLocks/>
                </p:cNvSpPr>
                <p:nvPr/>
              </p:nvSpPr>
              <p:spPr bwMode="auto">
                <a:xfrm>
                  <a:off x="4248"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0" name="Freeform 62"/>
                <p:cNvSpPr>
                  <a:spLocks/>
                </p:cNvSpPr>
                <p:nvPr/>
              </p:nvSpPr>
              <p:spPr bwMode="auto">
                <a:xfrm>
                  <a:off x="4280" y="2393"/>
                  <a:ext cx="70"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31" name="Freeform 63"/>
                <p:cNvSpPr>
                  <a:spLocks/>
                </p:cNvSpPr>
                <p:nvPr/>
              </p:nvSpPr>
              <p:spPr bwMode="auto">
                <a:xfrm>
                  <a:off x="4311" y="2393"/>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grpSp>
        </p:grpSp>
      </p:grpSp>
      <p:grpSp>
        <p:nvGrpSpPr>
          <p:cNvPr id="71" name="Group 64"/>
          <p:cNvGrpSpPr>
            <a:grpSpLocks noChangeAspect="1"/>
          </p:cNvGrpSpPr>
          <p:nvPr/>
        </p:nvGrpSpPr>
        <p:grpSpPr bwMode="auto">
          <a:xfrm>
            <a:off x="4345686" y="4951108"/>
            <a:ext cx="4536000" cy="962563"/>
            <a:chOff x="2817" y="3506"/>
            <a:chExt cx="2474" cy="525"/>
          </a:xfrm>
        </p:grpSpPr>
        <p:sp>
          <p:nvSpPr>
            <p:cNvPr id="72" name="Rectangle 65"/>
            <p:cNvSpPr>
              <a:spLocks noChangeArrowheads="1"/>
            </p:cNvSpPr>
            <p:nvPr/>
          </p:nvSpPr>
          <p:spPr bwMode="auto">
            <a:xfrm>
              <a:off x="2817" y="3506"/>
              <a:ext cx="2474" cy="525"/>
            </a:xfrm>
            <a:prstGeom prst="rect">
              <a:avLst/>
            </a:prstGeom>
            <a:noFill/>
            <a:ln w="28440">
              <a:solidFill>
                <a:srgbClr val="00CC00"/>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73" name="Text Box 66"/>
            <p:cNvSpPr txBox="1">
              <a:spLocks noChangeArrowheads="1"/>
            </p:cNvSpPr>
            <p:nvPr/>
          </p:nvSpPr>
          <p:spPr bwMode="auto">
            <a:xfrm>
              <a:off x="4430" y="3708"/>
              <a:ext cx="316" cy="23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wrap="none" lIns="90000" tIns="46800" rIns="90000" bIns="46800">
              <a:spAutoFit/>
            </a:bodyPr>
            <a:lstStyle>
              <a:lvl1pPr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1pPr>
              <a:lvl2pPr marL="37931725" indent="-37474525"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5pPr>
              <a:lvl6pPr marL="4572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6pPr>
              <a:lvl7pPr marL="9144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7pPr>
              <a:lvl8pPr marL="13716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8pPr>
              <a:lvl9pPr marL="18288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9pPr>
            </a:lstStyle>
            <a:p>
              <a:pPr algn="ctr">
                <a:buClr>
                  <a:srgbClr val="000000"/>
                </a:buClr>
                <a:buSzPct val="100000"/>
                <a:buFont typeface="Arial" charset="0"/>
                <a:buNone/>
              </a:pPr>
              <a:r>
                <a:rPr lang="en-US" b="1">
                  <a:solidFill>
                    <a:srgbClr val="000000"/>
                  </a:solidFill>
                  <a:latin typeface="Arial" charset="0"/>
                  <a:ea typeface="ＭＳ Ｐゴシック" charset="0"/>
                  <a:cs typeface="ＭＳ Ｐゴシック" charset="0"/>
                </a:rPr>
                <a:t>. . .</a:t>
              </a:r>
            </a:p>
          </p:txBody>
        </p:sp>
        <p:grpSp>
          <p:nvGrpSpPr>
            <p:cNvPr id="74" name="Group 67"/>
            <p:cNvGrpSpPr>
              <a:grpSpLocks/>
            </p:cNvGrpSpPr>
            <p:nvPr/>
          </p:nvGrpSpPr>
          <p:grpSpPr bwMode="auto">
            <a:xfrm>
              <a:off x="2872" y="3549"/>
              <a:ext cx="489" cy="440"/>
              <a:chOff x="2872" y="3549"/>
              <a:chExt cx="489" cy="440"/>
            </a:xfrm>
          </p:grpSpPr>
          <p:sp>
            <p:nvSpPr>
              <p:cNvPr id="117" name="Text Box 68"/>
              <p:cNvSpPr txBox="1">
                <a:spLocks noChangeArrowheads="1"/>
              </p:cNvSpPr>
              <p:nvPr/>
            </p:nvSpPr>
            <p:spPr bwMode="auto">
              <a:xfrm>
                <a:off x="2872" y="3549"/>
                <a:ext cx="490" cy="441"/>
              </a:xfrm>
              <a:prstGeom prst="rect">
                <a:avLst/>
              </a:prstGeom>
              <a:noFill/>
              <a:ln w="19080">
                <a:solidFill>
                  <a:srgbClr val="00CC00"/>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a:defRPr>
                    <a:solidFill>
                      <a:schemeClr val="tx1"/>
                    </a:solidFill>
                    <a:latin typeface="Calibri" charset="0"/>
                    <a:ea typeface="ヒラギノ角ゴ Pro W3" charset="0"/>
                    <a:cs typeface="ヒラギノ角ゴ Pro W3" charset="0"/>
                  </a:defRPr>
                </a:lvl1pPr>
                <a:lvl2pPr marL="37931725" indent="-37474525">
                  <a:defRPr>
                    <a:solidFill>
                      <a:schemeClr val="tx1"/>
                    </a:solidFill>
                    <a:latin typeface="Calibri" charset="0"/>
                    <a:ea typeface="ヒラギノ角ゴ Pro W3" charset="0"/>
                    <a:cs typeface="ヒラギノ角ゴ Pro W3" charset="0"/>
                  </a:defRPr>
                </a:lvl2pPr>
                <a:lvl3pPr>
                  <a:defRPr>
                    <a:solidFill>
                      <a:schemeClr val="tx1"/>
                    </a:solidFill>
                    <a:latin typeface="Calibri" charset="0"/>
                    <a:ea typeface="ヒラギノ角ゴ Pro W3" charset="0"/>
                    <a:cs typeface="ヒラギノ角ゴ Pro W3" charset="0"/>
                  </a:defRPr>
                </a:lvl3pPr>
                <a:lvl4pPr>
                  <a:defRPr>
                    <a:solidFill>
                      <a:schemeClr val="tx1"/>
                    </a:solidFill>
                    <a:latin typeface="Calibri" charset="0"/>
                    <a:ea typeface="ヒラギノ角ゴ Pro W3" charset="0"/>
                    <a:cs typeface="ヒラギノ角ゴ Pro W3" charset="0"/>
                  </a:defRPr>
                </a:lvl4pPr>
                <a:lvl5pPr>
                  <a:defRPr>
                    <a:solidFill>
                      <a:schemeClr val="tx1"/>
                    </a:solidFill>
                    <a:latin typeface="Calibri" charset="0"/>
                    <a:ea typeface="ヒラギノ角ゴ Pro W3" charset="0"/>
                    <a:cs typeface="ヒラギノ角ゴ Pro W3" charset="0"/>
                  </a:defRPr>
                </a:lvl5pPr>
                <a:lvl6pPr marL="457200" fontAlgn="base">
                  <a:spcBef>
                    <a:spcPct val="0"/>
                  </a:spcBef>
                  <a:spcAft>
                    <a:spcPct val="0"/>
                  </a:spcAft>
                  <a:defRPr>
                    <a:solidFill>
                      <a:schemeClr val="tx1"/>
                    </a:solidFill>
                    <a:latin typeface="Calibri" charset="0"/>
                    <a:ea typeface="ヒラギノ角ゴ Pro W3" charset="0"/>
                    <a:cs typeface="ヒラギノ角ゴ Pro W3" charset="0"/>
                  </a:defRPr>
                </a:lvl6pPr>
                <a:lvl7pPr marL="914400" fontAlgn="base">
                  <a:spcBef>
                    <a:spcPct val="0"/>
                  </a:spcBef>
                  <a:spcAft>
                    <a:spcPct val="0"/>
                  </a:spcAft>
                  <a:defRPr>
                    <a:solidFill>
                      <a:schemeClr val="tx1"/>
                    </a:solidFill>
                    <a:latin typeface="Calibri" charset="0"/>
                    <a:ea typeface="ヒラギノ角ゴ Pro W3" charset="0"/>
                    <a:cs typeface="ヒラギノ角ゴ Pro W3" charset="0"/>
                  </a:defRPr>
                </a:lvl7pPr>
                <a:lvl8pPr marL="1371600" fontAlgn="base">
                  <a:spcBef>
                    <a:spcPct val="0"/>
                  </a:spcBef>
                  <a:spcAft>
                    <a:spcPct val="0"/>
                  </a:spcAft>
                  <a:defRPr>
                    <a:solidFill>
                      <a:schemeClr val="tx1"/>
                    </a:solidFill>
                    <a:latin typeface="Calibri" charset="0"/>
                    <a:ea typeface="ヒラギノ角ゴ Pro W3" charset="0"/>
                    <a:cs typeface="ヒラギノ角ゴ Pro W3" charset="0"/>
                  </a:defRPr>
                </a:lvl8pPr>
                <a:lvl9pPr marL="1828800" fontAlgn="base">
                  <a:spcBef>
                    <a:spcPct val="0"/>
                  </a:spcBef>
                  <a:spcAft>
                    <a:spcPct val="0"/>
                  </a:spcAft>
                  <a:defRPr>
                    <a:solidFill>
                      <a:schemeClr val="tx1"/>
                    </a:solidFill>
                    <a:latin typeface="Calibri" charset="0"/>
                    <a:ea typeface="ヒラギノ角ゴ Pro W3" charset="0"/>
                    <a:cs typeface="ヒラギノ角ゴ Pro W3" charset="0"/>
                  </a:defRPr>
                </a:lvl9pPr>
              </a:lstStyle>
              <a:p>
                <a:endParaRPr lang="en-US"/>
              </a:p>
            </p:txBody>
          </p:sp>
          <p:grpSp>
            <p:nvGrpSpPr>
              <p:cNvPr id="118" name="Group 69"/>
              <p:cNvGrpSpPr>
                <a:grpSpLocks/>
              </p:cNvGrpSpPr>
              <p:nvPr/>
            </p:nvGrpSpPr>
            <p:grpSpPr bwMode="auto">
              <a:xfrm>
                <a:off x="2920" y="3602"/>
                <a:ext cx="392" cy="332"/>
                <a:chOff x="2920" y="3602"/>
                <a:chExt cx="392" cy="332"/>
              </a:xfrm>
            </p:grpSpPr>
            <p:sp>
              <p:nvSpPr>
                <p:cNvPr id="119" name="Freeform 70"/>
                <p:cNvSpPr>
                  <a:spLocks/>
                </p:cNvSpPr>
                <p:nvPr/>
              </p:nvSpPr>
              <p:spPr bwMode="auto">
                <a:xfrm>
                  <a:off x="2920" y="3602"/>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120" name="Freeform 71"/>
                <p:cNvSpPr>
                  <a:spLocks/>
                </p:cNvSpPr>
                <p:nvPr/>
              </p:nvSpPr>
              <p:spPr bwMode="auto">
                <a:xfrm>
                  <a:off x="2955" y="3602"/>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121" name="Freeform 72"/>
                <p:cNvSpPr>
                  <a:spLocks/>
                </p:cNvSpPr>
                <p:nvPr/>
              </p:nvSpPr>
              <p:spPr bwMode="auto">
                <a:xfrm>
                  <a:off x="2986" y="3602"/>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122" name="Freeform 73"/>
                <p:cNvSpPr>
                  <a:spLocks/>
                </p:cNvSpPr>
                <p:nvPr/>
              </p:nvSpPr>
              <p:spPr bwMode="auto">
                <a:xfrm>
                  <a:off x="3019" y="3602"/>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123" name="Freeform 74"/>
                <p:cNvSpPr>
                  <a:spLocks/>
                </p:cNvSpPr>
                <p:nvPr/>
              </p:nvSpPr>
              <p:spPr bwMode="auto">
                <a:xfrm>
                  <a:off x="3050"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124" name="Freeform 75"/>
                <p:cNvSpPr>
                  <a:spLocks/>
                </p:cNvSpPr>
                <p:nvPr/>
              </p:nvSpPr>
              <p:spPr bwMode="auto">
                <a:xfrm>
                  <a:off x="3083"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125" name="Freeform 76"/>
                <p:cNvSpPr>
                  <a:spLocks/>
                </p:cNvSpPr>
                <p:nvPr/>
              </p:nvSpPr>
              <p:spPr bwMode="auto">
                <a:xfrm>
                  <a:off x="3114"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126" name="Freeform 77"/>
                <p:cNvSpPr>
                  <a:spLocks/>
                </p:cNvSpPr>
                <p:nvPr/>
              </p:nvSpPr>
              <p:spPr bwMode="auto">
                <a:xfrm>
                  <a:off x="3146"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127" name="Freeform 78"/>
                <p:cNvSpPr>
                  <a:spLocks/>
                </p:cNvSpPr>
                <p:nvPr/>
              </p:nvSpPr>
              <p:spPr bwMode="auto">
                <a:xfrm>
                  <a:off x="3178"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128" name="Freeform 79"/>
                <p:cNvSpPr>
                  <a:spLocks/>
                </p:cNvSpPr>
                <p:nvPr/>
              </p:nvSpPr>
              <p:spPr bwMode="auto">
                <a:xfrm>
                  <a:off x="3210"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129" name="Freeform 80"/>
                <p:cNvSpPr>
                  <a:spLocks/>
                </p:cNvSpPr>
                <p:nvPr/>
              </p:nvSpPr>
              <p:spPr bwMode="auto">
                <a:xfrm>
                  <a:off x="3242"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grpSp>
        </p:grpSp>
        <p:grpSp>
          <p:nvGrpSpPr>
            <p:cNvPr id="75" name="Group 81"/>
            <p:cNvGrpSpPr>
              <a:grpSpLocks/>
            </p:cNvGrpSpPr>
            <p:nvPr/>
          </p:nvGrpSpPr>
          <p:grpSpPr bwMode="auto">
            <a:xfrm>
              <a:off x="3406" y="3549"/>
              <a:ext cx="489" cy="440"/>
              <a:chOff x="3406" y="3549"/>
              <a:chExt cx="489" cy="440"/>
            </a:xfrm>
          </p:grpSpPr>
          <p:sp>
            <p:nvSpPr>
              <p:cNvPr id="104" name="Text Box 82"/>
              <p:cNvSpPr txBox="1">
                <a:spLocks noChangeArrowheads="1"/>
              </p:cNvSpPr>
              <p:nvPr/>
            </p:nvSpPr>
            <p:spPr bwMode="auto">
              <a:xfrm>
                <a:off x="3406" y="3549"/>
                <a:ext cx="490" cy="441"/>
              </a:xfrm>
              <a:prstGeom prst="rect">
                <a:avLst/>
              </a:prstGeom>
              <a:noFill/>
              <a:ln w="19080">
                <a:solidFill>
                  <a:srgbClr val="00CC00"/>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a:defRPr>
                    <a:solidFill>
                      <a:schemeClr val="tx1"/>
                    </a:solidFill>
                    <a:latin typeface="Calibri" charset="0"/>
                    <a:ea typeface="ヒラギノ角ゴ Pro W3" charset="0"/>
                    <a:cs typeface="ヒラギノ角ゴ Pro W3" charset="0"/>
                  </a:defRPr>
                </a:lvl1pPr>
                <a:lvl2pPr marL="37931725" indent="-37474525">
                  <a:defRPr>
                    <a:solidFill>
                      <a:schemeClr val="tx1"/>
                    </a:solidFill>
                    <a:latin typeface="Calibri" charset="0"/>
                    <a:ea typeface="ヒラギノ角ゴ Pro W3" charset="0"/>
                    <a:cs typeface="ヒラギノ角ゴ Pro W3" charset="0"/>
                  </a:defRPr>
                </a:lvl2pPr>
                <a:lvl3pPr>
                  <a:defRPr>
                    <a:solidFill>
                      <a:schemeClr val="tx1"/>
                    </a:solidFill>
                    <a:latin typeface="Calibri" charset="0"/>
                    <a:ea typeface="ヒラギノ角ゴ Pro W3" charset="0"/>
                    <a:cs typeface="ヒラギノ角ゴ Pro W3" charset="0"/>
                  </a:defRPr>
                </a:lvl3pPr>
                <a:lvl4pPr>
                  <a:defRPr>
                    <a:solidFill>
                      <a:schemeClr val="tx1"/>
                    </a:solidFill>
                    <a:latin typeface="Calibri" charset="0"/>
                    <a:ea typeface="ヒラギノ角ゴ Pro W3" charset="0"/>
                    <a:cs typeface="ヒラギノ角ゴ Pro W3" charset="0"/>
                  </a:defRPr>
                </a:lvl4pPr>
                <a:lvl5pPr>
                  <a:defRPr>
                    <a:solidFill>
                      <a:schemeClr val="tx1"/>
                    </a:solidFill>
                    <a:latin typeface="Calibri" charset="0"/>
                    <a:ea typeface="ヒラギノ角ゴ Pro W3" charset="0"/>
                    <a:cs typeface="ヒラギノ角ゴ Pro W3" charset="0"/>
                  </a:defRPr>
                </a:lvl5pPr>
                <a:lvl6pPr marL="457200" fontAlgn="base">
                  <a:spcBef>
                    <a:spcPct val="0"/>
                  </a:spcBef>
                  <a:spcAft>
                    <a:spcPct val="0"/>
                  </a:spcAft>
                  <a:defRPr>
                    <a:solidFill>
                      <a:schemeClr val="tx1"/>
                    </a:solidFill>
                    <a:latin typeface="Calibri" charset="0"/>
                    <a:ea typeface="ヒラギノ角ゴ Pro W3" charset="0"/>
                    <a:cs typeface="ヒラギノ角ゴ Pro W3" charset="0"/>
                  </a:defRPr>
                </a:lvl6pPr>
                <a:lvl7pPr marL="914400" fontAlgn="base">
                  <a:spcBef>
                    <a:spcPct val="0"/>
                  </a:spcBef>
                  <a:spcAft>
                    <a:spcPct val="0"/>
                  </a:spcAft>
                  <a:defRPr>
                    <a:solidFill>
                      <a:schemeClr val="tx1"/>
                    </a:solidFill>
                    <a:latin typeface="Calibri" charset="0"/>
                    <a:ea typeface="ヒラギノ角ゴ Pro W3" charset="0"/>
                    <a:cs typeface="ヒラギノ角ゴ Pro W3" charset="0"/>
                  </a:defRPr>
                </a:lvl7pPr>
                <a:lvl8pPr marL="1371600" fontAlgn="base">
                  <a:spcBef>
                    <a:spcPct val="0"/>
                  </a:spcBef>
                  <a:spcAft>
                    <a:spcPct val="0"/>
                  </a:spcAft>
                  <a:defRPr>
                    <a:solidFill>
                      <a:schemeClr val="tx1"/>
                    </a:solidFill>
                    <a:latin typeface="Calibri" charset="0"/>
                    <a:ea typeface="ヒラギノ角ゴ Pro W3" charset="0"/>
                    <a:cs typeface="ヒラギノ角ゴ Pro W3" charset="0"/>
                  </a:defRPr>
                </a:lvl8pPr>
                <a:lvl9pPr marL="1828800" fontAlgn="base">
                  <a:spcBef>
                    <a:spcPct val="0"/>
                  </a:spcBef>
                  <a:spcAft>
                    <a:spcPct val="0"/>
                  </a:spcAft>
                  <a:defRPr>
                    <a:solidFill>
                      <a:schemeClr val="tx1"/>
                    </a:solidFill>
                    <a:latin typeface="Calibri" charset="0"/>
                    <a:ea typeface="ヒラギノ角ゴ Pro W3" charset="0"/>
                    <a:cs typeface="ヒラギノ角ゴ Pro W3" charset="0"/>
                  </a:defRPr>
                </a:lvl9pPr>
              </a:lstStyle>
              <a:p>
                <a:endParaRPr lang="en-US"/>
              </a:p>
            </p:txBody>
          </p:sp>
          <p:grpSp>
            <p:nvGrpSpPr>
              <p:cNvPr id="105" name="Group 83"/>
              <p:cNvGrpSpPr>
                <a:grpSpLocks/>
              </p:cNvGrpSpPr>
              <p:nvPr/>
            </p:nvGrpSpPr>
            <p:grpSpPr bwMode="auto">
              <a:xfrm>
                <a:off x="3454" y="3602"/>
                <a:ext cx="392" cy="332"/>
                <a:chOff x="3454" y="3602"/>
                <a:chExt cx="392" cy="332"/>
              </a:xfrm>
            </p:grpSpPr>
            <p:sp>
              <p:nvSpPr>
                <p:cNvPr id="106" name="Freeform 84"/>
                <p:cNvSpPr>
                  <a:spLocks/>
                </p:cNvSpPr>
                <p:nvPr/>
              </p:nvSpPr>
              <p:spPr bwMode="auto">
                <a:xfrm>
                  <a:off x="3454" y="3602"/>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107" name="Freeform 85"/>
                <p:cNvSpPr>
                  <a:spLocks/>
                </p:cNvSpPr>
                <p:nvPr/>
              </p:nvSpPr>
              <p:spPr bwMode="auto">
                <a:xfrm>
                  <a:off x="3489" y="3602"/>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108" name="Freeform 86"/>
                <p:cNvSpPr>
                  <a:spLocks/>
                </p:cNvSpPr>
                <p:nvPr/>
              </p:nvSpPr>
              <p:spPr bwMode="auto">
                <a:xfrm>
                  <a:off x="3520" y="3602"/>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109" name="Freeform 87"/>
                <p:cNvSpPr>
                  <a:spLocks/>
                </p:cNvSpPr>
                <p:nvPr/>
              </p:nvSpPr>
              <p:spPr bwMode="auto">
                <a:xfrm>
                  <a:off x="3553" y="3602"/>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110" name="Freeform 88"/>
                <p:cNvSpPr>
                  <a:spLocks/>
                </p:cNvSpPr>
                <p:nvPr/>
              </p:nvSpPr>
              <p:spPr bwMode="auto">
                <a:xfrm>
                  <a:off x="3584"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111" name="Freeform 89"/>
                <p:cNvSpPr>
                  <a:spLocks/>
                </p:cNvSpPr>
                <p:nvPr/>
              </p:nvSpPr>
              <p:spPr bwMode="auto">
                <a:xfrm>
                  <a:off x="3617"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112" name="Freeform 90"/>
                <p:cNvSpPr>
                  <a:spLocks/>
                </p:cNvSpPr>
                <p:nvPr/>
              </p:nvSpPr>
              <p:spPr bwMode="auto">
                <a:xfrm>
                  <a:off x="3648"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113" name="Freeform 91"/>
                <p:cNvSpPr>
                  <a:spLocks/>
                </p:cNvSpPr>
                <p:nvPr/>
              </p:nvSpPr>
              <p:spPr bwMode="auto">
                <a:xfrm>
                  <a:off x="3680"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114" name="Freeform 92"/>
                <p:cNvSpPr>
                  <a:spLocks/>
                </p:cNvSpPr>
                <p:nvPr/>
              </p:nvSpPr>
              <p:spPr bwMode="auto">
                <a:xfrm>
                  <a:off x="3712"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115" name="Freeform 93"/>
                <p:cNvSpPr>
                  <a:spLocks/>
                </p:cNvSpPr>
                <p:nvPr/>
              </p:nvSpPr>
              <p:spPr bwMode="auto">
                <a:xfrm>
                  <a:off x="3744"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116" name="Freeform 94"/>
                <p:cNvSpPr>
                  <a:spLocks/>
                </p:cNvSpPr>
                <p:nvPr/>
              </p:nvSpPr>
              <p:spPr bwMode="auto">
                <a:xfrm>
                  <a:off x="3776"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grpSp>
        </p:grpSp>
        <p:grpSp>
          <p:nvGrpSpPr>
            <p:cNvPr id="76" name="Group 95"/>
            <p:cNvGrpSpPr>
              <a:grpSpLocks/>
            </p:cNvGrpSpPr>
            <p:nvPr/>
          </p:nvGrpSpPr>
          <p:grpSpPr bwMode="auto">
            <a:xfrm>
              <a:off x="4746" y="3549"/>
              <a:ext cx="489" cy="440"/>
              <a:chOff x="4746" y="3549"/>
              <a:chExt cx="489" cy="440"/>
            </a:xfrm>
          </p:grpSpPr>
          <p:sp>
            <p:nvSpPr>
              <p:cNvPr id="91" name="Text Box 96"/>
              <p:cNvSpPr txBox="1">
                <a:spLocks noChangeArrowheads="1"/>
              </p:cNvSpPr>
              <p:nvPr/>
            </p:nvSpPr>
            <p:spPr bwMode="auto">
              <a:xfrm>
                <a:off x="4746" y="3549"/>
                <a:ext cx="490" cy="441"/>
              </a:xfrm>
              <a:prstGeom prst="rect">
                <a:avLst/>
              </a:prstGeom>
              <a:noFill/>
              <a:ln w="19080">
                <a:solidFill>
                  <a:srgbClr val="00CC00"/>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a:defRPr>
                    <a:solidFill>
                      <a:schemeClr val="tx1"/>
                    </a:solidFill>
                    <a:latin typeface="Calibri" charset="0"/>
                    <a:ea typeface="ヒラギノ角ゴ Pro W3" charset="0"/>
                    <a:cs typeface="ヒラギノ角ゴ Pro W3" charset="0"/>
                  </a:defRPr>
                </a:lvl1pPr>
                <a:lvl2pPr marL="37931725" indent="-37474525">
                  <a:defRPr>
                    <a:solidFill>
                      <a:schemeClr val="tx1"/>
                    </a:solidFill>
                    <a:latin typeface="Calibri" charset="0"/>
                    <a:ea typeface="ヒラギノ角ゴ Pro W3" charset="0"/>
                    <a:cs typeface="ヒラギノ角ゴ Pro W3" charset="0"/>
                  </a:defRPr>
                </a:lvl2pPr>
                <a:lvl3pPr>
                  <a:defRPr>
                    <a:solidFill>
                      <a:schemeClr val="tx1"/>
                    </a:solidFill>
                    <a:latin typeface="Calibri" charset="0"/>
                    <a:ea typeface="ヒラギノ角ゴ Pro W3" charset="0"/>
                    <a:cs typeface="ヒラギノ角ゴ Pro W3" charset="0"/>
                  </a:defRPr>
                </a:lvl3pPr>
                <a:lvl4pPr>
                  <a:defRPr>
                    <a:solidFill>
                      <a:schemeClr val="tx1"/>
                    </a:solidFill>
                    <a:latin typeface="Calibri" charset="0"/>
                    <a:ea typeface="ヒラギノ角ゴ Pro W3" charset="0"/>
                    <a:cs typeface="ヒラギノ角ゴ Pro W3" charset="0"/>
                  </a:defRPr>
                </a:lvl4pPr>
                <a:lvl5pPr>
                  <a:defRPr>
                    <a:solidFill>
                      <a:schemeClr val="tx1"/>
                    </a:solidFill>
                    <a:latin typeface="Calibri" charset="0"/>
                    <a:ea typeface="ヒラギノ角ゴ Pro W3" charset="0"/>
                    <a:cs typeface="ヒラギノ角ゴ Pro W3" charset="0"/>
                  </a:defRPr>
                </a:lvl5pPr>
                <a:lvl6pPr marL="457200" fontAlgn="base">
                  <a:spcBef>
                    <a:spcPct val="0"/>
                  </a:spcBef>
                  <a:spcAft>
                    <a:spcPct val="0"/>
                  </a:spcAft>
                  <a:defRPr>
                    <a:solidFill>
                      <a:schemeClr val="tx1"/>
                    </a:solidFill>
                    <a:latin typeface="Calibri" charset="0"/>
                    <a:ea typeface="ヒラギノ角ゴ Pro W3" charset="0"/>
                    <a:cs typeface="ヒラギノ角ゴ Pro W3" charset="0"/>
                  </a:defRPr>
                </a:lvl6pPr>
                <a:lvl7pPr marL="914400" fontAlgn="base">
                  <a:spcBef>
                    <a:spcPct val="0"/>
                  </a:spcBef>
                  <a:spcAft>
                    <a:spcPct val="0"/>
                  </a:spcAft>
                  <a:defRPr>
                    <a:solidFill>
                      <a:schemeClr val="tx1"/>
                    </a:solidFill>
                    <a:latin typeface="Calibri" charset="0"/>
                    <a:ea typeface="ヒラギノ角ゴ Pro W3" charset="0"/>
                    <a:cs typeface="ヒラギノ角ゴ Pro W3" charset="0"/>
                  </a:defRPr>
                </a:lvl7pPr>
                <a:lvl8pPr marL="1371600" fontAlgn="base">
                  <a:spcBef>
                    <a:spcPct val="0"/>
                  </a:spcBef>
                  <a:spcAft>
                    <a:spcPct val="0"/>
                  </a:spcAft>
                  <a:defRPr>
                    <a:solidFill>
                      <a:schemeClr val="tx1"/>
                    </a:solidFill>
                    <a:latin typeface="Calibri" charset="0"/>
                    <a:ea typeface="ヒラギノ角ゴ Pro W3" charset="0"/>
                    <a:cs typeface="ヒラギノ角ゴ Pro W3" charset="0"/>
                  </a:defRPr>
                </a:lvl8pPr>
                <a:lvl9pPr marL="1828800" fontAlgn="base">
                  <a:spcBef>
                    <a:spcPct val="0"/>
                  </a:spcBef>
                  <a:spcAft>
                    <a:spcPct val="0"/>
                  </a:spcAft>
                  <a:defRPr>
                    <a:solidFill>
                      <a:schemeClr val="tx1"/>
                    </a:solidFill>
                    <a:latin typeface="Calibri" charset="0"/>
                    <a:ea typeface="ヒラギノ角ゴ Pro W3" charset="0"/>
                    <a:cs typeface="ヒラギノ角ゴ Pro W3" charset="0"/>
                  </a:defRPr>
                </a:lvl9pPr>
              </a:lstStyle>
              <a:p>
                <a:endParaRPr lang="en-US"/>
              </a:p>
            </p:txBody>
          </p:sp>
          <p:grpSp>
            <p:nvGrpSpPr>
              <p:cNvPr id="92" name="Group 97"/>
              <p:cNvGrpSpPr>
                <a:grpSpLocks/>
              </p:cNvGrpSpPr>
              <p:nvPr/>
            </p:nvGrpSpPr>
            <p:grpSpPr bwMode="auto">
              <a:xfrm>
                <a:off x="4794" y="3602"/>
                <a:ext cx="392" cy="332"/>
                <a:chOff x="4794" y="3602"/>
                <a:chExt cx="392" cy="332"/>
              </a:xfrm>
            </p:grpSpPr>
            <p:sp>
              <p:nvSpPr>
                <p:cNvPr id="93" name="Freeform 98"/>
                <p:cNvSpPr>
                  <a:spLocks/>
                </p:cNvSpPr>
                <p:nvPr/>
              </p:nvSpPr>
              <p:spPr bwMode="auto">
                <a:xfrm>
                  <a:off x="4794" y="3602"/>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94" name="Freeform 99"/>
                <p:cNvSpPr>
                  <a:spLocks/>
                </p:cNvSpPr>
                <p:nvPr/>
              </p:nvSpPr>
              <p:spPr bwMode="auto">
                <a:xfrm>
                  <a:off x="4829" y="3602"/>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95" name="Freeform 100"/>
                <p:cNvSpPr>
                  <a:spLocks/>
                </p:cNvSpPr>
                <p:nvPr/>
              </p:nvSpPr>
              <p:spPr bwMode="auto">
                <a:xfrm>
                  <a:off x="4860" y="3602"/>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96" name="Freeform 101"/>
                <p:cNvSpPr>
                  <a:spLocks/>
                </p:cNvSpPr>
                <p:nvPr/>
              </p:nvSpPr>
              <p:spPr bwMode="auto">
                <a:xfrm>
                  <a:off x="4893" y="3602"/>
                  <a:ext cx="72"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97" name="Freeform 102"/>
                <p:cNvSpPr>
                  <a:spLocks/>
                </p:cNvSpPr>
                <p:nvPr/>
              </p:nvSpPr>
              <p:spPr bwMode="auto">
                <a:xfrm>
                  <a:off x="4924"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98" name="Freeform 103"/>
                <p:cNvSpPr>
                  <a:spLocks/>
                </p:cNvSpPr>
                <p:nvPr/>
              </p:nvSpPr>
              <p:spPr bwMode="auto">
                <a:xfrm>
                  <a:off x="4957"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99" name="Freeform 104"/>
                <p:cNvSpPr>
                  <a:spLocks/>
                </p:cNvSpPr>
                <p:nvPr/>
              </p:nvSpPr>
              <p:spPr bwMode="auto">
                <a:xfrm>
                  <a:off x="4988"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100" name="Freeform 105"/>
                <p:cNvSpPr>
                  <a:spLocks/>
                </p:cNvSpPr>
                <p:nvPr/>
              </p:nvSpPr>
              <p:spPr bwMode="auto">
                <a:xfrm>
                  <a:off x="5020"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101" name="Freeform 106"/>
                <p:cNvSpPr>
                  <a:spLocks/>
                </p:cNvSpPr>
                <p:nvPr/>
              </p:nvSpPr>
              <p:spPr bwMode="auto">
                <a:xfrm>
                  <a:off x="5052"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102" name="Freeform 107"/>
                <p:cNvSpPr>
                  <a:spLocks/>
                </p:cNvSpPr>
                <p:nvPr/>
              </p:nvSpPr>
              <p:spPr bwMode="auto">
                <a:xfrm>
                  <a:off x="5084"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103" name="Freeform 108"/>
                <p:cNvSpPr>
                  <a:spLocks/>
                </p:cNvSpPr>
                <p:nvPr/>
              </p:nvSpPr>
              <p:spPr bwMode="auto">
                <a:xfrm>
                  <a:off x="5116"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grpSp>
        </p:grpSp>
        <p:grpSp>
          <p:nvGrpSpPr>
            <p:cNvPr id="77" name="Group 109"/>
            <p:cNvGrpSpPr>
              <a:grpSpLocks/>
            </p:cNvGrpSpPr>
            <p:nvPr/>
          </p:nvGrpSpPr>
          <p:grpSpPr bwMode="auto">
            <a:xfrm>
              <a:off x="3942" y="3549"/>
              <a:ext cx="488" cy="440"/>
              <a:chOff x="3942" y="3549"/>
              <a:chExt cx="488" cy="440"/>
            </a:xfrm>
          </p:grpSpPr>
          <p:sp>
            <p:nvSpPr>
              <p:cNvPr id="78" name="Text Box 110"/>
              <p:cNvSpPr txBox="1">
                <a:spLocks noChangeArrowheads="1"/>
              </p:cNvSpPr>
              <p:nvPr/>
            </p:nvSpPr>
            <p:spPr bwMode="auto">
              <a:xfrm>
                <a:off x="3942" y="3549"/>
                <a:ext cx="489" cy="441"/>
              </a:xfrm>
              <a:prstGeom prst="rect">
                <a:avLst/>
              </a:prstGeom>
              <a:noFill/>
              <a:ln w="19080">
                <a:solidFill>
                  <a:srgbClr val="00CC00"/>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a:defRPr>
                    <a:solidFill>
                      <a:schemeClr val="tx1"/>
                    </a:solidFill>
                    <a:latin typeface="Calibri" charset="0"/>
                    <a:ea typeface="ヒラギノ角ゴ Pro W3" charset="0"/>
                    <a:cs typeface="ヒラギノ角ゴ Pro W3" charset="0"/>
                  </a:defRPr>
                </a:lvl1pPr>
                <a:lvl2pPr marL="37931725" indent="-37474525">
                  <a:defRPr>
                    <a:solidFill>
                      <a:schemeClr val="tx1"/>
                    </a:solidFill>
                    <a:latin typeface="Calibri" charset="0"/>
                    <a:ea typeface="ヒラギノ角ゴ Pro W3" charset="0"/>
                    <a:cs typeface="ヒラギノ角ゴ Pro W3" charset="0"/>
                  </a:defRPr>
                </a:lvl2pPr>
                <a:lvl3pPr>
                  <a:defRPr>
                    <a:solidFill>
                      <a:schemeClr val="tx1"/>
                    </a:solidFill>
                    <a:latin typeface="Calibri" charset="0"/>
                    <a:ea typeface="ヒラギノ角ゴ Pro W3" charset="0"/>
                    <a:cs typeface="ヒラギノ角ゴ Pro W3" charset="0"/>
                  </a:defRPr>
                </a:lvl3pPr>
                <a:lvl4pPr>
                  <a:defRPr>
                    <a:solidFill>
                      <a:schemeClr val="tx1"/>
                    </a:solidFill>
                    <a:latin typeface="Calibri" charset="0"/>
                    <a:ea typeface="ヒラギノ角ゴ Pro W3" charset="0"/>
                    <a:cs typeface="ヒラギノ角ゴ Pro W3" charset="0"/>
                  </a:defRPr>
                </a:lvl4pPr>
                <a:lvl5pPr>
                  <a:defRPr>
                    <a:solidFill>
                      <a:schemeClr val="tx1"/>
                    </a:solidFill>
                    <a:latin typeface="Calibri" charset="0"/>
                    <a:ea typeface="ヒラギノ角ゴ Pro W3" charset="0"/>
                    <a:cs typeface="ヒラギノ角ゴ Pro W3" charset="0"/>
                  </a:defRPr>
                </a:lvl5pPr>
                <a:lvl6pPr marL="457200" fontAlgn="base">
                  <a:spcBef>
                    <a:spcPct val="0"/>
                  </a:spcBef>
                  <a:spcAft>
                    <a:spcPct val="0"/>
                  </a:spcAft>
                  <a:defRPr>
                    <a:solidFill>
                      <a:schemeClr val="tx1"/>
                    </a:solidFill>
                    <a:latin typeface="Calibri" charset="0"/>
                    <a:ea typeface="ヒラギノ角ゴ Pro W3" charset="0"/>
                    <a:cs typeface="ヒラギノ角ゴ Pro W3" charset="0"/>
                  </a:defRPr>
                </a:lvl6pPr>
                <a:lvl7pPr marL="914400" fontAlgn="base">
                  <a:spcBef>
                    <a:spcPct val="0"/>
                  </a:spcBef>
                  <a:spcAft>
                    <a:spcPct val="0"/>
                  </a:spcAft>
                  <a:defRPr>
                    <a:solidFill>
                      <a:schemeClr val="tx1"/>
                    </a:solidFill>
                    <a:latin typeface="Calibri" charset="0"/>
                    <a:ea typeface="ヒラギノ角ゴ Pro W3" charset="0"/>
                    <a:cs typeface="ヒラギノ角ゴ Pro W3" charset="0"/>
                  </a:defRPr>
                </a:lvl7pPr>
                <a:lvl8pPr marL="1371600" fontAlgn="base">
                  <a:spcBef>
                    <a:spcPct val="0"/>
                  </a:spcBef>
                  <a:spcAft>
                    <a:spcPct val="0"/>
                  </a:spcAft>
                  <a:defRPr>
                    <a:solidFill>
                      <a:schemeClr val="tx1"/>
                    </a:solidFill>
                    <a:latin typeface="Calibri" charset="0"/>
                    <a:ea typeface="ヒラギノ角ゴ Pro W3" charset="0"/>
                    <a:cs typeface="ヒラギノ角ゴ Pro W3" charset="0"/>
                  </a:defRPr>
                </a:lvl8pPr>
                <a:lvl9pPr marL="1828800" fontAlgn="base">
                  <a:spcBef>
                    <a:spcPct val="0"/>
                  </a:spcBef>
                  <a:spcAft>
                    <a:spcPct val="0"/>
                  </a:spcAft>
                  <a:defRPr>
                    <a:solidFill>
                      <a:schemeClr val="tx1"/>
                    </a:solidFill>
                    <a:latin typeface="Calibri" charset="0"/>
                    <a:ea typeface="ヒラギノ角ゴ Pro W3" charset="0"/>
                    <a:cs typeface="ヒラギノ角ゴ Pro W3" charset="0"/>
                  </a:defRPr>
                </a:lvl9pPr>
              </a:lstStyle>
              <a:p>
                <a:endParaRPr lang="en-US"/>
              </a:p>
            </p:txBody>
          </p:sp>
          <p:grpSp>
            <p:nvGrpSpPr>
              <p:cNvPr id="79" name="Group 111"/>
              <p:cNvGrpSpPr>
                <a:grpSpLocks/>
              </p:cNvGrpSpPr>
              <p:nvPr/>
            </p:nvGrpSpPr>
            <p:grpSpPr bwMode="auto">
              <a:xfrm>
                <a:off x="3990" y="3602"/>
                <a:ext cx="391" cy="332"/>
                <a:chOff x="3990" y="3602"/>
                <a:chExt cx="391" cy="332"/>
              </a:xfrm>
            </p:grpSpPr>
            <p:sp>
              <p:nvSpPr>
                <p:cNvPr id="80" name="Freeform 112"/>
                <p:cNvSpPr>
                  <a:spLocks/>
                </p:cNvSpPr>
                <p:nvPr/>
              </p:nvSpPr>
              <p:spPr bwMode="auto">
                <a:xfrm>
                  <a:off x="3990"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81" name="Freeform 113"/>
                <p:cNvSpPr>
                  <a:spLocks/>
                </p:cNvSpPr>
                <p:nvPr/>
              </p:nvSpPr>
              <p:spPr bwMode="auto">
                <a:xfrm>
                  <a:off x="4025"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82" name="Freeform 114"/>
                <p:cNvSpPr>
                  <a:spLocks/>
                </p:cNvSpPr>
                <p:nvPr/>
              </p:nvSpPr>
              <p:spPr bwMode="auto">
                <a:xfrm>
                  <a:off x="4056"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83" name="Freeform 115"/>
                <p:cNvSpPr>
                  <a:spLocks/>
                </p:cNvSpPr>
                <p:nvPr/>
              </p:nvSpPr>
              <p:spPr bwMode="auto">
                <a:xfrm>
                  <a:off x="4088"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84" name="Freeform 116"/>
                <p:cNvSpPr>
                  <a:spLocks/>
                </p:cNvSpPr>
                <p:nvPr/>
              </p:nvSpPr>
              <p:spPr bwMode="auto">
                <a:xfrm>
                  <a:off x="4120"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85" name="Freeform 117"/>
                <p:cNvSpPr>
                  <a:spLocks/>
                </p:cNvSpPr>
                <p:nvPr/>
              </p:nvSpPr>
              <p:spPr bwMode="auto">
                <a:xfrm>
                  <a:off x="4152"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86" name="Freeform 118"/>
                <p:cNvSpPr>
                  <a:spLocks/>
                </p:cNvSpPr>
                <p:nvPr/>
              </p:nvSpPr>
              <p:spPr bwMode="auto">
                <a:xfrm>
                  <a:off x="4184"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87" name="Freeform 119"/>
                <p:cNvSpPr>
                  <a:spLocks/>
                </p:cNvSpPr>
                <p:nvPr/>
              </p:nvSpPr>
              <p:spPr bwMode="auto">
                <a:xfrm>
                  <a:off x="4216"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88" name="Freeform 120"/>
                <p:cNvSpPr>
                  <a:spLocks/>
                </p:cNvSpPr>
                <p:nvPr/>
              </p:nvSpPr>
              <p:spPr bwMode="auto">
                <a:xfrm>
                  <a:off x="4248"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89" name="Freeform 121"/>
                <p:cNvSpPr>
                  <a:spLocks/>
                </p:cNvSpPr>
                <p:nvPr/>
              </p:nvSpPr>
              <p:spPr bwMode="auto">
                <a:xfrm>
                  <a:off x="4280" y="3602"/>
                  <a:ext cx="70"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90" name="Freeform 122"/>
                <p:cNvSpPr>
                  <a:spLocks/>
                </p:cNvSpPr>
                <p:nvPr/>
              </p:nvSpPr>
              <p:spPr bwMode="auto">
                <a:xfrm>
                  <a:off x="4311" y="3602"/>
                  <a:ext cx="71" cy="333"/>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1908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grpSp>
        </p:grpSp>
      </p:grpSp>
      <p:sp>
        <p:nvSpPr>
          <p:cNvPr id="130" name="Text Box 123"/>
          <p:cNvSpPr txBox="1">
            <a:spLocks noChangeArrowheads="1"/>
          </p:cNvSpPr>
          <p:nvPr/>
        </p:nvSpPr>
        <p:spPr bwMode="auto">
          <a:xfrm>
            <a:off x="0" y="3200400"/>
            <a:ext cx="4490819" cy="7126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wrap="square" lIns="90000" tIns="46800" rIns="90000" bIns="46800">
            <a:spAutoFit/>
          </a:bodyPr>
          <a:lstStyle>
            <a:lvl1pPr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1pPr>
            <a:lvl2pPr marL="37931725" indent="-37474525"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5pPr>
            <a:lvl6pPr marL="4572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6pPr>
            <a:lvl7pPr marL="9144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7pPr>
            <a:lvl8pPr marL="13716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8pPr>
            <a:lvl9pPr marL="18288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9pPr>
          </a:lstStyle>
          <a:p>
            <a:pPr algn="ctr">
              <a:spcBef>
                <a:spcPts val="450"/>
              </a:spcBef>
              <a:buClr>
                <a:srgbClr val="00CC00"/>
              </a:buClr>
              <a:buSzPct val="100000"/>
              <a:buFont typeface="Arial" charset="0"/>
              <a:buNone/>
            </a:pPr>
            <a:r>
              <a:rPr lang="en-US" b="1" dirty="0">
                <a:solidFill>
                  <a:srgbClr val="00B050"/>
                </a:solidFill>
                <a:latin typeface="Arial" charset="0"/>
                <a:ea typeface="ＭＳ Ｐゴシック" charset="0"/>
                <a:cs typeface="ＭＳ Ｐゴシック" charset="0"/>
              </a:rPr>
              <a:t>Parallel Kernel (device)</a:t>
            </a:r>
          </a:p>
          <a:p>
            <a:pPr algn="ctr">
              <a:spcBef>
                <a:spcPts val="450"/>
              </a:spcBef>
              <a:buClr>
                <a:srgbClr val="00CC00"/>
              </a:buClr>
              <a:buSzPct val="100000"/>
              <a:buFont typeface="Arial" charset="0"/>
              <a:buNone/>
            </a:pPr>
            <a:r>
              <a:rPr lang="en-US" b="1" dirty="0" err="1">
                <a:solidFill>
                  <a:srgbClr val="00B050"/>
                </a:solidFill>
                <a:latin typeface="Courier"/>
                <a:ea typeface="ＭＳ Ｐゴシック" charset="0"/>
                <a:cs typeface="Courier"/>
              </a:rPr>
              <a:t>KernelA</a:t>
            </a:r>
            <a:r>
              <a:rPr lang="en-US" b="1" dirty="0">
                <a:solidFill>
                  <a:srgbClr val="00B050"/>
                </a:solidFill>
                <a:latin typeface="Courier"/>
                <a:ea typeface="ＭＳ Ｐゴシック" charset="0"/>
                <a:cs typeface="Courier"/>
              </a:rPr>
              <a:t>&lt;&lt;&lt;</a:t>
            </a:r>
            <a:r>
              <a:rPr lang="en-US" b="1" dirty="0" err="1">
                <a:solidFill>
                  <a:srgbClr val="00B050"/>
                </a:solidFill>
                <a:latin typeface="Courier"/>
                <a:ea typeface="ＭＳ Ｐゴシック" charset="0"/>
                <a:cs typeface="Courier"/>
              </a:rPr>
              <a:t>nBlk</a:t>
            </a:r>
            <a:r>
              <a:rPr lang="en-US" b="1" dirty="0">
                <a:solidFill>
                  <a:srgbClr val="00B050"/>
                </a:solidFill>
                <a:latin typeface="Courier"/>
                <a:ea typeface="ＭＳ Ｐゴシック" charset="0"/>
                <a:cs typeface="Courier"/>
              </a:rPr>
              <a:t>, </a:t>
            </a:r>
            <a:r>
              <a:rPr lang="en-US" b="1" dirty="0" err="1">
                <a:solidFill>
                  <a:srgbClr val="00B050"/>
                </a:solidFill>
                <a:latin typeface="Courier"/>
                <a:ea typeface="ＭＳ Ｐゴシック" charset="0"/>
                <a:cs typeface="Courier"/>
              </a:rPr>
              <a:t>nThr</a:t>
            </a:r>
            <a:r>
              <a:rPr lang="en-US" b="1" dirty="0">
                <a:solidFill>
                  <a:srgbClr val="00B050"/>
                </a:solidFill>
                <a:latin typeface="Courier"/>
                <a:ea typeface="ＭＳ Ｐゴシック" charset="0"/>
                <a:cs typeface="Courier"/>
              </a:rPr>
              <a:t>&gt;&gt;&gt;(</a:t>
            </a:r>
            <a:r>
              <a:rPr lang="en-US" b="1" dirty="0" err="1">
                <a:solidFill>
                  <a:srgbClr val="00B050"/>
                </a:solidFill>
                <a:latin typeface="Courier"/>
                <a:ea typeface="ＭＳ Ｐゴシック" charset="0"/>
                <a:cs typeface="Courier"/>
              </a:rPr>
              <a:t>args</a:t>
            </a:r>
            <a:r>
              <a:rPr lang="en-US" b="1" dirty="0">
                <a:solidFill>
                  <a:srgbClr val="00B050"/>
                </a:solidFill>
                <a:latin typeface="Courier"/>
                <a:ea typeface="ＭＳ Ｐゴシック" charset="0"/>
                <a:cs typeface="Courier"/>
              </a:rPr>
              <a:t>);</a:t>
            </a:r>
          </a:p>
        </p:txBody>
      </p:sp>
      <p:sp>
        <p:nvSpPr>
          <p:cNvPr id="131" name="Freeform 124"/>
          <p:cNvSpPr>
            <a:spLocks/>
          </p:cNvSpPr>
          <p:nvPr/>
        </p:nvSpPr>
        <p:spPr bwMode="auto">
          <a:xfrm>
            <a:off x="6577173" y="2209800"/>
            <a:ext cx="73025" cy="808038"/>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132" name="Text Box 125"/>
          <p:cNvSpPr txBox="1">
            <a:spLocks noChangeArrowheads="1"/>
          </p:cNvSpPr>
          <p:nvPr/>
        </p:nvSpPr>
        <p:spPr bwMode="auto">
          <a:xfrm>
            <a:off x="1152159" y="4334632"/>
            <a:ext cx="2293938" cy="329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lIns="90000" tIns="46800" rIns="90000" bIns="46800">
            <a:spAutoFit/>
          </a:bodyPr>
          <a:lstStyle>
            <a:lvl1pPr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1pPr>
            <a:lvl2pPr marL="37931725" indent="-37474525"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5pPr>
            <a:lvl6pPr marL="4572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6pPr>
            <a:lvl7pPr marL="9144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7pPr>
            <a:lvl8pPr marL="13716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8pPr>
            <a:lvl9pPr marL="18288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9pPr>
          </a:lstStyle>
          <a:p>
            <a:pPr algn="ctr">
              <a:lnSpc>
                <a:spcPct val="85000"/>
              </a:lnSpc>
              <a:spcBef>
                <a:spcPts val="225"/>
              </a:spcBef>
              <a:buClr>
                <a:srgbClr val="3333CC"/>
              </a:buClr>
              <a:buSzPct val="100000"/>
              <a:buFont typeface="Arial" charset="0"/>
              <a:buNone/>
            </a:pPr>
            <a:r>
              <a:rPr lang="en-US" b="1" dirty="0">
                <a:solidFill>
                  <a:srgbClr val="3333CC"/>
                </a:solidFill>
                <a:latin typeface="Arial" charset="0"/>
                <a:ea typeface="ＭＳ Ｐゴシック" charset="0"/>
                <a:cs typeface="ＭＳ Ｐゴシック" charset="0"/>
              </a:rPr>
              <a:t>Serial Code (host)</a:t>
            </a:r>
          </a:p>
        </p:txBody>
      </p:sp>
      <p:sp>
        <p:nvSpPr>
          <p:cNvPr id="133" name="Freeform 126"/>
          <p:cNvSpPr>
            <a:spLocks/>
          </p:cNvSpPr>
          <p:nvPr/>
        </p:nvSpPr>
        <p:spPr bwMode="auto">
          <a:xfrm>
            <a:off x="6617666" y="4114800"/>
            <a:ext cx="73025" cy="808037"/>
          </a:xfrm>
          <a:custGeom>
            <a:avLst/>
            <a:gdLst>
              <a:gd name="T0" fmla="*/ 56 w 208"/>
              <a:gd name="T1" fmla="*/ 0 h 1536"/>
              <a:gd name="T2" fmla="*/ 200 w 208"/>
              <a:gd name="T3" fmla="*/ 192 h 1536"/>
              <a:gd name="T4" fmla="*/ 8 w 208"/>
              <a:gd name="T5" fmla="*/ 336 h 1536"/>
              <a:gd name="T6" fmla="*/ 152 w 208"/>
              <a:gd name="T7" fmla="*/ 528 h 1536"/>
              <a:gd name="T8" fmla="*/ 8 w 208"/>
              <a:gd name="T9" fmla="*/ 720 h 1536"/>
              <a:gd name="T10" fmla="*/ 152 w 208"/>
              <a:gd name="T11" fmla="*/ 816 h 1536"/>
              <a:gd name="T12" fmla="*/ 56 w 208"/>
              <a:gd name="T13" fmla="*/ 960 h 1536"/>
              <a:gd name="T14" fmla="*/ 152 w 208"/>
              <a:gd name="T15" fmla="*/ 1104 h 1536"/>
              <a:gd name="T16" fmla="*/ 8 w 208"/>
              <a:gd name="T17" fmla="*/ 1248 h 1536"/>
              <a:gd name="T18" fmla="*/ 104 w 208"/>
              <a:gd name="T19" fmla="*/ 1344 h 1536"/>
              <a:gd name="T20" fmla="*/ 56 w 208"/>
              <a:gd name="T21" fmla="*/ 1536 h 15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8"/>
              <a:gd name="T34" fmla="*/ 0 h 1536"/>
              <a:gd name="T35" fmla="*/ 208 w 208"/>
              <a:gd name="T36" fmla="*/ 1536 h 1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noFill/>
          <a:ln w="28440">
            <a:solidFill>
              <a:srgbClr val="00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Calibri" charset="0"/>
            </a:endParaRPr>
          </a:p>
        </p:txBody>
      </p:sp>
      <p:sp>
        <p:nvSpPr>
          <p:cNvPr id="134" name="Text Box 127"/>
          <p:cNvSpPr txBox="1">
            <a:spLocks noChangeArrowheads="1"/>
          </p:cNvSpPr>
          <p:nvPr/>
        </p:nvSpPr>
        <p:spPr bwMode="auto">
          <a:xfrm>
            <a:off x="24391" y="5064599"/>
            <a:ext cx="4482042" cy="7126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wrap="square" lIns="90000" tIns="46800" rIns="90000" bIns="46800">
            <a:spAutoFit/>
          </a:bodyPr>
          <a:lstStyle>
            <a:lvl1pPr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1pPr>
            <a:lvl2pPr marL="37931725" indent="-37474525" defTabSz="4492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5pPr>
            <a:lvl6pPr marL="4572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6pPr>
            <a:lvl7pPr marL="9144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7pPr>
            <a:lvl8pPr marL="13716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8pPr>
            <a:lvl9pPr marL="18288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charset="0"/>
                <a:ea typeface="ヒラギノ角ゴ Pro W3" charset="0"/>
                <a:cs typeface="ヒラギノ角ゴ Pro W3" charset="0"/>
              </a:defRPr>
            </a:lvl9pPr>
          </a:lstStyle>
          <a:p>
            <a:pPr algn="ctr">
              <a:spcBef>
                <a:spcPts val="450"/>
              </a:spcBef>
              <a:buClr>
                <a:srgbClr val="00CC00"/>
              </a:buClr>
              <a:buSzPct val="100000"/>
              <a:buFont typeface="Arial" charset="0"/>
              <a:buNone/>
            </a:pPr>
            <a:r>
              <a:rPr lang="en-US" b="1" dirty="0">
                <a:solidFill>
                  <a:srgbClr val="00B050"/>
                </a:solidFill>
                <a:latin typeface="Arial" charset="0"/>
                <a:ea typeface="ＭＳ Ｐゴシック" charset="0"/>
                <a:cs typeface="ＭＳ Ｐゴシック" charset="0"/>
              </a:rPr>
              <a:t>Parallel Kernel (device)</a:t>
            </a:r>
          </a:p>
          <a:p>
            <a:pPr algn="ctr">
              <a:spcBef>
                <a:spcPts val="450"/>
              </a:spcBef>
              <a:buClr>
                <a:srgbClr val="00CC00"/>
              </a:buClr>
              <a:buSzPct val="100000"/>
              <a:buFont typeface="Arial" charset="0"/>
              <a:buNone/>
            </a:pPr>
            <a:r>
              <a:rPr lang="en-US" b="1" dirty="0" err="1">
                <a:solidFill>
                  <a:srgbClr val="00B050"/>
                </a:solidFill>
                <a:latin typeface="Courier"/>
                <a:ea typeface="ＭＳ Ｐゴシック" charset="0"/>
                <a:cs typeface="Courier"/>
              </a:rPr>
              <a:t>KernelB</a:t>
            </a:r>
            <a:r>
              <a:rPr lang="en-US" b="1" dirty="0">
                <a:solidFill>
                  <a:srgbClr val="00B050"/>
                </a:solidFill>
                <a:latin typeface="Courier"/>
                <a:ea typeface="ＭＳ Ｐゴシック" charset="0"/>
                <a:cs typeface="Courier"/>
              </a:rPr>
              <a:t>&lt;&lt;&lt;</a:t>
            </a:r>
            <a:r>
              <a:rPr lang="en-US" b="1" dirty="0" err="1">
                <a:solidFill>
                  <a:srgbClr val="00B050"/>
                </a:solidFill>
                <a:latin typeface="Courier"/>
                <a:ea typeface="ＭＳ Ｐゴシック" charset="0"/>
                <a:cs typeface="Courier"/>
              </a:rPr>
              <a:t>nBlk</a:t>
            </a:r>
            <a:r>
              <a:rPr lang="en-US" b="1" dirty="0">
                <a:solidFill>
                  <a:srgbClr val="00B050"/>
                </a:solidFill>
                <a:latin typeface="Courier"/>
                <a:ea typeface="ＭＳ Ｐゴシック" charset="0"/>
                <a:cs typeface="Courier"/>
              </a:rPr>
              <a:t>, </a:t>
            </a:r>
            <a:r>
              <a:rPr lang="en-US" b="1" dirty="0" err="1">
                <a:solidFill>
                  <a:srgbClr val="00B050"/>
                </a:solidFill>
                <a:latin typeface="Courier"/>
                <a:ea typeface="ＭＳ Ｐゴシック" charset="0"/>
                <a:cs typeface="Courier"/>
              </a:rPr>
              <a:t>nThr</a:t>
            </a:r>
            <a:r>
              <a:rPr lang="en-US" b="1" dirty="0">
                <a:solidFill>
                  <a:srgbClr val="00B050"/>
                </a:solidFill>
                <a:latin typeface="Courier"/>
                <a:ea typeface="ＭＳ Ｐゴシック" charset="0"/>
                <a:cs typeface="Courier"/>
              </a:rPr>
              <a:t>&gt;&gt;&gt;(</a:t>
            </a:r>
            <a:r>
              <a:rPr lang="en-US" b="1" dirty="0" err="1">
                <a:solidFill>
                  <a:srgbClr val="00B050"/>
                </a:solidFill>
                <a:latin typeface="Courier"/>
                <a:ea typeface="ＭＳ Ｐゴシック" charset="0"/>
                <a:cs typeface="Courier"/>
              </a:rPr>
              <a:t>args</a:t>
            </a:r>
            <a:r>
              <a:rPr lang="en-US" b="1" dirty="0">
                <a:solidFill>
                  <a:srgbClr val="00B050"/>
                </a:solidFill>
                <a:latin typeface="Courier"/>
                <a:ea typeface="ＭＳ Ｐゴシック" charset="0"/>
                <a:cs typeface="Courier"/>
              </a:rPr>
              <a:t>);</a:t>
            </a:r>
          </a:p>
        </p:txBody>
      </p:sp>
      <p:sp>
        <p:nvSpPr>
          <p:cNvPr id="135" name="Título 134"/>
          <p:cNvSpPr>
            <a:spLocks noGrp="1"/>
          </p:cNvSpPr>
          <p:nvPr>
            <p:ph type="title"/>
          </p:nvPr>
        </p:nvSpPr>
        <p:spPr/>
        <p:txBody>
          <a:bodyPr/>
          <a:lstStyle/>
          <a:p>
            <a:r>
              <a:rPr lang="en-US" dirty="0"/>
              <a:t>Warps </a:t>
            </a:r>
            <a:r>
              <a:rPr lang="en-US" i="1" dirty="0"/>
              <a:t>not</a:t>
            </a:r>
            <a:r>
              <a:rPr lang="en-US" dirty="0"/>
              <a:t> Exposed to GPU Programmers</a:t>
            </a:r>
          </a:p>
        </p:txBody>
      </p:sp>
      <p:sp>
        <p:nvSpPr>
          <p:cNvPr id="2" name="Marcador de número de diapositiva 1"/>
          <p:cNvSpPr>
            <a:spLocks noGrp="1"/>
          </p:cNvSpPr>
          <p:nvPr>
            <p:ph type="sldNum" sz="quarter" idx="11"/>
          </p:nvPr>
        </p:nvSpPr>
        <p:spPr/>
        <p:txBody>
          <a:bodyPr/>
          <a:lstStyle/>
          <a:p>
            <a:fld id="{323594FA-E141-4234-AE05-360401972BE7}" type="slidenum">
              <a:rPr lang="en-US" altLang="en-US" smtClean="0"/>
              <a:pPr/>
              <a:t>103</a:t>
            </a:fld>
            <a:endParaRPr lang="en-US" altLang="en-US"/>
          </a:p>
        </p:txBody>
      </p:sp>
      <p:sp>
        <p:nvSpPr>
          <p:cNvPr id="136" name="CuadroTexto 135"/>
          <p:cNvSpPr txBox="1"/>
          <p:nvPr/>
        </p:nvSpPr>
        <p:spPr>
          <a:xfrm>
            <a:off x="7545764" y="6165304"/>
            <a:ext cx="1274708" cy="215444"/>
          </a:xfrm>
          <a:prstGeom prst="rect">
            <a:avLst/>
          </a:prstGeom>
          <a:noFill/>
        </p:spPr>
        <p:txBody>
          <a:bodyPr wrap="none" rtlCol="0">
            <a:spAutoFit/>
          </a:bodyPr>
          <a:lstStyle/>
          <a:p>
            <a:r>
              <a:rPr lang="en-US" sz="800" dirty="0"/>
              <a:t>Slide credit: </a:t>
            </a:r>
            <a:r>
              <a:rPr lang="en-US" sz="800" dirty="0" err="1"/>
              <a:t>Hwu</a:t>
            </a:r>
            <a:r>
              <a:rPr lang="en-US" sz="800" dirty="0"/>
              <a:t> &amp; Kirk</a:t>
            </a:r>
          </a:p>
        </p:txBody>
      </p:sp>
    </p:spTree>
    <p:extLst>
      <p:ext uri="{BB962C8B-B14F-4D97-AF65-F5344CB8AC3E}">
        <p14:creationId xmlns:p14="http://schemas.microsoft.com/office/powerpoint/2010/main" val="42834213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0" grpId="0"/>
      <p:bldP spid="131" grpId="0" animBg="1"/>
      <p:bldP spid="132" grpId="0"/>
      <p:bldP spid="133" grpId="0" animBg="1"/>
      <p:bldP spid="134" grpId="0"/>
      <p:bldP spid="136"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From Blocks to Warps</a:t>
            </a:r>
          </a:p>
        </p:txBody>
      </p:sp>
      <p:sp>
        <p:nvSpPr>
          <p:cNvPr id="3" name="Marcador de contenido 2"/>
          <p:cNvSpPr>
            <a:spLocks noGrp="1"/>
          </p:cNvSpPr>
          <p:nvPr>
            <p:ph idx="1"/>
          </p:nvPr>
        </p:nvSpPr>
        <p:spPr>
          <a:xfrm>
            <a:off x="251520" y="908720"/>
            <a:ext cx="4824535" cy="5472534"/>
          </a:xfrm>
        </p:spPr>
        <p:txBody>
          <a:bodyPr>
            <a:normAutofit/>
          </a:bodyPr>
          <a:lstStyle/>
          <a:p>
            <a:r>
              <a:rPr lang="en-US" dirty="0"/>
              <a:t>GPU cores: SIMD pipelines</a:t>
            </a:r>
          </a:p>
          <a:p>
            <a:pPr lvl="1"/>
            <a:r>
              <a:rPr lang="en-US" dirty="0"/>
              <a:t>Streaming Multiprocessors (SM)</a:t>
            </a:r>
          </a:p>
          <a:p>
            <a:pPr lvl="1"/>
            <a:r>
              <a:rPr lang="en-US" dirty="0"/>
              <a:t>Streaming Processors (SP)</a:t>
            </a:r>
          </a:p>
          <a:p>
            <a:endParaRPr lang="en-US" dirty="0"/>
          </a:p>
          <a:p>
            <a:r>
              <a:rPr lang="en-US" dirty="0"/>
              <a:t>Blocks are divided into </a:t>
            </a:r>
            <a:r>
              <a:rPr lang="en-US" dirty="0">
                <a:solidFill>
                  <a:srgbClr val="0000FF"/>
                </a:solidFill>
              </a:rPr>
              <a:t>warps</a:t>
            </a:r>
          </a:p>
          <a:p>
            <a:pPr lvl="1"/>
            <a:r>
              <a:rPr lang="en-US" dirty="0"/>
              <a:t>SIMD unit (32 threads)</a:t>
            </a:r>
          </a:p>
          <a:p>
            <a:pPr lvl="1"/>
            <a:endParaRPr lang="en-US" dirty="0"/>
          </a:p>
        </p:txBody>
      </p:sp>
      <p:pic>
        <p:nvPicPr>
          <p:cNvPr id="9" name="Imagen 8" descr="CUDA_SM2x.eps"/>
          <p:cNvPicPr>
            <a:picLocks noChangeAspect="1"/>
          </p:cNvPicPr>
          <p:nvPr/>
        </p:nvPicPr>
        <p:blipFill>
          <a:blip r:embed="rId2"/>
          <a:stretch>
            <a:fillRect/>
          </a:stretch>
        </p:blipFill>
        <p:spPr>
          <a:xfrm>
            <a:off x="5880822" y="1125304"/>
            <a:ext cx="2855652" cy="4895984"/>
          </a:xfrm>
          <a:prstGeom prst="rect">
            <a:avLst/>
          </a:prstGeom>
        </p:spPr>
      </p:pic>
      <p:sp>
        <p:nvSpPr>
          <p:cNvPr id="7" name="Rectangle 73"/>
          <p:cNvSpPr>
            <a:spLocks noChangeArrowheads="1"/>
          </p:cNvSpPr>
          <p:nvPr/>
        </p:nvSpPr>
        <p:spPr bwMode="auto">
          <a:xfrm>
            <a:off x="622589" y="4235450"/>
            <a:ext cx="1093787" cy="1057275"/>
          </a:xfrm>
          <a:prstGeom prst="rect">
            <a:avLst/>
          </a:prstGeom>
          <a:solidFill>
            <a:schemeClr val="bg1"/>
          </a:solidFill>
          <a:ln w="25400">
            <a:solidFill>
              <a:srgbClr val="00CC00"/>
            </a:solidFill>
            <a:miter lim="800000"/>
            <a:headEnd/>
            <a:tailEnd/>
          </a:ln>
          <a:effectLst/>
        </p:spPr>
        <p:txBody>
          <a:bodyPr wrap="none" anchor="ctr">
            <a:prstTxWarp prst="textNoShape">
              <a:avLst/>
            </a:prstTxWarp>
          </a:bodyPr>
          <a:lstStyle/>
          <a:p>
            <a:endParaRPr lang="es-ES_tradnl"/>
          </a:p>
        </p:txBody>
      </p:sp>
      <p:sp>
        <p:nvSpPr>
          <p:cNvPr id="10" name="Rectangle 74"/>
          <p:cNvSpPr>
            <a:spLocks noChangeArrowheads="1"/>
          </p:cNvSpPr>
          <p:nvPr/>
        </p:nvSpPr>
        <p:spPr bwMode="auto">
          <a:xfrm>
            <a:off x="774989" y="4387850"/>
            <a:ext cx="1093787" cy="1057275"/>
          </a:xfrm>
          <a:prstGeom prst="rect">
            <a:avLst/>
          </a:prstGeom>
          <a:solidFill>
            <a:schemeClr val="bg1"/>
          </a:solidFill>
          <a:ln w="25400">
            <a:solidFill>
              <a:srgbClr val="00CC00"/>
            </a:solidFill>
            <a:miter lim="800000"/>
            <a:headEnd/>
            <a:tailEnd/>
          </a:ln>
          <a:effectLst/>
        </p:spPr>
        <p:txBody>
          <a:bodyPr wrap="none" anchor="ctr">
            <a:prstTxWarp prst="textNoShape">
              <a:avLst/>
            </a:prstTxWarp>
          </a:bodyPr>
          <a:lstStyle/>
          <a:p>
            <a:pPr algn="ctr"/>
            <a:r>
              <a:rPr lang="en-US" altLang="zh-TW">
                <a:ea typeface="新細明體" pitchFamily="16" charset="-128"/>
                <a:cs typeface="Arial" pitchFamily="-111" charset="0"/>
              </a:rPr>
              <a:t>…</a:t>
            </a:r>
          </a:p>
        </p:txBody>
      </p:sp>
      <p:grpSp>
        <p:nvGrpSpPr>
          <p:cNvPr id="11" name="Group 75"/>
          <p:cNvGrpSpPr>
            <a:grpSpLocks/>
          </p:cNvGrpSpPr>
          <p:nvPr/>
        </p:nvGrpSpPr>
        <p:grpSpPr bwMode="auto">
          <a:xfrm>
            <a:off x="1002001" y="4616450"/>
            <a:ext cx="1066800" cy="1022350"/>
            <a:chOff x="568" y="2568"/>
            <a:chExt cx="1219" cy="1480"/>
          </a:xfrm>
        </p:grpSpPr>
        <p:sp>
          <p:nvSpPr>
            <p:cNvPr id="12" name="Text Box 76"/>
            <p:cNvSpPr txBox="1">
              <a:spLocks noChangeArrowheads="1"/>
            </p:cNvSpPr>
            <p:nvPr/>
          </p:nvSpPr>
          <p:spPr bwMode="auto">
            <a:xfrm>
              <a:off x="568" y="2568"/>
              <a:ext cx="1219" cy="1480"/>
            </a:xfrm>
            <a:prstGeom prst="rect">
              <a:avLst/>
            </a:prstGeom>
            <a:solidFill>
              <a:schemeClr val="bg1">
                <a:alpha val="67000"/>
              </a:schemeClr>
            </a:solidFill>
            <a:ln w="28575">
              <a:solidFill>
                <a:srgbClr val="00CC00"/>
              </a:solidFill>
              <a:miter lim="800000"/>
              <a:headEnd/>
              <a:tailEnd/>
            </a:ln>
            <a:effectLst/>
          </p:spPr>
          <p:txBody>
            <a:bodyPr lIns="0" rIns="0">
              <a:prstTxWarp prst="textNoShape">
                <a:avLst/>
              </a:prstTxWarp>
            </a:bodyPr>
            <a:lstStyle/>
            <a:p>
              <a:pPr algn="ctr">
                <a:lnSpc>
                  <a:spcPct val="85000"/>
                </a:lnSpc>
                <a:spcBef>
                  <a:spcPct val="10000"/>
                </a:spcBef>
              </a:pPr>
              <a:r>
                <a:rPr lang="en-US" altLang="zh-TW" sz="1200">
                  <a:latin typeface="Tahoma" pitchFamily="-111" charset="0"/>
                  <a:ea typeface="新細明體" pitchFamily="16" charset="-128"/>
                  <a:cs typeface="Arial" pitchFamily="-111" charset="0"/>
                </a:rPr>
                <a:t>t0 t1 t2 … t31</a:t>
              </a:r>
              <a:endParaRPr lang="en-US" altLang="zh-TW" sz="1200">
                <a:latin typeface="Arial" pitchFamily="-111" charset="0"/>
                <a:ea typeface="新細明體" pitchFamily="16" charset="-128"/>
                <a:cs typeface="Arial" pitchFamily="-111" charset="0"/>
              </a:endParaRPr>
            </a:p>
          </p:txBody>
        </p:sp>
        <p:sp>
          <p:nvSpPr>
            <p:cNvPr id="13" name="Freeform 77"/>
            <p:cNvSpPr>
              <a:spLocks/>
            </p:cNvSpPr>
            <p:nvPr/>
          </p:nvSpPr>
          <p:spPr bwMode="auto">
            <a:xfrm>
              <a:off x="704"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14" name="Freeform 78"/>
            <p:cNvSpPr>
              <a:spLocks/>
            </p:cNvSpPr>
            <p:nvPr/>
          </p:nvSpPr>
          <p:spPr bwMode="auto">
            <a:xfrm>
              <a:off x="784"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15" name="Freeform 79"/>
            <p:cNvSpPr>
              <a:spLocks/>
            </p:cNvSpPr>
            <p:nvPr/>
          </p:nvSpPr>
          <p:spPr bwMode="auto">
            <a:xfrm>
              <a:off x="858"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16" name="Freeform 80"/>
            <p:cNvSpPr>
              <a:spLocks/>
            </p:cNvSpPr>
            <p:nvPr/>
          </p:nvSpPr>
          <p:spPr bwMode="auto">
            <a:xfrm>
              <a:off x="932"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17" name="Freeform 81"/>
            <p:cNvSpPr>
              <a:spLocks/>
            </p:cNvSpPr>
            <p:nvPr/>
          </p:nvSpPr>
          <p:spPr bwMode="auto">
            <a:xfrm>
              <a:off x="1006"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18" name="Freeform 82"/>
            <p:cNvSpPr>
              <a:spLocks/>
            </p:cNvSpPr>
            <p:nvPr/>
          </p:nvSpPr>
          <p:spPr bwMode="auto">
            <a:xfrm>
              <a:off x="1080"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19" name="Freeform 83"/>
            <p:cNvSpPr>
              <a:spLocks/>
            </p:cNvSpPr>
            <p:nvPr/>
          </p:nvSpPr>
          <p:spPr bwMode="auto">
            <a:xfrm>
              <a:off x="1154"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20" name="Freeform 84"/>
            <p:cNvSpPr>
              <a:spLocks/>
            </p:cNvSpPr>
            <p:nvPr/>
          </p:nvSpPr>
          <p:spPr bwMode="auto">
            <a:xfrm>
              <a:off x="1228"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21" name="Freeform 85"/>
            <p:cNvSpPr>
              <a:spLocks/>
            </p:cNvSpPr>
            <p:nvPr/>
          </p:nvSpPr>
          <p:spPr bwMode="auto">
            <a:xfrm>
              <a:off x="1302"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22" name="Freeform 86"/>
            <p:cNvSpPr>
              <a:spLocks/>
            </p:cNvSpPr>
            <p:nvPr/>
          </p:nvSpPr>
          <p:spPr bwMode="auto">
            <a:xfrm>
              <a:off x="1376"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sp>
          <p:nvSpPr>
            <p:cNvPr id="23" name="Freeform 87"/>
            <p:cNvSpPr>
              <a:spLocks/>
            </p:cNvSpPr>
            <p:nvPr/>
          </p:nvSpPr>
          <p:spPr bwMode="auto">
            <a:xfrm>
              <a:off x="1450"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00CC00"/>
              </a:solidFill>
              <a:round/>
              <a:headEnd type="none" w="med" len="med"/>
              <a:tailEnd type="triangle" w="med" len="lg"/>
            </a:ln>
            <a:effectLst/>
          </p:spPr>
          <p:txBody>
            <a:bodyPr>
              <a:prstTxWarp prst="textNoShape">
                <a:avLst/>
              </a:prstTxWarp>
            </a:bodyPr>
            <a:lstStyle/>
            <a:p>
              <a:endParaRPr lang="es-ES_tradnl"/>
            </a:p>
          </p:txBody>
        </p:sp>
      </p:grpSp>
      <p:sp>
        <p:nvSpPr>
          <p:cNvPr id="24" name="Text Box 88"/>
          <p:cNvSpPr txBox="1">
            <a:spLocks noChangeArrowheads="1"/>
          </p:cNvSpPr>
          <p:nvPr/>
        </p:nvSpPr>
        <p:spPr bwMode="auto">
          <a:xfrm>
            <a:off x="822614" y="4235450"/>
            <a:ext cx="488950" cy="457200"/>
          </a:xfrm>
          <a:prstGeom prst="rect">
            <a:avLst/>
          </a:prstGeom>
          <a:noFill/>
          <a:ln w="9525">
            <a:noFill/>
            <a:miter lim="800000"/>
            <a:headEnd/>
            <a:tailEnd/>
          </a:ln>
          <a:effectLst/>
        </p:spPr>
        <p:txBody>
          <a:bodyPr wrap="none">
            <a:prstTxWarp prst="textNoShape">
              <a:avLst/>
            </a:prstTxWarp>
            <a:spAutoFit/>
          </a:bodyPr>
          <a:lstStyle/>
          <a:p>
            <a:r>
              <a:rPr lang="en-US" altLang="zh-TW">
                <a:ea typeface="新細明體" pitchFamily="16" charset="-128"/>
                <a:cs typeface="Arial" pitchFamily="-111" charset="0"/>
              </a:rPr>
              <a:t>…</a:t>
            </a:r>
          </a:p>
        </p:txBody>
      </p:sp>
      <p:sp>
        <p:nvSpPr>
          <p:cNvPr id="25" name="Rectangle 89"/>
          <p:cNvSpPr>
            <a:spLocks noChangeArrowheads="1"/>
          </p:cNvSpPr>
          <p:nvPr/>
        </p:nvSpPr>
        <p:spPr bwMode="auto">
          <a:xfrm>
            <a:off x="2222789" y="4235450"/>
            <a:ext cx="1093787" cy="1057275"/>
          </a:xfrm>
          <a:prstGeom prst="rect">
            <a:avLst/>
          </a:prstGeom>
          <a:solidFill>
            <a:schemeClr val="bg1"/>
          </a:solidFill>
          <a:ln w="25400">
            <a:solidFill>
              <a:srgbClr val="FF6600"/>
            </a:solidFill>
            <a:miter lim="800000"/>
            <a:headEnd/>
            <a:tailEnd/>
          </a:ln>
          <a:effectLst/>
        </p:spPr>
        <p:txBody>
          <a:bodyPr wrap="none" anchor="ctr">
            <a:prstTxWarp prst="textNoShape">
              <a:avLst/>
            </a:prstTxWarp>
          </a:bodyPr>
          <a:lstStyle/>
          <a:p>
            <a:endParaRPr lang="es-ES_tradnl"/>
          </a:p>
        </p:txBody>
      </p:sp>
      <p:sp>
        <p:nvSpPr>
          <p:cNvPr id="26" name="Rectangle 90"/>
          <p:cNvSpPr>
            <a:spLocks noChangeArrowheads="1"/>
          </p:cNvSpPr>
          <p:nvPr/>
        </p:nvSpPr>
        <p:spPr bwMode="auto">
          <a:xfrm>
            <a:off x="2375189" y="4387850"/>
            <a:ext cx="1093787" cy="1057275"/>
          </a:xfrm>
          <a:prstGeom prst="rect">
            <a:avLst/>
          </a:prstGeom>
          <a:solidFill>
            <a:schemeClr val="bg1"/>
          </a:solidFill>
          <a:ln w="25400">
            <a:solidFill>
              <a:srgbClr val="FF6600"/>
            </a:solidFill>
            <a:miter lim="800000"/>
            <a:headEnd/>
            <a:tailEnd/>
          </a:ln>
          <a:effectLst/>
        </p:spPr>
        <p:txBody>
          <a:bodyPr wrap="none" anchor="ctr">
            <a:prstTxWarp prst="textNoShape">
              <a:avLst/>
            </a:prstTxWarp>
          </a:bodyPr>
          <a:lstStyle/>
          <a:p>
            <a:pPr algn="ctr"/>
            <a:r>
              <a:rPr lang="en-US" altLang="zh-TW">
                <a:ea typeface="新細明體" pitchFamily="16" charset="-128"/>
                <a:cs typeface="Arial" pitchFamily="-111" charset="0"/>
              </a:rPr>
              <a:t>…</a:t>
            </a:r>
          </a:p>
        </p:txBody>
      </p:sp>
      <p:grpSp>
        <p:nvGrpSpPr>
          <p:cNvPr id="27" name="Group 91"/>
          <p:cNvGrpSpPr>
            <a:grpSpLocks/>
          </p:cNvGrpSpPr>
          <p:nvPr/>
        </p:nvGrpSpPr>
        <p:grpSpPr bwMode="auto">
          <a:xfrm>
            <a:off x="2602201" y="4616450"/>
            <a:ext cx="1066800" cy="1022350"/>
            <a:chOff x="568" y="2568"/>
            <a:chExt cx="1219" cy="1480"/>
          </a:xfrm>
        </p:grpSpPr>
        <p:sp>
          <p:nvSpPr>
            <p:cNvPr id="28" name="Text Box 92"/>
            <p:cNvSpPr txBox="1">
              <a:spLocks noChangeArrowheads="1"/>
            </p:cNvSpPr>
            <p:nvPr/>
          </p:nvSpPr>
          <p:spPr bwMode="auto">
            <a:xfrm>
              <a:off x="568" y="2568"/>
              <a:ext cx="1219" cy="1480"/>
            </a:xfrm>
            <a:prstGeom prst="rect">
              <a:avLst/>
            </a:prstGeom>
            <a:solidFill>
              <a:schemeClr val="bg1">
                <a:alpha val="67000"/>
              </a:schemeClr>
            </a:solidFill>
            <a:ln w="28575">
              <a:solidFill>
                <a:srgbClr val="FF6600"/>
              </a:solidFill>
              <a:miter lim="800000"/>
              <a:headEnd/>
              <a:tailEnd/>
            </a:ln>
            <a:effectLst/>
          </p:spPr>
          <p:txBody>
            <a:bodyPr lIns="0" rIns="0">
              <a:prstTxWarp prst="textNoShape">
                <a:avLst/>
              </a:prstTxWarp>
            </a:bodyPr>
            <a:lstStyle/>
            <a:p>
              <a:pPr algn="ctr">
                <a:lnSpc>
                  <a:spcPct val="85000"/>
                </a:lnSpc>
                <a:spcBef>
                  <a:spcPct val="10000"/>
                </a:spcBef>
              </a:pPr>
              <a:r>
                <a:rPr lang="en-US" altLang="zh-TW" sz="1200">
                  <a:latin typeface="Tahoma" pitchFamily="-111" charset="0"/>
                  <a:ea typeface="新細明體" pitchFamily="16" charset="-128"/>
                  <a:cs typeface="Arial" pitchFamily="-111" charset="0"/>
                </a:rPr>
                <a:t>t0 t1 t2 … t31</a:t>
              </a:r>
              <a:endParaRPr lang="en-US" altLang="zh-TW" sz="1200">
                <a:latin typeface="Arial" pitchFamily="-111" charset="0"/>
                <a:ea typeface="新細明體" pitchFamily="16" charset="-128"/>
                <a:cs typeface="Arial" pitchFamily="-111" charset="0"/>
              </a:endParaRPr>
            </a:p>
          </p:txBody>
        </p:sp>
        <p:sp>
          <p:nvSpPr>
            <p:cNvPr id="29" name="Freeform 93"/>
            <p:cNvSpPr>
              <a:spLocks/>
            </p:cNvSpPr>
            <p:nvPr/>
          </p:nvSpPr>
          <p:spPr bwMode="auto">
            <a:xfrm>
              <a:off x="704"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0" name="Freeform 94"/>
            <p:cNvSpPr>
              <a:spLocks/>
            </p:cNvSpPr>
            <p:nvPr/>
          </p:nvSpPr>
          <p:spPr bwMode="auto">
            <a:xfrm>
              <a:off x="784"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1" name="Freeform 95"/>
            <p:cNvSpPr>
              <a:spLocks/>
            </p:cNvSpPr>
            <p:nvPr/>
          </p:nvSpPr>
          <p:spPr bwMode="auto">
            <a:xfrm>
              <a:off x="858"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2" name="Freeform 96"/>
            <p:cNvSpPr>
              <a:spLocks/>
            </p:cNvSpPr>
            <p:nvPr/>
          </p:nvSpPr>
          <p:spPr bwMode="auto">
            <a:xfrm>
              <a:off x="932"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3" name="Freeform 97"/>
            <p:cNvSpPr>
              <a:spLocks/>
            </p:cNvSpPr>
            <p:nvPr/>
          </p:nvSpPr>
          <p:spPr bwMode="auto">
            <a:xfrm>
              <a:off x="1006"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4" name="Freeform 98"/>
            <p:cNvSpPr>
              <a:spLocks/>
            </p:cNvSpPr>
            <p:nvPr/>
          </p:nvSpPr>
          <p:spPr bwMode="auto">
            <a:xfrm>
              <a:off x="1080"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5" name="Freeform 99"/>
            <p:cNvSpPr>
              <a:spLocks/>
            </p:cNvSpPr>
            <p:nvPr/>
          </p:nvSpPr>
          <p:spPr bwMode="auto">
            <a:xfrm>
              <a:off x="1154"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6" name="Freeform 100"/>
            <p:cNvSpPr>
              <a:spLocks/>
            </p:cNvSpPr>
            <p:nvPr/>
          </p:nvSpPr>
          <p:spPr bwMode="auto">
            <a:xfrm>
              <a:off x="1228"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7" name="Freeform 101"/>
            <p:cNvSpPr>
              <a:spLocks/>
            </p:cNvSpPr>
            <p:nvPr/>
          </p:nvSpPr>
          <p:spPr bwMode="auto">
            <a:xfrm>
              <a:off x="1302"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8" name="Freeform 102"/>
            <p:cNvSpPr>
              <a:spLocks/>
            </p:cNvSpPr>
            <p:nvPr/>
          </p:nvSpPr>
          <p:spPr bwMode="auto">
            <a:xfrm>
              <a:off x="1376"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sp>
          <p:nvSpPr>
            <p:cNvPr id="39" name="Freeform 103"/>
            <p:cNvSpPr>
              <a:spLocks/>
            </p:cNvSpPr>
            <p:nvPr/>
          </p:nvSpPr>
          <p:spPr bwMode="auto">
            <a:xfrm>
              <a:off x="1450"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rgbClr val="FF6600"/>
              </a:solidFill>
              <a:round/>
              <a:headEnd type="none" w="med" len="med"/>
              <a:tailEnd type="triangle" w="med" len="lg"/>
            </a:ln>
            <a:effectLst/>
          </p:spPr>
          <p:txBody>
            <a:bodyPr>
              <a:prstTxWarp prst="textNoShape">
                <a:avLst/>
              </a:prstTxWarp>
            </a:bodyPr>
            <a:lstStyle/>
            <a:p>
              <a:endParaRPr lang="es-ES_tradnl"/>
            </a:p>
          </p:txBody>
        </p:sp>
      </p:grpSp>
      <p:sp>
        <p:nvSpPr>
          <p:cNvPr id="40" name="Text Box 104"/>
          <p:cNvSpPr txBox="1">
            <a:spLocks noChangeArrowheads="1"/>
          </p:cNvSpPr>
          <p:nvPr/>
        </p:nvSpPr>
        <p:spPr bwMode="auto">
          <a:xfrm>
            <a:off x="2422814" y="4235450"/>
            <a:ext cx="488950" cy="457200"/>
          </a:xfrm>
          <a:prstGeom prst="rect">
            <a:avLst/>
          </a:prstGeom>
          <a:noFill/>
          <a:ln w="9525">
            <a:noFill/>
            <a:miter lim="800000"/>
            <a:headEnd/>
            <a:tailEnd/>
          </a:ln>
          <a:effectLst/>
        </p:spPr>
        <p:txBody>
          <a:bodyPr wrap="none">
            <a:prstTxWarp prst="textNoShape">
              <a:avLst/>
            </a:prstTxWarp>
            <a:spAutoFit/>
          </a:bodyPr>
          <a:lstStyle/>
          <a:p>
            <a:r>
              <a:rPr lang="en-US" altLang="zh-TW">
                <a:ea typeface="新細明體" pitchFamily="16" charset="-128"/>
                <a:cs typeface="Arial" pitchFamily="-111" charset="0"/>
              </a:rPr>
              <a:t>…</a:t>
            </a:r>
          </a:p>
        </p:txBody>
      </p:sp>
      <p:sp>
        <p:nvSpPr>
          <p:cNvPr id="41" name="Text Box 105"/>
          <p:cNvSpPr txBox="1">
            <a:spLocks noChangeArrowheads="1"/>
          </p:cNvSpPr>
          <p:nvPr/>
        </p:nvSpPr>
        <p:spPr bwMode="auto">
          <a:xfrm>
            <a:off x="539552" y="3955802"/>
            <a:ext cx="1250913" cy="276999"/>
          </a:xfrm>
          <a:prstGeom prst="rect">
            <a:avLst/>
          </a:prstGeom>
          <a:noFill/>
          <a:ln w="9525">
            <a:noFill/>
            <a:miter lim="800000"/>
            <a:headEnd/>
            <a:tailEnd/>
          </a:ln>
          <a:effectLst/>
        </p:spPr>
        <p:txBody>
          <a:bodyPr wrap="none">
            <a:prstTxWarp prst="textNoShape">
              <a:avLst/>
            </a:prstTxWarp>
            <a:spAutoFit/>
          </a:bodyPr>
          <a:lstStyle/>
          <a:p>
            <a:r>
              <a:rPr lang="en-US" altLang="zh-TW" sz="1200" dirty="0">
                <a:latin typeface="Arial" pitchFamily="-111" charset="0"/>
                <a:ea typeface="新細明體" pitchFamily="16" charset="-128"/>
                <a:cs typeface="Arial" pitchFamily="-111" charset="0"/>
              </a:rPr>
              <a:t>Block 0’s warps</a:t>
            </a:r>
          </a:p>
        </p:txBody>
      </p:sp>
      <p:sp>
        <p:nvSpPr>
          <p:cNvPr id="42" name="Text Box 106"/>
          <p:cNvSpPr txBox="1">
            <a:spLocks noChangeArrowheads="1"/>
          </p:cNvSpPr>
          <p:nvPr/>
        </p:nvSpPr>
        <p:spPr bwMode="auto">
          <a:xfrm>
            <a:off x="2215952" y="3955802"/>
            <a:ext cx="1250913" cy="276999"/>
          </a:xfrm>
          <a:prstGeom prst="rect">
            <a:avLst/>
          </a:prstGeom>
          <a:noFill/>
          <a:ln w="9525">
            <a:noFill/>
            <a:miter lim="800000"/>
            <a:headEnd/>
            <a:tailEnd/>
          </a:ln>
          <a:effectLst/>
        </p:spPr>
        <p:txBody>
          <a:bodyPr wrap="none">
            <a:prstTxWarp prst="textNoShape">
              <a:avLst/>
            </a:prstTxWarp>
            <a:spAutoFit/>
          </a:bodyPr>
          <a:lstStyle/>
          <a:p>
            <a:r>
              <a:rPr lang="en-US" altLang="zh-TW" sz="1200" dirty="0">
                <a:latin typeface="Arial" pitchFamily="-111" charset="0"/>
                <a:ea typeface="新細明體" pitchFamily="16" charset="-128"/>
                <a:cs typeface="Arial" pitchFamily="-111" charset="0"/>
              </a:rPr>
              <a:t>Block 1’s warps</a:t>
            </a:r>
          </a:p>
        </p:txBody>
      </p:sp>
      <p:sp>
        <p:nvSpPr>
          <p:cNvPr id="43" name="Rectangle 135"/>
          <p:cNvSpPr>
            <a:spLocks noChangeArrowheads="1"/>
          </p:cNvSpPr>
          <p:nvPr/>
        </p:nvSpPr>
        <p:spPr bwMode="auto">
          <a:xfrm>
            <a:off x="3899189" y="4235450"/>
            <a:ext cx="1093787" cy="1057275"/>
          </a:xfrm>
          <a:prstGeom prst="rect">
            <a:avLst/>
          </a:prstGeom>
          <a:solidFill>
            <a:schemeClr val="bg1"/>
          </a:solidFill>
          <a:ln w="25400">
            <a:solidFill>
              <a:schemeClr val="accent2"/>
            </a:solidFill>
            <a:miter lim="800000"/>
            <a:headEnd/>
            <a:tailEnd/>
          </a:ln>
          <a:effectLst/>
        </p:spPr>
        <p:txBody>
          <a:bodyPr wrap="none" anchor="ctr">
            <a:prstTxWarp prst="textNoShape">
              <a:avLst/>
            </a:prstTxWarp>
          </a:bodyPr>
          <a:lstStyle/>
          <a:p>
            <a:endParaRPr lang="es-ES_tradnl"/>
          </a:p>
        </p:txBody>
      </p:sp>
      <p:sp>
        <p:nvSpPr>
          <p:cNvPr id="44" name="Rectangle 136"/>
          <p:cNvSpPr>
            <a:spLocks noChangeArrowheads="1"/>
          </p:cNvSpPr>
          <p:nvPr/>
        </p:nvSpPr>
        <p:spPr bwMode="auto">
          <a:xfrm>
            <a:off x="4051589" y="4387850"/>
            <a:ext cx="1093787" cy="1057275"/>
          </a:xfrm>
          <a:prstGeom prst="rect">
            <a:avLst/>
          </a:prstGeom>
          <a:solidFill>
            <a:schemeClr val="bg1"/>
          </a:solidFill>
          <a:ln w="25400">
            <a:solidFill>
              <a:schemeClr val="accent2"/>
            </a:solidFill>
            <a:miter lim="800000"/>
            <a:headEnd/>
            <a:tailEnd/>
          </a:ln>
          <a:effectLst/>
        </p:spPr>
        <p:txBody>
          <a:bodyPr wrap="none" anchor="ctr">
            <a:prstTxWarp prst="textNoShape">
              <a:avLst/>
            </a:prstTxWarp>
          </a:bodyPr>
          <a:lstStyle/>
          <a:p>
            <a:pPr algn="ctr"/>
            <a:r>
              <a:rPr lang="en-US" altLang="zh-TW">
                <a:ea typeface="新細明體" pitchFamily="16" charset="-128"/>
                <a:cs typeface="Arial" pitchFamily="-111" charset="0"/>
              </a:rPr>
              <a:t>…</a:t>
            </a:r>
          </a:p>
        </p:txBody>
      </p:sp>
      <p:grpSp>
        <p:nvGrpSpPr>
          <p:cNvPr id="45" name="Group 137"/>
          <p:cNvGrpSpPr>
            <a:grpSpLocks/>
          </p:cNvGrpSpPr>
          <p:nvPr/>
        </p:nvGrpSpPr>
        <p:grpSpPr bwMode="auto">
          <a:xfrm>
            <a:off x="4278601" y="4616450"/>
            <a:ext cx="1066800" cy="1022350"/>
            <a:chOff x="568" y="2568"/>
            <a:chExt cx="1219" cy="1480"/>
          </a:xfrm>
        </p:grpSpPr>
        <p:sp>
          <p:nvSpPr>
            <p:cNvPr id="46" name="Text Box 138"/>
            <p:cNvSpPr txBox="1">
              <a:spLocks noChangeArrowheads="1"/>
            </p:cNvSpPr>
            <p:nvPr/>
          </p:nvSpPr>
          <p:spPr bwMode="auto">
            <a:xfrm>
              <a:off x="568" y="2568"/>
              <a:ext cx="1219" cy="1480"/>
            </a:xfrm>
            <a:prstGeom prst="rect">
              <a:avLst/>
            </a:prstGeom>
            <a:solidFill>
              <a:schemeClr val="bg1">
                <a:alpha val="67000"/>
              </a:schemeClr>
            </a:solidFill>
            <a:ln w="28575">
              <a:solidFill>
                <a:schemeClr val="accent2"/>
              </a:solidFill>
              <a:miter lim="800000"/>
              <a:headEnd/>
              <a:tailEnd/>
            </a:ln>
            <a:effectLst/>
          </p:spPr>
          <p:txBody>
            <a:bodyPr lIns="0" rIns="0">
              <a:prstTxWarp prst="textNoShape">
                <a:avLst/>
              </a:prstTxWarp>
            </a:bodyPr>
            <a:lstStyle/>
            <a:p>
              <a:pPr algn="ctr">
                <a:lnSpc>
                  <a:spcPct val="85000"/>
                </a:lnSpc>
                <a:spcBef>
                  <a:spcPct val="10000"/>
                </a:spcBef>
              </a:pPr>
              <a:r>
                <a:rPr lang="en-US" altLang="zh-TW" sz="1200">
                  <a:latin typeface="Tahoma" pitchFamily="-111" charset="0"/>
                  <a:ea typeface="新細明體" pitchFamily="16" charset="-128"/>
                  <a:cs typeface="Arial" pitchFamily="-111" charset="0"/>
                </a:rPr>
                <a:t>t0 t1 t2 … t31</a:t>
              </a:r>
              <a:endParaRPr lang="en-US" altLang="zh-TW" sz="1200">
                <a:latin typeface="Arial" pitchFamily="-111" charset="0"/>
                <a:ea typeface="新細明體" pitchFamily="16" charset="-128"/>
                <a:cs typeface="Arial" pitchFamily="-111" charset="0"/>
              </a:endParaRPr>
            </a:p>
          </p:txBody>
        </p:sp>
        <p:sp>
          <p:nvSpPr>
            <p:cNvPr id="47" name="Freeform 139"/>
            <p:cNvSpPr>
              <a:spLocks/>
            </p:cNvSpPr>
            <p:nvPr/>
          </p:nvSpPr>
          <p:spPr bwMode="auto">
            <a:xfrm>
              <a:off x="704"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48" name="Freeform 140"/>
            <p:cNvSpPr>
              <a:spLocks/>
            </p:cNvSpPr>
            <p:nvPr/>
          </p:nvSpPr>
          <p:spPr bwMode="auto">
            <a:xfrm>
              <a:off x="784"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49" name="Freeform 141"/>
            <p:cNvSpPr>
              <a:spLocks/>
            </p:cNvSpPr>
            <p:nvPr/>
          </p:nvSpPr>
          <p:spPr bwMode="auto">
            <a:xfrm>
              <a:off x="858"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50" name="Freeform 142"/>
            <p:cNvSpPr>
              <a:spLocks/>
            </p:cNvSpPr>
            <p:nvPr/>
          </p:nvSpPr>
          <p:spPr bwMode="auto">
            <a:xfrm>
              <a:off x="932" y="2858"/>
              <a:ext cx="166"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51" name="Freeform 143"/>
            <p:cNvSpPr>
              <a:spLocks/>
            </p:cNvSpPr>
            <p:nvPr/>
          </p:nvSpPr>
          <p:spPr bwMode="auto">
            <a:xfrm>
              <a:off x="1006"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52" name="Freeform 144"/>
            <p:cNvSpPr>
              <a:spLocks/>
            </p:cNvSpPr>
            <p:nvPr/>
          </p:nvSpPr>
          <p:spPr bwMode="auto">
            <a:xfrm>
              <a:off x="1080"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53" name="Freeform 145"/>
            <p:cNvSpPr>
              <a:spLocks/>
            </p:cNvSpPr>
            <p:nvPr/>
          </p:nvSpPr>
          <p:spPr bwMode="auto">
            <a:xfrm>
              <a:off x="1154"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54" name="Freeform 146"/>
            <p:cNvSpPr>
              <a:spLocks/>
            </p:cNvSpPr>
            <p:nvPr/>
          </p:nvSpPr>
          <p:spPr bwMode="auto">
            <a:xfrm>
              <a:off x="1228"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55" name="Freeform 147"/>
            <p:cNvSpPr>
              <a:spLocks/>
            </p:cNvSpPr>
            <p:nvPr/>
          </p:nvSpPr>
          <p:spPr bwMode="auto">
            <a:xfrm>
              <a:off x="1302"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56" name="Freeform 148"/>
            <p:cNvSpPr>
              <a:spLocks/>
            </p:cNvSpPr>
            <p:nvPr/>
          </p:nvSpPr>
          <p:spPr bwMode="auto">
            <a:xfrm>
              <a:off x="1376"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sp>
          <p:nvSpPr>
            <p:cNvPr id="57" name="Freeform 149"/>
            <p:cNvSpPr>
              <a:spLocks/>
            </p:cNvSpPr>
            <p:nvPr/>
          </p:nvSpPr>
          <p:spPr bwMode="auto">
            <a:xfrm>
              <a:off x="1450" y="2858"/>
              <a:ext cx="165" cy="1070"/>
            </a:xfrm>
            <a:custGeom>
              <a:avLst/>
              <a:gdLst/>
              <a:ahLst/>
              <a:cxnLst>
                <a:cxn ang="0">
                  <a:pos x="56" y="0"/>
                </a:cxn>
                <a:cxn ang="0">
                  <a:pos x="200" y="192"/>
                </a:cxn>
                <a:cxn ang="0">
                  <a:pos x="8" y="336"/>
                </a:cxn>
                <a:cxn ang="0">
                  <a:pos x="152" y="528"/>
                </a:cxn>
                <a:cxn ang="0">
                  <a:pos x="8" y="720"/>
                </a:cxn>
                <a:cxn ang="0">
                  <a:pos x="152" y="816"/>
                </a:cxn>
                <a:cxn ang="0">
                  <a:pos x="56" y="960"/>
                </a:cxn>
                <a:cxn ang="0">
                  <a:pos x="152" y="1104"/>
                </a:cxn>
                <a:cxn ang="0">
                  <a:pos x="8" y="1248"/>
                </a:cxn>
                <a:cxn ang="0">
                  <a:pos x="104" y="1344"/>
                </a:cxn>
                <a:cxn ang="0">
                  <a:pos x="56" y="1536"/>
                </a:cxn>
              </a:cxnLst>
              <a:rect l="0" t="0" r="r" b="b"/>
              <a:pathLst>
                <a:path w="208" h="1536">
                  <a:moveTo>
                    <a:pt x="56" y="0"/>
                  </a:moveTo>
                  <a:cubicBezTo>
                    <a:pt x="132" y="68"/>
                    <a:pt x="208" y="136"/>
                    <a:pt x="200" y="192"/>
                  </a:cubicBezTo>
                  <a:cubicBezTo>
                    <a:pt x="192" y="248"/>
                    <a:pt x="16" y="280"/>
                    <a:pt x="8" y="336"/>
                  </a:cubicBezTo>
                  <a:cubicBezTo>
                    <a:pt x="0" y="392"/>
                    <a:pt x="152" y="464"/>
                    <a:pt x="152" y="528"/>
                  </a:cubicBezTo>
                  <a:cubicBezTo>
                    <a:pt x="152" y="592"/>
                    <a:pt x="8" y="672"/>
                    <a:pt x="8" y="720"/>
                  </a:cubicBezTo>
                  <a:cubicBezTo>
                    <a:pt x="8" y="768"/>
                    <a:pt x="144" y="776"/>
                    <a:pt x="152" y="816"/>
                  </a:cubicBezTo>
                  <a:cubicBezTo>
                    <a:pt x="160" y="856"/>
                    <a:pt x="56" y="912"/>
                    <a:pt x="56" y="960"/>
                  </a:cubicBezTo>
                  <a:cubicBezTo>
                    <a:pt x="56" y="1008"/>
                    <a:pt x="160" y="1056"/>
                    <a:pt x="152" y="1104"/>
                  </a:cubicBezTo>
                  <a:cubicBezTo>
                    <a:pt x="144" y="1152"/>
                    <a:pt x="16" y="1208"/>
                    <a:pt x="8" y="1248"/>
                  </a:cubicBezTo>
                  <a:cubicBezTo>
                    <a:pt x="0" y="1288"/>
                    <a:pt x="96" y="1296"/>
                    <a:pt x="104" y="1344"/>
                  </a:cubicBezTo>
                  <a:cubicBezTo>
                    <a:pt x="112" y="1392"/>
                    <a:pt x="40" y="1496"/>
                    <a:pt x="56" y="1536"/>
                  </a:cubicBezTo>
                </a:path>
              </a:pathLst>
            </a:custGeom>
            <a:solidFill>
              <a:schemeClr val="bg1">
                <a:alpha val="67000"/>
              </a:schemeClr>
            </a:solidFill>
            <a:ln w="25400">
              <a:solidFill>
                <a:schemeClr val="accent2"/>
              </a:solidFill>
              <a:round/>
              <a:headEnd type="none" w="med" len="med"/>
              <a:tailEnd type="triangle" w="med" len="lg"/>
            </a:ln>
            <a:effectLst/>
          </p:spPr>
          <p:txBody>
            <a:bodyPr>
              <a:prstTxWarp prst="textNoShape">
                <a:avLst/>
              </a:prstTxWarp>
            </a:bodyPr>
            <a:lstStyle/>
            <a:p>
              <a:endParaRPr lang="es-ES_tradnl"/>
            </a:p>
          </p:txBody>
        </p:sp>
      </p:grpSp>
      <p:sp>
        <p:nvSpPr>
          <p:cNvPr id="58" name="Text Box 150"/>
          <p:cNvSpPr txBox="1">
            <a:spLocks noChangeArrowheads="1"/>
          </p:cNvSpPr>
          <p:nvPr/>
        </p:nvSpPr>
        <p:spPr bwMode="auto">
          <a:xfrm>
            <a:off x="4099214" y="4235450"/>
            <a:ext cx="488950" cy="457200"/>
          </a:xfrm>
          <a:prstGeom prst="rect">
            <a:avLst/>
          </a:prstGeom>
          <a:noFill/>
          <a:ln w="9525">
            <a:noFill/>
            <a:miter lim="800000"/>
            <a:headEnd/>
            <a:tailEnd/>
          </a:ln>
          <a:effectLst/>
        </p:spPr>
        <p:txBody>
          <a:bodyPr wrap="none">
            <a:prstTxWarp prst="textNoShape">
              <a:avLst/>
            </a:prstTxWarp>
            <a:spAutoFit/>
          </a:bodyPr>
          <a:lstStyle/>
          <a:p>
            <a:r>
              <a:rPr lang="en-US" altLang="zh-TW">
                <a:ea typeface="新細明體" pitchFamily="16" charset="-128"/>
                <a:cs typeface="Arial" pitchFamily="-111" charset="0"/>
              </a:rPr>
              <a:t>…</a:t>
            </a:r>
          </a:p>
        </p:txBody>
      </p:sp>
      <p:sp>
        <p:nvSpPr>
          <p:cNvPr id="59" name="Text Box 151"/>
          <p:cNvSpPr txBox="1">
            <a:spLocks noChangeArrowheads="1"/>
          </p:cNvSpPr>
          <p:nvPr/>
        </p:nvSpPr>
        <p:spPr bwMode="auto">
          <a:xfrm>
            <a:off x="3816152" y="3955802"/>
            <a:ext cx="1250913" cy="276999"/>
          </a:xfrm>
          <a:prstGeom prst="rect">
            <a:avLst/>
          </a:prstGeom>
          <a:noFill/>
          <a:ln w="9525">
            <a:noFill/>
            <a:miter lim="800000"/>
            <a:headEnd/>
            <a:tailEnd/>
          </a:ln>
          <a:effectLst/>
        </p:spPr>
        <p:txBody>
          <a:bodyPr wrap="none">
            <a:prstTxWarp prst="textNoShape">
              <a:avLst/>
            </a:prstTxWarp>
            <a:spAutoFit/>
          </a:bodyPr>
          <a:lstStyle/>
          <a:p>
            <a:r>
              <a:rPr lang="en-US" altLang="zh-TW" sz="1200" dirty="0">
                <a:latin typeface="Arial" pitchFamily="-111" charset="0"/>
                <a:ea typeface="新細明體" pitchFamily="16" charset="-128"/>
                <a:cs typeface="Arial" pitchFamily="-111" charset="0"/>
              </a:rPr>
              <a:t>Block 2’s warps</a:t>
            </a:r>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104</a:t>
            </a:fld>
            <a:endParaRPr lang="en-US" altLang="en-US"/>
          </a:p>
        </p:txBody>
      </p:sp>
      <p:sp>
        <p:nvSpPr>
          <p:cNvPr id="5" name="TextBox 4"/>
          <p:cNvSpPr txBox="1"/>
          <p:nvPr/>
        </p:nvSpPr>
        <p:spPr>
          <a:xfrm>
            <a:off x="5880821" y="6011996"/>
            <a:ext cx="2861489" cy="369332"/>
          </a:xfrm>
          <a:prstGeom prst="rect">
            <a:avLst/>
          </a:prstGeom>
          <a:noFill/>
        </p:spPr>
        <p:txBody>
          <a:bodyPr wrap="none" rtlCol="0">
            <a:spAutoFit/>
          </a:bodyPr>
          <a:lstStyle/>
          <a:p>
            <a:r>
              <a:rPr lang="en-US" dirty="0"/>
              <a:t>NVIDIA </a:t>
            </a:r>
            <a:r>
              <a:rPr lang="en-US"/>
              <a:t>Fermi architecture</a:t>
            </a:r>
          </a:p>
        </p:txBody>
      </p:sp>
    </p:spTree>
    <p:extLst>
      <p:ext uri="{BB962C8B-B14F-4D97-AF65-F5344CB8AC3E}">
        <p14:creationId xmlns:p14="http://schemas.microsoft.com/office/powerpoint/2010/main" val="36124491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24" grpId="0"/>
      <p:bldP spid="25" grpId="0" animBg="1"/>
      <p:bldP spid="26" grpId="0" animBg="1"/>
      <p:bldP spid="40" grpId="0"/>
      <p:bldP spid="41" grpId="0"/>
      <p:bldP spid="42" grpId="0"/>
      <p:bldP spid="43" grpId="0" animBg="1"/>
      <p:bldP spid="44" grpId="0" animBg="1"/>
      <p:bldP spid="58" grpId="0"/>
      <p:bldP spid="59" grpId="0"/>
      <p:bldP spid="5"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a:extLst>
              <a:ext uri="{FF2B5EF4-FFF2-40B4-BE49-F238E27FC236}">
                <a16:creationId xmlns:a16="http://schemas.microsoft.com/office/drawing/2014/main" id="{496F139F-4B1F-7440-BF44-9F5527C583B9}"/>
              </a:ext>
            </a:extLst>
          </p:cNvPr>
          <p:cNvSpPr>
            <a:spLocks noGrp="1"/>
          </p:cNvSpPr>
          <p:nvPr>
            <p:ph type="title"/>
          </p:nvPr>
        </p:nvSpPr>
        <p:spPr/>
        <p:txBody>
          <a:bodyPr/>
          <a:lstStyle/>
          <a:p>
            <a:r>
              <a:rPr lang="en-US" altLang="en-US">
                <a:ea typeface="ＭＳ Ｐゴシック" panose="020B0600070205080204" pitchFamily="34" charset="-128"/>
              </a:rPr>
              <a:t>SPMD</a:t>
            </a:r>
          </a:p>
        </p:txBody>
      </p:sp>
      <p:sp>
        <p:nvSpPr>
          <p:cNvPr id="3" name="Content Placeholder 2">
            <a:extLst>
              <a:ext uri="{FF2B5EF4-FFF2-40B4-BE49-F238E27FC236}">
                <a16:creationId xmlns:a16="http://schemas.microsoft.com/office/drawing/2014/main" id="{B49E60D0-4593-E84E-9150-58D7388CB143}"/>
              </a:ext>
            </a:extLst>
          </p:cNvPr>
          <p:cNvSpPr>
            <a:spLocks noGrp="1"/>
          </p:cNvSpPr>
          <p:nvPr>
            <p:ph idx="1"/>
          </p:nvPr>
        </p:nvSpPr>
        <p:spPr>
          <a:xfrm>
            <a:off x="216568" y="831850"/>
            <a:ext cx="8915400" cy="5873750"/>
          </a:xfrm>
        </p:spPr>
        <p:txBody>
          <a:bodyPr/>
          <a:lstStyle/>
          <a:p>
            <a:r>
              <a:rPr lang="en-US" altLang="en-US" dirty="0">
                <a:ea typeface="ＭＳ Ｐゴシック" panose="020B0600070205080204" pitchFamily="34" charset="-128"/>
              </a:rPr>
              <a:t>Single procedure/program, multiple data </a:t>
            </a:r>
          </a:p>
          <a:p>
            <a:pPr lvl="1"/>
            <a:r>
              <a:rPr lang="en-US" altLang="en-US" dirty="0">
                <a:ea typeface="ＭＳ Ｐゴシック" panose="020B0600070205080204" pitchFamily="34" charset="-128"/>
              </a:rPr>
              <a:t>This is a </a:t>
            </a:r>
            <a:r>
              <a:rPr lang="en-US" altLang="en-US" b="1" dirty="0">
                <a:ea typeface="ＭＳ Ｐゴシック" panose="020B0600070205080204" pitchFamily="34" charset="-128"/>
              </a:rPr>
              <a:t>programming model </a:t>
            </a:r>
            <a:r>
              <a:rPr lang="en-US" altLang="en-US" dirty="0">
                <a:ea typeface="ＭＳ Ｐゴシック" panose="020B0600070205080204" pitchFamily="34" charset="-128"/>
              </a:rPr>
              <a:t>rather than computer organization</a:t>
            </a:r>
          </a:p>
          <a:p>
            <a:endParaRPr lang="en-US" altLang="en-US" dirty="0">
              <a:ea typeface="ＭＳ Ｐゴシック" panose="020B0600070205080204" pitchFamily="34" charset="-128"/>
            </a:endParaRPr>
          </a:p>
          <a:p>
            <a:r>
              <a:rPr lang="en-US" altLang="en-US" sz="2200" dirty="0">
                <a:ea typeface="ＭＳ Ｐゴシック" panose="020B0600070205080204" pitchFamily="34" charset="-128"/>
              </a:rPr>
              <a:t>Each processing element executes the same procedure, except on different data elements</a:t>
            </a:r>
          </a:p>
          <a:p>
            <a:pPr lvl="1"/>
            <a:r>
              <a:rPr lang="en-US" altLang="en-US" sz="2000" dirty="0">
                <a:ea typeface="ＭＳ Ｐゴシック" panose="020B0600070205080204" pitchFamily="34" charset="-128"/>
              </a:rPr>
              <a:t>Procedures </a:t>
            </a:r>
            <a:r>
              <a:rPr lang="en-US" altLang="en-US" sz="2000" dirty="0">
                <a:solidFill>
                  <a:srgbClr val="00B050"/>
                </a:solidFill>
                <a:ea typeface="ＭＳ Ｐゴシック" panose="020B0600070205080204" pitchFamily="34" charset="-128"/>
              </a:rPr>
              <a:t>can synchronize at certain points in program</a:t>
            </a:r>
            <a:r>
              <a:rPr lang="en-US" altLang="en-US" sz="2000" dirty="0">
                <a:ea typeface="ＭＳ Ｐゴシック" panose="020B0600070205080204" pitchFamily="34" charset="-128"/>
              </a:rPr>
              <a:t>, e.g. barriers</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Essentially, </a:t>
            </a:r>
            <a:r>
              <a:rPr lang="en-US" altLang="en-US" dirty="0">
                <a:solidFill>
                  <a:srgbClr val="0000FF"/>
                </a:solidFill>
                <a:ea typeface="ＭＳ Ｐゴシック" panose="020B0600070205080204" pitchFamily="34" charset="-128"/>
              </a:rPr>
              <a:t>multiple instruction streams execute the same program</a:t>
            </a:r>
          </a:p>
          <a:p>
            <a:pPr lvl="1"/>
            <a:r>
              <a:rPr lang="en-US" altLang="en-US" sz="2000" dirty="0">
                <a:ea typeface="ＭＳ Ｐゴシック" panose="020B0600070205080204" pitchFamily="34" charset="-128"/>
              </a:rPr>
              <a:t>Each program/procedure 1) </a:t>
            </a:r>
            <a:r>
              <a:rPr lang="en-US" altLang="en-US" sz="2000" dirty="0">
                <a:solidFill>
                  <a:srgbClr val="00B050"/>
                </a:solidFill>
                <a:ea typeface="ＭＳ Ｐゴシック" panose="020B0600070205080204" pitchFamily="34" charset="-128"/>
              </a:rPr>
              <a:t>works on different data</a:t>
            </a:r>
            <a:r>
              <a:rPr lang="en-US" altLang="en-US" sz="2000" dirty="0">
                <a:ea typeface="ＭＳ Ｐゴシック" panose="020B0600070205080204" pitchFamily="34" charset="-128"/>
              </a:rPr>
              <a:t>, 2) </a:t>
            </a:r>
            <a:r>
              <a:rPr lang="en-US" altLang="en-US" sz="2000" dirty="0">
                <a:solidFill>
                  <a:srgbClr val="00B050"/>
                </a:solidFill>
                <a:ea typeface="ＭＳ Ｐゴシック" panose="020B0600070205080204" pitchFamily="34" charset="-128"/>
              </a:rPr>
              <a:t>can execute a different control-flow path</a:t>
            </a:r>
            <a:r>
              <a:rPr lang="en-US" altLang="en-US" sz="2000" dirty="0">
                <a:ea typeface="ＭＳ Ｐゴシック" panose="020B0600070205080204" pitchFamily="34" charset="-128"/>
              </a:rPr>
              <a:t>, at run-time</a:t>
            </a:r>
          </a:p>
          <a:p>
            <a:pPr lvl="1"/>
            <a:r>
              <a:rPr lang="en-US" altLang="en-US" sz="2000" dirty="0">
                <a:ea typeface="ＭＳ Ｐゴシック" panose="020B0600070205080204" pitchFamily="34" charset="-128"/>
              </a:rPr>
              <a:t>Many scientific applications are programmed this way and run on MIMD hardware (multiprocessors)</a:t>
            </a:r>
          </a:p>
          <a:p>
            <a:pPr lvl="1"/>
            <a:r>
              <a:rPr lang="en-US" altLang="en-US" sz="2000" dirty="0">
                <a:ea typeface="ＭＳ Ｐゴシック" panose="020B0600070205080204" pitchFamily="34" charset="-128"/>
              </a:rPr>
              <a:t>Modern GPUs programmed in a similar way on a SIMD hardware</a:t>
            </a:r>
          </a:p>
          <a:p>
            <a:pPr lvl="1"/>
            <a:endParaRPr lang="en-US" altLang="en-US" sz="2000" dirty="0">
              <a:ea typeface="ＭＳ Ｐゴシック" panose="020B0600070205080204" pitchFamily="34" charset="-128"/>
            </a:endParaRPr>
          </a:p>
        </p:txBody>
      </p:sp>
      <p:sp>
        <p:nvSpPr>
          <p:cNvPr id="72707" name="Slide Number Placeholder 3">
            <a:extLst>
              <a:ext uri="{FF2B5EF4-FFF2-40B4-BE49-F238E27FC236}">
                <a16:creationId xmlns:a16="http://schemas.microsoft.com/office/drawing/2014/main" id="{0E7497B5-BA99-404C-881D-DB93748FEDD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4D78FAF-7832-A14D-AAFE-1F85877C7D6D}"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105</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69272702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a:extLst>
              <a:ext uri="{FF2B5EF4-FFF2-40B4-BE49-F238E27FC236}">
                <a16:creationId xmlns:a16="http://schemas.microsoft.com/office/drawing/2014/main" id="{40CA24A3-6C59-134B-820F-CB3C398F2F2A}"/>
              </a:ext>
            </a:extLst>
          </p:cNvPr>
          <p:cNvSpPr>
            <a:spLocks noGrp="1"/>
          </p:cNvSpPr>
          <p:nvPr>
            <p:ph type="title"/>
          </p:nvPr>
        </p:nvSpPr>
        <p:spPr/>
        <p:txBody>
          <a:bodyPr/>
          <a:lstStyle/>
          <a:p>
            <a:r>
              <a:rPr lang="en-US" altLang="en-US">
                <a:ea typeface="ＭＳ Ｐゴシック" panose="020B0600070205080204" pitchFamily="34" charset="-128"/>
              </a:rPr>
              <a:t>Dynamic Warp Formation/Merging</a:t>
            </a:r>
          </a:p>
        </p:txBody>
      </p:sp>
      <p:sp>
        <p:nvSpPr>
          <p:cNvPr id="108546" name="Content Placeholder 2">
            <a:extLst>
              <a:ext uri="{FF2B5EF4-FFF2-40B4-BE49-F238E27FC236}">
                <a16:creationId xmlns:a16="http://schemas.microsoft.com/office/drawing/2014/main" id="{DEEB6218-AADE-754A-9FE0-E6A0E60DAE85}"/>
              </a:ext>
            </a:extLst>
          </p:cNvPr>
          <p:cNvSpPr>
            <a:spLocks noGrp="1"/>
          </p:cNvSpPr>
          <p:nvPr>
            <p:ph idx="1"/>
          </p:nvPr>
        </p:nvSpPr>
        <p:spPr>
          <a:xfrm>
            <a:off x="228600" y="996950"/>
            <a:ext cx="8610600" cy="5194300"/>
          </a:xfrm>
        </p:spPr>
        <p:txBody>
          <a:bodyPr/>
          <a:lstStyle/>
          <a:p>
            <a:r>
              <a:rPr lang="en-US" altLang="en-US">
                <a:ea typeface="ＭＳ Ｐゴシック" panose="020B0600070205080204" pitchFamily="34" charset="-128"/>
              </a:rPr>
              <a:t>Idea: </a:t>
            </a:r>
            <a:r>
              <a:rPr lang="en-US" altLang="en-US">
                <a:solidFill>
                  <a:srgbClr val="0000FF"/>
                </a:solidFill>
                <a:ea typeface="ＭＳ Ｐゴシック" panose="020B0600070205080204" pitchFamily="34" charset="-128"/>
              </a:rPr>
              <a:t>Dynamically merge threads executing the same instruction (after branch divergence)</a:t>
            </a:r>
          </a:p>
          <a:p>
            <a:r>
              <a:rPr lang="en-US" altLang="en-US">
                <a:ea typeface="ＭＳ Ｐゴシック" panose="020B0600070205080204" pitchFamily="34" charset="-128"/>
              </a:rPr>
              <a:t>Form new warps from warps that are waiting</a:t>
            </a:r>
          </a:p>
          <a:p>
            <a:pPr lvl="1"/>
            <a:r>
              <a:rPr lang="en-US" altLang="en-US">
                <a:ea typeface="ＭＳ Ｐゴシック" panose="020B0600070205080204" pitchFamily="34" charset="-128"/>
              </a:rPr>
              <a:t>Enough threads branching to each path enables the creation of full new warps</a:t>
            </a:r>
          </a:p>
          <a:p>
            <a:endParaRPr lang="en-US" altLang="en-US">
              <a:ea typeface="ＭＳ Ｐゴシック" panose="020B0600070205080204" pitchFamily="34" charset="-128"/>
            </a:endParaRPr>
          </a:p>
        </p:txBody>
      </p:sp>
      <p:sp>
        <p:nvSpPr>
          <p:cNvPr id="77827" name="Slide Number Placeholder 3">
            <a:extLst>
              <a:ext uri="{FF2B5EF4-FFF2-40B4-BE49-F238E27FC236}">
                <a16:creationId xmlns:a16="http://schemas.microsoft.com/office/drawing/2014/main" id="{91FAEF92-9C73-F94B-B06B-720210F6812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12B69A2-7BD5-F24C-9AD2-000587E3FF3A}"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106</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grpSp>
        <p:nvGrpSpPr>
          <p:cNvPr id="2" name="Group 39">
            <a:extLst>
              <a:ext uri="{FF2B5EF4-FFF2-40B4-BE49-F238E27FC236}">
                <a16:creationId xmlns:a16="http://schemas.microsoft.com/office/drawing/2014/main" id="{E576B1D3-3247-6343-9C8F-3A42C15BE9DD}"/>
              </a:ext>
            </a:extLst>
          </p:cNvPr>
          <p:cNvGrpSpPr>
            <a:grpSpLocks/>
          </p:cNvGrpSpPr>
          <p:nvPr/>
        </p:nvGrpSpPr>
        <p:grpSpPr bwMode="auto">
          <a:xfrm>
            <a:off x="1768475" y="5213350"/>
            <a:ext cx="2265363" cy="346075"/>
            <a:chOff x="1695" y="2595"/>
            <a:chExt cx="1427" cy="218"/>
          </a:xfrm>
        </p:grpSpPr>
        <p:sp>
          <p:nvSpPr>
            <p:cNvPr id="77889" name="Rectangle 40">
              <a:extLst>
                <a:ext uri="{FF2B5EF4-FFF2-40B4-BE49-F238E27FC236}">
                  <a16:creationId xmlns:a16="http://schemas.microsoft.com/office/drawing/2014/main" id="{EB62696C-FE45-6F42-ADDF-5DFB4FA1DAE4}"/>
                </a:ext>
              </a:extLst>
            </p:cNvPr>
            <p:cNvSpPr>
              <a:spLocks noChangeArrowheads="1"/>
            </p:cNvSpPr>
            <p:nvPr/>
          </p:nvSpPr>
          <p:spPr bwMode="auto">
            <a:xfrm>
              <a:off x="1695" y="2595"/>
              <a:ext cx="1427" cy="218"/>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90" name="Line 41">
              <a:extLst>
                <a:ext uri="{FF2B5EF4-FFF2-40B4-BE49-F238E27FC236}">
                  <a16:creationId xmlns:a16="http://schemas.microsoft.com/office/drawing/2014/main" id="{400ED99D-0AB3-774B-8A3B-DC93B63225F5}"/>
                </a:ext>
              </a:extLst>
            </p:cNvPr>
            <p:cNvSpPr>
              <a:spLocks noChangeShapeType="1"/>
            </p:cNvSpPr>
            <p:nvPr/>
          </p:nvSpPr>
          <p:spPr bwMode="auto">
            <a:xfrm>
              <a:off x="1985" y="2624"/>
              <a:ext cx="0" cy="16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91" name="Line 42">
              <a:extLst>
                <a:ext uri="{FF2B5EF4-FFF2-40B4-BE49-F238E27FC236}">
                  <a16:creationId xmlns:a16="http://schemas.microsoft.com/office/drawing/2014/main" id="{DD0D9A53-0291-0745-8851-9C4623F88956}"/>
                </a:ext>
              </a:extLst>
            </p:cNvPr>
            <p:cNvSpPr>
              <a:spLocks noChangeShapeType="1"/>
            </p:cNvSpPr>
            <p:nvPr/>
          </p:nvSpPr>
          <p:spPr bwMode="auto">
            <a:xfrm>
              <a:off x="2493" y="2624"/>
              <a:ext cx="0" cy="16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92" name="Line 43">
              <a:extLst>
                <a:ext uri="{FF2B5EF4-FFF2-40B4-BE49-F238E27FC236}">
                  <a16:creationId xmlns:a16="http://schemas.microsoft.com/office/drawing/2014/main" id="{40332910-C273-C148-AE95-A0C243AB77C1}"/>
                </a:ext>
              </a:extLst>
            </p:cNvPr>
            <p:cNvSpPr>
              <a:spLocks noChangeShapeType="1"/>
            </p:cNvSpPr>
            <p:nvPr/>
          </p:nvSpPr>
          <p:spPr bwMode="auto">
            <a:xfrm>
              <a:off x="2832" y="2624"/>
              <a:ext cx="0" cy="16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93" name="Line 44">
              <a:extLst>
                <a:ext uri="{FF2B5EF4-FFF2-40B4-BE49-F238E27FC236}">
                  <a16:creationId xmlns:a16="http://schemas.microsoft.com/office/drawing/2014/main" id="{9086D79F-DA05-5540-AA29-FAA3AB4C1C63}"/>
                </a:ext>
              </a:extLst>
            </p:cNvPr>
            <p:cNvSpPr>
              <a:spLocks noChangeShapeType="1"/>
            </p:cNvSpPr>
            <p:nvPr/>
          </p:nvSpPr>
          <p:spPr bwMode="auto">
            <a:xfrm>
              <a:off x="3001" y="2620"/>
              <a:ext cx="0" cy="16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94" name="Line 45">
              <a:extLst>
                <a:ext uri="{FF2B5EF4-FFF2-40B4-BE49-F238E27FC236}">
                  <a16:creationId xmlns:a16="http://schemas.microsoft.com/office/drawing/2014/main" id="{BEF8082A-411D-7C45-A4C0-162B48F75378}"/>
                </a:ext>
              </a:extLst>
            </p:cNvPr>
            <p:cNvSpPr>
              <a:spLocks noChangeShapeType="1"/>
            </p:cNvSpPr>
            <p:nvPr/>
          </p:nvSpPr>
          <p:spPr bwMode="auto">
            <a:xfrm>
              <a:off x="2154" y="2620"/>
              <a:ext cx="0" cy="16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 name="Group 46">
            <a:extLst>
              <a:ext uri="{FF2B5EF4-FFF2-40B4-BE49-F238E27FC236}">
                <a16:creationId xmlns:a16="http://schemas.microsoft.com/office/drawing/2014/main" id="{F3F64851-75EB-DA4A-8359-FA8FC2C7505F}"/>
              </a:ext>
            </a:extLst>
          </p:cNvPr>
          <p:cNvGrpSpPr>
            <a:grpSpLocks/>
          </p:cNvGrpSpPr>
          <p:nvPr/>
        </p:nvGrpSpPr>
        <p:grpSpPr bwMode="auto">
          <a:xfrm>
            <a:off x="1768475" y="4829175"/>
            <a:ext cx="2265363" cy="346075"/>
            <a:chOff x="1695" y="2426"/>
            <a:chExt cx="1427" cy="363"/>
          </a:xfrm>
        </p:grpSpPr>
        <p:sp>
          <p:nvSpPr>
            <p:cNvPr id="77884" name="Rectangle 47">
              <a:extLst>
                <a:ext uri="{FF2B5EF4-FFF2-40B4-BE49-F238E27FC236}">
                  <a16:creationId xmlns:a16="http://schemas.microsoft.com/office/drawing/2014/main" id="{61629B03-F6B8-7241-99F4-9FD64D8A9B16}"/>
                </a:ext>
              </a:extLst>
            </p:cNvPr>
            <p:cNvSpPr>
              <a:spLocks noChangeArrowheads="1"/>
            </p:cNvSpPr>
            <p:nvPr/>
          </p:nvSpPr>
          <p:spPr bwMode="auto">
            <a:xfrm>
              <a:off x="1695" y="2426"/>
              <a:ext cx="1427" cy="3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85" name="Line 48">
              <a:extLst>
                <a:ext uri="{FF2B5EF4-FFF2-40B4-BE49-F238E27FC236}">
                  <a16:creationId xmlns:a16="http://schemas.microsoft.com/office/drawing/2014/main" id="{FA1E1423-FC7A-1C42-A7E0-9D257AF2B304}"/>
                </a:ext>
              </a:extLst>
            </p:cNvPr>
            <p:cNvSpPr>
              <a:spLocks noChangeShapeType="1"/>
            </p:cNvSpPr>
            <p:nvPr/>
          </p:nvSpPr>
          <p:spPr bwMode="auto">
            <a:xfrm>
              <a:off x="1816" y="2475"/>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86" name="Line 49">
              <a:extLst>
                <a:ext uri="{FF2B5EF4-FFF2-40B4-BE49-F238E27FC236}">
                  <a16:creationId xmlns:a16="http://schemas.microsoft.com/office/drawing/2014/main" id="{FF8EA844-2535-A14D-B523-D9091A87D656}"/>
                </a:ext>
              </a:extLst>
            </p:cNvPr>
            <p:cNvSpPr>
              <a:spLocks noChangeShapeType="1"/>
            </p:cNvSpPr>
            <p:nvPr/>
          </p:nvSpPr>
          <p:spPr bwMode="auto">
            <a:xfrm>
              <a:off x="2155" y="2475"/>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87" name="Line 50">
              <a:extLst>
                <a:ext uri="{FF2B5EF4-FFF2-40B4-BE49-F238E27FC236}">
                  <a16:creationId xmlns:a16="http://schemas.microsoft.com/office/drawing/2014/main" id="{E5119116-A230-4346-B6D2-95882F14618F}"/>
                </a:ext>
              </a:extLst>
            </p:cNvPr>
            <p:cNvSpPr>
              <a:spLocks noChangeShapeType="1"/>
            </p:cNvSpPr>
            <p:nvPr/>
          </p:nvSpPr>
          <p:spPr bwMode="auto">
            <a:xfrm>
              <a:off x="2324" y="2475"/>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88" name="Line 51">
              <a:extLst>
                <a:ext uri="{FF2B5EF4-FFF2-40B4-BE49-F238E27FC236}">
                  <a16:creationId xmlns:a16="http://schemas.microsoft.com/office/drawing/2014/main" id="{901C5152-B379-AD4F-B77A-2FFF9FA0D572}"/>
                </a:ext>
              </a:extLst>
            </p:cNvPr>
            <p:cNvSpPr>
              <a:spLocks noChangeShapeType="1"/>
            </p:cNvSpPr>
            <p:nvPr/>
          </p:nvSpPr>
          <p:spPr bwMode="auto">
            <a:xfrm>
              <a:off x="3001" y="2475"/>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4" name="Group 113">
            <a:extLst>
              <a:ext uri="{FF2B5EF4-FFF2-40B4-BE49-F238E27FC236}">
                <a16:creationId xmlns:a16="http://schemas.microsoft.com/office/drawing/2014/main" id="{6221A97A-F057-3843-9B92-24EB5C034C31}"/>
              </a:ext>
            </a:extLst>
          </p:cNvPr>
          <p:cNvGrpSpPr>
            <a:grpSpLocks/>
          </p:cNvGrpSpPr>
          <p:nvPr/>
        </p:nvGrpSpPr>
        <p:grpSpPr bwMode="auto">
          <a:xfrm>
            <a:off x="4840288" y="4827588"/>
            <a:ext cx="2265362" cy="346075"/>
            <a:chOff x="3049" y="2594"/>
            <a:chExt cx="1427" cy="218"/>
          </a:xfrm>
        </p:grpSpPr>
        <p:sp>
          <p:nvSpPr>
            <p:cNvPr id="77876" name="Rectangle 62">
              <a:extLst>
                <a:ext uri="{FF2B5EF4-FFF2-40B4-BE49-F238E27FC236}">
                  <a16:creationId xmlns:a16="http://schemas.microsoft.com/office/drawing/2014/main" id="{77229CA8-3ADA-2041-89DC-E3C835DA5227}"/>
                </a:ext>
              </a:extLst>
            </p:cNvPr>
            <p:cNvSpPr>
              <a:spLocks noChangeArrowheads="1"/>
            </p:cNvSpPr>
            <p:nvPr/>
          </p:nvSpPr>
          <p:spPr bwMode="auto">
            <a:xfrm>
              <a:off x="3049" y="2594"/>
              <a:ext cx="1427" cy="218"/>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77" name="Line 56">
              <a:extLst>
                <a:ext uri="{FF2B5EF4-FFF2-40B4-BE49-F238E27FC236}">
                  <a16:creationId xmlns:a16="http://schemas.microsoft.com/office/drawing/2014/main" id="{12B07184-426F-0C48-A251-264E69AF3787}"/>
                </a:ext>
              </a:extLst>
            </p:cNvPr>
            <p:cNvSpPr>
              <a:spLocks noChangeShapeType="1"/>
            </p:cNvSpPr>
            <p:nvPr/>
          </p:nvSpPr>
          <p:spPr bwMode="auto">
            <a:xfrm>
              <a:off x="3339" y="2617"/>
              <a:ext cx="0" cy="16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78" name="Line 57">
              <a:extLst>
                <a:ext uri="{FF2B5EF4-FFF2-40B4-BE49-F238E27FC236}">
                  <a16:creationId xmlns:a16="http://schemas.microsoft.com/office/drawing/2014/main" id="{9C209EA3-4F78-2640-98CA-D91FB5C44BC1}"/>
                </a:ext>
              </a:extLst>
            </p:cNvPr>
            <p:cNvSpPr>
              <a:spLocks noChangeShapeType="1"/>
            </p:cNvSpPr>
            <p:nvPr/>
          </p:nvSpPr>
          <p:spPr bwMode="auto">
            <a:xfrm>
              <a:off x="3848" y="2617"/>
              <a:ext cx="0" cy="16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79" name="Line 58">
              <a:extLst>
                <a:ext uri="{FF2B5EF4-FFF2-40B4-BE49-F238E27FC236}">
                  <a16:creationId xmlns:a16="http://schemas.microsoft.com/office/drawing/2014/main" id="{583457A1-35F9-DB4A-9B27-53BC8658313D}"/>
                </a:ext>
              </a:extLst>
            </p:cNvPr>
            <p:cNvSpPr>
              <a:spLocks noChangeShapeType="1"/>
            </p:cNvSpPr>
            <p:nvPr/>
          </p:nvSpPr>
          <p:spPr bwMode="auto">
            <a:xfrm>
              <a:off x="4187" y="2617"/>
              <a:ext cx="0" cy="16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80" name="Line 63">
              <a:extLst>
                <a:ext uri="{FF2B5EF4-FFF2-40B4-BE49-F238E27FC236}">
                  <a16:creationId xmlns:a16="http://schemas.microsoft.com/office/drawing/2014/main" id="{888EFC61-FFFD-C246-90AD-2E23E41E4EE7}"/>
                </a:ext>
              </a:extLst>
            </p:cNvPr>
            <p:cNvSpPr>
              <a:spLocks noChangeShapeType="1"/>
            </p:cNvSpPr>
            <p:nvPr/>
          </p:nvSpPr>
          <p:spPr bwMode="auto">
            <a:xfrm>
              <a:off x="3170" y="2623"/>
              <a:ext cx="0" cy="160"/>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81" name="Line 64">
              <a:extLst>
                <a:ext uri="{FF2B5EF4-FFF2-40B4-BE49-F238E27FC236}">
                  <a16:creationId xmlns:a16="http://schemas.microsoft.com/office/drawing/2014/main" id="{6C836505-3C78-FF46-AD0B-2C90EDC947A6}"/>
                </a:ext>
              </a:extLst>
            </p:cNvPr>
            <p:cNvSpPr>
              <a:spLocks noChangeShapeType="1"/>
            </p:cNvSpPr>
            <p:nvPr/>
          </p:nvSpPr>
          <p:spPr bwMode="auto">
            <a:xfrm>
              <a:off x="3509" y="2623"/>
              <a:ext cx="0" cy="160"/>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82" name="Line 65">
              <a:extLst>
                <a:ext uri="{FF2B5EF4-FFF2-40B4-BE49-F238E27FC236}">
                  <a16:creationId xmlns:a16="http://schemas.microsoft.com/office/drawing/2014/main" id="{B088E4A6-6C3B-4345-A020-D6AD707C01C8}"/>
                </a:ext>
              </a:extLst>
            </p:cNvPr>
            <p:cNvSpPr>
              <a:spLocks noChangeShapeType="1"/>
            </p:cNvSpPr>
            <p:nvPr/>
          </p:nvSpPr>
          <p:spPr bwMode="auto">
            <a:xfrm>
              <a:off x="3678" y="2623"/>
              <a:ext cx="0" cy="160"/>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83" name="Line 66">
              <a:extLst>
                <a:ext uri="{FF2B5EF4-FFF2-40B4-BE49-F238E27FC236}">
                  <a16:creationId xmlns:a16="http://schemas.microsoft.com/office/drawing/2014/main" id="{694BEFAD-40CA-7C49-AF8C-B25F04967DC8}"/>
                </a:ext>
              </a:extLst>
            </p:cNvPr>
            <p:cNvSpPr>
              <a:spLocks noChangeShapeType="1"/>
            </p:cNvSpPr>
            <p:nvPr/>
          </p:nvSpPr>
          <p:spPr bwMode="auto">
            <a:xfrm>
              <a:off x="4355" y="2623"/>
              <a:ext cx="0" cy="160"/>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7" name="Line 68">
            <a:extLst>
              <a:ext uri="{FF2B5EF4-FFF2-40B4-BE49-F238E27FC236}">
                <a16:creationId xmlns:a16="http://schemas.microsoft.com/office/drawing/2014/main" id="{6559BC27-B2F8-8B4D-A77C-EEE1714FDBC5}"/>
              </a:ext>
            </a:extLst>
          </p:cNvPr>
          <p:cNvSpPr>
            <a:spLocks noChangeShapeType="1"/>
          </p:cNvSpPr>
          <p:nvPr/>
        </p:nvSpPr>
        <p:spPr bwMode="auto">
          <a:xfrm>
            <a:off x="4303713" y="5175250"/>
            <a:ext cx="306387"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08552" name="Group 96">
            <a:extLst>
              <a:ext uri="{FF2B5EF4-FFF2-40B4-BE49-F238E27FC236}">
                <a16:creationId xmlns:a16="http://schemas.microsoft.com/office/drawing/2014/main" id="{F024A485-9192-0C4D-A568-D3FA2C5087A4}"/>
              </a:ext>
            </a:extLst>
          </p:cNvPr>
          <p:cNvGrpSpPr>
            <a:grpSpLocks/>
          </p:cNvGrpSpPr>
          <p:nvPr/>
        </p:nvGrpSpPr>
        <p:grpSpPr bwMode="auto">
          <a:xfrm>
            <a:off x="1768475" y="4138613"/>
            <a:ext cx="2265363" cy="346075"/>
            <a:chOff x="1114" y="2233"/>
            <a:chExt cx="1427" cy="218"/>
          </a:xfrm>
        </p:grpSpPr>
        <p:sp>
          <p:nvSpPr>
            <p:cNvPr id="77872" name="Rectangle 70">
              <a:extLst>
                <a:ext uri="{FF2B5EF4-FFF2-40B4-BE49-F238E27FC236}">
                  <a16:creationId xmlns:a16="http://schemas.microsoft.com/office/drawing/2014/main" id="{4F393CA1-4510-304B-A99E-8FC0B4882890}"/>
                </a:ext>
              </a:extLst>
            </p:cNvPr>
            <p:cNvSpPr>
              <a:spLocks noChangeArrowheads="1"/>
            </p:cNvSpPr>
            <p:nvPr/>
          </p:nvSpPr>
          <p:spPr bwMode="auto">
            <a:xfrm>
              <a:off x="1114" y="2233"/>
              <a:ext cx="1427" cy="218"/>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73" name="Line 71">
              <a:extLst>
                <a:ext uri="{FF2B5EF4-FFF2-40B4-BE49-F238E27FC236}">
                  <a16:creationId xmlns:a16="http://schemas.microsoft.com/office/drawing/2014/main" id="{C09507E9-C144-D344-A29F-9A48B6F49309}"/>
                </a:ext>
              </a:extLst>
            </p:cNvPr>
            <p:cNvSpPr>
              <a:spLocks noChangeShapeType="1"/>
            </p:cNvSpPr>
            <p:nvPr/>
          </p:nvSpPr>
          <p:spPr bwMode="auto">
            <a:xfrm>
              <a:off x="1404" y="2262"/>
              <a:ext cx="0" cy="16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74" name="Line 72">
              <a:extLst>
                <a:ext uri="{FF2B5EF4-FFF2-40B4-BE49-F238E27FC236}">
                  <a16:creationId xmlns:a16="http://schemas.microsoft.com/office/drawing/2014/main" id="{9888F2FF-6BFF-DF43-B03F-4304C5F63D12}"/>
                </a:ext>
              </a:extLst>
            </p:cNvPr>
            <p:cNvSpPr>
              <a:spLocks noChangeShapeType="1"/>
            </p:cNvSpPr>
            <p:nvPr/>
          </p:nvSpPr>
          <p:spPr bwMode="auto">
            <a:xfrm>
              <a:off x="1912" y="2262"/>
              <a:ext cx="0" cy="16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75" name="Line 73">
              <a:extLst>
                <a:ext uri="{FF2B5EF4-FFF2-40B4-BE49-F238E27FC236}">
                  <a16:creationId xmlns:a16="http://schemas.microsoft.com/office/drawing/2014/main" id="{AE3B9D31-B88E-9F46-9091-143968C8DDB2}"/>
                </a:ext>
              </a:extLst>
            </p:cNvPr>
            <p:cNvSpPr>
              <a:spLocks noChangeShapeType="1"/>
            </p:cNvSpPr>
            <p:nvPr/>
          </p:nvSpPr>
          <p:spPr bwMode="auto">
            <a:xfrm>
              <a:off x="2251" y="2262"/>
              <a:ext cx="0" cy="16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08553" name="Group 76">
            <a:extLst>
              <a:ext uri="{FF2B5EF4-FFF2-40B4-BE49-F238E27FC236}">
                <a16:creationId xmlns:a16="http://schemas.microsoft.com/office/drawing/2014/main" id="{74C7C91B-AA29-EB40-B76E-D0576928B572}"/>
              </a:ext>
            </a:extLst>
          </p:cNvPr>
          <p:cNvGrpSpPr>
            <a:grpSpLocks/>
          </p:cNvGrpSpPr>
          <p:nvPr/>
        </p:nvGrpSpPr>
        <p:grpSpPr bwMode="auto">
          <a:xfrm>
            <a:off x="1768475" y="3756025"/>
            <a:ext cx="2265363" cy="346075"/>
            <a:chOff x="1695" y="2426"/>
            <a:chExt cx="1427" cy="363"/>
          </a:xfrm>
        </p:grpSpPr>
        <p:sp>
          <p:nvSpPr>
            <p:cNvPr id="77867" name="Rectangle 77">
              <a:extLst>
                <a:ext uri="{FF2B5EF4-FFF2-40B4-BE49-F238E27FC236}">
                  <a16:creationId xmlns:a16="http://schemas.microsoft.com/office/drawing/2014/main" id="{9AF2BE76-9E1F-F741-8E2B-8229F5030FD6}"/>
                </a:ext>
              </a:extLst>
            </p:cNvPr>
            <p:cNvSpPr>
              <a:spLocks noChangeArrowheads="1"/>
            </p:cNvSpPr>
            <p:nvPr/>
          </p:nvSpPr>
          <p:spPr bwMode="auto">
            <a:xfrm>
              <a:off x="1695" y="2426"/>
              <a:ext cx="1427" cy="3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68" name="Line 78">
              <a:extLst>
                <a:ext uri="{FF2B5EF4-FFF2-40B4-BE49-F238E27FC236}">
                  <a16:creationId xmlns:a16="http://schemas.microsoft.com/office/drawing/2014/main" id="{226D5357-BAB7-4A4C-B05B-7AB3088084AC}"/>
                </a:ext>
              </a:extLst>
            </p:cNvPr>
            <p:cNvSpPr>
              <a:spLocks noChangeShapeType="1"/>
            </p:cNvSpPr>
            <p:nvPr/>
          </p:nvSpPr>
          <p:spPr bwMode="auto">
            <a:xfrm>
              <a:off x="1816" y="2475"/>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69" name="Line 79">
              <a:extLst>
                <a:ext uri="{FF2B5EF4-FFF2-40B4-BE49-F238E27FC236}">
                  <a16:creationId xmlns:a16="http://schemas.microsoft.com/office/drawing/2014/main" id="{A9C0DDE5-D12A-5B42-8900-7BC0A6B97A93}"/>
                </a:ext>
              </a:extLst>
            </p:cNvPr>
            <p:cNvSpPr>
              <a:spLocks noChangeShapeType="1"/>
            </p:cNvSpPr>
            <p:nvPr/>
          </p:nvSpPr>
          <p:spPr bwMode="auto">
            <a:xfrm>
              <a:off x="2155" y="2475"/>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70" name="Line 80">
              <a:extLst>
                <a:ext uri="{FF2B5EF4-FFF2-40B4-BE49-F238E27FC236}">
                  <a16:creationId xmlns:a16="http://schemas.microsoft.com/office/drawing/2014/main" id="{59EFDCF6-6DA8-8D49-AE28-AC9FEEE8DDD7}"/>
                </a:ext>
              </a:extLst>
            </p:cNvPr>
            <p:cNvSpPr>
              <a:spLocks noChangeShapeType="1"/>
            </p:cNvSpPr>
            <p:nvPr/>
          </p:nvSpPr>
          <p:spPr bwMode="auto">
            <a:xfrm>
              <a:off x="2324" y="2475"/>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71" name="Line 81">
              <a:extLst>
                <a:ext uri="{FF2B5EF4-FFF2-40B4-BE49-F238E27FC236}">
                  <a16:creationId xmlns:a16="http://schemas.microsoft.com/office/drawing/2014/main" id="{E56FF311-4B88-C94F-AE89-F0C0E9C0A9C2}"/>
                </a:ext>
              </a:extLst>
            </p:cNvPr>
            <p:cNvSpPr>
              <a:spLocks noChangeShapeType="1"/>
            </p:cNvSpPr>
            <p:nvPr/>
          </p:nvSpPr>
          <p:spPr bwMode="auto">
            <a:xfrm>
              <a:off x="3001" y="2475"/>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08554" name="Group 95">
            <a:extLst>
              <a:ext uri="{FF2B5EF4-FFF2-40B4-BE49-F238E27FC236}">
                <a16:creationId xmlns:a16="http://schemas.microsoft.com/office/drawing/2014/main" id="{CD31CD35-8427-D94F-B2F9-D0B8ADE732A4}"/>
              </a:ext>
            </a:extLst>
          </p:cNvPr>
          <p:cNvGrpSpPr>
            <a:grpSpLocks/>
          </p:cNvGrpSpPr>
          <p:nvPr/>
        </p:nvGrpSpPr>
        <p:grpSpPr bwMode="auto">
          <a:xfrm>
            <a:off x="4840288" y="3754438"/>
            <a:ext cx="2265362" cy="346075"/>
            <a:chOff x="3049" y="2015"/>
            <a:chExt cx="1427" cy="218"/>
          </a:xfrm>
        </p:grpSpPr>
        <p:sp>
          <p:nvSpPr>
            <p:cNvPr id="77859" name="Rectangle 83">
              <a:extLst>
                <a:ext uri="{FF2B5EF4-FFF2-40B4-BE49-F238E27FC236}">
                  <a16:creationId xmlns:a16="http://schemas.microsoft.com/office/drawing/2014/main" id="{82099BD1-E02B-3E40-A593-8FC5B3F66647}"/>
                </a:ext>
              </a:extLst>
            </p:cNvPr>
            <p:cNvSpPr>
              <a:spLocks noChangeArrowheads="1"/>
            </p:cNvSpPr>
            <p:nvPr/>
          </p:nvSpPr>
          <p:spPr bwMode="auto">
            <a:xfrm>
              <a:off x="3049" y="2015"/>
              <a:ext cx="1427" cy="218"/>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60" name="Line 85">
              <a:extLst>
                <a:ext uri="{FF2B5EF4-FFF2-40B4-BE49-F238E27FC236}">
                  <a16:creationId xmlns:a16="http://schemas.microsoft.com/office/drawing/2014/main" id="{C6ECA007-BD52-3842-8A9C-6D8D4800E19C}"/>
                </a:ext>
              </a:extLst>
            </p:cNvPr>
            <p:cNvSpPr>
              <a:spLocks noChangeShapeType="1"/>
            </p:cNvSpPr>
            <p:nvPr/>
          </p:nvSpPr>
          <p:spPr bwMode="auto">
            <a:xfrm>
              <a:off x="3339" y="2038"/>
              <a:ext cx="0" cy="16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61" name="Line 86">
              <a:extLst>
                <a:ext uri="{FF2B5EF4-FFF2-40B4-BE49-F238E27FC236}">
                  <a16:creationId xmlns:a16="http://schemas.microsoft.com/office/drawing/2014/main" id="{B15F0B22-35AB-6048-BF37-B0B4799DB8C2}"/>
                </a:ext>
              </a:extLst>
            </p:cNvPr>
            <p:cNvSpPr>
              <a:spLocks noChangeShapeType="1"/>
            </p:cNvSpPr>
            <p:nvPr/>
          </p:nvSpPr>
          <p:spPr bwMode="auto">
            <a:xfrm>
              <a:off x="3848" y="2038"/>
              <a:ext cx="0" cy="16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62" name="Line 87">
              <a:extLst>
                <a:ext uri="{FF2B5EF4-FFF2-40B4-BE49-F238E27FC236}">
                  <a16:creationId xmlns:a16="http://schemas.microsoft.com/office/drawing/2014/main" id="{68280ED5-8EAC-054B-B80A-CC0D6783B6A0}"/>
                </a:ext>
              </a:extLst>
            </p:cNvPr>
            <p:cNvSpPr>
              <a:spLocks noChangeShapeType="1"/>
            </p:cNvSpPr>
            <p:nvPr/>
          </p:nvSpPr>
          <p:spPr bwMode="auto">
            <a:xfrm>
              <a:off x="4187" y="2038"/>
              <a:ext cx="0" cy="16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63" name="Line 90">
              <a:extLst>
                <a:ext uri="{FF2B5EF4-FFF2-40B4-BE49-F238E27FC236}">
                  <a16:creationId xmlns:a16="http://schemas.microsoft.com/office/drawing/2014/main" id="{12F25D88-3D7B-814F-9B6D-5C4E83BB24A4}"/>
                </a:ext>
              </a:extLst>
            </p:cNvPr>
            <p:cNvSpPr>
              <a:spLocks noChangeShapeType="1"/>
            </p:cNvSpPr>
            <p:nvPr/>
          </p:nvSpPr>
          <p:spPr bwMode="auto">
            <a:xfrm>
              <a:off x="3170" y="2044"/>
              <a:ext cx="0" cy="160"/>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64" name="Line 91">
              <a:extLst>
                <a:ext uri="{FF2B5EF4-FFF2-40B4-BE49-F238E27FC236}">
                  <a16:creationId xmlns:a16="http://schemas.microsoft.com/office/drawing/2014/main" id="{1FE2F5E8-3656-C340-8DAC-21E20FB2A525}"/>
                </a:ext>
              </a:extLst>
            </p:cNvPr>
            <p:cNvSpPr>
              <a:spLocks noChangeShapeType="1"/>
            </p:cNvSpPr>
            <p:nvPr/>
          </p:nvSpPr>
          <p:spPr bwMode="auto">
            <a:xfrm>
              <a:off x="3509" y="2044"/>
              <a:ext cx="0" cy="160"/>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65" name="Line 92">
              <a:extLst>
                <a:ext uri="{FF2B5EF4-FFF2-40B4-BE49-F238E27FC236}">
                  <a16:creationId xmlns:a16="http://schemas.microsoft.com/office/drawing/2014/main" id="{3E381734-81C6-004B-BA46-84B5EDA7D985}"/>
                </a:ext>
              </a:extLst>
            </p:cNvPr>
            <p:cNvSpPr>
              <a:spLocks noChangeShapeType="1"/>
            </p:cNvSpPr>
            <p:nvPr/>
          </p:nvSpPr>
          <p:spPr bwMode="auto">
            <a:xfrm>
              <a:off x="3678" y="2044"/>
              <a:ext cx="0" cy="160"/>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66" name="Line 93">
              <a:extLst>
                <a:ext uri="{FF2B5EF4-FFF2-40B4-BE49-F238E27FC236}">
                  <a16:creationId xmlns:a16="http://schemas.microsoft.com/office/drawing/2014/main" id="{9D1E46B1-873A-5B42-8023-1181D856B6C1}"/>
                </a:ext>
              </a:extLst>
            </p:cNvPr>
            <p:cNvSpPr>
              <a:spLocks noChangeShapeType="1"/>
            </p:cNvSpPr>
            <p:nvPr/>
          </p:nvSpPr>
          <p:spPr bwMode="auto">
            <a:xfrm>
              <a:off x="4355" y="2044"/>
              <a:ext cx="0" cy="160"/>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08555" name="Line 94">
            <a:extLst>
              <a:ext uri="{FF2B5EF4-FFF2-40B4-BE49-F238E27FC236}">
                <a16:creationId xmlns:a16="http://schemas.microsoft.com/office/drawing/2014/main" id="{AFB7E2E5-F41B-014C-885A-D6482F7C9A24}"/>
              </a:ext>
            </a:extLst>
          </p:cNvPr>
          <p:cNvSpPr>
            <a:spLocks noChangeShapeType="1"/>
          </p:cNvSpPr>
          <p:nvPr/>
        </p:nvSpPr>
        <p:spPr bwMode="auto">
          <a:xfrm>
            <a:off x="4303713" y="4138613"/>
            <a:ext cx="306387"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 name="Group 104">
            <a:extLst>
              <a:ext uri="{FF2B5EF4-FFF2-40B4-BE49-F238E27FC236}">
                <a16:creationId xmlns:a16="http://schemas.microsoft.com/office/drawing/2014/main" id="{CB926094-3AD8-E349-A004-AE9A6583A749}"/>
              </a:ext>
            </a:extLst>
          </p:cNvPr>
          <p:cNvGrpSpPr>
            <a:grpSpLocks/>
          </p:cNvGrpSpPr>
          <p:nvPr/>
        </p:nvGrpSpPr>
        <p:grpSpPr bwMode="auto">
          <a:xfrm>
            <a:off x="1768475" y="5597525"/>
            <a:ext cx="2265363" cy="346075"/>
            <a:chOff x="1114" y="3031"/>
            <a:chExt cx="1427" cy="218"/>
          </a:xfrm>
        </p:grpSpPr>
        <p:sp>
          <p:nvSpPr>
            <p:cNvPr id="77853" name="Rectangle 98">
              <a:extLst>
                <a:ext uri="{FF2B5EF4-FFF2-40B4-BE49-F238E27FC236}">
                  <a16:creationId xmlns:a16="http://schemas.microsoft.com/office/drawing/2014/main" id="{4439D36B-017B-5F48-A8D6-0B5427651159}"/>
                </a:ext>
              </a:extLst>
            </p:cNvPr>
            <p:cNvSpPr>
              <a:spLocks noChangeArrowheads="1"/>
            </p:cNvSpPr>
            <p:nvPr/>
          </p:nvSpPr>
          <p:spPr bwMode="auto">
            <a:xfrm>
              <a:off x="1114" y="3031"/>
              <a:ext cx="1427" cy="21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54" name="Line 99">
              <a:extLst>
                <a:ext uri="{FF2B5EF4-FFF2-40B4-BE49-F238E27FC236}">
                  <a16:creationId xmlns:a16="http://schemas.microsoft.com/office/drawing/2014/main" id="{88CB86CF-A0D4-5044-8856-84DEAA06CAE1}"/>
                </a:ext>
              </a:extLst>
            </p:cNvPr>
            <p:cNvSpPr>
              <a:spLocks noChangeShapeType="1"/>
            </p:cNvSpPr>
            <p:nvPr/>
          </p:nvSpPr>
          <p:spPr bwMode="auto">
            <a:xfrm>
              <a:off x="1235" y="3055"/>
              <a:ext cx="0" cy="160"/>
            </a:xfrm>
            <a:prstGeom prst="line">
              <a:avLst/>
            </a:prstGeom>
            <a:noFill/>
            <a:ln w="38100">
              <a:solidFill>
                <a:srgbClr val="0099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55" name="Line 100">
              <a:extLst>
                <a:ext uri="{FF2B5EF4-FFF2-40B4-BE49-F238E27FC236}">
                  <a16:creationId xmlns:a16="http://schemas.microsoft.com/office/drawing/2014/main" id="{BBFA60CA-C0F0-C34E-A723-DAF9C8B26CF7}"/>
                </a:ext>
              </a:extLst>
            </p:cNvPr>
            <p:cNvSpPr>
              <a:spLocks noChangeShapeType="1"/>
            </p:cNvSpPr>
            <p:nvPr/>
          </p:nvSpPr>
          <p:spPr bwMode="auto">
            <a:xfrm>
              <a:off x="2251" y="3055"/>
              <a:ext cx="0" cy="160"/>
            </a:xfrm>
            <a:prstGeom prst="line">
              <a:avLst/>
            </a:prstGeom>
            <a:noFill/>
            <a:ln w="38100">
              <a:solidFill>
                <a:srgbClr val="0099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56" name="Line 101">
              <a:extLst>
                <a:ext uri="{FF2B5EF4-FFF2-40B4-BE49-F238E27FC236}">
                  <a16:creationId xmlns:a16="http://schemas.microsoft.com/office/drawing/2014/main" id="{07030AC0-10D3-3142-B3E2-019DFB6FBEF0}"/>
                </a:ext>
              </a:extLst>
            </p:cNvPr>
            <p:cNvSpPr>
              <a:spLocks noChangeShapeType="1"/>
            </p:cNvSpPr>
            <p:nvPr/>
          </p:nvSpPr>
          <p:spPr bwMode="auto">
            <a:xfrm>
              <a:off x="1743" y="3055"/>
              <a:ext cx="0" cy="160"/>
            </a:xfrm>
            <a:prstGeom prst="line">
              <a:avLst/>
            </a:prstGeom>
            <a:noFill/>
            <a:ln w="38100">
              <a:solidFill>
                <a:srgbClr val="0099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57" name="Line 102">
              <a:extLst>
                <a:ext uri="{FF2B5EF4-FFF2-40B4-BE49-F238E27FC236}">
                  <a16:creationId xmlns:a16="http://schemas.microsoft.com/office/drawing/2014/main" id="{CF6488C3-2B90-234E-9028-73D562D98F3E}"/>
                </a:ext>
              </a:extLst>
            </p:cNvPr>
            <p:cNvSpPr>
              <a:spLocks noChangeShapeType="1"/>
            </p:cNvSpPr>
            <p:nvPr/>
          </p:nvSpPr>
          <p:spPr bwMode="auto">
            <a:xfrm>
              <a:off x="2082" y="3055"/>
              <a:ext cx="0" cy="160"/>
            </a:xfrm>
            <a:prstGeom prst="line">
              <a:avLst/>
            </a:prstGeom>
            <a:noFill/>
            <a:ln w="38100">
              <a:solidFill>
                <a:srgbClr val="0099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58" name="Line 103">
              <a:extLst>
                <a:ext uri="{FF2B5EF4-FFF2-40B4-BE49-F238E27FC236}">
                  <a16:creationId xmlns:a16="http://schemas.microsoft.com/office/drawing/2014/main" id="{82290D90-9F69-8F46-9EA1-74665A6D1B94}"/>
                </a:ext>
              </a:extLst>
            </p:cNvPr>
            <p:cNvSpPr>
              <a:spLocks noChangeShapeType="1"/>
            </p:cNvSpPr>
            <p:nvPr/>
          </p:nvSpPr>
          <p:spPr bwMode="auto">
            <a:xfrm>
              <a:off x="1404" y="3055"/>
              <a:ext cx="0" cy="160"/>
            </a:xfrm>
            <a:prstGeom prst="line">
              <a:avLst/>
            </a:prstGeom>
            <a:noFill/>
            <a:ln w="38100">
              <a:solidFill>
                <a:srgbClr val="0099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9" name="Group 121">
            <a:extLst>
              <a:ext uri="{FF2B5EF4-FFF2-40B4-BE49-F238E27FC236}">
                <a16:creationId xmlns:a16="http://schemas.microsoft.com/office/drawing/2014/main" id="{48DD4F88-4C7C-3247-AFCC-EF31DE9F3486}"/>
              </a:ext>
            </a:extLst>
          </p:cNvPr>
          <p:cNvGrpSpPr>
            <a:grpSpLocks/>
          </p:cNvGrpSpPr>
          <p:nvPr/>
        </p:nvGrpSpPr>
        <p:grpSpPr bwMode="auto">
          <a:xfrm>
            <a:off x="4840288" y="5213350"/>
            <a:ext cx="2265362" cy="346075"/>
            <a:chOff x="3049" y="2837"/>
            <a:chExt cx="1427" cy="218"/>
          </a:xfrm>
        </p:grpSpPr>
        <p:sp>
          <p:nvSpPr>
            <p:cNvPr id="77850" name="Rectangle 115">
              <a:extLst>
                <a:ext uri="{FF2B5EF4-FFF2-40B4-BE49-F238E27FC236}">
                  <a16:creationId xmlns:a16="http://schemas.microsoft.com/office/drawing/2014/main" id="{4CDF49B8-B057-C040-9F66-D98775EF5B56}"/>
                </a:ext>
              </a:extLst>
            </p:cNvPr>
            <p:cNvSpPr>
              <a:spLocks noChangeArrowheads="1"/>
            </p:cNvSpPr>
            <p:nvPr/>
          </p:nvSpPr>
          <p:spPr bwMode="auto">
            <a:xfrm>
              <a:off x="3049" y="2837"/>
              <a:ext cx="1427" cy="218"/>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51" name="Line 119">
              <a:extLst>
                <a:ext uri="{FF2B5EF4-FFF2-40B4-BE49-F238E27FC236}">
                  <a16:creationId xmlns:a16="http://schemas.microsoft.com/office/drawing/2014/main" id="{D3E528D1-13EF-CA4A-9D1B-1D7313BECDEE}"/>
                </a:ext>
              </a:extLst>
            </p:cNvPr>
            <p:cNvSpPr>
              <a:spLocks noChangeShapeType="1"/>
            </p:cNvSpPr>
            <p:nvPr/>
          </p:nvSpPr>
          <p:spPr bwMode="auto">
            <a:xfrm>
              <a:off x="4355" y="2862"/>
              <a:ext cx="0" cy="16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52" name="Line 120">
              <a:extLst>
                <a:ext uri="{FF2B5EF4-FFF2-40B4-BE49-F238E27FC236}">
                  <a16:creationId xmlns:a16="http://schemas.microsoft.com/office/drawing/2014/main" id="{A62D9892-1D6D-5A41-8F44-B61CAB6EEB54}"/>
                </a:ext>
              </a:extLst>
            </p:cNvPr>
            <p:cNvSpPr>
              <a:spLocks noChangeShapeType="1"/>
            </p:cNvSpPr>
            <p:nvPr/>
          </p:nvSpPr>
          <p:spPr bwMode="auto">
            <a:xfrm>
              <a:off x="3508" y="2862"/>
              <a:ext cx="0" cy="16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0" name="Group 112">
            <a:extLst>
              <a:ext uri="{FF2B5EF4-FFF2-40B4-BE49-F238E27FC236}">
                <a16:creationId xmlns:a16="http://schemas.microsoft.com/office/drawing/2014/main" id="{D0A3DFB5-7C7C-584A-809B-92385F8664B9}"/>
              </a:ext>
            </a:extLst>
          </p:cNvPr>
          <p:cNvGrpSpPr>
            <a:grpSpLocks/>
          </p:cNvGrpSpPr>
          <p:nvPr/>
        </p:nvGrpSpPr>
        <p:grpSpPr bwMode="auto">
          <a:xfrm>
            <a:off x="4840288" y="5213350"/>
            <a:ext cx="2265362" cy="346075"/>
            <a:chOff x="3049" y="2811"/>
            <a:chExt cx="1427" cy="218"/>
          </a:xfrm>
        </p:grpSpPr>
        <p:sp>
          <p:nvSpPr>
            <p:cNvPr id="77842" name="Rectangle 55">
              <a:extLst>
                <a:ext uri="{FF2B5EF4-FFF2-40B4-BE49-F238E27FC236}">
                  <a16:creationId xmlns:a16="http://schemas.microsoft.com/office/drawing/2014/main" id="{E4A0C587-1EEE-424B-8DCF-302AFCA62AB5}"/>
                </a:ext>
              </a:extLst>
            </p:cNvPr>
            <p:cNvSpPr>
              <a:spLocks noChangeArrowheads="1"/>
            </p:cNvSpPr>
            <p:nvPr/>
          </p:nvSpPr>
          <p:spPr bwMode="auto">
            <a:xfrm>
              <a:off x="3049" y="2811"/>
              <a:ext cx="1427" cy="218"/>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43" name="Line 59">
              <a:extLst>
                <a:ext uri="{FF2B5EF4-FFF2-40B4-BE49-F238E27FC236}">
                  <a16:creationId xmlns:a16="http://schemas.microsoft.com/office/drawing/2014/main" id="{89F21E3C-36E7-7747-94D5-255260D0C60F}"/>
                </a:ext>
              </a:extLst>
            </p:cNvPr>
            <p:cNvSpPr>
              <a:spLocks noChangeShapeType="1"/>
            </p:cNvSpPr>
            <p:nvPr/>
          </p:nvSpPr>
          <p:spPr bwMode="auto">
            <a:xfrm>
              <a:off x="4355" y="2836"/>
              <a:ext cx="0" cy="16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44" name="Line 60">
              <a:extLst>
                <a:ext uri="{FF2B5EF4-FFF2-40B4-BE49-F238E27FC236}">
                  <a16:creationId xmlns:a16="http://schemas.microsoft.com/office/drawing/2014/main" id="{BFE5B173-FFCC-AF4D-9EE7-8845C77CF612}"/>
                </a:ext>
              </a:extLst>
            </p:cNvPr>
            <p:cNvSpPr>
              <a:spLocks noChangeShapeType="1"/>
            </p:cNvSpPr>
            <p:nvPr/>
          </p:nvSpPr>
          <p:spPr bwMode="auto">
            <a:xfrm>
              <a:off x="3508" y="2836"/>
              <a:ext cx="0" cy="16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45" name="Line 107">
              <a:extLst>
                <a:ext uri="{FF2B5EF4-FFF2-40B4-BE49-F238E27FC236}">
                  <a16:creationId xmlns:a16="http://schemas.microsoft.com/office/drawing/2014/main" id="{45F6A5D0-DE81-B149-8018-E69AC01BB5DE}"/>
                </a:ext>
              </a:extLst>
            </p:cNvPr>
            <p:cNvSpPr>
              <a:spLocks noChangeShapeType="1"/>
            </p:cNvSpPr>
            <p:nvPr/>
          </p:nvSpPr>
          <p:spPr bwMode="auto">
            <a:xfrm>
              <a:off x="3170" y="2837"/>
              <a:ext cx="0" cy="160"/>
            </a:xfrm>
            <a:prstGeom prst="line">
              <a:avLst/>
            </a:prstGeom>
            <a:noFill/>
            <a:ln w="38100">
              <a:solidFill>
                <a:srgbClr val="0099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46" name="Line 108">
              <a:extLst>
                <a:ext uri="{FF2B5EF4-FFF2-40B4-BE49-F238E27FC236}">
                  <a16:creationId xmlns:a16="http://schemas.microsoft.com/office/drawing/2014/main" id="{B7BC0D85-F233-824E-88A5-36018D86B600}"/>
                </a:ext>
              </a:extLst>
            </p:cNvPr>
            <p:cNvSpPr>
              <a:spLocks noChangeShapeType="1"/>
            </p:cNvSpPr>
            <p:nvPr/>
          </p:nvSpPr>
          <p:spPr bwMode="auto">
            <a:xfrm>
              <a:off x="4186" y="2837"/>
              <a:ext cx="0" cy="160"/>
            </a:xfrm>
            <a:prstGeom prst="line">
              <a:avLst/>
            </a:prstGeom>
            <a:noFill/>
            <a:ln w="38100">
              <a:solidFill>
                <a:srgbClr val="0099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47" name="Line 109">
              <a:extLst>
                <a:ext uri="{FF2B5EF4-FFF2-40B4-BE49-F238E27FC236}">
                  <a16:creationId xmlns:a16="http://schemas.microsoft.com/office/drawing/2014/main" id="{C8F1F023-5AC4-3245-8447-D59703E47958}"/>
                </a:ext>
              </a:extLst>
            </p:cNvPr>
            <p:cNvSpPr>
              <a:spLocks noChangeShapeType="1"/>
            </p:cNvSpPr>
            <p:nvPr/>
          </p:nvSpPr>
          <p:spPr bwMode="auto">
            <a:xfrm>
              <a:off x="3678" y="2837"/>
              <a:ext cx="0" cy="160"/>
            </a:xfrm>
            <a:prstGeom prst="line">
              <a:avLst/>
            </a:prstGeom>
            <a:noFill/>
            <a:ln w="38100">
              <a:solidFill>
                <a:srgbClr val="0099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48" name="Line 110">
              <a:extLst>
                <a:ext uri="{FF2B5EF4-FFF2-40B4-BE49-F238E27FC236}">
                  <a16:creationId xmlns:a16="http://schemas.microsoft.com/office/drawing/2014/main" id="{8FF872CC-6363-FF49-9393-2D0ED771B7ED}"/>
                </a:ext>
              </a:extLst>
            </p:cNvPr>
            <p:cNvSpPr>
              <a:spLocks noChangeShapeType="1"/>
            </p:cNvSpPr>
            <p:nvPr/>
          </p:nvSpPr>
          <p:spPr bwMode="auto">
            <a:xfrm>
              <a:off x="4017" y="2837"/>
              <a:ext cx="0" cy="160"/>
            </a:xfrm>
            <a:prstGeom prst="line">
              <a:avLst/>
            </a:prstGeom>
            <a:noFill/>
            <a:ln w="38100">
              <a:solidFill>
                <a:srgbClr val="0099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849" name="Line 111">
              <a:extLst>
                <a:ext uri="{FF2B5EF4-FFF2-40B4-BE49-F238E27FC236}">
                  <a16:creationId xmlns:a16="http://schemas.microsoft.com/office/drawing/2014/main" id="{7F4909FB-9C58-E14F-A79C-4DB050918D6F}"/>
                </a:ext>
              </a:extLst>
            </p:cNvPr>
            <p:cNvSpPr>
              <a:spLocks noChangeShapeType="1"/>
            </p:cNvSpPr>
            <p:nvPr/>
          </p:nvSpPr>
          <p:spPr bwMode="auto">
            <a:xfrm>
              <a:off x="3339" y="2837"/>
              <a:ext cx="0" cy="160"/>
            </a:xfrm>
            <a:prstGeom prst="line">
              <a:avLst/>
            </a:prstGeom>
            <a:noFill/>
            <a:ln w="38100">
              <a:solidFill>
                <a:srgbClr val="0099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5" name="TextBox 4">
            <a:extLst>
              <a:ext uri="{FF2B5EF4-FFF2-40B4-BE49-F238E27FC236}">
                <a16:creationId xmlns:a16="http://schemas.microsoft.com/office/drawing/2014/main" id="{F65EDD76-E1B2-5947-8319-58BD385116C9}"/>
              </a:ext>
            </a:extLst>
          </p:cNvPr>
          <p:cNvSpPr txBox="1">
            <a:spLocks noChangeArrowheads="1"/>
          </p:cNvSpPr>
          <p:nvPr/>
        </p:nvSpPr>
        <p:spPr bwMode="auto">
          <a:xfrm>
            <a:off x="685800" y="3733800"/>
            <a:ext cx="946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Warp X</a:t>
            </a:r>
          </a:p>
        </p:txBody>
      </p:sp>
      <p:sp>
        <p:nvSpPr>
          <p:cNvPr id="70" name="TextBox 69">
            <a:extLst>
              <a:ext uri="{FF2B5EF4-FFF2-40B4-BE49-F238E27FC236}">
                <a16:creationId xmlns:a16="http://schemas.microsoft.com/office/drawing/2014/main" id="{C03C9536-9D33-3140-B7E8-4077C1E4715A}"/>
              </a:ext>
            </a:extLst>
          </p:cNvPr>
          <p:cNvSpPr txBox="1">
            <a:spLocks noChangeArrowheads="1"/>
          </p:cNvSpPr>
          <p:nvPr/>
        </p:nvSpPr>
        <p:spPr bwMode="auto">
          <a:xfrm>
            <a:off x="671513" y="4114800"/>
            <a:ext cx="9413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Warp Y</a:t>
            </a:r>
          </a:p>
        </p:txBody>
      </p:sp>
      <p:sp>
        <p:nvSpPr>
          <p:cNvPr id="71" name="TextBox 70">
            <a:extLst>
              <a:ext uri="{FF2B5EF4-FFF2-40B4-BE49-F238E27FC236}">
                <a16:creationId xmlns:a16="http://schemas.microsoft.com/office/drawing/2014/main" id="{E58188DB-649A-BB4C-89DB-797699BB4084}"/>
              </a:ext>
            </a:extLst>
          </p:cNvPr>
          <p:cNvSpPr txBox="1">
            <a:spLocks noChangeArrowheads="1"/>
          </p:cNvSpPr>
          <p:nvPr/>
        </p:nvSpPr>
        <p:spPr bwMode="auto">
          <a:xfrm>
            <a:off x="7296150" y="3733800"/>
            <a:ext cx="9334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Warp Z</a:t>
            </a:r>
          </a:p>
        </p:txBody>
      </p:sp>
    </p:spTree>
    <p:extLst>
      <p:ext uri="{BB962C8B-B14F-4D97-AF65-F5344CB8AC3E}">
        <p14:creationId xmlns:p14="http://schemas.microsoft.com/office/powerpoint/2010/main" val="381487712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854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8546">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0855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855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1"/>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08555"/>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08554"/>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8"/>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0" grpId="0"/>
      <p:bldP spid="71"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le 1">
            <a:extLst>
              <a:ext uri="{FF2B5EF4-FFF2-40B4-BE49-F238E27FC236}">
                <a16:creationId xmlns:a16="http://schemas.microsoft.com/office/drawing/2014/main" id="{53B0834C-7FD5-6048-8047-C5ECCEB4A1CD}"/>
              </a:ext>
            </a:extLst>
          </p:cNvPr>
          <p:cNvSpPr>
            <a:spLocks noGrp="1"/>
          </p:cNvSpPr>
          <p:nvPr>
            <p:ph type="title"/>
          </p:nvPr>
        </p:nvSpPr>
        <p:spPr/>
        <p:txBody>
          <a:bodyPr/>
          <a:lstStyle/>
          <a:p>
            <a:r>
              <a:rPr lang="en-US" altLang="en-US">
                <a:ea typeface="ＭＳ Ｐゴシック" panose="020B0600070205080204" pitchFamily="34" charset="-128"/>
              </a:rPr>
              <a:t>Dynamic Warp Formation/Merging</a:t>
            </a:r>
          </a:p>
        </p:txBody>
      </p:sp>
      <p:sp>
        <p:nvSpPr>
          <p:cNvPr id="78850" name="Content Placeholder 2">
            <a:extLst>
              <a:ext uri="{FF2B5EF4-FFF2-40B4-BE49-F238E27FC236}">
                <a16:creationId xmlns:a16="http://schemas.microsoft.com/office/drawing/2014/main" id="{D359A478-E1E9-2C4C-BCF4-C3A25F828BFB}"/>
              </a:ext>
            </a:extLst>
          </p:cNvPr>
          <p:cNvSpPr>
            <a:spLocks noGrp="1"/>
          </p:cNvSpPr>
          <p:nvPr>
            <p:ph idx="1"/>
          </p:nvPr>
        </p:nvSpPr>
        <p:spPr>
          <a:xfrm>
            <a:off x="228600" y="996950"/>
            <a:ext cx="8610600" cy="5194300"/>
          </a:xfrm>
        </p:spPr>
        <p:txBody>
          <a:bodyPr/>
          <a:lstStyle/>
          <a:p>
            <a:r>
              <a:rPr lang="en-US" altLang="en-US" dirty="0">
                <a:ea typeface="ＭＳ Ｐゴシック" panose="020B0600070205080204" pitchFamily="34" charset="-128"/>
              </a:rPr>
              <a:t>Idea: </a:t>
            </a:r>
            <a:r>
              <a:rPr lang="en-US" altLang="en-US" dirty="0">
                <a:solidFill>
                  <a:srgbClr val="0000FF"/>
                </a:solidFill>
                <a:ea typeface="ＭＳ Ｐゴシック" panose="020B0600070205080204" pitchFamily="34" charset="-128"/>
              </a:rPr>
              <a:t>Dynamically merge threads executing the same instruction (after branch divergence)</a:t>
            </a:r>
          </a:p>
          <a:p>
            <a:endParaRPr lang="en-US" altLang="en-US" dirty="0">
              <a:solidFill>
                <a:srgbClr val="0000FF"/>
              </a:solidFill>
              <a:ea typeface="ＭＳ Ｐゴシック" panose="020B0600070205080204" pitchFamily="34" charset="-128"/>
            </a:endParaRPr>
          </a:p>
          <a:p>
            <a:endParaRPr lang="en-US" altLang="en-US" dirty="0">
              <a:solidFill>
                <a:srgbClr val="0000FF"/>
              </a:solidFill>
              <a:ea typeface="ＭＳ Ｐゴシック" panose="020B0600070205080204" pitchFamily="34" charset="-128"/>
            </a:endParaRPr>
          </a:p>
          <a:p>
            <a:endParaRPr lang="en-US" altLang="en-US" dirty="0">
              <a:solidFill>
                <a:srgbClr val="0000FF"/>
              </a:solidFill>
              <a:ea typeface="ＭＳ Ｐゴシック" panose="020B0600070205080204" pitchFamily="34" charset="-128"/>
            </a:endParaRPr>
          </a:p>
          <a:p>
            <a:endParaRPr lang="en-US" altLang="en-US" dirty="0">
              <a:solidFill>
                <a:srgbClr val="0000FF"/>
              </a:solidFill>
              <a:ea typeface="ＭＳ Ｐゴシック" panose="020B0600070205080204" pitchFamily="34" charset="-128"/>
            </a:endParaRPr>
          </a:p>
          <a:p>
            <a:endParaRPr lang="en-US" altLang="en-US" dirty="0">
              <a:solidFill>
                <a:srgbClr val="0000FF"/>
              </a:solidFill>
              <a:ea typeface="ＭＳ Ｐゴシック" panose="020B0600070205080204" pitchFamily="34" charset="-128"/>
            </a:endParaRPr>
          </a:p>
          <a:p>
            <a:endParaRPr lang="en-US" altLang="en-US" dirty="0">
              <a:solidFill>
                <a:srgbClr val="0000FF"/>
              </a:solidFill>
              <a:ea typeface="ＭＳ Ｐゴシック" panose="020B0600070205080204" pitchFamily="34" charset="-128"/>
            </a:endParaRPr>
          </a:p>
          <a:p>
            <a:endParaRPr lang="en-US" altLang="en-US" dirty="0">
              <a:solidFill>
                <a:srgbClr val="0000FF"/>
              </a:solidFill>
              <a:ea typeface="ＭＳ Ｐゴシック" panose="020B0600070205080204" pitchFamily="34" charset="-128"/>
            </a:endParaRPr>
          </a:p>
          <a:p>
            <a:endParaRPr lang="en-US" altLang="en-US" dirty="0">
              <a:solidFill>
                <a:srgbClr val="0000FF"/>
              </a:solidFill>
              <a:ea typeface="ＭＳ Ｐゴシック" panose="020B0600070205080204" pitchFamily="34" charset="-128"/>
            </a:endParaRPr>
          </a:p>
          <a:p>
            <a:pPr>
              <a:buFont typeface="Wingdings" pitchFamily="2" charset="2"/>
              <a:buNone/>
            </a:pPr>
            <a:endParaRPr lang="en-US" altLang="en-US" dirty="0">
              <a:solidFill>
                <a:srgbClr val="0000FF"/>
              </a:solidFill>
              <a:ea typeface="ＭＳ Ｐゴシック" panose="020B0600070205080204" pitchFamily="34" charset="-128"/>
            </a:endParaRPr>
          </a:p>
          <a:p>
            <a:pPr marL="342900" lvl="1" indent="-342900">
              <a:buClr>
                <a:schemeClr val="accent1"/>
              </a:buClr>
              <a:buSzPct val="65000"/>
              <a:buFont typeface="Wingdings" pitchFamily="2" charset="2"/>
              <a:buChar char="n"/>
            </a:pPr>
            <a:r>
              <a:rPr lang="en-US" altLang="en-US" dirty="0">
                <a:ea typeface="ＭＳ Ｐゴシック" panose="020B0600070205080204" pitchFamily="34" charset="-128"/>
              </a:rPr>
              <a:t>Fung et al., </a:t>
            </a:r>
            <a:r>
              <a:rPr lang="ja-JP" altLang="en-US" dirty="0">
                <a:ea typeface="ＭＳ Ｐゴシック" panose="020B0600070205080204" pitchFamily="34" charset="-128"/>
              </a:rPr>
              <a:t>“</a:t>
            </a:r>
            <a:r>
              <a:rPr lang="en-US" altLang="ja-JP" dirty="0">
                <a:ea typeface="ＭＳ Ｐゴシック" panose="020B0600070205080204" pitchFamily="34" charset="-128"/>
              </a:rPr>
              <a:t>Dynamic Warp Formation and Scheduling for Efficient GPU Control Flow,</a:t>
            </a:r>
            <a:r>
              <a:rPr lang="ja-JP" altLang="en-US" dirty="0">
                <a:ea typeface="ＭＳ Ｐゴシック" panose="020B0600070205080204" pitchFamily="34" charset="-128"/>
              </a:rPr>
              <a:t>”</a:t>
            </a:r>
            <a:r>
              <a:rPr lang="en-US" altLang="ja-JP" dirty="0">
                <a:ea typeface="ＭＳ Ｐゴシック" panose="020B0600070205080204" pitchFamily="34" charset="-128"/>
              </a:rPr>
              <a:t> MICRO 2007.</a:t>
            </a:r>
          </a:p>
          <a:p>
            <a:endParaRPr lang="en-US" altLang="en-US" dirty="0">
              <a:solidFill>
                <a:srgbClr val="0000FF"/>
              </a:solidFill>
              <a:ea typeface="ＭＳ Ｐゴシック" panose="020B0600070205080204" pitchFamily="34" charset="-128"/>
            </a:endParaRPr>
          </a:p>
        </p:txBody>
      </p:sp>
      <p:sp>
        <p:nvSpPr>
          <p:cNvPr id="78851" name="Slide Number Placeholder 3">
            <a:extLst>
              <a:ext uri="{FF2B5EF4-FFF2-40B4-BE49-F238E27FC236}">
                <a16:creationId xmlns:a16="http://schemas.microsoft.com/office/drawing/2014/main" id="{D885FA6F-0125-4841-BC2C-DB67FC192D8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4E4ED03-88BA-C64B-90A6-0A8886AB2324}"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107</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grpSp>
        <p:nvGrpSpPr>
          <p:cNvPr id="2" name="Group 157">
            <a:extLst>
              <a:ext uri="{FF2B5EF4-FFF2-40B4-BE49-F238E27FC236}">
                <a16:creationId xmlns:a16="http://schemas.microsoft.com/office/drawing/2014/main" id="{253CCF46-4EB5-E44E-845B-F8C469B1CFF8}"/>
              </a:ext>
            </a:extLst>
          </p:cNvPr>
          <p:cNvGrpSpPr>
            <a:grpSpLocks/>
          </p:cNvGrpSpPr>
          <p:nvPr/>
        </p:nvGrpSpPr>
        <p:grpSpPr bwMode="auto">
          <a:xfrm>
            <a:off x="2690813" y="3862388"/>
            <a:ext cx="2265362" cy="346075"/>
            <a:chOff x="1695" y="2595"/>
            <a:chExt cx="1427" cy="218"/>
          </a:xfrm>
        </p:grpSpPr>
        <p:sp>
          <p:nvSpPr>
            <p:cNvPr id="78929" name="Rectangle 78">
              <a:extLst>
                <a:ext uri="{FF2B5EF4-FFF2-40B4-BE49-F238E27FC236}">
                  <a16:creationId xmlns:a16="http://schemas.microsoft.com/office/drawing/2014/main" id="{DB0BBE35-A7E1-6241-A170-92E67577F3E2}"/>
                </a:ext>
              </a:extLst>
            </p:cNvPr>
            <p:cNvSpPr>
              <a:spLocks noChangeArrowheads="1"/>
            </p:cNvSpPr>
            <p:nvPr/>
          </p:nvSpPr>
          <p:spPr bwMode="auto">
            <a:xfrm>
              <a:off x="1695" y="2595"/>
              <a:ext cx="1427" cy="218"/>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930" name="Line 79">
              <a:extLst>
                <a:ext uri="{FF2B5EF4-FFF2-40B4-BE49-F238E27FC236}">
                  <a16:creationId xmlns:a16="http://schemas.microsoft.com/office/drawing/2014/main" id="{088DD1FE-57D6-9B47-9420-564B703FE4DD}"/>
                </a:ext>
              </a:extLst>
            </p:cNvPr>
            <p:cNvSpPr>
              <a:spLocks noChangeShapeType="1"/>
            </p:cNvSpPr>
            <p:nvPr/>
          </p:nvSpPr>
          <p:spPr bwMode="auto">
            <a:xfrm>
              <a:off x="1985" y="2624"/>
              <a:ext cx="0" cy="16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931" name="Line 80">
              <a:extLst>
                <a:ext uri="{FF2B5EF4-FFF2-40B4-BE49-F238E27FC236}">
                  <a16:creationId xmlns:a16="http://schemas.microsoft.com/office/drawing/2014/main" id="{ED23CCBA-56D3-EE44-8E35-476FBB774778}"/>
                </a:ext>
              </a:extLst>
            </p:cNvPr>
            <p:cNvSpPr>
              <a:spLocks noChangeShapeType="1"/>
            </p:cNvSpPr>
            <p:nvPr/>
          </p:nvSpPr>
          <p:spPr bwMode="auto">
            <a:xfrm>
              <a:off x="2493" y="2624"/>
              <a:ext cx="0" cy="16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932" name="Line 82">
              <a:extLst>
                <a:ext uri="{FF2B5EF4-FFF2-40B4-BE49-F238E27FC236}">
                  <a16:creationId xmlns:a16="http://schemas.microsoft.com/office/drawing/2014/main" id="{5A390755-1A5D-6C44-800F-02ADF4B6ACC3}"/>
                </a:ext>
              </a:extLst>
            </p:cNvPr>
            <p:cNvSpPr>
              <a:spLocks noChangeShapeType="1"/>
            </p:cNvSpPr>
            <p:nvPr/>
          </p:nvSpPr>
          <p:spPr bwMode="auto">
            <a:xfrm>
              <a:off x="2832" y="2624"/>
              <a:ext cx="0" cy="16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933" name="Line 154">
              <a:extLst>
                <a:ext uri="{FF2B5EF4-FFF2-40B4-BE49-F238E27FC236}">
                  <a16:creationId xmlns:a16="http://schemas.microsoft.com/office/drawing/2014/main" id="{1260CBC5-DE33-BE4F-A079-80F9B100B10D}"/>
                </a:ext>
              </a:extLst>
            </p:cNvPr>
            <p:cNvSpPr>
              <a:spLocks noChangeShapeType="1"/>
            </p:cNvSpPr>
            <p:nvPr/>
          </p:nvSpPr>
          <p:spPr bwMode="auto">
            <a:xfrm>
              <a:off x="3001" y="2620"/>
              <a:ext cx="0" cy="16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934" name="Line 155">
              <a:extLst>
                <a:ext uri="{FF2B5EF4-FFF2-40B4-BE49-F238E27FC236}">
                  <a16:creationId xmlns:a16="http://schemas.microsoft.com/office/drawing/2014/main" id="{6219709F-00EB-FD49-9761-2B9077F810DF}"/>
                </a:ext>
              </a:extLst>
            </p:cNvPr>
            <p:cNvSpPr>
              <a:spLocks noChangeShapeType="1"/>
            </p:cNvSpPr>
            <p:nvPr/>
          </p:nvSpPr>
          <p:spPr bwMode="auto">
            <a:xfrm>
              <a:off x="2154" y="2620"/>
              <a:ext cx="0" cy="16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 name="Group 93">
            <a:extLst>
              <a:ext uri="{FF2B5EF4-FFF2-40B4-BE49-F238E27FC236}">
                <a16:creationId xmlns:a16="http://schemas.microsoft.com/office/drawing/2014/main" id="{2AC738C2-4348-F24C-970D-FDF935456B00}"/>
              </a:ext>
            </a:extLst>
          </p:cNvPr>
          <p:cNvGrpSpPr>
            <a:grpSpLocks/>
          </p:cNvGrpSpPr>
          <p:nvPr/>
        </p:nvGrpSpPr>
        <p:grpSpPr bwMode="auto">
          <a:xfrm>
            <a:off x="2690813" y="2057400"/>
            <a:ext cx="2265362" cy="346075"/>
            <a:chOff x="1695" y="1555"/>
            <a:chExt cx="1427" cy="363"/>
          </a:xfrm>
        </p:grpSpPr>
        <p:sp>
          <p:nvSpPr>
            <p:cNvPr id="78920" name="Rectangle 5">
              <a:extLst>
                <a:ext uri="{FF2B5EF4-FFF2-40B4-BE49-F238E27FC236}">
                  <a16:creationId xmlns:a16="http://schemas.microsoft.com/office/drawing/2014/main" id="{35CC74E0-7BBB-1D41-9D87-310B3D360615}"/>
                </a:ext>
              </a:extLst>
            </p:cNvPr>
            <p:cNvSpPr>
              <a:spLocks noChangeArrowheads="1"/>
            </p:cNvSpPr>
            <p:nvPr/>
          </p:nvSpPr>
          <p:spPr bwMode="auto">
            <a:xfrm>
              <a:off x="1695" y="1555"/>
              <a:ext cx="1427" cy="3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921" name="Line 6">
              <a:extLst>
                <a:ext uri="{FF2B5EF4-FFF2-40B4-BE49-F238E27FC236}">
                  <a16:creationId xmlns:a16="http://schemas.microsoft.com/office/drawing/2014/main" id="{F4B9953C-E31D-3141-9A0D-E03579E96731}"/>
                </a:ext>
              </a:extLst>
            </p:cNvPr>
            <p:cNvSpPr>
              <a:spLocks noChangeShapeType="1"/>
            </p:cNvSpPr>
            <p:nvPr/>
          </p:nvSpPr>
          <p:spPr bwMode="auto">
            <a:xfrm>
              <a:off x="1816" y="1604"/>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922" name="Line 7">
              <a:extLst>
                <a:ext uri="{FF2B5EF4-FFF2-40B4-BE49-F238E27FC236}">
                  <a16:creationId xmlns:a16="http://schemas.microsoft.com/office/drawing/2014/main" id="{E7959B03-5B58-3E46-B812-796B619C33AF}"/>
                </a:ext>
              </a:extLst>
            </p:cNvPr>
            <p:cNvSpPr>
              <a:spLocks noChangeShapeType="1"/>
            </p:cNvSpPr>
            <p:nvPr/>
          </p:nvSpPr>
          <p:spPr bwMode="auto">
            <a:xfrm>
              <a:off x="1985" y="1604"/>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923" name="Line 8">
              <a:extLst>
                <a:ext uri="{FF2B5EF4-FFF2-40B4-BE49-F238E27FC236}">
                  <a16:creationId xmlns:a16="http://schemas.microsoft.com/office/drawing/2014/main" id="{A791B2E3-0907-F845-8C28-097287DE60AD}"/>
                </a:ext>
              </a:extLst>
            </p:cNvPr>
            <p:cNvSpPr>
              <a:spLocks noChangeShapeType="1"/>
            </p:cNvSpPr>
            <p:nvPr/>
          </p:nvSpPr>
          <p:spPr bwMode="auto">
            <a:xfrm>
              <a:off x="2155" y="1604"/>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924" name="Line 9">
              <a:extLst>
                <a:ext uri="{FF2B5EF4-FFF2-40B4-BE49-F238E27FC236}">
                  <a16:creationId xmlns:a16="http://schemas.microsoft.com/office/drawing/2014/main" id="{4152BE1E-4417-0C4C-A5C2-B9514FCCAF57}"/>
                </a:ext>
              </a:extLst>
            </p:cNvPr>
            <p:cNvSpPr>
              <a:spLocks noChangeShapeType="1"/>
            </p:cNvSpPr>
            <p:nvPr/>
          </p:nvSpPr>
          <p:spPr bwMode="auto">
            <a:xfrm>
              <a:off x="2324" y="1604"/>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925" name="Line 10">
              <a:extLst>
                <a:ext uri="{FF2B5EF4-FFF2-40B4-BE49-F238E27FC236}">
                  <a16:creationId xmlns:a16="http://schemas.microsoft.com/office/drawing/2014/main" id="{5B896639-0595-8740-B7D0-70A442F0EB1D}"/>
                </a:ext>
              </a:extLst>
            </p:cNvPr>
            <p:cNvSpPr>
              <a:spLocks noChangeShapeType="1"/>
            </p:cNvSpPr>
            <p:nvPr/>
          </p:nvSpPr>
          <p:spPr bwMode="auto">
            <a:xfrm>
              <a:off x="2493" y="1604"/>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926" name="Line 11">
              <a:extLst>
                <a:ext uri="{FF2B5EF4-FFF2-40B4-BE49-F238E27FC236}">
                  <a16:creationId xmlns:a16="http://schemas.microsoft.com/office/drawing/2014/main" id="{8FA6BE35-77BE-994E-B915-1F50E2F0BDCE}"/>
                </a:ext>
              </a:extLst>
            </p:cNvPr>
            <p:cNvSpPr>
              <a:spLocks noChangeShapeType="1"/>
            </p:cNvSpPr>
            <p:nvPr/>
          </p:nvSpPr>
          <p:spPr bwMode="auto">
            <a:xfrm>
              <a:off x="2662" y="1604"/>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927" name="Line 12">
              <a:extLst>
                <a:ext uri="{FF2B5EF4-FFF2-40B4-BE49-F238E27FC236}">
                  <a16:creationId xmlns:a16="http://schemas.microsoft.com/office/drawing/2014/main" id="{11788CAF-F95E-894E-A5EB-FA6B318E923E}"/>
                </a:ext>
              </a:extLst>
            </p:cNvPr>
            <p:cNvSpPr>
              <a:spLocks noChangeShapeType="1"/>
            </p:cNvSpPr>
            <p:nvPr/>
          </p:nvSpPr>
          <p:spPr bwMode="auto">
            <a:xfrm>
              <a:off x="2832" y="1604"/>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928" name="Line 13">
              <a:extLst>
                <a:ext uri="{FF2B5EF4-FFF2-40B4-BE49-F238E27FC236}">
                  <a16:creationId xmlns:a16="http://schemas.microsoft.com/office/drawing/2014/main" id="{E0BF9AA4-3744-8C4B-8D99-0A14E3037471}"/>
                </a:ext>
              </a:extLst>
            </p:cNvPr>
            <p:cNvSpPr>
              <a:spLocks noChangeShapeType="1"/>
            </p:cNvSpPr>
            <p:nvPr/>
          </p:nvSpPr>
          <p:spPr bwMode="auto">
            <a:xfrm>
              <a:off x="3001" y="1604"/>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4" name="Group 94">
            <a:extLst>
              <a:ext uri="{FF2B5EF4-FFF2-40B4-BE49-F238E27FC236}">
                <a16:creationId xmlns:a16="http://schemas.microsoft.com/office/drawing/2014/main" id="{55381187-CE69-2148-960F-655542BB726F}"/>
              </a:ext>
            </a:extLst>
          </p:cNvPr>
          <p:cNvGrpSpPr>
            <a:grpSpLocks/>
          </p:cNvGrpSpPr>
          <p:nvPr/>
        </p:nvGrpSpPr>
        <p:grpSpPr bwMode="auto">
          <a:xfrm>
            <a:off x="2690813" y="2787650"/>
            <a:ext cx="2265362" cy="344488"/>
            <a:chOff x="1695" y="1991"/>
            <a:chExt cx="1427" cy="363"/>
          </a:xfrm>
        </p:grpSpPr>
        <p:sp>
          <p:nvSpPr>
            <p:cNvPr id="78911" name="Rectangle 14">
              <a:extLst>
                <a:ext uri="{FF2B5EF4-FFF2-40B4-BE49-F238E27FC236}">
                  <a16:creationId xmlns:a16="http://schemas.microsoft.com/office/drawing/2014/main" id="{F7F177DB-4A7C-0A4F-826E-4BA0DFD63164}"/>
                </a:ext>
              </a:extLst>
            </p:cNvPr>
            <p:cNvSpPr>
              <a:spLocks noChangeArrowheads="1"/>
            </p:cNvSpPr>
            <p:nvPr/>
          </p:nvSpPr>
          <p:spPr bwMode="auto">
            <a:xfrm>
              <a:off x="1695" y="1991"/>
              <a:ext cx="1427" cy="3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912" name="Line 15">
              <a:extLst>
                <a:ext uri="{FF2B5EF4-FFF2-40B4-BE49-F238E27FC236}">
                  <a16:creationId xmlns:a16="http://schemas.microsoft.com/office/drawing/2014/main" id="{F063FFB2-8947-E847-958A-E0E7E556C1CF}"/>
                </a:ext>
              </a:extLst>
            </p:cNvPr>
            <p:cNvSpPr>
              <a:spLocks noChangeShapeType="1"/>
            </p:cNvSpPr>
            <p:nvPr/>
          </p:nvSpPr>
          <p:spPr bwMode="auto">
            <a:xfrm>
              <a:off x="1816" y="2040"/>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913" name="Line 16">
              <a:extLst>
                <a:ext uri="{FF2B5EF4-FFF2-40B4-BE49-F238E27FC236}">
                  <a16:creationId xmlns:a16="http://schemas.microsoft.com/office/drawing/2014/main" id="{90910E9C-DC47-AF46-B858-A2A50CAFCE5C}"/>
                </a:ext>
              </a:extLst>
            </p:cNvPr>
            <p:cNvSpPr>
              <a:spLocks noChangeShapeType="1"/>
            </p:cNvSpPr>
            <p:nvPr/>
          </p:nvSpPr>
          <p:spPr bwMode="auto">
            <a:xfrm>
              <a:off x="1985" y="2040"/>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914" name="Line 17">
              <a:extLst>
                <a:ext uri="{FF2B5EF4-FFF2-40B4-BE49-F238E27FC236}">
                  <a16:creationId xmlns:a16="http://schemas.microsoft.com/office/drawing/2014/main" id="{36378678-B5FC-B947-8279-BA3C64A183C3}"/>
                </a:ext>
              </a:extLst>
            </p:cNvPr>
            <p:cNvSpPr>
              <a:spLocks noChangeShapeType="1"/>
            </p:cNvSpPr>
            <p:nvPr/>
          </p:nvSpPr>
          <p:spPr bwMode="auto">
            <a:xfrm>
              <a:off x="2155" y="2040"/>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915" name="Line 18">
              <a:extLst>
                <a:ext uri="{FF2B5EF4-FFF2-40B4-BE49-F238E27FC236}">
                  <a16:creationId xmlns:a16="http://schemas.microsoft.com/office/drawing/2014/main" id="{291CBCCF-3C5C-A94B-B65F-A69011566FF3}"/>
                </a:ext>
              </a:extLst>
            </p:cNvPr>
            <p:cNvSpPr>
              <a:spLocks noChangeShapeType="1"/>
            </p:cNvSpPr>
            <p:nvPr/>
          </p:nvSpPr>
          <p:spPr bwMode="auto">
            <a:xfrm>
              <a:off x="2324" y="2040"/>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916" name="Line 19">
              <a:extLst>
                <a:ext uri="{FF2B5EF4-FFF2-40B4-BE49-F238E27FC236}">
                  <a16:creationId xmlns:a16="http://schemas.microsoft.com/office/drawing/2014/main" id="{358C9823-5A28-D74C-8870-8EA2B1ABD209}"/>
                </a:ext>
              </a:extLst>
            </p:cNvPr>
            <p:cNvSpPr>
              <a:spLocks noChangeShapeType="1"/>
            </p:cNvSpPr>
            <p:nvPr/>
          </p:nvSpPr>
          <p:spPr bwMode="auto">
            <a:xfrm>
              <a:off x="2493" y="2040"/>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917" name="Line 20">
              <a:extLst>
                <a:ext uri="{FF2B5EF4-FFF2-40B4-BE49-F238E27FC236}">
                  <a16:creationId xmlns:a16="http://schemas.microsoft.com/office/drawing/2014/main" id="{374F8410-5066-8445-9AB7-CF6ADE3F6EF3}"/>
                </a:ext>
              </a:extLst>
            </p:cNvPr>
            <p:cNvSpPr>
              <a:spLocks noChangeShapeType="1"/>
            </p:cNvSpPr>
            <p:nvPr/>
          </p:nvSpPr>
          <p:spPr bwMode="auto">
            <a:xfrm>
              <a:off x="2662" y="2040"/>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918" name="Line 21">
              <a:extLst>
                <a:ext uri="{FF2B5EF4-FFF2-40B4-BE49-F238E27FC236}">
                  <a16:creationId xmlns:a16="http://schemas.microsoft.com/office/drawing/2014/main" id="{F11468CC-35F2-944C-B7A0-251CBDE13AF9}"/>
                </a:ext>
              </a:extLst>
            </p:cNvPr>
            <p:cNvSpPr>
              <a:spLocks noChangeShapeType="1"/>
            </p:cNvSpPr>
            <p:nvPr/>
          </p:nvSpPr>
          <p:spPr bwMode="auto">
            <a:xfrm>
              <a:off x="2832" y="2040"/>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919" name="Line 22">
              <a:extLst>
                <a:ext uri="{FF2B5EF4-FFF2-40B4-BE49-F238E27FC236}">
                  <a16:creationId xmlns:a16="http://schemas.microsoft.com/office/drawing/2014/main" id="{69170B03-C76F-EC48-8FE9-BC339E7E3990}"/>
                </a:ext>
              </a:extLst>
            </p:cNvPr>
            <p:cNvSpPr>
              <a:spLocks noChangeShapeType="1"/>
            </p:cNvSpPr>
            <p:nvPr/>
          </p:nvSpPr>
          <p:spPr bwMode="auto">
            <a:xfrm>
              <a:off x="3001" y="2040"/>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 name="Group 95">
            <a:extLst>
              <a:ext uri="{FF2B5EF4-FFF2-40B4-BE49-F238E27FC236}">
                <a16:creationId xmlns:a16="http://schemas.microsoft.com/office/drawing/2014/main" id="{DCBA7CEE-76E7-8B43-A960-CB233FB66C1E}"/>
              </a:ext>
            </a:extLst>
          </p:cNvPr>
          <p:cNvGrpSpPr>
            <a:grpSpLocks/>
          </p:cNvGrpSpPr>
          <p:nvPr/>
        </p:nvGrpSpPr>
        <p:grpSpPr bwMode="auto">
          <a:xfrm>
            <a:off x="2690813" y="2403475"/>
            <a:ext cx="2265362" cy="346075"/>
            <a:chOff x="3364" y="1555"/>
            <a:chExt cx="1427" cy="363"/>
          </a:xfrm>
        </p:grpSpPr>
        <p:sp>
          <p:nvSpPr>
            <p:cNvPr id="78902" name="Rectangle 55">
              <a:extLst>
                <a:ext uri="{FF2B5EF4-FFF2-40B4-BE49-F238E27FC236}">
                  <a16:creationId xmlns:a16="http://schemas.microsoft.com/office/drawing/2014/main" id="{3F7E690F-569F-2446-9686-BD8449339254}"/>
                </a:ext>
              </a:extLst>
            </p:cNvPr>
            <p:cNvSpPr>
              <a:spLocks noChangeArrowheads="1"/>
            </p:cNvSpPr>
            <p:nvPr/>
          </p:nvSpPr>
          <p:spPr bwMode="auto">
            <a:xfrm>
              <a:off x="3364" y="1555"/>
              <a:ext cx="1427" cy="363"/>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903" name="Line 56">
              <a:extLst>
                <a:ext uri="{FF2B5EF4-FFF2-40B4-BE49-F238E27FC236}">
                  <a16:creationId xmlns:a16="http://schemas.microsoft.com/office/drawing/2014/main" id="{37BCEDF2-3220-2D47-ADB8-D24E5DDB1CAD}"/>
                </a:ext>
              </a:extLst>
            </p:cNvPr>
            <p:cNvSpPr>
              <a:spLocks noChangeShapeType="1"/>
            </p:cNvSpPr>
            <p:nvPr/>
          </p:nvSpPr>
          <p:spPr bwMode="auto">
            <a:xfrm>
              <a:off x="3485" y="1604"/>
              <a:ext cx="0" cy="266"/>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904" name="Line 57">
              <a:extLst>
                <a:ext uri="{FF2B5EF4-FFF2-40B4-BE49-F238E27FC236}">
                  <a16:creationId xmlns:a16="http://schemas.microsoft.com/office/drawing/2014/main" id="{722B4CFB-CECE-2B4F-8EA5-ED1C7135A07C}"/>
                </a:ext>
              </a:extLst>
            </p:cNvPr>
            <p:cNvSpPr>
              <a:spLocks noChangeShapeType="1"/>
            </p:cNvSpPr>
            <p:nvPr/>
          </p:nvSpPr>
          <p:spPr bwMode="auto">
            <a:xfrm>
              <a:off x="3654" y="1604"/>
              <a:ext cx="0" cy="266"/>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905" name="Line 58">
              <a:extLst>
                <a:ext uri="{FF2B5EF4-FFF2-40B4-BE49-F238E27FC236}">
                  <a16:creationId xmlns:a16="http://schemas.microsoft.com/office/drawing/2014/main" id="{3E28D9CA-2E67-3E4C-B5E0-5C0CB6811C6A}"/>
                </a:ext>
              </a:extLst>
            </p:cNvPr>
            <p:cNvSpPr>
              <a:spLocks noChangeShapeType="1"/>
            </p:cNvSpPr>
            <p:nvPr/>
          </p:nvSpPr>
          <p:spPr bwMode="auto">
            <a:xfrm>
              <a:off x="3824" y="1604"/>
              <a:ext cx="0" cy="266"/>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906" name="Line 59">
              <a:extLst>
                <a:ext uri="{FF2B5EF4-FFF2-40B4-BE49-F238E27FC236}">
                  <a16:creationId xmlns:a16="http://schemas.microsoft.com/office/drawing/2014/main" id="{46E7C51A-7DE8-3348-9983-745A74D6191F}"/>
                </a:ext>
              </a:extLst>
            </p:cNvPr>
            <p:cNvSpPr>
              <a:spLocks noChangeShapeType="1"/>
            </p:cNvSpPr>
            <p:nvPr/>
          </p:nvSpPr>
          <p:spPr bwMode="auto">
            <a:xfrm>
              <a:off x="3993" y="1604"/>
              <a:ext cx="0" cy="266"/>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907" name="Line 60">
              <a:extLst>
                <a:ext uri="{FF2B5EF4-FFF2-40B4-BE49-F238E27FC236}">
                  <a16:creationId xmlns:a16="http://schemas.microsoft.com/office/drawing/2014/main" id="{8E5F4EC9-18B0-F647-B269-AB738F4FAE2C}"/>
                </a:ext>
              </a:extLst>
            </p:cNvPr>
            <p:cNvSpPr>
              <a:spLocks noChangeShapeType="1"/>
            </p:cNvSpPr>
            <p:nvPr/>
          </p:nvSpPr>
          <p:spPr bwMode="auto">
            <a:xfrm>
              <a:off x="4162" y="1604"/>
              <a:ext cx="0" cy="266"/>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908" name="Line 61">
              <a:extLst>
                <a:ext uri="{FF2B5EF4-FFF2-40B4-BE49-F238E27FC236}">
                  <a16:creationId xmlns:a16="http://schemas.microsoft.com/office/drawing/2014/main" id="{8809AE5D-1352-D547-9B20-F4F7D01BAEBD}"/>
                </a:ext>
              </a:extLst>
            </p:cNvPr>
            <p:cNvSpPr>
              <a:spLocks noChangeShapeType="1"/>
            </p:cNvSpPr>
            <p:nvPr/>
          </p:nvSpPr>
          <p:spPr bwMode="auto">
            <a:xfrm>
              <a:off x="4331" y="1604"/>
              <a:ext cx="0" cy="266"/>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909" name="Line 62">
              <a:extLst>
                <a:ext uri="{FF2B5EF4-FFF2-40B4-BE49-F238E27FC236}">
                  <a16:creationId xmlns:a16="http://schemas.microsoft.com/office/drawing/2014/main" id="{5CBF7308-947C-AA46-9F89-A6944607AA01}"/>
                </a:ext>
              </a:extLst>
            </p:cNvPr>
            <p:cNvSpPr>
              <a:spLocks noChangeShapeType="1"/>
            </p:cNvSpPr>
            <p:nvPr/>
          </p:nvSpPr>
          <p:spPr bwMode="auto">
            <a:xfrm>
              <a:off x="4501" y="1604"/>
              <a:ext cx="0" cy="266"/>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910" name="Line 63">
              <a:extLst>
                <a:ext uri="{FF2B5EF4-FFF2-40B4-BE49-F238E27FC236}">
                  <a16:creationId xmlns:a16="http://schemas.microsoft.com/office/drawing/2014/main" id="{32EB7F58-5E6C-4B4F-AA80-F88C27D90161}"/>
                </a:ext>
              </a:extLst>
            </p:cNvPr>
            <p:cNvSpPr>
              <a:spLocks noChangeShapeType="1"/>
            </p:cNvSpPr>
            <p:nvPr/>
          </p:nvSpPr>
          <p:spPr bwMode="auto">
            <a:xfrm>
              <a:off x="4670" y="1604"/>
              <a:ext cx="0" cy="266"/>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 name="Group 96">
            <a:extLst>
              <a:ext uri="{FF2B5EF4-FFF2-40B4-BE49-F238E27FC236}">
                <a16:creationId xmlns:a16="http://schemas.microsoft.com/office/drawing/2014/main" id="{F0BC6AD6-977D-3341-B454-F70E6991046C}"/>
              </a:ext>
            </a:extLst>
          </p:cNvPr>
          <p:cNvGrpSpPr>
            <a:grpSpLocks/>
          </p:cNvGrpSpPr>
          <p:nvPr/>
        </p:nvGrpSpPr>
        <p:grpSpPr bwMode="auto">
          <a:xfrm>
            <a:off x="2690813" y="3133725"/>
            <a:ext cx="2265362" cy="346075"/>
            <a:chOff x="3364" y="1991"/>
            <a:chExt cx="1427" cy="363"/>
          </a:xfrm>
        </p:grpSpPr>
        <p:sp>
          <p:nvSpPr>
            <p:cNvPr id="78893" name="Rectangle 64">
              <a:extLst>
                <a:ext uri="{FF2B5EF4-FFF2-40B4-BE49-F238E27FC236}">
                  <a16:creationId xmlns:a16="http://schemas.microsoft.com/office/drawing/2014/main" id="{C2C4DF79-25B0-0D40-9331-3A6E4C6E86EA}"/>
                </a:ext>
              </a:extLst>
            </p:cNvPr>
            <p:cNvSpPr>
              <a:spLocks noChangeArrowheads="1"/>
            </p:cNvSpPr>
            <p:nvPr/>
          </p:nvSpPr>
          <p:spPr bwMode="auto">
            <a:xfrm>
              <a:off x="3364" y="1991"/>
              <a:ext cx="1427" cy="363"/>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894" name="Line 65">
              <a:extLst>
                <a:ext uri="{FF2B5EF4-FFF2-40B4-BE49-F238E27FC236}">
                  <a16:creationId xmlns:a16="http://schemas.microsoft.com/office/drawing/2014/main" id="{74FCC9F1-B7CC-5448-8EC6-625ABAADED46}"/>
                </a:ext>
              </a:extLst>
            </p:cNvPr>
            <p:cNvSpPr>
              <a:spLocks noChangeShapeType="1"/>
            </p:cNvSpPr>
            <p:nvPr/>
          </p:nvSpPr>
          <p:spPr bwMode="auto">
            <a:xfrm>
              <a:off x="3485" y="2040"/>
              <a:ext cx="0" cy="266"/>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895" name="Line 66">
              <a:extLst>
                <a:ext uri="{FF2B5EF4-FFF2-40B4-BE49-F238E27FC236}">
                  <a16:creationId xmlns:a16="http://schemas.microsoft.com/office/drawing/2014/main" id="{D77B80F9-315B-3049-B1A9-4C302000C2EB}"/>
                </a:ext>
              </a:extLst>
            </p:cNvPr>
            <p:cNvSpPr>
              <a:spLocks noChangeShapeType="1"/>
            </p:cNvSpPr>
            <p:nvPr/>
          </p:nvSpPr>
          <p:spPr bwMode="auto">
            <a:xfrm>
              <a:off x="3654" y="2040"/>
              <a:ext cx="0" cy="266"/>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896" name="Line 67">
              <a:extLst>
                <a:ext uri="{FF2B5EF4-FFF2-40B4-BE49-F238E27FC236}">
                  <a16:creationId xmlns:a16="http://schemas.microsoft.com/office/drawing/2014/main" id="{3D2CB03E-04B4-6A4F-9142-58E1D469B4B5}"/>
                </a:ext>
              </a:extLst>
            </p:cNvPr>
            <p:cNvSpPr>
              <a:spLocks noChangeShapeType="1"/>
            </p:cNvSpPr>
            <p:nvPr/>
          </p:nvSpPr>
          <p:spPr bwMode="auto">
            <a:xfrm>
              <a:off x="3824" y="2040"/>
              <a:ext cx="0" cy="266"/>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897" name="Line 68">
              <a:extLst>
                <a:ext uri="{FF2B5EF4-FFF2-40B4-BE49-F238E27FC236}">
                  <a16:creationId xmlns:a16="http://schemas.microsoft.com/office/drawing/2014/main" id="{193ADE0F-5CE3-CF42-856C-63CE7A94C5E2}"/>
                </a:ext>
              </a:extLst>
            </p:cNvPr>
            <p:cNvSpPr>
              <a:spLocks noChangeShapeType="1"/>
            </p:cNvSpPr>
            <p:nvPr/>
          </p:nvSpPr>
          <p:spPr bwMode="auto">
            <a:xfrm>
              <a:off x="3993" y="2040"/>
              <a:ext cx="0" cy="266"/>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898" name="Line 69">
              <a:extLst>
                <a:ext uri="{FF2B5EF4-FFF2-40B4-BE49-F238E27FC236}">
                  <a16:creationId xmlns:a16="http://schemas.microsoft.com/office/drawing/2014/main" id="{BF72AEA8-E3B6-D04F-B2A4-E73309500C89}"/>
                </a:ext>
              </a:extLst>
            </p:cNvPr>
            <p:cNvSpPr>
              <a:spLocks noChangeShapeType="1"/>
            </p:cNvSpPr>
            <p:nvPr/>
          </p:nvSpPr>
          <p:spPr bwMode="auto">
            <a:xfrm>
              <a:off x="4162" y="2040"/>
              <a:ext cx="0" cy="266"/>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899" name="Line 70">
              <a:extLst>
                <a:ext uri="{FF2B5EF4-FFF2-40B4-BE49-F238E27FC236}">
                  <a16:creationId xmlns:a16="http://schemas.microsoft.com/office/drawing/2014/main" id="{3663A9D7-F42A-E541-AE7A-EF83790546D5}"/>
                </a:ext>
              </a:extLst>
            </p:cNvPr>
            <p:cNvSpPr>
              <a:spLocks noChangeShapeType="1"/>
            </p:cNvSpPr>
            <p:nvPr/>
          </p:nvSpPr>
          <p:spPr bwMode="auto">
            <a:xfrm>
              <a:off x="4331" y="2040"/>
              <a:ext cx="0" cy="266"/>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900" name="Line 71">
              <a:extLst>
                <a:ext uri="{FF2B5EF4-FFF2-40B4-BE49-F238E27FC236}">
                  <a16:creationId xmlns:a16="http://schemas.microsoft.com/office/drawing/2014/main" id="{378B6CAB-2C0E-C943-A346-91A8FCB961C6}"/>
                </a:ext>
              </a:extLst>
            </p:cNvPr>
            <p:cNvSpPr>
              <a:spLocks noChangeShapeType="1"/>
            </p:cNvSpPr>
            <p:nvPr/>
          </p:nvSpPr>
          <p:spPr bwMode="auto">
            <a:xfrm>
              <a:off x="4501" y="2040"/>
              <a:ext cx="0" cy="266"/>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901" name="Line 72">
              <a:extLst>
                <a:ext uri="{FF2B5EF4-FFF2-40B4-BE49-F238E27FC236}">
                  <a16:creationId xmlns:a16="http://schemas.microsoft.com/office/drawing/2014/main" id="{443F6651-87C2-0F47-AFA2-7BB9B1BCB5EB}"/>
                </a:ext>
              </a:extLst>
            </p:cNvPr>
            <p:cNvSpPr>
              <a:spLocks noChangeShapeType="1"/>
            </p:cNvSpPr>
            <p:nvPr/>
          </p:nvSpPr>
          <p:spPr bwMode="auto">
            <a:xfrm>
              <a:off x="4670" y="2040"/>
              <a:ext cx="0" cy="266"/>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7" name="Group 100">
            <a:extLst>
              <a:ext uri="{FF2B5EF4-FFF2-40B4-BE49-F238E27FC236}">
                <a16:creationId xmlns:a16="http://schemas.microsoft.com/office/drawing/2014/main" id="{5979CD20-4AFB-0B43-9C36-D6FE67B7144C}"/>
              </a:ext>
            </a:extLst>
          </p:cNvPr>
          <p:cNvGrpSpPr>
            <a:grpSpLocks/>
          </p:cNvGrpSpPr>
          <p:nvPr/>
        </p:nvGrpSpPr>
        <p:grpSpPr bwMode="auto">
          <a:xfrm>
            <a:off x="2690813" y="3517900"/>
            <a:ext cx="2265362" cy="346075"/>
            <a:chOff x="1695" y="2426"/>
            <a:chExt cx="1427" cy="363"/>
          </a:xfrm>
        </p:grpSpPr>
        <p:sp>
          <p:nvSpPr>
            <p:cNvPr id="78888" name="Rectangle 23">
              <a:extLst>
                <a:ext uri="{FF2B5EF4-FFF2-40B4-BE49-F238E27FC236}">
                  <a16:creationId xmlns:a16="http://schemas.microsoft.com/office/drawing/2014/main" id="{273EAEC7-E675-D942-8667-5D028E9B2F8C}"/>
                </a:ext>
              </a:extLst>
            </p:cNvPr>
            <p:cNvSpPr>
              <a:spLocks noChangeArrowheads="1"/>
            </p:cNvSpPr>
            <p:nvPr/>
          </p:nvSpPr>
          <p:spPr bwMode="auto">
            <a:xfrm>
              <a:off x="1695" y="2426"/>
              <a:ext cx="1427" cy="3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889" name="Line 24">
              <a:extLst>
                <a:ext uri="{FF2B5EF4-FFF2-40B4-BE49-F238E27FC236}">
                  <a16:creationId xmlns:a16="http://schemas.microsoft.com/office/drawing/2014/main" id="{98382A1D-5655-DB42-8C36-E07947FA8242}"/>
                </a:ext>
              </a:extLst>
            </p:cNvPr>
            <p:cNvSpPr>
              <a:spLocks noChangeShapeType="1"/>
            </p:cNvSpPr>
            <p:nvPr/>
          </p:nvSpPr>
          <p:spPr bwMode="auto">
            <a:xfrm>
              <a:off x="1816" y="2475"/>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890" name="Line 25">
              <a:extLst>
                <a:ext uri="{FF2B5EF4-FFF2-40B4-BE49-F238E27FC236}">
                  <a16:creationId xmlns:a16="http://schemas.microsoft.com/office/drawing/2014/main" id="{2E7FAD74-9FA6-E042-B2CE-A98BCF843095}"/>
                </a:ext>
              </a:extLst>
            </p:cNvPr>
            <p:cNvSpPr>
              <a:spLocks noChangeShapeType="1"/>
            </p:cNvSpPr>
            <p:nvPr/>
          </p:nvSpPr>
          <p:spPr bwMode="auto">
            <a:xfrm>
              <a:off x="2155" y="2475"/>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891" name="Line 26">
              <a:extLst>
                <a:ext uri="{FF2B5EF4-FFF2-40B4-BE49-F238E27FC236}">
                  <a16:creationId xmlns:a16="http://schemas.microsoft.com/office/drawing/2014/main" id="{CA9D0CBA-5DDA-6D43-A40C-422DE809A604}"/>
                </a:ext>
              </a:extLst>
            </p:cNvPr>
            <p:cNvSpPr>
              <a:spLocks noChangeShapeType="1"/>
            </p:cNvSpPr>
            <p:nvPr/>
          </p:nvSpPr>
          <p:spPr bwMode="auto">
            <a:xfrm>
              <a:off x="2324" y="2475"/>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892" name="Line 27">
              <a:extLst>
                <a:ext uri="{FF2B5EF4-FFF2-40B4-BE49-F238E27FC236}">
                  <a16:creationId xmlns:a16="http://schemas.microsoft.com/office/drawing/2014/main" id="{451E0BD8-B477-394F-A19B-54AC6C8E15E5}"/>
                </a:ext>
              </a:extLst>
            </p:cNvPr>
            <p:cNvSpPr>
              <a:spLocks noChangeShapeType="1"/>
            </p:cNvSpPr>
            <p:nvPr/>
          </p:nvSpPr>
          <p:spPr bwMode="auto">
            <a:xfrm>
              <a:off x="3001" y="2475"/>
              <a:ext cx="0" cy="26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78858" name="Group 128">
            <a:extLst>
              <a:ext uri="{FF2B5EF4-FFF2-40B4-BE49-F238E27FC236}">
                <a16:creationId xmlns:a16="http://schemas.microsoft.com/office/drawing/2014/main" id="{F585DDAE-0E21-DB44-8174-C90B1968236C}"/>
              </a:ext>
            </a:extLst>
          </p:cNvPr>
          <p:cNvGrpSpPr>
            <a:grpSpLocks/>
          </p:cNvGrpSpPr>
          <p:nvPr/>
        </p:nvGrpSpPr>
        <p:grpSpPr bwMode="auto">
          <a:xfrm>
            <a:off x="885825" y="2365375"/>
            <a:ext cx="1343025" cy="3073400"/>
            <a:chOff x="3001" y="1193"/>
            <a:chExt cx="846" cy="1936"/>
          </a:xfrm>
        </p:grpSpPr>
        <p:sp>
          <p:nvSpPr>
            <p:cNvPr id="78878" name="Rectangle 129">
              <a:extLst>
                <a:ext uri="{FF2B5EF4-FFF2-40B4-BE49-F238E27FC236}">
                  <a16:creationId xmlns:a16="http://schemas.microsoft.com/office/drawing/2014/main" id="{65E1040C-6AB9-D145-B2B0-88DFBD93A9CE}"/>
                </a:ext>
              </a:extLst>
            </p:cNvPr>
            <p:cNvSpPr>
              <a:spLocks noChangeArrowheads="1"/>
            </p:cNvSpPr>
            <p:nvPr/>
          </p:nvSpPr>
          <p:spPr bwMode="auto">
            <a:xfrm>
              <a:off x="3170" y="1193"/>
              <a:ext cx="508" cy="194"/>
            </a:xfrm>
            <a:prstGeom prst="rect">
              <a:avLst/>
            </a:prstGeom>
            <a:solidFill>
              <a:srgbClr val="CCCCFF"/>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879" name="Rectangle 130">
              <a:extLst>
                <a:ext uri="{FF2B5EF4-FFF2-40B4-BE49-F238E27FC236}">
                  <a16:creationId xmlns:a16="http://schemas.microsoft.com/office/drawing/2014/main" id="{B99B0524-3BF6-0540-BA49-3638401A2F2F}"/>
                </a:ext>
              </a:extLst>
            </p:cNvPr>
            <p:cNvSpPr>
              <a:spLocks noChangeArrowheads="1"/>
            </p:cNvSpPr>
            <p:nvPr/>
          </p:nvSpPr>
          <p:spPr bwMode="auto">
            <a:xfrm>
              <a:off x="3170" y="1629"/>
              <a:ext cx="508" cy="194"/>
            </a:xfrm>
            <a:prstGeom prst="rect">
              <a:avLst/>
            </a:prstGeom>
            <a:solidFill>
              <a:srgbClr val="CCCCFF"/>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Branch</a:t>
              </a:r>
            </a:p>
          </p:txBody>
        </p:sp>
        <p:sp>
          <p:nvSpPr>
            <p:cNvPr id="78880" name="Rectangle 131">
              <a:extLst>
                <a:ext uri="{FF2B5EF4-FFF2-40B4-BE49-F238E27FC236}">
                  <a16:creationId xmlns:a16="http://schemas.microsoft.com/office/drawing/2014/main" id="{EEDF1F06-07D3-0348-A3CD-47452873C84F}"/>
                </a:ext>
              </a:extLst>
            </p:cNvPr>
            <p:cNvSpPr>
              <a:spLocks noChangeArrowheads="1"/>
            </p:cNvSpPr>
            <p:nvPr/>
          </p:nvSpPr>
          <p:spPr bwMode="auto">
            <a:xfrm>
              <a:off x="3339" y="2064"/>
              <a:ext cx="508" cy="194"/>
            </a:xfrm>
            <a:prstGeom prst="rect">
              <a:avLst/>
            </a:prstGeom>
            <a:solidFill>
              <a:srgbClr val="CCCCFF"/>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Path A</a:t>
              </a:r>
            </a:p>
          </p:txBody>
        </p:sp>
        <p:sp>
          <p:nvSpPr>
            <p:cNvPr id="78881" name="Rectangle 132">
              <a:extLst>
                <a:ext uri="{FF2B5EF4-FFF2-40B4-BE49-F238E27FC236}">
                  <a16:creationId xmlns:a16="http://schemas.microsoft.com/office/drawing/2014/main" id="{FCCAB912-04DE-1447-A3DD-ADEA1E3DE8DE}"/>
                </a:ext>
              </a:extLst>
            </p:cNvPr>
            <p:cNvSpPr>
              <a:spLocks noChangeArrowheads="1"/>
            </p:cNvSpPr>
            <p:nvPr/>
          </p:nvSpPr>
          <p:spPr bwMode="auto">
            <a:xfrm>
              <a:off x="3001" y="2499"/>
              <a:ext cx="508" cy="194"/>
            </a:xfrm>
            <a:prstGeom prst="rect">
              <a:avLst/>
            </a:prstGeom>
            <a:solidFill>
              <a:srgbClr val="CCCCFF"/>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Path B</a:t>
              </a:r>
            </a:p>
          </p:txBody>
        </p:sp>
        <p:sp>
          <p:nvSpPr>
            <p:cNvPr id="78882" name="Rectangle 133">
              <a:extLst>
                <a:ext uri="{FF2B5EF4-FFF2-40B4-BE49-F238E27FC236}">
                  <a16:creationId xmlns:a16="http://schemas.microsoft.com/office/drawing/2014/main" id="{D3B6A3FA-7F2F-BD4B-BF34-98B922756098}"/>
                </a:ext>
              </a:extLst>
            </p:cNvPr>
            <p:cNvSpPr>
              <a:spLocks noChangeArrowheads="1"/>
            </p:cNvSpPr>
            <p:nvPr/>
          </p:nvSpPr>
          <p:spPr bwMode="auto">
            <a:xfrm>
              <a:off x="3170" y="2935"/>
              <a:ext cx="508" cy="194"/>
            </a:xfrm>
            <a:prstGeom prst="rect">
              <a:avLst/>
            </a:prstGeom>
            <a:solidFill>
              <a:srgbClr val="CCCCFF"/>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78883" name="AutoShape 134">
              <a:extLst>
                <a:ext uri="{FF2B5EF4-FFF2-40B4-BE49-F238E27FC236}">
                  <a16:creationId xmlns:a16="http://schemas.microsoft.com/office/drawing/2014/main" id="{23E7C505-F386-884B-8A04-8D3504DC47CE}"/>
                </a:ext>
              </a:extLst>
            </p:cNvPr>
            <p:cNvCxnSpPr>
              <a:cxnSpLocks noChangeShapeType="1"/>
              <a:stCxn id="78878" idx="2"/>
              <a:endCxn id="78879" idx="0"/>
            </p:cNvCxnSpPr>
            <p:nvPr/>
          </p:nvCxnSpPr>
          <p:spPr bwMode="auto">
            <a:xfrm rot="5400000">
              <a:off x="3312" y="1508"/>
              <a:ext cx="224" cy="0"/>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8884" name="AutoShape 135">
              <a:extLst>
                <a:ext uri="{FF2B5EF4-FFF2-40B4-BE49-F238E27FC236}">
                  <a16:creationId xmlns:a16="http://schemas.microsoft.com/office/drawing/2014/main" id="{57CBC1C6-2553-B54C-8BD0-C1B0CF801FE2}"/>
                </a:ext>
              </a:extLst>
            </p:cNvPr>
            <p:cNvCxnSpPr>
              <a:cxnSpLocks noChangeShapeType="1"/>
              <a:stCxn id="78879" idx="2"/>
              <a:endCxn id="78881" idx="0"/>
            </p:cNvCxnSpPr>
            <p:nvPr/>
          </p:nvCxnSpPr>
          <p:spPr bwMode="auto">
            <a:xfrm rot="5400000">
              <a:off x="3011" y="2076"/>
              <a:ext cx="658" cy="169"/>
            </a:xfrm>
            <a:prstGeom prst="curvedConnector3">
              <a:avLst>
                <a:gd name="adj1" fmla="val 20060"/>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8885" name="AutoShape 136">
              <a:extLst>
                <a:ext uri="{FF2B5EF4-FFF2-40B4-BE49-F238E27FC236}">
                  <a16:creationId xmlns:a16="http://schemas.microsoft.com/office/drawing/2014/main" id="{F48F5764-F992-E045-9C37-5EA7522D4EB0}"/>
                </a:ext>
              </a:extLst>
            </p:cNvPr>
            <p:cNvCxnSpPr>
              <a:cxnSpLocks noChangeShapeType="1"/>
              <a:stCxn id="78879" idx="2"/>
              <a:endCxn id="78880" idx="0"/>
            </p:cNvCxnSpPr>
            <p:nvPr/>
          </p:nvCxnSpPr>
          <p:spPr bwMode="auto">
            <a:xfrm rot="16200000" flipH="1">
              <a:off x="3397" y="1859"/>
              <a:ext cx="223" cy="169"/>
            </a:xfrm>
            <a:prstGeom prst="curvedConnector3">
              <a:avLst>
                <a:gd name="adj1" fmla="val 49778"/>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8886" name="AutoShape 137">
              <a:extLst>
                <a:ext uri="{FF2B5EF4-FFF2-40B4-BE49-F238E27FC236}">
                  <a16:creationId xmlns:a16="http://schemas.microsoft.com/office/drawing/2014/main" id="{BFEC3CB0-67A4-B647-976E-4F48B8AF6530}"/>
                </a:ext>
              </a:extLst>
            </p:cNvPr>
            <p:cNvCxnSpPr>
              <a:cxnSpLocks noChangeShapeType="1"/>
              <a:stCxn id="78880" idx="2"/>
              <a:endCxn id="78882" idx="0"/>
            </p:cNvCxnSpPr>
            <p:nvPr/>
          </p:nvCxnSpPr>
          <p:spPr bwMode="auto">
            <a:xfrm rot="5400000">
              <a:off x="3179" y="2512"/>
              <a:ext cx="659" cy="169"/>
            </a:xfrm>
            <a:prstGeom prst="curvedConnector3">
              <a:avLst>
                <a:gd name="adj1" fmla="val 82852"/>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8887" name="AutoShape 138">
              <a:extLst>
                <a:ext uri="{FF2B5EF4-FFF2-40B4-BE49-F238E27FC236}">
                  <a16:creationId xmlns:a16="http://schemas.microsoft.com/office/drawing/2014/main" id="{B977B422-1BF0-5F4C-87A7-2896739015C7}"/>
                </a:ext>
              </a:extLst>
            </p:cNvPr>
            <p:cNvCxnSpPr>
              <a:cxnSpLocks noChangeShapeType="1"/>
              <a:stCxn id="78881" idx="2"/>
              <a:endCxn id="78882" idx="0"/>
            </p:cNvCxnSpPr>
            <p:nvPr/>
          </p:nvCxnSpPr>
          <p:spPr bwMode="auto">
            <a:xfrm rot="16200000" flipH="1">
              <a:off x="3228" y="2729"/>
              <a:ext cx="224" cy="169"/>
            </a:xfrm>
            <a:prstGeom prst="curvedConnector3">
              <a:avLst>
                <a:gd name="adj1" fmla="val 50000"/>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70" name="Rectangle 143">
            <a:extLst>
              <a:ext uri="{FF2B5EF4-FFF2-40B4-BE49-F238E27FC236}">
                <a16:creationId xmlns:a16="http://schemas.microsoft.com/office/drawing/2014/main" id="{A1F348F6-4865-8647-BCA1-5CDC064E5D24}"/>
              </a:ext>
            </a:extLst>
          </p:cNvPr>
          <p:cNvSpPr>
            <a:spLocks noChangeArrowheads="1"/>
          </p:cNvSpPr>
          <p:nvPr/>
        </p:nvSpPr>
        <p:spPr bwMode="auto">
          <a:xfrm>
            <a:off x="1154113" y="2365375"/>
            <a:ext cx="806450" cy="307975"/>
          </a:xfrm>
          <a:prstGeom prst="rect">
            <a:avLst/>
          </a:prstGeom>
          <a:solidFill>
            <a:srgbClr val="FF6699"/>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1" name="Rectangle 144">
            <a:extLst>
              <a:ext uri="{FF2B5EF4-FFF2-40B4-BE49-F238E27FC236}">
                <a16:creationId xmlns:a16="http://schemas.microsoft.com/office/drawing/2014/main" id="{1CEB6281-A3FA-4F4A-8DDE-8A7BF8F82805}"/>
              </a:ext>
            </a:extLst>
          </p:cNvPr>
          <p:cNvSpPr>
            <a:spLocks noChangeArrowheads="1"/>
          </p:cNvSpPr>
          <p:nvPr/>
        </p:nvSpPr>
        <p:spPr bwMode="auto">
          <a:xfrm>
            <a:off x="1154113" y="3057525"/>
            <a:ext cx="806450" cy="307975"/>
          </a:xfrm>
          <a:prstGeom prst="rect">
            <a:avLst/>
          </a:prstGeom>
          <a:solidFill>
            <a:srgbClr val="FF6699"/>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Branch</a:t>
            </a:r>
          </a:p>
        </p:txBody>
      </p:sp>
      <p:sp>
        <p:nvSpPr>
          <p:cNvPr id="72" name="Rectangle 145">
            <a:extLst>
              <a:ext uri="{FF2B5EF4-FFF2-40B4-BE49-F238E27FC236}">
                <a16:creationId xmlns:a16="http://schemas.microsoft.com/office/drawing/2014/main" id="{362F8E20-A1DF-BD46-86E1-134C06974925}"/>
              </a:ext>
            </a:extLst>
          </p:cNvPr>
          <p:cNvSpPr>
            <a:spLocks noChangeArrowheads="1"/>
          </p:cNvSpPr>
          <p:nvPr/>
        </p:nvSpPr>
        <p:spPr bwMode="auto">
          <a:xfrm>
            <a:off x="1422400" y="3748088"/>
            <a:ext cx="806450" cy="307975"/>
          </a:xfrm>
          <a:prstGeom prst="rect">
            <a:avLst/>
          </a:prstGeom>
          <a:solidFill>
            <a:srgbClr val="FF6699"/>
          </a:solidFill>
          <a:ln w="2857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Path A</a:t>
            </a:r>
          </a:p>
        </p:txBody>
      </p:sp>
      <p:sp>
        <p:nvSpPr>
          <p:cNvPr id="73" name="Rectangle 153">
            <a:extLst>
              <a:ext uri="{FF2B5EF4-FFF2-40B4-BE49-F238E27FC236}">
                <a16:creationId xmlns:a16="http://schemas.microsoft.com/office/drawing/2014/main" id="{D07340BC-54D9-624C-A8AC-67DD62F8F8E1}"/>
              </a:ext>
            </a:extLst>
          </p:cNvPr>
          <p:cNvSpPr>
            <a:spLocks noChangeArrowheads="1"/>
          </p:cNvSpPr>
          <p:nvPr/>
        </p:nvSpPr>
        <p:spPr bwMode="auto">
          <a:xfrm>
            <a:off x="3841750" y="3479800"/>
            <a:ext cx="768350" cy="766763"/>
          </a:xfrm>
          <a:prstGeom prst="rect">
            <a:avLst/>
          </a:prstGeom>
          <a:noFill/>
          <a:ln w="38100">
            <a:solidFill>
              <a:srgbClr val="0099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4" name="Rectangle 156">
            <a:extLst>
              <a:ext uri="{FF2B5EF4-FFF2-40B4-BE49-F238E27FC236}">
                <a16:creationId xmlns:a16="http://schemas.microsoft.com/office/drawing/2014/main" id="{6CF74299-C098-EC4B-8C29-FBD0695CC124}"/>
              </a:ext>
            </a:extLst>
          </p:cNvPr>
          <p:cNvSpPr>
            <a:spLocks noChangeArrowheads="1"/>
          </p:cNvSpPr>
          <p:nvPr/>
        </p:nvSpPr>
        <p:spPr bwMode="auto">
          <a:xfrm>
            <a:off x="3035300" y="3479800"/>
            <a:ext cx="230188" cy="766763"/>
          </a:xfrm>
          <a:prstGeom prst="rect">
            <a:avLst/>
          </a:prstGeom>
          <a:noFill/>
          <a:ln w="38100">
            <a:solidFill>
              <a:srgbClr val="0099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9" name="Group 159">
            <a:extLst>
              <a:ext uri="{FF2B5EF4-FFF2-40B4-BE49-F238E27FC236}">
                <a16:creationId xmlns:a16="http://schemas.microsoft.com/office/drawing/2014/main" id="{EA98092B-433A-2E40-AF70-1D25CFEF216D}"/>
              </a:ext>
            </a:extLst>
          </p:cNvPr>
          <p:cNvGrpSpPr>
            <a:grpSpLocks/>
          </p:cNvGrpSpPr>
          <p:nvPr/>
        </p:nvGrpSpPr>
        <p:grpSpPr bwMode="auto">
          <a:xfrm>
            <a:off x="5878513" y="3517900"/>
            <a:ext cx="2265362" cy="346075"/>
            <a:chOff x="3049" y="2594"/>
            <a:chExt cx="1427" cy="218"/>
          </a:xfrm>
        </p:grpSpPr>
        <p:sp>
          <p:nvSpPr>
            <p:cNvPr id="78870" name="Rectangle 160">
              <a:extLst>
                <a:ext uri="{FF2B5EF4-FFF2-40B4-BE49-F238E27FC236}">
                  <a16:creationId xmlns:a16="http://schemas.microsoft.com/office/drawing/2014/main" id="{CE7A9C2B-7E16-3A4B-9A38-632DC771CEC3}"/>
                </a:ext>
              </a:extLst>
            </p:cNvPr>
            <p:cNvSpPr>
              <a:spLocks noChangeArrowheads="1"/>
            </p:cNvSpPr>
            <p:nvPr/>
          </p:nvSpPr>
          <p:spPr bwMode="auto">
            <a:xfrm>
              <a:off x="3049" y="2594"/>
              <a:ext cx="1427" cy="218"/>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871" name="Line 161">
              <a:extLst>
                <a:ext uri="{FF2B5EF4-FFF2-40B4-BE49-F238E27FC236}">
                  <a16:creationId xmlns:a16="http://schemas.microsoft.com/office/drawing/2014/main" id="{4D72C1E2-6C97-9D41-9CFF-9FE2F09C5EF1}"/>
                </a:ext>
              </a:extLst>
            </p:cNvPr>
            <p:cNvSpPr>
              <a:spLocks noChangeShapeType="1"/>
            </p:cNvSpPr>
            <p:nvPr/>
          </p:nvSpPr>
          <p:spPr bwMode="auto">
            <a:xfrm>
              <a:off x="3339" y="2617"/>
              <a:ext cx="0" cy="16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872" name="Line 162">
              <a:extLst>
                <a:ext uri="{FF2B5EF4-FFF2-40B4-BE49-F238E27FC236}">
                  <a16:creationId xmlns:a16="http://schemas.microsoft.com/office/drawing/2014/main" id="{D3C9C83A-7DE0-B44E-83A7-5935C70F6574}"/>
                </a:ext>
              </a:extLst>
            </p:cNvPr>
            <p:cNvSpPr>
              <a:spLocks noChangeShapeType="1"/>
            </p:cNvSpPr>
            <p:nvPr/>
          </p:nvSpPr>
          <p:spPr bwMode="auto">
            <a:xfrm>
              <a:off x="3848" y="2617"/>
              <a:ext cx="0" cy="16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873" name="Line 163">
              <a:extLst>
                <a:ext uri="{FF2B5EF4-FFF2-40B4-BE49-F238E27FC236}">
                  <a16:creationId xmlns:a16="http://schemas.microsoft.com/office/drawing/2014/main" id="{69A71470-DD72-F443-BFCF-C5A9B0109401}"/>
                </a:ext>
              </a:extLst>
            </p:cNvPr>
            <p:cNvSpPr>
              <a:spLocks noChangeShapeType="1"/>
            </p:cNvSpPr>
            <p:nvPr/>
          </p:nvSpPr>
          <p:spPr bwMode="auto">
            <a:xfrm>
              <a:off x="4187" y="2617"/>
              <a:ext cx="0" cy="16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874" name="Line 164">
              <a:extLst>
                <a:ext uri="{FF2B5EF4-FFF2-40B4-BE49-F238E27FC236}">
                  <a16:creationId xmlns:a16="http://schemas.microsoft.com/office/drawing/2014/main" id="{998BA5D8-D7B1-F141-B51E-0F6BCCF80AC8}"/>
                </a:ext>
              </a:extLst>
            </p:cNvPr>
            <p:cNvSpPr>
              <a:spLocks noChangeShapeType="1"/>
            </p:cNvSpPr>
            <p:nvPr/>
          </p:nvSpPr>
          <p:spPr bwMode="auto">
            <a:xfrm>
              <a:off x="3170" y="2623"/>
              <a:ext cx="0" cy="160"/>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875" name="Line 165">
              <a:extLst>
                <a:ext uri="{FF2B5EF4-FFF2-40B4-BE49-F238E27FC236}">
                  <a16:creationId xmlns:a16="http://schemas.microsoft.com/office/drawing/2014/main" id="{B84D0EC0-6340-2B4A-A1FA-156CD2986295}"/>
                </a:ext>
              </a:extLst>
            </p:cNvPr>
            <p:cNvSpPr>
              <a:spLocks noChangeShapeType="1"/>
            </p:cNvSpPr>
            <p:nvPr/>
          </p:nvSpPr>
          <p:spPr bwMode="auto">
            <a:xfrm>
              <a:off x="3509" y="2623"/>
              <a:ext cx="0" cy="160"/>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876" name="Line 166">
              <a:extLst>
                <a:ext uri="{FF2B5EF4-FFF2-40B4-BE49-F238E27FC236}">
                  <a16:creationId xmlns:a16="http://schemas.microsoft.com/office/drawing/2014/main" id="{D48BBF9E-6FD2-7B49-AD23-A748D422D8BE}"/>
                </a:ext>
              </a:extLst>
            </p:cNvPr>
            <p:cNvSpPr>
              <a:spLocks noChangeShapeType="1"/>
            </p:cNvSpPr>
            <p:nvPr/>
          </p:nvSpPr>
          <p:spPr bwMode="auto">
            <a:xfrm>
              <a:off x="3678" y="2623"/>
              <a:ext cx="0" cy="160"/>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877" name="Line 167">
              <a:extLst>
                <a:ext uri="{FF2B5EF4-FFF2-40B4-BE49-F238E27FC236}">
                  <a16:creationId xmlns:a16="http://schemas.microsoft.com/office/drawing/2014/main" id="{0C3D754F-51BF-D04A-8730-BB8D6D5A5A4E}"/>
                </a:ext>
              </a:extLst>
            </p:cNvPr>
            <p:cNvSpPr>
              <a:spLocks noChangeShapeType="1"/>
            </p:cNvSpPr>
            <p:nvPr/>
          </p:nvSpPr>
          <p:spPr bwMode="auto">
            <a:xfrm>
              <a:off x="4355" y="2623"/>
              <a:ext cx="0" cy="160"/>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0" name="Group 168">
            <a:extLst>
              <a:ext uri="{FF2B5EF4-FFF2-40B4-BE49-F238E27FC236}">
                <a16:creationId xmlns:a16="http://schemas.microsoft.com/office/drawing/2014/main" id="{D3B74E10-3AF2-CD42-B431-0A1231583FB0}"/>
              </a:ext>
            </a:extLst>
          </p:cNvPr>
          <p:cNvGrpSpPr>
            <a:grpSpLocks/>
          </p:cNvGrpSpPr>
          <p:nvPr/>
        </p:nvGrpSpPr>
        <p:grpSpPr bwMode="auto">
          <a:xfrm>
            <a:off x="5878513" y="3862388"/>
            <a:ext cx="2265362" cy="346075"/>
            <a:chOff x="3049" y="2837"/>
            <a:chExt cx="1427" cy="218"/>
          </a:xfrm>
        </p:grpSpPr>
        <p:sp>
          <p:nvSpPr>
            <p:cNvPr id="78867" name="Rectangle 169">
              <a:extLst>
                <a:ext uri="{FF2B5EF4-FFF2-40B4-BE49-F238E27FC236}">
                  <a16:creationId xmlns:a16="http://schemas.microsoft.com/office/drawing/2014/main" id="{1D50E4A3-748E-E54E-839C-8F4AA6924012}"/>
                </a:ext>
              </a:extLst>
            </p:cNvPr>
            <p:cNvSpPr>
              <a:spLocks noChangeArrowheads="1"/>
            </p:cNvSpPr>
            <p:nvPr/>
          </p:nvSpPr>
          <p:spPr bwMode="auto">
            <a:xfrm>
              <a:off x="3049" y="2837"/>
              <a:ext cx="1427" cy="218"/>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868" name="Line 170">
              <a:extLst>
                <a:ext uri="{FF2B5EF4-FFF2-40B4-BE49-F238E27FC236}">
                  <a16:creationId xmlns:a16="http://schemas.microsoft.com/office/drawing/2014/main" id="{6B2E625E-3674-E04C-8ECF-5FD85FFD7B69}"/>
                </a:ext>
              </a:extLst>
            </p:cNvPr>
            <p:cNvSpPr>
              <a:spLocks noChangeShapeType="1"/>
            </p:cNvSpPr>
            <p:nvPr/>
          </p:nvSpPr>
          <p:spPr bwMode="auto">
            <a:xfrm>
              <a:off x="4355" y="2862"/>
              <a:ext cx="0" cy="16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869" name="Line 171">
              <a:extLst>
                <a:ext uri="{FF2B5EF4-FFF2-40B4-BE49-F238E27FC236}">
                  <a16:creationId xmlns:a16="http://schemas.microsoft.com/office/drawing/2014/main" id="{5EB675F6-30AB-614A-8521-61D98BD4D042}"/>
                </a:ext>
              </a:extLst>
            </p:cNvPr>
            <p:cNvSpPr>
              <a:spLocks noChangeShapeType="1"/>
            </p:cNvSpPr>
            <p:nvPr/>
          </p:nvSpPr>
          <p:spPr bwMode="auto">
            <a:xfrm>
              <a:off x="3508" y="2862"/>
              <a:ext cx="0" cy="160"/>
            </a:xfrm>
            <a:prstGeom prst="line">
              <a:avLst/>
            </a:prstGeom>
            <a:noFill/>
            <a:ln w="3810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9" name="Line 181">
            <a:extLst>
              <a:ext uri="{FF2B5EF4-FFF2-40B4-BE49-F238E27FC236}">
                <a16:creationId xmlns:a16="http://schemas.microsoft.com/office/drawing/2014/main" id="{928C0112-57CD-AC40-B75C-02094C768D12}"/>
              </a:ext>
            </a:extLst>
          </p:cNvPr>
          <p:cNvSpPr>
            <a:spLocks noChangeShapeType="1"/>
          </p:cNvSpPr>
          <p:nvPr/>
        </p:nvSpPr>
        <p:spPr bwMode="auto">
          <a:xfrm>
            <a:off x="5224463" y="3862388"/>
            <a:ext cx="346075"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35819725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0"/>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xit" presetSubtype="0" fill="hold" grpId="1" nodeType="withEffect">
                                  <p:stCondLst>
                                    <p:cond delay="0"/>
                                  </p:stCondLst>
                                  <p:childTnLst>
                                    <p:set>
                                      <p:cBhvr>
                                        <p:cTn id="14" dur="1" fill="hold">
                                          <p:stCondLst>
                                            <p:cond delay="0"/>
                                          </p:stCondLst>
                                        </p:cTn>
                                        <p:tgtEl>
                                          <p:spTgt spid="70"/>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71"/>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xit" presetSubtype="0" fill="hold" grpId="2" nodeType="withEffect">
                                  <p:stCondLst>
                                    <p:cond delay="0"/>
                                  </p:stCondLst>
                                  <p:childTnLst>
                                    <p:set>
                                      <p:cBhvr>
                                        <p:cTn id="22" dur="1" fill="hold">
                                          <p:stCondLst>
                                            <p:cond delay="0"/>
                                          </p:stCondLst>
                                        </p:cTn>
                                        <p:tgtEl>
                                          <p:spTgt spid="71"/>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72"/>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xit" presetSubtype="0" fill="hold" grpId="2" nodeType="withEffect">
                                  <p:stCondLst>
                                    <p:cond delay="0"/>
                                  </p:stCondLst>
                                  <p:childTnLst>
                                    <p:set>
                                      <p:cBhvr>
                                        <p:cTn id="30" dur="1" fill="hold">
                                          <p:stCondLst>
                                            <p:cond delay="0"/>
                                          </p:stCondLst>
                                        </p:cTn>
                                        <p:tgtEl>
                                          <p:spTgt spid="72"/>
                                        </p:tgtEl>
                                        <p:attrNameLst>
                                          <p:attrName>style.visibility</p:attrName>
                                        </p:attrNameLst>
                                      </p:cBhvr>
                                      <p:to>
                                        <p:strVal val="hidden"/>
                                      </p:to>
                                    </p:set>
                                  </p:childTnLst>
                                </p:cTn>
                              </p:par>
                              <p:par>
                                <p:cTn id="31" presetID="1" presetClass="entr" presetSubtype="0" fill="hold" grpId="2" nodeType="withEffect">
                                  <p:stCondLst>
                                    <p:cond delay="0"/>
                                  </p:stCondLst>
                                  <p:childTnLst>
                                    <p:set>
                                      <p:cBhvr>
                                        <p:cTn id="32" dur="1" fill="hold">
                                          <p:stCondLst>
                                            <p:cond delay="0"/>
                                          </p:stCondLst>
                                        </p:cTn>
                                        <p:tgtEl>
                                          <p:spTgt spid="70"/>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par>
                                <p:cTn id="37" presetID="1" presetClass="exit" presetSubtype="0" fill="hold" grpId="3" nodeType="withEffect">
                                  <p:stCondLst>
                                    <p:cond delay="0"/>
                                  </p:stCondLst>
                                  <p:childTnLst>
                                    <p:set>
                                      <p:cBhvr>
                                        <p:cTn id="38" dur="1" fill="hold">
                                          <p:stCondLst>
                                            <p:cond delay="0"/>
                                          </p:stCondLst>
                                        </p:cTn>
                                        <p:tgtEl>
                                          <p:spTgt spid="70"/>
                                        </p:tgtEl>
                                        <p:attrNameLst>
                                          <p:attrName>style.visibility</p:attrName>
                                        </p:attrNameLst>
                                      </p:cBhvr>
                                      <p:to>
                                        <p:strVal val="hidden"/>
                                      </p:to>
                                    </p:set>
                                  </p:childTnLst>
                                </p:cTn>
                              </p:par>
                              <p:par>
                                <p:cTn id="39" presetID="1" presetClass="entr" presetSubtype="0" fill="hold" grpId="1" nodeType="withEffect">
                                  <p:stCondLst>
                                    <p:cond delay="0"/>
                                  </p:stCondLst>
                                  <p:childTnLst>
                                    <p:set>
                                      <p:cBhvr>
                                        <p:cTn id="40" dur="1" fill="hold">
                                          <p:stCondLst>
                                            <p:cond delay="0"/>
                                          </p:stCondLst>
                                        </p:cTn>
                                        <p:tgtEl>
                                          <p:spTgt spid="71"/>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0"/>
                                          </p:stCondLst>
                                        </p:cTn>
                                        <p:tgtEl>
                                          <p:spTgt spid="2"/>
                                        </p:tgtEl>
                                        <p:attrNameLst>
                                          <p:attrName>style.visibility</p:attrName>
                                        </p:attrNameLst>
                                      </p:cBhvr>
                                      <p:to>
                                        <p:strVal val="visible"/>
                                      </p:to>
                                    </p:set>
                                  </p:childTnLst>
                                </p:cTn>
                              </p:par>
                              <p:par>
                                <p:cTn id="45" presetID="1" presetClass="exit" presetSubtype="0" fill="hold" grpId="3" nodeType="withEffect">
                                  <p:stCondLst>
                                    <p:cond delay="0"/>
                                  </p:stCondLst>
                                  <p:childTnLst>
                                    <p:set>
                                      <p:cBhvr>
                                        <p:cTn id="46" dur="1" fill="hold">
                                          <p:stCondLst>
                                            <p:cond delay="0"/>
                                          </p:stCondLst>
                                        </p:cTn>
                                        <p:tgtEl>
                                          <p:spTgt spid="71"/>
                                        </p:tgtEl>
                                        <p:attrNameLst>
                                          <p:attrName>style.visibility</p:attrName>
                                        </p:attrNameLst>
                                      </p:cBhvr>
                                      <p:to>
                                        <p:strVal val="hidden"/>
                                      </p:to>
                                    </p:set>
                                  </p:childTnLst>
                                </p:cTn>
                              </p:par>
                              <p:par>
                                <p:cTn id="47" presetID="1" presetClass="entr" presetSubtype="0" fill="hold" grpId="1" nodeType="withEffect">
                                  <p:stCondLst>
                                    <p:cond delay="0"/>
                                  </p:stCondLst>
                                  <p:childTnLst>
                                    <p:set>
                                      <p:cBhvr>
                                        <p:cTn id="48" dur="1" fill="hold">
                                          <p:stCondLst>
                                            <p:cond delay="0"/>
                                          </p:stCondLst>
                                        </p:cTn>
                                        <p:tgtEl>
                                          <p:spTgt spid="72"/>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7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4"/>
                                        </p:tgtEl>
                                        <p:attrNameLst>
                                          <p:attrName>style.visibility</p:attrName>
                                        </p:attrNameLst>
                                      </p:cBhvr>
                                      <p:to>
                                        <p:strVal val="visible"/>
                                      </p:to>
                                    </p:set>
                                  </p:childTnLst>
                                </p:cTn>
                              </p:par>
                              <p:par>
                                <p:cTn id="55" presetID="1" presetClass="exit" presetSubtype="0" fill="hold" grpId="3" nodeType="withEffect">
                                  <p:stCondLst>
                                    <p:cond delay="0"/>
                                  </p:stCondLst>
                                  <p:childTnLst>
                                    <p:set>
                                      <p:cBhvr>
                                        <p:cTn id="56" dur="1" fill="hold">
                                          <p:stCondLst>
                                            <p:cond delay="0"/>
                                          </p:stCondLst>
                                        </p:cTn>
                                        <p:tgtEl>
                                          <p:spTgt spid="72"/>
                                        </p:tgtEl>
                                        <p:attrNameLst>
                                          <p:attrName>style.visibility</p:attrName>
                                        </p:attrNameLst>
                                      </p:cBhvr>
                                      <p:to>
                                        <p:strVal val="hidden"/>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nodeType="clickEffect">
                                  <p:stCondLst>
                                    <p:cond delay="0"/>
                                  </p:stCondLst>
                                  <p:childTnLst>
                                    <p:set>
                                      <p:cBhvr>
                                        <p:cTn id="60" dur="1" fill="hold">
                                          <p:stCondLst>
                                            <p:cond delay="0"/>
                                          </p:stCondLst>
                                        </p:cTn>
                                        <p:tgtEl>
                                          <p:spTgt spid="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89"/>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70" grpId="1" animBg="1"/>
      <p:bldP spid="70" grpId="2" animBg="1"/>
      <p:bldP spid="70" grpId="3" animBg="1"/>
      <p:bldP spid="71" grpId="0" animBg="1"/>
      <p:bldP spid="71" grpId="1" animBg="1"/>
      <p:bldP spid="71" grpId="2" animBg="1"/>
      <p:bldP spid="71" grpId="3" animBg="1"/>
      <p:bldP spid="72" grpId="0" animBg="1"/>
      <p:bldP spid="72" grpId="1" animBg="1"/>
      <p:bldP spid="72" grpId="2" animBg="1"/>
      <p:bldP spid="72" grpId="3" animBg="1"/>
      <p:bldP spid="73" grpId="0" animBg="1"/>
      <p:bldP spid="74"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itle 1">
            <a:extLst>
              <a:ext uri="{FF2B5EF4-FFF2-40B4-BE49-F238E27FC236}">
                <a16:creationId xmlns:a16="http://schemas.microsoft.com/office/drawing/2014/main" id="{68B79909-7DBA-E944-A4CD-ABC533E19433}"/>
              </a:ext>
            </a:extLst>
          </p:cNvPr>
          <p:cNvSpPr>
            <a:spLocks noGrp="1"/>
          </p:cNvSpPr>
          <p:nvPr>
            <p:ph type="title"/>
          </p:nvPr>
        </p:nvSpPr>
        <p:spPr/>
        <p:txBody>
          <a:bodyPr/>
          <a:lstStyle/>
          <a:p>
            <a:r>
              <a:rPr lang="en-US" altLang="en-US">
                <a:ea typeface="ＭＳ Ｐゴシック" panose="020B0600070205080204" pitchFamily="34" charset="-128"/>
              </a:rPr>
              <a:t>Dynamic Warp Formation Example</a:t>
            </a:r>
          </a:p>
        </p:txBody>
      </p:sp>
      <p:sp>
        <p:nvSpPr>
          <p:cNvPr id="79875" name="Slide Number Placeholder 3">
            <a:extLst>
              <a:ext uri="{FF2B5EF4-FFF2-40B4-BE49-F238E27FC236}">
                <a16:creationId xmlns:a16="http://schemas.microsoft.com/office/drawing/2014/main" id="{358198AD-BCFA-A849-B096-0AB67474ACC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5E6B725-5D98-E142-B031-140AF49F0B55}"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108</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grpSp>
        <p:nvGrpSpPr>
          <p:cNvPr id="2" name="Group 586">
            <a:extLst>
              <a:ext uri="{FF2B5EF4-FFF2-40B4-BE49-F238E27FC236}">
                <a16:creationId xmlns:a16="http://schemas.microsoft.com/office/drawing/2014/main" id="{F9D0945D-1D0B-2D4B-B21C-B765B088E9E8}"/>
              </a:ext>
            </a:extLst>
          </p:cNvPr>
          <p:cNvGrpSpPr>
            <a:grpSpLocks/>
          </p:cNvGrpSpPr>
          <p:nvPr/>
        </p:nvGrpSpPr>
        <p:grpSpPr bwMode="auto">
          <a:xfrm>
            <a:off x="1792288" y="3937000"/>
            <a:ext cx="277812" cy="760413"/>
            <a:chOff x="1129" y="2480"/>
            <a:chExt cx="175" cy="479"/>
          </a:xfrm>
        </p:grpSpPr>
        <p:sp>
          <p:nvSpPr>
            <p:cNvPr id="80220" name="Rectangle 12">
              <a:extLst>
                <a:ext uri="{FF2B5EF4-FFF2-40B4-BE49-F238E27FC236}">
                  <a16:creationId xmlns:a16="http://schemas.microsoft.com/office/drawing/2014/main" id="{B5377B51-9533-5A46-BA18-FA18E34134FC}"/>
                </a:ext>
              </a:extLst>
            </p:cNvPr>
            <p:cNvSpPr>
              <a:spLocks noChangeArrowheads="1"/>
            </p:cNvSpPr>
            <p:nvPr/>
          </p:nvSpPr>
          <p:spPr bwMode="auto">
            <a:xfrm>
              <a:off x="1129" y="2603"/>
              <a:ext cx="175" cy="356"/>
            </a:xfrm>
            <a:prstGeom prst="rect">
              <a:avLst/>
            </a:prstGeom>
            <a:solidFill>
              <a:srgbClr val="CCFFFF"/>
            </a:solidFill>
            <a:ln w="19050">
              <a:solidFill>
                <a:schemeClr val="tx1"/>
              </a:solidFill>
              <a:prstDash val="lgDash"/>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221" name="Rectangle 14">
              <a:extLst>
                <a:ext uri="{FF2B5EF4-FFF2-40B4-BE49-F238E27FC236}">
                  <a16:creationId xmlns:a16="http://schemas.microsoft.com/office/drawing/2014/main" id="{C1950523-01CA-DB4C-A3D1-8FF6E349BD39}"/>
                </a:ext>
              </a:extLst>
            </p:cNvPr>
            <p:cNvSpPr>
              <a:spLocks noChangeArrowheads="1"/>
            </p:cNvSpPr>
            <p:nvPr/>
          </p:nvSpPr>
          <p:spPr bwMode="auto">
            <a:xfrm>
              <a:off x="1177" y="2480"/>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222" name="Line 15">
              <a:extLst>
                <a:ext uri="{FF2B5EF4-FFF2-40B4-BE49-F238E27FC236}">
                  <a16:creationId xmlns:a16="http://schemas.microsoft.com/office/drawing/2014/main" id="{C996EC66-396C-E940-BB3A-0DC185C506A5}"/>
                </a:ext>
              </a:extLst>
            </p:cNvPr>
            <p:cNvSpPr>
              <a:spLocks noChangeShapeType="1"/>
            </p:cNvSpPr>
            <p:nvPr/>
          </p:nvSpPr>
          <p:spPr bwMode="auto">
            <a:xfrm>
              <a:off x="1173" y="2654"/>
              <a:ext cx="62" cy="0"/>
            </a:xfrm>
            <a:prstGeom prst="line">
              <a:avLst/>
            </a:prstGeom>
            <a:noFill/>
            <a:ln w="15875" cap="rnd">
              <a:solidFill>
                <a:srgbClr val="33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223" name="Freeform 16">
              <a:extLst>
                <a:ext uri="{FF2B5EF4-FFF2-40B4-BE49-F238E27FC236}">
                  <a16:creationId xmlns:a16="http://schemas.microsoft.com/office/drawing/2014/main" id="{29578ACB-207D-9E46-BB0B-BAE6296A8094}"/>
                </a:ext>
              </a:extLst>
            </p:cNvPr>
            <p:cNvSpPr>
              <a:spLocks/>
            </p:cNvSpPr>
            <p:nvPr/>
          </p:nvSpPr>
          <p:spPr bwMode="auto">
            <a:xfrm>
              <a:off x="1221" y="2623"/>
              <a:ext cx="61" cy="62"/>
            </a:xfrm>
            <a:custGeom>
              <a:avLst/>
              <a:gdLst>
                <a:gd name="T0" fmla="*/ 0 w 163"/>
                <a:gd name="T1" fmla="*/ 0 h 164"/>
                <a:gd name="T2" fmla="*/ 0 w 163"/>
                <a:gd name="T3" fmla="*/ 0 h 164"/>
                <a:gd name="T4" fmla="*/ 0 w 163"/>
                <a:gd name="T5" fmla="*/ 0 h 164"/>
                <a:gd name="T6" fmla="*/ 0 w 163"/>
                <a:gd name="T7" fmla="*/ 0 h 164"/>
                <a:gd name="T8" fmla="*/ 0 w 163"/>
                <a:gd name="T9" fmla="*/ 0 h 164"/>
                <a:gd name="T10" fmla="*/ 0 60000 65536"/>
                <a:gd name="T11" fmla="*/ 0 60000 65536"/>
                <a:gd name="T12" fmla="*/ 0 60000 65536"/>
                <a:gd name="T13" fmla="*/ 0 60000 65536"/>
                <a:gd name="T14" fmla="*/ 0 60000 65536"/>
                <a:gd name="T15" fmla="*/ 0 w 163"/>
                <a:gd name="T16" fmla="*/ 0 h 164"/>
                <a:gd name="T17" fmla="*/ 163 w 163"/>
                <a:gd name="T18" fmla="*/ 164 h 164"/>
              </a:gdLst>
              <a:ahLst/>
              <a:cxnLst>
                <a:cxn ang="T10">
                  <a:pos x="T0" y="T1"/>
                </a:cxn>
                <a:cxn ang="T11">
                  <a:pos x="T2" y="T3"/>
                </a:cxn>
                <a:cxn ang="T12">
                  <a:pos x="T4" y="T5"/>
                </a:cxn>
                <a:cxn ang="T13">
                  <a:pos x="T6" y="T7"/>
                </a:cxn>
                <a:cxn ang="T14">
                  <a:pos x="T8" y="T9"/>
                </a:cxn>
              </a:cxnLst>
              <a:rect l="T15" t="T16" r="T17" b="T18"/>
              <a:pathLst>
                <a:path w="163" h="164">
                  <a:moveTo>
                    <a:pt x="163" y="82"/>
                  </a:moveTo>
                  <a:lnTo>
                    <a:pt x="0" y="164"/>
                  </a:lnTo>
                  <a:cubicBezTo>
                    <a:pt x="25" y="113"/>
                    <a:pt x="25" y="52"/>
                    <a:pt x="0" y="0"/>
                  </a:cubicBezTo>
                  <a:lnTo>
                    <a:pt x="163"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224" name="Line 17">
              <a:extLst>
                <a:ext uri="{FF2B5EF4-FFF2-40B4-BE49-F238E27FC236}">
                  <a16:creationId xmlns:a16="http://schemas.microsoft.com/office/drawing/2014/main" id="{469D5ED0-D120-4342-A0A4-19C904A861B8}"/>
                </a:ext>
              </a:extLst>
            </p:cNvPr>
            <p:cNvSpPr>
              <a:spLocks noChangeShapeType="1"/>
            </p:cNvSpPr>
            <p:nvPr/>
          </p:nvSpPr>
          <p:spPr bwMode="auto">
            <a:xfrm>
              <a:off x="1169" y="2895"/>
              <a:ext cx="63" cy="0"/>
            </a:xfrm>
            <a:prstGeom prst="line">
              <a:avLst/>
            </a:prstGeom>
            <a:noFill/>
            <a:ln w="15875" cap="rnd">
              <a:solidFill>
                <a:srgbClr val="33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225" name="Freeform 18">
              <a:extLst>
                <a:ext uri="{FF2B5EF4-FFF2-40B4-BE49-F238E27FC236}">
                  <a16:creationId xmlns:a16="http://schemas.microsoft.com/office/drawing/2014/main" id="{91C96167-43AF-EF41-AD3D-17AB55211864}"/>
                </a:ext>
              </a:extLst>
            </p:cNvPr>
            <p:cNvSpPr>
              <a:spLocks/>
            </p:cNvSpPr>
            <p:nvPr/>
          </p:nvSpPr>
          <p:spPr bwMode="auto">
            <a:xfrm>
              <a:off x="1217" y="2864"/>
              <a:ext cx="61"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3"/>
                    <a:pt x="26" y="52"/>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226" name="Line 19">
              <a:extLst>
                <a:ext uri="{FF2B5EF4-FFF2-40B4-BE49-F238E27FC236}">
                  <a16:creationId xmlns:a16="http://schemas.microsoft.com/office/drawing/2014/main" id="{F64F8C90-C987-D347-8FD7-8A02487BBC15}"/>
                </a:ext>
              </a:extLst>
            </p:cNvPr>
            <p:cNvSpPr>
              <a:spLocks noChangeShapeType="1"/>
            </p:cNvSpPr>
            <p:nvPr/>
          </p:nvSpPr>
          <p:spPr bwMode="auto">
            <a:xfrm>
              <a:off x="1169" y="2741"/>
              <a:ext cx="63" cy="0"/>
            </a:xfrm>
            <a:prstGeom prst="line">
              <a:avLst/>
            </a:prstGeom>
            <a:noFill/>
            <a:ln w="15875" cap="rnd">
              <a:solidFill>
                <a:srgbClr val="33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227" name="Freeform 20">
              <a:extLst>
                <a:ext uri="{FF2B5EF4-FFF2-40B4-BE49-F238E27FC236}">
                  <a16:creationId xmlns:a16="http://schemas.microsoft.com/office/drawing/2014/main" id="{25EF50E9-2F11-B64E-B92A-4745CA788A22}"/>
                </a:ext>
              </a:extLst>
            </p:cNvPr>
            <p:cNvSpPr>
              <a:spLocks/>
            </p:cNvSpPr>
            <p:nvPr/>
          </p:nvSpPr>
          <p:spPr bwMode="auto">
            <a:xfrm>
              <a:off x="1217" y="2710"/>
              <a:ext cx="61"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2"/>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228" name="Line 21">
              <a:extLst>
                <a:ext uri="{FF2B5EF4-FFF2-40B4-BE49-F238E27FC236}">
                  <a16:creationId xmlns:a16="http://schemas.microsoft.com/office/drawing/2014/main" id="{FA7AD0CF-EF9E-0D4D-8EB0-CBC45B6DE6C3}"/>
                </a:ext>
              </a:extLst>
            </p:cNvPr>
            <p:cNvSpPr>
              <a:spLocks noChangeShapeType="1"/>
            </p:cNvSpPr>
            <p:nvPr/>
          </p:nvSpPr>
          <p:spPr bwMode="auto">
            <a:xfrm>
              <a:off x="1169" y="2818"/>
              <a:ext cx="63" cy="0"/>
            </a:xfrm>
            <a:prstGeom prst="line">
              <a:avLst/>
            </a:prstGeom>
            <a:noFill/>
            <a:ln w="15875" cap="rnd">
              <a:solidFill>
                <a:srgbClr val="33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229" name="Freeform 22">
              <a:extLst>
                <a:ext uri="{FF2B5EF4-FFF2-40B4-BE49-F238E27FC236}">
                  <a16:creationId xmlns:a16="http://schemas.microsoft.com/office/drawing/2014/main" id="{F562DC39-7EB2-0749-95EE-D95DBE1A667F}"/>
                </a:ext>
              </a:extLst>
            </p:cNvPr>
            <p:cNvSpPr>
              <a:spLocks/>
            </p:cNvSpPr>
            <p:nvPr/>
          </p:nvSpPr>
          <p:spPr bwMode="auto">
            <a:xfrm>
              <a:off x="1217" y="2787"/>
              <a:ext cx="61"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2"/>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 name="Group 587">
            <a:extLst>
              <a:ext uri="{FF2B5EF4-FFF2-40B4-BE49-F238E27FC236}">
                <a16:creationId xmlns:a16="http://schemas.microsoft.com/office/drawing/2014/main" id="{DBB4A504-A96D-004E-9503-AB4AF74C9C8C}"/>
              </a:ext>
            </a:extLst>
          </p:cNvPr>
          <p:cNvGrpSpPr>
            <a:grpSpLocks/>
          </p:cNvGrpSpPr>
          <p:nvPr/>
        </p:nvGrpSpPr>
        <p:grpSpPr bwMode="auto">
          <a:xfrm>
            <a:off x="2163763" y="3937000"/>
            <a:ext cx="277812" cy="760413"/>
            <a:chOff x="1363" y="2480"/>
            <a:chExt cx="175" cy="479"/>
          </a:xfrm>
        </p:grpSpPr>
        <p:sp>
          <p:nvSpPr>
            <p:cNvPr id="80210" name="Rectangle 23">
              <a:extLst>
                <a:ext uri="{FF2B5EF4-FFF2-40B4-BE49-F238E27FC236}">
                  <a16:creationId xmlns:a16="http://schemas.microsoft.com/office/drawing/2014/main" id="{62F6564E-574B-BF4B-9037-4BD13A544798}"/>
                </a:ext>
              </a:extLst>
            </p:cNvPr>
            <p:cNvSpPr>
              <a:spLocks noChangeArrowheads="1"/>
            </p:cNvSpPr>
            <p:nvPr/>
          </p:nvSpPr>
          <p:spPr bwMode="auto">
            <a:xfrm>
              <a:off x="1363" y="2603"/>
              <a:ext cx="175" cy="356"/>
            </a:xfrm>
            <a:prstGeom prst="rect">
              <a:avLst/>
            </a:prstGeom>
            <a:solidFill>
              <a:srgbClr val="FFCCCC"/>
            </a:solidFill>
            <a:ln w="19050">
              <a:solidFill>
                <a:schemeClr val="tx1"/>
              </a:solidFill>
              <a:prstDash val="lgDash"/>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211" name="Rectangle 25">
              <a:extLst>
                <a:ext uri="{FF2B5EF4-FFF2-40B4-BE49-F238E27FC236}">
                  <a16:creationId xmlns:a16="http://schemas.microsoft.com/office/drawing/2014/main" id="{770E3CB9-C711-0547-A00E-FDA12B644C46}"/>
                </a:ext>
              </a:extLst>
            </p:cNvPr>
            <p:cNvSpPr>
              <a:spLocks noChangeArrowheads="1"/>
            </p:cNvSpPr>
            <p:nvPr/>
          </p:nvSpPr>
          <p:spPr bwMode="auto">
            <a:xfrm>
              <a:off x="1411" y="2480"/>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212" name="Line 26">
              <a:extLst>
                <a:ext uri="{FF2B5EF4-FFF2-40B4-BE49-F238E27FC236}">
                  <a16:creationId xmlns:a16="http://schemas.microsoft.com/office/drawing/2014/main" id="{A2632D9A-C60C-BA4B-95FB-5F979F5006C7}"/>
                </a:ext>
              </a:extLst>
            </p:cNvPr>
            <p:cNvSpPr>
              <a:spLocks noChangeShapeType="1"/>
            </p:cNvSpPr>
            <p:nvPr/>
          </p:nvSpPr>
          <p:spPr bwMode="auto">
            <a:xfrm>
              <a:off x="1407" y="2654"/>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213" name="Freeform 27">
              <a:extLst>
                <a:ext uri="{FF2B5EF4-FFF2-40B4-BE49-F238E27FC236}">
                  <a16:creationId xmlns:a16="http://schemas.microsoft.com/office/drawing/2014/main" id="{9F7478CA-0223-CE4A-A9C4-A56EF5E6BD81}"/>
                </a:ext>
              </a:extLst>
            </p:cNvPr>
            <p:cNvSpPr>
              <a:spLocks/>
            </p:cNvSpPr>
            <p:nvPr/>
          </p:nvSpPr>
          <p:spPr bwMode="auto">
            <a:xfrm>
              <a:off x="1455" y="2623"/>
              <a:ext cx="61"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3"/>
                    <a:pt x="26" y="52"/>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214" name="Line 28">
              <a:extLst>
                <a:ext uri="{FF2B5EF4-FFF2-40B4-BE49-F238E27FC236}">
                  <a16:creationId xmlns:a16="http://schemas.microsoft.com/office/drawing/2014/main" id="{3BEC892D-C32B-4A48-B39E-3FDCCE73D6AC}"/>
                </a:ext>
              </a:extLst>
            </p:cNvPr>
            <p:cNvSpPr>
              <a:spLocks noChangeShapeType="1"/>
            </p:cNvSpPr>
            <p:nvPr/>
          </p:nvSpPr>
          <p:spPr bwMode="auto">
            <a:xfrm>
              <a:off x="1403" y="2895"/>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215" name="Freeform 29">
              <a:extLst>
                <a:ext uri="{FF2B5EF4-FFF2-40B4-BE49-F238E27FC236}">
                  <a16:creationId xmlns:a16="http://schemas.microsoft.com/office/drawing/2014/main" id="{938D13D1-B6D8-6F48-93D1-5469AEC4E542}"/>
                </a:ext>
              </a:extLst>
            </p:cNvPr>
            <p:cNvSpPr>
              <a:spLocks/>
            </p:cNvSpPr>
            <p:nvPr/>
          </p:nvSpPr>
          <p:spPr bwMode="auto">
            <a:xfrm>
              <a:off x="1451" y="2864"/>
              <a:ext cx="62"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5" y="113"/>
                    <a:pt x="25" y="52"/>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216" name="Line 30">
              <a:extLst>
                <a:ext uri="{FF2B5EF4-FFF2-40B4-BE49-F238E27FC236}">
                  <a16:creationId xmlns:a16="http://schemas.microsoft.com/office/drawing/2014/main" id="{9BE7B6E8-3025-1C41-8173-CC6604E2FFD7}"/>
                </a:ext>
              </a:extLst>
            </p:cNvPr>
            <p:cNvSpPr>
              <a:spLocks noChangeShapeType="1"/>
            </p:cNvSpPr>
            <p:nvPr/>
          </p:nvSpPr>
          <p:spPr bwMode="auto">
            <a:xfrm>
              <a:off x="1403" y="2741"/>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217" name="Freeform 31">
              <a:extLst>
                <a:ext uri="{FF2B5EF4-FFF2-40B4-BE49-F238E27FC236}">
                  <a16:creationId xmlns:a16="http://schemas.microsoft.com/office/drawing/2014/main" id="{3AAD28E7-523E-904A-A9E9-4FE64F6CE577}"/>
                </a:ext>
              </a:extLst>
            </p:cNvPr>
            <p:cNvSpPr>
              <a:spLocks/>
            </p:cNvSpPr>
            <p:nvPr/>
          </p:nvSpPr>
          <p:spPr bwMode="auto">
            <a:xfrm>
              <a:off x="1451" y="2710"/>
              <a:ext cx="62"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5" y="112"/>
                    <a:pt x="25" y="52"/>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218" name="Line 32">
              <a:extLst>
                <a:ext uri="{FF2B5EF4-FFF2-40B4-BE49-F238E27FC236}">
                  <a16:creationId xmlns:a16="http://schemas.microsoft.com/office/drawing/2014/main" id="{CD3E8D8B-B5C1-AF49-AE45-9FC2806B91B3}"/>
                </a:ext>
              </a:extLst>
            </p:cNvPr>
            <p:cNvSpPr>
              <a:spLocks noChangeShapeType="1"/>
            </p:cNvSpPr>
            <p:nvPr/>
          </p:nvSpPr>
          <p:spPr bwMode="auto">
            <a:xfrm>
              <a:off x="1403" y="2818"/>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219" name="Freeform 33">
              <a:extLst>
                <a:ext uri="{FF2B5EF4-FFF2-40B4-BE49-F238E27FC236}">
                  <a16:creationId xmlns:a16="http://schemas.microsoft.com/office/drawing/2014/main" id="{369ED8F3-0781-E945-A5E4-48CB54069C4A}"/>
                </a:ext>
              </a:extLst>
            </p:cNvPr>
            <p:cNvSpPr>
              <a:spLocks/>
            </p:cNvSpPr>
            <p:nvPr/>
          </p:nvSpPr>
          <p:spPr bwMode="auto">
            <a:xfrm>
              <a:off x="1451" y="2787"/>
              <a:ext cx="62"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5" y="112"/>
                    <a:pt x="25" y="52"/>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4" name="Group 588">
            <a:extLst>
              <a:ext uri="{FF2B5EF4-FFF2-40B4-BE49-F238E27FC236}">
                <a16:creationId xmlns:a16="http://schemas.microsoft.com/office/drawing/2014/main" id="{390E12D9-374E-B048-9DB8-74639443350B}"/>
              </a:ext>
            </a:extLst>
          </p:cNvPr>
          <p:cNvGrpSpPr>
            <a:grpSpLocks/>
          </p:cNvGrpSpPr>
          <p:nvPr/>
        </p:nvGrpSpPr>
        <p:grpSpPr bwMode="auto">
          <a:xfrm>
            <a:off x="2535238" y="3937000"/>
            <a:ext cx="277812" cy="760413"/>
            <a:chOff x="1597" y="2480"/>
            <a:chExt cx="175" cy="479"/>
          </a:xfrm>
        </p:grpSpPr>
        <p:sp>
          <p:nvSpPr>
            <p:cNvPr id="80202" name="Rectangle 34">
              <a:extLst>
                <a:ext uri="{FF2B5EF4-FFF2-40B4-BE49-F238E27FC236}">
                  <a16:creationId xmlns:a16="http://schemas.microsoft.com/office/drawing/2014/main" id="{90E03748-FE8D-614F-878C-F258ACAAA869}"/>
                </a:ext>
              </a:extLst>
            </p:cNvPr>
            <p:cNvSpPr>
              <a:spLocks noChangeArrowheads="1"/>
            </p:cNvSpPr>
            <p:nvPr/>
          </p:nvSpPr>
          <p:spPr bwMode="auto">
            <a:xfrm>
              <a:off x="1597" y="2603"/>
              <a:ext cx="175" cy="356"/>
            </a:xfrm>
            <a:prstGeom prst="rect">
              <a:avLst/>
            </a:prstGeom>
            <a:solidFill>
              <a:srgbClr val="CCFFFF"/>
            </a:solidFill>
            <a:ln w="19050">
              <a:solidFill>
                <a:schemeClr val="tx1"/>
              </a:solidFill>
              <a:prstDash val="lgDash"/>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203" name="Rectangle 36">
              <a:extLst>
                <a:ext uri="{FF2B5EF4-FFF2-40B4-BE49-F238E27FC236}">
                  <a16:creationId xmlns:a16="http://schemas.microsoft.com/office/drawing/2014/main" id="{3ED20E02-3403-4D4F-A4A8-D2E21DA748F7}"/>
                </a:ext>
              </a:extLst>
            </p:cNvPr>
            <p:cNvSpPr>
              <a:spLocks noChangeArrowheads="1"/>
            </p:cNvSpPr>
            <p:nvPr/>
          </p:nvSpPr>
          <p:spPr bwMode="auto">
            <a:xfrm>
              <a:off x="1645" y="2480"/>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B</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204" name="Line 37">
              <a:extLst>
                <a:ext uri="{FF2B5EF4-FFF2-40B4-BE49-F238E27FC236}">
                  <a16:creationId xmlns:a16="http://schemas.microsoft.com/office/drawing/2014/main" id="{B4C7B489-78F5-CB43-A839-4054CDA088D3}"/>
                </a:ext>
              </a:extLst>
            </p:cNvPr>
            <p:cNvSpPr>
              <a:spLocks noChangeShapeType="1"/>
            </p:cNvSpPr>
            <p:nvPr/>
          </p:nvSpPr>
          <p:spPr bwMode="auto">
            <a:xfrm>
              <a:off x="1641" y="2654"/>
              <a:ext cx="63" cy="0"/>
            </a:xfrm>
            <a:prstGeom prst="line">
              <a:avLst/>
            </a:prstGeom>
            <a:noFill/>
            <a:ln w="15875" cap="rnd">
              <a:solidFill>
                <a:srgbClr val="33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205" name="Freeform 38">
              <a:extLst>
                <a:ext uri="{FF2B5EF4-FFF2-40B4-BE49-F238E27FC236}">
                  <a16:creationId xmlns:a16="http://schemas.microsoft.com/office/drawing/2014/main" id="{50AFA006-05E7-6541-BACC-F1E7B730A8DF}"/>
                </a:ext>
              </a:extLst>
            </p:cNvPr>
            <p:cNvSpPr>
              <a:spLocks/>
            </p:cNvSpPr>
            <p:nvPr/>
          </p:nvSpPr>
          <p:spPr bwMode="auto">
            <a:xfrm>
              <a:off x="1689" y="2623"/>
              <a:ext cx="61"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3"/>
                    <a:pt x="26" y="52"/>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206" name="Line 41">
              <a:extLst>
                <a:ext uri="{FF2B5EF4-FFF2-40B4-BE49-F238E27FC236}">
                  <a16:creationId xmlns:a16="http://schemas.microsoft.com/office/drawing/2014/main" id="{15B372CC-9918-2A42-B1EC-D8D7F454D0B5}"/>
                </a:ext>
              </a:extLst>
            </p:cNvPr>
            <p:cNvSpPr>
              <a:spLocks noChangeShapeType="1"/>
            </p:cNvSpPr>
            <p:nvPr/>
          </p:nvSpPr>
          <p:spPr bwMode="auto">
            <a:xfrm>
              <a:off x="1638" y="2741"/>
              <a:ext cx="62" cy="0"/>
            </a:xfrm>
            <a:prstGeom prst="line">
              <a:avLst/>
            </a:prstGeom>
            <a:noFill/>
            <a:ln w="15875" cap="rnd">
              <a:solidFill>
                <a:srgbClr val="33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207" name="Freeform 42">
              <a:extLst>
                <a:ext uri="{FF2B5EF4-FFF2-40B4-BE49-F238E27FC236}">
                  <a16:creationId xmlns:a16="http://schemas.microsoft.com/office/drawing/2014/main" id="{47086B6B-AEC3-2C4B-A951-BAB8E1EF84FC}"/>
                </a:ext>
              </a:extLst>
            </p:cNvPr>
            <p:cNvSpPr>
              <a:spLocks/>
            </p:cNvSpPr>
            <p:nvPr/>
          </p:nvSpPr>
          <p:spPr bwMode="auto">
            <a:xfrm>
              <a:off x="1685" y="2710"/>
              <a:ext cx="62"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2"/>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208" name="Line 43">
              <a:extLst>
                <a:ext uri="{FF2B5EF4-FFF2-40B4-BE49-F238E27FC236}">
                  <a16:creationId xmlns:a16="http://schemas.microsoft.com/office/drawing/2014/main" id="{57FFAD90-E2DD-F64A-ADD0-E8FBF6034DCC}"/>
                </a:ext>
              </a:extLst>
            </p:cNvPr>
            <p:cNvSpPr>
              <a:spLocks noChangeShapeType="1"/>
            </p:cNvSpPr>
            <p:nvPr/>
          </p:nvSpPr>
          <p:spPr bwMode="auto">
            <a:xfrm>
              <a:off x="1638" y="2818"/>
              <a:ext cx="62" cy="0"/>
            </a:xfrm>
            <a:prstGeom prst="line">
              <a:avLst/>
            </a:prstGeom>
            <a:noFill/>
            <a:ln w="15875" cap="rnd">
              <a:solidFill>
                <a:srgbClr val="33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209" name="Freeform 44">
              <a:extLst>
                <a:ext uri="{FF2B5EF4-FFF2-40B4-BE49-F238E27FC236}">
                  <a16:creationId xmlns:a16="http://schemas.microsoft.com/office/drawing/2014/main" id="{7E5D261C-E56C-E042-8207-FB19862A196A}"/>
                </a:ext>
              </a:extLst>
            </p:cNvPr>
            <p:cNvSpPr>
              <a:spLocks/>
            </p:cNvSpPr>
            <p:nvPr/>
          </p:nvSpPr>
          <p:spPr bwMode="auto">
            <a:xfrm>
              <a:off x="1685" y="2787"/>
              <a:ext cx="62"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2"/>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 name="Group 589">
            <a:extLst>
              <a:ext uri="{FF2B5EF4-FFF2-40B4-BE49-F238E27FC236}">
                <a16:creationId xmlns:a16="http://schemas.microsoft.com/office/drawing/2014/main" id="{20B12547-77C3-0842-A3EE-1BDD75A3FC30}"/>
              </a:ext>
            </a:extLst>
          </p:cNvPr>
          <p:cNvGrpSpPr>
            <a:grpSpLocks/>
          </p:cNvGrpSpPr>
          <p:nvPr/>
        </p:nvGrpSpPr>
        <p:grpSpPr bwMode="auto">
          <a:xfrm>
            <a:off x="2906713" y="3937000"/>
            <a:ext cx="277812" cy="760413"/>
            <a:chOff x="1831" y="2480"/>
            <a:chExt cx="175" cy="479"/>
          </a:xfrm>
        </p:grpSpPr>
        <p:sp>
          <p:nvSpPr>
            <p:cNvPr id="80196" name="Rectangle 45">
              <a:extLst>
                <a:ext uri="{FF2B5EF4-FFF2-40B4-BE49-F238E27FC236}">
                  <a16:creationId xmlns:a16="http://schemas.microsoft.com/office/drawing/2014/main" id="{A5512C4C-DF67-7C4E-9724-4C2477BF0EAA}"/>
                </a:ext>
              </a:extLst>
            </p:cNvPr>
            <p:cNvSpPr>
              <a:spLocks noChangeArrowheads="1"/>
            </p:cNvSpPr>
            <p:nvPr/>
          </p:nvSpPr>
          <p:spPr bwMode="auto">
            <a:xfrm>
              <a:off x="1831" y="2603"/>
              <a:ext cx="175" cy="356"/>
            </a:xfrm>
            <a:prstGeom prst="rect">
              <a:avLst/>
            </a:prstGeom>
            <a:solidFill>
              <a:srgbClr val="FFCCCC"/>
            </a:solidFill>
            <a:ln w="19050">
              <a:solidFill>
                <a:schemeClr val="tx1"/>
              </a:solidFill>
              <a:prstDash val="lgDash"/>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97" name="Rectangle 47">
              <a:extLst>
                <a:ext uri="{FF2B5EF4-FFF2-40B4-BE49-F238E27FC236}">
                  <a16:creationId xmlns:a16="http://schemas.microsoft.com/office/drawing/2014/main" id="{690061C6-FB2B-D14F-8F20-97380D498AB2}"/>
                </a:ext>
              </a:extLst>
            </p:cNvPr>
            <p:cNvSpPr>
              <a:spLocks noChangeArrowheads="1"/>
            </p:cNvSpPr>
            <p:nvPr/>
          </p:nvSpPr>
          <p:spPr bwMode="auto">
            <a:xfrm>
              <a:off x="1879" y="2480"/>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B</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98" name="Line 50">
              <a:extLst>
                <a:ext uri="{FF2B5EF4-FFF2-40B4-BE49-F238E27FC236}">
                  <a16:creationId xmlns:a16="http://schemas.microsoft.com/office/drawing/2014/main" id="{8E957B2E-DE1F-F040-AA7E-99092AD7446F}"/>
                </a:ext>
              </a:extLst>
            </p:cNvPr>
            <p:cNvSpPr>
              <a:spLocks noChangeShapeType="1"/>
            </p:cNvSpPr>
            <p:nvPr/>
          </p:nvSpPr>
          <p:spPr bwMode="auto">
            <a:xfrm>
              <a:off x="1872" y="2895"/>
              <a:ext cx="62"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99" name="Freeform 51">
              <a:extLst>
                <a:ext uri="{FF2B5EF4-FFF2-40B4-BE49-F238E27FC236}">
                  <a16:creationId xmlns:a16="http://schemas.microsoft.com/office/drawing/2014/main" id="{8485EBB3-BA98-5C44-8EB1-F19108FC5EF5}"/>
                </a:ext>
              </a:extLst>
            </p:cNvPr>
            <p:cNvSpPr>
              <a:spLocks/>
            </p:cNvSpPr>
            <p:nvPr/>
          </p:nvSpPr>
          <p:spPr bwMode="auto">
            <a:xfrm>
              <a:off x="1919" y="2864"/>
              <a:ext cx="62"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3"/>
                    <a:pt x="26" y="52"/>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200" name="Line 54">
              <a:extLst>
                <a:ext uri="{FF2B5EF4-FFF2-40B4-BE49-F238E27FC236}">
                  <a16:creationId xmlns:a16="http://schemas.microsoft.com/office/drawing/2014/main" id="{FA643015-46A1-6C47-AD5F-1E355C9BA18B}"/>
                </a:ext>
              </a:extLst>
            </p:cNvPr>
            <p:cNvSpPr>
              <a:spLocks noChangeShapeType="1"/>
            </p:cNvSpPr>
            <p:nvPr/>
          </p:nvSpPr>
          <p:spPr bwMode="auto">
            <a:xfrm>
              <a:off x="1872" y="2818"/>
              <a:ext cx="62"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201" name="Freeform 55">
              <a:extLst>
                <a:ext uri="{FF2B5EF4-FFF2-40B4-BE49-F238E27FC236}">
                  <a16:creationId xmlns:a16="http://schemas.microsoft.com/office/drawing/2014/main" id="{C81B92D4-C066-3245-BB36-CC3AEE6A4070}"/>
                </a:ext>
              </a:extLst>
            </p:cNvPr>
            <p:cNvSpPr>
              <a:spLocks/>
            </p:cNvSpPr>
            <p:nvPr/>
          </p:nvSpPr>
          <p:spPr bwMode="auto">
            <a:xfrm>
              <a:off x="1919" y="2787"/>
              <a:ext cx="62"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2"/>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 name="Group 598">
            <a:extLst>
              <a:ext uri="{FF2B5EF4-FFF2-40B4-BE49-F238E27FC236}">
                <a16:creationId xmlns:a16="http://schemas.microsoft.com/office/drawing/2014/main" id="{84D2D65A-32D1-524F-97E9-F147096B6CBD}"/>
              </a:ext>
            </a:extLst>
          </p:cNvPr>
          <p:cNvGrpSpPr>
            <a:grpSpLocks/>
          </p:cNvGrpSpPr>
          <p:nvPr/>
        </p:nvGrpSpPr>
        <p:grpSpPr bwMode="auto">
          <a:xfrm>
            <a:off x="6253163" y="3937000"/>
            <a:ext cx="276225" cy="760413"/>
            <a:chOff x="3939" y="2480"/>
            <a:chExt cx="174" cy="479"/>
          </a:xfrm>
        </p:grpSpPr>
        <p:sp>
          <p:nvSpPr>
            <p:cNvPr id="80186" name="Rectangle 56">
              <a:extLst>
                <a:ext uri="{FF2B5EF4-FFF2-40B4-BE49-F238E27FC236}">
                  <a16:creationId xmlns:a16="http://schemas.microsoft.com/office/drawing/2014/main" id="{96C16393-4C81-314B-AEE8-D94319198966}"/>
                </a:ext>
              </a:extLst>
            </p:cNvPr>
            <p:cNvSpPr>
              <a:spLocks noChangeArrowheads="1"/>
            </p:cNvSpPr>
            <p:nvPr/>
          </p:nvSpPr>
          <p:spPr bwMode="auto">
            <a:xfrm>
              <a:off x="3939" y="2603"/>
              <a:ext cx="174" cy="356"/>
            </a:xfrm>
            <a:prstGeom prst="rect">
              <a:avLst/>
            </a:prstGeom>
            <a:solidFill>
              <a:srgbClr val="CCFFFF"/>
            </a:solidFill>
            <a:ln w="19050">
              <a:solidFill>
                <a:schemeClr val="tx1"/>
              </a:solidFill>
              <a:prstDash val="lgDash"/>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87" name="Rectangle 58">
              <a:extLst>
                <a:ext uri="{FF2B5EF4-FFF2-40B4-BE49-F238E27FC236}">
                  <a16:creationId xmlns:a16="http://schemas.microsoft.com/office/drawing/2014/main" id="{E42EB9CD-B070-CE41-878D-0A1394F3930E}"/>
                </a:ext>
              </a:extLst>
            </p:cNvPr>
            <p:cNvSpPr>
              <a:spLocks noChangeArrowheads="1"/>
            </p:cNvSpPr>
            <p:nvPr/>
          </p:nvSpPr>
          <p:spPr bwMode="auto">
            <a:xfrm>
              <a:off x="3979" y="2480"/>
              <a:ext cx="8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G</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88" name="Line 59">
              <a:extLst>
                <a:ext uri="{FF2B5EF4-FFF2-40B4-BE49-F238E27FC236}">
                  <a16:creationId xmlns:a16="http://schemas.microsoft.com/office/drawing/2014/main" id="{D991B5E9-D2A6-6C45-AC57-FBE2F7605393}"/>
                </a:ext>
              </a:extLst>
            </p:cNvPr>
            <p:cNvSpPr>
              <a:spLocks noChangeShapeType="1"/>
            </p:cNvSpPr>
            <p:nvPr/>
          </p:nvSpPr>
          <p:spPr bwMode="auto">
            <a:xfrm>
              <a:off x="3982" y="2654"/>
              <a:ext cx="63" cy="0"/>
            </a:xfrm>
            <a:prstGeom prst="line">
              <a:avLst/>
            </a:prstGeom>
            <a:noFill/>
            <a:ln w="15875" cap="rnd">
              <a:solidFill>
                <a:srgbClr val="33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89" name="Freeform 60">
              <a:extLst>
                <a:ext uri="{FF2B5EF4-FFF2-40B4-BE49-F238E27FC236}">
                  <a16:creationId xmlns:a16="http://schemas.microsoft.com/office/drawing/2014/main" id="{FFBC44A6-6F3F-E94E-9D3E-114B45A64B0A}"/>
                </a:ext>
              </a:extLst>
            </p:cNvPr>
            <p:cNvSpPr>
              <a:spLocks/>
            </p:cNvSpPr>
            <p:nvPr/>
          </p:nvSpPr>
          <p:spPr bwMode="auto">
            <a:xfrm>
              <a:off x="4030" y="2623"/>
              <a:ext cx="62"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3"/>
                    <a:pt x="26" y="52"/>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90" name="Line 61">
              <a:extLst>
                <a:ext uri="{FF2B5EF4-FFF2-40B4-BE49-F238E27FC236}">
                  <a16:creationId xmlns:a16="http://schemas.microsoft.com/office/drawing/2014/main" id="{DB1B9B08-5AFE-FD4B-8BB8-A7E8D9E8ED9E}"/>
                </a:ext>
              </a:extLst>
            </p:cNvPr>
            <p:cNvSpPr>
              <a:spLocks noChangeShapeType="1"/>
            </p:cNvSpPr>
            <p:nvPr/>
          </p:nvSpPr>
          <p:spPr bwMode="auto">
            <a:xfrm>
              <a:off x="3979" y="2895"/>
              <a:ext cx="63" cy="0"/>
            </a:xfrm>
            <a:prstGeom prst="line">
              <a:avLst/>
            </a:prstGeom>
            <a:noFill/>
            <a:ln w="15875" cap="rnd">
              <a:solidFill>
                <a:srgbClr val="33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91" name="Freeform 62">
              <a:extLst>
                <a:ext uri="{FF2B5EF4-FFF2-40B4-BE49-F238E27FC236}">
                  <a16:creationId xmlns:a16="http://schemas.microsoft.com/office/drawing/2014/main" id="{51508E4F-405F-2D42-89BA-ECBEBF073697}"/>
                </a:ext>
              </a:extLst>
            </p:cNvPr>
            <p:cNvSpPr>
              <a:spLocks/>
            </p:cNvSpPr>
            <p:nvPr/>
          </p:nvSpPr>
          <p:spPr bwMode="auto">
            <a:xfrm>
              <a:off x="4027" y="2864"/>
              <a:ext cx="61" cy="61"/>
            </a:xfrm>
            <a:custGeom>
              <a:avLst/>
              <a:gdLst>
                <a:gd name="T0" fmla="*/ 0 w 164"/>
                <a:gd name="T1" fmla="*/ 0 h 164"/>
                <a:gd name="T2" fmla="*/ 0 w 164"/>
                <a:gd name="T3" fmla="*/ 0 h 164"/>
                <a:gd name="T4" fmla="*/ 0 w 164"/>
                <a:gd name="T5" fmla="*/ 0 h 164"/>
                <a:gd name="T6" fmla="*/ 0 w 164"/>
                <a:gd name="T7" fmla="*/ 0 h 164"/>
                <a:gd name="T8" fmla="*/ 0 60000 65536"/>
                <a:gd name="T9" fmla="*/ 0 60000 65536"/>
                <a:gd name="T10" fmla="*/ 0 60000 65536"/>
                <a:gd name="T11" fmla="*/ 0 60000 65536"/>
                <a:gd name="T12" fmla="*/ 0 w 164"/>
                <a:gd name="T13" fmla="*/ 0 h 164"/>
                <a:gd name="T14" fmla="*/ 164 w 164"/>
                <a:gd name="T15" fmla="*/ 164 h 164"/>
              </a:gdLst>
              <a:ahLst/>
              <a:cxnLst>
                <a:cxn ang="T8">
                  <a:pos x="T0" y="T1"/>
                </a:cxn>
                <a:cxn ang="T9">
                  <a:pos x="T2" y="T3"/>
                </a:cxn>
                <a:cxn ang="T10">
                  <a:pos x="T4" y="T5"/>
                </a:cxn>
                <a:cxn ang="T11">
                  <a:pos x="T6" y="T7"/>
                </a:cxn>
              </a:cxnLst>
              <a:rect l="T12" t="T13" r="T14" b="T15"/>
              <a:pathLst>
                <a:path w="164" h="164">
                  <a:moveTo>
                    <a:pt x="164" y="82"/>
                  </a:moveTo>
                  <a:lnTo>
                    <a:pt x="0" y="164"/>
                  </a:lnTo>
                  <a:cubicBezTo>
                    <a:pt x="26" y="113"/>
                    <a:pt x="26" y="52"/>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92" name="Line 63">
              <a:extLst>
                <a:ext uri="{FF2B5EF4-FFF2-40B4-BE49-F238E27FC236}">
                  <a16:creationId xmlns:a16="http://schemas.microsoft.com/office/drawing/2014/main" id="{08A2E7F8-53A9-1C48-A510-F72BC3C50D25}"/>
                </a:ext>
              </a:extLst>
            </p:cNvPr>
            <p:cNvSpPr>
              <a:spLocks noChangeShapeType="1"/>
            </p:cNvSpPr>
            <p:nvPr/>
          </p:nvSpPr>
          <p:spPr bwMode="auto">
            <a:xfrm>
              <a:off x="3979" y="2741"/>
              <a:ext cx="63" cy="0"/>
            </a:xfrm>
            <a:prstGeom prst="line">
              <a:avLst/>
            </a:prstGeom>
            <a:noFill/>
            <a:ln w="15875" cap="rnd">
              <a:solidFill>
                <a:srgbClr val="33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93" name="Freeform 64">
              <a:extLst>
                <a:ext uri="{FF2B5EF4-FFF2-40B4-BE49-F238E27FC236}">
                  <a16:creationId xmlns:a16="http://schemas.microsoft.com/office/drawing/2014/main" id="{C622E659-1FB5-0943-8E15-B0EFC2F0326F}"/>
                </a:ext>
              </a:extLst>
            </p:cNvPr>
            <p:cNvSpPr>
              <a:spLocks/>
            </p:cNvSpPr>
            <p:nvPr/>
          </p:nvSpPr>
          <p:spPr bwMode="auto">
            <a:xfrm>
              <a:off x="4027" y="2710"/>
              <a:ext cx="61"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2"/>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94" name="Line 65">
              <a:extLst>
                <a:ext uri="{FF2B5EF4-FFF2-40B4-BE49-F238E27FC236}">
                  <a16:creationId xmlns:a16="http://schemas.microsoft.com/office/drawing/2014/main" id="{8219FFAD-4D89-884C-951A-23F63588176C}"/>
                </a:ext>
              </a:extLst>
            </p:cNvPr>
            <p:cNvSpPr>
              <a:spLocks noChangeShapeType="1"/>
            </p:cNvSpPr>
            <p:nvPr/>
          </p:nvSpPr>
          <p:spPr bwMode="auto">
            <a:xfrm>
              <a:off x="3979" y="2818"/>
              <a:ext cx="63" cy="0"/>
            </a:xfrm>
            <a:prstGeom prst="line">
              <a:avLst/>
            </a:prstGeom>
            <a:noFill/>
            <a:ln w="15875" cap="rnd">
              <a:solidFill>
                <a:srgbClr val="33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95" name="Freeform 66">
              <a:extLst>
                <a:ext uri="{FF2B5EF4-FFF2-40B4-BE49-F238E27FC236}">
                  <a16:creationId xmlns:a16="http://schemas.microsoft.com/office/drawing/2014/main" id="{CDD0CBF7-C760-FA41-871A-BB9AA40045D1}"/>
                </a:ext>
              </a:extLst>
            </p:cNvPr>
            <p:cNvSpPr>
              <a:spLocks/>
            </p:cNvSpPr>
            <p:nvPr/>
          </p:nvSpPr>
          <p:spPr bwMode="auto">
            <a:xfrm>
              <a:off x="4027" y="2787"/>
              <a:ext cx="61"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2"/>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7" name="Group 599">
            <a:extLst>
              <a:ext uri="{FF2B5EF4-FFF2-40B4-BE49-F238E27FC236}">
                <a16:creationId xmlns:a16="http://schemas.microsoft.com/office/drawing/2014/main" id="{01865864-525A-B946-9A1D-BFE1E4C1B48A}"/>
              </a:ext>
            </a:extLst>
          </p:cNvPr>
          <p:cNvGrpSpPr>
            <a:grpSpLocks/>
          </p:cNvGrpSpPr>
          <p:nvPr/>
        </p:nvGrpSpPr>
        <p:grpSpPr bwMode="auto">
          <a:xfrm>
            <a:off x="6624638" y="3937000"/>
            <a:ext cx="277812" cy="760413"/>
            <a:chOff x="4173" y="2480"/>
            <a:chExt cx="175" cy="479"/>
          </a:xfrm>
        </p:grpSpPr>
        <p:sp>
          <p:nvSpPr>
            <p:cNvPr id="80176" name="Rectangle 67">
              <a:extLst>
                <a:ext uri="{FF2B5EF4-FFF2-40B4-BE49-F238E27FC236}">
                  <a16:creationId xmlns:a16="http://schemas.microsoft.com/office/drawing/2014/main" id="{40FF5296-18DF-4A4D-A208-FCBF9DBCF91C}"/>
                </a:ext>
              </a:extLst>
            </p:cNvPr>
            <p:cNvSpPr>
              <a:spLocks noChangeArrowheads="1"/>
            </p:cNvSpPr>
            <p:nvPr/>
          </p:nvSpPr>
          <p:spPr bwMode="auto">
            <a:xfrm>
              <a:off x="4173" y="2603"/>
              <a:ext cx="175" cy="356"/>
            </a:xfrm>
            <a:prstGeom prst="rect">
              <a:avLst/>
            </a:prstGeom>
            <a:solidFill>
              <a:srgbClr val="FFCCCC"/>
            </a:solidFill>
            <a:ln w="19050">
              <a:solidFill>
                <a:schemeClr val="tx1"/>
              </a:solidFill>
              <a:prstDash val="lgDash"/>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77" name="Rectangle 69">
              <a:extLst>
                <a:ext uri="{FF2B5EF4-FFF2-40B4-BE49-F238E27FC236}">
                  <a16:creationId xmlns:a16="http://schemas.microsoft.com/office/drawing/2014/main" id="{27E71FAB-5FE5-C544-954B-AF87CC454046}"/>
                </a:ext>
              </a:extLst>
            </p:cNvPr>
            <p:cNvSpPr>
              <a:spLocks noChangeArrowheads="1"/>
            </p:cNvSpPr>
            <p:nvPr/>
          </p:nvSpPr>
          <p:spPr bwMode="auto">
            <a:xfrm>
              <a:off x="4213" y="2480"/>
              <a:ext cx="8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G</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78" name="Line 70">
              <a:extLst>
                <a:ext uri="{FF2B5EF4-FFF2-40B4-BE49-F238E27FC236}">
                  <a16:creationId xmlns:a16="http://schemas.microsoft.com/office/drawing/2014/main" id="{DA6CC0DB-8D0A-2B42-9FBC-9DC220626CB3}"/>
                </a:ext>
              </a:extLst>
            </p:cNvPr>
            <p:cNvSpPr>
              <a:spLocks noChangeShapeType="1"/>
            </p:cNvSpPr>
            <p:nvPr/>
          </p:nvSpPr>
          <p:spPr bwMode="auto">
            <a:xfrm>
              <a:off x="4216" y="2654"/>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79" name="Freeform 71">
              <a:extLst>
                <a:ext uri="{FF2B5EF4-FFF2-40B4-BE49-F238E27FC236}">
                  <a16:creationId xmlns:a16="http://schemas.microsoft.com/office/drawing/2014/main" id="{BB16D009-4DE9-D247-995C-F698B0C5F801}"/>
                </a:ext>
              </a:extLst>
            </p:cNvPr>
            <p:cNvSpPr>
              <a:spLocks/>
            </p:cNvSpPr>
            <p:nvPr/>
          </p:nvSpPr>
          <p:spPr bwMode="auto">
            <a:xfrm>
              <a:off x="4264" y="2623"/>
              <a:ext cx="62"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5" y="113"/>
                    <a:pt x="25" y="52"/>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80" name="Line 72">
              <a:extLst>
                <a:ext uri="{FF2B5EF4-FFF2-40B4-BE49-F238E27FC236}">
                  <a16:creationId xmlns:a16="http://schemas.microsoft.com/office/drawing/2014/main" id="{69C5A17D-65D4-A24A-845A-B36B50D829B9}"/>
                </a:ext>
              </a:extLst>
            </p:cNvPr>
            <p:cNvSpPr>
              <a:spLocks noChangeShapeType="1"/>
            </p:cNvSpPr>
            <p:nvPr/>
          </p:nvSpPr>
          <p:spPr bwMode="auto">
            <a:xfrm>
              <a:off x="4213" y="2895"/>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81" name="Freeform 73">
              <a:extLst>
                <a:ext uri="{FF2B5EF4-FFF2-40B4-BE49-F238E27FC236}">
                  <a16:creationId xmlns:a16="http://schemas.microsoft.com/office/drawing/2014/main" id="{9624D4E4-C976-EE45-A3E8-047C5238D34B}"/>
                </a:ext>
              </a:extLst>
            </p:cNvPr>
            <p:cNvSpPr>
              <a:spLocks/>
            </p:cNvSpPr>
            <p:nvPr/>
          </p:nvSpPr>
          <p:spPr bwMode="auto">
            <a:xfrm>
              <a:off x="4261" y="2864"/>
              <a:ext cx="61" cy="61"/>
            </a:xfrm>
            <a:custGeom>
              <a:avLst/>
              <a:gdLst>
                <a:gd name="T0" fmla="*/ 0 w 164"/>
                <a:gd name="T1" fmla="*/ 0 h 164"/>
                <a:gd name="T2" fmla="*/ 0 w 164"/>
                <a:gd name="T3" fmla="*/ 0 h 164"/>
                <a:gd name="T4" fmla="*/ 0 w 164"/>
                <a:gd name="T5" fmla="*/ 0 h 164"/>
                <a:gd name="T6" fmla="*/ 0 w 164"/>
                <a:gd name="T7" fmla="*/ 0 h 164"/>
                <a:gd name="T8" fmla="*/ 0 60000 65536"/>
                <a:gd name="T9" fmla="*/ 0 60000 65536"/>
                <a:gd name="T10" fmla="*/ 0 60000 65536"/>
                <a:gd name="T11" fmla="*/ 0 60000 65536"/>
                <a:gd name="T12" fmla="*/ 0 w 164"/>
                <a:gd name="T13" fmla="*/ 0 h 164"/>
                <a:gd name="T14" fmla="*/ 164 w 164"/>
                <a:gd name="T15" fmla="*/ 164 h 164"/>
              </a:gdLst>
              <a:ahLst/>
              <a:cxnLst>
                <a:cxn ang="T8">
                  <a:pos x="T0" y="T1"/>
                </a:cxn>
                <a:cxn ang="T9">
                  <a:pos x="T2" y="T3"/>
                </a:cxn>
                <a:cxn ang="T10">
                  <a:pos x="T4" y="T5"/>
                </a:cxn>
                <a:cxn ang="T11">
                  <a:pos x="T6" y="T7"/>
                </a:cxn>
              </a:cxnLst>
              <a:rect l="T12" t="T13" r="T14" b="T15"/>
              <a:pathLst>
                <a:path w="164" h="164">
                  <a:moveTo>
                    <a:pt x="164" y="82"/>
                  </a:moveTo>
                  <a:lnTo>
                    <a:pt x="0" y="164"/>
                  </a:lnTo>
                  <a:cubicBezTo>
                    <a:pt x="26" y="113"/>
                    <a:pt x="26" y="52"/>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82" name="Line 74">
              <a:extLst>
                <a:ext uri="{FF2B5EF4-FFF2-40B4-BE49-F238E27FC236}">
                  <a16:creationId xmlns:a16="http://schemas.microsoft.com/office/drawing/2014/main" id="{6FADF3B1-60C6-CD4A-AFF6-73DA379FD9FA}"/>
                </a:ext>
              </a:extLst>
            </p:cNvPr>
            <p:cNvSpPr>
              <a:spLocks noChangeShapeType="1"/>
            </p:cNvSpPr>
            <p:nvPr/>
          </p:nvSpPr>
          <p:spPr bwMode="auto">
            <a:xfrm>
              <a:off x="4213" y="2741"/>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83" name="Freeform 75">
              <a:extLst>
                <a:ext uri="{FF2B5EF4-FFF2-40B4-BE49-F238E27FC236}">
                  <a16:creationId xmlns:a16="http://schemas.microsoft.com/office/drawing/2014/main" id="{46BB2C3E-2A2B-2244-84D7-2D1FC5F3B8FD}"/>
                </a:ext>
              </a:extLst>
            </p:cNvPr>
            <p:cNvSpPr>
              <a:spLocks/>
            </p:cNvSpPr>
            <p:nvPr/>
          </p:nvSpPr>
          <p:spPr bwMode="auto">
            <a:xfrm>
              <a:off x="4261" y="2710"/>
              <a:ext cx="61"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2"/>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84" name="Line 76">
              <a:extLst>
                <a:ext uri="{FF2B5EF4-FFF2-40B4-BE49-F238E27FC236}">
                  <a16:creationId xmlns:a16="http://schemas.microsoft.com/office/drawing/2014/main" id="{DE3ABF88-7226-6B44-AB56-0CCD172F194B}"/>
                </a:ext>
              </a:extLst>
            </p:cNvPr>
            <p:cNvSpPr>
              <a:spLocks noChangeShapeType="1"/>
            </p:cNvSpPr>
            <p:nvPr/>
          </p:nvSpPr>
          <p:spPr bwMode="auto">
            <a:xfrm>
              <a:off x="4213" y="2818"/>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85" name="Freeform 77">
              <a:extLst>
                <a:ext uri="{FF2B5EF4-FFF2-40B4-BE49-F238E27FC236}">
                  <a16:creationId xmlns:a16="http://schemas.microsoft.com/office/drawing/2014/main" id="{17E29165-AED6-9642-956D-BAD3E75AC6FA}"/>
                </a:ext>
              </a:extLst>
            </p:cNvPr>
            <p:cNvSpPr>
              <a:spLocks/>
            </p:cNvSpPr>
            <p:nvPr/>
          </p:nvSpPr>
          <p:spPr bwMode="auto">
            <a:xfrm>
              <a:off x="4261" y="2787"/>
              <a:ext cx="61"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2"/>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 name="Group 600">
            <a:extLst>
              <a:ext uri="{FF2B5EF4-FFF2-40B4-BE49-F238E27FC236}">
                <a16:creationId xmlns:a16="http://schemas.microsoft.com/office/drawing/2014/main" id="{E722736C-04E8-924E-AA57-599733D298CF}"/>
              </a:ext>
            </a:extLst>
          </p:cNvPr>
          <p:cNvGrpSpPr>
            <a:grpSpLocks/>
          </p:cNvGrpSpPr>
          <p:nvPr/>
        </p:nvGrpSpPr>
        <p:grpSpPr bwMode="auto">
          <a:xfrm>
            <a:off x="6996113" y="3937000"/>
            <a:ext cx="277812" cy="760413"/>
            <a:chOff x="4407" y="2480"/>
            <a:chExt cx="175" cy="479"/>
          </a:xfrm>
        </p:grpSpPr>
        <p:sp>
          <p:nvSpPr>
            <p:cNvPr id="80166" name="Rectangle 78">
              <a:extLst>
                <a:ext uri="{FF2B5EF4-FFF2-40B4-BE49-F238E27FC236}">
                  <a16:creationId xmlns:a16="http://schemas.microsoft.com/office/drawing/2014/main" id="{DBB4BDBF-5E5E-864A-9DCB-DCB89190D93C}"/>
                </a:ext>
              </a:extLst>
            </p:cNvPr>
            <p:cNvSpPr>
              <a:spLocks noChangeArrowheads="1"/>
            </p:cNvSpPr>
            <p:nvPr/>
          </p:nvSpPr>
          <p:spPr bwMode="auto">
            <a:xfrm>
              <a:off x="4407" y="2603"/>
              <a:ext cx="175" cy="356"/>
            </a:xfrm>
            <a:prstGeom prst="rect">
              <a:avLst/>
            </a:prstGeom>
            <a:solidFill>
              <a:srgbClr val="CCFFFF"/>
            </a:solidFill>
            <a:ln w="19050">
              <a:solidFill>
                <a:schemeClr val="tx1"/>
              </a:solidFill>
              <a:prstDash val="lgDash"/>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67" name="Rectangle 80">
              <a:extLst>
                <a:ext uri="{FF2B5EF4-FFF2-40B4-BE49-F238E27FC236}">
                  <a16:creationId xmlns:a16="http://schemas.microsoft.com/office/drawing/2014/main" id="{767C08CF-F8C2-1D43-B3DF-50154A0337A0}"/>
                </a:ext>
              </a:extLst>
            </p:cNvPr>
            <p:cNvSpPr>
              <a:spLocks noChangeArrowheads="1"/>
            </p:cNvSpPr>
            <p:nvPr/>
          </p:nvSpPr>
          <p:spPr bwMode="auto">
            <a:xfrm>
              <a:off x="4459" y="2480"/>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68" name="Line 81">
              <a:extLst>
                <a:ext uri="{FF2B5EF4-FFF2-40B4-BE49-F238E27FC236}">
                  <a16:creationId xmlns:a16="http://schemas.microsoft.com/office/drawing/2014/main" id="{9AB56C51-DED8-A042-BF91-BE656C36E79B}"/>
                </a:ext>
              </a:extLst>
            </p:cNvPr>
            <p:cNvSpPr>
              <a:spLocks noChangeShapeType="1"/>
            </p:cNvSpPr>
            <p:nvPr/>
          </p:nvSpPr>
          <p:spPr bwMode="auto">
            <a:xfrm>
              <a:off x="4451" y="2654"/>
              <a:ext cx="62" cy="0"/>
            </a:xfrm>
            <a:prstGeom prst="line">
              <a:avLst/>
            </a:prstGeom>
            <a:noFill/>
            <a:ln w="15875" cap="rnd">
              <a:solidFill>
                <a:srgbClr val="33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69" name="Freeform 82">
              <a:extLst>
                <a:ext uri="{FF2B5EF4-FFF2-40B4-BE49-F238E27FC236}">
                  <a16:creationId xmlns:a16="http://schemas.microsoft.com/office/drawing/2014/main" id="{076A5002-5F26-3240-89A8-B2A52A1D9EF1}"/>
                </a:ext>
              </a:extLst>
            </p:cNvPr>
            <p:cNvSpPr>
              <a:spLocks/>
            </p:cNvSpPr>
            <p:nvPr/>
          </p:nvSpPr>
          <p:spPr bwMode="auto">
            <a:xfrm>
              <a:off x="4498" y="2623"/>
              <a:ext cx="62"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3"/>
                    <a:pt x="26" y="52"/>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70" name="Line 83">
              <a:extLst>
                <a:ext uri="{FF2B5EF4-FFF2-40B4-BE49-F238E27FC236}">
                  <a16:creationId xmlns:a16="http://schemas.microsoft.com/office/drawing/2014/main" id="{4AB19FA2-BD3D-1F41-B996-FE9CBD140F44}"/>
                </a:ext>
              </a:extLst>
            </p:cNvPr>
            <p:cNvSpPr>
              <a:spLocks noChangeShapeType="1"/>
            </p:cNvSpPr>
            <p:nvPr/>
          </p:nvSpPr>
          <p:spPr bwMode="auto">
            <a:xfrm>
              <a:off x="4447" y="2895"/>
              <a:ext cx="63" cy="0"/>
            </a:xfrm>
            <a:prstGeom prst="line">
              <a:avLst/>
            </a:prstGeom>
            <a:noFill/>
            <a:ln w="15875" cap="rnd">
              <a:solidFill>
                <a:srgbClr val="33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71" name="Freeform 84">
              <a:extLst>
                <a:ext uri="{FF2B5EF4-FFF2-40B4-BE49-F238E27FC236}">
                  <a16:creationId xmlns:a16="http://schemas.microsoft.com/office/drawing/2014/main" id="{21427A8E-2126-2644-A439-4FB3207A8343}"/>
                </a:ext>
              </a:extLst>
            </p:cNvPr>
            <p:cNvSpPr>
              <a:spLocks/>
            </p:cNvSpPr>
            <p:nvPr/>
          </p:nvSpPr>
          <p:spPr bwMode="auto">
            <a:xfrm>
              <a:off x="4495" y="2864"/>
              <a:ext cx="62"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5" y="113"/>
                    <a:pt x="25" y="52"/>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72" name="Line 85">
              <a:extLst>
                <a:ext uri="{FF2B5EF4-FFF2-40B4-BE49-F238E27FC236}">
                  <a16:creationId xmlns:a16="http://schemas.microsoft.com/office/drawing/2014/main" id="{12C6E777-F395-A140-8270-8B308DE36E4B}"/>
                </a:ext>
              </a:extLst>
            </p:cNvPr>
            <p:cNvSpPr>
              <a:spLocks noChangeShapeType="1"/>
            </p:cNvSpPr>
            <p:nvPr/>
          </p:nvSpPr>
          <p:spPr bwMode="auto">
            <a:xfrm>
              <a:off x="4447" y="2741"/>
              <a:ext cx="63" cy="0"/>
            </a:xfrm>
            <a:prstGeom prst="line">
              <a:avLst/>
            </a:prstGeom>
            <a:noFill/>
            <a:ln w="15875" cap="rnd">
              <a:solidFill>
                <a:srgbClr val="33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73" name="Freeform 86">
              <a:extLst>
                <a:ext uri="{FF2B5EF4-FFF2-40B4-BE49-F238E27FC236}">
                  <a16:creationId xmlns:a16="http://schemas.microsoft.com/office/drawing/2014/main" id="{846D444E-A98D-FD46-8E55-FB3E7726CFDF}"/>
                </a:ext>
              </a:extLst>
            </p:cNvPr>
            <p:cNvSpPr>
              <a:spLocks/>
            </p:cNvSpPr>
            <p:nvPr/>
          </p:nvSpPr>
          <p:spPr bwMode="auto">
            <a:xfrm>
              <a:off x="4495" y="2710"/>
              <a:ext cx="62"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5" y="112"/>
                    <a:pt x="25" y="52"/>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74" name="Line 87">
              <a:extLst>
                <a:ext uri="{FF2B5EF4-FFF2-40B4-BE49-F238E27FC236}">
                  <a16:creationId xmlns:a16="http://schemas.microsoft.com/office/drawing/2014/main" id="{7E836473-366E-654B-A99E-BCD839F7E6EF}"/>
                </a:ext>
              </a:extLst>
            </p:cNvPr>
            <p:cNvSpPr>
              <a:spLocks noChangeShapeType="1"/>
            </p:cNvSpPr>
            <p:nvPr/>
          </p:nvSpPr>
          <p:spPr bwMode="auto">
            <a:xfrm>
              <a:off x="4447" y="2818"/>
              <a:ext cx="63" cy="0"/>
            </a:xfrm>
            <a:prstGeom prst="line">
              <a:avLst/>
            </a:prstGeom>
            <a:noFill/>
            <a:ln w="15875" cap="rnd">
              <a:solidFill>
                <a:srgbClr val="33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75" name="Freeform 88">
              <a:extLst>
                <a:ext uri="{FF2B5EF4-FFF2-40B4-BE49-F238E27FC236}">
                  <a16:creationId xmlns:a16="http://schemas.microsoft.com/office/drawing/2014/main" id="{7C710670-8753-1745-B455-57442350DDDA}"/>
                </a:ext>
              </a:extLst>
            </p:cNvPr>
            <p:cNvSpPr>
              <a:spLocks/>
            </p:cNvSpPr>
            <p:nvPr/>
          </p:nvSpPr>
          <p:spPr bwMode="auto">
            <a:xfrm>
              <a:off x="4495" y="2787"/>
              <a:ext cx="62"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5" y="112"/>
                    <a:pt x="25" y="52"/>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9" name="Group 601">
            <a:extLst>
              <a:ext uri="{FF2B5EF4-FFF2-40B4-BE49-F238E27FC236}">
                <a16:creationId xmlns:a16="http://schemas.microsoft.com/office/drawing/2014/main" id="{50096118-C643-E941-97E8-AAA78F73AFF7}"/>
              </a:ext>
            </a:extLst>
          </p:cNvPr>
          <p:cNvGrpSpPr>
            <a:grpSpLocks/>
          </p:cNvGrpSpPr>
          <p:nvPr/>
        </p:nvGrpSpPr>
        <p:grpSpPr bwMode="auto">
          <a:xfrm>
            <a:off x="7367588" y="3937000"/>
            <a:ext cx="277812" cy="760413"/>
            <a:chOff x="4641" y="2480"/>
            <a:chExt cx="175" cy="479"/>
          </a:xfrm>
        </p:grpSpPr>
        <p:sp>
          <p:nvSpPr>
            <p:cNvPr id="80156" name="Rectangle 89">
              <a:extLst>
                <a:ext uri="{FF2B5EF4-FFF2-40B4-BE49-F238E27FC236}">
                  <a16:creationId xmlns:a16="http://schemas.microsoft.com/office/drawing/2014/main" id="{767DD3F6-DA08-5847-996C-ECD0B6B607A4}"/>
                </a:ext>
              </a:extLst>
            </p:cNvPr>
            <p:cNvSpPr>
              <a:spLocks noChangeArrowheads="1"/>
            </p:cNvSpPr>
            <p:nvPr/>
          </p:nvSpPr>
          <p:spPr bwMode="auto">
            <a:xfrm>
              <a:off x="4641" y="2603"/>
              <a:ext cx="175" cy="356"/>
            </a:xfrm>
            <a:prstGeom prst="rect">
              <a:avLst/>
            </a:prstGeom>
            <a:solidFill>
              <a:srgbClr val="FFCCCC"/>
            </a:solidFill>
            <a:ln w="19050">
              <a:solidFill>
                <a:schemeClr val="tx1"/>
              </a:solidFill>
              <a:prstDash val="lgDash"/>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57" name="Rectangle 91">
              <a:extLst>
                <a:ext uri="{FF2B5EF4-FFF2-40B4-BE49-F238E27FC236}">
                  <a16:creationId xmlns:a16="http://schemas.microsoft.com/office/drawing/2014/main" id="{9AA8B347-BA6B-D24D-B493-E9B7503584FB}"/>
                </a:ext>
              </a:extLst>
            </p:cNvPr>
            <p:cNvSpPr>
              <a:spLocks noChangeArrowheads="1"/>
            </p:cNvSpPr>
            <p:nvPr/>
          </p:nvSpPr>
          <p:spPr bwMode="auto">
            <a:xfrm>
              <a:off x="4693" y="2480"/>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58" name="Line 92">
              <a:extLst>
                <a:ext uri="{FF2B5EF4-FFF2-40B4-BE49-F238E27FC236}">
                  <a16:creationId xmlns:a16="http://schemas.microsoft.com/office/drawing/2014/main" id="{10EDFEC5-9B1A-BB43-A884-2087E7874E4B}"/>
                </a:ext>
              </a:extLst>
            </p:cNvPr>
            <p:cNvSpPr>
              <a:spLocks noChangeShapeType="1"/>
            </p:cNvSpPr>
            <p:nvPr/>
          </p:nvSpPr>
          <p:spPr bwMode="auto">
            <a:xfrm>
              <a:off x="4685" y="2654"/>
              <a:ext cx="62"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59" name="Freeform 93">
              <a:extLst>
                <a:ext uri="{FF2B5EF4-FFF2-40B4-BE49-F238E27FC236}">
                  <a16:creationId xmlns:a16="http://schemas.microsoft.com/office/drawing/2014/main" id="{17ED5058-15D0-734C-BB21-ED3028D3337B}"/>
                </a:ext>
              </a:extLst>
            </p:cNvPr>
            <p:cNvSpPr>
              <a:spLocks/>
            </p:cNvSpPr>
            <p:nvPr/>
          </p:nvSpPr>
          <p:spPr bwMode="auto">
            <a:xfrm>
              <a:off x="4732" y="2623"/>
              <a:ext cx="62"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3"/>
                    <a:pt x="26" y="52"/>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60" name="Line 94">
              <a:extLst>
                <a:ext uri="{FF2B5EF4-FFF2-40B4-BE49-F238E27FC236}">
                  <a16:creationId xmlns:a16="http://schemas.microsoft.com/office/drawing/2014/main" id="{A89821F8-EF26-5E4C-8445-D86968E96BE8}"/>
                </a:ext>
              </a:extLst>
            </p:cNvPr>
            <p:cNvSpPr>
              <a:spLocks noChangeShapeType="1"/>
            </p:cNvSpPr>
            <p:nvPr/>
          </p:nvSpPr>
          <p:spPr bwMode="auto">
            <a:xfrm>
              <a:off x="4681" y="2895"/>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61" name="Freeform 95">
              <a:extLst>
                <a:ext uri="{FF2B5EF4-FFF2-40B4-BE49-F238E27FC236}">
                  <a16:creationId xmlns:a16="http://schemas.microsoft.com/office/drawing/2014/main" id="{03E2FFAD-3DE0-A341-A1D6-8758247DE3BB}"/>
                </a:ext>
              </a:extLst>
            </p:cNvPr>
            <p:cNvSpPr>
              <a:spLocks/>
            </p:cNvSpPr>
            <p:nvPr/>
          </p:nvSpPr>
          <p:spPr bwMode="auto">
            <a:xfrm>
              <a:off x="4729" y="2864"/>
              <a:ext cx="62" cy="61"/>
            </a:xfrm>
            <a:custGeom>
              <a:avLst/>
              <a:gdLst>
                <a:gd name="T0" fmla="*/ 0 w 164"/>
                <a:gd name="T1" fmla="*/ 0 h 164"/>
                <a:gd name="T2" fmla="*/ 0 w 164"/>
                <a:gd name="T3" fmla="*/ 0 h 164"/>
                <a:gd name="T4" fmla="*/ 0 w 164"/>
                <a:gd name="T5" fmla="*/ 0 h 164"/>
                <a:gd name="T6" fmla="*/ 0 w 164"/>
                <a:gd name="T7" fmla="*/ 0 h 164"/>
                <a:gd name="T8" fmla="*/ 0 60000 65536"/>
                <a:gd name="T9" fmla="*/ 0 60000 65536"/>
                <a:gd name="T10" fmla="*/ 0 60000 65536"/>
                <a:gd name="T11" fmla="*/ 0 60000 65536"/>
                <a:gd name="T12" fmla="*/ 0 w 164"/>
                <a:gd name="T13" fmla="*/ 0 h 164"/>
                <a:gd name="T14" fmla="*/ 164 w 164"/>
                <a:gd name="T15" fmla="*/ 164 h 164"/>
              </a:gdLst>
              <a:ahLst/>
              <a:cxnLst>
                <a:cxn ang="T8">
                  <a:pos x="T0" y="T1"/>
                </a:cxn>
                <a:cxn ang="T9">
                  <a:pos x="T2" y="T3"/>
                </a:cxn>
                <a:cxn ang="T10">
                  <a:pos x="T4" y="T5"/>
                </a:cxn>
                <a:cxn ang="T11">
                  <a:pos x="T6" y="T7"/>
                </a:cxn>
              </a:cxnLst>
              <a:rect l="T12" t="T13" r="T14" b="T15"/>
              <a:pathLst>
                <a:path w="164" h="164">
                  <a:moveTo>
                    <a:pt x="164" y="82"/>
                  </a:moveTo>
                  <a:lnTo>
                    <a:pt x="0" y="164"/>
                  </a:lnTo>
                  <a:cubicBezTo>
                    <a:pt x="26" y="113"/>
                    <a:pt x="26" y="52"/>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62" name="Line 96">
              <a:extLst>
                <a:ext uri="{FF2B5EF4-FFF2-40B4-BE49-F238E27FC236}">
                  <a16:creationId xmlns:a16="http://schemas.microsoft.com/office/drawing/2014/main" id="{8DFD1D4C-E80B-BF43-B477-9B4E7342338C}"/>
                </a:ext>
              </a:extLst>
            </p:cNvPr>
            <p:cNvSpPr>
              <a:spLocks noChangeShapeType="1"/>
            </p:cNvSpPr>
            <p:nvPr/>
          </p:nvSpPr>
          <p:spPr bwMode="auto">
            <a:xfrm>
              <a:off x="4681" y="2741"/>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63" name="Freeform 97">
              <a:extLst>
                <a:ext uri="{FF2B5EF4-FFF2-40B4-BE49-F238E27FC236}">
                  <a16:creationId xmlns:a16="http://schemas.microsoft.com/office/drawing/2014/main" id="{27CDA86E-D7AA-0E49-87AC-383459921DF9}"/>
                </a:ext>
              </a:extLst>
            </p:cNvPr>
            <p:cNvSpPr>
              <a:spLocks/>
            </p:cNvSpPr>
            <p:nvPr/>
          </p:nvSpPr>
          <p:spPr bwMode="auto">
            <a:xfrm>
              <a:off x="4729" y="2710"/>
              <a:ext cx="62"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2"/>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64" name="Line 98">
              <a:extLst>
                <a:ext uri="{FF2B5EF4-FFF2-40B4-BE49-F238E27FC236}">
                  <a16:creationId xmlns:a16="http://schemas.microsoft.com/office/drawing/2014/main" id="{BCED7170-D66E-B446-920F-0B1C7D4834DA}"/>
                </a:ext>
              </a:extLst>
            </p:cNvPr>
            <p:cNvSpPr>
              <a:spLocks noChangeShapeType="1"/>
            </p:cNvSpPr>
            <p:nvPr/>
          </p:nvSpPr>
          <p:spPr bwMode="auto">
            <a:xfrm>
              <a:off x="4681" y="2818"/>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65" name="Freeform 99">
              <a:extLst>
                <a:ext uri="{FF2B5EF4-FFF2-40B4-BE49-F238E27FC236}">
                  <a16:creationId xmlns:a16="http://schemas.microsoft.com/office/drawing/2014/main" id="{66FFEAB5-A35F-AE47-8285-3EE6D095A551}"/>
                </a:ext>
              </a:extLst>
            </p:cNvPr>
            <p:cNvSpPr>
              <a:spLocks/>
            </p:cNvSpPr>
            <p:nvPr/>
          </p:nvSpPr>
          <p:spPr bwMode="auto">
            <a:xfrm>
              <a:off x="4729" y="2787"/>
              <a:ext cx="62"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2"/>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0" name="Group 590">
            <a:extLst>
              <a:ext uri="{FF2B5EF4-FFF2-40B4-BE49-F238E27FC236}">
                <a16:creationId xmlns:a16="http://schemas.microsoft.com/office/drawing/2014/main" id="{DBD4F8D1-4CFF-E047-B98D-24F8B16913AD}"/>
              </a:ext>
            </a:extLst>
          </p:cNvPr>
          <p:cNvGrpSpPr>
            <a:grpSpLocks/>
          </p:cNvGrpSpPr>
          <p:nvPr/>
        </p:nvGrpSpPr>
        <p:grpSpPr bwMode="auto">
          <a:xfrm>
            <a:off x="3278188" y="3937000"/>
            <a:ext cx="277812" cy="760413"/>
            <a:chOff x="2065" y="2480"/>
            <a:chExt cx="175" cy="479"/>
          </a:xfrm>
        </p:grpSpPr>
        <p:sp>
          <p:nvSpPr>
            <p:cNvPr id="80152" name="Rectangle 100">
              <a:extLst>
                <a:ext uri="{FF2B5EF4-FFF2-40B4-BE49-F238E27FC236}">
                  <a16:creationId xmlns:a16="http://schemas.microsoft.com/office/drawing/2014/main" id="{6646CE7D-3A7E-8A48-BC7D-649CB873AD75}"/>
                </a:ext>
              </a:extLst>
            </p:cNvPr>
            <p:cNvSpPr>
              <a:spLocks noChangeArrowheads="1"/>
            </p:cNvSpPr>
            <p:nvPr/>
          </p:nvSpPr>
          <p:spPr bwMode="auto">
            <a:xfrm>
              <a:off x="2065" y="2603"/>
              <a:ext cx="175" cy="356"/>
            </a:xfrm>
            <a:prstGeom prst="rect">
              <a:avLst/>
            </a:prstGeom>
            <a:solidFill>
              <a:srgbClr val="CCFFFF"/>
            </a:solidFill>
            <a:ln w="19050">
              <a:solidFill>
                <a:schemeClr val="tx1"/>
              </a:solidFill>
              <a:prstDash val="lgDash"/>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53" name="Rectangle 102">
              <a:extLst>
                <a:ext uri="{FF2B5EF4-FFF2-40B4-BE49-F238E27FC236}">
                  <a16:creationId xmlns:a16="http://schemas.microsoft.com/office/drawing/2014/main" id="{665108D3-18E3-8F4E-9BD0-0EACC72AEB99}"/>
                </a:ext>
              </a:extLst>
            </p:cNvPr>
            <p:cNvSpPr>
              <a:spLocks noChangeArrowheads="1"/>
            </p:cNvSpPr>
            <p:nvPr/>
          </p:nvSpPr>
          <p:spPr bwMode="auto">
            <a:xfrm>
              <a:off x="2113" y="2480"/>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C</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54" name="Line 103">
              <a:extLst>
                <a:ext uri="{FF2B5EF4-FFF2-40B4-BE49-F238E27FC236}">
                  <a16:creationId xmlns:a16="http://schemas.microsoft.com/office/drawing/2014/main" id="{84BA1EE5-BB83-FC42-8010-2364C9644B40}"/>
                </a:ext>
              </a:extLst>
            </p:cNvPr>
            <p:cNvSpPr>
              <a:spLocks noChangeShapeType="1"/>
            </p:cNvSpPr>
            <p:nvPr/>
          </p:nvSpPr>
          <p:spPr bwMode="auto">
            <a:xfrm>
              <a:off x="2109" y="2654"/>
              <a:ext cx="63" cy="0"/>
            </a:xfrm>
            <a:prstGeom prst="line">
              <a:avLst/>
            </a:prstGeom>
            <a:noFill/>
            <a:ln w="15875" cap="rnd">
              <a:solidFill>
                <a:srgbClr val="00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55" name="Freeform 104">
              <a:extLst>
                <a:ext uri="{FF2B5EF4-FFF2-40B4-BE49-F238E27FC236}">
                  <a16:creationId xmlns:a16="http://schemas.microsoft.com/office/drawing/2014/main" id="{F4C8A73E-2E24-4B41-8113-5AE873949E25}"/>
                </a:ext>
              </a:extLst>
            </p:cNvPr>
            <p:cNvSpPr>
              <a:spLocks/>
            </p:cNvSpPr>
            <p:nvPr/>
          </p:nvSpPr>
          <p:spPr bwMode="auto">
            <a:xfrm>
              <a:off x="2157" y="2623"/>
              <a:ext cx="61"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3"/>
                    <a:pt x="26" y="52"/>
                    <a:pt x="0" y="0"/>
                  </a:cubicBezTo>
                  <a:lnTo>
                    <a:pt x="164" y="82"/>
                  </a:lnTo>
                  <a:close/>
                </a:path>
              </a:pathLst>
            </a:custGeom>
            <a:solidFill>
              <a:srgbClr val="00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1" name="Group 591">
            <a:extLst>
              <a:ext uri="{FF2B5EF4-FFF2-40B4-BE49-F238E27FC236}">
                <a16:creationId xmlns:a16="http://schemas.microsoft.com/office/drawing/2014/main" id="{04B0BBF3-72CB-FB48-92C0-47328D55BB58}"/>
              </a:ext>
            </a:extLst>
          </p:cNvPr>
          <p:cNvGrpSpPr>
            <a:grpSpLocks/>
          </p:cNvGrpSpPr>
          <p:nvPr/>
        </p:nvGrpSpPr>
        <p:grpSpPr bwMode="auto">
          <a:xfrm>
            <a:off x="3651250" y="3937000"/>
            <a:ext cx="277813" cy="760413"/>
            <a:chOff x="2300" y="2480"/>
            <a:chExt cx="175" cy="479"/>
          </a:xfrm>
        </p:grpSpPr>
        <p:sp>
          <p:nvSpPr>
            <p:cNvPr id="80148" name="Rectangle 111">
              <a:extLst>
                <a:ext uri="{FF2B5EF4-FFF2-40B4-BE49-F238E27FC236}">
                  <a16:creationId xmlns:a16="http://schemas.microsoft.com/office/drawing/2014/main" id="{4940328B-6AF0-2A4F-9781-2965688DDCB6}"/>
                </a:ext>
              </a:extLst>
            </p:cNvPr>
            <p:cNvSpPr>
              <a:spLocks noChangeArrowheads="1"/>
            </p:cNvSpPr>
            <p:nvPr/>
          </p:nvSpPr>
          <p:spPr bwMode="auto">
            <a:xfrm>
              <a:off x="2300" y="2603"/>
              <a:ext cx="175" cy="356"/>
            </a:xfrm>
            <a:prstGeom prst="rect">
              <a:avLst/>
            </a:prstGeom>
            <a:solidFill>
              <a:srgbClr val="FFCCCC"/>
            </a:solidFill>
            <a:ln w="19050">
              <a:solidFill>
                <a:schemeClr val="tx1"/>
              </a:solidFill>
              <a:prstDash val="lgDash"/>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49" name="Rectangle 113">
              <a:extLst>
                <a:ext uri="{FF2B5EF4-FFF2-40B4-BE49-F238E27FC236}">
                  <a16:creationId xmlns:a16="http://schemas.microsoft.com/office/drawing/2014/main" id="{82984234-471A-3443-BF37-EA9FBCF74C0D}"/>
                </a:ext>
              </a:extLst>
            </p:cNvPr>
            <p:cNvSpPr>
              <a:spLocks noChangeArrowheads="1"/>
            </p:cNvSpPr>
            <p:nvPr/>
          </p:nvSpPr>
          <p:spPr bwMode="auto">
            <a:xfrm>
              <a:off x="2347" y="2480"/>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C</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50" name="Line 120">
              <a:extLst>
                <a:ext uri="{FF2B5EF4-FFF2-40B4-BE49-F238E27FC236}">
                  <a16:creationId xmlns:a16="http://schemas.microsoft.com/office/drawing/2014/main" id="{D8D9DECE-4693-C245-B770-8A87216DD9AD}"/>
                </a:ext>
              </a:extLst>
            </p:cNvPr>
            <p:cNvSpPr>
              <a:spLocks noChangeShapeType="1"/>
            </p:cNvSpPr>
            <p:nvPr/>
          </p:nvSpPr>
          <p:spPr bwMode="auto">
            <a:xfrm>
              <a:off x="2340" y="2818"/>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51" name="Freeform 121">
              <a:extLst>
                <a:ext uri="{FF2B5EF4-FFF2-40B4-BE49-F238E27FC236}">
                  <a16:creationId xmlns:a16="http://schemas.microsoft.com/office/drawing/2014/main" id="{BE00AC47-2FDC-9543-A6A4-F7447A0BDEC6}"/>
                </a:ext>
              </a:extLst>
            </p:cNvPr>
            <p:cNvSpPr>
              <a:spLocks/>
            </p:cNvSpPr>
            <p:nvPr/>
          </p:nvSpPr>
          <p:spPr bwMode="auto">
            <a:xfrm>
              <a:off x="2388" y="2787"/>
              <a:ext cx="61"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2"/>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2" name="Group 592">
            <a:extLst>
              <a:ext uri="{FF2B5EF4-FFF2-40B4-BE49-F238E27FC236}">
                <a16:creationId xmlns:a16="http://schemas.microsoft.com/office/drawing/2014/main" id="{0E21151B-7C69-824C-A03A-2ABA2DA140CB}"/>
              </a:ext>
            </a:extLst>
          </p:cNvPr>
          <p:cNvGrpSpPr>
            <a:grpSpLocks/>
          </p:cNvGrpSpPr>
          <p:nvPr/>
        </p:nvGrpSpPr>
        <p:grpSpPr bwMode="auto">
          <a:xfrm>
            <a:off x="4022725" y="3937000"/>
            <a:ext cx="277813" cy="760413"/>
            <a:chOff x="2534" y="2480"/>
            <a:chExt cx="175" cy="479"/>
          </a:xfrm>
        </p:grpSpPr>
        <p:sp>
          <p:nvSpPr>
            <p:cNvPr id="80142" name="Rectangle 122">
              <a:extLst>
                <a:ext uri="{FF2B5EF4-FFF2-40B4-BE49-F238E27FC236}">
                  <a16:creationId xmlns:a16="http://schemas.microsoft.com/office/drawing/2014/main" id="{EA42C2B5-75D7-9145-B268-CDA7E4E115A7}"/>
                </a:ext>
              </a:extLst>
            </p:cNvPr>
            <p:cNvSpPr>
              <a:spLocks noChangeArrowheads="1"/>
            </p:cNvSpPr>
            <p:nvPr/>
          </p:nvSpPr>
          <p:spPr bwMode="auto">
            <a:xfrm>
              <a:off x="2534" y="2603"/>
              <a:ext cx="175" cy="356"/>
            </a:xfrm>
            <a:prstGeom prst="rect">
              <a:avLst/>
            </a:prstGeom>
            <a:solidFill>
              <a:srgbClr val="CCFFFF"/>
            </a:solidFill>
            <a:ln w="19050">
              <a:solidFill>
                <a:schemeClr val="tx1"/>
              </a:solidFill>
              <a:prstDash val="lgDash"/>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43" name="Rectangle 124">
              <a:extLst>
                <a:ext uri="{FF2B5EF4-FFF2-40B4-BE49-F238E27FC236}">
                  <a16:creationId xmlns:a16="http://schemas.microsoft.com/office/drawing/2014/main" id="{E1EB2D60-BBFA-794D-84CD-08ED295F1412}"/>
                </a:ext>
              </a:extLst>
            </p:cNvPr>
            <p:cNvSpPr>
              <a:spLocks noChangeArrowheads="1"/>
            </p:cNvSpPr>
            <p:nvPr/>
          </p:nvSpPr>
          <p:spPr bwMode="auto">
            <a:xfrm>
              <a:off x="2581" y="2480"/>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44" name="Line 129">
              <a:extLst>
                <a:ext uri="{FF2B5EF4-FFF2-40B4-BE49-F238E27FC236}">
                  <a16:creationId xmlns:a16="http://schemas.microsoft.com/office/drawing/2014/main" id="{983EC1E3-D630-0F4C-B065-A072F7CFCAE1}"/>
                </a:ext>
              </a:extLst>
            </p:cNvPr>
            <p:cNvSpPr>
              <a:spLocks noChangeShapeType="1"/>
            </p:cNvSpPr>
            <p:nvPr/>
          </p:nvSpPr>
          <p:spPr bwMode="auto">
            <a:xfrm>
              <a:off x="2574" y="2741"/>
              <a:ext cx="63" cy="0"/>
            </a:xfrm>
            <a:prstGeom prst="line">
              <a:avLst/>
            </a:prstGeom>
            <a:noFill/>
            <a:ln w="15875" cap="rnd">
              <a:solidFill>
                <a:srgbClr val="00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45" name="Freeform 130">
              <a:extLst>
                <a:ext uri="{FF2B5EF4-FFF2-40B4-BE49-F238E27FC236}">
                  <a16:creationId xmlns:a16="http://schemas.microsoft.com/office/drawing/2014/main" id="{DE2343D5-FC44-F94E-8892-31260212E627}"/>
                </a:ext>
              </a:extLst>
            </p:cNvPr>
            <p:cNvSpPr>
              <a:spLocks/>
            </p:cNvSpPr>
            <p:nvPr/>
          </p:nvSpPr>
          <p:spPr bwMode="auto">
            <a:xfrm>
              <a:off x="2622" y="2710"/>
              <a:ext cx="61" cy="62"/>
            </a:xfrm>
            <a:custGeom>
              <a:avLst/>
              <a:gdLst>
                <a:gd name="T0" fmla="*/ 0 w 163"/>
                <a:gd name="T1" fmla="*/ 0 h 164"/>
                <a:gd name="T2" fmla="*/ 0 w 163"/>
                <a:gd name="T3" fmla="*/ 0 h 164"/>
                <a:gd name="T4" fmla="*/ 0 w 163"/>
                <a:gd name="T5" fmla="*/ 0 h 164"/>
                <a:gd name="T6" fmla="*/ 0 w 163"/>
                <a:gd name="T7" fmla="*/ 0 h 164"/>
                <a:gd name="T8" fmla="*/ 0 w 163"/>
                <a:gd name="T9" fmla="*/ 0 h 164"/>
                <a:gd name="T10" fmla="*/ 0 60000 65536"/>
                <a:gd name="T11" fmla="*/ 0 60000 65536"/>
                <a:gd name="T12" fmla="*/ 0 60000 65536"/>
                <a:gd name="T13" fmla="*/ 0 60000 65536"/>
                <a:gd name="T14" fmla="*/ 0 60000 65536"/>
                <a:gd name="T15" fmla="*/ 0 w 163"/>
                <a:gd name="T16" fmla="*/ 0 h 164"/>
                <a:gd name="T17" fmla="*/ 163 w 163"/>
                <a:gd name="T18" fmla="*/ 164 h 164"/>
              </a:gdLst>
              <a:ahLst/>
              <a:cxnLst>
                <a:cxn ang="T10">
                  <a:pos x="T0" y="T1"/>
                </a:cxn>
                <a:cxn ang="T11">
                  <a:pos x="T2" y="T3"/>
                </a:cxn>
                <a:cxn ang="T12">
                  <a:pos x="T4" y="T5"/>
                </a:cxn>
                <a:cxn ang="T13">
                  <a:pos x="T6" y="T7"/>
                </a:cxn>
                <a:cxn ang="T14">
                  <a:pos x="T8" y="T9"/>
                </a:cxn>
              </a:cxnLst>
              <a:rect l="T15" t="T16" r="T17" b="T18"/>
              <a:pathLst>
                <a:path w="163" h="164">
                  <a:moveTo>
                    <a:pt x="163" y="82"/>
                  </a:moveTo>
                  <a:lnTo>
                    <a:pt x="0" y="164"/>
                  </a:lnTo>
                  <a:cubicBezTo>
                    <a:pt x="25" y="112"/>
                    <a:pt x="25" y="52"/>
                    <a:pt x="0" y="0"/>
                  </a:cubicBezTo>
                  <a:lnTo>
                    <a:pt x="163" y="82"/>
                  </a:lnTo>
                  <a:close/>
                </a:path>
              </a:pathLst>
            </a:custGeom>
            <a:solidFill>
              <a:srgbClr val="00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46" name="Line 131">
              <a:extLst>
                <a:ext uri="{FF2B5EF4-FFF2-40B4-BE49-F238E27FC236}">
                  <a16:creationId xmlns:a16="http://schemas.microsoft.com/office/drawing/2014/main" id="{44CF1992-9357-5747-9405-153BFBC14077}"/>
                </a:ext>
              </a:extLst>
            </p:cNvPr>
            <p:cNvSpPr>
              <a:spLocks noChangeShapeType="1"/>
            </p:cNvSpPr>
            <p:nvPr/>
          </p:nvSpPr>
          <p:spPr bwMode="auto">
            <a:xfrm>
              <a:off x="2574" y="2818"/>
              <a:ext cx="63" cy="0"/>
            </a:xfrm>
            <a:prstGeom prst="line">
              <a:avLst/>
            </a:prstGeom>
            <a:noFill/>
            <a:ln w="15875" cap="rnd">
              <a:solidFill>
                <a:srgbClr val="00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47" name="Freeform 132">
              <a:extLst>
                <a:ext uri="{FF2B5EF4-FFF2-40B4-BE49-F238E27FC236}">
                  <a16:creationId xmlns:a16="http://schemas.microsoft.com/office/drawing/2014/main" id="{78900B29-97F7-304F-897E-43E0AD606EDA}"/>
                </a:ext>
              </a:extLst>
            </p:cNvPr>
            <p:cNvSpPr>
              <a:spLocks/>
            </p:cNvSpPr>
            <p:nvPr/>
          </p:nvSpPr>
          <p:spPr bwMode="auto">
            <a:xfrm>
              <a:off x="2622" y="2787"/>
              <a:ext cx="61" cy="61"/>
            </a:xfrm>
            <a:custGeom>
              <a:avLst/>
              <a:gdLst>
                <a:gd name="T0" fmla="*/ 0 w 163"/>
                <a:gd name="T1" fmla="*/ 0 h 164"/>
                <a:gd name="T2" fmla="*/ 0 w 163"/>
                <a:gd name="T3" fmla="*/ 0 h 164"/>
                <a:gd name="T4" fmla="*/ 0 w 163"/>
                <a:gd name="T5" fmla="*/ 0 h 164"/>
                <a:gd name="T6" fmla="*/ 0 w 163"/>
                <a:gd name="T7" fmla="*/ 0 h 164"/>
                <a:gd name="T8" fmla="*/ 0 w 163"/>
                <a:gd name="T9" fmla="*/ 0 h 164"/>
                <a:gd name="T10" fmla="*/ 0 60000 65536"/>
                <a:gd name="T11" fmla="*/ 0 60000 65536"/>
                <a:gd name="T12" fmla="*/ 0 60000 65536"/>
                <a:gd name="T13" fmla="*/ 0 60000 65536"/>
                <a:gd name="T14" fmla="*/ 0 60000 65536"/>
                <a:gd name="T15" fmla="*/ 0 w 163"/>
                <a:gd name="T16" fmla="*/ 0 h 164"/>
                <a:gd name="T17" fmla="*/ 163 w 163"/>
                <a:gd name="T18" fmla="*/ 164 h 164"/>
              </a:gdLst>
              <a:ahLst/>
              <a:cxnLst>
                <a:cxn ang="T10">
                  <a:pos x="T0" y="T1"/>
                </a:cxn>
                <a:cxn ang="T11">
                  <a:pos x="T2" y="T3"/>
                </a:cxn>
                <a:cxn ang="T12">
                  <a:pos x="T4" y="T5"/>
                </a:cxn>
                <a:cxn ang="T13">
                  <a:pos x="T6" y="T7"/>
                </a:cxn>
                <a:cxn ang="T14">
                  <a:pos x="T8" y="T9"/>
                </a:cxn>
              </a:cxnLst>
              <a:rect l="T15" t="T16" r="T17" b="T18"/>
              <a:pathLst>
                <a:path w="163" h="164">
                  <a:moveTo>
                    <a:pt x="163" y="82"/>
                  </a:moveTo>
                  <a:lnTo>
                    <a:pt x="0" y="164"/>
                  </a:lnTo>
                  <a:cubicBezTo>
                    <a:pt x="25" y="112"/>
                    <a:pt x="25" y="52"/>
                    <a:pt x="0" y="0"/>
                  </a:cubicBezTo>
                  <a:lnTo>
                    <a:pt x="163" y="82"/>
                  </a:lnTo>
                  <a:close/>
                </a:path>
              </a:pathLst>
            </a:custGeom>
            <a:solidFill>
              <a:srgbClr val="00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3" name="Group 593">
            <a:extLst>
              <a:ext uri="{FF2B5EF4-FFF2-40B4-BE49-F238E27FC236}">
                <a16:creationId xmlns:a16="http://schemas.microsoft.com/office/drawing/2014/main" id="{2671735D-EF56-A946-906E-4E5BF82CBF4D}"/>
              </a:ext>
            </a:extLst>
          </p:cNvPr>
          <p:cNvGrpSpPr>
            <a:grpSpLocks/>
          </p:cNvGrpSpPr>
          <p:nvPr/>
        </p:nvGrpSpPr>
        <p:grpSpPr bwMode="auto">
          <a:xfrm>
            <a:off x="4394200" y="3937000"/>
            <a:ext cx="277813" cy="760413"/>
            <a:chOff x="2768" y="2480"/>
            <a:chExt cx="175" cy="479"/>
          </a:xfrm>
        </p:grpSpPr>
        <p:sp>
          <p:nvSpPr>
            <p:cNvPr id="80138" name="Rectangle 133">
              <a:extLst>
                <a:ext uri="{FF2B5EF4-FFF2-40B4-BE49-F238E27FC236}">
                  <a16:creationId xmlns:a16="http://schemas.microsoft.com/office/drawing/2014/main" id="{5807972E-90BE-D140-AE21-B5B40C135EF3}"/>
                </a:ext>
              </a:extLst>
            </p:cNvPr>
            <p:cNvSpPr>
              <a:spLocks noChangeArrowheads="1"/>
            </p:cNvSpPr>
            <p:nvPr/>
          </p:nvSpPr>
          <p:spPr bwMode="auto">
            <a:xfrm>
              <a:off x="2768" y="2603"/>
              <a:ext cx="175" cy="356"/>
            </a:xfrm>
            <a:prstGeom prst="rect">
              <a:avLst/>
            </a:prstGeom>
            <a:solidFill>
              <a:srgbClr val="FFCCCC"/>
            </a:solidFill>
            <a:ln w="19050">
              <a:solidFill>
                <a:schemeClr val="tx1"/>
              </a:solidFill>
              <a:prstDash val="lgDash"/>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39" name="Rectangle 135">
              <a:extLst>
                <a:ext uri="{FF2B5EF4-FFF2-40B4-BE49-F238E27FC236}">
                  <a16:creationId xmlns:a16="http://schemas.microsoft.com/office/drawing/2014/main" id="{B35E09A1-AD06-4E47-9D24-59706FB93878}"/>
                </a:ext>
              </a:extLst>
            </p:cNvPr>
            <p:cNvSpPr>
              <a:spLocks noChangeArrowheads="1"/>
            </p:cNvSpPr>
            <p:nvPr/>
          </p:nvSpPr>
          <p:spPr bwMode="auto">
            <a:xfrm>
              <a:off x="2815" y="2480"/>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40" name="Line 138">
              <a:extLst>
                <a:ext uri="{FF2B5EF4-FFF2-40B4-BE49-F238E27FC236}">
                  <a16:creationId xmlns:a16="http://schemas.microsoft.com/office/drawing/2014/main" id="{4C136ABF-3A21-B64C-892E-F3E0FD1E1F44}"/>
                </a:ext>
              </a:extLst>
            </p:cNvPr>
            <p:cNvSpPr>
              <a:spLocks noChangeShapeType="1"/>
            </p:cNvSpPr>
            <p:nvPr/>
          </p:nvSpPr>
          <p:spPr bwMode="auto">
            <a:xfrm>
              <a:off x="2808" y="2895"/>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41" name="Freeform 139">
              <a:extLst>
                <a:ext uri="{FF2B5EF4-FFF2-40B4-BE49-F238E27FC236}">
                  <a16:creationId xmlns:a16="http://schemas.microsoft.com/office/drawing/2014/main" id="{B82B4991-ECE5-1A4A-BCE0-CDA3C9485B4E}"/>
                </a:ext>
              </a:extLst>
            </p:cNvPr>
            <p:cNvSpPr>
              <a:spLocks/>
            </p:cNvSpPr>
            <p:nvPr/>
          </p:nvSpPr>
          <p:spPr bwMode="auto">
            <a:xfrm>
              <a:off x="2856" y="2864"/>
              <a:ext cx="61"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3"/>
                    <a:pt x="26" y="52"/>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4" name="Group 594">
            <a:extLst>
              <a:ext uri="{FF2B5EF4-FFF2-40B4-BE49-F238E27FC236}">
                <a16:creationId xmlns:a16="http://schemas.microsoft.com/office/drawing/2014/main" id="{29A7F0CE-D490-264D-B11E-986ED1A4BA23}"/>
              </a:ext>
            </a:extLst>
          </p:cNvPr>
          <p:cNvGrpSpPr>
            <a:grpSpLocks/>
          </p:cNvGrpSpPr>
          <p:nvPr/>
        </p:nvGrpSpPr>
        <p:grpSpPr bwMode="auto">
          <a:xfrm>
            <a:off x="4765675" y="3937000"/>
            <a:ext cx="277813" cy="760413"/>
            <a:chOff x="3002" y="2480"/>
            <a:chExt cx="175" cy="479"/>
          </a:xfrm>
        </p:grpSpPr>
        <p:sp>
          <p:nvSpPr>
            <p:cNvPr id="80130" name="Rectangle 144">
              <a:extLst>
                <a:ext uri="{FF2B5EF4-FFF2-40B4-BE49-F238E27FC236}">
                  <a16:creationId xmlns:a16="http://schemas.microsoft.com/office/drawing/2014/main" id="{BFB61B31-1A38-6A4D-A42E-412B1EC9298D}"/>
                </a:ext>
              </a:extLst>
            </p:cNvPr>
            <p:cNvSpPr>
              <a:spLocks noChangeArrowheads="1"/>
            </p:cNvSpPr>
            <p:nvPr/>
          </p:nvSpPr>
          <p:spPr bwMode="auto">
            <a:xfrm>
              <a:off x="3002" y="2603"/>
              <a:ext cx="175" cy="356"/>
            </a:xfrm>
            <a:prstGeom prst="rect">
              <a:avLst/>
            </a:prstGeom>
            <a:solidFill>
              <a:srgbClr val="CCFFFF"/>
            </a:solidFill>
            <a:ln w="19050">
              <a:solidFill>
                <a:schemeClr val="tx1"/>
              </a:solidFill>
              <a:prstDash val="lgDash"/>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31" name="Rectangle 146">
              <a:extLst>
                <a:ext uri="{FF2B5EF4-FFF2-40B4-BE49-F238E27FC236}">
                  <a16:creationId xmlns:a16="http://schemas.microsoft.com/office/drawing/2014/main" id="{20760722-65AE-E543-8483-9F86DAAA7179}"/>
                </a:ext>
              </a:extLst>
            </p:cNvPr>
            <p:cNvSpPr>
              <a:spLocks noChangeArrowheads="1"/>
            </p:cNvSpPr>
            <p:nvPr/>
          </p:nvSpPr>
          <p:spPr bwMode="auto">
            <a:xfrm>
              <a:off x="3049" y="2480"/>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32" name="Line 147">
              <a:extLst>
                <a:ext uri="{FF2B5EF4-FFF2-40B4-BE49-F238E27FC236}">
                  <a16:creationId xmlns:a16="http://schemas.microsoft.com/office/drawing/2014/main" id="{CA3CD505-900E-4844-9D2B-5DA1CDAB2DF7}"/>
                </a:ext>
              </a:extLst>
            </p:cNvPr>
            <p:cNvSpPr>
              <a:spLocks noChangeShapeType="1"/>
            </p:cNvSpPr>
            <p:nvPr/>
          </p:nvSpPr>
          <p:spPr bwMode="auto">
            <a:xfrm>
              <a:off x="3046" y="2654"/>
              <a:ext cx="63" cy="0"/>
            </a:xfrm>
            <a:prstGeom prst="line">
              <a:avLst/>
            </a:prstGeom>
            <a:noFill/>
            <a:ln w="15875" cap="rnd">
              <a:solidFill>
                <a:srgbClr val="33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33" name="Freeform 148">
              <a:extLst>
                <a:ext uri="{FF2B5EF4-FFF2-40B4-BE49-F238E27FC236}">
                  <a16:creationId xmlns:a16="http://schemas.microsoft.com/office/drawing/2014/main" id="{66EF692E-7544-E149-AE41-CFCC79B48B36}"/>
                </a:ext>
              </a:extLst>
            </p:cNvPr>
            <p:cNvSpPr>
              <a:spLocks/>
            </p:cNvSpPr>
            <p:nvPr/>
          </p:nvSpPr>
          <p:spPr bwMode="auto">
            <a:xfrm>
              <a:off x="3094" y="2623"/>
              <a:ext cx="61"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3"/>
                    <a:pt x="26" y="52"/>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34" name="Line 151">
              <a:extLst>
                <a:ext uri="{FF2B5EF4-FFF2-40B4-BE49-F238E27FC236}">
                  <a16:creationId xmlns:a16="http://schemas.microsoft.com/office/drawing/2014/main" id="{B9E858D3-C8A5-3D4B-BB25-CA3EE1FE22DB}"/>
                </a:ext>
              </a:extLst>
            </p:cNvPr>
            <p:cNvSpPr>
              <a:spLocks noChangeShapeType="1"/>
            </p:cNvSpPr>
            <p:nvPr/>
          </p:nvSpPr>
          <p:spPr bwMode="auto">
            <a:xfrm>
              <a:off x="3042" y="2741"/>
              <a:ext cx="63" cy="0"/>
            </a:xfrm>
            <a:prstGeom prst="line">
              <a:avLst/>
            </a:prstGeom>
            <a:noFill/>
            <a:ln w="15875" cap="rnd">
              <a:solidFill>
                <a:srgbClr val="33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35" name="Freeform 152">
              <a:extLst>
                <a:ext uri="{FF2B5EF4-FFF2-40B4-BE49-F238E27FC236}">
                  <a16:creationId xmlns:a16="http://schemas.microsoft.com/office/drawing/2014/main" id="{B2E0E703-788C-104B-9D6B-89F12464E4AF}"/>
                </a:ext>
              </a:extLst>
            </p:cNvPr>
            <p:cNvSpPr>
              <a:spLocks/>
            </p:cNvSpPr>
            <p:nvPr/>
          </p:nvSpPr>
          <p:spPr bwMode="auto">
            <a:xfrm>
              <a:off x="3090" y="2710"/>
              <a:ext cx="61"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2"/>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36" name="Line 153">
              <a:extLst>
                <a:ext uri="{FF2B5EF4-FFF2-40B4-BE49-F238E27FC236}">
                  <a16:creationId xmlns:a16="http://schemas.microsoft.com/office/drawing/2014/main" id="{F19D090C-59FF-0F41-A840-9C821275791A}"/>
                </a:ext>
              </a:extLst>
            </p:cNvPr>
            <p:cNvSpPr>
              <a:spLocks noChangeShapeType="1"/>
            </p:cNvSpPr>
            <p:nvPr/>
          </p:nvSpPr>
          <p:spPr bwMode="auto">
            <a:xfrm>
              <a:off x="3042" y="2818"/>
              <a:ext cx="63" cy="0"/>
            </a:xfrm>
            <a:prstGeom prst="line">
              <a:avLst/>
            </a:prstGeom>
            <a:noFill/>
            <a:ln w="15875" cap="rnd">
              <a:solidFill>
                <a:srgbClr val="33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37" name="Freeform 154">
              <a:extLst>
                <a:ext uri="{FF2B5EF4-FFF2-40B4-BE49-F238E27FC236}">
                  <a16:creationId xmlns:a16="http://schemas.microsoft.com/office/drawing/2014/main" id="{BB79A975-D771-1A40-A496-6208C5E4256E}"/>
                </a:ext>
              </a:extLst>
            </p:cNvPr>
            <p:cNvSpPr>
              <a:spLocks/>
            </p:cNvSpPr>
            <p:nvPr/>
          </p:nvSpPr>
          <p:spPr bwMode="auto">
            <a:xfrm>
              <a:off x="3090" y="2787"/>
              <a:ext cx="61"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2"/>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5" name="Group 595">
            <a:extLst>
              <a:ext uri="{FF2B5EF4-FFF2-40B4-BE49-F238E27FC236}">
                <a16:creationId xmlns:a16="http://schemas.microsoft.com/office/drawing/2014/main" id="{A778AEBF-F479-234A-B723-D8BF131F8409}"/>
              </a:ext>
            </a:extLst>
          </p:cNvPr>
          <p:cNvGrpSpPr>
            <a:grpSpLocks/>
          </p:cNvGrpSpPr>
          <p:nvPr/>
        </p:nvGrpSpPr>
        <p:grpSpPr bwMode="auto">
          <a:xfrm>
            <a:off x="5137150" y="3937000"/>
            <a:ext cx="277813" cy="760413"/>
            <a:chOff x="3236" y="2480"/>
            <a:chExt cx="175" cy="479"/>
          </a:xfrm>
        </p:grpSpPr>
        <p:sp>
          <p:nvSpPr>
            <p:cNvPr id="80124" name="Rectangle 155">
              <a:extLst>
                <a:ext uri="{FF2B5EF4-FFF2-40B4-BE49-F238E27FC236}">
                  <a16:creationId xmlns:a16="http://schemas.microsoft.com/office/drawing/2014/main" id="{C306885F-0F03-EB4C-B061-3A13C66656C2}"/>
                </a:ext>
              </a:extLst>
            </p:cNvPr>
            <p:cNvSpPr>
              <a:spLocks noChangeArrowheads="1"/>
            </p:cNvSpPr>
            <p:nvPr/>
          </p:nvSpPr>
          <p:spPr bwMode="auto">
            <a:xfrm>
              <a:off x="3236" y="2603"/>
              <a:ext cx="175" cy="356"/>
            </a:xfrm>
            <a:prstGeom prst="rect">
              <a:avLst/>
            </a:prstGeom>
            <a:solidFill>
              <a:srgbClr val="FFCCCC"/>
            </a:solidFill>
            <a:ln w="19050">
              <a:solidFill>
                <a:schemeClr val="tx1"/>
              </a:solidFill>
              <a:prstDash val="lgDash"/>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25" name="Rectangle 157">
              <a:extLst>
                <a:ext uri="{FF2B5EF4-FFF2-40B4-BE49-F238E27FC236}">
                  <a16:creationId xmlns:a16="http://schemas.microsoft.com/office/drawing/2014/main" id="{C4A4B84E-F010-874D-A55E-E5CE353AADAC}"/>
                </a:ext>
              </a:extLst>
            </p:cNvPr>
            <p:cNvSpPr>
              <a:spLocks noChangeArrowheads="1"/>
            </p:cNvSpPr>
            <p:nvPr/>
          </p:nvSpPr>
          <p:spPr bwMode="auto">
            <a:xfrm>
              <a:off x="3283" y="2480"/>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26" name="Line 160">
              <a:extLst>
                <a:ext uri="{FF2B5EF4-FFF2-40B4-BE49-F238E27FC236}">
                  <a16:creationId xmlns:a16="http://schemas.microsoft.com/office/drawing/2014/main" id="{E09683F9-1881-1144-8D79-16F7EB8B68EB}"/>
                </a:ext>
              </a:extLst>
            </p:cNvPr>
            <p:cNvSpPr>
              <a:spLocks noChangeShapeType="1"/>
            </p:cNvSpPr>
            <p:nvPr/>
          </p:nvSpPr>
          <p:spPr bwMode="auto">
            <a:xfrm>
              <a:off x="3276" y="2895"/>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27" name="Freeform 161">
              <a:extLst>
                <a:ext uri="{FF2B5EF4-FFF2-40B4-BE49-F238E27FC236}">
                  <a16:creationId xmlns:a16="http://schemas.microsoft.com/office/drawing/2014/main" id="{CA1E0EF4-9107-524C-A818-2FCC7349BB78}"/>
                </a:ext>
              </a:extLst>
            </p:cNvPr>
            <p:cNvSpPr>
              <a:spLocks/>
            </p:cNvSpPr>
            <p:nvPr/>
          </p:nvSpPr>
          <p:spPr bwMode="auto">
            <a:xfrm>
              <a:off x="3324" y="2864"/>
              <a:ext cx="62"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3"/>
                    <a:pt x="26" y="52"/>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28" name="Line 164">
              <a:extLst>
                <a:ext uri="{FF2B5EF4-FFF2-40B4-BE49-F238E27FC236}">
                  <a16:creationId xmlns:a16="http://schemas.microsoft.com/office/drawing/2014/main" id="{700FF35D-6872-F743-BA2E-1DCF9BDB6A47}"/>
                </a:ext>
              </a:extLst>
            </p:cNvPr>
            <p:cNvSpPr>
              <a:spLocks noChangeShapeType="1"/>
            </p:cNvSpPr>
            <p:nvPr/>
          </p:nvSpPr>
          <p:spPr bwMode="auto">
            <a:xfrm>
              <a:off x="3276" y="2818"/>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29" name="Freeform 165">
              <a:extLst>
                <a:ext uri="{FF2B5EF4-FFF2-40B4-BE49-F238E27FC236}">
                  <a16:creationId xmlns:a16="http://schemas.microsoft.com/office/drawing/2014/main" id="{006D521B-41CA-864E-A0DD-B3542CE83655}"/>
                </a:ext>
              </a:extLst>
            </p:cNvPr>
            <p:cNvSpPr>
              <a:spLocks/>
            </p:cNvSpPr>
            <p:nvPr/>
          </p:nvSpPr>
          <p:spPr bwMode="auto">
            <a:xfrm>
              <a:off x="3324" y="2787"/>
              <a:ext cx="62"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2"/>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6" name="Group 596">
            <a:extLst>
              <a:ext uri="{FF2B5EF4-FFF2-40B4-BE49-F238E27FC236}">
                <a16:creationId xmlns:a16="http://schemas.microsoft.com/office/drawing/2014/main" id="{AD98082A-EF07-1643-BBDB-95ACC7AE6D2C}"/>
              </a:ext>
            </a:extLst>
          </p:cNvPr>
          <p:cNvGrpSpPr>
            <a:grpSpLocks/>
          </p:cNvGrpSpPr>
          <p:nvPr/>
        </p:nvGrpSpPr>
        <p:grpSpPr bwMode="auto">
          <a:xfrm>
            <a:off x="5510213" y="3937000"/>
            <a:ext cx="276225" cy="760413"/>
            <a:chOff x="3471" y="2480"/>
            <a:chExt cx="174" cy="479"/>
          </a:xfrm>
        </p:grpSpPr>
        <p:sp>
          <p:nvSpPr>
            <p:cNvPr id="80120" name="Rectangle 166">
              <a:extLst>
                <a:ext uri="{FF2B5EF4-FFF2-40B4-BE49-F238E27FC236}">
                  <a16:creationId xmlns:a16="http://schemas.microsoft.com/office/drawing/2014/main" id="{577E15AE-C13D-CC4C-ACB6-CA3A34B76CDD}"/>
                </a:ext>
              </a:extLst>
            </p:cNvPr>
            <p:cNvSpPr>
              <a:spLocks noChangeArrowheads="1"/>
            </p:cNvSpPr>
            <p:nvPr/>
          </p:nvSpPr>
          <p:spPr bwMode="auto">
            <a:xfrm>
              <a:off x="3471" y="2603"/>
              <a:ext cx="174" cy="356"/>
            </a:xfrm>
            <a:prstGeom prst="rect">
              <a:avLst/>
            </a:prstGeom>
            <a:solidFill>
              <a:srgbClr val="CCFFFF"/>
            </a:solidFill>
            <a:ln w="19050">
              <a:solidFill>
                <a:schemeClr val="tx1"/>
              </a:solidFill>
              <a:prstDash val="lgDash"/>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21" name="Rectangle 168">
              <a:extLst>
                <a:ext uri="{FF2B5EF4-FFF2-40B4-BE49-F238E27FC236}">
                  <a16:creationId xmlns:a16="http://schemas.microsoft.com/office/drawing/2014/main" id="{21E2C9DD-3A18-E141-8EAE-BFC38B75B876}"/>
                </a:ext>
              </a:extLst>
            </p:cNvPr>
            <p:cNvSpPr>
              <a:spLocks noChangeArrowheads="1"/>
            </p:cNvSpPr>
            <p:nvPr/>
          </p:nvSpPr>
          <p:spPr bwMode="auto">
            <a:xfrm>
              <a:off x="3523" y="2480"/>
              <a:ext cx="6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22" name="Line 171">
              <a:extLst>
                <a:ext uri="{FF2B5EF4-FFF2-40B4-BE49-F238E27FC236}">
                  <a16:creationId xmlns:a16="http://schemas.microsoft.com/office/drawing/2014/main" id="{EE20BB47-7B5A-2841-BAB4-D26DFB6E70B7}"/>
                </a:ext>
              </a:extLst>
            </p:cNvPr>
            <p:cNvSpPr>
              <a:spLocks noChangeShapeType="1"/>
            </p:cNvSpPr>
            <p:nvPr/>
          </p:nvSpPr>
          <p:spPr bwMode="auto">
            <a:xfrm>
              <a:off x="3511" y="2895"/>
              <a:ext cx="62" cy="0"/>
            </a:xfrm>
            <a:prstGeom prst="line">
              <a:avLst/>
            </a:prstGeom>
            <a:noFill/>
            <a:ln w="15875" cap="rnd">
              <a:solidFill>
                <a:srgbClr val="00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23" name="Freeform 172">
              <a:extLst>
                <a:ext uri="{FF2B5EF4-FFF2-40B4-BE49-F238E27FC236}">
                  <a16:creationId xmlns:a16="http://schemas.microsoft.com/office/drawing/2014/main" id="{DA280C3D-5B55-1347-BE7B-3E3B02DBF419}"/>
                </a:ext>
              </a:extLst>
            </p:cNvPr>
            <p:cNvSpPr>
              <a:spLocks/>
            </p:cNvSpPr>
            <p:nvPr/>
          </p:nvSpPr>
          <p:spPr bwMode="auto">
            <a:xfrm>
              <a:off x="3558" y="2864"/>
              <a:ext cx="62" cy="61"/>
            </a:xfrm>
            <a:custGeom>
              <a:avLst/>
              <a:gdLst>
                <a:gd name="T0" fmla="*/ 0 w 164"/>
                <a:gd name="T1" fmla="*/ 0 h 164"/>
                <a:gd name="T2" fmla="*/ 0 w 164"/>
                <a:gd name="T3" fmla="*/ 0 h 164"/>
                <a:gd name="T4" fmla="*/ 0 w 164"/>
                <a:gd name="T5" fmla="*/ 0 h 164"/>
                <a:gd name="T6" fmla="*/ 0 w 164"/>
                <a:gd name="T7" fmla="*/ 0 h 164"/>
                <a:gd name="T8" fmla="*/ 0 60000 65536"/>
                <a:gd name="T9" fmla="*/ 0 60000 65536"/>
                <a:gd name="T10" fmla="*/ 0 60000 65536"/>
                <a:gd name="T11" fmla="*/ 0 60000 65536"/>
                <a:gd name="T12" fmla="*/ 0 w 164"/>
                <a:gd name="T13" fmla="*/ 0 h 164"/>
                <a:gd name="T14" fmla="*/ 164 w 164"/>
                <a:gd name="T15" fmla="*/ 164 h 164"/>
              </a:gdLst>
              <a:ahLst/>
              <a:cxnLst>
                <a:cxn ang="T8">
                  <a:pos x="T0" y="T1"/>
                </a:cxn>
                <a:cxn ang="T9">
                  <a:pos x="T2" y="T3"/>
                </a:cxn>
                <a:cxn ang="T10">
                  <a:pos x="T4" y="T5"/>
                </a:cxn>
                <a:cxn ang="T11">
                  <a:pos x="T6" y="T7"/>
                </a:cxn>
              </a:cxnLst>
              <a:rect l="T12" t="T13" r="T14" b="T15"/>
              <a:pathLst>
                <a:path w="164" h="164">
                  <a:moveTo>
                    <a:pt x="164" y="82"/>
                  </a:moveTo>
                  <a:lnTo>
                    <a:pt x="0" y="164"/>
                  </a:lnTo>
                  <a:cubicBezTo>
                    <a:pt x="26" y="113"/>
                    <a:pt x="26" y="52"/>
                    <a:pt x="0" y="0"/>
                  </a:cubicBezTo>
                  <a:lnTo>
                    <a:pt x="164" y="82"/>
                  </a:lnTo>
                  <a:close/>
                </a:path>
              </a:pathLst>
            </a:custGeom>
            <a:solidFill>
              <a:srgbClr val="00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7" name="Group 597">
            <a:extLst>
              <a:ext uri="{FF2B5EF4-FFF2-40B4-BE49-F238E27FC236}">
                <a16:creationId xmlns:a16="http://schemas.microsoft.com/office/drawing/2014/main" id="{307C5F9A-4D5F-674E-BCB7-C53BE162EB3D}"/>
              </a:ext>
            </a:extLst>
          </p:cNvPr>
          <p:cNvGrpSpPr>
            <a:grpSpLocks/>
          </p:cNvGrpSpPr>
          <p:nvPr/>
        </p:nvGrpSpPr>
        <p:grpSpPr bwMode="auto">
          <a:xfrm>
            <a:off x="5881688" y="3937000"/>
            <a:ext cx="276225" cy="760413"/>
            <a:chOff x="3705" y="2480"/>
            <a:chExt cx="174" cy="479"/>
          </a:xfrm>
        </p:grpSpPr>
        <p:sp>
          <p:nvSpPr>
            <p:cNvPr id="80114" name="Rectangle 177">
              <a:extLst>
                <a:ext uri="{FF2B5EF4-FFF2-40B4-BE49-F238E27FC236}">
                  <a16:creationId xmlns:a16="http://schemas.microsoft.com/office/drawing/2014/main" id="{3089BBC5-C8DD-AB48-AA30-8D3E403F575B}"/>
                </a:ext>
              </a:extLst>
            </p:cNvPr>
            <p:cNvSpPr>
              <a:spLocks noChangeArrowheads="1"/>
            </p:cNvSpPr>
            <p:nvPr/>
          </p:nvSpPr>
          <p:spPr bwMode="auto">
            <a:xfrm>
              <a:off x="3705" y="2603"/>
              <a:ext cx="174" cy="356"/>
            </a:xfrm>
            <a:prstGeom prst="rect">
              <a:avLst/>
            </a:prstGeom>
            <a:solidFill>
              <a:srgbClr val="FFCCCC"/>
            </a:solidFill>
            <a:ln w="19050">
              <a:solidFill>
                <a:schemeClr val="tx1"/>
              </a:solidFill>
              <a:prstDash val="lgDash"/>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15" name="Rectangle 179">
              <a:extLst>
                <a:ext uri="{FF2B5EF4-FFF2-40B4-BE49-F238E27FC236}">
                  <a16:creationId xmlns:a16="http://schemas.microsoft.com/office/drawing/2014/main" id="{107A9BC9-E6EC-FD41-B046-45CA8864E5EA}"/>
                </a:ext>
              </a:extLst>
            </p:cNvPr>
            <p:cNvSpPr>
              <a:spLocks noChangeArrowheads="1"/>
            </p:cNvSpPr>
            <p:nvPr/>
          </p:nvSpPr>
          <p:spPr bwMode="auto">
            <a:xfrm>
              <a:off x="3757" y="2480"/>
              <a:ext cx="6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16" name="Line 180">
              <a:extLst>
                <a:ext uri="{FF2B5EF4-FFF2-40B4-BE49-F238E27FC236}">
                  <a16:creationId xmlns:a16="http://schemas.microsoft.com/office/drawing/2014/main" id="{CAAB007F-D136-4446-8565-4B6F0AB9DF85}"/>
                </a:ext>
              </a:extLst>
            </p:cNvPr>
            <p:cNvSpPr>
              <a:spLocks noChangeShapeType="1"/>
            </p:cNvSpPr>
            <p:nvPr/>
          </p:nvSpPr>
          <p:spPr bwMode="auto">
            <a:xfrm>
              <a:off x="3748" y="2654"/>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17" name="Freeform 181">
              <a:extLst>
                <a:ext uri="{FF2B5EF4-FFF2-40B4-BE49-F238E27FC236}">
                  <a16:creationId xmlns:a16="http://schemas.microsoft.com/office/drawing/2014/main" id="{C05EBE86-D8B5-5741-A42A-027C5F29A975}"/>
                </a:ext>
              </a:extLst>
            </p:cNvPr>
            <p:cNvSpPr>
              <a:spLocks/>
            </p:cNvSpPr>
            <p:nvPr/>
          </p:nvSpPr>
          <p:spPr bwMode="auto">
            <a:xfrm>
              <a:off x="3796" y="2623"/>
              <a:ext cx="62"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3"/>
                    <a:pt x="26" y="52"/>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18" name="Line 184">
              <a:extLst>
                <a:ext uri="{FF2B5EF4-FFF2-40B4-BE49-F238E27FC236}">
                  <a16:creationId xmlns:a16="http://schemas.microsoft.com/office/drawing/2014/main" id="{C2C3AC73-2B5D-6C48-B8E1-A7107934013F}"/>
                </a:ext>
              </a:extLst>
            </p:cNvPr>
            <p:cNvSpPr>
              <a:spLocks noChangeShapeType="1"/>
            </p:cNvSpPr>
            <p:nvPr/>
          </p:nvSpPr>
          <p:spPr bwMode="auto">
            <a:xfrm>
              <a:off x="3745" y="2741"/>
              <a:ext cx="62"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19" name="Freeform 185">
              <a:extLst>
                <a:ext uri="{FF2B5EF4-FFF2-40B4-BE49-F238E27FC236}">
                  <a16:creationId xmlns:a16="http://schemas.microsoft.com/office/drawing/2014/main" id="{E9DB7BD8-71F5-7F47-BD4F-E0FF89404E39}"/>
                </a:ext>
              </a:extLst>
            </p:cNvPr>
            <p:cNvSpPr>
              <a:spLocks/>
            </p:cNvSpPr>
            <p:nvPr/>
          </p:nvSpPr>
          <p:spPr bwMode="auto">
            <a:xfrm>
              <a:off x="3793" y="2710"/>
              <a:ext cx="61" cy="62"/>
            </a:xfrm>
            <a:custGeom>
              <a:avLst/>
              <a:gdLst>
                <a:gd name="T0" fmla="*/ 0 w 163"/>
                <a:gd name="T1" fmla="*/ 0 h 164"/>
                <a:gd name="T2" fmla="*/ 0 w 163"/>
                <a:gd name="T3" fmla="*/ 0 h 164"/>
                <a:gd name="T4" fmla="*/ 0 w 163"/>
                <a:gd name="T5" fmla="*/ 0 h 164"/>
                <a:gd name="T6" fmla="*/ 0 w 163"/>
                <a:gd name="T7" fmla="*/ 0 h 164"/>
                <a:gd name="T8" fmla="*/ 0 w 163"/>
                <a:gd name="T9" fmla="*/ 0 h 164"/>
                <a:gd name="T10" fmla="*/ 0 60000 65536"/>
                <a:gd name="T11" fmla="*/ 0 60000 65536"/>
                <a:gd name="T12" fmla="*/ 0 60000 65536"/>
                <a:gd name="T13" fmla="*/ 0 60000 65536"/>
                <a:gd name="T14" fmla="*/ 0 60000 65536"/>
                <a:gd name="T15" fmla="*/ 0 w 163"/>
                <a:gd name="T16" fmla="*/ 0 h 164"/>
                <a:gd name="T17" fmla="*/ 163 w 163"/>
                <a:gd name="T18" fmla="*/ 164 h 164"/>
              </a:gdLst>
              <a:ahLst/>
              <a:cxnLst>
                <a:cxn ang="T10">
                  <a:pos x="T0" y="T1"/>
                </a:cxn>
                <a:cxn ang="T11">
                  <a:pos x="T2" y="T3"/>
                </a:cxn>
                <a:cxn ang="T12">
                  <a:pos x="T4" y="T5"/>
                </a:cxn>
                <a:cxn ang="T13">
                  <a:pos x="T6" y="T7"/>
                </a:cxn>
                <a:cxn ang="T14">
                  <a:pos x="T8" y="T9"/>
                </a:cxn>
              </a:cxnLst>
              <a:rect l="T15" t="T16" r="T17" b="T18"/>
              <a:pathLst>
                <a:path w="163" h="164">
                  <a:moveTo>
                    <a:pt x="163" y="82"/>
                  </a:moveTo>
                  <a:lnTo>
                    <a:pt x="0" y="164"/>
                  </a:lnTo>
                  <a:cubicBezTo>
                    <a:pt x="25" y="112"/>
                    <a:pt x="25" y="52"/>
                    <a:pt x="0" y="0"/>
                  </a:cubicBezTo>
                  <a:lnTo>
                    <a:pt x="163"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79892" name="Freeform 188">
            <a:extLst>
              <a:ext uri="{FF2B5EF4-FFF2-40B4-BE49-F238E27FC236}">
                <a16:creationId xmlns:a16="http://schemas.microsoft.com/office/drawing/2014/main" id="{F8527D9D-6891-0B48-8AFB-702266B1E181}"/>
              </a:ext>
            </a:extLst>
          </p:cNvPr>
          <p:cNvSpPr>
            <a:spLocks noEditPoints="1"/>
          </p:cNvSpPr>
          <p:nvPr/>
        </p:nvSpPr>
        <p:spPr bwMode="auto">
          <a:xfrm>
            <a:off x="1320800" y="4373563"/>
            <a:ext cx="366713" cy="52387"/>
          </a:xfrm>
          <a:custGeom>
            <a:avLst/>
            <a:gdLst>
              <a:gd name="T0" fmla="*/ 2147483647 w 617"/>
              <a:gd name="T1" fmla="*/ 0 h 88"/>
              <a:gd name="T2" fmla="*/ 2147483647 w 617"/>
              <a:gd name="T3" fmla="*/ 0 h 88"/>
              <a:gd name="T4" fmla="*/ 2147483647 w 617"/>
              <a:gd name="T5" fmla="*/ 2147483647 h 88"/>
              <a:gd name="T6" fmla="*/ 2147483647 w 617"/>
              <a:gd name="T7" fmla="*/ 2147483647 h 88"/>
              <a:gd name="T8" fmla="*/ 2147483647 w 617"/>
              <a:gd name="T9" fmla="*/ 2147483647 h 88"/>
              <a:gd name="T10" fmla="*/ 0 w 617"/>
              <a:gd name="T11" fmla="*/ 2147483647 h 88"/>
              <a:gd name="T12" fmla="*/ 2147483647 w 617"/>
              <a:gd name="T13" fmla="*/ 0 h 88"/>
              <a:gd name="T14" fmla="*/ 2147483647 w 617"/>
              <a:gd name="T15" fmla="*/ 0 h 88"/>
              <a:gd name="T16" fmla="*/ 2147483647 w 617"/>
              <a:gd name="T17" fmla="*/ 0 h 88"/>
              <a:gd name="T18" fmla="*/ 2147483647 w 617"/>
              <a:gd name="T19" fmla="*/ 2147483647 h 88"/>
              <a:gd name="T20" fmla="*/ 2147483647 w 617"/>
              <a:gd name="T21" fmla="*/ 2147483647 h 88"/>
              <a:gd name="T22" fmla="*/ 2147483647 w 617"/>
              <a:gd name="T23" fmla="*/ 2147483647 h 88"/>
              <a:gd name="T24" fmla="*/ 2147483647 w 617"/>
              <a:gd name="T25" fmla="*/ 2147483647 h 88"/>
              <a:gd name="T26" fmla="*/ 2147483647 w 617"/>
              <a:gd name="T27" fmla="*/ 0 h 88"/>
              <a:gd name="T28" fmla="*/ 2147483647 w 617"/>
              <a:gd name="T29" fmla="*/ 0 h 88"/>
              <a:gd name="T30" fmla="*/ 2147483647 w 617"/>
              <a:gd name="T31" fmla="*/ 0 h 88"/>
              <a:gd name="T32" fmla="*/ 2147483647 w 617"/>
              <a:gd name="T33" fmla="*/ 2147483647 h 88"/>
              <a:gd name="T34" fmla="*/ 2147483647 w 617"/>
              <a:gd name="T35" fmla="*/ 2147483647 h 88"/>
              <a:gd name="T36" fmla="*/ 2147483647 w 617"/>
              <a:gd name="T37" fmla="*/ 2147483647 h 88"/>
              <a:gd name="T38" fmla="*/ 2147483647 w 617"/>
              <a:gd name="T39" fmla="*/ 2147483647 h 88"/>
              <a:gd name="T40" fmla="*/ 2147483647 w 617"/>
              <a:gd name="T41" fmla="*/ 0 h 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17"/>
              <a:gd name="T64" fmla="*/ 0 h 88"/>
              <a:gd name="T65" fmla="*/ 617 w 617"/>
              <a:gd name="T66" fmla="*/ 88 h 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17" h="88">
                <a:moveTo>
                  <a:pt x="44" y="0"/>
                </a:moveTo>
                <a:lnTo>
                  <a:pt x="44" y="0"/>
                </a:lnTo>
                <a:cubicBezTo>
                  <a:pt x="68" y="0"/>
                  <a:pt x="88" y="19"/>
                  <a:pt x="88" y="44"/>
                </a:cubicBezTo>
                <a:cubicBezTo>
                  <a:pt x="88" y="68"/>
                  <a:pt x="68" y="88"/>
                  <a:pt x="44" y="88"/>
                </a:cubicBezTo>
                <a:cubicBezTo>
                  <a:pt x="19" y="88"/>
                  <a:pt x="0" y="68"/>
                  <a:pt x="0" y="44"/>
                </a:cubicBezTo>
                <a:cubicBezTo>
                  <a:pt x="0" y="19"/>
                  <a:pt x="19" y="0"/>
                  <a:pt x="44" y="0"/>
                </a:cubicBezTo>
                <a:close/>
                <a:moveTo>
                  <a:pt x="308" y="0"/>
                </a:moveTo>
                <a:lnTo>
                  <a:pt x="308" y="0"/>
                </a:lnTo>
                <a:cubicBezTo>
                  <a:pt x="332" y="0"/>
                  <a:pt x="352" y="19"/>
                  <a:pt x="352" y="44"/>
                </a:cubicBezTo>
                <a:cubicBezTo>
                  <a:pt x="352" y="68"/>
                  <a:pt x="332" y="88"/>
                  <a:pt x="308" y="88"/>
                </a:cubicBezTo>
                <a:cubicBezTo>
                  <a:pt x="284" y="88"/>
                  <a:pt x="264" y="68"/>
                  <a:pt x="264" y="44"/>
                </a:cubicBezTo>
                <a:cubicBezTo>
                  <a:pt x="264" y="19"/>
                  <a:pt x="284" y="0"/>
                  <a:pt x="308" y="0"/>
                </a:cubicBezTo>
                <a:close/>
                <a:moveTo>
                  <a:pt x="572" y="0"/>
                </a:moveTo>
                <a:lnTo>
                  <a:pt x="572" y="0"/>
                </a:lnTo>
                <a:cubicBezTo>
                  <a:pt x="597" y="0"/>
                  <a:pt x="617" y="19"/>
                  <a:pt x="617" y="44"/>
                </a:cubicBezTo>
                <a:cubicBezTo>
                  <a:pt x="617" y="68"/>
                  <a:pt x="597" y="88"/>
                  <a:pt x="572" y="88"/>
                </a:cubicBezTo>
                <a:cubicBezTo>
                  <a:pt x="548" y="88"/>
                  <a:pt x="528" y="68"/>
                  <a:pt x="528" y="44"/>
                </a:cubicBezTo>
                <a:cubicBezTo>
                  <a:pt x="528" y="19"/>
                  <a:pt x="548" y="0"/>
                  <a:pt x="572" y="0"/>
                </a:cubicBezTo>
                <a:close/>
              </a:path>
            </a:pathLst>
          </a:custGeom>
          <a:solidFill>
            <a:srgbClr val="000000"/>
          </a:solidFill>
          <a:ln w="9525">
            <a:solidFill>
              <a:srgbClr val="000000"/>
            </a:solidFill>
            <a:bevel/>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893" name="Freeform 189">
            <a:extLst>
              <a:ext uri="{FF2B5EF4-FFF2-40B4-BE49-F238E27FC236}">
                <a16:creationId xmlns:a16="http://schemas.microsoft.com/office/drawing/2014/main" id="{09560F5F-E3CF-D544-8F87-13B2ED1EC734}"/>
              </a:ext>
            </a:extLst>
          </p:cNvPr>
          <p:cNvSpPr>
            <a:spLocks noEditPoints="1"/>
          </p:cNvSpPr>
          <p:nvPr/>
        </p:nvSpPr>
        <p:spPr bwMode="auto">
          <a:xfrm>
            <a:off x="7731125" y="4373563"/>
            <a:ext cx="368300" cy="52387"/>
          </a:xfrm>
          <a:custGeom>
            <a:avLst/>
            <a:gdLst>
              <a:gd name="T0" fmla="*/ 2147483647 w 617"/>
              <a:gd name="T1" fmla="*/ 0 h 88"/>
              <a:gd name="T2" fmla="*/ 2147483647 w 617"/>
              <a:gd name="T3" fmla="*/ 0 h 88"/>
              <a:gd name="T4" fmla="*/ 2147483647 w 617"/>
              <a:gd name="T5" fmla="*/ 2147483647 h 88"/>
              <a:gd name="T6" fmla="*/ 2147483647 w 617"/>
              <a:gd name="T7" fmla="*/ 2147483647 h 88"/>
              <a:gd name="T8" fmla="*/ 2147483647 w 617"/>
              <a:gd name="T9" fmla="*/ 2147483647 h 88"/>
              <a:gd name="T10" fmla="*/ 0 w 617"/>
              <a:gd name="T11" fmla="*/ 2147483647 h 88"/>
              <a:gd name="T12" fmla="*/ 2147483647 w 617"/>
              <a:gd name="T13" fmla="*/ 0 h 88"/>
              <a:gd name="T14" fmla="*/ 2147483647 w 617"/>
              <a:gd name="T15" fmla="*/ 0 h 88"/>
              <a:gd name="T16" fmla="*/ 2147483647 w 617"/>
              <a:gd name="T17" fmla="*/ 0 h 88"/>
              <a:gd name="T18" fmla="*/ 2147483647 w 617"/>
              <a:gd name="T19" fmla="*/ 2147483647 h 88"/>
              <a:gd name="T20" fmla="*/ 2147483647 w 617"/>
              <a:gd name="T21" fmla="*/ 2147483647 h 88"/>
              <a:gd name="T22" fmla="*/ 2147483647 w 617"/>
              <a:gd name="T23" fmla="*/ 2147483647 h 88"/>
              <a:gd name="T24" fmla="*/ 2147483647 w 617"/>
              <a:gd name="T25" fmla="*/ 2147483647 h 88"/>
              <a:gd name="T26" fmla="*/ 2147483647 w 617"/>
              <a:gd name="T27" fmla="*/ 0 h 88"/>
              <a:gd name="T28" fmla="*/ 2147483647 w 617"/>
              <a:gd name="T29" fmla="*/ 0 h 88"/>
              <a:gd name="T30" fmla="*/ 2147483647 w 617"/>
              <a:gd name="T31" fmla="*/ 0 h 88"/>
              <a:gd name="T32" fmla="*/ 2147483647 w 617"/>
              <a:gd name="T33" fmla="*/ 2147483647 h 88"/>
              <a:gd name="T34" fmla="*/ 2147483647 w 617"/>
              <a:gd name="T35" fmla="*/ 2147483647 h 88"/>
              <a:gd name="T36" fmla="*/ 2147483647 w 617"/>
              <a:gd name="T37" fmla="*/ 2147483647 h 88"/>
              <a:gd name="T38" fmla="*/ 2147483647 w 617"/>
              <a:gd name="T39" fmla="*/ 2147483647 h 88"/>
              <a:gd name="T40" fmla="*/ 2147483647 w 617"/>
              <a:gd name="T41" fmla="*/ 0 h 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17"/>
              <a:gd name="T64" fmla="*/ 0 h 88"/>
              <a:gd name="T65" fmla="*/ 617 w 617"/>
              <a:gd name="T66" fmla="*/ 88 h 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17" h="88">
                <a:moveTo>
                  <a:pt x="44" y="0"/>
                </a:moveTo>
                <a:lnTo>
                  <a:pt x="44" y="0"/>
                </a:lnTo>
                <a:cubicBezTo>
                  <a:pt x="69" y="0"/>
                  <a:pt x="88" y="19"/>
                  <a:pt x="88" y="44"/>
                </a:cubicBezTo>
                <a:cubicBezTo>
                  <a:pt x="88" y="68"/>
                  <a:pt x="69" y="88"/>
                  <a:pt x="44" y="88"/>
                </a:cubicBezTo>
                <a:cubicBezTo>
                  <a:pt x="20" y="88"/>
                  <a:pt x="0" y="68"/>
                  <a:pt x="0" y="44"/>
                </a:cubicBezTo>
                <a:cubicBezTo>
                  <a:pt x="0" y="19"/>
                  <a:pt x="20" y="0"/>
                  <a:pt x="44" y="0"/>
                </a:cubicBezTo>
                <a:close/>
                <a:moveTo>
                  <a:pt x="309" y="0"/>
                </a:moveTo>
                <a:lnTo>
                  <a:pt x="309" y="0"/>
                </a:lnTo>
                <a:cubicBezTo>
                  <a:pt x="333" y="0"/>
                  <a:pt x="353" y="19"/>
                  <a:pt x="353" y="44"/>
                </a:cubicBezTo>
                <a:cubicBezTo>
                  <a:pt x="353" y="68"/>
                  <a:pt x="333" y="88"/>
                  <a:pt x="309" y="88"/>
                </a:cubicBezTo>
                <a:cubicBezTo>
                  <a:pt x="284" y="88"/>
                  <a:pt x="265" y="68"/>
                  <a:pt x="265" y="44"/>
                </a:cubicBezTo>
                <a:cubicBezTo>
                  <a:pt x="265" y="19"/>
                  <a:pt x="284" y="0"/>
                  <a:pt x="309" y="0"/>
                </a:cubicBezTo>
                <a:close/>
                <a:moveTo>
                  <a:pt x="573" y="0"/>
                </a:moveTo>
                <a:lnTo>
                  <a:pt x="573" y="0"/>
                </a:lnTo>
                <a:cubicBezTo>
                  <a:pt x="598" y="0"/>
                  <a:pt x="617" y="19"/>
                  <a:pt x="617" y="44"/>
                </a:cubicBezTo>
                <a:cubicBezTo>
                  <a:pt x="617" y="68"/>
                  <a:pt x="598" y="88"/>
                  <a:pt x="573" y="88"/>
                </a:cubicBezTo>
                <a:cubicBezTo>
                  <a:pt x="549" y="88"/>
                  <a:pt x="529" y="68"/>
                  <a:pt x="529" y="44"/>
                </a:cubicBezTo>
                <a:cubicBezTo>
                  <a:pt x="529" y="19"/>
                  <a:pt x="549" y="0"/>
                  <a:pt x="573" y="0"/>
                </a:cubicBezTo>
                <a:close/>
              </a:path>
            </a:pathLst>
          </a:custGeom>
          <a:solidFill>
            <a:srgbClr val="000000"/>
          </a:solidFill>
          <a:ln w="9525">
            <a:solidFill>
              <a:srgbClr val="000000"/>
            </a:solidFill>
            <a:bevel/>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894" name="Freeform 190">
            <a:extLst>
              <a:ext uri="{FF2B5EF4-FFF2-40B4-BE49-F238E27FC236}">
                <a16:creationId xmlns:a16="http://schemas.microsoft.com/office/drawing/2014/main" id="{224EB88D-05D4-404A-8F87-EED467FF90F3}"/>
              </a:ext>
            </a:extLst>
          </p:cNvPr>
          <p:cNvSpPr>
            <a:spLocks/>
          </p:cNvSpPr>
          <p:nvPr/>
        </p:nvSpPr>
        <p:spPr bwMode="auto">
          <a:xfrm>
            <a:off x="1252538" y="4765675"/>
            <a:ext cx="6896100" cy="236538"/>
          </a:xfrm>
          <a:custGeom>
            <a:avLst/>
            <a:gdLst>
              <a:gd name="T0" fmla="*/ 2147483647 w 4344"/>
              <a:gd name="T1" fmla="*/ 2147483647 h 149"/>
              <a:gd name="T2" fmla="*/ 2147483647 w 4344"/>
              <a:gd name="T3" fmla="*/ 0 h 149"/>
              <a:gd name="T4" fmla="*/ 2147483647 w 4344"/>
              <a:gd name="T5" fmla="*/ 2147483647 h 149"/>
              <a:gd name="T6" fmla="*/ 0 w 4344"/>
              <a:gd name="T7" fmla="*/ 2147483647 h 149"/>
              <a:gd name="T8" fmla="*/ 0 w 4344"/>
              <a:gd name="T9" fmla="*/ 2147483647 h 149"/>
              <a:gd name="T10" fmla="*/ 2147483647 w 4344"/>
              <a:gd name="T11" fmla="*/ 2147483647 h 149"/>
              <a:gd name="T12" fmla="*/ 2147483647 w 4344"/>
              <a:gd name="T13" fmla="*/ 2147483647 h 149"/>
              <a:gd name="T14" fmla="*/ 2147483647 w 4344"/>
              <a:gd name="T15" fmla="*/ 2147483647 h 149"/>
              <a:gd name="T16" fmla="*/ 0 60000 65536"/>
              <a:gd name="T17" fmla="*/ 0 60000 65536"/>
              <a:gd name="T18" fmla="*/ 0 60000 65536"/>
              <a:gd name="T19" fmla="*/ 0 60000 65536"/>
              <a:gd name="T20" fmla="*/ 0 60000 65536"/>
              <a:gd name="T21" fmla="*/ 0 60000 65536"/>
              <a:gd name="T22" fmla="*/ 0 60000 65536"/>
              <a:gd name="T23" fmla="*/ 0 60000 65536"/>
              <a:gd name="T24" fmla="*/ 0 w 4344"/>
              <a:gd name="T25" fmla="*/ 0 h 149"/>
              <a:gd name="T26" fmla="*/ 4344 w 4344"/>
              <a:gd name="T27" fmla="*/ 149 h 1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344" h="149">
                <a:moveTo>
                  <a:pt x="4344" y="75"/>
                </a:moveTo>
                <a:lnTo>
                  <a:pt x="4270" y="0"/>
                </a:lnTo>
                <a:lnTo>
                  <a:pt x="4270" y="49"/>
                </a:lnTo>
                <a:lnTo>
                  <a:pt x="0" y="49"/>
                </a:lnTo>
                <a:lnTo>
                  <a:pt x="0" y="100"/>
                </a:lnTo>
                <a:lnTo>
                  <a:pt x="4270" y="100"/>
                </a:lnTo>
                <a:lnTo>
                  <a:pt x="4270" y="149"/>
                </a:lnTo>
                <a:lnTo>
                  <a:pt x="4344" y="75"/>
                </a:lnTo>
                <a:close/>
              </a:path>
            </a:pathLst>
          </a:cu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895" name="Freeform 191">
            <a:extLst>
              <a:ext uri="{FF2B5EF4-FFF2-40B4-BE49-F238E27FC236}">
                <a16:creationId xmlns:a16="http://schemas.microsoft.com/office/drawing/2014/main" id="{1A66389F-D1C9-B849-A463-77D249110915}"/>
              </a:ext>
            </a:extLst>
          </p:cNvPr>
          <p:cNvSpPr>
            <a:spLocks/>
          </p:cNvSpPr>
          <p:nvPr/>
        </p:nvSpPr>
        <p:spPr bwMode="auto">
          <a:xfrm>
            <a:off x="1252538" y="4765675"/>
            <a:ext cx="6896100" cy="236538"/>
          </a:xfrm>
          <a:custGeom>
            <a:avLst/>
            <a:gdLst>
              <a:gd name="T0" fmla="*/ 2147483647 w 4344"/>
              <a:gd name="T1" fmla="*/ 2147483647 h 149"/>
              <a:gd name="T2" fmla="*/ 2147483647 w 4344"/>
              <a:gd name="T3" fmla="*/ 0 h 149"/>
              <a:gd name="T4" fmla="*/ 2147483647 w 4344"/>
              <a:gd name="T5" fmla="*/ 2147483647 h 149"/>
              <a:gd name="T6" fmla="*/ 0 w 4344"/>
              <a:gd name="T7" fmla="*/ 2147483647 h 149"/>
              <a:gd name="T8" fmla="*/ 0 w 4344"/>
              <a:gd name="T9" fmla="*/ 2147483647 h 149"/>
              <a:gd name="T10" fmla="*/ 2147483647 w 4344"/>
              <a:gd name="T11" fmla="*/ 2147483647 h 149"/>
              <a:gd name="T12" fmla="*/ 2147483647 w 4344"/>
              <a:gd name="T13" fmla="*/ 2147483647 h 149"/>
              <a:gd name="T14" fmla="*/ 2147483647 w 4344"/>
              <a:gd name="T15" fmla="*/ 2147483647 h 149"/>
              <a:gd name="T16" fmla="*/ 0 60000 65536"/>
              <a:gd name="T17" fmla="*/ 0 60000 65536"/>
              <a:gd name="T18" fmla="*/ 0 60000 65536"/>
              <a:gd name="T19" fmla="*/ 0 60000 65536"/>
              <a:gd name="T20" fmla="*/ 0 60000 65536"/>
              <a:gd name="T21" fmla="*/ 0 60000 65536"/>
              <a:gd name="T22" fmla="*/ 0 60000 65536"/>
              <a:gd name="T23" fmla="*/ 0 60000 65536"/>
              <a:gd name="T24" fmla="*/ 0 w 4344"/>
              <a:gd name="T25" fmla="*/ 0 h 149"/>
              <a:gd name="T26" fmla="*/ 4344 w 4344"/>
              <a:gd name="T27" fmla="*/ 149 h 1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344" h="149">
                <a:moveTo>
                  <a:pt x="4344" y="75"/>
                </a:moveTo>
                <a:lnTo>
                  <a:pt x="4270" y="0"/>
                </a:lnTo>
                <a:lnTo>
                  <a:pt x="4270" y="49"/>
                </a:lnTo>
                <a:lnTo>
                  <a:pt x="0" y="49"/>
                </a:lnTo>
                <a:lnTo>
                  <a:pt x="0" y="100"/>
                </a:lnTo>
                <a:lnTo>
                  <a:pt x="4270" y="100"/>
                </a:lnTo>
                <a:lnTo>
                  <a:pt x="4270" y="149"/>
                </a:lnTo>
                <a:lnTo>
                  <a:pt x="4344" y="75"/>
                </a:lnTo>
                <a:close/>
              </a:path>
            </a:pathLst>
          </a:custGeom>
          <a:noFill/>
          <a:ln w="158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896" name="Rectangle 192">
            <a:extLst>
              <a:ext uri="{FF2B5EF4-FFF2-40B4-BE49-F238E27FC236}">
                <a16:creationId xmlns:a16="http://schemas.microsoft.com/office/drawing/2014/main" id="{C4A9F221-F5BB-C044-88FE-7738542E7926}"/>
              </a:ext>
            </a:extLst>
          </p:cNvPr>
          <p:cNvSpPr>
            <a:spLocks noChangeArrowheads="1"/>
          </p:cNvSpPr>
          <p:nvPr/>
        </p:nvSpPr>
        <p:spPr bwMode="auto">
          <a:xfrm>
            <a:off x="8221663" y="4775200"/>
            <a:ext cx="3937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Time</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8" name="Group 602">
            <a:extLst>
              <a:ext uri="{FF2B5EF4-FFF2-40B4-BE49-F238E27FC236}">
                <a16:creationId xmlns:a16="http://schemas.microsoft.com/office/drawing/2014/main" id="{85FFBB34-F9B6-284F-9B17-FB639277D416}"/>
              </a:ext>
            </a:extLst>
          </p:cNvPr>
          <p:cNvGrpSpPr>
            <a:grpSpLocks/>
          </p:cNvGrpSpPr>
          <p:nvPr/>
        </p:nvGrpSpPr>
        <p:grpSpPr bwMode="auto">
          <a:xfrm>
            <a:off x="1792288" y="5099050"/>
            <a:ext cx="277812" cy="765175"/>
            <a:chOff x="1129" y="3212"/>
            <a:chExt cx="175" cy="482"/>
          </a:xfrm>
        </p:grpSpPr>
        <p:sp>
          <p:nvSpPr>
            <p:cNvPr id="80104" name="Rectangle 211">
              <a:extLst>
                <a:ext uri="{FF2B5EF4-FFF2-40B4-BE49-F238E27FC236}">
                  <a16:creationId xmlns:a16="http://schemas.microsoft.com/office/drawing/2014/main" id="{0878A4E8-A2FF-024F-96DE-43942AEF3ABF}"/>
                </a:ext>
              </a:extLst>
            </p:cNvPr>
            <p:cNvSpPr>
              <a:spLocks noChangeArrowheads="1"/>
            </p:cNvSpPr>
            <p:nvPr/>
          </p:nvSpPr>
          <p:spPr bwMode="auto">
            <a:xfrm>
              <a:off x="1129" y="3338"/>
              <a:ext cx="175" cy="356"/>
            </a:xfrm>
            <a:prstGeom prst="rect">
              <a:avLst/>
            </a:prstGeom>
            <a:solidFill>
              <a:srgbClr val="CCFFFF"/>
            </a:solidFill>
            <a:ln w="19050">
              <a:solidFill>
                <a:schemeClr val="tx1"/>
              </a:solidFill>
              <a:prstDash val="lgDash"/>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05" name="Rectangle 213">
              <a:extLst>
                <a:ext uri="{FF2B5EF4-FFF2-40B4-BE49-F238E27FC236}">
                  <a16:creationId xmlns:a16="http://schemas.microsoft.com/office/drawing/2014/main" id="{B0D203DF-58C3-BC45-9A4A-D8DF5E17F9FB}"/>
                </a:ext>
              </a:extLst>
            </p:cNvPr>
            <p:cNvSpPr>
              <a:spLocks noChangeArrowheads="1"/>
            </p:cNvSpPr>
            <p:nvPr/>
          </p:nvSpPr>
          <p:spPr bwMode="auto">
            <a:xfrm>
              <a:off x="1177" y="3212"/>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06" name="Line 214">
              <a:extLst>
                <a:ext uri="{FF2B5EF4-FFF2-40B4-BE49-F238E27FC236}">
                  <a16:creationId xmlns:a16="http://schemas.microsoft.com/office/drawing/2014/main" id="{AD0390C2-34AF-CD44-9AA1-7677FC238558}"/>
                </a:ext>
              </a:extLst>
            </p:cNvPr>
            <p:cNvSpPr>
              <a:spLocks noChangeShapeType="1"/>
            </p:cNvSpPr>
            <p:nvPr/>
          </p:nvSpPr>
          <p:spPr bwMode="auto">
            <a:xfrm>
              <a:off x="1173" y="3389"/>
              <a:ext cx="62" cy="0"/>
            </a:xfrm>
            <a:prstGeom prst="line">
              <a:avLst/>
            </a:prstGeom>
            <a:noFill/>
            <a:ln w="15875" cap="rnd">
              <a:solidFill>
                <a:srgbClr val="00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07" name="Freeform 215">
              <a:extLst>
                <a:ext uri="{FF2B5EF4-FFF2-40B4-BE49-F238E27FC236}">
                  <a16:creationId xmlns:a16="http://schemas.microsoft.com/office/drawing/2014/main" id="{B033AEF7-BBE4-9748-87E3-703DFED1E1D2}"/>
                </a:ext>
              </a:extLst>
            </p:cNvPr>
            <p:cNvSpPr>
              <a:spLocks/>
            </p:cNvSpPr>
            <p:nvPr/>
          </p:nvSpPr>
          <p:spPr bwMode="auto">
            <a:xfrm>
              <a:off x="1221" y="3359"/>
              <a:ext cx="61" cy="61"/>
            </a:xfrm>
            <a:custGeom>
              <a:avLst/>
              <a:gdLst>
                <a:gd name="T0" fmla="*/ 0 w 163"/>
                <a:gd name="T1" fmla="*/ 0 h 164"/>
                <a:gd name="T2" fmla="*/ 0 w 163"/>
                <a:gd name="T3" fmla="*/ 0 h 164"/>
                <a:gd name="T4" fmla="*/ 0 w 163"/>
                <a:gd name="T5" fmla="*/ 0 h 164"/>
                <a:gd name="T6" fmla="*/ 0 w 163"/>
                <a:gd name="T7" fmla="*/ 0 h 164"/>
                <a:gd name="T8" fmla="*/ 0 w 163"/>
                <a:gd name="T9" fmla="*/ 0 h 164"/>
                <a:gd name="T10" fmla="*/ 0 60000 65536"/>
                <a:gd name="T11" fmla="*/ 0 60000 65536"/>
                <a:gd name="T12" fmla="*/ 0 60000 65536"/>
                <a:gd name="T13" fmla="*/ 0 60000 65536"/>
                <a:gd name="T14" fmla="*/ 0 60000 65536"/>
                <a:gd name="T15" fmla="*/ 0 w 163"/>
                <a:gd name="T16" fmla="*/ 0 h 164"/>
                <a:gd name="T17" fmla="*/ 163 w 163"/>
                <a:gd name="T18" fmla="*/ 164 h 164"/>
              </a:gdLst>
              <a:ahLst/>
              <a:cxnLst>
                <a:cxn ang="T10">
                  <a:pos x="T0" y="T1"/>
                </a:cxn>
                <a:cxn ang="T11">
                  <a:pos x="T2" y="T3"/>
                </a:cxn>
                <a:cxn ang="T12">
                  <a:pos x="T4" y="T5"/>
                </a:cxn>
                <a:cxn ang="T13">
                  <a:pos x="T6" y="T7"/>
                </a:cxn>
                <a:cxn ang="T14">
                  <a:pos x="T8" y="T9"/>
                </a:cxn>
              </a:cxnLst>
              <a:rect l="T15" t="T16" r="T17" b="T18"/>
              <a:pathLst>
                <a:path w="163" h="164">
                  <a:moveTo>
                    <a:pt x="163" y="82"/>
                  </a:moveTo>
                  <a:lnTo>
                    <a:pt x="0" y="164"/>
                  </a:lnTo>
                  <a:cubicBezTo>
                    <a:pt x="25" y="112"/>
                    <a:pt x="25" y="51"/>
                    <a:pt x="0" y="0"/>
                  </a:cubicBezTo>
                  <a:lnTo>
                    <a:pt x="163"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08" name="Line 216">
              <a:extLst>
                <a:ext uri="{FF2B5EF4-FFF2-40B4-BE49-F238E27FC236}">
                  <a16:creationId xmlns:a16="http://schemas.microsoft.com/office/drawing/2014/main" id="{84CFC934-C32D-E04C-A058-310A7A0E0342}"/>
                </a:ext>
              </a:extLst>
            </p:cNvPr>
            <p:cNvSpPr>
              <a:spLocks noChangeShapeType="1"/>
            </p:cNvSpPr>
            <p:nvPr/>
          </p:nvSpPr>
          <p:spPr bwMode="auto">
            <a:xfrm>
              <a:off x="1169" y="3630"/>
              <a:ext cx="63" cy="0"/>
            </a:xfrm>
            <a:prstGeom prst="line">
              <a:avLst/>
            </a:prstGeom>
            <a:noFill/>
            <a:ln w="15875" cap="rnd">
              <a:solidFill>
                <a:srgbClr val="00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09" name="Freeform 217">
              <a:extLst>
                <a:ext uri="{FF2B5EF4-FFF2-40B4-BE49-F238E27FC236}">
                  <a16:creationId xmlns:a16="http://schemas.microsoft.com/office/drawing/2014/main" id="{B67806E2-D918-4545-824C-946184D4BA2F}"/>
                </a:ext>
              </a:extLst>
            </p:cNvPr>
            <p:cNvSpPr>
              <a:spLocks/>
            </p:cNvSpPr>
            <p:nvPr/>
          </p:nvSpPr>
          <p:spPr bwMode="auto">
            <a:xfrm>
              <a:off x="1217" y="3599"/>
              <a:ext cx="61"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1"/>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10" name="Line 218">
              <a:extLst>
                <a:ext uri="{FF2B5EF4-FFF2-40B4-BE49-F238E27FC236}">
                  <a16:creationId xmlns:a16="http://schemas.microsoft.com/office/drawing/2014/main" id="{A40E996B-E0F7-DE41-8245-D97237FAE850}"/>
                </a:ext>
              </a:extLst>
            </p:cNvPr>
            <p:cNvSpPr>
              <a:spLocks noChangeShapeType="1"/>
            </p:cNvSpPr>
            <p:nvPr/>
          </p:nvSpPr>
          <p:spPr bwMode="auto">
            <a:xfrm>
              <a:off x="1169" y="3476"/>
              <a:ext cx="63" cy="0"/>
            </a:xfrm>
            <a:prstGeom prst="line">
              <a:avLst/>
            </a:prstGeom>
            <a:noFill/>
            <a:ln w="15875" cap="rnd">
              <a:solidFill>
                <a:srgbClr val="00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11" name="Freeform 219">
              <a:extLst>
                <a:ext uri="{FF2B5EF4-FFF2-40B4-BE49-F238E27FC236}">
                  <a16:creationId xmlns:a16="http://schemas.microsoft.com/office/drawing/2014/main" id="{F913DBE1-D393-C748-B6AC-8B197DBAA501}"/>
                </a:ext>
              </a:extLst>
            </p:cNvPr>
            <p:cNvSpPr>
              <a:spLocks/>
            </p:cNvSpPr>
            <p:nvPr/>
          </p:nvSpPr>
          <p:spPr bwMode="auto">
            <a:xfrm>
              <a:off x="1217" y="3446"/>
              <a:ext cx="61"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1"/>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12" name="Line 220">
              <a:extLst>
                <a:ext uri="{FF2B5EF4-FFF2-40B4-BE49-F238E27FC236}">
                  <a16:creationId xmlns:a16="http://schemas.microsoft.com/office/drawing/2014/main" id="{2B0694E0-5D67-F543-8A4C-E3E3698FCE00}"/>
                </a:ext>
              </a:extLst>
            </p:cNvPr>
            <p:cNvSpPr>
              <a:spLocks noChangeShapeType="1"/>
            </p:cNvSpPr>
            <p:nvPr/>
          </p:nvSpPr>
          <p:spPr bwMode="auto">
            <a:xfrm>
              <a:off x="1169" y="3553"/>
              <a:ext cx="63" cy="0"/>
            </a:xfrm>
            <a:prstGeom prst="line">
              <a:avLst/>
            </a:prstGeom>
            <a:noFill/>
            <a:ln w="15875" cap="rnd">
              <a:solidFill>
                <a:srgbClr val="00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13" name="Freeform 221">
              <a:extLst>
                <a:ext uri="{FF2B5EF4-FFF2-40B4-BE49-F238E27FC236}">
                  <a16:creationId xmlns:a16="http://schemas.microsoft.com/office/drawing/2014/main" id="{BC04B347-CFC3-0D45-AFDB-1E6035B2CFA4}"/>
                </a:ext>
              </a:extLst>
            </p:cNvPr>
            <p:cNvSpPr>
              <a:spLocks/>
            </p:cNvSpPr>
            <p:nvPr/>
          </p:nvSpPr>
          <p:spPr bwMode="auto">
            <a:xfrm>
              <a:off x="1217" y="3522"/>
              <a:ext cx="61"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1"/>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9" name="Group 603">
            <a:extLst>
              <a:ext uri="{FF2B5EF4-FFF2-40B4-BE49-F238E27FC236}">
                <a16:creationId xmlns:a16="http://schemas.microsoft.com/office/drawing/2014/main" id="{13B1D973-CBC2-D241-B73F-EDCF44212232}"/>
              </a:ext>
            </a:extLst>
          </p:cNvPr>
          <p:cNvGrpSpPr>
            <a:grpSpLocks/>
          </p:cNvGrpSpPr>
          <p:nvPr/>
        </p:nvGrpSpPr>
        <p:grpSpPr bwMode="auto">
          <a:xfrm>
            <a:off x="2163763" y="5099050"/>
            <a:ext cx="277812" cy="765175"/>
            <a:chOff x="1363" y="3212"/>
            <a:chExt cx="175" cy="482"/>
          </a:xfrm>
        </p:grpSpPr>
        <p:sp>
          <p:nvSpPr>
            <p:cNvPr id="80094" name="Rectangle 222">
              <a:extLst>
                <a:ext uri="{FF2B5EF4-FFF2-40B4-BE49-F238E27FC236}">
                  <a16:creationId xmlns:a16="http://schemas.microsoft.com/office/drawing/2014/main" id="{1B09320C-7658-B24D-ADF3-8C5D18E07976}"/>
                </a:ext>
              </a:extLst>
            </p:cNvPr>
            <p:cNvSpPr>
              <a:spLocks noChangeArrowheads="1"/>
            </p:cNvSpPr>
            <p:nvPr/>
          </p:nvSpPr>
          <p:spPr bwMode="auto">
            <a:xfrm>
              <a:off x="1363" y="3338"/>
              <a:ext cx="175" cy="356"/>
            </a:xfrm>
            <a:prstGeom prst="rect">
              <a:avLst/>
            </a:prstGeom>
            <a:solidFill>
              <a:srgbClr val="FFCCCC"/>
            </a:solidFill>
            <a:ln w="19050">
              <a:solidFill>
                <a:schemeClr val="tx1"/>
              </a:solidFill>
              <a:prstDash val="lgDash"/>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95" name="Rectangle 224">
              <a:extLst>
                <a:ext uri="{FF2B5EF4-FFF2-40B4-BE49-F238E27FC236}">
                  <a16:creationId xmlns:a16="http://schemas.microsoft.com/office/drawing/2014/main" id="{6F691CE3-3EAA-3E49-B59E-A9DD99A28016}"/>
                </a:ext>
              </a:extLst>
            </p:cNvPr>
            <p:cNvSpPr>
              <a:spLocks noChangeArrowheads="1"/>
            </p:cNvSpPr>
            <p:nvPr/>
          </p:nvSpPr>
          <p:spPr bwMode="auto">
            <a:xfrm>
              <a:off x="1411" y="3212"/>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96" name="Line 225">
              <a:extLst>
                <a:ext uri="{FF2B5EF4-FFF2-40B4-BE49-F238E27FC236}">
                  <a16:creationId xmlns:a16="http://schemas.microsoft.com/office/drawing/2014/main" id="{4022F491-46C7-0C45-B3E8-6884943D9A5E}"/>
                </a:ext>
              </a:extLst>
            </p:cNvPr>
            <p:cNvSpPr>
              <a:spLocks noChangeShapeType="1"/>
            </p:cNvSpPr>
            <p:nvPr/>
          </p:nvSpPr>
          <p:spPr bwMode="auto">
            <a:xfrm>
              <a:off x="1407" y="3389"/>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97" name="Freeform 226">
              <a:extLst>
                <a:ext uri="{FF2B5EF4-FFF2-40B4-BE49-F238E27FC236}">
                  <a16:creationId xmlns:a16="http://schemas.microsoft.com/office/drawing/2014/main" id="{067B4EBC-36A1-C24A-BC98-8A031B076E81}"/>
                </a:ext>
              </a:extLst>
            </p:cNvPr>
            <p:cNvSpPr>
              <a:spLocks/>
            </p:cNvSpPr>
            <p:nvPr/>
          </p:nvSpPr>
          <p:spPr bwMode="auto">
            <a:xfrm>
              <a:off x="1455" y="3359"/>
              <a:ext cx="61"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1"/>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98" name="Line 227">
              <a:extLst>
                <a:ext uri="{FF2B5EF4-FFF2-40B4-BE49-F238E27FC236}">
                  <a16:creationId xmlns:a16="http://schemas.microsoft.com/office/drawing/2014/main" id="{6E16E323-1500-9648-9C96-7A0A37F44F10}"/>
                </a:ext>
              </a:extLst>
            </p:cNvPr>
            <p:cNvSpPr>
              <a:spLocks noChangeShapeType="1"/>
            </p:cNvSpPr>
            <p:nvPr/>
          </p:nvSpPr>
          <p:spPr bwMode="auto">
            <a:xfrm>
              <a:off x="1403" y="3630"/>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99" name="Freeform 228">
              <a:extLst>
                <a:ext uri="{FF2B5EF4-FFF2-40B4-BE49-F238E27FC236}">
                  <a16:creationId xmlns:a16="http://schemas.microsoft.com/office/drawing/2014/main" id="{B924FF7D-70EE-804B-A572-29C0BF89503C}"/>
                </a:ext>
              </a:extLst>
            </p:cNvPr>
            <p:cNvSpPr>
              <a:spLocks/>
            </p:cNvSpPr>
            <p:nvPr/>
          </p:nvSpPr>
          <p:spPr bwMode="auto">
            <a:xfrm>
              <a:off x="1451" y="3599"/>
              <a:ext cx="62"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5" y="112"/>
                    <a:pt x="25" y="51"/>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00" name="Line 229">
              <a:extLst>
                <a:ext uri="{FF2B5EF4-FFF2-40B4-BE49-F238E27FC236}">
                  <a16:creationId xmlns:a16="http://schemas.microsoft.com/office/drawing/2014/main" id="{7CDBB6DF-B0B6-B441-9BE4-7B32CA8F0169}"/>
                </a:ext>
              </a:extLst>
            </p:cNvPr>
            <p:cNvSpPr>
              <a:spLocks noChangeShapeType="1"/>
            </p:cNvSpPr>
            <p:nvPr/>
          </p:nvSpPr>
          <p:spPr bwMode="auto">
            <a:xfrm>
              <a:off x="1403" y="3476"/>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01" name="Freeform 230">
              <a:extLst>
                <a:ext uri="{FF2B5EF4-FFF2-40B4-BE49-F238E27FC236}">
                  <a16:creationId xmlns:a16="http://schemas.microsoft.com/office/drawing/2014/main" id="{E7598679-08FC-0F48-9CF0-FB7D84AA2DC9}"/>
                </a:ext>
              </a:extLst>
            </p:cNvPr>
            <p:cNvSpPr>
              <a:spLocks/>
            </p:cNvSpPr>
            <p:nvPr/>
          </p:nvSpPr>
          <p:spPr bwMode="auto">
            <a:xfrm>
              <a:off x="1451" y="3446"/>
              <a:ext cx="62"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5" y="112"/>
                    <a:pt x="25" y="51"/>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02" name="Line 231">
              <a:extLst>
                <a:ext uri="{FF2B5EF4-FFF2-40B4-BE49-F238E27FC236}">
                  <a16:creationId xmlns:a16="http://schemas.microsoft.com/office/drawing/2014/main" id="{53C9947B-0726-0C4A-A537-BA5E3A546447}"/>
                </a:ext>
              </a:extLst>
            </p:cNvPr>
            <p:cNvSpPr>
              <a:spLocks noChangeShapeType="1"/>
            </p:cNvSpPr>
            <p:nvPr/>
          </p:nvSpPr>
          <p:spPr bwMode="auto">
            <a:xfrm>
              <a:off x="1403" y="3553"/>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103" name="Freeform 232">
              <a:extLst>
                <a:ext uri="{FF2B5EF4-FFF2-40B4-BE49-F238E27FC236}">
                  <a16:creationId xmlns:a16="http://schemas.microsoft.com/office/drawing/2014/main" id="{C608D354-919B-DE41-89F5-A14F08852862}"/>
                </a:ext>
              </a:extLst>
            </p:cNvPr>
            <p:cNvSpPr>
              <a:spLocks/>
            </p:cNvSpPr>
            <p:nvPr/>
          </p:nvSpPr>
          <p:spPr bwMode="auto">
            <a:xfrm>
              <a:off x="1451" y="3522"/>
              <a:ext cx="62"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5" y="112"/>
                    <a:pt x="25" y="51"/>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0" name="Group 643">
            <a:extLst>
              <a:ext uri="{FF2B5EF4-FFF2-40B4-BE49-F238E27FC236}">
                <a16:creationId xmlns:a16="http://schemas.microsoft.com/office/drawing/2014/main" id="{C57D8809-AFD7-924E-86D1-4B7ADD7F645C}"/>
              </a:ext>
            </a:extLst>
          </p:cNvPr>
          <p:cNvGrpSpPr>
            <a:grpSpLocks/>
          </p:cNvGrpSpPr>
          <p:nvPr/>
        </p:nvGrpSpPr>
        <p:grpSpPr bwMode="auto">
          <a:xfrm>
            <a:off x="2535238" y="5099050"/>
            <a:ext cx="277812" cy="765175"/>
            <a:chOff x="1597" y="3212"/>
            <a:chExt cx="175" cy="482"/>
          </a:xfrm>
        </p:grpSpPr>
        <p:sp>
          <p:nvSpPr>
            <p:cNvPr id="80084" name="Rectangle 233">
              <a:extLst>
                <a:ext uri="{FF2B5EF4-FFF2-40B4-BE49-F238E27FC236}">
                  <a16:creationId xmlns:a16="http://schemas.microsoft.com/office/drawing/2014/main" id="{DCB1F99D-3CA9-A045-AD7B-1CC1094571C2}"/>
                </a:ext>
              </a:extLst>
            </p:cNvPr>
            <p:cNvSpPr>
              <a:spLocks noChangeArrowheads="1"/>
            </p:cNvSpPr>
            <p:nvPr/>
          </p:nvSpPr>
          <p:spPr bwMode="auto">
            <a:xfrm>
              <a:off x="1597" y="3338"/>
              <a:ext cx="175" cy="356"/>
            </a:xfrm>
            <a:prstGeom prst="rect">
              <a:avLst/>
            </a:prstGeom>
            <a:solidFill>
              <a:srgbClr val="CCFF99"/>
            </a:solidFill>
            <a:ln w="28575">
              <a:solidFill>
                <a:schemeClr val="tx1"/>
              </a:solidFill>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85" name="Rectangle 235">
              <a:extLst>
                <a:ext uri="{FF2B5EF4-FFF2-40B4-BE49-F238E27FC236}">
                  <a16:creationId xmlns:a16="http://schemas.microsoft.com/office/drawing/2014/main" id="{59171C2A-31B2-F14E-B459-823B20DBFB5D}"/>
                </a:ext>
              </a:extLst>
            </p:cNvPr>
            <p:cNvSpPr>
              <a:spLocks noChangeArrowheads="1"/>
            </p:cNvSpPr>
            <p:nvPr/>
          </p:nvSpPr>
          <p:spPr bwMode="auto">
            <a:xfrm>
              <a:off x="1645" y="3212"/>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B</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86" name="Line 236">
              <a:extLst>
                <a:ext uri="{FF2B5EF4-FFF2-40B4-BE49-F238E27FC236}">
                  <a16:creationId xmlns:a16="http://schemas.microsoft.com/office/drawing/2014/main" id="{CE6A753A-F159-7B41-9EE1-E9B7295210C9}"/>
                </a:ext>
              </a:extLst>
            </p:cNvPr>
            <p:cNvSpPr>
              <a:spLocks noChangeShapeType="1"/>
            </p:cNvSpPr>
            <p:nvPr/>
          </p:nvSpPr>
          <p:spPr bwMode="auto">
            <a:xfrm>
              <a:off x="1641" y="3389"/>
              <a:ext cx="63" cy="0"/>
            </a:xfrm>
            <a:prstGeom prst="line">
              <a:avLst/>
            </a:prstGeom>
            <a:noFill/>
            <a:ln w="15875" cap="rnd">
              <a:solidFill>
                <a:srgbClr val="00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87" name="Freeform 237">
              <a:extLst>
                <a:ext uri="{FF2B5EF4-FFF2-40B4-BE49-F238E27FC236}">
                  <a16:creationId xmlns:a16="http://schemas.microsoft.com/office/drawing/2014/main" id="{386833F4-C16F-6743-9B57-749F86FF802E}"/>
                </a:ext>
              </a:extLst>
            </p:cNvPr>
            <p:cNvSpPr>
              <a:spLocks/>
            </p:cNvSpPr>
            <p:nvPr/>
          </p:nvSpPr>
          <p:spPr bwMode="auto">
            <a:xfrm>
              <a:off x="1689" y="3359"/>
              <a:ext cx="61"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1"/>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88" name="Line 240">
              <a:extLst>
                <a:ext uri="{FF2B5EF4-FFF2-40B4-BE49-F238E27FC236}">
                  <a16:creationId xmlns:a16="http://schemas.microsoft.com/office/drawing/2014/main" id="{11C2397C-5A46-A34D-AEE1-1F63164444AA}"/>
                </a:ext>
              </a:extLst>
            </p:cNvPr>
            <p:cNvSpPr>
              <a:spLocks noChangeShapeType="1"/>
            </p:cNvSpPr>
            <p:nvPr/>
          </p:nvSpPr>
          <p:spPr bwMode="auto">
            <a:xfrm>
              <a:off x="1638" y="3476"/>
              <a:ext cx="62" cy="0"/>
            </a:xfrm>
            <a:prstGeom prst="line">
              <a:avLst/>
            </a:prstGeom>
            <a:noFill/>
            <a:ln w="15875" cap="rnd">
              <a:solidFill>
                <a:srgbClr val="00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89" name="Freeform 241">
              <a:extLst>
                <a:ext uri="{FF2B5EF4-FFF2-40B4-BE49-F238E27FC236}">
                  <a16:creationId xmlns:a16="http://schemas.microsoft.com/office/drawing/2014/main" id="{2626BAD3-9960-C54B-A49F-05055253B893}"/>
                </a:ext>
              </a:extLst>
            </p:cNvPr>
            <p:cNvSpPr>
              <a:spLocks/>
            </p:cNvSpPr>
            <p:nvPr/>
          </p:nvSpPr>
          <p:spPr bwMode="auto">
            <a:xfrm>
              <a:off x="1685" y="3446"/>
              <a:ext cx="62"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1"/>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90" name="Line 242">
              <a:extLst>
                <a:ext uri="{FF2B5EF4-FFF2-40B4-BE49-F238E27FC236}">
                  <a16:creationId xmlns:a16="http://schemas.microsoft.com/office/drawing/2014/main" id="{DD06B42E-13DB-7D4A-AA28-6D03EF1D606A}"/>
                </a:ext>
              </a:extLst>
            </p:cNvPr>
            <p:cNvSpPr>
              <a:spLocks noChangeShapeType="1"/>
            </p:cNvSpPr>
            <p:nvPr/>
          </p:nvSpPr>
          <p:spPr bwMode="auto">
            <a:xfrm>
              <a:off x="1638" y="3553"/>
              <a:ext cx="62" cy="0"/>
            </a:xfrm>
            <a:prstGeom prst="line">
              <a:avLst/>
            </a:prstGeom>
            <a:noFill/>
            <a:ln w="15875" cap="rnd">
              <a:solidFill>
                <a:srgbClr val="00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91" name="Freeform 243">
              <a:extLst>
                <a:ext uri="{FF2B5EF4-FFF2-40B4-BE49-F238E27FC236}">
                  <a16:creationId xmlns:a16="http://schemas.microsoft.com/office/drawing/2014/main" id="{263B19F3-78E5-9E46-A1E7-9285EA7BFB84}"/>
                </a:ext>
              </a:extLst>
            </p:cNvPr>
            <p:cNvSpPr>
              <a:spLocks/>
            </p:cNvSpPr>
            <p:nvPr/>
          </p:nvSpPr>
          <p:spPr bwMode="auto">
            <a:xfrm>
              <a:off x="1685" y="3522"/>
              <a:ext cx="62"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1"/>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92" name="Line 249">
              <a:extLst>
                <a:ext uri="{FF2B5EF4-FFF2-40B4-BE49-F238E27FC236}">
                  <a16:creationId xmlns:a16="http://schemas.microsoft.com/office/drawing/2014/main" id="{10656AA9-5AF0-3B42-88F8-A11350714DFC}"/>
                </a:ext>
              </a:extLst>
            </p:cNvPr>
            <p:cNvSpPr>
              <a:spLocks noChangeShapeType="1"/>
            </p:cNvSpPr>
            <p:nvPr/>
          </p:nvSpPr>
          <p:spPr bwMode="auto">
            <a:xfrm>
              <a:off x="1634" y="3629"/>
              <a:ext cx="62"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93" name="Freeform 250">
              <a:extLst>
                <a:ext uri="{FF2B5EF4-FFF2-40B4-BE49-F238E27FC236}">
                  <a16:creationId xmlns:a16="http://schemas.microsoft.com/office/drawing/2014/main" id="{32A267DB-A3FF-D947-BA09-AB11FBF217A1}"/>
                </a:ext>
              </a:extLst>
            </p:cNvPr>
            <p:cNvSpPr>
              <a:spLocks/>
            </p:cNvSpPr>
            <p:nvPr/>
          </p:nvSpPr>
          <p:spPr bwMode="auto">
            <a:xfrm>
              <a:off x="1681" y="3598"/>
              <a:ext cx="62"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1"/>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1" name="Group 644">
            <a:extLst>
              <a:ext uri="{FF2B5EF4-FFF2-40B4-BE49-F238E27FC236}">
                <a16:creationId xmlns:a16="http://schemas.microsoft.com/office/drawing/2014/main" id="{09103373-737E-BC4D-B1AA-013F11BAB06E}"/>
              </a:ext>
            </a:extLst>
          </p:cNvPr>
          <p:cNvGrpSpPr>
            <a:grpSpLocks/>
          </p:cNvGrpSpPr>
          <p:nvPr/>
        </p:nvGrpSpPr>
        <p:grpSpPr bwMode="auto">
          <a:xfrm>
            <a:off x="2906713" y="5099050"/>
            <a:ext cx="277812" cy="765175"/>
            <a:chOff x="1831" y="3212"/>
            <a:chExt cx="175" cy="482"/>
          </a:xfrm>
        </p:grpSpPr>
        <p:sp>
          <p:nvSpPr>
            <p:cNvPr id="80080" name="Rectangle 244">
              <a:extLst>
                <a:ext uri="{FF2B5EF4-FFF2-40B4-BE49-F238E27FC236}">
                  <a16:creationId xmlns:a16="http://schemas.microsoft.com/office/drawing/2014/main" id="{B37ACCB3-971D-514E-8A26-D3DF07F14C79}"/>
                </a:ext>
              </a:extLst>
            </p:cNvPr>
            <p:cNvSpPr>
              <a:spLocks noChangeArrowheads="1"/>
            </p:cNvSpPr>
            <p:nvPr/>
          </p:nvSpPr>
          <p:spPr bwMode="auto">
            <a:xfrm>
              <a:off x="1831" y="3338"/>
              <a:ext cx="175" cy="356"/>
            </a:xfrm>
            <a:prstGeom prst="rect">
              <a:avLst/>
            </a:prstGeom>
            <a:solidFill>
              <a:srgbClr val="CCFF99"/>
            </a:solidFill>
            <a:ln w="28575">
              <a:solidFill>
                <a:schemeClr val="tx1"/>
              </a:solidFill>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81" name="Rectangle 246">
              <a:extLst>
                <a:ext uri="{FF2B5EF4-FFF2-40B4-BE49-F238E27FC236}">
                  <a16:creationId xmlns:a16="http://schemas.microsoft.com/office/drawing/2014/main" id="{CA029258-5595-C646-BB9C-537CE341CFB6}"/>
                </a:ext>
              </a:extLst>
            </p:cNvPr>
            <p:cNvSpPr>
              <a:spLocks noChangeArrowheads="1"/>
            </p:cNvSpPr>
            <p:nvPr/>
          </p:nvSpPr>
          <p:spPr bwMode="auto">
            <a:xfrm>
              <a:off x="1879" y="3212"/>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B</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82" name="Line 253">
              <a:extLst>
                <a:ext uri="{FF2B5EF4-FFF2-40B4-BE49-F238E27FC236}">
                  <a16:creationId xmlns:a16="http://schemas.microsoft.com/office/drawing/2014/main" id="{80C6483D-8025-464A-B281-40EB3E02F3DF}"/>
                </a:ext>
              </a:extLst>
            </p:cNvPr>
            <p:cNvSpPr>
              <a:spLocks noChangeShapeType="1"/>
            </p:cNvSpPr>
            <p:nvPr/>
          </p:nvSpPr>
          <p:spPr bwMode="auto">
            <a:xfrm>
              <a:off x="1872" y="3553"/>
              <a:ext cx="62"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83" name="Freeform 254">
              <a:extLst>
                <a:ext uri="{FF2B5EF4-FFF2-40B4-BE49-F238E27FC236}">
                  <a16:creationId xmlns:a16="http://schemas.microsoft.com/office/drawing/2014/main" id="{4967FC08-266F-A342-A637-86D5511478E6}"/>
                </a:ext>
              </a:extLst>
            </p:cNvPr>
            <p:cNvSpPr>
              <a:spLocks/>
            </p:cNvSpPr>
            <p:nvPr/>
          </p:nvSpPr>
          <p:spPr bwMode="auto">
            <a:xfrm>
              <a:off x="1919" y="3522"/>
              <a:ext cx="62"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1"/>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2" name="Group 611">
            <a:extLst>
              <a:ext uri="{FF2B5EF4-FFF2-40B4-BE49-F238E27FC236}">
                <a16:creationId xmlns:a16="http://schemas.microsoft.com/office/drawing/2014/main" id="{7C96A81C-8AB8-F54B-BEF3-C50A5AB64BA1}"/>
              </a:ext>
            </a:extLst>
          </p:cNvPr>
          <p:cNvGrpSpPr>
            <a:grpSpLocks/>
          </p:cNvGrpSpPr>
          <p:nvPr/>
        </p:nvGrpSpPr>
        <p:grpSpPr bwMode="auto">
          <a:xfrm>
            <a:off x="5129213" y="5099050"/>
            <a:ext cx="276225" cy="765175"/>
            <a:chOff x="3231" y="3212"/>
            <a:chExt cx="174" cy="482"/>
          </a:xfrm>
        </p:grpSpPr>
        <p:sp>
          <p:nvSpPr>
            <p:cNvPr id="80070" name="Rectangle 255">
              <a:extLst>
                <a:ext uri="{FF2B5EF4-FFF2-40B4-BE49-F238E27FC236}">
                  <a16:creationId xmlns:a16="http://schemas.microsoft.com/office/drawing/2014/main" id="{0283B989-C244-5A4B-BB60-2C0A31F6D0D1}"/>
                </a:ext>
              </a:extLst>
            </p:cNvPr>
            <p:cNvSpPr>
              <a:spLocks noChangeArrowheads="1"/>
            </p:cNvSpPr>
            <p:nvPr/>
          </p:nvSpPr>
          <p:spPr bwMode="auto">
            <a:xfrm>
              <a:off x="3231" y="3338"/>
              <a:ext cx="174" cy="356"/>
            </a:xfrm>
            <a:prstGeom prst="rect">
              <a:avLst/>
            </a:prstGeom>
            <a:solidFill>
              <a:srgbClr val="CCFFFF"/>
            </a:solidFill>
            <a:ln w="19050">
              <a:solidFill>
                <a:schemeClr val="tx1"/>
              </a:solidFill>
              <a:prstDash val="lgDash"/>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71" name="Rectangle 257">
              <a:extLst>
                <a:ext uri="{FF2B5EF4-FFF2-40B4-BE49-F238E27FC236}">
                  <a16:creationId xmlns:a16="http://schemas.microsoft.com/office/drawing/2014/main" id="{025D2109-999E-B348-A7D8-0BA248C9185A}"/>
                </a:ext>
              </a:extLst>
            </p:cNvPr>
            <p:cNvSpPr>
              <a:spLocks noChangeArrowheads="1"/>
            </p:cNvSpPr>
            <p:nvPr/>
          </p:nvSpPr>
          <p:spPr bwMode="auto">
            <a:xfrm>
              <a:off x="3271" y="3212"/>
              <a:ext cx="8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G</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72" name="Line 258">
              <a:extLst>
                <a:ext uri="{FF2B5EF4-FFF2-40B4-BE49-F238E27FC236}">
                  <a16:creationId xmlns:a16="http://schemas.microsoft.com/office/drawing/2014/main" id="{1AF1A189-D256-B74C-AAC2-CC7BAF60C56D}"/>
                </a:ext>
              </a:extLst>
            </p:cNvPr>
            <p:cNvSpPr>
              <a:spLocks noChangeShapeType="1"/>
            </p:cNvSpPr>
            <p:nvPr/>
          </p:nvSpPr>
          <p:spPr bwMode="auto">
            <a:xfrm>
              <a:off x="3274" y="3389"/>
              <a:ext cx="63" cy="0"/>
            </a:xfrm>
            <a:prstGeom prst="line">
              <a:avLst/>
            </a:prstGeom>
            <a:noFill/>
            <a:ln w="15875" cap="rnd">
              <a:solidFill>
                <a:srgbClr val="00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73" name="Freeform 259">
              <a:extLst>
                <a:ext uri="{FF2B5EF4-FFF2-40B4-BE49-F238E27FC236}">
                  <a16:creationId xmlns:a16="http://schemas.microsoft.com/office/drawing/2014/main" id="{2DA2D6D9-A1AF-5342-8E78-EAD5FEA8EEF8}"/>
                </a:ext>
              </a:extLst>
            </p:cNvPr>
            <p:cNvSpPr>
              <a:spLocks/>
            </p:cNvSpPr>
            <p:nvPr/>
          </p:nvSpPr>
          <p:spPr bwMode="auto">
            <a:xfrm>
              <a:off x="3322" y="3359"/>
              <a:ext cx="61" cy="61"/>
            </a:xfrm>
            <a:custGeom>
              <a:avLst/>
              <a:gdLst>
                <a:gd name="T0" fmla="*/ 0 w 163"/>
                <a:gd name="T1" fmla="*/ 0 h 164"/>
                <a:gd name="T2" fmla="*/ 0 w 163"/>
                <a:gd name="T3" fmla="*/ 0 h 164"/>
                <a:gd name="T4" fmla="*/ 0 w 163"/>
                <a:gd name="T5" fmla="*/ 0 h 164"/>
                <a:gd name="T6" fmla="*/ 0 w 163"/>
                <a:gd name="T7" fmla="*/ 0 h 164"/>
                <a:gd name="T8" fmla="*/ 0 w 163"/>
                <a:gd name="T9" fmla="*/ 0 h 164"/>
                <a:gd name="T10" fmla="*/ 0 60000 65536"/>
                <a:gd name="T11" fmla="*/ 0 60000 65536"/>
                <a:gd name="T12" fmla="*/ 0 60000 65536"/>
                <a:gd name="T13" fmla="*/ 0 60000 65536"/>
                <a:gd name="T14" fmla="*/ 0 60000 65536"/>
                <a:gd name="T15" fmla="*/ 0 w 163"/>
                <a:gd name="T16" fmla="*/ 0 h 164"/>
                <a:gd name="T17" fmla="*/ 163 w 163"/>
                <a:gd name="T18" fmla="*/ 164 h 164"/>
              </a:gdLst>
              <a:ahLst/>
              <a:cxnLst>
                <a:cxn ang="T10">
                  <a:pos x="T0" y="T1"/>
                </a:cxn>
                <a:cxn ang="T11">
                  <a:pos x="T2" y="T3"/>
                </a:cxn>
                <a:cxn ang="T12">
                  <a:pos x="T4" y="T5"/>
                </a:cxn>
                <a:cxn ang="T13">
                  <a:pos x="T6" y="T7"/>
                </a:cxn>
                <a:cxn ang="T14">
                  <a:pos x="T8" y="T9"/>
                </a:cxn>
              </a:cxnLst>
              <a:rect l="T15" t="T16" r="T17" b="T18"/>
              <a:pathLst>
                <a:path w="163" h="164">
                  <a:moveTo>
                    <a:pt x="163" y="82"/>
                  </a:moveTo>
                  <a:lnTo>
                    <a:pt x="0" y="164"/>
                  </a:lnTo>
                  <a:cubicBezTo>
                    <a:pt x="25" y="112"/>
                    <a:pt x="25" y="51"/>
                    <a:pt x="0" y="0"/>
                  </a:cubicBezTo>
                  <a:lnTo>
                    <a:pt x="163"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74" name="Line 260">
              <a:extLst>
                <a:ext uri="{FF2B5EF4-FFF2-40B4-BE49-F238E27FC236}">
                  <a16:creationId xmlns:a16="http://schemas.microsoft.com/office/drawing/2014/main" id="{2B8E2989-C45F-D548-92ED-72FCC71BC2DD}"/>
                </a:ext>
              </a:extLst>
            </p:cNvPr>
            <p:cNvSpPr>
              <a:spLocks noChangeShapeType="1"/>
            </p:cNvSpPr>
            <p:nvPr/>
          </p:nvSpPr>
          <p:spPr bwMode="auto">
            <a:xfrm>
              <a:off x="3271" y="3630"/>
              <a:ext cx="62" cy="0"/>
            </a:xfrm>
            <a:prstGeom prst="line">
              <a:avLst/>
            </a:prstGeom>
            <a:noFill/>
            <a:ln w="15875" cap="rnd">
              <a:solidFill>
                <a:srgbClr val="00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75" name="Freeform 261">
              <a:extLst>
                <a:ext uri="{FF2B5EF4-FFF2-40B4-BE49-F238E27FC236}">
                  <a16:creationId xmlns:a16="http://schemas.microsoft.com/office/drawing/2014/main" id="{FD7DC62D-D19F-AD4D-8EA2-19E020C4BEB6}"/>
                </a:ext>
              </a:extLst>
            </p:cNvPr>
            <p:cNvSpPr>
              <a:spLocks/>
            </p:cNvSpPr>
            <p:nvPr/>
          </p:nvSpPr>
          <p:spPr bwMode="auto">
            <a:xfrm>
              <a:off x="3318" y="3599"/>
              <a:ext cx="62"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1"/>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76" name="Line 262">
              <a:extLst>
                <a:ext uri="{FF2B5EF4-FFF2-40B4-BE49-F238E27FC236}">
                  <a16:creationId xmlns:a16="http://schemas.microsoft.com/office/drawing/2014/main" id="{C3D5016D-34D7-7F43-9F9E-0C34A85650D4}"/>
                </a:ext>
              </a:extLst>
            </p:cNvPr>
            <p:cNvSpPr>
              <a:spLocks noChangeShapeType="1"/>
            </p:cNvSpPr>
            <p:nvPr/>
          </p:nvSpPr>
          <p:spPr bwMode="auto">
            <a:xfrm>
              <a:off x="3271" y="3476"/>
              <a:ext cx="62" cy="0"/>
            </a:xfrm>
            <a:prstGeom prst="line">
              <a:avLst/>
            </a:prstGeom>
            <a:noFill/>
            <a:ln w="15875" cap="rnd">
              <a:solidFill>
                <a:srgbClr val="00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77" name="Freeform 263">
              <a:extLst>
                <a:ext uri="{FF2B5EF4-FFF2-40B4-BE49-F238E27FC236}">
                  <a16:creationId xmlns:a16="http://schemas.microsoft.com/office/drawing/2014/main" id="{D0C6240B-8828-4E4C-A591-5264B96B576D}"/>
                </a:ext>
              </a:extLst>
            </p:cNvPr>
            <p:cNvSpPr>
              <a:spLocks/>
            </p:cNvSpPr>
            <p:nvPr/>
          </p:nvSpPr>
          <p:spPr bwMode="auto">
            <a:xfrm>
              <a:off x="3318" y="3446"/>
              <a:ext cx="62"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1"/>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78" name="Line 264">
              <a:extLst>
                <a:ext uri="{FF2B5EF4-FFF2-40B4-BE49-F238E27FC236}">
                  <a16:creationId xmlns:a16="http://schemas.microsoft.com/office/drawing/2014/main" id="{25117EC7-921F-3041-8597-DE409745E49B}"/>
                </a:ext>
              </a:extLst>
            </p:cNvPr>
            <p:cNvSpPr>
              <a:spLocks noChangeShapeType="1"/>
            </p:cNvSpPr>
            <p:nvPr/>
          </p:nvSpPr>
          <p:spPr bwMode="auto">
            <a:xfrm>
              <a:off x="3271" y="3553"/>
              <a:ext cx="62" cy="0"/>
            </a:xfrm>
            <a:prstGeom prst="line">
              <a:avLst/>
            </a:prstGeom>
            <a:noFill/>
            <a:ln w="15875" cap="rnd">
              <a:solidFill>
                <a:srgbClr val="00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79" name="Freeform 265">
              <a:extLst>
                <a:ext uri="{FF2B5EF4-FFF2-40B4-BE49-F238E27FC236}">
                  <a16:creationId xmlns:a16="http://schemas.microsoft.com/office/drawing/2014/main" id="{4B4F098D-85E3-CB4A-AF08-ECD88570945E}"/>
                </a:ext>
              </a:extLst>
            </p:cNvPr>
            <p:cNvSpPr>
              <a:spLocks/>
            </p:cNvSpPr>
            <p:nvPr/>
          </p:nvSpPr>
          <p:spPr bwMode="auto">
            <a:xfrm>
              <a:off x="3318" y="3522"/>
              <a:ext cx="62"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1"/>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3" name="Group 612">
            <a:extLst>
              <a:ext uri="{FF2B5EF4-FFF2-40B4-BE49-F238E27FC236}">
                <a16:creationId xmlns:a16="http://schemas.microsoft.com/office/drawing/2014/main" id="{D619F426-E05A-064A-B53B-00C3B893A081}"/>
              </a:ext>
            </a:extLst>
          </p:cNvPr>
          <p:cNvGrpSpPr>
            <a:grpSpLocks/>
          </p:cNvGrpSpPr>
          <p:nvPr/>
        </p:nvGrpSpPr>
        <p:grpSpPr bwMode="auto">
          <a:xfrm>
            <a:off x="5500688" y="5099050"/>
            <a:ext cx="276225" cy="765175"/>
            <a:chOff x="3465" y="3212"/>
            <a:chExt cx="174" cy="482"/>
          </a:xfrm>
        </p:grpSpPr>
        <p:sp>
          <p:nvSpPr>
            <p:cNvPr id="80060" name="Rectangle 266">
              <a:extLst>
                <a:ext uri="{FF2B5EF4-FFF2-40B4-BE49-F238E27FC236}">
                  <a16:creationId xmlns:a16="http://schemas.microsoft.com/office/drawing/2014/main" id="{5D878033-8B6B-D547-B338-C2950D04EC51}"/>
                </a:ext>
              </a:extLst>
            </p:cNvPr>
            <p:cNvSpPr>
              <a:spLocks noChangeArrowheads="1"/>
            </p:cNvSpPr>
            <p:nvPr/>
          </p:nvSpPr>
          <p:spPr bwMode="auto">
            <a:xfrm>
              <a:off x="3465" y="3338"/>
              <a:ext cx="174" cy="356"/>
            </a:xfrm>
            <a:prstGeom prst="rect">
              <a:avLst/>
            </a:prstGeom>
            <a:solidFill>
              <a:srgbClr val="FFCCCC"/>
            </a:solidFill>
            <a:ln w="19050">
              <a:solidFill>
                <a:schemeClr val="tx1"/>
              </a:solidFill>
              <a:prstDash val="lgDash"/>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61" name="Rectangle 268">
              <a:extLst>
                <a:ext uri="{FF2B5EF4-FFF2-40B4-BE49-F238E27FC236}">
                  <a16:creationId xmlns:a16="http://schemas.microsoft.com/office/drawing/2014/main" id="{FC87EB34-224E-F64C-87EB-376A9BAC38EF}"/>
                </a:ext>
              </a:extLst>
            </p:cNvPr>
            <p:cNvSpPr>
              <a:spLocks noChangeArrowheads="1"/>
            </p:cNvSpPr>
            <p:nvPr/>
          </p:nvSpPr>
          <p:spPr bwMode="auto">
            <a:xfrm>
              <a:off x="3505" y="3212"/>
              <a:ext cx="8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G</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62" name="Line 269">
              <a:extLst>
                <a:ext uri="{FF2B5EF4-FFF2-40B4-BE49-F238E27FC236}">
                  <a16:creationId xmlns:a16="http://schemas.microsoft.com/office/drawing/2014/main" id="{5FD81666-187B-214A-ABFF-FE99B9ED78DC}"/>
                </a:ext>
              </a:extLst>
            </p:cNvPr>
            <p:cNvSpPr>
              <a:spLocks noChangeShapeType="1"/>
            </p:cNvSpPr>
            <p:nvPr/>
          </p:nvSpPr>
          <p:spPr bwMode="auto">
            <a:xfrm>
              <a:off x="3508" y="3389"/>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63" name="Freeform 270">
              <a:extLst>
                <a:ext uri="{FF2B5EF4-FFF2-40B4-BE49-F238E27FC236}">
                  <a16:creationId xmlns:a16="http://schemas.microsoft.com/office/drawing/2014/main" id="{6AC02D8B-FE3F-A046-B0A5-AC4C18D6E11F}"/>
                </a:ext>
              </a:extLst>
            </p:cNvPr>
            <p:cNvSpPr>
              <a:spLocks/>
            </p:cNvSpPr>
            <p:nvPr/>
          </p:nvSpPr>
          <p:spPr bwMode="auto">
            <a:xfrm>
              <a:off x="3556" y="3359"/>
              <a:ext cx="62"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1"/>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64" name="Line 271">
              <a:extLst>
                <a:ext uri="{FF2B5EF4-FFF2-40B4-BE49-F238E27FC236}">
                  <a16:creationId xmlns:a16="http://schemas.microsoft.com/office/drawing/2014/main" id="{BEE9311D-4CE5-A147-8926-9B6D768FFB24}"/>
                </a:ext>
              </a:extLst>
            </p:cNvPr>
            <p:cNvSpPr>
              <a:spLocks noChangeShapeType="1"/>
            </p:cNvSpPr>
            <p:nvPr/>
          </p:nvSpPr>
          <p:spPr bwMode="auto">
            <a:xfrm>
              <a:off x="3505" y="3630"/>
              <a:ext cx="62"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65" name="Freeform 272">
              <a:extLst>
                <a:ext uri="{FF2B5EF4-FFF2-40B4-BE49-F238E27FC236}">
                  <a16:creationId xmlns:a16="http://schemas.microsoft.com/office/drawing/2014/main" id="{52D26510-642C-184E-B2C0-5C2E8B8839EF}"/>
                </a:ext>
              </a:extLst>
            </p:cNvPr>
            <p:cNvSpPr>
              <a:spLocks/>
            </p:cNvSpPr>
            <p:nvPr/>
          </p:nvSpPr>
          <p:spPr bwMode="auto">
            <a:xfrm>
              <a:off x="3553" y="3599"/>
              <a:ext cx="61" cy="62"/>
            </a:xfrm>
            <a:custGeom>
              <a:avLst/>
              <a:gdLst>
                <a:gd name="T0" fmla="*/ 0 w 163"/>
                <a:gd name="T1" fmla="*/ 0 h 164"/>
                <a:gd name="T2" fmla="*/ 0 w 163"/>
                <a:gd name="T3" fmla="*/ 0 h 164"/>
                <a:gd name="T4" fmla="*/ 0 w 163"/>
                <a:gd name="T5" fmla="*/ 0 h 164"/>
                <a:gd name="T6" fmla="*/ 0 w 163"/>
                <a:gd name="T7" fmla="*/ 0 h 164"/>
                <a:gd name="T8" fmla="*/ 0 w 163"/>
                <a:gd name="T9" fmla="*/ 0 h 164"/>
                <a:gd name="T10" fmla="*/ 0 60000 65536"/>
                <a:gd name="T11" fmla="*/ 0 60000 65536"/>
                <a:gd name="T12" fmla="*/ 0 60000 65536"/>
                <a:gd name="T13" fmla="*/ 0 60000 65536"/>
                <a:gd name="T14" fmla="*/ 0 60000 65536"/>
                <a:gd name="T15" fmla="*/ 0 w 163"/>
                <a:gd name="T16" fmla="*/ 0 h 164"/>
                <a:gd name="T17" fmla="*/ 163 w 163"/>
                <a:gd name="T18" fmla="*/ 164 h 164"/>
              </a:gdLst>
              <a:ahLst/>
              <a:cxnLst>
                <a:cxn ang="T10">
                  <a:pos x="T0" y="T1"/>
                </a:cxn>
                <a:cxn ang="T11">
                  <a:pos x="T2" y="T3"/>
                </a:cxn>
                <a:cxn ang="T12">
                  <a:pos x="T4" y="T5"/>
                </a:cxn>
                <a:cxn ang="T13">
                  <a:pos x="T6" y="T7"/>
                </a:cxn>
                <a:cxn ang="T14">
                  <a:pos x="T8" y="T9"/>
                </a:cxn>
              </a:cxnLst>
              <a:rect l="T15" t="T16" r="T17" b="T18"/>
              <a:pathLst>
                <a:path w="163" h="164">
                  <a:moveTo>
                    <a:pt x="163" y="82"/>
                  </a:moveTo>
                  <a:lnTo>
                    <a:pt x="0" y="164"/>
                  </a:lnTo>
                  <a:cubicBezTo>
                    <a:pt x="25" y="112"/>
                    <a:pt x="25" y="51"/>
                    <a:pt x="0" y="0"/>
                  </a:cubicBezTo>
                  <a:lnTo>
                    <a:pt x="163"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66" name="Line 273">
              <a:extLst>
                <a:ext uri="{FF2B5EF4-FFF2-40B4-BE49-F238E27FC236}">
                  <a16:creationId xmlns:a16="http://schemas.microsoft.com/office/drawing/2014/main" id="{C8AE74D5-99C8-7948-AC3C-31936FDDFF7F}"/>
                </a:ext>
              </a:extLst>
            </p:cNvPr>
            <p:cNvSpPr>
              <a:spLocks noChangeShapeType="1"/>
            </p:cNvSpPr>
            <p:nvPr/>
          </p:nvSpPr>
          <p:spPr bwMode="auto">
            <a:xfrm>
              <a:off x="3505" y="3476"/>
              <a:ext cx="62"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67" name="Freeform 274">
              <a:extLst>
                <a:ext uri="{FF2B5EF4-FFF2-40B4-BE49-F238E27FC236}">
                  <a16:creationId xmlns:a16="http://schemas.microsoft.com/office/drawing/2014/main" id="{6EED873F-69CE-A94B-B255-0C22DB4B8069}"/>
                </a:ext>
              </a:extLst>
            </p:cNvPr>
            <p:cNvSpPr>
              <a:spLocks/>
            </p:cNvSpPr>
            <p:nvPr/>
          </p:nvSpPr>
          <p:spPr bwMode="auto">
            <a:xfrm>
              <a:off x="3553" y="3446"/>
              <a:ext cx="61" cy="61"/>
            </a:xfrm>
            <a:custGeom>
              <a:avLst/>
              <a:gdLst>
                <a:gd name="T0" fmla="*/ 0 w 163"/>
                <a:gd name="T1" fmla="*/ 0 h 164"/>
                <a:gd name="T2" fmla="*/ 0 w 163"/>
                <a:gd name="T3" fmla="*/ 0 h 164"/>
                <a:gd name="T4" fmla="*/ 0 w 163"/>
                <a:gd name="T5" fmla="*/ 0 h 164"/>
                <a:gd name="T6" fmla="*/ 0 w 163"/>
                <a:gd name="T7" fmla="*/ 0 h 164"/>
                <a:gd name="T8" fmla="*/ 0 w 163"/>
                <a:gd name="T9" fmla="*/ 0 h 164"/>
                <a:gd name="T10" fmla="*/ 0 60000 65536"/>
                <a:gd name="T11" fmla="*/ 0 60000 65536"/>
                <a:gd name="T12" fmla="*/ 0 60000 65536"/>
                <a:gd name="T13" fmla="*/ 0 60000 65536"/>
                <a:gd name="T14" fmla="*/ 0 60000 65536"/>
                <a:gd name="T15" fmla="*/ 0 w 163"/>
                <a:gd name="T16" fmla="*/ 0 h 164"/>
                <a:gd name="T17" fmla="*/ 163 w 163"/>
                <a:gd name="T18" fmla="*/ 164 h 164"/>
              </a:gdLst>
              <a:ahLst/>
              <a:cxnLst>
                <a:cxn ang="T10">
                  <a:pos x="T0" y="T1"/>
                </a:cxn>
                <a:cxn ang="T11">
                  <a:pos x="T2" y="T3"/>
                </a:cxn>
                <a:cxn ang="T12">
                  <a:pos x="T4" y="T5"/>
                </a:cxn>
                <a:cxn ang="T13">
                  <a:pos x="T6" y="T7"/>
                </a:cxn>
                <a:cxn ang="T14">
                  <a:pos x="T8" y="T9"/>
                </a:cxn>
              </a:cxnLst>
              <a:rect l="T15" t="T16" r="T17" b="T18"/>
              <a:pathLst>
                <a:path w="163" h="164">
                  <a:moveTo>
                    <a:pt x="163" y="82"/>
                  </a:moveTo>
                  <a:lnTo>
                    <a:pt x="0" y="164"/>
                  </a:lnTo>
                  <a:cubicBezTo>
                    <a:pt x="25" y="112"/>
                    <a:pt x="25" y="51"/>
                    <a:pt x="0" y="0"/>
                  </a:cubicBezTo>
                  <a:lnTo>
                    <a:pt x="163"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68" name="Line 275">
              <a:extLst>
                <a:ext uri="{FF2B5EF4-FFF2-40B4-BE49-F238E27FC236}">
                  <a16:creationId xmlns:a16="http://schemas.microsoft.com/office/drawing/2014/main" id="{654C27B2-33E3-3E47-A7B2-A0021CA36FED}"/>
                </a:ext>
              </a:extLst>
            </p:cNvPr>
            <p:cNvSpPr>
              <a:spLocks noChangeShapeType="1"/>
            </p:cNvSpPr>
            <p:nvPr/>
          </p:nvSpPr>
          <p:spPr bwMode="auto">
            <a:xfrm>
              <a:off x="3505" y="3553"/>
              <a:ext cx="62"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69" name="Freeform 276">
              <a:extLst>
                <a:ext uri="{FF2B5EF4-FFF2-40B4-BE49-F238E27FC236}">
                  <a16:creationId xmlns:a16="http://schemas.microsoft.com/office/drawing/2014/main" id="{582E6D6E-7262-9049-9A54-368B5057E58E}"/>
                </a:ext>
              </a:extLst>
            </p:cNvPr>
            <p:cNvSpPr>
              <a:spLocks/>
            </p:cNvSpPr>
            <p:nvPr/>
          </p:nvSpPr>
          <p:spPr bwMode="auto">
            <a:xfrm>
              <a:off x="3553" y="3522"/>
              <a:ext cx="61" cy="62"/>
            </a:xfrm>
            <a:custGeom>
              <a:avLst/>
              <a:gdLst>
                <a:gd name="T0" fmla="*/ 0 w 163"/>
                <a:gd name="T1" fmla="*/ 0 h 164"/>
                <a:gd name="T2" fmla="*/ 0 w 163"/>
                <a:gd name="T3" fmla="*/ 0 h 164"/>
                <a:gd name="T4" fmla="*/ 0 w 163"/>
                <a:gd name="T5" fmla="*/ 0 h 164"/>
                <a:gd name="T6" fmla="*/ 0 w 163"/>
                <a:gd name="T7" fmla="*/ 0 h 164"/>
                <a:gd name="T8" fmla="*/ 0 w 163"/>
                <a:gd name="T9" fmla="*/ 0 h 164"/>
                <a:gd name="T10" fmla="*/ 0 60000 65536"/>
                <a:gd name="T11" fmla="*/ 0 60000 65536"/>
                <a:gd name="T12" fmla="*/ 0 60000 65536"/>
                <a:gd name="T13" fmla="*/ 0 60000 65536"/>
                <a:gd name="T14" fmla="*/ 0 60000 65536"/>
                <a:gd name="T15" fmla="*/ 0 w 163"/>
                <a:gd name="T16" fmla="*/ 0 h 164"/>
                <a:gd name="T17" fmla="*/ 163 w 163"/>
                <a:gd name="T18" fmla="*/ 164 h 164"/>
              </a:gdLst>
              <a:ahLst/>
              <a:cxnLst>
                <a:cxn ang="T10">
                  <a:pos x="T0" y="T1"/>
                </a:cxn>
                <a:cxn ang="T11">
                  <a:pos x="T2" y="T3"/>
                </a:cxn>
                <a:cxn ang="T12">
                  <a:pos x="T4" y="T5"/>
                </a:cxn>
                <a:cxn ang="T13">
                  <a:pos x="T6" y="T7"/>
                </a:cxn>
                <a:cxn ang="T14">
                  <a:pos x="T8" y="T9"/>
                </a:cxn>
              </a:cxnLst>
              <a:rect l="T15" t="T16" r="T17" b="T18"/>
              <a:pathLst>
                <a:path w="163" h="164">
                  <a:moveTo>
                    <a:pt x="163" y="82"/>
                  </a:moveTo>
                  <a:lnTo>
                    <a:pt x="0" y="164"/>
                  </a:lnTo>
                  <a:cubicBezTo>
                    <a:pt x="25" y="112"/>
                    <a:pt x="25" y="51"/>
                    <a:pt x="0" y="0"/>
                  </a:cubicBezTo>
                  <a:lnTo>
                    <a:pt x="163"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4" name="Group 613">
            <a:extLst>
              <a:ext uri="{FF2B5EF4-FFF2-40B4-BE49-F238E27FC236}">
                <a16:creationId xmlns:a16="http://schemas.microsoft.com/office/drawing/2014/main" id="{F0D90473-7143-4541-8D95-8794905FC2FF}"/>
              </a:ext>
            </a:extLst>
          </p:cNvPr>
          <p:cNvGrpSpPr>
            <a:grpSpLocks/>
          </p:cNvGrpSpPr>
          <p:nvPr/>
        </p:nvGrpSpPr>
        <p:grpSpPr bwMode="auto">
          <a:xfrm>
            <a:off x="5872163" y="5099050"/>
            <a:ext cx="276225" cy="765175"/>
            <a:chOff x="3699" y="3212"/>
            <a:chExt cx="174" cy="482"/>
          </a:xfrm>
        </p:grpSpPr>
        <p:sp>
          <p:nvSpPr>
            <p:cNvPr id="80050" name="Rectangle 277">
              <a:extLst>
                <a:ext uri="{FF2B5EF4-FFF2-40B4-BE49-F238E27FC236}">
                  <a16:creationId xmlns:a16="http://schemas.microsoft.com/office/drawing/2014/main" id="{B8C92867-16F7-F341-9B03-C70C6463AD86}"/>
                </a:ext>
              </a:extLst>
            </p:cNvPr>
            <p:cNvSpPr>
              <a:spLocks noChangeArrowheads="1"/>
            </p:cNvSpPr>
            <p:nvPr/>
          </p:nvSpPr>
          <p:spPr bwMode="auto">
            <a:xfrm>
              <a:off x="3699" y="3338"/>
              <a:ext cx="174" cy="356"/>
            </a:xfrm>
            <a:prstGeom prst="rect">
              <a:avLst/>
            </a:prstGeom>
            <a:solidFill>
              <a:srgbClr val="CCFFFF"/>
            </a:solidFill>
            <a:ln w="19050">
              <a:solidFill>
                <a:schemeClr val="tx1"/>
              </a:solidFill>
              <a:prstDash val="lgDash"/>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51" name="Rectangle 279">
              <a:extLst>
                <a:ext uri="{FF2B5EF4-FFF2-40B4-BE49-F238E27FC236}">
                  <a16:creationId xmlns:a16="http://schemas.microsoft.com/office/drawing/2014/main" id="{194BAC27-C226-164A-9363-2CD15E20F98F}"/>
                </a:ext>
              </a:extLst>
            </p:cNvPr>
            <p:cNvSpPr>
              <a:spLocks noChangeArrowheads="1"/>
            </p:cNvSpPr>
            <p:nvPr/>
          </p:nvSpPr>
          <p:spPr bwMode="auto">
            <a:xfrm>
              <a:off x="3751" y="3212"/>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52" name="Line 280">
              <a:extLst>
                <a:ext uri="{FF2B5EF4-FFF2-40B4-BE49-F238E27FC236}">
                  <a16:creationId xmlns:a16="http://schemas.microsoft.com/office/drawing/2014/main" id="{8A24C5EB-F3F8-674F-A01B-AA49BE46BD2A}"/>
                </a:ext>
              </a:extLst>
            </p:cNvPr>
            <p:cNvSpPr>
              <a:spLocks noChangeShapeType="1"/>
            </p:cNvSpPr>
            <p:nvPr/>
          </p:nvSpPr>
          <p:spPr bwMode="auto">
            <a:xfrm>
              <a:off x="3742" y="3389"/>
              <a:ext cx="63" cy="0"/>
            </a:xfrm>
            <a:prstGeom prst="line">
              <a:avLst/>
            </a:prstGeom>
            <a:noFill/>
            <a:ln w="15875" cap="rnd">
              <a:solidFill>
                <a:srgbClr val="00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53" name="Freeform 281">
              <a:extLst>
                <a:ext uri="{FF2B5EF4-FFF2-40B4-BE49-F238E27FC236}">
                  <a16:creationId xmlns:a16="http://schemas.microsoft.com/office/drawing/2014/main" id="{9DEA0FB7-1630-774C-85FC-ADCA1D533CDD}"/>
                </a:ext>
              </a:extLst>
            </p:cNvPr>
            <p:cNvSpPr>
              <a:spLocks/>
            </p:cNvSpPr>
            <p:nvPr/>
          </p:nvSpPr>
          <p:spPr bwMode="auto">
            <a:xfrm>
              <a:off x="3790" y="3359"/>
              <a:ext cx="62"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1"/>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54" name="Line 282">
              <a:extLst>
                <a:ext uri="{FF2B5EF4-FFF2-40B4-BE49-F238E27FC236}">
                  <a16:creationId xmlns:a16="http://schemas.microsoft.com/office/drawing/2014/main" id="{B7B2D742-29B9-C54A-998A-42F9A2CD6822}"/>
                </a:ext>
              </a:extLst>
            </p:cNvPr>
            <p:cNvSpPr>
              <a:spLocks noChangeShapeType="1"/>
            </p:cNvSpPr>
            <p:nvPr/>
          </p:nvSpPr>
          <p:spPr bwMode="auto">
            <a:xfrm>
              <a:off x="3739" y="3630"/>
              <a:ext cx="63" cy="0"/>
            </a:xfrm>
            <a:prstGeom prst="line">
              <a:avLst/>
            </a:prstGeom>
            <a:noFill/>
            <a:ln w="15875" cap="rnd">
              <a:solidFill>
                <a:srgbClr val="00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55" name="Freeform 283">
              <a:extLst>
                <a:ext uri="{FF2B5EF4-FFF2-40B4-BE49-F238E27FC236}">
                  <a16:creationId xmlns:a16="http://schemas.microsoft.com/office/drawing/2014/main" id="{9C9DE5E7-743C-5042-8A16-C490472FB6B8}"/>
                </a:ext>
              </a:extLst>
            </p:cNvPr>
            <p:cNvSpPr>
              <a:spLocks/>
            </p:cNvSpPr>
            <p:nvPr/>
          </p:nvSpPr>
          <p:spPr bwMode="auto">
            <a:xfrm>
              <a:off x="3787" y="3599"/>
              <a:ext cx="61"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1"/>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56" name="Line 284">
              <a:extLst>
                <a:ext uri="{FF2B5EF4-FFF2-40B4-BE49-F238E27FC236}">
                  <a16:creationId xmlns:a16="http://schemas.microsoft.com/office/drawing/2014/main" id="{834F6B38-E05C-1642-8941-BC1FBEE64E5E}"/>
                </a:ext>
              </a:extLst>
            </p:cNvPr>
            <p:cNvSpPr>
              <a:spLocks noChangeShapeType="1"/>
            </p:cNvSpPr>
            <p:nvPr/>
          </p:nvSpPr>
          <p:spPr bwMode="auto">
            <a:xfrm>
              <a:off x="3739" y="3476"/>
              <a:ext cx="63" cy="0"/>
            </a:xfrm>
            <a:prstGeom prst="line">
              <a:avLst/>
            </a:prstGeom>
            <a:noFill/>
            <a:ln w="15875" cap="rnd">
              <a:solidFill>
                <a:srgbClr val="00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57" name="Freeform 285">
              <a:extLst>
                <a:ext uri="{FF2B5EF4-FFF2-40B4-BE49-F238E27FC236}">
                  <a16:creationId xmlns:a16="http://schemas.microsoft.com/office/drawing/2014/main" id="{DE1D47CF-5CDA-DD48-B2A6-32EFD6A0155A}"/>
                </a:ext>
              </a:extLst>
            </p:cNvPr>
            <p:cNvSpPr>
              <a:spLocks/>
            </p:cNvSpPr>
            <p:nvPr/>
          </p:nvSpPr>
          <p:spPr bwMode="auto">
            <a:xfrm>
              <a:off x="3787" y="3446"/>
              <a:ext cx="61"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1"/>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58" name="Line 286">
              <a:extLst>
                <a:ext uri="{FF2B5EF4-FFF2-40B4-BE49-F238E27FC236}">
                  <a16:creationId xmlns:a16="http://schemas.microsoft.com/office/drawing/2014/main" id="{E6A0688D-D5B9-BC4E-9851-12AE4F19C9CA}"/>
                </a:ext>
              </a:extLst>
            </p:cNvPr>
            <p:cNvSpPr>
              <a:spLocks noChangeShapeType="1"/>
            </p:cNvSpPr>
            <p:nvPr/>
          </p:nvSpPr>
          <p:spPr bwMode="auto">
            <a:xfrm>
              <a:off x="3739" y="3553"/>
              <a:ext cx="63" cy="0"/>
            </a:xfrm>
            <a:prstGeom prst="line">
              <a:avLst/>
            </a:prstGeom>
            <a:noFill/>
            <a:ln w="15875" cap="rnd">
              <a:solidFill>
                <a:srgbClr val="00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59" name="Freeform 287">
              <a:extLst>
                <a:ext uri="{FF2B5EF4-FFF2-40B4-BE49-F238E27FC236}">
                  <a16:creationId xmlns:a16="http://schemas.microsoft.com/office/drawing/2014/main" id="{62F32711-2C0D-C640-A5B8-E4AF011E5787}"/>
                </a:ext>
              </a:extLst>
            </p:cNvPr>
            <p:cNvSpPr>
              <a:spLocks/>
            </p:cNvSpPr>
            <p:nvPr/>
          </p:nvSpPr>
          <p:spPr bwMode="auto">
            <a:xfrm>
              <a:off x="3787" y="3522"/>
              <a:ext cx="61"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1"/>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5" name="Group 614">
            <a:extLst>
              <a:ext uri="{FF2B5EF4-FFF2-40B4-BE49-F238E27FC236}">
                <a16:creationId xmlns:a16="http://schemas.microsoft.com/office/drawing/2014/main" id="{B4CEE6DA-E1D7-244C-9264-BED4F0E3C91F}"/>
              </a:ext>
            </a:extLst>
          </p:cNvPr>
          <p:cNvGrpSpPr>
            <a:grpSpLocks/>
          </p:cNvGrpSpPr>
          <p:nvPr/>
        </p:nvGrpSpPr>
        <p:grpSpPr bwMode="auto">
          <a:xfrm>
            <a:off x="6243638" y="5099050"/>
            <a:ext cx="277812" cy="765175"/>
            <a:chOff x="3933" y="3212"/>
            <a:chExt cx="175" cy="482"/>
          </a:xfrm>
        </p:grpSpPr>
        <p:sp>
          <p:nvSpPr>
            <p:cNvPr id="80040" name="Rectangle 288">
              <a:extLst>
                <a:ext uri="{FF2B5EF4-FFF2-40B4-BE49-F238E27FC236}">
                  <a16:creationId xmlns:a16="http://schemas.microsoft.com/office/drawing/2014/main" id="{F8808854-134C-FB43-AEF4-2EED2CDAEB28}"/>
                </a:ext>
              </a:extLst>
            </p:cNvPr>
            <p:cNvSpPr>
              <a:spLocks noChangeArrowheads="1"/>
            </p:cNvSpPr>
            <p:nvPr/>
          </p:nvSpPr>
          <p:spPr bwMode="auto">
            <a:xfrm>
              <a:off x="3933" y="3338"/>
              <a:ext cx="175" cy="356"/>
            </a:xfrm>
            <a:prstGeom prst="rect">
              <a:avLst/>
            </a:prstGeom>
            <a:solidFill>
              <a:srgbClr val="FFCCCC"/>
            </a:solidFill>
            <a:ln w="19050">
              <a:solidFill>
                <a:schemeClr val="tx1"/>
              </a:solidFill>
              <a:prstDash val="lgDash"/>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41" name="Rectangle 290">
              <a:extLst>
                <a:ext uri="{FF2B5EF4-FFF2-40B4-BE49-F238E27FC236}">
                  <a16:creationId xmlns:a16="http://schemas.microsoft.com/office/drawing/2014/main" id="{7E1D6957-04D9-AD4A-AAC2-72B8916AB881}"/>
                </a:ext>
              </a:extLst>
            </p:cNvPr>
            <p:cNvSpPr>
              <a:spLocks noChangeArrowheads="1"/>
            </p:cNvSpPr>
            <p:nvPr/>
          </p:nvSpPr>
          <p:spPr bwMode="auto">
            <a:xfrm>
              <a:off x="3985" y="3212"/>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42" name="Line 291">
              <a:extLst>
                <a:ext uri="{FF2B5EF4-FFF2-40B4-BE49-F238E27FC236}">
                  <a16:creationId xmlns:a16="http://schemas.microsoft.com/office/drawing/2014/main" id="{F95477F6-B912-EF45-8771-1C1BA6D9344E}"/>
                </a:ext>
              </a:extLst>
            </p:cNvPr>
            <p:cNvSpPr>
              <a:spLocks noChangeShapeType="1"/>
            </p:cNvSpPr>
            <p:nvPr/>
          </p:nvSpPr>
          <p:spPr bwMode="auto">
            <a:xfrm>
              <a:off x="3976" y="3389"/>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43" name="Freeform 292">
              <a:extLst>
                <a:ext uri="{FF2B5EF4-FFF2-40B4-BE49-F238E27FC236}">
                  <a16:creationId xmlns:a16="http://schemas.microsoft.com/office/drawing/2014/main" id="{C49126C2-A661-314C-8A8F-629015017455}"/>
                </a:ext>
              </a:extLst>
            </p:cNvPr>
            <p:cNvSpPr>
              <a:spLocks/>
            </p:cNvSpPr>
            <p:nvPr/>
          </p:nvSpPr>
          <p:spPr bwMode="auto">
            <a:xfrm>
              <a:off x="4024" y="3359"/>
              <a:ext cx="62"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5" y="112"/>
                    <a:pt x="25" y="51"/>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44" name="Line 293">
              <a:extLst>
                <a:ext uri="{FF2B5EF4-FFF2-40B4-BE49-F238E27FC236}">
                  <a16:creationId xmlns:a16="http://schemas.microsoft.com/office/drawing/2014/main" id="{F5144DB7-1979-5243-8FDE-D9016B14334F}"/>
                </a:ext>
              </a:extLst>
            </p:cNvPr>
            <p:cNvSpPr>
              <a:spLocks noChangeShapeType="1"/>
            </p:cNvSpPr>
            <p:nvPr/>
          </p:nvSpPr>
          <p:spPr bwMode="auto">
            <a:xfrm>
              <a:off x="3973" y="3630"/>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45" name="Freeform 294">
              <a:extLst>
                <a:ext uri="{FF2B5EF4-FFF2-40B4-BE49-F238E27FC236}">
                  <a16:creationId xmlns:a16="http://schemas.microsoft.com/office/drawing/2014/main" id="{C7B966E2-2E37-8B41-8BB0-49D9D5F91A94}"/>
                </a:ext>
              </a:extLst>
            </p:cNvPr>
            <p:cNvSpPr>
              <a:spLocks/>
            </p:cNvSpPr>
            <p:nvPr/>
          </p:nvSpPr>
          <p:spPr bwMode="auto">
            <a:xfrm>
              <a:off x="4021" y="3599"/>
              <a:ext cx="61"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1"/>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46" name="Line 295">
              <a:extLst>
                <a:ext uri="{FF2B5EF4-FFF2-40B4-BE49-F238E27FC236}">
                  <a16:creationId xmlns:a16="http://schemas.microsoft.com/office/drawing/2014/main" id="{951CECAA-07DB-AB4D-B7F4-1E3C66052AE4}"/>
                </a:ext>
              </a:extLst>
            </p:cNvPr>
            <p:cNvSpPr>
              <a:spLocks noChangeShapeType="1"/>
            </p:cNvSpPr>
            <p:nvPr/>
          </p:nvSpPr>
          <p:spPr bwMode="auto">
            <a:xfrm>
              <a:off x="3973" y="3476"/>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47" name="Freeform 296">
              <a:extLst>
                <a:ext uri="{FF2B5EF4-FFF2-40B4-BE49-F238E27FC236}">
                  <a16:creationId xmlns:a16="http://schemas.microsoft.com/office/drawing/2014/main" id="{1F1B454E-D864-804F-BDE4-2EE293345E05}"/>
                </a:ext>
              </a:extLst>
            </p:cNvPr>
            <p:cNvSpPr>
              <a:spLocks/>
            </p:cNvSpPr>
            <p:nvPr/>
          </p:nvSpPr>
          <p:spPr bwMode="auto">
            <a:xfrm>
              <a:off x="4021" y="3446"/>
              <a:ext cx="61"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1"/>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48" name="Line 297">
              <a:extLst>
                <a:ext uri="{FF2B5EF4-FFF2-40B4-BE49-F238E27FC236}">
                  <a16:creationId xmlns:a16="http://schemas.microsoft.com/office/drawing/2014/main" id="{71EBF733-FAAA-D24D-8DC5-C6ED7472603E}"/>
                </a:ext>
              </a:extLst>
            </p:cNvPr>
            <p:cNvSpPr>
              <a:spLocks noChangeShapeType="1"/>
            </p:cNvSpPr>
            <p:nvPr/>
          </p:nvSpPr>
          <p:spPr bwMode="auto">
            <a:xfrm>
              <a:off x="3973" y="3553"/>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49" name="Freeform 298">
              <a:extLst>
                <a:ext uri="{FF2B5EF4-FFF2-40B4-BE49-F238E27FC236}">
                  <a16:creationId xmlns:a16="http://schemas.microsoft.com/office/drawing/2014/main" id="{A75AD216-0829-0F4F-9D42-68F82C7E992D}"/>
                </a:ext>
              </a:extLst>
            </p:cNvPr>
            <p:cNvSpPr>
              <a:spLocks/>
            </p:cNvSpPr>
            <p:nvPr/>
          </p:nvSpPr>
          <p:spPr bwMode="auto">
            <a:xfrm>
              <a:off x="4021" y="3522"/>
              <a:ext cx="61"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1"/>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6" name="Group 606">
            <a:extLst>
              <a:ext uri="{FF2B5EF4-FFF2-40B4-BE49-F238E27FC236}">
                <a16:creationId xmlns:a16="http://schemas.microsoft.com/office/drawing/2014/main" id="{04A7FB50-CB60-5645-9D4C-7A90CACE2392}"/>
              </a:ext>
            </a:extLst>
          </p:cNvPr>
          <p:cNvGrpSpPr>
            <a:grpSpLocks/>
          </p:cNvGrpSpPr>
          <p:nvPr/>
        </p:nvGrpSpPr>
        <p:grpSpPr bwMode="auto">
          <a:xfrm>
            <a:off x="3278188" y="5089525"/>
            <a:ext cx="277812" cy="774700"/>
            <a:chOff x="2065" y="3206"/>
            <a:chExt cx="175" cy="488"/>
          </a:xfrm>
        </p:grpSpPr>
        <p:sp>
          <p:nvSpPr>
            <p:cNvPr id="80034" name="Rectangle 299">
              <a:extLst>
                <a:ext uri="{FF2B5EF4-FFF2-40B4-BE49-F238E27FC236}">
                  <a16:creationId xmlns:a16="http://schemas.microsoft.com/office/drawing/2014/main" id="{3EBB892A-2297-2A44-812C-B8F40248A50E}"/>
                </a:ext>
              </a:extLst>
            </p:cNvPr>
            <p:cNvSpPr>
              <a:spLocks noChangeArrowheads="1"/>
            </p:cNvSpPr>
            <p:nvPr/>
          </p:nvSpPr>
          <p:spPr bwMode="auto">
            <a:xfrm>
              <a:off x="2065" y="3333"/>
              <a:ext cx="175" cy="361"/>
            </a:xfrm>
            <a:prstGeom prst="rect">
              <a:avLst/>
            </a:prstGeom>
            <a:solidFill>
              <a:srgbClr val="CCFF99"/>
            </a:solidFill>
            <a:ln w="28575">
              <a:solidFill>
                <a:schemeClr val="tx1"/>
              </a:solidFill>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35" name="Rectangle 301">
              <a:extLst>
                <a:ext uri="{FF2B5EF4-FFF2-40B4-BE49-F238E27FC236}">
                  <a16:creationId xmlns:a16="http://schemas.microsoft.com/office/drawing/2014/main" id="{C10E0E90-DBFB-D044-BDCD-1D36B21A03ED}"/>
                </a:ext>
              </a:extLst>
            </p:cNvPr>
            <p:cNvSpPr>
              <a:spLocks noChangeArrowheads="1"/>
            </p:cNvSpPr>
            <p:nvPr/>
          </p:nvSpPr>
          <p:spPr bwMode="auto">
            <a:xfrm>
              <a:off x="2113" y="3206"/>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C</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36" name="Line 302">
              <a:extLst>
                <a:ext uri="{FF2B5EF4-FFF2-40B4-BE49-F238E27FC236}">
                  <a16:creationId xmlns:a16="http://schemas.microsoft.com/office/drawing/2014/main" id="{1B9482E1-A27E-B149-B156-38F97C55BAC8}"/>
                </a:ext>
              </a:extLst>
            </p:cNvPr>
            <p:cNvSpPr>
              <a:spLocks noChangeShapeType="1"/>
            </p:cNvSpPr>
            <p:nvPr/>
          </p:nvSpPr>
          <p:spPr bwMode="auto">
            <a:xfrm>
              <a:off x="2109" y="3389"/>
              <a:ext cx="63" cy="0"/>
            </a:xfrm>
            <a:prstGeom prst="line">
              <a:avLst/>
            </a:prstGeom>
            <a:noFill/>
            <a:ln w="15875" cap="rnd">
              <a:solidFill>
                <a:srgbClr val="00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37" name="Freeform 303">
              <a:extLst>
                <a:ext uri="{FF2B5EF4-FFF2-40B4-BE49-F238E27FC236}">
                  <a16:creationId xmlns:a16="http://schemas.microsoft.com/office/drawing/2014/main" id="{62526903-D060-AE42-8C49-043108EB1265}"/>
                </a:ext>
              </a:extLst>
            </p:cNvPr>
            <p:cNvSpPr>
              <a:spLocks/>
            </p:cNvSpPr>
            <p:nvPr/>
          </p:nvSpPr>
          <p:spPr bwMode="auto">
            <a:xfrm>
              <a:off x="2157" y="3359"/>
              <a:ext cx="61"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1"/>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38" name="Line 308">
              <a:extLst>
                <a:ext uri="{FF2B5EF4-FFF2-40B4-BE49-F238E27FC236}">
                  <a16:creationId xmlns:a16="http://schemas.microsoft.com/office/drawing/2014/main" id="{27D108B2-E471-CB48-ABB2-5B431246BAFB}"/>
                </a:ext>
              </a:extLst>
            </p:cNvPr>
            <p:cNvSpPr>
              <a:spLocks noChangeShapeType="1"/>
            </p:cNvSpPr>
            <p:nvPr/>
          </p:nvSpPr>
          <p:spPr bwMode="auto">
            <a:xfrm>
              <a:off x="2106" y="3553"/>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39" name="Freeform 309">
              <a:extLst>
                <a:ext uri="{FF2B5EF4-FFF2-40B4-BE49-F238E27FC236}">
                  <a16:creationId xmlns:a16="http://schemas.microsoft.com/office/drawing/2014/main" id="{CAAFC798-CB6E-1D4A-86B4-200E5104A68B}"/>
                </a:ext>
              </a:extLst>
            </p:cNvPr>
            <p:cNvSpPr>
              <a:spLocks/>
            </p:cNvSpPr>
            <p:nvPr/>
          </p:nvSpPr>
          <p:spPr bwMode="auto">
            <a:xfrm>
              <a:off x="2154" y="3522"/>
              <a:ext cx="61"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1"/>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7" name="Group 607">
            <a:extLst>
              <a:ext uri="{FF2B5EF4-FFF2-40B4-BE49-F238E27FC236}">
                <a16:creationId xmlns:a16="http://schemas.microsoft.com/office/drawing/2014/main" id="{5DC25A06-7ECC-5243-9CD3-9341B6BCF32B}"/>
              </a:ext>
            </a:extLst>
          </p:cNvPr>
          <p:cNvGrpSpPr>
            <a:grpSpLocks/>
          </p:cNvGrpSpPr>
          <p:nvPr/>
        </p:nvGrpSpPr>
        <p:grpSpPr bwMode="auto">
          <a:xfrm>
            <a:off x="3641725" y="5089525"/>
            <a:ext cx="277813" cy="774700"/>
            <a:chOff x="2294" y="3206"/>
            <a:chExt cx="175" cy="488"/>
          </a:xfrm>
        </p:grpSpPr>
        <p:sp>
          <p:nvSpPr>
            <p:cNvPr id="80026" name="Rectangle 310">
              <a:extLst>
                <a:ext uri="{FF2B5EF4-FFF2-40B4-BE49-F238E27FC236}">
                  <a16:creationId xmlns:a16="http://schemas.microsoft.com/office/drawing/2014/main" id="{6B78DCE8-12E1-0E4C-BBD1-FE3CDA0FD2A8}"/>
                </a:ext>
              </a:extLst>
            </p:cNvPr>
            <p:cNvSpPr>
              <a:spLocks noChangeArrowheads="1"/>
            </p:cNvSpPr>
            <p:nvPr/>
          </p:nvSpPr>
          <p:spPr bwMode="auto">
            <a:xfrm>
              <a:off x="2294" y="3333"/>
              <a:ext cx="175" cy="361"/>
            </a:xfrm>
            <a:prstGeom prst="rect">
              <a:avLst/>
            </a:prstGeom>
            <a:solidFill>
              <a:srgbClr val="CCFF99"/>
            </a:solidFill>
            <a:ln w="28575">
              <a:solidFill>
                <a:schemeClr val="tx1"/>
              </a:solidFill>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27" name="Rectangle 312">
              <a:extLst>
                <a:ext uri="{FF2B5EF4-FFF2-40B4-BE49-F238E27FC236}">
                  <a16:creationId xmlns:a16="http://schemas.microsoft.com/office/drawing/2014/main" id="{BD8C68CC-A27E-5741-8D02-C553445184CF}"/>
                </a:ext>
              </a:extLst>
            </p:cNvPr>
            <p:cNvSpPr>
              <a:spLocks noChangeArrowheads="1"/>
            </p:cNvSpPr>
            <p:nvPr/>
          </p:nvSpPr>
          <p:spPr bwMode="auto">
            <a:xfrm>
              <a:off x="2341" y="3206"/>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28" name="Line 315">
              <a:extLst>
                <a:ext uri="{FF2B5EF4-FFF2-40B4-BE49-F238E27FC236}">
                  <a16:creationId xmlns:a16="http://schemas.microsoft.com/office/drawing/2014/main" id="{5C9D2EF8-F59F-A147-B3B3-F9858B57DDB6}"/>
                </a:ext>
              </a:extLst>
            </p:cNvPr>
            <p:cNvSpPr>
              <a:spLocks noChangeShapeType="1"/>
            </p:cNvSpPr>
            <p:nvPr/>
          </p:nvSpPr>
          <p:spPr bwMode="auto">
            <a:xfrm>
              <a:off x="2334" y="3630"/>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29" name="Freeform 316">
              <a:extLst>
                <a:ext uri="{FF2B5EF4-FFF2-40B4-BE49-F238E27FC236}">
                  <a16:creationId xmlns:a16="http://schemas.microsoft.com/office/drawing/2014/main" id="{BF814FF0-F168-014E-BD36-7C284E18F6FA}"/>
                </a:ext>
              </a:extLst>
            </p:cNvPr>
            <p:cNvSpPr>
              <a:spLocks/>
            </p:cNvSpPr>
            <p:nvPr/>
          </p:nvSpPr>
          <p:spPr bwMode="auto">
            <a:xfrm>
              <a:off x="2382" y="3599"/>
              <a:ext cx="61" cy="62"/>
            </a:xfrm>
            <a:custGeom>
              <a:avLst/>
              <a:gdLst>
                <a:gd name="T0" fmla="*/ 0 w 163"/>
                <a:gd name="T1" fmla="*/ 0 h 164"/>
                <a:gd name="T2" fmla="*/ 0 w 163"/>
                <a:gd name="T3" fmla="*/ 0 h 164"/>
                <a:gd name="T4" fmla="*/ 0 w 163"/>
                <a:gd name="T5" fmla="*/ 0 h 164"/>
                <a:gd name="T6" fmla="*/ 0 w 163"/>
                <a:gd name="T7" fmla="*/ 0 h 164"/>
                <a:gd name="T8" fmla="*/ 0 w 163"/>
                <a:gd name="T9" fmla="*/ 0 h 164"/>
                <a:gd name="T10" fmla="*/ 0 60000 65536"/>
                <a:gd name="T11" fmla="*/ 0 60000 65536"/>
                <a:gd name="T12" fmla="*/ 0 60000 65536"/>
                <a:gd name="T13" fmla="*/ 0 60000 65536"/>
                <a:gd name="T14" fmla="*/ 0 60000 65536"/>
                <a:gd name="T15" fmla="*/ 0 w 163"/>
                <a:gd name="T16" fmla="*/ 0 h 164"/>
                <a:gd name="T17" fmla="*/ 163 w 163"/>
                <a:gd name="T18" fmla="*/ 164 h 164"/>
              </a:gdLst>
              <a:ahLst/>
              <a:cxnLst>
                <a:cxn ang="T10">
                  <a:pos x="T0" y="T1"/>
                </a:cxn>
                <a:cxn ang="T11">
                  <a:pos x="T2" y="T3"/>
                </a:cxn>
                <a:cxn ang="T12">
                  <a:pos x="T4" y="T5"/>
                </a:cxn>
                <a:cxn ang="T13">
                  <a:pos x="T6" y="T7"/>
                </a:cxn>
                <a:cxn ang="T14">
                  <a:pos x="T8" y="T9"/>
                </a:cxn>
              </a:cxnLst>
              <a:rect l="T15" t="T16" r="T17" b="T18"/>
              <a:pathLst>
                <a:path w="163" h="164">
                  <a:moveTo>
                    <a:pt x="163" y="82"/>
                  </a:moveTo>
                  <a:lnTo>
                    <a:pt x="0" y="164"/>
                  </a:lnTo>
                  <a:cubicBezTo>
                    <a:pt x="25" y="112"/>
                    <a:pt x="25" y="51"/>
                    <a:pt x="0" y="0"/>
                  </a:cubicBezTo>
                  <a:lnTo>
                    <a:pt x="163"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30" name="Line 317">
              <a:extLst>
                <a:ext uri="{FF2B5EF4-FFF2-40B4-BE49-F238E27FC236}">
                  <a16:creationId xmlns:a16="http://schemas.microsoft.com/office/drawing/2014/main" id="{AE3E3523-CC39-4C46-8D1F-DD4FDDB72E61}"/>
                </a:ext>
              </a:extLst>
            </p:cNvPr>
            <p:cNvSpPr>
              <a:spLocks noChangeShapeType="1"/>
            </p:cNvSpPr>
            <p:nvPr/>
          </p:nvSpPr>
          <p:spPr bwMode="auto">
            <a:xfrm>
              <a:off x="2334" y="3476"/>
              <a:ext cx="63" cy="0"/>
            </a:xfrm>
            <a:prstGeom prst="line">
              <a:avLst/>
            </a:prstGeom>
            <a:noFill/>
            <a:ln w="15875" cap="rnd">
              <a:solidFill>
                <a:srgbClr val="00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31" name="Freeform 318">
              <a:extLst>
                <a:ext uri="{FF2B5EF4-FFF2-40B4-BE49-F238E27FC236}">
                  <a16:creationId xmlns:a16="http://schemas.microsoft.com/office/drawing/2014/main" id="{395A14FC-A0A6-2841-9378-C3E6A894A219}"/>
                </a:ext>
              </a:extLst>
            </p:cNvPr>
            <p:cNvSpPr>
              <a:spLocks/>
            </p:cNvSpPr>
            <p:nvPr/>
          </p:nvSpPr>
          <p:spPr bwMode="auto">
            <a:xfrm>
              <a:off x="2382" y="3446"/>
              <a:ext cx="61" cy="61"/>
            </a:xfrm>
            <a:custGeom>
              <a:avLst/>
              <a:gdLst>
                <a:gd name="T0" fmla="*/ 0 w 163"/>
                <a:gd name="T1" fmla="*/ 0 h 164"/>
                <a:gd name="T2" fmla="*/ 0 w 163"/>
                <a:gd name="T3" fmla="*/ 0 h 164"/>
                <a:gd name="T4" fmla="*/ 0 w 163"/>
                <a:gd name="T5" fmla="*/ 0 h 164"/>
                <a:gd name="T6" fmla="*/ 0 w 163"/>
                <a:gd name="T7" fmla="*/ 0 h 164"/>
                <a:gd name="T8" fmla="*/ 0 w 163"/>
                <a:gd name="T9" fmla="*/ 0 h 164"/>
                <a:gd name="T10" fmla="*/ 0 60000 65536"/>
                <a:gd name="T11" fmla="*/ 0 60000 65536"/>
                <a:gd name="T12" fmla="*/ 0 60000 65536"/>
                <a:gd name="T13" fmla="*/ 0 60000 65536"/>
                <a:gd name="T14" fmla="*/ 0 60000 65536"/>
                <a:gd name="T15" fmla="*/ 0 w 163"/>
                <a:gd name="T16" fmla="*/ 0 h 164"/>
                <a:gd name="T17" fmla="*/ 163 w 163"/>
                <a:gd name="T18" fmla="*/ 164 h 164"/>
              </a:gdLst>
              <a:ahLst/>
              <a:cxnLst>
                <a:cxn ang="T10">
                  <a:pos x="T0" y="T1"/>
                </a:cxn>
                <a:cxn ang="T11">
                  <a:pos x="T2" y="T3"/>
                </a:cxn>
                <a:cxn ang="T12">
                  <a:pos x="T4" y="T5"/>
                </a:cxn>
                <a:cxn ang="T13">
                  <a:pos x="T6" y="T7"/>
                </a:cxn>
                <a:cxn ang="T14">
                  <a:pos x="T8" y="T9"/>
                </a:cxn>
              </a:cxnLst>
              <a:rect l="T15" t="T16" r="T17" b="T18"/>
              <a:pathLst>
                <a:path w="163" h="164">
                  <a:moveTo>
                    <a:pt x="163" y="82"/>
                  </a:moveTo>
                  <a:lnTo>
                    <a:pt x="0" y="164"/>
                  </a:lnTo>
                  <a:cubicBezTo>
                    <a:pt x="25" y="112"/>
                    <a:pt x="25" y="51"/>
                    <a:pt x="0" y="0"/>
                  </a:cubicBezTo>
                  <a:lnTo>
                    <a:pt x="163"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32" name="Line 319">
              <a:extLst>
                <a:ext uri="{FF2B5EF4-FFF2-40B4-BE49-F238E27FC236}">
                  <a16:creationId xmlns:a16="http://schemas.microsoft.com/office/drawing/2014/main" id="{ECAC3CA7-981D-FF4A-93F5-6992F509793A}"/>
                </a:ext>
              </a:extLst>
            </p:cNvPr>
            <p:cNvSpPr>
              <a:spLocks noChangeShapeType="1"/>
            </p:cNvSpPr>
            <p:nvPr/>
          </p:nvSpPr>
          <p:spPr bwMode="auto">
            <a:xfrm>
              <a:off x="2334" y="3553"/>
              <a:ext cx="63" cy="0"/>
            </a:xfrm>
            <a:prstGeom prst="line">
              <a:avLst/>
            </a:prstGeom>
            <a:noFill/>
            <a:ln w="15875" cap="rnd">
              <a:solidFill>
                <a:srgbClr val="00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33" name="Freeform 320">
              <a:extLst>
                <a:ext uri="{FF2B5EF4-FFF2-40B4-BE49-F238E27FC236}">
                  <a16:creationId xmlns:a16="http://schemas.microsoft.com/office/drawing/2014/main" id="{F3D668DB-14C7-B044-A217-64FFD8B3B30E}"/>
                </a:ext>
              </a:extLst>
            </p:cNvPr>
            <p:cNvSpPr>
              <a:spLocks/>
            </p:cNvSpPr>
            <p:nvPr/>
          </p:nvSpPr>
          <p:spPr bwMode="auto">
            <a:xfrm>
              <a:off x="2382" y="3522"/>
              <a:ext cx="61" cy="62"/>
            </a:xfrm>
            <a:custGeom>
              <a:avLst/>
              <a:gdLst>
                <a:gd name="T0" fmla="*/ 0 w 163"/>
                <a:gd name="T1" fmla="*/ 0 h 164"/>
                <a:gd name="T2" fmla="*/ 0 w 163"/>
                <a:gd name="T3" fmla="*/ 0 h 164"/>
                <a:gd name="T4" fmla="*/ 0 w 163"/>
                <a:gd name="T5" fmla="*/ 0 h 164"/>
                <a:gd name="T6" fmla="*/ 0 w 163"/>
                <a:gd name="T7" fmla="*/ 0 h 164"/>
                <a:gd name="T8" fmla="*/ 0 w 163"/>
                <a:gd name="T9" fmla="*/ 0 h 164"/>
                <a:gd name="T10" fmla="*/ 0 60000 65536"/>
                <a:gd name="T11" fmla="*/ 0 60000 65536"/>
                <a:gd name="T12" fmla="*/ 0 60000 65536"/>
                <a:gd name="T13" fmla="*/ 0 60000 65536"/>
                <a:gd name="T14" fmla="*/ 0 60000 65536"/>
                <a:gd name="T15" fmla="*/ 0 w 163"/>
                <a:gd name="T16" fmla="*/ 0 h 164"/>
                <a:gd name="T17" fmla="*/ 163 w 163"/>
                <a:gd name="T18" fmla="*/ 164 h 164"/>
              </a:gdLst>
              <a:ahLst/>
              <a:cxnLst>
                <a:cxn ang="T10">
                  <a:pos x="T0" y="T1"/>
                </a:cxn>
                <a:cxn ang="T11">
                  <a:pos x="T2" y="T3"/>
                </a:cxn>
                <a:cxn ang="T12">
                  <a:pos x="T4" y="T5"/>
                </a:cxn>
                <a:cxn ang="T13">
                  <a:pos x="T6" y="T7"/>
                </a:cxn>
                <a:cxn ang="T14">
                  <a:pos x="T8" y="T9"/>
                </a:cxn>
              </a:cxnLst>
              <a:rect l="T15" t="T16" r="T17" b="T18"/>
              <a:pathLst>
                <a:path w="163" h="164">
                  <a:moveTo>
                    <a:pt x="163" y="82"/>
                  </a:moveTo>
                  <a:lnTo>
                    <a:pt x="0" y="164"/>
                  </a:lnTo>
                  <a:cubicBezTo>
                    <a:pt x="25" y="112"/>
                    <a:pt x="25" y="51"/>
                    <a:pt x="0" y="0"/>
                  </a:cubicBezTo>
                  <a:lnTo>
                    <a:pt x="163"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8" name="Group 646">
            <a:extLst>
              <a:ext uri="{FF2B5EF4-FFF2-40B4-BE49-F238E27FC236}">
                <a16:creationId xmlns:a16="http://schemas.microsoft.com/office/drawing/2014/main" id="{97CD1126-93FE-0E49-92A9-69E4F50B3724}"/>
              </a:ext>
            </a:extLst>
          </p:cNvPr>
          <p:cNvGrpSpPr>
            <a:grpSpLocks/>
          </p:cNvGrpSpPr>
          <p:nvPr/>
        </p:nvGrpSpPr>
        <p:grpSpPr bwMode="auto">
          <a:xfrm>
            <a:off x="4013200" y="5099050"/>
            <a:ext cx="277813" cy="765175"/>
            <a:chOff x="2528" y="3212"/>
            <a:chExt cx="175" cy="482"/>
          </a:xfrm>
        </p:grpSpPr>
        <p:sp>
          <p:nvSpPr>
            <p:cNvPr id="80016" name="Rectangle 321">
              <a:extLst>
                <a:ext uri="{FF2B5EF4-FFF2-40B4-BE49-F238E27FC236}">
                  <a16:creationId xmlns:a16="http://schemas.microsoft.com/office/drawing/2014/main" id="{AAB60D5E-64A0-6243-9137-060E14694CD0}"/>
                </a:ext>
              </a:extLst>
            </p:cNvPr>
            <p:cNvSpPr>
              <a:spLocks noChangeArrowheads="1"/>
            </p:cNvSpPr>
            <p:nvPr/>
          </p:nvSpPr>
          <p:spPr bwMode="auto">
            <a:xfrm>
              <a:off x="2528" y="3338"/>
              <a:ext cx="175" cy="356"/>
            </a:xfrm>
            <a:prstGeom prst="rect">
              <a:avLst/>
            </a:prstGeom>
            <a:solidFill>
              <a:srgbClr val="CCFF99"/>
            </a:solidFill>
            <a:ln w="28575">
              <a:solidFill>
                <a:schemeClr val="tx1"/>
              </a:solidFill>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17" name="Rectangle 323">
              <a:extLst>
                <a:ext uri="{FF2B5EF4-FFF2-40B4-BE49-F238E27FC236}">
                  <a16:creationId xmlns:a16="http://schemas.microsoft.com/office/drawing/2014/main" id="{76580989-1956-9C46-A1EC-E5AB5E9CD294}"/>
                </a:ext>
              </a:extLst>
            </p:cNvPr>
            <p:cNvSpPr>
              <a:spLocks noChangeArrowheads="1"/>
            </p:cNvSpPr>
            <p:nvPr/>
          </p:nvSpPr>
          <p:spPr bwMode="auto">
            <a:xfrm>
              <a:off x="2575" y="3212"/>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18" name="Line 324">
              <a:extLst>
                <a:ext uri="{FF2B5EF4-FFF2-40B4-BE49-F238E27FC236}">
                  <a16:creationId xmlns:a16="http://schemas.microsoft.com/office/drawing/2014/main" id="{7A943E22-88B5-1644-8F88-6239E9C2572E}"/>
                </a:ext>
              </a:extLst>
            </p:cNvPr>
            <p:cNvSpPr>
              <a:spLocks noChangeShapeType="1"/>
            </p:cNvSpPr>
            <p:nvPr/>
          </p:nvSpPr>
          <p:spPr bwMode="auto">
            <a:xfrm>
              <a:off x="2572" y="3389"/>
              <a:ext cx="62" cy="0"/>
            </a:xfrm>
            <a:prstGeom prst="line">
              <a:avLst/>
            </a:prstGeom>
            <a:noFill/>
            <a:ln w="15875" cap="rnd">
              <a:solidFill>
                <a:srgbClr val="00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19" name="Freeform 325">
              <a:extLst>
                <a:ext uri="{FF2B5EF4-FFF2-40B4-BE49-F238E27FC236}">
                  <a16:creationId xmlns:a16="http://schemas.microsoft.com/office/drawing/2014/main" id="{B977DA1B-7DAE-AF4C-B6E4-11D10FA40BBA}"/>
                </a:ext>
              </a:extLst>
            </p:cNvPr>
            <p:cNvSpPr>
              <a:spLocks/>
            </p:cNvSpPr>
            <p:nvPr/>
          </p:nvSpPr>
          <p:spPr bwMode="auto">
            <a:xfrm>
              <a:off x="2619" y="3359"/>
              <a:ext cx="62"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1"/>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20" name="Line 328">
              <a:extLst>
                <a:ext uri="{FF2B5EF4-FFF2-40B4-BE49-F238E27FC236}">
                  <a16:creationId xmlns:a16="http://schemas.microsoft.com/office/drawing/2014/main" id="{0D0B7B9C-A145-5543-9693-9FE4CD66BDC1}"/>
                </a:ext>
              </a:extLst>
            </p:cNvPr>
            <p:cNvSpPr>
              <a:spLocks noChangeShapeType="1"/>
            </p:cNvSpPr>
            <p:nvPr/>
          </p:nvSpPr>
          <p:spPr bwMode="auto">
            <a:xfrm>
              <a:off x="2568" y="3476"/>
              <a:ext cx="63" cy="0"/>
            </a:xfrm>
            <a:prstGeom prst="line">
              <a:avLst/>
            </a:prstGeom>
            <a:noFill/>
            <a:ln w="15875" cap="rnd">
              <a:solidFill>
                <a:srgbClr val="00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21" name="Freeform 329">
              <a:extLst>
                <a:ext uri="{FF2B5EF4-FFF2-40B4-BE49-F238E27FC236}">
                  <a16:creationId xmlns:a16="http://schemas.microsoft.com/office/drawing/2014/main" id="{6C426D8A-8885-B24A-8AE5-1DC87040A32A}"/>
                </a:ext>
              </a:extLst>
            </p:cNvPr>
            <p:cNvSpPr>
              <a:spLocks/>
            </p:cNvSpPr>
            <p:nvPr/>
          </p:nvSpPr>
          <p:spPr bwMode="auto">
            <a:xfrm>
              <a:off x="2616" y="3446"/>
              <a:ext cx="61"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1"/>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22" name="Line 330">
              <a:extLst>
                <a:ext uri="{FF2B5EF4-FFF2-40B4-BE49-F238E27FC236}">
                  <a16:creationId xmlns:a16="http://schemas.microsoft.com/office/drawing/2014/main" id="{A1734219-E97B-7E47-B54F-BCC4CD336056}"/>
                </a:ext>
              </a:extLst>
            </p:cNvPr>
            <p:cNvSpPr>
              <a:spLocks noChangeShapeType="1"/>
            </p:cNvSpPr>
            <p:nvPr/>
          </p:nvSpPr>
          <p:spPr bwMode="auto">
            <a:xfrm>
              <a:off x="2568" y="3553"/>
              <a:ext cx="63" cy="0"/>
            </a:xfrm>
            <a:prstGeom prst="line">
              <a:avLst/>
            </a:prstGeom>
            <a:noFill/>
            <a:ln w="15875" cap="rnd">
              <a:solidFill>
                <a:srgbClr val="00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23" name="Freeform 331">
              <a:extLst>
                <a:ext uri="{FF2B5EF4-FFF2-40B4-BE49-F238E27FC236}">
                  <a16:creationId xmlns:a16="http://schemas.microsoft.com/office/drawing/2014/main" id="{F88E88D1-9AFF-DD46-A4ED-8448638172E8}"/>
                </a:ext>
              </a:extLst>
            </p:cNvPr>
            <p:cNvSpPr>
              <a:spLocks/>
            </p:cNvSpPr>
            <p:nvPr/>
          </p:nvSpPr>
          <p:spPr bwMode="auto">
            <a:xfrm>
              <a:off x="2616" y="3522"/>
              <a:ext cx="61"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1"/>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24" name="Line 337">
              <a:extLst>
                <a:ext uri="{FF2B5EF4-FFF2-40B4-BE49-F238E27FC236}">
                  <a16:creationId xmlns:a16="http://schemas.microsoft.com/office/drawing/2014/main" id="{B65C1577-50BB-8E4F-B9D2-DC5E82D6863E}"/>
                </a:ext>
              </a:extLst>
            </p:cNvPr>
            <p:cNvSpPr>
              <a:spLocks noChangeShapeType="1"/>
            </p:cNvSpPr>
            <p:nvPr/>
          </p:nvSpPr>
          <p:spPr bwMode="auto">
            <a:xfrm>
              <a:off x="2566" y="3629"/>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25" name="Freeform 338">
              <a:extLst>
                <a:ext uri="{FF2B5EF4-FFF2-40B4-BE49-F238E27FC236}">
                  <a16:creationId xmlns:a16="http://schemas.microsoft.com/office/drawing/2014/main" id="{0977918B-976C-D346-B2F1-BEFEF8FA4E6B}"/>
                </a:ext>
              </a:extLst>
            </p:cNvPr>
            <p:cNvSpPr>
              <a:spLocks/>
            </p:cNvSpPr>
            <p:nvPr/>
          </p:nvSpPr>
          <p:spPr bwMode="auto">
            <a:xfrm>
              <a:off x="2614" y="3598"/>
              <a:ext cx="61"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1"/>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9" name="Group 645">
            <a:extLst>
              <a:ext uri="{FF2B5EF4-FFF2-40B4-BE49-F238E27FC236}">
                <a16:creationId xmlns:a16="http://schemas.microsoft.com/office/drawing/2014/main" id="{EADEEFE6-6AD5-4541-A194-ECAC50B89908}"/>
              </a:ext>
            </a:extLst>
          </p:cNvPr>
          <p:cNvGrpSpPr>
            <a:grpSpLocks/>
          </p:cNvGrpSpPr>
          <p:nvPr/>
        </p:nvGrpSpPr>
        <p:grpSpPr bwMode="auto">
          <a:xfrm>
            <a:off x="4384675" y="5099050"/>
            <a:ext cx="277813" cy="765175"/>
            <a:chOff x="2762" y="3212"/>
            <a:chExt cx="175" cy="482"/>
          </a:xfrm>
        </p:grpSpPr>
        <p:sp>
          <p:nvSpPr>
            <p:cNvPr id="80012" name="Rectangle 332">
              <a:extLst>
                <a:ext uri="{FF2B5EF4-FFF2-40B4-BE49-F238E27FC236}">
                  <a16:creationId xmlns:a16="http://schemas.microsoft.com/office/drawing/2014/main" id="{DD7917F9-6B9C-A64D-9CDA-DD0ABE597A14}"/>
                </a:ext>
              </a:extLst>
            </p:cNvPr>
            <p:cNvSpPr>
              <a:spLocks noChangeArrowheads="1"/>
            </p:cNvSpPr>
            <p:nvPr/>
          </p:nvSpPr>
          <p:spPr bwMode="auto">
            <a:xfrm>
              <a:off x="2762" y="3338"/>
              <a:ext cx="175" cy="356"/>
            </a:xfrm>
            <a:prstGeom prst="rect">
              <a:avLst/>
            </a:prstGeom>
            <a:solidFill>
              <a:srgbClr val="CCFF99"/>
            </a:solidFill>
            <a:ln w="28575">
              <a:solidFill>
                <a:schemeClr val="tx1"/>
              </a:solidFill>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13" name="Rectangle 334">
              <a:extLst>
                <a:ext uri="{FF2B5EF4-FFF2-40B4-BE49-F238E27FC236}">
                  <a16:creationId xmlns:a16="http://schemas.microsoft.com/office/drawing/2014/main" id="{458F5EB6-51D9-CF4A-AF57-EFDBAAA19AB5}"/>
                </a:ext>
              </a:extLst>
            </p:cNvPr>
            <p:cNvSpPr>
              <a:spLocks noChangeArrowheads="1"/>
            </p:cNvSpPr>
            <p:nvPr/>
          </p:nvSpPr>
          <p:spPr bwMode="auto">
            <a:xfrm>
              <a:off x="2809" y="3212"/>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14" name="Line 341">
              <a:extLst>
                <a:ext uri="{FF2B5EF4-FFF2-40B4-BE49-F238E27FC236}">
                  <a16:creationId xmlns:a16="http://schemas.microsoft.com/office/drawing/2014/main" id="{BE14C259-A1B9-534F-B833-7180CC2450DD}"/>
                </a:ext>
              </a:extLst>
            </p:cNvPr>
            <p:cNvSpPr>
              <a:spLocks noChangeShapeType="1"/>
            </p:cNvSpPr>
            <p:nvPr/>
          </p:nvSpPr>
          <p:spPr bwMode="auto">
            <a:xfrm>
              <a:off x="2802" y="3553"/>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15" name="Freeform 342">
              <a:extLst>
                <a:ext uri="{FF2B5EF4-FFF2-40B4-BE49-F238E27FC236}">
                  <a16:creationId xmlns:a16="http://schemas.microsoft.com/office/drawing/2014/main" id="{C9E1E63A-5551-704C-84BC-33CBA509F72C}"/>
                </a:ext>
              </a:extLst>
            </p:cNvPr>
            <p:cNvSpPr>
              <a:spLocks/>
            </p:cNvSpPr>
            <p:nvPr/>
          </p:nvSpPr>
          <p:spPr bwMode="auto">
            <a:xfrm>
              <a:off x="2850" y="3522"/>
              <a:ext cx="61"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1"/>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0" name="Group 610">
            <a:extLst>
              <a:ext uri="{FF2B5EF4-FFF2-40B4-BE49-F238E27FC236}">
                <a16:creationId xmlns:a16="http://schemas.microsoft.com/office/drawing/2014/main" id="{2F5798A9-D331-A944-BFB3-2F8DE7844553}"/>
              </a:ext>
            </a:extLst>
          </p:cNvPr>
          <p:cNvGrpSpPr>
            <a:grpSpLocks/>
          </p:cNvGrpSpPr>
          <p:nvPr/>
        </p:nvGrpSpPr>
        <p:grpSpPr bwMode="auto">
          <a:xfrm>
            <a:off x="4756150" y="5089525"/>
            <a:ext cx="277813" cy="774700"/>
            <a:chOff x="2996" y="3206"/>
            <a:chExt cx="175" cy="488"/>
          </a:xfrm>
        </p:grpSpPr>
        <p:sp>
          <p:nvSpPr>
            <p:cNvPr id="80004" name="Rectangle 343">
              <a:extLst>
                <a:ext uri="{FF2B5EF4-FFF2-40B4-BE49-F238E27FC236}">
                  <a16:creationId xmlns:a16="http://schemas.microsoft.com/office/drawing/2014/main" id="{A6190908-E1CB-434B-84D8-A21DC3F757C7}"/>
                </a:ext>
              </a:extLst>
            </p:cNvPr>
            <p:cNvSpPr>
              <a:spLocks noChangeArrowheads="1"/>
            </p:cNvSpPr>
            <p:nvPr/>
          </p:nvSpPr>
          <p:spPr bwMode="auto">
            <a:xfrm>
              <a:off x="2996" y="3333"/>
              <a:ext cx="175" cy="361"/>
            </a:xfrm>
            <a:prstGeom prst="rect">
              <a:avLst/>
            </a:prstGeom>
            <a:solidFill>
              <a:srgbClr val="CCFF99"/>
            </a:solidFill>
            <a:ln w="28575">
              <a:solidFill>
                <a:schemeClr val="tx1"/>
              </a:solidFill>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05" name="Rectangle 345">
              <a:extLst>
                <a:ext uri="{FF2B5EF4-FFF2-40B4-BE49-F238E27FC236}">
                  <a16:creationId xmlns:a16="http://schemas.microsoft.com/office/drawing/2014/main" id="{6421392B-B3A8-6346-AB00-DD62934D6C2A}"/>
                </a:ext>
              </a:extLst>
            </p:cNvPr>
            <p:cNvSpPr>
              <a:spLocks noChangeArrowheads="1"/>
            </p:cNvSpPr>
            <p:nvPr/>
          </p:nvSpPr>
          <p:spPr bwMode="auto">
            <a:xfrm>
              <a:off x="3049" y="3206"/>
              <a:ext cx="6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06" name="Line 346">
              <a:extLst>
                <a:ext uri="{FF2B5EF4-FFF2-40B4-BE49-F238E27FC236}">
                  <a16:creationId xmlns:a16="http://schemas.microsoft.com/office/drawing/2014/main" id="{089A243A-FA07-CA41-894B-5463BB63ED0E}"/>
                </a:ext>
              </a:extLst>
            </p:cNvPr>
            <p:cNvSpPr>
              <a:spLocks noChangeShapeType="1"/>
            </p:cNvSpPr>
            <p:nvPr/>
          </p:nvSpPr>
          <p:spPr bwMode="auto">
            <a:xfrm>
              <a:off x="3040" y="3389"/>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07" name="Freeform 347">
              <a:extLst>
                <a:ext uri="{FF2B5EF4-FFF2-40B4-BE49-F238E27FC236}">
                  <a16:creationId xmlns:a16="http://schemas.microsoft.com/office/drawing/2014/main" id="{4909A721-5336-B44F-B764-0A91EC1FCFB8}"/>
                </a:ext>
              </a:extLst>
            </p:cNvPr>
            <p:cNvSpPr>
              <a:spLocks/>
            </p:cNvSpPr>
            <p:nvPr/>
          </p:nvSpPr>
          <p:spPr bwMode="auto">
            <a:xfrm>
              <a:off x="3088" y="3359"/>
              <a:ext cx="61"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1"/>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08" name="Line 348">
              <a:extLst>
                <a:ext uri="{FF2B5EF4-FFF2-40B4-BE49-F238E27FC236}">
                  <a16:creationId xmlns:a16="http://schemas.microsoft.com/office/drawing/2014/main" id="{62AF322B-EC65-304C-BA15-CBC721DB7CCB}"/>
                </a:ext>
              </a:extLst>
            </p:cNvPr>
            <p:cNvSpPr>
              <a:spLocks noChangeShapeType="1"/>
            </p:cNvSpPr>
            <p:nvPr/>
          </p:nvSpPr>
          <p:spPr bwMode="auto">
            <a:xfrm>
              <a:off x="3036" y="3630"/>
              <a:ext cx="63" cy="0"/>
            </a:xfrm>
            <a:prstGeom prst="line">
              <a:avLst/>
            </a:prstGeom>
            <a:noFill/>
            <a:ln w="15875" cap="rnd">
              <a:solidFill>
                <a:srgbClr val="00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09" name="Freeform 349">
              <a:extLst>
                <a:ext uri="{FF2B5EF4-FFF2-40B4-BE49-F238E27FC236}">
                  <a16:creationId xmlns:a16="http://schemas.microsoft.com/office/drawing/2014/main" id="{380420D5-50E2-C041-A4F2-04FB16A30887}"/>
                </a:ext>
              </a:extLst>
            </p:cNvPr>
            <p:cNvSpPr>
              <a:spLocks/>
            </p:cNvSpPr>
            <p:nvPr/>
          </p:nvSpPr>
          <p:spPr bwMode="auto">
            <a:xfrm>
              <a:off x="3084" y="3599"/>
              <a:ext cx="62"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1"/>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10" name="Line 350">
              <a:extLst>
                <a:ext uri="{FF2B5EF4-FFF2-40B4-BE49-F238E27FC236}">
                  <a16:creationId xmlns:a16="http://schemas.microsoft.com/office/drawing/2014/main" id="{A96B4323-2A9E-7B4B-8BB0-ECA1B90AC6AA}"/>
                </a:ext>
              </a:extLst>
            </p:cNvPr>
            <p:cNvSpPr>
              <a:spLocks noChangeShapeType="1"/>
            </p:cNvSpPr>
            <p:nvPr/>
          </p:nvSpPr>
          <p:spPr bwMode="auto">
            <a:xfrm>
              <a:off x="3036" y="3476"/>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11" name="Freeform 351">
              <a:extLst>
                <a:ext uri="{FF2B5EF4-FFF2-40B4-BE49-F238E27FC236}">
                  <a16:creationId xmlns:a16="http://schemas.microsoft.com/office/drawing/2014/main" id="{1F9EED47-14B4-BC40-B2CA-6E423DB4C5F1}"/>
                </a:ext>
              </a:extLst>
            </p:cNvPr>
            <p:cNvSpPr>
              <a:spLocks/>
            </p:cNvSpPr>
            <p:nvPr/>
          </p:nvSpPr>
          <p:spPr bwMode="auto">
            <a:xfrm>
              <a:off x="3084" y="3446"/>
              <a:ext cx="62"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1"/>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79910" name="Freeform 354">
            <a:extLst>
              <a:ext uri="{FF2B5EF4-FFF2-40B4-BE49-F238E27FC236}">
                <a16:creationId xmlns:a16="http://schemas.microsoft.com/office/drawing/2014/main" id="{3C50EAD3-1D79-304D-86A0-8171A23548F6}"/>
              </a:ext>
            </a:extLst>
          </p:cNvPr>
          <p:cNvSpPr>
            <a:spLocks noEditPoints="1"/>
          </p:cNvSpPr>
          <p:nvPr/>
        </p:nvSpPr>
        <p:spPr bwMode="auto">
          <a:xfrm>
            <a:off x="1320800" y="5540375"/>
            <a:ext cx="366713" cy="52388"/>
          </a:xfrm>
          <a:custGeom>
            <a:avLst/>
            <a:gdLst>
              <a:gd name="T0" fmla="*/ 2147483647 w 617"/>
              <a:gd name="T1" fmla="*/ 0 h 88"/>
              <a:gd name="T2" fmla="*/ 2147483647 w 617"/>
              <a:gd name="T3" fmla="*/ 0 h 88"/>
              <a:gd name="T4" fmla="*/ 2147483647 w 617"/>
              <a:gd name="T5" fmla="*/ 2147483647 h 88"/>
              <a:gd name="T6" fmla="*/ 2147483647 w 617"/>
              <a:gd name="T7" fmla="*/ 2147483647 h 88"/>
              <a:gd name="T8" fmla="*/ 2147483647 w 617"/>
              <a:gd name="T9" fmla="*/ 2147483647 h 88"/>
              <a:gd name="T10" fmla="*/ 0 w 617"/>
              <a:gd name="T11" fmla="*/ 2147483647 h 88"/>
              <a:gd name="T12" fmla="*/ 2147483647 w 617"/>
              <a:gd name="T13" fmla="*/ 0 h 88"/>
              <a:gd name="T14" fmla="*/ 2147483647 w 617"/>
              <a:gd name="T15" fmla="*/ 0 h 88"/>
              <a:gd name="T16" fmla="*/ 2147483647 w 617"/>
              <a:gd name="T17" fmla="*/ 0 h 88"/>
              <a:gd name="T18" fmla="*/ 2147483647 w 617"/>
              <a:gd name="T19" fmla="*/ 2147483647 h 88"/>
              <a:gd name="T20" fmla="*/ 2147483647 w 617"/>
              <a:gd name="T21" fmla="*/ 2147483647 h 88"/>
              <a:gd name="T22" fmla="*/ 2147483647 w 617"/>
              <a:gd name="T23" fmla="*/ 2147483647 h 88"/>
              <a:gd name="T24" fmla="*/ 2147483647 w 617"/>
              <a:gd name="T25" fmla="*/ 2147483647 h 88"/>
              <a:gd name="T26" fmla="*/ 2147483647 w 617"/>
              <a:gd name="T27" fmla="*/ 0 h 88"/>
              <a:gd name="T28" fmla="*/ 2147483647 w 617"/>
              <a:gd name="T29" fmla="*/ 0 h 88"/>
              <a:gd name="T30" fmla="*/ 2147483647 w 617"/>
              <a:gd name="T31" fmla="*/ 0 h 88"/>
              <a:gd name="T32" fmla="*/ 2147483647 w 617"/>
              <a:gd name="T33" fmla="*/ 2147483647 h 88"/>
              <a:gd name="T34" fmla="*/ 2147483647 w 617"/>
              <a:gd name="T35" fmla="*/ 2147483647 h 88"/>
              <a:gd name="T36" fmla="*/ 2147483647 w 617"/>
              <a:gd name="T37" fmla="*/ 2147483647 h 88"/>
              <a:gd name="T38" fmla="*/ 2147483647 w 617"/>
              <a:gd name="T39" fmla="*/ 2147483647 h 88"/>
              <a:gd name="T40" fmla="*/ 2147483647 w 617"/>
              <a:gd name="T41" fmla="*/ 0 h 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17"/>
              <a:gd name="T64" fmla="*/ 0 h 88"/>
              <a:gd name="T65" fmla="*/ 617 w 617"/>
              <a:gd name="T66" fmla="*/ 88 h 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17" h="88">
                <a:moveTo>
                  <a:pt x="44" y="0"/>
                </a:moveTo>
                <a:lnTo>
                  <a:pt x="44" y="0"/>
                </a:lnTo>
                <a:cubicBezTo>
                  <a:pt x="68" y="0"/>
                  <a:pt x="88" y="20"/>
                  <a:pt x="88" y="44"/>
                </a:cubicBezTo>
                <a:cubicBezTo>
                  <a:pt x="88" y="69"/>
                  <a:pt x="68" y="88"/>
                  <a:pt x="44" y="88"/>
                </a:cubicBezTo>
                <a:cubicBezTo>
                  <a:pt x="19" y="88"/>
                  <a:pt x="0" y="69"/>
                  <a:pt x="0" y="44"/>
                </a:cubicBezTo>
                <a:cubicBezTo>
                  <a:pt x="0" y="20"/>
                  <a:pt x="19" y="0"/>
                  <a:pt x="44" y="0"/>
                </a:cubicBezTo>
                <a:close/>
                <a:moveTo>
                  <a:pt x="308" y="0"/>
                </a:moveTo>
                <a:lnTo>
                  <a:pt x="308" y="0"/>
                </a:lnTo>
                <a:cubicBezTo>
                  <a:pt x="332" y="0"/>
                  <a:pt x="352" y="20"/>
                  <a:pt x="352" y="44"/>
                </a:cubicBezTo>
                <a:cubicBezTo>
                  <a:pt x="352" y="69"/>
                  <a:pt x="332" y="88"/>
                  <a:pt x="308" y="88"/>
                </a:cubicBezTo>
                <a:cubicBezTo>
                  <a:pt x="284" y="88"/>
                  <a:pt x="264" y="69"/>
                  <a:pt x="264" y="44"/>
                </a:cubicBezTo>
                <a:cubicBezTo>
                  <a:pt x="264" y="20"/>
                  <a:pt x="284" y="0"/>
                  <a:pt x="308" y="0"/>
                </a:cubicBezTo>
                <a:close/>
                <a:moveTo>
                  <a:pt x="572" y="0"/>
                </a:moveTo>
                <a:lnTo>
                  <a:pt x="572" y="0"/>
                </a:lnTo>
                <a:cubicBezTo>
                  <a:pt x="597" y="0"/>
                  <a:pt x="617" y="20"/>
                  <a:pt x="617" y="44"/>
                </a:cubicBezTo>
                <a:cubicBezTo>
                  <a:pt x="617" y="69"/>
                  <a:pt x="597" y="88"/>
                  <a:pt x="572" y="88"/>
                </a:cubicBezTo>
                <a:cubicBezTo>
                  <a:pt x="548" y="88"/>
                  <a:pt x="528" y="69"/>
                  <a:pt x="528" y="44"/>
                </a:cubicBezTo>
                <a:cubicBezTo>
                  <a:pt x="528" y="20"/>
                  <a:pt x="548" y="0"/>
                  <a:pt x="572" y="0"/>
                </a:cubicBezTo>
                <a:close/>
              </a:path>
            </a:pathLst>
          </a:custGeom>
          <a:solidFill>
            <a:srgbClr val="000000"/>
          </a:solidFill>
          <a:ln w="9525">
            <a:solidFill>
              <a:srgbClr val="000000"/>
            </a:solidFill>
            <a:bevel/>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911" name="Freeform 355">
            <a:extLst>
              <a:ext uri="{FF2B5EF4-FFF2-40B4-BE49-F238E27FC236}">
                <a16:creationId xmlns:a16="http://schemas.microsoft.com/office/drawing/2014/main" id="{51D183A9-0D7A-4F40-BB56-06B75084521E}"/>
              </a:ext>
            </a:extLst>
          </p:cNvPr>
          <p:cNvSpPr>
            <a:spLocks noEditPoints="1"/>
          </p:cNvSpPr>
          <p:nvPr/>
        </p:nvSpPr>
        <p:spPr bwMode="auto">
          <a:xfrm>
            <a:off x="6616700" y="5540375"/>
            <a:ext cx="366713" cy="52388"/>
          </a:xfrm>
          <a:custGeom>
            <a:avLst/>
            <a:gdLst>
              <a:gd name="T0" fmla="*/ 2147483647 w 617"/>
              <a:gd name="T1" fmla="*/ 0 h 88"/>
              <a:gd name="T2" fmla="*/ 2147483647 w 617"/>
              <a:gd name="T3" fmla="*/ 0 h 88"/>
              <a:gd name="T4" fmla="*/ 2147483647 w 617"/>
              <a:gd name="T5" fmla="*/ 2147483647 h 88"/>
              <a:gd name="T6" fmla="*/ 2147483647 w 617"/>
              <a:gd name="T7" fmla="*/ 2147483647 h 88"/>
              <a:gd name="T8" fmla="*/ 2147483647 w 617"/>
              <a:gd name="T9" fmla="*/ 2147483647 h 88"/>
              <a:gd name="T10" fmla="*/ 0 w 617"/>
              <a:gd name="T11" fmla="*/ 2147483647 h 88"/>
              <a:gd name="T12" fmla="*/ 2147483647 w 617"/>
              <a:gd name="T13" fmla="*/ 0 h 88"/>
              <a:gd name="T14" fmla="*/ 2147483647 w 617"/>
              <a:gd name="T15" fmla="*/ 0 h 88"/>
              <a:gd name="T16" fmla="*/ 2147483647 w 617"/>
              <a:gd name="T17" fmla="*/ 0 h 88"/>
              <a:gd name="T18" fmla="*/ 2147483647 w 617"/>
              <a:gd name="T19" fmla="*/ 2147483647 h 88"/>
              <a:gd name="T20" fmla="*/ 2147483647 w 617"/>
              <a:gd name="T21" fmla="*/ 2147483647 h 88"/>
              <a:gd name="T22" fmla="*/ 2147483647 w 617"/>
              <a:gd name="T23" fmla="*/ 2147483647 h 88"/>
              <a:gd name="T24" fmla="*/ 2147483647 w 617"/>
              <a:gd name="T25" fmla="*/ 2147483647 h 88"/>
              <a:gd name="T26" fmla="*/ 2147483647 w 617"/>
              <a:gd name="T27" fmla="*/ 0 h 88"/>
              <a:gd name="T28" fmla="*/ 2147483647 w 617"/>
              <a:gd name="T29" fmla="*/ 0 h 88"/>
              <a:gd name="T30" fmla="*/ 2147483647 w 617"/>
              <a:gd name="T31" fmla="*/ 0 h 88"/>
              <a:gd name="T32" fmla="*/ 2147483647 w 617"/>
              <a:gd name="T33" fmla="*/ 2147483647 h 88"/>
              <a:gd name="T34" fmla="*/ 2147483647 w 617"/>
              <a:gd name="T35" fmla="*/ 2147483647 h 88"/>
              <a:gd name="T36" fmla="*/ 2147483647 w 617"/>
              <a:gd name="T37" fmla="*/ 2147483647 h 88"/>
              <a:gd name="T38" fmla="*/ 2147483647 w 617"/>
              <a:gd name="T39" fmla="*/ 2147483647 h 88"/>
              <a:gd name="T40" fmla="*/ 2147483647 w 617"/>
              <a:gd name="T41" fmla="*/ 0 h 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17"/>
              <a:gd name="T64" fmla="*/ 0 h 88"/>
              <a:gd name="T65" fmla="*/ 617 w 617"/>
              <a:gd name="T66" fmla="*/ 88 h 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17" h="88">
                <a:moveTo>
                  <a:pt x="44" y="0"/>
                </a:moveTo>
                <a:lnTo>
                  <a:pt x="44" y="0"/>
                </a:lnTo>
                <a:cubicBezTo>
                  <a:pt x="69" y="0"/>
                  <a:pt x="88" y="20"/>
                  <a:pt x="88" y="44"/>
                </a:cubicBezTo>
                <a:cubicBezTo>
                  <a:pt x="88" y="69"/>
                  <a:pt x="69" y="88"/>
                  <a:pt x="44" y="88"/>
                </a:cubicBezTo>
                <a:cubicBezTo>
                  <a:pt x="20" y="88"/>
                  <a:pt x="0" y="69"/>
                  <a:pt x="0" y="44"/>
                </a:cubicBezTo>
                <a:cubicBezTo>
                  <a:pt x="0" y="20"/>
                  <a:pt x="20" y="0"/>
                  <a:pt x="44" y="0"/>
                </a:cubicBezTo>
                <a:close/>
                <a:moveTo>
                  <a:pt x="309" y="0"/>
                </a:moveTo>
                <a:lnTo>
                  <a:pt x="309" y="0"/>
                </a:lnTo>
                <a:cubicBezTo>
                  <a:pt x="333" y="0"/>
                  <a:pt x="353" y="20"/>
                  <a:pt x="353" y="44"/>
                </a:cubicBezTo>
                <a:cubicBezTo>
                  <a:pt x="353" y="69"/>
                  <a:pt x="333" y="88"/>
                  <a:pt x="309" y="88"/>
                </a:cubicBezTo>
                <a:cubicBezTo>
                  <a:pt x="284" y="88"/>
                  <a:pt x="264" y="69"/>
                  <a:pt x="264" y="44"/>
                </a:cubicBezTo>
                <a:cubicBezTo>
                  <a:pt x="264" y="20"/>
                  <a:pt x="284" y="0"/>
                  <a:pt x="309" y="0"/>
                </a:cubicBezTo>
                <a:close/>
                <a:moveTo>
                  <a:pt x="573" y="0"/>
                </a:moveTo>
                <a:lnTo>
                  <a:pt x="573" y="0"/>
                </a:lnTo>
                <a:cubicBezTo>
                  <a:pt x="597" y="0"/>
                  <a:pt x="617" y="20"/>
                  <a:pt x="617" y="44"/>
                </a:cubicBezTo>
                <a:cubicBezTo>
                  <a:pt x="617" y="69"/>
                  <a:pt x="597" y="88"/>
                  <a:pt x="573" y="88"/>
                </a:cubicBezTo>
                <a:cubicBezTo>
                  <a:pt x="549" y="88"/>
                  <a:pt x="529" y="69"/>
                  <a:pt x="529" y="44"/>
                </a:cubicBezTo>
                <a:cubicBezTo>
                  <a:pt x="529" y="20"/>
                  <a:pt x="549" y="0"/>
                  <a:pt x="573" y="0"/>
                </a:cubicBezTo>
                <a:close/>
              </a:path>
            </a:pathLst>
          </a:custGeom>
          <a:solidFill>
            <a:srgbClr val="000000"/>
          </a:solidFill>
          <a:ln w="9525">
            <a:solidFill>
              <a:srgbClr val="000000"/>
            </a:solidFill>
            <a:bevel/>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912" name="Freeform 356">
            <a:extLst>
              <a:ext uri="{FF2B5EF4-FFF2-40B4-BE49-F238E27FC236}">
                <a16:creationId xmlns:a16="http://schemas.microsoft.com/office/drawing/2014/main" id="{473C2B5A-8F22-4041-A9C7-78139DE9B014}"/>
              </a:ext>
            </a:extLst>
          </p:cNvPr>
          <p:cNvSpPr>
            <a:spLocks/>
          </p:cNvSpPr>
          <p:nvPr/>
        </p:nvSpPr>
        <p:spPr bwMode="auto">
          <a:xfrm>
            <a:off x="1252538" y="5932488"/>
            <a:ext cx="6896100" cy="236537"/>
          </a:xfrm>
          <a:custGeom>
            <a:avLst/>
            <a:gdLst>
              <a:gd name="T0" fmla="*/ 2147483647 w 4344"/>
              <a:gd name="T1" fmla="*/ 2147483647 h 149"/>
              <a:gd name="T2" fmla="*/ 2147483647 w 4344"/>
              <a:gd name="T3" fmla="*/ 0 h 149"/>
              <a:gd name="T4" fmla="*/ 2147483647 w 4344"/>
              <a:gd name="T5" fmla="*/ 2147483647 h 149"/>
              <a:gd name="T6" fmla="*/ 0 w 4344"/>
              <a:gd name="T7" fmla="*/ 2147483647 h 149"/>
              <a:gd name="T8" fmla="*/ 0 w 4344"/>
              <a:gd name="T9" fmla="*/ 2147483647 h 149"/>
              <a:gd name="T10" fmla="*/ 2147483647 w 4344"/>
              <a:gd name="T11" fmla="*/ 2147483647 h 149"/>
              <a:gd name="T12" fmla="*/ 2147483647 w 4344"/>
              <a:gd name="T13" fmla="*/ 2147483647 h 149"/>
              <a:gd name="T14" fmla="*/ 2147483647 w 4344"/>
              <a:gd name="T15" fmla="*/ 2147483647 h 149"/>
              <a:gd name="T16" fmla="*/ 0 60000 65536"/>
              <a:gd name="T17" fmla="*/ 0 60000 65536"/>
              <a:gd name="T18" fmla="*/ 0 60000 65536"/>
              <a:gd name="T19" fmla="*/ 0 60000 65536"/>
              <a:gd name="T20" fmla="*/ 0 60000 65536"/>
              <a:gd name="T21" fmla="*/ 0 60000 65536"/>
              <a:gd name="T22" fmla="*/ 0 60000 65536"/>
              <a:gd name="T23" fmla="*/ 0 60000 65536"/>
              <a:gd name="T24" fmla="*/ 0 w 4344"/>
              <a:gd name="T25" fmla="*/ 0 h 149"/>
              <a:gd name="T26" fmla="*/ 4344 w 4344"/>
              <a:gd name="T27" fmla="*/ 149 h 1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344" h="149">
                <a:moveTo>
                  <a:pt x="4344" y="74"/>
                </a:moveTo>
                <a:lnTo>
                  <a:pt x="4270" y="0"/>
                </a:lnTo>
                <a:lnTo>
                  <a:pt x="4270" y="49"/>
                </a:lnTo>
                <a:lnTo>
                  <a:pt x="0" y="49"/>
                </a:lnTo>
                <a:lnTo>
                  <a:pt x="0" y="100"/>
                </a:lnTo>
                <a:lnTo>
                  <a:pt x="4270" y="100"/>
                </a:lnTo>
                <a:lnTo>
                  <a:pt x="4270" y="149"/>
                </a:lnTo>
                <a:lnTo>
                  <a:pt x="4344" y="74"/>
                </a:lnTo>
                <a:close/>
              </a:path>
            </a:pathLst>
          </a:cu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913" name="Freeform 357">
            <a:extLst>
              <a:ext uri="{FF2B5EF4-FFF2-40B4-BE49-F238E27FC236}">
                <a16:creationId xmlns:a16="http://schemas.microsoft.com/office/drawing/2014/main" id="{3DA3C2AF-88FA-1F40-A986-5B1FDFB98ECA}"/>
              </a:ext>
            </a:extLst>
          </p:cNvPr>
          <p:cNvSpPr>
            <a:spLocks/>
          </p:cNvSpPr>
          <p:nvPr/>
        </p:nvSpPr>
        <p:spPr bwMode="auto">
          <a:xfrm>
            <a:off x="1252538" y="5932488"/>
            <a:ext cx="6896100" cy="236537"/>
          </a:xfrm>
          <a:custGeom>
            <a:avLst/>
            <a:gdLst>
              <a:gd name="T0" fmla="*/ 2147483647 w 4344"/>
              <a:gd name="T1" fmla="*/ 2147483647 h 149"/>
              <a:gd name="T2" fmla="*/ 2147483647 w 4344"/>
              <a:gd name="T3" fmla="*/ 0 h 149"/>
              <a:gd name="T4" fmla="*/ 2147483647 w 4344"/>
              <a:gd name="T5" fmla="*/ 2147483647 h 149"/>
              <a:gd name="T6" fmla="*/ 0 w 4344"/>
              <a:gd name="T7" fmla="*/ 2147483647 h 149"/>
              <a:gd name="T8" fmla="*/ 0 w 4344"/>
              <a:gd name="T9" fmla="*/ 2147483647 h 149"/>
              <a:gd name="T10" fmla="*/ 2147483647 w 4344"/>
              <a:gd name="T11" fmla="*/ 2147483647 h 149"/>
              <a:gd name="T12" fmla="*/ 2147483647 w 4344"/>
              <a:gd name="T13" fmla="*/ 2147483647 h 149"/>
              <a:gd name="T14" fmla="*/ 2147483647 w 4344"/>
              <a:gd name="T15" fmla="*/ 2147483647 h 149"/>
              <a:gd name="T16" fmla="*/ 0 60000 65536"/>
              <a:gd name="T17" fmla="*/ 0 60000 65536"/>
              <a:gd name="T18" fmla="*/ 0 60000 65536"/>
              <a:gd name="T19" fmla="*/ 0 60000 65536"/>
              <a:gd name="T20" fmla="*/ 0 60000 65536"/>
              <a:gd name="T21" fmla="*/ 0 60000 65536"/>
              <a:gd name="T22" fmla="*/ 0 60000 65536"/>
              <a:gd name="T23" fmla="*/ 0 60000 65536"/>
              <a:gd name="T24" fmla="*/ 0 w 4344"/>
              <a:gd name="T25" fmla="*/ 0 h 149"/>
              <a:gd name="T26" fmla="*/ 4344 w 4344"/>
              <a:gd name="T27" fmla="*/ 149 h 1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344" h="149">
                <a:moveTo>
                  <a:pt x="4344" y="74"/>
                </a:moveTo>
                <a:lnTo>
                  <a:pt x="4270" y="0"/>
                </a:lnTo>
                <a:lnTo>
                  <a:pt x="4270" y="49"/>
                </a:lnTo>
                <a:lnTo>
                  <a:pt x="0" y="49"/>
                </a:lnTo>
                <a:lnTo>
                  <a:pt x="0" y="100"/>
                </a:lnTo>
                <a:lnTo>
                  <a:pt x="4270" y="100"/>
                </a:lnTo>
                <a:lnTo>
                  <a:pt x="4270" y="149"/>
                </a:lnTo>
                <a:lnTo>
                  <a:pt x="4344" y="74"/>
                </a:lnTo>
                <a:close/>
              </a:path>
            </a:pathLst>
          </a:custGeom>
          <a:noFill/>
          <a:ln w="158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914" name="Rectangle 358">
            <a:extLst>
              <a:ext uri="{FF2B5EF4-FFF2-40B4-BE49-F238E27FC236}">
                <a16:creationId xmlns:a16="http://schemas.microsoft.com/office/drawing/2014/main" id="{9BDF58ED-D001-294B-82BA-9FB03C95C7A8}"/>
              </a:ext>
            </a:extLst>
          </p:cNvPr>
          <p:cNvSpPr>
            <a:spLocks noChangeArrowheads="1"/>
          </p:cNvSpPr>
          <p:nvPr/>
        </p:nvSpPr>
        <p:spPr bwMode="auto">
          <a:xfrm>
            <a:off x="8221663" y="5946775"/>
            <a:ext cx="3937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Time</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79915" name="AutoShape 488">
            <a:extLst>
              <a:ext uri="{FF2B5EF4-FFF2-40B4-BE49-F238E27FC236}">
                <a16:creationId xmlns:a16="http://schemas.microsoft.com/office/drawing/2014/main" id="{347F61FE-2372-1C45-8581-B4BA542BF39F}"/>
              </a:ext>
            </a:extLst>
          </p:cNvPr>
          <p:cNvCxnSpPr>
            <a:cxnSpLocks noChangeShapeType="1"/>
            <a:stCxn id="79927" idx="2"/>
          </p:cNvCxnSpPr>
          <p:nvPr/>
        </p:nvCxnSpPr>
        <p:spPr bwMode="auto">
          <a:xfrm>
            <a:off x="2114550" y="2098675"/>
            <a:ext cx="407988" cy="125413"/>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79916" name="AutoShape 489">
            <a:extLst>
              <a:ext uri="{FF2B5EF4-FFF2-40B4-BE49-F238E27FC236}">
                <a16:creationId xmlns:a16="http://schemas.microsoft.com/office/drawing/2014/main" id="{DE52B57F-B3E9-614E-A350-A84809A1AD9A}"/>
              </a:ext>
            </a:extLst>
          </p:cNvPr>
          <p:cNvCxnSpPr>
            <a:cxnSpLocks noChangeShapeType="1"/>
            <a:stCxn id="79927" idx="2"/>
          </p:cNvCxnSpPr>
          <p:nvPr/>
        </p:nvCxnSpPr>
        <p:spPr bwMode="auto">
          <a:xfrm flipH="1">
            <a:off x="1639888" y="2098675"/>
            <a:ext cx="474662" cy="125413"/>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79917" name="AutoShape 490">
            <a:extLst>
              <a:ext uri="{FF2B5EF4-FFF2-40B4-BE49-F238E27FC236}">
                <a16:creationId xmlns:a16="http://schemas.microsoft.com/office/drawing/2014/main" id="{17BE382C-628F-2C4D-8742-D7D9AA156A86}"/>
              </a:ext>
            </a:extLst>
          </p:cNvPr>
          <p:cNvCxnSpPr>
            <a:cxnSpLocks noChangeShapeType="1"/>
            <a:stCxn id="79933" idx="2"/>
            <a:endCxn id="79939" idx="0"/>
          </p:cNvCxnSpPr>
          <p:nvPr/>
        </p:nvCxnSpPr>
        <p:spPr bwMode="auto">
          <a:xfrm flipH="1">
            <a:off x="2074863" y="2674938"/>
            <a:ext cx="461962" cy="163512"/>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79918" name="AutoShape 491">
            <a:extLst>
              <a:ext uri="{FF2B5EF4-FFF2-40B4-BE49-F238E27FC236}">
                <a16:creationId xmlns:a16="http://schemas.microsoft.com/office/drawing/2014/main" id="{E3E938DB-655F-2C44-AAF5-C31AC11AAF13}"/>
              </a:ext>
            </a:extLst>
          </p:cNvPr>
          <p:cNvCxnSpPr>
            <a:cxnSpLocks noChangeShapeType="1"/>
            <a:stCxn id="79930" idx="2"/>
            <a:endCxn id="79939" idx="0"/>
          </p:cNvCxnSpPr>
          <p:nvPr/>
        </p:nvCxnSpPr>
        <p:spPr bwMode="auto">
          <a:xfrm>
            <a:off x="1576388" y="2674938"/>
            <a:ext cx="498475" cy="163512"/>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79919" name="AutoShape 492">
            <a:extLst>
              <a:ext uri="{FF2B5EF4-FFF2-40B4-BE49-F238E27FC236}">
                <a16:creationId xmlns:a16="http://schemas.microsoft.com/office/drawing/2014/main" id="{982F1CDC-FD9A-6644-889A-C46163F0AAB9}"/>
              </a:ext>
            </a:extLst>
          </p:cNvPr>
          <p:cNvCxnSpPr>
            <a:cxnSpLocks noChangeShapeType="1"/>
            <a:stCxn id="79924" idx="2"/>
            <a:endCxn id="79936" idx="0"/>
          </p:cNvCxnSpPr>
          <p:nvPr/>
        </p:nvCxnSpPr>
        <p:spPr bwMode="auto">
          <a:xfrm>
            <a:off x="2574925" y="1484313"/>
            <a:ext cx="920750" cy="739775"/>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79920" name="AutoShape 493">
            <a:extLst>
              <a:ext uri="{FF2B5EF4-FFF2-40B4-BE49-F238E27FC236}">
                <a16:creationId xmlns:a16="http://schemas.microsoft.com/office/drawing/2014/main" id="{61DB7E56-F14C-264A-9D55-75D358EFDCC7}"/>
              </a:ext>
            </a:extLst>
          </p:cNvPr>
          <p:cNvCxnSpPr>
            <a:cxnSpLocks noChangeShapeType="1"/>
            <a:stCxn id="79924" idx="2"/>
            <a:endCxn id="79927" idx="0"/>
          </p:cNvCxnSpPr>
          <p:nvPr/>
        </p:nvCxnSpPr>
        <p:spPr bwMode="auto">
          <a:xfrm flipH="1">
            <a:off x="2114550" y="1484313"/>
            <a:ext cx="460375" cy="163512"/>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79921" name="AutoShape 494">
            <a:extLst>
              <a:ext uri="{FF2B5EF4-FFF2-40B4-BE49-F238E27FC236}">
                <a16:creationId xmlns:a16="http://schemas.microsoft.com/office/drawing/2014/main" id="{3DEB440B-7DAF-3F49-9DA1-B78B0D45E3E1}"/>
              </a:ext>
            </a:extLst>
          </p:cNvPr>
          <p:cNvCxnSpPr>
            <a:cxnSpLocks noChangeShapeType="1"/>
            <a:stCxn id="79936" idx="2"/>
            <a:endCxn id="79942" idx="0"/>
          </p:cNvCxnSpPr>
          <p:nvPr/>
        </p:nvCxnSpPr>
        <p:spPr bwMode="auto">
          <a:xfrm flipH="1">
            <a:off x="2574925" y="2674938"/>
            <a:ext cx="920750" cy="739775"/>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79922" name="AutoShape 495">
            <a:extLst>
              <a:ext uri="{FF2B5EF4-FFF2-40B4-BE49-F238E27FC236}">
                <a16:creationId xmlns:a16="http://schemas.microsoft.com/office/drawing/2014/main" id="{2421363C-7674-604F-958C-71E4F3B46D9A}"/>
              </a:ext>
            </a:extLst>
          </p:cNvPr>
          <p:cNvCxnSpPr>
            <a:cxnSpLocks noChangeShapeType="1"/>
            <a:stCxn id="79939" idx="2"/>
            <a:endCxn id="79942" idx="0"/>
          </p:cNvCxnSpPr>
          <p:nvPr/>
        </p:nvCxnSpPr>
        <p:spPr bwMode="auto">
          <a:xfrm>
            <a:off x="2074863" y="3289300"/>
            <a:ext cx="500062" cy="125413"/>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79923" name="AutoShape 496">
            <a:extLst>
              <a:ext uri="{FF2B5EF4-FFF2-40B4-BE49-F238E27FC236}">
                <a16:creationId xmlns:a16="http://schemas.microsoft.com/office/drawing/2014/main" id="{0BE6B138-6E6A-1148-8F32-A870F078854B}"/>
              </a:ext>
            </a:extLst>
          </p:cNvPr>
          <p:cNvCxnSpPr>
            <a:cxnSpLocks noChangeShapeType="1"/>
            <a:stCxn id="79942" idx="1"/>
            <a:endCxn id="79924" idx="1"/>
          </p:cNvCxnSpPr>
          <p:nvPr/>
        </p:nvCxnSpPr>
        <p:spPr bwMode="auto">
          <a:xfrm rot="10800000" flipH="1">
            <a:off x="2138363" y="1258888"/>
            <a:ext cx="1587" cy="2381250"/>
          </a:xfrm>
          <a:prstGeom prst="curvedConnector3">
            <a:avLst>
              <a:gd name="adj1" fmla="val -77500000"/>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sp>
        <p:nvSpPr>
          <p:cNvPr id="79924" name="Rectangle 486">
            <a:extLst>
              <a:ext uri="{FF2B5EF4-FFF2-40B4-BE49-F238E27FC236}">
                <a16:creationId xmlns:a16="http://schemas.microsoft.com/office/drawing/2014/main" id="{F4CA90C1-F40B-194A-9EDA-D94E1C5AA03E}"/>
              </a:ext>
            </a:extLst>
          </p:cNvPr>
          <p:cNvSpPr>
            <a:spLocks noChangeArrowheads="1"/>
          </p:cNvSpPr>
          <p:nvPr/>
        </p:nvSpPr>
        <p:spPr bwMode="auto">
          <a:xfrm>
            <a:off x="2152650" y="1047750"/>
            <a:ext cx="844550" cy="422275"/>
          </a:xfrm>
          <a:prstGeom prst="rect">
            <a:avLst/>
          </a:prstGeom>
          <a:solidFill>
            <a:srgbClr val="CCCCFF"/>
          </a:solidFill>
          <a:ln w="28575">
            <a:solidFill>
              <a:schemeClr val="tx1"/>
            </a:solidFill>
            <a:miter lim="800000"/>
            <a:headEnd/>
            <a:tailEnd/>
          </a:ln>
        </p:spPr>
        <p:txBody>
          <a:bodyPr lIns="45720" rIns="0"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a:t>
            </a:r>
          </a:p>
        </p:txBody>
      </p:sp>
      <p:sp>
        <p:nvSpPr>
          <p:cNvPr id="280" name="Text Box 556">
            <a:extLst>
              <a:ext uri="{FF2B5EF4-FFF2-40B4-BE49-F238E27FC236}">
                <a16:creationId xmlns:a16="http://schemas.microsoft.com/office/drawing/2014/main" id="{48123996-2164-3341-A5A3-1FD981143ADC}"/>
              </a:ext>
            </a:extLst>
          </p:cNvPr>
          <p:cNvSpPr txBox="1">
            <a:spLocks noChangeArrowheads="1"/>
          </p:cNvSpPr>
          <p:nvPr/>
        </p:nvSpPr>
        <p:spPr bwMode="auto">
          <a:xfrm>
            <a:off x="2420938" y="1047750"/>
            <a:ext cx="5318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x/1111</a:t>
            </a:r>
          </a:p>
        </p:txBody>
      </p:sp>
      <p:sp>
        <p:nvSpPr>
          <p:cNvPr id="281" name="Text Box 558">
            <a:extLst>
              <a:ext uri="{FF2B5EF4-FFF2-40B4-BE49-F238E27FC236}">
                <a16:creationId xmlns:a16="http://schemas.microsoft.com/office/drawing/2014/main" id="{523AF48C-DA5D-E64B-84F8-DAC1187D6F34}"/>
              </a:ext>
            </a:extLst>
          </p:cNvPr>
          <p:cNvSpPr txBox="1">
            <a:spLocks noChangeArrowheads="1"/>
          </p:cNvSpPr>
          <p:nvPr/>
        </p:nvSpPr>
        <p:spPr bwMode="auto">
          <a:xfrm>
            <a:off x="2420938" y="1239838"/>
            <a:ext cx="5318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y/1111</a:t>
            </a:r>
          </a:p>
        </p:txBody>
      </p:sp>
      <p:sp>
        <p:nvSpPr>
          <p:cNvPr id="79927" name="Rectangle 563">
            <a:extLst>
              <a:ext uri="{FF2B5EF4-FFF2-40B4-BE49-F238E27FC236}">
                <a16:creationId xmlns:a16="http://schemas.microsoft.com/office/drawing/2014/main" id="{2C986EE0-9AE3-CF48-8A85-E01D87B282BB}"/>
              </a:ext>
            </a:extLst>
          </p:cNvPr>
          <p:cNvSpPr>
            <a:spLocks noChangeArrowheads="1"/>
          </p:cNvSpPr>
          <p:nvPr/>
        </p:nvSpPr>
        <p:spPr bwMode="auto">
          <a:xfrm>
            <a:off x="1692275" y="1662113"/>
            <a:ext cx="844550" cy="422275"/>
          </a:xfrm>
          <a:prstGeom prst="rect">
            <a:avLst/>
          </a:prstGeom>
          <a:solidFill>
            <a:srgbClr val="CCCCFF"/>
          </a:solidFill>
          <a:ln w="28575">
            <a:solidFill>
              <a:schemeClr val="tx1"/>
            </a:solidFill>
            <a:miter lim="800000"/>
            <a:headEnd/>
            <a:tailEnd/>
          </a:ln>
        </p:spPr>
        <p:txBody>
          <a:bodyPr lIns="45720" rIns="0"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B</a:t>
            </a:r>
          </a:p>
        </p:txBody>
      </p:sp>
      <p:sp>
        <p:nvSpPr>
          <p:cNvPr id="283" name="Text Box 564">
            <a:extLst>
              <a:ext uri="{FF2B5EF4-FFF2-40B4-BE49-F238E27FC236}">
                <a16:creationId xmlns:a16="http://schemas.microsoft.com/office/drawing/2014/main" id="{9F953DED-34DB-5F48-8D25-58873F1145D0}"/>
              </a:ext>
            </a:extLst>
          </p:cNvPr>
          <p:cNvSpPr txBox="1">
            <a:spLocks noChangeArrowheads="1"/>
          </p:cNvSpPr>
          <p:nvPr/>
        </p:nvSpPr>
        <p:spPr bwMode="auto">
          <a:xfrm>
            <a:off x="1960563" y="1662113"/>
            <a:ext cx="5318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x/1110</a:t>
            </a:r>
          </a:p>
        </p:txBody>
      </p:sp>
      <p:sp>
        <p:nvSpPr>
          <p:cNvPr id="284" name="Text Box 565">
            <a:extLst>
              <a:ext uri="{FF2B5EF4-FFF2-40B4-BE49-F238E27FC236}">
                <a16:creationId xmlns:a16="http://schemas.microsoft.com/office/drawing/2014/main" id="{91EC7E0A-BB32-6447-B33F-5A25309BF75D}"/>
              </a:ext>
            </a:extLst>
          </p:cNvPr>
          <p:cNvSpPr txBox="1">
            <a:spLocks noChangeArrowheads="1"/>
          </p:cNvSpPr>
          <p:nvPr/>
        </p:nvSpPr>
        <p:spPr bwMode="auto">
          <a:xfrm>
            <a:off x="1960563" y="1854200"/>
            <a:ext cx="5318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y/0011</a:t>
            </a:r>
          </a:p>
        </p:txBody>
      </p:sp>
      <p:sp>
        <p:nvSpPr>
          <p:cNvPr id="79930" name="Rectangle 567">
            <a:extLst>
              <a:ext uri="{FF2B5EF4-FFF2-40B4-BE49-F238E27FC236}">
                <a16:creationId xmlns:a16="http://schemas.microsoft.com/office/drawing/2014/main" id="{F2E40C2E-D362-284B-A51C-2F24D43E2850}"/>
              </a:ext>
            </a:extLst>
          </p:cNvPr>
          <p:cNvSpPr>
            <a:spLocks noChangeArrowheads="1"/>
          </p:cNvSpPr>
          <p:nvPr/>
        </p:nvSpPr>
        <p:spPr bwMode="auto">
          <a:xfrm>
            <a:off x="1154113" y="2238375"/>
            <a:ext cx="844550" cy="422275"/>
          </a:xfrm>
          <a:prstGeom prst="rect">
            <a:avLst/>
          </a:prstGeom>
          <a:solidFill>
            <a:srgbClr val="CCCCFF"/>
          </a:solidFill>
          <a:ln w="28575">
            <a:solidFill>
              <a:schemeClr val="tx1"/>
            </a:solidFill>
            <a:miter lim="800000"/>
            <a:headEnd/>
            <a:tailEnd/>
          </a:ln>
        </p:spPr>
        <p:txBody>
          <a:bodyPr lIns="45720" rIns="0"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C</a:t>
            </a:r>
          </a:p>
        </p:txBody>
      </p:sp>
      <p:sp>
        <p:nvSpPr>
          <p:cNvPr id="286" name="Text Box 568">
            <a:extLst>
              <a:ext uri="{FF2B5EF4-FFF2-40B4-BE49-F238E27FC236}">
                <a16:creationId xmlns:a16="http://schemas.microsoft.com/office/drawing/2014/main" id="{BC1E1372-461F-D446-955A-C42F51E8DF3D}"/>
              </a:ext>
            </a:extLst>
          </p:cNvPr>
          <p:cNvSpPr txBox="1">
            <a:spLocks noChangeArrowheads="1"/>
          </p:cNvSpPr>
          <p:nvPr/>
        </p:nvSpPr>
        <p:spPr bwMode="auto">
          <a:xfrm>
            <a:off x="1422400" y="2238375"/>
            <a:ext cx="5318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x/1000</a:t>
            </a:r>
          </a:p>
        </p:txBody>
      </p:sp>
      <p:sp>
        <p:nvSpPr>
          <p:cNvPr id="287" name="Text Box 569">
            <a:extLst>
              <a:ext uri="{FF2B5EF4-FFF2-40B4-BE49-F238E27FC236}">
                <a16:creationId xmlns:a16="http://schemas.microsoft.com/office/drawing/2014/main" id="{50C4ACAE-5E5D-9E46-9596-D5411FA08B81}"/>
              </a:ext>
            </a:extLst>
          </p:cNvPr>
          <p:cNvSpPr txBox="1">
            <a:spLocks noChangeArrowheads="1"/>
          </p:cNvSpPr>
          <p:nvPr/>
        </p:nvSpPr>
        <p:spPr bwMode="auto">
          <a:xfrm>
            <a:off x="1422400" y="2430463"/>
            <a:ext cx="5318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y/0010</a:t>
            </a:r>
          </a:p>
        </p:txBody>
      </p:sp>
      <p:sp>
        <p:nvSpPr>
          <p:cNvPr id="79933" name="Rectangle 571">
            <a:extLst>
              <a:ext uri="{FF2B5EF4-FFF2-40B4-BE49-F238E27FC236}">
                <a16:creationId xmlns:a16="http://schemas.microsoft.com/office/drawing/2014/main" id="{2B51A1C7-FB9A-B14D-AB83-EA3381F77A10}"/>
              </a:ext>
            </a:extLst>
          </p:cNvPr>
          <p:cNvSpPr>
            <a:spLocks noChangeArrowheads="1"/>
          </p:cNvSpPr>
          <p:nvPr/>
        </p:nvSpPr>
        <p:spPr bwMode="auto">
          <a:xfrm>
            <a:off x="2114550" y="2238375"/>
            <a:ext cx="844550" cy="422275"/>
          </a:xfrm>
          <a:prstGeom prst="rect">
            <a:avLst/>
          </a:prstGeom>
          <a:solidFill>
            <a:srgbClr val="CCCCFF"/>
          </a:solidFill>
          <a:ln w="28575">
            <a:solidFill>
              <a:schemeClr val="tx1"/>
            </a:solidFill>
            <a:miter lim="800000"/>
            <a:headEnd/>
            <a:tailEnd/>
          </a:ln>
        </p:spPr>
        <p:txBody>
          <a:bodyPr lIns="45720" rIns="0"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
            </a:r>
          </a:p>
        </p:txBody>
      </p:sp>
      <p:sp>
        <p:nvSpPr>
          <p:cNvPr id="289" name="Text Box 572">
            <a:extLst>
              <a:ext uri="{FF2B5EF4-FFF2-40B4-BE49-F238E27FC236}">
                <a16:creationId xmlns:a16="http://schemas.microsoft.com/office/drawing/2014/main" id="{63F475BC-37CB-A544-B657-FC9E51DA6899}"/>
              </a:ext>
            </a:extLst>
          </p:cNvPr>
          <p:cNvSpPr txBox="1">
            <a:spLocks noChangeArrowheads="1"/>
          </p:cNvSpPr>
          <p:nvPr/>
        </p:nvSpPr>
        <p:spPr bwMode="auto">
          <a:xfrm>
            <a:off x="2382838" y="2238375"/>
            <a:ext cx="5318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x/0110</a:t>
            </a:r>
          </a:p>
        </p:txBody>
      </p:sp>
      <p:sp>
        <p:nvSpPr>
          <p:cNvPr id="290" name="Text Box 573">
            <a:extLst>
              <a:ext uri="{FF2B5EF4-FFF2-40B4-BE49-F238E27FC236}">
                <a16:creationId xmlns:a16="http://schemas.microsoft.com/office/drawing/2014/main" id="{2CD5C2E0-3F67-D44D-9E05-48CC550EF443}"/>
              </a:ext>
            </a:extLst>
          </p:cNvPr>
          <p:cNvSpPr txBox="1">
            <a:spLocks noChangeArrowheads="1"/>
          </p:cNvSpPr>
          <p:nvPr/>
        </p:nvSpPr>
        <p:spPr bwMode="auto">
          <a:xfrm>
            <a:off x="2382838" y="2430463"/>
            <a:ext cx="5318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y/0001</a:t>
            </a:r>
          </a:p>
        </p:txBody>
      </p:sp>
      <p:sp>
        <p:nvSpPr>
          <p:cNvPr id="79936" name="Rectangle 575">
            <a:extLst>
              <a:ext uri="{FF2B5EF4-FFF2-40B4-BE49-F238E27FC236}">
                <a16:creationId xmlns:a16="http://schemas.microsoft.com/office/drawing/2014/main" id="{452DFE9E-9EAB-3741-B4DE-99CC909DE234}"/>
              </a:ext>
            </a:extLst>
          </p:cNvPr>
          <p:cNvSpPr>
            <a:spLocks noChangeArrowheads="1"/>
          </p:cNvSpPr>
          <p:nvPr/>
        </p:nvSpPr>
        <p:spPr bwMode="auto">
          <a:xfrm>
            <a:off x="3073400" y="2238375"/>
            <a:ext cx="844550" cy="422275"/>
          </a:xfrm>
          <a:prstGeom prst="rect">
            <a:avLst/>
          </a:prstGeom>
          <a:solidFill>
            <a:srgbClr val="CCCCFF"/>
          </a:solidFill>
          <a:ln w="28575">
            <a:solidFill>
              <a:schemeClr val="tx1"/>
            </a:solidFill>
            <a:miter lim="800000"/>
            <a:headEnd/>
            <a:tailEnd/>
          </a:ln>
        </p:spPr>
        <p:txBody>
          <a:bodyPr lIns="45720" rIns="0"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t>
            </a:r>
          </a:p>
        </p:txBody>
      </p:sp>
      <p:sp>
        <p:nvSpPr>
          <p:cNvPr id="292" name="Text Box 576">
            <a:extLst>
              <a:ext uri="{FF2B5EF4-FFF2-40B4-BE49-F238E27FC236}">
                <a16:creationId xmlns:a16="http://schemas.microsoft.com/office/drawing/2014/main" id="{83718445-B5C7-DD4B-A899-4E18368EF1C8}"/>
              </a:ext>
            </a:extLst>
          </p:cNvPr>
          <p:cNvSpPr txBox="1">
            <a:spLocks noChangeArrowheads="1"/>
          </p:cNvSpPr>
          <p:nvPr/>
        </p:nvSpPr>
        <p:spPr bwMode="auto">
          <a:xfrm>
            <a:off x="3341688" y="2238375"/>
            <a:ext cx="5318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x/0001</a:t>
            </a:r>
          </a:p>
        </p:txBody>
      </p:sp>
      <p:sp>
        <p:nvSpPr>
          <p:cNvPr id="293" name="Text Box 577">
            <a:extLst>
              <a:ext uri="{FF2B5EF4-FFF2-40B4-BE49-F238E27FC236}">
                <a16:creationId xmlns:a16="http://schemas.microsoft.com/office/drawing/2014/main" id="{96875547-B512-134B-A0F7-C88EF4C4993E}"/>
              </a:ext>
            </a:extLst>
          </p:cNvPr>
          <p:cNvSpPr txBox="1">
            <a:spLocks noChangeArrowheads="1"/>
          </p:cNvSpPr>
          <p:nvPr/>
        </p:nvSpPr>
        <p:spPr bwMode="auto">
          <a:xfrm>
            <a:off x="3341688" y="2430463"/>
            <a:ext cx="5318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y/1100</a:t>
            </a:r>
          </a:p>
        </p:txBody>
      </p:sp>
      <p:sp>
        <p:nvSpPr>
          <p:cNvPr id="79939" name="Rectangle 579">
            <a:extLst>
              <a:ext uri="{FF2B5EF4-FFF2-40B4-BE49-F238E27FC236}">
                <a16:creationId xmlns:a16="http://schemas.microsoft.com/office/drawing/2014/main" id="{184BA26F-ED0C-1647-8C94-F3B4A7167762}"/>
              </a:ext>
            </a:extLst>
          </p:cNvPr>
          <p:cNvSpPr>
            <a:spLocks noChangeArrowheads="1"/>
          </p:cNvSpPr>
          <p:nvPr/>
        </p:nvSpPr>
        <p:spPr bwMode="auto">
          <a:xfrm>
            <a:off x="1652588" y="2852738"/>
            <a:ext cx="844550" cy="422275"/>
          </a:xfrm>
          <a:prstGeom prst="rect">
            <a:avLst/>
          </a:prstGeom>
          <a:solidFill>
            <a:srgbClr val="CCCCFF"/>
          </a:solidFill>
          <a:ln w="28575">
            <a:solidFill>
              <a:schemeClr val="tx1"/>
            </a:solidFill>
            <a:miter lim="800000"/>
            <a:headEnd/>
            <a:tailEnd/>
          </a:ln>
        </p:spPr>
        <p:txBody>
          <a:bodyPr lIns="45720" rIns="0"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295" name="Text Box 580">
            <a:extLst>
              <a:ext uri="{FF2B5EF4-FFF2-40B4-BE49-F238E27FC236}">
                <a16:creationId xmlns:a16="http://schemas.microsoft.com/office/drawing/2014/main" id="{A22E1B43-D0D8-5F49-A38E-4145B85EE79A}"/>
              </a:ext>
            </a:extLst>
          </p:cNvPr>
          <p:cNvSpPr txBox="1">
            <a:spLocks noChangeArrowheads="1"/>
          </p:cNvSpPr>
          <p:nvPr/>
        </p:nvSpPr>
        <p:spPr bwMode="auto">
          <a:xfrm>
            <a:off x="1920875" y="2852738"/>
            <a:ext cx="5318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x/1110</a:t>
            </a:r>
          </a:p>
        </p:txBody>
      </p:sp>
      <p:sp>
        <p:nvSpPr>
          <p:cNvPr id="296" name="Text Box 581">
            <a:extLst>
              <a:ext uri="{FF2B5EF4-FFF2-40B4-BE49-F238E27FC236}">
                <a16:creationId xmlns:a16="http://schemas.microsoft.com/office/drawing/2014/main" id="{709BC50C-E3D5-6A47-9529-C69F014E487C}"/>
              </a:ext>
            </a:extLst>
          </p:cNvPr>
          <p:cNvSpPr txBox="1">
            <a:spLocks noChangeArrowheads="1"/>
          </p:cNvSpPr>
          <p:nvPr/>
        </p:nvSpPr>
        <p:spPr bwMode="auto">
          <a:xfrm>
            <a:off x="1920875" y="3044825"/>
            <a:ext cx="5318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y/0011</a:t>
            </a:r>
          </a:p>
        </p:txBody>
      </p:sp>
      <p:sp>
        <p:nvSpPr>
          <p:cNvPr id="79942" name="Rectangle 583">
            <a:extLst>
              <a:ext uri="{FF2B5EF4-FFF2-40B4-BE49-F238E27FC236}">
                <a16:creationId xmlns:a16="http://schemas.microsoft.com/office/drawing/2014/main" id="{34F784BF-E149-2441-8F9B-178329FEB568}"/>
              </a:ext>
            </a:extLst>
          </p:cNvPr>
          <p:cNvSpPr>
            <a:spLocks noChangeArrowheads="1"/>
          </p:cNvSpPr>
          <p:nvPr/>
        </p:nvSpPr>
        <p:spPr bwMode="auto">
          <a:xfrm>
            <a:off x="2152650" y="3429000"/>
            <a:ext cx="844550" cy="422275"/>
          </a:xfrm>
          <a:prstGeom prst="rect">
            <a:avLst/>
          </a:prstGeom>
          <a:solidFill>
            <a:srgbClr val="CCCCFF"/>
          </a:solidFill>
          <a:ln w="28575">
            <a:solidFill>
              <a:schemeClr val="tx1"/>
            </a:solidFill>
            <a:miter lim="800000"/>
            <a:headEnd/>
            <a:tailEnd/>
          </a:ln>
        </p:spPr>
        <p:txBody>
          <a:bodyPr lIns="45720" rIns="0"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G</a:t>
            </a:r>
          </a:p>
        </p:txBody>
      </p:sp>
      <p:sp>
        <p:nvSpPr>
          <p:cNvPr id="298" name="Text Box 584">
            <a:extLst>
              <a:ext uri="{FF2B5EF4-FFF2-40B4-BE49-F238E27FC236}">
                <a16:creationId xmlns:a16="http://schemas.microsoft.com/office/drawing/2014/main" id="{8793B871-B0AA-1F4E-868D-143506D59E45}"/>
              </a:ext>
            </a:extLst>
          </p:cNvPr>
          <p:cNvSpPr txBox="1">
            <a:spLocks noChangeArrowheads="1"/>
          </p:cNvSpPr>
          <p:nvPr/>
        </p:nvSpPr>
        <p:spPr bwMode="auto">
          <a:xfrm>
            <a:off x="2420938" y="3429000"/>
            <a:ext cx="5318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x/1111</a:t>
            </a:r>
          </a:p>
        </p:txBody>
      </p:sp>
      <p:sp>
        <p:nvSpPr>
          <p:cNvPr id="299" name="Text Box 585">
            <a:extLst>
              <a:ext uri="{FF2B5EF4-FFF2-40B4-BE49-F238E27FC236}">
                <a16:creationId xmlns:a16="http://schemas.microsoft.com/office/drawing/2014/main" id="{BCF2C1D4-3968-7B46-99ED-C0CCF11E17B0}"/>
              </a:ext>
            </a:extLst>
          </p:cNvPr>
          <p:cNvSpPr txBox="1">
            <a:spLocks noChangeArrowheads="1"/>
          </p:cNvSpPr>
          <p:nvPr/>
        </p:nvSpPr>
        <p:spPr bwMode="auto">
          <a:xfrm>
            <a:off x="2420938" y="3621088"/>
            <a:ext cx="5318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y/1111</a:t>
            </a:r>
          </a:p>
        </p:txBody>
      </p:sp>
      <p:grpSp>
        <p:nvGrpSpPr>
          <p:cNvPr id="31" name="Group 648">
            <a:extLst>
              <a:ext uri="{FF2B5EF4-FFF2-40B4-BE49-F238E27FC236}">
                <a16:creationId xmlns:a16="http://schemas.microsoft.com/office/drawing/2014/main" id="{EA3A7CD2-CB4F-EE47-A522-F9409A292F94}"/>
              </a:ext>
            </a:extLst>
          </p:cNvPr>
          <p:cNvGrpSpPr>
            <a:grpSpLocks/>
          </p:cNvGrpSpPr>
          <p:nvPr/>
        </p:nvGrpSpPr>
        <p:grpSpPr bwMode="auto">
          <a:xfrm>
            <a:off x="4524375" y="2546350"/>
            <a:ext cx="2774950" cy="793750"/>
            <a:chOff x="2850" y="1604"/>
            <a:chExt cx="1748" cy="500"/>
          </a:xfrm>
        </p:grpSpPr>
        <p:sp>
          <p:nvSpPr>
            <p:cNvPr id="79993" name="Rectangle 400">
              <a:extLst>
                <a:ext uri="{FF2B5EF4-FFF2-40B4-BE49-F238E27FC236}">
                  <a16:creationId xmlns:a16="http://schemas.microsoft.com/office/drawing/2014/main" id="{F0ECF5C1-DAF0-F540-A5BC-C5B3DE9B7BBC}"/>
                </a:ext>
              </a:extLst>
            </p:cNvPr>
            <p:cNvSpPr>
              <a:spLocks noChangeArrowheads="1"/>
            </p:cNvSpPr>
            <p:nvPr/>
          </p:nvSpPr>
          <p:spPr bwMode="auto">
            <a:xfrm>
              <a:off x="3079" y="1737"/>
              <a:ext cx="1519"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 new warp created from scalar threads of both Warp x and y executing at Basic Block D</a:t>
              </a:r>
            </a:p>
          </p:txBody>
        </p:sp>
        <p:grpSp>
          <p:nvGrpSpPr>
            <p:cNvPr id="79994" name="Group 647">
              <a:extLst>
                <a:ext uri="{FF2B5EF4-FFF2-40B4-BE49-F238E27FC236}">
                  <a16:creationId xmlns:a16="http://schemas.microsoft.com/office/drawing/2014/main" id="{121D8374-5A69-D94E-8C54-FBE411114AEA}"/>
                </a:ext>
              </a:extLst>
            </p:cNvPr>
            <p:cNvGrpSpPr>
              <a:grpSpLocks/>
            </p:cNvGrpSpPr>
            <p:nvPr/>
          </p:nvGrpSpPr>
          <p:grpSpPr bwMode="auto">
            <a:xfrm>
              <a:off x="2850" y="1604"/>
              <a:ext cx="175" cy="500"/>
              <a:chOff x="2831" y="1593"/>
              <a:chExt cx="175" cy="500"/>
            </a:xfrm>
          </p:grpSpPr>
          <p:sp>
            <p:nvSpPr>
              <p:cNvPr id="79995" name="Rectangle 412">
                <a:extLst>
                  <a:ext uri="{FF2B5EF4-FFF2-40B4-BE49-F238E27FC236}">
                    <a16:creationId xmlns:a16="http://schemas.microsoft.com/office/drawing/2014/main" id="{A14A16A7-5419-EF47-8A10-9DD29419BE8B}"/>
                  </a:ext>
                </a:extLst>
              </p:cNvPr>
              <p:cNvSpPr>
                <a:spLocks noChangeArrowheads="1"/>
              </p:cNvSpPr>
              <p:nvPr/>
            </p:nvSpPr>
            <p:spPr bwMode="auto">
              <a:xfrm>
                <a:off x="2831" y="1727"/>
                <a:ext cx="175" cy="366"/>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996" name="Rectangle 413">
                <a:extLst>
                  <a:ext uri="{FF2B5EF4-FFF2-40B4-BE49-F238E27FC236}">
                    <a16:creationId xmlns:a16="http://schemas.microsoft.com/office/drawing/2014/main" id="{7E52540D-2B33-C74B-8F1D-FA81E2278C54}"/>
                  </a:ext>
                </a:extLst>
              </p:cNvPr>
              <p:cNvSpPr>
                <a:spLocks noChangeArrowheads="1"/>
              </p:cNvSpPr>
              <p:nvPr/>
            </p:nvSpPr>
            <p:spPr bwMode="auto">
              <a:xfrm>
                <a:off x="2831" y="1727"/>
                <a:ext cx="175" cy="366"/>
              </a:xfrm>
              <a:prstGeom prst="rect">
                <a:avLst/>
              </a:prstGeom>
              <a:noFill/>
              <a:ln w="285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997" name="Rectangle 414">
                <a:extLst>
                  <a:ext uri="{FF2B5EF4-FFF2-40B4-BE49-F238E27FC236}">
                    <a16:creationId xmlns:a16="http://schemas.microsoft.com/office/drawing/2014/main" id="{BF5FAD42-BB9A-4F43-B531-A34DE22BE1F3}"/>
                  </a:ext>
                </a:extLst>
              </p:cNvPr>
              <p:cNvSpPr>
                <a:spLocks noChangeArrowheads="1"/>
              </p:cNvSpPr>
              <p:nvPr/>
            </p:nvSpPr>
            <p:spPr bwMode="auto">
              <a:xfrm>
                <a:off x="2875" y="1593"/>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998" name="Line 417">
                <a:extLst>
                  <a:ext uri="{FF2B5EF4-FFF2-40B4-BE49-F238E27FC236}">
                    <a16:creationId xmlns:a16="http://schemas.microsoft.com/office/drawing/2014/main" id="{CD68BB01-20BD-2149-9991-A0FF1B3F8FB3}"/>
                  </a:ext>
                </a:extLst>
              </p:cNvPr>
              <p:cNvSpPr>
                <a:spLocks noChangeShapeType="1"/>
              </p:cNvSpPr>
              <p:nvPr/>
            </p:nvSpPr>
            <p:spPr bwMode="auto">
              <a:xfrm>
                <a:off x="2871" y="2029"/>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999" name="Freeform 418">
                <a:extLst>
                  <a:ext uri="{FF2B5EF4-FFF2-40B4-BE49-F238E27FC236}">
                    <a16:creationId xmlns:a16="http://schemas.microsoft.com/office/drawing/2014/main" id="{1AB77854-7F54-F74A-B6FD-56FD991B3C41}"/>
                  </a:ext>
                </a:extLst>
              </p:cNvPr>
              <p:cNvSpPr>
                <a:spLocks/>
              </p:cNvSpPr>
              <p:nvPr/>
            </p:nvSpPr>
            <p:spPr bwMode="auto">
              <a:xfrm>
                <a:off x="2919" y="1998"/>
                <a:ext cx="61" cy="61"/>
              </a:xfrm>
              <a:custGeom>
                <a:avLst/>
                <a:gdLst>
                  <a:gd name="T0" fmla="*/ 0 w 163"/>
                  <a:gd name="T1" fmla="*/ 0 h 164"/>
                  <a:gd name="T2" fmla="*/ 0 w 163"/>
                  <a:gd name="T3" fmla="*/ 0 h 164"/>
                  <a:gd name="T4" fmla="*/ 0 w 163"/>
                  <a:gd name="T5" fmla="*/ 0 h 164"/>
                  <a:gd name="T6" fmla="*/ 0 w 163"/>
                  <a:gd name="T7" fmla="*/ 0 h 164"/>
                  <a:gd name="T8" fmla="*/ 0 w 163"/>
                  <a:gd name="T9" fmla="*/ 0 h 164"/>
                  <a:gd name="T10" fmla="*/ 0 60000 65536"/>
                  <a:gd name="T11" fmla="*/ 0 60000 65536"/>
                  <a:gd name="T12" fmla="*/ 0 60000 65536"/>
                  <a:gd name="T13" fmla="*/ 0 60000 65536"/>
                  <a:gd name="T14" fmla="*/ 0 60000 65536"/>
                  <a:gd name="T15" fmla="*/ 0 w 163"/>
                  <a:gd name="T16" fmla="*/ 0 h 164"/>
                  <a:gd name="T17" fmla="*/ 163 w 163"/>
                  <a:gd name="T18" fmla="*/ 164 h 164"/>
                </a:gdLst>
                <a:ahLst/>
                <a:cxnLst>
                  <a:cxn ang="T10">
                    <a:pos x="T0" y="T1"/>
                  </a:cxn>
                  <a:cxn ang="T11">
                    <a:pos x="T2" y="T3"/>
                  </a:cxn>
                  <a:cxn ang="T12">
                    <a:pos x="T4" y="T5"/>
                  </a:cxn>
                  <a:cxn ang="T13">
                    <a:pos x="T6" y="T7"/>
                  </a:cxn>
                  <a:cxn ang="T14">
                    <a:pos x="T8" y="T9"/>
                  </a:cxn>
                </a:cxnLst>
                <a:rect l="T15" t="T16" r="T17" b="T18"/>
                <a:pathLst>
                  <a:path w="163" h="164">
                    <a:moveTo>
                      <a:pt x="163" y="82"/>
                    </a:moveTo>
                    <a:lnTo>
                      <a:pt x="0" y="164"/>
                    </a:lnTo>
                    <a:cubicBezTo>
                      <a:pt x="25" y="113"/>
                      <a:pt x="25" y="52"/>
                      <a:pt x="0" y="0"/>
                    </a:cubicBezTo>
                    <a:lnTo>
                      <a:pt x="163"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00" name="Line 419">
                <a:extLst>
                  <a:ext uri="{FF2B5EF4-FFF2-40B4-BE49-F238E27FC236}">
                    <a16:creationId xmlns:a16="http://schemas.microsoft.com/office/drawing/2014/main" id="{95B4C14C-4239-1545-8552-913B275AF44D}"/>
                  </a:ext>
                </a:extLst>
              </p:cNvPr>
              <p:cNvSpPr>
                <a:spLocks noChangeShapeType="1"/>
              </p:cNvSpPr>
              <p:nvPr/>
            </p:nvSpPr>
            <p:spPr bwMode="auto">
              <a:xfrm>
                <a:off x="2871" y="1875"/>
                <a:ext cx="63" cy="0"/>
              </a:xfrm>
              <a:prstGeom prst="line">
                <a:avLst/>
              </a:prstGeom>
              <a:noFill/>
              <a:ln w="15875" cap="rnd">
                <a:solidFill>
                  <a:srgbClr val="33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01" name="Freeform 420">
                <a:extLst>
                  <a:ext uri="{FF2B5EF4-FFF2-40B4-BE49-F238E27FC236}">
                    <a16:creationId xmlns:a16="http://schemas.microsoft.com/office/drawing/2014/main" id="{BAA0FD7D-F293-9C49-9CCE-6B82CFA0ECBF}"/>
                  </a:ext>
                </a:extLst>
              </p:cNvPr>
              <p:cNvSpPr>
                <a:spLocks/>
              </p:cNvSpPr>
              <p:nvPr/>
            </p:nvSpPr>
            <p:spPr bwMode="auto">
              <a:xfrm>
                <a:off x="2919" y="1844"/>
                <a:ext cx="61" cy="62"/>
              </a:xfrm>
              <a:custGeom>
                <a:avLst/>
                <a:gdLst>
                  <a:gd name="T0" fmla="*/ 0 w 163"/>
                  <a:gd name="T1" fmla="*/ 0 h 164"/>
                  <a:gd name="T2" fmla="*/ 0 w 163"/>
                  <a:gd name="T3" fmla="*/ 0 h 164"/>
                  <a:gd name="T4" fmla="*/ 0 w 163"/>
                  <a:gd name="T5" fmla="*/ 0 h 164"/>
                  <a:gd name="T6" fmla="*/ 0 w 163"/>
                  <a:gd name="T7" fmla="*/ 0 h 164"/>
                  <a:gd name="T8" fmla="*/ 0 w 163"/>
                  <a:gd name="T9" fmla="*/ 0 h 164"/>
                  <a:gd name="T10" fmla="*/ 0 60000 65536"/>
                  <a:gd name="T11" fmla="*/ 0 60000 65536"/>
                  <a:gd name="T12" fmla="*/ 0 60000 65536"/>
                  <a:gd name="T13" fmla="*/ 0 60000 65536"/>
                  <a:gd name="T14" fmla="*/ 0 60000 65536"/>
                  <a:gd name="T15" fmla="*/ 0 w 163"/>
                  <a:gd name="T16" fmla="*/ 0 h 164"/>
                  <a:gd name="T17" fmla="*/ 163 w 163"/>
                  <a:gd name="T18" fmla="*/ 164 h 164"/>
                </a:gdLst>
                <a:ahLst/>
                <a:cxnLst>
                  <a:cxn ang="T10">
                    <a:pos x="T0" y="T1"/>
                  </a:cxn>
                  <a:cxn ang="T11">
                    <a:pos x="T2" y="T3"/>
                  </a:cxn>
                  <a:cxn ang="T12">
                    <a:pos x="T4" y="T5"/>
                  </a:cxn>
                  <a:cxn ang="T13">
                    <a:pos x="T6" y="T7"/>
                  </a:cxn>
                  <a:cxn ang="T14">
                    <a:pos x="T8" y="T9"/>
                  </a:cxn>
                </a:cxnLst>
                <a:rect l="T15" t="T16" r="T17" b="T18"/>
                <a:pathLst>
                  <a:path w="163" h="164">
                    <a:moveTo>
                      <a:pt x="163" y="82"/>
                    </a:moveTo>
                    <a:lnTo>
                      <a:pt x="0" y="164"/>
                    </a:lnTo>
                    <a:cubicBezTo>
                      <a:pt x="25" y="112"/>
                      <a:pt x="25" y="52"/>
                      <a:pt x="0" y="0"/>
                    </a:cubicBezTo>
                    <a:lnTo>
                      <a:pt x="163"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02" name="Line 421">
                <a:extLst>
                  <a:ext uri="{FF2B5EF4-FFF2-40B4-BE49-F238E27FC236}">
                    <a16:creationId xmlns:a16="http://schemas.microsoft.com/office/drawing/2014/main" id="{B7A50301-CAF1-1E49-AB09-F961A96ADF39}"/>
                  </a:ext>
                </a:extLst>
              </p:cNvPr>
              <p:cNvSpPr>
                <a:spLocks noChangeShapeType="1"/>
              </p:cNvSpPr>
              <p:nvPr/>
            </p:nvSpPr>
            <p:spPr bwMode="auto">
              <a:xfrm>
                <a:off x="2871" y="1952"/>
                <a:ext cx="63" cy="0"/>
              </a:xfrm>
              <a:prstGeom prst="line">
                <a:avLst/>
              </a:prstGeom>
              <a:noFill/>
              <a:ln w="15875" cap="rnd">
                <a:solidFill>
                  <a:srgbClr val="33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003" name="Freeform 422">
                <a:extLst>
                  <a:ext uri="{FF2B5EF4-FFF2-40B4-BE49-F238E27FC236}">
                    <a16:creationId xmlns:a16="http://schemas.microsoft.com/office/drawing/2014/main" id="{8FE4B463-014A-034A-B8EB-2919C591C394}"/>
                  </a:ext>
                </a:extLst>
              </p:cNvPr>
              <p:cNvSpPr>
                <a:spLocks/>
              </p:cNvSpPr>
              <p:nvPr/>
            </p:nvSpPr>
            <p:spPr bwMode="auto">
              <a:xfrm>
                <a:off x="2919" y="1921"/>
                <a:ext cx="61" cy="62"/>
              </a:xfrm>
              <a:custGeom>
                <a:avLst/>
                <a:gdLst>
                  <a:gd name="T0" fmla="*/ 0 w 163"/>
                  <a:gd name="T1" fmla="*/ 0 h 164"/>
                  <a:gd name="T2" fmla="*/ 0 w 163"/>
                  <a:gd name="T3" fmla="*/ 0 h 164"/>
                  <a:gd name="T4" fmla="*/ 0 w 163"/>
                  <a:gd name="T5" fmla="*/ 0 h 164"/>
                  <a:gd name="T6" fmla="*/ 0 w 163"/>
                  <a:gd name="T7" fmla="*/ 0 h 164"/>
                  <a:gd name="T8" fmla="*/ 0 w 163"/>
                  <a:gd name="T9" fmla="*/ 0 h 164"/>
                  <a:gd name="T10" fmla="*/ 0 60000 65536"/>
                  <a:gd name="T11" fmla="*/ 0 60000 65536"/>
                  <a:gd name="T12" fmla="*/ 0 60000 65536"/>
                  <a:gd name="T13" fmla="*/ 0 60000 65536"/>
                  <a:gd name="T14" fmla="*/ 0 60000 65536"/>
                  <a:gd name="T15" fmla="*/ 0 w 163"/>
                  <a:gd name="T16" fmla="*/ 0 h 164"/>
                  <a:gd name="T17" fmla="*/ 163 w 163"/>
                  <a:gd name="T18" fmla="*/ 164 h 164"/>
                </a:gdLst>
                <a:ahLst/>
                <a:cxnLst>
                  <a:cxn ang="T10">
                    <a:pos x="T0" y="T1"/>
                  </a:cxn>
                  <a:cxn ang="T11">
                    <a:pos x="T2" y="T3"/>
                  </a:cxn>
                  <a:cxn ang="T12">
                    <a:pos x="T4" y="T5"/>
                  </a:cxn>
                  <a:cxn ang="T13">
                    <a:pos x="T6" y="T7"/>
                  </a:cxn>
                  <a:cxn ang="T14">
                    <a:pos x="T8" y="T9"/>
                  </a:cxn>
                </a:cxnLst>
                <a:rect l="T15" t="T16" r="T17" b="T18"/>
                <a:pathLst>
                  <a:path w="163" h="164">
                    <a:moveTo>
                      <a:pt x="163" y="82"/>
                    </a:moveTo>
                    <a:lnTo>
                      <a:pt x="0" y="164"/>
                    </a:lnTo>
                    <a:cubicBezTo>
                      <a:pt x="25" y="113"/>
                      <a:pt x="25" y="52"/>
                      <a:pt x="0" y="0"/>
                    </a:cubicBezTo>
                    <a:lnTo>
                      <a:pt x="163"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grpSp>
        <p:nvGrpSpPr>
          <p:cNvPr id="79946" name="Group 650">
            <a:extLst>
              <a:ext uri="{FF2B5EF4-FFF2-40B4-BE49-F238E27FC236}">
                <a16:creationId xmlns:a16="http://schemas.microsoft.com/office/drawing/2014/main" id="{B24777B4-50B5-F64B-B272-A90883E8B7AE}"/>
              </a:ext>
            </a:extLst>
          </p:cNvPr>
          <p:cNvGrpSpPr>
            <a:grpSpLocks/>
          </p:cNvGrpSpPr>
          <p:nvPr/>
        </p:nvGrpSpPr>
        <p:grpSpPr bwMode="auto">
          <a:xfrm>
            <a:off x="4379913" y="1393825"/>
            <a:ext cx="4071937" cy="2093913"/>
            <a:chOff x="2759" y="878"/>
            <a:chExt cx="2565" cy="1319"/>
          </a:xfrm>
        </p:grpSpPr>
        <p:sp>
          <p:nvSpPr>
            <p:cNvPr id="79963" name="Rectangle 409">
              <a:extLst>
                <a:ext uri="{FF2B5EF4-FFF2-40B4-BE49-F238E27FC236}">
                  <a16:creationId xmlns:a16="http://schemas.microsoft.com/office/drawing/2014/main" id="{97CA1DEE-B6C9-D74A-AA0C-6638C08022BB}"/>
                </a:ext>
              </a:extLst>
            </p:cNvPr>
            <p:cNvSpPr>
              <a:spLocks noChangeArrowheads="1"/>
            </p:cNvSpPr>
            <p:nvPr/>
          </p:nvSpPr>
          <p:spPr bwMode="auto">
            <a:xfrm>
              <a:off x="2759" y="878"/>
              <a:ext cx="2565" cy="1319"/>
            </a:xfrm>
            <a:prstGeom prst="rect">
              <a:avLst/>
            </a:prstGeom>
            <a:noFill/>
            <a:ln w="3175"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79964" name="Group 649">
              <a:extLst>
                <a:ext uri="{FF2B5EF4-FFF2-40B4-BE49-F238E27FC236}">
                  <a16:creationId xmlns:a16="http://schemas.microsoft.com/office/drawing/2014/main" id="{6AD054B0-4EA0-C04D-BB74-D72531558AAA}"/>
                </a:ext>
              </a:extLst>
            </p:cNvPr>
            <p:cNvGrpSpPr>
              <a:grpSpLocks/>
            </p:cNvGrpSpPr>
            <p:nvPr/>
          </p:nvGrpSpPr>
          <p:grpSpPr bwMode="auto">
            <a:xfrm>
              <a:off x="2846" y="897"/>
              <a:ext cx="2381" cy="594"/>
              <a:chOff x="2846" y="897"/>
              <a:chExt cx="2381" cy="594"/>
            </a:xfrm>
          </p:grpSpPr>
          <p:sp>
            <p:nvSpPr>
              <p:cNvPr id="79965" name="Rectangle 396">
                <a:extLst>
                  <a:ext uri="{FF2B5EF4-FFF2-40B4-BE49-F238E27FC236}">
                    <a16:creationId xmlns:a16="http://schemas.microsoft.com/office/drawing/2014/main" id="{7E724D9B-F45B-284F-AB31-B70CB99F7F9B}"/>
                  </a:ext>
                </a:extLst>
              </p:cNvPr>
              <p:cNvSpPr>
                <a:spLocks noChangeArrowheads="1"/>
              </p:cNvSpPr>
              <p:nvPr/>
            </p:nvSpPr>
            <p:spPr bwMode="auto">
              <a:xfrm>
                <a:off x="3079" y="1155"/>
                <a:ext cx="85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Execution of Warp x</a:t>
                </a:r>
              </a:p>
            </p:txBody>
          </p:sp>
          <p:sp>
            <p:nvSpPr>
              <p:cNvPr id="79966" name="Rectangle 397">
                <a:extLst>
                  <a:ext uri="{FF2B5EF4-FFF2-40B4-BE49-F238E27FC236}">
                    <a16:creationId xmlns:a16="http://schemas.microsoft.com/office/drawing/2014/main" id="{7DE0BDA3-DB52-AA44-B8CD-42B7B8E63D98}"/>
                  </a:ext>
                </a:extLst>
              </p:cNvPr>
              <p:cNvSpPr>
                <a:spLocks noChangeArrowheads="1"/>
              </p:cNvSpPr>
              <p:nvPr/>
            </p:nvSpPr>
            <p:spPr bwMode="auto">
              <a:xfrm>
                <a:off x="3079" y="1269"/>
                <a:ext cx="69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at Basic Block A</a:t>
                </a:r>
              </a:p>
            </p:txBody>
          </p:sp>
          <p:sp>
            <p:nvSpPr>
              <p:cNvPr id="79967" name="Rectangle 398">
                <a:extLst>
                  <a:ext uri="{FF2B5EF4-FFF2-40B4-BE49-F238E27FC236}">
                    <a16:creationId xmlns:a16="http://schemas.microsoft.com/office/drawing/2014/main" id="{BE1A93C2-F4A4-6940-A432-5B71469B79DD}"/>
                  </a:ext>
                </a:extLst>
              </p:cNvPr>
              <p:cNvSpPr>
                <a:spLocks noChangeArrowheads="1"/>
              </p:cNvSpPr>
              <p:nvPr/>
            </p:nvSpPr>
            <p:spPr bwMode="auto">
              <a:xfrm>
                <a:off x="4369" y="1155"/>
                <a:ext cx="85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Execution of Warp y</a:t>
                </a:r>
              </a:p>
            </p:txBody>
          </p:sp>
          <p:sp>
            <p:nvSpPr>
              <p:cNvPr id="79968" name="Rectangle 399">
                <a:extLst>
                  <a:ext uri="{FF2B5EF4-FFF2-40B4-BE49-F238E27FC236}">
                    <a16:creationId xmlns:a16="http://schemas.microsoft.com/office/drawing/2014/main" id="{CEE355B2-7244-B549-8385-E9282BECD91D}"/>
                  </a:ext>
                </a:extLst>
              </p:cNvPr>
              <p:cNvSpPr>
                <a:spLocks noChangeArrowheads="1"/>
              </p:cNvSpPr>
              <p:nvPr/>
            </p:nvSpPr>
            <p:spPr bwMode="auto">
              <a:xfrm>
                <a:off x="4369" y="1269"/>
                <a:ext cx="69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at Basic Block A</a:t>
                </a:r>
              </a:p>
            </p:txBody>
          </p:sp>
          <p:sp>
            <p:nvSpPr>
              <p:cNvPr id="79969" name="Line 410">
                <a:extLst>
                  <a:ext uri="{FF2B5EF4-FFF2-40B4-BE49-F238E27FC236}">
                    <a16:creationId xmlns:a16="http://schemas.microsoft.com/office/drawing/2014/main" id="{11EC57AA-C912-674C-9F71-41A50E03700C}"/>
                  </a:ext>
                </a:extLst>
              </p:cNvPr>
              <p:cNvSpPr>
                <a:spLocks noChangeShapeType="1"/>
              </p:cNvSpPr>
              <p:nvPr/>
            </p:nvSpPr>
            <p:spPr bwMode="auto">
              <a:xfrm>
                <a:off x="3849" y="1009"/>
                <a:ext cx="385" cy="0"/>
              </a:xfrm>
              <a:prstGeom prst="line">
                <a:avLst/>
              </a:prstGeom>
              <a:noFill/>
              <a:ln w="11113" cap="rnd">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970" name="Rectangle 411">
                <a:extLst>
                  <a:ext uri="{FF2B5EF4-FFF2-40B4-BE49-F238E27FC236}">
                    <a16:creationId xmlns:a16="http://schemas.microsoft.com/office/drawing/2014/main" id="{E2366BCA-DE58-0843-9BB5-CB032F93BAAE}"/>
                  </a:ext>
                </a:extLst>
              </p:cNvPr>
              <p:cNvSpPr>
                <a:spLocks noChangeArrowheads="1"/>
              </p:cNvSpPr>
              <p:nvPr/>
            </p:nvSpPr>
            <p:spPr bwMode="auto">
              <a:xfrm>
                <a:off x="3847" y="897"/>
                <a:ext cx="37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Legend</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79971" name="Group 619">
                <a:extLst>
                  <a:ext uri="{FF2B5EF4-FFF2-40B4-BE49-F238E27FC236}">
                    <a16:creationId xmlns:a16="http://schemas.microsoft.com/office/drawing/2014/main" id="{E60BFB40-1967-F44F-9DBF-14186B34F6C1}"/>
                  </a:ext>
                </a:extLst>
              </p:cNvPr>
              <p:cNvGrpSpPr>
                <a:grpSpLocks/>
              </p:cNvGrpSpPr>
              <p:nvPr/>
            </p:nvGrpSpPr>
            <p:grpSpPr bwMode="auto">
              <a:xfrm>
                <a:off x="4152" y="1012"/>
                <a:ext cx="175" cy="479"/>
                <a:chOff x="4641" y="2480"/>
                <a:chExt cx="175" cy="479"/>
              </a:xfrm>
            </p:grpSpPr>
            <p:sp>
              <p:nvSpPr>
                <p:cNvPr id="79983" name="Rectangle 620">
                  <a:extLst>
                    <a:ext uri="{FF2B5EF4-FFF2-40B4-BE49-F238E27FC236}">
                      <a16:creationId xmlns:a16="http://schemas.microsoft.com/office/drawing/2014/main" id="{AFC4E2C3-3B03-7A40-9D8B-4463290C964E}"/>
                    </a:ext>
                  </a:extLst>
                </p:cNvPr>
                <p:cNvSpPr>
                  <a:spLocks noChangeArrowheads="1"/>
                </p:cNvSpPr>
                <p:nvPr/>
              </p:nvSpPr>
              <p:spPr bwMode="auto">
                <a:xfrm>
                  <a:off x="4641" y="2603"/>
                  <a:ext cx="175" cy="356"/>
                </a:xfrm>
                <a:prstGeom prst="rect">
                  <a:avLst/>
                </a:prstGeom>
                <a:solidFill>
                  <a:srgbClr val="FFCCCC"/>
                </a:solidFill>
                <a:ln w="19050">
                  <a:solidFill>
                    <a:schemeClr val="tx1"/>
                  </a:solidFill>
                  <a:prstDash val="lgDash"/>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984" name="Rectangle 621">
                  <a:extLst>
                    <a:ext uri="{FF2B5EF4-FFF2-40B4-BE49-F238E27FC236}">
                      <a16:creationId xmlns:a16="http://schemas.microsoft.com/office/drawing/2014/main" id="{9193A480-B11A-8B4B-BDA2-082F1023C965}"/>
                    </a:ext>
                  </a:extLst>
                </p:cNvPr>
                <p:cNvSpPr>
                  <a:spLocks noChangeArrowheads="1"/>
                </p:cNvSpPr>
                <p:nvPr/>
              </p:nvSpPr>
              <p:spPr bwMode="auto">
                <a:xfrm>
                  <a:off x="4693" y="2480"/>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985" name="Line 622">
                  <a:extLst>
                    <a:ext uri="{FF2B5EF4-FFF2-40B4-BE49-F238E27FC236}">
                      <a16:creationId xmlns:a16="http://schemas.microsoft.com/office/drawing/2014/main" id="{C7493F37-CA39-E24F-A749-F0714850F8C0}"/>
                    </a:ext>
                  </a:extLst>
                </p:cNvPr>
                <p:cNvSpPr>
                  <a:spLocks noChangeShapeType="1"/>
                </p:cNvSpPr>
                <p:nvPr/>
              </p:nvSpPr>
              <p:spPr bwMode="auto">
                <a:xfrm>
                  <a:off x="4685" y="2654"/>
                  <a:ext cx="62"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986" name="Freeform 623">
                  <a:extLst>
                    <a:ext uri="{FF2B5EF4-FFF2-40B4-BE49-F238E27FC236}">
                      <a16:creationId xmlns:a16="http://schemas.microsoft.com/office/drawing/2014/main" id="{E0A1B655-DDCE-AC4D-A075-E8C7D2206CDD}"/>
                    </a:ext>
                  </a:extLst>
                </p:cNvPr>
                <p:cNvSpPr>
                  <a:spLocks/>
                </p:cNvSpPr>
                <p:nvPr/>
              </p:nvSpPr>
              <p:spPr bwMode="auto">
                <a:xfrm>
                  <a:off x="4732" y="2623"/>
                  <a:ext cx="62"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3"/>
                        <a:pt x="26" y="52"/>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987" name="Line 624">
                  <a:extLst>
                    <a:ext uri="{FF2B5EF4-FFF2-40B4-BE49-F238E27FC236}">
                      <a16:creationId xmlns:a16="http://schemas.microsoft.com/office/drawing/2014/main" id="{EA9C9E6F-B0DB-AA44-A403-63C0BC647BEE}"/>
                    </a:ext>
                  </a:extLst>
                </p:cNvPr>
                <p:cNvSpPr>
                  <a:spLocks noChangeShapeType="1"/>
                </p:cNvSpPr>
                <p:nvPr/>
              </p:nvSpPr>
              <p:spPr bwMode="auto">
                <a:xfrm>
                  <a:off x="4681" y="2895"/>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988" name="Freeform 625">
                  <a:extLst>
                    <a:ext uri="{FF2B5EF4-FFF2-40B4-BE49-F238E27FC236}">
                      <a16:creationId xmlns:a16="http://schemas.microsoft.com/office/drawing/2014/main" id="{7F629D48-2E73-434A-BC28-2745C4E7946C}"/>
                    </a:ext>
                  </a:extLst>
                </p:cNvPr>
                <p:cNvSpPr>
                  <a:spLocks/>
                </p:cNvSpPr>
                <p:nvPr/>
              </p:nvSpPr>
              <p:spPr bwMode="auto">
                <a:xfrm>
                  <a:off x="4729" y="2864"/>
                  <a:ext cx="62" cy="61"/>
                </a:xfrm>
                <a:custGeom>
                  <a:avLst/>
                  <a:gdLst>
                    <a:gd name="T0" fmla="*/ 0 w 164"/>
                    <a:gd name="T1" fmla="*/ 0 h 164"/>
                    <a:gd name="T2" fmla="*/ 0 w 164"/>
                    <a:gd name="T3" fmla="*/ 0 h 164"/>
                    <a:gd name="T4" fmla="*/ 0 w 164"/>
                    <a:gd name="T5" fmla="*/ 0 h 164"/>
                    <a:gd name="T6" fmla="*/ 0 w 164"/>
                    <a:gd name="T7" fmla="*/ 0 h 164"/>
                    <a:gd name="T8" fmla="*/ 0 60000 65536"/>
                    <a:gd name="T9" fmla="*/ 0 60000 65536"/>
                    <a:gd name="T10" fmla="*/ 0 60000 65536"/>
                    <a:gd name="T11" fmla="*/ 0 60000 65536"/>
                    <a:gd name="T12" fmla="*/ 0 w 164"/>
                    <a:gd name="T13" fmla="*/ 0 h 164"/>
                    <a:gd name="T14" fmla="*/ 164 w 164"/>
                    <a:gd name="T15" fmla="*/ 164 h 164"/>
                  </a:gdLst>
                  <a:ahLst/>
                  <a:cxnLst>
                    <a:cxn ang="T8">
                      <a:pos x="T0" y="T1"/>
                    </a:cxn>
                    <a:cxn ang="T9">
                      <a:pos x="T2" y="T3"/>
                    </a:cxn>
                    <a:cxn ang="T10">
                      <a:pos x="T4" y="T5"/>
                    </a:cxn>
                    <a:cxn ang="T11">
                      <a:pos x="T6" y="T7"/>
                    </a:cxn>
                  </a:cxnLst>
                  <a:rect l="T12" t="T13" r="T14" b="T15"/>
                  <a:pathLst>
                    <a:path w="164" h="164">
                      <a:moveTo>
                        <a:pt x="164" y="82"/>
                      </a:moveTo>
                      <a:lnTo>
                        <a:pt x="0" y="164"/>
                      </a:lnTo>
                      <a:cubicBezTo>
                        <a:pt x="26" y="113"/>
                        <a:pt x="26" y="52"/>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989" name="Line 626">
                  <a:extLst>
                    <a:ext uri="{FF2B5EF4-FFF2-40B4-BE49-F238E27FC236}">
                      <a16:creationId xmlns:a16="http://schemas.microsoft.com/office/drawing/2014/main" id="{9D51E0AA-7D00-0547-B53C-8BA92C797241}"/>
                    </a:ext>
                  </a:extLst>
                </p:cNvPr>
                <p:cNvSpPr>
                  <a:spLocks noChangeShapeType="1"/>
                </p:cNvSpPr>
                <p:nvPr/>
              </p:nvSpPr>
              <p:spPr bwMode="auto">
                <a:xfrm>
                  <a:off x="4681" y="2741"/>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990" name="Freeform 627">
                  <a:extLst>
                    <a:ext uri="{FF2B5EF4-FFF2-40B4-BE49-F238E27FC236}">
                      <a16:creationId xmlns:a16="http://schemas.microsoft.com/office/drawing/2014/main" id="{BE800175-3AD5-6349-9A86-00B1F6552DF8}"/>
                    </a:ext>
                  </a:extLst>
                </p:cNvPr>
                <p:cNvSpPr>
                  <a:spLocks/>
                </p:cNvSpPr>
                <p:nvPr/>
              </p:nvSpPr>
              <p:spPr bwMode="auto">
                <a:xfrm>
                  <a:off x="4729" y="2710"/>
                  <a:ext cx="62"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2"/>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991" name="Line 628">
                  <a:extLst>
                    <a:ext uri="{FF2B5EF4-FFF2-40B4-BE49-F238E27FC236}">
                      <a16:creationId xmlns:a16="http://schemas.microsoft.com/office/drawing/2014/main" id="{77BBDD8D-DD44-C544-903F-63AB5FE3172A}"/>
                    </a:ext>
                  </a:extLst>
                </p:cNvPr>
                <p:cNvSpPr>
                  <a:spLocks noChangeShapeType="1"/>
                </p:cNvSpPr>
                <p:nvPr/>
              </p:nvSpPr>
              <p:spPr bwMode="auto">
                <a:xfrm>
                  <a:off x="4681" y="2818"/>
                  <a:ext cx="63" cy="0"/>
                </a:xfrm>
                <a:prstGeom prst="line">
                  <a:avLst/>
                </a:prstGeom>
                <a:noFill/>
                <a:ln w="15875" cap="rnd">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992" name="Freeform 629">
                  <a:extLst>
                    <a:ext uri="{FF2B5EF4-FFF2-40B4-BE49-F238E27FC236}">
                      <a16:creationId xmlns:a16="http://schemas.microsoft.com/office/drawing/2014/main" id="{4B4079A8-6C74-F247-ACB4-923576CA563C}"/>
                    </a:ext>
                  </a:extLst>
                </p:cNvPr>
                <p:cNvSpPr>
                  <a:spLocks/>
                </p:cNvSpPr>
                <p:nvPr/>
              </p:nvSpPr>
              <p:spPr bwMode="auto">
                <a:xfrm>
                  <a:off x="4729" y="2787"/>
                  <a:ext cx="62"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2"/>
                        <a:pt x="26" y="52"/>
                        <a:pt x="0" y="0"/>
                      </a:cubicBezTo>
                      <a:lnTo>
                        <a:pt x="164" y="82"/>
                      </a:lnTo>
                      <a:close/>
                    </a:path>
                  </a:pathLst>
                </a:custGeom>
                <a:solidFill>
                  <a:srgbClr val="FF0000"/>
                </a:solidFill>
                <a:ln w="0">
                  <a:solidFill>
                    <a:srgbClr val="FF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79972" name="Group 630">
                <a:extLst>
                  <a:ext uri="{FF2B5EF4-FFF2-40B4-BE49-F238E27FC236}">
                    <a16:creationId xmlns:a16="http://schemas.microsoft.com/office/drawing/2014/main" id="{ED6E0FB3-E5F7-8344-978B-6AFA968FA304}"/>
                  </a:ext>
                </a:extLst>
              </p:cNvPr>
              <p:cNvGrpSpPr>
                <a:grpSpLocks/>
              </p:cNvGrpSpPr>
              <p:nvPr/>
            </p:nvGrpSpPr>
            <p:grpSpPr bwMode="auto">
              <a:xfrm>
                <a:off x="2846" y="1012"/>
                <a:ext cx="175" cy="479"/>
                <a:chOff x="4407" y="2480"/>
                <a:chExt cx="175" cy="479"/>
              </a:xfrm>
            </p:grpSpPr>
            <p:sp>
              <p:nvSpPr>
                <p:cNvPr id="79973" name="Rectangle 631">
                  <a:extLst>
                    <a:ext uri="{FF2B5EF4-FFF2-40B4-BE49-F238E27FC236}">
                      <a16:creationId xmlns:a16="http://schemas.microsoft.com/office/drawing/2014/main" id="{837B880E-6F30-BA42-AD56-A4CA7FE00DB3}"/>
                    </a:ext>
                  </a:extLst>
                </p:cNvPr>
                <p:cNvSpPr>
                  <a:spLocks noChangeArrowheads="1"/>
                </p:cNvSpPr>
                <p:nvPr/>
              </p:nvSpPr>
              <p:spPr bwMode="auto">
                <a:xfrm>
                  <a:off x="4407" y="2603"/>
                  <a:ext cx="175" cy="356"/>
                </a:xfrm>
                <a:prstGeom prst="rect">
                  <a:avLst/>
                </a:prstGeom>
                <a:solidFill>
                  <a:srgbClr val="CCFFFF"/>
                </a:solidFill>
                <a:ln w="19050">
                  <a:solidFill>
                    <a:schemeClr val="tx1"/>
                  </a:solidFill>
                  <a:prstDash val="lgDash"/>
                  <a:miter lim="800000"/>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974" name="Rectangle 632">
                  <a:extLst>
                    <a:ext uri="{FF2B5EF4-FFF2-40B4-BE49-F238E27FC236}">
                      <a16:creationId xmlns:a16="http://schemas.microsoft.com/office/drawing/2014/main" id="{D183C647-EC17-894A-BFDA-7FCC73DEDED5}"/>
                    </a:ext>
                  </a:extLst>
                </p:cNvPr>
                <p:cNvSpPr>
                  <a:spLocks noChangeArrowheads="1"/>
                </p:cNvSpPr>
                <p:nvPr/>
              </p:nvSpPr>
              <p:spPr bwMode="auto">
                <a:xfrm>
                  <a:off x="4459" y="2480"/>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975" name="Line 633">
                  <a:extLst>
                    <a:ext uri="{FF2B5EF4-FFF2-40B4-BE49-F238E27FC236}">
                      <a16:creationId xmlns:a16="http://schemas.microsoft.com/office/drawing/2014/main" id="{E54390AC-04F4-5042-9D13-C587BA09AF20}"/>
                    </a:ext>
                  </a:extLst>
                </p:cNvPr>
                <p:cNvSpPr>
                  <a:spLocks noChangeShapeType="1"/>
                </p:cNvSpPr>
                <p:nvPr/>
              </p:nvSpPr>
              <p:spPr bwMode="auto">
                <a:xfrm>
                  <a:off x="4451" y="2654"/>
                  <a:ext cx="62" cy="0"/>
                </a:xfrm>
                <a:prstGeom prst="line">
                  <a:avLst/>
                </a:prstGeom>
                <a:noFill/>
                <a:ln w="15875" cap="rnd">
                  <a:solidFill>
                    <a:srgbClr val="33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976" name="Freeform 634">
                  <a:extLst>
                    <a:ext uri="{FF2B5EF4-FFF2-40B4-BE49-F238E27FC236}">
                      <a16:creationId xmlns:a16="http://schemas.microsoft.com/office/drawing/2014/main" id="{72FC5A5F-7D78-614E-AF75-E2A21C687005}"/>
                    </a:ext>
                  </a:extLst>
                </p:cNvPr>
                <p:cNvSpPr>
                  <a:spLocks/>
                </p:cNvSpPr>
                <p:nvPr/>
              </p:nvSpPr>
              <p:spPr bwMode="auto">
                <a:xfrm>
                  <a:off x="4498" y="2623"/>
                  <a:ext cx="62"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6" y="113"/>
                        <a:pt x="26" y="52"/>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977" name="Line 635">
                  <a:extLst>
                    <a:ext uri="{FF2B5EF4-FFF2-40B4-BE49-F238E27FC236}">
                      <a16:creationId xmlns:a16="http://schemas.microsoft.com/office/drawing/2014/main" id="{B15AB347-897D-2A44-A9F0-951EF51EECA6}"/>
                    </a:ext>
                  </a:extLst>
                </p:cNvPr>
                <p:cNvSpPr>
                  <a:spLocks noChangeShapeType="1"/>
                </p:cNvSpPr>
                <p:nvPr/>
              </p:nvSpPr>
              <p:spPr bwMode="auto">
                <a:xfrm>
                  <a:off x="4447" y="2895"/>
                  <a:ext cx="63" cy="0"/>
                </a:xfrm>
                <a:prstGeom prst="line">
                  <a:avLst/>
                </a:prstGeom>
                <a:noFill/>
                <a:ln w="15875" cap="rnd">
                  <a:solidFill>
                    <a:srgbClr val="33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978" name="Freeform 636">
                  <a:extLst>
                    <a:ext uri="{FF2B5EF4-FFF2-40B4-BE49-F238E27FC236}">
                      <a16:creationId xmlns:a16="http://schemas.microsoft.com/office/drawing/2014/main" id="{245C308F-8724-4446-B18E-9E13F462B245}"/>
                    </a:ext>
                  </a:extLst>
                </p:cNvPr>
                <p:cNvSpPr>
                  <a:spLocks/>
                </p:cNvSpPr>
                <p:nvPr/>
              </p:nvSpPr>
              <p:spPr bwMode="auto">
                <a:xfrm>
                  <a:off x="4495" y="2864"/>
                  <a:ext cx="62"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5" y="113"/>
                        <a:pt x="25" y="52"/>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979" name="Line 637">
                  <a:extLst>
                    <a:ext uri="{FF2B5EF4-FFF2-40B4-BE49-F238E27FC236}">
                      <a16:creationId xmlns:a16="http://schemas.microsoft.com/office/drawing/2014/main" id="{9DFA6798-149A-F148-86E7-2826DAB7FEBF}"/>
                    </a:ext>
                  </a:extLst>
                </p:cNvPr>
                <p:cNvSpPr>
                  <a:spLocks noChangeShapeType="1"/>
                </p:cNvSpPr>
                <p:nvPr/>
              </p:nvSpPr>
              <p:spPr bwMode="auto">
                <a:xfrm>
                  <a:off x="4447" y="2741"/>
                  <a:ext cx="63" cy="0"/>
                </a:xfrm>
                <a:prstGeom prst="line">
                  <a:avLst/>
                </a:prstGeom>
                <a:noFill/>
                <a:ln w="15875" cap="rnd">
                  <a:solidFill>
                    <a:srgbClr val="33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980" name="Freeform 638">
                  <a:extLst>
                    <a:ext uri="{FF2B5EF4-FFF2-40B4-BE49-F238E27FC236}">
                      <a16:creationId xmlns:a16="http://schemas.microsoft.com/office/drawing/2014/main" id="{3FCF407C-E5B2-DC46-AE13-E21E427C6E5A}"/>
                    </a:ext>
                  </a:extLst>
                </p:cNvPr>
                <p:cNvSpPr>
                  <a:spLocks/>
                </p:cNvSpPr>
                <p:nvPr/>
              </p:nvSpPr>
              <p:spPr bwMode="auto">
                <a:xfrm>
                  <a:off x="4495" y="2710"/>
                  <a:ext cx="62" cy="62"/>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5" y="112"/>
                        <a:pt x="25" y="52"/>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981" name="Line 639">
                  <a:extLst>
                    <a:ext uri="{FF2B5EF4-FFF2-40B4-BE49-F238E27FC236}">
                      <a16:creationId xmlns:a16="http://schemas.microsoft.com/office/drawing/2014/main" id="{108A4311-0E29-EB48-A110-E3A3546370C7}"/>
                    </a:ext>
                  </a:extLst>
                </p:cNvPr>
                <p:cNvSpPr>
                  <a:spLocks noChangeShapeType="1"/>
                </p:cNvSpPr>
                <p:nvPr/>
              </p:nvSpPr>
              <p:spPr bwMode="auto">
                <a:xfrm>
                  <a:off x="4447" y="2818"/>
                  <a:ext cx="63" cy="0"/>
                </a:xfrm>
                <a:prstGeom prst="line">
                  <a:avLst/>
                </a:prstGeom>
                <a:noFill/>
                <a:ln w="15875" cap="rnd">
                  <a:solidFill>
                    <a:srgbClr val="3366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982" name="Freeform 640">
                  <a:extLst>
                    <a:ext uri="{FF2B5EF4-FFF2-40B4-BE49-F238E27FC236}">
                      <a16:creationId xmlns:a16="http://schemas.microsoft.com/office/drawing/2014/main" id="{20D1C741-699A-2A4A-BC86-BBADBEECD40B}"/>
                    </a:ext>
                  </a:extLst>
                </p:cNvPr>
                <p:cNvSpPr>
                  <a:spLocks/>
                </p:cNvSpPr>
                <p:nvPr/>
              </p:nvSpPr>
              <p:spPr bwMode="auto">
                <a:xfrm>
                  <a:off x="4495" y="2787"/>
                  <a:ext cx="62" cy="61"/>
                </a:xfrm>
                <a:custGeom>
                  <a:avLst/>
                  <a:gdLst>
                    <a:gd name="T0" fmla="*/ 0 w 164"/>
                    <a:gd name="T1" fmla="*/ 0 h 164"/>
                    <a:gd name="T2" fmla="*/ 0 w 164"/>
                    <a:gd name="T3" fmla="*/ 0 h 164"/>
                    <a:gd name="T4" fmla="*/ 0 w 164"/>
                    <a:gd name="T5" fmla="*/ 0 h 164"/>
                    <a:gd name="T6" fmla="*/ 0 w 164"/>
                    <a:gd name="T7" fmla="*/ 0 h 164"/>
                    <a:gd name="T8" fmla="*/ 0 w 164"/>
                    <a:gd name="T9" fmla="*/ 0 h 164"/>
                    <a:gd name="T10" fmla="*/ 0 60000 65536"/>
                    <a:gd name="T11" fmla="*/ 0 60000 65536"/>
                    <a:gd name="T12" fmla="*/ 0 60000 65536"/>
                    <a:gd name="T13" fmla="*/ 0 60000 65536"/>
                    <a:gd name="T14" fmla="*/ 0 60000 65536"/>
                    <a:gd name="T15" fmla="*/ 0 w 164"/>
                    <a:gd name="T16" fmla="*/ 0 h 164"/>
                    <a:gd name="T17" fmla="*/ 164 w 164"/>
                    <a:gd name="T18" fmla="*/ 164 h 164"/>
                  </a:gdLst>
                  <a:ahLst/>
                  <a:cxnLst>
                    <a:cxn ang="T10">
                      <a:pos x="T0" y="T1"/>
                    </a:cxn>
                    <a:cxn ang="T11">
                      <a:pos x="T2" y="T3"/>
                    </a:cxn>
                    <a:cxn ang="T12">
                      <a:pos x="T4" y="T5"/>
                    </a:cxn>
                    <a:cxn ang="T13">
                      <a:pos x="T6" y="T7"/>
                    </a:cxn>
                    <a:cxn ang="T14">
                      <a:pos x="T8" y="T9"/>
                    </a:cxn>
                  </a:cxnLst>
                  <a:rect l="T15" t="T16" r="T17" b="T18"/>
                  <a:pathLst>
                    <a:path w="164" h="164">
                      <a:moveTo>
                        <a:pt x="164" y="82"/>
                      </a:moveTo>
                      <a:lnTo>
                        <a:pt x="0" y="164"/>
                      </a:lnTo>
                      <a:cubicBezTo>
                        <a:pt x="25" y="112"/>
                        <a:pt x="25" y="52"/>
                        <a:pt x="0" y="0"/>
                      </a:cubicBezTo>
                      <a:lnTo>
                        <a:pt x="164" y="82"/>
                      </a:lnTo>
                      <a:close/>
                    </a:path>
                  </a:pathLst>
                </a:custGeom>
                <a:solidFill>
                  <a:srgbClr val="3366FF"/>
                </a:solidFill>
                <a:ln w="0">
                  <a:solidFill>
                    <a:srgbClr val="0066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grpSp>
      <p:sp>
        <p:nvSpPr>
          <p:cNvPr id="79947" name="Line 651">
            <a:extLst>
              <a:ext uri="{FF2B5EF4-FFF2-40B4-BE49-F238E27FC236}">
                <a16:creationId xmlns:a16="http://schemas.microsoft.com/office/drawing/2014/main" id="{D858334C-8445-574E-BCE7-D837C2A5E31D}"/>
              </a:ext>
            </a:extLst>
          </p:cNvPr>
          <p:cNvSpPr>
            <a:spLocks noChangeShapeType="1"/>
          </p:cNvSpPr>
          <p:nvPr/>
        </p:nvSpPr>
        <p:spPr bwMode="auto">
          <a:xfrm>
            <a:off x="2613025" y="817563"/>
            <a:ext cx="0" cy="22860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1928" name="Group 663">
            <a:extLst>
              <a:ext uri="{FF2B5EF4-FFF2-40B4-BE49-F238E27FC236}">
                <a16:creationId xmlns:a16="http://schemas.microsoft.com/office/drawing/2014/main" id="{2BCBB43D-EDCF-9D46-8DAE-ED3F490FD4BE}"/>
              </a:ext>
            </a:extLst>
          </p:cNvPr>
          <p:cNvGrpSpPr>
            <a:grpSpLocks/>
          </p:cNvGrpSpPr>
          <p:nvPr/>
        </p:nvGrpSpPr>
        <p:grpSpPr bwMode="auto">
          <a:xfrm>
            <a:off x="3227388" y="3889375"/>
            <a:ext cx="730250" cy="1997075"/>
            <a:chOff x="2033" y="2450"/>
            <a:chExt cx="460" cy="1258"/>
          </a:xfrm>
        </p:grpSpPr>
        <p:sp>
          <p:nvSpPr>
            <p:cNvPr id="79960" name="Rectangle 616">
              <a:extLst>
                <a:ext uri="{FF2B5EF4-FFF2-40B4-BE49-F238E27FC236}">
                  <a16:creationId xmlns:a16="http://schemas.microsoft.com/office/drawing/2014/main" id="{74D8D6D7-5635-C843-AB6C-33DE1A7109E6}"/>
                </a:ext>
              </a:extLst>
            </p:cNvPr>
            <p:cNvSpPr>
              <a:spLocks noChangeArrowheads="1"/>
            </p:cNvSpPr>
            <p:nvPr/>
          </p:nvSpPr>
          <p:spPr bwMode="auto">
            <a:xfrm>
              <a:off x="2033" y="2450"/>
              <a:ext cx="460" cy="533"/>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961" name="Rectangle 652">
              <a:extLst>
                <a:ext uri="{FF2B5EF4-FFF2-40B4-BE49-F238E27FC236}">
                  <a16:creationId xmlns:a16="http://schemas.microsoft.com/office/drawing/2014/main" id="{2914188D-0FF2-764D-9BE7-7F206953AE58}"/>
                </a:ext>
              </a:extLst>
            </p:cNvPr>
            <p:cNvSpPr>
              <a:spLocks noChangeArrowheads="1"/>
            </p:cNvSpPr>
            <p:nvPr/>
          </p:nvSpPr>
          <p:spPr bwMode="auto">
            <a:xfrm>
              <a:off x="2057" y="3176"/>
              <a:ext cx="194" cy="532"/>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962" name="Line 659">
              <a:extLst>
                <a:ext uri="{FF2B5EF4-FFF2-40B4-BE49-F238E27FC236}">
                  <a16:creationId xmlns:a16="http://schemas.microsoft.com/office/drawing/2014/main" id="{080CC58C-DFC2-8E45-84AF-E9398CD960D6}"/>
                </a:ext>
              </a:extLst>
            </p:cNvPr>
            <p:cNvSpPr>
              <a:spLocks noChangeShapeType="1"/>
            </p:cNvSpPr>
            <p:nvPr/>
          </p:nvSpPr>
          <p:spPr bwMode="auto">
            <a:xfrm flipH="1">
              <a:off x="2154" y="3007"/>
              <a:ext cx="121" cy="145"/>
            </a:xfrm>
            <a:prstGeom prst="line">
              <a:avLst/>
            </a:prstGeom>
            <a:noFill/>
            <a:ln w="508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1929" name="Group 664">
            <a:extLst>
              <a:ext uri="{FF2B5EF4-FFF2-40B4-BE49-F238E27FC236}">
                <a16:creationId xmlns:a16="http://schemas.microsoft.com/office/drawing/2014/main" id="{F57F5EA2-29C9-7446-8514-C018E84F6E16}"/>
              </a:ext>
            </a:extLst>
          </p:cNvPr>
          <p:cNvGrpSpPr>
            <a:grpSpLocks/>
          </p:cNvGrpSpPr>
          <p:nvPr/>
        </p:nvGrpSpPr>
        <p:grpSpPr bwMode="auto">
          <a:xfrm>
            <a:off x="3611563" y="3889375"/>
            <a:ext cx="1114425" cy="1997075"/>
            <a:chOff x="2275" y="2450"/>
            <a:chExt cx="702" cy="1258"/>
          </a:xfrm>
        </p:grpSpPr>
        <p:sp>
          <p:nvSpPr>
            <p:cNvPr id="79957" name="Rectangle 617">
              <a:extLst>
                <a:ext uri="{FF2B5EF4-FFF2-40B4-BE49-F238E27FC236}">
                  <a16:creationId xmlns:a16="http://schemas.microsoft.com/office/drawing/2014/main" id="{E9EAB2B0-FDC9-1841-A0A2-3276D037EF05}"/>
                </a:ext>
              </a:extLst>
            </p:cNvPr>
            <p:cNvSpPr>
              <a:spLocks noChangeArrowheads="1"/>
            </p:cNvSpPr>
            <p:nvPr/>
          </p:nvSpPr>
          <p:spPr bwMode="auto">
            <a:xfrm>
              <a:off x="2517" y="2450"/>
              <a:ext cx="460" cy="533"/>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958" name="Rectangle 656">
              <a:extLst>
                <a:ext uri="{FF2B5EF4-FFF2-40B4-BE49-F238E27FC236}">
                  <a16:creationId xmlns:a16="http://schemas.microsoft.com/office/drawing/2014/main" id="{37C8E57B-75BD-2446-B889-83616B8BBBB0}"/>
                </a:ext>
              </a:extLst>
            </p:cNvPr>
            <p:cNvSpPr>
              <a:spLocks noChangeArrowheads="1"/>
            </p:cNvSpPr>
            <p:nvPr/>
          </p:nvSpPr>
          <p:spPr bwMode="auto">
            <a:xfrm>
              <a:off x="2275" y="3176"/>
              <a:ext cx="218" cy="532"/>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959" name="Line 660">
              <a:extLst>
                <a:ext uri="{FF2B5EF4-FFF2-40B4-BE49-F238E27FC236}">
                  <a16:creationId xmlns:a16="http://schemas.microsoft.com/office/drawing/2014/main" id="{2471936F-5E73-BD43-AF5C-45BD1310B48E}"/>
                </a:ext>
              </a:extLst>
            </p:cNvPr>
            <p:cNvSpPr>
              <a:spLocks noChangeShapeType="1"/>
            </p:cNvSpPr>
            <p:nvPr/>
          </p:nvSpPr>
          <p:spPr bwMode="auto">
            <a:xfrm flipH="1">
              <a:off x="2469" y="3007"/>
              <a:ext cx="193" cy="145"/>
            </a:xfrm>
            <a:prstGeom prst="line">
              <a:avLst/>
            </a:prstGeom>
            <a:noFill/>
            <a:ln w="508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1930" name="Group 665">
            <a:extLst>
              <a:ext uri="{FF2B5EF4-FFF2-40B4-BE49-F238E27FC236}">
                <a16:creationId xmlns:a16="http://schemas.microsoft.com/office/drawing/2014/main" id="{4627BB36-FB68-3343-904C-55C72F40E44D}"/>
              </a:ext>
            </a:extLst>
          </p:cNvPr>
          <p:cNvGrpSpPr>
            <a:grpSpLocks/>
          </p:cNvGrpSpPr>
          <p:nvPr/>
        </p:nvGrpSpPr>
        <p:grpSpPr bwMode="auto">
          <a:xfrm>
            <a:off x="4725988" y="3889375"/>
            <a:ext cx="1458912" cy="1997075"/>
            <a:chOff x="2977" y="2450"/>
            <a:chExt cx="919" cy="1258"/>
          </a:xfrm>
        </p:grpSpPr>
        <p:sp>
          <p:nvSpPr>
            <p:cNvPr id="79954" name="Rectangle 618">
              <a:extLst>
                <a:ext uri="{FF2B5EF4-FFF2-40B4-BE49-F238E27FC236}">
                  <a16:creationId xmlns:a16="http://schemas.microsoft.com/office/drawing/2014/main" id="{0483F3B9-34CD-2044-9034-584F8B5075E7}"/>
                </a:ext>
              </a:extLst>
            </p:cNvPr>
            <p:cNvSpPr>
              <a:spLocks noChangeArrowheads="1"/>
            </p:cNvSpPr>
            <p:nvPr/>
          </p:nvSpPr>
          <p:spPr bwMode="auto">
            <a:xfrm>
              <a:off x="3436" y="2450"/>
              <a:ext cx="460" cy="533"/>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955" name="Rectangle 661">
              <a:extLst>
                <a:ext uri="{FF2B5EF4-FFF2-40B4-BE49-F238E27FC236}">
                  <a16:creationId xmlns:a16="http://schemas.microsoft.com/office/drawing/2014/main" id="{AC336430-E20B-0F46-A408-80FA4B4A6F54}"/>
                </a:ext>
              </a:extLst>
            </p:cNvPr>
            <p:cNvSpPr>
              <a:spLocks noChangeArrowheads="1"/>
            </p:cNvSpPr>
            <p:nvPr/>
          </p:nvSpPr>
          <p:spPr bwMode="auto">
            <a:xfrm>
              <a:off x="2977" y="3176"/>
              <a:ext cx="218" cy="532"/>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956" name="Line 662">
              <a:extLst>
                <a:ext uri="{FF2B5EF4-FFF2-40B4-BE49-F238E27FC236}">
                  <a16:creationId xmlns:a16="http://schemas.microsoft.com/office/drawing/2014/main" id="{B1BDEC8C-A9AD-2D43-8D49-1C4452CDA581}"/>
                </a:ext>
              </a:extLst>
            </p:cNvPr>
            <p:cNvSpPr>
              <a:spLocks noChangeShapeType="1"/>
            </p:cNvSpPr>
            <p:nvPr/>
          </p:nvSpPr>
          <p:spPr bwMode="auto">
            <a:xfrm flipH="1">
              <a:off x="3195" y="3007"/>
              <a:ext cx="217" cy="145"/>
            </a:xfrm>
            <a:prstGeom prst="line">
              <a:avLst/>
            </a:prstGeom>
            <a:noFill/>
            <a:ln w="508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79951" name="Text Box 666">
            <a:extLst>
              <a:ext uri="{FF2B5EF4-FFF2-40B4-BE49-F238E27FC236}">
                <a16:creationId xmlns:a16="http://schemas.microsoft.com/office/drawing/2014/main" id="{A924E884-BB5A-064A-B29F-0721940C8835}"/>
              </a:ext>
            </a:extLst>
          </p:cNvPr>
          <p:cNvSpPr txBox="1">
            <a:spLocks noChangeArrowheads="1"/>
          </p:cNvSpPr>
          <p:nvPr/>
        </p:nvSpPr>
        <p:spPr bwMode="auto">
          <a:xfrm>
            <a:off x="139700" y="4235450"/>
            <a:ext cx="1060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Baseline</a:t>
            </a:r>
          </a:p>
        </p:txBody>
      </p:sp>
      <p:sp>
        <p:nvSpPr>
          <p:cNvPr id="79952" name="Text Box 667">
            <a:extLst>
              <a:ext uri="{FF2B5EF4-FFF2-40B4-BE49-F238E27FC236}">
                <a16:creationId xmlns:a16="http://schemas.microsoft.com/office/drawing/2014/main" id="{BEC3CAEA-70FB-A84C-8558-C64A45DD964F}"/>
              </a:ext>
            </a:extLst>
          </p:cNvPr>
          <p:cNvSpPr txBox="1">
            <a:spLocks noChangeArrowheads="1"/>
          </p:cNvSpPr>
          <p:nvPr/>
        </p:nvSpPr>
        <p:spPr bwMode="auto">
          <a:xfrm>
            <a:off x="101600" y="5003800"/>
            <a:ext cx="12128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Dynamic</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Warp</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Formation</a:t>
            </a:r>
          </a:p>
        </p:txBody>
      </p:sp>
      <p:sp>
        <p:nvSpPr>
          <p:cNvPr id="79953" name="TextBox 357">
            <a:extLst>
              <a:ext uri="{FF2B5EF4-FFF2-40B4-BE49-F238E27FC236}">
                <a16:creationId xmlns:a16="http://schemas.microsoft.com/office/drawing/2014/main" id="{30B50CA3-BC01-2649-B51F-B208C99AD7BF}"/>
              </a:ext>
            </a:extLst>
          </p:cNvPr>
          <p:cNvSpPr txBox="1">
            <a:spLocks noChangeArrowheads="1"/>
          </p:cNvSpPr>
          <p:nvPr/>
        </p:nvSpPr>
        <p:spPr bwMode="auto">
          <a:xfrm>
            <a:off x="152400" y="6535738"/>
            <a:ext cx="154463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Tor Aamodt</a:t>
            </a:r>
          </a:p>
        </p:txBody>
      </p:sp>
    </p:spTree>
    <p:extLst>
      <p:ext uri="{BB962C8B-B14F-4D97-AF65-F5344CB8AC3E}">
        <p14:creationId xmlns:p14="http://schemas.microsoft.com/office/powerpoint/2010/main" val="20225558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mph" presetSubtype="1" nodeType="withEffect">
                                  <p:stCondLst>
                                    <p:cond delay="0"/>
                                  </p:stCondLst>
                                  <p:childTnLst>
                                    <p:set>
                                      <p:cBhvr>
                                        <p:cTn id="8" dur="indefinite"/>
                                        <p:tgtEl>
                                          <p:spTgt spid="280"/>
                                        </p:tgtEl>
                                        <p:attrNameLst>
                                          <p:attrName>fillcolor</p:attrName>
                                        </p:attrNameLst>
                                      </p:cBhvr>
                                      <p:to>
                                        <p:clrVal>
                                          <a:srgbClr val="FFFF00"/>
                                        </p:clrVal>
                                      </p:to>
                                    </p:set>
                                    <p:set>
                                      <p:cBhvr>
                                        <p:cTn id="9" dur="indefinite"/>
                                        <p:tgtEl>
                                          <p:spTgt spid="280"/>
                                        </p:tgtEl>
                                        <p:attrNameLst>
                                          <p:attrName>fill.type</p:attrName>
                                        </p:attrNameLst>
                                      </p:cBhvr>
                                      <p:to>
                                        <p:strVal val="solid"/>
                                      </p:to>
                                    </p:set>
                                    <p:set>
                                      <p:cBhvr>
                                        <p:cTn id="10" dur="indefinite"/>
                                        <p:tgtEl>
                                          <p:spTgt spid="280"/>
                                        </p:tgtEl>
                                        <p:attrNameLst>
                                          <p:attrName>fill.on</p:attrName>
                                        </p:attrNameLst>
                                      </p:cBhvr>
                                      <p:to>
                                        <p:strVal val="true"/>
                                      </p:to>
                                    </p:set>
                                  </p:childTnLst>
                                </p:cTn>
                              </p:par>
                            </p:childTnLst>
                          </p:cTn>
                        </p:par>
                        <p:par>
                          <p:cTn id="11" fill="hold" nodeType="afterGroup">
                            <p:stCondLst>
                              <p:cond delay="0"/>
                            </p:stCondLst>
                            <p:childTnLst>
                              <p:par>
                                <p:cTn id="12" presetID="1" presetClass="entr" presetSubtype="0" fill="hold" nodeType="afterEffect">
                                  <p:stCondLst>
                                    <p:cond delay="1000"/>
                                  </p:stCondLst>
                                  <p:childTnLst>
                                    <p:set>
                                      <p:cBhvr>
                                        <p:cTn id="13" dur="1" fill="hold">
                                          <p:stCondLst>
                                            <p:cond delay="0"/>
                                          </p:stCondLst>
                                        </p:cTn>
                                        <p:tgtEl>
                                          <p:spTgt spid="3"/>
                                        </p:tgtEl>
                                        <p:attrNameLst>
                                          <p:attrName>style.visibility</p:attrName>
                                        </p:attrNameLst>
                                      </p:cBhvr>
                                      <p:to>
                                        <p:strVal val="visible"/>
                                      </p:to>
                                    </p:set>
                                  </p:childTnLst>
                                </p:cTn>
                              </p:par>
                              <p:par>
                                <p:cTn id="14" presetID="1" presetClass="emph" presetSubtype="1" nodeType="withEffect">
                                  <p:stCondLst>
                                    <p:cond delay="0"/>
                                  </p:stCondLst>
                                  <p:childTnLst>
                                    <p:set>
                                      <p:cBhvr>
                                        <p:cTn id="15" dur="indefinite"/>
                                        <p:tgtEl>
                                          <p:spTgt spid="281"/>
                                        </p:tgtEl>
                                        <p:attrNameLst>
                                          <p:attrName>fillcolor</p:attrName>
                                        </p:attrNameLst>
                                      </p:cBhvr>
                                      <p:to>
                                        <p:clrVal>
                                          <a:srgbClr val="FFFF00"/>
                                        </p:clrVal>
                                      </p:to>
                                    </p:set>
                                    <p:set>
                                      <p:cBhvr>
                                        <p:cTn id="16" dur="indefinite"/>
                                        <p:tgtEl>
                                          <p:spTgt spid="281"/>
                                        </p:tgtEl>
                                        <p:attrNameLst>
                                          <p:attrName>fill.type</p:attrName>
                                        </p:attrNameLst>
                                      </p:cBhvr>
                                      <p:to>
                                        <p:strVal val="solid"/>
                                      </p:to>
                                    </p:set>
                                    <p:set>
                                      <p:cBhvr>
                                        <p:cTn id="17" dur="indefinite"/>
                                        <p:tgtEl>
                                          <p:spTgt spid="281"/>
                                        </p:tgtEl>
                                        <p:attrNameLst>
                                          <p:attrName>fill.on</p:attrName>
                                        </p:attrNameLst>
                                      </p:cBhvr>
                                      <p:to>
                                        <p:strVal val="true"/>
                                      </p:to>
                                    </p:set>
                                  </p:childTnLst>
                                </p:cTn>
                              </p:par>
                              <p:par>
                                <p:cTn id="18" presetID="1" presetClass="emph" presetSubtype="2" fill="hold" nodeType="withEffect">
                                  <p:stCondLst>
                                    <p:cond delay="0"/>
                                  </p:stCondLst>
                                  <p:childTnLst>
                                    <p:animClr clrSpc="rgb" dir="cw">
                                      <p:cBhvr>
                                        <p:cTn id="19" dur="500" fill="hold"/>
                                        <p:tgtEl>
                                          <p:spTgt spid="280"/>
                                        </p:tgtEl>
                                        <p:attrNameLst>
                                          <p:attrName>fillcolor</p:attrName>
                                        </p:attrNameLst>
                                      </p:cBhvr>
                                      <p:to>
                                        <a:srgbClr val="CCCCFF"/>
                                      </p:to>
                                    </p:animClr>
                                    <p:set>
                                      <p:cBhvr>
                                        <p:cTn id="20" dur="500" fill="hold"/>
                                        <p:tgtEl>
                                          <p:spTgt spid="280"/>
                                        </p:tgtEl>
                                        <p:attrNameLst>
                                          <p:attrName>fill.type</p:attrName>
                                        </p:attrNameLst>
                                      </p:cBhvr>
                                      <p:to>
                                        <p:strVal val="solid"/>
                                      </p:to>
                                    </p:set>
                                    <p:set>
                                      <p:cBhvr>
                                        <p:cTn id="21" dur="500" fill="hold"/>
                                        <p:tgtEl>
                                          <p:spTgt spid="280"/>
                                        </p:tgtEl>
                                        <p:attrNameLst>
                                          <p:attrName>fill.on</p:attrName>
                                        </p:attrNameLst>
                                      </p:cBhvr>
                                      <p:to>
                                        <p:strVal val="true"/>
                                      </p:to>
                                    </p:set>
                                  </p:childTnLst>
                                </p:cTn>
                              </p:par>
                            </p:childTnLst>
                          </p:cTn>
                        </p:par>
                        <p:par>
                          <p:cTn id="22" fill="hold" nodeType="afterGroup">
                            <p:stCondLst>
                              <p:cond delay="1000"/>
                            </p:stCondLst>
                            <p:childTnLst>
                              <p:par>
                                <p:cTn id="23" presetID="1" presetClass="entr" presetSubtype="0" fill="hold" nodeType="afterEffect">
                                  <p:stCondLst>
                                    <p:cond delay="100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mph" presetSubtype="1" nodeType="withEffect">
                                  <p:stCondLst>
                                    <p:cond delay="0"/>
                                  </p:stCondLst>
                                  <p:endCondLst>
                                    <p:cond evt="onNext" delay="0">
                                      <p:tgtEl>
                                        <p:sldTgt/>
                                      </p:tgtEl>
                                    </p:cond>
                                  </p:endCondLst>
                                  <p:childTnLst>
                                    <p:set>
                                      <p:cBhvr>
                                        <p:cTn id="26" dur="indefinite"/>
                                        <p:tgtEl>
                                          <p:spTgt spid="283"/>
                                        </p:tgtEl>
                                        <p:attrNameLst>
                                          <p:attrName>fillcolor</p:attrName>
                                        </p:attrNameLst>
                                      </p:cBhvr>
                                      <p:to>
                                        <p:clrVal>
                                          <a:srgbClr val="FFFF00"/>
                                        </p:clrVal>
                                      </p:to>
                                    </p:set>
                                    <p:set>
                                      <p:cBhvr>
                                        <p:cTn id="27" dur="indefinite"/>
                                        <p:tgtEl>
                                          <p:spTgt spid="283"/>
                                        </p:tgtEl>
                                        <p:attrNameLst>
                                          <p:attrName>fill.type</p:attrName>
                                        </p:attrNameLst>
                                      </p:cBhvr>
                                      <p:to>
                                        <p:strVal val="solid"/>
                                      </p:to>
                                    </p:set>
                                    <p:set>
                                      <p:cBhvr>
                                        <p:cTn id="28" dur="indefinite"/>
                                        <p:tgtEl>
                                          <p:spTgt spid="283"/>
                                        </p:tgtEl>
                                        <p:attrNameLst>
                                          <p:attrName>fill.on</p:attrName>
                                        </p:attrNameLst>
                                      </p:cBhvr>
                                      <p:to>
                                        <p:strVal val="true"/>
                                      </p:to>
                                    </p:set>
                                  </p:childTnLst>
                                </p:cTn>
                              </p:par>
                              <p:par>
                                <p:cTn id="29" presetID="1" presetClass="emph" presetSubtype="2" fill="hold" nodeType="withEffect">
                                  <p:stCondLst>
                                    <p:cond delay="0"/>
                                  </p:stCondLst>
                                  <p:childTnLst>
                                    <p:animClr clrSpc="rgb" dir="cw">
                                      <p:cBhvr>
                                        <p:cTn id="30" dur="500" fill="hold"/>
                                        <p:tgtEl>
                                          <p:spTgt spid="281"/>
                                        </p:tgtEl>
                                        <p:attrNameLst>
                                          <p:attrName>fillcolor</p:attrName>
                                        </p:attrNameLst>
                                      </p:cBhvr>
                                      <p:to>
                                        <a:srgbClr val="CCCCFF"/>
                                      </p:to>
                                    </p:animClr>
                                    <p:set>
                                      <p:cBhvr>
                                        <p:cTn id="31" dur="500" fill="hold"/>
                                        <p:tgtEl>
                                          <p:spTgt spid="281"/>
                                        </p:tgtEl>
                                        <p:attrNameLst>
                                          <p:attrName>fill.type</p:attrName>
                                        </p:attrNameLst>
                                      </p:cBhvr>
                                      <p:to>
                                        <p:strVal val="solid"/>
                                      </p:to>
                                    </p:set>
                                    <p:set>
                                      <p:cBhvr>
                                        <p:cTn id="32" dur="500" fill="hold"/>
                                        <p:tgtEl>
                                          <p:spTgt spid="281"/>
                                        </p:tgtEl>
                                        <p:attrNameLst>
                                          <p:attrName>fill.on</p:attrName>
                                        </p:attrNameLst>
                                      </p:cBhvr>
                                      <p:to>
                                        <p:strVal val="true"/>
                                      </p:to>
                                    </p:set>
                                  </p:childTnLst>
                                </p:cTn>
                              </p:par>
                            </p:childTnLst>
                          </p:cTn>
                        </p:par>
                        <p:par>
                          <p:cTn id="33" fill="hold" nodeType="afterGroup">
                            <p:stCondLst>
                              <p:cond delay="2000"/>
                            </p:stCondLst>
                            <p:childTnLst>
                              <p:par>
                                <p:cTn id="34" presetID="1" presetClass="entr" presetSubtype="0" fill="hold" nodeType="afterEffect">
                                  <p:stCondLst>
                                    <p:cond delay="1000"/>
                                  </p:stCondLst>
                                  <p:childTnLst>
                                    <p:set>
                                      <p:cBhvr>
                                        <p:cTn id="35" dur="1" fill="hold">
                                          <p:stCondLst>
                                            <p:cond delay="0"/>
                                          </p:stCondLst>
                                        </p:cTn>
                                        <p:tgtEl>
                                          <p:spTgt spid="5"/>
                                        </p:tgtEl>
                                        <p:attrNameLst>
                                          <p:attrName>style.visibility</p:attrName>
                                        </p:attrNameLst>
                                      </p:cBhvr>
                                      <p:to>
                                        <p:strVal val="visible"/>
                                      </p:to>
                                    </p:set>
                                  </p:childTnLst>
                                </p:cTn>
                              </p:par>
                              <p:par>
                                <p:cTn id="36" presetID="1" presetClass="emph" presetSubtype="1" nodeType="withEffect">
                                  <p:stCondLst>
                                    <p:cond delay="0"/>
                                  </p:stCondLst>
                                  <p:childTnLst>
                                    <p:set>
                                      <p:cBhvr>
                                        <p:cTn id="37" dur="indefinite"/>
                                        <p:tgtEl>
                                          <p:spTgt spid="284"/>
                                        </p:tgtEl>
                                        <p:attrNameLst>
                                          <p:attrName>fillcolor</p:attrName>
                                        </p:attrNameLst>
                                      </p:cBhvr>
                                      <p:to>
                                        <p:clrVal>
                                          <a:srgbClr val="FFFF00"/>
                                        </p:clrVal>
                                      </p:to>
                                    </p:set>
                                    <p:set>
                                      <p:cBhvr>
                                        <p:cTn id="38" dur="indefinite"/>
                                        <p:tgtEl>
                                          <p:spTgt spid="284"/>
                                        </p:tgtEl>
                                        <p:attrNameLst>
                                          <p:attrName>fill.type</p:attrName>
                                        </p:attrNameLst>
                                      </p:cBhvr>
                                      <p:to>
                                        <p:strVal val="solid"/>
                                      </p:to>
                                    </p:set>
                                    <p:set>
                                      <p:cBhvr>
                                        <p:cTn id="39" dur="indefinite"/>
                                        <p:tgtEl>
                                          <p:spTgt spid="284"/>
                                        </p:tgtEl>
                                        <p:attrNameLst>
                                          <p:attrName>fill.on</p:attrName>
                                        </p:attrNameLst>
                                      </p:cBhvr>
                                      <p:to>
                                        <p:strVal val="true"/>
                                      </p:to>
                                    </p:set>
                                  </p:childTnLst>
                                </p:cTn>
                              </p:par>
                              <p:par>
                                <p:cTn id="40" presetID="1" presetClass="emph" presetSubtype="2" fill="hold" nodeType="withEffect">
                                  <p:stCondLst>
                                    <p:cond delay="0"/>
                                  </p:stCondLst>
                                  <p:childTnLst>
                                    <p:animClr clrSpc="rgb" dir="cw">
                                      <p:cBhvr>
                                        <p:cTn id="41" dur="500" fill="hold"/>
                                        <p:tgtEl>
                                          <p:spTgt spid="283"/>
                                        </p:tgtEl>
                                        <p:attrNameLst>
                                          <p:attrName>fillcolor</p:attrName>
                                        </p:attrNameLst>
                                      </p:cBhvr>
                                      <p:to>
                                        <a:srgbClr val="CCCCFF"/>
                                      </p:to>
                                    </p:animClr>
                                    <p:set>
                                      <p:cBhvr>
                                        <p:cTn id="42" dur="500" fill="hold"/>
                                        <p:tgtEl>
                                          <p:spTgt spid="283"/>
                                        </p:tgtEl>
                                        <p:attrNameLst>
                                          <p:attrName>fill.type</p:attrName>
                                        </p:attrNameLst>
                                      </p:cBhvr>
                                      <p:to>
                                        <p:strVal val="solid"/>
                                      </p:to>
                                    </p:set>
                                    <p:set>
                                      <p:cBhvr>
                                        <p:cTn id="43" dur="500" fill="hold"/>
                                        <p:tgtEl>
                                          <p:spTgt spid="283"/>
                                        </p:tgtEl>
                                        <p:attrNameLst>
                                          <p:attrName>fill.on</p:attrName>
                                        </p:attrNameLst>
                                      </p:cBhvr>
                                      <p:to>
                                        <p:strVal val="true"/>
                                      </p:to>
                                    </p:set>
                                  </p:childTnLst>
                                </p:cTn>
                              </p:par>
                            </p:childTnLst>
                          </p:cTn>
                        </p:par>
                        <p:par>
                          <p:cTn id="44" fill="hold" nodeType="afterGroup">
                            <p:stCondLst>
                              <p:cond delay="3000"/>
                            </p:stCondLst>
                            <p:childTnLst>
                              <p:par>
                                <p:cTn id="45" presetID="1" presetClass="entr" presetSubtype="0" fill="hold" nodeType="afterEffect">
                                  <p:stCondLst>
                                    <p:cond delay="1000"/>
                                  </p:stCondLst>
                                  <p:childTnLst>
                                    <p:set>
                                      <p:cBhvr>
                                        <p:cTn id="46" dur="1" fill="hold">
                                          <p:stCondLst>
                                            <p:cond delay="0"/>
                                          </p:stCondLst>
                                        </p:cTn>
                                        <p:tgtEl>
                                          <p:spTgt spid="10"/>
                                        </p:tgtEl>
                                        <p:attrNameLst>
                                          <p:attrName>style.visibility</p:attrName>
                                        </p:attrNameLst>
                                      </p:cBhvr>
                                      <p:to>
                                        <p:strVal val="visible"/>
                                      </p:to>
                                    </p:set>
                                  </p:childTnLst>
                                </p:cTn>
                              </p:par>
                              <p:par>
                                <p:cTn id="47" presetID="1" presetClass="emph" presetSubtype="1" nodeType="withEffect">
                                  <p:stCondLst>
                                    <p:cond delay="0"/>
                                  </p:stCondLst>
                                  <p:childTnLst>
                                    <p:set>
                                      <p:cBhvr>
                                        <p:cTn id="48" dur="indefinite"/>
                                        <p:tgtEl>
                                          <p:spTgt spid="286"/>
                                        </p:tgtEl>
                                        <p:attrNameLst>
                                          <p:attrName>fillcolor</p:attrName>
                                        </p:attrNameLst>
                                      </p:cBhvr>
                                      <p:to>
                                        <p:clrVal>
                                          <a:srgbClr val="FFFF00"/>
                                        </p:clrVal>
                                      </p:to>
                                    </p:set>
                                    <p:set>
                                      <p:cBhvr>
                                        <p:cTn id="49" dur="indefinite"/>
                                        <p:tgtEl>
                                          <p:spTgt spid="286"/>
                                        </p:tgtEl>
                                        <p:attrNameLst>
                                          <p:attrName>fill.type</p:attrName>
                                        </p:attrNameLst>
                                      </p:cBhvr>
                                      <p:to>
                                        <p:strVal val="solid"/>
                                      </p:to>
                                    </p:set>
                                    <p:set>
                                      <p:cBhvr>
                                        <p:cTn id="50" dur="indefinite"/>
                                        <p:tgtEl>
                                          <p:spTgt spid="286"/>
                                        </p:tgtEl>
                                        <p:attrNameLst>
                                          <p:attrName>fill.on</p:attrName>
                                        </p:attrNameLst>
                                      </p:cBhvr>
                                      <p:to>
                                        <p:strVal val="true"/>
                                      </p:to>
                                    </p:set>
                                  </p:childTnLst>
                                </p:cTn>
                              </p:par>
                              <p:par>
                                <p:cTn id="51" presetID="1" presetClass="emph" presetSubtype="2" fill="hold" nodeType="withEffect">
                                  <p:stCondLst>
                                    <p:cond delay="0"/>
                                  </p:stCondLst>
                                  <p:childTnLst>
                                    <p:animClr clrSpc="rgb" dir="cw">
                                      <p:cBhvr>
                                        <p:cTn id="52" dur="500" fill="hold"/>
                                        <p:tgtEl>
                                          <p:spTgt spid="284"/>
                                        </p:tgtEl>
                                        <p:attrNameLst>
                                          <p:attrName>fillcolor</p:attrName>
                                        </p:attrNameLst>
                                      </p:cBhvr>
                                      <p:to>
                                        <a:srgbClr val="CCCCFF"/>
                                      </p:to>
                                    </p:animClr>
                                    <p:set>
                                      <p:cBhvr>
                                        <p:cTn id="53" dur="500" fill="hold"/>
                                        <p:tgtEl>
                                          <p:spTgt spid="284"/>
                                        </p:tgtEl>
                                        <p:attrNameLst>
                                          <p:attrName>fill.type</p:attrName>
                                        </p:attrNameLst>
                                      </p:cBhvr>
                                      <p:to>
                                        <p:strVal val="solid"/>
                                      </p:to>
                                    </p:set>
                                    <p:set>
                                      <p:cBhvr>
                                        <p:cTn id="54" dur="500" fill="hold"/>
                                        <p:tgtEl>
                                          <p:spTgt spid="284"/>
                                        </p:tgtEl>
                                        <p:attrNameLst>
                                          <p:attrName>fill.on</p:attrName>
                                        </p:attrNameLst>
                                      </p:cBhvr>
                                      <p:to>
                                        <p:strVal val="true"/>
                                      </p:to>
                                    </p:set>
                                  </p:childTnLst>
                                </p:cTn>
                              </p:par>
                            </p:childTnLst>
                          </p:cTn>
                        </p:par>
                        <p:par>
                          <p:cTn id="55" fill="hold" nodeType="afterGroup">
                            <p:stCondLst>
                              <p:cond delay="4000"/>
                            </p:stCondLst>
                            <p:childTnLst>
                              <p:par>
                                <p:cTn id="56" presetID="1" presetClass="entr" presetSubtype="0" fill="hold" nodeType="afterEffect">
                                  <p:stCondLst>
                                    <p:cond delay="1000"/>
                                  </p:stCondLst>
                                  <p:childTnLst>
                                    <p:set>
                                      <p:cBhvr>
                                        <p:cTn id="57" dur="1" fill="hold">
                                          <p:stCondLst>
                                            <p:cond delay="0"/>
                                          </p:stCondLst>
                                        </p:cTn>
                                        <p:tgtEl>
                                          <p:spTgt spid="11"/>
                                        </p:tgtEl>
                                        <p:attrNameLst>
                                          <p:attrName>style.visibility</p:attrName>
                                        </p:attrNameLst>
                                      </p:cBhvr>
                                      <p:to>
                                        <p:strVal val="visible"/>
                                      </p:to>
                                    </p:set>
                                  </p:childTnLst>
                                </p:cTn>
                              </p:par>
                              <p:par>
                                <p:cTn id="58" presetID="1" presetClass="emph" presetSubtype="1" nodeType="withEffect">
                                  <p:stCondLst>
                                    <p:cond delay="0"/>
                                  </p:stCondLst>
                                  <p:childTnLst>
                                    <p:set>
                                      <p:cBhvr>
                                        <p:cTn id="59" dur="indefinite"/>
                                        <p:tgtEl>
                                          <p:spTgt spid="287"/>
                                        </p:tgtEl>
                                        <p:attrNameLst>
                                          <p:attrName>fillcolor</p:attrName>
                                        </p:attrNameLst>
                                      </p:cBhvr>
                                      <p:to>
                                        <p:clrVal>
                                          <a:srgbClr val="FFFF00"/>
                                        </p:clrVal>
                                      </p:to>
                                    </p:set>
                                    <p:set>
                                      <p:cBhvr>
                                        <p:cTn id="60" dur="indefinite"/>
                                        <p:tgtEl>
                                          <p:spTgt spid="287"/>
                                        </p:tgtEl>
                                        <p:attrNameLst>
                                          <p:attrName>fill.type</p:attrName>
                                        </p:attrNameLst>
                                      </p:cBhvr>
                                      <p:to>
                                        <p:strVal val="solid"/>
                                      </p:to>
                                    </p:set>
                                    <p:set>
                                      <p:cBhvr>
                                        <p:cTn id="61" dur="indefinite"/>
                                        <p:tgtEl>
                                          <p:spTgt spid="287"/>
                                        </p:tgtEl>
                                        <p:attrNameLst>
                                          <p:attrName>fill.on</p:attrName>
                                        </p:attrNameLst>
                                      </p:cBhvr>
                                      <p:to>
                                        <p:strVal val="true"/>
                                      </p:to>
                                    </p:set>
                                  </p:childTnLst>
                                </p:cTn>
                              </p:par>
                              <p:par>
                                <p:cTn id="62" presetID="1" presetClass="emph" presetSubtype="2" fill="hold" nodeType="withEffect">
                                  <p:stCondLst>
                                    <p:cond delay="0"/>
                                  </p:stCondLst>
                                  <p:childTnLst>
                                    <p:animClr clrSpc="rgb" dir="cw">
                                      <p:cBhvr>
                                        <p:cTn id="63" dur="500" fill="hold"/>
                                        <p:tgtEl>
                                          <p:spTgt spid="286"/>
                                        </p:tgtEl>
                                        <p:attrNameLst>
                                          <p:attrName>fillcolor</p:attrName>
                                        </p:attrNameLst>
                                      </p:cBhvr>
                                      <p:to>
                                        <a:srgbClr val="CCCCFF"/>
                                      </p:to>
                                    </p:animClr>
                                    <p:set>
                                      <p:cBhvr>
                                        <p:cTn id="64" dur="500" fill="hold"/>
                                        <p:tgtEl>
                                          <p:spTgt spid="286"/>
                                        </p:tgtEl>
                                        <p:attrNameLst>
                                          <p:attrName>fill.type</p:attrName>
                                        </p:attrNameLst>
                                      </p:cBhvr>
                                      <p:to>
                                        <p:strVal val="solid"/>
                                      </p:to>
                                    </p:set>
                                    <p:set>
                                      <p:cBhvr>
                                        <p:cTn id="65" dur="500" fill="hold"/>
                                        <p:tgtEl>
                                          <p:spTgt spid="286"/>
                                        </p:tgtEl>
                                        <p:attrNameLst>
                                          <p:attrName>fill.on</p:attrName>
                                        </p:attrNameLst>
                                      </p:cBhvr>
                                      <p:to>
                                        <p:strVal val="true"/>
                                      </p:to>
                                    </p:set>
                                  </p:childTnLst>
                                </p:cTn>
                              </p:par>
                            </p:childTnLst>
                          </p:cTn>
                        </p:par>
                        <p:par>
                          <p:cTn id="66" fill="hold" nodeType="afterGroup">
                            <p:stCondLst>
                              <p:cond delay="5000"/>
                            </p:stCondLst>
                            <p:childTnLst>
                              <p:par>
                                <p:cTn id="67" presetID="1" presetClass="entr" presetSubtype="0" fill="hold" nodeType="afterEffect">
                                  <p:stCondLst>
                                    <p:cond delay="1000"/>
                                  </p:stCondLst>
                                  <p:childTnLst>
                                    <p:set>
                                      <p:cBhvr>
                                        <p:cTn id="68" dur="1" fill="hold">
                                          <p:stCondLst>
                                            <p:cond delay="0"/>
                                          </p:stCondLst>
                                        </p:cTn>
                                        <p:tgtEl>
                                          <p:spTgt spid="12"/>
                                        </p:tgtEl>
                                        <p:attrNameLst>
                                          <p:attrName>style.visibility</p:attrName>
                                        </p:attrNameLst>
                                      </p:cBhvr>
                                      <p:to>
                                        <p:strVal val="visible"/>
                                      </p:to>
                                    </p:set>
                                  </p:childTnLst>
                                </p:cTn>
                              </p:par>
                              <p:par>
                                <p:cTn id="69" presetID="1" presetClass="emph" presetSubtype="1" nodeType="withEffect">
                                  <p:stCondLst>
                                    <p:cond delay="0"/>
                                  </p:stCondLst>
                                  <p:childTnLst>
                                    <p:set>
                                      <p:cBhvr>
                                        <p:cTn id="70" dur="indefinite"/>
                                        <p:tgtEl>
                                          <p:spTgt spid="289"/>
                                        </p:tgtEl>
                                        <p:attrNameLst>
                                          <p:attrName>fillcolor</p:attrName>
                                        </p:attrNameLst>
                                      </p:cBhvr>
                                      <p:to>
                                        <p:clrVal>
                                          <a:srgbClr val="FFFF00"/>
                                        </p:clrVal>
                                      </p:to>
                                    </p:set>
                                    <p:set>
                                      <p:cBhvr>
                                        <p:cTn id="71" dur="indefinite"/>
                                        <p:tgtEl>
                                          <p:spTgt spid="289"/>
                                        </p:tgtEl>
                                        <p:attrNameLst>
                                          <p:attrName>fill.type</p:attrName>
                                        </p:attrNameLst>
                                      </p:cBhvr>
                                      <p:to>
                                        <p:strVal val="solid"/>
                                      </p:to>
                                    </p:set>
                                    <p:set>
                                      <p:cBhvr>
                                        <p:cTn id="72" dur="indefinite"/>
                                        <p:tgtEl>
                                          <p:spTgt spid="289"/>
                                        </p:tgtEl>
                                        <p:attrNameLst>
                                          <p:attrName>fill.on</p:attrName>
                                        </p:attrNameLst>
                                      </p:cBhvr>
                                      <p:to>
                                        <p:strVal val="true"/>
                                      </p:to>
                                    </p:set>
                                  </p:childTnLst>
                                </p:cTn>
                              </p:par>
                              <p:par>
                                <p:cTn id="73" presetID="1" presetClass="emph" presetSubtype="2" fill="hold" nodeType="withEffect">
                                  <p:stCondLst>
                                    <p:cond delay="0"/>
                                  </p:stCondLst>
                                  <p:childTnLst>
                                    <p:animClr clrSpc="rgb" dir="cw">
                                      <p:cBhvr>
                                        <p:cTn id="74" dur="500" fill="hold"/>
                                        <p:tgtEl>
                                          <p:spTgt spid="287"/>
                                        </p:tgtEl>
                                        <p:attrNameLst>
                                          <p:attrName>fillcolor</p:attrName>
                                        </p:attrNameLst>
                                      </p:cBhvr>
                                      <p:to>
                                        <a:srgbClr val="CCCCFF"/>
                                      </p:to>
                                    </p:animClr>
                                    <p:set>
                                      <p:cBhvr>
                                        <p:cTn id="75" dur="500" fill="hold"/>
                                        <p:tgtEl>
                                          <p:spTgt spid="287"/>
                                        </p:tgtEl>
                                        <p:attrNameLst>
                                          <p:attrName>fill.type</p:attrName>
                                        </p:attrNameLst>
                                      </p:cBhvr>
                                      <p:to>
                                        <p:strVal val="solid"/>
                                      </p:to>
                                    </p:set>
                                    <p:set>
                                      <p:cBhvr>
                                        <p:cTn id="76" dur="500" fill="hold"/>
                                        <p:tgtEl>
                                          <p:spTgt spid="287"/>
                                        </p:tgtEl>
                                        <p:attrNameLst>
                                          <p:attrName>fill.on</p:attrName>
                                        </p:attrNameLst>
                                      </p:cBhvr>
                                      <p:to>
                                        <p:strVal val="true"/>
                                      </p:to>
                                    </p:set>
                                  </p:childTnLst>
                                </p:cTn>
                              </p:par>
                            </p:childTnLst>
                          </p:cTn>
                        </p:par>
                        <p:par>
                          <p:cTn id="77" fill="hold" nodeType="afterGroup">
                            <p:stCondLst>
                              <p:cond delay="6000"/>
                            </p:stCondLst>
                            <p:childTnLst>
                              <p:par>
                                <p:cTn id="78" presetID="1" presetClass="entr" presetSubtype="0" fill="hold" nodeType="afterEffect">
                                  <p:stCondLst>
                                    <p:cond delay="1000"/>
                                  </p:stCondLst>
                                  <p:childTnLst>
                                    <p:set>
                                      <p:cBhvr>
                                        <p:cTn id="79" dur="1" fill="hold">
                                          <p:stCondLst>
                                            <p:cond delay="0"/>
                                          </p:stCondLst>
                                        </p:cTn>
                                        <p:tgtEl>
                                          <p:spTgt spid="13"/>
                                        </p:tgtEl>
                                        <p:attrNameLst>
                                          <p:attrName>style.visibility</p:attrName>
                                        </p:attrNameLst>
                                      </p:cBhvr>
                                      <p:to>
                                        <p:strVal val="visible"/>
                                      </p:to>
                                    </p:set>
                                  </p:childTnLst>
                                </p:cTn>
                              </p:par>
                              <p:par>
                                <p:cTn id="80" presetID="1" presetClass="emph" presetSubtype="1" nodeType="withEffect">
                                  <p:stCondLst>
                                    <p:cond delay="0"/>
                                  </p:stCondLst>
                                  <p:childTnLst>
                                    <p:set>
                                      <p:cBhvr>
                                        <p:cTn id="81" dur="indefinite"/>
                                        <p:tgtEl>
                                          <p:spTgt spid="290"/>
                                        </p:tgtEl>
                                        <p:attrNameLst>
                                          <p:attrName>fillcolor</p:attrName>
                                        </p:attrNameLst>
                                      </p:cBhvr>
                                      <p:to>
                                        <p:clrVal>
                                          <a:srgbClr val="FFFF00"/>
                                        </p:clrVal>
                                      </p:to>
                                    </p:set>
                                    <p:set>
                                      <p:cBhvr>
                                        <p:cTn id="82" dur="indefinite"/>
                                        <p:tgtEl>
                                          <p:spTgt spid="290"/>
                                        </p:tgtEl>
                                        <p:attrNameLst>
                                          <p:attrName>fill.type</p:attrName>
                                        </p:attrNameLst>
                                      </p:cBhvr>
                                      <p:to>
                                        <p:strVal val="solid"/>
                                      </p:to>
                                    </p:set>
                                    <p:set>
                                      <p:cBhvr>
                                        <p:cTn id="83" dur="indefinite"/>
                                        <p:tgtEl>
                                          <p:spTgt spid="290"/>
                                        </p:tgtEl>
                                        <p:attrNameLst>
                                          <p:attrName>fill.on</p:attrName>
                                        </p:attrNameLst>
                                      </p:cBhvr>
                                      <p:to>
                                        <p:strVal val="true"/>
                                      </p:to>
                                    </p:set>
                                  </p:childTnLst>
                                </p:cTn>
                              </p:par>
                              <p:par>
                                <p:cTn id="84" presetID="1" presetClass="emph" presetSubtype="2" fill="hold" nodeType="withEffect">
                                  <p:stCondLst>
                                    <p:cond delay="0"/>
                                  </p:stCondLst>
                                  <p:childTnLst>
                                    <p:animClr clrSpc="rgb" dir="cw">
                                      <p:cBhvr>
                                        <p:cTn id="85" dur="500" fill="hold"/>
                                        <p:tgtEl>
                                          <p:spTgt spid="289"/>
                                        </p:tgtEl>
                                        <p:attrNameLst>
                                          <p:attrName>fillcolor</p:attrName>
                                        </p:attrNameLst>
                                      </p:cBhvr>
                                      <p:to>
                                        <a:srgbClr val="CCCCFF"/>
                                      </p:to>
                                    </p:animClr>
                                    <p:set>
                                      <p:cBhvr>
                                        <p:cTn id="86" dur="500" fill="hold"/>
                                        <p:tgtEl>
                                          <p:spTgt spid="289"/>
                                        </p:tgtEl>
                                        <p:attrNameLst>
                                          <p:attrName>fill.type</p:attrName>
                                        </p:attrNameLst>
                                      </p:cBhvr>
                                      <p:to>
                                        <p:strVal val="solid"/>
                                      </p:to>
                                    </p:set>
                                    <p:set>
                                      <p:cBhvr>
                                        <p:cTn id="87" dur="500" fill="hold"/>
                                        <p:tgtEl>
                                          <p:spTgt spid="289"/>
                                        </p:tgtEl>
                                        <p:attrNameLst>
                                          <p:attrName>fill.on</p:attrName>
                                        </p:attrNameLst>
                                      </p:cBhvr>
                                      <p:to>
                                        <p:strVal val="true"/>
                                      </p:to>
                                    </p:set>
                                  </p:childTnLst>
                                </p:cTn>
                              </p:par>
                            </p:childTnLst>
                          </p:cTn>
                        </p:par>
                        <p:par>
                          <p:cTn id="88" fill="hold" nodeType="afterGroup">
                            <p:stCondLst>
                              <p:cond delay="7000"/>
                            </p:stCondLst>
                            <p:childTnLst>
                              <p:par>
                                <p:cTn id="89" presetID="1" presetClass="entr" presetSubtype="0" fill="hold" nodeType="afterEffect">
                                  <p:stCondLst>
                                    <p:cond delay="1000"/>
                                  </p:stCondLst>
                                  <p:childTnLst>
                                    <p:set>
                                      <p:cBhvr>
                                        <p:cTn id="90" dur="1" fill="hold">
                                          <p:stCondLst>
                                            <p:cond delay="0"/>
                                          </p:stCondLst>
                                        </p:cTn>
                                        <p:tgtEl>
                                          <p:spTgt spid="14"/>
                                        </p:tgtEl>
                                        <p:attrNameLst>
                                          <p:attrName>style.visibility</p:attrName>
                                        </p:attrNameLst>
                                      </p:cBhvr>
                                      <p:to>
                                        <p:strVal val="visible"/>
                                      </p:to>
                                    </p:set>
                                  </p:childTnLst>
                                </p:cTn>
                              </p:par>
                              <p:par>
                                <p:cTn id="91" presetID="1" presetClass="emph" presetSubtype="1" nodeType="withEffect">
                                  <p:stCondLst>
                                    <p:cond delay="0"/>
                                  </p:stCondLst>
                                  <p:childTnLst>
                                    <p:set>
                                      <p:cBhvr>
                                        <p:cTn id="92" dur="indefinite"/>
                                        <p:tgtEl>
                                          <p:spTgt spid="295"/>
                                        </p:tgtEl>
                                        <p:attrNameLst>
                                          <p:attrName>fillcolor</p:attrName>
                                        </p:attrNameLst>
                                      </p:cBhvr>
                                      <p:to>
                                        <p:clrVal>
                                          <a:srgbClr val="FFFF00"/>
                                        </p:clrVal>
                                      </p:to>
                                    </p:set>
                                    <p:set>
                                      <p:cBhvr>
                                        <p:cTn id="93" dur="indefinite"/>
                                        <p:tgtEl>
                                          <p:spTgt spid="295"/>
                                        </p:tgtEl>
                                        <p:attrNameLst>
                                          <p:attrName>fill.type</p:attrName>
                                        </p:attrNameLst>
                                      </p:cBhvr>
                                      <p:to>
                                        <p:strVal val="solid"/>
                                      </p:to>
                                    </p:set>
                                    <p:set>
                                      <p:cBhvr>
                                        <p:cTn id="94" dur="indefinite"/>
                                        <p:tgtEl>
                                          <p:spTgt spid="295"/>
                                        </p:tgtEl>
                                        <p:attrNameLst>
                                          <p:attrName>fill.on</p:attrName>
                                        </p:attrNameLst>
                                      </p:cBhvr>
                                      <p:to>
                                        <p:strVal val="true"/>
                                      </p:to>
                                    </p:set>
                                  </p:childTnLst>
                                </p:cTn>
                              </p:par>
                              <p:par>
                                <p:cTn id="95" presetID="1" presetClass="emph" presetSubtype="2" fill="hold" nodeType="withEffect">
                                  <p:stCondLst>
                                    <p:cond delay="0"/>
                                  </p:stCondLst>
                                  <p:childTnLst>
                                    <p:animClr clrSpc="rgb" dir="cw">
                                      <p:cBhvr>
                                        <p:cTn id="96" dur="500" fill="hold"/>
                                        <p:tgtEl>
                                          <p:spTgt spid="290"/>
                                        </p:tgtEl>
                                        <p:attrNameLst>
                                          <p:attrName>fillcolor</p:attrName>
                                        </p:attrNameLst>
                                      </p:cBhvr>
                                      <p:to>
                                        <a:srgbClr val="CCCCFF"/>
                                      </p:to>
                                    </p:animClr>
                                    <p:set>
                                      <p:cBhvr>
                                        <p:cTn id="97" dur="500" fill="hold"/>
                                        <p:tgtEl>
                                          <p:spTgt spid="290"/>
                                        </p:tgtEl>
                                        <p:attrNameLst>
                                          <p:attrName>fill.type</p:attrName>
                                        </p:attrNameLst>
                                      </p:cBhvr>
                                      <p:to>
                                        <p:strVal val="solid"/>
                                      </p:to>
                                    </p:set>
                                    <p:set>
                                      <p:cBhvr>
                                        <p:cTn id="98" dur="500" fill="hold"/>
                                        <p:tgtEl>
                                          <p:spTgt spid="290"/>
                                        </p:tgtEl>
                                        <p:attrNameLst>
                                          <p:attrName>fill.on</p:attrName>
                                        </p:attrNameLst>
                                      </p:cBhvr>
                                      <p:to>
                                        <p:strVal val="true"/>
                                      </p:to>
                                    </p:set>
                                  </p:childTnLst>
                                </p:cTn>
                              </p:par>
                            </p:childTnLst>
                          </p:cTn>
                        </p:par>
                        <p:par>
                          <p:cTn id="99" fill="hold" nodeType="afterGroup">
                            <p:stCondLst>
                              <p:cond delay="8000"/>
                            </p:stCondLst>
                            <p:childTnLst>
                              <p:par>
                                <p:cTn id="100" presetID="1" presetClass="entr" presetSubtype="0" fill="hold" nodeType="afterEffect">
                                  <p:stCondLst>
                                    <p:cond delay="1000"/>
                                  </p:stCondLst>
                                  <p:childTnLst>
                                    <p:set>
                                      <p:cBhvr>
                                        <p:cTn id="101" dur="1" fill="hold">
                                          <p:stCondLst>
                                            <p:cond delay="0"/>
                                          </p:stCondLst>
                                        </p:cTn>
                                        <p:tgtEl>
                                          <p:spTgt spid="15"/>
                                        </p:tgtEl>
                                        <p:attrNameLst>
                                          <p:attrName>style.visibility</p:attrName>
                                        </p:attrNameLst>
                                      </p:cBhvr>
                                      <p:to>
                                        <p:strVal val="visible"/>
                                      </p:to>
                                    </p:set>
                                  </p:childTnLst>
                                </p:cTn>
                              </p:par>
                              <p:par>
                                <p:cTn id="102" presetID="1" presetClass="emph" presetSubtype="1" nodeType="withEffect">
                                  <p:stCondLst>
                                    <p:cond delay="0"/>
                                  </p:stCondLst>
                                  <p:childTnLst>
                                    <p:set>
                                      <p:cBhvr>
                                        <p:cTn id="103" dur="indefinite"/>
                                        <p:tgtEl>
                                          <p:spTgt spid="296"/>
                                        </p:tgtEl>
                                        <p:attrNameLst>
                                          <p:attrName>fillcolor</p:attrName>
                                        </p:attrNameLst>
                                      </p:cBhvr>
                                      <p:to>
                                        <p:clrVal>
                                          <a:srgbClr val="FFFF00"/>
                                        </p:clrVal>
                                      </p:to>
                                    </p:set>
                                    <p:set>
                                      <p:cBhvr>
                                        <p:cTn id="104" dur="indefinite"/>
                                        <p:tgtEl>
                                          <p:spTgt spid="296"/>
                                        </p:tgtEl>
                                        <p:attrNameLst>
                                          <p:attrName>fill.type</p:attrName>
                                        </p:attrNameLst>
                                      </p:cBhvr>
                                      <p:to>
                                        <p:strVal val="solid"/>
                                      </p:to>
                                    </p:set>
                                    <p:set>
                                      <p:cBhvr>
                                        <p:cTn id="105" dur="indefinite"/>
                                        <p:tgtEl>
                                          <p:spTgt spid="296"/>
                                        </p:tgtEl>
                                        <p:attrNameLst>
                                          <p:attrName>fill.on</p:attrName>
                                        </p:attrNameLst>
                                      </p:cBhvr>
                                      <p:to>
                                        <p:strVal val="true"/>
                                      </p:to>
                                    </p:set>
                                  </p:childTnLst>
                                </p:cTn>
                              </p:par>
                              <p:par>
                                <p:cTn id="106" presetID="1" presetClass="emph" presetSubtype="2" fill="hold" nodeType="withEffect">
                                  <p:stCondLst>
                                    <p:cond delay="0"/>
                                  </p:stCondLst>
                                  <p:childTnLst>
                                    <p:animClr clrSpc="rgb" dir="cw">
                                      <p:cBhvr>
                                        <p:cTn id="107" dur="500" fill="hold"/>
                                        <p:tgtEl>
                                          <p:spTgt spid="295"/>
                                        </p:tgtEl>
                                        <p:attrNameLst>
                                          <p:attrName>fillcolor</p:attrName>
                                        </p:attrNameLst>
                                      </p:cBhvr>
                                      <p:to>
                                        <a:srgbClr val="CCCCFF"/>
                                      </p:to>
                                    </p:animClr>
                                    <p:set>
                                      <p:cBhvr>
                                        <p:cTn id="108" dur="500" fill="hold"/>
                                        <p:tgtEl>
                                          <p:spTgt spid="295"/>
                                        </p:tgtEl>
                                        <p:attrNameLst>
                                          <p:attrName>fill.type</p:attrName>
                                        </p:attrNameLst>
                                      </p:cBhvr>
                                      <p:to>
                                        <p:strVal val="solid"/>
                                      </p:to>
                                    </p:set>
                                    <p:set>
                                      <p:cBhvr>
                                        <p:cTn id="109" dur="500" fill="hold"/>
                                        <p:tgtEl>
                                          <p:spTgt spid="295"/>
                                        </p:tgtEl>
                                        <p:attrNameLst>
                                          <p:attrName>fill.on</p:attrName>
                                        </p:attrNameLst>
                                      </p:cBhvr>
                                      <p:to>
                                        <p:strVal val="true"/>
                                      </p:to>
                                    </p:set>
                                  </p:childTnLst>
                                </p:cTn>
                              </p:par>
                            </p:childTnLst>
                          </p:cTn>
                        </p:par>
                        <p:par>
                          <p:cTn id="110" fill="hold" nodeType="afterGroup">
                            <p:stCondLst>
                              <p:cond delay="9000"/>
                            </p:stCondLst>
                            <p:childTnLst>
                              <p:par>
                                <p:cTn id="111" presetID="1" presetClass="entr" presetSubtype="0" fill="hold" nodeType="afterEffect">
                                  <p:stCondLst>
                                    <p:cond delay="1000"/>
                                  </p:stCondLst>
                                  <p:childTnLst>
                                    <p:set>
                                      <p:cBhvr>
                                        <p:cTn id="112" dur="1" fill="hold">
                                          <p:stCondLst>
                                            <p:cond delay="0"/>
                                          </p:stCondLst>
                                        </p:cTn>
                                        <p:tgtEl>
                                          <p:spTgt spid="16"/>
                                        </p:tgtEl>
                                        <p:attrNameLst>
                                          <p:attrName>style.visibility</p:attrName>
                                        </p:attrNameLst>
                                      </p:cBhvr>
                                      <p:to>
                                        <p:strVal val="visible"/>
                                      </p:to>
                                    </p:set>
                                  </p:childTnLst>
                                </p:cTn>
                              </p:par>
                              <p:par>
                                <p:cTn id="113" presetID="1" presetClass="emph" presetSubtype="1" nodeType="withEffect">
                                  <p:stCondLst>
                                    <p:cond delay="0"/>
                                  </p:stCondLst>
                                  <p:childTnLst>
                                    <p:set>
                                      <p:cBhvr>
                                        <p:cTn id="114" dur="indefinite"/>
                                        <p:tgtEl>
                                          <p:spTgt spid="292"/>
                                        </p:tgtEl>
                                        <p:attrNameLst>
                                          <p:attrName>fillcolor</p:attrName>
                                        </p:attrNameLst>
                                      </p:cBhvr>
                                      <p:to>
                                        <p:clrVal>
                                          <a:srgbClr val="FFFF00"/>
                                        </p:clrVal>
                                      </p:to>
                                    </p:set>
                                    <p:set>
                                      <p:cBhvr>
                                        <p:cTn id="115" dur="indefinite"/>
                                        <p:tgtEl>
                                          <p:spTgt spid="292"/>
                                        </p:tgtEl>
                                        <p:attrNameLst>
                                          <p:attrName>fill.type</p:attrName>
                                        </p:attrNameLst>
                                      </p:cBhvr>
                                      <p:to>
                                        <p:strVal val="solid"/>
                                      </p:to>
                                    </p:set>
                                    <p:set>
                                      <p:cBhvr>
                                        <p:cTn id="116" dur="indefinite"/>
                                        <p:tgtEl>
                                          <p:spTgt spid="292"/>
                                        </p:tgtEl>
                                        <p:attrNameLst>
                                          <p:attrName>fill.on</p:attrName>
                                        </p:attrNameLst>
                                      </p:cBhvr>
                                      <p:to>
                                        <p:strVal val="true"/>
                                      </p:to>
                                    </p:set>
                                  </p:childTnLst>
                                </p:cTn>
                              </p:par>
                              <p:par>
                                <p:cTn id="117" presetID="1" presetClass="emph" presetSubtype="2" fill="hold" nodeType="withEffect">
                                  <p:stCondLst>
                                    <p:cond delay="0"/>
                                  </p:stCondLst>
                                  <p:childTnLst>
                                    <p:animClr clrSpc="rgb" dir="cw">
                                      <p:cBhvr>
                                        <p:cTn id="118" dur="500" fill="hold"/>
                                        <p:tgtEl>
                                          <p:spTgt spid="296"/>
                                        </p:tgtEl>
                                        <p:attrNameLst>
                                          <p:attrName>fillcolor</p:attrName>
                                        </p:attrNameLst>
                                      </p:cBhvr>
                                      <p:to>
                                        <a:srgbClr val="CCCCFF"/>
                                      </p:to>
                                    </p:animClr>
                                    <p:set>
                                      <p:cBhvr>
                                        <p:cTn id="119" dur="500" fill="hold"/>
                                        <p:tgtEl>
                                          <p:spTgt spid="296"/>
                                        </p:tgtEl>
                                        <p:attrNameLst>
                                          <p:attrName>fill.type</p:attrName>
                                        </p:attrNameLst>
                                      </p:cBhvr>
                                      <p:to>
                                        <p:strVal val="solid"/>
                                      </p:to>
                                    </p:set>
                                    <p:set>
                                      <p:cBhvr>
                                        <p:cTn id="120" dur="500" fill="hold"/>
                                        <p:tgtEl>
                                          <p:spTgt spid="296"/>
                                        </p:tgtEl>
                                        <p:attrNameLst>
                                          <p:attrName>fill.on</p:attrName>
                                        </p:attrNameLst>
                                      </p:cBhvr>
                                      <p:to>
                                        <p:strVal val="true"/>
                                      </p:to>
                                    </p:set>
                                  </p:childTnLst>
                                </p:cTn>
                              </p:par>
                            </p:childTnLst>
                          </p:cTn>
                        </p:par>
                        <p:par>
                          <p:cTn id="121" fill="hold" nodeType="afterGroup">
                            <p:stCondLst>
                              <p:cond delay="10000"/>
                            </p:stCondLst>
                            <p:childTnLst>
                              <p:par>
                                <p:cTn id="122" presetID="1" presetClass="entr" presetSubtype="0" fill="hold" nodeType="afterEffect">
                                  <p:stCondLst>
                                    <p:cond delay="1000"/>
                                  </p:stCondLst>
                                  <p:childTnLst>
                                    <p:set>
                                      <p:cBhvr>
                                        <p:cTn id="123" dur="1" fill="hold">
                                          <p:stCondLst>
                                            <p:cond delay="0"/>
                                          </p:stCondLst>
                                        </p:cTn>
                                        <p:tgtEl>
                                          <p:spTgt spid="17"/>
                                        </p:tgtEl>
                                        <p:attrNameLst>
                                          <p:attrName>style.visibility</p:attrName>
                                        </p:attrNameLst>
                                      </p:cBhvr>
                                      <p:to>
                                        <p:strVal val="visible"/>
                                      </p:to>
                                    </p:set>
                                  </p:childTnLst>
                                </p:cTn>
                              </p:par>
                              <p:par>
                                <p:cTn id="124" presetID="1" presetClass="emph" presetSubtype="1" nodeType="withEffect">
                                  <p:stCondLst>
                                    <p:cond delay="0"/>
                                  </p:stCondLst>
                                  <p:childTnLst>
                                    <p:set>
                                      <p:cBhvr>
                                        <p:cTn id="125" dur="indefinite"/>
                                        <p:tgtEl>
                                          <p:spTgt spid="293"/>
                                        </p:tgtEl>
                                        <p:attrNameLst>
                                          <p:attrName>fillcolor</p:attrName>
                                        </p:attrNameLst>
                                      </p:cBhvr>
                                      <p:to>
                                        <p:clrVal>
                                          <a:srgbClr val="FFFF00"/>
                                        </p:clrVal>
                                      </p:to>
                                    </p:set>
                                    <p:set>
                                      <p:cBhvr>
                                        <p:cTn id="126" dur="indefinite"/>
                                        <p:tgtEl>
                                          <p:spTgt spid="293"/>
                                        </p:tgtEl>
                                        <p:attrNameLst>
                                          <p:attrName>fill.type</p:attrName>
                                        </p:attrNameLst>
                                      </p:cBhvr>
                                      <p:to>
                                        <p:strVal val="solid"/>
                                      </p:to>
                                    </p:set>
                                    <p:set>
                                      <p:cBhvr>
                                        <p:cTn id="127" dur="indefinite"/>
                                        <p:tgtEl>
                                          <p:spTgt spid="293"/>
                                        </p:tgtEl>
                                        <p:attrNameLst>
                                          <p:attrName>fill.on</p:attrName>
                                        </p:attrNameLst>
                                      </p:cBhvr>
                                      <p:to>
                                        <p:strVal val="true"/>
                                      </p:to>
                                    </p:set>
                                  </p:childTnLst>
                                </p:cTn>
                              </p:par>
                              <p:par>
                                <p:cTn id="128" presetID="1" presetClass="emph" presetSubtype="2" fill="hold" nodeType="withEffect">
                                  <p:stCondLst>
                                    <p:cond delay="0"/>
                                  </p:stCondLst>
                                  <p:childTnLst>
                                    <p:animClr clrSpc="rgb" dir="cw">
                                      <p:cBhvr>
                                        <p:cTn id="129" dur="500" fill="hold"/>
                                        <p:tgtEl>
                                          <p:spTgt spid="292"/>
                                        </p:tgtEl>
                                        <p:attrNameLst>
                                          <p:attrName>fillcolor</p:attrName>
                                        </p:attrNameLst>
                                      </p:cBhvr>
                                      <p:to>
                                        <a:srgbClr val="CCCCFF"/>
                                      </p:to>
                                    </p:animClr>
                                    <p:set>
                                      <p:cBhvr>
                                        <p:cTn id="130" dur="500" fill="hold"/>
                                        <p:tgtEl>
                                          <p:spTgt spid="292"/>
                                        </p:tgtEl>
                                        <p:attrNameLst>
                                          <p:attrName>fill.type</p:attrName>
                                        </p:attrNameLst>
                                      </p:cBhvr>
                                      <p:to>
                                        <p:strVal val="solid"/>
                                      </p:to>
                                    </p:set>
                                    <p:set>
                                      <p:cBhvr>
                                        <p:cTn id="131" dur="500" fill="hold"/>
                                        <p:tgtEl>
                                          <p:spTgt spid="292"/>
                                        </p:tgtEl>
                                        <p:attrNameLst>
                                          <p:attrName>fill.on</p:attrName>
                                        </p:attrNameLst>
                                      </p:cBhvr>
                                      <p:to>
                                        <p:strVal val="true"/>
                                      </p:to>
                                    </p:set>
                                  </p:childTnLst>
                                </p:cTn>
                              </p:par>
                            </p:childTnLst>
                          </p:cTn>
                        </p:par>
                        <p:par>
                          <p:cTn id="132" fill="hold" nodeType="afterGroup">
                            <p:stCondLst>
                              <p:cond delay="11000"/>
                            </p:stCondLst>
                            <p:childTnLst>
                              <p:par>
                                <p:cTn id="133" presetID="1" presetClass="entr" presetSubtype="0" fill="hold" nodeType="afterEffect">
                                  <p:stCondLst>
                                    <p:cond delay="1000"/>
                                  </p:stCondLst>
                                  <p:childTnLst>
                                    <p:set>
                                      <p:cBhvr>
                                        <p:cTn id="134" dur="1" fill="hold">
                                          <p:stCondLst>
                                            <p:cond delay="0"/>
                                          </p:stCondLst>
                                        </p:cTn>
                                        <p:tgtEl>
                                          <p:spTgt spid="6"/>
                                        </p:tgtEl>
                                        <p:attrNameLst>
                                          <p:attrName>style.visibility</p:attrName>
                                        </p:attrNameLst>
                                      </p:cBhvr>
                                      <p:to>
                                        <p:strVal val="visible"/>
                                      </p:to>
                                    </p:set>
                                  </p:childTnLst>
                                </p:cTn>
                              </p:par>
                              <p:par>
                                <p:cTn id="135" presetID="1" presetClass="emph" presetSubtype="1" nodeType="withEffect">
                                  <p:stCondLst>
                                    <p:cond delay="0"/>
                                  </p:stCondLst>
                                  <p:childTnLst>
                                    <p:set>
                                      <p:cBhvr>
                                        <p:cTn id="136" dur="indefinite"/>
                                        <p:tgtEl>
                                          <p:spTgt spid="298"/>
                                        </p:tgtEl>
                                        <p:attrNameLst>
                                          <p:attrName>fillcolor</p:attrName>
                                        </p:attrNameLst>
                                      </p:cBhvr>
                                      <p:to>
                                        <p:clrVal>
                                          <a:srgbClr val="FFFF00"/>
                                        </p:clrVal>
                                      </p:to>
                                    </p:set>
                                    <p:set>
                                      <p:cBhvr>
                                        <p:cTn id="137" dur="indefinite"/>
                                        <p:tgtEl>
                                          <p:spTgt spid="298"/>
                                        </p:tgtEl>
                                        <p:attrNameLst>
                                          <p:attrName>fill.type</p:attrName>
                                        </p:attrNameLst>
                                      </p:cBhvr>
                                      <p:to>
                                        <p:strVal val="solid"/>
                                      </p:to>
                                    </p:set>
                                    <p:set>
                                      <p:cBhvr>
                                        <p:cTn id="138" dur="indefinite"/>
                                        <p:tgtEl>
                                          <p:spTgt spid="298"/>
                                        </p:tgtEl>
                                        <p:attrNameLst>
                                          <p:attrName>fill.on</p:attrName>
                                        </p:attrNameLst>
                                      </p:cBhvr>
                                      <p:to>
                                        <p:strVal val="true"/>
                                      </p:to>
                                    </p:set>
                                  </p:childTnLst>
                                </p:cTn>
                              </p:par>
                              <p:par>
                                <p:cTn id="139" presetID="1" presetClass="emph" presetSubtype="2" fill="hold" nodeType="withEffect">
                                  <p:stCondLst>
                                    <p:cond delay="0"/>
                                  </p:stCondLst>
                                  <p:childTnLst>
                                    <p:animClr clrSpc="rgb" dir="cw">
                                      <p:cBhvr>
                                        <p:cTn id="140" dur="500" fill="hold"/>
                                        <p:tgtEl>
                                          <p:spTgt spid="293"/>
                                        </p:tgtEl>
                                        <p:attrNameLst>
                                          <p:attrName>fillcolor</p:attrName>
                                        </p:attrNameLst>
                                      </p:cBhvr>
                                      <p:to>
                                        <a:srgbClr val="CCCCFF"/>
                                      </p:to>
                                    </p:animClr>
                                    <p:set>
                                      <p:cBhvr>
                                        <p:cTn id="141" dur="500" fill="hold"/>
                                        <p:tgtEl>
                                          <p:spTgt spid="293"/>
                                        </p:tgtEl>
                                        <p:attrNameLst>
                                          <p:attrName>fill.type</p:attrName>
                                        </p:attrNameLst>
                                      </p:cBhvr>
                                      <p:to>
                                        <p:strVal val="solid"/>
                                      </p:to>
                                    </p:set>
                                    <p:set>
                                      <p:cBhvr>
                                        <p:cTn id="142" dur="500" fill="hold"/>
                                        <p:tgtEl>
                                          <p:spTgt spid="293"/>
                                        </p:tgtEl>
                                        <p:attrNameLst>
                                          <p:attrName>fill.on</p:attrName>
                                        </p:attrNameLst>
                                      </p:cBhvr>
                                      <p:to>
                                        <p:strVal val="true"/>
                                      </p:to>
                                    </p:set>
                                  </p:childTnLst>
                                </p:cTn>
                              </p:par>
                            </p:childTnLst>
                          </p:cTn>
                        </p:par>
                        <p:par>
                          <p:cTn id="143" fill="hold" nodeType="afterGroup">
                            <p:stCondLst>
                              <p:cond delay="12000"/>
                            </p:stCondLst>
                            <p:childTnLst>
                              <p:par>
                                <p:cTn id="144" presetID="1" presetClass="entr" presetSubtype="0" fill="hold" nodeType="afterEffect">
                                  <p:stCondLst>
                                    <p:cond delay="1000"/>
                                  </p:stCondLst>
                                  <p:childTnLst>
                                    <p:set>
                                      <p:cBhvr>
                                        <p:cTn id="145" dur="1" fill="hold">
                                          <p:stCondLst>
                                            <p:cond delay="0"/>
                                          </p:stCondLst>
                                        </p:cTn>
                                        <p:tgtEl>
                                          <p:spTgt spid="7"/>
                                        </p:tgtEl>
                                        <p:attrNameLst>
                                          <p:attrName>style.visibility</p:attrName>
                                        </p:attrNameLst>
                                      </p:cBhvr>
                                      <p:to>
                                        <p:strVal val="visible"/>
                                      </p:to>
                                    </p:set>
                                  </p:childTnLst>
                                </p:cTn>
                              </p:par>
                              <p:par>
                                <p:cTn id="146" presetID="1" presetClass="emph" presetSubtype="1" nodeType="withEffect">
                                  <p:stCondLst>
                                    <p:cond delay="0"/>
                                  </p:stCondLst>
                                  <p:childTnLst>
                                    <p:set>
                                      <p:cBhvr>
                                        <p:cTn id="147" dur="indefinite"/>
                                        <p:tgtEl>
                                          <p:spTgt spid="299"/>
                                        </p:tgtEl>
                                        <p:attrNameLst>
                                          <p:attrName>fillcolor</p:attrName>
                                        </p:attrNameLst>
                                      </p:cBhvr>
                                      <p:to>
                                        <p:clrVal>
                                          <a:srgbClr val="FFFF00"/>
                                        </p:clrVal>
                                      </p:to>
                                    </p:set>
                                    <p:set>
                                      <p:cBhvr>
                                        <p:cTn id="148" dur="indefinite"/>
                                        <p:tgtEl>
                                          <p:spTgt spid="299"/>
                                        </p:tgtEl>
                                        <p:attrNameLst>
                                          <p:attrName>fill.type</p:attrName>
                                        </p:attrNameLst>
                                      </p:cBhvr>
                                      <p:to>
                                        <p:strVal val="solid"/>
                                      </p:to>
                                    </p:set>
                                    <p:set>
                                      <p:cBhvr>
                                        <p:cTn id="149" dur="indefinite"/>
                                        <p:tgtEl>
                                          <p:spTgt spid="299"/>
                                        </p:tgtEl>
                                        <p:attrNameLst>
                                          <p:attrName>fill.on</p:attrName>
                                        </p:attrNameLst>
                                      </p:cBhvr>
                                      <p:to>
                                        <p:strVal val="true"/>
                                      </p:to>
                                    </p:set>
                                  </p:childTnLst>
                                </p:cTn>
                              </p:par>
                              <p:par>
                                <p:cTn id="150" presetID="1" presetClass="emph" presetSubtype="2" fill="hold" nodeType="withEffect">
                                  <p:stCondLst>
                                    <p:cond delay="0"/>
                                  </p:stCondLst>
                                  <p:childTnLst>
                                    <p:animClr clrSpc="rgb" dir="cw">
                                      <p:cBhvr>
                                        <p:cTn id="151" dur="500" fill="hold"/>
                                        <p:tgtEl>
                                          <p:spTgt spid="298"/>
                                        </p:tgtEl>
                                        <p:attrNameLst>
                                          <p:attrName>fillcolor</p:attrName>
                                        </p:attrNameLst>
                                      </p:cBhvr>
                                      <p:to>
                                        <a:srgbClr val="CCCCFF"/>
                                      </p:to>
                                    </p:animClr>
                                    <p:set>
                                      <p:cBhvr>
                                        <p:cTn id="152" dur="500" fill="hold"/>
                                        <p:tgtEl>
                                          <p:spTgt spid="298"/>
                                        </p:tgtEl>
                                        <p:attrNameLst>
                                          <p:attrName>fill.type</p:attrName>
                                        </p:attrNameLst>
                                      </p:cBhvr>
                                      <p:to>
                                        <p:strVal val="solid"/>
                                      </p:to>
                                    </p:set>
                                    <p:set>
                                      <p:cBhvr>
                                        <p:cTn id="153" dur="500" fill="hold"/>
                                        <p:tgtEl>
                                          <p:spTgt spid="298"/>
                                        </p:tgtEl>
                                        <p:attrNameLst>
                                          <p:attrName>fill.on</p:attrName>
                                        </p:attrNameLst>
                                      </p:cBhvr>
                                      <p:to>
                                        <p:strVal val="true"/>
                                      </p:to>
                                    </p:set>
                                  </p:childTnLst>
                                </p:cTn>
                              </p:par>
                            </p:childTnLst>
                          </p:cTn>
                        </p:par>
                        <p:par>
                          <p:cTn id="154" fill="hold" nodeType="afterGroup">
                            <p:stCondLst>
                              <p:cond delay="13000"/>
                            </p:stCondLst>
                            <p:childTnLst>
                              <p:par>
                                <p:cTn id="155" presetID="1" presetClass="entr" presetSubtype="0" fill="hold" nodeType="afterEffect">
                                  <p:stCondLst>
                                    <p:cond delay="1000"/>
                                  </p:stCondLst>
                                  <p:childTnLst>
                                    <p:set>
                                      <p:cBhvr>
                                        <p:cTn id="156" dur="1" fill="hold">
                                          <p:stCondLst>
                                            <p:cond delay="0"/>
                                          </p:stCondLst>
                                        </p:cTn>
                                        <p:tgtEl>
                                          <p:spTgt spid="8"/>
                                        </p:tgtEl>
                                        <p:attrNameLst>
                                          <p:attrName>style.visibility</p:attrName>
                                        </p:attrNameLst>
                                      </p:cBhvr>
                                      <p:to>
                                        <p:strVal val="visible"/>
                                      </p:to>
                                    </p:set>
                                  </p:childTnLst>
                                </p:cTn>
                              </p:par>
                              <p:par>
                                <p:cTn id="157" presetID="1" presetClass="emph" presetSubtype="2" fill="hold" nodeType="withEffect">
                                  <p:stCondLst>
                                    <p:cond delay="0"/>
                                  </p:stCondLst>
                                  <p:childTnLst>
                                    <p:animClr clrSpc="rgb" dir="cw">
                                      <p:cBhvr>
                                        <p:cTn id="158" dur="500" fill="hold"/>
                                        <p:tgtEl>
                                          <p:spTgt spid="299"/>
                                        </p:tgtEl>
                                        <p:attrNameLst>
                                          <p:attrName>fillcolor</p:attrName>
                                        </p:attrNameLst>
                                      </p:cBhvr>
                                      <p:to>
                                        <a:srgbClr val="CCCCFF"/>
                                      </p:to>
                                    </p:animClr>
                                    <p:set>
                                      <p:cBhvr>
                                        <p:cTn id="159" dur="500" fill="hold"/>
                                        <p:tgtEl>
                                          <p:spTgt spid="299"/>
                                        </p:tgtEl>
                                        <p:attrNameLst>
                                          <p:attrName>fill.type</p:attrName>
                                        </p:attrNameLst>
                                      </p:cBhvr>
                                      <p:to>
                                        <p:strVal val="solid"/>
                                      </p:to>
                                    </p:set>
                                    <p:set>
                                      <p:cBhvr>
                                        <p:cTn id="160" dur="500" fill="hold"/>
                                        <p:tgtEl>
                                          <p:spTgt spid="299"/>
                                        </p:tgtEl>
                                        <p:attrNameLst>
                                          <p:attrName>fill.on</p:attrName>
                                        </p:attrNameLst>
                                      </p:cBhvr>
                                      <p:to>
                                        <p:strVal val="true"/>
                                      </p:to>
                                    </p:set>
                                  </p:childTnLst>
                                </p:cTn>
                              </p:par>
                            </p:childTnLst>
                          </p:cTn>
                        </p:par>
                        <p:par>
                          <p:cTn id="161" fill="hold" nodeType="afterGroup">
                            <p:stCondLst>
                              <p:cond delay="14000"/>
                            </p:stCondLst>
                            <p:childTnLst>
                              <p:par>
                                <p:cTn id="162" presetID="1" presetClass="entr" presetSubtype="0" fill="hold" nodeType="afterEffect">
                                  <p:stCondLst>
                                    <p:cond delay="1000"/>
                                  </p:stCondLst>
                                  <p:childTnLst>
                                    <p:set>
                                      <p:cBhvr>
                                        <p:cTn id="163" dur="1" fill="hold">
                                          <p:stCondLst>
                                            <p:cond delay="0"/>
                                          </p:stCondLst>
                                        </p:cTn>
                                        <p:tgtEl>
                                          <p:spTgt spid="9"/>
                                        </p:tgtEl>
                                        <p:attrNameLst>
                                          <p:attrName>style.visibility</p:attrName>
                                        </p:attrNameLst>
                                      </p:cBhvr>
                                      <p:to>
                                        <p:strVal val="visible"/>
                                      </p:to>
                                    </p:set>
                                  </p:childTnLst>
                                </p:cTn>
                              </p:par>
                            </p:childTnLst>
                          </p:cTn>
                        </p:par>
                      </p:childTnLst>
                    </p:cTn>
                  </p:par>
                  <p:par>
                    <p:cTn id="164" fill="hold" nodeType="clickPar">
                      <p:stCondLst>
                        <p:cond delay="indefinite"/>
                      </p:stCondLst>
                      <p:childTnLst>
                        <p:par>
                          <p:cTn id="165" fill="hold" nodeType="withGroup">
                            <p:stCondLst>
                              <p:cond delay="0"/>
                            </p:stCondLst>
                            <p:childTnLst>
                              <p:par>
                                <p:cTn id="166" presetID="1" presetClass="entr" presetSubtype="0" fill="hold" nodeType="clickEffect">
                                  <p:stCondLst>
                                    <p:cond delay="0"/>
                                  </p:stCondLst>
                                  <p:childTnLst>
                                    <p:set>
                                      <p:cBhvr>
                                        <p:cTn id="167" dur="1" fill="hold">
                                          <p:stCondLst>
                                            <p:cond delay="0"/>
                                          </p:stCondLst>
                                        </p:cTn>
                                        <p:tgtEl>
                                          <p:spTgt spid="31"/>
                                        </p:tgtEl>
                                        <p:attrNameLst>
                                          <p:attrName>style.visibility</p:attrName>
                                        </p:attrNameLst>
                                      </p:cBhvr>
                                      <p:to>
                                        <p:strVal val="visible"/>
                                      </p:to>
                                    </p:set>
                                  </p:childTnLst>
                                </p:cTn>
                              </p:par>
                            </p:childTnLst>
                          </p:cTn>
                        </p:par>
                      </p:childTnLst>
                    </p:cTn>
                  </p:par>
                  <p:par>
                    <p:cTn id="168" fill="hold" nodeType="clickPar">
                      <p:stCondLst>
                        <p:cond delay="indefinite"/>
                      </p:stCondLst>
                      <p:childTnLst>
                        <p:par>
                          <p:cTn id="169" fill="hold" nodeType="withGroup">
                            <p:stCondLst>
                              <p:cond delay="0"/>
                            </p:stCondLst>
                            <p:childTnLst>
                              <p:par>
                                <p:cTn id="170" presetID="1" presetClass="entr" presetSubtype="0" fill="hold" nodeType="clickEffect">
                                  <p:stCondLst>
                                    <p:cond delay="0"/>
                                  </p:stCondLst>
                                  <p:childTnLst>
                                    <p:set>
                                      <p:cBhvr>
                                        <p:cTn id="171" dur="1" fill="hold">
                                          <p:stCondLst>
                                            <p:cond delay="0"/>
                                          </p:stCondLst>
                                        </p:cTn>
                                        <p:tgtEl>
                                          <p:spTgt spid="18"/>
                                        </p:tgtEl>
                                        <p:attrNameLst>
                                          <p:attrName>style.visibility</p:attrName>
                                        </p:attrNameLst>
                                      </p:cBhvr>
                                      <p:to>
                                        <p:strVal val="visible"/>
                                      </p:to>
                                    </p:set>
                                  </p:childTnLst>
                                </p:cTn>
                              </p:par>
                              <p:par>
                                <p:cTn id="172" presetID="1" presetClass="emph" presetSubtype="2" fill="hold" nodeType="withEffect">
                                  <p:stCondLst>
                                    <p:cond delay="0"/>
                                  </p:stCondLst>
                                  <p:childTnLst>
                                    <p:animClr clrSpc="rgb" dir="cw">
                                      <p:cBhvr>
                                        <p:cTn id="173" dur="500" fill="hold"/>
                                        <p:tgtEl>
                                          <p:spTgt spid="280"/>
                                        </p:tgtEl>
                                        <p:attrNameLst>
                                          <p:attrName>fillcolor</p:attrName>
                                        </p:attrNameLst>
                                      </p:cBhvr>
                                      <p:to>
                                        <a:srgbClr val="FFFF99"/>
                                      </p:to>
                                    </p:animClr>
                                    <p:set>
                                      <p:cBhvr>
                                        <p:cTn id="174" dur="500" fill="hold"/>
                                        <p:tgtEl>
                                          <p:spTgt spid="280"/>
                                        </p:tgtEl>
                                        <p:attrNameLst>
                                          <p:attrName>fill.type</p:attrName>
                                        </p:attrNameLst>
                                      </p:cBhvr>
                                      <p:to>
                                        <p:strVal val="solid"/>
                                      </p:to>
                                    </p:set>
                                    <p:set>
                                      <p:cBhvr>
                                        <p:cTn id="175" dur="500" fill="hold"/>
                                        <p:tgtEl>
                                          <p:spTgt spid="280"/>
                                        </p:tgtEl>
                                        <p:attrNameLst>
                                          <p:attrName>fill.on</p:attrName>
                                        </p:attrNameLst>
                                      </p:cBhvr>
                                      <p:to>
                                        <p:strVal val="true"/>
                                      </p:to>
                                    </p:set>
                                  </p:childTnLst>
                                </p:cTn>
                              </p:par>
                            </p:childTnLst>
                          </p:cTn>
                        </p:par>
                      </p:childTnLst>
                    </p:cTn>
                  </p:par>
                  <p:par>
                    <p:cTn id="176" fill="hold" nodeType="clickPar">
                      <p:stCondLst>
                        <p:cond delay="indefinite"/>
                      </p:stCondLst>
                      <p:childTnLst>
                        <p:par>
                          <p:cTn id="177" fill="hold" nodeType="withGroup">
                            <p:stCondLst>
                              <p:cond delay="0"/>
                            </p:stCondLst>
                            <p:childTnLst>
                              <p:par>
                                <p:cTn id="178" presetID="1" presetClass="entr" presetSubtype="0" fill="hold" nodeType="clickEffect">
                                  <p:stCondLst>
                                    <p:cond delay="0"/>
                                  </p:stCondLst>
                                  <p:childTnLst>
                                    <p:set>
                                      <p:cBhvr>
                                        <p:cTn id="179" dur="1" fill="hold">
                                          <p:stCondLst>
                                            <p:cond delay="0"/>
                                          </p:stCondLst>
                                        </p:cTn>
                                        <p:tgtEl>
                                          <p:spTgt spid="19"/>
                                        </p:tgtEl>
                                        <p:attrNameLst>
                                          <p:attrName>style.visibility</p:attrName>
                                        </p:attrNameLst>
                                      </p:cBhvr>
                                      <p:to>
                                        <p:strVal val="visible"/>
                                      </p:to>
                                    </p:set>
                                  </p:childTnLst>
                                </p:cTn>
                              </p:par>
                              <p:par>
                                <p:cTn id="180" presetID="1" presetClass="emph" presetSubtype="2" fill="hold" nodeType="withEffect">
                                  <p:stCondLst>
                                    <p:cond delay="0"/>
                                  </p:stCondLst>
                                  <p:childTnLst>
                                    <p:animClr clrSpc="rgb" dir="cw">
                                      <p:cBhvr>
                                        <p:cTn id="181" dur="500" fill="hold"/>
                                        <p:tgtEl>
                                          <p:spTgt spid="280"/>
                                        </p:tgtEl>
                                        <p:attrNameLst>
                                          <p:attrName>fillcolor</p:attrName>
                                        </p:attrNameLst>
                                      </p:cBhvr>
                                      <p:to>
                                        <a:srgbClr val="CCCCFF"/>
                                      </p:to>
                                    </p:animClr>
                                    <p:set>
                                      <p:cBhvr>
                                        <p:cTn id="182" dur="500" fill="hold"/>
                                        <p:tgtEl>
                                          <p:spTgt spid="280"/>
                                        </p:tgtEl>
                                        <p:attrNameLst>
                                          <p:attrName>fill.type</p:attrName>
                                        </p:attrNameLst>
                                      </p:cBhvr>
                                      <p:to>
                                        <p:strVal val="solid"/>
                                      </p:to>
                                    </p:set>
                                    <p:set>
                                      <p:cBhvr>
                                        <p:cTn id="183" dur="500" fill="hold"/>
                                        <p:tgtEl>
                                          <p:spTgt spid="280"/>
                                        </p:tgtEl>
                                        <p:attrNameLst>
                                          <p:attrName>fill.on</p:attrName>
                                        </p:attrNameLst>
                                      </p:cBhvr>
                                      <p:to>
                                        <p:strVal val="true"/>
                                      </p:to>
                                    </p:set>
                                  </p:childTnLst>
                                </p:cTn>
                              </p:par>
                              <p:par>
                                <p:cTn id="184" presetID="1" presetClass="emph" presetSubtype="1" nodeType="withEffect">
                                  <p:stCondLst>
                                    <p:cond delay="0"/>
                                  </p:stCondLst>
                                  <p:childTnLst>
                                    <p:set>
                                      <p:cBhvr>
                                        <p:cTn id="185" dur="indefinite"/>
                                        <p:tgtEl>
                                          <p:spTgt spid="281"/>
                                        </p:tgtEl>
                                        <p:attrNameLst>
                                          <p:attrName>fillcolor</p:attrName>
                                        </p:attrNameLst>
                                      </p:cBhvr>
                                      <p:to>
                                        <p:clrVal>
                                          <a:srgbClr val="FFFF00"/>
                                        </p:clrVal>
                                      </p:to>
                                    </p:set>
                                    <p:set>
                                      <p:cBhvr>
                                        <p:cTn id="186" dur="indefinite"/>
                                        <p:tgtEl>
                                          <p:spTgt spid="281"/>
                                        </p:tgtEl>
                                        <p:attrNameLst>
                                          <p:attrName>fill.type</p:attrName>
                                        </p:attrNameLst>
                                      </p:cBhvr>
                                      <p:to>
                                        <p:strVal val="solid"/>
                                      </p:to>
                                    </p:set>
                                    <p:set>
                                      <p:cBhvr>
                                        <p:cTn id="187" dur="indefinite"/>
                                        <p:tgtEl>
                                          <p:spTgt spid="281"/>
                                        </p:tgtEl>
                                        <p:attrNameLst>
                                          <p:attrName>fill.on</p:attrName>
                                        </p:attrNameLst>
                                      </p:cBhvr>
                                      <p:to>
                                        <p:strVal val="true"/>
                                      </p:to>
                                    </p:set>
                                  </p:childTnLst>
                                </p:cTn>
                              </p:par>
                            </p:childTnLst>
                          </p:cTn>
                        </p:par>
                      </p:childTnLst>
                    </p:cTn>
                  </p:par>
                  <p:par>
                    <p:cTn id="188" fill="hold" nodeType="clickPar">
                      <p:stCondLst>
                        <p:cond delay="indefinite"/>
                      </p:stCondLst>
                      <p:childTnLst>
                        <p:par>
                          <p:cTn id="189" fill="hold" nodeType="withGroup">
                            <p:stCondLst>
                              <p:cond delay="0"/>
                            </p:stCondLst>
                            <p:childTnLst>
                              <p:par>
                                <p:cTn id="190" presetID="1" presetClass="entr" presetSubtype="0" fill="hold" nodeType="clickEffect">
                                  <p:stCondLst>
                                    <p:cond delay="0"/>
                                  </p:stCondLst>
                                  <p:childTnLst>
                                    <p:set>
                                      <p:cBhvr>
                                        <p:cTn id="191" dur="1" fill="hold">
                                          <p:stCondLst>
                                            <p:cond delay="0"/>
                                          </p:stCondLst>
                                        </p:cTn>
                                        <p:tgtEl>
                                          <p:spTgt spid="20"/>
                                        </p:tgtEl>
                                        <p:attrNameLst>
                                          <p:attrName>style.visibility</p:attrName>
                                        </p:attrNameLst>
                                      </p:cBhvr>
                                      <p:to>
                                        <p:strVal val="visible"/>
                                      </p:to>
                                    </p:set>
                                  </p:childTnLst>
                                </p:cTn>
                              </p:par>
                              <p:par>
                                <p:cTn id="192" presetID="1" presetClass="emph" presetSubtype="2" fill="hold" nodeType="withEffect">
                                  <p:stCondLst>
                                    <p:cond delay="0"/>
                                  </p:stCondLst>
                                  <p:childTnLst>
                                    <p:animClr clrSpc="rgb" dir="cw">
                                      <p:cBhvr>
                                        <p:cTn id="193" dur="500" fill="hold"/>
                                        <p:tgtEl>
                                          <p:spTgt spid="281"/>
                                        </p:tgtEl>
                                        <p:attrNameLst>
                                          <p:attrName>fillcolor</p:attrName>
                                        </p:attrNameLst>
                                      </p:cBhvr>
                                      <p:to>
                                        <a:srgbClr val="CCCCFF"/>
                                      </p:to>
                                    </p:animClr>
                                    <p:set>
                                      <p:cBhvr>
                                        <p:cTn id="194" dur="500" fill="hold"/>
                                        <p:tgtEl>
                                          <p:spTgt spid="281"/>
                                        </p:tgtEl>
                                        <p:attrNameLst>
                                          <p:attrName>fill.type</p:attrName>
                                        </p:attrNameLst>
                                      </p:cBhvr>
                                      <p:to>
                                        <p:strVal val="solid"/>
                                      </p:to>
                                    </p:set>
                                    <p:set>
                                      <p:cBhvr>
                                        <p:cTn id="195" dur="500" fill="hold"/>
                                        <p:tgtEl>
                                          <p:spTgt spid="281"/>
                                        </p:tgtEl>
                                        <p:attrNameLst>
                                          <p:attrName>fill.on</p:attrName>
                                        </p:attrNameLst>
                                      </p:cBhvr>
                                      <p:to>
                                        <p:strVal val="true"/>
                                      </p:to>
                                    </p:set>
                                  </p:childTnLst>
                                </p:cTn>
                              </p:par>
                              <p:par>
                                <p:cTn id="196" presetID="1" presetClass="emph" presetSubtype="1" nodeType="withEffect">
                                  <p:stCondLst>
                                    <p:cond delay="0"/>
                                  </p:stCondLst>
                                  <p:childTnLst>
                                    <p:set>
                                      <p:cBhvr>
                                        <p:cTn id="197" dur="indefinite"/>
                                        <p:tgtEl>
                                          <p:spTgt spid="283"/>
                                        </p:tgtEl>
                                        <p:attrNameLst>
                                          <p:attrName>fillcolor</p:attrName>
                                        </p:attrNameLst>
                                      </p:cBhvr>
                                      <p:to>
                                        <p:clrVal>
                                          <a:srgbClr val="FFFF00"/>
                                        </p:clrVal>
                                      </p:to>
                                    </p:set>
                                    <p:set>
                                      <p:cBhvr>
                                        <p:cTn id="198" dur="indefinite"/>
                                        <p:tgtEl>
                                          <p:spTgt spid="283"/>
                                        </p:tgtEl>
                                        <p:attrNameLst>
                                          <p:attrName>fill.type</p:attrName>
                                        </p:attrNameLst>
                                      </p:cBhvr>
                                      <p:to>
                                        <p:strVal val="solid"/>
                                      </p:to>
                                    </p:set>
                                    <p:set>
                                      <p:cBhvr>
                                        <p:cTn id="199" dur="indefinite"/>
                                        <p:tgtEl>
                                          <p:spTgt spid="283"/>
                                        </p:tgtEl>
                                        <p:attrNameLst>
                                          <p:attrName>fill.on</p:attrName>
                                        </p:attrNameLst>
                                      </p:cBhvr>
                                      <p:to>
                                        <p:strVal val="true"/>
                                      </p:to>
                                    </p:set>
                                  </p:childTnLst>
                                </p:cTn>
                              </p:par>
                              <p:par>
                                <p:cTn id="200" presetID="1" presetClass="emph" presetSubtype="1" nodeType="withEffect">
                                  <p:stCondLst>
                                    <p:cond delay="0"/>
                                  </p:stCondLst>
                                  <p:childTnLst>
                                    <p:set>
                                      <p:cBhvr>
                                        <p:cTn id="201" dur="indefinite"/>
                                        <p:tgtEl>
                                          <p:spTgt spid="284"/>
                                        </p:tgtEl>
                                        <p:attrNameLst>
                                          <p:attrName>fillcolor</p:attrName>
                                        </p:attrNameLst>
                                      </p:cBhvr>
                                      <p:to>
                                        <p:clrVal>
                                          <a:srgbClr val="FFFF00"/>
                                        </p:clrVal>
                                      </p:to>
                                    </p:set>
                                    <p:set>
                                      <p:cBhvr>
                                        <p:cTn id="202" dur="indefinite"/>
                                        <p:tgtEl>
                                          <p:spTgt spid="284"/>
                                        </p:tgtEl>
                                        <p:attrNameLst>
                                          <p:attrName>fill.type</p:attrName>
                                        </p:attrNameLst>
                                      </p:cBhvr>
                                      <p:to>
                                        <p:strVal val="solid"/>
                                      </p:to>
                                    </p:set>
                                    <p:set>
                                      <p:cBhvr>
                                        <p:cTn id="203" dur="indefinite"/>
                                        <p:tgtEl>
                                          <p:spTgt spid="284"/>
                                        </p:tgtEl>
                                        <p:attrNameLst>
                                          <p:attrName>fill.on</p:attrName>
                                        </p:attrNameLst>
                                      </p:cBhvr>
                                      <p:to>
                                        <p:strVal val="true"/>
                                      </p:to>
                                    </p:set>
                                  </p:childTnLst>
                                </p:cTn>
                              </p:par>
                            </p:childTnLst>
                          </p:cTn>
                        </p:par>
                      </p:childTnLst>
                    </p:cTn>
                  </p:par>
                  <p:par>
                    <p:cTn id="204" fill="hold" nodeType="clickPar">
                      <p:stCondLst>
                        <p:cond delay="indefinite"/>
                      </p:stCondLst>
                      <p:childTnLst>
                        <p:par>
                          <p:cTn id="205" fill="hold" nodeType="withGroup">
                            <p:stCondLst>
                              <p:cond delay="0"/>
                            </p:stCondLst>
                            <p:childTnLst>
                              <p:par>
                                <p:cTn id="206" presetID="1" presetClass="entr" presetSubtype="0" fill="hold" nodeType="clickEffect">
                                  <p:stCondLst>
                                    <p:cond delay="0"/>
                                  </p:stCondLst>
                                  <p:childTnLst>
                                    <p:set>
                                      <p:cBhvr>
                                        <p:cTn id="207" dur="1" fill="hold">
                                          <p:stCondLst>
                                            <p:cond delay="0"/>
                                          </p:stCondLst>
                                        </p:cTn>
                                        <p:tgtEl>
                                          <p:spTgt spid="21"/>
                                        </p:tgtEl>
                                        <p:attrNameLst>
                                          <p:attrName>style.visibility</p:attrName>
                                        </p:attrNameLst>
                                      </p:cBhvr>
                                      <p:to>
                                        <p:strVal val="visible"/>
                                      </p:to>
                                    </p:set>
                                  </p:childTnLst>
                                </p:cTn>
                              </p:par>
                            </p:childTnLst>
                          </p:cTn>
                        </p:par>
                      </p:childTnLst>
                    </p:cTn>
                  </p:par>
                  <p:par>
                    <p:cTn id="208" fill="hold" nodeType="clickPar">
                      <p:stCondLst>
                        <p:cond delay="indefinite"/>
                      </p:stCondLst>
                      <p:childTnLst>
                        <p:par>
                          <p:cTn id="209" fill="hold" nodeType="withGroup">
                            <p:stCondLst>
                              <p:cond delay="0"/>
                            </p:stCondLst>
                            <p:childTnLst>
                              <p:par>
                                <p:cTn id="210" presetID="1" presetClass="entr" presetSubtype="0" fill="hold" nodeType="clickEffect">
                                  <p:stCondLst>
                                    <p:cond delay="0"/>
                                  </p:stCondLst>
                                  <p:childTnLst>
                                    <p:set>
                                      <p:cBhvr>
                                        <p:cTn id="211" dur="1" fill="hold">
                                          <p:stCondLst>
                                            <p:cond delay="0"/>
                                          </p:stCondLst>
                                        </p:cTn>
                                        <p:tgtEl>
                                          <p:spTgt spid="26"/>
                                        </p:tgtEl>
                                        <p:attrNameLst>
                                          <p:attrName>style.visibility</p:attrName>
                                        </p:attrNameLst>
                                      </p:cBhvr>
                                      <p:to>
                                        <p:strVal val="visible"/>
                                      </p:to>
                                    </p:set>
                                  </p:childTnLst>
                                </p:cTn>
                              </p:par>
                              <p:par>
                                <p:cTn id="212" presetID="1" presetClass="emph" presetSubtype="2" fill="hold" nodeType="withEffect">
                                  <p:stCondLst>
                                    <p:cond delay="0"/>
                                  </p:stCondLst>
                                  <p:childTnLst>
                                    <p:animClr clrSpc="rgb" dir="cw">
                                      <p:cBhvr>
                                        <p:cTn id="213" dur="500" fill="hold"/>
                                        <p:tgtEl>
                                          <p:spTgt spid="283"/>
                                        </p:tgtEl>
                                        <p:attrNameLst>
                                          <p:attrName>fillcolor</p:attrName>
                                        </p:attrNameLst>
                                      </p:cBhvr>
                                      <p:to>
                                        <a:srgbClr val="CCCCFF"/>
                                      </p:to>
                                    </p:animClr>
                                    <p:set>
                                      <p:cBhvr>
                                        <p:cTn id="214" dur="500" fill="hold"/>
                                        <p:tgtEl>
                                          <p:spTgt spid="283"/>
                                        </p:tgtEl>
                                        <p:attrNameLst>
                                          <p:attrName>fill.type</p:attrName>
                                        </p:attrNameLst>
                                      </p:cBhvr>
                                      <p:to>
                                        <p:strVal val="solid"/>
                                      </p:to>
                                    </p:set>
                                    <p:set>
                                      <p:cBhvr>
                                        <p:cTn id="215" dur="500" fill="hold"/>
                                        <p:tgtEl>
                                          <p:spTgt spid="283"/>
                                        </p:tgtEl>
                                        <p:attrNameLst>
                                          <p:attrName>fill.on</p:attrName>
                                        </p:attrNameLst>
                                      </p:cBhvr>
                                      <p:to>
                                        <p:strVal val="true"/>
                                      </p:to>
                                    </p:set>
                                  </p:childTnLst>
                                </p:cTn>
                              </p:par>
                              <p:par>
                                <p:cTn id="216" presetID="1" presetClass="emph" presetSubtype="2" fill="hold" nodeType="withEffect">
                                  <p:stCondLst>
                                    <p:cond delay="0"/>
                                  </p:stCondLst>
                                  <p:childTnLst>
                                    <p:animClr clrSpc="rgb" dir="cw">
                                      <p:cBhvr>
                                        <p:cTn id="217" dur="500" fill="hold"/>
                                        <p:tgtEl>
                                          <p:spTgt spid="284"/>
                                        </p:tgtEl>
                                        <p:attrNameLst>
                                          <p:attrName>fillcolor</p:attrName>
                                        </p:attrNameLst>
                                      </p:cBhvr>
                                      <p:to>
                                        <a:srgbClr val="CCCCFF"/>
                                      </p:to>
                                    </p:animClr>
                                    <p:set>
                                      <p:cBhvr>
                                        <p:cTn id="218" dur="500" fill="hold"/>
                                        <p:tgtEl>
                                          <p:spTgt spid="284"/>
                                        </p:tgtEl>
                                        <p:attrNameLst>
                                          <p:attrName>fill.type</p:attrName>
                                        </p:attrNameLst>
                                      </p:cBhvr>
                                      <p:to>
                                        <p:strVal val="solid"/>
                                      </p:to>
                                    </p:set>
                                    <p:set>
                                      <p:cBhvr>
                                        <p:cTn id="219" dur="500" fill="hold"/>
                                        <p:tgtEl>
                                          <p:spTgt spid="284"/>
                                        </p:tgtEl>
                                        <p:attrNameLst>
                                          <p:attrName>fill.on</p:attrName>
                                        </p:attrNameLst>
                                      </p:cBhvr>
                                      <p:to>
                                        <p:strVal val="true"/>
                                      </p:to>
                                    </p:set>
                                  </p:childTnLst>
                                </p:cTn>
                              </p:par>
                              <p:par>
                                <p:cTn id="220" presetID="1" presetClass="emph" presetSubtype="1" nodeType="withEffect">
                                  <p:stCondLst>
                                    <p:cond delay="0"/>
                                  </p:stCondLst>
                                  <p:childTnLst>
                                    <p:set>
                                      <p:cBhvr>
                                        <p:cTn id="221" dur="indefinite"/>
                                        <p:tgtEl>
                                          <p:spTgt spid="286"/>
                                        </p:tgtEl>
                                        <p:attrNameLst>
                                          <p:attrName>fillcolor</p:attrName>
                                        </p:attrNameLst>
                                      </p:cBhvr>
                                      <p:to>
                                        <p:clrVal>
                                          <a:srgbClr val="FFFF00"/>
                                        </p:clrVal>
                                      </p:to>
                                    </p:set>
                                    <p:set>
                                      <p:cBhvr>
                                        <p:cTn id="222" dur="indefinite"/>
                                        <p:tgtEl>
                                          <p:spTgt spid="286"/>
                                        </p:tgtEl>
                                        <p:attrNameLst>
                                          <p:attrName>fill.type</p:attrName>
                                        </p:attrNameLst>
                                      </p:cBhvr>
                                      <p:to>
                                        <p:strVal val="solid"/>
                                      </p:to>
                                    </p:set>
                                    <p:set>
                                      <p:cBhvr>
                                        <p:cTn id="223" dur="indefinite"/>
                                        <p:tgtEl>
                                          <p:spTgt spid="286"/>
                                        </p:tgtEl>
                                        <p:attrNameLst>
                                          <p:attrName>fill.on</p:attrName>
                                        </p:attrNameLst>
                                      </p:cBhvr>
                                      <p:to>
                                        <p:strVal val="true"/>
                                      </p:to>
                                    </p:set>
                                  </p:childTnLst>
                                </p:cTn>
                              </p:par>
                              <p:par>
                                <p:cTn id="224" presetID="1" presetClass="emph" presetSubtype="1" nodeType="withEffect">
                                  <p:stCondLst>
                                    <p:cond delay="0"/>
                                  </p:stCondLst>
                                  <p:childTnLst>
                                    <p:set>
                                      <p:cBhvr>
                                        <p:cTn id="225" dur="indefinite"/>
                                        <p:tgtEl>
                                          <p:spTgt spid="287"/>
                                        </p:tgtEl>
                                        <p:attrNameLst>
                                          <p:attrName>fillcolor</p:attrName>
                                        </p:attrNameLst>
                                      </p:cBhvr>
                                      <p:to>
                                        <p:clrVal>
                                          <a:srgbClr val="FFFF00"/>
                                        </p:clrVal>
                                      </p:to>
                                    </p:set>
                                    <p:set>
                                      <p:cBhvr>
                                        <p:cTn id="226" dur="indefinite"/>
                                        <p:tgtEl>
                                          <p:spTgt spid="287"/>
                                        </p:tgtEl>
                                        <p:attrNameLst>
                                          <p:attrName>fill.type</p:attrName>
                                        </p:attrNameLst>
                                      </p:cBhvr>
                                      <p:to>
                                        <p:strVal val="solid"/>
                                      </p:to>
                                    </p:set>
                                    <p:set>
                                      <p:cBhvr>
                                        <p:cTn id="227" dur="indefinite"/>
                                        <p:tgtEl>
                                          <p:spTgt spid="287"/>
                                        </p:tgtEl>
                                        <p:attrNameLst>
                                          <p:attrName>fill.on</p:attrName>
                                        </p:attrNameLst>
                                      </p:cBhvr>
                                      <p:to>
                                        <p:strVal val="true"/>
                                      </p:to>
                                    </p:set>
                                  </p:childTnLst>
                                </p:cTn>
                              </p:par>
                              <p:par>
                                <p:cTn id="228" presetID="1" presetClass="entr" presetSubtype="0" fill="hold" nodeType="withEffect">
                                  <p:stCondLst>
                                    <p:cond delay="0"/>
                                  </p:stCondLst>
                                  <p:childTnLst>
                                    <p:set>
                                      <p:cBhvr>
                                        <p:cTn id="229" dur="1" fill="hold">
                                          <p:stCondLst>
                                            <p:cond delay="0"/>
                                          </p:stCondLst>
                                        </p:cTn>
                                        <p:tgtEl>
                                          <p:spTgt spid="81928"/>
                                        </p:tgtEl>
                                        <p:attrNameLst>
                                          <p:attrName>style.visibility</p:attrName>
                                        </p:attrNameLst>
                                      </p:cBhvr>
                                      <p:to>
                                        <p:strVal val="visible"/>
                                      </p:to>
                                    </p:set>
                                  </p:childTnLst>
                                </p:cTn>
                              </p:par>
                            </p:childTnLst>
                          </p:cTn>
                        </p:par>
                      </p:childTnLst>
                    </p:cTn>
                  </p:par>
                  <p:par>
                    <p:cTn id="230" fill="hold" nodeType="clickPar">
                      <p:stCondLst>
                        <p:cond delay="indefinite"/>
                      </p:stCondLst>
                      <p:childTnLst>
                        <p:par>
                          <p:cTn id="231" fill="hold" nodeType="withGroup">
                            <p:stCondLst>
                              <p:cond delay="0"/>
                            </p:stCondLst>
                            <p:childTnLst>
                              <p:par>
                                <p:cTn id="232" presetID="1" presetClass="entr" presetSubtype="0" fill="hold" nodeType="clickEffect">
                                  <p:stCondLst>
                                    <p:cond delay="0"/>
                                  </p:stCondLst>
                                  <p:childTnLst>
                                    <p:set>
                                      <p:cBhvr>
                                        <p:cTn id="233" dur="1" fill="hold">
                                          <p:stCondLst>
                                            <p:cond delay="0"/>
                                          </p:stCondLst>
                                        </p:cTn>
                                        <p:tgtEl>
                                          <p:spTgt spid="27"/>
                                        </p:tgtEl>
                                        <p:attrNameLst>
                                          <p:attrName>style.visibility</p:attrName>
                                        </p:attrNameLst>
                                      </p:cBhvr>
                                      <p:to>
                                        <p:strVal val="visible"/>
                                      </p:to>
                                    </p:set>
                                  </p:childTnLst>
                                </p:cTn>
                              </p:par>
                              <p:par>
                                <p:cTn id="234" presetID="1" presetClass="emph" presetSubtype="2" fill="hold" nodeType="withEffect">
                                  <p:stCondLst>
                                    <p:cond delay="0"/>
                                  </p:stCondLst>
                                  <p:childTnLst>
                                    <p:animClr clrSpc="rgb" dir="cw">
                                      <p:cBhvr>
                                        <p:cTn id="235" dur="500" fill="hold"/>
                                        <p:tgtEl>
                                          <p:spTgt spid="286"/>
                                        </p:tgtEl>
                                        <p:attrNameLst>
                                          <p:attrName>fillcolor</p:attrName>
                                        </p:attrNameLst>
                                      </p:cBhvr>
                                      <p:to>
                                        <a:srgbClr val="CCCCFF"/>
                                      </p:to>
                                    </p:animClr>
                                    <p:set>
                                      <p:cBhvr>
                                        <p:cTn id="236" dur="500" fill="hold"/>
                                        <p:tgtEl>
                                          <p:spTgt spid="286"/>
                                        </p:tgtEl>
                                        <p:attrNameLst>
                                          <p:attrName>fill.type</p:attrName>
                                        </p:attrNameLst>
                                      </p:cBhvr>
                                      <p:to>
                                        <p:strVal val="solid"/>
                                      </p:to>
                                    </p:set>
                                    <p:set>
                                      <p:cBhvr>
                                        <p:cTn id="237" dur="500" fill="hold"/>
                                        <p:tgtEl>
                                          <p:spTgt spid="286"/>
                                        </p:tgtEl>
                                        <p:attrNameLst>
                                          <p:attrName>fill.on</p:attrName>
                                        </p:attrNameLst>
                                      </p:cBhvr>
                                      <p:to>
                                        <p:strVal val="true"/>
                                      </p:to>
                                    </p:set>
                                  </p:childTnLst>
                                </p:cTn>
                              </p:par>
                              <p:par>
                                <p:cTn id="238" presetID="1" presetClass="emph" presetSubtype="2" fill="hold" nodeType="withEffect">
                                  <p:stCondLst>
                                    <p:cond delay="0"/>
                                  </p:stCondLst>
                                  <p:childTnLst>
                                    <p:animClr clrSpc="rgb" dir="cw">
                                      <p:cBhvr>
                                        <p:cTn id="239" dur="500" fill="hold"/>
                                        <p:tgtEl>
                                          <p:spTgt spid="287"/>
                                        </p:tgtEl>
                                        <p:attrNameLst>
                                          <p:attrName>fillcolor</p:attrName>
                                        </p:attrNameLst>
                                      </p:cBhvr>
                                      <p:to>
                                        <a:srgbClr val="CCCCFF"/>
                                      </p:to>
                                    </p:animClr>
                                    <p:set>
                                      <p:cBhvr>
                                        <p:cTn id="240" dur="500" fill="hold"/>
                                        <p:tgtEl>
                                          <p:spTgt spid="287"/>
                                        </p:tgtEl>
                                        <p:attrNameLst>
                                          <p:attrName>fill.type</p:attrName>
                                        </p:attrNameLst>
                                      </p:cBhvr>
                                      <p:to>
                                        <p:strVal val="solid"/>
                                      </p:to>
                                    </p:set>
                                    <p:set>
                                      <p:cBhvr>
                                        <p:cTn id="241" dur="500" fill="hold"/>
                                        <p:tgtEl>
                                          <p:spTgt spid="287"/>
                                        </p:tgtEl>
                                        <p:attrNameLst>
                                          <p:attrName>fill.on</p:attrName>
                                        </p:attrNameLst>
                                      </p:cBhvr>
                                      <p:to>
                                        <p:strVal val="true"/>
                                      </p:to>
                                    </p:set>
                                  </p:childTnLst>
                                </p:cTn>
                              </p:par>
                              <p:par>
                                <p:cTn id="242" presetID="1" presetClass="emph" presetSubtype="1" nodeType="withEffect">
                                  <p:stCondLst>
                                    <p:cond delay="0"/>
                                  </p:stCondLst>
                                  <p:childTnLst>
                                    <p:set>
                                      <p:cBhvr>
                                        <p:cTn id="243" dur="indefinite"/>
                                        <p:tgtEl>
                                          <p:spTgt spid="289"/>
                                        </p:tgtEl>
                                        <p:attrNameLst>
                                          <p:attrName>fillcolor</p:attrName>
                                        </p:attrNameLst>
                                      </p:cBhvr>
                                      <p:to>
                                        <p:clrVal>
                                          <a:srgbClr val="FFFF00"/>
                                        </p:clrVal>
                                      </p:to>
                                    </p:set>
                                    <p:set>
                                      <p:cBhvr>
                                        <p:cTn id="244" dur="indefinite"/>
                                        <p:tgtEl>
                                          <p:spTgt spid="289"/>
                                        </p:tgtEl>
                                        <p:attrNameLst>
                                          <p:attrName>fill.type</p:attrName>
                                        </p:attrNameLst>
                                      </p:cBhvr>
                                      <p:to>
                                        <p:strVal val="solid"/>
                                      </p:to>
                                    </p:set>
                                    <p:set>
                                      <p:cBhvr>
                                        <p:cTn id="245" dur="indefinite"/>
                                        <p:tgtEl>
                                          <p:spTgt spid="289"/>
                                        </p:tgtEl>
                                        <p:attrNameLst>
                                          <p:attrName>fill.on</p:attrName>
                                        </p:attrNameLst>
                                      </p:cBhvr>
                                      <p:to>
                                        <p:strVal val="true"/>
                                      </p:to>
                                    </p:set>
                                  </p:childTnLst>
                                </p:cTn>
                              </p:par>
                              <p:par>
                                <p:cTn id="246" presetID="1" presetClass="emph" presetSubtype="1" nodeType="withEffect">
                                  <p:stCondLst>
                                    <p:cond delay="0"/>
                                  </p:stCondLst>
                                  <p:childTnLst>
                                    <p:set>
                                      <p:cBhvr>
                                        <p:cTn id="247" dur="indefinite"/>
                                        <p:tgtEl>
                                          <p:spTgt spid="290"/>
                                        </p:tgtEl>
                                        <p:attrNameLst>
                                          <p:attrName>fillcolor</p:attrName>
                                        </p:attrNameLst>
                                      </p:cBhvr>
                                      <p:to>
                                        <p:clrVal>
                                          <a:srgbClr val="FFFF00"/>
                                        </p:clrVal>
                                      </p:to>
                                    </p:set>
                                    <p:set>
                                      <p:cBhvr>
                                        <p:cTn id="248" dur="indefinite"/>
                                        <p:tgtEl>
                                          <p:spTgt spid="290"/>
                                        </p:tgtEl>
                                        <p:attrNameLst>
                                          <p:attrName>fill.type</p:attrName>
                                        </p:attrNameLst>
                                      </p:cBhvr>
                                      <p:to>
                                        <p:strVal val="solid"/>
                                      </p:to>
                                    </p:set>
                                    <p:set>
                                      <p:cBhvr>
                                        <p:cTn id="249" dur="indefinite"/>
                                        <p:tgtEl>
                                          <p:spTgt spid="290"/>
                                        </p:tgtEl>
                                        <p:attrNameLst>
                                          <p:attrName>fill.on</p:attrName>
                                        </p:attrNameLst>
                                      </p:cBhvr>
                                      <p:to>
                                        <p:strVal val="true"/>
                                      </p:to>
                                    </p:set>
                                  </p:childTnLst>
                                </p:cTn>
                              </p:par>
                              <p:par>
                                <p:cTn id="250" presetID="1" presetClass="entr" presetSubtype="0" fill="hold" nodeType="withEffect">
                                  <p:stCondLst>
                                    <p:cond delay="0"/>
                                  </p:stCondLst>
                                  <p:childTnLst>
                                    <p:set>
                                      <p:cBhvr>
                                        <p:cTn id="251" dur="1" fill="hold">
                                          <p:stCondLst>
                                            <p:cond delay="0"/>
                                          </p:stCondLst>
                                        </p:cTn>
                                        <p:tgtEl>
                                          <p:spTgt spid="81929"/>
                                        </p:tgtEl>
                                        <p:attrNameLst>
                                          <p:attrName>style.visibility</p:attrName>
                                        </p:attrNameLst>
                                      </p:cBhvr>
                                      <p:to>
                                        <p:strVal val="visible"/>
                                      </p:to>
                                    </p:set>
                                  </p:childTnLst>
                                </p:cTn>
                              </p:par>
                              <p:par>
                                <p:cTn id="252" presetID="9" presetClass="emph" presetSubtype="0" nodeType="withEffect">
                                  <p:stCondLst>
                                    <p:cond delay="0"/>
                                  </p:stCondLst>
                                  <p:childTnLst>
                                    <p:set>
                                      <p:cBhvr rctx="PPT">
                                        <p:cTn id="253" dur="indefinite"/>
                                        <p:tgtEl>
                                          <p:spTgt spid="81928"/>
                                        </p:tgtEl>
                                        <p:attrNameLst>
                                          <p:attrName>style.opacity</p:attrName>
                                        </p:attrNameLst>
                                      </p:cBhvr>
                                      <p:to>
                                        <p:strVal val="0.5"/>
                                      </p:to>
                                    </p:set>
                                    <p:animEffect filter="image" prLst="opacity: 0.5">
                                      <p:cBhvr rctx="IE">
                                        <p:cTn id="254" dur="indefinite"/>
                                        <p:tgtEl>
                                          <p:spTgt spid="81928"/>
                                        </p:tgtEl>
                                      </p:cBhvr>
                                    </p:animEffect>
                                  </p:childTnLst>
                                </p:cTn>
                              </p:par>
                            </p:childTnLst>
                          </p:cTn>
                        </p:par>
                      </p:childTnLst>
                    </p:cTn>
                  </p:par>
                  <p:par>
                    <p:cTn id="255" fill="hold" nodeType="clickPar">
                      <p:stCondLst>
                        <p:cond delay="indefinite"/>
                      </p:stCondLst>
                      <p:childTnLst>
                        <p:par>
                          <p:cTn id="256" fill="hold" nodeType="withGroup">
                            <p:stCondLst>
                              <p:cond delay="0"/>
                            </p:stCondLst>
                            <p:childTnLst>
                              <p:par>
                                <p:cTn id="257" presetID="1" presetClass="entr" presetSubtype="0" fill="hold" nodeType="clickEffect">
                                  <p:stCondLst>
                                    <p:cond delay="0"/>
                                  </p:stCondLst>
                                  <p:childTnLst>
                                    <p:set>
                                      <p:cBhvr>
                                        <p:cTn id="258" dur="1" fill="hold">
                                          <p:stCondLst>
                                            <p:cond delay="0"/>
                                          </p:stCondLst>
                                        </p:cTn>
                                        <p:tgtEl>
                                          <p:spTgt spid="28"/>
                                        </p:tgtEl>
                                        <p:attrNameLst>
                                          <p:attrName>style.visibility</p:attrName>
                                        </p:attrNameLst>
                                      </p:cBhvr>
                                      <p:to>
                                        <p:strVal val="visible"/>
                                      </p:to>
                                    </p:set>
                                  </p:childTnLst>
                                </p:cTn>
                              </p:par>
                              <p:par>
                                <p:cTn id="259" presetID="1" presetClass="emph" presetSubtype="2" fill="hold" nodeType="withEffect">
                                  <p:stCondLst>
                                    <p:cond delay="0"/>
                                  </p:stCondLst>
                                  <p:childTnLst>
                                    <p:animClr clrSpc="rgb" dir="cw">
                                      <p:cBhvr>
                                        <p:cTn id="260" dur="500" fill="hold"/>
                                        <p:tgtEl>
                                          <p:spTgt spid="289"/>
                                        </p:tgtEl>
                                        <p:attrNameLst>
                                          <p:attrName>fillcolor</p:attrName>
                                        </p:attrNameLst>
                                      </p:cBhvr>
                                      <p:to>
                                        <a:srgbClr val="CCCCFF"/>
                                      </p:to>
                                    </p:animClr>
                                    <p:set>
                                      <p:cBhvr>
                                        <p:cTn id="261" dur="500" fill="hold"/>
                                        <p:tgtEl>
                                          <p:spTgt spid="289"/>
                                        </p:tgtEl>
                                        <p:attrNameLst>
                                          <p:attrName>fill.type</p:attrName>
                                        </p:attrNameLst>
                                      </p:cBhvr>
                                      <p:to>
                                        <p:strVal val="solid"/>
                                      </p:to>
                                    </p:set>
                                    <p:set>
                                      <p:cBhvr>
                                        <p:cTn id="262" dur="500" fill="hold"/>
                                        <p:tgtEl>
                                          <p:spTgt spid="289"/>
                                        </p:tgtEl>
                                        <p:attrNameLst>
                                          <p:attrName>fill.on</p:attrName>
                                        </p:attrNameLst>
                                      </p:cBhvr>
                                      <p:to>
                                        <p:strVal val="true"/>
                                      </p:to>
                                    </p:set>
                                  </p:childTnLst>
                                </p:cTn>
                              </p:par>
                              <p:par>
                                <p:cTn id="263" presetID="1" presetClass="emph" presetSubtype="2" fill="hold" nodeType="withEffect">
                                  <p:stCondLst>
                                    <p:cond delay="0"/>
                                  </p:stCondLst>
                                  <p:childTnLst>
                                    <p:animClr clrSpc="rgb" dir="cw">
                                      <p:cBhvr>
                                        <p:cTn id="264" dur="500" fill="hold"/>
                                        <p:tgtEl>
                                          <p:spTgt spid="290"/>
                                        </p:tgtEl>
                                        <p:attrNameLst>
                                          <p:attrName>fillcolor</p:attrName>
                                        </p:attrNameLst>
                                      </p:cBhvr>
                                      <p:to>
                                        <a:srgbClr val="CCCCFF"/>
                                      </p:to>
                                    </p:animClr>
                                    <p:set>
                                      <p:cBhvr>
                                        <p:cTn id="265" dur="500" fill="hold"/>
                                        <p:tgtEl>
                                          <p:spTgt spid="290"/>
                                        </p:tgtEl>
                                        <p:attrNameLst>
                                          <p:attrName>fill.type</p:attrName>
                                        </p:attrNameLst>
                                      </p:cBhvr>
                                      <p:to>
                                        <p:strVal val="solid"/>
                                      </p:to>
                                    </p:set>
                                    <p:set>
                                      <p:cBhvr>
                                        <p:cTn id="266" dur="500" fill="hold"/>
                                        <p:tgtEl>
                                          <p:spTgt spid="290"/>
                                        </p:tgtEl>
                                        <p:attrNameLst>
                                          <p:attrName>fill.on</p:attrName>
                                        </p:attrNameLst>
                                      </p:cBhvr>
                                      <p:to>
                                        <p:strVal val="true"/>
                                      </p:to>
                                    </p:set>
                                  </p:childTnLst>
                                </p:cTn>
                              </p:par>
                              <p:par>
                                <p:cTn id="267" presetID="1" presetClass="emph" presetSubtype="1" nodeType="withEffect">
                                  <p:stCondLst>
                                    <p:cond delay="0"/>
                                  </p:stCondLst>
                                  <p:childTnLst>
                                    <p:set>
                                      <p:cBhvr>
                                        <p:cTn id="268" dur="indefinite"/>
                                        <p:tgtEl>
                                          <p:spTgt spid="295"/>
                                        </p:tgtEl>
                                        <p:attrNameLst>
                                          <p:attrName>fillcolor</p:attrName>
                                        </p:attrNameLst>
                                      </p:cBhvr>
                                      <p:to>
                                        <p:clrVal>
                                          <a:srgbClr val="FFFF00"/>
                                        </p:clrVal>
                                      </p:to>
                                    </p:set>
                                    <p:set>
                                      <p:cBhvr>
                                        <p:cTn id="269" dur="indefinite"/>
                                        <p:tgtEl>
                                          <p:spTgt spid="295"/>
                                        </p:tgtEl>
                                        <p:attrNameLst>
                                          <p:attrName>fill.type</p:attrName>
                                        </p:attrNameLst>
                                      </p:cBhvr>
                                      <p:to>
                                        <p:strVal val="solid"/>
                                      </p:to>
                                    </p:set>
                                    <p:set>
                                      <p:cBhvr>
                                        <p:cTn id="270" dur="indefinite"/>
                                        <p:tgtEl>
                                          <p:spTgt spid="295"/>
                                        </p:tgtEl>
                                        <p:attrNameLst>
                                          <p:attrName>fill.on</p:attrName>
                                        </p:attrNameLst>
                                      </p:cBhvr>
                                      <p:to>
                                        <p:strVal val="true"/>
                                      </p:to>
                                    </p:set>
                                  </p:childTnLst>
                                </p:cTn>
                              </p:par>
                              <p:par>
                                <p:cTn id="271" presetID="1" presetClass="emph" presetSubtype="1" nodeType="withEffect">
                                  <p:stCondLst>
                                    <p:cond delay="0"/>
                                  </p:stCondLst>
                                  <p:childTnLst>
                                    <p:set>
                                      <p:cBhvr>
                                        <p:cTn id="272" dur="indefinite"/>
                                        <p:tgtEl>
                                          <p:spTgt spid="296"/>
                                        </p:tgtEl>
                                        <p:attrNameLst>
                                          <p:attrName>fillcolor</p:attrName>
                                        </p:attrNameLst>
                                      </p:cBhvr>
                                      <p:to>
                                        <p:clrVal>
                                          <a:srgbClr val="FFFF00"/>
                                        </p:clrVal>
                                      </p:to>
                                    </p:set>
                                    <p:set>
                                      <p:cBhvr>
                                        <p:cTn id="273" dur="indefinite"/>
                                        <p:tgtEl>
                                          <p:spTgt spid="296"/>
                                        </p:tgtEl>
                                        <p:attrNameLst>
                                          <p:attrName>fill.type</p:attrName>
                                        </p:attrNameLst>
                                      </p:cBhvr>
                                      <p:to>
                                        <p:strVal val="solid"/>
                                      </p:to>
                                    </p:set>
                                    <p:set>
                                      <p:cBhvr>
                                        <p:cTn id="274" dur="indefinite"/>
                                        <p:tgtEl>
                                          <p:spTgt spid="296"/>
                                        </p:tgtEl>
                                        <p:attrNameLst>
                                          <p:attrName>fill.on</p:attrName>
                                        </p:attrNameLst>
                                      </p:cBhvr>
                                      <p:to>
                                        <p:strVal val="true"/>
                                      </p:to>
                                    </p:set>
                                  </p:childTnLst>
                                </p:cTn>
                              </p:par>
                              <p:par>
                                <p:cTn id="275" presetID="9" presetClass="emph" presetSubtype="0" nodeType="withEffect">
                                  <p:stCondLst>
                                    <p:cond delay="0"/>
                                  </p:stCondLst>
                                  <p:childTnLst>
                                    <p:set>
                                      <p:cBhvr rctx="PPT">
                                        <p:cTn id="276" dur="indefinite"/>
                                        <p:tgtEl>
                                          <p:spTgt spid="81929"/>
                                        </p:tgtEl>
                                        <p:attrNameLst>
                                          <p:attrName>style.opacity</p:attrName>
                                        </p:attrNameLst>
                                      </p:cBhvr>
                                      <p:to>
                                        <p:strVal val="0.5"/>
                                      </p:to>
                                    </p:set>
                                    <p:animEffect filter="image" prLst="opacity: 0.5">
                                      <p:cBhvr rctx="IE">
                                        <p:cTn id="277" dur="indefinite"/>
                                        <p:tgtEl>
                                          <p:spTgt spid="81929"/>
                                        </p:tgtEl>
                                      </p:cBhvr>
                                    </p:animEffect>
                                  </p:childTnLst>
                                </p:cTn>
                              </p:par>
                            </p:childTnLst>
                          </p:cTn>
                        </p:par>
                      </p:childTnLst>
                    </p:cTn>
                  </p:par>
                  <p:par>
                    <p:cTn id="278" fill="hold" nodeType="clickPar">
                      <p:stCondLst>
                        <p:cond delay="indefinite"/>
                      </p:stCondLst>
                      <p:childTnLst>
                        <p:par>
                          <p:cTn id="279" fill="hold" nodeType="withGroup">
                            <p:stCondLst>
                              <p:cond delay="0"/>
                            </p:stCondLst>
                            <p:childTnLst>
                              <p:par>
                                <p:cTn id="280" presetID="1" presetClass="entr" presetSubtype="0" fill="hold" nodeType="clickEffect">
                                  <p:stCondLst>
                                    <p:cond delay="0"/>
                                  </p:stCondLst>
                                  <p:childTnLst>
                                    <p:set>
                                      <p:cBhvr>
                                        <p:cTn id="281" dur="1" fill="hold">
                                          <p:stCondLst>
                                            <p:cond delay="0"/>
                                          </p:stCondLst>
                                        </p:cTn>
                                        <p:tgtEl>
                                          <p:spTgt spid="29"/>
                                        </p:tgtEl>
                                        <p:attrNameLst>
                                          <p:attrName>style.visibility</p:attrName>
                                        </p:attrNameLst>
                                      </p:cBhvr>
                                      <p:to>
                                        <p:strVal val="visible"/>
                                      </p:to>
                                    </p:set>
                                  </p:childTnLst>
                                </p:cTn>
                              </p:par>
                            </p:childTnLst>
                          </p:cTn>
                        </p:par>
                      </p:childTnLst>
                    </p:cTn>
                  </p:par>
                  <p:par>
                    <p:cTn id="282" fill="hold" nodeType="clickPar">
                      <p:stCondLst>
                        <p:cond delay="indefinite"/>
                      </p:stCondLst>
                      <p:childTnLst>
                        <p:par>
                          <p:cTn id="283" fill="hold" nodeType="withGroup">
                            <p:stCondLst>
                              <p:cond delay="0"/>
                            </p:stCondLst>
                            <p:childTnLst>
                              <p:par>
                                <p:cTn id="284" presetID="1" presetClass="entr" presetSubtype="0" fill="hold" nodeType="clickEffect">
                                  <p:stCondLst>
                                    <p:cond delay="0"/>
                                  </p:stCondLst>
                                  <p:childTnLst>
                                    <p:set>
                                      <p:cBhvr>
                                        <p:cTn id="285" dur="1" fill="hold">
                                          <p:stCondLst>
                                            <p:cond delay="0"/>
                                          </p:stCondLst>
                                        </p:cTn>
                                        <p:tgtEl>
                                          <p:spTgt spid="30"/>
                                        </p:tgtEl>
                                        <p:attrNameLst>
                                          <p:attrName>style.visibility</p:attrName>
                                        </p:attrNameLst>
                                      </p:cBhvr>
                                      <p:to>
                                        <p:strVal val="visible"/>
                                      </p:to>
                                    </p:set>
                                  </p:childTnLst>
                                </p:cTn>
                              </p:par>
                              <p:par>
                                <p:cTn id="286" presetID="1" presetClass="emph" presetSubtype="2" fill="hold" nodeType="withEffect">
                                  <p:stCondLst>
                                    <p:cond delay="0"/>
                                  </p:stCondLst>
                                  <p:childTnLst>
                                    <p:animClr clrSpc="rgb" dir="cw">
                                      <p:cBhvr>
                                        <p:cTn id="287" dur="500" fill="hold"/>
                                        <p:tgtEl>
                                          <p:spTgt spid="295"/>
                                        </p:tgtEl>
                                        <p:attrNameLst>
                                          <p:attrName>fillcolor</p:attrName>
                                        </p:attrNameLst>
                                      </p:cBhvr>
                                      <p:to>
                                        <a:srgbClr val="CCCCFF"/>
                                      </p:to>
                                    </p:animClr>
                                    <p:set>
                                      <p:cBhvr>
                                        <p:cTn id="288" dur="500" fill="hold"/>
                                        <p:tgtEl>
                                          <p:spTgt spid="295"/>
                                        </p:tgtEl>
                                        <p:attrNameLst>
                                          <p:attrName>fill.type</p:attrName>
                                        </p:attrNameLst>
                                      </p:cBhvr>
                                      <p:to>
                                        <p:strVal val="solid"/>
                                      </p:to>
                                    </p:set>
                                    <p:set>
                                      <p:cBhvr>
                                        <p:cTn id="289" dur="500" fill="hold"/>
                                        <p:tgtEl>
                                          <p:spTgt spid="295"/>
                                        </p:tgtEl>
                                        <p:attrNameLst>
                                          <p:attrName>fill.on</p:attrName>
                                        </p:attrNameLst>
                                      </p:cBhvr>
                                      <p:to>
                                        <p:strVal val="true"/>
                                      </p:to>
                                    </p:set>
                                  </p:childTnLst>
                                </p:cTn>
                              </p:par>
                              <p:par>
                                <p:cTn id="290" presetID="1" presetClass="emph" presetSubtype="2" fill="hold" nodeType="withEffect">
                                  <p:stCondLst>
                                    <p:cond delay="0"/>
                                  </p:stCondLst>
                                  <p:childTnLst>
                                    <p:animClr clrSpc="rgb" dir="cw">
                                      <p:cBhvr>
                                        <p:cTn id="291" dur="500" fill="hold"/>
                                        <p:tgtEl>
                                          <p:spTgt spid="296"/>
                                        </p:tgtEl>
                                        <p:attrNameLst>
                                          <p:attrName>fillcolor</p:attrName>
                                        </p:attrNameLst>
                                      </p:cBhvr>
                                      <p:to>
                                        <a:srgbClr val="CCCCFF"/>
                                      </p:to>
                                    </p:animClr>
                                    <p:set>
                                      <p:cBhvr>
                                        <p:cTn id="292" dur="500" fill="hold"/>
                                        <p:tgtEl>
                                          <p:spTgt spid="296"/>
                                        </p:tgtEl>
                                        <p:attrNameLst>
                                          <p:attrName>fill.type</p:attrName>
                                        </p:attrNameLst>
                                      </p:cBhvr>
                                      <p:to>
                                        <p:strVal val="solid"/>
                                      </p:to>
                                    </p:set>
                                    <p:set>
                                      <p:cBhvr>
                                        <p:cTn id="293" dur="500" fill="hold"/>
                                        <p:tgtEl>
                                          <p:spTgt spid="296"/>
                                        </p:tgtEl>
                                        <p:attrNameLst>
                                          <p:attrName>fill.on</p:attrName>
                                        </p:attrNameLst>
                                      </p:cBhvr>
                                      <p:to>
                                        <p:strVal val="true"/>
                                      </p:to>
                                    </p:set>
                                  </p:childTnLst>
                                </p:cTn>
                              </p:par>
                              <p:par>
                                <p:cTn id="294" presetID="1" presetClass="emph" presetSubtype="1" nodeType="withEffect">
                                  <p:stCondLst>
                                    <p:cond delay="0"/>
                                  </p:stCondLst>
                                  <p:childTnLst>
                                    <p:set>
                                      <p:cBhvr>
                                        <p:cTn id="295" dur="indefinite"/>
                                        <p:tgtEl>
                                          <p:spTgt spid="292"/>
                                        </p:tgtEl>
                                        <p:attrNameLst>
                                          <p:attrName>fillcolor</p:attrName>
                                        </p:attrNameLst>
                                      </p:cBhvr>
                                      <p:to>
                                        <p:clrVal>
                                          <a:srgbClr val="FFFF00"/>
                                        </p:clrVal>
                                      </p:to>
                                    </p:set>
                                    <p:set>
                                      <p:cBhvr>
                                        <p:cTn id="296" dur="indefinite"/>
                                        <p:tgtEl>
                                          <p:spTgt spid="292"/>
                                        </p:tgtEl>
                                        <p:attrNameLst>
                                          <p:attrName>fill.type</p:attrName>
                                        </p:attrNameLst>
                                      </p:cBhvr>
                                      <p:to>
                                        <p:strVal val="solid"/>
                                      </p:to>
                                    </p:set>
                                    <p:set>
                                      <p:cBhvr>
                                        <p:cTn id="297" dur="indefinite"/>
                                        <p:tgtEl>
                                          <p:spTgt spid="292"/>
                                        </p:tgtEl>
                                        <p:attrNameLst>
                                          <p:attrName>fill.on</p:attrName>
                                        </p:attrNameLst>
                                      </p:cBhvr>
                                      <p:to>
                                        <p:strVal val="true"/>
                                      </p:to>
                                    </p:set>
                                  </p:childTnLst>
                                </p:cTn>
                              </p:par>
                              <p:par>
                                <p:cTn id="298" presetID="1" presetClass="emph" presetSubtype="1" nodeType="withEffect">
                                  <p:stCondLst>
                                    <p:cond delay="0"/>
                                  </p:stCondLst>
                                  <p:childTnLst>
                                    <p:set>
                                      <p:cBhvr>
                                        <p:cTn id="299" dur="indefinite"/>
                                        <p:tgtEl>
                                          <p:spTgt spid="293"/>
                                        </p:tgtEl>
                                        <p:attrNameLst>
                                          <p:attrName>fillcolor</p:attrName>
                                        </p:attrNameLst>
                                      </p:cBhvr>
                                      <p:to>
                                        <p:clrVal>
                                          <a:srgbClr val="FFFF00"/>
                                        </p:clrVal>
                                      </p:to>
                                    </p:set>
                                    <p:set>
                                      <p:cBhvr>
                                        <p:cTn id="300" dur="indefinite"/>
                                        <p:tgtEl>
                                          <p:spTgt spid="293"/>
                                        </p:tgtEl>
                                        <p:attrNameLst>
                                          <p:attrName>fill.type</p:attrName>
                                        </p:attrNameLst>
                                      </p:cBhvr>
                                      <p:to>
                                        <p:strVal val="solid"/>
                                      </p:to>
                                    </p:set>
                                    <p:set>
                                      <p:cBhvr>
                                        <p:cTn id="301" dur="indefinite"/>
                                        <p:tgtEl>
                                          <p:spTgt spid="293"/>
                                        </p:tgtEl>
                                        <p:attrNameLst>
                                          <p:attrName>fill.on</p:attrName>
                                        </p:attrNameLst>
                                      </p:cBhvr>
                                      <p:to>
                                        <p:strVal val="true"/>
                                      </p:to>
                                    </p:set>
                                  </p:childTnLst>
                                </p:cTn>
                              </p:par>
                              <p:par>
                                <p:cTn id="302" presetID="1" presetClass="entr" presetSubtype="0" fill="hold" nodeType="withEffect">
                                  <p:stCondLst>
                                    <p:cond delay="0"/>
                                  </p:stCondLst>
                                  <p:childTnLst>
                                    <p:set>
                                      <p:cBhvr>
                                        <p:cTn id="303" dur="1" fill="hold">
                                          <p:stCondLst>
                                            <p:cond delay="0"/>
                                          </p:stCondLst>
                                        </p:cTn>
                                        <p:tgtEl>
                                          <p:spTgt spid="81930"/>
                                        </p:tgtEl>
                                        <p:attrNameLst>
                                          <p:attrName>style.visibility</p:attrName>
                                        </p:attrNameLst>
                                      </p:cBhvr>
                                      <p:to>
                                        <p:strVal val="visible"/>
                                      </p:to>
                                    </p:set>
                                  </p:childTnLst>
                                </p:cTn>
                              </p:par>
                            </p:childTnLst>
                          </p:cTn>
                        </p:par>
                      </p:childTnLst>
                    </p:cTn>
                  </p:par>
                  <p:par>
                    <p:cTn id="304" fill="hold" nodeType="clickPar">
                      <p:stCondLst>
                        <p:cond delay="indefinite"/>
                      </p:stCondLst>
                      <p:childTnLst>
                        <p:par>
                          <p:cTn id="305" fill="hold" nodeType="withGroup">
                            <p:stCondLst>
                              <p:cond delay="0"/>
                            </p:stCondLst>
                            <p:childTnLst>
                              <p:par>
                                <p:cTn id="306" presetID="1" presetClass="entr" presetSubtype="0" fill="hold" nodeType="clickEffect">
                                  <p:stCondLst>
                                    <p:cond delay="0"/>
                                  </p:stCondLst>
                                  <p:childTnLst>
                                    <p:set>
                                      <p:cBhvr>
                                        <p:cTn id="307" dur="1" fill="hold">
                                          <p:stCondLst>
                                            <p:cond delay="0"/>
                                          </p:stCondLst>
                                        </p:cTn>
                                        <p:tgtEl>
                                          <p:spTgt spid="22"/>
                                        </p:tgtEl>
                                        <p:attrNameLst>
                                          <p:attrName>style.visibility</p:attrName>
                                        </p:attrNameLst>
                                      </p:cBhvr>
                                      <p:to>
                                        <p:strVal val="visible"/>
                                      </p:to>
                                    </p:set>
                                  </p:childTnLst>
                                </p:cTn>
                              </p:par>
                              <p:par>
                                <p:cTn id="308" presetID="1" presetClass="emph" presetSubtype="2" fill="hold" nodeType="withEffect">
                                  <p:stCondLst>
                                    <p:cond delay="0"/>
                                  </p:stCondLst>
                                  <p:childTnLst>
                                    <p:animClr clrSpc="rgb" dir="cw">
                                      <p:cBhvr>
                                        <p:cTn id="309" dur="500" fill="hold"/>
                                        <p:tgtEl>
                                          <p:spTgt spid="292"/>
                                        </p:tgtEl>
                                        <p:attrNameLst>
                                          <p:attrName>fillcolor</p:attrName>
                                        </p:attrNameLst>
                                      </p:cBhvr>
                                      <p:to>
                                        <a:srgbClr val="CCCCFF"/>
                                      </p:to>
                                    </p:animClr>
                                    <p:set>
                                      <p:cBhvr>
                                        <p:cTn id="310" dur="500" fill="hold"/>
                                        <p:tgtEl>
                                          <p:spTgt spid="292"/>
                                        </p:tgtEl>
                                        <p:attrNameLst>
                                          <p:attrName>fill.type</p:attrName>
                                        </p:attrNameLst>
                                      </p:cBhvr>
                                      <p:to>
                                        <p:strVal val="solid"/>
                                      </p:to>
                                    </p:set>
                                    <p:set>
                                      <p:cBhvr>
                                        <p:cTn id="311" dur="500" fill="hold"/>
                                        <p:tgtEl>
                                          <p:spTgt spid="292"/>
                                        </p:tgtEl>
                                        <p:attrNameLst>
                                          <p:attrName>fill.on</p:attrName>
                                        </p:attrNameLst>
                                      </p:cBhvr>
                                      <p:to>
                                        <p:strVal val="true"/>
                                      </p:to>
                                    </p:set>
                                  </p:childTnLst>
                                </p:cTn>
                              </p:par>
                              <p:par>
                                <p:cTn id="312" presetID="1" presetClass="emph" presetSubtype="2" fill="hold" nodeType="withEffect">
                                  <p:stCondLst>
                                    <p:cond delay="0"/>
                                  </p:stCondLst>
                                  <p:childTnLst>
                                    <p:animClr clrSpc="rgb" dir="cw">
                                      <p:cBhvr>
                                        <p:cTn id="313" dur="500" fill="hold"/>
                                        <p:tgtEl>
                                          <p:spTgt spid="293"/>
                                        </p:tgtEl>
                                        <p:attrNameLst>
                                          <p:attrName>fillcolor</p:attrName>
                                        </p:attrNameLst>
                                      </p:cBhvr>
                                      <p:to>
                                        <a:srgbClr val="CCCCFF"/>
                                      </p:to>
                                    </p:animClr>
                                    <p:set>
                                      <p:cBhvr>
                                        <p:cTn id="314" dur="500" fill="hold"/>
                                        <p:tgtEl>
                                          <p:spTgt spid="293"/>
                                        </p:tgtEl>
                                        <p:attrNameLst>
                                          <p:attrName>fill.type</p:attrName>
                                        </p:attrNameLst>
                                      </p:cBhvr>
                                      <p:to>
                                        <p:strVal val="solid"/>
                                      </p:to>
                                    </p:set>
                                    <p:set>
                                      <p:cBhvr>
                                        <p:cTn id="315" dur="500" fill="hold"/>
                                        <p:tgtEl>
                                          <p:spTgt spid="293"/>
                                        </p:tgtEl>
                                        <p:attrNameLst>
                                          <p:attrName>fill.on</p:attrName>
                                        </p:attrNameLst>
                                      </p:cBhvr>
                                      <p:to>
                                        <p:strVal val="true"/>
                                      </p:to>
                                    </p:set>
                                  </p:childTnLst>
                                </p:cTn>
                              </p:par>
                              <p:par>
                                <p:cTn id="316" presetID="1" presetClass="emph" presetSubtype="1" nodeType="withEffect">
                                  <p:stCondLst>
                                    <p:cond delay="0"/>
                                  </p:stCondLst>
                                  <p:childTnLst>
                                    <p:set>
                                      <p:cBhvr>
                                        <p:cTn id="317" dur="indefinite"/>
                                        <p:tgtEl>
                                          <p:spTgt spid="298"/>
                                        </p:tgtEl>
                                        <p:attrNameLst>
                                          <p:attrName>fillcolor</p:attrName>
                                        </p:attrNameLst>
                                      </p:cBhvr>
                                      <p:to>
                                        <p:clrVal>
                                          <a:srgbClr val="FFFF00"/>
                                        </p:clrVal>
                                      </p:to>
                                    </p:set>
                                    <p:set>
                                      <p:cBhvr>
                                        <p:cTn id="318" dur="indefinite"/>
                                        <p:tgtEl>
                                          <p:spTgt spid="298"/>
                                        </p:tgtEl>
                                        <p:attrNameLst>
                                          <p:attrName>fill.type</p:attrName>
                                        </p:attrNameLst>
                                      </p:cBhvr>
                                      <p:to>
                                        <p:strVal val="solid"/>
                                      </p:to>
                                    </p:set>
                                    <p:set>
                                      <p:cBhvr>
                                        <p:cTn id="319" dur="indefinite"/>
                                        <p:tgtEl>
                                          <p:spTgt spid="298"/>
                                        </p:tgtEl>
                                        <p:attrNameLst>
                                          <p:attrName>fill.on</p:attrName>
                                        </p:attrNameLst>
                                      </p:cBhvr>
                                      <p:to>
                                        <p:strVal val="true"/>
                                      </p:to>
                                    </p:set>
                                  </p:childTnLst>
                                </p:cTn>
                              </p:par>
                              <p:par>
                                <p:cTn id="320" presetID="9" presetClass="emph" presetSubtype="0" nodeType="withEffect">
                                  <p:stCondLst>
                                    <p:cond delay="0"/>
                                  </p:stCondLst>
                                  <p:childTnLst>
                                    <p:set>
                                      <p:cBhvr rctx="PPT">
                                        <p:cTn id="321" dur="indefinite"/>
                                        <p:tgtEl>
                                          <p:spTgt spid="81930"/>
                                        </p:tgtEl>
                                        <p:attrNameLst>
                                          <p:attrName>style.opacity</p:attrName>
                                        </p:attrNameLst>
                                      </p:cBhvr>
                                      <p:to>
                                        <p:strVal val="0.5"/>
                                      </p:to>
                                    </p:set>
                                    <p:animEffect filter="image" prLst="opacity: 0.5">
                                      <p:cBhvr rctx="IE">
                                        <p:cTn id="322" dur="indefinite"/>
                                        <p:tgtEl>
                                          <p:spTgt spid="81930"/>
                                        </p:tgtEl>
                                      </p:cBhvr>
                                    </p:animEffect>
                                  </p:childTnLst>
                                </p:cTn>
                              </p:par>
                            </p:childTnLst>
                          </p:cTn>
                        </p:par>
                      </p:childTnLst>
                    </p:cTn>
                  </p:par>
                  <p:par>
                    <p:cTn id="323" fill="hold" nodeType="clickPar">
                      <p:stCondLst>
                        <p:cond delay="indefinite"/>
                      </p:stCondLst>
                      <p:childTnLst>
                        <p:par>
                          <p:cTn id="324" fill="hold" nodeType="withGroup">
                            <p:stCondLst>
                              <p:cond delay="0"/>
                            </p:stCondLst>
                            <p:childTnLst>
                              <p:par>
                                <p:cTn id="325" presetID="1" presetClass="entr" presetSubtype="0" fill="hold" nodeType="clickEffect">
                                  <p:stCondLst>
                                    <p:cond delay="0"/>
                                  </p:stCondLst>
                                  <p:childTnLst>
                                    <p:set>
                                      <p:cBhvr>
                                        <p:cTn id="326" dur="1" fill="hold">
                                          <p:stCondLst>
                                            <p:cond delay="0"/>
                                          </p:stCondLst>
                                        </p:cTn>
                                        <p:tgtEl>
                                          <p:spTgt spid="23"/>
                                        </p:tgtEl>
                                        <p:attrNameLst>
                                          <p:attrName>style.visibility</p:attrName>
                                        </p:attrNameLst>
                                      </p:cBhvr>
                                      <p:to>
                                        <p:strVal val="visible"/>
                                      </p:to>
                                    </p:set>
                                  </p:childTnLst>
                                </p:cTn>
                              </p:par>
                              <p:par>
                                <p:cTn id="327" presetID="1" presetClass="emph" presetSubtype="2" fill="hold" nodeType="withEffect">
                                  <p:stCondLst>
                                    <p:cond delay="0"/>
                                  </p:stCondLst>
                                  <p:childTnLst>
                                    <p:animClr clrSpc="rgb" dir="cw">
                                      <p:cBhvr>
                                        <p:cTn id="328" dur="500" fill="hold"/>
                                        <p:tgtEl>
                                          <p:spTgt spid="298"/>
                                        </p:tgtEl>
                                        <p:attrNameLst>
                                          <p:attrName>fillcolor</p:attrName>
                                        </p:attrNameLst>
                                      </p:cBhvr>
                                      <p:to>
                                        <a:srgbClr val="CCCCFF"/>
                                      </p:to>
                                    </p:animClr>
                                    <p:set>
                                      <p:cBhvr>
                                        <p:cTn id="329" dur="500" fill="hold"/>
                                        <p:tgtEl>
                                          <p:spTgt spid="298"/>
                                        </p:tgtEl>
                                        <p:attrNameLst>
                                          <p:attrName>fill.type</p:attrName>
                                        </p:attrNameLst>
                                      </p:cBhvr>
                                      <p:to>
                                        <p:strVal val="solid"/>
                                      </p:to>
                                    </p:set>
                                    <p:set>
                                      <p:cBhvr>
                                        <p:cTn id="330" dur="500" fill="hold"/>
                                        <p:tgtEl>
                                          <p:spTgt spid="298"/>
                                        </p:tgtEl>
                                        <p:attrNameLst>
                                          <p:attrName>fill.on</p:attrName>
                                        </p:attrNameLst>
                                      </p:cBhvr>
                                      <p:to>
                                        <p:strVal val="true"/>
                                      </p:to>
                                    </p:set>
                                  </p:childTnLst>
                                </p:cTn>
                              </p:par>
                              <p:par>
                                <p:cTn id="331" presetID="1" presetClass="emph" presetSubtype="1" nodeType="withEffect">
                                  <p:stCondLst>
                                    <p:cond delay="0"/>
                                  </p:stCondLst>
                                  <p:childTnLst>
                                    <p:set>
                                      <p:cBhvr>
                                        <p:cTn id="332" dur="indefinite"/>
                                        <p:tgtEl>
                                          <p:spTgt spid="299"/>
                                        </p:tgtEl>
                                        <p:attrNameLst>
                                          <p:attrName>fillcolor</p:attrName>
                                        </p:attrNameLst>
                                      </p:cBhvr>
                                      <p:to>
                                        <p:clrVal>
                                          <a:srgbClr val="FFFF00"/>
                                        </p:clrVal>
                                      </p:to>
                                    </p:set>
                                    <p:set>
                                      <p:cBhvr>
                                        <p:cTn id="333" dur="indefinite"/>
                                        <p:tgtEl>
                                          <p:spTgt spid="299"/>
                                        </p:tgtEl>
                                        <p:attrNameLst>
                                          <p:attrName>fill.type</p:attrName>
                                        </p:attrNameLst>
                                      </p:cBhvr>
                                      <p:to>
                                        <p:strVal val="solid"/>
                                      </p:to>
                                    </p:set>
                                    <p:set>
                                      <p:cBhvr>
                                        <p:cTn id="334" dur="indefinite"/>
                                        <p:tgtEl>
                                          <p:spTgt spid="299"/>
                                        </p:tgtEl>
                                        <p:attrNameLst>
                                          <p:attrName>fill.on</p:attrName>
                                        </p:attrNameLst>
                                      </p:cBhvr>
                                      <p:to>
                                        <p:strVal val="true"/>
                                      </p:to>
                                    </p:set>
                                  </p:childTnLst>
                                </p:cTn>
                              </p:par>
                            </p:childTnLst>
                          </p:cTn>
                        </p:par>
                      </p:childTnLst>
                    </p:cTn>
                  </p:par>
                  <p:par>
                    <p:cTn id="335" fill="hold" nodeType="clickPar">
                      <p:stCondLst>
                        <p:cond delay="indefinite"/>
                      </p:stCondLst>
                      <p:childTnLst>
                        <p:par>
                          <p:cTn id="336" fill="hold" nodeType="withGroup">
                            <p:stCondLst>
                              <p:cond delay="0"/>
                            </p:stCondLst>
                            <p:childTnLst>
                              <p:par>
                                <p:cTn id="337" presetID="1" presetClass="entr" presetSubtype="0" fill="hold" nodeType="clickEffect">
                                  <p:stCondLst>
                                    <p:cond delay="0"/>
                                  </p:stCondLst>
                                  <p:childTnLst>
                                    <p:set>
                                      <p:cBhvr>
                                        <p:cTn id="338" dur="1" fill="hold">
                                          <p:stCondLst>
                                            <p:cond delay="0"/>
                                          </p:stCondLst>
                                        </p:cTn>
                                        <p:tgtEl>
                                          <p:spTgt spid="24"/>
                                        </p:tgtEl>
                                        <p:attrNameLst>
                                          <p:attrName>style.visibility</p:attrName>
                                        </p:attrNameLst>
                                      </p:cBhvr>
                                      <p:to>
                                        <p:strVal val="visible"/>
                                      </p:to>
                                    </p:set>
                                  </p:childTnLst>
                                </p:cTn>
                              </p:par>
                              <p:par>
                                <p:cTn id="339" presetID="1" presetClass="emph" presetSubtype="2" fill="hold" nodeType="withEffect">
                                  <p:stCondLst>
                                    <p:cond delay="0"/>
                                  </p:stCondLst>
                                  <p:childTnLst>
                                    <p:animClr clrSpc="rgb" dir="cw">
                                      <p:cBhvr>
                                        <p:cTn id="340" dur="500" fill="hold"/>
                                        <p:tgtEl>
                                          <p:spTgt spid="299"/>
                                        </p:tgtEl>
                                        <p:attrNameLst>
                                          <p:attrName>fillcolor</p:attrName>
                                        </p:attrNameLst>
                                      </p:cBhvr>
                                      <p:to>
                                        <a:srgbClr val="CCCCFF"/>
                                      </p:to>
                                    </p:animClr>
                                    <p:set>
                                      <p:cBhvr>
                                        <p:cTn id="341" dur="500" fill="hold"/>
                                        <p:tgtEl>
                                          <p:spTgt spid="299"/>
                                        </p:tgtEl>
                                        <p:attrNameLst>
                                          <p:attrName>fill.type</p:attrName>
                                        </p:attrNameLst>
                                      </p:cBhvr>
                                      <p:to>
                                        <p:strVal val="solid"/>
                                      </p:to>
                                    </p:set>
                                    <p:set>
                                      <p:cBhvr>
                                        <p:cTn id="342" dur="500" fill="hold"/>
                                        <p:tgtEl>
                                          <p:spTgt spid="299"/>
                                        </p:tgtEl>
                                        <p:attrNameLst>
                                          <p:attrName>fill.on</p:attrName>
                                        </p:attrNameLst>
                                      </p:cBhvr>
                                      <p:to>
                                        <p:strVal val="true"/>
                                      </p:to>
                                    </p:set>
                                  </p:childTnLst>
                                </p:cTn>
                              </p:par>
                            </p:childTnLst>
                          </p:cTn>
                        </p:par>
                      </p:childTnLst>
                    </p:cTn>
                  </p:par>
                  <p:par>
                    <p:cTn id="343" fill="hold" nodeType="clickPar">
                      <p:stCondLst>
                        <p:cond delay="indefinite"/>
                      </p:stCondLst>
                      <p:childTnLst>
                        <p:par>
                          <p:cTn id="344" fill="hold" nodeType="withGroup">
                            <p:stCondLst>
                              <p:cond delay="0"/>
                            </p:stCondLst>
                            <p:childTnLst>
                              <p:par>
                                <p:cTn id="345" presetID="1" presetClass="entr" presetSubtype="0" fill="hold" nodeType="clickEffect">
                                  <p:stCondLst>
                                    <p:cond delay="0"/>
                                  </p:stCondLst>
                                  <p:childTnLst>
                                    <p:set>
                                      <p:cBhvr>
                                        <p:cTn id="34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Title 1">
            <a:extLst>
              <a:ext uri="{FF2B5EF4-FFF2-40B4-BE49-F238E27FC236}">
                <a16:creationId xmlns:a16="http://schemas.microsoft.com/office/drawing/2014/main" id="{2606BD2F-2EA6-0940-8B4F-E25208181A5A}"/>
              </a:ext>
            </a:extLst>
          </p:cNvPr>
          <p:cNvSpPr>
            <a:spLocks noGrp="1"/>
          </p:cNvSpPr>
          <p:nvPr>
            <p:ph type="title"/>
          </p:nvPr>
        </p:nvSpPr>
        <p:spPr>
          <a:xfrm>
            <a:off x="0" y="237331"/>
            <a:ext cx="9144000" cy="1066800"/>
          </a:xfrm>
        </p:spPr>
        <p:txBody>
          <a:bodyPr/>
          <a:lstStyle/>
          <a:p>
            <a:r>
              <a:rPr lang="en-US" altLang="en-US" sz="3100" dirty="0">
                <a:ea typeface="ＭＳ Ｐゴシック" panose="020B0600070205080204" pitchFamily="34" charset="-128"/>
              </a:rPr>
              <a:t>Hardware Constraints Limit Flexibility of Warp Grouping</a:t>
            </a:r>
          </a:p>
        </p:txBody>
      </p:sp>
      <p:sp>
        <p:nvSpPr>
          <p:cNvPr id="80899" name="Slide Number Placeholder 3">
            <a:extLst>
              <a:ext uri="{FF2B5EF4-FFF2-40B4-BE49-F238E27FC236}">
                <a16:creationId xmlns:a16="http://schemas.microsoft.com/office/drawing/2014/main" id="{FC5739B9-63E5-1E41-8390-7E8804EBCA8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B31A252-A455-7E4D-8859-45EB22A1C42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109</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80900" name="Freeform 3">
            <a:extLst>
              <a:ext uri="{FF2B5EF4-FFF2-40B4-BE49-F238E27FC236}">
                <a16:creationId xmlns:a16="http://schemas.microsoft.com/office/drawing/2014/main" id="{2838F6A0-2E46-7742-B094-7040BA18E784}"/>
              </a:ext>
            </a:extLst>
          </p:cNvPr>
          <p:cNvSpPr>
            <a:spLocks/>
          </p:cNvSpPr>
          <p:nvPr/>
        </p:nvSpPr>
        <p:spPr bwMode="auto">
          <a:xfrm>
            <a:off x="1477963" y="4114800"/>
            <a:ext cx="914400" cy="1066800"/>
          </a:xfrm>
          <a:custGeom>
            <a:avLst/>
            <a:gdLst>
              <a:gd name="T0" fmla="*/ 0 w 576"/>
              <a:gd name="T1" fmla="*/ 0 h 672"/>
              <a:gd name="T2" fmla="*/ 2147483647 w 576"/>
              <a:gd name="T3" fmla="*/ 2147483647 h 672"/>
              <a:gd name="T4" fmla="*/ 2147483647 w 576"/>
              <a:gd name="T5" fmla="*/ 2147483647 h 672"/>
              <a:gd name="T6" fmla="*/ 2147483647 w 576"/>
              <a:gd name="T7" fmla="*/ 0 h 672"/>
              <a:gd name="T8" fmla="*/ 2147483647 w 576"/>
              <a:gd name="T9" fmla="*/ 0 h 672"/>
              <a:gd name="T10" fmla="*/ 2147483647 w 576"/>
              <a:gd name="T11" fmla="*/ 2147483647 h 672"/>
              <a:gd name="T12" fmla="*/ 2147483647 w 576"/>
              <a:gd name="T13" fmla="*/ 0 h 672"/>
              <a:gd name="T14" fmla="*/ 0 w 576"/>
              <a:gd name="T15" fmla="*/ 0 h 672"/>
              <a:gd name="T16" fmla="*/ 0 60000 65536"/>
              <a:gd name="T17" fmla="*/ 0 60000 65536"/>
              <a:gd name="T18" fmla="*/ 0 60000 65536"/>
              <a:gd name="T19" fmla="*/ 0 60000 65536"/>
              <a:gd name="T20" fmla="*/ 0 60000 65536"/>
              <a:gd name="T21" fmla="*/ 0 60000 65536"/>
              <a:gd name="T22" fmla="*/ 0 60000 65536"/>
              <a:gd name="T23" fmla="*/ 0 60000 65536"/>
              <a:gd name="T24" fmla="*/ 0 w 576"/>
              <a:gd name="T25" fmla="*/ 0 h 672"/>
              <a:gd name="T26" fmla="*/ 576 w 576"/>
              <a:gd name="T27" fmla="*/ 672 h 6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6" h="672">
                <a:moveTo>
                  <a:pt x="0" y="0"/>
                </a:moveTo>
                <a:lnTo>
                  <a:pt x="144" y="672"/>
                </a:lnTo>
                <a:lnTo>
                  <a:pt x="450" y="672"/>
                </a:lnTo>
                <a:lnTo>
                  <a:pt x="576" y="0"/>
                </a:lnTo>
                <a:lnTo>
                  <a:pt x="336" y="0"/>
                </a:lnTo>
                <a:lnTo>
                  <a:pt x="288" y="96"/>
                </a:lnTo>
                <a:lnTo>
                  <a:pt x="240" y="0"/>
                </a:lnTo>
                <a:lnTo>
                  <a:pt x="0" y="0"/>
                </a:lnTo>
                <a:close/>
              </a:path>
            </a:pathLst>
          </a:custGeom>
          <a:noFill/>
          <a:ln w="31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0901" name="Group 4">
            <a:extLst>
              <a:ext uri="{FF2B5EF4-FFF2-40B4-BE49-F238E27FC236}">
                <a16:creationId xmlns:a16="http://schemas.microsoft.com/office/drawing/2014/main" id="{7099ACA1-3969-3944-8969-3933819A6B94}"/>
              </a:ext>
            </a:extLst>
          </p:cNvPr>
          <p:cNvGrpSpPr>
            <a:grpSpLocks/>
          </p:cNvGrpSpPr>
          <p:nvPr/>
        </p:nvGrpSpPr>
        <p:grpSpPr bwMode="auto">
          <a:xfrm>
            <a:off x="1477963" y="5029200"/>
            <a:ext cx="993775" cy="76200"/>
            <a:chOff x="1536" y="2256"/>
            <a:chExt cx="626" cy="48"/>
          </a:xfrm>
        </p:grpSpPr>
        <p:sp>
          <p:nvSpPr>
            <p:cNvPr id="81066" name="Rectangle 5">
              <a:extLst>
                <a:ext uri="{FF2B5EF4-FFF2-40B4-BE49-F238E27FC236}">
                  <a16:creationId xmlns:a16="http://schemas.microsoft.com/office/drawing/2014/main" id="{D46CEE23-A8F9-B443-8CD3-E6B8275747EC}"/>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67" name="Freeform 6">
              <a:extLst>
                <a:ext uri="{FF2B5EF4-FFF2-40B4-BE49-F238E27FC236}">
                  <a16:creationId xmlns:a16="http://schemas.microsoft.com/office/drawing/2014/main" id="{F633860F-D81B-9148-9D3C-E61F6CDF3C56}"/>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68" name="Line 7">
              <a:extLst>
                <a:ext uri="{FF2B5EF4-FFF2-40B4-BE49-F238E27FC236}">
                  <a16:creationId xmlns:a16="http://schemas.microsoft.com/office/drawing/2014/main" id="{2F956A8E-C262-5143-8E08-E0F26370A933}"/>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0902" name="Group 8">
            <a:extLst>
              <a:ext uri="{FF2B5EF4-FFF2-40B4-BE49-F238E27FC236}">
                <a16:creationId xmlns:a16="http://schemas.microsoft.com/office/drawing/2014/main" id="{0D45F664-7D31-CE4F-BC11-F94E2A96692F}"/>
              </a:ext>
            </a:extLst>
          </p:cNvPr>
          <p:cNvGrpSpPr>
            <a:grpSpLocks/>
          </p:cNvGrpSpPr>
          <p:nvPr/>
        </p:nvGrpSpPr>
        <p:grpSpPr bwMode="auto">
          <a:xfrm>
            <a:off x="1477963" y="4267200"/>
            <a:ext cx="993775" cy="76200"/>
            <a:chOff x="1536" y="2256"/>
            <a:chExt cx="626" cy="48"/>
          </a:xfrm>
        </p:grpSpPr>
        <p:sp>
          <p:nvSpPr>
            <p:cNvPr id="81063" name="Rectangle 9">
              <a:extLst>
                <a:ext uri="{FF2B5EF4-FFF2-40B4-BE49-F238E27FC236}">
                  <a16:creationId xmlns:a16="http://schemas.microsoft.com/office/drawing/2014/main" id="{6D8E541C-F6DF-414A-99FF-E116752B76A2}"/>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64" name="Freeform 10">
              <a:extLst>
                <a:ext uri="{FF2B5EF4-FFF2-40B4-BE49-F238E27FC236}">
                  <a16:creationId xmlns:a16="http://schemas.microsoft.com/office/drawing/2014/main" id="{244DD702-0103-A84F-9BA4-03A380AFEF64}"/>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65" name="Line 11">
              <a:extLst>
                <a:ext uri="{FF2B5EF4-FFF2-40B4-BE49-F238E27FC236}">
                  <a16:creationId xmlns:a16="http://schemas.microsoft.com/office/drawing/2014/main" id="{09555668-DD0A-984B-AE9B-FB7D3803932B}"/>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0903" name="Group 12">
            <a:extLst>
              <a:ext uri="{FF2B5EF4-FFF2-40B4-BE49-F238E27FC236}">
                <a16:creationId xmlns:a16="http://schemas.microsoft.com/office/drawing/2014/main" id="{2CBFF24D-5780-6A4F-A23E-30725F22C63D}"/>
              </a:ext>
            </a:extLst>
          </p:cNvPr>
          <p:cNvGrpSpPr>
            <a:grpSpLocks/>
          </p:cNvGrpSpPr>
          <p:nvPr/>
        </p:nvGrpSpPr>
        <p:grpSpPr bwMode="auto">
          <a:xfrm>
            <a:off x="1477963" y="4648200"/>
            <a:ext cx="993775" cy="76200"/>
            <a:chOff x="1536" y="2256"/>
            <a:chExt cx="626" cy="48"/>
          </a:xfrm>
        </p:grpSpPr>
        <p:sp>
          <p:nvSpPr>
            <p:cNvPr id="81060" name="Rectangle 13">
              <a:extLst>
                <a:ext uri="{FF2B5EF4-FFF2-40B4-BE49-F238E27FC236}">
                  <a16:creationId xmlns:a16="http://schemas.microsoft.com/office/drawing/2014/main" id="{9BBA58D2-E80A-2744-ACC6-483F8C892FFD}"/>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61" name="Freeform 14">
              <a:extLst>
                <a:ext uri="{FF2B5EF4-FFF2-40B4-BE49-F238E27FC236}">
                  <a16:creationId xmlns:a16="http://schemas.microsoft.com/office/drawing/2014/main" id="{7E533F19-A7BA-8249-9E11-A49730C4B529}"/>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62" name="Line 15">
              <a:extLst>
                <a:ext uri="{FF2B5EF4-FFF2-40B4-BE49-F238E27FC236}">
                  <a16:creationId xmlns:a16="http://schemas.microsoft.com/office/drawing/2014/main" id="{69D6957A-56D1-7F4D-AE99-E197435D2676}"/>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0904" name="Line 16">
            <a:extLst>
              <a:ext uri="{FF2B5EF4-FFF2-40B4-BE49-F238E27FC236}">
                <a16:creationId xmlns:a16="http://schemas.microsoft.com/office/drawing/2014/main" id="{1532E682-888A-5041-992B-4162DFD92D68}"/>
              </a:ext>
            </a:extLst>
          </p:cNvPr>
          <p:cNvSpPr>
            <a:spLocks noChangeShapeType="1"/>
          </p:cNvSpPr>
          <p:nvPr/>
        </p:nvSpPr>
        <p:spPr bwMode="auto">
          <a:xfrm>
            <a:off x="2239963" y="3886200"/>
            <a:ext cx="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05" name="Line 17">
            <a:extLst>
              <a:ext uri="{FF2B5EF4-FFF2-40B4-BE49-F238E27FC236}">
                <a16:creationId xmlns:a16="http://schemas.microsoft.com/office/drawing/2014/main" id="{7457828D-ECED-D94E-85BC-AC72CA9E90D3}"/>
              </a:ext>
            </a:extLst>
          </p:cNvPr>
          <p:cNvSpPr>
            <a:spLocks noChangeShapeType="1"/>
          </p:cNvSpPr>
          <p:nvPr/>
        </p:nvSpPr>
        <p:spPr bwMode="auto">
          <a:xfrm>
            <a:off x="1630363" y="3886200"/>
            <a:ext cx="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06" name="Freeform 18">
            <a:extLst>
              <a:ext uri="{FF2B5EF4-FFF2-40B4-BE49-F238E27FC236}">
                <a16:creationId xmlns:a16="http://schemas.microsoft.com/office/drawing/2014/main" id="{94BB3157-23E1-5846-B956-20307651FF73}"/>
              </a:ext>
            </a:extLst>
          </p:cNvPr>
          <p:cNvSpPr>
            <a:spLocks/>
          </p:cNvSpPr>
          <p:nvPr/>
        </p:nvSpPr>
        <p:spPr bwMode="auto">
          <a:xfrm flipV="1">
            <a:off x="1477963" y="1524000"/>
            <a:ext cx="914400" cy="1066800"/>
          </a:xfrm>
          <a:custGeom>
            <a:avLst/>
            <a:gdLst>
              <a:gd name="T0" fmla="*/ 0 w 576"/>
              <a:gd name="T1" fmla="*/ 0 h 672"/>
              <a:gd name="T2" fmla="*/ 2147483647 w 576"/>
              <a:gd name="T3" fmla="*/ 2147483647 h 672"/>
              <a:gd name="T4" fmla="*/ 2147483647 w 576"/>
              <a:gd name="T5" fmla="*/ 2147483647 h 672"/>
              <a:gd name="T6" fmla="*/ 2147483647 w 576"/>
              <a:gd name="T7" fmla="*/ 0 h 672"/>
              <a:gd name="T8" fmla="*/ 2147483647 w 576"/>
              <a:gd name="T9" fmla="*/ 0 h 672"/>
              <a:gd name="T10" fmla="*/ 2147483647 w 576"/>
              <a:gd name="T11" fmla="*/ 2147483647 h 672"/>
              <a:gd name="T12" fmla="*/ 2147483647 w 576"/>
              <a:gd name="T13" fmla="*/ 0 h 672"/>
              <a:gd name="T14" fmla="*/ 0 w 576"/>
              <a:gd name="T15" fmla="*/ 0 h 672"/>
              <a:gd name="T16" fmla="*/ 0 60000 65536"/>
              <a:gd name="T17" fmla="*/ 0 60000 65536"/>
              <a:gd name="T18" fmla="*/ 0 60000 65536"/>
              <a:gd name="T19" fmla="*/ 0 60000 65536"/>
              <a:gd name="T20" fmla="*/ 0 60000 65536"/>
              <a:gd name="T21" fmla="*/ 0 60000 65536"/>
              <a:gd name="T22" fmla="*/ 0 60000 65536"/>
              <a:gd name="T23" fmla="*/ 0 60000 65536"/>
              <a:gd name="T24" fmla="*/ 0 w 576"/>
              <a:gd name="T25" fmla="*/ 0 h 672"/>
              <a:gd name="T26" fmla="*/ 576 w 576"/>
              <a:gd name="T27" fmla="*/ 672 h 6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6" h="672">
                <a:moveTo>
                  <a:pt x="0" y="0"/>
                </a:moveTo>
                <a:lnTo>
                  <a:pt x="144" y="672"/>
                </a:lnTo>
                <a:lnTo>
                  <a:pt x="450" y="672"/>
                </a:lnTo>
                <a:lnTo>
                  <a:pt x="576" y="0"/>
                </a:lnTo>
                <a:lnTo>
                  <a:pt x="336" y="0"/>
                </a:lnTo>
                <a:lnTo>
                  <a:pt x="288" y="96"/>
                </a:lnTo>
                <a:lnTo>
                  <a:pt x="240" y="0"/>
                </a:lnTo>
                <a:lnTo>
                  <a:pt x="0" y="0"/>
                </a:lnTo>
                <a:close/>
              </a:path>
            </a:pathLst>
          </a:custGeom>
          <a:noFill/>
          <a:ln w="31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0907" name="Group 19">
            <a:extLst>
              <a:ext uri="{FF2B5EF4-FFF2-40B4-BE49-F238E27FC236}">
                <a16:creationId xmlns:a16="http://schemas.microsoft.com/office/drawing/2014/main" id="{E782ABD7-9AD6-D044-83FA-637A1EF44B61}"/>
              </a:ext>
            </a:extLst>
          </p:cNvPr>
          <p:cNvGrpSpPr>
            <a:grpSpLocks/>
          </p:cNvGrpSpPr>
          <p:nvPr/>
        </p:nvGrpSpPr>
        <p:grpSpPr bwMode="auto">
          <a:xfrm flipV="1">
            <a:off x="1477963" y="1600200"/>
            <a:ext cx="993775" cy="76200"/>
            <a:chOff x="1536" y="2256"/>
            <a:chExt cx="626" cy="48"/>
          </a:xfrm>
        </p:grpSpPr>
        <p:sp>
          <p:nvSpPr>
            <p:cNvPr id="81057" name="Rectangle 20">
              <a:extLst>
                <a:ext uri="{FF2B5EF4-FFF2-40B4-BE49-F238E27FC236}">
                  <a16:creationId xmlns:a16="http://schemas.microsoft.com/office/drawing/2014/main" id="{836F9A3F-48B2-664E-B1FC-9AD437B79633}"/>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58" name="Freeform 21">
              <a:extLst>
                <a:ext uri="{FF2B5EF4-FFF2-40B4-BE49-F238E27FC236}">
                  <a16:creationId xmlns:a16="http://schemas.microsoft.com/office/drawing/2014/main" id="{09AC6211-2838-B14E-AFA4-F621DB19DF7F}"/>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59" name="Line 22">
              <a:extLst>
                <a:ext uri="{FF2B5EF4-FFF2-40B4-BE49-F238E27FC236}">
                  <a16:creationId xmlns:a16="http://schemas.microsoft.com/office/drawing/2014/main" id="{25E5280A-5C44-A04B-AE33-85B8B59B4EF2}"/>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0908" name="Group 23">
            <a:extLst>
              <a:ext uri="{FF2B5EF4-FFF2-40B4-BE49-F238E27FC236}">
                <a16:creationId xmlns:a16="http://schemas.microsoft.com/office/drawing/2014/main" id="{EDE6F9FC-AE31-E042-9998-2786A774C284}"/>
              </a:ext>
            </a:extLst>
          </p:cNvPr>
          <p:cNvGrpSpPr>
            <a:grpSpLocks/>
          </p:cNvGrpSpPr>
          <p:nvPr/>
        </p:nvGrpSpPr>
        <p:grpSpPr bwMode="auto">
          <a:xfrm flipV="1">
            <a:off x="1477963" y="2362200"/>
            <a:ext cx="993775" cy="76200"/>
            <a:chOff x="1536" y="2256"/>
            <a:chExt cx="626" cy="48"/>
          </a:xfrm>
        </p:grpSpPr>
        <p:sp>
          <p:nvSpPr>
            <p:cNvPr id="81054" name="Rectangle 24">
              <a:extLst>
                <a:ext uri="{FF2B5EF4-FFF2-40B4-BE49-F238E27FC236}">
                  <a16:creationId xmlns:a16="http://schemas.microsoft.com/office/drawing/2014/main" id="{2F506927-1BEF-C647-ADE8-2F1915F8A2CD}"/>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55" name="Freeform 25">
              <a:extLst>
                <a:ext uri="{FF2B5EF4-FFF2-40B4-BE49-F238E27FC236}">
                  <a16:creationId xmlns:a16="http://schemas.microsoft.com/office/drawing/2014/main" id="{086FE9F2-B9AE-8048-B709-FF133F17D159}"/>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56" name="Line 26">
              <a:extLst>
                <a:ext uri="{FF2B5EF4-FFF2-40B4-BE49-F238E27FC236}">
                  <a16:creationId xmlns:a16="http://schemas.microsoft.com/office/drawing/2014/main" id="{D59BC542-BE36-B04A-80F4-DCB8DF8DEB12}"/>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0909" name="Group 27">
            <a:extLst>
              <a:ext uri="{FF2B5EF4-FFF2-40B4-BE49-F238E27FC236}">
                <a16:creationId xmlns:a16="http://schemas.microsoft.com/office/drawing/2014/main" id="{5084360C-09A9-7448-9606-C962486F1B47}"/>
              </a:ext>
            </a:extLst>
          </p:cNvPr>
          <p:cNvGrpSpPr>
            <a:grpSpLocks/>
          </p:cNvGrpSpPr>
          <p:nvPr/>
        </p:nvGrpSpPr>
        <p:grpSpPr bwMode="auto">
          <a:xfrm flipV="1">
            <a:off x="1477963" y="1981200"/>
            <a:ext cx="993775" cy="76200"/>
            <a:chOff x="1536" y="2256"/>
            <a:chExt cx="626" cy="48"/>
          </a:xfrm>
        </p:grpSpPr>
        <p:sp>
          <p:nvSpPr>
            <p:cNvPr id="81051" name="Rectangle 28">
              <a:extLst>
                <a:ext uri="{FF2B5EF4-FFF2-40B4-BE49-F238E27FC236}">
                  <a16:creationId xmlns:a16="http://schemas.microsoft.com/office/drawing/2014/main" id="{9D76900C-1331-374C-ADFD-8548639A298A}"/>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52" name="Freeform 29">
              <a:extLst>
                <a:ext uri="{FF2B5EF4-FFF2-40B4-BE49-F238E27FC236}">
                  <a16:creationId xmlns:a16="http://schemas.microsoft.com/office/drawing/2014/main" id="{FF0158C3-9D5D-0B40-A500-5DA181B32727}"/>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53" name="Line 30">
              <a:extLst>
                <a:ext uri="{FF2B5EF4-FFF2-40B4-BE49-F238E27FC236}">
                  <a16:creationId xmlns:a16="http://schemas.microsoft.com/office/drawing/2014/main" id="{A7C56F48-04D3-2343-8EEF-13D34715FCC6}"/>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0910" name="Line 31">
            <a:extLst>
              <a:ext uri="{FF2B5EF4-FFF2-40B4-BE49-F238E27FC236}">
                <a16:creationId xmlns:a16="http://schemas.microsoft.com/office/drawing/2014/main" id="{7F7A6F3D-C912-734E-B5CD-9E993A11593C}"/>
              </a:ext>
            </a:extLst>
          </p:cNvPr>
          <p:cNvSpPr>
            <a:spLocks noChangeShapeType="1"/>
          </p:cNvSpPr>
          <p:nvPr/>
        </p:nvSpPr>
        <p:spPr bwMode="auto">
          <a:xfrm flipV="1">
            <a:off x="2239963" y="2590800"/>
            <a:ext cx="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11" name="Line 32">
            <a:extLst>
              <a:ext uri="{FF2B5EF4-FFF2-40B4-BE49-F238E27FC236}">
                <a16:creationId xmlns:a16="http://schemas.microsoft.com/office/drawing/2014/main" id="{16BF3BD9-290C-D748-B6E6-759891D9AB01}"/>
              </a:ext>
            </a:extLst>
          </p:cNvPr>
          <p:cNvSpPr>
            <a:spLocks noChangeShapeType="1"/>
          </p:cNvSpPr>
          <p:nvPr/>
        </p:nvSpPr>
        <p:spPr bwMode="auto">
          <a:xfrm flipV="1">
            <a:off x="1630363" y="2590800"/>
            <a:ext cx="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12" name="Rectangle 33">
            <a:extLst>
              <a:ext uri="{FF2B5EF4-FFF2-40B4-BE49-F238E27FC236}">
                <a16:creationId xmlns:a16="http://schemas.microsoft.com/office/drawing/2014/main" id="{F93D7A39-C9F4-604D-922A-EA0D5C71A17C}"/>
              </a:ext>
            </a:extLst>
          </p:cNvPr>
          <p:cNvSpPr>
            <a:spLocks noChangeArrowheads="1"/>
          </p:cNvSpPr>
          <p:nvPr/>
        </p:nvSpPr>
        <p:spPr bwMode="auto">
          <a:xfrm>
            <a:off x="1173163" y="2819400"/>
            <a:ext cx="1524000" cy="10668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13" name="Freeform 34">
            <a:extLst>
              <a:ext uri="{FF2B5EF4-FFF2-40B4-BE49-F238E27FC236}">
                <a16:creationId xmlns:a16="http://schemas.microsoft.com/office/drawing/2014/main" id="{5BD9F8A4-D58D-2247-828C-D5D4B2577A96}"/>
              </a:ext>
            </a:extLst>
          </p:cNvPr>
          <p:cNvSpPr>
            <a:spLocks/>
          </p:cNvSpPr>
          <p:nvPr/>
        </p:nvSpPr>
        <p:spPr bwMode="auto">
          <a:xfrm>
            <a:off x="1935163" y="3886200"/>
            <a:ext cx="685800" cy="1447800"/>
          </a:xfrm>
          <a:custGeom>
            <a:avLst/>
            <a:gdLst>
              <a:gd name="T0" fmla="*/ 0 w 432"/>
              <a:gd name="T1" fmla="*/ 2147483647 h 912"/>
              <a:gd name="T2" fmla="*/ 0 w 432"/>
              <a:gd name="T3" fmla="*/ 2147483647 h 912"/>
              <a:gd name="T4" fmla="*/ 2147483647 w 432"/>
              <a:gd name="T5" fmla="*/ 2147483647 h 912"/>
              <a:gd name="T6" fmla="*/ 2147483647 w 432"/>
              <a:gd name="T7" fmla="*/ 0 h 912"/>
              <a:gd name="T8" fmla="*/ 0 60000 65536"/>
              <a:gd name="T9" fmla="*/ 0 60000 65536"/>
              <a:gd name="T10" fmla="*/ 0 60000 65536"/>
              <a:gd name="T11" fmla="*/ 0 60000 65536"/>
              <a:gd name="T12" fmla="*/ 0 w 432"/>
              <a:gd name="T13" fmla="*/ 0 h 912"/>
              <a:gd name="T14" fmla="*/ 432 w 432"/>
              <a:gd name="T15" fmla="*/ 912 h 912"/>
            </a:gdLst>
            <a:ahLst/>
            <a:cxnLst>
              <a:cxn ang="T8">
                <a:pos x="T0" y="T1"/>
              </a:cxn>
              <a:cxn ang="T9">
                <a:pos x="T2" y="T3"/>
              </a:cxn>
              <a:cxn ang="T10">
                <a:pos x="T4" y="T5"/>
              </a:cxn>
              <a:cxn ang="T11">
                <a:pos x="T6" y="T7"/>
              </a:cxn>
            </a:cxnLst>
            <a:rect l="T12" t="T13" r="T14" b="T15"/>
            <a:pathLst>
              <a:path w="432" h="912">
                <a:moveTo>
                  <a:pt x="0" y="816"/>
                </a:moveTo>
                <a:lnTo>
                  <a:pt x="0" y="912"/>
                </a:lnTo>
                <a:lnTo>
                  <a:pt x="432" y="912"/>
                </a:lnTo>
                <a:lnTo>
                  <a:pt x="432" y="0"/>
                </a:lnTo>
              </a:path>
            </a:pathLst>
          </a:custGeom>
          <a:noFill/>
          <a:ln w="31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14" name="Freeform 35">
            <a:extLst>
              <a:ext uri="{FF2B5EF4-FFF2-40B4-BE49-F238E27FC236}">
                <a16:creationId xmlns:a16="http://schemas.microsoft.com/office/drawing/2014/main" id="{1D31FC77-F82C-C24E-812C-10D48596F4EB}"/>
              </a:ext>
            </a:extLst>
          </p:cNvPr>
          <p:cNvSpPr>
            <a:spLocks/>
          </p:cNvSpPr>
          <p:nvPr/>
        </p:nvSpPr>
        <p:spPr bwMode="auto">
          <a:xfrm flipV="1">
            <a:off x="1935163" y="1371600"/>
            <a:ext cx="685800" cy="1447800"/>
          </a:xfrm>
          <a:custGeom>
            <a:avLst/>
            <a:gdLst>
              <a:gd name="T0" fmla="*/ 0 w 432"/>
              <a:gd name="T1" fmla="*/ 2147483647 h 912"/>
              <a:gd name="T2" fmla="*/ 0 w 432"/>
              <a:gd name="T3" fmla="*/ 2147483647 h 912"/>
              <a:gd name="T4" fmla="*/ 2147483647 w 432"/>
              <a:gd name="T5" fmla="*/ 2147483647 h 912"/>
              <a:gd name="T6" fmla="*/ 2147483647 w 432"/>
              <a:gd name="T7" fmla="*/ 0 h 912"/>
              <a:gd name="T8" fmla="*/ 0 60000 65536"/>
              <a:gd name="T9" fmla="*/ 0 60000 65536"/>
              <a:gd name="T10" fmla="*/ 0 60000 65536"/>
              <a:gd name="T11" fmla="*/ 0 60000 65536"/>
              <a:gd name="T12" fmla="*/ 0 w 432"/>
              <a:gd name="T13" fmla="*/ 0 h 912"/>
              <a:gd name="T14" fmla="*/ 432 w 432"/>
              <a:gd name="T15" fmla="*/ 912 h 912"/>
            </a:gdLst>
            <a:ahLst/>
            <a:cxnLst>
              <a:cxn ang="T8">
                <a:pos x="T0" y="T1"/>
              </a:cxn>
              <a:cxn ang="T9">
                <a:pos x="T2" y="T3"/>
              </a:cxn>
              <a:cxn ang="T10">
                <a:pos x="T4" y="T5"/>
              </a:cxn>
              <a:cxn ang="T11">
                <a:pos x="T6" y="T7"/>
              </a:cxn>
            </a:cxnLst>
            <a:rect l="T12" t="T13" r="T14" b="T15"/>
            <a:pathLst>
              <a:path w="432" h="912">
                <a:moveTo>
                  <a:pt x="0" y="816"/>
                </a:moveTo>
                <a:lnTo>
                  <a:pt x="0" y="912"/>
                </a:lnTo>
                <a:lnTo>
                  <a:pt x="432" y="912"/>
                </a:lnTo>
                <a:lnTo>
                  <a:pt x="432" y="0"/>
                </a:lnTo>
              </a:path>
            </a:pathLst>
          </a:custGeom>
          <a:noFill/>
          <a:ln w="31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15" name="Line 36">
            <a:extLst>
              <a:ext uri="{FF2B5EF4-FFF2-40B4-BE49-F238E27FC236}">
                <a16:creationId xmlns:a16="http://schemas.microsoft.com/office/drawing/2014/main" id="{D66DCCD8-E66D-2049-A66C-7A962308D651}"/>
              </a:ext>
            </a:extLst>
          </p:cNvPr>
          <p:cNvSpPr>
            <a:spLocks noChangeShapeType="1"/>
          </p:cNvSpPr>
          <p:nvPr/>
        </p:nvSpPr>
        <p:spPr bwMode="auto">
          <a:xfrm flipV="1">
            <a:off x="1249363" y="3886200"/>
            <a:ext cx="0" cy="19812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16" name="Line 37">
            <a:extLst>
              <a:ext uri="{FF2B5EF4-FFF2-40B4-BE49-F238E27FC236}">
                <a16:creationId xmlns:a16="http://schemas.microsoft.com/office/drawing/2014/main" id="{1A630EAA-0B31-E64E-AB3F-00B977F1D473}"/>
              </a:ext>
            </a:extLst>
          </p:cNvPr>
          <p:cNvSpPr>
            <a:spLocks noChangeShapeType="1"/>
          </p:cNvSpPr>
          <p:nvPr/>
        </p:nvSpPr>
        <p:spPr bwMode="auto">
          <a:xfrm>
            <a:off x="1401763" y="3886200"/>
            <a:ext cx="0" cy="19812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17" name="Freeform 38">
            <a:extLst>
              <a:ext uri="{FF2B5EF4-FFF2-40B4-BE49-F238E27FC236}">
                <a16:creationId xmlns:a16="http://schemas.microsoft.com/office/drawing/2014/main" id="{61BBAF29-DC27-9443-8BA7-FF643D2244D6}"/>
              </a:ext>
            </a:extLst>
          </p:cNvPr>
          <p:cNvSpPr>
            <a:spLocks/>
          </p:cNvSpPr>
          <p:nvPr/>
        </p:nvSpPr>
        <p:spPr bwMode="auto">
          <a:xfrm>
            <a:off x="3382963" y="4114800"/>
            <a:ext cx="914400" cy="1066800"/>
          </a:xfrm>
          <a:custGeom>
            <a:avLst/>
            <a:gdLst>
              <a:gd name="T0" fmla="*/ 0 w 576"/>
              <a:gd name="T1" fmla="*/ 0 h 672"/>
              <a:gd name="T2" fmla="*/ 2147483647 w 576"/>
              <a:gd name="T3" fmla="*/ 2147483647 h 672"/>
              <a:gd name="T4" fmla="*/ 2147483647 w 576"/>
              <a:gd name="T5" fmla="*/ 2147483647 h 672"/>
              <a:gd name="T6" fmla="*/ 2147483647 w 576"/>
              <a:gd name="T7" fmla="*/ 0 h 672"/>
              <a:gd name="T8" fmla="*/ 2147483647 w 576"/>
              <a:gd name="T9" fmla="*/ 0 h 672"/>
              <a:gd name="T10" fmla="*/ 2147483647 w 576"/>
              <a:gd name="T11" fmla="*/ 2147483647 h 672"/>
              <a:gd name="T12" fmla="*/ 2147483647 w 576"/>
              <a:gd name="T13" fmla="*/ 0 h 672"/>
              <a:gd name="T14" fmla="*/ 0 w 576"/>
              <a:gd name="T15" fmla="*/ 0 h 672"/>
              <a:gd name="T16" fmla="*/ 0 60000 65536"/>
              <a:gd name="T17" fmla="*/ 0 60000 65536"/>
              <a:gd name="T18" fmla="*/ 0 60000 65536"/>
              <a:gd name="T19" fmla="*/ 0 60000 65536"/>
              <a:gd name="T20" fmla="*/ 0 60000 65536"/>
              <a:gd name="T21" fmla="*/ 0 60000 65536"/>
              <a:gd name="T22" fmla="*/ 0 60000 65536"/>
              <a:gd name="T23" fmla="*/ 0 60000 65536"/>
              <a:gd name="T24" fmla="*/ 0 w 576"/>
              <a:gd name="T25" fmla="*/ 0 h 672"/>
              <a:gd name="T26" fmla="*/ 576 w 576"/>
              <a:gd name="T27" fmla="*/ 672 h 6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6" h="672">
                <a:moveTo>
                  <a:pt x="0" y="0"/>
                </a:moveTo>
                <a:lnTo>
                  <a:pt x="144" y="672"/>
                </a:lnTo>
                <a:lnTo>
                  <a:pt x="450" y="672"/>
                </a:lnTo>
                <a:lnTo>
                  <a:pt x="576" y="0"/>
                </a:lnTo>
                <a:lnTo>
                  <a:pt x="336" y="0"/>
                </a:lnTo>
                <a:lnTo>
                  <a:pt x="288" y="96"/>
                </a:lnTo>
                <a:lnTo>
                  <a:pt x="240" y="0"/>
                </a:lnTo>
                <a:lnTo>
                  <a:pt x="0" y="0"/>
                </a:lnTo>
                <a:close/>
              </a:path>
            </a:pathLst>
          </a:custGeom>
          <a:noFill/>
          <a:ln w="31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0918" name="Group 39">
            <a:extLst>
              <a:ext uri="{FF2B5EF4-FFF2-40B4-BE49-F238E27FC236}">
                <a16:creationId xmlns:a16="http://schemas.microsoft.com/office/drawing/2014/main" id="{D8B61482-B47A-474F-99AE-41471111A7A8}"/>
              </a:ext>
            </a:extLst>
          </p:cNvPr>
          <p:cNvGrpSpPr>
            <a:grpSpLocks/>
          </p:cNvGrpSpPr>
          <p:nvPr/>
        </p:nvGrpSpPr>
        <p:grpSpPr bwMode="auto">
          <a:xfrm>
            <a:off x="3382963" y="5029200"/>
            <a:ext cx="993775" cy="76200"/>
            <a:chOff x="1536" y="2256"/>
            <a:chExt cx="626" cy="48"/>
          </a:xfrm>
        </p:grpSpPr>
        <p:sp>
          <p:nvSpPr>
            <p:cNvPr id="81048" name="Rectangle 40">
              <a:extLst>
                <a:ext uri="{FF2B5EF4-FFF2-40B4-BE49-F238E27FC236}">
                  <a16:creationId xmlns:a16="http://schemas.microsoft.com/office/drawing/2014/main" id="{F3511D73-4EAE-3E40-956C-E4BF0D6E2E86}"/>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49" name="Freeform 41">
              <a:extLst>
                <a:ext uri="{FF2B5EF4-FFF2-40B4-BE49-F238E27FC236}">
                  <a16:creationId xmlns:a16="http://schemas.microsoft.com/office/drawing/2014/main" id="{D4B41DEE-9664-9743-93A9-D2E36FC16C8F}"/>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50" name="Line 42">
              <a:extLst>
                <a:ext uri="{FF2B5EF4-FFF2-40B4-BE49-F238E27FC236}">
                  <a16:creationId xmlns:a16="http://schemas.microsoft.com/office/drawing/2014/main" id="{9ACC0F14-463D-2D4F-A46F-988356CD82EA}"/>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0919" name="Group 43">
            <a:extLst>
              <a:ext uri="{FF2B5EF4-FFF2-40B4-BE49-F238E27FC236}">
                <a16:creationId xmlns:a16="http://schemas.microsoft.com/office/drawing/2014/main" id="{373FAD0A-EF3F-1E41-9C89-03572FA98015}"/>
              </a:ext>
            </a:extLst>
          </p:cNvPr>
          <p:cNvGrpSpPr>
            <a:grpSpLocks/>
          </p:cNvGrpSpPr>
          <p:nvPr/>
        </p:nvGrpSpPr>
        <p:grpSpPr bwMode="auto">
          <a:xfrm>
            <a:off x="3382963" y="4267200"/>
            <a:ext cx="993775" cy="76200"/>
            <a:chOff x="1536" y="2256"/>
            <a:chExt cx="626" cy="48"/>
          </a:xfrm>
        </p:grpSpPr>
        <p:sp>
          <p:nvSpPr>
            <p:cNvPr id="81045" name="Rectangle 44">
              <a:extLst>
                <a:ext uri="{FF2B5EF4-FFF2-40B4-BE49-F238E27FC236}">
                  <a16:creationId xmlns:a16="http://schemas.microsoft.com/office/drawing/2014/main" id="{6D8FCCD7-07FD-1A42-B57D-DD8F51A778F2}"/>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46" name="Freeform 45">
              <a:extLst>
                <a:ext uri="{FF2B5EF4-FFF2-40B4-BE49-F238E27FC236}">
                  <a16:creationId xmlns:a16="http://schemas.microsoft.com/office/drawing/2014/main" id="{A1BDAD52-0AF1-3140-96DF-97A10EAB1F4C}"/>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47" name="Line 46">
              <a:extLst>
                <a:ext uri="{FF2B5EF4-FFF2-40B4-BE49-F238E27FC236}">
                  <a16:creationId xmlns:a16="http://schemas.microsoft.com/office/drawing/2014/main" id="{BA3CABE2-E880-EC4E-9C4F-CA02AB92E3BA}"/>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0920" name="Group 47">
            <a:extLst>
              <a:ext uri="{FF2B5EF4-FFF2-40B4-BE49-F238E27FC236}">
                <a16:creationId xmlns:a16="http://schemas.microsoft.com/office/drawing/2014/main" id="{9FC7CE51-4551-4541-A18B-3D32C8838721}"/>
              </a:ext>
            </a:extLst>
          </p:cNvPr>
          <p:cNvGrpSpPr>
            <a:grpSpLocks/>
          </p:cNvGrpSpPr>
          <p:nvPr/>
        </p:nvGrpSpPr>
        <p:grpSpPr bwMode="auto">
          <a:xfrm>
            <a:off x="3382963" y="4648200"/>
            <a:ext cx="993775" cy="76200"/>
            <a:chOff x="1536" y="2256"/>
            <a:chExt cx="626" cy="48"/>
          </a:xfrm>
        </p:grpSpPr>
        <p:sp>
          <p:nvSpPr>
            <p:cNvPr id="81042" name="Rectangle 48">
              <a:extLst>
                <a:ext uri="{FF2B5EF4-FFF2-40B4-BE49-F238E27FC236}">
                  <a16:creationId xmlns:a16="http://schemas.microsoft.com/office/drawing/2014/main" id="{48D66609-0A64-7E43-9733-E68B8E6A6840}"/>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43" name="Freeform 49">
              <a:extLst>
                <a:ext uri="{FF2B5EF4-FFF2-40B4-BE49-F238E27FC236}">
                  <a16:creationId xmlns:a16="http://schemas.microsoft.com/office/drawing/2014/main" id="{200FB173-18AA-424F-B7B7-A6C57B981923}"/>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44" name="Line 50">
              <a:extLst>
                <a:ext uri="{FF2B5EF4-FFF2-40B4-BE49-F238E27FC236}">
                  <a16:creationId xmlns:a16="http://schemas.microsoft.com/office/drawing/2014/main" id="{E7150C2F-8175-664F-8D67-23FE738FC3D3}"/>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0921" name="Line 51">
            <a:extLst>
              <a:ext uri="{FF2B5EF4-FFF2-40B4-BE49-F238E27FC236}">
                <a16:creationId xmlns:a16="http://schemas.microsoft.com/office/drawing/2014/main" id="{67B91064-6461-BA48-B74D-34B31E64A68C}"/>
              </a:ext>
            </a:extLst>
          </p:cNvPr>
          <p:cNvSpPr>
            <a:spLocks noChangeShapeType="1"/>
          </p:cNvSpPr>
          <p:nvPr/>
        </p:nvSpPr>
        <p:spPr bwMode="auto">
          <a:xfrm>
            <a:off x="4144963" y="3886200"/>
            <a:ext cx="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22" name="Line 52">
            <a:extLst>
              <a:ext uri="{FF2B5EF4-FFF2-40B4-BE49-F238E27FC236}">
                <a16:creationId xmlns:a16="http://schemas.microsoft.com/office/drawing/2014/main" id="{3BA9D4EA-88C4-DE4E-B2EF-DD8C8A9F5BC3}"/>
              </a:ext>
            </a:extLst>
          </p:cNvPr>
          <p:cNvSpPr>
            <a:spLocks noChangeShapeType="1"/>
          </p:cNvSpPr>
          <p:nvPr/>
        </p:nvSpPr>
        <p:spPr bwMode="auto">
          <a:xfrm>
            <a:off x="3535363" y="3886200"/>
            <a:ext cx="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23" name="Freeform 53">
            <a:extLst>
              <a:ext uri="{FF2B5EF4-FFF2-40B4-BE49-F238E27FC236}">
                <a16:creationId xmlns:a16="http://schemas.microsoft.com/office/drawing/2014/main" id="{D8768E39-9035-D447-B146-5B756215F9A2}"/>
              </a:ext>
            </a:extLst>
          </p:cNvPr>
          <p:cNvSpPr>
            <a:spLocks/>
          </p:cNvSpPr>
          <p:nvPr/>
        </p:nvSpPr>
        <p:spPr bwMode="auto">
          <a:xfrm flipV="1">
            <a:off x="3382963" y="1524000"/>
            <a:ext cx="914400" cy="1066800"/>
          </a:xfrm>
          <a:custGeom>
            <a:avLst/>
            <a:gdLst>
              <a:gd name="T0" fmla="*/ 0 w 576"/>
              <a:gd name="T1" fmla="*/ 0 h 672"/>
              <a:gd name="T2" fmla="*/ 2147483647 w 576"/>
              <a:gd name="T3" fmla="*/ 2147483647 h 672"/>
              <a:gd name="T4" fmla="*/ 2147483647 w 576"/>
              <a:gd name="T5" fmla="*/ 2147483647 h 672"/>
              <a:gd name="T6" fmla="*/ 2147483647 w 576"/>
              <a:gd name="T7" fmla="*/ 0 h 672"/>
              <a:gd name="T8" fmla="*/ 2147483647 w 576"/>
              <a:gd name="T9" fmla="*/ 0 h 672"/>
              <a:gd name="T10" fmla="*/ 2147483647 w 576"/>
              <a:gd name="T11" fmla="*/ 2147483647 h 672"/>
              <a:gd name="T12" fmla="*/ 2147483647 w 576"/>
              <a:gd name="T13" fmla="*/ 0 h 672"/>
              <a:gd name="T14" fmla="*/ 0 w 576"/>
              <a:gd name="T15" fmla="*/ 0 h 672"/>
              <a:gd name="T16" fmla="*/ 0 60000 65536"/>
              <a:gd name="T17" fmla="*/ 0 60000 65536"/>
              <a:gd name="T18" fmla="*/ 0 60000 65536"/>
              <a:gd name="T19" fmla="*/ 0 60000 65536"/>
              <a:gd name="T20" fmla="*/ 0 60000 65536"/>
              <a:gd name="T21" fmla="*/ 0 60000 65536"/>
              <a:gd name="T22" fmla="*/ 0 60000 65536"/>
              <a:gd name="T23" fmla="*/ 0 60000 65536"/>
              <a:gd name="T24" fmla="*/ 0 w 576"/>
              <a:gd name="T25" fmla="*/ 0 h 672"/>
              <a:gd name="T26" fmla="*/ 576 w 576"/>
              <a:gd name="T27" fmla="*/ 672 h 6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6" h="672">
                <a:moveTo>
                  <a:pt x="0" y="0"/>
                </a:moveTo>
                <a:lnTo>
                  <a:pt x="144" y="672"/>
                </a:lnTo>
                <a:lnTo>
                  <a:pt x="450" y="672"/>
                </a:lnTo>
                <a:lnTo>
                  <a:pt x="576" y="0"/>
                </a:lnTo>
                <a:lnTo>
                  <a:pt x="336" y="0"/>
                </a:lnTo>
                <a:lnTo>
                  <a:pt x="288" y="96"/>
                </a:lnTo>
                <a:lnTo>
                  <a:pt x="240" y="0"/>
                </a:lnTo>
                <a:lnTo>
                  <a:pt x="0" y="0"/>
                </a:lnTo>
                <a:close/>
              </a:path>
            </a:pathLst>
          </a:custGeom>
          <a:noFill/>
          <a:ln w="31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0924" name="Group 54">
            <a:extLst>
              <a:ext uri="{FF2B5EF4-FFF2-40B4-BE49-F238E27FC236}">
                <a16:creationId xmlns:a16="http://schemas.microsoft.com/office/drawing/2014/main" id="{A737A5BF-DF4C-EE48-8038-E7250BEDA88D}"/>
              </a:ext>
            </a:extLst>
          </p:cNvPr>
          <p:cNvGrpSpPr>
            <a:grpSpLocks/>
          </p:cNvGrpSpPr>
          <p:nvPr/>
        </p:nvGrpSpPr>
        <p:grpSpPr bwMode="auto">
          <a:xfrm flipV="1">
            <a:off x="3382963" y="1600200"/>
            <a:ext cx="993775" cy="76200"/>
            <a:chOff x="1536" y="2256"/>
            <a:chExt cx="626" cy="48"/>
          </a:xfrm>
        </p:grpSpPr>
        <p:sp>
          <p:nvSpPr>
            <p:cNvPr id="81039" name="Rectangle 55">
              <a:extLst>
                <a:ext uri="{FF2B5EF4-FFF2-40B4-BE49-F238E27FC236}">
                  <a16:creationId xmlns:a16="http://schemas.microsoft.com/office/drawing/2014/main" id="{D31E1991-EB1F-A44C-847A-8A32BB594132}"/>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40" name="Freeform 56">
              <a:extLst>
                <a:ext uri="{FF2B5EF4-FFF2-40B4-BE49-F238E27FC236}">
                  <a16:creationId xmlns:a16="http://schemas.microsoft.com/office/drawing/2014/main" id="{BE3E6C31-75CF-8F4F-BDA1-E40EDE09F365}"/>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41" name="Line 57">
              <a:extLst>
                <a:ext uri="{FF2B5EF4-FFF2-40B4-BE49-F238E27FC236}">
                  <a16:creationId xmlns:a16="http://schemas.microsoft.com/office/drawing/2014/main" id="{E8911F48-34EA-674D-B58C-F40686F32D8C}"/>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0925" name="Group 58">
            <a:extLst>
              <a:ext uri="{FF2B5EF4-FFF2-40B4-BE49-F238E27FC236}">
                <a16:creationId xmlns:a16="http://schemas.microsoft.com/office/drawing/2014/main" id="{331631F4-4D39-304C-A6F7-A265CC53F4B5}"/>
              </a:ext>
            </a:extLst>
          </p:cNvPr>
          <p:cNvGrpSpPr>
            <a:grpSpLocks/>
          </p:cNvGrpSpPr>
          <p:nvPr/>
        </p:nvGrpSpPr>
        <p:grpSpPr bwMode="auto">
          <a:xfrm flipV="1">
            <a:off x="3382963" y="2362200"/>
            <a:ext cx="993775" cy="76200"/>
            <a:chOff x="1536" y="2256"/>
            <a:chExt cx="626" cy="48"/>
          </a:xfrm>
        </p:grpSpPr>
        <p:sp>
          <p:nvSpPr>
            <p:cNvPr id="81036" name="Rectangle 59">
              <a:extLst>
                <a:ext uri="{FF2B5EF4-FFF2-40B4-BE49-F238E27FC236}">
                  <a16:creationId xmlns:a16="http://schemas.microsoft.com/office/drawing/2014/main" id="{4A1E28CE-6BF2-8445-A159-B3C0C178B641}"/>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37" name="Freeform 60">
              <a:extLst>
                <a:ext uri="{FF2B5EF4-FFF2-40B4-BE49-F238E27FC236}">
                  <a16:creationId xmlns:a16="http://schemas.microsoft.com/office/drawing/2014/main" id="{481BB189-2EC5-F649-86FC-7BC6B3AFFCDA}"/>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38" name="Line 61">
              <a:extLst>
                <a:ext uri="{FF2B5EF4-FFF2-40B4-BE49-F238E27FC236}">
                  <a16:creationId xmlns:a16="http://schemas.microsoft.com/office/drawing/2014/main" id="{E93AF72F-699E-1848-BCF1-3D4E0F93204E}"/>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0926" name="Group 62">
            <a:extLst>
              <a:ext uri="{FF2B5EF4-FFF2-40B4-BE49-F238E27FC236}">
                <a16:creationId xmlns:a16="http://schemas.microsoft.com/office/drawing/2014/main" id="{F21D31D7-37A2-7049-A166-7C304662AFB7}"/>
              </a:ext>
            </a:extLst>
          </p:cNvPr>
          <p:cNvGrpSpPr>
            <a:grpSpLocks/>
          </p:cNvGrpSpPr>
          <p:nvPr/>
        </p:nvGrpSpPr>
        <p:grpSpPr bwMode="auto">
          <a:xfrm flipV="1">
            <a:off x="3382963" y="1981200"/>
            <a:ext cx="993775" cy="76200"/>
            <a:chOff x="1536" y="2256"/>
            <a:chExt cx="626" cy="48"/>
          </a:xfrm>
        </p:grpSpPr>
        <p:sp>
          <p:nvSpPr>
            <p:cNvPr id="81033" name="Rectangle 63">
              <a:extLst>
                <a:ext uri="{FF2B5EF4-FFF2-40B4-BE49-F238E27FC236}">
                  <a16:creationId xmlns:a16="http://schemas.microsoft.com/office/drawing/2014/main" id="{6F27B714-EE57-4B4C-A9E8-4AE29C5D182D}"/>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34" name="Freeform 64">
              <a:extLst>
                <a:ext uri="{FF2B5EF4-FFF2-40B4-BE49-F238E27FC236}">
                  <a16:creationId xmlns:a16="http://schemas.microsoft.com/office/drawing/2014/main" id="{1D2642C0-9A59-6A44-9E10-F8E3E3C9BFDA}"/>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35" name="Line 65">
              <a:extLst>
                <a:ext uri="{FF2B5EF4-FFF2-40B4-BE49-F238E27FC236}">
                  <a16:creationId xmlns:a16="http://schemas.microsoft.com/office/drawing/2014/main" id="{E03DDDD1-E9BC-2543-8B7F-F17820E433CB}"/>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0927" name="Line 66">
            <a:extLst>
              <a:ext uri="{FF2B5EF4-FFF2-40B4-BE49-F238E27FC236}">
                <a16:creationId xmlns:a16="http://schemas.microsoft.com/office/drawing/2014/main" id="{BE9ECDD4-EEDE-B34F-8F2F-F2B57892EE3F}"/>
              </a:ext>
            </a:extLst>
          </p:cNvPr>
          <p:cNvSpPr>
            <a:spLocks noChangeShapeType="1"/>
          </p:cNvSpPr>
          <p:nvPr/>
        </p:nvSpPr>
        <p:spPr bwMode="auto">
          <a:xfrm flipV="1">
            <a:off x="4144963" y="2590800"/>
            <a:ext cx="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28" name="Line 67">
            <a:extLst>
              <a:ext uri="{FF2B5EF4-FFF2-40B4-BE49-F238E27FC236}">
                <a16:creationId xmlns:a16="http://schemas.microsoft.com/office/drawing/2014/main" id="{21266DDC-2145-3E4B-990A-120BEAD9C7CD}"/>
              </a:ext>
            </a:extLst>
          </p:cNvPr>
          <p:cNvSpPr>
            <a:spLocks noChangeShapeType="1"/>
          </p:cNvSpPr>
          <p:nvPr/>
        </p:nvSpPr>
        <p:spPr bwMode="auto">
          <a:xfrm flipV="1">
            <a:off x="3535363" y="2590800"/>
            <a:ext cx="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29" name="Rectangle 68">
            <a:extLst>
              <a:ext uri="{FF2B5EF4-FFF2-40B4-BE49-F238E27FC236}">
                <a16:creationId xmlns:a16="http://schemas.microsoft.com/office/drawing/2014/main" id="{7E5188BF-D52F-6840-8DB4-0EC573873DBE}"/>
              </a:ext>
            </a:extLst>
          </p:cNvPr>
          <p:cNvSpPr>
            <a:spLocks noChangeArrowheads="1"/>
          </p:cNvSpPr>
          <p:nvPr/>
        </p:nvSpPr>
        <p:spPr bwMode="auto">
          <a:xfrm>
            <a:off x="3078163" y="2819400"/>
            <a:ext cx="1524000" cy="10668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30" name="Freeform 69">
            <a:extLst>
              <a:ext uri="{FF2B5EF4-FFF2-40B4-BE49-F238E27FC236}">
                <a16:creationId xmlns:a16="http://schemas.microsoft.com/office/drawing/2014/main" id="{D1DA0F8D-08EB-6D40-AC4C-F71ADC8F743F}"/>
              </a:ext>
            </a:extLst>
          </p:cNvPr>
          <p:cNvSpPr>
            <a:spLocks/>
          </p:cNvSpPr>
          <p:nvPr/>
        </p:nvSpPr>
        <p:spPr bwMode="auto">
          <a:xfrm>
            <a:off x="3840163" y="3886200"/>
            <a:ext cx="685800" cy="1447800"/>
          </a:xfrm>
          <a:custGeom>
            <a:avLst/>
            <a:gdLst>
              <a:gd name="T0" fmla="*/ 0 w 432"/>
              <a:gd name="T1" fmla="*/ 2147483647 h 912"/>
              <a:gd name="T2" fmla="*/ 0 w 432"/>
              <a:gd name="T3" fmla="*/ 2147483647 h 912"/>
              <a:gd name="T4" fmla="*/ 2147483647 w 432"/>
              <a:gd name="T5" fmla="*/ 2147483647 h 912"/>
              <a:gd name="T6" fmla="*/ 2147483647 w 432"/>
              <a:gd name="T7" fmla="*/ 0 h 912"/>
              <a:gd name="T8" fmla="*/ 0 60000 65536"/>
              <a:gd name="T9" fmla="*/ 0 60000 65536"/>
              <a:gd name="T10" fmla="*/ 0 60000 65536"/>
              <a:gd name="T11" fmla="*/ 0 60000 65536"/>
              <a:gd name="T12" fmla="*/ 0 w 432"/>
              <a:gd name="T13" fmla="*/ 0 h 912"/>
              <a:gd name="T14" fmla="*/ 432 w 432"/>
              <a:gd name="T15" fmla="*/ 912 h 912"/>
            </a:gdLst>
            <a:ahLst/>
            <a:cxnLst>
              <a:cxn ang="T8">
                <a:pos x="T0" y="T1"/>
              </a:cxn>
              <a:cxn ang="T9">
                <a:pos x="T2" y="T3"/>
              </a:cxn>
              <a:cxn ang="T10">
                <a:pos x="T4" y="T5"/>
              </a:cxn>
              <a:cxn ang="T11">
                <a:pos x="T6" y="T7"/>
              </a:cxn>
            </a:cxnLst>
            <a:rect l="T12" t="T13" r="T14" b="T15"/>
            <a:pathLst>
              <a:path w="432" h="912">
                <a:moveTo>
                  <a:pt x="0" y="816"/>
                </a:moveTo>
                <a:lnTo>
                  <a:pt x="0" y="912"/>
                </a:lnTo>
                <a:lnTo>
                  <a:pt x="432" y="912"/>
                </a:lnTo>
                <a:lnTo>
                  <a:pt x="432" y="0"/>
                </a:lnTo>
              </a:path>
            </a:pathLst>
          </a:custGeom>
          <a:noFill/>
          <a:ln w="31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31" name="Freeform 70">
            <a:extLst>
              <a:ext uri="{FF2B5EF4-FFF2-40B4-BE49-F238E27FC236}">
                <a16:creationId xmlns:a16="http://schemas.microsoft.com/office/drawing/2014/main" id="{4783CFC5-D9FB-B74C-8B45-4D07B3D014B4}"/>
              </a:ext>
            </a:extLst>
          </p:cNvPr>
          <p:cNvSpPr>
            <a:spLocks/>
          </p:cNvSpPr>
          <p:nvPr/>
        </p:nvSpPr>
        <p:spPr bwMode="auto">
          <a:xfrm flipV="1">
            <a:off x="3840163" y="1371600"/>
            <a:ext cx="685800" cy="1447800"/>
          </a:xfrm>
          <a:custGeom>
            <a:avLst/>
            <a:gdLst>
              <a:gd name="T0" fmla="*/ 0 w 432"/>
              <a:gd name="T1" fmla="*/ 2147483647 h 912"/>
              <a:gd name="T2" fmla="*/ 0 w 432"/>
              <a:gd name="T3" fmla="*/ 2147483647 h 912"/>
              <a:gd name="T4" fmla="*/ 2147483647 w 432"/>
              <a:gd name="T5" fmla="*/ 2147483647 h 912"/>
              <a:gd name="T6" fmla="*/ 2147483647 w 432"/>
              <a:gd name="T7" fmla="*/ 0 h 912"/>
              <a:gd name="T8" fmla="*/ 0 60000 65536"/>
              <a:gd name="T9" fmla="*/ 0 60000 65536"/>
              <a:gd name="T10" fmla="*/ 0 60000 65536"/>
              <a:gd name="T11" fmla="*/ 0 60000 65536"/>
              <a:gd name="T12" fmla="*/ 0 w 432"/>
              <a:gd name="T13" fmla="*/ 0 h 912"/>
              <a:gd name="T14" fmla="*/ 432 w 432"/>
              <a:gd name="T15" fmla="*/ 912 h 912"/>
            </a:gdLst>
            <a:ahLst/>
            <a:cxnLst>
              <a:cxn ang="T8">
                <a:pos x="T0" y="T1"/>
              </a:cxn>
              <a:cxn ang="T9">
                <a:pos x="T2" y="T3"/>
              </a:cxn>
              <a:cxn ang="T10">
                <a:pos x="T4" y="T5"/>
              </a:cxn>
              <a:cxn ang="T11">
                <a:pos x="T6" y="T7"/>
              </a:cxn>
            </a:cxnLst>
            <a:rect l="T12" t="T13" r="T14" b="T15"/>
            <a:pathLst>
              <a:path w="432" h="912">
                <a:moveTo>
                  <a:pt x="0" y="816"/>
                </a:moveTo>
                <a:lnTo>
                  <a:pt x="0" y="912"/>
                </a:lnTo>
                <a:lnTo>
                  <a:pt x="432" y="912"/>
                </a:lnTo>
                <a:lnTo>
                  <a:pt x="432" y="0"/>
                </a:lnTo>
              </a:path>
            </a:pathLst>
          </a:custGeom>
          <a:noFill/>
          <a:ln w="31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32" name="Line 71">
            <a:extLst>
              <a:ext uri="{FF2B5EF4-FFF2-40B4-BE49-F238E27FC236}">
                <a16:creationId xmlns:a16="http://schemas.microsoft.com/office/drawing/2014/main" id="{DA1FA1C4-97ED-B84D-9993-40575ADB0000}"/>
              </a:ext>
            </a:extLst>
          </p:cNvPr>
          <p:cNvSpPr>
            <a:spLocks noChangeShapeType="1"/>
          </p:cNvSpPr>
          <p:nvPr/>
        </p:nvSpPr>
        <p:spPr bwMode="auto">
          <a:xfrm flipV="1">
            <a:off x="3154363" y="3886200"/>
            <a:ext cx="0" cy="19812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33" name="Line 72">
            <a:extLst>
              <a:ext uri="{FF2B5EF4-FFF2-40B4-BE49-F238E27FC236}">
                <a16:creationId xmlns:a16="http://schemas.microsoft.com/office/drawing/2014/main" id="{CEC5966D-8226-FA40-AE95-FA7E41907AC8}"/>
              </a:ext>
            </a:extLst>
          </p:cNvPr>
          <p:cNvSpPr>
            <a:spLocks noChangeShapeType="1"/>
          </p:cNvSpPr>
          <p:nvPr/>
        </p:nvSpPr>
        <p:spPr bwMode="auto">
          <a:xfrm>
            <a:off x="3306763" y="3886200"/>
            <a:ext cx="0" cy="19812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34" name="Freeform 73">
            <a:extLst>
              <a:ext uri="{FF2B5EF4-FFF2-40B4-BE49-F238E27FC236}">
                <a16:creationId xmlns:a16="http://schemas.microsoft.com/office/drawing/2014/main" id="{0E907BDA-BEA9-7A4D-968A-5B8F2B55918C}"/>
              </a:ext>
            </a:extLst>
          </p:cNvPr>
          <p:cNvSpPr>
            <a:spLocks/>
          </p:cNvSpPr>
          <p:nvPr/>
        </p:nvSpPr>
        <p:spPr bwMode="auto">
          <a:xfrm>
            <a:off x="5287963" y="4114800"/>
            <a:ext cx="914400" cy="1066800"/>
          </a:xfrm>
          <a:custGeom>
            <a:avLst/>
            <a:gdLst>
              <a:gd name="T0" fmla="*/ 0 w 576"/>
              <a:gd name="T1" fmla="*/ 0 h 672"/>
              <a:gd name="T2" fmla="*/ 2147483647 w 576"/>
              <a:gd name="T3" fmla="*/ 2147483647 h 672"/>
              <a:gd name="T4" fmla="*/ 2147483647 w 576"/>
              <a:gd name="T5" fmla="*/ 2147483647 h 672"/>
              <a:gd name="T6" fmla="*/ 2147483647 w 576"/>
              <a:gd name="T7" fmla="*/ 0 h 672"/>
              <a:gd name="T8" fmla="*/ 2147483647 w 576"/>
              <a:gd name="T9" fmla="*/ 0 h 672"/>
              <a:gd name="T10" fmla="*/ 2147483647 w 576"/>
              <a:gd name="T11" fmla="*/ 2147483647 h 672"/>
              <a:gd name="T12" fmla="*/ 2147483647 w 576"/>
              <a:gd name="T13" fmla="*/ 0 h 672"/>
              <a:gd name="T14" fmla="*/ 0 w 576"/>
              <a:gd name="T15" fmla="*/ 0 h 672"/>
              <a:gd name="T16" fmla="*/ 0 60000 65536"/>
              <a:gd name="T17" fmla="*/ 0 60000 65536"/>
              <a:gd name="T18" fmla="*/ 0 60000 65536"/>
              <a:gd name="T19" fmla="*/ 0 60000 65536"/>
              <a:gd name="T20" fmla="*/ 0 60000 65536"/>
              <a:gd name="T21" fmla="*/ 0 60000 65536"/>
              <a:gd name="T22" fmla="*/ 0 60000 65536"/>
              <a:gd name="T23" fmla="*/ 0 60000 65536"/>
              <a:gd name="T24" fmla="*/ 0 w 576"/>
              <a:gd name="T25" fmla="*/ 0 h 672"/>
              <a:gd name="T26" fmla="*/ 576 w 576"/>
              <a:gd name="T27" fmla="*/ 672 h 6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6" h="672">
                <a:moveTo>
                  <a:pt x="0" y="0"/>
                </a:moveTo>
                <a:lnTo>
                  <a:pt x="144" y="672"/>
                </a:lnTo>
                <a:lnTo>
                  <a:pt x="450" y="672"/>
                </a:lnTo>
                <a:lnTo>
                  <a:pt x="576" y="0"/>
                </a:lnTo>
                <a:lnTo>
                  <a:pt x="336" y="0"/>
                </a:lnTo>
                <a:lnTo>
                  <a:pt x="288" y="96"/>
                </a:lnTo>
                <a:lnTo>
                  <a:pt x="240" y="0"/>
                </a:lnTo>
                <a:lnTo>
                  <a:pt x="0" y="0"/>
                </a:lnTo>
                <a:close/>
              </a:path>
            </a:pathLst>
          </a:custGeom>
          <a:noFill/>
          <a:ln w="31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0935" name="Group 74">
            <a:extLst>
              <a:ext uri="{FF2B5EF4-FFF2-40B4-BE49-F238E27FC236}">
                <a16:creationId xmlns:a16="http://schemas.microsoft.com/office/drawing/2014/main" id="{2061077D-0B61-C044-A68A-D5A51DAC3475}"/>
              </a:ext>
            </a:extLst>
          </p:cNvPr>
          <p:cNvGrpSpPr>
            <a:grpSpLocks/>
          </p:cNvGrpSpPr>
          <p:nvPr/>
        </p:nvGrpSpPr>
        <p:grpSpPr bwMode="auto">
          <a:xfrm>
            <a:off x="5287963" y="5029200"/>
            <a:ext cx="993775" cy="76200"/>
            <a:chOff x="1536" y="2256"/>
            <a:chExt cx="626" cy="48"/>
          </a:xfrm>
        </p:grpSpPr>
        <p:sp>
          <p:nvSpPr>
            <p:cNvPr id="81030" name="Rectangle 75">
              <a:extLst>
                <a:ext uri="{FF2B5EF4-FFF2-40B4-BE49-F238E27FC236}">
                  <a16:creationId xmlns:a16="http://schemas.microsoft.com/office/drawing/2014/main" id="{013D66DB-E6E4-6045-B874-0B1F0FD369CD}"/>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31" name="Freeform 76">
              <a:extLst>
                <a:ext uri="{FF2B5EF4-FFF2-40B4-BE49-F238E27FC236}">
                  <a16:creationId xmlns:a16="http://schemas.microsoft.com/office/drawing/2014/main" id="{581BE2C1-6FB6-D44A-9D7E-D9EFFF956D4C}"/>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32" name="Line 77">
              <a:extLst>
                <a:ext uri="{FF2B5EF4-FFF2-40B4-BE49-F238E27FC236}">
                  <a16:creationId xmlns:a16="http://schemas.microsoft.com/office/drawing/2014/main" id="{44424AFB-06FC-5744-B592-4978A705BFA5}"/>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0936" name="Group 78">
            <a:extLst>
              <a:ext uri="{FF2B5EF4-FFF2-40B4-BE49-F238E27FC236}">
                <a16:creationId xmlns:a16="http://schemas.microsoft.com/office/drawing/2014/main" id="{68C5AB90-CB24-484A-8F3B-E303C52BE7B7}"/>
              </a:ext>
            </a:extLst>
          </p:cNvPr>
          <p:cNvGrpSpPr>
            <a:grpSpLocks/>
          </p:cNvGrpSpPr>
          <p:nvPr/>
        </p:nvGrpSpPr>
        <p:grpSpPr bwMode="auto">
          <a:xfrm>
            <a:off x="5287963" y="4267200"/>
            <a:ext cx="993775" cy="76200"/>
            <a:chOff x="1536" y="2256"/>
            <a:chExt cx="626" cy="48"/>
          </a:xfrm>
        </p:grpSpPr>
        <p:sp>
          <p:nvSpPr>
            <p:cNvPr id="81027" name="Rectangle 79">
              <a:extLst>
                <a:ext uri="{FF2B5EF4-FFF2-40B4-BE49-F238E27FC236}">
                  <a16:creationId xmlns:a16="http://schemas.microsoft.com/office/drawing/2014/main" id="{94FC80BC-238C-3342-A518-6229D993A9BA}"/>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28" name="Freeform 80">
              <a:extLst>
                <a:ext uri="{FF2B5EF4-FFF2-40B4-BE49-F238E27FC236}">
                  <a16:creationId xmlns:a16="http://schemas.microsoft.com/office/drawing/2014/main" id="{F64AAA9E-1F42-BE40-882D-CD4C1AF896B3}"/>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29" name="Line 81">
              <a:extLst>
                <a:ext uri="{FF2B5EF4-FFF2-40B4-BE49-F238E27FC236}">
                  <a16:creationId xmlns:a16="http://schemas.microsoft.com/office/drawing/2014/main" id="{A1639498-5295-1B41-B86B-2A93A1C2AEFF}"/>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0937" name="Group 82">
            <a:extLst>
              <a:ext uri="{FF2B5EF4-FFF2-40B4-BE49-F238E27FC236}">
                <a16:creationId xmlns:a16="http://schemas.microsoft.com/office/drawing/2014/main" id="{3EC4FC4C-6077-BB4E-B3BF-79B5F4F1A70A}"/>
              </a:ext>
            </a:extLst>
          </p:cNvPr>
          <p:cNvGrpSpPr>
            <a:grpSpLocks/>
          </p:cNvGrpSpPr>
          <p:nvPr/>
        </p:nvGrpSpPr>
        <p:grpSpPr bwMode="auto">
          <a:xfrm>
            <a:off x="5287963" y="4648200"/>
            <a:ext cx="993775" cy="76200"/>
            <a:chOff x="1536" y="2256"/>
            <a:chExt cx="626" cy="48"/>
          </a:xfrm>
        </p:grpSpPr>
        <p:sp>
          <p:nvSpPr>
            <p:cNvPr id="81024" name="Rectangle 83">
              <a:extLst>
                <a:ext uri="{FF2B5EF4-FFF2-40B4-BE49-F238E27FC236}">
                  <a16:creationId xmlns:a16="http://schemas.microsoft.com/office/drawing/2014/main" id="{0988B93A-BE92-CF48-8AF5-2931F739CE45}"/>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25" name="Freeform 84">
              <a:extLst>
                <a:ext uri="{FF2B5EF4-FFF2-40B4-BE49-F238E27FC236}">
                  <a16:creationId xmlns:a16="http://schemas.microsoft.com/office/drawing/2014/main" id="{9EBEB522-6EFF-F745-B5F2-CB65B194051B}"/>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26" name="Line 85">
              <a:extLst>
                <a:ext uri="{FF2B5EF4-FFF2-40B4-BE49-F238E27FC236}">
                  <a16:creationId xmlns:a16="http://schemas.microsoft.com/office/drawing/2014/main" id="{A8BA03A1-35A6-154B-B878-718DC3CBE1D6}"/>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0938" name="Line 86">
            <a:extLst>
              <a:ext uri="{FF2B5EF4-FFF2-40B4-BE49-F238E27FC236}">
                <a16:creationId xmlns:a16="http://schemas.microsoft.com/office/drawing/2014/main" id="{90BC8421-4BBC-7345-8974-E40D97505CA8}"/>
              </a:ext>
            </a:extLst>
          </p:cNvPr>
          <p:cNvSpPr>
            <a:spLocks noChangeShapeType="1"/>
          </p:cNvSpPr>
          <p:nvPr/>
        </p:nvSpPr>
        <p:spPr bwMode="auto">
          <a:xfrm>
            <a:off x="6049963" y="3886200"/>
            <a:ext cx="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39" name="Line 87">
            <a:extLst>
              <a:ext uri="{FF2B5EF4-FFF2-40B4-BE49-F238E27FC236}">
                <a16:creationId xmlns:a16="http://schemas.microsoft.com/office/drawing/2014/main" id="{C1F1840E-202A-BF4B-AC77-F0F076561288}"/>
              </a:ext>
            </a:extLst>
          </p:cNvPr>
          <p:cNvSpPr>
            <a:spLocks noChangeShapeType="1"/>
          </p:cNvSpPr>
          <p:nvPr/>
        </p:nvSpPr>
        <p:spPr bwMode="auto">
          <a:xfrm>
            <a:off x="5440363" y="3886200"/>
            <a:ext cx="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40" name="Freeform 88">
            <a:extLst>
              <a:ext uri="{FF2B5EF4-FFF2-40B4-BE49-F238E27FC236}">
                <a16:creationId xmlns:a16="http://schemas.microsoft.com/office/drawing/2014/main" id="{1AA1F669-F090-394B-93D2-08A8738755EA}"/>
              </a:ext>
            </a:extLst>
          </p:cNvPr>
          <p:cNvSpPr>
            <a:spLocks/>
          </p:cNvSpPr>
          <p:nvPr/>
        </p:nvSpPr>
        <p:spPr bwMode="auto">
          <a:xfrm flipV="1">
            <a:off x="5287963" y="1524000"/>
            <a:ext cx="914400" cy="1066800"/>
          </a:xfrm>
          <a:custGeom>
            <a:avLst/>
            <a:gdLst>
              <a:gd name="T0" fmla="*/ 0 w 576"/>
              <a:gd name="T1" fmla="*/ 0 h 672"/>
              <a:gd name="T2" fmla="*/ 2147483647 w 576"/>
              <a:gd name="T3" fmla="*/ 2147483647 h 672"/>
              <a:gd name="T4" fmla="*/ 2147483647 w 576"/>
              <a:gd name="T5" fmla="*/ 2147483647 h 672"/>
              <a:gd name="T6" fmla="*/ 2147483647 w 576"/>
              <a:gd name="T7" fmla="*/ 0 h 672"/>
              <a:gd name="T8" fmla="*/ 2147483647 w 576"/>
              <a:gd name="T9" fmla="*/ 0 h 672"/>
              <a:gd name="T10" fmla="*/ 2147483647 w 576"/>
              <a:gd name="T11" fmla="*/ 2147483647 h 672"/>
              <a:gd name="T12" fmla="*/ 2147483647 w 576"/>
              <a:gd name="T13" fmla="*/ 0 h 672"/>
              <a:gd name="T14" fmla="*/ 0 w 576"/>
              <a:gd name="T15" fmla="*/ 0 h 672"/>
              <a:gd name="T16" fmla="*/ 0 60000 65536"/>
              <a:gd name="T17" fmla="*/ 0 60000 65536"/>
              <a:gd name="T18" fmla="*/ 0 60000 65536"/>
              <a:gd name="T19" fmla="*/ 0 60000 65536"/>
              <a:gd name="T20" fmla="*/ 0 60000 65536"/>
              <a:gd name="T21" fmla="*/ 0 60000 65536"/>
              <a:gd name="T22" fmla="*/ 0 60000 65536"/>
              <a:gd name="T23" fmla="*/ 0 60000 65536"/>
              <a:gd name="T24" fmla="*/ 0 w 576"/>
              <a:gd name="T25" fmla="*/ 0 h 672"/>
              <a:gd name="T26" fmla="*/ 576 w 576"/>
              <a:gd name="T27" fmla="*/ 672 h 6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6" h="672">
                <a:moveTo>
                  <a:pt x="0" y="0"/>
                </a:moveTo>
                <a:lnTo>
                  <a:pt x="144" y="672"/>
                </a:lnTo>
                <a:lnTo>
                  <a:pt x="450" y="672"/>
                </a:lnTo>
                <a:lnTo>
                  <a:pt x="576" y="0"/>
                </a:lnTo>
                <a:lnTo>
                  <a:pt x="336" y="0"/>
                </a:lnTo>
                <a:lnTo>
                  <a:pt x="288" y="96"/>
                </a:lnTo>
                <a:lnTo>
                  <a:pt x="240" y="0"/>
                </a:lnTo>
                <a:lnTo>
                  <a:pt x="0" y="0"/>
                </a:lnTo>
                <a:close/>
              </a:path>
            </a:pathLst>
          </a:custGeom>
          <a:noFill/>
          <a:ln w="31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0941" name="Group 89">
            <a:extLst>
              <a:ext uri="{FF2B5EF4-FFF2-40B4-BE49-F238E27FC236}">
                <a16:creationId xmlns:a16="http://schemas.microsoft.com/office/drawing/2014/main" id="{3CAE3F76-4477-2846-A0D4-15F991EEDBE8}"/>
              </a:ext>
            </a:extLst>
          </p:cNvPr>
          <p:cNvGrpSpPr>
            <a:grpSpLocks/>
          </p:cNvGrpSpPr>
          <p:nvPr/>
        </p:nvGrpSpPr>
        <p:grpSpPr bwMode="auto">
          <a:xfrm flipV="1">
            <a:off x="5287963" y="1600200"/>
            <a:ext cx="993775" cy="76200"/>
            <a:chOff x="1536" y="2256"/>
            <a:chExt cx="626" cy="48"/>
          </a:xfrm>
        </p:grpSpPr>
        <p:sp>
          <p:nvSpPr>
            <p:cNvPr id="81021" name="Rectangle 90">
              <a:extLst>
                <a:ext uri="{FF2B5EF4-FFF2-40B4-BE49-F238E27FC236}">
                  <a16:creationId xmlns:a16="http://schemas.microsoft.com/office/drawing/2014/main" id="{1DB05450-825B-DB4B-B7F8-872D042859FA}"/>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22" name="Freeform 91">
              <a:extLst>
                <a:ext uri="{FF2B5EF4-FFF2-40B4-BE49-F238E27FC236}">
                  <a16:creationId xmlns:a16="http://schemas.microsoft.com/office/drawing/2014/main" id="{6AEC94DC-CE03-CE4D-9042-18BA51CA7952}"/>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23" name="Line 92">
              <a:extLst>
                <a:ext uri="{FF2B5EF4-FFF2-40B4-BE49-F238E27FC236}">
                  <a16:creationId xmlns:a16="http://schemas.microsoft.com/office/drawing/2014/main" id="{CC685BC1-B96F-7A46-A9E9-766F77F34DA2}"/>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0942" name="Group 93">
            <a:extLst>
              <a:ext uri="{FF2B5EF4-FFF2-40B4-BE49-F238E27FC236}">
                <a16:creationId xmlns:a16="http://schemas.microsoft.com/office/drawing/2014/main" id="{97E412B0-DD22-934E-83B9-744AB98B6C3E}"/>
              </a:ext>
            </a:extLst>
          </p:cNvPr>
          <p:cNvGrpSpPr>
            <a:grpSpLocks/>
          </p:cNvGrpSpPr>
          <p:nvPr/>
        </p:nvGrpSpPr>
        <p:grpSpPr bwMode="auto">
          <a:xfrm flipV="1">
            <a:off x="5287963" y="2362200"/>
            <a:ext cx="993775" cy="76200"/>
            <a:chOff x="1536" y="2256"/>
            <a:chExt cx="626" cy="48"/>
          </a:xfrm>
        </p:grpSpPr>
        <p:sp>
          <p:nvSpPr>
            <p:cNvPr id="81018" name="Rectangle 94">
              <a:extLst>
                <a:ext uri="{FF2B5EF4-FFF2-40B4-BE49-F238E27FC236}">
                  <a16:creationId xmlns:a16="http://schemas.microsoft.com/office/drawing/2014/main" id="{64C4AE2C-598C-814A-918F-179E67D0275D}"/>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19" name="Freeform 95">
              <a:extLst>
                <a:ext uri="{FF2B5EF4-FFF2-40B4-BE49-F238E27FC236}">
                  <a16:creationId xmlns:a16="http://schemas.microsoft.com/office/drawing/2014/main" id="{D7620025-48B1-7846-B866-F67853917DB9}"/>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20" name="Line 96">
              <a:extLst>
                <a:ext uri="{FF2B5EF4-FFF2-40B4-BE49-F238E27FC236}">
                  <a16:creationId xmlns:a16="http://schemas.microsoft.com/office/drawing/2014/main" id="{15C6D2AD-3AC8-E44C-BD77-D7C1722A99D5}"/>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0943" name="Group 97">
            <a:extLst>
              <a:ext uri="{FF2B5EF4-FFF2-40B4-BE49-F238E27FC236}">
                <a16:creationId xmlns:a16="http://schemas.microsoft.com/office/drawing/2014/main" id="{1B8DA6EC-5ED7-0649-B48E-A085538CB7B5}"/>
              </a:ext>
            </a:extLst>
          </p:cNvPr>
          <p:cNvGrpSpPr>
            <a:grpSpLocks/>
          </p:cNvGrpSpPr>
          <p:nvPr/>
        </p:nvGrpSpPr>
        <p:grpSpPr bwMode="auto">
          <a:xfrm flipV="1">
            <a:off x="5287963" y="1981200"/>
            <a:ext cx="993775" cy="76200"/>
            <a:chOff x="1536" y="2256"/>
            <a:chExt cx="626" cy="48"/>
          </a:xfrm>
        </p:grpSpPr>
        <p:sp>
          <p:nvSpPr>
            <p:cNvPr id="81015" name="Rectangle 98">
              <a:extLst>
                <a:ext uri="{FF2B5EF4-FFF2-40B4-BE49-F238E27FC236}">
                  <a16:creationId xmlns:a16="http://schemas.microsoft.com/office/drawing/2014/main" id="{24F717A4-347B-554C-96F6-666261A8C8A2}"/>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16" name="Freeform 99">
              <a:extLst>
                <a:ext uri="{FF2B5EF4-FFF2-40B4-BE49-F238E27FC236}">
                  <a16:creationId xmlns:a16="http://schemas.microsoft.com/office/drawing/2014/main" id="{22024201-188C-C141-8CF6-EEE5662CA2E2}"/>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17" name="Line 100">
              <a:extLst>
                <a:ext uri="{FF2B5EF4-FFF2-40B4-BE49-F238E27FC236}">
                  <a16:creationId xmlns:a16="http://schemas.microsoft.com/office/drawing/2014/main" id="{AFA3DF97-37FC-1D46-B242-226F3AA93E4F}"/>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0944" name="Line 101">
            <a:extLst>
              <a:ext uri="{FF2B5EF4-FFF2-40B4-BE49-F238E27FC236}">
                <a16:creationId xmlns:a16="http://schemas.microsoft.com/office/drawing/2014/main" id="{6B108CD5-60BE-BE41-B77B-A256C9A1031F}"/>
              </a:ext>
            </a:extLst>
          </p:cNvPr>
          <p:cNvSpPr>
            <a:spLocks noChangeShapeType="1"/>
          </p:cNvSpPr>
          <p:nvPr/>
        </p:nvSpPr>
        <p:spPr bwMode="auto">
          <a:xfrm flipV="1">
            <a:off x="6049963" y="2590800"/>
            <a:ext cx="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45" name="Line 102">
            <a:extLst>
              <a:ext uri="{FF2B5EF4-FFF2-40B4-BE49-F238E27FC236}">
                <a16:creationId xmlns:a16="http://schemas.microsoft.com/office/drawing/2014/main" id="{7BFC435B-6C08-F347-B95D-E51E2C161FFD}"/>
              </a:ext>
            </a:extLst>
          </p:cNvPr>
          <p:cNvSpPr>
            <a:spLocks noChangeShapeType="1"/>
          </p:cNvSpPr>
          <p:nvPr/>
        </p:nvSpPr>
        <p:spPr bwMode="auto">
          <a:xfrm flipV="1">
            <a:off x="5440363" y="2590800"/>
            <a:ext cx="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46" name="Rectangle 103">
            <a:extLst>
              <a:ext uri="{FF2B5EF4-FFF2-40B4-BE49-F238E27FC236}">
                <a16:creationId xmlns:a16="http://schemas.microsoft.com/office/drawing/2014/main" id="{E0F18959-8A5E-DD4E-902F-0F886E101C09}"/>
              </a:ext>
            </a:extLst>
          </p:cNvPr>
          <p:cNvSpPr>
            <a:spLocks noChangeArrowheads="1"/>
          </p:cNvSpPr>
          <p:nvPr/>
        </p:nvSpPr>
        <p:spPr bwMode="auto">
          <a:xfrm>
            <a:off x="4983163" y="2819400"/>
            <a:ext cx="1524000" cy="10668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47" name="Freeform 104">
            <a:extLst>
              <a:ext uri="{FF2B5EF4-FFF2-40B4-BE49-F238E27FC236}">
                <a16:creationId xmlns:a16="http://schemas.microsoft.com/office/drawing/2014/main" id="{01D8E915-CABB-3B4F-9019-77BF1B197340}"/>
              </a:ext>
            </a:extLst>
          </p:cNvPr>
          <p:cNvSpPr>
            <a:spLocks/>
          </p:cNvSpPr>
          <p:nvPr/>
        </p:nvSpPr>
        <p:spPr bwMode="auto">
          <a:xfrm>
            <a:off x="5745163" y="3886200"/>
            <a:ext cx="685800" cy="1447800"/>
          </a:xfrm>
          <a:custGeom>
            <a:avLst/>
            <a:gdLst>
              <a:gd name="T0" fmla="*/ 0 w 432"/>
              <a:gd name="T1" fmla="*/ 2147483647 h 912"/>
              <a:gd name="T2" fmla="*/ 0 w 432"/>
              <a:gd name="T3" fmla="*/ 2147483647 h 912"/>
              <a:gd name="T4" fmla="*/ 2147483647 w 432"/>
              <a:gd name="T5" fmla="*/ 2147483647 h 912"/>
              <a:gd name="T6" fmla="*/ 2147483647 w 432"/>
              <a:gd name="T7" fmla="*/ 0 h 912"/>
              <a:gd name="T8" fmla="*/ 0 60000 65536"/>
              <a:gd name="T9" fmla="*/ 0 60000 65536"/>
              <a:gd name="T10" fmla="*/ 0 60000 65536"/>
              <a:gd name="T11" fmla="*/ 0 60000 65536"/>
              <a:gd name="T12" fmla="*/ 0 w 432"/>
              <a:gd name="T13" fmla="*/ 0 h 912"/>
              <a:gd name="T14" fmla="*/ 432 w 432"/>
              <a:gd name="T15" fmla="*/ 912 h 912"/>
            </a:gdLst>
            <a:ahLst/>
            <a:cxnLst>
              <a:cxn ang="T8">
                <a:pos x="T0" y="T1"/>
              </a:cxn>
              <a:cxn ang="T9">
                <a:pos x="T2" y="T3"/>
              </a:cxn>
              <a:cxn ang="T10">
                <a:pos x="T4" y="T5"/>
              </a:cxn>
              <a:cxn ang="T11">
                <a:pos x="T6" y="T7"/>
              </a:cxn>
            </a:cxnLst>
            <a:rect l="T12" t="T13" r="T14" b="T15"/>
            <a:pathLst>
              <a:path w="432" h="912">
                <a:moveTo>
                  <a:pt x="0" y="816"/>
                </a:moveTo>
                <a:lnTo>
                  <a:pt x="0" y="912"/>
                </a:lnTo>
                <a:lnTo>
                  <a:pt x="432" y="912"/>
                </a:lnTo>
                <a:lnTo>
                  <a:pt x="432" y="0"/>
                </a:lnTo>
              </a:path>
            </a:pathLst>
          </a:custGeom>
          <a:noFill/>
          <a:ln w="31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48" name="Freeform 105">
            <a:extLst>
              <a:ext uri="{FF2B5EF4-FFF2-40B4-BE49-F238E27FC236}">
                <a16:creationId xmlns:a16="http://schemas.microsoft.com/office/drawing/2014/main" id="{ADAABEAA-2431-B647-B344-338120C0F3F3}"/>
              </a:ext>
            </a:extLst>
          </p:cNvPr>
          <p:cNvSpPr>
            <a:spLocks/>
          </p:cNvSpPr>
          <p:nvPr/>
        </p:nvSpPr>
        <p:spPr bwMode="auto">
          <a:xfrm flipV="1">
            <a:off x="5745163" y="1371600"/>
            <a:ext cx="685800" cy="1447800"/>
          </a:xfrm>
          <a:custGeom>
            <a:avLst/>
            <a:gdLst>
              <a:gd name="T0" fmla="*/ 0 w 432"/>
              <a:gd name="T1" fmla="*/ 2147483647 h 912"/>
              <a:gd name="T2" fmla="*/ 0 w 432"/>
              <a:gd name="T3" fmla="*/ 2147483647 h 912"/>
              <a:gd name="T4" fmla="*/ 2147483647 w 432"/>
              <a:gd name="T5" fmla="*/ 2147483647 h 912"/>
              <a:gd name="T6" fmla="*/ 2147483647 w 432"/>
              <a:gd name="T7" fmla="*/ 0 h 912"/>
              <a:gd name="T8" fmla="*/ 0 60000 65536"/>
              <a:gd name="T9" fmla="*/ 0 60000 65536"/>
              <a:gd name="T10" fmla="*/ 0 60000 65536"/>
              <a:gd name="T11" fmla="*/ 0 60000 65536"/>
              <a:gd name="T12" fmla="*/ 0 w 432"/>
              <a:gd name="T13" fmla="*/ 0 h 912"/>
              <a:gd name="T14" fmla="*/ 432 w 432"/>
              <a:gd name="T15" fmla="*/ 912 h 912"/>
            </a:gdLst>
            <a:ahLst/>
            <a:cxnLst>
              <a:cxn ang="T8">
                <a:pos x="T0" y="T1"/>
              </a:cxn>
              <a:cxn ang="T9">
                <a:pos x="T2" y="T3"/>
              </a:cxn>
              <a:cxn ang="T10">
                <a:pos x="T4" y="T5"/>
              </a:cxn>
              <a:cxn ang="T11">
                <a:pos x="T6" y="T7"/>
              </a:cxn>
            </a:cxnLst>
            <a:rect l="T12" t="T13" r="T14" b="T15"/>
            <a:pathLst>
              <a:path w="432" h="912">
                <a:moveTo>
                  <a:pt x="0" y="816"/>
                </a:moveTo>
                <a:lnTo>
                  <a:pt x="0" y="912"/>
                </a:lnTo>
                <a:lnTo>
                  <a:pt x="432" y="912"/>
                </a:lnTo>
                <a:lnTo>
                  <a:pt x="432" y="0"/>
                </a:lnTo>
              </a:path>
            </a:pathLst>
          </a:custGeom>
          <a:noFill/>
          <a:ln w="31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49" name="Line 106">
            <a:extLst>
              <a:ext uri="{FF2B5EF4-FFF2-40B4-BE49-F238E27FC236}">
                <a16:creationId xmlns:a16="http://schemas.microsoft.com/office/drawing/2014/main" id="{742D2306-295C-F647-9B2E-2BBF38B12620}"/>
              </a:ext>
            </a:extLst>
          </p:cNvPr>
          <p:cNvSpPr>
            <a:spLocks noChangeShapeType="1"/>
          </p:cNvSpPr>
          <p:nvPr/>
        </p:nvSpPr>
        <p:spPr bwMode="auto">
          <a:xfrm flipV="1">
            <a:off x="5059363" y="3886200"/>
            <a:ext cx="0" cy="19812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50" name="Line 107">
            <a:extLst>
              <a:ext uri="{FF2B5EF4-FFF2-40B4-BE49-F238E27FC236}">
                <a16:creationId xmlns:a16="http://schemas.microsoft.com/office/drawing/2014/main" id="{F8259DCB-BD13-284D-9663-25570EC40E5F}"/>
              </a:ext>
            </a:extLst>
          </p:cNvPr>
          <p:cNvSpPr>
            <a:spLocks noChangeShapeType="1"/>
          </p:cNvSpPr>
          <p:nvPr/>
        </p:nvSpPr>
        <p:spPr bwMode="auto">
          <a:xfrm>
            <a:off x="5211763" y="3886200"/>
            <a:ext cx="0" cy="19812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51" name="Freeform 108">
            <a:extLst>
              <a:ext uri="{FF2B5EF4-FFF2-40B4-BE49-F238E27FC236}">
                <a16:creationId xmlns:a16="http://schemas.microsoft.com/office/drawing/2014/main" id="{6BBE81F6-45AB-A140-9908-B0E6B4E755E8}"/>
              </a:ext>
            </a:extLst>
          </p:cNvPr>
          <p:cNvSpPr>
            <a:spLocks/>
          </p:cNvSpPr>
          <p:nvPr/>
        </p:nvSpPr>
        <p:spPr bwMode="auto">
          <a:xfrm>
            <a:off x="7192963" y="4114800"/>
            <a:ext cx="914400" cy="1066800"/>
          </a:xfrm>
          <a:custGeom>
            <a:avLst/>
            <a:gdLst>
              <a:gd name="T0" fmla="*/ 0 w 576"/>
              <a:gd name="T1" fmla="*/ 0 h 672"/>
              <a:gd name="T2" fmla="*/ 2147483647 w 576"/>
              <a:gd name="T3" fmla="*/ 2147483647 h 672"/>
              <a:gd name="T4" fmla="*/ 2147483647 w 576"/>
              <a:gd name="T5" fmla="*/ 2147483647 h 672"/>
              <a:gd name="T6" fmla="*/ 2147483647 w 576"/>
              <a:gd name="T7" fmla="*/ 0 h 672"/>
              <a:gd name="T8" fmla="*/ 2147483647 w 576"/>
              <a:gd name="T9" fmla="*/ 0 h 672"/>
              <a:gd name="T10" fmla="*/ 2147483647 w 576"/>
              <a:gd name="T11" fmla="*/ 2147483647 h 672"/>
              <a:gd name="T12" fmla="*/ 2147483647 w 576"/>
              <a:gd name="T13" fmla="*/ 0 h 672"/>
              <a:gd name="T14" fmla="*/ 0 w 576"/>
              <a:gd name="T15" fmla="*/ 0 h 672"/>
              <a:gd name="T16" fmla="*/ 0 60000 65536"/>
              <a:gd name="T17" fmla="*/ 0 60000 65536"/>
              <a:gd name="T18" fmla="*/ 0 60000 65536"/>
              <a:gd name="T19" fmla="*/ 0 60000 65536"/>
              <a:gd name="T20" fmla="*/ 0 60000 65536"/>
              <a:gd name="T21" fmla="*/ 0 60000 65536"/>
              <a:gd name="T22" fmla="*/ 0 60000 65536"/>
              <a:gd name="T23" fmla="*/ 0 60000 65536"/>
              <a:gd name="T24" fmla="*/ 0 w 576"/>
              <a:gd name="T25" fmla="*/ 0 h 672"/>
              <a:gd name="T26" fmla="*/ 576 w 576"/>
              <a:gd name="T27" fmla="*/ 672 h 6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6" h="672">
                <a:moveTo>
                  <a:pt x="0" y="0"/>
                </a:moveTo>
                <a:lnTo>
                  <a:pt x="144" y="672"/>
                </a:lnTo>
                <a:lnTo>
                  <a:pt x="450" y="672"/>
                </a:lnTo>
                <a:lnTo>
                  <a:pt x="576" y="0"/>
                </a:lnTo>
                <a:lnTo>
                  <a:pt x="336" y="0"/>
                </a:lnTo>
                <a:lnTo>
                  <a:pt x="288" y="96"/>
                </a:lnTo>
                <a:lnTo>
                  <a:pt x="240" y="0"/>
                </a:lnTo>
                <a:lnTo>
                  <a:pt x="0" y="0"/>
                </a:lnTo>
                <a:close/>
              </a:path>
            </a:pathLst>
          </a:custGeom>
          <a:noFill/>
          <a:ln w="31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0952" name="Group 109">
            <a:extLst>
              <a:ext uri="{FF2B5EF4-FFF2-40B4-BE49-F238E27FC236}">
                <a16:creationId xmlns:a16="http://schemas.microsoft.com/office/drawing/2014/main" id="{ABEE8A80-52B6-FE4E-BDB6-C6944FB91CC8}"/>
              </a:ext>
            </a:extLst>
          </p:cNvPr>
          <p:cNvGrpSpPr>
            <a:grpSpLocks/>
          </p:cNvGrpSpPr>
          <p:nvPr/>
        </p:nvGrpSpPr>
        <p:grpSpPr bwMode="auto">
          <a:xfrm>
            <a:off x="7192963" y="5029200"/>
            <a:ext cx="993775" cy="76200"/>
            <a:chOff x="1536" y="2256"/>
            <a:chExt cx="626" cy="48"/>
          </a:xfrm>
        </p:grpSpPr>
        <p:sp>
          <p:nvSpPr>
            <p:cNvPr id="81012" name="Rectangle 110">
              <a:extLst>
                <a:ext uri="{FF2B5EF4-FFF2-40B4-BE49-F238E27FC236}">
                  <a16:creationId xmlns:a16="http://schemas.microsoft.com/office/drawing/2014/main" id="{6172BB70-000F-1F4B-825C-17CC24AE8DEB}"/>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13" name="Freeform 111">
              <a:extLst>
                <a:ext uri="{FF2B5EF4-FFF2-40B4-BE49-F238E27FC236}">
                  <a16:creationId xmlns:a16="http://schemas.microsoft.com/office/drawing/2014/main" id="{10705DAF-0987-5942-94D2-220A59878942}"/>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14" name="Line 112">
              <a:extLst>
                <a:ext uri="{FF2B5EF4-FFF2-40B4-BE49-F238E27FC236}">
                  <a16:creationId xmlns:a16="http://schemas.microsoft.com/office/drawing/2014/main" id="{429A9A3E-6568-EE40-B9B0-071B165975ED}"/>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0953" name="Group 113">
            <a:extLst>
              <a:ext uri="{FF2B5EF4-FFF2-40B4-BE49-F238E27FC236}">
                <a16:creationId xmlns:a16="http://schemas.microsoft.com/office/drawing/2014/main" id="{68F4B3E2-22AC-5448-B06F-DFC7FE54E623}"/>
              </a:ext>
            </a:extLst>
          </p:cNvPr>
          <p:cNvGrpSpPr>
            <a:grpSpLocks/>
          </p:cNvGrpSpPr>
          <p:nvPr/>
        </p:nvGrpSpPr>
        <p:grpSpPr bwMode="auto">
          <a:xfrm>
            <a:off x="7192963" y="4267200"/>
            <a:ext cx="993775" cy="76200"/>
            <a:chOff x="1536" y="2256"/>
            <a:chExt cx="626" cy="48"/>
          </a:xfrm>
        </p:grpSpPr>
        <p:sp>
          <p:nvSpPr>
            <p:cNvPr id="81009" name="Rectangle 114">
              <a:extLst>
                <a:ext uri="{FF2B5EF4-FFF2-40B4-BE49-F238E27FC236}">
                  <a16:creationId xmlns:a16="http://schemas.microsoft.com/office/drawing/2014/main" id="{B35B44F0-03AE-AD4C-A9D6-395317E6B548}"/>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10" name="Freeform 115">
              <a:extLst>
                <a:ext uri="{FF2B5EF4-FFF2-40B4-BE49-F238E27FC236}">
                  <a16:creationId xmlns:a16="http://schemas.microsoft.com/office/drawing/2014/main" id="{92320552-1DEC-AA4A-A89D-BFA6C3B63048}"/>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11" name="Line 116">
              <a:extLst>
                <a:ext uri="{FF2B5EF4-FFF2-40B4-BE49-F238E27FC236}">
                  <a16:creationId xmlns:a16="http://schemas.microsoft.com/office/drawing/2014/main" id="{E957F1C6-A69E-EB4C-B14B-32AB413294B5}"/>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0954" name="Group 117">
            <a:extLst>
              <a:ext uri="{FF2B5EF4-FFF2-40B4-BE49-F238E27FC236}">
                <a16:creationId xmlns:a16="http://schemas.microsoft.com/office/drawing/2014/main" id="{19B7E3A4-9210-1543-9C30-5D87AC14239D}"/>
              </a:ext>
            </a:extLst>
          </p:cNvPr>
          <p:cNvGrpSpPr>
            <a:grpSpLocks/>
          </p:cNvGrpSpPr>
          <p:nvPr/>
        </p:nvGrpSpPr>
        <p:grpSpPr bwMode="auto">
          <a:xfrm>
            <a:off x="7192963" y="4648200"/>
            <a:ext cx="993775" cy="76200"/>
            <a:chOff x="1536" y="2256"/>
            <a:chExt cx="626" cy="48"/>
          </a:xfrm>
        </p:grpSpPr>
        <p:sp>
          <p:nvSpPr>
            <p:cNvPr id="81006" name="Rectangle 118">
              <a:extLst>
                <a:ext uri="{FF2B5EF4-FFF2-40B4-BE49-F238E27FC236}">
                  <a16:creationId xmlns:a16="http://schemas.microsoft.com/office/drawing/2014/main" id="{FB14B95D-63BC-6547-BC25-DF0D56C98A88}"/>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07" name="Freeform 119">
              <a:extLst>
                <a:ext uri="{FF2B5EF4-FFF2-40B4-BE49-F238E27FC236}">
                  <a16:creationId xmlns:a16="http://schemas.microsoft.com/office/drawing/2014/main" id="{D9A07227-263D-E945-B7BC-C95E4428796D}"/>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08" name="Line 120">
              <a:extLst>
                <a:ext uri="{FF2B5EF4-FFF2-40B4-BE49-F238E27FC236}">
                  <a16:creationId xmlns:a16="http://schemas.microsoft.com/office/drawing/2014/main" id="{7F478647-CD5A-8F40-BCFD-3A75471849E2}"/>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0955" name="Line 121">
            <a:extLst>
              <a:ext uri="{FF2B5EF4-FFF2-40B4-BE49-F238E27FC236}">
                <a16:creationId xmlns:a16="http://schemas.microsoft.com/office/drawing/2014/main" id="{FACFFEFD-84B2-E44D-8765-D16CF1845475}"/>
              </a:ext>
            </a:extLst>
          </p:cNvPr>
          <p:cNvSpPr>
            <a:spLocks noChangeShapeType="1"/>
          </p:cNvSpPr>
          <p:nvPr/>
        </p:nvSpPr>
        <p:spPr bwMode="auto">
          <a:xfrm>
            <a:off x="7954963" y="3886200"/>
            <a:ext cx="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56" name="Line 122">
            <a:extLst>
              <a:ext uri="{FF2B5EF4-FFF2-40B4-BE49-F238E27FC236}">
                <a16:creationId xmlns:a16="http://schemas.microsoft.com/office/drawing/2014/main" id="{CD39AAD8-21F9-714F-8B32-98676A7C4491}"/>
              </a:ext>
            </a:extLst>
          </p:cNvPr>
          <p:cNvSpPr>
            <a:spLocks noChangeShapeType="1"/>
          </p:cNvSpPr>
          <p:nvPr/>
        </p:nvSpPr>
        <p:spPr bwMode="auto">
          <a:xfrm>
            <a:off x="7345363" y="3886200"/>
            <a:ext cx="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57" name="Freeform 123">
            <a:extLst>
              <a:ext uri="{FF2B5EF4-FFF2-40B4-BE49-F238E27FC236}">
                <a16:creationId xmlns:a16="http://schemas.microsoft.com/office/drawing/2014/main" id="{8B52557B-6919-0046-A52A-6E679E314A8C}"/>
              </a:ext>
            </a:extLst>
          </p:cNvPr>
          <p:cNvSpPr>
            <a:spLocks/>
          </p:cNvSpPr>
          <p:nvPr/>
        </p:nvSpPr>
        <p:spPr bwMode="auto">
          <a:xfrm flipV="1">
            <a:off x="7192963" y="1524000"/>
            <a:ext cx="914400" cy="1066800"/>
          </a:xfrm>
          <a:custGeom>
            <a:avLst/>
            <a:gdLst>
              <a:gd name="T0" fmla="*/ 0 w 576"/>
              <a:gd name="T1" fmla="*/ 0 h 672"/>
              <a:gd name="T2" fmla="*/ 2147483647 w 576"/>
              <a:gd name="T3" fmla="*/ 2147483647 h 672"/>
              <a:gd name="T4" fmla="*/ 2147483647 w 576"/>
              <a:gd name="T5" fmla="*/ 2147483647 h 672"/>
              <a:gd name="T6" fmla="*/ 2147483647 w 576"/>
              <a:gd name="T7" fmla="*/ 0 h 672"/>
              <a:gd name="T8" fmla="*/ 2147483647 w 576"/>
              <a:gd name="T9" fmla="*/ 0 h 672"/>
              <a:gd name="T10" fmla="*/ 2147483647 w 576"/>
              <a:gd name="T11" fmla="*/ 2147483647 h 672"/>
              <a:gd name="T12" fmla="*/ 2147483647 w 576"/>
              <a:gd name="T13" fmla="*/ 0 h 672"/>
              <a:gd name="T14" fmla="*/ 0 w 576"/>
              <a:gd name="T15" fmla="*/ 0 h 672"/>
              <a:gd name="T16" fmla="*/ 0 60000 65536"/>
              <a:gd name="T17" fmla="*/ 0 60000 65536"/>
              <a:gd name="T18" fmla="*/ 0 60000 65536"/>
              <a:gd name="T19" fmla="*/ 0 60000 65536"/>
              <a:gd name="T20" fmla="*/ 0 60000 65536"/>
              <a:gd name="T21" fmla="*/ 0 60000 65536"/>
              <a:gd name="T22" fmla="*/ 0 60000 65536"/>
              <a:gd name="T23" fmla="*/ 0 60000 65536"/>
              <a:gd name="T24" fmla="*/ 0 w 576"/>
              <a:gd name="T25" fmla="*/ 0 h 672"/>
              <a:gd name="T26" fmla="*/ 576 w 576"/>
              <a:gd name="T27" fmla="*/ 672 h 6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6" h="672">
                <a:moveTo>
                  <a:pt x="0" y="0"/>
                </a:moveTo>
                <a:lnTo>
                  <a:pt x="144" y="672"/>
                </a:lnTo>
                <a:lnTo>
                  <a:pt x="450" y="672"/>
                </a:lnTo>
                <a:lnTo>
                  <a:pt x="576" y="0"/>
                </a:lnTo>
                <a:lnTo>
                  <a:pt x="336" y="0"/>
                </a:lnTo>
                <a:lnTo>
                  <a:pt x="288" y="96"/>
                </a:lnTo>
                <a:lnTo>
                  <a:pt x="240" y="0"/>
                </a:lnTo>
                <a:lnTo>
                  <a:pt x="0" y="0"/>
                </a:lnTo>
                <a:close/>
              </a:path>
            </a:pathLst>
          </a:custGeom>
          <a:noFill/>
          <a:ln w="31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0958" name="Group 124">
            <a:extLst>
              <a:ext uri="{FF2B5EF4-FFF2-40B4-BE49-F238E27FC236}">
                <a16:creationId xmlns:a16="http://schemas.microsoft.com/office/drawing/2014/main" id="{C655F0AB-C257-2340-B23F-F58343C8183B}"/>
              </a:ext>
            </a:extLst>
          </p:cNvPr>
          <p:cNvGrpSpPr>
            <a:grpSpLocks/>
          </p:cNvGrpSpPr>
          <p:nvPr/>
        </p:nvGrpSpPr>
        <p:grpSpPr bwMode="auto">
          <a:xfrm flipV="1">
            <a:off x="7192963" y="1600200"/>
            <a:ext cx="993775" cy="76200"/>
            <a:chOff x="1536" y="2256"/>
            <a:chExt cx="626" cy="48"/>
          </a:xfrm>
        </p:grpSpPr>
        <p:sp>
          <p:nvSpPr>
            <p:cNvPr id="81003" name="Rectangle 125">
              <a:extLst>
                <a:ext uri="{FF2B5EF4-FFF2-40B4-BE49-F238E27FC236}">
                  <a16:creationId xmlns:a16="http://schemas.microsoft.com/office/drawing/2014/main" id="{D735E390-ACF1-2C48-9C6A-0738FD288496}"/>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04" name="Freeform 126">
              <a:extLst>
                <a:ext uri="{FF2B5EF4-FFF2-40B4-BE49-F238E27FC236}">
                  <a16:creationId xmlns:a16="http://schemas.microsoft.com/office/drawing/2014/main" id="{43A1A157-DEF7-9E4D-A253-18652F43E6BE}"/>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05" name="Line 127">
              <a:extLst>
                <a:ext uri="{FF2B5EF4-FFF2-40B4-BE49-F238E27FC236}">
                  <a16:creationId xmlns:a16="http://schemas.microsoft.com/office/drawing/2014/main" id="{2587111A-6B67-8644-9BF5-6478AEEF692C}"/>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0959" name="Group 128">
            <a:extLst>
              <a:ext uri="{FF2B5EF4-FFF2-40B4-BE49-F238E27FC236}">
                <a16:creationId xmlns:a16="http://schemas.microsoft.com/office/drawing/2014/main" id="{DC5C7691-C588-1D4A-8031-485D0D023288}"/>
              </a:ext>
            </a:extLst>
          </p:cNvPr>
          <p:cNvGrpSpPr>
            <a:grpSpLocks/>
          </p:cNvGrpSpPr>
          <p:nvPr/>
        </p:nvGrpSpPr>
        <p:grpSpPr bwMode="auto">
          <a:xfrm flipV="1">
            <a:off x="7192963" y="2362200"/>
            <a:ext cx="993775" cy="76200"/>
            <a:chOff x="1536" y="2256"/>
            <a:chExt cx="626" cy="48"/>
          </a:xfrm>
        </p:grpSpPr>
        <p:sp>
          <p:nvSpPr>
            <p:cNvPr id="81000" name="Rectangle 129">
              <a:extLst>
                <a:ext uri="{FF2B5EF4-FFF2-40B4-BE49-F238E27FC236}">
                  <a16:creationId xmlns:a16="http://schemas.microsoft.com/office/drawing/2014/main" id="{441FEB1C-1E67-8342-B901-41B2006E75D8}"/>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01" name="Freeform 130">
              <a:extLst>
                <a:ext uri="{FF2B5EF4-FFF2-40B4-BE49-F238E27FC236}">
                  <a16:creationId xmlns:a16="http://schemas.microsoft.com/office/drawing/2014/main" id="{9FDF5E1E-5E9B-BD4B-ADF5-DDC4D80BADAB}"/>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002" name="Line 131">
              <a:extLst>
                <a:ext uri="{FF2B5EF4-FFF2-40B4-BE49-F238E27FC236}">
                  <a16:creationId xmlns:a16="http://schemas.microsoft.com/office/drawing/2014/main" id="{BE454931-2A3B-C74E-9BEA-F689318DFABA}"/>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0960" name="Group 132">
            <a:extLst>
              <a:ext uri="{FF2B5EF4-FFF2-40B4-BE49-F238E27FC236}">
                <a16:creationId xmlns:a16="http://schemas.microsoft.com/office/drawing/2014/main" id="{853341E0-AB6B-0742-BB3A-4FF822398E44}"/>
              </a:ext>
            </a:extLst>
          </p:cNvPr>
          <p:cNvGrpSpPr>
            <a:grpSpLocks/>
          </p:cNvGrpSpPr>
          <p:nvPr/>
        </p:nvGrpSpPr>
        <p:grpSpPr bwMode="auto">
          <a:xfrm flipV="1">
            <a:off x="7192963" y="1981200"/>
            <a:ext cx="993775" cy="76200"/>
            <a:chOff x="1536" y="2256"/>
            <a:chExt cx="626" cy="48"/>
          </a:xfrm>
        </p:grpSpPr>
        <p:sp>
          <p:nvSpPr>
            <p:cNvPr id="80997" name="Rectangle 133">
              <a:extLst>
                <a:ext uri="{FF2B5EF4-FFF2-40B4-BE49-F238E27FC236}">
                  <a16:creationId xmlns:a16="http://schemas.microsoft.com/office/drawing/2014/main" id="{5FADD4A1-FF09-004A-984F-333E98A0C1D0}"/>
                </a:ext>
              </a:extLst>
            </p:cNvPr>
            <p:cNvSpPr>
              <a:spLocks noChangeArrowheads="1"/>
            </p:cNvSpPr>
            <p:nvPr/>
          </p:nvSpPr>
          <p:spPr bwMode="auto">
            <a:xfrm>
              <a:off x="1536" y="2256"/>
              <a:ext cx="576" cy="48"/>
            </a:xfrm>
            <a:prstGeom prst="rect">
              <a:avLst/>
            </a:prstGeom>
            <a:solidFill>
              <a:schemeClr val="bg1"/>
            </a:solidFill>
            <a:ln w="3175">
              <a:solidFill>
                <a:schemeClr val="tx1"/>
              </a:solidFill>
              <a:miter lim="800000"/>
              <a:headEnd/>
              <a:tailEnd/>
            </a:ln>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98" name="Freeform 134">
              <a:extLst>
                <a:ext uri="{FF2B5EF4-FFF2-40B4-BE49-F238E27FC236}">
                  <a16:creationId xmlns:a16="http://schemas.microsoft.com/office/drawing/2014/main" id="{D04AE8EB-DA2D-0C41-A123-636B8F231CA7}"/>
                </a:ext>
              </a:extLst>
            </p:cNvPr>
            <p:cNvSpPr>
              <a:spLocks/>
            </p:cNvSpPr>
            <p:nvPr/>
          </p:nvSpPr>
          <p:spPr bwMode="auto">
            <a:xfrm>
              <a:off x="2064" y="2256"/>
              <a:ext cx="48" cy="48"/>
            </a:xfrm>
            <a:custGeom>
              <a:avLst/>
              <a:gdLst>
                <a:gd name="T0" fmla="*/ 48 w 48"/>
                <a:gd name="T1" fmla="*/ 1 h 96"/>
                <a:gd name="T2" fmla="*/ 0 w 48"/>
                <a:gd name="T3" fmla="*/ 1 h 96"/>
                <a:gd name="T4" fmla="*/ 48 w 48"/>
                <a:gd name="T5" fmla="*/ 0 h 96"/>
                <a:gd name="T6" fmla="*/ 48 w 48"/>
                <a:gd name="T7" fmla="*/ 1 h 96"/>
                <a:gd name="T8" fmla="*/ 0 60000 65536"/>
                <a:gd name="T9" fmla="*/ 0 60000 65536"/>
                <a:gd name="T10" fmla="*/ 0 60000 65536"/>
                <a:gd name="T11" fmla="*/ 0 60000 65536"/>
                <a:gd name="T12" fmla="*/ 0 w 48"/>
                <a:gd name="T13" fmla="*/ 0 h 96"/>
                <a:gd name="T14" fmla="*/ 48 w 48"/>
                <a:gd name="T15" fmla="*/ 96 h 96"/>
              </a:gdLst>
              <a:ahLst/>
              <a:cxnLst>
                <a:cxn ang="T8">
                  <a:pos x="T0" y="T1"/>
                </a:cxn>
                <a:cxn ang="T9">
                  <a:pos x="T2" y="T3"/>
                </a:cxn>
                <a:cxn ang="T10">
                  <a:pos x="T4" y="T5"/>
                </a:cxn>
                <a:cxn ang="T11">
                  <a:pos x="T6" y="T7"/>
                </a:cxn>
              </a:cxnLst>
              <a:rect l="T12" t="T13" r="T14" b="T15"/>
              <a:pathLst>
                <a:path w="48" h="96">
                  <a:moveTo>
                    <a:pt x="48" y="96"/>
                  </a:moveTo>
                  <a:lnTo>
                    <a:pt x="0" y="48"/>
                  </a:lnTo>
                  <a:lnTo>
                    <a:pt x="48" y="0"/>
                  </a:lnTo>
                  <a:lnTo>
                    <a:pt x="48" y="96"/>
                  </a:lnTo>
                  <a:close/>
                </a:path>
              </a:pathLst>
            </a:custGeom>
            <a:solidFill>
              <a:schemeClr val="bg1"/>
            </a:solidFill>
            <a:ln w="3175">
              <a:solidFill>
                <a:schemeClr val="tx1"/>
              </a:solidFill>
              <a:round/>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99" name="Line 135">
              <a:extLst>
                <a:ext uri="{FF2B5EF4-FFF2-40B4-BE49-F238E27FC236}">
                  <a16:creationId xmlns:a16="http://schemas.microsoft.com/office/drawing/2014/main" id="{D10AECC8-8E31-BD49-9A45-D7FA506854DE}"/>
                </a:ext>
              </a:extLst>
            </p:cNvPr>
            <p:cNvSpPr>
              <a:spLocks noChangeShapeType="1"/>
            </p:cNvSpPr>
            <p:nvPr/>
          </p:nvSpPr>
          <p:spPr bwMode="auto">
            <a:xfrm>
              <a:off x="2114" y="2280"/>
              <a:ext cx="48"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0961" name="Line 136">
            <a:extLst>
              <a:ext uri="{FF2B5EF4-FFF2-40B4-BE49-F238E27FC236}">
                <a16:creationId xmlns:a16="http://schemas.microsoft.com/office/drawing/2014/main" id="{27B6C423-D5B3-D744-A3C3-CBE96757F1BA}"/>
              </a:ext>
            </a:extLst>
          </p:cNvPr>
          <p:cNvSpPr>
            <a:spLocks noChangeShapeType="1"/>
          </p:cNvSpPr>
          <p:nvPr/>
        </p:nvSpPr>
        <p:spPr bwMode="auto">
          <a:xfrm flipV="1">
            <a:off x="7954963" y="2590800"/>
            <a:ext cx="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62" name="Line 137">
            <a:extLst>
              <a:ext uri="{FF2B5EF4-FFF2-40B4-BE49-F238E27FC236}">
                <a16:creationId xmlns:a16="http://schemas.microsoft.com/office/drawing/2014/main" id="{6E5C3F1B-1220-494C-8C19-53BD4F699209}"/>
              </a:ext>
            </a:extLst>
          </p:cNvPr>
          <p:cNvSpPr>
            <a:spLocks noChangeShapeType="1"/>
          </p:cNvSpPr>
          <p:nvPr/>
        </p:nvSpPr>
        <p:spPr bwMode="auto">
          <a:xfrm flipV="1">
            <a:off x="7345363" y="2590800"/>
            <a:ext cx="0" cy="2286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63" name="Rectangle 138">
            <a:extLst>
              <a:ext uri="{FF2B5EF4-FFF2-40B4-BE49-F238E27FC236}">
                <a16:creationId xmlns:a16="http://schemas.microsoft.com/office/drawing/2014/main" id="{C1A4CCDF-EB88-0F45-9914-D2B27ECFFCFA}"/>
              </a:ext>
            </a:extLst>
          </p:cNvPr>
          <p:cNvSpPr>
            <a:spLocks noChangeArrowheads="1"/>
          </p:cNvSpPr>
          <p:nvPr/>
        </p:nvSpPr>
        <p:spPr bwMode="auto">
          <a:xfrm>
            <a:off x="6888163" y="2819400"/>
            <a:ext cx="1524000" cy="10668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64" name="Freeform 139">
            <a:extLst>
              <a:ext uri="{FF2B5EF4-FFF2-40B4-BE49-F238E27FC236}">
                <a16:creationId xmlns:a16="http://schemas.microsoft.com/office/drawing/2014/main" id="{CED59038-0E45-9148-8FCF-C4E573D468F7}"/>
              </a:ext>
            </a:extLst>
          </p:cNvPr>
          <p:cNvSpPr>
            <a:spLocks/>
          </p:cNvSpPr>
          <p:nvPr/>
        </p:nvSpPr>
        <p:spPr bwMode="auto">
          <a:xfrm>
            <a:off x="7650163" y="3886200"/>
            <a:ext cx="685800" cy="1447800"/>
          </a:xfrm>
          <a:custGeom>
            <a:avLst/>
            <a:gdLst>
              <a:gd name="T0" fmla="*/ 0 w 432"/>
              <a:gd name="T1" fmla="*/ 2147483647 h 912"/>
              <a:gd name="T2" fmla="*/ 0 w 432"/>
              <a:gd name="T3" fmla="*/ 2147483647 h 912"/>
              <a:gd name="T4" fmla="*/ 2147483647 w 432"/>
              <a:gd name="T5" fmla="*/ 2147483647 h 912"/>
              <a:gd name="T6" fmla="*/ 2147483647 w 432"/>
              <a:gd name="T7" fmla="*/ 0 h 912"/>
              <a:gd name="T8" fmla="*/ 0 60000 65536"/>
              <a:gd name="T9" fmla="*/ 0 60000 65536"/>
              <a:gd name="T10" fmla="*/ 0 60000 65536"/>
              <a:gd name="T11" fmla="*/ 0 60000 65536"/>
              <a:gd name="T12" fmla="*/ 0 w 432"/>
              <a:gd name="T13" fmla="*/ 0 h 912"/>
              <a:gd name="T14" fmla="*/ 432 w 432"/>
              <a:gd name="T15" fmla="*/ 912 h 912"/>
            </a:gdLst>
            <a:ahLst/>
            <a:cxnLst>
              <a:cxn ang="T8">
                <a:pos x="T0" y="T1"/>
              </a:cxn>
              <a:cxn ang="T9">
                <a:pos x="T2" y="T3"/>
              </a:cxn>
              <a:cxn ang="T10">
                <a:pos x="T4" y="T5"/>
              </a:cxn>
              <a:cxn ang="T11">
                <a:pos x="T6" y="T7"/>
              </a:cxn>
            </a:cxnLst>
            <a:rect l="T12" t="T13" r="T14" b="T15"/>
            <a:pathLst>
              <a:path w="432" h="912">
                <a:moveTo>
                  <a:pt x="0" y="816"/>
                </a:moveTo>
                <a:lnTo>
                  <a:pt x="0" y="912"/>
                </a:lnTo>
                <a:lnTo>
                  <a:pt x="432" y="912"/>
                </a:lnTo>
                <a:lnTo>
                  <a:pt x="432" y="0"/>
                </a:lnTo>
              </a:path>
            </a:pathLst>
          </a:custGeom>
          <a:noFill/>
          <a:ln w="31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65" name="Freeform 140">
            <a:extLst>
              <a:ext uri="{FF2B5EF4-FFF2-40B4-BE49-F238E27FC236}">
                <a16:creationId xmlns:a16="http://schemas.microsoft.com/office/drawing/2014/main" id="{091FB6F6-FA28-6443-BE1A-FBB36E2C12F4}"/>
              </a:ext>
            </a:extLst>
          </p:cNvPr>
          <p:cNvSpPr>
            <a:spLocks/>
          </p:cNvSpPr>
          <p:nvPr/>
        </p:nvSpPr>
        <p:spPr bwMode="auto">
          <a:xfrm flipV="1">
            <a:off x="7650163" y="1371600"/>
            <a:ext cx="685800" cy="1447800"/>
          </a:xfrm>
          <a:custGeom>
            <a:avLst/>
            <a:gdLst>
              <a:gd name="T0" fmla="*/ 0 w 432"/>
              <a:gd name="T1" fmla="*/ 2147483647 h 912"/>
              <a:gd name="T2" fmla="*/ 0 w 432"/>
              <a:gd name="T3" fmla="*/ 2147483647 h 912"/>
              <a:gd name="T4" fmla="*/ 2147483647 w 432"/>
              <a:gd name="T5" fmla="*/ 2147483647 h 912"/>
              <a:gd name="T6" fmla="*/ 2147483647 w 432"/>
              <a:gd name="T7" fmla="*/ 0 h 912"/>
              <a:gd name="T8" fmla="*/ 0 60000 65536"/>
              <a:gd name="T9" fmla="*/ 0 60000 65536"/>
              <a:gd name="T10" fmla="*/ 0 60000 65536"/>
              <a:gd name="T11" fmla="*/ 0 60000 65536"/>
              <a:gd name="T12" fmla="*/ 0 w 432"/>
              <a:gd name="T13" fmla="*/ 0 h 912"/>
              <a:gd name="T14" fmla="*/ 432 w 432"/>
              <a:gd name="T15" fmla="*/ 912 h 912"/>
            </a:gdLst>
            <a:ahLst/>
            <a:cxnLst>
              <a:cxn ang="T8">
                <a:pos x="T0" y="T1"/>
              </a:cxn>
              <a:cxn ang="T9">
                <a:pos x="T2" y="T3"/>
              </a:cxn>
              <a:cxn ang="T10">
                <a:pos x="T4" y="T5"/>
              </a:cxn>
              <a:cxn ang="T11">
                <a:pos x="T6" y="T7"/>
              </a:cxn>
            </a:cxnLst>
            <a:rect l="T12" t="T13" r="T14" b="T15"/>
            <a:pathLst>
              <a:path w="432" h="912">
                <a:moveTo>
                  <a:pt x="0" y="816"/>
                </a:moveTo>
                <a:lnTo>
                  <a:pt x="0" y="912"/>
                </a:lnTo>
                <a:lnTo>
                  <a:pt x="432" y="912"/>
                </a:lnTo>
                <a:lnTo>
                  <a:pt x="432" y="0"/>
                </a:lnTo>
              </a:path>
            </a:pathLst>
          </a:custGeom>
          <a:noFill/>
          <a:ln w="31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66" name="Line 141">
            <a:extLst>
              <a:ext uri="{FF2B5EF4-FFF2-40B4-BE49-F238E27FC236}">
                <a16:creationId xmlns:a16="http://schemas.microsoft.com/office/drawing/2014/main" id="{C7CA08F0-E9BB-E843-B848-0DB6946E9183}"/>
              </a:ext>
            </a:extLst>
          </p:cNvPr>
          <p:cNvSpPr>
            <a:spLocks noChangeShapeType="1"/>
          </p:cNvSpPr>
          <p:nvPr/>
        </p:nvSpPr>
        <p:spPr bwMode="auto">
          <a:xfrm flipV="1">
            <a:off x="6964363" y="3886200"/>
            <a:ext cx="0" cy="19812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67" name="Line 142">
            <a:extLst>
              <a:ext uri="{FF2B5EF4-FFF2-40B4-BE49-F238E27FC236}">
                <a16:creationId xmlns:a16="http://schemas.microsoft.com/office/drawing/2014/main" id="{E8D5D40B-2C1D-6843-B409-39A32DADFBB0}"/>
              </a:ext>
            </a:extLst>
          </p:cNvPr>
          <p:cNvSpPr>
            <a:spLocks noChangeShapeType="1"/>
          </p:cNvSpPr>
          <p:nvPr/>
        </p:nvSpPr>
        <p:spPr bwMode="auto">
          <a:xfrm>
            <a:off x="7116763" y="3886200"/>
            <a:ext cx="0" cy="1981200"/>
          </a:xfrm>
          <a:prstGeom prst="line">
            <a:avLst/>
          </a:prstGeom>
          <a:noFill/>
          <a:ln w="317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0968" name="Group 143">
            <a:extLst>
              <a:ext uri="{FF2B5EF4-FFF2-40B4-BE49-F238E27FC236}">
                <a16:creationId xmlns:a16="http://schemas.microsoft.com/office/drawing/2014/main" id="{0CB594AA-3C38-E942-8896-7B2C2ED335D1}"/>
              </a:ext>
            </a:extLst>
          </p:cNvPr>
          <p:cNvGrpSpPr>
            <a:grpSpLocks/>
          </p:cNvGrpSpPr>
          <p:nvPr/>
        </p:nvGrpSpPr>
        <p:grpSpPr bwMode="auto">
          <a:xfrm>
            <a:off x="-44450" y="1143000"/>
            <a:ext cx="2894013" cy="4495800"/>
            <a:chOff x="193" y="816"/>
            <a:chExt cx="1823" cy="2832"/>
          </a:xfrm>
        </p:grpSpPr>
        <p:sp>
          <p:nvSpPr>
            <p:cNvPr id="80994" name="AutoShape 144">
              <a:extLst>
                <a:ext uri="{FF2B5EF4-FFF2-40B4-BE49-F238E27FC236}">
                  <a16:creationId xmlns:a16="http://schemas.microsoft.com/office/drawing/2014/main" id="{F1671C0E-D064-BB40-BB1E-FECB547DC8DA}"/>
                </a:ext>
              </a:extLst>
            </p:cNvPr>
            <p:cNvSpPr>
              <a:spLocks noChangeArrowheads="1"/>
            </p:cNvSpPr>
            <p:nvPr/>
          </p:nvSpPr>
          <p:spPr bwMode="auto">
            <a:xfrm>
              <a:off x="864" y="816"/>
              <a:ext cx="1152" cy="2736"/>
            </a:xfrm>
            <a:prstGeom prst="roundRect">
              <a:avLst>
                <a:gd name="adj" fmla="val 16667"/>
              </a:avLst>
            </a:pr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95" name="Line 145">
              <a:extLst>
                <a:ext uri="{FF2B5EF4-FFF2-40B4-BE49-F238E27FC236}">
                  <a16:creationId xmlns:a16="http://schemas.microsoft.com/office/drawing/2014/main" id="{53576CA7-7339-0E4A-BF2F-C436AEE1CA59}"/>
                </a:ext>
              </a:extLst>
            </p:cNvPr>
            <p:cNvSpPr>
              <a:spLocks noChangeShapeType="1"/>
            </p:cNvSpPr>
            <p:nvPr/>
          </p:nvSpPr>
          <p:spPr bwMode="auto">
            <a:xfrm flipH="1">
              <a:off x="576" y="3312"/>
              <a:ext cx="286" cy="152"/>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96" name="Text Box 146">
              <a:extLst>
                <a:ext uri="{FF2B5EF4-FFF2-40B4-BE49-F238E27FC236}">
                  <a16:creationId xmlns:a16="http://schemas.microsoft.com/office/drawing/2014/main" id="{555636BA-8555-F543-B21A-378D516A1858}"/>
                </a:ext>
              </a:extLst>
            </p:cNvPr>
            <p:cNvSpPr txBox="1">
              <a:spLocks noChangeArrowheads="1"/>
            </p:cNvSpPr>
            <p:nvPr/>
          </p:nvSpPr>
          <p:spPr bwMode="auto">
            <a:xfrm>
              <a:off x="193" y="3417"/>
              <a:ext cx="4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1" u="none" strike="noStrike" kern="1200" cap="none" spc="0" normalizeH="0" baseline="0" noProof="0">
                  <a:ln>
                    <a:noFill/>
                  </a:ln>
                  <a:solidFill>
                    <a:srgbClr val="996600"/>
                  </a:solidFill>
                  <a:effectLst/>
                  <a:uLnTx/>
                  <a:uFillTx/>
                  <a:latin typeface="Verdana" panose="020B0604030504040204" pitchFamily="34" charset="0"/>
                  <a:ea typeface="굴림" panose="020B0600000101010101" pitchFamily="34" charset="-127"/>
                  <a:cs typeface="+mn-cs"/>
                </a:rPr>
                <a:t>Lane</a:t>
              </a:r>
            </a:p>
          </p:txBody>
        </p:sp>
      </p:grpSp>
      <p:grpSp>
        <p:nvGrpSpPr>
          <p:cNvPr id="80969" name="Group 147">
            <a:extLst>
              <a:ext uri="{FF2B5EF4-FFF2-40B4-BE49-F238E27FC236}">
                <a16:creationId xmlns:a16="http://schemas.microsoft.com/office/drawing/2014/main" id="{E8CBE317-ED45-7E4A-B77B-2B4300B36638}"/>
              </a:ext>
            </a:extLst>
          </p:cNvPr>
          <p:cNvGrpSpPr>
            <a:grpSpLocks/>
          </p:cNvGrpSpPr>
          <p:nvPr/>
        </p:nvGrpSpPr>
        <p:grpSpPr bwMode="auto">
          <a:xfrm>
            <a:off x="1173163" y="852488"/>
            <a:ext cx="7391400" cy="1814512"/>
            <a:chOff x="960" y="633"/>
            <a:chExt cx="4656" cy="1143"/>
          </a:xfrm>
        </p:grpSpPr>
        <p:sp>
          <p:nvSpPr>
            <p:cNvPr id="80991" name="AutoShape 148">
              <a:extLst>
                <a:ext uri="{FF2B5EF4-FFF2-40B4-BE49-F238E27FC236}">
                  <a16:creationId xmlns:a16="http://schemas.microsoft.com/office/drawing/2014/main" id="{FBC867F5-66E9-464F-B319-6D88A87FFB81}"/>
                </a:ext>
              </a:extLst>
            </p:cNvPr>
            <p:cNvSpPr>
              <a:spLocks noChangeArrowheads="1"/>
            </p:cNvSpPr>
            <p:nvPr/>
          </p:nvSpPr>
          <p:spPr bwMode="auto">
            <a:xfrm>
              <a:off x="960" y="912"/>
              <a:ext cx="4656" cy="864"/>
            </a:xfrm>
            <a:prstGeom prst="roundRect">
              <a:avLst>
                <a:gd name="adj" fmla="val 16667"/>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92" name="Line 149">
              <a:extLst>
                <a:ext uri="{FF2B5EF4-FFF2-40B4-BE49-F238E27FC236}">
                  <a16:creationId xmlns:a16="http://schemas.microsoft.com/office/drawing/2014/main" id="{03056FB8-B7DC-904B-9D81-A7B9EA49B642}"/>
                </a:ext>
              </a:extLst>
            </p:cNvPr>
            <p:cNvSpPr>
              <a:spLocks noChangeShapeType="1"/>
            </p:cNvSpPr>
            <p:nvPr/>
          </p:nvSpPr>
          <p:spPr bwMode="auto">
            <a:xfrm flipV="1">
              <a:off x="3504" y="768"/>
              <a:ext cx="240" cy="144"/>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93" name="Text Box 150">
              <a:extLst>
                <a:ext uri="{FF2B5EF4-FFF2-40B4-BE49-F238E27FC236}">
                  <a16:creationId xmlns:a16="http://schemas.microsoft.com/office/drawing/2014/main" id="{E4470335-EEA5-8C4D-8A09-3FD73431D012}"/>
                </a:ext>
              </a:extLst>
            </p:cNvPr>
            <p:cNvSpPr txBox="1">
              <a:spLocks noChangeArrowheads="1"/>
            </p:cNvSpPr>
            <p:nvPr/>
          </p:nvSpPr>
          <p:spPr bwMode="auto">
            <a:xfrm>
              <a:off x="3736" y="633"/>
              <a:ext cx="12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1" u="none" strike="noStrike" kern="1200" cap="none" spc="0" normalizeH="0" baseline="0" noProof="0">
                  <a:ln>
                    <a:noFill/>
                  </a:ln>
                  <a:solidFill>
                    <a:srgbClr val="CC9900"/>
                  </a:solidFill>
                  <a:effectLst/>
                  <a:uLnTx/>
                  <a:uFillTx/>
                  <a:latin typeface="Verdana" panose="020B0604030504040204" pitchFamily="34" charset="0"/>
                  <a:ea typeface="굴림" panose="020B0600000101010101" pitchFamily="34" charset="-127"/>
                  <a:cs typeface="+mn-cs"/>
                </a:rPr>
                <a:t>Functional Unit</a:t>
              </a:r>
            </a:p>
          </p:txBody>
        </p:sp>
      </p:grpSp>
      <p:sp>
        <p:nvSpPr>
          <p:cNvPr id="80970" name="Text Box 151">
            <a:extLst>
              <a:ext uri="{FF2B5EF4-FFF2-40B4-BE49-F238E27FC236}">
                <a16:creationId xmlns:a16="http://schemas.microsoft.com/office/drawing/2014/main" id="{A9EFE9DD-3759-3545-9F3A-56D70B0818BC}"/>
              </a:ext>
            </a:extLst>
          </p:cNvPr>
          <p:cNvSpPr txBox="1">
            <a:spLocks noChangeArrowheads="1"/>
          </p:cNvSpPr>
          <p:nvPr/>
        </p:nvSpPr>
        <p:spPr bwMode="auto">
          <a:xfrm>
            <a:off x="-26988" y="2209800"/>
            <a:ext cx="1198563"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ko-KR" sz="1600" b="0" i="1" u="none" strike="noStrike" kern="1200" cap="none" spc="0" normalizeH="0" baseline="0" noProof="0">
              <a:ln>
                <a:noFill/>
              </a:ln>
              <a:solidFill>
                <a:srgbClr val="0000FF"/>
              </a:solidFill>
              <a:effectLst/>
              <a:uLnTx/>
              <a:uFillTx/>
              <a:latin typeface="Verdana" panose="020B0604030504040204" pitchFamily="34" charset="0"/>
              <a:ea typeface="굴림" panose="020B0600000101010101" pitchFamily="34" charset="-127"/>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600" b="0" i="1" u="none" strike="noStrike" kern="1200" cap="none" spc="0" normalizeH="0" baseline="0" noProof="0">
                <a:ln>
                  <a:noFill/>
                </a:ln>
                <a:solidFill>
                  <a:srgbClr val="0000FF"/>
                </a:solidFill>
                <a:effectLst/>
                <a:uLnTx/>
                <a:uFillTx/>
                <a:latin typeface="Verdana" panose="020B0604030504040204" pitchFamily="34" charset="0"/>
                <a:ea typeface="굴림" panose="020B0600000101010101" pitchFamily="34" charset="-127"/>
                <a:cs typeface="+mn-cs"/>
              </a:rPr>
              <a:t>Registers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600" b="0" i="1" u="none" strike="noStrike" kern="1200" cap="none" spc="0" normalizeH="0" baseline="0" noProof="0">
                <a:ln>
                  <a:noFill/>
                </a:ln>
                <a:solidFill>
                  <a:srgbClr val="0000FF"/>
                </a:solidFill>
                <a:effectLst/>
                <a:uLnTx/>
                <a:uFillTx/>
                <a:latin typeface="Verdana" panose="020B0604030504040204" pitchFamily="34" charset="0"/>
                <a:ea typeface="굴림" panose="020B0600000101010101" pitchFamily="34" charset="-127"/>
                <a:cs typeface="+mn-cs"/>
              </a:rPr>
              <a:t>for each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600" b="0" i="1" u="none" strike="noStrike" kern="1200" cap="none" spc="0" normalizeH="0" baseline="0" noProof="0">
                <a:ln>
                  <a:noFill/>
                </a:ln>
                <a:solidFill>
                  <a:srgbClr val="0000FF"/>
                </a:solidFill>
                <a:effectLst/>
                <a:uLnTx/>
                <a:uFillTx/>
                <a:latin typeface="Verdana" panose="020B0604030504040204" pitchFamily="34" charset="0"/>
                <a:ea typeface="굴림" panose="020B0600000101010101" pitchFamily="34" charset="-127"/>
                <a:cs typeface="+mn-cs"/>
              </a:rPr>
              <a:t>Thread</a:t>
            </a:r>
          </a:p>
        </p:txBody>
      </p:sp>
      <p:sp>
        <p:nvSpPr>
          <p:cNvPr id="80971" name="Line 152">
            <a:extLst>
              <a:ext uri="{FF2B5EF4-FFF2-40B4-BE49-F238E27FC236}">
                <a16:creationId xmlns:a16="http://schemas.microsoft.com/office/drawing/2014/main" id="{F109E655-1CD1-7447-97C3-5FF7B5CA4D6D}"/>
              </a:ext>
            </a:extLst>
          </p:cNvPr>
          <p:cNvSpPr>
            <a:spLocks noChangeShapeType="1"/>
          </p:cNvSpPr>
          <p:nvPr/>
        </p:nvSpPr>
        <p:spPr bwMode="auto">
          <a:xfrm flipH="1" flipV="1">
            <a:off x="676275" y="3233738"/>
            <a:ext cx="496888" cy="1698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72" name="Rectangle 153">
            <a:extLst>
              <a:ext uri="{FF2B5EF4-FFF2-40B4-BE49-F238E27FC236}">
                <a16:creationId xmlns:a16="http://schemas.microsoft.com/office/drawing/2014/main" id="{63C6F889-4A92-6E44-86DA-C20B074FBD1C}"/>
              </a:ext>
            </a:extLst>
          </p:cNvPr>
          <p:cNvSpPr>
            <a:spLocks noChangeArrowheads="1"/>
          </p:cNvSpPr>
          <p:nvPr/>
        </p:nvSpPr>
        <p:spPr bwMode="auto">
          <a:xfrm>
            <a:off x="1096963" y="5867400"/>
            <a:ext cx="7315200" cy="5334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ko-KR" sz="1800" b="0" i="1"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Memory Subsystem</a:t>
            </a:r>
          </a:p>
        </p:txBody>
      </p:sp>
      <p:sp>
        <p:nvSpPr>
          <p:cNvPr id="80973" name="Text Box 154">
            <a:extLst>
              <a:ext uri="{FF2B5EF4-FFF2-40B4-BE49-F238E27FC236}">
                <a16:creationId xmlns:a16="http://schemas.microsoft.com/office/drawing/2014/main" id="{E5E669A7-C5B2-B343-A6B6-7FF9FE26158A}"/>
              </a:ext>
            </a:extLst>
          </p:cNvPr>
          <p:cNvSpPr txBox="1">
            <a:spLocks noChangeArrowheads="1"/>
          </p:cNvSpPr>
          <p:nvPr/>
        </p:nvSpPr>
        <p:spPr bwMode="auto">
          <a:xfrm>
            <a:off x="1325563" y="2919413"/>
            <a:ext cx="1341437"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4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Registers for thread IDs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4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0, 4, 8, …</a:t>
            </a:r>
          </a:p>
        </p:txBody>
      </p:sp>
      <p:sp>
        <p:nvSpPr>
          <p:cNvPr id="80974" name="Text Box 155">
            <a:extLst>
              <a:ext uri="{FF2B5EF4-FFF2-40B4-BE49-F238E27FC236}">
                <a16:creationId xmlns:a16="http://schemas.microsoft.com/office/drawing/2014/main" id="{38FCCAC5-876E-9E47-AF05-E7AA28003BDC}"/>
              </a:ext>
            </a:extLst>
          </p:cNvPr>
          <p:cNvSpPr txBox="1">
            <a:spLocks noChangeArrowheads="1"/>
          </p:cNvSpPr>
          <p:nvPr/>
        </p:nvSpPr>
        <p:spPr bwMode="auto">
          <a:xfrm>
            <a:off x="3230563" y="2971800"/>
            <a:ext cx="1570037"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4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Registers for thread IDs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4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1, 5, 9, …</a:t>
            </a:r>
          </a:p>
        </p:txBody>
      </p:sp>
      <p:sp>
        <p:nvSpPr>
          <p:cNvPr id="80975" name="Text Box 156">
            <a:extLst>
              <a:ext uri="{FF2B5EF4-FFF2-40B4-BE49-F238E27FC236}">
                <a16:creationId xmlns:a16="http://schemas.microsoft.com/office/drawing/2014/main" id="{9FB66B91-4537-EF4F-BB0C-C69502771DF3}"/>
              </a:ext>
            </a:extLst>
          </p:cNvPr>
          <p:cNvSpPr txBox="1">
            <a:spLocks noChangeArrowheads="1"/>
          </p:cNvSpPr>
          <p:nvPr/>
        </p:nvSpPr>
        <p:spPr bwMode="auto">
          <a:xfrm>
            <a:off x="5135563" y="2971800"/>
            <a:ext cx="1417637"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4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Registers for thread IDs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4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2, 6, 10, …</a:t>
            </a:r>
          </a:p>
        </p:txBody>
      </p:sp>
      <p:sp>
        <p:nvSpPr>
          <p:cNvPr id="80976" name="Text Box 157">
            <a:extLst>
              <a:ext uri="{FF2B5EF4-FFF2-40B4-BE49-F238E27FC236}">
                <a16:creationId xmlns:a16="http://schemas.microsoft.com/office/drawing/2014/main" id="{147469C8-D880-8742-9E13-3DA01EF637E7}"/>
              </a:ext>
            </a:extLst>
          </p:cNvPr>
          <p:cNvSpPr txBox="1">
            <a:spLocks noChangeArrowheads="1"/>
          </p:cNvSpPr>
          <p:nvPr/>
        </p:nvSpPr>
        <p:spPr bwMode="auto">
          <a:xfrm>
            <a:off x="7040563" y="2981325"/>
            <a:ext cx="1417637"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4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Registers for thread IDs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400" b="0" i="0" u="none" strike="noStrike" kern="1200" cap="none" spc="0" normalizeH="0" baseline="0" noProof="0">
                <a:ln>
                  <a:noFill/>
                </a:ln>
                <a:solidFill>
                  <a:srgbClr val="000000"/>
                </a:solidFill>
                <a:effectLst/>
                <a:uLnTx/>
                <a:uFillTx/>
                <a:latin typeface="Verdana" panose="020B0604030504040204" pitchFamily="34" charset="0"/>
                <a:ea typeface="굴림" panose="020B0600000101010101" pitchFamily="34" charset="-127"/>
                <a:cs typeface="+mn-cs"/>
              </a:rPr>
              <a:t>3, 7, 11, …</a:t>
            </a:r>
          </a:p>
        </p:txBody>
      </p:sp>
      <p:sp>
        <p:nvSpPr>
          <p:cNvPr id="80977" name="TextBox 161">
            <a:extLst>
              <a:ext uri="{FF2B5EF4-FFF2-40B4-BE49-F238E27FC236}">
                <a16:creationId xmlns:a16="http://schemas.microsoft.com/office/drawing/2014/main" id="{F514C77C-A39B-5F48-A05C-30319E7E079F}"/>
              </a:ext>
            </a:extLst>
          </p:cNvPr>
          <p:cNvSpPr txBox="1">
            <a:spLocks noChangeArrowheads="1"/>
          </p:cNvSpPr>
          <p:nvPr/>
        </p:nvSpPr>
        <p:spPr bwMode="auto">
          <a:xfrm>
            <a:off x="152400" y="6535738"/>
            <a:ext cx="1738313"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Slide credit: Krste Asanovic</a:t>
            </a:r>
          </a:p>
        </p:txBody>
      </p:sp>
      <p:sp>
        <p:nvSpPr>
          <p:cNvPr id="80978" name="Rectangle 68">
            <a:extLst>
              <a:ext uri="{FF2B5EF4-FFF2-40B4-BE49-F238E27FC236}">
                <a16:creationId xmlns:a16="http://schemas.microsoft.com/office/drawing/2014/main" id="{4A11CC3B-BC9A-3A47-85F0-57A110C5A6E5}"/>
              </a:ext>
            </a:extLst>
          </p:cNvPr>
          <p:cNvSpPr>
            <a:spLocks noChangeArrowheads="1"/>
          </p:cNvSpPr>
          <p:nvPr/>
        </p:nvSpPr>
        <p:spPr bwMode="auto">
          <a:xfrm>
            <a:off x="3124200" y="2819400"/>
            <a:ext cx="1524000" cy="10668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79" name="Rectangle 68">
            <a:extLst>
              <a:ext uri="{FF2B5EF4-FFF2-40B4-BE49-F238E27FC236}">
                <a16:creationId xmlns:a16="http://schemas.microsoft.com/office/drawing/2014/main" id="{072B4981-5BE1-4A4E-A147-389C98494E39}"/>
              </a:ext>
            </a:extLst>
          </p:cNvPr>
          <p:cNvSpPr>
            <a:spLocks noChangeArrowheads="1"/>
          </p:cNvSpPr>
          <p:nvPr/>
        </p:nvSpPr>
        <p:spPr bwMode="auto">
          <a:xfrm>
            <a:off x="3200400" y="2819400"/>
            <a:ext cx="1524000" cy="10668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80" name="Rectangle 68">
            <a:extLst>
              <a:ext uri="{FF2B5EF4-FFF2-40B4-BE49-F238E27FC236}">
                <a16:creationId xmlns:a16="http://schemas.microsoft.com/office/drawing/2014/main" id="{C60BF4D7-ABE1-D746-B36A-43E0B92CFDE3}"/>
              </a:ext>
            </a:extLst>
          </p:cNvPr>
          <p:cNvSpPr>
            <a:spLocks noChangeArrowheads="1"/>
          </p:cNvSpPr>
          <p:nvPr/>
        </p:nvSpPr>
        <p:spPr bwMode="auto">
          <a:xfrm>
            <a:off x="3276600" y="2819400"/>
            <a:ext cx="1524000" cy="10668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81" name="Rectangle 103">
            <a:extLst>
              <a:ext uri="{FF2B5EF4-FFF2-40B4-BE49-F238E27FC236}">
                <a16:creationId xmlns:a16="http://schemas.microsoft.com/office/drawing/2014/main" id="{D03630ED-7393-114E-9841-950896CEF330}"/>
              </a:ext>
            </a:extLst>
          </p:cNvPr>
          <p:cNvSpPr>
            <a:spLocks noChangeArrowheads="1"/>
          </p:cNvSpPr>
          <p:nvPr/>
        </p:nvSpPr>
        <p:spPr bwMode="auto">
          <a:xfrm>
            <a:off x="5029200" y="2819400"/>
            <a:ext cx="1524000" cy="10668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82" name="Rectangle 103">
            <a:extLst>
              <a:ext uri="{FF2B5EF4-FFF2-40B4-BE49-F238E27FC236}">
                <a16:creationId xmlns:a16="http://schemas.microsoft.com/office/drawing/2014/main" id="{1A7B65D7-A908-0941-87B4-D38B4069AB81}"/>
              </a:ext>
            </a:extLst>
          </p:cNvPr>
          <p:cNvSpPr>
            <a:spLocks noChangeArrowheads="1"/>
          </p:cNvSpPr>
          <p:nvPr/>
        </p:nvSpPr>
        <p:spPr bwMode="auto">
          <a:xfrm>
            <a:off x="5105400" y="2819400"/>
            <a:ext cx="1524000" cy="10668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83" name="Rectangle 103">
            <a:extLst>
              <a:ext uri="{FF2B5EF4-FFF2-40B4-BE49-F238E27FC236}">
                <a16:creationId xmlns:a16="http://schemas.microsoft.com/office/drawing/2014/main" id="{0A577882-F41A-3648-8C28-2A6F66018CFE}"/>
              </a:ext>
            </a:extLst>
          </p:cNvPr>
          <p:cNvSpPr>
            <a:spLocks noChangeArrowheads="1"/>
          </p:cNvSpPr>
          <p:nvPr/>
        </p:nvSpPr>
        <p:spPr bwMode="auto">
          <a:xfrm>
            <a:off x="5181600" y="2819400"/>
            <a:ext cx="1524000" cy="10668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84" name="Rectangle 103">
            <a:extLst>
              <a:ext uri="{FF2B5EF4-FFF2-40B4-BE49-F238E27FC236}">
                <a16:creationId xmlns:a16="http://schemas.microsoft.com/office/drawing/2014/main" id="{ECF432A1-04E2-DF46-A4DF-9F00D04377EF}"/>
              </a:ext>
            </a:extLst>
          </p:cNvPr>
          <p:cNvSpPr>
            <a:spLocks noChangeArrowheads="1"/>
          </p:cNvSpPr>
          <p:nvPr/>
        </p:nvSpPr>
        <p:spPr bwMode="auto">
          <a:xfrm>
            <a:off x="6934200" y="2819400"/>
            <a:ext cx="1524000" cy="10668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85" name="Rectangle 103">
            <a:extLst>
              <a:ext uri="{FF2B5EF4-FFF2-40B4-BE49-F238E27FC236}">
                <a16:creationId xmlns:a16="http://schemas.microsoft.com/office/drawing/2014/main" id="{D060399B-3B4A-B24B-AEEA-2F416603AF83}"/>
              </a:ext>
            </a:extLst>
          </p:cNvPr>
          <p:cNvSpPr>
            <a:spLocks noChangeArrowheads="1"/>
          </p:cNvSpPr>
          <p:nvPr/>
        </p:nvSpPr>
        <p:spPr bwMode="auto">
          <a:xfrm>
            <a:off x="7010400" y="2819400"/>
            <a:ext cx="1524000" cy="10668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86" name="Rectangle 103">
            <a:extLst>
              <a:ext uri="{FF2B5EF4-FFF2-40B4-BE49-F238E27FC236}">
                <a16:creationId xmlns:a16="http://schemas.microsoft.com/office/drawing/2014/main" id="{C222FCF4-48E9-0944-9019-24A06EC269BA}"/>
              </a:ext>
            </a:extLst>
          </p:cNvPr>
          <p:cNvSpPr>
            <a:spLocks noChangeArrowheads="1"/>
          </p:cNvSpPr>
          <p:nvPr/>
        </p:nvSpPr>
        <p:spPr bwMode="auto">
          <a:xfrm>
            <a:off x="7086600" y="2819400"/>
            <a:ext cx="1524000" cy="10668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87" name="Rectangle 33">
            <a:extLst>
              <a:ext uri="{FF2B5EF4-FFF2-40B4-BE49-F238E27FC236}">
                <a16:creationId xmlns:a16="http://schemas.microsoft.com/office/drawing/2014/main" id="{9DEE2353-189D-E74C-8678-FE28886EEBA7}"/>
              </a:ext>
            </a:extLst>
          </p:cNvPr>
          <p:cNvSpPr>
            <a:spLocks noChangeArrowheads="1"/>
          </p:cNvSpPr>
          <p:nvPr/>
        </p:nvSpPr>
        <p:spPr bwMode="auto">
          <a:xfrm>
            <a:off x="1219200" y="2819400"/>
            <a:ext cx="1524000" cy="10668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88" name="Rectangle 33">
            <a:extLst>
              <a:ext uri="{FF2B5EF4-FFF2-40B4-BE49-F238E27FC236}">
                <a16:creationId xmlns:a16="http://schemas.microsoft.com/office/drawing/2014/main" id="{91E3F059-3281-3448-A2A7-C36F1B3C8E14}"/>
              </a:ext>
            </a:extLst>
          </p:cNvPr>
          <p:cNvSpPr>
            <a:spLocks noChangeArrowheads="1"/>
          </p:cNvSpPr>
          <p:nvPr/>
        </p:nvSpPr>
        <p:spPr bwMode="auto">
          <a:xfrm>
            <a:off x="1295400" y="2819400"/>
            <a:ext cx="1524000" cy="10668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989" name="Rectangle 33">
            <a:extLst>
              <a:ext uri="{FF2B5EF4-FFF2-40B4-BE49-F238E27FC236}">
                <a16:creationId xmlns:a16="http://schemas.microsoft.com/office/drawing/2014/main" id="{DD85CF72-17A9-6840-ACE6-DCB2D9B1C45B}"/>
              </a:ext>
            </a:extLst>
          </p:cNvPr>
          <p:cNvSpPr>
            <a:spLocks noChangeArrowheads="1"/>
          </p:cNvSpPr>
          <p:nvPr/>
        </p:nvSpPr>
        <p:spPr bwMode="auto">
          <a:xfrm>
            <a:off x="1371600" y="2819400"/>
            <a:ext cx="1524000" cy="1066800"/>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3852004024"/>
      </p:ext>
    </p:extLst>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Title 1">
            <a:extLst>
              <a:ext uri="{FF2B5EF4-FFF2-40B4-BE49-F238E27FC236}">
                <a16:creationId xmlns:a16="http://schemas.microsoft.com/office/drawing/2014/main" id="{6CA5F319-5065-B042-BF49-C52EF3C5360A}"/>
              </a:ext>
            </a:extLst>
          </p:cNvPr>
          <p:cNvSpPr>
            <a:spLocks noGrp="1"/>
          </p:cNvSpPr>
          <p:nvPr>
            <p:ph type="title"/>
          </p:nvPr>
        </p:nvSpPr>
        <p:spPr/>
        <p:txBody>
          <a:bodyPr/>
          <a:lstStyle/>
          <a:p>
            <a:r>
              <a:rPr lang="en-US" altLang="en-US" dirty="0">
                <a:ea typeface="ＭＳ Ｐゴシック" panose="020B0600070205080204" pitchFamily="34" charset="-128"/>
              </a:rPr>
              <a:t>Clarification of Some GPU Terms</a:t>
            </a:r>
          </a:p>
        </p:txBody>
      </p:sp>
      <p:sp>
        <p:nvSpPr>
          <p:cNvPr id="86019" name="Slide Number Placeholder 3">
            <a:extLst>
              <a:ext uri="{FF2B5EF4-FFF2-40B4-BE49-F238E27FC236}">
                <a16:creationId xmlns:a16="http://schemas.microsoft.com/office/drawing/2014/main" id="{CBAD2ABD-7A1C-2A4B-AFB3-532DED05EF1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B236174-EC2C-8F4A-B19C-D1916D782C58}"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110</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graphicFrame>
        <p:nvGraphicFramePr>
          <p:cNvPr id="4" name="Table 3">
            <a:extLst>
              <a:ext uri="{FF2B5EF4-FFF2-40B4-BE49-F238E27FC236}">
                <a16:creationId xmlns:a16="http://schemas.microsoft.com/office/drawing/2014/main" id="{B50C6EF7-6E95-2D4D-984A-72CB098F9FA5}"/>
              </a:ext>
            </a:extLst>
          </p:cNvPr>
          <p:cNvGraphicFramePr>
            <a:graphicFrameLocks noGrp="1"/>
          </p:cNvGraphicFramePr>
          <p:nvPr>
            <p:extLst>
              <p:ext uri="{D42A27DB-BD31-4B8C-83A1-F6EECF244321}">
                <p14:modId xmlns:p14="http://schemas.microsoft.com/office/powerpoint/2010/main" val="153842451"/>
              </p:ext>
            </p:extLst>
          </p:nvPr>
        </p:nvGraphicFramePr>
        <p:xfrm>
          <a:off x="607219" y="1386205"/>
          <a:ext cx="7853361" cy="2931160"/>
        </p:xfrm>
        <a:graphic>
          <a:graphicData uri="http://schemas.openxmlformats.org/drawingml/2006/table">
            <a:tbl>
              <a:tblPr firstRow="1" bandRow="1">
                <a:tableStyleId>{5C22544A-7EE6-4342-B048-85BDC9FD1C3A}</a:tableStyleId>
              </a:tblPr>
              <a:tblGrid>
                <a:gridCol w="1397659">
                  <a:extLst>
                    <a:ext uri="{9D8B030D-6E8A-4147-A177-3AD203B41FA5}">
                      <a16:colId xmlns:a16="http://schemas.microsoft.com/office/drawing/2014/main" val="96656240"/>
                    </a:ext>
                  </a:extLst>
                </a:gridCol>
                <a:gridCol w="1394432">
                  <a:extLst>
                    <a:ext uri="{9D8B030D-6E8A-4147-A177-3AD203B41FA5}">
                      <a16:colId xmlns:a16="http://schemas.microsoft.com/office/drawing/2014/main" val="3048548430"/>
                    </a:ext>
                  </a:extLst>
                </a:gridCol>
                <a:gridCol w="1401290">
                  <a:extLst>
                    <a:ext uri="{9D8B030D-6E8A-4147-A177-3AD203B41FA5}">
                      <a16:colId xmlns:a16="http://schemas.microsoft.com/office/drawing/2014/main" val="3994519559"/>
                    </a:ext>
                  </a:extLst>
                </a:gridCol>
                <a:gridCol w="3659980">
                  <a:extLst>
                    <a:ext uri="{9D8B030D-6E8A-4147-A177-3AD203B41FA5}">
                      <a16:colId xmlns:a16="http://schemas.microsoft.com/office/drawing/2014/main" val="1348789175"/>
                    </a:ext>
                  </a:extLst>
                </a:gridCol>
              </a:tblGrid>
              <a:tr h="370840">
                <a:tc>
                  <a:txBody>
                    <a:bodyPr/>
                    <a:lstStyle/>
                    <a:p>
                      <a:r>
                        <a:rPr lang="en-US" sz="1200" dirty="0"/>
                        <a:t>Generic Term</a:t>
                      </a:r>
                    </a:p>
                  </a:txBody>
                  <a:tcPr/>
                </a:tc>
                <a:tc>
                  <a:txBody>
                    <a:bodyPr/>
                    <a:lstStyle/>
                    <a:p>
                      <a:r>
                        <a:rPr lang="en-US" sz="1200" dirty="0"/>
                        <a:t>NVIDIA Term</a:t>
                      </a:r>
                    </a:p>
                  </a:txBody>
                  <a:tcPr/>
                </a:tc>
                <a:tc>
                  <a:txBody>
                    <a:bodyPr/>
                    <a:lstStyle/>
                    <a:p>
                      <a:r>
                        <a:rPr lang="en-US" sz="1200" dirty="0"/>
                        <a:t>AMD Term</a:t>
                      </a:r>
                    </a:p>
                  </a:txBody>
                  <a:tcPr/>
                </a:tc>
                <a:tc>
                  <a:txBody>
                    <a:bodyPr/>
                    <a:lstStyle/>
                    <a:p>
                      <a:r>
                        <a:rPr lang="en-US" sz="1200" dirty="0"/>
                        <a:t>Comments</a:t>
                      </a:r>
                    </a:p>
                  </a:txBody>
                  <a:tcPr/>
                </a:tc>
                <a:extLst>
                  <a:ext uri="{0D108BD9-81ED-4DB2-BD59-A6C34878D82A}">
                    <a16:rowId xmlns:a16="http://schemas.microsoft.com/office/drawing/2014/main" val="1163280345"/>
                  </a:ext>
                </a:extLst>
              </a:tr>
              <a:tr h="370840">
                <a:tc>
                  <a:txBody>
                    <a:bodyPr/>
                    <a:lstStyle/>
                    <a:p>
                      <a:r>
                        <a:rPr lang="en-US" sz="1200" dirty="0">
                          <a:solidFill>
                            <a:srgbClr val="0432FF"/>
                          </a:solidFill>
                        </a:rPr>
                        <a:t>Vector length</a:t>
                      </a:r>
                    </a:p>
                  </a:txBody>
                  <a:tcPr/>
                </a:tc>
                <a:tc>
                  <a:txBody>
                    <a:bodyPr/>
                    <a:lstStyle/>
                    <a:p>
                      <a:r>
                        <a:rPr lang="en-US" sz="1200" dirty="0"/>
                        <a:t>Warp size</a:t>
                      </a:r>
                    </a:p>
                  </a:txBody>
                  <a:tcPr/>
                </a:tc>
                <a:tc>
                  <a:txBody>
                    <a:bodyPr/>
                    <a:lstStyle/>
                    <a:p>
                      <a:r>
                        <a:rPr lang="en-US" sz="1200" dirty="0" err="1"/>
                        <a:t>Wavefront</a:t>
                      </a:r>
                      <a:r>
                        <a:rPr lang="en-US" sz="1200" dirty="0"/>
                        <a:t> size</a:t>
                      </a:r>
                    </a:p>
                  </a:txBody>
                  <a:tcPr/>
                </a:tc>
                <a:tc>
                  <a:txBody>
                    <a:bodyPr/>
                    <a:lstStyle/>
                    <a:p>
                      <a:r>
                        <a:rPr lang="en-US" sz="1200" dirty="0"/>
                        <a:t>Number of threads that run in parallel (lock-step) on a SIMD functional unit</a:t>
                      </a:r>
                    </a:p>
                  </a:txBody>
                  <a:tcPr/>
                </a:tc>
                <a:extLst>
                  <a:ext uri="{0D108BD9-81ED-4DB2-BD59-A6C34878D82A}">
                    <a16:rowId xmlns:a16="http://schemas.microsoft.com/office/drawing/2014/main" val="4269588203"/>
                  </a:ext>
                </a:extLst>
              </a:tr>
              <a:tr h="370840">
                <a:tc>
                  <a:txBody>
                    <a:bodyPr/>
                    <a:lstStyle/>
                    <a:p>
                      <a:r>
                        <a:rPr lang="en-US" sz="1200" dirty="0">
                          <a:solidFill>
                            <a:srgbClr val="0432FF"/>
                          </a:solidFill>
                        </a:rPr>
                        <a:t>Pipelined functional unit /</a:t>
                      </a:r>
                    </a:p>
                    <a:p>
                      <a:r>
                        <a:rPr lang="en-US" sz="1200" dirty="0">
                          <a:solidFill>
                            <a:srgbClr val="0432FF"/>
                          </a:solidFill>
                        </a:rPr>
                        <a:t>Scalar pipeline</a:t>
                      </a:r>
                    </a:p>
                  </a:txBody>
                  <a:tcPr/>
                </a:tc>
                <a:tc>
                  <a:txBody>
                    <a:bodyPr/>
                    <a:lstStyle/>
                    <a:p>
                      <a:r>
                        <a:rPr lang="en-US" sz="1200" dirty="0"/>
                        <a:t>Streaming processor /</a:t>
                      </a:r>
                    </a:p>
                    <a:p>
                      <a:r>
                        <a:rPr lang="en-US" sz="1200" dirty="0"/>
                        <a:t>CUDA core</a:t>
                      </a:r>
                    </a:p>
                  </a:txBody>
                  <a:tcPr/>
                </a:tc>
                <a:tc>
                  <a:txBody>
                    <a:bodyPr/>
                    <a:lstStyle/>
                    <a:p>
                      <a:r>
                        <a:rPr lang="en-US" sz="1200" dirty="0"/>
                        <a:t>-</a:t>
                      </a:r>
                    </a:p>
                  </a:txBody>
                  <a:tcPr/>
                </a:tc>
                <a:tc>
                  <a:txBody>
                    <a:bodyPr/>
                    <a:lstStyle/>
                    <a:p>
                      <a:r>
                        <a:rPr lang="en-US" sz="1200" dirty="0"/>
                        <a:t>Functional unit that executes instructions for one GPU thread</a:t>
                      </a:r>
                    </a:p>
                  </a:txBody>
                  <a:tcPr/>
                </a:tc>
                <a:extLst>
                  <a:ext uri="{0D108BD9-81ED-4DB2-BD59-A6C34878D82A}">
                    <a16:rowId xmlns:a16="http://schemas.microsoft.com/office/drawing/2014/main" val="2593474056"/>
                  </a:ext>
                </a:extLst>
              </a:tr>
              <a:tr h="370840">
                <a:tc>
                  <a:txBody>
                    <a:bodyPr/>
                    <a:lstStyle/>
                    <a:p>
                      <a:r>
                        <a:rPr lang="en-US" sz="1200" dirty="0">
                          <a:solidFill>
                            <a:srgbClr val="0432FF"/>
                          </a:solidFill>
                        </a:rPr>
                        <a:t>SIMD functional unit /</a:t>
                      </a:r>
                    </a:p>
                    <a:p>
                      <a:r>
                        <a:rPr lang="en-US" sz="1200" dirty="0">
                          <a:solidFill>
                            <a:srgbClr val="0432FF"/>
                          </a:solidFill>
                        </a:rPr>
                        <a:t>SIMD pipeline</a:t>
                      </a:r>
                    </a:p>
                  </a:txBody>
                  <a:tcPr/>
                </a:tc>
                <a:tc>
                  <a:txBody>
                    <a:bodyPr/>
                    <a:lstStyle/>
                    <a:p>
                      <a:r>
                        <a:rPr lang="en-US" sz="1200" dirty="0"/>
                        <a:t>Group of N streaming processors (e.g., N=8 in GTX 285, N=16 in Fermi)</a:t>
                      </a:r>
                    </a:p>
                  </a:txBody>
                  <a:tcPr/>
                </a:tc>
                <a:tc>
                  <a:txBody>
                    <a:bodyPr/>
                    <a:lstStyle/>
                    <a:p>
                      <a:r>
                        <a:rPr lang="en-US" sz="1200" dirty="0"/>
                        <a:t>Vector ALU</a:t>
                      </a:r>
                    </a:p>
                  </a:txBody>
                  <a:tcPr/>
                </a:tc>
                <a:tc>
                  <a:txBody>
                    <a:bodyPr/>
                    <a:lstStyle/>
                    <a:p>
                      <a:r>
                        <a:rPr lang="en-US" sz="1200" dirty="0"/>
                        <a:t>SIMD functional unit that executes instructions for an entire warp</a:t>
                      </a:r>
                    </a:p>
                  </a:txBody>
                  <a:tcPr/>
                </a:tc>
                <a:extLst>
                  <a:ext uri="{0D108BD9-81ED-4DB2-BD59-A6C34878D82A}">
                    <a16:rowId xmlns:a16="http://schemas.microsoft.com/office/drawing/2014/main" val="339561379"/>
                  </a:ext>
                </a:extLst>
              </a:tr>
              <a:tr h="370840">
                <a:tc>
                  <a:txBody>
                    <a:bodyPr/>
                    <a:lstStyle/>
                    <a:p>
                      <a:r>
                        <a:rPr lang="en-US" sz="1200" dirty="0">
                          <a:solidFill>
                            <a:srgbClr val="0432FF"/>
                          </a:solidFill>
                        </a:rPr>
                        <a:t>GPU core</a:t>
                      </a:r>
                    </a:p>
                  </a:txBody>
                  <a:tcPr/>
                </a:tc>
                <a:tc>
                  <a:txBody>
                    <a:bodyPr/>
                    <a:lstStyle/>
                    <a:p>
                      <a:r>
                        <a:rPr lang="en-US" sz="1200" dirty="0"/>
                        <a:t>Streaming multiprocessor</a:t>
                      </a:r>
                    </a:p>
                  </a:txBody>
                  <a:tcPr/>
                </a:tc>
                <a:tc>
                  <a:txBody>
                    <a:bodyPr/>
                    <a:lstStyle/>
                    <a:p>
                      <a:r>
                        <a:rPr lang="en-US" sz="1200" dirty="0"/>
                        <a:t>Compute unit</a:t>
                      </a:r>
                    </a:p>
                  </a:txBody>
                  <a:tcPr/>
                </a:tc>
                <a:tc>
                  <a:txBody>
                    <a:bodyPr/>
                    <a:lstStyle/>
                    <a:p>
                      <a:r>
                        <a:rPr lang="en-US" sz="1200" dirty="0"/>
                        <a:t>It contains one or more warp schedulers and one or several SIMD pipelines</a:t>
                      </a:r>
                    </a:p>
                  </a:txBody>
                  <a:tcPr/>
                </a:tc>
                <a:extLst>
                  <a:ext uri="{0D108BD9-81ED-4DB2-BD59-A6C34878D82A}">
                    <a16:rowId xmlns:a16="http://schemas.microsoft.com/office/drawing/2014/main" val="2059779540"/>
                  </a:ext>
                </a:extLst>
              </a:tr>
            </a:tbl>
          </a:graphicData>
        </a:graphic>
      </p:graphicFrame>
    </p:spTree>
    <p:extLst>
      <p:ext uri="{BB962C8B-B14F-4D97-AF65-F5344CB8AC3E}">
        <p14:creationId xmlns:p14="http://schemas.microsoft.com/office/powerpoint/2010/main" val="2842234268"/>
      </p:ext>
    </p:extLst>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4E67CC82-8E55-4B79-96CC-73403CE6B151}"/>
              </a:ext>
            </a:extLst>
          </p:cNvPr>
          <p:cNvSpPr/>
          <p:nvPr/>
        </p:nvSpPr>
        <p:spPr bwMode="auto">
          <a:xfrm>
            <a:off x="1828800" y="3528586"/>
            <a:ext cx="990600" cy="433814"/>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48129" name="Title 1">
            <a:extLst>
              <a:ext uri="{FF2B5EF4-FFF2-40B4-BE49-F238E27FC236}">
                <a16:creationId xmlns:a16="http://schemas.microsoft.com/office/drawing/2014/main" id="{BBD9C82C-F0B5-4A4B-BCA7-11F88EDA05B4}"/>
              </a:ext>
            </a:extLst>
          </p:cNvPr>
          <p:cNvSpPr>
            <a:spLocks noGrp="1"/>
          </p:cNvSpPr>
          <p:nvPr>
            <p:ph type="title"/>
          </p:nvPr>
        </p:nvSpPr>
        <p:spPr>
          <a:xfrm>
            <a:off x="228600" y="152400"/>
            <a:ext cx="8915400" cy="1066800"/>
          </a:xfrm>
        </p:spPr>
        <p:txBody>
          <a:bodyPr/>
          <a:lstStyle/>
          <a:p>
            <a:r>
              <a:rPr lang="en-US" altLang="en-US" sz="3200">
                <a:ea typeface="ＭＳ Ｐゴシック" panose="020B0600070205080204" pitchFamily="34" charset="-128"/>
              </a:rPr>
              <a:t>Programming Model vs. Hardware Execution Model</a:t>
            </a:r>
          </a:p>
        </p:txBody>
      </p:sp>
      <p:sp>
        <p:nvSpPr>
          <p:cNvPr id="48131" name="Slide Number Placeholder 3">
            <a:extLst>
              <a:ext uri="{FF2B5EF4-FFF2-40B4-BE49-F238E27FC236}">
                <a16:creationId xmlns:a16="http://schemas.microsoft.com/office/drawing/2014/main" id="{87C60E1E-8D42-434B-A93F-E05A2BC4EDF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CC74429-DF7E-2044-ADB1-24FE678BCABB}"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111</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2" name="矩形 1">
            <a:extLst>
              <a:ext uri="{FF2B5EF4-FFF2-40B4-BE49-F238E27FC236}">
                <a16:creationId xmlns:a16="http://schemas.microsoft.com/office/drawing/2014/main" id="{8CEEACD0-A3BD-4B0B-A7F0-EB2BA96BA811}"/>
              </a:ext>
            </a:extLst>
          </p:cNvPr>
          <p:cNvSpPr/>
          <p:nvPr/>
        </p:nvSpPr>
        <p:spPr>
          <a:xfrm>
            <a:off x="533400" y="1252904"/>
            <a:ext cx="3902030" cy="400110"/>
          </a:xfrm>
          <a:prstGeom prst="rect">
            <a:avLst/>
          </a:prstGeom>
        </p:spPr>
        <p:txBody>
          <a:bodyPr wrap="none">
            <a:spAutoFit/>
          </a:bodyPr>
          <a:lstStyle/>
          <a:p>
            <a:r>
              <a:rPr lang="en-US" altLang="en-US" sz="2000" b="1" dirty="0">
                <a:solidFill>
                  <a:srgbClr val="0432FF"/>
                </a:solidFill>
              </a:rPr>
              <a:t>Hardware Programming Model</a:t>
            </a:r>
            <a:endParaRPr lang="zh-CN" altLang="en-US" sz="2000" b="1" dirty="0"/>
          </a:p>
        </p:txBody>
      </p:sp>
      <p:sp>
        <p:nvSpPr>
          <p:cNvPr id="4" name="矩形 3">
            <a:extLst>
              <a:ext uri="{FF2B5EF4-FFF2-40B4-BE49-F238E27FC236}">
                <a16:creationId xmlns:a16="http://schemas.microsoft.com/office/drawing/2014/main" id="{CFD28EF4-7A89-41B6-B14B-E7A6958D19AB}"/>
              </a:ext>
            </a:extLst>
          </p:cNvPr>
          <p:cNvSpPr/>
          <p:nvPr/>
        </p:nvSpPr>
        <p:spPr>
          <a:xfrm>
            <a:off x="5638800" y="1274520"/>
            <a:ext cx="2662908" cy="400110"/>
          </a:xfrm>
          <a:prstGeom prst="rect">
            <a:avLst/>
          </a:prstGeom>
        </p:spPr>
        <p:txBody>
          <a:bodyPr wrap="none">
            <a:spAutoFit/>
          </a:bodyPr>
          <a:lstStyle/>
          <a:p>
            <a:r>
              <a:rPr lang="en-US" altLang="en-US" sz="2000" b="1" dirty="0">
                <a:solidFill>
                  <a:srgbClr val="FF2600"/>
                </a:solidFill>
              </a:rPr>
              <a:t>Programming Model</a:t>
            </a:r>
            <a:endParaRPr lang="zh-CN" altLang="en-US" sz="2000" b="1" dirty="0">
              <a:solidFill>
                <a:srgbClr val="FF2600"/>
              </a:solidFill>
            </a:endParaRPr>
          </a:p>
        </p:txBody>
      </p:sp>
      <p:sp>
        <p:nvSpPr>
          <p:cNvPr id="5" name="矩形: 圆角 4">
            <a:extLst>
              <a:ext uri="{FF2B5EF4-FFF2-40B4-BE49-F238E27FC236}">
                <a16:creationId xmlns:a16="http://schemas.microsoft.com/office/drawing/2014/main" id="{74E620A7-4C93-4741-833E-232B3AB7B797}"/>
              </a:ext>
            </a:extLst>
          </p:cNvPr>
          <p:cNvSpPr/>
          <p:nvPr/>
        </p:nvSpPr>
        <p:spPr bwMode="auto">
          <a:xfrm>
            <a:off x="2057400" y="4648200"/>
            <a:ext cx="533400" cy="304800"/>
          </a:xfrm>
          <a:prstGeom prst="roundRect">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rgbClr val="0432FF"/>
                </a:solidFill>
                <a:effectLst/>
                <a:latin typeface="Arial Narrow" panose="020B0606020202030204" pitchFamily="34" charset="0"/>
              </a:rPr>
              <a:t>Core</a:t>
            </a:r>
            <a:endParaRPr kumimoji="0" lang="zh-CN" altLang="en-US" sz="1200" b="0" i="0" u="none" strike="noStrike" cap="none" normalizeH="0" baseline="0" dirty="0">
              <a:ln>
                <a:noFill/>
              </a:ln>
              <a:solidFill>
                <a:srgbClr val="0432FF"/>
              </a:solidFill>
              <a:effectLst/>
              <a:latin typeface="Arial Narrow" panose="020B0606020202030204" pitchFamily="34" charset="0"/>
            </a:endParaRPr>
          </a:p>
        </p:txBody>
      </p:sp>
      <p:sp>
        <p:nvSpPr>
          <p:cNvPr id="9" name="矩形: 圆角 8">
            <a:extLst>
              <a:ext uri="{FF2B5EF4-FFF2-40B4-BE49-F238E27FC236}">
                <a16:creationId xmlns:a16="http://schemas.microsoft.com/office/drawing/2014/main" id="{F0CA4C51-177D-486A-82CF-9F736D995D1D}"/>
              </a:ext>
            </a:extLst>
          </p:cNvPr>
          <p:cNvSpPr/>
          <p:nvPr/>
        </p:nvSpPr>
        <p:spPr bwMode="auto">
          <a:xfrm>
            <a:off x="999803" y="1899141"/>
            <a:ext cx="2657797" cy="1195632"/>
          </a:xfrm>
          <a:prstGeom prst="roundRect">
            <a:avLst/>
          </a:prstGeom>
          <a:solidFill>
            <a:schemeClr val="accent5">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0432FF"/>
              </a:solidFill>
              <a:effectLst/>
              <a:latin typeface="Arial Narrow" panose="020B0606020202030204" pitchFamily="34" charset="0"/>
            </a:endParaRPr>
          </a:p>
        </p:txBody>
      </p:sp>
      <p:sp>
        <p:nvSpPr>
          <p:cNvPr id="6" name="矩形 5">
            <a:extLst>
              <a:ext uri="{FF2B5EF4-FFF2-40B4-BE49-F238E27FC236}">
                <a16:creationId xmlns:a16="http://schemas.microsoft.com/office/drawing/2014/main" id="{3B5FEB58-1294-4986-8FF5-01E6545A2605}"/>
              </a:ext>
            </a:extLst>
          </p:cNvPr>
          <p:cNvSpPr/>
          <p:nvPr/>
        </p:nvSpPr>
        <p:spPr>
          <a:xfrm>
            <a:off x="-76200" y="3429000"/>
            <a:ext cx="1676400" cy="646331"/>
          </a:xfrm>
          <a:prstGeom prst="rect">
            <a:avLst/>
          </a:prstGeom>
        </p:spPr>
        <p:txBody>
          <a:bodyPr wrap="square">
            <a:spAutoFit/>
          </a:bodyPr>
          <a:lstStyle/>
          <a:p>
            <a:pPr algn="ctr"/>
            <a:r>
              <a:rPr lang="en-US" altLang="zh-CN" dirty="0">
                <a:solidFill>
                  <a:srgbClr val="0432FF"/>
                </a:solidFill>
                <a:latin typeface="Arial Narrow" panose="020B0606020202030204" pitchFamily="34" charset="0"/>
              </a:rPr>
              <a:t>Streaming</a:t>
            </a:r>
          </a:p>
          <a:p>
            <a:pPr algn="ctr"/>
            <a:r>
              <a:rPr lang="en-US" altLang="zh-CN" dirty="0">
                <a:solidFill>
                  <a:srgbClr val="0432FF"/>
                </a:solidFill>
                <a:latin typeface="Arial Narrow" panose="020B0606020202030204" pitchFamily="34" charset="0"/>
              </a:rPr>
              <a:t> Multi-processor</a:t>
            </a:r>
            <a:endParaRPr lang="zh-CN" altLang="en-US" dirty="0">
              <a:solidFill>
                <a:srgbClr val="0432FF"/>
              </a:solidFill>
              <a:latin typeface="Arial Narrow" panose="020B0606020202030204" pitchFamily="34" charset="0"/>
            </a:endParaRPr>
          </a:p>
        </p:txBody>
      </p:sp>
      <p:sp>
        <p:nvSpPr>
          <p:cNvPr id="7" name="矩形 6">
            <a:extLst>
              <a:ext uri="{FF2B5EF4-FFF2-40B4-BE49-F238E27FC236}">
                <a16:creationId xmlns:a16="http://schemas.microsoft.com/office/drawing/2014/main" id="{2F3F56EF-2141-4640-BCA7-87075AB4EDE8}"/>
              </a:ext>
            </a:extLst>
          </p:cNvPr>
          <p:cNvSpPr/>
          <p:nvPr/>
        </p:nvSpPr>
        <p:spPr>
          <a:xfrm>
            <a:off x="235882" y="2356341"/>
            <a:ext cx="595035" cy="369332"/>
          </a:xfrm>
          <a:prstGeom prst="rect">
            <a:avLst/>
          </a:prstGeom>
        </p:spPr>
        <p:txBody>
          <a:bodyPr wrap="none">
            <a:spAutoFit/>
          </a:bodyPr>
          <a:lstStyle/>
          <a:p>
            <a:r>
              <a:rPr lang="en-US" altLang="zh-CN" dirty="0">
                <a:solidFill>
                  <a:srgbClr val="0432FF"/>
                </a:solidFill>
                <a:latin typeface="Arial Narrow" panose="020B0606020202030204" pitchFamily="34" charset="0"/>
              </a:rPr>
              <a:t>GPU</a:t>
            </a:r>
            <a:endParaRPr lang="zh-CN" altLang="en-US" dirty="0"/>
          </a:p>
        </p:txBody>
      </p:sp>
      <p:sp>
        <p:nvSpPr>
          <p:cNvPr id="12" name="矩形: 圆角 11">
            <a:extLst>
              <a:ext uri="{FF2B5EF4-FFF2-40B4-BE49-F238E27FC236}">
                <a16:creationId xmlns:a16="http://schemas.microsoft.com/office/drawing/2014/main" id="{A390C56B-3B1D-41E5-9CDC-70967E8A3F5E}"/>
              </a:ext>
            </a:extLst>
          </p:cNvPr>
          <p:cNvSpPr/>
          <p:nvPr/>
        </p:nvSpPr>
        <p:spPr bwMode="auto">
          <a:xfrm>
            <a:off x="1905000" y="3591598"/>
            <a:ext cx="152400" cy="134035"/>
          </a:xfrm>
          <a:prstGeom prst="roundRect">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a:ln>
                <a:noFill/>
              </a:ln>
              <a:solidFill>
                <a:srgbClr val="0432FF"/>
              </a:solidFill>
              <a:effectLst/>
              <a:latin typeface="Arial Narrow" panose="020B0606020202030204" pitchFamily="34" charset="0"/>
            </a:endParaRPr>
          </a:p>
        </p:txBody>
      </p:sp>
      <p:sp>
        <p:nvSpPr>
          <p:cNvPr id="14" name="矩形: 圆角 13">
            <a:extLst>
              <a:ext uri="{FF2B5EF4-FFF2-40B4-BE49-F238E27FC236}">
                <a16:creationId xmlns:a16="http://schemas.microsoft.com/office/drawing/2014/main" id="{E8381E3E-4436-465C-B68F-74270CA8F3DA}"/>
              </a:ext>
            </a:extLst>
          </p:cNvPr>
          <p:cNvSpPr/>
          <p:nvPr/>
        </p:nvSpPr>
        <p:spPr bwMode="auto">
          <a:xfrm>
            <a:off x="2123342" y="3591598"/>
            <a:ext cx="152400" cy="134035"/>
          </a:xfrm>
          <a:prstGeom prst="roundRect">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a:ln>
                <a:noFill/>
              </a:ln>
              <a:solidFill>
                <a:srgbClr val="0432FF"/>
              </a:solidFill>
              <a:effectLst/>
              <a:latin typeface="Arial Narrow" panose="020B0606020202030204" pitchFamily="34" charset="0"/>
            </a:endParaRPr>
          </a:p>
        </p:txBody>
      </p:sp>
      <p:sp>
        <p:nvSpPr>
          <p:cNvPr id="15" name="矩形: 圆角 14">
            <a:extLst>
              <a:ext uri="{FF2B5EF4-FFF2-40B4-BE49-F238E27FC236}">
                <a16:creationId xmlns:a16="http://schemas.microsoft.com/office/drawing/2014/main" id="{910A364E-264A-4A21-A557-6F2F24FE93E7}"/>
              </a:ext>
            </a:extLst>
          </p:cNvPr>
          <p:cNvSpPr/>
          <p:nvPr/>
        </p:nvSpPr>
        <p:spPr bwMode="auto">
          <a:xfrm>
            <a:off x="2341684" y="3594684"/>
            <a:ext cx="152400" cy="134035"/>
          </a:xfrm>
          <a:prstGeom prst="roundRect">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a:ln>
                <a:noFill/>
              </a:ln>
              <a:solidFill>
                <a:srgbClr val="0432FF"/>
              </a:solidFill>
              <a:effectLst/>
              <a:latin typeface="Arial Narrow" panose="020B0606020202030204" pitchFamily="34" charset="0"/>
            </a:endParaRPr>
          </a:p>
        </p:txBody>
      </p:sp>
      <p:sp>
        <p:nvSpPr>
          <p:cNvPr id="16" name="矩形: 圆角 15">
            <a:extLst>
              <a:ext uri="{FF2B5EF4-FFF2-40B4-BE49-F238E27FC236}">
                <a16:creationId xmlns:a16="http://schemas.microsoft.com/office/drawing/2014/main" id="{A4CB6926-0908-4AE2-818F-30EF64951224}"/>
              </a:ext>
            </a:extLst>
          </p:cNvPr>
          <p:cNvSpPr/>
          <p:nvPr/>
        </p:nvSpPr>
        <p:spPr bwMode="auto">
          <a:xfrm>
            <a:off x="2561903" y="3591598"/>
            <a:ext cx="152400" cy="134035"/>
          </a:xfrm>
          <a:prstGeom prst="roundRect">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a:ln>
                <a:noFill/>
              </a:ln>
              <a:solidFill>
                <a:srgbClr val="0432FF"/>
              </a:solidFill>
              <a:effectLst/>
              <a:latin typeface="Arial Narrow" panose="020B0606020202030204" pitchFamily="34" charset="0"/>
            </a:endParaRPr>
          </a:p>
        </p:txBody>
      </p:sp>
      <p:sp>
        <p:nvSpPr>
          <p:cNvPr id="17" name="矩形: 圆角 16">
            <a:extLst>
              <a:ext uri="{FF2B5EF4-FFF2-40B4-BE49-F238E27FC236}">
                <a16:creationId xmlns:a16="http://schemas.microsoft.com/office/drawing/2014/main" id="{D22EE6A5-56C6-4B4B-A1C5-8A4D668D4D4B}"/>
              </a:ext>
            </a:extLst>
          </p:cNvPr>
          <p:cNvSpPr/>
          <p:nvPr/>
        </p:nvSpPr>
        <p:spPr bwMode="auto">
          <a:xfrm>
            <a:off x="1905000" y="3788645"/>
            <a:ext cx="152400" cy="134035"/>
          </a:xfrm>
          <a:prstGeom prst="roundRect">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a:ln>
                <a:noFill/>
              </a:ln>
              <a:solidFill>
                <a:srgbClr val="0432FF"/>
              </a:solidFill>
              <a:effectLst/>
              <a:latin typeface="Arial Narrow" panose="020B0606020202030204" pitchFamily="34" charset="0"/>
            </a:endParaRPr>
          </a:p>
        </p:txBody>
      </p:sp>
      <p:sp>
        <p:nvSpPr>
          <p:cNvPr id="18" name="矩形: 圆角 17">
            <a:extLst>
              <a:ext uri="{FF2B5EF4-FFF2-40B4-BE49-F238E27FC236}">
                <a16:creationId xmlns:a16="http://schemas.microsoft.com/office/drawing/2014/main" id="{6C052E34-A85F-4F6F-A568-77DF3C133C54}"/>
              </a:ext>
            </a:extLst>
          </p:cNvPr>
          <p:cNvSpPr/>
          <p:nvPr/>
        </p:nvSpPr>
        <p:spPr bwMode="auto">
          <a:xfrm>
            <a:off x="2123342" y="3788645"/>
            <a:ext cx="152400" cy="134035"/>
          </a:xfrm>
          <a:prstGeom prst="roundRect">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a:ln>
                <a:noFill/>
              </a:ln>
              <a:solidFill>
                <a:srgbClr val="0432FF"/>
              </a:solidFill>
              <a:effectLst/>
              <a:latin typeface="Arial Narrow" panose="020B0606020202030204" pitchFamily="34" charset="0"/>
            </a:endParaRPr>
          </a:p>
        </p:txBody>
      </p:sp>
      <p:sp>
        <p:nvSpPr>
          <p:cNvPr id="19" name="矩形: 圆角 18">
            <a:extLst>
              <a:ext uri="{FF2B5EF4-FFF2-40B4-BE49-F238E27FC236}">
                <a16:creationId xmlns:a16="http://schemas.microsoft.com/office/drawing/2014/main" id="{A2767259-3893-4033-A02F-9DCF3CFC2083}"/>
              </a:ext>
            </a:extLst>
          </p:cNvPr>
          <p:cNvSpPr/>
          <p:nvPr/>
        </p:nvSpPr>
        <p:spPr bwMode="auto">
          <a:xfrm>
            <a:off x="2341684" y="3791731"/>
            <a:ext cx="152400" cy="134035"/>
          </a:xfrm>
          <a:prstGeom prst="roundRect">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a:ln>
                <a:noFill/>
              </a:ln>
              <a:solidFill>
                <a:srgbClr val="0432FF"/>
              </a:solidFill>
              <a:effectLst/>
              <a:latin typeface="Arial Narrow" panose="020B0606020202030204" pitchFamily="34" charset="0"/>
            </a:endParaRPr>
          </a:p>
        </p:txBody>
      </p:sp>
      <p:sp>
        <p:nvSpPr>
          <p:cNvPr id="20" name="矩形: 圆角 19">
            <a:extLst>
              <a:ext uri="{FF2B5EF4-FFF2-40B4-BE49-F238E27FC236}">
                <a16:creationId xmlns:a16="http://schemas.microsoft.com/office/drawing/2014/main" id="{B69C8383-B32E-42DF-94A5-6E559FC8DC67}"/>
              </a:ext>
            </a:extLst>
          </p:cNvPr>
          <p:cNvSpPr/>
          <p:nvPr/>
        </p:nvSpPr>
        <p:spPr bwMode="auto">
          <a:xfrm>
            <a:off x="2561903" y="3788645"/>
            <a:ext cx="152400" cy="134035"/>
          </a:xfrm>
          <a:prstGeom prst="roundRect">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a:ln>
                <a:noFill/>
              </a:ln>
              <a:solidFill>
                <a:srgbClr val="0432FF"/>
              </a:solidFill>
              <a:effectLst/>
              <a:latin typeface="Arial Narrow" panose="020B0606020202030204" pitchFamily="34" charset="0"/>
            </a:endParaRPr>
          </a:p>
        </p:txBody>
      </p:sp>
      <p:sp>
        <p:nvSpPr>
          <p:cNvPr id="22" name="矩形 21">
            <a:extLst>
              <a:ext uri="{FF2B5EF4-FFF2-40B4-BE49-F238E27FC236}">
                <a16:creationId xmlns:a16="http://schemas.microsoft.com/office/drawing/2014/main" id="{6E32584C-DDF5-4742-8CF5-CA59AAB01C97}"/>
              </a:ext>
            </a:extLst>
          </p:cNvPr>
          <p:cNvSpPr/>
          <p:nvPr/>
        </p:nvSpPr>
        <p:spPr bwMode="auto">
          <a:xfrm>
            <a:off x="1215215" y="1965023"/>
            <a:ext cx="990600" cy="433814"/>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23" name="矩形 22">
            <a:extLst>
              <a:ext uri="{FF2B5EF4-FFF2-40B4-BE49-F238E27FC236}">
                <a16:creationId xmlns:a16="http://schemas.microsoft.com/office/drawing/2014/main" id="{9D91520A-8EDF-48FA-95DC-C476AFB3A034}"/>
              </a:ext>
            </a:extLst>
          </p:cNvPr>
          <p:cNvSpPr/>
          <p:nvPr/>
        </p:nvSpPr>
        <p:spPr bwMode="auto">
          <a:xfrm>
            <a:off x="2479109" y="1975281"/>
            <a:ext cx="990600" cy="433814"/>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24" name="矩形 23">
            <a:extLst>
              <a:ext uri="{FF2B5EF4-FFF2-40B4-BE49-F238E27FC236}">
                <a16:creationId xmlns:a16="http://schemas.microsoft.com/office/drawing/2014/main" id="{253B2CC1-8B24-4D56-A9B9-B54DBA19BC1F}"/>
              </a:ext>
            </a:extLst>
          </p:cNvPr>
          <p:cNvSpPr/>
          <p:nvPr/>
        </p:nvSpPr>
        <p:spPr bwMode="auto">
          <a:xfrm>
            <a:off x="1215215" y="2539482"/>
            <a:ext cx="990600" cy="433814"/>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25" name="矩形 24">
            <a:extLst>
              <a:ext uri="{FF2B5EF4-FFF2-40B4-BE49-F238E27FC236}">
                <a16:creationId xmlns:a16="http://schemas.microsoft.com/office/drawing/2014/main" id="{CC010F06-A199-4769-8326-755292CC28FB}"/>
              </a:ext>
            </a:extLst>
          </p:cNvPr>
          <p:cNvSpPr/>
          <p:nvPr/>
        </p:nvSpPr>
        <p:spPr bwMode="auto">
          <a:xfrm>
            <a:off x="2479109" y="2549740"/>
            <a:ext cx="990600" cy="433814"/>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26" name="矩形 25">
            <a:extLst>
              <a:ext uri="{FF2B5EF4-FFF2-40B4-BE49-F238E27FC236}">
                <a16:creationId xmlns:a16="http://schemas.microsoft.com/office/drawing/2014/main" id="{6B7B3CA0-4903-4E20-B2D6-DB01A9A3B095}"/>
              </a:ext>
            </a:extLst>
          </p:cNvPr>
          <p:cNvSpPr/>
          <p:nvPr/>
        </p:nvSpPr>
        <p:spPr>
          <a:xfrm>
            <a:off x="-41031" y="4583723"/>
            <a:ext cx="1676400" cy="369332"/>
          </a:xfrm>
          <a:prstGeom prst="rect">
            <a:avLst/>
          </a:prstGeom>
        </p:spPr>
        <p:txBody>
          <a:bodyPr wrap="square">
            <a:spAutoFit/>
          </a:bodyPr>
          <a:lstStyle/>
          <a:p>
            <a:pPr algn="ctr"/>
            <a:r>
              <a:rPr lang="en-US" altLang="zh-CN" dirty="0">
                <a:solidFill>
                  <a:srgbClr val="0432FF"/>
                </a:solidFill>
                <a:latin typeface="Arial Narrow" panose="020B0606020202030204" pitchFamily="34" charset="0"/>
              </a:rPr>
              <a:t>CUDA core:</a:t>
            </a:r>
            <a:endParaRPr lang="zh-CN" altLang="en-US" dirty="0">
              <a:solidFill>
                <a:srgbClr val="0432FF"/>
              </a:solidFill>
              <a:latin typeface="Arial Narrow" panose="020B0606020202030204" pitchFamily="34" charset="0"/>
            </a:endParaRPr>
          </a:p>
        </p:txBody>
      </p:sp>
      <p:sp>
        <p:nvSpPr>
          <p:cNvPr id="29" name="矩形 28">
            <a:extLst>
              <a:ext uri="{FF2B5EF4-FFF2-40B4-BE49-F238E27FC236}">
                <a16:creationId xmlns:a16="http://schemas.microsoft.com/office/drawing/2014/main" id="{8457C965-2183-4857-BF96-A7811CAC1E02}"/>
              </a:ext>
            </a:extLst>
          </p:cNvPr>
          <p:cNvSpPr/>
          <p:nvPr/>
        </p:nvSpPr>
        <p:spPr>
          <a:xfrm>
            <a:off x="6553202" y="4607169"/>
            <a:ext cx="997389" cy="400110"/>
          </a:xfrm>
          <a:prstGeom prst="rect">
            <a:avLst/>
          </a:prstGeom>
        </p:spPr>
        <p:txBody>
          <a:bodyPr wrap="none">
            <a:spAutoFit/>
          </a:bodyPr>
          <a:lstStyle/>
          <a:p>
            <a:r>
              <a:rPr lang="en-US" altLang="zh-CN" sz="2000" dirty="0">
                <a:solidFill>
                  <a:srgbClr val="FF2600"/>
                </a:solidFill>
              </a:rPr>
              <a:t>Thread</a:t>
            </a:r>
            <a:endParaRPr lang="zh-CN" altLang="en-US" sz="2000" dirty="0">
              <a:solidFill>
                <a:srgbClr val="FF2600"/>
              </a:solidFill>
            </a:endParaRPr>
          </a:p>
        </p:txBody>
      </p:sp>
      <p:sp>
        <p:nvSpPr>
          <p:cNvPr id="30" name="矩形 29">
            <a:extLst>
              <a:ext uri="{FF2B5EF4-FFF2-40B4-BE49-F238E27FC236}">
                <a16:creationId xmlns:a16="http://schemas.microsoft.com/office/drawing/2014/main" id="{4524620D-D2D5-49E6-A374-33D59F769410}"/>
              </a:ext>
            </a:extLst>
          </p:cNvPr>
          <p:cNvSpPr/>
          <p:nvPr/>
        </p:nvSpPr>
        <p:spPr>
          <a:xfrm>
            <a:off x="6189413" y="3552110"/>
            <a:ext cx="2036135" cy="400110"/>
          </a:xfrm>
          <a:prstGeom prst="rect">
            <a:avLst/>
          </a:prstGeom>
        </p:spPr>
        <p:txBody>
          <a:bodyPr wrap="none">
            <a:spAutoFit/>
          </a:bodyPr>
          <a:lstStyle/>
          <a:p>
            <a:r>
              <a:rPr lang="en-US" altLang="zh-CN" sz="2000" dirty="0">
                <a:solidFill>
                  <a:srgbClr val="FF2600"/>
                </a:solidFill>
              </a:rPr>
              <a:t>Thread block (s)</a:t>
            </a:r>
            <a:endParaRPr lang="zh-CN" altLang="en-US" sz="2000" dirty="0">
              <a:solidFill>
                <a:srgbClr val="FF2600"/>
              </a:solidFill>
            </a:endParaRPr>
          </a:p>
        </p:txBody>
      </p:sp>
      <p:sp>
        <p:nvSpPr>
          <p:cNvPr id="33" name="矩形 32">
            <a:extLst>
              <a:ext uri="{FF2B5EF4-FFF2-40B4-BE49-F238E27FC236}">
                <a16:creationId xmlns:a16="http://schemas.microsoft.com/office/drawing/2014/main" id="{E3C1204B-BCAF-4E8F-9AA0-3D00A57A429D}"/>
              </a:ext>
            </a:extLst>
          </p:cNvPr>
          <p:cNvSpPr/>
          <p:nvPr/>
        </p:nvSpPr>
        <p:spPr>
          <a:xfrm>
            <a:off x="6655698" y="4075331"/>
            <a:ext cx="731932" cy="369332"/>
          </a:xfrm>
          <a:prstGeom prst="rect">
            <a:avLst/>
          </a:prstGeom>
        </p:spPr>
        <p:txBody>
          <a:bodyPr wrap="none">
            <a:spAutoFit/>
          </a:bodyPr>
          <a:lstStyle/>
          <a:p>
            <a:r>
              <a:rPr lang="en-US" altLang="zh-CN" dirty="0">
                <a:solidFill>
                  <a:srgbClr val="FF2600"/>
                </a:solidFill>
              </a:rPr>
              <a:t>Wrap</a:t>
            </a:r>
            <a:endParaRPr lang="zh-CN" altLang="en-US" dirty="0">
              <a:solidFill>
                <a:srgbClr val="FF2600"/>
              </a:solidFill>
            </a:endParaRPr>
          </a:p>
        </p:txBody>
      </p:sp>
      <p:sp>
        <p:nvSpPr>
          <p:cNvPr id="34" name="矩形 33">
            <a:extLst>
              <a:ext uri="{FF2B5EF4-FFF2-40B4-BE49-F238E27FC236}">
                <a16:creationId xmlns:a16="http://schemas.microsoft.com/office/drawing/2014/main" id="{EF462E8C-B162-4637-87C7-FC355D4627E5}"/>
              </a:ext>
            </a:extLst>
          </p:cNvPr>
          <p:cNvSpPr/>
          <p:nvPr/>
        </p:nvSpPr>
        <p:spPr>
          <a:xfrm>
            <a:off x="6218174" y="2258666"/>
            <a:ext cx="1795684" cy="400110"/>
          </a:xfrm>
          <a:prstGeom prst="rect">
            <a:avLst/>
          </a:prstGeom>
        </p:spPr>
        <p:txBody>
          <a:bodyPr wrap="none">
            <a:spAutoFit/>
          </a:bodyPr>
          <a:lstStyle/>
          <a:p>
            <a:r>
              <a:rPr lang="en-US" altLang="zh-CN" sz="2000" dirty="0">
                <a:solidFill>
                  <a:srgbClr val="FF2600"/>
                </a:solidFill>
              </a:rPr>
              <a:t>Thread blocks</a:t>
            </a:r>
            <a:endParaRPr lang="zh-CN" altLang="en-US" sz="2000" dirty="0">
              <a:solidFill>
                <a:srgbClr val="FF2600"/>
              </a:solidFill>
            </a:endParaRPr>
          </a:p>
        </p:txBody>
      </p:sp>
    </p:spTree>
    <p:extLst>
      <p:ext uri="{BB962C8B-B14F-4D97-AF65-F5344CB8AC3E}">
        <p14:creationId xmlns:p14="http://schemas.microsoft.com/office/powerpoint/2010/main" val="3628145805"/>
      </p:ext>
    </p:extLst>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itle 1">
            <a:extLst>
              <a:ext uri="{FF2B5EF4-FFF2-40B4-BE49-F238E27FC236}">
                <a16:creationId xmlns:a16="http://schemas.microsoft.com/office/drawing/2014/main" id="{37341F1E-EEC5-5E40-B8E1-F001AF083003}"/>
              </a:ext>
            </a:extLst>
          </p:cNvPr>
          <p:cNvSpPr>
            <a:spLocks noGrp="1"/>
          </p:cNvSpPr>
          <p:nvPr>
            <p:ph type="title"/>
          </p:nvPr>
        </p:nvSpPr>
        <p:spPr/>
        <p:txBody>
          <a:bodyPr/>
          <a:lstStyle/>
          <a:p>
            <a:r>
              <a:rPr lang="en-US" altLang="en-US" dirty="0">
                <a:ea typeface="ＭＳ Ｐゴシック" panose="020B0600070205080204" pitchFamily="34" charset="-128"/>
              </a:rPr>
              <a:t>NVIDIA H100 Block Diagram</a:t>
            </a:r>
          </a:p>
        </p:txBody>
      </p:sp>
      <p:sp>
        <p:nvSpPr>
          <p:cNvPr id="9" name="Content Placeholder 2">
            <a:extLst>
              <a:ext uri="{FF2B5EF4-FFF2-40B4-BE49-F238E27FC236}">
                <a16:creationId xmlns:a16="http://schemas.microsoft.com/office/drawing/2014/main" id="{1CD52290-91EC-594F-A398-DAC65BC81868}"/>
              </a:ext>
            </a:extLst>
          </p:cNvPr>
          <p:cNvSpPr>
            <a:spLocks noGrp="1"/>
          </p:cNvSpPr>
          <p:nvPr>
            <p:ph idx="1"/>
          </p:nvPr>
        </p:nvSpPr>
        <p:spPr>
          <a:xfrm>
            <a:off x="254000" y="5517232"/>
            <a:ext cx="8643938" cy="801018"/>
          </a:xfrm>
        </p:spPr>
        <p:txBody>
          <a:bodyPr/>
          <a:lstStyle/>
          <a:p>
            <a:pPr algn="ctr">
              <a:buFont typeface="Wingdings" pitchFamily="2" charset="2"/>
              <a:buNone/>
            </a:pPr>
            <a:r>
              <a:rPr lang="en-US" altLang="en-US" dirty="0">
                <a:ea typeface="ＭＳ Ｐゴシック" panose="020B0600070205080204" pitchFamily="34" charset="-128"/>
              </a:rPr>
              <a:t>144 cores on the full GH100</a:t>
            </a:r>
          </a:p>
          <a:p>
            <a:pPr algn="ctr">
              <a:buFont typeface="Wingdings" pitchFamily="2" charset="2"/>
              <a:buNone/>
            </a:pPr>
            <a:r>
              <a:rPr lang="en-US" altLang="en-US" sz="1800" dirty="0">
                <a:ea typeface="ＭＳ Ｐゴシック" panose="020B0600070205080204" pitchFamily="34" charset="-128"/>
              </a:rPr>
              <a:t>60MB L2 cache</a:t>
            </a:r>
          </a:p>
        </p:txBody>
      </p:sp>
      <p:sp>
        <p:nvSpPr>
          <p:cNvPr id="3" name="TextBox 2"/>
          <p:cNvSpPr txBox="1"/>
          <p:nvPr/>
        </p:nvSpPr>
        <p:spPr>
          <a:xfrm>
            <a:off x="5734092" y="5110983"/>
            <a:ext cx="3409908" cy="215444"/>
          </a:xfrm>
          <a:prstGeom prst="rect">
            <a:avLst/>
          </a:prstGeom>
          <a:noFill/>
        </p:spPr>
        <p:txBody>
          <a:bodyPr wrap="none" rtlCol="0">
            <a:spAutoFit/>
          </a:bodyPr>
          <a:lstStyle/>
          <a:p>
            <a:r>
              <a:rPr lang="en-US" sz="800" dirty="0">
                <a:hlinkClick r:id="rId3"/>
              </a:rPr>
              <a:t>https://developer.nvidia.com/blog/nvidia-hopper-architecture-in-depth/</a:t>
            </a:r>
            <a:endParaRPr lang="en-US" sz="800" dirty="0"/>
          </a:p>
        </p:txBody>
      </p:sp>
      <p:sp>
        <p:nvSpPr>
          <p:cNvPr id="7" name="Slide Number Placeholder 3">
            <a:extLst>
              <a:ext uri="{FF2B5EF4-FFF2-40B4-BE49-F238E27FC236}">
                <a16:creationId xmlns:a16="http://schemas.microsoft.com/office/drawing/2014/main" id="{FC5739B9-63E5-1E41-8390-7E8804EBCA86}"/>
              </a:ext>
            </a:extLst>
          </p:cNvPr>
          <p:cNvSpPr>
            <a:spLocks noGrp="1"/>
          </p:cNvSpPr>
          <p:nvPr>
            <p:ph type="sldNum" sz="quarter" idx="11"/>
          </p:nvPr>
        </p:nvSpPr>
        <p:spPr>
          <a:xfrm>
            <a:off x="6777038" y="631825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B31A252-A455-7E4D-8859-45EB22A1C42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112</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pic>
        <p:nvPicPr>
          <p:cNvPr id="4" name="Picture 3">
            <a:extLst>
              <a:ext uri="{FF2B5EF4-FFF2-40B4-BE49-F238E27FC236}">
                <a16:creationId xmlns:a16="http://schemas.microsoft.com/office/drawing/2014/main" id="{48CF0C27-3E87-E548-8B43-9405ADC6281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052736"/>
            <a:ext cx="9144000" cy="4082306"/>
          </a:xfrm>
          <a:prstGeom prst="rect">
            <a:avLst/>
          </a:prstGeom>
        </p:spPr>
      </p:pic>
    </p:spTree>
    <p:extLst>
      <p:ext uri="{BB962C8B-B14F-4D97-AF65-F5344CB8AC3E}">
        <p14:creationId xmlns:p14="http://schemas.microsoft.com/office/powerpoint/2010/main" val="517531338"/>
      </p:ext>
    </p:extLst>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itle 1">
            <a:extLst>
              <a:ext uri="{FF2B5EF4-FFF2-40B4-BE49-F238E27FC236}">
                <a16:creationId xmlns:a16="http://schemas.microsoft.com/office/drawing/2014/main" id="{37341F1E-EEC5-5E40-B8E1-F001AF083003}"/>
              </a:ext>
            </a:extLst>
          </p:cNvPr>
          <p:cNvSpPr>
            <a:spLocks noGrp="1"/>
          </p:cNvSpPr>
          <p:nvPr>
            <p:ph type="title"/>
          </p:nvPr>
        </p:nvSpPr>
        <p:spPr/>
        <p:txBody>
          <a:bodyPr/>
          <a:lstStyle/>
          <a:p>
            <a:r>
              <a:rPr lang="en-US" altLang="en-US" dirty="0">
                <a:ea typeface="ＭＳ Ｐゴシック" panose="020B0600070205080204" pitchFamily="34" charset="-128"/>
              </a:rPr>
              <a:t>NVIDIA H100 Core</a:t>
            </a:r>
          </a:p>
        </p:txBody>
      </p:sp>
      <p:sp>
        <p:nvSpPr>
          <p:cNvPr id="9" name="Content Placeholder 2">
            <a:extLst>
              <a:ext uri="{FF2B5EF4-FFF2-40B4-BE49-F238E27FC236}">
                <a16:creationId xmlns:a16="http://schemas.microsoft.com/office/drawing/2014/main" id="{1CD52290-91EC-594F-A398-DAC65BC81868}"/>
              </a:ext>
            </a:extLst>
          </p:cNvPr>
          <p:cNvSpPr>
            <a:spLocks noGrp="1"/>
          </p:cNvSpPr>
          <p:nvPr>
            <p:ph idx="1"/>
          </p:nvPr>
        </p:nvSpPr>
        <p:spPr>
          <a:xfrm>
            <a:off x="4644008" y="1043617"/>
            <a:ext cx="3661439" cy="1066800"/>
          </a:xfrm>
        </p:spPr>
        <p:txBody>
          <a:bodyPr anchor="t"/>
          <a:lstStyle/>
          <a:p>
            <a:pPr>
              <a:buFont typeface="Wingdings" pitchFamily="2" charset="2"/>
              <a:buNone/>
            </a:pPr>
            <a:r>
              <a:rPr lang="en-US" altLang="en-US" sz="1600" dirty="0">
                <a:ea typeface="ＭＳ Ｐゴシック" panose="020B0600070205080204" pitchFamily="34" charset="-128"/>
              </a:rPr>
              <a:t>48 TFLOPS Single Precision*</a:t>
            </a:r>
          </a:p>
          <a:p>
            <a:pPr>
              <a:buFont typeface="Wingdings" pitchFamily="2" charset="2"/>
              <a:buNone/>
            </a:pPr>
            <a:r>
              <a:rPr lang="en-US" altLang="en-US" sz="1600" dirty="0">
                <a:ea typeface="ＭＳ Ｐゴシック" panose="020B0600070205080204" pitchFamily="34" charset="-128"/>
              </a:rPr>
              <a:t>24 TFLOPS Double Precision*</a:t>
            </a:r>
          </a:p>
          <a:p>
            <a:pPr>
              <a:buFont typeface="Wingdings" pitchFamily="2" charset="2"/>
              <a:buNone/>
            </a:pPr>
            <a:r>
              <a:rPr lang="en-US" altLang="en-US" sz="1600" dirty="0">
                <a:ea typeface="ＭＳ Ｐゴシック" panose="020B0600070205080204" pitchFamily="34" charset="-128"/>
              </a:rPr>
              <a:t>800 TFLOPS (FP16, Tensor Cores)*</a:t>
            </a:r>
          </a:p>
        </p:txBody>
      </p:sp>
      <p:sp>
        <p:nvSpPr>
          <p:cNvPr id="10" name="Slide Number Placeholder 3">
            <a:extLst>
              <a:ext uri="{FF2B5EF4-FFF2-40B4-BE49-F238E27FC236}">
                <a16:creationId xmlns:a16="http://schemas.microsoft.com/office/drawing/2014/main" id="{FC5739B9-63E5-1E41-8390-7E8804EBCA86}"/>
              </a:ext>
            </a:extLst>
          </p:cNvPr>
          <p:cNvSpPr>
            <a:spLocks noGrp="1"/>
          </p:cNvSpPr>
          <p:nvPr>
            <p:ph type="sldNum" sz="quarter" idx="11"/>
          </p:nvPr>
        </p:nvSpPr>
        <p:spPr>
          <a:xfrm>
            <a:off x="6777038" y="631825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B31A252-A455-7E4D-8859-45EB22A1C42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113</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11" name="TextBox 10"/>
          <p:cNvSpPr txBox="1"/>
          <p:nvPr/>
        </p:nvSpPr>
        <p:spPr>
          <a:xfrm>
            <a:off x="226924" y="6367946"/>
            <a:ext cx="3409908" cy="400110"/>
          </a:xfrm>
          <a:prstGeom prst="rect">
            <a:avLst/>
          </a:prstGeom>
          <a:noFill/>
        </p:spPr>
        <p:txBody>
          <a:bodyPr wrap="none" rtlCol="0">
            <a:spAutoFit/>
          </a:bodyPr>
          <a:lstStyle/>
          <a:p>
            <a:r>
              <a:rPr lang="en-US" sz="800" dirty="0">
                <a:hlinkClick r:id="rId3"/>
              </a:rPr>
              <a:t>https://developer.nvidia.com/blog/nvidia-hopper-architecture-in-depth/</a:t>
            </a:r>
            <a:endParaRPr lang="en-US" sz="800" dirty="0"/>
          </a:p>
          <a:p>
            <a:r>
              <a:rPr lang="en-US" sz="1200" dirty="0"/>
              <a:t>* Preliminary performance estimates</a:t>
            </a:r>
          </a:p>
        </p:txBody>
      </p:sp>
      <p:pic>
        <p:nvPicPr>
          <p:cNvPr id="3" name="Picture 2">
            <a:extLst>
              <a:ext uri="{FF2B5EF4-FFF2-40B4-BE49-F238E27FC236}">
                <a16:creationId xmlns:a16="http://schemas.microsoft.com/office/drawing/2014/main" id="{901F0E46-2D3E-1946-B41D-E8CB57157DC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6924" y="958416"/>
            <a:ext cx="3852213" cy="5359834"/>
          </a:xfrm>
          <a:prstGeom prst="rect">
            <a:avLst/>
          </a:prstGeom>
        </p:spPr>
      </p:pic>
      <p:pic>
        <p:nvPicPr>
          <p:cNvPr id="6" name="Picture 5">
            <a:extLst>
              <a:ext uri="{FF2B5EF4-FFF2-40B4-BE49-F238E27FC236}">
                <a16:creationId xmlns:a16="http://schemas.microsoft.com/office/drawing/2014/main" id="{2FBD0450-3AD0-B847-8068-CE2AE96C0E9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355976" y="3173171"/>
            <a:ext cx="4571999" cy="2488077"/>
          </a:xfrm>
          <a:prstGeom prst="rect">
            <a:avLst/>
          </a:prstGeom>
        </p:spPr>
      </p:pic>
      <p:sp>
        <p:nvSpPr>
          <p:cNvPr id="4" name="Oval 3"/>
          <p:cNvSpPr/>
          <p:nvPr/>
        </p:nvSpPr>
        <p:spPr bwMode="auto">
          <a:xfrm>
            <a:off x="3310136" y="1988840"/>
            <a:ext cx="685800" cy="1295400"/>
          </a:xfrm>
          <a:prstGeom prst="ellipse">
            <a:avLst/>
          </a:prstGeom>
          <a:noFill/>
          <a:ln w="38100"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endParaRPr>
          </a:p>
        </p:txBody>
      </p:sp>
      <p:cxnSp>
        <p:nvCxnSpPr>
          <p:cNvPr id="7" name="Straight Arrow Connector 6"/>
          <p:cNvCxnSpPr>
            <a:cxnSpLocks/>
            <a:stCxn id="4" idx="6"/>
          </p:cNvCxnSpPr>
          <p:nvPr/>
        </p:nvCxnSpPr>
        <p:spPr bwMode="auto">
          <a:xfrm>
            <a:off x="3995936" y="2636540"/>
            <a:ext cx="990600" cy="571500"/>
          </a:xfrm>
          <a:prstGeom prst="straightConnector1">
            <a:avLst/>
          </a:prstGeom>
          <a:solidFill>
            <a:srgbClr val="C0C0C0"/>
          </a:solidFill>
          <a:ln w="38100" cap="flat" cmpd="sng" algn="ctr">
            <a:solidFill>
              <a:schemeClr val="accent1"/>
            </a:solidFill>
            <a:prstDash val="solid"/>
            <a:round/>
            <a:headEnd type="none" w="med" len="med"/>
            <a:tailEnd type="triangle"/>
          </a:ln>
          <a:effectLst/>
        </p:spPr>
      </p:cxnSp>
    </p:spTree>
    <p:extLst>
      <p:ext uri="{BB962C8B-B14F-4D97-AF65-F5344CB8AC3E}">
        <p14:creationId xmlns:p14="http://schemas.microsoft.com/office/powerpoint/2010/main" val="676257292"/>
      </p:ext>
    </p:extLst>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E5D416A-4B91-DB47-96B2-B5A66BAFEC27}"/>
              </a:ext>
            </a:extLst>
          </p:cNvPr>
          <p:cNvSpPr txBox="1">
            <a:spLocks/>
          </p:cNvSpPr>
          <p:nvPr/>
        </p:nvSpPr>
        <p:spPr bwMode="auto">
          <a:xfrm>
            <a:off x="228600" y="914400"/>
            <a:ext cx="8610600"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a:lstStyle>
          <a:p>
            <a:pPr marL="342900" marR="0" lvl="0" indent="-342900" algn="l" defTabSz="914400" rtl="0" eaLnBrk="0" fontAlgn="base" latinLnBrk="0" hangingPunct="0">
              <a:lnSpc>
                <a:spcPct val="100000"/>
              </a:lnSpc>
              <a:spcBef>
                <a:spcPct val="20000"/>
              </a:spcBef>
              <a:spcAft>
                <a:spcPct val="0"/>
              </a:spcAft>
              <a:buClr>
                <a:srgbClr val="CC9900"/>
              </a:buClr>
              <a:buSzPct val="65000"/>
              <a:buFont typeface="Wingdings" pitchFamily="2" charset="2"/>
              <a:buChar char="n"/>
              <a:tabLst/>
              <a:defRPr/>
            </a:pPr>
            <a:r>
              <a:rPr kumimoji="0" lang="en-US" altLang="en-US" sz="2200" b="0" i="0" u="none" strike="noStrike" kern="1200" cap="none" spc="0" normalizeH="0" baseline="0" noProof="0" dirty="0">
                <a:ln>
                  <a:noFill/>
                </a:ln>
                <a:solidFill>
                  <a:srgbClr val="0070C0"/>
                </a:solidFill>
                <a:effectLst/>
                <a:uLnTx/>
                <a:uFillTx/>
                <a:latin typeface="Tahoma" panose="020B0604030504040204" pitchFamily="34" charset="0"/>
                <a:ea typeface="Tahoma" panose="020B0604030504040204" pitchFamily="34" charset="0"/>
                <a:cs typeface="Tahoma" panose="020B0604030504040204" pitchFamily="34" charset="0"/>
              </a:rPr>
              <a:t>Shared memory virtual address space </a:t>
            </a:r>
            <a:r>
              <a:rPr kumimoji="0" lang="en-US" altLang="en-US" sz="22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distributed across the blocks of a cluster</a:t>
            </a:r>
          </a:p>
          <a:p>
            <a:pPr marL="342900" marR="0" lvl="0" indent="-342900" algn="l" defTabSz="914400" rtl="0" eaLnBrk="0" fontAlgn="base" latinLnBrk="0" hangingPunct="0">
              <a:lnSpc>
                <a:spcPct val="100000"/>
              </a:lnSpc>
              <a:spcBef>
                <a:spcPct val="20000"/>
              </a:spcBef>
              <a:spcAft>
                <a:spcPct val="0"/>
              </a:spcAft>
              <a:buClr>
                <a:srgbClr val="CC9900"/>
              </a:buClr>
              <a:buSzPct val="65000"/>
              <a:buFont typeface="Wingdings" pitchFamily="2" charset="2"/>
              <a:buChar char="n"/>
              <a:tabLst/>
              <a:defRPr/>
            </a:pPr>
            <a:r>
              <a:rPr lang="en-US" altLang="en-US" sz="2200" dirty="0">
                <a:solidFill>
                  <a:srgbClr val="7030A0"/>
                </a:solidFill>
                <a:latin typeface="Tahoma" panose="020B0604030504040204" pitchFamily="34" charset="0"/>
                <a:ea typeface="Tahoma" panose="020B0604030504040204" pitchFamily="34" charset="0"/>
                <a:cs typeface="Tahoma" panose="020B0604030504040204" pitchFamily="34" charset="0"/>
              </a:rPr>
              <a:t>Load, store, and atomic operations to other SM’s shared memory</a:t>
            </a:r>
            <a:endParaRPr kumimoji="0" lang="en-US" altLang="en-US" sz="2200" b="0" i="0" u="none" strike="noStrike" kern="0" cap="none" spc="0" normalizeH="0" baseline="0" noProof="0" dirty="0">
              <a:ln>
                <a:noFill/>
              </a:ln>
              <a:solidFill>
                <a:srgbClr val="7030A0"/>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3969" name="Title 1">
            <a:extLst>
              <a:ext uri="{FF2B5EF4-FFF2-40B4-BE49-F238E27FC236}">
                <a16:creationId xmlns:a16="http://schemas.microsoft.com/office/drawing/2014/main" id="{37341F1E-EEC5-5E40-B8E1-F001AF083003}"/>
              </a:ext>
            </a:extLst>
          </p:cNvPr>
          <p:cNvSpPr>
            <a:spLocks noGrp="1"/>
          </p:cNvSpPr>
          <p:nvPr>
            <p:ph type="title"/>
          </p:nvPr>
        </p:nvSpPr>
        <p:spPr>
          <a:xfrm>
            <a:off x="228600" y="0"/>
            <a:ext cx="8796404" cy="914400"/>
          </a:xfrm>
        </p:spPr>
        <p:txBody>
          <a:bodyPr/>
          <a:lstStyle/>
          <a:p>
            <a:r>
              <a:rPr lang="en-US" altLang="en-US" sz="3800" dirty="0">
                <a:ea typeface="ＭＳ Ｐゴシック" panose="020B0600070205080204" pitchFamily="34" charset="-128"/>
              </a:rPr>
              <a:t>NVIDIA H100 Distributed Shared Memory</a:t>
            </a:r>
          </a:p>
        </p:txBody>
      </p:sp>
      <p:sp>
        <p:nvSpPr>
          <p:cNvPr id="10" name="Slide Number Placeholder 3">
            <a:extLst>
              <a:ext uri="{FF2B5EF4-FFF2-40B4-BE49-F238E27FC236}">
                <a16:creationId xmlns:a16="http://schemas.microsoft.com/office/drawing/2014/main" id="{FC5739B9-63E5-1E41-8390-7E8804EBCA86}"/>
              </a:ext>
            </a:extLst>
          </p:cNvPr>
          <p:cNvSpPr>
            <a:spLocks noGrp="1"/>
          </p:cNvSpPr>
          <p:nvPr>
            <p:ph type="sldNum" sz="quarter" idx="11"/>
          </p:nvPr>
        </p:nvSpPr>
        <p:spPr>
          <a:xfrm>
            <a:off x="6777038" y="631825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B31A252-A455-7E4D-8859-45EB22A1C42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114</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11" name="TextBox 10"/>
          <p:cNvSpPr txBox="1"/>
          <p:nvPr/>
        </p:nvSpPr>
        <p:spPr>
          <a:xfrm>
            <a:off x="174209" y="6496734"/>
            <a:ext cx="3357009" cy="215444"/>
          </a:xfrm>
          <a:prstGeom prst="rect">
            <a:avLst/>
          </a:prstGeom>
          <a:noFill/>
        </p:spPr>
        <p:txBody>
          <a:bodyPr wrap="none" rtlCol="0">
            <a:spAutoFit/>
          </a:bodyPr>
          <a:lstStyle/>
          <a:p>
            <a:pPr lvl="0" fontAlgn="base">
              <a:spcBef>
                <a:spcPct val="0"/>
              </a:spcBef>
              <a:spcAft>
                <a:spcPct val="0"/>
              </a:spcAft>
              <a:defRPr/>
            </a:pPr>
            <a:r>
              <a:rPr lang="en-US" sz="800" dirty="0">
                <a:solidFill>
                  <a:srgbClr val="0000FF"/>
                </a:solidFill>
                <a:latin typeface="Arial" panose="020B0604020202020204" pitchFamily="34" charset="0"/>
                <a:ea typeface="ＭＳ Ｐゴシック" panose="020B0600070205080204" pitchFamily="34" charset="-128"/>
                <a:hlinkClick r:id="rId3">
                  <a:extLst>
                    <a:ext uri="{A12FA001-AC4F-418D-AE19-62706E023703}">
                      <ahyp:hlinkClr xmlns:ahyp="http://schemas.microsoft.com/office/drawing/2018/hyperlinkcolor" val="tx"/>
                    </a:ext>
                  </a:extLst>
                </a:hlinkClick>
              </a:rPr>
              <a:t>https://developer.nvidia.com/blog/nvidia-hopper-architecture-in-depth/</a:t>
            </a:r>
            <a:endParaRPr lang="en-US" sz="800" dirty="0">
              <a:solidFill>
                <a:srgbClr val="0000FF"/>
              </a:solidFill>
              <a:latin typeface="Arial" panose="020B0604020202020204" pitchFamily="34" charset="0"/>
              <a:ea typeface="ＭＳ Ｐゴシック" panose="020B0600070205080204" pitchFamily="34" charset="-128"/>
            </a:endParaRPr>
          </a:p>
        </p:txBody>
      </p:sp>
      <p:sp>
        <p:nvSpPr>
          <p:cNvPr id="14" name="Content Placeholder 2">
            <a:extLst>
              <a:ext uri="{FF2B5EF4-FFF2-40B4-BE49-F238E27FC236}">
                <a16:creationId xmlns:a16="http://schemas.microsoft.com/office/drawing/2014/main" id="{C172B94F-3BE9-E644-BC77-E506CFBB0139}"/>
              </a:ext>
            </a:extLst>
          </p:cNvPr>
          <p:cNvSpPr>
            <a:spLocks noGrp="1"/>
          </p:cNvSpPr>
          <p:nvPr>
            <p:ph idx="1"/>
          </p:nvPr>
        </p:nvSpPr>
        <p:spPr>
          <a:xfrm>
            <a:off x="890228" y="4601443"/>
            <a:ext cx="7363544" cy="1635869"/>
          </a:xfrm>
        </p:spPr>
        <p:txBody>
          <a:bodyPr anchor="t"/>
          <a:lstStyle/>
          <a:p>
            <a:pPr marL="0">
              <a:spcBef>
                <a:spcPts val="0"/>
              </a:spcBef>
              <a:buFont typeface="Wingdings" pitchFamily="2" charset="2"/>
              <a:buNone/>
            </a:pPr>
            <a:r>
              <a:rPr lang="en-US" altLang="en-US" sz="1600" dirty="0">
                <a:ea typeface="ＭＳ Ｐゴシック" panose="020B0600070205080204" pitchFamily="34" charset="-128"/>
              </a:rPr>
              <a:t>Thread block clusters and distributed shared memory (DSMEM) are leveraged via </a:t>
            </a:r>
            <a:r>
              <a:rPr lang="en-US" altLang="en-US" sz="1600" dirty="0" err="1">
                <a:latin typeface="Courier" pitchFamily="2" charset="0"/>
                <a:ea typeface="ＭＳ Ｐゴシック" panose="020B0600070205080204" pitchFamily="34" charset="-128"/>
              </a:rPr>
              <a:t>cooperative_groups</a:t>
            </a:r>
            <a:r>
              <a:rPr lang="en-US" altLang="en-US" sz="1600" dirty="0">
                <a:ea typeface="ＭＳ Ｐゴシック" panose="020B0600070205080204" pitchFamily="34" charset="-128"/>
              </a:rPr>
              <a:t> API</a:t>
            </a:r>
          </a:p>
          <a:p>
            <a:pPr marL="0">
              <a:spcBef>
                <a:spcPts val="0"/>
              </a:spcBef>
              <a:buFont typeface="Wingdings" pitchFamily="2" charset="2"/>
              <a:buNone/>
            </a:pPr>
            <a:endParaRPr lang="en-US" altLang="en-US" sz="1600" dirty="0">
              <a:ea typeface="ＭＳ Ｐゴシック" panose="020B0600070205080204" pitchFamily="34" charset="-128"/>
            </a:endParaRPr>
          </a:p>
          <a:p>
            <a:pPr marL="0">
              <a:spcBef>
                <a:spcPts val="0"/>
              </a:spcBef>
              <a:buFont typeface="Wingdings" pitchFamily="2" charset="2"/>
              <a:buNone/>
            </a:pPr>
            <a:r>
              <a:rPr lang="en-US" altLang="en-US" sz="1600" dirty="0">
                <a:ea typeface="ＭＳ Ｐゴシック" panose="020B0600070205080204" pitchFamily="34" charset="-128"/>
              </a:rPr>
              <a:t>TMA unit supports copies across thread blocks in a cluster</a:t>
            </a:r>
          </a:p>
          <a:p>
            <a:pPr marL="0">
              <a:spcBef>
                <a:spcPts val="0"/>
              </a:spcBef>
              <a:buFont typeface="Wingdings" pitchFamily="2" charset="2"/>
              <a:buNone/>
            </a:pPr>
            <a:endParaRPr lang="en-US" altLang="en-US" sz="1600" dirty="0">
              <a:ea typeface="ＭＳ Ｐゴシック" panose="020B0600070205080204" pitchFamily="34" charset="-128"/>
            </a:endParaRPr>
          </a:p>
          <a:p>
            <a:pPr marL="0">
              <a:spcBef>
                <a:spcPts val="0"/>
              </a:spcBef>
              <a:buFont typeface="Wingdings" pitchFamily="2" charset="2"/>
              <a:buNone/>
            </a:pPr>
            <a:r>
              <a:rPr lang="en-US" altLang="en-US" sz="1600" dirty="0">
                <a:ea typeface="ＭＳ Ｐゴシック" panose="020B0600070205080204" pitchFamily="34" charset="-128"/>
              </a:rPr>
              <a:t>Asynchronous transaction barriers</a:t>
            </a:r>
          </a:p>
        </p:txBody>
      </p:sp>
      <p:pic>
        <p:nvPicPr>
          <p:cNvPr id="3" name="Picture 2">
            <a:extLst>
              <a:ext uri="{FF2B5EF4-FFF2-40B4-BE49-F238E27FC236}">
                <a16:creationId xmlns:a16="http://schemas.microsoft.com/office/drawing/2014/main" id="{DEDE3FB7-06FC-294C-972B-2B4F6385FC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400573"/>
            <a:ext cx="9144000" cy="1964531"/>
          </a:xfrm>
          <a:prstGeom prst="rect">
            <a:avLst/>
          </a:prstGeom>
        </p:spPr>
      </p:pic>
    </p:spTree>
    <p:extLst>
      <p:ext uri="{BB962C8B-B14F-4D97-AF65-F5344CB8AC3E}">
        <p14:creationId xmlns:p14="http://schemas.microsoft.com/office/powerpoint/2010/main" val="11011891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51520" y="908720"/>
            <a:ext cx="8568952" cy="5184576"/>
          </a:xfrm>
        </p:spPr>
        <p:txBody>
          <a:bodyPr>
            <a:normAutofit/>
          </a:bodyPr>
          <a:lstStyle/>
          <a:p>
            <a:pPr>
              <a:spcAft>
                <a:spcPts val="600"/>
              </a:spcAft>
            </a:pPr>
            <a:r>
              <a:rPr lang="en-US" dirty="0"/>
              <a:t>7 versions in CUDA samples: Tree-based reduction in shared memory</a:t>
            </a:r>
          </a:p>
          <a:p>
            <a:pPr lvl="1">
              <a:spcAft>
                <a:spcPts val="600"/>
              </a:spcAft>
            </a:pPr>
            <a:r>
              <a:rPr lang="en-US" dirty="0"/>
              <a:t>Version 0: No whole warps active</a:t>
            </a:r>
          </a:p>
          <a:p>
            <a:pPr lvl="1">
              <a:spcAft>
                <a:spcPts val="600"/>
              </a:spcAft>
            </a:pPr>
            <a:r>
              <a:rPr lang="en-US" dirty="0"/>
              <a:t>Version 1: Contiguous threads, but many bank conflicts</a:t>
            </a:r>
          </a:p>
          <a:p>
            <a:pPr lvl="1">
              <a:spcAft>
                <a:spcPts val="600"/>
              </a:spcAft>
            </a:pPr>
            <a:r>
              <a:rPr lang="en-US" dirty="0"/>
              <a:t>Version 2: No bank conflicts</a:t>
            </a:r>
          </a:p>
          <a:p>
            <a:pPr lvl="1">
              <a:spcAft>
                <a:spcPts val="600"/>
              </a:spcAft>
            </a:pPr>
            <a:r>
              <a:rPr lang="en-US" dirty="0"/>
              <a:t>Version 3: First level of reduction when reading from global memory</a:t>
            </a:r>
          </a:p>
          <a:p>
            <a:pPr lvl="1">
              <a:spcAft>
                <a:spcPts val="600"/>
              </a:spcAft>
            </a:pPr>
            <a:r>
              <a:rPr lang="en-US" dirty="0"/>
              <a:t>Version 4: Warp shuffle or unrolling of final warp</a:t>
            </a:r>
          </a:p>
          <a:p>
            <a:pPr lvl="1">
              <a:spcAft>
                <a:spcPts val="600"/>
              </a:spcAft>
            </a:pPr>
            <a:r>
              <a:rPr lang="en-US" dirty="0"/>
              <a:t>Version 5: Warp shuffle or complete unrolling</a:t>
            </a:r>
          </a:p>
          <a:p>
            <a:pPr lvl="1">
              <a:spcAft>
                <a:spcPts val="600"/>
              </a:spcAft>
            </a:pPr>
            <a:r>
              <a:rPr lang="en-US" dirty="0"/>
              <a:t>Version 6: Multiple elements per thread sequentially</a:t>
            </a:r>
          </a:p>
        </p:txBody>
      </p:sp>
      <p:sp>
        <p:nvSpPr>
          <p:cNvPr id="6" name="Título 1"/>
          <p:cNvSpPr>
            <a:spLocks noGrp="1"/>
          </p:cNvSpPr>
          <p:nvPr>
            <p:ph type="title"/>
          </p:nvPr>
        </p:nvSpPr>
        <p:spPr>
          <a:xfrm>
            <a:off x="179512" y="0"/>
            <a:ext cx="8964488" cy="908720"/>
          </a:xfrm>
        </p:spPr>
        <p:txBody>
          <a:bodyPr>
            <a:normAutofit/>
          </a:bodyPr>
          <a:lstStyle/>
          <a:p>
            <a:r>
              <a:rPr lang="en-US" dirty="0"/>
              <a:t>Optimized Parallel Reduction</a:t>
            </a:r>
          </a:p>
        </p:txBody>
      </p:sp>
      <p:sp>
        <p:nvSpPr>
          <p:cNvPr id="5" name="TextBox 4">
            <a:extLst>
              <a:ext uri="{FF2B5EF4-FFF2-40B4-BE49-F238E27FC236}">
                <a16:creationId xmlns:a16="http://schemas.microsoft.com/office/drawing/2014/main" id="{ADFA1E57-4DDD-EA40-BEE1-2E5F5232297F}"/>
              </a:ext>
            </a:extLst>
          </p:cNvPr>
          <p:cNvSpPr txBox="1"/>
          <p:nvPr/>
        </p:nvSpPr>
        <p:spPr>
          <a:xfrm>
            <a:off x="179512" y="6451432"/>
            <a:ext cx="7617791"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FF"/>
                </a:solidFill>
                <a:effectLst/>
                <a:uLnTx/>
                <a:uFillTx/>
                <a:latin typeface="Tahoma"/>
                <a:ea typeface="+mn-ea"/>
                <a:cs typeface="+mn-cs"/>
                <a:hlinkClick r:id="rId2">
                  <a:extLst>
                    <a:ext uri="{A12FA001-AC4F-418D-AE19-62706E023703}">
                      <ahyp:hlinkClr xmlns:ahyp="http://schemas.microsoft.com/office/drawing/2018/hyperlinkcolor" val="tx"/>
                    </a:ext>
                  </a:extLst>
                </a:hlinkClick>
              </a:rPr>
              <a:t>https://</a:t>
            </a:r>
            <a:r>
              <a:rPr kumimoji="0" lang="en-US" sz="1100" b="0" i="0" u="none" strike="noStrike" kern="1200" cap="none" spc="0" normalizeH="0" baseline="0" noProof="0" dirty="0" err="1">
                <a:ln>
                  <a:noFill/>
                </a:ln>
                <a:solidFill>
                  <a:srgbClr val="0000FF"/>
                </a:solidFill>
                <a:effectLst/>
                <a:uLnTx/>
                <a:uFillTx/>
                <a:latin typeface="Tahoma"/>
                <a:ea typeface="+mn-ea"/>
                <a:cs typeface="+mn-cs"/>
                <a:hlinkClick r:id="rId2">
                  <a:extLst>
                    <a:ext uri="{A12FA001-AC4F-418D-AE19-62706E023703}">
                      <ahyp:hlinkClr xmlns:ahyp="http://schemas.microsoft.com/office/drawing/2018/hyperlinkcolor" val="tx"/>
                    </a:ext>
                  </a:extLst>
                </a:hlinkClick>
              </a:rPr>
              <a:t>docs.nvidia.com</a:t>
            </a:r>
            <a:r>
              <a:rPr kumimoji="0" lang="en-US" sz="1100" b="0" i="0" u="none" strike="noStrike" kern="1200" cap="none" spc="0" normalizeH="0" baseline="0" noProof="0" dirty="0">
                <a:ln>
                  <a:noFill/>
                </a:ln>
                <a:solidFill>
                  <a:srgbClr val="0000FF"/>
                </a:solidFill>
                <a:effectLst/>
                <a:uLnTx/>
                <a:uFillTx/>
                <a:latin typeface="Tahoma"/>
                <a:ea typeface="+mn-ea"/>
                <a:cs typeface="+mn-cs"/>
                <a:hlinkClick r:id="rId2">
                  <a:extLst>
                    <a:ext uri="{A12FA001-AC4F-418D-AE19-62706E023703}">
                      <ahyp:hlinkClr xmlns:ahyp="http://schemas.microsoft.com/office/drawing/2018/hyperlinkcolor" val="tx"/>
                    </a:ext>
                  </a:extLst>
                </a:hlinkClick>
              </a:rPr>
              <a:t>/</a:t>
            </a:r>
            <a:r>
              <a:rPr kumimoji="0" lang="en-US" sz="1100" b="0" i="0" u="none" strike="noStrike" kern="1200" cap="none" spc="0" normalizeH="0" baseline="0" noProof="0" dirty="0" err="1">
                <a:ln>
                  <a:noFill/>
                </a:ln>
                <a:solidFill>
                  <a:srgbClr val="0000FF"/>
                </a:solidFill>
                <a:effectLst/>
                <a:uLnTx/>
                <a:uFillTx/>
                <a:latin typeface="Tahoma"/>
                <a:ea typeface="+mn-ea"/>
                <a:cs typeface="+mn-cs"/>
                <a:hlinkClick r:id="rId2">
                  <a:extLst>
                    <a:ext uri="{A12FA001-AC4F-418D-AE19-62706E023703}">
                      <ahyp:hlinkClr xmlns:ahyp="http://schemas.microsoft.com/office/drawing/2018/hyperlinkcolor" val="tx"/>
                    </a:ext>
                  </a:extLst>
                </a:hlinkClick>
              </a:rPr>
              <a:t>cuda</a:t>
            </a:r>
            <a:r>
              <a:rPr kumimoji="0" lang="en-US" sz="1100" b="0" i="0" u="none" strike="noStrike" kern="1200" cap="none" spc="0" normalizeH="0" baseline="0" noProof="0" dirty="0">
                <a:ln>
                  <a:noFill/>
                </a:ln>
                <a:solidFill>
                  <a:srgbClr val="0000FF"/>
                </a:solidFill>
                <a:effectLst/>
                <a:uLnTx/>
                <a:uFillTx/>
                <a:latin typeface="Tahoma"/>
                <a:ea typeface="+mn-ea"/>
                <a:cs typeface="+mn-cs"/>
                <a:hlinkClick r:id="rId2">
                  <a:extLst>
                    <a:ext uri="{A12FA001-AC4F-418D-AE19-62706E023703}">
                      <ahyp:hlinkClr xmlns:ahyp="http://schemas.microsoft.com/office/drawing/2018/hyperlinkcolor" val="tx"/>
                    </a:ext>
                  </a:extLst>
                </a:hlinkClick>
              </a:rPr>
              <a:t>/</a:t>
            </a:r>
            <a:r>
              <a:rPr kumimoji="0" lang="en-US" sz="1100" b="0" i="0" u="none" strike="noStrike" kern="1200" cap="none" spc="0" normalizeH="0" baseline="0" noProof="0" dirty="0" err="1">
                <a:ln>
                  <a:noFill/>
                </a:ln>
                <a:solidFill>
                  <a:srgbClr val="0000FF"/>
                </a:solidFill>
                <a:effectLst/>
                <a:uLnTx/>
                <a:uFillTx/>
                <a:latin typeface="Tahoma"/>
                <a:ea typeface="+mn-ea"/>
                <a:cs typeface="+mn-cs"/>
                <a:hlinkClick r:id="rId2">
                  <a:extLst>
                    <a:ext uri="{A12FA001-AC4F-418D-AE19-62706E023703}">
                      <ahyp:hlinkClr xmlns:ahyp="http://schemas.microsoft.com/office/drawing/2018/hyperlinkcolor" val="tx"/>
                    </a:ext>
                  </a:extLst>
                </a:hlinkClick>
              </a:rPr>
              <a:t>cuda</a:t>
            </a:r>
            <a:r>
              <a:rPr kumimoji="0" lang="en-US" sz="1100" b="0" i="0" u="none" strike="noStrike" kern="1200" cap="none" spc="0" normalizeH="0" baseline="0" noProof="0" dirty="0">
                <a:ln>
                  <a:noFill/>
                </a:ln>
                <a:solidFill>
                  <a:srgbClr val="0000FF"/>
                </a:solidFill>
                <a:effectLst/>
                <a:uLnTx/>
                <a:uFillTx/>
                <a:latin typeface="Tahoma"/>
                <a:ea typeface="+mn-ea"/>
                <a:cs typeface="+mn-cs"/>
                <a:hlinkClick r:id="rId2">
                  <a:extLst>
                    <a:ext uri="{A12FA001-AC4F-418D-AE19-62706E023703}">
                      <ahyp:hlinkClr xmlns:ahyp="http://schemas.microsoft.com/office/drawing/2018/hyperlinkcolor" val="tx"/>
                    </a:ext>
                  </a:extLst>
                </a:hlinkClick>
              </a:rPr>
              <a:t>-samples/</a:t>
            </a:r>
            <a:r>
              <a:rPr kumimoji="0" lang="en-US" sz="1100" b="0" i="0" u="none" strike="noStrike" kern="1200" cap="none" spc="0" normalizeH="0" baseline="0" noProof="0" dirty="0" err="1">
                <a:ln>
                  <a:noFill/>
                </a:ln>
                <a:solidFill>
                  <a:srgbClr val="0000FF"/>
                </a:solidFill>
                <a:effectLst/>
                <a:uLnTx/>
                <a:uFillTx/>
                <a:latin typeface="Tahoma"/>
                <a:ea typeface="+mn-ea"/>
                <a:cs typeface="+mn-cs"/>
                <a:hlinkClick r:id="rId2">
                  <a:extLst>
                    <a:ext uri="{A12FA001-AC4F-418D-AE19-62706E023703}">
                      <ahyp:hlinkClr xmlns:ahyp="http://schemas.microsoft.com/office/drawing/2018/hyperlinkcolor" val="tx"/>
                    </a:ext>
                  </a:extLst>
                </a:hlinkClick>
              </a:rPr>
              <a:t>index.html#cuda-parallel-reduction</a:t>
            </a:r>
            <a:endParaRPr kumimoji="0" lang="en-US" sz="1100" b="0" i="0" u="none" strike="noStrike" kern="1200" cap="none" spc="0" normalizeH="0" baseline="0" noProof="0" dirty="0">
              <a:ln>
                <a:noFill/>
              </a:ln>
              <a:solidFill>
                <a:srgbClr val="0000FF"/>
              </a:solidFill>
              <a:effectLst/>
              <a:uLnTx/>
              <a:uFillTx/>
              <a:latin typeface="Tahom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Tahoma"/>
                <a:ea typeface="+mn-ea"/>
                <a:cs typeface="+mn-cs"/>
              </a:rPr>
              <a:t>Harris, “Optimizing Parallel Reduction in CUDA,” </a:t>
            </a:r>
            <a:r>
              <a:rPr kumimoji="0" lang="en-US" sz="1100" b="0" i="0" u="none" strike="noStrike" kern="1200" cap="none" spc="0" normalizeH="0" baseline="0" noProof="0" dirty="0">
                <a:ln>
                  <a:noFill/>
                </a:ln>
                <a:solidFill>
                  <a:srgbClr val="0000FF"/>
                </a:solidFill>
                <a:effectLst/>
                <a:uLnTx/>
                <a:uFillTx/>
                <a:latin typeface="Tahoma"/>
                <a:ea typeface="+mn-ea"/>
                <a:cs typeface="+mn-cs"/>
                <a:hlinkClick r:id="rId3">
                  <a:extLst>
                    <a:ext uri="{A12FA001-AC4F-418D-AE19-62706E023703}">
                      <ahyp:hlinkClr xmlns:ahyp="http://schemas.microsoft.com/office/drawing/2018/hyperlinkcolor" val="tx"/>
                    </a:ext>
                  </a:extLst>
                </a:hlinkClick>
              </a:rPr>
              <a:t>https://</a:t>
            </a:r>
            <a:r>
              <a:rPr kumimoji="0" lang="en-US" sz="1100" b="0" i="0" u="none" strike="noStrike" kern="1200" cap="none" spc="0" normalizeH="0" baseline="0" noProof="0" dirty="0" err="1">
                <a:ln>
                  <a:noFill/>
                </a:ln>
                <a:solidFill>
                  <a:srgbClr val="0000FF"/>
                </a:solidFill>
                <a:effectLst/>
                <a:uLnTx/>
                <a:uFillTx/>
                <a:latin typeface="Tahoma"/>
                <a:ea typeface="+mn-ea"/>
                <a:cs typeface="+mn-cs"/>
                <a:hlinkClick r:id="rId3">
                  <a:extLst>
                    <a:ext uri="{A12FA001-AC4F-418D-AE19-62706E023703}">
                      <ahyp:hlinkClr xmlns:ahyp="http://schemas.microsoft.com/office/drawing/2018/hyperlinkcolor" val="tx"/>
                    </a:ext>
                  </a:extLst>
                </a:hlinkClick>
              </a:rPr>
              <a:t>developer.download.nvidia.com</a:t>
            </a:r>
            <a:r>
              <a:rPr kumimoji="0" lang="en-US" sz="1100" b="0" i="0" u="none" strike="noStrike" kern="1200" cap="none" spc="0" normalizeH="0" baseline="0" noProof="0" dirty="0">
                <a:ln>
                  <a:noFill/>
                </a:ln>
                <a:solidFill>
                  <a:srgbClr val="0000FF"/>
                </a:solidFill>
                <a:effectLst/>
                <a:uLnTx/>
                <a:uFillTx/>
                <a:latin typeface="Tahoma"/>
                <a:ea typeface="+mn-ea"/>
                <a:cs typeface="+mn-cs"/>
                <a:hlinkClick r:id="rId3">
                  <a:extLst>
                    <a:ext uri="{A12FA001-AC4F-418D-AE19-62706E023703}">
                      <ahyp:hlinkClr xmlns:ahyp="http://schemas.microsoft.com/office/drawing/2018/hyperlinkcolor" val="tx"/>
                    </a:ext>
                  </a:extLst>
                </a:hlinkClick>
              </a:rPr>
              <a:t>/assets/</a:t>
            </a:r>
            <a:r>
              <a:rPr kumimoji="0" lang="en-US" sz="1100" b="0" i="0" u="none" strike="noStrike" kern="1200" cap="none" spc="0" normalizeH="0" baseline="0" noProof="0" dirty="0" err="1">
                <a:ln>
                  <a:noFill/>
                </a:ln>
                <a:solidFill>
                  <a:srgbClr val="0000FF"/>
                </a:solidFill>
                <a:effectLst/>
                <a:uLnTx/>
                <a:uFillTx/>
                <a:latin typeface="Tahoma"/>
                <a:ea typeface="+mn-ea"/>
                <a:cs typeface="+mn-cs"/>
                <a:hlinkClick r:id="rId3">
                  <a:extLst>
                    <a:ext uri="{A12FA001-AC4F-418D-AE19-62706E023703}">
                      <ahyp:hlinkClr xmlns:ahyp="http://schemas.microsoft.com/office/drawing/2018/hyperlinkcolor" val="tx"/>
                    </a:ext>
                  </a:extLst>
                </a:hlinkClick>
              </a:rPr>
              <a:t>cuda</a:t>
            </a:r>
            <a:r>
              <a:rPr kumimoji="0" lang="en-US" sz="1100" b="0" i="0" u="none" strike="noStrike" kern="1200" cap="none" spc="0" normalizeH="0" baseline="0" noProof="0" dirty="0">
                <a:ln>
                  <a:noFill/>
                </a:ln>
                <a:solidFill>
                  <a:srgbClr val="0000FF"/>
                </a:solidFill>
                <a:effectLst/>
                <a:uLnTx/>
                <a:uFillTx/>
                <a:latin typeface="Tahoma"/>
                <a:ea typeface="+mn-ea"/>
                <a:cs typeface="+mn-cs"/>
                <a:hlinkClick r:id="rId3">
                  <a:extLst>
                    <a:ext uri="{A12FA001-AC4F-418D-AE19-62706E023703}">
                      <ahyp:hlinkClr xmlns:ahyp="http://schemas.microsoft.com/office/drawing/2018/hyperlinkcolor" val="tx"/>
                    </a:ext>
                  </a:extLst>
                </a:hlinkClick>
              </a:rPr>
              <a:t>/files/</a:t>
            </a:r>
            <a:r>
              <a:rPr kumimoji="0" lang="en-US" sz="1100" b="0" i="0" u="none" strike="noStrike" kern="1200" cap="none" spc="0" normalizeH="0" baseline="0" noProof="0" dirty="0" err="1">
                <a:ln>
                  <a:noFill/>
                </a:ln>
                <a:solidFill>
                  <a:srgbClr val="0000FF"/>
                </a:solidFill>
                <a:effectLst/>
                <a:uLnTx/>
                <a:uFillTx/>
                <a:latin typeface="Tahoma"/>
                <a:ea typeface="+mn-ea"/>
                <a:cs typeface="+mn-cs"/>
                <a:hlinkClick r:id="rId3">
                  <a:extLst>
                    <a:ext uri="{A12FA001-AC4F-418D-AE19-62706E023703}">
                      <ahyp:hlinkClr xmlns:ahyp="http://schemas.microsoft.com/office/drawing/2018/hyperlinkcolor" val="tx"/>
                    </a:ext>
                  </a:extLst>
                </a:hlinkClick>
              </a:rPr>
              <a:t>reduction.pdf</a:t>
            </a:r>
            <a:endParaRPr kumimoji="0" lang="en-US" sz="1100" b="0" i="0" u="none" strike="noStrike" kern="1200" cap="none" spc="0" normalizeH="0" baseline="0" noProof="0" dirty="0">
              <a:ln>
                <a:noFill/>
              </a:ln>
              <a:solidFill>
                <a:srgbClr val="0000FF"/>
              </a:solidFill>
              <a:effectLst/>
              <a:uLnTx/>
              <a:uFillTx/>
              <a:latin typeface="Tahoma"/>
              <a:ea typeface="+mn-ea"/>
              <a:cs typeface="+mn-cs"/>
            </a:endParaRPr>
          </a:p>
        </p:txBody>
      </p:sp>
      <p:sp>
        <p:nvSpPr>
          <p:cNvPr id="7" name="Slide Number Placeholder 3">
            <a:extLst>
              <a:ext uri="{FF2B5EF4-FFF2-40B4-BE49-F238E27FC236}">
                <a16:creationId xmlns:a16="http://schemas.microsoft.com/office/drawing/2014/main" id="{196D6E67-D5F5-674A-B0A4-79F40BD5C5F7}"/>
              </a:ext>
            </a:extLst>
          </p:cNvPr>
          <p:cNvSpPr>
            <a:spLocks noGrp="1"/>
          </p:cNvSpPr>
          <p:nvPr>
            <p:ph type="sldNum" sz="quarter" idx="11"/>
          </p:nvPr>
        </p:nvSpPr>
        <p:spPr>
          <a:xfrm>
            <a:off x="6553200" y="6243638"/>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5594703-842D-BE41-9AF0-496458107D79}"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115</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421896319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51520" y="908720"/>
            <a:ext cx="8568952" cy="5184576"/>
          </a:xfrm>
        </p:spPr>
        <p:txBody>
          <a:bodyPr>
            <a:normAutofit/>
          </a:bodyPr>
          <a:lstStyle/>
          <a:p>
            <a:pPr>
              <a:spcAft>
                <a:spcPts val="600"/>
              </a:spcAft>
            </a:pPr>
            <a:r>
              <a:rPr lang="en-US" dirty="0"/>
              <a:t>3 new versions of reduction based on 3 previous versions</a:t>
            </a:r>
          </a:p>
          <a:p>
            <a:pPr lvl="1">
              <a:spcAft>
                <a:spcPts val="600"/>
              </a:spcAft>
            </a:pPr>
            <a:r>
              <a:rPr lang="en-US" dirty="0"/>
              <a:t>Version 0: No whole warps active</a:t>
            </a:r>
          </a:p>
          <a:p>
            <a:pPr lvl="1">
              <a:spcAft>
                <a:spcPts val="600"/>
              </a:spcAft>
            </a:pPr>
            <a:r>
              <a:rPr lang="en-US" dirty="0"/>
              <a:t>Version 3: First level of reduction when reading from global memory</a:t>
            </a:r>
          </a:p>
          <a:p>
            <a:pPr lvl="1">
              <a:spcAft>
                <a:spcPts val="600"/>
              </a:spcAft>
            </a:pPr>
            <a:r>
              <a:rPr lang="en-US" dirty="0"/>
              <a:t>Version 6: Multiple elements per thread sequentially</a:t>
            </a:r>
          </a:p>
          <a:p>
            <a:pPr>
              <a:spcAft>
                <a:spcPts val="600"/>
              </a:spcAft>
            </a:pPr>
            <a:r>
              <a:rPr lang="en-US" dirty="0"/>
              <a:t>New versions 7, 8, and 9</a:t>
            </a:r>
          </a:p>
          <a:p>
            <a:pPr lvl="1">
              <a:spcAft>
                <a:spcPts val="600"/>
              </a:spcAft>
            </a:pPr>
            <a:r>
              <a:rPr lang="en-US" dirty="0">
                <a:solidFill>
                  <a:srgbClr val="00B050"/>
                </a:solidFill>
              </a:rPr>
              <a:t>Replace the </a:t>
            </a:r>
            <a:r>
              <a:rPr lang="en-US" dirty="0">
                <a:solidFill>
                  <a:srgbClr val="00B050"/>
                </a:solidFill>
                <a:latin typeface="Courier" pitchFamily="2" charset="0"/>
              </a:rPr>
              <a:t>for</a:t>
            </a:r>
            <a:r>
              <a:rPr lang="en-US" dirty="0">
                <a:solidFill>
                  <a:srgbClr val="00B050"/>
                </a:solidFill>
              </a:rPr>
              <a:t> loop (tree-based reduction) with one shared memory atomic operation per thread</a:t>
            </a:r>
          </a:p>
          <a:p>
            <a:pPr lvl="1">
              <a:spcAft>
                <a:spcPts val="600"/>
              </a:spcAft>
            </a:pPr>
            <a:endParaRPr lang="en-US" dirty="0"/>
          </a:p>
        </p:txBody>
      </p:sp>
      <p:sp>
        <p:nvSpPr>
          <p:cNvPr id="6" name="Título 1"/>
          <p:cNvSpPr>
            <a:spLocks noGrp="1"/>
          </p:cNvSpPr>
          <p:nvPr>
            <p:ph type="title"/>
          </p:nvPr>
        </p:nvSpPr>
        <p:spPr>
          <a:xfrm>
            <a:off x="179512" y="0"/>
            <a:ext cx="8964488" cy="908720"/>
          </a:xfrm>
        </p:spPr>
        <p:txBody>
          <a:bodyPr>
            <a:normAutofit/>
          </a:bodyPr>
          <a:lstStyle/>
          <a:p>
            <a:r>
              <a:rPr lang="en-US" dirty="0"/>
              <a:t>Reduction with Atomic Operations</a:t>
            </a:r>
          </a:p>
        </p:txBody>
      </p:sp>
      <p:sp>
        <p:nvSpPr>
          <p:cNvPr id="7" name="Slide Number Placeholder 3">
            <a:extLst>
              <a:ext uri="{FF2B5EF4-FFF2-40B4-BE49-F238E27FC236}">
                <a16:creationId xmlns:a16="http://schemas.microsoft.com/office/drawing/2014/main" id="{25923E8A-B28C-CF44-A322-67A76A1A32A4}"/>
              </a:ext>
            </a:extLst>
          </p:cNvPr>
          <p:cNvSpPr>
            <a:spLocks noGrp="1"/>
          </p:cNvSpPr>
          <p:nvPr>
            <p:ph type="sldNum" sz="quarter" idx="11"/>
          </p:nvPr>
        </p:nvSpPr>
        <p:spPr>
          <a:xfrm>
            <a:off x="6553200" y="6243638"/>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5594703-842D-BE41-9AF0-496458107D79}"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116</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663266016"/>
      </p:ext>
    </p:extLst>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51520" y="908720"/>
            <a:ext cx="8568952" cy="5472608"/>
          </a:xfrm>
        </p:spPr>
        <p:txBody>
          <a:bodyPr>
            <a:normAutofit/>
          </a:bodyPr>
          <a:lstStyle/>
          <a:p>
            <a:r>
              <a:rPr lang="en-US" sz="2200" dirty="0"/>
              <a:t>256-bin histogram calculation </a:t>
            </a:r>
          </a:p>
          <a:p>
            <a:endParaRPr lang="en-US" sz="2200" dirty="0"/>
          </a:p>
          <a:p>
            <a:endParaRPr lang="en-US" sz="2200" dirty="0"/>
          </a:p>
          <a:p>
            <a:endParaRPr lang="en-US" sz="2200" dirty="0"/>
          </a:p>
          <a:p>
            <a:endParaRPr lang="en-US" sz="2200" dirty="0"/>
          </a:p>
          <a:p>
            <a:endParaRPr lang="en-US" sz="2200" dirty="0"/>
          </a:p>
          <a:p>
            <a:endParaRPr lang="en-US" sz="2200" dirty="0"/>
          </a:p>
          <a:p>
            <a:endParaRPr lang="en-US" sz="2200" dirty="0"/>
          </a:p>
          <a:p>
            <a:endParaRPr lang="en-US" sz="2200" dirty="0"/>
          </a:p>
          <a:p>
            <a:endParaRPr lang="en-US" sz="2200" dirty="0"/>
          </a:p>
          <a:p>
            <a:endParaRPr lang="en-US" sz="2200" dirty="0"/>
          </a:p>
          <a:p>
            <a:endParaRPr lang="en-US" sz="2200" dirty="0"/>
          </a:p>
        </p:txBody>
      </p:sp>
      <p:sp>
        <p:nvSpPr>
          <p:cNvPr id="2" name="Título 1"/>
          <p:cNvSpPr>
            <a:spLocks noGrp="1"/>
          </p:cNvSpPr>
          <p:nvPr>
            <p:ph type="title"/>
          </p:nvPr>
        </p:nvSpPr>
        <p:spPr/>
        <p:txBody>
          <a:bodyPr/>
          <a:lstStyle/>
          <a:p>
            <a:r>
              <a:rPr lang="en-US" sz="3600" dirty="0"/>
              <a:t>Video Processing: Performance Results (I)</a:t>
            </a:r>
          </a:p>
        </p:txBody>
      </p:sp>
      <p:sp>
        <p:nvSpPr>
          <p:cNvPr id="4" name="Marcador de número de diapositiva 3"/>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3594FA-E141-4234-AE05-360401972BE7}" type="slidenum">
              <a:rPr kumimoji="0" lang="en-US" altLang="en-US" sz="1600" b="0" i="0" u="none" strike="noStrike" kern="1200" cap="none" spc="0" normalizeH="0" baseline="0" noProof="0" smtClean="0">
                <a:ln>
                  <a:noFill/>
                </a:ln>
                <a:solidFill>
                  <a:srgbClr val="000000"/>
                </a:solidFill>
                <a:effectLst/>
                <a:uLnTx/>
                <a:uFillTx/>
                <a:latin typeface="Garamond"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117</a:t>
            </a:fld>
            <a:endParaRPr kumimoji="0" lang="en-US" altLang="en-US" sz="1600" b="0" i="0" u="none" strike="noStrike" kern="1200" cap="none" spc="0" normalizeH="0" baseline="0" noProof="0">
              <a:ln>
                <a:noFill/>
              </a:ln>
              <a:solidFill>
                <a:srgbClr val="000000"/>
              </a:solidFill>
              <a:effectLst/>
              <a:uLnTx/>
              <a:uFillTx/>
              <a:latin typeface="Garamond" pitchFamily="18" charset="0"/>
              <a:ea typeface="+mn-ea"/>
              <a:cs typeface="+mn-cs"/>
            </a:endParaRPr>
          </a:p>
        </p:txBody>
      </p:sp>
      <p:sp>
        <p:nvSpPr>
          <p:cNvPr id="7" name="TextBox 6">
            <a:extLst>
              <a:ext uri="{FF2B5EF4-FFF2-40B4-BE49-F238E27FC236}">
                <a16:creationId xmlns:a16="http://schemas.microsoft.com/office/drawing/2014/main" id="{0056C7BF-EB4B-CC47-857E-6C44BBEDEFB5}"/>
              </a:ext>
            </a:extLst>
          </p:cNvPr>
          <p:cNvSpPr txBox="1">
            <a:spLocks noChangeArrowheads="1"/>
          </p:cNvSpPr>
          <p:nvPr/>
        </p:nvSpPr>
        <p:spPr bwMode="auto">
          <a:xfrm>
            <a:off x="152400" y="6381328"/>
            <a:ext cx="8534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Gomez-Luna+, </a:t>
            </a:r>
            <a:r>
              <a:rPr kumimoji="0" lang="ja-JP" altLang="en-US" sz="12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Tahoma" panose="020B0604030504040204" pitchFamily="34" charset="0"/>
              </a:rPr>
              <a:t>“</a:t>
            </a:r>
            <a:r>
              <a:rPr kumimoji="0" lang="en-US" sz="12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Performance Models for Asynchronous Data Transfers on Consumer Graphics Processing Units</a:t>
            </a:r>
            <a:r>
              <a:rPr kumimoji="0" lang="en-US" altLang="ja-JP" sz="12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a:t>
            </a:r>
            <a:r>
              <a:rPr kumimoji="0" lang="ja-JP" altLang="en-US" sz="12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Tahoma" panose="020B0604030504040204" pitchFamily="34" charset="0"/>
              </a:rPr>
              <a:t>”</a:t>
            </a:r>
            <a:r>
              <a:rPr kumimoji="0" lang="en-US" altLang="ja-JP" sz="12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ja-JP" sz="12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JPDC, 2012</a:t>
            </a:r>
            <a:endParaRPr kumimoji="0" lang="en-US" altLang="en-US" sz="12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pic>
        <p:nvPicPr>
          <p:cNvPr id="8" name="Imagen 13" descr="Stream_histo_280480_final.eps">
            <a:extLst>
              <a:ext uri="{FF2B5EF4-FFF2-40B4-BE49-F238E27FC236}">
                <a16:creationId xmlns:a16="http://schemas.microsoft.com/office/drawing/2014/main" id="{1E9892E8-2C84-A646-8FB7-B92F04D0D38A}"/>
              </a:ext>
            </a:extLst>
          </p:cNvPr>
          <p:cNvPicPr>
            <a:picLocks noChangeAspect="1"/>
          </p:cNvPicPr>
          <p:nvPr/>
        </p:nvPicPr>
        <p:blipFill>
          <a:blip r:embed="rId3"/>
          <a:stretch>
            <a:fillRect/>
          </a:stretch>
        </p:blipFill>
        <p:spPr>
          <a:xfrm>
            <a:off x="304221" y="1550684"/>
            <a:ext cx="8535558" cy="4545317"/>
          </a:xfrm>
          <a:prstGeom prst="rect">
            <a:avLst/>
          </a:prstGeom>
        </p:spPr>
      </p:pic>
      <p:grpSp>
        <p:nvGrpSpPr>
          <p:cNvPr id="11" name="Group 10">
            <a:extLst>
              <a:ext uri="{FF2B5EF4-FFF2-40B4-BE49-F238E27FC236}">
                <a16:creationId xmlns:a16="http://schemas.microsoft.com/office/drawing/2014/main" id="{AB494B4A-004D-5848-9B8F-2013015A256C}"/>
              </a:ext>
            </a:extLst>
          </p:cNvPr>
          <p:cNvGrpSpPr/>
          <p:nvPr/>
        </p:nvGrpSpPr>
        <p:grpSpPr>
          <a:xfrm>
            <a:off x="3995936" y="2132856"/>
            <a:ext cx="627095" cy="864096"/>
            <a:chOff x="3995936" y="2132856"/>
            <a:chExt cx="627095" cy="864096"/>
          </a:xfrm>
        </p:grpSpPr>
        <p:sp>
          <p:nvSpPr>
            <p:cNvPr id="5" name="TextBox 4">
              <a:extLst>
                <a:ext uri="{FF2B5EF4-FFF2-40B4-BE49-F238E27FC236}">
                  <a16:creationId xmlns:a16="http://schemas.microsoft.com/office/drawing/2014/main" id="{D4AC4A1F-B2C4-254A-968C-E1510A9A207B}"/>
                </a:ext>
              </a:extLst>
            </p:cNvPr>
            <p:cNvSpPr txBox="1"/>
            <p:nvPr/>
          </p:nvSpPr>
          <p:spPr>
            <a:xfrm>
              <a:off x="3995936" y="2401143"/>
              <a:ext cx="62709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0000"/>
                  </a:solidFill>
                  <a:effectLst/>
                  <a:uLnTx/>
                  <a:uFillTx/>
                  <a:latin typeface="Tahoma"/>
                  <a:ea typeface="+mn-ea"/>
                  <a:cs typeface="+mn-cs"/>
                </a:rPr>
                <a:t>44%</a:t>
              </a:r>
            </a:p>
          </p:txBody>
        </p:sp>
        <p:cxnSp>
          <p:nvCxnSpPr>
            <p:cNvPr id="10" name="Straight Arrow Connector 9">
              <a:extLst>
                <a:ext uri="{FF2B5EF4-FFF2-40B4-BE49-F238E27FC236}">
                  <a16:creationId xmlns:a16="http://schemas.microsoft.com/office/drawing/2014/main" id="{6490624A-AC02-B842-BCEB-26A0598A5D0D}"/>
                </a:ext>
              </a:extLst>
            </p:cNvPr>
            <p:cNvCxnSpPr/>
            <p:nvPr/>
          </p:nvCxnSpPr>
          <p:spPr>
            <a:xfrm>
              <a:off x="3995936" y="2132856"/>
              <a:ext cx="0" cy="864096"/>
            </a:xfrm>
            <a:prstGeom prst="straightConnector1">
              <a:avLst/>
            </a:prstGeom>
            <a:ln w="571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62806FB3-D8FE-C947-9E31-BD0E0B4D45BA}"/>
              </a:ext>
            </a:extLst>
          </p:cNvPr>
          <p:cNvGrpSpPr/>
          <p:nvPr/>
        </p:nvGrpSpPr>
        <p:grpSpPr>
          <a:xfrm>
            <a:off x="8078089" y="2159015"/>
            <a:ext cx="633679" cy="504000"/>
            <a:chOff x="8100392" y="2132856"/>
            <a:chExt cx="633679" cy="504000"/>
          </a:xfrm>
        </p:grpSpPr>
        <p:sp>
          <p:nvSpPr>
            <p:cNvPr id="9" name="TextBox 8">
              <a:extLst>
                <a:ext uri="{FF2B5EF4-FFF2-40B4-BE49-F238E27FC236}">
                  <a16:creationId xmlns:a16="http://schemas.microsoft.com/office/drawing/2014/main" id="{820AE709-05F2-2A44-89FF-7C0002E3C6E8}"/>
                </a:ext>
              </a:extLst>
            </p:cNvPr>
            <p:cNvSpPr txBox="1"/>
            <p:nvPr/>
          </p:nvSpPr>
          <p:spPr>
            <a:xfrm>
              <a:off x="8106976" y="2230967"/>
              <a:ext cx="62709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0000"/>
                  </a:solidFill>
                  <a:effectLst/>
                  <a:uLnTx/>
                  <a:uFillTx/>
                  <a:latin typeface="Tahoma"/>
                  <a:ea typeface="+mn-ea"/>
                  <a:cs typeface="+mn-cs"/>
                </a:rPr>
                <a:t>21%</a:t>
              </a:r>
            </a:p>
          </p:txBody>
        </p:sp>
        <p:cxnSp>
          <p:nvCxnSpPr>
            <p:cNvPr id="13" name="Straight Arrow Connector 12">
              <a:extLst>
                <a:ext uri="{FF2B5EF4-FFF2-40B4-BE49-F238E27FC236}">
                  <a16:creationId xmlns:a16="http://schemas.microsoft.com/office/drawing/2014/main" id="{007235ED-EDA4-BF49-A505-10FB96CAAAC6}"/>
                </a:ext>
              </a:extLst>
            </p:cNvPr>
            <p:cNvCxnSpPr/>
            <p:nvPr/>
          </p:nvCxnSpPr>
          <p:spPr>
            <a:xfrm>
              <a:off x="8100392" y="2132856"/>
              <a:ext cx="0" cy="504000"/>
            </a:xfrm>
            <a:prstGeom prst="straightConnector1">
              <a:avLst/>
            </a:prstGeom>
            <a:ln w="571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4143707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par>
                                <p:cTn id="10" presetID="53" presetClass="entr" presetSubtype="16"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500" fill="hold"/>
                                        <p:tgtEl>
                                          <p:spTgt spid="12"/>
                                        </p:tgtEl>
                                        <p:attrNameLst>
                                          <p:attrName>ppt_w</p:attrName>
                                        </p:attrNameLst>
                                      </p:cBhvr>
                                      <p:tavLst>
                                        <p:tav tm="0">
                                          <p:val>
                                            <p:fltVal val="0"/>
                                          </p:val>
                                        </p:tav>
                                        <p:tav tm="100000">
                                          <p:val>
                                            <p:strVal val="#ppt_w"/>
                                          </p:val>
                                        </p:tav>
                                      </p:tavLst>
                                    </p:anim>
                                    <p:anim calcmode="lin" valueType="num">
                                      <p:cBhvr>
                                        <p:cTn id="13" dur="500" fill="hold"/>
                                        <p:tgtEl>
                                          <p:spTgt spid="12"/>
                                        </p:tgtEl>
                                        <p:attrNameLst>
                                          <p:attrName>ppt_h</p:attrName>
                                        </p:attrNameLst>
                                      </p:cBhvr>
                                      <p:tavLst>
                                        <p:tav tm="0">
                                          <p:val>
                                            <p:fltVal val="0"/>
                                          </p:val>
                                        </p:tav>
                                        <p:tav tm="100000">
                                          <p:val>
                                            <p:strVal val="#ppt_h"/>
                                          </p:val>
                                        </p:tav>
                                      </p:tavLst>
                                    </p:anim>
                                    <p:animEffect transition="in" filter="fade">
                                      <p:cBhvr>
                                        <p:cTn id="1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51520" y="908720"/>
            <a:ext cx="8568952" cy="5472608"/>
          </a:xfrm>
        </p:spPr>
        <p:txBody>
          <a:bodyPr>
            <a:normAutofit/>
          </a:bodyPr>
          <a:lstStyle/>
          <a:p>
            <a:r>
              <a:rPr lang="en-US" sz="2200" dirty="0"/>
              <a:t>RGB-to-grayscale conversion</a:t>
            </a:r>
          </a:p>
          <a:p>
            <a:endParaRPr lang="en-US" sz="2200" dirty="0"/>
          </a:p>
          <a:p>
            <a:endParaRPr lang="en-US" sz="2200" dirty="0"/>
          </a:p>
          <a:p>
            <a:endParaRPr lang="en-US" sz="2200" dirty="0"/>
          </a:p>
          <a:p>
            <a:endParaRPr lang="en-US" sz="2200" dirty="0"/>
          </a:p>
          <a:p>
            <a:endParaRPr lang="en-US" sz="2200" dirty="0"/>
          </a:p>
          <a:p>
            <a:endParaRPr lang="en-US" sz="2200" dirty="0"/>
          </a:p>
          <a:p>
            <a:endParaRPr lang="en-US" sz="2200" dirty="0"/>
          </a:p>
          <a:p>
            <a:endParaRPr lang="en-US" sz="2200" dirty="0"/>
          </a:p>
          <a:p>
            <a:endParaRPr lang="en-US" sz="2200" dirty="0"/>
          </a:p>
          <a:p>
            <a:endParaRPr lang="en-US" sz="2200" dirty="0"/>
          </a:p>
          <a:p>
            <a:endParaRPr lang="en-US" sz="2200" dirty="0"/>
          </a:p>
        </p:txBody>
      </p:sp>
      <p:sp>
        <p:nvSpPr>
          <p:cNvPr id="2" name="Título 1"/>
          <p:cNvSpPr>
            <a:spLocks noGrp="1"/>
          </p:cNvSpPr>
          <p:nvPr>
            <p:ph type="title"/>
          </p:nvPr>
        </p:nvSpPr>
        <p:spPr/>
        <p:txBody>
          <a:bodyPr/>
          <a:lstStyle/>
          <a:p>
            <a:r>
              <a:rPr lang="en-US" sz="3600" dirty="0"/>
              <a:t>Video Processing: Performance Results (II)</a:t>
            </a:r>
          </a:p>
        </p:txBody>
      </p:sp>
      <p:sp>
        <p:nvSpPr>
          <p:cNvPr id="4" name="Marcador de número de diapositiva 3"/>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3594FA-E141-4234-AE05-360401972BE7}" type="slidenum">
              <a:rPr kumimoji="0" lang="en-US" altLang="en-US" sz="1600" b="0" i="0" u="none" strike="noStrike" kern="1200" cap="none" spc="0" normalizeH="0" baseline="0" noProof="0" smtClean="0">
                <a:ln>
                  <a:noFill/>
                </a:ln>
                <a:solidFill>
                  <a:srgbClr val="000000"/>
                </a:solidFill>
                <a:effectLst/>
                <a:uLnTx/>
                <a:uFillTx/>
                <a:latin typeface="Garamond"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118</a:t>
            </a:fld>
            <a:endParaRPr kumimoji="0" lang="en-US" altLang="en-US" sz="1600" b="0" i="0" u="none" strike="noStrike" kern="1200" cap="none" spc="0" normalizeH="0" baseline="0" noProof="0">
              <a:ln>
                <a:noFill/>
              </a:ln>
              <a:solidFill>
                <a:srgbClr val="000000"/>
              </a:solidFill>
              <a:effectLst/>
              <a:uLnTx/>
              <a:uFillTx/>
              <a:latin typeface="Garamond" pitchFamily="18" charset="0"/>
              <a:ea typeface="+mn-ea"/>
              <a:cs typeface="+mn-cs"/>
            </a:endParaRPr>
          </a:p>
        </p:txBody>
      </p:sp>
      <p:sp>
        <p:nvSpPr>
          <p:cNvPr id="7" name="TextBox 6">
            <a:extLst>
              <a:ext uri="{FF2B5EF4-FFF2-40B4-BE49-F238E27FC236}">
                <a16:creationId xmlns:a16="http://schemas.microsoft.com/office/drawing/2014/main" id="{0056C7BF-EB4B-CC47-857E-6C44BBEDEFB5}"/>
              </a:ext>
            </a:extLst>
          </p:cNvPr>
          <p:cNvSpPr txBox="1">
            <a:spLocks noChangeArrowheads="1"/>
          </p:cNvSpPr>
          <p:nvPr/>
        </p:nvSpPr>
        <p:spPr bwMode="auto">
          <a:xfrm>
            <a:off x="152400" y="6381328"/>
            <a:ext cx="8534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Gomez-Luna+, </a:t>
            </a:r>
            <a:r>
              <a:rPr kumimoji="0" lang="ja-JP" altLang="en-US" sz="12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Tahoma" panose="020B0604030504040204" pitchFamily="34" charset="0"/>
              </a:rPr>
              <a:t>“</a:t>
            </a:r>
            <a:r>
              <a:rPr kumimoji="0" lang="en-US" sz="12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Performance Models for Asynchronous Data Transfers on Consumer Graphics Processing Units</a:t>
            </a:r>
            <a:r>
              <a:rPr kumimoji="0" lang="en-US" altLang="ja-JP" sz="12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a:t>
            </a:r>
            <a:r>
              <a:rPr kumimoji="0" lang="ja-JP" altLang="en-US" sz="12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Tahoma" panose="020B0604030504040204" pitchFamily="34" charset="0"/>
              </a:rPr>
              <a:t>”</a:t>
            </a:r>
            <a:r>
              <a:rPr kumimoji="0" lang="en-US" altLang="ja-JP" sz="12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ja-JP" sz="12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JPDC, 2012</a:t>
            </a:r>
            <a:endParaRPr kumimoji="0" lang="en-US" altLang="en-US" sz="1200"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pic>
        <p:nvPicPr>
          <p:cNvPr id="8" name="Imagen 12" descr="Stream_rgb_280480_final.eps">
            <a:extLst>
              <a:ext uri="{FF2B5EF4-FFF2-40B4-BE49-F238E27FC236}">
                <a16:creationId xmlns:a16="http://schemas.microsoft.com/office/drawing/2014/main" id="{3B318F96-3841-2B46-983B-9338299A2FA6}"/>
              </a:ext>
            </a:extLst>
          </p:cNvPr>
          <p:cNvPicPr>
            <a:picLocks noChangeAspect="1"/>
          </p:cNvPicPr>
          <p:nvPr/>
        </p:nvPicPr>
        <p:blipFill>
          <a:blip r:embed="rId3"/>
          <a:stretch>
            <a:fillRect/>
          </a:stretch>
        </p:blipFill>
        <p:spPr>
          <a:xfrm>
            <a:off x="303845" y="1544698"/>
            <a:ext cx="8536311" cy="4551302"/>
          </a:xfrm>
          <a:prstGeom prst="rect">
            <a:avLst/>
          </a:prstGeom>
        </p:spPr>
      </p:pic>
      <p:grpSp>
        <p:nvGrpSpPr>
          <p:cNvPr id="9" name="Group 8">
            <a:extLst>
              <a:ext uri="{FF2B5EF4-FFF2-40B4-BE49-F238E27FC236}">
                <a16:creationId xmlns:a16="http://schemas.microsoft.com/office/drawing/2014/main" id="{2C11A5FE-BA49-0B45-88E5-2A07A682B3D6}"/>
              </a:ext>
            </a:extLst>
          </p:cNvPr>
          <p:cNvGrpSpPr/>
          <p:nvPr/>
        </p:nvGrpSpPr>
        <p:grpSpPr>
          <a:xfrm>
            <a:off x="4160929" y="1988840"/>
            <a:ext cx="627095" cy="1116000"/>
            <a:chOff x="3944905" y="2132856"/>
            <a:chExt cx="627095" cy="864096"/>
          </a:xfrm>
        </p:grpSpPr>
        <p:sp>
          <p:nvSpPr>
            <p:cNvPr id="10" name="TextBox 9">
              <a:extLst>
                <a:ext uri="{FF2B5EF4-FFF2-40B4-BE49-F238E27FC236}">
                  <a16:creationId xmlns:a16="http://schemas.microsoft.com/office/drawing/2014/main" id="{8ADB4931-22E5-6A4F-9663-7B2C07538EF1}"/>
                </a:ext>
              </a:extLst>
            </p:cNvPr>
            <p:cNvSpPr txBox="1"/>
            <p:nvPr/>
          </p:nvSpPr>
          <p:spPr>
            <a:xfrm>
              <a:off x="3944905" y="2411628"/>
              <a:ext cx="627095" cy="23830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0000"/>
                  </a:solidFill>
                  <a:effectLst/>
                  <a:uLnTx/>
                  <a:uFillTx/>
                  <a:latin typeface="Tahoma"/>
                  <a:ea typeface="+mn-ea"/>
                  <a:cs typeface="+mn-cs"/>
                </a:rPr>
                <a:t>63%</a:t>
              </a:r>
            </a:p>
          </p:txBody>
        </p:sp>
        <p:cxnSp>
          <p:nvCxnSpPr>
            <p:cNvPr id="11" name="Straight Arrow Connector 10">
              <a:extLst>
                <a:ext uri="{FF2B5EF4-FFF2-40B4-BE49-F238E27FC236}">
                  <a16:creationId xmlns:a16="http://schemas.microsoft.com/office/drawing/2014/main" id="{89D98EEB-6038-5843-B3CB-A4EDD48FCB58}"/>
                </a:ext>
              </a:extLst>
            </p:cNvPr>
            <p:cNvCxnSpPr/>
            <p:nvPr/>
          </p:nvCxnSpPr>
          <p:spPr>
            <a:xfrm>
              <a:off x="3995936" y="2132856"/>
              <a:ext cx="0" cy="864096"/>
            </a:xfrm>
            <a:prstGeom prst="straightConnector1">
              <a:avLst/>
            </a:prstGeom>
            <a:ln w="571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F287F38E-B67E-5A44-83A4-1F8A038E9522}"/>
              </a:ext>
            </a:extLst>
          </p:cNvPr>
          <p:cNvGrpSpPr/>
          <p:nvPr/>
        </p:nvGrpSpPr>
        <p:grpSpPr>
          <a:xfrm>
            <a:off x="8186793" y="2420944"/>
            <a:ext cx="633679" cy="432000"/>
            <a:chOff x="8100392" y="2132856"/>
            <a:chExt cx="633679" cy="432000"/>
          </a:xfrm>
        </p:grpSpPr>
        <p:sp>
          <p:nvSpPr>
            <p:cNvPr id="13" name="TextBox 12">
              <a:extLst>
                <a:ext uri="{FF2B5EF4-FFF2-40B4-BE49-F238E27FC236}">
                  <a16:creationId xmlns:a16="http://schemas.microsoft.com/office/drawing/2014/main" id="{06274168-0A62-E043-B838-E07E08F84599}"/>
                </a:ext>
              </a:extLst>
            </p:cNvPr>
            <p:cNvSpPr txBox="1"/>
            <p:nvPr/>
          </p:nvSpPr>
          <p:spPr>
            <a:xfrm>
              <a:off x="8106976" y="2185063"/>
              <a:ext cx="62709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0000"/>
                  </a:solidFill>
                  <a:effectLst/>
                  <a:uLnTx/>
                  <a:uFillTx/>
                  <a:latin typeface="Tahoma"/>
                  <a:ea typeface="+mn-ea"/>
                  <a:cs typeface="+mn-cs"/>
                </a:rPr>
                <a:t>18%</a:t>
              </a:r>
            </a:p>
          </p:txBody>
        </p:sp>
        <p:cxnSp>
          <p:nvCxnSpPr>
            <p:cNvPr id="14" name="Straight Arrow Connector 13">
              <a:extLst>
                <a:ext uri="{FF2B5EF4-FFF2-40B4-BE49-F238E27FC236}">
                  <a16:creationId xmlns:a16="http://schemas.microsoft.com/office/drawing/2014/main" id="{9D46C15B-3E04-C948-890E-F301499C7ABA}"/>
                </a:ext>
              </a:extLst>
            </p:cNvPr>
            <p:cNvCxnSpPr/>
            <p:nvPr/>
          </p:nvCxnSpPr>
          <p:spPr>
            <a:xfrm>
              <a:off x="8100392" y="2132856"/>
              <a:ext cx="0" cy="432000"/>
            </a:xfrm>
            <a:prstGeom prst="straightConnector1">
              <a:avLst/>
            </a:prstGeom>
            <a:ln w="571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539645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53" presetClass="entr" presetSubtype="16"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500" fill="hold"/>
                                        <p:tgtEl>
                                          <p:spTgt spid="12"/>
                                        </p:tgtEl>
                                        <p:attrNameLst>
                                          <p:attrName>ppt_w</p:attrName>
                                        </p:attrNameLst>
                                      </p:cBhvr>
                                      <p:tavLst>
                                        <p:tav tm="0">
                                          <p:val>
                                            <p:fltVal val="0"/>
                                          </p:val>
                                        </p:tav>
                                        <p:tav tm="100000">
                                          <p:val>
                                            <p:strVal val="#ppt_w"/>
                                          </p:val>
                                        </p:tav>
                                      </p:tavLst>
                                    </p:anim>
                                    <p:anim calcmode="lin" valueType="num">
                                      <p:cBhvr>
                                        <p:cTn id="13" dur="500" fill="hold"/>
                                        <p:tgtEl>
                                          <p:spTgt spid="12"/>
                                        </p:tgtEl>
                                        <p:attrNameLst>
                                          <p:attrName>ppt_h</p:attrName>
                                        </p:attrNameLst>
                                      </p:cBhvr>
                                      <p:tavLst>
                                        <p:tav tm="0">
                                          <p:val>
                                            <p:fltVal val="0"/>
                                          </p:val>
                                        </p:tav>
                                        <p:tav tm="100000">
                                          <p:val>
                                            <p:strVal val="#ppt_h"/>
                                          </p:val>
                                        </p:tav>
                                      </p:tavLst>
                                    </p:anim>
                                    <p:animEffect transition="in" filter="fade">
                                      <p:cBhvr>
                                        <p:cTn id="1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Performance Considerations</a:t>
            </a:r>
          </a:p>
        </p:txBody>
      </p:sp>
      <p:sp>
        <p:nvSpPr>
          <p:cNvPr id="3" name="Marcador de contenido 2"/>
          <p:cNvSpPr>
            <a:spLocks noGrp="1"/>
          </p:cNvSpPr>
          <p:nvPr>
            <p:ph idx="1"/>
          </p:nvPr>
        </p:nvSpPr>
        <p:spPr>
          <a:xfrm>
            <a:off x="251521" y="908720"/>
            <a:ext cx="8568952" cy="5472534"/>
          </a:xfrm>
        </p:spPr>
        <p:txBody>
          <a:bodyPr>
            <a:normAutofit lnSpcReduction="10000"/>
          </a:bodyPr>
          <a:lstStyle/>
          <a:p>
            <a:r>
              <a:rPr lang="en-US" dirty="0"/>
              <a:t>Main bottlenecks</a:t>
            </a:r>
          </a:p>
          <a:p>
            <a:pPr lvl="1"/>
            <a:r>
              <a:rPr lang="en-US" dirty="0">
                <a:solidFill>
                  <a:srgbClr val="FF0000"/>
                </a:solidFill>
              </a:rPr>
              <a:t>CPU-GPU data transfers</a:t>
            </a:r>
          </a:p>
          <a:p>
            <a:pPr lvl="1"/>
            <a:r>
              <a:rPr lang="en-US" dirty="0">
                <a:solidFill>
                  <a:srgbClr val="FF0000"/>
                </a:solidFill>
              </a:rPr>
              <a:t>Global memory access</a:t>
            </a:r>
          </a:p>
          <a:p>
            <a:r>
              <a:rPr lang="en-US" dirty="0"/>
              <a:t>Memory access</a:t>
            </a:r>
          </a:p>
          <a:p>
            <a:pPr lvl="1"/>
            <a:r>
              <a:rPr lang="en-US" dirty="0">
                <a:solidFill>
                  <a:srgbClr val="00B050"/>
                </a:solidFill>
              </a:rPr>
              <a:t>Latency hiding</a:t>
            </a:r>
          </a:p>
          <a:p>
            <a:pPr lvl="2"/>
            <a:r>
              <a:rPr lang="en-US" dirty="0"/>
              <a:t>Occupancy</a:t>
            </a:r>
          </a:p>
          <a:p>
            <a:pPr lvl="1"/>
            <a:r>
              <a:rPr lang="en-US" dirty="0">
                <a:solidFill>
                  <a:srgbClr val="00B050"/>
                </a:solidFill>
              </a:rPr>
              <a:t>Memory coalescing</a:t>
            </a:r>
          </a:p>
          <a:p>
            <a:pPr lvl="1"/>
            <a:r>
              <a:rPr lang="en-US" dirty="0"/>
              <a:t>Data reuse</a:t>
            </a:r>
          </a:p>
          <a:p>
            <a:pPr lvl="2"/>
            <a:r>
              <a:rPr lang="en-US" dirty="0">
                <a:solidFill>
                  <a:srgbClr val="00B050"/>
                </a:solidFill>
              </a:rPr>
              <a:t>Shared memory usage</a:t>
            </a:r>
          </a:p>
          <a:p>
            <a:r>
              <a:rPr lang="en-US" dirty="0"/>
              <a:t>SIMD (Warp) Utilization: </a:t>
            </a:r>
            <a:r>
              <a:rPr lang="en-US" dirty="0">
                <a:solidFill>
                  <a:srgbClr val="FF0000"/>
                </a:solidFill>
              </a:rPr>
              <a:t>Divergence</a:t>
            </a:r>
          </a:p>
          <a:p>
            <a:r>
              <a:rPr lang="en-US" dirty="0"/>
              <a:t>Other considerations</a:t>
            </a:r>
          </a:p>
          <a:p>
            <a:pPr lvl="1"/>
            <a:r>
              <a:rPr lang="en-US" dirty="0"/>
              <a:t>Atomic operations: </a:t>
            </a:r>
            <a:r>
              <a:rPr lang="en-US" dirty="0">
                <a:solidFill>
                  <a:srgbClr val="FF0000"/>
                </a:solidFill>
              </a:rPr>
              <a:t>Serialization</a:t>
            </a:r>
          </a:p>
          <a:p>
            <a:pPr lvl="1"/>
            <a:r>
              <a:rPr lang="en-US" dirty="0">
                <a:solidFill>
                  <a:srgbClr val="FF0000"/>
                </a:solidFill>
              </a:rPr>
              <a:t>Data transfers </a:t>
            </a:r>
            <a:r>
              <a:rPr lang="en-US" dirty="0"/>
              <a:t>between CPU and GPU</a:t>
            </a:r>
          </a:p>
          <a:p>
            <a:pPr lvl="2"/>
            <a:r>
              <a:rPr lang="en-US" dirty="0">
                <a:solidFill>
                  <a:srgbClr val="00B050"/>
                </a:solidFill>
              </a:rPr>
              <a:t>Overlap of communication and computation</a:t>
            </a:r>
          </a:p>
          <a:p>
            <a:pPr lvl="1"/>
            <a:endParaRPr lang="en-US" dirty="0"/>
          </a:p>
        </p:txBody>
      </p:sp>
      <p:sp>
        <p:nvSpPr>
          <p:cNvPr id="4" name="Marcador de número de diapositiva 3"/>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3594FA-E141-4234-AE05-360401972BE7}" type="slidenum">
              <a:rPr kumimoji="0" lang="en-US" altLang="en-US" sz="1600" b="0" i="0" u="none" strike="noStrike" kern="1200" cap="none" spc="0" normalizeH="0" baseline="0" noProof="0" smtClean="0">
                <a:ln>
                  <a:noFill/>
                </a:ln>
                <a:solidFill>
                  <a:srgbClr val="000000"/>
                </a:solidFill>
                <a:effectLst/>
                <a:uLnTx/>
                <a:uFillTx/>
                <a:latin typeface="Garamond"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119</a:t>
            </a:fld>
            <a:endParaRPr kumimoji="0" lang="en-US" altLang="en-US" sz="1600" b="0" i="0" u="none" strike="noStrike" kern="1200" cap="none" spc="0" normalizeH="0" baseline="0" noProof="0">
              <a:ln>
                <a:noFill/>
              </a:ln>
              <a:solidFill>
                <a:srgbClr val="000000"/>
              </a:solidFill>
              <a:effectLst/>
              <a:uLnTx/>
              <a:uFillTx/>
              <a:latin typeface="Garamond" pitchFamily="18" charset="0"/>
              <a:ea typeface="+mn-ea"/>
              <a:cs typeface="+mn-cs"/>
            </a:endParaRPr>
          </a:p>
        </p:txBody>
      </p:sp>
    </p:spTree>
    <p:extLst>
      <p:ext uri="{BB962C8B-B14F-4D97-AF65-F5344CB8AC3E}">
        <p14:creationId xmlns:p14="http://schemas.microsoft.com/office/powerpoint/2010/main" val="199380716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chor="ctr" anchorCtr="0"/>
          <a:lstStyle/>
          <a:p>
            <a:r>
              <a:rPr lang="en-US" dirty="0"/>
              <a:t>Recommended Readings</a:t>
            </a:r>
          </a:p>
        </p:txBody>
      </p:sp>
      <p:sp>
        <p:nvSpPr>
          <p:cNvPr id="3" name="Marcador de contenido 2"/>
          <p:cNvSpPr>
            <a:spLocks noGrp="1"/>
          </p:cNvSpPr>
          <p:nvPr>
            <p:ph idx="1"/>
          </p:nvPr>
        </p:nvSpPr>
        <p:spPr>
          <a:xfrm>
            <a:off x="228600" y="1124744"/>
            <a:ext cx="8735888" cy="5256584"/>
          </a:xfrm>
        </p:spPr>
        <p:txBody>
          <a:bodyPr>
            <a:normAutofit/>
          </a:bodyPr>
          <a:lstStyle/>
          <a:p>
            <a:r>
              <a:rPr lang="en-US" altLang="en-US" dirty="0" err="1">
                <a:solidFill>
                  <a:srgbClr val="000000"/>
                </a:solidFill>
                <a:ea typeface="ＭＳ Ｐゴシック" panose="020B0600070205080204" pitchFamily="34" charset="-128"/>
              </a:rPr>
              <a:t>Hwu</a:t>
            </a:r>
            <a:r>
              <a:rPr lang="en-US" altLang="en-US" dirty="0">
                <a:solidFill>
                  <a:srgbClr val="000000"/>
                </a:solidFill>
                <a:ea typeface="ＭＳ Ｐゴシック" panose="020B0600070205080204" pitchFamily="34" charset="-128"/>
              </a:rPr>
              <a:t> and Kirk, </a:t>
            </a:r>
            <a:r>
              <a:rPr lang="ja-JP" altLang="en-US" dirty="0">
                <a:solidFill>
                  <a:srgbClr val="000000"/>
                </a:solidFill>
                <a:ea typeface="ＭＳ Ｐゴシック" panose="020B0600070205080204" pitchFamily="34" charset="-128"/>
              </a:rPr>
              <a:t>“</a:t>
            </a:r>
            <a:r>
              <a:rPr lang="en-US" altLang="ja-JP" dirty="0">
                <a:solidFill>
                  <a:srgbClr val="0000FF"/>
                </a:solidFill>
                <a:ea typeface="ＭＳ Ｐゴシック" panose="020B0600070205080204" pitchFamily="34" charset="-128"/>
              </a:rPr>
              <a:t>Programming Massively Parallel Processors</a:t>
            </a:r>
            <a:r>
              <a:rPr lang="en-US" altLang="ja-JP" dirty="0">
                <a:solidFill>
                  <a:srgbClr val="000000"/>
                </a:solidFill>
                <a:ea typeface="ＭＳ Ｐゴシック" panose="020B0600070205080204" pitchFamily="34" charset="-128"/>
              </a:rPr>
              <a:t>,</a:t>
            </a:r>
            <a:r>
              <a:rPr lang="ja-JP" altLang="en-US" dirty="0">
                <a:solidFill>
                  <a:srgbClr val="000000"/>
                </a:solidFill>
                <a:ea typeface="ＭＳ Ｐゴシック" panose="020B0600070205080204" pitchFamily="34" charset="-128"/>
              </a:rPr>
              <a:t>”</a:t>
            </a:r>
            <a:r>
              <a:rPr lang="en-US" altLang="ja-JP" dirty="0">
                <a:solidFill>
                  <a:srgbClr val="000000"/>
                </a:solidFill>
                <a:ea typeface="ＭＳ Ｐゴシック" panose="020B0600070205080204" pitchFamily="34" charset="-128"/>
              </a:rPr>
              <a:t> Third Edition, 2017</a:t>
            </a:r>
          </a:p>
          <a:p>
            <a:pPr lvl="1"/>
            <a:r>
              <a:rPr lang="en-US" altLang="ja-JP" dirty="0">
                <a:solidFill>
                  <a:srgbClr val="000000"/>
                </a:solidFill>
                <a:ea typeface="ＭＳ Ｐゴシック" panose="020B0600070205080204" pitchFamily="34" charset="-128"/>
              </a:rPr>
              <a:t>Chapter 5: Performance considerations</a:t>
            </a:r>
          </a:p>
          <a:p>
            <a:pPr lvl="1"/>
            <a:r>
              <a:rPr lang="en-US" altLang="ja-JP" dirty="0">
                <a:solidFill>
                  <a:srgbClr val="000000"/>
                </a:solidFill>
                <a:ea typeface="ＭＳ Ｐゴシック" panose="020B0600070205080204" pitchFamily="34" charset="-128"/>
              </a:rPr>
              <a:t>Chapter 18 - Programming </a:t>
            </a:r>
          </a:p>
          <a:p>
            <a:pPr marL="344487" lvl="1" indent="0">
              <a:buNone/>
            </a:pPr>
            <a:r>
              <a:rPr lang="en-US" altLang="ja-JP" dirty="0">
                <a:solidFill>
                  <a:srgbClr val="000000"/>
                </a:solidFill>
                <a:ea typeface="ＭＳ Ｐゴシック" panose="020B0600070205080204" pitchFamily="34" charset="-128"/>
              </a:rPr>
              <a:t>a heterogeneous computing cluster, </a:t>
            </a:r>
          </a:p>
          <a:p>
            <a:pPr marL="344487" lvl="1" indent="0">
              <a:buNone/>
            </a:pPr>
            <a:r>
              <a:rPr lang="en-US" altLang="ja-JP" dirty="0">
                <a:solidFill>
                  <a:srgbClr val="000000"/>
                </a:solidFill>
                <a:ea typeface="ＭＳ Ｐゴシック" panose="020B0600070205080204" pitchFamily="34" charset="-128"/>
              </a:rPr>
              <a:t>Section 18.5</a:t>
            </a:r>
          </a:p>
          <a:p>
            <a:pPr lvl="1"/>
            <a:endParaRPr lang="en-US" altLang="ja-JP" dirty="0">
              <a:solidFill>
                <a:srgbClr val="000000"/>
              </a:solidFill>
              <a:ea typeface="ＭＳ Ｐゴシック" panose="020B0600070205080204" pitchFamily="34" charset="-128"/>
            </a:endParaRPr>
          </a:p>
        </p:txBody>
      </p:sp>
      <p:sp>
        <p:nvSpPr>
          <p:cNvPr id="4" name="Marcador de número de diapositiva 3"/>
          <p:cNvSpPr>
            <a:spLocks noGrp="1"/>
          </p:cNvSpPr>
          <p:nvPr>
            <p:ph type="sldNum" sz="quarter" idx="11"/>
          </p:nvPr>
        </p:nvSpPr>
        <p:spPr/>
        <p:txBody>
          <a:bodyPr/>
          <a:lstStyle/>
          <a:p>
            <a:fld id="{323594FA-E141-4234-AE05-360401972BE7}" type="slidenum">
              <a:rPr lang="en-US" altLang="en-US" smtClean="0"/>
              <a:pPr/>
              <a:t>120</a:t>
            </a:fld>
            <a:endParaRPr lang="en-US" altLang="en-US"/>
          </a:p>
        </p:txBody>
      </p:sp>
      <p:pic>
        <p:nvPicPr>
          <p:cNvPr id="5" name="Picture 4">
            <a:extLst>
              <a:ext uri="{FF2B5EF4-FFF2-40B4-BE49-F238E27FC236}">
                <a16:creationId xmlns:a16="http://schemas.microsoft.com/office/drawing/2014/main" id="{E66EFC1E-40D3-8B48-BF55-90304E676377}"/>
              </a:ext>
            </a:extLst>
          </p:cNvPr>
          <p:cNvPicPr>
            <a:picLocks noChangeAspect="1"/>
          </p:cNvPicPr>
          <p:nvPr/>
        </p:nvPicPr>
        <p:blipFill>
          <a:blip r:embed="rId3"/>
          <a:stretch>
            <a:fillRect/>
          </a:stretch>
        </p:blipFill>
        <p:spPr>
          <a:xfrm>
            <a:off x="5453069" y="2355206"/>
            <a:ext cx="3672408" cy="3672408"/>
          </a:xfrm>
          <a:prstGeom prst="rect">
            <a:avLst/>
          </a:prstGeom>
        </p:spPr>
      </p:pic>
    </p:spTree>
    <p:extLst>
      <p:ext uri="{BB962C8B-B14F-4D97-AF65-F5344CB8AC3E}">
        <p14:creationId xmlns:p14="http://schemas.microsoft.com/office/powerpoint/2010/main" val="1427154434"/>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IMING" val="|19.7"/>
</p:tagLst>
</file>

<file path=ppt/tags/tag2.xml><?xml version="1.0" encoding="utf-8"?>
<p:tagLst xmlns:a="http://schemas.openxmlformats.org/drawingml/2006/main" xmlns:r="http://schemas.openxmlformats.org/officeDocument/2006/relationships" xmlns:p="http://schemas.openxmlformats.org/presentationml/2006/main">
  <p:tag name="TIMING" val="|19.7"/>
</p:tagLst>
</file>

<file path=ppt/tags/tag3.xml><?xml version="1.0" encoding="utf-8"?>
<p:tagLst xmlns:a="http://schemas.openxmlformats.org/drawingml/2006/main" xmlns:r="http://schemas.openxmlformats.org/officeDocument/2006/relationships" xmlns:p="http://schemas.openxmlformats.org/presentationml/2006/main">
  <p:tag name="TIMING" val="|19.7"/>
</p:tagLst>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98_Edge">
  <a:themeElements>
    <a:clrScheme name="1_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1_Edge">
      <a:majorFont>
        <a:latin typeface="Garamon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1_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1_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1_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1_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1_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1_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1_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1_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1_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71354</TotalTime>
  <Words>9153</Words>
  <Application>Microsoft Macintosh PowerPoint</Application>
  <PresentationFormat>On-screen Show (4:3)</PresentationFormat>
  <Paragraphs>2196</Paragraphs>
  <Slides>120</Slides>
  <Notes>43</Notes>
  <HiddenSlides>0</HiddenSlides>
  <MMClips>0</MMClips>
  <ScaleCrop>false</ScaleCrop>
  <HeadingPairs>
    <vt:vector size="6" baseType="variant">
      <vt:variant>
        <vt:lpstr>Fonts Used</vt:lpstr>
      </vt:variant>
      <vt:variant>
        <vt:i4>19</vt:i4>
      </vt:variant>
      <vt:variant>
        <vt:lpstr>Theme</vt:lpstr>
      </vt:variant>
      <vt:variant>
        <vt:i4>3</vt:i4>
      </vt:variant>
      <vt:variant>
        <vt:lpstr>Slide Titles</vt:lpstr>
      </vt:variant>
      <vt:variant>
        <vt:i4>120</vt:i4>
      </vt:variant>
    </vt:vector>
  </HeadingPairs>
  <TitlesOfParts>
    <vt:vector size="142" baseType="lpstr">
      <vt:lpstr>Arial  </vt:lpstr>
      <vt:lpstr>굴림</vt:lpstr>
      <vt:lpstr>ＭＳ Ｐゴシック</vt:lpstr>
      <vt:lpstr>新細明體</vt:lpstr>
      <vt:lpstr>ヒラギノ角ゴ Pro W3</vt:lpstr>
      <vt:lpstr>Arial</vt:lpstr>
      <vt:lpstr>Arial Narrow</vt:lpstr>
      <vt:lpstr>Calibri</vt:lpstr>
      <vt:lpstr>Cambria</vt:lpstr>
      <vt:lpstr>Cambria Math</vt:lpstr>
      <vt:lpstr>Consolas</vt:lpstr>
      <vt:lpstr>Courier</vt:lpstr>
      <vt:lpstr>Courier New</vt:lpstr>
      <vt:lpstr>Garamond</vt:lpstr>
      <vt:lpstr>Lucida Console</vt:lpstr>
      <vt:lpstr>Tahoma</vt:lpstr>
      <vt:lpstr>Times New Roman</vt:lpstr>
      <vt:lpstr>Verdana</vt:lpstr>
      <vt:lpstr>Wingdings</vt:lpstr>
      <vt:lpstr>Edge</vt:lpstr>
      <vt:lpstr>2_Edge</vt:lpstr>
      <vt:lpstr>98_Edge</vt:lpstr>
      <vt:lpstr> AI Chip &amp; Systems.  Lecture 7: GPU Optimization</vt:lpstr>
      <vt:lpstr>Recall: CPU vs GPU： Compute Perspective</vt:lpstr>
      <vt:lpstr>Recall: Relationship between CPU and GPU </vt:lpstr>
      <vt:lpstr>Recall: SPMD</vt:lpstr>
      <vt:lpstr>Recall Programming Model vs. Hardware Execution Model</vt:lpstr>
      <vt:lpstr>Recall: SIMT (Hardware) &amp; Warp (Software)</vt:lpstr>
      <vt:lpstr>PowerPoint Presentation</vt:lpstr>
      <vt:lpstr>Recall: Mapping Warps on a SIMT Hardware </vt:lpstr>
      <vt:lpstr>Recall: GPU Execution with Warps </vt:lpstr>
      <vt:lpstr>Recall: Warp Instruction Level Parallelism</vt:lpstr>
      <vt:lpstr>PowerPoint Presentation</vt:lpstr>
      <vt:lpstr>Recall: SIMT Code vs. SIMD Code</vt:lpstr>
      <vt:lpstr>Agenda for Today</vt:lpstr>
      <vt:lpstr>GPU Memories</vt:lpstr>
      <vt:lpstr>Memory in the GPU Architecture</vt:lpstr>
      <vt:lpstr>Memory in the GPU Architecture</vt:lpstr>
      <vt:lpstr>NVIDIA V100 &amp; A100 Memory Hierarchy</vt:lpstr>
      <vt:lpstr>CUDA Variable Type Qualifiers</vt:lpstr>
      <vt:lpstr>Memory Hierarchy in CUDA Programs</vt:lpstr>
      <vt:lpstr>Recall: Comparison of Memories</vt:lpstr>
      <vt:lpstr>The DRAM Subsystem The Top-Down View</vt:lpstr>
      <vt:lpstr>DRAM Subsystem Organization</vt:lpstr>
      <vt:lpstr>The DRAM Subsystem</vt:lpstr>
      <vt:lpstr>Breaking down a DIMM (module)</vt:lpstr>
      <vt:lpstr>Breaking down a Rank</vt:lpstr>
      <vt:lpstr>Breaking down a Chip</vt:lpstr>
      <vt:lpstr>Inside a DRAM Chip </vt:lpstr>
      <vt:lpstr>DRAM Bank Operation</vt:lpstr>
      <vt:lpstr>Long Global Memory Access Latency</vt:lpstr>
      <vt:lpstr>PowerPoint Presentation</vt:lpstr>
      <vt:lpstr>Agenda for Today</vt:lpstr>
      <vt:lpstr>Latency Hiding via Warp-Level FGMT</vt:lpstr>
      <vt:lpstr>Latency Hiding and Occupancy</vt:lpstr>
      <vt:lpstr>Agenda for Today</vt:lpstr>
      <vt:lpstr>Memory Coalescing (I)</vt:lpstr>
      <vt:lpstr>Memory Coalescing (II)</vt:lpstr>
      <vt:lpstr>Uncoalesced Memory Accesses</vt:lpstr>
      <vt:lpstr>Coalesced Memory Accesses</vt:lpstr>
      <vt:lpstr>SIMT Memory Access</vt:lpstr>
      <vt:lpstr>Agenda for Today</vt:lpstr>
      <vt:lpstr>Shared Memory</vt:lpstr>
      <vt:lpstr>Shared Memory Bank Conflicts (I)</vt:lpstr>
      <vt:lpstr>Shared Memory Bank Conflicts (II)</vt:lpstr>
      <vt:lpstr>Use Shared Memory to Improve Coalescing</vt:lpstr>
      <vt:lpstr>Reducing Shared Memory Bank Conflicts</vt:lpstr>
      <vt:lpstr>No Data Reuse</vt:lpstr>
      <vt:lpstr>Data Reuse: Tiling</vt:lpstr>
      <vt:lpstr>Synchronization Function</vt:lpstr>
      <vt:lpstr>Tiling/Blocking in On-chip Memories</vt:lpstr>
      <vt:lpstr>CPU: Naïve Matrix Multiplication (I)</vt:lpstr>
      <vt:lpstr>CPU: Naïve Matrix Multiplication (II)</vt:lpstr>
      <vt:lpstr>CPU: Tiled Matrix Multiplication (I)</vt:lpstr>
      <vt:lpstr>CPU: Tiled Matrix Multiplication (II)</vt:lpstr>
      <vt:lpstr>GPU: Matrix-Matrix Multiplication (I)</vt:lpstr>
      <vt:lpstr>GPU: Matrix-Matrix Multiplication (II)</vt:lpstr>
      <vt:lpstr>GPU: Matrix-Matrix Multiplication (III)</vt:lpstr>
      <vt:lpstr>GPU: Reuse in Matrix-Matrix Multiplication (I)</vt:lpstr>
      <vt:lpstr>GPU: Reuse in Matrix-Matrix Multiplication (II)</vt:lpstr>
      <vt:lpstr>GPU: Tiled Matrix-Matrix Multiplication (I)</vt:lpstr>
      <vt:lpstr>GPU: Tiled Matrix-Matrix Multiplication (II)</vt:lpstr>
      <vt:lpstr>GPU: Tiled Matrix-Matrix Multiplication (III)</vt:lpstr>
      <vt:lpstr>GPU: Tiled Matrix-Matrix Multiplication (IV)</vt:lpstr>
      <vt:lpstr>GPU: Tiled Matrix-Matrix Multiplication (V)</vt:lpstr>
      <vt:lpstr>Agenda for Today</vt:lpstr>
      <vt:lpstr>Threads Can Take Different Paths in Warp-based SIMT</vt:lpstr>
      <vt:lpstr>Control Flow Problem in GPUs/SIMT</vt:lpstr>
      <vt:lpstr>SIMT Utilization</vt:lpstr>
      <vt:lpstr>Increasing SIMT Utilization</vt:lpstr>
      <vt:lpstr>Vector Reduction: Naïve Mapping (I)</vt:lpstr>
      <vt:lpstr>Vector Reduction: Naïve Mapping (II)</vt:lpstr>
      <vt:lpstr>Divergence-Free Mapping (I)</vt:lpstr>
      <vt:lpstr>Divergence-Free Mapping (II)</vt:lpstr>
      <vt:lpstr>Agenda for Today</vt:lpstr>
      <vt:lpstr>Atomic Operations</vt:lpstr>
      <vt:lpstr>Atomic Operations (I)</vt:lpstr>
      <vt:lpstr>Atomic Operations (II)</vt:lpstr>
      <vt:lpstr>Uses of Atomic Operations</vt:lpstr>
      <vt:lpstr>Image Histogram</vt:lpstr>
      <vt:lpstr>Agenda for Today</vt:lpstr>
      <vt:lpstr>Asynchronous Data Transfers  between CPU and GPU</vt:lpstr>
      <vt:lpstr>CUDA Streams</vt:lpstr>
      <vt:lpstr>Asynchronous Transfers between CPU &amp; GPU</vt:lpstr>
      <vt:lpstr>PowerPoint Presentation</vt:lpstr>
      <vt:lpstr>Use Case: Video Processing</vt:lpstr>
      <vt:lpstr>NVIDIA H100 Tensor Memory Accelerator</vt:lpstr>
      <vt:lpstr>State-of-the-art CPU GPU and FPGA</vt:lpstr>
      <vt:lpstr>Limitation of GPU</vt:lpstr>
      <vt:lpstr>Limitation of GPU</vt:lpstr>
      <vt:lpstr>Nvidia’s Success: Transparent Scalability</vt:lpstr>
      <vt:lpstr>Key Messages:</vt:lpstr>
      <vt:lpstr>Prog. Model 3: Multithreaded</vt:lpstr>
      <vt:lpstr>A GPU is a SIMD (SIMT) Machine</vt:lpstr>
      <vt:lpstr>SIMD vs. SIMT Execution Model</vt:lpstr>
      <vt:lpstr>Brief Review of GPU Architecture (I)</vt:lpstr>
      <vt:lpstr>Brief Review of GPU Architecture (II)</vt:lpstr>
      <vt:lpstr>Brief Review of GPU Architecture (III)</vt:lpstr>
      <vt:lpstr>Graphics Processing Units SIMD not Exposed to Programmer (SIMT)</vt:lpstr>
      <vt:lpstr>SIMD vs. SIMT Execution Model</vt:lpstr>
      <vt:lpstr>High-Level View of a GPU</vt:lpstr>
      <vt:lpstr>Latency Hiding via Warp-Level FGMT</vt:lpstr>
      <vt:lpstr>Warp Execution (Recall the Slide)</vt:lpstr>
      <vt:lpstr>PowerPoint Presentation</vt:lpstr>
      <vt:lpstr>Warps not Exposed to GPU Programmers</vt:lpstr>
      <vt:lpstr>From Blocks to Warps</vt:lpstr>
      <vt:lpstr>SPMD</vt:lpstr>
      <vt:lpstr>Dynamic Warp Formation/Merging</vt:lpstr>
      <vt:lpstr>Dynamic Warp Formation/Merging</vt:lpstr>
      <vt:lpstr>Dynamic Warp Formation Example</vt:lpstr>
      <vt:lpstr>Hardware Constraints Limit Flexibility of Warp Grouping</vt:lpstr>
      <vt:lpstr>Clarification of Some GPU Terms</vt:lpstr>
      <vt:lpstr>Programming Model vs. Hardware Execution Model</vt:lpstr>
      <vt:lpstr>NVIDIA H100 Block Diagram</vt:lpstr>
      <vt:lpstr>NVIDIA H100 Core</vt:lpstr>
      <vt:lpstr>NVIDIA H100 Distributed Shared Memory</vt:lpstr>
      <vt:lpstr>Optimized Parallel Reduction</vt:lpstr>
      <vt:lpstr>Reduction with Atomic Operations</vt:lpstr>
      <vt:lpstr>Video Processing: Performance Results (I)</vt:lpstr>
      <vt:lpstr>Video Processing: Performance Results (II)</vt:lpstr>
      <vt:lpstr>Performance Considerations</vt:lpstr>
      <vt:lpstr>Recommended Readings</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18-741  Advanced Computer Architecture Lecture 1: Intro and Basics</dc:title>
  <dc:creator>Onur Mutlu</dc:creator>
  <cp:lastModifiedBy>Zeke Wang</cp:lastModifiedBy>
  <cp:revision>1166</cp:revision>
  <cp:lastPrinted>2019-05-10T08:04:42Z</cp:lastPrinted>
  <dcterms:created xsi:type="dcterms:W3CDTF">2010-09-08T00:51:32Z</dcterms:created>
  <dcterms:modified xsi:type="dcterms:W3CDTF">2026-04-20T05:19:47Z</dcterms:modified>
</cp:coreProperties>
</file>