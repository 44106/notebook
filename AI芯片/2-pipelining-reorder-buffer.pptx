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8.xml" ContentType="application/vnd.openxmlformats-officedocument.presentationml.notesSlide+xml"/>
  <Override PartName="/ppt/tags/tag4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5027" r:id="rId2"/>
  </p:sldMasterIdLst>
  <p:notesMasterIdLst>
    <p:notesMasterId r:id="rId85"/>
  </p:notesMasterIdLst>
  <p:handoutMasterIdLst>
    <p:handoutMasterId r:id="rId86"/>
  </p:handoutMasterIdLst>
  <p:sldIdLst>
    <p:sldId id="5149" r:id="rId3"/>
    <p:sldId id="5821" r:id="rId4"/>
    <p:sldId id="5018" r:id="rId5"/>
    <p:sldId id="16562049" r:id="rId6"/>
    <p:sldId id="16562050" r:id="rId7"/>
    <p:sldId id="16562051" r:id="rId8"/>
    <p:sldId id="16562052" r:id="rId9"/>
    <p:sldId id="1412" r:id="rId10"/>
    <p:sldId id="16562048" r:id="rId11"/>
    <p:sldId id="6061" r:id="rId12"/>
    <p:sldId id="6057" r:id="rId13"/>
    <p:sldId id="6149" r:id="rId14"/>
    <p:sldId id="6058" r:id="rId15"/>
    <p:sldId id="6059" r:id="rId16"/>
    <p:sldId id="6060" r:id="rId17"/>
    <p:sldId id="6150" r:id="rId18"/>
    <p:sldId id="1162" r:id="rId19"/>
    <p:sldId id="5977" r:id="rId20"/>
    <p:sldId id="1181" r:id="rId21"/>
    <p:sldId id="6151" r:id="rId22"/>
    <p:sldId id="5156" r:id="rId23"/>
    <p:sldId id="5160" r:id="rId24"/>
    <p:sldId id="5979" r:id="rId25"/>
    <p:sldId id="5982" r:id="rId26"/>
    <p:sldId id="5157" r:id="rId27"/>
    <p:sldId id="5158" r:id="rId28"/>
    <p:sldId id="5983" r:id="rId29"/>
    <p:sldId id="5169" r:id="rId30"/>
    <p:sldId id="1141" r:id="rId31"/>
    <p:sldId id="5980" r:id="rId32"/>
    <p:sldId id="5161" r:id="rId33"/>
    <p:sldId id="925" r:id="rId34"/>
    <p:sldId id="1177" r:id="rId35"/>
    <p:sldId id="5981" r:id="rId36"/>
    <p:sldId id="5162" r:id="rId37"/>
    <p:sldId id="5163" r:id="rId38"/>
    <p:sldId id="5164" r:id="rId39"/>
    <p:sldId id="5165" r:id="rId40"/>
    <p:sldId id="5166" r:id="rId41"/>
    <p:sldId id="5167" r:id="rId42"/>
    <p:sldId id="6153" r:id="rId43"/>
    <p:sldId id="5183" r:id="rId44"/>
    <p:sldId id="6154" r:id="rId45"/>
    <p:sldId id="6199" r:id="rId46"/>
    <p:sldId id="5714" r:id="rId47"/>
    <p:sldId id="1641" r:id="rId48"/>
    <p:sldId id="1085" r:id="rId49"/>
    <p:sldId id="1119" r:id="rId50"/>
    <p:sldId id="6135" r:id="rId51"/>
    <p:sldId id="6136" r:id="rId52"/>
    <p:sldId id="6068" r:id="rId53"/>
    <p:sldId id="6155" r:id="rId54"/>
    <p:sldId id="1270" r:id="rId55"/>
    <p:sldId id="5994" r:id="rId56"/>
    <p:sldId id="6156" r:id="rId57"/>
    <p:sldId id="5985" r:id="rId58"/>
    <p:sldId id="1272" r:id="rId59"/>
    <p:sldId id="1273" r:id="rId60"/>
    <p:sldId id="1274" r:id="rId61"/>
    <p:sldId id="1275" r:id="rId62"/>
    <p:sldId id="5986" r:id="rId63"/>
    <p:sldId id="5987" r:id="rId64"/>
    <p:sldId id="5988" r:id="rId65"/>
    <p:sldId id="1276" r:id="rId66"/>
    <p:sldId id="6157" r:id="rId67"/>
    <p:sldId id="6140" r:id="rId68"/>
    <p:sldId id="6146" r:id="rId69"/>
    <p:sldId id="6158" r:id="rId70"/>
    <p:sldId id="1277" r:id="rId71"/>
    <p:sldId id="5151" r:id="rId72"/>
    <p:sldId id="6142" r:id="rId73"/>
    <p:sldId id="5185" r:id="rId74"/>
    <p:sldId id="5153" r:id="rId75"/>
    <p:sldId id="5186" r:id="rId76"/>
    <p:sldId id="5155" r:id="rId77"/>
    <p:sldId id="5187" r:id="rId78"/>
    <p:sldId id="1256" r:id="rId79"/>
    <p:sldId id="6138" r:id="rId80"/>
    <p:sldId id="6147" r:id="rId81"/>
    <p:sldId id="5159" r:id="rId82"/>
    <p:sldId id="1254" r:id="rId83"/>
    <p:sldId id="6148" r:id="rId8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432FF"/>
    <a:srgbClr val="FF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32" autoAdjust="0"/>
    <p:restoredTop sz="83469" autoAdjust="0"/>
  </p:normalViewPr>
  <p:slideViewPr>
    <p:cSldViewPr>
      <p:cViewPr varScale="1">
        <p:scale>
          <a:sx n="106" d="100"/>
          <a:sy n="106" d="100"/>
        </p:scale>
        <p:origin x="2432" y="16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163061056761843"/>
          <c:y val="4.7359957061459852E-2"/>
          <c:w val="0.79509504493756455"/>
          <c:h val="0.81445427773678447"/>
        </c:manualLayout>
      </c:layout>
      <c:lineChart>
        <c:grouping val="standard"/>
        <c:varyColors val="0"/>
        <c:ser>
          <c:idx val="0"/>
          <c:order val="0"/>
          <c:tx>
            <c:strRef>
              <c:f>Sheet1!$B$1</c:f>
              <c:strCache>
                <c:ptCount val="1"/>
                <c:pt idx="0">
                  <c:v>One-cycle CPU</c:v>
                </c:pt>
              </c:strCache>
            </c:strRef>
          </c:tx>
          <c:spPr>
            <a:ln w="28575" cap="rnd">
              <a:solidFill>
                <a:schemeClr val="accent1"/>
              </a:solidFill>
              <a:round/>
            </a:ln>
            <a:effectLst/>
          </c:spPr>
          <c:marker>
            <c:symbol val="none"/>
          </c:marker>
          <c:cat>
            <c:numRef>
              <c:f>Sheet1!$A$2:$A$32</c:f>
              <c:numCache>
                <c:formatCode>General</c:formatCode>
                <c:ptCount val="31"/>
              </c:numCache>
            </c:numRef>
          </c:cat>
          <c:val>
            <c:numRef>
              <c:f>Sheet1!$B$2:$B$32</c:f>
              <c:numCache>
                <c:formatCode>General</c:formatCode>
                <c:ptCount val="31"/>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pt idx="23">
                  <c:v>0.01</c:v>
                </c:pt>
                <c:pt idx="24">
                  <c:v>0.01</c:v>
                </c:pt>
                <c:pt idx="25">
                  <c:v>0.01</c:v>
                </c:pt>
                <c:pt idx="26">
                  <c:v>0.01</c:v>
                </c:pt>
                <c:pt idx="27">
                  <c:v>0.01</c:v>
                </c:pt>
                <c:pt idx="28">
                  <c:v>0.01</c:v>
                </c:pt>
                <c:pt idx="29">
                  <c:v>0.01</c:v>
                </c:pt>
                <c:pt idx="30">
                  <c:v>0.01</c:v>
                </c:pt>
              </c:numCache>
            </c:numRef>
          </c:val>
          <c:smooth val="0"/>
          <c:extLst>
            <c:ext xmlns:c16="http://schemas.microsoft.com/office/drawing/2014/chart" uri="{C3380CC4-5D6E-409C-BE32-E72D297353CC}">
              <c16:uniqueId val="{00000000-F277-46C7-81EA-04748F6A3A66}"/>
            </c:ext>
          </c:extLst>
        </c:ser>
        <c:ser>
          <c:idx val="1"/>
          <c:order val="1"/>
          <c:tx>
            <c:strRef>
              <c:f>Sheet1!$C$1</c:f>
              <c:strCache>
                <c:ptCount val="1"/>
                <c:pt idx="0">
                  <c:v>Pipeline CPU</c:v>
                </c:pt>
              </c:strCache>
            </c:strRef>
          </c:tx>
          <c:spPr>
            <a:ln w="28575" cap="rnd">
              <a:solidFill>
                <a:srgbClr val="0096FF"/>
              </a:solidFill>
              <a:round/>
            </a:ln>
            <a:effectLst/>
          </c:spPr>
          <c:marker>
            <c:symbol val="none"/>
          </c:marker>
          <c:cat>
            <c:numRef>
              <c:f>Sheet1!$A$2:$A$32</c:f>
              <c:numCache>
                <c:formatCode>General</c:formatCode>
                <c:ptCount val="31"/>
              </c:numCache>
            </c:numRef>
          </c:cat>
          <c:val>
            <c:numRef>
              <c:f>Sheet1!$C$2:$C$32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extLst>
            <c:ext xmlns:c16="http://schemas.microsoft.com/office/drawing/2014/chart" uri="{C3380CC4-5D6E-409C-BE32-E72D297353CC}">
              <c16:uniqueId val="{00000001-F277-46C7-81EA-04748F6A3A66}"/>
            </c:ext>
          </c:extLst>
        </c:ser>
        <c:ser>
          <c:idx val="2"/>
          <c:order val="2"/>
          <c:tx>
            <c:strRef>
              <c:f>Sheet1!$D$1</c:f>
              <c:strCache>
                <c:ptCount val="1"/>
                <c:pt idx="0">
                  <c:v>SIMD CPU</c:v>
                </c:pt>
              </c:strCache>
            </c:strRef>
          </c:tx>
          <c:spPr>
            <a:ln w="28575" cap="rnd">
              <a:solidFill>
                <a:srgbClr val="002060"/>
              </a:solidFill>
              <a:round/>
            </a:ln>
            <a:effectLst/>
          </c:spPr>
          <c:marker>
            <c:symbol val="none"/>
          </c:marker>
          <c:cat>
            <c:numRef>
              <c:f>Sheet1!$A$2:$A$32</c:f>
              <c:numCache>
                <c:formatCode>General</c:formatCode>
                <c:ptCount val="31"/>
              </c:numCache>
            </c:numRef>
          </c:cat>
          <c:val>
            <c:numRef>
              <c:f>Sheet1!$D$2:$D$32</c:f>
              <c:numCache>
                <c:formatCode>General</c:formatCode>
                <c:ptCount val="3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numCache>
            </c:numRef>
          </c:val>
          <c:smooth val="0"/>
          <c:extLst>
            <c:ext xmlns:c16="http://schemas.microsoft.com/office/drawing/2014/chart" uri="{C3380CC4-5D6E-409C-BE32-E72D297353CC}">
              <c16:uniqueId val="{00000002-F277-46C7-81EA-04748F6A3A66}"/>
            </c:ext>
          </c:extLst>
        </c:ser>
        <c:ser>
          <c:idx val="3"/>
          <c:order val="3"/>
          <c:tx>
            <c:strRef>
              <c:f>Sheet1!$E$1</c:f>
              <c:strCache>
                <c:ptCount val="1"/>
                <c:pt idx="0">
                  <c:v>GPU</c:v>
                </c:pt>
              </c:strCache>
            </c:strRef>
          </c:tx>
          <c:spPr>
            <a:ln w="28575" cap="rnd">
              <a:solidFill>
                <a:srgbClr val="00B050"/>
              </a:solidFill>
              <a:round/>
            </a:ln>
            <a:effectLst/>
          </c:spPr>
          <c:marker>
            <c:symbol val="none"/>
          </c:marker>
          <c:cat>
            <c:numRef>
              <c:f>Sheet1!$A$2:$A$32</c:f>
              <c:numCache>
                <c:formatCode>General</c:formatCode>
                <c:ptCount val="31"/>
              </c:numCache>
            </c:numRef>
          </c:cat>
          <c:val>
            <c:numRef>
              <c:f>Sheet1!$E$2:$E$32</c:f>
              <c:numCache>
                <c:formatCode>General</c:formatCode>
                <c:ptCount val="31"/>
                <c:pt idx="0">
                  <c:v>20000</c:v>
                </c:pt>
                <c:pt idx="1">
                  <c:v>20000</c:v>
                </c:pt>
                <c:pt idx="2">
                  <c:v>20000</c:v>
                </c:pt>
                <c:pt idx="3">
                  <c:v>20000</c:v>
                </c:pt>
                <c:pt idx="4">
                  <c:v>20000</c:v>
                </c:pt>
                <c:pt idx="5">
                  <c:v>20000</c:v>
                </c:pt>
                <c:pt idx="6">
                  <c:v>20000</c:v>
                </c:pt>
                <c:pt idx="7">
                  <c:v>20000</c:v>
                </c:pt>
                <c:pt idx="8">
                  <c:v>20000</c:v>
                </c:pt>
                <c:pt idx="9">
                  <c:v>20000</c:v>
                </c:pt>
                <c:pt idx="10">
                  <c:v>20000</c:v>
                </c:pt>
                <c:pt idx="11">
                  <c:v>20000</c:v>
                </c:pt>
                <c:pt idx="12">
                  <c:v>20000</c:v>
                </c:pt>
                <c:pt idx="13">
                  <c:v>20000</c:v>
                </c:pt>
                <c:pt idx="14">
                  <c:v>20000</c:v>
                </c:pt>
                <c:pt idx="15">
                  <c:v>20000</c:v>
                </c:pt>
                <c:pt idx="16">
                  <c:v>20000</c:v>
                </c:pt>
                <c:pt idx="17">
                  <c:v>20000</c:v>
                </c:pt>
                <c:pt idx="18">
                  <c:v>20000</c:v>
                </c:pt>
                <c:pt idx="19">
                  <c:v>20000</c:v>
                </c:pt>
                <c:pt idx="20">
                  <c:v>20000</c:v>
                </c:pt>
                <c:pt idx="21">
                  <c:v>20000</c:v>
                </c:pt>
                <c:pt idx="22">
                  <c:v>20000</c:v>
                </c:pt>
                <c:pt idx="23">
                  <c:v>20000</c:v>
                </c:pt>
                <c:pt idx="24">
                  <c:v>20000</c:v>
                </c:pt>
                <c:pt idx="25">
                  <c:v>20000</c:v>
                </c:pt>
                <c:pt idx="26">
                  <c:v>20000</c:v>
                </c:pt>
                <c:pt idx="27">
                  <c:v>20000</c:v>
                </c:pt>
                <c:pt idx="28">
                  <c:v>20000</c:v>
                </c:pt>
                <c:pt idx="29">
                  <c:v>20000</c:v>
                </c:pt>
                <c:pt idx="30">
                  <c:v>20000</c:v>
                </c:pt>
              </c:numCache>
            </c:numRef>
          </c:val>
          <c:smooth val="0"/>
          <c:extLst>
            <c:ext xmlns:c16="http://schemas.microsoft.com/office/drawing/2014/chart" uri="{C3380CC4-5D6E-409C-BE32-E72D297353CC}">
              <c16:uniqueId val="{00000003-F277-46C7-81EA-04748F6A3A66}"/>
            </c:ext>
          </c:extLst>
        </c:ser>
        <c:ser>
          <c:idx val="4"/>
          <c:order val="4"/>
          <c:tx>
            <c:strRef>
              <c:f>Sheet1!$F$1</c:f>
              <c:strCache>
                <c:ptCount val="1"/>
                <c:pt idx="0">
                  <c:v>VGG19</c:v>
                </c:pt>
              </c:strCache>
            </c:strRef>
          </c:tx>
          <c:spPr>
            <a:ln w="28575" cap="rnd">
              <a:solidFill>
                <a:schemeClr val="accent5"/>
              </a:solidFill>
              <a:prstDash val="dash"/>
              <a:round/>
            </a:ln>
            <a:effectLst/>
          </c:spPr>
          <c:marker>
            <c:symbol val="none"/>
          </c:marker>
          <c:cat>
            <c:numRef>
              <c:f>Sheet1!$A$2:$A$32</c:f>
              <c:numCache>
                <c:formatCode>General</c:formatCode>
                <c:ptCount val="31"/>
              </c:numCache>
            </c:numRef>
          </c:cat>
          <c:val>
            <c:numRef>
              <c:f>Sheet1!$F$2:$F$32</c:f>
              <c:numCache>
                <c:formatCode>General</c:formatCode>
                <c:ptCount val="31"/>
                <c:pt idx="0">
                  <c:v>19.600000000000001</c:v>
                </c:pt>
                <c:pt idx="1">
                  <c:v>19.600000000000001</c:v>
                </c:pt>
                <c:pt idx="2">
                  <c:v>19.600000000000001</c:v>
                </c:pt>
                <c:pt idx="3">
                  <c:v>19.600000000000001</c:v>
                </c:pt>
                <c:pt idx="4">
                  <c:v>19.600000000000001</c:v>
                </c:pt>
                <c:pt idx="5">
                  <c:v>19.600000000000001</c:v>
                </c:pt>
                <c:pt idx="6">
                  <c:v>19.600000000000001</c:v>
                </c:pt>
                <c:pt idx="7">
                  <c:v>19.600000000000001</c:v>
                </c:pt>
                <c:pt idx="8">
                  <c:v>19.600000000000001</c:v>
                </c:pt>
                <c:pt idx="9">
                  <c:v>19.600000000000001</c:v>
                </c:pt>
                <c:pt idx="10">
                  <c:v>19.600000000000001</c:v>
                </c:pt>
                <c:pt idx="11">
                  <c:v>19.600000000000001</c:v>
                </c:pt>
                <c:pt idx="12">
                  <c:v>19.600000000000001</c:v>
                </c:pt>
                <c:pt idx="13">
                  <c:v>19.600000000000001</c:v>
                </c:pt>
                <c:pt idx="14">
                  <c:v>19.600000000000001</c:v>
                </c:pt>
                <c:pt idx="15">
                  <c:v>19.600000000000001</c:v>
                </c:pt>
                <c:pt idx="16">
                  <c:v>19.600000000000001</c:v>
                </c:pt>
                <c:pt idx="17">
                  <c:v>19.600000000000001</c:v>
                </c:pt>
                <c:pt idx="18">
                  <c:v>19.600000000000001</c:v>
                </c:pt>
                <c:pt idx="19">
                  <c:v>19.600000000000001</c:v>
                </c:pt>
                <c:pt idx="20">
                  <c:v>19.600000000000001</c:v>
                </c:pt>
                <c:pt idx="21">
                  <c:v>19.600000000000001</c:v>
                </c:pt>
                <c:pt idx="22">
                  <c:v>19.600000000000001</c:v>
                </c:pt>
                <c:pt idx="23">
                  <c:v>19.600000000000001</c:v>
                </c:pt>
                <c:pt idx="24">
                  <c:v>19.600000000000001</c:v>
                </c:pt>
                <c:pt idx="25">
                  <c:v>19.600000000000001</c:v>
                </c:pt>
                <c:pt idx="26">
                  <c:v>19.600000000000001</c:v>
                </c:pt>
                <c:pt idx="27">
                  <c:v>19.600000000000001</c:v>
                </c:pt>
                <c:pt idx="28">
                  <c:v>19.600000000000001</c:v>
                </c:pt>
                <c:pt idx="29">
                  <c:v>19.600000000000001</c:v>
                </c:pt>
                <c:pt idx="30">
                  <c:v>19.600000000000001</c:v>
                </c:pt>
              </c:numCache>
            </c:numRef>
          </c:val>
          <c:smooth val="0"/>
          <c:extLst>
            <c:ext xmlns:c16="http://schemas.microsoft.com/office/drawing/2014/chart" uri="{C3380CC4-5D6E-409C-BE32-E72D297353CC}">
              <c16:uniqueId val="{00000004-F277-46C7-81EA-04748F6A3A66}"/>
            </c:ext>
          </c:extLst>
        </c:ser>
        <c:ser>
          <c:idx val="5"/>
          <c:order val="5"/>
          <c:tx>
            <c:strRef>
              <c:f>Sheet1!$G$1</c:f>
              <c:strCache>
                <c:ptCount val="1"/>
                <c:pt idx="0">
                  <c:v>GPT-3</c:v>
                </c:pt>
              </c:strCache>
            </c:strRef>
          </c:tx>
          <c:spPr>
            <a:ln w="28575" cap="rnd">
              <a:solidFill>
                <a:schemeClr val="accent6"/>
              </a:solidFill>
              <a:prstDash val="dash"/>
              <a:round/>
            </a:ln>
            <a:effectLst/>
          </c:spPr>
          <c:marker>
            <c:symbol val="none"/>
          </c:marker>
          <c:cat>
            <c:numRef>
              <c:f>Sheet1!$A$2:$A$32</c:f>
              <c:numCache>
                <c:formatCode>General</c:formatCode>
                <c:ptCount val="31"/>
              </c:numCache>
            </c:numRef>
          </c:cat>
          <c:val>
            <c:numRef>
              <c:f>Sheet1!$G$2:$G$32</c:f>
              <c:numCache>
                <c:formatCode>General</c:formatCode>
                <c:ptCount val="31"/>
                <c:pt idx="0">
                  <c:v>250000</c:v>
                </c:pt>
                <c:pt idx="1">
                  <c:v>250000</c:v>
                </c:pt>
                <c:pt idx="2">
                  <c:v>250000</c:v>
                </c:pt>
                <c:pt idx="3">
                  <c:v>250000</c:v>
                </c:pt>
                <c:pt idx="4">
                  <c:v>250000</c:v>
                </c:pt>
                <c:pt idx="5">
                  <c:v>250000</c:v>
                </c:pt>
                <c:pt idx="6">
                  <c:v>250000</c:v>
                </c:pt>
                <c:pt idx="7">
                  <c:v>250000</c:v>
                </c:pt>
                <c:pt idx="8">
                  <c:v>250000</c:v>
                </c:pt>
                <c:pt idx="9">
                  <c:v>250000</c:v>
                </c:pt>
                <c:pt idx="10">
                  <c:v>250000</c:v>
                </c:pt>
                <c:pt idx="11">
                  <c:v>250000</c:v>
                </c:pt>
                <c:pt idx="12">
                  <c:v>250000</c:v>
                </c:pt>
                <c:pt idx="13">
                  <c:v>250000</c:v>
                </c:pt>
                <c:pt idx="14">
                  <c:v>250000</c:v>
                </c:pt>
                <c:pt idx="15">
                  <c:v>250000</c:v>
                </c:pt>
                <c:pt idx="16">
                  <c:v>250000</c:v>
                </c:pt>
                <c:pt idx="17">
                  <c:v>250000</c:v>
                </c:pt>
                <c:pt idx="18">
                  <c:v>250000</c:v>
                </c:pt>
                <c:pt idx="19">
                  <c:v>250000</c:v>
                </c:pt>
                <c:pt idx="20">
                  <c:v>250000</c:v>
                </c:pt>
                <c:pt idx="21">
                  <c:v>250000</c:v>
                </c:pt>
                <c:pt idx="22">
                  <c:v>250000</c:v>
                </c:pt>
                <c:pt idx="23">
                  <c:v>250000</c:v>
                </c:pt>
                <c:pt idx="24">
                  <c:v>250000</c:v>
                </c:pt>
                <c:pt idx="25">
                  <c:v>250000</c:v>
                </c:pt>
                <c:pt idx="26">
                  <c:v>250000</c:v>
                </c:pt>
                <c:pt idx="27">
                  <c:v>250000</c:v>
                </c:pt>
                <c:pt idx="28">
                  <c:v>250000</c:v>
                </c:pt>
                <c:pt idx="29">
                  <c:v>250000</c:v>
                </c:pt>
                <c:pt idx="30">
                  <c:v>250000</c:v>
                </c:pt>
              </c:numCache>
            </c:numRef>
          </c:val>
          <c:smooth val="0"/>
          <c:extLst>
            <c:ext xmlns:c16="http://schemas.microsoft.com/office/drawing/2014/chart" uri="{C3380CC4-5D6E-409C-BE32-E72D297353CC}">
              <c16:uniqueId val="{00000005-F277-46C7-81EA-04748F6A3A66}"/>
            </c:ext>
          </c:extLst>
        </c:ser>
        <c:dLbls>
          <c:showLegendKey val="0"/>
          <c:showVal val="0"/>
          <c:showCatName val="0"/>
          <c:showSerName val="0"/>
          <c:showPercent val="0"/>
          <c:showBubbleSize val="0"/>
        </c:dLbls>
        <c:smooth val="0"/>
        <c:axId val="27724640"/>
        <c:axId val="430957568"/>
      </c:lineChart>
      <c:catAx>
        <c:axId val="27724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30957568"/>
        <c:crosses val="autoZero"/>
        <c:auto val="1"/>
        <c:lblAlgn val="ctr"/>
        <c:lblOffset val="100"/>
        <c:noMultiLvlLbl val="0"/>
      </c:catAx>
      <c:valAx>
        <c:axId val="430957568"/>
        <c:scaling>
          <c:logBase val="10"/>
          <c:orientation val="minMax"/>
          <c:max val="1000000"/>
          <c:min val="1.0000000000000002E-3"/>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ltLang="zh-CN" sz="1400" b="1" dirty="0"/>
                  <a:t>Throughput</a:t>
                </a:r>
                <a:r>
                  <a:rPr lang="en-US" altLang="zh-CN" sz="1400" b="1" baseline="0" dirty="0"/>
                  <a:t> (GOPs/s)</a:t>
                </a:r>
                <a:endParaRPr lang="zh-CN" altLang="en-US" sz="1400" b="1" dirty="0"/>
              </a:p>
            </c:rich>
          </c:tx>
          <c:layout>
            <c:manualLayout>
              <c:xMode val="edge"/>
              <c:yMode val="edge"/>
              <c:x val="2.422717993584135E-2"/>
              <c:y val="0.20193539155192369"/>
            </c:manualLayout>
          </c:layout>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zh-CN" altLang="en-US"/>
            </a:p>
          </c:txPr>
        </c:title>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Bahnschrift Light" panose="020B0502040204020203" pitchFamily="34" charset="0"/>
                <a:ea typeface="+mn-ea"/>
                <a:cs typeface="+mn-cs"/>
              </a:defRPr>
            </a:pPr>
            <a:endParaRPr lang="zh-CN"/>
          </a:p>
        </c:txPr>
        <c:crossAx val="27724640"/>
        <c:crosses val="autoZero"/>
        <c:crossBetween val="between"/>
      </c:valAx>
      <c:spPr>
        <a:noFill/>
        <a:ln>
          <a:solidFill>
            <a:schemeClr val="accent6"/>
          </a:solidFill>
        </a:ln>
        <a:effectLst/>
      </c:spPr>
    </c:plotArea>
    <c:legend>
      <c:legendPos val="b"/>
      <c:layout>
        <c:manualLayout>
          <c:xMode val="edge"/>
          <c:yMode val="edge"/>
          <c:x val="0"/>
          <c:y val="0.91858075197812983"/>
          <c:w val="1"/>
          <c:h val="4.96344069460755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48EB407-99B1-7B48-B34F-162EF7D583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7FE435BF-6CDD-7D4D-8141-29F7A822A2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698CE0C1-C743-EF4B-8981-78EA12EFC89B}" type="datetimeFigureOut">
              <a:rPr lang="en-US"/>
              <a:pPr>
                <a:defRPr/>
              </a:pPr>
              <a:t>3/9/26</a:t>
            </a:fld>
            <a:endParaRPr lang="en-US"/>
          </a:p>
        </p:txBody>
      </p:sp>
      <p:sp>
        <p:nvSpPr>
          <p:cNvPr id="4" name="Footer Placeholder 3">
            <a:extLst>
              <a:ext uri="{FF2B5EF4-FFF2-40B4-BE49-F238E27FC236}">
                <a16:creationId xmlns:a16="http://schemas.microsoft.com/office/drawing/2014/main" id="{58D3DD79-75E1-7941-871A-61C0889A522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30BF9EBC-9279-0A40-92B8-2B74B763AA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charset="0"/>
                <a:ea typeface="ＭＳ Ｐゴシック" charset="-128"/>
              </a:defRPr>
            </a:lvl1pPr>
          </a:lstStyle>
          <a:p>
            <a:pPr>
              <a:defRPr/>
            </a:pPr>
            <a:fld id="{AC70593E-066F-B54A-AC3B-884F8A497E49}"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B3A284-2D72-7346-96C1-0822359391F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a:extLst>
              <a:ext uri="{FF2B5EF4-FFF2-40B4-BE49-F238E27FC236}">
                <a16:creationId xmlns:a16="http://schemas.microsoft.com/office/drawing/2014/main" id="{3C340874-855C-7D4B-8059-92C02B8F265D}"/>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3F4AA869-E495-BD45-937E-18D84A6A69B6}" type="datetime1">
              <a:rPr lang="en-US" altLang="en-US"/>
              <a:pPr>
                <a:defRPr/>
              </a:pPr>
              <a:t>3/9/26</a:t>
            </a:fld>
            <a:endParaRPr lang="en-US" altLang="en-US"/>
          </a:p>
        </p:txBody>
      </p:sp>
      <p:sp>
        <p:nvSpPr>
          <p:cNvPr id="4" name="Slide Image Placeholder 3">
            <a:extLst>
              <a:ext uri="{FF2B5EF4-FFF2-40B4-BE49-F238E27FC236}">
                <a16:creationId xmlns:a16="http://schemas.microsoft.com/office/drawing/2014/main" id="{982D69DC-5824-F640-9F4D-E904F34A733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1E2E9B3-11FA-9246-AC4A-F248142BF209}"/>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8FE947F-1F5A-6040-9606-86B5582B857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a:extLst>
              <a:ext uri="{FF2B5EF4-FFF2-40B4-BE49-F238E27FC236}">
                <a16:creationId xmlns:a16="http://schemas.microsoft.com/office/drawing/2014/main" id="{7D221294-541C-3A4D-8F17-AA62677AC959}"/>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194A2244-8C6B-0D46-B48B-C6CB08A6C4C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2FC3B07F-CC2D-544D-A549-20D869558D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7F0A109B-DF8C-2C43-8405-37A43CC5297A}" type="slidenum">
              <a:rPr lang="en-US" altLang="en-US" smtClean="0">
                <a:solidFill>
                  <a:srgbClr val="000000"/>
                </a:solidFill>
                <a:latin typeface="Arial" panose="020B0604020202020204" pitchFamily="34" charset="0"/>
                <a:cs typeface="Arial" panose="020B0604020202020204" pitchFamily="34" charset="0"/>
              </a:rPr>
              <a:pPr>
                <a:spcBef>
                  <a:spcPct val="0"/>
                </a:spcBef>
              </a:pPr>
              <a:t>1</a:t>
            </a:fld>
            <a:endParaRPr lang="en-US" altLang="en-US">
              <a:solidFill>
                <a:srgbClr val="000000"/>
              </a:solidFill>
              <a:latin typeface="Arial" panose="020B0604020202020204" pitchFamily="34" charset="0"/>
              <a:cs typeface="Arial" panose="020B0604020202020204" pitchFamily="34" charset="0"/>
            </a:endParaRPr>
          </a:p>
        </p:txBody>
      </p:sp>
      <p:sp>
        <p:nvSpPr>
          <p:cNvPr id="21506" name="Rectangle 2">
            <a:extLst>
              <a:ext uri="{FF2B5EF4-FFF2-40B4-BE49-F238E27FC236}">
                <a16:creationId xmlns:a16="http://schemas.microsoft.com/office/drawing/2014/main" id="{621E1F61-C27A-A741-9AE1-1C3BC1AD631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A04B8A8E-8138-E049-BFF6-2717F19652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0722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works rely on many different methodology's to identify memory bottlenecks in a system. Often, such methodologies are intuitively used as a indication of NDP suitability for a given application</a:t>
            </a:r>
          </a:p>
          <a:p>
            <a:endParaRPr lang="en-US" dirty="0"/>
          </a:p>
          <a:p>
            <a:pPr marL="0" indent="0">
              <a:buFontTx/>
              <a:buNone/>
            </a:pPr>
            <a:r>
              <a:rPr lang="en-US" dirty="0"/>
              <a:t>[CLICK] However, as I will show next, none of those models are comprehensive enough to identify memory bottlenecks and NDP suitability. This happens because these models are built targeting to identify specific sources of data movement bottlenecks, and often their definitions of compute and memory bound are not enough to indicate NDP suitability. </a:t>
            </a:r>
          </a:p>
          <a:p>
            <a:endParaRPr lang="en-US" dirty="0"/>
          </a:p>
          <a:p>
            <a:r>
              <a:rPr lang="en-US" dirty="0"/>
              <a:t>[CLICK] For that, we will analyze two commonly used approaches: the roofline model, which correlates the arithmetic intensity of an application with performance, </a:t>
            </a:r>
          </a:p>
          <a:p>
            <a:endParaRPr lang="en-US" dirty="0"/>
          </a:p>
          <a:p>
            <a:r>
              <a:rPr lang="en-US" dirty="0"/>
              <a:t>[CLICK]  and identifying application that has high misses-per-kilo instructions or MPKI. </a:t>
            </a:r>
          </a:p>
          <a:p>
            <a:endParaRPr lang="en-US" dirty="0"/>
          </a:p>
          <a:p>
            <a:endParaRPr lang="en-US" dirty="0"/>
          </a:p>
          <a:p>
            <a:r>
              <a:rPr lang="en-US" dirty="0"/>
              <a:t>[NEXT]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E676A0-33B1-4B4B-B1AA-B0B917FCAA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2576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a:t>这里server不太合理</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6</a:t>
            </a:fld>
            <a:endParaRPr lang="en-US" altLang="en-US"/>
          </a:p>
        </p:txBody>
      </p:sp>
    </p:spTree>
    <p:extLst>
      <p:ext uri="{BB962C8B-B14F-4D97-AF65-F5344CB8AC3E}">
        <p14:creationId xmlns:p14="http://schemas.microsoft.com/office/powerpoint/2010/main" val="3636976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Every application can be descripted by this complete design von Neumann</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8</a:t>
            </a:fld>
            <a:endParaRPr lang="en-US" altLang="en-US"/>
          </a:p>
        </p:txBody>
      </p:sp>
    </p:spTree>
    <p:extLst>
      <p:ext uri="{BB962C8B-B14F-4D97-AF65-F5344CB8AC3E}">
        <p14:creationId xmlns:p14="http://schemas.microsoft.com/office/powerpoint/2010/main" val="3173471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下面，从寄存器文件来说结构冲突：多少个读口，多少个写口才能解决冲突？</a:t>
            </a:r>
            <a:endParaRPr lang="en-US" altLang="zh-CN" dirty="0"/>
          </a:p>
          <a:p>
            <a:r>
              <a:rPr lang="zh-CN" altLang="en-US" dirty="0"/>
              <a:t>答案：两个读口 一个写口</a:t>
            </a:r>
            <a:endParaRPr lang="en-US" altLang="zh-CN" dirty="0"/>
          </a:p>
          <a:p>
            <a:endParaRPr lang="en-US" altLang="zh-CN" dirty="0"/>
          </a:p>
          <a:p>
            <a:r>
              <a:rPr lang="en-US" altLang="zh-CN" dirty="0"/>
              <a:t>Generalization</a:t>
            </a:r>
            <a:r>
              <a:rPr lang="zh-CN" altLang="en-US" dirty="0"/>
              <a:t>：硬件设计需要满足最坏</a:t>
            </a:r>
            <a:r>
              <a:rPr lang="zh-CN" altLang="en-US"/>
              <a:t>的情况</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14</a:t>
            </a:fld>
            <a:endParaRPr lang="en-US" altLang="en-US"/>
          </a:p>
        </p:txBody>
      </p:sp>
    </p:spTree>
    <p:extLst>
      <p:ext uri="{BB962C8B-B14F-4D97-AF65-F5344CB8AC3E}">
        <p14:creationId xmlns:p14="http://schemas.microsoft.com/office/powerpoint/2010/main" val="877228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15</a:t>
            </a:fld>
            <a:endParaRPr lang="en-US" altLang="en-US"/>
          </a:p>
        </p:txBody>
      </p:sp>
    </p:spTree>
    <p:extLst>
      <p:ext uri="{BB962C8B-B14F-4D97-AF65-F5344CB8AC3E}">
        <p14:creationId xmlns:p14="http://schemas.microsoft.com/office/powerpoint/2010/main" val="3500773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3B9F1D95-8DCD-6344-8646-4611AEE297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E786F4-9693-7A48-9026-B67B24D024D2}" type="slidenum">
              <a:rPr kumimoji="0" lang="en-US" altLang="en-US" sz="11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1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586" name="Rectangle 2">
            <a:extLst>
              <a:ext uri="{FF2B5EF4-FFF2-40B4-BE49-F238E27FC236}">
                <a16:creationId xmlns:a16="http://schemas.microsoft.com/office/drawing/2014/main" id="{C24A4E79-FB56-5D4E-BB2E-FF677D67164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a:extLst>
              <a:ext uri="{FF2B5EF4-FFF2-40B4-BE49-F238E27FC236}">
                <a16:creationId xmlns:a16="http://schemas.microsoft.com/office/drawing/2014/main" id="{33F3FB2A-06F9-D74E-A582-E6E5DBC38B9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18103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25</a:t>
            </a:fld>
            <a:endParaRPr lang="en-US" altLang="en-US"/>
          </a:p>
        </p:txBody>
      </p:sp>
    </p:spTree>
    <p:extLst>
      <p:ext uri="{BB962C8B-B14F-4D97-AF65-F5344CB8AC3E}">
        <p14:creationId xmlns:p14="http://schemas.microsoft.com/office/powerpoint/2010/main" val="219807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11E8002C-AD2A-274C-B610-E052BF35716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70A8C5C-C0BF-5040-BECC-E7205E582C6C}" type="slidenum">
              <a:rPr kumimoji="0" lang="en-US" altLang="en-US" sz="11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83970" name="Rectangle 2">
            <a:extLst>
              <a:ext uri="{FF2B5EF4-FFF2-40B4-BE49-F238E27FC236}">
                <a16:creationId xmlns:a16="http://schemas.microsoft.com/office/drawing/2014/main" id="{D68DB94D-5F3C-AC44-8B2F-94F6CE95359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Rectangle 3">
            <a:extLst>
              <a:ext uri="{FF2B5EF4-FFF2-40B4-BE49-F238E27FC236}">
                <a16:creationId xmlns:a16="http://schemas.microsoft.com/office/drawing/2014/main" id="{85F76D4D-B4D6-1E4A-BE63-C1E89F97225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23611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9C459384-1DA8-F344-8413-DC6AA1714DB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5B3A00F-784F-2043-8547-6AF97D4C16D2}" type="slidenum">
              <a:rPr lang="en-US" altLang="en-US" sz="1100" smtClean="0">
                <a:latin typeface="Arial" panose="020B0604020202020204" pitchFamily="34" charset="0"/>
              </a:rPr>
              <a:pPr>
                <a:spcBef>
                  <a:spcPct val="0"/>
                </a:spcBef>
              </a:pPr>
              <a:t>29</a:t>
            </a:fld>
            <a:endParaRPr lang="en-US" altLang="en-US" sz="1100">
              <a:latin typeface="Arial" panose="020B0604020202020204" pitchFamily="34" charset="0"/>
            </a:endParaRPr>
          </a:p>
        </p:txBody>
      </p:sp>
      <p:sp>
        <p:nvSpPr>
          <p:cNvPr id="32770" name="Rectangle 2">
            <a:extLst>
              <a:ext uri="{FF2B5EF4-FFF2-40B4-BE49-F238E27FC236}">
                <a16:creationId xmlns:a16="http://schemas.microsoft.com/office/drawing/2014/main" id="{6DD917EE-DB9D-2245-ABFD-7BEA4A589F8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9873DFC-54DC-F54E-A69F-675E41125BE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69098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majority of you will not work on Systems.</a:t>
            </a:r>
          </a:p>
          <a:p>
            <a:endParaRPr lang="en-US" altLang="zh-CN" dirty="0"/>
          </a:p>
          <a:p>
            <a:r>
              <a:rPr lang="en-US" altLang="zh-CN" dirty="0"/>
              <a:t> But you should know the key principles that help you understand the system on which your AI task runs. </a:t>
            </a:r>
          </a:p>
          <a:p>
            <a:endParaRPr lang="en-US" altLang="zh-CN" dirty="0"/>
          </a:p>
          <a:p>
            <a:r>
              <a:rPr lang="en-US" altLang="zh-CN" dirty="0"/>
              <a:t>Our course has to include both computer architecture and AI chip courses. </a:t>
            </a:r>
          </a:p>
          <a:p>
            <a:endParaRPr lang="en-US" altLang="zh-CN" dirty="0"/>
          </a:p>
          <a:p>
            <a:endParaRPr lang="en-US" altLang="zh-CN" dirty="0"/>
          </a:p>
          <a:p>
            <a:endParaRPr lang="en-US" altLang="zh-CN" dirty="0"/>
          </a:p>
        </p:txBody>
      </p:sp>
      <p:sp>
        <p:nvSpPr>
          <p:cNvPr id="4" name="Slide Number Placeholder 3"/>
          <p:cNvSpPr>
            <a:spLocks noGrp="1"/>
          </p:cNvSpPr>
          <p:nvPr>
            <p:ph type="sldNum" sz="quarter" idx="5"/>
          </p:nvPr>
        </p:nvSpPr>
        <p:spPr/>
        <p:txBody>
          <a:bodyPr/>
          <a:lstStyle/>
          <a:p>
            <a:fld id="{9606A79A-48AC-6344-A926-7E6ABD53936B}" type="slidenum">
              <a:rPr lang="en-US" smtClean="0"/>
              <a:t>32</a:t>
            </a:fld>
            <a:endParaRPr lang="en-US"/>
          </a:p>
        </p:txBody>
      </p:sp>
    </p:spTree>
    <p:extLst>
      <p:ext uri="{BB962C8B-B14F-4D97-AF65-F5344CB8AC3E}">
        <p14:creationId xmlns:p14="http://schemas.microsoft.com/office/powerpoint/2010/main" val="1891392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B3D90F96-A837-4A40-B82A-F1148562756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D8FB03C-A529-6F45-A63A-EC3C0BE9522C}" type="slidenum">
              <a:rPr kumimoji="0" lang="en-US" altLang="en-US" sz="11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1682" name="Rectangle 2">
            <a:extLst>
              <a:ext uri="{FF2B5EF4-FFF2-40B4-BE49-F238E27FC236}">
                <a16:creationId xmlns:a16="http://schemas.microsoft.com/office/drawing/2014/main" id="{6E967DCD-9717-2E4D-9ACE-931193D6D8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a:extLst>
              <a:ext uri="{FF2B5EF4-FFF2-40B4-BE49-F238E27FC236}">
                <a16:creationId xmlns:a16="http://schemas.microsoft.com/office/drawing/2014/main" id="{E35DF2EA-8BD5-844F-B73C-15F5A0098D7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latin typeface="Arial" panose="020B0604020202020204" pitchFamily="34" charset="0"/>
                <a:ea typeface="ＭＳ Ｐゴシック" panose="020B0600070205080204" pitchFamily="34" charset="-128"/>
              </a:rPr>
              <a:t>关于</a:t>
            </a:r>
            <a:r>
              <a:rPr lang="en-US" altLang="zh-CN" dirty="0">
                <a:latin typeface="Arial" panose="020B0604020202020204" pitchFamily="34" charset="0"/>
                <a:ea typeface="ＭＳ Ｐゴシック" panose="020B0600070205080204" pitchFamily="34" charset="-128"/>
              </a:rPr>
              <a:t>s0 </a:t>
            </a:r>
            <a:r>
              <a:rPr lang="zh-CN" altLang="en-US" dirty="0">
                <a:latin typeface="Arial" panose="020B0604020202020204" pitchFamily="34" charset="0"/>
                <a:ea typeface="ＭＳ Ｐゴシック" panose="020B0600070205080204" pitchFamily="34" charset="-128"/>
              </a:rPr>
              <a:t>有依赖。。。第一条写，后面读。。。</a:t>
            </a:r>
            <a:endParaRPr lang="de-DE"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865113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56A8C75F-F1B7-274E-8548-AA5F4CFCE4C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EF4F50-0531-5F47-8D72-7586E12016B9}" type="slidenum">
              <a:rPr kumimoji="0" lang="en-US" altLang="en-US" sz="11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3730" name="Rectangle 2">
            <a:extLst>
              <a:ext uri="{FF2B5EF4-FFF2-40B4-BE49-F238E27FC236}">
                <a16:creationId xmlns:a16="http://schemas.microsoft.com/office/drawing/2014/main" id="{76688B7B-5357-7743-A66A-8C2B96BC1ED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a:extLst>
              <a:ext uri="{FF2B5EF4-FFF2-40B4-BE49-F238E27FC236}">
                <a16:creationId xmlns:a16="http://schemas.microsoft.com/office/drawing/2014/main" id="{72237EBC-37DF-5748-A2AB-5CA9D71EB7E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err="1">
                <a:latin typeface="Arial" panose="020B0604020202020204" pitchFamily="34" charset="0"/>
                <a:ea typeface="ＭＳ Ｐゴシック" panose="020B0600070205080204" pitchFamily="34" charset="-128"/>
              </a:rPr>
              <a:t>Rse</a:t>
            </a:r>
            <a:r>
              <a:rPr lang="en-US" altLang="zh-CN" dirty="0">
                <a:latin typeface="Arial" panose="020B0604020202020204" pitchFamily="34" charset="0"/>
                <a:ea typeface="ＭＳ Ｐゴシック" panose="020B0600070205080204" pitchFamily="34" charset="-128"/>
              </a:rPr>
              <a:t> </a:t>
            </a:r>
            <a:r>
              <a:rPr lang="en-US" altLang="zh-CN" dirty="0" err="1">
                <a:latin typeface="Arial" panose="020B0604020202020204" pitchFamily="34" charset="0"/>
                <a:ea typeface="ＭＳ Ｐゴシック" panose="020B0600070205080204" pitchFamily="34" charset="-128"/>
              </a:rPr>
              <a:t>rte</a:t>
            </a:r>
            <a:r>
              <a:rPr lang="en-US" altLang="zh-CN" dirty="0">
                <a:latin typeface="Arial" panose="020B0604020202020204" pitchFamily="34" charset="0"/>
                <a:ea typeface="ＭＳ Ｐゴシック" panose="020B0600070205080204" pitchFamily="34" charset="-128"/>
              </a:rPr>
              <a:t> </a:t>
            </a:r>
            <a:r>
              <a:rPr lang="zh-CN" altLang="en-US" dirty="0">
                <a:latin typeface="Arial" panose="020B0604020202020204" pitchFamily="34" charset="0"/>
                <a:ea typeface="ＭＳ Ｐゴシック" panose="020B0600070205080204" pitchFamily="34" charset="-128"/>
              </a:rPr>
              <a:t>是对应的读寄存器，</a:t>
            </a:r>
            <a:endParaRPr lang="en-US" altLang="zh-CN"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zh-CN" dirty="0" err="1">
                <a:latin typeface="Arial" panose="020B0604020202020204" pitchFamily="34" charset="0"/>
                <a:ea typeface="ＭＳ Ｐゴシック" panose="020B0600070205080204" pitchFamily="34" charset="-128"/>
              </a:rPr>
              <a:t>regwriteM</a:t>
            </a:r>
            <a:r>
              <a:rPr lang="en-US" altLang="zh-CN" dirty="0">
                <a:latin typeface="Arial" panose="020B0604020202020204" pitchFamily="34" charset="0"/>
                <a:ea typeface="ＭＳ Ｐゴシック" panose="020B0600070205080204" pitchFamily="34" charset="-128"/>
              </a:rPr>
              <a:t>    memory stage</a:t>
            </a:r>
          </a:p>
          <a:p>
            <a:r>
              <a:rPr lang="en-US" altLang="zh-CN" dirty="0" err="1">
                <a:latin typeface="Arial" panose="020B0604020202020204" pitchFamily="34" charset="0"/>
                <a:ea typeface="ＭＳ Ｐゴシック" panose="020B0600070205080204" pitchFamily="34" charset="-128"/>
              </a:rPr>
              <a:t>regwriteW</a:t>
            </a:r>
            <a:r>
              <a:rPr lang="en-US" altLang="zh-CN" dirty="0">
                <a:latin typeface="Arial" panose="020B0604020202020204" pitchFamily="34" charset="0"/>
                <a:ea typeface="ＭＳ Ｐゴシック" panose="020B0600070205080204" pitchFamily="34" charset="-128"/>
              </a:rPr>
              <a:t>   write back stage</a:t>
            </a:r>
          </a:p>
          <a:p>
            <a:endParaRPr lang="de-DE"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635577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080C9D6C-0624-5141-990D-D9011D8329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2B5CFDE-3ADA-6241-9EB4-1CB1082B0E76}" type="slidenum">
              <a:rPr kumimoji="0" lang="en-US" altLang="en-US" sz="11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5778" name="Rectangle 2">
            <a:extLst>
              <a:ext uri="{FF2B5EF4-FFF2-40B4-BE49-F238E27FC236}">
                <a16:creationId xmlns:a16="http://schemas.microsoft.com/office/drawing/2014/main" id="{FE4D51C7-335A-5D41-96D8-4F6B69C76D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a:extLst>
              <a:ext uri="{FF2B5EF4-FFF2-40B4-BE49-F238E27FC236}">
                <a16:creationId xmlns:a16="http://schemas.microsoft.com/office/drawing/2014/main" id="{87012D72-EDF6-1F40-A451-B2CC2F8F25D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65890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7C5CC3D1-30CC-E848-B635-8D64740FA0A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9209B04-283B-3A48-9604-5AD5196F0F77}" type="slidenum">
              <a:rPr kumimoji="0" lang="en-US" altLang="en-US" sz="11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7826" name="Rectangle 2">
            <a:extLst>
              <a:ext uri="{FF2B5EF4-FFF2-40B4-BE49-F238E27FC236}">
                <a16:creationId xmlns:a16="http://schemas.microsoft.com/office/drawing/2014/main" id="{9AB395DB-128A-7746-8341-44D27025BBF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DAB93A1D-C730-CC4E-A6C4-EF73D349A19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latin typeface="Arial" panose="020B0604020202020204" pitchFamily="34" charset="0"/>
                <a:ea typeface="ＭＳ Ｐゴシック" panose="020B0600070205080204" pitchFamily="34" charset="-128"/>
              </a:rPr>
              <a:t>A B</a:t>
            </a:r>
            <a:r>
              <a:rPr lang="zh-CN" altLang="en-US" dirty="0">
                <a:latin typeface="Arial" panose="020B0604020202020204" pitchFamily="34" charset="0"/>
                <a:ea typeface="ＭＳ Ｐゴシック" panose="020B0600070205080204" pitchFamily="34" charset="-128"/>
              </a:rPr>
              <a:t>是两个不同操作数</a:t>
            </a:r>
            <a:endParaRPr lang="de-DE"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15899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0FE80A2D-E182-EB4E-9217-22835F40DE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C4BD86D-7FB8-DC48-882D-E0C20420DAF2}" type="slidenum">
              <a:rPr kumimoji="0" lang="en-US" altLang="en-US" sz="11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1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79874" name="Rectangle 2">
            <a:extLst>
              <a:ext uri="{FF2B5EF4-FFF2-40B4-BE49-F238E27FC236}">
                <a16:creationId xmlns:a16="http://schemas.microsoft.com/office/drawing/2014/main" id="{F72CCC62-F6A5-C145-B011-A83FF7DD7F2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a:extLst>
              <a:ext uri="{FF2B5EF4-FFF2-40B4-BE49-F238E27FC236}">
                <a16:creationId xmlns:a16="http://schemas.microsoft.com/office/drawing/2014/main" id="{D403BEF6-B38A-A148-93D7-D615CF0D27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latin typeface="Arial" panose="020B0604020202020204" pitchFamily="34" charset="0"/>
                <a:ea typeface="ＭＳ Ｐゴシック" panose="020B0600070205080204" pitchFamily="34" charset="-128"/>
              </a:rPr>
              <a:t>本质上：把一个周期变成两个部分，第一部分结束 </a:t>
            </a:r>
            <a:r>
              <a:rPr lang="en-US" altLang="zh-CN" dirty="0">
                <a:latin typeface="Arial" panose="020B0604020202020204" pitchFamily="34" charset="0"/>
                <a:ea typeface="ＭＳ Ｐゴシック" panose="020B0600070205080204" pitchFamily="34" charset="-128"/>
              </a:rPr>
              <a:t>--》</a:t>
            </a:r>
            <a:r>
              <a:rPr lang="zh-CN" altLang="en-US" dirty="0">
                <a:latin typeface="Arial" panose="020B0604020202020204" pitchFamily="34" charset="0"/>
                <a:ea typeface="ＭＳ Ｐゴシック" panose="020B0600070205080204" pitchFamily="34" charset="-128"/>
              </a:rPr>
              <a:t>第二部分开始。</a:t>
            </a:r>
            <a:endParaRPr lang="de-DE" altLang="en-US" dirty="0">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713755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Rectangle 2">
            <a:extLst>
              <a:ext uri="{FF2B5EF4-FFF2-40B4-BE49-F238E27FC236}">
                <a16:creationId xmlns:a16="http://schemas.microsoft.com/office/drawing/2014/main" id="{D42F6AF0-BC96-A042-85AA-3E1560FD253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8530" name="Rectangle 3">
            <a:extLst>
              <a:ext uri="{FF2B5EF4-FFF2-40B4-BE49-F238E27FC236}">
                <a16:creationId xmlns:a16="http://schemas.microsoft.com/office/drawing/2014/main" id="{122919D3-F2AE-A141-858A-0BC9C9E74CA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de-DE"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523544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t>
            </a:r>
            <a:r>
              <a:rPr lang="en-CN" dirty="0"/>
              <a:t>nterrupt: machine check</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57</a:t>
            </a:fld>
            <a:endParaRPr lang="en-US" altLang="en-US"/>
          </a:p>
        </p:txBody>
      </p:sp>
    </p:spTree>
    <p:extLst>
      <p:ext uri="{BB962C8B-B14F-4D97-AF65-F5344CB8AC3E}">
        <p14:creationId xmlns:p14="http://schemas.microsoft.com/office/powerpoint/2010/main" val="9477330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意外、中断处理：之前的指令完成，后面的指令还未更新到寄存器等系统状态内。</a:t>
            </a:r>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58</a:t>
            </a:fld>
            <a:endParaRPr lang="en-US" altLang="en-US"/>
          </a:p>
        </p:txBody>
      </p:sp>
    </p:spTree>
    <p:extLst>
      <p:ext uri="{BB962C8B-B14F-4D97-AF65-F5344CB8AC3E}">
        <p14:creationId xmlns:p14="http://schemas.microsoft.com/office/powerpoint/2010/main" val="34667369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CN" dirty="0"/>
              <a:t>rap: opcode not software emulate the opcode…</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60</a:t>
            </a:fld>
            <a:endParaRPr lang="en-US" altLang="en-US"/>
          </a:p>
        </p:txBody>
      </p:sp>
    </p:spTree>
    <p:extLst>
      <p:ext uri="{BB962C8B-B14F-4D97-AF65-F5344CB8AC3E}">
        <p14:creationId xmlns:p14="http://schemas.microsoft.com/office/powerpoint/2010/main" val="8062518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S1 </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62</a:t>
            </a:fld>
            <a:endParaRPr lang="en-US" altLang="en-US"/>
          </a:p>
        </p:txBody>
      </p:sp>
    </p:spTree>
    <p:extLst>
      <p:ext uri="{BB962C8B-B14F-4D97-AF65-F5344CB8AC3E}">
        <p14:creationId xmlns:p14="http://schemas.microsoft.com/office/powerpoint/2010/main" val="37215453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第一种：摆烂</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64</a:t>
            </a:fld>
            <a:endParaRPr lang="en-US" altLang="en-US"/>
          </a:p>
        </p:txBody>
      </p:sp>
    </p:spTree>
    <p:extLst>
      <p:ext uri="{BB962C8B-B14F-4D97-AF65-F5344CB8AC3E}">
        <p14:creationId xmlns:p14="http://schemas.microsoft.com/office/powerpoint/2010/main" val="3218678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90C94178-52AD-934E-B520-CC2412C5287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1225">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defTabSz="911225">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defTabSz="911225">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911225"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marL="0" marR="0" lvl="0" indent="0" algn="r" defTabSz="911225" rtl="0" eaLnBrk="1" fontAlgn="base" latinLnBrk="0" hangingPunct="1">
              <a:lnSpc>
                <a:spcPct val="100000"/>
              </a:lnSpc>
              <a:spcBef>
                <a:spcPct val="0"/>
              </a:spcBef>
              <a:spcAft>
                <a:spcPct val="0"/>
              </a:spcAft>
              <a:buClrTx/>
              <a:buSzTx/>
              <a:buFontTx/>
              <a:buNone/>
              <a:tabLst/>
              <a:defRPr/>
            </a:pPr>
            <a:fld id="{87339C2D-5322-B443-944E-6A7C166A3B0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911225" rtl="0" eaLnBrk="1" fontAlgn="base" latinLnBrk="0" hangingPunct="1">
                <a:lnSpc>
                  <a:spcPct val="100000"/>
                </a:lnSpc>
                <a:spcBef>
                  <a:spcPct val="0"/>
                </a:spcBef>
                <a:spcAft>
                  <a:spcPct val="0"/>
                </a:spcAft>
                <a:buClrTx/>
                <a:buSzTx/>
                <a:buFontTx/>
                <a:buNone/>
                <a:tabLst/>
                <a:defRPr/>
              </a:pPr>
              <a:t>67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9634" name="Rectangle 2">
            <a:extLst>
              <a:ext uri="{FF2B5EF4-FFF2-40B4-BE49-F238E27FC236}">
                <a16:creationId xmlns:a16="http://schemas.microsoft.com/office/drawing/2014/main" id="{2D9DDFC2-4521-2F41-912B-15A3F5F8CCD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a:extLst>
              <a:ext uri="{FF2B5EF4-FFF2-40B4-BE49-F238E27FC236}">
                <a16:creationId xmlns:a16="http://schemas.microsoft.com/office/drawing/2014/main" id="{A498DEFF-74DB-C345-8828-DA42A6BCB44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40916491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Need the animation here…</a:t>
            </a:r>
          </a:p>
          <a:p>
            <a:r>
              <a:rPr lang="en-US" dirty="0"/>
              <a:t>R</a:t>
            </a:r>
            <a:r>
              <a:rPr lang="en-CN" dirty="0"/>
              <a:t>ob index, write, read…</a:t>
            </a:r>
          </a:p>
        </p:txBody>
      </p:sp>
      <p:sp>
        <p:nvSpPr>
          <p:cNvPr id="4" name="Slide Number Placeholder 3"/>
          <p:cNvSpPr>
            <a:spLocks noGrp="1"/>
          </p:cNvSpPr>
          <p:nvPr>
            <p:ph type="sldNum" sz="quarter" idx="5"/>
          </p:nvPr>
        </p:nvSpPr>
        <p:spPr/>
        <p:txBody>
          <a:bodyPr/>
          <a:lstStyle/>
          <a:p>
            <a:pPr>
              <a:defRPr/>
            </a:pPr>
            <a:fld id="{194A2244-8C6B-0D46-B48B-C6CB08A6C4C4}" type="slidenum">
              <a:rPr lang="en-US" altLang="en-US" smtClean="0"/>
              <a:pPr>
                <a:defRPr/>
              </a:pPr>
              <a:t>70</a:t>
            </a:fld>
            <a:endParaRPr lang="en-US" altLang="en-US"/>
          </a:p>
        </p:txBody>
      </p:sp>
    </p:spTree>
    <p:extLst>
      <p:ext uri="{BB962C8B-B14F-4D97-AF65-F5344CB8AC3E}">
        <p14:creationId xmlns:p14="http://schemas.microsoft.com/office/powerpoint/2010/main" val="15417593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majority of you will not work on Systems.</a:t>
            </a:r>
          </a:p>
          <a:p>
            <a:endParaRPr lang="en-US" altLang="zh-CN" dirty="0"/>
          </a:p>
          <a:p>
            <a:r>
              <a:rPr lang="en-US" altLang="zh-CN" dirty="0"/>
              <a:t> But you should know the key principles that help you understand the system on which your AI task runs. </a:t>
            </a:r>
          </a:p>
          <a:p>
            <a:endParaRPr lang="en-US" altLang="zh-CN" dirty="0"/>
          </a:p>
          <a:p>
            <a:r>
              <a:rPr lang="en-US" altLang="zh-CN" dirty="0"/>
              <a:t>Our course has to include both computer architecture and AI chip courses. </a:t>
            </a:r>
          </a:p>
          <a:p>
            <a:endParaRPr lang="en-US" altLang="zh-CN" dirty="0"/>
          </a:p>
          <a:p>
            <a:endParaRPr lang="en-US" altLang="zh-CN" dirty="0"/>
          </a:p>
          <a:p>
            <a:endParaRPr lang="en-US" altLang="zh-CN" dirty="0"/>
          </a:p>
        </p:txBody>
      </p:sp>
      <p:sp>
        <p:nvSpPr>
          <p:cNvPr id="4" name="Slide Number Placeholder 3"/>
          <p:cNvSpPr>
            <a:spLocks noGrp="1"/>
          </p:cNvSpPr>
          <p:nvPr>
            <p:ph type="sldNum" sz="quarter" idx="5"/>
          </p:nvPr>
        </p:nvSpPr>
        <p:spPr/>
        <p:txBody>
          <a:bodyPr/>
          <a:lstStyle/>
          <a:p>
            <a:fld id="{9606A79A-48AC-6344-A926-7E6ABD53936B}" type="slidenum">
              <a:rPr lang="en-US" smtClean="0"/>
              <a:t>71</a:t>
            </a:fld>
            <a:endParaRPr lang="en-US"/>
          </a:p>
        </p:txBody>
      </p:sp>
    </p:spTree>
    <p:extLst>
      <p:ext uri="{BB962C8B-B14F-4D97-AF65-F5344CB8AC3E}">
        <p14:creationId xmlns:p14="http://schemas.microsoft.com/office/powerpoint/2010/main" val="2737213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Use</a:t>
            </a:r>
          </a:p>
          <a:p>
            <a:r>
              <a:rPr lang="en-US" altLang="zh-CN" dirty="0"/>
              <a:t> bypass</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73</a:t>
            </a:fld>
            <a:endParaRPr lang="en-US" altLang="en-US"/>
          </a:p>
        </p:txBody>
      </p:sp>
    </p:spTree>
    <p:extLst>
      <p:ext uri="{BB962C8B-B14F-4D97-AF65-F5344CB8AC3E}">
        <p14:creationId xmlns:p14="http://schemas.microsoft.com/office/powerpoint/2010/main" val="22174163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Access ROB first</a:t>
            </a:r>
            <a:endParaRPr lang="zh-CN" altLang="en-US" dirty="0"/>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75</a:t>
            </a:fld>
            <a:endParaRPr lang="en-US" altLang="en-US"/>
          </a:p>
        </p:txBody>
      </p:sp>
    </p:spTree>
    <p:extLst>
      <p:ext uri="{BB962C8B-B14F-4D97-AF65-F5344CB8AC3E}">
        <p14:creationId xmlns:p14="http://schemas.microsoft.com/office/powerpoint/2010/main" val="2957421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ROB </a:t>
            </a:r>
            <a:r>
              <a:rPr lang="zh-CN" altLang="en-US" dirty="0"/>
              <a:t>临时工，临时工多，有编制的少</a:t>
            </a:r>
          </a:p>
        </p:txBody>
      </p:sp>
      <p:sp>
        <p:nvSpPr>
          <p:cNvPr id="4" name="灯片编号占位符 3"/>
          <p:cNvSpPr>
            <a:spLocks noGrp="1"/>
          </p:cNvSpPr>
          <p:nvPr>
            <p:ph type="sldNum" sz="quarter" idx="5"/>
          </p:nvPr>
        </p:nvSpPr>
        <p:spPr/>
        <p:txBody>
          <a:bodyPr/>
          <a:lstStyle/>
          <a:p>
            <a:pPr>
              <a:defRPr/>
            </a:pPr>
            <a:fld id="{194A2244-8C6B-0D46-B48B-C6CB08A6C4C4}" type="slidenum">
              <a:rPr lang="en-US" altLang="en-US" smtClean="0"/>
              <a:pPr>
                <a:defRPr/>
              </a:pPr>
              <a:t>77</a:t>
            </a:fld>
            <a:endParaRPr lang="en-US" altLang="en-US"/>
          </a:p>
        </p:txBody>
      </p:sp>
    </p:spTree>
    <p:extLst>
      <p:ext uri="{BB962C8B-B14F-4D97-AF65-F5344CB8AC3E}">
        <p14:creationId xmlns:p14="http://schemas.microsoft.com/office/powerpoint/2010/main" val="39590597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 majority of you will not work on Systems.</a:t>
            </a:r>
          </a:p>
          <a:p>
            <a:endParaRPr lang="en-US" altLang="zh-CN" dirty="0"/>
          </a:p>
          <a:p>
            <a:r>
              <a:rPr lang="en-US" altLang="zh-CN" dirty="0"/>
              <a:t> But you should know the key principles that help you understand the system on which your AI task runs. </a:t>
            </a:r>
          </a:p>
          <a:p>
            <a:endParaRPr lang="en-US" altLang="zh-CN" dirty="0"/>
          </a:p>
          <a:p>
            <a:r>
              <a:rPr lang="en-US" altLang="zh-CN" dirty="0"/>
              <a:t>Our course has to include both computer architecture and AI chip courses. </a:t>
            </a:r>
          </a:p>
          <a:p>
            <a:endParaRPr lang="en-US" altLang="zh-CN" dirty="0"/>
          </a:p>
          <a:p>
            <a:endParaRPr lang="en-US" altLang="zh-CN" dirty="0"/>
          </a:p>
          <a:p>
            <a:endParaRPr lang="en-US" altLang="zh-CN" dirty="0"/>
          </a:p>
        </p:txBody>
      </p:sp>
      <p:sp>
        <p:nvSpPr>
          <p:cNvPr id="4" name="Slide Number Placeholder 3"/>
          <p:cNvSpPr>
            <a:spLocks noGrp="1"/>
          </p:cNvSpPr>
          <p:nvPr>
            <p:ph type="sldNum" sz="quarter" idx="5"/>
          </p:nvPr>
        </p:nvSpPr>
        <p:spPr/>
        <p:txBody>
          <a:bodyPr/>
          <a:lstStyle/>
          <a:p>
            <a:fld id="{9606A79A-48AC-6344-A926-7E6ABD53936B}" type="slidenum">
              <a:rPr lang="en-US" smtClean="0"/>
              <a:t>79</a:t>
            </a:fld>
            <a:endParaRPr lang="en-US"/>
          </a:p>
        </p:txBody>
      </p:sp>
    </p:spTree>
    <p:extLst>
      <p:ext uri="{BB962C8B-B14F-4D97-AF65-F5344CB8AC3E}">
        <p14:creationId xmlns:p14="http://schemas.microsoft.com/office/powerpoint/2010/main" val="18913921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B30F4-598E-4BB0-966A-C8D550B7CF7D}" type="slidenum">
              <a:rPr lang="en-US" altLang="zh-CN"/>
              <a:pPr/>
              <a:t>82</a:t>
            </a:fld>
            <a:endParaRPr lang="en-US" altLang="zh-CN"/>
          </a:p>
        </p:txBody>
      </p:sp>
      <p:sp>
        <p:nvSpPr>
          <p:cNvPr id="683010" name="Rectangle 2"/>
          <p:cNvSpPr>
            <a:spLocks noGrp="1" noRot="1" noChangeAspect="1" noChangeArrowheads="1" noTextEdit="1"/>
          </p:cNvSpPr>
          <p:nvPr>
            <p:ph type="sldImg"/>
          </p:nvPr>
        </p:nvSpPr>
        <p:spPr>
          <a:xfrm>
            <a:off x="993775" y="768350"/>
            <a:ext cx="5116513" cy="3836988"/>
          </a:xfrm>
          <a:ln/>
        </p:spPr>
      </p:sp>
      <p:sp>
        <p:nvSpPr>
          <p:cNvPr id="683011" name="Rectangle 3"/>
          <p:cNvSpPr>
            <a:spLocks noGrp="1" noChangeArrowheads="1"/>
          </p:cNvSpPr>
          <p:nvPr>
            <p:ph type="body" idx="1"/>
          </p:nvPr>
        </p:nvSpPr>
        <p:spPr/>
        <p:txBody>
          <a:bodyPr/>
          <a:lstStyle/>
          <a:p>
            <a:r>
              <a:rPr lang="en-US" altLang="zh-CN" dirty="0"/>
              <a:t>NO</a:t>
            </a:r>
            <a:endParaRPr lang="zh-CN" altLang="zh-CN" dirty="0"/>
          </a:p>
        </p:txBody>
      </p:sp>
    </p:spTree>
    <p:extLst>
      <p:ext uri="{BB962C8B-B14F-4D97-AF65-F5344CB8AC3E}">
        <p14:creationId xmlns:p14="http://schemas.microsoft.com/office/powerpoint/2010/main" val="2072088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7CD2703F-59E9-A14C-8EB7-D2EF90B9AAA3}"/>
              </a:ext>
            </a:extLst>
          </p:cNvPr>
          <p:cNvSpPr>
            <a:spLocks noChangeArrowheads="1"/>
          </p:cNvSpPr>
          <p:nvPr/>
        </p:nvSpPr>
        <p:spPr bwMode="auto">
          <a:xfrm>
            <a:off x="457200" y="1123950"/>
            <a:ext cx="82296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4E45769C-5653-3249-B473-2EE771C82523}"/>
              </a:ext>
            </a:extLst>
          </p:cNvPr>
          <p:cNvSpPr>
            <a:spLocks noChangeShapeType="1"/>
          </p:cNvSpPr>
          <p:nvPr/>
        </p:nvSpPr>
        <p:spPr bwMode="auto">
          <a:xfrm>
            <a:off x="457200" y="33718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10">
            <a:extLst>
              <a:ext uri="{FF2B5EF4-FFF2-40B4-BE49-F238E27FC236}">
                <a16:creationId xmlns:a16="http://schemas.microsoft.com/office/drawing/2014/main" id="{6F1184F0-BDE6-E04A-9B4C-5FBA651A760C}"/>
              </a:ext>
            </a:extLst>
          </p:cNvPr>
          <p:cNvSpPr>
            <a:spLocks noChangeShapeType="1"/>
          </p:cNvSpPr>
          <p:nvPr userDrawn="1"/>
        </p:nvSpPr>
        <p:spPr bwMode="auto">
          <a:xfrm>
            <a:off x="8686800" y="2457450"/>
            <a:ext cx="0" cy="914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378" name="Rectangle 2"/>
          <p:cNvSpPr>
            <a:spLocks noGrp="1" noChangeArrowheads="1"/>
          </p:cNvSpPr>
          <p:nvPr>
            <p:ph type="ctrTitle"/>
          </p:nvPr>
        </p:nvSpPr>
        <p:spPr>
          <a:xfrm>
            <a:off x="685800" y="1524000"/>
            <a:ext cx="7924800" cy="1752600"/>
          </a:xfrm>
        </p:spPr>
        <p:txBody>
          <a:bodyPr/>
          <a:lstStyle>
            <a:lvl1pPr>
              <a:defRPr sz="4800"/>
            </a:lvl1pPr>
          </a:lstStyle>
          <a:p>
            <a:r>
              <a:rPr lang="en-US" altLang="en-US"/>
              <a:t>Click to edit Master title style</a:t>
            </a:r>
          </a:p>
        </p:txBody>
      </p:sp>
      <p:sp>
        <p:nvSpPr>
          <p:cNvPr id="101379" name="Rectangle 3"/>
          <p:cNvSpPr>
            <a:spLocks noGrp="1" noChangeArrowheads="1"/>
          </p:cNvSpPr>
          <p:nvPr>
            <p:ph type="subTitle" idx="1"/>
          </p:nvPr>
        </p:nvSpPr>
        <p:spPr>
          <a:xfrm>
            <a:off x="685800" y="3581400"/>
            <a:ext cx="7848600" cy="1752600"/>
          </a:xfrm>
        </p:spPr>
        <p:txBody>
          <a:bodyPr/>
          <a:lstStyle>
            <a:lvl1pPr marL="0" indent="0" algn="ctr">
              <a:buFont typeface="Wingdings" pitchFamily="2" charset="2"/>
              <a:buNone/>
              <a:defRPr/>
            </a:lvl1pPr>
          </a:lstStyle>
          <a:p>
            <a:r>
              <a:rPr lang="en-US" altLang="en-US"/>
              <a:t>Click to edit Master subtitle style</a:t>
            </a:r>
          </a:p>
        </p:txBody>
      </p:sp>
      <p:sp>
        <p:nvSpPr>
          <p:cNvPr id="7" name="Rectangle 4">
            <a:extLst>
              <a:ext uri="{FF2B5EF4-FFF2-40B4-BE49-F238E27FC236}">
                <a16:creationId xmlns:a16="http://schemas.microsoft.com/office/drawing/2014/main" id="{201182EE-B006-604C-80F1-A08CD3F29964}"/>
              </a:ext>
            </a:extLst>
          </p:cNvPr>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solidFill>
                  <a:srgbClr val="000000"/>
                </a:solidFill>
                <a:latin typeface="Garamond" pitchFamily="-106" charset="0"/>
                <a:ea typeface="Arial" pitchFamily="-106" charset="0"/>
                <a:cs typeface="Arial" pitchFamily="-106" charset="0"/>
              </a:defRPr>
            </a:lvl1pPr>
          </a:lstStyle>
          <a:p>
            <a:pPr>
              <a:defRPr/>
            </a:pPr>
            <a:r>
              <a:rPr lang="en-US"/>
              <a:t>Efficient Runahead Execution</a:t>
            </a:r>
          </a:p>
        </p:txBody>
      </p:sp>
      <p:sp>
        <p:nvSpPr>
          <p:cNvPr id="8" name="Rectangle 5">
            <a:extLst>
              <a:ext uri="{FF2B5EF4-FFF2-40B4-BE49-F238E27FC236}">
                <a16:creationId xmlns:a16="http://schemas.microsoft.com/office/drawing/2014/main" id="{E6FF7502-AB8E-2D42-89F5-6E44D8D219B0}"/>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AA9EDE30-1051-6248-A6FF-A3B2F6A689C5}"/>
              </a:ext>
            </a:extLst>
          </p:cNvPr>
          <p:cNvSpPr>
            <a:spLocks noGrp="1" noChangeArrowheads="1"/>
          </p:cNvSpPr>
          <p:nvPr>
            <p:ph type="sldNum" sz="quarter" idx="12"/>
          </p:nvPr>
        </p:nvSpPr>
        <p:spPr/>
        <p:txBody>
          <a:bodyPr/>
          <a:lstStyle>
            <a:lvl1pPr>
              <a:defRPr sz="1200"/>
            </a:lvl1pPr>
          </a:lstStyle>
          <a:p>
            <a:pPr>
              <a:defRPr/>
            </a:pPr>
            <a:fld id="{419CA311-0D55-A14C-B89B-825C95FC0DAC}" type="slidenum">
              <a:rPr lang="en-US" altLang="en-US"/>
              <a:pPr>
                <a:defRPr/>
              </a:pPr>
              <a:t>‹#›</a:t>
            </a:fld>
            <a:endParaRPr lang="en-US" altLang="en-US"/>
          </a:p>
        </p:txBody>
      </p:sp>
    </p:spTree>
    <p:extLst>
      <p:ext uri="{BB962C8B-B14F-4D97-AF65-F5344CB8AC3E}">
        <p14:creationId xmlns:p14="http://schemas.microsoft.com/office/powerpoint/2010/main" val="371491251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228600" y="997527"/>
            <a:ext cx="8610600" cy="5193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F456239-BE5C-F14C-BAFE-1CE538B9D7B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81A7BE9F-CE53-CC49-87AA-BAE23F95E61C}"/>
              </a:ext>
            </a:extLst>
          </p:cNvPr>
          <p:cNvSpPr>
            <a:spLocks noGrp="1" noChangeArrowheads="1"/>
          </p:cNvSpPr>
          <p:nvPr>
            <p:ph type="sldNum" sz="quarter" idx="11"/>
          </p:nvPr>
        </p:nvSpPr>
        <p:spPr>
          <a:ln/>
        </p:spPr>
        <p:txBody>
          <a:bodyPr/>
          <a:lstStyle>
            <a:lvl1pPr>
              <a:defRPr/>
            </a:lvl1pPr>
          </a:lstStyle>
          <a:p>
            <a:pPr>
              <a:defRPr/>
            </a:pPr>
            <a:fld id="{753DEEF8-87BA-7144-9648-F84693A6E11D}" type="slidenum">
              <a:rPr lang="en-US" altLang="en-US"/>
              <a:pPr>
                <a:defRPr/>
              </a:pPr>
              <a:t>‹#›</a:t>
            </a:fld>
            <a:endParaRPr lang="en-US" altLang="en-US"/>
          </a:p>
        </p:txBody>
      </p:sp>
    </p:spTree>
    <p:extLst>
      <p:ext uri="{BB962C8B-B14F-4D97-AF65-F5344CB8AC3E}">
        <p14:creationId xmlns:p14="http://schemas.microsoft.com/office/powerpoint/2010/main" val="234971424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a:extLst>
              <a:ext uri="{FF2B5EF4-FFF2-40B4-BE49-F238E27FC236}">
                <a16:creationId xmlns:a16="http://schemas.microsoft.com/office/drawing/2014/main" id="{D31936A8-46C3-6144-858E-78E1ACCA1A60}"/>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33F8A896-4867-D146-8CEC-A71CEB2F2B07}"/>
              </a:ext>
            </a:extLst>
          </p:cNvPr>
          <p:cNvSpPr>
            <a:spLocks noGrp="1" noChangeArrowheads="1"/>
          </p:cNvSpPr>
          <p:nvPr>
            <p:ph type="sldNum" sz="quarter" idx="11"/>
          </p:nvPr>
        </p:nvSpPr>
        <p:spPr>
          <a:ln/>
        </p:spPr>
        <p:txBody>
          <a:bodyPr/>
          <a:lstStyle>
            <a:lvl1pPr>
              <a:defRPr/>
            </a:lvl1pPr>
          </a:lstStyle>
          <a:p>
            <a:pPr>
              <a:defRPr/>
            </a:pPr>
            <a:fld id="{931C8F86-5F3C-F245-94F6-C123F85C2021}" type="slidenum">
              <a:rPr lang="en-US" altLang="en-US"/>
              <a:pPr>
                <a:defRPr/>
              </a:pPr>
              <a:t>‹#›</a:t>
            </a:fld>
            <a:endParaRPr lang="en-US" altLang="en-US"/>
          </a:p>
        </p:txBody>
      </p:sp>
    </p:spTree>
    <p:extLst>
      <p:ext uri="{BB962C8B-B14F-4D97-AF65-F5344CB8AC3E}">
        <p14:creationId xmlns:p14="http://schemas.microsoft.com/office/powerpoint/2010/main" val="384702209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D4FBA484-E206-D641-B0DC-3D4C98C627C6}"/>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6EEA48B1-2FA4-8747-A5DD-BCA0E69B94CA}"/>
              </a:ext>
            </a:extLst>
          </p:cNvPr>
          <p:cNvSpPr>
            <a:spLocks noGrp="1" noChangeArrowheads="1"/>
          </p:cNvSpPr>
          <p:nvPr>
            <p:ph type="sldNum" sz="quarter" idx="11"/>
          </p:nvPr>
        </p:nvSpPr>
        <p:spPr>
          <a:ln/>
        </p:spPr>
        <p:txBody>
          <a:bodyPr/>
          <a:lstStyle>
            <a:lvl1pPr>
              <a:defRPr/>
            </a:lvl1pPr>
          </a:lstStyle>
          <a:p>
            <a:pPr>
              <a:defRPr/>
            </a:pPr>
            <a:fld id="{781A1F37-1138-BE43-82C5-EB159284CF7C}" type="slidenum">
              <a:rPr lang="en-US" altLang="en-US"/>
              <a:pPr>
                <a:defRPr/>
              </a:pPr>
              <a:t>‹#›</a:t>
            </a:fld>
            <a:endParaRPr lang="en-US" altLang="en-US"/>
          </a:p>
        </p:txBody>
      </p:sp>
    </p:spTree>
    <p:extLst>
      <p:ext uri="{BB962C8B-B14F-4D97-AF65-F5344CB8AC3E}">
        <p14:creationId xmlns:p14="http://schemas.microsoft.com/office/powerpoint/2010/main" val="193663044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a:extLst>
              <a:ext uri="{FF2B5EF4-FFF2-40B4-BE49-F238E27FC236}">
                <a16:creationId xmlns:a16="http://schemas.microsoft.com/office/drawing/2014/main" id="{33F02844-2FE7-C24C-9E98-3B816850C4B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8" name="Rectangle 1030">
            <a:extLst>
              <a:ext uri="{FF2B5EF4-FFF2-40B4-BE49-F238E27FC236}">
                <a16:creationId xmlns:a16="http://schemas.microsoft.com/office/drawing/2014/main" id="{718623F1-7DE2-1845-8415-80FB2731C15C}"/>
              </a:ext>
            </a:extLst>
          </p:cNvPr>
          <p:cNvSpPr>
            <a:spLocks noGrp="1" noChangeArrowheads="1"/>
          </p:cNvSpPr>
          <p:nvPr>
            <p:ph type="sldNum" sz="quarter" idx="11"/>
          </p:nvPr>
        </p:nvSpPr>
        <p:spPr>
          <a:ln/>
        </p:spPr>
        <p:txBody>
          <a:bodyPr/>
          <a:lstStyle>
            <a:lvl1pPr>
              <a:defRPr/>
            </a:lvl1pPr>
          </a:lstStyle>
          <a:p>
            <a:pPr>
              <a:defRPr/>
            </a:pPr>
            <a:fld id="{1EA8A460-06A5-1040-9381-5E626473F9E3}" type="slidenum">
              <a:rPr lang="en-US" altLang="en-US"/>
              <a:pPr>
                <a:defRPr/>
              </a:pPr>
              <a:t>‹#›</a:t>
            </a:fld>
            <a:endParaRPr lang="en-US" altLang="en-US"/>
          </a:p>
        </p:txBody>
      </p:sp>
    </p:spTree>
    <p:extLst>
      <p:ext uri="{BB962C8B-B14F-4D97-AF65-F5344CB8AC3E}">
        <p14:creationId xmlns:p14="http://schemas.microsoft.com/office/powerpoint/2010/main" val="148978838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a:extLst>
              <a:ext uri="{FF2B5EF4-FFF2-40B4-BE49-F238E27FC236}">
                <a16:creationId xmlns:a16="http://schemas.microsoft.com/office/drawing/2014/main" id="{9CEE6D8E-27A0-0640-A905-296B5CA07593}"/>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4" name="Rectangle 1030">
            <a:extLst>
              <a:ext uri="{FF2B5EF4-FFF2-40B4-BE49-F238E27FC236}">
                <a16:creationId xmlns:a16="http://schemas.microsoft.com/office/drawing/2014/main" id="{24A5FEAD-8321-B348-BADD-59371C1875CF}"/>
              </a:ext>
            </a:extLst>
          </p:cNvPr>
          <p:cNvSpPr>
            <a:spLocks noGrp="1" noChangeArrowheads="1"/>
          </p:cNvSpPr>
          <p:nvPr>
            <p:ph type="sldNum" sz="quarter" idx="11"/>
          </p:nvPr>
        </p:nvSpPr>
        <p:spPr>
          <a:ln/>
        </p:spPr>
        <p:txBody>
          <a:bodyPr/>
          <a:lstStyle>
            <a:lvl1pPr>
              <a:defRPr/>
            </a:lvl1pPr>
          </a:lstStyle>
          <a:p>
            <a:pPr>
              <a:defRPr/>
            </a:pPr>
            <a:fld id="{91838187-F844-5B4C-9C26-C2BA5E46EBAE}" type="slidenum">
              <a:rPr lang="en-US" altLang="en-US"/>
              <a:pPr>
                <a:defRPr/>
              </a:pPr>
              <a:t>‹#›</a:t>
            </a:fld>
            <a:endParaRPr lang="en-US" altLang="en-US"/>
          </a:p>
        </p:txBody>
      </p:sp>
    </p:spTree>
    <p:extLst>
      <p:ext uri="{BB962C8B-B14F-4D97-AF65-F5344CB8AC3E}">
        <p14:creationId xmlns:p14="http://schemas.microsoft.com/office/powerpoint/2010/main" val="21573714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a:extLst>
              <a:ext uri="{FF2B5EF4-FFF2-40B4-BE49-F238E27FC236}">
                <a16:creationId xmlns:a16="http://schemas.microsoft.com/office/drawing/2014/main" id="{39DE8FF1-9193-7F4E-B922-00B76AA4C56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3" name="Rectangle 1030">
            <a:extLst>
              <a:ext uri="{FF2B5EF4-FFF2-40B4-BE49-F238E27FC236}">
                <a16:creationId xmlns:a16="http://schemas.microsoft.com/office/drawing/2014/main" id="{D818ACD0-F021-2B49-AC9D-A471820E1F4F}"/>
              </a:ext>
            </a:extLst>
          </p:cNvPr>
          <p:cNvSpPr>
            <a:spLocks noGrp="1" noChangeArrowheads="1"/>
          </p:cNvSpPr>
          <p:nvPr>
            <p:ph type="sldNum" sz="quarter" idx="11"/>
          </p:nvPr>
        </p:nvSpPr>
        <p:spPr>
          <a:ln/>
        </p:spPr>
        <p:txBody>
          <a:bodyPr/>
          <a:lstStyle>
            <a:lvl1pPr>
              <a:defRPr/>
            </a:lvl1pPr>
          </a:lstStyle>
          <a:p>
            <a:pPr>
              <a:defRPr/>
            </a:pPr>
            <a:fld id="{00895373-688A-E54A-BCBC-676BC297BB28}" type="slidenum">
              <a:rPr lang="en-US" altLang="en-US"/>
              <a:pPr>
                <a:defRPr/>
              </a:pPr>
              <a:t>‹#›</a:t>
            </a:fld>
            <a:endParaRPr lang="en-US" altLang="en-US"/>
          </a:p>
        </p:txBody>
      </p:sp>
    </p:spTree>
    <p:extLst>
      <p:ext uri="{BB962C8B-B14F-4D97-AF65-F5344CB8AC3E}">
        <p14:creationId xmlns:p14="http://schemas.microsoft.com/office/powerpoint/2010/main" val="369107754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5774A03C-10B1-F74B-BCEE-3B42276D82AD}"/>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93987030-5D42-1745-9FE1-104F1FB142AA}"/>
              </a:ext>
            </a:extLst>
          </p:cNvPr>
          <p:cNvSpPr>
            <a:spLocks noGrp="1" noChangeArrowheads="1"/>
          </p:cNvSpPr>
          <p:nvPr>
            <p:ph type="sldNum" sz="quarter" idx="11"/>
          </p:nvPr>
        </p:nvSpPr>
        <p:spPr>
          <a:ln/>
        </p:spPr>
        <p:txBody>
          <a:bodyPr/>
          <a:lstStyle>
            <a:lvl1pPr>
              <a:defRPr/>
            </a:lvl1pPr>
          </a:lstStyle>
          <a:p>
            <a:pPr>
              <a:defRPr/>
            </a:pPr>
            <a:fld id="{CBE9E05E-C026-FF47-A81F-F56728002386}" type="slidenum">
              <a:rPr lang="en-US" altLang="en-US"/>
              <a:pPr>
                <a:defRPr/>
              </a:pPr>
              <a:t>‹#›</a:t>
            </a:fld>
            <a:endParaRPr lang="en-US" altLang="en-US"/>
          </a:p>
        </p:txBody>
      </p:sp>
    </p:spTree>
    <p:extLst>
      <p:ext uri="{BB962C8B-B14F-4D97-AF65-F5344CB8AC3E}">
        <p14:creationId xmlns:p14="http://schemas.microsoft.com/office/powerpoint/2010/main" val="222544283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a:extLst>
              <a:ext uri="{FF2B5EF4-FFF2-40B4-BE49-F238E27FC236}">
                <a16:creationId xmlns:a16="http://schemas.microsoft.com/office/drawing/2014/main" id="{95F248AF-580A-484F-8CDE-233C7293CF5B}"/>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3752E372-8C90-784B-AEF9-99A3B39A574A}"/>
              </a:ext>
            </a:extLst>
          </p:cNvPr>
          <p:cNvSpPr>
            <a:spLocks noGrp="1" noChangeArrowheads="1"/>
          </p:cNvSpPr>
          <p:nvPr>
            <p:ph type="sldNum" sz="quarter" idx="11"/>
          </p:nvPr>
        </p:nvSpPr>
        <p:spPr>
          <a:ln/>
        </p:spPr>
        <p:txBody>
          <a:bodyPr/>
          <a:lstStyle>
            <a:lvl1pPr>
              <a:defRPr/>
            </a:lvl1pPr>
          </a:lstStyle>
          <a:p>
            <a:pPr>
              <a:defRPr/>
            </a:pPr>
            <a:fld id="{8923FC57-0E92-184E-B457-70424053F165}" type="slidenum">
              <a:rPr lang="en-US" altLang="en-US"/>
              <a:pPr>
                <a:defRPr/>
              </a:pPr>
              <a:t>‹#›</a:t>
            </a:fld>
            <a:endParaRPr lang="en-US" altLang="en-US"/>
          </a:p>
        </p:txBody>
      </p:sp>
    </p:spTree>
    <p:extLst>
      <p:ext uri="{BB962C8B-B14F-4D97-AF65-F5344CB8AC3E}">
        <p14:creationId xmlns:p14="http://schemas.microsoft.com/office/powerpoint/2010/main" val="130757585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2FFB4941-E67A-AB4D-9D8B-7D602F6617DA}"/>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32B790D0-387A-D24B-BFFB-CEEE4F8DD7F9}"/>
              </a:ext>
            </a:extLst>
          </p:cNvPr>
          <p:cNvSpPr>
            <a:spLocks noGrp="1" noChangeArrowheads="1"/>
          </p:cNvSpPr>
          <p:nvPr>
            <p:ph type="sldNum" sz="quarter" idx="11"/>
          </p:nvPr>
        </p:nvSpPr>
        <p:spPr>
          <a:ln/>
        </p:spPr>
        <p:txBody>
          <a:bodyPr/>
          <a:lstStyle>
            <a:lvl1pPr>
              <a:defRPr/>
            </a:lvl1pPr>
          </a:lstStyle>
          <a:p>
            <a:pPr>
              <a:defRPr/>
            </a:pPr>
            <a:fld id="{4C516D74-7A0A-974B-A43A-3FC2516061BE}" type="slidenum">
              <a:rPr lang="en-US" altLang="en-US"/>
              <a:pPr>
                <a:defRPr/>
              </a:pPr>
              <a:t>‹#›</a:t>
            </a:fld>
            <a:endParaRPr lang="en-US" altLang="en-US"/>
          </a:p>
        </p:txBody>
      </p:sp>
    </p:spTree>
    <p:extLst>
      <p:ext uri="{BB962C8B-B14F-4D97-AF65-F5344CB8AC3E}">
        <p14:creationId xmlns:p14="http://schemas.microsoft.com/office/powerpoint/2010/main" val="193752825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a:extLst>
              <a:ext uri="{FF2B5EF4-FFF2-40B4-BE49-F238E27FC236}">
                <a16:creationId xmlns:a16="http://schemas.microsoft.com/office/drawing/2014/main" id="{E98B6B71-297A-7B40-BD41-F5AC2532F727}"/>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5" name="Rectangle 1030">
            <a:extLst>
              <a:ext uri="{FF2B5EF4-FFF2-40B4-BE49-F238E27FC236}">
                <a16:creationId xmlns:a16="http://schemas.microsoft.com/office/drawing/2014/main" id="{9831095A-1960-444A-911A-3C8915CCD581}"/>
              </a:ext>
            </a:extLst>
          </p:cNvPr>
          <p:cNvSpPr>
            <a:spLocks noGrp="1" noChangeArrowheads="1"/>
          </p:cNvSpPr>
          <p:nvPr>
            <p:ph type="sldNum" sz="quarter" idx="11"/>
          </p:nvPr>
        </p:nvSpPr>
        <p:spPr>
          <a:ln/>
        </p:spPr>
        <p:txBody>
          <a:bodyPr/>
          <a:lstStyle>
            <a:lvl1pPr>
              <a:defRPr/>
            </a:lvl1pPr>
          </a:lstStyle>
          <a:p>
            <a:pPr>
              <a:defRPr/>
            </a:pPr>
            <a:fld id="{1F841925-2E2A-0E40-8E5A-D6375ADEA798}" type="slidenum">
              <a:rPr lang="en-US" altLang="en-US"/>
              <a:pPr>
                <a:defRPr/>
              </a:pPr>
              <a:t>‹#›</a:t>
            </a:fld>
            <a:endParaRPr lang="en-US" altLang="en-US"/>
          </a:p>
        </p:txBody>
      </p:sp>
    </p:spTree>
    <p:extLst>
      <p:ext uri="{BB962C8B-B14F-4D97-AF65-F5344CB8AC3E}">
        <p14:creationId xmlns:p14="http://schemas.microsoft.com/office/powerpoint/2010/main" val="209184347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ClipArt Placeholder 2"/>
          <p:cNvSpPr>
            <a:spLocks noGrp="1"/>
          </p:cNvSpPr>
          <p:nvPr>
            <p:ph type="clipArt" sz="half" idx="1"/>
          </p:nvPr>
        </p:nvSpPr>
        <p:spPr>
          <a:xfrm>
            <a:off x="228600" y="1371600"/>
            <a:ext cx="4229100" cy="4876800"/>
          </a:xfrm>
        </p:spPr>
        <p:txBody>
          <a:bodyPr/>
          <a:lstStyle/>
          <a:p>
            <a:pPr lvl="0"/>
            <a:endParaRPr lang="en-US" noProof="0"/>
          </a:p>
        </p:txBody>
      </p:sp>
      <p:sp>
        <p:nvSpPr>
          <p:cNvPr id="4" name="Text Placeholder 3"/>
          <p:cNvSpPr>
            <a:spLocks noGrp="1"/>
          </p:cNvSpPr>
          <p:nvPr>
            <p:ph type="body" sz="half" idx="2"/>
          </p:nvPr>
        </p:nvSpPr>
        <p:spPr>
          <a:xfrm>
            <a:off x="4610100" y="1371600"/>
            <a:ext cx="42291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a:extLst>
              <a:ext uri="{FF2B5EF4-FFF2-40B4-BE49-F238E27FC236}">
                <a16:creationId xmlns:a16="http://schemas.microsoft.com/office/drawing/2014/main" id="{F9047823-2C94-ED40-A15F-48C5249AB989}"/>
              </a:ext>
            </a:extLst>
          </p:cNvPr>
          <p:cNvSpPr>
            <a:spLocks noGrp="1" noChangeArrowheads="1"/>
          </p:cNvSpPr>
          <p:nvPr>
            <p:ph type="ftr" sz="quarter" idx="10"/>
          </p:nvPr>
        </p:nvSpPr>
        <p:spPr>
          <a:ln/>
        </p:spPr>
        <p:txBody>
          <a:bodyPr/>
          <a:lstStyle>
            <a:lvl1pPr>
              <a:defRPr/>
            </a:lvl1pPr>
          </a:lstStyle>
          <a:p>
            <a:pPr>
              <a:defRPr/>
            </a:pPr>
            <a:endParaRPr lang="en-US" altLang="en-US"/>
          </a:p>
        </p:txBody>
      </p:sp>
      <p:sp>
        <p:nvSpPr>
          <p:cNvPr id="6" name="Rectangle 1030">
            <a:extLst>
              <a:ext uri="{FF2B5EF4-FFF2-40B4-BE49-F238E27FC236}">
                <a16:creationId xmlns:a16="http://schemas.microsoft.com/office/drawing/2014/main" id="{4C8AA92F-4CF5-8B48-8439-382B46432E8A}"/>
              </a:ext>
            </a:extLst>
          </p:cNvPr>
          <p:cNvSpPr>
            <a:spLocks noGrp="1" noChangeArrowheads="1"/>
          </p:cNvSpPr>
          <p:nvPr>
            <p:ph type="sldNum" sz="quarter" idx="11"/>
          </p:nvPr>
        </p:nvSpPr>
        <p:spPr>
          <a:ln/>
        </p:spPr>
        <p:txBody>
          <a:bodyPr/>
          <a:lstStyle>
            <a:lvl1pPr>
              <a:defRPr/>
            </a:lvl1pPr>
          </a:lstStyle>
          <a:p>
            <a:pPr>
              <a:defRPr/>
            </a:pPr>
            <a:fld id="{42DAD1A7-D785-6B4D-BB0F-F87147239B31}" type="slidenum">
              <a:rPr lang="en-US" altLang="en-US"/>
              <a:pPr>
                <a:defRPr/>
              </a:pPr>
              <a:t>‹#›</a:t>
            </a:fld>
            <a:endParaRPr lang="en-US" altLang="en-US"/>
          </a:p>
        </p:txBody>
      </p:sp>
    </p:spTree>
    <p:extLst>
      <p:ext uri="{BB962C8B-B14F-4D97-AF65-F5344CB8AC3E}">
        <p14:creationId xmlns:p14="http://schemas.microsoft.com/office/powerpoint/2010/main" val="14925790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9_Title and Horizontal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96875" y="1362075"/>
            <a:ext cx="7896225" cy="24479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1"/>
          </p:nvPr>
        </p:nvSpPr>
        <p:spPr>
          <a:xfrm>
            <a:off x="404565" y="3886201"/>
            <a:ext cx="7896225" cy="2452382"/>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52559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7" descr="safari.png"/>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180975" y="6411913"/>
            <a:ext cx="1025525" cy="2968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5" name="Rectangle 1029"/>
          <p:cNvSpPr>
            <a:spLocks noGrp="1" noChangeArrowheads="1"/>
          </p:cNvSpPr>
          <p:nvPr>
            <p:ph type="ftr" sz="quarter" idx="10"/>
          </p:nvPr>
        </p:nvSpPr>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p:txBody>
          <a:bodyPr/>
          <a:lstStyle>
            <a:lvl1pPr>
              <a:defRPr/>
            </a:lvl1pPr>
          </a:lstStyle>
          <a:p>
            <a:pPr>
              <a:defRPr/>
            </a:pPr>
            <a:fld id="{ACFCE054-F1E5-374D-A24E-887477C05326}"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813836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292004D-7284-C244-B275-AB956C66515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5413890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B79817D1-13B0-D341-B1C4-34616D3933B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7761268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371600"/>
            <a:ext cx="4229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62067096-FD7F-A949-B565-8298951E6B8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0418645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8" name="Rectangle 1030"/>
          <p:cNvSpPr>
            <a:spLocks noGrp="1" noChangeArrowheads="1"/>
          </p:cNvSpPr>
          <p:nvPr>
            <p:ph type="sldNum" sz="quarter" idx="11"/>
          </p:nvPr>
        </p:nvSpPr>
        <p:spPr>
          <a:ln/>
        </p:spPr>
        <p:txBody>
          <a:bodyPr/>
          <a:lstStyle>
            <a:lvl1pPr>
              <a:defRPr/>
            </a:lvl1pPr>
          </a:lstStyle>
          <a:p>
            <a:pPr>
              <a:defRPr/>
            </a:pPr>
            <a:fld id="{701077C3-3C60-8640-A1DD-3718D4D0D74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1807258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4" name="Rectangle 1030"/>
          <p:cNvSpPr>
            <a:spLocks noGrp="1" noChangeArrowheads="1"/>
          </p:cNvSpPr>
          <p:nvPr>
            <p:ph type="sldNum" sz="quarter" idx="11"/>
          </p:nvPr>
        </p:nvSpPr>
        <p:spPr>
          <a:ln/>
        </p:spPr>
        <p:txBody>
          <a:bodyPr/>
          <a:lstStyle>
            <a:lvl1pPr>
              <a:defRPr/>
            </a:lvl1pPr>
          </a:lstStyle>
          <a:p>
            <a:pPr>
              <a:defRPr/>
            </a:pPr>
            <a:fld id="{D4D41FDD-73B6-EC4A-BB35-BA0C8CCC36C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4938312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3" name="Rectangle 1030"/>
          <p:cNvSpPr>
            <a:spLocks noGrp="1" noChangeArrowheads="1"/>
          </p:cNvSpPr>
          <p:nvPr>
            <p:ph type="sldNum" sz="quarter" idx="11"/>
          </p:nvPr>
        </p:nvSpPr>
        <p:spPr>
          <a:ln/>
        </p:spPr>
        <p:txBody>
          <a:bodyPr/>
          <a:lstStyle>
            <a:lvl1pPr>
              <a:defRPr/>
            </a:lvl1pPr>
          </a:lstStyle>
          <a:p>
            <a:pPr>
              <a:defRPr/>
            </a:pPr>
            <a:fld id="{D88D2B92-4EF8-0940-9F90-1D39CCADBD7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35950931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1224B1A2-EC3E-4448-972E-E198354A3E4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43072478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6" name="Rectangle 1030"/>
          <p:cNvSpPr>
            <a:spLocks noGrp="1" noChangeArrowheads="1"/>
          </p:cNvSpPr>
          <p:nvPr>
            <p:ph type="sldNum" sz="quarter" idx="11"/>
          </p:nvPr>
        </p:nvSpPr>
        <p:spPr>
          <a:ln/>
        </p:spPr>
        <p:txBody>
          <a:bodyPr/>
          <a:lstStyle>
            <a:lvl1pPr>
              <a:defRPr/>
            </a:lvl1pPr>
          </a:lstStyle>
          <a:p>
            <a:pPr>
              <a:defRPr/>
            </a:pPr>
            <a:fld id="{B25B71B7-33A4-004A-B24D-5E8A20C1D7A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65614276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1F5EE445-AD48-2049-A03E-4C865681EA4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83013094"/>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152400"/>
            <a:ext cx="21526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152400"/>
            <a:ext cx="63055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EF8603A9-60B6-0741-B15F-17172804C1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43206917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610600" cy="1066800"/>
          </a:xfrm>
        </p:spPr>
        <p:txBody>
          <a:bodyPr/>
          <a:lstStyle/>
          <a:p>
            <a:r>
              <a:rPr lang="en-US"/>
              <a:t>Click to edit Master title style</a:t>
            </a:r>
          </a:p>
        </p:txBody>
      </p:sp>
      <p:sp>
        <p:nvSpPr>
          <p:cNvPr id="3" name="Table Placeholder 2"/>
          <p:cNvSpPr>
            <a:spLocks noGrp="1"/>
          </p:cNvSpPr>
          <p:nvPr>
            <p:ph type="tbl" idx="1"/>
          </p:nvPr>
        </p:nvSpPr>
        <p:spPr>
          <a:xfrm>
            <a:off x="228600" y="1371600"/>
            <a:ext cx="8610600" cy="4876800"/>
          </a:xfrm>
        </p:spPr>
        <p:txBody>
          <a:bodyPr/>
          <a:lstStyle/>
          <a:p>
            <a:pPr lvl="0"/>
            <a:endParaRPr lang="en-US" noProof="0"/>
          </a:p>
        </p:txBody>
      </p:sp>
      <p:sp>
        <p:nvSpPr>
          <p:cNvPr id="4" name="Rectangle 1029"/>
          <p:cNvSpPr>
            <a:spLocks noGrp="1" noChangeArrowheads="1"/>
          </p:cNvSpPr>
          <p:nvPr>
            <p:ph type="ftr" sz="quarter" idx="10"/>
          </p:nvPr>
        </p:nvSpPr>
        <p:spPr>
          <a:ln/>
        </p:spPr>
        <p:txBody>
          <a:bodyPr/>
          <a:lstStyle>
            <a:lvl1pPr>
              <a:defRPr/>
            </a:lvl1pPr>
          </a:lstStyle>
          <a:p>
            <a:pPr>
              <a:defRPr/>
            </a:pPr>
            <a:endParaRPr lang="en-US">
              <a:solidFill>
                <a:srgbClr val="000000"/>
              </a:solidFill>
            </a:endParaRPr>
          </a:p>
        </p:txBody>
      </p:sp>
      <p:sp>
        <p:nvSpPr>
          <p:cNvPr id="5" name="Rectangle 1030"/>
          <p:cNvSpPr>
            <a:spLocks noGrp="1" noChangeArrowheads="1"/>
          </p:cNvSpPr>
          <p:nvPr>
            <p:ph type="sldNum" sz="quarter" idx="11"/>
          </p:nvPr>
        </p:nvSpPr>
        <p:spPr>
          <a:ln/>
        </p:spPr>
        <p:txBody>
          <a:bodyPr/>
          <a:lstStyle>
            <a:lvl1pPr>
              <a:defRPr/>
            </a:lvl1pPr>
          </a:lstStyle>
          <a:p>
            <a:pPr>
              <a:defRPr/>
            </a:pPr>
            <a:fld id="{7066D58A-9B40-E846-A790-9B6CD5A585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9399453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26">
            <a:extLst>
              <a:ext uri="{FF2B5EF4-FFF2-40B4-BE49-F238E27FC236}">
                <a16:creationId xmlns:a16="http://schemas.microsoft.com/office/drawing/2014/main" id="{83270108-4FD1-564B-ABAB-6D0D792C29A2}"/>
              </a:ext>
            </a:extLst>
          </p:cNvPr>
          <p:cNvSpPr>
            <a:spLocks noGrp="1" noChangeArrowheads="1"/>
          </p:cNvSpPr>
          <p:nvPr>
            <p:ph type="title"/>
          </p:nvPr>
        </p:nvSpPr>
        <p:spPr bwMode="auto">
          <a:xfrm>
            <a:off x="228600" y="1524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1027">
            <a:extLst>
              <a:ext uri="{FF2B5EF4-FFF2-40B4-BE49-F238E27FC236}">
                <a16:creationId xmlns:a16="http://schemas.microsoft.com/office/drawing/2014/main" id="{B99F7C24-DBB8-3946-9159-B6B69302483B}"/>
              </a:ext>
            </a:extLst>
          </p:cNvPr>
          <p:cNvSpPr>
            <a:spLocks noGrp="1" noChangeArrowheads="1"/>
          </p:cNvSpPr>
          <p:nvPr>
            <p:ph type="body" idx="1"/>
          </p:nvPr>
        </p:nvSpPr>
        <p:spPr bwMode="auto">
          <a:xfrm>
            <a:off x="228600" y="898525"/>
            <a:ext cx="8610600" cy="523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0357" name="Rectangle 1029">
            <a:extLst>
              <a:ext uri="{FF2B5EF4-FFF2-40B4-BE49-F238E27FC236}">
                <a16:creationId xmlns:a16="http://schemas.microsoft.com/office/drawing/2014/main" id="{93C8C92C-4D9A-794D-8339-4EED2C89708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solidFill>
                  <a:srgbClr val="000000"/>
                </a:solidFill>
                <a:latin typeface="+mj-lt"/>
                <a:ea typeface="+mn-ea"/>
                <a:cs typeface="+mn-cs"/>
              </a:defRPr>
            </a:lvl1pPr>
          </a:lstStyle>
          <a:p>
            <a:pPr>
              <a:defRPr/>
            </a:pPr>
            <a:endParaRPr lang="en-US" altLang="en-US"/>
          </a:p>
        </p:txBody>
      </p:sp>
      <p:sp>
        <p:nvSpPr>
          <p:cNvPr id="100358" name="Rectangle 1030">
            <a:extLst>
              <a:ext uri="{FF2B5EF4-FFF2-40B4-BE49-F238E27FC236}">
                <a16:creationId xmlns:a16="http://schemas.microsoft.com/office/drawing/2014/main" id="{34E28EF7-5AF2-0E47-8FE5-D0478A414A30}"/>
              </a:ext>
            </a:extLst>
          </p:cNvPr>
          <p:cNvSpPr>
            <a:spLocks noGrp="1" noChangeArrowheads="1"/>
          </p:cNvSpPr>
          <p:nvPr>
            <p:ph type="sldNum" sz="quarter" idx="4"/>
          </p:nvPr>
        </p:nvSpPr>
        <p:spPr bwMode="auto">
          <a:xfrm>
            <a:off x="6777038" y="631825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600">
                <a:solidFill>
                  <a:srgbClr val="000000"/>
                </a:solidFill>
                <a:latin typeface="Garamond" charset="0"/>
                <a:ea typeface="ＭＳ Ｐゴシック" charset="-128"/>
              </a:defRPr>
            </a:lvl1pPr>
          </a:lstStyle>
          <a:p>
            <a:pPr>
              <a:defRPr/>
            </a:pPr>
            <a:fld id="{B29DC364-FD79-5B41-A4D8-E2DDF079EE37}" type="slidenum">
              <a:rPr lang="en-US" altLang="en-US"/>
              <a:pPr>
                <a:defRPr/>
              </a:pPr>
              <a:t>‹#›</a:t>
            </a:fld>
            <a:endParaRPr lang="en-US" altLang="en-US"/>
          </a:p>
        </p:txBody>
      </p:sp>
      <p:sp>
        <p:nvSpPr>
          <p:cNvPr id="1030" name="Line 1032">
            <a:extLst>
              <a:ext uri="{FF2B5EF4-FFF2-40B4-BE49-F238E27FC236}">
                <a16:creationId xmlns:a16="http://schemas.microsoft.com/office/drawing/2014/main" id="{21377C63-9205-884E-A750-9A1681937FA7}"/>
              </a:ext>
            </a:extLst>
          </p:cNvPr>
          <p:cNvSpPr>
            <a:spLocks noChangeShapeType="1"/>
          </p:cNvSpPr>
          <p:nvPr/>
        </p:nvSpPr>
        <p:spPr bwMode="auto">
          <a:xfrm>
            <a:off x="228600" y="6481763"/>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Line 1033">
            <a:extLst>
              <a:ext uri="{FF2B5EF4-FFF2-40B4-BE49-F238E27FC236}">
                <a16:creationId xmlns:a16="http://schemas.microsoft.com/office/drawing/2014/main" id="{83F0D7DE-84D5-ED49-840F-2474A9564704}"/>
              </a:ext>
            </a:extLst>
          </p:cNvPr>
          <p:cNvSpPr>
            <a:spLocks noChangeShapeType="1"/>
          </p:cNvSpPr>
          <p:nvPr userDrawn="1"/>
        </p:nvSpPr>
        <p:spPr bwMode="auto">
          <a:xfrm>
            <a:off x="228600" y="898525"/>
            <a:ext cx="8610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4932" r:id="rId1"/>
    <p:sldLayoutId id="2147484899" r:id="rId2"/>
    <p:sldLayoutId id="2147484900" r:id="rId3"/>
    <p:sldLayoutId id="2147484901" r:id="rId4"/>
    <p:sldLayoutId id="2147484902" r:id="rId5"/>
    <p:sldLayoutId id="2147484903" r:id="rId6"/>
    <p:sldLayoutId id="2147484904" r:id="rId7"/>
    <p:sldLayoutId id="2147484905" r:id="rId8"/>
    <p:sldLayoutId id="2147484906" r:id="rId9"/>
    <p:sldLayoutId id="2147484907" r:id="rId10"/>
    <p:sldLayoutId id="2147484908" r:id="rId11"/>
    <p:sldLayoutId id="2147484909" r:id="rId12"/>
    <p:sldLayoutId id="2147485040" r:id="rId13"/>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Garamond" pitchFamily="18"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Garamond" pitchFamily="18" charset="0"/>
        </a:defRPr>
      </a:lvl6pPr>
      <a:lvl7pPr marL="914400" algn="l" rtl="0" fontAlgn="base">
        <a:spcBef>
          <a:spcPct val="0"/>
        </a:spcBef>
        <a:spcAft>
          <a:spcPct val="0"/>
        </a:spcAft>
        <a:defRPr sz="4000">
          <a:solidFill>
            <a:schemeClr val="tx2"/>
          </a:solidFill>
          <a:latin typeface="Garamond" pitchFamily="18" charset="0"/>
        </a:defRPr>
      </a:lvl7pPr>
      <a:lvl8pPr marL="1371600" algn="l" rtl="0" fontAlgn="base">
        <a:spcBef>
          <a:spcPct val="0"/>
        </a:spcBef>
        <a:spcAft>
          <a:spcPct val="0"/>
        </a:spcAft>
        <a:defRPr sz="4000">
          <a:solidFill>
            <a:schemeClr val="tx2"/>
          </a:solidFill>
          <a:latin typeface="Garamond" pitchFamily="18" charset="0"/>
        </a:defRPr>
      </a:lvl8pPr>
      <a:lvl9pPr marL="1828800" algn="l" rtl="0" fontAlgn="base">
        <a:spcBef>
          <a:spcPct val="0"/>
        </a:spcBef>
        <a:spcAft>
          <a:spcPct val="0"/>
        </a:spcAft>
        <a:defRPr sz="40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1026"/>
          <p:cNvSpPr>
            <a:spLocks noGrp="1" noChangeArrowheads="1"/>
          </p:cNvSpPr>
          <p:nvPr>
            <p:ph type="title"/>
          </p:nvPr>
        </p:nvSpPr>
        <p:spPr bwMode="auto">
          <a:xfrm>
            <a:off x="228600" y="152400"/>
            <a:ext cx="8610600" cy="884238"/>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1027"/>
          <p:cNvSpPr>
            <a:spLocks noGrp="1" noChangeArrowheads="1"/>
          </p:cNvSpPr>
          <p:nvPr>
            <p:ph type="body" idx="1"/>
          </p:nvPr>
        </p:nvSpPr>
        <p:spPr bwMode="auto">
          <a:xfrm>
            <a:off x="228600" y="1095375"/>
            <a:ext cx="8610600" cy="5153025"/>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0357" name="Rectangle 102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Garamond" charset="0"/>
              </a:defRPr>
            </a:lvl1pPr>
          </a:lstStyle>
          <a:p>
            <a:pPr fontAlgn="base">
              <a:spcBef>
                <a:spcPct val="0"/>
              </a:spcBef>
              <a:spcAft>
                <a:spcPct val="0"/>
              </a:spcAft>
              <a:defRPr/>
            </a:pPr>
            <a:endParaRPr lang="en-US">
              <a:solidFill>
                <a:srgbClr val="000000"/>
              </a:solidFill>
              <a:ea typeface="ＭＳ Ｐゴシック" charset="0"/>
              <a:cs typeface="ＭＳ Ｐゴシック" charset="0"/>
            </a:endParaRPr>
          </a:p>
        </p:txBody>
      </p:sp>
      <p:sp>
        <p:nvSpPr>
          <p:cNvPr id="100358" name="Rectangle 1030"/>
          <p:cNvSpPr>
            <a:spLocks noGrp="1" noChangeArrowheads="1"/>
          </p:cNvSpPr>
          <p:nvPr>
            <p:ph type="sldNum" sz="quarter" idx="4"/>
          </p:nvPr>
        </p:nvSpPr>
        <p:spPr bwMode="auto">
          <a:xfrm>
            <a:off x="6946900" y="6373813"/>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600">
                <a:latin typeface="Garamond" charset="0"/>
              </a:defRPr>
            </a:lvl1pPr>
          </a:lstStyle>
          <a:p>
            <a:pPr fontAlgn="base">
              <a:spcBef>
                <a:spcPct val="0"/>
              </a:spcBef>
              <a:spcAft>
                <a:spcPct val="0"/>
              </a:spcAft>
              <a:defRPr/>
            </a:pPr>
            <a:fld id="{FB5C1105-7C02-0A4A-BBB4-558A73CD3ACF}" type="slidenum">
              <a:rPr lang="en-US">
                <a:solidFill>
                  <a:srgbClr val="000000"/>
                </a:solidFill>
                <a:ea typeface="ＭＳ Ｐゴシック" charset="0"/>
                <a:cs typeface="ＭＳ Ｐゴシック" charset="0"/>
              </a:rPr>
              <a:pPr fontAlgn="base">
                <a:spcBef>
                  <a:spcPct val="0"/>
                </a:spcBef>
                <a:spcAft>
                  <a:spcPct val="0"/>
                </a:spcAft>
                <a:defRPr/>
              </a:pPr>
              <a:t>‹#›</a:t>
            </a:fld>
            <a:endParaRPr lang="en-US">
              <a:solidFill>
                <a:srgbClr val="000000"/>
              </a:solidFill>
              <a:ea typeface="ＭＳ Ｐゴシック" charset="0"/>
              <a:cs typeface="ＭＳ Ｐゴシック" charset="0"/>
            </a:endParaRPr>
          </a:p>
        </p:txBody>
      </p:sp>
      <p:sp>
        <p:nvSpPr>
          <p:cNvPr id="1030" name="Line 1032"/>
          <p:cNvSpPr>
            <a:spLocks noChangeShapeType="1"/>
          </p:cNvSpPr>
          <p:nvPr/>
        </p:nvSpPr>
        <p:spPr bwMode="auto">
          <a:xfrm>
            <a:off x="228600" y="6446838"/>
            <a:ext cx="8610600" cy="0"/>
          </a:xfrm>
          <a:prstGeom prst="line">
            <a:avLst/>
          </a:prstGeom>
          <a:noFill/>
          <a:ln w="19050">
            <a:solidFill>
              <a:schemeClr val="accent1"/>
            </a:solidFill>
            <a:round/>
            <a:headEnd/>
            <a:tailEnd/>
          </a:ln>
          <a:extLst>
            <a:ext uri="{909E8E84-426E-40dd-AFC4-6F175D3DCCD1}">
              <a14:hiddenFill xmlns:a14="http://schemas.microsoft.com/office/drawing/2010/main" xmlns="">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sp>
        <p:nvSpPr>
          <p:cNvPr id="1031" name="Line 1033"/>
          <p:cNvSpPr>
            <a:spLocks noChangeShapeType="1"/>
          </p:cNvSpPr>
          <p:nvPr userDrawn="1"/>
        </p:nvSpPr>
        <p:spPr bwMode="auto">
          <a:xfrm>
            <a:off x="228600" y="914400"/>
            <a:ext cx="8610600" cy="0"/>
          </a:xfrm>
          <a:prstGeom prst="line">
            <a:avLst/>
          </a:prstGeom>
          <a:noFill/>
          <a:ln w="19050">
            <a:solidFill>
              <a:schemeClr val="accent1"/>
            </a:solidFill>
            <a:round/>
            <a:headEnd/>
            <a:tailEnd/>
          </a:ln>
          <a:extLst>
            <a:ext uri="{909E8E84-426E-40dd-AFC4-6F175D3DCCD1}">
              <a14:hiddenFill xmlns:a14="http://schemas.microsoft.com/office/drawing/2010/main" xmlns="">
                <a:noFill/>
              </a14:hiddenFill>
            </a:ext>
          </a:extLst>
        </p:spPr>
        <p:txBody>
          <a:bodyPr/>
          <a:lstStyle/>
          <a:p>
            <a:pPr fontAlgn="base">
              <a:spcBef>
                <a:spcPct val="0"/>
              </a:spcBef>
              <a:spcAft>
                <a:spcPct val="0"/>
              </a:spcAft>
            </a:pPr>
            <a:endParaRPr lang="en-US">
              <a:solidFill>
                <a:srgbClr val="000000"/>
              </a:solidFill>
              <a:latin typeface="Arial" charset="0"/>
              <a:ea typeface="ＭＳ Ｐゴシック" charset="0"/>
              <a:cs typeface="ＭＳ Ｐゴシック" charset="0"/>
            </a:endParaRPr>
          </a:p>
        </p:txBody>
      </p:sp>
      <p:pic>
        <p:nvPicPr>
          <p:cNvPr id="1032" name="Picture 7" descr="safari.png"/>
          <p:cNvPicPr>
            <a:picLocks noChangeAspect="1"/>
          </p:cNvPicPr>
          <p:nvPr userDrawn="1"/>
        </p:nvPicPr>
        <p:blipFill>
          <a:blip r:embed="rId14" cstate="screen">
            <a:extLst>
              <a:ext uri="{28A0092B-C50C-407E-A947-70E740481C1C}">
                <a14:useLocalDpi xmlns:a14="http://schemas.microsoft.com/office/drawing/2010/main"/>
              </a:ext>
            </a:extLst>
          </a:blip>
          <a:srcRect/>
          <a:stretch>
            <a:fillRect/>
          </a:stretch>
        </p:blipFill>
        <p:spPr bwMode="auto">
          <a:xfrm>
            <a:off x="180975" y="6602413"/>
            <a:ext cx="847725" cy="246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867609352"/>
      </p:ext>
    </p:extLst>
  </p:cSld>
  <p:clrMap bg1="lt1" tx1="dk1" bg2="lt2" tx2="dk2" accent1="accent1" accent2="accent2" accent3="accent3" accent4="accent4" accent5="accent5" accent6="accent6" hlink="hlink" folHlink="folHlink"/>
  <p:sldLayoutIdLst>
    <p:sldLayoutId id="2147485028" r:id="rId1"/>
    <p:sldLayoutId id="2147485029" r:id="rId2"/>
    <p:sldLayoutId id="2147485030" r:id="rId3"/>
    <p:sldLayoutId id="2147485031" r:id="rId4"/>
    <p:sldLayoutId id="2147485032" r:id="rId5"/>
    <p:sldLayoutId id="2147485033" r:id="rId6"/>
    <p:sldLayoutId id="2147485034" r:id="rId7"/>
    <p:sldLayoutId id="2147485035" r:id="rId8"/>
    <p:sldLayoutId id="2147485036" r:id="rId9"/>
    <p:sldLayoutId id="2147485037" r:id="rId10"/>
    <p:sldLayoutId id="2147485038" r:id="rId11"/>
    <p:sldLayoutId id="2147485039" r:id="rId12"/>
  </p:sldLayoutIdLst>
  <p:transition/>
  <p:hf hdr="0" ftr="0" dt="0"/>
  <p:txStyles>
    <p:titleStyle>
      <a:lvl1pPr algn="l" rtl="0" eaLnBrk="0" fontAlgn="base" hangingPunct="0">
        <a:spcBef>
          <a:spcPct val="0"/>
        </a:spcBef>
        <a:spcAft>
          <a:spcPct val="0"/>
        </a:spcAft>
        <a:defRPr sz="4000">
          <a:solidFill>
            <a:schemeClr val="tx2"/>
          </a:solidFill>
          <a:latin typeface="+mj-lt"/>
          <a:ea typeface="ＭＳ Ｐゴシック" pitchFamily="-106" charset="-128"/>
          <a:cs typeface="ＭＳ Ｐゴシック" pitchFamily="-106" charset="-128"/>
        </a:defRPr>
      </a:lvl1pPr>
      <a:lvl2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2pPr>
      <a:lvl3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3pPr>
      <a:lvl4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4pPr>
      <a:lvl5pPr algn="l" rtl="0" eaLnBrk="0" fontAlgn="base" hangingPunct="0">
        <a:spcBef>
          <a:spcPct val="0"/>
        </a:spcBef>
        <a:spcAft>
          <a:spcPct val="0"/>
        </a:spcAft>
        <a:defRPr sz="4000">
          <a:solidFill>
            <a:schemeClr val="tx2"/>
          </a:solidFill>
          <a:latin typeface="Garamond" pitchFamily="-106" charset="0"/>
          <a:ea typeface="ＭＳ Ｐゴシック" pitchFamily="-106" charset="-128"/>
          <a:cs typeface="ＭＳ Ｐゴシック" pitchFamily="-106" charset="-128"/>
        </a:defRPr>
      </a:lvl5pPr>
      <a:lvl6pPr marL="457200" algn="l" rtl="0" fontAlgn="base">
        <a:spcBef>
          <a:spcPct val="0"/>
        </a:spcBef>
        <a:spcAft>
          <a:spcPct val="0"/>
        </a:spcAft>
        <a:defRPr sz="4000">
          <a:solidFill>
            <a:schemeClr val="tx2"/>
          </a:solidFill>
          <a:latin typeface="Garamond" pitchFamily="-106" charset="0"/>
        </a:defRPr>
      </a:lvl6pPr>
      <a:lvl7pPr marL="914400" algn="l" rtl="0" fontAlgn="base">
        <a:spcBef>
          <a:spcPct val="0"/>
        </a:spcBef>
        <a:spcAft>
          <a:spcPct val="0"/>
        </a:spcAft>
        <a:defRPr sz="4000">
          <a:solidFill>
            <a:schemeClr val="tx2"/>
          </a:solidFill>
          <a:latin typeface="Garamond" pitchFamily="-106" charset="0"/>
        </a:defRPr>
      </a:lvl7pPr>
      <a:lvl8pPr marL="1371600" algn="l" rtl="0" fontAlgn="base">
        <a:spcBef>
          <a:spcPct val="0"/>
        </a:spcBef>
        <a:spcAft>
          <a:spcPct val="0"/>
        </a:spcAft>
        <a:defRPr sz="4000">
          <a:solidFill>
            <a:schemeClr val="tx2"/>
          </a:solidFill>
          <a:latin typeface="Garamond" pitchFamily="-106" charset="0"/>
        </a:defRPr>
      </a:lvl8pPr>
      <a:lvl9pPr marL="1828800" algn="l" rtl="0" fontAlgn="base">
        <a:spcBef>
          <a:spcPct val="0"/>
        </a:spcBef>
        <a:spcAft>
          <a:spcPct val="0"/>
        </a:spcAft>
        <a:defRPr sz="4000">
          <a:solidFill>
            <a:schemeClr val="tx2"/>
          </a:solidFill>
          <a:latin typeface="Garamond" pitchFamily="-106" charset="0"/>
        </a:defRPr>
      </a:lvl9pPr>
    </p:titleStyle>
    <p:bodyStyle>
      <a:lvl1pPr marL="342900" indent="-342900" algn="l" rtl="0" eaLnBrk="0" fontAlgn="base" hangingPunct="0">
        <a:spcBef>
          <a:spcPct val="20000"/>
        </a:spcBef>
        <a:spcAft>
          <a:spcPct val="0"/>
        </a:spcAft>
        <a:buClr>
          <a:schemeClr val="accent1"/>
        </a:buClr>
        <a:buSzPct val="65000"/>
        <a:buFont typeface="Wingdings" charset="0"/>
        <a:buChar char="n"/>
        <a:defRPr sz="2400">
          <a:solidFill>
            <a:schemeClr val="tx1"/>
          </a:solidFill>
          <a:latin typeface="+mn-lt"/>
          <a:ea typeface="ＭＳ Ｐゴシック" pitchFamily="-106" charset="-128"/>
          <a:cs typeface="ＭＳ Ｐゴシック" pitchFamily="-106" charset="-128"/>
        </a:defRPr>
      </a:lvl1pPr>
      <a:lvl2pPr marL="669925" indent="-325438" algn="l" rtl="0" eaLnBrk="0" fontAlgn="base" hangingPunct="0">
        <a:spcBef>
          <a:spcPct val="20000"/>
        </a:spcBef>
        <a:spcAft>
          <a:spcPct val="0"/>
        </a:spcAft>
        <a:buClr>
          <a:schemeClr val="accent2"/>
        </a:buClr>
        <a:buSzPct val="60000"/>
        <a:buFont typeface="Wingdings" charset="0"/>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charset="0"/>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charset="0"/>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charset="0"/>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6pPr>
      <a:lvl7pPr marL="25955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7pPr>
      <a:lvl8pPr marL="30527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8pPr>
      <a:lvl9pPr marL="3509963" indent="-339725" algn="l" rtl="0" fontAlgn="base">
        <a:spcBef>
          <a:spcPct val="20000"/>
        </a:spcBef>
        <a:spcAft>
          <a:spcPct val="0"/>
        </a:spcAft>
        <a:buClr>
          <a:schemeClr val="accent1"/>
        </a:buClr>
        <a:buSzPct val="75000"/>
        <a:buFont typeface="Wingdings" pitchFamily="-106" charset="2"/>
        <a:buChar char="§"/>
        <a:defRPr sz="1600">
          <a:solidFill>
            <a:schemeClr val="tx1"/>
          </a:solidFill>
          <a:latin typeface="+mn-lt"/>
          <a:ea typeface="ＭＳ Ｐゴシック" pitchFamily="-106"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3.xml"/><Relationship Id="rId7" Type="http://schemas.openxmlformats.org/officeDocument/2006/relationships/notesSlide" Target="../notesSlides/notesSlide8.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5.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notesSlide" Target="../notesSlides/notesSlide10.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tags" Target="../tags/tag9.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3.xml"/><Relationship Id="rId7" Type="http://schemas.openxmlformats.org/officeDocument/2006/relationships/notesSlide" Target="../notesSlides/notesSlide1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Layout" Target="../slideLayouts/slideLayout2.xml"/><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7.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8.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19.xml"/><Relationship Id="rId7" Type="http://schemas.openxmlformats.org/officeDocument/2006/relationships/notesSlide" Target="../notesSlides/notesSlide1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2.xml"/><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image" Target="../media/image9.e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4.xml"/><Relationship Id="rId7" Type="http://schemas.openxmlformats.org/officeDocument/2006/relationships/notesSlide" Target="../notesSlides/notesSlide1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2.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media/image10.emf"/></Relationships>
</file>

<file path=ppt/slides/_rels/slide38.xml.rels><?xml version="1.0" encoding="UTF-8" standalone="yes"?>
<Relationships xmlns="http://schemas.openxmlformats.org/package/2006/relationships"><Relationship Id="rId3" Type="http://schemas.openxmlformats.org/officeDocument/2006/relationships/tags" Target="../tags/tag29.xml"/><Relationship Id="rId7" Type="http://schemas.openxmlformats.org/officeDocument/2006/relationships/notesSlide" Target="../notesSlides/notesSlide15.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Layout" Target="../slideLayouts/slideLayout2.xml"/><Relationship Id="rId5" Type="http://schemas.openxmlformats.org/officeDocument/2006/relationships/tags" Target="../tags/tag31.xml"/><Relationship Id="rId4" Type="http://schemas.openxmlformats.org/officeDocument/2006/relationships/tags" Target="../tags/tag30.xml"/></Relationships>
</file>

<file path=ppt/slides/_rels/slide39.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notesSlide" Target="../notesSlides/notesSlide16.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slideLayout" Target="../slideLayouts/slideLayout2.xml"/><Relationship Id="rId5" Type="http://schemas.openxmlformats.org/officeDocument/2006/relationships/tags" Target="../tags/tag36.xml"/><Relationship Id="rId4" Type="http://schemas.openxmlformats.org/officeDocument/2006/relationships/tags" Target="../tags/tag35.xm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17.xml"/><Relationship Id="rId3" Type="http://schemas.openxmlformats.org/officeDocument/2006/relationships/tags" Target="../tags/tag39.xml"/><Relationship Id="rId7"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10" Type="http://schemas.openxmlformats.org/officeDocument/2006/relationships/image" Target="../media/image11.emf"/><Relationship Id="rId4" Type="http://schemas.openxmlformats.org/officeDocument/2006/relationships/tags" Target="../tags/tag40.xml"/><Relationship Id="rId9" Type="http://schemas.openxmlformats.org/officeDocument/2006/relationships/oleObject" Target="../embeddings/oleObject6.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tags" Target="../tags/tag45.xml"/><Relationship Id="rId7" Type="http://schemas.openxmlformats.org/officeDocument/2006/relationships/oleObject" Target="../embeddings/oleObject7.bin"/><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notesSlide" Target="../notesSlides/notesSlide18.xml"/><Relationship Id="rId5" Type="http://schemas.openxmlformats.org/officeDocument/2006/relationships/slideLayout" Target="../slideLayouts/slideLayout6.xml"/><Relationship Id="rId4" Type="http://schemas.openxmlformats.org/officeDocument/2006/relationships/tags" Target="../tags/tag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tags" Target="../tags/tag47.xml"/><Relationship Id="rId4" Type="http://schemas.openxmlformats.org/officeDocument/2006/relationships/image" Target="../media/image13.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4">
            <a:extLst>
              <a:ext uri="{FF2B5EF4-FFF2-40B4-BE49-F238E27FC236}">
                <a16:creationId xmlns:a16="http://schemas.microsoft.com/office/drawing/2014/main" id="{F4B36F19-AF20-EE4B-9796-5DE4A6ED1229}"/>
              </a:ext>
            </a:extLst>
          </p:cNvPr>
          <p:cNvSpPr>
            <a:spLocks noGrp="1" noChangeArrowheads="1"/>
          </p:cNvSpPr>
          <p:nvPr>
            <p:ph type="ctrTitle"/>
          </p:nvPr>
        </p:nvSpPr>
        <p:spPr>
          <a:xfrm>
            <a:off x="304800" y="457200"/>
            <a:ext cx="8428038" cy="2743200"/>
          </a:xfrm>
        </p:spPr>
        <p:txBody>
          <a:bodyPr/>
          <a:lstStyle/>
          <a:p>
            <a:pPr algn="ctr" eaLnBrk="1" hangingPunct="1"/>
            <a:br>
              <a:rPr lang="en-US" altLang="en-US" dirty="0">
                <a:ea typeface="ＭＳ Ｐゴシック" panose="020B0600070205080204" pitchFamily="34" charset="-128"/>
              </a:rPr>
            </a:br>
            <a:r>
              <a:rPr lang="en-US" altLang="en-US" sz="4500" b="1" dirty="0">
                <a:ea typeface="ＭＳ Ｐゴシック" panose="020B0600070205080204" pitchFamily="34" charset="-128"/>
              </a:rPr>
              <a:t>Computer Arch. &amp; AI Chip</a:t>
            </a:r>
            <a:br>
              <a:rPr lang="en-US" altLang="en-US" sz="4500" b="1" dirty="0">
                <a:ea typeface="ＭＳ Ｐゴシック" panose="020B0600070205080204" pitchFamily="34" charset="-128"/>
              </a:rPr>
            </a:br>
            <a:br>
              <a:rPr lang="en-US" altLang="en-US" sz="1000" b="1" dirty="0">
                <a:ea typeface="ＭＳ Ｐゴシック" panose="020B0600070205080204" pitchFamily="34" charset="-128"/>
              </a:rPr>
            </a:br>
            <a:r>
              <a:rPr lang="en-US" altLang="en-US" sz="4500" dirty="0">
                <a:solidFill>
                  <a:srgbClr val="C00000"/>
                </a:solidFill>
                <a:ea typeface="ＭＳ Ｐゴシック" panose="020B0600070205080204" pitchFamily="34" charset="-128"/>
              </a:rPr>
              <a:t>Lecture 2: </a:t>
            </a:r>
            <a:r>
              <a:rPr lang="en-US" altLang="zh-CN" sz="4500" dirty="0">
                <a:solidFill>
                  <a:srgbClr val="C00000"/>
                </a:solidFill>
                <a:ea typeface="ＭＳ Ｐゴシック" panose="020B0600070205080204" pitchFamily="34" charset="-128"/>
              </a:rPr>
              <a:t>Pipeline Hazard +</a:t>
            </a:r>
            <a:br>
              <a:rPr lang="en-US" altLang="zh-CN" sz="4500" dirty="0">
                <a:solidFill>
                  <a:srgbClr val="C00000"/>
                </a:solidFill>
                <a:ea typeface="ＭＳ Ｐゴシック" panose="020B0600070205080204" pitchFamily="34" charset="-128"/>
              </a:rPr>
            </a:br>
            <a:r>
              <a:rPr lang="en-US" altLang="zh-CN" sz="4500">
                <a:solidFill>
                  <a:srgbClr val="C00000"/>
                </a:solidFill>
                <a:ea typeface="ＭＳ Ｐゴシック" panose="020B0600070205080204" pitchFamily="34" charset="-128"/>
              </a:rPr>
              <a:t>Reorder Buffer </a:t>
            </a:r>
            <a:endParaRPr lang="en-US" altLang="en-US" sz="4500" dirty="0">
              <a:solidFill>
                <a:srgbClr val="C00000"/>
              </a:solidFill>
              <a:ea typeface="ＭＳ Ｐゴシック" panose="020B0600070205080204" pitchFamily="34" charset="-128"/>
            </a:endParaRPr>
          </a:p>
        </p:txBody>
      </p:sp>
      <p:sp>
        <p:nvSpPr>
          <p:cNvPr id="20482" name="Rectangle 5">
            <a:extLst>
              <a:ext uri="{FF2B5EF4-FFF2-40B4-BE49-F238E27FC236}">
                <a16:creationId xmlns:a16="http://schemas.microsoft.com/office/drawing/2014/main" id="{47CAD589-18D1-6D42-A966-19E62D8F6675}"/>
              </a:ext>
            </a:extLst>
          </p:cNvPr>
          <p:cNvSpPr>
            <a:spLocks noGrp="1" noChangeArrowheads="1"/>
          </p:cNvSpPr>
          <p:nvPr>
            <p:ph type="subTitle" idx="1"/>
          </p:nvPr>
        </p:nvSpPr>
        <p:spPr>
          <a:xfrm>
            <a:off x="647700" y="3733800"/>
            <a:ext cx="7848600" cy="2900363"/>
          </a:xfrm>
        </p:spPr>
        <p:txBody>
          <a:bodyPr/>
          <a:lstStyle/>
          <a:p>
            <a:pPr eaLnBrk="1" hangingPunct="1"/>
            <a:endParaRPr lang="en-US" altLang="en-US" dirty="0">
              <a:solidFill>
                <a:srgbClr val="003399"/>
              </a:solidFill>
              <a:ea typeface="ＭＳ Ｐゴシック" panose="020B0600070205080204" pitchFamily="34" charset="-128"/>
            </a:endParaRPr>
          </a:p>
          <a:p>
            <a:pPr eaLnBrk="1" hangingPunct="1"/>
            <a:r>
              <a:rPr lang="en-US" altLang="en-US" sz="2800" dirty="0">
                <a:solidFill>
                  <a:srgbClr val="003399"/>
                </a:solidFill>
                <a:ea typeface="ＭＳ Ｐゴシック" panose="020B0600070205080204" pitchFamily="34" charset="-128"/>
              </a:rPr>
              <a:t>Prof. Zeke Wang</a:t>
            </a:r>
          </a:p>
          <a:p>
            <a:pPr eaLnBrk="1" hangingPunct="1"/>
            <a:endParaRPr lang="en-US" altLang="en-US" sz="2800" dirty="0">
              <a:solidFill>
                <a:srgbClr val="003399"/>
              </a:solidFill>
              <a:ea typeface="ＭＳ Ｐゴシック" panose="020B0600070205080204" pitchFamily="34" charset="-128"/>
            </a:endParaRPr>
          </a:p>
          <a:p>
            <a:pPr eaLnBrk="1" hangingPunct="1"/>
            <a:r>
              <a:rPr lang="en-US" altLang="zh-CN" dirty="0">
                <a:ea typeface="ＭＳ Ｐゴシック" panose="020B0600070205080204" pitchFamily="34" charset="-128"/>
              </a:rPr>
              <a:t>Zhejiang University</a:t>
            </a:r>
          </a:p>
          <a:p>
            <a:pPr eaLnBrk="1" hangingPunct="1"/>
            <a:r>
              <a:rPr lang="en-US" altLang="en-US" dirty="0">
                <a:ea typeface="ＭＳ Ｐゴシック" panose="020B0600070205080204" pitchFamily="34" charset="-128"/>
              </a:rPr>
              <a:t>09 March 2026</a:t>
            </a: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endParaRPr lang="en-US" altLang="en-US" dirty="0">
              <a:ea typeface="ＭＳ Ｐゴシック" panose="020B0600070205080204" pitchFamily="34" charset="-128"/>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Axiom</a:t>
            </a:r>
          </a:p>
        </p:txBody>
      </p:sp>
      <p:sp>
        <p:nvSpPr>
          <p:cNvPr id="3" name="Content Placeholder 2"/>
          <p:cNvSpPr>
            <a:spLocks noGrp="1"/>
          </p:cNvSpPr>
          <p:nvPr>
            <p:ph idx="1"/>
          </p:nvPr>
        </p:nvSpPr>
        <p:spPr>
          <a:xfrm>
            <a:off x="107504" y="908720"/>
            <a:ext cx="9036496" cy="4876800"/>
          </a:xfrm>
        </p:spPr>
        <p:txBody>
          <a:bodyPr/>
          <a:lstStyle/>
          <a:p>
            <a:pPr marL="0" indent="0" algn="ctr">
              <a:buNone/>
            </a:pPr>
            <a:r>
              <a:rPr lang="en-US" dirty="0"/>
              <a:t>To achieve the highest energy efficiency and performance:</a:t>
            </a:r>
          </a:p>
          <a:p>
            <a:pPr marL="0" indent="0" algn="ctr">
              <a:buNone/>
            </a:pPr>
            <a:endParaRPr lang="en-US" sz="1200" dirty="0"/>
          </a:p>
          <a:p>
            <a:pPr marL="0" indent="0" algn="ctr">
              <a:buNone/>
            </a:pPr>
            <a:r>
              <a:rPr lang="en-US" sz="3200" b="1" dirty="0"/>
              <a:t>we must take the expanded view</a:t>
            </a:r>
          </a:p>
          <a:p>
            <a:pPr marL="0" indent="0" algn="ctr">
              <a:buNone/>
            </a:pPr>
            <a:r>
              <a:rPr lang="en-US" dirty="0"/>
              <a:t>of LLM system</a:t>
            </a:r>
          </a:p>
        </p:txBody>
      </p:sp>
      <p:sp>
        <p:nvSpPr>
          <p:cNvPr id="4" name="Slide Number Placeholder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594FA-E141-4234-AE05-360401972BE7}" type="slidenum">
              <a:rPr kumimoji="0" lang="en-US" altLang="en-US" sz="1600" b="0" i="0" u="none" strike="noStrike" kern="1200" cap="none" spc="0" normalizeH="0" baseline="0" noProof="0" smtClean="0">
                <a:ln>
                  <a:noFill/>
                </a:ln>
                <a:solidFill>
                  <a:srgbClr val="000000"/>
                </a:solidFill>
                <a:effectLst/>
                <a:uLnTx/>
                <a:uFillTx/>
                <a:latin typeface="Garamond" pitchFamily="18" charset="0"/>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altLang="en-US" sz="1600" b="0" i="0" u="none" strike="noStrike" kern="1200" cap="none" spc="0" normalizeH="0" baseline="0" noProof="0">
              <a:ln>
                <a:noFill/>
              </a:ln>
              <a:solidFill>
                <a:srgbClr val="000000"/>
              </a:solidFill>
              <a:effectLst/>
              <a:uLnTx/>
              <a:uFillTx/>
              <a:latin typeface="Garamond" pitchFamily="18" charset="0"/>
              <a:ea typeface="ＭＳ Ｐゴシック" panose="020B0600070205080204" pitchFamily="34" charset="-128"/>
              <a:cs typeface="+mn-cs"/>
            </a:endParaRPr>
          </a:p>
        </p:txBody>
      </p:sp>
      <p:sp>
        <p:nvSpPr>
          <p:cNvPr id="5" name="Text Box 17"/>
          <p:cNvSpPr txBox="1">
            <a:spLocks noChangeArrowheads="1"/>
          </p:cNvSpPr>
          <p:nvPr/>
        </p:nvSpPr>
        <p:spPr bwMode="auto">
          <a:xfrm>
            <a:off x="2259208" y="4842942"/>
            <a:ext cx="2041525" cy="368300"/>
          </a:xfrm>
          <a:prstGeom prst="rect">
            <a:avLst/>
          </a:prstGeom>
          <a:solidFill>
            <a:srgbClr val="00FF00"/>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charset="0"/>
                <a:ea typeface="ＭＳ Ｐゴシック" charset="0"/>
              </a:rPr>
              <a:t>Micro-architecture</a:t>
            </a:r>
          </a:p>
        </p:txBody>
      </p:sp>
      <p:sp>
        <p:nvSpPr>
          <p:cNvPr id="6" name="Text Box 18"/>
          <p:cNvSpPr txBox="1">
            <a:spLocks noChangeAspect="1" noChangeArrowheads="1"/>
          </p:cNvSpPr>
          <p:nvPr/>
        </p:nvSpPr>
        <p:spPr bwMode="auto">
          <a:xfrm>
            <a:off x="2259208" y="4471467"/>
            <a:ext cx="2041525" cy="366712"/>
          </a:xfrm>
          <a:prstGeom prst="rect">
            <a:avLst/>
          </a:prstGeom>
          <a:solidFill>
            <a:srgbClr val="FFFF00"/>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charset="0"/>
                <a:ea typeface="ＭＳ Ｐゴシック" charset="0"/>
              </a:rPr>
              <a:t>SW/HW Interface</a:t>
            </a:r>
          </a:p>
        </p:txBody>
      </p:sp>
      <p:sp>
        <p:nvSpPr>
          <p:cNvPr id="7" name="Text Box 19"/>
          <p:cNvSpPr txBox="1">
            <a:spLocks noChangeAspect="1" noChangeArrowheads="1"/>
          </p:cNvSpPr>
          <p:nvPr/>
        </p:nvSpPr>
        <p:spPr bwMode="auto">
          <a:xfrm>
            <a:off x="2256033" y="3807148"/>
            <a:ext cx="2043113" cy="368300"/>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Program/Language</a:t>
            </a:r>
          </a:p>
        </p:txBody>
      </p:sp>
      <p:sp>
        <p:nvSpPr>
          <p:cNvPr id="8" name="Text Box 20"/>
          <p:cNvSpPr txBox="1">
            <a:spLocks noChangeAspect="1" noChangeArrowheads="1"/>
          </p:cNvSpPr>
          <p:nvPr/>
        </p:nvSpPr>
        <p:spPr bwMode="auto">
          <a:xfrm>
            <a:off x="2256033" y="3435673"/>
            <a:ext cx="2043113" cy="368300"/>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Algorithm</a:t>
            </a:r>
          </a:p>
        </p:txBody>
      </p:sp>
      <p:sp>
        <p:nvSpPr>
          <p:cNvPr id="9" name="Text Box 21"/>
          <p:cNvSpPr txBox="1">
            <a:spLocks noChangeAspect="1" noChangeArrowheads="1"/>
          </p:cNvSpPr>
          <p:nvPr/>
        </p:nvSpPr>
        <p:spPr bwMode="auto">
          <a:xfrm>
            <a:off x="2256033" y="3068960"/>
            <a:ext cx="2043113" cy="366713"/>
          </a:xfrm>
          <a:prstGeom prst="rect">
            <a:avLst/>
          </a:prstGeom>
          <a:solidFill>
            <a:srgbClr val="00FF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Problem</a:t>
            </a:r>
          </a:p>
        </p:txBody>
      </p:sp>
      <p:sp>
        <p:nvSpPr>
          <p:cNvPr id="10" name="Text Box 22"/>
          <p:cNvSpPr txBox="1">
            <a:spLocks noChangeAspect="1" noChangeArrowheads="1"/>
          </p:cNvSpPr>
          <p:nvPr/>
        </p:nvSpPr>
        <p:spPr bwMode="auto">
          <a:xfrm>
            <a:off x="2259208" y="5216004"/>
            <a:ext cx="2039938" cy="373063"/>
          </a:xfrm>
          <a:prstGeom prst="rect">
            <a:avLst/>
          </a:prstGeom>
          <a:solidFill>
            <a:srgbClr val="00FF00"/>
          </a:solidFill>
          <a:ln w="9525">
            <a:solidFill>
              <a:schemeClr val="tx1"/>
            </a:solidFill>
            <a:miter lim="800000"/>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000000"/>
                </a:solidFill>
                <a:effectLst/>
                <a:uLnTx/>
                <a:uFillTx/>
                <a:latin typeface="Tahoma" pitchFamily="34" charset="0"/>
                <a:ea typeface="ＭＳ Ｐゴシック" panose="020B0600070205080204" pitchFamily="34" charset="-128"/>
                <a:cs typeface="Arial" charset="0"/>
              </a:rPr>
              <a:t>Logic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750" b="0" i="0" u="none" strike="noStrike" kern="1200" cap="none" spc="0" normalizeH="0" baseline="0" noProof="0" dirty="0">
              <a:ln>
                <a:noFill/>
              </a:ln>
              <a:solidFill>
                <a:srgbClr val="000000"/>
              </a:solidFill>
              <a:effectLst/>
              <a:uLnTx/>
              <a:uFillTx/>
              <a:latin typeface="Tahoma" pitchFamily="34" charset="0"/>
              <a:ea typeface="ＭＳ Ｐゴシック" panose="020B0600070205080204" pitchFamily="34" charset="-128"/>
              <a:cs typeface="Arial" charset="0"/>
            </a:endParaRPr>
          </a:p>
        </p:txBody>
      </p:sp>
      <p:sp>
        <p:nvSpPr>
          <p:cNvPr id="11" name="Text Box 23"/>
          <p:cNvSpPr txBox="1">
            <a:spLocks noChangeAspect="1" noChangeArrowheads="1"/>
          </p:cNvSpPr>
          <p:nvPr/>
        </p:nvSpPr>
        <p:spPr bwMode="auto">
          <a:xfrm>
            <a:off x="2259208" y="5587479"/>
            <a:ext cx="2041525" cy="368300"/>
          </a:xfrm>
          <a:prstGeom prst="rect">
            <a:avLst/>
          </a:prstGeom>
          <a:solidFill>
            <a:srgbClr val="00FF00"/>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Devices</a:t>
            </a:r>
          </a:p>
        </p:txBody>
      </p:sp>
      <p:sp>
        <p:nvSpPr>
          <p:cNvPr id="12" name="Text Box 24"/>
          <p:cNvSpPr txBox="1">
            <a:spLocks noChangeAspect="1" noChangeArrowheads="1"/>
          </p:cNvSpPr>
          <p:nvPr/>
        </p:nvSpPr>
        <p:spPr bwMode="auto">
          <a:xfrm>
            <a:off x="2259208" y="4149080"/>
            <a:ext cx="2041525" cy="327322"/>
          </a:xfrm>
          <a:prstGeom prst="rect">
            <a:avLst/>
          </a:prstGeom>
          <a:solidFill>
            <a:srgbClr val="35F6FF"/>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Tahoma" charset="0"/>
                <a:ea typeface="ＭＳ Ｐゴシック" charset="0"/>
              </a:rPr>
              <a:t>System Software</a:t>
            </a:r>
          </a:p>
        </p:txBody>
      </p:sp>
      <p:sp>
        <p:nvSpPr>
          <p:cNvPr id="14" name="Text Box 23"/>
          <p:cNvSpPr txBox="1">
            <a:spLocks noChangeAspect="1" noChangeArrowheads="1"/>
          </p:cNvSpPr>
          <p:nvPr/>
        </p:nvSpPr>
        <p:spPr bwMode="auto">
          <a:xfrm>
            <a:off x="2260796" y="5943079"/>
            <a:ext cx="2043112" cy="366713"/>
          </a:xfrm>
          <a:prstGeom prst="rect">
            <a:avLst/>
          </a:prstGeom>
          <a:solidFill>
            <a:srgbClr val="00FF00"/>
          </a:solidFill>
          <a:ln w="9525">
            <a:solidFill>
              <a:schemeClr val="tx1"/>
            </a:solidFill>
            <a:miter lim="800000"/>
            <a:headEnd/>
            <a:tailEnd/>
          </a:ln>
        </p:spPr>
        <p:txBody>
          <a:bodyPr wrap="none"/>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charset="0"/>
                <a:ea typeface="ＭＳ Ｐゴシック" charset="0"/>
              </a:rPr>
              <a:t>Electrons</a:t>
            </a:r>
          </a:p>
        </p:txBody>
      </p:sp>
      <p:sp>
        <p:nvSpPr>
          <p:cNvPr id="15" name="Rounded Rectangle 14"/>
          <p:cNvSpPr>
            <a:spLocks noChangeArrowheads="1"/>
          </p:cNvSpPr>
          <p:nvPr/>
        </p:nvSpPr>
        <p:spPr bwMode="auto">
          <a:xfrm rot="5400000">
            <a:off x="2190824" y="3368578"/>
            <a:ext cx="2151807" cy="2286000"/>
          </a:xfrm>
          <a:prstGeom prst="roundRect">
            <a:avLst>
              <a:gd name="adj" fmla="val 16667"/>
            </a:avLst>
          </a:prstGeom>
          <a:noFill/>
          <a:ln w="44450">
            <a:solidFill>
              <a:srgbClr val="0000FF"/>
            </a:solidFill>
            <a:round/>
            <a:headEnd/>
            <a:tailEnd/>
          </a:ln>
          <a:extLst>
            <a:ext uri="{909E8E84-426E-40dd-AFC4-6F175D3DCCD1}">
              <a14:hiddenFill xmlns=""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FF"/>
              </a:solidFill>
              <a:effectLst/>
              <a:uLnTx/>
              <a:uFillTx/>
              <a:latin typeface="Tahoma"/>
              <a:ea typeface="ＭＳ Ｐゴシック" panose="020B0600070205080204" pitchFamily="34" charset="-128"/>
              <a:cs typeface="+mn-cs"/>
            </a:endParaRPr>
          </a:p>
        </p:txBody>
      </p:sp>
      <p:sp>
        <p:nvSpPr>
          <p:cNvPr id="17" name="TextBox 16"/>
          <p:cNvSpPr txBox="1"/>
          <p:nvPr/>
        </p:nvSpPr>
        <p:spPr>
          <a:xfrm>
            <a:off x="4483550" y="3581400"/>
            <a:ext cx="4661252"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432FF"/>
                </a:solidFill>
                <a:effectLst/>
                <a:uLnTx/>
                <a:uFillTx/>
                <a:latin typeface="Tahoma"/>
                <a:ea typeface="ＭＳ Ｐゴシック" panose="020B0600070205080204" pitchFamily="34" charset="-128"/>
                <a:cs typeface="+mn-cs"/>
              </a:rPr>
              <a:t>Co-design across the hierarchy: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Algorithms to devices</a:t>
            </a:r>
          </a:p>
        </p:txBody>
      </p:sp>
      <p:sp>
        <p:nvSpPr>
          <p:cNvPr id="18" name="TextBox 17"/>
          <p:cNvSpPr txBox="1"/>
          <p:nvPr/>
        </p:nvSpPr>
        <p:spPr>
          <a:xfrm>
            <a:off x="4507461" y="4661520"/>
            <a:ext cx="4493325" cy="76944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432FF"/>
                </a:solidFill>
                <a:effectLst/>
                <a:uLnTx/>
                <a:uFillTx/>
                <a:latin typeface="Tahoma"/>
                <a:ea typeface="ＭＳ Ｐゴシック" panose="020B0600070205080204" pitchFamily="34" charset="-128"/>
                <a:cs typeface="+mn-cs"/>
              </a:rPr>
              <a:t>Specialize as much as possible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FF"/>
                </a:solidFill>
                <a:effectLst/>
                <a:uLnTx/>
                <a:uFillTx/>
                <a:latin typeface="Tahoma"/>
                <a:ea typeface="ＭＳ Ｐゴシック" panose="020B0600070205080204" pitchFamily="34" charset="-128"/>
                <a:cs typeface="+mn-cs"/>
              </a:rPr>
              <a:t>within the design goals</a:t>
            </a:r>
          </a:p>
        </p:txBody>
      </p:sp>
    </p:spTree>
    <p:extLst>
      <p:ext uri="{BB962C8B-B14F-4D97-AF65-F5344CB8AC3E}">
        <p14:creationId xmlns:p14="http://schemas.microsoft.com/office/powerpoint/2010/main" val="3533728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Title 1"/>
          <p:cNvSpPr>
            <a:spLocks noGrp="1"/>
          </p:cNvSpPr>
          <p:nvPr>
            <p:ph type="title"/>
          </p:nvPr>
        </p:nvSpPr>
        <p:spPr/>
        <p:txBody>
          <a:bodyPr/>
          <a:lstStyle/>
          <a:p>
            <a:r>
              <a:rPr lang="en-US" dirty="0">
                <a:latin typeface="Garamond" charset="0"/>
              </a:rPr>
              <a:t>Recall: Amdahl’s Law</a:t>
            </a:r>
          </a:p>
        </p:txBody>
      </p:sp>
      <p:sp>
        <p:nvSpPr>
          <p:cNvPr id="220162" name="Content Placeholder 2"/>
          <p:cNvSpPr>
            <a:spLocks noGrp="1"/>
          </p:cNvSpPr>
          <p:nvPr>
            <p:ph idx="1"/>
          </p:nvPr>
        </p:nvSpPr>
        <p:spPr>
          <a:xfrm>
            <a:off x="228600" y="996950"/>
            <a:ext cx="8915400" cy="5403850"/>
          </a:xfrm>
        </p:spPr>
        <p:txBody>
          <a:bodyPr/>
          <a:lstStyle/>
          <a:p>
            <a:r>
              <a:rPr lang="en-US" b="1" dirty="0">
                <a:latin typeface="Tahoma" charset="0"/>
                <a:ea typeface="ＭＳ Ｐゴシック" charset="0"/>
                <a:cs typeface="ＭＳ Ｐゴシック" charset="0"/>
              </a:rPr>
              <a:t>Amdahl</a:t>
            </a:r>
            <a:r>
              <a:rPr lang="ja-JP" altLang="en-US" b="1" dirty="0">
                <a:latin typeface="Tahoma" charset="0"/>
                <a:ea typeface="ＭＳ Ｐゴシック" charset="0"/>
                <a:cs typeface="ＭＳ Ｐゴシック" charset="0"/>
              </a:rPr>
              <a:t>’</a:t>
            </a:r>
            <a:r>
              <a:rPr lang="en-US" altLang="ja-JP" b="1" dirty="0">
                <a:latin typeface="Tahoma" charset="0"/>
                <a:ea typeface="ＭＳ Ｐゴシック" charset="0"/>
                <a:cs typeface="ＭＳ Ｐゴシック" charset="0"/>
              </a:rPr>
              <a:t>s Law</a:t>
            </a:r>
          </a:p>
          <a:p>
            <a:pPr lvl="1"/>
            <a:r>
              <a:rPr lang="en-US" dirty="0">
                <a:latin typeface="Tahoma" charset="0"/>
                <a:ea typeface="ＭＳ Ｐゴシック" charset="0"/>
              </a:rPr>
              <a:t>f: Parallelizable fraction of a program</a:t>
            </a:r>
          </a:p>
          <a:p>
            <a:pPr lvl="1"/>
            <a:r>
              <a:rPr lang="en-US" dirty="0">
                <a:latin typeface="Tahoma" charset="0"/>
                <a:ea typeface="ＭＳ Ｐゴシック" charset="0"/>
              </a:rPr>
              <a:t>N: Number of processors</a:t>
            </a:r>
          </a:p>
          <a:p>
            <a:pPr lvl="1"/>
            <a:endParaRPr lang="en-US" dirty="0">
              <a:latin typeface="Tahoma" charset="0"/>
              <a:ea typeface="ＭＳ Ｐゴシック" charset="0"/>
            </a:endParaRPr>
          </a:p>
          <a:p>
            <a:pPr lvl="1"/>
            <a:endParaRPr lang="en-US" dirty="0">
              <a:latin typeface="Tahoma" charset="0"/>
              <a:ea typeface="ＭＳ Ｐゴシック" charset="0"/>
            </a:endParaRPr>
          </a:p>
          <a:p>
            <a:pPr lvl="1"/>
            <a:endParaRPr lang="en-US" dirty="0">
              <a:latin typeface="Tahoma" charset="0"/>
              <a:ea typeface="ＭＳ Ｐゴシック" charset="0"/>
            </a:endParaRPr>
          </a:p>
          <a:p>
            <a:endParaRPr lang="en-US" dirty="0">
              <a:solidFill>
                <a:srgbClr val="FF0000"/>
              </a:solidFill>
              <a:latin typeface="Tahoma" charset="0"/>
              <a:ea typeface="ＭＳ Ｐゴシック" charset="0"/>
              <a:cs typeface="ＭＳ Ｐゴシック" charset="0"/>
            </a:endParaRPr>
          </a:p>
          <a:p>
            <a:r>
              <a:rPr lang="en-US" altLang="zh-CN" b="1" dirty="0">
                <a:solidFill>
                  <a:srgbClr val="FF0000"/>
                </a:solidFill>
                <a:latin typeface="Tahoma" charset="0"/>
              </a:rPr>
              <a:t>Serial bottleneck </a:t>
            </a:r>
            <a:r>
              <a:rPr lang="en-US" altLang="zh-CN" dirty="0">
                <a:solidFill>
                  <a:srgbClr val="FF0000"/>
                </a:solidFill>
                <a:latin typeface="Tahoma" charset="0"/>
              </a:rPr>
              <a:t>of Amdahl’s Law: </a:t>
            </a:r>
          </a:p>
          <a:p>
            <a:pPr lvl="1"/>
            <a:r>
              <a:rPr lang="en-US" dirty="0">
                <a:latin typeface="Tahoma" charset="0"/>
                <a:ea typeface="ＭＳ Ｐゴシック" charset="0"/>
                <a:cs typeface="ＭＳ Ｐゴシック" charset="0"/>
              </a:rPr>
              <a:t>Maximum speedup (1/(1-f)) limited by serial portion (</a:t>
            </a:r>
            <a:r>
              <a:rPr lang="en-US" altLang="zh-CN" sz="2400" kern="1200" dirty="0">
                <a:solidFill>
                  <a:srgbClr val="FF0000"/>
                </a:solidFill>
                <a:latin typeface="Arial" charset="0"/>
                <a:ea typeface="ＭＳ Ｐゴシック" charset="0"/>
                <a:cs typeface="Arial" charset="0"/>
              </a:rPr>
              <a:t>1 - f</a:t>
            </a:r>
            <a:r>
              <a:rPr lang="en-US" dirty="0">
                <a:latin typeface="Tahoma" charset="0"/>
                <a:ea typeface="ＭＳ Ｐゴシック" charset="0"/>
                <a:cs typeface="ＭＳ Ｐゴシック" charset="0"/>
              </a:rPr>
              <a:t>)</a:t>
            </a:r>
            <a:endParaRPr lang="en-US" dirty="0">
              <a:solidFill>
                <a:srgbClr val="FF0000"/>
              </a:solidFill>
              <a:latin typeface="Tahoma" charset="0"/>
              <a:ea typeface="ＭＳ Ｐゴシック" charset="0"/>
              <a:cs typeface="ＭＳ Ｐゴシック" charset="0"/>
            </a:endParaRPr>
          </a:p>
          <a:p>
            <a:r>
              <a:rPr lang="en-US" dirty="0">
                <a:latin typeface="Tahoma" charset="0"/>
                <a:ea typeface="ＭＳ Ｐゴシック" charset="0"/>
                <a:cs typeface="ＭＳ Ｐゴシック" charset="0"/>
              </a:rPr>
              <a:t>Parallel portion </a:t>
            </a:r>
            <a:r>
              <a:rPr lang="en-US" altLang="zh-CN" dirty="0">
                <a:latin typeface="Tahoma" charset="0"/>
              </a:rPr>
              <a:t>(</a:t>
            </a:r>
            <a:r>
              <a:rPr lang="en-US" dirty="0">
                <a:solidFill>
                  <a:srgbClr val="0432FF"/>
                </a:solidFill>
                <a:latin typeface="Tahoma" charset="0"/>
                <a:ea typeface="ＭＳ Ｐゴシック" charset="0"/>
                <a:cs typeface="ＭＳ Ｐゴシック" charset="0"/>
              </a:rPr>
              <a:t>f</a:t>
            </a:r>
            <a:r>
              <a:rPr lang="en-US" altLang="zh-CN" dirty="0">
                <a:latin typeface="Tahoma" charset="0"/>
              </a:rPr>
              <a:t>)</a:t>
            </a:r>
            <a:r>
              <a:rPr lang="en-US" dirty="0">
                <a:latin typeface="Tahoma" charset="0"/>
                <a:ea typeface="ＭＳ Ｐゴシック" charset="0"/>
                <a:cs typeface="ＭＳ Ｐゴシック" charset="0"/>
              </a:rPr>
              <a:t> is usually not perfectly parallel</a:t>
            </a:r>
          </a:p>
          <a:p>
            <a:pPr lvl="1"/>
            <a:r>
              <a:rPr lang="en-US" dirty="0">
                <a:solidFill>
                  <a:srgbClr val="FF0000"/>
                </a:solidFill>
                <a:latin typeface="Tahoma" charset="0"/>
                <a:ea typeface="ＭＳ Ｐゴシック" charset="0"/>
              </a:rPr>
              <a:t>Synchronization</a:t>
            </a:r>
            <a:r>
              <a:rPr lang="en-US" dirty="0">
                <a:latin typeface="Tahoma" charset="0"/>
                <a:ea typeface="ＭＳ Ｐゴシック" charset="0"/>
              </a:rPr>
              <a:t> overhead (e.g., updates to shared data)</a:t>
            </a:r>
          </a:p>
          <a:p>
            <a:pPr lvl="1"/>
            <a:r>
              <a:rPr lang="en-US" dirty="0">
                <a:solidFill>
                  <a:srgbClr val="FF0000"/>
                </a:solidFill>
                <a:latin typeface="Tahoma" charset="0"/>
                <a:ea typeface="ＭＳ Ｐゴシック" charset="0"/>
              </a:rPr>
              <a:t>Load imbalance </a:t>
            </a:r>
            <a:r>
              <a:rPr lang="en-US" dirty="0">
                <a:latin typeface="Tahoma" charset="0"/>
                <a:ea typeface="ＭＳ Ｐゴシック" charset="0"/>
              </a:rPr>
              <a:t>overhead (imperfect parallelization)</a:t>
            </a:r>
          </a:p>
          <a:p>
            <a:pPr lvl="1"/>
            <a:r>
              <a:rPr lang="en-US" dirty="0">
                <a:solidFill>
                  <a:srgbClr val="FF0000"/>
                </a:solidFill>
                <a:latin typeface="Tahoma" charset="0"/>
                <a:ea typeface="ＭＳ Ｐゴシック" charset="0"/>
              </a:rPr>
              <a:t>Resource sharing </a:t>
            </a:r>
            <a:r>
              <a:rPr lang="en-US" dirty="0">
                <a:latin typeface="Tahoma" charset="0"/>
                <a:ea typeface="ＭＳ Ｐゴシック" charset="0"/>
              </a:rPr>
              <a:t>overhead (contention among N processors)</a:t>
            </a:r>
          </a:p>
          <a:p>
            <a:pPr lvl="1"/>
            <a:endParaRPr lang="en-US" dirty="0">
              <a:latin typeface="Tahoma" charset="0"/>
              <a:ea typeface="ＭＳ Ｐゴシック" charset="0"/>
            </a:endParaRPr>
          </a:p>
        </p:txBody>
      </p:sp>
      <p:sp>
        <p:nvSpPr>
          <p:cNvPr id="220163" name="Slide Number Placeholder 3"/>
          <p:cNvSpPr>
            <a:spLocks noGrp="1"/>
          </p:cNvSpPr>
          <p:nvPr>
            <p:ph type="sldNum"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C415228-36BB-6A41-A6C3-7A42358B1C84}" type="slidenum">
              <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0000"/>
              </a:solidFill>
              <a:effectLst/>
              <a:uLnTx/>
              <a:uFillTx/>
              <a:latin typeface="Garamond" charset="0"/>
              <a:ea typeface="ＭＳ Ｐゴシック" charset="0"/>
              <a:cs typeface="Arial" charset="0"/>
            </a:endParaRPr>
          </a:p>
        </p:txBody>
      </p:sp>
      <p:sp>
        <p:nvSpPr>
          <p:cNvPr id="220164" name="Text Box 6"/>
          <p:cNvSpPr txBox="1">
            <a:spLocks noChangeArrowheads="1"/>
          </p:cNvSpPr>
          <p:nvPr/>
        </p:nvSpPr>
        <p:spPr bwMode="auto">
          <a:xfrm>
            <a:off x="914400" y="2749550"/>
            <a:ext cx="1803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Speedup =</a:t>
            </a:r>
          </a:p>
        </p:txBody>
      </p:sp>
      <p:sp>
        <p:nvSpPr>
          <p:cNvPr id="220165" name="Line 7"/>
          <p:cNvSpPr>
            <a:spLocks noChangeShapeType="1"/>
          </p:cNvSpPr>
          <p:nvPr/>
        </p:nvSpPr>
        <p:spPr bwMode="auto">
          <a:xfrm>
            <a:off x="2747963" y="2970213"/>
            <a:ext cx="3862387" cy="1587"/>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ＭＳ Ｐゴシック" charset="0"/>
            </a:endParaRPr>
          </a:p>
        </p:txBody>
      </p:sp>
      <p:sp>
        <p:nvSpPr>
          <p:cNvPr id="220166" name="Text Box 8"/>
          <p:cNvSpPr txBox="1">
            <a:spLocks noChangeArrowheads="1"/>
          </p:cNvSpPr>
          <p:nvPr/>
        </p:nvSpPr>
        <p:spPr bwMode="auto">
          <a:xfrm>
            <a:off x="4138613" y="2514600"/>
            <a:ext cx="91440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charset="0"/>
                <a:ea typeface="ＭＳ Ｐゴシック" charset="0"/>
                <a:cs typeface="Arial" charset="0"/>
              </a:rPr>
              <a:t>1</a:t>
            </a:r>
          </a:p>
        </p:txBody>
      </p:sp>
      <p:sp>
        <p:nvSpPr>
          <p:cNvPr id="220167" name="Text Box 9"/>
          <p:cNvSpPr txBox="1">
            <a:spLocks noChangeArrowheads="1"/>
          </p:cNvSpPr>
          <p:nvPr/>
        </p:nvSpPr>
        <p:spPr bwMode="auto">
          <a:xfrm>
            <a:off x="3530600" y="2971800"/>
            <a:ext cx="915988" cy="57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Arial" charset="0"/>
                <a:ea typeface="ＭＳ Ｐゴシック" charset="0"/>
                <a:cs typeface="Arial" charset="0"/>
              </a:rPr>
              <a:t>+</a:t>
            </a:r>
          </a:p>
        </p:txBody>
      </p:sp>
      <p:sp>
        <p:nvSpPr>
          <p:cNvPr id="220168" name="Text Box 10"/>
          <p:cNvSpPr txBox="1">
            <a:spLocks noChangeArrowheads="1"/>
          </p:cNvSpPr>
          <p:nvPr/>
        </p:nvSpPr>
        <p:spPr bwMode="auto">
          <a:xfrm>
            <a:off x="2820988" y="3044825"/>
            <a:ext cx="91440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1 - f</a:t>
            </a:r>
          </a:p>
        </p:txBody>
      </p:sp>
      <p:sp>
        <p:nvSpPr>
          <p:cNvPr id="220169" name="Text Box 13"/>
          <p:cNvSpPr txBox="1">
            <a:spLocks noChangeArrowheads="1"/>
          </p:cNvSpPr>
          <p:nvPr/>
        </p:nvSpPr>
        <p:spPr bwMode="auto">
          <a:xfrm>
            <a:off x="4735513" y="2941638"/>
            <a:ext cx="1154112"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Arial" charset="0"/>
              </a:rPr>
              <a:t>f</a:t>
            </a:r>
          </a:p>
        </p:txBody>
      </p:sp>
      <p:sp>
        <p:nvSpPr>
          <p:cNvPr id="220170" name="Text Box 14"/>
          <p:cNvSpPr txBox="1">
            <a:spLocks noChangeArrowheads="1"/>
          </p:cNvSpPr>
          <p:nvPr/>
        </p:nvSpPr>
        <p:spPr bwMode="auto">
          <a:xfrm>
            <a:off x="4030663" y="3276600"/>
            <a:ext cx="2579687"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Arial" charset="0"/>
              </a:rPr>
              <a:t>N</a:t>
            </a:r>
          </a:p>
        </p:txBody>
      </p:sp>
      <p:sp>
        <p:nvSpPr>
          <p:cNvPr id="220171" name="Line 15"/>
          <p:cNvSpPr>
            <a:spLocks noChangeShapeType="1"/>
          </p:cNvSpPr>
          <p:nvPr/>
        </p:nvSpPr>
        <p:spPr bwMode="auto">
          <a:xfrm flipV="1">
            <a:off x="4241800" y="3276600"/>
            <a:ext cx="2270125" cy="11113"/>
          </a:xfrm>
          <a:prstGeom prst="line">
            <a:avLst/>
          </a:prstGeom>
          <a:noFill/>
          <a:ln w="28575">
            <a:solidFill>
              <a:srgbClr val="0432FF"/>
            </a:solidFill>
            <a:round/>
            <a:headEnd/>
            <a:tailEnd/>
          </a:ln>
          <a:extLst>
            <a:ext uri="{909E8E84-426E-40dd-AFC4-6F175D3DCCD1}">
              <a14:hiddenFill xmlns=""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432FF"/>
              </a:solidFill>
              <a:effectLst/>
              <a:uLnTx/>
              <a:uFillTx/>
              <a:latin typeface="Arial" charset="0"/>
              <a:ea typeface="ＭＳ Ｐゴシック" charset="0"/>
              <a:cs typeface="ＭＳ Ｐゴシック" charset="0"/>
            </a:endParaRPr>
          </a:p>
        </p:txBody>
      </p:sp>
      <p:sp>
        <p:nvSpPr>
          <p:cNvPr id="2" name="矩形 1">
            <a:extLst>
              <a:ext uri="{FF2B5EF4-FFF2-40B4-BE49-F238E27FC236}">
                <a16:creationId xmlns:a16="http://schemas.microsoft.com/office/drawing/2014/main" id="{D59C6AC7-7F85-46F4-87EC-5235082F99D7}"/>
              </a:ext>
            </a:extLst>
          </p:cNvPr>
          <p:cNvSpPr/>
          <p:nvPr/>
        </p:nvSpPr>
        <p:spPr>
          <a:xfrm>
            <a:off x="-319088" y="6316780"/>
            <a:ext cx="9005887" cy="523220"/>
          </a:xfrm>
          <a:prstGeom prst="rect">
            <a:avLst/>
          </a:prstGeom>
        </p:spPr>
        <p:txBody>
          <a:bodyPr wrap="square">
            <a:spAutoFit/>
          </a:bodyPr>
          <a:lstStyle/>
          <a:p>
            <a:pPr lvl="1"/>
            <a:endParaRPr lang="en-US" altLang="zh-CN" sz="1400" dirty="0">
              <a:latin typeface="Tahoma" charset="0"/>
              <a:ea typeface="ＭＳ Ｐゴシック" charset="0"/>
            </a:endParaRPr>
          </a:p>
          <a:p>
            <a:pPr lvl="1"/>
            <a:r>
              <a:rPr lang="en-US" altLang="zh-CN" sz="1400" dirty="0">
                <a:latin typeface="Tahoma" charset="0"/>
                <a:ea typeface="ＭＳ Ｐゴシック" charset="0"/>
              </a:rPr>
              <a:t>Amdahl, </a:t>
            </a:r>
            <a:r>
              <a:rPr lang="ja-JP" altLang="en-US" sz="1400" dirty="0">
                <a:latin typeface="Tahoma" charset="0"/>
                <a:ea typeface="ＭＳ Ｐゴシック" charset="0"/>
              </a:rPr>
              <a:t>“</a:t>
            </a:r>
            <a:r>
              <a:rPr lang="en-US" altLang="ja-JP" sz="1400" dirty="0">
                <a:latin typeface="Tahoma" charset="0"/>
                <a:ea typeface="ＭＳ Ｐゴシック" charset="0"/>
              </a:rPr>
              <a:t>Validity of the single processor approach to achieving large scale computing capabilities,</a:t>
            </a:r>
            <a:r>
              <a:rPr lang="ja-JP" altLang="en-US" sz="1400" dirty="0">
                <a:latin typeface="Tahoma" charset="0"/>
                <a:ea typeface="ＭＳ Ｐゴシック" charset="0"/>
              </a:rPr>
              <a:t>”</a:t>
            </a:r>
            <a:r>
              <a:rPr lang="en-US" altLang="ja-JP" sz="1400" dirty="0">
                <a:latin typeface="Tahoma" charset="0"/>
                <a:ea typeface="ＭＳ Ｐゴシック" charset="0"/>
              </a:rPr>
              <a:t> 1967. </a:t>
            </a:r>
          </a:p>
        </p:txBody>
      </p:sp>
    </p:spTree>
    <p:extLst>
      <p:ext uri="{BB962C8B-B14F-4D97-AF65-F5344CB8AC3E}">
        <p14:creationId xmlns:p14="http://schemas.microsoft.com/office/powerpoint/2010/main" val="429145731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altLang="zh-CN" dirty="0"/>
              <a:t>Recall: </a:t>
            </a:r>
            <a:r>
              <a:rPr lang="en-US" dirty="0"/>
              <a:t>Key Term in Roofline Model</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374848" y="1262676"/>
            <a:ext cx="8318103" cy="3309324"/>
          </a:xfrm>
        </p:spPr>
        <p:txBody>
          <a:bodyPr/>
          <a:lstStyle/>
          <a:p>
            <a:r>
              <a:rPr lang="en-US" altLang="zh-CN" b="1" dirty="0"/>
              <a:t>Arithmetic intensity (AI)</a:t>
            </a:r>
          </a:p>
          <a:p>
            <a:pPr lvl="1"/>
            <a:r>
              <a:rPr lang="en-US" sz="2400" b="1" dirty="0">
                <a:latin typeface="Bahnschrift Condensed" panose="020B0502040204020203" pitchFamily="34" charset="0"/>
              </a:rPr>
              <a:t>Definition</a:t>
            </a:r>
            <a:r>
              <a:rPr lang="en-US" sz="2400" dirty="0">
                <a:latin typeface="Bahnschrift Condensed" panose="020B0502040204020203" pitchFamily="34" charset="0"/>
              </a:rPr>
              <a:t>: AI = </a:t>
            </a:r>
            <a:r>
              <a:rPr lang="en-US" sz="2400" dirty="0">
                <a:solidFill>
                  <a:srgbClr val="0432FF"/>
                </a:solidFill>
                <a:latin typeface="Bahnschrift Condensed" panose="020B0502040204020203" pitchFamily="34" charset="0"/>
              </a:rPr>
              <a:t>Total Flops / Total Memory Bytes</a:t>
            </a:r>
          </a:p>
          <a:p>
            <a:pPr lvl="1"/>
            <a:r>
              <a:rPr lang="en-US" altLang="zh-CN" sz="2400" dirty="0">
                <a:latin typeface="Bahnschrift Condensed" panose="020B0502040204020203" pitchFamily="34" charset="0"/>
              </a:rPr>
              <a:t>Arithmetic intensity describes the characteristics of a compute kernel running on a given processor</a:t>
            </a:r>
            <a:endParaRPr lang="en-US" sz="2400" dirty="0">
              <a:solidFill>
                <a:srgbClr val="0432FF"/>
              </a:solidFill>
              <a:latin typeface="Bahnschrift Condensed" panose="020B0502040204020203" pitchFamily="34" charset="0"/>
              <a:sym typeface="Wingdings" panose="05000000000000000000" pitchFamily="2" charset="2"/>
            </a:endParaRPr>
          </a:p>
          <a:p>
            <a:pPr lvl="2"/>
            <a:r>
              <a:rPr lang="en-US" sz="2400" dirty="0">
                <a:latin typeface="Bahnschrift Condensed" panose="020B0502040204020203" pitchFamily="34" charset="0"/>
                <a:sym typeface="Wingdings" panose="05000000000000000000" pitchFamily="2" charset="2"/>
              </a:rPr>
              <a:t>Large AI  Compute-bound</a:t>
            </a:r>
          </a:p>
          <a:p>
            <a:pPr lvl="2"/>
            <a:r>
              <a:rPr lang="en-US" sz="2400" dirty="0">
                <a:latin typeface="Bahnschrift Condensed" panose="020B0502040204020203" pitchFamily="34" charset="0"/>
                <a:sym typeface="Wingdings" panose="05000000000000000000" pitchFamily="2" charset="2"/>
              </a:rPr>
              <a:t>Small AI  Memory-bound</a:t>
            </a:r>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54270" y="6474466"/>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spTree>
    <p:extLst>
      <p:ext uri="{BB962C8B-B14F-4D97-AF65-F5344CB8AC3E}">
        <p14:creationId xmlns:p14="http://schemas.microsoft.com/office/powerpoint/2010/main" val="391761652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8087-A87E-A94D-B8B8-8578B4853ED2}"/>
              </a:ext>
            </a:extLst>
          </p:cNvPr>
          <p:cNvSpPr>
            <a:spLocks noGrp="1"/>
          </p:cNvSpPr>
          <p:nvPr>
            <p:ph type="title"/>
          </p:nvPr>
        </p:nvSpPr>
        <p:spPr/>
        <p:txBody>
          <a:bodyPr/>
          <a:lstStyle/>
          <a:p>
            <a:r>
              <a:rPr lang="en-US" dirty="0"/>
              <a:t>Recall: Roofline Model’s 3 Steps</a:t>
            </a:r>
          </a:p>
        </p:txBody>
      </p:sp>
      <p:sp>
        <p:nvSpPr>
          <p:cNvPr id="3" name="Content Placeholder 2">
            <a:extLst>
              <a:ext uri="{FF2B5EF4-FFF2-40B4-BE49-F238E27FC236}">
                <a16:creationId xmlns:a16="http://schemas.microsoft.com/office/drawing/2014/main" id="{A7A011EF-1B60-AD4A-B862-78A89833BA9B}"/>
              </a:ext>
            </a:extLst>
          </p:cNvPr>
          <p:cNvSpPr>
            <a:spLocks noGrp="1"/>
          </p:cNvSpPr>
          <p:nvPr>
            <p:ph idx="1"/>
          </p:nvPr>
        </p:nvSpPr>
        <p:spPr>
          <a:xfrm>
            <a:off x="23579" y="1056414"/>
            <a:ext cx="8891822" cy="3439386"/>
          </a:xfrm>
        </p:spPr>
        <p:txBody>
          <a:bodyPr/>
          <a:lstStyle/>
          <a:p>
            <a:r>
              <a:rPr lang="en-US" dirty="0"/>
              <a:t>Roofline model’s 3 Steps:</a:t>
            </a:r>
          </a:p>
          <a:p>
            <a:pPr lvl="1"/>
            <a:r>
              <a:rPr lang="en-US" altLang="zh-CN" b="1" dirty="0"/>
              <a:t>1, Machine characterization</a:t>
            </a:r>
            <a:r>
              <a:rPr lang="en-US" altLang="zh-CN" dirty="0"/>
              <a:t>: </a:t>
            </a:r>
          </a:p>
          <a:p>
            <a:pPr lvl="2"/>
            <a:r>
              <a:rPr lang="en-US" altLang="zh-CN" dirty="0">
                <a:solidFill>
                  <a:srgbClr val="0432FF"/>
                </a:solidFill>
              </a:rPr>
              <a:t>Memory bandwidth</a:t>
            </a:r>
            <a:r>
              <a:rPr lang="en-US" altLang="zh-CN" dirty="0"/>
              <a:t>, </a:t>
            </a:r>
          </a:p>
          <a:p>
            <a:pPr lvl="2"/>
            <a:r>
              <a:rPr lang="en-US" altLang="zh-CN" dirty="0">
                <a:solidFill>
                  <a:srgbClr val="FF0080"/>
                </a:solidFill>
              </a:rPr>
              <a:t>Peak compute</a:t>
            </a:r>
            <a:r>
              <a:rPr lang="en-US" altLang="zh-CN" dirty="0"/>
              <a:t>;</a:t>
            </a:r>
          </a:p>
          <a:p>
            <a:pPr lvl="1"/>
            <a:r>
              <a:rPr lang="en-US" altLang="zh-CN" b="1" dirty="0"/>
              <a:t>2, Application Characterization</a:t>
            </a:r>
            <a:r>
              <a:rPr lang="en-US" altLang="zh-CN" dirty="0"/>
              <a:t>: </a:t>
            </a:r>
          </a:p>
          <a:p>
            <a:pPr lvl="2"/>
            <a:r>
              <a:rPr lang="en-US" altLang="zh-CN" dirty="0">
                <a:solidFill>
                  <a:srgbClr val="C00000"/>
                </a:solidFill>
              </a:rPr>
              <a:t>Arithmetic intensity</a:t>
            </a:r>
            <a:r>
              <a:rPr lang="en-US" altLang="zh-CN" dirty="0"/>
              <a:t>;</a:t>
            </a:r>
          </a:p>
          <a:p>
            <a:pPr lvl="1"/>
            <a:r>
              <a:rPr lang="en-US" altLang="zh-CN" b="1" dirty="0"/>
              <a:t>3, Application execution monitoring</a:t>
            </a:r>
            <a:r>
              <a:rPr lang="en-US" altLang="zh-CN" dirty="0"/>
              <a:t>: </a:t>
            </a:r>
          </a:p>
          <a:p>
            <a:pPr lvl="2"/>
            <a:r>
              <a:rPr lang="en-US" altLang="zh-CN" dirty="0">
                <a:solidFill>
                  <a:srgbClr val="C00000"/>
                </a:solidFill>
              </a:rPr>
              <a:t>Real Throughput</a:t>
            </a:r>
            <a:endParaRPr lang="en-US" altLang="zh-CN" dirty="0"/>
          </a:p>
          <a:p>
            <a:pPr marL="344487" lvl="1" indent="0">
              <a:buNone/>
            </a:pPr>
            <a:endParaRPr lang="en-US" dirty="0"/>
          </a:p>
        </p:txBody>
      </p:sp>
      <p:sp>
        <p:nvSpPr>
          <p:cNvPr id="4" name="Slide Number Placeholder 5">
            <a:extLst>
              <a:ext uri="{FF2B5EF4-FFF2-40B4-BE49-F238E27FC236}">
                <a16:creationId xmlns:a16="http://schemas.microsoft.com/office/drawing/2014/main" id="{37460E38-D58D-4C46-8CED-DA42BA0933E8}"/>
              </a:ext>
            </a:extLst>
          </p:cNvPr>
          <p:cNvSpPr txBox="1">
            <a:spLocks/>
          </p:cNvSpPr>
          <p:nvPr/>
        </p:nvSpPr>
        <p:spPr>
          <a:xfrm>
            <a:off x="7924800" y="6355715"/>
            <a:ext cx="990600" cy="365125"/>
          </a:xfrm>
          <a:prstGeom prst="rect">
            <a:avLst/>
          </a:prstGeom>
        </p:spPr>
        <p:txBody>
          <a:bodyPr vert="horz" lIns="91440" tIns="45720" rIns="91440" bIns="45720" rtlCol="0" anchor="ctr"/>
          <a:lstStyle>
            <a:defPPr>
              <a:defRPr lang="en-US"/>
            </a:defPPr>
            <a:lvl1pPr marL="0" algn="r" defTabSz="914400" rtl="0" eaLnBrk="1" latinLnBrk="0" hangingPunct="1">
              <a:defRPr sz="2000" kern="1200">
                <a:solidFill>
                  <a:schemeClr val="tx1">
                    <a:tint val="75000"/>
                  </a:schemeClr>
                </a:solidFill>
                <a:latin typeface="Cambria Math" panose="02040503050406030204" pitchFamily="18" charset="0"/>
                <a:ea typeface="Cambria Math" panose="02040503050406030204" pitchFamily="18"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tint val="75000"/>
                  </a:prstClr>
                </a:solidFill>
                <a:effectLst/>
                <a:uLnTx/>
                <a:uFillTx/>
                <a:latin typeface="Cambria Math" panose="02040503050406030204" pitchFamily="18" charset="0"/>
                <a:ea typeface="Cambria Math" panose="02040503050406030204" pitchFamily="18" charset="0"/>
                <a:cs typeface="+mn-cs"/>
              </a:rPr>
              <a:t>9</a:t>
            </a:r>
          </a:p>
        </p:txBody>
      </p:sp>
      <p:sp>
        <p:nvSpPr>
          <p:cNvPr id="5" name="矩形 4">
            <a:extLst>
              <a:ext uri="{FF2B5EF4-FFF2-40B4-BE49-F238E27FC236}">
                <a16:creationId xmlns:a16="http://schemas.microsoft.com/office/drawing/2014/main" id="{29983E79-B1DC-4E55-BFC7-3BBEE3BD35D3}"/>
              </a:ext>
            </a:extLst>
          </p:cNvPr>
          <p:cNvSpPr/>
          <p:nvPr/>
        </p:nvSpPr>
        <p:spPr>
          <a:xfrm>
            <a:off x="-304800" y="6487752"/>
            <a:ext cx="9055497" cy="338554"/>
          </a:xfrm>
          <a:prstGeom prst="rect">
            <a:avLst/>
          </a:prstGeom>
        </p:spPr>
        <p:txBody>
          <a:bodyPr wrap="square">
            <a:spAutoFit/>
          </a:bodyPr>
          <a:lstStyle/>
          <a:p>
            <a:pPr marL="492101" lvl="3">
              <a:spcBef>
                <a:spcPts val="800"/>
              </a:spcBef>
              <a:buSzPct val="100000"/>
            </a:pPr>
            <a:r>
              <a:rPr lang="en-US" altLang="zh-CN" sz="1600" dirty="0">
                <a:solidFill>
                  <a:schemeClr val="bg1">
                    <a:lumMod val="50000"/>
                  </a:schemeClr>
                </a:solidFill>
                <a:latin typeface="Bahnschrift Condensed" panose="020B0502040204020203" pitchFamily="34" charset="0"/>
              </a:rPr>
              <a:t>Williams, Waterman, Patterson, “Roofline: An Insightful Visual Performance Model for Multicore Architectures”, CACM, 2009 </a:t>
            </a:r>
          </a:p>
        </p:txBody>
      </p:sp>
    </p:spTree>
    <p:extLst>
      <p:ext uri="{BB962C8B-B14F-4D97-AF65-F5344CB8AC3E}">
        <p14:creationId xmlns:p14="http://schemas.microsoft.com/office/powerpoint/2010/main" val="99338113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a:xfrm>
            <a:off x="228600" y="228600"/>
            <a:ext cx="6480906" cy="681038"/>
          </a:xfrm>
        </p:spPr>
        <p:txBody>
          <a:bodyPr/>
          <a:lstStyle/>
          <a:p>
            <a:r>
              <a:rPr lang="en-US" altLang="zh-CN" sz="3000" dirty="0"/>
              <a:t>Recall: Little’s Law</a:t>
            </a:r>
            <a:r>
              <a:rPr lang="zh-CN" altLang="en-US" sz="3000" dirty="0"/>
              <a:t>：</a:t>
            </a:r>
            <a:r>
              <a:rPr lang="en-US" altLang="zh-CN" sz="3000" dirty="0"/>
              <a:t>Intuition</a:t>
            </a:r>
          </a:p>
        </p:txBody>
      </p:sp>
      <p:sp>
        <p:nvSpPr>
          <p:cNvPr id="4" name="Content Placeholder 2">
            <a:extLst>
              <a:ext uri="{FF2B5EF4-FFF2-40B4-BE49-F238E27FC236}">
                <a16:creationId xmlns:a16="http://schemas.microsoft.com/office/drawing/2014/main" id="{4525ECBB-39F7-47DA-8319-2DDD9EA0853A}"/>
              </a:ext>
            </a:extLst>
          </p:cNvPr>
          <p:cNvSpPr txBox="1">
            <a:spLocks noChangeArrowheads="1"/>
          </p:cNvSpPr>
          <p:nvPr/>
        </p:nvSpPr>
        <p:spPr bwMode="auto">
          <a:xfrm>
            <a:off x="381000" y="3592155"/>
            <a:ext cx="8534400" cy="212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sz="2000" kern="0" dirty="0">
                <a:ea typeface="ＭＳ Ｐゴシック" panose="020B0600070205080204" pitchFamily="34" charset="-128"/>
              </a:rPr>
              <a:t>Image the services provided by counters in the bank.</a:t>
            </a:r>
          </a:p>
          <a:p>
            <a:pPr lvl="1"/>
            <a:r>
              <a:rPr lang="en-US" altLang="en-US" sz="1800" b="1" kern="0" dirty="0">
                <a:solidFill>
                  <a:srgbClr val="C00000"/>
                </a:solidFill>
                <a:ea typeface="ＭＳ Ｐゴシック" panose="020B0600070205080204" pitchFamily="34" charset="-128"/>
              </a:rPr>
              <a:t>Arrival rate</a:t>
            </a:r>
            <a:r>
              <a:rPr lang="en-US" altLang="en-US" sz="1800" kern="0" dirty="0">
                <a:ea typeface="ＭＳ Ｐゴシック" panose="020B0600070205080204" pitchFamily="34" charset="-128"/>
              </a:rPr>
              <a:t>: </a:t>
            </a:r>
            <a:r>
              <a:rPr lang="en-US" altLang="zh-CN" sz="1800" kern="0" dirty="0">
                <a:solidFill>
                  <a:srgbClr val="000000"/>
                </a:solidFill>
              </a:rPr>
              <a:t>one customer/min;</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00B0F0"/>
                </a:solidFill>
                <a:latin typeface="Bahnschrift Condensed" panose="020B0502040204020203" pitchFamily="34" charset="0"/>
                <a:ea typeface="ＭＳ Ｐゴシック" panose="020B0600070205080204" pitchFamily="34" charset="-128"/>
              </a:rPr>
              <a:t>Counter’s average serve time</a:t>
            </a:r>
            <a:r>
              <a:rPr lang="en-US" altLang="en-US" sz="1800" kern="0" dirty="0">
                <a:ea typeface="ＭＳ Ｐゴシック" panose="020B0600070205080204" pitchFamily="34" charset="-128"/>
              </a:rPr>
              <a:t>: </a:t>
            </a:r>
            <a:r>
              <a:rPr lang="en-US" altLang="zh-CN" sz="1800" kern="0" dirty="0">
                <a:solidFill>
                  <a:srgbClr val="000000"/>
                </a:solidFill>
              </a:rPr>
              <a:t>6 mins;</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7030A0"/>
                </a:solidFill>
                <a:ea typeface="ＭＳ Ｐゴシック" panose="020B0600070205080204" pitchFamily="34" charset="-128"/>
              </a:rPr>
              <a:t>Question</a:t>
            </a:r>
            <a:r>
              <a:rPr lang="en-US" altLang="en-US" sz="1800" kern="0" dirty="0">
                <a:ea typeface="ＭＳ Ｐゴシック" panose="020B0600070205080204" pitchFamily="34" charset="-128"/>
              </a:rPr>
              <a:t>: how many counters are needed for people who need the service? (</a:t>
            </a:r>
            <a:r>
              <a:rPr lang="en-US" altLang="en-US" sz="1800" b="1" kern="0" dirty="0">
                <a:solidFill>
                  <a:srgbClr val="FF0000"/>
                </a:solidFill>
                <a:ea typeface="ＭＳ Ｐゴシック" panose="020B0600070205080204" pitchFamily="34" charset="-128"/>
              </a:rPr>
              <a:t>Cond: The </a:t>
            </a:r>
            <a:r>
              <a:rPr lang="en-US" altLang="zh-CN" sz="1800" b="1" kern="0" dirty="0">
                <a:solidFill>
                  <a:srgbClr val="FF0000"/>
                </a:solidFill>
              </a:rPr>
              <a:t>customer will leave if no counter is available</a:t>
            </a:r>
            <a:r>
              <a:rPr lang="en-US" altLang="zh-CN" sz="1800" kern="0" dirty="0">
                <a:solidFill>
                  <a:srgbClr val="000000"/>
                </a:solidFill>
              </a:rPr>
              <a:t>.</a:t>
            </a:r>
            <a:r>
              <a:rPr lang="en-US" altLang="en-US" sz="1800" kern="0" dirty="0">
                <a:ea typeface="ＭＳ Ｐゴシック" panose="020B0600070205080204" pitchFamily="34" charset="-128"/>
              </a:rPr>
              <a:t> )</a:t>
            </a:r>
          </a:p>
          <a:p>
            <a:pPr lvl="1"/>
            <a:r>
              <a:rPr lang="en-US" altLang="en-US" sz="1800" b="1" kern="0" dirty="0">
                <a:solidFill>
                  <a:srgbClr val="7030A0"/>
                </a:solidFill>
                <a:ea typeface="ＭＳ Ｐゴシック" panose="020B0600070205080204" pitchFamily="34" charset="-128"/>
              </a:rPr>
              <a:t>Answer</a:t>
            </a:r>
            <a:r>
              <a:rPr lang="en-US" altLang="en-US" sz="1800" kern="0" dirty="0">
                <a:ea typeface="ＭＳ Ｐゴシック" panose="020B0600070205080204" pitchFamily="34" charset="-128"/>
              </a:rPr>
              <a:t>: 6 counters (one slot for one person, then no customer will leave). </a:t>
            </a:r>
          </a:p>
        </p:txBody>
      </p:sp>
      <p:grpSp>
        <p:nvGrpSpPr>
          <p:cNvPr id="29" name="组合 28">
            <a:extLst>
              <a:ext uri="{FF2B5EF4-FFF2-40B4-BE49-F238E27FC236}">
                <a16:creationId xmlns:a16="http://schemas.microsoft.com/office/drawing/2014/main" id="{CDA43161-40B4-4024-9FF3-E95C8690960A}"/>
              </a:ext>
            </a:extLst>
          </p:cNvPr>
          <p:cNvGrpSpPr/>
          <p:nvPr/>
        </p:nvGrpSpPr>
        <p:grpSpPr>
          <a:xfrm>
            <a:off x="1066800" y="1435052"/>
            <a:ext cx="5142963" cy="1917748"/>
            <a:chOff x="1714500" y="1451669"/>
            <a:chExt cx="3276600" cy="1066800"/>
          </a:xfrm>
        </p:grpSpPr>
        <p:sp>
          <p:nvSpPr>
            <p:cNvPr id="25" name="矩形 24">
              <a:extLst>
                <a:ext uri="{FF2B5EF4-FFF2-40B4-BE49-F238E27FC236}">
                  <a16:creationId xmlns:a16="http://schemas.microsoft.com/office/drawing/2014/main" id="{A7C1E433-C979-4103-88B3-88DBEB8798A7}"/>
                </a:ext>
              </a:extLst>
            </p:cNvPr>
            <p:cNvSpPr/>
            <p:nvPr/>
          </p:nvSpPr>
          <p:spPr bwMode="auto">
            <a:xfrm>
              <a:off x="1714500" y="1451669"/>
              <a:ext cx="2895600" cy="1066800"/>
            </a:xfrm>
            <a:prstGeom prst="rect">
              <a:avLst/>
            </a:prstGeom>
            <a:solidFill>
              <a:schemeClr val="bg1">
                <a:lumMod val="95000"/>
              </a:schemeClr>
            </a:solidFill>
            <a:ln w="9525" cap="flat" cmpd="sng" algn="ctr">
              <a:solidFill>
                <a:schemeClr val="tx1"/>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6" name="矩形 5">
              <a:extLst>
                <a:ext uri="{FF2B5EF4-FFF2-40B4-BE49-F238E27FC236}">
                  <a16:creationId xmlns:a16="http://schemas.microsoft.com/office/drawing/2014/main" id="{A6E0474B-37D9-4B38-8590-C12554969915}"/>
                </a:ext>
              </a:extLst>
            </p:cNvPr>
            <p:cNvSpPr/>
            <p:nvPr/>
          </p:nvSpPr>
          <p:spPr>
            <a:xfrm>
              <a:off x="1714500" y="2271038"/>
              <a:ext cx="1350805" cy="222572"/>
            </a:xfrm>
            <a:prstGeom prst="rect">
              <a:avLst/>
            </a:prstGeom>
          </p:spPr>
          <p:txBody>
            <a:bodyPr wrap="square">
              <a:spAutoFit/>
            </a:bodyPr>
            <a:lstStyle/>
            <a:p>
              <a:r>
                <a:rPr lang="en-US" altLang="zh-CN" sz="2000" dirty="0">
                  <a:solidFill>
                    <a:srgbClr val="7030A0"/>
                  </a:solidFill>
                  <a:latin typeface="Bahnschrift Condensed" panose="020B0502040204020203" pitchFamily="34" charset="0"/>
                </a:rPr>
                <a:t>How many Counters?</a:t>
              </a:r>
              <a:endParaRPr lang="zh-CN" altLang="en-US" sz="2000" dirty="0">
                <a:solidFill>
                  <a:srgbClr val="7030A0"/>
                </a:solidFill>
                <a:latin typeface="Bahnschrift Condensed" panose="020B0502040204020203" pitchFamily="34" charset="0"/>
              </a:endParaRPr>
            </a:p>
          </p:txBody>
        </p:sp>
        <p:grpSp>
          <p:nvGrpSpPr>
            <p:cNvPr id="17" name="组合 16">
              <a:extLst>
                <a:ext uri="{FF2B5EF4-FFF2-40B4-BE49-F238E27FC236}">
                  <a16:creationId xmlns:a16="http://schemas.microsoft.com/office/drawing/2014/main" id="{B7B446BB-D0BC-412A-B92C-5FE81B308FE2}"/>
                </a:ext>
              </a:extLst>
            </p:cNvPr>
            <p:cNvGrpSpPr/>
            <p:nvPr/>
          </p:nvGrpSpPr>
          <p:grpSpPr>
            <a:xfrm>
              <a:off x="3268086" y="1786874"/>
              <a:ext cx="1295400" cy="396389"/>
              <a:chOff x="2438400" y="1517078"/>
              <a:chExt cx="1295400" cy="472589"/>
            </a:xfrm>
          </p:grpSpPr>
          <p:cxnSp>
            <p:nvCxnSpPr>
              <p:cNvPr id="8" name="直接连接符 7">
                <a:extLst>
                  <a:ext uri="{FF2B5EF4-FFF2-40B4-BE49-F238E27FC236}">
                    <a16:creationId xmlns:a16="http://schemas.microsoft.com/office/drawing/2014/main" id="{A0F76374-B265-41A6-BC4B-2132CB4C05B4}"/>
                  </a:ext>
                </a:extLst>
              </p:cNvPr>
              <p:cNvCxnSpPr>
                <a:cxnSpLocks/>
              </p:cNvCxnSpPr>
              <p:nvPr/>
            </p:nvCxnSpPr>
            <p:spPr bwMode="auto">
              <a:xfrm flipH="1">
                <a:off x="2438400" y="1517078"/>
                <a:ext cx="1" cy="472589"/>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1" name="直接连接符 10">
                <a:extLst>
                  <a:ext uri="{FF2B5EF4-FFF2-40B4-BE49-F238E27FC236}">
                    <a16:creationId xmlns:a16="http://schemas.microsoft.com/office/drawing/2014/main" id="{C53FFB0E-6EB3-45A5-8162-A64C731DDACD}"/>
                  </a:ext>
                </a:extLst>
              </p:cNvPr>
              <p:cNvCxnSpPr>
                <a:cxnSpLocks/>
              </p:cNvCxnSpPr>
              <p:nvPr/>
            </p:nvCxnSpPr>
            <p:spPr bwMode="auto">
              <a:xfrm>
                <a:off x="25908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12" name="直接连接符 11">
                <a:extLst>
                  <a:ext uri="{FF2B5EF4-FFF2-40B4-BE49-F238E27FC236}">
                    <a16:creationId xmlns:a16="http://schemas.microsoft.com/office/drawing/2014/main" id="{1AEB8D79-9BA5-4E85-A3DA-6D0A38D2DDDD}"/>
                  </a:ext>
                </a:extLst>
              </p:cNvPr>
              <p:cNvCxnSpPr>
                <a:cxnSpLocks/>
              </p:cNvCxnSpPr>
              <p:nvPr/>
            </p:nvCxnSpPr>
            <p:spPr bwMode="auto">
              <a:xfrm>
                <a:off x="2438400" y="15240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9DDE217E-B244-41F4-A7AA-471421098785}"/>
                  </a:ext>
                </a:extLst>
              </p:cNvPr>
              <p:cNvCxnSpPr>
                <a:cxnSpLocks/>
              </p:cNvCxnSpPr>
              <p:nvPr/>
            </p:nvCxnSpPr>
            <p:spPr bwMode="auto">
              <a:xfrm>
                <a:off x="2438400" y="19812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96874613-189A-4935-908C-1D691CD04F7B}"/>
                  </a:ext>
                </a:extLst>
              </p:cNvPr>
              <p:cNvCxnSpPr>
                <a:cxnSpLocks/>
              </p:cNvCxnSpPr>
              <p:nvPr/>
            </p:nvCxnSpPr>
            <p:spPr bwMode="auto">
              <a:xfrm>
                <a:off x="27432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3DFFB5DC-E750-440F-B0C3-53F52DA8498E}"/>
                  </a:ext>
                </a:extLst>
              </p:cNvPr>
              <p:cNvCxnSpPr>
                <a:cxnSpLocks/>
              </p:cNvCxnSpPr>
              <p:nvPr/>
            </p:nvCxnSpPr>
            <p:spPr bwMode="auto">
              <a:xfrm>
                <a:off x="28956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33278B93-AACF-4507-9094-7FA06D16FE9A}"/>
                  </a:ext>
                </a:extLst>
              </p:cNvPr>
              <p:cNvCxnSpPr>
                <a:cxnSpLocks/>
              </p:cNvCxnSpPr>
              <p:nvPr/>
            </p:nvCxnSpPr>
            <p:spPr bwMode="auto">
              <a:xfrm>
                <a:off x="30480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EC6E50B8-0ECB-4BC9-A8A8-A682ADC71EED}"/>
                  </a:ext>
                </a:extLst>
              </p:cNvPr>
              <p:cNvCxnSpPr>
                <a:cxnSpLocks/>
              </p:cNvCxnSpPr>
              <p:nvPr/>
            </p:nvCxnSpPr>
            <p:spPr bwMode="auto">
              <a:xfrm>
                <a:off x="32004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90B55211-746D-4468-AB54-9498B124FA53}"/>
                  </a:ext>
                </a:extLst>
              </p:cNvPr>
              <p:cNvCxnSpPr>
                <a:cxnSpLocks/>
              </p:cNvCxnSpPr>
              <p:nvPr/>
            </p:nvCxnSpPr>
            <p:spPr bwMode="auto">
              <a:xfrm>
                <a:off x="33528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grpSp>
        <p:cxnSp>
          <p:nvCxnSpPr>
            <p:cNvPr id="24" name="直接箭头连接符 23">
              <a:extLst>
                <a:ext uri="{FF2B5EF4-FFF2-40B4-BE49-F238E27FC236}">
                  <a16:creationId xmlns:a16="http://schemas.microsoft.com/office/drawing/2014/main" id="{84CECB45-A67F-439C-8324-95AFB031ACDD}"/>
                </a:ext>
              </a:extLst>
            </p:cNvPr>
            <p:cNvCxnSpPr>
              <a:cxnSpLocks/>
            </p:cNvCxnSpPr>
            <p:nvPr/>
          </p:nvCxnSpPr>
          <p:spPr bwMode="auto">
            <a:xfrm>
              <a:off x="2846918" y="1988223"/>
              <a:ext cx="409259" cy="0"/>
            </a:xfrm>
            <a:prstGeom prst="straightConnector1">
              <a:avLst/>
            </a:prstGeom>
            <a:solidFill>
              <a:srgbClr val="C0C0C0"/>
            </a:solidFill>
            <a:ln w="19050" cap="flat" cmpd="sng" algn="ctr">
              <a:solidFill>
                <a:schemeClr val="tx1"/>
              </a:solidFill>
              <a:prstDash val="solid"/>
              <a:round/>
              <a:headEnd type="arrow"/>
              <a:tailEnd type="none"/>
            </a:ln>
            <a:effectLst/>
          </p:spPr>
        </p:cxnSp>
        <p:cxnSp>
          <p:nvCxnSpPr>
            <p:cNvPr id="27" name="直接箭头连接符 26">
              <a:extLst>
                <a:ext uri="{FF2B5EF4-FFF2-40B4-BE49-F238E27FC236}">
                  <a16:creationId xmlns:a16="http://schemas.microsoft.com/office/drawing/2014/main" id="{88C2A69A-4C81-4127-99DC-4215125DA385}"/>
                </a:ext>
              </a:extLst>
            </p:cNvPr>
            <p:cNvCxnSpPr/>
            <p:nvPr/>
          </p:nvCxnSpPr>
          <p:spPr bwMode="auto">
            <a:xfrm>
              <a:off x="4182486" y="1985069"/>
              <a:ext cx="808614" cy="0"/>
            </a:xfrm>
            <a:prstGeom prst="straightConnector1">
              <a:avLst/>
            </a:prstGeom>
            <a:solidFill>
              <a:srgbClr val="C0C0C0"/>
            </a:solidFill>
            <a:ln w="9525" cap="flat" cmpd="sng" algn="ctr">
              <a:solidFill>
                <a:schemeClr val="tx1"/>
              </a:solidFill>
              <a:prstDash val="solid"/>
              <a:round/>
              <a:headEnd type="stealth" w="med" len="med"/>
              <a:tailEnd type="none"/>
            </a:ln>
            <a:effectLst/>
          </p:spPr>
        </p:cxnSp>
      </p:grpSp>
      <p:sp>
        <p:nvSpPr>
          <p:cNvPr id="28" name="矩形 27">
            <a:extLst>
              <a:ext uri="{FF2B5EF4-FFF2-40B4-BE49-F238E27FC236}">
                <a16:creationId xmlns:a16="http://schemas.microsoft.com/office/drawing/2014/main" id="{5173D7D7-F5C7-499E-A4EB-0C2F4DE3A0B8}"/>
              </a:ext>
            </a:extLst>
          </p:cNvPr>
          <p:cNvSpPr/>
          <p:nvPr/>
        </p:nvSpPr>
        <p:spPr>
          <a:xfrm>
            <a:off x="5883848" y="2031763"/>
            <a:ext cx="2811427" cy="338554"/>
          </a:xfrm>
          <a:prstGeom prst="rect">
            <a:avLst/>
          </a:prstGeom>
        </p:spPr>
        <p:txBody>
          <a:bodyPr wrap="square">
            <a:spAutoFit/>
          </a:bodyPr>
          <a:lstStyle/>
          <a:p>
            <a:r>
              <a:rPr lang="en-US" altLang="zh-CN" sz="1600" kern="0" dirty="0">
                <a:solidFill>
                  <a:srgbClr val="C00000"/>
                </a:solidFill>
                <a:latin typeface="+mn-lt"/>
              </a:rPr>
              <a:t>Arrival rate</a:t>
            </a:r>
            <a:r>
              <a:rPr lang="en-US" altLang="zh-CN" sz="1400" kern="0" dirty="0">
                <a:solidFill>
                  <a:srgbClr val="000000"/>
                </a:solidFill>
              </a:rPr>
              <a:t>: one person/min</a:t>
            </a:r>
            <a:r>
              <a:rPr lang="zh-CN" altLang="en-US" sz="1400" kern="0" dirty="0">
                <a:solidFill>
                  <a:srgbClr val="000000"/>
                </a:solidFill>
              </a:rPr>
              <a:t> </a:t>
            </a:r>
            <a:endParaRPr lang="zh-CN" altLang="en-US" sz="1400" dirty="0"/>
          </a:p>
        </p:txBody>
      </p:sp>
      <p:sp>
        <p:nvSpPr>
          <p:cNvPr id="31" name="矩形 30">
            <a:extLst>
              <a:ext uri="{FF2B5EF4-FFF2-40B4-BE49-F238E27FC236}">
                <a16:creationId xmlns:a16="http://schemas.microsoft.com/office/drawing/2014/main" id="{FA9BBCBD-391D-403C-9AC6-703F514DFA32}"/>
              </a:ext>
            </a:extLst>
          </p:cNvPr>
          <p:cNvSpPr/>
          <p:nvPr/>
        </p:nvSpPr>
        <p:spPr>
          <a:xfrm>
            <a:off x="1219200" y="1371220"/>
            <a:ext cx="2571213" cy="338554"/>
          </a:xfrm>
          <a:prstGeom prst="rect">
            <a:avLst/>
          </a:prstGeom>
        </p:spPr>
        <p:txBody>
          <a:bodyPr wrap="square">
            <a:spAutoFit/>
          </a:bodyPr>
          <a:lstStyle/>
          <a:p>
            <a:r>
              <a:rPr lang="en-US" altLang="zh-CN" sz="1600" kern="0" dirty="0">
                <a:solidFill>
                  <a:srgbClr val="00B0F0"/>
                </a:solidFill>
                <a:latin typeface="Bahnschrift Condensed" panose="020B0502040204020203" pitchFamily="34" charset="0"/>
              </a:rPr>
              <a:t>Average service time</a:t>
            </a:r>
            <a:r>
              <a:rPr lang="en-US" altLang="zh-CN" sz="1400" kern="0" dirty="0">
                <a:solidFill>
                  <a:srgbClr val="000000"/>
                </a:solidFill>
              </a:rPr>
              <a:t>: 6 mins</a:t>
            </a:r>
            <a:r>
              <a:rPr lang="zh-CN" altLang="en-US" sz="1400" kern="0" dirty="0">
                <a:solidFill>
                  <a:srgbClr val="000000"/>
                </a:solidFill>
              </a:rPr>
              <a:t> </a:t>
            </a:r>
            <a:endParaRPr lang="zh-CN" altLang="en-US" sz="1400" dirty="0"/>
          </a:p>
        </p:txBody>
      </p:sp>
      <p:pic>
        <p:nvPicPr>
          <p:cNvPr id="1026" name="Picture 2" descr="银行柜台厂家介绍：6项银行柜台服务费将取消">
            <a:extLst>
              <a:ext uri="{FF2B5EF4-FFF2-40B4-BE49-F238E27FC236}">
                <a16:creationId xmlns:a16="http://schemas.microsoft.com/office/drawing/2014/main" id="{F7FC61D0-4E58-4444-8FC2-419A04499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399" y="1694135"/>
            <a:ext cx="1548849" cy="1229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7424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a:xfrm>
            <a:off x="228600" y="228600"/>
            <a:ext cx="8001000" cy="681038"/>
          </a:xfrm>
        </p:spPr>
        <p:txBody>
          <a:bodyPr/>
          <a:lstStyle/>
          <a:p>
            <a:r>
              <a:rPr lang="en-US" altLang="zh-CN" sz="3000" dirty="0"/>
              <a:t>Recall: Little’s Law Used in Memory Subsystem</a:t>
            </a:r>
          </a:p>
        </p:txBody>
      </p:sp>
      <p:sp>
        <p:nvSpPr>
          <p:cNvPr id="4" name="Content Placeholder 2">
            <a:extLst>
              <a:ext uri="{FF2B5EF4-FFF2-40B4-BE49-F238E27FC236}">
                <a16:creationId xmlns:a16="http://schemas.microsoft.com/office/drawing/2014/main" id="{4525ECBB-39F7-47DA-8319-2DDD9EA0853A}"/>
              </a:ext>
            </a:extLst>
          </p:cNvPr>
          <p:cNvSpPr txBox="1">
            <a:spLocks noChangeArrowheads="1"/>
          </p:cNvSpPr>
          <p:nvPr/>
        </p:nvSpPr>
        <p:spPr bwMode="auto">
          <a:xfrm>
            <a:off x="878554" y="3227479"/>
            <a:ext cx="7277100" cy="1954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ＭＳ Ｐゴシック" charset="0"/>
                <a:cs typeface="ＭＳ Ｐゴシック" charset="0"/>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200">
                <a:solidFill>
                  <a:schemeClr val="tx1"/>
                </a:solidFill>
                <a:latin typeface="+mn-lt"/>
                <a:ea typeface="ＭＳ Ｐゴシック" pitchFamily="-106" charset="-128"/>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a:solidFill>
                  <a:schemeClr val="tx1"/>
                </a:solidFill>
                <a:latin typeface="+mn-lt"/>
                <a:ea typeface="ＭＳ Ｐゴシック" pitchFamily="-106" charset="-128"/>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a:solidFill>
                  <a:schemeClr val="tx1"/>
                </a:solidFill>
                <a:latin typeface="+mn-lt"/>
                <a:ea typeface="ＭＳ Ｐゴシック" pitchFamily="-106" charset="-128"/>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mn-lt"/>
                <a:ea typeface="ＭＳ Ｐゴシック" pitchFamily="-106" charset="-128"/>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defRPr>
            </a:lvl9pPr>
          </a:lstStyle>
          <a:p>
            <a:r>
              <a:rPr lang="en-US" altLang="en-US" sz="2000" kern="0" dirty="0">
                <a:ea typeface="ＭＳ Ｐゴシック" panose="020B0600070205080204" pitchFamily="34" charset="-128"/>
              </a:rPr>
              <a:t>Little’s law is widely used in hardware design whose latency is larger than </a:t>
            </a:r>
            <a:r>
              <a:rPr lang="en-US" altLang="en-US" sz="2000" kern="0" dirty="0">
                <a:solidFill>
                  <a:srgbClr val="FF0000"/>
                </a:solidFill>
                <a:ea typeface="ＭＳ Ｐゴシック" panose="020B0600070205080204" pitchFamily="34" charset="-128"/>
              </a:rPr>
              <a:t>one</a:t>
            </a:r>
            <a:r>
              <a:rPr lang="en-US" altLang="en-US" sz="2000" kern="0" dirty="0">
                <a:ea typeface="ＭＳ Ｐゴシック" panose="020B0600070205080204" pitchFamily="34" charset="-128"/>
              </a:rPr>
              <a:t> cycle, e.g., memory subsystem: </a:t>
            </a:r>
          </a:p>
          <a:p>
            <a:pPr lvl="1"/>
            <a:r>
              <a:rPr lang="en-US" altLang="en-US" sz="1800" b="1" kern="0" dirty="0">
                <a:solidFill>
                  <a:srgbClr val="C00000"/>
                </a:solidFill>
                <a:ea typeface="ＭＳ Ｐゴシック" panose="020B0600070205080204" pitchFamily="34" charset="-128"/>
              </a:rPr>
              <a:t>Throughput</a:t>
            </a:r>
            <a:r>
              <a:rPr lang="en-US" altLang="en-US" sz="1800" kern="0" dirty="0">
                <a:ea typeface="ＭＳ Ｐゴシック" panose="020B0600070205080204" pitchFamily="34" charset="-128"/>
              </a:rPr>
              <a:t>: </a:t>
            </a:r>
            <a:r>
              <a:rPr lang="en-US" altLang="zh-CN" sz="1800" kern="0" dirty="0">
                <a:solidFill>
                  <a:srgbClr val="000000"/>
                </a:solidFill>
              </a:rPr>
              <a:t>12GB/s;</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00B0F0"/>
                </a:solidFill>
                <a:latin typeface="Bahnschrift Condensed" panose="020B0502040204020203" pitchFamily="34" charset="0"/>
                <a:ea typeface="ＭＳ Ｐゴシック" panose="020B0600070205080204" pitchFamily="34" charset="-128"/>
              </a:rPr>
              <a:t>Latency</a:t>
            </a:r>
            <a:r>
              <a:rPr lang="en-US" altLang="en-US" sz="1800" kern="0" dirty="0">
                <a:ea typeface="ＭＳ Ｐゴシック" panose="020B0600070205080204" pitchFamily="34" charset="-128"/>
              </a:rPr>
              <a:t>: </a:t>
            </a:r>
            <a:r>
              <a:rPr lang="en-US" altLang="zh-CN" sz="1800" kern="0" dirty="0">
                <a:solidFill>
                  <a:srgbClr val="000000"/>
                </a:solidFill>
              </a:rPr>
              <a:t>100ns;</a:t>
            </a:r>
            <a:r>
              <a:rPr lang="zh-CN" altLang="en-US" sz="1800" kern="0" dirty="0">
                <a:solidFill>
                  <a:srgbClr val="000000"/>
                </a:solidFill>
              </a:rPr>
              <a:t> </a:t>
            </a:r>
            <a:endParaRPr lang="en-US" altLang="zh-CN" sz="1800" kern="0" dirty="0">
              <a:solidFill>
                <a:srgbClr val="000000"/>
              </a:solidFill>
            </a:endParaRPr>
          </a:p>
          <a:p>
            <a:pPr lvl="1"/>
            <a:r>
              <a:rPr lang="en-US" altLang="en-US" sz="1800" b="1" kern="0" dirty="0">
                <a:solidFill>
                  <a:srgbClr val="7030A0"/>
                </a:solidFill>
                <a:ea typeface="ＭＳ Ｐゴシック" panose="020B0600070205080204" pitchFamily="34" charset="-128"/>
              </a:rPr>
              <a:t>Buffer Size </a:t>
            </a:r>
            <a:r>
              <a:rPr lang="en-US" altLang="en-US" sz="1800" kern="0" dirty="0">
                <a:solidFill>
                  <a:srgbClr val="7030A0"/>
                </a:solidFill>
                <a:ea typeface="ＭＳ Ｐゴシック" panose="020B0600070205080204" pitchFamily="34" charset="-128"/>
              </a:rPr>
              <a:t>(concurrency)</a:t>
            </a:r>
            <a:r>
              <a:rPr lang="en-US" altLang="en-US" sz="1800" kern="0" dirty="0">
                <a:ea typeface="ＭＳ Ｐゴシック" panose="020B0600070205080204" pitchFamily="34" charset="-128"/>
              </a:rPr>
              <a:t>: </a:t>
            </a:r>
          </a:p>
          <a:p>
            <a:pPr lvl="2"/>
            <a:r>
              <a:rPr lang="en-US" altLang="en-US" sz="1600" kern="0" dirty="0">
                <a:ea typeface="ＭＳ Ｐゴシック" panose="020B0600070205080204" pitchFamily="34" charset="-128"/>
              </a:rPr>
              <a:t>100ns * 12GB/s = 1200B</a:t>
            </a:r>
          </a:p>
        </p:txBody>
      </p:sp>
      <p:grpSp>
        <p:nvGrpSpPr>
          <p:cNvPr id="29" name="组合 28">
            <a:extLst>
              <a:ext uri="{FF2B5EF4-FFF2-40B4-BE49-F238E27FC236}">
                <a16:creationId xmlns:a16="http://schemas.microsoft.com/office/drawing/2014/main" id="{CDA43161-40B4-4024-9FF3-E95C8690960A}"/>
              </a:ext>
            </a:extLst>
          </p:cNvPr>
          <p:cNvGrpSpPr/>
          <p:nvPr/>
        </p:nvGrpSpPr>
        <p:grpSpPr>
          <a:xfrm>
            <a:off x="1828263" y="1435052"/>
            <a:ext cx="4381500" cy="1520132"/>
            <a:chOff x="1714500" y="1451669"/>
            <a:chExt cx="3276600" cy="1066800"/>
          </a:xfrm>
        </p:grpSpPr>
        <p:sp>
          <p:nvSpPr>
            <p:cNvPr id="25" name="矩形 24">
              <a:extLst>
                <a:ext uri="{FF2B5EF4-FFF2-40B4-BE49-F238E27FC236}">
                  <a16:creationId xmlns:a16="http://schemas.microsoft.com/office/drawing/2014/main" id="{A7C1E433-C979-4103-88B3-88DBEB8798A7}"/>
                </a:ext>
              </a:extLst>
            </p:cNvPr>
            <p:cNvSpPr/>
            <p:nvPr/>
          </p:nvSpPr>
          <p:spPr bwMode="auto">
            <a:xfrm>
              <a:off x="1714500" y="1451669"/>
              <a:ext cx="2895600" cy="1066800"/>
            </a:xfrm>
            <a:prstGeom prst="rect">
              <a:avLst/>
            </a:prstGeom>
            <a:solidFill>
              <a:schemeClr val="bg1">
                <a:lumMod val="95000"/>
              </a:schemeClr>
            </a:solidFill>
            <a:ln w="9525" cap="flat" cmpd="sng" algn="ctr">
              <a:solidFill>
                <a:schemeClr val="tx1"/>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
          <p:nvSpPr>
            <p:cNvPr id="5" name="椭圆 4">
              <a:extLst>
                <a:ext uri="{FF2B5EF4-FFF2-40B4-BE49-F238E27FC236}">
                  <a16:creationId xmlns:a16="http://schemas.microsoft.com/office/drawing/2014/main" id="{2D5EB6DF-C29F-41E6-9B8C-30C691ED6B20}"/>
                </a:ext>
              </a:extLst>
            </p:cNvPr>
            <p:cNvSpPr/>
            <p:nvPr/>
          </p:nvSpPr>
          <p:spPr bwMode="auto">
            <a:xfrm>
              <a:off x="1778791" y="1600974"/>
              <a:ext cx="838200" cy="762000"/>
            </a:xfrm>
            <a:prstGeom prst="ellipse">
              <a:avLst/>
            </a:prstGeom>
            <a:solidFill>
              <a:srgbClr val="C0C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050" b="0" i="0" u="none" strike="noStrike" cap="none" normalizeH="0" baseline="0" dirty="0">
                <a:ln>
                  <a:noFill/>
                </a:ln>
                <a:solidFill>
                  <a:schemeClr val="tx1"/>
                </a:solidFill>
                <a:effectLst/>
                <a:latin typeface="Arial" pitchFamily="34" charset="0"/>
              </a:endParaRPr>
            </a:p>
          </p:txBody>
        </p:sp>
        <p:sp>
          <p:nvSpPr>
            <p:cNvPr id="6" name="矩形 5">
              <a:extLst>
                <a:ext uri="{FF2B5EF4-FFF2-40B4-BE49-F238E27FC236}">
                  <a16:creationId xmlns:a16="http://schemas.microsoft.com/office/drawing/2014/main" id="{A6E0474B-37D9-4B38-8590-C12554969915}"/>
                </a:ext>
              </a:extLst>
            </p:cNvPr>
            <p:cNvSpPr/>
            <p:nvPr/>
          </p:nvSpPr>
          <p:spPr>
            <a:xfrm>
              <a:off x="1886807" y="1815926"/>
              <a:ext cx="645177" cy="280790"/>
            </a:xfrm>
            <a:prstGeom prst="rect">
              <a:avLst/>
            </a:prstGeom>
          </p:spPr>
          <p:txBody>
            <a:bodyPr wrap="none">
              <a:spAutoFit/>
            </a:bodyPr>
            <a:lstStyle/>
            <a:p>
              <a:r>
                <a:rPr lang="en-US" altLang="zh-CN" sz="2000" dirty="0">
                  <a:latin typeface="Bahnschrift Condensed" panose="020B0502040204020203" pitchFamily="34" charset="0"/>
                </a:rPr>
                <a:t>Memory</a:t>
              </a:r>
              <a:endParaRPr lang="zh-CN" altLang="en-US" sz="2000" dirty="0">
                <a:latin typeface="Bahnschrift Condensed" panose="020B0502040204020203" pitchFamily="34" charset="0"/>
              </a:endParaRPr>
            </a:p>
          </p:txBody>
        </p:sp>
        <p:grpSp>
          <p:nvGrpSpPr>
            <p:cNvPr id="17" name="组合 16">
              <a:extLst>
                <a:ext uri="{FF2B5EF4-FFF2-40B4-BE49-F238E27FC236}">
                  <a16:creationId xmlns:a16="http://schemas.microsoft.com/office/drawing/2014/main" id="{B7B446BB-D0BC-412A-B92C-5FE81B308FE2}"/>
                </a:ext>
              </a:extLst>
            </p:cNvPr>
            <p:cNvGrpSpPr/>
            <p:nvPr/>
          </p:nvGrpSpPr>
          <p:grpSpPr>
            <a:xfrm>
              <a:off x="3268086" y="1786874"/>
              <a:ext cx="1295400" cy="396389"/>
              <a:chOff x="2438400" y="1517078"/>
              <a:chExt cx="1295400" cy="472589"/>
            </a:xfrm>
          </p:grpSpPr>
          <p:cxnSp>
            <p:nvCxnSpPr>
              <p:cNvPr id="8" name="直接连接符 7">
                <a:extLst>
                  <a:ext uri="{FF2B5EF4-FFF2-40B4-BE49-F238E27FC236}">
                    <a16:creationId xmlns:a16="http://schemas.microsoft.com/office/drawing/2014/main" id="{A0F76374-B265-41A6-BC4B-2132CB4C05B4}"/>
                  </a:ext>
                </a:extLst>
              </p:cNvPr>
              <p:cNvCxnSpPr>
                <a:cxnSpLocks/>
              </p:cNvCxnSpPr>
              <p:nvPr/>
            </p:nvCxnSpPr>
            <p:spPr bwMode="auto">
              <a:xfrm flipH="1">
                <a:off x="2438400" y="1517078"/>
                <a:ext cx="1" cy="472589"/>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1" name="直接连接符 10">
                <a:extLst>
                  <a:ext uri="{FF2B5EF4-FFF2-40B4-BE49-F238E27FC236}">
                    <a16:creationId xmlns:a16="http://schemas.microsoft.com/office/drawing/2014/main" id="{C53FFB0E-6EB3-45A5-8162-A64C731DDACD}"/>
                  </a:ext>
                </a:extLst>
              </p:cNvPr>
              <p:cNvCxnSpPr>
                <a:cxnSpLocks/>
              </p:cNvCxnSpPr>
              <p:nvPr/>
            </p:nvCxnSpPr>
            <p:spPr bwMode="auto">
              <a:xfrm>
                <a:off x="25908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12" name="直接连接符 11">
                <a:extLst>
                  <a:ext uri="{FF2B5EF4-FFF2-40B4-BE49-F238E27FC236}">
                    <a16:creationId xmlns:a16="http://schemas.microsoft.com/office/drawing/2014/main" id="{1AEB8D79-9BA5-4E85-A3DA-6D0A38D2DDDD}"/>
                  </a:ext>
                </a:extLst>
              </p:cNvPr>
              <p:cNvCxnSpPr>
                <a:cxnSpLocks/>
              </p:cNvCxnSpPr>
              <p:nvPr/>
            </p:nvCxnSpPr>
            <p:spPr bwMode="auto">
              <a:xfrm>
                <a:off x="2438400" y="15240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9DDE217E-B244-41F4-A7AA-471421098785}"/>
                  </a:ext>
                </a:extLst>
              </p:cNvPr>
              <p:cNvCxnSpPr>
                <a:cxnSpLocks/>
              </p:cNvCxnSpPr>
              <p:nvPr/>
            </p:nvCxnSpPr>
            <p:spPr bwMode="auto">
              <a:xfrm>
                <a:off x="2438400" y="1981200"/>
                <a:ext cx="1295400" cy="0"/>
              </a:xfrm>
              <a:prstGeom prst="line">
                <a:avLst/>
              </a:prstGeom>
              <a:solidFill>
                <a:srgbClr val="C0C0C0"/>
              </a:solidFill>
              <a:ln w="38100" cap="flat" cmpd="sng" algn="ctr">
                <a:solidFill>
                  <a:schemeClr val="tx1"/>
                </a:solidFill>
                <a:prstDash val="solid"/>
                <a:round/>
                <a:headEnd type="none" w="med" len="med"/>
                <a:tailEnd type="none" w="med" len="med"/>
              </a:ln>
              <a:effectLst/>
            </p:spPr>
          </p:cxnSp>
          <p:cxnSp>
            <p:nvCxnSpPr>
              <p:cNvPr id="19" name="直接连接符 18">
                <a:extLst>
                  <a:ext uri="{FF2B5EF4-FFF2-40B4-BE49-F238E27FC236}">
                    <a16:creationId xmlns:a16="http://schemas.microsoft.com/office/drawing/2014/main" id="{96874613-189A-4935-908C-1D691CD04F7B}"/>
                  </a:ext>
                </a:extLst>
              </p:cNvPr>
              <p:cNvCxnSpPr>
                <a:cxnSpLocks/>
              </p:cNvCxnSpPr>
              <p:nvPr/>
            </p:nvCxnSpPr>
            <p:spPr bwMode="auto">
              <a:xfrm>
                <a:off x="27432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0" name="直接连接符 19">
                <a:extLst>
                  <a:ext uri="{FF2B5EF4-FFF2-40B4-BE49-F238E27FC236}">
                    <a16:creationId xmlns:a16="http://schemas.microsoft.com/office/drawing/2014/main" id="{3DFFB5DC-E750-440F-B0C3-53F52DA8498E}"/>
                  </a:ext>
                </a:extLst>
              </p:cNvPr>
              <p:cNvCxnSpPr>
                <a:cxnSpLocks/>
              </p:cNvCxnSpPr>
              <p:nvPr/>
            </p:nvCxnSpPr>
            <p:spPr bwMode="auto">
              <a:xfrm>
                <a:off x="28956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1" name="直接连接符 20">
                <a:extLst>
                  <a:ext uri="{FF2B5EF4-FFF2-40B4-BE49-F238E27FC236}">
                    <a16:creationId xmlns:a16="http://schemas.microsoft.com/office/drawing/2014/main" id="{33278B93-AACF-4507-9094-7FA06D16FE9A}"/>
                  </a:ext>
                </a:extLst>
              </p:cNvPr>
              <p:cNvCxnSpPr>
                <a:cxnSpLocks/>
              </p:cNvCxnSpPr>
              <p:nvPr/>
            </p:nvCxnSpPr>
            <p:spPr bwMode="auto">
              <a:xfrm>
                <a:off x="3048000" y="1524000"/>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2" name="直接连接符 21">
                <a:extLst>
                  <a:ext uri="{FF2B5EF4-FFF2-40B4-BE49-F238E27FC236}">
                    <a16:creationId xmlns:a16="http://schemas.microsoft.com/office/drawing/2014/main" id="{EC6E50B8-0ECB-4BC9-A8A8-A682ADC71EED}"/>
                  </a:ext>
                </a:extLst>
              </p:cNvPr>
              <p:cNvCxnSpPr>
                <a:cxnSpLocks/>
              </p:cNvCxnSpPr>
              <p:nvPr/>
            </p:nvCxnSpPr>
            <p:spPr bwMode="auto">
              <a:xfrm>
                <a:off x="32004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23" name="直接连接符 22">
                <a:extLst>
                  <a:ext uri="{FF2B5EF4-FFF2-40B4-BE49-F238E27FC236}">
                    <a16:creationId xmlns:a16="http://schemas.microsoft.com/office/drawing/2014/main" id="{90B55211-746D-4468-AB54-9498B124FA53}"/>
                  </a:ext>
                </a:extLst>
              </p:cNvPr>
              <p:cNvCxnSpPr>
                <a:cxnSpLocks/>
              </p:cNvCxnSpPr>
              <p:nvPr/>
            </p:nvCxnSpPr>
            <p:spPr bwMode="auto">
              <a:xfrm>
                <a:off x="3352800" y="1532467"/>
                <a:ext cx="0" cy="457200"/>
              </a:xfrm>
              <a:prstGeom prst="line">
                <a:avLst/>
              </a:prstGeom>
              <a:solidFill>
                <a:srgbClr val="C0C0C0"/>
              </a:solidFill>
              <a:ln w="9525" cap="flat" cmpd="sng" algn="ctr">
                <a:solidFill>
                  <a:schemeClr val="tx1"/>
                </a:solidFill>
                <a:prstDash val="solid"/>
                <a:round/>
                <a:headEnd type="none" w="med" len="med"/>
                <a:tailEnd type="none" w="med" len="med"/>
              </a:ln>
              <a:effectLst/>
            </p:spPr>
          </p:cxnSp>
        </p:grpSp>
        <p:cxnSp>
          <p:nvCxnSpPr>
            <p:cNvPr id="24" name="直接箭头连接符 23">
              <a:extLst>
                <a:ext uri="{FF2B5EF4-FFF2-40B4-BE49-F238E27FC236}">
                  <a16:creationId xmlns:a16="http://schemas.microsoft.com/office/drawing/2014/main" id="{84CECB45-A67F-439C-8324-95AFB031ACDD}"/>
                </a:ext>
              </a:extLst>
            </p:cNvPr>
            <p:cNvCxnSpPr>
              <a:stCxn id="5" idx="6"/>
            </p:cNvCxnSpPr>
            <p:nvPr/>
          </p:nvCxnSpPr>
          <p:spPr bwMode="auto">
            <a:xfrm>
              <a:off x="2616991" y="1981974"/>
              <a:ext cx="639186" cy="6250"/>
            </a:xfrm>
            <a:prstGeom prst="straightConnector1">
              <a:avLst/>
            </a:prstGeom>
            <a:solidFill>
              <a:srgbClr val="C0C0C0"/>
            </a:solidFill>
            <a:ln w="19050" cap="flat" cmpd="sng" algn="ctr">
              <a:solidFill>
                <a:schemeClr val="tx1"/>
              </a:solidFill>
              <a:prstDash val="solid"/>
              <a:round/>
              <a:headEnd type="arrow"/>
              <a:tailEnd type="arrow"/>
            </a:ln>
            <a:effectLst/>
          </p:spPr>
        </p:cxnSp>
        <p:cxnSp>
          <p:nvCxnSpPr>
            <p:cNvPr id="27" name="直接箭头连接符 26">
              <a:extLst>
                <a:ext uri="{FF2B5EF4-FFF2-40B4-BE49-F238E27FC236}">
                  <a16:creationId xmlns:a16="http://schemas.microsoft.com/office/drawing/2014/main" id="{88C2A69A-4C81-4127-99DC-4215125DA385}"/>
                </a:ext>
              </a:extLst>
            </p:cNvPr>
            <p:cNvCxnSpPr/>
            <p:nvPr/>
          </p:nvCxnSpPr>
          <p:spPr bwMode="auto">
            <a:xfrm>
              <a:off x="4182486" y="1985069"/>
              <a:ext cx="808614" cy="0"/>
            </a:xfrm>
            <a:prstGeom prst="straightConnector1">
              <a:avLst/>
            </a:prstGeom>
            <a:solidFill>
              <a:srgbClr val="C0C0C0"/>
            </a:solidFill>
            <a:ln w="9525" cap="flat" cmpd="sng" algn="ctr">
              <a:solidFill>
                <a:schemeClr val="tx1"/>
              </a:solidFill>
              <a:prstDash val="solid"/>
              <a:round/>
              <a:headEnd type="stealth" w="med" len="med"/>
              <a:tailEnd type="none"/>
            </a:ln>
            <a:effectLst/>
          </p:spPr>
        </p:cxnSp>
      </p:grpSp>
      <p:sp>
        <p:nvSpPr>
          <p:cNvPr id="28" name="矩形 27">
            <a:extLst>
              <a:ext uri="{FF2B5EF4-FFF2-40B4-BE49-F238E27FC236}">
                <a16:creationId xmlns:a16="http://schemas.microsoft.com/office/drawing/2014/main" id="{5173D7D7-F5C7-499E-A4EB-0C2F4DE3A0B8}"/>
              </a:ext>
            </a:extLst>
          </p:cNvPr>
          <p:cNvSpPr/>
          <p:nvPr/>
        </p:nvSpPr>
        <p:spPr>
          <a:xfrm>
            <a:off x="5873595" y="2147585"/>
            <a:ext cx="2811427" cy="338554"/>
          </a:xfrm>
          <a:prstGeom prst="rect">
            <a:avLst/>
          </a:prstGeom>
        </p:spPr>
        <p:txBody>
          <a:bodyPr wrap="square">
            <a:spAutoFit/>
          </a:bodyPr>
          <a:lstStyle/>
          <a:p>
            <a:r>
              <a:rPr lang="en-US" altLang="zh-CN" sz="1600" kern="0" dirty="0">
                <a:solidFill>
                  <a:srgbClr val="C00000"/>
                </a:solidFill>
                <a:latin typeface="+mn-lt"/>
              </a:rPr>
              <a:t>Throughput</a:t>
            </a:r>
            <a:r>
              <a:rPr lang="en-US" altLang="zh-CN" sz="1400" kern="0" dirty="0">
                <a:solidFill>
                  <a:srgbClr val="000000"/>
                </a:solidFill>
              </a:rPr>
              <a:t>: 12GB/s</a:t>
            </a:r>
            <a:endParaRPr lang="zh-CN" altLang="en-US" sz="1400" dirty="0"/>
          </a:p>
        </p:txBody>
      </p:sp>
      <p:sp>
        <p:nvSpPr>
          <p:cNvPr id="31" name="矩形 30">
            <a:extLst>
              <a:ext uri="{FF2B5EF4-FFF2-40B4-BE49-F238E27FC236}">
                <a16:creationId xmlns:a16="http://schemas.microsoft.com/office/drawing/2014/main" id="{FA9BBCBD-391D-403C-9AC6-703F514DFA32}"/>
              </a:ext>
            </a:extLst>
          </p:cNvPr>
          <p:cNvSpPr/>
          <p:nvPr/>
        </p:nvSpPr>
        <p:spPr>
          <a:xfrm>
            <a:off x="1765400" y="1348382"/>
            <a:ext cx="2571213" cy="338554"/>
          </a:xfrm>
          <a:prstGeom prst="rect">
            <a:avLst/>
          </a:prstGeom>
        </p:spPr>
        <p:txBody>
          <a:bodyPr wrap="square">
            <a:spAutoFit/>
          </a:bodyPr>
          <a:lstStyle/>
          <a:p>
            <a:r>
              <a:rPr lang="en-US" altLang="zh-CN" sz="1600" kern="0" dirty="0">
                <a:solidFill>
                  <a:srgbClr val="00B0F0"/>
                </a:solidFill>
                <a:latin typeface="Bahnschrift Condensed" panose="020B0502040204020203" pitchFamily="34" charset="0"/>
              </a:rPr>
              <a:t>Latency</a:t>
            </a:r>
            <a:r>
              <a:rPr lang="en-US" altLang="zh-CN" sz="1400" kern="0" dirty="0">
                <a:solidFill>
                  <a:srgbClr val="000000"/>
                </a:solidFill>
              </a:rPr>
              <a:t>: ~100ns </a:t>
            </a:r>
            <a:endParaRPr lang="zh-CN" altLang="en-US" sz="1400" dirty="0"/>
          </a:p>
        </p:txBody>
      </p:sp>
      <p:sp>
        <p:nvSpPr>
          <p:cNvPr id="2" name="矩形 1">
            <a:extLst>
              <a:ext uri="{FF2B5EF4-FFF2-40B4-BE49-F238E27FC236}">
                <a16:creationId xmlns:a16="http://schemas.microsoft.com/office/drawing/2014/main" id="{7044467C-EB29-4735-8266-63096CAB930C}"/>
              </a:ext>
            </a:extLst>
          </p:cNvPr>
          <p:cNvSpPr/>
          <p:nvPr/>
        </p:nvSpPr>
        <p:spPr>
          <a:xfrm>
            <a:off x="4116995" y="1577620"/>
            <a:ext cx="800219" cy="369332"/>
          </a:xfrm>
          <a:prstGeom prst="rect">
            <a:avLst/>
          </a:prstGeom>
        </p:spPr>
        <p:txBody>
          <a:bodyPr wrap="none">
            <a:spAutoFit/>
          </a:bodyPr>
          <a:lstStyle/>
          <a:p>
            <a:r>
              <a:rPr lang="en-US" altLang="en-US" kern="0" dirty="0">
                <a:solidFill>
                  <a:srgbClr val="7030A0"/>
                </a:solidFill>
              </a:rPr>
              <a:t>Buffer</a:t>
            </a:r>
            <a:endParaRPr lang="zh-CN" altLang="en-US" dirty="0"/>
          </a:p>
        </p:txBody>
      </p:sp>
      <p:sp>
        <p:nvSpPr>
          <p:cNvPr id="3" name="矩形 2">
            <a:extLst>
              <a:ext uri="{FF2B5EF4-FFF2-40B4-BE49-F238E27FC236}">
                <a16:creationId xmlns:a16="http://schemas.microsoft.com/office/drawing/2014/main" id="{92893B30-A2EC-46DD-A09E-CE38CF8B77EA}"/>
              </a:ext>
            </a:extLst>
          </p:cNvPr>
          <p:cNvSpPr/>
          <p:nvPr/>
        </p:nvSpPr>
        <p:spPr>
          <a:xfrm>
            <a:off x="2018323" y="5392468"/>
            <a:ext cx="5107354" cy="461665"/>
          </a:xfrm>
          <a:prstGeom prst="rect">
            <a:avLst/>
          </a:prstGeom>
          <a:ln>
            <a:solidFill>
              <a:schemeClr val="tx1"/>
            </a:solidFill>
            <a:prstDash val="sysDot"/>
          </a:ln>
        </p:spPr>
        <p:txBody>
          <a:bodyPr wrap="square">
            <a:spAutoFit/>
          </a:bodyPr>
          <a:lstStyle/>
          <a:p>
            <a:pPr algn="ctr"/>
            <a:r>
              <a:rPr lang="en-US" altLang="en-US" sz="2400" kern="0" dirty="0">
                <a:solidFill>
                  <a:srgbClr val="7030A0"/>
                </a:solidFill>
              </a:rPr>
              <a:t>Concurrency </a:t>
            </a:r>
            <a:r>
              <a:rPr lang="en-US" altLang="en-US" sz="2400" kern="0" dirty="0"/>
              <a:t>=</a:t>
            </a:r>
            <a:r>
              <a:rPr lang="en-US" altLang="en-US" sz="2400" kern="0" dirty="0">
                <a:solidFill>
                  <a:srgbClr val="7030A0"/>
                </a:solidFill>
              </a:rPr>
              <a:t> </a:t>
            </a:r>
            <a:r>
              <a:rPr lang="en-US" altLang="en-US" sz="2400" kern="0" dirty="0">
                <a:solidFill>
                  <a:srgbClr val="00B0F0"/>
                </a:solidFill>
                <a:latin typeface="Bahnschrift Condensed" panose="020B0502040204020203" pitchFamily="34" charset="0"/>
              </a:rPr>
              <a:t>Latency </a:t>
            </a:r>
            <a:r>
              <a:rPr lang="en-US" altLang="en-US" sz="2400" kern="0" dirty="0">
                <a:latin typeface="Bahnschrift Condensed" panose="020B0502040204020203" pitchFamily="34" charset="0"/>
              </a:rPr>
              <a:t>* </a:t>
            </a:r>
            <a:r>
              <a:rPr lang="en-US" altLang="en-US" sz="2400" kern="0" dirty="0">
                <a:solidFill>
                  <a:srgbClr val="C00000"/>
                </a:solidFill>
              </a:rPr>
              <a:t>Throughput</a:t>
            </a:r>
            <a:r>
              <a:rPr lang="en-US" altLang="en-US" sz="2400" kern="0" dirty="0">
                <a:solidFill>
                  <a:srgbClr val="7030A0"/>
                </a:solidFill>
              </a:rPr>
              <a:t> </a:t>
            </a:r>
            <a:endParaRPr lang="zh-CN" altLang="en-US" sz="2400" dirty="0"/>
          </a:p>
        </p:txBody>
      </p:sp>
    </p:spTree>
    <p:extLst>
      <p:ext uri="{BB962C8B-B14F-4D97-AF65-F5344CB8AC3E}">
        <p14:creationId xmlns:p14="http://schemas.microsoft.com/office/powerpoint/2010/main" val="68091356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B35BB122-97E5-844C-8B97-868F6BF5190D}"/>
              </a:ext>
            </a:extLst>
          </p:cNvPr>
          <p:cNvSpPr>
            <a:spLocks noGrp="1" noChangeArrowheads="1"/>
          </p:cNvSpPr>
          <p:nvPr>
            <p:ph type="title"/>
          </p:nvPr>
        </p:nvSpPr>
        <p:spPr/>
        <p:txBody>
          <a:bodyPr/>
          <a:lstStyle/>
          <a:p>
            <a:r>
              <a:rPr lang="en-US" altLang="zh-CN" sz="3800" dirty="0">
                <a:ea typeface="ＭＳ Ｐゴシック" panose="020B0600070205080204" pitchFamily="34" charset="-128"/>
              </a:rPr>
              <a:t>Recall </a:t>
            </a:r>
            <a:r>
              <a:rPr lang="en-US" altLang="en-US" sz="3800" dirty="0">
                <a:ea typeface="ＭＳ Ｐゴシック" panose="020B0600070205080204" pitchFamily="34" charset="-128"/>
              </a:rPr>
              <a:t>von Neumann Model</a:t>
            </a:r>
            <a:r>
              <a:rPr lang="en-US" altLang="en-US" sz="3800">
                <a:ea typeface="ＭＳ Ｐゴシック" panose="020B0600070205080204" pitchFamily="34" charset="-128"/>
              </a:rPr>
              <a:t>: Key </a:t>
            </a:r>
            <a:r>
              <a:rPr lang="en-US" altLang="en-US" sz="3800" dirty="0">
                <a:ea typeface="ＭＳ Ｐゴシック" panose="020B0600070205080204" pitchFamily="34" charset="-128"/>
              </a:rPr>
              <a:t>Properties</a:t>
            </a:r>
          </a:p>
        </p:txBody>
      </p:sp>
      <p:sp>
        <p:nvSpPr>
          <p:cNvPr id="3" name="Content Placeholder 2">
            <a:extLst>
              <a:ext uri="{FF2B5EF4-FFF2-40B4-BE49-F238E27FC236}">
                <a16:creationId xmlns:a16="http://schemas.microsoft.com/office/drawing/2014/main" id="{CC66598B-8A85-CB40-943E-A9263E0C664C}"/>
              </a:ext>
            </a:extLst>
          </p:cNvPr>
          <p:cNvSpPr>
            <a:spLocks noGrp="1" noChangeArrowheads="1"/>
          </p:cNvSpPr>
          <p:nvPr>
            <p:ph idx="1"/>
          </p:nvPr>
        </p:nvSpPr>
        <p:spPr>
          <a:xfrm>
            <a:off x="228600" y="996950"/>
            <a:ext cx="8839200" cy="5194300"/>
          </a:xfrm>
        </p:spPr>
        <p:txBody>
          <a:bodyPr/>
          <a:lstStyle/>
          <a:p>
            <a:r>
              <a:rPr lang="en-US" altLang="en-US" dirty="0">
                <a:ea typeface="ＭＳ Ｐゴシック" panose="020B0600070205080204" pitchFamily="34" charset="-128"/>
              </a:rPr>
              <a:t>Von Neumann model is also called </a:t>
            </a:r>
            <a:r>
              <a:rPr lang="en-US" altLang="en-US" i="1" dirty="0">
                <a:ea typeface="ＭＳ Ｐゴシック" panose="020B0600070205080204" pitchFamily="34" charset="-128"/>
              </a:rPr>
              <a:t>stored program computer </a:t>
            </a:r>
            <a:r>
              <a:rPr lang="en-US" altLang="en-US" dirty="0">
                <a:ea typeface="ＭＳ Ｐゴシック" panose="020B0600070205080204" pitchFamily="34" charset="-128"/>
              </a:rPr>
              <a:t>(instructions in memory). </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von Neumann Model has two key properties:</a:t>
            </a:r>
          </a:p>
          <a:p>
            <a:endParaRPr lang="en-US" altLang="en-US" sz="1400" dirty="0">
              <a:ea typeface="ＭＳ Ｐゴシック" panose="020B0600070205080204" pitchFamily="34" charset="-128"/>
            </a:endParaRPr>
          </a:p>
          <a:p>
            <a:pPr lvl="1"/>
            <a:r>
              <a:rPr lang="en-US" altLang="en-US" b="1" dirty="0">
                <a:ea typeface="ＭＳ Ｐゴシック" panose="020B0600070205080204" pitchFamily="34" charset="-128"/>
              </a:rPr>
              <a:t>1</a:t>
            </a:r>
            <a:r>
              <a:rPr lang="zh-CN" altLang="en-US" b="1" dirty="0">
                <a:ea typeface="ＭＳ Ｐゴシック" panose="020B0600070205080204" pitchFamily="34" charset="-128"/>
              </a:rPr>
              <a:t>，</a:t>
            </a:r>
            <a:r>
              <a:rPr lang="en-US" altLang="en-US" b="1" dirty="0">
                <a:ea typeface="ＭＳ Ｐゴシック" panose="020B0600070205080204" pitchFamily="34" charset="-128"/>
              </a:rPr>
              <a:t>Stored program</a:t>
            </a:r>
          </a:p>
          <a:p>
            <a:pPr lvl="2"/>
            <a:r>
              <a:rPr lang="en-US" altLang="en-US" sz="1800" dirty="0">
                <a:ea typeface="ＭＳ Ｐゴシック" panose="020B0600070205080204" pitchFamily="34" charset="-128"/>
              </a:rPr>
              <a:t>Instructions stored in a linear memory array</a:t>
            </a:r>
          </a:p>
          <a:p>
            <a:pPr lvl="2"/>
            <a:r>
              <a:rPr lang="en-US" altLang="en-US" sz="1800" dirty="0">
                <a:ea typeface="ＭＳ Ｐゴシック" panose="020B0600070205080204" pitchFamily="34" charset="-128"/>
              </a:rPr>
              <a:t>Memory is unified between instructions and data</a:t>
            </a:r>
          </a:p>
          <a:p>
            <a:pPr lvl="3"/>
            <a:r>
              <a:rPr lang="en-US" altLang="en-US" dirty="0">
                <a:ea typeface="ＭＳ Ｐゴシック" panose="020B0600070205080204" pitchFamily="34" charset="-128"/>
              </a:rPr>
              <a:t>The interpretation of a stored value depends on the control signals</a:t>
            </a:r>
          </a:p>
          <a:p>
            <a:pPr marL="671512" lvl="2" indent="0">
              <a:buNone/>
            </a:pPr>
            <a:endParaRPr lang="en-US" altLang="en-US" sz="1400" dirty="0">
              <a:ea typeface="ＭＳ Ｐゴシック" panose="020B0600070205080204" pitchFamily="34" charset="-128"/>
            </a:endParaRPr>
          </a:p>
          <a:p>
            <a:pPr lvl="1"/>
            <a:r>
              <a:rPr lang="en-US" altLang="en-US" b="1" dirty="0">
                <a:ea typeface="ＭＳ Ｐゴシック" panose="020B0600070205080204" pitchFamily="34" charset="-128"/>
              </a:rPr>
              <a:t>2</a:t>
            </a:r>
            <a:r>
              <a:rPr lang="zh-CN" altLang="en-US" b="1" dirty="0">
                <a:ea typeface="ＭＳ Ｐゴシック" panose="020B0600070205080204" pitchFamily="34" charset="-128"/>
              </a:rPr>
              <a:t>，</a:t>
            </a:r>
            <a:r>
              <a:rPr lang="en-US" altLang="en-US" b="1" dirty="0">
                <a:ea typeface="ＭＳ Ｐゴシック" panose="020B0600070205080204" pitchFamily="34" charset="-128"/>
              </a:rPr>
              <a:t>Sequential instruction processing</a:t>
            </a:r>
          </a:p>
          <a:p>
            <a:pPr lvl="2"/>
            <a:r>
              <a:rPr lang="en-US" altLang="en-US" sz="1800" dirty="0">
                <a:ea typeface="ＭＳ Ｐゴシック" panose="020B0600070205080204" pitchFamily="34" charset="-128"/>
              </a:rPr>
              <a:t>One instruction processed (fetched, executed, completed) at a time</a:t>
            </a:r>
          </a:p>
          <a:p>
            <a:pPr lvl="2"/>
            <a:r>
              <a:rPr lang="en-US" altLang="en-US" sz="1800" dirty="0">
                <a:ea typeface="ＭＳ Ｐゴシック" panose="020B0600070205080204" pitchFamily="34" charset="-128"/>
              </a:rPr>
              <a:t>Program counter (instruction pointer) identifies the current instruction</a:t>
            </a:r>
          </a:p>
          <a:p>
            <a:pPr lvl="2"/>
            <a:r>
              <a:rPr lang="en-US" altLang="en-US" sz="1800" dirty="0">
                <a:ea typeface="ＭＳ Ｐゴシック" panose="020B0600070205080204" pitchFamily="34" charset="-128"/>
              </a:rPr>
              <a:t>Program counter is advanced sequentially except for control transfer instructions</a:t>
            </a:r>
          </a:p>
          <a:p>
            <a:pPr lvl="1"/>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79875" name="Slide Number Placeholder 3">
            <a:extLst>
              <a:ext uri="{FF2B5EF4-FFF2-40B4-BE49-F238E27FC236}">
                <a16:creationId xmlns:a16="http://schemas.microsoft.com/office/drawing/2014/main" id="{A05EB32A-013A-AB46-BA12-E8B17A9FC7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B49F1BA1-BE02-414B-AE94-9A90B7289BCE}" type="slidenum">
              <a:rPr lang="en-US" altLang="en-US" sz="1600" smtClean="0">
                <a:solidFill>
                  <a:srgbClr val="000000"/>
                </a:solidFill>
                <a:latin typeface="Garamond" panose="02020404030301010803" pitchFamily="18" charset="0"/>
              </a:rPr>
              <a:pPr>
                <a:spcBef>
                  <a:spcPct val="0"/>
                </a:spcBef>
                <a:buClrTx/>
                <a:buSzTx/>
                <a:buFontTx/>
                <a:buNone/>
              </a:pPr>
              <a:t>8</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6B6BA85-D1AC-4E13-A5FE-10A346B86D20}"/>
              </a:ext>
            </a:extLst>
          </p:cNvPr>
          <p:cNvPicPr>
            <a:picLocks noChangeAspect="1"/>
          </p:cNvPicPr>
          <p:nvPr/>
        </p:nvPicPr>
        <p:blipFill>
          <a:blip r:embed="rId2"/>
          <a:stretch>
            <a:fillRect/>
          </a:stretch>
        </p:blipFill>
        <p:spPr>
          <a:xfrm>
            <a:off x="0" y="1066800"/>
            <a:ext cx="9144000" cy="5238364"/>
          </a:xfrm>
          <a:prstGeom prst="rect">
            <a:avLst/>
          </a:prstGeom>
        </p:spPr>
      </p:pic>
      <p:sp>
        <p:nvSpPr>
          <p:cNvPr id="114690" name="Title 1"/>
          <p:cNvSpPr>
            <a:spLocks noGrp="1"/>
          </p:cNvSpPr>
          <p:nvPr>
            <p:ph type="title"/>
          </p:nvPr>
        </p:nvSpPr>
        <p:spPr>
          <a:xfrm>
            <a:off x="266700" y="160338"/>
            <a:ext cx="8610600" cy="1066800"/>
          </a:xfrm>
        </p:spPr>
        <p:txBody>
          <a:bodyPr/>
          <a:lstStyle/>
          <a:p>
            <a:r>
              <a:rPr lang="en-US" altLang="en-US" b="1" dirty="0">
                <a:ea typeface="ＭＳ Ｐゴシック" panose="020B0600070205080204" pitchFamily="34" charset="-128"/>
              </a:rPr>
              <a:t>Where Are We?</a:t>
            </a:r>
            <a:endParaRPr lang="en-US" dirty="0">
              <a:latin typeface="Calibri" charset="0"/>
            </a:endParaRPr>
          </a:p>
        </p:txBody>
      </p:sp>
    </p:spTree>
    <p:extLst>
      <p:ext uri="{BB962C8B-B14F-4D97-AF65-F5344CB8AC3E}">
        <p14:creationId xmlns:p14="http://schemas.microsoft.com/office/powerpoint/2010/main" val="226300061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r>
              <a:rPr lang="en-US" altLang="en-US" dirty="0">
                <a:solidFill>
                  <a:srgbClr val="0432FF"/>
                </a:solidFill>
                <a:ea typeface="ＭＳ Ｐゴシック" charset="-128"/>
              </a:rPr>
              <a:t> </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2671301"/>
            <a:ext cx="6375009" cy="199937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416966014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08E9AA00-F50D-124C-AF8D-0999E45F6EE2}"/>
              </a:ext>
            </a:extLst>
          </p:cNvPr>
          <p:cNvSpPr>
            <a:spLocks noGrp="1" noChangeArrowheads="1"/>
          </p:cNvSpPr>
          <p:nvPr>
            <p:ph type="title"/>
          </p:nvPr>
        </p:nvSpPr>
        <p:spPr/>
        <p:txBody>
          <a:bodyPr/>
          <a:lstStyle/>
          <a:p>
            <a:r>
              <a:rPr lang="en-US" altLang="zh-CN" dirty="0"/>
              <a:t>Pipeline hazards</a:t>
            </a: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169D79D2-DC79-6446-88C7-BF7D931B9546}"/>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A </a:t>
            </a:r>
            <a:r>
              <a:rPr lang="en-US" altLang="en-US" b="1" dirty="0">
                <a:ea typeface="ＭＳ Ｐゴシック" panose="020B0600070205080204" pitchFamily="34" charset="-128"/>
              </a:rPr>
              <a:t>hazard</a:t>
            </a:r>
            <a:r>
              <a:rPr lang="en-US" altLang="en-US" dirty="0">
                <a:ea typeface="ＭＳ Ｐゴシック" panose="020B0600070205080204" pitchFamily="34" charset="-128"/>
              </a:rPr>
              <a:t> is a condition that prevents an instruction in the pipeline from executing its next scheduled pipeline stage. </a:t>
            </a:r>
          </a:p>
          <a:p>
            <a:endParaRPr lang="en-US" altLang="en-US" sz="1200" dirty="0">
              <a:ea typeface="ＭＳ Ｐゴシック" panose="020B0600070205080204" pitchFamily="34" charset="-128"/>
            </a:endParaRPr>
          </a:p>
          <a:p>
            <a:r>
              <a:rPr lang="en-US" altLang="en-US" dirty="0">
                <a:ea typeface="ＭＳ Ｐゴシック" panose="020B0600070205080204" pitchFamily="34" charset="-128"/>
              </a:rPr>
              <a:t>Taxonomy of hazard:</a:t>
            </a:r>
          </a:p>
          <a:p>
            <a:pPr lvl="1"/>
            <a:r>
              <a:rPr lang="en-US" altLang="en-US" b="1" dirty="0">
                <a:ea typeface="ＭＳ Ｐゴシック" panose="020B0600070205080204" pitchFamily="34" charset="-128"/>
              </a:rPr>
              <a:t>Structural hazards </a:t>
            </a:r>
          </a:p>
          <a:p>
            <a:pPr lvl="2"/>
            <a:r>
              <a:rPr lang="en-US" altLang="en-US" dirty="0">
                <a:ea typeface="ＭＳ Ｐゴシック" panose="020B0600070205080204" pitchFamily="34" charset="-128"/>
              </a:rPr>
              <a:t>Conflict due to limited hardware resources</a:t>
            </a:r>
          </a:p>
          <a:p>
            <a:pPr lvl="1"/>
            <a:r>
              <a:rPr lang="en-US" altLang="en-US" b="1" dirty="0">
                <a:ea typeface="ＭＳ Ｐゴシック" panose="020B0600070205080204" pitchFamily="34" charset="-128"/>
              </a:rPr>
              <a:t>Data hazards</a:t>
            </a:r>
          </a:p>
          <a:p>
            <a:pPr lvl="2"/>
            <a:r>
              <a:rPr lang="en-US" altLang="en-US" dirty="0">
                <a:ea typeface="ＭＳ Ｐゴシック" panose="020B0600070205080204" pitchFamily="34" charset="-128"/>
              </a:rPr>
              <a:t>Instruction depends on result of a prior instruction which is not ready (computed or stored) yet</a:t>
            </a:r>
          </a:p>
          <a:p>
            <a:pPr lvl="1"/>
            <a:r>
              <a:rPr lang="en-US" altLang="en-US" b="1" dirty="0">
                <a:ea typeface="ＭＳ Ｐゴシック" panose="020B0600070205080204" pitchFamily="34" charset="-128"/>
              </a:rPr>
              <a:t>Control hazards</a:t>
            </a:r>
          </a:p>
          <a:p>
            <a:pPr lvl="2"/>
            <a:r>
              <a:rPr lang="en-US" altLang="en-US" dirty="0">
                <a:ea typeface="ＭＳ Ｐゴシック" panose="020B0600070205080204" pitchFamily="34" charset="-128"/>
              </a:rPr>
              <a:t>Not able to fetch the next instruction for the next clock due to unsolved branch condition or unavailable branch.</a:t>
            </a:r>
          </a:p>
          <a:p>
            <a:endParaRPr lang="en-US" altLang="en-US" dirty="0">
              <a:ea typeface="ＭＳ Ｐゴシック" panose="020B0600070205080204" pitchFamily="34" charset="-128"/>
            </a:endParaRPr>
          </a:p>
        </p:txBody>
      </p:sp>
      <p:sp>
        <p:nvSpPr>
          <p:cNvPr id="59395" name="Slide Number Placeholder 3">
            <a:extLst>
              <a:ext uri="{FF2B5EF4-FFF2-40B4-BE49-F238E27FC236}">
                <a16:creationId xmlns:a16="http://schemas.microsoft.com/office/drawing/2014/main" id="{F1355476-842F-474E-B0DB-712E75FEBF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0841491-6DA0-294A-874F-58BAE38F7958}" type="slidenum">
              <a:rPr lang="en-US" altLang="en-US" sz="1600" smtClean="0">
                <a:solidFill>
                  <a:srgbClr val="000000"/>
                </a:solidFill>
                <a:latin typeface="Garamond" panose="02020404030301010803" pitchFamily="18" charset="0"/>
              </a:rPr>
              <a:pPr>
                <a:spcBef>
                  <a:spcPct val="0"/>
                </a:spcBef>
                <a:buClrTx/>
                <a:buSzTx/>
                <a:buFontTx/>
                <a:buNone/>
              </a:pPr>
              <a:t>11</a:t>
            </a:fld>
            <a:endParaRPr lang="en-US" altLang="en-US" sz="1600">
              <a:solidFill>
                <a:srgbClr val="000000"/>
              </a:solidFill>
              <a:latin typeface="Garamond" panose="02020404030301010803" pitchFamily="18" charset="0"/>
            </a:endParaRPr>
          </a:p>
        </p:txBody>
      </p:sp>
      <p:sp>
        <p:nvSpPr>
          <p:cNvPr id="5" name="Rectangle 4">
            <a:extLst>
              <a:ext uri="{FF2B5EF4-FFF2-40B4-BE49-F238E27FC236}">
                <a16:creationId xmlns:a16="http://schemas.microsoft.com/office/drawing/2014/main" id="{290F285A-8C83-4DDA-99E1-BB2EEB22BE9C}"/>
              </a:ext>
            </a:extLst>
          </p:cNvPr>
          <p:cNvSpPr>
            <a:spLocks noChangeArrowheads="1"/>
          </p:cNvSpPr>
          <p:nvPr/>
        </p:nvSpPr>
        <p:spPr bwMode="auto">
          <a:xfrm>
            <a:off x="609600" y="2514600"/>
            <a:ext cx="5638800" cy="7620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endParaRPr lang="en-US" altLang="en-US" sz="1800">
              <a:solidFill>
                <a:srgbClr val="FFFFFF"/>
              </a:solidFill>
              <a:latin typeface="Tahoma" charset="0"/>
            </a:endParaRPr>
          </a:p>
        </p:txBody>
      </p:sp>
    </p:spTree>
    <p:extLst>
      <p:ext uri="{BB962C8B-B14F-4D97-AF65-F5344CB8AC3E}">
        <p14:creationId xmlns:p14="http://schemas.microsoft.com/office/powerpoint/2010/main" val="34297295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r>
              <a:rPr lang="en-US" altLang="en-US" dirty="0">
                <a:solidFill>
                  <a:srgbClr val="0432FF"/>
                </a:solidFill>
                <a:ea typeface="ＭＳ Ｐゴシック" charset="-128"/>
              </a:rPr>
              <a:t> </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1828800"/>
            <a:ext cx="6375009" cy="2841871"/>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1"/>
            <a:ext cx="6375009" cy="4572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44192688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08E9AA00-F50D-124C-AF8D-0999E45F6EE2}"/>
              </a:ext>
            </a:extLst>
          </p:cNvPr>
          <p:cNvSpPr>
            <a:spLocks noGrp="1" noChangeArrowheads="1"/>
          </p:cNvSpPr>
          <p:nvPr>
            <p:ph type="title"/>
          </p:nvPr>
        </p:nvSpPr>
        <p:spPr/>
        <p:txBody>
          <a:bodyPr/>
          <a:lstStyle/>
          <a:p>
            <a:r>
              <a:rPr lang="en-US" altLang="zh-CN" dirty="0"/>
              <a:t>Structural hazard</a:t>
            </a: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169D79D2-DC79-6446-88C7-BF7D931B9546}"/>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Structural hazard </a:t>
            </a:r>
          </a:p>
          <a:p>
            <a:pPr lvl="1"/>
            <a:r>
              <a:rPr lang="en-US" altLang="zh-CN" b="1" dirty="0">
                <a:ea typeface="ＭＳ Ｐゴシック" panose="020B0600070205080204" pitchFamily="34" charset="-128"/>
              </a:rPr>
              <a:t>Reason</a:t>
            </a:r>
            <a:r>
              <a:rPr lang="en-US" altLang="zh-CN" dirty="0">
                <a:ea typeface="ＭＳ Ｐゴシック" panose="020B0600070205080204" pitchFamily="34" charset="-128"/>
              </a:rPr>
              <a:t>: </a:t>
            </a:r>
            <a:r>
              <a:rPr lang="en-US" altLang="en-US" dirty="0">
                <a:ea typeface="ＭＳ Ｐゴシック" panose="020B0600070205080204" pitchFamily="34" charset="-128"/>
              </a:rPr>
              <a:t>Occurs when two or more instructions try to use </a:t>
            </a:r>
            <a:r>
              <a:rPr lang="en-US" altLang="en-US" dirty="0">
                <a:solidFill>
                  <a:srgbClr val="FF0000"/>
                </a:solidFill>
                <a:ea typeface="ＭＳ Ｐゴシック" panose="020B0600070205080204" pitchFamily="34" charset="-128"/>
              </a:rPr>
              <a:t>the same hardware resource</a:t>
            </a:r>
            <a:r>
              <a:rPr lang="en-US" altLang="en-US" dirty="0">
                <a:ea typeface="ＭＳ Ｐゴシック" panose="020B0600070205080204" pitchFamily="34" charset="-128"/>
              </a:rPr>
              <a:t> in the same cycle.</a:t>
            </a:r>
          </a:p>
          <a:p>
            <a:pPr lvl="1"/>
            <a:endParaRPr lang="en-US" altLang="en-US" dirty="0">
              <a:ea typeface="ＭＳ Ｐゴシック" panose="020B0600070205080204" pitchFamily="34" charset="-128"/>
            </a:endParaRPr>
          </a:p>
          <a:p>
            <a:pPr lvl="1"/>
            <a:r>
              <a:rPr lang="en-US" altLang="en-US" b="1" dirty="0">
                <a:ea typeface="ＭＳ Ｐゴシック" panose="020B0600070205080204" pitchFamily="34" charset="-128"/>
              </a:rPr>
              <a:t>Outcome</a:t>
            </a:r>
            <a:r>
              <a:rPr lang="en-US" altLang="en-US" dirty="0">
                <a:ea typeface="ＭＳ Ｐゴシック" panose="020B0600070205080204" pitchFamily="34" charset="-128"/>
              </a:rPr>
              <a:t>: Causes bubble (stall) in a pipelined CPU.</a:t>
            </a:r>
          </a:p>
          <a:p>
            <a:pPr lvl="1"/>
            <a:endParaRPr lang="en-US" altLang="en-US" dirty="0">
              <a:ea typeface="ＭＳ Ｐゴシック" panose="020B0600070205080204" pitchFamily="34" charset="-128"/>
            </a:endParaRPr>
          </a:p>
          <a:p>
            <a:pPr lvl="1"/>
            <a:r>
              <a:rPr lang="en-US" altLang="en-US" b="1" dirty="0">
                <a:ea typeface="ＭＳ Ｐゴシック" panose="020B0600070205080204" pitchFamily="34" charset="-128"/>
              </a:rPr>
              <a:t>Solution</a:t>
            </a:r>
            <a:r>
              <a:rPr lang="en-US" altLang="en-US" dirty="0">
                <a:ea typeface="ＭＳ Ｐゴシック" panose="020B0600070205080204" pitchFamily="34" charset="-128"/>
              </a:rPr>
              <a:t>: Can be overcome by replicating hardware resources</a:t>
            </a:r>
          </a:p>
          <a:p>
            <a:pPr lvl="2"/>
            <a:r>
              <a:rPr lang="en-US" altLang="en-US" dirty="0">
                <a:ea typeface="ＭＳ Ｐゴシック" panose="020B0600070205080204" pitchFamily="34" charset="-128"/>
              </a:rPr>
              <a:t>Multiple accesses to the register file</a:t>
            </a:r>
          </a:p>
          <a:p>
            <a:pPr lvl="2"/>
            <a:r>
              <a:rPr lang="en-US" altLang="en-US" dirty="0">
                <a:ea typeface="ＭＳ Ｐゴシック" panose="020B0600070205080204" pitchFamily="34" charset="-128"/>
              </a:rPr>
              <a:t>Multiple accesses to memory</a:t>
            </a:r>
          </a:p>
          <a:p>
            <a:pPr lvl="2"/>
            <a:r>
              <a:rPr lang="en-US" altLang="en-US" dirty="0">
                <a:ea typeface="ＭＳ Ｐゴシック" panose="020B0600070205080204" pitchFamily="34" charset="-128"/>
              </a:rPr>
              <a:t>Fully pipeline the functional unit</a:t>
            </a:r>
          </a:p>
          <a:p>
            <a:pPr lvl="1"/>
            <a:endParaRPr lang="en-US" altLang="en-US" dirty="0">
              <a:ea typeface="ＭＳ Ｐゴシック" panose="020B0600070205080204" pitchFamily="34" charset="-128"/>
            </a:endParaRPr>
          </a:p>
          <a:p>
            <a:endParaRPr lang="en-US" altLang="en-US" sz="1200" dirty="0">
              <a:solidFill>
                <a:srgbClr val="0000FF"/>
              </a:solidFill>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59395" name="Slide Number Placeholder 3">
            <a:extLst>
              <a:ext uri="{FF2B5EF4-FFF2-40B4-BE49-F238E27FC236}">
                <a16:creationId xmlns:a16="http://schemas.microsoft.com/office/drawing/2014/main" id="{F1355476-842F-474E-B0DB-712E75FEBF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0841491-6DA0-294A-874F-58BAE38F7958}" type="slidenum">
              <a:rPr lang="en-US" altLang="en-US" sz="1600" smtClean="0">
                <a:solidFill>
                  <a:srgbClr val="000000"/>
                </a:solidFill>
                <a:latin typeface="Garamond" panose="02020404030301010803" pitchFamily="18" charset="0"/>
              </a:rPr>
              <a:pPr>
                <a:spcBef>
                  <a:spcPct val="0"/>
                </a:spcBef>
                <a:buClrTx/>
                <a:buSzTx/>
                <a:buFontTx/>
                <a:buNone/>
              </a:pPr>
              <a:t>13</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266159675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08E9AA00-F50D-124C-AF8D-0999E45F6EE2}"/>
              </a:ext>
            </a:extLst>
          </p:cNvPr>
          <p:cNvSpPr>
            <a:spLocks noGrp="1" noChangeArrowheads="1"/>
          </p:cNvSpPr>
          <p:nvPr>
            <p:ph type="title"/>
          </p:nvPr>
        </p:nvSpPr>
        <p:spPr>
          <a:xfrm>
            <a:off x="-76200" y="228600"/>
            <a:ext cx="9448800" cy="641350"/>
          </a:xfrm>
        </p:spPr>
        <p:txBody>
          <a:bodyPr/>
          <a:lstStyle/>
          <a:p>
            <a:r>
              <a:rPr lang="en-US" altLang="zh-CN" dirty="0"/>
              <a:t>Structural Hazard: Multi Ports of Register File</a:t>
            </a: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169D79D2-DC79-6446-88C7-BF7D931B9546}"/>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Condition of Register file to avoid structural hazard?</a:t>
            </a:r>
          </a:p>
          <a:p>
            <a:pPr lvl="1"/>
            <a:r>
              <a:rPr lang="en-US" altLang="en-US" dirty="0">
                <a:ea typeface="ＭＳ Ｐゴシック" panose="020B0600070205080204" pitchFamily="34" charset="-128"/>
              </a:rPr>
              <a:t>Allows concurrently </a:t>
            </a:r>
            <a:r>
              <a:rPr lang="en-US" altLang="en-US" b="1" dirty="0">
                <a:ea typeface="ＭＳ Ｐゴシック" panose="020B0600070205080204" pitchFamily="34" charset="-128"/>
              </a:rPr>
              <a:t>two reads </a:t>
            </a:r>
            <a:r>
              <a:rPr lang="en-US" altLang="en-US" dirty="0">
                <a:ea typeface="ＭＳ Ｐゴシック" panose="020B0600070205080204" pitchFamily="34" charset="-128"/>
              </a:rPr>
              <a:t>and </a:t>
            </a:r>
            <a:r>
              <a:rPr lang="en-US" altLang="en-US" b="1" dirty="0">
                <a:ea typeface="ＭＳ Ｐゴシック" panose="020B0600070205080204" pitchFamily="34" charset="-128"/>
              </a:rPr>
              <a:t>one write </a:t>
            </a:r>
            <a:r>
              <a:rPr lang="en-US" altLang="en-US" dirty="0">
                <a:ea typeface="ＭＳ Ｐゴシック" panose="020B0600070205080204" pitchFamily="34" charset="-128"/>
              </a:rPr>
              <a:t>to avoid structural hazard regarding register file. </a:t>
            </a:r>
          </a:p>
          <a:p>
            <a:pPr marL="0" indent="0">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59395" name="Slide Number Placeholder 3">
            <a:extLst>
              <a:ext uri="{FF2B5EF4-FFF2-40B4-BE49-F238E27FC236}">
                <a16:creationId xmlns:a16="http://schemas.microsoft.com/office/drawing/2014/main" id="{F1355476-842F-474E-B0DB-712E75FEBF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0841491-6DA0-294A-874F-58BAE38F7958}" type="slidenum">
              <a:rPr lang="en-US" altLang="en-US" sz="1600" smtClean="0">
                <a:solidFill>
                  <a:srgbClr val="000000"/>
                </a:solidFill>
                <a:latin typeface="Garamond" panose="02020404030301010803" pitchFamily="18" charset="0"/>
              </a:rPr>
              <a:pPr>
                <a:spcBef>
                  <a:spcPct val="0"/>
                </a:spcBef>
                <a:buClrTx/>
                <a:buSzTx/>
                <a:buFontTx/>
                <a:buNone/>
              </a:pPr>
              <a:t>14</a:t>
            </a:fld>
            <a:endParaRPr lang="en-US" altLang="en-US" sz="1600">
              <a:solidFill>
                <a:srgbClr val="000000"/>
              </a:solidFill>
              <a:latin typeface="Garamond" panose="02020404030301010803" pitchFamily="18" charset="0"/>
            </a:endParaRPr>
          </a:p>
        </p:txBody>
      </p:sp>
      <p:grpSp>
        <p:nvGrpSpPr>
          <p:cNvPr id="5" name="Group 4">
            <a:extLst>
              <a:ext uri="{FF2B5EF4-FFF2-40B4-BE49-F238E27FC236}">
                <a16:creationId xmlns:a16="http://schemas.microsoft.com/office/drawing/2014/main" id="{CEDB34A3-1717-4CA0-B3B4-370CD46CB507}"/>
              </a:ext>
            </a:extLst>
          </p:cNvPr>
          <p:cNvGrpSpPr>
            <a:grpSpLocks/>
          </p:cNvGrpSpPr>
          <p:nvPr/>
        </p:nvGrpSpPr>
        <p:grpSpPr bwMode="auto">
          <a:xfrm>
            <a:off x="685800" y="2381250"/>
            <a:ext cx="7543800" cy="4019550"/>
            <a:chOff x="672" y="1452"/>
            <a:chExt cx="4512" cy="2532"/>
          </a:xfrm>
        </p:grpSpPr>
        <p:pic>
          <p:nvPicPr>
            <p:cNvPr id="6" name="Picture 5">
              <a:extLst>
                <a:ext uri="{FF2B5EF4-FFF2-40B4-BE49-F238E27FC236}">
                  <a16:creationId xmlns:a16="http://schemas.microsoft.com/office/drawing/2014/main" id="{7B36AD6A-9649-40AE-8013-DBC7D49AA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1452"/>
              <a:ext cx="4512" cy="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0139B1EA-2714-4419-81B6-95C9A4C0084C}"/>
                </a:ext>
              </a:extLst>
            </p:cNvPr>
            <p:cNvSpPr>
              <a:spLocks noChangeArrowheads="1"/>
            </p:cNvSpPr>
            <p:nvPr/>
          </p:nvSpPr>
          <p:spPr bwMode="auto">
            <a:xfrm>
              <a:off x="4368" y="3840"/>
              <a:ext cx="240" cy="14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34662653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08E9AA00-F50D-124C-AF8D-0999E45F6EE2}"/>
              </a:ext>
            </a:extLst>
          </p:cNvPr>
          <p:cNvSpPr>
            <a:spLocks noGrp="1" noChangeArrowheads="1"/>
          </p:cNvSpPr>
          <p:nvPr>
            <p:ph type="title"/>
          </p:nvPr>
        </p:nvSpPr>
        <p:spPr>
          <a:xfrm>
            <a:off x="228600" y="152400"/>
            <a:ext cx="8610600" cy="1066800"/>
          </a:xfrm>
        </p:spPr>
        <p:txBody>
          <a:bodyPr/>
          <a:lstStyle/>
          <a:p>
            <a:r>
              <a:rPr lang="en-US" altLang="zh-CN" dirty="0"/>
              <a:t>Instruction and Data Memory Ports Split</a:t>
            </a:r>
            <a:endParaRPr lang="en-US" altLang="en-US"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169D79D2-DC79-6446-88C7-BF7D931B9546}"/>
              </a:ext>
            </a:extLst>
          </p:cNvPr>
          <p:cNvSpPr>
            <a:spLocks noGrp="1" noChangeArrowheads="1"/>
          </p:cNvSpPr>
          <p:nvPr>
            <p:ph idx="1"/>
          </p:nvPr>
        </p:nvSpPr>
        <p:spPr>
          <a:xfrm>
            <a:off x="228600" y="996950"/>
            <a:ext cx="8610600" cy="1932775"/>
          </a:xfrm>
        </p:spPr>
        <p:txBody>
          <a:bodyPr/>
          <a:lstStyle/>
          <a:p>
            <a:r>
              <a:rPr lang="en-US" altLang="zh-CN" dirty="0">
                <a:ea typeface="ＭＳ Ｐゴシック" charset="-128"/>
              </a:rPr>
              <a:t>Structural hazard regarding memory</a:t>
            </a:r>
            <a:r>
              <a:rPr lang="en-US" altLang="en-US" dirty="0">
                <a:ea typeface="ＭＳ Ｐゴシック" panose="020B0600070205080204" pitchFamily="34" charset="-128"/>
              </a:rPr>
              <a:t>? </a:t>
            </a:r>
          </a:p>
          <a:p>
            <a:pPr lvl="1"/>
            <a:r>
              <a:rPr lang="en-US" altLang="en-US" b="1" dirty="0">
                <a:ea typeface="ＭＳ Ｐゴシック" panose="020B0600070205080204" pitchFamily="34" charset="-128"/>
              </a:rPr>
              <a:t>Solution</a:t>
            </a:r>
            <a:r>
              <a:rPr lang="en-US" altLang="en-US" dirty="0">
                <a:ea typeface="ＭＳ Ｐゴシック" panose="020B0600070205080204" pitchFamily="34" charset="-128"/>
              </a:rPr>
              <a:t>: Split instruction and data memory</a:t>
            </a:r>
          </a:p>
          <a:p>
            <a:pPr lvl="2"/>
            <a:r>
              <a:rPr lang="en-US" altLang="en-US" dirty="0">
                <a:ea typeface="ＭＳ Ｐゴシック" panose="020B0600070205080204" pitchFamily="34" charset="-128"/>
              </a:rPr>
              <a:t>Fetch the instruction and data using different memory ports, rather than contenting for the same port.</a:t>
            </a:r>
          </a:p>
        </p:txBody>
      </p:sp>
      <p:sp>
        <p:nvSpPr>
          <p:cNvPr id="59395" name="Slide Number Placeholder 3">
            <a:extLst>
              <a:ext uri="{FF2B5EF4-FFF2-40B4-BE49-F238E27FC236}">
                <a16:creationId xmlns:a16="http://schemas.microsoft.com/office/drawing/2014/main" id="{F1355476-842F-474E-B0DB-712E75FEBF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0841491-6DA0-294A-874F-58BAE38F7958}" type="slidenum">
              <a:rPr lang="en-US" altLang="en-US" sz="1600" smtClean="0">
                <a:solidFill>
                  <a:srgbClr val="000000"/>
                </a:solidFill>
                <a:latin typeface="Garamond" panose="02020404030301010803" pitchFamily="18" charset="0"/>
              </a:rPr>
              <a:pPr>
                <a:spcBef>
                  <a:spcPct val="0"/>
                </a:spcBef>
                <a:buClrTx/>
                <a:buSzTx/>
                <a:buFontTx/>
                <a:buNone/>
              </a:pPr>
              <a:t>15</a:t>
            </a:fld>
            <a:endParaRPr lang="en-US" altLang="en-US" sz="1600">
              <a:solidFill>
                <a:srgbClr val="000000"/>
              </a:solidFill>
              <a:latin typeface="Garamond" panose="02020404030301010803" pitchFamily="18" charset="0"/>
            </a:endParaRPr>
          </a:p>
        </p:txBody>
      </p:sp>
      <p:grpSp>
        <p:nvGrpSpPr>
          <p:cNvPr id="8" name="Group 2">
            <a:extLst>
              <a:ext uri="{FF2B5EF4-FFF2-40B4-BE49-F238E27FC236}">
                <a16:creationId xmlns:a16="http://schemas.microsoft.com/office/drawing/2014/main" id="{DF459D89-EA83-47FF-83E1-FF06EFC8724F}"/>
              </a:ext>
            </a:extLst>
          </p:cNvPr>
          <p:cNvGrpSpPr>
            <a:grpSpLocks/>
          </p:cNvGrpSpPr>
          <p:nvPr/>
        </p:nvGrpSpPr>
        <p:grpSpPr bwMode="auto">
          <a:xfrm>
            <a:off x="762000" y="2981331"/>
            <a:ext cx="7454900" cy="3252788"/>
            <a:chOff x="720" y="1248"/>
            <a:chExt cx="4696" cy="2049"/>
          </a:xfrm>
        </p:grpSpPr>
        <p:grpSp>
          <p:nvGrpSpPr>
            <p:cNvPr id="9" name="Group 3">
              <a:extLst>
                <a:ext uri="{FF2B5EF4-FFF2-40B4-BE49-F238E27FC236}">
                  <a16:creationId xmlns:a16="http://schemas.microsoft.com/office/drawing/2014/main" id="{2E6FE961-715B-4FCD-B88D-D2B19DCD669F}"/>
                </a:ext>
              </a:extLst>
            </p:cNvPr>
            <p:cNvGrpSpPr>
              <a:grpSpLocks/>
            </p:cNvGrpSpPr>
            <p:nvPr/>
          </p:nvGrpSpPr>
          <p:grpSpPr bwMode="auto">
            <a:xfrm>
              <a:off x="3094" y="1728"/>
              <a:ext cx="317" cy="259"/>
              <a:chOff x="2624" y="1200"/>
              <a:chExt cx="340" cy="294"/>
            </a:xfrm>
          </p:grpSpPr>
          <p:sp>
            <p:nvSpPr>
              <p:cNvPr id="139" name="Freeform 4">
                <a:extLst>
                  <a:ext uri="{FF2B5EF4-FFF2-40B4-BE49-F238E27FC236}">
                    <a16:creationId xmlns:a16="http://schemas.microsoft.com/office/drawing/2014/main" id="{4C41F3FC-A3E0-46A2-B5F8-1B754F22D720}"/>
                  </a:ext>
                </a:extLst>
              </p:cNvPr>
              <p:cNvSpPr>
                <a:spLocks/>
              </p:cNvSpPr>
              <p:nvPr/>
            </p:nvSpPr>
            <p:spPr bwMode="auto">
              <a:xfrm>
                <a:off x="2816" y="1205"/>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chemeClr val="accent1"/>
              </a:solidFill>
              <a:ln w="25400" cap="rnd">
                <a:solidFill>
                  <a:schemeClr val="tx1"/>
                </a:solidFill>
                <a:round/>
                <a:headEnd/>
                <a:tailEnd/>
              </a:ln>
            </p:spPr>
            <p:txBody>
              <a:bodyPr/>
              <a:lstStyle/>
              <a:p>
                <a:endParaRPr lang="zh-CN" altLang="en-US"/>
              </a:p>
            </p:txBody>
          </p:sp>
          <p:grpSp>
            <p:nvGrpSpPr>
              <p:cNvPr id="140" name="Group 5">
                <a:extLst>
                  <a:ext uri="{FF2B5EF4-FFF2-40B4-BE49-F238E27FC236}">
                    <a16:creationId xmlns:a16="http://schemas.microsoft.com/office/drawing/2014/main" id="{37E80ED8-6FB3-4F46-B9AB-1F735B1C39D7}"/>
                  </a:ext>
                </a:extLst>
              </p:cNvPr>
              <p:cNvGrpSpPr>
                <a:grpSpLocks/>
              </p:cNvGrpSpPr>
              <p:nvPr/>
            </p:nvGrpSpPr>
            <p:grpSpPr bwMode="auto">
              <a:xfrm>
                <a:off x="2624" y="1200"/>
                <a:ext cx="340" cy="289"/>
                <a:chOff x="2624" y="1200"/>
                <a:chExt cx="340" cy="289"/>
              </a:xfrm>
            </p:grpSpPr>
            <p:sp>
              <p:nvSpPr>
                <p:cNvPr id="141" name="Freeform 6">
                  <a:extLst>
                    <a:ext uri="{FF2B5EF4-FFF2-40B4-BE49-F238E27FC236}">
                      <a16:creationId xmlns:a16="http://schemas.microsoft.com/office/drawing/2014/main" id="{A0C14673-3503-4362-AE48-9F1BD2551170}"/>
                    </a:ext>
                  </a:extLst>
                </p:cNvPr>
                <p:cNvSpPr>
                  <a:spLocks/>
                </p:cNvSpPr>
                <p:nvPr/>
              </p:nvSpPr>
              <p:spPr bwMode="auto">
                <a:xfrm>
                  <a:off x="2624" y="1200"/>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solidFill>
                  <a:schemeClr val="accent1"/>
                </a:solidFill>
                <a:ln w="25400" cap="rnd">
                  <a:solidFill>
                    <a:schemeClr val="tx1"/>
                  </a:solidFill>
                  <a:round/>
                  <a:headEnd/>
                  <a:tailEnd/>
                </a:ln>
              </p:spPr>
              <p:txBody>
                <a:bodyPr/>
                <a:lstStyle/>
                <a:p>
                  <a:endParaRPr lang="zh-CN" altLang="en-US"/>
                </a:p>
              </p:txBody>
            </p:sp>
            <p:sp>
              <p:nvSpPr>
                <p:cNvPr id="142" name="Freeform 7">
                  <a:extLst>
                    <a:ext uri="{FF2B5EF4-FFF2-40B4-BE49-F238E27FC236}">
                      <a16:creationId xmlns:a16="http://schemas.microsoft.com/office/drawing/2014/main" id="{1144B7BF-F8E2-445D-99D4-3AF681BBF8D8}"/>
                    </a:ext>
                  </a:extLst>
                </p:cNvPr>
                <p:cNvSpPr>
                  <a:spLocks/>
                </p:cNvSpPr>
                <p:nvPr/>
              </p:nvSpPr>
              <p:spPr bwMode="auto">
                <a:xfrm>
                  <a:off x="2793" y="1200"/>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solidFill>
                  <a:schemeClr val="accent1"/>
                </a:solidFill>
                <a:ln w="25400" cap="rnd">
                  <a:solidFill>
                    <a:schemeClr val="tx1"/>
                  </a:solidFill>
                  <a:round/>
                  <a:headEnd/>
                  <a:tailEnd/>
                </a:ln>
              </p:spPr>
              <p:txBody>
                <a:bodyPr/>
                <a:lstStyle/>
                <a:p>
                  <a:endParaRPr lang="zh-CN" altLang="en-US"/>
                </a:p>
              </p:txBody>
            </p:sp>
          </p:grpSp>
        </p:grpSp>
        <p:grpSp>
          <p:nvGrpSpPr>
            <p:cNvPr id="10" name="Group 8">
              <a:extLst>
                <a:ext uri="{FF2B5EF4-FFF2-40B4-BE49-F238E27FC236}">
                  <a16:creationId xmlns:a16="http://schemas.microsoft.com/office/drawing/2014/main" id="{E6E5BA41-867F-4C46-93D4-3EEAE2AABBCB}"/>
                </a:ext>
              </a:extLst>
            </p:cNvPr>
            <p:cNvGrpSpPr>
              <a:grpSpLocks/>
            </p:cNvGrpSpPr>
            <p:nvPr/>
          </p:nvGrpSpPr>
          <p:grpSpPr bwMode="auto">
            <a:xfrm>
              <a:off x="3072" y="2928"/>
              <a:ext cx="340" cy="259"/>
              <a:chOff x="2624" y="2592"/>
              <a:chExt cx="340" cy="294"/>
            </a:xfrm>
          </p:grpSpPr>
          <p:sp>
            <p:nvSpPr>
              <p:cNvPr id="135" name="Freeform 9">
                <a:extLst>
                  <a:ext uri="{FF2B5EF4-FFF2-40B4-BE49-F238E27FC236}">
                    <a16:creationId xmlns:a16="http://schemas.microsoft.com/office/drawing/2014/main" id="{12F5D213-6E4C-423A-9865-2DD03F415236}"/>
                  </a:ext>
                </a:extLst>
              </p:cNvPr>
              <p:cNvSpPr>
                <a:spLocks/>
              </p:cNvSpPr>
              <p:nvPr/>
            </p:nvSpPr>
            <p:spPr bwMode="auto">
              <a:xfrm>
                <a:off x="2816" y="2597"/>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solidFill>
                <a:srgbClr val="FF0000"/>
              </a:solidFill>
              <a:ln w="25400" cap="rnd">
                <a:solidFill>
                  <a:schemeClr val="tx1"/>
                </a:solidFill>
                <a:round/>
                <a:headEnd/>
                <a:tailEnd/>
              </a:ln>
            </p:spPr>
            <p:txBody>
              <a:bodyPr/>
              <a:lstStyle/>
              <a:p>
                <a:endParaRPr lang="zh-CN" altLang="en-US"/>
              </a:p>
            </p:txBody>
          </p:sp>
          <p:grpSp>
            <p:nvGrpSpPr>
              <p:cNvPr id="136" name="Group 10">
                <a:extLst>
                  <a:ext uri="{FF2B5EF4-FFF2-40B4-BE49-F238E27FC236}">
                    <a16:creationId xmlns:a16="http://schemas.microsoft.com/office/drawing/2014/main" id="{64C84AD3-5CA8-4471-9C37-A0AA161CB5DE}"/>
                  </a:ext>
                </a:extLst>
              </p:cNvPr>
              <p:cNvGrpSpPr>
                <a:grpSpLocks/>
              </p:cNvGrpSpPr>
              <p:nvPr/>
            </p:nvGrpSpPr>
            <p:grpSpPr bwMode="auto">
              <a:xfrm>
                <a:off x="2624" y="2592"/>
                <a:ext cx="340" cy="289"/>
                <a:chOff x="2624" y="2592"/>
                <a:chExt cx="340" cy="289"/>
              </a:xfrm>
            </p:grpSpPr>
            <p:sp>
              <p:nvSpPr>
                <p:cNvPr id="137" name="Freeform 11">
                  <a:extLst>
                    <a:ext uri="{FF2B5EF4-FFF2-40B4-BE49-F238E27FC236}">
                      <a16:creationId xmlns:a16="http://schemas.microsoft.com/office/drawing/2014/main" id="{202E59CB-F31E-4B7D-B74F-86D41566B85B}"/>
                    </a:ext>
                  </a:extLst>
                </p:cNvPr>
                <p:cNvSpPr>
                  <a:spLocks/>
                </p:cNvSpPr>
                <p:nvPr/>
              </p:nvSpPr>
              <p:spPr bwMode="auto">
                <a:xfrm>
                  <a:off x="2624" y="2592"/>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solidFill>
                  <a:srgbClr val="FF0000"/>
                </a:solidFill>
                <a:ln w="25400" cap="rnd">
                  <a:solidFill>
                    <a:schemeClr val="tx1"/>
                  </a:solidFill>
                  <a:round/>
                  <a:headEnd/>
                  <a:tailEnd/>
                </a:ln>
              </p:spPr>
              <p:txBody>
                <a:bodyPr/>
                <a:lstStyle/>
                <a:p>
                  <a:endParaRPr lang="zh-CN" altLang="en-US"/>
                </a:p>
              </p:txBody>
            </p:sp>
            <p:sp>
              <p:nvSpPr>
                <p:cNvPr id="138" name="Freeform 12">
                  <a:extLst>
                    <a:ext uri="{FF2B5EF4-FFF2-40B4-BE49-F238E27FC236}">
                      <a16:creationId xmlns:a16="http://schemas.microsoft.com/office/drawing/2014/main" id="{A978297E-FBA9-4D51-A454-902AA67F24B6}"/>
                    </a:ext>
                  </a:extLst>
                </p:cNvPr>
                <p:cNvSpPr>
                  <a:spLocks/>
                </p:cNvSpPr>
                <p:nvPr/>
              </p:nvSpPr>
              <p:spPr bwMode="auto">
                <a:xfrm>
                  <a:off x="2793" y="2592"/>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solidFill>
                  <a:srgbClr val="FF0000"/>
                </a:solidFill>
                <a:ln w="25400" cap="rnd">
                  <a:solidFill>
                    <a:schemeClr val="tx1"/>
                  </a:solidFill>
                  <a:round/>
                  <a:headEnd/>
                  <a:tailEnd/>
                </a:ln>
              </p:spPr>
              <p:txBody>
                <a:bodyPr/>
                <a:lstStyle/>
                <a:p>
                  <a:endParaRPr lang="zh-CN" altLang="en-US"/>
                </a:p>
              </p:txBody>
            </p:sp>
          </p:grpSp>
        </p:grpSp>
        <p:sp>
          <p:nvSpPr>
            <p:cNvPr id="11" name="Rectangle 13">
              <a:extLst>
                <a:ext uri="{FF2B5EF4-FFF2-40B4-BE49-F238E27FC236}">
                  <a16:creationId xmlns:a16="http://schemas.microsoft.com/office/drawing/2014/main" id="{0E2B3CDC-1475-4013-947C-C2394444EC08}"/>
                </a:ext>
              </a:extLst>
            </p:cNvPr>
            <p:cNvSpPr>
              <a:spLocks noChangeArrowheads="1"/>
            </p:cNvSpPr>
            <p:nvPr/>
          </p:nvSpPr>
          <p:spPr bwMode="auto">
            <a:xfrm>
              <a:off x="3046" y="2931"/>
              <a:ext cx="25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dirty="0">
                  <a:solidFill>
                    <a:schemeClr val="tx1"/>
                  </a:solidFill>
                </a:rPr>
                <a:t>IM</a:t>
              </a:r>
            </a:p>
          </p:txBody>
        </p:sp>
        <p:sp>
          <p:nvSpPr>
            <p:cNvPr id="12" name="Rectangle 14">
              <a:extLst>
                <a:ext uri="{FF2B5EF4-FFF2-40B4-BE49-F238E27FC236}">
                  <a16:creationId xmlns:a16="http://schemas.microsoft.com/office/drawing/2014/main" id="{C2C349E6-F20D-457C-B883-525A172190A0}"/>
                </a:ext>
              </a:extLst>
            </p:cNvPr>
            <p:cNvSpPr>
              <a:spLocks noChangeArrowheads="1"/>
            </p:cNvSpPr>
            <p:nvPr/>
          </p:nvSpPr>
          <p:spPr bwMode="auto">
            <a:xfrm>
              <a:off x="720" y="1723"/>
              <a:ext cx="226" cy="1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ctr">
                <a:lnSpc>
                  <a:spcPct val="80000"/>
                </a:lnSpc>
              </a:pPr>
              <a:r>
                <a:rPr kumimoji="1" lang="en-US" altLang="zh-CN" sz="1800" i="1" dirty="0">
                  <a:solidFill>
                    <a:schemeClr val="tx1"/>
                  </a:solidFill>
                </a:rPr>
                <a:t>I</a:t>
              </a:r>
            </a:p>
            <a:p>
              <a:pPr algn="ctr">
                <a:lnSpc>
                  <a:spcPct val="80000"/>
                </a:lnSpc>
              </a:pPr>
              <a:r>
                <a:rPr kumimoji="1" lang="en-US" altLang="zh-CN" sz="1800" i="1" dirty="0">
                  <a:solidFill>
                    <a:schemeClr val="tx1"/>
                  </a:solidFill>
                </a:rPr>
                <a:t>n</a:t>
              </a:r>
            </a:p>
            <a:p>
              <a:pPr algn="ctr">
                <a:lnSpc>
                  <a:spcPct val="80000"/>
                </a:lnSpc>
              </a:pPr>
              <a:r>
                <a:rPr kumimoji="1" lang="en-US" altLang="zh-CN" sz="1800" i="1" dirty="0">
                  <a:solidFill>
                    <a:schemeClr val="tx1"/>
                  </a:solidFill>
                </a:rPr>
                <a:t>s</a:t>
              </a:r>
            </a:p>
            <a:p>
              <a:pPr algn="ctr">
                <a:lnSpc>
                  <a:spcPct val="80000"/>
                </a:lnSpc>
              </a:pPr>
              <a:r>
                <a:rPr kumimoji="1" lang="en-US" altLang="zh-CN" sz="1800" i="1" dirty="0">
                  <a:solidFill>
                    <a:schemeClr val="tx1"/>
                  </a:solidFill>
                </a:rPr>
                <a:t>t</a:t>
              </a:r>
            </a:p>
            <a:p>
              <a:pPr algn="ctr">
                <a:lnSpc>
                  <a:spcPct val="80000"/>
                </a:lnSpc>
              </a:pPr>
              <a:r>
                <a:rPr kumimoji="1" lang="en-US" altLang="zh-CN" sz="1800" i="1" dirty="0">
                  <a:solidFill>
                    <a:schemeClr val="tx1"/>
                  </a:solidFill>
                </a:rPr>
                <a:t>r.</a:t>
              </a:r>
            </a:p>
            <a:p>
              <a:pPr algn="ctr">
                <a:lnSpc>
                  <a:spcPct val="80000"/>
                </a:lnSpc>
              </a:pPr>
              <a:endParaRPr kumimoji="1" lang="en-US" altLang="zh-CN" sz="1800" i="1" dirty="0">
                <a:solidFill>
                  <a:schemeClr val="tx1"/>
                </a:solidFill>
              </a:endParaRPr>
            </a:p>
            <a:p>
              <a:pPr algn="ctr">
                <a:lnSpc>
                  <a:spcPct val="80000"/>
                </a:lnSpc>
              </a:pPr>
              <a:r>
                <a:rPr kumimoji="1" lang="en-US" altLang="zh-CN" sz="1800" i="1" dirty="0">
                  <a:solidFill>
                    <a:schemeClr val="tx1"/>
                  </a:solidFill>
                </a:rPr>
                <a:t>O</a:t>
              </a:r>
            </a:p>
            <a:p>
              <a:pPr algn="ctr">
                <a:lnSpc>
                  <a:spcPct val="80000"/>
                </a:lnSpc>
              </a:pPr>
              <a:r>
                <a:rPr kumimoji="1" lang="en-US" altLang="zh-CN" sz="1800" i="1" dirty="0">
                  <a:solidFill>
                    <a:schemeClr val="tx1"/>
                  </a:solidFill>
                </a:rPr>
                <a:t>r</a:t>
              </a:r>
            </a:p>
            <a:p>
              <a:pPr algn="ctr">
                <a:lnSpc>
                  <a:spcPct val="80000"/>
                </a:lnSpc>
              </a:pPr>
              <a:r>
                <a:rPr kumimoji="1" lang="en-US" altLang="zh-CN" sz="1800" i="1" dirty="0">
                  <a:solidFill>
                    <a:schemeClr val="tx1"/>
                  </a:solidFill>
                </a:rPr>
                <a:t>d</a:t>
              </a:r>
            </a:p>
            <a:p>
              <a:pPr algn="ctr">
                <a:lnSpc>
                  <a:spcPct val="80000"/>
                </a:lnSpc>
              </a:pPr>
              <a:r>
                <a:rPr kumimoji="1" lang="en-US" altLang="zh-CN" sz="1800" i="1" dirty="0">
                  <a:solidFill>
                    <a:schemeClr val="tx1"/>
                  </a:solidFill>
                </a:rPr>
                <a:t>e</a:t>
              </a:r>
            </a:p>
            <a:p>
              <a:pPr algn="ctr">
                <a:lnSpc>
                  <a:spcPct val="80000"/>
                </a:lnSpc>
              </a:pPr>
              <a:r>
                <a:rPr kumimoji="1" lang="en-US" altLang="zh-CN" sz="1800" i="1" dirty="0">
                  <a:solidFill>
                    <a:schemeClr val="tx1"/>
                  </a:solidFill>
                </a:rPr>
                <a:t>r</a:t>
              </a:r>
            </a:p>
          </p:txBody>
        </p:sp>
        <p:sp>
          <p:nvSpPr>
            <p:cNvPr id="13" name="Line 15">
              <a:extLst>
                <a:ext uri="{FF2B5EF4-FFF2-40B4-BE49-F238E27FC236}">
                  <a16:creationId xmlns:a16="http://schemas.microsoft.com/office/drawing/2014/main" id="{B18DC743-66ED-4A42-9198-998DF2E96913}"/>
                </a:ext>
              </a:extLst>
            </p:cNvPr>
            <p:cNvSpPr>
              <a:spLocks noChangeShapeType="1"/>
            </p:cNvSpPr>
            <p:nvPr/>
          </p:nvSpPr>
          <p:spPr bwMode="auto">
            <a:xfrm flipH="1">
              <a:off x="1008" y="1728"/>
              <a:ext cx="0" cy="14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6">
              <a:extLst>
                <a:ext uri="{FF2B5EF4-FFF2-40B4-BE49-F238E27FC236}">
                  <a16:creationId xmlns:a16="http://schemas.microsoft.com/office/drawing/2014/main" id="{8AE4B7E0-7D37-4EC2-A8AC-9222868405E6}"/>
                </a:ext>
              </a:extLst>
            </p:cNvPr>
            <p:cNvSpPr>
              <a:spLocks noChangeShapeType="1"/>
            </p:cNvSpPr>
            <p:nvPr/>
          </p:nvSpPr>
          <p:spPr bwMode="auto">
            <a:xfrm>
              <a:off x="1440" y="1488"/>
              <a:ext cx="3976"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Rectangle 17">
              <a:extLst>
                <a:ext uri="{FF2B5EF4-FFF2-40B4-BE49-F238E27FC236}">
                  <a16:creationId xmlns:a16="http://schemas.microsoft.com/office/drawing/2014/main" id="{E9A56338-B774-4FA0-B800-FFBBC57BD067}"/>
                </a:ext>
              </a:extLst>
            </p:cNvPr>
            <p:cNvSpPr>
              <a:spLocks noChangeArrowheads="1"/>
            </p:cNvSpPr>
            <p:nvPr/>
          </p:nvSpPr>
          <p:spPr bwMode="auto">
            <a:xfrm>
              <a:off x="2640" y="1248"/>
              <a:ext cx="133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800" i="1">
                  <a:solidFill>
                    <a:schemeClr val="tx1"/>
                  </a:solidFill>
                </a:rPr>
                <a:t>Time (clock cycles)</a:t>
              </a:r>
            </a:p>
          </p:txBody>
        </p:sp>
        <p:sp>
          <p:nvSpPr>
            <p:cNvPr id="16" name="Rectangle 18">
              <a:extLst>
                <a:ext uri="{FF2B5EF4-FFF2-40B4-BE49-F238E27FC236}">
                  <a16:creationId xmlns:a16="http://schemas.microsoft.com/office/drawing/2014/main" id="{7C409689-AA5A-4212-8EAC-DAE19C99BD67}"/>
                </a:ext>
              </a:extLst>
            </p:cNvPr>
            <p:cNvSpPr>
              <a:spLocks noChangeArrowheads="1"/>
            </p:cNvSpPr>
            <p:nvPr/>
          </p:nvSpPr>
          <p:spPr bwMode="auto">
            <a:xfrm>
              <a:off x="1020" y="1793"/>
              <a:ext cx="654"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2400" dirty="0" err="1">
                  <a:solidFill>
                    <a:schemeClr val="tx1"/>
                  </a:solidFill>
                  <a:latin typeface="Comic Sans MS" panose="030F0702030302020204" pitchFamily="66" charset="0"/>
                </a:rPr>
                <a:t>Ld</a:t>
              </a:r>
              <a:r>
                <a:rPr kumimoji="1" lang="en-US" altLang="zh-CN" sz="2400" dirty="0">
                  <a:solidFill>
                    <a:schemeClr val="tx1"/>
                  </a:solidFill>
                  <a:latin typeface="Comic Sans MS" panose="030F0702030302020204" pitchFamily="66" charset="0"/>
                </a:rPr>
                <a:t>/St</a:t>
              </a:r>
              <a:endParaRPr kumimoji="1" lang="en-US" altLang="zh-CN" sz="2800" b="1" dirty="0">
                <a:solidFill>
                  <a:schemeClr val="tx1"/>
                </a:solidFill>
              </a:endParaRPr>
            </a:p>
          </p:txBody>
        </p:sp>
        <p:sp>
          <p:nvSpPr>
            <p:cNvPr id="17" name="Rectangle 19">
              <a:extLst>
                <a:ext uri="{FF2B5EF4-FFF2-40B4-BE49-F238E27FC236}">
                  <a16:creationId xmlns:a16="http://schemas.microsoft.com/office/drawing/2014/main" id="{3325F4DD-BCC6-4465-91C6-B6A177AE583C}"/>
                </a:ext>
              </a:extLst>
            </p:cNvPr>
            <p:cNvSpPr>
              <a:spLocks noChangeArrowheads="1"/>
            </p:cNvSpPr>
            <p:nvPr/>
          </p:nvSpPr>
          <p:spPr bwMode="auto">
            <a:xfrm>
              <a:off x="1004" y="2159"/>
              <a:ext cx="73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2400" dirty="0" err="1">
                  <a:solidFill>
                    <a:schemeClr val="tx1"/>
                  </a:solidFill>
                  <a:latin typeface="Comic Sans MS" panose="030F0702030302020204" pitchFamily="66" charset="0"/>
                </a:rPr>
                <a:t>Instr</a:t>
              </a:r>
              <a:r>
                <a:rPr kumimoji="1" lang="en-US" altLang="zh-CN" sz="2400" dirty="0">
                  <a:solidFill>
                    <a:schemeClr val="tx1"/>
                  </a:solidFill>
                  <a:latin typeface="Comic Sans MS" panose="030F0702030302020204" pitchFamily="66" charset="0"/>
                </a:rPr>
                <a:t> 1</a:t>
              </a:r>
              <a:endParaRPr kumimoji="1" lang="en-US" altLang="zh-CN" sz="2800" b="1" dirty="0">
                <a:solidFill>
                  <a:schemeClr val="tx1"/>
                </a:solidFill>
              </a:endParaRPr>
            </a:p>
          </p:txBody>
        </p:sp>
        <p:sp>
          <p:nvSpPr>
            <p:cNvPr id="18" name="Rectangle 20">
              <a:extLst>
                <a:ext uri="{FF2B5EF4-FFF2-40B4-BE49-F238E27FC236}">
                  <a16:creationId xmlns:a16="http://schemas.microsoft.com/office/drawing/2014/main" id="{C5B43C89-3231-456D-8216-E7E3F22976EA}"/>
                </a:ext>
              </a:extLst>
            </p:cNvPr>
            <p:cNvSpPr>
              <a:spLocks noChangeArrowheads="1"/>
            </p:cNvSpPr>
            <p:nvPr/>
          </p:nvSpPr>
          <p:spPr bwMode="auto">
            <a:xfrm>
              <a:off x="996" y="2568"/>
              <a:ext cx="76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2400" dirty="0" err="1">
                  <a:solidFill>
                    <a:schemeClr val="tx1"/>
                  </a:solidFill>
                  <a:latin typeface="Comic Sans MS" panose="030F0702030302020204" pitchFamily="66" charset="0"/>
                </a:rPr>
                <a:t>Instr</a:t>
              </a:r>
              <a:r>
                <a:rPr kumimoji="1" lang="en-US" altLang="zh-CN" sz="2400" dirty="0">
                  <a:solidFill>
                    <a:schemeClr val="tx1"/>
                  </a:solidFill>
                  <a:latin typeface="Comic Sans MS" panose="030F0702030302020204" pitchFamily="66" charset="0"/>
                </a:rPr>
                <a:t> 2</a:t>
              </a:r>
              <a:endParaRPr kumimoji="1" lang="en-US" altLang="zh-CN" sz="2800" b="1" dirty="0">
                <a:solidFill>
                  <a:schemeClr val="tx1"/>
                </a:solidFill>
              </a:endParaRPr>
            </a:p>
          </p:txBody>
        </p:sp>
        <p:sp>
          <p:nvSpPr>
            <p:cNvPr id="19" name="Rectangle 21">
              <a:extLst>
                <a:ext uri="{FF2B5EF4-FFF2-40B4-BE49-F238E27FC236}">
                  <a16:creationId xmlns:a16="http://schemas.microsoft.com/office/drawing/2014/main" id="{53450715-9C3F-4253-B36C-0AFDFB43C6A8}"/>
                </a:ext>
              </a:extLst>
            </p:cNvPr>
            <p:cNvSpPr>
              <a:spLocks noChangeArrowheads="1"/>
            </p:cNvSpPr>
            <p:nvPr/>
          </p:nvSpPr>
          <p:spPr bwMode="auto">
            <a:xfrm>
              <a:off x="1039" y="2946"/>
              <a:ext cx="76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2400">
                  <a:solidFill>
                    <a:schemeClr val="tx1"/>
                  </a:solidFill>
                  <a:latin typeface="Comic Sans MS" panose="030F0702030302020204" pitchFamily="66" charset="0"/>
                </a:rPr>
                <a:t>Instr 3</a:t>
              </a:r>
            </a:p>
          </p:txBody>
        </p:sp>
        <p:grpSp>
          <p:nvGrpSpPr>
            <p:cNvPr id="20" name="Group 22">
              <a:extLst>
                <a:ext uri="{FF2B5EF4-FFF2-40B4-BE49-F238E27FC236}">
                  <a16:creationId xmlns:a16="http://schemas.microsoft.com/office/drawing/2014/main" id="{88BE60B5-FB94-47C4-A523-6EA1BC45E3CD}"/>
                </a:ext>
              </a:extLst>
            </p:cNvPr>
            <p:cNvGrpSpPr>
              <a:grpSpLocks/>
            </p:cNvGrpSpPr>
            <p:nvPr/>
          </p:nvGrpSpPr>
          <p:grpSpPr bwMode="auto">
            <a:xfrm>
              <a:off x="2160" y="1536"/>
              <a:ext cx="3024" cy="1728"/>
              <a:chOff x="1929" y="1985"/>
              <a:chExt cx="3024" cy="2479"/>
            </a:xfrm>
          </p:grpSpPr>
          <p:sp>
            <p:nvSpPr>
              <p:cNvPr id="127" name="Line 23">
                <a:extLst>
                  <a:ext uri="{FF2B5EF4-FFF2-40B4-BE49-F238E27FC236}">
                    <a16:creationId xmlns:a16="http://schemas.microsoft.com/office/drawing/2014/main" id="{6F9C1A38-B9EE-418F-A37D-EFDD9BB4770A}"/>
                  </a:ext>
                </a:extLst>
              </p:cNvPr>
              <p:cNvSpPr>
                <a:spLocks noChangeShapeType="1"/>
              </p:cNvSpPr>
              <p:nvPr/>
            </p:nvSpPr>
            <p:spPr bwMode="auto">
              <a:xfrm>
                <a:off x="1929"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Line 24">
                <a:extLst>
                  <a:ext uri="{FF2B5EF4-FFF2-40B4-BE49-F238E27FC236}">
                    <a16:creationId xmlns:a16="http://schemas.microsoft.com/office/drawing/2014/main" id="{4BE87040-8404-401B-9622-69E34FD8A81F}"/>
                  </a:ext>
                </a:extLst>
              </p:cNvPr>
              <p:cNvSpPr>
                <a:spLocks noChangeShapeType="1"/>
              </p:cNvSpPr>
              <p:nvPr/>
            </p:nvSpPr>
            <p:spPr bwMode="auto">
              <a:xfrm>
                <a:off x="2361"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Line 25">
                <a:extLst>
                  <a:ext uri="{FF2B5EF4-FFF2-40B4-BE49-F238E27FC236}">
                    <a16:creationId xmlns:a16="http://schemas.microsoft.com/office/drawing/2014/main" id="{51AE10FC-E15C-4F20-AD74-7D37CC70D906}"/>
                  </a:ext>
                </a:extLst>
              </p:cNvPr>
              <p:cNvSpPr>
                <a:spLocks noChangeShapeType="1"/>
              </p:cNvSpPr>
              <p:nvPr/>
            </p:nvSpPr>
            <p:spPr bwMode="auto">
              <a:xfrm>
                <a:off x="2793"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 name="Line 26">
                <a:extLst>
                  <a:ext uri="{FF2B5EF4-FFF2-40B4-BE49-F238E27FC236}">
                    <a16:creationId xmlns:a16="http://schemas.microsoft.com/office/drawing/2014/main" id="{61494C7C-26A9-4CCF-A3FC-30B11F696FC1}"/>
                  </a:ext>
                </a:extLst>
              </p:cNvPr>
              <p:cNvSpPr>
                <a:spLocks noChangeShapeType="1"/>
              </p:cNvSpPr>
              <p:nvPr/>
            </p:nvSpPr>
            <p:spPr bwMode="auto">
              <a:xfrm>
                <a:off x="3225"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Line 27">
                <a:extLst>
                  <a:ext uri="{FF2B5EF4-FFF2-40B4-BE49-F238E27FC236}">
                    <a16:creationId xmlns:a16="http://schemas.microsoft.com/office/drawing/2014/main" id="{45D74BA3-D737-4245-B9B6-5090A1EE8E0A}"/>
                  </a:ext>
                </a:extLst>
              </p:cNvPr>
              <p:cNvSpPr>
                <a:spLocks noChangeShapeType="1"/>
              </p:cNvSpPr>
              <p:nvPr/>
            </p:nvSpPr>
            <p:spPr bwMode="auto">
              <a:xfrm>
                <a:off x="3657"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2" name="Line 28">
                <a:extLst>
                  <a:ext uri="{FF2B5EF4-FFF2-40B4-BE49-F238E27FC236}">
                    <a16:creationId xmlns:a16="http://schemas.microsoft.com/office/drawing/2014/main" id="{2786286D-A45E-45D6-8953-7A4C6C0AB0AF}"/>
                  </a:ext>
                </a:extLst>
              </p:cNvPr>
              <p:cNvSpPr>
                <a:spLocks noChangeShapeType="1"/>
              </p:cNvSpPr>
              <p:nvPr/>
            </p:nvSpPr>
            <p:spPr bwMode="auto">
              <a:xfrm>
                <a:off x="4089"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29">
                <a:extLst>
                  <a:ext uri="{FF2B5EF4-FFF2-40B4-BE49-F238E27FC236}">
                    <a16:creationId xmlns:a16="http://schemas.microsoft.com/office/drawing/2014/main" id="{7E47FC83-BD57-408D-AE4C-D2DFD3BBAE1D}"/>
                  </a:ext>
                </a:extLst>
              </p:cNvPr>
              <p:cNvSpPr>
                <a:spLocks noChangeShapeType="1"/>
              </p:cNvSpPr>
              <p:nvPr/>
            </p:nvSpPr>
            <p:spPr bwMode="auto">
              <a:xfrm>
                <a:off x="4521"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Line 30">
                <a:extLst>
                  <a:ext uri="{FF2B5EF4-FFF2-40B4-BE49-F238E27FC236}">
                    <a16:creationId xmlns:a16="http://schemas.microsoft.com/office/drawing/2014/main" id="{B677C3DD-E1E2-4E62-B396-DA25CAA94CAC}"/>
                  </a:ext>
                </a:extLst>
              </p:cNvPr>
              <p:cNvSpPr>
                <a:spLocks noChangeShapeType="1"/>
              </p:cNvSpPr>
              <p:nvPr/>
            </p:nvSpPr>
            <p:spPr bwMode="auto">
              <a:xfrm>
                <a:off x="4953" y="1985"/>
                <a:ext cx="0" cy="2479"/>
              </a:xfrm>
              <a:prstGeom prst="line">
                <a:avLst/>
              </a:prstGeom>
              <a:noFill/>
              <a:ln w="254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 name="Group 31">
              <a:extLst>
                <a:ext uri="{FF2B5EF4-FFF2-40B4-BE49-F238E27FC236}">
                  <a16:creationId xmlns:a16="http://schemas.microsoft.com/office/drawing/2014/main" id="{8D810ED7-ECB3-4848-9EB6-7678E0664A59}"/>
                </a:ext>
              </a:extLst>
            </p:cNvPr>
            <p:cNvGrpSpPr>
              <a:grpSpLocks/>
            </p:cNvGrpSpPr>
            <p:nvPr/>
          </p:nvGrpSpPr>
          <p:grpSpPr bwMode="auto">
            <a:xfrm>
              <a:off x="2697" y="1661"/>
              <a:ext cx="226" cy="423"/>
              <a:chOff x="2256" y="1152"/>
              <a:chExt cx="226" cy="481"/>
            </a:xfrm>
          </p:grpSpPr>
          <p:sp>
            <p:nvSpPr>
              <p:cNvPr id="125" name="Freeform 32">
                <a:extLst>
                  <a:ext uri="{FF2B5EF4-FFF2-40B4-BE49-F238E27FC236}">
                    <a16:creationId xmlns:a16="http://schemas.microsoft.com/office/drawing/2014/main" id="{FA99A6A4-5D5F-491F-92A4-49D6E231F66D}"/>
                  </a:ext>
                </a:extLst>
              </p:cNvPr>
              <p:cNvSpPr>
                <a:spLocks/>
              </p:cNvSpPr>
              <p:nvPr/>
            </p:nvSpPr>
            <p:spPr bwMode="auto">
              <a:xfrm>
                <a:off x="2269" y="1152"/>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6" name="Rectangle 33">
                <a:extLst>
                  <a:ext uri="{FF2B5EF4-FFF2-40B4-BE49-F238E27FC236}">
                    <a16:creationId xmlns:a16="http://schemas.microsoft.com/office/drawing/2014/main" id="{A7369BCF-8D37-4FBC-979E-F3BFA429EFA2}"/>
                  </a:ext>
                </a:extLst>
              </p:cNvPr>
              <p:cNvSpPr>
                <a:spLocks noChangeArrowheads="1"/>
              </p:cNvSpPr>
              <p:nvPr/>
            </p:nvSpPr>
            <p:spPr bwMode="auto">
              <a:xfrm rot="5400000">
                <a:off x="2147" y="1296"/>
                <a:ext cx="42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ALU</a:t>
                </a:r>
              </a:p>
            </p:txBody>
          </p:sp>
        </p:grpSp>
        <p:grpSp>
          <p:nvGrpSpPr>
            <p:cNvPr id="22" name="Group 34">
              <a:extLst>
                <a:ext uri="{FF2B5EF4-FFF2-40B4-BE49-F238E27FC236}">
                  <a16:creationId xmlns:a16="http://schemas.microsoft.com/office/drawing/2014/main" id="{357B7B07-7312-487C-A86B-0A67F255B472}"/>
                </a:ext>
              </a:extLst>
            </p:cNvPr>
            <p:cNvGrpSpPr>
              <a:grpSpLocks/>
            </p:cNvGrpSpPr>
            <p:nvPr/>
          </p:nvGrpSpPr>
          <p:grpSpPr bwMode="auto">
            <a:xfrm>
              <a:off x="1765" y="1745"/>
              <a:ext cx="359" cy="255"/>
              <a:chOff x="1324" y="1248"/>
              <a:chExt cx="359" cy="289"/>
            </a:xfrm>
          </p:grpSpPr>
          <p:sp>
            <p:nvSpPr>
              <p:cNvPr id="121" name="Rectangle 35">
                <a:extLst>
                  <a:ext uri="{FF2B5EF4-FFF2-40B4-BE49-F238E27FC236}">
                    <a16:creationId xmlns:a16="http://schemas.microsoft.com/office/drawing/2014/main" id="{4DA384FE-61B6-4644-9B48-71B00812D2FC}"/>
                  </a:ext>
                </a:extLst>
              </p:cNvPr>
              <p:cNvSpPr>
                <a:spLocks noChangeArrowheads="1"/>
              </p:cNvSpPr>
              <p:nvPr/>
            </p:nvSpPr>
            <p:spPr bwMode="auto">
              <a:xfrm>
                <a:off x="1324" y="1250"/>
                <a:ext cx="25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IM</a:t>
                </a:r>
              </a:p>
            </p:txBody>
          </p:sp>
          <p:grpSp>
            <p:nvGrpSpPr>
              <p:cNvPr id="122" name="Group 36">
                <a:extLst>
                  <a:ext uri="{FF2B5EF4-FFF2-40B4-BE49-F238E27FC236}">
                    <a16:creationId xmlns:a16="http://schemas.microsoft.com/office/drawing/2014/main" id="{F619C099-30C1-4C54-B588-EBA31CADE7A5}"/>
                  </a:ext>
                </a:extLst>
              </p:cNvPr>
              <p:cNvGrpSpPr>
                <a:grpSpLocks/>
              </p:cNvGrpSpPr>
              <p:nvPr/>
            </p:nvGrpSpPr>
            <p:grpSpPr bwMode="auto">
              <a:xfrm>
                <a:off x="1343" y="1248"/>
                <a:ext cx="340" cy="289"/>
                <a:chOff x="1343" y="1248"/>
                <a:chExt cx="340" cy="289"/>
              </a:xfrm>
            </p:grpSpPr>
            <p:sp>
              <p:nvSpPr>
                <p:cNvPr id="123" name="Freeform 37">
                  <a:extLst>
                    <a:ext uri="{FF2B5EF4-FFF2-40B4-BE49-F238E27FC236}">
                      <a16:creationId xmlns:a16="http://schemas.microsoft.com/office/drawing/2014/main" id="{BDBD335B-5932-4C1B-A0D5-D90F7886861D}"/>
                    </a:ext>
                  </a:extLst>
                </p:cNvPr>
                <p:cNvSpPr>
                  <a:spLocks/>
                </p:cNvSpPr>
                <p:nvPr/>
              </p:nvSpPr>
              <p:spPr bwMode="auto">
                <a:xfrm>
                  <a:off x="1343" y="1248"/>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4" name="Freeform 38">
                  <a:extLst>
                    <a:ext uri="{FF2B5EF4-FFF2-40B4-BE49-F238E27FC236}">
                      <a16:creationId xmlns:a16="http://schemas.microsoft.com/office/drawing/2014/main" id="{BBB770EE-B73C-45D8-AE9F-717877803C68}"/>
                    </a:ext>
                  </a:extLst>
                </p:cNvPr>
                <p:cNvSpPr>
                  <a:spLocks/>
                </p:cNvSpPr>
                <p:nvPr/>
              </p:nvSpPr>
              <p:spPr bwMode="auto">
                <a:xfrm>
                  <a:off x="1512" y="1248"/>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23" name="Rectangle 39">
              <a:extLst>
                <a:ext uri="{FF2B5EF4-FFF2-40B4-BE49-F238E27FC236}">
                  <a16:creationId xmlns:a16="http://schemas.microsoft.com/office/drawing/2014/main" id="{367156D1-CF05-4B45-B65F-D7C367CA5F0A}"/>
                </a:ext>
              </a:extLst>
            </p:cNvPr>
            <p:cNvSpPr>
              <a:spLocks noChangeArrowheads="1"/>
            </p:cNvSpPr>
            <p:nvPr/>
          </p:nvSpPr>
          <p:spPr bwMode="auto">
            <a:xfrm>
              <a:off x="2225" y="1752"/>
              <a:ext cx="35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dirty="0">
                  <a:solidFill>
                    <a:schemeClr val="tx1"/>
                  </a:solidFill>
                </a:rPr>
                <a:t>Reg</a:t>
              </a:r>
            </a:p>
          </p:txBody>
        </p:sp>
        <p:grpSp>
          <p:nvGrpSpPr>
            <p:cNvPr id="24" name="Group 40">
              <a:extLst>
                <a:ext uri="{FF2B5EF4-FFF2-40B4-BE49-F238E27FC236}">
                  <a16:creationId xmlns:a16="http://schemas.microsoft.com/office/drawing/2014/main" id="{30697551-7C76-4490-801B-810A4D5E3383}"/>
                </a:ext>
              </a:extLst>
            </p:cNvPr>
            <p:cNvGrpSpPr>
              <a:grpSpLocks/>
            </p:cNvGrpSpPr>
            <p:nvPr/>
          </p:nvGrpSpPr>
          <p:grpSpPr bwMode="auto">
            <a:xfrm>
              <a:off x="2244" y="1745"/>
              <a:ext cx="296" cy="255"/>
              <a:chOff x="1803" y="1248"/>
              <a:chExt cx="296" cy="289"/>
            </a:xfrm>
          </p:grpSpPr>
          <p:sp>
            <p:nvSpPr>
              <p:cNvPr id="119" name="Freeform 41">
                <a:extLst>
                  <a:ext uri="{FF2B5EF4-FFF2-40B4-BE49-F238E27FC236}">
                    <a16:creationId xmlns:a16="http://schemas.microsoft.com/office/drawing/2014/main" id="{4FD66BA3-54DF-46A7-A344-B5BD3F756495}"/>
                  </a:ext>
                </a:extLst>
              </p:cNvPr>
              <p:cNvSpPr>
                <a:spLocks/>
              </p:cNvSpPr>
              <p:nvPr/>
            </p:nvSpPr>
            <p:spPr bwMode="auto">
              <a:xfrm>
                <a:off x="1803" y="1248"/>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0" name="Freeform 42">
                <a:extLst>
                  <a:ext uri="{FF2B5EF4-FFF2-40B4-BE49-F238E27FC236}">
                    <a16:creationId xmlns:a16="http://schemas.microsoft.com/office/drawing/2014/main" id="{0EFC27D4-A931-4C82-B514-52914394A1C4}"/>
                  </a:ext>
                </a:extLst>
              </p:cNvPr>
              <p:cNvSpPr>
                <a:spLocks/>
              </p:cNvSpPr>
              <p:nvPr/>
            </p:nvSpPr>
            <p:spPr bwMode="auto">
              <a:xfrm>
                <a:off x="1951" y="1248"/>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5" name="Line 43">
              <a:extLst>
                <a:ext uri="{FF2B5EF4-FFF2-40B4-BE49-F238E27FC236}">
                  <a16:creationId xmlns:a16="http://schemas.microsoft.com/office/drawing/2014/main" id="{6491891F-F699-4B86-A187-B0FD1FCFBABF}"/>
                </a:ext>
              </a:extLst>
            </p:cNvPr>
            <p:cNvSpPr>
              <a:spLocks noChangeShapeType="1"/>
            </p:cNvSpPr>
            <p:nvPr/>
          </p:nvSpPr>
          <p:spPr bwMode="auto">
            <a:xfrm>
              <a:off x="2129" y="1872"/>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Freeform 44">
              <a:extLst>
                <a:ext uri="{FF2B5EF4-FFF2-40B4-BE49-F238E27FC236}">
                  <a16:creationId xmlns:a16="http://schemas.microsoft.com/office/drawing/2014/main" id="{8DE8D510-2395-4E3E-A73A-CCC06907E4F5}"/>
                </a:ext>
              </a:extLst>
            </p:cNvPr>
            <p:cNvSpPr>
              <a:spLocks/>
            </p:cNvSpPr>
            <p:nvPr/>
          </p:nvSpPr>
          <p:spPr bwMode="auto">
            <a:xfrm>
              <a:off x="2191" y="1788"/>
              <a:ext cx="48" cy="85"/>
            </a:xfrm>
            <a:custGeom>
              <a:avLst/>
              <a:gdLst>
                <a:gd name="T0" fmla="*/ 0 w 48"/>
                <a:gd name="T1" fmla="*/ 20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Line 45">
              <a:extLst>
                <a:ext uri="{FF2B5EF4-FFF2-40B4-BE49-F238E27FC236}">
                  <a16:creationId xmlns:a16="http://schemas.microsoft.com/office/drawing/2014/main" id="{DF69A090-C2B3-475A-9F56-BB90BD6C8A8E}"/>
                </a:ext>
              </a:extLst>
            </p:cNvPr>
            <p:cNvSpPr>
              <a:spLocks noChangeShapeType="1"/>
            </p:cNvSpPr>
            <p:nvPr/>
          </p:nvSpPr>
          <p:spPr bwMode="auto">
            <a:xfrm>
              <a:off x="2545" y="1788"/>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46">
              <a:extLst>
                <a:ext uri="{FF2B5EF4-FFF2-40B4-BE49-F238E27FC236}">
                  <a16:creationId xmlns:a16="http://schemas.microsoft.com/office/drawing/2014/main" id="{5F49F925-45B5-4814-85B6-655ED50E4939}"/>
                </a:ext>
              </a:extLst>
            </p:cNvPr>
            <p:cNvSpPr>
              <a:spLocks noChangeArrowheads="1"/>
            </p:cNvSpPr>
            <p:nvPr/>
          </p:nvSpPr>
          <p:spPr bwMode="auto">
            <a:xfrm>
              <a:off x="3120" y="1776"/>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dirty="0">
                  <a:solidFill>
                    <a:schemeClr val="tx1"/>
                  </a:solidFill>
                </a:rPr>
                <a:t>DM</a:t>
              </a:r>
            </a:p>
          </p:txBody>
        </p:sp>
        <p:sp>
          <p:nvSpPr>
            <p:cNvPr id="29" name="Rectangle 47">
              <a:extLst>
                <a:ext uri="{FF2B5EF4-FFF2-40B4-BE49-F238E27FC236}">
                  <a16:creationId xmlns:a16="http://schemas.microsoft.com/office/drawing/2014/main" id="{1B12A90E-E51B-4D27-8919-2F85FD0C2439}"/>
                </a:ext>
              </a:extLst>
            </p:cNvPr>
            <p:cNvSpPr>
              <a:spLocks noChangeArrowheads="1"/>
            </p:cNvSpPr>
            <p:nvPr/>
          </p:nvSpPr>
          <p:spPr bwMode="auto">
            <a:xfrm>
              <a:off x="3534" y="1747"/>
              <a:ext cx="35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30" name="Group 48">
              <a:extLst>
                <a:ext uri="{FF2B5EF4-FFF2-40B4-BE49-F238E27FC236}">
                  <a16:creationId xmlns:a16="http://schemas.microsoft.com/office/drawing/2014/main" id="{C554CF6B-178D-492F-ABFB-0378916140EA}"/>
                </a:ext>
              </a:extLst>
            </p:cNvPr>
            <p:cNvGrpSpPr>
              <a:grpSpLocks/>
            </p:cNvGrpSpPr>
            <p:nvPr/>
          </p:nvGrpSpPr>
          <p:grpSpPr bwMode="auto">
            <a:xfrm>
              <a:off x="3561" y="1745"/>
              <a:ext cx="284" cy="255"/>
              <a:chOff x="3120" y="1248"/>
              <a:chExt cx="284" cy="289"/>
            </a:xfrm>
          </p:grpSpPr>
          <p:sp>
            <p:nvSpPr>
              <p:cNvPr id="117" name="Freeform 49">
                <a:extLst>
                  <a:ext uri="{FF2B5EF4-FFF2-40B4-BE49-F238E27FC236}">
                    <a16:creationId xmlns:a16="http://schemas.microsoft.com/office/drawing/2014/main" id="{FEC3B7E0-7180-4D19-B743-B84E035C0FF1}"/>
                  </a:ext>
                </a:extLst>
              </p:cNvPr>
              <p:cNvSpPr>
                <a:spLocks/>
              </p:cNvSpPr>
              <p:nvPr/>
            </p:nvSpPr>
            <p:spPr bwMode="auto">
              <a:xfrm>
                <a:off x="3120" y="1248"/>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8" name="Freeform 50">
                <a:extLst>
                  <a:ext uri="{FF2B5EF4-FFF2-40B4-BE49-F238E27FC236}">
                    <a16:creationId xmlns:a16="http://schemas.microsoft.com/office/drawing/2014/main" id="{04682DA1-6477-48B8-B7D3-9ABBB38DA3E8}"/>
                  </a:ext>
                </a:extLst>
              </p:cNvPr>
              <p:cNvSpPr>
                <a:spLocks/>
              </p:cNvSpPr>
              <p:nvPr/>
            </p:nvSpPr>
            <p:spPr bwMode="auto">
              <a:xfrm>
                <a:off x="3261" y="1248"/>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1" name="Line 51">
              <a:extLst>
                <a:ext uri="{FF2B5EF4-FFF2-40B4-BE49-F238E27FC236}">
                  <a16:creationId xmlns:a16="http://schemas.microsoft.com/office/drawing/2014/main" id="{FB1120E7-25B8-4E78-AFFE-A20A1E1F5A71}"/>
                </a:ext>
              </a:extLst>
            </p:cNvPr>
            <p:cNvSpPr>
              <a:spLocks noChangeShapeType="1"/>
            </p:cNvSpPr>
            <p:nvPr/>
          </p:nvSpPr>
          <p:spPr bwMode="auto">
            <a:xfrm>
              <a:off x="3414" y="1872"/>
              <a:ext cx="1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52">
              <a:extLst>
                <a:ext uri="{FF2B5EF4-FFF2-40B4-BE49-F238E27FC236}">
                  <a16:creationId xmlns:a16="http://schemas.microsoft.com/office/drawing/2014/main" id="{587C6F8F-CCBB-4B52-80CD-B92187604543}"/>
                </a:ext>
              </a:extLst>
            </p:cNvPr>
            <p:cNvSpPr>
              <a:spLocks noChangeShapeType="1"/>
            </p:cNvSpPr>
            <p:nvPr/>
          </p:nvSpPr>
          <p:spPr bwMode="auto">
            <a:xfrm>
              <a:off x="2930" y="1872"/>
              <a:ext cx="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Freeform 53">
              <a:extLst>
                <a:ext uri="{FF2B5EF4-FFF2-40B4-BE49-F238E27FC236}">
                  <a16:creationId xmlns:a16="http://schemas.microsoft.com/office/drawing/2014/main" id="{0AD3E0CA-632D-4D62-83D6-092870CF601F}"/>
                </a:ext>
              </a:extLst>
            </p:cNvPr>
            <p:cNvSpPr>
              <a:spLocks/>
            </p:cNvSpPr>
            <p:nvPr/>
          </p:nvSpPr>
          <p:spPr bwMode="auto">
            <a:xfrm>
              <a:off x="3051" y="1872"/>
              <a:ext cx="431" cy="170"/>
            </a:xfrm>
            <a:custGeom>
              <a:avLst/>
              <a:gdLst>
                <a:gd name="T0" fmla="*/ 0 w 431"/>
                <a:gd name="T1" fmla="*/ 0 h 193"/>
                <a:gd name="T2" fmla="*/ 0 w 431"/>
                <a:gd name="T3" fmla="*/ 42 h 193"/>
                <a:gd name="T4" fmla="*/ 391 w 431"/>
                <a:gd name="T5" fmla="*/ 42 h 193"/>
                <a:gd name="T6" fmla="*/ 391 w 431"/>
                <a:gd name="T7" fmla="*/ 1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 name="Line 54">
              <a:extLst>
                <a:ext uri="{FF2B5EF4-FFF2-40B4-BE49-F238E27FC236}">
                  <a16:creationId xmlns:a16="http://schemas.microsoft.com/office/drawing/2014/main" id="{B2AF7F6A-D22E-42D8-A455-FD431EF7857F}"/>
                </a:ext>
              </a:extLst>
            </p:cNvPr>
            <p:cNvSpPr>
              <a:spLocks noChangeShapeType="1"/>
            </p:cNvSpPr>
            <p:nvPr/>
          </p:nvSpPr>
          <p:spPr bwMode="auto">
            <a:xfrm>
              <a:off x="2545" y="1957"/>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Freeform 55">
              <a:extLst>
                <a:ext uri="{FF2B5EF4-FFF2-40B4-BE49-F238E27FC236}">
                  <a16:creationId xmlns:a16="http://schemas.microsoft.com/office/drawing/2014/main" id="{63EA317B-EB31-449E-8FB6-4871453EA46D}"/>
                </a:ext>
              </a:extLst>
            </p:cNvPr>
            <p:cNvSpPr>
              <a:spLocks/>
            </p:cNvSpPr>
            <p:nvPr/>
          </p:nvSpPr>
          <p:spPr bwMode="auto">
            <a:xfrm>
              <a:off x="2638" y="1868"/>
              <a:ext cx="337" cy="245"/>
            </a:xfrm>
            <a:custGeom>
              <a:avLst/>
              <a:gdLst>
                <a:gd name="T0" fmla="*/ 0 w 337"/>
                <a:gd name="T1" fmla="*/ 23 h 278"/>
                <a:gd name="T2" fmla="*/ 0 w 337"/>
                <a:gd name="T3" fmla="*/ 61 h 278"/>
                <a:gd name="T4" fmla="*/ 294 w 337"/>
                <a:gd name="T5" fmla="*/ 61 h 278"/>
                <a:gd name="T6" fmla="*/ 294 w 337"/>
                <a:gd name="T7" fmla="*/ 2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6" name="Group 56">
              <a:extLst>
                <a:ext uri="{FF2B5EF4-FFF2-40B4-BE49-F238E27FC236}">
                  <a16:creationId xmlns:a16="http://schemas.microsoft.com/office/drawing/2014/main" id="{E7B8FEC4-3477-4223-8DEA-D9C09E0E1CCC}"/>
                </a:ext>
              </a:extLst>
            </p:cNvPr>
            <p:cNvGrpSpPr>
              <a:grpSpLocks/>
            </p:cNvGrpSpPr>
            <p:nvPr/>
          </p:nvGrpSpPr>
          <p:grpSpPr bwMode="auto">
            <a:xfrm>
              <a:off x="2192" y="2055"/>
              <a:ext cx="2124" cy="452"/>
              <a:chOff x="1751" y="1600"/>
              <a:chExt cx="2124" cy="513"/>
            </a:xfrm>
          </p:grpSpPr>
          <p:grpSp>
            <p:nvGrpSpPr>
              <p:cNvPr id="89" name="Group 57">
                <a:extLst>
                  <a:ext uri="{FF2B5EF4-FFF2-40B4-BE49-F238E27FC236}">
                    <a16:creationId xmlns:a16="http://schemas.microsoft.com/office/drawing/2014/main" id="{65D2CB5C-13BA-4AD8-BF5B-6DC4FC83704B}"/>
                  </a:ext>
                </a:extLst>
              </p:cNvPr>
              <p:cNvGrpSpPr>
                <a:grpSpLocks/>
              </p:cNvGrpSpPr>
              <p:nvPr/>
            </p:nvGrpSpPr>
            <p:grpSpPr bwMode="auto">
              <a:xfrm>
                <a:off x="2685" y="1600"/>
                <a:ext cx="224" cy="481"/>
                <a:chOff x="2685" y="1600"/>
                <a:chExt cx="224" cy="481"/>
              </a:xfrm>
            </p:grpSpPr>
            <p:sp>
              <p:nvSpPr>
                <p:cNvPr id="115" name="Freeform 58">
                  <a:extLst>
                    <a:ext uri="{FF2B5EF4-FFF2-40B4-BE49-F238E27FC236}">
                      <a16:creationId xmlns:a16="http://schemas.microsoft.com/office/drawing/2014/main" id="{39E502D6-EBB5-4467-9977-D20EABFD651A}"/>
                    </a:ext>
                  </a:extLst>
                </p:cNvPr>
                <p:cNvSpPr>
                  <a:spLocks/>
                </p:cNvSpPr>
                <p:nvPr/>
              </p:nvSpPr>
              <p:spPr bwMode="auto">
                <a:xfrm>
                  <a:off x="2696" y="1600"/>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6" name="Rectangle 59">
                  <a:extLst>
                    <a:ext uri="{FF2B5EF4-FFF2-40B4-BE49-F238E27FC236}">
                      <a16:creationId xmlns:a16="http://schemas.microsoft.com/office/drawing/2014/main" id="{9874A30B-97A5-429B-AA48-65E2F659B0C0}"/>
                    </a:ext>
                  </a:extLst>
                </p:cNvPr>
                <p:cNvSpPr>
                  <a:spLocks noChangeArrowheads="1"/>
                </p:cNvSpPr>
                <p:nvPr/>
              </p:nvSpPr>
              <p:spPr bwMode="auto">
                <a:xfrm rot="5400000">
                  <a:off x="2576" y="1745"/>
                  <a:ext cx="4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ALU</a:t>
                  </a:r>
                </a:p>
              </p:txBody>
            </p:sp>
          </p:grpSp>
          <p:grpSp>
            <p:nvGrpSpPr>
              <p:cNvPr id="90" name="Group 60">
                <a:extLst>
                  <a:ext uri="{FF2B5EF4-FFF2-40B4-BE49-F238E27FC236}">
                    <a16:creationId xmlns:a16="http://schemas.microsoft.com/office/drawing/2014/main" id="{67797579-9468-4A50-A57D-73CEE4A8F522}"/>
                  </a:ext>
                </a:extLst>
              </p:cNvPr>
              <p:cNvGrpSpPr>
                <a:grpSpLocks/>
              </p:cNvGrpSpPr>
              <p:nvPr/>
            </p:nvGrpSpPr>
            <p:grpSpPr bwMode="auto">
              <a:xfrm>
                <a:off x="1751" y="1696"/>
                <a:ext cx="359" cy="289"/>
                <a:chOff x="1751" y="1696"/>
                <a:chExt cx="359" cy="289"/>
              </a:xfrm>
            </p:grpSpPr>
            <p:sp>
              <p:nvSpPr>
                <p:cNvPr id="111" name="Rectangle 61">
                  <a:extLst>
                    <a:ext uri="{FF2B5EF4-FFF2-40B4-BE49-F238E27FC236}">
                      <a16:creationId xmlns:a16="http://schemas.microsoft.com/office/drawing/2014/main" id="{B239C0A6-BE0C-4F1C-881D-1CB841F924A7}"/>
                    </a:ext>
                  </a:extLst>
                </p:cNvPr>
                <p:cNvSpPr>
                  <a:spLocks noChangeArrowheads="1"/>
                </p:cNvSpPr>
                <p:nvPr/>
              </p:nvSpPr>
              <p:spPr bwMode="auto">
                <a:xfrm>
                  <a:off x="1751" y="1701"/>
                  <a:ext cx="25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IM</a:t>
                  </a:r>
                </a:p>
              </p:txBody>
            </p:sp>
            <p:grpSp>
              <p:nvGrpSpPr>
                <p:cNvPr id="112" name="Group 62">
                  <a:extLst>
                    <a:ext uri="{FF2B5EF4-FFF2-40B4-BE49-F238E27FC236}">
                      <a16:creationId xmlns:a16="http://schemas.microsoft.com/office/drawing/2014/main" id="{368B4CA9-BF22-4E30-9F2E-64A90E39EE5A}"/>
                    </a:ext>
                  </a:extLst>
                </p:cNvPr>
                <p:cNvGrpSpPr>
                  <a:grpSpLocks/>
                </p:cNvGrpSpPr>
                <p:nvPr/>
              </p:nvGrpSpPr>
              <p:grpSpPr bwMode="auto">
                <a:xfrm>
                  <a:off x="1770" y="1696"/>
                  <a:ext cx="340" cy="289"/>
                  <a:chOff x="1770" y="1696"/>
                  <a:chExt cx="340" cy="289"/>
                </a:xfrm>
              </p:grpSpPr>
              <p:sp>
                <p:nvSpPr>
                  <p:cNvPr id="113" name="Freeform 63">
                    <a:extLst>
                      <a:ext uri="{FF2B5EF4-FFF2-40B4-BE49-F238E27FC236}">
                        <a16:creationId xmlns:a16="http://schemas.microsoft.com/office/drawing/2014/main" id="{D8EC6CA3-D8D7-4569-AEC1-44EAF4A7C3CA}"/>
                      </a:ext>
                    </a:extLst>
                  </p:cNvPr>
                  <p:cNvSpPr>
                    <a:spLocks/>
                  </p:cNvSpPr>
                  <p:nvPr/>
                </p:nvSpPr>
                <p:spPr bwMode="auto">
                  <a:xfrm>
                    <a:off x="1770" y="1696"/>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4" name="Freeform 64">
                    <a:extLst>
                      <a:ext uri="{FF2B5EF4-FFF2-40B4-BE49-F238E27FC236}">
                        <a16:creationId xmlns:a16="http://schemas.microsoft.com/office/drawing/2014/main" id="{7C6AE79E-B841-49B3-BDD6-29E774991031}"/>
                      </a:ext>
                    </a:extLst>
                  </p:cNvPr>
                  <p:cNvSpPr>
                    <a:spLocks/>
                  </p:cNvSpPr>
                  <p:nvPr/>
                </p:nvSpPr>
                <p:spPr bwMode="auto">
                  <a:xfrm>
                    <a:off x="1939" y="1696"/>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91" name="Rectangle 65">
                <a:extLst>
                  <a:ext uri="{FF2B5EF4-FFF2-40B4-BE49-F238E27FC236}">
                    <a16:creationId xmlns:a16="http://schemas.microsoft.com/office/drawing/2014/main" id="{B001B6BB-00BA-43A3-8E42-68179598CA58}"/>
                  </a:ext>
                </a:extLst>
              </p:cNvPr>
              <p:cNvSpPr>
                <a:spLocks noChangeArrowheads="1"/>
              </p:cNvSpPr>
              <p:nvPr/>
            </p:nvSpPr>
            <p:spPr bwMode="auto">
              <a:xfrm>
                <a:off x="2211" y="1703"/>
                <a:ext cx="35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92" name="Group 66">
                <a:extLst>
                  <a:ext uri="{FF2B5EF4-FFF2-40B4-BE49-F238E27FC236}">
                    <a16:creationId xmlns:a16="http://schemas.microsoft.com/office/drawing/2014/main" id="{7AB9442B-3664-43E5-8DAF-50C5CA0BF30D}"/>
                  </a:ext>
                </a:extLst>
              </p:cNvPr>
              <p:cNvGrpSpPr>
                <a:grpSpLocks/>
              </p:cNvGrpSpPr>
              <p:nvPr/>
            </p:nvGrpSpPr>
            <p:grpSpPr bwMode="auto">
              <a:xfrm>
                <a:off x="2230" y="1696"/>
                <a:ext cx="296" cy="289"/>
                <a:chOff x="2230" y="1696"/>
                <a:chExt cx="296" cy="289"/>
              </a:xfrm>
            </p:grpSpPr>
            <p:sp>
              <p:nvSpPr>
                <p:cNvPr id="109" name="Freeform 67">
                  <a:extLst>
                    <a:ext uri="{FF2B5EF4-FFF2-40B4-BE49-F238E27FC236}">
                      <a16:creationId xmlns:a16="http://schemas.microsoft.com/office/drawing/2014/main" id="{A1A3697E-8F4F-4357-A949-11F9AA77AA63}"/>
                    </a:ext>
                  </a:extLst>
                </p:cNvPr>
                <p:cNvSpPr>
                  <a:spLocks/>
                </p:cNvSpPr>
                <p:nvPr/>
              </p:nvSpPr>
              <p:spPr bwMode="auto">
                <a:xfrm>
                  <a:off x="2230" y="1696"/>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 name="Freeform 68">
                  <a:extLst>
                    <a:ext uri="{FF2B5EF4-FFF2-40B4-BE49-F238E27FC236}">
                      <a16:creationId xmlns:a16="http://schemas.microsoft.com/office/drawing/2014/main" id="{024210A2-6F10-4695-99B3-E6889E45BAEE}"/>
                    </a:ext>
                  </a:extLst>
                </p:cNvPr>
                <p:cNvSpPr>
                  <a:spLocks/>
                </p:cNvSpPr>
                <p:nvPr/>
              </p:nvSpPr>
              <p:spPr bwMode="auto">
                <a:xfrm>
                  <a:off x="2378" y="1696"/>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3" name="Line 69">
                <a:extLst>
                  <a:ext uri="{FF2B5EF4-FFF2-40B4-BE49-F238E27FC236}">
                    <a16:creationId xmlns:a16="http://schemas.microsoft.com/office/drawing/2014/main" id="{D31F70D8-25FA-43BD-B2D4-E034F12B9F06}"/>
                  </a:ext>
                </a:extLst>
              </p:cNvPr>
              <p:cNvSpPr>
                <a:spLocks noChangeShapeType="1"/>
              </p:cNvSpPr>
              <p:nvPr/>
            </p:nvSpPr>
            <p:spPr bwMode="auto">
              <a:xfrm>
                <a:off x="2115" y="1840"/>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Freeform 70">
                <a:extLst>
                  <a:ext uri="{FF2B5EF4-FFF2-40B4-BE49-F238E27FC236}">
                    <a16:creationId xmlns:a16="http://schemas.microsoft.com/office/drawing/2014/main" id="{2FC945B4-8AA6-4DBF-8703-7786C8713A28}"/>
                  </a:ext>
                </a:extLst>
              </p:cNvPr>
              <p:cNvSpPr>
                <a:spLocks/>
              </p:cNvSpPr>
              <p:nvPr/>
            </p:nvSpPr>
            <p:spPr bwMode="auto">
              <a:xfrm>
                <a:off x="2177" y="1744"/>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5" name="Line 71">
                <a:extLst>
                  <a:ext uri="{FF2B5EF4-FFF2-40B4-BE49-F238E27FC236}">
                    <a16:creationId xmlns:a16="http://schemas.microsoft.com/office/drawing/2014/main" id="{0D1070FE-CC21-4413-8A6C-C7FD38008E56}"/>
                  </a:ext>
                </a:extLst>
              </p:cNvPr>
              <p:cNvSpPr>
                <a:spLocks noChangeShapeType="1"/>
              </p:cNvSpPr>
              <p:nvPr/>
            </p:nvSpPr>
            <p:spPr bwMode="auto">
              <a:xfrm>
                <a:off x="2531" y="1744"/>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Rectangle 72">
                <a:extLst>
                  <a:ext uri="{FF2B5EF4-FFF2-40B4-BE49-F238E27FC236}">
                    <a16:creationId xmlns:a16="http://schemas.microsoft.com/office/drawing/2014/main" id="{6F919C5C-6FC6-4C83-997E-E7F3CCE9FE15}"/>
                  </a:ext>
                </a:extLst>
              </p:cNvPr>
              <p:cNvSpPr>
                <a:spLocks noChangeArrowheads="1"/>
              </p:cNvSpPr>
              <p:nvPr/>
            </p:nvSpPr>
            <p:spPr bwMode="auto">
              <a:xfrm>
                <a:off x="3028" y="1696"/>
                <a:ext cx="31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DM</a:t>
                </a:r>
              </a:p>
            </p:txBody>
          </p:sp>
          <p:grpSp>
            <p:nvGrpSpPr>
              <p:cNvPr id="97" name="Group 73">
                <a:extLst>
                  <a:ext uri="{FF2B5EF4-FFF2-40B4-BE49-F238E27FC236}">
                    <a16:creationId xmlns:a16="http://schemas.microsoft.com/office/drawing/2014/main" id="{4D2BC85E-000C-4767-BE49-32C39D4FA50B}"/>
                  </a:ext>
                </a:extLst>
              </p:cNvPr>
              <p:cNvGrpSpPr>
                <a:grpSpLocks/>
              </p:cNvGrpSpPr>
              <p:nvPr/>
            </p:nvGrpSpPr>
            <p:grpSpPr bwMode="auto">
              <a:xfrm>
                <a:off x="3079" y="1696"/>
                <a:ext cx="325" cy="289"/>
                <a:chOff x="3079" y="1696"/>
                <a:chExt cx="325" cy="289"/>
              </a:xfrm>
            </p:grpSpPr>
            <p:sp>
              <p:nvSpPr>
                <p:cNvPr id="107" name="Freeform 74">
                  <a:extLst>
                    <a:ext uri="{FF2B5EF4-FFF2-40B4-BE49-F238E27FC236}">
                      <a16:creationId xmlns:a16="http://schemas.microsoft.com/office/drawing/2014/main" id="{AC2975AF-9183-4705-8D48-31326AF4CBEC}"/>
                    </a:ext>
                  </a:extLst>
                </p:cNvPr>
                <p:cNvSpPr>
                  <a:spLocks/>
                </p:cNvSpPr>
                <p:nvPr/>
              </p:nvSpPr>
              <p:spPr bwMode="auto">
                <a:xfrm>
                  <a:off x="3079" y="1696"/>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 name="Freeform 75">
                  <a:extLst>
                    <a:ext uri="{FF2B5EF4-FFF2-40B4-BE49-F238E27FC236}">
                      <a16:creationId xmlns:a16="http://schemas.microsoft.com/office/drawing/2014/main" id="{B6892D27-C3E4-4B8E-B29D-37FA1C31458C}"/>
                    </a:ext>
                  </a:extLst>
                </p:cNvPr>
                <p:cNvSpPr>
                  <a:spLocks/>
                </p:cNvSpPr>
                <p:nvPr/>
              </p:nvSpPr>
              <p:spPr bwMode="auto">
                <a:xfrm>
                  <a:off x="3240" y="1696"/>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8" name="Rectangle 76">
                <a:extLst>
                  <a:ext uri="{FF2B5EF4-FFF2-40B4-BE49-F238E27FC236}">
                    <a16:creationId xmlns:a16="http://schemas.microsoft.com/office/drawing/2014/main" id="{61D7FE52-1052-4E2B-A3C6-4AB9C61E55DD}"/>
                  </a:ext>
                </a:extLst>
              </p:cNvPr>
              <p:cNvSpPr>
                <a:spLocks noChangeArrowheads="1"/>
              </p:cNvSpPr>
              <p:nvPr/>
            </p:nvSpPr>
            <p:spPr bwMode="auto">
              <a:xfrm>
                <a:off x="3520" y="1696"/>
                <a:ext cx="35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99" name="Group 77">
                <a:extLst>
                  <a:ext uri="{FF2B5EF4-FFF2-40B4-BE49-F238E27FC236}">
                    <a16:creationId xmlns:a16="http://schemas.microsoft.com/office/drawing/2014/main" id="{0AEB88D3-4396-4D52-8CEA-0A9EFE381D2E}"/>
                  </a:ext>
                </a:extLst>
              </p:cNvPr>
              <p:cNvGrpSpPr>
                <a:grpSpLocks/>
              </p:cNvGrpSpPr>
              <p:nvPr/>
            </p:nvGrpSpPr>
            <p:grpSpPr bwMode="auto">
              <a:xfrm>
                <a:off x="3547" y="1696"/>
                <a:ext cx="284" cy="289"/>
                <a:chOff x="3547" y="1696"/>
                <a:chExt cx="284" cy="289"/>
              </a:xfrm>
            </p:grpSpPr>
            <p:sp>
              <p:nvSpPr>
                <p:cNvPr id="105" name="Freeform 78">
                  <a:extLst>
                    <a:ext uri="{FF2B5EF4-FFF2-40B4-BE49-F238E27FC236}">
                      <a16:creationId xmlns:a16="http://schemas.microsoft.com/office/drawing/2014/main" id="{2A2215D5-B045-473F-B4ED-9C4F2002E676}"/>
                    </a:ext>
                  </a:extLst>
                </p:cNvPr>
                <p:cNvSpPr>
                  <a:spLocks/>
                </p:cNvSpPr>
                <p:nvPr/>
              </p:nvSpPr>
              <p:spPr bwMode="auto">
                <a:xfrm>
                  <a:off x="3547" y="1696"/>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6" name="Freeform 79">
                  <a:extLst>
                    <a:ext uri="{FF2B5EF4-FFF2-40B4-BE49-F238E27FC236}">
                      <a16:creationId xmlns:a16="http://schemas.microsoft.com/office/drawing/2014/main" id="{30560D94-E828-48B8-9599-80D33AE9E529}"/>
                    </a:ext>
                  </a:extLst>
                </p:cNvPr>
                <p:cNvSpPr>
                  <a:spLocks/>
                </p:cNvSpPr>
                <p:nvPr/>
              </p:nvSpPr>
              <p:spPr bwMode="auto">
                <a:xfrm>
                  <a:off x="3688" y="1696"/>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0" name="Line 80">
                <a:extLst>
                  <a:ext uri="{FF2B5EF4-FFF2-40B4-BE49-F238E27FC236}">
                    <a16:creationId xmlns:a16="http://schemas.microsoft.com/office/drawing/2014/main" id="{AF0FB8FC-06FD-4C97-A1F3-6F6CBCC7905F}"/>
                  </a:ext>
                </a:extLst>
              </p:cNvPr>
              <p:cNvSpPr>
                <a:spLocks noChangeShapeType="1"/>
              </p:cNvSpPr>
              <p:nvPr/>
            </p:nvSpPr>
            <p:spPr bwMode="auto">
              <a:xfrm>
                <a:off x="3400" y="1840"/>
                <a:ext cx="1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81">
                <a:extLst>
                  <a:ext uri="{FF2B5EF4-FFF2-40B4-BE49-F238E27FC236}">
                    <a16:creationId xmlns:a16="http://schemas.microsoft.com/office/drawing/2014/main" id="{354C699F-7574-4B3E-87A8-F6FFD4B8AE34}"/>
                  </a:ext>
                </a:extLst>
              </p:cNvPr>
              <p:cNvSpPr>
                <a:spLocks noChangeShapeType="1"/>
              </p:cNvSpPr>
              <p:nvPr/>
            </p:nvSpPr>
            <p:spPr bwMode="auto">
              <a:xfrm>
                <a:off x="2916" y="1840"/>
                <a:ext cx="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Freeform 82">
                <a:extLst>
                  <a:ext uri="{FF2B5EF4-FFF2-40B4-BE49-F238E27FC236}">
                    <a16:creationId xmlns:a16="http://schemas.microsoft.com/office/drawing/2014/main" id="{BF78D666-8691-45D2-A299-510FD12EAEE9}"/>
                  </a:ext>
                </a:extLst>
              </p:cNvPr>
              <p:cNvSpPr>
                <a:spLocks/>
              </p:cNvSpPr>
              <p:nvPr/>
            </p:nvSpPr>
            <p:spPr bwMode="auto">
              <a:xfrm>
                <a:off x="3037" y="1840"/>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 name="Line 83">
                <a:extLst>
                  <a:ext uri="{FF2B5EF4-FFF2-40B4-BE49-F238E27FC236}">
                    <a16:creationId xmlns:a16="http://schemas.microsoft.com/office/drawing/2014/main" id="{DC0735D9-FDAC-48EE-B7C8-F81E1B94B81A}"/>
                  </a:ext>
                </a:extLst>
              </p:cNvPr>
              <p:cNvSpPr>
                <a:spLocks noChangeShapeType="1"/>
              </p:cNvSpPr>
              <p:nvPr/>
            </p:nvSpPr>
            <p:spPr bwMode="auto">
              <a:xfrm>
                <a:off x="2531" y="1936"/>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Freeform 84">
                <a:extLst>
                  <a:ext uri="{FF2B5EF4-FFF2-40B4-BE49-F238E27FC236}">
                    <a16:creationId xmlns:a16="http://schemas.microsoft.com/office/drawing/2014/main" id="{F700FCF6-E79B-48F6-B153-D8520C69499F}"/>
                  </a:ext>
                </a:extLst>
              </p:cNvPr>
              <p:cNvSpPr>
                <a:spLocks/>
              </p:cNvSpPr>
              <p:nvPr/>
            </p:nvSpPr>
            <p:spPr bwMode="auto">
              <a:xfrm>
                <a:off x="2624" y="1835"/>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7" name="Group 85">
              <a:extLst>
                <a:ext uri="{FF2B5EF4-FFF2-40B4-BE49-F238E27FC236}">
                  <a16:creationId xmlns:a16="http://schemas.microsoft.com/office/drawing/2014/main" id="{FB8CEED6-5322-41FB-8B25-BD5306AE9592}"/>
                </a:ext>
              </a:extLst>
            </p:cNvPr>
            <p:cNvGrpSpPr>
              <a:grpSpLocks/>
            </p:cNvGrpSpPr>
            <p:nvPr/>
          </p:nvGrpSpPr>
          <p:grpSpPr bwMode="auto">
            <a:xfrm>
              <a:off x="2619" y="2450"/>
              <a:ext cx="2124" cy="451"/>
              <a:chOff x="2178" y="2048"/>
              <a:chExt cx="2124" cy="513"/>
            </a:xfrm>
          </p:grpSpPr>
          <p:grpSp>
            <p:nvGrpSpPr>
              <p:cNvPr id="61" name="Group 86">
                <a:extLst>
                  <a:ext uri="{FF2B5EF4-FFF2-40B4-BE49-F238E27FC236}">
                    <a16:creationId xmlns:a16="http://schemas.microsoft.com/office/drawing/2014/main" id="{07A3E46B-AFDA-4828-AD55-09D8D0187F85}"/>
                  </a:ext>
                </a:extLst>
              </p:cNvPr>
              <p:cNvGrpSpPr>
                <a:grpSpLocks/>
              </p:cNvGrpSpPr>
              <p:nvPr/>
            </p:nvGrpSpPr>
            <p:grpSpPr bwMode="auto">
              <a:xfrm>
                <a:off x="3110" y="2048"/>
                <a:ext cx="226" cy="481"/>
                <a:chOff x="3110" y="2048"/>
                <a:chExt cx="226" cy="481"/>
              </a:xfrm>
            </p:grpSpPr>
            <p:sp>
              <p:nvSpPr>
                <p:cNvPr id="87" name="Freeform 87">
                  <a:extLst>
                    <a:ext uri="{FF2B5EF4-FFF2-40B4-BE49-F238E27FC236}">
                      <a16:creationId xmlns:a16="http://schemas.microsoft.com/office/drawing/2014/main" id="{F66E3C59-6ACD-49F8-9B45-474061E1AA8D}"/>
                    </a:ext>
                  </a:extLst>
                </p:cNvPr>
                <p:cNvSpPr>
                  <a:spLocks/>
                </p:cNvSpPr>
                <p:nvPr/>
              </p:nvSpPr>
              <p:spPr bwMode="auto">
                <a:xfrm>
                  <a:off x="3123" y="2048"/>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 name="Rectangle 88">
                  <a:extLst>
                    <a:ext uri="{FF2B5EF4-FFF2-40B4-BE49-F238E27FC236}">
                      <a16:creationId xmlns:a16="http://schemas.microsoft.com/office/drawing/2014/main" id="{F15D2BCC-76E3-46A2-9E5F-9A2582EDA8BB}"/>
                    </a:ext>
                  </a:extLst>
                </p:cNvPr>
                <p:cNvSpPr>
                  <a:spLocks noChangeArrowheads="1"/>
                </p:cNvSpPr>
                <p:nvPr/>
              </p:nvSpPr>
              <p:spPr bwMode="auto">
                <a:xfrm rot="5400000">
                  <a:off x="3001" y="2192"/>
                  <a:ext cx="42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ALU</a:t>
                  </a:r>
                </a:p>
              </p:txBody>
            </p:sp>
          </p:grpSp>
          <p:grpSp>
            <p:nvGrpSpPr>
              <p:cNvPr id="62" name="Group 89">
                <a:extLst>
                  <a:ext uri="{FF2B5EF4-FFF2-40B4-BE49-F238E27FC236}">
                    <a16:creationId xmlns:a16="http://schemas.microsoft.com/office/drawing/2014/main" id="{2B4E3405-FF29-4E08-9485-04A9DD56F7AD}"/>
                  </a:ext>
                </a:extLst>
              </p:cNvPr>
              <p:cNvGrpSpPr>
                <a:grpSpLocks/>
              </p:cNvGrpSpPr>
              <p:nvPr/>
            </p:nvGrpSpPr>
            <p:grpSpPr bwMode="auto">
              <a:xfrm>
                <a:off x="2178" y="2144"/>
                <a:ext cx="359" cy="289"/>
                <a:chOff x="2178" y="2144"/>
                <a:chExt cx="359" cy="289"/>
              </a:xfrm>
            </p:grpSpPr>
            <p:sp>
              <p:nvSpPr>
                <p:cNvPr id="83" name="Rectangle 90">
                  <a:extLst>
                    <a:ext uri="{FF2B5EF4-FFF2-40B4-BE49-F238E27FC236}">
                      <a16:creationId xmlns:a16="http://schemas.microsoft.com/office/drawing/2014/main" id="{FE6604FD-B020-4CFF-B7C2-416A282DE70D}"/>
                    </a:ext>
                  </a:extLst>
                </p:cNvPr>
                <p:cNvSpPr>
                  <a:spLocks noChangeArrowheads="1"/>
                </p:cNvSpPr>
                <p:nvPr/>
              </p:nvSpPr>
              <p:spPr bwMode="auto">
                <a:xfrm>
                  <a:off x="2178" y="2146"/>
                  <a:ext cx="257"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IM</a:t>
                  </a:r>
                </a:p>
              </p:txBody>
            </p:sp>
            <p:grpSp>
              <p:nvGrpSpPr>
                <p:cNvPr id="84" name="Group 91">
                  <a:extLst>
                    <a:ext uri="{FF2B5EF4-FFF2-40B4-BE49-F238E27FC236}">
                      <a16:creationId xmlns:a16="http://schemas.microsoft.com/office/drawing/2014/main" id="{02DD80F9-37AD-4D45-874F-576DEA5D2A63}"/>
                    </a:ext>
                  </a:extLst>
                </p:cNvPr>
                <p:cNvGrpSpPr>
                  <a:grpSpLocks/>
                </p:cNvGrpSpPr>
                <p:nvPr/>
              </p:nvGrpSpPr>
              <p:grpSpPr bwMode="auto">
                <a:xfrm>
                  <a:off x="2197" y="2144"/>
                  <a:ext cx="340" cy="289"/>
                  <a:chOff x="2197" y="2144"/>
                  <a:chExt cx="340" cy="289"/>
                </a:xfrm>
              </p:grpSpPr>
              <p:sp>
                <p:nvSpPr>
                  <p:cNvPr id="85" name="Freeform 92">
                    <a:extLst>
                      <a:ext uri="{FF2B5EF4-FFF2-40B4-BE49-F238E27FC236}">
                        <a16:creationId xmlns:a16="http://schemas.microsoft.com/office/drawing/2014/main" id="{091EDD0F-EDD4-4820-85AE-07B1AD99F275}"/>
                      </a:ext>
                    </a:extLst>
                  </p:cNvPr>
                  <p:cNvSpPr>
                    <a:spLocks/>
                  </p:cNvSpPr>
                  <p:nvPr/>
                </p:nvSpPr>
                <p:spPr bwMode="auto">
                  <a:xfrm>
                    <a:off x="2197" y="2144"/>
                    <a:ext cx="170" cy="289"/>
                  </a:xfrm>
                  <a:custGeom>
                    <a:avLst/>
                    <a:gdLst>
                      <a:gd name="T0" fmla="*/ 169 w 170"/>
                      <a:gd name="T1" fmla="*/ 0 h 289"/>
                      <a:gd name="T2" fmla="*/ 0 w 170"/>
                      <a:gd name="T3" fmla="*/ 0 h 289"/>
                      <a:gd name="T4" fmla="*/ 0 w 170"/>
                      <a:gd name="T5" fmla="*/ 288 h 289"/>
                      <a:gd name="T6" fmla="*/ 169 w 170"/>
                      <a:gd name="T7" fmla="*/ 288 h 289"/>
                      <a:gd name="T8" fmla="*/ 0 60000 65536"/>
                      <a:gd name="T9" fmla="*/ 0 60000 65536"/>
                      <a:gd name="T10" fmla="*/ 0 60000 65536"/>
                      <a:gd name="T11" fmla="*/ 0 60000 65536"/>
                      <a:gd name="T12" fmla="*/ 0 w 170"/>
                      <a:gd name="T13" fmla="*/ 0 h 289"/>
                      <a:gd name="T14" fmla="*/ 170 w 170"/>
                      <a:gd name="T15" fmla="*/ 289 h 289"/>
                    </a:gdLst>
                    <a:ahLst/>
                    <a:cxnLst>
                      <a:cxn ang="T8">
                        <a:pos x="T0" y="T1"/>
                      </a:cxn>
                      <a:cxn ang="T9">
                        <a:pos x="T2" y="T3"/>
                      </a:cxn>
                      <a:cxn ang="T10">
                        <a:pos x="T4" y="T5"/>
                      </a:cxn>
                      <a:cxn ang="T11">
                        <a:pos x="T6" y="T7"/>
                      </a:cxn>
                    </a:cxnLst>
                    <a:rect l="T12" t="T13" r="T14" b="T15"/>
                    <a:pathLst>
                      <a:path w="170" h="289">
                        <a:moveTo>
                          <a:pt x="169" y="0"/>
                        </a:moveTo>
                        <a:lnTo>
                          <a:pt x="0" y="0"/>
                        </a:lnTo>
                        <a:lnTo>
                          <a:pt x="0" y="288"/>
                        </a:lnTo>
                        <a:lnTo>
                          <a:pt x="169"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6" name="Freeform 93">
                    <a:extLst>
                      <a:ext uri="{FF2B5EF4-FFF2-40B4-BE49-F238E27FC236}">
                        <a16:creationId xmlns:a16="http://schemas.microsoft.com/office/drawing/2014/main" id="{B41201F9-4C11-4AFD-8997-08498E16F527}"/>
                      </a:ext>
                    </a:extLst>
                  </p:cNvPr>
                  <p:cNvSpPr>
                    <a:spLocks/>
                  </p:cNvSpPr>
                  <p:nvPr/>
                </p:nvSpPr>
                <p:spPr bwMode="auto">
                  <a:xfrm>
                    <a:off x="2366" y="2144"/>
                    <a:ext cx="171" cy="289"/>
                  </a:xfrm>
                  <a:custGeom>
                    <a:avLst/>
                    <a:gdLst>
                      <a:gd name="T0" fmla="*/ 0 w 171"/>
                      <a:gd name="T1" fmla="*/ 0 h 289"/>
                      <a:gd name="T2" fmla="*/ 170 w 171"/>
                      <a:gd name="T3" fmla="*/ 0 h 289"/>
                      <a:gd name="T4" fmla="*/ 170 w 171"/>
                      <a:gd name="T5" fmla="*/ 288 h 289"/>
                      <a:gd name="T6" fmla="*/ 0 w 171"/>
                      <a:gd name="T7" fmla="*/ 288 h 289"/>
                      <a:gd name="T8" fmla="*/ 0 60000 65536"/>
                      <a:gd name="T9" fmla="*/ 0 60000 65536"/>
                      <a:gd name="T10" fmla="*/ 0 60000 65536"/>
                      <a:gd name="T11" fmla="*/ 0 60000 65536"/>
                      <a:gd name="T12" fmla="*/ 0 w 171"/>
                      <a:gd name="T13" fmla="*/ 0 h 289"/>
                      <a:gd name="T14" fmla="*/ 171 w 171"/>
                      <a:gd name="T15" fmla="*/ 289 h 289"/>
                    </a:gdLst>
                    <a:ahLst/>
                    <a:cxnLst>
                      <a:cxn ang="T8">
                        <a:pos x="T0" y="T1"/>
                      </a:cxn>
                      <a:cxn ang="T9">
                        <a:pos x="T2" y="T3"/>
                      </a:cxn>
                      <a:cxn ang="T10">
                        <a:pos x="T4" y="T5"/>
                      </a:cxn>
                      <a:cxn ang="T11">
                        <a:pos x="T6" y="T7"/>
                      </a:cxn>
                    </a:cxnLst>
                    <a:rect l="T12" t="T13" r="T14" b="T15"/>
                    <a:pathLst>
                      <a:path w="171" h="289">
                        <a:moveTo>
                          <a:pt x="0" y="0"/>
                        </a:moveTo>
                        <a:lnTo>
                          <a:pt x="170" y="0"/>
                        </a:lnTo>
                        <a:lnTo>
                          <a:pt x="170"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63" name="Rectangle 94">
                <a:extLst>
                  <a:ext uri="{FF2B5EF4-FFF2-40B4-BE49-F238E27FC236}">
                    <a16:creationId xmlns:a16="http://schemas.microsoft.com/office/drawing/2014/main" id="{33AC4B6B-AAD1-4B10-9CE9-2A842A86FFA5}"/>
                  </a:ext>
                </a:extLst>
              </p:cNvPr>
              <p:cNvSpPr>
                <a:spLocks noChangeArrowheads="1"/>
              </p:cNvSpPr>
              <p:nvPr/>
            </p:nvSpPr>
            <p:spPr bwMode="auto">
              <a:xfrm>
                <a:off x="2638" y="2152"/>
                <a:ext cx="35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64" name="Group 95">
                <a:extLst>
                  <a:ext uri="{FF2B5EF4-FFF2-40B4-BE49-F238E27FC236}">
                    <a16:creationId xmlns:a16="http://schemas.microsoft.com/office/drawing/2014/main" id="{F38D151C-9DCE-41C3-83C9-F135AF860E50}"/>
                  </a:ext>
                </a:extLst>
              </p:cNvPr>
              <p:cNvGrpSpPr>
                <a:grpSpLocks/>
              </p:cNvGrpSpPr>
              <p:nvPr/>
            </p:nvGrpSpPr>
            <p:grpSpPr bwMode="auto">
              <a:xfrm>
                <a:off x="2657" y="2144"/>
                <a:ext cx="296" cy="289"/>
                <a:chOff x="2657" y="2144"/>
                <a:chExt cx="296" cy="289"/>
              </a:xfrm>
            </p:grpSpPr>
            <p:sp>
              <p:nvSpPr>
                <p:cNvPr id="81" name="Freeform 96">
                  <a:extLst>
                    <a:ext uri="{FF2B5EF4-FFF2-40B4-BE49-F238E27FC236}">
                      <a16:creationId xmlns:a16="http://schemas.microsoft.com/office/drawing/2014/main" id="{0FA037C2-D835-41D5-8DF7-7F7C756D7007}"/>
                    </a:ext>
                  </a:extLst>
                </p:cNvPr>
                <p:cNvSpPr>
                  <a:spLocks/>
                </p:cNvSpPr>
                <p:nvPr/>
              </p:nvSpPr>
              <p:spPr bwMode="auto">
                <a:xfrm>
                  <a:off x="2657" y="2144"/>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 name="Freeform 97">
                  <a:extLst>
                    <a:ext uri="{FF2B5EF4-FFF2-40B4-BE49-F238E27FC236}">
                      <a16:creationId xmlns:a16="http://schemas.microsoft.com/office/drawing/2014/main" id="{A7F9781F-ED3F-49E8-9178-A5E617A8B1F5}"/>
                    </a:ext>
                  </a:extLst>
                </p:cNvPr>
                <p:cNvSpPr>
                  <a:spLocks/>
                </p:cNvSpPr>
                <p:nvPr/>
              </p:nvSpPr>
              <p:spPr bwMode="auto">
                <a:xfrm>
                  <a:off x="2805" y="2144"/>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5" name="Line 98">
                <a:extLst>
                  <a:ext uri="{FF2B5EF4-FFF2-40B4-BE49-F238E27FC236}">
                    <a16:creationId xmlns:a16="http://schemas.microsoft.com/office/drawing/2014/main" id="{30DE6809-D40E-4578-A2A3-3541AB3D199C}"/>
                  </a:ext>
                </a:extLst>
              </p:cNvPr>
              <p:cNvSpPr>
                <a:spLocks noChangeShapeType="1"/>
              </p:cNvSpPr>
              <p:nvPr/>
            </p:nvSpPr>
            <p:spPr bwMode="auto">
              <a:xfrm>
                <a:off x="2542" y="2288"/>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Freeform 99">
                <a:extLst>
                  <a:ext uri="{FF2B5EF4-FFF2-40B4-BE49-F238E27FC236}">
                    <a16:creationId xmlns:a16="http://schemas.microsoft.com/office/drawing/2014/main" id="{E4204F48-F153-4824-A6D3-3861C4098B5F}"/>
                  </a:ext>
                </a:extLst>
              </p:cNvPr>
              <p:cNvSpPr>
                <a:spLocks/>
              </p:cNvSpPr>
              <p:nvPr/>
            </p:nvSpPr>
            <p:spPr bwMode="auto">
              <a:xfrm>
                <a:off x="2604" y="2192"/>
                <a:ext cx="48" cy="97"/>
              </a:xfrm>
              <a:custGeom>
                <a:avLst/>
                <a:gdLst>
                  <a:gd name="T0" fmla="*/ 0 w 48"/>
                  <a:gd name="T1" fmla="*/ 96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 name="Line 100">
                <a:extLst>
                  <a:ext uri="{FF2B5EF4-FFF2-40B4-BE49-F238E27FC236}">
                    <a16:creationId xmlns:a16="http://schemas.microsoft.com/office/drawing/2014/main" id="{DB3DEB7B-33F9-47A1-850B-0E61A53C50BB}"/>
                  </a:ext>
                </a:extLst>
              </p:cNvPr>
              <p:cNvSpPr>
                <a:spLocks noChangeShapeType="1"/>
              </p:cNvSpPr>
              <p:nvPr/>
            </p:nvSpPr>
            <p:spPr bwMode="auto">
              <a:xfrm>
                <a:off x="2958" y="2192"/>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Rectangle 101">
                <a:extLst>
                  <a:ext uri="{FF2B5EF4-FFF2-40B4-BE49-F238E27FC236}">
                    <a16:creationId xmlns:a16="http://schemas.microsoft.com/office/drawing/2014/main" id="{E3586B93-14D1-479D-BC02-FD4799263539}"/>
                  </a:ext>
                </a:extLst>
              </p:cNvPr>
              <p:cNvSpPr>
                <a:spLocks noChangeArrowheads="1"/>
              </p:cNvSpPr>
              <p:nvPr/>
            </p:nvSpPr>
            <p:spPr bwMode="auto">
              <a:xfrm>
                <a:off x="3455" y="2146"/>
                <a:ext cx="313"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dirty="0">
                    <a:solidFill>
                      <a:schemeClr val="tx1"/>
                    </a:solidFill>
                  </a:rPr>
                  <a:t>DM</a:t>
                </a:r>
              </a:p>
            </p:txBody>
          </p:sp>
          <p:grpSp>
            <p:nvGrpSpPr>
              <p:cNvPr id="69" name="Group 102">
                <a:extLst>
                  <a:ext uri="{FF2B5EF4-FFF2-40B4-BE49-F238E27FC236}">
                    <a16:creationId xmlns:a16="http://schemas.microsoft.com/office/drawing/2014/main" id="{82BB3A5F-3063-4D23-9B4F-1AF4B4D2068E}"/>
                  </a:ext>
                </a:extLst>
              </p:cNvPr>
              <p:cNvGrpSpPr>
                <a:grpSpLocks/>
              </p:cNvGrpSpPr>
              <p:nvPr/>
            </p:nvGrpSpPr>
            <p:grpSpPr bwMode="auto">
              <a:xfrm>
                <a:off x="3506" y="2144"/>
                <a:ext cx="325" cy="289"/>
                <a:chOff x="3506" y="2144"/>
                <a:chExt cx="325" cy="289"/>
              </a:xfrm>
            </p:grpSpPr>
            <p:sp>
              <p:nvSpPr>
                <p:cNvPr id="79" name="Freeform 103">
                  <a:extLst>
                    <a:ext uri="{FF2B5EF4-FFF2-40B4-BE49-F238E27FC236}">
                      <a16:creationId xmlns:a16="http://schemas.microsoft.com/office/drawing/2014/main" id="{E1FB34DC-0C19-4850-BCDB-52E1AD1C4FDF}"/>
                    </a:ext>
                  </a:extLst>
                </p:cNvPr>
                <p:cNvSpPr>
                  <a:spLocks/>
                </p:cNvSpPr>
                <p:nvPr/>
              </p:nvSpPr>
              <p:spPr bwMode="auto">
                <a:xfrm>
                  <a:off x="3506" y="2144"/>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 name="Freeform 104">
                  <a:extLst>
                    <a:ext uri="{FF2B5EF4-FFF2-40B4-BE49-F238E27FC236}">
                      <a16:creationId xmlns:a16="http://schemas.microsoft.com/office/drawing/2014/main" id="{BD5085F8-487D-414E-98F4-7FBF6E28F99D}"/>
                    </a:ext>
                  </a:extLst>
                </p:cNvPr>
                <p:cNvSpPr>
                  <a:spLocks/>
                </p:cNvSpPr>
                <p:nvPr/>
              </p:nvSpPr>
              <p:spPr bwMode="auto">
                <a:xfrm>
                  <a:off x="3667" y="2144"/>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0" name="Rectangle 105">
                <a:extLst>
                  <a:ext uri="{FF2B5EF4-FFF2-40B4-BE49-F238E27FC236}">
                    <a16:creationId xmlns:a16="http://schemas.microsoft.com/office/drawing/2014/main" id="{4AD49752-20EA-4F3C-B36B-9C7C6A61A168}"/>
                  </a:ext>
                </a:extLst>
              </p:cNvPr>
              <p:cNvSpPr>
                <a:spLocks noChangeArrowheads="1"/>
              </p:cNvSpPr>
              <p:nvPr/>
            </p:nvSpPr>
            <p:spPr bwMode="auto">
              <a:xfrm>
                <a:off x="3947" y="2146"/>
                <a:ext cx="35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71" name="Group 106">
                <a:extLst>
                  <a:ext uri="{FF2B5EF4-FFF2-40B4-BE49-F238E27FC236}">
                    <a16:creationId xmlns:a16="http://schemas.microsoft.com/office/drawing/2014/main" id="{C1334ED5-E225-4780-8B7E-8C26CF87B353}"/>
                  </a:ext>
                </a:extLst>
              </p:cNvPr>
              <p:cNvGrpSpPr>
                <a:grpSpLocks/>
              </p:cNvGrpSpPr>
              <p:nvPr/>
            </p:nvGrpSpPr>
            <p:grpSpPr bwMode="auto">
              <a:xfrm>
                <a:off x="3974" y="2144"/>
                <a:ext cx="284" cy="289"/>
                <a:chOff x="3974" y="2144"/>
                <a:chExt cx="284" cy="289"/>
              </a:xfrm>
            </p:grpSpPr>
            <p:sp>
              <p:nvSpPr>
                <p:cNvPr id="77" name="Freeform 107">
                  <a:extLst>
                    <a:ext uri="{FF2B5EF4-FFF2-40B4-BE49-F238E27FC236}">
                      <a16:creationId xmlns:a16="http://schemas.microsoft.com/office/drawing/2014/main" id="{24C395D2-13C9-4F2A-B742-5F56B9CFB52C}"/>
                    </a:ext>
                  </a:extLst>
                </p:cNvPr>
                <p:cNvSpPr>
                  <a:spLocks/>
                </p:cNvSpPr>
                <p:nvPr/>
              </p:nvSpPr>
              <p:spPr bwMode="auto">
                <a:xfrm>
                  <a:off x="3974" y="2144"/>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8" name="Freeform 108">
                  <a:extLst>
                    <a:ext uri="{FF2B5EF4-FFF2-40B4-BE49-F238E27FC236}">
                      <a16:creationId xmlns:a16="http://schemas.microsoft.com/office/drawing/2014/main" id="{4079EF41-A65B-412C-9DEA-E42EC7286723}"/>
                    </a:ext>
                  </a:extLst>
                </p:cNvPr>
                <p:cNvSpPr>
                  <a:spLocks/>
                </p:cNvSpPr>
                <p:nvPr/>
              </p:nvSpPr>
              <p:spPr bwMode="auto">
                <a:xfrm>
                  <a:off x="4115" y="2144"/>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72" name="Line 109">
                <a:extLst>
                  <a:ext uri="{FF2B5EF4-FFF2-40B4-BE49-F238E27FC236}">
                    <a16:creationId xmlns:a16="http://schemas.microsoft.com/office/drawing/2014/main" id="{46EEC4DA-0339-413B-ADC6-41539A3F734C}"/>
                  </a:ext>
                </a:extLst>
              </p:cNvPr>
              <p:cNvSpPr>
                <a:spLocks noChangeShapeType="1"/>
              </p:cNvSpPr>
              <p:nvPr/>
            </p:nvSpPr>
            <p:spPr bwMode="auto">
              <a:xfrm>
                <a:off x="3827" y="2288"/>
                <a:ext cx="1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110">
                <a:extLst>
                  <a:ext uri="{FF2B5EF4-FFF2-40B4-BE49-F238E27FC236}">
                    <a16:creationId xmlns:a16="http://schemas.microsoft.com/office/drawing/2014/main" id="{E152D209-A1A1-4552-B8CA-3469CF348C56}"/>
                  </a:ext>
                </a:extLst>
              </p:cNvPr>
              <p:cNvSpPr>
                <a:spLocks noChangeShapeType="1"/>
              </p:cNvSpPr>
              <p:nvPr/>
            </p:nvSpPr>
            <p:spPr bwMode="auto">
              <a:xfrm>
                <a:off x="3343" y="2288"/>
                <a:ext cx="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Freeform 111">
                <a:extLst>
                  <a:ext uri="{FF2B5EF4-FFF2-40B4-BE49-F238E27FC236}">
                    <a16:creationId xmlns:a16="http://schemas.microsoft.com/office/drawing/2014/main" id="{BECC90E1-58B1-4D46-AC40-FEA2F1E62958}"/>
                  </a:ext>
                </a:extLst>
              </p:cNvPr>
              <p:cNvSpPr>
                <a:spLocks/>
              </p:cNvSpPr>
              <p:nvPr/>
            </p:nvSpPr>
            <p:spPr bwMode="auto">
              <a:xfrm>
                <a:off x="3464" y="2288"/>
                <a:ext cx="431" cy="193"/>
              </a:xfrm>
              <a:custGeom>
                <a:avLst/>
                <a:gdLst>
                  <a:gd name="T0" fmla="*/ 0 w 431"/>
                  <a:gd name="T1" fmla="*/ 0 h 193"/>
                  <a:gd name="T2" fmla="*/ 0 w 431"/>
                  <a:gd name="T3" fmla="*/ 192 h 193"/>
                  <a:gd name="T4" fmla="*/ 391 w 431"/>
                  <a:gd name="T5" fmla="*/ 192 h 193"/>
                  <a:gd name="T6" fmla="*/ 391 w 431"/>
                  <a:gd name="T7" fmla="*/ 64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 name="Line 112">
                <a:extLst>
                  <a:ext uri="{FF2B5EF4-FFF2-40B4-BE49-F238E27FC236}">
                    <a16:creationId xmlns:a16="http://schemas.microsoft.com/office/drawing/2014/main" id="{90B464C7-7732-4CD6-A5C7-3B76FB9F13A3}"/>
                  </a:ext>
                </a:extLst>
              </p:cNvPr>
              <p:cNvSpPr>
                <a:spLocks noChangeShapeType="1"/>
              </p:cNvSpPr>
              <p:nvPr/>
            </p:nvSpPr>
            <p:spPr bwMode="auto">
              <a:xfrm>
                <a:off x="2958" y="2384"/>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Freeform 113">
                <a:extLst>
                  <a:ext uri="{FF2B5EF4-FFF2-40B4-BE49-F238E27FC236}">
                    <a16:creationId xmlns:a16="http://schemas.microsoft.com/office/drawing/2014/main" id="{7B1423DA-37A9-4171-8D21-350E2FA2B2B3}"/>
                  </a:ext>
                </a:extLst>
              </p:cNvPr>
              <p:cNvSpPr>
                <a:spLocks/>
              </p:cNvSpPr>
              <p:nvPr/>
            </p:nvSpPr>
            <p:spPr bwMode="auto">
              <a:xfrm>
                <a:off x="3051" y="2283"/>
                <a:ext cx="337" cy="278"/>
              </a:xfrm>
              <a:custGeom>
                <a:avLst/>
                <a:gdLst>
                  <a:gd name="T0" fmla="*/ 0 w 337"/>
                  <a:gd name="T1" fmla="*/ 101 h 278"/>
                  <a:gd name="T2" fmla="*/ 0 w 337"/>
                  <a:gd name="T3" fmla="*/ 277 h 278"/>
                  <a:gd name="T4" fmla="*/ 294 w 337"/>
                  <a:gd name="T5" fmla="*/ 277 h 278"/>
                  <a:gd name="T6" fmla="*/ 294 w 337"/>
                  <a:gd name="T7" fmla="*/ 9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8" name="Group 114">
              <a:extLst>
                <a:ext uri="{FF2B5EF4-FFF2-40B4-BE49-F238E27FC236}">
                  <a16:creationId xmlns:a16="http://schemas.microsoft.com/office/drawing/2014/main" id="{2467F280-D8BF-4511-A165-DAA3EB678E3E}"/>
                </a:ext>
              </a:extLst>
            </p:cNvPr>
            <p:cNvGrpSpPr>
              <a:grpSpLocks/>
            </p:cNvGrpSpPr>
            <p:nvPr/>
          </p:nvGrpSpPr>
          <p:grpSpPr bwMode="auto">
            <a:xfrm>
              <a:off x="3980" y="2844"/>
              <a:ext cx="224" cy="424"/>
              <a:chOff x="3539" y="2496"/>
              <a:chExt cx="224" cy="481"/>
            </a:xfrm>
          </p:grpSpPr>
          <p:sp>
            <p:nvSpPr>
              <p:cNvPr id="59" name="Freeform 115">
                <a:extLst>
                  <a:ext uri="{FF2B5EF4-FFF2-40B4-BE49-F238E27FC236}">
                    <a16:creationId xmlns:a16="http://schemas.microsoft.com/office/drawing/2014/main" id="{BF930906-59CA-4292-B1EE-925CB53C7E01}"/>
                  </a:ext>
                </a:extLst>
              </p:cNvPr>
              <p:cNvSpPr>
                <a:spLocks/>
              </p:cNvSpPr>
              <p:nvPr/>
            </p:nvSpPr>
            <p:spPr bwMode="auto">
              <a:xfrm>
                <a:off x="3550" y="2496"/>
                <a:ext cx="213" cy="481"/>
              </a:xfrm>
              <a:custGeom>
                <a:avLst/>
                <a:gdLst>
                  <a:gd name="T0" fmla="*/ 0 w 213"/>
                  <a:gd name="T1" fmla="*/ 320 h 481"/>
                  <a:gd name="T2" fmla="*/ 71 w 213"/>
                  <a:gd name="T3" fmla="*/ 240 h 481"/>
                  <a:gd name="T4" fmla="*/ 0 w 213"/>
                  <a:gd name="T5" fmla="*/ 160 h 481"/>
                  <a:gd name="T6" fmla="*/ 0 w 213"/>
                  <a:gd name="T7" fmla="*/ 0 h 481"/>
                  <a:gd name="T8" fmla="*/ 212 w 213"/>
                  <a:gd name="T9" fmla="*/ 160 h 481"/>
                  <a:gd name="T10" fmla="*/ 212 w 213"/>
                  <a:gd name="T11" fmla="*/ 320 h 481"/>
                  <a:gd name="T12" fmla="*/ 0 w 213"/>
                  <a:gd name="T13" fmla="*/ 480 h 481"/>
                  <a:gd name="T14" fmla="*/ 0 w 213"/>
                  <a:gd name="T15" fmla="*/ 320 h 481"/>
                  <a:gd name="T16" fmla="*/ 0 60000 65536"/>
                  <a:gd name="T17" fmla="*/ 0 60000 65536"/>
                  <a:gd name="T18" fmla="*/ 0 60000 65536"/>
                  <a:gd name="T19" fmla="*/ 0 60000 65536"/>
                  <a:gd name="T20" fmla="*/ 0 60000 65536"/>
                  <a:gd name="T21" fmla="*/ 0 60000 65536"/>
                  <a:gd name="T22" fmla="*/ 0 60000 65536"/>
                  <a:gd name="T23" fmla="*/ 0 60000 65536"/>
                  <a:gd name="T24" fmla="*/ 0 w 213"/>
                  <a:gd name="T25" fmla="*/ 0 h 481"/>
                  <a:gd name="T26" fmla="*/ 213 w 213"/>
                  <a:gd name="T27" fmla="*/ 481 h 4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3" h="481">
                    <a:moveTo>
                      <a:pt x="0" y="320"/>
                    </a:moveTo>
                    <a:lnTo>
                      <a:pt x="71" y="240"/>
                    </a:lnTo>
                    <a:lnTo>
                      <a:pt x="0" y="160"/>
                    </a:lnTo>
                    <a:lnTo>
                      <a:pt x="0" y="0"/>
                    </a:lnTo>
                    <a:lnTo>
                      <a:pt x="212" y="160"/>
                    </a:lnTo>
                    <a:lnTo>
                      <a:pt x="212" y="320"/>
                    </a:lnTo>
                    <a:lnTo>
                      <a:pt x="0" y="480"/>
                    </a:lnTo>
                    <a:lnTo>
                      <a:pt x="0" y="32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 name="Rectangle 116">
                <a:extLst>
                  <a:ext uri="{FF2B5EF4-FFF2-40B4-BE49-F238E27FC236}">
                    <a16:creationId xmlns:a16="http://schemas.microsoft.com/office/drawing/2014/main" id="{1C0D57FC-56E9-4109-A760-6DC0FA629F67}"/>
                  </a:ext>
                </a:extLst>
              </p:cNvPr>
              <p:cNvSpPr>
                <a:spLocks noChangeArrowheads="1"/>
              </p:cNvSpPr>
              <p:nvPr/>
            </p:nvSpPr>
            <p:spPr bwMode="auto">
              <a:xfrm rot="5400000">
                <a:off x="3430" y="2641"/>
                <a:ext cx="427"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ALU</a:t>
                </a:r>
              </a:p>
            </p:txBody>
          </p:sp>
        </p:grpSp>
        <p:sp>
          <p:nvSpPr>
            <p:cNvPr id="39" name="Rectangle 117">
              <a:extLst>
                <a:ext uri="{FF2B5EF4-FFF2-40B4-BE49-F238E27FC236}">
                  <a16:creationId xmlns:a16="http://schemas.microsoft.com/office/drawing/2014/main" id="{48F21E57-2273-4BF7-8353-F3DB49200CCA}"/>
                </a:ext>
              </a:extLst>
            </p:cNvPr>
            <p:cNvSpPr>
              <a:spLocks noChangeArrowheads="1"/>
            </p:cNvSpPr>
            <p:nvPr/>
          </p:nvSpPr>
          <p:spPr bwMode="auto">
            <a:xfrm>
              <a:off x="3506" y="2935"/>
              <a:ext cx="35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40" name="Group 118">
              <a:extLst>
                <a:ext uri="{FF2B5EF4-FFF2-40B4-BE49-F238E27FC236}">
                  <a16:creationId xmlns:a16="http://schemas.microsoft.com/office/drawing/2014/main" id="{C516E74B-D44B-4B2D-86BE-17791EAA2D7C}"/>
                </a:ext>
              </a:extLst>
            </p:cNvPr>
            <p:cNvGrpSpPr>
              <a:grpSpLocks/>
            </p:cNvGrpSpPr>
            <p:nvPr/>
          </p:nvGrpSpPr>
          <p:grpSpPr bwMode="auto">
            <a:xfrm>
              <a:off x="3525" y="2929"/>
              <a:ext cx="296" cy="254"/>
              <a:chOff x="3084" y="2592"/>
              <a:chExt cx="296" cy="289"/>
            </a:xfrm>
          </p:grpSpPr>
          <p:sp>
            <p:nvSpPr>
              <p:cNvPr id="57" name="Freeform 119">
                <a:extLst>
                  <a:ext uri="{FF2B5EF4-FFF2-40B4-BE49-F238E27FC236}">
                    <a16:creationId xmlns:a16="http://schemas.microsoft.com/office/drawing/2014/main" id="{D9D17241-BD49-40ED-AC83-984A35A6775C}"/>
                  </a:ext>
                </a:extLst>
              </p:cNvPr>
              <p:cNvSpPr>
                <a:spLocks/>
              </p:cNvSpPr>
              <p:nvPr/>
            </p:nvSpPr>
            <p:spPr bwMode="auto">
              <a:xfrm>
                <a:off x="3084" y="2592"/>
                <a:ext cx="149" cy="289"/>
              </a:xfrm>
              <a:custGeom>
                <a:avLst/>
                <a:gdLst>
                  <a:gd name="T0" fmla="*/ 148 w 149"/>
                  <a:gd name="T1" fmla="*/ 0 h 289"/>
                  <a:gd name="T2" fmla="*/ 0 w 149"/>
                  <a:gd name="T3" fmla="*/ 0 h 289"/>
                  <a:gd name="T4" fmla="*/ 0 w 149"/>
                  <a:gd name="T5" fmla="*/ 288 h 289"/>
                  <a:gd name="T6" fmla="*/ 148 w 149"/>
                  <a:gd name="T7" fmla="*/ 288 h 289"/>
                  <a:gd name="T8" fmla="*/ 0 60000 65536"/>
                  <a:gd name="T9" fmla="*/ 0 60000 65536"/>
                  <a:gd name="T10" fmla="*/ 0 60000 65536"/>
                  <a:gd name="T11" fmla="*/ 0 60000 65536"/>
                  <a:gd name="T12" fmla="*/ 0 w 149"/>
                  <a:gd name="T13" fmla="*/ 0 h 289"/>
                  <a:gd name="T14" fmla="*/ 149 w 149"/>
                  <a:gd name="T15" fmla="*/ 289 h 289"/>
                </a:gdLst>
                <a:ahLst/>
                <a:cxnLst>
                  <a:cxn ang="T8">
                    <a:pos x="T0" y="T1"/>
                  </a:cxn>
                  <a:cxn ang="T9">
                    <a:pos x="T2" y="T3"/>
                  </a:cxn>
                  <a:cxn ang="T10">
                    <a:pos x="T4" y="T5"/>
                  </a:cxn>
                  <a:cxn ang="T11">
                    <a:pos x="T6" y="T7"/>
                  </a:cxn>
                </a:cxnLst>
                <a:rect l="T12" t="T13" r="T14" b="T15"/>
                <a:pathLst>
                  <a:path w="149" h="289">
                    <a:moveTo>
                      <a:pt x="148" y="0"/>
                    </a:moveTo>
                    <a:lnTo>
                      <a:pt x="0" y="0"/>
                    </a:lnTo>
                    <a:lnTo>
                      <a:pt x="0" y="288"/>
                    </a:lnTo>
                    <a:lnTo>
                      <a:pt x="148"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 name="Freeform 120">
                <a:extLst>
                  <a:ext uri="{FF2B5EF4-FFF2-40B4-BE49-F238E27FC236}">
                    <a16:creationId xmlns:a16="http://schemas.microsoft.com/office/drawing/2014/main" id="{E9C779C0-84B8-472E-BE22-DC3B38692B80}"/>
                  </a:ext>
                </a:extLst>
              </p:cNvPr>
              <p:cNvSpPr>
                <a:spLocks/>
              </p:cNvSpPr>
              <p:nvPr/>
            </p:nvSpPr>
            <p:spPr bwMode="auto">
              <a:xfrm>
                <a:off x="3232" y="2592"/>
                <a:ext cx="148" cy="289"/>
              </a:xfrm>
              <a:custGeom>
                <a:avLst/>
                <a:gdLst>
                  <a:gd name="T0" fmla="*/ 0 w 148"/>
                  <a:gd name="T1" fmla="*/ 0 h 289"/>
                  <a:gd name="T2" fmla="*/ 147 w 148"/>
                  <a:gd name="T3" fmla="*/ 0 h 289"/>
                  <a:gd name="T4" fmla="*/ 147 w 148"/>
                  <a:gd name="T5" fmla="*/ 288 h 289"/>
                  <a:gd name="T6" fmla="*/ 0 w 148"/>
                  <a:gd name="T7" fmla="*/ 288 h 289"/>
                  <a:gd name="T8" fmla="*/ 0 60000 65536"/>
                  <a:gd name="T9" fmla="*/ 0 60000 65536"/>
                  <a:gd name="T10" fmla="*/ 0 60000 65536"/>
                  <a:gd name="T11" fmla="*/ 0 60000 65536"/>
                  <a:gd name="T12" fmla="*/ 0 w 148"/>
                  <a:gd name="T13" fmla="*/ 0 h 289"/>
                  <a:gd name="T14" fmla="*/ 148 w 148"/>
                  <a:gd name="T15" fmla="*/ 289 h 289"/>
                </a:gdLst>
                <a:ahLst/>
                <a:cxnLst>
                  <a:cxn ang="T8">
                    <a:pos x="T0" y="T1"/>
                  </a:cxn>
                  <a:cxn ang="T9">
                    <a:pos x="T2" y="T3"/>
                  </a:cxn>
                  <a:cxn ang="T10">
                    <a:pos x="T4" y="T5"/>
                  </a:cxn>
                  <a:cxn ang="T11">
                    <a:pos x="T6" y="T7"/>
                  </a:cxn>
                </a:cxnLst>
                <a:rect l="T12" t="T13" r="T14" b="T15"/>
                <a:pathLst>
                  <a:path w="148" h="289">
                    <a:moveTo>
                      <a:pt x="0" y="0"/>
                    </a:moveTo>
                    <a:lnTo>
                      <a:pt x="147" y="0"/>
                    </a:lnTo>
                    <a:lnTo>
                      <a:pt x="147"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1" name="Line 121">
              <a:extLst>
                <a:ext uri="{FF2B5EF4-FFF2-40B4-BE49-F238E27FC236}">
                  <a16:creationId xmlns:a16="http://schemas.microsoft.com/office/drawing/2014/main" id="{ED987D4B-999F-4C3B-9E1C-04708FEDDC1D}"/>
                </a:ext>
              </a:extLst>
            </p:cNvPr>
            <p:cNvSpPr>
              <a:spLocks noChangeShapeType="1"/>
            </p:cNvSpPr>
            <p:nvPr/>
          </p:nvSpPr>
          <p:spPr bwMode="auto">
            <a:xfrm>
              <a:off x="3410" y="3056"/>
              <a:ext cx="9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Freeform 122">
              <a:extLst>
                <a:ext uri="{FF2B5EF4-FFF2-40B4-BE49-F238E27FC236}">
                  <a16:creationId xmlns:a16="http://schemas.microsoft.com/office/drawing/2014/main" id="{689DFD50-869F-4942-B2DA-E153C1170C10}"/>
                </a:ext>
              </a:extLst>
            </p:cNvPr>
            <p:cNvSpPr>
              <a:spLocks/>
            </p:cNvSpPr>
            <p:nvPr/>
          </p:nvSpPr>
          <p:spPr bwMode="auto">
            <a:xfrm>
              <a:off x="3472" y="2971"/>
              <a:ext cx="48" cy="85"/>
            </a:xfrm>
            <a:custGeom>
              <a:avLst/>
              <a:gdLst>
                <a:gd name="T0" fmla="*/ 0 w 48"/>
                <a:gd name="T1" fmla="*/ 20 h 97"/>
                <a:gd name="T2" fmla="*/ 0 w 48"/>
                <a:gd name="T3" fmla="*/ 0 h 97"/>
                <a:gd name="T4" fmla="*/ 47 w 48"/>
                <a:gd name="T5" fmla="*/ 0 h 97"/>
                <a:gd name="T6" fmla="*/ 47 w 48"/>
                <a:gd name="T7" fmla="*/ 0 h 97"/>
                <a:gd name="T8" fmla="*/ 0 60000 65536"/>
                <a:gd name="T9" fmla="*/ 0 60000 65536"/>
                <a:gd name="T10" fmla="*/ 0 60000 65536"/>
                <a:gd name="T11" fmla="*/ 0 60000 65536"/>
                <a:gd name="T12" fmla="*/ 0 w 48"/>
                <a:gd name="T13" fmla="*/ 0 h 97"/>
                <a:gd name="T14" fmla="*/ 48 w 48"/>
                <a:gd name="T15" fmla="*/ 97 h 97"/>
              </a:gdLst>
              <a:ahLst/>
              <a:cxnLst>
                <a:cxn ang="T8">
                  <a:pos x="T0" y="T1"/>
                </a:cxn>
                <a:cxn ang="T9">
                  <a:pos x="T2" y="T3"/>
                </a:cxn>
                <a:cxn ang="T10">
                  <a:pos x="T4" y="T5"/>
                </a:cxn>
                <a:cxn ang="T11">
                  <a:pos x="T6" y="T7"/>
                </a:cxn>
              </a:cxnLst>
              <a:rect l="T12" t="T13" r="T14" b="T15"/>
              <a:pathLst>
                <a:path w="48" h="97">
                  <a:moveTo>
                    <a:pt x="0" y="96"/>
                  </a:moveTo>
                  <a:lnTo>
                    <a:pt x="0" y="0"/>
                  </a:lnTo>
                  <a:lnTo>
                    <a:pt x="47"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 name="Line 123">
              <a:extLst>
                <a:ext uri="{FF2B5EF4-FFF2-40B4-BE49-F238E27FC236}">
                  <a16:creationId xmlns:a16="http://schemas.microsoft.com/office/drawing/2014/main" id="{07A0B5AF-9FEF-4F0E-B694-F83F9BC7FDC3}"/>
                </a:ext>
              </a:extLst>
            </p:cNvPr>
            <p:cNvSpPr>
              <a:spLocks noChangeShapeType="1"/>
            </p:cNvSpPr>
            <p:nvPr/>
          </p:nvSpPr>
          <p:spPr bwMode="auto">
            <a:xfrm>
              <a:off x="3826" y="2971"/>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Rectangle 124">
              <a:extLst>
                <a:ext uri="{FF2B5EF4-FFF2-40B4-BE49-F238E27FC236}">
                  <a16:creationId xmlns:a16="http://schemas.microsoft.com/office/drawing/2014/main" id="{53E66AC7-825A-42A0-B6FB-C296AF4C61AE}"/>
                </a:ext>
              </a:extLst>
            </p:cNvPr>
            <p:cNvSpPr>
              <a:spLocks noChangeArrowheads="1"/>
            </p:cNvSpPr>
            <p:nvPr/>
          </p:nvSpPr>
          <p:spPr bwMode="auto">
            <a:xfrm>
              <a:off x="4323" y="2931"/>
              <a:ext cx="31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DM</a:t>
              </a:r>
            </a:p>
          </p:txBody>
        </p:sp>
        <p:grpSp>
          <p:nvGrpSpPr>
            <p:cNvPr id="45" name="Group 125">
              <a:extLst>
                <a:ext uri="{FF2B5EF4-FFF2-40B4-BE49-F238E27FC236}">
                  <a16:creationId xmlns:a16="http://schemas.microsoft.com/office/drawing/2014/main" id="{E82B4FD7-F7E2-49B1-BC67-E28B983635A5}"/>
                </a:ext>
              </a:extLst>
            </p:cNvPr>
            <p:cNvGrpSpPr>
              <a:grpSpLocks/>
            </p:cNvGrpSpPr>
            <p:nvPr/>
          </p:nvGrpSpPr>
          <p:grpSpPr bwMode="auto">
            <a:xfrm>
              <a:off x="4374" y="2929"/>
              <a:ext cx="325" cy="254"/>
              <a:chOff x="3933" y="2592"/>
              <a:chExt cx="325" cy="289"/>
            </a:xfrm>
          </p:grpSpPr>
          <p:sp>
            <p:nvSpPr>
              <p:cNvPr id="55" name="Freeform 126">
                <a:extLst>
                  <a:ext uri="{FF2B5EF4-FFF2-40B4-BE49-F238E27FC236}">
                    <a16:creationId xmlns:a16="http://schemas.microsoft.com/office/drawing/2014/main" id="{CE7D0432-2F60-45F9-A863-8A9EADEBBDE6}"/>
                  </a:ext>
                </a:extLst>
              </p:cNvPr>
              <p:cNvSpPr>
                <a:spLocks/>
              </p:cNvSpPr>
              <p:nvPr/>
            </p:nvSpPr>
            <p:spPr bwMode="auto">
              <a:xfrm>
                <a:off x="3933" y="2592"/>
                <a:ext cx="162" cy="289"/>
              </a:xfrm>
              <a:custGeom>
                <a:avLst/>
                <a:gdLst>
                  <a:gd name="T0" fmla="*/ 161 w 162"/>
                  <a:gd name="T1" fmla="*/ 0 h 289"/>
                  <a:gd name="T2" fmla="*/ 0 w 162"/>
                  <a:gd name="T3" fmla="*/ 0 h 289"/>
                  <a:gd name="T4" fmla="*/ 0 w 162"/>
                  <a:gd name="T5" fmla="*/ 288 h 289"/>
                  <a:gd name="T6" fmla="*/ 161 w 162"/>
                  <a:gd name="T7" fmla="*/ 288 h 289"/>
                  <a:gd name="T8" fmla="*/ 0 60000 65536"/>
                  <a:gd name="T9" fmla="*/ 0 60000 65536"/>
                  <a:gd name="T10" fmla="*/ 0 60000 65536"/>
                  <a:gd name="T11" fmla="*/ 0 60000 65536"/>
                  <a:gd name="T12" fmla="*/ 0 w 162"/>
                  <a:gd name="T13" fmla="*/ 0 h 289"/>
                  <a:gd name="T14" fmla="*/ 162 w 162"/>
                  <a:gd name="T15" fmla="*/ 289 h 289"/>
                </a:gdLst>
                <a:ahLst/>
                <a:cxnLst>
                  <a:cxn ang="T8">
                    <a:pos x="T0" y="T1"/>
                  </a:cxn>
                  <a:cxn ang="T9">
                    <a:pos x="T2" y="T3"/>
                  </a:cxn>
                  <a:cxn ang="T10">
                    <a:pos x="T4" y="T5"/>
                  </a:cxn>
                  <a:cxn ang="T11">
                    <a:pos x="T6" y="T7"/>
                  </a:cxn>
                </a:cxnLst>
                <a:rect l="T12" t="T13" r="T14" b="T15"/>
                <a:pathLst>
                  <a:path w="162" h="289">
                    <a:moveTo>
                      <a:pt x="161" y="0"/>
                    </a:moveTo>
                    <a:lnTo>
                      <a:pt x="0" y="0"/>
                    </a:lnTo>
                    <a:lnTo>
                      <a:pt x="0" y="288"/>
                    </a:lnTo>
                    <a:lnTo>
                      <a:pt x="16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Freeform 127">
                <a:extLst>
                  <a:ext uri="{FF2B5EF4-FFF2-40B4-BE49-F238E27FC236}">
                    <a16:creationId xmlns:a16="http://schemas.microsoft.com/office/drawing/2014/main" id="{FF4CB399-414C-4889-A5F1-B83EB0569DB1}"/>
                  </a:ext>
                </a:extLst>
              </p:cNvPr>
              <p:cNvSpPr>
                <a:spLocks/>
              </p:cNvSpPr>
              <p:nvPr/>
            </p:nvSpPr>
            <p:spPr bwMode="auto">
              <a:xfrm>
                <a:off x="4094" y="2592"/>
                <a:ext cx="164" cy="289"/>
              </a:xfrm>
              <a:custGeom>
                <a:avLst/>
                <a:gdLst>
                  <a:gd name="T0" fmla="*/ 0 w 164"/>
                  <a:gd name="T1" fmla="*/ 0 h 289"/>
                  <a:gd name="T2" fmla="*/ 163 w 164"/>
                  <a:gd name="T3" fmla="*/ 0 h 289"/>
                  <a:gd name="T4" fmla="*/ 163 w 164"/>
                  <a:gd name="T5" fmla="*/ 288 h 289"/>
                  <a:gd name="T6" fmla="*/ 0 w 164"/>
                  <a:gd name="T7" fmla="*/ 288 h 289"/>
                  <a:gd name="T8" fmla="*/ 0 60000 65536"/>
                  <a:gd name="T9" fmla="*/ 0 60000 65536"/>
                  <a:gd name="T10" fmla="*/ 0 60000 65536"/>
                  <a:gd name="T11" fmla="*/ 0 60000 65536"/>
                  <a:gd name="T12" fmla="*/ 0 w 164"/>
                  <a:gd name="T13" fmla="*/ 0 h 289"/>
                  <a:gd name="T14" fmla="*/ 164 w 164"/>
                  <a:gd name="T15" fmla="*/ 289 h 289"/>
                </a:gdLst>
                <a:ahLst/>
                <a:cxnLst>
                  <a:cxn ang="T8">
                    <a:pos x="T0" y="T1"/>
                  </a:cxn>
                  <a:cxn ang="T9">
                    <a:pos x="T2" y="T3"/>
                  </a:cxn>
                  <a:cxn ang="T10">
                    <a:pos x="T4" y="T5"/>
                  </a:cxn>
                  <a:cxn ang="T11">
                    <a:pos x="T6" y="T7"/>
                  </a:cxn>
                </a:cxnLst>
                <a:rect l="T12" t="T13" r="T14" b="T15"/>
                <a:pathLst>
                  <a:path w="164" h="289">
                    <a:moveTo>
                      <a:pt x="0" y="0"/>
                    </a:moveTo>
                    <a:lnTo>
                      <a:pt x="163" y="0"/>
                    </a:lnTo>
                    <a:lnTo>
                      <a:pt x="163"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6" name="Rectangle 128">
              <a:extLst>
                <a:ext uri="{FF2B5EF4-FFF2-40B4-BE49-F238E27FC236}">
                  <a16:creationId xmlns:a16="http://schemas.microsoft.com/office/drawing/2014/main" id="{F45E8217-3990-45A7-B6AF-4C21278579BD}"/>
                </a:ext>
              </a:extLst>
            </p:cNvPr>
            <p:cNvSpPr>
              <a:spLocks noChangeArrowheads="1"/>
            </p:cNvSpPr>
            <p:nvPr/>
          </p:nvSpPr>
          <p:spPr bwMode="auto">
            <a:xfrm>
              <a:off x="4815" y="2931"/>
              <a:ext cx="355"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defRPr sz="4400">
                  <a:solidFill>
                    <a:schemeClr val="tx2"/>
                  </a:solidFill>
                  <a:latin typeface="Arial" panose="020B0604020202020204" pitchFamily="34" charset="0"/>
                  <a:ea typeface="宋体" panose="02010600030101010101" pitchFamily="2" charset="-122"/>
                </a:defRPr>
              </a:lvl1pPr>
              <a:lvl2pPr marL="742950" indent="-285750">
                <a:defRPr sz="4400">
                  <a:solidFill>
                    <a:schemeClr val="tx2"/>
                  </a:solidFill>
                  <a:latin typeface="Arial" panose="020B0604020202020204" pitchFamily="34" charset="0"/>
                  <a:ea typeface="宋体" panose="02010600030101010101" pitchFamily="2" charset="-122"/>
                </a:defRPr>
              </a:lvl2pPr>
              <a:lvl3pPr marL="1143000" indent="-228600">
                <a:defRPr sz="4400">
                  <a:solidFill>
                    <a:schemeClr val="tx2"/>
                  </a:solidFill>
                  <a:latin typeface="Arial" panose="020B0604020202020204" pitchFamily="34" charset="0"/>
                  <a:ea typeface="宋体" panose="02010600030101010101" pitchFamily="2" charset="-122"/>
                </a:defRPr>
              </a:lvl3pPr>
              <a:lvl4pPr marL="1600200" indent="-228600">
                <a:defRPr sz="4400">
                  <a:solidFill>
                    <a:schemeClr val="tx2"/>
                  </a:solidFill>
                  <a:latin typeface="Arial" panose="020B0604020202020204" pitchFamily="34" charset="0"/>
                  <a:ea typeface="宋体" panose="02010600030101010101" pitchFamily="2" charset="-122"/>
                </a:defRPr>
              </a:lvl4pPr>
              <a:lvl5pPr marL="2057400" indent="-228600">
                <a:defRPr sz="44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kumimoji="1" lang="en-US" altLang="zh-CN" sz="1600" b="1">
                  <a:solidFill>
                    <a:schemeClr val="tx1"/>
                  </a:solidFill>
                </a:rPr>
                <a:t>Reg</a:t>
              </a:r>
            </a:p>
          </p:txBody>
        </p:sp>
        <p:grpSp>
          <p:nvGrpSpPr>
            <p:cNvPr id="47" name="Group 129">
              <a:extLst>
                <a:ext uri="{FF2B5EF4-FFF2-40B4-BE49-F238E27FC236}">
                  <a16:creationId xmlns:a16="http://schemas.microsoft.com/office/drawing/2014/main" id="{0FCDC45B-AB26-4A56-A4AB-C2465613194F}"/>
                </a:ext>
              </a:extLst>
            </p:cNvPr>
            <p:cNvGrpSpPr>
              <a:grpSpLocks/>
            </p:cNvGrpSpPr>
            <p:nvPr/>
          </p:nvGrpSpPr>
          <p:grpSpPr bwMode="auto">
            <a:xfrm>
              <a:off x="4842" y="2929"/>
              <a:ext cx="284" cy="254"/>
              <a:chOff x="4401" y="2592"/>
              <a:chExt cx="284" cy="289"/>
            </a:xfrm>
          </p:grpSpPr>
          <p:sp>
            <p:nvSpPr>
              <p:cNvPr id="53" name="Freeform 130">
                <a:extLst>
                  <a:ext uri="{FF2B5EF4-FFF2-40B4-BE49-F238E27FC236}">
                    <a16:creationId xmlns:a16="http://schemas.microsoft.com/office/drawing/2014/main" id="{D3D9DC09-EC4A-4044-A267-82463D876E38}"/>
                  </a:ext>
                </a:extLst>
              </p:cNvPr>
              <p:cNvSpPr>
                <a:spLocks/>
              </p:cNvSpPr>
              <p:nvPr/>
            </p:nvSpPr>
            <p:spPr bwMode="auto">
              <a:xfrm>
                <a:off x="4401" y="2592"/>
                <a:ext cx="142" cy="289"/>
              </a:xfrm>
              <a:custGeom>
                <a:avLst/>
                <a:gdLst>
                  <a:gd name="T0" fmla="*/ 141 w 142"/>
                  <a:gd name="T1" fmla="*/ 0 h 289"/>
                  <a:gd name="T2" fmla="*/ 0 w 142"/>
                  <a:gd name="T3" fmla="*/ 0 h 289"/>
                  <a:gd name="T4" fmla="*/ 0 w 142"/>
                  <a:gd name="T5" fmla="*/ 288 h 289"/>
                  <a:gd name="T6" fmla="*/ 141 w 142"/>
                  <a:gd name="T7" fmla="*/ 288 h 289"/>
                  <a:gd name="T8" fmla="*/ 0 60000 65536"/>
                  <a:gd name="T9" fmla="*/ 0 60000 65536"/>
                  <a:gd name="T10" fmla="*/ 0 60000 65536"/>
                  <a:gd name="T11" fmla="*/ 0 60000 65536"/>
                  <a:gd name="T12" fmla="*/ 0 w 142"/>
                  <a:gd name="T13" fmla="*/ 0 h 289"/>
                  <a:gd name="T14" fmla="*/ 142 w 142"/>
                  <a:gd name="T15" fmla="*/ 289 h 289"/>
                </a:gdLst>
                <a:ahLst/>
                <a:cxnLst>
                  <a:cxn ang="T8">
                    <a:pos x="T0" y="T1"/>
                  </a:cxn>
                  <a:cxn ang="T9">
                    <a:pos x="T2" y="T3"/>
                  </a:cxn>
                  <a:cxn ang="T10">
                    <a:pos x="T4" y="T5"/>
                  </a:cxn>
                  <a:cxn ang="T11">
                    <a:pos x="T6" y="T7"/>
                  </a:cxn>
                </a:cxnLst>
                <a:rect l="T12" t="T13" r="T14" b="T15"/>
                <a:pathLst>
                  <a:path w="142" h="289">
                    <a:moveTo>
                      <a:pt x="141" y="0"/>
                    </a:moveTo>
                    <a:lnTo>
                      <a:pt x="0" y="0"/>
                    </a:lnTo>
                    <a:lnTo>
                      <a:pt x="0" y="288"/>
                    </a:lnTo>
                    <a:lnTo>
                      <a:pt x="141"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 name="Freeform 131">
                <a:extLst>
                  <a:ext uri="{FF2B5EF4-FFF2-40B4-BE49-F238E27FC236}">
                    <a16:creationId xmlns:a16="http://schemas.microsoft.com/office/drawing/2014/main" id="{5BE90730-577A-4480-AB9C-BA19F809A2F8}"/>
                  </a:ext>
                </a:extLst>
              </p:cNvPr>
              <p:cNvSpPr>
                <a:spLocks/>
              </p:cNvSpPr>
              <p:nvPr/>
            </p:nvSpPr>
            <p:spPr bwMode="auto">
              <a:xfrm>
                <a:off x="4542" y="2592"/>
                <a:ext cx="143" cy="289"/>
              </a:xfrm>
              <a:custGeom>
                <a:avLst/>
                <a:gdLst>
                  <a:gd name="T0" fmla="*/ 0 w 143"/>
                  <a:gd name="T1" fmla="*/ 0 h 289"/>
                  <a:gd name="T2" fmla="*/ 142 w 143"/>
                  <a:gd name="T3" fmla="*/ 0 h 289"/>
                  <a:gd name="T4" fmla="*/ 142 w 143"/>
                  <a:gd name="T5" fmla="*/ 288 h 289"/>
                  <a:gd name="T6" fmla="*/ 0 w 143"/>
                  <a:gd name="T7" fmla="*/ 288 h 289"/>
                  <a:gd name="T8" fmla="*/ 0 60000 65536"/>
                  <a:gd name="T9" fmla="*/ 0 60000 65536"/>
                  <a:gd name="T10" fmla="*/ 0 60000 65536"/>
                  <a:gd name="T11" fmla="*/ 0 60000 65536"/>
                  <a:gd name="T12" fmla="*/ 0 w 143"/>
                  <a:gd name="T13" fmla="*/ 0 h 289"/>
                  <a:gd name="T14" fmla="*/ 143 w 143"/>
                  <a:gd name="T15" fmla="*/ 289 h 289"/>
                </a:gdLst>
                <a:ahLst/>
                <a:cxnLst>
                  <a:cxn ang="T8">
                    <a:pos x="T0" y="T1"/>
                  </a:cxn>
                  <a:cxn ang="T9">
                    <a:pos x="T2" y="T3"/>
                  </a:cxn>
                  <a:cxn ang="T10">
                    <a:pos x="T4" y="T5"/>
                  </a:cxn>
                  <a:cxn ang="T11">
                    <a:pos x="T6" y="T7"/>
                  </a:cxn>
                </a:cxnLst>
                <a:rect l="T12" t="T13" r="T14" b="T15"/>
                <a:pathLst>
                  <a:path w="143" h="289">
                    <a:moveTo>
                      <a:pt x="0" y="0"/>
                    </a:moveTo>
                    <a:lnTo>
                      <a:pt x="142" y="0"/>
                    </a:lnTo>
                    <a:lnTo>
                      <a:pt x="142" y="288"/>
                    </a:lnTo>
                    <a:lnTo>
                      <a:pt x="0" y="288"/>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8" name="Line 132">
              <a:extLst>
                <a:ext uri="{FF2B5EF4-FFF2-40B4-BE49-F238E27FC236}">
                  <a16:creationId xmlns:a16="http://schemas.microsoft.com/office/drawing/2014/main" id="{CCA2E4AB-88D0-4012-8E81-9AACF6F482FE}"/>
                </a:ext>
              </a:extLst>
            </p:cNvPr>
            <p:cNvSpPr>
              <a:spLocks noChangeShapeType="1"/>
            </p:cNvSpPr>
            <p:nvPr/>
          </p:nvSpPr>
          <p:spPr bwMode="auto">
            <a:xfrm>
              <a:off x="4695" y="3056"/>
              <a:ext cx="13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133">
              <a:extLst>
                <a:ext uri="{FF2B5EF4-FFF2-40B4-BE49-F238E27FC236}">
                  <a16:creationId xmlns:a16="http://schemas.microsoft.com/office/drawing/2014/main" id="{3DC6E017-78D8-406C-AA69-69E775E82C7C}"/>
                </a:ext>
              </a:extLst>
            </p:cNvPr>
            <p:cNvSpPr>
              <a:spLocks noChangeShapeType="1"/>
            </p:cNvSpPr>
            <p:nvPr/>
          </p:nvSpPr>
          <p:spPr bwMode="auto">
            <a:xfrm>
              <a:off x="4211" y="3056"/>
              <a:ext cx="15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Freeform 134">
              <a:extLst>
                <a:ext uri="{FF2B5EF4-FFF2-40B4-BE49-F238E27FC236}">
                  <a16:creationId xmlns:a16="http://schemas.microsoft.com/office/drawing/2014/main" id="{78C6D6A7-6F47-466B-8270-A3921F935782}"/>
                </a:ext>
              </a:extLst>
            </p:cNvPr>
            <p:cNvSpPr>
              <a:spLocks/>
            </p:cNvSpPr>
            <p:nvPr/>
          </p:nvSpPr>
          <p:spPr bwMode="auto">
            <a:xfrm>
              <a:off x="4332" y="3056"/>
              <a:ext cx="431" cy="169"/>
            </a:xfrm>
            <a:custGeom>
              <a:avLst/>
              <a:gdLst>
                <a:gd name="T0" fmla="*/ 0 w 431"/>
                <a:gd name="T1" fmla="*/ 0 h 193"/>
                <a:gd name="T2" fmla="*/ 0 w 431"/>
                <a:gd name="T3" fmla="*/ 40 h 193"/>
                <a:gd name="T4" fmla="*/ 391 w 431"/>
                <a:gd name="T5" fmla="*/ 40 h 193"/>
                <a:gd name="T6" fmla="*/ 391 w 431"/>
                <a:gd name="T7" fmla="*/ 13 h 193"/>
                <a:gd name="T8" fmla="*/ 430 w 431"/>
                <a:gd name="T9" fmla="*/ 0 h 193"/>
                <a:gd name="T10" fmla="*/ 0 60000 65536"/>
                <a:gd name="T11" fmla="*/ 0 60000 65536"/>
                <a:gd name="T12" fmla="*/ 0 60000 65536"/>
                <a:gd name="T13" fmla="*/ 0 60000 65536"/>
                <a:gd name="T14" fmla="*/ 0 60000 65536"/>
                <a:gd name="T15" fmla="*/ 0 w 431"/>
                <a:gd name="T16" fmla="*/ 0 h 193"/>
                <a:gd name="T17" fmla="*/ 431 w 431"/>
                <a:gd name="T18" fmla="*/ 193 h 193"/>
              </a:gdLst>
              <a:ahLst/>
              <a:cxnLst>
                <a:cxn ang="T10">
                  <a:pos x="T0" y="T1"/>
                </a:cxn>
                <a:cxn ang="T11">
                  <a:pos x="T2" y="T3"/>
                </a:cxn>
                <a:cxn ang="T12">
                  <a:pos x="T4" y="T5"/>
                </a:cxn>
                <a:cxn ang="T13">
                  <a:pos x="T6" y="T7"/>
                </a:cxn>
                <a:cxn ang="T14">
                  <a:pos x="T8" y="T9"/>
                </a:cxn>
              </a:cxnLst>
              <a:rect l="T15" t="T16" r="T17" b="T18"/>
              <a:pathLst>
                <a:path w="431" h="193">
                  <a:moveTo>
                    <a:pt x="0" y="0"/>
                  </a:moveTo>
                  <a:lnTo>
                    <a:pt x="0" y="192"/>
                  </a:lnTo>
                  <a:lnTo>
                    <a:pt x="391" y="192"/>
                  </a:lnTo>
                  <a:lnTo>
                    <a:pt x="391" y="64"/>
                  </a:lnTo>
                  <a:lnTo>
                    <a:pt x="430"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 name="Line 135">
              <a:extLst>
                <a:ext uri="{FF2B5EF4-FFF2-40B4-BE49-F238E27FC236}">
                  <a16:creationId xmlns:a16="http://schemas.microsoft.com/office/drawing/2014/main" id="{E8E22B60-F3F7-4E83-B1E6-44917858978D}"/>
                </a:ext>
              </a:extLst>
            </p:cNvPr>
            <p:cNvSpPr>
              <a:spLocks noChangeShapeType="1"/>
            </p:cNvSpPr>
            <p:nvPr/>
          </p:nvSpPr>
          <p:spPr bwMode="auto">
            <a:xfrm>
              <a:off x="3826" y="3140"/>
              <a:ext cx="15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Freeform 136">
              <a:extLst>
                <a:ext uri="{FF2B5EF4-FFF2-40B4-BE49-F238E27FC236}">
                  <a16:creationId xmlns:a16="http://schemas.microsoft.com/office/drawing/2014/main" id="{1858CE5A-1BA6-4893-AE9C-132D664B7360}"/>
                </a:ext>
              </a:extLst>
            </p:cNvPr>
            <p:cNvSpPr>
              <a:spLocks/>
            </p:cNvSpPr>
            <p:nvPr/>
          </p:nvSpPr>
          <p:spPr bwMode="auto">
            <a:xfrm>
              <a:off x="3919" y="3051"/>
              <a:ext cx="337" cy="245"/>
            </a:xfrm>
            <a:custGeom>
              <a:avLst/>
              <a:gdLst>
                <a:gd name="T0" fmla="*/ 0 w 337"/>
                <a:gd name="T1" fmla="*/ 23 h 278"/>
                <a:gd name="T2" fmla="*/ 0 w 337"/>
                <a:gd name="T3" fmla="*/ 61 h 278"/>
                <a:gd name="T4" fmla="*/ 294 w 337"/>
                <a:gd name="T5" fmla="*/ 61 h 278"/>
                <a:gd name="T6" fmla="*/ 294 w 337"/>
                <a:gd name="T7" fmla="*/ 20 h 278"/>
                <a:gd name="T8" fmla="*/ 336 w 337"/>
                <a:gd name="T9" fmla="*/ 0 h 278"/>
                <a:gd name="T10" fmla="*/ 0 60000 65536"/>
                <a:gd name="T11" fmla="*/ 0 60000 65536"/>
                <a:gd name="T12" fmla="*/ 0 60000 65536"/>
                <a:gd name="T13" fmla="*/ 0 60000 65536"/>
                <a:gd name="T14" fmla="*/ 0 60000 65536"/>
                <a:gd name="T15" fmla="*/ 0 w 337"/>
                <a:gd name="T16" fmla="*/ 0 h 278"/>
                <a:gd name="T17" fmla="*/ 337 w 337"/>
                <a:gd name="T18" fmla="*/ 278 h 278"/>
              </a:gdLst>
              <a:ahLst/>
              <a:cxnLst>
                <a:cxn ang="T10">
                  <a:pos x="T0" y="T1"/>
                </a:cxn>
                <a:cxn ang="T11">
                  <a:pos x="T2" y="T3"/>
                </a:cxn>
                <a:cxn ang="T12">
                  <a:pos x="T4" y="T5"/>
                </a:cxn>
                <a:cxn ang="T13">
                  <a:pos x="T6" y="T7"/>
                </a:cxn>
                <a:cxn ang="T14">
                  <a:pos x="T8" y="T9"/>
                </a:cxn>
              </a:cxnLst>
              <a:rect l="T15" t="T16" r="T17" b="T18"/>
              <a:pathLst>
                <a:path w="337" h="278">
                  <a:moveTo>
                    <a:pt x="0" y="101"/>
                  </a:moveTo>
                  <a:lnTo>
                    <a:pt x="0" y="277"/>
                  </a:lnTo>
                  <a:lnTo>
                    <a:pt x="294" y="277"/>
                  </a:lnTo>
                  <a:lnTo>
                    <a:pt x="294" y="90"/>
                  </a:lnTo>
                  <a:lnTo>
                    <a:pt x="336" y="0"/>
                  </a:lnTo>
                </a:path>
              </a:pathLst>
            </a:custGeom>
            <a:noFill/>
            <a:ln w="25400" cap="rnd">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655445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r>
              <a:rPr lang="en-US" altLang="en-US" dirty="0">
                <a:solidFill>
                  <a:srgbClr val="0432FF"/>
                </a:solidFill>
                <a:ea typeface="ＭＳ Ｐゴシック" charset="-128"/>
              </a:rPr>
              <a:t> </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2209800"/>
            <a:ext cx="6375009" cy="2460871"/>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0"/>
            <a:ext cx="6375009" cy="838199"/>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305519751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03568672-7C4C-1B4B-AC0D-09EE877D6474}"/>
              </a:ext>
            </a:extLst>
          </p:cNvPr>
          <p:cNvSpPr>
            <a:spLocks noGrp="1" noChangeArrowheads="1"/>
          </p:cNvSpPr>
          <p:nvPr>
            <p:ph type="title"/>
          </p:nvPr>
        </p:nvSpPr>
        <p:spPr/>
        <p:txBody>
          <a:bodyPr/>
          <a:lstStyle/>
          <a:p>
            <a:r>
              <a:rPr lang="en-US" altLang="en-US" dirty="0">
                <a:ea typeface="ＭＳ Ｐゴシック" panose="020B0600070205080204" pitchFamily="34" charset="-128"/>
              </a:rPr>
              <a:t>Data Dependences</a:t>
            </a:r>
          </a:p>
        </p:txBody>
      </p:sp>
      <p:sp>
        <p:nvSpPr>
          <p:cNvPr id="3" name="Content Placeholder 2">
            <a:extLst>
              <a:ext uri="{FF2B5EF4-FFF2-40B4-BE49-F238E27FC236}">
                <a16:creationId xmlns:a16="http://schemas.microsoft.com/office/drawing/2014/main" id="{2ABB03F1-CCC1-8E41-9B03-2E4005D5CBF9}"/>
              </a:ext>
            </a:extLst>
          </p:cNvPr>
          <p:cNvSpPr>
            <a:spLocks noGrp="1" noChangeArrowheads="1"/>
          </p:cNvSpPr>
          <p:nvPr>
            <p:ph idx="1"/>
          </p:nvPr>
        </p:nvSpPr>
        <p:spPr>
          <a:xfrm>
            <a:off x="228600" y="996950"/>
            <a:ext cx="8610600" cy="5556250"/>
          </a:xfrm>
        </p:spPr>
        <p:txBody>
          <a:bodyPr/>
          <a:lstStyle/>
          <a:p>
            <a:r>
              <a:rPr lang="en-US" altLang="en-US" dirty="0">
                <a:ea typeface="ＭＳ Ｐゴシック" panose="020B0600070205080204" pitchFamily="34" charset="-128"/>
              </a:rPr>
              <a:t>Three Types of data dependences</a:t>
            </a:r>
          </a:p>
          <a:p>
            <a:pPr lvl="1"/>
            <a:r>
              <a:rPr lang="en-US" altLang="en-US" b="1" dirty="0">
                <a:ea typeface="ＭＳ Ｐゴシック" panose="020B0600070205080204" pitchFamily="34" charset="-128"/>
              </a:rPr>
              <a:t>Flow dependence </a:t>
            </a:r>
            <a:r>
              <a:rPr lang="en-US" altLang="en-US" dirty="0">
                <a:ea typeface="ＭＳ Ｐゴシック" panose="020B0600070205080204" pitchFamily="34" charset="-128"/>
              </a:rPr>
              <a:t>(read after write – true data dependence)</a:t>
            </a:r>
          </a:p>
          <a:p>
            <a:pPr lvl="1"/>
            <a:r>
              <a:rPr lang="en-US" altLang="en-US" b="1" dirty="0">
                <a:ea typeface="ＭＳ Ｐゴシック" panose="020B0600070205080204" pitchFamily="34" charset="-128"/>
              </a:rPr>
              <a:t>Output dependence </a:t>
            </a:r>
            <a:r>
              <a:rPr lang="en-US" altLang="en-US" dirty="0">
                <a:ea typeface="ＭＳ Ｐゴシック" panose="020B0600070205080204" pitchFamily="34" charset="-128"/>
              </a:rPr>
              <a:t>(write after write)</a:t>
            </a:r>
          </a:p>
          <a:p>
            <a:pPr lvl="1"/>
            <a:r>
              <a:rPr lang="en-US" altLang="en-US" b="1" dirty="0">
                <a:ea typeface="ＭＳ Ｐゴシック" panose="020B0600070205080204" pitchFamily="34" charset="-128"/>
              </a:rPr>
              <a:t>Anti dependence </a:t>
            </a:r>
            <a:r>
              <a:rPr lang="en-US" altLang="en-US" dirty="0">
                <a:ea typeface="ＭＳ Ｐゴシック" panose="020B0600070205080204" pitchFamily="34" charset="-128"/>
              </a:rPr>
              <a:t>(write after read)</a:t>
            </a:r>
          </a:p>
          <a:p>
            <a:pPr lvl="1"/>
            <a:endParaRPr lang="en-US" altLang="en-US" sz="2000" dirty="0">
              <a:ea typeface="ＭＳ Ｐゴシック" panose="020B0600070205080204" pitchFamily="34" charset="-128"/>
            </a:endParaRPr>
          </a:p>
          <a:p>
            <a:r>
              <a:rPr lang="en-US" altLang="en-US" dirty="0">
                <a:ea typeface="ＭＳ Ｐゴシック" panose="020B0600070205080204" pitchFamily="34" charset="-128"/>
              </a:rPr>
              <a:t>Which ones cause stalls in a pipelined machine? </a:t>
            </a:r>
          </a:p>
          <a:p>
            <a:pPr lvl="1"/>
            <a:r>
              <a:rPr lang="en-US" altLang="en-US" b="1" dirty="0">
                <a:ea typeface="ＭＳ Ｐゴシック" panose="020B0600070205080204" pitchFamily="34" charset="-128"/>
              </a:rPr>
              <a:t>Assumption</a:t>
            </a:r>
            <a:r>
              <a:rPr lang="en-US" altLang="en-US" dirty="0">
                <a:ea typeface="ＭＳ Ｐゴシック" panose="020B0600070205080204" pitchFamily="34" charset="-128"/>
              </a:rPr>
              <a:t>: we need to ensure semantics of the program is correct. </a:t>
            </a:r>
          </a:p>
          <a:p>
            <a:pPr lvl="1"/>
            <a:r>
              <a:rPr lang="en-US" altLang="en-US" b="1" dirty="0">
                <a:ea typeface="ＭＳ Ｐゴシック" panose="020B0600070205080204" pitchFamily="34" charset="-128"/>
              </a:rPr>
              <a:t>Flow dependences </a:t>
            </a:r>
            <a:r>
              <a:rPr lang="en-US" altLang="en-US" dirty="0">
                <a:ea typeface="ＭＳ Ｐゴシック" panose="020B0600070205080204" pitchFamily="34" charset="-128"/>
              </a:rPr>
              <a:t>always need to be obeyed because they constitute true dependence on a register </a:t>
            </a:r>
          </a:p>
          <a:p>
            <a:pPr lvl="1"/>
            <a:r>
              <a:rPr lang="en-US" altLang="en-US" b="1" dirty="0">
                <a:ea typeface="ＭＳ Ｐゴシック" panose="020B0600070205080204" pitchFamily="34" charset="-128"/>
              </a:rPr>
              <a:t>Anti and output dependences </a:t>
            </a:r>
            <a:r>
              <a:rPr lang="en-US" altLang="en-US" dirty="0">
                <a:ea typeface="ＭＳ Ｐゴシック" panose="020B0600070205080204" pitchFamily="34" charset="-128"/>
              </a:rPr>
              <a:t>exist due to limited number of architectural registers</a:t>
            </a:r>
            <a:r>
              <a:rPr lang="en-US" altLang="en-US" dirty="0">
                <a:solidFill>
                  <a:srgbClr val="FF0000"/>
                </a:solidFill>
                <a:ea typeface="ＭＳ Ｐゴシック" panose="020B0600070205080204" pitchFamily="34" charset="-128"/>
              </a:rPr>
              <a:t>. </a:t>
            </a:r>
          </a:p>
          <a:p>
            <a:pPr lvl="2"/>
            <a:r>
              <a:rPr lang="en-US" altLang="en-US" dirty="0">
                <a:ea typeface="ＭＳ Ｐゴシック" panose="020B0600070205080204" pitchFamily="34" charset="-128"/>
              </a:rPr>
              <a:t>Essentially, </a:t>
            </a:r>
            <a:r>
              <a:rPr lang="en-US" altLang="en-US" dirty="0" err="1">
                <a:ea typeface="ＭＳ Ｐゴシック" panose="020B0600070205080204" pitchFamily="34" charset="-128"/>
              </a:rPr>
              <a:t>insns</a:t>
            </a:r>
            <a:r>
              <a:rPr lang="en-US" altLang="en-US" dirty="0">
                <a:ea typeface="ＭＳ Ｐゴシック" panose="020B0600070205080204" pitchFamily="34" charset="-128"/>
              </a:rPr>
              <a:t> are dependent on a name, not a value. </a:t>
            </a:r>
          </a:p>
          <a:p>
            <a:pPr marL="344487" lvl="1" indent="0">
              <a:buNone/>
            </a:pP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65539" name="Slide Number Placeholder 3">
            <a:extLst>
              <a:ext uri="{FF2B5EF4-FFF2-40B4-BE49-F238E27FC236}">
                <a16:creationId xmlns:a16="http://schemas.microsoft.com/office/drawing/2014/main" id="{419112C8-9CD5-F140-BD88-43585AC975A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BFD37CE8-6FC1-9342-BB25-5CE90BB48A18}" type="slidenum">
              <a:rPr lang="en-US" altLang="en-US" sz="1600" smtClean="0">
                <a:solidFill>
                  <a:srgbClr val="000000"/>
                </a:solidFill>
                <a:latin typeface="Garamond" panose="02020404030301010803" pitchFamily="18" charset="0"/>
              </a:rPr>
              <a:pPr>
                <a:spcBef>
                  <a:spcPct val="0"/>
                </a:spcBef>
                <a:buClrTx/>
                <a:buSzTx/>
                <a:buFontTx/>
                <a:buNone/>
              </a:pPr>
              <a:t>17</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en-US" dirty="0">
                <a:ea typeface="ＭＳ Ｐゴシック" panose="020B0600070205080204" pitchFamily="34" charset="-128"/>
              </a:rPr>
              <a:t>Data Dependence Types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Tree>
    <p:extLst>
      <p:ext uri="{BB962C8B-B14F-4D97-AF65-F5344CB8AC3E}">
        <p14:creationId xmlns:p14="http://schemas.microsoft.com/office/powerpoint/2010/main" val="345465716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436B271-5211-1E4C-838C-135BDBB68605}"/>
              </a:ext>
            </a:extLst>
          </p:cNvPr>
          <p:cNvSpPr>
            <a:spLocks noGrp="1" noChangeArrowheads="1"/>
          </p:cNvSpPr>
          <p:nvPr>
            <p:ph type="title"/>
          </p:nvPr>
        </p:nvSpPr>
        <p:spPr/>
        <p:txBody>
          <a:bodyPr/>
          <a:lstStyle/>
          <a:p>
            <a:r>
              <a:rPr lang="en-US" altLang="en-US">
                <a:ea typeface="ＭＳ Ｐゴシック" panose="020B0600070205080204" pitchFamily="34" charset="-128"/>
              </a:rPr>
              <a:t>How to Handle Data Dependences</a:t>
            </a:r>
          </a:p>
        </p:txBody>
      </p:sp>
      <p:sp>
        <p:nvSpPr>
          <p:cNvPr id="70658" name="Content Placeholder 2">
            <a:extLst>
              <a:ext uri="{FF2B5EF4-FFF2-40B4-BE49-F238E27FC236}">
                <a16:creationId xmlns:a16="http://schemas.microsoft.com/office/drawing/2014/main" id="{2787A909-6DE3-7047-91F4-259BF22510BF}"/>
              </a:ext>
            </a:extLst>
          </p:cNvPr>
          <p:cNvSpPr>
            <a:spLocks noGrp="1" noChangeArrowheads="1"/>
          </p:cNvSpPr>
          <p:nvPr>
            <p:ph idx="1"/>
          </p:nvPr>
        </p:nvSpPr>
        <p:spPr>
          <a:xfrm>
            <a:off x="228600" y="996950"/>
            <a:ext cx="8763000" cy="5194300"/>
          </a:xfrm>
        </p:spPr>
        <p:txBody>
          <a:bodyPr/>
          <a:lstStyle/>
          <a:p>
            <a:r>
              <a:rPr lang="en-US" altLang="en-US" b="1" dirty="0">
                <a:ea typeface="ＭＳ Ｐゴシック" panose="020B0600070205080204" pitchFamily="34" charset="-128"/>
              </a:rPr>
              <a:t>Anti and output dependences</a:t>
            </a:r>
          </a:p>
          <a:p>
            <a:pPr lvl="1"/>
            <a:r>
              <a:rPr lang="en-US" altLang="zh-CN" dirty="0">
                <a:ea typeface="ＭＳ Ｐゴシック" panose="020B0600070205080204" pitchFamily="34" charset="-128"/>
              </a:rPr>
              <a:t>They </a:t>
            </a:r>
            <a:r>
              <a:rPr lang="en-US" altLang="en-US" dirty="0">
                <a:ea typeface="ＭＳ Ｐゴシック" panose="020B0600070205080204" pitchFamily="34" charset="-128"/>
              </a:rPr>
              <a:t>are easier to handle. </a:t>
            </a:r>
          </a:p>
          <a:p>
            <a:pPr lvl="1"/>
            <a:r>
              <a:rPr lang="en-US" altLang="en-US" dirty="0">
                <a:ea typeface="ＭＳ Ｐゴシック" panose="020B0600070205080204" pitchFamily="34" charset="-128"/>
              </a:rPr>
              <a:t>Write to the destination only in last stage and in program order</a:t>
            </a:r>
          </a:p>
          <a:p>
            <a:endParaRPr lang="en-US" altLang="en-US" dirty="0">
              <a:ea typeface="ＭＳ Ｐゴシック" panose="020B0600070205080204" pitchFamily="34" charset="-128"/>
            </a:endParaRPr>
          </a:p>
          <a:p>
            <a:r>
              <a:rPr lang="en-US" altLang="zh-CN" b="1" dirty="0">
                <a:ea typeface="ＭＳ Ｐゴシック" panose="020B0600070205080204" pitchFamily="34" charset="-128"/>
              </a:rPr>
              <a:t>H</a:t>
            </a:r>
            <a:r>
              <a:rPr lang="en-US" altLang="en-US" b="1" dirty="0">
                <a:ea typeface="ＭＳ Ｐゴシック" panose="020B0600070205080204" pitchFamily="34" charset="-128"/>
              </a:rPr>
              <a:t>andling flow dependences</a:t>
            </a:r>
            <a:r>
              <a:rPr lang="en-US" altLang="en-US" dirty="0">
                <a:ea typeface="ＭＳ Ｐゴシック" panose="020B0600070205080204" pitchFamily="34" charset="-128"/>
              </a:rPr>
              <a:t>:</a:t>
            </a:r>
          </a:p>
          <a:p>
            <a:pPr lvl="1"/>
            <a:r>
              <a:rPr lang="en-US" altLang="en-US" dirty="0">
                <a:solidFill>
                  <a:srgbClr val="0432FF"/>
                </a:solidFill>
                <a:ea typeface="ＭＳ Ｐゴシック" panose="020B0600070205080204" pitchFamily="34" charset="-128"/>
              </a:rPr>
              <a:t>Hardware Pipeline Stall: </a:t>
            </a:r>
          </a:p>
          <a:p>
            <a:pPr lvl="2"/>
            <a:r>
              <a:rPr lang="en-US" altLang="en-US" dirty="0">
                <a:ea typeface="ＭＳ Ｐゴシック" panose="020B0600070205080204" pitchFamily="34" charset="-128"/>
              </a:rPr>
              <a:t>Detect and wait until value is available in register file</a:t>
            </a:r>
          </a:p>
          <a:p>
            <a:pPr lvl="1"/>
            <a:r>
              <a:rPr lang="en-US" altLang="en-US" dirty="0">
                <a:solidFill>
                  <a:srgbClr val="0432FF"/>
                </a:solidFill>
                <a:ea typeface="ＭＳ Ｐゴシック" panose="020B0600070205080204" pitchFamily="34" charset="-128"/>
              </a:rPr>
              <a:t>Software Pipeline Stall: </a:t>
            </a:r>
          </a:p>
          <a:p>
            <a:pPr lvl="2"/>
            <a:r>
              <a:rPr lang="en-US" altLang="en-US" dirty="0">
                <a:ea typeface="ＭＳ Ｐゴシック" panose="020B0600070205080204" pitchFamily="34" charset="-128"/>
              </a:rPr>
              <a:t>Detect and eliminate the dependence at the software level</a:t>
            </a:r>
          </a:p>
          <a:p>
            <a:pPr lvl="2"/>
            <a:r>
              <a:rPr lang="en-US" altLang="en-US" dirty="0">
                <a:ea typeface="ＭＳ Ｐゴシック" panose="020B0600070205080204" pitchFamily="34" charset="-128"/>
              </a:rPr>
              <a:t>No need for the hardware to detect dependence</a:t>
            </a:r>
          </a:p>
          <a:p>
            <a:pPr lvl="1"/>
            <a:r>
              <a:rPr lang="en-US" altLang="en-US" dirty="0">
                <a:solidFill>
                  <a:srgbClr val="0432FF"/>
                </a:solidFill>
                <a:ea typeface="ＭＳ Ｐゴシック" panose="020B0600070205080204" pitchFamily="34" charset="-128"/>
              </a:rPr>
              <a:t>Data Forward/Bypass:</a:t>
            </a:r>
          </a:p>
          <a:p>
            <a:pPr lvl="2"/>
            <a:r>
              <a:rPr lang="en-US" altLang="en-US" dirty="0">
                <a:ea typeface="ＭＳ Ｐゴシック" panose="020B0600070205080204" pitchFamily="34" charset="-128"/>
              </a:rPr>
              <a:t>Detect and forward/bypass data to dependent instruction</a:t>
            </a:r>
          </a:p>
        </p:txBody>
      </p:sp>
      <p:sp>
        <p:nvSpPr>
          <p:cNvPr id="70659" name="Slide Number Placeholder 3">
            <a:extLst>
              <a:ext uri="{FF2B5EF4-FFF2-40B4-BE49-F238E27FC236}">
                <a16:creationId xmlns:a16="http://schemas.microsoft.com/office/drawing/2014/main" id="{E827CFEA-AD08-0C4A-AB91-EE9FBA7D6E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4988CC5-3D95-4C42-954E-4895214B8E54}" type="slidenum">
              <a:rPr lang="en-US" altLang="en-US" sz="1600" smtClean="0">
                <a:solidFill>
                  <a:srgbClr val="000000"/>
                </a:solidFill>
                <a:latin typeface="Garamond" panose="02020404030301010803" pitchFamily="18" charset="0"/>
              </a:rPr>
              <a:pPr>
                <a:spcBef>
                  <a:spcPct val="0"/>
                </a:spcBef>
                <a:buClrTx/>
                <a:buSzTx/>
                <a:buFontTx/>
                <a:buNone/>
              </a:pPr>
              <a:t>19</a:t>
            </a:fld>
            <a:endParaRPr lang="en-US" altLang="en-US" sz="1600">
              <a:solidFill>
                <a:srgbClr val="000000"/>
              </a:solidFill>
              <a:latin typeface="Garamond" panose="02020404030301010803"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5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65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65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658">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0658">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065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65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065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2590800"/>
            <a:ext cx="6375009" cy="3132405"/>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0"/>
            <a:ext cx="6375009" cy="12192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188489736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en-US" dirty="0">
                <a:ea typeface="ＭＳ Ｐゴシック" panose="020B0600070205080204" pitchFamily="34" charset="-128"/>
              </a:rPr>
              <a:t>Remember: Data Dependence Types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6530635" cy="5116785"/>
          </a:xfrm>
          <a:prstGeom prst="rect">
            <a:avLst/>
          </a:prstGeom>
          <a:noFill/>
          <a:ln>
            <a:noFill/>
          </a:ln>
          <a:extLst>
            <a:ext uri="{909E8E84-426E-40dd-AFC4-6F175D3DCCD1}"/>
            <a:ext uri="{91240B29-F687-4f45-9708-019B960494DF}"/>
          </a:extLst>
        </p:spPr>
        <p:txBody>
          <a:bodyPr wrap="non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6096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95400" y="3581400"/>
            <a:ext cx="762000" cy="1524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Tree>
    <p:extLst>
      <p:ext uri="{BB962C8B-B14F-4D97-AF65-F5344CB8AC3E}">
        <p14:creationId xmlns:p14="http://schemas.microsoft.com/office/powerpoint/2010/main" val="221123759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E285BC5E-519F-4F4F-9303-BBDC7C7927A8}"/>
              </a:ext>
            </a:extLst>
          </p:cNvPr>
          <p:cNvSpPr>
            <a:spLocks noChangeArrowheads="1"/>
          </p:cNvSpPr>
          <p:nvPr>
            <p:custDataLst>
              <p:tags r:id="rId1"/>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66562" name="Rectangle 3">
            <a:extLst>
              <a:ext uri="{FF2B5EF4-FFF2-40B4-BE49-F238E27FC236}">
                <a16:creationId xmlns:a16="http://schemas.microsoft.com/office/drawing/2014/main" id="{660DA67F-9D8E-8741-882B-FF07A33D2BFC}"/>
              </a:ext>
            </a:extLst>
          </p:cNvPr>
          <p:cNvSpPr>
            <a:spLocks noGrp="1" noChangeArrowheads="1"/>
          </p:cNvSpPr>
          <p:nvPr>
            <p:ph type="title"/>
            <p:custDataLst>
              <p:tags r:id="rId2"/>
            </p:custDataLst>
          </p:nvPr>
        </p:nvSpPr>
        <p:spPr/>
        <p:txBody>
          <a:bodyPr/>
          <a:lstStyle/>
          <a:p>
            <a:pPr eaLnBrk="1" hangingPunct="1"/>
            <a:r>
              <a:rPr lang="en-US" altLang="en-US" dirty="0">
                <a:ea typeface="ＭＳ Ｐゴシック" panose="020B0600070205080204" pitchFamily="34" charset="-128"/>
              </a:rPr>
              <a:t>RAW Data Dependence: Example</a:t>
            </a:r>
            <a:endParaRPr lang="en-US" altLang="en-US" dirty="0">
              <a:latin typeface="Consolas" panose="020B0609020204030204" pitchFamily="49" charset="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3AFA2D39-AE6A-8344-B452-30C6D6C4D39E}"/>
              </a:ext>
            </a:extLst>
          </p:cNvPr>
          <p:cNvSpPr>
            <a:spLocks noGrp="1"/>
          </p:cNvSpPr>
          <p:nvPr>
            <p:ph idx="1"/>
          </p:nvPr>
        </p:nvSpPr>
        <p:spPr>
          <a:xfrm>
            <a:off x="228600" y="996950"/>
            <a:ext cx="8610600" cy="5194300"/>
          </a:xfrm>
        </p:spPr>
        <p:txBody>
          <a:bodyPr/>
          <a:lstStyle/>
          <a:p>
            <a:pPr eaLnBrk="1" hangingPunct="1">
              <a:buClr>
                <a:schemeClr val="accent1">
                  <a:lumMod val="75000"/>
                  <a:lumOff val="25000"/>
                </a:schemeClr>
              </a:buClr>
              <a:buFont typeface="Wingdings 2" pitchFamily="18" charset="2"/>
              <a:buChar char="¢"/>
              <a:defRPr/>
            </a:pPr>
            <a:r>
              <a:rPr lang="en-US" dirty="0">
                <a:ea typeface="+mn-ea"/>
              </a:rPr>
              <a:t>One instruction writes a register ($s0) and next instructions read this register =&gt; read after write (RAW) dependence. </a:t>
            </a:r>
          </a:p>
          <a:p>
            <a:pPr lvl="1" eaLnBrk="1" hangingPunct="1">
              <a:buClr>
                <a:schemeClr val="accent1">
                  <a:lumMod val="75000"/>
                  <a:lumOff val="25000"/>
                </a:schemeClr>
              </a:buClr>
              <a:defRPr/>
            </a:pPr>
            <a:r>
              <a:rPr lang="en-US" dirty="0"/>
              <a:t> </a:t>
            </a:r>
            <a:r>
              <a:rPr lang="en-US" b="1" i="1" dirty="0">
                <a:solidFill>
                  <a:srgbClr val="C00000"/>
                </a:solidFill>
              </a:rPr>
              <a:t>add</a:t>
            </a:r>
            <a:r>
              <a:rPr lang="en-US" dirty="0">
                <a:solidFill>
                  <a:schemeClr val="accent1">
                    <a:lumMod val="75000"/>
                    <a:lumOff val="25000"/>
                  </a:schemeClr>
                </a:solidFill>
              </a:rPr>
              <a:t> </a:t>
            </a:r>
            <a:r>
              <a:rPr lang="en-US" dirty="0"/>
              <a:t>writes into $s0 in the first half of cycle 5</a:t>
            </a:r>
          </a:p>
          <a:p>
            <a:pPr lvl="1" eaLnBrk="1" hangingPunct="1">
              <a:buClr>
                <a:schemeClr val="accent1">
                  <a:lumMod val="75000"/>
                  <a:lumOff val="25000"/>
                </a:schemeClr>
              </a:buClr>
              <a:defRPr/>
            </a:pPr>
            <a:r>
              <a:rPr lang="en-US" dirty="0"/>
              <a:t> </a:t>
            </a:r>
            <a:r>
              <a:rPr lang="en-US" b="1" i="1" dirty="0">
                <a:solidFill>
                  <a:srgbClr val="C00000"/>
                </a:solidFill>
              </a:rPr>
              <a:t>and</a:t>
            </a:r>
            <a:r>
              <a:rPr lang="en-US" dirty="0">
                <a:solidFill>
                  <a:schemeClr val="accent1">
                    <a:lumMod val="75000"/>
                    <a:lumOff val="25000"/>
                  </a:schemeClr>
                </a:solidFill>
              </a:rPr>
              <a:t> </a:t>
            </a:r>
            <a:r>
              <a:rPr lang="en-US" dirty="0"/>
              <a:t>reads $s0 on cycle 3, obtaining the </a:t>
            </a:r>
            <a:r>
              <a:rPr lang="en-US" b="1" dirty="0"/>
              <a:t>wrong</a:t>
            </a:r>
            <a:r>
              <a:rPr lang="en-US" dirty="0"/>
              <a:t> </a:t>
            </a:r>
            <a:r>
              <a:rPr lang="en-US" b="1" dirty="0"/>
              <a:t>value</a:t>
            </a:r>
          </a:p>
          <a:p>
            <a:pPr lvl="1" eaLnBrk="1" hangingPunct="1">
              <a:buClr>
                <a:schemeClr val="accent1">
                  <a:lumMod val="75000"/>
                  <a:lumOff val="25000"/>
                </a:schemeClr>
              </a:buClr>
              <a:defRPr/>
            </a:pPr>
            <a:r>
              <a:rPr lang="en-US" dirty="0">
                <a:solidFill>
                  <a:srgbClr val="C00000"/>
                </a:solidFill>
              </a:rPr>
              <a:t> </a:t>
            </a:r>
            <a:r>
              <a:rPr lang="en-US" b="1" i="1" dirty="0">
                <a:solidFill>
                  <a:srgbClr val="C00000"/>
                </a:solidFill>
              </a:rPr>
              <a:t>or</a:t>
            </a:r>
            <a:r>
              <a:rPr lang="en-US" dirty="0">
                <a:solidFill>
                  <a:schemeClr val="accent1">
                    <a:lumMod val="75000"/>
                    <a:lumOff val="25000"/>
                  </a:schemeClr>
                </a:solidFill>
              </a:rPr>
              <a:t> </a:t>
            </a:r>
            <a:r>
              <a:rPr lang="en-US" dirty="0"/>
              <a:t>reads $s0 on cycle 4, again obtaining the </a:t>
            </a:r>
            <a:r>
              <a:rPr lang="en-US" b="1" dirty="0"/>
              <a:t>wrong</a:t>
            </a:r>
            <a:r>
              <a:rPr lang="en-US" dirty="0"/>
              <a:t> </a:t>
            </a:r>
            <a:r>
              <a:rPr lang="en-US" b="1" dirty="0"/>
              <a:t>value</a:t>
            </a:r>
            <a:endParaRPr lang="en-US" dirty="0"/>
          </a:p>
          <a:p>
            <a:pPr lvl="1" eaLnBrk="1" hangingPunct="1">
              <a:buClr>
                <a:schemeClr val="accent1">
                  <a:lumMod val="75000"/>
                  <a:lumOff val="25000"/>
                </a:schemeClr>
              </a:buClr>
              <a:defRPr/>
            </a:pPr>
            <a:r>
              <a:rPr lang="en-US" dirty="0"/>
              <a:t> </a:t>
            </a:r>
            <a:r>
              <a:rPr lang="en-US" b="1" i="1" dirty="0">
                <a:solidFill>
                  <a:srgbClr val="C00000"/>
                </a:solidFill>
              </a:rPr>
              <a:t>sub</a:t>
            </a:r>
            <a:r>
              <a:rPr lang="en-US" dirty="0">
                <a:solidFill>
                  <a:schemeClr val="accent1">
                    <a:lumMod val="75000"/>
                    <a:lumOff val="25000"/>
                  </a:schemeClr>
                </a:solidFill>
              </a:rPr>
              <a:t> </a:t>
            </a:r>
            <a:r>
              <a:rPr lang="en-US" dirty="0"/>
              <a:t>reads $s0 in 2nd half of cycle 5, getting the correct value</a:t>
            </a:r>
          </a:p>
          <a:p>
            <a:pPr lvl="1" eaLnBrk="1" hangingPunct="1">
              <a:buClr>
                <a:schemeClr val="accent1">
                  <a:lumMod val="75000"/>
                  <a:lumOff val="25000"/>
                </a:schemeClr>
              </a:buClr>
              <a:defRPr/>
            </a:pPr>
            <a:r>
              <a:rPr lang="en-US" dirty="0"/>
              <a:t> subsequent instructions read the correct value of $s0</a:t>
            </a:r>
          </a:p>
          <a:p>
            <a:pPr eaLnBrk="1" hangingPunct="1">
              <a:buClr>
                <a:schemeClr val="accent1">
                  <a:lumMod val="75000"/>
                  <a:lumOff val="25000"/>
                </a:schemeClr>
              </a:buClr>
              <a:buFont typeface="Wingdings 2" pitchFamily="18" charset="2"/>
              <a:buChar char="¢"/>
              <a:defRPr/>
            </a:pPr>
            <a:endParaRPr lang="de-CH" dirty="0">
              <a:ea typeface="+mn-ea"/>
            </a:endParaRPr>
          </a:p>
        </p:txBody>
      </p:sp>
      <p:graphicFrame>
        <p:nvGraphicFramePr>
          <p:cNvPr id="66564" name="Content Placeholder 4">
            <a:extLst>
              <a:ext uri="{FF2B5EF4-FFF2-40B4-BE49-F238E27FC236}">
                <a16:creationId xmlns:a16="http://schemas.microsoft.com/office/drawing/2014/main" id="{C9885CF8-5481-B047-BA64-D971FB7E45B5}"/>
              </a:ext>
            </a:extLst>
          </p:cNvPr>
          <p:cNvGraphicFramePr>
            <a:graphicFrameLocks noGrp="1" noChangeAspect="1"/>
          </p:cNvGraphicFramePr>
          <p:nvPr>
            <p:ph idx="4294967295"/>
            <p:custDataLst>
              <p:tags r:id="rId3"/>
            </p:custDataLst>
          </p:nvPr>
        </p:nvGraphicFramePr>
        <p:xfrm>
          <a:off x="1036638" y="4002088"/>
          <a:ext cx="7070725" cy="2501900"/>
        </p:xfrm>
        <a:graphic>
          <a:graphicData uri="http://schemas.openxmlformats.org/presentationml/2006/ole">
            <mc:AlternateContent xmlns:mc="http://schemas.openxmlformats.org/markup-compatibility/2006">
              <mc:Choice xmlns:v="urn:schemas-microsoft-com:vml" Requires="v">
                <p:oleObj name="VISIO" r:id="rId8" imgW="29692600" imgH="10502900" progId="Visio.Drawing.6">
                  <p:embed/>
                </p:oleObj>
              </mc:Choice>
              <mc:Fallback>
                <p:oleObj name="VISIO" r:id="rId8" imgW="29692600" imgH="10502900" progId="Visio.Drawing.6">
                  <p:embed/>
                  <p:pic>
                    <p:nvPicPr>
                      <p:cNvPr id="66564" name="Content Placeholder 4">
                        <a:extLst>
                          <a:ext uri="{FF2B5EF4-FFF2-40B4-BE49-F238E27FC236}">
                            <a16:creationId xmlns:a16="http://schemas.microsoft.com/office/drawing/2014/main" id="{C9885CF8-5481-B047-BA64-D971FB7E45B5}"/>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6638" y="4002088"/>
                        <a:ext cx="707072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5" name="Rectangle 4">
            <a:extLst>
              <a:ext uri="{FF2B5EF4-FFF2-40B4-BE49-F238E27FC236}">
                <a16:creationId xmlns:a16="http://schemas.microsoft.com/office/drawing/2014/main" id="{26F01F14-4EBB-4E41-ADE0-290B27F1E455}"/>
              </a:ext>
            </a:extLst>
          </p:cNvPr>
          <p:cNvSpPr>
            <a:spLocks noChangeArrowheads="1"/>
          </p:cNvSpPr>
          <p:nvPr>
            <p:custDataLst>
              <p:tags r:id="rId4"/>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66566" name="Rectangle 5">
            <a:extLst>
              <a:ext uri="{FF2B5EF4-FFF2-40B4-BE49-F238E27FC236}">
                <a16:creationId xmlns:a16="http://schemas.microsoft.com/office/drawing/2014/main" id="{91F1F3E2-FE54-8F40-B132-42EF86411419}"/>
              </a:ext>
            </a:extLst>
          </p:cNvPr>
          <p:cNvSpPr>
            <a:spLocks noChangeArrowheads="1"/>
          </p:cNvSpPr>
          <p:nvPr>
            <p:custDataLst>
              <p:tags r:id="rId5"/>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 name="Rectangle 1">
            <a:extLst>
              <a:ext uri="{FF2B5EF4-FFF2-40B4-BE49-F238E27FC236}">
                <a16:creationId xmlns:a16="http://schemas.microsoft.com/office/drawing/2014/main" id="{5D7F0ACE-F755-4442-B41B-AD93CCC1ABBB}"/>
              </a:ext>
            </a:extLst>
          </p:cNvPr>
          <p:cNvSpPr>
            <a:spLocks noChangeArrowheads="1"/>
          </p:cNvSpPr>
          <p:nvPr/>
        </p:nvSpPr>
        <p:spPr bwMode="auto">
          <a:xfrm>
            <a:off x="5105400" y="4572000"/>
            <a:ext cx="762000" cy="457200"/>
          </a:xfrm>
          <a:prstGeom prst="rect">
            <a:avLst/>
          </a:prstGeom>
          <a:noFill/>
          <a:ln w="508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 name="Rectangle 9">
            <a:extLst>
              <a:ext uri="{FF2B5EF4-FFF2-40B4-BE49-F238E27FC236}">
                <a16:creationId xmlns:a16="http://schemas.microsoft.com/office/drawing/2014/main" id="{31FC509C-7322-B64A-BC3E-8959FE7676CD}"/>
              </a:ext>
            </a:extLst>
          </p:cNvPr>
          <p:cNvSpPr>
            <a:spLocks noChangeArrowheads="1"/>
          </p:cNvSpPr>
          <p:nvPr/>
        </p:nvSpPr>
        <p:spPr bwMode="auto">
          <a:xfrm>
            <a:off x="3735388" y="5029200"/>
            <a:ext cx="762000" cy="457200"/>
          </a:xfrm>
          <a:prstGeom prst="rect">
            <a:avLst/>
          </a:prstGeom>
          <a:noFill/>
          <a:ln w="508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 name="Rectangle 11">
            <a:extLst>
              <a:ext uri="{FF2B5EF4-FFF2-40B4-BE49-F238E27FC236}">
                <a16:creationId xmlns:a16="http://schemas.microsoft.com/office/drawing/2014/main" id="{0ADC589A-CEA5-134C-82B4-77BB2926DD2D}"/>
              </a:ext>
            </a:extLst>
          </p:cNvPr>
          <p:cNvSpPr>
            <a:spLocks noChangeArrowheads="1"/>
          </p:cNvSpPr>
          <p:nvPr/>
        </p:nvSpPr>
        <p:spPr bwMode="auto">
          <a:xfrm>
            <a:off x="4497388" y="5599113"/>
            <a:ext cx="762000" cy="457200"/>
          </a:xfrm>
          <a:prstGeom prst="rect">
            <a:avLst/>
          </a:prstGeom>
          <a:noFill/>
          <a:ln w="508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 name="Rectangle 12">
            <a:extLst>
              <a:ext uri="{FF2B5EF4-FFF2-40B4-BE49-F238E27FC236}">
                <a16:creationId xmlns:a16="http://schemas.microsoft.com/office/drawing/2014/main" id="{0DACE61E-7BFA-D845-AB01-436B6DBE0C20}"/>
              </a:ext>
            </a:extLst>
          </p:cNvPr>
          <p:cNvSpPr>
            <a:spLocks noChangeArrowheads="1"/>
          </p:cNvSpPr>
          <p:nvPr/>
        </p:nvSpPr>
        <p:spPr bwMode="auto">
          <a:xfrm>
            <a:off x="5105400" y="6089650"/>
            <a:ext cx="762000" cy="457200"/>
          </a:xfrm>
          <a:prstGeom prst="rect">
            <a:avLst/>
          </a:prstGeom>
          <a:noFill/>
          <a:ln w="508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 name="TextBox 13">
            <a:extLst>
              <a:ext uri="{FF2B5EF4-FFF2-40B4-BE49-F238E27FC236}">
                <a16:creationId xmlns:a16="http://schemas.microsoft.com/office/drawing/2014/main" id="{A68A30DF-3AAA-2247-B2A3-E517E2F19658}"/>
              </a:ext>
            </a:extLst>
          </p:cNvPr>
          <p:cNvSpPr txBox="1"/>
          <p:nvPr/>
        </p:nvSpPr>
        <p:spPr>
          <a:xfrm>
            <a:off x="666750" y="2111047"/>
            <a:ext cx="7810500" cy="1015663"/>
          </a:xfrm>
          <a:prstGeom prst="rect">
            <a:avLst/>
          </a:prstGeom>
          <a:solidFill>
            <a:sysClr val="window" lastClr="FFFFFF"/>
          </a:solidFill>
          <a:ln w="25400" cap="flat" cmpd="sng" algn="ctr">
            <a:solidFill>
              <a:srgbClr val="FF0000"/>
            </a:solidFill>
            <a:prstDash val="solid"/>
          </a:ln>
          <a:effectLst/>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0" normalizeH="0" baseline="0" noProof="0" dirty="0">
                <a:ln>
                  <a:noFill/>
                </a:ln>
                <a:solidFill>
                  <a:srgbClr val="FF0000"/>
                </a:solidFill>
                <a:effectLst/>
                <a:uLnTx/>
                <a:uFillTx/>
                <a:latin typeface="Calibri"/>
                <a:ea typeface="ＭＳ Ｐゴシック" panose="020B0600070205080204" pitchFamily="34" charset="-128"/>
                <a:cs typeface="+mn-cs"/>
              </a:rPr>
              <a:t>Only if the pipeline handles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0" normalizeH="0" baseline="0" noProof="0" dirty="0">
                <a:ln>
                  <a:noFill/>
                </a:ln>
                <a:solidFill>
                  <a:srgbClr val="FF0000"/>
                </a:solidFill>
                <a:effectLst/>
                <a:uLnTx/>
                <a:uFillTx/>
                <a:latin typeface="Calibri"/>
                <a:ea typeface="ＭＳ Ｐゴシック" panose="020B0600070205080204" pitchFamily="34" charset="-128"/>
                <a:cs typeface="+mn-cs"/>
              </a:rPr>
              <a:t>data dependences incorrectly!</a:t>
            </a:r>
          </a:p>
        </p:txBody>
      </p:sp>
    </p:spTree>
    <p:extLst>
      <p:ext uri="{BB962C8B-B14F-4D97-AF65-F5344CB8AC3E}">
        <p14:creationId xmlns:p14="http://schemas.microsoft.com/office/powerpoint/2010/main" val="41248098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ntr" presetSubtype="0" fill="hold" grpId="1"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0" grpId="1" animBg="1"/>
      <p:bldP spid="12" grpId="0" animBg="1"/>
      <p:bldP spid="12" grpId="1"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436B271-5211-1E4C-838C-135BDBB68605}"/>
              </a:ext>
            </a:extLst>
          </p:cNvPr>
          <p:cNvSpPr>
            <a:spLocks noGrp="1" noChangeArrowheads="1"/>
          </p:cNvSpPr>
          <p:nvPr>
            <p:ph type="title"/>
          </p:nvPr>
        </p:nvSpPr>
        <p:spPr/>
        <p:txBody>
          <a:bodyPr/>
          <a:lstStyle/>
          <a:p>
            <a:r>
              <a:rPr lang="en-US" altLang="en-US">
                <a:ea typeface="ＭＳ Ｐゴシック" panose="020B0600070205080204" pitchFamily="34" charset="-128"/>
              </a:rPr>
              <a:t>How to Handle Data Dependences</a:t>
            </a:r>
          </a:p>
        </p:txBody>
      </p:sp>
      <p:sp>
        <p:nvSpPr>
          <p:cNvPr id="70658" name="Content Placeholder 2">
            <a:extLst>
              <a:ext uri="{FF2B5EF4-FFF2-40B4-BE49-F238E27FC236}">
                <a16:creationId xmlns:a16="http://schemas.microsoft.com/office/drawing/2014/main" id="{2787A909-6DE3-7047-91F4-259BF22510BF}"/>
              </a:ext>
            </a:extLst>
          </p:cNvPr>
          <p:cNvSpPr>
            <a:spLocks noGrp="1" noChangeArrowheads="1"/>
          </p:cNvSpPr>
          <p:nvPr>
            <p:ph idx="1"/>
          </p:nvPr>
        </p:nvSpPr>
        <p:spPr>
          <a:xfrm>
            <a:off x="228600" y="996950"/>
            <a:ext cx="8763000" cy="5194300"/>
          </a:xfrm>
        </p:spPr>
        <p:txBody>
          <a:bodyPr/>
          <a:lstStyle/>
          <a:p>
            <a:r>
              <a:rPr lang="en-US" altLang="en-US" b="1" dirty="0">
                <a:ea typeface="ＭＳ Ｐゴシック" panose="020B0600070205080204" pitchFamily="34" charset="-128"/>
              </a:rPr>
              <a:t>Anti and output dependences</a:t>
            </a:r>
          </a:p>
          <a:p>
            <a:pPr lvl="1"/>
            <a:r>
              <a:rPr lang="en-US" altLang="zh-CN" dirty="0">
                <a:ea typeface="ＭＳ Ｐゴシック" panose="020B0600070205080204" pitchFamily="34" charset="-128"/>
              </a:rPr>
              <a:t>They </a:t>
            </a:r>
            <a:r>
              <a:rPr lang="en-US" altLang="en-US" dirty="0">
                <a:ea typeface="ＭＳ Ｐゴシック" panose="020B0600070205080204" pitchFamily="34" charset="-128"/>
              </a:rPr>
              <a:t>are easier to handle. </a:t>
            </a:r>
          </a:p>
          <a:p>
            <a:pPr lvl="1"/>
            <a:r>
              <a:rPr lang="en-US" altLang="en-US" dirty="0">
                <a:ea typeface="ＭＳ Ｐゴシック" panose="020B0600070205080204" pitchFamily="34" charset="-128"/>
              </a:rPr>
              <a:t>Write to the destination only in last stage and in program order</a:t>
            </a:r>
          </a:p>
          <a:p>
            <a:endParaRPr lang="en-US" altLang="en-US" dirty="0">
              <a:ea typeface="ＭＳ Ｐゴシック" panose="020B0600070205080204" pitchFamily="34" charset="-128"/>
            </a:endParaRPr>
          </a:p>
          <a:p>
            <a:r>
              <a:rPr lang="en-US" altLang="zh-CN" b="1" dirty="0">
                <a:ea typeface="ＭＳ Ｐゴシック" panose="020B0600070205080204" pitchFamily="34" charset="-128"/>
              </a:rPr>
              <a:t>H</a:t>
            </a:r>
            <a:r>
              <a:rPr lang="en-US" altLang="en-US" b="1" dirty="0">
                <a:ea typeface="ＭＳ Ｐゴシック" panose="020B0600070205080204" pitchFamily="34" charset="-128"/>
              </a:rPr>
              <a:t>andling flow dependences</a:t>
            </a:r>
            <a:r>
              <a:rPr lang="en-US" altLang="en-US" dirty="0">
                <a:ea typeface="ＭＳ Ｐゴシック" panose="020B0600070205080204" pitchFamily="34" charset="-128"/>
              </a:rPr>
              <a:t>:</a:t>
            </a:r>
          </a:p>
          <a:p>
            <a:pPr lvl="1"/>
            <a:r>
              <a:rPr lang="en-US" altLang="en-US" dirty="0">
                <a:solidFill>
                  <a:srgbClr val="0432FF"/>
                </a:solidFill>
                <a:ea typeface="ＭＳ Ｐゴシック" panose="020B0600070205080204" pitchFamily="34" charset="-128"/>
              </a:rPr>
              <a:t>Hardware Pipeline Stall: </a:t>
            </a:r>
          </a:p>
          <a:p>
            <a:pPr lvl="2"/>
            <a:r>
              <a:rPr lang="en-US" altLang="en-US" dirty="0">
                <a:ea typeface="ＭＳ Ｐゴシック" panose="020B0600070205080204" pitchFamily="34" charset="-128"/>
              </a:rPr>
              <a:t>Detect and wait until value is available in register file</a:t>
            </a:r>
          </a:p>
          <a:p>
            <a:pPr lvl="1"/>
            <a:r>
              <a:rPr lang="en-US" altLang="en-US" dirty="0">
                <a:solidFill>
                  <a:srgbClr val="0432FF"/>
                </a:solidFill>
                <a:ea typeface="ＭＳ Ｐゴシック" panose="020B0600070205080204" pitchFamily="34" charset="-128"/>
              </a:rPr>
              <a:t>Software Pipeline Stall: </a:t>
            </a:r>
          </a:p>
          <a:p>
            <a:pPr lvl="2"/>
            <a:r>
              <a:rPr lang="en-US" altLang="en-US" dirty="0">
                <a:ea typeface="ＭＳ Ｐゴシック" panose="020B0600070205080204" pitchFamily="34" charset="-128"/>
              </a:rPr>
              <a:t>Detect and eliminate the dependence at the software level</a:t>
            </a:r>
          </a:p>
          <a:p>
            <a:pPr lvl="2"/>
            <a:r>
              <a:rPr lang="en-US" altLang="en-US" dirty="0">
                <a:ea typeface="ＭＳ Ｐゴシック" panose="020B0600070205080204" pitchFamily="34" charset="-128"/>
              </a:rPr>
              <a:t>No need for the hardware to detect dependence</a:t>
            </a:r>
          </a:p>
          <a:p>
            <a:pPr lvl="1"/>
            <a:r>
              <a:rPr lang="en-US" altLang="en-US" dirty="0">
                <a:solidFill>
                  <a:srgbClr val="0432FF"/>
                </a:solidFill>
                <a:ea typeface="ＭＳ Ｐゴシック" panose="020B0600070205080204" pitchFamily="34" charset="-128"/>
              </a:rPr>
              <a:t>Data Forward/Bypass:</a:t>
            </a:r>
          </a:p>
          <a:p>
            <a:pPr lvl="2"/>
            <a:r>
              <a:rPr lang="en-US" altLang="en-US" dirty="0">
                <a:ea typeface="ＭＳ Ｐゴシック" panose="020B0600070205080204" pitchFamily="34" charset="-128"/>
              </a:rPr>
              <a:t>Detect and forward/bypass data to dependent instruction</a:t>
            </a:r>
          </a:p>
        </p:txBody>
      </p:sp>
      <p:sp>
        <p:nvSpPr>
          <p:cNvPr id="70659" name="Slide Number Placeholder 3">
            <a:extLst>
              <a:ext uri="{FF2B5EF4-FFF2-40B4-BE49-F238E27FC236}">
                <a16:creationId xmlns:a16="http://schemas.microsoft.com/office/drawing/2014/main" id="{E827CFEA-AD08-0C4A-AB91-EE9FBA7D6E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4988CC5-3D95-4C42-954E-4895214B8E54}" type="slidenum">
              <a:rPr lang="en-US" altLang="en-US" sz="1600" smtClean="0">
                <a:solidFill>
                  <a:srgbClr val="000000"/>
                </a:solidFill>
                <a:latin typeface="Garamond" panose="02020404030301010803" pitchFamily="18" charset="0"/>
              </a:rPr>
              <a:pPr>
                <a:spcBef>
                  <a:spcPct val="0"/>
                </a:spcBef>
                <a:buClrTx/>
                <a:buSzTx/>
                <a:buFontTx/>
                <a:buNone/>
              </a:pPr>
              <a:t>23</a:t>
            </a:fld>
            <a:endParaRPr lang="en-US" altLang="en-US" sz="1600">
              <a:solidFill>
                <a:srgbClr val="000000"/>
              </a:solidFill>
              <a:latin typeface="Garamond" panose="02020404030301010803" pitchFamily="18" charset="0"/>
            </a:endParaRPr>
          </a:p>
        </p:txBody>
      </p:sp>
      <p:sp>
        <p:nvSpPr>
          <p:cNvPr id="5" name="Rectangle 4">
            <a:extLst>
              <a:ext uri="{FF2B5EF4-FFF2-40B4-BE49-F238E27FC236}">
                <a16:creationId xmlns:a16="http://schemas.microsoft.com/office/drawing/2014/main" id="{77C4413E-F6F7-274E-A9BE-CA1A2F60CB59}"/>
              </a:ext>
            </a:extLst>
          </p:cNvPr>
          <p:cNvSpPr>
            <a:spLocks noChangeArrowheads="1"/>
          </p:cNvSpPr>
          <p:nvPr/>
        </p:nvSpPr>
        <p:spPr bwMode="auto">
          <a:xfrm>
            <a:off x="533400" y="2743200"/>
            <a:ext cx="6858000" cy="7620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endParaRPr lang="en-US" altLang="en-US" sz="1800">
              <a:solidFill>
                <a:srgbClr val="FFFFFF"/>
              </a:solidFill>
              <a:latin typeface="Tahoma" charset="0"/>
            </a:endParaRPr>
          </a:p>
        </p:txBody>
      </p:sp>
    </p:spTree>
    <p:extLst>
      <p:ext uri="{BB962C8B-B14F-4D97-AF65-F5344CB8AC3E}">
        <p14:creationId xmlns:p14="http://schemas.microsoft.com/office/powerpoint/2010/main" val="70891982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436B271-5211-1E4C-838C-135BDBB68605}"/>
              </a:ext>
            </a:extLst>
          </p:cNvPr>
          <p:cNvSpPr>
            <a:spLocks noGrp="1" noChangeArrowheads="1"/>
          </p:cNvSpPr>
          <p:nvPr>
            <p:ph type="title"/>
          </p:nvPr>
        </p:nvSpPr>
        <p:spPr/>
        <p:txBody>
          <a:bodyPr/>
          <a:lstStyle/>
          <a:p>
            <a:r>
              <a:rPr lang="en-US" altLang="en-US" sz="3600" dirty="0">
                <a:ea typeface="ＭＳ Ｐゴシック" panose="020B0600070205080204" pitchFamily="34" charset="-128"/>
              </a:rPr>
              <a:t>Hardware Pipeline Stall for Flow Dependency</a:t>
            </a:r>
          </a:p>
        </p:txBody>
      </p:sp>
      <p:sp>
        <p:nvSpPr>
          <p:cNvPr id="70658" name="Content Placeholder 2">
            <a:extLst>
              <a:ext uri="{FF2B5EF4-FFF2-40B4-BE49-F238E27FC236}">
                <a16:creationId xmlns:a16="http://schemas.microsoft.com/office/drawing/2014/main" id="{2787A909-6DE3-7047-91F4-259BF22510BF}"/>
              </a:ext>
            </a:extLst>
          </p:cNvPr>
          <p:cNvSpPr>
            <a:spLocks noGrp="1" noChangeArrowheads="1"/>
          </p:cNvSpPr>
          <p:nvPr>
            <p:ph idx="1"/>
          </p:nvPr>
        </p:nvSpPr>
        <p:spPr>
          <a:xfrm>
            <a:off x="228600" y="996950"/>
            <a:ext cx="8534400" cy="5194300"/>
          </a:xfrm>
        </p:spPr>
        <p:txBody>
          <a:bodyPr/>
          <a:lstStyle/>
          <a:p>
            <a:r>
              <a:rPr lang="en-US" altLang="en-US" dirty="0">
                <a:ea typeface="ＭＳ Ｐゴシック" panose="020B0600070205080204" pitchFamily="34" charset="-128"/>
              </a:rPr>
              <a:t>The simplest way to "fix" flow dependency is to stall the pipeline. </a:t>
            </a:r>
          </a:p>
          <a:p>
            <a:endParaRPr lang="en-US" altLang="en-US" dirty="0">
              <a:ea typeface="ＭＳ Ｐゴシック" panose="020B0600070205080204" pitchFamily="34" charset="-128"/>
            </a:endParaRPr>
          </a:p>
          <a:p>
            <a:r>
              <a:rPr lang="en-US" altLang="en-US" b="1" dirty="0">
                <a:ea typeface="ＭＳ Ｐゴシック" panose="020B0600070205080204" pitchFamily="34" charset="-128"/>
              </a:rPr>
              <a:t>A pipeline stall, </a:t>
            </a:r>
            <a:r>
              <a:rPr lang="en-US" altLang="en-US" dirty="0">
                <a:ea typeface="ＭＳ Ｐゴシック" panose="020B0600070205080204" pitchFamily="34" charset="-128"/>
              </a:rPr>
              <a:t>called a pipeline bubble or simply bubble.</a:t>
            </a:r>
          </a:p>
          <a:p>
            <a:endParaRPr lang="en-US" altLang="en-US" dirty="0">
              <a:ea typeface="ＭＳ Ｐゴシック" panose="020B0600070205080204" pitchFamily="34" charset="-128"/>
            </a:endParaRPr>
          </a:p>
          <a:p>
            <a:r>
              <a:rPr lang="en-US" altLang="zh-CN" dirty="0">
                <a:ea typeface="ＭＳ Ｐゴシック" panose="020B0600070205080204" pitchFamily="34" charset="-128"/>
              </a:rPr>
              <a:t>What does a </a:t>
            </a:r>
            <a:r>
              <a:rPr lang="en-US" altLang="en-US" dirty="0">
                <a:ea typeface="ＭＳ Ｐゴシック" panose="020B0600070205080204" pitchFamily="34" charset="-128"/>
              </a:rPr>
              <a:t>pipeline stall do to: </a:t>
            </a:r>
          </a:p>
          <a:p>
            <a:pPr lvl="1"/>
            <a:r>
              <a:rPr lang="en-US" altLang="en-US" b="1" dirty="0">
                <a:ea typeface="ＭＳ Ｐゴシック" panose="020B0600070205080204" pitchFamily="34" charset="-128"/>
              </a:rPr>
              <a:t>Previous instructions</a:t>
            </a:r>
            <a:r>
              <a:rPr lang="en-US" altLang="en-US" dirty="0">
                <a:ea typeface="ＭＳ Ｐゴシック" panose="020B0600070205080204" pitchFamily="34" charset="-128"/>
              </a:rPr>
              <a:t>: go on proceeding in the pipeline. </a:t>
            </a:r>
          </a:p>
          <a:p>
            <a:pPr lvl="1"/>
            <a:r>
              <a:rPr lang="en-US" altLang="en-US" b="1" dirty="0">
                <a:ea typeface="ＭＳ Ｐゴシック" panose="020B0600070205080204" pitchFamily="34" charset="-128"/>
              </a:rPr>
              <a:t>Following instructions</a:t>
            </a:r>
            <a:r>
              <a:rPr lang="en-US" altLang="en-US" dirty="0">
                <a:ea typeface="ＭＳ Ｐゴシック" panose="020B0600070205080204" pitchFamily="34" charset="-128"/>
              </a:rPr>
              <a:t>: stalled in the pipeline by one or more clock cycles until the waiting register is ready.</a:t>
            </a:r>
          </a:p>
          <a:p>
            <a:pPr lvl="1"/>
            <a:r>
              <a:rPr lang="en-US" altLang="en-US" b="1" dirty="0">
                <a:ea typeface="ＭＳ Ｐゴシック" panose="020B0600070205080204" pitchFamily="34" charset="-128"/>
              </a:rPr>
              <a:t>New instructions</a:t>
            </a:r>
            <a:r>
              <a:rPr lang="en-US" altLang="en-US" dirty="0">
                <a:ea typeface="ＭＳ Ｐゴシック" panose="020B0600070205080204" pitchFamily="34" charset="-128"/>
              </a:rPr>
              <a:t>: Not fetched during a pipeline stall. </a:t>
            </a:r>
          </a:p>
          <a:p>
            <a:pPr marL="0" indent="0">
              <a:buNone/>
            </a:pPr>
            <a:endParaRPr lang="en-US" altLang="en-US" dirty="0">
              <a:ea typeface="ＭＳ Ｐゴシック" panose="020B0600070205080204" pitchFamily="34" charset="-128"/>
            </a:endParaRPr>
          </a:p>
        </p:txBody>
      </p:sp>
      <p:sp>
        <p:nvSpPr>
          <p:cNvPr id="70659" name="Slide Number Placeholder 3">
            <a:extLst>
              <a:ext uri="{FF2B5EF4-FFF2-40B4-BE49-F238E27FC236}">
                <a16:creationId xmlns:a16="http://schemas.microsoft.com/office/drawing/2014/main" id="{E827CFEA-AD08-0C4A-AB91-EE9FBA7D6E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4988CC5-3D95-4C42-954E-4895214B8E54}" type="slidenum">
              <a:rPr lang="en-US" altLang="en-US" sz="1600" smtClean="0">
                <a:solidFill>
                  <a:srgbClr val="000000"/>
                </a:solidFill>
                <a:latin typeface="Garamond" panose="02020404030301010803" pitchFamily="18" charset="0"/>
              </a:rPr>
              <a:pPr>
                <a:spcBef>
                  <a:spcPct val="0"/>
                </a:spcBef>
                <a:buClrTx/>
                <a:buSzTx/>
                <a:buFontTx/>
                <a:buNone/>
              </a:pPr>
              <a:t>24</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3944205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5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065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2E6C9DF8-0F2A-5141-B61D-2E73969ACDAF}"/>
              </a:ext>
            </a:extLst>
          </p:cNvPr>
          <p:cNvSpPr>
            <a:spLocks noGrp="1" noChangeArrowheads="1"/>
          </p:cNvSpPr>
          <p:nvPr>
            <p:ph type="title"/>
          </p:nvPr>
        </p:nvSpPr>
        <p:spPr/>
        <p:txBody>
          <a:bodyPr/>
          <a:lstStyle/>
          <a:p>
            <a:r>
              <a:rPr lang="en-US" altLang="en-US" dirty="0">
                <a:ea typeface="ＭＳ Ｐゴシック" panose="020B0600070205080204" pitchFamily="34" charset="-128"/>
              </a:rPr>
              <a:t>Hardware Pipeline Stall: An Example</a:t>
            </a:r>
          </a:p>
        </p:txBody>
      </p:sp>
      <p:sp>
        <p:nvSpPr>
          <p:cNvPr id="58370" name="Content Placeholder 2">
            <a:extLst>
              <a:ext uri="{FF2B5EF4-FFF2-40B4-BE49-F238E27FC236}">
                <a16:creationId xmlns:a16="http://schemas.microsoft.com/office/drawing/2014/main" id="{FADA69AC-D258-044B-9B3D-90905BA5C83A}"/>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Issue</a:t>
            </a:r>
            <a:r>
              <a:rPr lang="en-US" altLang="en-US" dirty="0">
                <a:ea typeface="ＭＳ Ｐゴシック" panose="020B0600070205080204" pitchFamily="34" charset="-128"/>
              </a:rPr>
              <a:t>: dependency regarding register </a:t>
            </a:r>
            <a:r>
              <a:rPr lang="en-US" altLang="en-US" dirty="0">
                <a:solidFill>
                  <a:srgbClr val="FF0000"/>
                </a:solidFill>
                <a:ea typeface="ＭＳ Ｐゴシック" panose="020B0600070205080204" pitchFamily="34" charset="-128"/>
              </a:rPr>
              <a:t>ra</a:t>
            </a:r>
          </a:p>
          <a:p>
            <a:r>
              <a:rPr lang="en-US" altLang="en-US" b="1" dirty="0">
                <a:ea typeface="ＭＳ Ｐゴシック" panose="020B0600070205080204" pitchFamily="34" charset="-128"/>
              </a:rPr>
              <a:t>Solution</a:t>
            </a:r>
            <a:r>
              <a:rPr lang="en-US" altLang="en-US" dirty="0">
                <a:ea typeface="ＭＳ Ｐゴシック" panose="020B0600070205080204" pitchFamily="34" charset="-128"/>
              </a:rPr>
              <a:t>: </a:t>
            </a:r>
            <a:r>
              <a:rPr lang="en-US" altLang="en-US" dirty="0">
                <a:solidFill>
                  <a:srgbClr val="0432FF"/>
                </a:solidFill>
                <a:ea typeface="ＭＳ Ｐゴシック" panose="020B0600070205080204" pitchFamily="34" charset="-128"/>
              </a:rPr>
              <a:t>hardware pipeline</a:t>
            </a:r>
            <a:r>
              <a:rPr lang="en-US" altLang="en-US" dirty="0">
                <a:ea typeface="ＭＳ Ｐゴシック" panose="020B0600070205080204" pitchFamily="34" charset="-128"/>
              </a:rPr>
              <a:t> stalls the second </a:t>
            </a:r>
            <a:r>
              <a:rPr lang="en-US" altLang="en-US" dirty="0" err="1">
                <a:ea typeface="ＭＳ Ｐゴシック" panose="020B0600070205080204" pitchFamily="34" charset="-128"/>
              </a:rPr>
              <a:t>insn</a:t>
            </a:r>
            <a:r>
              <a:rPr lang="en-US" altLang="en-US" dirty="0">
                <a:ea typeface="ＭＳ Ｐゴシック" panose="020B0600070205080204" pitchFamily="34" charset="-128"/>
              </a:rPr>
              <a:t> until the first </a:t>
            </a:r>
            <a:r>
              <a:rPr lang="en-US" altLang="en-US" dirty="0" err="1">
                <a:ea typeface="ＭＳ Ｐゴシック" panose="020B0600070205080204" pitchFamily="34" charset="-128"/>
              </a:rPr>
              <a:t>insn</a:t>
            </a:r>
            <a:r>
              <a:rPr lang="en-US" altLang="en-US" dirty="0">
                <a:ea typeface="ＭＳ Ｐゴシック" panose="020B0600070205080204" pitchFamily="34" charset="-128"/>
              </a:rPr>
              <a:t>. writes the latest value of </a:t>
            </a:r>
            <a:r>
              <a:rPr lang="en-US" altLang="en-US" dirty="0">
                <a:solidFill>
                  <a:srgbClr val="FF0000"/>
                </a:solidFill>
                <a:ea typeface="ＭＳ Ｐゴシック" panose="020B0600070205080204" pitchFamily="34" charset="-128"/>
              </a:rPr>
              <a:t>ra</a:t>
            </a:r>
            <a:r>
              <a:rPr lang="en-US" altLang="en-US" dirty="0">
                <a:ea typeface="ＭＳ Ｐゴシック" panose="020B0600070205080204" pitchFamily="34" charset="-128"/>
              </a:rPr>
              <a:t> back. </a:t>
            </a:r>
          </a:p>
        </p:txBody>
      </p:sp>
      <p:sp>
        <p:nvSpPr>
          <p:cNvPr id="58371" name="Slide Number Placeholder 3">
            <a:extLst>
              <a:ext uri="{FF2B5EF4-FFF2-40B4-BE49-F238E27FC236}">
                <a16:creationId xmlns:a16="http://schemas.microsoft.com/office/drawing/2014/main" id="{EE93328C-EB65-3841-B751-D8E5AD1081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346A5FE-DCB0-9244-BA0E-653D2C2C79E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47" name="Rectangle 4">
            <a:extLst>
              <a:ext uri="{FF2B5EF4-FFF2-40B4-BE49-F238E27FC236}">
                <a16:creationId xmlns:a16="http://schemas.microsoft.com/office/drawing/2014/main" id="{DA8DFB16-C596-9A40-B886-4319D27CCE3F}"/>
              </a:ext>
            </a:extLst>
          </p:cNvPr>
          <p:cNvSpPr>
            <a:spLocks noChangeArrowheads="1"/>
          </p:cNvSpPr>
          <p:nvPr/>
        </p:nvSpPr>
        <p:spPr bwMode="auto">
          <a:xfrm>
            <a:off x="6400800" y="33528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MEM</a:t>
            </a:r>
          </a:p>
        </p:txBody>
      </p:sp>
      <p:sp>
        <p:nvSpPr>
          <p:cNvPr id="48" name="Rectangle 5">
            <a:extLst>
              <a:ext uri="{FF2B5EF4-FFF2-40B4-BE49-F238E27FC236}">
                <a16:creationId xmlns:a16="http://schemas.microsoft.com/office/drawing/2014/main" id="{5BBB6249-4A26-8B45-84A9-2B15B194FBE6}"/>
              </a:ext>
            </a:extLst>
          </p:cNvPr>
          <p:cNvSpPr>
            <a:spLocks noChangeArrowheads="1"/>
          </p:cNvSpPr>
          <p:nvPr/>
        </p:nvSpPr>
        <p:spPr bwMode="auto">
          <a:xfrm>
            <a:off x="6400800" y="27432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WB</a:t>
            </a:r>
          </a:p>
        </p:txBody>
      </p:sp>
      <p:sp>
        <p:nvSpPr>
          <p:cNvPr id="49" name="Rectangle 6">
            <a:extLst>
              <a:ext uri="{FF2B5EF4-FFF2-40B4-BE49-F238E27FC236}">
                <a16:creationId xmlns:a16="http://schemas.microsoft.com/office/drawing/2014/main" id="{4277520C-7349-3E4F-AF98-49FA7D3376AB}"/>
              </a:ext>
            </a:extLst>
          </p:cNvPr>
          <p:cNvSpPr>
            <a:spLocks noChangeArrowheads="1"/>
          </p:cNvSpPr>
          <p:nvPr/>
        </p:nvSpPr>
        <p:spPr bwMode="auto">
          <a:xfrm>
            <a:off x="2438400" y="27432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IF</a:t>
            </a:r>
          </a:p>
        </p:txBody>
      </p:sp>
      <p:sp>
        <p:nvSpPr>
          <p:cNvPr id="50" name="Rectangle 7">
            <a:extLst>
              <a:ext uri="{FF2B5EF4-FFF2-40B4-BE49-F238E27FC236}">
                <a16:creationId xmlns:a16="http://schemas.microsoft.com/office/drawing/2014/main" id="{BF85CBC1-E8F6-B143-A7CE-52315226F382}"/>
              </a:ext>
            </a:extLst>
          </p:cNvPr>
          <p:cNvSpPr>
            <a:spLocks noChangeArrowheads="1"/>
          </p:cNvSpPr>
          <p:nvPr/>
        </p:nvSpPr>
        <p:spPr bwMode="auto">
          <a:xfrm>
            <a:off x="3429000" y="27432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ID</a:t>
            </a:r>
          </a:p>
        </p:txBody>
      </p:sp>
      <p:sp>
        <p:nvSpPr>
          <p:cNvPr id="51" name="Rectangle 8">
            <a:extLst>
              <a:ext uri="{FF2B5EF4-FFF2-40B4-BE49-F238E27FC236}">
                <a16:creationId xmlns:a16="http://schemas.microsoft.com/office/drawing/2014/main" id="{BC11DDA5-4CCE-F140-9C0C-848B89D9F606}"/>
              </a:ext>
            </a:extLst>
          </p:cNvPr>
          <p:cNvSpPr>
            <a:spLocks noChangeArrowheads="1"/>
          </p:cNvSpPr>
          <p:nvPr/>
        </p:nvSpPr>
        <p:spPr bwMode="auto">
          <a:xfrm>
            <a:off x="3429000" y="33528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IF</a:t>
            </a:r>
          </a:p>
        </p:txBody>
      </p:sp>
      <p:sp>
        <p:nvSpPr>
          <p:cNvPr id="52" name="Rectangle 9">
            <a:extLst>
              <a:ext uri="{FF2B5EF4-FFF2-40B4-BE49-F238E27FC236}">
                <a16:creationId xmlns:a16="http://schemas.microsoft.com/office/drawing/2014/main" id="{443F1666-13BD-7741-A0A0-18ABC0BD0583}"/>
              </a:ext>
            </a:extLst>
          </p:cNvPr>
          <p:cNvSpPr>
            <a:spLocks noChangeArrowheads="1"/>
          </p:cNvSpPr>
          <p:nvPr/>
        </p:nvSpPr>
        <p:spPr bwMode="auto">
          <a:xfrm>
            <a:off x="4419600" y="27432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EX</a:t>
            </a:r>
          </a:p>
        </p:txBody>
      </p:sp>
      <p:sp>
        <p:nvSpPr>
          <p:cNvPr id="53" name="Rectangle 10">
            <a:extLst>
              <a:ext uri="{FF2B5EF4-FFF2-40B4-BE49-F238E27FC236}">
                <a16:creationId xmlns:a16="http://schemas.microsoft.com/office/drawing/2014/main" id="{82BA2F4F-9337-6846-AD1B-3A8459CC4325}"/>
              </a:ext>
            </a:extLst>
          </p:cNvPr>
          <p:cNvSpPr>
            <a:spLocks noChangeArrowheads="1"/>
          </p:cNvSpPr>
          <p:nvPr/>
        </p:nvSpPr>
        <p:spPr bwMode="auto">
          <a:xfrm>
            <a:off x="4419600" y="33528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ID</a:t>
            </a:r>
          </a:p>
        </p:txBody>
      </p:sp>
      <p:sp>
        <p:nvSpPr>
          <p:cNvPr id="54" name="Rectangle 11">
            <a:extLst>
              <a:ext uri="{FF2B5EF4-FFF2-40B4-BE49-F238E27FC236}">
                <a16:creationId xmlns:a16="http://schemas.microsoft.com/office/drawing/2014/main" id="{41E9C630-6019-E84A-913D-7886E80C2E96}"/>
              </a:ext>
            </a:extLst>
          </p:cNvPr>
          <p:cNvSpPr>
            <a:spLocks noChangeArrowheads="1"/>
          </p:cNvSpPr>
          <p:nvPr/>
        </p:nvSpPr>
        <p:spPr bwMode="auto">
          <a:xfrm>
            <a:off x="5410200" y="27432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MEM</a:t>
            </a:r>
          </a:p>
        </p:txBody>
      </p:sp>
      <p:sp>
        <p:nvSpPr>
          <p:cNvPr id="55" name="Rectangle 12">
            <a:extLst>
              <a:ext uri="{FF2B5EF4-FFF2-40B4-BE49-F238E27FC236}">
                <a16:creationId xmlns:a16="http://schemas.microsoft.com/office/drawing/2014/main" id="{563E9F8D-A380-684D-9DFF-62A20F064643}"/>
              </a:ext>
            </a:extLst>
          </p:cNvPr>
          <p:cNvSpPr>
            <a:spLocks noChangeArrowheads="1"/>
          </p:cNvSpPr>
          <p:nvPr/>
        </p:nvSpPr>
        <p:spPr bwMode="auto">
          <a:xfrm>
            <a:off x="5410200" y="33528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EX</a:t>
            </a:r>
          </a:p>
        </p:txBody>
      </p:sp>
      <p:sp>
        <p:nvSpPr>
          <p:cNvPr id="56" name="Rectangle 13">
            <a:extLst>
              <a:ext uri="{FF2B5EF4-FFF2-40B4-BE49-F238E27FC236}">
                <a16:creationId xmlns:a16="http://schemas.microsoft.com/office/drawing/2014/main" id="{453279C4-AD66-AD4C-BC63-9D5CFBBF4CC4}"/>
              </a:ext>
            </a:extLst>
          </p:cNvPr>
          <p:cNvSpPr>
            <a:spLocks noChangeArrowheads="1"/>
          </p:cNvSpPr>
          <p:nvPr/>
        </p:nvSpPr>
        <p:spPr bwMode="auto">
          <a:xfrm>
            <a:off x="7391400" y="33528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WB</a:t>
            </a:r>
          </a:p>
        </p:txBody>
      </p:sp>
      <p:sp>
        <p:nvSpPr>
          <p:cNvPr id="57" name="Rectangle 14">
            <a:extLst>
              <a:ext uri="{FF2B5EF4-FFF2-40B4-BE49-F238E27FC236}">
                <a16:creationId xmlns:a16="http://schemas.microsoft.com/office/drawing/2014/main" id="{AD9DDEEF-E435-134E-890F-88CCF6F37B86}"/>
              </a:ext>
            </a:extLst>
          </p:cNvPr>
          <p:cNvSpPr>
            <a:spLocks noChangeArrowheads="1"/>
          </p:cNvSpPr>
          <p:nvPr/>
        </p:nvSpPr>
        <p:spPr bwMode="auto">
          <a:xfrm>
            <a:off x="304800" y="2667000"/>
            <a:ext cx="2286000" cy="830263"/>
          </a:xfrm>
          <a:prstGeom prst="rect">
            <a:avLst/>
          </a:prstGeom>
          <a:noFill/>
          <a:ln>
            <a:noFill/>
          </a:ln>
          <a:extLst>
            <a:ext uri="{909E8E84-426E-40dd-AFC4-6F175D3DCCD1}"/>
            <a:ext uri="{91240B29-F687-4f45-9708-019B960494DF}"/>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Calibri" charset="0"/>
                <a:ea typeface="ＭＳ Ｐゴシック" charset="0"/>
                <a:cs typeface="ＭＳ Ｐゴシック" charset="0"/>
              </a:rPr>
              <a:t>addi	ra r- -		</a:t>
            </a:r>
          </a:p>
        </p:txBody>
      </p:sp>
      <p:sp>
        <p:nvSpPr>
          <p:cNvPr id="58" name="Rectangle 15">
            <a:extLst>
              <a:ext uri="{FF2B5EF4-FFF2-40B4-BE49-F238E27FC236}">
                <a16:creationId xmlns:a16="http://schemas.microsoft.com/office/drawing/2014/main" id="{A258F43D-9339-3342-868E-D359346ACF78}"/>
              </a:ext>
            </a:extLst>
          </p:cNvPr>
          <p:cNvSpPr>
            <a:spLocks noChangeArrowheads="1"/>
          </p:cNvSpPr>
          <p:nvPr/>
        </p:nvSpPr>
        <p:spPr bwMode="auto">
          <a:xfrm>
            <a:off x="304800" y="3359150"/>
            <a:ext cx="2031325" cy="369332"/>
          </a:xfrm>
          <a:prstGeom prst="rect">
            <a:avLst/>
          </a:prstGeom>
          <a:noFill/>
          <a:ln>
            <a:noFill/>
          </a:ln>
          <a:extLst>
            <a:ext uri="{909E8E84-426E-40dd-AFC4-6F175D3DCCD1}"/>
            <a:ext uri="{91240B29-F687-4f45-9708-019B960494DF}"/>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0" dirty="0">
                <a:solidFill>
                  <a:srgbClr val="000000"/>
                </a:solidFill>
                <a:latin typeface="Calibri" charset="0"/>
                <a:ea typeface="ＭＳ Ｐゴシック" charset="0"/>
                <a:cs typeface="ＭＳ Ｐゴシック" charset="0"/>
              </a:rPr>
              <a:t>sub</a:t>
            </a:r>
            <a:r>
              <a:rPr kumimoji="0" lang="en-US" sz="1800" b="0" i="0" u="none" strike="noStrike" kern="0" cap="none" spc="0" normalizeH="0" baseline="0" noProof="0" dirty="0" err="1">
                <a:ln>
                  <a:noFill/>
                </a:ln>
                <a:solidFill>
                  <a:srgbClr val="000000"/>
                </a:solidFill>
                <a:effectLst/>
                <a:uLnTx/>
                <a:uFillTx/>
                <a:latin typeface="Calibri" charset="0"/>
                <a:ea typeface="ＭＳ Ｐゴシック" charset="0"/>
                <a:cs typeface="ＭＳ Ｐゴシック" charset="0"/>
              </a:rPr>
              <a:t>i</a:t>
            </a:r>
            <a:r>
              <a:rPr kumimoji="0" lang="en-US" sz="1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 ra -	</a:t>
            </a:r>
          </a:p>
        </p:txBody>
      </p:sp>
      <p:sp>
        <p:nvSpPr>
          <p:cNvPr id="59" name="Line 16">
            <a:extLst>
              <a:ext uri="{FF2B5EF4-FFF2-40B4-BE49-F238E27FC236}">
                <a16:creationId xmlns:a16="http://schemas.microsoft.com/office/drawing/2014/main" id="{D6AF2376-83EA-274F-8B2E-07C1CC430E84}"/>
              </a:ext>
            </a:extLst>
          </p:cNvPr>
          <p:cNvSpPr>
            <a:spLocks noChangeShapeType="1"/>
          </p:cNvSpPr>
          <p:nvPr/>
        </p:nvSpPr>
        <p:spPr bwMode="auto">
          <a:xfrm>
            <a:off x="1447800" y="2971800"/>
            <a:ext cx="304800" cy="533400"/>
          </a:xfrm>
          <a:prstGeom prst="line">
            <a:avLst/>
          </a:prstGeom>
          <a:noFill/>
          <a:ln w="38100">
            <a:solidFill>
              <a:srgbClr val="063DE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60" name="Rectangle 17">
            <a:extLst>
              <a:ext uri="{FF2B5EF4-FFF2-40B4-BE49-F238E27FC236}">
                <a16:creationId xmlns:a16="http://schemas.microsoft.com/office/drawing/2014/main" id="{8A1055BB-0C3D-9847-A529-FBC925B83A25}"/>
              </a:ext>
            </a:extLst>
          </p:cNvPr>
          <p:cNvSpPr>
            <a:spLocks noChangeArrowheads="1"/>
          </p:cNvSpPr>
          <p:nvPr/>
        </p:nvSpPr>
        <p:spPr bwMode="auto">
          <a:xfrm>
            <a:off x="7391400" y="39624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MEM</a:t>
            </a:r>
          </a:p>
        </p:txBody>
      </p:sp>
      <p:sp>
        <p:nvSpPr>
          <p:cNvPr id="61" name="Rectangle 18">
            <a:extLst>
              <a:ext uri="{FF2B5EF4-FFF2-40B4-BE49-F238E27FC236}">
                <a16:creationId xmlns:a16="http://schemas.microsoft.com/office/drawing/2014/main" id="{EEFAD1A5-D96D-EE4D-A5D3-E5882B077558}"/>
              </a:ext>
            </a:extLst>
          </p:cNvPr>
          <p:cNvSpPr>
            <a:spLocks noChangeArrowheads="1"/>
          </p:cNvSpPr>
          <p:nvPr/>
        </p:nvSpPr>
        <p:spPr bwMode="auto">
          <a:xfrm>
            <a:off x="4419600" y="39624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IF</a:t>
            </a:r>
          </a:p>
        </p:txBody>
      </p:sp>
      <p:sp>
        <p:nvSpPr>
          <p:cNvPr id="62" name="Rectangle 19">
            <a:extLst>
              <a:ext uri="{FF2B5EF4-FFF2-40B4-BE49-F238E27FC236}">
                <a16:creationId xmlns:a16="http://schemas.microsoft.com/office/drawing/2014/main" id="{36E76489-1330-FA46-906A-C5B8B7E89843}"/>
              </a:ext>
            </a:extLst>
          </p:cNvPr>
          <p:cNvSpPr>
            <a:spLocks noChangeArrowheads="1"/>
          </p:cNvSpPr>
          <p:nvPr/>
        </p:nvSpPr>
        <p:spPr bwMode="auto">
          <a:xfrm>
            <a:off x="5410200" y="39624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ID</a:t>
            </a:r>
          </a:p>
        </p:txBody>
      </p:sp>
      <p:sp>
        <p:nvSpPr>
          <p:cNvPr id="63" name="Rectangle 20">
            <a:extLst>
              <a:ext uri="{FF2B5EF4-FFF2-40B4-BE49-F238E27FC236}">
                <a16:creationId xmlns:a16="http://schemas.microsoft.com/office/drawing/2014/main" id="{6FD106BA-4505-624C-B752-D3A3BA0FE1AE}"/>
              </a:ext>
            </a:extLst>
          </p:cNvPr>
          <p:cNvSpPr>
            <a:spLocks noChangeArrowheads="1"/>
          </p:cNvSpPr>
          <p:nvPr/>
        </p:nvSpPr>
        <p:spPr bwMode="auto">
          <a:xfrm>
            <a:off x="6400800" y="39624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EX</a:t>
            </a:r>
          </a:p>
        </p:txBody>
      </p:sp>
      <p:sp>
        <p:nvSpPr>
          <p:cNvPr id="64" name="Rectangle 21">
            <a:extLst>
              <a:ext uri="{FF2B5EF4-FFF2-40B4-BE49-F238E27FC236}">
                <a16:creationId xmlns:a16="http://schemas.microsoft.com/office/drawing/2014/main" id="{0CFB82DD-389F-B640-BDAE-22A2F3458472}"/>
              </a:ext>
            </a:extLst>
          </p:cNvPr>
          <p:cNvSpPr>
            <a:spLocks noChangeArrowheads="1"/>
          </p:cNvSpPr>
          <p:nvPr/>
        </p:nvSpPr>
        <p:spPr bwMode="auto">
          <a:xfrm>
            <a:off x="5410200" y="45720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IF</a:t>
            </a:r>
          </a:p>
        </p:txBody>
      </p:sp>
      <p:sp>
        <p:nvSpPr>
          <p:cNvPr id="65" name="Rectangle 22">
            <a:extLst>
              <a:ext uri="{FF2B5EF4-FFF2-40B4-BE49-F238E27FC236}">
                <a16:creationId xmlns:a16="http://schemas.microsoft.com/office/drawing/2014/main" id="{0D70EE28-826C-B341-A854-3865FEA9066A}"/>
              </a:ext>
            </a:extLst>
          </p:cNvPr>
          <p:cNvSpPr>
            <a:spLocks noChangeArrowheads="1"/>
          </p:cNvSpPr>
          <p:nvPr/>
        </p:nvSpPr>
        <p:spPr bwMode="auto">
          <a:xfrm>
            <a:off x="6400800" y="45720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ID</a:t>
            </a:r>
          </a:p>
        </p:txBody>
      </p:sp>
      <p:sp>
        <p:nvSpPr>
          <p:cNvPr id="66" name="Rectangle 23">
            <a:extLst>
              <a:ext uri="{FF2B5EF4-FFF2-40B4-BE49-F238E27FC236}">
                <a16:creationId xmlns:a16="http://schemas.microsoft.com/office/drawing/2014/main" id="{6A7F8E0C-D538-1448-85FC-A2414B3AEBCE}"/>
              </a:ext>
            </a:extLst>
          </p:cNvPr>
          <p:cNvSpPr>
            <a:spLocks noChangeArrowheads="1"/>
          </p:cNvSpPr>
          <p:nvPr/>
        </p:nvSpPr>
        <p:spPr bwMode="auto">
          <a:xfrm>
            <a:off x="7391400" y="45720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EX</a:t>
            </a:r>
          </a:p>
        </p:txBody>
      </p:sp>
      <p:sp>
        <p:nvSpPr>
          <p:cNvPr id="67" name="Rectangle 24">
            <a:extLst>
              <a:ext uri="{FF2B5EF4-FFF2-40B4-BE49-F238E27FC236}">
                <a16:creationId xmlns:a16="http://schemas.microsoft.com/office/drawing/2014/main" id="{23B9C521-F624-3D45-8E12-85EBD1E5404A}"/>
              </a:ext>
            </a:extLst>
          </p:cNvPr>
          <p:cNvSpPr>
            <a:spLocks noChangeArrowheads="1"/>
          </p:cNvSpPr>
          <p:nvPr/>
        </p:nvSpPr>
        <p:spPr bwMode="auto">
          <a:xfrm>
            <a:off x="6400800" y="51816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IF</a:t>
            </a:r>
          </a:p>
        </p:txBody>
      </p:sp>
      <p:sp>
        <p:nvSpPr>
          <p:cNvPr id="68" name="Rectangle 25">
            <a:extLst>
              <a:ext uri="{FF2B5EF4-FFF2-40B4-BE49-F238E27FC236}">
                <a16:creationId xmlns:a16="http://schemas.microsoft.com/office/drawing/2014/main" id="{CED1F8D4-589B-0743-BF98-BCCFD9D90FAA}"/>
              </a:ext>
            </a:extLst>
          </p:cNvPr>
          <p:cNvSpPr>
            <a:spLocks noChangeArrowheads="1"/>
          </p:cNvSpPr>
          <p:nvPr/>
        </p:nvSpPr>
        <p:spPr bwMode="auto">
          <a:xfrm>
            <a:off x="7391400" y="51816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ID</a:t>
            </a:r>
          </a:p>
        </p:txBody>
      </p:sp>
      <p:sp>
        <p:nvSpPr>
          <p:cNvPr id="69" name="Rectangle 26">
            <a:extLst>
              <a:ext uri="{FF2B5EF4-FFF2-40B4-BE49-F238E27FC236}">
                <a16:creationId xmlns:a16="http://schemas.microsoft.com/office/drawing/2014/main" id="{84AD2DFA-44FD-D640-A160-E393197DDBD1}"/>
              </a:ext>
            </a:extLst>
          </p:cNvPr>
          <p:cNvSpPr>
            <a:spLocks noChangeArrowheads="1"/>
          </p:cNvSpPr>
          <p:nvPr/>
        </p:nvSpPr>
        <p:spPr bwMode="auto">
          <a:xfrm>
            <a:off x="7391400" y="5791200"/>
            <a:ext cx="914400" cy="381000"/>
          </a:xfrm>
          <a:prstGeom prst="rect">
            <a:avLst/>
          </a:prstGeom>
          <a:solidFill>
            <a:srgbClr val="FFFFFF"/>
          </a:solidFill>
          <a:ln w="28575">
            <a:solidFill>
              <a:srgbClr val="000000"/>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a:noFill/>
                </a:ln>
                <a:solidFill>
                  <a:srgbClr val="919191"/>
                </a:solidFill>
                <a:effectLst/>
                <a:uLnTx/>
                <a:uFillTx/>
                <a:latin typeface="Calibri" charset="0"/>
                <a:ea typeface="ＭＳ Ｐゴシック" charset="0"/>
                <a:cs typeface="ＭＳ Ｐゴシック" charset="0"/>
              </a:rPr>
              <a:t>IF</a:t>
            </a:r>
          </a:p>
        </p:txBody>
      </p:sp>
      <p:sp>
        <p:nvSpPr>
          <p:cNvPr id="70" name="AutoShape 27">
            <a:extLst>
              <a:ext uri="{FF2B5EF4-FFF2-40B4-BE49-F238E27FC236}">
                <a16:creationId xmlns:a16="http://schemas.microsoft.com/office/drawing/2014/main" id="{2A8606B8-4166-EB4B-AADA-CE2F8CDE1715}"/>
              </a:ext>
            </a:extLst>
          </p:cNvPr>
          <p:cNvSpPr>
            <a:spLocks noChangeArrowheads="1"/>
          </p:cNvSpPr>
          <p:nvPr/>
        </p:nvSpPr>
        <p:spPr bwMode="auto">
          <a:xfrm>
            <a:off x="4267200" y="3352800"/>
            <a:ext cx="457200" cy="381000"/>
          </a:xfrm>
          <a:prstGeom prst="irregularSeal1">
            <a:avLst/>
          </a:prstGeom>
          <a:solidFill>
            <a:srgbClr val="FC0128"/>
          </a:solidFill>
          <a:ln>
            <a:noFill/>
          </a:ln>
          <a:extLst>
            <a:ext uri="{91240B29-F687-4f45-9708-019B960494DF}"/>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charset="0"/>
              <a:ea typeface="ＭＳ Ｐゴシック" charset="0"/>
              <a:cs typeface="ＭＳ Ｐゴシック" charset="0"/>
            </a:endParaRPr>
          </a:p>
        </p:txBody>
      </p:sp>
      <p:sp>
        <p:nvSpPr>
          <p:cNvPr id="71" name="Freeform 28">
            <a:extLst>
              <a:ext uri="{FF2B5EF4-FFF2-40B4-BE49-F238E27FC236}">
                <a16:creationId xmlns:a16="http://schemas.microsoft.com/office/drawing/2014/main" id="{3FF96371-BA8A-1542-BD9F-917976AE1777}"/>
              </a:ext>
            </a:extLst>
          </p:cNvPr>
          <p:cNvSpPr>
            <a:spLocks/>
          </p:cNvSpPr>
          <p:nvPr/>
        </p:nvSpPr>
        <p:spPr bwMode="auto">
          <a:xfrm>
            <a:off x="3732213" y="2941638"/>
            <a:ext cx="4592637" cy="612775"/>
          </a:xfrm>
          <a:custGeom>
            <a:avLst/>
            <a:gdLst>
              <a:gd name="T0" fmla="*/ 2147483647 w 2893"/>
              <a:gd name="T1" fmla="*/ 0 h 386"/>
              <a:gd name="T2" fmla="*/ 2147483647 w 2893"/>
              <a:gd name="T3" fmla="*/ 2147483647 h 386"/>
              <a:gd name="T4" fmla="*/ 2147483647 w 2893"/>
              <a:gd name="T5" fmla="*/ 2147483647 h 386"/>
              <a:gd name="T6" fmla="*/ 2147483647 w 2893"/>
              <a:gd name="T7" fmla="*/ 2147483647 h 386"/>
              <a:gd name="T8" fmla="*/ 0 60000 65536"/>
              <a:gd name="T9" fmla="*/ 0 60000 65536"/>
              <a:gd name="T10" fmla="*/ 0 60000 65536"/>
              <a:gd name="T11" fmla="*/ 0 60000 65536"/>
              <a:gd name="T12" fmla="*/ 0 w 2893"/>
              <a:gd name="T13" fmla="*/ 0 h 386"/>
              <a:gd name="T14" fmla="*/ 2893 w 2893"/>
              <a:gd name="T15" fmla="*/ 386 h 386"/>
            </a:gdLst>
            <a:ahLst/>
            <a:cxnLst>
              <a:cxn ang="T8">
                <a:pos x="T0" y="T1"/>
              </a:cxn>
              <a:cxn ang="T9">
                <a:pos x="T2" y="T3"/>
              </a:cxn>
              <a:cxn ang="T10">
                <a:pos x="T4" y="T5"/>
              </a:cxn>
              <a:cxn ang="T11">
                <a:pos x="T6" y="T7"/>
              </a:cxn>
            </a:cxnLst>
            <a:rect l="T12" t="T13" r="T14" b="T15"/>
            <a:pathLst>
              <a:path w="2893" h="386">
                <a:moveTo>
                  <a:pt x="2192" y="0"/>
                </a:moveTo>
                <a:cubicBezTo>
                  <a:pt x="2261" y="24"/>
                  <a:pt x="2893" y="127"/>
                  <a:pt x="2587" y="158"/>
                </a:cubicBezTo>
                <a:cubicBezTo>
                  <a:pt x="2281" y="189"/>
                  <a:pt x="702" y="149"/>
                  <a:pt x="351" y="187"/>
                </a:cubicBezTo>
                <a:cubicBezTo>
                  <a:pt x="0" y="225"/>
                  <a:pt x="455" y="345"/>
                  <a:pt x="482" y="386"/>
                </a:cubicBezTo>
              </a:path>
            </a:pathLst>
          </a:cu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latin typeface="Arial" charset="0"/>
              <a:ea typeface="ＭＳ Ｐゴシック" charset="0"/>
              <a:cs typeface="ＭＳ Ｐゴシック" charset="0"/>
            </a:endParaRPr>
          </a:p>
        </p:txBody>
      </p:sp>
      <p:sp>
        <p:nvSpPr>
          <p:cNvPr id="72" name="Rectangle 29">
            <a:extLst>
              <a:ext uri="{FF2B5EF4-FFF2-40B4-BE49-F238E27FC236}">
                <a16:creationId xmlns:a16="http://schemas.microsoft.com/office/drawing/2014/main" id="{73466092-CD1C-0443-970B-C7D18D4CFF1A}"/>
              </a:ext>
            </a:extLst>
          </p:cNvPr>
          <p:cNvSpPr>
            <a:spLocks noChangeArrowheads="1"/>
          </p:cNvSpPr>
          <p:nvPr/>
        </p:nvSpPr>
        <p:spPr bwMode="auto">
          <a:xfrm>
            <a:off x="304800" y="3968750"/>
            <a:ext cx="2031325" cy="369332"/>
          </a:xfrm>
          <a:prstGeom prst="rect">
            <a:avLst/>
          </a:prstGeom>
          <a:noFill/>
          <a:ln>
            <a:noFill/>
          </a:ln>
          <a:extLst>
            <a:ext uri="{909E8E84-426E-40dd-AFC4-6F175D3DCCD1}"/>
            <a:ext uri="{91240B29-F687-4f45-9708-019B960494DF}"/>
          </a:extLst>
        </p:spPr>
        <p:txBody>
          <a:bodyPr wrap="none">
            <a:spAutoFit/>
          </a:bodyPr>
          <a:lstStyle/>
          <a:p>
            <a:pPr lvl="0" eaLnBrk="1" fontAlgn="auto" hangingPunct="1">
              <a:spcBef>
                <a:spcPts val="0"/>
              </a:spcBef>
              <a:spcAft>
                <a:spcPts val="0"/>
              </a:spcAft>
              <a:defRPr/>
            </a:pPr>
            <a:r>
              <a:rPr lang="en-US" altLang="zh-CN" kern="0" dirty="0" err="1">
                <a:solidFill>
                  <a:srgbClr val="000000"/>
                </a:solidFill>
                <a:latin typeface="Calibri" charset="0"/>
                <a:ea typeface="ＭＳ Ｐゴシック" charset="0"/>
                <a:cs typeface="ＭＳ Ｐゴシック" charset="0"/>
              </a:rPr>
              <a:t>subi</a:t>
            </a:r>
            <a:r>
              <a:rPr kumimoji="0" lang="en-US" sz="1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 ra -	</a:t>
            </a:r>
          </a:p>
        </p:txBody>
      </p:sp>
      <p:sp>
        <p:nvSpPr>
          <p:cNvPr id="73" name="Rectangle 30">
            <a:extLst>
              <a:ext uri="{FF2B5EF4-FFF2-40B4-BE49-F238E27FC236}">
                <a16:creationId xmlns:a16="http://schemas.microsoft.com/office/drawing/2014/main" id="{AEB31FA7-0641-2E49-809B-A83786F2FD53}"/>
              </a:ext>
            </a:extLst>
          </p:cNvPr>
          <p:cNvSpPr>
            <a:spLocks noChangeArrowheads="1"/>
          </p:cNvSpPr>
          <p:nvPr/>
        </p:nvSpPr>
        <p:spPr bwMode="auto">
          <a:xfrm>
            <a:off x="304800" y="4578350"/>
            <a:ext cx="2031325" cy="369332"/>
          </a:xfrm>
          <a:prstGeom prst="rect">
            <a:avLst/>
          </a:prstGeom>
          <a:noFill/>
          <a:ln>
            <a:noFill/>
          </a:ln>
          <a:extLst>
            <a:ext uri="{909E8E84-426E-40dd-AFC4-6F175D3DCCD1}"/>
            <a:ext uri="{91240B29-F687-4f45-9708-019B960494DF}"/>
          </a:extLst>
        </p:spPr>
        <p:txBody>
          <a:bodyPr wrap="none">
            <a:spAutoFit/>
          </a:bodyPr>
          <a:lstStyle/>
          <a:p>
            <a:pPr lvl="0" eaLnBrk="1" fontAlgn="auto" hangingPunct="1">
              <a:spcBef>
                <a:spcPts val="0"/>
              </a:spcBef>
              <a:spcAft>
                <a:spcPts val="0"/>
              </a:spcAft>
              <a:defRPr/>
            </a:pPr>
            <a:r>
              <a:rPr lang="en-US" altLang="zh-CN" kern="0" dirty="0" err="1">
                <a:solidFill>
                  <a:srgbClr val="000000"/>
                </a:solidFill>
                <a:latin typeface="Calibri" charset="0"/>
                <a:ea typeface="ＭＳ Ｐゴシック" charset="0"/>
                <a:cs typeface="ＭＳ Ｐゴシック" charset="0"/>
              </a:rPr>
              <a:t>subi</a:t>
            </a:r>
            <a:r>
              <a:rPr kumimoji="0" lang="en-US" sz="1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 ra -	</a:t>
            </a:r>
          </a:p>
        </p:txBody>
      </p:sp>
      <p:sp>
        <p:nvSpPr>
          <p:cNvPr id="74" name="Rectangle 31">
            <a:extLst>
              <a:ext uri="{FF2B5EF4-FFF2-40B4-BE49-F238E27FC236}">
                <a16:creationId xmlns:a16="http://schemas.microsoft.com/office/drawing/2014/main" id="{73B37EFC-03D8-904E-8755-A124703D64EB}"/>
              </a:ext>
            </a:extLst>
          </p:cNvPr>
          <p:cNvSpPr>
            <a:spLocks noChangeArrowheads="1"/>
          </p:cNvSpPr>
          <p:nvPr/>
        </p:nvSpPr>
        <p:spPr bwMode="auto">
          <a:xfrm>
            <a:off x="304800" y="5187950"/>
            <a:ext cx="2031325" cy="369332"/>
          </a:xfrm>
          <a:prstGeom prst="rect">
            <a:avLst/>
          </a:prstGeom>
          <a:noFill/>
          <a:ln>
            <a:noFill/>
          </a:ln>
          <a:extLst>
            <a:ext uri="{909E8E84-426E-40dd-AFC4-6F175D3DCCD1}"/>
            <a:ext uri="{91240B29-F687-4f45-9708-019B960494DF}"/>
          </a:extLst>
        </p:spPr>
        <p:txBody>
          <a:bodyPr wrap="none">
            <a:spAutoFit/>
          </a:bodyPr>
          <a:lstStyle/>
          <a:p>
            <a:pPr lvl="0" eaLnBrk="1" fontAlgn="auto" hangingPunct="1">
              <a:spcBef>
                <a:spcPts val="0"/>
              </a:spcBef>
              <a:spcAft>
                <a:spcPts val="0"/>
              </a:spcAft>
              <a:defRPr/>
            </a:pPr>
            <a:r>
              <a:rPr lang="en-US" altLang="zh-CN" kern="0" dirty="0" err="1">
                <a:solidFill>
                  <a:srgbClr val="000000"/>
                </a:solidFill>
                <a:latin typeface="Calibri" charset="0"/>
                <a:ea typeface="ＭＳ Ｐゴシック" charset="0"/>
                <a:cs typeface="ＭＳ Ｐゴシック" charset="0"/>
              </a:rPr>
              <a:t>subi</a:t>
            </a:r>
            <a:r>
              <a:rPr kumimoji="0" lang="en-US" sz="1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 ra -	</a:t>
            </a:r>
          </a:p>
        </p:txBody>
      </p:sp>
      <p:sp>
        <p:nvSpPr>
          <p:cNvPr id="75" name="Rectangle 32">
            <a:extLst>
              <a:ext uri="{FF2B5EF4-FFF2-40B4-BE49-F238E27FC236}">
                <a16:creationId xmlns:a16="http://schemas.microsoft.com/office/drawing/2014/main" id="{581A2947-504B-B148-9EE9-F7FE8BC52309}"/>
              </a:ext>
            </a:extLst>
          </p:cNvPr>
          <p:cNvSpPr>
            <a:spLocks noChangeArrowheads="1"/>
          </p:cNvSpPr>
          <p:nvPr/>
        </p:nvSpPr>
        <p:spPr bwMode="auto">
          <a:xfrm>
            <a:off x="304800" y="5797550"/>
            <a:ext cx="2031325" cy="369332"/>
          </a:xfrm>
          <a:prstGeom prst="rect">
            <a:avLst/>
          </a:prstGeom>
          <a:noFill/>
          <a:ln>
            <a:noFill/>
          </a:ln>
          <a:extLst>
            <a:ext uri="{909E8E84-426E-40dd-AFC4-6F175D3DCCD1}"/>
            <a:ext uri="{91240B29-F687-4f45-9708-019B960494DF}"/>
          </a:extLst>
        </p:spPr>
        <p:txBody>
          <a:bodyPr wrap="none">
            <a:spAutoFit/>
          </a:bodyPr>
          <a:lstStyle/>
          <a:p>
            <a:pPr lvl="0" eaLnBrk="1" fontAlgn="auto" hangingPunct="1">
              <a:spcBef>
                <a:spcPts val="0"/>
              </a:spcBef>
              <a:spcAft>
                <a:spcPts val="0"/>
              </a:spcAft>
              <a:defRPr/>
            </a:pPr>
            <a:r>
              <a:rPr lang="en-US" altLang="zh-CN" kern="0" dirty="0" err="1">
                <a:solidFill>
                  <a:srgbClr val="000000"/>
                </a:solidFill>
                <a:latin typeface="Calibri" charset="0"/>
                <a:ea typeface="ＭＳ Ｐゴシック" charset="0"/>
                <a:cs typeface="ＭＳ Ｐゴシック" charset="0"/>
              </a:rPr>
              <a:t>subi</a:t>
            </a:r>
            <a:r>
              <a:rPr kumimoji="0" lang="en-US" sz="1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 ra -	</a:t>
            </a:r>
          </a:p>
        </p:txBody>
      </p:sp>
      <p:sp>
        <p:nvSpPr>
          <p:cNvPr id="76" name="Line 33">
            <a:extLst>
              <a:ext uri="{FF2B5EF4-FFF2-40B4-BE49-F238E27FC236}">
                <a16:creationId xmlns:a16="http://schemas.microsoft.com/office/drawing/2014/main" id="{1350DFBF-7CB6-4D47-821A-196260FA7370}"/>
              </a:ext>
            </a:extLst>
          </p:cNvPr>
          <p:cNvSpPr>
            <a:spLocks noChangeShapeType="1"/>
          </p:cNvSpPr>
          <p:nvPr/>
        </p:nvSpPr>
        <p:spPr bwMode="auto">
          <a:xfrm>
            <a:off x="1447800" y="2971800"/>
            <a:ext cx="304800" cy="533400"/>
          </a:xfrm>
          <a:prstGeom prst="line">
            <a:avLst/>
          </a:pr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grpSp>
        <p:nvGrpSpPr>
          <p:cNvPr id="77" name="Group 34">
            <a:extLst>
              <a:ext uri="{FF2B5EF4-FFF2-40B4-BE49-F238E27FC236}">
                <a16:creationId xmlns:a16="http://schemas.microsoft.com/office/drawing/2014/main" id="{85B49221-29B9-DD4F-B001-10232B4D0F0B}"/>
              </a:ext>
            </a:extLst>
          </p:cNvPr>
          <p:cNvGrpSpPr>
            <a:grpSpLocks/>
          </p:cNvGrpSpPr>
          <p:nvPr/>
        </p:nvGrpSpPr>
        <p:grpSpPr bwMode="auto">
          <a:xfrm>
            <a:off x="1447800" y="2943225"/>
            <a:ext cx="6477000" cy="2009775"/>
            <a:chOff x="912" y="1854"/>
            <a:chExt cx="4080" cy="1266"/>
          </a:xfrm>
        </p:grpSpPr>
        <p:grpSp>
          <p:nvGrpSpPr>
            <p:cNvPr id="58406" name="Group 35">
              <a:extLst>
                <a:ext uri="{FF2B5EF4-FFF2-40B4-BE49-F238E27FC236}">
                  <a16:creationId xmlns:a16="http://schemas.microsoft.com/office/drawing/2014/main" id="{A0E78267-2589-6143-AF6E-22FE7F77EB73}"/>
                </a:ext>
              </a:extLst>
            </p:cNvPr>
            <p:cNvGrpSpPr>
              <a:grpSpLocks/>
            </p:cNvGrpSpPr>
            <p:nvPr/>
          </p:nvGrpSpPr>
          <p:grpSpPr bwMode="auto">
            <a:xfrm>
              <a:off x="3168" y="1854"/>
              <a:ext cx="1824" cy="1266"/>
              <a:chOff x="3168" y="1854"/>
              <a:chExt cx="1824" cy="1266"/>
            </a:xfrm>
          </p:grpSpPr>
          <p:sp>
            <p:nvSpPr>
              <p:cNvPr id="81" name="AutoShape 36">
                <a:extLst>
                  <a:ext uri="{FF2B5EF4-FFF2-40B4-BE49-F238E27FC236}">
                    <a16:creationId xmlns:a16="http://schemas.microsoft.com/office/drawing/2014/main" id="{2E4520B9-8505-2F4B-BD54-AC23BC7288F7}"/>
                  </a:ext>
                </a:extLst>
              </p:cNvPr>
              <p:cNvSpPr>
                <a:spLocks noChangeArrowheads="1"/>
              </p:cNvSpPr>
              <p:nvPr/>
            </p:nvSpPr>
            <p:spPr bwMode="auto">
              <a:xfrm>
                <a:off x="3360" y="2496"/>
                <a:ext cx="288" cy="240"/>
              </a:xfrm>
              <a:prstGeom prst="irregularSeal1">
                <a:avLst/>
              </a:prstGeom>
              <a:solidFill>
                <a:srgbClr val="FC0128"/>
              </a:solidFill>
              <a:ln>
                <a:noFill/>
              </a:ln>
              <a:extLst>
                <a:ext uri="{91240B29-F687-4f45-9708-019B960494DF}"/>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charset="0"/>
                  <a:ea typeface="ＭＳ Ｐゴシック" charset="0"/>
                  <a:cs typeface="ＭＳ Ｐゴシック" charset="0"/>
                </a:endParaRPr>
              </a:p>
            </p:txBody>
          </p:sp>
          <p:sp>
            <p:nvSpPr>
              <p:cNvPr id="82" name="AutoShape 37">
                <a:extLst>
                  <a:ext uri="{FF2B5EF4-FFF2-40B4-BE49-F238E27FC236}">
                    <a16:creationId xmlns:a16="http://schemas.microsoft.com/office/drawing/2014/main" id="{4BB08E27-CEDE-B842-A712-36952F011D55}"/>
                  </a:ext>
                </a:extLst>
              </p:cNvPr>
              <p:cNvSpPr>
                <a:spLocks noChangeArrowheads="1"/>
              </p:cNvSpPr>
              <p:nvPr/>
            </p:nvSpPr>
            <p:spPr bwMode="auto">
              <a:xfrm>
                <a:off x="3984" y="2880"/>
                <a:ext cx="288" cy="240"/>
              </a:xfrm>
              <a:prstGeom prst="irregularSeal1">
                <a:avLst/>
              </a:prstGeom>
              <a:solidFill>
                <a:srgbClr val="FC0128"/>
              </a:solidFill>
              <a:ln>
                <a:noFill/>
              </a:ln>
              <a:extLst>
                <a:ext uri="{91240B29-F687-4f45-9708-019B960494DF}"/>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charset="0"/>
                  <a:ea typeface="ＭＳ Ｐゴシック" charset="0"/>
                  <a:cs typeface="ＭＳ Ｐゴシック" charset="0"/>
                </a:endParaRPr>
              </a:p>
            </p:txBody>
          </p:sp>
          <p:grpSp>
            <p:nvGrpSpPr>
              <p:cNvPr id="58411" name="Group 38">
                <a:extLst>
                  <a:ext uri="{FF2B5EF4-FFF2-40B4-BE49-F238E27FC236}">
                    <a16:creationId xmlns:a16="http://schemas.microsoft.com/office/drawing/2014/main" id="{8119FECD-119F-7F42-AD8B-65E736E3FB1A}"/>
                  </a:ext>
                </a:extLst>
              </p:cNvPr>
              <p:cNvGrpSpPr>
                <a:grpSpLocks/>
              </p:cNvGrpSpPr>
              <p:nvPr/>
            </p:nvGrpSpPr>
            <p:grpSpPr bwMode="auto">
              <a:xfrm>
                <a:off x="3168" y="1854"/>
                <a:ext cx="1824" cy="1170"/>
                <a:chOff x="3168" y="1854"/>
                <a:chExt cx="1824" cy="1170"/>
              </a:xfrm>
            </p:grpSpPr>
            <p:sp>
              <p:nvSpPr>
                <p:cNvPr id="84" name="Freeform 39">
                  <a:extLst>
                    <a:ext uri="{FF2B5EF4-FFF2-40B4-BE49-F238E27FC236}">
                      <a16:creationId xmlns:a16="http://schemas.microsoft.com/office/drawing/2014/main" id="{32A97957-5D6C-164F-9B04-B8EBD78BC1B1}"/>
                    </a:ext>
                  </a:extLst>
                </p:cNvPr>
                <p:cNvSpPr>
                  <a:spLocks/>
                </p:cNvSpPr>
                <p:nvPr/>
              </p:nvSpPr>
              <p:spPr bwMode="auto">
                <a:xfrm>
                  <a:off x="3168" y="1866"/>
                  <a:ext cx="1824" cy="768"/>
                </a:xfrm>
                <a:custGeom>
                  <a:avLst/>
                  <a:gdLst>
                    <a:gd name="T0" fmla="*/ 1195 w 1891"/>
                    <a:gd name="T1" fmla="*/ 0 h 403"/>
                    <a:gd name="T2" fmla="*/ 1410 w 1891"/>
                    <a:gd name="T3" fmla="*/ 3973 h 403"/>
                    <a:gd name="T4" fmla="*/ 185 w 1891"/>
                    <a:gd name="T5" fmla="*/ 4692 h 403"/>
                    <a:gd name="T6" fmla="*/ 297 w 1891"/>
                    <a:gd name="T7" fmla="*/ 10133 h 403"/>
                    <a:gd name="T8" fmla="*/ 0 60000 65536"/>
                    <a:gd name="T9" fmla="*/ 0 60000 65536"/>
                    <a:gd name="T10" fmla="*/ 0 60000 65536"/>
                    <a:gd name="T11" fmla="*/ 0 60000 65536"/>
                    <a:gd name="T12" fmla="*/ 0 w 1891"/>
                    <a:gd name="T13" fmla="*/ 0 h 403"/>
                    <a:gd name="T14" fmla="*/ 1891 w 1891"/>
                    <a:gd name="T15" fmla="*/ 403 h 403"/>
                  </a:gdLst>
                  <a:ahLst/>
                  <a:cxnLst>
                    <a:cxn ang="T8">
                      <a:pos x="T0" y="T1"/>
                    </a:cxn>
                    <a:cxn ang="T9">
                      <a:pos x="T2" y="T3"/>
                    </a:cxn>
                    <a:cxn ang="T10">
                      <a:pos x="T4" y="T5"/>
                    </a:cxn>
                    <a:cxn ang="T11">
                      <a:pos x="T6" y="T7"/>
                    </a:cxn>
                  </a:cxnLst>
                  <a:rect l="T12" t="T13" r="T14" b="T15"/>
                  <a:pathLst>
                    <a:path w="1891" h="403">
                      <a:moveTo>
                        <a:pt x="1431" y="0"/>
                      </a:moveTo>
                      <a:cubicBezTo>
                        <a:pt x="1476" y="24"/>
                        <a:pt x="1891" y="127"/>
                        <a:pt x="1690" y="158"/>
                      </a:cubicBezTo>
                      <a:cubicBezTo>
                        <a:pt x="1489" y="189"/>
                        <a:pt x="444" y="146"/>
                        <a:pt x="222" y="187"/>
                      </a:cubicBezTo>
                      <a:cubicBezTo>
                        <a:pt x="0" y="228"/>
                        <a:pt x="334" y="367"/>
                        <a:pt x="356" y="403"/>
                      </a:cubicBezTo>
                    </a:path>
                  </a:pathLst>
                </a:cu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5" name="Freeform 40">
                  <a:extLst>
                    <a:ext uri="{FF2B5EF4-FFF2-40B4-BE49-F238E27FC236}">
                      <a16:creationId xmlns:a16="http://schemas.microsoft.com/office/drawing/2014/main" id="{74A6A5A4-E30B-9648-8AA5-723EEC732EDD}"/>
                    </a:ext>
                  </a:extLst>
                </p:cNvPr>
                <p:cNvSpPr>
                  <a:spLocks/>
                </p:cNvSpPr>
                <p:nvPr/>
              </p:nvSpPr>
              <p:spPr bwMode="auto">
                <a:xfrm>
                  <a:off x="3936" y="1854"/>
                  <a:ext cx="816" cy="1170"/>
                </a:xfrm>
                <a:custGeom>
                  <a:avLst/>
                  <a:gdLst>
                    <a:gd name="T0" fmla="*/ 22 w 1891"/>
                    <a:gd name="T1" fmla="*/ 0 h 403"/>
                    <a:gd name="T2" fmla="*/ 25 w 1891"/>
                    <a:gd name="T3" fmla="*/ 32618 h 403"/>
                    <a:gd name="T4" fmla="*/ 3 w 1891"/>
                    <a:gd name="T5" fmla="*/ 38561 h 403"/>
                    <a:gd name="T6" fmla="*/ 5 w 1891"/>
                    <a:gd name="T7" fmla="*/ 83125 h 403"/>
                    <a:gd name="T8" fmla="*/ 0 60000 65536"/>
                    <a:gd name="T9" fmla="*/ 0 60000 65536"/>
                    <a:gd name="T10" fmla="*/ 0 60000 65536"/>
                    <a:gd name="T11" fmla="*/ 0 60000 65536"/>
                    <a:gd name="T12" fmla="*/ 0 w 1891"/>
                    <a:gd name="T13" fmla="*/ 0 h 403"/>
                    <a:gd name="T14" fmla="*/ 1891 w 1891"/>
                    <a:gd name="T15" fmla="*/ 403 h 403"/>
                  </a:gdLst>
                  <a:ahLst/>
                  <a:cxnLst>
                    <a:cxn ang="T8">
                      <a:pos x="T0" y="T1"/>
                    </a:cxn>
                    <a:cxn ang="T9">
                      <a:pos x="T2" y="T3"/>
                    </a:cxn>
                    <a:cxn ang="T10">
                      <a:pos x="T4" y="T5"/>
                    </a:cxn>
                    <a:cxn ang="T11">
                      <a:pos x="T6" y="T7"/>
                    </a:cxn>
                  </a:cxnLst>
                  <a:rect l="T12" t="T13" r="T14" b="T15"/>
                  <a:pathLst>
                    <a:path w="1891" h="403">
                      <a:moveTo>
                        <a:pt x="1431" y="0"/>
                      </a:moveTo>
                      <a:cubicBezTo>
                        <a:pt x="1476" y="24"/>
                        <a:pt x="1891" y="127"/>
                        <a:pt x="1690" y="158"/>
                      </a:cubicBezTo>
                      <a:cubicBezTo>
                        <a:pt x="1489" y="189"/>
                        <a:pt x="444" y="146"/>
                        <a:pt x="222" y="187"/>
                      </a:cubicBezTo>
                      <a:cubicBezTo>
                        <a:pt x="0" y="228"/>
                        <a:pt x="334" y="367"/>
                        <a:pt x="356" y="403"/>
                      </a:cubicBezTo>
                    </a:path>
                  </a:pathLst>
                </a:cu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grpSp>
        </p:grpSp>
        <p:sp>
          <p:nvSpPr>
            <p:cNvPr id="79" name="Line 41">
              <a:extLst>
                <a:ext uri="{FF2B5EF4-FFF2-40B4-BE49-F238E27FC236}">
                  <a16:creationId xmlns:a16="http://schemas.microsoft.com/office/drawing/2014/main" id="{E1B8DF7A-D07D-4542-BF72-04BEC6328CCD}"/>
                </a:ext>
              </a:extLst>
            </p:cNvPr>
            <p:cNvSpPr>
              <a:spLocks noChangeShapeType="1"/>
            </p:cNvSpPr>
            <p:nvPr/>
          </p:nvSpPr>
          <p:spPr bwMode="auto">
            <a:xfrm>
              <a:off x="912" y="1872"/>
              <a:ext cx="192" cy="720"/>
            </a:xfrm>
            <a:prstGeom prst="line">
              <a:avLst/>
            </a:pr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0" name="Line 42">
              <a:extLst>
                <a:ext uri="{FF2B5EF4-FFF2-40B4-BE49-F238E27FC236}">
                  <a16:creationId xmlns:a16="http://schemas.microsoft.com/office/drawing/2014/main" id="{CE3B9191-4216-0045-8D76-415DF867D134}"/>
                </a:ext>
              </a:extLst>
            </p:cNvPr>
            <p:cNvSpPr>
              <a:spLocks noChangeShapeType="1"/>
            </p:cNvSpPr>
            <p:nvPr/>
          </p:nvSpPr>
          <p:spPr bwMode="auto">
            <a:xfrm>
              <a:off x="912" y="1872"/>
              <a:ext cx="192" cy="1104"/>
            </a:xfrm>
            <a:prstGeom prst="line">
              <a:avLst/>
            </a:pr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grpSp>
      <p:grpSp>
        <p:nvGrpSpPr>
          <p:cNvPr id="86" name="Group 43">
            <a:extLst>
              <a:ext uri="{FF2B5EF4-FFF2-40B4-BE49-F238E27FC236}">
                <a16:creationId xmlns:a16="http://schemas.microsoft.com/office/drawing/2014/main" id="{259C951A-ADB1-D240-BA3F-FB382489DFF1}"/>
              </a:ext>
            </a:extLst>
          </p:cNvPr>
          <p:cNvGrpSpPr>
            <a:grpSpLocks/>
          </p:cNvGrpSpPr>
          <p:nvPr/>
        </p:nvGrpSpPr>
        <p:grpSpPr bwMode="auto">
          <a:xfrm>
            <a:off x="7239000" y="2971800"/>
            <a:ext cx="523875" cy="2703513"/>
            <a:chOff x="4560" y="1872"/>
            <a:chExt cx="330" cy="1703"/>
          </a:xfrm>
        </p:grpSpPr>
        <p:sp>
          <p:nvSpPr>
            <p:cNvPr id="87" name="Line 44">
              <a:extLst>
                <a:ext uri="{FF2B5EF4-FFF2-40B4-BE49-F238E27FC236}">
                  <a16:creationId xmlns:a16="http://schemas.microsoft.com/office/drawing/2014/main" id="{9D05407F-DEBD-1A4D-A7B4-2E899A70FE3F}"/>
                </a:ext>
              </a:extLst>
            </p:cNvPr>
            <p:cNvSpPr>
              <a:spLocks noChangeShapeType="1"/>
            </p:cNvSpPr>
            <p:nvPr/>
          </p:nvSpPr>
          <p:spPr bwMode="auto">
            <a:xfrm>
              <a:off x="4560" y="1872"/>
              <a:ext cx="192" cy="1536"/>
            </a:xfrm>
            <a:prstGeom prst="line">
              <a:avLst/>
            </a:prstGeom>
            <a:noFill/>
            <a:ln w="38100">
              <a:solidFill>
                <a:srgbClr val="FF0000"/>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8" name="Text Box 45">
              <a:extLst>
                <a:ext uri="{FF2B5EF4-FFF2-40B4-BE49-F238E27FC236}">
                  <a16:creationId xmlns:a16="http://schemas.microsoft.com/office/drawing/2014/main" id="{4E7BEF18-794F-5E41-8A30-29F603A1D8BD}"/>
                </a:ext>
              </a:extLst>
            </p:cNvPr>
            <p:cNvSpPr txBox="1">
              <a:spLocks noChangeArrowheads="1"/>
            </p:cNvSpPr>
            <p:nvPr/>
          </p:nvSpPr>
          <p:spPr bwMode="auto">
            <a:xfrm>
              <a:off x="4654" y="3207"/>
              <a:ext cx="236" cy="368"/>
            </a:xfrm>
            <a:prstGeom prst="rect">
              <a:avLst/>
            </a:prstGeom>
            <a:noFill/>
            <a:ln>
              <a:noFill/>
            </a:ln>
            <a:extLst>
              <a:ext uri="{909E8E84-426E-40dd-AFC4-6F175D3DCCD1}"/>
              <a:ext uri="{91240B29-F687-4f45-9708-019B960494DF}"/>
            </a:extLst>
          </p:spPr>
          <p:txBody>
            <a:bodyPr wrap="none">
              <a:spAutoFit/>
            </a:bodyPr>
            <a:lstStyle>
              <a:lvl1pPr>
                <a:defRPr sz="2400" i="1">
                  <a:solidFill>
                    <a:schemeClr val="accent1"/>
                  </a:solidFill>
                  <a:latin typeface="Comic Sans MS" charset="0"/>
                  <a:ea typeface="ＭＳ Ｐゴシック" charset="0"/>
                </a:defRPr>
              </a:lvl1pPr>
              <a:lvl2pPr marL="742950" indent="-285750">
                <a:defRPr sz="2400" i="1">
                  <a:solidFill>
                    <a:schemeClr val="accent1"/>
                  </a:solidFill>
                  <a:latin typeface="Comic Sans MS" charset="0"/>
                  <a:ea typeface="ＭＳ Ｐゴシック" charset="0"/>
                </a:defRPr>
              </a:lvl2pPr>
              <a:lvl3pPr marL="1143000" indent="-228600">
                <a:defRPr sz="2400" i="1">
                  <a:solidFill>
                    <a:schemeClr val="accent1"/>
                  </a:solidFill>
                  <a:latin typeface="Comic Sans MS" charset="0"/>
                  <a:ea typeface="ＭＳ Ｐゴシック" charset="0"/>
                </a:defRPr>
              </a:lvl3pPr>
              <a:lvl4pPr marL="1600200" indent="-228600">
                <a:defRPr sz="2400" i="1">
                  <a:solidFill>
                    <a:schemeClr val="accent1"/>
                  </a:solidFill>
                  <a:latin typeface="Comic Sans MS" charset="0"/>
                  <a:ea typeface="ＭＳ Ｐゴシック" charset="0"/>
                </a:defRPr>
              </a:lvl4pPr>
              <a:lvl5pPr marL="2057400" indent="-228600">
                <a:defRPr sz="2400" i="1">
                  <a:solidFill>
                    <a:schemeClr val="accent1"/>
                  </a:solidFill>
                  <a:latin typeface="Comic Sans MS" charset="0"/>
                  <a:ea typeface="ＭＳ Ｐゴシック" charset="0"/>
                </a:defRPr>
              </a:lvl5pPr>
              <a:lvl6pPr marL="2514600" indent="-228600" algn="ctr" eaLnBrk="0" fontAlgn="base" hangingPunct="0">
                <a:spcBef>
                  <a:spcPct val="0"/>
                </a:spcBef>
                <a:spcAft>
                  <a:spcPct val="0"/>
                </a:spcAft>
                <a:defRPr sz="2400" i="1">
                  <a:solidFill>
                    <a:schemeClr val="accent1"/>
                  </a:solidFill>
                  <a:latin typeface="Comic Sans MS" charset="0"/>
                  <a:ea typeface="ＭＳ Ｐゴシック" charset="0"/>
                </a:defRPr>
              </a:lvl6pPr>
              <a:lvl7pPr marL="2971800" indent="-228600" algn="ctr" eaLnBrk="0" fontAlgn="base" hangingPunct="0">
                <a:spcBef>
                  <a:spcPct val="0"/>
                </a:spcBef>
                <a:spcAft>
                  <a:spcPct val="0"/>
                </a:spcAft>
                <a:defRPr sz="2400" i="1">
                  <a:solidFill>
                    <a:schemeClr val="accent1"/>
                  </a:solidFill>
                  <a:latin typeface="Comic Sans MS" charset="0"/>
                  <a:ea typeface="ＭＳ Ｐゴシック" charset="0"/>
                </a:defRPr>
              </a:lvl7pPr>
              <a:lvl8pPr marL="3429000" indent="-228600" algn="ctr" eaLnBrk="0" fontAlgn="base" hangingPunct="0">
                <a:spcBef>
                  <a:spcPct val="0"/>
                </a:spcBef>
                <a:spcAft>
                  <a:spcPct val="0"/>
                </a:spcAft>
                <a:defRPr sz="2400" i="1">
                  <a:solidFill>
                    <a:schemeClr val="accent1"/>
                  </a:solidFill>
                  <a:latin typeface="Comic Sans MS" charset="0"/>
                  <a:ea typeface="ＭＳ Ｐゴシック" charset="0"/>
                </a:defRPr>
              </a:lvl8pPr>
              <a:lvl9pPr marL="3886200" indent="-228600" algn="ctr" eaLnBrk="0" fontAlgn="base" hangingPunct="0">
                <a:spcBef>
                  <a:spcPct val="0"/>
                </a:spcBef>
                <a:spcAft>
                  <a:spcPct val="0"/>
                </a:spcAft>
                <a:defRPr sz="2400" i="1">
                  <a:solidFill>
                    <a:schemeClr val="accent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a:ln>
                    <a:noFill/>
                  </a:ln>
                  <a:solidFill>
                    <a:srgbClr val="FC0128"/>
                  </a:solidFill>
                  <a:effectLst/>
                  <a:uLnTx/>
                  <a:uFillTx/>
                  <a:latin typeface="Calibri" charset="0"/>
                  <a:ea typeface="ＭＳ Ｐゴシック" charset="0"/>
                  <a:cs typeface="ＭＳ Ｐゴシック" charset="0"/>
                </a:rPr>
                <a:t>?</a:t>
              </a:r>
            </a:p>
          </p:txBody>
        </p:sp>
      </p:grpSp>
    </p:spTree>
    <p:extLst>
      <p:ext uri="{BB962C8B-B14F-4D97-AF65-F5344CB8AC3E}">
        <p14:creationId xmlns:p14="http://schemas.microsoft.com/office/powerpoint/2010/main" val="33098155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05764DFD-2092-F145-BF9C-A37AFFAD0715}"/>
              </a:ext>
            </a:extLst>
          </p:cNvPr>
          <p:cNvSpPr>
            <a:spLocks noGrp="1" noChangeArrowheads="1"/>
          </p:cNvSpPr>
          <p:nvPr>
            <p:ph type="title"/>
          </p:nvPr>
        </p:nvSpPr>
        <p:spPr/>
        <p:txBody>
          <a:bodyPr/>
          <a:lstStyle/>
          <a:p>
            <a:r>
              <a:rPr lang="en-US" altLang="en-US">
                <a:ea typeface="ＭＳ Ｐゴシック" panose="020B0600070205080204" pitchFamily="34" charset="-128"/>
              </a:rPr>
              <a:t>Pipeline Stall: Resolving Data Dependence</a:t>
            </a:r>
          </a:p>
        </p:txBody>
      </p:sp>
      <p:sp>
        <p:nvSpPr>
          <p:cNvPr id="59394" name="Content Placeholder 2">
            <a:extLst>
              <a:ext uri="{FF2B5EF4-FFF2-40B4-BE49-F238E27FC236}">
                <a16:creationId xmlns:a16="http://schemas.microsoft.com/office/drawing/2014/main" id="{703BFFBB-DD98-4848-8D35-ED469F8F331D}"/>
              </a:ext>
            </a:extLst>
          </p:cNvPr>
          <p:cNvSpPr>
            <a:spLocks noGrp="1" noChangeArrowheads="1"/>
          </p:cNvSpPr>
          <p:nvPr>
            <p:ph idx="1"/>
          </p:nvPr>
        </p:nvSpPr>
        <p:spPr>
          <a:xfrm>
            <a:off x="228600" y="996950"/>
            <a:ext cx="8610600" cy="5194300"/>
          </a:xfrm>
        </p:spPr>
        <p:txBody>
          <a:bodyPr/>
          <a:lstStyle/>
          <a:p>
            <a:endParaRPr lang="en-US" altLang="en-US">
              <a:ea typeface="ＭＳ Ｐゴシック" panose="020B0600070205080204" pitchFamily="34" charset="-128"/>
            </a:endParaRPr>
          </a:p>
        </p:txBody>
      </p:sp>
      <p:sp>
        <p:nvSpPr>
          <p:cNvPr id="59395" name="Slide Number Placeholder 3">
            <a:extLst>
              <a:ext uri="{FF2B5EF4-FFF2-40B4-BE49-F238E27FC236}">
                <a16:creationId xmlns:a16="http://schemas.microsoft.com/office/drawing/2014/main" id="{369EF7D7-4406-EF46-A93E-72AC893422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DC286F1-2467-B14C-888C-7CBD5A4C5B9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59396" name="Group 2">
            <a:extLst>
              <a:ext uri="{FF2B5EF4-FFF2-40B4-BE49-F238E27FC236}">
                <a16:creationId xmlns:a16="http://schemas.microsoft.com/office/drawing/2014/main" id="{7B9E776C-DB6D-9046-B122-EA3C081F524A}"/>
              </a:ext>
            </a:extLst>
          </p:cNvPr>
          <p:cNvGrpSpPr>
            <a:grpSpLocks/>
          </p:cNvGrpSpPr>
          <p:nvPr/>
        </p:nvGrpSpPr>
        <p:grpSpPr bwMode="auto">
          <a:xfrm>
            <a:off x="76200" y="1600200"/>
            <a:ext cx="8839200" cy="4572000"/>
            <a:chOff x="48" y="1008"/>
            <a:chExt cx="5568" cy="2880"/>
          </a:xfrm>
        </p:grpSpPr>
        <p:sp>
          <p:nvSpPr>
            <p:cNvPr id="59558" name="Rectangle 3">
              <a:extLst>
                <a:ext uri="{FF2B5EF4-FFF2-40B4-BE49-F238E27FC236}">
                  <a16:creationId xmlns:a16="http://schemas.microsoft.com/office/drawing/2014/main" id="{AFAD92BE-83C9-E34A-B861-CAB33452BE75}"/>
                </a:ext>
              </a:extLst>
            </p:cNvPr>
            <p:cNvSpPr>
              <a:spLocks noChangeArrowheads="1"/>
            </p:cNvSpPr>
            <p:nvPr/>
          </p:nvSpPr>
          <p:spPr bwMode="auto">
            <a:xfrm>
              <a:off x="5040" y="340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59" name="Rectangle 4">
              <a:extLst>
                <a:ext uri="{FF2B5EF4-FFF2-40B4-BE49-F238E27FC236}">
                  <a16:creationId xmlns:a16="http://schemas.microsoft.com/office/drawing/2014/main" id="{2D49C3B5-2AA8-F047-862C-BD7C87460D8B}"/>
                </a:ext>
              </a:extLst>
            </p:cNvPr>
            <p:cNvSpPr>
              <a:spLocks noChangeArrowheads="1"/>
            </p:cNvSpPr>
            <p:nvPr/>
          </p:nvSpPr>
          <p:spPr bwMode="auto">
            <a:xfrm>
              <a:off x="5040"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560" name="Rectangle 5">
              <a:extLst>
                <a:ext uri="{FF2B5EF4-FFF2-40B4-BE49-F238E27FC236}">
                  <a16:creationId xmlns:a16="http://schemas.microsoft.com/office/drawing/2014/main" id="{3C5B6061-8B1A-7E4D-AFA4-6E099DB19311}"/>
                </a:ext>
              </a:extLst>
            </p:cNvPr>
            <p:cNvSpPr>
              <a:spLocks noChangeArrowheads="1"/>
            </p:cNvSpPr>
            <p:nvPr/>
          </p:nvSpPr>
          <p:spPr bwMode="auto">
            <a:xfrm>
              <a:off x="2448" y="1008"/>
              <a:ext cx="768" cy="2112"/>
            </a:xfrm>
            <a:prstGeom prst="rect">
              <a:avLst/>
            </a:prstGeom>
            <a:solidFill>
              <a:srgbClr val="D49F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61" name="Rectangle 6">
              <a:extLst>
                <a:ext uri="{FF2B5EF4-FFF2-40B4-BE49-F238E27FC236}">
                  <a16:creationId xmlns:a16="http://schemas.microsoft.com/office/drawing/2014/main" id="{88804651-31BE-2E49-AFFF-6CC637873497}"/>
                </a:ext>
              </a:extLst>
            </p:cNvPr>
            <p:cNvSpPr>
              <a:spLocks noChangeArrowheads="1"/>
            </p:cNvSpPr>
            <p:nvPr/>
          </p:nvSpPr>
          <p:spPr bwMode="auto">
            <a:xfrm>
              <a:off x="672"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62" name="Rectangle 7">
              <a:extLst>
                <a:ext uri="{FF2B5EF4-FFF2-40B4-BE49-F238E27FC236}">
                  <a16:creationId xmlns:a16="http://schemas.microsoft.com/office/drawing/2014/main" id="{BC098597-C0A3-9246-ABB9-34B8951184C2}"/>
                </a:ext>
              </a:extLst>
            </p:cNvPr>
            <p:cNvSpPr>
              <a:spLocks noChangeArrowheads="1"/>
            </p:cNvSpPr>
            <p:nvPr/>
          </p:nvSpPr>
          <p:spPr bwMode="auto">
            <a:xfrm>
              <a:off x="1296"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63" name="Rectangle 8">
              <a:extLst>
                <a:ext uri="{FF2B5EF4-FFF2-40B4-BE49-F238E27FC236}">
                  <a16:creationId xmlns:a16="http://schemas.microsoft.com/office/drawing/2014/main" id="{E1B1B918-9E1E-AF42-993C-1604B2AA99EF}"/>
                </a:ext>
              </a:extLst>
            </p:cNvPr>
            <p:cNvSpPr>
              <a:spLocks noChangeArrowheads="1"/>
            </p:cNvSpPr>
            <p:nvPr/>
          </p:nvSpPr>
          <p:spPr bwMode="auto">
            <a:xfrm>
              <a:off x="1920"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64" name="Rectangle 9">
              <a:extLst>
                <a:ext uri="{FF2B5EF4-FFF2-40B4-BE49-F238E27FC236}">
                  <a16:creationId xmlns:a16="http://schemas.microsoft.com/office/drawing/2014/main" id="{E06DD34A-F553-4347-8B94-0FB39AF1318E}"/>
                </a:ext>
              </a:extLst>
            </p:cNvPr>
            <p:cNvSpPr>
              <a:spLocks noChangeArrowheads="1"/>
            </p:cNvSpPr>
            <p:nvPr/>
          </p:nvSpPr>
          <p:spPr bwMode="auto">
            <a:xfrm>
              <a:off x="2544"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65" name="Rectangle 10">
              <a:extLst>
                <a:ext uri="{FF2B5EF4-FFF2-40B4-BE49-F238E27FC236}">
                  <a16:creationId xmlns:a16="http://schemas.microsoft.com/office/drawing/2014/main" id="{9E24F00A-860F-DF44-8917-5F766ED79F2D}"/>
                </a:ext>
              </a:extLst>
            </p:cNvPr>
            <p:cNvSpPr>
              <a:spLocks noChangeArrowheads="1"/>
            </p:cNvSpPr>
            <p:nvPr/>
          </p:nvSpPr>
          <p:spPr bwMode="auto">
            <a:xfrm>
              <a:off x="1296"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66" name="Rectangle 11">
              <a:extLst>
                <a:ext uri="{FF2B5EF4-FFF2-40B4-BE49-F238E27FC236}">
                  <a16:creationId xmlns:a16="http://schemas.microsoft.com/office/drawing/2014/main" id="{574DFD70-DF14-3E42-964D-4848785A41BC}"/>
                </a:ext>
              </a:extLst>
            </p:cNvPr>
            <p:cNvSpPr>
              <a:spLocks noChangeArrowheads="1"/>
            </p:cNvSpPr>
            <p:nvPr/>
          </p:nvSpPr>
          <p:spPr bwMode="auto">
            <a:xfrm>
              <a:off x="1920"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67" name="Rectangle 12">
              <a:extLst>
                <a:ext uri="{FF2B5EF4-FFF2-40B4-BE49-F238E27FC236}">
                  <a16:creationId xmlns:a16="http://schemas.microsoft.com/office/drawing/2014/main" id="{7BD17275-387E-8E4F-86A2-4E03FBF4AE2C}"/>
                </a:ext>
              </a:extLst>
            </p:cNvPr>
            <p:cNvSpPr>
              <a:spLocks noChangeArrowheads="1"/>
            </p:cNvSpPr>
            <p:nvPr/>
          </p:nvSpPr>
          <p:spPr bwMode="auto">
            <a:xfrm>
              <a:off x="2544"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68" name="Rectangle 13">
              <a:extLst>
                <a:ext uri="{FF2B5EF4-FFF2-40B4-BE49-F238E27FC236}">
                  <a16:creationId xmlns:a16="http://schemas.microsoft.com/office/drawing/2014/main" id="{FB8909C3-2979-974C-9C65-91B8195D2473}"/>
                </a:ext>
              </a:extLst>
            </p:cNvPr>
            <p:cNvSpPr>
              <a:spLocks noChangeArrowheads="1"/>
            </p:cNvSpPr>
            <p:nvPr/>
          </p:nvSpPr>
          <p:spPr bwMode="auto">
            <a:xfrm>
              <a:off x="3168"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69" name="Rectangle 14">
              <a:extLst>
                <a:ext uri="{FF2B5EF4-FFF2-40B4-BE49-F238E27FC236}">
                  <a16:creationId xmlns:a16="http://schemas.microsoft.com/office/drawing/2014/main" id="{4AF79F46-8B00-CC49-A8B8-EAE4242DE262}"/>
                </a:ext>
              </a:extLst>
            </p:cNvPr>
            <p:cNvSpPr>
              <a:spLocks noChangeArrowheads="1"/>
            </p:cNvSpPr>
            <p:nvPr/>
          </p:nvSpPr>
          <p:spPr bwMode="auto">
            <a:xfrm>
              <a:off x="1920"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70" name="Rectangle 15">
              <a:extLst>
                <a:ext uri="{FF2B5EF4-FFF2-40B4-BE49-F238E27FC236}">
                  <a16:creationId xmlns:a16="http://schemas.microsoft.com/office/drawing/2014/main" id="{14899268-C3A8-434A-B600-2393336064AA}"/>
                </a:ext>
              </a:extLst>
            </p:cNvPr>
            <p:cNvSpPr>
              <a:spLocks noChangeArrowheads="1"/>
            </p:cNvSpPr>
            <p:nvPr/>
          </p:nvSpPr>
          <p:spPr bwMode="auto">
            <a:xfrm>
              <a:off x="2544"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71" name="Rectangle 16">
              <a:extLst>
                <a:ext uri="{FF2B5EF4-FFF2-40B4-BE49-F238E27FC236}">
                  <a16:creationId xmlns:a16="http://schemas.microsoft.com/office/drawing/2014/main" id="{865B7996-073E-824B-B0D0-9A633EA396D1}"/>
                </a:ext>
              </a:extLst>
            </p:cNvPr>
            <p:cNvSpPr>
              <a:spLocks noChangeArrowheads="1"/>
            </p:cNvSpPr>
            <p:nvPr/>
          </p:nvSpPr>
          <p:spPr bwMode="auto">
            <a:xfrm>
              <a:off x="3168"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72" name="Rectangle 17">
              <a:extLst>
                <a:ext uri="{FF2B5EF4-FFF2-40B4-BE49-F238E27FC236}">
                  <a16:creationId xmlns:a16="http://schemas.microsoft.com/office/drawing/2014/main" id="{958FAE6C-3930-D049-940F-238F289D725D}"/>
                </a:ext>
              </a:extLst>
            </p:cNvPr>
            <p:cNvSpPr>
              <a:spLocks noChangeArrowheads="1"/>
            </p:cNvSpPr>
            <p:nvPr/>
          </p:nvSpPr>
          <p:spPr bwMode="auto">
            <a:xfrm>
              <a:off x="3792"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73" name="Rectangle 18">
              <a:extLst>
                <a:ext uri="{FF2B5EF4-FFF2-40B4-BE49-F238E27FC236}">
                  <a16:creationId xmlns:a16="http://schemas.microsoft.com/office/drawing/2014/main" id="{C1B001F4-3D56-C34B-A370-BBC97883AEA7}"/>
                </a:ext>
              </a:extLst>
            </p:cNvPr>
            <p:cNvSpPr>
              <a:spLocks noChangeArrowheads="1"/>
            </p:cNvSpPr>
            <p:nvPr/>
          </p:nvSpPr>
          <p:spPr bwMode="auto">
            <a:xfrm>
              <a:off x="2544"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74" name="Rectangle 19">
              <a:extLst>
                <a:ext uri="{FF2B5EF4-FFF2-40B4-BE49-F238E27FC236}">
                  <a16:creationId xmlns:a16="http://schemas.microsoft.com/office/drawing/2014/main" id="{3DDB742C-8044-6F43-A2A7-22761B9B1668}"/>
                </a:ext>
              </a:extLst>
            </p:cNvPr>
            <p:cNvSpPr>
              <a:spLocks noChangeArrowheads="1"/>
            </p:cNvSpPr>
            <p:nvPr/>
          </p:nvSpPr>
          <p:spPr bwMode="auto">
            <a:xfrm>
              <a:off x="3168"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75" name="Rectangle 20">
              <a:extLst>
                <a:ext uri="{FF2B5EF4-FFF2-40B4-BE49-F238E27FC236}">
                  <a16:creationId xmlns:a16="http://schemas.microsoft.com/office/drawing/2014/main" id="{6938D838-F925-D942-8255-BE7FE0DA3367}"/>
                </a:ext>
              </a:extLst>
            </p:cNvPr>
            <p:cNvSpPr>
              <a:spLocks noChangeArrowheads="1"/>
            </p:cNvSpPr>
            <p:nvPr/>
          </p:nvSpPr>
          <p:spPr bwMode="auto">
            <a:xfrm>
              <a:off x="3792"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76" name="Rectangle 21">
              <a:extLst>
                <a:ext uri="{FF2B5EF4-FFF2-40B4-BE49-F238E27FC236}">
                  <a16:creationId xmlns:a16="http://schemas.microsoft.com/office/drawing/2014/main" id="{562B64AC-B1F9-C845-96C4-72E30D20BAC4}"/>
                </a:ext>
              </a:extLst>
            </p:cNvPr>
            <p:cNvSpPr>
              <a:spLocks noChangeArrowheads="1"/>
            </p:cNvSpPr>
            <p:nvPr/>
          </p:nvSpPr>
          <p:spPr bwMode="auto">
            <a:xfrm>
              <a:off x="67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0</a:t>
              </a:r>
            </a:p>
          </p:txBody>
        </p:sp>
        <p:sp>
          <p:nvSpPr>
            <p:cNvPr id="59577" name="Rectangle 22">
              <a:extLst>
                <a:ext uri="{FF2B5EF4-FFF2-40B4-BE49-F238E27FC236}">
                  <a16:creationId xmlns:a16="http://schemas.microsoft.com/office/drawing/2014/main" id="{10530A9A-A2FB-B441-A774-5E3097DD9971}"/>
                </a:ext>
              </a:extLst>
            </p:cNvPr>
            <p:cNvSpPr>
              <a:spLocks noChangeArrowheads="1"/>
            </p:cNvSpPr>
            <p:nvPr/>
          </p:nvSpPr>
          <p:spPr bwMode="auto">
            <a:xfrm>
              <a:off x="1296"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1</a:t>
              </a:r>
            </a:p>
          </p:txBody>
        </p:sp>
        <p:sp>
          <p:nvSpPr>
            <p:cNvPr id="59578" name="Rectangle 23">
              <a:extLst>
                <a:ext uri="{FF2B5EF4-FFF2-40B4-BE49-F238E27FC236}">
                  <a16:creationId xmlns:a16="http://schemas.microsoft.com/office/drawing/2014/main" id="{9CD93204-A06C-E743-9E72-AD0684DDFB1F}"/>
                </a:ext>
              </a:extLst>
            </p:cNvPr>
            <p:cNvSpPr>
              <a:spLocks noChangeArrowheads="1"/>
            </p:cNvSpPr>
            <p:nvPr/>
          </p:nvSpPr>
          <p:spPr bwMode="auto">
            <a:xfrm>
              <a:off x="1920"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2</a:t>
              </a:r>
            </a:p>
          </p:txBody>
        </p:sp>
        <p:sp>
          <p:nvSpPr>
            <p:cNvPr id="59579" name="Rectangle 24">
              <a:extLst>
                <a:ext uri="{FF2B5EF4-FFF2-40B4-BE49-F238E27FC236}">
                  <a16:creationId xmlns:a16="http://schemas.microsoft.com/office/drawing/2014/main" id="{CD027C82-B999-0144-A697-1BA02E706045}"/>
                </a:ext>
              </a:extLst>
            </p:cNvPr>
            <p:cNvSpPr>
              <a:spLocks noChangeArrowheads="1"/>
            </p:cNvSpPr>
            <p:nvPr/>
          </p:nvSpPr>
          <p:spPr bwMode="auto">
            <a:xfrm>
              <a:off x="2544"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3</a:t>
              </a:r>
            </a:p>
          </p:txBody>
        </p:sp>
        <p:sp>
          <p:nvSpPr>
            <p:cNvPr id="59580" name="Rectangle 25">
              <a:extLst>
                <a:ext uri="{FF2B5EF4-FFF2-40B4-BE49-F238E27FC236}">
                  <a16:creationId xmlns:a16="http://schemas.microsoft.com/office/drawing/2014/main" id="{85BA871E-F1A7-3F41-96D4-08E3C5B73F11}"/>
                </a:ext>
              </a:extLst>
            </p:cNvPr>
            <p:cNvSpPr>
              <a:spLocks noChangeArrowheads="1"/>
            </p:cNvSpPr>
            <p:nvPr/>
          </p:nvSpPr>
          <p:spPr bwMode="auto">
            <a:xfrm>
              <a:off x="3168"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4</a:t>
              </a:r>
            </a:p>
          </p:txBody>
        </p:sp>
        <p:sp>
          <p:nvSpPr>
            <p:cNvPr id="59581" name="Rectangle 26">
              <a:extLst>
                <a:ext uri="{FF2B5EF4-FFF2-40B4-BE49-F238E27FC236}">
                  <a16:creationId xmlns:a16="http://schemas.microsoft.com/office/drawing/2014/main" id="{AB8A6211-1296-0740-956A-99CAACA2CA80}"/>
                </a:ext>
              </a:extLst>
            </p:cNvPr>
            <p:cNvSpPr>
              <a:spLocks noChangeArrowheads="1"/>
            </p:cNvSpPr>
            <p:nvPr/>
          </p:nvSpPr>
          <p:spPr bwMode="auto">
            <a:xfrm>
              <a:off x="379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5</a:t>
              </a:r>
            </a:p>
          </p:txBody>
        </p:sp>
        <p:sp>
          <p:nvSpPr>
            <p:cNvPr id="59582" name="AutoShape 27">
              <a:extLst>
                <a:ext uri="{FF2B5EF4-FFF2-40B4-BE49-F238E27FC236}">
                  <a16:creationId xmlns:a16="http://schemas.microsoft.com/office/drawing/2014/main" id="{0288B2C6-E1CC-EB4E-B2F3-B47CB32E8928}"/>
                </a:ext>
              </a:extLst>
            </p:cNvPr>
            <p:cNvSpPr>
              <a:spLocks noChangeArrowheads="1"/>
            </p:cNvSpPr>
            <p:nvPr/>
          </p:nvSpPr>
          <p:spPr bwMode="auto">
            <a:xfrm>
              <a:off x="4416" y="1152"/>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83" name="Rectangle 28">
              <a:extLst>
                <a:ext uri="{FF2B5EF4-FFF2-40B4-BE49-F238E27FC236}">
                  <a16:creationId xmlns:a16="http://schemas.microsoft.com/office/drawing/2014/main" id="{767CD50F-15A8-A84F-B731-6FAEAEAFCC57}"/>
                </a:ext>
              </a:extLst>
            </p:cNvPr>
            <p:cNvSpPr>
              <a:spLocks noChangeArrowheads="1"/>
            </p:cNvSpPr>
            <p:nvPr/>
          </p:nvSpPr>
          <p:spPr bwMode="auto">
            <a:xfrm>
              <a:off x="3168" y="2544"/>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84" name="Rectangle 29">
              <a:extLst>
                <a:ext uri="{FF2B5EF4-FFF2-40B4-BE49-F238E27FC236}">
                  <a16:creationId xmlns:a16="http://schemas.microsoft.com/office/drawing/2014/main" id="{CB7EF760-319F-2842-9B67-3CB214833E1C}"/>
                </a:ext>
              </a:extLst>
            </p:cNvPr>
            <p:cNvSpPr>
              <a:spLocks noChangeArrowheads="1"/>
            </p:cNvSpPr>
            <p:nvPr/>
          </p:nvSpPr>
          <p:spPr bwMode="auto">
            <a:xfrm>
              <a:off x="3792" y="2544"/>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85" name="Rectangle 30">
              <a:extLst>
                <a:ext uri="{FF2B5EF4-FFF2-40B4-BE49-F238E27FC236}">
                  <a16:creationId xmlns:a16="http://schemas.microsoft.com/office/drawing/2014/main" id="{E11AB598-DD46-034E-B224-B42837A6AEE6}"/>
                </a:ext>
              </a:extLst>
            </p:cNvPr>
            <p:cNvSpPr>
              <a:spLocks noChangeArrowheads="1"/>
            </p:cNvSpPr>
            <p:nvPr/>
          </p:nvSpPr>
          <p:spPr bwMode="auto">
            <a:xfrm>
              <a:off x="5040"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86" name="Rectangle 31">
              <a:extLst>
                <a:ext uri="{FF2B5EF4-FFF2-40B4-BE49-F238E27FC236}">
                  <a16:creationId xmlns:a16="http://schemas.microsoft.com/office/drawing/2014/main" id="{9A684411-5407-0A4C-B00A-2991D9938EFB}"/>
                </a:ext>
              </a:extLst>
            </p:cNvPr>
            <p:cNvSpPr>
              <a:spLocks noChangeArrowheads="1"/>
            </p:cNvSpPr>
            <p:nvPr/>
          </p:nvSpPr>
          <p:spPr bwMode="auto">
            <a:xfrm>
              <a:off x="3792" y="283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87" name="Rectangle 32">
              <a:extLst>
                <a:ext uri="{FF2B5EF4-FFF2-40B4-BE49-F238E27FC236}">
                  <a16:creationId xmlns:a16="http://schemas.microsoft.com/office/drawing/2014/main" id="{C41BD8E2-D06C-DA4D-BE9C-944D00D0060B}"/>
                </a:ext>
              </a:extLst>
            </p:cNvPr>
            <p:cNvSpPr>
              <a:spLocks noChangeArrowheads="1"/>
            </p:cNvSpPr>
            <p:nvPr/>
          </p:nvSpPr>
          <p:spPr bwMode="auto">
            <a:xfrm>
              <a:off x="4416" y="283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88" name="Rectangle 33">
              <a:extLst>
                <a:ext uri="{FF2B5EF4-FFF2-40B4-BE49-F238E27FC236}">
                  <a16:creationId xmlns:a16="http://schemas.microsoft.com/office/drawing/2014/main" id="{F5C9D984-81D4-F44D-87D8-80B1C8E7908D}"/>
                </a:ext>
              </a:extLst>
            </p:cNvPr>
            <p:cNvSpPr>
              <a:spLocks noChangeArrowheads="1"/>
            </p:cNvSpPr>
            <p:nvPr/>
          </p:nvSpPr>
          <p:spPr bwMode="auto">
            <a:xfrm>
              <a:off x="5040" y="283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89" name="Rectangle 34">
              <a:extLst>
                <a:ext uri="{FF2B5EF4-FFF2-40B4-BE49-F238E27FC236}">
                  <a16:creationId xmlns:a16="http://schemas.microsoft.com/office/drawing/2014/main" id="{A74E88D0-4E76-E04D-BDD8-C9ABFABE7E24}"/>
                </a:ext>
              </a:extLst>
            </p:cNvPr>
            <p:cNvSpPr>
              <a:spLocks noChangeArrowheads="1"/>
            </p:cNvSpPr>
            <p:nvPr/>
          </p:nvSpPr>
          <p:spPr bwMode="auto">
            <a:xfrm>
              <a:off x="4416" y="312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90" name="Rectangle 35">
              <a:extLst>
                <a:ext uri="{FF2B5EF4-FFF2-40B4-BE49-F238E27FC236}">
                  <a16:creationId xmlns:a16="http://schemas.microsoft.com/office/drawing/2014/main" id="{6F9507C8-B83D-4146-ABA2-9D7970E8AFA7}"/>
                </a:ext>
              </a:extLst>
            </p:cNvPr>
            <p:cNvSpPr>
              <a:spLocks noChangeArrowheads="1"/>
            </p:cNvSpPr>
            <p:nvPr/>
          </p:nvSpPr>
          <p:spPr bwMode="auto">
            <a:xfrm>
              <a:off x="5040" y="3120"/>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91" name="Rectangle 36">
              <a:extLst>
                <a:ext uri="{FF2B5EF4-FFF2-40B4-BE49-F238E27FC236}">
                  <a16:creationId xmlns:a16="http://schemas.microsoft.com/office/drawing/2014/main" id="{B3DF1761-ACEF-8741-A678-C2F43BEA91B9}"/>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92" name="Rectangle 37">
              <a:extLst>
                <a:ext uri="{FF2B5EF4-FFF2-40B4-BE49-F238E27FC236}">
                  <a16:creationId xmlns:a16="http://schemas.microsoft.com/office/drawing/2014/main" id="{AC6B3D1D-59DB-6341-809A-C5CE59AB10F9}"/>
                </a:ext>
              </a:extLst>
            </p:cNvPr>
            <p:cNvSpPr>
              <a:spLocks noChangeArrowheads="1"/>
            </p:cNvSpPr>
            <p:nvPr/>
          </p:nvSpPr>
          <p:spPr bwMode="auto">
            <a:xfrm>
              <a:off x="48" y="1680"/>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93" name="Rectangle 38">
              <a:extLst>
                <a:ext uri="{FF2B5EF4-FFF2-40B4-BE49-F238E27FC236}">
                  <a16:creationId xmlns:a16="http://schemas.microsoft.com/office/drawing/2014/main" id="{219CCA45-6858-D243-B47C-69D0E253F184}"/>
                </a:ext>
              </a:extLst>
            </p:cNvPr>
            <p:cNvSpPr>
              <a:spLocks noChangeArrowheads="1"/>
            </p:cNvSpPr>
            <p:nvPr/>
          </p:nvSpPr>
          <p:spPr bwMode="auto">
            <a:xfrm>
              <a:off x="48"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94" name="Rectangle 39">
              <a:extLst>
                <a:ext uri="{FF2B5EF4-FFF2-40B4-BE49-F238E27FC236}">
                  <a16:creationId xmlns:a16="http://schemas.microsoft.com/office/drawing/2014/main" id="{8ADD58D0-2A45-CE4B-BB14-3D5E93C6D1F8}"/>
                </a:ext>
              </a:extLst>
            </p:cNvPr>
            <p:cNvSpPr>
              <a:spLocks noChangeArrowheads="1"/>
            </p:cNvSpPr>
            <p:nvPr/>
          </p:nvSpPr>
          <p:spPr bwMode="auto">
            <a:xfrm>
              <a:off x="48"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k</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95" name="Rectangle 40">
              <a:extLst>
                <a:ext uri="{FF2B5EF4-FFF2-40B4-BE49-F238E27FC236}">
                  <a16:creationId xmlns:a16="http://schemas.microsoft.com/office/drawing/2014/main" id="{526FE06D-7FD4-8343-83C2-946E9B6D246C}"/>
                </a:ext>
              </a:extLst>
            </p:cNvPr>
            <p:cNvSpPr>
              <a:spLocks noChangeArrowheads="1"/>
            </p:cNvSpPr>
            <p:nvPr/>
          </p:nvSpPr>
          <p:spPr bwMode="auto">
            <a:xfrm>
              <a:off x="48"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l</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96" name="AutoShape 41">
              <a:extLst>
                <a:ext uri="{FF2B5EF4-FFF2-40B4-BE49-F238E27FC236}">
                  <a16:creationId xmlns:a16="http://schemas.microsoft.com/office/drawing/2014/main" id="{9451EC61-1153-604E-9EC1-AAA58986CBBE}"/>
                </a:ext>
              </a:extLst>
            </p:cNvPr>
            <p:cNvSpPr>
              <a:spLocks noChangeArrowheads="1"/>
            </p:cNvSpPr>
            <p:nvPr/>
          </p:nvSpPr>
          <p:spPr bwMode="auto">
            <a:xfrm rot="5400000">
              <a:off x="-216" y="3288"/>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97" name="Freeform 42">
              <a:extLst>
                <a:ext uri="{FF2B5EF4-FFF2-40B4-BE49-F238E27FC236}">
                  <a16:creationId xmlns:a16="http://schemas.microsoft.com/office/drawing/2014/main" id="{71223724-9CF2-5449-BC97-788E7183D906}"/>
                </a:ext>
              </a:extLst>
            </p:cNvPr>
            <p:cNvSpPr>
              <a:spLocks/>
            </p:cNvSpPr>
            <p:nvPr/>
          </p:nvSpPr>
          <p:spPr bwMode="auto">
            <a:xfrm>
              <a:off x="5040" y="2256"/>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98" name="Freeform 43">
              <a:extLst>
                <a:ext uri="{FF2B5EF4-FFF2-40B4-BE49-F238E27FC236}">
                  <a16:creationId xmlns:a16="http://schemas.microsoft.com/office/drawing/2014/main" id="{E0AE2335-6DB0-BF45-B210-3D48E45EB5FA}"/>
                </a:ext>
              </a:extLst>
            </p:cNvPr>
            <p:cNvSpPr>
              <a:spLocks/>
            </p:cNvSpPr>
            <p:nvPr/>
          </p:nvSpPr>
          <p:spPr bwMode="auto">
            <a:xfrm>
              <a:off x="5040" y="2544"/>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99" name="Freeform 44">
              <a:extLst>
                <a:ext uri="{FF2B5EF4-FFF2-40B4-BE49-F238E27FC236}">
                  <a16:creationId xmlns:a16="http://schemas.microsoft.com/office/drawing/2014/main" id="{747D2C40-56B4-B541-931E-60A54D2EDA8C}"/>
                </a:ext>
              </a:extLst>
            </p:cNvPr>
            <p:cNvSpPr>
              <a:spLocks/>
            </p:cNvSpPr>
            <p:nvPr/>
          </p:nvSpPr>
          <p:spPr bwMode="auto">
            <a:xfrm>
              <a:off x="5040" y="2832"/>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600" name="Freeform 45">
              <a:extLst>
                <a:ext uri="{FF2B5EF4-FFF2-40B4-BE49-F238E27FC236}">
                  <a16:creationId xmlns:a16="http://schemas.microsoft.com/office/drawing/2014/main" id="{2511F628-6FF9-9C4F-A87A-FBDC42E7AE1B}"/>
                </a:ext>
              </a:extLst>
            </p:cNvPr>
            <p:cNvSpPr>
              <a:spLocks/>
            </p:cNvSpPr>
            <p:nvPr/>
          </p:nvSpPr>
          <p:spPr bwMode="auto">
            <a:xfrm>
              <a:off x="5040" y="3120"/>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601" name="Freeform 46">
              <a:extLst>
                <a:ext uri="{FF2B5EF4-FFF2-40B4-BE49-F238E27FC236}">
                  <a16:creationId xmlns:a16="http://schemas.microsoft.com/office/drawing/2014/main" id="{3ED0114A-E1FD-D743-A0F7-303FE175988C}"/>
                </a:ext>
              </a:extLst>
            </p:cNvPr>
            <p:cNvSpPr>
              <a:spLocks/>
            </p:cNvSpPr>
            <p:nvPr/>
          </p:nvSpPr>
          <p:spPr bwMode="auto">
            <a:xfrm>
              <a:off x="5040" y="3408"/>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602" name="Rectangle 47">
              <a:extLst>
                <a:ext uri="{FF2B5EF4-FFF2-40B4-BE49-F238E27FC236}">
                  <a16:creationId xmlns:a16="http://schemas.microsoft.com/office/drawing/2014/main" id="{AE684389-09B2-724A-A73E-FBB31E92ED76}"/>
                </a:ext>
              </a:extLst>
            </p:cNvPr>
            <p:cNvSpPr>
              <a:spLocks noChangeArrowheads="1"/>
            </p:cNvSpPr>
            <p:nvPr/>
          </p:nvSpPr>
          <p:spPr bwMode="auto">
            <a:xfrm>
              <a:off x="3168"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603" name="Rectangle 48">
              <a:extLst>
                <a:ext uri="{FF2B5EF4-FFF2-40B4-BE49-F238E27FC236}">
                  <a16:creationId xmlns:a16="http://schemas.microsoft.com/office/drawing/2014/main" id="{0833122E-1E17-1F44-A72B-E1C537DA71C9}"/>
                </a:ext>
              </a:extLst>
            </p:cNvPr>
            <p:cNvSpPr>
              <a:spLocks noChangeArrowheads="1"/>
            </p:cNvSpPr>
            <p:nvPr/>
          </p:nvSpPr>
          <p:spPr bwMode="auto">
            <a:xfrm>
              <a:off x="3792"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604" name="Text Box 49">
              <a:extLst>
                <a:ext uri="{FF2B5EF4-FFF2-40B4-BE49-F238E27FC236}">
                  <a16:creationId xmlns:a16="http://schemas.microsoft.com/office/drawing/2014/main" id="{8AE88D6C-2F11-B647-B532-4B8730120B8E}"/>
                </a:ext>
              </a:extLst>
            </p:cNvPr>
            <p:cNvSpPr txBox="1">
              <a:spLocks noChangeArrowheads="1"/>
            </p:cNvSpPr>
            <p:nvPr/>
          </p:nvSpPr>
          <p:spPr bwMode="auto">
            <a:xfrm>
              <a:off x="480" y="2983"/>
              <a:ext cx="2140"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i: r</a:t>
              </a:r>
              <a:r>
                <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rPr>
                <a:t>x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_</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j: _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r</a:t>
              </a:r>
              <a:r>
                <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rPr>
                <a:t>x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dist(i,j)=1</a:t>
              </a:r>
              <a:endPar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endParaRPr>
            </a:p>
          </p:txBody>
        </p:sp>
        <p:sp>
          <p:nvSpPr>
            <p:cNvPr id="59605" name="Text Box 50">
              <a:extLst>
                <a:ext uri="{FF2B5EF4-FFF2-40B4-BE49-F238E27FC236}">
                  <a16:creationId xmlns:a16="http://schemas.microsoft.com/office/drawing/2014/main" id="{29448B66-E5F2-D347-8A8A-28D34DBAC1A3}"/>
                </a:ext>
              </a:extLst>
            </p:cNvPr>
            <p:cNvSpPr txBox="1">
              <a:spLocks noChangeArrowheads="1"/>
            </p:cNvSpPr>
            <p:nvPr/>
          </p:nvSpPr>
          <p:spPr bwMode="auto">
            <a:xfrm>
              <a:off x="907" y="1632"/>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p>
          </p:txBody>
        </p:sp>
        <p:sp>
          <p:nvSpPr>
            <p:cNvPr id="59606" name="Text Box 51">
              <a:extLst>
                <a:ext uri="{FF2B5EF4-FFF2-40B4-BE49-F238E27FC236}">
                  <a16:creationId xmlns:a16="http://schemas.microsoft.com/office/drawing/2014/main" id="{E7A1FB15-8572-104D-9AB4-A2781EFB48B8}"/>
                </a:ext>
              </a:extLst>
            </p:cNvPr>
            <p:cNvSpPr txBox="1">
              <a:spLocks noChangeArrowheads="1"/>
            </p:cNvSpPr>
            <p:nvPr/>
          </p:nvSpPr>
          <p:spPr bwMode="auto">
            <a:xfrm>
              <a:off x="1519" y="1920"/>
              <a:ext cx="1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p>
          </p:txBody>
        </p:sp>
        <p:sp>
          <p:nvSpPr>
            <p:cNvPr id="59607" name="Freeform 52">
              <a:extLst>
                <a:ext uri="{FF2B5EF4-FFF2-40B4-BE49-F238E27FC236}">
                  <a16:creationId xmlns:a16="http://schemas.microsoft.com/office/drawing/2014/main" id="{1E0F4BE7-2917-FF40-A720-7F76C2F32118}"/>
                </a:ext>
              </a:extLst>
            </p:cNvPr>
            <p:cNvSpPr>
              <a:spLocks/>
            </p:cNvSpPr>
            <p:nvPr/>
          </p:nvSpPr>
          <p:spPr bwMode="auto">
            <a:xfrm>
              <a:off x="2180" y="1794"/>
              <a:ext cx="2479" cy="288"/>
            </a:xfrm>
            <a:custGeom>
              <a:avLst/>
              <a:gdLst>
                <a:gd name="T0" fmla="*/ 2129 w 2479"/>
                <a:gd name="T1" fmla="*/ 0 h 288"/>
                <a:gd name="T2" fmla="*/ 2173 w 2479"/>
                <a:gd name="T3" fmla="*/ 104 h 288"/>
                <a:gd name="T4" fmla="*/ 290 w 2479"/>
                <a:gd name="T5" fmla="*/ 141 h 288"/>
                <a:gd name="T6" fmla="*/ 430 w 2479"/>
                <a:gd name="T7" fmla="*/ 288 h 288"/>
                <a:gd name="T8" fmla="*/ 0 60000 65536"/>
                <a:gd name="T9" fmla="*/ 0 60000 65536"/>
                <a:gd name="T10" fmla="*/ 0 60000 65536"/>
                <a:gd name="T11" fmla="*/ 0 60000 65536"/>
                <a:gd name="T12" fmla="*/ 0 w 2479"/>
                <a:gd name="T13" fmla="*/ 0 h 288"/>
                <a:gd name="T14" fmla="*/ 2479 w 2479"/>
                <a:gd name="T15" fmla="*/ 288 h 288"/>
              </a:gdLst>
              <a:ahLst/>
              <a:cxnLst>
                <a:cxn ang="T8">
                  <a:pos x="T0" y="T1"/>
                </a:cxn>
                <a:cxn ang="T9">
                  <a:pos x="T2" y="T3"/>
                </a:cxn>
                <a:cxn ang="T10">
                  <a:pos x="T4" y="T5"/>
                </a:cxn>
                <a:cxn ang="T11">
                  <a:pos x="T6" y="T7"/>
                </a:cxn>
              </a:cxnLst>
              <a:rect l="T12" t="T13" r="T14" b="T15"/>
              <a:pathLst>
                <a:path w="2479" h="288">
                  <a:moveTo>
                    <a:pt x="2129" y="0"/>
                  </a:moveTo>
                  <a:cubicBezTo>
                    <a:pt x="2136" y="17"/>
                    <a:pt x="2479" y="81"/>
                    <a:pt x="2173" y="104"/>
                  </a:cubicBezTo>
                  <a:cubicBezTo>
                    <a:pt x="1867" y="127"/>
                    <a:pt x="580" y="110"/>
                    <a:pt x="290" y="141"/>
                  </a:cubicBezTo>
                  <a:cubicBezTo>
                    <a:pt x="0" y="172"/>
                    <a:pt x="401" y="258"/>
                    <a:pt x="430" y="288"/>
                  </a:cubicBezTo>
                </a:path>
              </a:pathLst>
            </a:custGeom>
            <a:noFill/>
            <a:ln w="571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608" name="Rectangle 53">
              <a:extLst>
                <a:ext uri="{FF2B5EF4-FFF2-40B4-BE49-F238E27FC236}">
                  <a16:creationId xmlns:a16="http://schemas.microsoft.com/office/drawing/2014/main" id="{9B91F0C4-67EA-3F44-B194-3524BAB34FEA}"/>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h</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609" name="Rectangle 54">
              <a:extLst>
                <a:ext uri="{FF2B5EF4-FFF2-40B4-BE49-F238E27FC236}">
                  <a16:creationId xmlns:a16="http://schemas.microsoft.com/office/drawing/2014/main" id="{4938E778-BB23-BD4B-B7B3-F6F0C341C9E3}"/>
                </a:ext>
              </a:extLst>
            </p:cNvPr>
            <p:cNvSpPr>
              <a:spLocks noChangeArrowheads="1"/>
            </p:cNvSpPr>
            <p:nvPr/>
          </p:nvSpPr>
          <p:spPr bwMode="auto">
            <a:xfrm>
              <a:off x="4416"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610" name="Rectangle 55">
              <a:extLst>
                <a:ext uri="{FF2B5EF4-FFF2-40B4-BE49-F238E27FC236}">
                  <a16:creationId xmlns:a16="http://schemas.microsoft.com/office/drawing/2014/main" id="{2755EDE2-1242-5148-8871-8FD940E05846}"/>
                </a:ext>
              </a:extLst>
            </p:cNvPr>
            <p:cNvSpPr>
              <a:spLocks noChangeArrowheads="1"/>
            </p:cNvSpPr>
            <p:nvPr/>
          </p:nvSpPr>
          <p:spPr bwMode="auto">
            <a:xfrm>
              <a:off x="4416"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611" name="Rectangle 56">
              <a:extLst>
                <a:ext uri="{FF2B5EF4-FFF2-40B4-BE49-F238E27FC236}">
                  <a16:creationId xmlns:a16="http://schemas.microsoft.com/office/drawing/2014/main" id="{C38CEE49-B73B-D946-A01D-C6B703D6E4D8}"/>
                </a:ext>
              </a:extLst>
            </p:cNvPr>
            <p:cNvSpPr>
              <a:spLocks noChangeArrowheads="1"/>
            </p:cNvSpPr>
            <p:nvPr/>
          </p:nvSpPr>
          <p:spPr bwMode="auto">
            <a:xfrm>
              <a:off x="4416" y="2544"/>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grpSp>
      <p:grpSp>
        <p:nvGrpSpPr>
          <p:cNvPr id="60" name="Group 57">
            <a:extLst>
              <a:ext uri="{FF2B5EF4-FFF2-40B4-BE49-F238E27FC236}">
                <a16:creationId xmlns:a16="http://schemas.microsoft.com/office/drawing/2014/main" id="{ABB98937-352F-B44C-A7DD-D7972D88F820}"/>
              </a:ext>
            </a:extLst>
          </p:cNvPr>
          <p:cNvGrpSpPr>
            <a:grpSpLocks/>
          </p:cNvGrpSpPr>
          <p:nvPr/>
        </p:nvGrpSpPr>
        <p:grpSpPr bwMode="auto">
          <a:xfrm>
            <a:off x="0" y="1066800"/>
            <a:ext cx="9144000" cy="5791200"/>
            <a:chOff x="0" y="672"/>
            <a:chExt cx="5760" cy="3648"/>
          </a:xfrm>
        </p:grpSpPr>
        <p:sp>
          <p:nvSpPr>
            <p:cNvPr id="59504" name="Rectangle 58">
              <a:extLst>
                <a:ext uri="{FF2B5EF4-FFF2-40B4-BE49-F238E27FC236}">
                  <a16:creationId xmlns:a16="http://schemas.microsoft.com/office/drawing/2014/main" id="{3294E99E-4C7F-4B42-B787-F7080C2C4774}"/>
                </a:ext>
              </a:extLst>
            </p:cNvPr>
            <p:cNvSpPr>
              <a:spLocks noChangeArrowheads="1"/>
            </p:cNvSpPr>
            <p:nvPr/>
          </p:nvSpPr>
          <p:spPr bwMode="auto">
            <a:xfrm>
              <a:off x="0" y="672"/>
              <a:ext cx="5760" cy="3648"/>
            </a:xfrm>
            <a:prstGeom prst="rect">
              <a:avLst/>
            </a:prstGeom>
            <a:solidFill>
              <a:schemeClr val="bg1"/>
            </a:solidFill>
            <a:ln w="19050">
              <a:solidFill>
                <a:schemeClr val="bg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05" name="Text Box 59">
              <a:extLst>
                <a:ext uri="{FF2B5EF4-FFF2-40B4-BE49-F238E27FC236}">
                  <a16:creationId xmlns:a16="http://schemas.microsoft.com/office/drawing/2014/main" id="{9991EB10-2376-2141-AD8F-6A26020A8A65}"/>
                </a:ext>
              </a:extLst>
            </p:cNvPr>
            <p:cNvSpPr txBox="1">
              <a:spLocks noChangeArrowheads="1"/>
            </p:cNvSpPr>
            <p:nvPr/>
          </p:nvSpPr>
          <p:spPr bwMode="auto">
            <a:xfrm>
              <a:off x="480" y="2983"/>
              <a:ext cx="2175"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i: r</a:t>
              </a:r>
              <a:r>
                <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rPr>
                <a:t>x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_</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bubble</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j: _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r</a:t>
              </a:r>
              <a:r>
                <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rPr>
                <a:t>x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dist(i,j)=2</a:t>
              </a:r>
            </a:p>
          </p:txBody>
        </p:sp>
        <p:sp>
          <p:nvSpPr>
            <p:cNvPr id="59506" name="Rectangle 60">
              <a:extLst>
                <a:ext uri="{FF2B5EF4-FFF2-40B4-BE49-F238E27FC236}">
                  <a16:creationId xmlns:a16="http://schemas.microsoft.com/office/drawing/2014/main" id="{71946953-F65A-CE4B-894D-04028BA1BF30}"/>
                </a:ext>
              </a:extLst>
            </p:cNvPr>
            <p:cNvSpPr>
              <a:spLocks noChangeArrowheads="1"/>
            </p:cNvSpPr>
            <p:nvPr/>
          </p:nvSpPr>
          <p:spPr bwMode="auto">
            <a:xfrm>
              <a:off x="5040"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507" name="Rectangle 61">
              <a:extLst>
                <a:ext uri="{FF2B5EF4-FFF2-40B4-BE49-F238E27FC236}">
                  <a16:creationId xmlns:a16="http://schemas.microsoft.com/office/drawing/2014/main" id="{C9F3A1DE-7386-604A-AE0C-019404CD580E}"/>
                </a:ext>
              </a:extLst>
            </p:cNvPr>
            <p:cNvSpPr>
              <a:spLocks noChangeArrowheads="1"/>
            </p:cNvSpPr>
            <p:nvPr/>
          </p:nvSpPr>
          <p:spPr bwMode="auto">
            <a:xfrm>
              <a:off x="3072" y="1008"/>
              <a:ext cx="768" cy="2112"/>
            </a:xfrm>
            <a:prstGeom prst="rect">
              <a:avLst/>
            </a:prstGeom>
            <a:solidFill>
              <a:srgbClr val="D49F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08" name="Rectangle 62">
              <a:extLst>
                <a:ext uri="{FF2B5EF4-FFF2-40B4-BE49-F238E27FC236}">
                  <a16:creationId xmlns:a16="http://schemas.microsoft.com/office/drawing/2014/main" id="{3994F0C7-B722-7C4B-8CCE-B05813E230AB}"/>
                </a:ext>
              </a:extLst>
            </p:cNvPr>
            <p:cNvSpPr>
              <a:spLocks noChangeArrowheads="1"/>
            </p:cNvSpPr>
            <p:nvPr/>
          </p:nvSpPr>
          <p:spPr bwMode="auto">
            <a:xfrm>
              <a:off x="672"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09" name="Rectangle 63">
              <a:extLst>
                <a:ext uri="{FF2B5EF4-FFF2-40B4-BE49-F238E27FC236}">
                  <a16:creationId xmlns:a16="http://schemas.microsoft.com/office/drawing/2014/main" id="{BF72A4CF-EBAE-5B4F-9451-AC964D7FE889}"/>
                </a:ext>
              </a:extLst>
            </p:cNvPr>
            <p:cNvSpPr>
              <a:spLocks noChangeArrowheads="1"/>
            </p:cNvSpPr>
            <p:nvPr/>
          </p:nvSpPr>
          <p:spPr bwMode="auto">
            <a:xfrm>
              <a:off x="1296"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10" name="Rectangle 64">
              <a:extLst>
                <a:ext uri="{FF2B5EF4-FFF2-40B4-BE49-F238E27FC236}">
                  <a16:creationId xmlns:a16="http://schemas.microsoft.com/office/drawing/2014/main" id="{F903FBB9-C06E-1F42-B11A-5323A83F9DBA}"/>
                </a:ext>
              </a:extLst>
            </p:cNvPr>
            <p:cNvSpPr>
              <a:spLocks noChangeArrowheads="1"/>
            </p:cNvSpPr>
            <p:nvPr/>
          </p:nvSpPr>
          <p:spPr bwMode="auto">
            <a:xfrm>
              <a:off x="1920"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11" name="Rectangle 65">
              <a:extLst>
                <a:ext uri="{FF2B5EF4-FFF2-40B4-BE49-F238E27FC236}">
                  <a16:creationId xmlns:a16="http://schemas.microsoft.com/office/drawing/2014/main" id="{28BF2AEA-A430-4D42-BA9A-F3AEDD4EB1CD}"/>
                </a:ext>
              </a:extLst>
            </p:cNvPr>
            <p:cNvSpPr>
              <a:spLocks noChangeArrowheads="1"/>
            </p:cNvSpPr>
            <p:nvPr/>
          </p:nvSpPr>
          <p:spPr bwMode="auto">
            <a:xfrm>
              <a:off x="2544"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12" name="Rectangle 66">
              <a:extLst>
                <a:ext uri="{FF2B5EF4-FFF2-40B4-BE49-F238E27FC236}">
                  <a16:creationId xmlns:a16="http://schemas.microsoft.com/office/drawing/2014/main" id="{EC639C19-37A2-004F-80B4-80E4B43A9F7C}"/>
                </a:ext>
              </a:extLst>
            </p:cNvPr>
            <p:cNvSpPr>
              <a:spLocks noChangeArrowheads="1"/>
            </p:cNvSpPr>
            <p:nvPr/>
          </p:nvSpPr>
          <p:spPr bwMode="auto">
            <a:xfrm>
              <a:off x="1296"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13" name="Rectangle 67">
              <a:extLst>
                <a:ext uri="{FF2B5EF4-FFF2-40B4-BE49-F238E27FC236}">
                  <a16:creationId xmlns:a16="http://schemas.microsoft.com/office/drawing/2014/main" id="{B07F497D-32B6-6742-AF94-A8A3F0ECB3FD}"/>
                </a:ext>
              </a:extLst>
            </p:cNvPr>
            <p:cNvSpPr>
              <a:spLocks noChangeArrowheads="1"/>
            </p:cNvSpPr>
            <p:nvPr/>
          </p:nvSpPr>
          <p:spPr bwMode="auto">
            <a:xfrm>
              <a:off x="1920"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14" name="Rectangle 68">
              <a:extLst>
                <a:ext uri="{FF2B5EF4-FFF2-40B4-BE49-F238E27FC236}">
                  <a16:creationId xmlns:a16="http://schemas.microsoft.com/office/drawing/2014/main" id="{D211D700-11BD-0149-B017-E87881AB3671}"/>
                </a:ext>
              </a:extLst>
            </p:cNvPr>
            <p:cNvSpPr>
              <a:spLocks noChangeArrowheads="1"/>
            </p:cNvSpPr>
            <p:nvPr/>
          </p:nvSpPr>
          <p:spPr bwMode="auto">
            <a:xfrm>
              <a:off x="2544"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15" name="Rectangle 69">
              <a:extLst>
                <a:ext uri="{FF2B5EF4-FFF2-40B4-BE49-F238E27FC236}">
                  <a16:creationId xmlns:a16="http://schemas.microsoft.com/office/drawing/2014/main" id="{5751F8C3-9FA5-9542-9CFC-D18F9193D046}"/>
                </a:ext>
              </a:extLst>
            </p:cNvPr>
            <p:cNvSpPr>
              <a:spLocks noChangeArrowheads="1"/>
            </p:cNvSpPr>
            <p:nvPr/>
          </p:nvSpPr>
          <p:spPr bwMode="auto">
            <a:xfrm>
              <a:off x="3168"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16" name="Rectangle 70">
              <a:extLst>
                <a:ext uri="{FF2B5EF4-FFF2-40B4-BE49-F238E27FC236}">
                  <a16:creationId xmlns:a16="http://schemas.microsoft.com/office/drawing/2014/main" id="{A2E136EF-3B4C-5441-BE07-9993FC3B542A}"/>
                </a:ext>
              </a:extLst>
            </p:cNvPr>
            <p:cNvSpPr>
              <a:spLocks noChangeArrowheads="1"/>
            </p:cNvSpPr>
            <p:nvPr/>
          </p:nvSpPr>
          <p:spPr bwMode="auto">
            <a:xfrm>
              <a:off x="1920"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17" name="Rectangle 71">
              <a:extLst>
                <a:ext uri="{FF2B5EF4-FFF2-40B4-BE49-F238E27FC236}">
                  <a16:creationId xmlns:a16="http://schemas.microsoft.com/office/drawing/2014/main" id="{F7E699D5-7BB1-4C44-AF51-95DD6470FA53}"/>
                </a:ext>
              </a:extLst>
            </p:cNvPr>
            <p:cNvSpPr>
              <a:spLocks noChangeArrowheads="1"/>
            </p:cNvSpPr>
            <p:nvPr/>
          </p:nvSpPr>
          <p:spPr bwMode="auto">
            <a:xfrm>
              <a:off x="2544" y="1968"/>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18" name="Rectangle 72">
              <a:extLst>
                <a:ext uri="{FF2B5EF4-FFF2-40B4-BE49-F238E27FC236}">
                  <a16:creationId xmlns:a16="http://schemas.microsoft.com/office/drawing/2014/main" id="{408A118D-DBFE-5E48-BD2C-352E0924FEDC}"/>
                </a:ext>
              </a:extLst>
            </p:cNvPr>
            <p:cNvSpPr>
              <a:spLocks noChangeArrowheads="1"/>
            </p:cNvSpPr>
            <p:nvPr/>
          </p:nvSpPr>
          <p:spPr bwMode="auto">
            <a:xfrm>
              <a:off x="3792"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19" name="Rectangle 73">
              <a:extLst>
                <a:ext uri="{FF2B5EF4-FFF2-40B4-BE49-F238E27FC236}">
                  <a16:creationId xmlns:a16="http://schemas.microsoft.com/office/drawing/2014/main" id="{5BA83EC5-98E1-B04E-AAD1-F5E14E023BAE}"/>
                </a:ext>
              </a:extLst>
            </p:cNvPr>
            <p:cNvSpPr>
              <a:spLocks noChangeArrowheads="1"/>
            </p:cNvSpPr>
            <p:nvPr/>
          </p:nvSpPr>
          <p:spPr bwMode="auto">
            <a:xfrm>
              <a:off x="4416"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20" name="Rectangle 74">
              <a:extLst>
                <a:ext uri="{FF2B5EF4-FFF2-40B4-BE49-F238E27FC236}">
                  <a16:creationId xmlns:a16="http://schemas.microsoft.com/office/drawing/2014/main" id="{67135E3B-9930-A84C-957E-4B57E68BF25D}"/>
                </a:ext>
              </a:extLst>
            </p:cNvPr>
            <p:cNvSpPr>
              <a:spLocks noChangeArrowheads="1"/>
            </p:cNvSpPr>
            <p:nvPr/>
          </p:nvSpPr>
          <p:spPr bwMode="auto">
            <a:xfrm>
              <a:off x="2544" y="2256"/>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21" name="Rectangle 75">
              <a:extLst>
                <a:ext uri="{FF2B5EF4-FFF2-40B4-BE49-F238E27FC236}">
                  <a16:creationId xmlns:a16="http://schemas.microsoft.com/office/drawing/2014/main" id="{10EB4963-0E82-194B-A974-695097460431}"/>
                </a:ext>
              </a:extLst>
            </p:cNvPr>
            <p:cNvSpPr>
              <a:spLocks noChangeArrowheads="1"/>
            </p:cNvSpPr>
            <p:nvPr/>
          </p:nvSpPr>
          <p:spPr bwMode="auto">
            <a:xfrm>
              <a:off x="3792"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22" name="Rectangle 76">
              <a:extLst>
                <a:ext uri="{FF2B5EF4-FFF2-40B4-BE49-F238E27FC236}">
                  <a16:creationId xmlns:a16="http://schemas.microsoft.com/office/drawing/2014/main" id="{34793E14-ABB8-AD47-913B-8F23396D2139}"/>
                </a:ext>
              </a:extLst>
            </p:cNvPr>
            <p:cNvSpPr>
              <a:spLocks noChangeArrowheads="1"/>
            </p:cNvSpPr>
            <p:nvPr/>
          </p:nvSpPr>
          <p:spPr bwMode="auto">
            <a:xfrm>
              <a:off x="4416"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23" name="Rectangle 77">
              <a:extLst>
                <a:ext uri="{FF2B5EF4-FFF2-40B4-BE49-F238E27FC236}">
                  <a16:creationId xmlns:a16="http://schemas.microsoft.com/office/drawing/2014/main" id="{F7726902-ADE7-DD4F-969D-0FE0990480A0}"/>
                </a:ext>
              </a:extLst>
            </p:cNvPr>
            <p:cNvSpPr>
              <a:spLocks noChangeArrowheads="1"/>
            </p:cNvSpPr>
            <p:nvPr/>
          </p:nvSpPr>
          <p:spPr bwMode="auto">
            <a:xfrm>
              <a:off x="67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0</a:t>
              </a:r>
            </a:p>
          </p:txBody>
        </p:sp>
        <p:sp>
          <p:nvSpPr>
            <p:cNvPr id="59524" name="Rectangle 78">
              <a:extLst>
                <a:ext uri="{FF2B5EF4-FFF2-40B4-BE49-F238E27FC236}">
                  <a16:creationId xmlns:a16="http://schemas.microsoft.com/office/drawing/2014/main" id="{9AFFCCDF-AC84-ED44-9C68-081697452037}"/>
                </a:ext>
              </a:extLst>
            </p:cNvPr>
            <p:cNvSpPr>
              <a:spLocks noChangeArrowheads="1"/>
            </p:cNvSpPr>
            <p:nvPr/>
          </p:nvSpPr>
          <p:spPr bwMode="auto">
            <a:xfrm>
              <a:off x="1296"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1</a:t>
              </a:r>
            </a:p>
          </p:txBody>
        </p:sp>
        <p:sp>
          <p:nvSpPr>
            <p:cNvPr id="59525" name="Rectangle 79">
              <a:extLst>
                <a:ext uri="{FF2B5EF4-FFF2-40B4-BE49-F238E27FC236}">
                  <a16:creationId xmlns:a16="http://schemas.microsoft.com/office/drawing/2014/main" id="{3B97B6A4-72B6-804B-A5FE-334DF85D9899}"/>
                </a:ext>
              </a:extLst>
            </p:cNvPr>
            <p:cNvSpPr>
              <a:spLocks noChangeArrowheads="1"/>
            </p:cNvSpPr>
            <p:nvPr/>
          </p:nvSpPr>
          <p:spPr bwMode="auto">
            <a:xfrm>
              <a:off x="1920"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2</a:t>
              </a:r>
            </a:p>
          </p:txBody>
        </p:sp>
        <p:sp>
          <p:nvSpPr>
            <p:cNvPr id="59526" name="Rectangle 80">
              <a:extLst>
                <a:ext uri="{FF2B5EF4-FFF2-40B4-BE49-F238E27FC236}">
                  <a16:creationId xmlns:a16="http://schemas.microsoft.com/office/drawing/2014/main" id="{F82F67B7-F689-104B-BE3B-109550B26003}"/>
                </a:ext>
              </a:extLst>
            </p:cNvPr>
            <p:cNvSpPr>
              <a:spLocks noChangeArrowheads="1"/>
            </p:cNvSpPr>
            <p:nvPr/>
          </p:nvSpPr>
          <p:spPr bwMode="auto">
            <a:xfrm>
              <a:off x="2544"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3</a:t>
              </a:r>
            </a:p>
          </p:txBody>
        </p:sp>
        <p:sp>
          <p:nvSpPr>
            <p:cNvPr id="59527" name="Rectangle 81">
              <a:extLst>
                <a:ext uri="{FF2B5EF4-FFF2-40B4-BE49-F238E27FC236}">
                  <a16:creationId xmlns:a16="http://schemas.microsoft.com/office/drawing/2014/main" id="{7828F81C-734D-3545-B895-A1F3418AFCB6}"/>
                </a:ext>
              </a:extLst>
            </p:cNvPr>
            <p:cNvSpPr>
              <a:spLocks noChangeArrowheads="1"/>
            </p:cNvSpPr>
            <p:nvPr/>
          </p:nvSpPr>
          <p:spPr bwMode="auto">
            <a:xfrm>
              <a:off x="3168"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4</a:t>
              </a:r>
            </a:p>
          </p:txBody>
        </p:sp>
        <p:sp>
          <p:nvSpPr>
            <p:cNvPr id="59528" name="Rectangle 82">
              <a:extLst>
                <a:ext uri="{FF2B5EF4-FFF2-40B4-BE49-F238E27FC236}">
                  <a16:creationId xmlns:a16="http://schemas.microsoft.com/office/drawing/2014/main" id="{305372EA-ADBF-6D47-A1A8-987A8242D504}"/>
                </a:ext>
              </a:extLst>
            </p:cNvPr>
            <p:cNvSpPr>
              <a:spLocks noChangeArrowheads="1"/>
            </p:cNvSpPr>
            <p:nvPr/>
          </p:nvSpPr>
          <p:spPr bwMode="auto">
            <a:xfrm>
              <a:off x="379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5</a:t>
              </a:r>
            </a:p>
          </p:txBody>
        </p:sp>
        <p:sp>
          <p:nvSpPr>
            <p:cNvPr id="59529" name="AutoShape 83">
              <a:extLst>
                <a:ext uri="{FF2B5EF4-FFF2-40B4-BE49-F238E27FC236}">
                  <a16:creationId xmlns:a16="http://schemas.microsoft.com/office/drawing/2014/main" id="{B258C2B0-3D17-AB41-8F14-D11CC4F1E927}"/>
                </a:ext>
              </a:extLst>
            </p:cNvPr>
            <p:cNvSpPr>
              <a:spLocks noChangeArrowheads="1"/>
            </p:cNvSpPr>
            <p:nvPr/>
          </p:nvSpPr>
          <p:spPr bwMode="auto">
            <a:xfrm>
              <a:off x="4416" y="1152"/>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0" name="Rectangle 84">
              <a:extLst>
                <a:ext uri="{FF2B5EF4-FFF2-40B4-BE49-F238E27FC236}">
                  <a16:creationId xmlns:a16="http://schemas.microsoft.com/office/drawing/2014/main" id="{555558CF-79B7-B44F-B13C-58B9842CF154}"/>
                </a:ext>
              </a:extLst>
            </p:cNvPr>
            <p:cNvSpPr>
              <a:spLocks noChangeArrowheads="1"/>
            </p:cNvSpPr>
            <p:nvPr/>
          </p:nvSpPr>
          <p:spPr bwMode="auto">
            <a:xfrm>
              <a:off x="5040"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531" name="Rectangle 85">
              <a:extLst>
                <a:ext uri="{FF2B5EF4-FFF2-40B4-BE49-F238E27FC236}">
                  <a16:creationId xmlns:a16="http://schemas.microsoft.com/office/drawing/2014/main" id="{DEF1713C-4748-9F46-A118-F5398B166019}"/>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2" name="Rectangle 86">
              <a:extLst>
                <a:ext uri="{FF2B5EF4-FFF2-40B4-BE49-F238E27FC236}">
                  <a16:creationId xmlns:a16="http://schemas.microsoft.com/office/drawing/2014/main" id="{531F8B8C-814F-DC42-BA07-AFDFCD128359}"/>
                </a:ext>
              </a:extLst>
            </p:cNvPr>
            <p:cNvSpPr>
              <a:spLocks noChangeArrowheads="1"/>
            </p:cNvSpPr>
            <p:nvPr/>
          </p:nvSpPr>
          <p:spPr bwMode="auto">
            <a:xfrm>
              <a:off x="48" y="1680"/>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3" name="Rectangle 87">
              <a:extLst>
                <a:ext uri="{FF2B5EF4-FFF2-40B4-BE49-F238E27FC236}">
                  <a16:creationId xmlns:a16="http://schemas.microsoft.com/office/drawing/2014/main" id="{C106E06A-B2B4-144B-A852-CC0D74BF0825}"/>
                </a:ext>
              </a:extLst>
            </p:cNvPr>
            <p:cNvSpPr>
              <a:spLocks noChangeArrowheads="1"/>
            </p:cNvSpPr>
            <p:nvPr/>
          </p:nvSpPr>
          <p:spPr bwMode="auto">
            <a:xfrm>
              <a:off x="48"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4" name="Rectangle 88">
              <a:extLst>
                <a:ext uri="{FF2B5EF4-FFF2-40B4-BE49-F238E27FC236}">
                  <a16:creationId xmlns:a16="http://schemas.microsoft.com/office/drawing/2014/main" id="{62D5B312-7A44-8F4F-A182-1E4ABFF10D60}"/>
                </a:ext>
              </a:extLst>
            </p:cNvPr>
            <p:cNvSpPr>
              <a:spLocks noChangeArrowheads="1"/>
            </p:cNvSpPr>
            <p:nvPr/>
          </p:nvSpPr>
          <p:spPr bwMode="auto">
            <a:xfrm>
              <a:off x="48"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k</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5" name="Rectangle 89">
              <a:extLst>
                <a:ext uri="{FF2B5EF4-FFF2-40B4-BE49-F238E27FC236}">
                  <a16:creationId xmlns:a16="http://schemas.microsoft.com/office/drawing/2014/main" id="{A1473A0F-894F-4C41-9C5D-379B05F16785}"/>
                </a:ext>
              </a:extLst>
            </p:cNvPr>
            <p:cNvSpPr>
              <a:spLocks noChangeArrowheads="1"/>
            </p:cNvSpPr>
            <p:nvPr/>
          </p:nvSpPr>
          <p:spPr bwMode="auto">
            <a:xfrm>
              <a:off x="48"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l</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6" name="AutoShape 90">
              <a:extLst>
                <a:ext uri="{FF2B5EF4-FFF2-40B4-BE49-F238E27FC236}">
                  <a16:creationId xmlns:a16="http://schemas.microsoft.com/office/drawing/2014/main" id="{CD88AD58-545F-604D-94EB-0EAA9051F815}"/>
                </a:ext>
              </a:extLst>
            </p:cNvPr>
            <p:cNvSpPr>
              <a:spLocks noChangeArrowheads="1"/>
            </p:cNvSpPr>
            <p:nvPr/>
          </p:nvSpPr>
          <p:spPr bwMode="auto">
            <a:xfrm rot="5400000">
              <a:off x="-216" y="3288"/>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37" name="Freeform 91">
              <a:extLst>
                <a:ext uri="{FF2B5EF4-FFF2-40B4-BE49-F238E27FC236}">
                  <a16:creationId xmlns:a16="http://schemas.microsoft.com/office/drawing/2014/main" id="{C44FBFC0-DD8B-A849-A89B-7FC07A7BCB32}"/>
                </a:ext>
              </a:extLst>
            </p:cNvPr>
            <p:cNvSpPr>
              <a:spLocks/>
            </p:cNvSpPr>
            <p:nvPr/>
          </p:nvSpPr>
          <p:spPr bwMode="auto">
            <a:xfrm>
              <a:off x="5040" y="1968"/>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38" name="Freeform 92">
              <a:extLst>
                <a:ext uri="{FF2B5EF4-FFF2-40B4-BE49-F238E27FC236}">
                  <a16:creationId xmlns:a16="http://schemas.microsoft.com/office/drawing/2014/main" id="{4BD40E2C-1A47-8F47-929A-0E40E74BCF6C}"/>
                </a:ext>
              </a:extLst>
            </p:cNvPr>
            <p:cNvSpPr>
              <a:spLocks/>
            </p:cNvSpPr>
            <p:nvPr/>
          </p:nvSpPr>
          <p:spPr bwMode="auto">
            <a:xfrm>
              <a:off x="5040" y="2256"/>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39" name="Rectangle 93">
              <a:extLst>
                <a:ext uri="{FF2B5EF4-FFF2-40B4-BE49-F238E27FC236}">
                  <a16:creationId xmlns:a16="http://schemas.microsoft.com/office/drawing/2014/main" id="{727421CC-B8D9-834F-926D-548A3BF35FD7}"/>
                </a:ext>
              </a:extLst>
            </p:cNvPr>
            <p:cNvSpPr>
              <a:spLocks noChangeArrowheads="1"/>
            </p:cNvSpPr>
            <p:nvPr/>
          </p:nvSpPr>
          <p:spPr bwMode="auto">
            <a:xfrm>
              <a:off x="3168"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540" name="Rectangle 94">
              <a:extLst>
                <a:ext uri="{FF2B5EF4-FFF2-40B4-BE49-F238E27FC236}">
                  <a16:creationId xmlns:a16="http://schemas.microsoft.com/office/drawing/2014/main" id="{96A055CB-1505-3742-A341-389E3E5190B6}"/>
                </a:ext>
              </a:extLst>
            </p:cNvPr>
            <p:cNvSpPr>
              <a:spLocks noChangeArrowheads="1"/>
            </p:cNvSpPr>
            <p:nvPr/>
          </p:nvSpPr>
          <p:spPr bwMode="auto">
            <a:xfrm>
              <a:off x="3792"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541" name="Text Box 95">
              <a:extLst>
                <a:ext uri="{FF2B5EF4-FFF2-40B4-BE49-F238E27FC236}">
                  <a16:creationId xmlns:a16="http://schemas.microsoft.com/office/drawing/2014/main" id="{4592A312-5977-DB41-A12E-639DCC293B96}"/>
                </a:ext>
              </a:extLst>
            </p:cNvPr>
            <p:cNvSpPr txBox="1">
              <a:spLocks noChangeArrowheads="1"/>
            </p:cNvSpPr>
            <p:nvPr/>
          </p:nvSpPr>
          <p:spPr bwMode="auto">
            <a:xfrm>
              <a:off x="907" y="1632"/>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p>
          </p:txBody>
        </p:sp>
        <p:sp>
          <p:nvSpPr>
            <p:cNvPr id="59542" name="Text Box 96">
              <a:extLst>
                <a:ext uri="{FF2B5EF4-FFF2-40B4-BE49-F238E27FC236}">
                  <a16:creationId xmlns:a16="http://schemas.microsoft.com/office/drawing/2014/main" id="{BA5BC9AA-171E-E046-B305-F890B24AB140}"/>
                </a:ext>
              </a:extLst>
            </p:cNvPr>
            <p:cNvSpPr txBox="1">
              <a:spLocks noChangeArrowheads="1"/>
            </p:cNvSpPr>
            <p:nvPr/>
          </p:nvSpPr>
          <p:spPr bwMode="auto">
            <a:xfrm>
              <a:off x="1519" y="1920"/>
              <a:ext cx="1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p>
          </p:txBody>
        </p:sp>
        <p:sp>
          <p:nvSpPr>
            <p:cNvPr id="59543" name="Rectangle 97">
              <a:extLst>
                <a:ext uri="{FF2B5EF4-FFF2-40B4-BE49-F238E27FC236}">
                  <a16:creationId xmlns:a16="http://schemas.microsoft.com/office/drawing/2014/main" id="{0120B922-5383-664A-B09C-6048F7A3BD00}"/>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h</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544" name="Rectangle 98">
              <a:extLst>
                <a:ext uri="{FF2B5EF4-FFF2-40B4-BE49-F238E27FC236}">
                  <a16:creationId xmlns:a16="http://schemas.microsoft.com/office/drawing/2014/main" id="{23701AA2-4829-E643-BB04-6EB09FB4A54A}"/>
                </a:ext>
              </a:extLst>
            </p:cNvPr>
            <p:cNvSpPr>
              <a:spLocks noChangeArrowheads="1"/>
            </p:cNvSpPr>
            <p:nvPr/>
          </p:nvSpPr>
          <p:spPr bwMode="auto">
            <a:xfrm>
              <a:off x="3168"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45" name="Rectangle 99">
              <a:extLst>
                <a:ext uri="{FF2B5EF4-FFF2-40B4-BE49-F238E27FC236}">
                  <a16:creationId xmlns:a16="http://schemas.microsoft.com/office/drawing/2014/main" id="{5DAE8C82-9501-CE4A-9442-41E0DFE58726}"/>
                </a:ext>
              </a:extLst>
            </p:cNvPr>
            <p:cNvSpPr>
              <a:spLocks noChangeArrowheads="1"/>
            </p:cNvSpPr>
            <p:nvPr/>
          </p:nvSpPr>
          <p:spPr bwMode="auto">
            <a:xfrm>
              <a:off x="3168"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46" name="Freeform 100">
              <a:extLst>
                <a:ext uri="{FF2B5EF4-FFF2-40B4-BE49-F238E27FC236}">
                  <a16:creationId xmlns:a16="http://schemas.microsoft.com/office/drawing/2014/main" id="{90BBA8D0-1F23-5A40-BDA2-94C5E64CD864}"/>
                </a:ext>
              </a:extLst>
            </p:cNvPr>
            <p:cNvSpPr>
              <a:spLocks/>
            </p:cNvSpPr>
            <p:nvPr/>
          </p:nvSpPr>
          <p:spPr bwMode="auto">
            <a:xfrm>
              <a:off x="3021" y="1794"/>
              <a:ext cx="1587" cy="288"/>
            </a:xfrm>
            <a:custGeom>
              <a:avLst/>
              <a:gdLst>
                <a:gd name="T0" fmla="*/ 1 w 2479"/>
                <a:gd name="T1" fmla="*/ 0 h 288"/>
                <a:gd name="T2" fmla="*/ 1 w 2479"/>
                <a:gd name="T3" fmla="*/ 104 h 288"/>
                <a:gd name="T4" fmla="*/ 1 w 2479"/>
                <a:gd name="T5" fmla="*/ 141 h 288"/>
                <a:gd name="T6" fmla="*/ 1 w 2479"/>
                <a:gd name="T7" fmla="*/ 288 h 288"/>
                <a:gd name="T8" fmla="*/ 0 60000 65536"/>
                <a:gd name="T9" fmla="*/ 0 60000 65536"/>
                <a:gd name="T10" fmla="*/ 0 60000 65536"/>
                <a:gd name="T11" fmla="*/ 0 60000 65536"/>
                <a:gd name="T12" fmla="*/ 0 w 2479"/>
                <a:gd name="T13" fmla="*/ 0 h 288"/>
                <a:gd name="T14" fmla="*/ 2479 w 2479"/>
                <a:gd name="T15" fmla="*/ 288 h 288"/>
              </a:gdLst>
              <a:ahLst/>
              <a:cxnLst>
                <a:cxn ang="T8">
                  <a:pos x="T0" y="T1"/>
                </a:cxn>
                <a:cxn ang="T9">
                  <a:pos x="T2" y="T3"/>
                </a:cxn>
                <a:cxn ang="T10">
                  <a:pos x="T4" y="T5"/>
                </a:cxn>
                <a:cxn ang="T11">
                  <a:pos x="T6" y="T7"/>
                </a:cxn>
              </a:cxnLst>
              <a:rect l="T12" t="T13" r="T14" b="T15"/>
              <a:pathLst>
                <a:path w="2479" h="288">
                  <a:moveTo>
                    <a:pt x="2129" y="0"/>
                  </a:moveTo>
                  <a:cubicBezTo>
                    <a:pt x="2136" y="17"/>
                    <a:pt x="2479" y="81"/>
                    <a:pt x="2173" y="104"/>
                  </a:cubicBezTo>
                  <a:cubicBezTo>
                    <a:pt x="1867" y="127"/>
                    <a:pt x="580" y="110"/>
                    <a:pt x="290" y="141"/>
                  </a:cubicBezTo>
                  <a:cubicBezTo>
                    <a:pt x="0" y="172"/>
                    <a:pt x="401" y="258"/>
                    <a:pt x="430" y="288"/>
                  </a:cubicBezTo>
                </a:path>
              </a:pathLst>
            </a:custGeom>
            <a:noFill/>
            <a:ln w="571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47" name="Line 101">
              <a:extLst>
                <a:ext uri="{FF2B5EF4-FFF2-40B4-BE49-F238E27FC236}">
                  <a16:creationId xmlns:a16="http://schemas.microsoft.com/office/drawing/2014/main" id="{BBBFEC7D-A3C9-D640-92CB-0A02832C17B9}"/>
                </a:ext>
              </a:extLst>
            </p:cNvPr>
            <p:cNvSpPr>
              <a:spLocks noChangeShapeType="1"/>
            </p:cNvSpPr>
            <p:nvPr/>
          </p:nvSpPr>
          <p:spPr bwMode="auto">
            <a:xfrm flipV="1">
              <a:off x="2544" y="1968"/>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48" name="Line 102">
              <a:extLst>
                <a:ext uri="{FF2B5EF4-FFF2-40B4-BE49-F238E27FC236}">
                  <a16:creationId xmlns:a16="http://schemas.microsoft.com/office/drawing/2014/main" id="{580F2A9C-E65B-F54D-90B3-237236F393AF}"/>
                </a:ext>
              </a:extLst>
            </p:cNvPr>
            <p:cNvSpPr>
              <a:spLocks noChangeShapeType="1"/>
            </p:cNvSpPr>
            <p:nvPr/>
          </p:nvSpPr>
          <p:spPr bwMode="auto">
            <a:xfrm flipV="1">
              <a:off x="2544" y="2256"/>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49" name="Rectangle 103">
              <a:extLst>
                <a:ext uri="{FF2B5EF4-FFF2-40B4-BE49-F238E27FC236}">
                  <a16:creationId xmlns:a16="http://schemas.microsoft.com/office/drawing/2014/main" id="{4D32B5FC-289D-C94D-8092-92046C5ABDE2}"/>
                </a:ext>
              </a:extLst>
            </p:cNvPr>
            <p:cNvSpPr>
              <a:spLocks noChangeArrowheads="1"/>
            </p:cNvSpPr>
            <p:nvPr/>
          </p:nvSpPr>
          <p:spPr bwMode="auto">
            <a:xfrm>
              <a:off x="5040" y="3120"/>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50" name="Rectangle 104">
              <a:extLst>
                <a:ext uri="{FF2B5EF4-FFF2-40B4-BE49-F238E27FC236}">
                  <a16:creationId xmlns:a16="http://schemas.microsoft.com/office/drawing/2014/main" id="{FF2D951C-EA99-AC46-8465-23DE6A6447DF}"/>
                </a:ext>
              </a:extLst>
            </p:cNvPr>
            <p:cNvSpPr>
              <a:spLocks noChangeArrowheads="1"/>
            </p:cNvSpPr>
            <p:nvPr/>
          </p:nvSpPr>
          <p:spPr bwMode="auto">
            <a:xfrm>
              <a:off x="3792" y="2544"/>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51" name="Rectangle 105">
              <a:extLst>
                <a:ext uri="{FF2B5EF4-FFF2-40B4-BE49-F238E27FC236}">
                  <a16:creationId xmlns:a16="http://schemas.microsoft.com/office/drawing/2014/main" id="{8B2F19E8-84CA-9B49-88FF-B9A3989F6E61}"/>
                </a:ext>
              </a:extLst>
            </p:cNvPr>
            <p:cNvSpPr>
              <a:spLocks noChangeArrowheads="1"/>
            </p:cNvSpPr>
            <p:nvPr/>
          </p:nvSpPr>
          <p:spPr bwMode="auto">
            <a:xfrm>
              <a:off x="4416" y="2544"/>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52" name="Rectangle 106">
              <a:extLst>
                <a:ext uri="{FF2B5EF4-FFF2-40B4-BE49-F238E27FC236}">
                  <a16:creationId xmlns:a16="http://schemas.microsoft.com/office/drawing/2014/main" id="{FC52D477-0B9D-C74A-AD24-214F874701E6}"/>
                </a:ext>
              </a:extLst>
            </p:cNvPr>
            <p:cNvSpPr>
              <a:spLocks noChangeArrowheads="1"/>
            </p:cNvSpPr>
            <p:nvPr/>
          </p:nvSpPr>
          <p:spPr bwMode="auto">
            <a:xfrm>
              <a:off x="5040"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553" name="Rectangle 107">
              <a:extLst>
                <a:ext uri="{FF2B5EF4-FFF2-40B4-BE49-F238E27FC236}">
                  <a16:creationId xmlns:a16="http://schemas.microsoft.com/office/drawing/2014/main" id="{5E819783-C80B-1740-97D5-3B3FE1760CAE}"/>
                </a:ext>
              </a:extLst>
            </p:cNvPr>
            <p:cNvSpPr>
              <a:spLocks noChangeArrowheads="1"/>
            </p:cNvSpPr>
            <p:nvPr/>
          </p:nvSpPr>
          <p:spPr bwMode="auto">
            <a:xfrm>
              <a:off x="4416" y="283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554" name="Rectangle 108">
              <a:extLst>
                <a:ext uri="{FF2B5EF4-FFF2-40B4-BE49-F238E27FC236}">
                  <a16:creationId xmlns:a16="http://schemas.microsoft.com/office/drawing/2014/main" id="{83BFCC97-F9BE-CC49-A354-24EBC3AD873B}"/>
                </a:ext>
              </a:extLst>
            </p:cNvPr>
            <p:cNvSpPr>
              <a:spLocks noChangeArrowheads="1"/>
            </p:cNvSpPr>
            <p:nvPr/>
          </p:nvSpPr>
          <p:spPr bwMode="auto">
            <a:xfrm>
              <a:off x="5040" y="283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555" name="Freeform 109">
              <a:extLst>
                <a:ext uri="{FF2B5EF4-FFF2-40B4-BE49-F238E27FC236}">
                  <a16:creationId xmlns:a16="http://schemas.microsoft.com/office/drawing/2014/main" id="{E7731631-9AD8-E84B-8D5F-DDA72B7BF1EA}"/>
                </a:ext>
              </a:extLst>
            </p:cNvPr>
            <p:cNvSpPr>
              <a:spLocks/>
            </p:cNvSpPr>
            <p:nvPr/>
          </p:nvSpPr>
          <p:spPr bwMode="auto">
            <a:xfrm>
              <a:off x="5040" y="2544"/>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56" name="Freeform 110">
              <a:extLst>
                <a:ext uri="{FF2B5EF4-FFF2-40B4-BE49-F238E27FC236}">
                  <a16:creationId xmlns:a16="http://schemas.microsoft.com/office/drawing/2014/main" id="{26CCB639-2604-DC4F-941D-B5869AE39209}"/>
                </a:ext>
              </a:extLst>
            </p:cNvPr>
            <p:cNvSpPr>
              <a:spLocks/>
            </p:cNvSpPr>
            <p:nvPr/>
          </p:nvSpPr>
          <p:spPr bwMode="auto">
            <a:xfrm>
              <a:off x="5040" y="2832"/>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57" name="Freeform 111">
              <a:extLst>
                <a:ext uri="{FF2B5EF4-FFF2-40B4-BE49-F238E27FC236}">
                  <a16:creationId xmlns:a16="http://schemas.microsoft.com/office/drawing/2014/main" id="{258D081F-2040-2149-8475-5EB98122379F}"/>
                </a:ext>
              </a:extLst>
            </p:cNvPr>
            <p:cNvSpPr>
              <a:spLocks/>
            </p:cNvSpPr>
            <p:nvPr/>
          </p:nvSpPr>
          <p:spPr bwMode="auto">
            <a:xfrm>
              <a:off x="5040" y="3120"/>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5" name="Group 112">
            <a:extLst>
              <a:ext uri="{FF2B5EF4-FFF2-40B4-BE49-F238E27FC236}">
                <a16:creationId xmlns:a16="http://schemas.microsoft.com/office/drawing/2014/main" id="{A76B8BB2-40BB-EE48-B519-20BC63CFC596}"/>
              </a:ext>
            </a:extLst>
          </p:cNvPr>
          <p:cNvGrpSpPr>
            <a:grpSpLocks/>
          </p:cNvGrpSpPr>
          <p:nvPr/>
        </p:nvGrpSpPr>
        <p:grpSpPr bwMode="auto">
          <a:xfrm>
            <a:off x="0" y="1066800"/>
            <a:ext cx="9144000" cy="5791200"/>
            <a:chOff x="0" y="672"/>
            <a:chExt cx="5760" cy="3648"/>
          </a:xfrm>
        </p:grpSpPr>
        <p:sp>
          <p:nvSpPr>
            <p:cNvPr id="59452" name="Rectangle 113">
              <a:extLst>
                <a:ext uri="{FF2B5EF4-FFF2-40B4-BE49-F238E27FC236}">
                  <a16:creationId xmlns:a16="http://schemas.microsoft.com/office/drawing/2014/main" id="{0E91FB35-7AC0-2349-BB0A-674D1105DDFD}"/>
                </a:ext>
              </a:extLst>
            </p:cNvPr>
            <p:cNvSpPr>
              <a:spLocks noChangeArrowheads="1"/>
            </p:cNvSpPr>
            <p:nvPr/>
          </p:nvSpPr>
          <p:spPr bwMode="auto">
            <a:xfrm>
              <a:off x="0" y="672"/>
              <a:ext cx="5760" cy="3648"/>
            </a:xfrm>
            <a:prstGeom prst="rect">
              <a:avLst/>
            </a:prstGeom>
            <a:solidFill>
              <a:schemeClr val="bg1"/>
            </a:solidFill>
            <a:ln w="19050">
              <a:solidFill>
                <a:schemeClr val="bg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53" name="Text Box 114">
              <a:extLst>
                <a:ext uri="{FF2B5EF4-FFF2-40B4-BE49-F238E27FC236}">
                  <a16:creationId xmlns:a16="http://schemas.microsoft.com/office/drawing/2014/main" id="{E2549DA8-7C3F-974D-AE6B-788A5A4B1AF0}"/>
                </a:ext>
              </a:extLst>
            </p:cNvPr>
            <p:cNvSpPr txBox="1">
              <a:spLocks noChangeArrowheads="1"/>
            </p:cNvSpPr>
            <p:nvPr/>
          </p:nvSpPr>
          <p:spPr bwMode="auto">
            <a:xfrm>
              <a:off x="480" y="2983"/>
              <a:ext cx="2175"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i: r</a:t>
              </a:r>
              <a:r>
                <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rPr>
                <a:t>x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_</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bubble</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bubble</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j: _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r</a:t>
              </a:r>
              <a:r>
                <a:rPr kumimoji="0" lang="en-US" altLang="en-US" sz="2800" b="0" i="0" u="none" strike="noStrike" kern="1200" cap="none" spc="0" normalizeH="0" baseline="-25000" noProof="0">
                  <a:ln>
                    <a:noFill/>
                  </a:ln>
                  <a:solidFill>
                    <a:srgbClr val="CC9900"/>
                  </a:solidFill>
                  <a:effectLst/>
                  <a:uLnTx/>
                  <a:uFillTx/>
                  <a:latin typeface="Calibri" panose="020F0502020204030204" pitchFamily="34" charset="0"/>
                  <a:ea typeface="ＭＳ Ｐゴシック" panose="020B0600070205080204" pitchFamily="34" charset="-128"/>
                  <a:cs typeface="+mn-cs"/>
                </a:rPr>
                <a:t>x	 </a:t>
              </a:r>
              <a:r>
                <a:rPr kumimoji="0" lang="en-US" altLang="en-US" sz="2800" b="0" i="0" u="none" strike="noStrike" kern="1200" cap="none" spc="0" normalizeH="0" baseline="0" noProof="0">
                  <a:ln>
                    <a:noFill/>
                  </a:ln>
                  <a:solidFill>
                    <a:srgbClr val="CC9900"/>
                  </a:solidFill>
                  <a:effectLst/>
                  <a:uLnTx/>
                  <a:uFillTx/>
                  <a:latin typeface="Calibri" panose="020F0502020204030204" pitchFamily="34" charset="0"/>
                  <a:ea typeface="ＭＳ Ｐゴシック" panose="020B0600070205080204" pitchFamily="34" charset="-128"/>
                  <a:cs typeface="+mn-cs"/>
                </a:rPr>
                <a:t>dist(i,j)=3</a:t>
              </a:r>
            </a:p>
          </p:txBody>
        </p:sp>
        <p:sp>
          <p:nvSpPr>
            <p:cNvPr id="59454" name="Rectangle 115">
              <a:extLst>
                <a:ext uri="{FF2B5EF4-FFF2-40B4-BE49-F238E27FC236}">
                  <a16:creationId xmlns:a16="http://schemas.microsoft.com/office/drawing/2014/main" id="{91E274B1-926A-4040-A5CD-BA8D1BAA9458}"/>
                </a:ext>
              </a:extLst>
            </p:cNvPr>
            <p:cNvSpPr>
              <a:spLocks noChangeArrowheads="1"/>
            </p:cNvSpPr>
            <p:nvPr/>
          </p:nvSpPr>
          <p:spPr bwMode="auto">
            <a:xfrm>
              <a:off x="5040" y="283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55" name="Rectangle 116">
              <a:extLst>
                <a:ext uri="{FF2B5EF4-FFF2-40B4-BE49-F238E27FC236}">
                  <a16:creationId xmlns:a16="http://schemas.microsoft.com/office/drawing/2014/main" id="{437B7E5C-F34E-1042-9A5A-27DAF034A4A3}"/>
                </a:ext>
              </a:extLst>
            </p:cNvPr>
            <p:cNvSpPr>
              <a:spLocks noChangeArrowheads="1"/>
            </p:cNvSpPr>
            <p:nvPr/>
          </p:nvSpPr>
          <p:spPr bwMode="auto">
            <a:xfrm>
              <a:off x="3696" y="1008"/>
              <a:ext cx="768" cy="2112"/>
            </a:xfrm>
            <a:prstGeom prst="rect">
              <a:avLst/>
            </a:prstGeom>
            <a:solidFill>
              <a:srgbClr val="D49F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56" name="Rectangle 117">
              <a:extLst>
                <a:ext uri="{FF2B5EF4-FFF2-40B4-BE49-F238E27FC236}">
                  <a16:creationId xmlns:a16="http://schemas.microsoft.com/office/drawing/2014/main" id="{D0843109-42A2-3647-8861-EAC9BE3E1D0A}"/>
                </a:ext>
              </a:extLst>
            </p:cNvPr>
            <p:cNvSpPr>
              <a:spLocks noChangeArrowheads="1"/>
            </p:cNvSpPr>
            <p:nvPr/>
          </p:nvSpPr>
          <p:spPr bwMode="auto">
            <a:xfrm>
              <a:off x="672"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57" name="Rectangle 118">
              <a:extLst>
                <a:ext uri="{FF2B5EF4-FFF2-40B4-BE49-F238E27FC236}">
                  <a16:creationId xmlns:a16="http://schemas.microsoft.com/office/drawing/2014/main" id="{656CD7CF-BE81-BE42-9FED-3CC9C0381E54}"/>
                </a:ext>
              </a:extLst>
            </p:cNvPr>
            <p:cNvSpPr>
              <a:spLocks noChangeArrowheads="1"/>
            </p:cNvSpPr>
            <p:nvPr/>
          </p:nvSpPr>
          <p:spPr bwMode="auto">
            <a:xfrm>
              <a:off x="1296"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58" name="Rectangle 119">
              <a:extLst>
                <a:ext uri="{FF2B5EF4-FFF2-40B4-BE49-F238E27FC236}">
                  <a16:creationId xmlns:a16="http://schemas.microsoft.com/office/drawing/2014/main" id="{D797875D-A402-9B40-BF62-99882B18CAF1}"/>
                </a:ext>
              </a:extLst>
            </p:cNvPr>
            <p:cNvSpPr>
              <a:spLocks noChangeArrowheads="1"/>
            </p:cNvSpPr>
            <p:nvPr/>
          </p:nvSpPr>
          <p:spPr bwMode="auto">
            <a:xfrm>
              <a:off x="1920"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59" name="Rectangle 120">
              <a:extLst>
                <a:ext uri="{FF2B5EF4-FFF2-40B4-BE49-F238E27FC236}">
                  <a16:creationId xmlns:a16="http://schemas.microsoft.com/office/drawing/2014/main" id="{6BF8ED6A-BFAF-DD4B-ADB1-AA123395E8B7}"/>
                </a:ext>
              </a:extLst>
            </p:cNvPr>
            <p:cNvSpPr>
              <a:spLocks noChangeArrowheads="1"/>
            </p:cNvSpPr>
            <p:nvPr/>
          </p:nvSpPr>
          <p:spPr bwMode="auto">
            <a:xfrm>
              <a:off x="2544"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460" name="Rectangle 121">
              <a:extLst>
                <a:ext uri="{FF2B5EF4-FFF2-40B4-BE49-F238E27FC236}">
                  <a16:creationId xmlns:a16="http://schemas.microsoft.com/office/drawing/2014/main" id="{76F19D93-C951-E44F-94E5-10995EA11372}"/>
                </a:ext>
              </a:extLst>
            </p:cNvPr>
            <p:cNvSpPr>
              <a:spLocks noChangeArrowheads="1"/>
            </p:cNvSpPr>
            <p:nvPr/>
          </p:nvSpPr>
          <p:spPr bwMode="auto">
            <a:xfrm>
              <a:off x="1296"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61" name="Rectangle 122">
              <a:extLst>
                <a:ext uri="{FF2B5EF4-FFF2-40B4-BE49-F238E27FC236}">
                  <a16:creationId xmlns:a16="http://schemas.microsoft.com/office/drawing/2014/main" id="{20BFEE0F-28D5-EA4A-86CB-C8AF9C86DED3}"/>
                </a:ext>
              </a:extLst>
            </p:cNvPr>
            <p:cNvSpPr>
              <a:spLocks noChangeArrowheads="1"/>
            </p:cNvSpPr>
            <p:nvPr/>
          </p:nvSpPr>
          <p:spPr bwMode="auto">
            <a:xfrm>
              <a:off x="1920"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62" name="Rectangle 123">
              <a:extLst>
                <a:ext uri="{FF2B5EF4-FFF2-40B4-BE49-F238E27FC236}">
                  <a16:creationId xmlns:a16="http://schemas.microsoft.com/office/drawing/2014/main" id="{559AC0BE-F328-1541-9574-523523AFEE10}"/>
                </a:ext>
              </a:extLst>
            </p:cNvPr>
            <p:cNvSpPr>
              <a:spLocks noChangeArrowheads="1"/>
            </p:cNvSpPr>
            <p:nvPr/>
          </p:nvSpPr>
          <p:spPr bwMode="auto">
            <a:xfrm>
              <a:off x="2544"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63" name="Rectangle 124">
              <a:extLst>
                <a:ext uri="{FF2B5EF4-FFF2-40B4-BE49-F238E27FC236}">
                  <a16:creationId xmlns:a16="http://schemas.microsoft.com/office/drawing/2014/main" id="{09CAA91D-D2EC-C542-957A-AF975435F81D}"/>
                </a:ext>
              </a:extLst>
            </p:cNvPr>
            <p:cNvSpPr>
              <a:spLocks noChangeArrowheads="1"/>
            </p:cNvSpPr>
            <p:nvPr/>
          </p:nvSpPr>
          <p:spPr bwMode="auto">
            <a:xfrm>
              <a:off x="3168"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464" name="Rectangle 125">
              <a:extLst>
                <a:ext uri="{FF2B5EF4-FFF2-40B4-BE49-F238E27FC236}">
                  <a16:creationId xmlns:a16="http://schemas.microsoft.com/office/drawing/2014/main" id="{C677D257-7CD2-5342-84E5-8E290E6D5377}"/>
                </a:ext>
              </a:extLst>
            </p:cNvPr>
            <p:cNvSpPr>
              <a:spLocks noChangeArrowheads="1"/>
            </p:cNvSpPr>
            <p:nvPr/>
          </p:nvSpPr>
          <p:spPr bwMode="auto">
            <a:xfrm>
              <a:off x="1920"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65" name="Rectangle 126">
              <a:extLst>
                <a:ext uri="{FF2B5EF4-FFF2-40B4-BE49-F238E27FC236}">
                  <a16:creationId xmlns:a16="http://schemas.microsoft.com/office/drawing/2014/main" id="{9E8295F5-8591-F84B-8DE5-00DCC147C8B6}"/>
                </a:ext>
              </a:extLst>
            </p:cNvPr>
            <p:cNvSpPr>
              <a:spLocks noChangeArrowheads="1"/>
            </p:cNvSpPr>
            <p:nvPr/>
          </p:nvSpPr>
          <p:spPr bwMode="auto">
            <a:xfrm>
              <a:off x="2544" y="1968"/>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66" name="Rectangle 127">
              <a:extLst>
                <a:ext uri="{FF2B5EF4-FFF2-40B4-BE49-F238E27FC236}">
                  <a16:creationId xmlns:a16="http://schemas.microsoft.com/office/drawing/2014/main" id="{BE318641-0A44-7544-A85C-1BAAC48A050B}"/>
                </a:ext>
              </a:extLst>
            </p:cNvPr>
            <p:cNvSpPr>
              <a:spLocks noChangeArrowheads="1"/>
            </p:cNvSpPr>
            <p:nvPr/>
          </p:nvSpPr>
          <p:spPr bwMode="auto">
            <a:xfrm>
              <a:off x="4416"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67" name="Rectangle 128">
              <a:extLst>
                <a:ext uri="{FF2B5EF4-FFF2-40B4-BE49-F238E27FC236}">
                  <a16:creationId xmlns:a16="http://schemas.microsoft.com/office/drawing/2014/main" id="{E28E0EEB-4AB3-5748-97A8-446484755EB1}"/>
                </a:ext>
              </a:extLst>
            </p:cNvPr>
            <p:cNvSpPr>
              <a:spLocks noChangeArrowheads="1"/>
            </p:cNvSpPr>
            <p:nvPr/>
          </p:nvSpPr>
          <p:spPr bwMode="auto">
            <a:xfrm>
              <a:off x="2544" y="2256"/>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68" name="Rectangle 129">
              <a:extLst>
                <a:ext uri="{FF2B5EF4-FFF2-40B4-BE49-F238E27FC236}">
                  <a16:creationId xmlns:a16="http://schemas.microsoft.com/office/drawing/2014/main" id="{ABC3346E-970E-B948-89CB-38446CE9D04B}"/>
                </a:ext>
              </a:extLst>
            </p:cNvPr>
            <p:cNvSpPr>
              <a:spLocks noChangeArrowheads="1"/>
            </p:cNvSpPr>
            <p:nvPr/>
          </p:nvSpPr>
          <p:spPr bwMode="auto">
            <a:xfrm>
              <a:off x="4416"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69" name="Rectangle 130">
              <a:extLst>
                <a:ext uri="{FF2B5EF4-FFF2-40B4-BE49-F238E27FC236}">
                  <a16:creationId xmlns:a16="http://schemas.microsoft.com/office/drawing/2014/main" id="{9FFF447B-0ACD-674E-87C6-7449579EB2A7}"/>
                </a:ext>
              </a:extLst>
            </p:cNvPr>
            <p:cNvSpPr>
              <a:spLocks noChangeArrowheads="1"/>
            </p:cNvSpPr>
            <p:nvPr/>
          </p:nvSpPr>
          <p:spPr bwMode="auto">
            <a:xfrm>
              <a:off x="67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0</a:t>
              </a:r>
            </a:p>
          </p:txBody>
        </p:sp>
        <p:sp>
          <p:nvSpPr>
            <p:cNvPr id="59470" name="Rectangle 131">
              <a:extLst>
                <a:ext uri="{FF2B5EF4-FFF2-40B4-BE49-F238E27FC236}">
                  <a16:creationId xmlns:a16="http://schemas.microsoft.com/office/drawing/2014/main" id="{6E755B2F-50E5-7E4E-811E-E8B34E373241}"/>
                </a:ext>
              </a:extLst>
            </p:cNvPr>
            <p:cNvSpPr>
              <a:spLocks noChangeArrowheads="1"/>
            </p:cNvSpPr>
            <p:nvPr/>
          </p:nvSpPr>
          <p:spPr bwMode="auto">
            <a:xfrm>
              <a:off x="1296"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1</a:t>
              </a:r>
            </a:p>
          </p:txBody>
        </p:sp>
        <p:sp>
          <p:nvSpPr>
            <p:cNvPr id="59471" name="Rectangle 132">
              <a:extLst>
                <a:ext uri="{FF2B5EF4-FFF2-40B4-BE49-F238E27FC236}">
                  <a16:creationId xmlns:a16="http://schemas.microsoft.com/office/drawing/2014/main" id="{A331551B-6D3B-CC42-A0B9-BCF705BD6F91}"/>
                </a:ext>
              </a:extLst>
            </p:cNvPr>
            <p:cNvSpPr>
              <a:spLocks noChangeArrowheads="1"/>
            </p:cNvSpPr>
            <p:nvPr/>
          </p:nvSpPr>
          <p:spPr bwMode="auto">
            <a:xfrm>
              <a:off x="1920"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2</a:t>
              </a:r>
            </a:p>
          </p:txBody>
        </p:sp>
        <p:sp>
          <p:nvSpPr>
            <p:cNvPr id="59472" name="Rectangle 133">
              <a:extLst>
                <a:ext uri="{FF2B5EF4-FFF2-40B4-BE49-F238E27FC236}">
                  <a16:creationId xmlns:a16="http://schemas.microsoft.com/office/drawing/2014/main" id="{ADEF064B-49FE-674C-9F1E-648D06823ED1}"/>
                </a:ext>
              </a:extLst>
            </p:cNvPr>
            <p:cNvSpPr>
              <a:spLocks noChangeArrowheads="1"/>
            </p:cNvSpPr>
            <p:nvPr/>
          </p:nvSpPr>
          <p:spPr bwMode="auto">
            <a:xfrm>
              <a:off x="2544"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3</a:t>
              </a:r>
            </a:p>
          </p:txBody>
        </p:sp>
        <p:sp>
          <p:nvSpPr>
            <p:cNvPr id="59473" name="Rectangle 134">
              <a:extLst>
                <a:ext uri="{FF2B5EF4-FFF2-40B4-BE49-F238E27FC236}">
                  <a16:creationId xmlns:a16="http://schemas.microsoft.com/office/drawing/2014/main" id="{EA32F03B-9FED-194B-8E3F-2BA9CD70E2AC}"/>
                </a:ext>
              </a:extLst>
            </p:cNvPr>
            <p:cNvSpPr>
              <a:spLocks noChangeArrowheads="1"/>
            </p:cNvSpPr>
            <p:nvPr/>
          </p:nvSpPr>
          <p:spPr bwMode="auto">
            <a:xfrm>
              <a:off x="3168"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4</a:t>
              </a:r>
            </a:p>
          </p:txBody>
        </p:sp>
        <p:sp>
          <p:nvSpPr>
            <p:cNvPr id="59474" name="Rectangle 135">
              <a:extLst>
                <a:ext uri="{FF2B5EF4-FFF2-40B4-BE49-F238E27FC236}">
                  <a16:creationId xmlns:a16="http://schemas.microsoft.com/office/drawing/2014/main" id="{CA9091F1-0C45-1044-9066-D1DE220A8171}"/>
                </a:ext>
              </a:extLst>
            </p:cNvPr>
            <p:cNvSpPr>
              <a:spLocks noChangeArrowheads="1"/>
            </p:cNvSpPr>
            <p:nvPr/>
          </p:nvSpPr>
          <p:spPr bwMode="auto">
            <a:xfrm>
              <a:off x="379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5</a:t>
              </a:r>
            </a:p>
          </p:txBody>
        </p:sp>
        <p:sp>
          <p:nvSpPr>
            <p:cNvPr id="59475" name="AutoShape 136">
              <a:extLst>
                <a:ext uri="{FF2B5EF4-FFF2-40B4-BE49-F238E27FC236}">
                  <a16:creationId xmlns:a16="http://schemas.microsoft.com/office/drawing/2014/main" id="{332D3B9F-EBBF-6C41-9D47-37B000F26A6F}"/>
                </a:ext>
              </a:extLst>
            </p:cNvPr>
            <p:cNvSpPr>
              <a:spLocks noChangeArrowheads="1"/>
            </p:cNvSpPr>
            <p:nvPr/>
          </p:nvSpPr>
          <p:spPr bwMode="auto">
            <a:xfrm>
              <a:off x="4416" y="1152"/>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76" name="Rectangle 137">
              <a:extLst>
                <a:ext uri="{FF2B5EF4-FFF2-40B4-BE49-F238E27FC236}">
                  <a16:creationId xmlns:a16="http://schemas.microsoft.com/office/drawing/2014/main" id="{8C8B130F-FE42-0D49-A087-86903A1D4F15}"/>
                </a:ext>
              </a:extLst>
            </p:cNvPr>
            <p:cNvSpPr>
              <a:spLocks noChangeArrowheads="1"/>
            </p:cNvSpPr>
            <p:nvPr/>
          </p:nvSpPr>
          <p:spPr bwMode="auto">
            <a:xfrm>
              <a:off x="4416" y="2544"/>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77" name="Rectangle 138">
              <a:extLst>
                <a:ext uri="{FF2B5EF4-FFF2-40B4-BE49-F238E27FC236}">
                  <a16:creationId xmlns:a16="http://schemas.microsoft.com/office/drawing/2014/main" id="{4AB32ACA-791E-1D47-8AB7-AB55B8E2BC87}"/>
                </a:ext>
              </a:extLst>
            </p:cNvPr>
            <p:cNvSpPr>
              <a:spLocks noChangeArrowheads="1"/>
            </p:cNvSpPr>
            <p:nvPr/>
          </p:nvSpPr>
          <p:spPr bwMode="auto">
            <a:xfrm>
              <a:off x="5040"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478" name="Rectangle 139">
              <a:extLst>
                <a:ext uri="{FF2B5EF4-FFF2-40B4-BE49-F238E27FC236}">
                  <a16:creationId xmlns:a16="http://schemas.microsoft.com/office/drawing/2014/main" id="{66567739-25C6-6C43-9B6C-A168B6220F50}"/>
                </a:ext>
              </a:extLst>
            </p:cNvPr>
            <p:cNvSpPr>
              <a:spLocks noChangeArrowheads="1"/>
            </p:cNvSpPr>
            <p:nvPr/>
          </p:nvSpPr>
          <p:spPr bwMode="auto">
            <a:xfrm>
              <a:off x="5040"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79" name="Rectangle 140">
              <a:extLst>
                <a:ext uri="{FF2B5EF4-FFF2-40B4-BE49-F238E27FC236}">
                  <a16:creationId xmlns:a16="http://schemas.microsoft.com/office/drawing/2014/main" id="{58470B8B-8254-7E41-814A-2F917E62AA07}"/>
                </a:ext>
              </a:extLst>
            </p:cNvPr>
            <p:cNvSpPr>
              <a:spLocks noChangeArrowheads="1"/>
            </p:cNvSpPr>
            <p:nvPr/>
          </p:nvSpPr>
          <p:spPr bwMode="auto">
            <a:xfrm>
              <a:off x="5040"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80" name="Rectangle 141">
              <a:extLst>
                <a:ext uri="{FF2B5EF4-FFF2-40B4-BE49-F238E27FC236}">
                  <a16:creationId xmlns:a16="http://schemas.microsoft.com/office/drawing/2014/main" id="{B28C5DCC-57D3-4C4D-8B9E-C1336B3F4457}"/>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81" name="Rectangle 142">
              <a:extLst>
                <a:ext uri="{FF2B5EF4-FFF2-40B4-BE49-F238E27FC236}">
                  <a16:creationId xmlns:a16="http://schemas.microsoft.com/office/drawing/2014/main" id="{7D2A551F-0C6C-3343-B44D-BC2D42CAC2BF}"/>
                </a:ext>
              </a:extLst>
            </p:cNvPr>
            <p:cNvSpPr>
              <a:spLocks noChangeArrowheads="1"/>
            </p:cNvSpPr>
            <p:nvPr/>
          </p:nvSpPr>
          <p:spPr bwMode="auto">
            <a:xfrm>
              <a:off x="48" y="1680"/>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82" name="Rectangle 143">
              <a:extLst>
                <a:ext uri="{FF2B5EF4-FFF2-40B4-BE49-F238E27FC236}">
                  <a16:creationId xmlns:a16="http://schemas.microsoft.com/office/drawing/2014/main" id="{8C7D85A5-487E-7546-9E89-632C21052EFA}"/>
                </a:ext>
              </a:extLst>
            </p:cNvPr>
            <p:cNvSpPr>
              <a:spLocks noChangeArrowheads="1"/>
            </p:cNvSpPr>
            <p:nvPr/>
          </p:nvSpPr>
          <p:spPr bwMode="auto">
            <a:xfrm>
              <a:off x="48"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83" name="Rectangle 144">
              <a:extLst>
                <a:ext uri="{FF2B5EF4-FFF2-40B4-BE49-F238E27FC236}">
                  <a16:creationId xmlns:a16="http://schemas.microsoft.com/office/drawing/2014/main" id="{BCB67315-ABF0-7248-AA6D-2D4119FE8A2B}"/>
                </a:ext>
              </a:extLst>
            </p:cNvPr>
            <p:cNvSpPr>
              <a:spLocks noChangeArrowheads="1"/>
            </p:cNvSpPr>
            <p:nvPr/>
          </p:nvSpPr>
          <p:spPr bwMode="auto">
            <a:xfrm>
              <a:off x="48"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k</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84" name="Rectangle 145">
              <a:extLst>
                <a:ext uri="{FF2B5EF4-FFF2-40B4-BE49-F238E27FC236}">
                  <a16:creationId xmlns:a16="http://schemas.microsoft.com/office/drawing/2014/main" id="{224FCE99-13C1-5943-87B6-E203742D3C82}"/>
                </a:ext>
              </a:extLst>
            </p:cNvPr>
            <p:cNvSpPr>
              <a:spLocks noChangeArrowheads="1"/>
            </p:cNvSpPr>
            <p:nvPr/>
          </p:nvSpPr>
          <p:spPr bwMode="auto">
            <a:xfrm>
              <a:off x="48"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l</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85" name="AutoShape 146">
              <a:extLst>
                <a:ext uri="{FF2B5EF4-FFF2-40B4-BE49-F238E27FC236}">
                  <a16:creationId xmlns:a16="http://schemas.microsoft.com/office/drawing/2014/main" id="{63593D51-58AE-044F-BAAD-F16AD354C786}"/>
                </a:ext>
              </a:extLst>
            </p:cNvPr>
            <p:cNvSpPr>
              <a:spLocks noChangeArrowheads="1"/>
            </p:cNvSpPr>
            <p:nvPr/>
          </p:nvSpPr>
          <p:spPr bwMode="auto">
            <a:xfrm rot="5400000">
              <a:off x="-216" y="3288"/>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86" name="Freeform 147">
              <a:extLst>
                <a:ext uri="{FF2B5EF4-FFF2-40B4-BE49-F238E27FC236}">
                  <a16:creationId xmlns:a16="http://schemas.microsoft.com/office/drawing/2014/main" id="{806C934B-BFE9-254B-BE14-D1F203C5B63E}"/>
                </a:ext>
              </a:extLst>
            </p:cNvPr>
            <p:cNvSpPr>
              <a:spLocks/>
            </p:cNvSpPr>
            <p:nvPr/>
          </p:nvSpPr>
          <p:spPr bwMode="auto">
            <a:xfrm>
              <a:off x="5040" y="1968"/>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87" name="Freeform 148">
              <a:extLst>
                <a:ext uri="{FF2B5EF4-FFF2-40B4-BE49-F238E27FC236}">
                  <a16:creationId xmlns:a16="http://schemas.microsoft.com/office/drawing/2014/main" id="{D822B27F-4AC5-2344-AF31-53A75BC9152F}"/>
                </a:ext>
              </a:extLst>
            </p:cNvPr>
            <p:cNvSpPr>
              <a:spLocks/>
            </p:cNvSpPr>
            <p:nvPr/>
          </p:nvSpPr>
          <p:spPr bwMode="auto">
            <a:xfrm>
              <a:off x="5040" y="2256"/>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88" name="Freeform 149">
              <a:extLst>
                <a:ext uri="{FF2B5EF4-FFF2-40B4-BE49-F238E27FC236}">
                  <a16:creationId xmlns:a16="http://schemas.microsoft.com/office/drawing/2014/main" id="{95915682-B528-1540-A7A4-08986969AE73}"/>
                </a:ext>
              </a:extLst>
            </p:cNvPr>
            <p:cNvSpPr>
              <a:spLocks/>
            </p:cNvSpPr>
            <p:nvPr/>
          </p:nvSpPr>
          <p:spPr bwMode="auto">
            <a:xfrm>
              <a:off x="5040" y="2544"/>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89" name="Freeform 150">
              <a:extLst>
                <a:ext uri="{FF2B5EF4-FFF2-40B4-BE49-F238E27FC236}">
                  <a16:creationId xmlns:a16="http://schemas.microsoft.com/office/drawing/2014/main" id="{1A4D4EE4-C6A8-6E42-85B0-1A0034D0B418}"/>
                </a:ext>
              </a:extLst>
            </p:cNvPr>
            <p:cNvSpPr>
              <a:spLocks/>
            </p:cNvSpPr>
            <p:nvPr/>
          </p:nvSpPr>
          <p:spPr bwMode="auto">
            <a:xfrm>
              <a:off x="5040" y="2832"/>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90" name="Rectangle 151">
              <a:extLst>
                <a:ext uri="{FF2B5EF4-FFF2-40B4-BE49-F238E27FC236}">
                  <a16:creationId xmlns:a16="http://schemas.microsoft.com/office/drawing/2014/main" id="{E1FB4DF6-2A0F-D746-9A28-3CEC23C21094}"/>
                </a:ext>
              </a:extLst>
            </p:cNvPr>
            <p:cNvSpPr>
              <a:spLocks noChangeArrowheads="1"/>
            </p:cNvSpPr>
            <p:nvPr/>
          </p:nvSpPr>
          <p:spPr bwMode="auto">
            <a:xfrm>
              <a:off x="3168"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491" name="Rectangle 152">
              <a:extLst>
                <a:ext uri="{FF2B5EF4-FFF2-40B4-BE49-F238E27FC236}">
                  <a16:creationId xmlns:a16="http://schemas.microsoft.com/office/drawing/2014/main" id="{F9596921-D32F-A54F-A498-548765CB33F3}"/>
                </a:ext>
              </a:extLst>
            </p:cNvPr>
            <p:cNvSpPr>
              <a:spLocks noChangeArrowheads="1"/>
            </p:cNvSpPr>
            <p:nvPr/>
          </p:nvSpPr>
          <p:spPr bwMode="auto">
            <a:xfrm>
              <a:off x="3792"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492" name="Text Box 153">
              <a:extLst>
                <a:ext uri="{FF2B5EF4-FFF2-40B4-BE49-F238E27FC236}">
                  <a16:creationId xmlns:a16="http://schemas.microsoft.com/office/drawing/2014/main" id="{6ACAD434-29A4-1B45-9441-902440F11C79}"/>
                </a:ext>
              </a:extLst>
            </p:cNvPr>
            <p:cNvSpPr txBox="1">
              <a:spLocks noChangeArrowheads="1"/>
            </p:cNvSpPr>
            <p:nvPr/>
          </p:nvSpPr>
          <p:spPr bwMode="auto">
            <a:xfrm>
              <a:off x="907" y="1632"/>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p>
          </p:txBody>
        </p:sp>
        <p:sp>
          <p:nvSpPr>
            <p:cNvPr id="59493" name="Text Box 154">
              <a:extLst>
                <a:ext uri="{FF2B5EF4-FFF2-40B4-BE49-F238E27FC236}">
                  <a16:creationId xmlns:a16="http://schemas.microsoft.com/office/drawing/2014/main" id="{12BC4CB1-AFFD-D64A-B091-D3B06DCD02C5}"/>
                </a:ext>
              </a:extLst>
            </p:cNvPr>
            <p:cNvSpPr txBox="1">
              <a:spLocks noChangeArrowheads="1"/>
            </p:cNvSpPr>
            <p:nvPr/>
          </p:nvSpPr>
          <p:spPr bwMode="auto">
            <a:xfrm>
              <a:off x="1519" y="1920"/>
              <a:ext cx="1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p>
          </p:txBody>
        </p:sp>
        <p:sp>
          <p:nvSpPr>
            <p:cNvPr id="59494" name="Rectangle 155">
              <a:extLst>
                <a:ext uri="{FF2B5EF4-FFF2-40B4-BE49-F238E27FC236}">
                  <a16:creationId xmlns:a16="http://schemas.microsoft.com/office/drawing/2014/main" id="{8C442E6B-E85D-F84C-817D-D9A60069A052}"/>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h</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95" name="Rectangle 156">
              <a:extLst>
                <a:ext uri="{FF2B5EF4-FFF2-40B4-BE49-F238E27FC236}">
                  <a16:creationId xmlns:a16="http://schemas.microsoft.com/office/drawing/2014/main" id="{3B6A50A9-FA0E-AC43-9ED2-C70610E3AAF9}"/>
                </a:ext>
              </a:extLst>
            </p:cNvPr>
            <p:cNvSpPr>
              <a:spLocks noChangeArrowheads="1"/>
            </p:cNvSpPr>
            <p:nvPr/>
          </p:nvSpPr>
          <p:spPr bwMode="auto">
            <a:xfrm>
              <a:off x="3168" y="1968"/>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96" name="Rectangle 157">
              <a:extLst>
                <a:ext uri="{FF2B5EF4-FFF2-40B4-BE49-F238E27FC236}">
                  <a16:creationId xmlns:a16="http://schemas.microsoft.com/office/drawing/2014/main" id="{E6169AB2-6041-774C-BE82-91E175DF1865}"/>
                </a:ext>
              </a:extLst>
            </p:cNvPr>
            <p:cNvSpPr>
              <a:spLocks noChangeArrowheads="1"/>
            </p:cNvSpPr>
            <p:nvPr/>
          </p:nvSpPr>
          <p:spPr bwMode="auto">
            <a:xfrm>
              <a:off x="3168" y="2256"/>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97" name="Rectangle 158">
              <a:extLst>
                <a:ext uri="{FF2B5EF4-FFF2-40B4-BE49-F238E27FC236}">
                  <a16:creationId xmlns:a16="http://schemas.microsoft.com/office/drawing/2014/main" id="{C8AD18B1-BED7-1B48-9CE4-61693528904C}"/>
                </a:ext>
              </a:extLst>
            </p:cNvPr>
            <p:cNvSpPr>
              <a:spLocks noChangeArrowheads="1"/>
            </p:cNvSpPr>
            <p:nvPr/>
          </p:nvSpPr>
          <p:spPr bwMode="auto">
            <a:xfrm>
              <a:off x="3792"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98" name="Rectangle 159">
              <a:extLst>
                <a:ext uri="{FF2B5EF4-FFF2-40B4-BE49-F238E27FC236}">
                  <a16:creationId xmlns:a16="http://schemas.microsoft.com/office/drawing/2014/main" id="{8348B647-F73B-0F41-ABB9-F6437081C9B8}"/>
                </a:ext>
              </a:extLst>
            </p:cNvPr>
            <p:cNvSpPr>
              <a:spLocks noChangeArrowheads="1"/>
            </p:cNvSpPr>
            <p:nvPr/>
          </p:nvSpPr>
          <p:spPr bwMode="auto">
            <a:xfrm>
              <a:off x="3792"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99" name="Freeform 160">
              <a:extLst>
                <a:ext uri="{FF2B5EF4-FFF2-40B4-BE49-F238E27FC236}">
                  <a16:creationId xmlns:a16="http://schemas.microsoft.com/office/drawing/2014/main" id="{7810B988-6C93-2A49-955C-03FC01BFFAA9}"/>
                </a:ext>
              </a:extLst>
            </p:cNvPr>
            <p:cNvSpPr>
              <a:spLocks/>
            </p:cNvSpPr>
            <p:nvPr/>
          </p:nvSpPr>
          <p:spPr bwMode="auto">
            <a:xfrm>
              <a:off x="3552" y="1802"/>
              <a:ext cx="1104" cy="291"/>
            </a:xfrm>
            <a:custGeom>
              <a:avLst/>
              <a:gdLst>
                <a:gd name="T0" fmla="*/ 827 w 1104"/>
                <a:gd name="T1" fmla="*/ 0 h 280"/>
                <a:gd name="T2" fmla="*/ 986 w 1104"/>
                <a:gd name="T3" fmla="*/ 208 h 280"/>
                <a:gd name="T4" fmla="*/ 118 w 1104"/>
                <a:gd name="T5" fmla="*/ 303 h 280"/>
                <a:gd name="T6" fmla="*/ 275 w 1104"/>
                <a:gd name="T7" fmla="*/ 604 h 280"/>
                <a:gd name="T8" fmla="*/ 0 60000 65536"/>
                <a:gd name="T9" fmla="*/ 0 60000 65536"/>
                <a:gd name="T10" fmla="*/ 0 60000 65536"/>
                <a:gd name="T11" fmla="*/ 0 60000 65536"/>
                <a:gd name="T12" fmla="*/ 0 w 1104"/>
                <a:gd name="T13" fmla="*/ 0 h 280"/>
                <a:gd name="T14" fmla="*/ 1104 w 1104"/>
                <a:gd name="T15" fmla="*/ 280 h 280"/>
              </a:gdLst>
              <a:ahLst/>
              <a:cxnLst>
                <a:cxn ang="T8">
                  <a:pos x="T0" y="T1"/>
                </a:cxn>
                <a:cxn ang="T9">
                  <a:pos x="T2" y="T3"/>
                </a:cxn>
                <a:cxn ang="T10">
                  <a:pos x="T4" y="T5"/>
                </a:cxn>
                <a:cxn ang="T11">
                  <a:pos x="T6" y="T7"/>
                </a:cxn>
              </a:cxnLst>
              <a:rect l="T12" t="T13" r="T14" b="T15"/>
              <a:pathLst>
                <a:path w="1104" h="280">
                  <a:moveTo>
                    <a:pt x="827" y="0"/>
                  </a:moveTo>
                  <a:cubicBezTo>
                    <a:pt x="852" y="16"/>
                    <a:pt x="1104" y="73"/>
                    <a:pt x="986" y="96"/>
                  </a:cubicBezTo>
                  <a:cubicBezTo>
                    <a:pt x="868" y="119"/>
                    <a:pt x="236" y="109"/>
                    <a:pt x="118" y="140"/>
                  </a:cubicBezTo>
                  <a:cubicBezTo>
                    <a:pt x="0" y="171"/>
                    <a:pt x="242" y="251"/>
                    <a:pt x="275" y="280"/>
                  </a:cubicBezTo>
                </a:path>
              </a:pathLst>
            </a:custGeom>
            <a:noFill/>
            <a:ln w="571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00" name="Line 161">
              <a:extLst>
                <a:ext uri="{FF2B5EF4-FFF2-40B4-BE49-F238E27FC236}">
                  <a16:creationId xmlns:a16="http://schemas.microsoft.com/office/drawing/2014/main" id="{E5663BBA-6A7F-E34E-9138-B70F29C8F1FE}"/>
                </a:ext>
              </a:extLst>
            </p:cNvPr>
            <p:cNvSpPr>
              <a:spLocks noChangeShapeType="1"/>
            </p:cNvSpPr>
            <p:nvPr/>
          </p:nvSpPr>
          <p:spPr bwMode="auto">
            <a:xfrm flipV="1">
              <a:off x="2544" y="2256"/>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01" name="Line 162">
              <a:extLst>
                <a:ext uri="{FF2B5EF4-FFF2-40B4-BE49-F238E27FC236}">
                  <a16:creationId xmlns:a16="http://schemas.microsoft.com/office/drawing/2014/main" id="{B73B95AD-8B49-524C-A397-0CB9042FD5F4}"/>
                </a:ext>
              </a:extLst>
            </p:cNvPr>
            <p:cNvSpPr>
              <a:spLocks noChangeShapeType="1"/>
            </p:cNvSpPr>
            <p:nvPr/>
          </p:nvSpPr>
          <p:spPr bwMode="auto">
            <a:xfrm flipV="1">
              <a:off x="2544" y="1968"/>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02" name="Line 163">
              <a:extLst>
                <a:ext uri="{FF2B5EF4-FFF2-40B4-BE49-F238E27FC236}">
                  <a16:creationId xmlns:a16="http://schemas.microsoft.com/office/drawing/2014/main" id="{29F40AD5-A894-E445-8768-7DBDB8203E78}"/>
                </a:ext>
              </a:extLst>
            </p:cNvPr>
            <p:cNvSpPr>
              <a:spLocks noChangeShapeType="1"/>
            </p:cNvSpPr>
            <p:nvPr/>
          </p:nvSpPr>
          <p:spPr bwMode="auto">
            <a:xfrm flipV="1">
              <a:off x="3168" y="1968"/>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503" name="Line 164">
              <a:extLst>
                <a:ext uri="{FF2B5EF4-FFF2-40B4-BE49-F238E27FC236}">
                  <a16:creationId xmlns:a16="http://schemas.microsoft.com/office/drawing/2014/main" id="{7DC10C6F-04AB-2C43-B8C5-DD69740CEF14}"/>
                </a:ext>
              </a:extLst>
            </p:cNvPr>
            <p:cNvSpPr>
              <a:spLocks noChangeShapeType="1"/>
            </p:cNvSpPr>
            <p:nvPr/>
          </p:nvSpPr>
          <p:spPr bwMode="auto">
            <a:xfrm flipV="1">
              <a:off x="3168" y="2256"/>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8" name="Group 165">
            <a:extLst>
              <a:ext uri="{FF2B5EF4-FFF2-40B4-BE49-F238E27FC236}">
                <a16:creationId xmlns:a16="http://schemas.microsoft.com/office/drawing/2014/main" id="{C996DAE3-1963-8A44-8DD7-14FED5F003B3}"/>
              </a:ext>
            </a:extLst>
          </p:cNvPr>
          <p:cNvGrpSpPr>
            <a:grpSpLocks/>
          </p:cNvGrpSpPr>
          <p:nvPr/>
        </p:nvGrpSpPr>
        <p:grpSpPr bwMode="auto">
          <a:xfrm>
            <a:off x="0" y="1066800"/>
            <a:ext cx="9144000" cy="5791200"/>
            <a:chOff x="0" y="672"/>
            <a:chExt cx="5760" cy="3648"/>
          </a:xfrm>
        </p:grpSpPr>
        <p:sp>
          <p:nvSpPr>
            <p:cNvPr id="59401" name="Rectangle 166">
              <a:extLst>
                <a:ext uri="{FF2B5EF4-FFF2-40B4-BE49-F238E27FC236}">
                  <a16:creationId xmlns:a16="http://schemas.microsoft.com/office/drawing/2014/main" id="{0822D3AD-2C74-CF4E-AC5E-620F063EEFA5}"/>
                </a:ext>
              </a:extLst>
            </p:cNvPr>
            <p:cNvSpPr>
              <a:spLocks noChangeArrowheads="1"/>
            </p:cNvSpPr>
            <p:nvPr/>
          </p:nvSpPr>
          <p:spPr bwMode="auto">
            <a:xfrm>
              <a:off x="0" y="672"/>
              <a:ext cx="5760" cy="3648"/>
            </a:xfrm>
            <a:prstGeom prst="rect">
              <a:avLst/>
            </a:prstGeom>
            <a:solidFill>
              <a:schemeClr val="bg1"/>
            </a:solidFill>
            <a:ln w="19050">
              <a:solidFill>
                <a:schemeClr val="bg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02" name="Text Box 167">
              <a:extLst>
                <a:ext uri="{FF2B5EF4-FFF2-40B4-BE49-F238E27FC236}">
                  <a16:creationId xmlns:a16="http://schemas.microsoft.com/office/drawing/2014/main" id="{0D51AE91-B942-2149-8BBA-488B4422F277}"/>
                </a:ext>
              </a:extLst>
            </p:cNvPr>
            <p:cNvSpPr txBox="1">
              <a:spLocks noChangeArrowheads="1"/>
            </p:cNvSpPr>
            <p:nvPr/>
          </p:nvSpPr>
          <p:spPr bwMode="auto">
            <a:xfrm>
              <a:off x="480" y="2983"/>
              <a:ext cx="2175" cy="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rPr>
                <a:t>i: </a:t>
              </a:r>
              <a:r>
                <a:rPr kumimoji="0" lang="en-US" altLang="en-US" sz="2800" b="0" i="0" u="none" strike="noStrike" kern="1200" cap="none" spc="0" normalizeH="0" baseline="0" noProof="0" dirty="0" err="1">
                  <a:ln>
                    <a:noFill/>
                  </a:ln>
                  <a:solidFill>
                    <a:srgbClr val="CC9900"/>
                  </a:solidFill>
                  <a:effectLst/>
                  <a:uLnTx/>
                  <a:uFillTx/>
                  <a:latin typeface="Calibri" panose="020F0502020204030204" pitchFamily="34" charset="0"/>
                  <a:ea typeface="ＭＳ Ｐゴシック" panose="020B0600070205080204" pitchFamily="34" charset="-128"/>
                  <a:cs typeface="+mn-cs"/>
                </a:rPr>
                <a:t>r</a:t>
              </a:r>
              <a:r>
                <a:rPr kumimoji="0" lang="en-US" altLang="en-US" sz="2800" b="0" i="0" u="none" strike="noStrike" kern="1200" cap="none" spc="0" normalizeH="0" baseline="-25000" noProof="0" dirty="0" err="1">
                  <a:ln>
                    <a:noFill/>
                  </a:ln>
                  <a:solidFill>
                    <a:srgbClr val="CC9900"/>
                  </a:solidFill>
                  <a:effectLst/>
                  <a:uLnTx/>
                  <a:uFillTx/>
                  <a:latin typeface="Calibri" panose="020F0502020204030204" pitchFamily="34" charset="0"/>
                  <a:ea typeface="ＭＳ Ｐゴシック" panose="020B0600070205080204" pitchFamily="34" charset="-128"/>
                  <a:cs typeface="+mn-cs"/>
                </a:rPr>
                <a:t>x</a:t>
              </a:r>
              <a:r>
                <a:rPr kumimoji="0" lang="en-US" altLang="en-US" sz="2800" b="0" i="0" u="none" strike="noStrike" kern="1200" cap="none" spc="0" normalizeH="0" baseline="-2500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rPr>
                <a:t> </a:t>
              </a: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_</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bubble</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bubble</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bubble</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rPr>
                <a:t>j: _ </a:t>
              </a: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sym typeface="Symbol" pitchFamily="2" charset="2"/>
                </a:rPr>
                <a:t> </a:t>
              </a:r>
              <a:r>
                <a:rPr kumimoji="0" lang="en-US" altLang="en-US" sz="2800" b="0" i="0" u="none" strike="noStrike" kern="1200" cap="none" spc="0" normalizeH="0" baseline="0" noProof="0" dirty="0" err="1">
                  <a:ln>
                    <a:noFill/>
                  </a:ln>
                  <a:solidFill>
                    <a:srgbClr val="CC9900"/>
                  </a:solidFill>
                  <a:effectLst/>
                  <a:uLnTx/>
                  <a:uFillTx/>
                  <a:latin typeface="Calibri" panose="020F0502020204030204" pitchFamily="34" charset="0"/>
                  <a:ea typeface="ＭＳ Ｐゴシック" panose="020B0600070205080204" pitchFamily="34" charset="-128"/>
                  <a:cs typeface="+mn-cs"/>
                </a:rPr>
                <a:t>r</a:t>
              </a:r>
              <a:r>
                <a:rPr kumimoji="0" lang="en-US" altLang="en-US" sz="2800" b="0" i="0" u="none" strike="noStrike" kern="1200" cap="none" spc="0" normalizeH="0" baseline="-25000" noProof="0" dirty="0" err="1">
                  <a:ln>
                    <a:noFill/>
                  </a:ln>
                  <a:solidFill>
                    <a:srgbClr val="CC9900"/>
                  </a:solidFill>
                  <a:effectLst/>
                  <a:uLnTx/>
                  <a:uFillTx/>
                  <a:latin typeface="Calibri" panose="020F0502020204030204" pitchFamily="34" charset="0"/>
                  <a:ea typeface="ＭＳ Ｐゴシック" panose="020B0600070205080204" pitchFamily="34" charset="-128"/>
                  <a:cs typeface="+mn-cs"/>
                </a:rPr>
                <a:t>x</a:t>
              </a:r>
              <a:r>
                <a:rPr kumimoji="0" lang="en-US" altLang="en-US" sz="2800" b="0" i="0" u="none" strike="noStrike" kern="1200" cap="none" spc="0" normalizeH="0" baseline="-2500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rPr>
                <a:t>	 </a:t>
              </a:r>
              <a:r>
                <a:rPr kumimoji="0" lang="en-US" altLang="en-US" sz="2800" b="0" i="0" u="none" strike="noStrike" kern="1200" cap="none" spc="0" normalizeH="0" baseline="0" noProof="0" dirty="0" err="1">
                  <a:ln>
                    <a:noFill/>
                  </a:ln>
                  <a:solidFill>
                    <a:srgbClr val="CC9900"/>
                  </a:solidFill>
                  <a:effectLst/>
                  <a:uLnTx/>
                  <a:uFillTx/>
                  <a:latin typeface="Calibri" panose="020F0502020204030204" pitchFamily="34" charset="0"/>
                  <a:ea typeface="ＭＳ Ｐゴシック" panose="020B0600070205080204" pitchFamily="34" charset="-128"/>
                  <a:cs typeface="+mn-cs"/>
                </a:rPr>
                <a:t>dist</a:t>
              </a: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rPr>
                <a:t>(</a:t>
              </a:r>
              <a:r>
                <a:rPr kumimoji="0" lang="en-US" altLang="en-US" sz="2800" b="0" i="0" u="none" strike="noStrike" kern="1200" cap="none" spc="0" normalizeH="0" baseline="0" noProof="0" dirty="0" err="1">
                  <a:ln>
                    <a:noFill/>
                  </a:ln>
                  <a:solidFill>
                    <a:srgbClr val="CC9900"/>
                  </a:solidFill>
                  <a:effectLst/>
                  <a:uLnTx/>
                  <a:uFillTx/>
                  <a:latin typeface="Calibri" panose="020F0502020204030204" pitchFamily="34" charset="0"/>
                  <a:ea typeface="ＭＳ Ｐゴシック" panose="020B0600070205080204" pitchFamily="34" charset="-128"/>
                  <a:cs typeface="+mn-cs"/>
                </a:rPr>
                <a:t>i,j</a:t>
              </a:r>
              <a:r>
                <a:rPr kumimoji="0" lang="en-US" altLang="en-US" sz="2800" b="0" i="0" u="none" strike="noStrike" kern="1200" cap="none" spc="0" normalizeH="0" baseline="0" noProof="0" dirty="0">
                  <a:ln>
                    <a:noFill/>
                  </a:ln>
                  <a:solidFill>
                    <a:srgbClr val="CC9900"/>
                  </a:solidFill>
                  <a:effectLst/>
                  <a:uLnTx/>
                  <a:uFillTx/>
                  <a:latin typeface="Calibri" panose="020F0502020204030204" pitchFamily="34" charset="0"/>
                  <a:ea typeface="ＭＳ Ｐゴシック" panose="020B0600070205080204" pitchFamily="34" charset="-128"/>
                  <a:cs typeface="+mn-cs"/>
                </a:rPr>
                <a:t>)=4</a:t>
              </a:r>
            </a:p>
          </p:txBody>
        </p:sp>
        <p:sp>
          <p:nvSpPr>
            <p:cNvPr id="59403" name="Rectangle 168">
              <a:extLst>
                <a:ext uri="{FF2B5EF4-FFF2-40B4-BE49-F238E27FC236}">
                  <a16:creationId xmlns:a16="http://schemas.microsoft.com/office/drawing/2014/main" id="{9CD795BF-67DC-0F4F-8A02-4FE5B4270E07}"/>
                </a:ext>
              </a:extLst>
            </p:cNvPr>
            <p:cNvSpPr>
              <a:spLocks noChangeArrowheads="1"/>
            </p:cNvSpPr>
            <p:nvPr/>
          </p:nvSpPr>
          <p:spPr bwMode="auto">
            <a:xfrm>
              <a:off x="5040"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04" name="Rectangle 169">
              <a:extLst>
                <a:ext uri="{FF2B5EF4-FFF2-40B4-BE49-F238E27FC236}">
                  <a16:creationId xmlns:a16="http://schemas.microsoft.com/office/drawing/2014/main" id="{1DE25603-D3C3-4C41-8A34-B2A88C18A7F4}"/>
                </a:ext>
              </a:extLst>
            </p:cNvPr>
            <p:cNvSpPr>
              <a:spLocks noChangeArrowheads="1"/>
            </p:cNvSpPr>
            <p:nvPr/>
          </p:nvSpPr>
          <p:spPr bwMode="auto">
            <a:xfrm>
              <a:off x="4320" y="1008"/>
              <a:ext cx="768" cy="2112"/>
            </a:xfrm>
            <a:prstGeom prst="rect">
              <a:avLst/>
            </a:prstGeom>
            <a:solidFill>
              <a:srgbClr val="D49F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05" name="Rectangle 170">
              <a:extLst>
                <a:ext uri="{FF2B5EF4-FFF2-40B4-BE49-F238E27FC236}">
                  <a16:creationId xmlns:a16="http://schemas.microsoft.com/office/drawing/2014/main" id="{96F76D19-5FD0-1046-9428-45257FB10592}"/>
                </a:ext>
              </a:extLst>
            </p:cNvPr>
            <p:cNvSpPr>
              <a:spLocks noChangeArrowheads="1"/>
            </p:cNvSpPr>
            <p:nvPr/>
          </p:nvSpPr>
          <p:spPr bwMode="auto">
            <a:xfrm>
              <a:off x="672"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06" name="Rectangle 171">
              <a:extLst>
                <a:ext uri="{FF2B5EF4-FFF2-40B4-BE49-F238E27FC236}">
                  <a16:creationId xmlns:a16="http://schemas.microsoft.com/office/drawing/2014/main" id="{BE33E6EF-70FC-3742-9F69-237581761DB1}"/>
                </a:ext>
              </a:extLst>
            </p:cNvPr>
            <p:cNvSpPr>
              <a:spLocks noChangeArrowheads="1"/>
            </p:cNvSpPr>
            <p:nvPr/>
          </p:nvSpPr>
          <p:spPr bwMode="auto">
            <a:xfrm>
              <a:off x="1296"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07" name="Rectangle 172">
              <a:extLst>
                <a:ext uri="{FF2B5EF4-FFF2-40B4-BE49-F238E27FC236}">
                  <a16:creationId xmlns:a16="http://schemas.microsoft.com/office/drawing/2014/main" id="{7AEBA6ED-5FEF-2540-9CE2-1FC609BC9AFC}"/>
                </a:ext>
              </a:extLst>
            </p:cNvPr>
            <p:cNvSpPr>
              <a:spLocks noChangeArrowheads="1"/>
            </p:cNvSpPr>
            <p:nvPr/>
          </p:nvSpPr>
          <p:spPr bwMode="auto">
            <a:xfrm>
              <a:off x="1920"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08" name="Rectangle 173">
              <a:extLst>
                <a:ext uri="{FF2B5EF4-FFF2-40B4-BE49-F238E27FC236}">
                  <a16:creationId xmlns:a16="http://schemas.microsoft.com/office/drawing/2014/main" id="{BD5EA538-9359-B249-94FD-2540A3EF13A5}"/>
                </a:ext>
              </a:extLst>
            </p:cNvPr>
            <p:cNvSpPr>
              <a:spLocks noChangeArrowheads="1"/>
            </p:cNvSpPr>
            <p:nvPr/>
          </p:nvSpPr>
          <p:spPr bwMode="auto">
            <a:xfrm>
              <a:off x="2544"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409" name="Rectangle 174">
              <a:extLst>
                <a:ext uri="{FF2B5EF4-FFF2-40B4-BE49-F238E27FC236}">
                  <a16:creationId xmlns:a16="http://schemas.microsoft.com/office/drawing/2014/main" id="{21024473-9241-3B45-BABD-198B070A4300}"/>
                </a:ext>
              </a:extLst>
            </p:cNvPr>
            <p:cNvSpPr>
              <a:spLocks noChangeArrowheads="1"/>
            </p:cNvSpPr>
            <p:nvPr/>
          </p:nvSpPr>
          <p:spPr bwMode="auto">
            <a:xfrm>
              <a:off x="1296"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10" name="Rectangle 175">
              <a:extLst>
                <a:ext uri="{FF2B5EF4-FFF2-40B4-BE49-F238E27FC236}">
                  <a16:creationId xmlns:a16="http://schemas.microsoft.com/office/drawing/2014/main" id="{4BCF5A6A-62C8-6D42-B4B4-BD325E368082}"/>
                </a:ext>
              </a:extLst>
            </p:cNvPr>
            <p:cNvSpPr>
              <a:spLocks noChangeArrowheads="1"/>
            </p:cNvSpPr>
            <p:nvPr/>
          </p:nvSpPr>
          <p:spPr bwMode="auto">
            <a:xfrm>
              <a:off x="1920"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11" name="Rectangle 176">
              <a:extLst>
                <a:ext uri="{FF2B5EF4-FFF2-40B4-BE49-F238E27FC236}">
                  <a16:creationId xmlns:a16="http://schemas.microsoft.com/office/drawing/2014/main" id="{F2BCB18F-F757-7642-9185-E73E9E89594E}"/>
                </a:ext>
              </a:extLst>
            </p:cNvPr>
            <p:cNvSpPr>
              <a:spLocks noChangeArrowheads="1"/>
            </p:cNvSpPr>
            <p:nvPr/>
          </p:nvSpPr>
          <p:spPr bwMode="auto">
            <a:xfrm>
              <a:off x="2544"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12" name="Rectangle 177">
              <a:extLst>
                <a:ext uri="{FF2B5EF4-FFF2-40B4-BE49-F238E27FC236}">
                  <a16:creationId xmlns:a16="http://schemas.microsoft.com/office/drawing/2014/main" id="{4B8FE20E-E8FC-1041-8FB9-F76013499006}"/>
                </a:ext>
              </a:extLst>
            </p:cNvPr>
            <p:cNvSpPr>
              <a:spLocks noChangeArrowheads="1"/>
            </p:cNvSpPr>
            <p:nvPr/>
          </p:nvSpPr>
          <p:spPr bwMode="auto">
            <a:xfrm>
              <a:off x="3168"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MEM</a:t>
              </a:r>
            </a:p>
          </p:txBody>
        </p:sp>
        <p:sp>
          <p:nvSpPr>
            <p:cNvPr id="59413" name="Rectangle 178">
              <a:extLst>
                <a:ext uri="{FF2B5EF4-FFF2-40B4-BE49-F238E27FC236}">
                  <a16:creationId xmlns:a16="http://schemas.microsoft.com/office/drawing/2014/main" id="{096EF59E-5D61-B049-96ED-919793A6FB1E}"/>
                </a:ext>
              </a:extLst>
            </p:cNvPr>
            <p:cNvSpPr>
              <a:spLocks noChangeArrowheads="1"/>
            </p:cNvSpPr>
            <p:nvPr/>
          </p:nvSpPr>
          <p:spPr bwMode="auto">
            <a:xfrm>
              <a:off x="1920"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14" name="Rectangle 179">
              <a:extLst>
                <a:ext uri="{FF2B5EF4-FFF2-40B4-BE49-F238E27FC236}">
                  <a16:creationId xmlns:a16="http://schemas.microsoft.com/office/drawing/2014/main" id="{75A8F102-E7D8-004B-963B-43CB772B4DFC}"/>
                </a:ext>
              </a:extLst>
            </p:cNvPr>
            <p:cNvSpPr>
              <a:spLocks noChangeArrowheads="1"/>
            </p:cNvSpPr>
            <p:nvPr/>
          </p:nvSpPr>
          <p:spPr bwMode="auto">
            <a:xfrm>
              <a:off x="2544" y="1968"/>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15" name="Rectangle 180">
              <a:extLst>
                <a:ext uri="{FF2B5EF4-FFF2-40B4-BE49-F238E27FC236}">
                  <a16:creationId xmlns:a16="http://schemas.microsoft.com/office/drawing/2014/main" id="{464E7033-DB74-9F4D-85CD-30B7D8A38C3B}"/>
                </a:ext>
              </a:extLst>
            </p:cNvPr>
            <p:cNvSpPr>
              <a:spLocks noChangeArrowheads="1"/>
            </p:cNvSpPr>
            <p:nvPr/>
          </p:nvSpPr>
          <p:spPr bwMode="auto">
            <a:xfrm>
              <a:off x="2544" y="2256"/>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16" name="Rectangle 181">
              <a:extLst>
                <a:ext uri="{FF2B5EF4-FFF2-40B4-BE49-F238E27FC236}">
                  <a16:creationId xmlns:a16="http://schemas.microsoft.com/office/drawing/2014/main" id="{27BFC27F-E6B8-BE48-8699-F043DA17B335}"/>
                </a:ext>
              </a:extLst>
            </p:cNvPr>
            <p:cNvSpPr>
              <a:spLocks noChangeArrowheads="1"/>
            </p:cNvSpPr>
            <p:nvPr/>
          </p:nvSpPr>
          <p:spPr bwMode="auto">
            <a:xfrm>
              <a:off x="67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0</a:t>
              </a:r>
            </a:p>
          </p:txBody>
        </p:sp>
        <p:sp>
          <p:nvSpPr>
            <p:cNvPr id="59417" name="Rectangle 182">
              <a:extLst>
                <a:ext uri="{FF2B5EF4-FFF2-40B4-BE49-F238E27FC236}">
                  <a16:creationId xmlns:a16="http://schemas.microsoft.com/office/drawing/2014/main" id="{E600C9B6-0DC0-9145-8A51-0CE1709D4755}"/>
                </a:ext>
              </a:extLst>
            </p:cNvPr>
            <p:cNvSpPr>
              <a:spLocks noChangeArrowheads="1"/>
            </p:cNvSpPr>
            <p:nvPr/>
          </p:nvSpPr>
          <p:spPr bwMode="auto">
            <a:xfrm>
              <a:off x="1296"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1</a:t>
              </a:r>
            </a:p>
          </p:txBody>
        </p:sp>
        <p:sp>
          <p:nvSpPr>
            <p:cNvPr id="59418" name="Rectangle 183">
              <a:extLst>
                <a:ext uri="{FF2B5EF4-FFF2-40B4-BE49-F238E27FC236}">
                  <a16:creationId xmlns:a16="http://schemas.microsoft.com/office/drawing/2014/main" id="{ED045B49-5D5F-0E48-878B-CF9A3C82E8E9}"/>
                </a:ext>
              </a:extLst>
            </p:cNvPr>
            <p:cNvSpPr>
              <a:spLocks noChangeArrowheads="1"/>
            </p:cNvSpPr>
            <p:nvPr/>
          </p:nvSpPr>
          <p:spPr bwMode="auto">
            <a:xfrm>
              <a:off x="1920"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2</a:t>
              </a:r>
            </a:p>
          </p:txBody>
        </p:sp>
        <p:sp>
          <p:nvSpPr>
            <p:cNvPr id="59419" name="Rectangle 184">
              <a:extLst>
                <a:ext uri="{FF2B5EF4-FFF2-40B4-BE49-F238E27FC236}">
                  <a16:creationId xmlns:a16="http://schemas.microsoft.com/office/drawing/2014/main" id="{CAF27DA8-49A4-5F48-87C7-74855012F1C4}"/>
                </a:ext>
              </a:extLst>
            </p:cNvPr>
            <p:cNvSpPr>
              <a:spLocks noChangeArrowheads="1"/>
            </p:cNvSpPr>
            <p:nvPr/>
          </p:nvSpPr>
          <p:spPr bwMode="auto">
            <a:xfrm>
              <a:off x="2544"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3</a:t>
              </a:r>
            </a:p>
          </p:txBody>
        </p:sp>
        <p:sp>
          <p:nvSpPr>
            <p:cNvPr id="59420" name="Rectangle 185">
              <a:extLst>
                <a:ext uri="{FF2B5EF4-FFF2-40B4-BE49-F238E27FC236}">
                  <a16:creationId xmlns:a16="http://schemas.microsoft.com/office/drawing/2014/main" id="{5A333F40-EEFA-7040-92B1-97C3A79A5B15}"/>
                </a:ext>
              </a:extLst>
            </p:cNvPr>
            <p:cNvSpPr>
              <a:spLocks noChangeArrowheads="1"/>
            </p:cNvSpPr>
            <p:nvPr/>
          </p:nvSpPr>
          <p:spPr bwMode="auto">
            <a:xfrm>
              <a:off x="3168"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4</a:t>
              </a:r>
            </a:p>
          </p:txBody>
        </p:sp>
        <p:sp>
          <p:nvSpPr>
            <p:cNvPr id="59421" name="Rectangle 186">
              <a:extLst>
                <a:ext uri="{FF2B5EF4-FFF2-40B4-BE49-F238E27FC236}">
                  <a16:creationId xmlns:a16="http://schemas.microsoft.com/office/drawing/2014/main" id="{3E320B0A-88B2-BD45-A283-52A088AC8E30}"/>
                </a:ext>
              </a:extLst>
            </p:cNvPr>
            <p:cNvSpPr>
              <a:spLocks noChangeArrowheads="1"/>
            </p:cNvSpPr>
            <p:nvPr/>
          </p:nvSpPr>
          <p:spPr bwMode="auto">
            <a:xfrm>
              <a:off x="3792" y="1056"/>
              <a:ext cx="57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5</a:t>
              </a:r>
            </a:p>
          </p:txBody>
        </p:sp>
        <p:sp>
          <p:nvSpPr>
            <p:cNvPr id="59422" name="AutoShape 187">
              <a:extLst>
                <a:ext uri="{FF2B5EF4-FFF2-40B4-BE49-F238E27FC236}">
                  <a16:creationId xmlns:a16="http://schemas.microsoft.com/office/drawing/2014/main" id="{5B69DE52-80FF-1448-A67A-6BF52E89BF54}"/>
                </a:ext>
              </a:extLst>
            </p:cNvPr>
            <p:cNvSpPr>
              <a:spLocks noChangeArrowheads="1"/>
            </p:cNvSpPr>
            <p:nvPr/>
          </p:nvSpPr>
          <p:spPr bwMode="auto">
            <a:xfrm>
              <a:off x="4416" y="1152"/>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23" name="Rectangle 188">
              <a:extLst>
                <a:ext uri="{FF2B5EF4-FFF2-40B4-BE49-F238E27FC236}">
                  <a16:creationId xmlns:a16="http://schemas.microsoft.com/office/drawing/2014/main" id="{933132D6-80FA-C545-95FE-9070F265C2EB}"/>
                </a:ext>
              </a:extLst>
            </p:cNvPr>
            <p:cNvSpPr>
              <a:spLocks noChangeArrowheads="1"/>
            </p:cNvSpPr>
            <p:nvPr/>
          </p:nvSpPr>
          <p:spPr bwMode="auto">
            <a:xfrm>
              <a:off x="5040"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ALU</a:t>
              </a:r>
            </a:p>
          </p:txBody>
        </p:sp>
        <p:sp>
          <p:nvSpPr>
            <p:cNvPr id="59424" name="Rectangle 189">
              <a:extLst>
                <a:ext uri="{FF2B5EF4-FFF2-40B4-BE49-F238E27FC236}">
                  <a16:creationId xmlns:a16="http://schemas.microsoft.com/office/drawing/2014/main" id="{ABF5E46B-DFCB-B446-8F45-B2538C3F06CF}"/>
                </a:ext>
              </a:extLst>
            </p:cNvPr>
            <p:cNvSpPr>
              <a:spLocks noChangeArrowheads="1"/>
            </p:cNvSpPr>
            <p:nvPr/>
          </p:nvSpPr>
          <p:spPr bwMode="auto">
            <a:xfrm>
              <a:off x="5040"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25" name="Rectangle 190">
              <a:extLst>
                <a:ext uri="{FF2B5EF4-FFF2-40B4-BE49-F238E27FC236}">
                  <a16:creationId xmlns:a16="http://schemas.microsoft.com/office/drawing/2014/main" id="{AD300D5C-385B-0F44-9EA2-A4F2E083E5FD}"/>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26" name="Rectangle 191">
              <a:extLst>
                <a:ext uri="{FF2B5EF4-FFF2-40B4-BE49-F238E27FC236}">
                  <a16:creationId xmlns:a16="http://schemas.microsoft.com/office/drawing/2014/main" id="{AB8A246D-BD88-7144-83A3-13535AFAF44D}"/>
                </a:ext>
              </a:extLst>
            </p:cNvPr>
            <p:cNvSpPr>
              <a:spLocks noChangeArrowheads="1"/>
            </p:cNvSpPr>
            <p:nvPr/>
          </p:nvSpPr>
          <p:spPr bwMode="auto">
            <a:xfrm>
              <a:off x="48" y="1680"/>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27" name="Rectangle 192">
              <a:extLst>
                <a:ext uri="{FF2B5EF4-FFF2-40B4-BE49-F238E27FC236}">
                  <a16:creationId xmlns:a16="http://schemas.microsoft.com/office/drawing/2014/main" id="{2ADF2AC6-FAD8-EB4A-ACCA-2E89DD733B72}"/>
                </a:ext>
              </a:extLst>
            </p:cNvPr>
            <p:cNvSpPr>
              <a:spLocks noChangeArrowheads="1"/>
            </p:cNvSpPr>
            <p:nvPr/>
          </p:nvSpPr>
          <p:spPr bwMode="auto">
            <a:xfrm>
              <a:off x="48" y="1968"/>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28" name="Rectangle 193">
              <a:extLst>
                <a:ext uri="{FF2B5EF4-FFF2-40B4-BE49-F238E27FC236}">
                  <a16:creationId xmlns:a16="http://schemas.microsoft.com/office/drawing/2014/main" id="{F112D68E-712A-E64E-9567-4FB41DEE7036}"/>
                </a:ext>
              </a:extLst>
            </p:cNvPr>
            <p:cNvSpPr>
              <a:spLocks noChangeArrowheads="1"/>
            </p:cNvSpPr>
            <p:nvPr/>
          </p:nvSpPr>
          <p:spPr bwMode="auto">
            <a:xfrm>
              <a:off x="48" y="2256"/>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k</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29" name="Rectangle 194">
              <a:extLst>
                <a:ext uri="{FF2B5EF4-FFF2-40B4-BE49-F238E27FC236}">
                  <a16:creationId xmlns:a16="http://schemas.microsoft.com/office/drawing/2014/main" id="{6F9668A0-FECF-8F4D-9A87-6255EE6716EC}"/>
                </a:ext>
              </a:extLst>
            </p:cNvPr>
            <p:cNvSpPr>
              <a:spLocks noChangeArrowheads="1"/>
            </p:cNvSpPr>
            <p:nvPr/>
          </p:nvSpPr>
          <p:spPr bwMode="auto">
            <a:xfrm>
              <a:off x="48" y="2544"/>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err="1">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dirty="0" err="1">
                  <a:ln>
                    <a:noFill/>
                  </a:ln>
                  <a:solidFill>
                    <a:srgbClr val="000000"/>
                  </a:solidFill>
                  <a:effectLst/>
                  <a:uLnTx/>
                  <a:uFillTx/>
                  <a:latin typeface="Calibri" panose="020F0502020204030204" pitchFamily="34" charset="0"/>
                  <a:ea typeface="ＭＳ Ｐゴシック" panose="020B0600070205080204" pitchFamily="34" charset="-128"/>
                  <a:cs typeface="+mn-cs"/>
                </a:rPr>
                <a:t>l</a:t>
              </a:r>
              <a:endPar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30" name="AutoShape 195">
              <a:extLst>
                <a:ext uri="{FF2B5EF4-FFF2-40B4-BE49-F238E27FC236}">
                  <a16:creationId xmlns:a16="http://schemas.microsoft.com/office/drawing/2014/main" id="{A929F76F-5DF7-134F-92C3-AFF3B2BF931E}"/>
                </a:ext>
              </a:extLst>
            </p:cNvPr>
            <p:cNvSpPr>
              <a:spLocks noChangeArrowheads="1"/>
            </p:cNvSpPr>
            <p:nvPr/>
          </p:nvSpPr>
          <p:spPr bwMode="auto">
            <a:xfrm rot="5400000">
              <a:off x="-216" y="3288"/>
              <a:ext cx="1056" cy="144"/>
            </a:xfrm>
            <a:prstGeom prst="rightArrow">
              <a:avLst>
                <a:gd name="adj1" fmla="val 50000"/>
                <a:gd name="adj2" fmla="val 183333"/>
              </a:avLst>
            </a:prstGeom>
            <a:solidFill>
              <a:schemeClr val="tx2"/>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31" name="Freeform 196">
              <a:extLst>
                <a:ext uri="{FF2B5EF4-FFF2-40B4-BE49-F238E27FC236}">
                  <a16:creationId xmlns:a16="http://schemas.microsoft.com/office/drawing/2014/main" id="{19CA195E-ABF7-0E47-BAE2-A3047D0C4FC0}"/>
                </a:ext>
              </a:extLst>
            </p:cNvPr>
            <p:cNvSpPr>
              <a:spLocks/>
            </p:cNvSpPr>
            <p:nvPr/>
          </p:nvSpPr>
          <p:spPr bwMode="auto">
            <a:xfrm>
              <a:off x="5040" y="1968"/>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32" name="Freeform 197">
              <a:extLst>
                <a:ext uri="{FF2B5EF4-FFF2-40B4-BE49-F238E27FC236}">
                  <a16:creationId xmlns:a16="http://schemas.microsoft.com/office/drawing/2014/main" id="{DA010BA1-A48A-3241-8012-FBEF714809E3}"/>
                </a:ext>
              </a:extLst>
            </p:cNvPr>
            <p:cNvSpPr>
              <a:spLocks/>
            </p:cNvSpPr>
            <p:nvPr/>
          </p:nvSpPr>
          <p:spPr bwMode="auto">
            <a:xfrm>
              <a:off x="5040" y="2256"/>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33" name="Freeform 198">
              <a:extLst>
                <a:ext uri="{FF2B5EF4-FFF2-40B4-BE49-F238E27FC236}">
                  <a16:creationId xmlns:a16="http://schemas.microsoft.com/office/drawing/2014/main" id="{125B84D0-DABB-BD4F-822C-7A3DA046F2A1}"/>
                </a:ext>
              </a:extLst>
            </p:cNvPr>
            <p:cNvSpPr>
              <a:spLocks/>
            </p:cNvSpPr>
            <p:nvPr/>
          </p:nvSpPr>
          <p:spPr bwMode="auto">
            <a:xfrm>
              <a:off x="5040" y="2544"/>
              <a:ext cx="576" cy="240"/>
            </a:xfrm>
            <a:custGeom>
              <a:avLst/>
              <a:gdLst>
                <a:gd name="T0" fmla="*/ 576 w 576"/>
                <a:gd name="T1" fmla="*/ 0 h 240"/>
                <a:gd name="T2" fmla="*/ 0 w 576"/>
                <a:gd name="T3" fmla="*/ 0 h 240"/>
                <a:gd name="T4" fmla="*/ 0 w 576"/>
                <a:gd name="T5" fmla="*/ 240 h 240"/>
                <a:gd name="T6" fmla="*/ 576 w 576"/>
                <a:gd name="T7" fmla="*/ 240 h 240"/>
                <a:gd name="T8" fmla="*/ 528 w 576"/>
                <a:gd name="T9" fmla="*/ 192 h 240"/>
                <a:gd name="T10" fmla="*/ 576 w 576"/>
                <a:gd name="T11" fmla="*/ 144 h 240"/>
                <a:gd name="T12" fmla="*/ 480 w 576"/>
                <a:gd name="T13" fmla="*/ 144 h 240"/>
                <a:gd name="T14" fmla="*/ 576 w 576"/>
                <a:gd name="T15" fmla="*/ 96 h 240"/>
                <a:gd name="T16" fmla="*/ 528 w 576"/>
                <a:gd name="T17" fmla="*/ 48 h 240"/>
                <a:gd name="T18" fmla="*/ 576 w 576"/>
                <a:gd name="T19" fmla="*/ 0 h 2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6"/>
                <a:gd name="T31" fmla="*/ 0 h 240"/>
                <a:gd name="T32" fmla="*/ 576 w 576"/>
                <a:gd name="T33" fmla="*/ 240 h 2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6" h="240">
                  <a:moveTo>
                    <a:pt x="576" y="0"/>
                  </a:moveTo>
                  <a:lnTo>
                    <a:pt x="0" y="0"/>
                  </a:lnTo>
                  <a:lnTo>
                    <a:pt x="0" y="240"/>
                  </a:lnTo>
                  <a:lnTo>
                    <a:pt x="576" y="240"/>
                  </a:lnTo>
                  <a:lnTo>
                    <a:pt x="528" y="192"/>
                  </a:lnTo>
                  <a:lnTo>
                    <a:pt x="576" y="144"/>
                  </a:lnTo>
                  <a:lnTo>
                    <a:pt x="480" y="144"/>
                  </a:lnTo>
                  <a:lnTo>
                    <a:pt x="576" y="96"/>
                  </a:lnTo>
                  <a:lnTo>
                    <a:pt x="528" y="48"/>
                  </a:lnTo>
                  <a:lnTo>
                    <a:pt x="576"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34" name="Rectangle 199">
              <a:extLst>
                <a:ext uri="{FF2B5EF4-FFF2-40B4-BE49-F238E27FC236}">
                  <a16:creationId xmlns:a16="http://schemas.microsoft.com/office/drawing/2014/main" id="{BFC4A9D6-3577-D043-B5CD-797CA0C01F02}"/>
                </a:ext>
              </a:extLst>
            </p:cNvPr>
            <p:cNvSpPr>
              <a:spLocks noChangeArrowheads="1"/>
            </p:cNvSpPr>
            <p:nvPr/>
          </p:nvSpPr>
          <p:spPr bwMode="auto">
            <a:xfrm>
              <a:off x="3168" y="1392"/>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435" name="Rectangle 200">
              <a:extLst>
                <a:ext uri="{FF2B5EF4-FFF2-40B4-BE49-F238E27FC236}">
                  <a16:creationId xmlns:a16="http://schemas.microsoft.com/office/drawing/2014/main" id="{27378309-8C95-7C4E-96BA-0551E011D570}"/>
                </a:ext>
              </a:extLst>
            </p:cNvPr>
            <p:cNvSpPr>
              <a:spLocks noChangeArrowheads="1"/>
            </p:cNvSpPr>
            <p:nvPr/>
          </p:nvSpPr>
          <p:spPr bwMode="auto">
            <a:xfrm>
              <a:off x="3792" y="1680"/>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WB</a:t>
              </a:r>
            </a:p>
          </p:txBody>
        </p:sp>
        <p:sp>
          <p:nvSpPr>
            <p:cNvPr id="59436" name="Text Box 201">
              <a:extLst>
                <a:ext uri="{FF2B5EF4-FFF2-40B4-BE49-F238E27FC236}">
                  <a16:creationId xmlns:a16="http://schemas.microsoft.com/office/drawing/2014/main" id="{DCA1065E-EA99-7045-81C2-284E82E135E4}"/>
                </a:ext>
              </a:extLst>
            </p:cNvPr>
            <p:cNvSpPr txBox="1">
              <a:spLocks noChangeArrowheads="1"/>
            </p:cNvSpPr>
            <p:nvPr/>
          </p:nvSpPr>
          <p:spPr bwMode="auto">
            <a:xfrm>
              <a:off x="907" y="1632"/>
              <a:ext cx="1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a:t>
              </a:r>
            </a:p>
          </p:txBody>
        </p:sp>
        <p:sp>
          <p:nvSpPr>
            <p:cNvPr id="59437" name="Text Box 202">
              <a:extLst>
                <a:ext uri="{FF2B5EF4-FFF2-40B4-BE49-F238E27FC236}">
                  <a16:creationId xmlns:a16="http://schemas.microsoft.com/office/drawing/2014/main" id="{7D8F525B-9855-1D40-9B53-AE312B0973D9}"/>
                </a:ext>
              </a:extLst>
            </p:cNvPr>
            <p:cNvSpPr txBox="1">
              <a:spLocks noChangeArrowheads="1"/>
            </p:cNvSpPr>
            <p:nvPr/>
          </p:nvSpPr>
          <p:spPr bwMode="auto">
            <a:xfrm>
              <a:off x="1519" y="1920"/>
              <a:ext cx="16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j</a:t>
              </a:r>
            </a:p>
          </p:txBody>
        </p:sp>
        <p:sp>
          <p:nvSpPr>
            <p:cNvPr id="59438" name="Rectangle 203">
              <a:extLst>
                <a:ext uri="{FF2B5EF4-FFF2-40B4-BE49-F238E27FC236}">
                  <a16:creationId xmlns:a16="http://schemas.microsoft.com/office/drawing/2014/main" id="{25475466-574E-C447-BE48-117DFB39E4EE}"/>
                </a:ext>
              </a:extLst>
            </p:cNvPr>
            <p:cNvSpPr>
              <a:spLocks noChangeArrowheads="1"/>
            </p:cNvSpPr>
            <p:nvPr/>
          </p:nvSpPr>
          <p:spPr bwMode="auto">
            <a:xfrm>
              <a:off x="48" y="1392"/>
              <a:ext cx="576" cy="240"/>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Inst</a:t>
              </a:r>
              <a:r>
                <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rPr>
                <a:t>h</a:t>
              </a:r>
              <a:endPar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59439" name="Rectangle 204">
              <a:extLst>
                <a:ext uri="{FF2B5EF4-FFF2-40B4-BE49-F238E27FC236}">
                  <a16:creationId xmlns:a16="http://schemas.microsoft.com/office/drawing/2014/main" id="{E0BCF9D2-477A-374B-AF3A-765BAD0F5735}"/>
                </a:ext>
              </a:extLst>
            </p:cNvPr>
            <p:cNvSpPr>
              <a:spLocks noChangeArrowheads="1"/>
            </p:cNvSpPr>
            <p:nvPr/>
          </p:nvSpPr>
          <p:spPr bwMode="auto">
            <a:xfrm>
              <a:off x="3168" y="1968"/>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40" name="Rectangle 205">
              <a:extLst>
                <a:ext uri="{FF2B5EF4-FFF2-40B4-BE49-F238E27FC236}">
                  <a16:creationId xmlns:a16="http://schemas.microsoft.com/office/drawing/2014/main" id="{F360571F-744B-6E41-AE31-47367F168B78}"/>
                </a:ext>
              </a:extLst>
            </p:cNvPr>
            <p:cNvSpPr>
              <a:spLocks noChangeArrowheads="1"/>
            </p:cNvSpPr>
            <p:nvPr/>
          </p:nvSpPr>
          <p:spPr bwMode="auto">
            <a:xfrm>
              <a:off x="3168" y="2256"/>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41" name="Rectangle 206">
              <a:extLst>
                <a:ext uri="{FF2B5EF4-FFF2-40B4-BE49-F238E27FC236}">
                  <a16:creationId xmlns:a16="http://schemas.microsoft.com/office/drawing/2014/main" id="{5BCB8B2F-4505-3342-81EB-AA51C7FFAE5F}"/>
                </a:ext>
              </a:extLst>
            </p:cNvPr>
            <p:cNvSpPr>
              <a:spLocks noChangeArrowheads="1"/>
            </p:cNvSpPr>
            <p:nvPr/>
          </p:nvSpPr>
          <p:spPr bwMode="auto">
            <a:xfrm>
              <a:off x="3792" y="1968"/>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42" name="Rectangle 207">
              <a:extLst>
                <a:ext uri="{FF2B5EF4-FFF2-40B4-BE49-F238E27FC236}">
                  <a16:creationId xmlns:a16="http://schemas.microsoft.com/office/drawing/2014/main" id="{AEB523F1-F86C-9048-B325-4B8F7F6A0BB4}"/>
                </a:ext>
              </a:extLst>
            </p:cNvPr>
            <p:cNvSpPr>
              <a:spLocks noChangeArrowheads="1"/>
            </p:cNvSpPr>
            <p:nvPr/>
          </p:nvSpPr>
          <p:spPr bwMode="auto">
            <a:xfrm>
              <a:off x="3792" y="2256"/>
              <a:ext cx="576" cy="240"/>
            </a:xfrm>
            <a:prstGeom prst="rect">
              <a:avLst/>
            </a:prstGeom>
            <a:solidFill>
              <a:srgbClr val="C0C0C0"/>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43" name="Rectangle 208">
              <a:extLst>
                <a:ext uri="{FF2B5EF4-FFF2-40B4-BE49-F238E27FC236}">
                  <a16:creationId xmlns:a16="http://schemas.microsoft.com/office/drawing/2014/main" id="{2E73D15D-04BE-D943-AD96-8FC0913AC11D}"/>
                </a:ext>
              </a:extLst>
            </p:cNvPr>
            <p:cNvSpPr>
              <a:spLocks noChangeArrowheads="1"/>
            </p:cNvSpPr>
            <p:nvPr/>
          </p:nvSpPr>
          <p:spPr bwMode="auto">
            <a:xfrm>
              <a:off x="4416" y="1968"/>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ID</a:t>
              </a:r>
            </a:p>
          </p:txBody>
        </p:sp>
        <p:sp>
          <p:nvSpPr>
            <p:cNvPr id="59444" name="Rectangle 209">
              <a:extLst>
                <a:ext uri="{FF2B5EF4-FFF2-40B4-BE49-F238E27FC236}">
                  <a16:creationId xmlns:a16="http://schemas.microsoft.com/office/drawing/2014/main" id="{663B7783-702A-2F4C-B844-7A2D003E96DE}"/>
                </a:ext>
              </a:extLst>
            </p:cNvPr>
            <p:cNvSpPr>
              <a:spLocks noChangeArrowheads="1"/>
            </p:cNvSpPr>
            <p:nvPr/>
          </p:nvSpPr>
          <p:spPr bwMode="auto">
            <a:xfrm>
              <a:off x="4416" y="2256"/>
              <a:ext cx="576" cy="240"/>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mn-cs"/>
                </a:rPr>
                <a:t>IF</a:t>
              </a:r>
            </a:p>
          </p:txBody>
        </p:sp>
        <p:sp>
          <p:nvSpPr>
            <p:cNvPr id="59445" name="Line 210">
              <a:extLst>
                <a:ext uri="{FF2B5EF4-FFF2-40B4-BE49-F238E27FC236}">
                  <a16:creationId xmlns:a16="http://schemas.microsoft.com/office/drawing/2014/main" id="{FE81BC4A-1F9F-474C-A496-2E8E9330EF90}"/>
                </a:ext>
              </a:extLst>
            </p:cNvPr>
            <p:cNvSpPr>
              <a:spLocks noChangeShapeType="1"/>
            </p:cNvSpPr>
            <p:nvPr/>
          </p:nvSpPr>
          <p:spPr bwMode="auto">
            <a:xfrm>
              <a:off x="4368" y="1776"/>
              <a:ext cx="192" cy="24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46" name="Line 211">
              <a:extLst>
                <a:ext uri="{FF2B5EF4-FFF2-40B4-BE49-F238E27FC236}">
                  <a16:creationId xmlns:a16="http://schemas.microsoft.com/office/drawing/2014/main" id="{D74099F5-8CE6-6F4F-9E61-9DE245831E59}"/>
                </a:ext>
              </a:extLst>
            </p:cNvPr>
            <p:cNvSpPr>
              <a:spLocks noChangeShapeType="1"/>
            </p:cNvSpPr>
            <p:nvPr/>
          </p:nvSpPr>
          <p:spPr bwMode="auto">
            <a:xfrm flipV="1">
              <a:off x="2544" y="1968"/>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47" name="Line 212">
              <a:extLst>
                <a:ext uri="{FF2B5EF4-FFF2-40B4-BE49-F238E27FC236}">
                  <a16:creationId xmlns:a16="http://schemas.microsoft.com/office/drawing/2014/main" id="{23249F31-9E73-094B-9982-BAB23AC7C0B9}"/>
                </a:ext>
              </a:extLst>
            </p:cNvPr>
            <p:cNvSpPr>
              <a:spLocks noChangeShapeType="1"/>
            </p:cNvSpPr>
            <p:nvPr/>
          </p:nvSpPr>
          <p:spPr bwMode="auto">
            <a:xfrm flipV="1">
              <a:off x="3168" y="1968"/>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48" name="Line 213">
              <a:extLst>
                <a:ext uri="{FF2B5EF4-FFF2-40B4-BE49-F238E27FC236}">
                  <a16:creationId xmlns:a16="http://schemas.microsoft.com/office/drawing/2014/main" id="{0F859A76-BA4B-1340-914F-76493378381A}"/>
                </a:ext>
              </a:extLst>
            </p:cNvPr>
            <p:cNvSpPr>
              <a:spLocks noChangeShapeType="1"/>
            </p:cNvSpPr>
            <p:nvPr/>
          </p:nvSpPr>
          <p:spPr bwMode="auto">
            <a:xfrm flipV="1">
              <a:off x="3792" y="1968"/>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49" name="Line 214">
              <a:extLst>
                <a:ext uri="{FF2B5EF4-FFF2-40B4-BE49-F238E27FC236}">
                  <a16:creationId xmlns:a16="http://schemas.microsoft.com/office/drawing/2014/main" id="{6F79C2C5-772C-464F-8471-34BD17741259}"/>
                </a:ext>
              </a:extLst>
            </p:cNvPr>
            <p:cNvSpPr>
              <a:spLocks noChangeShapeType="1"/>
            </p:cNvSpPr>
            <p:nvPr/>
          </p:nvSpPr>
          <p:spPr bwMode="auto">
            <a:xfrm flipV="1">
              <a:off x="3792" y="2256"/>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50" name="Line 215">
              <a:extLst>
                <a:ext uri="{FF2B5EF4-FFF2-40B4-BE49-F238E27FC236}">
                  <a16:creationId xmlns:a16="http://schemas.microsoft.com/office/drawing/2014/main" id="{085B51B7-472D-3249-8CD8-28AC06A28AE2}"/>
                </a:ext>
              </a:extLst>
            </p:cNvPr>
            <p:cNvSpPr>
              <a:spLocks noChangeShapeType="1"/>
            </p:cNvSpPr>
            <p:nvPr/>
          </p:nvSpPr>
          <p:spPr bwMode="auto">
            <a:xfrm flipV="1">
              <a:off x="3168" y="2256"/>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451" name="Line 216">
              <a:extLst>
                <a:ext uri="{FF2B5EF4-FFF2-40B4-BE49-F238E27FC236}">
                  <a16:creationId xmlns:a16="http://schemas.microsoft.com/office/drawing/2014/main" id="{F974C87A-FE7E-6F4E-8E29-A0D6C253DF4B}"/>
                </a:ext>
              </a:extLst>
            </p:cNvPr>
            <p:cNvSpPr>
              <a:spLocks noChangeShapeType="1"/>
            </p:cNvSpPr>
            <p:nvPr/>
          </p:nvSpPr>
          <p:spPr bwMode="auto">
            <a:xfrm flipV="1">
              <a:off x="2544" y="2256"/>
              <a:ext cx="576"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20" name="Text Box 218">
            <a:extLst>
              <a:ext uri="{FF2B5EF4-FFF2-40B4-BE49-F238E27FC236}">
                <a16:creationId xmlns:a16="http://schemas.microsoft.com/office/drawing/2014/main" id="{9FB3C70F-C5CD-6D4F-BD03-FFA08A1F119B}"/>
              </a:ext>
            </a:extLst>
          </p:cNvPr>
          <p:cNvSpPr txBox="1">
            <a:spLocks noChangeArrowheads="1"/>
          </p:cNvSpPr>
          <p:nvPr/>
        </p:nvSpPr>
        <p:spPr bwMode="auto">
          <a:xfrm>
            <a:off x="3463317" y="5239554"/>
            <a:ext cx="5721350" cy="1323439"/>
          </a:xfrm>
          <a:prstGeom prst="rect">
            <a:avLst/>
          </a:prstGeom>
          <a:noFill/>
          <a:ln>
            <a:noFill/>
          </a:ln>
          <a:extLst>
            <a:ext uri="{909E8E84-426E-40dd-AFC4-6F175D3DCCD1}"/>
            <a:ext uri="{91240B29-F687-4f45-9708-019B960494DF}"/>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effectLst/>
                <a:uLnTx/>
                <a:uFillTx/>
                <a:latin typeface="Tahoma"/>
                <a:ea typeface="ＭＳ Ｐゴシック" charset="0"/>
              </a:rPr>
              <a:t>Pipeline stall </a:t>
            </a:r>
            <a:r>
              <a:rPr kumimoji="0" lang="en-US" sz="2000" b="0" i="0" u="none" strike="noStrike" kern="1200" cap="none" spc="0" normalizeH="0" baseline="0" noProof="0" dirty="0">
                <a:ln>
                  <a:noFill/>
                </a:ln>
                <a:effectLst/>
                <a:uLnTx/>
                <a:uFillTx/>
                <a:latin typeface="Tahoma"/>
                <a:ea typeface="ＭＳ Ｐゴシック" charset="0"/>
              </a:rPr>
              <a:t>= make the dependent instruction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effectLst/>
                <a:uLnTx/>
                <a:uFillTx/>
                <a:latin typeface="Tahoma"/>
                <a:ea typeface="ＭＳ Ｐゴシック" charset="0"/>
              </a:rPr>
              <a:t>      wait until its source data value is available.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effectLst/>
                <a:uLnTx/>
                <a:uFillTx/>
                <a:latin typeface="Tahoma"/>
                <a:ea typeface="ＭＳ Ｐゴシック" charset="0"/>
              </a:rPr>
              <a:t>	1. stop all up-stream stages,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effectLst/>
                <a:uLnTx/>
                <a:uFillTx/>
                <a:latin typeface="Tahoma"/>
                <a:ea typeface="ＭＳ Ｐゴシック" charset="0"/>
              </a:rPr>
              <a:t>	2. drain all down-stream stages.</a:t>
            </a:r>
          </a:p>
        </p:txBody>
      </p:sp>
    </p:spTree>
    <p:extLst>
      <p:ext uri="{BB962C8B-B14F-4D97-AF65-F5344CB8AC3E}">
        <p14:creationId xmlns:p14="http://schemas.microsoft.com/office/powerpoint/2010/main" val="11126419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30CE96E9-7B3B-B842-AE1D-9F8BC68FF1EE}"/>
              </a:ext>
            </a:extLst>
          </p:cNvPr>
          <p:cNvSpPr>
            <a:spLocks noGrp="1" noChangeArrowheads="1"/>
          </p:cNvSpPr>
          <p:nvPr>
            <p:ph type="title"/>
          </p:nvPr>
        </p:nvSpPr>
        <p:spPr/>
        <p:txBody>
          <a:bodyPr/>
          <a:lstStyle/>
          <a:p>
            <a:r>
              <a:rPr lang="en-US" altLang="en-US" dirty="0">
                <a:ea typeface="ＭＳ Ｐゴシック" panose="020B0600070205080204" pitchFamily="34" charset="-128"/>
              </a:rPr>
              <a:t>How to Implement Stalling in Pipeline?</a:t>
            </a:r>
          </a:p>
        </p:txBody>
      </p:sp>
      <p:sp>
        <p:nvSpPr>
          <p:cNvPr id="65538" name="Content Placeholder 2">
            <a:extLst>
              <a:ext uri="{FF2B5EF4-FFF2-40B4-BE49-F238E27FC236}">
                <a16:creationId xmlns:a16="http://schemas.microsoft.com/office/drawing/2014/main" id="{7AC82607-C4FE-FF48-98DA-E23F674698AD}"/>
              </a:ext>
            </a:extLst>
          </p:cNvPr>
          <p:cNvSpPr>
            <a:spLocks noGrp="1" noChangeArrowheads="1"/>
          </p:cNvSpPr>
          <p:nvPr>
            <p:ph idx="1"/>
          </p:nvPr>
        </p:nvSpPr>
        <p:spPr>
          <a:xfrm>
            <a:off x="76200" y="990600"/>
            <a:ext cx="9067800" cy="5194300"/>
          </a:xfrm>
        </p:spPr>
        <p:txBody>
          <a:bodyPr/>
          <a:lstStyle/>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r>
              <a:rPr lang="en-US" altLang="zh-CN" b="1" dirty="0">
                <a:latin typeface="Calibri" panose="020F0502020204030204" pitchFamily="34" charset="0"/>
                <a:ea typeface="ＭＳ Ｐゴシック" panose="020B0600070205080204" pitchFamily="34" charset="-128"/>
              </a:rPr>
              <a:t>Pipeline s</a:t>
            </a:r>
            <a:r>
              <a:rPr lang="en-US" altLang="en-US" b="1" dirty="0">
                <a:latin typeface="Calibri" panose="020F0502020204030204" pitchFamily="34" charset="0"/>
                <a:ea typeface="ＭＳ Ｐゴシック" panose="020B0600070205080204" pitchFamily="34" charset="-128"/>
              </a:rPr>
              <a:t>talling:</a:t>
            </a:r>
          </a:p>
          <a:p>
            <a:pPr lvl="1"/>
            <a:r>
              <a:rPr lang="en-US" altLang="en-US" sz="1900" dirty="0">
                <a:ea typeface="ＭＳ Ｐゴシック" panose="020B0600070205080204" pitchFamily="34" charset="-128"/>
              </a:rPr>
              <a:t>Disables </a:t>
            </a:r>
            <a:r>
              <a:rPr lang="en-US" altLang="en-US" sz="1900" b="1" dirty="0">
                <a:solidFill>
                  <a:schemeClr val="accent2"/>
                </a:solidFill>
                <a:ea typeface="ＭＳ Ｐゴシック" panose="020B0600070205080204" pitchFamily="34" charset="-128"/>
              </a:rPr>
              <a:t>PC</a:t>
            </a:r>
            <a:r>
              <a:rPr lang="en-US" altLang="en-US" sz="1900" dirty="0">
                <a:ea typeface="ＭＳ Ｐゴシック" panose="020B0600070205080204" pitchFamily="34" charset="-128"/>
              </a:rPr>
              <a:t> and </a:t>
            </a:r>
            <a:r>
              <a:rPr lang="en-US" altLang="en-US" sz="1900" b="1" dirty="0">
                <a:solidFill>
                  <a:schemeClr val="accent2"/>
                </a:solidFill>
                <a:ea typeface="ＭＳ Ｐゴシック" panose="020B0600070205080204" pitchFamily="34" charset="-128"/>
              </a:rPr>
              <a:t>IF/ID</a:t>
            </a:r>
            <a:r>
              <a:rPr lang="en-US" altLang="en-US" sz="1900" dirty="0">
                <a:ea typeface="ＭＳ Ｐゴシック" panose="020B0600070205080204" pitchFamily="34" charset="-128"/>
              </a:rPr>
              <a:t> latching; ensure stalled instruction stays in its stage</a:t>
            </a:r>
          </a:p>
          <a:p>
            <a:pPr lvl="1"/>
            <a:r>
              <a:rPr lang="en-US" altLang="en-US" sz="1900" dirty="0" err="1">
                <a:ea typeface="ＭＳ Ｐゴシック" panose="020B0600070205080204" pitchFamily="34" charset="-128"/>
              </a:rPr>
              <a:t>Pushs</a:t>
            </a:r>
            <a:r>
              <a:rPr lang="en-US" altLang="en-US" sz="1900" dirty="0">
                <a:ea typeface="ＭＳ Ｐゴシック" panose="020B0600070205080204" pitchFamily="34" charset="-128"/>
              </a:rPr>
              <a:t> a bubble into next stage: Bubble = 1 and disables control signal </a:t>
            </a:r>
            <a:r>
              <a:rPr lang="en-US" altLang="en-US" sz="1900" dirty="0" err="1">
                <a:ea typeface="ＭＳ Ｐゴシック" panose="020B0600070205080204" pitchFamily="34" charset="-128"/>
              </a:rPr>
              <a:t>Wreg</a:t>
            </a:r>
            <a:r>
              <a:rPr lang="en-US" altLang="en-US" sz="1900" dirty="0">
                <a:ea typeface="ＭＳ Ｐゴシック" panose="020B0600070205080204" pitchFamily="34" charset="-128"/>
              </a:rPr>
              <a:t> and </a:t>
            </a:r>
            <a:r>
              <a:rPr lang="en-US" altLang="en-US" sz="1900" dirty="0" err="1">
                <a:ea typeface="ＭＳ Ｐゴシック" panose="020B0600070205080204" pitchFamily="34" charset="-128"/>
              </a:rPr>
              <a:t>Wmem</a:t>
            </a:r>
            <a:r>
              <a:rPr lang="en-US" altLang="en-US" sz="1900" dirty="0">
                <a:ea typeface="ＭＳ Ｐゴシック" panose="020B0600070205080204" pitchFamily="34" charset="-128"/>
              </a:rPr>
              <a:t>; </a:t>
            </a:r>
            <a:r>
              <a:rPr lang="en-US" altLang="en-US" sz="1900" dirty="0" err="1">
                <a:ea typeface="ＭＳ Ｐゴシック" panose="020B0600070205080204" pitchFamily="34" charset="-128"/>
              </a:rPr>
              <a:t>Puch</a:t>
            </a:r>
            <a:r>
              <a:rPr lang="en-US" altLang="en-US" sz="1900" dirty="0">
                <a:ea typeface="ＭＳ Ｐゴシック" panose="020B0600070205080204" pitchFamily="34" charset="-128"/>
              </a:rPr>
              <a:t> a </a:t>
            </a:r>
            <a:r>
              <a:rPr lang="en-US" altLang="en-US" sz="1900" dirty="0" err="1">
                <a:ea typeface="ＭＳ Ｐゴシック" panose="020B0600070205080204" pitchFamily="34" charset="-128"/>
              </a:rPr>
              <a:t>nop</a:t>
            </a:r>
            <a:r>
              <a:rPr lang="en-US" altLang="en-US" sz="1900" dirty="0">
                <a:ea typeface="ＭＳ Ｐゴシック" panose="020B0600070205080204" pitchFamily="34" charset="-128"/>
              </a:rPr>
              <a:t> forward into ID/EX. </a:t>
            </a:r>
          </a:p>
        </p:txBody>
      </p:sp>
      <p:sp>
        <p:nvSpPr>
          <p:cNvPr id="65539" name="Slide Number Placeholder 3">
            <a:extLst>
              <a:ext uri="{FF2B5EF4-FFF2-40B4-BE49-F238E27FC236}">
                <a16:creationId xmlns:a16="http://schemas.microsoft.com/office/drawing/2014/main" id="{D2028823-94F9-2646-BF39-7A1236A94F2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DFB9284-D460-6B4D-9C31-6C8EEEF7E5E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65541" name="Rectangle 9">
            <a:extLst>
              <a:ext uri="{FF2B5EF4-FFF2-40B4-BE49-F238E27FC236}">
                <a16:creationId xmlns:a16="http://schemas.microsoft.com/office/drawing/2014/main" id="{EF14D6B6-055C-984B-AA80-F9E12695A153}"/>
              </a:ext>
            </a:extLst>
          </p:cNvPr>
          <p:cNvSpPr>
            <a:spLocks noChangeArrowheads="1"/>
          </p:cNvSpPr>
          <p:nvPr/>
        </p:nvSpPr>
        <p:spPr bwMode="auto">
          <a:xfrm>
            <a:off x="0" y="6643688"/>
            <a:ext cx="47244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
                <a:srgbClr val="3B812F"/>
              </a:buClr>
              <a:buSzPct val="70000"/>
              <a:buFont typeface="Wingdings" pitchFamily="2" charset="2"/>
              <a:buNone/>
              <a:tabLst/>
              <a:defRPr/>
            </a:pPr>
            <a:r>
              <a:rPr kumimoji="0" lang="en-US" altLang="en-US" sz="800" b="0" i="0" u="none" strike="noStrike" kern="120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mn-cs"/>
              </a:rPr>
              <a:t>Based on original figure from [P&amp;H CO&amp;D, COPYRIGHT 2004 Elsevier. ALL RIGHTS RESERVED.]</a:t>
            </a:r>
          </a:p>
        </p:txBody>
      </p:sp>
      <p:pic>
        <p:nvPicPr>
          <p:cNvPr id="2" name="图片 1">
            <a:extLst>
              <a:ext uri="{FF2B5EF4-FFF2-40B4-BE49-F238E27FC236}">
                <a16:creationId xmlns:a16="http://schemas.microsoft.com/office/drawing/2014/main" id="{77B7029E-65FF-4930-AE6C-3563F1390FFE}"/>
              </a:ext>
            </a:extLst>
          </p:cNvPr>
          <p:cNvPicPr>
            <a:picLocks noChangeAspect="1"/>
          </p:cNvPicPr>
          <p:nvPr/>
        </p:nvPicPr>
        <p:blipFill>
          <a:blip r:embed="rId2"/>
          <a:stretch>
            <a:fillRect/>
          </a:stretch>
        </p:blipFill>
        <p:spPr>
          <a:xfrm>
            <a:off x="152400" y="1066800"/>
            <a:ext cx="8638781" cy="3968840"/>
          </a:xfrm>
          <a:prstGeom prst="rect">
            <a:avLst/>
          </a:prstGeom>
        </p:spPr>
      </p:pic>
      <p:sp>
        <p:nvSpPr>
          <p:cNvPr id="69" name="Rectangle 4">
            <a:extLst>
              <a:ext uri="{FF2B5EF4-FFF2-40B4-BE49-F238E27FC236}">
                <a16:creationId xmlns:a16="http://schemas.microsoft.com/office/drawing/2014/main" id="{30AC9182-64E4-4C45-9DBE-1373C72A9418}"/>
              </a:ext>
            </a:extLst>
          </p:cNvPr>
          <p:cNvSpPr>
            <a:spLocks noChangeArrowheads="1"/>
          </p:cNvSpPr>
          <p:nvPr/>
        </p:nvSpPr>
        <p:spPr bwMode="auto">
          <a:xfrm>
            <a:off x="4343400" y="2209800"/>
            <a:ext cx="533400" cy="2286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endParaRPr lang="en-US" altLang="en-US" sz="1800">
              <a:solidFill>
                <a:srgbClr val="FFFFFF"/>
              </a:solidFill>
              <a:latin typeface="Tahoma" charset="0"/>
            </a:endParaRPr>
          </a:p>
        </p:txBody>
      </p:sp>
      <p:sp>
        <p:nvSpPr>
          <p:cNvPr id="71" name="Rectangle 4">
            <a:extLst>
              <a:ext uri="{FF2B5EF4-FFF2-40B4-BE49-F238E27FC236}">
                <a16:creationId xmlns:a16="http://schemas.microsoft.com/office/drawing/2014/main" id="{A0F1270A-93AE-4A3C-9DA6-292D8521ACBE}"/>
              </a:ext>
            </a:extLst>
          </p:cNvPr>
          <p:cNvSpPr>
            <a:spLocks noChangeArrowheads="1"/>
          </p:cNvSpPr>
          <p:nvPr/>
        </p:nvSpPr>
        <p:spPr bwMode="auto">
          <a:xfrm>
            <a:off x="6172200" y="2160494"/>
            <a:ext cx="533400" cy="2286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endParaRPr lang="en-US" altLang="en-US" sz="1800">
              <a:solidFill>
                <a:srgbClr val="FFFFFF"/>
              </a:solidFill>
              <a:latin typeface="Tahoma" charset="0"/>
            </a:endParaRPr>
          </a:p>
        </p:txBody>
      </p:sp>
    </p:spTree>
    <p:extLst>
      <p:ext uri="{BB962C8B-B14F-4D97-AF65-F5344CB8AC3E}">
        <p14:creationId xmlns:p14="http://schemas.microsoft.com/office/powerpoint/2010/main" val="39506352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3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a:extLst>
              <a:ext uri="{FF2B5EF4-FFF2-40B4-BE49-F238E27FC236}">
                <a16:creationId xmlns:a16="http://schemas.microsoft.com/office/drawing/2014/main" id="{E80181A5-44BA-8D4D-AF85-74196CF17538}"/>
              </a:ext>
            </a:extLst>
          </p:cNvPr>
          <p:cNvSpPr>
            <a:spLocks noGrp="1" noChangeArrowheads="1"/>
          </p:cNvSpPr>
          <p:nvPr>
            <p:ph type="title"/>
            <p:custDataLst>
              <p:tags r:id="rId1"/>
            </p:custDataLst>
          </p:nvPr>
        </p:nvSpPr>
        <p:spPr/>
        <p:txBody>
          <a:bodyPr/>
          <a:lstStyle/>
          <a:p>
            <a:pPr eaLnBrk="1" hangingPunct="1"/>
            <a:r>
              <a:rPr lang="en-US" altLang="en-US" dirty="0">
                <a:ea typeface="ＭＳ Ｐゴシック" panose="020B0600070205080204" pitchFamily="34" charset="-128"/>
              </a:rPr>
              <a:t>Hardware Needed for Stalling</a:t>
            </a:r>
            <a:endParaRPr lang="en-US" altLang="en-US" dirty="0">
              <a:latin typeface="Consolas" panose="020B0609020204030204" pitchFamily="49" charset="0"/>
              <a:ea typeface="ＭＳ Ｐゴシック" panose="020B0600070205080204" pitchFamily="34" charset="-128"/>
            </a:endParaRPr>
          </a:p>
        </p:txBody>
      </p:sp>
      <p:sp>
        <p:nvSpPr>
          <p:cNvPr id="2" name="Content Placeholder 1">
            <a:extLst>
              <a:ext uri="{FF2B5EF4-FFF2-40B4-BE49-F238E27FC236}">
                <a16:creationId xmlns:a16="http://schemas.microsoft.com/office/drawing/2014/main" id="{ED7982FB-7E28-A54D-8EC2-1C7D16F30D22}"/>
              </a:ext>
            </a:extLst>
          </p:cNvPr>
          <p:cNvSpPr>
            <a:spLocks noGrp="1" noChangeArrowheads="1"/>
          </p:cNvSpPr>
          <p:nvPr>
            <p:ph idx="1"/>
          </p:nvPr>
        </p:nvSpPr>
        <p:spPr>
          <a:xfrm>
            <a:off x="228600" y="996950"/>
            <a:ext cx="8610600" cy="5194300"/>
          </a:xfrm>
        </p:spPr>
        <p:txBody>
          <a:bodyPr/>
          <a:lstStyle/>
          <a:p>
            <a:pPr eaLnBrk="1" hangingPunct="1"/>
            <a:r>
              <a:rPr lang="en-US" altLang="en-US" dirty="0">
                <a:ea typeface="ＭＳ Ｐゴシック" panose="020B0600070205080204" pitchFamily="34" charset="-128"/>
              </a:rPr>
              <a:t>Stalls are supported by </a:t>
            </a:r>
            <a:r>
              <a:rPr lang="en-US" altLang="zh-CN" dirty="0">
                <a:ea typeface="ＭＳ Ｐゴシック" panose="020B0600070205080204" pitchFamily="34" charset="-128"/>
              </a:rPr>
              <a:t>the following hardware: </a:t>
            </a:r>
            <a:endParaRPr lang="en-US" altLang="en-US" dirty="0">
              <a:ea typeface="ＭＳ Ｐゴシック" panose="020B0600070205080204" pitchFamily="34" charset="-128"/>
            </a:endParaRPr>
          </a:p>
          <a:p>
            <a:pPr lvl="1" eaLnBrk="1" hangingPunct="1"/>
            <a:r>
              <a:rPr lang="en-US" altLang="en-US" dirty="0">
                <a:solidFill>
                  <a:srgbClr val="0432FF"/>
                </a:solidFill>
                <a:ea typeface="ＭＳ Ｐゴシック" panose="020B0600070205080204" pitchFamily="34" charset="-128"/>
              </a:rPr>
              <a:t>adding enable inputs (EN) to the Fetch and Decode pipeline registers </a:t>
            </a:r>
          </a:p>
          <a:p>
            <a:pPr lvl="1" eaLnBrk="1" hangingPunct="1"/>
            <a:r>
              <a:rPr lang="en-US" altLang="en-US" dirty="0">
                <a:ea typeface="ＭＳ Ｐゴシック" panose="020B0600070205080204" pitchFamily="34" charset="-128"/>
              </a:rPr>
              <a:t>and a synchronous reset/clear (CLR) input to the Execute pipeline register </a:t>
            </a:r>
          </a:p>
          <a:p>
            <a:pPr lvl="2" eaLnBrk="1" hangingPunct="1"/>
            <a:r>
              <a:rPr lang="en-US" altLang="en-US" dirty="0">
                <a:solidFill>
                  <a:srgbClr val="0432FF"/>
                </a:solidFill>
                <a:ea typeface="ＭＳ Ｐゴシック" panose="020B0600070205080204" pitchFamily="34" charset="-128"/>
              </a:rPr>
              <a:t>or an INV bit associated with each pipeline register, indicating that contents are </a:t>
            </a:r>
            <a:r>
              <a:rPr lang="en-US" altLang="en-US" dirty="0" err="1">
                <a:solidFill>
                  <a:srgbClr val="0432FF"/>
                </a:solidFill>
                <a:ea typeface="ＭＳ Ｐゴシック" panose="020B0600070205080204" pitchFamily="34" charset="-128"/>
              </a:rPr>
              <a:t>INValid</a:t>
            </a:r>
            <a:endParaRPr lang="en-US" altLang="en-US" dirty="0">
              <a:solidFill>
                <a:srgbClr val="0432FF"/>
              </a:solidFill>
              <a:ea typeface="ＭＳ Ｐゴシック" panose="020B0600070205080204" pitchFamily="34" charset="-128"/>
            </a:endParaRPr>
          </a:p>
          <a:p>
            <a:pPr eaLnBrk="1" hangingPunct="1"/>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When a </a:t>
            </a:r>
            <a:r>
              <a:rPr lang="en-US" altLang="en-US" dirty="0" err="1">
                <a:ea typeface="ＭＳ Ｐゴシック" panose="020B0600070205080204" pitchFamily="34" charset="-128"/>
              </a:rPr>
              <a:t>lw</a:t>
            </a:r>
            <a:r>
              <a:rPr lang="en-US" altLang="en-US" dirty="0">
                <a:ea typeface="ＭＳ Ｐゴシック" panose="020B0600070205080204" pitchFamily="34" charset="-128"/>
              </a:rPr>
              <a:t> stall occurs</a:t>
            </a:r>
          </a:p>
          <a:p>
            <a:pPr lvl="1" eaLnBrk="1" hangingPunct="1"/>
            <a:r>
              <a:rPr lang="en-US" altLang="en-US" dirty="0" err="1">
                <a:ea typeface="ＭＳ Ｐゴシック" panose="020B0600070205080204" pitchFamily="34" charset="-128"/>
              </a:rPr>
              <a:t>StallD</a:t>
            </a:r>
            <a:r>
              <a:rPr lang="en-US" altLang="en-US" dirty="0">
                <a:ea typeface="ＭＳ Ｐゴシック" panose="020B0600070205080204" pitchFamily="34" charset="-128"/>
              </a:rPr>
              <a:t> and </a:t>
            </a:r>
            <a:r>
              <a:rPr lang="en-US" altLang="en-US" dirty="0" err="1">
                <a:ea typeface="ＭＳ Ｐゴシック" panose="020B0600070205080204" pitchFamily="34" charset="-128"/>
              </a:rPr>
              <a:t>StallF</a:t>
            </a:r>
            <a:r>
              <a:rPr lang="en-US" altLang="en-US" dirty="0">
                <a:ea typeface="ＭＳ Ｐゴシック" panose="020B0600070205080204" pitchFamily="34" charset="-128"/>
              </a:rPr>
              <a:t> are asserted to force the Decode and Fetch stage pipeline registers to hold their old values. </a:t>
            </a:r>
          </a:p>
          <a:p>
            <a:pPr lvl="1" eaLnBrk="1" hangingPunct="1"/>
            <a:r>
              <a:rPr lang="en-US" altLang="en-US" dirty="0" err="1">
                <a:ea typeface="ＭＳ Ｐゴシック" panose="020B0600070205080204" pitchFamily="34" charset="-128"/>
              </a:rPr>
              <a:t>FlushE</a:t>
            </a:r>
            <a:r>
              <a:rPr lang="en-US" altLang="en-US" dirty="0">
                <a:ea typeface="ＭＳ Ｐゴシック" panose="020B0600070205080204" pitchFamily="34" charset="-128"/>
              </a:rPr>
              <a:t> is also asserted to clear the contents of the Execute stage pipeline register, introducing a bubble</a:t>
            </a:r>
          </a:p>
          <a:p>
            <a:pPr eaLnBrk="1" hangingPunct="1"/>
            <a:endParaRPr lang="de-CH" altLang="en-US" dirty="0">
              <a:ea typeface="ＭＳ Ｐゴシック" panose="020B0600070205080204" pitchFamily="34" charset="-128"/>
            </a:endParaRPr>
          </a:p>
        </p:txBody>
      </p:sp>
      <p:sp>
        <p:nvSpPr>
          <p:cNvPr id="82947" name="Rectangle 2">
            <a:extLst>
              <a:ext uri="{FF2B5EF4-FFF2-40B4-BE49-F238E27FC236}">
                <a16:creationId xmlns:a16="http://schemas.microsoft.com/office/drawing/2014/main" id="{064445A1-2FD5-5843-917C-9B4545DE4CBF}"/>
              </a:ext>
            </a:extLst>
          </p:cNvPr>
          <p:cNvSpPr>
            <a:spLocks noChangeArrowheads="1"/>
          </p:cNvSpPr>
          <p:nvPr>
            <p:custDataLst>
              <p:tags r:id="rId2"/>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82948" name="Rectangle 4">
            <a:extLst>
              <a:ext uri="{FF2B5EF4-FFF2-40B4-BE49-F238E27FC236}">
                <a16:creationId xmlns:a16="http://schemas.microsoft.com/office/drawing/2014/main" id="{5BEC96B0-6D12-994A-BE17-378D2A2A7E4D}"/>
              </a:ext>
            </a:extLst>
          </p:cNvPr>
          <p:cNvSpPr>
            <a:spLocks noChangeArrowheads="1"/>
          </p:cNvSpPr>
          <p:nvPr>
            <p:custDataLst>
              <p:tags r:id="rId3"/>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82949" name="Rectangle 5">
            <a:extLst>
              <a:ext uri="{FF2B5EF4-FFF2-40B4-BE49-F238E27FC236}">
                <a16:creationId xmlns:a16="http://schemas.microsoft.com/office/drawing/2014/main" id="{33E5CBBE-187F-2E44-B627-C0A6700B1D3C}"/>
              </a:ext>
            </a:extLst>
          </p:cNvPr>
          <p:cNvSpPr>
            <a:spLocks noChangeArrowheads="1"/>
          </p:cNvSpPr>
          <p:nvPr>
            <p:custDataLst>
              <p:tags r:id="rId4"/>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82950" name="Rectangle 6">
            <a:extLst>
              <a:ext uri="{FF2B5EF4-FFF2-40B4-BE49-F238E27FC236}">
                <a16:creationId xmlns:a16="http://schemas.microsoft.com/office/drawing/2014/main" id="{1CA5C118-922F-414A-9BD9-7845D0184291}"/>
              </a:ext>
            </a:extLst>
          </p:cNvPr>
          <p:cNvSpPr>
            <a:spLocks noChangeArrowheads="1"/>
          </p:cNvSpPr>
          <p:nvPr>
            <p:custDataLst>
              <p:tags r:id="rId5"/>
            </p:custDataLst>
          </p:nvPr>
        </p:nvSpPr>
        <p:spPr bwMode="auto">
          <a:xfrm>
            <a:off x="0" y="4160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2063128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a:extLst>
              <a:ext uri="{FF2B5EF4-FFF2-40B4-BE49-F238E27FC236}">
                <a16:creationId xmlns:a16="http://schemas.microsoft.com/office/drawing/2014/main" id="{2F4AFD6B-00E9-BB42-9137-03E98FE0CA84}"/>
              </a:ext>
            </a:extLst>
          </p:cNvPr>
          <p:cNvSpPr>
            <a:spLocks noGrp="1" noChangeArrowheads="1"/>
          </p:cNvSpPr>
          <p:nvPr>
            <p:ph type="title"/>
            <p:custDataLst>
              <p:tags r:id="rId1"/>
            </p:custDataLst>
          </p:nvPr>
        </p:nvSpPr>
        <p:spPr>
          <a:xfrm>
            <a:off x="184150" y="152400"/>
            <a:ext cx="8807450" cy="762000"/>
          </a:xfrm>
        </p:spPr>
        <p:txBody>
          <a:bodyPr/>
          <a:lstStyle/>
          <a:p>
            <a:pPr eaLnBrk="1" hangingPunct="1"/>
            <a:r>
              <a:rPr lang="en-US" altLang="en-US" sz="3800" dirty="0">
                <a:ea typeface="ＭＳ Ｐゴシック" panose="020B0600070205080204" pitchFamily="34" charset="-128"/>
              </a:rPr>
              <a:t>Stalling and Dependence Detection Hardware</a:t>
            </a:r>
            <a:endParaRPr lang="en-US" altLang="en-US" sz="3800" dirty="0">
              <a:latin typeface="Consolas" panose="020B0609020204030204" pitchFamily="49" charset="0"/>
              <a:ea typeface="ＭＳ Ｐゴシック" panose="020B0600070205080204" pitchFamily="34" charset="-128"/>
            </a:endParaRPr>
          </a:p>
        </p:txBody>
      </p:sp>
      <p:graphicFrame>
        <p:nvGraphicFramePr>
          <p:cNvPr id="31746" name="Object 2">
            <a:extLst>
              <a:ext uri="{FF2B5EF4-FFF2-40B4-BE49-F238E27FC236}">
                <a16:creationId xmlns:a16="http://schemas.microsoft.com/office/drawing/2014/main" id="{47FBE3F5-DCEC-AD47-8A0F-7C787336B89A}"/>
              </a:ext>
            </a:extLst>
          </p:cNvPr>
          <p:cNvGraphicFramePr>
            <a:graphicFrameLocks noGrp="1" noChangeAspect="1"/>
          </p:cNvGraphicFramePr>
          <p:nvPr>
            <p:ph idx="1"/>
            <p:custDataLst>
              <p:tags r:id="rId2"/>
            </p:custDataLst>
          </p:nvPr>
        </p:nvGraphicFramePr>
        <p:xfrm>
          <a:off x="860425" y="1773238"/>
          <a:ext cx="6967538" cy="4148137"/>
        </p:xfrm>
        <a:graphic>
          <a:graphicData uri="http://schemas.openxmlformats.org/presentationml/2006/ole">
            <mc:AlternateContent xmlns:mc="http://schemas.openxmlformats.org/markup-compatibility/2006">
              <mc:Choice xmlns:v="urn:schemas-microsoft-com:vml" Requires="v">
                <p:oleObj name="VISIO" r:id="rId8" imgW="41795700" imgH="24892000" progId="Visio.Drawing.6">
                  <p:embed/>
                </p:oleObj>
              </mc:Choice>
              <mc:Fallback>
                <p:oleObj name="VISIO" r:id="rId8" imgW="41795700" imgH="24892000" progId="Visio.Drawing.6">
                  <p:embed/>
                  <p:pic>
                    <p:nvPicPr>
                      <p:cNvPr id="31746" name="Object 2">
                        <a:extLst>
                          <a:ext uri="{FF2B5EF4-FFF2-40B4-BE49-F238E27FC236}">
                            <a16:creationId xmlns:a16="http://schemas.microsoft.com/office/drawing/2014/main" id="{47FBE3F5-DCEC-AD47-8A0F-7C787336B89A}"/>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60425" y="1773238"/>
                        <a:ext cx="6967538"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47" name="Rectangle 4">
            <a:extLst>
              <a:ext uri="{FF2B5EF4-FFF2-40B4-BE49-F238E27FC236}">
                <a16:creationId xmlns:a16="http://schemas.microsoft.com/office/drawing/2014/main" id="{8B2D763A-A6F3-5B46-A4C4-7E2FB37842FE}"/>
              </a:ext>
            </a:extLst>
          </p:cNvPr>
          <p:cNvSpPr>
            <a:spLocks noChangeArrowheads="1"/>
          </p:cNvSpPr>
          <p:nvPr>
            <p:custDataLst>
              <p:tags r:id="rId3"/>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2400"/>
              </a:spcBef>
              <a:buClr>
                <a:srgbClr val="A81E5B"/>
              </a:buClr>
              <a:buSzPct val="60000"/>
              <a:buFont typeface="Wingdings 2" pitchFamily="2" charset="2"/>
              <a:buChar char="¢"/>
              <a:defRPr sz="2400" b="1">
                <a:solidFill>
                  <a:schemeClr val="tx1"/>
                </a:solidFill>
                <a:latin typeface="Calibri" panose="020F0502020204030204" pitchFamily="34" charset="0"/>
                <a:ea typeface="ＭＳ Ｐゴシック" panose="020B0600070205080204" pitchFamily="34" charset="-128"/>
              </a:defRPr>
            </a:lvl1pPr>
            <a:lvl2pPr marL="742950" indent="-285750">
              <a:spcBef>
                <a:spcPts val="600"/>
              </a:spcBef>
              <a:buClr>
                <a:srgbClr val="A81E5B"/>
              </a:buClr>
              <a:buSzPct val="110000"/>
              <a:buFont typeface="Wingdings" pitchFamily="2" charset="2"/>
              <a:buChar char="§"/>
              <a:defRPr sz="20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SzPct val="80000"/>
              <a:buFont typeface="Wingdings" pitchFamily="2"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de-DE" altLang="en-US" sz="1800" b="0"/>
          </a:p>
        </p:txBody>
      </p:sp>
      <p:sp>
        <p:nvSpPr>
          <p:cNvPr id="31748" name="Rectangle 5">
            <a:extLst>
              <a:ext uri="{FF2B5EF4-FFF2-40B4-BE49-F238E27FC236}">
                <a16:creationId xmlns:a16="http://schemas.microsoft.com/office/drawing/2014/main" id="{C6F17F92-4FC9-E743-8971-C766D6DF9C12}"/>
              </a:ext>
            </a:extLst>
          </p:cNvPr>
          <p:cNvSpPr>
            <a:spLocks noChangeArrowheads="1"/>
          </p:cNvSpPr>
          <p:nvPr>
            <p:custDataLst>
              <p:tags r:id="rId4"/>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2400"/>
              </a:spcBef>
              <a:buClr>
                <a:srgbClr val="A81E5B"/>
              </a:buClr>
              <a:buSzPct val="60000"/>
              <a:buFont typeface="Wingdings 2" pitchFamily="2" charset="2"/>
              <a:buChar char="¢"/>
              <a:defRPr sz="2400" b="1">
                <a:solidFill>
                  <a:schemeClr val="tx1"/>
                </a:solidFill>
                <a:latin typeface="Calibri" panose="020F0502020204030204" pitchFamily="34" charset="0"/>
                <a:ea typeface="ＭＳ Ｐゴシック" panose="020B0600070205080204" pitchFamily="34" charset="-128"/>
              </a:defRPr>
            </a:lvl1pPr>
            <a:lvl2pPr marL="742950" indent="-285750">
              <a:spcBef>
                <a:spcPts val="600"/>
              </a:spcBef>
              <a:buClr>
                <a:srgbClr val="A81E5B"/>
              </a:buClr>
              <a:buSzPct val="110000"/>
              <a:buFont typeface="Wingdings" pitchFamily="2" charset="2"/>
              <a:buChar char="§"/>
              <a:defRPr sz="20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SzPct val="80000"/>
              <a:buFont typeface="Wingdings" pitchFamily="2"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de-DE" altLang="en-US" sz="1800" b="0"/>
          </a:p>
        </p:txBody>
      </p:sp>
      <p:sp>
        <p:nvSpPr>
          <p:cNvPr id="31749" name="Rectangle 6">
            <a:extLst>
              <a:ext uri="{FF2B5EF4-FFF2-40B4-BE49-F238E27FC236}">
                <a16:creationId xmlns:a16="http://schemas.microsoft.com/office/drawing/2014/main" id="{1CA59C7E-DA84-E948-A343-A0C42E8FF057}"/>
              </a:ext>
            </a:extLst>
          </p:cNvPr>
          <p:cNvSpPr>
            <a:spLocks noChangeArrowheads="1"/>
          </p:cNvSpPr>
          <p:nvPr>
            <p:custDataLst>
              <p:tags r:id="rId5"/>
            </p:custDataLst>
          </p:nvPr>
        </p:nvSpPr>
        <p:spPr bwMode="auto">
          <a:xfrm>
            <a:off x="0" y="4160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2400"/>
              </a:spcBef>
              <a:buClr>
                <a:srgbClr val="A81E5B"/>
              </a:buClr>
              <a:buSzPct val="60000"/>
              <a:buFont typeface="Wingdings 2" pitchFamily="2" charset="2"/>
              <a:buChar char="¢"/>
              <a:defRPr sz="2400" b="1">
                <a:solidFill>
                  <a:schemeClr val="tx1"/>
                </a:solidFill>
                <a:latin typeface="Calibri" panose="020F0502020204030204" pitchFamily="34" charset="0"/>
                <a:ea typeface="ＭＳ Ｐゴシック" panose="020B0600070205080204" pitchFamily="34" charset="-128"/>
              </a:defRPr>
            </a:lvl1pPr>
            <a:lvl2pPr marL="742950" indent="-285750">
              <a:spcBef>
                <a:spcPts val="600"/>
              </a:spcBef>
              <a:buClr>
                <a:srgbClr val="A81E5B"/>
              </a:buClr>
              <a:buSzPct val="110000"/>
              <a:buFont typeface="Wingdings" pitchFamily="2" charset="2"/>
              <a:buChar char="§"/>
              <a:defRPr sz="20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SzPct val="80000"/>
              <a:buFont typeface="Wingdings" pitchFamily="2" charset="2"/>
              <a:buChar char="§"/>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ClrTx/>
              <a:buSzTx/>
              <a:buFontTx/>
              <a:buNone/>
            </a:pPr>
            <a:endParaRPr lang="de-DE" altLang="en-US" b="0">
              <a:latin typeface="Times New Roman" panose="02020603050405020304" pitchFamily="18" charset="0"/>
            </a:endParaRPr>
          </a:p>
        </p:txBody>
      </p:sp>
    </p:spTree>
    <p:extLst>
      <p:ext uri="{BB962C8B-B14F-4D97-AF65-F5344CB8AC3E}">
        <p14:creationId xmlns:p14="http://schemas.microsoft.com/office/powerpoint/2010/main" val="370058876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436B271-5211-1E4C-838C-135BDBB68605}"/>
              </a:ext>
            </a:extLst>
          </p:cNvPr>
          <p:cNvSpPr>
            <a:spLocks noGrp="1" noChangeArrowheads="1"/>
          </p:cNvSpPr>
          <p:nvPr>
            <p:ph type="title"/>
          </p:nvPr>
        </p:nvSpPr>
        <p:spPr/>
        <p:txBody>
          <a:bodyPr/>
          <a:lstStyle/>
          <a:p>
            <a:r>
              <a:rPr lang="en-US" altLang="en-US">
                <a:ea typeface="ＭＳ Ｐゴシック" panose="020B0600070205080204" pitchFamily="34" charset="-128"/>
              </a:rPr>
              <a:t>How to Handle Data Dependences</a:t>
            </a:r>
          </a:p>
        </p:txBody>
      </p:sp>
      <p:sp>
        <p:nvSpPr>
          <p:cNvPr id="70658" name="Content Placeholder 2">
            <a:extLst>
              <a:ext uri="{FF2B5EF4-FFF2-40B4-BE49-F238E27FC236}">
                <a16:creationId xmlns:a16="http://schemas.microsoft.com/office/drawing/2014/main" id="{2787A909-6DE3-7047-91F4-259BF22510BF}"/>
              </a:ext>
            </a:extLst>
          </p:cNvPr>
          <p:cNvSpPr>
            <a:spLocks noGrp="1" noChangeArrowheads="1"/>
          </p:cNvSpPr>
          <p:nvPr>
            <p:ph idx="1"/>
          </p:nvPr>
        </p:nvSpPr>
        <p:spPr>
          <a:xfrm>
            <a:off x="228600" y="996950"/>
            <a:ext cx="8763000" cy="5194300"/>
          </a:xfrm>
        </p:spPr>
        <p:txBody>
          <a:bodyPr/>
          <a:lstStyle/>
          <a:p>
            <a:r>
              <a:rPr lang="en-US" altLang="en-US" dirty="0">
                <a:ea typeface="ＭＳ Ｐゴシック" panose="020B0600070205080204" pitchFamily="34" charset="-128"/>
              </a:rPr>
              <a:t>Anti and output dependences</a:t>
            </a:r>
          </a:p>
          <a:p>
            <a:pPr lvl="1"/>
            <a:r>
              <a:rPr lang="en-US" altLang="zh-CN" dirty="0">
                <a:ea typeface="ＭＳ Ｐゴシック" panose="020B0600070205080204" pitchFamily="34" charset="-128"/>
              </a:rPr>
              <a:t>They </a:t>
            </a:r>
            <a:r>
              <a:rPr lang="en-US" altLang="en-US" dirty="0">
                <a:ea typeface="ＭＳ Ｐゴシック" panose="020B0600070205080204" pitchFamily="34" charset="-128"/>
              </a:rPr>
              <a:t>are easier to handle. </a:t>
            </a:r>
          </a:p>
          <a:p>
            <a:pPr lvl="1"/>
            <a:r>
              <a:rPr lang="en-US" altLang="en-US" dirty="0">
                <a:ea typeface="ＭＳ Ｐゴシック" panose="020B0600070205080204" pitchFamily="34" charset="-128"/>
              </a:rPr>
              <a:t>Write to the destination only in last stage and in program order</a:t>
            </a:r>
          </a:p>
          <a:p>
            <a:endParaRPr lang="en-US" altLang="en-US" dirty="0">
              <a:ea typeface="ＭＳ Ｐゴシック" panose="020B0600070205080204" pitchFamily="34" charset="-128"/>
            </a:endParaRPr>
          </a:p>
          <a:p>
            <a:r>
              <a:rPr lang="en-US" altLang="zh-CN" dirty="0">
                <a:ea typeface="ＭＳ Ｐゴシック" panose="020B0600070205080204" pitchFamily="34" charset="-128"/>
              </a:rPr>
              <a:t>H</a:t>
            </a:r>
            <a:r>
              <a:rPr lang="en-US" altLang="en-US" dirty="0">
                <a:ea typeface="ＭＳ Ｐゴシック" panose="020B0600070205080204" pitchFamily="34" charset="-128"/>
              </a:rPr>
              <a:t>andling flow dependences:</a:t>
            </a:r>
          </a:p>
          <a:p>
            <a:pPr lvl="1"/>
            <a:r>
              <a:rPr lang="en-US" altLang="en-US" dirty="0">
                <a:solidFill>
                  <a:srgbClr val="0432FF"/>
                </a:solidFill>
                <a:ea typeface="ＭＳ Ｐゴシック" panose="020B0600070205080204" pitchFamily="34" charset="-128"/>
              </a:rPr>
              <a:t>Hardware Pipeline Stall: </a:t>
            </a:r>
          </a:p>
          <a:p>
            <a:pPr lvl="2"/>
            <a:r>
              <a:rPr lang="en-US" altLang="en-US" dirty="0">
                <a:ea typeface="ＭＳ Ｐゴシック" panose="020B0600070205080204" pitchFamily="34" charset="-128"/>
              </a:rPr>
              <a:t>Detect and wait until value is available in register file</a:t>
            </a:r>
          </a:p>
          <a:p>
            <a:pPr lvl="1"/>
            <a:r>
              <a:rPr lang="en-US" altLang="en-US" dirty="0">
                <a:solidFill>
                  <a:srgbClr val="0432FF"/>
                </a:solidFill>
                <a:ea typeface="ＭＳ Ｐゴシック" panose="020B0600070205080204" pitchFamily="34" charset="-128"/>
              </a:rPr>
              <a:t>Software Pipeline Stall: </a:t>
            </a:r>
          </a:p>
          <a:p>
            <a:pPr lvl="2"/>
            <a:r>
              <a:rPr lang="en-US" altLang="en-US" dirty="0">
                <a:ea typeface="ＭＳ Ｐゴシック" panose="020B0600070205080204" pitchFamily="34" charset="-128"/>
              </a:rPr>
              <a:t>Detect and eliminate the dependence at the software level</a:t>
            </a:r>
          </a:p>
          <a:p>
            <a:pPr lvl="2"/>
            <a:r>
              <a:rPr lang="en-US" altLang="en-US" dirty="0">
                <a:ea typeface="ＭＳ Ｐゴシック" panose="020B0600070205080204" pitchFamily="34" charset="-128"/>
              </a:rPr>
              <a:t>No need for the hardware to detect dependence</a:t>
            </a:r>
          </a:p>
          <a:p>
            <a:pPr lvl="1"/>
            <a:r>
              <a:rPr lang="en-US" altLang="en-US" dirty="0">
                <a:solidFill>
                  <a:srgbClr val="0432FF"/>
                </a:solidFill>
                <a:ea typeface="ＭＳ Ｐゴシック" panose="020B0600070205080204" pitchFamily="34" charset="-128"/>
              </a:rPr>
              <a:t>Data Forward/Bypass:</a:t>
            </a:r>
          </a:p>
          <a:p>
            <a:pPr lvl="2"/>
            <a:r>
              <a:rPr lang="en-US" altLang="en-US" dirty="0">
                <a:ea typeface="ＭＳ Ｐゴシック" panose="020B0600070205080204" pitchFamily="34" charset="-128"/>
              </a:rPr>
              <a:t>Detect and forward/bypass data to dependent instruction</a:t>
            </a:r>
          </a:p>
        </p:txBody>
      </p:sp>
      <p:sp>
        <p:nvSpPr>
          <p:cNvPr id="70659" name="Slide Number Placeholder 3">
            <a:extLst>
              <a:ext uri="{FF2B5EF4-FFF2-40B4-BE49-F238E27FC236}">
                <a16:creationId xmlns:a16="http://schemas.microsoft.com/office/drawing/2014/main" id="{E827CFEA-AD08-0C4A-AB91-EE9FBA7D6E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4988CC5-3D95-4C42-954E-4895214B8E54}" type="slidenum">
              <a:rPr lang="en-US" altLang="en-US" sz="1600" smtClean="0">
                <a:solidFill>
                  <a:srgbClr val="000000"/>
                </a:solidFill>
                <a:latin typeface="Garamond" panose="02020404030301010803" pitchFamily="18" charset="0"/>
              </a:rPr>
              <a:pPr>
                <a:spcBef>
                  <a:spcPct val="0"/>
                </a:spcBef>
                <a:buClrTx/>
                <a:buSzTx/>
                <a:buFontTx/>
                <a:buNone/>
              </a:pPr>
              <a:t>30</a:t>
            </a:fld>
            <a:endParaRPr lang="en-US" altLang="en-US" sz="1600">
              <a:solidFill>
                <a:srgbClr val="000000"/>
              </a:solidFill>
              <a:latin typeface="Garamond" panose="02020404030301010803" pitchFamily="18" charset="0"/>
            </a:endParaRPr>
          </a:p>
        </p:txBody>
      </p:sp>
      <p:sp>
        <p:nvSpPr>
          <p:cNvPr id="5" name="Rectangle 4">
            <a:extLst>
              <a:ext uri="{FF2B5EF4-FFF2-40B4-BE49-F238E27FC236}">
                <a16:creationId xmlns:a16="http://schemas.microsoft.com/office/drawing/2014/main" id="{77C4413E-F6F7-274E-A9BE-CA1A2F60CB59}"/>
              </a:ext>
            </a:extLst>
          </p:cNvPr>
          <p:cNvSpPr>
            <a:spLocks noChangeArrowheads="1"/>
          </p:cNvSpPr>
          <p:nvPr/>
        </p:nvSpPr>
        <p:spPr bwMode="auto">
          <a:xfrm>
            <a:off x="533400" y="3886200"/>
            <a:ext cx="7543800" cy="12192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endParaRPr lang="en-US" altLang="en-US" sz="1800">
              <a:solidFill>
                <a:srgbClr val="FFFFFF"/>
              </a:solidFill>
              <a:latin typeface="Tahoma" charset="0"/>
            </a:endParaRPr>
          </a:p>
        </p:txBody>
      </p:sp>
    </p:spTree>
    <p:extLst>
      <p:ext uri="{BB962C8B-B14F-4D97-AF65-F5344CB8AC3E}">
        <p14:creationId xmlns:p14="http://schemas.microsoft.com/office/powerpoint/2010/main" val="96934721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3">
            <a:extLst>
              <a:ext uri="{FF2B5EF4-FFF2-40B4-BE49-F238E27FC236}">
                <a16:creationId xmlns:a16="http://schemas.microsoft.com/office/drawing/2014/main" id="{9AE8321D-7E68-FD44-AFD3-6CE760A20364}"/>
              </a:ext>
            </a:extLst>
          </p:cNvPr>
          <p:cNvSpPr>
            <a:spLocks noGrp="1" noChangeArrowheads="1"/>
          </p:cNvSpPr>
          <p:nvPr>
            <p:ph type="title"/>
          </p:nvPr>
        </p:nvSpPr>
        <p:spPr/>
        <p:txBody>
          <a:bodyPr/>
          <a:lstStyle/>
          <a:p>
            <a:pPr eaLnBrk="1" hangingPunct="1"/>
            <a:r>
              <a:rPr lang="en-US" altLang="en-US">
                <a:ea typeface="ＭＳ Ｐゴシック" panose="020B0600070205080204" pitchFamily="34" charset="-128"/>
              </a:rPr>
              <a:t>Compile-Time Detection and Elimination</a:t>
            </a:r>
            <a:endParaRPr lang="de-CH" altLang="en-US">
              <a:ea typeface="ＭＳ Ｐゴシック" panose="020B0600070205080204" pitchFamily="34" charset="-128"/>
            </a:endParaRPr>
          </a:p>
        </p:txBody>
      </p:sp>
      <p:graphicFrame>
        <p:nvGraphicFramePr>
          <p:cNvPr id="68610" name="Content Placeholder 6">
            <a:extLst>
              <a:ext uri="{FF2B5EF4-FFF2-40B4-BE49-F238E27FC236}">
                <a16:creationId xmlns:a16="http://schemas.microsoft.com/office/drawing/2014/main" id="{377A2209-784B-F148-ABCE-F98AA3B462B0}"/>
              </a:ext>
            </a:extLst>
          </p:cNvPr>
          <p:cNvGraphicFramePr>
            <a:graphicFrameLocks noGrp="1" noChangeAspect="1"/>
          </p:cNvGraphicFramePr>
          <p:nvPr>
            <p:ph idx="1"/>
            <p:custDataLst>
              <p:tags r:id="rId1"/>
            </p:custDataLst>
          </p:nvPr>
        </p:nvGraphicFramePr>
        <p:xfrm>
          <a:off x="228600" y="1219200"/>
          <a:ext cx="8610600" cy="3633788"/>
        </p:xfrm>
        <a:graphic>
          <a:graphicData uri="http://schemas.openxmlformats.org/presentationml/2006/ole">
            <mc:AlternateContent xmlns:mc="http://schemas.openxmlformats.org/markup-compatibility/2006">
              <mc:Choice xmlns:v="urn:schemas-microsoft-com:vml" Requires="v">
                <p:oleObj name="VISIO" r:id="rId3" imgW="34721800" imgH="14655800" progId="Visio.Drawing.6">
                  <p:embed/>
                </p:oleObj>
              </mc:Choice>
              <mc:Fallback>
                <p:oleObj name="VISIO" r:id="rId3" imgW="34721800" imgH="14655800" progId="Visio.Drawing.6">
                  <p:embed/>
                  <p:pic>
                    <p:nvPicPr>
                      <p:cNvPr id="68610" name="Content Placeholder 6">
                        <a:extLst>
                          <a:ext uri="{FF2B5EF4-FFF2-40B4-BE49-F238E27FC236}">
                            <a16:creationId xmlns:a16="http://schemas.microsoft.com/office/drawing/2014/main" id="{377A2209-784B-F148-ABCE-F98AA3B462B0}"/>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219200"/>
                        <a:ext cx="8610600" cy="363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1" name="Content Placeholder 5">
            <a:extLst>
              <a:ext uri="{FF2B5EF4-FFF2-40B4-BE49-F238E27FC236}">
                <a16:creationId xmlns:a16="http://schemas.microsoft.com/office/drawing/2014/main" id="{BDD3E246-B493-9843-8448-12CDDD54EF79}"/>
              </a:ext>
            </a:extLst>
          </p:cNvPr>
          <p:cNvSpPr>
            <a:spLocks noGrp="1" noChangeArrowheads="1"/>
          </p:cNvSpPr>
          <p:nvPr>
            <p:ph idx="4294967295"/>
          </p:nvPr>
        </p:nvSpPr>
        <p:spPr>
          <a:xfrm>
            <a:off x="228600" y="5181600"/>
            <a:ext cx="8358187" cy="1295400"/>
          </a:xfrm>
        </p:spPr>
        <p:txBody>
          <a:bodyPr/>
          <a:lstStyle/>
          <a:p>
            <a:pPr eaLnBrk="1" hangingPunct="1"/>
            <a:r>
              <a:rPr lang="en-US" altLang="en-US" dirty="0">
                <a:ea typeface="ＭＳ Ｐゴシック" panose="020B0600070205080204" pitchFamily="34" charset="-128"/>
              </a:rPr>
              <a:t>Insert enough NOPs for the required result to be ready</a:t>
            </a:r>
          </a:p>
          <a:p>
            <a:pPr eaLnBrk="1" hangingPunct="1"/>
            <a:r>
              <a:rPr lang="en-US" altLang="en-US" dirty="0">
                <a:ea typeface="ＭＳ Ｐゴシック" panose="020B0600070205080204" pitchFamily="34" charset="-128"/>
              </a:rPr>
              <a:t>Or (if you can) move independent useful instructions up</a:t>
            </a:r>
          </a:p>
          <a:p>
            <a:pPr lvl="1" eaLnBrk="1" hangingPunct="1"/>
            <a:r>
              <a:rPr lang="en-US" altLang="en-US" dirty="0">
                <a:ea typeface="ＭＳ Ｐゴシック" panose="020B0600070205080204" pitchFamily="34" charset="-128"/>
              </a:rPr>
              <a:t>Reorder/reschedule instructions at the compiler level</a:t>
            </a:r>
          </a:p>
        </p:txBody>
      </p:sp>
    </p:spTree>
    <p:extLst>
      <p:ext uri="{BB962C8B-B14F-4D97-AF65-F5344CB8AC3E}">
        <p14:creationId xmlns:p14="http://schemas.microsoft.com/office/powerpoint/2010/main" val="31370920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4F5D23-83B6-A54C-B422-4C3DB9CC53E9}"/>
              </a:ext>
            </a:extLst>
          </p:cNvPr>
          <p:cNvSpPr/>
          <p:nvPr/>
        </p:nvSpPr>
        <p:spPr>
          <a:xfrm>
            <a:off x="-76200" y="-152400"/>
            <a:ext cx="9296400" cy="7315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extBox 5">
            <a:extLst>
              <a:ext uri="{FF2B5EF4-FFF2-40B4-BE49-F238E27FC236}">
                <a16:creationId xmlns:a16="http://schemas.microsoft.com/office/drawing/2014/main" id="{8ECE0B72-05DF-F948-856B-59981E3EEB36}"/>
              </a:ext>
            </a:extLst>
          </p:cNvPr>
          <p:cNvSpPr txBox="1"/>
          <p:nvPr/>
        </p:nvSpPr>
        <p:spPr>
          <a:xfrm>
            <a:off x="685800" y="2057400"/>
            <a:ext cx="8001000" cy="923330"/>
          </a:xfrm>
          <a:prstGeom prst="rect">
            <a:avLst/>
          </a:prstGeom>
          <a:noFill/>
        </p:spPr>
        <p:txBody>
          <a:bodyPr wrap="square" rtlCol="0">
            <a:spAutoFit/>
          </a:bodyPr>
          <a:lstStyle/>
          <a:p>
            <a:pPr algn="ctr"/>
            <a:r>
              <a:rPr lang="en-US" sz="2700" b="1" dirty="0">
                <a:solidFill>
                  <a:schemeClr val="bg1"/>
                </a:solidFill>
              </a:rPr>
              <a:t>What is the issue of issuing </a:t>
            </a:r>
            <a:r>
              <a:rPr lang="en-US" sz="2700" b="1" dirty="0">
                <a:solidFill>
                  <a:srgbClr val="00B0F0"/>
                </a:solidFill>
              </a:rPr>
              <a:t>NOPs</a:t>
            </a:r>
            <a:r>
              <a:rPr lang="en-US" sz="2700" b="1" dirty="0">
                <a:solidFill>
                  <a:schemeClr val="bg1"/>
                </a:solidFill>
              </a:rPr>
              <a:t> from the compiler?</a:t>
            </a:r>
            <a:endParaRPr lang="en-US" sz="2700" b="1" u="sng" dirty="0">
              <a:solidFill>
                <a:schemeClr val="bg1"/>
              </a:solidFill>
            </a:endParaRPr>
          </a:p>
        </p:txBody>
      </p:sp>
      <p:sp>
        <p:nvSpPr>
          <p:cNvPr id="9" name="TextBox 5">
            <a:extLst>
              <a:ext uri="{FF2B5EF4-FFF2-40B4-BE49-F238E27FC236}">
                <a16:creationId xmlns:a16="http://schemas.microsoft.com/office/drawing/2014/main" id="{420A4C48-0BA2-4D4B-9FC6-39FD0506CEFC}"/>
              </a:ext>
            </a:extLst>
          </p:cNvPr>
          <p:cNvSpPr txBox="1"/>
          <p:nvPr/>
        </p:nvSpPr>
        <p:spPr>
          <a:xfrm>
            <a:off x="762000" y="4300225"/>
            <a:ext cx="8001000" cy="507831"/>
          </a:xfrm>
          <a:prstGeom prst="rect">
            <a:avLst/>
          </a:prstGeom>
          <a:noFill/>
        </p:spPr>
        <p:txBody>
          <a:bodyPr wrap="square" rtlCol="0">
            <a:spAutoFit/>
          </a:bodyPr>
          <a:lstStyle/>
          <a:p>
            <a:pPr algn="ctr"/>
            <a:r>
              <a:rPr lang="en-US" sz="2700" b="1" dirty="0" err="1">
                <a:solidFill>
                  <a:schemeClr val="bg1"/>
                </a:solidFill>
              </a:rPr>
              <a:t>Insn’s</a:t>
            </a:r>
            <a:r>
              <a:rPr lang="en-US" sz="2700" b="1" dirty="0">
                <a:solidFill>
                  <a:schemeClr val="bg1"/>
                </a:solidFill>
              </a:rPr>
              <a:t> latency varies, based on the context.</a:t>
            </a:r>
            <a:endParaRPr lang="en-US" sz="2700" b="1" u="sng" dirty="0">
              <a:solidFill>
                <a:schemeClr val="bg1"/>
              </a:solidFill>
            </a:endParaRPr>
          </a:p>
        </p:txBody>
      </p:sp>
    </p:spTree>
    <p:extLst>
      <p:ext uri="{BB962C8B-B14F-4D97-AF65-F5344CB8AC3E}">
        <p14:creationId xmlns:p14="http://schemas.microsoft.com/office/powerpoint/2010/main" val="40878818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BCF4031D-2D9E-9A4B-A180-EB7674F4C3EB}"/>
              </a:ext>
            </a:extLst>
          </p:cNvPr>
          <p:cNvSpPr>
            <a:spLocks noGrp="1" noChangeArrowheads="1"/>
          </p:cNvSpPr>
          <p:nvPr>
            <p:ph type="title"/>
          </p:nvPr>
        </p:nvSpPr>
        <p:spPr/>
        <p:txBody>
          <a:bodyPr/>
          <a:lstStyle/>
          <a:p>
            <a:r>
              <a:rPr lang="en-US" altLang="en-US">
                <a:ea typeface="ＭＳ Ｐゴシック" panose="020B0600070205080204" pitchFamily="34" charset="-128"/>
              </a:rPr>
              <a:t>More on Software vs. Hardware</a:t>
            </a:r>
          </a:p>
        </p:txBody>
      </p:sp>
      <p:sp>
        <p:nvSpPr>
          <p:cNvPr id="3" name="Content Placeholder 2">
            <a:extLst>
              <a:ext uri="{FF2B5EF4-FFF2-40B4-BE49-F238E27FC236}">
                <a16:creationId xmlns:a16="http://schemas.microsoft.com/office/drawing/2014/main" id="{311EFEA3-F36A-2A44-914F-4AF168B0A451}"/>
              </a:ext>
            </a:extLst>
          </p:cNvPr>
          <p:cNvSpPr>
            <a:spLocks noGrp="1"/>
          </p:cNvSpPr>
          <p:nvPr>
            <p:ph idx="1"/>
          </p:nvPr>
        </p:nvSpPr>
        <p:spPr>
          <a:xfrm>
            <a:off x="228600" y="865188"/>
            <a:ext cx="8839200" cy="5192712"/>
          </a:xfrm>
        </p:spPr>
        <p:txBody>
          <a:bodyPr/>
          <a:lstStyle/>
          <a:p>
            <a:pPr>
              <a:buFont typeface="Wingdings" charset="0"/>
              <a:buChar char="n"/>
              <a:defRPr/>
            </a:pPr>
            <a:r>
              <a:rPr lang="en-US" dirty="0"/>
              <a:t>Software based scheduling of instructions </a:t>
            </a:r>
            <a:r>
              <a:rPr lang="en-US" dirty="0">
                <a:sym typeface="Wingdings"/>
              </a:rPr>
              <a:t> static scheduling</a:t>
            </a:r>
          </a:p>
          <a:p>
            <a:pPr lvl="1">
              <a:buFont typeface="Wingdings" charset="0"/>
              <a:buChar char="q"/>
              <a:defRPr/>
            </a:pPr>
            <a:r>
              <a:rPr lang="en-US" dirty="0">
                <a:sym typeface="Wingdings"/>
              </a:rPr>
              <a:t>Compiler orders the instructions, hardware executes them in that order</a:t>
            </a:r>
          </a:p>
          <a:p>
            <a:pPr lvl="1">
              <a:buFont typeface="Wingdings" charset="0"/>
              <a:buChar char="q"/>
              <a:defRPr/>
            </a:pPr>
            <a:r>
              <a:rPr lang="en-US" dirty="0">
                <a:sym typeface="Wingdings"/>
              </a:rPr>
              <a:t>Contrast this with </a:t>
            </a:r>
            <a:r>
              <a:rPr lang="en-US" dirty="0">
                <a:solidFill>
                  <a:srgbClr val="0000FF"/>
                </a:solidFill>
                <a:sym typeface="Wingdings"/>
              </a:rPr>
              <a:t>dynamic scheduling </a:t>
            </a:r>
            <a:r>
              <a:rPr lang="en-US" dirty="0">
                <a:sym typeface="Wingdings"/>
              </a:rPr>
              <a:t>(in which hardware can execute instructions out of the compiler-specified order)</a:t>
            </a:r>
          </a:p>
          <a:p>
            <a:pPr lvl="1">
              <a:buFont typeface="Wingdings" charset="0"/>
              <a:buChar char="q"/>
              <a:defRPr/>
            </a:pPr>
            <a:r>
              <a:rPr lang="en-US" dirty="0">
                <a:sym typeface="Wingdings"/>
              </a:rPr>
              <a:t>How does the compiler know the latency of each instruction?</a:t>
            </a:r>
          </a:p>
          <a:p>
            <a:pPr lvl="1">
              <a:buFont typeface="Wingdings" charset="0"/>
              <a:buChar char="q"/>
              <a:defRPr/>
            </a:pPr>
            <a:endParaRPr lang="en-US" sz="1400" dirty="0"/>
          </a:p>
          <a:p>
            <a:pPr>
              <a:buFont typeface="Wingdings" charset="0"/>
              <a:buChar char="n"/>
              <a:defRPr/>
            </a:pPr>
            <a:r>
              <a:rPr lang="en-US" dirty="0"/>
              <a:t>What information does the compiler not know that makes static scheduling difficult?</a:t>
            </a:r>
          </a:p>
          <a:p>
            <a:pPr lvl="1">
              <a:buFont typeface="Wingdings" charset="0"/>
              <a:buChar char="q"/>
              <a:defRPr/>
            </a:pPr>
            <a:r>
              <a:rPr lang="en-US" dirty="0"/>
              <a:t>Answer: Anything that is determined at run time</a:t>
            </a:r>
          </a:p>
          <a:p>
            <a:pPr lvl="2">
              <a:buFont typeface="Wingdings" charset="0"/>
              <a:buChar char="n"/>
              <a:defRPr/>
            </a:pPr>
            <a:r>
              <a:rPr lang="en-US" dirty="0">
                <a:solidFill>
                  <a:srgbClr val="FF0000"/>
                </a:solidFill>
              </a:rPr>
              <a:t>Variable-length operation latency, memory </a:t>
            </a:r>
            <a:r>
              <a:rPr lang="en-US" dirty="0" err="1">
                <a:solidFill>
                  <a:srgbClr val="FF0000"/>
                </a:solidFill>
              </a:rPr>
              <a:t>addr</a:t>
            </a:r>
            <a:r>
              <a:rPr lang="en-US" dirty="0">
                <a:solidFill>
                  <a:srgbClr val="FF0000"/>
                </a:solidFill>
              </a:rPr>
              <a:t>, branch direction </a:t>
            </a:r>
          </a:p>
          <a:p>
            <a:pPr marL="344487" lvl="1" indent="0">
              <a:buFont typeface="Wingdings" charset="0"/>
              <a:buNone/>
              <a:defRPr/>
            </a:pPr>
            <a:endParaRPr lang="en-US" sz="1400" dirty="0"/>
          </a:p>
          <a:p>
            <a:pPr>
              <a:buFont typeface="Wingdings" charset="0"/>
              <a:buChar char="n"/>
              <a:defRPr/>
            </a:pPr>
            <a:r>
              <a:rPr lang="en-US" dirty="0"/>
              <a:t>How can the compiler alleviate this (i.e., estimate the unknown)?</a:t>
            </a:r>
          </a:p>
          <a:p>
            <a:pPr lvl="1">
              <a:buFont typeface="Wingdings" charset="0"/>
              <a:buChar char="q"/>
              <a:defRPr/>
            </a:pPr>
            <a:r>
              <a:rPr lang="en-US" dirty="0"/>
              <a:t>Answer: Profiling</a:t>
            </a:r>
          </a:p>
          <a:p>
            <a:pPr lvl="1">
              <a:buFont typeface="Wingdings" charset="0"/>
              <a:buChar char="q"/>
              <a:defRPr/>
            </a:pPr>
            <a:endParaRPr lang="en-US" dirty="0"/>
          </a:p>
          <a:p>
            <a:pPr>
              <a:buFont typeface="Wingdings" charset="0"/>
              <a:buChar char="n"/>
              <a:defRPr/>
            </a:pPr>
            <a:endParaRPr lang="en-US" dirty="0"/>
          </a:p>
        </p:txBody>
      </p:sp>
      <p:sp>
        <p:nvSpPr>
          <p:cNvPr id="119811" name="Slide Number Placeholder 3">
            <a:extLst>
              <a:ext uri="{FF2B5EF4-FFF2-40B4-BE49-F238E27FC236}">
                <a16:creationId xmlns:a16="http://schemas.microsoft.com/office/drawing/2014/main" id="{E1194F89-DDBC-B941-A1D5-EA3FE4F19FC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A602FC9-AB43-424E-8B05-074193A7E377}"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518986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436B271-5211-1E4C-838C-135BDBB68605}"/>
              </a:ext>
            </a:extLst>
          </p:cNvPr>
          <p:cNvSpPr>
            <a:spLocks noGrp="1" noChangeArrowheads="1"/>
          </p:cNvSpPr>
          <p:nvPr>
            <p:ph type="title"/>
          </p:nvPr>
        </p:nvSpPr>
        <p:spPr/>
        <p:txBody>
          <a:bodyPr/>
          <a:lstStyle/>
          <a:p>
            <a:r>
              <a:rPr lang="en-US" altLang="en-US">
                <a:ea typeface="ＭＳ Ｐゴシック" panose="020B0600070205080204" pitchFamily="34" charset="-128"/>
              </a:rPr>
              <a:t>How to Handle Data Dependences</a:t>
            </a:r>
          </a:p>
        </p:txBody>
      </p:sp>
      <p:sp>
        <p:nvSpPr>
          <p:cNvPr id="70658" name="Content Placeholder 2">
            <a:extLst>
              <a:ext uri="{FF2B5EF4-FFF2-40B4-BE49-F238E27FC236}">
                <a16:creationId xmlns:a16="http://schemas.microsoft.com/office/drawing/2014/main" id="{2787A909-6DE3-7047-91F4-259BF22510BF}"/>
              </a:ext>
            </a:extLst>
          </p:cNvPr>
          <p:cNvSpPr>
            <a:spLocks noGrp="1" noChangeArrowheads="1"/>
          </p:cNvSpPr>
          <p:nvPr>
            <p:ph idx="1"/>
          </p:nvPr>
        </p:nvSpPr>
        <p:spPr>
          <a:xfrm>
            <a:off x="228600" y="996950"/>
            <a:ext cx="8763000" cy="5194300"/>
          </a:xfrm>
        </p:spPr>
        <p:txBody>
          <a:bodyPr/>
          <a:lstStyle/>
          <a:p>
            <a:r>
              <a:rPr lang="en-US" altLang="en-US" dirty="0">
                <a:ea typeface="ＭＳ Ｐゴシック" panose="020B0600070205080204" pitchFamily="34" charset="-128"/>
              </a:rPr>
              <a:t>Anti and output dependences</a:t>
            </a:r>
          </a:p>
          <a:p>
            <a:pPr lvl="1"/>
            <a:r>
              <a:rPr lang="en-US" altLang="zh-CN" dirty="0">
                <a:ea typeface="ＭＳ Ｐゴシック" panose="020B0600070205080204" pitchFamily="34" charset="-128"/>
              </a:rPr>
              <a:t>They </a:t>
            </a:r>
            <a:r>
              <a:rPr lang="en-US" altLang="en-US" dirty="0">
                <a:ea typeface="ＭＳ Ｐゴシック" panose="020B0600070205080204" pitchFamily="34" charset="-128"/>
              </a:rPr>
              <a:t>are easier to handle. </a:t>
            </a:r>
          </a:p>
          <a:p>
            <a:pPr lvl="1"/>
            <a:r>
              <a:rPr lang="en-US" altLang="en-US" dirty="0">
                <a:ea typeface="ＭＳ Ｐゴシック" panose="020B0600070205080204" pitchFamily="34" charset="-128"/>
              </a:rPr>
              <a:t>Write to the destination only in last stage and in program order</a:t>
            </a:r>
          </a:p>
          <a:p>
            <a:endParaRPr lang="en-US" altLang="en-US" dirty="0">
              <a:ea typeface="ＭＳ Ｐゴシック" panose="020B0600070205080204" pitchFamily="34" charset="-128"/>
            </a:endParaRPr>
          </a:p>
          <a:p>
            <a:r>
              <a:rPr lang="en-US" altLang="zh-CN" dirty="0">
                <a:ea typeface="ＭＳ Ｐゴシック" panose="020B0600070205080204" pitchFamily="34" charset="-128"/>
              </a:rPr>
              <a:t>H</a:t>
            </a:r>
            <a:r>
              <a:rPr lang="en-US" altLang="en-US" dirty="0">
                <a:ea typeface="ＭＳ Ｐゴシック" panose="020B0600070205080204" pitchFamily="34" charset="-128"/>
              </a:rPr>
              <a:t>andling flow dependences:</a:t>
            </a:r>
          </a:p>
          <a:p>
            <a:pPr lvl="1"/>
            <a:r>
              <a:rPr lang="en-US" altLang="en-US" dirty="0">
                <a:solidFill>
                  <a:srgbClr val="0432FF"/>
                </a:solidFill>
                <a:ea typeface="ＭＳ Ｐゴシック" panose="020B0600070205080204" pitchFamily="34" charset="-128"/>
              </a:rPr>
              <a:t>Hardware Pipeline Stall: </a:t>
            </a:r>
          </a:p>
          <a:p>
            <a:pPr lvl="2"/>
            <a:r>
              <a:rPr lang="en-US" altLang="en-US" dirty="0">
                <a:ea typeface="ＭＳ Ｐゴシック" panose="020B0600070205080204" pitchFamily="34" charset="-128"/>
              </a:rPr>
              <a:t>Detect and wait until value is available in register file</a:t>
            </a:r>
          </a:p>
          <a:p>
            <a:pPr lvl="1"/>
            <a:r>
              <a:rPr lang="en-US" altLang="en-US" dirty="0">
                <a:solidFill>
                  <a:srgbClr val="0432FF"/>
                </a:solidFill>
                <a:ea typeface="ＭＳ Ｐゴシック" panose="020B0600070205080204" pitchFamily="34" charset="-128"/>
              </a:rPr>
              <a:t>Software Pipeline Stall: </a:t>
            </a:r>
          </a:p>
          <a:p>
            <a:pPr lvl="2"/>
            <a:r>
              <a:rPr lang="en-US" altLang="en-US" dirty="0">
                <a:ea typeface="ＭＳ Ｐゴシック" panose="020B0600070205080204" pitchFamily="34" charset="-128"/>
              </a:rPr>
              <a:t>Detect and eliminate the dependence at the software level</a:t>
            </a:r>
          </a:p>
          <a:p>
            <a:pPr lvl="2"/>
            <a:r>
              <a:rPr lang="en-US" altLang="en-US" dirty="0">
                <a:ea typeface="ＭＳ Ｐゴシック" panose="020B0600070205080204" pitchFamily="34" charset="-128"/>
              </a:rPr>
              <a:t>No need for the hardware to detect dependence</a:t>
            </a:r>
          </a:p>
          <a:p>
            <a:pPr lvl="1"/>
            <a:r>
              <a:rPr lang="en-US" altLang="en-US" dirty="0">
                <a:solidFill>
                  <a:srgbClr val="0432FF"/>
                </a:solidFill>
                <a:ea typeface="ＭＳ Ｐゴシック" panose="020B0600070205080204" pitchFamily="34" charset="-128"/>
              </a:rPr>
              <a:t>Data Forward/Bypass:</a:t>
            </a:r>
          </a:p>
          <a:p>
            <a:pPr lvl="2"/>
            <a:r>
              <a:rPr lang="en-US" altLang="en-US" dirty="0">
                <a:ea typeface="ＭＳ Ｐゴシック" panose="020B0600070205080204" pitchFamily="34" charset="-128"/>
              </a:rPr>
              <a:t>Detect and forward/bypass data to dependent instruction</a:t>
            </a:r>
          </a:p>
        </p:txBody>
      </p:sp>
      <p:sp>
        <p:nvSpPr>
          <p:cNvPr id="70659" name="Slide Number Placeholder 3">
            <a:extLst>
              <a:ext uri="{FF2B5EF4-FFF2-40B4-BE49-F238E27FC236}">
                <a16:creationId xmlns:a16="http://schemas.microsoft.com/office/drawing/2014/main" id="{E827CFEA-AD08-0C4A-AB91-EE9FBA7D6E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4988CC5-3D95-4C42-954E-4895214B8E54}" type="slidenum">
              <a:rPr lang="en-US" altLang="en-US" sz="1600" smtClean="0">
                <a:solidFill>
                  <a:srgbClr val="000000"/>
                </a:solidFill>
                <a:latin typeface="Garamond" panose="02020404030301010803" pitchFamily="18" charset="0"/>
              </a:rPr>
              <a:pPr>
                <a:spcBef>
                  <a:spcPct val="0"/>
                </a:spcBef>
                <a:buClrTx/>
                <a:buSzTx/>
                <a:buFontTx/>
                <a:buNone/>
              </a:pPr>
              <a:t>34</a:t>
            </a:fld>
            <a:endParaRPr lang="en-US" altLang="en-US" sz="1600">
              <a:solidFill>
                <a:srgbClr val="000000"/>
              </a:solidFill>
              <a:latin typeface="Garamond" panose="02020404030301010803" pitchFamily="18" charset="0"/>
            </a:endParaRPr>
          </a:p>
        </p:txBody>
      </p:sp>
      <p:sp>
        <p:nvSpPr>
          <p:cNvPr id="5" name="Rectangle 4">
            <a:extLst>
              <a:ext uri="{FF2B5EF4-FFF2-40B4-BE49-F238E27FC236}">
                <a16:creationId xmlns:a16="http://schemas.microsoft.com/office/drawing/2014/main" id="{77C4413E-F6F7-274E-A9BE-CA1A2F60CB59}"/>
              </a:ext>
            </a:extLst>
          </p:cNvPr>
          <p:cNvSpPr>
            <a:spLocks noChangeArrowheads="1"/>
          </p:cNvSpPr>
          <p:nvPr/>
        </p:nvSpPr>
        <p:spPr bwMode="auto">
          <a:xfrm>
            <a:off x="533400" y="5029200"/>
            <a:ext cx="7543800" cy="838200"/>
          </a:xfrm>
          <a:prstGeom prst="rect">
            <a:avLst/>
          </a:prstGeom>
          <a:noFill/>
          <a:ln w="38100">
            <a:solidFill>
              <a:srgbClr val="FF0000"/>
            </a:solidFill>
            <a:miter lim="800000"/>
            <a:headEnd/>
            <a:tailEnd/>
          </a:ln>
          <a:effectLst>
            <a:outerShdw blurRad="63500" dist="23000" dir="5400000" rotWithShape="0">
              <a:srgbClr val="000000">
                <a:alpha val="34998"/>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defRPr/>
            </a:pPr>
            <a:endParaRPr lang="en-US" altLang="en-US" sz="1800">
              <a:solidFill>
                <a:srgbClr val="FFFFFF"/>
              </a:solidFill>
              <a:latin typeface="Tahoma" charset="0"/>
            </a:endParaRPr>
          </a:p>
        </p:txBody>
      </p:sp>
    </p:spTree>
    <p:extLst>
      <p:ext uri="{BB962C8B-B14F-4D97-AF65-F5344CB8AC3E}">
        <p14:creationId xmlns:p14="http://schemas.microsoft.com/office/powerpoint/2010/main" val="27065262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F8CDE439-B336-774C-9857-39968816E371}"/>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Data Forwarding</a:t>
            </a:r>
          </a:p>
        </p:txBody>
      </p:sp>
      <p:sp>
        <p:nvSpPr>
          <p:cNvPr id="3" name="Content Placeholder 2">
            <a:extLst>
              <a:ext uri="{FF2B5EF4-FFF2-40B4-BE49-F238E27FC236}">
                <a16:creationId xmlns:a16="http://schemas.microsoft.com/office/drawing/2014/main" id="{92CE95A2-4DD5-0E44-9F0E-DEFC0157F967}"/>
              </a:ext>
            </a:extLst>
          </p:cNvPr>
          <p:cNvSpPr>
            <a:spLocks noGrp="1" noChangeArrowheads="1"/>
          </p:cNvSpPr>
          <p:nvPr>
            <p:ph idx="1"/>
          </p:nvPr>
        </p:nvSpPr>
        <p:spPr>
          <a:xfrm>
            <a:off x="457200" y="990600"/>
            <a:ext cx="8077200" cy="5194300"/>
          </a:xfrm>
        </p:spPr>
        <p:txBody>
          <a:bodyPr/>
          <a:lstStyle/>
          <a:p>
            <a:pPr eaLnBrk="1" hangingPunct="1"/>
            <a:r>
              <a:rPr lang="en-US" altLang="en-US" dirty="0">
                <a:ea typeface="ＭＳ Ｐゴシック" panose="020B0600070205080204" pitchFamily="34" charset="-128"/>
              </a:rPr>
              <a:t>Data Forwarding (called Data Bypassing)</a:t>
            </a:r>
          </a:p>
          <a:p>
            <a:pPr lvl="1" eaLnBrk="1" hangingPunct="1"/>
            <a:r>
              <a:rPr lang="en-US" altLang="en-US" dirty="0">
                <a:ea typeface="ＭＳ Ｐゴシック" panose="020B0600070205080204" pitchFamily="34" charset="-128"/>
              </a:rPr>
              <a:t>Forwards the result value to the dependent instruction                 as soon as the value is available.</a:t>
            </a:r>
          </a:p>
          <a:p>
            <a:pPr eaLnBrk="1" hangingPunct="1"/>
            <a:endParaRPr lang="en-US" altLang="en-US" dirty="0">
              <a:ea typeface="ＭＳ Ｐゴシック" panose="020B0600070205080204" pitchFamily="34" charset="-128"/>
            </a:endParaRPr>
          </a:p>
          <a:p>
            <a:pPr eaLnBrk="1" hangingPunct="1"/>
            <a:r>
              <a:rPr lang="en-US" altLang="zh-CN" dirty="0">
                <a:ea typeface="ＭＳ Ｐゴシック" panose="020B0600070205080204" pitchFamily="34" charset="-128"/>
              </a:rPr>
              <a:t>Act like </a:t>
            </a:r>
            <a:r>
              <a:rPr lang="en-US" altLang="en-US" dirty="0">
                <a:ea typeface="ＭＳ Ｐゴシック" panose="020B0600070205080204" pitchFamily="34" charset="-128"/>
              </a:rPr>
              <a:t>Dataflow?</a:t>
            </a:r>
          </a:p>
          <a:p>
            <a:pPr lvl="1" eaLnBrk="1" hangingPunct="1"/>
            <a:r>
              <a:rPr lang="en-US" altLang="en-US" dirty="0">
                <a:ea typeface="ＭＳ Ｐゴシック" panose="020B0600070205080204" pitchFamily="34" charset="-128"/>
              </a:rPr>
              <a:t>Data value supplied to dependent instruction as soon as it is available. </a:t>
            </a:r>
          </a:p>
          <a:p>
            <a:pPr lvl="1" eaLnBrk="1" hangingPunct="1"/>
            <a:r>
              <a:rPr lang="en-US" altLang="en-US" dirty="0">
                <a:ea typeface="ＭＳ Ｐゴシック" panose="020B0600070205080204" pitchFamily="34" charset="-128"/>
              </a:rPr>
              <a:t>Instruction executes when all its operands are available.</a:t>
            </a:r>
          </a:p>
          <a:p>
            <a:pPr eaLnBrk="1" hangingPunct="1"/>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Data forwarding brings a pipeline closer to dataflow execution principles. </a:t>
            </a:r>
          </a:p>
        </p:txBody>
      </p:sp>
    </p:spTree>
    <p:extLst>
      <p:ext uri="{BB962C8B-B14F-4D97-AF65-F5344CB8AC3E}">
        <p14:creationId xmlns:p14="http://schemas.microsoft.com/office/powerpoint/2010/main" val="5099009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a:extLst>
              <a:ext uri="{FF2B5EF4-FFF2-40B4-BE49-F238E27FC236}">
                <a16:creationId xmlns:a16="http://schemas.microsoft.com/office/drawing/2014/main" id="{95F1C217-ACFA-B840-B67A-3FB625185B55}"/>
              </a:ext>
            </a:extLst>
          </p:cNvPr>
          <p:cNvSpPr>
            <a:spLocks noGrp="1" noChangeArrowheads="1"/>
          </p:cNvSpPr>
          <p:nvPr>
            <p:ph type="title"/>
            <p:custDataLst>
              <p:tags r:id="rId1"/>
            </p:custDataLst>
          </p:nvPr>
        </p:nvSpPr>
        <p:spPr/>
        <p:txBody>
          <a:bodyPr/>
          <a:lstStyle/>
          <a:p>
            <a:pPr eaLnBrk="1" hangingPunct="1"/>
            <a:r>
              <a:rPr lang="en-US" altLang="en-US">
                <a:ea typeface="ＭＳ Ｐゴシック" panose="020B0600070205080204" pitchFamily="34" charset="-128"/>
              </a:rPr>
              <a:t>Data Forwarding</a:t>
            </a:r>
            <a:endParaRPr lang="en-US" altLang="en-US">
              <a:latin typeface="Consolas" panose="020B0609020204030204" pitchFamily="49" charset="0"/>
              <a:ea typeface="ＭＳ Ｐゴシック" panose="020B0600070205080204" pitchFamily="34" charset="-128"/>
            </a:endParaRPr>
          </a:p>
        </p:txBody>
      </p:sp>
      <p:graphicFrame>
        <p:nvGraphicFramePr>
          <p:cNvPr id="70658" name="Object 2">
            <a:extLst>
              <a:ext uri="{FF2B5EF4-FFF2-40B4-BE49-F238E27FC236}">
                <a16:creationId xmlns:a16="http://schemas.microsoft.com/office/drawing/2014/main" id="{634935C5-602F-A145-993B-7DEBE164C7B6}"/>
              </a:ext>
            </a:extLst>
          </p:cNvPr>
          <p:cNvGraphicFramePr>
            <a:graphicFrameLocks noGrp="1" noChangeAspect="1"/>
          </p:cNvGraphicFramePr>
          <p:nvPr>
            <p:ph idx="1"/>
            <p:custDataLst>
              <p:tags r:id="rId2"/>
            </p:custDataLst>
          </p:nvPr>
        </p:nvGraphicFramePr>
        <p:xfrm>
          <a:off x="230188" y="2071688"/>
          <a:ext cx="8607425" cy="3044825"/>
        </p:xfrm>
        <a:graphic>
          <a:graphicData uri="http://schemas.openxmlformats.org/presentationml/2006/ole">
            <mc:AlternateContent xmlns:mc="http://schemas.openxmlformats.org/markup-compatibility/2006">
              <mc:Choice xmlns:v="urn:schemas-microsoft-com:vml" Requires="v">
                <p:oleObj name="VISIO" r:id="rId8" imgW="29692600" imgH="10502900" progId="Visio.Drawing.6">
                  <p:embed/>
                </p:oleObj>
              </mc:Choice>
              <mc:Fallback>
                <p:oleObj name="VISIO" r:id="rId8" imgW="29692600" imgH="10502900" progId="Visio.Drawing.6">
                  <p:embed/>
                  <p:pic>
                    <p:nvPicPr>
                      <p:cNvPr id="70658" name="Object 2">
                        <a:extLst>
                          <a:ext uri="{FF2B5EF4-FFF2-40B4-BE49-F238E27FC236}">
                            <a16:creationId xmlns:a16="http://schemas.microsoft.com/office/drawing/2014/main" id="{634935C5-602F-A145-993B-7DEBE164C7B6}"/>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0188" y="2071688"/>
                        <a:ext cx="8607425" cy="304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59" name="Rectangle 2">
            <a:extLst>
              <a:ext uri="{FF2B5EF4-FFF2-40B4-BE49-F238E27FC236}">
                <a16:creationId xmlns:a16="http://schemas.microsoft.com/office/drawing/2014/main" id="{14BBCF5E-A83F-A447-B665-AE1A20685FE5}"/>
              </a:ext>
            </a:extLst>
          </p:cNvPr>
          <p:cNvSpPr>
            <a:spLocks noChangeArrowheads="1"/>
          </p:cNvSpPr>
          <p:nvPr>
            <p:custDataLst>
              <p:tags r:id="rId3"/>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0660" name="Rectangle 4">
            <a:extLst>
              <a:ext uri="{FF2B5EF4-FFF2-40B4-BE49-F238E27FC236}">
                <a16:creationId xmlns:a16="http://schemas.microsoft.com/office/drawing/2014/main" id="{1939FE14-6ABB-1741-98FB-9D4C24ABCD65}"/>
              </a:ext>
            </a:extLst>
          </p:cNvPr>
          <p:cNvSpPr>
            <a:spLocks noChangeArrowheads="1"/>
          </p:cNvSpPr>
          <p:nvPr>
            <p:custDataLst>
              <p:tags r:id="rId4"/>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70661" name="Rectangle 5">
            <a:extLst>
              <a:ext uri="{FF2B5EF4-FFF2-40B4-BE49-F238E27FC236}">
                <a16:creationId xmlns:a16="http://schemas.microsoft.com/office/drawing/2014/main" id="{46A2BF0C-CE46-F149-95BB-DC2C0E68A71D}"/>
              </a:ext>
            </a:extLst>
          </p:cNvPr>
          <p:cNvSpPr>
            <a:spLocks noChangeArrowheads="1"/>
          </p:cNvSpPr>
          <p:nvPr>
            <p:custDataLst>
              <p:tags r:id="rId5"/>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43229919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a:extLst>
              <a:ext uri="{FF2B5EF4-FFF2-40B4-BE49-F238E27FC236}">
                <a16:creationId xmlns:a16="http://schemas.microsoft.com/office/drawing/2014/main" id="{5E79A57C-62DF-4D45-9B69-7732274AA95C}"/>
              </a:ext>
            </a:extLst>
          </p:cNvPr>
          <p:cNvSpPr>
            <a:spLocks noGrp="1" noChangeArrowheads="1"/>
          </p:cNvSpPr>
          <p:nvPr>
            <p:ph type="title"/>
            <p:custDataLst>
              <p:tags r:id="rId1"/>
            </p:custDataLst>
          </p:nvPr>
        </p:nvSpPr>
        <p:spPr/>
        <p:txBody>
          <a:bodyPr/>
          <a:lstStyle/>
          <a:p>
            <a:pPr eaLnBrk="1" hangingPunct="1"/>
            <a:r>
              <a:rPr lang="en-US" altLang="en-US">
                <a:ea typeface="ＭＳ Ｐゴシック" panose="020B0600070205080204" pitchFamily="34" charset="-128"/>
              </a:rPr>
              <a:t>Data Forwarding</a:t>
            </a:r>
            <a:endParaRPr lang="en-US" altLang="en-US">
              <a:latin typeface="Consolas" panose="020B0609020204030204" pitchFamily="49" charset="0"/>
              <a:ea typeface="ＭＳ Ｐゴシック" panose="020B0600070205080204" pitchFamily="34" charset="-128"/>
            </a:endParaRPr>
          </a:p>
        </p:txBody>
      </p:sp>
      <p:graphicFrame>
        <p:nvGraphicFramePr>
          <p:cNvPr id="72706" name="Object 2">
            <a:extLst>
              <a:ext uri="{FF2B5EF4-FFF2-40B4-BE49-F238E27FC236}">
                <a16:creationId xmlns:a16="http://schemas.microsoft.com/office/drawing/2014/main" id="{1A5D9309-C37A-244E-AAA0-9F28E478FAFF}"/>
              </a:ext>
            </a:extLst>
          </p:cNvPr>
          <p:cNvGraphicFramePr>
            <a:graphicFrameLocks noGrp="1" noChangeAspect="1"/>
          </p:cNvGraphicFramePr>
          <p:nvPr>
            <p:ph idx="1"/>
            <p:custDataLst>
              <p:tags r:id="rId2"/>
            </p:custDataLst>
            <p:extLst>
              <p:ext uri="{D42A27DB-BD31-4B8C-83A1-F6EECF244321}">
                <p14:modId xmlns:p14="http://schemas.microsoft.com/office/powerpoint/2010/main" val="2398487518"/>
              </p:ext>
            </p:extLst>
          </p:nvPr>
        </p:nvGraphicFramePr>
        <p:xfrm>
          <a:off x="300037" y="1026160"/>
          <a:ext cx="8513763" cy="5194300"/>
        </p:xfrm>
        <a:graphic>
          <a:graphicData uri="http://schemas.openxmlformats.org/presentationml/2006/ole">
            <mc:AlternateContent xmlns:mc="http://schemas.openxmlformats.org/markup-compatibility/2006">
              <mc:Choice xmlns:v="urn:schemas-microsoft-com:vml" Requires="v">
                <p:oleObj name="VISIO" r:id="rId8" imgW="41592500" imgH="25374600" progId="Visio.Drawing.6">
                  <p:embed/>
                </p:oleObj>
              </mc:Choice>
              <mc:Fallback>
                <p:oleObj name="VISIO" r:id="rId8" imgW="41592500" imgH="25374600" progId="Visio.Drawing.6">
                  <p:embed/>
                  <p:pic>
                    <p:nvPicPr>
                      <p:cNvPr id="72706" name="Object 2">
                        <a:extLst>
                          <a:ext uri="{FF2B5EF4-FFF2-40B4-BE49-F238E27FC236}">
                            <a16:creationId xmlns:a16="http://schemas.microsoft.com/office/drawing/2014/main" id="{1A5D9309-C37A-244E-AAA0-9F28E478FAFF}"/>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0037" y="1026160"/>
                        <a:ext cx="8513763"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2707" name="Rectangle 2">
            <a:extLst>
              <a:ext uri="{FF2B5EF4-FFF2-40B4-BE49-F238E27FC236}">
                <a16:creationId xmlns:a16="http://schemas.microsoft.com/office/drawing/2014/main" id="{25EBBF99-BCE3-464C-A425-04AECA13DD76}"/>
              </a:ext>
            </a:extLst>
          </p:cNvPr>
          <p:cNvSpPr>
            <a:spLocks noChangeArrowheads="1"/>
          </p:cNvSpPr>
          <p:nvPr>
            <p:custDataLst>
              <p:tags r:id="rId3"/>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2708" name="Rectangle 4">
            <a:extLst>
              <a:ext uri="{FF2B5EF4-FFF2-40B4-BE49-F238E27FC236}">
                <a16:creationId xmlns:a16="http://schemas.microsoft.com/office/drawing/2014/main" id="{8309FAAC-75CC-CE4A-B1AE-ECBCD5EDD7BE}"/>
              </a:ext>
            </a:extLst>
          </p:cNvPr>
          <p:cNvSpPr>
            <a:spLocks noChangeArrowheads="1"/>
          </p:cNvSpPr>
          <p:nvPr>
            <p:custDataLst>
              <p:tags r:id="rId4"/>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72709" name="Rectangle 5">
            <a:extLst>
              <a:ext uri="{FF2B5EF4-FFF2-40B4-BE49-F238E27FC236}">
                <a16:creationId xmlns:a16="http://schemas.microsoft.com/office/drawing/2014/main" id="{180C2478-60B7-AA44-8E42-21EB202D2F0B}"/>
              </a:ext>
            </a:extLst>
          </p:cNvPr>
          <p:cNvSpPr>
            <a:spLocks noChangeArrowheads="1"/>
          </p:cNvSpPr>
          <p:nvPr>
            <p:custDataLst>
              <p:tags r:id="rId5"/>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cxnSp>
        <p:nvCxnSpPr>
          <p:cNvPr id="3" name="直接连接符 2">
            <a:extLst>
              <a:ext uri="{FF2B5EF4-FFF2-40B4-BE49-F238E27FC236}">
                <a16:creationId xmlns:a16="http://schemas.microsoft.com/office/drawing/2014/main" id="{168BA5F7-C373-49B9-A38A-B4DD165E9529}"/>
              </a:ext>
            </a:extLst>
          </p:cNvPr>
          <p:cNvCxnSpPr/>
          <p:nvPr/>
        </p:nvCxnSpPr>
        <p:spPr bwMode="auto">
          <a:xfrm>
            <a:off x="4800600" y="5715000"/>
            <a:ext cx="21167" cy="12700"/>
          </a:xfrm>
          <a:prstGeom prst="line">
            <a:avLst/>
          </a:prstGeom>
          <a:solidFill>
            <a:srgbClr val="C0C0C0"/>
          </a:solidFill>
          <a:ln w="9525" cap="flat" cmpd="sng" algn="ctr">
            <a:solidFill>
              <a:schemeClr val="tx1"/>
            </a:solidFill>
            <a:prstDash val="solid"/>
            <a:round/>
            <a:headEnd type="none" w="med" len="med"/>
            <a:tailEnd type="none" w="med" len="med"/>
          </a:ln>
          <a:effectLst/>
        </p:spPr>
      </p:cxnSp>
      <p:cxnSp>
        <p:nvCxnSpPr>
          <p:cNvPr id="5" name="直接连接符 4">
            <a:extLst>
              <a:ext uri="{FF2B5EF4-FFF2-40B4-BE49-F238E27FC236}">
                <a16:creationId xmlns:a16="http://schemas.microsoft.com/office/drawing/2014/main" id="{0E2955C6-3CA1-4D1D-851E-7E770B93CA4A}"/>
              </a:ext>
            </a:extLst>
          </p:cNvPr>
          <p:cNvCxnSpPr/>
          <p:nvPr/>
        </p:nvCxnSpPr>
        <p:spPr bwMode="auto">
          <a:xfrm>
            <a:off x="5181600" y="5257800"/>
            <a:ext cx="3505200" cy="0"/>
          </a:xfrm>
          <a:prstGeom prst="line">
            <a:avLst/>
          </a:prstGeom>
          <a:solidFill>
            <a:srgbClr val="C0C0C0"/>
          </a:solidFill>
          <a:ln w="15875" cap="flat" cmpd="sng" algn="ctr">
            <a:solidFill>
              <a:schemeClr val="tx1"/>
            </a:solidFill>
            <a:prstDash val="solid"/>
            <a:round/>
            <a:headEnd type="none" w="med" len="med"/>
            <a:tailEnd type="none" w="med" len="med"/>
          </a:ln>
          <a:effectLst/>
        </p:spPr>
      </p:cxnSp>
      <p:cxnSp>
        <p:nvCxnSpPr>
          <p:cNvPr id="11" name="直接连接符 10">
            <a:extLst>
              <a:ext uri="{FF2B5EF4-FFF2-40B4-BE49-F238E27FC236}">
                <a16:creationId xmlns:a16="http://schemas.microsoft.com/office/drawing/2014/main" id="{F28BF03E-638A-4C9E-B327-E2E9039AF388}"/>
              </a:ext>
            </a:extLst>
          </p:cNvPr>
          <p:cNvCxnSpPr>
            <a:cxnSpLocks/>
          </p:cNvCxnSpPr>
          <p:nvPr/>
        </p:nvCxnSpPr>
        <p:spPr bwMode="auto">
          <a:xfrm>
            <a:off x="8686800" y="3505200"/>
            <a:ext cx="0" cy="1752600"/>
          </a:xfrm>
          <a:prstGeom prst="line">
            <a:avLst/>
          </a:prstGeom>
          <a:solidFill>
            <a:srgbClr val="C0C0C0"/>
          </a:solidFill>
          <a:ln w="15875"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AFC41825-9119-4588-89FB-A43DAE72F5F4}"/>
              </a:ext>
            </a:extLst>
          </p:cNvPr>
          <p:cNvCxnSpPr>
            <a:cxnSpLocks/>
          </p:cNvCxnSpPr>
          <p:nvPr/>
        </p:nvCxnSpPr>
        <p:spPr bwMode="auto">
          <a:xfrm flipH="1">
            <a:off x="8610600" y="3505200"/>
            <a:ext cx="76200" cy="0"/>
          </a:xfrm>
          <a:prstGeom prst="line">
            <a:avLst/>
          </a:prstGeom>
          <a:solidFill>
            <a:srgbClr val="C0C0C0"/>
          </a:solidFill>
          <a:ln w="1587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82905775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CE0681EF-97B6-254D-B19C-BF028F9B6BD4}"/>
              </a:ext>
            </a:extLst>
          </p:cNvPr>
          <p:cNvSpPr>
            <a:spLocks noChangeArrowheads="1"/>
          </p:cNvSpPr>
          <p:nvPr>
            <p:custDataLst>
              <p:tags r:id="rId1"/>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4754" name="Rectangle 3">
            <a:extLst>
              <a:ext uri="{FF2B5EF4-FFF2-40B4-BE49-F238E27FC236}">
                <a16:creationId xmlns:a16="http://schemas.microsoft.com/office/drawing/2014/main" id="{D8228689-A07E-B84C-B939-E1D7779C3037}"/>
              </a:ext>
            </a:extLst>
          </p:cNvPr>
          <p:cNvSpPr>
            <a:spLocks noGrp="1" noChangeArrowheads="1"/>
          </p:cNvSpPr>
          <p:nvPr>
            <p:ph type="title"/>
            <p:custDataLst>
              <p:tags r:id="rId2"/>
            </p:custDataLst>
          </p:nvPr>
        </p:nvSpPr>
        <p:spPr/>
        <p:txBody>
          <a:bodyPr/>
          <a:lstStyle/>
          <a:p>
            <a:pPr eaLnBrk="1" hangingPunct="1"/>
            <a:r>
              <a:rPr lang="en-US" altLang="en-US">
                <a:ea typeface="ＭＳ Ｐゴシック" panose="020B0600070205080204" pitchFamily="34" charset="-128"/>
              </a:rPr>
              <a:t>Data Forwarding</a:t>
            </a:r>
            <a:endParaRPr lang="en-US" altLang="en-US">
              <a:latin typeface="Consolas" panose="020B0609020204030204" pitchFamily="49" charset="0"/>
              <a:ea typeface="ＭＳ Ｐゴシック" panose="020B0600070205080204" pitchFamily="34" charset="-128"/>
            </a:endParaRPr>
          </a:p>
        </p:txBody>
      </p:sp>
      <p:sp>
        <p:nvSpPr>
          <p:cNvPr id="176131" name="Rectangle 7">
            <a:extLst>
              <a:ext uri="{FF2B5EF4-FFF2-40B4-BE49-F238E27FC236}">
                <a16:creationId xmlns:a16="http://schemas.microsoft.com/office/drawing/2014/main" id="{A5782035-BD43-DA40-AB8D-F525B91397B4}"/>
              </a:ext>
            </a:extLst>
          </p:cNvPr>
          <p:cNvSpPr>
            <a:spLocks noGrp="1" noChangeArrowheads="1"/>
          </p:cNvSpPr>
          <p:nvPr>
            <p:ph idx="1"/>
            <p:custDataLst>
              <p:tags r:id="rId3"/>
            </p:custDataLst>
          </p:nvPr>
        </p:nvSpPr>
        <p:spPr>
          <a:xfrm>
            <a:off x="228600" y="996950"/>
            <a:ext cx="8610600" cy="5480050"/>
          </a:xfrm>
        </p:spPr>
        <p:txBody>
          <a:bodyPr/>
          <a:lstStyle/>
          <a:p>
            <a:pPr eaLnBrk="1" hangingPunct="1"/>
            <a:r>
              <a:rPr lang="en-US" altLang="en-US" dirty="0">
                <a:ea typeface="ＭＳ Ｐゴシック" panose="020B0600070205080204" pitchFamily="34" charset="-128"/>
              </a:rPr>
              <a:t>Forward to </a:t>
            </a:r>
            <a:r>
              <a:rPr lang="en-US" altLang="en-US" dirty="0">
                <a:latin typeface="Arial Narrow" panose="020B0606020202030204" pitchFamily="34" charset="0"/>
                <a:ea typeface="ＭＳ Ｐゴシック" panose="020B0600070205080204" pitchFamily="34" charset="-128"/>
              </a:rPr>
              <a:t>Execute</a:t>
            </a:r>
            <a:r>
              <a:rPr lang="en-US" altLang="en-US" dirty="0">
                <a:ea typeface="ＭＳ Ｐゴシック" panose="020B0600070205080204" pitchFamily="34" charset="-128"/>
              </a:rPr>
              <a:t> stage from either:</a:t>
            </a:r>
          </a:p>
          <a:p>
            <a:pPr lvl="1" eaLnBrk="1" hangingPunct="1"/>
            <a:r>
              <a:rPr lang="en-US" altLang="en-US" dirty="0">
                <a:latin typeface="Arial Narrow" panose="020B0606020202030204" pitchFamily="34" charset="0"/>
                <a:ea typeface="ＭＳ Ｐゴシック" panose="020B0600070205080204" pitchFamily="34" charset="-128"/>
              </a:rPr>
              <a:t>Memory</a:t>
            </a:r>
            <a:r>
              <a:rPr lang="en-US" altLang="en-US" dirty="0">
                <a:ea typeface="ＭＳ Ｐゴシック" panose="020B0600070205080204" pitchFamily="34" charset="-128"/>
              </a:rPr>
              <a:t> stage or</a:t>
            </a:r>
          </a:p>
          <a:p>
            <a:pPr lvl="1" eaLnBrk="1" hangingPunct="1"/>
            <a:r>
              <a:rPr lang="en-US" altLang="en-US" dirty="0">
                <a:latin typeface="Arial Narrow" panose="020B0606020202030204" pitchFamily="34" charset="0"/>
                <a:ea typeface="ＭＳ Ｐゴシック" panose="020B0600070205080204" pitchFamily="34" charset="-128"/>
              </a:rPr>
              <a:t>Writeback</a:t>
            </a:r>
            <a:r>
              <a:rPr lang="en-US" altLang="en-US" dirty="0">
                <a:ea typeface="ＭＳ Ｐゴシック" panose="020B0600070205080204" pitchFamily="34" charset="-128"/>
              </a:rPr>
              <a:t> stage</a:t>
            </a:r>
          </a:p>
          <a:p>
            <a:pPr lvl="1" eaLnBrk="1" hangingPunct="1"/>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When should we forward from either </a:t>
            </a:r>
            <a:r>
              <a:rPr lang="en-US" altLang="en-US" dirty="0">
                <a:latin typeface="Arial Narrow" panose="020B0606020202030204" pitchFamily="34" charset="0"/>
                <a:ea typeface="ＭＳ Ｐゴシック" panose="020B0600070205080204" pitchFamily="34" charset="-128"/>
              </a:rPr>
              <a:t>Memory</a:t>
            </a:r>
            <a:r>
              <a:rPr lang="en-US" altLang="en-US" dirty="0">
                <a:ea typeface="ＭＳ Ｐゴシック" panose="020B0600070205080204" pitchFamily="34" charset="-128"/>
              </a:rPr>
              <a:t> or </a:t>
            </a:r>
            <a:r>
              <a:rPr lang="en-US" altLang="en-US" dirty="0">
                <a:latin typeface="Arial Narrow" panose="020B0606020202030204" pitchFamily="34" charset="0"/>
                <a:ea typeface="ＭＳ Ｐゴシック" panose="020B0600070205080204" pitchFamily="34" charset="-128"/>
              </a:rPr>
              <a:t>Writeback</a:t>
            </a:r>
            <a:r>
              <a:rPr lang="en-US" altLang="en-US" dirty="0">
                <a:ea typeface="ＭＳ Ｐゴシック" panose="020B0600070205080204" pitchFamily="34" charset="-128"/>
              </a:rPr>
              <a:t> stage?</a:t>
            </a:r>
          </a:p>
          <a:p>
            <a:pPr lvl="1" eaLnBrk="1" hangingPunct="1"/>
            <a:r>
              <a:rPr lang="en-US" altLang="zh-CN" b="1" dirty="0">
                <a:ea typeface="ＭＳ Ｐゴシック" panose="020B0600070205080204" pitchFamily="34" charset="-128"/>
              </a:rPr>
              <a:t>Answer</a:t>
            </a:r>
            <a:r>
              <a:rPr lang="zh-CN" altLang="en-US" dirty="0">
                <a:ea typeface="ＭＳ Ｐゴシック" panose="020B0600070205080204" pitchFamily="34" charset="-128"/>
              </a:rPr>
              <a:t>：</a:t>
            </a:r>
            <a:r>
              <a:rPr lang="en-US" altLang="en-US" dirty="0">
                <a:ea typeface="ＭＳ Ｐゴシック" panose="020B0600070205080204" pitchFamily="34" charset="-128"/>
              </a:rPr>
              <a:t>If that stage will write to a destination register and the destination register matches the source register. </a:t>
            </a:r>
          </a:p>
        </p:txBody>
      </p:sp>
      <p:sp>
        <p:nvSpPr>
          <p:cNvPr id="74756" name="Rectangle 4">
            <a:extLst>
              <a:ext uri="{FF2B5EF4-FFF2-40B4-BE49-F238E27FC236}">
                <a16:creationId xmlns:a16="http://schemas.microsoft.com/office/drawing/2014/main" id="{315B97BF-44B8-2944-B1B5-980E54F48501}"/>
              </a:ext>
            </a:extLst>
          </p:cNvPr>
          <p:cNvSpPr>
            <a:spLocks noChangeArrowheads="1"/>
          </p:cNvSpPr>
          <p:nvPr>
            <p:custDataLst>
              <p:tags r:id="rId4"/>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74757" name="Rectangle 5">
            <a:extLst>
              <a:ext uri="{FF2B5EF4-FFF2-40B4-BE49-F238E27FC236}">
                <a16:creationId xmlns:a16="http://schemas.microsoft.com/office/drawing/2014/main" id="{5E717B62-52C7-4345-AC0F-A4EE424D21CD}"/>
              </a:ext>
            </a:extLst>
          </p:cNvPr>
          <p:cNvSpPr>
            <a:spLocks noChangeArrowheads="1"/>
          </p:cNvSpPr>
          <p:nvPr>
            <p:custDataLst>
              <p:tags r:id="rId5"/>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3" name="矩形 2">
            <a:extLst>
              <a:ext uri="{FF2B5EF4-FFF2-40B4-BE49-F238E27FC236}">
                <a16:creationId xmlns:a16="http://schemas.microsoft.com/office/drawing/2014/main" id="{4E7BB540-E210-407E-8380-2EE25A390834}"/>
              </a:ext>
            </a:extLst>
          </p:cNvPr>
          <p:cNvSpPr/>
          <p:nvPr/>
        </p:nvSpPr>
        <p:spPr>
          <a:xfrm>
            <a:off x="190500" y="4495800"/>
            <a:ext cx="8686800" cy="2012859"/>
          </a:xfrm>
          <a:prstGeom prst="rect">
            <a:avLst/>
          </a:prstGeom>
        </p:spPr>
        <p:txBody>
          <a:bodyPr wrap="square">
            <a:spAutoFit/>
          </a:bodyPr>
          <a:lstStyle/>
          <a:p>
            <a:pPr marL="342900" indent="-342900" eaLnBrk="1" hangingPunct="1">
              <a:spcBef>
                <a:spcPct val="20000"/>
              </a:spcBef>
              <a:buClr>
                <a:srgbClr val="CC9900"/>
              </a:buClr>
              <a:buSzPct val="65000"/>
              <a:buFont typeface="Wingdings" pitchFamily="2" charset="2"/>
              <a:buChar char="n"/>
            </a:pPr>
            <a:r>
              <a:rPr lang="en-US" altLang="en-US" sz="2400" kern="0" dirty="0">
                <a:solidFill>
                  <a:srgbClr val="000000"/>
                </a:solidFill>
                <a:latin typeface="Tahoma"/>
              </a:rPr>
              <a:t>If both the Memory and Writeback stages contain matching destination registers?</a:t>
            </a:r>
          </a:p>
          <a:p>
            <a:pPr marL="800100" lvl="1" indent="-342900" eaLnBrk="1" hangingPunct="1">
              <a:spcBef>
                <a:spcPct val="20000"/>
              </a:spcBef>
              <a:buClr>
                <a:srgbClr val="CC9900"/>
              </a:buClr>
              <a:buSzPct val="65000"/>
              <a:buFont typeface="Wingdings" pitchFamily="2" charset="2"/>
              <a:buChar char="n"/>
            </a:pPr>
            <a:r>
              <a:rPr lang="en-US" altLang="zh-CN" sz="2400" b="1" dirty="0"/>
              <a:t>Answer</a:t>
            </a:r>
            <a:r>
              <a:rPr lang="zh-CN" altLang="en-US" sz="2400" dirty="0"/>
              <a:t>： </a:t>
            </a:r>
            <a:r>
              <a:rPr lang="en-US" altLang="en-US" sz="2400" kern="0" dirty="0">
                <a:solidFill>
                  <a:srgbClr val="000000"/>
                </a:solidFill>
                <a:latin typeface="Tahoma"/>
              </a:rPr>
              <a:t>The Memory stage should have priority, because it contains the </a:t>
            </a:r>
            <a:r>
              <a:rPr lang="en-US" altLang="en-US" sz="2400" i="1" kern="0" dirty="0">
                <a:solidFill>
                  <a:srgbClr val="000000"/>
                </a:solidFill>
                <a:latin typeface="Tahoma"/>
              </a:rPr>
              <a:t>more</a:t>
            </a:r>
            <a:r>
              <a:rPr lang="en-US" altLang="en-US" sz="2400" kern="0" dirty="0">
                <a:solidFill>
                  <a:srgbClr val="000000"/>
                </a:solidFill>
                <a:latin typeface="Tahoma"/>
              </a:rPr>
              <a:t> </a:t>
            </a:r>
            <a:r>
              <a:rPr lang="en-US" altLang="en-US" sz="2400" i="1" kern="0" dirty="0">
                <a:solidFill>
                  <a:srgbClr val="000000"/>
                </a:solidFill>
                <a:latin typeface="Tahoma"/>
              </a:rPr>
              <a:t>recently executed </a:t>
            </a:r>
            <a:r>
              <a:rPr lang="en-US" altLang="en-US" sz="2400" kern="0" dirty="0">
                <a:solidFill>
                  <a:srgbClr val="000000"/>
                </a:solidFill>
                <a:latin typeface="Tahoma"/>
              </a:rPr>
              <a:t>instruction.</a:t>
            </a:r>
            <a:r>
              <a:rPr lang="en-US" altLang="en-US" sz="2000" kern="0" dirty="0">
                <a:solidFill>
                  <a:srgbClr val="000000"/>
                </a:solidFill>
                <a:latin typeface="Tahoma"/>
              </a:rPr>
              <a:t>		</a:t>
            </a:r>
          </a:p>
        </p:txBody>
      </p:sp>
    </p:spTree>
    <p:extLst>
      <p:ext uri="{BB962C8B-B14F-4D97-AF65-F5344CB8AC3E}">
        <p14:creationId xmlns:p14="http://schemas.microsoft.com/office/powerpoint/2010/main" val="38923138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6131">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EDAC0F96-54F6-9A4C-9672-81D244CC24FE}"/>
              </a:ext>
            </a:extLst>
          </p:cNvPr>
          <p:cNvSpPr>
            <a:spLocks noChangeArrowheads="1"/>
          </p:cNvSpPr>
          <p:nvPr>
            <p:custDataLst>
              <p:tags r:id="rId1"/>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6802" name="Rectangle 3">
            <a:extLst>
              <a:ext uri="{FF2B5EF4-FFF2-40B4-BE49-F238E27FC236}">
                <a16:creationId xmlns:a16="http://schemas.microsoft.com/office/drawing/2014/main" id="{55BBEE57-D5B8-A549-8B57-9D183473D78C}"/>
              </a:ext>
            </a:extLst>
          </p:cNvPr>
          <p:cNvSpPr>
            <a:spLocks noGrp="1" noChangeArrowheads="1"/>
          </p:cNvSpPr>
          <p:nvPr>
            <p:ph type="title"/>
            <p:custDataLst>
              <p:tags r:id="rId2"/>
            </p:custDataLst>
          </p:nvPr>
        </p:nvSpPr>
        <p:spPr/>
        <p:txBody>
          <a:bodyPr/>
          <a:lstStyle/>
          <a:p>
            <a:pPr eaLnBrk="1" hangingPunct="1"/>
            <a:r>
              <a:rPr lang="en-US" altLang="en-US" dirty="0">
                <a:ea typeface="ＭＳ Ｐゴシック" panose="020B0600070205080204" pitchFamily="34" charset="-128"/>
              </a:rPr>
              <a:t>Data Forwarding (in Pseudocode)</a:t>
            </a:r>
            <a:endParaRPr lang="en-US" altLang="en-US" dirty="0">
              <a:latin typeface="Consolas" panose="020B0609020204030204" pitchFamily="49" charset="0"/>
              <a:ea typeface="ＭＳ Ｐゴシック" panose="020B0600070205080204" pitchFamily="34" charset="-128"/>
            </a:endParaRPr>
          </a:p>
        </p:txBody>
      </p:sp>
      <p:sp>
        <p:nvSpPr>
          <p:cNvPr id="76803" name="Rectangle 7">
            <a:extLst>
              <a:ext uri="{FF2B5EF4-FFF2-40B4-BE49-F238E27FC236}">
                <a16:creationId xmlns:a16="http://schemas.microsoft.com/office/drawing/2014/main" id="{174A08AA-54A1-7F47-ACFB-C387479B92DA}"/>
              </a:ext>
            </a:extLst>
          </p:cNvPr>
          <p:cNvSpPr>
            <a:spLocks noGrp="1" noChangeArrowheads="1"/>
          </p:cNvSpPr>
          <p:nvPr>
            <p:ph idx="1"/>
            <p:custDataLst>
              <p:tags r:id="rId3"/>
            </p:custDataLst>
          </p:nvPr>
        </p:nvSpPr>
        <p:spPr>
          <a:xfrm>
            <a:off x="152400" y="996950"/>
            <a:ext cx="8915400" cy="5194300"/>
          </a:xfrm>
        </p:spPr>
        <p:txBody>
          <a:bodyPr/>
          <a:lstStyle/>
          <a:p>
            <a:pPr eaLnBrk="1" hangingPunct="1"/>
            <a:r>
              <a:rPr lang="en-US" altLang="en-US" dirty="0">
                <a:ea typeface="ＭＳ Ｐゴシック" panose="020B0600070205080204" pitchFamily="34" charset="-128"/>
              </a:rPr>
              <a:t>Forward to Execute stage from either:</a:t>
            </a:r>
          </a:p>
          <a:p>
            <a:pPr lvl="1" eaLnBrk="1" hangingPunct="1"/>
            <a:r>
              <a:rPr lang="en-US" altLang="en-US" dirty="0">
                <a:ea typeface="ＭＳ Ｐゴシック" panose="020B0600070205080204" pitchFamily="34" charset="-128"/>
              </a:rPr>
              <a:t>Memory stage or</a:t>
            </a:r>
          </a:p>
          <a:p>
            <a:pPr lvl="1" eaLnBrk="1" hangingPunct="1"/>
            <a:r>
              <a:rPr lang="en-US" altLang="en-US" dirty="0">
                <a:ea typeface="ＭＳ Ｐゴシック" panose="020B0600070205080204" pitchFamily="34" charset="-128"/>
              </a:rPr>
              <a:t>Writeback stage</a:t>
            </a:r>
          </a:p>
          <a:p>
            <a:pPr lvl="1" eaLnBrk="1" hangingPunct="1"/>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Forwarding logic for </a:t>
            </a:r>
            <a:r>
              <a:rPr lang="en-US" altLang="en-US" i="1" dirty="0" err="1">
                <a:ea typeface="ＭＳ Ｐゴシック" panose="020B0600070205080204" pitchFamily="34" charset="-128"/>
              </a:rPr>
              <a:t>ForwardAE</a:t>
            </a:r>
            <a:r>
              <a:rPr lang="en-US" altLang="en-US" i="1" dirty="0">
                <a:ea typeface="ＭＳ Ｐゴシック" panose="020B0600070205080204" pitchFamily="34" charset="-128"/>
              </a:rPr>
              <a:t> (pseudo code)</a:t>
            </a:r>
            <a:r>
              <a:rPr lang="en-US" altLang="en-US" dirty="0">
                <a:ea typeface="ＭＳ Ｐゴシック" panose="020B0600070205080204" pitchFamily="34" charset="-128"/>
              </a:rPr>
              <a:t>:</a:t>
            </a:r>
          </a:p>
          <a:p>
            <a:pPr eaLnBrk="1" hangingPunct="1">
              <a:lnSpc>
                <a:spcPct val="150000"/>
              </a:lnSpc>
              <a:spcBef>
                <a:spcPts val="1200"/>
              </a:spcBef>
              <a:buFontTx/>
              <a:buNone/>
            </a:pPr>
            <a:r>
              <a:rPr lang="en-US" altLang="en-US" sz="1600" dirty="0">
                <a:latin typeface="Consolas" panose="020B0609020204030204" pitchFamily="49" charset="0"/>
                <a:ea typeface="ＭＳ Ｐゴシック" panose="020B0600070205080204" pitchFamily="34" charset="-128"/>
              </a:rPr>
              <a:t>	if  ((</a:t>
            </a:r>
            <a:r>
              <a:rPr lang="en-US" altLang="en-US" sz="1600" dirty="0" err="1">
                <a:latin typeface="Consolas" panose="020B0609020204030204" pitchFamily="49" charset="0"/>
                <a:ea typeface="ＭＳ Ｐゴシック" panose="020B0600070205080204" pitchFamily="34" charset="-128"/>
              </a:rPr>
              <a:t>rsE</a:t>
            </a:r>
            <a:r>
              <a:rPr lang="en-US" altLang="en-US" sz="1600" dirty="0">
                <a:latin typeface="Consolas" panose="020B0609020204030204" pitchFamily="49" charset="0"/>
                <a:ea typeface="ＭＳ Ｐゴシック" panose="020B0600070205080204" pitchFamily="34" charset="-128"/>
              </a:rPr>
              <a:t> != 0) AND (</a:t>
            </a:r>
            <a:r>
              <a:rPr lang="en-US" altLang="en-US" sz="1600" dirty="0" err="1">
                <a:latin typeface="Consolas" panose="020B0609020204030204" pitchFamily="49" charset="0"/>
                <a:ea typeface="ＭＳ Ｐゴシック" panose="020B0600070205080204" pitchFamily="34" charset="-128"/>
              </a:rPr>
              <a:t>rsE</a:t>
            </a:r>
            <a:r>
              <a:rPr lang="en-US" altLang="en-US" sz="1600" dirty="0">
                <a:latin typeface="Consolas" panose="020B0609020204030204" pitchFamily="49" charset="0"/>
                <a:ea typeface="ＭＳ Ｐゴシック" panose="020B0600070205080204" pitchFamily="34" charset="-128"/>
              </a:rPr>
              <a:t> == </a:t>
            </a:r>
            <a:r>
              <a:rPr lang="en-US" altLang="en-US" sz="1600" dirty="0" err="1">
                <a:latin typeface="Consolas" panose="020B0609020204030204" pitchFamily="49" charset="0"/>
                <a:ea typeface="ＭＳ Ｐゴシック" panose="020B0600070205080204" pitchFamily="34" charset="-128"/>
              </a:rPr>
              <a:t>WriteRegM</a:t>
            </a:r>
            <a:r>
              <a:rPr lang="en-US" altLang="en-US" sz="1600" dirty="0">
                <a:latin typeface="Consolas" panose="020B0609020204030204" pitchFamily="49" charset="0"/>
                <a:ea typeface="ＭＳ Ｐゴシック" panose="020B0600070205080204" pitchFamily="34" charset="-128"/>
              </a:rPr>
              <a:t>) AND </a:t>
            </a:r>
            <a:r>
              <a:rPr lang="en-US" altLang="en-US" sz="1600" dirty="0" err="1">
                <a:latin typeface="Consolas" panose="020B0609020204030204" pitchFamily="49" charset="0"/>
                <a:ea typeface="ＭＳ Ｐゴシック" panose="020B0600070205080204" pitchFamily="34" charset="-128"/>
              </a:rPr>
              <a:t>RegWriteM</a:t>
            </a:r>
            <a:r>
              <a:rPr lang="en-US" altLang="en-US" sz="1600" dirty="0">
                <a:latin typeface="Consolas" panose="020B0609020204030204" pitchFamily="49" charset="0"/>
                <a:ea typeface="ＭＳ Ｐゴシック" panose="020B0600070205080204" pitchFamily="34" charset="-128"/>
              </a:rPr>
              <a:t>) then       		</a:t>
            </a:r>
            <a:r>
              <a:rPr lang="en-US" altLang="en-US" sz="1600" dirty="0" err="1">
                <a:latin typeface="Consolas" panose="020B0609020204030204" pitchFamily="49" charset="0"/>
                <a:ea typeface="ＭＳ Ｐゴシック" panose="020B0600070205080204" pitchFamily="34" charset="-128"/>
              </a:rPr>
              <a:t>ForwardAE</a:t>
            </a:r>
            <a:r>
              <a:rPr lang="en-US" altLang="en-US" sz="1600" dirty="0">
                <a:latin typeface="Consolas" panose="020B0609020204030204" pitchFamily="49" charset="0"/>
                <a:ea typeface="ＭＳ Ｐゴシック" panose="020B0600070205080204" pitchFamily="34" charset="-128"/>
              </a:rPr>
              <a:t> = 10  </a:t>
            </a:r>
            <a:r>
              <a:rPr lang="en-US" altLang="en-US" sz="1600" dirty="0">
                <a:solidFill>
                  <a:srgbClr val="A03232"/>
                </a:solidFill>
                <a:latin typeface="Consolas" panose="020B0609020204030204" pitchFamily="49" charset="0"/>
                <a:ea typeface="ＭＳ Ｐゴシック" panose="020B0600070205080204" pitchFamily="34" charset="-128"/>
              </a:rPr>
              <a:t># forward from Memory stage</a:t>
            </a:r>
            <a:br>
              <a:rPr lang="en-US" altLang="en-US" sz="1600" dirty="0">
                <a:latin typeface="Consolas" panose="020B0609020204030204" pitchFamily="49" charset="0"/>
                <a:ea typeface="ＭＳ Ｐゴシック" panose="020B0600070205080204" pitchFamily="34" charset="-128"/>
              </a:rPr>
            </a:br>
            <a:r>
              <a:rPr lang="en-US" altLang="en-US" sz="1600" dirty="0">
                <a:latin typeface="Consolas" panose="020B0609020204030204" pitchFamily="49" charset="0"/>
                <a:ea typeface="ＭＳ Ｐゴシック" panose="020B0600070205080204" pitchFamily="34" charset="-128"/>
              </a:rPr>
              <a:t>else if ((</a:t>
            </a:r>
            <a:r>
              <a:rPr lang="en-US" altLang="en-US" sz="1600" dirty="0" err="1">
                <a:latin typeface="Consolas" panose="020B0609020204030204" pitchFamily="49" charset="0"/>
                <a:ea typeface="ＭＳ Ｐゴシック" panose="020B0600070205080204" pitchFamily="34" charset="-128"/>
              </a:rPr>
              <a:t>rsE</a:t>
            </a:r>
            <a:r>
              <a:rPr lang="en-US" altLang="en-US" sz="1600" dirty="0">
                <a:latin typeface="Consolas" panose="020B0609020204030204" pitchFamily="49" charset="0"/>
                <a:ea typeface="ＭＳ Ｐゴシック" panose="020B0600070205080204" pitchFamily="34" charset="-128"/>
              </a:rPr>
              <a:t> != 0) AND (</a:t>
            </a:r>
            <a:r>
              <a:rPr lang="en-US" altLang="en-US" sz="1600" dirty="0" err="1">
                <a:latin typeface="Consolas" panose="020B0609020204030204" pitchFamily="49" charset="0"/>
                <a:ea typeface="ＭＳ Ｐゴシック" panose="020B0600070205080204" pitchFamily="34" charset="-128"/>
              </a:rPr>
              <a:t>rsE</a:t>
            </a:r>
            <a:r>
              <a:rPr lang="en-US" altLang="en-US" sz="1600" dirty="0">
                <a:latin typeface="Consolas" panose="020B0609020204030204" pitchFamily="49" charset="0"/>
                <a:ea typeface="ＭＳ Ｐゴシック" panose="020B0600070205080204" pitchFamily="34" charset="-128"/>
              </a:rPr>
              <a:t> == </a:t>
            </a:r>
            <a:r>
              <a:rPr lang="en-US" altLang="en-US" sz="1600" dirty="0" err="1">
                <a:latin typeface="Consolas" panose="020B0609020204030204" pitchFamily="49" charset="0"/>
                <a:ea typeface="ＭＳ Ｐゴシック" panose="020B0600070205080204" pitchFamily="34" charset="-128"/>
              </a:rPr>
              <a:t>WriteRegW</a:t>
            </a:r>
            <a:r>
              <a:rPr lang="en-US" altLang="en-US" sz="1600" dirty="0">
                <a:latin typeface="Consolas" panose="020B0609020204030204" pitchFamily="49" charset="0"/>
                <a:ea typeface="ＭＳ Ｐゴシック" panose="020B0600070205080204" pitchFamily="34" charset="-128"/>
              </a:rPr>
              <a:t>) AND </a:t>
            </a:r>
            <a:r>
              <a:rPr lang="en-US" altLang="en-US" sz="1600" dirty="0" err="1">
                <a:latin typeface="Consolas" panose="020B0609020204030204" pitchFamily="49" charset="0"/>
                <a:ea typeface="ＭＳ Ｐゴシック" panose="020B0600070205080204" pitchFamily="34" charset="-128"/>
              </a:rPr>
              <a:t>RegWriteW</a:t>
            </a:r>
            <a:r>
              <a:rPr lang="en-US" altLang="en-US" sz="1600" dirty="0">
                <a:latin typeface="Consolas" panose="020B0609020204030204" pitchFamily="49" charset="0"/>
                <a:ea typeface="ＭＳ Ｐゴシック" panose="020B0600070205080204" pitchFamily="34" charset="-128"/>
              </a:rPr>
              <a:t>) then     		</a:t>
            </a:r>
            <a:r>
              <a:rPr lang="en-US" altLang="en-US" sz="1600" dirty="0" err="1">
                <a:latin typeface="Consolas" panose="020B0609020204030204" pitchFamily="49" charset="0"/>
                <a:ea typeface="ＭＳ Ｐゴシック" panose="020B0600070205080204" pitchFamily="34" charset="-128"/>
              </a:rPr>
              <a:t>ForwardAE</a:t>
            </a:r>
            <a:r>
              <a:rPr lang="en-US" altLang="en-US" sz="1600" dirty="0">
                <a:latin typeface="Consolas" panose="020B0609020204030204" pitchFamily="49" charset="0"/>
                <a:ea typeface="ＭＳ Ｐゴシック" panose="020B0600070205080204" pitchFamily="34" charset="-128"/>
              </a:rPr>
              <a:t> = 01  </a:t>
            </a:r>
            <a:r>
              <a:rPr lang="en-US" altLang="en-US" sz="1600" dirty="0">
                <a:solidFill>
                  <a:srgbClr val="A03232"/>
                </a:solidFill>
                <a:latin typeface="Consolas" panose="020B0609020204030204" pitchFamily="49" charset="0"/>
                <a:ea typeface="ＭＳ Ｐゴシック" panose="020B0600070205080204" pitchFamily="34" charset="-128"/>
              </a:rPr>
              <a:t># forward from Writeback stage</a:t>
            </a:r>
            <a:br>
              <a:rPr lang="en-US" altLang="en-US" sz="1600" dirty="0">
                <a:solidFill>
                  <a:srgbClr val="A03232"/>
                </a:solidFill>
                <a:latin typeface="Consolas" panose="020B0609020204030204" pitchFamily="49" charset="0"/>
                <a:ea typeface="ＭＳ Ｐゴシック" panose="020B0600070205080204" pitchFamily="34" charset="-128"/>
              </a:rPr>
            </a:br>
            <a:r>
              <a:rPr lang="en-US" altLang="en-US" sz="1600" dirty="0">
                <a:latin typeface="Consolas" panose="020B0609020204030204" pitchFamily="49" charset="0"/>
                <a:ea typeface="ＭＳ Ｐゴシック" panose="020B0600070205080204" pitchFamily="34" charset="-128"/>
              </a:rPr>
              <a:t>else</a:t>
            </a:r>
            <a:br>
              <a:rPr lang="en-US" altLang="en-US" sz="1600" dirty="0">
                <a:latin typeface="Consolas" panose="020B0609020204030204" pitchFamily="49" charset="0"/>
                <a:ea typeface="ＭＳ Ｐゴシック" panose="020B0600070205080204" pitchFamily="34" charset="-128"/>
              </a:rPr>
            </a:br>
            <a:r>
              <a:rPr lang="en-US" altLang="en-US" sz="1600" dirty="0">
                <a:latin typeface="Consolas" panose="020B0609020204030204" pitchFamily="49" charset="0"/>
                <a:ea typeface="ＭＳ Ｐゴシック" panose="020B0600070205080204" pitchFamily="34" charset="-128"/>
              </a:rPr>
              <a:t>	</a:t>
            </a:r>
            <a:r>
              <a:rPr lang="en-US" altLang="en-US" sz="1600" dirty="0" err="1">
                <a:latin typeface="Consolas" panose="020B0609020204030204" pitchFamily="49" charset="0"/>
                <a:ea typeface="ＭＳ Ｐゴシック" panose="020B0600070205080204" pitchFamily="34" charset="-128"/>
              </a:rPr>
              <a:t>ForwardAE</a:t>
            </a:r>
            <a:r>
              <a:rPr lang="en-US" altLang="en-US" sz="1600" dirty="0">
                <a:latin typeface="Consolas" panose="020B0609020204030204" pitchFamily="49" charset="0"/>
                <a:ea typeface="ＭＳ Ｐゴシック" panose="020B0600070205080204" pitchFamily="34" charset="-128"/>
              </a:rPr>
              <a:t> = 00  </a:t>
            </a:r>
            <a:r>
              <a:rPr lang="en-US" altLang="en-US" sz="1600" dirty="0">
                <a:solidFill>
                  <a:srgbClr val="A03232"/>
                </a:solidFill>
                <a:latin typeface="Consolas" panose="020B0609020204030204" pitchFamily="49" charset="0"/>
                <a:ea typeface="ＭＳ Ｐゴシック" panose="020B0600070205080204" pitchFamily="34" charset="-128"/>
              </a:rPr>
              <a:t># no forwarding</a:t>
            </a:r>
          </a:p>
          <a:p>
            <a:pPr eaLnBrk="1" hangingPunct="1"/>
            <a:endParaRPr lang="en-US" altLang="en-US" dirty="0">
              <a:ea typeface="ＭＳ Ｐゴシック" panose="020B0600070205080204" pitchFamily="34" charset="-128"/>
            </a:endParaRPr>
          </a:p>
          <a:p>
            <a:pPr eaLnBrk="1" hangingPunct="1"/>
            <a:r>
              <a:rPr lang="en-US" altLang="en-US" dirty="0">
                <a:ea typeface="ＭＳ Ｐゴシック" panose="020B0600070205080204" pitchFamily="34" charset="-128"/>
              </a:rPr>
              <a:t>Forwarding logic for </a:t>
            </a:r>
            <a:r>
              <a:rPr lang="en-US" altLang="en-US" i="1" dirty="0" err="1">
                <a:ea typeface="ＭＳ Ｐゴシック" panose="020B0600070205080204" pitchFamily="34" charset="-128"/>
              </a:rPr>
              <a:t>ForwardBE</a:t>
            </a:r>
            <a:r>
              <a:rPr lang="en-US" altLang="en-US" dirty="0">
                <a:ea typeface="ＭＳ Ｐゴシック" panose="020B0600070205080204" pitchFamily="34" charset="-128"/>
              </a:rPr>
              <a:t> same, but replace </a:t>
            </a:r>
            <a:r>
              <a:rPr lang="en-US" altLang="en-US" i="1" dirty="0" err="1">
                <a:ea typeface="ＭＳ Ｐゴシック" panose="020B0600070205080204" pitchFamily="34" charset="-128"/>
              </a:rPr>
              <a:t>rsE</a:t>
            </a:r>
            <a:r>
              <a:rPr lang="en-US" altLang="en-US" dirty="0">
                <a:ea typeface="ＭＳ Ｐゴシック" panose="020B0600070205080204" pitchFamily="34" charset="-128"/>
              </a:rPr>
              <a:t> with </a:t>
            </a:r>
            <a:r>
              <a:rPr lang="en-US" altLang="en-US" i="1" dirty="0" err="1">
                <a:ea typeface="ＭＳ Ｐゴシック" panose="020B0600070205080204" pitchFamily="34" charset="-128"/>
              </a:rPr>
              <a:t>rtE</a:t>
            </a:r>
            <a:endParaRPr lang="en-US" altLang="en-US" dirty="0">
              <a:ea typeface="ＭＳ Ｐゴシック" panose="020B0600070205080204" pitchFamily="34" charset="-128"/>
            </a:endParaRPr>
          </a:p>
        </p:txBody>
      </p:sp>
      <p:sp>
        <p:nvSpPr>
          <p:cNvPr id="76804" name="Rectangle 4">
            <a:extLst>
              <a:ext uri="{FF2B5EF4-FFF2-40B4-BE49-F238E27FC236}">
                <a16:creationId xmlns:a16="http://schemas.microsoft.com/office/drawing/2014/main" id="{E5D0EB2B-B276-B244-8FED-64F232E91C6C}"/>
              </a:ext>
            </a:extLst>
          </p:cNvPr>
          <p:cNvSpPr>
            <a:spLocks noChangeArrowheads="1"/>
          </p:cNvSpPr>
          <p:nvPr>
            <p:custDataLst>
              <p:tags r:id="rId4"/>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76805" name="Rectangle 5">
            <a:extLst>
              <a:ext uri="{FF2B5EF4-FFF2-40B4-BE49-F238E27FC236}">
                <a16:creationId xmlns:a16="http://schemas.microsoft.com/office/drawing/2014/main" id="{BB3127B6-BEDF-5747-A692-02F7F16DF60C}"/>
              </a:ext>
            </a:extLst>
          </p:cNvPr>
          <p:cNvSpPr>
            <a:spLocks noChangeArrowheads="1"/>
          </p:cNvSpPr>
          <p:nvPr>
            <p:custDataLst>
              <p:tags r:id="rId5"/>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14815952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3">
            <a:extLst>
              <a:ext uri="{FF2B5EF4-FFF2-40B4-BE49-F238E27FC236}">
                <a16:creationId xmlns:a16="http://schemas.microsoft.com/office/drawing/2014/main" id="{922162C0-A2C6-4249-AB74-D0F0630DDF02}"/>
              </a:ext>
            </a:extLst>
          </p:cNvPr>
          <p:cNvSpPr>
            <a:spLocks noGrp="1" noChangeArrowheads="1"/>
          </p:cNvSpPr>
          <p:nvPr>
            <p:ph type="title"/>
            <p:custDataLst>
              <p:tags r:id="rId1"/>
            </p:custDataLst>
          </p:nvPr>
        </p:nvSpPr>
        <p:spPr/>
        <p:txBody>
          <a:bodyPr/>
          <a:lstStyle/>
          <a:p>
            <a:pPr eaLnBrk="1" hangingPunct="1"/>
            <a:r>
              <a:rPr lang="en-US" altLang="en-US" dirty="0">
                <a:ea typeface="ＭＳ Ｐゴシック" panose="020B0600070205080204" pitchFamily="34" charset="-128"/>
              </a:rPr>
              <a:t>Forwarding Is Not Always Possible</a:t>
            </a:r>
            <a:endParaRPr lang="en-US" altLang="en-US" dirty="0">
              <a:latin typeface="Consolas" panose="020B0609020204030204" pitchFamily="49" charset="0"/>
              <a:ea typeface="ＭＳ Ｐゴシック" panose="020B0600070205080204" pitchFamily="34" charset="-128"/>
            </a:endParaRPr>
          </a:p>
        </p:txBody>
      </p:sp>
      <p:sp>
        <p:nvSpPr>
          <p:cNvPr id="2" name="Content Placeholder 1">
            <a:extLst>
              <a:ext uri="{FF2B5EF4-FFF2-40B4-BE49-F238E27FC236}">
                <a16:creationId xmlns:a16="http://schemas.microsoft.com/office/drawing/2014/main" id="{9F7F8ADF-153D-EB4F-857C-C2A0A7581ADC}"/>
              </a:ext>
            </a:extLst>
          </p:cNvPr>
          <p:cNvSpPr>
            <a:spLocks noGrp="1"/>
          </p:cNvSpPr>
          <p:nvPr>
            <p:ph idx="4294967295"/>
          </p:nvPr>
        </p:nvSpPr>
        <p:spPr>
          <a:xfrm>
            <a:off x="273050" y="4208462"/>
            <a:ext cx="8870950" cy="2268538"/>
          </a:xfrm>
        </p:spPr>
        <p:txBody>
          <a:bodyPr/>
          <a:lstStyle/>
          <a:p>
            <a:pPr eaLnBrk="1" hangingPunct="1">
              <a:defRPr/>
            </a:pPr>
            <a:r>
              <a:rPr lang="en-US" altLang="en-US" sz="2000" dirty="0">
                <a:ea typeface="ＭＳ Ｐゴシック" panose="020B0600070205080204" pitchFamily="34" charset="-128"/>
              </a:rPr>
              <a:t>Forwarding is sufficient to resolve RAW data dependences</a:t>
            </a:r>
          </a:p>
          <a:p>
            <a:pPr eaLnBrk="1" hangingPunct="1">
              <a:defRPr/>
            </a:pPr>
            <a:r>
              <a:rPr lang="en-US" altLang="en-US" sz="2000" i="1" dirty="0">
                <a:solidFill>
                  <a:srgbClr val="C00000"/>
                </a:solidFill>
                <a:ea typeface="ＭＳ Ｐゴシック" panose="020B0600070205080204" pitchFamily="34" charset="-128"/>
              </a:rPr>
              <a:t>Unfortunately, there are cases when forwarding is </a:t>
            </a:r>
            <a:r>
              <a:rPr lang="en-US" altLang="en-US" sz="2000" b="1" i="1" dirty="0">
                <a:solidFill>
                  <a:srgbClr val="C00000"/>
                </a:solidFill>
                <a:ea typeface="ＭＳ Ｐゴシック" panose="020B0600070205080204" pitchFamily="34" charset="-128"/>
              </a:rPr>
              <a:t>not possible </a:t>
            </a:r>
          </a:p>
          <a:p>
            <a:pPr lvl="1" eaLnBrk="1" hangingPunct="1">
              <a:defRPr/>
            </a:pPr>
            <a:r>
              <a:rPr lang="en-US" altLang="en-US" sz="1800" i="1" dirty="0">
                <a:solidFill>
                  <a:srgbClr val="C00000"/>
                </a:solidFill>
                <a:ea typeface="ＭＳ Ｐゴシック" panose="020B0600070205080204" pitchFamily="34" charset="-128"/>
              </a:rPr>
              <a:t>Due to pipeline design and instruction latencies</a:t>
            </a:r>
            <a:endParaRPr lang="en-US" altLang="en-US" sz="1800" dirty="0">
              <a:solidFill>
                <a:srgbClr val="C00000"/>
              </a:solidFill>
              <a:ea typeface="+mn-ea"/>
            </a:endParaRPr>
          </a:p>
          <a:p>
            <a:pPr lvl="1" eaLnBrk="1" hangingPunct="1">
              <a:defRPr/>
            </a:pPr>
            <a:r>
              <a:rPr lang="en-US" sz="1800" dirty="0">
                <a:ea typeface="+mn-ea"/>
              </a:rPr>
              <a:t>The </a:t>
            </a:r>
            <a:r>
              <a:rPr lang="en-US" sz="1800" dirty="0" err="1">
                <a:latin typeface="Consolas" pitchFamily="49" charset="0"/>
                <a:ea typeface="+mn-ea"/>
                <a:cs typeface="Consolas" pitchFamily="49" charset="0"/>
              </a:rPr>
              <a:t>lw</a:t>
            </a:r>
            <a:r>
              <a:rPr lang="en-US" sz="1800" dirty="0">
                <a:ea typeface="+mn-ea"/>
              </a:rPr>
              <a:t> instruction </a:t>
            </a:r>
            <a:r>
              <a:rPr lang="en-US" sz="1800" i="1" dirty="0">
                <a:solidFill>
                  <a:srgbClr val="C00000"/>
                </a:solidFill>
                <a:ea typeface="+mn-ea"/>
              </a:rPr>
              <a:t>does not finish </a:t>
            </a:r>
            <a:r>
              <a:rPr lang="en-US" sz="1800" dirty="0">
                <a:ea typeface="+mn-ea"/>
              </a:rPr>
              <a:t>reading data until the end of the Memory stage</a:t>
            </a:r>
          </a:p>
          <a:p>
            <a:pPr marL="344487" lvl="1" indent="0" eaLnBrk="1" hangingPunct="1">
              <a:buNone/>
              <a:defRPr/>
            </a:pPr>
            <a:r>
              <a:rPr lang="en-US" sz="1800" dirty="0">
                <a:ea typeface="+mn-ea"/>
              </a:rPr>
              <a:t>     </a:t>
            </a:r>
            <a:r>
              <a:rPr lang="en-US" sz="1800" dirty="0">
                <a:ea typeface="+mn-ea"/>
                <a:sym typeface="Wingdings" pitchFamily="2" charset="2"/>
              </a:rPr>
              <a:t> </a:t>
            </a:r>
            <a:r>
              <a:rPr lang="en-US" sz="1800" dirty="0">
                <a:ea typeface="+mn-ea"/>
              </a:rPr>
              <a:t>its result </a:t>
            </a:r>
            <a:r>
              <a:rPr lang="en-US" sz="1800" i="1" dirty="0">
                <a:solidFill>
                  <a:srgbClr val="C00000"/>
                </a:solidFill>
                <a:ea typeface="+mn-ea"/>
              </a:rPr>
              <a:t>cannot be forwarded </a:t>
            </a:r>
            <a:r>
              <a:rPr lang="en-US" sz="1800" dirty="0">
                <a:ea typeface="+mn-ea"/>
              </a:rPr>
              <a:t>to the Execute stage of the next instruction </a:t>
            </a:r>
          </a:p>
        </p:txBody>
      </p:sp>
      <p:sp>
        <p:nvSpPr>
          <p:cNvPr id="78851" name="Rectangle 2">
            <a:extLst>
              <a:ext uri="{FF2B5EF4-FFF2-40B4-BE49-F238E27FC236}">
                <a16:creationId xmlns:a16="http://schemas.microsoft.com/office/drawing/2014/main" id="{F0A7EFC3-77C5-5D41-A772-17916EE19D3B}"/>
              </a:ext>
            </a:extLst>
          </p:cNvPr>
          <p:cNvSpPr>
            <a:spLocks noChangeArrowheads="1"/>
          </p:cNvSpPr>
          <p:nvPr>
            <p:custDataLst>
              <p:tags r:id="rId2"/>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78852" name="Rectangle 4">
            <a:extLst>
              <a:ext uri="{FF2B5EF4-FFF2-40B4-BE49-F238E27FC236}">
                <a16:creationId xmlns:a16="http://schemas.microsoft.com/office/drawing/2014/main" id="{7ED67039-67FE-FE49-9584-6A1CCB3F8E23}"/>
              </a:ext>
            </a:extLst>
          </p:cNvPr>
          <p:cNvSpPr>
            <a:spLocks noChangeArrowheads="1"/>
          </p:cNvSpPr>
          <p:nvPr>
            <p:custDataLst>
              <p:tags r:id="rId3"/>
            </p:custDataLst>
          </p:nvPr>
        </p:nvSpPr>
        <p:spPr bwMode="auto">
          <a:xfrm>
            <a:off x="0" y="123031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78853" name="Rectangle 5">
            <a:extLst>
              <a:ext uri="{FF2B5EF4-FFF2-40B4-BE49-F238E27FC236}">
                <a16:creationId xmlns:a16="http://schemas.microsoft.com/office/drawing/2014/main" id="{7D07E4A5-8457-1847-B462-36263040EEB3}"/>
              </a:ext>
            </a:extLst>
          </p:cNvPr>
          <p:cNvSpPr>
            <a:spLocks noChangeArrowheads="1"/>
          </p:cNvSpPr>
          <p:nvPr>
            <p:custDataLst>
              <p:tags r:id="rId4"/>
            </p:custDataLst>
          </p:nvPr>
        </p:nvSpPr>
        <p:spPr bwMode="auto">
          <a:xfrm>
            <a:off x="0" y="673100"/>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78854" name="Rectangle 6">
            <a:extLst>
              <a:ext uri="{FF2B5EF4-FFF2-40B4-BE49-F238E27FC236}">
                <a16:creationId xmlns:a16="http://schemas.microsoft.com/office/drawing/2014/main" id="{828968CD-C557-3044-B781-378C849EA4C3}"/>
              </a:ext>
            </a:extLst>
          </p:cNvPr>
          <p:cNvSpPr>
            <a:spLocks noChangeArrowheads="1"/>
          </p:cNvSpPr>
          <p:nvPr>
            <p:custDataLst>
              <p:tags r:id="rId5"/>
            </p:custDataLst>
          </p:nvPr>
        </p:nvSpPr>
        <p:spPr bwMode="auto">
          <a:xfrm>
            <a:off x="0" y="4160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altLang="en-US" sz="24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graphicFrame>
        <p:nvGraphicFramePr>
          <p:cNvPr id="78855" name="Object 2">
            <a:extLst>
              <a:ext uri="{FF2B5EF4-FFF2-40B4-BE49-F238E27FC236}">
                <a16:creationId xmlns:a16="http://schemas.microsoft.com/office/drawing/2014/main" id="{A521138E-7AC6-F14C-B108-7B572D1FAFED}"/>
              </a:ext>
            </a:extLst>
          </p:cNvPr>
          <p:cNvGraphicFramePr>
            <a:graphicFrameLocks noChangeAspect="1"/>
          </p:cNvGraphicFramePr>
          <p:nvPr>
            <p:custDataLst>
              <p:tags r:id="rId6"/>
            </p:custDataLst>
          </p:nvPr>
        </p:nvGraphicFramePr>
        <p:xfrm>
          <a:off x="165100" y="857250"/>
          <a:ext cx="8607425" cy="3044825"/>
        </p:xfrm>
        <a:graphic>
          <a:graphicData uri="http://schemas.openxmlformats.org/presentationml/2006/ole">
            <mc:AlternateContent xmlns:mc="http://schemas.openxmlformats.org/markup-compatibility/2006">
              <mc:Choice xmlns:v="urn:schemas-microsoft-com:vml" Requires="v">
                <p:oleObj name="VISIO" r:id="rId9" imgW="29692600" imgH="10502900" progId="Visio.Drawing.6">
                  <p:embed/>
                </p:oleObj>
              </mc:Choice>
              <mc:Fallback>
                <p:oleObj name="VISIO" r:id="rId9" imgW="29692600" imgH="10502900" progId="Visio.Drawing.6">
                  <p:embed/>
                  <p:pic>
                    <p:nvPicPr>
                      <p:cNvPr id="78855" name="Object 2">
                        <a:extLst>
                          <a:ext uri="{FF2B5EF4-FFF2-40B4-BE49-F238E27FC236}">
                            <a16:creationId xmlns:a16="http://schemas.microsoft.com/office/drawing/2014/main" id="{A521138E-7AC6-F14C-B108-7B572D1FAFE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100" y="857250"/>
                        <a:ext cx="8607425" cy="304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5605968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3733800"/>
            <a:ext cx="6375009" cy="1989405"/>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0"/>
            <a:ext cx="6375009" cy="23622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87471718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331A1B87-C44D-4042-9185-12795DA08388}"/>
              </a:ext>
            </a:extLst>
          </p:cNvPr>
          <p:cNvSpPr>
            <a:spLocks noGrp="1" noChangeArrowheads="1"/>
          </p:cNvSpPr>
          <p:nvPr>
            <p:ph type="title"/>
          </p:nvPr>
        </p:nvSpPr>
        <p:spPr/>
        <p:txBody>
          <a:bodyPr/>
          <a:lstStyle/>
          <a:p>
            <a:r>
              <a:rPr lang="en-US" altLang="en-US" dirty="0">
                <a:ea typeface="ＭＳ Ｐゴシック" panose="020B0600070205080204" pitchFamily="34" charset="-128"/>
              </a:rPr>
              <a:t>Control Dependence</a:t>
            </a:r>
          </a:p>
        </p:txBody>
      </p:sp>
      <p:sp>
        <p:nvSpPr>
          <p:cNvPr id="98306" name="Content Placeholder 2">
            <a:extLst>
              <a:ext uri="{FF2B5EF4-FFF2-40B4-BE49-F238E27FC236}">
                <a16:creationId xmlns:a16="http://schemas.microsoft.com/office/drawing/2014/main" id="{5D7BE985-F40A-7643-82BB-6EE9AEEC9864}"/>
              </a:ext>
            </a:extLst>
          </p:cNvPr>
          <p:cNvSpPr>
            <a:spLocks noGrp="1" noChangeArrowheads="1"/>
          </p:cNvSpPr>
          <p:nvPr>
            <p:ph idx="1"/>
          </p:nvPr>
        </p:nvSpPr>
        <p:spPr>
          <a:xfrm>
            <a:off x="228600" y="996950"/>
            <a:ext cx="8915400" cy="5194300"/>
          </a:xfrm>
        </p:spPr>
        <p:txBody>
          <a:bodyPr/>
          <a:lstStyle/>
          <a:p>
            <a:r>
              <a:rPr lang="en-US" altLang="en-US" dirty="0">
                <a:ea typeface="ＭＳ Ｐゴシック" panose="020B0600070205080204" pitchFamily="34" charset="-128"/>
              </a:rPr>
              <a:t>Control dependence</a:t>
            </a:r>
          </a:p>
          <a:p>
            <a:pPr lvl="1"/>
            <a:r>
              <a:rPr lang="en-US" altLang="en-US" dirty="0">
                <a:ea typeface="ＭＳ Ｐゴシック" panose="020B0600070205080204" pitchFamily="34" charset="-128"/>
              </a:rPr>
              <a:t>Data dependence on the Instruction Pointer / Program Counter</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98307" name="Slide Number Placeholder 3">
            <a:extLst>
              <a:ext uri="{FF2B5EF4-FFF2-40B4-BE49-F238E27FC236}">
                <a16:creationId xmlns:a16="http://schemas.microsoft.com/office/drawing/2014/main" id="{06424393-E35B-ED4B-B758-F80C6F5D048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BBDC78-974B-334C-8F7A-3DF2D6BF4DA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69091772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4114800"/>
            <a:ext cx="6375009" cy="1608405"/>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0"/>
            <a:ext cx="6375009" cy="26670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46795487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6B6BA85-D1AC-4E13-A5FE-10A346B86D20}"/>
              </a:ext>
            </a:extLst>
          </p:cNvPr>
          <p:cNvPicPr>
            <a:picLocks noChangeAspect="1"/>
          </p:cNvPicPr>
          <p:nvPr/>
        </p:nvPicPr>
        <p:blipFill>
          <a:blip r:embed="rId2"/>
          <a:stretch>
            <a:fillRect/>
          </a:stretch>
        </p:blipFill>
        <p:spPr>
          <a:xfrm>
            <a:off x="-13138" y="908019"/>
            <a:ext cx="9144000" cy="5238364"/>
          </a:xfrm>
          <a:prstGeom prst="rect">
            <a:avLst/>
          </a:prstGeom>
        </p:spPr>
      </p:pic>
      <p:sp>
        <p:nvSpPr>
          <p:cNvPr id="114690" name="Title 1"/>
          <p:cNvSpPr>
            <a:spLocks noGrp="1"/>
          </p:cNvSpPr>
          <p:nvPr>
            <p:ph type="title"/>
          </p:nvPr>
        </p:nvSpPr>
        <p:spPr>
          <a:xfrm>
            <a:off x="266700" y="160338"/>
            <a:ext cx="8610600" cy="1066800"/>
          </a:xfrm>
        </p:spPr>
        <p:txBody>
          <a:bodyPr/>
          <a:lstStyle/>
          <a:p>
            <a:r>
              <a:rPr lang="en-US" altLang="en-US" b="1" dirty="0">
                <a:ea typeface="ＭＳ Ｐゴシック" panose="020B0600070205080204" pitchFamily="34" charset="-128"/>
              </a:rPr>
              <a:t>Where Are We?</a:t>
            </a:r>
            <a:endParaRPr lang="en-US" dirty="0">
              <a:latin typeface="Calibri" charset="0"/>
            </a:endParaRPr>
          </a:p>
        </p:txBody>
      </p:sp>
      <p:sp>
        <p:nvSpPr>
          <p:cNvPr id="25" name="Rectangle 36">
            <a:extLst>
              <a:ext uri="{FF2B5EF4-FFF2-40B4-BE49-F238E27FC236}">
                <a16:creationId xmlns:a16="http://schemas.microsoft.com/office/drawing/2014/main" id="{D52CF9DD-1D75-45C2-B78B-BAA6C1EA56E9}"/>
              </a:ext>
            </a:extLst>
          </p:cNvPr>
          <p:cNvSpPr/>
          <p:nvPr/>
        </p:nvSpPr>
        <p:spPr>
          <a:xfrm flipV="1">
            <a:off x="3352800" y="3733800"/>
            <a:ext cx="1295400" cy="6858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3027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Title 1">
            <a:extLst>
              <a:ext uri="{FF2B5EF4-FFF2-40B4-BE49-F238E27FC236}">
                <a16:creationId xmlns:a16="http://schemas.microsoft.com/office/drawing/2014/main" id="{C2F45893-AE03-DC4E-AE2E-84EA312407E4}"/>
              </a:ext>
            </a:extLst>
          </p:cNvPr>
          <p:cNvSpPr>
            <a:spLocks noGrp="1" noChangeArrowheads="1"/>
          </p:cNvSpPr>
          <p:nvPr>
            <p:ph type="title"/>
          </p:nvPr>
        </p:nvSpPr>
        <p:spPr>
          <a:xfrm>
            <a:off x="228600" y="152400"/>
            <a:ext cx="8915400" cy="1066800"/>
          </a:xfrm>
        </p:spPr>
        <p:txBody>
          <a:bodyPr/>
          <a:lstStyle/>
          <a:p>
            <a:r>
              <a:rPr lang="en-US" altLang="en-US" dirty="0">
                <a:ea typeface="ＭＳ Ｐゴシック" panose="020B0600070205080204" pitchFamily="34" charset="-128"/>
              </a:rPr>
              <a:t>Review: Single-Cycle MIPS FSM</a:t>
            </a:r>
          </a:p>
        </p:txBody>
      </p:sp>
      <p:sp>
        <p:nvSpPr>
          <p:cNvPr id="214018" name="Content Placeholder 2">
            <a:extLst>
              <a:ext uri="{FF2B5EF4-FFF2-40B4-BE49-F238E27FC236}">
                <a16:creationId xmlns:a16="http://schemas.microsoft.com/office/drawing/2014/main" id="{94861D12-17E4-5941-BA53-DB5E2AB678E7}"/>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Single-cycle machine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214019" name="Slide Number Placeholder 3">
            <a:extLst>
              <a:ext uri="{FF2B5EF4-FFF2-40B4-BE49-F238E27FC236}">
                <a16:creationId xmlns:a16="http://schemas.microsoft.com/office/drawing/2014/main" id="{BF07A78C-40FA-1D41-AF32-5AD8773C37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20148CD-51E5-444E-A121-3D7830742D0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214020" name="Line 5">
            <a:extLst>
              <a:ext uri="{FF2B5EF4-FFF2-40B4-BE49-F238E27FC236}">
                <a16:creationId xmlns:a16="http://schemas.microsoft.com/office/drawing/2014/main" id="{61A82C18-F9C1-7143-AB67-EB9D8EAEB62B}"/>
              </a:ext>
            </a:extLst>
          </p:cNvPr>
          <p:cNvSpPr>
            <a:spLocks noChangeShapeType="1"/>
          </p:cNvSpPr>
          <p:nvPr/>
        </p:nvSpPr>
        <p:spPr bwMode="auto">
          <a:xfrm>
            <a:off x="4562475" y="3124200"/>
            <a:ext cx="838200" cy="0"/>
          </a:xfrm>
          <a:prstGeom prst="line">
            <a:avLst/>
          </a:prstGeom>
          <a:noFill/>
          <a:ln w="50800">
            <a:solidFill>
              <a:schemeClr val="accent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4021" name="Group 7">
            <a:extLst>
              <a:ext uri="{FF2B5EF4-FFF2-40B4-BE49-F238E27FC236}">
                <a16:creationId xmlns:a16="http://schemas.microsoft.com/office/drawing/2014/main" id="{C0B0E36F-025B-7444-90D9-ECB92FDBB93A}"/>
              </a:ext>
            </a:extLst>
          </p:cNvPr>
          <p:cNvGrpSpPr>
            <a:grpSpLocks/>
          </p:cNvGrpSpPr>
          <p:nvPr/>
        </p:nvGrpSpPr>
        <p:grpSpPr bwMode="auto">
          <a:xfrm>
            <a:off x="1971675" y="2133600"/>
            <a:ext cx="2662238" cy="2043113"/>
            <a:chOff x="2790" y="1015"/>
            <a:chExt cx="1677" cy="1287"/>
          </a:xfrm>
        </p:grpSpPr>
        <p:sp>
          <p:nvSpPr>
            <p:cNvPr id="214028" name="Oval 8">
              <a:extLst>
                <a:ext uri="{FF2B5EF4-FFF2-40B4-BE49-F238E27FC236}">
                  <a16:creationId xmlns:a16="http://schemas.microsoft.com/office/drawing/2014/main" id="{E686A081-8FFE-F746-AF61-E8814F7DACB6}"/>
                </a:ext>
              </a:extLst>
            </p:cNvPr>
            <p:cNvSpPr>
              <a:spLocks noChangeArrowheads="1"/>
            </p:cNvSpPr>
            <p:nvPr/>
          </p:nvSpPr>
          <p:spPr bwMode="auto">
            <a:xfrm>
              <a:off x="2790" y="1128"/>
              <a:ext cx="497" cy="498"/>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29" name="Oval 9">
              <a:extLst>
                <a:ext uri="{FF2B5EF4-FFF2-40B4-BE49-F238E27FC236}">
                  <a16:creationId xmlns:a16="http://schemas.microsoft.com/office/drawing/2014/main" id="{42E98383-A8A2-7A48-8BF1-DBB07B01F454}"/>
                </a:ext>
              </a:extLst>
            </p:cNvPr>
            <p:cNvSpPr>
              <a:spLocks noChangeArrowheads="1"/>
            </p:cNvSpPr>
            <p:nvPr/>
          </p:nvSpPr>
          <p:spPr bwMode="auto">
            <a:xfrm>
              <a:off x="2958" y="1241"/>
              <a:ext cx="947" cy="94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0" name="Freeform 10">
              <a:extLst>
                <a:ext uri="{FF2B5EF4-FFF2-40B4-BE49-F238E27FC236}">
                  <a16:creationId xmlns:a16="http://schemas.microsoft.com/office/drawing/2014/main" id="{BBDFC612-5843-BE4A-8E89-5269E820D2E7}"/>
                </a:ext>
              </a:extLst>
            </p:cNvPr>
            <p:cNvSpPr>
              <a:spLocks/>
            </p:cNvSpPr>
            <p:nvPr/>
          </p:nvSpPr>
          <p:spPr bwMode="auto">
            <a:xfrm>
              <a:off x="2925" y="1351"/>
              <a:ext cx="197" cy="254"/>
            </a:xfrm>
            <a:custGeom>
              <a:avLst/>
              <a:gdLst>
                <a:gd name="T0" fmla="*/ 168 w 197"/>
                <a:gd name="T1" fmla="*/ 0 h 254"/>
                <a:gd name="T2" fmla="*/ 0 w 197"/>
                <a:gd name="T3" fmla="*/ 221 h 254"/>
                <a:gd name="T4" fmla="*/ 83 w 197"/>
                <a:gd name="T5" fmla="*/ 253 h 254"/>
                <a:gd name="T6" fmla="*/ 196 w 197"/>
                <a:gd name="T7" fmla="*/ 22 h 254"/>
                <a:gd name="T8" fmla="*/ 168 w 197"/>
                <a:gd name="T9" fmla="*/ 0 h 254"/>
                <a:gd name="T10" fmla="*/ 0 60000 65536"/>
                <a:gd name="T11" fmla="*/ 0 60000 65536"/>
                <a:gd name="T12" fmla="*/ 0 60000 65536"/>
                <a:gd name="T13" fmla="*/ 0 60000 65536"/>
                <a:gd name="T14" fmla="*/ 0 60000 65536"/>
                <a:gd name="T15" fmla="*/ 0 w 197"/>
                <a:gd name="T16" fmla="*/ 0 h 254"/>
                <a:gd name="T17" fmla="*/ 197 w 197"/>
                <a:gd name="T18" fmla="*/ 254 h 254"/>
              </a:gdLst>
              <a:ahLst/>
              <a:cxnLst>
                <a:cxn ang="T10">
                  <a:pos x="T0" y="T1"/>
                </a:cxn>
                <a:cxn ang="T11">
                  <a:pos x="T2" y="T3"/>
                </a:cxn>
                <a:cxn ang="T12">
                  <a:pos x="T4" y="T5"/>
                </a:cxn>
                <a:cxn ang="T13">
                  <a:pos x="T6" y="T7"/>
                </a:cxn>
                <a:cxn ang="T14">
                  <a:pos x="T8" y="T9"/>
                </a:cxn>
              </a:cxnLst>
              <a:rect l="T15" t="T16" r="T17" b="T18"/>
              <a:pathLst>
                <a:path w="197" h="254">
                  <a:moveTo>
                    <a:pt x="168" y="0"/>
                  </a:moveTo>
                  <a:lnTo>
                    <a:pt x="0" y="221"/>
                  </a:lnTo>
                  <a:lnTo>
                    <a:pt x="83" y="253"/>
                  </a:lnTo>
                  <a:lnTo>
                    <a:pt x="196" y="22"/>
                  </a:lnTo>
                  <a:lnTo>
                    <a:pt x="168"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4031" name="Oval 11">
              <a:extLst>
                <a:ext uri="{FF2B5EF4-FFF2-40B4-BE49-F238E27FC236}">
                  <a16:creationId xmlns:a16="http://schemas.microsoft.com/office/drawing/2014/main" id="{467797B1-5E02-9542-B718-F21A2F9638BF}"/>
                </a:ext>
              </a:extLst>
            </p:cNvPr>
            <p:cNvSpPr>
              <a:spLocks noChangeArrowheads="1"/>
            </p:cNvSpPr>
            <p:nvPr/>
          </p:nvSpPr>
          <p:spPr bwMode="auto">
            <a:xfrm>
              <a:off x="3295" y="1353"/>
              <a:ext cx="947" cy="94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2" name="Oval 12">
              <a:extLst>
                <a:ext uri="{FF2B5EF4-FFF2-40B4-BE49-F238E27FC236}">
                  <a16:creationId xmlns:a16="http://schemas.microsoft.com/office/drawing/2014/main" id="{C3AF50C2-9A1B-914A-B81B-3A69CF7F4458}"/>
                </a:ext>
              </a:extLst>
            </p:cNvPr>
            <p:cNvSpPr>
              <a:spLocks noChangeArrowheads="1"/>
            </p:cNvSpPr>
            <p:nvPr/>
          </p:nvSpPr>
          <p:spPr bwMode="auto">
            <a:xfrm>
              <a:off x="4138" y="1522"/>
              <a:ext cx="329" cy="330"/>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3" name="Oval 13">
              <a:extLst>
                <a:ext uri="{FF2B5EF4-FFF2-40B4-BE49-F238E27FC236}">
                  <a16:creationId xmlns:a16="http://schemas.microsoft.com/office/drawing/2014/main" id="{F8F3B9DE-B111-E044-A537-022EA6F0F35C}"/>
                </a:ext>
              </a:extLst>
            </p:cNvPr>
            <p:cNvSpPr>
              <a:spLocks noChangeArrowheads="1"/>
            </p:cNvSpPr>
            <p:nvPr/>
          </p:nvSpPr>
          <p:spPr bwMode="auto">
            <a:xfrm>
              <a:off x="4026" y="2028"/>
              <a:ext cx="216" cy="218"/>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4" name="Oval 14">
              <a:extLst>
                <a:ext uri="{FF2B5EF4-FFF2-40B4-BE49-F238E27FC236}">
                  <a16:creationId xmlns:a16="http://schemas.microsoft.com/office/drawing/2014/main" id="{15F79E66-7CC9-E947-B73A-CF35BF3C32F5}"/>
                </a:ext>
              </a:extLst>
            </p:cNvPr>
            <p:cNvSpPr>
              <a:spLocks noChangeArrowheads="1"/>
            </p:cNvSpPr>
            <p:nvPr/>
          </p:nvSpPr>
          <p:spPr bwMode="auto">
            <a:xfrm>
              <a:off x="4026" y="1410"/>
              <a:ext cx="216" cy="216"/>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5" name="Oval 15">
              <a:extLst>
                <a:ext uri="{FF2B5EF4-FFF2-40B4-BE49-F238E27FC236}">
                  <a16:creationId xmlns:a16="http://schemas.microsoft.com/office/drawing/2014/main" id="{434675A1-521A-684E-8927-F2FF297DC598}"/>
                </a:ext>
              </a:extLst>
            </p:cNvPr>
            <p:cNvSpPr>
              <a:spLocks noChangeArrowheads="1"/>
            </p:cNvSpPr>
            <p:nvPr/>
          </p:nvSpPr>
          <p:spPr bwMode="auto">
            <a:xfrm>
              <a:off x="4082" y="1747"/>
              <a:ext cx="329" cy="32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6" name="Oval 16">
              <a:extLst>
                <a:ext uri="{FF2B5EF4-FFF2-40B4-BE49-F238E27FC236}">
                  <a16:creationId xmlns:a16="http://schemas.microsoft.com/office/drawing/2014/main" id="{10DF1474-BAA3-054F-B3EC-CD0BE9D2FC17}"/>
                </a:ext>
              </a:extLst>
            </p:cNvPr>
            <p:cNvSpPr>
              <a:spLocks noChangeArrowheads="1"/>
            </p:cNvSpPr>
            <p:nvPr/>
          </p:nvSpPr>
          <p:spPr bwMode="auto">
            <a:xfrm>
              <a:off x="3071" y="1015"/>
              <a:ext cx="497" cy="49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7" name="Oval 17">
              <a:extLst>
                <a:ext uri="{FF2B5EF4-FFF2-40B4-BE49-F238E27FC236}">
                  <a16:creationId xmlns:a16="http://schemas.microsoft.com/office/drawing/2014/main" id="{74341B8A-F1BA-3141-8143-42DCD8FD183A}"/>
                </a:ext>
              </a:extLst>
            </p:cNvPr>
            <p:cNvSpPr>
              <a:spLocks noChangeArrowheads="1"/>
            </p:cNvSpPr>
            <p:nvPr/>
          </p:nvSpPr>
          <p:spPr bwMode="auto">
            <a:xfrm>
              <a:off x="3576" y="1128"/>
              <a:ext cx="498" cy="498"/>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8" name="Oval 18">
              <a:extLst>
                <a:ext uri="{FF2B5EF4-FFF2-40B4-BE49-F238E27FC236}">
                  <a16:creationId xmlns:a16="http://schemas.microsoft.com/office/drawing/2014/main" id="{FAB32430-AE21-4648-8EDB-DB3FE67F5A33}"/>
                </a:ext>
              </a:extLst>
            </p:cNvPr>
            <p:cNvSpPr>
              <a:spLocks noChangeArrowheads="1"/>
            </p:cNvSpPr>
            <p:nvPr/>
          </p:nvSpPr>
          <p:spPr bwMode="auto">
            <a:xfrm>
              <a:off x="3351" y="1015"/>
              <a:ext cx="498" cy="49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39" name="Oval 19">
              <a:extLst>
                <a:ext uri="{FF2B5EF4-FFF2-40B4-BE49-F238E27FC236}">
                  <a16:creationId xmlns:a16="http://schemas.microsoft.com/office/drawing/2014/main" id="{823A4306-DDD8-804D-B730-C9F76896D5CE}"/>
                </a:ext>
              </a:extLst>
            </p:cNvPr>
            <p:cNvSpPr>
              <a:spLocks noChangeArrowheads="1"/>
            </p:cNvSpPr>
            <p:nvPr/>
          </p:nvSpPr>
          <p:spPr bwMode="auto">
            <a:xfrm>
              <a:off x="3183" y="1634"/>
              <a:ext cx="497" cy="499"/>
            </a:xfrm>
            <a:prstGeom prst="ellipse">
              <a:avLst/>
            </a:prstGeom>
            <a:solidFill>
              <a:srgbClr val="FFFFFF"/>
            </a:solidFill>
            <a:ln w="25400">
              <a:solidFill>
                <a:schemeClr val="accent2"/>
              </a:solidFill>
              <a:round/>
              <a:headEnd/>
              <a:tailEnd/>
            </a:ln>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40" name="Freeform 20">
              <a:extLst>
                <a:ext uri="{FF2B5EF4-FFF2-40B4-BE49-F238E27FC236}">
                  <a16:creationId xmlns:a16="http://schemas.microsoft.com/office/drawing/2014/main" id="{B1A5CCDE-0E09-784B-B723-5318D07BA0F7}"/>
                </a:ext>
              </a:extLst>
            </p:cNvPr>
            <p:cNvSpPr>
              <a:spLocks/>
            </p:cNvSpPr>
            <p:nvPr/>
          </p:nvSpPr>
          <p:spPr bwMode="auto">
            <a:xfrm>
              <a:off x="3077" y="1100"/>
              <a:ext cx="1253" cy="1080"/>
            </a:xfrm>
            <a:custGeom>
              <a:avLst/>
              <a:gdLst>
                <a:gd name="T0" fmla="*/ 295 w 1253"/>
                <a:gd name="T1" fmla="*/ 0 h 1080"/>
                <a:gd name="T2" fmla="*/ 522 w 1253"/>
                <a:gd name="T3" fmla="*/ 134 h 1080"/>
                <a:gd name="T4" fmla="*/ 796 w 1253"/>
                <a:gd name="T5" fmla="*/ 99 h 1080"/>
                <a:gd name="T6" fmla="*/ 971 w 1253"/>
                <a:gd name="T7" fmla="*/ 359 h 1080"/>
                <a:gd name="T8" fmla="*/ 1017 w 1253"/>
                <a:gd name="T9" fmla="*/ 379 h 1080"/>
                <a:gd name="T10" fmla="*/ 1139 w 1253"/>
                <a:gd name="T11" fmla="*/ 461 h 1080"/>
                <a:gd name="T12" fmla="*/ 1171 w 1253"/>
                <a:gd name="T13" fmla="*/ 527 h 1080"/>
                <a:gd name="T14" fmla="*/ 1252 w 1253"/>
                <a:gd name="T15" fmla="*/ 647 h 1080"/>
                <a:gd name="T16" fmla="*/ 1238 w 1253"/>
                <a:gd name="T17" fmla="*/ 685 h 1080"/>
                <a:gd name="T18" fmla="*/ 1048 w 1253"/>
                <a:gd name="T19" fmla="*/ 1037 h 1080"/>
                <a:gd name="T20" fmla="*/ 915 w 1253"/>
                <a:gd name="T21" fmla="*/ 1079 h 1080"/>
                <a:gd name="T22" fmla="*/ 480 w 1253"/>
                <a:gd name="T23" fmla="*/ 1040 h 1080"/>
                <a:gd name="T24" fmla="*/ 448 w 1253"/>
                <a:gd name="T25" fmla="*/ 984 h 1080"/>
                <a:gd name="T26" fmla="*/ 161 w 1253"/>
                <a:gd name="T27" fmla="*/ 920 h 1080"/>
                <a:gd name="T28" fmla="*/ 108 w 1253"/>
                <a:gd name="T29" fmla="*/ 945 h 1080"/>
                <a:gd name="T30" fmla="*/ 0 w 1253"/>
                <a:gd name="T31" fmla="*/ 365 h 1080"/>
                <a:gd name="T32" fmla="*/ 295 w 1253"/>
                <a:gd name="T33" fmla="*/ 0 h 10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53"/>
                <a:gd name="T52" fmla="*/ 0 h 1080"/>
                <a:gd name="T53" fmla="*/ 1253 w 1253"/>
                <a:gd name="T54" fmla="*/ 1080 h 10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53" h="1080">
                  <a:moveTo>
                    <a:pt x="295" y="0"/>
                  </a:moveTo>
                  <a:lnTo>
                    <a:pt x="522" y="134"/>
                  </a:lnTo>
                  <a:lnTo>
                    <a:pt x="796" y="99"/>
                  </a:lnTo>
                  <a:lnTo>
                    <a:pt x="971" y="359"/>
                  </a:lnTo>
                  <a:lnTo>
                    <a:pt x="1017" y="379"/>
                  </a:lnTo>
                  <a:lnTo>
                    <a:pt x="1139" y="461"/>
                  </a:lnTo>
                  <a:lnTo>
                    <a:pt x="1171" y="527"/>
                  </a:lnTo>
                  <a:lnTo>
                    <a:pt x="1252" y="647"/>
                  </a:lnTo>
                  <a:lnTo>
                    <a:pt x="1238" y="685"/>
                  </a:lnTo>
                  <a:lnTo>
                    <a:pt x="1048" y="1037"/>
                  </a:lnTo>
                  <a:lnTo>
                    <a:pt x="915" y="1079"/>
                  </a:lnTo>
                  <a:lnTo>
                    <a:pt x="480" y="1040"/>
                  </a:lnTo>
                  <a:lnTo>
                    <a:pt x="448" y="984"/>
                  </a:lnTo>
                  <a:lnTo>
                    <a:pt x="161" y="920"/>
                  </a:lnTo>
                  <a:lnTo>
                    <a:pt x="108" y="945"/>
                  </a:lnTo>
                  <a:lnTo>
                    <a:pt x="0" y="365"/>
                  </a:lnTo>
                  <a:lnTo>
                    <a:pt x="295" y="0"/>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14022" name="Rectangle 24">
            <a:extLst>
              <a:ext uri="{FF2B5EF4-FFF2-40B4-BE49-F238E27FC236}">
                <a16:creationId xmlns:a16="http://schemas.microsoft.com/office/drawing/2014/main" id="{90E5A22D-213C-C849-90D7-D70F0DA60B20}"/>
              </a:ext>
            </a:extLst>
          </p:cNvPr>
          <p:cNvSpPr>
            <a:spLocks noChangeArrowheads="1"/>
          </p:cNvSpPr>
          <p:nvPr/>
        </p:nvSpPr>
        <p:spPr bwMode="auto">
          <a:xfrm>
            <a:off x="7116763" y="2514600"/>
            <a:ext cx="600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AS</a:t>
            </a:r>
          </a:p>
        </p:txBody>
      </p:sp>
      <p:sp>
        <p:nvSpPr>
          <p:cNvPr id="214023" name="Freeform 39">
            <a:extLst>
              <a:ext uri="{FF2B5EF4-FFF2-40B4-BE49-F238E27FC236}">
                <a16:creationId xmlns:a16="http://schemas.microsoft.com/office/drawing/2014/main" id="{A251552D-651D-524D-9CF8-CAA855299352}"/>
              </a:ext>
            </a:extLst>
          </p:cNvPr>
          <p:cNvSpPr>
            <a:spLocks/>
          </p:cNvSpPr>
          <p:nvPr/>
        </p:nvSpPr>
        <p:spPr bwMode="auto">
          <a:xfrm>
            <a:off x="1285875" y="3048000"/>
            <a:ext cx="6019800" cy="1600200"/>
          </a:xfrm>
          <a:custGeom>
            <a:avLst/>
            <a:gdLst>
              <a:gd name="T0" fmla="*/ 2147483646 w 3792"/>
              <a:gd name="T1" fmla="*/ 0 h 1008"/>
              <a:gd name="T2" fmla="*/ 2147483646 w 3792"/>
              <a:gd name="T3" fmla="*/ 0 h 1008"/>
              <a:gd name="T4" fmla="*/ 2147483646 w 3792"/>
              <a:gd name="T5" fmla="*/ 2147483646 h 1008"/>
              <a:gd name="T6" fmla="*/ 0 w 3792"/>
              <a:gd name="T7" fmla="*/ 2147483646 h 1008"/>
              <a:gd name="T8" fmla="*/ 0 w 3792"/>
              <a:gd name="T9" fmla="*/ 2147483646 h 1008"/>
              <a:gd name="T10" fmla="*/ 2147483646 w 3792"/>
              <a:gd name="T11" fmla="*/ 2147483646 h 1008"/>
              <a:gd name="T12" fmla="*/ 0 60000 65536"/>
              <a:gd name="T13" fmla="*/ 0 60000 65536"/>
              <a:gd name="T14" fmla="*/ 0 60000 65536"/>
              <a:gd name="T15" fmla="*/ 0 60000 65536"/>
              <a:gd name="T16" fmla="*/ 0 60000 65536"/>
              <a:gd name="T17" fmla="*/ 0 60000 65536"/>
              <a:gd name="T18" fmla="*/ 0 w 3792"/>
              <a:gd name="T19" fmla="*/ 0 h 1008"/>
              <a:gd name="T20" fmla="*/ 3792 w 3792"/>
              <a:gd name="T21" fmla="*/ 1008 h 1008"/>
            </a:gdLst>
            <a:ahLst/>
            <a:cxnLst>
              <a:cxn ang="T12">
                <a:pos x="T0" y="T1"/>
              </a:cxn>
              <a:cxn ang="T13">
                <a:pos x="T2" y="T3"/>
              </a:cxn>
              <a:cxn ang="T14">
                <a:pos x="T4" y="T5"/>
              </a:cxn>
              <a:cxn ang="T15">
                <a:pos x="T6" y="T7"/>
              </a:cxn>
              <a:cxn ang="T16">
                <a:pos x="T8" y="T9"/>
              </a:cxn>
              <a:cxn ang="T17">
                <a:pos x="T10" y="T11"/>
              </a:cxn>
            </a:cxnLst>
            <a:rect l="T18" t="T19" r="T20" b="T21"/>
            <a:pathLst>
              <a:path w="3792" h="1008">
                <a:moveTo>
                  <a:pt x="3600" y="0"/>
                </a:moveTo>
                <a:lnTo>
                  <a:pt x="3792" y="0"/>
                </a:lnTo>
                <a:lnTo>
                  <a:pt x="3792" y="1008"/>
                </a:lnTo>
                <a:lnTo>
                  <a:pt x="0" y="1008"/>
                </a:lnTo>
                <a:lnTo>
                  <a:pt x="0" y="192"/>
                </a:lnTo>
                <a:lnTo>
                  <a:pt x="576" y="192"/>
                </a:lnTo>
              </a:path>
            </a:pathLst>
          </a:custGeom>
          <a:noFill/>
          <a:ln w="50800">
            <a:solidFill>
              <a:srgbClr val="FF33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4024" name="Rectangle 40">
            <a:extLst>
              <a:ext uri="{FF2B5EF4-FFF2-40B4-BE49-F238E27FC236}">
                <a16:creationId xmlns:a16="http://schemas.microsoft.com/office/drawing/2014/main" id="{C12DD228-85F0-1746-8FC6-64D594E13604}"/>
              </a:ext>
            </a:extLst>
          </p:cNvPr>
          <p:cNvSpPr>
            <a:spLocks noChangeArrowheads="1"/>
          </p:cNvSpPr>
          <p:nvPr/>
        </p:nvSpPr>
        <p:spPr bwMode="auto">
          <a:xfrm>
            <a:off x="5400675" y="2133600"/>
            <a:ext cx="1574800" cy="2057400"/>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14025" name="Rectangle 24">
            <a:extLst>
              <a:ext uri="{FF2B5EF4-FFF2-40B4-BE49-F238E27FC236}">
                <a16:creationId xmlns:a16="http://schemas.microsoft.com/office/drawing/2014/main" id="{75A6E234-375B-CA49-B563-9DCC78F28872}"/>
              </a:ext>
            </a:extLst>
          </p:cNvPr>
          <p:cNvSpPr>
            <a:spLocks noChangeArrowheads="1"/>
          </p:cNvSpPr>
          <p:nvPr/>
        </p:nvSpPr>
        <p:spPr bwMode="auto">
          <a:xfrm>
            <a:off x="5486400" y="2667000"/>
            <a:ext cx="150812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Sequential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Logic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(State)</a:t>
            </a:r>
          </a:p>
        </p:txBody>
      </p:sp>
      <p:sp>
        <p:nvSpPr>
          <p:cNvPr id="214026" name="Rectangle 24">
            <a:extLst>
              <a:ext uri="{FF2B5EF4-FFF2-40B4-BE49-F238E27FC236}">
                <a16:creationId xmlns:a16="http://schemas.microsoft.com/office/drawing/2014/main" id="{9673CDAB-AA62-6047-9B52-40FB7AA62B9F}"/>
              </a:ext>
            </a:extLst>
          </p:cNvPr>
          <p:cNvSpPr>
            <a:spLocks noChangeArrowheads="1"/>
          </p:cNvSpPr>
          <p:nvPr/>
        </p:nvSpPr>
        <p:spPr bwMode="auto">
          <a:xfrm>
            <a:off x="2286000" y="2819400"/>
            <a:ext cx="2012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Combinational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rPr>
              <a:t>Logic</a:t>
            </a:r>
          </a:p>
        </p:txBody>
      </p:sp>
      <p:sp>
        <p:nvSpPr>
          <p:cNvPr id="214027" name="Rectangle 23">
            <a:extLst>
              <a:ext uri="{FF2B5EF4-FFF2-40B4-BE49-F238E27FC236}">
                <a16:creationId xmlns:a16="http://schemas.microsoft.com/office/drawing/2014/main" id="{1C72702D-147D-A24A-B8EB-E01BC63CF824}"/>
              </a:ext>
            </a:extLst>
          </p:cNvPr>
          <p:cNvSpPr>
            <a:spLocks noChangeArrowheads="1"/>
          </p:cNvSpPr>
          <p:nvPr/>
        </p:nvSpPr>
        <p:spPr bwMode="auto">
          <a:xfrm>
            <a:off x="4581525" y="2438400"/>
            <a:ext cx="676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0" i="0" u="none" strike="noStrike" kern="120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AS’ </a:t>
            </a:r>
            <a:endParaRPr kumimoji="0" lang="en-US" altLang="en-US" sz="2800" b="0" i="0" u="none" strike="noStrike" kern="1200" cap="none" spc="0" normalizeH="0" baseline="-2500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74B11CB0-D1B8-6248-B8BE-2C1791108BED}"/>
              </a:ext>
            </a:extLst>
          </p:cNvPr>
          <p:cNvSpPr txBox="1"/>
          <p:nvPr/>
        </p:nvSpPr>
        <p:spPr>
          <a:xfrm>
            <a:off x="548640" y="6505303"/>
            <a:ext cx="2493055"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AS: Architectural State</a:t>
            </a:r>
          </a:p>
        </p:txBody>
      </p:sp>
    </p:spTree>
    <p:extLst>
      <p:ext uri="{BB962C8B-B14F-4D97-AF65-F5344CB8AC3E}">
        <p14:creationId xmlns:p14="http://schemas.microsoft.com/office/powerpoint/2010/main" val="288239662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Rectangle 3">
            <a:extLst>
              <a:ext uri="{FF2B5EF4-FFF2-40B4-BE49-F238E27FC236}">
                <a16:creationId xmlns:a16="http://schemas.microsoft.com/office/drawing/2014/main" id="{549094F2-A36F-D94A-8FBE-9A17849A12A5}"/>
              </a:ext>
            </a:extLst>
          </p:cNvPr>
          <p:cNvSpPr>
            <a:spLocks noGrp="1" noChangeArrowheads="1"/>
          </p:cNvSpPr>
          <p:nvPr>
            <p:ph type="title"/>
            <p:custDataLst>
              <p:tags r:id="rId1"/>
            </p:custDataLst>
          </p:nvPr>
        </p:nvSpPr>
        <p:spPr>
          <a:xfrm>
            <a:off x="357188" y="0"/>
            <a:ext cx="7591425" cy="914400"/>
          </a:xfrm>
        </p:spPr>
        <p:txBody>
          <a:bodyPr/>
          <a:lstStyle/>
          <a:p>
            <a:pPr eaLnBrk="1" hangingPunct="1"/>
            <a:r>
              <a:rPr lang="en-US" altLang="en-US">
                <a:ea typeface="ＭＳ Ｐゴシック" panose="020B0600070205080204" pitchFamily="34" charset="-128"/>
              </a:rPr>
              <a:t>Review: Multi-Cycle MIPS FSM</a:t>
            </a:r>
            <a:endParaRPr lang="en-US" altLang="en-US">
              <a:latin typeface="Consolas" panose="020B0609020204030204" pitchFamily="49" charset="0"/>
              <a:ea typeface="ＭＳ Ｐゴシック" panose="020B0600070205080204" pitchFamily="34" charset="-128"/>
            </a:endParaRPr>
          </a:p>
        </p:txBody>
      </p:sp>
      <p:graphicFrame>
        <p:nvGraphicFramePr>
          <p:cNvPr id="277506" name="Object 2">
            <a:extLst>
              <a:ext uri="{FF2B5EF4-FFF2-40B4-BE49-F238E27FC236}">
                <a16:creationId xmlns:a16="http://schemas.microsoft.com/office/drawing/2014/main" id="{7177853A-6DBB-804A-9DCB-F798F7745467}"/>
              </a:ext>
            </a:extLst>
          </p:cNvPr>
          <p:cNvGraphicFramePr>
            <a:graphicFrameLocks noGrp="1" noChangeAspect="1"/>
          </p:cNvGraphicFramePr>
          <p:nvPr>
            <p:ph idx="4294967295"/>
            <p:custDataLst>
              <p:tags r:id="rId2"/>
            </p:custDataLst>
          </p:nvPr>
        </p:nvGraphicFramePr>
        <p:xfrm>
          <a:off x="36513" y="1066800"/>
          <a:ext cx="7431087" cy="5649913"/>
        </p:xfrm>
        <a:graphic>
          <a:graphicData uri="http://schemas.openxmlformats.org/presentationml/2006/ole">
            <mc:AlternateContent xmlns:mc="http://schemas.openxmlformats.org/markup-compatibility/2006">
              <mc:Choice xmlns:v="urn:schemas-microsoft-com:vml" Requires="v">
                <p:oleObj name="VISIO" r:id="rId7" imgW="29718000" imgH="22606000" progId="Visio.Drawing.6">
                  <p:embed/>
                </p:oleObj>
              </mc:Choice>
              <mc:Fallback>
                <p:oleObj name="VISIO" r:id="rId7" imgW="29718000" imgH="22606000" progId="Visio.Drawing.6">
                  <p:embed/>
                  <p:pic>
                    <p:nvPicPr>
                      <p:cNvPr id="277506" name="Object 2">
                        <a:extLst>
                          <a:ext uri="{FF2B5EF4-FFF2-40B4-BE49-F238E27FC236}">
                            <a16:creationId xmlns:a16="http://schemas.microsoft.com/office/drawing/2014/main" id="{7177853A-6DBB-804A-9DCB-F798F7745467}"/>
                          </a:ext>
                        </a:extLst>
                      </p:cNvPr>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13" y="1066800"/>
                        <a:ext cx="7431087" cy="5649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7507" name="Rectangle 2">
            <a:extLst>
              <a:ext uri="{FF2B5EF4-FFF2-40B4-BE49-F238E27FC236}">
                <a16:creationId xmlns:a16="http://schemas.microsoft.com/office/drawing/2014/main" id="{B5D66083-4859-8442-9410-4F3A876EFA7E}"/>
              </a:ext>
            </a:extLst>
          </p:cNvPr>
          <p:cNvSpPr>
            <a:spLocks noChangeArrowheads="1"/>
          </p:cNvSpPr>
          <p:nvPr>
            <p:custDataLst>
              <p:tags r:id="rId3"/>
            </p:custDataLst>
          </p:nvPr>
        </p:nvSpPr>
        <p:spPr bwMode="auto">
          <a:xfrm>
            <a:off x="533400" y="1066800"/>
            <a:ext cx="80772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altLang="en-US" sz="3200" b="0" i="0" u="none" strike="noStrike" kern="1200" cap="none" spc="0" normalizeH="0" baseline="0" noProof="0">
              <a:ln>
                <a:noFill/>
              </a:ln>
              <a:solidFill>
                <a:srgbClr val="000000"/>
              </a:solidFill>
              <a:effectLst/>
              <a:uLnTx/>
              <a:uFillTx/>
              <a:latin typeface="Calibri" panose="020F0502020204030204" pitchFamily="34" charset="0"/>
              <a:ea typeface="ＭＳ Ｐゴシック" panose="020B0600070205080204" pitchFamily="34" charset="-128"/>
              <a:cs typeface="+mn-cs"/>
            </a:endParaRPr>
          </a:p>
        </p:txBody>
      </p:sp>
      <p:sp>
        <p:nvSpPr>
          <p:cNvPr id="277508" name="Rectangle 4">
            <a:extLst>
              <a:ext uri="{FF2B5EF4-FFF2-40B4-BE49-F238E27FC236}">
                <a16:creationId xmlns:a16="http://schemas.microsoft.com/office/drawing/2014/main" id="{5848B898-CE76-364A-8033-E20218FFF39A}"/>
              </a:ext>
            </a:extLst>
          </p:cNvPr>
          <p:cNvSpPr>
            <a:spLocks noChangeArrowheads="1"/>
          </p:cNvSpPr>
          <p:nvPr>
            <p:custDataLst>
              <p:tags r:id="rId4"/>
            </p:custDataLst>
          </p:nvPr>
        </p:nvSpPr>
        <p:spPr bwMode="auto">
          <a:xfrm>
            <a:off x="0" y="1414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de-DE" altLang="en-US" sz="1800" b="0" i="0" u="none" strike="noStrike" kern="1200" cap="none" spc="0" normalizeH="0" baseline="0" noProof="0">
              <a:ln>
                <a:noFill/>
              </a:ln>
              <a:solidFill>
                <a:srgbClr val="000000"/>
              </a:solidFill>
              <a:effectLst/>
              <a:uLnTx/>
              <a:uFillTx/>
              <a:latin typeface="Verdana" panose="020B0604030504040204" pitchFamily="34" charset="0"/>
              <a:ea typeface="ＭＳ Ｐゴシック" panose="020B0600070205080204" pitchFamily="34" charset="-128"/>
              <a:cs typeface="+mn-cs"/>
            </a:endParaRPr>
          </a:p>
        </p:txBody>
      </p:sp>
      <p:sp>
        <p:nvSpPr>
          <p:cNvPr id="2" name="TextBox 1">
            <a:extLst>
              <a:ext uri="{FF2B5EF4-FFF2-40B4-BE49-F238E27FC236}">
                <a16:creationId xmlns:a16="http://schemas.microsoft.com/office/drawing/2014/main" id="{F4766336-9A56-764D-9EED-54A4D6E139A5}"/>
              </a:ext>
            </a:extLst>
          </p:cNvPr>
          <p:cNvSpPr txBox="1">
            <a:spLocks noChangeArrowheads="1"/>
          </p:cNvSpPr>
          <p:nvPr/>
        </p:nvSpPr>
        <p:spPr bwMode="auto">
          <a:xfrm>
            <a:off x="7467600" y="2457450"/>
            <a:ext cx="2286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panose="020F0502020204030204" pitchFamily="34" charset="0"/>
                <a:ea typeface="ＭＳ Ｐゴシック" panose="020B0600070205080204" pitchFamily="34" charset="-128"/>
                <a:cs typeface="+mn-cs"/>
              </a:rPr>
              <a:t>What is the shortcoming of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panose="020F0502020204030204" pitchFamily="34" charset="0"/>
                <a:ea typeface="ＭＳ Ｐゴシック" panose="020B0600070205080204" pitchFamily="34" charset="-128"/>
                <a:cs typeface="+mn-cs"/>
              </a:rPr>
              <a:t>this design?</a:t>
            </a:r>
          </a:p>
        </p:txBody>
      </p:sp>
      <p:sp>
        <p:nvSpPr>
          <p:cNvPr id="7" name="TextBox 6">
            <a:extLst>
              <a:ext uri="{FF2B5EF4-FFF2-40B4-BE49-F238E27FC236}">
                <a16:creationId xmlns:a16="http://schemas.microsoft.com/office/drawing/2014/main" id="{414635F4-1616-B14C-A060-7122282483A6}"/>
              </a:ext>
            </a:extLst>
          </p:cNvPr>
          <p:cNvSpPr txBox="1">
            <a:spLocks noChangeArrowheads="1"/>
          </p:cNvSpPr>
          <p:nvPr/>
        </p:nvSpPr>
        <p:spPr bwMode="auto">
          <a:xfrm>
            <a:off x="7467600" y="3981450"/>
            <a:ext cx="2438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panose="020F0502020204030204" pitchFamily="34" charset="0"/>
                <a:ea typeface="ＭＳ Ｐゴシック" panose="020B0600070205080204" pitchFamily="34" charset="-128"/>
                <a:cs typeface="+mn-cs"/>
              </a:rPr>
              <a:t>What does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panose="020F0502020204030204" pitchFamily="34" charset="0"/>
                <a:ea typeface="ＭＳ Ｐゴシック" panose="020B0600070205080204" pitchFamily="34" charset="-128"/>
                <a:cs typeface="+mn-cs"/>
              </a:rPr>
              <a:t>this design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panose="020F0502020204030204" pitchFamily="34" charset="0"/>
                <a:ea typeface="ＭＳ Ｐゴシック" panose="020B0600070205080204" pitchFamily="34" charset="-128"/>
                <a:cs typeface="+mn-cs"/>
              </a:rPr>
              <a:t>assume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panose="020F0502020204030204" pitchFamily="34" charset="0"/>
                <a:ea typeface="ＭＳ Ｐゴシック" panose="020B0600070205080204" pitchFamily="34" charset="-128"/>
                <a:cs typeface="+mn-cs"/>
              </a:rPr>
              <a:t>about memory?</a:t>
            </a:r>
          </a:p>
        </p:txBody>
      </p:sp>
      <p:sp>
        <p:nvSpPr>
          <p:cNvPr id="277511" name="Slide Number Placeholder 2">
            <a:extLst>
              <a:ext uri="{FF2B5EF4-FFF2-40B4-BE49-F238E27FC236}">
                <a16:creationId xmlns:a16="http://schemas.microsoft.com/office/drawing/2014/main" id="{AD887639-CA29-5041-81FA-C1FF12104B0F}"/>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8BCE0CC-1EF6-1B4C-884F-15D5EEB8912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659853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85832806-27D3-0043-9E3B-6B1939FC47AE}"/>
              </a:ext>
            </a:extLst>
          </p:cNvPr>
          <p:cNvSpPr>
            <a:spLocks noGrp="1" noChangeArrowheads="1"/>
          </p:cNvSpPr>
          <p:nvPr>
            <p:ph type="title"/>
          </p:nvPr>
        </p:nvSpPr>
        <p:spPr/>
        <p:txBody>
          <a:bodyPr/>
          <a:lstStyle/>
          <a:p>
            <a:r>
              <a:rPr lang="en-US" altLang="en-US" sz="3600" dirty="0">
                <a:solidFill>
                  <a:srgbClr val="006633"/>
                </a:solidFill>
                <a:ea typeface="ＭＳ Ｐゴシック" panose="020B0600070205080204" pitchFamily="34" charset="-128"/>
              </a:rPr>
              <a:t>Recall: Illustrating Pipeline Operation</a:t>
            </a:r>
            <a:endParaRPr lang="en-US" altLang="en-US" dirty="0">
              <a:ea typeface="ＭＳ Ｐゴシック" panose="020B0600070205080204" pitchFamily="34" charset="-128"/>
            </a:endParaRPr>
          </a:p>
        </p:txBody>
      </p:sp>
      <p:sp>
        <p:nvSpPr>
          <p:cNvPr id="48130" name="Content Placeholder 2">
            <a:extLst>
              <a:ext uri="{FF2B5EF4-FFF2-40B4-BE49-F238E27FC236}">
                <a16:creationId xmlns:a16="http://schemas.microsoft.com/office/drawing/2014/main" id="{912DFAAC-99A2-3946-A8A2-68B1F56456B0}"/>
              </a:ext>
            </a:extLst>
          </p:cNvPr>
          <p:cNvSpPr>
            <a:spLocks noGrp="1" noChangeArrowheads="1"/>
          </p:cNvSpPr>
          <p:nvPr>
            <p:ph idx="1"/>
          </p:nvPr>
        </p:nvSpPr>
        <p:spPr>
          <a:xfrm>
            <a:off x="228600" y="996950"/>
            <a:ext cx="8610600" cy="5194300"/>
          </a:xfrm>
        </p:spPr>
        <p:txBody>
          <a:bodyPr/>
          <a:lstStyle/>
          <a:p>
            <a:endParaRPr lang="en-US" altLang="en-US" dirty="0">
              <a:ea typeface="ＭＳ Ｐゴシック" panose="020B0600070205080204" pitchFamily="34" charset="-128"/>
            </a:endParaRPr>
          </a:p>
        </p:txBody>
      </p:sp>
      <p:sp>
        <p:nvSpPr>
          <p:cNvPr id="48131" name="Slide Number Placeholder 3">
            <a:extLst>
              <a:ext uri="{FF2B5EF4-FFF2-40B4-BE49-F238E27FC236}">
                <a16:creationId xmlns:a16="http://schemas.microsoft.com/office/drawing/2014/main" id="{C6D00EEB-F7E9-614D-B16D-C0BF5F6BA31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1EA72576-BCDC-994D-B88A-DD5D9D4DBD23}" type="slidenum">
              <a:rPr lang="en-US" altLang="en-US" sz="1600" smtClean="0">
                <a:solidFill>
                  <a:srgbClr val="000000"/>
                </a:solidFill>
                <a:latin typeface="Garamond" panose="02020404030301010803" pitchFamily="18" charset="0"/>
              </a:rPr>
              <a:pPr>
                <a:spcBef>
                  <a:spcPct val="0"/>
                </a:spcBef>
                <a:buClrTx/>
                <a:buSzTx/>
                <a:buFontTx/>
                <a:buNone/>
              </a:pPr>
              <a:t>47</a:t>
            </a:fld>
            <a:endParaRPr lang="en-US" altLang="en-US" sz="1600">
              <a:solidFill>
                <a:srgbClr val="000000"/>
              </a:solidFill>
              <a:latin typeface="Garamond" panose="02020404030301010803" pitchFamily="18" charset="0"/>
            </a:endParaRPr>
          </a:p>
        </p:txBody>
      </p:sp>
      <p:sp>
        <p:nvSpPr>
          <p:cNvPr id="48132" name="Line 3">
            <a:extLst>
              <a:ext uri="{FF2B5EF4-FFF2-40B4-BE49-F238E27FC236}">
                <a16:creationId xmlns:a16="http://schemas.microsoft.com/office/drawing/2014/main" id="{16294BC4-CCED-8F45-B16E-A9F1C32088E9}"/>
              </a:ext>
            </a:extLst>
          </p:cNvPr>
          <p:cNvSpPr>
            <a:spLocks noChangeShapeType="1"/>
          </p:cNvSpPr>
          <p:nvPr/>
        </p:nvSpPr>
        <p:spPr bwMode="auto">
          <a:xfrm>
            <a:off x="1219200" y="6172200"/>
            <a:ext cx="1524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wrap="none">
            <a:spAutoFit/>
          </a:bodyPr>
          <a:lstStyle/>
          <a:p>
            <a:endParaRPr lang="en-US"/>
          </a:p>
        </p:txBody>
      </p:sp>
      <p:sp>
        <p:nvSpPr>
          <p:cNvPr id="48133" name="Rectangle 4">
            <a:extLst>
              <a:ext uri="{FF2B5EF4-FFF2-40B4-BE49-F238E27FC236}">
                <a16:creationId xmlns:a16="http://schemas.microsoft.com/office/drawing/2014/main" id="{6FFCCFFD-0663-7A42-86BF-FA3EDA3CD75F}"/>
              </a:ext>
            </a:extLst>
          </p:cNvPr>
          <p:cNvSpPr>
            <a:spLocks noChangeArrowheads="1"/>
          </p:cNvSpPr>
          <p:nvPr/>
        </p:nvSpPr>
        <p:spPr bwMode="auto">
          <a:xfrm>
            <a:off x="2209800" y="2362200"/>
            <a:ext cx="533400" cy="76200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C0128"/>
                </a:solidFill>
                <a:latin typeface="Calibri" panose="020F0502020204030204" pitchFamily="34" charset="0"/>
              </a:rPr>
              <a:t>I</a:t>
            </a:r>
            <a:r>
              <a:rPr lang="en-US" altLang="en-US" sz="1800" baseline="-25000">
                <a:solidFill>
                  <a:srgbClr val="FC0128"/>
                </a:solidFill>
                <a:latin typeface="Calibri" panose="020F0502020204030204" pitchFamily="34" charset="0"/>
              </a:rPr>
              <a:t>0</a:t>
            </a:r>
            <a:endParaRPr lang="en-US" altLang="en-US" sz="1800">
              <a:solidFill>
                <a:srgbClr val="FC0128"/>
              </a:solidFill>
              <a:latin typeface="Calibri" panose="020F0502020204030204" pitchFamily="34" charset="0"/>
            </a:endParaRPr>
          </a:p>
        </p:txBody>
      </p:sp>
      <p:grpSp>
        <p:nvGrpSpPr>
          <p:cNvPr id="7" name="Group 5">
            <a:extLst>
              <a:ext uri="{FF2B5EF4-FFF2-40B4-BE49-F238E27FC236}">
                <a16:creationId xmlns:a16="http://schemas.microsoft.com/office/drawing/2014/main" id="{1F2FB499-CB07-7449-9027-02E62B47D15B}"/>
              </a:ext>
            </a:extLst>
          </p:cNvPr>
          <p:cNvGrpSpPr>
            <a:grpSpLocks/>
          </p:cNvGrpSpPr>
          <p:nvPr/>
        </p:nvGrpSpPr>
        <p:grpSpPr bwMode="auto">
          <a:xfrm>
            <a:off x="2743200" y="2362200"/>
            <a:ext cx="533400" cy="1524000"/>
            <a:chOff x="1728" y="1488"/>
            <a:chExt cx="336" cy="960"/>
          </a:xfrm>
        </p:grpSpPr>
        <p:sp>
          <p:nvSpPr>
            <p:cNvPr id="48279" name="Rectangle 6">
              <a:extLst>
                <a:ext uri="{FF2B5EF4-FFF2-40B4-BE49-F238E27FC236}">
                  <a16:creationId xmlns:a16="http://schemas.microsoft.com/office/drawing/2014/main" id="{5180B23E-DA90-D34C-B07A-51E2CF0B7066}"/>
                </a:ext>
              </a:extLst>
            </p:cNvPr>
            <p:cNvSpPr>
              <a:spLocks noChangeArrowheads="1"/>
            </p:cNvSpPr>
            <p:nvPr/>
          </p:nvSpPr>
          <p:spPr bwMode="auto">
            <a:xfrm>
              <a:off x="1728"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C0128"/>
                  </a:solidFill>
                  <a:latin typeface="Calibri" panose="020F0502020204030204" pitchFamily="34" charset="0"/>
                </a:rPr>
                <a:t>I</a:t>
              </a:r>
              <a:r>
                <a:rPr lang="en-US" altLang="en-US" sz="1800" baseline="-25000">
                  <a:solidFill>
                    <a:srgbClr val="FC0128"/>
                  </a:solidFill>
                  <a:latin typeface="Calibri" panose="020F0502020204030204" pitchFamily="34" charset="0"/>
                </a:rPr>
                <a:t>0</a:t>
              </a:r>
              <a:endParaRPr lang="en-US" altLang="en-US" sz="1800">
                <a:solidFill>
                  <a:srgbClr val="FC0128"/>
                </a:solidFill>
                <a:latin typeface="Calibri" panose="020F0502020204030204" pitchFamily="34" charset="0"/>
              </a:endParaRPr>
            </a:p>
          </p:txBody>
        </p:sp>
        <p:sp>
          <p:nvSpPr>
            <p:cNvPr id="48280" name="Rectangle 7">
              <a:extLst>
                <a:ext uri="{FF2B5EF4-FFF2-40B4-BE49-F238E27FC236}">
                  <a16:creationId xmlns:a16="http://schemas.microsoft.com/office/drawing/2014/main" id="{B5E7F53C-98EF-654A-A5A6-B1B6EA6089F4}"/>
                </a:ext>
              </a:extLst>
            </p:cNvPr>
            <p:cNvSpPr>
              <a:spLocks noChangeArrowheads="1"/>
            </p:cNvSpPr>
            <p:nvPr/>
          </p:nvSpPr>
          <p:spPr bwMode="auto">
            <a:xfrm>
              <a:off x="1728"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3B812F"/>
                  </a:solidFill>
                  <a:latin typeface="Calibri" panose="020F0502020204030204" pitchFamily="34" charset="0"/>
                </a:rPr>
                <a:t>I</a:t>
              </a:r>
              <a:r>
                <a:rPr lang="en-US" altLang="en-US" sz="1800" baseline="-25000">
                  <a:solidFill>
                    <a:srgbClr val="3B812F"/>
                  </a:solidFill>
                  <a:latin typeface="Calibri" panose="020F0502020204030204" pitchFamily="34" charset="0"/>
                </a:rPr>
                <a:t>1</a:t>
              </a:r>
              <a:endParaRPr lang="en-US" altLang="en-US" sz="1800">
                <a:solidFill>
                  <a:srgbClr val="3B812F"/>
                </a:solidFill>
                <a:latin typeface="Calibri" panose="020F0502020204030204" pitchFamily="34" charset="0"/>
              </a:endParaRPr>
            </a:p>
          </p:txBody>
        </p:sp>
      </p:grpSp>
      <p:grpSp>
        <p:nvGrpSpPr>
          <p:cNvPr id="10" name="Group 8">
            <a:extLst>
              <a:ext uri="{FF2B5EF4-FFF2-40B4-BE49-F238E27FC236}">
                <a16:creationId xmlns:a16="http://schemas.microsoft.com/office/drawing/2014/main" id="{F6A6B360-C622-DC48-83AE-11A8A7B78BF7}"/>
              </a:ext>
            </a:extLst>
          </p:cNvPr>
          <p:cNvGrpSpPr>
            <a:grpSpLocks/>
          </p:cNvGrpSpPr>
          <p:nvPr/>
        </p:nvGrpSpPr>
        <p:grpSpPr bwMode="auto">
          <a:xfrm>
            <a:off x="3276600" y="2362200"/>
            <a:ext cx="533400" cy="2286000"/>
            <a:chOff x="2064" y="1488"/>
            <a:chExt cx="336" cy="1440"/>
          </a:xfrm>
        </p:grpSpPr>
        <p:sp>
          <p:nvSpPr>
            <p:cNvPr id="48276" name="Rectangle 9">
              <a:extLst>
                <a:ext uri="{FF2B5EF4-FFF2-40B4-BE49-F238E27FC236}">
                  <a16:creationId xmlns:a16="http://schemas.microsoft.com/office/drawing/2014/main" id="{B81B4E8E-7E4B-1143-AF56-188653CAFE0A}"/>
                </a:ext>
              </a:extLst>
            </p:cNvPr>
            <p:cNvSpPr>
              <a:spLocks noChangeArrowheads="1"/>
            </p:cNvSpPr>
            <p:nvPr/>
          </p:nvSpPr>
          <p:spPr bwMode="auto">
            <a:xfrm>
              <a:off x="2064"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C0128"/>
                  </a:solidFill>
                  <a:latin typeface="Calibri" panose="020F0502020204030204" pitchFamily="34" charset="0"/>
                </a:rPr>
                <a:t>I</a:t>
              </a:r>
              <a:r>
                <a:rPr lang="en-US" altLang="en-US" sz="1800" baseline="-25000">
                  <a:solidFill>
                    <a:srgbClr val="FC0128"/>
                  </a:solidFill>
                  <a:latin typeface="Calibri" panose="020F0502020204030204" pitchFamily="34" charset="0"/>
                </a:rPr>
                <a:t>0</a:t>
              </a:r>
              <a:endParaRPr lang="en-US" altLang="en-US" sz="1800">
                <a:solidFill>
                  <a:srgbClr val="FC0128"/>
                </a:solidFill>
                <a:latin typeface="Calibri" panose="020F0502020204030204" pitchFamily="34" charset="0"/>
              </a:endParaRPr>
            </a:p>
          </p:txBody>
        </p:sp>
        <p:sp>
          <p:nvSpPr>
            <p:cNvPr id="48277" name="Rectangle 10">
              <a:extLst>
                <a:ext uri="{FF2B5EF4-FFF2-40B4-BE49-F238E27FC236}">
                  <a16:creationId xmlns:a16="http://schemas.microsoft.com/office/drawing/2014/main" id="{1F6FF0C5-2338-AF49-BF0F-18ECC5CB614B}"/>
                </a:ext>
              </a:extLst>
            </p:cNvPr>
            <p:cNvSpPr>
              <a:spLocks noChangeArrowheads="1"/>
            </p:cNvSpPr>
            <p:nvPr/>
          </p:nvSpPr>
          <p:spPr bwMode="auto">
            <a:xfrm>
              <a:off x="2064"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3B812F"/>
                  </a:solidFill>
                  <a:latin typeface="Calibri" panose="020F0502020204030204" pitchFamily="34" charset="0"/>
                </a:rPr>
                <a:t>I</a:t>
              </a:r>
              <a:r>
                <a:rPr lang="en-US" altLang="en-US" sz="1800" baseline="-25000">
                  <a:solidFill>
                    <a:srgbClr val="3B812F"/>
                  </a:solidFill>
                  <a:latin typeface="Calibri" panose="020F0502020204030204" pitchFamily="34" charset="0"/>
                </a:rPr>
                <a:t>1</a:t>
              </a:r>
              <a:endParaRPr lang="en-US" altLang="en-US" sz="1800">
                <a:solidFill>
                  <a:srgbClr val="3B812F"/>
                </a:solidFill>
                <a:latin typeface="Calibri" panose="020F0502020204030204" pitchFamily="34" charset="0"/>
              </a:endParaRPr>
            </a:p>
          </p:txBody>
        </p:sp>
        <p:sp>
          <p:nvSpPr>
            <p:cNvPr id="48278" name="Rectangle 11">
              <a:extLst>
                <a:ext uri="{FF2B5EF4-FFF2-40B4-BE49-F238E27FC236}">
                  <a16:creationId xmlns:a16="http://schemas.microsoft.com/office/drawing/2014/main" id="{006DE7AE-4396-C541-89B8-D7D47082DD99}"/>
                </a:ext>
              </a:extLst>
            </p:cNvPr>
            <p:cNvSpPr>
              <a:spLocks noChangeArrowheads="1"/>
            </p:cNvSpPr>
            <p:nvPr/>
          </p:nvSpPr>
          <p:spPr bwMode="auto">
            <a:xfrm>
              <a:off x="2064"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996600"/>
                  </a:solidFill>
                  <a:latin typeface="Calibri" panose="020F0502020204030204" pitchFamily="34" charset="0"/>
                </a:rPr>
                <a:t>I</a:t>
              </a:r>
              <a:r>
                <a:rPr lang="en-US" altLang="en-US" sz="1800" baseline="-25000">
                  <a:solidFill>
                    <a:srgbClr val="996600"/>
                  </a:solidFill>
                  <a:latin typeface="Calibri" panose="020F0502020204030204" pitchFamily="34" charset="0"/>
                </a:rPr>
                <a:t>2</a:t>
              </a:r>
              <a:endParaRPr lang="en-US" altLang="en-US" sz="1800">
                <a:solidFill>
                  <a:srgbClr val="996600"/>
                </a:solidFill>
                <a:latin typeface="Calibri" panose="020F0502020204030204" pitchFamily="34" charset="0"/>
              </a:endParaRPr>
            </a:p>
          </p:txBody>
        </p:sp>
      </p:grpSp>
      <p:grpSp>
        <p:nvGrpSpPr>
          <p:cNvPr id="14" name="Group 12">
            <a:extLst>
              <a:ext uri="{FF2B5EF4-FFF2-40B4-BE49-F238E27FC236}">
                <a16:creationId xmlns:a16="http://schemas.microsoft.com/office/drawing/2014/main" id="{1E691AA7-1190-044A-A304-C84E7BC34376}"/>
              </a:ext>
            </a:extLst>
          </p:cNvPr>
          <p:cNvGrpSpPr>
            <a:grpSpLocks/>
          </p:cNvGrpSpPr>
          <p:nvPr/>
        </p:nvGrpSpPr>
        <p:grpSpPr bwMode="auto">
          <a:xfrm>
            <a:off x="3810000" y="2362200"/>
            <a:ext cx="533400" cy="3048000"/>
            <a:chOff x="2400" y="1488"/>
            <a:chExt cx="336" cy="1920"/>
          </a:xfrm>
        </p:grpSpPr>
        <p:sp>
          <p:nvSpPr>
            <p:cNvPr id="48272" name="Rectangle 13">
              <a:extLst>
                <a:ext uri="{FF2B5EF4-FFF2-40B4-BE49-F238E27FC236}">
                  <a16:creationId xmlns:a16="http://schemas.microsoft.com/office/drawing/2014/main" id="{DC9C73A6-44FE-BA4B-883C-7076F76F4EB0}"/>
                </a:ext>
              </a:extLst>
            </p:cNvPr>
            <p:cNvSpPr>
              <a:spLocks noChangeArrowheads="1"/>
            </p:cNvSpPr>
            <p:nvPr/>
          </p:nvSpPr>
          <p:spPr bwMode="auto">
            <a:xfrm>
              <a:off x="2400"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C0128"/>
                  </a:solidFill>
                  <a:latin typeface="Calibri" panose="020F0502020204030204" pitchFamily="34" charset="0"/>
                </a:rPr>
                <a:t>I</a:t>
              </a:r>
              <a:r>
                <a:rPr lang="en-US" altLang="en-US" sz="1800" baseline="-25000">
                  <a:solidFill>
                    <a:srgbClr val="FC0128"/>
                  </a:solidFill>
                  <a:latin typeface="Calibri" panose="020F0502020204030204" pitchFamily="34" charset="0"/>
                </a:rPr>
                <a:t>0</a:t>
              </a:r>
              <a:endParaRPr lang="en-US" altLang="en-US" sz="1800">
                <a:solidFill>
                  <a:srgbClr val="FC0128"/>
                </a:solidFill>
                <a:latin typeface="Calibri" panose="020F0502020204030204" pitchFamily="34" charset="0"/>
              </a:endParaRPr>
            </a:p>
          </p:txBody>
        </p:sp>
        <p:sp>
          <p:nvSpPr>
            <p:cNvPr id="48273" name="Rectangle 14">
              <a:extLst>
                <a:ext uri="{FF2B5EF4-FFF2-40B4-BE49-F238E27FC236}">
                  <a16:creationId xmlns:a16="http://schemas.microsoft.com/office/drawing/2014/main" id="{F54D92AD-223F-814B-9A9E-E1A654C98519}"/>
                </a:ext>
              </a:extLst>
            </p:cNvPr>
            <p:cNvSpPr>
              <a:spLocks noChangeArrowheads="1"/>
            </p:cNvSpPr>
            <p:nvPr/>
          </p:nvSpPr>
          <p:spPr bwMode="auto">
            <a:xfrm>
              <a:off x="2400"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3B812F"/>
                  </a:solidFill>
                  <a:latin typeface="Calibri" panose="020F0502020204030204" pitchFamily="34" charset="0"/>
                </a:rPr>
                <a:t>I</a:t>
              </a:r>
              <a:r>
                <a:rPr lang="en-US" altLang="en-US" sz="1800" baseline="-25000">
                  <a:solidFill>
                    <a:srgbClr val="3B812F"/>
                  </a:solidFill>
                  <a:latin typeface="Calibri" panose="020F0502020204030204" pitchFamily="34" charset="0"/>
                </a:rPr>
                <a:t>1</a:t>
              </a:r>
              <a:endParaRPr lang="en-US" altLang="en-US" sz="1800">
                <a:solidFill>
                  <a:srgbClr val="3B812F"/>
                </a:solidFill>
                <a:latin typeface="Calibri" panose="020F0502020204030204" pitchFamily="34" charset="0"/>
              </a:endParaRPr>
            </a:p>
          </p:txBody>
        </p:sp>
        <p:sp>
          <p:nvSpPr>
            <p:cNvPr id="48274" name="Rectangle 15">
              <a:extLst>
                <a:ext uri="{FF2B5EF4-FFF2-40B4-BE49-F238E27FC236}">
                  <a16:creationId xmlns:a16="http://schemas.microsoft.com/office/drawing/2014/main" id="{B533A138-8BEB-2A40-B619-343E63E22036}"/>
                </a:ext>
              </a:extLst>
            </p:cNvPr>
            <p:cNvSpPr>
              <a:spLocks noChangeArrowheads="1"/>
            </p:cNvSpPr>
            <p:nvPr/>
          </p:nvSpPr>
          <p:spPr bwMode="auto">
            <a:xfrm>
              <a:off x="2400"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996600"/>
                  </a:solidFill>
                  <a:latin typeface="Calibri" panose="020F0502020204030204" pitchFamily="34" charset="0"/>
                </a:rPr>
                <a:t>I</a:t>
              </a:r>
              <a:r>
                <a:rPr lang="en-US" altLang="en-US" sz="1800" baseline="-25000">
                  <a:solidFill>
                    <a:srgbClr val="996600"/>
                  </a:solidFill>
                  <a:latin typeface="Calibri" panose="020F0502020204030204" pitchFamily="34" charset="0"/>
                </a:rPr>
                <a:t>2</a:t>
              </a:r>
              <a:endParaRPr lang="en-US" altLang="en-US" sz="1800">
                <a:solidFill>
                  <a:srgbClr val="996600"/>
                </a:solidFill>
                <a:latin typeface="Calibri" panose="020F0502020204030204" pitchFamily="34" charset="0"/>
              </a:endParaRPr>
            </a:p>
          </p:txBody>
        </p:sp>
        <p:sp>
          <p:nvSpPr>
            <p:cNvPr id="48275" name="Rectangle 16">
              <a:extLst>
                <a:ext uri="{FF2B5EF4-FFF2-40B4-BE49-F238E27FC236}">
                  <a16:creationId xmlns:a16="http://schemas.microsoft.com/office/drawing/2014/main" id="{F71880F6-4475-5B46-9455-F4E8894328C1}"/>
                </a:ext>
              </a:extLst>
            </p:cNvPr>
            <p:cNvSpPr>
              <a:spLocks noChangeArrowheads="1"/>
            </p:cNvSpPr>
            <p:nvPr/>
          </p:nvSpPr>
          <p:spPr bwMode="auto">
            <a:xfrm>
              <a:off x="2400"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AFBF39"/>
                  </a:solidFill>
                  <a:latin typeface="Calibri" panose="020F0502020204030204" pitchFamily="34" charset="0"/>
                </a:rPr>
                <a:t>I</a:t>
              </a:r>
              <a:r>
                <a:rPr lang="en-US" altLang="en-US" sz="1800" baseline="-25000">
                  <a:solidFill>
                    <a:srgbClr val="AFBF39"/>
                  </a:solidFill>
                  <a:latin typeface="Calibri" panose="020F0502020204030204" pitchFamily="34" charset="0"/>
                </a:rPr>
                <a:t>3</a:t>
              </a:r>
              <a:endParaRPr lang="en-US" altLang="en-US" sz="1800">
                <a:solidFill>
                  <a:srgbClr val="AFBF39"/>
                </a:solidFill>
                <a:latin typeface="Calibri" panose="020F0502020204030204" pitchFamily="34" charset="0"/>
              </a:endParaRPr>
            </a:p>
          </p:txBody>
        </p:sp>
      </p:grpSp>
      <p:grpSp>
        <p:nvGrpSpPr>
          <p:cNvPr id="19" name="Group 17">
            <a:extLst>
              <a:ext uri="{FF2B5EF4-FFF2-40B4-BE49-F238E27FC236}">
                <a16:creationId xmlns:a16="http://schemas.microsoft.com/office/drawing/2014/main" id="{642E8799-AF67-AF48-82E3-12F3DB07B514}"/>
              </a:ext>
            </a:extLst>
          </p:cNvPr>
          <p:cNvGrpSpPr>
            <a:grpSpLocks/>
          </p:cNvGrpSpPr>
          <p:nvPr/>
        </p:nvGrpSpPr>
        <p:grpSpPr bwMode="auto">
          <a:xfrm>
            <a:off x="4343400" y="2362200"/>
            <a:ext cx="533400" cy="3810000"/>
            <a:chOff x="2736" y="1488"/>
            <a:chExt cx="336" cy="2400"/>
          </a:xfrm>
        </p:grpSpPr>
        <p:sp>
          <p:nvSpPr>
            <p:cNvPr id="48267" name="Rectangle 18">
              <a:extLst>
                <a:ext uri="{FF2B5EF4-FFF2-40B4-BE49-F238E27FC236}">
                  <a16:creationId xmlns:a16="http://schemas.microsoft.com/office/drawing/2014/main" id="{17C3FA0E-7134-E447-B6E6-E24A549806FD}"/>
                </a:ext>
              </a:extLst>
            </p:cNvPr>
            <p:cNvSpPr>
              <a:spLocks noChangeArrowheads="1"/>
            </p:cNvSpPr>
            <p:nvPr/>
          </p:nvSpPr>
          <p:spPr bwMode="auto">
            <a:xfrm>
              <a:off x="2736"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FC0128"/>
                  </a:solidFill>
                  <a:latin typeface="Calibri" panose="020F0502020204030204" pitchFamily="34" charset="0"/>
                </a:rPr>
                <a:t>I</a:t>
              </a:r>
              <a:r>
                <a:rPr lang="en-US" altLang="en-US" sz="1800" baseline="-25000">
                  <a:solidFill>
                    <a:srgbClr val="FC0128"/>
                  </a:solidFill>
                  <a:latin typeface="Calibri" panose="020F0502020204030204" pitchFamily="34" charset="0"/>
                </a:rPr>
                <a:t>0</a:t>
              </a:r>
              <a:endParaRPr lang="en-US" altLang="en-US" sz="1800">
                <a:solidFill>
                  <a:srgbClr val="FC0128"/>
                </a:solidFill>
                <a:latin typeface="Calibri" panose="020F0502020204030204" pitchFamily="34" charset="0"/>
              </a:endParaRPr>
            </a:p>
          </p:txBody>
        </p:sp>
        <p:sp>
          <p:nvSpPr>
            <p:cNvPr id="48268" name="Rectangle 19">
              <a:extLst>
                <a:ext uri="{FF2B5EF4-FFF2-40B4-BE49-F238E27FC236}">
                  <a16:creationId xmlns:a16="http://schemas.microsoft.com/office/drawing/2014/main" id="{464F150F-E8D4-3D40-A553-06B89AD0E400}"/>
                </a:ext>
              </a:extLst>
            </p:cNvPr>
            <p:cNvSpPr>
              <a:spLocks noChangeArrowheads="1"/>
            </p:cNvSpPr>
            <p:nvPr/>
          </p:nvSpPr>
          <p:spPr bwMode="auto">
            <a:xfrm>
              <a:off x="2736"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3B812F"/>
                  </a:solidFill>
                  <a:latin typeface="Calibri" panose="020F0502020204030204" pitchFamily="34" charset="0"/>
                </a:rPr>
                <a:t>I</a:t>
              </a:r>
              <a:r>
                <a:rPr lang="en-US" altLang="en-US" sz="1800" baseline="-25000">
                  <a:solidFill>
                    <a:srgbClr val="3B812F"/>
                  </a:solidFill>
                  <a:latin typeface="Calibri" panose="020F0502020204030204" pitchFamily="34" charset="0"/>
                </a:rPr>
                <a:t>1</a:t>
              </a:r>
              <a:endParaRPr lang="en-US" altLang="en-US" sz="1800">
                <a:solidFill>
                  <a:srgbClr val="3B812F"/>
                </a:solidFill>
                <a:latin typeface="Calibri" panose="020F0502020204030204" pitchFamily="34" charset="0"/>
              </a:endParaRPr>
            </a:p>
          </p:txBody>
        </p:sp>
        <p:sp>
          <p:nvSpPr>
            <p:cNvPr id="48269" name="Rectangle 20">
              <a:extLst>
                <a:ext uri="{FF2B5EF4-FFF2-40B4-BE49-F238E27FC236}">
                  <a16:creationId xmlns:a16="http://schemas.microsoft.com/office/drawing/2014/main" id="{3153050D-23DF-1343-8E69-CD7C5D92E2B4}"/>
                </a:ext>
              </a:extLst>
            </p:cNvPr>
            <p:cNvSpPr>
              <a:spLocks noChangeArrowheads="1"/>
            </p:cNvSpPr>
            <p:nvPr/>
          </p:nvSpPr>
          <p:spPr bwMode="auto">
            <a:xfrm>
              <a:off x="2736"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996600"/>
                  </a:solidFill>
                  <a:latin typeface="Calibri" panose="020F0502020204030204" pitchFamily="34" charset="0"/>
                </a:rPr>
                <a:t>I</a:t>
              </a:r>
              <a:r>
                <a:rPr lang="en-US" altLang="en-US" sz="1800" baseline="-25000">
                  <a:solidFill>
                    <a:srgbClr val="996600"/>
                  </a:solidFill>
                  <a:latin typeface="Calibri" panose="020F0502020204030204" pitchFamily="34" charset="0"/>
                </a:rPr>
                <a:t>2</a:t>
              </a:r>
              <a:endParaRPr lang="en-US" altLang="en-US" sz="1800">
                <a:solidFill>
                  <a:srgbClr val="996600"/>
                </a:solidFill>
                <a:latin typeface="Calibri" panose="020F0502020204030204" pitchFamily="34" charset="0"/>
              </a:endParaRPr>
            </a:p>
          </p:txBody>
        </p:sp>
        <p:sp>
          <p:nvSpPr>
            <p:cNvPr id="48270" name="Rectangle 21">
              <a:extLst>
                <a:ext uri="{FF2B5EF4-FFF2-40B4-BE49-F238E27FC236}">
                  <a16:creationId xmlns:a16="http://schemas.microsoft.com/office/drawing/2014/main" id="{057718B4-807C-2F49-A465-EC993B226706}"/>
                </a:ext>
              </a:extLst>
            </p:cNvPr>
            <p:cNvSpPr>
              <a:spLocks noChangeArrowheads="1"/>
            </p:cNvSpPr>
            <p:nvPr/>
          </p:nvSpPr>
          <p:spPr bwMode="auto">
            <a:xfrm>
              <a:off x="2736"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AFBF39"/>
                  </a:solidFill>
                  <a:latin typeface="Calibri" panose="020F0502020204030204" pitchFamily="34" charset="0"/>
                </a:rPr>
                <a:t>I</a:t>
              </a:r>
              <a:r>
                <a:rPr lang="en-US" altLang="en-US" sz="1800" baseline="-25000">
                  <a:solidFill>
                    <a:srgbClr val="AFBF39"/>
                  </a:solidFill>
                  <a:latin typeface="Calibri" panose="020F0502020204030204" pitchFamily="34" charset="0"/>
                </a:rPr>
                <a:t>3</a:t>
              </a:r>
              <a:endParaRPr lang="en-US" altLang="en-US" sz="1800">
                <a:solidFill>
                  <a:srgbClr val="AFBF39"/>
                </a:solidFill>
                <a:latin typeface="Calibri" panose="020F0502020204030204" pitchFamily="34" charset="0"/>
              </a:endParaRPr>
            </a:p>
          </p:txBody>
        </p:sp>
        <p:sp>
          <p:nvSpPr>
            <p:cNvPr id="48271" name="Rectangle 22">
              <a:extLst>
                <a:ext uri="{FF2B5EF4-FFF2-40B4-BE49-F238E27FC236}">
                  <a16:creationId xmlns:a16="http://schemas.microsoft.com/office/drawing/2014/main" id="{309A3D1F-2815-FD4E-AA4B-22D715D2D996}"/>
                </a:ext>
              </a:extLst>
            </p:cNvPr>
            <p:cNvSpPr>
              <a:spLocks noChangeArrowheads="1"/>
            </p:cNvSpPr>
            <p:nvPr/>
          </p:nvSpPr>
          <p:spPr bwMode="auto">
            <a:xfrm>
              <a:off x="2736"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B760F9"/>
                  </a:solidFill>
                  <a:latin typeface="Calibri" panose="020F0502020204030204" pitchFamily="34" charset="0"/>
                </a:rPr>
                <a:t>I</a:t>
              </a:r>
              <a:r>
                <a:rPr lang="en-US" altLang="en-US" sz="1800" baseline="-25000">
                  <a:solidFill>
                    <a:srgbClr val="B760F9"/>
                  </a:solidFill>
                  <a:latin typeface="Calibri" panose="020F0502020204030204" pitchFamily="34" charset="0"/>
                </a:rPr>
                <a:t>4</a:t>
              </a:r>
              <a:endParaRPr lang="en-US" altLang="en-US" sz="1800">
                <a:solidFill>
                  <a:srgbClr val="B760F9"/>
                </a:solidFill>
                <a:latin typeface="Calibri" panose="020F0502020204030204" pitchFamily="34" charset="0"/>
              </a:endParaRPr>
            </a:p>
          </p:txBody>
        </p:sp>
      </p:grpSp>
      <p:grpSp>
        <p:nvGrpSpPr>
          <p:cNvPr id="25" name="Group 23">
            <a:extLst>
              <a:ext uri="{FF2B5EF4-FFF2-40B4-BE49-F238E27FC236}">
                <a16:creationId xmlns:a16="http://schemas.microsoft.com/office/drawing/2014/main" id="{5027DFAB-AA40-E842-A80A-F64535B2A7DD}"/>
              </a:ext>
            </a:extLst>
          </p:cNvPr>
          <p:cNvGrpSpPr>
            <a:grpSpLocks/>
          </p:cNvGrpSpPr>
          <p:nvPr/>
        </p:nvGrpSpPr>
        <p:grpSpPr bwMode="auto">
          <a:xfrm>
            <a:off x="4876800" y="2362200"/>
            <a:ext cx="533400" cy="3810000"/>
            <a:chOff x="3072" y="1488"/>
            <a:chExt cx="336" cy="2400"/>
          </a:xfrm>
        </p:grpSpPr>
        <p:sp>
          <p:nvSpPr>
            <p:cNvPr id="48262" name="Rectangle 24">
              <a:extLst>
                <a:ext uri="{FF2B5EF4-FFF2-40B4-BE49-F238E27FC236}">
                  <a16:creationId xmlns:a16="http://schemas.microsoft.com/office/drawing/2014/main" id="{8ABC1FFD-65CC-5C4C-A87F-6D325B13892E}"/>
                </a:ext>
              </a:extLst>
            </p:cNvPr>
            <p:cNvSpPr>
              <a:spLocks noChangeArrowheads="1"/>
            </p:cNvSpPr>
            <p:nvPr/>
          </p:nvSpPr>
          <p:spPr bwMode="auto">
            <a:xfrm>
              <a:off x="3072"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3B812F"/>
                  </a:solidFill>
                  <a:latin typeface="Calibri" panose="020F0502020204030204" pitchFamily="34" charset="0"/>
                </a:rPr>
                <a:t>I</a:t>
              </a:r>
              <a:r>
                <a:rPr lang="en-US" altLang="en-US" sz="1800" baseline="-25000">
                  <a:solidFill>
                    <a:srgbClr val="3B812F"/>
                  </a:solidFill>
                  <a:latin typeface="Calibri" panose="020F0502020204030204" pitchFamily="34" charset="0"/>
                </a:rPr>
                <a:t>1</a:t>
              </a:r>
              <a:endParaRPr lang="en-US" altLang="en-US" sz="1800">
                <a:solidFill>
                  <a:srgbClr val="3B812F"/>
                </a:solidFill>
                <a:latin typeface="Calibri" panose="020F0502020204030204" pitchFamily="34" charset="0"/>
              </a:endParaRPr>
            </a:p>
          </p:txBody>
        </p:sp>
        <p:sp>
          <p:nvSpPr>
            <p:cNvPr id="48263" name="Rectangle 25">
              <a:extLst>
                <a:ext uri="{FF2B5EF4-FFF2-40B4-BE49-F238E27FC236}">
                  <a16:creationId xmlns:a16="http://schemas.microsoft.com/office/drawing/2014/main" id="{A6C00B02-F990-D440-9993-41945FF51659}"/>
                </a:ext>
              </a:extLst>
            </p:cNvPr>
            <p:cNvSpPr>
              <a:spLocks noChangeArrowheads="1"/>
            </p:cNvSpPr>
            <p:nvPr/>
          </p:nvSpPr>
          <p:spPr bwMode="auto">
            <a:xfrm>
              <a:off x="3072"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996600"/>
                  </a:solidFill>
                  <a:latin typeface="Calibri" panose="020F0502020204030204" pitchFamily="34" charset="0"/>
                </a:rPr>
                <a:t>I</a:t>
              </a:r>
              <a:r>
                <a:rPr lang="en-US" altLang="en-US" sz="1800" baseline="-25000">
                  <a:solidFill>
                    <a:srgbClr val="996600"/>
                  </a:solidFill>
                  <a:latin typeface="Calibri" panose="020F0502020204030204" pitchFamily="34" charset="0"/>
                </a:rPr>
                <a:t>2</a:t>
              </a:r>
              <a:endParaRPr lang="en-US" altLang="en-US" sz="1800">
                <a:solidFill>
                  <a:srgbClr val="996600"/>
                </a:solidFill>
                <a:latin typeface="Calibri" panose="020F0502020204030204" pitchFamily="34" charset="0"/>
              </a:endParaRPr>
            </a:p>
          </p:txBody>
        </p:sp>
        <p:sp>
          <p:nvSpPr>
            <p:cNvPr id="48264" name="Rectangle 26">
              <a:extLst>
                <a:ext uri="{FF2B5EF4-FFF2-40B4-BE49-F238E27FC236}">
                  <a16:creationId xmlns:a16="http://schemas.microsoft.com/office/drawing/2014/main" id="{0269D257-D416-8A4C-975E-CE2465897B1E}"/>
                </a:ext>
              </a:extLst>
            </p:cNvPr>
            <p:cNvSpPr>
              <a:spLocks noChangeArrowheads="1"/>
            </p:cNvSpPr>
            <p:nvPr/>
          </p:nvSpPr>
          <p:spPr bwMode="auto">
            <a:xfrm>
              <a:off x="3072"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AFBF39"/>
                  </a:solidFill>
                  <a:latin typeface="Calibri" panose="020F0502020204030204" pitchFamily="34" charset="0"/>
                </a:rPr>
                <a:t>I</a:t>
              </a:r>
              <a:r>
                <a:rPr lang="en-US" altLang="en-US" sz="1800" baseline="-25000">
                  <a:solidFill>
                    <a:srgbClr val="AFBF39"/>
                  </a:solidFill>
                  <a:latin typeface="Calibri" panose="020F0502020204030204" pitchFamily="34" charset="0"/>
                </a:rPr>
                <a:t>3</a:t>
              </a:r>
              <a:endParaRPr lang="en-US" altLang="en-US" sz="1800">
                <a:solidFill>
                  <a:srgbClr val="AFBF39"/>
                </a:solidFill>
                <a:latin typeface="Calibri" panose="020F0502020204030204" pitchFamily="34" charset="0"/>
              </a:endParaRPr>
            </a:p>
          </p:txBody>
        </p:sp>
        <p:sp>
          <p:nvSpPr>
            <p:cNvPr id="48265" name="Rectangle 27">
              <a:extLst>
                <a:ext uri="{FF2B5EF4-FFF2-40B4-BE49-F238E27FC236}">
                  <a16:creationId xmlns:a16="http://schemas.microsoft.com/office/drawing/2014/main" id="{0A54A81E-A306-024B-A24F-364ABE31D875}"/>
                </a:ext>
              </a:extLst>
            </p:cNvPr>
            <p:cNvSpPr>
              <a:spLocks noChangeArrowheads="1"/>
            </p:cNvSpPr>
            <p:nvPr/>
          </p:nvSpPr>
          <p:spPr bwMode="auto">
            <a:xfrm>
              <a:off x="3072"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B760F9"/>
                  </a:solidFill>
                  <a:latin typeface="Calibri" panose="020F0502020204030204" pitchFamily="34" charset="0"/>
                </a:rPr>
                <a:t>I</a:t>
              </a:r>
              <a:r>
                <a:rPr lang="en-US" altLang="en-US" sz="1800" baseline="-25000">
                  <a:solidFill>
                    <a:srgbClr val="B760F9"/>
                  </a:solidFill>
                  <a:latin typeface="Calibri" panose="020F0502020204030204" pitchFamily="34" charset="0"/>
                </a:rPr>
                <a:t>4</a:t>
              </a:r>
              <a:endParaRPr lang="en-US" altLang="en-US" sz="1800">
                <a:solidFill>
                  <a:srgbClr val="B760F9"/>
                </a:solidFill>
                <a:latin typeface="Calibri" panose="020F0502020204030204" pitchFamily="34" charset="0"/>
              </a:endParaRPr>
            </a:p>
          </p:txBody>
        </p:sp>
        <p:sp>
          <p:nvSpPr>
            <p:cNvPr id="48266" name="Rectangle 28">
              <a:extLst>
                <a:ext uri="{FF2B5EF4-FFF2-40B4-BE49-F238E27FC236}">
                  <a16:creationId xmlns:a16="http://schemas.microsoft.com/office/drawing/2014/main" id="{EB3D9DB0-C5D6-6042-93A9-F61BA12B10A0}"/>
                </a:ext>
              </a:extLst>
            </p:cNvPr>
            <p:cNvSpPr>
              <a:spLocks noChangeArrowheads="1"/>
            </p:cNvSpPr>
            <p:nvPr/>
          </p:nvSpPr>
          <p:spPr bwMode="auto">
            <a:xfrm>
              <a:off x="3072"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5</a:t>
              </a:r>
              <a:endParaRPr lang="en-US" altLang="en-US" sz="1800">
                <a:solidFill>
                  <a:srgbClr val="000000"/>
                </a:solidFill>
                <a:latin typeface="Calibri" panose="020F0502020204030204" pitchFamily="34" charset="0"/>
              </a:endParaRPr>
            </a:p>
          </p:txBody>
        </p:sp>
      </p:grpSp>
      <p:grpSp>
        <p:nvGrpSpPr>
          <p:cNvPr id="31" name="Group 29">
            <a:extLst>
              <a:ext uri="{FF2B5EF4-FFF2-40B4-BE49-F238E27FC236}">
                <a16:creationId xmlns:a16="http://schemas.microsoft.com/office/drawing/2014/main" id="{A9D36A93-746C-424F-B699-B98DF9D29D4B}"/>
              </a:ext>
            </a:extLst>
          </p:cNvPr>
          <p:cNvGrpSpPr>
            <a:grpSpLocks/>
          </p:cNvGrpSpPr>
          <p:nvPr/>
        </p:nvGrpSpPr>
        <p:grpSpPr bwMode="auto">
          <a:xfrm>
            <a:off x="5410200" y="2362200"/>
            <a:ext cx="533400" cy="3810000"/>
            <a:chOff x="3408" y="1488"/>
            <a:chExt cx="336" cy="2400"/>
          </a:xfrm>
        </p:grpSpPr>
        <p:sp>
          <p:nvSpPr>
            <p:cNvPr id="48257" name="Rectangle 30">
              <a:extLst>
                <a:ext uri="{FF2B5EF4-FFF2-40B4-BE49-F238E27FC236}">
                  <a16:creationId xmlns:a16="http://schemas.microsoft.com/office/drawing/2014/main" id="{DA491171-9741-284E-B73F-693B9DDFFB8B}"/>
                </a:ext>
              </a:extLst>
            </p:cNvPr>
            <p:cNvSpPr>
              <a:spLocks noChangeArrowheads="1"/>
            </p:cNvSpPr>
            <p:nvPr/>
          </p:nvSpPr>
          <p:spPr bwMode="auto">
            <a:xfrm>
              <a:off x="3408"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996600"/>
                  </a:solidFill>
                  <a:latin typeface="Calibri" panose="020F0502020204030204" pitchFamily="34" charset="0"/>
                </a:rPr>
                <a:t>I</a:t>
              </a:r>
              <a:r>
                <a:rPr lang="en-US" altLang="en-US" sz="1800" baseline="-25000">
                  <a:solidFill>
                    <a:srgbClr val="996600"/>
                  </a:solidFill>
                  <a:latin typeface="Calibri" panose="020F0502020204030204" pitchFamily="34" charset="0"/>
                </a:rPr>
                <a:t>2</a:t>
              </a:r>
              <a:endParaRPr lang="en-US" altLang="en-US" sz="1800">
                <a:solidFill>
                  <a:srgbClr val="996600"/>
                </a:solidFill>
                <a:latin typeface="Calibri" panose="020F0502020204030204" pitchFamily="34" charset="0"/>
              </a:endParaRPr>
            </a:p>
          </p:txBody>
        </p:sp>
        <p:sp>
          <p:nvSpPr>
            <p:cNvPr id="48258" name="Rectangle 31">
              <a:extLst>
                <a:ext uri="{FF2B5EF4-FFF2-40B4-BE49-F238E27FC236}">
                  <a16:creationId xmlns:a16="http://schemas.microsoft.com/office/drawing/2014/main" id="{0715184D-503B-7B4A-9494-E1A72A931F89}"/>
                </a:ext>
              </a:extLst>
            </p:cNvPr>
            <p:cNvSpPr>
              <a:spLocks noChangeArrowheads="1"/>
            </p:cNvSpPr>
            <p:nvPr/>
          </p:nvSpPr>
          <p:spPr bwMode="auto">
            <a:xfrm>
              <a:off x="3408"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AFBF39"/>
                  </a:solidFill>
                  <a:latin typeface="Calibri" panose="020F0502020204030204" pitchFamily="34" charset="0"/>
                </a:rPr>
                <a:t>I</a:t>
              </a:r>
              <a:r>
                <a:rPr lang="en-US" altLang="en-US" sz="1800" baseline="-25000">
                  <a:solidFill>
                    <a:srgbClr val="AFBF39"/>
                  </a:solidFill>
                  <a:latin typeface="Calibri" panose="020F0502020204030204" pitchFamily="34" charset="0"/>
                </a:rPr>
                <a:t>3</a:t>
              </a:r>
              <a:endParaRPr lang="en-US" altLang="en-US" sz="1800">
                <a:solidFill>
                  <a:srgbClr val="AFBF39"/>
                </a:solidFill>
                <a:latin typeface="Calibri" panose="020F0502020204030204" pitchFamily="34" charset="0"/>
              </a:endParaRPr>
            </a:p>
          </p:txBody>
        </p:sp>
        <p:sp>
          <p:nvSpPr>
            <p:cNvPr id="48259" name="Rectangle 32">
              <a:extLst>
                <a:ext uri="{FF2B5EF4-FFF2-40B4-BE49-F238E27FC236}">
                  <a16:creationId xmlns:a16="http://schemas.microsoft.com/office/drawing/2014/main" id="{47ABC746-0996-9144-A31D-45B0284F53CF}"/>
                </a:ext>
              </a:extLst>
            </p:cNvPr>
            <p:cNvSpPr>
              <a:spLocks noChangeArrowheads="1"/>
            </p:cNvSpPr>
            <p:nvPr/>
          </p:nvSpPr>
          <p:spPr bwMode="auto">
            <a:xfrm>
              <a:off x="3408"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B760F9"/>
                  </a:solidFill>
                  <a:latin typeface="Calibri" panose="020F0502020204030204" pitchFamily="34" charset="0"/>
                </a:rPr>
                <a:t>I</a:t>
              </a:r>
              <a:r>
                <a:rPr lang="en-US" altLang="en-US" sz="1800" baseline="-25000">
                  <a:solidFill>
                    <a:srgbClr val="B760F9"/>
                  </a:solidFill>
                  <a:latin typeface="Calibri" panose="020F0502020204030204" pitchFamily="34" charset="0"/>
                </a:rPr>
                <a:t>4</a:t>
              </a:r>
              <a:endParaRPr lang="en-US" altLang="en-US" sz="1800">
                <a:solidFill>
                  <a:srgbClr val="B760F9"/>
                </a:solidFill>
                <a:latin typeface="Calibri" panose="020F0502020204030204" pitchFamily="34" charset="0"/>
              </a:endParaRPr>
            </a:p>
          </p:txBody>
        </p:sp>
        <p:sp>
          <p:nvSpPr>
            <p:cNvPr id="48260" name="Rectangle 33">
              <a:extLst>
                <a:ext uri="{FF2B5EF4-FFF2-40B4-BE49-F238E27FC236}">
                  <a16:creationId xmlns:a16="http://schemas.microsoft.com/office/drawing/2014/main" id="{799FF6DF-17B1-5643-98CD-334E099F5A47}"/>
                </a:ext>
              </a:extLst>
            </p:cNvPr>
            <p:cNvSpPr>
              <a:spLocks noChangeArrowheads="1"/>
            </p:cNvSpPr>
            <p:nvPr/>
          </p:nvSpPr>
          <p:spPr bwMode="auto">
            <a:xfrm>
              <a:off x="3408"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5</a:t>
              </a:r>
              <a:endParaRPr lang="en-US" altLang="en-US" sz="1800">
                <a:solidFill>
                  <a:srgbClr val="000000"/>
                </a:solidFill>
                <a:latin typeface="Calibri" panose="020F0502020204030204" pitchFamily="34" charset="0"/>
              </a:endParaRPr>
            </a:p>
          </p:txBody>
        </p:sp>
        <p:sp>
          <p:nvSpPr>
            <p:cNvPr id="48261" name="Rectangle 34">
              <a:extLst>
                <a:ext uri="{FF2B5EF4-FFF2-40B4-BE49-F238E27FC236}">
                  <a16:creationId xmlns:a16="http://schemas.microsoft.com/office/drawing/2014/main" id="{A0559F15-18C7-104C-BFF6-11F1107E5BCC}"/>
                </a:ext>
              </a:extLst>
            </p:cNvPr>
            <p:cNvSpPr>
              <a:spLocks noChangeArrowheads="1"/>
            </p:cNvSpPr>
            <p:nvPr/>
          </p:nvSpPr>
          <p:spPr bwMode="auto">
            <a:xfrm>
              <a:off x="3408"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6</a:t>
              </a:r>
              <a:endParaRPr lang="en-US" altLang="en-US" sz="1800">
                <a:solidFill>
                  <a:srgbClr val="000000"/>
                </a:solidFill>
                <a:latin typeface="Calibri" panose="020F0502020204030204" pitchFamily="34" charset="0"/>
              </a:endParaRPr>
            </a:p>
          </p:txBody>
        </p:sp>
      </p:grpSp>
      <p:grpSp>
        <p:nvGrpSpPr>
          <p:cNvPr id="37" name="Group 35">
            <a:extLst>
              <a:ext uri="{FF2B5EF4-FFF2-40B4-BE49-F238E27FC236}">
                <a16:creationId xmlns:a16="http://schemas.microsoft.com/office/drawing/2014/main" id="{B64E9216-529C-2148-9573-DC327AF9532B}"/>
              </a:ext>
            </a:extLst>
          </p:cNvPr>
          <p:cNvGrpSpPr>
            <a:grpSpLocks/>
          </p:cNvGrpSpPr>
          <p:nvPr/>
        </p:nvGrpSpPr>
        <p:grpSpPr bwMode="auto">
          <a:xfrm>
            <a:off x="5943600" y="2362200"/>
            <a:ext cx="533400" cy="3810000"/>
            <a:chOff x="3744" y="1488"/>
            <a:chExt cx="336" cy="2400"/>
          </a:xfrm>
        </p:grpSpPr>
        <p:sp>
          <p:nvSpPr>
            <p:cNvPr id="48252" name="Rectangle 36">
              <a:extLst>
                <a:ext uri="{FF2B5EF4-FFF2-40B4-BE49-F238E27FC236}">
                  <a16:creationId xmlns:a16="http://schemas.microsoft.com/office/drawing/2014/main" id="{B291C736-F84C-E048-B05A-1F9FD990CA45}"/>
                </a:ext>
              </a:extLst>
            </p:cNvPr>
            <p:cNvSpPr>
              <a:spLocks noChangeArrowheads="1"/>
            </p:cNvSpPr>
            <p:nvPr/>
          </p:nvSpPr>
          <p:spPr bwMode="auto">
            <a:xfrm>
              <a:off x="3744"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AFBF39"/>
                  </a:solidFill>
                  <a:latin typeface="Calibri" panose="020F0502020204030204" pitchFamily="34" charset="0"/>
                </a:rPr>
                <a:t>I</a:t>
              </a:r>
              <a:r>
                <a:rPr lang="en-US" altLang="en-US" sz="1800" baseline="-25000">
                  <a:solidFill>
                    <a:srgbClr val="AFBF39"/>
                  </a:solidFill>
                  <a:latin typeface="Calibri" panose="020F0502020204030204" pitchFamily="34" charset="0"/>
                </a:rPr>
                <a:t>3</a:t>
              </a:r>
              <a:endParaRPr lang="en-US" altLang="en-US" sz="1800">
                <a:solidFill>
                  <a:srgbClr val="AFBF39"/>
                </a:solidFill>
                <a:latin typeface="Calibri" panose="020F0502020204030204" pitchFamily="34" charset="0"/>
              </a:endParaRPr>
            </a:p>
          </p:txBody>
        </p:sp>
        <p:sp>
          <p:nvSpPr>
            <p:cNvPr id="48253" name="Rectangle 37">
              <a:extLst>
                <a:ext uri="{FF2B5EF4-FFF2-40B4-BE49-F238E27FC236}">
                  <a16:creationId xmlns:a16="http://schemas.microsoft.com/office/drawing/2014/main" id="{1C2D4CAC-29AA-B242-BE71-A66CE9EEBBCA}"/>
                </a:ext>
              </a:extLst>
            </p:cNvPr>
            <p:cNvSpPr>
              <a:spLocks noChangeArrowheads="1"/>
            </p:cNvSpPr>
            <p:nvPr/>
          </p:nvSpPr>
          <p:spPr bwMode="auto">
            <a:xfrm>
              <a:off x="3744"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B760F9"/>
                  </a:solidFill>
                  <a:latin typeface="Calibri" panose="020F0502020204030204" pitchFamily="34" charset="0"/>
                </a:rPr>
                <a:t>I</a:t>
              </a:r>
              <a:r>
                <a:rPr lang="en-US" altLang="en-US" sz="1800" baseline="-25000">
                  <a:solidFill>
                    <a:srgbClr val="B760F9"/>
                  </a:solidFill>
                  <a:latin typeface="Calibri" panose="020F0502020204030204" pitchFamily="34" charset="0"/>
                </a:rPr>
                <a:t>4</a:t>
              </a:r>
              <a:endParaRPr lang="en-US" altLang="en-US" sz="1800">
                <a:solidFill>
                  <a:srgbClr val="B760F9"/>
                </a:solidFill>
                <a:latin typeface="Calibri" panose="020F0502020204030204" pitchFamily="34" charset="0"/>
              </a:endParaRPr>
            </a:p>
          </p:txBody>
        </p:sp>
        <p:sp>
          <p:nvSpPr>
            <p:cNvPr id="48254" name="Rectangle 38">
              <a:extLst>
                <a:ext uri="{FF2B5EF4-FFF2-40B4-BE49-F238E27FC236}">
                  <a16:creationId xmlns:a16="http://schemas.microsoft.com/office/drawing/2014/main" id="{861B1256-1F75-124B-B127-AC9D28B28997}"/>
                </a:ext>
              </a:extLst>
            </p:cNvPr>
            <p:cNvSpPr>
              <a:spLocks noChangeArrowheads="1"/>
            </p:cNvSpPr>
            <p:nvPr/>
          </p:nvSpPr>
          <p:spPr bwMode="auto">
            <a:xfrm>
              <a:off x="3744"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5</a:t>
              </a:r>
              <a:endParaRPr lang="en-US" altLang="en-US" sz="1800">
                <a:solidFill>
                  <a:srgbClr val="000000"/>
                </a:solidFill>
                <a:latin typeface="Calibri" panose="020F0502020204030204" pitchFamily="34" charset="0"/>
              </a:endParaRPr>
            </a:p>
          </p:txBody>
        </p:sp>
        <p:sp>
          <p:nvSpPr>
            <p:cNvPr id="48255" name="Rectangle 39">
              <a:extLst>
                <a:ext uri="{FF2B5EF4-FFF2-40B4-BE49-F238E27FC236}">
                  <a16:creationId xmlns:a16="http://schemas.microsoft.com/office/drawing/2014/main" id="{B0807FF3-FDAE-B747-8079-54C10F7CF809}"/>
                </a:ext>
              </a:extLst>
            </p:cNvPr>
            <p:cNvSpPr>
              <a:spLocks noChangeArrowheads="1"/>
            </p:cNvSpPr>
            <p:nvPr/>
          </p:nvSpPr>
          <p:spPr bwMode="auto">
            <a:xfrm>
              <a:off x="3744"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6</a:t>
              </a:r>
              <a:endParaRPr lang="en-US" altLang="en-US" sz="1800">
                <a:solidFill>
                  <a:srgbClr val="000000"/>
                </a:solidFill>
                <a:latin typeface="Calibri" panose="020F0502020204030204" pitchFamily="34" charset="0"/>
              </a:endParaRPr>
            </a:p>
          </p:txBody>
        </p:sp>
        <p:sp>
          <p:nvSpPr>
            <p:cNvPr id="48256" name="Rectangle 40">
              <a:extLst>
                <a:ext uri="{FF2B5EF4-FFF2-40B4-BE49-F238E27FC236}">
                  <a16:creationId xmlns:a16="http://schemas.microsoft.com/office/drawing/2014/main" id="{A9FA0255-47C2-9A49-A150-AC3A729F29A5}"/>
                </a:ext>
              </a:extLst>
            </p:cNvPr>
            <p:cNvSpPr>
              <a:spLocks noChangeArrowheads="1"/>
            </p:cNvSpPr>
            <p:nvPr/>
          </p:nvSpPr>
          <p:spPr bwMode="auto">
            <a:xfrm>
              <a:off x="3744"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7</a:t>
              </a:r>
              <a:endParaRPr lang="en-US" altLang="en-US" sz="1800">
                <a:solidFill>
                  <a:srgbClr val="000000"/>
                </a:solidFill>
                <a:latin typeface="Calibri" panose="020F0502020204030204" pitchFamily="34" charset="0"/>
              </a:endParaRPr>
            </a:p>
          </p:txBody>
        </p:sp>
      </p:grpSp>
      <p:grpSp>
        <p:nvGrpSpPr>
          <p:cNvPr id="43" name="Group 41">
            <a:extLst>
              <a:ext uri="{FF2B5EF4-FFF2-40B4-BE49-F238E27FC236}">
                <a16:creationId xmlns:a16="http://schemas.microsoft.com/office/drawing/2014/main" id="{B41C9493-DA0E-444B-A75F-A130A6255A2F}"/>
              </a:ext>
            </a:extLst>
          </p:cNvPr>
          <p:cNvGrpSpPr>
            <a:grpSpLocks/>
          </p:cNvGrpSpPr>
          <p:nvPr/>
        </p:nvGrpSpPr>
        <p:grpSpPr bwMode="auto">
          <a:xfrm>
            <a:off x="6477000" y="2362200"/>
            <a:ext cx="533400" cy="3810000"/>
            <a:chOff x="4080" y="1488"/>
            <a:chExt cx="336" cy="2400"/>
          </a:xfrm>
        </p:grpSpPr>
        <p:sp>
          <p:nvSpPr>
            <p:cNvPr id="48247" name="Rectangle 42">
              <a:extLst>
                <a:ext uri="{FF2B5EF4-FFF2-40B4-BE49-F238E27FC236}">
                  <a16:creationId xmlns:a16="http://schemas.microsoft.com/office/drawing/2014/main" id="{DDDA7A9E-4D04-264E-845D-554A6B005DB7}"/>
                </a:ext>
              </a:extLst>
            </p:cNvPr>
            <p:cNvSpPr>
              <a:spLocks noChangeArrowheads="1"/>
            </p:cNvSpPr>
            <p:nvPr/>
          </p:nvSpPr>
          <p:spPr bwMode="auto">
            <a:xfrm>
              <a:off x="4080"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B760F9"/>
                  </a:solidFill>
                  <a:latin typeface="Calibri" panose="020F0502020204030204" pitchFamily="34" charset="0"/>
                </a:rPr>
                <a:t>I</a:t>
              </a:r>
              <a:r>
                <a:rPr lang="en-US" altLang="en-US" sz="1800" baseline="-25000">
                  <a:solidFill>
                    <a:srgbClr val="B760F9"/>
                  </a:solidFill>
                  <a:latin typeface="Calibri" panose="020F0502020204030204" pitchFamily="34" charset="0"/>
                </a:rPr>
                <a:t>4</a:t>
              </a:r>
              <a:endParaRPr lang="en-US" altLang="en-US" sz="1800">
                <a:solidFill>
                  <a:srgbClr val="B760F9"/>
                </a:solidFill>
                <a:latin typeface="Calibri" panose="020F0502020204030204" pitchFamily="34" charset="0"/>
              </a:endParaRPr>
            </a:p>
          </p:txBody>
        </p:sp>
        <p:sp>
          <p:nvSpPr>
            <p:cNvPr id="48248" name="Rectangle 43">
              <a:extLst>
                <a:ext uri="{FF2B5EF4-FFF2-40B4-BE49-F238E27FC236}">
                  <a16:creationId xmlns:a16="http://schemas.microsoft.com/office/drawing/2014/main" id="{7D405C79-75CB-704F-915E-459844059306}"/>
                </a:ext>
              </a:extLst>
            </p:cNvPr>
            <p:cNvSpPr>
              <a:spLocks noChangeArrowheads="1"/>
            </p:cNvSpPr>
            <p:nvPr/>
          </p:nvSpPr>
          <p:spPr bwMode="auto">
            <a:xfrm>
              <a:off x="4080"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5</a:t>
              </a:r>
              <a:endParaRPr lang="en-US" altLang="en-US" sz="1800">
                <a:solidFill>
                  <a:srgbClr val="000000"/>
                </a:solidFill>
                <a:latin typeface="Calibri" panose="020F0502020204030204" pitchFamily="34" charset="0"/>
              </a:endParaRPr>
            </a:p>
          </p:txBody>
        </p:sp>
        <p:sp>
          <p:nvSpPr>
            <p:cNvPr id="48249" name="Rectangle 44">
              <a:extLst>
                <a:ext uri="{FF2B5EF4-FFF2-40B4-BE49-F238E27FC236}">
                  <a16:creationId xmlns:a16="http://schemas.microsoft.com/office/drawing/2014/main" id="{02FF7FF2-6159-CE45-8647-3927B556360A}"/>
                </a:ext>
              </a:extLst>
            </p:cNvPr>
            <p:cNvSpPr>
              <a:spLocks noChangeArrowheads="1"/>
            </p:cNvSpPr>
            <p:nvPr/>
          </p:nvSpPr>
          <p:spPr bwMode="auto">
            <a:xfrm>
              <a:off x="4080"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6</a:t>
              </a:r>
              <a:endParaRPr lang="en-US" altLang="en-US" sz="1800">
                <a:solidFill>
                  <a:srgbClr val="000000"/>
                </a:solidFill>
                <a:latin typeface="Calibri" panose="020F0502020204030204" pitchFamily="34" charset="0"/>
              </a:endParaRPr>
            </a:p>
          </p:txBody>
        </p:sp>
        <p:sp>
          <p:nvSpPr>
            <p:cNvPr id="48250" name="Rectangle 45">
              <a:extLst>
                <a:ext uri="{FF2B5EF4-FFF2-40B4-BE49-F238E27FC236}">
                  <a16:creationId xmlns:a16="http://schemas.microsoft.com/office/drawing/2014/main" id="{0B3C05EE-657A-344C-AE59-5FE2EAAA9827}"/>
                </a:ext>
              </a:extLst>
            </p:cNvPr>
            <p:cNvSpPr>
              <a:spLocks noChangeArrowheads="1"/>
            </p:cNvSpPr>
            <p:nvPr/>
          </p:nvSpPr>
          <p:spPr bwMode="auto">
            <a:xfrm>
              <a:off x="4080"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7</a:t>
              </a:r>
              <a:endParaRPr lang="en-US" altLang="en-US" sz="1800">
                <a:solidFill>
                  <a:srgbClr val="000000"/>
                </a:solidFill>
                <a:latin typeface="Calibri" panose="020F0502020204030204" pitchFamily="34" charset="0"/>
              </a:endParaRPr>
            </a:p>
          </p:txBody>
        </p:sp>
        <p:sp>
          <p:nvSpPr>
            <p:cNvPr id="48251" name="Rectangle 46">
              <a:extLst>
                <a:ext uri="{FF2B5EF4-FFF2-40B4-BE49-F238E27FC236}">
                  <a16:creationId xmlns:a16="http://schemas.microsoft.com/office/drawing/2014/main" id="{2D389A34-FE10-E741-A93E-5FD21C116454}"/>
                </a:ext>
              </a:extLst>
            </p:cNvPr>
            <p:cNvSpPr>
              <a:spLocks noChangeArrowheads="1"/>
            </p:cNvSpPr>
            <p:nvPr/>
          </p:nvSpPr>
          <p:spPr bwMode="auto">
            <a:xfrm>
              <a:off x="4080"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8</a:t>
              </a:r>
              <a:endParaRPr lang="en-US" altLang="en-US" sz="1800">
                <a:solidFill>
                  <a:srgbClr val="000000"/>
                </a:solidFill>
                <a:latin typeface="Calibri" panose="020F0502020204030204" pitchFamily="34" charset="0"/>
              </a:endParaRPr>
            </a:p>
          </p:txBody>
        </p:sp>
      </p:grpSp>
      <p:grpSp>
        <p:nvGrpSpPr>
          <p:cNvPr id="49" name="Group 47">
            <a:extLst>
              <a:ext uri="{FF2B5EF4-FFF2-40B4-BE49-F238E27FC236}">
                <a16:creationId xmlns:a16="http://schemas.microsoft.com/office/drawing/2014/main" id="{4BC0207C-DB9E-9D4E-A18E-0CDEFE7BD2FE}"/>
              </a:ext>
            </a:extLst>
          </p:cNvPr>
          <p:cNvGrpSpPr>
            <a:grpSpLocks/>
          </p:cNvGrpSpPr>
          <p:nvPr/>
        </p:nvGrpSpPr>
        <p:grpSpPr bwMode="auto">
          <a:xfrm>
            <a:off x="7010400" y="2362200"/>
            <a:ext cx="533400" cy="3810000"/>
            <a:chOff x="4416" y="1488"/>
            <a:chExt cx="336" cy="2400"/>
          </a:xfrm>
        </p:grpSpPr>
        <p:sp>
          <p:nvSpPr>
            <p:cNvPr id="48242" name="Rectangle 48">
              <a:extLst>
                <a:ext uri="{FF2B5EF4-FFF2-40B4-BE49-F238E27FC236}">
                  <a16:creationId xmlns:a16="http://schemas.microsoft.com/office/drawing/2014/main" id="{2C224206-803A-384A-8954-385F2515563E}"/>
                </a:ext>
              </a:extLst>
            </p:cNvPr>
            <p:cNvSpPr>
              <a:spLocks noChangeArrowheads="1"/>
            </p:cNvSpPr>
            <p:nvPr/>
          </p:nvSpPr>
          <p:spPr bwMode="auto">
            <a:xfrm>
              <a:off x="4416"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5</a:t>
              </a:r>
              <a:endParaRPr lang="en-US" altLang="en-US" sz="1800">
                <a:solidFill>
                  <a:srgbClr val="000000"/>
                </a:solidFill>
                <a:latin typeface="Calibri" panose="020F0502020204030204" pitchFamily="34" charset="0"/>
              </a:endParaRPr>
            </a:p>
          </p:txBody>
        </p:sp>
        <p:sp>
          <p:nvSpPr>
            <p:cNvPr id="48243" name="Rectangle 49">
              <a:extLst>
                <a:ext uri="{FF2B5EF4-FFF2-40B4-BE49-F238E27FC236}">
                  <a16:creationId xmlns:a16="http://schemas.microsoft.com/office/drawing/2014/main" id="{221FD0B7-DC6A-2945-A53A-2DED2160763B}"/>
                </a:ext>
              </a:extLst>
            </p:cNvPr>
            <p:cNvSpPr>
              <a:spLocks noChangeArrowheads="1"/>
            </p:cNvSpPr>
            <p:nvPr/>
          </p:nvSpPr>
          <p:spPr bwMode="auto">
            <a:xfrm>
              <a:off x="4416"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6</a:t>
              </a:r>
              <a:endParaRPr lang="en-US" altLang="en-US" sz="1800">
                <a:solidFill>
                  <a:srgbClr val="000000"/>
                </a:solidFill>
                <a:latin typeface="Calibri" panose="020F0502020204030204" pitchFamily="34" charset="0"/>
              </a:endParaRPr>
            </a:p>
          </p:txBody>
        </p:sp>
        <p:sp>
          <p:nvSpPr>
            <p:cNvPr id="48244" name="Rectangle 50">
              <a:extLst>
                <a:ext uri="{FF2B5EF4-FFF2-40B4-BE49-F238E27FC236}">
                  <a16:creationId xmlns:a16="http://schemas.microsoft.com/office/drawing/2014/main" id="{1A8AA5B2-706C-1842-BE27-79CD0588DAF3}"/>
                </a:ext>
              </a:extLst>
            </p:cNvPr>
            <p:cNvSpPr>
              <a:spLocks noChangeArrowheads="1"/>
            </p:cNvSpPr>
            <p:nvPr/>
          </p:nvSpPr>
          <p:spPr bwMode="auto">
            <a:xfrm>
              <a:off x="4416"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7</a:t>
              </a:r>
              <a:endParaRPr lang="en-US" altLang="en-US" sz="1800">
                <a:solidFill>
                  <a:srgbClr val="000000"/>
                </a:solidFill>
                <a:latin typeface="Calibri" panose="020F0502020204030204" pitchFamily="34" charset="0"/>
              </a:endParaRPr>
            </a:p>
          </p:txBody>
        </p:sp>
        <p:sp>
          <p:nvSpPr>
            <p:cNvPr id="48245" name="Rectangle 51">
              <a:extLst>
                <a:ext uri="{FF2B5EF4-FFF2-40B4-BE49-F238E27FC236}">
                  <a16:creationId xmlns:a16="http://schemas.microsoft.com/office/drawing/2014/main" id="{2432F352-357A-F746-BE41-ACEC2B868FFB}"/>
                </a:ext>
              </a:extLst>
            </p:cNvPr>
            <p:cNvSpPr>
              <a:spLocks noChangeArrowheads="1"/>
            </p:cNvSpPr>
            <p:nvPr/>
          </p:nvSpPr>
          <p:spPr bwMode="auto">
            <a:xfrm>
              <a:off x="4416"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8</a:t>
              </a:r>
              <a:endParaRPr lang="en-US" altLang="en-US" sz="1800">
                <a:solidFill>
                  <a:srgbClr val="000000"/>
                </a:solidFill>
                <a:latin typeface="Calibri" panose="020F0502020204030204" pitchFamily="34" charset="0"/>
              </a:endParaRPr>
            </a:p>
          </p:txBody>
        </p:sp>
        <p:sp>
          <p:nvSpPr>
            <p:cNvPr id="48246" name="Rectangle 52">
              <a:extLst>
                <a:ext uri="{FF2B5EF4-FFF2-40B4-BE49-F238E27FC236}">
                  <a16:creationId xmlns:a16="http://schemas.microsoft.com/office/drawing/2014/main" id="{910CBFA8-0EED-2849-99E4-1815CFD8FC86}"/>
                </a:ext>
              </a:extLst>
            </p:cNvPr>
            <p:cNvSpPr>
              <a:spLocks noChangeArrowheads="1"/>
            </p:cNvSpPr>
            <p:nvPr/>
          </p:nvSpPr>
          <p:spPr bwMode="auto">
            <a:xfrm>
              <a:off x="4416"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9</a:t>
              </a:r>
              <a:endParaRPr lang="en-US" altLang="en-US" sz="1800">
                <a:solidFill>
                  <a:srgbClr val="000000"/>
                </a:solidFill>
                <a:latin typeface="Calibri" panose="020F0502020204030204" pitchFamily="34" charset="0"/>
              </a:endParaRPr>
            </a:p>
          </p:txBody>
        </p:sp>
      </p:grpSp>
      <p:grpSp>
        <p:nvGrpSpPr>
          <p:cNvPr id="55" name="Group 53">
            <a:extLst>
              <a:ext uri="{FF2B5EF4-FFF2-40B4-BE49-F238E27FC236}">
                <a16:creationId xmlns:a16="http://schemas.microsoft.com/office/drawing/2014/main" id="{C177BCA5-C065-8A48-B670-CEC30C55B612}"/>
              </a:ext>
            </a:extLst>
          </p:cNvPr>
          <p:cNvGrpSpPr>
            <a:grpSpLocks/>
          </p:cNvGrpSpPr>
          <p:nvPr/>
        </p:nvGrpSpPr>
        <p:grpSpPr bwMode="auto">
          <a:xfrm>
            <a:off x="7543800" y="2362200"/>
            <a:ext cx="533400" cy="3810000"/>
            <a:chOff x="4752" y="1488"/>
            <a:chExt cx="336" cy="2400"/>
          </a:xfrm>
        </p:grpSpPr>
        <p:sp>
          <p:nvSpPr>
            <p:cNvPr id="48237" name="Rectangle 54">
              <a:extLst>
                <a:ext uri="{FF2B5EF4-FFF2-40B4-BE49-F238E27FC236}">
                  <a16:creationId xmlns:a16="http://schemas.microsoft.com/office/drawing/2014/main" id="{6381074F-7904-CB41-80C8-31431A61162C}"/>
                </a:ext>
              </a:extLst>
            </p:cNvPr>
            <p:cNvSpPr>
              <a:spLocks noChangeArrowheads="1"/>
            </p:cNvSpPr>
            <p:nvPr/>
          </p:nvSpPr>
          <p:spPr bwMode="auto">
            <a:xfrm>
              <a:off x="4752" y="340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6</a:t>
              </a:r>
              <a:endParaRPr lang="en-US" altLang="en-US" sz="1800">
                <a:solidFill>
                  <a:srgbClr val="000000"/>
                </a:solidFill>
                <a:latin typeface="Calibri" panose="020F0502020204030204" pitchFamily="34" charset="0"/>
              </a:endParaRPr>
            </a:p>
          </p:txBody>
        </p:sp>
        <p:sp>
          <p:nvSpPr>
            <p:cNvPr id="48238" name="Rectangle 55">
              <a:extLst>
                <a:ext uri="{FF2B5EF4-FFF2-40B4-BE49-F238E27FC236}">
                  <a16:creationId xmlns:a16="http://schemas.microsoft.com/office/drawing/2014/main" id="{D3B33F42-2E5F-7340-B733-2B7C7BBB955A}"/>
                </a:ext>
              </a:extLst>
            </p:cNvPr>
            <p:cNvSpPr>
              <a:spLocks noChangeArrowheads="1"/>
            </p:cNvSpPr>
            <p:nvPr/>
          </p:nvSpPr>
          <p:spPr bwMode="auto">
            <a:xfrm>
              <a:off x="4752" y="292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7</a:t>
              </a:r>
              <a:endParaRPr lang="en-US" altLang="en-US" sz="1800">
                <a:solidFill>
                  <a:srgbClr val="000000"/>
                </a:solidFill>
                <a:latin typeface="Calibri" panose="020F0502020204030204" pitchFamily="34" charset="0"/>
              </a:endParaRPr>
            </a:p>
          </p:txBody>
        </p:sp>
        <p:sp>
          <p:nvSpPr>
            <p:cNvPr id="48239" name="Rectangle 56">
              <a:extLst>
                <a:ext uri="{FF2B5EF4-FFF2-40B4-BE49-F238E27FC236}">
                  <a16:creationId xmlns:a16="http://schemas.microsoft.com/office/drawing/2014/main" id="{5F97EE5E-5AAE-A749-B1F6-733CD325312F}"/>
                </a:ext>
              </a:extLst>
            </p:cNvPr>
            <p:cNvSpPr>
              <a:spLocks noChangeArrowheads="1"/>
            </p:cNvSpPr>
            <p:nvPr/>
          </p:nvSpPr>
          <p:spPr bwMode="auto">
            <a:xfrm>
              <a:off x="4752" y="244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8</a:t>
              </a:r>
              <a:endParaRPr lang="en-US" altLang="en-US" sz="1800">
                <a:solidFill>
                  <a:srgbClr val="000000"/>
                </a:solidFill>
                <a:latin typeface="Calibri" panose="020F0502020204030204" pitchFamily="34" charset="0"/>
              </a:endParaRPr>
            </a:p>
          </p:txBody>
        </p:sp>
        <p:sp>
          <p:nvSpPr>
            <p:cNvPr id="48240" name="Rectangle 57">
              <a:extLst>
                <a:ext uri="{FF2B5EF4-FFF2-40B4-BE49-F238E27FC236}">
                  <a16:creationId xmlns:a16="http://schemas.microsoft.com/office/drawing/2014/main" id="{ACA098EF-47D2-9842-A362-9BFA5196912C}"/>
                </a:ext>
              </a:extLst>
            </p:cNvPr>
            <p:cNvSpPr>
              <a:spLocks noChangeArrowheads="1"/>
            </p:cNvSpPr>
            <p:nvPr/>
          </p:nvSpPr>
          <p:spPr bwMode="auto">
            <a:xfrm>
              <a:off x="4752" y="196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9</a:t>
              </a:r>
              <a:endParaRPr lang="en-US" altLang="en-US" sz="1800">
                <a:solidFill>
                  <a:srgbClr val="000000"/>
                </a:solidFill>
                <a:latin typeface="Calibri" panose="020F0502020204030204" pitchFamily="34" charset="0"/>
              </a:endParaRPr>
            </a:p>
          </p:txBody>
        </p:sp>
        <p:sp>
          <p:nvSpPr>
            <p:cNvPr id="48241" name="Rectangle 58">
              <a:extLst>
                <a:ext uri="{FF2B5EF4-FFF2-40B4-BE49-F238E27FC236}">
                  <a16:creationId xmlns:a16="http://schemas.microsoft.com/office/drawing/2014/main" id="{B9ED0F65-CFC0-0A4F-BEC1-E4494B23D8BD}"/>
                </a:ext>
              </a:extLst>
            </p:cNvPr>
            <p:cNvSpPr>
              <a:spLocks noChangeArrowheads="1"/>
            </p:cNvSpPr>
            <p:nvPr/>
          </p:nvSpPr>
          <p:spPr bwMode="auto">
            <a:xfrm>
              <a:off x="4752" y="1488"/>
              <a:ext cx="336" cy="48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rgbClr val="000000"/>
                  </a:solidFill>
                  <a:latin typeface="Calibri" panose="020F0502020204030204" pitchFamily="34" charset="0"/>
                </a:rPr>
                <a:t>I</a:t>
              </a:r>
              <a:r>
                <a:rPr lang="en-US" altLang="en-US" sz="1800" baseline="-25000">
                  <a:solidFill>
                    <a:srgbClr val="000000"/>
                  </a:solidFill>
                  <a:latin typeface="Calibri" panose="020F0502020204030204" pitchFamily="34" charset="0"/>
                </a:rPr>
                <a:t>10</a:t>
              </a:r>
              <a:endParaRPr lang="en-US" altLang="en-US" sz="1800">
                <a:solidFill>
                  <a:srgbClr val="000000"/>
                </a:solidFill>
                <a:latin typeface="Calibri" panose="020F0502020204030204" pitchFamily="34" charset="0"/>
              </a:endParaRPr>
            </a:p>
          </p:txBody>
        </p:sp>
      </p:grpSp>
      <p:graphicFrame>
        <p:nvGraphicFramePr>
          <p:cNvPr id="61" name="Group 59">
            <a:extLst>
              <a:ext uri="{FF2B5EF4-FFF2-40B4-BE49-F238E27FC236}">
                <a16:creationId xmlns:a16="http://schemas.microsoft.com/office/drawing/2014/main" id="{E21008E3-F0EF-E54C-8BD2-71F40DDD6931}"/>
              </a:ext>
            </a:extLst>
          </p:cNvPr>
          <p:cNvGraphicFramePr>
            <a:graphicFrameLocks noGrp="1"/>
          </p:cNvGraphicFramePr>
          <p:nvPr/>
        </p:nvGraphicFramePr>
        <p:xfrm>
          <a:off x="1284288" y="1600200"/>
          <a:ext cx="6781800" cy="4572000"/>
        </p:xfrm>
        <a:graphic>
          <a:graphicData uri="http://schemas.openxmlformats.org/drawingml/2006/table">
            <a:tbl>
              <a:tblPr/>
              <a:tblGrid>
                <a:gridCol w="933450">
                  <a:extLst>
                    <a:ext uri="{9D8B030D-6E8A-4147-A177-3AD203B41FA5}">
                      <a16:colId xmlns:a16="http://schemas.microsoft.com/office/drawing/2014/main" val="20000"/>
                    </a:ext>
                  </a:extLst>
                </a:gridCol>
                <a:gridCol w="531812">
                  <a:extLst>
                    <a:ext uri="{9D8B030D-6E8A-4147-A177-3AD203B41FA5}">
                      <a16:colId xmlns:a16="http://schemas.microsoft.com/office/drawing/2014/main" val="20001"/>
                    </a:ext>
                  </a:extLst>
                </a:gridCol>
                <a:gridCol w="531813">
                  <a:extLst>
                    <a:ext uri="{9D8B030D-6E8A-4147-A177-3AD203B41FA5}">
                      <a16:colId xmlns:a16="http://schemas.microsoft.com/office/drawing/2014/main" val="20002"/>
                    </a:ext>
                  </a:extLst>
                </a:gridCol>
                <a:gridCol w="531812">
                  <a:extLst>
                    <a:ext uri="{9D8B030D-6E8A-4147-A177-3AD203B41FA5}">
                      <a16:colId xmlns:a16="http://schemas.microsoft.com/office/drawing/2014/main" val="20003"/>
                    </a:ext>
                  </a:extLst>
                </a:gridCol>
                <a:gridCol w="530225">
                  <a:extLst>
                    <a:ext uri="{9D8B030D-6E8A-4147-A177-3AD203B41FA5}">
                      <a16:colId xmlns:a16="http://schemas.microsoft.com/office/drawing/2014/main" val="20004"/>
                    </a:ext>
                  </a:extLst>
                </a:gridCol>
                <a:gridCol w="531813">
                  <a:extLst>
                    <a:ext uri="{9D8B030D-6E8A-4147-A177-3AD203B41FA5}">
                      <a16:colId xmlns:a16="http://schemas.microsoft.com/office/drawing/2014/main" val="20005"/>
                    </a:ext>
                  </a:extLst>
                </a:gridCol>
                <a:gridCol w="531812">
                  <a:extLst>
                    <a:ext uri="{9D8B030D-6E8A-4147-A177-3AD203B41FA5}">
                      <a16:colId xmlns:a16="http://schemas.microsoft.com/office/drawing/2014/main" val="20006"/>
                    </a:ext>
                  </a:extLst>
                </a:gridCol>
                <a:gridCol w="531813">
                  <a:extLst>
                    <a:ext uri="{9D8B030D-6E8A-4147-A177-3AD203B41FA5}">
                      <a16:colId xmlns:a16="http://schemas.microsoft.com/office/drawing/2014/main" val="20007"/>
                    </a:ext>
                  </a:extLst>
                </a:gridCol>
                <a:gridCol w="531812">
                  <a:extLst>
                    <a:ext uri="{9D8B030D-6E8A-4147-A177-3AD203B41FA5}">
                      <a16:colId xmlns:a16="http://schemas.microsoft.com/office/drawing/2014/main" val="20008"/>
                    </a:ext>
                  </a:extLst>
                </a:gridCol>
                <a:gridCol w="531813">
                  <a:extLst>
                    <a:ext uri="{9D8B030D-6E8A-4147-A177-3AD203B41FA5}">
                      <a16:colId xmlns:a16="http://schemas.microsoft.com/office/drawing/2014/main" val="20009"/>
                    </a:ext>
                  </a:extLst>
                </a:gridCol>
                <a:gridCol w="531812">
                  <a:extLst>
                    <a:ext uri="{9D8B030D-6E8A-4147-A177-3AD203B41FA5}">
                      <a16:colId xmlns:a16="http://schemas.microsoft.com/office/drawing/2014/main" val="20010"/>
                    </a:ext>
                  </a:extLst>
                </a:gridCol>
                <a:gridCol w="531813">
                  <a:extLst>
                    <a:ext uri="{9D8B030D-6E8A-4147-A177-3AD203B41FA5}">
                      <a16:colId xmlns:a16="http://schemas.microsoft.com/office/drawing/2014/main" val="20011"/>
                    </a:ext>
                  </a:extLst>
                </a:gridCol>
              </a:tblGrid>
              <a:tr h="762000">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0" i="0" u="none" strike="noStrike" cap="none" normalizeH="0" baseline="0">
                        <a:ln>
                          <a:noFill/>
                        </a:ln>
                        <a:solidFill>
                          <a:schemeClr val="tx1"/>
                        </a:solidFill>
                        <a:effectLst/>
                        <a:latin typeface="Calibri" charset="0"/>
                        <a:ea typeface="ＭＳ Ｐゴシック"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0</a:t>
                      </a:r>
                      <a:endParaRPr kumimoji="0" lang="en-US" altLang="en-US" sz="2000" b="0"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1</a:t>
                      </a:r>
                      <a:endParaRPr kumimoji="0" lang="en-US" altLang="en-US" sz="2000" b="0"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t</a:t>
                      </a:r>
                      <a:r>
                        <a:rPr kumimoji="0" lang="en-US" altLang="en-US" sz="2000" b="0" i="0" u="none" strike="noStrike" cap="none" normalizeH="0" baseline="-25000">
                          <a:ln>
                            <a:noFill/>
                          </a:ln>
                          <a:solidFill>
                            <a:schemeClr val="tx1"/>
                          </a:solidFill>
                          <a:effectLst/>
                          <a:latin typeface="Calibri" charset="0"/>
                          <a:ea typeface="ＭＳ Ｐゴシック" charset="-128"/>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762000">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IF</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accent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accent2"/>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2000">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ID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accent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accent2"/>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16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62000">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EX</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accent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16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2000">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MEM</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2000">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r>
                        <a:rPr kumimoji="0" lang="en-US" altLang="en-US" sz="2000" b="0" i="0" u="none" strike="noStrike" cap="none" normalizeH="0" baseline="0">
                          <a:ln>
                            <a:noFill/>
                          </a:ln>
                          <a:solidFill>
                            <a:schemeClr val="tx1"/>
                          </a:solidFill>
                          <a:effectLst/>
                          <a:latin typeface="Calibri" charset="0"/>
                          <a:ea typeface="ＭＳ Ｐゴシック" charset="-128"/>
                        </a:rPr>
                        <a:t>WB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65000"/>
                        <a:buFont typeface="Wingdings" charset="2"/>
                        <a:defRPr sz="2000">
                          <a:solidFill>
                            <a:schemeClr val="tx1"/>
                          </a:solidFill>
                          <a:latin typeface="Tahoma" charset="0"/>
                          <a:ea typeface="ＭＳ Ｐゴシック" charset="-128"/>
                        </a:defRPr>
                      </a:lvl1pPr>
                      <a:lvl2pPr marL="742950" indent="-285750" eaLnBrk="0" hangingPunct="0">
                        <a:spcBef>
                          <a:spcPct val="20000"/>
                        </a:spcBef>
                        <a:buClr>
                          <a:schemeClr val="accent2"/>
                        </a:buClr>
                        <a:buSzPct val="60000"/>
                        <a:buFont typeface="Wingdings" charset="2"/>
                        <a:defRPr sz="2000">
                          <a:solidFill>
                            <a:schemeClr val="tx1"/>
                          </a:solidFill>
                          <a:latin typeface="Tahoma" charset="0"/>
                          <a:ea typeface="ＭＳ Ｐゴシック" charset="-128"/>
                        </a:defRPr>
                      </a:lvl2pPr>
                      <a:lvl3pPr marL="1143000" indent="-228600" eaLnBrk="0" hangingPunct="0">
                        <a:spcBef>
                          <a:spcPct val="20000"/>
                        </a:spcBef>
                        <a:buClr>
                          <a:schemeClr val="accent1"/>
                        </a:buClr>
                        <a:buSzPct val="65000"/>
                        <a:buFont typeface="Wingdings" charset="2"/>
                        <a:defRPr>
                          <a:solidFill>
                            <a:schemeClr val="tx1"/>
                          </a:solidFill>
                          <a:latin typeface="Tahoma" charset="0"/>
                          <a:ea typeface="ＭＳ Ｐゴシック" charset="-128"/>
                        </a:defRPr>
                      </a:lvl3pPr>
                      <a:lvl4pPr marL="1600200" indent="-228600" eaLnBrk="0" hangingPunct="0">
                        <a:spcBef>
                          <a:spcPct val="20000"/>
                        </a:spcBef>
                        <a:buClr>
                          <a:schemeClr val="accent2"/>
                        </a:buClr>
                        <a:buSzPct val="70000"/>
                        <a:buFont typeface="Wingdings" charset="2"/>
                        <a:defRPr sz="1600">
                          <a:solidFill>
                            <a:schemeClr val="tx1"/>
                          </a:solidFill>
                          <a:latin typeface="Tahoma" charset="0"/>
                          <a:ea typeface="ＭＳ Ｐゴシック" charset="-128"/>
                        </a:defRPr>
                      </a:lvl4pPr>
                      <a:lvl5pPr marL="2057400" indent="-228600" eaLnBrk="0" hangingPunct="0">
                        <a:spcBef>
                          <a:spcPct val="20000"/>
                        </a:spcBef>
                        <a:buClr>
                          <a:schemeClr val="accent1"/>
                        </a:buClr>
                        <a:buSzPct val="75000"/>
                        <a:buFont typeface="Wingdings" charset="2"/>
                        <a:defRPr sz="1400">
                          <a:solidFill>
                            <a:schemeClr val="tx1"/>
                          </a:solidFill>
                          <a:latin typeface="Tahoma" charset="0"/>
                          <a:ea typeface="ＭＳ Ｐゴシック" charset="-128"/>
                        </a:defRPr>
                      </a:lvl5pPr>
                      <a:lvl6pPr marL="25146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6pPr>
                      <a:lvl7pPr marL="29718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7pPr>
                      <a:lvl8pPr marL="34290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8pPr>
                      <a:lvl9pPr marL="3886200" indent="-228600" eaLnBrk="0" fontAlgn="base" hangingPunct="0">
                        <a:spcBef>
                          <a:spcPct val="20000"/>
                        </a:spcBef>
                        <a:spcAft>
                          <a:spcPct val="0"/>
                        </a:spcAft>
                        <a:buClr>
                          <a:schemeClr val="accent1"/>
                        </a:buClr>
                        <a:buSzPct val="75000"/>
                        <a:buFont typeface="Wingdings" charset="2"/>
                        <a:defRPr sz="1400">
                          <a:solidFill>
                            <a:schemeClr val="tx1"/>
                          </a:solidFill>
                          <a:latin typeface="Tahoma" charset="0"/>
                          <a:ea typeface="ＭＳ Ｐゴシック" charset="-128"/>
                        </a:defRPr>
                      </a:lvl9pPr>
                    </a:lstStyle>
                    <a:p>
                      <a:pPr marL="0" marR="0" lvl="0" indent="0" algn="ctr" defTabSz="914400" rtl="0" eaLnBrk="0" fontAlgn="base" latinLnBrk="0" hangingPunct="0">
                        <a:lnSpc>
                          <a:spcPct val="100000"/>
                        </a:lnSpc>
                        <a:spcBef>
                          <a:spcPct val="20000"/>
                        </a:spcBef>
                        <a:spcAft>
                          <a:spcPct val="0"/>
                        </a:spcAft>
                        <a:buClr>
                          <a:schemeClr val="accent2"/>
                        </a:buClr>
                        <a:buSzPct val="70000"/>
                        <a:buFont typeface="Wingdings" charset="2"/>
                        <a:buNone/>
                        <a:tabLst/>
                      </a:pPr>
                      <a:endParaRPr kumimoji="0" lang="en-US" altLang="en-US" sz="2000" b="1" i="0" u="none" strike="noStrike" cap="none" normalizeH="0" baseline="0">
                        <a:ln>
                          <a:noFill/>
                        </a:ln>
                        <a:solidFill>
                          <a:schemeClr val="tx1"/>
                        </a:solidFill>
                        <a:effectLst/>
                        <a:latin typeface="Calibri"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923211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CEAE0AC9-2A24-7C47-97E2-58917C8CA5AF}"/>
              </a:ext>
            </a:extLst>
          </p:cNvPr>
          <p:cNvSpPr>
            <a:spLocks noGrp="1" noChangeArrowheads="1"/>
          </p:cNvSpPr>
          <p:nvPr>
            <p:ph type="title"/>
          </p:nvPr>
        </p:nvSpPr>
        <p:spPr>
          <a:xfrm>
            <a:off x="357188" y="304800"/>
            <a:ext cx="7591425" cy="762000"/>
          </a:xfrm>
        </p:spPr>
        <p:txBody>
          <a:bodyPr/>
          <a:lstStyle/>
          <a:p>
            <a:pPr eaLnBrk="1" hangingPunct="1"/>
            <a:r>
              <a:rPr lang="en-US" altLang="en-US" dirty="0">
                <a:ea typeface="ＭＳ Ｐゴシック" panose="020B0600070205080204" pitchFamily="34" charset="-128"/>
              </a:rPr>
              <a:t>Recall: Pipelined Control</a:t>
            </a:r>
            <a:endParaRPr lang="de-CH" altLang="en-US" dirty="0">
              <a:ea typeface="ＭＳ Ｐゴシック" panose="020B0600070205080204" pitchFamily="34" charset="-128"/>
            </a:endParaRPr>
          </a:p>
        </p:txBody>
      </p:sp>
      <p:graphicFrame>
        <p:nvGraphicFramePr>
          <p:cNvPr id="56322" name="Content Placeholder 4">
            <a:extLst>
              <a:ext uri="{FF2B5EF4-FFF2-40B4-BE49-F238E27FC236}">
                <a16:creationId xmlns:a16="http://schemas.microsoft.com/office/drawing/2014/main" id="{B4EF8F08-886D-B243-B198-6798BB7207A7}"/>
              </a:ext>
            </a:extLst>
          </p:cNvPr>
          <p:cNvGraphicFramePr>
            <a:graphicFrameLocks noGrp="1" noChangeAspect="1"/>
          </p:cNvGraphicFramePr>
          <p:nvPr>
            <p:ph idx="1"/>
            <p:custDataLst>
              <p:tags r:id="rId1"/>
            </p:custDataLst>
          </p:nvPr>
        </p:nvGraphicFramePr>
        <p:xfrm>
          <a:off x="500063" y="1096963"/>
          <a:ext cx="8302625" cy="4603750"/>
        </p:xfrm>
        <a:graphic>
          <a:graphicData uri="http://schemas.openxmlformats.org/presentationml/2006/ole">
            <mc:AlternateContent xmlns:mc="http://schemas.openxmlformats.org/markup-compatibility/2006">
              <mc:Choice xmlns:v="urn:schemas-microsoft-com:vml" Requires="v">
                <p:oleObj name="VISIO" r:id="rId3" imgW="33210500" imgH="18415000" progId="Visio.Drawing.6">
                  <p:embed/>
                </p:oleObj>
              </mc:Choice>
              <mc:Fallback>
                <p:oleObj name="VISIO" r:id="rId3" imgW="33210500" imgH="18415000" progId="Visio.Drawing.6">
                  <p:embed/>
                  <p:pic>
                    <p:nvPicPr>
                      <p:cNvPr id="56322" name="Content Placeholder 4">
                        <a:extLst>
                          <a:ext uri="{FF2B5EF4-FFF2-40B4-BE49-F238E27FC236}">
                            <a16:creationId xmlns:a16="http://schemas.microsoft.com/office/drawing/2014/main" id="{B4EF8F08-886D-B243-B198-6798BB7207A7}"/>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1096963"/>
                        <a:ext cx="8302625"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3" name="Content Placeholder 3">
            <a:extLst>
              <a:ext uri="{FF2B5EF4-FFF2-40B4-BE49-F238E27FC236}">
                <a16:creationId xmlns:a16="http://schemas.microsoft.com/office/drawing/2014/main" id="{B636EDE3-AB57-5C40-9F0F-32FFE33AE169}"/>
              </a:ext>
            </a:extLst>
          </p:cNvPr>
          <p:cNvSpPr>
            <a:spLocks noGrp="1" noChangeArrowheads="1"/>
          </p:cNvSpPr>
          <p:nvPr>
            <p:ph idx="11"/>
          </p:nvPr>
        </p:nvSpPr>
        <p:spPr>
          <a:xfrm>
            <a:off x="462396" y="5700713"/>
            <a:ext cx="7896225" cy="914400"/>
          </a:xfrm>
        </p:spPr>
        <p:txBody>
          <a:bodyPr/>
          <a:lstStyle/>
          <a:p>
            <a:pPr eaLnBrk="1" hangingPunct="1"/>
            <a:r>
              <a:rPr lang="en-US" altLang="en-US" dirty="0">
                <a:ea typeface="ＭＳ Ｐゴシック" panose="020B0600070205080204" pitchFamily="34" charset="-128"/>
              </a:rPr>
              <a:t>Same control unit as single-cycle processor</a:t>
            </a:r>
            <a:br>
              <a:rPr lang="en-US" altLang="en-US" dirty="0">
                <a:ea typeface="ＭＳ Ｐゴシック" panose="020B0600070205080204" pitchFamily="34" charset="-128"/>
              </a:rPr>
            </a:br>
            <a:r>
              <a:rPr lang="en-US" altLang="en-US" dirty="0">
                <a:ea typeface="ＭＳ Ｐゴシック" panose="020B0600070205080204" pitchFamily="34" charset="-128"/>
              </a:rPr>
              <a:t>Control delayed to proper pipeline stage</a:t>
            </a:r>
          </a:p>
        </p:txBody>
      </p:sp>
    </p:spTree>
    <p:extLst>
      <p:ext uri="{BB962C8B-B14F-4D97-AF65-F5344CB8AC3E}">
        <p14:creationId xmlns:p14="http://schemas.microsoft.com/office/powerpoint/2010/main" val="27668106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zh-CN" dirty="0">
                <a:ea typeface="ＭＳ Ｐゴシック" panose="020B0600070205080204" pitchFamily="34" charset="-128"/>
              </a:rPr>
              <a:t>Recall: </a:t>
            </a:r>
            <a:r>
              <a:rPr lang="en-US" altLang="en-US" dirty="0">
                <a:ea typeface="ＭＳ Ｐゴシック" panose="020B0600070205080204" pitchFamily="34" charset="-128"/>
              </a:rPr>
              <a:t>Data Dependence Types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Tree>
    <p:extLst>
      <p:ext uri="{BB962C8B-B14F-4D97-AF65-F5344CB8AC3E}">
        <p14:creationId xmlns:p14="http://schemas.microsoft.com/office/powerpoint/2010/main" val="2665594252"/>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436B271-5211-1E4C-838C-135BDBB68605}"/>
              </a:ext>
            </a:extLst>
          </p:cNvPr>
          <p:cNvSpPr>
            <a:spLocks noGrp="1" noChangeArrowheads="1"/>
          </p:cNvSpPr>
          <p:nvPr>
            <p:ph type="title"/>
          </p:nvPr>
        </p:nvSpPr>
        <p:spPr/>
        <p:txBody>
          <a:bodyPr/>
          <a:lstStyle/>
          <a:p>
            <a:r>
              <a:rPr lang="en-US" altLang="zh-CN" dirty="0">
                <a:ea typeface="ＭＳ Ｐゴシック" panose="020B0600070205080204" pitchFamily="34" charset="-128"/>
              </a:rPr>
              <a:t>Recall: </a:t>
            </a:r>
            <a:r>
              <a:rPr lang="en-US" altLang="en-US" dirty="0">
                <a:ea typeface="ＭＳ Ｐゴシック" panose="020B0600070205080204" pitchFamily="34" charset="-128"/>
              </a:rPr>
              <a:t>How to Handle Data Dependences</a:t>
            </a:r>
          </a:p>
        </p:txBody>
      </p:sp>
      <p:sp>
        <p:nvSpPr>
          <p:cNvPr id="70658" name="Content Placeholder 2">
            <a:extLst>
              <a:ext uri="{FF2B5EF4-FFF2-40B4-BE49-F238E27FC236}">
                <a16:creationId xmlns:a16="http://schemas.microsoft.com/office/drawing/2014/main" id="{2787A909-6DE3-7047-91F4-259BF22510BF}"/>
              </a:ext>
            </a:extLst>
          </p:cNvPr>
          <p:cNvSpPr>
            <a:spLocks noGrp="1" noChangeArrowheads="1"/>
          </p:cNvSpPr>
          <p:nvPr>
            <p:ph idx="1"/>
          </p:nvPr>
        </p:nvSpPr>
        <p:spPr>
          <a:xfrm>
            <a:off x="228600" y="996950"/>
            <a:ext cx="8763000" cy="5194300"/>
          </a:xfrm>
        </p:spPr>
        <p:txBody>
          <a:bodyPr/>
          <a:lstStyle/>
          <a:p>
            <a:r>
              <a:rPr lang="en-US" altLang="en-US" dirty="0">
                <a:ea typeface="ＭＳ Ｐゴシック" panose="020B0600070205080204" pitchFamily="34" charset="-128"/>
              </a:rPr>
              <a:t>Anti and output dependences</a:t>
            </a:r>
          </a:p>
          <a:p>
            <a:pPr lvl="1"/>
            <a:r>
              <a:rPr lang="en-US" altLang="zh-CN" dirty="0">
                <a:ea typeface="ＭＳ Ｐゴシック" panose="020B0600070205080204" pitchFamily="34" charset="-128"/>
              </a:rPr>
              <a:t>They </a:t>
            </a:r>
            <a:r>
              <a:rPr lang="en-US" altLang="en-US" dirty="0">
                <a:ea typeface="ＭＳ Ｐゴシック" panose="020B0600070205080204" pitchFamily="34" charset="-128"/>
              </a:rPr>
              <a:t>are easier to handle. </a:t>
            </a:r>
          </a:p>
          <a:p>
            <a:pPr lvl="1"/>
            <a:r>
              <a:rPr lang="en-US" altLang="en-US" dirty="0">
                <a:ea typeface="ＭＳ Ｐゴシック" panose="020B0600070205080204" pitchFamily="34" charset="-128"/>
              </a:rPr>
              <a:t>Write to the destination only in last stage and in program order</a:t>
            </a:r>
          </a:p>
          <a:p>
            <a:endParaRPr lang="en-US" altLang="en-US" dirty="0">
              <a:ea typeface="ＭＳ Ｐゴシック" panose="020B0600070205080204" pitchFamily="34" charset="-128"/>
            </a:endParaRPr>
          </a:p>
          <a:p>
            <a:r>
              <a:rPr lang="en-US" altLang="zh-CN" dirty="0">
                <a:ea typeface="ＭＳ Ｐゴシック" panose="020B0600070205080204" pitchFamily="34" charset="-128"/>
              </a:rPr>
              <a:t>H</a:t>
            </a:r>
            <a:r>
              <a:rPr lang="en-US" altLang="en-US" dirty="0">
                <a:ea typeface="ＭＳ Ｐゴシック" panose="020B0600070205080204" pitchFamily="34" charset="-128"/>
              </a:rPr>
              <a:t>andling flow dependences:</a:t>
            </a:r>
          </a:p>
          <a:p>
            <a:pPr lvl="1"/>
            <a:r>
              <a:rPr lang="en-US" altLang="en-US" dirty="0">
                <a:solidFill>
                  <a:srgbClr val="0432FF"/>
                </a:solidFill>
                <a:ea typeface="ＭＳ Ｐゴシック" panose="020B0600070205080204" pitchFamily="34" charset="-128"/>
              </a:rPr>
              <a:t>Hardware Pipeline Stall: </a:t>
            </a:r>
          </a:p>
          <a:p>
            <a:pPr lvl="2"/>
            <a:r>
              <a:rPr lang="en-US" altLang="en-US" dirty="0">
                <a:ea typeface="ＭＳ Ｐゴシック" panose="020B0600070205080204" pitchFamily="34" charset="-128"/>
              </a:rPr>
              <a:t>Detect and wait until value is available in register file</a:t>
            </a:r>
          </a:p>
          <a:p>
            <a:pPr lvl="1"/>
            <a:r>
              <a:rPr lang="en-US" altLang="en-US" dirty="0">
                <a:solidFill>
                  <a:srgbClr val="0432FF"/>
                </a:solidFill>
                <a:ea typeface="ＭＳ Ｐゴシック" panose="020B0600070205080204" pitchFamily="34" charset="-128"/>
              </a:rPr>
              <a:t>Software Pipeline Stall: </a:t>
            </a:r>
          </a:p>
          <a:p>
            <a:pPr lvl="2"/>
            <a:r>
              <a:rPr lang="en-US" altLang="en-US" dirty="0">
                <a:ea typeface="ＭＳ Ｐゴシック" panose="020B0600070205080204" pitchFamily="34" charset="-128"/>
              </a:rPr>
              <a:t>Detect and eliminate the dependence at the software level</a:t>
            </a:r>
          </a:p>
          <a:p>
            <a:pPr lvl="2"/>
            <a:r>
              <a:rPr lang="en-US" altLang="en-US" dirty="0">
                <a:ea typeface="ＭＳ Ｐゴシック" panose="020B0600070205080204" pitchFamily="34" charset="-128"/>
              </a:rPr>
              <a:t>No need for the hardware to detect dependence</a:t>
            </a:r>
          </a:p>
          <a:p>
            <a:pPr lvl="1"/>
            <a:r>
              <a:rPr lang="en-US" altLang="en-US" dirty="0">
                <a:solidFill>
                  <a:srgbClr val="0432FF"/>
                </a:solidFill>
                <a:ea typeface="ＭＳ Ｐゴシック" panose="020B0600070205080204" pitchFamily="34" charset="-128"/>
              </a:rPr>
              <a:t>Data Forward/Bypass:</a:t>
            </a:r>
          </a:p>
          <a:p>
            <a:pPr lvl="2"/>
            <a:r>
              <a:rPr lang="en-US" altLang="en-US" dirty="0">
                <a:ea typeface="ＭＳ Ｐゴシック" panose="020B0600070205080204" pitchFamily="34" charset="-128"/>
              </a:rPr>
              <a:t>Detect and forward/bypass data to dependent instruction</a:t>
            </a:r>
          </a:p>
        </p:txBody>
      </p:sp>
      <p:sp>
        <p:nvSpPr>
          <p:cNvPr id="70659" name="Slide Number Placeholder 3">
            <a:extLst>
              <a:ext uri="{FF2B5EF4-FFF2-40B4-BE49-F238E27FC236}">
                <a16:creationId xmlns:a16="http://schemas.microsoft.com/office/drawing/2014/main" id="{E827CFEA-AD08-0C4A-AB91-EE9FBA7D6E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74988CC5-3D95-4C42-954E-4895214B8E54}" type="slidenum">
              <a:rPr lang="en-US" altLang="en-US" sz="1600" smtClean="0">
                <a:solidFill>
                  <a:srgbClr val="000000"/>
                </a:solidFill>
                <a:latin typeface="Garamond" panose="02020404030301010803" pitchFamily="18" charset="0"/>
              </a:rPr>
              <a:pPr>
                <a:spcBef>
                  <a:spcPct val="0"/>
                </a:spcBef>
                <a:buClrTx/>
                <a:buSzTx/>
                <a:buFontTx/>
                <a:buNone/>
              </a:pPr>
              <a:t>50</a:t>
            </a:fld>
            <a:endParaRPr lang="en-US" altLang="en-US" sz="1600">
              <a:solidFill>
                <a:srgbClr val="000000"/>
              </a:solidFill>
              <a:latin typeface="Garamond" panose="02020404030301010803" pitchFamily="18" charset="0"/>
            </a:endParaRPr>
          </a:p>
        </p:txBody>
      </p:sp>
    </p:spTree>
    <p:extLst>
      <p:ext uri="{BB962C8B-B14F-4D97-AF65-F5344CB8AC3E}">
        <p14:creationId xmlns:p14="http://schemas.microsoft.com/office/powerpoint/2010/main" val="312293734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5B6D7-9072-924B-BAB0-6AF70E4DF318}"/>
              </a:ext>
            </a:extLst>
          </p:cNvPr>
          <p:cNvSpPr>
            <a:spLocks noGrp="1"/>
          </p:cNvSpPr>
          <p:nvPr>
            <p:ph type="title"/>
          </p:nvPr>
        </p:nvSpPr>
        <p:spPr/>
        <p:txBody>
          <a:bodyPr/>
          <a:lstStyle/>
          <a:p>
            <a:r>
              <a:rPr lang="en-US" dirty="0"/>
              <a:t>Pipelined CPU: Ideal vs. </a:t>
            </a:r>
            <a:r>
              <a:rPr lang="en-US" altLang="zh-CN" dirty="0"/>
              <a:t>Realistic</a:t>
            </a:r>
            <a:endParaRPr lang="en-US" dirty="0"/>
          </a:p>
        </p:txBody>
      </p:sp>
      <p:sp>
        <p:nvSpPr>
          <p:cNvPr id="3" name="Content Placeholder 2">
            <a:extLst>
              <a:ext uri="{FF2B5EF4-FFF2-40B4-BE49-F238E27FC236}">
                <a16:creationId xmlns:a16="http://schemas.microsoft.com/office/drawing/2014/main" id="{E3A5666C-1327-9743-866B-39C13E9A094B}"/>
              </a:ext>
            </a:extLst>
          </p:cNvPr>
          <p:cNvSpPr>
            <a:spLocks noGrp="1"/>
          </p:cNvSpPr>
          <p:nvPr>
            <p:ph idx="1"/>
          </p:nvPr>
        </p:nvSpPr>
        <p:spPr>
          <a:xfrm>
            <a:off x="304800" y="914400"/>
            <a:ext cx="8534400" cy="5193723"/>
          </a:xfrm>
        </p:spPr>
        <p:txBody>
          <a:bodyPr/>
          <a:lstStyle/>
          <a:p>
            <a:pPr marL="344487" lvl="1" indent="0">
              <a:buNone/>
            </a:pPr>
            <a:endParaRPr lang="en-US" dirty="0"/>
          </a:p>
          <a:p>
            <a:r>
              <a:rPr lang="en-US" b="1" dirty="0"/>
              <a:t>Ideal </a:t>
            </a:r>
            <a:r>
              <a:rPr lang="en-US" altLang="zh-CN" b="1" dirty="0"/>
              <a:t>pipelined CPU</a:t>
            </a:r>
            <a:r>
              <a:rPr lang="en-US" altLang="zh-CN" b="1" dirty="0">
                <a:ea typeface="ＭＳ Ｐゴシック" panose="020B0600070205080204" pitchFamily="34" charset="-128"/>
              </a:rPr>
              <a:t> </a:t>
            </a:r>
            <a:r>
              <a:rPr lang="en-US" altLang="zh-CN" dirty="0">
                <a:ea typeface="ＭＳ Ｐゴシック" panose="020B0600070205080204" pitchFamily="34" charset="-128"/>
              </a:rPr>
              <a:t>has</a:t>
            </a:r>
            <a:r>
              <a:rPr lang="zh-CN" altLang="en-US" dirty="0"/>
              <a:t>：</a:t>
            </a:r>
            <a:endParaRPr lang="en-US" dirty="0"/>
          </a:p>
          <a:p>
            <a:pPr lvl="1"/>
            <a:r>
              <a:rPr lang="en-US" altLang="zh-CN" dirty="0">
                <a:ea typeface="ＭＳ Ｐゴシック" panose="020B0600070205080204" pitchFamily="34" charset="-128"/>
              </a:rPr>
              <a:t>One pipeline</a:t>
            </a:r>
          </a:p>
          <a:p>
            <a:pPr lvl="1"/>
            <a:r>
              <a:rPr lang="en-US" altLang="zh-CN" dirty="0">
                <a:ea typeface="ＭＳ Ｐゴシック" panose="020B0600070205080204" pitchFamily="34" charset="-128"/>
              </a:rPr>
              <a:t>Fixed latency</a:t>
            </a:r>
          </a:p>
          <a:p>
            <a:pPr lvl="1"/>
            <a:r>
              <a:rPr lang="en-US" altLang="en-US" dirty="0">
                <a:ea typeface="ＭＳ Ｐゴシック" panose="020B0600070205080204" pitchFamily="34" charset="-128"/>
              </a:rPr>
              <a:t>Dependency is known at compiler time</a:t>
            </a:r>
          </a:p>
          <a:p>
            <a:pPr lvl="1"/>
            <a:r>
              <a:rPr lang="en-US" altLang="en-US" dirty="0">
                <a:ea typeface="ＭＳ Ｐゴシック" panose="020B0600070205080204" pitchFamily="34" charset="-128"/>
              </a:rPr>
              <a:t>no support for exception/interrupt</a:t>
            </a:r>
          </a:p>
          <a:p>
            <a:pPr marL="344487" lvl="1" indent="0">
              <a:buNone/>
            </a:pPr>
            <a:r>
              <a:rPr lang="en-US" dirty="0"/>
              <a:t>	</a:t>
            </a:r>
          </a:p>
          <a:p>
            <a:pPr marL="360362"/>
            <a:r>
              <a:rPr lang="en-US" b="1" dirty="0"/>
              <a:t>Realistic Pipelined CPU </a:t>
            </a:r>
            <a:r>
              <a:rPr lang="en-US" dirty="0">
                <a:ea typeface="ＭＳ Ｐゴシック" panose="020B0600070205080204" pitchFamily="34" charset="-128"/>
              </a:rPr>
              <a:t>h</a:t>
            </a:r>
            <a:r>
              <a:rPr lang="en-US" altLang="zh-CN" dirty="0">
                <a:ea typeface="ＭＳ Ｐゴシック" panose="020B0600070205080204" pitchFamily="34" charset="-128"/>
              </a:rPr>
              <a:t>as</a:t>
            </a:r>
            <a:r>
              <a:rPr lang="en-US" dirty="0"/>
              <a:t>:</a:t>
            </a:r>
          </a:p>
          <a:p>
            <a:pPr lvl="1"/>
            <a:r>
              <a:rPr lang="en-US" altLang="zh-CN" dirty="0">
                <a:ea typeface="ＭＳ Ｐゴシック" panose="020B0600070205080204" pitchFamily="34" charset="-128"/>
              </a:rPr>
              <a:t>Multiple pipelines with different latencies</a:t>
            </a:r>
          </a:p>
          <a:p>
            <a:pPr lvl="1"/>
            <a:r>
              <a:rPr lang="en-US" altLang="zh-CN" dirty="0">
                <a:ea typeface="ＭＳ Ｐゴシック" panose="020B0600070205080204" pitchFamily="34" charset="-128"/>
              </a:rPr>
              <a:t>Unpredictable latency</a:t>
            </a:r>
          </a:p>
          <a:p>
            <a:pPr lvl="1"/>
            <a:r>
              <a:rPr lang="en-US" altLang="en-US" dirty="0">
                <a:ea typeface="ＭＳ Ｐゴシック" panose="020B0600070205080204" pitchFamily="34" charset="-128"/>
              </a:rPr>
              <a:t>Unknown dependency at compiler time</a:t>
            </a:r>
          </a:p>
          <a:p>
            <a:pPr lvl="1"/>
            <a:r>
              <a:rPr lang="en-US" altLang="en-US" dirty="0">
                <a:ea typeface="ＭＳ Ｐゴシック" panose="020B0600070205080204" pitchFamily="34" charset="-128"/>
              </a:rPr>
              <a:t>Support for exception/interrupt</a:t>
            </a:r>
          </a:p>
          <a:p>
            <a:pPr marL="360362"/>
            <a:endParaRPr lang="en-US" dirty="0"/>
          </a:p>
        </p:txBody>
      </p:sp>
      <p:sp>
        <p:nvSpPr>
          <p:cNvPr id="4" name="Slide Number Placeholder 3">
            <a:extLst>
              <a:ext uri="{FF2B5EF4-FFF2-40B4-BE49-F238E27FC236}">
                <a16:creationId xmlns:a16="http://schemas.microsoft.com/office/drawing/2014/main" id="{E9928029-77B9-3443-AA93-019AB556BF4E}"/>
              </a:ext>
            </a:extLst>
          </p:cNvPr>
          <p:cNvSpPr>
            <a:spLocks noGrp="1"/>
          </p:cNvSpPr>
          <p:nvPr>
            <p:ph type="sldNum" sz="quarter" idx="11"/>
          </p:nvPr>
        </p:nvSpPr>
        <p:spPr/>
        <p:txBody>
          <a:bodyPr/>
          <a:lstStyle/>
          <a:p>
            <a:pPr>
              <a:defRPr/>
            </a:pPr>
            <a:fld id="{753DEEF8-87BA-7144-9648-F84693A6E11D}" type="slidenum">
              <a:rPr lang="en-US" altLang="en-US" smtClean="0"/>
              <a:pPr>
                <a:defRPr/>
              </a:pPr>
              <a:t>51</a:t>
            </a:fld>
            <a:endParaRPr lang="en-US" altLang="en-US"/>
          </a:p>
        </p:txBody>
      </p:sp>
    </p:spTree>
    <p:extLst>
      <p:ext uri="{BB962C8B-B14F-4D97-AF65-F5344CB8AC3E}">
        <p14:creationId xmlns:p14="http://schemas.microsoft.com/office/powerpoint/2010/main" val="28615986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4495800"/>
            <a:ext cx="6375009" cy="1227405"/>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0"/>
            <a:ext cx="6375009" cy="32004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173903348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42AD4642-4541-7B44-BC55-7968BFB61289}"/>
              </a:ext>
            </a:extLst>
          </p:cNvPr>
          <p:cNvSpPr>
            <a:spLocks noGrp="1" noChangeArrowheads="1"/>
          </p:cNvSpPr>
          <p:nvPr>
            <p:ph type="title"/>
          </p:nvPr>
        </p:nvSpPr>
        <p:spPr/>
        <p:txBody>
          <a:bodyPr/>
          <a:lstStyle/>
          <a:p>
            <a:r>
              <a:rPr lang="en-US" altLang="en-US" dirty="0">
                <a:ea typeface="ＭＳ Ｐゴシック" panose="020B0600070205080204" pitchFamily="34" charset="-128"/>
              </a:rPr>
              <a:t>Multi-Cycle Execution</a:t>
            </a:r>
          </a:p>
        </p:txBody>
      </p:sp>
      <p:sp>
        <p:nvSpPr>
          <p:cNvPr id="3" name="Content Placeholder 2">
            <a:extLst>
              <a:ext uri="{FF2B5EF4-FFF2-40B4-BE49-F238E27FC236}">
                <a16:creationId xmlns:a16="http://schemas.microsoft.com/office/drawing/2014/main" id="{93FF017E-EA1F-DD41-BACF-8963FAE67C6E}"/>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Multi-Cycle Execution</a:t>
            </a:r>
            <a:r>
              <a:rPr lang="zh-CN" altLang="en-US" dirty="0">
                <a:ea typeface="ＭＳ Ｐゴシック" panose="020B0600070205080204" pitchFamily="34" charset="-128"/>
              </a:rPr>
              <a:t>： </a:t>
            </a:r>
            <a:r>
              <a:rPr lang="en-US" altLang="en-US" dirty="0">
                <a:ea typeface="ＭＳ Ｐゴシック" panose="020B0600070205080204" pitchFamily="34" charset="-128"/>
              </a:rPr>
              <a:t>Not all instructions take the same amount of time for “execution”.</a:t>
            </a:r>
          </a:p>
          <a:p>
            <a:endParaRPr lang="en-US" altLang="en-US" sz="1000" dirty="0">
              <a:ea typeface="ＭＳ Ｐゴシック" panose="020B0600070205080204" pitchFamily="34" charset="-128"/>
            </a:endParaRPr>
          </a:p>
          <a:p>
            <a:r>
              <a:rPr lang="en-US" altLang="en-US" b="1" dirty="0">
                <a:solidFill>
                  <a:srgbClr val="FF0000"/>
                </a:solidFill>
                <a:ea typeface="ＭＳ Ｐゴシック" panose="020B0600070205080204" pitchFamily="34" charset="-128"/>
              </a:rPr>
              <a:t>Question</a:t>
            </a:r>
            <a:r>
              <a:rPr lang="en-US" altLang="en-US" dirty="0">
                <a:ea typeface="ＭＳ Ｐゴシック" panose="020B0600070205080204" pitchFamily="34" charset="-128"/>
              </a:rPr>
              <a:t>: How to address multi-cycle execution issue? </a:t>
            </a:r>
          </a:p>
          <a:p>
            <a:r>
              <a:rPr lang="en-US" altLang="en-US" b="1" dirty="0">
                <a:solidFill>
                  <a:srgbClr val="0000FF"/>
                </a:solidFill>
                <a:ea typeface="ＭＳ Ｐゴシック" panose="020B0600070205080204" pitchFamily="34" charset="-128"/>
              </a:rPr>
              <a:t>Answer</a:t>
            </a:r>
            <a:r>
              <a:rPr lang="en-US" altLang="en-US" dirty="0">
                <a:solidFill>
                  <a:srgbClr val="0000FF"/>
                </a:solidFill>
                <a:ea typeface="ＭＳ Ｐゴシック" panose="020B0600070205080204" pitchFamily="34" charset="-128"/>
              </a:rPr>
              <a:t>: </a:t>
            </a:r>
            <a:r>
              <a:rPr lang="en-US" altLang="en-US" dirty="0">
                <a:ea typeface="ＭＳ Ｐゴシック" panose="020B0600070205080204" pitchFamily="34" charset="-128"/>
              </a:rPr>
              <a:t>Have multiple different functional units that take different number of cycles</a:t>
            </a:r>
          </a:p>
          <a:p>
            <a:pPr lvl="1"/>
            <a:r>
              <a:rPr lang="en-US" altLang="en-US" dirty="0">
                <a:ea typeface="ＭＳ Ｐゴシック" panose="020B0600070205080204" pitchFamily="34" charset="-128"/>
              </a:rPr>
              <a:t>Can let independent instructions start execution on a different functional unit before a previous long-latency instruction finishes execution</a:t>
            </a:r>
          </a:p>
          <a:p>
            <a:endParaRPr lang="en-US" altLang="en-US" dirty="0">
              <a:ea typeface="ＭＳ Ｐゴシック" panose="020B0600070205080204" pitchFamily="34" charset="-128"/>
            </a:endParaRPr>
          </a:p>
        </p:txBody>
      </p:sp>
      <p:sp>
        <p:nvSpPr>
          <p:cNvPr id="70659" name="Slide Number Placeholder 3">
            <a:extLst>
              <a:ext uri="{FF2B5EF4-FFF2-40B4-BE49-F238E27FC236}">
                <a16:creationId xmlns:a16="http://schemas.microsoft.com/office/drawing/2014/main" id="{80AB8609-AB32-114E-A28C-5067871712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3DDEA5F-EB34-9541-8FA2-EA9C0CF11D8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5" name="Group 4">
            <a:extLst>
              <a:ext uri="{FF2B5EF4-FFF2-40B4-BE49-F238E27FC236}">
                <a16:creationId xmlns:a16="http://schemas.microsoft.com/office/drawing/2014/main" id="{57A1864E-92C7-1141-A567-0171C4329BA4}"/>
              </a:ext>
            </a:extLst>
          </p:cNvPr>
          <p:cNvGrpSpPr>
            <a:grpSpLocks/>
          </p:cNvGrpSpPr>
          <p:nvPr/>
        </p:nvGrpSpPr>
        <p:grpSpPr bwMode="auto">
          <a:xfrm>
            <a:off x="3044825" y="5065713"/>
            <a:ext cx="804863" cy="369887"/>
            <a:chOff x="1001099" y="4100530"/>
            <a:chExt cx="805656" cy="369887"/>
          </a:xfrm>
        </p:grpSpPr>
        <p:sp>
          <p:nvSpPr>
            <p:cNvPr id="70704" name="Rectangle 10">
              <a:extLst>
                <a:ext uri="{FF2B5EF4-FFF2-40B4-BE49-F238E27FC236}">
                  <a16:creationId xmlns:a16="http://schemas.microsoft.com/office/drawing/2014/main" id="{D9E313FB-DC27-8C4E-AFC0-06DFB5D304B8}"/>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0705" name="Rectangle 11">
              <a:extLst>
                <a:ext uri="{FF2B5EF4-FFF2-40B4-BE49-F238E27FC236}">
                  <a16:creationId xmlns:a16="http://schemas.microsoft.com/office/drawing/2014/main" id="{BAFF1974-EB5E-374A-87E5-AD8DD4560673}"/>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grpSp>
      <p:sp>
        <p:nvSpPr>
          <p:cNvPr id="8" name="Rectangle 12">
            <a:extLst>
              <a:ext uri="{FF2B5EF4-FFF2-40B4-BE49-F238E27FC236}">
                <a16:creationId xmlns:a16="http://schemas.microsoft.com/office/drawing/2014/main" id="{6D64AED9-CC43-504A-923D-3014DB970904}"/>
              </a:ext>
            </a:extLst>
          </p:cNvPr>
          <p:cNvSpPr>
            <a:spLocks noChangeArrowheads="1"/>
          </p:cNvSpPr>
          <p:nvPr/>
        </p:nvSpPr>
        <p:spPr bwMode="auto">
          <a:xfrm>
            <a:off x="4384675" y="4203700"/>
            <a:ext cx="401638"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9" name="Rectangle 13">
            <a:extLst>
              <a:ext uri="{FF2B5EF4-FFF2-40B4-BE49-F238E27FC236}">
                <a16:creationId xmlns:a16="http://schemas.microsoft.com/office/drawing/2014/main" id="{F97BFD39-2FEF-0440-9382-561D0E7B98AC}"/>
              </a:ext>
            </a:extLst>
          </p:cNvPr>
          <p:cNvSpPr>
            <a:spLocks noChangeArrowheads="1"/>
          </p:cNvSpPr>
          <p:nvPr/>
        </p:nvSpPr>
        <p:spPr bwMode="auto">
          <a:xfrm>
            <a:off x="8588375" y="4902200"/>
            <a:ext cx="403225"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grpSp>
        <p:nvGrpSpPr>
          <p:cNvPr id="10" name="Group 9">
            <a:extLst>
              <a:ext uri="{FF2B5EF4-FFF2-40B4-BE49-F238E27FC236}">
                <a16:creationId xmlns:a16="http://schemas.microsoft.com/office/drawing/2014/main" id="{1EEF6BD2-4561-2944-9917-F85D2E75AFFB}"/>
              </a:ext>
            </a:extLst>
          </p:cNvPr>
          <p:cNvGrpSpPr>
            <a:grpSpLocks/>
          </p:cNvGrpSpPr>
          <p:nvPr/>
        </p:nvGrpSpPr>
        <p:grpSpPr bwMode="auto">
          <a:xfrm>
            <a:off x="4384675" y="5251450"/>
            <a:ext cx="3222625" cy="369888"/>
            <a:chOff x="2783717" y="3915586"/>
            <a:chExt cx="3222624" cy="369887"/>
          </a:xfrm>
        </p:grpSpPr>
        <p:sp>
          <p:nvSpPr>
            <p:cNvPr id="70696" name="Rectangle 12">
              <a:extLst>
                <a:ext uri="{FF2B5EF4-FFF2-40B4-BE49-F238E27FC236}">
                  <a16:creationId xmlns:a16="http://schemas.microsoft.com/office/drawing/2014/main" id="{C90A07CA-E93F-674C-BB3F-0A771AE981EE}"/>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7" name="Rectangle 12">
              <a:extLst>
                <a:ext uri="{FF2B5EF4-FFF2-40B4-BE49-F238E27FC236}">
                  <a16:creationId xmlns:a16="http://schemas.microsoft.com/office/drawing/2014/main" id="{3D94FD84-815F-0C46-BA94-08A788E6B854}"/>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8" name="Rectangle 12">
              <a:extLst>
                <a:ext uri="{FF2B5EF4-FFF2-40B4-BE49-F238E27FC236}">
                  <a16:creationId xmlns:a16="http://schemas.microsoft.com/office/drawing/2014/main" id="{9AC57944-B32F-1647-B43C-1E99FC1909A8}"/>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9" name="Rectangle 13">
              <a:extLst>
                <a:ext uri="{FF2B5EF4-FFF2-40B4-BE49-F238E27FC236}">
                  <a16:creationId xmlns:a16="http://schemas.microsoft.com/office/drawing/2014/main" id="{A08662F9-7E62-B041-8939-086FD72DCDC9}"/>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700" name="Rectangle 12">
              <a:extLst>
                <a:ext uri="{FF2B5EF4-FFF2-40B4-BE49-F238E27FC236}">
                  <a16:creationId xmlns:a16="http://schemas.microsoft.com/office/drawing/2014/main" id="{42388CBF-6FA6-3747-8A8A-5BC536C00BAE}"/>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701" name="Rectangle 12">
              <a:extLst>
                <a:ext uri="{FF2B5EF4-FFF2-40B4-BE49-F238E27FC236}">
                  <a16:creationId xmlns:a16="http://schemas.microsoft.com/office/drawing/2014/main" id="{03474AC3-F42A-B946-9DFF-F610CD614267}"/>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702" name="Rectangle 12">
              <a:extLst>
                <a:ext uri="{FF2B5EF4-FFF2-40B4-BE49-F238E27FC236}">
                  <a16:creationId xmlns:a16="http://schemas.microsoft.com/office/drawing/2014/main" id="{86EE6029-38D7-5D4B-BF28-FA53F63D9DCC}"/>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703" name="Rectangle 17">
              <a:extLst>
                <a:ext uri="{FF2B5EF4-FFF2-40B4-BE49-F238E27FC236}">
                  <a16:creationId xmlns:a16="http://schemas.microsoft.com/office/drawing/2014/main" id="{2FC37E7B-75DC-184A-B209-EBB605FBAE37}"/>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grpSp>
        <p:nvGrpSpPr>
          <p:cNvPr id="19" name="Group 18">
            <a:extLst>
              <a:ext uri="{FF2B5EF4-FFF2-40B4-BE49-F238E27FC236}">
                <a16:creationId xmlns:a16="http://schemas.microsoft.com/office/drawing/2014/main" id="{ED6C87CD-FEB2-8346-9E15-C73C0A11CC60}"/>
              </a:ext>
            </a:extLst>
          </p:cNvPr>
          <p:cNvGrpSpPr>
            <a:grpSpLocks/>
          </p:cNvGrpSpPr>
          <p:nvPr/>
        </p:nvGrpSpPr>
        <p:grpSpPr bwMode="auto">
          <a:xfrm>
            <a:off x="4384675" y="4719638"/>
            <a:ext cx="1611313" cy="374650"/>
            <a:chOff x="2783717" y="3915586"/>
            <a:chExt cx="1611312" cy="374488"/>
          </a:xfrm>
        </p:grpSpPr>
        <p:sp>
          <p:nvSpPr>
            <p:cNvPr id="70692" name="Rectangle 12">
              <a:extLst>
                <a:ext uri="{FF2B5EF4-FFF2-40B4-BE49-F238E27FC236}">
                  <a16:creationId xmlns:a16="http://schemas.microsoft.com/office/drawing/2014/main" id="{E3932281-218F-5F4E-B1C3-534F7D2F37E3}"/>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3" name="Rectangle 12">
              <a:extLst>
                <a:ext uri="{FF2B5EF4-FFF2-40B4-BE49-F238E27FC236}">
                  <a16:creationId xmlns:a16="http://schemas.microsoft.com/office/drawing/2014/main" id="{DF73E7C6-D794-2147-812A-668AE4C30F20}"/>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4" name="Rectangle 12">
              <a:extLst>
                <a:ext uri="{FF2B5EF4-FFF2-40B4-BE49-F238E27FC236}">
                  <a16:creationId xmlns:a16="http://schemas.microsoft.com/office/drawing/2014/main" id="{8290C46C-3064-2F49-9464-F2C7D47F04E7}"/>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5" name="Rectangle 12">
              <a:extLst>
                <a:ext uri="{FF2B5EF4-FFF2-40B4-BE49-F238E27FC236}">
                  <a16:creationId xmlns:a16="http://schemas.microsoft.com/office/drawing/2014/main" id="{F4259C10-4A37-F547-8749-AB486445B367}"/>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grpSp>
        <p:nvGrpSpPr>
          <p:cNvPr id="24" name="Group 23">
            <a:extLst>
              <a:ext uri="{FF2B5EF4-FFF2-40B4-BE49-F238E27FC236}">
                <a16:creationId xmlns:a16="http://schemas.microsoft.com/office/drawing/2014/main" id="{C5C3CA52-BC71-CB4F-B7F6-3C0DDDEA7EA2}"/>
              </a:ext>
            </a:extLst>
          </p:cNvPr>
          <p:cNvGrpSpPr>
            <a:grpSpLocks/>
          </p:cNvGrpSpPr>
          <p:nvPr/>
        </p:nvGrpSpPr>
        <p:grpSpPr bwMode="auto">
          <a:xfrm>
            <a:off x="4384675" y="5621338"/>
            <a:ext cx="3903663" cy="523875"/>
            <a:chOff x="2783717" y="5184853"/>
            <a:chExt cx="3904221" cy="523220"/>
          </a:xfrm>
        </p:grpSpPr>
        <p:grpSp>
          <p:nvGrpSpPr>
            <p:cNvPr id="70682" name="Group 24">
              <a:extLst>
                <a:ext uri="{FF2B5EF4-FFF2-40B4-BE49-F238E27FC236}">
                  <a16:creationId xmlns:a16="http://schemas.microsoft.com/office/drawing/2014/main" id="{ABA6CCA5-0C17-2E44-8DD6-A50F63058AEA}"/>
                </a:ext>
              </a:extLst>
            </p:cNvPr>
            <p:cNvGrpSpPr>
              <a:grpSpLocks/>
            </p:cNvGrpSpPr>
            <p:nvPr/>
          </p:nvGrpSpPr>
          <p:grpSpPr bwMode="auto">
            <a:xfrm>
              <a:off x="2783717" y="5338186"/>
              <a:ext cx="3222624" cy="369887"/>
              <a:chOff x="2783717" y="3915586"/>
              <a:chExt cx="3222624" cy="369887"/>
            </a:xfrm>
          </p:grpSpPr>
          <p:sp>
            <p:nvSpPr>
              <p:cNvPr id="70684" name="Rectangle 12">
                <a:extLst>
                  <a:ext uri="{FF2B5EF4-FFF2-40B4-BE49-F238E27FC236}">
                    <a16:creationId xmlns:a16="http://schemas.microsoft.com/office/drawing/2014/main" id="{CF6A9B2A-4F82-0544-AB9D-A93CF1805175}"/>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85" name="Rectangle 12">
                <a:extLst>
                  <a:ext uri="{FF2B5EF4-FFF2-40B4-BE49-F238E27FC236}">
                    <a16:creationId xmlns:a16="http://schemas.microsoft.com/office/drawing/2014/main" id="{11F450F1-098A-E240-BC68-9E5A25849043}"/>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86" name="Rectangle 12">
                <a:extLst>
                  <a:ext uri="{FF2B5EF4-FFF2-40B4-BE49-F238E27FC236}">
                    <a16:creationId xmlns:a16="http://schemas.microsoft.com/office/drawing/2014/main" id="{436628C2-E608-3243-814D-557B9669D98D}"/>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87" name="Rectangle 29">
                <a:extLst>
                  <a:ext uri="{FF2B5EF4-FFF2-40B4-BE49-F238E27FC236}">
                    <a16:creationId xmlns:a16="http://schemas.microsoft.com/office/drawing/2014/main" id="{6F05468F-9267-A44E-8F5E-7A19F4A12747}"/>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88" name="Rectangle 12">
                <a:extLst>
                  <a:ext uri="{FF2B5EF4-FFF2-40B4-BE49-F238E27FC236}">
                    <a16:creationId xmlns:a16="http://schemas.microsoft.com/office/drawing/2014/main" id="{D5C8E68E-86E9-9447-9812-906D307BAC05}"/>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89" name="Rectangle 12">
                <a:extLst>
                  <a:ext uri="{FF2B5EF4-FFF2-40B4-BE49-F238E27FC236}">
                    <a16:creationId xmlns:a16="http://schemas.microsoft.com/office/drawing/2014/main" id="{1216D382-3285-3748-A05E-99DFF468C873}"/>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0" name="Rectangle 12">
                <a:extLst>
                  <a:ext uri="{FF2B5EF4-FFF2-40B4-BE49-F238E27FC236}">
                    <a16:creationId xmlns:a16="http://schemas.microsoft.com/office/drawing/2014/main" id="{3DB8AAC6-0227-6F4A-8FCF-14FB6624AFE8}"/>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0691" name="Rectangle 33">
                <a:extLst>
                  <a:ext uri="{FF2B5EF4-FFF2-40B4-BE49-F238E27FC236}">
                    <a16:creationId xmlns:a16="http://schemas.microsoft.com/office/drawing/2014/main" id="{A64452EF-9F78-4449-9079-E1BAFE735893}"/>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sp>
          <p:nvSpPr>
            <p:cNvPr id="70683" name="TextBox 25">
              <a:extLst>
                <a:ext uri="{FF2B5EF4-FFF2-40B4-BE49-F238E27FC236}">
                  <a16:creationId xmlns:a16="http://schemas.microsoft.com/office/drawing/2014/main" id="{338050F9-E284-4045-B73D-5D2DA2921652}"/>
                </a:ext>
              </a:extLst>
            </p:cNvPr>
            <p:cNvSpPr txBox="1">
              <a:spLocks noChangeArrowheads="1"/>
            </p:cNvSpPr>
            <p:nvPr/>
          </p:nvSpPr>
          <p:spPr bwMode="auto">
            <a:xfrm>
              <a:off x="6006341" y="5184853"/>
              <a:ext cx="6815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 .</a:t>
              </a:r>
            </a:p>
          </p:txBody>
        </p:sp>
      </p:grpSp>
      <p:cxnSp>
        <p:nvCxnSpPr>
          <p:cNvPr id="35" name="Straight Connector 34">
            <a:extLst>
              <a:ext uri="{FF2B5EF4-FFF2-40B4-BE49-F238E27FC236}">
                <a16:creationId xmlns:a16="http://schemas.microsoft.com/office/drawing/2014/main" id="{EDBD59D4-3E0A-7D48-9A18-31C1693B4888}"/>
              </a:ext>
            </a:extLst>
          </p:cNvPr>
          <p:cNvCxnSpPr>
            <a:cxnSpLocks noChangeShapeType="1"/>
          </p:cNvCxnSpPr>
          <p:nvPr/>
        </p:nvCxnSpPr>
        <p:spPr bwMode="auto">
          <a:xfrm>
            <a:off x="3849688" y="5251450"/>
            <a:ext cx="2444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6" name="Straight Connector 35">
            <a:extLst>
              <a:ext uri="{FF2B5EF4-FFF2-40B4-BE49-F238E27FC236}">
                <a16:creationId xmlns:a16="http://schemas.microsoft.com/office/drawing/2014/main" id="{570A9BD1-2904-EB40-9C61-4FD921E715FA}"/>
              </a:ext>
            </a:extLst>
          </p:cNvPr>
          <p:cNvCxnSpPr>
            <a:cxnSpLocks noChangeShapeType="1"/>
          </p:cNvCxnSpPr>
          <p:nvPr/>
        </p:nvCxnSpPr>
        <p:spPr bwMode="auto">
          <a:xfrm rot="5400000">
            <a:off x="3290094" y="5164931"/>
            <a:ext cx="16065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7" name="Straight Arrow Connector 36">
            <a:extLst>
              <a:ext uri="{FF2B5EF4-FFF2-40B4-BE49-F238E27FC236}">
                <a16:creationId xmlns:a16="http://schemas.microsoft.com/office/drawing/2014/main" id="{46CD7163-01E9-024C-93F2-EA752065FA8D}"/>
              </a:ext>
            </a:extLst>
          </p:cNvPr>
          <p:cNvCxnSpPr>
            <a:cxnSpLocks noChangeShapeType="1"/>
          </p:cNvCxnSpPr>
          <p:nvPr/>
        </p:nvCxnSpPr>
        <p:spPr bwMode="auto">
          <a:xfrm>
            <a:off x="4094163" y="5969000"/>
            <a:ext cx="290512"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8" name="Straight Arrow Connector 37">
            <a:extLst>
              <a:ext uri="{FF2B5EF4-FFF2-40B4-BE49-F238E27FC236}">
                <a16:creationId xmlns:a16="http://schemas.microsoft.com/office/drawing/2014/main" id="{75F3F359-06AA-9047-B13A-F33C788A2330}"/>
              </a:ext>
            </a:extLst>
          </p:cNvPr>
          <p:cNvCxnSpPr>
            <a:cxnSpLocks noChangeShapeType="1"/>
          </p:cNvCxnSpPr>
          <p:nvPr/>
        </p:nvCxnSpPr>
        <p:spPr bwMode="auto">
          <a:xfrm>
            <a:off x="4094163" y="5435600"/>
            <a:ext cx="290512"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9" name="Straight Arrow Connector 38">
            <a:extLst>
              <a:ext uri="{FF2B5EF4-FFF2-40B4-BE49-F238E27FC236}">
                <a16:creationId xmlns:a16="http://schemas.microsoft.com/office/drawing/2014/main" id="{89D45B13-2F83-9C4B-9061-D20639FB8B71}"/>
              </a:ext>
            </a:extLst>
          </p:cNvPr>
          <p:cNvCxnSpPr>
            <a:cxnSpLocks noChangeShapeType="1"/>
          </p:cNvCxnSpPr>
          <p:nvPr/>
        </p:nvCxnSpPr>
        <p:spPr bwMode="auto">
          <a:xfrm>
            <a:off x="4102100" y="4362450"/>
            <a:ext cx="2889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 name="Straight Arrow Connector 39">
            <a:extLst>
              <a:ext uri="{FF2B5EF4-FFF2-40B4-BE49-F238E27FC236}">
                <a16:creationId xmlns:a16="http://schemas.microsoft.com/office/drawing/2014/main" id="{9D199B16-F88C-3D43-92D3-613BFB8FBAEB}"/>
              </a:ext>
            </a:extLst>
          </p:cNvPr>
          <p:cNvCxnSpPr>
            <a:cxnSpLocks noChangeShapeType="1"/>
          </p:cNvCxnSpPr>
          <p:nvPr/>
        </p:nvCxnSpPr>
        <p:spPr bwMode="auto">
          <a:xfrm>
            <a:off x="4100513" y="4908550"/>
            <a:ext cx="2889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 name="Straight Connector 40">
            <a:extLst>
              <a:ext uri="{FF2B5EF4-FFF2-40B4-BE49-F238E27FC236}">
                <a16:creationId xmlns:a16="http://schemas.microsoft.com/office/drawing/2014/main" id="{B90AEB07-4A80-D84A-AE63-0A1C2A6093DB}"/>
              </a:ext>
            </a:extLst>
          </p:cNvPr>
          <p:cNvCxnSpPr>
            <a:cxnSpLocks noChangeShapeType="1"/>
          </p:cNvCxnSpPr>
          <p:nvPr/>
        </p:nvCxnSpPr>
        <p:spPr bwMode="auto">
          <a:xfrm rot="5400000">
            <a:off x="7574757" y="5166519"/>
            <a:ext cx="16065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2" name="Straight Arrow Connector 41">
            <a:extLst>
              <a:ext uri="{FF2B5EF4-FFF2-40B4-BE49-F238E27FC236}">
                <a16:creationId xmlns:a16="http://schemas.microsoft.com/office/drawing/2014/main" id="{FD9415AD-8368-2E46-8606-05E31CA6BA55}"/>
              </a:ext>
            </a:extLst>
          </p:cNvPr>
          <p:cNvCxnSpPr>
            <a:cxnSpLocks noChangeShapeType="1"/>
          </p:cNvCxnSpPr>
          <p:nvPr/>
        </p:nvCxnSpPr>
        <p:spPr bwMode="auto">
          <a:xfrm>
            <a:off x="8378825" y="5094288"/>
            <a:ext cx="23495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 name="Straight Arrow Connector 42">
            <a:extLst>
              <a:ext uri="{FF2B5EF4-FFF2-40B4-BE49-F238E27FC236}">
                <a16:creationId xmlns:a16="http://schemas.microsoft.com/office/drawing/2014/main" id="{7BBA7AD2-D5BC-9849-9303-38CFF0D1C2AD}"/>
              </a:ext>
            </a:extLst>
          </p:cNvPr>
          <p:cNvCxnSpPr>
            <a:cxnSpLocks noChangeShapeType="1"/>
            <a:stCxn id="8" idx="3"/>
          </p:cNvCxnSpPr>
          <p:nvPr/>
        </p:nvCxnSpPr>
        <p:spPr bwMode="auto">
          <a:xfrm>
            <a:off x="4786313" y="4389438"/>
            <a:ext cx="35925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4" name="Straight Arrow Connector 43">
            <a:extLst>
              <a:ext uri="{FF2B5EF4-FFF2-40B4-BE49-F238E27FC236}">
                <a16:creationId xmlns:a16="http://schemas.microsoft.com/office/drawing/2014/main" id="{0C2B4418-5567-1141-A73F-19BE91EF961B}"/>
              </a:ext>
            </a:extLst>
          </p:cNvPr>
          <p:cNvCxnSpPr>
            <a:cxnSpLocks noChangeShapeType="1"/>
          </p:cNvCxnSpPr>
          <p:nvPr/>
        </p:nvCxnSpPr>
        <p:spPr bwMode="auto">
          <a:xfrm>
            <a:off x="5995988" y="4903788"/>
            <a:ext cx="2382837" cy="47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 name="Straight Arrow Connector 44">
            <a:extLst>
              <a:ext uri="{FF2B5EF4-FFF2-40B4-BE49-F238E27FC236}">
                <a16:creationId xmlns:a16="http://schemas.microsoft.com/office/drawing/2014/main" id="{0E1AC0FD-8736-B84B-8C6E-4C98B62A47E2}"/>
              </a:ext>
            </a:extLst>
          </p:cNvPr>
          <p:cNvCxnSpPr>
            <a:cxnSpLocks noChangeShapeType="1"/>
          </p:cNvCxnSpPr>
          <p:nvPr/>
        </p:nvCxnSpPr>
        <p:spPr bwMode="auto">
          <a:xfrm flipV="1">
            <a:off x="7607300" y="5435600"/>
            <a:ext cx="7715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 name="Straight Arrow Connector 45">
            <a:extLst>
              <a:ext uri="{FF2B5EF4-FFF2-40B4-BE49-F238E27FC236}">
                <a16:creationId xmlns:a16="http://schemas.microsoft.com/office/drawing/2014/main" id="{D0C238A1-2FCE-9243-91BB-53A540DB4BF4}"/>
              </a:ext>
            </a:extLst>
          </p:cNvPr>
          <p:cNvCxnSpPr>
            <a:cxnSpLocks noChangeShapeType="1"/>
          </p:cNvCxnSpPr>
          <p:nvPr/>
        </p:nvCxnSpPr>
        <p:spPr bwMode="auto">
          <a:xfrm>
            <a:off x="8177213" y="5970588"/>
            <a:ext cx="201612"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7" name="TextBox 46">
            <a:extLst>
              <a:ext uri="{FF2B5EF4-FFF2-40B4-BE49-F238E27FC236}">
                <a16:creationId xmlns:a16="http://schemas.microsoft.com/office/drawing/2014/main" id="{25E5E9F4-E1A4-A843-B282-F1E6871608A7}"/>
              </a:ext>
            </a:extLst>
          </p:cNvPr>
          <p:cNvSpPr txBox="1">
            <a:spLocks noChangeArrowheads="1"/>
          </p:cNvSpPr>
          <p:nvPr/>
        </p:nvSpPr>
        <p:spPr bwMode="auto">
          <a:xfrm>
            <a:off x="4916488" y="4114800"/>
            <a:ext cx="1089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Integer add</a:t>
            </a:r>
          </a:p>
        </p:txBody>
      </p:sp>
      <p:sp>
        <p:nvSpPr>
          <p:cNvPr id="48" name="TextBox 47">
            <a:extLst>
              <a:ext uri="{FF2B5EF4-FFF2-40B4-BE49-F238E27FC236}">
                <a16:creationId xmlns:a16="http://schemas.microsoft.com/office/drawing/2014/main" id="{8795A9FB-6FEB-7B40-8745-879C18CF6F9B}"/>
              </a:ext>
            </a:extLst>
          </p:cNvPr>
          <p:cNvSpPr txBox="1">
            <a:spLocks noChangeArrowheads="1"/>
          </p:cNvSpPr>
          <p:nvPr/>
        </p:nvSpPr>
        <p:spPr bwMode="auto">
          <a:xfrm>
            <a:off x="6115050" y="4510088"/>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Integer mul</a:t>
            </a:r>
          </a:p>
        </p:txBody>
      </p:sp>
      <p:sp>
        <p:nvSpPr>
          <p:cNvPr id="49" name="TextBox 48">
            <a:extLst>
              <a:ext uri="{FF2B5EF4-FFF2-40B4-BE49-F238E27FC236}">
                <a16:creationId xmlns:a16="http://schemas.microsoft.com/office/drawing/2014/main" id="{605AB9C1-44AF-4C48-AD64-D749C3979105}"/>
              </a:ext>
            </a:extLst>
          </p:cNvPr>
          <p:cNvSpPr txBox="1">
            <a:spLocks noChangeArrowheads="1"/>
          </p:cNvSpPr>
          <p:nvPr/>
        </p:nvSpPr>
        <p:spPr bwMode="auto">
          <a:xfrm>
            <a:off x="7607300" y="5065713"/>
            <a:ext cx="747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FP mul</a:t>
            </a:r>
          </a:p>
        </p:txBody>
      </p:sp>
      <p:sp>
        <p:nvSpPr>
          <p:cNvPr id="50" name="TextBox 49">
            <a:extLst>
              <a:ext uri="{FF2B5EF4-FFF2-40B4-BE49-F238E27FC236}">
                <a16:creationId xmlns:a16="http://schemas.microsoft.com/office/drawing/2014/main" id="{8F9847E9-ABDF-0442-94C1-FF0B3C8087A3}"/>
              </a:ext>
            </a:extLst>
          </p:cNvPr>
          <p:cNvSpPr txBox="1">
            <a:spLocks noChangeArrowheads="1"/>
          </p:cNvSpPr>
          <p:nvPr/>
        </p:nvSpPr>
        <p:spPr bwMode="auto">
          <a:xfrm>
            <a:off x="7629525" y="6153150"/>
            <a:ext cx="12207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Load/store</a:t>
            </a:r>
          </a:p>
        </p:txBody>
      </p:sp>
    </p:spTree>
    <p:extLst>
      <p:ext uri="{BB962C8B-B14F-4D97-AF65-F5344CB8AC3E}">
        <p14:creationId xmlns:p14="http://schemas.microsoft.com/office/powerpoint/2010/main" val="12319087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7" grpId="0"/>
      <p:bldP spid="48" grpId="0"/>
      <p:bldP spid="49" grpId="0"/>
      <p:bldP spid="5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900377A8-35F0-0F46-A444-C4311642DA9E}"/>
              </a:ext>
            </a:extLst>
          </p:cNvPr>
          <p:cNvSpPr>
            <a:spLocks noGrp="1" noChangeArrowheads="1"/>
          </p:cNvSpPr>
          <p:nvPr>
            <p:ph type="title"/>
          </p:nvPr>
        </p:nvSpPr>
        <p:spPr>
          <a:xfrm>
            <a:off x="228600" y="152400"/>
            <a:ext cx="8804275" cy="1066800"/>
          </a:xfrm>
        </p:spPr>
        <p:txBody>
          <a:bodyPr/>
          <a:lstStyle/>
          <a:p>
            <a:r>
              <a:rPr lang="en-US" altLang="en-US" dirty="0">
                <a:ea typeface="ＭＳ Ｐゴシック" panose="020B0600070205080204" pitchFamily="34" charset="-128"/>
              </a:rPr>
              <a:t>Example of</a:t>
            </a:r>
            <a:r>
              <a:rPr lang="zh-CN" altLang="en-US" dirty="0">
                <a:ea typeface="ＭＳ Ｐゴシック" panose="020B0600070205080204" pitchFamily="34" charset="-128"/>
              </a:rPr>
              <a:t> </a:t>
            </a:r>
            <a:r>
              <a:rPr lang="en-US" altLang="en-US" dirty="0">
                <a:ea typeface="ＭＳ Ｐゴシック" panose="020B0600070205080204" pitchFamily="34" charset="-128"/>
              </a:rPr>
              <a:t>Multi-Cycle Execution</a:t>
            </a:r>
            <a:endParaRPr lang="en-US" altLang="en-US" sz="3600" dirty="0">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6AE52EF2-93F9-DC43-AA36-215755B06B88}"/>
              </a:ext>
            </a:extLst>
          </p:cNvPr>
          <p:cNvSpPr>
            <a:spLocks noGrp="1" noChangeArrowheads="1"/>
          </p:cNvSpPr>
          <p:nvPr>
            <p:ph idx="1"/>
          </p:nvPr>
        </p:nvSpPr>
        <p:spPr>
          <a:xfrm>
            <a:off x="111124" y="996950"/>
            <a:ext cx="8921751" cy="4108450"/>
          </a:xfrm>
        </p:spPr>
        <p:txBody>
          <a:bodyPr/>
          <a:lstStyle/>
          <a:p>
            <a:r>
              <a:rPr lang="en-US" altLang="en-US" dirty="0">
                <a:ea typeface="ＭＳ Ｐゴシック" panose="020B0600070205080204" pitchFamily="34" charset="-128"/>
              </a:rPr>
              <a:t>Instructions take different number of cycles in EXECUTE stage</a:t>
            </a:r>
          </a:p>
          <a:p>
            <a:pPr lvl="1"/>
            <a:r>
              <a:rPr lang="en-US" altLang="en-US" dirty="0">
                <a:ea typeface="ＭＳ Ｐゴシック" panose="020B0600070205080204" pitchFamily="34" charset="-128"/>
              </a:rPr>
              <a:t>Integer ADD (1 cycle) versus Integer </a:t>
            </a:r>
            <a:r>
              <a:rPr lang="en-US" altLang="en-US" dirty="0" err="1">
                <a:ea typeface="ＭＳ Ｐゴシック" panose="020B0600070205080204" pitchFamily="34" charset="-128"/>
              </a:rPr>
              <a:t>DIVide</a:t>
            </a:r>
            <a:r>
              <a:rPr lang="en-US" altLang="en-US" dirty="0">
                <a:ea typeface="ＭＳ Ｐゴシック" panose="020B0600070205080204" pitchFamily="34" charset="-128"/>
              </a:rPr>
              <a:t> (8 cycles)</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solidFill>
                <a:srgbClr val="FF0000"/>
              </a:solidFill>
              <a:ea typeface="ＭＳ Ｐゴシック" panose="020B0600070205080204" pitchFamily="34" charset="-128"/>
            </a:endParaRPr>
          </a:p>
          <a:p>
            <a:pPr lvl="1"/>
            <a:endParaRPr lang="en-US" altLang="en-US" dirty="0">
              <a:solidFill>
                <a:srgbClr val="FF0000"/>
              </a:solidFill>
              <a:ea typeface="ＭＳ Ｐゴシック" panose="020B0600070205080204" pitchFamily="34" charset="-128"/>
            </a:endParaRPr>
          </a:p>
          <a:p>
            <a:pPr lvl="1">
              <a:buFont typeface="Wingdings" pitchFamily="2" charset="2"/>
              <a:buNone/>
            </a:pPr>
            <a:endParaRPr lang="en-US" altLang="en-US" dirty="0">
              <a:solidFill>
                <a:srgbClr val="FF0000"/>
              </a:solidFill>
              <a:ea typeface="ＭＳ Ｐゴシック" panose="020B0600070205080204" pitchFamily="34" charset="-128"/>
            </a:endParaRPr>
          </a:p>
          <a:p>
            <a:pPr lvl="1">
              <a:buFont typeface="Wingdings" pitchFamily="2" charset="2"/>
              <a:buNone/>
            </a:pPr>
            <a:endParaRPr lang="en-US" altLang="en-US" sz="1400" dirty="0">
              <a:solidFill>
                <a:srgbClr val="FF0000"/>
              </a:solidFill>
              <a:ea typeface="ＭＳ Ｐゴシック" panose="020B0600070205080204" pitchFamily="34" charset="-128"/>
            </a:endParaRPr>
          </a:p>
          <a:p>
            <a:pPr lvl="1"/>
            <a:endParaRPr lang="en-US" altLang="en-US" dirty="0">
              <a:ea typeface="ＭＳ Ｐゴシック" panose="020B0600070205080204" pitchFamily="34" charset="-128"/>
            </a:endParaRPr>
          </a:p>
          <a:p>
            <a:pPr lvl="1"/>
            <a:r>
              <a:rPr lang="en-US" altLang="en-US" dirty="0">
                <a:ea typeface="ＭＳ Ｐゴシック" panose="020B0600070205080204" pitchFamily="34" charset="-128"/>
              </a:rPr>
              <a:t>What is wrong with this picture in a Von Neumann architecture?</a:t>
            </a:r>
          </a:p>
          <a:p>
            <a:pPr lvl="2"/>
            <a:r>
              <a:rPr lang="en-US" altLang="en-US" dirty="0">
                <a:solidFill>
                  <a:srgbClr val="FF0000"/>
                </a:solidFill>
                <a:ea typeface="ＭＳ Ｐゴシック" panose="020B0600070205080204" pitchFamily="34" charset="-128"/>
              </a:rPr>
              <a:t>Sequential semantics of the ISA NOT preserved!</a:t>
            </a:r>
          </a:p>
          <a:p>
            <a:pPr marL="671512" lvl="2" indent="0">
              <a:buNone/>
            </a:pPr>
            <a:endParaRPr lang="en-US" altLang="en-US" dirty="0">
              <a:solidFill>
                <a:srgbClr val="FF0000"/>
              </a:solidFill>
              <a:ea typeface="ＭＳ Ｐゴシック" panose="020B0600070205080204" pitchFamily="34" charset="-128"/>
            </a:endParaRPr>
          </a:p>
          <a:p>
            <a:pPr lvl="1"/>
            <a:endParaRPr lang="en-US" altLang="en-US" dirty="0">
              <a:solidFill>
                <a:srgbClr val="FF0000"/>
              </a:solidFill>
              <a:ea typeface="ＭＳ Ｐゴシック" panose="020B0600070205080204" pitchFamily="34" charset="-128"/>
            </a:endParaRPr>
          </a:p>
        </p:txBody>
      </p:sp>
      <p:sp>
        <p:nvSpPr>
          <p:cNvPr id="71683" name="Slide Number Placeholder 3">
            <a:extLst>
              <a:ext uri="{FF2B5EF4-FFF2-40B4-BE49-F238E27FC236}">
                <a16:creationId xmlns:a16="http://schemas.microsoft.com/office/drawing/2014/main" id="{96CE8986-F222-4A4C-97F6-94380AE96ED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0A284B6-95D9-D446-B3F1-17A5F3DAE87B}"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71684" name="Group 9">
            <a:extLst>
              <a:ext uri="{FF2B5EF4-FFF2-40B4-BE49-F238E27FC236}">
                <a16:creationId xmlns:a16="http://schemas.microsoft.com/office/drawing/2014/main" id="{4D6B0863-55D5-394D-B7DA-BA81E2E02C3D}"/>
              </a:ext>
            </a:extLst>
          </p:cNvPr>
          <p:cNvGrpSpPr>
            <a:grpSpLocks/>
          </p:cNvGrpSpPr>
          <p:nvPr/>
        </p:nvGrpSpPr>
        <p:grpSpPr bwMode="auto">
          <a:xfrm>
            <a:off x="3355975" y="2779713"/>
            <a:ext cx="1611313" cy="369887"/>
            <a:chOff x="932873" y="4248850"/>
            <a:chExt cx="1610696" cy="369332"/>
          </a:xfrm>
        </p:grpSpPr>
        <p:sp>
          <p:nvSpPr>
            <p:cNvPr id="71731" name="Rectangle 10">
              <a:extLst>
                <a:ext uri="{FF2B5EF4-FFF2-40B4-BE49-F238E27FC236}">
                  <a16:creationId xmlns:a16="http://schemas.microsoft.com/office/drawing/2014/main" id="{8716FD25-6677-CD4E-80EF-BDB68144E1DB}"/>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1732" name="Rectangle 11">
              <a:extLst>
                <a:ext uri="{FF2B5EF4-FFF2-40B4-BE49-F238E27FC236}">
                  <a16:creationId xmlns:a16="http://schemas.microsoft.com/office/drawing/2014/main" id="{8FC30AA7-36DC-0B46-B155-E209B8FEBE48}"/>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1733" name="Rectangle 12">
              <a:extLst>
                <a:ext uri="{FF2B5EF4-FFF2-40B4-BE49-F238E27FC236}">
                  <a16:creationId xmlns:a16="http://schemas.microsoft.com/office/drawing/2014/main" id="{42AF3F5A-B08E-D64F-A488-D60597989CF8}"/>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1734" name="Rectangle 13">
              <a:extLst>
                <a:ext uri="{FF2B5EF4-FFF2-40B4-BE49-F238E27FC236}">
                  <a16:creationId xmlns:a16="http://schemas.microsoft.com/office/drawing/2014/main" id="{5BAAB96A-CF8D-7948-95B7-68D43178EDB3}"/>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grpSp>
        <p:nvGrpSpPr>
          <p:cNvPr id="71685" name="Group 55">
            <a:extLst>
              <a:ext uri="{FF2B5EF4-FFF2-40B4-BE49-F238E27FC236}">
                <a16:creationId xmlns:a16="http://schemas.microsoft.com/office/drawing/2014/main" id="{229E22DE-E7B9-934B-86E2-D2B569ACC889}"/>
              </a:ext>
            </a:extLst>
          </p:cNvPr>
          <p:cNvGrpSpPr>
            <a:grpSpLocks/>
          </p:cNvGrpSpPr>
          <p:nvPr/>
        </p:nvGrpSpPr>
        <p:grpSpPr bwMode="auto">
          <a:xfrm>
            <a:off x="2952750" y="2411413"/>
            <a:ext cx="4430713" cy="368300"/>
            <a:chOff x="2953332" y="2410731"/>
            <a:chExt cx="4430823" cy="369318"/>
          </a:xfrm>
        </p:grpSpPr>
        <p:sp>
          <p:nvSpPr>
            <p:cNvPr id="71720" name="Rectangle 5">
              <a:extLst>
                <a:ext uri="{FF2B5EF4-FFF2-40B4-BE49-F238E27FC236}">
                  <a16:creationId xmlns:a16="http://schemas.microsoft.com/office/drawing/2014/main" id="{3E1895FB-E82B-BE48-9DD7-E1BE09E9E9FF}"/>
                </a:ext>
              </a:extLst>
            </p:cNvPr>
            <p:cNvSpPr>
              <a:spLocks noChangeArrowheads="1"/>
            </p:cNvSpPr>
            <p:nvPr/>
          </p:nvSpPr>
          <p:spPr bwMode="auto">
            <a:xfrm>
              <a:off x="2953332"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F</a:t>
              </a:r>
            </a:p>
          </p:txBody>
        </p:sp>
        <p:sp>
          <p:nvSpPr>
            <p:cNvPr id="71721" name="Rectangle 6">
              <a:extLst>
                <a:ext uri="{FF2B5EF4-FFF2-40B4-BE49-F238E27FC236}">
                  <a16:creationId xmlns:a16="http://schemas.microsoft.com/office/drawing/2014/main" id="{00EDB155-2975-6C4F-88E5-E243179CBF17}"/>
                </a:ext>
              </a:extLst>
            </p:cNvPr>
            <p:cNvSpPr>
              <a:spLocks noChangeArrowheads="1"/>
            </p:cNvSpPr>
            <p:nvPr/>
          </p:nvSpPr>
          <p:spPr bwMode="auto">
            <a:xfrm>
              <a:off x="3356134"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D</a:t>
              </a:r>
            </a:p>
          </p:txBody>
        </p:sp>
        <p:sp>
          <p:nvSpPr>
            <p:cNvPr id="71722" name="Rectangle 7">
              <a:extLst>
                <a:ext uri="{FF2B5EF4-FFF2-40B4-BE49-F238E27FC236}">
                  <a16:creationId xmlns:a16="http://schemas.microsoft.com/office/drawing/2014/main" id="{6961FA2D-510A-914B-8768-1B1332A2B585}"/>
                </a:ext>
              </a:extLst>
            </p:cNvPr>
            <p:cNvSpPr>
              <a:spLocks noChangeArrowheads="1"/>
            </p:cNvSpPr>
            <p:nvPr/>
          </p:nvSpPr>
          <p:spPr bwMode="auto">
            <a:xfrm>
              <a:off x="3758937"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23" name="Rectangle 8">
              <a:extLst>
                <a:ext uri="{FF2B5EF4-FFF2-40B4-BE49-F238E27FC236}">
                  <a16:creationId xmlns:a16="http://schemas.microsoft.com/office/drawing/2014/main" id="{A873137E-EE04-8C49-87B9-84C39DA6104A}"/>
                </a:ext>
              </a:extLst>
            </p:cNvPr>
            <p:cNvSpPr>
              <a:spLocks noChangeArrowheads="1"/>
            </p:cNvSpPr>
            <p:nvPr/>
          </p:nvSpPr>
          <p:spPr bwMode="auto">
            <a:xfrm>
              <a:off x="6981353"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W</a:t>
              </a:r>
            </a:p>
          </p:txBody>
        </p:sp>
        <p:sp>
          <p:nvSpPr>
            <p:cNvPr id="71724" name="Rectangle 7">
              <a:extLst>
                <a:ext uri="{FF2B5EF4-FFF2-40B4-BE49-F238E27FC236}">
                  <a16:creationId xmlns:a16="http://schemas.microsoft.com/office/drawing/2014/main" id="{A05A1B92-710D-374B-BE8C-AA7006044646}"/>
                </a:ext>
              </a:extLst>
            </p:cNvPr>
            <p:cNvSpPr>
              <a:spLocks noChangeArrowheads="1"/>
            </p:cNvSpPr>
            <p:nvPr/>
          </p:nvSpPr>
          <p:spPr bwMode="auto">
            <a:xfrm>
              <a:off x="4161739"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25" name="Rectangle 7">
              <a:extLst>
                <a:ext uri="{FF2B5EF4-FFF2-40B4-BE49-F238E27FC236}">
                  <a16:creationId xmlns:a16="http://schemas.microsoft.com/office/drawing/2014/main" id="{10A92C9D-1CB7-1940-931B-607CD3805B39}"/>
                </a:ext>
              </a:extLst>
            </p:cNvPr>
            <p:cNvSpPr>
              <a:spLocks noChangeArrowheads="1"/>
            </p:cNvSpPr>
            <p:nvPr/>
          </p:nvSpPr>
          <p:spPr bwMode="auto">
            <a:xfrm>
              <a:off x="4564541"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26" name="Rectangle 7">
              <a:extLst>
                <a:ext uri="{FF2B5EF4-FFF2-40B4-BE49-F238E27FC236}">
                  <a16:creationId xmlns:a16="http://schemas.microsoft.com/office/drawing/2014/main" id="{FE2059E7-AFD1-8B4E-BD30-5D32E8B032E9}"/>
                </a:ext>
              </a:extLst>
            </p:cNvPr>
            <p:cNvSpPr>
              <a:spLocks noChangeArrowheads="1"/>
            </p:cNvSpPr>
            <p:nvPr/>
          </p:nvSpPr>
          <p:spPr bwMode="auto">
            <a:xfrm>
              <a:off x="4967343"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27" name="Rectangle 7">
              <a:extLst>
                <a:ext uri="{FF2B5EF4-FFF2-40B4-BE49-F238E27FC236}">
                  <a16:creationId xmlns:a16="http://schemas.microsoft.com/office/drawing/2014/main" id="{75BF31C7-032D-D048-858C-7D1028ABF665}"/>
                </a:ext>
              </a:extLst>
            </p:cNvPr>
            <p:cNvSpPr>
              <a:spLocks noChangeArrowheads="1"/>
            </p:cNvSpPr>
            <p:nvPr/>
          </p:nvSpPr>
          <p:spPr bwMode="auto">
            <a:xfrm>
              <a:off x="5370145"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28" name="Rectangle 7">
              <a:extLst>
                <a:ext uri="{FF2B5EF4-FFF2-40B4-BE49-F238E27FC236}">
                  <a16:creationId xmlns:a16="http://schemas.microsoft.com/office/drawing/2014/main" id="{C569190D-CC08-4D41-AA0E-712242F04346}"/>
                </a:ext>
              </a:extLst>
            </p:cNvPr>
            <p:cNvSpPr>
              <a:spLocks noChangeArrowheads="1"/>
            </p:cNvSpPr>
            <p:nvPr/>
          </p:nvSpPr>
          <p:spPr bwMode="auto">
            <a:xfrm>
              <a:off x="5772947"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29" name="Rectangle 7">
              <a:extLst>
                <a:ext uri="{FF2B5EF4-FFF2-40B4-BE49-F238E27FC236}">
                  <a16:creationId xmlns:a16="http://schemas.microsoft.com/office/drawing/2014/main" id="{3FF1EA97-659D-FE4C-AAD7-82E390BD1D0D}"/>
                </a:ext>
              </a:extLst>
            </p:cNvPr>
            <p:cNvSpPr>
              <a:spLocks noChangeArrowheads="1"/>
            </p:cNvSpPr>
            <p:nvPr/>
          </p:nvSpPr>
          <p:spPr bwMode="auto">
            <a:xfrm>
              <a:off x="6175749"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30" name="Rectangle 7">
              <a:extLst>
                <a:ext uri="{FF2B5EF4-FFF2-40B4-BE49-F238E27FC236}">
                  <a16:creationId xmlns:a16="http://schemas.microsoft.com/office/drawing/2014/main" id="{FEE0C24B-8792-AD45-BA4A-4128A46CAF45}"/>
                </a:ext>
              </a:extLst>
            </p:cNvPr>
            <p:cNvSpPr>
              <a:spLocks noChangeArrowheads="1"/>
            </p:cNvSpPr>
            <p:nvPr/>
          </p:nvSpPr>
          <p:spPr bwMode="auto">
            <a:xfrm>
              <a:off x="6578551"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grpSp>
      <p:sp>
        <p:nvSpPr>
          <p:cNvPr id="71686" name="TextBox 15">
            <a:extLst>
              <a:ext uri="{FF2B5EF4-FFF2-40B4-BE49-F238E27FC236}">
                <a16:creationId xmlns:a16="http://schemas.microsoft.com/office/drawing/2014/main" id="{1E72377E-6044-9F4D-AFDE-BC202B86112E}"/>
              </a:ext>
            </a:extLst>
          </p:cNvPr>
          <p:cNvSpPr txBox="1">
            <a:spLocks noChangeArrowheads="1"/>
          </p:cNvSpPr>
          <p:nvPr/>
        </p:nvSpPr>
        <p:spPr bwMode="auto">
          <a:xfrm>
            <a:off x="390265" y="2456547"/>
            <a:ext cx="22701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DIV     R4 </a:t>
            </a:r>
            <a:r>
              <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sym typeface="Wingdings" pitchFamily="2" charset="2"/>
              </a:rPr>
              <a:t> R1, R2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ADD   R3  R1, R2</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1687" name="Group 9">
            <a:extLst>
              <a:ext uri="{FF2B5EF4-FFF2-40B4-BE49-F238E27FC236}">
                <a16:creationId xmlns:a16="http://schemas.microsoft.com/office/drawing/2014/main" id="{8F3BC56C-B6BE-E74E-9BF9-16326C15E0C7}"/>
              </a:ext>
            </a:extLst>
          </p:cNvPr>
          <p:cNvGrpSpPr>
            <a:grpSpLocks/>
          </p:cNvGrpSpPr>
          <p:nvPr/>
        </p:nvGrpSpPr>
        <p:grpSpPr bwMode="auto">
          <a:xfrm>
            <a:off x="3759200" y="3149600"/>
            <a:ext cx="1611313" cy="368300"/>
            <a:chOff x="932873" y="4248850"/>
            <a:chExt cx="1610696" cy="369332"/>
          </a:xfrm>
        </p:grpSpPr>
        <p:sp>
          <p:nvSpPr>
            <p:cNvPr id="71716" name="Rectangle 10">
              <a:extLst>
                <a:ext uri="{FF2B5EF4-FFF2-40B4-BE49-F238E27FC236}">
                  <a16:creationId xmlns:a16="http://schemas.microsoft.com/office/drawing/2014/main" id="{646AB2AD-501B-854B-9321-A554046C077A}"/>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1717" name="Rectangle 11">
              <a:extLst>
                <a:ext uri="{FF2B5EF4-FFF2-40B4-BE49-F238E27FC236}">
                  <a16:creationId xmlns:a16="http://schemas.microsoft.com/office/drawing/2014/main" id="{92119F2B-7CC7-1241-948E-EC549471B741}"/>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1718" name="Rectangle 12">
              <a:extLst>
                <a:ext uri="{FF2B5EF4-FFF2-40B4-BE49-F238E27FC236}">
                  <a16:creationId xmlns:a16="http://schemas.microsoft.com/office/drawing/2014/main" id="{D040F5EE-A3E5-2F47-88AF-239789E185F4}"/>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1719" name="Rectangle 13">
              <a:extLst>
                <a:ext uri="{FF2B5EF4-FFF2-40B4-BE49-F238E27FC236}">
                  <a16:creationId xmlns:a16="http://schemas.microsoft.com/office/drawing/2014/main" id="{1A7FC123-377B-6846-9054-827F79F79410}"/>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grpSp>
        <p:nvGrpSpPr>
          <p:cNvPr id="71688" name="Group 9">
            <a:extLst>
              <a:ext uri="{FF2B5EF4-FFF2-40B4-BE49-F238E27FC236}">
                <a16:creationId xmlns:a16="http://schemas.microsoft.com/office/drawing/2014/main" id="{917DB4A9-2753-3E49-BF02-0B23D363A0A8}"/>
              </a:ext>
            </a:extLst>
          </p:cNvPr>
          <p:cNvGrpSpPr>
            <a:grpSpLocks/>
          </p:cNvGrpSpPr>
          <p:nvPr/>
        </p:nvGrpSpPr>
        <p:grpSpPr bwMode="auto">
          <a:xfrm>
            <a:off x="4162425" y="3517900"/>
            <a:ext cx="1611313" cy="369888"/>
            <a:chOff x="932873" y="4248850"/>
            <a:chExt cx="1610696" cy="369332"/>
          </a:xfrm>
        </p:grpSpPr>
        <p:sp>
          <p:nvSpPr>
            <p:cNvPr id="71712" name="Rectangle 10">
              <a:extLst>
                <a:ext uri="{FF2B5EF4-FFF2-40B4-BE49-F238E27FC236}">
                  <a16:creationId xmlns:a16="http://schemas.microsoft.com/office/drawing/2014/main" id="{EA838567-23F1-CF45-929E-C86D61773930}"/>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1713" name="Rectangle 11">
              <a:extLst>
                <a:ext uri="{FF2B5EF4-FFF2-40B4-BE49-F238E27FC236}">
                  <a16:creationId xmlns:a16="http://schemas.microsoft.com/office/drawing/2014/main" id="{9DCC4E12-332D-AC42-89A1-4C33E4085CF8}"/>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1714" name="Rectangle 12">
              <a:extLst>
                <a:ext uri="{FF2B5EF4-FFF2-40B4-BE49-F238E27FC236}">
                  <a16:creationId xmlns:a16="http://schemas.microsoft.com/office/drawing/2014/main" id="{20646BBC-DA81-6041-913A-B8397B6D6B49}"/>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1715" name="Rectangle 13">
              <a:extLst>
                <a:ext uri="{FF2B5EF4-FFF2-40B4-BE49-F238E27FC236}">
                  <a16:creationId xmlns:a16="http://schemas.microsoft.com/office/drawing/2014/main" id="{CCA5CB5E-638F-594B-8D51-1FD7D0B8DAE0}"/>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grpSp>
        <p:nvGrpSpPr>
          <p:cNvPr id="71689" name="Group 9">
            <a:extLst>
              <a:ext uri="{FF2B5EF4-FFF2-40B4-BE49-F238E27FC236}">
                <a16:creationId xmlns:a16="http://schemas.microsoft.com/office/drawing/2014/main" id="{6CF25F17-595E-4F4E-940E-8D61577E8363}"/>
              </a:ext>
            </a:extLst>
          </p:cNvPr>
          <p:cNvGrpSpPr>
            <a:grpSpLocks/>
          </p:cNvGrpSpPr>
          <p:nvPr/>
        </p:nvGrpSpPr>
        <p:grpSpPr bwMode="auto">
          <a:xfrm>
            <a:off x="4967288" y="4257675"/>
            <a:ext cx="1611312" cy="368300"/>
            <a:chOff x="932873" y="4248850"/>
            <a:chExt cx="1610696" cy="369332"/>
          </a:xfrm>
        </p:grpSpPr>
        <p:sp>
          <p:nvSpPr>
            <p:cNvPr id="71708" name="Rectangle 10">
              <a:extLst>
                <a:ext uri="{FF2B5EF4-FFF2-40B4-BE49-F238E27FC236}">
                  <a16:creationId xmlns:a16="http://schemas.microsoft.com/office/drawing/2014/main" id="{D9976836-118D-484C-A31E-EB9918353372}"/>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1709" name="Rectangle 11">
              <a:extLst>
                <a:ext uri="{FF2B5EF4-FFF2-40B4-BE49-F238E27FC236}">
                  <a16:creationId xmlns:a16="http://schemas.microsoft.com/office/drawing/2014/main" id="{F5F25B0C-8E3D-BB4E-A61F-7302E76A4C81}"/>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1710" name="Rectangle 12">
              <a:extLst>
                <a:ext uri="{FF2B5EF4-FFF2-40B4-BE49-F238E27FC236}">
                  <a16:creationId xmlns:a16="http://schemas.microsoft.com/office/drawing/2014/main" id="{1933E078-77E7-7449-86D1-F699EAC2A1F2}"/>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1711" name="Rectangle 13">
              <a:extLst>
                <a:ext uri="{FF2B5EF4-FFF2-40B4-BE49-F238E27FC236}">
                  <a16:creationId xmlns:a16="http://schemas.microsoft.com/office/drawing/2014/main" id="{96C993C6-FD19-8640-89E5-F6FAE93D53DE}"/>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grpSp>
        <p:nvGrpSpPr>
          <p:cNvPr id="71690" name="Group 9">
            <a:extLst>
              <a:ext uri="{FF2B5EF4-FFF2-40B4-BE49-F238E27FC236}">
                <a16:creationId xmlns:a16="http://schemas.microsoft.com/office/drawing/2014/main" id="{EB70C2AF-5FA6-1D46-A1CB-7FCB621BA572}"/>
              </a:ext>
            </a:extLst>
          </p:cNvPr>
          <p:cNvGrpSpPr>
            <a:grpSpLocks/>
          </p:cNvGrpSpPr>
          <p:nvPr/>
        </p:nvGrpSpPr>
        <p:grpSpPr bwMode="auto">
          <a:xfrm>
            <a:off x="5370513" y="4630738"/>
            <a:ext cx="1611312" cy="369887"/>
            <a:chOff x="932873" y="4248850"/>
            <a:chExt cx="1610696" cy="369332"/>
          </a:xfrm>
        </p:grpSpPr>
        <p:sp>
          <p:nvSpPr>
            <p:cNvPr id="71704" name="Rectangle 10">
              <a:extLst>
                <a:ext uri="{FF2B5EF4-FFF2-40B4-BE49-F238E27FC236}">
                  <a16:creationId xmlns:a16="http://schemas.microsoft.com/office/drawing/2014/main" id="{DC68EF07-E7F9-E64E-A376-D8D165E32D25}"/>
                </a:ext>
              </a:extLst>
            </p:cNvPr>
            <p:cNvSpPr>
              <a:spLocks noChangeArrowheads="1"/>
            </p:cNvSpPr>
            <p:nvPr/>
          </p:nvSpPr>
          <p:spPr bwMode="auto">
            <a:xfrm>
              <a:off x="932873"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1705" name="Rectangle 11">
              <a:extLst>
                <a:ext uri="{FF2B5EF4-FFF2-40B4-BE49-F238E27FC236}">
                  <a16:creationId xmlns:a16="http://schemas.microsoft.com/office/drawing/2014/main" id="{B6919E8C-A8BE-0748-A590-1A2808490FA1}"/>
                </a:ext>
              </a:extLst>
            </p:cNvPr>
            <p:cNvSpPr>
              <a:spLocks noChangeArrowheads="1"/>
            </p:cNvSpPr>
            <p:nvPr/>
          </p:nvSpPr>
          <p:spPr bwMode="auto">
            <a:xfrm>
              <a:off x="1335547"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1706" name="Rectangle 12">
              <a:extLst>
                <a:ext uri="{FF2B5EF4-FFF2-40B4-BE49-F238E27FC236}">
                  <a16:creationId xmlns:a16="http://schemas.microsoft.com/office/drawing/2014/main" id="{3F5D4DC0-C811-484B-BB65-1B61C9B88D3C}"/>
                </a:ext>
              </a:extLst>
            </p:cNvPr>
            <p:cNvSpPr>
              <a:spLocks noChangeArrowheads="1"/>
            </p:cNvSpPr>
            <p:nvPr/>
          </p:nvSpPr>
          <p:spPr bwMode="auto">
            <a:xfrm>
              <a:off x="1738221"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1707" name="Rectangle 13">
              <a:extLst>
                <a:ext uri="{FF2B5EF4-FFF2-40B4-BE49-F238E27FC236}">
                  <a16:creationId xmlns:a16="http://schemas.microsoft.com/office/drawing/2014/main" id="{32056BF9-7DA3-AA45-A628-8A6330831485}"/>
                </a:ext>
              </a:extLst>
            </p:cNvPr>
            <p:cNvSpPr>
              <a:spLocks noChangeArrowheads="1"/>
            </p:cNvSpPr>
            <p:nvPr/>
          </p:nvSpPr>
          <p:spPr bwMode="auto">
            <a:xfrm>
              <a:off x="2140895" y="4248850"/>
              <a:ext cx="402674" cy="36933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sp>
        <p:nvSpPr>
          <p:cNvPr id="71691" name="TextBox 15">
            <a:extLst>
              <a:ext uri="{FF2B5EF4-FFF2-40B4-BE49-F238E27FC236}">
                <a16:creationId xmlns:a16="http://schemas.microsoft.com/office/drawing/2014/main" id="{B538F839-93C4-FE4C-B53F-65E84D638B44}"/>
              </a:ext>
            </a:extLst>
          </p:cNvPr>
          <p:cNvSpPr txBox="1">
            <a:spLocks noChangeArrowheads="1"/>
          </p:cNvSpPr>
          <p:nvPr/>
        </p:nvSpPr>
        <p:spPr bwMode="auto">
          <a:xfrm>
            <a:off x="472121" y="3934509"/>
            <a:ext cx="2400176" cy="72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DIV     R2 </a:t>
            </a:r>
            <a:r>
              <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sym typeface="Wingdings" pitchFamily="2" charset="2"/>
              </a:rPr>
              <a:t> R5, R6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ADD   R7  R5, R6</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1692" name="Group 56">
            <a:extLst>
              <a:ext uri="{FF2B5EF4-FFF2-40B4-BE49-F238E27FC236}">
                <a16:creationId xmlns:a16="http://schemas.microsoft.com/office/drawing/2014/main" id="{4134608E-5D04-E844-8128-FD8DCB0D0FD8}"/>
              </a:ext>
            </a:extLst>
          </p:cNvPr>
          <p:cNvGrpSpPr>
            <a:grpSpLocks/>
          </p:cNvGrpSpPr>
          <p:nvPr/>
        </p:nvGrpSpPr>
        <p:grpSpPr bwMode="auto">
          <a:xfrm>
            <a:off x="4564063" y="3887788"/>
            <a:ext cx="4430712" cy="369887"/>
            <a:chOff x="2953332" y="2410731"/>
            <a:chExt cx="4430823" cy="369318"/>
          </a:xfrm>
        </p:grpSpPr>
        <p:sp>
          <p:nvSpPr>
            <p:cNvPr id="71693" name="Rectangle 5">
              <a:extLst>
                <a:ext uri="{FF2B5EF4-FFF2-40B4-BE49-F238E27FC236}">
                  <a16:creationId xmlns:a16="http://schemas.microsoft.com/office/drawing/2014/main" id="{BC360269-6311-3A42-A3D6-9CAEA1D291DA}"/>
                </a:ext>
              </a:extLst>
            </p:cNvPr>
            <p:cNvSpPr>
              <a:spLocks noChangeArrowheads="1"/>
            </p:cNvSpPr>
            <p:nvPr/>
          </p:nvSpPr>
          <p:spPr bwMode="auto">
            <a:xfrm>
              <a:off x="2953332"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F</a:t>
              </a:r>
            </a:p>
          </p:txBody>
        </p:sp>
        <p:sp>
          <p:nvSpPr>
            <p:cNvPr id="71694" name="Rectangle 6">
              <a:extLst>
                <a:ext uri="{FF2B5EF4-FFF2-40B4-BE49-F238E27FC236}">
                  <a16:creationId xmlns:a16="http://schemas.microsoft.com/office/drawing/2014/main" id="{6470B63F-CD6E-774A-855F-9D71124D1395}"/>
                </a:ext>
              </a:extLst>
            </p:cNvPr>
            <p:cNvSpPr>
              <a:spLocks noChangeArrowheads="1"/>
            </p:cNvSpPr>
            <p:nvPr/>
          </p:nvSpPr>
          <p:spPr bwMode="auto">
            <a:xfrm>
              <a:off x="3356134"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D</a:t>
              </a:r>
            </a:p>
          </p:txBody>
        </p:sp>
        <p:sp>
          <p:nvSpPr>
            <p:cNvPr id="71695" name="Rectangle 7">
              <a:extLst>
                <a:ext uri="{FF2B5EF4-FFF2-40B4-BE49-F238E27FC236}">
                  <a16:creationId xmlns:a16="http://schemas.microsoft.com/office/drawing/2014/main" id="{DDBA76F6-3310-FA41-80C7-D0C3B8A97DBD}"/>
                </a:ext>
              </a:extLst>
            </p:cNvPr>
            <p:cNvSpPr>
              <a:spLocks noChangeArrowheads="1"/>
            </p:cNvSpPr>
            <p:nvPr/>
          </p:nvSpPr>
          <p:spPr bwMode="auto">
            <a:xfrm>
              <a:off x="3758937"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696" name="Rectangle 8">
              <a:extLst>
                <a:ext uri="{FF2B5EF4-FFF2-40B4-BE49-F238E27FC236}">
                  <a16:creationId xmlns:a16="http://schemas.microsoft.com/office/drawing/2014/main" id="{29EF85E9-DB44-1541-A29E-D6912204F577}"/>
                </a:ext>
              </a:extLst>
            </p:cNvPr>
            <p:cNvSpPr>
              <a:spLocks noChangeArrowheads="1"/>
            </p:cNvSpPr>
            <p:nvPr/>
          </p:nvSpPr>
          <p:spPr bwMode="auto">
            <a:xfrm>
              <a:off x="6981353"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W</a:t>
              </a:r>
            </a:p>
          </p:txBody>
        </p:sp>
        <p:sp>
          <p:nvSpPr>
            <p:cNvPr id="71697" name="Rectangle 7">
              <a:extLst>
                <a:ext uri="{FF2B5EF4-FFF2-40B4-BE49-F238E27FC236}">
                  <a16:creationId xmlns:a16="http://schemas.microsoft.com/office/drawing/2014/main" id="{E3133FC0-6087-F14B-B2CC-7B1C32FA0380}"/>
                </a:ext>
              </a:extLst>
            </p:cNvPr>
            <p:cNvSpPr>
              <a:spLocks noChangeArrowheads="1"/>
            </p:cNvSpPr>
            <p:nvPr/>
          </p:nvSpPr>
          <p:spPr bwMode="auto">
            <a:xfrm>
              <a:off x="4161739"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698" name="Rectangle 7">
              <a:extLst>
                <a:ext uri="{FF2B5EF4-FFF2-40B4-BE49-F238E27FC236}">
                  <a16:creationId xmlns:a16="http://schemas.microsoft.com/office/drawing/2014/main" id="{6BF82392-7FC2-CA4C-B680-858F9293D635}"/>
                </a:ext>
              </a:extLst>
            </p:cNvPr>
            <p:cNvSpPr>
              <a:spLocks noChangeArrowheads="1"/>
            </p:cNvSpPr>
            <p:nvPr/>
          </p:nvSpPr>
          <p:spPr bwMode="auto">
            <a:xfrm>
              <a:off x="4564541"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699" name="Rectangle 7">
              <a:extLst>
                <a:ext uri="{FF2B5EF4-FFF2-40B4-BE49-F238E27FC236}">
                  <a16:creationId xmlns:a16="http://schemas.microsoft.com/office/drawing/2014/main" id="{2CA22BE6-CDC8-DD40-9AC8-33DBB09E3231}"/>
                </a:ext>
              </a:extLst>
            </p:cNvPr>
            <p:cNvSpPr>
              <a:spLocks noChangeArrowheads="1"/>
            </p:cNvSpPr>
            <p:nvPr/>
          </p:nvSpPr>
          <p:spPr bwMode="auto">
            <a:xfrm>
              <a:off x="4967343"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00" name="Rectangle 7">
              <a:extLst>
                <a:ext uri="{FF2B5EF4-FFF2-40B4-BE49-F238E27FC236}">
                  <a16:creationId xmlns:a16="http://schemas.microsoft.com/office/drawing/2014/main" id="{48333954-F3B2-E744-BE43-ACAFFAAAE593}"/>
                </a:ext>
              </a:extLst>
            </p:cNvPr>
            <p:cNvSpPr>
              <a:spLocks noChangeArrowheads="1"/>
            </p:cNvSpPr>
            <p:nvPr/>
          </p:nvSpPr>
          <p:spPr bwMode="auto">
            <a:xfrm>
              <a:off x="5370145"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01" name="Rectangle 7">
              <a:extLst>
                <a:ext uri="{FF2B5EF4-FFF2-40B4-BE49-F238E27FC236}">
                  <a16:creationId xmlns:a16="http://schemas.microsoft.com/office/drawing/2014/main" id="{CFD7D115-3260-8943-9FD6-2A1BC718C61C}"/>
                </a:ext>
              </a:extLst>
            </p:cNvPr>
            <p:cNvSpPr>
              <a:spLocks noChangeArrowheads="1"/>
            </p:cNvSpPr>
            <p:nvPr/>
          </p:nvSpPr>
          <p:spPr bwMode="auto">
            <a:xfrm>
              <a:off x="5772947"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02" name="Rectangle 7">
              <a:extLst>
                <a:ext uri="{FF2B5EF4-FFF2-40B4-BE49-F238E27FC236}">
                  <a16:creationId xmlns:a16="http://schemas.microsoft.com/office/drawing/2014/main" id="{C633FC94-91F6-2C45-B447-0D8AAEE49CA5}"/>
                </a:ext>
              </a:extLst>
            </p:cNvPr>
            <p:cNvSpPr>
              <a:spLocks noChangeArrowheads="1"/>
            </p:cNvSpPr>
            <p:nvPr/>
          </p:nvSpPr>
          <p:spPr bwMode="auto">
            <a:xfrm>
              <a:off x="6175749"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sp>
          <p:nvSpPr>
            <p:cNvPr id="71703" name="Rectangle 7">
              <a:extLst>
                <a:ext uri="{FF2B5EF4-FFF2-40B4-BE49-F238E27FC236}">
                  <a16:creationId xmlns:a16="http://schemas.microsoft.com/office/drawing/2014/main" id="{E9FF48F1-5345-B646-8D83-190B45E4D9E0}"/>
                </a:ext>
              </a:extLst>
            </p:cNvPr>
            <p:cNvSpPr>
              <a:spLocks noChangeArrowheads="1"/>
            </p:cNvSpPr>
            <p:nvPr/>
          </p:nvSpPr>
          <p:spPr bwMode="auto">
            <a:xfrm>
              <a:off x="6578551"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a:t>
              </a:r>
            </a:p>
          </p:txBody>
        </p:sp>
      </p:grpSp>
      <p:sp>
        <p:nvSpPr>
          <p:cNvPr id="56" name="TextBox 15">
            <a:extLst>
              <a:ext uri="{FF2B5EF4-FFF2-40B4-BE49-F238E27FC236}">
                <a16:creationId xmlns:a16="http://schemas.microsoft.com/office/drawing/2014/main" id="{CD2B53DB-0AAC-4B4A-962B-A63ABF3EFE07}"/>
              </a:ext>
            </a:extLst>
          </p:cNvPr>
          <p:cNvSpPr txBox="1">
            <a:spLocks noChangeArrowheads="1"/>
          </p:cNvSpPr>
          <p:nvPr/>
        </p:nvSpPr>
        <p:spPr bwMode="auto">
          <a:xfrm>
            <a:off x="754058" y="3102022"/>
            <a:ext cx="117706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altLang="en-US" sz="32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p>
        </p:txBody>
      </p:sp>
    </p:spTree>
    <p:extLst>
      <p:ext uri="{BB962C8B-B14F-4D97-AF65-F5344CB8AC3E}">
        <p14:creationId xmlns:p14="http://schemas.microsoft.com/office/powerpoint/2010/main" val="2874540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0" y="4953000"/>
            <a:ext cx="6375009" cy="770205"/>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400"/>
            <a:ext cx="6375009" cy="358140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3306463581"/>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5B6D7-9072-924B-BAB0-6AF70E4DF318}"/>
              </a:ext>
            </a:extLst>
          </p:cNvPr>
          <p:cNvSpPr>
            <a:spLocks noGrp="1"/>
          </p:cNvSpPr>
          <p:nvPr>
            <p:ph type="title"/>
          </p:nvPr>
        </p:nvSpPr>
        <p:spPr/>
        <p:txBody>
          <a:bodyPr/>
          <a:lstStyle/>
          <a:p>
            <a:r>
              <a:rPr lang="en-US" dirty="0"/>
              <a:t>Exceptions and Interrupts</a:t>
            </a:r>
          </a:p>
        </p:txBody>
      </p:sp>
      <p:sp>
        <p:nvSpPr>
          <p:cNvPr id="3" name="Content Placeholder 2">
            <a:extLst>
              <a:ext uri="{FF2B5EF4-FFF2-40B4-BE49-F238E27FC236}">
                <a16:creationId xmlns:a16="http://schemas.microsoft.com/office/drawing/2014/main" id="{E3A5666C-1327-9743-866B-39C13E9A094B}"/>
              </a:ext>
            </a:extLst>
          </p:cNvPr>
          <p:cNvSpPr>
            <a:spLocks noGrp="1"/>
          </p:cNvSpPr>
          <p:nvPr>
            <p:ph idx="1"/>
          </p:nvPr>
        </p:nvSpPr>
        <p:spPr>
          <a:xfrm>
            <a:off x="228600" y="997527"/>
            <a:ext cx="8610600" cy="4412673"/>
          </a:xfrm>
        </p:spPr>
        <p:txBody>
          <a:bodyPr/>
          <a:lstStyle/>
          <a:p>
            <a:r>
              <a:rPr lang="en-US" dirty="0"/>
              <a:t>“Unplanned” changes or interruptions in program execution</a:t>
            </a:r>
          </a:p>
          <a:p>
            <a:pPr lvl="1"/>
            <a:r>
              <a:rPr lang="en-US" b="1" dirty="0">
                <a:sym typeface="Wingdings" pitchFamily="2" charset="2"/>
              </a:rPr>
              <a:t>Exceptions</a:t>
            </a:r>
            <a:r>
              <a:rPr lang="en-US" dirty="0">
                <a:sym typeface="Wingdings" pitchFamily="2" charset="2"/>
              </a:rPr>
              <a:t>:</a:t>
            </a:r>
            <a:r>
              <a:rPr lang="en-US" b="1" dirty="0">
                <a:sym typeface="Wingdings" pitchFamily="2" charset="2"/>
              </a:rPr>
              <a:t> </a:t>
            </a:r>
            <a:r>
              <a:rPr lang="en-US" dirty="0"/>
              <a:t>Due to internal problems in execution of the program</a:t>
            </a:r>
          </a:p>
          <a:p>
            <a:pPr lvl="1"/>
            <a:r>
              <a:rPr lang="en-US" b="1" dirty="0">
                <a:sym typeface="Wingdings" pitchFamily="2" charset="2"/>
              </a:rPr>
              <a:t>Interrupts</a:t>
            </a:r>
            <a:r>
              <a:rPr lang="en-US" dirty="0">
                <a:solidFill>
                  <a:srgbClr val="0432FF"/>
                </a:solidFill>
                <a:sym typeface="Wingdings" pitchFamily="2" charset="2"/>
              </a:rPr>
              <a:t>: </a:t>
            </a:r>
            <a:r>
              <a:rPr lang="en-US" dirty="0"/>
              <a:t>Due to external events that need to be handled by the processor</a:t>
            </a:r>
          </a:p>
          <a:p>
            <a:pPr lvl="1"/>
            <a:endParaRPr lang="en-US" dirty="0"/>
          </a:p>
          <a:p>
            <a:pPr marL="377824"/>
            <a:r>
              <a:rPr lang="en-US" dirty="0"/>
              <a:t>Both exceptions and interrupts require </a:t>
            </a:r>
          </a:p>
          <a:p>
            <a:pPr marL="704849" lvl="1"/>
            <a:r>
              <a:rPr lang="en-US" sz="1800" dirty="0"/>
              <a:t>1, stopping of the current program</a:t>
            </a:r>
          </a:p>
          <a:p>
            <a:pPr marL="704849" lvl="1"/>
            <a:r>
              <a:rPr lang="en-US" sz="1800" dirty="0"/>
              <a:t>2, saving the architectural state</a:t>
            </a:r>
          </a:p>
          <a:p>
            <a:pPr marL="704849" lvl="1"/>
            <a:r>
              <a:rPr lang="en-US" sz="1800" dirty="0"/>
              <a:t>3, handling the exception/interrupt </a:t>
            </a:r>
            <a:r>
              <a:rPr lang="en-US" sz="1800" dirty="0">
                <a:sym typeface="Wingdings" pitchFamily="2" charset="2"/>
              </a:rPr>
              <a:t> switch to handler</a:t>
            </a:r>
          </a:p>
          <a:p>
            <a:pPr marL="704849" lvl="1"/>
            <a:r>
              <a:rPr lang="en-US" sz="1800" dirty="0">
                <a:sym typeface="Wingdings" pitchFamily="2" charset="2"/>
              </a:rPr>
              <a:t>4, return back to program execution (if possible and makes sense)</a:t>
            </a:r>
            <a:endParaRPr lang="en-US" sz="1800" dirty="0"/>
          </a:p>
        </p:txBody>
      </p:sp>
      <p:sp>
        <p:nvSpPr>
          <p:cNvPr id="4" name="Slide Number Placeholder 3">
            <a:extLst>
              <a:ext uri="{FF2B5EF4-FFF2-40B4-BE49-F238E27FC236}">
                <a16:creationId xmlns:a16="http://schemas.microsoft.com/office/drawing/2014/main" id="{E9928029-77B9-3443-AA93-019AB556BF4E}"/>
              </a:ext>
            </a:extLst>
          </p:cNvPr>
          <p:cNvSpPr>
            <a:spLocks noGrp="1"/>
          </p:cNvSpPr>
          <p:nvPr>
            <p:ph type="sldNum" sz="quarter" idx="11"/>
          </p:nvPr>
        </p:nvSpPr>
        <p:spPr/>
        <p:txBody>
          <a:bodyPr/>
          <a:lstStyle/>
          <a:p>
            <a:pPr>
              <a:defRPr/>
            </a:pPr>
            <a:fld id="{753DEEF8-87BA-7144-9648-F84693A6E11D}" type="slidenum">
              <a:rPr lang="en-US" altLang="en-US" smtClean="0"/>
              <a:pPr>
                <a:defRPr/>
              </a:pPr>
              <a:t>56</a:t>
            </a:fld>
            <a:endParaRPr lang="en-US" altLang="en-US"/>
          </a:p>
        </p:txBody>
      </p:sp>
    </p:spTree>
    <p:extLst>
      <p:ext uri="{BB962C8B-B14F-4D97-AF65-F5344CB8AC3E}">
        <p14:creationId xmlns:p14="http://schemas.microsoft.com/office/powerpoint/2010/main" val="27786183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2C77D1D9-B92E-4343-BF06-4B1F62B74870}"/>
              </a:ext>
            </a:extLst>
          </p:cNvPr>
          <p:cNvSpPr>
            <a:spLocks noGrp="1" noChangeArrowheads="1"/>
          </p:cNvSpPr>
          <p:nvPr>
            <p:ph type="title"/>
          </p:nvPr>
        </p:nvSpPr>
        <p:spPr/>
        <p:txBody>
          <a:bodyPr/>
          <a:lstStyle/>
          <a:p>
            <a:r>
              <a:rPr lang="en-US" altLang="en-US">
                <a:ea typeface="ＭＳ Ｐゴシック" panose="020B0600070205080204" pitchFamily="34" charset="-128"/>
              </a:rPr>
              <a:t>Exceptions vs. Interrupts</a:t>
            </a:r>
          </a:p>
        </p:txBody>
      </p:sp>
      <p:sp>
        <p:nvSpPr>
          <p:cNvPr id="3" name="Content Placeholder 2">
            <a:extLst>
              <a:ext uri="{FF2B5EF4-FFF2-40B4-BE49-F238E27FC236}">
                <a16:creationId xmlns:a16="http://schemas.microsoft.com/office/drawing/2014/main" id="{D0604705-7BDA-2A42-8C6D-AE6D6C602924}"/>
              </a:ext>
            </a:extLst>
          </p:cNvPr>
          <p:cNvSpPr>
            <a:spLocks noGrp="1" noChangeArrowheads="1"/>
          </p:cNvSpPr>
          <p:nvPr>
            <p:ph idx="1"/>
          </p:nvPr>
        </p:nvSpPr>
        <p:spPr>
          <a:xfrm>
            <a:off x="228600" y="838200"/>
            <a:ext cx="8839200" cy="4114800"/>
          </a:xfrm>
        </p:spPr>
        <p:txBody>
          <a:bodyPr/>
          <a:lstStyle/>
          <a:p>
            <a:r>
              <a:rPr lang="en-US" altLang="en-US" b="1" dirty="0">
                <a:ea typeface="ＭＳ Ｐゴシック" panose="020B0600070205080204" pitchFamily="34" charset="-128"/>
              </a:rPr>
              <a:t>Cause</a:t>
            </a:r>
          </a:p>
          <a:p>
            <a:pPr lvl="1"/>
            <a:r>
              <a:rPr lang="en-US" altLang="en-US" dirty="0">
                <a:ea typeface="ＭＳ Ｐゴシック" panose="020B0600070205080204" pitchFamily="34" charset="-128"/>
              </a:rPr>
              <a:t>Exceptions: internal to the running thread</a:t>
            </a:r>
          </a:p>
          <a:p>
            <a:pPr lvl="1"/>
            <a:r>
              <a:rPr lang="en-US" altLang="en-US" dirty="0">
                <a:ea typeface="ＭＳ Ｐゴシック" panose="020B0600070205080204" pitchFamily="34" charset="-128"/>
              </a:rPr>
              <a:t>Interrupts: external to the running thread</a:t>
            </a:r>
          </a:p>
          <a:p>
            <a:endParaRPr lang="en-US" altLang="en-US" dirty="0">
              <a:solidFill>
                <a:srgbClr val="0000FF"/>
              </a:solidFill>
              <a:ea typeface="ＭＳ Ｐゴシック" panose="020B0600070205080204" pitchFamily="34" charset="-128"/>
            </a:endParaRPr>
          </a:p>
          <a:p>
            <a:r>
              <a:rPr lang="en-US" altLang="en-US" b="1" dirty="0">
                <a:ea typeface="ＭＳ Ｐゴシック" panose="020B0600070205080204" pitchFamily="34" charset="-128"/>
              </a:rPr>
              <a:t>When to Handle</a:t>
            </a:r>
          </a:p>
          <a:p>
            <a:pPr lvl="1"/>
            <a:r>
              <a:rPr lang="en-US" altLang="en-US" b="1" dirty="0">
                <a:ea typeface="ＭＳ Ｐゴシック" panose="020B0600070205080204" pitchFamily="34" charset="-128"/>
              </a:rPr>
              <a:t>Exceptions</a:t>
            </a:r>
            <a:r>
              <a:rPr lang="en-US" altLang="en-US" dirty="0">
                <a:ea typeface="ＭＳ Ｐゴシック" panose="020B0600070205080204" pitchFamily="34" charset="-128"/>
              </a:rPr>
              <a:t>: when detected (and known to be non-speculative)</a:t>
            </a:r>
          </a:p>
          <a:p>
            <a:pPr lvl="1"/>
            <a:r>
              <a:rPr lang="en-US" altLang="en-US" b="1" dirty="0">
                <a:ea typeface="ＭＳ Ｐゴシック" panose="020B0600070205080204" pitchFamily="34" charset="-128"/>
              </a:rPr>
              <a:t>Interrupts</a:t>
            </a:r>
            <a:r>
              <a:rPr lang="en-US" altLang="en-US" dirty="0">
                <a:ea typeface="ＭＳ Ｐゴシック" panose="020B0600070205080204" pitchFamily="34" charset="-128"/>
              </a:rPr>
              <a:t>: when convenient</a:t>
            </a:r>
          </a:p>
          <a:p>
            <a:pPr lvl="2"/>
            <a:r>
              <a:rPr lang="en-US" altLang="en-US" dirty="0">
                <a:ea typeface="ＭＳ Ｐゴシック" panose="020B0600070205080204" pitchFamily="34" charset="-128"/>
              </a:rPr>
              <a:t>Except for very high priority ones</a:t>
            </a:r>
          </a:p>
          <a:p>
            <a:pPr lvl="3"/>
            <a:r>
              <a:rPr lang="en-US" altLang="en-US" dirty="0">
                <a:ea typeface="ＭＳ Ｐゴシック" panose="020B0600070205080204" pitchFamily="34" charset="-128"/>
              </a:rPr>
              <a:t>Power failure</a:t>
            </a:r>
          </a:p>
          <a:p>
            <a:pPr lvl="3"/>
            <a:r>
              <a:rPr lang="en-US" altLang="en-US" dirty="0">
                <a:ea typeface="ＭＳ Ｐゴシック" panose="020B0600070205080204" pitchFamily="34" charset="-128"/>
              </a:rPr>
              <a:t>Machine check (error)</a:t>
            </a:r>
          </a:p>
          <a:p>
            <a:endParaRPr lang="en-US" altLang="en-US" dirty="0">
              <a:solidFill>
                <a:srgbClr val="0000FF"/>
              </a:solidFill>
              <a:ea typeface="ＭＳ Ｐゴシック" panose="020B0600070205080204" pitchFamily="34" charset="-128"/>
            </a:endParaRPr>
          </a:p>
          <a:p>
            <a:pPr marL="344487" lvl="1" indent="0">
              <a:buNone/>
            </a:pPr>
            <a:endParaRPr lang="en-US" altLang="en-US" dirty="0">
              <a:ea typeface="ＭＳ Ｐゴシック" panose="020B0600070205080204" pitchFamily="34" charset="-128"/>
            </a:endParaRPr>
          </a:p>
        </p:txBody>
      </p:sp>
      <p:sp>
        <p:nvSpPr>
          <p:cNvPr id="72707" name="Slide Number Placeholder 3">
            <a:extLst>
              <a:ext uri="{FF2B5EF4-FFF2-40B4-BE49-F238E27FC236}">
                <a16:creationId xmlns:a16="http://schemas.microsoft.com/office/drawing/2014/main" id="{88D29125-BBC8-2746-B4BE-FFEA7527CC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C8298C0-161B-3444-B05E-F4B6CA072A4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69572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C78766DC-23AA-AE45-8D1B-0F0B710C5E50}"/>
              </a:ext>
            </a:extLst>
          </p:cNvPr>
          <p:cNvSpPr>
            <a:spLocks noGrp="1" noChangeArrowheads="1"/>
          </p:cNvSpPr>
          <p:nvPr>
            <p:ph type="title"/>
          </p:nvPr>
        </p:nvSpPr>
        <p:spPr/>
        <p:txBody>
          <a:bodyPr/>
          <a:lstStyle/>
          <a:p>
            <a:r>
              <a:rPr lang="en-US" altLang="en-US">
                <a:ea typeface="ＭＳ Ｐゴシック" panose="020B0600070205080204" pitchFamily="34" charset="-128"/>
              </a:rPr>
              <a:t>Precise Exceptions/Interrupts</a:t>
            </a:r>
          </a:p>
        </p:txBody>
      </p:sp>
      <p:sp>
        <p:nvSpPr>
          <p:cNvPr id="50178" name="Content Placeholder 2">
            <a:extLst>
              <a:ext uri="{FF2B5EF4-FFF2-40B4-BE49-F238E27FC236}">
                <a16:creationId xmlns:a16="http://schemas.microsoft.com/office/drawing/2014/main" id="{95E2FD4B-6DC4-884E-A0F1-4870A9FA0E72}"/>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The architectural state should be consistent (precise)    when the exception/interrupt is ready to be handled</a:t>
            </a:r>
          </a:p>
          <a:p>
            <a:endParaRPr lang="en-US" altLang="en-US" dirty="0">
              <a:ea typeface="ＭＳ Ｐゴシック" panose="020B0600070205080204" pitchFamily="34" charset="-128"/>
            </a:endParaRPr>
          </a:p>
          <a:p>
            <a:pPr>
              <a:buFont typeface="Wingdings" pitchFamily="2" charset="2"/>
              <a:buNone/>
            </a:pPr>
            <a:r>
              <a:rPr lang="en-US" altLang="en-US" dirty="0">
                <a:ea typeface="ＭＳ Ｐゴシック" panose="020B0600070205080204" pitchFamily="34" charset="-128"/>
              </a:rPr>
              <a:t>	     1. All previous instructions should be completely retired.</a:t>
            </a: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r>
              <a:rPr lang="en-US" altLang="en-US" dirty="0">
                <a:ea typeface="ＭＳ Ｐゴシック" panose="020B0600070205080204" pitchFamily="34" charset="-128"/>
              </a:rPr>
              <a:t>	     2. No later instruction should be retired. </a:t>
            </a: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endParaRPr lang="en-US" altLang="en-US" dirty="0">
              <a:ea typeface="ＭＳ Ｐゴシック" panose="020B0600070205080204" pitchFamily="34" charset="-128"/>
            </a:endParaRPr>
          </a:p>
          <a:p>
            <a:pPr>
              <a:buFont typeface="Wingdings" pitchFamily="2" charset="2"/>
              <a:buNone/>
            </a:pPr>
            <a:r>
              <a:rPr lang="en-US" altLang="en-US" dirty="0">
                <a:ea typeface="ＭＳ Ｐゴシック" panose="020B0600070205080204" pitchFamily="34" charset="-128"/>
              </a:rPr>
              <a:t>Retire = commit = finish execution and update arch. state</a:t>
            </a:r>
          </a:p>
          <a:p>
            <a:endParaRPr lang="en-US" altLang="en-US" dirty="0">
              <a:ea typeface="ＭＳ Ｐゴシック" panose="020B0600070205080204" pitchFamily="34" charset="-128"/>
            </a:endParaRPr>
          </a:p>
        </p:txBody>
      </p:sp>
      <p:sp>
        <p:nvSpPr>
          <p:cNvPr id="73731" name="Slide Number Placeholder 3">
            <a:extLst>
              <a:ext uri="{FF2B5EF4-FFF2-40B4-BE49-F238E27FC236}">
                <a16:creationId xmlns:a16="http://schemas.microsoft.com/office/drawing/2014/main" id="{B424F285-BA77-1549-983F-BA8E878309F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BDB3E19-6C1B-0A4A-AA2D-323F9C9EC3F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42859240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7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4EBD7611-B94C-2C41-B44A-B0CC8D5B2D66}"/>
              </a:ext>
            </a:extLst>
          </p:cNvPr>
          <p:cNvSpPr>
            <a:spLocks noGrp="1" noChangeArrowheads="1"/>
          </p:cNvSpPr>
          <p:nvPr>
            <p:ph type="title"/>
          </p:nvPr>
        </p:nvSpPr>
        <p:spPr>
          <a:xfrm>
            <a:off x="228600" y="152400"/>
            <a:ext cx="8915400" cy="1066800"/>
          </a:xfrm>
        </p:spPr>
        <p:txBody>
          <a:bodyPr/>
          <a:lstStyle/>
          <a:p>
            <a:r>
              <a:rPr lang="en-US" altLang="en-US" sz="3300">
                <a:ea typeface="ＭＳ Ｐゴシック" panose="020B0600070205080204" pitchFamily="34" charset="-128"/>
              </a:rPr>
              <a:t>Checking for and Handling Exceptions in Pipelining</a:t>
            </a:r>
          </a:p>
        </p:txBody>
      </p:sp>
      <p:sp>
        <p:nvSpPr>
          <p:cNvPr id="100354" name="Content Placeholder 2">
            <a:extLst>
              <a:ext uri="{FF2B5EF4-FFF2-40B4-BE49-F238E27FC236}">
                <a16:creationId xmlns:a16="http://schemas.microsoft.com/office/drawing/2014/main" id="{7BFAEA4E-D48C-934C-A06D-52B6629555C0}"/>
              </a:ext>
            </a:extLst>
          </p:cNvPr>
          <p:cNvSpPr>
            <a:spLocks noGrp="1" noChangeArrowheads="1"/>
          </p:cNvSpPr>
          <p:nvPr>
            <p:ph idx="1"/>
          </p:nvPr>
        </p:nvSpPr>
        <p:spPr>
          <a:xfrm>
            <a:off x="228600" y="996950"/>
            <a:ext cx="8763000" cy="5194300"/>
          </a:xfrm>
        </p:spPr>
        <p:txBody>
          <a:bodyPr/>
          <a:lstStyle/>
          <a:p>
            <a:r>
              <a:rPr lang="en-US" altLang="en-US" dirty="0">
                <a:ea typeface="ＭＳ Ｐゴシック" panose="020B0600070205080204" pitchFamily="34" charset="-128"/>
              </a:rPr>
              <a:t>When the oldest instruction ready-to-be-retired is detected to have caused an exception, the control logic</a:t>
            </a:r>
          </a:p>
          <a:p>
            <a:pPr lvl="1"/>
            <a:endParaRPr lang="en-US" altLang="en-US" dirty="0">
              <a:ea typeface="ＭＳ Ｐゴシック" panose="020B0600070205080204" pitchFamily="34" charset="-128"/>
            </a:endParaRPr>
          </a:p>
          <a:p>
            <a:pPr lvl="1"/>
            <a:r>
              <a:rPr lang="en-US" altLang="zh-CN" dirty="0">
                <a:ea typeface="ＭＳ Ｐゴシック" panose="020B0600070205080204" pitchFamily="34" charset="-128"/>
              </a:rPr>
              <a:t>1</a:t>
            </a:r>
            <a:r>
              <a:rPr lang="zh-CN" altLang="en-US" dirty="0">
                <a:ea typeface="ＭＳ Ｐゴシック" panose="020B0600070205080204" pitchFamily="34" charset="-128"/>
              </a:rPr>
              <a:t>，</a:t>
            </a:r>
            <a:r>
              <a:rPr lang="en-US" altLang="en-US" dirty="0">
                <a:ea typeface="ＭＳ Ｐゴシック" panose="020B0600070205080204" pitchFamily="34" charset="-128"/>
              </a:rPr>
              <a:t>Ensures architectural state is precise (register file, PC, memory)</a:t>
            </a:r>
          </a:p>
          <a:p>
            <a:pPr lvl="1"/>
            <a:endParaRPr lang="en-US" altLang="en-US" dirty="0">
              <a:ea typeface="ＭＳ Ｐゴシック" panose="020B0600070205080204" pitchFamily="34" charset="-128"/>
            </a:endParaRPr>
          </a:p>
          <a:p>
            <a:pPr lvl="1"/>
            <a:r>
              <a:rPr lang="en-US" altLang="zh-CN" dirty="0">
                <a:ea typeface="ＭＳ Ｐゴシック" panose="020B0600070205080204" pitchFamily="34" charset="-128"/>
              </a:rPr>
              <a:t>2</a:t>
            </a:r>
            <a:r>
              <a:rPr lang="zh-CN" altLang="en-US" dirty="0">
                <a:ea typeface="ＭＳ Ｐゴシック" panose="020B0600070205080204" pitchFamily="34" charset="-128"/>
              </a:rPr>
              <a:t>，</a:t>
            </a:r>
            <a:r>
              <a:rPr lang="en-US" altLang="en-US" dirty="0">
                <a:ea typeface="ＭＳ Ｐゴシック" panose="020B0600070205080204" pitchFamily="34" charset="-128"/>
              </a:rPr>
              <a:t>Flushes all younger instructions in the pipeline</a:t>
            </a:r>
          </a:p>
          <a:p>
            <a:pPr lvl="1"/>
            <a:endParaRPr lang="en-US" altLang="en-US" dirty="0">
              <a:ea typeface="ＭＳ Ｐゴシック" panose="020B0600070205080204" pitchFamily="34" charset="-128"/>
            </a:endParaRPr>
          </a:p>
          <a:p>
            <a:pPr lvl="1"/>
            <a:r>
              <a:rPr lang="en-US" altLang="zh-CN" dirty="0">
                <a:ea typeface="ＭＳ Ｐゴシック" panose="020B0600070205080204" pitchFamily="34" charset="-128"/>
              </a:rPr>
              <a:t>3</a:t>
            </a:r>
            <a:r>
              <a:rPr lang="zh-CN" altLang="en-US" dirty="0">
                <a:ea typeface="ＭＳ Ｐゴシック" panose="020B0600070205080204" pitchFamily="34" charset="-128"/>
              </a:rPr>
              <a:t>，</a:t>
            </a:r>
            <a:r>
              <a:rPr lang="en-US" altLang="en-US" dirty="0">
                <a:ea typeface="ＭＳ Ｐゴシック" panose="020B0600070205080204" pitchFamily="34" charset="-128"/>
              </a:rPr>
              <a:t>Saves PC and registers (as specified by the ISA)</a:t>
            </a:r>
          </a:p>
          <a:p>
            <a:pPr lvl="1"/>
            <a:endParaRPr lang="en-US" altLang="en-US" dirty="0">
              <a:ea typeface="ＭＳ Ｐゴシック" panose="020B0600070205080204" pitchFamily="34" charset="-128"/>
            </a:endParaRPr>
          </a:p>
          <a:p>
            <a:pPr lvl="1"/>
            <a:r>
              <a:rPr lang="en-US" altLang="zh-CN" dirty="0">
                <a:ea typeface="ＭＳ Ｐゴシック" panose="020B0600070205080204" pitchFamily="34" charset="-128"/>
              </a:rPr>
              <a:t>4</a:t>
            </a:r>
            <a:r>
              <a:rPr lang="zh-CN" altLang="en-US" dirty="0">
                <a:ea typeface="ＭＳ Ｐゴシック" panose="020B0600070205080204" pitchFamily="34" charset="-128"/>
              </a:rPr>
              <a:t>，</a:t>
            </a:r>
            <a:r>
              <a:rPr lang="en-US" altLang="en-US" dirty="0">
                <a:ea typeface="ＭＳ Ｐゴシック" panose="020B0600070205080204" pitchFamily="34" charset="-128"/>
              </a:rPr>
              <a:t>Redirects the fetch engine to the appropriate exception handling routine</a:t>
            </a:r>
          </a:p>
        </p:txBody>
      </p:sp>
      <p:sp>
        <p:nvSpPr>
          <p:cNvPr id="74755" name="Slide Number Placeholder 3">
            <a:extLst>
              <a:ext uri="{FF2B5EF4-FFF2-40B4-BE49-F238E27FC236}">
                <a16:creationId xmlns:a16="http://schemas.microsoft.com/office/drawing/2014/main" id="{D83A177B-E579-F84A-8691-3E493731211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1C85B3-E014-0F4A-B073-CB643824B06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4197750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0354">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035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0354">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035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44D30D88-B43B-D048-8C28-E1AD8817D8C6}"/>
              </a:ext>
            </a:extLst>
          </p:cNvPr>
          <p:cNvSpPr>
            <a:spLocks noGrp="1" noChangeArrowheads="1"/>
          </p:cNvSpPr>
          <p:nvPr>
            <p:ph type="title"/>
          </p:nvPr>
        </p:nvSpPr>
        <p:spPr/>
        <p:txBody>
          <a:bodyPr/>
          <a:lstStyle/>
          <a:p>
            <a:r>
              <a:rPr lang="en-US" altLang="en-US">
                <a:ea typeface="ＭＳ Ｐゴシック" panose="020B0600070205080204" pitchFamily="34" charset="-128"/>
              </a:rPr>
              <a:t>Why Do We Want Precise Exceptions?</a:t>
            </a:r>
          </a:p>
        </p:txBody>
      </p:sp>
      <p:sp>
        <p:nvSpPr>
          <p:cNvPr id="3" name="Content Placeholder 2">
            <a:extLst>
              <a:ext uri="{FF2B5EF4-FFF2-40B4-BE49-F238E27FC236}">
                <a16:creationId xmlns:a16="http://schemas.microsoft.com/office/drawing/2014/main" id="{6B0D63AD-759D-524A-B862-8C2FD7E51BDF}"/>
              </a:ext>
            </a:extLst>
          </p:cNvPr>
          <p:cNvSpPr>
            <a:spLocks noGrp="1"/>
          </p:cNvSpPr>
          <p:nvPr>
            <p:ph idx="1"/>
          </p:nvPr>
        </p:nvSpPr>
        <p:spPr>
          <a:xfrm>
            <a:off x="228600" y="996950"/>
            <a:ext cx="8610600" cy="5194300"/>
          </a:xfrm>
        </p:spPr>
        <p:txBody>
          <a:bodyPr/>
          <a:lstStyle/>
          <a:p>
            <a:pPr>
              <a:buFont typeface="Wingdings" charset="0"/>
              <a:buChar char="n"/>
              <a:defRPr/>
            </a:pPr>
            <a:r>
              <a:rPr lang="en-US" altLang="zh-CN" dirty="0"/>
              <a:t>Four Goals of Precise Exception: </a:t>
            </a:r>
            <a:endParaRPr lang="en-US" dirty="0"/>
          </a:p>
          <a:p>
            <a:pPr lvl="1">
              <a:buFont typeface="Wingdings" charset="0"/>
              <a:buChar char="n"/>
              <a:defRPr/>
            </a:pPr>
            <a:endParaRPr lang="en-US" dirty="0"/>
          </a:p>
          <a:p>
            <a:pPr lvl="1">
              <a:buFont typeface="Wingdings" charset="0"/>
              <a:buChar char="n"/>
              <a:defRPr/>
            </a:pPr>
            <a:r>
              <a:rPr lang="en-US" dirty="0"/>
              <a:t>1. Keeps the semantics of the von Neumann model</a:t>
            </a:r>
          </a:p>
          <a:p>
            <a:pPr lvl="1">
              <a:buFont typeface="Wingdings" charset="0"/>
              <a:buChar char="n"/>
              <a:defRPr/>
            </a:pPr>
            <a:endParaRPr lang="en-US" dirty="0"/>
          </a:p>
          <a:p>
            <a:pPr lvl="1">
              <a:buFont typeface="Wingdings" charset="0"/>
              <a:buChar char="n"/>
              <a:defRPr/>
            </a:pPr>
            <a:r>
              <a:rPr lang="en-US" dirty="0"/>
              <a:t>2. Aids software debugging</a:t>
            </a:r>
          </a:p>
          <a:p>
            <a:pPr>
              <a:buFont typeface="Wingdings" charset="0"/>
              <a:buChar char="n"/>
              <a:defRPr/>
            </a:pPr>
            <a:endParaRPr lang="en-US" dirty="0"/>
          </a:p>
          <a:p>
            <a:pPr lvl="1">
              <a:buFont typeface="Wingdings" charset="0"/>
              <a:buChar char="n"/>
              <a:defRPr/>
            </a:pPr>
            <a:r>
              <a:rPr lang="en-US" dirty="0"/>
              <a:t>3. Enables (easy) recovery from exceptions</a:t>
            </a:r>
          </a:p>
          <a:p>
            <a:pPr marL="0" indent="0">
              <a:buNone/>
              <a:defRPr/>
            </a:pPr>
            <a:endParaRPr lang="en-US" dirty="0"/>
          </a:p>
          <a:p>
            <a:pPr lvl="1">
              <a:buFont typeface="Wingdings" charset="0"/>
              <a:buChar char="n"/>
              <a:defRPr/>
            </a:pPr>
            <a:r>
              <a:rPr lang="en-US" dirty="0"/>
              <a:t>4. Enables traps into software (e.g., software implemented opcodes)</a:t>
            </a:r>
          </a:p>
          <a:p>
            <a:pPr>
              <a:buFont typeface="Wingdings" charset="0"/>
              <a:buChar char="n"/>
              <a:defRPr/>
            </a:pPr>
            <a:endParaRPr lang="en-US" dirty="0"/>
          </a:p>
          <a:p>
            <a:pPr marL="0" indent="0">
              <a:buFont typeface="Wingdings" charset="0"/>
              <a:buNone/>
              <a:defRPr/>
            </a:pPr>
            <a:endParaRPr lang="en-US" dirty="0"/>
          </a:p>
        </p:txBody>
      </p:sp>
      <p:sp>
        <p:nvSpPr>
          <p:cNvPr id="75779" name="Slide Number Placeholder 3">
            <a:extLst>
              <a:ext uri="{FF2B5EF4-FFF2-40B4-BE49-F238E27FC236}">
                <a16:creationId xmlns:a16="http://schemas.microsoft.com/office/drawing/2014/main" id="{A71B333E-D775-224F-AA68-90F95171CBB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042265B-CF0D-1D4A-9226-E777836F3006}"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3390568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7E44-9660-F24D-A124-C0E98122B497}"/>
              </a:ext>
            </a:extLst>
          </p:cNvPr>
          <p:cNvSpPr>
            <a:spLocks noGrp="1"/>
          </p:cNvSpPr>
          <p:nvPr>
            <p:ph type="title"/>
          </p:nvPr>
        </p:nvSpPr>
        <p:spPr/>
        <p:txBody>
          <a:bodyPr/>
          <a:lstStyle/>
          <a:p>
            <a:r>
              <a:rPr lang="en-US" dirty="0"/>
              <a:t>Ensuring Precise Exceptions </a:t>
            </a:r>
          </a:p>
        </p:txBody>
      </p:sp>
      <p:sp>
        <p:nvSpPr>
          <p:cNvPr id="3" name="Content Placeholder 2">
            <a:extLst>
              <a:ext uri="{FF2B5EF4-FFF2-40B4-BE49-F238E27FC236}">
                <a16:creationId xmlns:a16="http://schemas.microsoft.com/office/drawing/2014/main" id="{5597820B-7B78-624B-831D-D1299E7E0FC0}"/>
              </a:ext>
            </a:extLst>
          </p:cNvPr>
          <p:cNvSpPr>
            <a:spLocks noGrp="1"/>
          </p:cNvSpPr>
          <p:nvPr>
            <p:ph idx="1"/>
          </p:nvPr>
        </p:nvSpPr>
        <p:spPr/>
        <p:txBody>
          <a:bodyPr/>
          <a:lstStyle/>
          <a:p>
            <a:r>
              <a:rPr lang="en-US" dirty="0"/>
              <a:t>Easy to do in single-cycle and multi-cycle machines</a:t>
            </a:r>
          </a:p>
          <a:p>
            <a:endParaRPr lang="en-US" dirty="0"/>
          </a:p>
          <a:p>
            <a:r>
              <a:rPr lang="en-US" b="1" dirty="0"/>
              <a:t>Single-cycle</a:t>
            </a:r>
          </a:p>
          <a:p>
            <a:pPr lvl="1"/>
            <a:r>
              <a:rPr lang="en-US" dirty="0"/>
              <a:t>Instruction boundaries == Cycle boundaries</a:t>
            </a:r>
          </a:p>
          <a:p>
            <a:endParaRPr lang="en-US" dirty="0"/>
          </a:p>
          <a:p>
            <a:r>
              <a:rPr lang="en-US" b="1" dirty="0"/>
              <a:t>Multi-cycle</a:t>
            </a:r>
          </a:p>
          <a:p>
            <a:pPr lvl="1"/>
            <a:r>
              <a:rPr lang="en-US" dirty="0"/>
              <a:t>Add special states in the control FSM that lead to the exception or interrupt handlers</a:t>
            </a:r>
          </a:p>
          <a:p>
            <a:pPr lvl="1"/>
            <a:r>
              <a:rPr lang="en-US" dirty="0"/>
              <a:t>Switch to the handler only at a precise state </a:t>
            </a:r>
            <a:r>
              <a:rPr lang="en-US" dirty="0">
                <a:sym typeface="Wingdings" pitchFamily="2" charset="2"/>
              </a:rPr>
              <a:t> before fetching the next instruction</a:t>
            </a:r>
            <a:endParaRPr lang="en-US" dirty="0"/>
          </a:p>
        </p:txBody>
      </p:sp>
      <p:sp>
        <p:nvSpPr>
          <p:cNvPr id="4" name="Slide Number Placeholder 3">
            <a:extLst>
              <a:ext uri="{FF2B5EF4-FFF2-40B4-BE49-F238E27FC236}">
                <a16:creationId xmlns:a16="http://schemas.microsoft.com/office/drawing/2014/main" id="{67381E6E-7F46-8A43-B3F0-DEC5070D536D}"/>
              </a:ext>
            </a:extLst>
          </p:cNvPr>
          <p:cNvSpPr>
            <a:spLocks noGrp="1"/>
          </p:cNvSpPr>
          <p:nvPr>
            <p:ph type="sldNum" sz="quarter" idx="11"/>
          </p:nvPr>
        </p:nvSpPr>
        <p:spPr/>
        <p:txBody>
          <a:bodyPr/>
          <a:lstStyle/>
          <a:p>
            <a:pPr>
              <a:defRPr/>
            </a:pPr>
            <a:fld id="{753DEEF8-87BA-7144-9648-F84693A6E11D}" type="slidenum">
              <a:rPr lang="en-US" altLang="en-US" smtClean="0"/>
              <a:pPr>
                <a:defRPr/>
              </a:pPr>
              <a:t>61</a:t>
            </a:fld>
            <a:endParaRPr lang="en-US" altLang="en-US"/>
          </a:p>
        </p:txBody>
      </p:sp>
      <p:sp>
        <p:nvSpPr>
          <p:cNvPr id="5" name="TextBox 4">
            <a:extLst>
              <a:ext uri="{FF2B5EF4-FFF2-40B4-BE49-F238E27FC236}">
                <a16:creationId xmlns:a16="http://schemas.microsoft.com/office/drawing/2014/main" id="{642CFD4D-E0AC-D346-A892-69A92D681EBB}"/>
              </a:ext>
            </a:extLst>
          </p:cNvPr>
          <p:cNvSpPr txBox="1"/>
          <p:nvPr/>
        </p:nvSpPr>
        <p:spPr>
          <a:xfrm>
            <a:off x="152400" y="6488668"/>
            <a:ext cx="6596678" cy="338554"/>
          </a:xfrm>
          <a:prstGeom prst="rect">
            <a:avLst/>
          </a:prstGeom>
          <a:noFill/>
        </p:spPr>
        <p:txBody>
          <a:bodyPr wrap="none" rtlCol="0">
            <a:spAutoFit/>
          </a:bodyPr>
          <a:lstStyle/>
          <a:p>
            <a:r>
              <a:rPr lang="en-US" sz="1600" dirty="0"/>
              <a:t>See H&amp;H Section 7.7 for a treatment of exceptions in multi-cycle </a:t>
            </a:r>
            <a:r>
              <a:rPr lang="en-US" sz="1600" dirty="0" err="1"/>
              <a:t>uarch</a:t>
            </a:r>
            <a:endParaRPr lang="en-US" sz="1600" dirty="0"/>
          </a:p>
        </p:txBody>
      </p:sp>
    </p:spTree>
    <p:extLst>
      <p:ext uri="{BB962C8B-B14F-4D97-AF65-F5344CB8AC3E}">
        <p14:creationId xmlns:p14="http://schemas.microsoft.com/office/powerpoint/2010/main" val="38283491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992E-107E-FC43-9E7F-F2F80E41B81A}"/>
              </a:ext>
            </a:extLst>
          </p:cNvPr>
          <p:cNvSpPr>
            <a:spLocks noGrp="1"/>
          </p:cNvSpPr>
          <p:nvPr>
            <p:ph type="title"/>
          </p:nvPr>
        </p:nvSpPr>
        <p:spPr/>
        <p:txBody>
          <a:bodyPr/>
          <a:lstStyle/>
          <a:p>
            <a:r>
              <a:rPr lang="en-US" dirty="0"/>
              <a:t>Precise Exceptions in Multi-Cycle FSM</a:t>
            </a:r>
          </a:p>
        </p:txBody>
      </p:sp>
      <p:sp>
        <p:nvSpPr>
          <p:cNvPr id="4" name="Slide Number Placeholder 3">
            <a:extLst>
              <a:ext uri="{FF2B5EF4-FFF2-40B4-BE49-F238E27FC236}">
                <a16:creationId xmlns:a16="http://schemas.microsoft.com/office/drawing/2014/main" id="{E334E359-0736-5E4C-9BAF-9BD8D39CD9D8}"/>
              </a:ext>
            </a:extLst>
          </p:cNvPr>
          <p:cNvSpPr>
            <a:spLocks noGrp="1"/>
          </p:cNvSpPr>
          <p:nvPr>
            <p:ph type="sldNum" sz="quarter" idx="11"/>
          </p:nvPr>
        </p:nvSpPr>
        <p:spPr/>
        <p:txBody>
          <a:bodyPr/>
          <a:lstStyle/>
          <a:p>
            <a:pPr>
              <a:defRPr/>
            </a:pPr>
            <a:fld id="{753DEEF8-87BA-7144-9648-F84693A6E11D}" type="slidenum">
              <a:rPr lang="en-US" altLang="en-US" smtClean="0"/>
              <a:pPr>
                <a:defRPr/>
              </a:pPr>
              <a:t>62</a:t>
            </a:fld>
            <a:endParaRPr lang="en-US" altLang="en-US"/>
          </a:p>
        </p:txBody>
      </p:sp>
      <p:pic>
        <p:nvPicPr>
          <p:cNvPr id="5" name="Picture 4">
            <a:extLst>
              <a:ext uri="{FF2B5EF4-FFF2-40B4-BE49-F238E27FC236}">
                <a16:creationId xmlns:a16="http://schemas.microsoft.com/office/drawing/2014/main" id="{A59A0D8C-95EA-3F44-AA5B-49C1415B7A71}"/>
              </a:ext>
            </a:extLst>
          </p:cNvPr>
          <p:cNvPicPr>
            <a:picLocks noChangeAspect="1"/>
          </p:cNvPicPr>
          <p:nvPr/>
        </p:nvPicPr>
        <p:blipFill>
          <a:blip r:embed="rId3"/>
          <a:stretch>
            <a:fillRect/>
          </a:stretch>
        </p:blipFill>
        <p:spPr>
          <a:xfrm>
            <a:off x="1524000" y="954405"/>
            <a:ext cx="5795433" cy="5638800"/>
          </a:xfrm>
          <a:prstGeom prst="rect">
            <a:avLst/>
          </a:prstGeom>
        </p:spPr>
      </p:pic>
    </p:spTree>
    <p:extLst>
      <p:ext uri="{BB962C8B-B14F-4D97-AF65-F5344CB8AC3E}">
        <p14:creationId xmlns:p14="http://schemas.microsoft.com/office/powerpoint/2010/main" val="1059759520"/>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992E-107E-FC43-9E7F-F2F80E41B81A}"/>
              </a:ext>
            </a:extLst>
          </p:cNvPr>
          <p:cNvSpPr>
            <a:spLocks noGrp="1"/>
          </p:cNvSpPr>
          <p:nvPr>
            <p:ph type="title"/>
          </p:nvPr>
        </p:nvSpPr>
        <p:spPr>
          <a:xfrm>
            <a:off x="228600" y="152400"/>
            <a:ext cx="8915400" cy="1066800"/>
          </a:xfrm>
        </p:spPr>
        <p:txBody>
          <a:bodyPr/>
          <a:lstStyle/>
          <a:p>
            <a:r>
              <a:rPr lang="en-US" dirty="0"/>
              <a:t>Precise Exceptions in Multi-Cycle Datapath</a:t>
            </a:r>
          </a:p>
        </p:txBody>
      </p:sp>
      <p:sp>
        <p:nvSpPr>
          <p:cNvPr id="3" name="Content Placeholder 2">
            <a:extLst>
              <a:ext uri="{FF2B5EF4-FFF2-40B4-BE49-F238E27FC236}">
                <a16:creationId xmlns:a16="http://schemas.microsoft.com/office/drawing/2014/main" id="{861F6596-7830-EE48-B7D9-EBB5DFF45DA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334E359-0736-5E4C-9BAF-9BD8D39CD9D8}"/>
              </a:ext>
            </a:extLst>
          </p:cNvPr>
          <p:cNvSpPr>
            <a:spLocks noGrp="1"/>
          </p:cNvSpPr>
          <p:nvPr>
            <p:ph type="sldNum" sz="quarter" idx="11"/>
          </p:nvPr>
        </p:nvSpPr>
        <p:spPr/>
        <p:txBody>
          <a:bodyPr/>
          <a:lstStyle/>
          <a:p>
            <a:pPr>
              <a:defRPr/>
            </a:pPr>
            <a:fld id="{753DEEF8-87BA-7144-9648-F84693A6E11D}" type="slidenum">
              <a:rPr lang="en-US" altLang="en-US" smtClean="0"/>
              <a:pPr>
                <a:defRPr/>
              </a:pPr>
              <a:t>63</a:t>
            </a:fld>
            <a:endParaRPr lang="en-US" altLang="en-US"/>
          </a:p>
        </p:txBody>
      </p:sp>
      <p:pic>
        <p:nvPicPr>
          <p:cNvPr id="6" name="Picture 5">
            <a:extLst>
              <a:ext uri="{FF2B5EF4-FFF2-40B4-BE49-F238E27FC236}">
                <a16:creationId xmlns:a16="http://schemas.microsoft.com/office/drawing/2014/main" id="{AB13B512-B57E-E94A-A090-9CC240D54D87}"/>
              </a:ext>
            </a:extLst>
          </p:cNvPr>
          <p:cNvPicPr>
            <a:picLocks noChangeAspect="1"/>
          </p:cNvPicPr>
          <p:nvPr/>
        </p:nvPicPr>
        <p:blipFill>
          <a:blip r:embed="rId2"/>
          <a:stretch>
            <a:fillRect/>
          </a:stretch>
        </p:blipFill>
        <p:spPr>
          <a:xfrm>
            <a:off x="-11987" y="997527"/>
            <a:ext cx="9144000" cy="4898967"/>
          </a:xfrm>
          <a:prstGeom prst="rect">
            <a:avLst/>
          </a:prstGeom>
        </p:spPr>
      </p:pic>
      <p:sp>
        <p:nvSpPr>
          <p:cNvPr id="7" name="TextBox 6">
            <a:extLst>
              <a:ext uri="{FF2B5EF4-FFF2-40B4-BE49-F238E27FC236}">
                <a16:creationId xmlns:a16="http://schemas.microsoft.com/office/drawing/2014/main" id="{84DA0AED-6A7E-D64F-B692-AD4688A9EFA0}"/>
              </a:ext>
            </a:extLst>
          </p:cNvPr>
          <p:cNvSpPr txBox="1"/>
          <p:nvPr/>
        </p:nvSpPr>
        <p:spPr>
          <a:xfrm>
            <a:off x="152400" y="6488668"/>
            <a:ext cx="6596678" cy="338554"/>
          </a:xfrm>
          <a:prstGeom prst="rect">
            <a:avLst/>
          </a:prstGeom>
          <a:noFill/>
        </p:spPr>
        <p:txBody>
          <a:bodyPr wrap="none" rtlCol="0">
            <a:spAutoFit/>
          </a:bodyPr>
          <a:lstStyle/>
          <a:p>
            <a:r>
              <a:rPr lang="en-US" sz="1600" dirty="0"/>
              <a:t>See H&amp;H Section 7.7 for a treatment of exceptions in multi-cycle </a:t>
            </a:r>
            <a:r>
              <a:rPr lang="en-US" sz="1600" dirty="0" err="1"/>
              <a:t>uarch</a:t>
            </a:r>
            <a:endParaRPr lang="en-US" sz="1600" dirty="0"/>
          </a:p>
        </p:txBody>
      </p:sp>
    </p:spTree>
    <p:extLst>
      <p:ext uri="{BB962C8B-B14F-4D97-AF65-F5344CB8AC3E}">
        <p14:creationId xmlns:p14="http://schemas.microsoft.com/office/powerpoint/2010/main" val="789594077"/>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DFDF9DAF-FC84-ED42-9432-59520F89E2CB}"/>
              </a:ext>
            </a:extLst>
          </p:cNvPr>
          <p:cNvSpPr>
            <a:spLocks noGrp="1" noChangeArrowheads="1"/>
          </p:cNvSpPr>
          <p:nvPr>
            <p:ph type="title"/>
          </p:nvPr>
        </p:nvSpPr>
        <p:spPr/>
        <p:txBody>
          <a:bodyPr/>
          <a:lstStyle/>
          <a:p>
            <a:r>
              <a:rPr lang="en-US" altLang="en-US">
                <a:ea typeface="ＭＳ Ｐゴシック" panose="020B0600070205080204" pitchFamily="34" charset="-128"/>
              </a:rPr>
              <a:t>Ensuring Precise Exceptions in Pipelining</a:t>
            </a:r>
          </a:p>
        </p:txBody>
      </p:sp>
      <p:sp>
        <p:nvSpPr>
          <p:cNvPr id="3" name="Content Placeholder 2">
            <a:extLst>
              <a:ext uri="{FF2B5EF4-FFF2-40B4-BE49-F238E27FC236}">
                <a16:creationId xmlns:a16="http://schemas.microsoft.com/office/drawing/2014/main" id="{3BE83CFE-65E6-F649-B17D-F06FE620BD1D}"/>
              </a:ext>
            </a:extLst>
          </p:cNvPr>
          <p:cNvSpPr>
            <a:spLocks noGrp="1" noChangeArrowheads="1"/>
          </p:cNvSpPr>
          <p:nvPr>
            <p:ph idx="1"/>
          </p:nvPr>
        </p:nvSpPr>
        <p:spPr>
          <a:xfrm>
            <a:off x="228600" y="996950"/>
            <a:ext cx="8915400" cy="51943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Make each operation take the same amount of time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b="1" dirty="0">
                <a:solidFill>
                  <a:srgbClr val="FF0000"/>
                </a:solidFill>
                <a:ea typeface="ＭＳ Ｐゴシック" panose="020B0600070205080204" pitchFamily="34" charset="-128"/>
              </a:rPr>
              <a:t>Downside</a:t>
            </a:r>
            <a:r>
              <a:rPr lang="en-US" altLang="en-US" dirty="0">
                <a:ea typeface="ＭＳ Ｐゴシック" panose="020B0600070205080204" pitchFamily="34" charset="-128"/>
              </a:rPr>
              <a:t>:</a:t>
            </a:r>
          </a:p>
          <a:p>
            <a:pPr lvl="1"/>
            <a:r>
              <a:rPr lang="en-US" altLang="en-US" dirty="0">
                <a:solidFill>
                  <a:srgbClr val="FF0000"/>
                </a:solidFill>
                <a:ea typeface="ＭＳ Ｐゴシック" panose="020B0600070205080204" pitchFamily="34" charset="-128"/>
              </a:rPr>
              <a:t>Worst-case instruction latency determines all instructions’ latency</a:t>
            </a:r>
          </a:p>
          <a:p>
            <a:pPr lvl="2"/>
            <a:r>
              <a:rPr lang="en-US" altLang="en-US" dirty="0">
                <a:ea typeface="ＭＳ Ｐゴシック" panose="020B0600070205080204" pitchFamily="34" charset="-128"/>
              </a:rPr>
              <a:t>What about memory operations?</a:t>
            </a:r>
          </a:p>
          <a:p>
            <a:pPr lvl="2"/>
            <a:r>
              <a:rPr lang="en-US" altLang="en-US" dirty="0">
                <a:ea typeface="ＭＳ Ｐゴシック" panose="020B0600070205080204" pitchFamily="34" charset="-128"/>
              </a:rPr>
              <a:t>Each functional unit takes worst-case number of cycles?</a:t>
            </a:r>
          </a:p>
          <a:p>
            <a:endParaRPr lang="en-US" altLang="en-US" dirty="0">
              <a:ea typeface="ＭＳ Ｐゴシック" panose="020B0600070205080204" pitchFamily="34" charset="-128"/>
            </a:endParaRPr>
          </a:p>
        </p:txBody>
      </p:sp>
      <p:sp>
        <p:nvSpPr>
          <p:cNvPr id="76803" name="Slide Number Placeholder 3">
            <a:extLst>
              <a:ext uri="{FF2B5EF4-FFF2-40B4-BE49-F238E27FC236}">
                <a16:creationId xmlns:a16="http://schemas.microsoft.com/office/drawing/2014/main" id="{B20FF980-B79A-1043-9483-2CE580B8F0B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8329654-BA9C-1142-A1AB-E6FCA47FC84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76804" name="Rectangle 10">
            <a:extLst>
              <a:ext uri="{FF2B5EF4-FFF2-40B4-BE49-F238E27FC236}">
                <a16:creationId xmlns:a16="http://schemas.microsoft.com/office/drawing/2014/main" id="{90C1CE69-6CB7-384A-BC6E-46A56301BA68}"/>
              </a:ext>
            </a:extLst>
          </p:cNvPr>
          <p:cNvSpPr>
            <a:spLocks noChangeArrowheads="1"/>
          </p:cNvSpPr>
          <p:nvPr/>
        </p:nvSpPr>
        <p:spPr bwMode="auto">
          <a:xfrm>
            <a:off x="3121025" y="206533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05" name="Rectangle 11">
            <a:extLst>
              <a:ext uri="{FF2B5EF4-FFF2-40B4-BE49-F238E27FC236}">
                <a16:creationId xmlns:a16="http://schemas.microsoft.com/office/drawing/2014/main" id="{0A20A74A-D854-F349-A2C9-28ABA7B5BA57}"/>
              </a:ext>
            </a:extLst>
          </p:cNvPr>
          <p:cNvSpPr>
            <a:spLocks noChangeArrowheads="1"/>
          </p:cNvSpPr>
          <p:nvPr/>
        </p:nvSpPr>
        <p:spPr bwMode="auto">
          <a:xfrm>
            <a:off x="3478213" y="2065338"/>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06" name="Rectangle 12">
            <a:extLst>
              <a:ext uri="{FF2B5EF4-FFF2-40B4-BE49-F238E27FC236}">
                <a16:creationId xmlns:a16="http://schemas.microsoft.com/office/drawing/2014/main" id="{AC85CEF0-1128-8A4B-BDD3-308B8F85AE31}"/>
              </a:ext>
            </a:extLst>
          </p:cNvPr>
          <p:cNvSpPr>
            <a:spLocks noChangeArrowheads="1"/>
          </p:cNvSpPr>
          <p:nvPr/>
        </p:nvSpPr>
        <p:spPr bwMode="auto">
          <a:xfrm>
            <a:off x="6337300" y="206533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07" name="Rectangle 13">
            <a:extLst>
              <a:ext uri="{FF2B5EF4-FFF2-40B4-BE49-F238E27FC236}">
                <a16:creationId xmlns:a16="http://schemas.microsoft.com/office/drawing/2014/main" id="{BED8FFFF-9116-694F-8D6C-892D798C7EE4}"/>
              </a:ext>
            </a:extLst>
          </p:cNvPr>
          <p:cNvSpPr>
            <a:spLocks noChangeArrowheads="1"/>
          </p:cNvSpPr>
          <p:nvPr/>
        </p:nvSpPr>
        <p:spPr bwMode="auto">
          <a:xfrm>
            <a:off x="6694488" y="2065338"/>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08" name="Rectangle 5">
            <a:extLst>
              <a:ext uri="{FF2B5EF4-FFF2-40B4-BE49-F238E27FC236}">
                <a16:creationId xmlns:a16="http://schemas.microsoft.com/office/drawing/2014/main" id="{01D65AE1-74F7-4048-A81A-7CA2E99A167D}"/>
              </a:ext>
            </a:extLst>
          </p:cNvPr>
          <p:cNvSpPr>
            <a:spLocks noChangeArrowheads="1"/>
          </p:cNvSpPr>
          <p:nvPr/>
        </p:nvSpPr>
        <p:spPr bwMode="auto">
          <a:xfrm>
            <a:off x="2763838" y="174942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09" name="Rectangle 6">
            <a:extLst>
              <a:ext uri="{FF2B5EF4-FFF2-40B4-BE49-F238E27FC236}">
                <a16:creationId xmlns:a16="http://schemas.microsoft.com/office/drawing/2014/main" id="{D2A77CC9-EDBE-854D-8265-CCCF8D148D8E}"/>
              </a:ext>
            </a:extLst>
          </p:cNvPr>
          <p:cNvSpPr>
            <a:spLocks noChangeArrowheads="1"/>
          </p:cNvSpPr>
          <p:nvPr/>
        </p:nvSpPr>
        <p:spPr bwMode="auto">
          <a:xfrm>
            <a:off x="3121025" y="174942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10" name="Rectangle 7">
            <a:extLst>
              <a:ext uri="{FF2B5EF4-FFF2-40B4-BE49-F238E27FC236}">
                <a16:creationId xmlns:a16="http://schemas.microsoft.com/office/drawing/2014/main" id="{B89FA0DD-E231-4244-8F25-58C6E9640635}"/>
              </a:ext>
            </a:extLst>
          </p:cNvPr>
          <p:cNvSpPr>
            <a:spLocks noChangeArrowheads="1"/>
          </p:cNvSpPr>
          <p:nvPr/>
        </p:nvSpPr>
        <p:spPr bwMode="auto">
          <a:xfrm>
            <a:off x="3478213" y="174942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1" name="Rectangle 8">
            <a:extLst>
              <a:ext uri="{FF2B5EF4-FFF2-40B4-BE49-F238E27FC236}">
                <a16:creationId xmlns:a16="http://schemas.microsoft.com/office/drawing/2014/main" id="{1CCD58C6-AAA3-E142-8457-E8070D997CCB}"/>
              </a:ext>
            </a:extLst>
          </p:cNvPr>
          <p:cNvSpPr>
            <a:spLocks noChangeArrowheads="1"/>
          </p:cNvSpPr>
          <p:nvPr/>
        </p:nvSpPr>
        <p:spPr bwMode="auto">
          <a:xfrm>
            <a:off x="6337300" y="174942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12" name="Rectangle 7">
            <a:extLst>
              <a:ext uri="{FF2B5EF4-FFF2-40B4-BE49-F238E27FC236}">
                <a16:creationId xmlns:a16="http://schemas.microsoft.com/office/drawing/2014/main" id="{5C3C19CD-5494-F443-96E7-C86D292DAAB3}"/>
              </a:ext>
            </a:extLst>
          </p:cNvPr>
          <p:cNvSpPr>
            <a:spLocks noChangeArrowheads="1"/>
          </p:cNvSpPr>
          <p:nvPr/>
        </p:nvSpPr>
        <p:spPr bwMode="auto">
          <a:xfrm>
            <a:off x="3835400" y="174942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3" name="Rectangle 7">
            <a:extLst>
              <a:ext uri="{FF2B5EF4-FFF2-40B4-BE49-F238E27FC236}">
                <a16:creationId xmlns:a16="http://schemas.microsoft.com/office/drawing/2014/main" id="{91D98878-5A9F-E042-9340-A7513A5646FC}"/>
              </a:ext>
            </a:extLst>
          </p:cNvPr>
          <p:cNvSpPr>
            <a:spLocks noChangeArrowheads="1"/>
          </p:cNvSpPr>
          <p:nvPr/>
        </p:nvSpPr>
        <p:spPr bwMode="auto">
          <a:xfrm>
            <a:off x="4192588" y="174942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4" name="Rectangle 7">
            <a:extLst>
              <a:ext uri="{FF2B5EF4-FFF2-40B4-BE49-F238E27FC236}">
                <a16:creationId xmlns:a16="http://schemas.microsoft.com/office/drawing/2014/main" id="{FF3AA064-BF00-C943-BB4B-15DC558BD039}"/>
              </a:ext>
            </a:extLst>
          </p:cNvPr>
          <p:cNvSpPr>
            <a:spLocks noChangeArrowheads="1"/>
          </p:cNvSpPr>
          <p:nvPr/>
        </p:nvSpPr>
        <p:spPr bwMode="auto">
          <a:xfrm>
            <a:off x="4549775" y="174942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5" name="Rectangle 7">
            <a:extLst>
              <a:ext uri="{FF2B5EF4-FFF2-40B4-BE49-F238E27FC236}">
                <a16:creationId xmlns:a16="http://schemas.microsoft.com/office/drawing/2014/main" id="{A01CA5A6-91D2-CB4A-9F25-E80737E8DF1B}"/>
              </a:ext>
            </a:extLst>
          </p:cNvPr>
          <p:cNvSpPr>
            <a:spLocks noChangeArrowheads="1"/>
          </p:cNvSpPr>
          <p:nvPr/>
        </p:nvSpPr>
        <p:spPr bwMode="auto">
          <a:xfrm>
            <a:off x="4906963" y="1749425"/>
            <a:ext cx="358775"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6" name="Rectangle 7">
            <a:extLst>
              <a:ext uri="{FF2B5EF4-FFF2-40B4-BE49-F238E27FC236}">
                <a16:creationId xmlns:a16="http://schemas.microsoft.com/office/drawing/2014/main" id="{5BF01C2A-2840-464A-A557-DB38A220D67A}"/>
              </a:ext>
            </a:extLst>
          </p:cNvPr>
          <p:cNvSpPr>
            <a:spLocks noChangeArrowheads="1"/>
          </p:cNvSpPr>
          <p:nvPr/>
        </p:nvSpPr>
        <p:spPr bwMode="auto">
          <a:xfrm>
            <a:off x="5265738" y="174942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7" name="Rectangle 7">
            <a:extLst>
              <a:ext uri="{FF2B5EF4-FFF2-40B4-BE49-F238E27FC236}">
                <a16:creationId xmlns:a16="http://schemas.microsoft.com/office/drawing/2014/main" id="{DD47D573-F102-BD46-8FB2-CCCA323A02BE}"/>
              </a:ext>
            </a:extLst>
          </p:cNvPr>
          <p:cNvSpPr>
            <a:spLocks noChangeArrowheads="1"/>
          </p:cNvSpPr>
          <p:nvPr/>
        </p:nvSpPr>
        <p:spPr bwMode="auto">
          <a:xfrm>
            <a:off x="5622925" y="174942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8" name="Rectangle 7">
            <a:extLst>
              <a:ext uri="{FF2B5EF4-FFF2-40B4-BE49-F238E27FC236}">
                <a16:creationId xmlns:a16="http://schemas.microsoft.com/office/drawing/2014/main" id="{80A18837-07DE-1A43-831B-DD17F163AFC0}"/>
              </a:ext>
            </a:extLst>
          </p:cNvPr>
          <p:cNvSpPr>
            <a:spLocks noChangeArrowheads="1"/>
          </p:cNvSpPr>
          <p:nvPr/>
        </p:nvSpPr>
        <p:spPr bwMode="auto">
          <a:xfrm>
            <a:off x="5980113" y="174942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19" name="Rectangle 10">
            <a:extLst>
              <a:ext uri="{FF2B5EF4-FFF2-40B4-BE49-F238E27FC236}">
                <a16:creationId xmlns:a16="http://schemas.microsoft.com/office/drawing/2014/main" id="{BB8DAFD4-6487-B140-B57A-65E26F22E8CE}"/>
              </a:ext>
            </a:extLst>
          </p:cNvPr>
          <p:cNvSpPr>
            <a:spLocks noChangeArrowheads="1"/>
          </p:cNvSpPr>
          <p:nvPr/>
        </p:nvSpPr>
        <p:spPr bwMode="auto">
          <a:xfrm>
            <a:off x="3478213" y="238125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20" name="Rectangle 11">
            <a:extLst>
              <a:ext uri="{FF2B5EF4-FFF2-40B4-BE49-F238E27FC236}">
                <a16:creationId xmlns:a16="http://schemas.microsoft.com/office/drawing/2014/main" id="{B6CDE0D5-9E1A-A14A-8885-8341B6C32127}"/>
              </a:ext>
            </a:extLst>
          </p:cNvPr>
          <p:cNvSpPr>
            <a:spLocks noChangeArrowheads="1"/>
          </p:cNvSpPr>
          <p:nvPr/>
        </p:nvSpPr>
        <p:spPr bwMode="auto">
          <a:xfrm>
            <a:off x="3835400" y="2381250"/>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21" name="Rectangle 12">
            <a:extLst>
              <a:ext uri="{FF2B5EF4-FFF2-40B4-BE49-F238E27FC236}">
                <a16:creationId xmlns:a16="http://schemas.microsoft.com/office/drawing/2014/main" id="{57DFF835-285F-F64A-9C00-DE6956543EF5}"/>
              </a:ext>
            </a:extLst>
          </p:cNvPr>
          <p:cNvSpPr>
            <a:spLocks noChangeArrowheads="1"/>
          </p:cNvSpPr>
          <p:nvPr/>
        </p:nvSpPr>
        <p:spPr bwMode="auto">
          <a:xfrm>
            <a:off x="6694488" y="238125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22" name="Rectangle 13">
            <a:extLst>
              <a:ext uri="{FF2B5EF4-FFF2-40B4-BE49-F238E27FC236}">
                <a16:creationId xmlns:a16="http://schemas.microsoft.com/office/drawing/2014/main" id="{994985A1-7A54-D247-BD63-DCF4E52D2339}"/>
              </a:ext>
            </a:extLst>
          </p:cNvPr>
          <p:cNvSpPr>
            <a:spLocks noChangeArrowheads="1"/>
          </p:cNvSpPr>
          <p:nvPr/>
        </p:nvSpPr>
        <p:spPr bwMode="auto">
          <a:xfrm>
            <a:off x="7051675" y="2381250"/>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23" name="Rectangle 10">
            <a:extLst>
              <a:ext uri="{FF2B5EF4-FFF2-40B4-BE49-F238E27FC236}">
                <a16:creationId xmlns:a16="http://schemas.microsoft.com/office/drawing/2014/main" id="{181A9439-AD5F-5D4B-8CD1-D80B8DF34775}"/>
              </a:ext>
            </a:extLst>
          </p:cNvPr>
          <p:cNvSpPr>
            <a:spLocks noChangeArrowheads="1"/>
          </p:cNvSpPr>
          <p:nvPr/>
        </p:nvSpPr>
        <p:spPr bwMode="auto">
          <a:xfrm>
            <a:off x="3835400" y="2697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24" name="Rectangle 11">
            <a:extLst>
              <a:ext uri="{FF2B5EF4-FFF2-40B4-BE49-F238E27FC236}">
                <a16:creationId xmlns:a16="http://schemas.microsoft.com/office/drawing/2014/main" id="{6ED41C8B-ECA1-2D4C-A3B7-6A914390DD0D}"/>
              </a:ext>
            </a:extLst>
          </p:cNvPr>
          <p:cNvSpPr>
            <a:spLocks noChangeArrowheads="1"/>
          </p:cNvSpPr>
          <p:nvPr/>
        </p:nvSpPr>
        <p:spPr bwMode="auto">
          <a:xfrm>
            <a:off x="4192588" y="2697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25" name="Rectangle 12">
            <a:extLst>
              <a:ext uri="{FF2B5EF4-FFF2-40B4-BE49-F238E27FC236}">
                <a16:creationId xmlns:a16="http://schemas.microsoft.com/office/drawing/2014/main" id="{DD709870-F12F-CB45-80F2-ABDC444ADAFA}"/>
              </a:ext>
            </a:extLst>
          </p:cNvPr>
          <p:cNvSpPr>
            <a:spLocks noChangeArrowheads="1"/>
          </p:cNvSpPr>
          <p:nvPr/>
        </p:nvSpPr>
        <p:spPr bwMode="auto">
          <a:xfrm>
            <a:off x="7051675" y="2697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26" name="Rectangle 13">
            <a:extLst>
              <a:ext uri="{FF2B5EF4-FFF2-40B4-BE49-F238E27FC236}">
                <a16:creationId xmlns:a16="http://schemas.microsoft.com/office/drawing/2014/main" id="{831E0EC0-3D60-0A47-A08D-1894854DC239}"/>
              </a:ext>
            </a:extLst>
          </p:cNvPr>
          <p:cNvSpPr>
            <a:spLocks noChangeArrowheads="1"/>
          </p:cNvSpPr>
          <p:nvPr/>
        </p:nvSpPr>
        <p:spPr bwMode="auto">
          <a:xfrm>
            <a:off x="7408863" y="2697163"/>
            <a:ext cx="358775"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27" name="Rectangle 10">
            <a:extLst>
              <a:ext uri="{FF2B5EF4-FFF2-40B4-BE49-F238E27FC236}">
                <a16:creationId xmlns:a16="http://schemas.microsoft.com/office/drawing/2014/main" id="{EA6999B4-169B-1A46-804B-6ADFF0B11265}"/>
              </a:ext>
            </a:extLst>
          </p:cNvPr>
          <p:cNvSpPr>
            <a:spLocks noChangeArrowheads="1"/>
          </p:cNvSpPr>
          <p:nvPr/>
        </p:nvSpPr>
        <p:spPr bwMode="auto">
          <a:xfrm>
            <a:off x="4549775" y="332898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28" name="Rectangle 11">
            <a:extLst>
              <a:ext uri="{FF2B5EF4-FFF2-40B4-BE49-F238E27FC236}">
                <a16:creationId xmlns:a16="http://schemas.microsoft.com/office/drawing/2014/main" id="{45041D15-ED91-874F-ABC1-328399CEFE99}"/>
              </a:ext>
            </a:extLst>
          </p:cNvPr>
          <p:cNvSpPr>
            <a:spLocks noChangeArrowheads="1"/>
          </p:cNvSpPr>
          <p:nvPr/>
        </p:nvSpPr>
        <p:spPr bwMode="auto">
          <a:xfrm>
            <a:off x="4906963" y="3328988"/>
            <a:ext cx="358775"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29" name="Rectangle 12">
            <a:extLst>
              <a:ext uri="{FF2B5EF4-FFF2-40B4-BE49-F238E27FC236}">
                <a16:creationId xmlns:a16="http://schemas.microsoft.com/office/drawing/2014/main" id="{871ABBEF-9C18-644F-93EC-15D585ECD828}"/>
              </a:ext>
            </a:extLst>
          </p:cNvPr>
          <p:cNvSpPr>
            <a:spLocks noChangeArrowheads="1"/>
          </p:cNvSpPr>
          <p:nvPr/>
        </p:nvSpPr>
        <p:spPr bwMode="auto">
          <a:xfrm>
            <a:off x="7767638" y="3328988"/>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30" name="Rectangle 13">
            <a:extLst>
              <a:ext uri="{FF2B5EF4-FFF2-40B4-BE49-F238E27FC236}">
                <a16:creationId xmlns:a16="http://schemas.microsoft.com/office/drawing/2014/main" id="{78485021-B4E0-BC46-AF7C-2E41EEC4E1CE}"/>
              </a:ext>
            </a:extLst>
          </p:cNvPr>
          <p:cNvSpPr>
            <a:spLocks noChangeArrowheads="1"/>
          </p:cNvSpPr>
          <p:nvPr/>
        </p:nvSpPr>
        <p:spPr bwMode="auto">
          <a:xfrm>
            <a:off x="8124825" y="332898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31" name="Rectangle 10">
            <a:extLst>
              <a:ext uri="{FF2B5EF4-FFF2-40B4-BE49-F238E27FC236}">
                <a16:creationId xmlns:a16="http://schemas.microsoft.com/office/drawing/2014/main" id="{19410777-81C3-3C40-83F3-158721E40D91}"/>
              </a:ext>
            </a:extLst>
          </p:cNvPr>
          <p:cNvSpPr>
            <a:spLocks noChangeArrowheads="1"/>
          </p:cNvSpPr>
          <p:nvPr/>
        </p:nvSpPr>
        <p:spPr bwMode="auto">
          <a:xfrm>
            <a:off x="4906963" y="3648075"/>
            <a:ext cx="358775"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32" name="Rectangle 11">
            <a:extLst>
              <a:ext uri="{FF2B5EF4-FFF2-40B4-BE49-F238E27FC236}">
                <a16:creationId xmlns:a16="http://schemas.microsoft.com/office/drawing/2014/main" id="{A5914966-E0C6-BD41-8DD0-DF3D605C0D87}"/>
              </a:ext>
            </a:extLst>
          </p:cNvPr>
          <p:cNvSpPr>
            <a:spLocks noChangeArrowheads="1"/>
          </p:cNvSpPr>
          <p:nvPr/>
        </p:nvSpPr>
        <p:spPr bwMode="auto">
          <a:xfrm>
            <a:off x="5265738" y="3648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33" name="Rectangle 12">
            <a:extLst>
              <a:ext uri="{FF2B5EF4-FFF2-40B4-BE49-F238E27FC236}">
                <a16:creationId xmlns:a16="http://schemas.microsoft.com/office/drawing/2014/main" id="{203357B6-DEED-2342-91AC-203608408F80}"/>
              </a:ext>
            </a:extLst>
          </p:cNvPr>
          <p:cNvSpPr>
            <a:spLocks noChangeArrowheads="1"/>
          </p:cNvSpPr>
          <p:nvPr/>
        </p:nvSpPr>
        <p:spPr bwMode="auto">
          <a:xfrm>
            <a:off x="8124825" y="3644900"/>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34" name="Rectangle 13">
            <a:extLst>
              <a:ext uri="{FF2B5EF4-FFF2-40B4-BE49-F238E27FC236}">
                <a16:creationId xmlns:a16="http://schemas.microsoft.com/office/drawing/2014/main" id="{F85C1AEC-2CB2-EB43-92CD-3A8050817542}"/>
              </a:ext>
            </a:extLst>
          </p:cNvPr>
          <p:cNvSpPr>
            <a:spLocks noChangeArrowheads="1"/>
          </p:cNvSpPr>
          <p:nvPr/>
        </p:nvSpPr>
        <p:spPr bwMode="auto">
          <a:xfrm>
            <a:off x="8482013" y="364490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35" name="Rectangle 5">
            <a:extLst>
              <a:ext uri="{FF2B5EF4-FFF2-40B4-BE49-F238E27FC236}">
                <a16:creationId xmlns:a16="http://schemas.microsoft.com/office/drawing/2014/main" id="{A71153D6-F220-2F44-909E-AB6DAB1CB8A7}"/>
              </a:ext>
            </a:extLst>
          </p:cNvPr>
          <p:cNvSpPr>
            <a:spLocks noChangeArrowheads="1"/>
          </p:cNvSpPr>
          <p:nvPr/>
        </p:nvSpPr>
        <p:spPr bwMode="auto">
          <a:xfrm>
            <a:off x="4192588" y="3013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76836" name="Rectangle 6">
            <a:extLst>
              <a:ext uri="{FF2B5EF4-FFF2-40B4-BE49-F238E27FC236}">
                <a16:creationId xmlns:a16="http://schemas.microsoft.com/office/drawing/2014/main" id="{8E8F50EC-6188-0B4B-BFF5-BEA1722297C7}"/>
              </a:ext>
            </a:extLst>
          </p:cNvPr>
          <p:cNvSpPr>
            <a:spLocks noChangeArrowheads="1"/>
          </p:cNvSpPr>
          <p:nvPr/>
        </p:nvSpPr>
        <p:spPr bwMode="auto">
          <a:xfrm>
            <a:off x="4549775" y="3013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76837" name="Rectangle 7">
            <a:extLst>
              <a:ext uri="{FF2B5EF4-FFF2-40B4-BE49-F238E27FC236}">
                <a16:creationId xmlns:a16="http://schemas.microsoft.com/office/drawing/2014/main" id="{DDFEE1C7-93FB-E442-8168-770931C11CD3}"/>
              </a:ext>
            </a:extLst>
          </p:cNvPr>
          <p:cNvSpPr>
            <a:spLocks noChangeArrowheads="1"/>
          </p:cNvSpPr>
          <p:nvPr/>
        </p:nvSpPr>
        <p:spPr bwMode="auto">
          <a:xfrm>
            <a:off x="7408863" y="3013075"/>
            <a:ext cx="358775"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38" name="Rectangle 8">
            <a:extLst>
              <a:ext uri="{FF2B5EF4-FFF2-40B4-BE49-F238E27FC236}">
                <a16:creationId xmlns:a16="http://schemas.microsoft.com/office/drawing/2014/main" id="{185A1E2D-1816-8742-899B-ED684FC3A898}"/>
              </a:ext>
            </a:extLst>
          </p:cNvPr>
          <p:cNvSpPr>
            <a:spLocks noChangeArrowheads="1"/>
          </p:cNvSpPr>
          <p:nvPr/>
        </p:nvSpPr>
        <p:spPr bwMode="auto">
          <a:xfrm>
            <a:off x="7767638" y="301625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76839" name="Rectangle 7">
            <a:extLst>
              <a:ext uri="{FF2B5EF4-FFF2-40B4-BE49-F238E27FC236}">
                <a16:creationId xmlns:a16="http://schemas.microsoft.com/office/drawing/2014/main" id="{31C87D27-EB0C-4C4A-9C68-DE07191688B9}"/>
              </a:ext>
            </a:extLst>
          </p:cNvPr>
          <p:cNvSpPr>
            <a:spLocks noChangeArrowheads="1"/>
          </p:cNvSpPr>
          <p:nvPr/>
        </p:nvSpPr>
        <p:spPr bwMode="auto">
          <a:xfrm>
            <a:off x="3835400" y="205898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0" name="Rectangle 7">
            <a:extLst>
              <a:ext uri="{FF2B5EF4-FFF2-40B4-BE49-F238E27FC236}">
                <a16:creationId xmlns:a16="http://schemas.microsoft.com/office/drawing/2014/main" id="{E8BBD1FE-557F-5D43-B0A5-6CF43B8D701A}"/>
              </a:ext>
            </a:extLst>
          </p:cNvPr>
          <p:cNvSpPr>
            <a:spLocks noChangeArrowheads="1"/>
          </p:cNvSpPr>
          <p:nvPr/>
        </p:nvSpPr>
        <p:spPr bwMode="auto">
          <a:xfrm>
            <a:off x="4192588" y="2058988"/>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1" name="Rectangle 7">
            <a:extLst>
              <a:ext uri="{FF2B5EF4-FFF2-40B4-BE49-F238E27FC236}">
                <a16:creationId xmlns:a16="http://schemas.microsoft.com/office/drawing/2014/main" id="{ED34D310-70E7-FF4D-B756-2AE42F730442}"/>
              </a:ext>
            </a:extLst>
          </p:cNvPr>
          <p:cNvSpPr>
            <a:spLocks noChangeArrowheads="1"/>
          </p:cNvSpPr>
          <p:nvPr/>
        </p:nvSpPr>
        <p:spPr bwMode="auto">
          <a:xfrm>
            <a:off x="4549775" y="205898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2" name="Rectangle 7">
            <a:extLst>
              <a:ext uri="{FF2B5EF4-FFF2-40B4-BE49-F238E27FC236}">
                <a16:creationId xmlns:a16="http://schemas.microsoft.com/office/drawing/2014/main" id="{243ACDBF-B4FD-B04C-8618-7AD406D2255E}"/>
              </a:ext>
            </a:extLst>
          </p:cNvPr>
          <p:cNvSpPr>
            <a:spLocks noChangeArrowheads="1"/>
          </p:cNvSpPr>
          <p:nvPr/>
        </p:nvSpPr>
        <p:spPr bwMode="auto">
          <a:xfrm>
            <a:off x="4906963" y="2058988"/>
            <a:ext cx="358775"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3" name="Rectangle 7">
            <a:extLst>
              <a:ext uri="{FF2B5EF4-FFF2-40B4-BE49-F238E27FC236}">
                <a16:creationId xmlns:a16="http://schemas.microsoft.com/office/drawing/2014/main" id="{8493C031-C86A-C349-873F-7C372B96BC10}"/>
              </a:ext>
            </a:extLst>
          </p:cNvPr>
          <p:cNvSpPr>
            <a:spLocks noChangeArrowheads="1"/>
          </p:cNvSpPr>
          <p:nvPr/>
        </p:nvSpPr>
        <p:spPr bwMode="auto">
          <a:xfrm>
            <a:off x="5265738" y="2058988"/>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4" name="Rectangle 7">
            <a:extLst>
              <a:ext uri="{FF2B5EF4-FFF2-40B4-BE49-F238E27FC236}">
                <a16:creationId xmlns:a16="http://schemas.microsoft.com/office/drawing/2014/main" id="{67E64E46-E9B7-0448-AC0C-F9F3C221B038}"/>
              </a:ext>
            </a:extLst>
          </p:cNvPr>
          <p:cNvSpPr>
            <a:spLocks noChangeArrowheads="1"/>
          </p:cNvSpPr>
          <p:nvPr/>
        </p:nvSpPr>
        <p:spPr bwMode="auto">
          <a:xfrm>
            <a:off x="5622925" y="2058988"/>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5" name="Rectangle 7">
            <a:extLst>
              <a:ext uri="{FF2B5EF4-FFF2-40B4-BE49-F238E27FC236}">
                <a16:creationId xmlns:a16="http://schemas.microsoft.com/office/drawing/2014/main" id="{76D109A7-73ED-674D-9734-D58ED8C9FD7A}"/>
              </a:ext>
            </a:extLst>
          </p:cNvPr>
          <p:cNvSpPr>
            <a:spLocks noChangeArrowheads="1"/>
          </p:cNvSpPr>
          <p:nvPr/>
        </p:nvSpPr>
        <p:spPr bwMode="auto">
          <a:xfrm>
            <a:off x="5980113" y="2058988"/>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6" name="Rectangle 7">
            <a:extLst>
              <a:ext uri="{FF2B5EF4-FFF2-40B4-BE49-F238E27FC236}">
                <a16:creationId xmlns:a16="http://schemas.microsoft.com/office/drawing/2014/main" id="{B3B140C8-B152-9946-8CF7-BE05670E9535}"/>
              </a:ext>
            </a:extLst>
          </p:cNvPr>
          <p:cNvSpPr>
            <a:spLocks noChangeArrowheads="1"/>
          </p:cNvSpPr>
          <p:nvPr/>
        </p:nvSpPr>
        <p:spPr bwMode="auto">
          <a:xfrm>
            <a:off x="4192588" y="238125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7" name="Rectangle 7">
            <a:extLst>
              <a:ext uri="{FF2B5EF4-FFF2-40B4-BE49-F238E27FC236}">
                <a16:creationId xmlns:a16="http://schemas.microsoft.com/office/drawing/2014/main" id="{5C341B9D-79BC-9E49-A2EB-6584C49604F9}"/>
              </a:ext>
            </a:extLst>
          </p:cNvPr>
          <p:cNvSpPr>
            <a:spLocks noChangeArrowheads="1"/>
          </p:cNvSpPr>
          <p:nvPr/>
        </p:nvSpPr>
        <p:spPr bwMode="auto">
          <a:xfrm>
            <a:off x="4549775" y="2381250"/>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8" name="Rectangle 7">
            <a:extLst>
              <a:ext uri="{FF2B5EF4-FFF2-40B4-BE49-F238E27FC236}">
                <a16:creationId xmlns:a16="http://schemas.microsoft.com/office/drawing/2014/main" id="{333AD174-4D7F-BA42-AFC1-C4E91B2FD3B3}"/>
              </a:ext>
            </a:extLst>
          </p:cNvPr>
          <p:cNvSpPr>
            <a:spLocks noChangeArrowheads="1"/>
          </p:cNvSpPr>
          <p:nvPr/>
        </p:nvSpPr>
        <p:spPr bwMode="auto">
          <a:xfrm>
            <a:off x="4906963" y="2381250"/>
            <a:ext cx="358775"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49" name="Rectangle 7">
            <a:extLst>
              <a:ext uri="{FF2B5EF4-FFF2-40B4-BE49-F238E27FC236}">
                <a16:creationId xmlns:a16="http://schemas.microsoft.com/office/drawing/2014/main" id="{F16EAC74-68BA-CC4A-82E9-2EC36A7FC7AF}"/>
              </a:ext>
            </a:extLst>
          </p:cNvPr>
          <p:cNvSpPr>
            <a:spLocks noChangeArrowheads="1"/>
          </p:cNvSpPr>
          <p:nvPr/>
        </p:nvSpPr>
        <p:spPr bwMode="auto">
          <a:xfrm>
            <a:off x="5265738" y="238125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0" name="Rectangle 7">
            <a:extLst>
              <a:ext uri="{FF2B5EF4-FFF2-40B4-BE49-F238E27FC236}">
                <a16:creationId xmlns:a16="http://schemas.microsoft.com/office/drawing/2014/main" id="{5C835ECF-2B88-534C-B469-02EE375015DE}"/>
              </a:ext>
            </a:extLst>
          </p:cNvPr>
          <p:cNvSpPr>
            <a:spLocks noChangeArrowheads="1"/>
          </p:cNvSpPr>
          <p:nvPr/>
        </p:nvSpPr>
        <p:spPr bwMode="auto">
          <a:xfrm>
            <a:off x="5622925" y="2381250"/>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1" name="Rectangle 7">
            <a:extLst>
              <a:ext uri="{FF2B5EF4-FFF2-40B4-BE49-F238E27FC236}">
                <a16:creationId xmlns:a16="http://schemas.microsoft.com/office/drawing/2014/main" id="{E0C6DBA9-6C59-1848-9D69-5FDA55668194}"/>
              </a:ext>
            </a:extLst>
          </p:cNvPr>
          <p:cNvSpPr>
            <a:spLocks noChangeArrowheads="1"/>
          </p:cNvSpPr>
          <p:nvPr/>
        </p:nvSpPr>
        <p:spPr bwMode="auto">
          <a:xfrm>
            <a:off x="5980113" y="2381250"/>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2" name="Rectangle 7">
            <a:extLst>
              <a:ext uri="{FF2B5EF4-FFF2-40B4-BE49-F238E27FC236}">
                <a16:creationId xmlns:a16="http://schemas.microsoft.com/office/drawing/2014/main" id="{C530249E-A849-9140-9CB4-E86F15D390C9}"/>
              </a:ext>
            </a:extLst>
          </p:cNvPr>
          <p:cNvSpPr>
            <a:spLocks noChangeArrowheads="1"/>
          </p:cNvSpPr>
          <p:nvPr/>
        </p:nvSpPr>
        <p:spPr bwMode="auto">
          <a:xfrm>
            <a:off x="6337300" y="2381250"/>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3" name="Rectangle 7">
            <a:extLst>
              <a:ext uri="{FF2B5EF4-FFF2-40B4-BE49-F238E27FC236}">
                <a16:creationId xmlns:a16="http://schemas.microsoft.com/office/drawing/2014/main" id="{B00B1C59-AF01-E244-A928-B4261DA6700D}"/>
              </a:ext>
            </a:extLst>
          </p:cNvPr>
          <p:cNvSpPr>
            <a:spLocks noChangeArrowheads="1"/>
          </p:cNvSpPr>
          <p:nvPr/>
        </p:nvSpPr>
        <p:spPr bwMode="auto">
          <a:xfrm>
            <a:off x="4549775" y="2697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4" name="Rectangle 7">
            <a:extLst>
              <a:ext uri="{FF2B5EF4-FFF2-40B4-BE49-F238E27FC236}">
                <a16:creationId xmlns:a16="http://schemas.microsoft.com/office/drawing/2014/main" id="{3D3F88BB-B6CE-2D49-97C5-90D2851236EA}"/>
              </a:ext>
            </a:extLst>
          </p:cNvPr>
          <p:cNvSpPr>
            <a:spLocks noChangeArrowheads="1"/>
          </p:cNvSpPr>
          <p:nvPr/>
        </p:nvSpPr>
        <p:spPr bwMode="auto">
          <a:xfrm>
            <a:off x="4906963" y="2697163"/>
            <a:ext cx="358775"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5" name="Rectangle 7">
            <a:extLst>
              <a:ext uri="{FF2B5EF4-FFF2-40B4-BE49-F238E27FC236}">
                <a16:creationId xmlns:a16="http://schemas.microsoft.com/office/drawing/2014/main" id="{6BB9DB58-861F-1048-97E4-EF0D53663F69}"/>
              </a:ext>
            </a:extLst>
          </p:cNvPr>
          <p:cNvSpPr>
            <a:spLocks noChangeArrowheads="1"/>
          </p:cNvSpPr>
          <p:nvPr/>
        </p:nvSpPr>
        <p:spPr bwMode="auto">
          <a:xfrm>
            <a:off x="5265738" y="2697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6" name="Rectangle 7">
            <a:extLst>
              <a:ext uri="{FF2B5EF4-FFF2-40B4-BE49-F238E27FC236}">
                <a16:creationId xmlns:a16="http://schemas.microsoft.com/office/drawing/2014/main" id="{30D9AA75-995A-2141-B7ED-94C2580D414E}"/>
              </a:ext>
            </a:extLst>
          </p:cNvPr>
          <p:cNvSpPr>
            <a:spLocks noChangeArrowheads="1"/>
          </p:cNvSpPr>
          <p:nvPr/>
        </p:nvSpPr>
        <p:spPr bwMode="auto">
          <a:xfrm>
            <a:off x="5622925" y="2697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7" name="Rectangle 7">
            <a:extLst>
              <a:ext uri="{FF2B5EF4-FFF2-40B4-BE49-F238E27FC236}">
                <a16:creationId xmlns:a16="http://schemas.microsoft.com/office/drawing/2014/main" id="{0CAF1210-9533-1F41-934B-861812BC9627}"/>
              </a:ext>
            </a:extLst>
          </p:cNvPr>
          <p:cNvSpPr>
            <a:spLocks noChangeArrowheads="1"/>
          </p:cNvSpPr>
          <p:nvPr/>
        </p:nvSpPr>
        <p:spPr bwMode="auto">
          <a:xfrm>
            <a:off x="5980113" y="2697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8" name="Rectangle 7">
            <a:extLst>
              <a:ext uri="{FF2B5EF4-FFF2-40B4-BE49-F238E27FC236}">
                <a16:creationId xmlns:a16="http://schemas.microsoft.com/office/drawing/2014/main" id="{E69237F7-E914-5349-9069-EF5C75447305}"/>
              </a:ext>
            </a:extLst>
          </p:cNvPr>
          <p:cNvSpPr>
            <a:spLocks noChangeArrowheads="1"/>
          </p:cNvSpPr>
          <p:nvPr/>
        </p:nvSpPr>
        <p:spPr bwMode="auto">
          <a:xfrm>
            <a:off x="6337300" y="2697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59" name="Rectangle 7">
            <a:extLst>
              <a:ext uri="{FF2B5EF4-FFF2-40B4-BE49-F238E27FC236}">
                <a16:creationId xmlns:a16="http://schemas.microsoft.com/office/drawing/2014/main" id="{2DA69452-33DB-8B4D-9F22-8D2CB3E5084D}"/>
              </a:ext>
            </a:extLst>
          </p:cNvPr>
          <p:cNvSpPr>
            <a:spLocks noChangeArrowheads="1"/>
          </p:cNvSpPr>
          <p:nvPr/>
        </p:nvSpPr>
        <p:spPr bwMode="auto">
          <a:xfrm>
            <a:off x="6694488" y="2697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0" name="Rectangle 7">
            <a:extLst>
              <a:ext uri="{FF2B5EF4-FFF2-40B4-BE49-F238E27FC236}">
                <a16:creationId xmlns:a16="http://schemas.microsoft.com/office/drawing/2014/main" id="{09F6CBA0-21DD-B645-80F3-64B636E2363E}"/>
              </a:ext>
            </a:extLst>
          </p:cNvPr>
          <p:cNvSpPr>
            <a:spLocks noChangeArrowheads="1"/>
          </p:cNvSpPr>
          <p:nvPr/>
        </p:nvSpPr>
        <p:spPr bwMode="auto">
          <a:xfrm>
            <a:off x="4906963" y="3013075"/>
            <a:ext cx="358775"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1" name="Rectangle 7">
            <a:extLst>
              <a:ext uri="{FF2B5EF4-FFF2-40B4-BE49-F238E27FC236}">
                <a16:creationId xmlns:a16="http://schemas.microsoft.com/office/drawing/2014/main" id="{AAE2370F-8099-BD4C-86A0-13A8A28C1393}"/>
              </a:ext>
            </a:extLst>
          </p:cNvPr>
          <p:cNvSpPr>
            <a:spLocks noChangeArrowheads="1"/>
          </p:cNvSpPr>
          <p:nvPr/>
        </p:nvSpPr>
        <p:spPr bwMode="auto">
          <a:xfrm>
            <a:off x="5265738" y="3013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2" name="Rectangle 7">
            <a:extLst>
              <a:ext uri="{FF2B5EF4-FFF2-40B4-BE49-F238E27FC236}">
                <a16:creationId xmlns:a16="http://schemas.microsoft.com/office/drawing/2014/main" id="{5D8F1477-A536-6A4A-96C2-9E81E22AD463}"/>
              </a:ext>
            </a:extLst>
          </p:cNvPr>
          <p:cNvSpPr>
            <a:spLocks noChangeArrowheads="1"/>
          </p:cNvSpPr>
          <p:nvPr/>
        </p:nvSpPr>
        <p:spPr bwMode="auto">
          <a:xfrm>
            <a:off x="5622925" y="3013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3" name="Rectangle 7">
            <a:extLst>
              <a:ext uri="{FF2B5EF4-FFF2-40B4-BE49-F238E27FC236}">
                <a16:creationId xmlns:a16="http://schemas.microsoft.com/office/drawing/2014/main" id="{019631B2-D419-704E-B14F-0A98E47EE1AB}"/>
              </a:ext>
            </a:extLst>
          </p:cNvPr>
          <p:cNvSpPr>
            <a:spLocks noChangeArrowheads="1"/>
          </p:cNvSpPr>
          <p:nvPr/>
        </p:nvSpPr>
        <p:spPr bwMode="auto">
          <a:xfrm>
            <a:off x="5980113" y="3013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4" name="Rectangle 7">
            <a:extLst>
              <a:ext uri="{FF2B5EF4-FFF2-40B4-BE49-F238E27FC236}">
                <a16:creationId xmlns:a16="http://schemas.microsoft.com/office/drawing/2014/main" id="{C8160F73-5AAB-2F4C-952F-30770F768EEA}"/>
              </a:ext>
            </a:extLst>
          </p:cNvPr>
          <p:cNvSpPr>
            <a:spLocks noChangeArrowheads="1"/>
          </p:cNvSpPr>
          <p:nvPr/>
        </p:nvSpPr>
        <p:spPr bwMode="auto">
          <a:xfrm>
            <a:off x="6337300" y="3013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5" name="Rectangle 7">
            <a:extLst>
              <a:ext uri="{FF2B5EF4-FFF2-40B4-BE49-F238E27FC236}">
                <a16:creationId xmlns:a16="http://schemas.microsoft.com/office/drawing/2014/main" id="{0AE8C5ED-D96E-8240-8EA7-B42187E645DB}"/>
              </a:ext>
            </a:extLst>
          </p:cNvPr>
          <p:cNvSpPr>
            <a:spLocks noChangeArrowheads="1"/>
          </p:cNvSpPr>
          <p:nvPr/>
        </p:nvSpPr>
        <p:spPr bwMode="auto">
          <a:xfrm>
            <a:off x="6694488" y="3013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6" name="Rectangle 7">
            <a:extLst>
              <a:ext uri="{FF2B5EF4-FFF2-40B4-BE49-F238E27FC236}">
                <a16:creationId xmlns:a16="http://schemas.microsoft.com/office/drawing/2014/main" id="{FCCF1472-FB97-434E-856B-02D50D3A3E56}"/>
              </a:ext>
            </a:extLst>
          </p:cNvPr>
          <p:cNvSpPr>
            <a:spLocks noChangeArrowheads="1"/>
          </p:cNvSpPr>
          <p:nvPr/>
        </p:nvSpPr>
        <p:spPr bwMode="auto">
          <a:xfrm>
            <a:off x="7051675" y="3013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7" name="Rectangle 7">
            <a:extLst>
              <a:ext uri="{FF2B5EF4-FFF2-40B4-BE49-F238E27FC236}">
                <a16:creationId xmlns:a16="http://schemas.microsoft.com/office/drawing/2014/main" id="{C2039F70-86AD-9048-957E-F7BA1C72CEF7}"/>
              </a:ext>
            </a:extLst>
          </p:cNvPr>
          <p:cNvSpPr>
            <a:spLocks noChangeArrowheads="1"/>
          </p:cNvSpPr>
          <p:nvPr/>
        </p:nvSpPr>
        <p:spPr bwMode="auto">
          <a:xfrm>
            <a:off x="5265738" y="3332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8" name="Rectangle 7">
            <a:extLst>
              <a:ext uri="{FF2B5EF4-FFF2-40B4-BE49-F238E27FC236}">
                <a16:creationId xmlns:a16="http://schemas.microsoft.com/office/drawing/2014/main" id="{C8F0D279-6763-8947-9A6C-B9A7A148D75B}"/>
              </a:ext>
            </a:extLst>
          </p:cNvPr>
          <p:cNvSpPr>
            <a:spLocks noChangeArrowheads="1"/>
          </p:cNvSpPr>
          <p:nvPr/>
        </p:nvSpPr>
        <p:spPr bwMode="auto">
          <a:xfrm>
            <a:off x="5622925" y="3332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69" name="Rectangle 7">
            <a:extLst>
              <a:ext uri="{FF2B5EF4-FFF2-40B4-BE49-F238E27FC236}">
                <a16:creationId xmlns:a16="http://schemas.microsoft.com/office/drawing/2014/main" id="{710C0127-D58F-134D-9FF7-A2E02AEDC7E3}"/>
              </a:ext>
            </a:extLst>
          </p:cNvPr>
          <p:cNvSpPr>
            <a:spLocks noChangeArrowheads="1"/>
          </p:cNvSpPr>
          <p:nvPr/>
        </p:nvSpPr>
        <p:spPr bwMode="auto">
          <a:xfrm>
            <a:off x="5980113" y="3332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0" name="Rectangle 7">
            <a:extLst>
              <a:ext uri="{FF2B5EF4-FFF2-40B4-BE49-F238E27FC236}">
                <a16:creationId xmlns:a16="http://schemas.microsoft.com/office/drawing/2014/main" id="{0527EC01-13CA-2F48-BC53-CAFA1F31BD07}"/>
              </a:ext>
            </a:extLst>
          </p:cNvPr>
          <p:cNvSpPr>
            <a:spLocks noChangeArrowheads="1"/>
          </p:cNvSpPr>
          <p:nvPr/>
        </p:nvSpPr>
        <p:spPr bwMode="auto">
          <a:xfrm>
            <a:off x="6337300" y="3332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1" name="Rectangle 7">
            <a:extLst>
              <a:ext uri="{FF2B5EF4-FFF2-40B4-BE49-F238E27FC236}">
                <a16:creationId xmlns:a16="http://schemas.microsoft.com/office/drawing/2014/main" id="{E3C2070C-84B6-C042-950D-2282BA38F88D}"/>
              </a:ext>
            </a:extLst>
          </p:cNvPr>
          <p:cNvSpPr>
            <a:spLocks noChangeArrowheads="1"/>
          </p:cNvSpPr>
          <p:nvPr/>
        </p:nvSpPr>
        <p:spPr bwMode="auto">
          <a:xfrm>
            <a:off x="6694488" y="3332163"/>
            <a:ext cx="357187"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2" name="Rectangle 7">
            <a:extLst>
              <a:ext uri="{FF2B5EF4-FFF2-40B4-BE49-F238E27FC236}">
                <a16:creationId xmlns:a16="http://schemas.microsoft.com/office/drawing/2014/main" id="{492BFBE4-2BF7-124D-A1B1-054F896D0A33}"/>
              </a:ext>
            </a:extLst>
          </p:cNvPr>
          <p:cNvSpPr>
            <a:spLocks noChangeArrowheads="1"/>
          </p:cNvSpPr>
          <p:nvPr/>
        </p:nvSpPr>
        <p:spPr bwMode="auto">
          <a:xfrm>
            <a:off x="7051675" y="3332163"/>
            <a:ext cx="357188"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3" name="Rectangle 7">
            <a:extLst>
              <a:ext uri="{FF2B5EF4-FFF2-40B4-BE49-F238E27FC236}">
                <a16:creationId xmlns:a16="http://schemas.microsoft.com/office/drawing/2014/main" id="{45AB0427-A2B6-154D-92C5-AE1B05B02A0A}"/>
              </a:ext>
            </a:extLst>
          </p:cNvPr>
          <p:cNvSpPr>
            <a:spLocks noChangeArrowheads="1"/>
          </p:cNvSpPr>
          <p:nvPr/>
        </p:nvSpPr>
        <p:spPr bwMode="auto">
          <a:xfrm>
            <a:off x="7408863" y="3332163"/>
            <a:ext cx="358775" cy="315912"/>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4" name="Rectangle 7">
            <a:extLst>
              <a:ext uri="{FF2B5EF4-FFF2-40B4-BE49-F238E27FC236}">
                <a16:creationId xmlns:a16="http://schemas.microsoft.com/office/drawing/2014/main" id="{4BC104B1-B656-9A4A-8126-285983FCE4A0}"/>
              </a:ext>
            </a:extLst>
          </p:cNvPr>
          <p:cNvSpPr>
            <a:spLocks noChangeArrowheads="1"/>
          </p:cNvSpPr>
          <p:nvPr/>
        </p:nvSpPr>
        <p:spPr bwMode="auto">
          <a:xfrm>
            <a:off x="5622925" y="3648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5" name="Rectangle 7">
            <a:extLst>
              <a:ext uri="{FF2B5EF4-FFF2-40B4-BE49-F238E27FC236}">
                <a16:creationId xmlns:a16="http://schemas.microsoft.com/office/drawing/2014/main" id="{8C49BADC-0154-B240-8906-82132C2424F3}"/>
              </a:ext>
            </a:extLst>
          </p:cNvPr>
          <p:cNvSpPr>
            <a:spLocks noChangeArrowheads="1"/>
          </p:cNvSpPr>
          <p:nvPr/>
        </p:nvSpPr>
        <p:spPr bwMode="auto">
          <a:xfrm>
            <a:off x="5980113" y="3648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6" name="Rectangle 7">
            <a:extLst>
              <a:ext uri="{FF2B5EF4-FFF2-40B4-BE49-F238E27FC236}">
                <a16:creationId xmlns:a16="http://schemas.microsoft.com/office/drawing/2014/main" id="{0623FB83-80FE-1D4C-9FED-5C017BB54ED1}"/>
              </a:ext>
            </a:extLst>
          </p:cNvPr>
          <p:cNvSpPr>
            <a:spLocks noChangeArrowheads="1"/>
          </p:cNvSpPr>
          <p:nvPr/>
        </p:nvSpPr>
        <p:spPr bwMode="auto">
          <a:xfrm>
            <a:off x="6337300" y="3648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7" name="Rectangle 7">
            <a:extLst>
              <a:ext uri="{FF2B5EF4-FFF2-40B4-BE49-F238E27FC236}">
                <a16:creationId xmlns:a16="http://schemas.microsoft.com/office/drawing/2014/main" id="{93C80FB2-3CFD-7F47-86FA-D5523CA6157D}"/>
              </a:ext>
            </a:extLst>
          </p:cNvPr>
          <p:cNvSpPr>
            <a:spLocks noChangeArrowheads="1"/>
          </p:cNvSpPr>
          <p:nvPr/>
        </p:nvSpPr>
        <p:spPr bwMode="auto">
          <a:xfrm>
            <a:off x="6694488" y="3648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8" name="Rectangle 7">
            <a:extLst>
              <a:ext uri="{FF2B5EF4-FFF2-40B4-BE49-F238E27FC236}">
                <a16:creationId xmlns:a16="http://schemas.microsoft.com/office/drawing/2014/main" id="{4C90DFEA-98A4-C44B-B67C-DA1041D2F5E0}"/>
              </a:ext>
            </a:extLst>
          </p:cNvPr>
          <p:cNvSpPr>
            <a:spLocks noChangeArrowheads="1"/>
          </p:cNvSpPr>
          <p:nvPr/>
        </p:nvSpPr>
        <p:spPr bwMode="auto">
          <a:xfrm>
            <a:off x="7051675" y="3648075"/>
            <a:ext cx="357188"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79" name="Rectangle 7">
            <a:extLst>
              <a:ext uri="{FF2B5EF4-FFF2-40B4-BE49-F238E27FC236}">
                <a16:creationId xmlns:a16="http://schemas.microsoft.com/office/drawing/2014/main" id="{B8CDE132-3942-7547-9B2C-327B72B80EB2}"/>
              </a:ext>
            </a:extLst>
          </p:cNvPr>
          <p:cNvSpPr>
            <a:spLocks noChangeArrowheads="1"/>
          </p:cNvSpPr>
          <p:nvPr/>
        </p:nvSpPr>
        <p:spPr bwMode="auto">
          <a:xfrm>
            <a:off x="7408863" y="3648075"/>
            <a:ext cx="358775"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80" name="Rectangle 7">
            <a:extLst>
              <a:ext uri="{FF2B5EF4-FFF2-40B4-BE49-F238E27FC236}">
                <a16:creationId xmlns:a16="http://schemas.microsoft.com/office/drawing/2014/main" id="{D36C2B7D-CE2B-A840-A496-9F457AC0E52F}"/>
              </a:ext>
            </a:extLst>
          </p:cNvPr>
          <p:cNvSpPr>
            <a:spLocks noChangeArrowheads="1"/>
          </p:cNvSpPr>
          <p:nvPr/>
        </p:nvSpPr>
        <p:spPr bwMode="auto">
          <a:xfrm>
            <a:off x="7767638" y="3648075"/>
            <a:ext cx="357187" cy="315913"/>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76881" name="TextBox 15">
            <a:extLst>
              <a:ext uri="{FF2B5EF4-FFF2-40B4-BE49-F238E27FC236}">
                <a16:creationId xmlns:a16="http://schemas.microsoft.com/office/drawing/2014/main" id="{0FBC9D34-7841-DE40-869C-854A346C147B}"/>
              </a:ext>
            </a:extLst>
          </p:cNvPr>
          <p:cNvSpPr txBox="1">
            <a:spLocks noChangeArrowheads="1"/>
          </p:cNvSpPr>
          <p:nvPr/>
        </p:nvSpPr>
        <p:spPr bwMode="auto">
          <a:xfrm>
            <a:off x="347663" y="1762125"/>
            <a:ext cx="22367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DIV    R3 </a:t>
            </a: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 R1, R2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sym typeface="Wingdings" pitchFamily="2" charset="2"/>
              </a:rPr>
              <a:t>ADD   R4  R1, R2</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606552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76200" y="5358033"/>
            <a:ext cx="6375009" cy="509367"/>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399"/>
            <a:ext cx="6375009" cy="3962401"/>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361047753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zh-CN" dirty="0">
                <a:ea typeface="ＭＳ Ｐゴシック" panose="020B0600070205080204" pitchFamily="34" charset="-128"/>
              </a:rPr>
              <a:t>False Dependencies: Lack of registers</a:t>
            </a:r>
            <a:endParaRPr lang="en-US" altLang="en-US" dirty="0">
              <a:ea typeface="ＭＳ Ｐゴシック" panose="020B0600070205080204" pitchFamily="34" charset="-128"/>
            </a:endParaRP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 name="Rectangle">
            <a:extLst>
              <a:ext uri="{FF2B5EF4-FFF2-40B4-BE49-F238E27FC236}">
                <a16:creationId xmlns:a16="http://schemas.microsoft.com/office/drawing/2014/main" id="{E5A27026-AC1D-1A4B-ACAC-9D6BDABD0594}"/>
              </a:ext>
            </a:extLst>
          </p:cNvPr>
          <p:cNvSpPr/>
          <p:nvPr/>
        </p:nvSpPr>
        <p:spPr>
          <a:xfrm>
            <a:off x="527050" y="1149350"/>
            <a:ext cx="6491097" cy="1517650"/>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9405020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4">
            <a:extLst>
              <a:ext uri="{FF2B5EF4-FFF2-40B4-BE49-F238E27FC236}">
                <a16:creationId xmlns:a16="http://schemas.microsoft.com/office/drawing/2014/main" id="{F9925328-BF8F-2841-8EBC-D6D5163F768D}"/>
              </a:ext>
            </a:extLst>
          </p:cNvPr>
          <p:cNvSpPr>
            <a:spLocks noGrp="1" noChangeArrowheads="1"/>
          </p:cNvSpPr>
          <p:nvPr>
            <p:ph type="ctrTitle"/>
          </p:nvPr>
        </p:nvSpPr>
        <p:spPr>
          <a:xfrm>
            <a:off x="366713" y="1447800"/>
            <a:ext cx="8428037" cy="1720850"/>
          </a:xfrm>
        </p:spPr>
        <p:txBody>
          <a:bodyPr/>
          <a:lstStyle/>
          <a:p>
            <a:pPr algn="ctr" eaLnBrk="1" hangingPunct="1"/>
            <a:r>
              <a:rPr lang="en-US" altLang="en-US" dirty="0">
                <a:ea typeface="ＭＳ Ｐゴシック" panose="020B0600070205080204" pitchFamily="34" charset="-128"/>
              </a:rPr>
              <a:t>Pipelining and Precise Exceptions: Preserving Sequential Semantics</a:t>
            </a:r>
          </a:p>
        </p:txBody>
      </p:sp>
    </p:spTree>
    <p:extLst>
      <p:ext uri="{BB962C8B-B14F-4D97-AF65-F5344CB8AC3E}">
        <p14:creationId xmlns:p14="http://schemas.microsoft.com/office/powerpoint/2010/main" val="2500351833"/>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18381645-F81C-B642-9A3C-1125B8A50EBA}"/>
              </a:ext>
            </a:extLst>
          </p:cNvPr>
          <p:cNvSpPr>
            <a:spLocks noGrp="1" noChangeArrowheads="1"/>
          </p:cNvSpPr>
          <p:nvPr>
            <p:ph type="title"/>
          </p:nvPr>
        </p:nvSpPr>
        <p:spPr>
          <a:xfrm>
            <a:off x="228600" y="0"/>
            <a:ext cx="8610600" cy="914400"/>
          </a:xfrm>
        </p:spPr>
        <p:txBody>
          <a:bodyPr anchor="ctr"/>
          <a:lstStyle/>
          <a:p>
            <a:r>
              <a:rPr lang="en-US" altLang="en-US" b="1" dirty="0">
                <a:ea typeface="ＭＳ Ｐゴシック" panose="020B0600070205080204" pitchFamily="34" charset="-128"/>
              </a:rPr>
              <a:t>Outline</a:t>
            </a:r>
            <a:endParaRPr lang="en-US" altLang="en-US" dirty="0">
              <a:ea typeface="ＭＳ Ｐゴシック" panose="020B0600070205080204" pitchFamily="34" charset="-128"/>
            </a:endParaRPr>
          </a:p>
        </p:txBody>
      </p:sp>
      <p:sp>
        <p:nvSpPr>
          <p:cNvPr id="19458" name="Content Placeholder 2">
            <a:extLst>
              <a:ext uri="{FF2B5EF4-FFF2-40B4-BE49-F238E27FC236}">
                <a16:creationId xmlns:a16="http://schemas.microsoft.com/office/drawing/2014/main" id="{11999A4A-8D8C-0542-9D21-8306EAFE9B71}"/>
              </a:ext>
            </a:extLst>
          </p:cNvPr>
          <p:cNvSpPr>
            <a:spLocks noGrp="1"/>
          </p:cNvSpPr>
          <p:nvPr>
            <p:ph idx="1"/>
          </p:nvPr>
        </p:nvSpPr>
        <p:spPr>
          <a:xfrm>
            <a:off x="228600" y="914400"/>
            <a:ext cx="8610600" cy="5562600"/>
          </a:xfrm>
        </p:spPr>
        <p:txBody>
          <a:bodyPr>
            <a:normAutofit/>
          </a:bodyPr>
          <a:lstStyle/>
          <a:p>
            <a:pPr>
              <a:buFont typeface="Wingdings" charset="2"/>
              <a:buChar char="n"/>
              <a:defRPr/>
            </a:pPr>
            <a:r>
              <a:rPr lang="en-US" altLang="zh-CN" dirty="0">
                <a:solidFill>
                  <a:srgbClr val="0432FF"/>
                </a:solidFill>
                <a:ea typeface="ＭＳ Ｐゴシック" charset="-128"/>
              </a:rPr>
              <a:t>Pipeline Hazard</a:t>
            </a:r>
          </a:p>
          <a:p>
            <a:pPr lvl="1">
              <a:buFont typeface="Wingdings" charset="2"/>
              <a:buChar char="n"/>
              <a:defRPr/>
            </a:pPr>
            <a:r>
              <a:rPr lang="en-US" altLang="zh-CN" dirty="0">
                <a:solidFill>
                  <a:srgbClr val="0432FF"/>
                </a:solidFill>
                <a:ea typeface="ＭＳ Ｐゴシック" charset="-128"/>
              </a:rPr>
              <a:t>Structural Hazard</a:t>
            </a:r>
          </a:p>
          <a:p>
            <a:pPr lvl="1">
              <a:buFont typeface="Wingdings" charset="2"/>
              <a:buChar char="n"/>
              <a:defRPr/>
            </a:pPr>
            <a:r>
              <a:rPr lang="en-US" altLang="zh-CN" dirty="0">
                <a:solidFill>
                  <a:srgbClr val="0432FF"/>
                </a:solidFill>
                <a:ea typeface="ＭＳ Ｐゴシック" charset="-128"/>
              </a:rPr>
              <a:t>Data Hazard (Dependencies)</a:t>
            </a:r>
            <a:endParaRPr lang="en-US" altLang="en-US" dirty="0">
              <a:solidFill>
                <a:srgbClr val="0432FF"/>
              </a:solidFill>
              <a:ea typeface="ＭＳ Ｐゴシック" charset="-128"/>
            </a:endParaRPr>
          </a:p>
          <a:p>
            <a:pPr lvl="2">
              <a:buFont typeface="Wingdings" charset="2"/>
              <a:buChar char="n"/>
              <a:defRPr/>
            </a:pPr>
            <a:r>
              <a:rPr lang="en-US" altLang="zh-CN" dirty="0">
                <a:solidFill>
                  <a:srgbClr val="0432FF"/>
                </a:solidFill>
                <a:ea typeface="ＭＳ Ｐゴシック" charset="-128"/>
              </a:rPr>
              <a:t>RAW</a:t>
            </a:r>
          </a:p>
          <a:p>
            <a:pPr lvl="2">
              <a:buFont typeface="Wingdings" charset="2"/>
              <a:buChar char="n"/>
              <a:defRPr/>
            </a:pPr>
            <a:r>
              <a:rPr lang="en-US" altLang="en-US" dirty="0">
                <a:solidFill>
                  <a:srgbClr val="0432FF"/>
                </a:solidFill>
                <a:ea typeface="ＭＳ Ｐゴシック" charset="-128"/>
              </a:rPr>
              <a:t>WAW</a:t>
            </a:r>
          </a:p>
          <a:p>
            <a:pPr lvl="2">
              <a:buFont typeface="Wingdings" charset="2"/>
              <a:buChar char="n"/>
              <a:defRPr/>
            </a:pPr>
            <a:r>
              <a:rPr lang="en-US" altLang="en-US" dirty="0">
                <a:solidFill>
                  <a:srgbClr val="0432FF"/>
                </a:solidFill>
                <a:ea typeface="ＭＳ Ｐゴシック" charset="-128"/>
              </a:rPr>
              <a:t>WAR</a:t>
            </a:r>
          </a:p>
          <a:p>
            <a:pPr lvl="1">
              <a:buFont typeface="Wingdings" charset="2"/>
              <a:buChar char="n"/>
              <a:defRPr/>
            </a:pPr>
            <a:r>
              <a:rPr lang="en-US" altLang="en-US" dirty="0">
                <a:solidFill>
                  <a:srgbClr val="0432FF"/>
                </a:solidFill>
                <a:ea typeface="ＭＳ Ｐゴシック" charset="-128"/>
              </a:rPr>
              <a:t>Control Hazard</a:t>
            </a:r>
          </a:p>
          <a:p>
            <a:pPr>
              <a:buFont typeface="Wingdings" charset="2"/>
              <a:buChar char="n"/>
              <a:defRPr/>
            </a:pPr>
            <a:r>
              <a:rPr lang="en-US" altLang="zh-CN" dirty="0">
                <a:solidFill>
                  <a:srgbClr val="0432FF"/>
                </a:solidFill>
                <a:ea typeface="ＭＳ Ｐゴシック" charset="-128"/>
              </a:rPr>
              <a:t>Reorder Buffer</a:t>
            </a:r>
          </a:p>
          <a:p>
            <a:pPr lvl="1">
              <a:buFont typeface="Wingdings" charset="2"/>
              <a:buChar char="n"/>
              <a:defRPr/>
            </a:pPr>
            <a:r>
              <a:rPr lang="en-US" altLang="zh-CN" dirty="0">
                <a:solidFill>
                  <a:srgbClr val="0432FF"/>
                </a:solidFill>
                <a:ea typeface="ＭＳ Ｐゴシック" charset="-128"/>
              </a:rPr>
              <a:t>For Multi-cycle Execution</a:t>
            </a:r>
          </a:p>
          <a:p>
            <a:pPr lvl="1">
              <a:buFont typeface="Wingdings" charset="2"/>
              <a:buChar char="n"/>
              <a:defRPr/>
            </a:pPr>
            <a:r>
              <a:rPr lang="en-US" altLang="zh-CN" dirty="0">
                <a:solidFill>
                  <a:srgbClr val="0432FF"/>
                </a:solidFill>
                <a:ea typeface="ＭＳ Ｐゴシック" charset="-128"/>
              </a:rPr>
              <a:t>For Exception and Interrupt</a:t>
            </a:r>
          </a:p>
          <a:p>
            <a:pPr lvl="1">
              <a:buFont typeface="Wingdings" charset="2"/>
              <a:buChar char="n"/>
              <a:defRPr/>
            </a:pPr>
            <a:r>
              <a:rPr lang="en-US" altLang="zh-CN" dirty="0">
                <a:solidFill>
                  <a:srgbClr val="0432FF"/>
                </a:solidFill>
                <a:ea typeface="ＭＳ Ｐゴシック" charset="-128"/>
              </a:rPr>
              <a:t>For False Dependencies (WAW &amp; WAR) </a:t>
            </a:r>
          </a:p>
          <a:p>
            <a:pPr>
              <a:buFont typeface="Wingdings" charset="2"/>
              <a:buChar char="n"/>
              <a:defRPr/>
            </a:pPr>
            <a:r>
              <a:rPr lang="en-US" altLang="zh-CN" dirty="0">
                <a:solidFill>
                  <a:srgbClr val="0432FF"/>
                </a:solidFill>
                <a:ea typeface="ＭＳ Ｐゴシック" charset="-128"/>
              </a:rPr>
              <a:t>Definition of Reorder Buffer</a:t>
            </a:r>
          </a:p>
          <a:p>
            <a:pPr marL="0" indent="0">
              <a:buNone/>
              <a:defRPr/>
            </a:pPr>
            <a:endParaRPr lang="en-US" altLang="en-US" dirty="0">
              <a:solidFill>
                <a:srgbClr val="0432FF"/>
              </a:solidFill>
              <a:ea typeface="ＭＳ Ｐゴシック" charset="-128"/>
            </a:endParaRPr>
          </a:p>
          <a:p>
            <a:pPr marL="671512" lvl="2" indent="0">
              <a:buClr>
                <a:srgbClr val="3B812F"/>
              </a:buClr>
              <a:buNone/>
              <a:defRPr/>
            </a:pPr>
            <a:endParaRPr lang="en-US" dirty="0">
              <a:solidFill>
                <a:srgbClr val="000000"/>
              </a:solidFill>
            </a:endParaRPr>
          </a:p>
          <a:p>
            <a:pPr lvl="1">
              <a:buFont typeface="Wingdings" charset="2"/>
              <a:buChar char="n"/>
              <a:defRPr/>
            </a:pPr>
            <a:endParaRPr lang="en-US" altLang="en-US" dirty="0">
              <a:ea typeface="ＭＳ Ｐゴシック" charset="-128"/>
            </a:endParaRPr>
          </a:p>
          <a:p>
            <a:pPr lvl="2">
              <a:buFont typeface="Wingdings" charset="2"/>
              <a:buChar char="n"/>
              <a:defRPr/>
            </a:pPr>
            <a:endParaRPr lang="en-US" dirty="0">
              <a:ea typeface="ＭＳ Ｐゴシック" charset="-128"/>
            </a:endParaRPr>
          </a:p>
          <a:p>
            <a:pPr marL="344487" lvl="1" indent="0">
              <a:buFont typeface="Wingdings" pitchFamily="2" charset="2"/>
              <a:buNone/>
              <a:defRPr/>
            </a:pPr>
            <a:endParaRPr lang="en-US" altLang="en-US" dirty="0">
              <a:ea typeface="ＭＳ Ｐゴシック" charset="-128"/>
            </a:endParaRPr>
          </a:p>
        </p:txBody>
      </p:sp>
      <p:sp>
        <p:nvSpPr>
          <p:cNvPr id="35843" name="Slide Number Placeholder 3">
            <a:extLst>
              <a:ext uri="{FF2B5EF4-FFF2-40B4-BE49-F238E27FC236}">
                <a16:creationId xmlns:a16="http://schemas.microsoft.com/office/drawing/2014/main" id="{F129D015-4946-2A40-BB1A-9A51A871D4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5F7BB-0E5D-4B48-AE6E-CE7CFCFC94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
        <p:nvSpPr>
          <p:cNvPr id="7" name="Rectangle">
            <a:extLst>
              <a:ext uri="{FF2B5EF4-FFF2-40B4-BE49-F238E27FC236}">
                <a16:creationId xmlns:a16="http://schemas.microsoft.com/office/drawing/2014/main" id="{E509C070-0638-42D9-99CF-EFBC0E96F12C}"/>
              </a:ext>
            </a:extLst>
          </p:cNvPr>
          <p:cNvSpPr/>
          <p:nvPr/>
        </p:nvSpPr>
        <p:spPr>
          <a:xfrm>
            <a:off x="229552" y="5933635"/>
            <a:ext cx="6375009" cy="409135"/>
          </a:xfrm>
          <a:prstGeom prst="rect">
            <a:avLst/>
          </a:prstGeom>
          <a:solidFill>
            <a:srgbClr val="FFFFFF">
              <a:alpha val="84174"/>
            </a:srgbClr>
          </a:solidFill>
          <a:ln w="12700">
            <a:miter lim="400000"/>
          </a:ln>
        </p:spPr>
        <p:txBody>
          <a:bodyPr lIns="45719" rIns="45719" anchor="ctr"/>
          <a:lstStyle/>
          <a:p>
            <a:endParaRPr/>
          </a:p>
        </p:txBody>
      </p:sp>
      <p:sp>
        <p:nvSpPr>
          <p:cNvPr id="9" name="Rectangle">
            <a:extLst>
              <a:ext uri="{FF2B5EF4-FFF2-40B4-BE49-F238E27FC236}">
                <a16:creationId xmlns:a16="http://schemas.microsoft.com/office/drawing/2014/main" id="{B2B9B2A0-6670-44DB-831E-E26E5F314020}"/>
              </a:ext>
            </a:extLst>
          </p:cNvPr>
          <p:cNvSpPr/>
          <p:nvPr/>
        </p:nvSpPr>
        <p:spPr>
          <a:xfrm>
            <a:off x="75692" y="5827539"/>
            <a:ext cx="6375009" cy="509367"/>
          </a:xfrm>
          <a:prstGeom prst="rect">
            <a:avLst/>
          </a:prstGeom>
          <a:solidFill>
            <a:srgbClr val="FFFFFF">
              <a:alpha val="84174"/>
            </a:srgbClr>
          </a:solidFill>
          <a:ln w="12700">
            <a:miter lim="400000"/>
          </a:ln>
        </p:spPr>
        <p:txBody>
          <a:bodyPr lIns="45719" rIns="45719" anchor="ctr"/>
          <a:lstStyle/>
          <a:p>
            <a:endParaRPr/>
          </a:p>
        </p:txBody>
      </p:sp>
      <p:sp>
        <p:nvSpPr>
          <p:cNvPr id="10" name="Rectangle">
            <a:extLst>
              <a:ext uri="{FF2B5EF4-FFF2-40B4-BE49-F238E27FC236}">
                <a16:creationId xmlns:a16="http://schemas.microsoft.com/office/drawing/2014/main" id="{27BEF6CE-7CA0-4F4E-964F-EDA129CB882E}"/>
              </a:ext>
            </a:extLst>
          </p:cNvPr>
          <p:cNvSpPr/>
          <p:nvPr/>
        </p:nvSpPr>
        <p:spPr>
          <a:xfrm>
            <a:off x="157162" y="914399"/>
            <a:ext cx="6375009" cy="4419601"/>
          </a:xfrm>
          <a:prstGeom prst="rect">
            <a:avLst/>
          </a:prstGeom>
          <a:solidFill>
            <a:srgbClr val="FFFFFF">
              <a:alpha val="84174"/>
            </a:srgbClr>
          </a:solidFill>
          <a:ln w="12700">
            <a:miter lim="400000"/>
          </a:ln>
        </p:spPr>
        <p:txBody>
          <a:bodyPr lIns="45719" rIns="45719" anchor="ctr"/>
          <a:lstStyle/>
          <a:p>
            <a:endParaRPr/>
          </a:p>
        </p:txBody>
      </p:sp>
    </p:spTree>
    <p:extLst>
      <p:ext uri="{BB962C8B-B14F-4D97-AF65-F5344CB8AC3E}">
        <p14:creationId xmlns:p14="http://schemas.microsoft.com/office/powerpoint/2010/main" val="2312310912"/>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4AEF902D-7CD2-2C4F-BE8C-A930CBB01529}"/>
              </a:ext>
            </a:extLst>
          </p:cNvPr>
          <p:cNvSpPr>
            <a:spLocks noGrp="1" noChangeArrowheads="1"/>
          </p:cNvSpPr>
          <p:nvPr>
            <p:ph type="title"/>
          </p:nvPr>
        </p:nvSpPr>
        <p:spPr/>
        <p:txBody>
          <a:bodyPr/>
          <a:lstStyle/>
          <a:p>
            <a:r>
              <a:rPr lang="en-US" altLang="en-US" dirty="0">
                <a:ea typeface="ＭＳ Ｐゴシック" panose="020B0600070205080204" pitchFamily="34" charset="-128"/>
              </a:rPr>
              <a:t>Reorder Buffer</a:t>
            </a:r>
          </a:p>
        </p:txBody>
      </p:sp>
      <p:sp>
        <p:nvSpPr>
          <p:cNvPr id="77826" name="Content Placeholder 2">
            <a:extLst>
              <a:ext uri="{FF2B5EF4-FFF2-40B4-BE49-F238E27FC236}">
                <a16:creationId xmlns:a16="http://schemas.microsoft.com/office/drawing/2014/main" id="{3EF29EEF-6A6A-2141-9698-986145DA911D}"/>
              </a:ext>
            </a:extLst>
          </p:cNvPr>
          <p:cNvSpPr>
            <a:spLocks noGrp="1" noChangeArrowheads="1"/>
          </p:cNvSpPr>
          <p:nvPr>
            <p:ph idx="1"/>
          </p:nvPr>
        </p:nvSpPr>
        <p:spPr>
          <a:xfrm>
            <a:off x="228600" y="996950"/>
            <a:ext cx="8610600" cy="5194300"/>
          </a:xfrm>
        </p:spPr>
        <p:txBody>
          <a:bodyPr/>
          <a:lstStyle/>
          <a:p>
            <a:r>
              <a:rPr lang="en-US" altLang="en-US" b="1" dirty="0">
                <a:ea typeface="ＭＳ Ｐゴシック" panose="020B0600070205080204" pitchFamily="34" charset="-128"/>
              </a:rPr>
              <a:t>Reorder buffer</a:t>
            </a:r>
          </a:p>
          <a:p>
            <a:pPr lvl="1"/>
            <a:r>
              <a:rPr lang="en-US" altLang="en-US" dirty="0">
                <a:ea typeface="ＭＳ Ｐゴシック" panose="020B0600070205080204" pitchFamily="34" charset="-128"/>
              </a:rPr>
              <a:t>For false dependencies</a:t>
            </a:r>
          </a:p>
          <a:p>
            <a:pPr lvl="1"/>
            <a:r>
              <a:rPr lang="en-US" altLang="en-US" dirty="0">
                <a:ea typeface="ＭＳ Ｐゴシック" panose="020B0600070205080204" pitchFamily="34" charset="-128"/>
              </a:rPr>
              <a:t>For exception and interrupt</a:t>
            </a:r>
          </a:p>
          <a:p>
            <a:pPr lvl="1"/>
            <a:r>
              <a:rPr lang="en-US" altLang="en-US" dirty="0">
                <a:ea typeface="ＭＳ Ｐゴシック" panose="020B0600070205080204" pitchFamily="34" charset="-128"/>
              </a:rPr>
              <a:t>For multi-cycle execute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Suggested reading</a:t>
            </a:r>
          </a:p>
          <a:p>
            <a:pPr lvl="1"/>
            <a:r>
              <a:rPr lang="en-US" altLang="en-US" sz="2000" dirty="0">
                <a:ea typeface="ＭＳ Ｐゴシック" panose="020B0600070205080204" pitchFamily="34" charset="-128"/>
              </a:rPr>
              <a:t>Smith and </a:t>
            </a:r>
            <a:r>
              <a:rPr lang="en-US" altLang="en-US" sz="2000" dirty="0" err="1">
                <a:ea typeface="ＭＳ Ｐゴシック" panose="020B0600070205080204" pitchFamily="34" charset="-128"/>
              </a:rPr>
              <a:t>Plezskun</a:t>
            </a:r>
            <a:r>
              <a:rPr lang="en-US" altLang="en-US" sz="2000" dirty="0">
                <a:ea typeface="ＭＳ Ｐゴシック" panose="020B0600070205080204" pitchFamily="34" charset="-128"/>
              </a:rPr>
              <a:t>, </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Implementing Precise Interrupts in Pipelined Processors</a:t>
            </a:r>
            <a:r>
              <a:rPr lang="en-US" altLang="ja-JP" sz="2000" dirty="0">
                <a:solidFill>
                  <a:srgbClr val="0000FF"/>
                </a:solidFill>
                <a:ea typeface="ＭＳ Ｐゴシック" panose="020B0600070205080204" pitchFamily="34" charset="-128"/>
              </a:rPr>
              <a:t>,</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 IEEE Trans on Computers 1988 and ISCA 1985.</a:t>
            </a:r>
          </a:p>
        </p:txBody>
      </p:sp>
      <p:sp>
        <p:nvSpPr>
          <p:cNvPr id="77827" name="Slide Number Placeholder 3">
            <a:extLst>
              <a:ext uri="{FF2B5EF4-FFF2-40B4-BE49-F238E27FC236}">
                <a16:creationId xmlns:a16="http://schemas.microsoft.com/office/drawing/2014/main" id="{3FBC4763-AF38-8842-A88A-7603F9B63B7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8DA1D47-1E0B-E048-9F01-C4D62F24D7A1}"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83303196"/>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1A86B2B6-EF18-724F-8D5A-CEF62CE7995F}"/>
              </a:ext>
            </a:extLst>
          </p:cNvPr>
          <p:cNvSpPr>
            <a:spLocks noGrp="1" noChangeArrowheads="1"/>
          </p:cNvSpPr>
          <p:nvPr>
            <p:ph type="title"/>
          </p:nvPr>
        </p:nvSpPr>
        <p:spPr/>
        <p:txBody>
          <a:bodyPr/>
          <a:lstStyle/>
          <a:p>
            <a:r>
              <a:rPr lang="en-US" altLang="en-US" dirty="0">
                <a:ea typeface="ＭＳ Ｐゴシック" panose="020B0600070205080204" pitchFamily="34" charset="-128"/>
              </a:rPr>
              <a:t>Reorder Buffer (ROB)</a:t>
            </a:r>
          </a:p>
        </p:txBody>
      </p:sp>
      <p:sp>
        <p:nvSpPr>
          <p:cNvPr id="54275" name="Slide Number Placeholder 3">
            <a:extLst>
              <a:ext uri="{FF2B5EF4-FFF2-40B4-BE49-F238E27FC236}">
                <a16:creationId xmlns:a16="http://schemas.microsoft.com/office/drawing/2014/main" id="{40CA36B7-44F1-444F-A213-629D30961E7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54FB6BA-66B4-4E42-B3DB-C8880110D1DF}"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35" name="Content Placeholder 2">
            <a:extLst>
              <a:ext uri="{FF2B5EF4-FFF2-40B4-BE49-F238E27FC236}">
                <a16:creationId xmlns:a16="http://schemas.microsoft.com/office/drawing/2014/main" id="{3048E813-FA78-4AF1-AA9C-D563381D7147}"/>
              </a:ext>
            </a:extLst>
          </p:cNvPr>
          <p:cNvSpPr>
            <a:spLocks noGrp="1" noChangeArrowheads="1"/>
          </p:cNvSpPr>
          <p:nvPr>
            <p:ph idx="1"/>
          </p:nvPr>
        </p:nvSpPr>
        <p:spPr>
          <a:xfrm>
            <a:off x="228600" y="996950"/>
            <a:ext cx="8753472" cy="5194300"/>
          </a:xfrm>
        </p:spPr>
        <p:txBody>
          <a:bodyPr/>
          <a:lstStyle/>
          <a:p>
            <a:r>
              <a:rPr lang="en-US" altLang="en-US" b="1" dirty="0">
                <a:ea typeface="ＭＳ Ｐゴシック" panose="020B0600070205080204" pitchFamily="34" charset="-128"/>
              </a:rPr>
              <a:t>Key Idea</a:t>
            </a:r>
            <a:r>
              <a:rPr lang="en-US" altLang="en-US" dirty="0">
                <a:ea typeface="ＭＳ Ｐゴシック" panose="020B0600070205080204" pitchFamily="34" charset="-128"/>
              </a:rPr>
              <a:t>: Complete instructions out-of-order, but reorder them before writing results to architectural state (Commit).</a:t>
            </a:r>
          </a:p>
          <a:p>
            <a:pPr lvl="1"/>
            <a:r>
              <a:rPr lang="en-US" altLang="en-US" dirty="0">
                <a:ea typeface="ＭＳ Ｐゴシック" panose="020B0600070205080204" pitchFamily="34" charset="-128"/>
              </a:rPr>
              <a:t>1, When instruction is </a:t>
            </a:r>
            <a:r>
              <a:rPr lang="en-US" altLang="en-US" b="1" dirty="0">
                <a:solidFill>
                  <a:srgbClr val="7030A0"/>
                </a:solidFill>
                <a:ea typeface="ＭＳ Ｐゴシック" panose="020B0600070205080204" pitchFamily="34" charset="-128"/>
              </a:rPr>
              <a:t>decoded in order</a:t>
            </a:r>
            <a:r>
              <a:rPr lang="en-US" altLang="en-US" b="1" dirty="0">
                <a:ea typeface="ＭＳ Ｐゴシック" panose="020B0600070205080204" pitchFamily="34" charset="-128"/>
              </a:rPr>
              <a:t>,</a:t>
            </a:r>
            <a:r>
              <a:rPr lang="en-US" altLang="en-US" dirty="0">
                <a:ea typeface="ＭＳ Ｐゴシック" panose="020B0600070205080204" pitchFamily="34" charset="-128"/>
              </a:rPr>
              <a:t> it reserves the next-sequential entry in the ROB, rename the destination register. </a:t>
            </a:r>
          </a:p>
          <a:p>
            <a:pPr lvl="1"/>
            <a:r>
              <a:rPr lang="en-US" altLang="en-US" dirty="0">
                <a:ea typeface="ＭＳ Ｐゴシック" panose="020B0600070205080204" pitchFamily="34" charset="-128"/>
              </a:rPr>
              <a:t>2, When instruction </a:t>
            </a:r>
            <a:r>
              <a:rPr lang="en-US" altLang="en-US" b="1" dirty="0">
                <a:ea typeface="ＭＳ Ｐゴシック" panose="020B0600070205080204" pitchFamily="34" charset="-128"/>
              </a:rPr>
              <a:t>completes </a:t>
            </a:r>
            <a:r>
              <a:rPr lang="en-US" altLang="en-US" b="1" dirty="0">
                <a:solidFill>
                  <a:srgbClr val="FF0000"/>
                </a:solidFill>
                <a:ea typeface="ＭＳ Ｐゴシック" panose="020B0600070205080204" pitchFamily="34" charset="-128"/>
              </a:rPr>
              <a:t>out-of-order</a:t>
            </a:r>
            <a:r>
              <a:rPr lang="en-US" altLang="en-US" dirty="0">
                <a:ea typeface="ＭＳ Ｐゴシック" panose="020B0600070205080204" pitchFamily="34" charset="-128"/>
              </a:rPr>
              <a:t>, it writes result into ROB entry.</a:t>
            </a:r>
          </a:p>
          <a:p>
            <a:pPr lvl="1"/>
            <a:r>
              <a:rPr lang="en-US" altLang="en-US" dirty="0">
                <a:ea typeface="ＭＳ Ｐゴシック" panose="020B0600070205080204" pitchFamily="34" charset="-128"/>
              </a:rPr>
              <a:t>3, When instruction </a:t>
            </a:r>
            <a:r>
              <a:rPr lang="en-US" altLang="en-US" b="1" dirty="0">
                <a:ea typeface="ＭＳ Ｐゴシック" panose="020B0600070205080204" pitchFamily="34" charset="-128"/>
              </a:rPr>
              <a:t>oldest in ROB </a:t>
            </a:r>
            <a:r>
              <a:rPr lang="en-US" altLang="en-US" dirty="0">
                <a:ea typeface="ＭＳ Ｐゴシック" panose="020B0600070205080204" pitchFamily="34" charset="-128"/>
              </a:rPr>
              <a:t>and it has completed without exceptions, its result writes to reg. file or memory (</a:t>
            </a:r>
            <a:r>
              <a:rPr lang="en-US" altLang="en-US" dirty="0">
                <a:solidFill>
                  <a:srgbClr val="0432FF"/>
                </a:solidFill>
                <a:ea typeface="ＭＳ Ｐゴシック" panose="020B0600070205080204" pitchFamily="34" charset="-128"/>
              </a:rPr>
              <a:t>In order commitment</a:t>
            </a:r>
            <a:r>
              <a:rPr lang="en-US" altLang="en-US" dirty="0">
                <a:ea typeface="ＭＳ Ｐゴシック" panose="020B0600070205080204" pitchFamily="34" charset="-128"/>
              </a:rPr>
              <a:t>)</a:t>
            </a:r>
          </a:p>
        </p:txBody>
      </p:sp>
      <p:grpSp>
        <p:nvGrpSpPr>
          <p:cNvPr id="25" name="组合 24">
            <a:extLst>
              <a:ext uri="{FF2B5EF4-FFF2-40B4-BE49-F238E27FC236}">
                <a16:creationId xmlns:a16="http://schemas.microsoft.com/office/drawing/2014/main" id="{49D6908C-0B75-4B44-86A6-644DE4F633DB}"/>
              </a:ext>
            </a:extLst>
          </p:cNvPr>
          <p:cNvGrpSpPr/>
          <p:nvPr/>
        </p:nvGrpSpPr>
        <p:grpSpPr>
          <a:xfrm>
            <a:off x="1270000" y="4419600"/>
            <a:ext cx="6654800" cy="2003084"/>
            <a:chOff x="1270000" y="4419600"/>
            <a:chExt cx="6654800" cy="2003084"/>
          </a:xfrm>
        </p:grpSpPr>
        <p:sp>
          <p:nvSpPr>
            <p:cNvPr id="36" name="Rectangle 62">
              <a:extLst>
                <a:ext uri="{FF2B5EF4-FFF2-40B4-BE49-F238E27FC236}">
                  <a16:creationId xmlns:a16="http://schemas.microsoft.com/office/drawing/2014/main" id="{45B0D941-B4ED-4E04-BF37-BD0A90F89E58}"/>
                </a:ext>
              </a:extLst>
            </p:cNvPr>
            <p:cNvSpPr>
              <a:spLocks noChangeArrowheads="1"/>
            </p:cNvSpPr>
            <p:nvPr/>
          </p:nvSpPr>
          <p:spPr bwMode="auto">
            <a:xfrm>
              <a:off x="3681412" y="4443976"/>
              <a:ext cx="1117600" cy="72889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TextBox 63">
              <a:extLst>
                <a:ext uri="{FF2B5EF4-FFF2-40B4-BE49-F238E27FC236}">
                  <a16:creationId xmlns:a16="http://schemas.microsoft.com/office/drawing/2014/main" id="{D081FF7A-05D7-4FB9-8DCB-DFD949B9590C}"/>
                </a:ext>
              </a:extLst>
            </p:cNvPr>
            <p:cNvSpPr txBox="1">
              <a:spLocks noChangeArrowheads="1"/>
            </p:cNvSpPr>
            <p:nvPr/>
          </p:nvSpPr>
          <p:spPr bwMode="auto">
            <a:xfrm>
              <a:off x="3739356" y="4516437"/>
              <a:ext cx="1044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Register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File</a:t>
              </a:r>
            </a:p>
          </p:txBody>
        </p:sp>
        <p:sp>
          <p:nvSpPr>
            <p:cNvPr id="38" name="Rectangle 64">
              <a:extLst>
                <a:ext uri="{FF2B5EF4-FFF2-40B4-BE49-F238E27FC236}">
                  <a16:creationId xmlns:a16="http://schemas.microsoft.com/office/drawing/2014/main" id="{9729D1FD-481B-4CCB-919C-D8659DBE162B}"/>
                </a:ext>
              </a:extLst>
            </p:cNvPr>
            <p:cNvSpPr>
              <a:spLocks noChangeArrowheads="1"/>
            </p:cNvSpPr>
            <p:nvPr/>
          </p:nvSpPr>
          <p:spPr bwMode="auto">
            <a:xfrm>
              <a:off x="5767387" y="4419600"/>
              <a:ext cx="1117600" cy="4302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 name="Rectangle 65">
              <a:extLst>
                <a:ext uri="{FF2B5EF4-FFF2-40B4-BE49-F238E27FC236}">
                  <a16:creationId xmlns:a16="http://schemas.microsoft.com/office/drawing/2014/main" id="{0B200255-527E-4320-A3B5-C5364D4C0AF3}"/>
                </a:ext>
              </a:extLst>
            </p:cNvPr>
            <p:cNvSpPr>
              <a:spLocks noChangeArrowheads="1"/>
            </p:cNvSpPr>
            <p:nvPr/>
          </p:nvSpPr>
          <p:spPr bwMode="auto">
            <a:xfrm>
              <a:off x="5767387" y="5038725"/>
              <a:ext cx="1117600" cy="4302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 name="Rectangle 66">
              <a:extLst>
                <a:ext uri="{FF2B5EF4-FFF2-40B4-BE49-F238E27FC236}">
                  <a16:creationId xmlns:a16="http://schemas.microsoft.com/office/drawing/2014/main" id="{CE4AFD8C-0E03-4EFD-A7B8-3E1EEAE510FB}"/>
                </a:ext>
              </a:extLst>
            </p:cNvPr>
            <p:cNvSpPr>
              <a:spLocks noChangeArrowheads="1"/>
            </p:cNvSpPr>
            <p:nvPr/>
          </p:nvSpPr>
          <p:spPr bwMode="auto">
            <a:xfrm>
              <a:off x="5767387" y="5621337"/>
              <a:ext cx="1117600" cy="428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TextBox 67">
              <a:extLst>
                <a:ext uri="{FF2B5EF4-FFF2-40B4-BE49-F238E27FC236}">
                  <a16:creationId xmlns:a16="http://schemas.microsoft.com/office/drawing/2014/main" id="{F61425AF-7EEB-47FB-AA80-555BA4875157}"/>
                </a:ext>
              </a:extLst>
            </p:cNvPr>
            <p:cNvSpPr txBox="1">
              <a:spLocks noChangeArrowheads="1"/>
            </p:cNvSpPr>
            <p:nvPr/>
          </p:nvSpPr>
          <p:spPr bwMode="auto">
            <a:xfrm>
              <a:off x="5713412" y="4465637"/>
              <a:ext cx="1171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Func Unit</a:t>
              </a:r>
            </a:p>
          </p:txBody>
        </p:sp>
        <p:sp>
          <p:nvSpPr>
            <p:cNvPr id="42" name="TextBox 68">
              <a:extLst>
                <a:ext uri="{FF2B5EF4-FFF2-40B4-BE49-F238E27FC236}">
                  <a16:creationId xmlns:a16="http://schemas.microsoft.com/office/drawing/2014/main" id="{DC37306E-FDA6-4983-9AF6-11F38CC911EC}"/>
                </a:ext>
              </a:extLst>
            </p:cNvPr>
            <p:cNvSpPr txBox="1">
              <a:spLocks noChangeArrowheads="1"/>
            </p:cNvSpPr>
            <p:nvPr/>
          </p:nvSpPr>
          <p:spPr bwMode="auto">
            <a:xfrm>
              <a:off x="5737225" y="5062537"/>
              <a:ext cx="1171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Func Unit</a:t>
              </a:r>
            </a:p>
          </p:txBody>
        </p:sp>
        <p:sp>
          <p:nvSpPr>
            <p:cNvPr id="43" name="TextBox 69">
              <a:extLst>
                <a:ext uri="{FF2B5EF4-FFF2-40B4-BE49-F238E27FC236}">
                  <a16:creationId xmlns:a16="http://schemas.microsoft.com/office/drawing/2014/main" id="{8626BA5B-28A5-4E82-A14B-5F1F827D991B}"/>
                </a:ext>
              </a:extLst>
            </p:cNvPr>
            <p:cNvSpPr txBox="1">
              <a:spLocks noChangeArrowheads="1"/>
            </p:cNvSpPr>
            <p:nvPr/>
          </p:nvSpPr>
          <p:spPr bwMode="auto">
            <a:xfrm>
              <a:off x="5732462" y="5657850"/>
              <a:ext cx="1171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Func Unit</a:t>
              </a:r>
            </a:p>
          </p:txBody>
        </p:sp>
        <p:sp>
          <p:nvSpPr>
            <p:cNvPr id="44" name="Rectangle 70">
              <a:extLst>
                <a:ext uri="{FF2B5EF4-FFF2-40B4-BE49-F238E27FC236}">
                  <a16:creationId xmlns:a16="http://schemas.microsoft.com/office/drawing/2014/main" id="{79F9371F-2EB1-418C-95C1-2CB5E2917823}"/>
                </a:ext>
              </a:extLst>
            </p:cNvPr>
            <p:cNvSpPr>
              <a:spLocks noChangeArrowheads="1"/>
            </p:cNvSpPr>
            <p:nvPr/>
          </p:nvSpPr>
          <p:spPr bwMode="auto">
            <a:xfrm>
              <a:off x="3720679" y="5430837"/>
              <a:ext cx="1081270" cy="74136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TextBox 71">
              <a:extLst>
                <a:ext uri="{FF2B5EF4-FFF2-40B4-BE49-F238E27FC236}">
                  <a16:creationId xmlns:a16="http://schemas.microsoft.com/office/drawing/2014/main" id="{C769FE84-5498-4A14-9131-F5F385EBFA8A}"/>
                </a:ext>
              </a:extLst>
            </p:cNvPr>
            <p:cNvSpPr txBox="1">
              <a:spLocks noChangeArrowheads="1"/>
            </p:cNvSpPr>
            <p:nvPr/>
          </p:nvSpPr>
          <p:spPr bwMode="auto">
            <a:xfrm>
              <a:off x="3744492" y="5508069"/>
              <a:ext cx="10695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Reorder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p:txBody>
        </p:sp>
        <p:cxnSp>
          <p:nvCxnSpPr>
            <p:cNvPr id="46" name="Straight Connector 73">
              <a:extLst>
                <a:ext uri="{FF2B5EF4-FFF2-40B4-BE49-F238E27FC236}">
                  <a16:creationId xmlns:a16="http://schemas.microsoft.com/office/drawing/2014/main" id="{15B24114-8016-44E0-B0AD-1DB999CE7791}"/>
                </a:ext>
              </a:extLst>
            </p:cNvPr>
            <p:cNvCxnSpPr>
              <a:cxnSpLocks noChangeShapeType="1"/>
            </p:cNvCxnSpPr>
            <p:nvPr/>
          </p:nvCxnSpPr>
          <p:spPr bwMode="auto">
            <a:xfrm rot="5400000">
              <a:off x="6883399" y="5240338"/>
              <a:ext cx="1177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7" name="Straight Arrow Connector 75">
              <a:extLst>
                <a:ext uri="{FF2B5EF4-FFF2-40B4-BE49-F238E27FC236}">
                  <a16:creationId xmlns:a16="http://schemas.microsoft.com/office/drawing/2014/main" id="{6014E97D-133A-4208-B906-380858E38753}"/>
                </a:ext>
              </a:extLst>
            </p:cNvPr>
            <p:cNvCxnSpPr>
              <a:cxnSpLocks noChangeShapeType="1"/>
              <a:stCxn id="41" idx="3"/>
            </p:cNvCxnSpPr>
            <p:nvPr/>
          </p:nvCxnSpPr>
          <p:spPr bwMode="auto">
            <a:xfrm>
              <a:off x="6884987" y="4651375"/>
              <a:ext cx="5873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 name="Straight Arrow Connector 77">
              <a:extLst>
                <a:ext uri="{FF2B5EF4-FFF2-40B4-BE49-F238E27FC236}">
                  <a16:creationId xmlns:a16="http://schemas.microsoft.com/office/drawing/2014/main" id="{2DB14352-8F25-4B70-947C-0722AE90C75B}"/>
                </a:ext>
              </a:extLst>
            </p:cNvPr>
            <p:cNvCxnSpPr>
              <a:cxnSpLocks noChangeShapeType="1"/>
              <a:stCxn id="42" idx="3"/>
            </p:cNvCxnSpPr>
            <p:nvPr/>
          </p:nvCxnSpPr>
          <p:spPr bwMode="auto">
            <a:xfrm>
              <a:off x="6908800" y="5246687"/>
              <a:ext cx="563562"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9" name="Straight Arrow Connector 79">
              <a:extLst>
                <a:ext uri="{FF2B5EF4-FFF2-40B4-BE49-F238E27FC236}">
                  <a16:creationId xmlns:a16="http://schemas.microsoft.com/office/drawing/2014/main" id="{CCF71A09-75C7-4714-A02B-3CF90D8A2F94}"/>
                </a:ext>
              </a:extLst>
            </p:cNvPr>
            <p:cNvCxnSpPr>
              <a:cxnSpLocks noChangeShapeType="1"/>
              <a:stCxn id="43" idx="3"/>
            </p:cNvCxnSpPr>
            <p:nvPr/>
          </p:nvCxnSpPr>
          <p:spPr bwMode="auto">
            <a:xfrm flipV="1">
              <a:off x="6904037" y="5829300"/>
              <a:ext cx="568325" cy="127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0" name="Straight Arrow Connector 83">
              <a:extLst>
                <a:ext uri="{FF2B5EF4-FFF2-40B4-BE49-F238E27FC236}">
                  <a16:creationId xmlns:a16="http://schemas.microsoft.com/office/drawing/2014/main" id="{939F8F39-F39E-4B95-851B-7DDC0436FBBB}"/>
                </a:ext>
              </a:extLst>
            </p:cNvPr>
            <p:cNvCxnSpPr>
              <a:cxnSpLocks noChangeShapeType="1"/>
            </p:cNvCxnSpPr>
            <p:nvPr/>
          </p:nvCxnSpPr>
          <p:spPr bwMode="auto">
            <a:xfrm flipV="1">
              <a:off x="7472362" y="5246687"/>
              <a:ext cx="452438" cy="0"/>
            </a:xfrm>
            <a:prstGeom prst="straightConnector1">
              <a:avLst/>
            </a:prstGeom>
            <a:noFill/>
            <a:ln w="25400">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51" name="Straight Connector 87">
              <a:extLst>
                <a:ext uri="{FF2B5EF4-FFF2-40B4-BE49-F238E27FC236}">
                  <a16:creationId xmlns:a16="http://schemas.microsoft.com/office/drawing/2014/main" id="{15F9A9AC-CD2C-4C7A-9E1E-35B5E9896537}"/>
                </a:ext>
              </a:extLst>
            </p:cNvPr>
            <p:cNvCxnSpPr>
              <a:cxnSpLocks noChangeShapeType="1"/>
              <a:stCxn id="44" idx="2"/>
            </p:cNvCxnSpPr>
            <p:nvPr/>
          </p:nvCxnSpPr>
          <p:spPr bwMode="auto">
            <a:xfrm>
              <a:off x="4261314" y="6172200"/>
              <a:ext cx="0" cy="22225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52" name="Straight Connector 89">
              <a:extLst>
                <a:ext uri="{FF2B5EF4-FFF2-40B4-BE49-F238E27FC236}">
                  <a16:creationId xmlns:a16="http://schemas.microsoft.com/office/drawing/2014/main" id="{9AD8D27A-6924-4EE1-9899-4313AEA6673D}"/>
                </a:ext>
              </a:extLst>
            </p:cNvPr>
            <p:cNvCxnSpPr>
              <a:cxnSpLocks noChangeShapeType="1"/>
            </p:cNvCxnSpPr>
            <p:nvPr/>
          </p:nvCxnSpPr>
          <p:spPr bwMode="auto">
            <a:xfrm flipH="1" flipV="1">
              <a:off x="4244231" y="6380970"/>
              <a:ext cx="3680569" cy="12699"/>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cxnSp>
        <p:cxnSp>
          <p:nvCxnSpPr>
            <p:cNvPr id="53" name="Straight Arrow Connector 91">
              <a:extLst>
                <a:ext uri="{FF2B5EF4-FFF2-40B4-BE49-F238E27FC236}">
                  <a16:creationId xmlns:a16="http://schemas.microsoft.com/office/drawing/2014/main" id="{436C5D69-F0A1-408C-8715-CDD47B1439CE}"/>
                </a:ext>
              </a:extLst>
            </p:cNvPr>
            <p:cNvCxnSpPr>
              <a:cxnSpLocks noChangeShapeType="1"/>
              <a:stCxn id="44" idx="0"/>
              <a:endCxn id="37" idx="2"/>
            </p:cNvCxnSpPr>
            <p:nvPr/>
          </p:nvCxnSpPr>
          <p:spPr bwMode="auto">
            <a:xfrm flipV="1">
              <a:off x="4261314" y="5162549"/>
              <a:ext cx="330" cy="268288"/>
            </a:xfrm>
            <a:prstGeom prst="straightConnector1">
              <a:avLst/>
            </a:prstGeom>
            <a:noFill/>
            <a:ln w="25400">
              <a:solidFill>
                <a:srgbClr val="0432FF"/>
              </a:solidFill>
              <a:round/>
              <a:headEnd/>
              <a:tailEnd type="arrow" w="med" len="med"/>
            </a:ln>
            <a:extLst>
              <a:ext uri="{909E8E84-426E-40DD-AFC4-6F175D3DCCD1}">
                <a14:hiddenFill xmlns:a14="http://schemas.microsoft.com/office/drawing/2010/main">
                  <a:noFill/>
                </a14:hiddenFill>
              </a:ext>
            </a:extLst>
          </p:spPr>
        </p:cxnSp>
        <p:cxnSp>
          <p:nvCxnSpPr>
            <p:cNvPr id="54" name="Straight Connector 96">
              <a:extLst>
                <a:ext uri="{FF2B5EF4-FFF2-40B4-BE49-F238E27FC236}">
                  <a16:creationId xmlns:a16="http://schemas.microsoft.com/office/drawing/2014/main" id="{334820BC-F13F-434F-B421-236A2112DF86}"/>
                </a:ext>
              </a:extLst>
            </p:cNvPr>
            <p:cNvCxnSpPr>
              <a:cxnSpLocks noChangeShapeType="1"/>
              <a:stCxn id="36" idx="3"/>
            </p:cNvCxnSpPr>
            <p:nvPr/>
          </p:nvCxnSpPr>
          <p:spPr bwMode="auto">
            <a:xfrm>
              <a:off x="4799012" y="4808423"/>
              <a:ext cx="4063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5" name="Straight Connector 100">
              <a:extLst>
                <a:ext uri="{FF2B5EF4-FFF2-40B4-BE49-F238E27FC236}">
                  <a16:creationId xmlns:a16="http://schemas.microsoft.com/office/drawing/2014/main" id="{112776AB-5743-43AC-AEF0-9B5BBE162030}"/>
                </a:ext>
              </a:extLst>
            </p:cNvPr>
            <p:cNvCxnSpPr>
              <a:cxnSpLocks noChangeShapeType="1"/>
            </p:cNvCxnSpPr>
            <p:nvPr/>
          </p:nvCxnSpPr>
          <p:spPr bwMode="auto">
            <a:xfrm rot="5400000">
              <a:off x="4592637" y="5251450"/>
              <a:ext cx="1177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6" name="Straight Arrow Connector 101">
              <a:extLst>
                <a:ext uri="{FF2B5EF4-FFF2-40B4-BE49-F238E27FC236}">
                  <a16:creationId xmlns:a16="http://schemas.microsoft.com/office/drawing/2014/main" id="{4AD5C42C-D76C-4AC9-880F-C6EC6AD8735C}"/>
                </a:ext>
              </a:extLst>
            </p:cNvPr>
            <p:cNvCxnSpPr>
              <a:cxnSpLocks noChangeShapeType="1"/>
            </p:cNvCxnSpPr>
            <p:nvPr/>
          </p:nvCxnSpPr>
          <p:spPr bwMode="auto">
            <a:xfrm>
              <a:off x="5181600" y="4648200"/>
              <a:ext cx="585787"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 name="Straight Arrow Connector 102">
              <a:extLst>
                <a:ext uri="{FF2B5EF4-FFF2-40B4-BE49-F238E27FC236}">
                  <a16:creationId xmlns:a16="http://schemas.microsoft.com/office/drawing/2014/main" id="{5D9D746A-FB7C-42A5-B025-E0404A8B6275}"/>
                </a:ext>
              </a:extLst>
            </p:cNvPr>
            <p:cNvCxnSpPr>
              <a:cxnSpLocks noChangeShapeType="1"/>
            </p:cNvCxnSpPr>
            <p:nvPr/>
          </p:nvCxnSpPr>
          <p:spPr bwMode="auto">
            <a:xfrm>
              <a:off x="5205412" y="5245100"/>
              <a:ext cx="56197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8" name="Straight Arrow Connector 103">
              <a:extLst>
                <a:ext uri="{FF2B5EF4-FFF2-40B4-BE49-F238E27FC236}">
                  <a16:creationId xmlns:a16="http://schemas.microsoft.com/office/drawing/2014/main" id="{103ABC1F-9220-487B-BDDD-D92C81A75CAF}"/>
                </a:ext>
              </a:extLst>
            </p:cNvPr>
            <p:cNvCxnSpPr>
              <a:cxnSpLocks noChangeShapeType="1"/>
            </p:cNvCxnSpPr>
            <p:nvPr/>
          </p:nvCxnSpPr>
          <p:spPr bwMode="auto">
            <a:xfrm>
              <a:off x="5181600" y="5826125"/>
              <a:ext cx="585787"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9" name="Rectangle 107">
              <a:extLst>
                <a:ext uri="{FF2B5EF4-FFF2-40B4-BE49-F238E27FC236}">
                  <a16:creationId xmlns:a16="http://schemas.microsoft.com/office/drawing/2014/main" id="{B3ACA36A-D5B4-427C-8992-997D0F12F12C}"/>
                </a:ext>
              </a:extLst>
            </p:cNvPr>
            <p:cNvSpPr>
              <a:spLocks noChangeArrowheads="1"/>
            </p:cNvSpPr>
            <p:nvPr/>
          </p:nvSpPr>
          <p:spPr bwMode="auto">
            <a:xfrm>
              <a:off x="1336675" y="4516437"/>
              <a:ext cx="1117600" cy="14605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 name="TextBox 108">
              <a:extLst>
                <a:ext uri="{FF2B5EF4-FFF2-40B4-BE49-F238E27FC236}">
                  <a16:creationId xmlns:a16="http://schemas.microsoft.com/office/drawing/2014/main" id="{5C6F416E-915C-4B83-BC32-E12924D19AA1}"/>
                </a:ext>
              </a:extLst>
            </p:cNvPr>
            <p:cNvSpPr txBox="1">
              <a:spLocks noChangeArrowheads="1"/>
            </p:cNvSpPr>
            <p:nvPr/>
          </p:nvSpPr>
          <p:spPr bwMode="auto">
            <a:xfrm>
              <a:off x="1270000" y="4886325"/>
              <a:ext cx="12493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Instruction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cxnSp>
          <p:nvCxnSpPr>
            <p:cNvPr id="61" name="Straight Arrow Connector 112">
              <a:extLst>
                <a:ext uri="{FF2B5EF4-FFF2-40B4-BE49-F238E27FC236}">
                  <a16:creationId xmlns:a16="http://schemas.microsoft.com/office/drawing/2014/main" id="{9C30174C-9F87-41F0-B4C2-9C8513B76E19}"/>
                </a:ext>
              </a:extLst>
            </p:cNvPr>
            <p:cNvCxnSpPr>
              <a:cxnSpLocks noChangeShapeType="1"/>
            </p:cNvCxnSpPr>
            <p:nvPr/>
          </p:nvCxnSpPr>
          <p:spPr bwMode="auto">
            <a:xfrm flipV="1">
              <a:off x="2454275" y="5245100"/>
              <a:ext cx="598487" cy="1587"/>
            </a:xfrm>
            <a:prstGeom prst="straightConnector1">
              <a:avLst/>
            </a:prstGeom>
            <a:noFill/>
            <a:ln w="9525">
              <a:solidFill>
                <a:schemeClr val="tx1"/>
              </a:solidFill>
              <a:prstDash val="solid"/>
              <a:round/>
              <a:headEnd/>
              <a:tailEnd type="arrow" w="med" len="med"/>
            </a:ln>
            <a:extLst>
              <a:ext uri="{909E8E84-426E-40DD-AFC4-6F175D3DCCD1}">
                <a14:hiddenFill xmlns:a14="http://schemas.microsoft.com/office/drawing/2010/main">
                  <a:noFill/>
                </a14:hiddenFill>
              </a:ext>
            </a:extLst>
          </p:spPr>
        </p:cxnSp>
        <p:sp>
          <p:nvSpPr>
            <p:cNvPr id="62" name="TextBox 71">
              <a:extLst>
                <a:ext uri="{FF2B5EF4-FFF2-40B4-BE49-F238E27FC236}">
                  <a16:creationId xmlns:a16="http://schemas.microsoft.com/office/drawing/2014/main" id="{9973788A-1F11-4BC4-ACAB-4D2FF521F877}"/>
                </a:ext>
              </a:extLst>
            </p:cNvPr>
            <p:cNvSpPr txBox="1">
              <a:spLocks noChangeArrowheads="1"/>
            </p:cNvSpPr>
            <p:nvPr/>
          </p:nvSpPr>
          <p:spPr bwMode="auto">
            <a:xfrm>
              <a:off x="5196271" y="6053352"/>
              <a:ext cx="2621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FF0000"/>
                  </a:solidFill>
                  <a:cs typeface="Arial" panose="020B0604020202020204" pitchFamily="34" charset="0"/>
                </a:rPr>
                <a:t>Complete out-of-order</a:t>
              </a:r>
            </a:p>
          </p:txBody>
        </p:sp>
        <p:sp>
          <p:nvSpPr>
            <p:cNvPr id="63" name="TextBox 72">
              <a:extLst>
                <a:ext uri="{FF2B5EF4-FFF2-40B4-BE49-F238E27FC236}">
                  <a16:creationId xmlns:a16="http://schemas.microsoft.com/office/drawing/2014/main" id="{E385ADB1-150C-40AC-A738-D23CE4200B7D}"/>
                </a:ext>
              </a:extLst>
            </p:cNvPr>
            <p:cNvSpPr txBox="1">
              <a:spLocks noChangeArrowheads="1"/>
            </p:cNvSpPr>
            <p:nvPr/>
          </p:nvSpPr>
          <p:spPr bwMode="auto">
            <a:xfrm>
              <a:off x="4252753" y="4928284"/>
              <a:ext cx="11079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0432FF"/>
                  </a:solidFill>
                  <a:cs typeface="Arial" panose="020B0604020202020204" pitchFamily="34" charset="0"/>
                </a:rPr>
                <a:t>Commit </a:t>
              </a:r>
            </a:p>
            <a:p>
              <a:pPr eaLnBrk="1" hangingPunct="1"/>
              <a:r>
                <a:rPr lang="en-US" altLang="en-US" sz="1800" b="1" dirty="0">
                  <a:solidFill>
                    <a:srgbClr val="0432FF"/>
                  </a:solidFill>
                  <a:cs typeface="Arial" panose="020B0604020202020204" pitchFamily="34" charset="0"/>
                </a:rPr>
                <a:t>in order</a:t>
              </a:r>
            </a:p>
          </p:txBody>
        </p:sp>
        <p:cxnSp>
          <p:nvCxnSpPr>
            <p:cNvPr id="64" name="Straight Arrow Connector 83">
              <a:extLst>
                <a:ext uri="{FF2B5EF4-FFF2-40B4-BE49-F238E27FC236}">
                  <a16:creationId xmlns:a16="http://schemas.microsoft.com/office/drawing/2014/main" id="{FC56A6C5-0718-41F3-8F96-B78A4C0C733B}"/>
                </a:ext>
              </a:extLst>
            </p:cNvPr>
            <p:cNvCxnSpPr>
              <a:cxnSpLocks noChangeShapeType="1"/>
            </p:cNvCxnSpPr>
            <p:nvPr/>
          </p:nvCxnSpPr>
          <p:spPr bwMode="auto">
            <a:xfrm>
              <a:off x="7924800" y="5246688"/>
              <a:ext cx="0" cy="1146981"/>
            </a:xfrm>
            <a:prstGeom prst="straightConnector1">
              <a:avLst/>
            </a:prstGeom>
            <a:noFill/>
            <a:ln w="25400">
              <a:solidFill>
                <a:srgbClr val="FF0000"/>
              </a:solidFill>
              <a:round/>
              <a:headEnd/>
              <a:tailEnd type="none" w="med" len="med"/>
            </a:ln>
            <a:extLst>
              <a:ext uri="{909E8E84-426E-40DD-AFC4-6F175D3DCCD1}">
                <a14:hiddenFill xmlns:a14="http://schemas.microsoft.com/office/drawing/2010/main">
                  <a:noFill/>
                </a14:hiddenFill>
              </a:ext>
            </a:extLst>
          </p:spPr>
        </p:cxnSp>
        <p:cxnSp>
          <p:nvCxnSpPr>
            <p:cNvPr id="65" name="Straight Connector 96">
              <a:extLst>
                <a:ext uri="{FF2B5EF4-FFF2-40B4-BE49-F238E27FC236}">
                  <a16:creationId xmlns:a16="http://schemas.microsoft.com/office/drawing/2014/main" id="{E2E9DCC5-618E-41BC-838A-32FE1586902A}"/>
                </a:ext>
              </a:extLst>
            </p:cNvPr>
            <p:cNvCxnSpPr>
              <a:cxnSpLocks noChangeShapeType="1"/>
            </p:cNvCxnSpPr>
            <p:nvPr/>
          </p:nvCxnSpPr>
          <p:spPr bwMode="auto">
            <a:xfrm>
              <a:off x="3052762" y="4808423"/>
              <a:ext cx="628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6" name="Straight Connector 96">
              <a:extLst>
                <a:ext uri="{FF2B5EF4-FFF2-40B4-BE49-F238E27FC236}">
                  <a16:creationId xmlns:a16="http://schemas.microsoft.com/office/drawing/2014/main" id="{B42E9DCD-31C3-4B54-BB73-3192FCE63E06}"/>
                </a:ext>
              </a:extLst>
            </p:cNvPr>
            <p:cNvCxnSpPr>
              <a:cxnSpLocks noChangeShapeType="1"/>
            </p:cNvCxnSpPr>
            <p:nvPr/>
          </p:nvCxnSpPr>
          <p:spPr bwMode="auto">
            <a:xfrm>
              <a:off x="3052762" y="5840413"/>
              <a:ext cx="66791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7" name="Straight Connector 96">
              <a:extLst>
                <a:ext uri="{FF2B5EF4-FFF2-40B4-BE49-F238E27FC236}">
                  <a16:creationId xmlns:a16="http://schemas.microsoft.com/office/drawing/2014/main" id="{4B315DBC-1321-4812-896E-764BB385BFDC}"/>
                </a:ext>
              </a:extLst>
            </p:cNvPr>
            <p:cNvCxnSpPr>
              <a:cxnSpLocks noChangeShapeType="1"/>
            </p:cNvCxnSpPr>
            <p:nvPr/>
          </p:nvCxnSpPr>
          <p:spPr bwMode="auto">
            <a:xfrm>
              <a:off x="3052762" y="4808423"/>
              <a:ext cx="0" cy="10319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8" name="TextBox 72">
              <a:extLst>
                <a:ext uri="{FF2B5EF4-FFF2-40B4-BE49-F238E27FC236}">
                  <a16:creationId xmlns:a16="http://schemas.microsoft.com/office/drawing/2014/main" id="{4C661E89-6DCE-4A47-A0DD-B6A04DE3D15C}"/>
                </a:ext>
              </a:extLst>
            </p:cNvPr>
            <p:cNvSpPr txBox="1">
              <a:spLocks noChangeArrowheads="1"/>
            </p:cNvSpPr>
            <p:nvPr/>
          </p:nvSpPr>
          <p:spPr bwMode="auto">
            <a:xfrm>
              <a:off x="2434188" y="4894834"/>
              <a:ext cx="1223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7030A0"/>
                  </a:solidFill>
                  <a:cs typeface="Arial" panose="020B0604020202020204" pitchFamily="34" charset="0"/>
                </a:rPr>
                <a:t>Decoded </a:t>
              </a:r>
            </a:p>
            <a:p>
              <a:pPr eaLnBrk="1" hangingPunct="1"/>
              <a:r>
                <a:rPr lang="en-US" altLang="en-US" sz="1800" b="1" dirty="0">
                  <a:solidFill>
                    <a:srgbClr val="7030A0"/>
                  </a:solidFill>
                  <a:cs typeface="Arial" panose="020B0604020202020204" pitchFamily="34" charset="0"/>
                </a:rPr>
                <a:t>in order</a:t>
              </a:r>
            </a:p>
          </p:txBody>
        </p:sp>
        <p:cxnSp>
          <p:nvCxnSpPr>
            <p:cNvPr id="69" name="Straight Connector 96">
              <a:extLst>
                <a:ext uri="{FF2B5EF4-FFF2-40B4-BE49-F238E27FC236}">
                  <a16:creationId xmlns:a16="http://schemas.microsoft.com/office/drawing/2014/main" id="{B385AB2B-E5FF-4FD6-BAE0-E775347654F3}"/>
                </a:ext>
              </a:extLst>
            </p:cNvPr>
            <p:cNvCxnSpPr>
              <a:cxnSpLocks noChangeShapeType="1"/>
            </p:cNvCxnSpPr>
            <p:nvPr/>
          </p:nvCxnSpPr>
          <p:spPr bwMode="auto">
            <a:xfrm>
              <a:off x="4775200" y="5801518"/>
              <a:ext cx="4063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5656176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4F5D23-83B6-A54C-B422-4C3DB9CC53E9}"/>
              </a:ext>
            </a:extLst>
          </p:cNvPr>
          <p:cNvSpPr/>
          <p:nvPr/>
        </p:nvSpPr>
        <p:spPr>
          <a:xfrm>
            <a:off x="-76200" y="-152400"/>
            <a:ext cx="9296400" cy="7086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extBox 5">
            <a:extLst>
              <a:ext uri="{FF2B5EF4-FFF2-40B4-BE49-F238E27FC236}">
                <a16:creationId xmlns:a16="http://schemas.microsoft.com/office/drawing/2014/main" id="{8ECE0B72-05DF-F948-856B-59981E3EEB36}"/>
              </a:ext>
            </a:extLst>
          </p:cNvPr>
          <p:cNvSpPr txBox="1"/>
          <p:nvPr/>
        </p:nvSpPr>
        <p:spPr>
          <a:xfrm>
            <a:off x="571500" y="2514600"/>
            <a:ext cx="8001000" cy="507831"/>
          </a:xfrm>
          <a:prstGeom prst="rect">
            <a:avLst/>
          </a:prstGeom>
          <a:noFill/>
        </p:spPr>
        <p:txBody>
          <a:bodyPr wrap="square" rtlCol="0">
            <a:spAutoFit/>
          </a:bodyPr>
          <a:lstStyle/>
          <a:p>
            <a:pPr algn="ctr"/>
            <a:r>
              <a:rPr lang="en-US" sz="2700" b="1" dirty="0">
                <a:solidFill>
                  <a:schemeClr val="bg1"/>
                </a:solidFill>
              </a:rPr>
              <a:t>Reorder</a:t>
            </a:r>
            <a:r>
              <a:rPr lang="zh-CN" altLang="en-US" sz="2700" b="1" dirty="0">
                <a:solidFill>
                  <a:schemeClr val="bg1"/>
                </a:solidFill>
              </a:rPr>
              <a:t> </a:t>
            </a:r>
            <a:r>
              <a:rPr lang="en-US" altLang="zh-CN" sz="2700" b="1" dirty="0">
                <a:solidFill>
                  <a:schemeClr val="bg1"/>
                </a:solidFill>
              </a:rPr>
              <a:t>buffer</a:t>
            </a:r>
            <a:r>
              <a:rPr lang="zh-CN" altLang="en-US" sz="2700" b="1" dirty="0">
                <a:solidFill>
                  <a:schemeClr val="bg1"/>
                </a:solidFill>
              </a:rPr>
              <a:t>类似临时工，没编制。</a:t>
            </a:r>
            <a:endParaRPr lang="en-US" sz="2700" b="1" u="sng" dirty="0">
              <a:solidFill>
                <a:schemeClr val="bg1"/>
              </a:solidFill>
            </a:endParaRPr>
          </a:p>
        </p:txBody>
      </p:sp>
      <p:sp>
        <p:nvSpPr>
          <p:cNvPr id="7" name="TextBox 6">
            <a:extLst>
              <a:ext uri="{FF2B5EF4-FFF2-40B4-BE49-F238E27FC236}">
                <a16:creationId xmlns:a16="http://schemas.microsoft.com/office/drawing/2014/main" id="{021E5588-DD5E-3F47-89C1-F8EA3B645B49}"/>
              </a:ext>
            </a:extLst>
          </p:cNvPr>
          <p:cNvSpPr txBox="1"/>
          <p:nvPr/>
        </p:nvSpPr>
        <p:spPr>
          <a:xfrm>
            <a:off x="593761" y="3962400"/>
            <a:ext cx="8001000" cy="507831"/>
          </a:xfrm>
          <a:prstGeom prst="rect">
            <a:avLst/>
          </a:prstGeom>
          <a:noFill/>
        </p:spPr>
        <p:txBody>
          <a:bodyPr wrap="square" rtlCol="0">
            <a:spAutoFit/>
          </a:bodyPr>
          <a:lstStyle/>
          <a:p>
            <a:pPr algn="ctr"/>
            <a:r>
              <a:rPr lang="en-CN" sz="2700" b="1" dirty="0">
                <a:solidFill>
                  <a:schemeClr val="bg1"/>
                </a:solidFill>
              </a:rPr>
              <a:t>出问题就怪</a:t>
            </a:r>
            <a:r>
              <a:rPr lang="zh-CN" altLang="en-US" sz="2700" b="1" dirty="0">
                <a:solidFill>
                  <a:schemeClr val="bg1"/>
                </a:solidFill>
              </a:rPr>
              <a:t>临时工。</a:t>
            </a:r>
            <a:endParaRPr lang="en-US" sz="2700" b="1" u="sng" dirty="0">
              <a:solidFill>
                <a:schemeClr val="bg1"/>
              </a:solidFill>
            </a:endParaRPr>
          </a:p>
        </p:txBody>
      </p:sp>
    </p:spTree>
    <p:extLst>
      <p:ext uri="{BB962C8B-B14F-4D97-AF65-F5344CB8AC3E}">
        <p14:creationId xmlns:p14="http://schemas.microsoft.com/office/powerpoint/2010/main" val="14168696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BDF035FC-A59B-EA47-A5EB-B4051FCC6318}"/>
              </a:ext>
            </a:extLst>
          </p:cNvPr>
          <p:cNvSpPr>
            <a:spLocks noGrp="1" noChangeArrowheads="1"/>
          </p:cNvSpPr>
          <p:nvPr>
            <p:ph type="title"/>
          </p:nvPr>
        </p:nvSpPr>
        <p:spPr/>
        <p:txBody>
          <a:bodyPr/>
          <a:lstStyle/>
          <a:p>
            <a:r>
              <a:rPr lang="en-US" altLang="en-US">
                <a:ea typeface="ＭＳ Ｐゴシック" panose="020B0600070205080204" pitchFamily="34" charset="-128"/>
              </a:rPr>
              <a:t>What’s in a ROB Entry?</a:t>
            </a:r>
          </a:p>
        </p:txBody>
      </p:sp>
      <p:sp>
        <p:nvSpPr>
          <p:cNvPr id="113666" name="Content Placeholder 2">
            <a:extLst>
              <a:ext uri="{FF2B5EF4-FFF2-40B4-BE49-F238E27FC236}">
                <a16:creationId xmlns:a16="http://schemas.microsoft.com/office/drawing/2014/main" id="{B491D3EC-5DC5-9746-9285-BF976808CD4E}"/>
              </a:ext>
            </a:extLst>
          </p:cNvPr>
          <p:cNvSpPr>
            <a:spLocks noGrp="1"/>
          </p:cNvSpPr>
          <p:nvPr>
            <p:ph idx="1"/>
          </p:nvPr>
        </p:nvSpPr>
        <p:spPr>
          <a:xfrm>
            <a:off x="228600" y="996950"/>
            <a:ext cx="8610600" cy="5480050"/>
          </a:xfrm>
        </p:spPr>
        <p:txBody>
          <a:bodyPr>
            <a:normAutofit/>
          </a:bodyPr>
          <a:lstStyle/>
          <a:p>
            <a:pPr>
              <a:buFont typeface="Wingdings" charset="2"/>
              <a:buChar char="n"/>
              <a:defRPr/>
            </a:pPr>
            <a:endParaRPr lang="en-US" altLang="en-US" dirty="0">
              <a:ea typeface="ＭＳ Ｐゴシック" charset="-128"/>
            </a:endParaRPr>
          </a:p>
          <a:p>
            <a:pPr>
              <a:buFont typeface="Wingdings" charset="2"/>
              <a:buChar char="n"/>
              <a:defRPr/>
            </a:pPr>
            <a:endParaRPr lang="en-US" altLang="en-US" dirty="0">
              <a:ea typeface="ＭＳ Ｐゴシック" charset="-128"/>
            </a:endParaRPr>
          </a:p>
          <a:p>
            <a:pPr>
              <a:buFont typeface="Wingdings" charset="2"/>
              <a:buNone/>
              <a:defRPr/>
            </a:pPr>
            <a:endParaRPr lang="en-US" altLang="en-US" dirty="0">
              <a:ea typeface="ＭＳ Ｐゴシック" charset="-128"/>
            </a:endParaRPr>
          </a:p>
          <a:p>
            <a:pPr>
              <a:buFont typeface="Wingdings" charset="2"/>
              <a:buChar char="n"/>
              <a:defRPr/>
            </a:pPr>
            <a:r>
              <a:rPr lang="en-US" altLang="en-US" dirty="0">
                <a:ea typeface="ＭＳ Ｐゴシック" charset="-128"/>
              </a:rPr>
              <a:t>ROBs need to:</a:t>
            </a:r>
          </a:p>
          <a:p>
            <a:pPr lvl="1">
              <a:buFont typeface="Wingdings" charset="2"/>
              <a:buChar char="q"/>
              <a:defRPr/>
            </a:pPr>
            <a:r>
              <a:rPr lang="en-US" altLang="en-US" dirty="0">
                <a:solidFill>
                  <a:srgbClr val="004D26"/>
                </a:solidFill>
                <a:ea typeface="ＭＳ Ｐゴシック" charset="-128"/>
              </a:rPr>
              <a:t>1, correctly reorder instructions </a:t>
            </a:r>
            <a:r>
              <a:rPr lang="en-US" altLang="en-US" dirty="0">
                <a:ea typeface="ＭＳ Ｐゴシック" charset="-128"/>
              </a:rPr>
              <a:t>back into the program order</a:t>
            </a:r>
          </a:p>
          <a:p>
            <a:pPr lvl="1">
              <a:buFont typeface="Wingdings" charset="2"/>
              <a:buChar char="q"/>
              <a:defRPr/>
            </a:pPr>
            <a:r>
              <a:rPr lang="en-US" altLang="en-US" dirty="0">
                <a:solidFill>
                  <a:srgbClr val="0000FF"/>
                </a:solidFill>
                <a:ea typeface="ＭＳ Ｐゴシック" charset="-128"/>
              </a:rPr>
              <a:t>2, update the architectural state </a:t>
            </a:r>
            <a:r>
              <a:rPr lang="en-US" altLang="en-US" dirty="0">
                <a:ea typeface="ＭＳ Ｐゴシック" charset="-128"/>
              </a:rPr>
              <a:t>with the instruction’s result(s), if instruction can retire without any issues</a:t>
            </a:r>
          </a:p>
          <a:p>
            <a:pPr lvl="1">
              <a:buFont typeface="Wingdings" charset="2"/>
              <a:buChar char="q"/>
              <a:defRPr/>
            </a:pPr>
            <a:r>
              <a:rPr lang="en-US" altLang="en-US" dirty="0">
                <a:solidFill>
                  <a:srgbClr val="FF0000"/>
                </a:solidFill>
                <a:ea typeface="ＭＳ Ｐゴシック" charset="-128"/>
              </a:rPr>
              <a:t>3, handle an exception/interrupt precisely</a:t>
            </a:r>
            <a:r>
              <a:rPr lang="en-US" altLang="en-US" dirty="0">
                <a:ea typeface="ＭＳ Ｐゴシック" charset="-128"/>
              </a:rPr>
              <a:t>, if an exception/interrupt needs to be handled before retiring the instruction</a:t>
            </a:r>
          </a:p>
          <a:p>
            <a:pPr lvl="1">
              <a:buFont typeface="Wingdings" charset="2"/>
              <a:buChar char="q"/>
              <a:defRPr/>
            </a:pPr>
            <a:r>
              <a:rPr lang="en-US" altLang="en-US" dirty="0">
                <a:ea typeface="ＭＳ Ｐゴシック" charset="-128"/>
              </a:rPr>
              <a:t>4, use valid bits to keep track of readiness of the result(s) and find out if the instruction has completed execution</a:t>
            </a:r>
          </a:p>
        </p:txBody>
      </p:sp>
      <p:sp>
        <p:nvSpPr>
          <p:cNvPr id="55299" name="Slide Number Placeholder 3">
            <a:extLst>
              <a:ext uri="{FF2B5EF4-FFF2-40B4-BE49-F238E27FC236}">
                <a16:creationId xmlns:a16="http://schemas.microsoft.com/office/drawing/2014/main" id="{CA053AB0-5D3D-6945-B621-FF36B34E572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D9EDD34-AF9A-324A-992E-316B00A9082C}"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5" name="Rectangle 4">
            <a:extLst>
              <a:ext uri="{FF2B5EF4-FFF2-40B4-BE49-F238E27FC236}">
                <a16:creationId xmlns:a16="http://schemas.microsoft.com/office/drawing/2014/main" id="{E475E330-3DDC-C745-806C-488851C55308}"/>
              </a:ext>
            </a:extLst>
          </p:cNvPr>
          <p:cNvSpPr>
            <a:spLocks noChangeArrowheads="1"/>
          </p:cNvSpPr>
          <p:nvPr/>
        </p:nvSpPr>
        <p:spPr bwMode="auto">
          <a:xfrm>
            <a:off x="536575" y="1411288"/>
            <a:ext cx="8270875" cy="46196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 name="TextBox 5">
            <a:extLst>
              <a:ext uri="{FF2B5EF4-FFF2-40B4-BE49-F238E27FC236}">
                <a16:creationId xmlns:a16="http://schemas.microsoft.com/office/drawing/2014/main" id="{62A4C74E-2F97-DC4D-9DB4-2090C26D469A}"/>
              </a:ext>
            </a:extLst>
          </p:cNvPr>
          <p:cNvSpPr txBox="1">
            <a:spLocks noChangeArrowheads="1"/>
          </p:cNvSpPr>
          <p:nvPr/>
        </p:nvSpPr>
        <p:spPr bwMode="auto">
          <a:xfrm>
            <a:off x="533400" y="1466850"/>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4D26"/>
                </a:solidFill>
                <a:effectLst/>
                <a:uLnTx/>
                <a:uFillTx/>
                <a:latin typeface="Arial" panose="020B0604020202020204" pitchFamily="34" charset="0"/>
                <a:ea typeface="ＭＳ Ｐゴシック" panose="020B0600070205080204" pitchFamily="34" charset="-128"/>
                <a:cs typeface="+mn-cs"/>
              </a:rPr>
              <a:t>V</a:t>
            </a:r>
          </a:p>
        </p:txBody>
      </p:sp>
      <p:cxnSp>
        <p:nvCxnSpPr>
          <p:cNvPr id="7" name="Straight Connector 6">
            <a:extLst>
              <a:ext uri="{FF2B5EF4-FFF2-40B4-BE49-F238E27FC236}">
                <a16:creationId xmlns:a16="http://schemas.microsoft.com/office/drawing/2014/main" id="{6F23F955-DAE6-0C48-9DCF-AFF24C3E049A}"/>
              </a:ext>
            </a:extLst>
          </p:cNvPr>
          <p:cNvCxnSpPr>
            <a:cxnSpLocks noChangeShapeType="1"/>
          </p:cNvCxnSpPr>
          <p:nvPr/>
        </p:nvCxnSpPr>
        <p:spPr bwMode="auto">
          <a:xfrm rot="5400000">
            <a:off x="641351" y="1641475"/>
            <a:ext cx="461962"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8" name="TextBox 7">
            <a:extLst>
              <a:ext uri="{FF2B5EF4-FFF2-40B4-BE49-F238E27FC236}">
                <a16:creationId xmlns:a16="http://schemas.microsoft.com/office/drawing/2014/main" id="{FF7D6F04-91FF-894E-817C-D3CA210F1DB5}"/>
              </a:ext>
            </a:extLst>
          </p:cNvPr>
          <p:cNvSpPr txBox="1">
            <a:spLocks noChangeArrowheads="1"/>
          </p:cNvSpPr>
          <p:nvPr/>
        </p:nvSpPr>
        <p:spPr bwMode="auto">
          <a:xfrm>
            <a:off x="873125" y="1466850"/>
            <a:ext cx="1060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FF"/>
                </a:solidFill>
                <a:effectLst/>
                <a:uLnTx/>
                <a:uFillTx/>
                <a:latin typeface="Arial" panose="020B0604020202020204" pitchFamily="34" charset="0"/>
                <a:ea typeface="ＭＳ Ｐゴシック" panose="020B0600070205080204" pitchFamily="34" charset="-128"/>
                <a:cs typeface="+mn-cs"/>
              </a:rPr>
              <a:t>DestRegID</a:t>
            </a:r>
            <a:endParaRPr kumimoji="0" lang="en-US" altLang="en-US" sz="14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endParaRPr>
          </a:p>
        </p:txBody>
      </p:sp>
      <p:cxnSp>
        <p:nvCxnSpPr>
          <p:cNvPr id="9" name="Straight Connector 8">
            <a:extLst>
              <a:ext uri="{FF2B5EF4-FFF2-40B4-BE49-F238E27FC236}">
                <a16:creationId xmlns:a16="http://schemas.microsoft.com/office/drawing/2014/main" id="{E68D7897-6567-B347-82F5-B93865CA3A24}"/>
              </a:ext>
            </a:extLst>
          </p:cNvPr>
          <p:cNvCxnSpPr>
            <a:cxnSpLocks noChangeShapeType="1"/>
          </p:cNvCxnSpPr>
          <p:nvPr/>
        </p:nvCxnSpPr>
        <p:spPr bwMode="auto">
          <a:xfrm rot="5400000">
            <a:off x="1701801" y="1641475"/>
            <a:ext cx="461962"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0" name="TextBox 9">
            <a:extLst>
              <a:ext uri="{FF2B5EF4-FFF2-40B4-BE49-F238E27FC236}">
                <a16:creationId xmlns:a16="http://schemas.microsoft.com/office/drawing/2014/main" id="{6D446FDB-5655-5349-9DFA-BB6743E23F92}"/>
              </a:ext>
            </a:extLst>
          </p:cNvPr>
          <p:cNvSpPr txBox="1">
            <a:spLocks noChangeArrowheads="1"/>
          </p:cNvSpPr>
          <p:nvPr/>
        </p:nvSpPr>
        <p:spPr bwMode="auto">
          <a:xfrm>
            <a:off x="1933575" y="1466850"/>
            <a:ext cx="1128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FF"/>
                </a:solidFill>
                <a:effectLst/>
                <a:uLnTx/>
                <a:uFillTx/>
                <a:latin typeface="Arial" panose="020B0604020202020204" pitchFamily="34" charset="0"/>
                <a:ea typeface="ＭＳ Ｐゴシック" panose="020B0600070205080204" pitchFamily="34" charset="-128"/>
                <a:cs typeface="+mn-cs"/>
              </a:rPr>
              <a:t>DestRegVal</a:t>
            </a:r>
            <a:endParaRPr kumimoji="0" lang="en-US" altLang="en-US" sz="14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endParaRPr>
          </a:p>
        </p:txBody>
      </p:sp>
      <p:cxnSp>
        <p:nvCxnSpPr>
          <p:cNvPr id="11" name="Straight Connector 10">
            <a:extLst>
              <a:ext uri="{FF2B5EF4-FFF2-40B4-BE49-F238E27FC236}">
                <a16:creationId xmlns:a16="http://schemas.microsoft.com/office/drawing/2014/main" id="{5066C8A9-69D0-554E-AE61-36074963B0F0}"/>
              </a:ext>
            </a:extLst>
          </p:cNvPr>
          <p:cNvCxnSpPr>
            <a:cxnSpLocks noChangeShapeType="1"/>
          </p:cNvCxnSpPr>
          <p:nvPr/>
        </p:nvCxnSpPr>
        <p:spPr bwMode="auto">
          <a:xfrm rot="5400000">
            <a:off x="2830513" y="1641475"/>
            <a:ext cx="46196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DDA61E7B-A8F9-FA46-B8DC-18FA5BD0A92E}"/>
              </a:ext>
            </a:extLst>
          </p:cNvPr>
          <p:cNvSpPr txBox="1">
            <a:spLocks noChangeArrowheads="1"/>
          </p:cNvSpPr>
          <p:nvPr/>
        </p:nvSpPr>
        <p:spPr bwMode="auto">
          <a:xfrm>
            <a:off x="3057525" y="1465263"/>
            <a:ext cx="990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FF"/>
                </a:solidFill>
                <a:effectLst/>
                <a:uLnTx/>
                <a:uFillTx/>
                <a:latin typeface="Arial" panose="020B0604020202020204" pitchFamily="34" charset="0"/>
                <a:ea typeface="ＭＳ Ｐゴシック" panose="020B0600070205080204" pitchFamily="34" charset="-128"/>
                <a:cs typeface="+mn-cs"/>
              </a:rPr>
              <a:t>StoreAddr</a:t>
            </a:r>
            <a:endParaRPr kumimoji="0" lang="en-US" altLang="en-US" sz="14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endParaRPr>
          </a:p>
        </p:txBody>
      </p:sp>
      <p:sp>
        <p:nvSpPr>
          <p:cNvPr id="13" name="TextBox 12">
            <a:extLst>
              <a:ext uri="{FF2B5EF4-FFF2-40B4-BE49-F238E27FC236}">
                <a16:creationId xmlns:a16="http://schemas.microsoft.com/office/drawing/2014/main" id="{F1890D06-E9D1-DF4A-8B4D-65F0556192C2}"/>
              </a:ext>
            </a:extLst>
          </p:cNvPr>
          <p:cNvSpPr txBox="1">
            <a:spLocks noChangeArrowheads="1"/>
          </p:cNvSpPr>
          <p:nvPr/>
        </p:nvSpPr>
        <p:spPr bwMode="auto">
          <a:xfrm>
            <a:off x="4048125" y="1466850"/>
            <a:ext cx="9921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err="1">
                <a:ln>
                  <a:noFill/>
                </a:ln>
                <a:solidFill>
                  <a:srgbClr val="0000FF"/>
                </a:solidFill>
                <a:effectLst/>
                <a:uLnTx/>
                <a:uFillTx/>
                <a:latin typeface="Arial" panose="020B0604020202020204" pitchFamily="34" charset="0"/>
                <a:ea typeface="ＭＳ Ｐゴシック" panose="020B0600070205080204" pitchFamily="34" charset="-128"/>
                <a:cs typeface="+mn-cs"/>
              </a:rPr>
              <a:t>StoreData</a:t>
            </a:r>
            <a:endParaRPr kumimoji="0" lang="en-US" altLang="en-US" sz="14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endParaRPr>
          </a:p>
        </p:txBody>
      </p:sp>
      <p:cxnSp>
        <p:nvCxnSpPr>
          <p:cNvPr id="14" name="Straight Connector 13">
            <a:extLst>
              <a:ext uri="{FF2B5EF4-FFF2-40B4-BE49-F238E27FC236}">
                <a16:creationId xmlns:a16="http://schemas.microsoft.com/office/drawing/2014/main" id="{1B0E825D-9549-174B-B4F0-749388ABD9FB}"/>
              </a:ext>
            </a:extLst>
          </p:cNvPr>
          <p:cNvCxnSpPr>
            <a:cxnSpLocks noChangeShapeType="1"/>
          </p:cNvCxnSpPr>
          <p:nvPr/>
        </p:nvCxnSpPr>
        <p:spPr bwMode="auto">
          <a:xfrm rot="5400000">
            <a:off x="3816351" y="1641475"/>
            <a:ext cx="461962"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5" name="Straight Connector 14">
            <a:extLst>
              <a:ext uri="{FF2B5EF4-FFF2-40B4-BE49-F238E27FC236}">
                <a16:creationId xmlns:a16="http://schemas.microsoft.com/office/drawing/2014/main" id="{140B8896-52F2-8B4B-B7A8-C8607C9F6635}"/>
              </a:ext>
            </a:extLst>
          </p:cNvPr>
          <p:cNvCxnSpPr>
            <a:cxnSpLocks noChangeShapeType="1"/>
          </p:cNvCxnSpPr>
          <p:nvPr/>
        </p:nvCxnSpPr>
        <p:spPr bwMode="auto">
          <a:xfrm rot="5400000">
            <a:off x="4808538" y="1641475"/>
            <a:ext cx="46196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6" name="TextBox 15">
            <a:extLst>
              <a:ext uri="{FF2B5EF4-FFF2-40B4-BE49-F238E27FC236}">
                <a16:creationId xmlns:a16="http://schemas.microsoft.com/office/drawing/2014/main" id="{A88C18EB-21A2-B541-98A8-3D9169B7FF7F}"/>
              </a:ext>
            </a:extLst>
          </p:cNvPr>
          <p:cNvSpPr txBox="1">
            <a:spLocks noChangeArrowheads="1"/>
          </p:cNvSpPr>
          <p:nvPr/>
        </p:nvSpPr>
        <p:spPr bwMode="auto">
          <a:xfrm>
            <a:off x="5149850" y="1495425"/>
            <a:ext cx="433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PC</a:t>
            </a:r>
          </a:p>
        </p:txBody>
      </p:sp>
      <p:cxnSp>
        <p:nvCxnSpPr>
          <p:cNvPr id="17" name="Straight Connector 16">
            <a:extLst>
              <a:ext uri="{FF2B5EF4-FFF2-40B4-BE49-F238E27FC236}">
                <a16:creationId xmlns:a16="http://schemas.microsoft.com/office/drawing/2014/main" id="{4EE055D5-5795-F040-81E9-4D9734F716EA}"/>
              </a:ext>
            </a:extLst>
          </p:cNvPr>
          <p:cNvCxnSpPr>
            <a:cxnSpLocks noChangeShapeType="1"/>
          </p:cNvCxnSpPr>
          <p:nvPr/>
        </p:nvCxnSpPr>
        <p:spPr bwMode="auto">
          <a:xfrm rot="5400000">
            <a:off x="7396162" y="1639888"/>
            <a:ext cx="4619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18" name="Straight Connector 17">
            <a:extLst>
              <a:ext uri="{FF2B5EF4-FFF2-40B4-BE49-F238E27FC236}">
                <a16:creationId xmlns:a16="http://schemas.microsoft.com/office/drawing/2014/main" id="{B3609B7C-BBDD-0547-A432-EE6BA0132D0A}"/>
              </a:ext>
            </a:extLst>
          </p:cNvPr>
          <p:cNvCxnSpPr>
            <a:cxnSpLocks noChangeShapeType="1"/>
          </p:cNvCxnSpPr>
          <p:nvPr/>
        </p:nvCxnSpPr>
        <p:spPr bwMode="auto">
          <a:xfrm rot="5400000">
            <a:off x="5529262" y="1646238"/>
            <a:ext cx="4619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9" name="TextBox 18">
            <a:extLst>
              <a:ext uri="{FF2B5EF4-FFF2-40B4-BE49-F238E27FC236}">
                <a16:creationId xmlns:a16="http://schemas.microsoft.com/office/drawing/2014/main" id="{1DD920C1-652A-2F4F-AF9A-57447C3BA2B1}"/>
              </a:ext>
            </a:extLst>
          </p:cNvPr>
          <p:cNvSpPr txBox="1">
            <a:spLocks noChangeArrowheads="1"/>
          </p:cNvSpPr>
          <p:nvPr/>
        </p:nvSpPr>
        <p:spPr bwMode="auto">
          <a:xfrm flipH="1">
            <a:off x="5759450" y="1371600"/>
            <a:ext cx="1905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4D26"/>
                </a:solidFill>
                <a:effectLst/>
                <a:uLnTx/>
                <a:uFillTx/>
                <a:latin typeface="Arial" panose="020B0604020202020204" pitchFamily="34" charset="0"/>
                <a:ea typeface="ＭＳ Ｐゴシック" panose="020B0600070205080204" pitchFamily="34" charset="-128"/>
                <a:cs typeface="Arial" panose="020B0604020202020204" pitchFamily="34" charset="0"/>
              </a:rPr>
              <a:t>Valid bits for reg/data + control bits</a:t>
            </a:r>
          </a:p>
        </p:txBody>
      </p:sp>
      <p:sp>
        <p:nvSpPr>
          <p:cNvPr id="20" name="TextBox 19">
            <a:extLst>
              <a:ext uri="{FF2B5EF4-FFF2-40B4-BE49-F238E27FC236}">
                <a16:creationId xmlns:a16="http://schemas.microsoft.com/office/drawing/2014/main" id="{F658815D-50F2-5C4E-87CE-979C845C2EC7}"/>
              </a:ext>
            </a:extLst>
          </p:cNvPr>
          <p:cNvSpPr txBox="1">
            <a:spLocks noChangeArrowheads="1"/>
          </p:cNvSpPr>
          <p:nvPr/>
        </p:nvSpPr>
        <p:spPr bwMode="auto">
          <a:xfrm>
            <a:off x="7664450" y="1473200"/>
            <a:ext cx="1073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rPr>
              <a:t>Exception?</a:t>
            </a:r>
          </a:p>
        </p:txBody>
      </p:sp>
    </p:spTree>
    <p:extLst>
      <p:ext uri="{BB962C8B-B14F-4D97-AF65-F5344CB8AC3E}">
        <p14:creationId xmlns:p14="http://schemas.microsoft.com/office/powerpoint/2010/main" val="37253567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66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66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66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6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19F232A8-A4F9-0242-90DD-DF23B5E95E3A}"/>
              </a:ext>
            </a:extLst>
          </p:cNvPr>
          <p:cNvSpPr>
            <a:spLocks noGrp="1" noChangeArrowheads="1"/>
          </p:cNvSpPr>
          <p:nvPr>
            <p:ph type="title"/>
          </p:nvPr>
        </p:nvSpPr>
        <p:spPr/>
        <p:txBody>
          <a:bodyPr/>
          <a:lstStyle/>
          <a:p>
            <a:r>
              <a:rPr lang="en-US" altLang="en-US" dirty="0">
                <a:ea typeface="ＭＳ Ｐゴシック" panose="020B0600070205080204" pitchFamily="34" charset="-128"/>
              </a:rPr>
              <a:t>Reorder Buffer: Independent Operations</a:t>
            </a:r>
          </a:p>
        </p:txBody>
      </p:sp>
      <p:sp>
        <p:nvSpPr>
          <p:cNvPr id="3" name="Content Placeholder 2">
            <a:extLst>
              <a:ext uri="{FF2B5EF4-FFF2-40B4-BE49-F238E27FC236}">
                <a16:creationId xmlns:a16="http://schemas.microsoft.com/office/drawing/2014/main" id="{708F48D5-EEC0-FE4F-AACE-C5B1B2E5031E}"/>
              </a:ext>
            </a:extLst>
          </p:cNvPr>
          <p:cNvSpPr>
            <a:spLocks noGrp="1" noChangeArrowheads="1"/>
          </p:cNvSpPr>
          <p:nvPr>
            <p:ph idx="1"/>
          </p:nvPr>
        </p:nvSpPr>
        <p:spPr>
          <a:xfrm>
            <a:off x="228600" y="996950"/>
            <a:ext cx="8915400" cy="5194300"/>
          </a:xfrm>
        </p:spPr>
        <p:txBody>
          <a:bodyPr/>
          <a:lstStyle/>
          <a:p>
            <a:r>
              <a:rPr lang="en-US" altLang="en-US" b="1" dirty="0">
                <a:ea typeface="ＭＳ Ｐゴシック" panose="020B0600070205080204" pitchFamily="34" charset="-128"/>
              </a:rPr>
              <a:t>Indirection</a:t>
            </a:r>
            <a:r>
              <a:rPr lang="en-US" altLang="en-US" dirty="0">
                <a:ea typeface="ＭＳ Ｐゴシック" panose="020B0600070205080204" pitchFamily="34" charset="-128"/>
              </a:rPr>
              <a:t>: </a:t>
            </a:r>
          </a:p>
          <a:p>
            <a:pPr lvl="1"/>
            <a:r>
              <a:rPr lang="en-US" altLang="en-US" dirty="0">
                <a:ea typeface="ＭＳ Ｐゴシック" panose="020B0600070205080204" pitchFamily="34" charset="-128"/>
              </a:rPr>
              <a:t>1, Result first written to ROB on instruction completion</a:t>
            </a:r>
          </a:p>
          <a:p>
            <a:pPr lvl="1"/>
            <a:r>
              <a:rPr lang="en-US" altLang="en-US" dirty="0">
                <a:ea typeface="ＭＳ Ｐゴシック" panose="020B0600070205080204" pitchFamily="34" charset="-128"/>
              </a:rPr>
              <a:t>2, Result written to register file at commit time</a:t>
            </a: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a:p>
            <a:pPr marL="0" indent="0">
              <a:buNone/>
            </a:pPr>
            <a:endParaRPr lang="en-US" altLang="en-US" dirty="0">
              <a:ea typeface="ＭＳ Ｐゴシック" panose="020B0600070205080204" pitchFamily="34" charset="-128"/>
            </a:endParaRPr>
          </a:p>
          <a:p>
            <a:r>
              <a:rPr lang="en-US" altLang="en-US" dirty="0">
                <a:ea typeface="ＭＳ Ｐゴシック" panose="020B0600070205080204" pitchFamily="34" charset="-128"/>
              </a:rPr>
              <a:t>What if a later instruction needs a value in the reorder buffer?</a:t>
            </a:r>
          </a:p>
          <a:p>
            <a:pPr lvl="1"/>
            <a:r>
              <a:rPr lang="en-US" altLang="en-US" b="1" dirty="0">
                <a:ea typeface="ＭＳ Ｐゴシック" panose="020B0600070205080204" pitchFamily="34" charset="-128"/>
              </a:rPr>
              <a:t>One option</a:t>
            </a:r>
            <a:r>
              <a:rPr lang="en-US" altLang="en-US" dirty="0">
                <a:ea typeface="ＭＳ Ｐゴシック" panose="020B0600070205080204" pitchFamily="34" charset="-128"/>
              </a:rPr>
              <a:t>: stall the operation </a:t>
            </a:r>
            <a:r>
              <a:rPr lang="en-US" altLang="en-US" dirty="0">
                <a:ea typeface="ＭＳ Ｐゴシック" panose="020B0600070205080204" pitchFamily="34" charset="-128"/>
                <a:sym typeface="Wingdings" pitchFamily="2" charset="2"/>
              </a:rPr>
              <a:t> stall the pipeline</a:t>
            </a:r>
            <a:endParaRPr lang="en-US" altLang="en-US" dirty="0">
              <a:ea typeface="ＭＳ Ｐゴシック" panose="020B0600070205080204" pitchFamily="34" charset="-128"/>
            </a:endParaRPr>
          </a:p>
          <a:p>
            <a:pPr lvl="1"/>
            <a:r>
              <a:rPr lang="en-US" altLang="en-US" b="1" dirty="0">
                <a:ea typeface="ＭＳ Ｐゴシック" panose="020B0600070205080204" pitchFamily="34" charset="-128"/>
              </a:rPr>
              <a:t>Better</a:t>
            </a:r>
            <a:r>
              <a:rPr lang="en-US" altLang="en-US" dirty="0">
                <a:ea typeface="ＭＳ Ｐゴシック" panose="020B0600070205080204" pitchFamily="34" charset="-128"/>
              </a:rPr>
              <a:t>: Read the value from the reorder buffer. </a:t>
            </a:r>
            <a:r>
              <a:rPr lang="en-US" altLang="en-US" dirty="0">
                <a:solidFill>
                  <a:srgbClr val="FF0000"/>
                </a:solidFill>
                <a:ea typeface="ＭＳ Ｐゴシック" panose="020B0600070205080204" pitchFamily="34" charset="-128"/>
              </a:rPr>
              <a:t>How?</a:t>
            </a:r>
          </a:p>
        </p:txBody>
      </p:sp>
      <p:sp>
        <p:nvSpPr>
          <p:cNvPr id="56323" name="Slide Number Placeholder 3">
            <a:extLst>
              <a:ext uri="{FF2B5EF4-FFF2-40B4-BE49-F238E27FC236}">
                <a16:creationId xmlns:a16="http://schemas.microsoft.com/office/drawing/2014/main" id="{BC5FCB81-7E6B-6644-8A58-252068A670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6A7C767-6FBB-9B4E-AD84-1BAFADD4C2E9}"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56324" name="Rectangle 10">
            <a:extLst>
              <a:ext uri="{FF2B5EF4-FFF2-40B4-BE49-F238E27FC236}">
                <a16:creationId xmlns:a16="http://schemas.microsoft.com/office/drawing/2014/main" id="{7CE50908-278A-C540-813D-2B85E28DD6EA}"/>
              </a:ext>
            </a:extLst>
          </p:cNvPr>
          <p:cNvSpPr>
            <a:spLocks noChangeArrowheads="1"/>
          </p:cNvSpPr>
          <p:nvPr/>
        </p:nvSpPr>
        <p:spPr bwMode="auto">
          <a:xfrm>
            <a:off x="1241425" y="2655888"/>
            <a:ext cx="401637"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25" name="Rectangle 11">
            <a:extLst>
              <a:ext uri="{FF2B5EF4-FFF2-40B4-BE49-F238E27FC236}">
                <a16:creationId xmlns:a16="http://schemas.microsoft.com/office/drawing/2014/main" id="{7E0AE161-B4B4-1F44-B9BF-477B713DE6B5}"/>
              </a:ext>
            </a:extLst>
          </p:cNvPr>
          <p:cNvSpPr>
            <a:spLocks noChangeArrowheads="1"/>
          </p:cNvSpPr>
          <p:nvPr/>
        </p:nvSpPr>
        <p:spPr bwMode="auto">
          <a:xfrm>
            <a:off x="1643062" y="2655888"/>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26" name="Rectangle 12">
            <a:extLst>
              <a:ext uri="{FF2B5EF4-FFF2-40B4-BE49-F238E27FC236}">
                <a16:creationId xmlns:a16="http://schemas.microsoft.com/office/drawing/2014/main" id="{46233E36-E0F9-6344-91D3-C337841D330C}"/>
              </a:ext>
            </a:extLst>
          </p:cNvPr>
          <p:cNvSpPr>
            <a:spLocks noChangeArrowheads="1"/>
          </p:cNvSpPr>
          <p:nvPr/>
        </p:nvSpPr>
        <p:spPr bwMode="auto">
          <a:xfrm>
            <a:off x="2046287" y="2655888"/>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27" name="Rectangle 13">
            <a:extLst>
              <a:ext uri="{FF2B5EF4-FFF2-40B4-BE49-F238E27FC236}">
                <a16:creationId xmlns:a16="http://schemas.microsoft.com/office/drawing/2014/main" id="{D59ECD1E-4C28-CA47-89C6-DE1CBC3DFBE4}"/>
              </a:ext>
            </a:extLst>
          </p:cNvPr>
          <p:cNvSpPr>
            <a:spLocks noChangeArrowheads="1"/>
          </p:cNvSpPr>
          <p:nvPr/>
        </p:nvSpPr>
        <p:spPr bwMode="auto">
          <a:xfrm>
            <a:off x="5672137" y="2655888"/>
            <a:ext cx="401638" cy="369887"/>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nvGrpSpPr>
          <p:cNvPr id="56328" name="Group 8">
            <a:extLst>
              <a:ext uri="{FF2B5EF4-FFF2-40B4-BE49-F238E27FC236}">
                <a16:creationId xmlns:a16="http://schemas.microsoft.com/office/drawing/2014/main" id="{4C29C432-034D-534E-870B-12C623E6084B}"/>
              </a:ext>
            </a:extLst>
          </p:cNvPr>
          <p:cNvGrpSpPr>
            <a:grpSpLocks/>
          </p:cNvGrpSpPr>
          <p:nvPr/>
        </p:nvGrpSpPr>
        <p:grpSpPr bwMode="auto">
          <a:xfrm>
            <a:off x="838200" y="2286000"/>
            <a:ext cx="4430712" cy="369888"/>
            <a:chOff x="2953332" y="2410731"/>
            <a:chExt cx="4430823" cy="369318"/>
          </a:xfrm>
        </p:grpSpPr>
        <p:sp>
          <p:nvSpPr>
            <p:cNvPr id="56363" name="Rectangle 5">
              <a:extLst>
                <a:ext uri="{FF2B5EF4-FFF2-40B4-BE49-F238E27FC236}">
                  <a16:creationId xmlns:a16="http://schemas.microsoft.com/office/drawing/2014/main" id="{42A633E2-8466-2242-B237-265E8AEA255E}"/>
                </a:ext>
              </a:extLst>
            </p:cNvPr>
            <p:cNvSpPr>
              <a:spLocks noChangeArrowheads="1"/>
            </p:cNvSpPr>
            <p:nvPr/>
          </p:nvSpPr>
          <p:spPr bwMode="auto">
            <a:xfrm>
              <a:off x="2953332"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64" name="Rectangle 6">
              <a:extLst>
                <a:ext uri="{FF2B5EF4-FFF2-40B4-BE49-F238E27FC236}">
                  <a16:creationId xmlns:a16="http://schemas.microsoft.com/office/drawing/2014/main" id="{E724DDFF-76F4-D64F-945D-5E02F028ABF4}"/>
                </a:ext>
              </a:extLst>
            </p:cNvPr>
            <p:cNvSpPr>
              <a:spLocks noChangeArrowheads="1"/>
            </p:cNvSpPr>
            <p:nvPr/>
          </p:nvSpPr>
          <p:spPr bwMode="auto">
            <a:xfrm>
              <a:off x="3356134"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65" name="Rectangle 7">
              <a:extLst>
                <a:ext uri="{FF2B5EF4-FFF2-40B4-BE49-F238E27FC236}">
                  <a16:creationId xmlns:a16="http://schemas.microsoft.com/office/drawing/2014/main" id="{CD6F595A-C61C-7843-B161-B8DA5291D5C6}"/>
                </a:ext>
              </a:extLst>
            </p:cNvPr>
            <p:cNvSpPr>
              <a:spLocks noChangeArrowheads="1"/>
            </p:cNvSpPr>
            <p:nvPr/>
          </p:nvSpPr>
          <p:spPr bwMode="auto">
            <a:xfrm>
              <a:off x="3758937"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66" name="Rectangle 8">
              <a:extLst>
                <a:ext uri="{FF2B5EF4-FFF2-40B4-BE49-F238E27FC236}">
                  <a16:creationId xmlns:a16="http://schemas.microsoft.com/office/drawing/2014/main" id="{3796D9FF-72DB-D24E-8FB2-4E210518FE07}"/>
                </a:ext>
              </a:extLst>
            </p:cNvPr>
            <p:cNvSpPr>
              <a:spLocks noChangeArrowheads="1"/>
            </p:cNvSpPr>
            <p:nvPr/>
          </p:nvSpPr>
          <p:spPr bwMode="auto">
            <a:xfrm>
              <a:off x="6981353" y="2410731"/>
              <a:ext cx="402802" cy="369318"/>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67" name="Rectangle 7">
              <a:extLst>
                <a:ext uri="{FF2B5EF4-FFF2-40B4-BE49-F238E27FC236}">
                  <a16:creationId xmlns:a16="http://schemas.microsoft.com/office/drawing/2014/main" id="{F405FEE0-FA22-6646-A863-D22C504F3B4D}"/>
                </a:ext>
              </a:extLst>
            </p:cNvPr>
            <p:cNvSpPr>
              <a:spLocks noChangeArrowheads="1"/>
            </p:cNvSpPr>
            <p:nvPr/>
          </p:nvSpPr>
          <p:spPr bwMode="auto">
            <a:xfrm>
              <a:off x="4161739"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68" name="Rectangle 7">
              <a:extLst>
                <a:ext uri="{FF2B5EF4-FFF2-40B4-BE49-F238E27FC236}">
                  <a16:creationId xmlns:a16="http://schemas.microsoft.com/office/drawing/2014/main" id="{5FDC4BCA-E454-8247-BB6D-1D798EBDFC15}"/>
                </a:ext>
              </a:extLst>
            </p:cNvPr>
            <p:cNvSpPr>
              <a:spLocks noChangeArrowheads="1"/>
            </p:cNvSpPr>
            <p:nvPr/>
          </p:nvSpPr>
          <p:spPr bwMode="auto">
            <a:xfrm>
              <a:off x="4564541"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69" name="Rectangle 7">
              <a:extLst>
                <a:ext uri="{FF2B5EF4-FFF2-40B4-BE49-F238E27FC236}">
                  <a16:creationId xmlns:a16="http://schemas.microsoft.com/office/drawing/2014/main" id="{AA2AC57D-0C4A-4249-A4BF-85918B5EF1B2}"/>
                </a:ext>
              </a:extLst>
            </p:cNvPr>
            <p:cNvSpPr>
              <a:spLocks noChangeArrowheads="1"/>
            </p:cNvSpPr>
            <p:nvPr/>
          </p:nvSpPr>
          <p:spPr bwMode="auto">
            <a:xfrm>
              <a:off x="4967343"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70" name="Rectangle 7">
              <a:extLst>
                <a:ext uri="{FF2B5EF4-FFF2-40B4-BE49-F238E27FC236}">
                  <a16:creationId xmlns:a16="http://schemas.microsoft.com/office/drawing/2014/main" id="{913DD644-72A4-194E-A9A7-C072F206945D}"/>
                </a:ext>
              </a:extLst>
            </p:cNvPr>
            <p:cNvSpPr>
              <a:spLocks noChangeArrowheads="1"/>
            </p:cNvSpPr>
            <p:nvPr/>
          </p:nvSpPr>
          <p:spPr bwMode="auto">
            <a:xfrm>
              <a:off x="5370145"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71" name="Rectangle 7">
              <a:extLst>
                <a:ext uri="{FF2B5EF4-FFF2-40B4-BE49-F238E27FC236}">
                  <a16:creationId xmlns:a16="http://schemas.microsoft.com/office/drawing/2014/main" id="{0C788FFB-B34E-0541-8C54-E6F24DDDB7D2}"/>
                </a:ext>
              </a:extLst>
            </p:cNvPr>
            <p:cNvSpPr>
              <a:spLocks noChangeArrowheads="1"/>
            </p:cNvSpPr>
            <p:nvPr/>
          </p:nvSpPr>
          <p:spPr bwMode="auto">
            <a:xfrm>
              <a:off x="5772947"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72" name="Rectangle 7">
              <a:extLst>
                <a:ext uri="{FF2B5EF4-FFF2-40B4-BE49-F238E27FC236}">
                  <a16:creationId xmlns:a16="http://schemas.microsoft.com/office/drawing/2014/main" id="{09B087D8-5CC3-A141-9289-29391CABADAA}"/>
                </a:ext>
              </a:extLst>
            </p:cNvPr>
            <p:cNvSpPr>
              <a:spLocks noChangeArrowheads="1"/>
            </p:cNvSpPr>
            <p:nvPr/>
          </p:nvSpPr>
          <p:spPr bwMode="auto">
            <a:xfrm>
              <a:off x="6175749"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73" name="Rectangle 7">
              <a:extLst>
                <a:ext uri="{FF2B5EF4-FFF2-40B4-BE49-F238E27FC236}">
                  <a16:creationId xmlns:a16="http://schemas.microsoft.com/office/drawing/2014/main" id="{E36440A3-43AF-8246-9BC4-53899D1D44F5}"/>
                </a:ext>
              </a:extLst>
            </p:cNvPr>
            <p:cNvSpPr>
              <a:spLocks noChangeArrowheads="1"/>
            </p:cNvSpPr>
            <p:nvPr/>
          </p:nvSpPr>
          <p:spPr bwMode="auto">
            <a:xfrm>
              <a:off x="6578551" y="2410731"/>
              <a:ext cx="402802" cy="36931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sp>
        <p:nvSpPr>
          <p:cNvPr id="56329" name="Rectangle 10">
            <a:extLst>
              <a:ext uri="{FF2B5EF4-FFF2-40B4-BE49-F238E27FC236}">
                <a16:creationId xmlns:a16="http://schemas.microsoft.com/office/drawing/2014/main" id="{112AEFF7-FE2C-4842-831B-CDF0829A0197}"/>
              </a:ext>
            </a:extLst>
          </p:cNvPr>
          <p:cNvSpPr>
            <a:spLocks noChangeArrowheads="1"/>
          </p:cNvSpPr>
          <p:nvPr/>
        </p:nvSpPr>
        <p:spPr bwMode="auto">
          <a:xfrm>
            <a:off x="1643062" y="3025775"/>
            <a:ext cx="403225" cy="368300"/>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30" name="Rectangle 11">
            <a:extLst>
              <a:ext uri="{FF2B5EF4-FFF2-40B4-BE49-F238E27FC236}">
                <a16:creationId xmlns:a16="http://schemas.microsoft.com/office/drawing/2014/main" id="{0D544568-7F40-C349-A04B-282DFDE56177}"/>
              </a:ext>
            </a:extLst>
          </p:cNvPr>
          <p:cNvSpPr>
            <a:spLocks noChangeArrowheads="1"/>
          </p:cNvSpPr>
          <p:nvPr/>
        </p:nvSpPr>
        <p:spPr bwMode="auto">
          <a:xfrm>
            <a:off x="2046287" y="3025775"/>
            <a:ext cx="403225" cy="368300"/>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31" name="Rectangle 12">
            <a:extLst>
              <a:ext uri="{FF2B5EF4-FFF2-40B4-BE49-F238E27FC236}">
                <a16:creationId xmlns:a16="http://schemas.microsoft.com/office/drawing/2014/main" id="{16A3FBB4-622E-F042-B4A8-50602F8DFBA5}"/>
              </a:ext>
            </a:extLst>
          </p:cNvPr>
          <p:cNvSpPr>
            <a:spLocks noChangeArrowheads="1"/>
          </p:cNvSpPr>
          <p:nvPr/>
        </p:nvSpPr>
        <p:spPr bwMode="auto">
          <a:xfrm>
            <a:off x="2449512" y="3025775"/>
            <a:ext cx="401638" cy="368300"/>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32" name="Rectangle 13">
            <a:extLst>
              <a:ext uri="{FF2B5EF4-FFF2-40B4-BE49-F238E27FC236}">
                <a16:creationId xmlns:a16="http://schemas.microsoft.com/office/drawing/2014/main" id="{51EA46D3-A486-614D-85F5-85D4D9BD5B78}"/>
              </a:ext>
            </a:extLst>
          </p:cNvPr>
          <p:cNvSpPr>
            <a:spLocks noChangeArrowheads="1"/>
          </p:cNvSpPr>
          <p:nvPr/>
        </p:nvSpPr>
        <p:spPr bwMode="auto">
          <a:xfrm>
            <a:off x="6073775" y="3025775"/>
            <a:ext cx="403225" cy="368300"/>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56333" name="Rectangle 10">
            <a:extLst>
              <a:ext uri="{FF2B5EF4-FFF2-40B4-BE49-F238E27FC236}">
                <a16:creationId xmlns:a16="http://schemas.microsoft.com/office/drawing/2014/main" id="{E48F4506-88BD-084F-8DA5-107E5B362636}"/>
              </a:ext>
            </a:extLst>
          </p:cNvPr>
          <p:cNvSpPr>
            <a:spLocks noChangeArrowheads="1"/>
          </p:cNvSpPr>
          <p:nvPr/>
        </p:nvSpPr>
        <p:spPr bwMode="auto">
          <a:xfrm>
            <a:off x="2046287" y="3394075"/>
            <a:ext cx="403225"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34" name="Rectangle 11">
            <a:extLst>
              <a:ext uri="{FF2B5EF4-FFF2-40B4-BE49-F238E27FC236}">
                <a16:creationId xmlns:a16="http://schemas.microsoft.com/office/drawing/2014/main" id="{DB021E2E-8800-D147-8EA9-0B90ADC5E415}"/>
              </a:ext>
            </a:extLst>
          </p:cNvPr>
          <p:cNvSpPr>
            <a:spLocks noChangeArrowheads="1"/>
          </p:cNvSpPr>
          <p:nvPr/>
        </p:nvSpPr>
        <p:spPr bwMode="auto">
          <a:xfrm>
            <a:off x="2449512" y="3394075"/>
            <a:ext cx="401638"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35" name="Rectangle 12">
            <a:extLst>
              <a:ext uri="{FF2B5EF4-FFF2-40B4-BE49-F238E27FC236}">
                <a16:creationId xmlns:a16="http://schemas.microsoft.com/office/drawing/2014/main" id="{7D5D9FD2-FBA5-114E-8CCF-0034A8015521}"/>
              </a:ext>
            </a:extLst>
          </p:cNvPr>
          <p:cNvSpPr>
            <a:spLocks noChangeArrowheads="1"/>
          </p:cNvSpPr>
          <p:nvPr/>
        </p:nvSpPr>
        <p:spPr bwMode="auto">
          <a:xfrm>
            <a:off x="2851150" y="3394075"/>
            <a:ext cx="403225"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36" name="Rectangle 13">
            <a:extLst>
              <a:ext uri="{FF2B5EF4-FFF2-40B4-BE49-F238E27FC236}">
                <a16:creationId xmlns:a16="http://schemas.microsoft.com/office/drawing/2014/main" id="{ED371851-B223-CD4B-AC67-2FCA9D87E0F0}"/>
              </a:ext>
            </a:extLst>
          </p:cNvPr>
          <p:cNvSpPr>
            <a:spLocks noChangeArrowheads="1"/>
          </p:cNvSpPr>
          <p:nvPr/>
        </p:nvSpPr>
        <p:spPr bwMode="auto">
          <a:xfrm>
            <a:off x="3254375" y="3394075"/>
            <a:ext cx="403225" cy="369888"/>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37" name="Rectangle 10">
            <a:extLst>
              <a:ext uri="{FF2B5EF4-FFF2-40B4-BE49-F238E27FC236}">
                <a16:creationId xmlns:a16="http://schemas.microsoft.com/office/drawing/2014/main" id="{FA551E3F-5827-BC43-ACDE-473EF550D733}"/>
              </a:ext>
            </a:extLst>
          </p:cNvPr>
          <p:cNvSpPr>
            <a:spLocks noChangeArrowheads="1"/>
          </p:cNvSpPr>
          <p:nvPr/>
        </p:nvSpPr>
        <p:spPr bwMode="auto">
          <a:xfrm>
            <a:off x="2851150" y="4133850"/>
            <a:ext cx="403225" cy="368300"/>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38" name="Rectangle 11">
            <a:extLst>
              <a:ext uri="{FF2B5EF4-FFF2-40B4-BE49-F238E27FC236}">
                <a16:creationId xmlns:a16="http://schemas.microsoft.com/office/drawing/2014/main" id="{606736D1-1B5D-024F-A4E8-B8B21DD3EEEC}"/>
              </a:ext>
            </a:extLst>
          </p:cNvPr>
          <p:cNvSpPr>
            <a:spLocks noChangeArrowheads="1"/>
          </p:cNvSpPr>
          <p:nvPr/>
        </p:nvSpPr>
        <p:spPr bwMode="auto">
          <a:xfrm>
            <a:off x="3254375" y="4133850"/>
            <a:ext cx="403225" cy="368300"/>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39" name="Rectangle 12">
            <a:extLst>
              <a:ext uri="{FF2B5EF4-FFF2-40B4-BE49-F238E27FC236}">
                <a16:creationId xmlns:a16="http://schemas.microsoft.com/office/drawing/2014/main" id="{41776E8E-6A39-B246-9331-702D469F286D}"/>
              </a:ext>
            </a:extLst>
          </p:cNvPr>
          <p:cNvSpPr>
            <a:spLocks noChangeArrowheads="1"/>
          </p:cNvSpPr>
          <p:nvPr/>
        </p:nvSpPr>
        <p:spPr bwMode="auto">
          <a:xfrm>
            <a:off x="3657600" y="4133850"/>
            <a:ext cx="403225" cy="368300"/>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40" name="Rectangle 13">
            <a:extLst>
              <a:ext uri="{FF2B5EF4-FFF2-40B4-BE49-F238E27FC236}">
                <a16:creationId xmlns:a16="http://schemas.microsoft.com/office/drawing/2014/main" id="{23C6BF16-6C00-B542-8F64-2DE01DE6648F}"/>
              </a:ext>
            </a:extLst>
          </p:cNvPr>
          <p:cNvSpPr>
            <a:spLocks noChangeArrowheads="1"/>
          </p:cNvSpPr>
          <p:nvPr/>
        </p:nvSpPr>
        <p:spPr bwMode="auto">
          <a:xfrm>
            <a:off x="4060825" y="4133850"/>
            <a:ext cx="401637" cy="368300"/>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41" name="Rectangle 10">
            <a:extLst>
              <a:ext uri="{FF2B5EF4-FFF2-40B4-BE49-F238E27FC236}">
                <a16:creationId xmlns:a16="http://schemas.microsoft.com/office/drawing/2014/main" id="{4A633CDE-55A7-4944-8ABA-21719DA1D485}"/>
              </a:ext>
            </a:extLst>
          </p:cNvPr>
          <p:cNvSpPr>
            <a:spLocks noChangeArrowheads="1"/>
          </p:cNvSpPr>
          <p:nvPr/>
        </p:nvSpPr>
        <p:spPr bwMode="auto">
          <a:xfrm>
            <a:off x="3254375" y="450691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42" name="Rectangle 11">
            <a:extLst>
              <a:ext uri="{FF2B5EF4-FFF2-40B4-BE49-F238E27FC236}">
                <a16:creationId xmlns:a16="http://schemas.microsoft.com/office/drawing/2014/main" id="{28758DB4-2D73-BC40-A2A6-7E23025104DC}"/>
              </a:ext>
            </a:extLst>
          </p:cNvPr>
          <p:cNvSpPr>
            <a:spLocks noChangeArrowheads="1"/>
          </p:cNvSpPr>
          <p:nvPr/>
        </p:nvSpPr>
        <p:spPr bwMode="auto">
          <a:xfrm>
            <a:off x="3657600" y="450691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43" name="Rectangle 12">
            <a:extLst>
              <a:ext uri="{FF2B5EF4-FFF2-40B4-BE49-F238E27FC236}">
                <a16:creationId xmlns:a16="http://schemas.microsoft.com/office/drawing/2014/main" id="{6B662883-6995-C24E-9F74-0F236F369322}"/>
              </a:ext>
            </a:extLst>
          </p:cNvPr>
          <p:cNvSpPr>
            <a:spLocks noChangeArrowheads="1"/>
          </p:cNvSpPr>
          <p:nvPr/>
        </p:nvSpPr>
        <p:spPr bwMode="auto">
          <a:xfrm>
            <a:off x="4060825" y="4506913"/>
            <a:ext cx="401637"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44" name="Rectangle 13">
            <a:extLst>
              <a:ext uri="{FF2B5EF4-FFF2-40B4-BE49-F238E27FC236}">
                <a16:creationId xmlns:a16="http://schemas.microsoft.com/office/drawing/2014/main" id="{64BBD3F3-41FB-034B-BD88-A60F102A3FBF}"/>
              </a:ext>
            </a:extLst>
          </p:cNvPr>
          <p:cNvSpPr>
            <a:spLocks noChangeArrowheads="1"/>
          </p:cNvSpPr>
          <p:nvPr/>
        </p:nvSpPr>
        <p:spPr bwMode="auto">
          <a:xfrm>
            <a:off x="4462462" y="4506913"/>
            <a:ext cx="403225" cy="369887"/>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45" name="Rectangle 5">
            <a:extLst>
              <a:ext uri="{FF2B5EF4-FFF2-40B4-BE49-F238E27FC236}">
                <a16:creationId xmlns:a16="http://schemas.microsoft.com/office/drawing/2014/main" id="{9F8EBDE5-D031-184C-9470-6AF5B8439B1E}"/>
              </a:ext>
            </a:extLst>
          </p:cNvPr>
          <p:cNvSpPr>
            <a:spLocks noChangeArrowheads="1"/>
          </p:cNvSpPr>
          <p:nvPr/>
        </p:nvSpPr>
        <p:spPr bwMode="auto">
          <a:xfrm>
            <a:off x="2449512" y="3763963"/>
            <a:ext cx="40163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56346" name="Rectangle 6">
            <a:extLst>
              <a:ext uri="{FF2B5EF4-FFF2-40B4-BE49-F238E27FC236}">
                <a16:creationId xmlns:a16="http://schemas.microsoft.com/office/drawing/2014/main" id="{9D3A0B06-D0FE-9A43-A58E-88FBF0A490C0}"/>
              </a:ext>
            </a:extLst>
          </p:cNvPr>
          <p:cNvSpPr>
            <a:spLocks noChangeArrowheads="1"/>
          </p:cNvSpPr>
          <p:nvPr/>
        </p:nvSpPr>
        <p:spPr bwMode="auto">
          <a:xfrm>
            <a:off x="2851150"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sp>
        <p:nvSpPr>
          <p:cNvPr id="56347" name="Rectangle 7">
            <a:extLst>
              <a:ext uri="{FF2B5EF4-FFF2-40B4-BE49-F238E27FC236}">
                <a16:creationId xmlns:a16="http://schemas.microsoft.com/office/drawing/2014/main" id="{E003A3B0-5723-694C-8642-3BC2029DCA72}"/>
              </a:ext>
            </a:extLst>
          </p:cNvPr>
          <p:cNvSpPr>
            <a:spLocks noChangeArrowheads="1"/>
          </p:cNvSpPr>
          <p:nvPr/>
        </p:nvSpPr>
        <p:spPr bwMode="auto">
          <a:xfrm>
            <a:off x="3254375"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48" name="Rectangle 8">
            <a:extLst>
              <a:ext uri="{FF2B5EF4-FFF2-40B4-BE49-F238E27FC236}">
                <a16:creationId xmlns:a16="http://schemas.microsoft.com/office/drawing/2014/main" id="{7D6F6502-26A8-3248-A179-608474C07FE1}"/>
              </a:ext>
            </a:extLst>
          </p:cNvPr>
          <p:cNvSpPr>
            <a:spLocks noChangeArrowheads="1"/>
          </p:cNvSpPr>
          <p:nvPr/>
        </p:nvSpPr>
        <p:spPr bwMode="auto">
          <a:xfrm>
            <a:off x="6477000" y="3763963"/>
            <a:ext cx="403225" cy="369887"/>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49" name="Rectangle 7">
            <a:extLst>
              <a:ext uri="{FF2B5EF4-FFF2-40B4-BE49-F238E27FC236}">
                <a16:creationId xmlns:a16="http://schemas.microsoft.com/office/drawing/2014/main" id="{51AD7080-9D2B-E44F-8865-4C4CC3CE7DC6}"/>
              </a:ext>
            </a:extLst>
          </p:cNvPr>
          <p:cNvSpPr>
            <a:spLocks noChangeArrowheads="1"/>
          </p:cNvSpPr>
          <p:nvPr/>
        </p:nvSpPr>
        <p:spPr bwMode="auto">
          <a:xfrm>
            <a:off x="3657600"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0" name="Rectangle 7">
            <a:extLst>
              <a:ext uri="{FF2B5EF4-FFF2-40B4-BE49-F238E27FC236}">
                <a16:creationId xmlns:a16="http://schemas.microsoft.com/office/drawing/2014/main" id="{5C2D710B-9B1B-1547-9CBD-EFAA25500D22}"/>
              </a:ext>
            </a:extLst>
          </p:cNvPr>
          <p:cNvSpPr>
            <a:spLocks noChangeArrowheads="1"/>
          </p:cNvSpPr>
          <p:nvPr/>
        </p:nvSpPr>
        <p:spPr bwMode="auto">
          <a:xfrm>
            <a:off x="4060825" y="3763963"/>
            <a:ext cx="401637"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1" name="Rectangle 7">
            <a:extLst>
              <a:ext uri="{FF2B5EF4-FFF2-40B4-BE49-F238E27FC236}">
                <a16:creationId xmlns:a16="http://schemas.microsoft.com/office/drawing/2014/main" id="{DCA7CDE2-F04E-DA40-B79E-718A8E0653B8}"/>
              </a:ext>
            </a:extLst>
          </p:cNvPr>
          <p:cNvSpPr>
            <a:spLocks noChangeArrowheads="1"/>
          </p:cNvSpPr>
          <p:nvPr/>
        </p:nvSpPr>
        <p:spPr bwMode="auto">
          <a:xfrm>
            <a:off x="4462462"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2" name="Rectangle 7">
            <a:extLst>
              <a:ext uri="{FF2B5EF4-FFF2-40B4-BE49-F238E27FC236}">
                <a16:creationId xmlns:a16="http://schemas.microsoft.com/office/drawing/2014/main" id="{E6DE18AB-1634-1A43-BC23-21A1F1DC857D}"/>
              </a:ext>
            </a:extLst>
          </p:cNvPr>
          <p:cNvSpPr>
            <a:spLocks noChangeArrowheads="1"/>
          </p:cNvSpPr>
          <p:nvPr/>
        </p:nvSpPr>
        <p:spPr bwMode="auto">
          <a:xfrm>
            <a:off x="4865687"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3" name="Rectangle 7">
            <a:extLst>
              <a:ext uri="{FF2B5EF4-FFF2-40B4-BE49-F238E27FC236}">
                <a16:creationId xmlns:a16="http://schemas.microsoft.com/office/drawing/2014/main" id="{F4F20787-ABD6-D84B-93F3-3EBFA79A9E7F}"/>
              </a:ext>
            </a:extLst>
          </p:cNvPr>
          <p:cNvSpPr>
            <a:spLocks noChangeArrowheads="1"/>
          </p:cNvSpPr>
          <p:nvPr/>
        </p:nvSpPr>
        <p:spPr bwMode="auto">
          <a:xfrm>
            <a:off x="5268912"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4" name="Rectangle 7">
            <a:extLst>
              <a:ext uri="{FF2B5EF4-FFF2-40B4-BE49-F238E27FC236}">
                <a16:creationId xmlns:a16="http://schemas.microsoft.com/office/drawing/2014/main" id="{FCEF4EA4-82C4-1E43-980F-3CED9456CFF4}"/>
              </a:ext>
            </a:extLst>
          </p:cNvPr>
          <p:cNvSpPr>
            <a:spLocks noChangeArrowheads="1"/>
          </p:cNvSpPr>
          <p:nvPr/>
        </p:nvSpPr>
        <p:spPr bwMode="auto">
          <a:xfrm>
            <a:off x="5672137" y="3763963"/>
            <a:ext cx="40163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5" name="Rectangle 7">
            <a:extLst>
              <a:ext uri="{FF2B5EF4-FFF2-40B4-BE49-F238E27FC236}">
                <a16:creationId xmlns:a16="http://schemas.microsoft.com/office/drawing/2014/main" id="{13EB4F0E-5308-894E-975E-1CFEE238F87F}"/>
              </a:ext>
            </a:extLst>
          </p:cNvPr>
          <p:cNvSpPr>
            <a:spLocks noChangeArrowheads="1"/>
          </p:cNvSpPr>
          <p:nvPr/>
        </p:nvSpPr>
        <p:spPr bwMode="auto">
          <a:xfrm>
            <a:off x="6073775" y="37639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56356" name="Rectangle 13">
            <a:extLst>
              <a:ext uri="{FF2B5EF4-FFF2-40B4-BE49-F238E27FC236}">
                <a16:creationId xmlns:a16="http://schemas.microsoft.com/office/drawing/2014/main" id="{AB34C03B-68B1-3443-A114-B39FBBB4C91C}"/>
              </a:ext>
            </a:extLst>
          </p:cNvPr>
          <p:cNvSpPr>
            <a:spLocks noChangeArrowheads="1"/>
          </p:cNvSpPr>
          <p:nvPr/>
        </p:nvSpPr>
        <p:spPr bwMode="auto">
          <a:xfrm>
            <a:off x="5268912" y="2286000"/>
            <a:ext cx="403225" cy="369888"/>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56357" name="Rectangle 12">
            <a:extLst>
              <a:ext uri="{FF2B5EF4-FFF2-40B4-BE49-F238E27FC236}">
                <a16:creationId xmlns:a16="http://schemas.microsoft.com/office/drawing/2014/main" id="{CDBAD767-131F-C04D-8B53-1ACA2BCED87D}"/>
              </a:ext>
            </a:extLst>
          </p:cNvPr>
          <p:cNvSpPr>
            <a:spLocks noChangeArrowheads="1"/>
          </p:cNvSpPr>
          <p:nvPr/>
        </p:nvSpPr>
        <p:spPr bwMode="auto">
          <a:xfrm>
            <a:off x="2449512" y="2655888"/>
            <a:ext cx="401638" cy="369887"/>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58" name="Rectangle 12">
            <a:extLst>
              <a:ext uri="{FF2B5EF4-FFF2-40B4-BE49-F238E27FC236}">
                <a16:creationId xmlns:a16="http://schemas.microsoft.com/office/drawing/2014/main" id="{CAAB82A1-C8A9-F446-8E9A-18E82091CCBE}"/>
              </a:ext>
            </a:extLst>
          </p:cNvPr>
          <p:cNvSpPr>
            <a:spLocks noChangeArrowheads="1"/>
          </p:cNvSpPr>
          <p:nvPr/>
        </p:nvSpPr>
        <p:spPr bwMode="auto">
          <a:xfrm>
            <a:off x="2851150" y="3025775"/>
            <a:ext cx="403225" cy="368300"/>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6359" name="Rectangle 13">
            <a:extLst>
              <a:ext uri="{FF2B5EF4-FFF2-40B4-BE49-F238E27FC236}">
                <a16:creationId xmlns:a16="http://schemas.microsoft.com/office/drawing/2014/main" id="{BF6E0AAB-956F-3541-8E27-BB5F28B1E439}"/>
              </a:ext>
            </a:extLst>
          </p:cNvPr>
          <p:cNvSpPr>
            <a:spLocks noChangeArrowheads="1"/>
          </p:cNvSpPr>
          <p:nvPr/>
        </p:nvSpPr>
        <p:spPr bwMode="auto">
          <a:xfrm>
            <a:off x="6477000" y="3394075"/>
            <a:ext cx="403225" cy="369888"/>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56360" name="Rectangle 13">
            <a:extLst>
              <a:ext uri="{FF2B5EF4-FFF2-40B4-BE49-F238E27FC236}">
                <a16:creationId xmlns:a16="http://schemas.microsoft.com/office/drawing/2014/main" id="{8C6BD56C-CA10-2445-8193-1397E7C99F07}"/>
              </a:ext>
            </a:extLst>
          </p:cNvPr>
          <p:cNvSpPr>
            <a:spLocks noChangeArrowheads="1"/>
          </p:cNvSpPr>
          <p:nvPr/>
        </p:nvSpPr>
        <p:spPr bwMode="auto">
          <a:xfrm>
            <a:off x="6880225" y="3763963"/>
            <a:ext cx="403225" cy="369887"/>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56361" name="Rectangle 13">
            <a:extLst>
              <a:ext uri="{FF2B5EF4-FFF2-40B4-BE49-F238E27FC236}">
                <a16:creationId xmlns:a16="http://schemas.microsoft.com/office/drawing/2014/main" id="{83D02333-FB1F-9C4F-A1B8-D79B390EE62D}"/>
              </a:ext>
            </a:extLst>
          </p:cNvPr>
          <p:cNvSpPr>
            <a:spLocks noChangeArrowheads="1"/>
          </p:cNvSpPr>
          <p:nvPr/>
        </p:nvSpPr>
        <p:spPr bwMode="auto">
          <a:xfrm>
            <a:off x="7283450" y="4133850"/>
            <a:ext cx="401637" cy="368300"/>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
        <p:nvSpPr>
          <p:cNvPr id="56362" name="Rectangle 13">
            <a:extLst>
              <a:ext uri="{FF2B5EF4-FFF2-40B4-BE49-F238E27FC236}">
                <a16:creationId xmlns:a16="http://schemas.microsoft.com/office/drawing/2014/main" id="{A85DD4CC-B9EB-C749-B87B-E0BC194D995B}"/>
              </a:ext>
            </a:extLst>
          </p:cNvPr>
          <p:cNvSpPr>
            <a:spLocks noChangeArrowheads="1"/>
          </p:cNvSpPr>
          <p:nvPr/>
        </p:nvSpPr>
        <p:spPr bwMode="auto">
          <a:xfrm>
            <a:off x="7675562" y="4502150"/>
            <a:ext cx="403225" cy="369888"/>
          </a:xfrm>
          <a:prstGeom prst="rect">
            <a:avLst/>
          </a:prstGeom>
          <a:solidFill>
            <a:schemeClr val="bg2">
              <a:lumMod val="20000"/>
              <a:lumOff val="80000"/>
            </a:schemeClr>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spTree>
    <p:extLst>
      <p:ext uri="{BB962C8B-B14F-4D97-AF65-F5344CB8AC3E}">
        <p14:creationId xmlns:p14="http://schemas.microsoft.com/office/powerpoint/2010/main" val="13669774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0DCACF89-EE96-894E-B13B-6EE0B06AD725}"/>
              </a:ext>
            </a:extLst>
          </p:cNvPr>
          <p:cNvSpPr>
            <a:spLocks noGrp="1" noChangeArrowheads="1"/>
          </p:cNvSpPr>
          <p:nvPr>
            <p:ph type="title"/>
          </p:nvPr>
        </p:nvSpPr>
        <p:spPr/>
        <p:txBody>
          <a:bodyPr/>
          <a:lstStyle/>
          <a:p>
            <a:r>
              <a:rPr lang="en-US" altLang="en-US" dirty="0">
                <a:ea typeface="ＭＳ Ｐゴシック" panose="020B0600070205080204" pitchFamily="34" charset="-128"/>
              </a:rPr>
              <a:t>Reorder Buffer: Where to put?</a:t>
            </a:r>
          </a:p>
        </p:txBody>
      </p:sp>
      <p:sp>
        <p:nvSpPr>
          <p:cNvPr id="57346" name="Content Placeholder 2">
            <a:extLst>
              <a:ext uri="{FF2B5EF4-FFF2-40B4-BE49-F238E27FC236}">
                <a16:creationId xmlns:a16="http://schemas.microsoft.com/office/drawing/2014/main" id="{49402226-4421-0942-AE7B-3F05BC05114C}"/>
              </a:ext>
            </a:extLst>
          </p:cNvPr>
          <p:cNvSpPr>
            <a:spLocks noGrp="1" noChangeArrowheads="1"/>
          </p:cNvSpPr>
          <p:nvPr>
            <p:ph idx="1"/>
          </p:nvPr>
        </p:nvSpPr>
        <p:spPr>
          <a:xfrm>
            <a:off x="228600" y="996950"/>
            <a:ext cx="8610600" cy="5194300"/>
          </a:xfrm>
        </p:spPr>
        <p:txBody>
          <a:bodyPr/>
          <a:lstStyle/>
          <a:p>
            <a:r>
              <a:rPr lang="en-US" altLang="en-US" dirty="0">
                <a:ea typeface="ＭＳ Ｐゴシック" panose="020B0600070205080204" pitchFamily="34" charset="-128"/>
              </a:rPr>
              <a:t>A register value can be in the register file, reorder buffer.</a:t>
            </a:r>
          </a:p>
        </p:txBody>
      </p:sp>
      <p:sp>
        <p:nvSpPr>
          <p:cNvPr id="57347" name="Slide Number Placeholder 3">
            <a:extLst>
              <a:ext uri="{FF2B5EF4-FFF2-40B4-BE49-F238E27FC236}">
                <a16:creationId xmlns:a16="http://schemas.microsoft.com/office/drawing/2014/main" id="{1181AC76-5793-6C44-AC09-32F5F6F219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81CE4CC-BDE8-8F41-8269-6D83E9A9B42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57348" name="Rectangle 4">
            <a:extLst>
              <a:ext uri="{FF2B5EF4-FFF2-40B4-BE49-F238E27FC236}">
                <a16:creationId xmlns:a16="http://schemas.microsoft.com/office/drawing/2014/main" id="{F38BD251-B837-F941-81BF-0F31BA2682CD}"/>
              </a:ext>
            </a:extLst>
          </p:cNvPr>
          <p:cNvSpPr>
            <a:spLocks noChangeArrowheads="1"/>
          </p:cNvSpPr>
          <p:nvPr/>
        </p:nvSpPr>
        <p:spPr bwMode="auto">
          <a:xfrm>
            <a:off x="3044825" y="2195513"/>
            <a:ext cx="1117600" cy="14589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349" name="TextBox 5">
            <a:extLst>
              <a:ext uri="{FF2B5EF4-FFF2-40B4-BE49-F238E27FC236}">
                <a16:creationId xmlns:a16="http://schemas.microsoft.com/office/drawing/2014/main" id="{4E0E80C6-3D09-A14A-8204-0ABD5F966164}"/>
              </a:ext>
            </a:extLst>
          </p:cNvPr>
          <p:cNvSpPr txBox="1">
            <a:spLocks noChangeArrowheads="1"/>
          </p:cNvSpPr>
          <p:nvPr/>
        </p:nvSpPr>
        <p:spPr bwMode="auto">
          <a:xfrm>
            <a:off x="3090863" y="2509838"/>
            <a:ext cx="10445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Register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File</a:t>
            </a:r>
          </a:p>
        </p:txBody>
      </p:sp>
      <p:sp>
        <p:nvSpPr>
          <p:cNvPr id="57350" name="Rectangle 6">
            <a:extLst>
              <a:ext uri="{FF2B5EF4-FFF2-40B4-BE49-F238E27FC236}">
                <a16:creationId xmlns:a16="http://schemas.microsoft.com/office/drawing/2014/main" id="{407B1D1B-037C-4545-9FC6-F79819535946}"/>
              </a:ext>
            </a:extLst>
          </p:cNvPr>
          <p:cNvSpPr>
            <a:spLocks noChangeArrowheads="1"/>
          </p:cNvSpPr>
          <p:nvPr/>
        </p:nvSpPr>
        <p:spPr bwMode="auto">
          <a:xfrm>
            <a:off x="6056313" y="3176588"/>
            <a:ext cx="1117600" cy="4302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351" name="Rectangle 7">
            <a:extLst>
              <a:ext uri="{FF2B5EF4-FFF2-40B4-BE49-F238E27FC236}">
                <a16:creationId xmlns:a16="http://schemas.microsoft.com/office/drawing/2014/main" id="{F55E5D6F-0423-C44E-ABFC-8D08221F4BD2}"/>
              </a:ext>
            </a:extLst>
          </p:cNvPr>
          <p:cNvSpPr>
            <a:spLocks noChangeArrowheads="1"/>
          </p:cNvSpPr>
          <p:nvPr/>
        </p:nvSpPr>
        <p:spPr bwMode="auto">
          <a:xfrm>
            <a:off x="6056313" y="3795713"/>
            <a:ext cx="1117600" cy="4302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352" name="Rectangle 8">
            <a:extLst>
              <a:ext uri="{FF2B5EF4-FFF2-40B4-BE49-F238E27FC236}">
                <a16:creationId xmlns:a16="http://schemas.microsoft.com/office/drawing/2014/main" id="{A3A6A35A-D347-7046-9D5B-99C6B9E62A40}"/>
              </a:ext>
            </a:extLst>
          </p:cNvPr>
          <p:cNvSpPr>
            <a:spLocks noChangeArrowheads="1"/>
          </p:cNvSpPr>
          <p:nvPr/>
        </p:nvSpPr>
        <p:spPr bwMode="auto">
          <a:xfrm>
            <a:off x="6056313" y="4378325"/>
            <a:ext cx="1117600" cy="428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353" name="TextBox 9">
            <a:extLst>
              <a:ext uri="{FF2B5EF4-FFF2-40B4-BE49-F238E27FC236}">
                <a16:creationId xmlns:a16="http://schemas.microsoft.com/office/drawing/2014/main" id="{0DCF7B4D-E022-994D-B9D9-A07336732FDF}"/>
              </a:ext>
            </a:extLst>
          </p:cNvPr>
          <p:cNvSpPr txBox="1">
            <a:spLocks noChangeArrowheads="1"/>
          </p:cNvSpPr>
          <p:nvPr/>
        </p:nvSpPr>
        <p:spPr bwMode="auto">
          <a:xfrm>
            <a:off x="6000750" y="3222625"/>
            <a:ext cx="1173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Func Unit</a:t>
            </a:r>
          </a:p>
        </p:txBody>
      </p:sp>
      <p:sp>
        <p:nvSpPr>
          <p:cNvPr id="57354" name="TextBox 10">
            <a:extLst>
              <a:ext uri="{FF2B5EF4-FFF2-40B4-BE49-F238E27FC236}">
                <a16:creationId xmlns:a16="http://schemas.microsoft.com/office/drawing/2014/main" id="{EF2333B3-C457-CF4A-BB64-8A141F03B2F4}"/>
              </a:ext>
            </a:extLst>
          </p:cNvPr>
          <p:cNvSpPr txBox="1">
            <a:spLocks noChangeArrowheads="1"/>
          </p:cNvSpPr>
          <p:nvPr/>
        </p:nvSpPr>
        <p:spPr bwMode="auto">
          <a:xfrm>
            <a:off x="6024563" y="3819525"/>
            <a:ext cx="11715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Func Unit</a:t>
            </a:r>
          </a:p>
        </p:txBody>
      </p:sp>
      <p:sp>
        <p:nvSpPr>
          <p:cNvPr id="57355" name="TextBox 11">
            <a:extLst>
              <a:ext uri="{FF2B5EF4-FFF2-40B4-BE49-F238E27FC236}">
                <a16:creationId xmlns:a16="http://schemas.microsoft.com/office/drawing/2014/main" id="{1FCE8290-9B5F-AA4D-B8E8-EA0DCDB401CA}"/>
              </a:ext>
            </a:extLst>
          </p:cNvPr>
          <p:cNvSpPr txBox="1">
            <a:spLocks noChangeArrowheads="1"/>
          </p:cNvSpPr>
          <p:nvPr/>
        </p:nvSpPr>
        <p:spPr bwMode="auto">
          <a:xfrm>
            <a:off x="6019800" y="4414838"/>
            <a:ext cx="1171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Func Unit</a:t>
            </a:r>
          </a:p>
        </p:txBody>
      </p:sp>
      <p:sp>
        <p:nvSpPr>
          <p:cNvPr id="57356" name="Rectangle 12">
            <a:extLst>
              <a:ext uri="{FF2B5EF4-FFF2-40B4-BE49-F238E27FC236}">
                <a16:creationId xmlns:a16="http://schemas.microsoft.com/office/drawing/2014/main" id="{3CFDB852-A1CF-EC49-9418-CF2AC27F5474}"/>
              </a:ext>
            </a:extLst>
          </p:cNvPr>
          <p:cNvSpPr>
            <a:spLocks noChangeArrowheads="1"/>
          </p:cNvSpPr>
          <p:nvPr/>
        </p:nvSpPr>
        <p:spPr bwMode="auto">
          <a:xfrm>
            <a:off x="3044825" y="4098925"/>
            <a:ext cx="1117600" cy="1458913"/>
          </a:xfrm>
          <a:prstGeom prst="rect">
            <a:avLst/>
          </a:prstGeom>
          <a:solidFill>
            <a:srgbClr val="00B0F0"/>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357" name="TextBox 13">
            <a:extLst>
              <a:ext uri="{FF2B5EF4-FFF2-40B4-BE49-F238E27FC236}">
                <a16:creationId xmlns:a16="http://schemas.microsoft.com/office/drawing/2014/main" id="{E3981619-D172-3B4B-B3C7-22A53E869240}"/>
              </a:ext>
            </a:extLst>
          </p:cNvPr>
          <p:cNvSpPr txBox="1">
            <a:spLocks noChangeArrowheads="1"/>
          </p:cNvSpPr>
          <p:nvPr/>
        </p:nvSpPr>
        <p:spPr bwMode="auto">
          <a:xfrm>
            <a:off x="3082925" y="4418013"/>
            <a:ext cx="10175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Reorder</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p:txBody>
      </p:sp>
      <p:cxnSp>
        <p:nvCxnSpPr>
          <p:cNvPr id="57358" name="Straight Connector 14">
            <a:extLst>
              <a:ext uri="{FF2B5EF4-FFF2-40B4-BE49-F238E27FC236}">
                <a16:creationId xmlns:a16="http://schemas.microsoft.com/office/drawing/2014/main" id="{E6F37337-289F-3249-8697-1F15B59A1A3F}"/>
              </a:ext>
            </a:extLst>
          </p:cNvPr>
          <p:cNvCxnSpPr>
            <a:cxnSpLocks noChangeShapeType="1"/>
          </p:cNvCxnSpPr>
          <p:nvPr/>
        </p:nvCxnSpPr>
        <p:spPr bwMode="auto">
          <a:xfrm rot="5400000">
            <a:off x="7170737" y="3997326"/>
            <a:ext cx="1177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7359" name="Straight Arrow Connector 15">
            <a:extLst>
              <a:ext uri="{FF2B5EF4-FFF2-40B4-BE49-F238E27FC236}">
                <a16:creationId xmlns:a16="http://schemas.microsoft.com/office/drawing/2014/main" id="{51CA4E34-FE4A-2E4A-8221-71C621B85843}"/>
              </a:ext>
            </a:extLst>
          </p:cNvPr>
          <p:cNvCxnSpPr>
            <a:cxnSpLocks noChangeShapeType="1"/>
            <a:stCxn id="57353" idx="3"/>
          </p:cNvCxnSpPr>
          <p:nvPr/>
        </p:nvCxnSpPr>
        <p:spPr bwMode="auto">
          <a:xfrm>
            <a:off x="7173913" y="3408363"/>
            <a:ext cx="585787"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0" name="Straight Arrow Connector 16">
            <a:extLst>
              <a:ext uri="{FF2B5EF4-FFF2-40B4-BE49-F238E27FC236}">
                <a16:creationId xmlns:a16="http://schemas.microsoft.com/office/drawing/2014/main" id="{ED0E883E-725B-3A4B-BC09-2E9BEAB4D32F}"/>
              </a:ext>
            </a:extLst>
          </p:cNvPr>
          <p:cNvCxnSpPr>
            <a:cxnSpLocks noChangeShapeType="1"/>
            <a:stCxn id="57354" idx="3"/>
          </p:cNvCxnSpPr>
          <p:nvPr/>
        </p:nvCxnSpPr>
        <p:spPr bwMode="auto">
          <a:xfrm>
            <a:off x="7196138" y="4003675"/>
            <a:ext cx="563562"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1" name="Straight Arrow Connector 17">
            <a:extLst>
              <a:ext uri="{FF2B5EF4-FFF2-40B4-BE49-F238E27FC236}">
                <a16:creationId xmlns:a16="http://schemas.microsoft.com/office/drawing/2014/main" id="{EA2B08D1-1AD7-EF49-A3A3-03F5EF24C2DF}"/>
              </a:ext>
            </a:extLst>
          </p:cNvPr>
          <p:cNvCxnSpPr>
            <a:cxnSpLocks noChangeShapeType="1"/>
            <a:stCxn id="57355" idx="3"/>
          </p:cNvCxnSpPr>
          <p:nvPr/>
        </p:nvCxnSpPr>
        <p:spPr bwMode="auto">
          <a:xfrm flipV="1">
            <a:off x="7191375" y="4586288"/>
            <a:ext cx="568325" cy="127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2" name="Straight Arrow Connector 18">
            <a:extLst>
              <a:ext uri="{FF2B5EF4-FFF2-40B4-BE49-F238E27FC236}">
                <a16:creationId xmlns:a16="http://schemas.microsoft.com/office/drawing/2014/main" id="{EB43F3BB-6505-584A-A29B-E35418F595CD}"/>
              </a:ext>
            </a:extLst>
          </p:cNvPr>
          <p:cNvCxnSpPr>
            <a:cxnSpLocks noChangeShapeType="1"/>
          </p:cNvCxnSpPr>
          <p:nvPr/>
        </p:nvCxnSpPr>
        <p:spPr bwMode="auto">
          <a:xfrm flipV="1">
            <a:off x="7759700" y="4003675"/>
            <a:ext cx="452438"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3" name="Straight Connector 19">
            <a:extLst>
              <a:ext uri="{FF2B5EF4-FFF2-40B4-BE49-F238E27FC236}">
                <a16:creationId xmlns:a16="http://schemas.microsoft.com/office/drawing/2014/main" id="{59280393-B15D-3A44-8536-358EE54CEF0A}"/>
              </a:ext>
            </a:extLst>
          </p:cNvPr>
          <p:cNvCxnSpPr>
            <a:cxnSpLocks noChangeShapeType="1"/>
            <a:stCxn id="57356" idx="2"/>
          </p:cNvCxnSpPr>
          <p:nvPr/>
        </p:nvCxnSpPr>
        <p:spPr bwMode="auto">
          <a:xfrm rot="5400000">
            <a:off x="3409950" y="5748338"/>
            <a:ext cx="384175" cy="3175"/>
          </a:xfrm>
          <a:prstGeom prst="line">
            <a:avLst/>
          </a:prstGeom>
          <a:noFill/>
          <a:ln w="9525">
            <a:solidFill>
              <a:schemeClr val="tx1"/>
            </a:solidFill>
            <a:round/>
            <a:headEnd type="arrow" w="med" len="med"/>
            <a:tailEnd/>
          </a:ln>
          <a:extLst>
            <a:ext uri="{909E8E84-426E-40DD-AFC4-6F175D3DCCD1}">
              <a14:hiddenFill xmlns:a14="http://schemas.microsoft.com/office/drawing/2010/main">
                <a:noFill/>
              </a14:hiddenFill>
            </a:ext>
          </a:extLst>
        </p:spPr>
      </p:cxnSp>
      <p:cxnSp>
        <p:nvCxnSpPr>
          <p:cNvPr id="57364" name="Straight Arrow Connector 21">
            <a:extLst>
              <a:ext uri="{FF2B5EF4-FFF2-40B4-BE49-F238E27FC236}">
                <a16:creationId xmlns:a16="http://schemas.microsoft.com/office/drawing/2014/main" id="{DB3BECF3-959E-4F45-BD40-348571363522}"/>
              </a:ext>
            </a:extLst>
          </p:cNvPr>
          <p:cNvCxnSpPr>
            <a:cxnSpLocks noChangeShapeType="1"/>
          </p:cNvCxnSpPr>
          <p:nvPr/>
        </p:nvCxnSpPr>
        <p:spPr bwMode="auto">
          <a:xfrm rot="5400000" flipH="1" flipV="1">
            <a:off x="3359150" y="3876675"/>
            <a:ext cx="444500"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5" name="Straight Connector 22">
            <a:extLst>
              <a:ext uri="{FF2B5EF4-FFF2-40B4-BE49-F238E27FC236}">
                <a16:creationId xmlns:a16="http://schemas.microsoft.com/office/drawing/2014/main" id="{9AFBF05C-FE53-AD43-B3CB-423625F3E6B4}"/>
              </a:ext>
            </a:extLst>
          </p:cNvPr>
          <p:cNvCxnSpPr>
            <a:cxnSpLocks noChangeShapeType="1"/>
          </p:cNvCxnSpPr>
          <p:nvPr/>
        </p:nvCxnSpPr>
        <p:spPr bwMode="auto">
          <a:xfrm>
            <a:off x="5062538" y="3994150"/>
            <a:ext cx="406400" cy="95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7366" name="Straight Connector 23">
            <a:extLst>
              <a:ext uri="{FF2B5EF4-FFF2-40B4-BE49-F238E27FC236}">
                <a16:creationId xmlns:a16="http://schemas.microsoft.com/office/drawing/2014/main" id="{FC399118-C336-7545-B4AC-E52F49BCB40E}"/>
              </a:ext>
            </a:extLst>
          </p:cNvPr>
          <p:cNvCxnSpPr>
            <a:cxnSpLocks noChangeShapeType="1"/>
          </p:cNvCxnSpPr>
          <p:nvPr/>
        </p:nvCxnSpPr>
        <p:spPr bwMode="auto">
          <a:xfrm rot="5400000">
            <a:off x="4879975" y="4008438"/>
            <a:ext cx="1177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7367" name="Straight Arrow Connector 24">
            <a:extLst>
              <a:ext uri="{FF2B5EF4-FFF2-40B4-BE49-F238E27FC236}">
                <a16:creationId xmlns:a16="http://schemas.microsoft.com/office/drawing/2014/main" id="{631285EE-80C8-634D-97CD-00B365BDA565}"/>
              </a:ext>
            </a:extLst>
          </p:cNvPr>
          <p:cNvCxnSpPr>
            <a:cxnSpLocks noChangeShapeType="1"/>
          </p:cNvCxnSpPr>
          <p:nvPr/>
        </p:nvCxnSpPr>
        <p:spPr bwMode="auto">
          <a:xfrm>
            <a:off x="5468938" y="3405188"/>
            <a:ext cx="5873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8" name="Straight Arrow Connector 25">
            <a:extLst>
              <a:ext uri="{FF2B5EF4-FFF2-40B4-BE49-F238E27FC236}">
                <a16:creationId xmlns:a16="http://schemas.microsoft.com/office/drawing/2014/main" id="{9EC63798-26DD-124F-A025-0A2210E289B9}"/>
              </a:ext>
            </a:extLst>
          </p:cNvPr>
          <p:cNvCxnSpPr>
            <a:cxnSpLocks noChangeShapeType="1"/>
          </p:cNvCxnSpPr>
          <p:nvPr/>
        </p:nvCxnSpPr>
        <p:spPr bwMode="auto">
          <a:xfrm>
            <a:off x="5492750" y="4002088"/>
            <a:ext cx="563563"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69" name="Straight Arrow Connector 26">
            <a:extLst>
              <a:ext uri="{FF2B5EF4-FFF2-40B4-BE49-F238E27FC236}">
                <a16:creationId xmlns:a16="http://schemas.microsoft.com/office/drawing/2014/main" id="{F35E6BF1-54AC-D544-A4C2-F1120A38FBB5}"/>
              </a:ext>
            </a:extLst>
          </p:cNvPr>
          <p:cNvCxnSpPr>
            <a:cxnSpLocks noChangeShapeType="1"/>
          </p:cNvCxnSpPr>
          <p:nvPr/>
        </p:nvCxnSpPr>
        <p:spPr bwMode="auto">
          <a:xfrm>
            <a:off x="5468938" y="4583113"/>
            <a:ext cx="58737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7370" name="Rectangle 27">
            <a:extLst>
              <a:ext uri="{FF2B5EF4-FFF2-40B4-BE49-F238E27FC236}">
                <a16:creationId xmlns:a16="http://schemas.microsoft.com/office/drawing/2014/main" id="{667F4EA2-560D-A044-8EC5-2D7006C26B20}"/>
              </a:ext>
            </a:extLst>
          </p:cNvPr>
          <p:cNvSpPr>
            <a:spLocks noChangeArrowheads="1"/>
          </p:cNvSpPr>
          <p:nvPr/>
        </p:nvSpPr>
        <p:spPr bwMode="auto">
          <a:xfrm>
            <a:off x="725488" y="2205038"/>
            <a:ext cx="1117600" cy="1458912"/>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371" name="TextBox 28">
            <a:extLst>
              <a:ext uri="{FF2B5EF4-FFF2-40B4-BE49-F238E27FC236}">
                <a16:creationId xmlns:a16="http://schemas.microsoft.com/office/drawing/2014/main" id="{22911732-1AC3-D248-B40A-513A7DC058FB}"/>
              </a:ext>
            </a:extLst>
          </p:cNvPr>
          <p:cNvSpPr txBox="1">
            <a:spLocks noChangeArrowheads="1"/>
          </p:cNvSpPr>
          <p:nvPr/>
        </p:nvSpPr>
        <p:spPr bwMode="auto">
          <a:xfrm>
            <a:off x="658813" y="2574925"/>
            <a:ext cx="1247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Instruction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Cache</a:t>
            </a:r>
          </a:p>
        </p:txBody>
      </p:sp>
      <p:cxnSp>
        <p:nvCxnSpPr>
          <p:cNvPr id="57372" name="Straight Arrow Connector 29">
            <a:extLst>
              <a:ext uri="{FF2B5EF4-FFF2-40B4-BE49-F238E27FC236}">
                <a16:creationId xmlns:a16="http://schemas.microsoft.com/office/drawing/2014/main" id="{50207FF6-FDC1-6B42-9836-67F9AD356B29}"/>
              </a:ext>
            </a:extLst>
          </p:cNvPr>
          <p:cNvCxnSpPr>
            <a:cxnSpLocks noChangeShapeType="1"/>
          </p:cNvCxnSpPr>
          <p:nvPr/>
        </p:nvCxnSpPr>
        <p:spPr bwMode="auto">
          <a:xfrm>
            <a:off x="1843088" y="2935288"/>
            <a:ext cx="1201737" cy="1587"/>
          </a:xfrm>
          <a:prstGeom prst="straightConnector1">
            <a:avLst/>
          </a:prstGeom>
          <a:noFill/>
          <a:ln w="9525">
            <a:solidFill>
              <a:schemeClr val="tx1"/>
            </a:solidFill>
            <a:prstDash val="dashDot"/>
            <a:round/>
            <a:headEnd/>
            <a:tailEnd type="arrow" w="med" len="med"/>
          </a:ln>
          <a:extLst>
            <a:ext uri="{909E8E84-426E-40DD-AFC4-6F175D3DCCD1}">
              <a14:hiddenFill xmlns:a14="http://schemas.microsoft.com/office/drawing/2010/main">
                <a:noFill/>
              </a14:hiddenFill>
            </a:ext>
          </a:extLst>
        </p:spPr>
      </p:cxnSp>
      <p:cxnSp>
        <p:nvCxnSpPr>
          <p:cNvPr id="57373" name="Straight Connector 31">
            <a:extLst>
              <a:ext uri="{FF2B5EF4-FFF2-40B4-BE49-F238E27FC236}">
                <a16:creationId xmlns:a16="http://schemas.microsoft.com/office/drawing/2014/main" id="{15D70CC1-C214-0949-AB08-8C7AAB8DDE7F}"/>
              </a:ext>
            </a:extLst>
          </p:cNvPr>
          <p:cNvCxnSpPr>
            <a:cxnSpLocks noChangeShapeType="1"/>
          </p:cNvCxnSpPr>
          <p:nvPr/>
        </p:nvCxnSpPr>
        <p:spPr bwMode="auto">
          <a:xfrm rot="5400000">
            <a:off x="1504156" y="3852069"/>
            <a:ext cx="1831975" cy="1588"/>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cxnSp>
      <p:cxnSp>
        <p:nvCxnSpPr>
          <p:cNvPr id="57374" name="Straight Arrow Connector 34">
            <a:extLst>
              <a:ext uri="{FF2B5EF4-FFF2-40B4-BE49-F238E27FC236}">
                <a16:creationId xmlns:a16="http://schemas.microsoft.com/office/drawing/2014/main" id="{8F21E778-4687-304A-81EA-513A950A223F}"/>
              </a:ext>
            </a:extLst>
          </p:cNvPr>
          <p:cNvCxnSpPr>
            <a:cxnSpLocks noChangeShapeType="1"/>
          </p:cNvCxnSpPr>
          <p:nvPr/>
        </p:nvCxnSpPr>
        <p:spPr bwMode="auto">
          <a:xfrm>
            <a:off x="2419350" y="4768850"/>
            <a:ext cx="625475" cy="1588"/>
          </a:xfrm>
          <a:prstGeom prst="straightConnector1">
            <a:avLst/>
          </a:prstGeom>
          <a:noFill/>
          <a:ln w="9525">
            <a:solidFill>
              <a:schemeClr val="tx1"/>
            </a:solidFill>
            <a:prstDash val="dashDot"/>
            <a:round/>
            <a:headEnd/>
            <a:tailEnd type="arrow" w="med" len="med"/>
          </a:ln>
          <a:extLst>
            <a:ext uri="{909E8E84-426E-40DD-AFC4-6F175D3DCCD1}">
              <a14:hiddenFill xmlns:a14="http://schemas.microsoft.com/office/drawing/2010/main">
                <a:noFill/>
              </a14:hiddenFill>
            </a:ext>
          </a:extLst>
        </p:spPr>
      </p:cxnSp>
      <p:sp>
        <p:nvSpPr>
          <p:cNvPr id="38" name="Trapezoid 37">
            <a:extLst>
              <a:ext uri="{FF2B5EF4-FFF2-40B4-BE49-F238E27FC236}">
                <a16:creationId xmlns:a16="http://schemas.microsoft.com/office/drawing/2014/main" id="{040D20B8-0D22-DC41-B98F-302413C5AED8}"/>
              </a:ext>
            </a:extLst>
          </p:cNvPr>
          <p:cNvSpPr/>
          <p:nvPr/>
        </p:nvSpPr>
        <p:spPr bwMode="auto">
          <a:xfrm>
            <a:off x="4480903" y="3853593"/>
            <a:ext cx="877455" cy="309535"/>
          </a:xfrm>
          <a:prstGeom prst="trapezoid">
            <a:avLst/>
          </a:prstGeom>
          <a:noFill/>
          <a:ln w="9525" cap="flat" cmpd="sng" algn="ctr">
            <a:solidFill>
              <a:schemeClr val="tx1"/>
            </a:solidFill>
            <a:prstDash val="solid"/>
            <a:round/>
            <a:headEnd type="none" w="med" len="med"/>
            <a:tailEnd type="none" w="med" len="med"/>
          </a:ln>
          <a:effectLst/>
          <a:scene3d>
            <a:camera prst="orthographicFront">
              <a:rot lat="0" lon="0" rev="16200000"/>
            </a:camera>
            <a:lightRig rig="threePt" dir="t"/>
          </a:scene3d>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itchFamily="34" charset="0"/>
            </a:endParaRPr>
          </a:p>
        </p:txBody>
      </p:sp>
      <p:cxnSp>
        <p:nvCxnSpPr>
          <p:cNvPr id="57376" name="Straight Arrow Connector 39">
            <a:extLst>
              <a:ext uri="{FF2B5EF4-FFF2-40B4-BE49-F238E27FC236}">
                <a16:creationId xmlns:a16="http://schemas.microsoft.com/office/drawing/2014/main" id="{14D60CF8-BE5A-C346-8556-BF224CBF896E}"/>
              </a:ext>
            </a:extLst>
          </p:cNvPr>
          <p:cNvCxnSpPr>
            <a:cxnSpLocks noChangeShapeType="1"/>
            <a:stCxn id="57348" idx="3"/>
          </p:cNvCxnSpPr>
          <p:nvPr/>
        </p:nvCxnSpPr>
        <p:spPr bwMode="auto">
          <a:xfrm>
            <a:off x="4162425" y="2925763"/>
            <a:ext cx="585788" cy="8350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77" name="Straight Arrow Connector 41">
            <a:extLst>
              <a:ext uri="{FF2B5EF4-FFF2-40B4-BE49-F238E27FC236}">
                <a16:creationId xmlns:a16="http://schemas.microsoft.com/office/drawing/2014/main" id="{A8CB6BD2-3C1F-A944-8EBE-BE5C1A1A28B4}"/>
              </a:ext>
            </a:extLst>
          </p:cNvPr>
          <p:cNvCxnSpPr>
            <a:cxnSpLocks noChangeShapeType="1"/>
            <a:stCxn id="57356" idx="3"/>
          </p:cNvCxnSpPr>
          <p:nvPr/>
        </p:nvCxnSpPr>
        <p:spPr bwMode="auto">
          <a:xfrm flipV="1">
            <a:off x="4162425" y="4162425"/>
            <a:ext cx="585788" cy="66516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378" name="Straight Connector 43">
            <a:extLst>
              <a:ext uri="{FF2B5EF4-FFF2-40B4-BE49-F238E27FC236}">
                <a16:creationId xmlns:a16="http://schemas.microsoft.com/office/drawing/2014/main" id="{F158686B-ACBC-6042-8C9F-C9098338F497}"/>
              </a:ext>
            </a:extLst>
          </p:cNvPr>
          <p:cNvCxnSpPr>
            <a:cxnSpLocks noChangeShapeType="1"/>
          </p:cNvCxnSpPr>
          <p:nvPr/>
        </p:nvCxnSpPr>
        <p:spPr bwMode="auto">
          <a:xfrm rot="5400000">
            <a:off x="7242969" y="4971257"/>
            <a:ext cx="193992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7379" name="Straight Connector 45">
            <a:extLst>
              <a:ext uri="{FF2B5EF4-FFF2-40B4-BE49-F238E27FC236}">
                <a16:creationId xmlns:a16="http://schemas.microsoft.com/office/drawing/2014/main" id="{BF813D07-710F-1441-B5FB-3DD249A65637}"/>
              </a:ext>
            </a:extLst>
          </p:cNvPr>
          <p:cNvCxnSpPr>
            <a:cxnSpLocks noChangeShapeType="1"/>
          </p:cNvCxnSpPr>
          <p:nvPr/>
        </p:nvCxnSpPr>
        <p:spPr bwMode="auto">
          <a:xfrm rot="10800000">
            <a:off x="3603625" y="5942013"/>
            <a:ext cx="46085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266999244"/>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639E922F-8A1D-7E42-AD19-86856344B273}"/>
              </a:ext>
            </a:extLst>
          </p:cNvPr>
          <p:cNvSpPr>
            <a:spLocks noGrp="1" noChangeArrowheads="1"/>
          </p:cNvSpPr>
          <p:nvPr>
            <p:ph type="title"/>
          </p:nvPr>
        </p:nvSpPr>
        <p:spPr/>
        <p:txBody>
          <a:bodyPr/>
          <a:lstStyle/>
          <a:p>
            <a:r>
              <a:rPr lang="en-US" altLang="en-US">
                <a:ea typeface="ＭＳ Ｐゴシック" panose="020B0600070205080204" pitchFamily="34" charset="-128"/>
              </a:rPr>
              <a:t>Simplifying Reorder Buffer Access</a:t>
            </a:r>
          </a:p>
        </p:txBody>
      </p:sp>
      <p:sp>
        <p:nvSpPr>
          <p:cNvPr id="15363" name="Content Placeholder 2">
            <a:extLst>
              <a:ext uri="{FF2B5EF4-FFF2-40B4-BE49-F238E27FC236}">
                <a16:creationId xmlns:a16="http://schemas.microsoft.com/office/drawing/2014/main" id="{387EFB3B-2008-EB4C-8A07-71FB37B73F74}"/>
              </a:ext>
            </a:extLst>
          </p:cNvPr>
          <p:cNvSpPr>
            <a:spLocks noGrp="1" noChangeArrowheads="1"/>
          </p:cNvSpPr>
          <p:nvPr>
            <p:ph idx="1"/>
          </p:nvPr>
        </p:nvSpPr>
        <p:spPr>
          <a:xfrm>
            <a:off x="228600" y="996950"/>
            <a:ext cx="8915400" cy="5194300"/>
          </a:xfrm>
        </p:spPr>
        <p:txBody>
          <a:bodyPr/>
          <a:lstStyle/>
          <a:p>
            <a:r>
              <a:rPr lang="en-US" altLang="en-US" b="1" dirty="0">
                <a:ea typeface="ＭＳ Ｐゴシック" panose="020B0600070205080204" pitchFamily="34" charset="-128"/>
              </a:rPr>
              <a:t>Idea</a:t>
            </a:r>
            <a:r>
              <a:rPr lang="en-US" altLang="en-US" dirty="0">
                <a:ea typeface="ＭＳ Ｐゴシック" panose="020B0600070205080204" pitchFamily="34" charset="-128"/>
              </a:rPr>
              <a:t>: </a:t>
            </a:r>
            <a:r>
              <a:rPr lang="en-US" altLang="en-US" dirty="0">
                <a:solidFill>
                  <a:srgbClr val="0000FF"/>
                </a:solidFill>
                <a:ea typeface="ＭＳ Ｐゴシック" panose="020B0600070205080204" pitchFamily="34" charset="-128"/>
              </a:rPr>
              <a:t>Use indirection</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1, Access register file first (check if the register is valid)</a:t>
            </a:r>
          </a:p>
          <a:p>
            <a:pPr lvl="1"/>
            <a:r>
              <a:rPr lang="en-US" altLang="en-US" dirty="0">
                <a:ea typeface="ＭＳ Ｐゴシック" panose="020B0600070205080204" pitchFamily="34" charset="-128"/>
              </a:rPr>
              <a:t>If register not valid, register file stores the ID of the reorder buffer entry that contains (or will contain) the value of the register</a:t>
            </a:r>
          </a:p>
          <a:p>
            <a:pPr lvl="1"/>
            <a:r>
              <a:rPr lang="en-US" altLang="en-US" dirty="0">
                <a:solidFill>
                  <a:srgbClr val="0000FF"/>
                </a:solidFill>
                <a:ea typeface="ＭＳ Ｐゴシック" panose="020B0600070205080204" pitchFamily="34" charset="-128"/>
              </a:rPr>
              <a:t>Mapping of the register to a ROB entry</a:t>
            </a:r>
            <a:r>
              <a:rPr lang="en-US" altLang="en-US" dirty="0">
                <a:ea typeface="ＭＳ Ｐゴシック" panose="020B0600070205080204" pitchFamily="34" charset="-128"/>
              </a:rPr>
              <a:t>: Register file maps the register to a reorder buffer entry if there is an in-flight instruction writing to the register</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2, Access reorder buffer next</a:t>
            </a:r>
          </a:p>
          <a:p>
            <a:endParaRPr lang="en-US" altLang="en-US" dirty="0">
              <a:ea typeface="ＭＳ Ｐゴシック" panose="020B0600070205080204" pitchFamily="34" charset="-128"/>
            </a:endParaRPr>
          </a:p>
        </p:txBody>
      </p:sp>
      <p:sp>
        <p:nvSpPr>
          <p:cNvPr id="58371" name="Slide Number Placeholder 3">
            <a:extLst>
              <a:ext uri="{FF2B5EF4-FFF2-40B4-BE49-F238E27FC236}">
                <a16:creationId xmlns:a16="http://schemas.microsoft.com/office/drawing/2014/main" id="{09DACE12-77E5-8747-B72B-C73F59DCF6C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52FF2D0-9CCB-584E-A4F5-1421CDF42B37}"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altLang="en-US" sz="1600" b="0" i="0" u="none" strike="noStrike" kern="1200" cap="none" spc="0" normalizeH="0" baseline="0" noProof="0" dirty="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31619529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43672277-C4B7-D940-9278-3D10B368E4F5}"/>
              </a:ext>
            </a:extLst>
          </p:cNvPr>
          <p:cNvSpPr>
            <a:spLocks noGrp="1" noChangeArrowheads="1"/>
          </p:cNvSpPr>
          <p:nvPr>
            <p:ph type="title"/>
          </p:nvPr>
        </p:nvSpPr>
        <p:spPr/>
        <p:txBody>
          <a:bodyPr/>
          <a:lstStyle/>
          <a:p>
            <a:r>
              <a:rPr lang="en-US" altLang="en-US">
                <a:ea typeface="ＭＳ Ｐゴシック" panose="020B0600070205080204" pitchFamily="34" charset="-128"/>
              </a:rPr>
              <a:t>Reorder Buffer in Intel Pentium III</a:t>
            </a:r>
          </a:p>
        </p:txBody>
      </p:sp>
      <p:sp>
        <p:nvSpPr>
          <p:cNvPr id="59394" name="Slide Number Placeholder 3">
            <a:extLst>
              <a:ext uri="{FF2B5EF4-FFF2-40B4-BE49-F238E27FC236}">
                <a16:creationId xmlns:a16="http://schemas.microsoft.com/office/drawing/2014/main" id="{D08C9A55-C862-7D47-A39D-F8788C2F82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1439335-D790-444A-B9F9-F4891645D5E3}"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pic>
        <p:nvPicPr>
          <p:cNvPr id="59395" name="Picture 8">
            <a:extLst>
              <a:ext uri="{FF2B5EF4-FFF2-40B4-BE49-F238E27FC236}">
                <a16:creationId xmlns:a16="http://schemas.microsoft.com/office/drawing/2014/main" id="{7D7EE479-F01F-F24F-A861-F9484AF88AE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21905"/>
            <a:ext cx="4786313"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9">
            <a:extLst>
              <a:ext uri="{FF2B5EF4-FFF2-40B4-BE49-F238E27FC236}">
                <a16:creationId xmlns:a16="http://schemas.microsoft.com/office/drawing/2014/main" id="{C69F9B81-F55C-EC46-B4C7-CC712E0C95FB}"/>
              </a:ext>
            </a:extLst>
          </p:cNvPr>
          <p:cNvSpPr>
            <a:spLocks noChangeArrowheads="1"/>
          </p:cNvSpPr>
          <p:nvPr/>
        </p:nvSpPr>
        <p:spPr bwMode="auto">
          <a:xfrm>
            <a:off x="5334000" y="5257800"/>
            <a:ext cx="3810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ja-JP" sz="18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Boggs et al., “</a:t>
            </a:r>
            <a:r>
              <a:rPr kumimoji="0" lang="en-US" altLang="ja-JP" sz="1800" b="0" i="0" u="none" strike="noStrike" kern="1200" cap="none" spc="0" normalizeH="0" baseline="0" noProof="0" dirty="0">
                <a:ln>
                  <a:noFill/>
                </a:ln>
                <a:solidFill>
                  <a:srgbClr val="0000FF"/>
                </a:solidFill>
                <a:effectLst/>
                <a:uLnTx/>
                <a:uFillTx/>
                <a:latin typeface="Tahoma" panose="020B0604030504040204" pitchFamily="34" charset="0"/>
                <a:ea typeface="ＭＳ Ｐゴシック" panose="020B0600070205080204" pitchFamily="34" charset="-128"/>
                <a:cs typeface="+mn-cs"/>
              </a:rPr>
              <a:t>The Microarchitecture of the Pentium 4 Processor</a:t>
            </a:r>
            <a:r>
              <a:rPr kumimoji="0" lang="en-US" altLang="ja-JP" sz="18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 Intel Technology Journal, 2001.</a:t>
            </a:r>
          </a:p>
        </p:txBody>
      </p:sp>
    </p:spTree>
    <p:extLst>
      <p:ext uri="{BB962C8B-B14F-4D97-AF65-F5344CB8AC3E}">
        <p14:creationId xmlns:p14="http://schemas.microsoft.com/office/powerpoint/2010/main" val="942444925"/>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BCE767EE-4738-D340-8042-992F06A65695}"/>
              </a:ext>
            </a:extLst>
          </p:cNvPr>
          <p:cNvSpPr>
            <a:spLocks noGrp="1" noChangeArrowheads="1"/>
          </p:cNvSpPr>
          <p:nvPr>
            <p:ph type="title"/>
          </p:nvPr>
        </p:nvSpPr>
        <p:spPr>
          <a:xfrm>
            <a:off x="228600" y="152400"/>
            <a:ext cx="8915400" cy="1066800"/>
          </a:xfrm>
        </p:spPr>
        <p:txBody>
          <a:bodyPr/>
          <a:lstStyle/>
          <a:p>
            <a:r>
              <a:rPr lang="en-US" altLang="en-US" sz="3300" dirty="0">
                <a:ea typeface="ＭＳ Ｐゴシック" panose="020B0600070205080204" pitchFamily="34" charset="-128"/>
              </a:rPr>
              <a:t>Reorder Buffer: For False Dependencies</a:t>
            </a:r>
          </a:p>
        </p:txBody>
      </p:sp>
      <p:sp>
        <p:nvSpPr>
          <p:cNvPr id="3" name="Content Placeholder 2">
            <a:extLst>
              <a:ext uri="{FF2B5EF4-FFF2-40B4-BE49-F238E27FC236}">
                <a16:creationId xmlns:a16="http://schemas.microsoft.com/office/drawing/2014/main" id="{8DCA0027-93B2-C240-BAA6-45B72CE7B7E7}"/>
              </a:ext>
            </a:extLst>
          </p:cNvPr>
          <p:cNvSpPr>
            <a:spLocks noGrp="1" noChangeArrowheads="1"/>
          </p:cNvSpPr>
          <p:nvPr>
            <p:ph idx="1"/>
          </p:nvPr>
        </p:nvSpPr>
        <p:spPr>
          <a:xfrm>
            <a:off x="241443" y="914400"/>
            <a:ext cx="8682038" cy="5708650"/>
          </a:xfrm>
        </p:spPr>
        <p:txBody>
          <a:bodyPr/>
          <a:lstStyle/>
          <a:p>
            <a:r>
              <a:rPr lang="en-US" altLang="en-US" dirty="0">
                <a:ea typeface="ＭＳ Ｐゴシック" panose="020B0600070205080204" pitchFamily="34" charset="-128"/>
              </a:rPr>
              <a:t>Output and anti dependences are </a:t>
            </a:r>
            <a:r>
              <a:rPr lang="en-US" altLang="en-US" b="1" dirty="0">
                <a:ea typeface="ＭＳ Ｐゴシック" panose="020B0600070205080204" pitchFamily="34" charset="-128"/>
              </a:rPr>
              <a:t>not</a:t>
            </a:r>
            <a:r>
              <a:rPr lang="en-US" altLang="en-US" dirty="0">
                <a:ea typeface="ＭＳ Ｐゴシック" panose="020B0600070205080204" pitchFamily="34" charset="-128"/>
              </a:rPr>
              <a:t> </a:t>
            </a:r>
            <a:r>
              <a:rPr lang="en-US" altLang="en-US" b="1" dirty="0">
                <a:ea typeface="ＭＳ Ｐゴシック" panose="020B0600070205080204" pitchFamily="34" charset="-128"/>
              </a:rPr>
              <a:t>true dependences</a:t>
            </a:r>
          </a:p>
          <a:p>
            <a:pPr lvl="1"/>
            <a:r>
              <a:rPr lang="en-US" altLang="en-US" dirty="0">
                <a:solidFill>
                  <a:srgbClr val="FF0000"/>
                </a:solidFill>
                <a:ea typeface="ＭＳ Ｐゴシック" panose="020B0600070205080204" pitchFamily="34" charset="-128"/>
              </a:rPr>
              <a:t>WHY? The same register refers to values that have nothing to do with each other</a:t>
            </a:r>
          </a:p>
          <a:p>
            <a:pPr lvl="1"/>
            <a:r>
              <a:rPr lang="en-US" altLang="en-US" b="1" dirty="0">
                <a:solidFill>
                  <a:srgbClr val="FF0000"/>
                </a:solidFill>
                <a:ea typeface="ＭＳ Ｐゴシック" panose="020B0600070205080204" pitchFamily="34" charset="-128"/>
              </a:rPr>
              <a:t>They exist due to lack of register ID’</a:t>
            </a:r>
            <a:r>
              <a:rPr lang="en-US" altLang="ja-JP" b="1" dirty="0">
                <a:solidFill>
                  <a:srgbClr val="FF0000"/>
                </a:solidFill>
                <a:ea typeface="ＭＳ Ｐゴシック" panose="020B0600070205080204" pitchFamily="34" charset="-128"/>
              </a:rPr>
              <a:t>s (i.e. names) in the ISA</a:t>
            </a:r>
          </a:p>
          <a:p>
            <a:pPr marL="0" indent="0">
              <a:buNone/>
            </a:pPr>
            <a:endParaRPr lang="en-US" altLang="en-US" sz="2000" dirty="0">
              <a:ea typeface="ＭＳ Ｐゴシック" panose="020B0600070205080204" pitchFamily="34" charset="-128"/>
            </a:endParaRPr>
          </a:p>
          <a:p>
            <a:r>
              <a:rPr lang="en-US" altLang="en-US" dirty="0">
                <a:ea typeface="ＭＳ Ｐゴシック" panose="020B0600070205080204" pitchFamily="34" charset="-128"/>
              </a:rPr>
              <a:t>RB eliminates anti and output dependences</a:t>
            </a:r>
          </a:p>
          <a:p>
            <a:pPr lvl="1"/>
            <a:r>
              <a:rPr lang="en-US" altLang="en-US" dirty="0">
                <a:solidFill>
                  <a:srgbClr val="0033CC"/>
                </a:solidFill>
                <a:ea typeface="ＭＳ Ｐゴシック" panose="020B0600070205080204" pitchFamily="34" charset="-128"/>
              </a:rPr>
              <a:t>Gives the illusion that there are a large number of registers</a:t>
            </a:r>
          </a:p>
          <a:p>
            <a:pPr lvl="1"/>
            <a:endParaRPr lang="en-US" altLang="ja-JP" sz="2000"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HOW: The register ID is </a:t>
            </a:r>
            <a:r>
              <a:rPr lang="en-US" altLang="en-US" b="1" dirty="0">
                <a:solidFill>
                  <a:srgbClr val="0000FF"/>
                </a:solidFill>
                <a:ea typeface="ＭＳ Ｐゴシック" panose="020B0600070205080204" pitchFamily="34" charset="-128"/>
              </a:rPr>
              <a:t>renamed</a:t>
            </a:r>
            <a:r>
              <a:rPr lang="en-US" altLang="en-US" dirty="0">
                <a:solidFill>
                  <a:srgbClr val="0000FF"/>
                </a:solidFill>
                <a:ea typeface="ＭＳ Ｐゴシック" panose="020B0600070205080204" pitchFamily="34" charset="-128"/>
              </a:rPr>
              <a:t> to the reorder buffer entry that will hold the register’</a:t>
            </a:r>
            <a:r>
              <a:rPr lang="en-US" altLang="ja-JP" dirty="0">
                <a:solidFill>
                  <a:srgbClr val="0000FF"/>
                </a:solidFill>
                <a:ea typeface="ＭＳ Ｐゴシック" panose="020B0600070205080204" pitchFamily="34" charset="-128"/>
              </a:rPr>
              <a:t>s value</a:t>
            </a:r>
          </a:p>
          <a:p>
            <a:pPr lvl="1"/>
            <a:r>
              <a:rPr lang="en-US" altLang="en-US" dirty="0">
                <a:ea typeface="ＭＳ Ｐゴシック" panose="020B0600070205080204" pitchFamily="34" charset="-128"/>
              </a:rPr>
              <a:t>Register ID </a:t>
            </a:r>
            <a:r>
              <a:rPr lang="en-US" altLang="en-US" dirty="0">
                <a:ea typeface="ＭＳ Ｐゴシック" panose="020B0600070205080204" pitchFamily="34" charset="-128"/>
                <a:sym typeface="Wingdings" pitchFamily="2" charset="2"/>
              </a:rPr>
              <a:t> ROB entry ID</a:t>
            </a:r>
          </a:p>
          <a:p>
            <a:pPr lvl="1"/>
            <a:r>
              <a:rPr lang="en-US" altLang="en-US" dirty="0">
                <a:ea typeface="ＭＳ Ｐゴシック" panose="020B0600070205080204" pitchFamily="34" charset="-128"/>
                <a:sym typeface="Wingdings" pitchFamily="2" charset="2"/>
              </a:rPr>
              <a:t>Architectural register ID  Physical register ID</a:t>
            </a:r>
          </a:p>
          <a:p>
            <a:pPr lvl="1"/>
            <a:r>
              <a:rPr lang="en-US" altLang="en-US" dirty="0">
                <a:ea typeface="ＭＳ Ｐゴシック" panose="020B0600070205080204" pitchFamily="34" charset="-128"/>
                <a:sym typeface="Wingdings" pitchFamily="2" charset="2"/>
              </a:rPr>
              <a:t>After renaming, ROB entry ID used to refer to the register</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60419" name="Slide Number Placeholder 3">
            <a:extLst>
              <a:ext uri="{FF2B5EF4-FFF2-40B4-BE49-F238E27FC236}">
                <a16:creationId xmlns:a16="http://schemas.microsoft.com/office/drawing/2014/main" id="{C2B67522-B71B-6E4E-9509-2DC5EAFDE5D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7E5A727-1188-384B-B731-A7217AB3D7DE}"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253317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D963184-FDC3-5D4D-9B50-7428DAE957C4}"/>
              </a:ext>
            </a:extLst>
          </p:cNvPr>
          <p:cNvSpPr>
            <a:spLocks noGrp="1" noChangeArrowheads="1"/>
          </p:cNvSpPr>
          <p:nvPr>
            <p:ph type="title"/>
          </p:nvPr>
        </p:nvSpPr>
        <p:spPr/>
        <p:txBody>
          <a:bodyPr/>
          <a:lstStyle/>
          <a:p>
            <a:r>
              <a:rPr lang="en-US" altLang="en-US" dirty="0">
                <a:ea typeface="ＭＳ Ｐゴシック" panose="020B0600070205080204" pitchFamily="34" charset="-128"/>
              </a:rPr>
              <a:t>Reorder Buffer: For False Dependencies</a:t>
            </a:r>
          </a:p>
        </p:txBody>
      </p:sp>
      <p:sp>
        <p:nvSpPr>
          <p:cNvPr id="57347" name="Slide Number Placeholder 3">
            <a:extLst>
              <a:ext uri="{FF2B5EF4-FFF2-40B4-BE49-F238E27FC236}">
                <a16:creationId xmlns:a16="http://schemas.microsoft.com/office/drawing/2014/main" id="{84B64DFB-5D30-4041-8787-AE33BCCF9A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3DFEF88-DAC1-4343-AFF3-0C33848A75E0}"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sp>
        <p:nvSpPr>
          <p:cNvPr id="11" name="Rectangle 3">
            <a:extLst>
              <a:ext uri="{FF2B5EF4-FFF2-40B4-BE49-F238E27FC236}">
                <a16:creationId xmlns:a16="http://schemas.microsoft.com/office/drawing/2014/main" id="{ABB39FA3-6BA2-F148-9AD6-43FF8ECDB88F}"/>
              </a:ext>
            </a:extLst>
          </p:cNvPr>
          <p:cNvSpPr>
            <a:spLocks noChangeArrowheads="1"/>
          </p:cNvSpPr>
          <p:nvPr/>
        </p:nvSpPr>
        <p:spPr bwMode="auto">
          <a:xfrm>
            <a:off x="762000" y="1143000"/>
            <a:ext cx="7620000" cy="5116785"/>
          </a:xfrm>
          <a:prstGeom prst="rect">
            <a:avLst/>
          </a:prstGeom>
          <a:noFill/>
          <a:ln>
            <a:noFill/>
          </a:ln>
          <a:extLst>
            <a:ext uri="{909E8E84-426E-40dd-AFC4-6F175D3DCCD1}"/>
            <a:ext uri="{91240B29-F687-4f45-9708-019B960494DF}"/>
          </a:extLst>
        </p:spPr>
        <p:txBody>
          <a:bodyPr wrap="square" lIns="90488" tIns="44450" rIns="90488" bIns="4445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Flow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Read-after-Write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(RAW)</a:t>
            </a:r>
          </a:p>
          <a:p>
            <a:pPr marL="0" marR="0" lvl="3"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Anti 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Write-after-Read</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4</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5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(WAR)</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Output-dependence</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1</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2</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Write-after-Write</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5</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effectLst/>
                <a:uLnTx/>
                <a:uFillTx/>
                <a:latin typeface="Calibri" charset="0"/>
                <a:ea typeface="ＭＳ Ｐゴシック" charset="0"/>
                <a:cs typeface="ＭＳ Ｐゴシック" charset="0"/>
              </a:rPr>
              <a:t>4</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ysClr val="windowText" lastClr="000000"/>
                </a:solidFill>
                <a:effectLst/>
                <a:uLnTx/>
                <a:uFillTx/>
                <a:latin typeface="Calibri" charset="0"/>
                <a:ea typeface="ＭＳ Ｐゴシック" charset="0"/>
                <a:cs typeface="ＭＳ Ｐゴシック" charset="0"/>
              </a:rPr>
              <a:t>(WAW)</a:t>
            </a:r>
          </a:p>
          <a:p>
            <a:pPr marL="0" marR="0" lvl="3"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FF0000"/>
                </a:solidFill>
                <a:effectLst/>
                <a:uLnTx/>
                <a:uFillTx/>
                <a:latin typeface="Calibri" charset="0"/>
                <a:ea typeface="ＭＳ Ｐゴシック" charset="0"/>
                <a:cs typeface="ＭＳ Ｐゴシック" charset="0"/>
              </a:rPr>
              <a:t>r</a:t>
            </a:r>
            <a:r>
              <a:rPr kumimoji="0" lang="en-US" sz="2800" b="0" i="0" u="none" strike="noStrike" kern="0" cap="none" spc="0" normalizeH="0" baseline="-25000" noProof="0" dirty="0">
                <a:ln>
                  <a:noFill/>
                </a:ln>
                <a:solidFill>
                  <a:srgbClr val="FF0000"/>
                </a:solidFill>
                <a:effectLst/>
                <a:uLnTx/>
                <a:uFillTx/>
                <a:latin typeface="Calibri" charset="0"/>
                <a:ea typeface="ＭＳ Ｐゴシック" charset="0"/>
                <a:cs typeface="ＭＳ Ｐゴシック" charset="0"/>
              </a:rPr>
              <a:t>3</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sym typeface="Symbol" charset="0"/>
              </a:rPr>
              <a:t></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6</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op  r</a:t>
            </a:r>
            <a:r>
              <a:rPr kumimoji="0" lang="en-US" sz="2800" b="0" i="0" u="none" strike="noStrike" kern="0" cap="none" spc="0" normalizeH="0" baseline="-25000" noProof="0" dirty="0">
                <a:ln>
                  <a:noFill/>
                </a:ln>
                <a:solidFill>
                  <a:srgbClr val="000000"/>
                </a:solidFill>
                <a:effectLst/>
                <a:uLnTx/>
                <a:uFillTx/>
                <a:latin typeface="Calibri" charset="0"/>
                <a:ea typeface="ＭＳ Ｐゴシック" charset="0"/>
                <a:cs typeface="ＭＳ Ｐゴシック" charset="0"/>
              </a:rPr>
              <a:t>7</a:t>
            </a:r>
            <a:r>
              <a:rPr kumimoji="0" lang="en-US" sz="2800" b="0" i="0" u="none" strike="noStrike" kern="0" cap="none" spc="0" normalizeH="0" baseline="0" noProof="0" dirty="0">
                <a:ln>
                  <a:noFill/>
                </a:ln>
                <a:solidFill>
                  <a:srgbClr val="000000"/>
                </a:solidFill>
                <a:effectLst/>
                <a:uLnTx/>
                <a:uFillTx/>
                <a:latin typeface="Calibri" charset="0"/>
                <a:ea typeface="ＭＳ Ｐゴシック" charset="0"/>
                <a:cs typeface="ＭＳ Ｐゴシック" charset="0"/>
              </a:rPr>
              <a:t>  </a:t>
            </a:r>
          </a:p>
        </p:txBody>
      </p:sp>
      <p:sp>
        <p:nvSpPr>
          <p:cNvPr id="12" name="Line 4">
            <a:extLst>
              <a:ext uri="{FF2B5EF4-FFF2-40B4-BE49-F238E27FC236}">
                <a16:creationId xmlns:a16="http://schemas.microsoft.com/office/drawing/2014/main" id="{D0541604-A6D4-DB41-89A6-2AC65498C7FF}"/>
              </a:ext>
            </a:extLst>
          </p:cNvPr>
          <p:cNvSpPr>
            <a:spLocks noChangeShapeType="1"/>
          </p:cNvSpPr>
          <p:nvPr/>
        </p:nvSpPr>
        <p:spPr bwMode="auto">
          <a:xfrm flipH="1" flipV="1">
            <a:off x="1295400" y="1981200"/>
            <a:ext cx="7620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3" name="Line 5">
            <a:extLst>
              <a:ext uri="{FF2B5EF4-FFF2-40B4-BE49-F238E27FC236}">
                <a16:creationId xmlns:a16="http://schemas.microsoft.com/office/drawing/2014/main" id="{F21A7BEA-81F8-5F46-9CE9-EC2BF980645A}"/>
              </a:ext>
            </a:extLst>
          </p:cNvPr>
          <p:cNvSpPr>
            <a:spLocks noChangeShapeType="1"/>
          </p:cNvSpPr>
          <p:nvPr/>
        </p:nvSpPr>
        <p:spPr bwMode="auto">
          <a:xfrm flipV="1">
            <a:off x="1219200" y="3581400"/>
            <a:ext cx="838200" cy="228600"/>
          </a:xfrm>
          <a:prstGeom prst="line">
            <a:avLst/>
          </a:pr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14" name="Freeform 6">
            <a:extLst>
              <a:ext uri="{FF2B5EF4-FFF2-40B4-BE49-F238E27FC236}">
                <a16:creationId xmlns:a16="http://schemas.microsoft.com/office/drawing/2014/main" id="{52976DC1-291B-E646-8B52-E883E128A830}"/>
              </a:ext>
            </a:extLst>
          </p:cNvPr>
          <p:cNvSpPr>
            <a:spLocks/>
          </p:cNvSpPr>
          <p:nvPr/>
        </p:nvSpPr>
        <p:spPr bwMode="auto">
          <a:xfrm>
            <a:off x="304800" y="5105400"/>
            <a:ext cx="444500" cy="914400"/>
          </a:xfrm>
          <a:custGeom>
            <a:avLst/>
            <a:gdLst>
              <a:gd name="T0" fmla="*/ 2147483647 w 280"/>
              <a:gd name="T1" fmla="*/ 2147483647 h 576"/>
              <a:gd name="T2" fmla="*/ 2147483647 w 280"/>
              <a:gd name="T3" fmla="*/ 2147483647 h 576"/>
              <a:gd name="T4" fmla="*/ 2147483647 w 280"/>
              <a:gd name="T5" fmla="*/ 2147483647 h 576"/>
              <a:gd name="T6" fmla="*/ 2147483647 w 280"/>
              <a:gd name="T7" fmla="*/ 0 h 576"/>
              <a:gd name="T8" fmla="*/ 0 60000 65536"/>
              <a:gd name="T9" fmla="*/ 0 60000 65536"/>
              <a:gd name="T10" fmla="*/ 0 60000 65536"/>
              <a:gd name="T11" fmla="*/ 0 60000 65536"/>
              <a:gd name="T12" fmla="*/ 0 w 280"/>
              <a:gd name="T13" fmla="*/ 0 h 576"/>
              <a:gd name="T14" fmla="*/ 280 w 280"/>
              <a:gd name="T15" fmla="*/ 576 h 576"/>
            </a:gdLst>
            <a:ahLst/>
            <a:cxnLst>
              <a:cxn ang="T8">
                <a:pos x="T0" y="T1"/>
              </a:cxn>
              <a:cxn ang="T9">
                <a:pos x="T2" y="T3"/>
              </a:cxn>
              <a:cxn ang="T10">
                <a:pos x="T4" y="T5"/>
              </a:cxn>
              <a:cxn ang="T11">
                <a:pos x="T6" y="T7"/>
              </a:cxn>
            </a:cxnLst>
            <a:rect l="T12" t="T13" r="T14" b="T15"/>
            <a:pathLst>
              <a:path w="280" h="576">
                <a:moveTo>
                  <a:pt x="280" y="576"/>
                </a:moveTo>
                <a:cubicBezTo>
                  <a:pt x="280" y="576"/>
                  <a:pt x="80" y="464"/>
                  <a:pt x="40" y="384"/>
                </a:cubicBezTo>
                <a:cubicBezTo>
                  <a:pt x="0" y="304"/>
                  <a:pt x="0" y="160"/>
                  <a:pt x="40" y="96"/>
                </a:cubicBezTo>
                <a:cubicBezTo>
                  <a:pt x="80" y="32"/>
                  <a:pt x="230" y="20"/>
                  <a:pt x="280" y="0"/>
                </a:cubicBezTo>
              </a:path>
            </a:pathLst>
          </a:custGeom>
          <a:noFill/>
          <a:ln w="28575">
            <a:solidFill>
              <a:srgbClr val="FC0128"/>
            </a:solidFill>
            <a:round/>
            <a:headEnd/>
            <a:tailEnd type="triangle" w="med" len="med"/>
          </a:ln>
          <a:extLst>
            <a:ext uri="{909E8E84-426E-40dd-AFC4-6F175D3DCCD1}"/>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charset="0"/>
              <a:ea typeface="ＭＳ Ｐゴシック" charset="0"/>
              <a:cs typeface="ＭＳ Ｐゴシック" charset="0"/>
            </a:endParaRPr>
          </a:p>
        </p:txBody>
      </p:sp>
      <p:sp>
        <p:nvSpPr>
          <p:cNvPr id="8" name="Rectangle">
            <a:extLst>
              <a:ext uri="{FF2B5EF4-FFF2-40B4-BE49-F238E27FC236}">
                <a16:creationId xmlns:a16="http://schemas.microsoft.com/office/drawing/2014/main" id="{49906E7B-FF55-8E4D-9324-FBDCB07D1EE4}"/>
              </a:ext>
            </a:extLst>
          </p:cNvPr>
          <p:cNvSpPr/>
          <p:nvPr/>
        </p:nvSpPr>
        <p:spPr>
          <a:xfrm>
            <a:off x="222739" y="914400"/>
            <a:ext cx="7244861" cy="1676400"/>
          </a:xfrm>
          <a:prstGeom prst="rect">
            <a:avLst/>
          </a:prstGeom>
          <a:solidFill>
            <a:srgbClr val="FFFFFF">
              <a:alpha val="84174"/>
            </a:srgbClr>
          </a:solidFill>
          <a:ln w="12700">
            <a:miter lim="400000"/>
          </a:ln>
        </p:spPr>
        <p:txBody>
          <a:bodyPr lIns="45719" rIns="45719" anchor="ctr"/>
          <a:lstStyle/>
          <a:p>
            <a:endParaRPr/>
          </a:p>
        </p:txBody>
      </p:sp>
      <p:sp>
        <p:nvSpPr>
          <p:cNvPr id="2" name="Rectangle 1">
            <a:extLst>
              <a:ext uri="{FF2B5EF4-FFF2-40B4-BE49-F238E27FC236}">
                <a16:creationId xmlns:a16="http://schemas.microsoft.com/office/drawing/2014/main" id="{858FC962-2152-4E49-AF50-E3583577872D}"/>
              </a:ext>
            </a:extLst>
          </p:cNvPr>
          <p:cNvSpPr/>
          <p:nvPr/>
        </p:nvSpPr>
        <p:spPr>
          <a:xfrm>
            <a:off x="609880" y="3615678"/>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100</a:t>
            </a:r>
            <a:endParaRPr lang="en-CN" sz="3200" dirty="0">
              <a:solidFill>
                <a:srgbClr val="0432FF"/>
              </a:solidFill>
            </a:endParaRPr>
          </a:p>
        </p:txBody>
      </p:sp>
      <p:sp>
        <p:nvSpPr>
          <p:cNvPr id="16" name="Rectangle 15">
            <a:extLst>
              <a:ext uri="{FF2B5EF4-FFF2-40B4-BE49-F238E27FC236}">
                <a16:creationId xmlns:a16="http://schemas.microsoft.com/office/drawing/2014/main" id="{8C4E7C9B-EE7F-4141-8DA9-BE9BD6FABCFA}"/>
              </a:ext>
            </a:extLst>
          </p:cNvPr>
          <p:cNvSpPr/>
          <p:nvPr/>
        </p:nvSpPr>
        <p:spPr>
          <a:xfrm>
            <a:off x="762000" y="4871388"/>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100</a:t>
            </a:r>
            <a:endParaRPr lang="en-CN" sz="3200" dirty="0">
              <a:solidFill>
                <a:srgbClr val="0432FF"/>
              </a:solidFill>
            </a:endParaRPr>
          </a:p>
        </p:txBody>
      </p:sp>
      <p:sp>
        <p:nvSpPr>
          <p:cNvPr id="17" name="Rectangle 16">
            <a:extLst>
              <a:ext uri="{FF2B5EF4-FFF2-40B4-BE49-F238E27FC236}">
                <a16:creationId xmlns:a16="http://schemas.microsoft.com/office/drawing/2014/main" id="{92530DDE-32DC-524A-B75D-2DB362B5C351}"/>
              </a:ext>
            </a:extLst>
          </p:cNvPr>
          <p:cNvSpPr/>
          <p:nvPr/>
        </p:nvSpPr>
        <p:spPr>
          <a:xfrm>
            <a:off x="774700" y="5333053"/>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101</a:t>
            </a:r>
            <a:endParaRPr lang="en-CN" sz="3200" dirty="0">
              <a:solidFill>
                <a:srgbClr val="0432FF"/>
              </a:solidFill>
            </a:endParaRPr>
          </a:p>
        </p:txBody>
      </p:sp>
      <p:sp>
        <p:nvSpPr>
          <p:cNvPr id="18" name="Rectangle 17">
            <a:extLst>
              <a:ext uri="{FF2B5EF4-FFF2-40B4-BE49-F238E27FC236}">
                <a16:creationId xmlns:a16="http://schemas.microsoft.com/office/drawing/2014/main" id="{C7402603-FCEC-C448-B1F4-CE87CDCFEFDB}"/>
              </a:ext>
            </a:extLst>
          </p:cNvPr>
          <p:cNvSpPr/>
          <p:nvPr/>
        </p:nvSpPr>
        <p:spPr>
          <a:xfrm>
            <a:off x="774699" y="5783473"/>
            <a:ext cx="830677" cy="461665"/>
          </a:xfrm>
          <a:prstGeom prst="rect">
            <a:avLst/>
          </a:prstGeom>
          <a:solidFill>
            <a:schemeClr val="bg1"/>
          </a:solidFill>
        </p:spPr>
        <p:txBody>
          <a:bodyPr wrap="none">
            <a:spAutoFit/>
          </a:bodyPr>
          <a:lstStyle/>
          <a:p>
            <a:r>
              <a:rPr lang="en-US" sz="2400" kern="0" dirty="0">
                <a:solidFill>
                  <a:srgbClr val="0432FF"/>
                </a:solidFill>
                <a:latin typeface="Calibri" charset="0"/>
                <a:ea typeface="ＭＳ Ｐゴシック" charset="0"/>
                <a:cs typeface="ＭＳ Ｐゴシック" charset="0"/>
              </a:rPr>
              <a:t>RB</a:t>
            </a:r>
            <a:r>
              <a:rPr lang="en-US" sz="2400" kern="0" baseline="-25000" dirty="0">
                <a:solidFill>
                  <a:srgbClr val="0432FF"/>
                </a:solidFill>
                <a:latin typeface="Calibri" charset="0"/>
                <a:ea typeface="ＭＳ Ｐゴシック" charset="0"/>
                <a:cs typeface="ＭＳ Ｐゴシック" charset="0"/>
              </a:rPr>
              <a:t>102</a:t>
            </a:r>
            <a:endParaRPr lang="en-CN" sz="3200" dirty="0">
              <a:solidFill>
                <a:srgbClr val="0432FF"/>
              </a:solidFill>
            </a:endParaRPr>
          </a:p>
        </p:txBody>
      </p:sp>
    </p:spTree>
    <p:extLst>
      <p:ext uri="{BB962C8B-B14F-4D97-AF65-F5344CB8AC3E}">
        <p14:creationId xmlns:p14="http://schemas.microsoft.com/office/powerpoint/2010/main" val="22959921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7" grpId="0" animBg="1"/>
      <p:bldP spid="18"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24F5D23-83B6-A54C-B422-4C3DB9CC53E9}"/>
              </a:ext>
            </a:extLst>
          </p:cNvPr>
          <p:cNvSpPr/>
          <p:nvPr/>
        </p:nvSpPr>
        <p:spPr>
          <a:xfrm>
            <a:off x="-76200" y="-152400"/>
            <a:ext cx="9296400" cy="73152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extBox 5">
            <a:extLst>
              <a:ext uri="{FF2B5EF4-FFF2-40B4-BE49-F238E27FC236}">
                <a16:creationId xmlns:a16="http://schemas.microsoft.com/office/drawing/2014/main" id="{8ECE0B72-05DF-F948-856B-59981E3EEB36}"/>
              </a:ext>
            </a:extLst>
          </p:cNvPr>
          <p:cNvSpPr txBox="1"/>
          <p:nvPr/>
        </p:nvSpPr>
        <p:spPr>
          <a:xfrm>
            <a:off x="685800" y="2057400"/>
            <a:ext cx="8001000" cy="923330"/>
          </a:xfrm>
          <a:prstGeom prst="rect">
            <a:avLst/>
          </a:prstGeom>
          <a:noFill/>
        </p:spPr>
        <p:txBody>
          <a:bodyPr wrap="square" rtlCol="0">
            <a:spAutoFit/>
          </a:bodyPr>
          <a:lstStyle/>
          <a:p>
            <a:pPr algn="ctr"/>
            <a:r>
              <a:rPr lang="en-US" sz="2700" b="1" dirty="0">
                <a:solidFill>
                  <a:schemeClr val="bg1"/>
                </a:solidFill>
              </a:rPr>
              <a:t>To address false dependency, </a:t>
            </a:r>
          </a:p>
          <a:p>
            <a:pPr algn="ctr"/>
            <a:r>
              <a:rPr lang="en-US" sz="2700" b="1" dirty="0">
                <a:solidFill>
                  <a:schemeClr val="bg1"/>
                </a:solidFill>
              </a:rPr>
              <a:t>number of registers &gt; number of ROB entries?</a:t>
            </a:r>
            <a:endParaRPr lang="en-US" sz="2700" b="1" u="sng" dirty="0">
              <a:solidFill>
                <a:schemeClr val="bg1"/>
              </a:solidFill>
            </a:endParaRPr>
          </a:p>
        </p:txBody>
      </p:sp>
      <p:sp>
        <p:nvSpPr>
          <p:cNvPr id="9" name="TextBox 5">
            <a:extLst>
              <a:ext uri="{FF2B5EF4-FFF2-40B4-BE49-F238E27FC236}">
                <a16:creationId xmlns:a16="http://schemas.microsoft.com/office/drawing/2014/main" id="{420A4C48-0BA2-4D4B-9FC6-39FD0506CEFC}"/>
              </a:ext>
            </a:extLst>
          </p:cNvPr>
          <p:cNvSpPr txBox="1"/>
          <p:nvPr/>
        </p:nvSpPr>
        <p:spPr>
          <a:xfrm>
            <a:off x="762000" y="4300225"/>
            <a:ext cx="8001000" cy="507831"/>
          </a:xfrm>
          <a:prstGeom prst="rect">
            <a:avLst/>
          </a:prstGeom>
          <a:noFill/>
        </p:spPr>
        <p:txBody>
          <a:bodyPr wrap="square" rtlCol="0">
            <a:spAutoFit/>
          </a:bodyPr>
          <a:lstStyle/>
          <a:p>
            <a:pPr algn="ctr"/>
            <a:r>
              <a:rPr lang="en-US" sz="2700" b="1" dirty="0">
                <a:solidFill>
                  <a:schemeClr val="bg1"/>
                </a:solidFill>
              </a:rPr>
              <a:t>NO.</a:t>
            </a:r>
            <a:endParaRPr lang="en-US" sz="2700" b="1" u="sng" dirty="0">
              <a:solidFill>
                <a:schemeClr val="bg1"/>
              </a:solidFill>
            </a:endParaRPr>
          </a:p>
        </p:txBody>
      </p:sp>
    </p:spTree>
    <p:extLst>
      <p:ext uri="{BB962C8B-B14F-4D97-AF65-F5344CB8AC3E}">
        <p14:creationId xmlns:p14="http://schemas.microsoft.com/office/powerpoint/2010/main" val="8330735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a:extLst>
              <a:ext uri="{FF2B5EF4-FFF2-40B4-BE49-F238E27FC236}">
                <a16:creationId xmlns:a16="http://schemas.microsoft.com/office/drawing/2014/main" id="{D4CD85D0-D24B-874B-A9EF-DEB408A8AD27}"/>
              </a:ext>
            </a:extLst>
          </p:cNvPr>
          <p:cNvSpPr>
            <a:spLocks noGrp="1" noChangeArrowheads="1"/>
          </p:cNvSpPr>
          <p:nvPr>
            <p:ph type="title"/>
          </p:nvPr>
        </p:nvSpPr>
        <p:spPr>
          <a:xfrm>
            <a:off x="228600" y="152400"/>
            <a:ext cx="8915400" cy="1066800"/>
          </a:xfrm>
        </p:spPr>
        <p:txBody>
          <a:bodyPr/>
          <a:lstStyle/>
          <a:p>
            <a:r>
              <a:rPr lang="en-US" altLang="en-US">
                <a:ea typeface="ＭＳ Ｐゴシック" panose="020B0600070205080204" pitchFamily="34" charset="-128"/>
              </a:rPr>
              <a:t>In-Order Pipeline with Reorder Buffer</a:t>
            </a:r>
          </a:p>
        </p:txBody>
      </p:sp>
      <p:sp>
        <p:nvSpPr>
          <p:cNvPr id="54274" name="Content Placeholder 2">
            <a:extLst>
              <a:ext uri="{FF2B5EF4-FFF2-40B4-BE49-F238E27FC236}">
                <a16:creationId xmlns:a16="http://schemas.microsoft.com/office/drawing/2014/main" id="{1C01E4EF-D5F1-B249-A2B6-243CE7F6C752}"/>
              </a:ext>
            </a:extLst>
          </p:cNvPr>
          <p:cNvSpPr>
            <a:spLocks noGrp="1" noChangeArrowheads="1"/>
          </p:cNvSpPr>
          <p:nvPr>
            <p:ph idx="1"/>
          </p:nvPr>
        </p:nvSpPr>
        <p:spPr>
          <a:xfrm>
            <a:off x="228600" y="996950"/>
            <a:ext cx="8804275" cy="5194300"/>
          </a:xfrm>
        </p:spPr>
        <p:txBody>
          <a:bodyPr/>
          <a:lstStyle/>
          <a:p>
            <a:r>
              <a:rPr lang="en-US" altLang="en-US" dirty="0">
                <a:ea typeface="ＭＳ Ｐゴシック" panose="020B0600070205080204" pitchFamily="34" charset="-128"/>
              </a:rPr>
              <a:t>In-order dispatch/execution, out-of-order completion, in-order retirement </a:t>
            </a:r>
          </a:p>
          <a:p>
            <a:pPr lvl="1"/>
            <a:r>
              <a:rPr lang="en-US" altLang="en-US" sz="1800" dirty="0">
                <a:solidFill>
                  <a:srgbClr val="0000FF"/>
                </a:solidFill>
                <a:ea typeface="ＭＳ Ｐゴシック" panose="020B0600070205080204" pitchFamily="34" charset="-128"/>
              </a:rPr>
              <a:t>Decode (D)</a:t>
            </a:r>
            <a:r>
              <a:rPr lang="en-US" altLang="en-US" sz="1800" dirty="0">
                <a:ea typeface="ＭＳ Ｐゴシック" panose="020B0600070205080204" pitchFamily="34" charset="-128"/>
              </a:rPr>
              <a:t>: Access </a:t>
            </a:r>
            <a:r>
              <a:rPr lang="en-US" altLang="en-US" sz="1800" dirty="0" err="1">
                <a:ea typeface="ＭＳ Ｐゴシック" panose="020B0600070205080204" pitchFamily="34" charset="-128"/>
              </a:rPr>
              <a:t>regfile</a:t>
            </a:r>
            <a:r>
              <a:rPr lang="en-US" altLang="en-US" sz="1800" dirty="0">
                <a:ea typeface="ＭＳ Ｐゴシック" panose="020B0600070205080204" pitchFamily="34" charset="-128"/>
              </a:rPr>
              <a:t>/ROB, allocate entry in ROB, check if instruction can execute, if so </a:t>
            </a:r>
            <a:r>
              <a:rPr lang="en-US" altLang="en-US" sz="1800" b="1" dirty="0">
                <a:ea typeface="ＭＳ Ｐゴシック" panose="020B0600070205080204" pitchFamily="34" charset="-128"/>
              </a:rPr>
              <a:t>dispatch</a:t>
            </a:r>
            <a:r>
              <a:rPr lang="en-US" altLang="en-US" sz="1800" dirty="0">
                <a:ea typeface="ＭＳ Ｐゴシック" panose="020B0600070205080204" pitchFamily="34" charset="-128"/>
              </a:rPr>
              <a:t> instruction</a:t>
            </a:r>
          </a:p>
          <a:p>
            <a:pPr lvl="1"/>
            <a:r>
              <a:rPr lang="en-US" altLang="en-US" sz="1800" dirty="0">
                <a:solidFill>
                  <a:srgbClr val="0000FF"/>
                </a:solidFill>
                <a:ea typeface="ＭＳ Ｐゴシック" panose="020B0600070205080204" pitchFamily="34" charset="-128"/>
              </a:rPr>
              <a:t>Execute (E)</a:t>
            </a:r>
            <a:r>
              <a:rPr lang="en-US" altLang="en-US" sz="1800" dirty="0">
                <a:ea typeface="ＭＳ Ｐゴシック" panose="020B0600070205080204" pitchFamily="34" charset="-128"/>
              </a:rPr>
              <a:t>: Instructions can complete out-of-order</a:t>
            </a:r>
          </a:p>
          <a:p>
            <a:pPr lvl="1"/>
            <a:r>
              <a:rPr lang="en-US" altLang="en-US" sz="1800" dirty="0">
                <a:solidFill>
                  <a:srgbClr val="0000FF"/>
                </a:solidFill>
                <a:ea typeface="ＭＳ Ｐゴシック" panose="020B0600070205080204" pitchFamily="34" charset="-128"/>
              </a:rPr>
              <a:t>Completion (R)</a:t>
            </a:r>
            <a:r>
              <a:rPr lang="en-US" altLang="en-US" sz="1800" dirty="0">
                <a:ea typeface="ＭＳ Ｐゴシック" panose="020B0600070205080204" pitchFamily="34" charset="-128"/>
              </a:rPr>
              <a:t>: Write result </a:t>
            </a:r>
            <a:r>
              <a:rPr lang="en-US" altLang="en-US" sz="1800" dirty="0">
                <a:solidFill>
                  <a:srgbClr val="FF0000"/>
                </a:solidFill>
                <a:ea typeface="ＭＳ Ｐゴシック" panose="020B0600070205080204" pitchFamily="34" charset="-128"/>
              </a:rPr>
              <a:t>to reorder buffer</a:t>
            </a:r>
          </a:p>
          <a:p>
            <a:pPr lvl="1"/>
            <a:r>
              <a:rPr lang="en-US" altLang="en-US" sz="1800" dirty="0">
                <a:solidFill>
                  <a:srgbClr val="0000FF"/>
                </a:solidFill>
                <a:ea typeface="ＭＳ Ｐゴシック" panose="020B0600070205080204" pitchFamily="34" charset="-128"/>
              </a:rPr>
              <a:t>Retirement/Commit (W)</a:t>
            </a:r>
            <a:r>
              <a:rPr lang="en-US" altLang="en-US" sz="1800" dirty="0">
                <a:ea typeface="ＭＳ Ｐゴシック" panose="020B0600070205080204" pitchFamily="34" charset="-128"/>
              </a:rPr>
              <a:t>: Check for exceptions; if none, write result to architectural register file or memory; else, flush pipeline and start from exception handler</a:t>
            </a:r>
          </a:p>
          <a:p>
            <a:endParaRPr lang="en-US" altLang="en-US" sz="2000" dirty="0">
              <a:ea typeface="ＭＳ Ｐゴシック" panose="020B0600070205080204" pitchFamily="34" charset="-128"/>
            </a:endParaRPr>
          </a:p>
        </p:txBody>
      </p:sp>
      <p:sp>
        <p:nvSpPr>
          <p:cNvPr id="63491" name="Slide Number Placeholder 3">
            <a:extLst>
              <a:ext uri="{FF2B5EF4-FFF2-40B4-BE49-F238E27FC236}">
                <a16:creationId xmlns:a16="http://schemas.microsoft.com/office/drawing/2014/main" id="{33FF0781-8988-1F4E-8413-BBBCBB769BC7}"/>
              </a:ext>
            </a:extLst>
          </p:cNvPr>
          <p:cNvSpPr>
            <a:spLocks noGrp="1"/>
          </p:cNvSpPr>
          <p:nvPr>
            <p:ph type="sldNum" sz="quarter" idx="11"/>
          </p:nvPr>
        </p:nvSpPr>
        <p:spPr>
          <a:xfrm>
            <a:off x="6777038" y="6308725"/>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1C39BAE-B262-EF4B-AF85-DA3A56899777}"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mn-cs"/>
            </a:endParaRPr>
          </a:p>
        </p:txBody>
      </p:sp>
      <p:grpSp>
        <p:nvGrpSpPr>
          <p:cNvPr id="63492" name="Group 4">
            <a:extLst>
              <a:ext uri="{FF2B5EF4-FFF2-40B4-BE49-F238E27FC236}">
                <a16:creationId xmlns:a16="http://schemas.microsoft.com/office/drawing/2014/main" id="{96AA70B3-0A7B-B046-ABC7-B844A383A2F4}"/>
              </a:ext>
            </a:extLst>
          </p:cNvPr>
          <p:cNvGrpSpPr>
            <a:grpSpLocks/>
          </p:cNvGrpSpPr>
          <p:nvPr/>
        </p:nvGrpSpPr>
        <p:grpSpPr bwMode="auto">
          <a:xfrm>
            <a:off x="1524000" y="4960938"/>
            <a:ext cx="804862" cy="369887"/>
            <a:chOff x="1001099" y="4100530"/>
            <a:chExt cx="805656" cy="369887"/>
          </a:xfrm>
        </p:grpSpPr>
        <p:sp>
          <p:nvSpPr>
            <p:cNvPr id="63539" name="Rectangle 10">
              <a:extLst>
                <a:ext uri="{FF2B5EF4-FFF2-40B4-BE49-F238E27FC236}">
                  <a16:creationId xmlns:a16="http://schemas.microsoft.com/office/drawing/2014/main" id="{943AA429-0D6F-674A-8B9D-251017A11FAB}"/>
                </a:ext>
              </a:extLst>
            </p:cNvPr>
            <p:cNvSpPr>
              <a:spLocks noChangeArrowheads="1"/>
            </p:cNvSpPr>
            <p:nvPr/>
          </p:nvSpPr>
          <p:spPr bwMode="auto">
            <a:xfrm>
              <a:off x="1001099" y="4100530"/>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t>
              </a:r>
            </a:p>
          </p:txBody>
        </p:sp>
        <p:sp>
          <p:nvSpPr>
            <p:cNvPr id="63540" name="Rectangle 11">
              <a:extLst>
                <a:ext uri="{FF2B5EF4-FFF2-40B4-BE49-F238E27FC236}">
                  <a16:creationId xmlns:a16="http://schemas.microsoft.com/office/drawing/2014/main" id="{37B0CB26-CAF6-654F-9D67-3848A43BC9C7}"/>
                </a:ext>
              </a:extLst>
            </p:cNvPr>
            <p:cNvSpPr>
              <a:spLocks noChangeArrowheads="1"/>
            </p:cNvSpPr>
            <p:nvPr/>
          </p:nvSpPr>
          <p:spPr bwMode="auto">
            <a:xfrm>
              <a:off x="1403927" y="4100530"/>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
              </a:r>
            </a:p>
          </p:txBody>
        </p:sp>
      </p:grpSp>
      <p:sp>
        <p:nvSpPr>
          <p:cNvPr id="63493" name="Rectangle 12">
            <a:extLst>
              <a:ext uri="{FF2B5EF4-FFF2-40B4-BE49-F238E27FC236}">
                <a16:creationId xmlns:a16="http://schemas.microsoft.com/office/drawing/2014/main" id="{90369AE5-CF34-E840-818C-0219C93BCA38}"/>
              </a:ext>
            </a:extLst>
          </p:cNvPr>
          <p:cNvSpPr>
            <a:spLocks noChangeArrowheads="1"/>
          </p:cNvSpPr>
          <p:nvPr/>
        </p:nvSpPr>
        <p:spPr bwMode="auto">
          <a:xfrm>
            <a:off x="2863850" y="4098925"/>
            <a:ext cx="401637"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494" name="Rectangle 13">
            <a:extLst>
              <a:ext uri="{FF2B5EF4-FFF2-40B4-BE49-F238E27FC236}">
                <a16:creationId xmlns:a16="http://schemas.microsoft.com/office/drawing/2014/main" id="{90C86B41-A505-4D4C-BE69-A3AE92BD7EBC}"/>
              </a:ext>
            </a:extLst>
          </p:cNvPr>
          <p:cNvSpPr>
            <a:spLocks noChangeArrowheads="1"/>
          </p:cNvSpPr>
          <p:nvPr/>
        </p:nvSpPr>
        <p:spPr bwMode="auto">
          <a:xfrm>
            <a:off x="7731125" y="4797425"/>
            <a:ext cx="403225" cy="369888"/>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W</a:t>
            </a:r>
          </a:p>
        </p:txBody>
      </p:sp>
      <p:grpSp>
        <p:nvGrpSpPr>
          <p:cNvPr id="63495" name="Group 9">
            <a:extLst>
              <a:ext uri="{FF2B5EF4-FFF2-40B4-BE49-F238E27FC236}">
                <a16:creationId xmlns:a16="http://schemas.microsoft.com/office/drawing/2014/main" id="{6A12E740-145F-874D-A976-908DEE459350}"/>
              </a:ext>
            </a:extLst>
          </p:cNvPr>
          <p:cNvGrpSpPr>
            <a:grpSpLocks/>
          </p:cNvGrpSpPr>
          <p:nvPr/>
        </p:nvGrpSpPr>
        <p:grpSpPr bwMode="auto">
          <a:xfrm>
            <a:off x="2863850" y="5146675"/>
            <a:ext cx="3222625" cy="369888"/>
            <a:chOff x="2783717" y="3915586"/>
            <a:chExt cx="3222624" cy="369887"/>
          </a:xfrm>
        </p:grpSpPr>
        <p:sp>
          <p:nvSpPr>
            <p:cNvPr id="63531" name="Rectangle 12">
              <a:extLst>
                <a:ext uri="{FF2B5EF4-FFF2-40B4-BE49-F238E27FC236}">
                  <a16:creationId xmlns:a16="http://schemas.microsoft.com/office/drawing/2014/main" id="{3642214B-89DD-084E-B6F7-6E1F2ABEA07E}"/>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2" name="Rectangle 12">
              <a:extLst>
                <a:ext uri="{FF2B5EF4-FFF2-40B4-BE49-F238E27FC236}">
                  <a16:creationId xmlns:a16="http://schemas.microsoft.com/office/drawing/2014/main" id="{12DF819C-1048-E84C-A56D-253E9FDBD543}"/>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3" name="Rectangle 12">
              <a:extLst>
                <a:ext uri="{FF2B5EF4-FFF2-40B4-BE49-F238E27FC236}">
                  <a16:creationId xmlns:a16="http://schemas.microsoft.com/office/drawing/2014/main" id="{3C4B8FE6-2D29-7643-A17F-EE7C403DAEA9}"/>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4" name="Rectangle 13">
              <a:extLst>
                <a:ext uri="{FF2B5EF4-FFF2-40B4-BE49-F238E27FC236}">
                  <a16:creationId xmlns:a16="http://schemas.microsoft.com/office/drawing/2014/main" id="{2DFAE24B-154B-F648-B685-7312DD42CCF2}"/>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5" name="Rectangle 12">
              <a:extLst>
                <a:ext uri="{FF2B5EF4-FFF2-40B4-BE49-F238E27FC236}">
                  <a16:creationId xmlns:a16="http://schemas.microsoft.com/office/drawing/2014/main" id="{8F95EB54-270A-134E-86C1-5E1FC77B2732}"/>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6" name="Rectangle 12">
              <a:extLst>
                <a:ext uri="{FF2B5EF4-FFF2-40B4-BE49-F238E27FC236}">
                  <a16:creationId xmlns:a16="http://schemas.microsoft.com/office/drawing/2014/main" id="{6EDBD512-C957-0C4A-B261-3FA2DEA7AEC2}"/>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7" name="Rectangle 12">
              <a:extLst>
                <a:ext uri="{FF2B5EF4-FFF2-40B4-BE49-F238E27FC236}">
                  <a16:creationId xmlns:a16="http://schemas.microsoft.com/office/drawing/2014/main" id="{F859AE5C-B7FD-7A47-9421-33FC7C1265AF}"/>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8" name="Rectangle 17">
              <a:extLst>
                <a:ext uri="{FF2B5EF4-FFF2-40B4-BE49-F238E27FC236}">
                  <a16:creationId xmlns:a16="http://schemas.microsoft.com/office/drawing/2014/main" id="{3CEF4DA0-63C1-B04F-AAD9-ACD2B5253603}"/>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grpSp>
        <p:nvGrpSpPr>
          <p:cNvPr id="63496" name="Group 18">
            <a:extLst>
              <a:ext uri="{FF2B5EF4-FFF2-40B4-BE49-F238E27FC236}">
                <a16:creationId xmlns:a16="http://schemas.microsoft.com/office/drawing/2014/main" id="{67C8C4D3-10DC-9043-AA76-2C5DAF9F51DF}"/>
              </a:ext>
            </a:extLst>
          </p:cNvPr>
          <p:cNvGrpSpPr>
            <a:grpSpLocks/>
          </p:cNvGrpSpPr>
          <p:nvPr/>
        </p:nvGrpSpPr>
        <p:grpSpPr bwMode="auto">
          <a:xfrm>
            <a:off x="2863850" y="4614863"/>
            <a:ext cx="1611312" cy="374650"/>
            <a:chOff x="2783717" y="3915586"/>
            <a:chExt cx="1611312" cy="374488"/>
          </a:xfrm>
        </p:grpSpPr>
        <p:sp>
          <p:nvSpPr>
            <p:cNvPr id="63527" name="Rectangle 12">
              <a:extLst>
                <a:ext uri="{FF2B5EF4-FFF2-40B4-BE49-F238E27FC236}">
                  <a16:creationId xmlns:a16="http://schemas.microsoft.com/office/drawing/2014/main" id="{8EC16EB9-18BF-8A45-B9C4-85F4F68D5B6F}"/>
                </a:ext>
              </a:extLst>
            </p:cNvPr>
            <p:cNvSpPr>
              <a:spLocks noChangeArrowheads="1"/>
            </p:cNvSpPr>
            <p:nvPr/>
          </p:nvSpPr>
          <p:spPr bwMode="auto">
            <a:xfrm>
              <a:off x="2783717" y="3920187"/>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8" name="Rectangle 12">
              <a:extLst>
                <a:ext uri="{FF2B5EF4-FFF2-40B4-BE49-F238E27FC236}">
                  <a16:creationId xmlns:a16="http://schemas.microsoft.com/office/drawing/2014/main" id="{DEC7896D-F7C5-AD44-92E9-76A3AFA26BFE}"/>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9" name="Rectangle 12">
              <a:extLst>
                <a:ext uri="{FF2B5EF4-FFF2-40B4-BE49-F238E27FC236}">
                  <a16:creationId xmlns:a16="http://schemas.microsoft.com/office/drawing/2014/main" id="{44E4D360-6AA8-E94A-A76C-81ACD5C7B1FB}"/>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30" name="Rectangle 12">
              <a:extLst>
                <a:ext uri="{FF2B5EF4-FFF2-40B4-BE49-F238E27FC236}">
                  <a16:creationId xmlns:a16="http://schemas.microsoft.com/office/drawing/2014/main" id="{123D556B-91E2-5E4B-80D9-F3878D4D90BD}"/>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grpSp>
        <p:nvGrpSpPr>
          <p:cNvPr id="63497" name="Group 23">
            <a:extLst>
              <a:ext uri="{FF2B5EF4-FFF2-40B4-BE49-F238E27FC236}">
                <a16:creationId xmlns:a16="http://schemas.microsoft.com/office/drawing/2014/main" id="{D247DEAF-FE56-D14D-AB14-AD34EB76FB69}"/>
              </a:ext>
            </a:extLst>
          </p:cNvPr>
          <p:cNvGrpSpPr>
            <a:grpSpLocks/>
          </p:cNvGrpSpPr>
          <p:nvPr/>
        </p:nvGrpSpPr>
        <p:grpSpPr bwMode="auto">
          <a:xfrm>
            <a:off x="2863850" y="5516563"/>
            <a:ext cx="3903662" cy="523875"/>
            <a:chOff x="2783717" y="5184853"/>
            <a:chExt cx="3904221" cy="523220"/>
          </a:xfrm>
        </p:grpSpPr>
        <p:grpSp>
          <p:nvGrpSpPr>
            <p:cNvPr id="63517" name="Group 24">
              <a:extLst>
                <a:ext uri="{FF2B5EF4-FFF2-40B4-BE49-F238E27FC236}">
                  <a16:creationId xmlns:a16="http://schemas.microsoft.com/office/drawing/2014/main" id="{3E70B571-DFD3-DF47-8416-21672FEE05EF}"/>
                </a:ext>
              </a:extLst>
            </p:cNvPr>
            <p:cNvGrpSpPr>
              <a:grpSpLocks/>
            </p:cNvGrpSpPr>
            <p:nvPr/>
          </p:nvGrpSpPr>
          <p:grpSpPr bwMode="auto">
            <a:xfrm>
              <a:off x="2783717" y="5338186"/>
              <a:ext cx="3222624" cy="369887"/>
              <a:chOff x="2783717" y="3915586"/>
              <a:chExt cx="3222624" cy="369887"/>
            </a:xfrm>
          </p:grpSpPr>
          <p:sp>
            <p:nvSpPr>
              <p:cNvPr id="63519" name="Rectangle 12">
                <a:extLst>
                  <a:ext uri="{FF2B5EF4-FFF2-40B4-BE49-F238E27FC236}">
                    <a16:creationId xmlns:a16="http://schemas.microsoft.com/office/drawing/2014/main" id="{282ECF65-41BD-F44E-B757-013726536BB0}"/>
                  </a:ext>
                </a:extLst>
              </p:cNvPr>
              <p:cNvSpPr>
                <a:spLocks noChangeArrowheads="1"/>
              </p:cNvSpPr>
              <p:nvPr/>
            </p:nvSpPr>
            <p:spPr bwMode="auto">
              <a:xfrm>
                <a:off x="278371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0" name="Rectangle 12">
                <a:extLst>
                  <a:ext uri="{FF2B5EF4-FFF2-40B4-BE49-F238E27FC236}">
                    <a16:creationId xmlns:a16="http://schemas.microsoft.com/office/drawing/2014/main" id="{C19AAE1D-39C7-8F49-94BF-780AC2090E2E}"/>
                  </a:ext>
                </a:extLst>
              </p:cNvPr>
              <p:cNvSpPr>
                <a:spLocks noChangeArrowheads="1"/>
              </p:cNvSpPr>
              <p:nvPr/>
            </p:nvSpPr>
            <p:spPr bwMode="auto">
              <a:xfrm>
                <a:off x="318654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1" name="Rectangle 12">
                <a:extLst>
                  <a:ext uri="{FF2B5EF4-FFF2-40B4-BE49-F238E27FC236}">
                    <a16:creationId xmlns:a16="http://schemas.microsoft.com/office/drawing/2014/main" id="{0CFC393A-62AE-8D49-AC23-25757D08F8D4}"/>
                  </a:ext>
                </a:extLst>
              </p:cNvPr>
              <p:cNvSpPr>
                <a:spLocks noChangeArrowheads="1"/>
              </p:cNvSpPr>
              <p:nvPr/>
            </p:nvSpPr>
            <p:spPr bwMode="auto">
              <a:xfrm>
                <a:off x="358937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2" name="Rectangle 29">
                <a:extLst>
                  <a:ext uri="{FF2B5EF4-FFF2-40B4-BE49-F238E27FC236}">
                    <a16:creationId xmlns:a16="http://schemas.microsoft.com/office/drawing/2014/main" id="{BD7DAF32-4388-7245-B342-8A0AC68618E7}"/>
                  </a:ext>
                </a:extLst>
              </p:cNvPr>
              <p:cNvSpPr>
                <a:spLocks noChangeArrowheads="1"/>
              </p:cNvSpPr>
              <p:nvPr/>
            </p:nvSpPr>
            <p:spPr bwMode="auto">
              <a:xfrm>
                <a:off x="3992201"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3" name="Rectangle 12">
                <a:extLst>
                  <a:ext uri="{FF2B5EF4-FFF2-40B4-BE49-F238E27FC236}">
                    <a16:creationId xmlns:a16="http://schemas.microsoft.com/office/drawing/2014/main" id="{CFF71284-6926-7543-86A0-97C5803B8E19}"/>
                  </a:ext>
                </a:extLst>
              </p:cNvPr>
              <p:cNvSpPr>
                <a:spLocks noChangeArrowheads="1"/>
              </p:cNvSpPr>
              <p:nvPr/>
            </p:nvSpPr>
            <p:spPr bwMode="auto">
              <a:xfrm>
                <a:off x="4395029"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4" name="Rectangle 12">
                <a:extLst>
                  <a:ext uri="{FF2B5EF4-FFF2-40B4-BE49-F238E27FC236}">
                    <a16:creationId xmlns:a16="http://schemas.microsoft.com/office/drawing/2014/main" id="{9DBCCF7B-6B55-F642-B5FD-1C07D49C88F4}"/>
                  </a:ext>
                </a:extLst>
              </p:cNvPr>
              <p:cNvSpPr>
                <a:spLocks noChangeArrowheads="1"/>
              </p:cNvSpPr>
              <p:nvPr/>
            </p:nvSpPr>
            <p:spPr bwMode="auto">
              <a:xfrm>
                <a:off x="4797857"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5" name="Rectangle 12">
                <a:extLst>
                  <a:ext uri="{FF2B5EF4-FFF2-40B4-BE49-F238E27FC236}">
                    <a16:creationId xmlns:a16="http://schemas.microsoft.com/office/drawing/2014/main" id="{43BB4F32-C5CF-9A4E-AE22-D656723F9DAF}"/>
                  </a:ext>
                </a:extLst>
              </p:cNvPr>
              <p:cNvSpPr>
                <a:spLocks noChangeArrowheads="1"/>
              </p:cNvSpPr>
              <p:nvPr/>
            </p:nvSpPr>
            <p:spPr bwMode="auto">
              <a:xfrm>
                <a:off x="5200685"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sp>
            <p:nvSpPr>
              <p:cNvPr id="63526" name="Rectangle 33">
                <a:extLst>
                  <a:ext uri="{FF2B5EF4-FFF2-40B4-BE49-F238E27FC236}">
                    <a16:creationId xmlns:a16="http://schemas.microsoft.com/office/drawing/2014/main" id="{F337BD8C-1BF0-8D4A-B1CB-25B718D223C5}"/>
                  </a:ext>
                </a:extLst>
              </p:cNvPr>
              <p:cNvSpPr>
                <a:spLocks noChangeArrowheads="1"/>
              </p:cNvSpPr>
              <p:nvPr/>
            </p:nvSpPr>
            <p:spPr bwMode="auto">
              <a:xfrm>
                <a:off x="5603513" y="3915586"/>
                <a:ext cx="402828"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a:t>
                </a:r>
              </a:p>
            </p:txBody>
          </p:sp>
        </p:grpSp>
        <p:sp>
          <p:nvSpPr>
            <p:cNvPr id="63518" name="TextBox 25">
              <a:extLst>
                <a:ext uri="{FF2B5EF4-FFF2-40B4-BE49-F238E27FC236}">
                  <a16:creationId xmlns:a16="http://schemas.microsoft.com/office/drawing/2014/main" id="{89865CBC-65F1-2449-8343-31B873D6663D}"/>
                </a:ext>
              </a:extLst>
            </p:cNvPr>
            <p:cNvSpPr txBox="1">
              <a:spLocks noChangeArrowheads="1"/>
            </p:cNvSpPr>
            <p:nvPr/>
          </p:nvSpPr>
          <p:spPr bwMode="auto">
            <a:xfrm>
              <a:off x="6006341" y="5184853"/>
              <a:ext cx="68159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 .</a:t>
              </a:r>
            </a:p>
          </p:txBody>
        </p:sp>
      </p:grpSp>
      <p:cxnSp>
        <p:nvCxnSpPr>
          <p:cNvPr id="63498" name="Straight Connector 34">
            <a:extLst>
              <a:ext uri="{FF2B5EF4-FFF2-40B4-BE49-F238E27FC236}">
                <a16:creationId xmlns:a16="http://schemas.microsoft.com/office/drawing/2014/main" id="{E065EA7D-CF2D-5645-80B5-E5C144E39567}"/>
              </a:ext>
            </a:extLst>
          </p:cNvPr>
          <p:cNvCxnSpPr>
            <a:cxnSpLocks noChangeShapeType="1"/>
          </p:cNvCxnSpPr>
          <p:nvPr/>
        </p:nvCxnSpPr>
        <p:spPr bwMode="auto">
          <a:xfrm>
            <a:off x="2328862" y="5146675"/>
            <a:ext cx="244475"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499" name="Straight Connector 35">
            <a:extLst>
              <a:ext uri="{FF2B5EF4-FFF2-40B4-BE49-F238E27FC236}">
                <a16:creationId xmlns:a16="http://schemas.microsoft.com/office/drawing/2014/main" id="{BFC411BD-3E90-0F43-B8A4-2AD89E3E9A9D}"/>
              </a:ext>
            </a:extLst>
          </p:cNvPr>
          <p:cNvCxnSpPr>
            <a:cxnSpLocks noChangeShapeType="1"/>
          </p:cNvCxnSpPr>
          <p:nvPr/>
        </p:nvCxnSpPr>
        <p:spPr bwMode="auto">
          <a:xfrm rot="5400000">
            <a:off x="1769269" y="5060156"/>
            <a:ext cx="1606550"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500" name="Straight Arrow Connector 36">
            <a:extLst>
              <a:ext uri="{FF2B5EF4-FFF2-40B4-BE49-F238E27FC236}">
                <a16:creationId xmlns:a16="http://schemas.microsoft.com/office/drawing/2014/main" id="{C8AE1B6F-027C-6246-A1F3-E5DB59F23CA5}"/>
              </a:ext>
            </a:extLst>
          </p:cNvPr>
          <p:cNvCxnSpPr>
            <a:cxnSpLocks noChangeShapeType="1"/>
          </p:cNvCxnSpPr>
          <p:nvPr/>
        </p:nvCxnSpPr>
        <p:spPr bwMode="auto">
          <a:xfrm>
            <a:off x="2573337" y="5864225"/>
            <a:ext cx="290513"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1" name="Straight Arrow Connector 37">
            <a:extLst>
              <a:ext uri="{FF2B5EF4-FFF2-40B4-BE49-F238E27FC236}">
                <a16:creationId xmlns:a16="http://schemas.microsoft.com/office/drawing/2014/main" id="{7C87D34A-C9B4-614D-B6C0-2A9BA00E3B53}"/>
              </a:ext>
            </a:extLst>
          </p:cNvPr>
          <p:cNvCxnSpPr>
            <a:cxnSpLocks noChangeShapeType="1"/>
          </p:cNvCxnSpPr>
          <p:nvPr/>
        </p:nvCxnSpPr>
        <p:spPr bwMode="auto">
          <a:xfrm>
            <a:off x="2573337" y="5330825"/>
            <a:ext cx="290513"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2" name="Straight Arrow Connector 38">
            <a:extLst>
              <a:ext uri="{FF2B5EF4-FFF2-40B4-BE49-F238E27FC236}">
                <a16:creationId xmlns:a16="http://schemas.microsoft.com/office/drawing/2014/main" id="{FB59AB9C-D60F-214D-B56C-B03E57696E2A}"/>
              </a:ext>
            </a:extLst>
          </p:cNvPr>
          <p:cNvCxnSpPr>
            <a:cxnSpLocks noChangeShapeType="1"/>
          </p:cNvCxnSpPr>
          <p:nvPr/>
        </p:nvCxnSpPr>
        <p:spPr bwMode="auto">
          <a:xfrm>
            <a:off x="2581275" y="4257675"/>
            <a:ext cx="2889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3" name="Straight Arrow Connector 39">
            <a:extLst>
              <a:ext uri="{FF2B5EF4-FFF2-40B4-BE49-F238E27FC236}">
                <a16:creationId xmlns:a16="http://schemas.microsoft.com/office/drawing/2014/main" id="{34BCBF34-29B9-4A44-8B29-5DA21CDA843E}"/>
              </a:ext>
            </a:extLst>
          </p:cNvPr>
          <p:cNvCxnSpPr>
            <a:cxnSpLocks noChangeShapeType="1"/>
          </p:cNvCxnSpPr>
          <p:nvPr/>
        </p:nvCxnSpPr>
        <p:spPr bwMode="auto">
          <a:xfrm>
            <a:off x="2579687" y="4803775"/>
            <a:ext cx="2889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4" name="Straight Connector 40">
            <a:extLst>
              <a:ext uri="{FF2B5EF4-FFF2-40B4-BE49-F238E27FC236}">
                <a16:creationId xmlns:a16="http://schemas.microsoft.com/office/drawing/2014/main" id="{7451BC4A-8AAC-9849-901A-E85F1712191C}"/>
              </a:ext>
            </a:extLst>
          </p:cNvPr>
          <p:cNvCxnSpPr>
            <a:cxnSpLocks noChangeShapeType="1"/>
          </p:cNvCxnSpPr>
          <p:nvPr/>
        </p:nvCxnSpPr>
        <p:spPr bwMode="auto">
          <a:xfrm rot="5400000">
            <a:off x="6053931" y="5061744"/>
            <a:ext cx="160655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505" name="Straight Arrow Connector 41">
            <a:extLst>
              <a:ext uri="{FF2B5EF4-FFF2-40B4-BE49-F238E27FC236}">
                <a16:creationId xmlns:a16="http://schemas.microsoft.com/office/drawing/2014/main" id="{427FAE95-B713-8840-B05E-CC5DC4393274}"/>
              </a:ext>
            </a:extLst>
          </p:cNvPr>
          <p:cNvCxnSpPr>
            <a:cxnSpLocks noChangeShapeType="1"/>
          </p:cNvCxnSpPr>
          <p:nvPr/>
        </p:nvCxnSpPr>
        <p:spPr bwMode="auto">
          <a:xfrm>
            <a:off x="6858000" y="4989513"/>
            <a:ext cx="234950" cy="1587"/>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63506" name="Straight Arrow Connector 42">
            <a:extLst>
              <a:ext uri="{FF2B5EF4-FFF2-40B4-BE49-F238E27FC236}">
                <a16:creationId xmlns:a16="http://schemas.microsoft.com/office/drawing/2014/main" id="{73746E6D-2B56-B542-B986-6A9D8F8164BC}"/>
              </a:ext>
            </a:extLst>
          </p:cNvPr>
          <p:cNvCxnSpPr>
            <a:cxnSpLocks noChangeShapeType="1"/>
            <a:stCxn id="63493" idx="3"/>
          </p:cNvCxnSpPr>
          <p:nvPr/>
        </p:nvCxnSpPr>
        <p:spPr bwMode="auto">
          <a:xfrm>
            <a:off x="3265487" y="4284663"/>
            <a:ext cx="3592513"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7" name="Straight Arrow Connector 43">
            <a:extLst>
              <a:ext uri="{FF2B5EF4-FFF2-40B4-BE49-F238E27FC236}">
                <a16:creationId xmlns:a16="http://schemas.microsoft.com/office/drawing/2014/main" id="{24ECAC27-C55B-A34F-ABF9-B9BC324A2E99}"/>
              </a:ext>
            </a:extLst>
          </p:cNvPr>
          <p:cNvCxnSpPr>
            <a:cxnSpLocks noChangeShapeType="1"/>
          </p:cNvCxnSpPr>
          <p:nvPr/>
        </p:nvCxnSpPr>
        <p:spPr bwMode="auto">
          <a:xfrm>
            <a:off x="4475162" y="4799013"/>
            <a:ext cx="2382838" cy="4762"/>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8" name="Straight Arrow Connector 44">
            <a:extLst>
              <a:ext uri="{FF2B5EF4-FFF2-40B4-BE49-F238E27FC236}">
                <a16:creationId xmlns:a16="http://schemas.microsoft.com/office/drawing/2014/main" id="{E756EF74-6AE6-7A41-896E-EAEF20E8274A}"/>
              </a:ext>
            </a:extLst>
          </p:cNvPr>
          <p:cNvCxnSpPr>
            <a:cxnSpLocks noChangeShapeType="1"/>
          </p:cNvCxnSpPr>
          <p:nvPr/>
        </p:nvCxnSpPr>
        <p:spPr bwMode="auto">
          <a:xfrm flipV="1">
            <a:off x="6086475" y="5330825"/>
            <a:ext cx="771525"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3509" name="Straight Arrow Connector 45">
            <a:extLst>
              <a:ext uri="{FF2B5EF4-FFF2-40B4-BE49-F238E27FC236}">
                <a16:creationId xmlns:a16="http://schemas.microsoft.com/office/drawing/2014/main" id="{11E61F52-D89B-7C43-9138-AD59982A5CA3}"/>
              </a:ext>
            </a:extLst>
          </p:cNvPr>
          <p:cNvCxnSpPr>
            <a:cxnSpLocks noChangeShapeType="1"/>
          </p:cNvCxnSpPr>
          <p:nvPr/>
        </p:nvCxnSpPr>
        <p:spPr bwMode="auto">
          <a:xfrm>
            <a:off x="6656387" y="5865813"/>
            <a:ext cx="201613"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3510" name="TextBox 46">
            <a:extLst>
              <a:ext uri="{FF2B5EF4-FFF2-40B4-BE49-F238E27FC236}">
                <a16:creationId xmlns:a16="http://schemas.microsoft.com/office/drawing/2014/main" id="{96E64F1B-AADB-6443-91C1-688C61C05891}"/>
              </a:ext>
            </a:extLst>
          </p:cNvPr>
          <p:cNvSpPr txBox="1">
            <a:spLocks noChangeArrowheads="1"/>
          </p:cNvSpPr>
          <p:nvPr/>
        </p:nvSpPr>
        <p:spPr bwMode="auto">
          <a:xfrm>
            <a:off x="3395662" y="4010025"/>
            <a:ext cx="1089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Integer add</a:t>
            </a:r>
          </a:p>
        </p:txBody>
      </p:sp>
      <p:sp>
        <p:nvSpPr>
          <p:cNvPr id="63511" name="TextBox 47">
            <a:extLst>
              <a:ext uri="{FF2B5EF4-FFF2-40B4-BE49-F238E27FC236}">
                <a16:creationId xmlns:a16="http://schemas.microsoft.com/office/drawing/2014/main" id="{41FF8A69-DA77-2A4D-AAFC-3E2D5991A8E0}"/>
              </a:ext>
            </a:extLst>
          </p:cNvPr>
          <p:cNvSpPr txBox="1">
            <a:spLocks noChangeArrowheads="1"/>
          </p:cNvSpPr>
          <p:nvPr/>
        </p:nvSpPr>
        <p:spPr bwMode="auto">
          <a:xfrm>
            <a:off x="4594225" y="4405313"/>
            <a:ext cx="1079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Integer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mul</a:t>
            </a: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2" name="TextBox 48">
            <a:extLst>
              <a:ext uri="{FF2B5EF4-FFF2-40B4-BE49-F238E27FC236}">
                <a16:creationId xmlns:a16="http://schemas.microsoft.com/office/drawing/2014/main" id="{DA1CBA82-E37D-344D-BB36-03D179C264A4}"/>
              </a:ext>
            </a:extLst>
          </p:cNvPr>
          <p:cNvSpPr txBox="1">
            <a:spLocks noChangeArrowheads="1"/>
          </p:cNvSpPr>
          <p:nvPr/>
        </p:nvSpPr>
        <p:spPr bwMode="auto">
          <a:xfrm>
            <a:off x="6086475" y="4960938"/>
            <a:ext cx="7477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FP </a:t>
            </a:r>
            <a:r>
              <a:rPr kumimoji="0" lang="en-US" altLang="en-US" sz="1400" b="0" i="0" u="none" strike="noStrike" kern="1200" cap="none" spc="0" normalizeH="0" baseline="0" noProof="0" dirty="0" err="1">
                <a:ln>
                  <a:noFill/>
                </a:ln>
                <a:solidFill>
                  <a:srgbClr val="000000"/>
                </a:solidFill>
                <a:effectLst/>
                <a:uLnTx/>
                <a:uFillTx/>
                <a:latin typeface="Arial" panose="020B0604020202020204" pitchFamily="34" charset="0"/>
                <a:ea typeface="ＭＳ Ｐゴシック" panose="020B0600070205080204" pitchFamily="34" charset="-128"/>
                <a:cs typeface="+mn-cs"/>
              </a:rPr>
              <a:t>mul</a:t>
            </a:r>
            <a:endParaRPr kumimoji="0" lang="en-US" altLang="en-US" sz="14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3513" name="TextBox 49">
            <a:extLst>
              <a:ext uri="{FF2B5EF4-FFF2-40B4-BE49-F238E27FC236}">
                <a16:creationId xmlns:a16="http://schemas.microsoft.com/office/drawing/2014/main" id="{1D0C734E-89C4-DE4B-9A74-129B2A8CA89A}"/>
              </a:ext>
            </a:extLst>
          </p:cNvPr>
          <p:cNvSpPr txBox="1">
            <a:spLocks noChangeArrowheads="1"/>
          </p:cNvSpPr>
          <p:nvPr/>
        </p:nvSpPr>
        <p:spPr bwMode="auto">
          <a:xfrm>
            <a:off x="6108700" y="6048375"/>
            <a:ext cx="12207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Load/store</a:t>
            </a:r>
          </a:p>
        </p:txBody>
      </p:sp>
      <p:sp>
        <p:nvSpPr>
          <p:cNvPr id="63514" name="Rectangle 13">
            <a:extLst>
              <a:ext uri="{FF2B5EF4-FFF2-40B4-BE49-F238E27FC236}">
                <a16:creationId xmlns:a16="http://schemas.microsoft.com/office/drawing/2014/main" id="{9DF77289-C834-CA47-B2C7-1CA9F045D49A}"/>
              </a:ext>
            </a:extLst>
          </p:cNvPr>
          <p:cNvSpPr>
            <a:spLocks noChangeArrowheads="1"/>
          </p:cNvSpPr>
          <p:nvPr/>
        </p:nvSpPr>
        <p:spPr bwMode="auto">
          <a:xfrm>
            <a:off x="7092950" y="4805363"/>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cxnSp>
        <p:nvCxnSpPr>
          <p:cNvPr id="63515" name="Straight Arrow Connector 51">
            <a:extLst>
              <a:ext uri="{FF2B5EF4-FFF2-40B4-BE49-F238E27FC236}">
                <a16:creationId xmlns:a16="http://schemas.microsoft.com/office/drawing/2014/main" id="{AC5CAFDF-E05D-D041-B5C3-B8F9AFB15216}"/>
              </a:ext>
            </a:extLst>
          </p:cNvPr>
          <p:cNvCxnSpPr>
            <a:cxnSpLocks noChangeShapeType="1"/>
          </p:cNvCxnSpPr>
          <p:nvPr/>
        </p:nvCxnSpPr>
        <p:spPr bwMode="auto">
          <a:xfrm>
            <a:off x="7496175" y="4983163"/>
            <a:ext cx="234950" cy="1587"/>
          </a:xfrm>
          <a:prstGeom prst="straightConnector1">
            <a:avLst/>
          </a:prstGeom>
          <a:noFill/>
          <a:ln w="9525">
            <a:solidFill>
              <a:srgbClr val="0432FF"/>
            </a:solidFill>
            <a:round/>
            <a:headEnd/>
            <a:tailEnd type="arrow" w="med" len="med"/>
          </a:ln>
          <a:extLst>
            <a:ext uri="{909E8E84-426E-40DD-AFC4-6F175D3DCCD1}">
              <a14:hiddenFill xmlns:a14="http://schemas.microsoft.com/office/drawing/2010/main">
                <a:noFill/>
              </a14:hiddenFill>
            </a:ext>
          </a:extLst>
        </p:spPr>
      </p:cxnSp>
      <p:sp>
        <p:nvSpPr>
          <p:cNvPr id="63516" name="Rectangle 13">
            <a:extLst>
              <a:ext uri="{FF2B5EF4-FFF2-40B4-BE49-F238E27FC236}">
                <a16:creationId xmlns:a16="http://schemas.microsoft.com/office/drawing/2014/main" id="{D34011F0-3925-3248-BA3E-0E9205FC398F}"/>
              </a:ext>
            </a:extLst>
          </p:cNvPr>
          <p:cNvSpPr>
            <a:spLocks noChangeArrowheads="1"/>
          </p:cNvSpPr>
          <p:nvPr/>
        </p:nvSpPr>
        <p:spPr bwMode="auto">
          <a:xfrm>
            <a:off x="1930400" y="5329238"/>
            <a:ext cx="403225" cy="369887"/>
          </a:xfrm>
          <a:prstGeom prst="rect">
            <a:avLst/>
          </a:prstGeom>
          <a:solidFill>
            <a:schemeClr val="bg1"/>
          </a:solidFill>
          <a:ln w="9525">
            <a:solidFill>
              <a:schemeClr val="tx1"/>
            </a:solidFill>
            <a:round/>
            <a:headEnd/>
            <a:tailEnd/>
          </a:ln>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R</a:t>
            </a:r>
          </a:p>
        </p:txBody>
      </p:sp>
      <p:sp>
        <p:nvSpPr>
          <p:cNvPr id="54" name="TextBox 71">
            <a:extLst>
              <a:ext uri="{FF2B5EF4-FFF2-40B4-BE49-F238E27FC236}">
                <a16:creationId xmlns:a16="http://schemas.microsoft.com/office/drawing/2014/main" id="{10E9B016-55F2-4AF1-ABC2-AD1FCC9393AE}"/>
              </a:ext>
            </a:extLst>
          </p:cNvPr>
          <p:cNvSpPr txBox="1">
            <a:spLocks noChangeArrowheads="1"/>
          </p:cNvSpPr>
          <p:nvPr/>
        </p:nvSpPr>
        <p:spPr bwMode="auto">
          <a:xfrm>
            <a:off x="6446837" y="3879612"/>
            <a:ext cx="15568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FF0000"/>
                </a:solidFill>
                <a:cs typeface="Arial" panose="020B0604020202020204" pitchFamily="34" charset="0"/>
              </a:rPr>
              <a:t>Out of Order</a:t>
            </a:r>
          </a:p>
        </p:txBody>
      </p:sp>
      <p:sp>
        <p:nvSpPr>
          <p:cNvPr id="55" name="TextBox 72">
            <a:extLst>
              <a:ext uri="{FF2B5EF4-FFF2-40B4-BE49-F238E27FC236}">
                <a16:creationId xmlns:a16="http://schemas.microsoft.com/office/drawing/2014/main" id="{BA161944-DD22-459A-A575-9B7DB896606E}"/>
              </a:ext>
            </a:extLst>
          </p:cNvPr>
          <p:cNvSpPr txBox="1">
            <a:spLocks noChangeArrowheads="1"/>
          </p:cNvSpPr>
          <p:nvPr/>
        </p:nvSpPr>
        <p:spPr bwMode="auto">
          <a:xfrm>
            <a:off x="7213600" y="5216049"/>
            <a:ext cx="10438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solidFill>
                  <a:srgbClr val="0432FF"/>
                </a:solidFill>
                <a:cs typeface="Arial" panose="020B0604020202020204" pitchFamily="34" charset="0"/>
              </a:rPr>
              <a:t>In order</a:t>
            </a:r>
          </a:p>
        </p:txBody>
      </p:sp>
    </p:spTree>
    <p:extLst>
      <p:ext uri="{BB962C8B-B14F-4D97-AF65-F5344CB8AC3E}">
        <p14:creationId xmlns:p14="http://schemas.microsoft.com/office/powerpoint/2010/main" val="32514661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427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427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427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68BE1971-345C-3443-B104-23D5CC0831C1}"/>
              </a:ext>
            </a:extLst>
          </p:cNvPr>
          <p:cNvSpPr>
            <a:spLocks noGrp="1" noChangeArrowheads="1"/>
          </p:cNvSpPr>
          <p:nvPr>
            <p:ph type="title"/>
          </p:nvPr>
        </p:nvSpPr>
        <p:spPr/>
        <p:txBody>
          <a:bodyPr/>
          <a:lstStyle/>
          <a:p>
            <a:r>
              <a:rPr lang="en-US" altLang="en-US">
                <a:ea typeface="ＭＳ Ｐゴシック" panose="020B0600070205080204" pitchFamily="34" charset="-128"/>
              </a:rPr>
              <a:t>Reorder Buffer Tradeoffs</a:t>
            </a:r>
          </a:p>
        </p:txBody>
      </p:sp>
      <p:sp>
        <p:nvSpPr>
          <p:cNvPr id="63490" name="Content Placeholder 2">
            <a:extLst>
              <a:ext uri="{FF2B5EF4-FFF2-40B4-BE49-F238E27FC236}">
                <a16:creationId xmlns:a16="http://schemas.microsoft.com/office/drawing/2014/main" id="{3613F24C-62FF-3D47-9E42-539CF90724C5}"/>
              </a:ext>
            </a:extLst>
          </p:cNvPr>
          <p:cNvSpPr>
            <a:spLocks noGrp="1" noChangeArrowheads="1"/>
          </p:cNvSpPr>
          <p:nvPr>
            <p:ph idx="1"/>
          </p:nvPr>
        </p:nvSpPr>
        <p:spPr>
          <a:xfrm>
            <a:off x="230981" y="1224742"/>
            <a:ext cx="8682038" cy="4413250"/>
          </a:xfrm>
        </p:spPr>
        <p:txBody>
          <a:bodyPr/>
          <a:lstStyle/>
          <a:p>
            <a:r>
              <a:rPr lang="en-US" altLang="en-US" b="1" dirty="0">
                <a:ea typeface="ＭＳ Ｐゴシック" panose="020B0600070205080204" pitchFamily="34" charset="-128"/>
              </a:rPr>
              <a:t>Advantages</a:t>
            </a:r>
          </a:p>
          <a:p>
            <a:pPr lvl="1"/>
            <a:r>
              <a:rPr lang="en-US" altLang="en-US" dirty="0">
                <a:ea typeface="ＭＳ Ｐゴシック" panose="020B0600070205080204" pitchFamily="34" charset="-128"/>
              </a:rPr>
              <a:t>Conceptually simple for supporting precise exceptions</a:t>
            </a:r>
          </a:p>
          <a:p>
            <a:pPr lvl="1"/>
            <a:r>
              <a:rPr lang="en-US" altLang="en-US" dirty="0">
                <a:ea typeface="ＭＳ Ｐゴシック" panose="020B0600070205080204" pitchFamily="34" charset="-128"/>
              </a:rPr>
              <a:t>Can eliminate false dependences</a:t>
            </a:r>
          </a:p>
          <a:p>
            <a:pPr lvl="1"/>
            <a:endParaRPr lang="en-US" altLang="en-US" dirty="0">
              <a:ea typeface="ＭＳ Ｐゴシック" panose="020B0600070205080204" pitchFamily="34" charset="-128"/>
            </a:endParaRPr>
          </a:p>
          <a:p>
            <a:r>
              <a:rPr lang="en-US" altLang="en-US" b="1" dirty="0">
                <a:ea typeface="ＭＳ Ｐゴシック" panose="020B0600070205080204" pitchFamily="34" charset="-128"/>
              </a:rPr>
              <a:t>Disadvantages</a:t>
            </a:r>
          </a:p>
          <a:p>
            <a:pPr lvl="1"/>
            <a:r>
              <a:rPr lang="en-US" altLang="en-US" dirty="0">
                <a:ea typeface="ＭＳ Ｐゴシック" panose="020B0600070205080204" pitchFamily="34" charset="-128"/>
              </a:rPr>
              <a:t>Reorder buffer needs to be accessed to get the results that are yet to be written to the register file</a:t>
            </a:r>
          </a:p>
          <a:p>
            <a:pPr lvl="2"/>
            <a:r>
              <a:rPr lang="en-US" altLang="en-US" dirty="0">
                <a:ea typeface="ＭＳ Ｐゴシック" panose="020B0600070205080204" pitchFamily="34" charset="-128"/>
              </a:rPr>
              <a:t>Indirection </a:t>
            </a:r>
            <a:r>
              <a:rPr lang="en-US" altLang="en-US" dirty="0">
                <a:ea typeface="ＭＳ Ｐゴシック" panose="020B0600070205080204" pitchFamily="34" charset="-128"/>
                <a:sym typeface="Wingdings" pitchFamily="2" charset="2"/>
              </a:rPr>
              <a:t> increased latency and complexity</a:t>
            </a:r>
          </a:p>
          <a:p>
            <a:pPr lvl="2"/>
            <a:endParaRPr lang="en-US" altLang="en-US" dirty="0">
              <a:ea typeface="ＭＳ Ｐゴシック" panose="020B0600070205080204" pitchFamily="34" charset="-128"/>
            </a:endParaRPr>
          </a:p>
        </p:txBody>
      </p:sp>
      <p:sp>
        <p:nvSpPr>
          <p:cNvPr id="64515" name="Slide Number Placeholder 3">
            <a:extLst>
              <a:ext uri="{FF2B5EF4-FFF2-40B4-BE49-F238E27FC236}">
                <a16:creationId xmlns:a16="http://schemas.microsoft.com/office/drawing/2014/main" id="{FE147A15-6F95-9944-8E75-2887E5F1A0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24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accent2"/>
              </a:buClr>
              <a:buSzPct val="60000"/>
              <a:buFont typeface="Wingdings" pitchFamily="2" charset="2"/>
              <a:buChar char="q"/>
              <a:defRPr sz="22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accent1"/>
              </a:buClr>
              <a:buSzPct val="65000"/>
              <a:buFont typeface="Wingdings" pitchFamily="2" charset="2"/>
              <a:buChar char="n"/>
              <a:defRPr sz="20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itchFamily="2" charset="2"/>
              <a:buChar char="q"/>
              <a:defRPr>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75000"/>
              <a:buFont typeface="Wingdings" pitchFamily="2" charset="2"/>
              <a:buChar char="§"/>
              <a:defRPr sz="1600">
                <a:solidFill>
                  <a:schemeClr val="tx1"/>
                </a:solidFill>
                <a:latin typeface="Tahoma" panose="020B0604030504040204" pitchFamily="34"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9A4EBF1-7416-9B4D-90BD-0BDDBD7F0A08}" type="slidenum">
              <a:rPr kumimoji="0" lang="en-US" altLang="en-US" sz="1600" b="0" i="0" u="none" strike="noStrike" kern="1200" cap="none" spc="0" normalizeH="0" baseline="0" noProof="0" smtClean="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altLang="en-US" sz="1600" b="0" i="0" u="none" strike="noStrike" kern="1200" cap="none" spc="0" normalizeH="0" baseline="0" noProof="0">
              <a:ln>
                <a:noFill/>
              </a:ln>
              <a:solidFill>
                <a:srgbClr val="000000"/>
              </a:solidFill>
              <a:effectLst/>
              <a:uLnTx/>
              <a:uFillTx/>
              <a:latin typeface="Garamond" panose="02020404030301010803" pitchFamily="18"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1006940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0">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349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49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76200" y="152400"/>
            <a:ext cx="9067800" cy="697468"/>
          </a:xfrm>
        </p:spPr>
        <p:txBody>
          <a:bodyPr/>
          <a:lstStyle/>
          <a:p>
            <a:r>
              <a:rPr lang="en-US" altLang="zh-CN" sz="3600" dirty="0"/>
              <a:t>Can Reorder Buffer Change This Map?</a:t>
            </a:r>
            <a:endParaRPr lang="en-US" altLang="zh-CN" sz="3600" dirty="0">
              <a:solidFill>
                <a:schemeClr val="tx1"/>
              </a:solidFill>
            </a:endParaRPr>
          </a:p>
        </p:txBody>
      </p:sp>
      <p:graphicFrame>
        <p:nvGraphicFramePr>
          <p:cNvPr id="9" name="内容占位符 8">
            <a:extLst>
              <a:ext uri="{FF2B5EF4-FFF2-40B4-BE49-F238E27FC236}">
                <a16:creationId xmlns:a16="http://schemas.microsoft.com/office/drawing/2014/main" id="{F47F814A-E7BE-4096-BB98-DAB7846AEE35}"/>
              </a:ext>
            </a:extLst>
          </p:cNvPr>
          <p:cNvGraphicFramePr>
            <a:graphicFrameLocks noGrp="1"/>
          </p:cNvGraphicFramePr>
          <p:nvPr>
            <p:ph idx="1"/>
          </p:nvPr>
        </p:nvGraphicFramePr>
        <p:xfrm>
          <a:off x="914400" y="1600200"/>
          <a:ext cx="7543800" cy="39274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5668714"/>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99_Edge">
  <a:themeElements>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1_Edge">
      <a:majorFont>
        <a:latin typeface="Garamond"/>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1_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1_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1_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1_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1_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1_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49539</TotalTime>
  <Words>5693</Words>
  <Application>Microsoft Macintosh PowerPoint</Application>
  <PresentationFormat>On-screen Show (4:3)</PresentationFormat>
  <Paragraphs>1478</Paragraphs>
  <Slides>82</Slides>
  <Notes>31</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82</vt:i4>
      </vt:variant>
    </vt:vector>
  </HeadingPairs>
  <TitlesOfParts>
    <vt:vector size="99" baseType="lpstr">
      <vt:lpstr>ＭＳ Ｐゴシック</vt:lpstr>
      <vt:lpstr>Arial</vt:lpstr>
      <vt:lpstr>Arial Narrow</vt:lpstr>
      <vt:lpstr>Bahnschrift Condensed</vt:lpstr>
      <vt:lpstr>Calibri</vt:lpstr>
      <vt:lpstr>Cambria Math</vt:lpstr>
      <vt:lpstr>Comic Sans MS</vt:lpstr>
      <vt:lpstr>Consolas</vt:lpstr>
      <vt:lpstr>Garamond</vt:lpstr>
      <vt:lpstr>Tahoma</vt:lpstr>
      <vt:lpstr>Times New Roman</vt:lpstr>
      <vt:lpstr>Verdana</vt:lpstr>
      <vt:lpstr>Wingdings</vt:lpstr>
      <vt:lpstr>Wingdings 2</vt:lpstr>
      <vt:lpstr>Edge</vt:lpstr>
      <vt:lpstr>99_Edge</vt:lpstr>
      <vt:lpstr>VISIO</vt:lpstr>
      <vt:lpstr> Computer Arch. &amp; AI Chip  Lecture 2: Pipeline Hazard + Reorder Buffer </vt:lpstr>
      <vt:lpstr>Recall: Axiom</vt:lpstr>
      <vt:lpstr>Recall: Amdahl’s Law</vt:lpstr>
      <vt:lpstr>Recall: Key Term in Roofline Model</vt:lpstr>
      <vt:lpstr>Recall: Roofline Model’s 3 Steps</vt:lpstr>
      <vt:lpstr>Recall: Little’s Law：Intuition</vt:lpstr>
      <vt:lpstr>Recall: Little’s Law Used in Memory Subsystem</vt:lpstr>
      <vt:lpstr>Recall von Neumann Model: Key Properties</vt:lpstr>
      <vt:lpstr>Where Are We?</vt:lpstr>
      <vt:lpstr>Outline</vt:lpstr>
      <vt:lpstr>Pipeline hazards</vt:lpstr>
      <vt:lpstr>Outline</vt:lpstr>
      <vt:lpstr>Structural hazard</vt:lpstr>
      <vt:lpstr>Structural Hazard: Multi Ports of Register File</vt:lpstr>
      <vt:lpstr>Instruction and Data Memory Ports Split</vt:lpstr>
      <vt:lpstr>Outline</vt:lpstr>
      <vt:lpstr>Data Dependences</vt:lpstr>
      <vt:lpstr>Data Dependence Types</vt:lpstr>
      <vt:lpstr>How to Handle Data Dependences</vt:lpstr>
      <vt:lpstr>Outline</vt:lpstr>
      <vt:lpstr>Remember: Data Dependence Types</vt:lpstr>
      <vt:lpstr>RAW Data Dependence: Example</vt:lpstr>
      <vt:lpstr>How to Handle Data Dependences</vt:lpstr>
      <vt:lpstr>Hardware Pipeline Stall for Flow Dependency</vt:lpstr>
      <vt:lpstr>Hardware Pipeline Stall: An Example</vt:lpstr>
      <vt:lpstr>Pipeline Stall: Resolving Data Dependence</vt:lpstr>
      <vt:lpstr>How to Implement Stalling in Pipeline?</vt:lpstr>
      <vt:lpstr>Hardware Needed for Stalling</vt:lpstr>
      <vt:lpstr>Stalling and Dependence Detection Hardware</vt:lpstr>
      <vt:lpstr>How to Handle Data Dependences</vt:lpstr>
      <vt:lpstr>Compile-Time Detection and Elimination</vt:lpstr>
      <vt:lpstr>PowerPoint Presentation</vt:lpstr>
      <vt:lpstr>More on Software vs. Hardware</vt:lpstr>
      <vt:lpstr>How to Handle Data Dependences</vt:lpstr>
      <vt:lpstr>Data Forwarding</vt:lpstr>
      <vt:lpstr>Data Forwarding</vt:lpstr>
      <vt:lpstr>Data Forwarding</vt:lpstr>
      <vt:lpstr>Data Forwarding</vt:lpstr>
      <vt:lpstr>Data Forwarding (in Pseudocode)</vt:lpstr>
      <vt:lpstr>Forwarding Is Not Always Possible</vt:lpstr>
      <vt:lpstr>Outline</vt:lpstr>
      <vt:lpstr>Control Dependence</vt:lpstr>
      <vt:lpstr>Outline</vt:lpstr>
      <vt:lpstr>Where Are We?</vt:lpstr>
      <vt:lpstr>Review: Single-Cycle MIPS FSM</vt:lpstr>
      <vt:lpstr>Review: Multi-Cycle MIPS FSM</vt:lpstr>
      <vt:lpstr>Recall: Illustrating Pipeline Operation</vt:lpstr>
      <vt:lpstr>Recall: Pipelined Control</vt:lpstr>
      <vt:lpstr>Recall: Data Dependence Types</vt:lpstr>
      <vt:lpstr>Recall: How to Handle Data Dependences</vt:lpstr>
      <vt:lpstr>Pipelined CPU: Ideal vs. Realistic</vt:lpstr>
      <vt:lpstr>Outline</vt:lpstr>
      <vt:lpstr>Multi-Cycle Execution</vt:lpstr>
      <vt:lpstr>Example of Multi-Cycle Execution</vt:lpstr>
      <vt:lpstr>Outline</vt:lpstr>
      <vt:lpstr>Exceptions and Interrupts</vt:lpstr>
      <vt:lpstr>Exceptions vs. Interrupts</vt:lpstr>
      <vt:lpstr>Precise Exceptions/Interrupts</vt:lpstr>
      <vt:lpstr>Checking for and Handling Exceptions in Pipelining</vt:lpstr>
      <vt:lpstr>Why Do We Want Precise Exceptions?</vt:lpstr>
      <vt:lpstr>Ensuring Precise Exceptions </vt:lpstr>
      <vt:lpstr>Precise Exceptions in Multi-Cycle FSM</vt:lpstr>
      <vt:lpstr>Precise Exceptions in Multi-Cycle Datapath</vt:lpstr>
      <vt:lpstr>Ensuring Precise Exceptions in Pipelining</vt:lpstr>
      <vt:lpstr>Outline</vt:lpstr>
      <vt:lpstr>False Dependencies: Lack of registers</vt:lpstr>
      <vt:lpstr>Pipelining and Precise Exceptions: Preserving Sequential Semantics</vt:lpstr>
      <vt:lpstr>Outline</vt:lpstr>
      <vt:lpstr>Reorder Buffer</vt:lpstr>
      <vt:lpstr>Reorder Buffer (ROB)</vt:lpstr>
      <vt:lpstr>PowerPoint Presentation</vt:lpstr>
      <vt:lpstr>What’s in a ROB Entry?</vt:lpstr>
      <vt:lpstr>Reorder Buffer: Independent Operations</vt:lpstr>
      <vt:lpstr>Reorder Buffer: Where to put?</vt:lpstr>
      <vt:lpstr>Simplifying Reorder Buffer Access</vt:lpstr>
      <vt:lpstr>Reorder Buffer in Intel Pentium III</vt:lpstr>
      <vt:lpstr>Reorder Buffer: For False Dependencies</vt:lpstr>
      <vt:lpstr>Reorder Buffer: For False Dependencies</vt:lpstr>
      <vt:lpstr>PowerPoint Presentation</vt:lpstr>
      <vt:lpstr>In-Order Pipeline with Reorder Buffer</vt:lpstr>
      <vt:lpstr>Reorder Buffer Tradeoffs</vt:lpstr>
      <vt:lpstr>Can Reorder Buffer Change This Map?</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18-741  Advanced Computer Architecture Lecture 1: Intro and Basics</dc:title>
  <dc:creator>Onur Mutlu</dc:creator>
  <cp:lastModifiedBy>Zeke Wang</cp:lastModifiedBy>
  <cp:revision>897</cp:revision>
  <cp:lastPrinted>2021-04-19T09:05:42Z</cp:lastPrinted>
  <dcterms:created xsi:type="dcterms:W3CDTF">2010-09-08T00:51:32Z</dcterms:created>
  <dcterms:modified xsi:type="dcterms:W3CDTF">2026-03-09T05:15:24Z</dcterms:modified>
</cp:coreProperties>
</file>