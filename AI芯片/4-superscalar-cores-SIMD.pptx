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5027" r:id="rId2"/>
  </p:sldMasterIdLst>
  <p:notesMasterIdLst>
    <p:notesMasterId r:id="rId101"/>
  </p:notesMasterIdLst>
  <p:handoutMasterIdLst>
    <p:handoutMasterId r:id="rId102"/>
  </p:handoutMasterIdLst>
  <p:sldIdLst>
    <p:sldId id="5149" r:id="rId3"/>
    <p:sldId id="6186" r:id="rId4"/>
    <p:sldId id="1112" r:id="rId5"/>
    <p:sldId id="1115" r:id="rId6"/>
    <p:sldId id="6177" r:id="rId7"/>
    <p:sldId id="1120" r:id="rId8"/>
    <p:sldId id="6171" r:id="rId9"/>
    <p:sldId id="6019" r:id="rId10"/>
    <p:sldId id="6172" r:id="rId11"/>
    <p:sldId id="6020" r:id="rId12"/>
    <p:sldId id="6021" r:id="rId13"/>
    <p:sldId id="6022" r:id="rId14"/>
    <p:sldId id="6023" r:id="rId15"/>
    <p:sldId id="6024" r:id="rId16"/>
    <p:sldId id="6183" r:id="rId17"/>
    <p:sldId id="6178" r:id="rId18"/>
    <p:sldId id="6187" r:id="rId19"/>
    <p:sldId id="1284" r:id="rId20"/>
    <p:sldId id="6078" r:id="rId21"/>
    <p:sldId id="6070" r:id="rId22"/>
    <p:sldId id="6071" r:id="rId23"/>
    <p:sldId id="6073" r:id="rId24"/>
    <p:sldId id="6079" r:id="rId25"/>
    <p:sldId id="6074" r:id="rId26"/>
    <p:sldId id="802" r:id="rId27"/>
    <p:sldId id="6127" r:id="rId28"/>
    <p:sldId id="1294" r:id="rId29"/>
    <p:sldId id="6128" r:id="rId30"/>
    <p:sldId id="1497" r:id="rId31"/>
    <p:sldId id="714" r:id="rId32"/>
    <p:sldId id="6130" r:id="rId33"/>
    <p:sldId id="6129" r:id="rId34"/>
    <p:sldId id="1382" r:id="rId35"/>
    <p:sldId id="6168" r:id="rId36"/>
    <p:sldId id="6179" r:id="rId37"/>
    <p:sldId id="1210" r:id="rId38"/>
    <p:sldId id="6188" r:id="rId39"/>
    <p:sldId id="1211" r:id="rId40"/>
    <p:sldId id="1212" r:id="rId41"/>
    <p:sldId id="1213" r:id="rId42"/>
    <p:sldId id="1214" r:id="rId43"/>
    <p:sldId id="1215" r:id="rId44"/>
    <p:sldId id="1216" r:id="rId45"/>
    <p:sldId id="1217" r:id="rId46"/>
    <p:sldId id="6184" r:id="rId47"/>
    <p:sldId id="6180" r:id="rId48"/>
    <p:sldId id="6189" r:id="rId49"/>
    <p:sldId id="456" r:id="rId50"/>
    <p:sldId id="457" r:id="rId51"/>
    <p:sldId id="473" r:id="rId52"/>
    <p:sldId id="6182" r:id="rId53"/>
    <p:sldId id="458" r:id="rId54"/>
    <p:sldId id="459" r:id="rId55"/>
    <p:sldId id="460" r:id="rId56"/>
    <p:sldId id="461" r:id="rId57"/>
    <p:sldId id="462" r:id="rId58"/>
    <p:sldId id="474" r:id="rId59"/>
    <p:sldId id="6185" r:id="rId60"/>
    <p:sldId id="6077" r:id="rId61"/>
    <p:sldId id="506" r:id="rId62"/>
    <p:sldId id="475" r:id="rId63"/>
    <p:sldId id="476" r:id="rId64"/>
    <p:sldId id="477" r:id="rId65"/>
    <p:sldId id="478" r:id="rId66"/>
    <p:sldId id="479" r:id="rId67"/>
    <p:sldId id="480" r:id="rId68"/>
    <p:sldId id="481" r:id="rId69"/>
    <p:sldId id="482" r:id="rId70"/>
    <p:sldId id="483" r:id="rId71"/>
    <p:sldId id="484" r:id="rId72"/>
    <p:sldId id="485" r:id="rId73"/>
    <p:sldId id="486" r:id="rId74"/>
    <p:sldId id="487" r:id="rId75"/>
    <p:sldId id="488" r:id="rId76"/>
    <p:sldId id="489" r:id="rId77"/>
    <p:sldId id="490" r:id="rId78"/>
    <p:sldId id="491" r:id="rId79"/>
    <p:sldId id="492" r:id="rId80"/>
    <p:sldId id="493" r:id="rId81"/>
    <p:sldId id="494" r:id="rId82"/>
    <p:sldId id="495" r:id="rId83"/>
    <p:sldId id="496" r:id="rId84"/>
    <p:sldId id="501" r:id="rId85"/>
    <p:sldId id="502" r:id="rId86"/>
    <p:sldId id="503" r:id="rId87"/>
    <p:sldId id="504" r:id="rId88"/>
    <p:sldId id="505" r:id="rId89"/>
    <p:sldId id="507" r:id="rId90"/>
    <p:sldId id="508" r:id="rId91"/>
    <p:sldId id="509" r:id="rId92"/>
    <p:sldId id="510" r:id="rId93"/>
    <p:sldId id="511" r:id="rId94"/>
    <p:sldId id="512" r:id="rId95"/>
    <p:sldId id="513" r:id="rId96"/>
    <p:sldId id="514" r:id="rId97"/>
    <p:sldId id="515" r:id="rId98"/>
    <p:sldId id="516" r:id="rId99"/>
    <p:sldId id="517" r:id="rId10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85850" autoAdjust="0"/>
  </p:normalViewPr>
  <p:slideViewPr>
    <p:cSldViewPr>
      <p:cViewPr varScale="1">
        <p:scale>
          <a:sx n="109" d="100"/>
          <a:sy n="109" d="100"/>
        </p:scale>
        <p:origin x="21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63061056761843"/>
          <c:y val="4.7359957061459852E-2"/>
          <c:w val="0.79509504493756455"/>
          <c:h val="0.814454277736784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One-cycle CPU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  <c:pt idx="7">
                  <c:v>0.01</c:v>
                </c:pt>
                <c:pt idx="8">
                  <c:v>0.01</c:v>
                </c:pt>
                <c:pt idx="9">
                  <c:v>0.01</c:v>
                </c:pt>
                <c:pt idx="10">
                  <c:v>0.01</c:v>
                </c:pt>
                <c:pt idx="11">
                  <c:v>0.01</c:v>
                </c:pt>
                <c:pt idx="12">
                  <c:v>0.01</c:v>
                </c:pt>
                <c:pt idx="13">
                  <c:v>0.01</c:v>
                </c:pt>
                <c:pt idx="14">
                  <c:v>0.01</c:v>
                </c:pt>
                <c:pt idx="15">
                  <c:v>0.01</c:v>
                </c:pt>
                <c:pt idx="16">
                  <c:v>0.01</c:v>
                </c:pt>
                <c:pt idx="17">
                  <c:v>0.01</c:v>
                </c:pt>
                <c:pt idx="18">
                  <c:v>0.01</c:v>
                </c:pt>
                <c:pt idx="19">
                  <c:v>0.01</c:v>
                </c:pt>
                <c:pt idx="20">
                  <c:v>0.01</c:v>
                </c:pt>
                <c:pt idx="21">
                  <c:v>0.01</c:v>
                </c:pt>
                <c:pt idx="22">
                  <c:v>0.01</c:v>
                </c:pt>
                <c:pt idx="23">
                  <c:v>0.01</c:v>
                </c:pt>
                <c:pt idx="24">
                  <c:v>0.01</c:v>
                </c:pt>
                <c:pt idx="25">
                  <c:v>0.01</c:v>
                </c:pt>
                <c:pt idx="26">
                  <c:v>0.01</c:v>
                </c:pt>
                <c:pt idx="27">
                  <c:v>0.01</c:v>
                </c:pt>
                <c:pt idx="28">
                  <c:v>0.01</c:v>
                </c:pt>
                <c:pt idx="29">
                  <c:v>0.01</c:v>
                </c:pt>
                <c:pt idx="30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77-46C7-81EA-04748F6A3A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Pipeline CPU</c:v>
                </c:pt>
              </c:strCache>
            </c:strRef>
          </c:tx>
          <c:spPr>
            <a:ln w="28575" cap="rnd">
              <a:solidFill>
                <a:srgbClr val="0096FF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77-46C7-81EA-04748F6A3A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SIMD CPU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77-46C7-81EA-04748F6A3A6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GPU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20000</c:v>
                </c:pt>
                <c:pt idx="1">
                  <c:v>20000</c:v>
                </c:pt>
                <c:pt idx="2">
                  <c:v>20000</c:v>
                </c:pt>
                <c:pt idx="3">
                  <c:v>20000</c:v>
                </c:pt>
                <c:pt idx="4">
                  <c:v>20000</c:v>
                </c:pt>
                <c:pt idx="5">
                  <c:v>20000</c:v>
                </c:pt>
                <c:pt idx="6">
                  <c:v>20000</c:v>
                </c:pt>
                <c:pt idx="7">
                  <c:v>20000</c:v>
                </c:pt>
                <c:pt idx="8">
                  <c:v>20000</c:v>
                </c:pt>
                <c:pt idx="9">
                  <c:v>20000</c:v>
                </c:pt>
                <c:pt idx="10">
                  <c:v>20000</c:v>
                </c:pt>
                <c:pt idx="11">
                  <c:v>20000</c:v>
                </c:pt>
                <c:pt idx="12">
                  <c:v>20000</c:v>
                </c:pt>
                <c:pt idx="13">
                  <c:v>20000</c:v>
                </c:pt>
                <c:pt idx="14">
                  <c:v>20000</c:v>
                </c:pt>
                <c:pt idx="15">
                  <c:v>20000</c:v>
                </c:pt>
                <c:pt idx="16">
                  <c:v>20000</c:v>
                </c:pt>
                <c:pt idx="17">
                  <c:v>20000</c:v>
                </c:pt>
                <c:pt idx="18">
                  <c:v>20000</c:v>
                </c:pt>
                <c:pt idx="19">
                  <c:v>20000</c:v>
                </c:pt>
                <c:pt idx="20">
                  <c:v>20000</c:v>
                </c:pt>
                <c:pt idx="21">
                  <c:v>20000</c:v>
                </c:pt>
                <c:pt idx="22">
                  <c:v>20000</c:v>
                </c:pt>
                <c:pt idx="23">
                  <c:v>20000</c:v>
                </c:pt>
                <c:pt idx="24">
                  <c:v>20000</c:v>
                </c:pt>
                <c:pt idx="25">
                  <c:v>20000</c:v>
                </c:pt>
                <c:pt idx="26">
                  <c:v>20000</c:v>
                </c:pt>
                <c:pt idx="27">
                  <c:v>20000</c:v>
                </c:pt>
                <c:pt idx="28">
                  <c:v>20000</c:v>
                </c:pt>
                <c:pt idx="29">
                  <c:v>20000</c:v>
                </c:pt>
                <c:pt idx="30">
                  <c:v>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277-46C7-81EA-04748F6A3A6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VGG19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19.600000000000001</c:v>
                </c:pt>
                <c:pt idx="1">
                  <c:v>19.600000000000001</c:v>
                </c:pt>
                <c:pt idx="2">
                  <c:v>19.600000000000001</c:v>
                </c:pt>
                <c:pt idx="3">
                  <c:v>19.600000000000001</c:v>
                </c:pt>
                <c:pt idx="4">
                  <c:v>19.600000000000001</c:v>
                </c:pt>
                <c:pt idx="5">
                  <c:v>19.600000000000001</c:v>
                </c:pt>
                <c:pt idx="6">
                  <c:v>19.600000000000001</c:v>
                </c:pt>
                <c:pt idx="7">
                  <c:v>19.600000000000001</c:v>
                </c:pt>
                <c:pt idx="8">
                  <c:v>19.600000000000001</c:v>
                </c:pt>
                <c:pt idx="9">
                  <c:v>19.600000000000001</c:v>
                </c:pt>
                <c:pt idx="10">
                  <c:v>19.600000000000001</c:v>
                </c:pt>
                <c:pt idx="11">
                  <c:v>19.600000000000001</c:v>
                </c:pt>
                <c:pt idx="12">
                  <c:v>19.600000000000001</c:v>
                </c:pt>
                <c:pt idx="13">
                  <c:v>19.600000000000001</c:v>
                </c:pt>
                <c:pt idx="14">
                  <c:v>19.600000000000001</c:v>
                </c:pt>
                <c:pt idx="15">
                  <c:v>19.600000000000001</c:v>
                </c:pt>
                <c:pt idx="16">
                  <c:v>19.600000000000001</c:v>
                </c:pt>
                <c:pt idx="17">
                  <c:v>19.600000000000001</c:v>
                </c:pt>
                <c:pt idx="18">
                  <c:v>19.600000000000001</c:v>
                </c:pt>
                <c:pt idx="19">
                  <c:v>19.600000000000001</c:v>
                </c:pt>
                <c:pt idx="20">
                  <c:v>19.600000000000001</c:v>
                </c:pt>
                <c:pt idx="21">
                  <c:v>19.600000000000001</c:v>
                </c:pt>
                <c:pt idx="22">
                  <c:v>19.600000000000001</c:v>
                </c:pt>
                <c:pt idx="23">
                  <c:v>19.600000000000001</c:v>
                </c:pt>
                <c:pt idx="24">
                  <c:v>19.600000000000001</c:v>
                </c:pt>
                <c:pt idx="25">
                  <c:v>19.600000000000001</c:v>
                </c:pt>
                <c:pt idx="26">
                  <c:v>19.600000000000001</c:v>
                </c:pt>
                <c:pt idx="27">
                  <c:v>19.600000000000001</c:v>
                </c:pt>
                <c:pt idx="28">
                  <c:v>19.600000000000001</c:v>
                </c:pt>
                <c:pt idx="29">
                  <c:v>19.600000000000001</c:v>
                </c:pt>
                <c:pt idx="30">
                  <c:v>19.600000000000001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277-46C7-81EA-04748F6A3A6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GPT-3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250000</c:v>
                </c:pt>
                <c:pt idx="1">
                  <c:v>250000</c:v>
                </c:pt>
                <c:pt idx="2">
                  <c:v>250000</c:v>
                </c:pt>
                <c:pt idx="3">
                  <c:v>250000</c:v>
                </c:pt>
                <c:pt idx="4">
                  <c:v>250000</c:v>
                </c:pt>
                <c:pt idx="5">
                  <c:v>250000</c:v>
                </c:pt>
                <c:pt idx="6">
                  <c:v>250000</c:v>
                </c:pt>
                <c:pt idx="7">
                  <c:v>250000</c:v>
                </c:pt>
                <c:pt idx="8">
                  <c:v>250000</c:v>
                </c:pt>
                <c:pt idx="9">
                  <c:v>250000</c:v>
                </c:pt>
                <c:pt idx="10">
                  <c:v>250000</c:v>
                </c:pt>
                <c:pt idx="11">
                  <c:v>250000</c:v>
                </c:pt>
                <c:pt idx="12">
                  <c:v>250000</c:v>
                </c:pt>
                <c:pt idx="13">
                  <c:v>250000</c:v>
                </c:pt>
                <c:pt idx="14">
                  <c:v>250000</c:v>
                </c:pt>
                <c:pt idx="15">
                  <c:v>250000</c:v>
                </c:pt>
                <c:pt idx="16">
                  <c:v>250000</c:v>
                </c:pt>
                <c:pt idx="17">
                  <c:v>250000</c:v>
                </c:pt>
                <c:pt idx="18">
                  <c:v>250000</c:v>
                </c:pt>
                <c:pt idx="19">
                  <c:v>250000</c:v>
                </c:pt>
                <c:pt idx="20">
                  <c:v>250000</c:v>
                </c:pt>
                <c:pt idx="21">
                  <c:v>250000</c:v>
                </c:pt>
                <c:pt idx="22">
                  <c:v>250000</c:v>
                </c:pt>
                <c:pt idx="23">
                  <c:v>250000</c:v>
                </c:pt>
                <c:pt idx="24">
                  <c:v>250000</c:v>
                </c:pt>
                <c:pt idx="25">
                  <c:v>250000</c:v>
                </c:pt>
                <c:pt idx="26">
                  <c:v>250000</c:v>
                </c:pt>
                <c:pt idx="27">
                  <c:v>250000</c:v>
                </c:pt>
                <c:pt idx="28">
                  <c:v>250000</c:v>
                </c:pt>
                <c:pt idx="29">
                  <c:v>250000</c:v>
                </c:pt>
                <c:pt idx="30">
                  <c:v>250000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277-46C7-81EA-04748F6A3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724640"/>
        <c:axId val="430957568"/>
      </c:lineChart>
      <c:catAx>
        <c:axId val="27724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30957568"/>
        <c:crosses val="autoZero"/>
        <c:auto val="1"/>
        <c:lblAlgn val="ctr"/>
        <c:lblOffset val="100"/>
        <c:noMultiLvlLbl val="0"/>
      </c:catAx>
      <c:valAx>
        <c:axId val="430957568"/>
        <c:scaling>
          <c:logBase val="10"/>
          <c:orientation val="minMax"/>
          <c:max val="1000000"/>
          <c:min val="1.000000000000000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00" b="1" dirty="0"/>
                  <a:t>Throughput</a:t>
                </a:r>
                <a:r>
                  <a:rPr lang="en-US" altLang="zh-CN" sz="1400" b="1" baseline="0" dirty="0"/>
                  <a:t> (GOPs/s)</a:t>
                </a:r>
                <a:endParaRPr lang="zh-CN" altLang="en-US" sz="1400" b="1" dirty="0"/>
              </a:p>
            </c:rich>
          </c:tx>
          <c:layout>
            <c:manualLayout>
              <c:xMode val="edge"/>
              <c:yMode val="edge"/>
              <c:x val="2.422717993584135E-2"/>
              <c:y val="0.201935391551923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#,##0.00_);[Red]\(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endParaRPr lang="zh-CN"/>
          </a:p>
        </c:txPr>
        <c:crossAx val="27724640"/>
        <c:crosses val="autoZero"/>
        <c:crossBetween val="between"/>
      </c:valAx>
      <c:spPr>
        <a:noFill/>
        <a:ln>
          <a:solidFill>
            <a:schemeClr val="accent6"/>
          </a:solidFill>
        </a:ln>
        <a:effectLst/>
      </c:spPr>
    </c:plotArea>
    <c:legend>
      <c:legendPos val="b"/>
      <c:layout>
        <c:manualLayout>
          <c:xMode val="edge"/>
          <c:yMode val="edge"/>
          <c:x val="0"/>
          <c:y val="0.91858075197812983"/>
          <c:w val="1"/>
          <c:h val="4.96344069460755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63061056761843"/>
          <c:y val="4.7359957061459852E-2"/>
          <c:w val="0.79509504493756455"/>
          <c:h val="0.814454277736784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One-cycle CPU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  <c:pt idx="7">
                  <c:v>0.01</c:v>
                </c:pt>
                <c:pt idx="8">
                  <c:v>0.01</c:v>
                </c:pt>
                <c:pt idx="9">
                  <c:v>0.01</c:v>
                </c:pt>
                <c:pt idx="10">
                  <c:v>0.01</c:v>
                </c:pt>
                <c:pt idx="11">
                  <c:v>0.01</c:v>
                </c:pt>
                <c:pt idx="12">
                  <c:v>0.01</c:v>
                </c:pt>
                <c:pt idx="13">
                  <c:v>0.01</c:v>
                </c:pt>
                <c:pt idx="14">
                  <c:v>0.01</c:v>
                </c:pt>
                <c:pt idx="15">
                  <c:v>0.01</c:v>
                </c:pt>
                <c:pt idx="16">
                  <c:v>0.01</c:v>
                </c:pt>
                <c:pt idx="17">
                  <c:v>0.01</c:v>
                </c:pt>
                <c:pt idx="18">
                  <c:v>0.01</c:v>
                </c:pt>
                <c:pt idx="19">
                  <c:v>0.01</c:v>
                </c:pt>
                <c:pt idx="20">
                  <c:v>0.01</c:v>
                </c:pt>
                <c:pt idx="21">
                  <c:v>0.01</c:v>
                </c:pt>
                <c:pt idx="22">
                  <c:v>0.01</c:v>
                </c:pt>
                <c:pt idx="23">
                  <c:v>0.01</c:v>
                </c:pt>
                <c:pt idx="24">
                  <c:v>0.01</c:v>
                </c:pt>
                <c:pt idx="25">
                  <c:v>0.01</c:v>
                </c:pt>
                <c:pt idx="26">
                  <c:v>0.01</c:v>
                </c:pt>
                <c:pt idx="27">
                  <c:v>0.01</c:v>
                </c:pt>
                <c:pt idx="28">
                  <c:v>0.01</c:v>
                </c:pt>
                <c:pt idx="29">
                  <c:v>0.01</c:v>
                </c:pt>
                <c:pt idx="30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77-46C7-81EA-04748F6A3A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Pipeline CPU</c:v>
                </c:pt>
              </c:strCache>
            </c:strRef>
          </c:tx>
          <c:spPr>
            <a:ln w="28575" cap="rnd">
              <a:solidFill>
                <a:srgbClr val="0096FF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77-46C7-81EA-04748F6A3A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SIMD CPU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77-46C7-81EA-04748F6A3A6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Multi-core CPU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Sheet1!$A$2:$A$32</c:f>
              <c:numCache>
                <c:formatCode>General</c:formatCode>
                <c:ptCount val="31"/>
              </c:numCache>
            </c:numRef>
          </c:cat>
          <c:val>
            <c:numRef>
              <c:f>Sheet1!$E$3:$E$32</c:f>
              <c:numCache>
                <c:formatCode>General</c:formatCode>
                <c:ptCount val="30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16</c:v>
                </c:pt>
                <c:pt idx="7">
                  <c:v>16</c:v>
                </c:pt>
                <c:pt idx="8">
                  <c:v>16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16</c:v>
                </c:pt>
                <c:pt idx="16">
                  <c:v>16</c:v>
                </c:pt>
                <c:pt idx="17">
                  <c:v>16</c:v>
                </c:pt>
                <c:pt idx="18">
                  <c:v>16</c:v>
                </c:pt>
                <c:pt idx="19">
                  <c:v>16</c:v>
                </c:pt>
                <c:pt idx="20">
                  <c:v>16</c:v>
                </c:pt>
                <c:pt idx="21">
                  <c:v>16</c:v>
                </c:pt>
                <c:pt idx="22">
                  <c:v>16</c:v>
                </c:pt>
                <c:pt idx="23">
                  <c:v>16</c:v>
                </c:pt>
                <c:pt idx="24">
                  <c:v>16</c:v>
                </c:pt>
                <c:pt idx="25">
                  <c:v>16</c:v>
                </c:pt>
                <c:pt idx="26">
                  <c:v>16</c:v>
                </c:pt>
                <c:pt idx="27">
                  <c:v>16</c:v>
                </c:pt>
                <c:pt idx="28">
                  <c:v>16</c:v>
                </c:pt>
                <c:pt idx="29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277-46C7-81EA-04748F6A3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724640"/>
        <c:axId val="430957568"/>
      </c:lineChart>
      <c:catAx>
        <c:axId val="27724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30957568"/>
        <c:crosses val="autoZero"/>
        <c:auto val="1"/>
        <c:lblAlgn val="ctr"/>
        <c:lblOffset val="100"/>
        <c:noMultiLvlLbl val="0"/>
      </c:catAx>
      <c:valAx>
        <c:axId val="430957568"/>
        <c:scaling>
          <c:logBase val="10"/>
          <c:orientation val="minMax"/>
          <c:max val="1000000"/>
          <c:min val="1.000000000000000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00" b="1" dirty="0"/>
                  <a:t>Throughput</a:t>
                </a:r>
                <a:r>
                  <a:rPr lang="en-US" altLang="zh-CN" sz="1400" b="1" baseline="0" dirty="0"/>
                  <a:t> (GOPs/s)</a:t>
                </a:r>
                <a:endParaRPr lang="zh-CN" altLang="en-US" sz="1400" b="1" dirty="0"/>
              </a:p>
            </c:rich>
          </c:tx>
          <c:layout>
            <c:manualLayout>
              <c:xMode val="edge"/>
              <c:yMode val="edge"/>
              <c:x val="2.422717993584135E-2"/>
              <c:y val="0.201935391551923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#,##0.00_);[Red]\(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endParaRPr lang="zh-CN"/>
          </a:p>
        </c:txPr>
        <c:crossAx val="27724640"/>
        <c:crosses val="autoZero"/>
        <c:crossBetween val="between"/>
      </c:valAx>
      <c:spPr>
        <a:noFill/>
        <a:ln>
          <a:solidFill>
            <a:schemeClr val="accent6"/>
          </a:solidFill>
        </a:ln>
        <a:effectLst/>
      </c:spPr>
    </c:plotArea>
    <c:legend>
      <c:legendPos val="b"/>
      <c:layout>
        <c:manualLayout>
          <c:xMode val="edge"/>
          <c:yMode val="edge"/>
          <c:x val="0"/>
          <c:y val="0.91858075197812983"/>
          <c:w val="1"/>
          <c:h val="4.96344069460755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8EB407-99B1-7B48-B34F-162EF7D58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435BF-6CDD-7D4D-8141-29F7A822A2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698CE0C1-C743-EF4B-8981-78EA12EFC89B}" type="datetimeFigureOut">
              <a:rPr lang="en-US"/>
              <a:pPr>
                <a:defRPr/>
              </a:pPr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3DD79-75E1-7941-871A-61C0889A52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F9EBC-9279-0A40-92B8-2B74B763A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C70593E-066F-B54A-AC3B-884F8A497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B3A284-2D72-7346-96C1-0822359391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40874-855C-7D4B-8059-92C02B8F265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F4AA869-E495-BD45-937E-18D84A6A69B6}" type="datetime1">
              <a:rPr lang="en-US" altLang="en-US"/>
              <a:pPr>
                <a:defRPr/>
              </a:pPr>
              <a:t>3/23/26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82D69DC-5824-F640-9F4D-E904F34A7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1E2E9B3-11FA-9246-AC4A-F248142BF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E947F-1F5A-6040-9606-86B5582B85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21294-541C-3A4D-8F17-AA62677AC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194A2244-8C6B-0D46-B48B-C6CB08A6C4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2FC3B07F-CC2D-544D-A549-20D869558D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F0A109B-DF8C-2C43-8405-37A43CC5297A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621E1F61-C27A-A741-9AE1-1C3BC1AD6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04B8A8E-8138-E049-BFF6-2717F1965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Need the animation here…</a:t>
            </a:r>
          </a:p>
          <a:p>
            <a:r>
              <a:rPr lang="en-US" dirty="0"/>
              <a:t>R</a:t>
            </a:r>
            <a:r>
              <a:rPr lang="en-CN" dirty="0"/>
              <a:t>ob index, write, read…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1759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假设有forward</a:t>
            </a:r>
            <a:r>
              <a:rPr lang="zh-CN" altLang="en-US" dirty="0"/>
              <a:t>，</a:t>
            </a:r>
            <a:r>
              <a:rPr lang="en-US" altLang="zh-CN" dirty="0"/>
              <a:t>IMUL 4 cycles, ADD 1 cycle.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988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CN" dirty="0"/>
              <a:t>ag: reservation station entry ID </a:t>
            </a:r>
            <a:endParaRPr lang="en-US" dirty="0"/>
          </a:p>
          <a:p>
            <a:r>
              <a:rPr lang="en-US" dirty="0"/>
              <a:t>Valid: 1 means the register is readable, 0 means the new value exists in a reservation station entry.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482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d, Reclaim rename tag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no valid copy of tag in system!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035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19E260A3-CE1C-AC4B-B7B6-03D3AE471E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3397F1-ECAE-B441-9C54-D0106341C61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12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EC1D8350-0903-4C42-ABA7-BD7E892ACB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2C20A8B-5761-474A-A6F6-D01209012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376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7">
            <a:extLst>
              <a:ext uri="{FF2B5EF4-FFF2-40B4-BE49-F238E27FC236}">
                <a16:creationId xmlns:a16="http://schemas.microsoft.com/office/drawing/2014/main" id="{48655F23-5F02-CC43-8A40-4BFFD22057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23E1A2-48CE-FF4D-98E3-649B92965F34}" type="slidenum">
              <a:rPr kumimoji="0" lang="en-US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5A2EF331-C1EA-F04F-97AC-8688CC94A3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BC3C74E2-CAB9-434E-AA67-38FB37C145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de-DE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5078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Pointer chasing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5332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不太行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6A79A-48AC-6344-A926-7E6ABD5393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79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Flynn:</a:t>
            </a:r>
            <a:r>
              <a:rPr lang="zh-CN" altLang="en-US" dirty="0">
                <a:ea typeface="ＭＳ Ｐゴシック" panose="020B0600070205080204" pitchFamily="34" charset="-128"/>
              </a:rPr>
              <a:t>弗林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4217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现在的计算世界往三个方向发展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6A79A-48AC-6344-A926-7E6ABD53936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75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现在的计算世界往三个方向发展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6A79A-48AC-6344-A926-7E6ABD53936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83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9" name="Rectangle 7">
            <a:extLst>
              <a:ext uri="{FF2B5EF4-FFF2-40B4-BE49-F238E27FC236}">
                <a16:creationId xmlns:a16="http://schemas.microsoft.com/office/drawing/2014/main" id="{8655F4FF-528D-3F47-9D27-BC19B08064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630D379-B4D0-0441-B2BC-753746D96D7A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217090" name="Rectangle 2">
            <a:extLst>
              <a:ext uri="{FF2B5EF4-FFF2-40B4-BE49-F238E27FC236}">
                <a16:creationId xmlns:a16="http://schemas.microsoft.com/office/drawing/2014/main" id="{02AF95EF-0FEB-764F-82FB-A2666DFC7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B45687F3-BC1A-CE4C-B9A7-1A22EAFF2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de-DE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6666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9" name="Rectangle 7">
            <a:extLst>
              <a:ext uri="{FF2B5EF4-FFF2-40B4-BE49-F238E27FC236}">
                <a16:creationId xmlns:a16="http://schemas.microsoft.com/office/drawing/2014/main" id="{8655F4FF-528D-3F47-9D27-BC19B08064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630D379-B4D0-0441-B2BC-753746D96D7A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217090" name="Rectangle 2">
            <a:extLst>
              <a:ext uri="{FF2B5EF4-FFF2-40B4-BE49-F238E27FC236}">
                <a16:creationId xmlns:a16="http://schemas.microsoft.com/office/drawing/2014/main" id="{02AF95EF-0FEB-764F-82FB-A2666DFC7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B45687F3-BC1A-CE4C-B9A7-1A22EAFF2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de-DE" altLang="en-US" dirty="0">
                <a:ea typeface="ＭＳ Ｐゴシック" panose="020B0600070205080204" pitchFamily="34" charset="-128"/>
              </a:rPr>
              <a:t>EXE</a:t>
            </a:r>
          </a:p>
        </p:txBody>
      </p:sp>
    </p:spTree>
    <p:extLst>
      <p:ext uri="{BB962C8B-B14F-4D97-AF65-F5344CB8AC3E}">
        <p14:creationId xmlns:p14="http://schemas.microsoft.com/office/powerpoint/2010/main" val="3446377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9B30F4-598E-4BB0-966A-C8D550B7CF7D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KB MB GB TB</a:t>
            </a:r>
          </a:p>
          <a:p>
            <a:r>
              <a:rPr lang="en-US" altLang="zh-CN" dirty="0"/>
              <a:t>K M B T</a:t>
            </a:r>
          </a:p>
          <a:p>
            <a:r>
              <a:rPr lang="en-US" altLang="zh-CN" dirty="0"/>
              <a:t>1B=10</a:t>
            </a:r>
            <a:r>
              <a:rPr lang="zh-CN" altLang="en-US" dirty="0"/>
              <a:t>亿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606549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lide Image Placeholder 1">
            <a:extLst>
              <a:ext uri="{FF2B5EF4-FFF2-40B4-BE49-F238E27FC236}">
                <a16:creationId xmlns:a16="http://schemas.microsoft.com/office/drawing/2014/main" id="{8CFBB1E9-E205-8249-9FB5-6B17F7FDC5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0" name="Notes Placeholder 2">
            <a:extLst>
              <a:ext uri="{FF2B5EF4-FFF2-40B4-BE49-F238E27FC236}">
                <a16:creationId xmlns:a16="http://schemas.microsoft.com/office/drawing/2014/main" id="{B84CB036-1E28-5D4E-8719-7A785F62E3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Latency overlap/hiding</a:t>
            </a:r>
          </a:p>
        </p:txBody>
      </p:sp>
      <p:sp>
        <p:nvSpPr>
          <p:cNvPr id="114691" name="Slide Number Placeholder 3">
            <a:extLst>
              <a:ext uri="{FF2B5EF4-FFF2-40B4-BE49-F238E27FC236}">
                <a16:creationId xmlns:a16="http://schemas.microsoft.com/office/drawing/2014/main" id="{A5AFB78C-9C24-9B47-A3FA-3B080658B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DE38B3-B002-0644-ADA7-D1492B215FF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297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现在的计算世界往三个方向发展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6A79A-48AC-6344-A926-7E6ABD53936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29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晶体管数量两年翻倍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017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 does application pull mean?</a:t>
            </a:r>
          </a:p>
          <a:p>
            <a:r>
              <a:rPr lang="en-US" altLang="zh-CN" dirty="0"/>
              <a:t>Cell phone use multiple cores…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700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现在的计算世界往三个方向发展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6A79A-48AC-6344-A926-7E6ABD53936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583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9B30F4-598E-4BB0-966A-C8D550B7CF7D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ln/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KB MB GB TB</a:t>
            </a:r>
          </a:p>
          <a:p>
            <a:r>
              <a:rPr lang="en-US" altLang="zh-CN" dirty="0"/>
              <a:t>K M B T</a:t>
            </a:r>
          </a:p>
          <a:p>
            <a:r>
              <a:rPr lang="en-US" altLang="zh-CN" dirty="0"/>
              <a:t>1B=10</a:t>
            </a:r>
            <a:r>
              <a:rPr lang="zh-CN" altLang="en-US" dirty="0"/>
              <a:t>亿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7924229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30E5120D-7A1E-4C57-95AC-90DDC64525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58460A0-F409-4C2D-9A2F-2079E0D2A338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854BE74-01C4-43E0-BD32-26EFA9D390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17975" y="533400"/>
            <a:ext cx="2055813" cy="15430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62C2492-57AC-49F6-BD86-FA464E4DE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09800"/>
            <a:ext cx="5867400" cy="6324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1DF1E7AE-D00A-4928-AACA-F966980548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98FF2D-7AF3-4397-A62A-D73CBEB08BC3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A18FC42-7548-45C5-89F8-E12A2DEAAE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98550" y="676275"/>
            <a:ext cx="4605338" cy="3454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605F1411-5DD7-4135-BD81-0B91EC05F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50" y="4356100"/>
            <a:ext cx="5083175" cy="412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F8C8598-7C4E-4F95-8E48-422701A75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6CDE08-978B-4EEE-BE9F-7B23C0DDBC2E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78FCC00-18A7-42CB-B157-DD393FB868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98550" y="676275"/>
            <a:ext cx="4605338" cy="3454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07F52B06-6FFD-4C3B-AD2D-719A7F772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50" y="4356100"/>
            <a:ext cx="5083175" cy="412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5204D5A4-B9D6-4DCF-AB6C-BD457C0664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9D0F31A-81FF-4246-8B45-ECC260EC6ACE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835503E-4678-42BF-B37F-E586CEAEB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98550" y="676275"/>
            <a:ext cx="4605338" cy="3454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076CDF3-0F2C-4136-A580-768EAE2B7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50" y="4356100"/>
            <a:ext cx="5083175" cy="412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F4981B58-F244-49E3-8D38-76ACF28292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BE13AB-422A-4125-B974-2E5AE90EEBFA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0C9BFC9-BD56-4D41-9B1B-0ABE688E8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98550" y="676275"/>
            <a:ext cx="4605338" cy="3454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D3276E67-2165-45AA-8041-7A812611E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50" y="4356100"/>
            <a:ext cx="5083175" cy="412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E2E8D4B-8C2D-47CA-B4F6-54894ECFCC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C4DE26-AFC3-4233-A84A-39E918DF432B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1874F6B-DAD4-448A-8833-43F872787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98550" y="676275"/>
            <a:ext cx="4605338" cy="3454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8C036DE0-7C25-46CE-8380-EDDCE552F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50" y="4356100"/>
            <a:ext cx="5083175" cy="412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7C0BC8C8-4CA2-4481-A2B7-AB7AEF3054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14D7E6-F583-4695-ADAF-89D7B20F825A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DDFF62C-E2D0-4CF1-B475-B71E1D898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98550" y="676275"/>
            <a:ext cx="4605338" cy="3454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CB8C25FC-9D22-4ED5-ACDB-C7EBC11BE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50" y="4356100"/>
            <a:ext cx="5083175" cy="412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067C8436-283D-45F7-BE72-2C4FF80BD9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61C716-77B5-42E3-9D45-96B00C983DDE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AF3DA106-D7D8-406E-9FA0-C04C9FB7BF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98550" y="676275"/>
            <a:ext cx="4605338" cy="3454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A23D3983-A990-4B05-809C-97CFE41E3A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50" y="4356100"/>
            <a:ext cx="5083175" cy="412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D9B169B2-1780-400B-9BB1-E0D5E4F64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1BD3F55-1C26-42C9-869A-91E3786E848E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7D181FEC-4282-4875-866D-BCB31D2234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98550" y="676275"/>
            <a:ext cx="4605338" cy="3454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8048FF4D-80C6-4B07-9927-DDB394C78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50" y="4356100"/>
            <a:ext cx="5083175" cy="412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7CD2703F-59E9-A14C-8EB7-D2EF90B9A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4E45769C-5653-3249-B473-2EE771C82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6F1184F0-BDE6-E04A-9B4C-5FBA651A760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1182EE-B006-604C-80F1-A08CD3F299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FF7502-AB8E-2D42-89F5-6E44D8D219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A9EDE30-1051-6248-A6FF-A3B2F6A689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19CA311-0D55-A14C-B89B-825C95FC0D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491251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F456239-BE5C-F14C-BAFE-1CE538B9D7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81A7BE9F-CE53-CC49-87AA-BAE23F95E6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3DEEF8-87BA-7144-9648-F84693A6E1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71424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D31936A8-46C3-6144-858E-78E1ACCA1A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33F8A896-4867-D146-8CEC-A71CEB2F2B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C8F86-5F3C-F245-94F6-C123F85C20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02209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D4FBA484-E206-D641-B0DC-3D4C98C627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6EEA48B1-2FA4-8747-A5DD-BCA0E69B94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A1F37-1138-BE43-82C5-EB159284CF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63044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33F02844-2FE7-C24C-9E98-3B816850C4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718623F1-7DE2-1845-8415-80FB2731C1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8A460-06A5-1040-9381-5E626473F9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978838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9CEE6D8E-27A0-0640-A905-296B5CA075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24A5FEAD-8321-B348-BADD-59371C1875C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38187-F844-5B4C-9C26-C2BA5E46EB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37149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39DE8FF1-9193-7F4E-B922-00B76AA4C5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D818ACD0-F021-2B49-AC9D-A471820E1F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95373-688A-E54A-BCBC-676BC297BB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107754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5774A03C-10B1-F74B-BCEE-3B42276D82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93987030-5D42-1745-9FE1-104F1FB142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9E05E-C026-FF47-A81F-F56728002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44283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95F248AF-580A-484F-8CDE-233C7293CF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3752E372-8C90-784B-AEF9-99A3B39A57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3FC57-0E92-184E-B457-70424053F1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757585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FFB4941-E67A-AB4D-9D8B-7D602F6617D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32B790D0-387A-D24B-BFFB-CEEE4F8DD7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16D74-7A0A-974B-A43A-3FC2516061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52825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E98B6B71-297A-7B40-BD41-F5AC2532F7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9831095A-1960-444A-911A-3C8915CCD5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41925-2E2A-0E40-8E5A-D6375ADEA7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84347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F9047823-2C94-ED40-A15F-48C5249AB98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4C8AA92F-4CF5-8B48-8439-382B46432E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AD1A7-D785-6B4D-BB0F-F87147239B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57905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Horiz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24479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1"/>
          </p:nvPr>
        </p:nvSpPr>
        <p:spPr>
          <a:xfrm>
            <a:off x="404565" y="3886201"/>
            <a:ext cx="7896225" cy="2452382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652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ctrTitle"/>
          </p:nvPr>
        </p:nvSpPr>
        <p:spPr>
          <a:xfrm>
            <a:off x="386518" y="466665"/>
            <a:ext cx="8370529" cy="48348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504592" y="1072164"/>
            <a:ext cx="718862" cy="70548"/>
            <a:chOff x="1373786" y="1322305"/>
            <a:chExt cx="958482" cy="70548"/>
          </a:xfrm>
        </p:grpSpPr>
        <p:sp>
          <p:nvSpPr>
            <p:cNvPr id="25" name="Oval 24"/>
            <p:cNvSpPr/>
            <p:nvPr/>
          </p:nvSpPr>
          <p:spPr>
            <a:xfrm>
              <a:off x="1373786" y="1322305"/>
              <a:ext cx="69495" cy="705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50" dirty="0"/>
            </a:p>
          </p:txBody>
        </p:sp>
        <p:sp>
          <p:nvSpPr>
            <p:cNvPr id="26" name="Oval 25"/>
            <p:cNvSpPr/>
            <p:nvPr/>
          </p:nvSpPr>
          <p:spPr>
            <a:xfrm>
              <a:off x="1578173" y="1322305"/>
              <a:ext cx="69495" cy="705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50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1805850" y="1322305"/>
              <a:ext cx="69495" cy="7054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50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2037413" y="1322305"/>
              <a:ext cx="69495" cy="705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50" dirty="0"/>
            </a:p>
          </p:txBody>
        </p:sp>
        <p:sp>
          <p:nvSpPr>
            <p:cNvPr id="30" name="Oval 29"/>
            <p:cNvSpPr/>
            <p:nvPr/>
          </p:nvSpPr>
          <p:spPr>
            <a:xfrm>
              <a:off x="2262773" y="1322305"/>
              <a:ext cx="69495" cy="705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50" dirty="0"/>
            </a:p>
          </p:txBody>
        </p:sp>
      </p:grpSp>
    </p:spTree>
    <p:extLst>
      <p:ext uri="{BB962C8B-B14F-4D97-AF65-F5344CB8AC3E}">
        <p14:creationId xmlns:p14="http://schemas.microsoft.com/office/powerpoint/2010/main" val="3673150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5">
          <p15:clr>
            <a:srgbClr val="FBAE40"/>
          </p15:clr>
        </p15:guide>
        <p15:guide id="3" pos="73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DoubleCode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085307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950" y="1904999"/>
            <a:ext cx="3870325" cy="1905001"/>
          </a:xfrm>
          <a:solidFill>
            <a:srgbClr val="F6F5BD"/>
          </a:solidFill>
          <a:ln>
            <a:solidFill>
              <a:schemeClr val="accent4">
                <a:lumMod val="25000"/>
              </a:schemeClr>
            </a:solidFill>
          </a:ln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Consolas" pitchFamily="49" charset="0"/>
                <a:cs typeface="Consolas" pitchFamily="49" charset="0"/>
              </a:defRPr>
            </a:lvl1pPr>
            <a:lvl2pPr marL="457200" indent="0">
              <a:buNone/>
              <a:defRPr>
                <a:latin typeface="Calibri" pitchFamily="34" charset="0"/>
              </a:defRPr>
            </a:lvl2pPr>
            <a:lvl3pPr marL="914400" indent="0">
              <a:buNone/>
              <a:defRPr>
                <a:latin typeface="Calibri" pitchFamily="34" charset="0"/>
              </a:defRPr>
            </a:lvl3pPr>
            <a:lvl4pPr marL="1371600" indent="0">
              <a:buNone/>
              <a:defRPr>
                <a:latin typeface="Calibri" pitchFamily="34" charset="0"/>
              </a:defRPr>
            </a:lvl4pPr>
            <a:lvl5pPr marL="1828800" indent="0">
              <a:buNone/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64075" y="1904999"/>
            <a:ext cx="3870325" cy="1905001"/>
          </a:xfrm>
          <a:solidFill>
            <a:schemeClr val="accent5"/>
          </a:solidFill>
          <a:ln>
            <a:solidFill>
              <a:schemeClr val="accent4">
                <a:lumMod val="25000"/>
              </a:schemeClr>
            </a:solidFill>
          </a:ln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latin typeface="Consolas" pitchFamily="49" charset="0"/>
                <a:cs typeface="Consolas" pitchFamily="49" charset="0"/>
              </a:defRPr>
            </a:lvl1pPr>
            <a:lvl2pPr marL="457200" indent="0">
              <a:buNone/>
              <a:defRPr>
                <a:latin typeface="Calibri" pitchFamily="34" charset="0"/>
              </a:defRPr>
            </a:lvl2pPr>
            <a:lvl3pPr marL="914400" indent="0">
              <a:buNone/>
              <a:defRPr>
                <a:latin typeface="Calibri" pitchFamily="34" charset="0"/>
              </a:defRPr>
            </a:lvl3pPr>
            <a:lvl4pPr marL="1371600" indent="0">
              <a:buNone/>
              <a:defRPr>
                <a:latin typeface="Calibri" pitchFamily="34" charset="0"/>
              </a:defRPr>
            </a:lvl4pPr>
            <a:lvl5pPr marL="1828800" indent="0">
              <a:buNone/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390436" y="1447800"/>
            <a:ext cx="3870325" cy="45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i="1" baseline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553306" y="1447799"/>
            <a:ext cx="3870325" cy="45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i="1" baseline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396875" y="3952875"/>
            <a:ext cx="7896225" cy="24479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08938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afari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975" y="6411913"/>
            <a:ext cx="10255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CE054-F1E5-374D-A24E-887477C0532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8360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2004D-7284-C244-B275-AB956C66515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13890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817D1-13B0-D341-B1C4-34616D3933B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61268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067096-FD7F-A949-B565-8298951E6B8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18645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1077C3-3C60-8640-A1DD-3718D4D0D74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07258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41FDD-73B6-EC4A-BB35-BA0C8CCC36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38312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D2B92-4EF8-0940-9F90-1D39CCADBD7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50931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4B1A2-EC3E-4448-972E-E198354A3E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72478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5B71B7-33A4-004A-B24D-5E8A20C1D7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14276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EE445-AD48-2049-A03E-4C865681EA4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013094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603A9-60B6-0741-B15F-17172804C1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6917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371600"/>
            <a:ext cx="86106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6D58A-9B40-E846-A790-9B6CD5A585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9453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83270108-4FD1-564B-ABAB-6D0D792C2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B99F7C24-DBB8-3946-9159-B6B693024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93C8C92C-4D9A-794D-8339-4EED2C8970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34E28EF7-5AF2-0E47-8FE5-D0478A414A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000000"/>
                </a:solidFill>
                <a:latin typeface="Garamond" charset="0"/>
                <a:ea typeface="ＭＳ Ｐゴシック" charset="-128"/>
              </a:defRPr>
            </a:lvl1pPr>
          </a:lstStyle>
          <a:p>
            <a:pPr>
              <a:defRPr/>
            </a:pPr>
            <a:fld id="{B29DC364-FD79-5B41-A4D8-E2DDF079EE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1032">
            <a:extLst>
              <a:ext uri="{FF2B5EF4-FFF2-40B4-BE49-F238E27FC236}">
                <a16:creationId xmlns:a16="http://schemas.microsoft.com/office/drawing/2014/main" id="{21377C63-9205-884E-A750-9A1681937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1033">
            <a:extLst>
              <a:ext uri="{FF2B5EF4-FFF2-40B4-BE49-F238E27FC236}">
                <a16:creationId xmlns:a16="http://schemas.microsoft.com/office/drawing/2014/main" id="{83F0D7DE-84D5-ED49-840F-2474A956470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32" r:id="rId1"/>
    <p:sldLayoutId id="2147484899" r:id="rId2"/>
    <p:sldLayoutId id="2147484900" r:id="rId3"/>
    <p:sldLayoutId id="2147484901" r:id="rId4"/>
    <p:sldLayoutId id="2147484902" r:id="rId5"/>
    <p:sldLayoutId id="2147484903" r:id="rId6"/>
    <p:sldLayoutId id="2147484904" r:id="rId7"/>
    <p:sldLayoutId id="2147484905" r:id="rId8"/>
    <p:sldLayoutId id="2147484906" r:id="rId9"/>
    <p:sldLayoutId id="2147484907" r:id="rId10"/>
    <p:sldLayoutId id="2147484908" r:id="rId11"/>
    <p:sldLayoutId id="2147484909" r:id="rId12"/>
    <p:sldLayoutId id="2147485040" r:id="rId13"/>
    <p:sldLayoutId id="2147485042" r:id="rId14"/>
    <p:sldLayoutId id="2147485043" r:id="rId15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8842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95375"/>
            <a:ext cx="8610600" cy="51530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6900" y="637381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aramond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5C1105-7C02-0A4A-BBB4-558A73CD3ACF}" type="slidenum">
              <a:rPr lang="en-US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228600" y="644683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032" name="Picture 7" descr="safari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975" y="6602413"/>
            <a:ext cx="8477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76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8" r:id="rId1"/>
    <p:sldLayoutId id="2147485029" r:id="rId2"/>
    <p:sldLayoutId id="2147485030" r:id="rId3"/>
    <p:sldLayoutId id="2147485031" r:id="rId4"/>
    <p:sldLayoutId id="2147485032" r:id="rId5"/>
    <p:sldLayoutId id="2147485033" r:id="rId6"/>
    <p:sldLayoutId id="2147485034" r:id="rId7"/>
    <p:sldLayoutId id="2147485035" r:id="rId8"/>
    <p:sldLayoutId id="2147485036" r:id="rId9"/>
    <p:sldLayoutId id="2147485037" r:id="rId10"/>
    <p:sldLayoutId id="2147485038" r:id="rId11"/>
    <p:sldLayoutId id="2147485039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0"/>
        <a:buChar char="n"/>
        <a:defRPr sz="2400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0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0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3.xml"/><Relationship Id="rId7" Type="http://schemas.openxmlformats.org/officeDocument/2006/relationships/oleObject" Target="../embeddings/oleObject1.bin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4">
            <a:extLst>
              <a:ext uri="{FF2B5EF4-FFF2-40B4-BE49-F238E27FC236}">
                <a16:creationId xmlns:a16="http://schemas.microsoft.com/office/drawing/2014/main" id="{F4B36F19-AF20-EE4B-9796-5DE4A6ED12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457200"/>
            <a:ext cx="8610600" cy="1720850"/>
          </a:xfrm>
        </p:spPr>
        <p:txBody>
          <a:bodyPr/>
          <a:lstStyle/>
          <a:p>
            <a:pPr algn="ctr" eaLnBrk="1" hangingPunct="1"/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sz="4500" b="1" dirty="0">
                <a:ea typeface="ＭＳ Ｐゴシック" panose="020B0600070205080204" pitchFamily="34" charset="-128"/>
              </a:rPr>
              <a:t>Computer Arch. &amp; AI Chip</a:t>
            </a:r>
            <a:br>
              <a:rPr lang="en-US" altLang="en-US" sz="4500" b="1" dirty="0">
                <a:ea typeface="ＭＳ Ｐゴシック" panose="020B0600070205080204" pitchFamily="34" charset="-128"/>
              </a:rPr>
            </a:br>
            <a:br>
              <a:rPr lang="en-US" altLang="en-US" sz="1000" b="1" dirty="0">
                <a:ea typeface="ＭＳ Ｐゴシック" panose="020B0600070205080204" pitchFamily="34" charset="-128"/>
              </a:rPr>
            </a:br>
            <a:r>
              <a:rPr lang="en-US" altLang="en-US" sz="45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Lecture 4: Superscalar </a:t>
            </a:r>
            <a:r>
              <a:rPr lang="en-US" altLang="zh-CN" sz="45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 SIMD + Multi-core</a:t>
            </a:r>
            <a:endParaRPr lang="en-US" altLang="en-US" sz="45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0482" name="Rectangle 5">
            <a:extLst>
              <a:ext uri="{FF2B5EF4-FFF2-40B4-BE49-F238E27FC236}">
                <a16:creationId xmlns:a16="http://schemas.microsoft.com/office/drawing/2014/main" id="{47CAD589-18D1-6D42-A966-19E62D8F66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2900363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8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Prof. Zeke Wang</a:t>
            </a:r>
          </a:p>
          <a:p>
            <a:pPr eaLnBrk="1" hangingPunct="1"/>
            <a:endParaRPr lang="en-US" altLang="en-US" sz="2800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Zhejiang University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2</a:t>
            </a:r>
            <a:r>
              <a:rPr lang="en-US" altLang="zh-CN" dirty="0">
                <a:ea typeface="ＭＳ Ｐゴシック" panose="020B0600070205080204" pitchFamily="34" charset="-128"/>
              </a:rPr>
              <a:t>6</a:t>
            </a:r>
            <a:r>
              <a:rPr lang="en-US" altLang="en-US" dirty="0">
                <a:ea typeface="ＭＳ Ｐゴシック" panose="020B0600070205080204" pitchFamily="34" charset="-128"/>
              </a:rPr>
              <a:t> March 202</a:t>
            </a:r>
            <a:r>
              <a:rPr lang="en-US" altLang="zh-CN" dirty="0">
                <a:ea typeface="ＭＳ Ｐゴシック" panose="020B0600070205080204" pitchFamily="34" charset="-128"/>
              </a:rPr>
              <a:t>6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1A86B2B6-EF18-724F-8D5A-CEF62CE79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Recall: </a:t>
            </a:r>
            <a:r>
              <a:rPr lang="en-US" altLang="en-US" dirty="0">
                <a:ea typeface="ＭＳ Ｐゴシック" panose="020B0600070205080204" pitchFamily="34" charset="-128"/>
              </a:rPr>
              <a:t>Reorder Buffer (ROB)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D74317EC-6A7C-1443-8834-743BDD582B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753472" cy="540385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Key Idea</a:t>
            </a:r>
            <a:r>
              <a:rPr lang="en-US" altLang="en-US" dirty="0">
                <a:ea typeface="ＭＳ Ｐゴシック" panose="020B0600070205080204" pitchFamily="34" charset="-128"/>
              </a:rPr>
              <a:t>: Complete instructions out-of-order, but reorder them before writing results to architectural state (Commit).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1, When instruction is </a:t>
            </a:r>
            <a:r>
              <a:rPr lang="en-US" altLang="en-US" b="1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decoded in order</a:t>
            </a:r>
            <a:r>
              <a:rPr lang="en-US" altLang="en-US" b="1" dirty="0">
                <a:ea typeface="ＭＳ Ｐゴシック" panose="020B0600070205080204" pitchFamily="34" charset="-128"/>
              </a:rPr>
              <a:t>,</a:t>
            </a:r>
            <a:r>
              <a:rPr lang="en-US" altLang="en-US" dirty="0">
                <a:ea typeface="ＭＳ Ｐゴシック" panose="020B0600070205080204" pitchFamily="34" charset="-128"/>
              </a:rPr>
              <a:t> it reserves the next-sequential entry in the ROB, rename the destination register.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2, When instruction </a:t>
            </a:r>
            <a:r>
              <a:rPr lang="en-US" altLang="en-US" b="1" dirty="0">
                <a:ea typeface="ＭＳ Ｐゴシック" panose="020B0600070205080204" pitchFamily="34" charset="-128"/>
              </a:rPr>
              <a:t>completes </a:t>
            </a:r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out-of-order</a:t>
            </a:r>
            <a:r>
              <a:rPr lang="en-US" altLang="en-US" dirty="0">
                <a:ea typeface="ＭＳ Ｐゴシック" panose="020B0600070205080204" pitchFamily="34" charset="-128"/>
              </a:rPr>
              <a:t>, it writes result into ROB entry.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3, When instruction </a:t>
            </a:r>
            <a:r>
              <a:rPr lang="en-US" altLang="en-US" b="1" dirty="0">
                <a:ea typeface="ＭＳ Ｐゴシック" panose="020B0600070205080204" pitchFamily="34" charset="-128"/>
              </a:rPr>
              <a:t>oldest in ROB </a:t>
            </a:r>
            <a:r>
              <a:rPr lang="en-US" altLang="en-US" dirty="0">
                <a:ea typeface="ＭＳ Ｐゴシック" panose="020B0600070205080204" pitchFamily="34" charset="-128"/>
              </a:rPr>
              <a:t>and it has completed without exceptions, its result writes to reg. file or memory (</a:t>
            </a: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In order commitment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40CA36B7-44F1-444F-A213-629D30961E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77038" y="631825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4FB6BA-66B4-4E42-B3DB-C8880110D1D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F307DC4A-944B-48B2-AF96-DD879EFC1B91}"/>
              </a:ext>
            </a:extLst>
          </p:cNvPr>
          <p:cNvGrpSpPr/>
          <p:nvPr/>
        </p:nvGrpSpPr>
        <p:grpSpPr>
          <a:xfrm>
            <a:off x="1270000" y="4419600"/>
            <a:ext cx="6654800" cy="2003084"/>
            <a:chOff x="1270000" y="4419600"/>
            <a:chExt cx="6654800" cy="2003084"/>
          </a:xfrm>
        </p:grpSpPr>
        <p:sp>
          <p:nvSpPr>
            <p:cNvPr id="69" name="Rectangle 62">
              <a:extLst>
                <a:ext uri="{FF2B5EF4-FFF2-40B4-BE49-F238E27FC236}">
                  <a16:creationId xmlns:a16="http://schemas.microsoft.com/office/drawing/2014/main" id="{A084D69B-817D-4C08-B658-BA1FC113A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2" y="4443976"/>
              <a:ext cx="1117600" cy="7288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TextBox 63">
              <a:extLst>
                <a:ext uri="{FF2B5EF4-FFF2-40B4-BE49-F238E27FC236}">
                  <a16:creationId xmlns:a16="http://schemas.microsoft.com/office/drawing/2014/main" id="{986A97B5-4D88-46F2-9230-0C358495F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9356" y="4516437"/>
              <a:ext cx="1044575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Register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File</a:t>
              </a:r>
            </a:p>
          </p:txBody>
        </p:sp>
        <p:sp>
          <p:nvSpPr>
            <p:cNvPr id="71" name="Rectangle 64">
              <a:extLst>
                <a:ext uri="{FF2B5EF4-FFF2-40B4-BE49-F238E27FC236}">
                  <a16:creationId xmlns:a16="http://schemas.microsoft.com/office/drawing/2014/main" id="{0273C4F3-81A3-4FEF-9415-0231FE26A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7387" y="4419600"/>
              <a:ext cx="1117600" cy="430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Rectangle 65">
              <a:extLst>
                <a:ext uri="{FF2B5EF4-FFF2-40B4-BE49-F238E27FC236}">
                  <a16:creationId xmlns:a16="http://schemas.microsoft.com/office/drawing/2014/main" id="{FF72BAE5-490C-44EF-AB98-9E1F6E27A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7387" y="5038725"/>
              <a:ext cx="1117600" cy="430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66">
              <a:extLst>
                <a:ext uri="{FF2B5EF4-FFF2-40B4-BE49-F238E27FC236}">
                  <a16:creationId xmlns:a16="http://schemas.microsoft.com/office/drawing/2014/main" id="{B9B08AE8-7F73-4E27-A43B-6D44BDE90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7387" y="5621337"/>
              <a:ext cx="1117600" cy="428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Box 67">
              <a:extLst>
                <a:ext uri="{FF2B5EF4-FFF2-40B4-BE49-F238E27FC236}">
                  <a16:creationId xmlns:a16="http://schemas.microsoft.com/office/drawing/2014/main" id="{7307A1B4-37A9-4501-959C-1E65E5182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3412" y="4465637"/>
              <a:ext cx="11715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Func Unit</a:t>
              </a:r>
            </a:p>
          </p:txBody>
        </p:sp>
        <p:sp>
          <p:nvSpPr>
            <p:cNvPr id="75" name="TextBox 68">
              <a:extLst>
                <a:ext uri="{FF2B5EF4-FFF2-40B4-BE49-F238E27FC236}">
                  <a16:creationId xmlns:a16="http://schemas.microsoft.com/office/drawing/2014/main" id="{54774A75-CC7E-4CE9-934E-3B78DADD3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7225" y="5062537"/>
              <a:ext cx="117157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Func Unit</a:t>
              </a:r>
            </a:p>
          </p:txBody>
        </p:sp>
        <p:sp>
          <p:nvSpPr>
            <p:cNvPr id="76" name="TextBox 69">
              <a:extLst>
                <a:ext uri="{FF2B5EF4-FFF2-40B4-BE49-F238E27FC236}">
                  <a16:creationId xmlns:a16="http://schemas.microsoft.com/office/drawing/2014/main" id="{180D5746-5B23-41D8-A479-4B27DD766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2462" y="5657850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Func Unit</a:t>
              </a:r>
            </a:p>
          </p:txBody>
        </p:sp>
        <p:sp>
          <p:nvSpPr>
            <p:cNvPr id="77" name="Rectangle 70">
              <a:extLst>
                <a:ext uri="{FF2B5EF4-FFF2-40B4-BE49-F238E27FC236}">
                  <a16:creationId xmlns:a16="http://schemas.microsoft.com/office/drawing/2014/main" id="{24A8BFE4-9F74-48B5-86ED-75148D991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0679" y="5430837"/>
              <a:ext cx="1081270" cy="741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Box 71">
              <a:extLst>
                <a:ext uri="{FF2B5EF4-FFF2-40B4-BE49-F238E27FC236}">
                  <a16:creationId xmlns:a16="http://schemas.microsoft.com/office/drawing/2014/main" id="{C2B9F2CC-EECD-4B87-9C63-BC3A82F1C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492" y="5508069"/>
              <a:ext cx="106952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Reorder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Buffer</a:t>
              </a:r>
            </a:p>
          </p:txBody>
        </p:sp>
        <p:cxnSp>
          <p:nvCxnSpPr>
            <p:cNvPr id="79" name="Straight Connector 73">
              <a:extLst>
                <a:ext uri="{FF2B5EF4-FFF2-40B4-BE49-F238E27FC236}">
                  <a16:creationId xmlns:a16="http://schemas.microsoft.com/office/drawing/2014/main" id="{DF39A3E5-CC9F-4580-84AE-B61E2BC6D7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883399" y="5240338"/>
              <a:ext cx="1177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Straight Arrow Connector 75">
              <a:extLst>
                <a:ext uri="{FF2B5EF4-FFF2-40B4-BE49-F238E27FC236}">
                  <a16:creationId xmlns:a16="http://schemas.microsoft.com/office/drawing/2014/main" id="{E6A1D681-F3A0-41C9-8F6C-D728E6A0E741}"/>
                </a:ext>
              </a:extLst>
            </p:cNvPr>
            <p:cNvCxnSpPr>
              <a:cxnSpLocks noChangeShapeType="1"/>
              <a:stCxn id="74" idx="3"/>
            </p:cNvCxnSpPr>
            <p:nvPr/>
          </p:nvCxnSpPr>
          <p:spPr bwMode="auto">
            <a:xfrm>
              <a:off x="6884987" y="4651375"/>
              <a:ext cx="587375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Straight Arrow Connector 77">
              <a:extLst>
                <a:ext uri="{FF2B5EF4-FFF2-40B4-BE49-F238E27FC236}">
                  <a16:creationId xmlns:a16="http://schemas.microsoft.com/office/drawing/2014/main" id="{7455C28C-7F3A-4372-BC0A-A33B465EF313}"/>
                </a:ext>
              </a:extLst>
            </p:cNvPr>
            <p:cNvCxnSpPr>
              <a:cxnSpLocks noChangeShapeType="1"/>
              <a:stCxn id="75" idx="3"/>
            </p:cNvCxnSpPr>
            <p:nvPr/>
          </p:nvCxnSpPr>
          <p:spPr bwMode="auto">
            <a:xfrm>
              <a:off x="6908800" y="5246687"/>
              <a:ext cx="56356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Straight Arrow Connector 79">
              <a:extLst>
                <a:ext uri="{FF2B5EF4-FFF2-40B4-BE49-F238E27FC236}">
                  <a16:creationId xmlns:a16="http://schemas.microsoft.com/office/drawing/2014/main" id="{4D159A11-B5A2-425B-B1A3-E39A39201DC1}"/>
                </a:ext>
              </a:extLst>
            </p:cNvPr>
            <p:cNvCxnSpPr>
              <a:cxnSpLocks noChangeShapeType="1"/>
              <a:stCxn id="76" idx="3"/>
            </p:cNvCxnSpPr>
            <p:nvPr/>
          </p:nvCxnSpPr>
          <p:spPr bwMode="auto">
            <a:xfrm flipV="1">
              <a:off x="6904037" y="5829300"/>
              <a:ext cx="568325" cy="12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Straight Arrow Connector 83">
              <a:extLst>
                <a:ext uri="{FF2B5EF4-FFF2-40B4-BE49-F238E27FC236}">
                  <a16:creationId xmlns:a16="http://schemas.microsoft.com/office/drawing/2014/main" id="{38655A9D-29B1-4DAC-A208-DE3DF89AEE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472362" y="5246687"/>
              <a:ext cx="452438" cy="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Straight Connector 87">
              <a:extLst>
                <a:ext uri="{FF2B5EF4-FFF2-40B4-BE49-F238E27FC236}">
                  <a16:creationId xmlns:a16="http://schemas.microsoft.com/office/drawing/2014/main" id="{67E6BBF1-CF1A-4639-8AED-083181EF3DB4}"/>
                </a:ext>
              </a:extLst>
            </p:cNvPr>
            <p:cNvCxnSpPr>
              <a:cxnSpLocks noChangeShapeType="1"/>
              <a:stCxn id="77" idx="2"/>
            </p:cNvCxnSpPr>
            <p:nvPr/>
          </p:nvCxnSpPr>
          <p:spPr bwMode="auto">
            <a:xfrm>
              <a:off x="4261314" y="6172200"/>
              <a:ext cx="0" cy="22225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Straight Connector 89">
              <a:extLst>
                <a:ext uri="{FF2B5EF4-FFF2-40B4-BE49-F238E27FC236}">
                  <a16:creationId xmlns:a16="http://schemas.microsoft.com/office/drawing/2014/main" id="{FE761AC1-C396-4C58-A99D-FFD71F5D91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244231" y="6380970"/>
              <a:ext cx="3680569" cy="1269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Straight Arrow Connector 91">
              <a:extLst>
                <a:ext uri="{FF2B5EF4-FFF2-40B4-BE49-F238E27FC236}">
                  <a16:creationId xmlns:a16="http://schemas.microsoft.com/office/drawing/2014/main" id="{39CE45F8-9839-419A-A5BF-E35EA45A494D}"/>
                </a:ext>
              </a:extLst>
            </p:cNvPr>
            <p:cNvCxnSpPr>
              <a:cxnSpLocks noChangeShapeType="1"/>
              <a:stCxn id="77" idx="0"/>
              <a:endCxn id="70" idx="2"/>
            </p:cNvCxnSpPr>
            <p:nvPr/>
          </p:nvCxnSpPr>
          <p:spPr bwMode="auto">
            <a:xfrm flipV="1">
              <a:off x="4261314" y="5162549"/>
              <a:ext cx="330" cy="268288"/>
            </a:xfrm>
            <a:prstGeom prst="straightConnector1">
              <a:avLst/>
            </a:prstGeom>
            <a:noFill/>
            <a:ln w="25400">
              <a:solidFill>
                <a:srgbClr val="0432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Straight Connector 96">
              <a:extLst>
                <a:ext uri="{FF2B5EF4-FFF2-40B4-BE49-F238E27FC236}">
                  <a16:creationId xmlns:a16="http://schemas.microsoft.com/office/drawing/2014/main" id="{903BC8D5-2D03-4E60-A8C8-713005D2DC4A}"/>
                </a:ext>
              </a:extLst>
            </p:cNvPr>
            <p:cNvCxnSpPr>
              <a:cxnSpLocks noChangeShapeType="1"/>
              <a:stCxn id="69" idx="3"/>
            </p:cNvCxnSpPr>
            <p:nvPr/>
          </p:nvCxnSpPr>
          <p:spPr bwMode="auto">
            <a:xfrm>
              <a:off x="4799012" y="4808423"/>
              <a:ext cx="406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Straight Connector 100">
              <a:extLst>
                <a:ext uri="{FF2B5EF4-FFF2-40B4-BE49-F238E27FC236}">
                  <a16:creationId xmlns:a16="http://schemas.microsoft.com/office/drawing/2014/main" id="{FE7DE2B8-7AF2-4C65-9B94-75FDC0F923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592637" y="5251450"/>
              <a:ext cx="1177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Straight Arrow Connector 101">
              <a:extLst>
                <a:ext uri="{FF2B5EF4-FFF2-40B4-BE49-F238E27FC236}">
                  <a16:creationId xmlns:a16="http://schemas.microsoft.com/office/drawing/2014/main" id="{190ED2D8-4E08-4656-937A-42E75EA7F0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81600" y="4648200"/>
              <a:ext cx="585787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Straight Arrow Connector 102">
              <a:extLst>
                <a:ext uri="{FF2B5EF4-FFF2-40B4-BE49-F238E27FC236}">
                  <a16:creationId xmlns:a16="http://schemas.microsoft.com/office/drawing/2014/main" id="{1FA24F58-A44E-4C36-9CAB-E2AAFD01D1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05412" y="5245100"/>
              <a:ext cx="561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Straight Arrow Connector 103">
              <a:extLst>
                <a:ext uri="{FF2B5EF4-FFF2-40B4-BE49-F238E27FC236}">
                  <a16:creationId xmlns:a16="http://schemas.microsoft.com/office/drawing/2014/main" id="{73F09393-A703-455F-A940-6D2EAC2A7C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81600" y="5826125"/>
              <a:ext cx="585787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" name="Rectangle 107">
              <a:extLst>
                <a:ext uri="{FF2B5EF4-FFF2-40B4-BE49-F238E27FC236}">
                  <a16:creationId xmlns:a16="http://schemas.microsoft.com/office/drawing/2014/main" id="{A391F8CF-B0B0-45D5-BBDE-993A9A913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6675" y="4516437"/>
              <a:ext cx="1117600" cy="1460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3" name="TextBox 108">
              <a:extLst>
                <a:ext uri="{FF2B5EF4-FFF2-40B4-BE49-F238E27FC236}">
                  <a16:creationId xmlns:a16="http://schemas.microsoft.com/office/drawing/2014/main" id="{5B337E96-6FC5-44FC-B7AF-235801198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000" y="4886325"/>
              <a:ext cx="1249362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Instruction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Cache</a:t>
              </a:r>
            </a:p>
          </p:txBody>
        </p:sp>
        <p:cxnSp>
          <p:nvCxnSpPr>
            <p:cNvPr id="94" name="Straight Arrow Connector 112">
              <a:extLst>
                <a:ext uri="{FF2B5EF4-FFF2-40B4-BE49-F238E27FC236}">
                  <a16:creationId xmlns:a16="http://schemas.microsoft.com/office/drawing/2014/main" id="{0F02E8DE-417B-44D4-85B9-E23283D26A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54275" y="5245100"/>
              <a:ext cx="598487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5" name="TextBox 71">
              <a:extLst>
                <a:ext uri="{FF2B5EF4-FFF2-40B4-BE49-F238E27FC236}">
                  <a16:creationId xmlns:a16="http://schemas.microsoft.com/office/drawing/2014/main" id="{54939127-B940-412C-B873-96F78BB18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271" y="6053352"/>
              <a:ext cx="26212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Complete out-of-order</a:t>
              </a:r>
            </a:p>
          </p:txBody>
        </p:sp>
        <p:sp>
          <p:nvSpPr>
            <p:cNvPr id="96" name="TextBox 72">
              <a:extLst>
                <a:ext uri="{FF2B5EF4-FFF2-40B4-BE49-F238E27FC236}">
                  <a16:creationId xmlns:a16="http://schemas.microsoft.com/office/drawing/2014/main" id="{95E340AA-E1AA-44CB-B177-C0797BE01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2753" y="4928284"/>
              <a:ext cx="110799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432FF"/>
                  </a:solidFill>
                  <a:cs typeface="Arial" panose="020B0604020202020204" pitchFamily="34" charset="0"/>
                </a:rPr>
                <a:t>Commit </a:t>
              </a:r>
            </a:p>
            <a:p>
              <a:pPr eaLnBrk="1" hangingPunct="1"/>
              <a:r>
                <a:rPr lang="en-US" altLang="en-US" sz="1800" b="1" dirty="0">
                  <a:solidFill>
                    <a:srgbClr val="0432FF"/>
                  </a:solidFill>
                  <a:cs typeface="Arial" panose="020B0604020202020204" pitchFamily="34" charset="0"/>
                </a:rPr>
                <a:t>in order</a:t>
              </a:r>
            </a:p>
          </p:txBody>
        </p:sp>
        <p:cxnSp>
          <p:nvCxnSpPr>
            <p:cNvPr id="97" name="Straight Arrow Connector 83">
              <a:extLst>
                <a:ext uri="{FF2B5EF4-FFF2-40B4-BE49-F238E27FC236}">
                  <a16:creationId xmlns:a16="http://schemas.microsoft.com/office/drawing/2014/main" id="{6B7560E5-90B1-4D15-86BE-FE045C44FF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24800" y="5246688"/>
              <a:ext cx="0" cy="1146981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Straight Connector 96">
              <a:extLst>
                <a:ext uri="{FF2B5EF4-FFF2-40B4-BE49-F238E27FC236}">
                  <a16:creationId xmlns:a16="http://schemas.microsoft.com/office/drawing/2014/main" id="{D3A4537C-EA2D-4FF4-8FA7-0568F8ABE7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52762" y="4808423"/>
              <a:ext cx="628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Straight Connector 96">
              <a:extLst>
                <a:ext uri="{FF2B5EF4-FFF2-40B4-BE49-F238E27FC236}">
                  <a16:creationId xmlns:a16="http://schemas.microsoft.com/office/drawing/2014/main" id="{581F103C-800A-40DC-B89D-8F701BE062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52762" y="5840413"/>
              <a:ext cx="6679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Straight Connector 96">
              <a:extLst>
                <a:ext uri="{FF2B5EF4-FFF2-40B4-BE49-F238E27FC236}">
                  <a16:creationId xmlns:a16="http://schemas.microsoft.com/office/drawing/2014/main" id="{5FA75785-8759-48CA-AEB2-0CC3FE195A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52762" y="4808423"/>
              <a:ext cx="0" cy="10319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1" name="TextBox 72">
              <a:extLst>
                <a:ext uri="{FF2B5EF4-FFF2-40B4-BE49-F238E27FC236}">
                  <a16:creationId xmlns:a16="http://schemas.microsoft.com/office/drawing/2014/main" id="{2A2FF78B-81F0-43F4-BA94-3BEA6A2F2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4894834"/>
              <a:ext cx="122341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7030A0"/>
                  </a:solidFill>
                  <a:cs typeface="Arial" panose="020B0604020202020204" pitchFamily="34" charset="0"/>
                </a:rPr>
                <a:t>Decoded </a:t>
              </a:r>
            </a:p>
            <a:p>
              <a:pPr eaLnBrk="1" hangingPunct="1"/>
              <a:r>
                <a:rPr lang="en-US" altLang="en-US" sz="1800" b="1" dirty="0">
                  <a:solidFill>
                    <a:srgbClr val="7030A0"/>
                  </a:solidFill>
                  <a:cs typeface="Arial" panose="020B0604020202020204" pitchFamily="34" charset="0"/>
                </a:rPr>
                <a:t>in order</a:t>
              </a:r>
            </a:p>
          </p:txBody>
        </p:sp>
        <p:cxnSp>
          <p:nvCxnSpPr>
            <p:cNvPr id="102" name="Straight Connector 96">
              <a:extLst>
                <a:ext uri="{FF2B5EF4-FFF2-40B4-BE49-F238E27FC236}">
                  <a16:creationId xmlns:a16="http://schemas.microsoft.com/office/drawing/2014/main" id="{E5199A41-2FA8-4063-968B-07F85899CF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75200" y="5801518"/>
              <a:ext cx="406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3135880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2681E62B-ED72-EC48-BA7A-0F4B03409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21" y="914400"/>
            <a:ext cx="6733381" cy="5541962"/>
          </a:xfrm>
        </p:spPr>
        <p:txBody>
          <a:bodyPr/>
          <a:lstStyle/>
          <a:p>
            <a:r>
              <a:rPr lang="en-US" altLang="en-US" sz="2200" b="1" dirty="0">
                <a:ea typeface="ＭＳ Ｐゴシック" panose="020B0600070205080204" pitchFamily="34" charset="-128"/>
              </a:rPr>
              <a:t>In order dispatch + precise exceptions: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sz="2200" b="1" dirty="0">
                <a:ea typeface="ＭＳ Ｐゴシック" panose="020B0600070205080204" pitchFamily="34" charset="-128"/>
              </a:rPr>
              <a:t>Out-of-order dispatch + precise exceptions: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sz="2200" dirty="0">
              <a:ea typeface="ＭＳ Ｐゴシック" panose="020B0600070205080204" pitchFamily="34" charset="-128"/>
            </a:endParaRP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IO: 16  vs. OoO:12 cycles</a:t>
            </a:r>
          </a:p>
        </p:txBody>
      </p:sp>
      <p:sp>
        <p:nvSpPr>
          <p:cNvPr id="44033" name="Title 1">
            <a:extLst>
              <a:ext uri="{FF2B5EF4-FFF2-40B4-BE49-F238E27FC236}">
                <a16:creationId xmlns:a16="http://schemas.microsoft.com/office/drawing/2014/main" id="{61FF88A6-9BA1-0E46-8F0F-FB452BEE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Recall: Effect of Out-of-order Dispatch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7858F12C-6627-7A46-8F5F-92E5FE56F7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A071958-49A2-694F-BD5F-F23B89AC4C7B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4045" name="TextBox 23">
            <a:extLst>
              <a:ext uri="{FF2B5EF4-FFF2-40B4-BE49-F238E27FC236}">
                <a16:creationId xmlns:a16="http://schemas.microsoft.com/office/drawing/2014/main" id="{628B9CD6-49C5-A242-A1EB-D2D0A0C8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55" y="1460007"/>
            <a:ext cx="2231701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cs typeface="Arial" panose="020B0604020202020204" pitchFamily="34" charset="0"/>
              </a:rPr>
              <a:t>IMUL  R3 </a:t>
            </a:r>
            <a:r>
              <a:rPr lang="en-US" altLang="en-US" sz="1800" kern="1400" dirty="0">
                <a:cs typeface="Arial" panose="020B0604020202020204" pitchFamily="34" charset="0"/>
                <a:sym typeface="Wingdings" pitchFamily="2" charset="2"/>
              </a:rPr>
              <a:t> R1, R2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R3  R3, R1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R1  R6, R7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  R6, R8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R7  R3, R5</a:t>
            </a:r>
            <a:endParaRPr lang="en-US" altLang="en-US" sz="1800" kern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3748F3-E196-4830-B562-5B69B922119D}"/>
              </a:ext>
            </a:extLst>
          </p:cNvPr>
          <p:cNvGrpSpPr/>
          <p:nvPr/>
        </p:nvGrpSpPr>
        <p:grpSpPr>
          <a:xfrm>
            <a:off x="2500313" y="1455897"/>
            <a:ext cx="3222625" cy="373063"/>
            <a:chOff x="2500313" y="1455897"/>
            <a:chExt cx="3222625" cy="373063"/>
          </a:xfrm>
        </p:grpSpPr>
        <p:grpSp>
          <p:nvGrpSpPr>
            <p:cNvPr id="44036" name="Group 4">
              <a:extLst>
                <a:ext uri="{FF2B5EF4-FFF2-40B4-BE49-F238E27FC236}">
                  <a16:creationId xmlns:a16="http://schemas.microsoft.com/office/drawing/2014/main" id="{4EB6E497-14A1-8E4C-B328-6748FD9214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313" y="1455897"/>
              <a:ext cx="804862" cy="369888"/>
              <a:chOff x="1001099" y="4100530"/>
              <a:chExt cx="805656" cy="369887"/>
            </a:xfrm>
          </p:grpSpPr>
          <p:sp>
            <p:nvSpPr>
              <p:cNvPr id="44114" name="Rectangle 10">
                <a:extLst>
                  <a:ext uri="{FF2B5EF4-FFF2-40B4-BE49-F238E27FC236}">
                    <a16:creationId xmlns:a16="http://schemas.microsoft.com/office/drawing/2014/main" id="{10B413DD-286A-9B47-82F7-35CF15BA0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F</a:t>
                </a:r>
              </a:p>
            </p:txBody>
          </p:sp>
          <p:sp>
            <p:nvSpPr>
              <p:cNvPr id="44115" name="Rectangle 11">
                <a:extLst>
                  <a:ext uri="{FF2B5EF4-FFF2-40B4-BE49-F238E27FC236}">
                    <a16:creationId xmlns:a16="http://schemas.microsoft.com/office/drawing/2014/main" id="{3027E859-FC44-DC44-B5DD-50739A9B0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D</a:t>
                </a:r>
              </a:p>
            </p:txBody>
          </p:sp>
        </p:grpSp>
        <p:sp>
          <p:nvSpPr>
            <p:cNvPr id="44037" name="Rectangle 13">
              <a:extLst>
                <a:ext uri="{FF2B5EF4-FFF2-40B4-BE49-F238E27FC236}">
                  <a16:creationId xmlns:a16="http://schemas.microsoft.com/office/drawing/2014/main" id="{3EACAADD-EB56-F043-8B66-A753B00D2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14558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grpSp>
          <p:nvGrpSpPr>
            <p:cNvPr id="44038" name="Group 8">
              <a:extLst>
                <a:ext uri="{FF2B5EF4-FFF2-40B4-BE49-F238E27FC236}">
                  <a16:creationId xmlns:a16="http://schemas.microsoft.com/office/drawing/2014/main" id="{76249842-CFFF-9C48-8ACD-BFCFCEB0DD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5175" y="1455897"/>
              <a:ext cx="1611313" cy="373063"/>
              <a:chOff x="2783717" y="3915586"/>
              <a:chExt cx="1611312" cy="374488"/>
            </a:xfrm>
          </p:grpSpPr>
          <p:sp>
            <p:nvSpPr>
              <p:cNvPr id="44110" name="Rectangle 12">
                <a:extLst>
                  <a:ext uri="{FF2B5EF4-FFF2-40B4-BE49-F238E27FC236}">
                    <a16:creationId xmlns:a16="http://schemas.microsoft.com/office/drawing/2014/main" id="{FF18E4F4-4C7B-CB47-80F8-04631DC0B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1" name="Rectangle 12">
                <a:extLst>
                  <a:ext uri="{FF2B5EF4-FFF2-40B4-BE49-F238E27FC236}">
                    <a16:creationId xmlns:a16="http://schemas.microsoft.com/office/drawing/2014/main" id="{2B205635-F5EF-1E41-BEAC-4F93204F0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2" name="Rectangle 12">
                <a:extLst>
                  <a:ext uri="{FF2B5EF4-FFF2-40B4-BE49-F238E27FC236}">
                    <a16:creationId xmlns:a16="http://schemas.microsoft.com/office/drawing/2014/main" id="{BEC6F2B5-A320-1C40-A08B-06FC0CEC1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3" name="Rectangle 12">
                <a:extLst>
                  <a:ext uri="{FF2B5EF4-FFF2-40B4-BE49-F238E27FC236}">
                    <a16:creationId xmlns:a16="http://schemas.microsoft.com/office/drawing/2014/main" id="{5B9166D7-9DD9-EF41-A61C-99462B1AF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44039" name="Rectangle 13">
              <a:extLst>
                <a:ext uri="{FF2B5EF4-FFF2-40B4-BE49-F238E27FC236}">
                  <a16:creationId xmlns:a16="http://schemas.microsoft.com/office/drawing/2014/main" id="{AD4C2A1C-B81A-634C-B8C3-3E669B0F6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14590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7FED8EE-B845-4FFF-9BEF-B8DF341DD190}"/>
              </a:ext>
            </a:extLst>
          </p:cNvPr>
          <p:cNvGrpSpPr/>
          <p:nvPr/>
        </p:nvGrpSpPr>
        <p:grpSpPr>
          <a:xfrm>
            <a:off x="2901950" y="1825785"/>
            <a:ext cx="3222625" cy="406400"/>
            <a:chOff x="2901950" y="1825785"/>
            <a:chExt cx="3222625" cy="406400"/>
          </a:xfrm>
        </p:grpSpPr>
        <p:grpSp>
          <p:nvGrpSpPr>
            <p:cNvPr id="44040" name="Group 14">
              <a:extLst>
                <a:ext uri="{FF2B5EF4-FFF2-40B4-BE49-F238E27FC236}">
                  <a16:creationId xmlns:a16="http://schemas.microsoft.com/office/drawing/2014/main" id="{AE076CC6-8597-6243-9B3C-F2E3C4E589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1950" y="1828960"/>
              <a:ext cx="806450" cy="369887"/>
              <a:chOff x="1001099" y="4100530"/>
              <a:chExt cx="805656" cy="369887"/>
            </a:xfrm>
          </p:grpSpPr>
          <p:sp>
            <p:nvSpPr>
              <p:cNvPr id="44108" name="Rectangle 10">
                <a:extLst>
                  <a:ext uri="{FF2B5EF4-FFF2-40B4-BE49-F238E27FC236}">
                    <a16:creationId xmlns:a16="http://schemas.microsoft.com/office/drawing/2014/main" id="{3EE0DCA3-6DF5-C24A-B86E-8480CC5C6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F</a:t>
                </a:r>
              </a:p>
            </p:txBody>
          </p:sp>
          <p:sp>
            <p:nvSpPr>
              <p:cNvPr id="44109" name="Rectangle 11">
                <a:extLst>
                  <a:ext uri="{FF2B5EF4-FFF2-40B4-BE49-F238E27FC236}">
                    <a16:creationId xmlns:a16="http://schemas.microsoft.com/office/drawing/2014/main" id="{666F5434-3EBA-9B4E-B880-DA5939D64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41" name="Rectangle 12">
              <a:extLst>
                <a:ext uri="{FF2B5EF4-FFF2-40B4-BE49-F238E27FC236}">
                  <a16:creationId xmlns:a16="http://schemas.microsoft.com/office/drawing/2014/main" id="{13DDEB87-A069-964A-9F75-5C0B792CF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1828960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42" name="Rectangle 18">
              <a:extLst>
                <a:ext uri="{FF2B5EF4-FFF2-40B4-BE49-F238E27FC236}">
                  <a16:creationId xmlns:a16="http://schemas.microsoft.com/office/drawing/2014/main" id="{ACD45792-DA88-2E48-AAF4-66665A734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182578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43" name="Rectangle 13">
              <a:extLst>
                <a:ext uri="{FF2B5EF4-FFF2-40B4-BE49-F238E27FC236}">
                  <a16:creationId xmlns:a16="http://schemas.microsoft.com/office/drawing/2014/main" id="{05BE6B47-747C-284E-9ED9-F15CF9725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1828960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65" name="TextBox 51">
              <a:extLst>
                <a:ext uri="{FF2B5EF4-FFF2-40B4-BE49-F238E27FC236}">
                  <a16:creationId xmlns:a16="http://schemas.microsoft.com/office/drawing/2014/main" id="{D9A79FE0-FC98-3E4C-850F-98E9FFB64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600" y="1862297"/>
              <a:ext cx="873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1A0BD34-9708-437F-9B42-C7CFE895875C}"/>
              </a:ext>
            </a:extLst>
          </p:cNvPr>
          <p:cNvGrpSpPr/>
          <p:nvPr/>
        </p:nvGrpSpPr>
        <p:grpSpPr>
          <a:xfrm>
            <a:off x="3305175" y="2190910"/>
            <a:ext cx="3222625" cy="382587"/>
            <a:chOff x="3305175" y="2190910"/>
            <a:chExt cx="3222625" cy="382587"/>
          </a:xfrm>
        </p:grpSpPr>
        <p:sp>
          <p:nvSpPr>
            <p:cNvPr id="44044" name="Rectangle 10">
              <a:extLst>
                <a:ext uri="{FF2B5EF4-FFF2-40B4-BE49-F238E27FC236}">
                  <a16:creationId xmlns:a16="http://schemas.microsoft.com/office/drawing/2014/main" id="{51705DA9-0C70-8943-A03E-FB8555390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175" y="219884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F</a:t>
              </a:r>
            </a:p>
          </p:txBody>
        </p:sp>
        <p:sp>
          <p:nvSpPr>
            <p:cNvPr id="44046" name="Rectangle 11">
              <a:extLst>
                <a:ext uri="{FF2B5EF4-FFF2-40B4-BE49-F238E27FC236}">
                  <a16:creationId xmlns:a16="http://schemas.microsoft.com/office/drawing/2014/main" id="{798C675E-F713-6644-8812-69FAEB577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219884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44047" name="Rectangle 12">
              <a:extLst>
                <a:ext uri="{FF2B5EF4-FFF2-40B4-BE49-F238E27FC236}">
                  <a16:creationId xmlns:a16="http://schemas.microsoft.com/office/drawing/2014/main" id="{B7F08800-F1B7-194E-80F2-BAC173BD2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21956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44048" name="Rectangle 26">
              <a:extLst>
                <a:ext uri="{FF2B5EF4-FFF2-40B4-BE49-F238E27FC236}">
                  <a16:creationId xmlns:a16="http://schemas.microsoft.com/office/drawing/2014/main" id="{3EB7E030-D9F6-F34D-ABDC-6F2CD9691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2190910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44049" name="Rectangle 13">
              <a:extLst>
                <a:ext uri="{FF2B5EF4-FFF2-40B4-BE49-F238E27FC236}">
                  <a16:creationId xmlns:a16="http://schemas.microsoft.com/office/drawing/2014/main" id="{EFEF67AE-9DA2-2E49-9CB2-5BF61E20C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1956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W</a:t>
              </a:r>
            </a:p>
          </p:txBody>
        </p:sp>
        <p:sp>
          <p:nvSpPr>
            <p:cNvPr id="44066" name="TextBox 53">
              <a:extLst>
                <a:ext uri="{FF2B5EF4-FFF2-40B4-BE49-F238E27FC236}">
                  <a16:creationId xmlns:a16="http://schemas.microsoft.com/office/drawing/2014/main" id="{8BF78AEA-704D-1E4B-AE3A-9D6D00D57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600" y="2205197"/>
              <a:ext cx="8731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8951EB-529B-4D78-83EC-F80A6AB2CF17}"/>
              </a:ext>
            </a:extLst>
          </p:cNvPr>
          <p:cNvGrpSpPr/>
          <p:nvPr/>
        </p:nvGrpSpPr>
        <p:grpSpPr>
          <a:xfrm>
            <a:off x="4916488" y="2568735"/>
            <a:ext cx="3624262" cy="379412"/>
            <a:chOff x="4916488" y="2568735"/>
            <a:chExt cx="3624262" cy="379412"/>
          </a:xfrm>
        </p:grpSpPr>
        <p:sp>
          <p:nvSpPr>
            <p:cNvPr id="44050" name="Rectangle 10">
              <a:extLst>
                <a:ext uri="{FF2B5EF4-FFF2-40B4-BE49-F238E27FC236}">
                  <a16:creationId xmlns:a16="http://schemas.microsoft.com/office/drawing/2014/main" id="{0CCDEBE3-4840-3A47-9F69-6FB3FFF84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256873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4051" name="Rectangle 11">
              <a:extLst>
                <a:ext uri="{FF2B5EF4-FFF2-40B4-BE49-F238E27FC236}">
                  <a16:creationId xmlns:a16="http://schemas.microsoft.com/office/drawing/2014/main" id="{7801D49A-0EDD-4C4C-A758-2D48FD933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25734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  <p:sp>
          <p:nvSpPr>
            <p:cNvPr id="44052" name="Rectangle 12">
              <a:extLst>
                <a:ext uri="{FF2B5EF4-FFF2-40B4-BE49-F238E27FC236}">
                  <a16:creationId xmlns:a16="http://schemas.microsoft.com/office/drawing/2014/main" id="{6282E655-F33B-F347-89F7-E17DCFE31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2568735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53" name="Rectangle 31">
              <a:extLst>
                <a:ext uri="{FF2B5EF4-FFF2-40B4-BE49-F238E27FC236}">
                  <a16:creationId xmlns:a16="http://schemas.microsoft.com/office/drawing/2014/main" id="{83CF58DB-9507-3547-9FD0-4B3AD7EED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4300" y="25734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54" name="Rectangle 13">
              <a:extLst>
                <a:ext uri="{FF2B5EF4-FFF2-40B4-BE49-F238E27FC236}">
                  <a16:creationId xmlns:a16="http://schemas.microsoft.com/office/drawing/2014/main" id="{7EDB84BA-A47C-7F44-BFFF-19DF9E200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7525" y="2578260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grpSp>
          <p:nvGrpSpPr>
            <p:cNvPr id="44071" name="Group 60">
              <a:extLst>
                <a:ext uri="{FF2B5EF4-FFF2-40B4-BE49-F238E27FC236}">
                  <a16:creationId xmlns:a16="http://schemas.microsoft.com/office/drawing/2014/main" id="{D5EF11FF-019F-F74A-914C-2DD76D06A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4575" y="2568735"/>
              <a:ext cx="1611313" cy="374650"/>
              <a:chOff x="2783717" y="3910951"/>
              <a:chExt cx="1611312" cy="374522"/>
            </a:xfrm>
          </p:grpSpPr>
          <p:sp>
            <p:nvSpPr>
              <p:cNvPr id="44094" name="Rectangle 12">
                <a:extLst>
                  <a:ext uri="{FF2B5EF4-FFF2-40B4-BE49-F238E27FC236}">
                    <a16:creationId xmlns:a16="http://schemas.microsoft.com/office/drawing/2014/main" id="{D535AA01-57F5-A24F-81D8-BD104CFE0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0951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5" name="Rectangle 12">
                <a:extLst>
                  <a:ext uri="{FF2B5EF4-FFF2-40B4-BE49-F238E27FC236}">
                    <a16:creationId xmlns:a16="http://schemas.microsoft.com/office/drawing/2014/main" id="{DA4BA15B-D7C1-D549-8496-FED24046B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6" name="Rectangle 12">
                <a:extLst>
                  <a:ext uri="{FF2B5EF4-FFF2-40B4-BE49-F238E27FC236}">
                    <a16:creationId xmlns:a16="http://schemas.microsoft.com/office/drawing/2014/main" id="{31A7AD06-C635-8048-9C8C-8F9F42BE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7" name="Rectangle 64">
                <a:extLst>
                  <a:ext uri="{FF2B5EF4-FFF2-40B4-BE49-F238E27FC236}">
                    <a16:creationId xmlns:a16="http://schemas.microsoft.com/office/drawing/2014/main" id="{85F9D09E-67AE-5647-AB57-EC7F0354F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16BDFA9-F74F-4AE8-A968-7042B4D9CCC3}"/>
              </a:ext>
            </a:extLst>
          </p:cNvPr>
          <p:cNvGrpSpPr/>
          <p:nvPr/>
        </p:nvGrpSpPr>
        <p:grpSpPr>
          <a:xfrm>
            <a:off x="5326063" y="2938622"/>
            <a:ext cx="3621087" cy="377825"/>
            <a:chOff x="5326063" y="2938622"/>
            <a:chExt cx="3621087" cy="377825"/>
          </a:xfrm>
        </p:grpSpPr>
        <p:sp>
          <p:nvSpPr>
            <p:cNvPr id="44055" name="Rectangle 10">
              <a:extLst>
                <a:ext uri="{FF2B5EF4-FFF2-40B4-BE49-F238E27FC236}">
                  <a16:creationId xmlns:a16="http://schemas.microsoft.com/office/drawing/2014/main" id="{A921E57F-FCDB-634A-889A-E83078725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063" y="293862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4056" name="Rectangle 11">
              <a:extLst>
                <a:ext uri="{FF2B5EF4-FFF2-40B4-BE49-F238E27FC236}">
                  <a16:creationId xmlns:a16="http://schemas.microsoft.com/office/drawing/2014/main" id="{9BDA7156-22B2-5D46-8EFD-EA7254BD7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8" y="2943385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  <p:sp>
          <p:nvSpPr>
            <p:cNvPr id="44057" name="Rectangle 12">
              <a:extLst>
                <a:ext uri="{FF2B5EF4-FFF2-40B4-BE49-F238E27FC236}">
                  <a16:creationId xmlns:a16="http://schemas.microsoft.com/office/drawing/2014/main" id="{43857CD4-E62E-8B4A-930C-5E819D521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9063" y="2938622"/>
              <a:ext cx="401637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58" name="Rectangle 36">
              <a:extLst>
                <a:ext uri="{FF2B5EF4-FFF2-40B4-BE49-F238E27FC236}">
                  <a16:creationId xmlns:a16="http://schemas.microsoft.com/office/drawing/2014/main" id="{70894B9E-FD99-E14B-A7F2-70FAC5ADD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0700" y="294338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59" name="Rectangle 13">
              <a:extLst>
                <a:ext uri="{FF2B5EF4-FFF2-40B4-BE49-F238E27FC236}">
                  <a16:creationId xmlns:a16="http://schemas.microsoft.com/office/drawing/2014/main" id="{E2D9A54B-3A96-584E-B093-49D579CF2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3925" y="293862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72" name="TextBox 67">
              <a:extLst>
                <a:ext uri="{FF2B5EF4-FFF2-40B4-BE49-F238E27FC236}">
                  <a16:creationId xmlns:a16="http://schemas.microsoft.com/office/drawing/2014/main" id="{07E1490E-F50C-404B-9CAF-C9D3481AB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7800" y="2948147"/>
              <a:ext cx="8731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06D5DF2-AA78-4B12-A894-29FA29ED205F}"/>
              </a:ext>
            </a:extLst>
          </p:cNvPr>
          <p:cNvGrpSpPr/>
          <p:nvPr/>
        </p:nvGrpSpPr>
        <p:grpSpPr>
          <a:xfrm>
            <a:off x="2500313" y="4164578"/>
            <a:ext cx="3222625" cy="374650"/>
            <a:chOff x="2500313" y="4164578"/>
            <a:chExt cx="3222625" cy="374650"/>
          </a:xfrm>
        </p:grpSpPr>
        <p:grpSp>
          <p:nvGrpSpPr>
            <p:cNvPr id="44060" name="Group 38">
              <a:extLst>
                <a:ext uri="{FF2B5EF4-FFF2-40B4-BE49-F238E27FC236}">
                  <a16:creationId xmlns:a16="http://schemas.microsoft.com/office/drawing/2014/main" id="{D4ABB801-9EA7-5D4F-8BB3-02BB67EC55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313" y="4164578"/>
              <a:ext cx="806450" cy="369888"/>
              <a:chOff x="1001099" y="4100530"/>
              <a:chExt cx="805656" cy="369887"/>
            </a:xfrm>
          </p:grpSpPr>
          <p:sp>
            <p:nvSpPr>
              <p:cNvPr id="44106" name="Rectangle 10">
                <a:extLst>
                  <a:ext uri="{FF2B5EF4-FFF2-40B4-BE49-F238E27FC236}">
                    <a16:creationId xmlns:a16="http://schemas.microsoft.com/office/drawing/2014/main" id="{C315FBB8-56FB-3D40-9EB7-037CC9EFD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F</a:t>
                </a:r>
              </a:p>
            </p:txBody>
          </p:sp>
          <p:sp>
            <p:nvSpPr>
              <p:cNvPr id="44107" name="Rectangle 11">
                <a:extLst>
                  <a:ext uri="{FF2B5EF4-FFF2-40B4-BE49-F238E27FC236}">
                    <a16:creationId xmlns:a16="http://schemas.microsoft.com/office/drawing/2014/main" id="{18D443B1-858E-8347-9AF1-68E0EFC4F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61" name="Rectangle 13">
              <a:extLst>
                <a:ext uri="{FF2B5EF4-FFF2-40B4-BE49-F238E27FC236}">
                  <a16:creationId xmlns:a16="http://schemas.microsoft.com/office/drawing/2014/main" id="{4BF1757F-80D2-B84D-A1D6-4DAA080BA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4164578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grpSp>
          <p:nvGrpSpPr>
            <p:cNvPr id="44062" name="Group 42">
              <a:extLst>
                <a:ext uri="{FF2B5EF4-FFF2-40B4-BE49-F238E27FC236}">
                  <a16:creationId xmlns:a16="http://schemas.microsoft.com/office/drawing/2014/main" id="{17DA707F-260D-164F-80F0-C1CC2C66B9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6763" y="4164578"/>
              <a:ext cx="1611313" cy="374650"/>
              <a:chOff x="2783717" y="3915586"/>
              <a:chExt cx="1611312" cy="374488"/>
            </a:xfrm>
          </p:grpSpPr>
          <p:sp>
            <p:nvSpPr>
              <p:cNvPr id="44102" name="Rectangle 12">
                <a:extLst>
                  <a:ext uri="{FF2B5EF4-FFF2-40B4-BE49-F238E27FC236}">
                    <a16:creationId xmlns:a16="http://schemas.microsoft.com/office/drawing/2014/main" id="{BA1A972A-A1A5-EB4C-8C5C-CEE5BAD1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03" name="Rectangle 12">
                <a:extLst>
                  <a:ext uri="{FF2B5EF4-FFF2-40B4-BE49-F238E27FC236}">
                    <a16:creationId xmlns:a16="http://schemas.microsoft.com/office/drawing/2014/main" id="{4D3EB74F-94F2-5D46-AA9B-BBEB74485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04" name="Rectangle 12">
                <a:extLst>
                  <a:ext uri="{FF2B5EF4-FFF2-40B4-BE49-F238E27FC236}">
                    <a16:creationId xmlns:a16="http://schemas.microsoft.com/office/drawing/2014/main" id="{78207CAF-DBEA-CE4B-9245-8DA0D1040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05" name="Rectangle 46">
                <a:extLst>
                  <a:ext uri="{FF2B5EF4-FFF2-40B4-BE49-F238E27FC236}">
                    <a16:creationId xmlns:a16="http://schemas.microsoft.com/office/drawing/2014/main" id="{42C998FF-E9E9-C445-9282-652F4DA58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44063" name="Rectangle 47">
              <a:extLst>
                <a:ext uri="{FF2B5EF4-FFF2-40B4-BE49-F238E27FC236}">
                  <a16:creationId xmlns:a16="http://schemas.microsoft.com/office/drawing/2014/main" id="{BD7EEBDC-86C7-F34D-BC0B-ACF3CEFEF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8076" y="4169341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3A0E908-460B-4085-915F-56EAD92DFE4E}"/>
              </a:ext>
            </a:extLst>
          </p:cNvPr>
          <p:cNvGrpSpPr/>
          <p:nvPr/>
        </p:nvGrpSpPr>
        <p:grpSpPr>
          <a:xfrm>
            <a:off x="3714751" y="5269478"/>
            <a:ext cx="3222625" cy="384175"/>
            <a:chOff x="3714751" y="5269478"/>
            <a:chExt cx="3222625" cy="384175"/>
          </a:xfrm>
        </p:grpSpPr>
        <p:grpSp>
          <p:nvGrpSpPr>
            <p:cNvPr id="44075" name="Group 70">
              <a:extLst>
                <a:ext uri="{FF2B5EF4-FFF2-40B4-BE49-F238E27FC236}">
                  <a16:creationId xmlns:a16="http://schemas.microsoft.com/office/drawing/2014/main" id="{02E381EA-7115-6A4E-B596-EECFB30BE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4751" y="5279003"/>
              <a:ext cx="806450" cy="369888"/>
              <a:chOff x="1001099" y="4100530"/>
              <a:chExt cx="805656" cy="369887"/>
            </a:xfrm>
          </p:grpSpPr>
          <p:sp>
            <p:nvSpPr>
              <p:cNvPr id="44092" name="Rectangle 10">
                <a:extLst>
                  <a:ext uri="{FF2B5EF4-FFF2-40B4-BE49-F238E27FC236}">
                    <a16:creationId xmlns:a16="http://schemas.microsoft.com/office/drawing/2014/main" id="{85C25DC0-4EEE-3B44-8F54-50BA1D689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F</a:t>
                </a:r>
              </a:p>
            </p:txBody>
          </p:sp>
          <p:sp>
            <p:nvSpPr>
              <p:cNvPr id="44093" name="Rectangle 11">
                <a:extLst>
                  <a:ext uri="{FF2B5EF4-FFF2-40B4-BE49-F238E27FC236}">
                    <a16:creationId xmlns:a16="http://schemas.microsoft.com/office/drawing/2014/main" id="{25FB7BA0-2BA1-7A46-BAD8-EF96F94FA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D</a:t>
                </a:r>
              </a:p>
            </p:txBody>
          </p:sp>
        </p:grpSp>
        <p:grpSp>
          <p:nvGrpSpPr>
            <p:cNvPr id="44076" name="Group 74">
              <a:extLst>
                <a:ext uri="{FF2B5EF4-FFF2-40B4-BE49-F238E27FC236}">
                  <a16:creationId xmlns:a16="http://schemas.microsoft.com/office/drawing/2014/main" id="{5BB2F1A1-270F-814F-8409-3D23A15474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1201" y="5279003"/>
              <a:ext cx="1611312" cy="374650"/>
              <a:chOff x="2783717" y="3915586"/>
              <a:chExt cx="1611312" cy="374488"/>
            </a:xfrm>
          </p:grpSpPr>
          <p:sp>
            <p:nvSpPr>
              <p:cNvPr id="44088" name="Rectangle 12">
                <a:extLst>
                  <a:ext uri="{FF2B5EF4-FFF2-40B4-BE49-F238E27FC236}">
                    <a16:creationId xmlns:a16="http://schemas.microsoft.com/office/drawing/2014/main" id="{B5C8126E-AD85-B946-B729-41CC4B33A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E</a:t>
                </a:r>
              </a:p>
            </p:txBody>
          </p:sp>
          <p:sp>
            <p:nvSpPr>
              <p:cNvPr id="44089" name="Rectangle 12">
                <a:extLst>
                  <a:ext uri="{FF2B5EF4-FFF2-40B4-BE49-F238E27FC236}">
                    <a16:creationId xmlns:a16="http://schemas.microsoft.com/office/drawing/2014/main" id="{92E4F3F7-9F83-CE48-8B09-BC4F492CE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E</a:t>
                </a:r>
              </a:p>
            </p:txBody>
          </p:sp>
          <p:sp>
            <p:nvSpPr>
              <p:cNvPr id="44090" name="Rectangle 12">
                <a:extLst>
                  <a:ext uri="{FF2B5EF4-FFF2-40B4-BE49-F238E27FC236}">
                    <a16:creationId xmlns:a16="http://schemas.microsoft.com/office/drawing/2014/main" id="{A6F82D42-7BC9-1641-ADBB-A07B531D0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E</a:t>
                </a:r>
              </a:p>
            </p:txBody>
          </p:sp>
          <p:sp>
            <p:nvSpPr>
              <p:cNvPr id="44091" name="Rectangle 78">
                <a:extLst>
                  <a:ext uri="{FF2B5EF4-FFF2-40B4-BE49-F238E27FC236}">
                    <a16:creationId xmlns:a16="http://schemas.microsoft.com/office/drawing/2014/main" id="{01EF7DB6-BD87-3541-9644-B71B74E73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E</a:t>
                </a:r>
              </a:p>
            </p:txBody>
          </p:sp>
        </p:grpSp>
        <p:sp>
          <p:nvSpPr>
            <p:cNvPr id="44077" name="Rectangle 79">
              <a:extLst>
                <a:ext uri="{FF2B5EF4-FFF2-40B4-BE49-F238E27FC236}">
                  <a16:creationId xmlns:a16="http://schemas.microsoft.com/office/drawing/2014/main" id="{E3AB9833-8D9C-6D40-B3E1-A3074858E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513" y="5269478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R</a:t>
              </a:r>
            </a:p>
          </p:txBody>
        </p:sp>
        <p:sp>
          <p:nvSpPr>
            <p:cNvPr id="44078" name="Rectangle 13">
              <a:extLst>
                <a:ext uri="{FF2B5EF4-FFF2-40B4-BE49-F238E27FC236}">
                  <a16:creationId xmlns:a16="http://schemas.microsoft.com/office/drawing/2014/main" id="{EFAE7323-24F7-7B42-84A4-744F216B5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5738" y="5274241"/>
              <a:ext cx="40163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W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1A879EB-A0B3-4DCC-947B-D6092C97F965}"/>
              </a:ext>
            </a:extLst>
          </p:cNvPr>
          <p:cNvGrpSpPr/>
          <p:nvPr/>
        </p:nvGrpSpPr>
        <p:grpSpPr>
          <a:xfrm>
            <a:off x="2903538" y="4534466"/>
            <a:ext cx="3228975" cy="379412"/>
            <a:chOff x="2903538" y="4534466"/>
            <a:chExt cx="3228975" cy="379412"/>
          </a:xfrm>
        </p:grpSpPr>
        <p:grpSp>
          <p:nvGrpSpPr>
            <p:cNvPr id="44064" name="Group 48">
              <a:extLst>
                <a:ext uri="{FF2B5EF4-FFF2-40B4-BE49-F238E27FC236}">
                  <a16:creationId xmlns:a16="http://schemas.microsoft.com/office/drawing/2014/main" id="{BAF22BF2-8BCD-E64D-BC52-D8255F9EE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538" y="4534466"/>
              <a:ext cx="804863" cy="369887"/>
              <a:chOff x="1001099" y="4100530"/>
              <a:chExt cx="805656" cy="369887"/>
            </a:xfrm>
          </p:grpSpPr>
          <p:sp>
            <p:nvSpPr>
              <p:cNvPr id="44100" name="Rectangle 10">
                <a:extLst>
                  <a:ext uri="{FF2B5EF4-FFF2-40B4-BE49-F238E27FC236}">
                    <a16:creationId xmlns:a16="http://schemas.microsoft.com/office/drawing/2014/main" id="{68FA83E7-57FB-9440-BD5D-4C4E5677B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F</a:t>
                </a:r>
              </a:p>
            </p:txBody>
          </p:sp>
          <p:sp>
            <p:nvSpPr>
              <p:cNvPr id="44101" name="Rectangle 11">
                <a:extLst>
                  <a:ext uri="{FF2B5EF4-FFF2-40B4-BE49-F238E27FC236}">
                    <a16:creationId xmlns:a16="http://schemas.microsoft.com/office/drawing/2014/main" id="{5F53FC4F-8EF0-2C42-A215-27F6A399E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67" name="Rectangle 12">
              <a:extLst>
                <a:ext uri="{FF2B5EF4-FFF2-40B4-BE49-F238E27FC236}">
                  <a16:creationId xmlns:a16="http://schemas.microsoft.com/office/drawing/2014/main" id="{FF562237-86BB-A34E-AF15-ACF2F0964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4426" y="4543991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68" name="Rectangle 55">
              <a:extLst>
                <a:ext uri="{FF2B5EF4-FFF2-40B4-BE49-F238E27FC236}">
                  <a16:creationId xmlns:a16="http://schemas.microsoft.com/office/drawing/2014/main" id="{6A6FBDFC-676D-CD4B-AADB-050B02C96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063" y="4539228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69" name="Rectangle 13">
              <a:extLst>
                <a:ext uri="{FF2B5EF4-FFF2-40B4-BE49-F238E27FC236}">
                  <a16:creationId xmlns:a16="http://schemas.microsoft.com/office/drawing/2014/main" id="{A19B6150-02DF-9A4D-9D03-E66F86CBC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8" y="4543991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83" name="TextBox 87">
              <a:extLst>
                <a:ext uri="{FF2B5EF4-FFF2-40B4-BE49-F238E27FC236}">
                  <a16:creationId xmlns:a16="http://schemas.microsoft.com/office/drawing/2014/main" id="{9AA447C3-55B2-934B-B3E6-12FA2E497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363" y="4534466"/>
              <a:ext cx="7524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WAIT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49A19BF-90E8-4320-BAC1-C692ACE1BDE3}"/>
              </a:ext>
            </a:extLst>
          </p:cNvPr>
          <p:cNvGrpSpPr/>
          <p:nvPr/>
        </p:nvGrpSpPr>
        <p:grpSpPr>
          <a:xfrm>
            <a:off x="4117976" y="5639366"/>
            <a:ext cx="3222625" cy="384175"/>
            <a:chOff x="4117976" y="5639366"/>
            <a:chExt cx="3222625" cy="384175"/>
          </a:xfrm>
        </p:grpSpPr>
        <p:grpSp>
          <p:nvGrpSpPr>
            <p:cNvPr id="44079" name="Group 81">
              <a:extLst>
                <a:ext uri="{FF2B5EF4-FFF2-40B4-BE49-F238E27FC236}">
                  <a16:creationId xmlns:a16="http://schemas.microsoft.com/office/drawing/2014/main" id="{366786FF-7C86-C249-A657-0F68D1D6B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7976" y="5653653"/>
              <a:ext cx="806450" cy="369888"/>
              <a:chOff x="1001099" y="4100530"/>
              <a:chExt cx="805656" cy="369887"/>
            </a:xfrm>
          </p:grpSpPr>
          <p:sp>
            <p:nvSpPr>
              <p:cNvPr id="44086" name="Rectangle 10">
                <a:extLst>
                  <a:ext uri="{FF2B5EF4-FFF2-40B4-BE49-F238E27FC236}">
                    <a16:creationId xmlns:a16="http://schemas.microsoft.com/office/drawing/2014/main" id="{8B63DD1B-B002-9049-A309-150173D18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F</a:t>
                </a:r>
              </a:p>
            </p:txBody>
          </p:sp>
          <p:sp>
            <p:nvSpPr>
              <p:cNvPr id="44087" name="Rectangle 11">
                <a:extLst>
                  <a:ext uri="{FF2B5EF4-FFF2-40B4-BE49-F238E27FC236}">
                    <a16:creationId xmlns:a16="http://schemas.microsoft.com/office/drawing/2014/main" id="{CAFC7260-9B1E-9947-B46D-D1BE0CA22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80" name="Rectangle 12">
              <a:extLst>
                <a:ext uri="{FF2B5EF4-FFF2-40B4-BE49-F238E27FC236}">
                  <a16:creationId xmlns:a16="http://schemas.microsoft.com/office/drawing/2014/main" id="{A8CCE197-38D7-B14B-BA8F-48EC959B9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513" y="5644128"/>
              <a:ext cx="403225" cy="374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81" name="Rectangle 85">
              <a:extLst>
                <a:ext uri="{FF2B5EF4-FFF2-40B4-BE49-F238E27FC236}">
                  <a16:creationId xmlns:a16="http://schemas.microsoft.com/office/drawing/2014/main" id="{A3FCF722-0304-5746-A083-F6CDCCF40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5738" y="5639366"/>
              <a:ext cx="401638" cy="374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82" name="Rectangle 13">
              <a:extLst>
                <a:ext uri="{FF2B5EF4-FFF2-40B4-BE49-F238E27FC236}">
                  <a16:creationId xmlns:a16="http://schemas.microsoft.com/office/drawing/2014/main" id="{AC6288E7-76AE-2040-9806-B6B13E4E2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7376" y="5644128"/>
              <a:ext cx="403225" cy="374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84" name="TextBox 88">
              <a:extLst>
                <a:ext uri="{FF2B5EF4-FFF2-40B4-BE49-F238E27FC236}">
                  <a16:creationId xmlns:a16="http://schemas.microsoft.com/office/drawing/2014/main" id="{871CEF94-B797-A449-93CA-BBD378AB2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5563" y="5653653"/>
              <a:ext cx="7524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WAIT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F3D94D-A8B2-4AA8-93F2-DA9960CD6871}"/>
              </a:ext>
            </a:extLst>
          </p:cNvPr>
          <p:cNvGrpSpPr/>
          <p:nvPr/>
        </p:nvGrpSpPr>
        <p:grpSpPr>
          <a:xfrm>
            <a:off x="3306763" y="4899591"/>
            <a:ext cx="3232150" cy="379412"/>
            <a:chOff x="3306763" y="4899591"/>
            <a:chExt cx="3232150" cy="379412"/>
          </a:xfrm>
        </p:grpSpPr>
        <p:grpSp>
          <p:nvGrpSpPr>
            <p:cNvPr id="44070" name="Group 57">
              <a:extLst>
                <a:ext uri="{FF2B5EF4-FFF2-40B4-BE49-F238E27FC236}">
                  <a16:creationId xmlns:a16="http://schemas.microsoft.com/office/drawing/2014/main" id="{74D993E1-E6C4-1248-A0B4-C2707DD4BC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6763" y="4904353"/>
              <a:ext cx="804863" cy="369888"/>
              <a:chOff x="1001099" y="4100530"/>
              <a:chExt cx="805656" cy="369887"/>
            </a:xfrm>
          </p:grpSpPr>
          <p:sp>
            <p:nvSpPr>
              <p:cNvPr id="44098" name="Rectangle 10">
                <a:extLst>
                  <a:ext uri="{FF2B5EF4-FFF2-40B4-BE49-F238E27FC236}">
                    <a16:creationId xmlns:a16="http://schemas.microsoft.com/office/drawing/2014/main" id="{87B39000-56CB-4D4E-B507-8EEC498F5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F</a:t>
                </a:r>
              </a:p>
            </p:txBody>
          </p:sp>
          <p:sp>
            <p:nvSpPr>
              <p:cNvPr id="44099" name="Rectangle 11">
                <a:extLst>
                  <a:ext uri="{FF2B5EF4-FFF2-40B4-BE49-F238E27FC236}">
                    <a16:creationId xmlns:a16="http://schemas.microsoft.com/office/drawing/2014/main" id="{E623E9C6-D4B9-394B-A55C-570E7D2C6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D</a:t>
                </a:r>
              </a:p>
            </p:txBody>
          </p:sp>
        </p:grpSp>
        <p:sp>
          <p:nvSpPr>
            <p:cNvPr id="44073" name="Rectangle 12">
              <a:extLst>
                <a:ext uri="{FF2B5EF4-FFF2-40B4-BE49-F238E27FC236}">
                  <a16:creationId xmlns:a16="http://schemas.microsoft.com/office/drawing/2014/main" id="{DC2D0949-F480-494F-BA48-764C32321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626" y="4909116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E</a:t>
              </a:r>
            </a:p>
          </p:txBody>
        </p:sp>
        <p:sp>
          <p:nvSpPr>
            <p:cNvPr id="44074" name="Rectangle 69">
              <a:extLst>
                <a:ext uri="{FF2B5EF4-FFF2-40B4-BE49-F238E27FC236}">
                  <a16:creationId xmlns:a16="http://schemas.microsoft.com/office/drawing/2014/main" id="{AE12D59F-F558-5140-893C-815BCE1F3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1" y="4904353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R</a:t>
              </a:r>
            </a:p>
          </p:txBody>
        </p:sp>
        <p:sp>
          <p:nvSpPr>
            <p:cNvPr id="44085" name="Rectangle 13">
              <a:extLst>
                <a:ext uri="{FF2B5EF4-FFF2-40B4-BE49-F238E27FC236}">
                  <a16:creationId xmlns:a16="http://schemas.microsoft.com/office/drawing/2014/main" id="{8AE1405E-A059-574B-BFFF-563FA3079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5688" y="4899591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W</a:t>
              </a:r>
            </a:p>
          </p:txBody>
        </p:sp>
      </p:grpSp>
      <p:sp>
        <p:nvSpPr>
          <p:cNvPr id="4" name="TextBox 23">
            <a:extLst>
              <a:ext uri="{FF2B5EF4-FFF2-40B4-BE49-F238E27FC236}">
                <a16:creationId xmlns:a16="http://schemas.microsoft.com/office/drawing/2014/main" id="{1DD571CF-C16F-F1AE-752E-ED6AD30C1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37" y="4176416"/>
            <a:ext cx="2231701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cs typeface="Arial" panose="020B0604020202020204" pitchFamily="34" charset="0"/>
              </a:rPr>
              <a:t>IMUL  R3 </a:t>
            </a:r>
            <a:r>
              <a:rPr lang="en-US" altLang="en-US" sz="1800" kern="1400" dirty="0">
                <a:cs typeface="Arial" panose="020B0604020202020204" pitchFamily="34" charset="0"/>
                <a:sym typeface="Wingdings" pitchFamily="2" charset="2"/>
              </a:rPr>
              <a:t> R1, R2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R3  R3, R1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R1  R6, R7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  R6, R8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R7  R3, R5</a:t>
            </a:r>
            <a:endParaRPr lang="en-US" altLang="en-US" sz="1800" kern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B2B1A3E-12B7-4DA3-9DA6-2EA47C908B7A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IMUL: 4 cycles,  ADD</a:t>
            </a:r>
            <a:r>
              <a:rPr lang="zh-CN" altLang="en-US" dirty="0"/>
              <a:t>：</a:t>
            </a:r>
            <a:r>
              <a:rPr lang="en-US" altLang="zh-CN" dirty="0"/>
              <a:t> 1 cycle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AB752953-2D82-E649-AC84-F24AC67D8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Two Humps in a Modern Pipeline</a:t>
            </a:r>
          </a:p>
        </p:txBody>
      </p:sp>
      <p:sp>
        <p:nvSpPr>
          <p:cNvPr id="103426" name="Content Placeholder 2">
            <a:extLst>
              <a:ext uri="{FF2B5EF4-FFF2-40B4-BE49-F238E27FC236}">
                <a16:creationId xmlns:a16="http://schemas.microsoft.com/office/drawing/2014/main" id="{CA7B9045-9CBC-374F-9456-4FE6976DC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809038" cy="556260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1: </a:t>
            </a:r>
            <a:r>
              <a:rPr lang="en-US" altLang="en-US" b="1" dirty="0">
                <a:ea typeface="ＭＳ Ｐゴシック" panose="020B0600070205080204" pitchFamily="34" charset="-128"/>
              </a:rPr>
              <a:t>Reservation stations </a:t>
            </a:r>
            <a:r>
              <a:rPr lang="en-US" altLang="en-US" dirty="0">
                <a:ea typeface="ＭＳ Ｐゴシック" panose="020B0600070205080204" pitchFamily="34" charset="-128"/>
              </a:rPr>
              <a:t>(enabling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in-order issue and </a:t>
            </a:r>
            <a:r>
              <a:rPr lang="en-US" altLang="zh-CN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out-of-order dispatch/execution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2: </a:t>
            </a:r>
            <a:r>
              <a:rPr lang="en-US" altLang="en-US" b="1" dirty="0">
                <a:ea typeface="ＭＳ Ｐゴシック" panose="020B0600070205080204" pitchFamily="34" charset="-128"/>
              </a:rPr>
              <a:t>Reorder</a:t>
            </a:r>
            <a:r>
              <a:rPr lang="zh-CN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ea typeface="ＭＳ Ｐゴシック" panose="020B0600070205080204" pitchFamily="34" charset="-128"/>
              </a:rPr>
              <a:t>buffer</a:t>
            </a:r>
            <a:r>
              <a:rPr lang="en-US" altLang="en-US" dirty="0">
                <a:ea typeface="ＭＳ Ｐゴシック" panose="020B0600070205080204" pitchFamily="34" charset="-128"/>
              </a:rPr>
              <a:t> (enabling </a:t>
            </a:r>
            <a:r>
              <a:rPr lang="en-US" altLang="en-US" dirty="0" err="1">
                <a:cs typeface="Arial" panose="020B0604020202020204" pitchFamily="34" charset="0"/>
              </a:rPr>
              <a:t>OoO</a:t>
            </a:r>
            <a:r>
              <a:rPr lang="en-US" altLang="zh-CN" dirty="0">
                <a:ea typeface="ＭＳ Ｐゴシック" panose="020B0600070205080204" pitchFamily="34" charset="-128"/>
              </a:rPr>
              <a:t> completion, </a:t>
            </a:r>
            <a:r>
              <a:rPr lang="en-US" altLang="en-US" dirty="0">
                <a:ea typeface="ＭＳ Ｐゴシック" panose="020B0600070205080204" pitchFamily="34" charset="-128"/>
              </a:rPr>
              <a:t>in-order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commitment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5F9E9541-7E8F-1443-88A5-40FBD947A2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10FD897-6B18-1F44-96AA-66F725E33442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4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47108" name="Group 4">
            <a:extLst>
              <a:ext uri="{FF2B5EF4-FFF2-40B4-BE49-F238E27FC236}">
                <a16:creationId xmlns:a16="http://schemas.microsoft.com/office/drawing/2014/main" id="{AE5DD14D-2ED6-8B4C-A755-0ADDF4D7D7BB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2825750"/>
            <a:ext cx="806450" cy="369888"/>
            <a:chOff x="1001099" y="4100530"/>
            <a:chExt cx="805656" cy="369887"/>
          </a:xfrm>
        </p:grpSpPr>
        <p:sp>
          <p:nvSpPr>
            <p:cNvPr id="47163" name="Rectangle 10">
              <a:extLst>
                <a:ext uri="{FF2B5EF4-FFF2-40B4-BE49-F238E27FC236}">
                  <a16:creationId xmlns:a16="http://schemas.microsoft.com/office/drawing/2014/main" id="{9F598FC3-6E94-7945-B0D8-F98090AB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99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7164" name="Rectangle 11">
              <a:extLst>
                <a:ext uri="{FF2B5EF4-FFF2-40B4-BE49-F238E27FC236}">
                  <a16:creationId xmlns:a16="http://schemas.microsoft.com/office/drawing/2014/main" id="{1575E324-FB74-1A44-8C50-561B4AA1B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927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/>
                <a:t>D</a:t>
              </a:r>
            </a:p>
          </p:txBody>
        </p:sp>
      </p:grpSp>
      <p:sp>
        <p:nvSpPr>
          <p:cNvPr id="47109" name="Rectangle 8">
            <a:extLst>
              <a:ext uri="{FF2B5EF4-FFF2-40B4-BE49-F238E27FC236}">
                <a16:creationId xmlns:a16="http://schemas.microsoft.com/office/drawing/2014/main" id="{ADB73170-19EC-AC4F-9CB0-B76A9D46E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809750"/>
            <a:ext cx="1227138" cy="249396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cxnSp>
        <p:nvCxnSpPr>
          <p:cNvPr id="47110" name="Straight Arrow Connector 10">
            <a:extLst>
              <a:ext uri="{FF2B5EF4-FFF2-40B4-BE49-F238E27FC236}">
                <a16:creationId xmlns:a16="http://schemas.microsoft.com/office/drawing/2014/main" id="{8E1A7DA6-B792-454F-B197-07B5F8FD8E5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14475" y="3011488"/>
            <a:ext cx="333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1" name="Rectangle 12">
            <a:extLst>
              <a:ext uri="{FF2B5EF4-FFF2-40B4-BE49-F238E27FC236}">
                <a16:creationId xmlns:a16="http://schemas.microsoft.com/office/drawing/2014/main" id="{3CBFBE8C-F8B6-D345-BD6F-A32A635CF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174875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E</a:t>
            </a:r>
          </a:p>
        </p:txBody>
      </p:sp>
      <p:sp>
        <p:nvSpPr>
          <p:cNvPr id="47112" name="Rectangle 13">
            <a:extLst>
              <a:ext uri="{FF2B5EF4-FFF2-40B4-BE49-F238E27FC236}">
                <a16:creationId xmlns:a16="http://schemas.microsoft.com/office/drawing/2014/main" id="{A590F39E-2B74-1F49-8715-EF8F7907D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874963"/>
            <a:ext cx="401637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W</a:t>
            </a:r>
          </a:p>
        </p:txBody>
      </p:sp>
      <p:grpSp>
        <p:nvGrpSpPr>
          <p:cNvPr id="47113" name="Group 17">
            <a:extLst>
              <a:ext uri="{FF2B5EF4-FFF2-40B4-BE49-F238E27FC236}">
                <a16:creationId xmlns:a16="http://schemas.microsoft.com/office/drawing/2014/main" id="{8CEB35F6-E70D-B246-A0ED-DC5D50B5B59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222625"/>
            <a:ext cx="3222625" cy="369888"/>
            <a:chOff x="2783717" y="3915586"/>
            <a:chExt cx="3222624" cy="369887"/>
          </a:xfrm>
        </p:grpSpPr>
        <p:sp>
          <p:nvSpPr>
            <p:cNvPr id="47155" name="Rectangle 12">
              <a:extLst>
                <a:ext uri="{FF2B5EF4-FFF2-40B4-BE49-F238E27FC236}">
                  <a16:creationId xmlns:a16="http://schemas.microsoft.com/office/drawing/2014/main" id="{0511977C-8275-F346-8704-3306229D3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6" name="Rectangle 12">
              <a:extLst>
                <a:ext uri="{FF2B5EF4-FFF2-40B4-BE49-F238E27FC236}">
                  <a16:creationId xmlns:a16="http://schemas.microsoft.com/office/drawing/2014/main" id="{2D803880-E041-D44D-AC2C-9B2EC7258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7" name="Rectangle 20">
              <a:extLst>
                <a:ext uri="{FF2B5EF4-FFF2-40B4-BE49-F238E27FC236}">
                  <a16:creationId xmlns:a16="http://schemas.microsoft.com/office/drawing/2014/main" id="{AF2663D0-5B1C-D544-B05E-7079DA94F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8" name="Rectangle 21">
              <a:extLst>
                <a:ext uri="{FF2B5EF4-FFF2-40B4-BE49-F238E27FC236}">
                  <a16:creationId xmlns:a16="http://schemas.microsoft.com/office/drawing/2014/main" id="{E53046A0-964C-A540-8AEB-D8CF4E96E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9" name="Rectangle 12">
              <a:extLst>
                <a:ext uri="{FF2B5EF4-FFF2-40B4-BE49-F238E27FC236}">
                  <a16:creationId xmlns:a16="http://schemas.microsoft.com/office/drawing/2014/main" id="{0F042364-C3BD-0640-96B8-164B23D49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029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0" name="Rectangle 12">
              <a:extLst>
                <a:ext uri="{FF2B5EF4-FFF2-40B4-BE49-F238E27FC236}">
                  <a16:creationId xmlns:a16="http://schemas.microsoft.com/office/drawing/2014/main" id="{2C055215-8BC6-E146-8D0D-5D9B8DBB4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85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1" name="Rectangle 12">
              <a:extLst>
                <a:ext uri="{FF2B5EF4-FFF2-40B4-BE49-F238E27FC236}">
                  <a16:creationId xmlns:a16="http://schemas.microsoft.com/office/drawing/2014/main" id="{33D92E9B-4098-3C4D-87E0-9648EAF1D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068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2" name="Rectangle 25">
              <a:extLst>
                <a:ext uri="{FF2B5EF4-FFF2-40B4-BE49-F238E27FC236}">
                  <a16:creationId xmlns:a16="http://schemas.microsoft.com/office/drawing/2014/main" id="{1AB5AA3C-DE54-024C-B00F-2A082F7A7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51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47114" name="Group 26">
            <a:extLst>
              <a:ext uri="{FF2B5EF4-FFF2-40B4-BE49-F238E27FC236}">
                <a16:creationId xmlns:a16="http://schemas.microsoft.com/office/drawing/2014/main" id="{7F7396B7-DA1D-7D40-9802-E70F82DA82D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2690813"/>
            <a:ext cx="1611313" cy="374650"/>
            <a:chOff x="2783717" y="3915586"/>
            <a:chExt cx="1611312" cy="374488"/>
          </a:xfrm>
        </p:grpSpPr>
        <p:sp>
          <p:nvSpPr>
            <p:cNvPr id="47151" name="Rectangle 12">
              <a:extLst>
                <a:ext uri="{FF2B5EF4-FFF2-40B4-BE49-F238E27FC236}">
                  <a16:creationId xmlns:a16="http://schemas.microsoft.com/office/drawing/2014/main" id="{5B040F47-DF46-7043-B3C3-1615BD998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20187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2" name="Rectangle 12">
              <a:extLst>
                <a:ext uri="{FF2B5EF4-FFF2-40B4-BE49-F238E27FC236}">
                  <a16:creationId xmlns:a16="http://schemas.microsoft.com/office/drawing/2014/main" id="{E554B5DB-4D1F-D645-B0D3-494359673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3" name="Rectangle 12">
              <a:extLst>
                <a:ext uri="{FF2B5EF4-FFF2-40B4-BE49-F238E27FC236}">
                  <a16:creationId xmlns:a16="http://schemas.microsoft.com/office/drawing/2014/main" id="{6C5AFC40-1FE4-924C-86CC-221F3EB51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4" name="Rectangle 12">
              <a:extLst>
                <a:ext uri="{FF2B5EF4-FFF2-40B4-BE49-F238E27FC236}">
                  <a16:creationId xmlns:a16="http://schemas.microsoft.com/office/drawing/2014/main" id="{2AA8DF29-C81A-C243-B7B0-1A56DA845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47115" name="Group 31">
            <a:extLst>
              <a:ext uri="{FF2B5EF4-FFF2-40B4-BE49-F238E27FC236}">
                <a16:creationId xmlns:a16="http://schemas.microsoft.com/office/drawing/2014/main" id="{E64A0743-5AE5-5F49-A889-ED4493FE57A4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592513"/>
            <a:ext cx="3903663" cy="523875"/>
            <a:chOff x="2783717" y="5184853"/>
            <a:chExt cx="3904221" cy="523220"/>
          </a:xfrm>
        </p:grpSpPr>
        <p:grpSp>
          <p:nvGrpSpPr>
            <p:cNvPr id="47141" name="Group 32">
              <a:extLst>
                <a:ext uri="{FF2B5EF4-FFF2-40B4-BE49-F238E27FC236}">
                  <a16:creationId xmlns:a16="http://schemas.microsoft.com/office/drawing/2014/main" id="{157E1D9E-E8FD-264F-9C0D-6CF563FF6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3717" y="5338186"/>
              <a:ext cx="3222624" cy="369887"/>
              <a:chOff x="2783717" y="3915586"/>
              <a:chExt cx="3222624" cy="369887"/>
            </a:xfrm>
          </p:grpSpPr>
          <p:sp>
            <p:nvSpPr>
              <p:cNvPr id="47143" name="Rectangle 12">
                <a:extLst>
                  <a:ext uri="{FF2B5EF4-FFF2-40B4-BE49-F238E27FC236}">
                    <a16:creationId xmlns:a16="http://schemas.microsoft.com/office/drawing/2014/main" id="{46748ACD-2014-574B-9D8E-FF9223258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4" name="Rectangle 12">
                <a:extLst>
                  <a:ext uri="{FF2B5EF4-FFF2-40B4-BE49-F238E27FC236}">
                    <a16:creationId xmlns:a16="http://schemas.microsoft.com/office/drawing/2014/main" id="{F0C074E6-52B4-4B47-8599-DF1C191C3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5" name="Rectangle 12">
                <a:extLst>
                  <a:ext uri="{FF2B5EF4-FFF2-40B4-BE49-F238E27FC236}">
                    <a16:creationId xmlns:a16="http://schemas.microsoft.com/office/drawing/2014/main" id="{92104211-C4DD-9F49-AD50-B19A3E89F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6" name="Rectangle 37">
                <a:extLst>
                  <a:ext uri="{FF2B5EF4-FFF2-40B4-BE49-F238E27FC236}">
                    <a16:creationId xmlns:a16="http://schemas.microsoft.com/office/drawing/2014/main" id="{22E33E60-FBF7-5740-A553-9FB2FB6CD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7" name="Rectangle 12">
                <a:extLst>
                  <a:ext uri="{FF2B5EF4-FFF2-40B4-BE49-F238E27FC236}">
                    <a16:creationId xmlns:a16="http://schemas.microsoft.com/office/drawing/2014/main" id="{31E85003-DD2D-E64F-8315-E543BEF09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029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8" name="Rectangle 12">
                <a:extLst>
                  <a:ext uri="{FF2B5EF4-FFF2-40B4-BE49-F238E27FC236}">
                    <a16:creationId xmlns:a16="http://schemas.microsoft.com/office/drawing/2014/main" id="{BB0A0D67-28E4-4D44-B0E3-ED358A23E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5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9" name="Rectangle 12">
                <a:extLst>
                  <a:ext uri="{FF2B5EF4-FFF2-40B4-BE49-F238E27FC236}">
                    <a16:creationId xmlns:a16="http://schemas.microsoft.com/office/drawing/2014/main" id="{DE24F1A9-AE21-4B4D-AB60-24FC64016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068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50" name="Rectangle 41">
                <a:extLst>
                  <a:ext uri="{FF2B5EF4-FFF2-40B4-BE49-F238E27FC236}">
                    <a16:creationId xmlns:a16="http://schemas.microsoft.com/office/drawing/2014/main" id="{7B8B4279-11C6-4743-8695-5622BE1E5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351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47142" name="TextBox 33">
              <a:extLst>
                <a:ext uri="{FF2B5EF4-FFF2-40B4-BE49-F238E27FC236}">
                  <a16:creationId xmlns:a16="http://schemas.microsoft.com/office/drawing/2014/main" id="{78170F8C-F020-6A43-B7C9-65DA0F2D8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6341" y="5184853"/>
              <a:ext cx="6815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800" b="1">
                  <a:cs typeface="Arial" panose="020B0604020202020204" pitchFamily="34" charset="0"/>
                </a:rPr>
                <a:t>. . .</a:t>
              </a:r>
            </a:p>
          </p:txBody>
        </p:sp>
      </p:grpSp>
      <p:cxnSp>
        <p:nvCxnSpPr>
          <p:cNvPr id="47116" name="Straight Connector 43">
            <a:extLst>
              <a:ext uri="{FF2B5EF4-FFF2-40B4-BE49-F238E27FC236}">
                <a16:creationId xmlns:a16="http://schemas.microsoft.com/office/drawing/2014/main" id="{22ADAFBE-4712-9A44-90C5-F32F1B63401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268538" y="3136900"/>
            <a:ext cx="16081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Straight Arrow Connector 44">
            <a:extLst>
              <a:ext uri="{FF2B5EF4-FFF2-40B4-BE49-F238E27FC236}">
                <a16:creationId xmlns:a16="http://schemas.microsoft.com/office/drawing/2014/main" id="{BB7DBA87-8912-CC44-B04D-3807C1D9E1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3400" y="3941763"/>
            <a:ext cx="288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Straight Arrow Connector 45">
            <a:extLst>
              <a:ext uri="{FF2B5EF4-FFF2-40B4-BE49-F238E27FC236}">
                <a16:creationId xmlns:a16="http://schemas.microsoft.com/office/drawing/2014/main" id="{D25FF904-8473-B449-B8E8-506A1A0E1B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1813" y="3408363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Straight Arrow Connector 46">
            <a:extLst>
              <a:ext uri="{FF2B5EF4-FFF2-40B4-BE49-F238E27FC236}">
                <a16:creationId xmlns:a16="http://schemas.microsoft.com/office/drawing/2014/main" id="{8AE9026E-658E-D542-B429-8092FBA737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9750" y="2333625"/>
            <a:ext cx="2905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Straight Arrow Connector 47">
            <a:extLst>
              <a:ext uri="{FF2B5EF4-FFF2-40B4-BE49-F238E27FC236}">
                <a16:creationId xmlns:a16="http://schemas.microsoft.com/office/drawing/2014/main" id="{D0A40A9E-9890-7047-8A63-7159B9F13A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2879725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Straight Connector 48">
            <a:extLst>
              <a:ext uri="{FF2B5EF4-FFF2-40B4-BE49-F238E27FC236}">
                <a16:creationId xmlns:a16="http://schemas.microsoft.com/office/drawing/2014/main" id="{4DA7CDE8-0C0F-664E-982D-B58325907F7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51613" y="3138488"/>
            <a:ext cx="16081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Straight Arrow Connector 49">
            <a:extLst>
              <a:ext uri="{FF2B5EF4-FFF2-40B4-BE49-F238E27FC236}">
                <a16:creationId xmlns:a16="http://schemas.microsoft.com/office/drawing/2014/main" id="{2365D134-3C7D-DD42-93C5-7FDE271FC4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56475" y="306546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Straight Arrow Connector 50">
            <a:extLst>
              <a:ext uri="{FF2B5EF4-FFF2-40B4-BE49-F238E27FC236}">
                <a16:creationId xmlns:a16="http://schemas.microsoft.com/office/drawing/2014/main" id="{68CAA3DF-38FE-564A-A2C4-DE973DA56A0C}"/>
              </a:ext>
            </a:extLst>
          </p:cNvPr>
          <p:cNvCxnSpPr>
            <a:cxnSpLocks noChangeShapeType="1"/>
            <a:stCxn id="47111" idx="3"/>
          </p:cNvCxnSpPr>
          <p:nvPr/>
        </p:nvCxnSpPr>
        <p:spPr bwMode="auto">
          <a:xfrm>
            <a:off x="3765550" y="2360613"/>
            <a:ext cx="3590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Straight Arrow Connector 51">
            <a:extLst>
              <a:ext uri="{FF2B5EF4-FFF2-40B4-BE49-F238E27FC236}">
                <a16:creationId xmlns:a16="http://schemas.microsoft.com/office/drawing/2014/main" id="{21F52A2B-4441-C949-8D20-B96981CFDD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73638" y="2876550"/>
            <a:ext cx="2382837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Straight Arrow Connector 52">
            <a:extLst>
              <a:ext uri="{FF2B5EF4-FFF2-40B4-BE49-F238E27FC236}">
                <a16:creationId xmlns:a16="http://schemas.microsoft.com/office/drawing/2014/main" id="{04EC8A8F-89E6-A947-BF49-AE313CDD27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84950" y="3408363"/>
            <a:ext cx="771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6" name="Straight Arrow Connector 53">
            <a:extLst>
              <a:ext uri="{FF2B5EF4-FFF2-40B4-BE49-F238E27FC236}">
                <a16:creationId xmlns:a16="http://schemas.microsoft.com/office/drawing/2014/main" id="{7198FE0F-9573-354D-8AAC-D1190B8FB5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54863" y="3943350"/>
            <a:ext cx="20161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7" name="TextBox 54">
            <a:extLst>
              <a:ext uri="{FF2B5EF4-FFF2-40B4-BE49-F238E27FC236}">
                <a16:creationId xmlns:a16="http://schemas.microsoft.com/office/drawing/2014/main" id="{113AAF81-8271-E346-A694-F3000FAA6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725" y="2085975"/>
            <a:ext cx="1087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Integer add</a:t>
            </a:r>
          </a:p>
        </p:txBody>
      </p:sp>
      <p:sp>
        <p:nvSpPr>
          <p:cNvPr id="47128" name="TextBox 55">
            <a:extLst>
              <a:ext uri="{FF2B5EF4-FFF2-40B4-BE49-F238E27FC236}">
                <a16:creationId xmlns:a16="http://schemas.microsoft.com/office/drawing/2014/main" id="{98F26484-A333-744B-9131-AE5311300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700" y="2481263"/>
            <a:ext cx="1079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Integer mul</a:t>
            </a:r>
          </a:p>
        </p:txBody>
      </p:sp>
      <p:sp>
        <p:nvSpPr>
          <p:cNvPr id="47129" name="TextBox 56">
            <a:extLst>
              <a:ext uri="{FF2B5EF4-FFF2-40B4-BE49-F238E27FC236}">
                <a16:creationId xmlns:a16="http://schemas.microsoft.com/office/drawing/2014/main" id="{C806C382-BEC1-814B-A24B-84210F75A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3038475"/>
            <a:ext cx="7493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FP mul</a:t>
            </a:r>
          </a:p>
        </p:txBody>
      </p:sp>
      <p:sp>
        <p:nvSpPr>
          <p:cNvPr id="47130" name="TextBox 57">
            <a:extLst>
              <a:ext uri="{FF2B5EF4-FFF2-40B4-BE49-F238E27FC236}">
                <a16:creationId xmlns:a16="http://schemas.microsoft.com/office/drawing/2014/main" id="{8825F9C3-7066-9D4A-AF94-CDADBCBBF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0025" y="3978275"/>
            <a:ext cx="1220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dirty="0">
                <a:cs typeface="Arial" panose="020B0604020202020204" pitchFamily="34" charset="0"/>
              </a:rPr>
              <a:t>Load/store</a:t>
            </a:r>
          </a:p>
        </p:txBody>
      </p:sp>
      <p:sp>
        <p:nvSpPr>
          <p:cNvPr id="47131" name="Rectangle 13">
            <a:extLst>
              <a:ext uri="{FF2B5EF4-FFF2-40B4-BE49-F238E27FC236}">
                <a16:creationId xmlns:a16="http://schemas.microsoft.com/office/drawing/2014/main" id="{7873D087-37A1-BD4C-BAF0-7C0766F5F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2022475"/>
            <a:ext cx="401637" cy="2130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R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E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O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R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D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E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R</a:t>
            </a:r>
          </a:p>
        </p:txBody>
      </p:sp>
      <p:cxnSp>
        <p:nvCxnSpPr>
          <p:cNvPr id="47132" name="Straight Arrow Connector 59">
            <a:extLst>
              <a:ext uri="{FF2B5EF4-FFF2-40B4-BE49-F238E27FC236}">
                <a16:creationId xmlns:a16="http://schemas.microsoft.com/office/drawing/2014/main" id="{1CF57462-3F9C-F646-B3CA-2C53DEB75F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94650" y="305911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3" name="TextBox 61">
            <a:extLst>
              <a:ext uri="{FF2B5EF4-FFF2-40B4-BE49-F238E27FC236}">
                <a16:creationId xmlns:a16="http://schemas.microsoft.com/office/drawing/2014/main" id="{F6C341CC-2F47-044A-8170-D50EC285B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857" y="2674517"/>
            <a:ext cx="14208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432FF"/>
                </a:solidFill>
                <a:cs typeface="Arial" panose="020B0604020202020204" pitchFamily="34" charset="0"/>
              </a:rPr>
              <a:t>Reservation</a:t>
            </a:r>
            <a:r>
              <a:rPr lang="zh-CN" altLang="en-US" sz="1800" dirty="0">
                <a:solidFill>
                  <a:srgbClr val="0432FF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432FF"/>
                </a:solidFill>
                <a:cs typeface="Arial" panose="020B0604020202020204" pitchFamily="34" charset="0"/>
              </a:rPr>
              <a:t>Station</a:t>
            </a:r>
            <a:endParaRPr lang="en-US" altLang="en-US" sz="1800" dirty="0">
              <a:solidFill>
                <a:srgbClr val="0432FF"/>
              </a:solidFill>
              <a:cs typeface="Arial" panose="020B0604020202020204" pitchFamily="34" charset="0"/>
            </a:endParaRPr>
          </a:p>
        </p:txBody>
      </p:sp>
      <p:cxnSp>
        <p:nvCxnSpPr>
          <p:cNvPr id="47134" name="Straight Connector 63">
            <a:extLst>
              <a:ext uri="{FF2B5EF4-FFF2-40B4-BE49-F238E27FC236}">
                <a16:creationId xmlns:a16="http://schemas.microsoft.com/office/drawing/2014/main" id="{E0C72D7D-A897-B241-9227-E4F38901C0C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602413" y="2190750"/>
            <a:ext cx="173831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5" name="Straight Connector 66">
            <a:extLst>
              <a:ext uri="{FF2B5EF4-FFF2-40B4-BE49-F238E27FC236}">
                <a16:creationId xmlns:a16="http://schemas.microsoft.com/office/drawing/2014/main" id="{19CB6DD4-B2FB-E648-9206-77860DC203C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457450" y="1322388"/>
            <a:ext cx="50133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6" name="Straight Arrow Connector 68">
            <a:extLst>
              <a:ext uri="{FF2B5EF4-FFF2-40B4-BE49-F238E27FC236}">
                <a16:creationId xmlns:a16="http://schemas.microsoft.com/office/drawing/2014/main" id="{54A70F88-C88C-7F42-B489-74CC1B75C44A}"/>
              </a:ext>
            </a:extLst>
          </p:cNvPr>
          <p:cNvCxnSpPr>
            <a:cxnSpLocks noChangeShapeType="1"/>
            <a:endCxn id="47109" idx="0"/>
          </p:cNvCxnSpPr>
          <p:nvPr/>
        </p:nvCxnSpPr>
        <p:spPr bwMode="auto">
          <a:xfrm rot="16200000" flipH="1">
            <a:off x="2216944" y="1564481"/>
            <a:ext cx="485775" cy="4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7" name="TextBox 69">
            <a:extLst>
              <a:ext uri="{FF2B5EF4-FFF2-40B4-BE49-F238E27FC236}">
                <a16:creationId xmlns:a16="http://schemas.microsoft.com/office/drawing/2014/main" id="{4A8F26CF-DFE5-2B40-AD22-652542106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1014413"/>
            <a:ext cx="2728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TAG and VALUE Broadcast Bus</a:t>
            </a:r>
          </a:p>
        </p:txBody>
      </p:sp>
      <p:sp>
        <p:nvSpPr>
          <p:cNvPr id="47138" name="TextBox 70">
            <a:extLst>
              <a:ext uri="{FF2B5EF4-FFF2-40B4-BE49-F238E27FC236}">
                <a16:creationId xmlns:a16="http://schemas.microsoft.com/office/drawing/2014/main" id="{45A143A8-6F57-C843-A209-35E544EA7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70" y="4462463"/>
            <a:ext cx="1582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cs typeface="Arial" panose="020B0604020202020204" pitchFamily="34" charset="0"/>
              </a:rPr>
              <a:t>In order </a:t>
            </a:r>
            <a:r>
              <a:rPr lang="en-US" altLang="zh-CN" sz="1800" dirty="0">
                <a:cs typeface="Arial" panose="020B0604020202020204" pitchFamily="34" charset="0"/>
              </a:rPr>
              <a:t>issue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7139" name="TextBox 71">
            <a:extLst>
              <a:ext uri="{FF2B5EF4-FFF2-40B4-BE49-F238E27FC236}">
                <a16:creationId xmlns:a16="http://schemas.microsoft.com/office/drawing/2014/main" id="{2CFEC45F-421D-DD45-9303-7700EFD3D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90" y="4467780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800" dirty="0" err="1">
                <a:solidFill>
                  <a:srgbClr val="0432FF"/>
                </a:solidFill>
              </a:rPr>
              <a:t>OoO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0000FF"/>
                </a:solidFill>
                <a:cs typeface="Arial" panose="020B0604020202020204" pitchFamily="34" charset="0"/>
              </a:rPr>
              <a:t>dispatch</a:t>
            </a:r>
            <a:endParaRPr lang="en-US" altLang="en-US" sz="180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47140" name="TextBox 72">
            <a:extLst>
              <a:ext uri="{FF2B5EF4-FFF2-40B4-BE49-F238E27FC236}">
                <a16:creationId xmlns:a16="http://schemas.microsoft.com/office/drawing/2014/main" id="{5EFFA50A-7107-1242-9727-7F24CCA3E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808" y="4488934"/>
            <a:ext cx="23006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cs typeface="Arial" panose="020B0604020202020204" pitchFamily="34" charset="0"/>
              </a:rPr>
              <a:t>In order </a:t>
            </a:r>
            <a:r>
              <a:rPr lang="en-US" altLang="zh-CN" sz="1800" dirty="0"/>
              <a:t>commitment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371AECD-AC03-4615-9FD4-62CA6859D11B}"/>
              </a:ext>
            </a:extLst>
          </p:cNvPr>
          <p:cNvCxnSpPr>
            <a:cxnSpLocks/>
          </p:cNvCxnSpPr>
          <p:nvPr/>
        </p:nvCxnSpPr>
        <p:spPr bwMode="auto">
          <a:xfrm>
            <a:off x="3217069" y="4165398"/>
            <a:ext cx="0" cy="297065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6B3A83C-4955-49D5-80F6-B0ECD6D1420A}"/>
              </a:ext>
            </a:extLst>
          </p:cNvPr>
          <p:cNvCxnSpPr>
            <a:cxnSpLocks/>
          </p:cNvCxnSpPr>
          <p:nvPr/>
        </p:nvCxnSpPr>
        <p:spPr bwMode="auto">
          <a:xfrm>
            <a:off x="6400800" y="4233864"/>
            <a:ext cx="0" cy="228599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67" name="TextBox 71">
            <a:extLst>
              <a:ext uri="{FF2B5EF4-FFF2-40B4-BE49-F238E27FC236}">
                <a16:creationId xmlns:a16="http://schemas.microsoft.com/office/drawing/2014/main" id="{48CF4835-EA8F-480C-ACDA-2571DE30A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8130" y="4493737"/>
            <a:ext cx="17235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 err="1">
                <a:cs typeface="Arial" panose="020B0604020202020204" pitchFamily="34" charset="0"/>
              </a:rPr>
              <a:t>OoO</a:t>
            </a:r>
            <a:r>
              <a:rPr lang="en-US" altLang="en-US" sz="1800" dirty="0">
                <a:cs typeface="Arial" panose="020B0604020202020204" pitchFamily="34" charset="0"/>
              </a:rPr>
              <a:t> </a:t>
            </a:r>
            <a:r>
              <a:rPr lang="en-US" altLang="zh-CN" sz="1800" dirty="0">
                <a:cs typeface="Arial" panose="020B0604020202020204" pitchFamily="34" charset="0"/>
              </a:rPr>
              <a:t>execution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446C094-D412-44BE-8E32-143F74FC1623}"/>
              </a:ext>
            </a:extLst>
          </p:cNvPr>
          <p:cNvCxnSpPr>
            <a:cxnSpLocks/>
          </p:cNvCxnSpPr>
          <p:nvPr/>
        </p:nvCxnSpPr>
        <p:spPr bwMode="auto">
          <a:xfrm>
            <a:off x="1511300" y="4199630"/>
            <a:ext cx="0" cy="297065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36193C21-6C69-47D4-B89D-1344A6BA9273}"/>
              </a:ext>
            </a:extLst>
          </p:cNvPr>
          <p:cNvCxnSpPr>
            <a:cxnSpLocks/>
          </p:cNvCxnSpPr>
          <p:nvPr/>
        </p:nvCxnSpPr>
        <p:spPr bwMode="auto">
          <a:xfrm>
            <a:off x="8216107" y="4152900"/>
            <a:ext cx="0" cy="297065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Content Placeholder 2">
            <a:extLst>
              <a:ext uri="{FF2B5EF4-FFF2-40B4-BE49-F238E27FC236}">
                <a16:creationId xmlns:a16="http://schemas.microsoft.com/office/drawing/2014/main" id="{D6362E37-59C8-1244-9C11-23AE983E2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2" y="1052509"/>
            <a:ext cx="3827463" cy="5341937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Register rename table (register alias table)</a:t>
            </a:r>
          </a:p>
        </p:txBody>
      </p:sp>
      <p:sp>
        <p:nvSpPr>
          <p:cNvPr id="51202" name="Title 1">
            <a:extLst>
              <a:ext uri="{FF2B5EF4-FFF2-40B4-BE49-F238E27FC236}">
                <a16:creationId xmlns:a16="http://schemas.microsoft.com/office/drawing/2014/main" id="{6F85F30C-8FDF-2C4D-AB59-BD6C0056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006"/>
            <a:ext cx="9220200" cy="1066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</a:t>
            </a:r>
            <a:r>
              <a:rPr lang="en-US" altLang="en-US" dirty="0" err="1">
                <a:ea typeface="ＭＳ Ｐゴシック" panose="020B0600070205080204" pitchFamily="34" charset="-128"/>
              </a:rPr>
              <a:t>Tomasulo’</a:t>
            </a:r>
            <a:r>
              <a:rPr lang="en-US" altLang="ja-JP" dirty="0" err="1">
                <a:ea typeface="ＭＳ Ｐゴシック" panose="020B0600070205080204" pitchFamily="34" charset="-128"/>
              </a:rPr>
              <a:t>s</a:t>
            </a:r>
            <a:r>
              <a:rPr lang="en-US" altLang="ja-JP" dirty="0">
                <a:ea typeface="ＭＳ Ｐゴシック" panose="020B0600070205080204" pitchFamily="34" charset="-128"/>
              </a:rPr>
              <a:t> Algorithm: Components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9233D4D1-058C-BD41-B5F1-0EB20BB5E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77038" y="631825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1235DD7-F68F-BC40-B88F-FC7E2DE8071E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5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3432EF2-4C2B-4FF8-93C0-4818AA520F43}"/>
              </a:ext>
            </a:extLst>
          </p:cNvPr>
          <p:cNvGrpSpPr/>
          <p:nvPr/>
        </p:nvGrpSpPr>
        <p:grpSpPr>
          <a:xfrm>
            <a:off x="167085" y="2019303"/>
            <a:ext cx="3395662" cy="4203700"/>
            <a:chOff x="414338" y="2051053"/>
            <a:chExt cx="3395662" cy="4203700"/>
          </a:xfrm>
        </p:grpSpPr>
        <p:sp>
          <p:nvSpPr>
            <p:cNvPr id="51204" name="Rectangle 3">
              <a:extLst>
                <a:ext uri="{FF2B5EF4-FFF2-40B4-BE49-F238E27FC236}">
                  <a16:creationId xmlns:a16="http://schemas.microsoft.com/office/drawing/2014/main" id="{CC2C0C19-8BFE-6A46-8A03-DC77BC5C7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8" y="2435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05" name="Rectangle 4">
              <a:extLst>
                <a:ext uri="{FF2B5EF4-FFF2-40B4-BE49-F238E27FC236}">
                  <a16:creationId xmlns:a16="http://schemas.microsoft.com/office/drawing/2014/main" id="{01AB7769-1F6D-9E4A-B33A-B62C702C9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8" y="2816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06" name="Rectangle 5">
              <a:extLst>
                <a:ext uri="{FF2B5EF4-FFF2-40B4-BE49-F238E27FC236}">
                  <a16:creationId xmlns:a16="http://schemas.microsoft.com/office/drawing/2014/main" id="{7435D3CF-D803-C54B-96A8-F831EEE86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8" y="3197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07" name="Rectangle 6">
              <a:extLst>
                <a:ext uri="{FF2B5EF4-FFF2-40B4-BE49-F238E27FC236}">
                  <a16:creationId xmlns:a16="http://schemas.microsoft.com/office/drawing/2014/main" id="{3D365497-7507-4945-90BE-3C2C93F63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8" y="3578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08" name="Rectangle 7">
              <a:extLst>
                <a:ext uri="{FF2B5EF4-FFF2-40B4-BE49-F238E27FC236}">
                  <a16:creationId xmlns:a16="http://schemas.microsoft.com/office/drawing/2014/main" id="{505F2192-7238-0C42-821B-FDC218382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8" y="2435228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R0</a:t>
              </a:r>
            </a:p>
          </p:txBody>
        </p:sp>
        <p:sp>
          <p:nvSpPr>
            <p:cNvPr id="51209" name="Rectangle 8">
              <a:extLst>
                <a:ext uri="{FF2B5EF4-FFF2-40B4-BE49-F238E27FC236}">
                  <a16:creationId xmlns:a16="http://schemas.microsoft.com/office/drawing/2014/main" id="{488BDD01-7AF4-6345-B087-5891A4D1D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8" y="2816228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R1</a:t>
              </a:r>
            </a:p>
          </p:txBody>
        </p:sp>
        <p:sp>
          <p:nvSpPr>
            <p:cNvPr id="51210" name="Rectangle 9">
              <a:extLst>
                <a:ext uri="{FF2B5EF4-FFF2-40B4-BE49-F238E27FC236}">
                  <a16:creationId xmlns:a16="http://schemas.microsoft.com/office/drawing/2014/main" id="{D9759F0D-0E7A-1147-98ED-64E521512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8" y="3197228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R2</a:t>
              </a:r>
            </a:p>
          </p:txBody>
        </p:sp>
        <p:sp>
          <p:nvSpPr>
            <p:cNvPr id="51211" name="Rectangle 10">
              <a:extLst>
                <a:ext uri="{FF2B5EF4-FFF2-40B4-BE49-F238E27FC236}">
                  <a16:creationId xmlns:a16="http://schemas.microsoft.com/office/drawing/2014/main" id="{A900F137-A70A-9041-9439-3BD50B907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8" y="3578228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R3</a:t>
              </a:r>
            </a:p>
          </p:txBody>
        </p:sp>
        <p:sp>
          <p:nvSpPr>
            <p:cNvPr id="51212" name="Rectangle 11">
              <a:extLst>
                <a:ext uri="{FF2B5EF4-FFF2-40B4-BE49-F238E27FC236}">
                  <a16:creationId xmlns:a16="http://schemas.microsoft.com/office/drawing/2014/main" id="{DF2E5D1A-BCE5-0D44-B36E-6C648C753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738" y="2435228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3" name="Rectangle 12">
              <a:extLst>
                <a:ext uri="{FF2B5EF4-FFF2-40B4-BE49-F238E27FC236}">
                  <a16:creationId xmlns:a16="http://schemas.microsoft.com/office/drawing/2014/main" id="{02ABE02E-598E-7247-A8AD-24CD65510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738" y="2816228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4" name="Rectangle 13">
              <a:extLst>
                <a:ext uri="{FF2B5EF4-FFF2-40B4-BE49-F238E27FC236}">
                  <a16:creationId xmlns:a16="http://schemas.microsoft.com/office/drawing/2014/main" id="{E00F8FCC-0DAB-694B-98B1-5EF15B047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738" y="3197228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5" name="Rectangle 14">
              <a:extLst>
                <a:ext uri="{FF2B5EF4-FFF2-40B4-BE49-F238E27FC236}">
                  <a16:creationId xmlns:a16="http://schemas.microsoft.com/office/drawing/2014/main" id="{9F87CE6D-94C2-B345-8337-398F6085E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738" y="3578228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6" name="Rectangle 15">
              <a:extLst>
                <a:ext uri="{FF2B5EF4-FFF2-40B4-BE49-F238E27FC236}">
                  <a16:creationId xmlns:a16="http://schemas.microsoft.com/office/drawing/2014/main" id="{D5A32D8D-EC52-254D-8891-A3BB006E6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2435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7" name="Rectangle 16">
              <a:extLst>
                <a:ext uri="{FF2B5EF4-FFF2-40B4-BE49-F238E27FC236}">
                  <a16:creationId xmlns:a16="http://schemas.microsoft.com/office/drawing/2014/main" id="{643A38F6-734A-284F-80E8-647A9229B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2816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8" name="Rectangle 17">
              <a:extLst>
                <a:ext uri="{FF2B5EF4-FFF2-40B4-BE49-F238E27FC236}">
                  <a16:creationId xmlns:a16="http://schemas.microsoft.com/office/drawing/2014/main" id="{23F5E205-83A6-8B48-BAD4-0B374319E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3197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9" name="Rectangle 18">
              <a:extLst>
                <a:ext uri="{FF2B5EF4-FFF2-40B4-BE49-F238E27FC236}">
                  <a16:creationId xmlns:a16="http://schemas.microsoft.com/office/drawing/2014/main" id="{54719B22-20B1-A147-82BE-D11537630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3578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20" name="Text Box 19">
              <a:extLst>
                <a:ext uri="{FF2B5EF4-FFF2-40B4-BE49-F238E27FC236}">
                  <a16:creationId xmlns:a16="http://schemas.microsoft.com/office/drawing/2014/main" id="{CB950FF3-9417-9748-B5A7-DAD5D5C38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125" y="2051053"/>
              <a:ext cx="4333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 dirty="0"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51221" name="Text Box 20">
              <a:extLst>
                <a:ext uri="{FF2B5EF4-FFF2-40B4-BE49-F238E27FC236}">
                  <a16:creationId xmlns:a16="http://schemas.microsoft.com/office/drawing/2014/main" id="{AFB13F6B-3D89-6B4B-9B67-13931459B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6938" y="2051053"/>
              <a:ext cx="6127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>
                  <a:cs typeface="Arial" panose="020B0604020202020204" pitchFamily="34" charset="0"/>
                </a:rPr>
                <a:t>value</a:t>
              </a:r>
            </a:p>
          </p:txBody>
        </p:sp>
        <p:sp>
          <p:nvSpPr>
            <p:cNvPr id="51222" name="Text Box 21">
              <a:extLst>
                <a:ext uri="{FF2B5EF4-FFF2-40B4-BE49-F238E27FC236}">
                  <a16:creationId xmlns:a16="http://schemas.microsoft.com/office/drawing/2014/main" id="{069051E8-2FC8-C341-98A2-ADC8928F4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538" y="2051053"/>
              <a:ext cx="652462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>
                  <a:cs typeface="Arial" panose="020B0604020202020204" pitchFamily="34" charset="0"/>
                </a:rPr>
                <a:t>valid?</a:t>
              </a:r>
            </a:p>
          </p:txBody>
        </p:sp>
        <p:grpSp>
          <p:nvGrpSpPr>
            <p:cNvPr id="51223" name="Group 28">
              <a:extLst>
                <a:ext uri="{FF2B5EF4-FFF2-40B4-BE49-F238E27FC236}">
                  <a16:creationId xmlns:a16="http://schemas.microsoft.com/office/drawing/2014/main" id="{F981A8BE-6E33-7542-9F75-89FBCD084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100" y="3960816"/>
              <a:ext cx="3124200" cy="381000"/>
              <a:chOff x="524181" y="3669169"/>
              <a:chExt cx="3124200" cy="381000"/>
            </a:xfrm>
          </p:grpSpPr>
          <p:sp>
            <p:nvSpPr>
              <p:cNvPr id="51259" name="Rectangle 6">
                <a:extLst>
                  <a:ext uri="{FF2B5EF4-FFF2-40B4-BE49-F238E27FC236}">
                    <a16:creationId xmlns:a16="http://schemas.microsoft.com/office/drawing/2014/main" id="{CC5B3F87-B5FA-1742-8FF3-364974908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60" name="Rectangle 10">
                <a:extLst>
                  <a:ext uri="{FF2B5EF4-FFF2-40B4-BE49-F238E27FC236}">
                    <a16:creationId xmlns:a16="http://schemas.microsoft.com/office/drawing/2014/main" id="{DE96C590-6D9A-F74D-92B1-FE46877F9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R4</a:t>
                </a:r>
              </a:p>
            </p:txBody>
          </p:sp>
          <p:sp>
            <p:nvSpPr>
              <p:cNvPr id="51261" name="Rectangle 14">
                <a:extLst>
                  <a:ext uri="{FF2B5EF4-FFF2-40B4-BE49-F238E27FC236}">
                    <a16:creationId xmlns:a16="http://schemas.microsoft.com/office/drawing/2014/main" id="{22FEC683-E752-E34E-B55C-CA8689D05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62" name="Rectangle 18">
                <a:extLst>
                  <a:ext uri="{FF2B5EF4-FFF2-40B4-BE49-F238E27FC236}">
                    <a16:creationId xmlns:a16="http://schemas.microsoft.com/office/drawing/2014/main" id="{73EC2AB2-57ED-9F48-AEF7-A8426AC96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4" name="Group 29">
              <a:extLst>
                <a:ext uri="{FF2B5EF4-FFF2-40B4-BE49-F238E27FC236}">
                  <a16:creationId xmlns:a16="http://schemas.microsoft.com/office/drawing/2014/main" id="{B5B4F3E9-4F34-A84A-9053-6BE6DC0C1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4344991"/>
              <a:ext cx="3124200" cy="381000"/>
              <a:chOff x="524181" y="3669169"/>
              <a:chExt cx="3124200" cy="381000"/>
            </a:xfrm>
          </p:grpSpPr>
          <p:sp>
            <p:nvSpPr>
              <p:cNvPr id="51255" name="Rectangle 6">
                <a:extLst>
                  <a:ext uri="{FF2B5EF4-FFF2-40B4-BE49-F238E27FC236}">
                    <a16:creationId xmlns:a16="http://schemas.microsoft.com/office/drawing/2014/main" id="{47019939-F1D8-3B41-A107-26A15F427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6" name="Rectangle 10">
                <a:extLst>
                  <a:ext uri="{FF2B5EF4-FFF2-40B4-BE49-F238E27FC236}">
                    <a16:creationId xmlns:a16="http://schemas.microsoft.com/office/drawing/2014/main" id="{4B1920BD-01C5-A943-B3EC-1AC46AC68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R5</a:t>
                </a:r>
              </a:p>
            </p:txBody>
          </p:sp>
          <p:sp>
            <p:nvSpPr>
              <p:cNvPr id="51257" name="Rectangle 14">
                <a:extLst>
                  <a:ext uri="{FF2B5EF4-FFF2-40B4-BE49-F238E27FC236}">
                    <a16:creationId xmlns:a16="http://schemas.microsoft.com/office/drawing/2014/main" id="{A84F5725-A881-6B47-80A3-612692F28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8" name="Rectangle 18">
                <a:extLst>
                  <a:ext uri="{FF2B5EF4-FFF2-40B4-BE49-F238E27FC236}">
                    <a16:creationId xmlns:a16="http://schemas.microsoft.com/office/drawing/2014/main" id="{09D5518F-8EF3-E74E-BD15-E12C0A31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5" name="Group 34">
              <a:extLst>
                <a:ext uri="{FF2B5EF4-FFF2-40B4-BE49-F238E27FC236}">
                  <a16:creationId xmlns:a16="http://schemas.microsoft.com/office/drawing/2014/main" id="{A3B86AB1-5C0E-6F4E-BA6D-704EEC3B61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4725991"/>
              <a:ext cx="3124200" cy="381000"/>
              <a:chOff x="524181" y="3669169"/>
              <a:chExt cx="3124200" cy="381000"/>
            </a:xfrm>
          </p:grpSpPr>
          <p:sp>
            <p:nvSpPr>
              <p:cNvPr id="51251" name="Rectangle 6">
                <a:extLst>
                  <a:ext uri="{FF2B5EF4-FFF2-40B4-BE49-F238E27FC236}">
                    <a16:creationId xmlns:a16="http://schemas.microsoft.com/office/drawing/2014/main" id="{AB91B156-5B96-5649-8A58-474079D63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2" name="Rectangle 10">
                <a:extLst>
                  <a:ext uri="{FF2B5EF4-FFF2-40B4-BE49-F238E27FC236}">
                    <a16:creationId xmlns:a16="http://schemas.microsoft.com/office/drawing/2014/main" id="{491E5616-901D-1A41-B48B-86E5203A2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R6</a:t>
                </a:r>
              </a:p>
            </p:txBody>
          </p:sp>
          <p:sp>
            <p:nvSpPr>
              <p:cNvPr id="51253" name="Rectangle 14">
                <a:extLst>
                  <a:ext uri="{FF2B5EF4-FFF2-40B4-BE49-F238E27FC236}">
                    <a16:creationId xmlns:a16="http://schemas.microsoft.com/office/drawing/2014/main" id="{2A9D2732-6285-6148-82DF-DB29B7246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4" name="Rectangle 18">
                <a:extLst>
                  <a:ext uri="{FF2B5EF4-FFF2-40B4-BE49-F238E27FC236}">
                    <a16:creationId xmlns:a16="http://schemas.microsoft.com/office/drawing/2014/main" id="{17BD87AF-0E89-2A45-BC55-00FA58194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6" name="Group 39">
              <a:extLst>
                <a:ext uri="{FF2B5EF4-FFF2-40B4-BE49-F238E27FC236}">
                  <a16:creationId xmlns:a16="http://schemas.microsoft.com/office/drawing/2014/main" id="{996E8435-2728-984E-A79B-FBE9077B68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5106991"/>
              <a:ext cx="3124200" cy="381000"/>
              <a:chOff x="524181" y="3669169"/>
              <a:chExt cx="3124200" cy="381000"/>
            </a:xfrm>
          </p:grpSpPr>
          <p:sp>
            <p:nvSpPr>
              <p:cNvPr id="51247" name="Rectangle 6">
                <a:extLst>
                  <a:ext uri="{FF2B5EF4-FFF2-40B4-BE49-F238E27FC236}">
                    <a16:creationId xmlns:a16="http://schemas.microsoft.com/office/drawing/2014/main" id="{D9DFF840-6BE4-D741-800A-E3B6A7EBF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8" name="Rectangle 10">
                <a:extLst>
                  <a:ext uri="{FF2B5EF4-FFF2-40B4-BE49-F238E27FC236}">
                    <a16:creationId xmlns:a16="http://schemas.microsoft.com/office/drawing/2014/main" id="{75A0336E-6F06-4749-ADDB-9D1B506B9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R7</a:t>
                </a:r>
              </a:p>
            </p:txBody>
          </p:sp>
          <p:sp>
            <p:nvSpPr>
              <p:cNvPr id="51249" name="Rectangle 14">
                <a:extLst>
                  <a:ext uri="{FF2B5EF4-FFF2-40B4-BE49-F238E27FC236}">
                    <a16:creationId xmlns:a16="http://schemas.microsoft.com/office/drawing/2014/main" id="{5893361D-70F5-7C40-A6B5-B51D64D2B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0" name="Rectangle 18">
                <a:extLst>
                  <a:ext uri="{FF2B5EF4-FFF2-40B4-BE49-F238E27FC236}">
                    <a16:creationId xmlns:a16="http://schemas.microsoft.com/office/drawing/2014/main" id="{F454FAF1-2DE7-174F-ABA2-5E665CFB5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7" name="Group 44">
              <a:extLst>
                <a:ext uri="{FF2B5EF4-FFF2-40B4-BE49-F238E27FC236}">
                  <a16:creationId xmlns:a16="http://schemas.microsoft.com/office/drawing/2014/main" id="{BE80D56F-BAB8-C141-9697-FBBCAA955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5487991"/>
              <a:ext cx="3124200" cy="381000"/>
              <a:chOff x="524181" y="3669169"/>
              <a:chExt cx="3124200" cy="381000"/>
            </a:xfrm>
          </p:grpSpPr>
          <p:sp>
            <p:nvSpPr>
              <p:cNvPr id="51243" name="Rectangle 6">
                <a:extLst>
                  <a:ext uri="{FF2B5EF4-FFF2-40B4-BE49-F238E27FC236}">
                    <a16:creationId xmlns:a16="http://schemas.microsoft.com/office/drawing/2014/main" id="{8E757EC3-E1D9-5B49-8BEC-070867DB4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4" name="Rectangle 10">
                <a:extLst>
                  <a:ext uri="{FF2B5EF4-FFF2-40B4-BE49-F238E27FC236}">
                    <a16:creationId xmlns:a16="http://schemas.microsoft.com/office/drawing/2014/main" id="{49F9EB96-E94F-FB47-83CB-89FF8EE4F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R8</a:t>
                </a:r>
              </a:p>
            </p:txBody>
          </p:sp>
          <p:sp>
            <p:nvSpPr>
              <p:cNvPr id="51245" name="Rectangle 14">
                <a:extLst>
                  <a:ext uri="{FF2B5EF4-FFF2-40B4-BE49-F238E27FC236}">
                    <a16:creationId xmlns:a16="http://schemas.microsoft.com/office/drawing/2014/main" id="{FF7141EE-3017-A546-A620-16ABECAB2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6" name="Rectangle 18">
                <a:extLst>
                  <a:ext uri="{FF2B5EF4-FFF2-40B4-BE49-F238E27FC236}">
                    <a16:creationId xmlns:a16="http://schemas.microsoft.com/office/drawing/2014/main" id="{E11F892F-25AC-7547-B075-84B839B96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8" name="Group 49">
              <a:extLst>
                <a:ext uri="{FF2B5EF4-FFF2-40B4-BE49-F238E27FC236}">
                  <a16:creationId xmlns:a16="http://schemas.microsoft.com/office/drawing/2014/main" id="{6D472D09-41CB-6046-834F-B79034B547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5873753"/>
              <a:ext cx="3124200" cy="381000"/>
              <a:chOff x="524181" y="3669169"/>
              <a:chExt cx="3124200" cy="381000"/>
            </a:xfrm>
          </p:grpSpPr>
          <p:sp>
            <p:nvSpPr>
              <p:cNvPr id="51239" name="Rectangle 6">
                <a:extLst>
                  <a:ext uri="{FF2B5EF4-FFF2-40B4-BE49-F238E27FC236}">
                    <a16:creationId xmlns:a16="http://schemas.microsoft.com/office/drawing/2014/main" id="{137F3B06-72A3-2C4B-8EA2-5CEB2C265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0" name="Rectangle 10">
                <a:extLst>
                  <a:ext uri="{FF2B5EF4-FFF2-40B4-BE49-F238E27FC236}">
                    <a16:creationId xmlns:a16="http://schemas.microsoft.com/office/drawing/2014/main" id="{D551D758-2946-3849-A4E8-79F90CC3C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R9</a:t>
                </a:r>
              </a:p>
            </p:txBody>
          </p:sp>
          <p:sp>
            <p:nvSpPr>
              <p:cNvPr id="51241" name="Rectangle 14">
                <a:extLst>
                  <a:ext uri="{FF2B5EF4-FFF2-40B4-BE49-F238E27FC236}">
                    <a16:creationId xmlns:a16="http://schemas.microsoft.com/office/drawing/2014/main" id="{7C97516D-DF85-874E-96D2-C6AE67D42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2" name="Rectangle 18">
                <a:extLst>
                  <a:ext uri="{FF2B5EF4-FFF2-40B4-BE49-F238E27FC236}">
                    <a16:creationId xmlns:a16="http://schemas.microsoft.com/office/drawing/2014/main" id="{004B9B5F-DAA1-8E46-BC55-E5C4F659A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sp>
          <p:nvSpPr>
            <p:cNvPr id="51229" name="TextBox 54">
              <a:extLst>
                <a:ext uri="{FF2B5EF4-FFF2-40B4-BE49-F238E27FC236}">
                  <a16:creationId xmlns:a16="http://schemas.microsoft.com/office/drawing/2014/main" id="{F479096E-D719-3B47-BF53-A7F68B4EE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2435228"/>
              <a:ext cx="3127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0" name="TextBox 55">
              <a:extLst>
                <a:ext uri="{FF2B5EF4-FFF2-40B4-BE49-F238E27FC236}">
                  <a16:creationId xmlns:a16="http://schemas.microsoft.com/office/drawing/2014/main" id="{EF6AA362-6BD7-BE47-8791-F1B01E542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2827341"/>
              <a:ext cx="31273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1" name="TextBox 56">
              <a:extLst>
                <a:ext uri="{FF2B5EF4-FFF2-40B4-BE49-F238E27FC236}">
                  <a16:creationId xmlns:a16="http://schemas.microsoft.com/office/drawing/2014/main" id="{3987D7B2-D33C-674A-9EF8-CBE933371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0563" y="3197228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2" name="TextBox 57">
              <a:extLst>
                <a:ext uri="{FF2B5EF4-FFF2-40B4-BE49-F238E27FC236}">
                  <a16:creationId xmlns:a16="http://schemas.microsoft.com/office/drawing/2014/main" id="{91AF07A6-2854-914E-8463-69DF78A9A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3592516"/>
              <a:ext cx="3127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3" name="TextBox 58">
              <a:extLst>
                <a:ext uri="{FF2B5EF4-FFF2-40B4-BE49-F238E27FC236}">
                  <a16:creationId xmlns:a16="http://schemas.microsoft.com/office/drawing/2014/main" id="{046C48DD-0CAA-0B4A-AB4E-DCF5580E9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3975103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4" name="TextBox 59">
              <a:extLst>
                <a:ext uri="{FF2B5EF4-FFF2-40B4-BE49-F238E27FC236}">
                  <a16:creationId xmlns:a16="http://schemas.microsoft.com/office/drawing/2014/main" id="{0FC87970-E487-7544-843D-21A9F8A45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0563" y="4356103"/>
              <a:ext cx="3127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5" name="TextBox 60">
              <a:extLst>
                <a:ext uri="{FF2B5EF4-FFF2-40B4-BE49-F238E27FC236}">
                  <a16:creationId xmlns:a16="http://schemas.microsoft.com/office/drawing/2014/main" id="{910A0184-BB86-424F-865A-5CBBC1F3B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3738" y="4725991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6" name="TextBox 61">
              <a:extLst>
                <a:ext uri="{FF2B5EF4-FFF2-40B4-BE49-F238E27FC236}">
                  <a16:creationId xmlns:a16="http://schemas.microsoft.com/office/drawing/2014/main" id="{E02EA655-16FC-A549-94CA-84BCB3581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038" y="5127628"/>
              <a:ext cx="3127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7" name="TextBox 62">
              <a:extLst>
                <a:ext uri="{FF2B5EF4-FFF2-40B4-BE49-F238E27FC236}">
                  <a16:creationId xmlns:a16="http://schemas.microsoft.com/office/drawing/2014/main" id="{58E14508-CA31-5643-B48E-CD90304C9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800" y="5503866"/>
              <a:ext cx="31273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8" name="TextBox 63">
              <a:extLst>
                <a:ext uri="{FF2B5EF4-FFF2-40B4-BE49-F238E27FC236}">
                  <a16:creationId xmlns:a16="http://schemas.microsoft.com/office/drawing/2014/main" id="{818CD4E7-849D-4A4A-961C-87C7D1E3E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038" y="5873753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</p:grpSp>
      <p:graphicFrame>
        <p:nvGraphicFramePr>
          <p:cNvPr id="64" name="Table 33">
            <a:extLst>
              <a:ext uri="{FF2B5EF4-FFF2-40B4-BE49-F238E27FC236}">
                <a16:creationId xmlns:a16="http://schemas.microsoft.com/office/drawing/2014/main" id="{5F1C3712-46EE-4153-AEE8-5F3E62BF838A}"/>
              </a:ext>
            </a:extLst>
          </p:cNvPr>
          <p:cNvGraphicFramePr>
            <a:graphicFrameLocks noGrp="1"/>
          </p:cNvGraphicFramePr>
          <p:nvPr/>
        </p:nvGraphicFramePr>
        <p:xfrm>
          <a:off x="5060280" y="1625008"/>
          <a:ext cx="3200402" cy="1808160"/>
        </p:xfrm>
        <a:graphic>
          <a:graphicData uri="http://schemas.openxmlformats.org/drawingml/2006/table">
            <a:tbl>
              <a:tblPr firstRow="1" bandRow="1"/>
              <a:tblGrid>
                <a:gridCol w="251166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460818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460818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552982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460818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460818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552982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301436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301436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2DCA63AD-2C68-429F-9B2E-3BA7EC0D474F}"/>
              </a:ext>
            </a:extLst>
          </p:cNvPr>
          <p:cNvSpPr txBox="1">
            <a:spLocks/>
          </p:cNvSpPr>
          <p:nvPr/>
        </p:nvSpPr>
        <p:spPr bwMode="auto">
          <a:xfrm>
            <a:off x="4837112" y="1012031"/>
            <a:ext cx="3827463" cy="892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panose="020B0600070205080204" pitchFamily="34" charset="-128"/>
              </a:rPr>
              <a:t>Reservation station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C72240-D826-48B0-B5FB-2E513FF0BF24}"/>
              </a:ext>
            </a:extLst>
          </p:cNvPr>
          <p:cNvSpPr txBox="1"/>
          <p:nvPr/>
        </p:nvSpPr>
        <p:spPr>
          <a:xfrm>
            <a:off x="4679283" y="1698231"/>
            <a:ext cx="804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rs.tag</a:t>
            </a:r>
            <a:endParaRPr lang="zh-CN" altLang="en-US" sz="14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8B34876-CC4B-4BEC-927E-7B4220F35F77}"/>
              </a:ext>
            </a:extLst>
          </p:cNvPr>
          <p:cNvGrpSpPr/>
          <p:nvPr/>
        </p:nvGrpSpPr>
        <p:grpSpPr>
          <a:xfrm>
            <a:off x="5219377" y="5973376"/>
            <a:ext cx="2012585" cy="376238"/>
            <a:chOff x="5410200" y="5884865"/>
            <a:chExt cx="2012585" cy="376238"/>
          </a:xfrm>
        </p:grpSpPr>
        <p:grpSp>
          <p:nvGrpSpPr>
            <p:cNvPr id="67" name="Group 5">
              <a:extLst>
                <a:ext uri="{FF2B5EF4-FFF2-40B4-BE49-F238E27FC236}">
                  <a16:creationId xmlns:a16="http://schemas.microsoft.com/office/drawing/2014/main" id="{D7FCD96F-60BE-4A14-B451-846D0273A0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5884865"/>
              <a:ext cx="804862" cy="369888"/>
              <a:chOff x="1001099" y="4100530"/>
              <a:chExt cx="805656" cy="369887"/>
            </a:xfrm>
          </p:grpSpPr>
          <p:sp>
            <p:nvSpPr>
              <p:cNvPr id="68" name="Rectangle 10">
                <a:extLst>
                  <a:ext uri="{FF2B5EF4-FFF2-40B4-BE49-F238E27FC236}">
                    <a16:creationId xmlns:a16="http://schemas.microsoft.com/office/drawing/2014/main" id="{6E6E47D5-9301-4A8C-8850-F982A2B50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IF</a:t>
                </a:r>
              </a:p>
            </p:txBody>
          </p:sp>
          <p:sp>
            <p:nvSpPr>
              <p:cNvPr id="69" name="Rectangle 11">
                <a:extLst>
                  <a:ext uri="{FF2B5EF4-FFF2-40B4-BE49-F238E27FC236}">
                    <a16:creationId xmlns:a16="http://schemas.microsoft.com/office/drawing/2014/main" id="{62A6C7D1-05D6-4922-BFD0-C18754348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ID</a:t>
                </a:r>
              </a:p>
            </p:txBody>
          </p:sp>
        </p:grpSp>
        <p:sp>
          <p:nvSpPr>
            <p:cNvPr id="70" name="Rectangle 12">
              <a:extLst>
                <a:ext uri="{FF2B5EF4-FFF2-40B4-BE49-F238E27FC236}">
                  <a16:creationId xmlns:a16="http://schemas.microsoft.com/office/drawing/2014/main" id="{D5937B89-5D21-4481-A939-454193415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5066" y="5891215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6C6F0B7B-ADDA-42BE-A2CD-47D3CC40E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1147" y="5888040"/>
              <a:ext cx="401638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sp>
          <p:nvSpPr>
            <p:cNvPr id="73" name="Rectangle 12">
              <a:extLst>
                <a:ext uri="{FF2B5EF4-FFF2-40B4-BE49-F238E27FC236}">
                  <a16:creationId xmlns:a16="http://schemas.microsoft.com/office/drawing/2014/main" id="{05D214B0-D4AC-446D-9368-241E56DD6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7918" y="5888040"/>
              <a:ext cx="440781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RS</a:t>
              </a:r>
            </a:p>
          </p:txBody>
        </p:sp>
      </p:grp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7FF131E9-7584-4D89-9A54-9D67CE55E68F}"/>
              </a:ext>
            </a:extLst>
          </p:cNvPr>
          <p:cNvSpPr txBox="1">
            <a:spLocks/>
          </p:cNvSpPr>
          <p:nvPr/>
        </p:nvSpPr>
        <p:spPr bwMode="auto">
          <a:xfrm>
            <a:off x="3352800" y="4037906"/>
            <a:ext cx="5867400" cy="1312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panose="020B0600070205080204" pitchFamily="34" charset="-128"/>
              </a:rPr>
              <a:t>Common Data Bus:</a:t>
            </a:r>
          </a:p>
          <a:p>
            <a:pPr lvl="1"/>
            <a:r>
              <a:rPr lang="en-US" altLang="en-US" kern="0" dirty="0">
                <a:ea typeface="ＭＳ Ｐゴシック" panose="020B0600070205080204" pitchFamily="34" charset="-128"/>
              </a:rPr>
              <a:t>Broadcasts the tag and result to </a:t>
            </a:r>
            <a:r>
              <a:rPr lang="en-US" altLang="en-US" kern="0">
                <a:ea typeface="ＭＳ Ｐゴシック" panose="020B0600070205080204" pitchFamily="34" charset="-128"/>
              </a:rPr>
              <a:t>all </a:t>
            </a:r>
            <a:r>
              <a:rPr lang="en-US" altLang="zh-CN" kern="0">
                <a:ea typeface="ＭＳ Ｐゴシック" panose="020B0600070205080204" pitchFamily="34" charset="-128"/>
              </a:rPr>
              <a:t>RS</a:t>
            </a:r>
            <a:r>
              <a:rPr lang="en-US" altLang="en-US" kern="0">
                <a:ea typeface="ＭＳ Ｐゴシック" panose="020B0600070205080204" pitchFamily="34" charset="-128"/>
              </a:rPr>
              <a:t>s</a:t>
            </a:r>
            <a:endParaRPr lang="en-US" altLang="en-US" kern="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kern="0" dirty="0">
                <a:ea typeface="ＭＳ Ｐゴシック" panose="020B0600070205080204" pitchFamily="34" charset="-128"/>
              </a:rPr>
              <a:t>Updates the RF using the tag and result</a:t>
            </a:r>
          </a:p>
        </p:txBody>
      </p:sp>
    </p:spTree>
    <p:extLst>
      <p:ext uri="{BB962C8B-B14F-4D97-AF65-F5344CB8AC3E}">
        <p14:creationId xmlns:p14="http://schemas.microsoft.com/office/powerpoint/2010/main" val="811950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7DB487FF-5283-0948-9D54-C5CDA2CB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</a:t>
            </a:r>
            <a:r>
              <a:rPr lang="en-US" altLang="en-US" dirty="0" err="1">
                <a:ea typeface="ＭＳ Ｐゴシック" panose="020B0600070205080204" pitchFamily="34" charset="-128"/>
              </a:rPr>
              <a:t>Tomasulo’</a:t>
            </a:r>
            <a:r>
              <a:rPr lang="en-US" altLang="ja-JP" dirty="0" err="1">
                <a:ea typeface="ＭＳ Ｐゴシック" panose="020B0600070205080204" pitchFamily="34" charset="-128"/>
              </a:rPr>
              <a:t>s</a:t>
            </a:r>
            <a:r>
              <a:rPr lang="en-US" altLang="ja-JP" dirty="0">
                <a:ea typeface="ＭＳ Ｐゴシック" panose="020B0600070205080204" pitchFamily="34" charset="-128"/>
              </a:rPr>
              <a:t> Algorithm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7068D-F729-E847-8BAA-9E537758E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914400"/>
            <a:ext cx="8915400" cy="5791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ID</a:t>
            </a:r>
            <a:r>
              <a:rPr lang="en-US" altLang="en-US" sz="2000" dirty="0">
                <a:ea typeface="ＭＳ Ｐゴシック" panose="020B0600070205080204" pitchFamily="34" charset="-128"/>
              </a:rPr>
              <a:t>: If </a:t>
            </a:r>
            <a:r>
              <a:rPr lang="en-US" altLang="en-US" sz="20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reservation station </a:t>
            </a:r>
            <a:r>
              <a:rPr lang="en-US" altLang="en-US" sz="2000" dirty="0">
                <a:ea typeface="ＭＳ Ｐゴシック" panose="020B0600070205080204" pitchFamily="34" charset="-128"/>
              </a:rPr>
              <a:t>entry available before renaming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dest</a:t>
            </a:r>
            <a:r>
              <a:rPr lang="en-US" altLang="en-US" sz="2000" dirty="0">
                <a:ea typeface="ＭＳ Ｐゴシック" panose="020B0600070205080204" pitchFamily="34" charset="-128"/>
              </a:rPr>
              <a:t>. register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Occupy a RS entry for the instruction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For each source register in the RS entry: </a:t>
            </a:r>
            <a:r>
              <a:rPr lang="en-US" altLang="en-US" sz="1800" dirty="0">
                <a:ea typeface="ＭＳ Ｐゴシック" panose="020B0600070205080204" pitchFamily="34" charset="-128"/>
              </a:rPr>
              <a:t>if </a:t>
            </a:r>
            <a:r>
              <a:rPr lang="en-US" altLang="zh-CN" sz="1800" dirty="0">
                <a:ea typeface="ＭＳ Ｐゴシック" panose="020B0600070205080204" pitchFamily="34" charset="-128"/>
              </a:rPr>
              <a:t>the valid bit of source register in RF is 1,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1 and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RS.source.value</a:t>
            </a:r>
            <a:r>
              <a:rPr lang="en-US" altLang="zh-CN" sz="1800" dirty="0">
                <a:ea typeface="ＭＳ Ｐゴシック" panose="020B0600070205080204" pitchFamily="34" charset="-128"/>
              </a:rPr>
              <a:t>=source register; else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0 and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RS.source.tag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source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register.tag</a:t>
            </a:r>
            <a:r>
              <a:rPr lang="en-US" altLang="zh-CN" sz="1800" dirty="0">
                <a:ea typeface="ＭＳ Ｐゴシック" panose="020B0600070205080204" pitchFamily="34" charset="-128"/>
              </a:rPr>
              <a:t>. 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For </a:t>
            </a:r>
            <a:r>
              <a:rPr lang="en-US" altLang="en-US" sz="1800" b="1" dirty="0" err="1">
                <a:ea typeface="ＭＳ Ｐゴシック" panose="020B0600070205080204" pitchFamily="34" charset="-128"/>
              </a:rPr>
              <a:t>dest</a:t>
            </a:r>
            <a:r>
              <a:rPr lang="en-US" altLang="en-US" sz="1800" b="1" dirty="0">
                <a:ea typeface="ＭＳ Ｐゴシック" panose="020B0600070205080204" pitchFamily="34" charset="-128"/>
              </a:rPr>
              <a:t>. register in RF</a:t>
            </a:r>
            <a:r>
              <a:rPr lang="en-US" altLang="en-US" sz="1800" dirty="0">
                <a:ea typeface="ＭＳ Ｐゴシック" panose="020B0600070205080204" pitchFamily="34" charset="-128"/>
              </a:rPr>
              <a:t>: Rename to the tag of the corresponding RS entry, set the valid bit to 0.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      Else stall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RS</a:t>
            </a:r>
            <a:r>
              <a:rPr lang="en-US" altLang="en-US" sz="2000" dirty="0">
                <a:ea typeface="ＭＳ Ｐゴシック" panose="020B0600070205080204" pitchFamily="34" charset="-128"/>
              </a:rPr>
              <a:t>: While in </a:t>
            </a:r>
            <a:r>
              <a:rPr lang="en-US" altLang="en-US" sz="20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reservation station</a:t>
            </a:r>
            <a:r>
              <a:rPr lang="en-US" altLang="en-US" sz="2000" dirty="0">
                <a:ea typeface="ＭＳ Ｐゴシック" panose="020B0600070205080204" pitchFamily="34" charset="-128"/>
              </a:rPr>
              <a:t>, each instruction: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Update</a:t>
            </a:r>
            <a:r>
              <a:rPr lang="en-US" altLang="en-US" sz="1800" dirty="0">
                <a:ea typeface="ＭＳ Ｐゴシック" panose="020B0600070205080204" pitchFamily="34" charset="-128"/>
              </a:rPr>
              <a:t>: Watches common data bus (CDB) for tag of its sources. When tag seen, grab value for the source and keep it in the reservation station.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Issue</a:t>
            </a:r>
            <a:r>
              <a:rPr lang="en-US" altLang="en-US" sz="1800" dirty="0">
                <a:ea typeface="ＭＳ Ｐゴシック" panose="020B0600070205080204" pitchFamily="34" charset="-128"/>
              </a:rPr>
              <a:t>: When both operands available, instruction ready to be dispatched to </a:t>
            </a:r>
            <a:r>
              <a:rPr lang="en-US" altLang="zh-CN" sz="1800" dirty="0">
                <a:ea typeface="ＭＳ Ｐゴシック" panose="020B0600070205080204" pitchFamily="34" charset="-128"/>
              </a:rPr>
              <a:t>FU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EXE</a:t>
            </a:r>
            <a:r>
              <a:rPr lang="en-US" altLang="en-US" sz="2000" dirty="0">
                <a:ea typeface="ＭＳ Ｐゴシック" panose="020B0600070205080204" pitchFamily="34" charset="-128"/>
              </a:rPr>
              <a:t>: Execute the instruction </a:t>
            </a:r>
            <a:r>
              <a:rPr lang="en-US" altLang="zh-CN" sz="2000" dirty="0">
                <a:ea typeface="ＭＳ Ｐゴシック" panose="020B0600070205080204" pitchFamily="34" charset="-128"/>
              </a:rPr>
              <a:t>in FU, produce </a:t>
            </a:r>
            <a:r>
              <a:rPr lang="en-US" altLang="en-US" sz="20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its broadcast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 and value 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WB</a:t>
            </a:r>
            <a:r>
              <a:rPr lang="en-US" altLang="en-US" sz="2000" dirty="0">
                <a:ea typeface="ＭＳ Ｐゴシック" panose="020B0600070205080204" pitchFamily="34" charset="-128"/>
              </a:rPr>
              <a:t>: After instruction finishes in the Functional Unit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a, Arbitrate for CDB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b, Put </a:t>
            </a:r>
            <a:r>
              <a:rPr lang="en-US" altLang="en-US" sz="18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</a:t>
            </a:r>
            <a:r>
              <a:rPr lang="en-US" altLang="en-US" sz="1800" dirty="0"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 and its broadcast value </a:t>
            </a:r>
            <a:r>
              <a:rPr lang="en-US" altLang="en-US" sz="1800" dirty="0">
                <a:ea typeface="ＭＳ Ｐゴシック" panose="020B0600070205080204" pitchFamily="34" charset="-128"/>
              </a:rPr>
              <a:t>onto CDB (tag broadcast)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c, Update register file connected to the CDB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If the tag in the register file matches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</a:t>
            </a:r>
            <a:r>
              <a:rPr lang="en-US" altLang="en-US" sz="1700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write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value</a:t>
            </a:r>
            <a:r>
              <a:rPr lang="en-US" altLang="en-US" sz="1700" dirty="0">
                <a:ea typeface="ＭＳ Ｐゴシック" panose="020B0600070205080204" pitchFamily="34" charset="-128"/>
              </a:rPr>
              <a:t> into register (and set valid bit)</a:t>
            </a:r>
          </a:p>
          <a:p>
            <a:pPr lvl="1">
              <a:lnSpc>
                <a:spcPct val="80000"/>
              </a:lnSpc>
              <a:buClr>
                <a:srgbClr val="3B812F"/>
              </a:buClr>
            </a:pPr>
            <a:r>
              <a:rPr lang="en-US" altLang="en-US" sz="18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d, Update reservation station connected to the CDB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If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tag</a:t>
            </a:r>
            <a:r>
              <a:rPr lang="en-US" altLang="en-US" sz="1700" dirty="0">
                <a:ea typeface="ＭＳ Ｐゴシック" panose="020B0600070205080204" pitchFamily="34" charset="-128"/>
              </a:rPr>
              <a:t> matches the tag of any source in a </a:t>
            </a:r>
            <a:r>
              <a:rPr lang="en-US" altLang="en-US" sz="18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RS entry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write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value</a:t>
            </a:r>
            <a:r>
              <a:rPr lang="en-US" altLang="en-US" sz="1700" dirty="0">
                <a:ea typeface="ＭＳ Ｐゴシック" panose="020B0600070205080204" pitchFamily="34" charset="-128"/>
              </a:rPr>
              <a:t> to the source and set the valid bit of the source. 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037FD9B1-BD69-FE44-BB0C-27E133283B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0E612B8-7975-0D4A-842B-C2F48E154FB4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18381645-F81C-B642-9A3C-1125B8A50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Outline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11999A4A-8D8C-0542-9D21-8306EAFE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56260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Superscalar</a:t>
            </a:r>
          </a:p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Vector </a:t>
            </a:r>
            <a:r>
              <a:rPr lang="en-US" altLang="zh-CN" dirty="0" err="1">
                <a:solidFill>
                  <a:srgbClr val="0432FF"/>
                </a:solidFill>
                <a:ea typeface="ＭＳ Ｐゴシック" charset="-128"/>
              </a:rPr>
              <a:t>Insn</a:t>
            </a:r>
            <a:endParaRPr lang="en-US" altLang="zh-CN" dirty="0">
              <a:solidFill>
                <a:srgbClr val="0432FF"/>
              </a:solidFill>
              <a:ea typeface="ＭＳ Ｐゴシック" charset="-128"/>
            </a:endParaRPr>
          </a:p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Multithreading</a:t>
            </a:r>
          </a:p>
          <a:p>
            <a:pPr>
              <a:buFont typeface="Wingdings" charset="2"/>
              <a:buChar char="n"/>
              <a:defRPr/>
            </a:pP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Multi-core</a:t>
            </a:r>
          </a:p>
          <a:p>
            <a:pPr>
              <a:buFont typeface="Wingdings" charset="2"/>
              <a:buChar char="n"/>
              <a:defRPr/>
            </a:pPr>
            <a:endParaRPr lang="en-US" altLang="en-US" dirty="0">
              <a:solidFill>
                <a:srgbClr val="0432FF"/>
              </a:solidFill>
              <a:ea typeface="ＭＳ Ｐゴシック" charset="-128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129D015-4946-2A40-BB1A-9A51A871D4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E5F7BB-0E5D-4B48-AE6E-CE7CFCFC942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E509C070-0638-42D9-99CF-EFBC0E96F12C}"/>
              </a:ext>
            </a:extLst>
          </p:cNvPr>
          <p:cNvSpPr/>
          <p:nvPr/>
        </p:nvSpPr>
        <p:spPr>
          <a:xfrm flipV="1">
            <a:off x="333703" y="6096000"/>
            <a:ext cx="6375009" cy="76200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FAA66FA9-99AC-4993-89DD-CB50523FFC3D}"/>
              </a:ext>
            </a:extLst>
          </p:cNvPr>
          <p:cNvSpPr/>
          <p:nvPr/>
        </p:nvSpPr>
        <p:spPr>
          <a:xfrm>
            <a:off x="228600" y="1447800"/>
            <a:ext cx="6375009" cy="1267154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665379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4">
            <a:extLst>
              <a:ext uri="{FF2B5EF4-FFF2-40B4-BE49-F238E27FC236}">
                <a16:creationId xmlns:a16="http://schemas.microsoft.com/office/drawing/2014/main" id="{7AED179D-5EF1-3949-84A2-83715A0B3D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66713" y="1708150"/>
            <a:ext cx="8428037" cy="1720850"/>
          </a:xfrm>
        </p:spPr>
        <p:txBody>
          <a:bodyPr/>
          <a:lstStyle/>
          <a:p>
            <a:pPr algn="ctr" eaLnBrk="1" hangingPunct="1"/>
            <a:r>
              <a:rPr lang="en-US" altLang="en-US" sz="4400" dirty="0">
                <a:ea typeface="ＭＳ Ｐゴシック" panose="020B0600070205080204" pitchFamily="34" charset="-128"/>
              </a:rPr>
              <a:t>Superscalar Execution</a:t>
            </a:r>
          </a:p>
        </p:txBody>
      </p:sp>
    </p:spTree>
    <p:extLst>
      <p:ext uri="{BB962C8B-B14F-4D97-AF65-F5344CB8AC3E}">
        <p14:creationId xmlns:p14="http://schemas.microsoft.com/office/powerpoint/2010/main" val="42419427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D628945-17F0-4C77-92EF-696630C9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38" y="908019"/>
            <a:ext cx="9144000" cy="523836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751EBB-48F2-4EBC-BFD3-511916AA9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630988" y="6330394"/>
            <a:ext cx="2133600" cy="457200"/>
          </a:xfrm>
        </p:spPr>
        <p:txBody>
          <a:bodyPr/>
          <a:lstStyle/>
          <a:p>
            <a:pPr>
              <a:defRPr/>
            </a:pPr>
            <a:fld id="{753DEEF8-87BA-7144-9648-F84693A6E11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57" name="Rectangle 36">
            <a:extLst>
              <a:ext uri="{FF2B5EF4-FFF2-40B4-BE49-F238E27FC236}">
                <a16:creationId xmlns:a16="http://schemas.microsoft.com/office/drawing/2014/main" id="{24589136-D5B5-41F9-AC76-5B4107FF66CB}"/>
              </a:ext>
            </a:extLst>
          </p:cNvPr>
          <p:cNvSpPr/>
          <p:nvPr/>
        </p:nvSpPr>
        <p:spPr>
          <a:xfrm>
            <a:off x="5638800" y="1981200"/>
            <a:ext cx="7620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itle 1">
            <a:extLst>
              <a:ext uri="{FF2B5EF4-FFF2-40B4-BE49-F238E27FC236}">
                <a16:creationId xmlns:a16="http://schemas.microsoft.com/office/drawing/2014/main" id="{9D44D825-827C-4862-B6D5-ADA7CEAD3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Where Are We?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4377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1">
            <a:extLst>
              <a:ext uri="{FF2B5EF4-FFF2-40B4-BE49-F238E27FC236}">
                <a16:creationId xmlns:a16="http://schemas.microsoft.com/office/drawing/2014/main" id="{CC5FCEEA-35A3-B74C-892A-BAD7B4A7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Superscalar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62003-0811-974F-875C-FF46FD894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pPr>
              <a:buFont typeface="Wingdings" charset="0"/>
              <a:buChar char="n"/>
              <a:defRPr/>
            </a:pPr>
            <a:r>
              <a:rPr lang="en-US" b="1" dirty="0"/>
              <a:t>Idea</a:t>
            </a:r>
            <a:r>
              <a:rPr lang="en-US" dirty="0"/>
              <a:t>: Fetch, decode, execute, retire </a:t>
            </a:r>
            <a:r>
              <a:rPr lang="en-US" dirty="0">
                <a:solidFill>
                  <a:srgbClr val="0000FF"/>
                </a:solidFill>
              </a:rPr>
              <a:t>multiple instructions per cycle 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D0D0D"/>
                </a:solidFill>
              </a:rPr>
              <a:t>N-wide superscalar </a:t>
            </a:r>
            <a:r>
              <a:rPr lang="en-US" dirty="0">
                <a:solidFill>
                  <a:srgbClr val="0D0D0D"/>
                </a:solidFill>
                <a:sym typeface="Wingdings"/>
              </a:rPr>
              <a:t> N instructions per cycle</a:t>
            </a:r>
            <a:endParaRPr lang="en-US" dirty="0">
              <a:solidFill>
                <a:srgbClr val="0D0D0D"/>
              </a:solidFill>
            </a:endParaRPr>
          </a:p>
          <a:p>
            <a:pPr>
              <a:buFont typeface="Wingdings" charset="0"/>
              <a:buChar char="n"/>
              <a:defRPr/>
            </a:pPr>
            <a:endParaRPr lang="en-US" dirty="0">
              <a:solidFill>
                <a:srgbClr val="0000FF"/>
              </a:solidFill>
            </a:endParaRPr>
          </a:p>
          <a:p>
            <a:pPr>
              <a:buFont typeface="Wingdings" charset="0"/>
              <a:buChar char="n"/>
              <a:defRPr/>
            </a:pPr>
            <a:r>
              <a:rPr lang="en-US" b="1" dirty="0">
                <a:solidFill>
                  <a:srgbClr val="0D0D0D"/>
                </a:solidFill>
              </a:rPr>
              <a:t>Issues</a:t>
            </a:r>
            <a:r>
              <a:rPr lang="en-US" dirty="0">
                <a:solidFill>
                  <a:srgbClr val="0D0D0D"/>
                </a:solidFill>
              </a:rPr>
              <a:t>: </a:t>
            </a:r>
          </a:p>
          <a:p>
            <a:pPr lvl="1">
              <a:buFont typeface="Wingdings" charset="0"/>
              <a:buChar char="n"/>
              <a:defRPr/>
            </a:pPr>
            <a:r>
              <a:rPr lang="en-US" dirty="0">
                <a:solidFill>
                  <a:srgbClr val="FF0000"/>
                </a:solidFill>
              </a:rPr>
              <a:t>Need to add the hardware resources for doing so</a:t>
            </a:r>
          </a:p>
          <a:p>
            <a:pPr lvl="1">
              <a:buFont typeface="Wingdings" charset="0"/>
              <a:buChar char="n"/>
              <a:defRPr/>
            </a:pPr>
            <a:r>
              <a:rPr lang="en-US" dirty="0">
                <a:solidFill>
                  <a:srgbClr val="FF0000"/>
                </a:solidFill>
              </a:rPr>
              <a:t>Hardware performs the dependence checking between concurrently-fetched instructions</a:t>
            </a:r>
          </a:p>
          <a:p>
            <a:pPr>
              <a:buFont typeface="Wingdings" charset="0"/>
              <a:buChar char="n"/>
              <a:defRPr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charset="0"/>
              <a:buChar char="n"/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Superscalar execution and out-of-order execution are orthogonal concepts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 have all four combinations of processors:</a:t>
            </a:r>
          </a:p>
          <a:p>
            <a:pPr marL="671512" lvl="2" indent="0">
              <a:buFont typeface="Wingdings" charset="0"/>
              <a:buNone/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[in-order, out-of-order] x [scalar, superscalar]</a:t>
            </a:r>
          </a:p>
          <a:p>
            <a:pPr>
              <a:buFont typeface="Wingdings" charset="0"/>
              <a:buChar char="n"/>
              <a:defRPr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charset="0"/>
              <a:buChar char="n"/>
              <a:defRPr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charset="0"/>
              <a:buChar char="n"/>
              <a:defRPr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2339" name="Slide Number Placeholder 3">
            <a:extLst>
              <a:ext uri="{FF2B5EF4-FFF2-40B4-BE49-F238E27FC236}">
                <a16:creationId xmlns:a16="http://schemas.microsoft.com/office/drawing/2014/main" id="{5F130869-A065-A14C-BDFB-2CFACC1EF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47668F-3C1F-E246-9688-525B3ABCBCF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9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3">
            <a:extLst>
              <a:ext uri="{FF2B5EF4-FFF2-40B4-BE49-F238E27FC236}">
                <a16:creationId xmlns:a16="http://schemas.microsoft.com/office/drawing/2014/main" id="{6946EB40-27C5-DF46-A264-EA3993706C9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0830" y="190500"/>
            <a:ext cx="8786812" cy="762000"/>
          </a:xfrm>
        </p:spPr>
        <p:txBody>
          <a:bodyPr/>
          <a:lstStyle/>
          <a:p>
            <a:r>
              <a:rPr lang="en-US" altLang="en-US" dirty="0">
                <a:latin typeface="+mj-lt"/>
              </a:rPr>
              <a:t>In-Order Superscalar Processor Example</a:t>
            </a:r>
          </a:p>
        </p:txBody>
      </p:sp>
      <p:sp>
        <p:nvSpPr>
          <p:cNvPr id="66562" name="Rectangle 4">
            <a:extLst>
              <a:ext uri="{FF2B5EF4-FFF2-40B4-BE49-F238E27FC236}">
                <a16:creationId xmlns:a16="http://schemas.microsoft.com/office/drawing/2014/main" id="{3F93ED6F-3A67-FB4B-9DF5-E7A4BE5A0647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96873" y="1076325"/>
            <a:ext cx="8594725" cy="2447925"/>
          </a:xfrm>
        </p:spPr>
        <p:txBody>
          <a:bodyPr/>
          <a:lstStyle/>
          <a:p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Idea</a:t>
            </a:r>
            <a:r>
              <a:rPr lang="en-US" altLang="en-US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Multiple copies of data-path: Can fetch/decode/execute multiple instructions per cycle. </a:t>
            </a:r>
          </a:p>
          <a:p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</a:t>
            </a:r>
            <a:r>
              <a:rPr lang="en-US" altLang="en-US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altLang="en-US" b="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Dependences make it tricky to dispatch multiple instructions in the same cycle. 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Need dependence detection between concurrently-fetched instructions.  </a:t>
            </a:r>
            <a:endParaRPr lang="en-US" altLang="en-US" b="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66563" name="Content Placeholder 2">
            <a:extLst>
              <a:ext uri="{FF2B5EF4-FFF2-40B4-BE49-F238E27FC236}">
                <a16:creationId xmlns:a16="http://schemas.microsoft.com/office/drawing/2014/main" id="{24B6129B-C009-7E48-B1D9-BDA91697908C}"/>
              </a:ext>
            </a:extLst>
          </p:cNvPr>
          <p:cNvGraphicFramePr>
            <a:graphicFrameLocks noGrp="1" noChangeAspect="1"/>
          </p:cNvGraphicFramePr>
          <p:nvPr>
            <p:ph idx="11"/>
            <p:custDataLst>
              <p:tags r:id="rId3"/>
            </p:custDataLst>
          </p:nvPr>
        </p:nvGraphicFramePr>
        <p:xfrm>
          <a:off x="381000" y="3352800"/>
          <a:ext cx="8335962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8232100" imgH="9423400" progId="Visio.Drawing.6">
                  <p:embed/>
                </p:oleObj>
              </mc:Choice>
              <mc:Fallback>
                <p:oleObj name="VISIO" r:id="rId7" imgW="28232100" imgH="9423400" progId="Visio.Drawing.6">
                  <p:embed/>
                  <p:pic>
                    <p:nvPicPr>
                      <p:cNvPr id="66563" name="Content Placeholder 2">
                        <a:extLst>
                          <a:ext uri="{FF2B5EF4-FFF2-40B4-BE49-F238E27FC236}">
                            <a16:creationId xmlns:a16="http://schemas.microsoft.com/office/drawing/2014/main" id="{24B6129B-C009-7E48-B1D9-BDA91697908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352800"/>
                        <a:ext cx="8335962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4" name="Rectangle 2">
            <a:extLst>
              <a:ext uri="{FF2B5EF4-FFF2-40B4-BE49-F238E27FC236}">
                <a16:creationId xmlns:a16="http://schemas.microsoft.com/office/drawing/2014/main" id="{50295169-D440-2E43-A251-DB555EAFDAE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DB996AD-280D-5E46-89DE-40EDFC2963FB}"/>
              </a:ext>
            </a:extLst>
          </p:cNvPr>
          <p:cNvSpPr txBox="1">
            <a:spLocks/>
          </p:cNvSpPr>
          <p:nvPr/>
        </p:nvSpPr>
        <p:spPr>
          <a:xfrm>
            <a:off x="2759072" y="6076950"/>
            <a:ext cx="3870325" cy="4572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chemeClr val="accent1">
                  <a:lumMod val="75000"/>
                  <a:lumOff val="25000"/>
                </a:schemeClr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ct val="0"/>
              </a:spcAft>
              <a:buClr>
                <a:schemeClr val="accent1">
                  <a:lumMod val="75000"/>
                  <a:lumOff val="25000"/>
                </a:schemeClr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4F0E2B">
                  <a:lumMod val="75000"/>
                  <a:lumOff val="25000"/>
                </a:srgbClr>
              </a:buClr>
              <a:buSzPct val="60000"/>
              <a:buFont typeface="Wingdings 2" pitchFamily="18" charset="2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4F0E2B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Here: Ideal IPC = 2</a:t>
            </a:r>
          </a:p>
        </p:txBody>
      </p:sp>
    </p:spTree>
    <p:extLst>
      <p:ext uri="{BB962C8B-B14F-4D97-AF65-F5344CB8AC3E}">
        <p14:creationId xmlns:p14="http://schemas.microsoft.com/office/powerpoint/2010/main" val="16138140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4">
            <a:extLst>
              <a:ext uri="{FF2B5EF4-FFF2-40B4-BE49-F238E27FC236}">
                <a16:creationId xmlns:a16="http://schemas.microsoft.com/office/drawing/2014/main" id="{A9388D5D-CC15-7147-A96C-974F9AD9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44" y="152400"/>
            <a:ext cx="8786812" cy="762000"/>
          </a:xfrm>
        </p:spPr>
        <p:txBody>
          <a:bodyPr/>
          <a:lstStyle/>
          <a:p>
            <a:r>
              <a:rPr lang="en-US" altLang="en-US" sz="3600" dirty="0">
                <a:latin typeface="+mj-lt"/>
              </a:rPr>
              <a:t>In-Order Superscalar</a:t>
            </a:r>
            <a:r>
              <a:rPr lang="en-US" altLang="zh-CN" sz="3600" dirty="0">
                <a:latin typeface="+mj-lt"/>
              </a:rPr>
              <a:t>:</a:t>
            </a:r>
            <a:r>
              <a:rPr lang="zh-CN" altLang="en-US" sz="3600" dirty="0">
                <a:latin typeface="+mj-lt"/>
              </a:rPr>
              <a:t> </a:t>
            </a:r>
            <a:r>
              <a:rPr lang="en-US" altLang="zh-CN" sz="3600" dirty="0">
                <a:latin typeface="+mj-lt"/>
              </a:rPr>
              <a:t>Ideal</a:t>
            </a:r>
            <a:endParaRPr lang="de-CH" altLang="en-US" sz="3600" dirty="0">
              <a:latin typeface="+mj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03B32-F14A-3942-9953-26E95CA2D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50" y="1219200"/>
            <a:ext cx="3870325" cy="1752600"/>
          </a:xfrm>
        </p:spPr>
        <p:txBody>
          <a:bodyPr/>
          <a:lstStyle/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sz="1800" b="1" dirty="0" err="1">
                <a:ea typeface="+mn-ea"/>
              </a:rPr>
              <a:t>lw</a:t>
            </a:r>
            <a:r>
              <a:rPr lang="en-US" sz="1800" dirty="0">
                <a:ea typeface="+mn-ea"/>
              </a:rPr>
              <a:t>  $t0, 40($s0)</a:t>
            </a:r>
          </a:p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sz="1800" b="1" dirty="0">
                <a:ea typeface="+mn-ea"/>
              </a:rPr>
              <a:t>add</a:t>
            </a:r>
            <a:r>
              <a:rPr lang="en-US" sz="1800" dirty="0">
                <a:ea typeface="+mn-ea"/>
              </a:rPr>
              <a:t> $t1, $s1, $s2		</a:t>
            </a:r>
          </a:p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sz="1800" b="1" dirty="0">
                <a:ea typeface="+mn-ea"/>
              </a:rPr>
              <a:t>sub</a:t>
            </a:r>
            <a:r>
              <a:rPr lang="en-US" sz="1800" dirty="0">
                <a:ea typeface="+mn-ea"/>
              </a:rPr>
              <a:t> $t2, $s1, $s3		 </a:t>
            </a:r>
            <a:r>
              <a:rPr lang="en-US" sz="1800" b="1" dirty="0">
                <a:ea typeface="+mn-ea"/>
              </a:rPr>
              <a:t>and</a:t>
            </a:r>
            <a:r>
              <a:rPr lang="en-US" sz="1800" dirty="0">
                <a:ea typeface="+mn-ea"/>
              </a:rPr>
              <a:t> $t3, $s3, $s4		 </a:t>
            </a:r>
            <a:r>
              <a:rPr lang="en-US" sz="1800" b="1" dirty="0">
                <a:ea typeface="+mn-ea"/>
              </a:rPr>
              <a:t>or</a:t>
            </a:r>
            <a:r>
              <a:rPr lang="en-US" sz="1800" dirty="0">
                <a:ea typeface="+mn-ea"/>
              </a:rPr>
              <a:t>  $t4, $s1, $s5</a:t>
            </a:r>
          </a:p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sz="1800" b="1" dirty="0" err="1">
                <a:ea typeface="+mn-ea"/>
              </a:rPr>
              <a:t>sw</a:t>
            </a:r>
            <a:r>
              <a:rPr lang="en-US" sz="1800" dirty="0">
                <a:ea typeface="+mn-ea"/>
              </a:rPr>
              <a:t>  $s5, 80($s0)</a:t>
            </a:r>
          </a:p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endParaRPr lang="de-CH" dirty="0">
              <a:ea typeface="+mn-ea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27AAC5D-D487-7843-A871-E2F2A29EB7BF}"/>
              </a:ext>
            </a:extLst>
          </p:cNvPr>
          <p:cNvGraphicFramePr>
            <a:graphicFrameLocks noGrp="1" noChangeAspect="1"/>
          </p:cNvGraphicFramePr>
          <p:nvPr>
            <p:ph idx="10"/>
            <p:custDataLst>
              <p:tags r:id="rId1"/>
            </p:custDataLst>
          </p:nvPr>
        </p:nvGraphicFramePr>
        <p:xfrm>
          <a:off x="627063" y="2947988"/>
          <a:ext cx="6383337" cy="284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692600" imgH="13220700" progId="Visio.Drawing.6">
                  <p:embed/>
                </p:oleObj>
              </mc:Choice>
              <mc:Fallback>
                <p:oleObj name="VISIO" r:id="rId3" imgW="29692600" imgH="13220700" progId="Visio.Drawing.6">
                  <p:embed/>
                  <p:pic>
                    <p:nvPicPr>
                      <p:cNvPr id="3" name="Content Placeholder 2">
                        <a:extLst>
                          <a:ext uri="{FF2B5EF4-FFF2-40B4-BE49-F238E27FC236}">
                            <a16:creationId xmlns:a16="http://schemas.microsoft.com/office/drawing/2014/main" id="{C27AAC5D-D487-7843-A871-E2F2A29EB7B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2947988"/>
                        <a:ext cx="6383337" cy="284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C9079-5466-E14E-9F66-CF18BDD59A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79950" y="1223963"/>
            <a:ext cx="3870325" cy="457200"/>
          </a:xfrm>
        </p:spPr>
        <p:txBody>
          <a:bodyPr/>
          <a:lstStyle/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dirty="0">
                <a:ea typeface="+mn-ea"/>
              </a:rPr>
              <a:t>Ideal IPC =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2C78FF-0885-8C48-80EA-71AE29ED27C9}"/>
              </a:ext>
            </a:extLst>
          </p:cNvPr>
          <p:cNvSpPr txBox="1"/>
          <p:nvPr/>
        </p:nvSpPr>
        <p:spPr>
          <a:xfrm>
            <a:off x="1241425" y="6389688"/>
            <a:ext cx="6065838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4F0E2B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t>Actual IPC = 2</a:t>
            </a:r>
            <a:r>
              <a:rPr kumimoji="0" lang="de-CH" sz="2400" b="1" i="1" u="none" strike="noStrike" kern="1200" cap="none" spc="0" normalizeH="0" baseline="0" noProof="0" dirty="0">
                <a:ln>
                  <a:noFill/>
                </a:ln>
                <a:solidFill>
                  <a:srgbClr val="4F0E2B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t>(6 instructions issued in 3 cycles)</a:t>
            </a:r>
          </a:p>
        </p:txBody>
      </p:sp>
    </p:spTree>
    <p:extLst>
      <p:ext uri="{BB962C8B-B14F-4D97-AF65-F5344CB8AC3E}">
        <p14:creationId xmlns:p14="http://schemas.microsoft.com/office/powerpoint/2010/main" val="72304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4">
            <a:extLst>
              <a:ext uri="{FF2B5EF4-FFF2-40B4-BE49-F238E27FC236}">
                <a16:creationId xmlns:a16="http://schemas.microsoft.com/office/drawing/2014/main" id="{F1DA6182-D9EF-0B47-8175-3D38807C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44" y="144463"/>
            <a:ext cx="8786812" cy="762000"/>
          </a:xfrm>
        </p:spPr>
        <p:txBody>
          <a:bodyPr/>
          <a:lstStyle/>
          <a:p>
            <a:r>
              <a:rPr lang="en-US" altLang="en-US" sz="3600" dirty="0">
                <a:latin typeface="+mj-lt"/>
              </a:rPr>
              <a:t>In-Order Superscalar</a:t>
            </a:r>
            <a:r>
              <a:rPr lang="en-US" altLang="zh-CN" sz="3600" dirty="0">
                <a:latin typeface="+mj-lt"/>
              </a:rPr>
              <a:t>:</a:t>
            </a:r>
            <a:r>
              <a:rPr lang="zh-CN" altLang="en-US" sz="3600" dirty="0">
                <a:latin typeface="+mj-lt"/>
              </a:rPr>
              <a:t> </a:t>
            </a:r>
            <a:r>
              <a:rPr lang="de-CH" altLang="en-US" sz="3600" dirty="0">
                <a:latin typeface="+mj-lt"/>
              </a:rPr>
              <a:t>Dependences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BEC20-546B-8A49-B005-6FDE02BA5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0183"/>
            <a:ext cx="3870325" cy="1752600"/>
          </a:xfrm>
        </p:spPr>
        <p:txBody>
          <a:bodyPr/>
          <a:lstStyle/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sz="1800" b="1" dirty="0" err="1">
                <a:ea typeface="+mn-ea"/>
              </a:rPr>
              <a:t>lw</a:t>
            </a:r>
            <a:r>
              <a:rPr lang="en-US" sz="1800" dirty="0">
                <a:ea typeface="+mn-ea"/>
              </a:rPr>
              <a:t>  $t0, 40($s0)		</a:t>
            </a:r>
          </a:p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sz="1800" b="1" dirty="0">
                <a:ea typeface="+mn-ea"/>
              </a:rPr>
              <a:t>add</a:t>
            </a:r>
            <a:r>
              <a:rPr lang="en-US" sz="1800" dirty="0">
                <a:ea typeface="+mn-ea"/>
              </a:rPr>
              <a:t> $t1, $t0, $s1		</a:t>
            </a:r>
          </a:p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sz="1800" b="1" dirty="0">
                <a:ea typeface="+mn-ea"/>
              </a:rPr>
              <a:t>sub</a:t>
            </a:r>
            <a:r>
              <a:rPr lang="en-US" sz="1800" dirty="0">
                <a:ea typeface="+mn-ea"/>
              </a:rPr>
              <a:t> $t0, $s2, $s3		 </a:t>
            </a:r>
            <a:r>
              <a:rPr lang="en-US" sz="1800" b="1" dirty="0">
                <a:ea typeface="+mn-ea"/>
              </a:rPr>
              <a:t>and</a:t>
            </a:r>
            <a:r>
              <a:rPr lang="en-US" sz="1800" dirty="0">
                <a:ea typeface="+mn-ea"/>
              </a:rPr>
              <a:t> $t2, $s4, $t0		 </a:t>
            </a:r>
            <a:r>
              <a:rPr lang="en-US" sz="1800" b="1" dirty="0">
                <a:ea typeface="+mn-ea"/>
              </a:rPr>
              <a:t>or</a:t>
            </a:r>
            <a:r>
              <a:rPr lang="en-US" sz="1800" dirty="0">
                <a:ea typeface="+mn-ea"/>
              </a:rPr>
              <a:t>  $t3, $s5, $s6</a:t>
            </a:r>
          </a:p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sz="1800" b="1" dirty="0" err="1">
                <a:ea typeface="+mn-ea"/>
              </a:rPr>
              <a:t>sw</a:t>
            </a:r>
            <a:r>
              <a:rPr lang="en-US" sz="1800" dirty="0">
                <a:ea typeface="+mn-ea"/>
              </a:rPr>
              <a:t>  $s7, 80($t3)</a:t>
            </a:r>
          </a:p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endParaRPr lang="de-CH" dirty="0">
              <a:ea typeface="+mn-ea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CD04396-7AB3-3A4E-A420-36E0CAC374C9}"/>
              </a:ext>
            </a:extLst>
          </p:cNvPr>
          <p:cNvGraphicFramePr>
            <a:graphicFrameLocks noGrp="1" noChangeAspect="1"/>
          </p:cNvGraphicFramePr>
          <p:nvPr>
            <p:ph idx="10"/>
            <p:custDataLst>
              <p:tags r:id="rId1"/>
            </p:custDataLst>
          </p:nvPr>
        </p:nvGraphicFramePr>
        <p:xfrm>
          <a:off x="519113" y="2954338"/>
          <a:ext cx="6981825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410400" imgH="16637000" progId="Visio.Drawing.6">
                  <p:embed/>
                </p:oleObj>
              </mc:Choice>
              <mc:Fallback>
                <p:oleObj name="VISIO" r:id="rId4" imgW="32410400" imgH="16637000" progId="Visio.Drawing.6">
                  <p:embed/>
                  <p:pic>
                    <p:nvPicPr>
                      <p:cNvPr id="11" name="Content Placeholder 10">
                        <a:extLst>
                          <a:ext uri="{FF2B5EF4-FFF2-40B4-BE49-F238E27FC236}">
                            <a16:creationId xmlns:a16="http://schemas.microsoft.com/office/drawing/2014/main" id="{7CD04396-7AB3-3A4E-A420-36E0CAC374C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2954338"/>
                        <a:ext cx="6981825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2A604D-324A-E14C-9C25-5A9D5F7A7B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79950" y="1223963"/>
            <a:ext cx="3870325" cy="457200"/>
          </a:xfrm>
        </p:spPr>
        <p:txBody>
          <a:bodyPr/>
          <a:lstStyle/>
          <a:p>
            <a:pPr>
              <a:buClr>
                <a:schemeClr val="accent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 dirty="0">
                <a:ea typeface="+mn-ea"/>
              </a:rPr>
              <a:t>Ideal IPC =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F647E-22AC-9048-BFB5-C68BAF4F097F}"/>
              </a:ext>
            </a:extLst>
          </p:cNvPr>
          <p:cNvSpPr txBox="1"/>
          <p:nvPr/>
        </p:nvSpPr>
        <p:spPr>
          <a:xfrm>
            <a:off x="4572000" y="1905000"/>
            <a:ext cx="4419600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4F0E2B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t>Actual IPC = 1.2</a:t>
            </a:r>
            <a:r>
              <a:rPr kumimoji="0" lang="de-CH" sz="2400" b="1" i="1" u="none" strike="noStrike" kern="1200" cap="none" spc="0" normalizeH="0" baseline="0" noProof="0" dirty="0">
                <a:ln>
                  <a:noFill/>
                </a:ln>
                <a:solidFill>
                  <a:srgbClr val="4F0E2B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t>(6 instructions issued in 5 cycles)</a:t>
            </a:r>
          </a:p>
        </p:txBody>
      </p:sp>
    </p:spTree>
    <p:extLst>
      <p:ext uri="{BB962C8B-B14F-4D97-AF65-F5344CB8AC3E}">
        <p14:creationId xmlns:p14="http://schemas.microsoft.com/office/powerpoint/2010/main" val="298955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59DB7FBB-A57F-DA46-B367-3DADAB7F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Superscalar Execution Tradeoffs</a:t>
            </a:r>
          </a:p>
        </p:txBody>
      </p:sp>
      <p:sp>
        <p:nvSpPr>
          <p:cNvPr id="94210" name="Content Placeholder 2">
            <a:extLst>
              <a:ext uri="{FF2B5EF4-FFF2-40B4-BE49-F238E27FC236}">
                <a16:creationId xmlns:a16="http://schemas.microsoft.com/office/drawing/2014/main" id="{68310260-4BB2-2449-9017-F23CFC256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30300"/>
            <a:ext cx="8839200" cy="5270500"/>
          </a:xfrm>
        </p:spPr>
        <p:txBody>
          <a:bodyPr/>
          <a:lstStyle/>
          <a:p>
            <a:pPr>
              <a:buFont typeface="Wingdings" charset="0"/>
              <a:buChar char="n"/>
              <a:defRPr/>
            </a:pPr>
            <a:r>
              <a:rPr lang="en-US" b="1" dirty="0"/>
              <a:t>Advantages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0000FF"/>
                </a:solidFill>
              </a:rPr>
              <a:t>Higher instruction throughput </a:t>
            </a:r>
            <a:endParaRPr lang="en-US" dirty="0"/>
          </a:p>
          <a:p>
            <a:pPr lvl="2">
              <a:buFont typeface="Wingdings" charset="0"/>
              <a:buChar char="q"/>
              <a:defRPr/>
            </a:pPr>
            <a:r>
              <a:rPr lang="en-US" dirty="0"/>
              <a:t>Higher IPC: instructions per cycle (i.e., lower CPI)</a:t>
            </a:r>
          </a:p>
          <a:p>
            <a:pPr marL="0" indent="0">
              <a:buFont typeface="Wingdings" charset="0"/>
              <a:buNone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r>
              <a:rPr lang="en-US" b="1" dirty="0">
                <a:solidFill>
                  <a:srgbClr val="000000"/>
                </a:solidFill>
              </a:rPr>
              <a:t>Disadvantages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FF0000"/>
                </a:solidFill>
              </a:rPr>
              <a:t>Higher complexity for dependence checking</a:t>
            </a:r>
          </a:p>
          <a:p>
            <a:pPr lvl="2">
              <a:buFont typeface="Wingdings" charset="0"/>
              <a:buChar char="n"/>
              <a:defRPr/>
            </a:pPr>
            <a:r>
              <a:rPr lang="en-US" dirty="0">
                <a:solidFill>
                  <a:srgbClr val="000000"/>
                </a:solidFill>
              </a:rPr>
              <a:t>Require checking within a pipeline stage</a:t>
            </a:r>
          </a:p>
          <a:p>
            <a:pPr lvl="2">
              <a:buFont typeface="Wingdings" charset="0"/>
              <a:buChar char="n"/>
              <a:defRPr/>
            </a:pPr>
            <a:r>
              <a:rPr lang="en-US" dirty="0">
                <a:solidFill>
                  <a:srgbClr val="000000"/>
                </a:solidFill>
              </a:rPr>
              <a:t>Register renaming becomes more complex in an </a:t>
            </a:r>
            <a:r>
              <a:rPr lang="en-US" dirty="0" err="1">
                <a:solidFill>
                  <a:srgbClr val="000000"/>
                </a:solidFill>
              </a:rPr>
              <a:t>OoO</a:t>
            </a:r>
            <a:r>
              <a:rPr lang="en-US" dirty="0">
                <a:solidFill>
                  <a:srgbClr val="000000"/>
                </a:solidFill>
              </a:rPr>
              <a:t> processor</a:t>
            </a:r>
          </a:p>
          <a:p>
            <a:pPr lvl="2">
              <a:buFont typeface="Wingdings" charset="0"/>
              <a:buChar char="n"/>
              <a:defRPr/>
            </a:pPr>
            <a:r>
              <a:rPr lang="en-US" dirty="0">
                <a:solidFill>
                  <a:srgbClr val="000000"/>
                </a:solidFill>
              </a:rPr>
              <a:t>Potentially lengthens critical path delay </a:t>
            </a:r>
            <a:r>
              <a:rPr lang="en-US" dirty="0">
                <a:solidFill>
                  <a:srgbClr val="000000"/>
                </a:solidFill>
                <a:sym typeface="Wingdings" pitchFamily="2" charset="2"/>
              </a:rPr>
              <a:t> clock cycle time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Wingdings" charset="0"/>
              <a:buChar char="q"/>
              <a:defRPr/>
            </a:pPr>
            <a:r>
              <a:rPr lang="en-US" dirty="0">
                <a:solidFill>
                  <a:srgbClr val="FF0000"/>
                </a:solidFill>
              </a:rPr>
              <a:t>More hardware resources needed</a:t>
            </a:r>
          </a:p>
          <a:p>
            <a:pPr lvl="1">
              <a:buFont typeface="Wingdings" charset="0"/>
              <a:buChar char="q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344487" lvl="1" indent="0"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9635" name="Slide Number Placeholder 3">
            <a:extLst>
              <a:ext uri="{FF2B5EF4-FFF2-40B4-BE49-F238E27FC236}">
                <a16:creationId xmlns:a16="http://schemas.microsoft.com/office/drawing/2014/main" id="{5A1C9C6D-55CD-EE45-A11F-AD1DEFE35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691842-4F24-4840-AB6B-EF3972469FB2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4603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29A35C-8CF6-0547-BFD5-F110AFACD01B}"/>
              </a:ext>
            </a:extLst>
          </p:cNvPr>
          <p:cNvSpPr/>
          <p:nvPr/>
        </p:nvSpPr>
        <p:spPr>
          <a:xfrm>
            <a:off x="-76200" y="-152400"/>
            <a:ext cx="9220199" cy="7086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E6BAC-0812-9242-947A-0AA3CF8627B8}"/>
              </a:ext>
            </a:extLst>
          </p:cNvPr>
          <p:cNvSpPr txBox="1"/>
          <p:nvPr/>
        </p:nvSpPr>
        <p:spPr>
          <a:xfrm>
            <a:off x="1799499" y="2530848"/>
            <a:ext cx="56724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Can </a:t>
            </a:r>
            <a:r>
              <a:rPr lang="en-US" altLang="zh-CN" sz="3200" dirty="0">
                <a:solidFill>
                  <a:srgbClr val="00B0F0"/>
                </a:solidFill>
              </a:rPr>
              <a:t>superscalar</a:t>
            </a:r>
            <a:r>
              <a:rPr lang="en-US" altLang="zh-CN" sz="3200" dirty="0">
                <a:solidFill>
                  <a:schemeClr val="bg1"/>
                </a:solidFill>
              </a:rPr>
              <a:t> tech affect the result in Roofline model?</a:t>
            </a:r>
          </a:p>
        </p:txBody>
      </p:sp>
    </p:spTree>
    <p:extLst>
      <p:ext uri="{BB962C8B-B14F-4D97-AF65-F5344CB8AC3E}">
        <p14:creationId xmlns:p14="http://schemas.microsoft.com/office/powerpoint/2010/main" val="12049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18381645-F81C-B642-9A3C-1125B8A50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Outline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11999A4A-8D8C-0542-9D21-8306EAFE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56260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Superscalar</a:t>
            </a:r>
          </a:p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Vector </a:t>
            </a:r>
            <a:r>
              <a:rPr lang="en-US" altLang="zh-CN" dirty="0" err="1">
                <a:solidFill>
                  <a:srgbClr val="0432FF"/>
                </a:solidFill>
                <a:ea typeface="ＭＳ Ｐゴシック" charset="-128"/>
              </a:rPr>
              <a:t>Insn</a:t>
            </a:r>
            <a:endParaRPr lang="en-US" altLang="zh-CN" dirty="0">
              <a:solidFill>
                <a:srgbClr val="0432FF"/>
              </a:solidFill>
              <a:ea typeface="ＭＳ Ｐゴシック" charset="-128"/>
            </a:endParaRPr>
          </a:p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Multithreading</a:t>
            </a:r>
          </a:p>
          <a:p>
            <a:pPr>
              <a:buFont typeface="Wingdings" charset="2"/>
              <a:buChar char="n"/>
              <a:defRPr/>
            </a:pP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Multi-core</a:t>
            </a:r>
          </a:p>
          <a:p>
            <a:pPr>
              <a:buFont typeface="Wingdings" charset="2"/>
              <a:buChar char="n"/>
              <a:defRPr/>
            </a:pPr>
            <a:endParaRPr lang="en-US" altLang="en-US" dirty="0">
              <a:solidFill>
                <a:srgbClr val="0432FF"/>
              </a:solidFill>
              <a:ea typeface="ＭＳ Ｐゴシック" charset="-128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129D015-4946-2A40-BB1A-9A51A871D4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E5F7BB-0E5D-4B48-AE6E-CE7CFCFC942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E509C070-0638-42D9-99CF-EFBC0E96F12C}"/>
              </a:ext>
            </a:extLst>
          </p:cNvPr>
          <p:cNvSpPr/>
          <p:nvPr/>
        </p:nvSpPr>
        <p:spPr>
          <a:xfrm flipV="1">
            <a:off x="333703" y="6096000"/>
            <a:ext cx="6375009" cy="76200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FAA66FA9-99AC-4993-89DD-CB50523FFC3D}"/>
              </a:ext>
            </a:extLst>
          </p:cNvPr>
          <p:cNvSpPr/>
          <p:nvPr/>
        </p:nvSpPr>
        <p:spPr>
          <a:xfrm>
            <a:off x="228600" y="1752600"/>
            <a:ext cx="6375009" cy="962354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0501CD80-CB1B-4AF4-8249-F3E93098C141}"/>
              </a:ext>
            </a:extLst>
          </p:cNvPr>
          <p:cNvSpPr/>
          <p:nvPr/>
        </p:nvSpPr>
        <p:spPr>
          <a:xfrm>
            <a:off x="333702" y="972973"/>
            <a:ext cx="6375009" cy="398627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00030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D628945-17F0-4C77-92EF-696630C9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38" y="908019"/>
            <a:ext cx="9144000" cy="523836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751EBB-48F2-4EBC-BFD3-511916AA9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630988" y="6330394"/>
            <a:ext cx="2133600" cy="457200"/>
          </a:xfrm>
        </p:spPr>
        <p:txBody>
          <a:bodyPr/>
          <a:lstStyle/>
          <a:p>
            <a:pPr>
              <a:defRPr/>
            </a:pPr>
            <a:fld id="{753DEEF8-87BA-7144-9648-F84693A6E11D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157" name="Rectangle 36">
            <a:extLst>
              <a:ext uri="{FF2B5EF4-FFF2-40B4-BE49-F238E27FC236}">
                <a16:creationId xmlns:a16="http://schemas.microsoft.com/office/drawing/2014/main" id="{24589136-D5B5-41F9-AC76-5B4107FF66CB}"/>
              </a:ext>
            </a:extLst>
          </p:cNvPr>
          <p:cNvSpPr/>
          <p:nvPr/>
        </p:nvSpPr>
        <p:spPr>
          <a:xfrm>
            <a:off x="3886200" y="1981200"/>
            <a:ext cx="8382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itle 1">
            <a:extLst>
              <a:ext uri="{FF2B5EF4-FFF2-40B4-BE49-F238E27FC236}">
                <a16:creationId xmlns:a16="http://schemas.microsoft.com/office/drawing/2014/main" id="{9D44D825-827C-4862-B6D5-ADA7CEAD3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Where Are We?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60825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A806C63C-6ACD-C740-828C-E8F3C4F9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Flynn’</a:t>
            </a:r>
            <a:r>
              <a:rPr lang="en-US" altLang="ja-JP" dirty="0">
                <a:ea typeface="ＭＳ Ｐゴシック" panose="020B0600070205080204" pitchFamily="34" charset="-128"/>
              </a:rPr>
              <a:t>s Taxonomy of Computers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088E1453-624C-254D-B33C-B28B92586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4337050"/>
          </a:xfrm>
        </p:spPr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SISD</a:t>
            </a:r>
            <a:r>
              <a:rPr lang="en-US" altLang="en-US" dirty="0">
                <a:ea typeface="ＭＳ Ｐゴシック" panose="020B0600070205080204" pitchFamily="34" charset="-128"/>
              </a:rPr>
              <a:t>: Single instruction operates on single data element</a:t>
            </a: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SIMD</a:t>
            </a:r>
            <a:r>
              <a:rPr lang="en-US" altLang="en-US" dirty="0">
                <a:ea typeface="ＭＳ Ｐゴシック" panose="020B0600070205080204" pitchFamily="34" charset="-128"/>
              </a:rPr>
              <a:t>: Single instruction operates on multiple data elements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Array processor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Vector processor</a:t>
            </a: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MISD</a:t>
            </a:r>
            <a:r>
              <a:rPr lang="en-US" altLang="en-US" dirty="0">
                <a:ea typeface="ＭＳ Ｐゴシック" panose="020B0600070205080204" pitchFamily="34" charset="-128"/>
              </a:rPr>
              <a:t>: Multiple instructions operate on single data element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Closest form: systolic array processor, streaming processor</a:t>
            </a: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MIMD</a:t>
            </a:r>
            <a:r>
              <a:rPr lang="en-US" altLang="en-US" dirty="0">
                <a:ea typeface="ＭＳ Ｐゴシック" panose="020B0600070205080204" pitchFamily="34" charset="-128"/>
              </a:rPr>
              <a:t>: Multiple instructions operate on multiple data elements (multiple instruction streams)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Multiprocessor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Multithreaded processor</a:t>
            </a:r>
          </a:p>
        </p:txBody>
      </p:sp>
      <p:sp>
        <p:nvSpPr>
          <p:cNvPr id="83971" name="Slide Number Placeholder 3">
            <a:extLst>
              <a:ext uri="{FF2B5EF4-FFF2-40B4-BE49-F238E27FC236}">
                <a16:creationId xmlns:a16="http://schemas.microsoft.com/office/drawing/2014/main" id="{A5C4C039-DB0E-224A-8256-65C827EBF6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060815-FC1A-FF4B-8157-96B18EDFF55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FB7BB7-0F91-4C88-B4EF-A5887CEFF2D3}"/>
              </a:ext>
            </a:extLst>
          </p:cNvPr>
          <p:cNvSpPr/>
          <p:nvPr/>
        </p:nvSpPr>
        <p:spPr>
          <a:xfrm>
            <a:off x="762000" y="5993884"/>
            <a:ext cx="8453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Mike Flynn, </a:t>
            </a:r>
            <a:r>
              <a:rPr lang="ja-JP" altLang="en-US" dirty="0"/>
              <a:t>“</a:t>
            </a:r>
            <a:r>
              <a:rPr lang="en-US" altLang="ja-JP" dirty="0"/>
              <a:t>Very High-Speed Computing Systems,</a:t>
            </a:r>
            <a:r>
              <a:rPr lang="ja-JP" altLang="en-US" dirty="0"/>
              <a:t>”</a:t>
            </a:r>
            <a:r>
              <a:rPr lang="en-US" altLang="ja-JP" dirty="0"/>
              <a:t> Proc. of IEEE, 1966</a:t>
            </a:r>
          </a:p>
        </p:txBody>
      </p:sp>
    </p:spTree>
    <p:extLst>
      <p:ext uri="{BB962C8B-B14F-4D97-AF65-F5344CB8AC3E}">
        <p14:creationId xmlns:p14="http://schemas.microsoft.com/office/powerpoint/2010/main" val="38186843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A806C63C-6ACD-C740-828C-E8F3C4F9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zh-CN" sz="3200" dirty="0"/>
              <a:t>Single-Instruction/Single-Data Stream (SISD)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088E1453-624C-254D-B33C-B28B92586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06" y="4133851"/>
            <a:ext cx="8915400" cy="2222486"/>
          </a:xfrm>
        </p:spPr>
        <p:txBody>
          <a:bodyPr/>
          <a:lstStyle/>
          <a:p>
            <a:r>
              <a:rPr lang="en-US" altLang="zh-CN" b="1" dirty="0"/>
              <a:t>SISD</a:t>
            </a:r>
            <a:r>
              <a:rPr lang="en-US" altLang="zh-CN" dirty="0"/>
              <a:t> computer that exploits no parallelism in either the instruction or data streams. </a:t>
            </a:r>
          </a:p>
          <a:p>
            <a:r>
              <a:rPr lang="en-US" altLang="zh-CN" dirty="0"/>
              <a:t>Examples of SISD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traditional uniprocessor machines, e</a:t>
            </a:r>
            <a:r>
              <a:rPr lang="en-US" altLang="zh-CN" sz="2000" dirty="0"/>
              <a:t>.g. our trusted RISC-V pipeline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3971" name="Slide Number Placeholder 3">
            <a:extLst>
              <a:ext uri="{FF2B5EF4-FFF2-40B4-BE49-F238E27FC236}">
                <a16:creationId xmlns:a16="http://schemas.microsoft.com/office/drawing/2014/main" id="{A5C4C039-DB0E-224A-8256-65C827EBF6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060815-FC1A-FF4B-8157-96B18EDFF55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ACE03AB-9CCA-49F2-8293-BF8BE3A2AA0D}"/>
              </a:ext>
            </a:extLst>
          </p:cNvPr>
          <p:cNvSpPr/>
          <p:nvPr/>
        </p:nvSpPr>
        <p:spPr>
          <a:xfrm>
            <a:off x="3733800" y="1219200"/>
            <a:ext cx="2438400" cy="342900"/>
          </a:xfrm>
          <a:prstGeom prst="rect">
            <a:avLst/>
          </a:prstGeom>
          <a:solidFill>
            <a:srgbClr val="CCFCC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Instruction Pool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EFF528C4-3DB6-41F3-8B2E-D9A6D296234A}"/>
              </a:ext>
            </a:extLst>
          </p:cNvPr>
          <p:cNvSpPr/>
          <p:nvPr/>
        </p:nvSpPr>
        <p:spPr>
          <a:xfrm>
            <a:off x="4419600" y="2533650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56A69971-D864-4438-8314-8E2DF6C834E7}"/>
              </a:ext>
            </a:extLst>
          </p:cNvPr>
          <p:cNvSpPr/>
          <p:nvPr/>
        </p:nvSpPr>
        <p:spPr>
          <a:xfrm rot="16200000">
            <a:off x="2162175" y="2733675"/>
            <a:ext cx="1771650" cy="457200"/>
          </a:xfrm>
          <a:prstGeom prst="rect">
            <a:avLst/>
          </a:prstGeom>
          <a:solidFill>
            <a:srgbClr val="CCCCF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Data Pool</a:t>
            </a:r>
          </a:p>
        </p:txBody>
      </p:sp>
      <p:cxnSp>
        <p:nvCxnSpPr>
          <p:cNvPr id="13" name="Straight Arrow Connector 22">
            <a:extLst>
              <a:ext uri="{FF2B5EF4-FFF2-40B4-BE49-F238E27FC236}">
                <a16:creationId xmlns:a16="http://schemas.microsoft.com/office/drawing/2014/main" id="{3A577831-1DCB-458B-A5B2-67605D8F58A2}"/>
              </a:ext>
            </a:extLst>
          </p:cNvPr>
          <p:cNvCxnSpPr>
            <a:endCxn id="8" idx="1"/>
          </p:cNvCxnSpPr>
          <p:nvPr/>
        </p:nvCxnSpPr>
        <p:spPr>
          <a:xfrm>
            <a:off x="3276600" y="2676525"/>
            <a:ext cx="1143000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37">
            <a:extLst>
              <a:ext uri="{FF2B5EF4-FFF2-40B4-BE49-F238E27FC236}">
                <a16:creationId xmlns:a16="http://schemas.microsoft.com/office/drawing/2014/main" id="{1BD40825-02EA-4DF9-AF9E-53ECEAEECBF0}"/>
              </a:ext>
            </a:extLst>
          </p:cNvPr>
          <p:cNvCxnSpPr/>
          <p:nvPr/>
        </p:nvCxnSpPr>
        <p:spPr>
          <a:xfrm rot="5400000">
            <a:off x="4162425" y="2047677"/>
            <a:ext cx="97155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1149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A806C63C-6ACD-C740-828C-E8F3C4F9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zh-CN" sz="3200" dirty="0"/>
              <a:t>Single-Instruction/Multiple-Data (SIMD or “sim-dee”)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088E1453-624C-254D-B33C-B28B92586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" y="4060920"/>
            <a:ext cx="9220201" cy="2257330"/>
          </a:xfrm>
        </p:spPr>
        <p:txBody>
          <a:bodyPr/>
          <a:lstStyle/>
          <a:p>
            <a:r>
              <a:rPr lang="en-US" altLang="zh-CN" b="1" dirty="0"/>
              <a:t>SIMD</a:t>
            </a:r>
            <a:r>
              <a:rPr lang="en-US" altLang="zh-CN" dirty="0"/>
              <a:t> computer exploits multiple data streams against a single instruction stream to operations that are naturally parallelized.</a:t>
            </a:r>
          </a:p>
          <a:p>
            <a:r>
              <a:rPr lang="en-US" altLang="zh-CN" dirty="0"/>
              <a:t>Examples of SIMD:</a:t>
            </a:r>
          </a:p>
          <a:p>
            <a:pPr lvl="1"/>
            <a:r>
              <a:rPr lang="en-US" altLang="zh-CN" dirty="0"/>
              <a:t>Intel SIMD instruction extensions</a:t>
            </a:r>
          </a:p>
          <a:p>
            <a:pPr lvl="1"/>
            <a:r>
              <a:rPr lang="en-US" altLang="zh-CN" dirty="0"/>
              <a:t>AMD, PowerPC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3971" name="Slide Number Placeholder 3">
            <a:extLst>
              <a:ext uri="{FF2B5EF4-FFF2-40B4-BE49-F238E27FC236}">
                <a16:creationId xmlns:a16="http://schemas.microsoft.com/office/drawing/2014/main" id="{A5C4C039-DB0E-224A-8256-65C827EBF6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060815-FC1A-FF4B-8157-96B18EDFF55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7732FA8-F137-4BC9-919A-0ACF47B036C2}"/>
              </a:ext>
            </a:extLst>
          </p:cNvPr>
          <p:cNvSpPr/>
          <p:nvPr/>
        </p:nvSpPr>
        <p:spPr>
          <a:xfrm>
            <a:off x="3657600" y="1219200"/>
            <a:ext cx="2438400" cy="342900"/>
          </a:xfrm>
          <a:prstGeom prst="rect">
            <a:avLst/>
          </a:prstGeom>
          <a:solidFill>
            <a:srgbClr val="CCFCC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Instruction Pool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28124B34-CD7B-43C3-8B10-93DF78122575}"/>
              </a:ext>
            </a:extLst>
          </p:cNvPr>
          <p:cNvSpPr/>
          <p:nvPr/>
        </p:nvSpPr>
        <p:spPr>
          <a:xfrm>
            <a:off x="4844731" y="2137668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0CE497D-E1EE-4E44-9C46-9A1BBF196A98}"/>
              </a:ext>
            </a:extLst>
          </p:cNvPr>
          <p:cNvSpPr/>
          <p:nvPr/>
        </p:nvSpPr>
        <p:spPr>
          <a:xfrm>
            <a:off x="4862586" y="2564962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DE6A6E88-1C0A-4669-BD6F-43A5E754BD4E}"/>
              </a:ext>
            </a:extLst>
          </p:cNvPr>
          <p:cNvSpPr/>
          <p:nvPr/>
        </p:nvSpPr>
        <p:spPr>
          <a:xfrm>
            <a:off x="4876800" y="3048000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73393A10-EEC4-40E3-9739-BDCB6DC0C31B}"/>
              </a:ext>
            </a:extLst>
          </p:cNvPr>
          <p:cNvSpPr/>
          <p:nvPr/>
        </p:nvSpPr>
        <p:spPr>
          <a:xfrm>
            <a:off x="4889523" y="3528191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10378839-1456-4AB9-8D86-F0B01EA7246F}"/>
              </a:ext>
            </a:extLst>
          </p:cNvPr>
          <p:cNvSpPr/>
          <p:nvPr/>
        </p:nvSpPr>
        <p:spPr>
          <a:xfrm rot="16200000">
            <a:off x="2085975" y="2733675"/>
            <a:ext cx="1771650" cy="457200"/>
          </a:xfrm>
          <a:prstGeom prst="rect">
            <a:avLst/>
          </a:prstGeom>
          <a:solidFill>
            <a:srgbClr val="CCCCF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Data Pool</a:t>
            </a:r>
          </a:p>
        </p:txBody>
      </p:sp>
      <p:cxnSp>
        <p:nvCxnSpPr>
          <p:cNvPr id="13" name="Straight Arrow Connector 17">
            <a:extLst>
              <a:ext uri="{FF2B5EF4-FFF2-40B4-BE49-F238E27FC236}">
                <a16:creationId xmlns:a16="http://schemas.microsoft.com/office/drawing/2014/main" id="{71E85CAF-866C-4C2E-97BA-F83F740128CA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200400" y="2265363"/>
            <a:ext cx="1644331" cy="1518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2">
            <a:extLst>
              <a:ext uri="{FF2B5EF4-FFF2-40B4-BE49-F238E27FC236}">
                <a16:creationId xmlns:a16="http://schemas.microsoft.com/office/drawing/2014/main" id="{31A4C4C0-0AC7-40BB-B40F-00187110A1A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200400" y="2707837"/>
            <a:ext cx="1662186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127D9F08-6CCE-4DC3-8F3E-AF9B0D6B7AA8}"/>
              </a:ext>
            </a:extLst>
          </p:cNvPr>
          <p:cNvCxnSpPr>
            <a:endCxn id="10" idx="1"/>
          </p:cNvCxnSpPr>
          <p:nvPr/>
        </p:nvCxnSpPr>
        <p:spPr>
          <a:xfrm>
            <a:off x="3200400" y="3190281"/>
            <a:ext cx="1676400" cy="59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26">
            <a:extLst>
              <a:ext uri="{FF2B5EF4-FFF2-40B4-BE49-F238E27FC236}">
                <a16:creationId xmlns:a16="http://schemas.microsoft.com/office/drawing/2014/main" id="{DFBB2485-9B75-4D1C-965F-757D6C7F4FB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00400" y="3662064"/>
            <a:ext cx="1689123" cy="900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34">
            <a:extLst>
              <a:ext uri="{FF2B5EF4-FFF2-40B4-BE49-F238E27FC236}">
                <a16:creationId xmlns:a16="http://schemas.microsoft.com/office/drawing/2014/main" id="{8DCBB3E6-08D2-42DA-A819-3091F05A9B72}"/>
              </a:ext>
            </a:extLst>
          </p:cNvPr>
          <p:cNvCxnSpPr>
            <a:cxnSpLocks/>
          </p:cNvCxnSpPr>
          <p:nvPr/>
        </p:nvCxnSpPr>
        <p:spPr>
          <a:xfrm flipH="1" flipV="1">
            <a:off x="5319786" y="2292094"/>
            <a:ext cx="410319" cy="132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43">
            <a:extLst>
              <a:ext uri="{FF2B5EF4-FFF2-40B4-BE49-F238E27FC236}">
                <a16:creationId xmlns:a16="http://schemas.microsoft.com/office/drawing/2014/main" id="{7E54ECB3-814D-4AB1-A5EC-0EEB5809D7C9}"/>
              </a:ext>
            </a:extLst>
          </p:cNvPr>
          <p:cNvCxnSpPr>
            <a:cxnSpLocks/>
          </p:cNvCxnSpPr>
          <p:nvPr/>
        </p:nvCxnSpPr>
        <p:spPr>
          <a:xfrm>
            <a:off x="5730105" y="1571576"/>
            <a:ext cx="14214" cy="2090488"/>
          </a:xfrm>
          <a:prstGeom prst="straightConnector1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34">
            <a:extLst>
              <a:ext uri="{FF2B5EF4-FFF2-40B4-BE49-F238E27FC236}">
                <a16:creationId xmlns:a16="http://schemas.microsoft.com/office/drawing/2014/main" id="{3B90B6F8-95FA-4012-A1CA-A7360647FC09}"/>
              </a:ext>
            </a:extLst>
          </p:cNvPr>
          <p:cNvCxnSpPr>
            <a:cxnSpLocks/>
          </p:cNvCxnSpPr>
          <p:nvPr/>
        </p:nvCxnSpPr>
        <p:spPr>
          <a:xfrm flipH="1">
            <a:off x="5308529" y="2707837"/>
            <a:ext cx="421576" cy="507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4">
            <a:extLst>
              <a:ext uri="{FF2B5EF4-FFF2-40B4-BE49-F238E27FC236}">
                <a16:creationId xmlns:a16="http://schemas.microsoft.com/office/drawing/2014/main" id="{340346A6-30AA-44AB-98C1-75DA7F181BAE}"/>
              </a:ext>
            </a:extLst>
          </p:cNvPr>
          <p:cNvCxnSpPr>
            <a:cxnSpLocks/>
          </p:cNvCxnSpPr>
          <p:nvPr/>
        </p:nvCxnSpPr>
        <p:spPr>
          <a:xfrm flipH="1" flipV="1">
            <a:off x="5334000" y="3188954"/>
            <a:ext cx="410319" cy="132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4">
            <a:extLst>
              <a:ext uri="{FF2B5EF4-FFF2-40B4-BE49-F238E27FC236}">
                <a16:creationId xmlns:a16="http://schemas.microsoft.com/office/drawing/2014/main" id="{387A08D0-9311-40B1-9613-DCC26CEBCDD8}"/>
              </a:ext>
            </a:extLst>
          </p:cNvPr>
          <p:cNvCxnSpPr>
            <a:cxnSpLocks/>
          </p:cNvCxnSpPr>
          <p:nvPr/>
        </p:nvCxnSpPr>
        <p:spPr>
          <a:xfrm flipH="1" flipV="1">
            <a:off x="5341590" y="3669035"/>
            <a:ext cx="410319" cy="132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92762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A806C63C-6ACD-C740-828C-E8F3C4F9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8600"/>
            <a:ext cx="9144000" cy="1066800"/>
          </a:xfrm>
        </p:spPr>
        <p:txBody>
          <a:bodyPr/>
          <a:lstStyle/>
          <a:p>
            <a:r>
              <a:rPr lang="en-US" altLang="zh-CN" sz="3200" dirty="0"/>
              <a:t>Multi-Instruction/Multiple-Data (MIMD or “</a:t>
            </a:r>
            <a:r>
              <a:rPr lang="en-US" altLang="zh-CN" sz="3200" dirty="0" err="1"/>
              <a:t>mim</a:t>
            </a:r>
            <a:r>
              <a:rPr lang="en-US" altLang="zh-CN" sz="3200" dirty="0"/>
              <a:t>-dee”)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088E1453-624C-254D-B33C-B28B92586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999308"/>
            <a:ext cx="8727281" cy="2359234"/>
          </a:xfrm>
        </p:spPr>
        <p:txBody>
          <a:bodyPr/>
          <a:lstStyle/>
          <a:p>
            <a:r>
              <a:rPr lang="en-US" altLang="zh-CN" b="1" dirty="0"/>
              <a:t>MIMD</a:t>
            </a:r>
            <a:r>
              <a:rPr lang="en-US" altLang="zh-CN" dirty="0"/>
              <a:t> computer exploits a number of processors that function asynchronously and independently for parallelism. At any time, different processors may be executing different instructions on different pieces of data.</a:t>
            </a:r>
          </a:p>
          <a:p>
            <a:r>
              <a:rPr lang="en-US" altLang="zh-CN" dirty="0"/>
              <a:t>Example of MIMD: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Intel Xeon Phi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3971" name="Slide Number Placeholder 3">
            <a:extLst>
              <a:ext uri="{FF2B5EF4-FFF2-40B4-BE49-F238E27FC236}">
                <a16:creationId xmlns:a16="http://schemas.microsoft.com/office/drawing/2014/main" id="{A5C4C039-DB0E-224A-8256-65C827EBF6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060815-FC1A-FF4B-8157-96B18EDFF55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9D98752-8D7E-403E-8762-8762D5821BA2}"/>
              </a:ext>
            </a:extLst>
          </p:cNvPr>
          <p:cNvSpPr/>
          <p:nvPr/>
        </p:nvSpPr>
        <p:spPr>
          <a:xfrm>
            <a:off x="3429000" y="1123950"/>
            <a:ext cx="2438400" cy="342900"/>
          </a:xfrm>
          <a:prstGeom prst="rect">
            <a:avLst/>
          </a:prstGeom>
          <a:solidFill>
            <a:srgbClr val="CCFCC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Instruction Pool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FC2852F7-B85F-4801-B1B5-7D4203B85AB2}"/>
              </a:ext>
            </a:extLst>
          </p:cNvPr>
          <p:cNvSpPr/>
          <p:nvPr/>
        </p:nvSpPr>
        <p:spPr>
          <a:xfrm>
            <a:off x="3581400" y="1981200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6B24F00-9BB7-43D5-967D-ACCDD2DA9501}"/>
              </a:ext>
            </a:extLst>
          </p:cNvPr>
          <p:cNvSpPr/>
          <p:nvPr/>
        </p:nvSpPr>
        <p:spPr>
          <a:xfrm>
            <a:off x="4114800" y="2438400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DAA67DB-6112-4A2D-AA04-B663253A7E59}"/>
              </a:ext>
            </a:extLst>
          </p:cNvPr>
          <p:cNvSpPr/>
          <p:nvPr/>
        </p:nvSpPr>
        <p:spPr>
          <a:xfrm>
            <a:off x="4648200" y="2952750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49248B31-506D-43A5-AF44-FB43317CFC44}"/>
              </a:ext>
            </a:extLst>
          </p:cNvPr>
          <p:cNvSpPr/>
          <p:nvPr/>
        </p:nvSpPr>
        <p:spPr>
          <a:xfrm>
            <a:off x="5181600" y="3467100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BB561C06-62A7-4CA2-8D65-B7441AD026DB}"/>
              </a:ext>
            </a:extLst>
          </p:cNvPr>
          <p:cNvSpPr/>
          <p:nvPr/>
        </p:nvSpPr>
        <p:spPr>
          <a:xfrm rot="16200000">
            <a:off x="1857375" y="2638425"/>
            <a:ext cx="1771650" cy="457200"/>
          </a:xfrm>
          <a:prstGeom prst="rect">
            <a:avLst/>
          </a:prstGeom>
          <a:solidFill>
            <a:srgbClr val="CCCCF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Data Pool</a:t>
            </a:r>
          </a:p>
        </p:txBody>
      </p:sp>
      <p:cxnSp>
        <p:nvCxnSpPr>
          <p:cNvPr id="13" name="Straight Arrow Connector 17">
            <a:extLst>
              <a:ext uri="{FF2B5EF4-FFF2-40B4-BE49-F238E27FC236}">
                <a16:creationId xmlns:a16="http://schemas.microsoft.com/office/drawing/2014/main" id="{D6F05996-15E6-48FD-A763-5A0F13690C70}"/>
              </a:ext>
            </a:extLst>
          </p:cNvPr>
          <p:cNvCxnSpPr>
            <a:endCxn id="8" idx="1"/>
          </p:cNvCxnSpPr>
          <p:nvPr/>
        </p:nvCxnSpPr>
        <p:spPr>
          <a:xfrm>
            <a:off x="2971800" y="2124075"/>
            <a:ext cx="609600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2">
            <a:extLst>
              <a:ext uri="{FF2B5EF4-FFF2-40B4-BE49-F238E27FC236}">
                <a16:creationId xmlns:a16="http://schemas.microsoft.com/office/drawing/2014/main" id="{1C05B698-80DF-4081-ACF5-C53125F43D0F}"/>
              </a:ext>
            </a:extLst>
          </p:cNvPr>
          <p:cNvCxnSpPr>
            <a:endCxn id="9" idx="1"/>
          </p:cNvCxnSpPr>
          <p:nvPr/>
        </p:nvCxnSpPr>
        <p:spPr>
          <a:xfrm>
            <a:off x="2971800" y="2581275"/>
            <a:ext cx="1143000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F812FA53-AA2D-48A0-9ACB-FA237703D132}"/>
              </a:ext>
            </a:extLst>
          </p:cNvPr>
          <p:cNvCxnSpPr>
            <a:endCxn id="10" idx="1"/>
          </p:cNvCxnSpPr>
          <p:nvPr/>
        </p:nvCxnSpPr>
        <p:spPr>
          <a:xfrm>
            <a:off x="2971800" y="3095031"/>
            <a:ext cx="1676400" cy="59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26">
            <a:extLst>
              <a:ext uri="{FF2B5EF4-FFF2-40B4-BE49-F238E27FC236}">
                <a16:creationId xmlns:a16="http://schemas.microsoft.com/office/drawing/2014/main" id="{D8ED1452-3540-4E7D-96D3-3F76446342FC}"/>
              </a:ext>
            </a:extLst>
          </p:cNvPr>
          <p:cNvCxnSpPr>
            <a:endCxn id="11" idx="1"/>
          </p:cNvCxnSpPr>
          <p:nvPr/>
        </p:nvCxnSpPr>
        <p:spPr>
          <a:xfrm>
            <a:off x="2971800" y="3609379"/>
            <a:ext cx="2209800" cy="59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34">
            <a:extLst>
              <a:ext uri="{FF2B5EF4-FFF2-40B4-BE49-F238E27FC236}">
                <a16:creationId xmlns:a16="http://schemas.microsoft.com/office/drawing/2014/main" id="{E1AD1AA6-CE1E-4D58-833C-42EB93847B8A}"/>
              </a:ext>
            </a:extLst>
          </p:cNvPr>
          <p:cNvCxnSpPr>
            <a:endCxn id="8" idx="0"/>
          </p:cNvCxnSpPr>
          <p:nvPr/>
        </p:nvCxnSpPr>
        <p:spPr>
          <a:xfrm rot="5400000">
            <a:off x="3552825" y="1723827"/>
            <a:ext cx="51435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37">
            <a:extLst>
              <a:ext uri="{FF2B5EF4-FFF2-40B4-BE49-F238E27FC236}">
                <a16:creationId xmlns:a16="http://schemas.microsoft.com/office/drawing/2014/main" id="{C51A001A-DF06-4A37-87AE-05F4B756FCB6}"/>
              </a:ext>
            </a:extLst>
          </p:cNvPr>
          <p:cNvCxnSpPr/>
          <p:nvPr/>
        </p:nvCxnSpPr>
        <p:spPr>
          <a:xfrm rot="5400000">
            <a:off x="3857625" y="1952427"/>
            <a:ext cx="97155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39">
            <a:extLst>
              <a:ext uri="{FF2B5EF4-FFF2-40B4-BE49-F238E27FC236}">
                <a16:creationId xmlns:a16="http://schemas.microsoft.com/office/drawing/2014/main" id="{980B9007-D204-4D9A-958E-E398CFE589C3}"/>
              </a:ext>
            </a:extLst>
          </p:cNvPr>
          <p:cNvCxnSpPr>
            <a:endCxn id="10" idx="0"/>
          </p:cNvCxnSpPr>
          <p:nvPr/>
        </p:nvCxnSpPr>
        <p:spPr>
          <a:xfrm rot="5400000">
            <a:off x="4133850" y="2209602"/>
            <a:ext cx="14859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43">
            <a:extLst>
              <a:ext uri="{FF2B5EF4-FFF2-40B4-BE49-F238E27FC236}">
                <a16:creationId xmlns:a16="http://schemas.microsoft.com/office/drawing/2014/main" id="{C60722F8-21BF-4D40-B2A2-DE4010EA1899}"/>
              </a:ext>
            </a:extLst>
          </p:cNvPr>
          <p:cNvCxnSpPr>
            <a:endCxn id="11" idx="0"/>
          </p:cNvCxnSpPr>
          <p:nvPr/>
        </p:nvCxnSpPr>
        <p:spPr>
          <a:xfrm rot="5400000">
            <a:off x="4410075" y="2466777"/>
            <a:ext cx="200025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6316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A806C63C-6ACD-C740-828C-E8F3C4F9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8600"/>
            <a:ext cx="9144000" cy="1066800"/>
          </a:xfrm>
        </p:spPr>
        <p:txBody>
          <a:bodyPr/>
          <a:lstStyle/>
          <a:p>
            <a:r>
              <a:rPr lang="en-US" altLang="zh-CN" sz="3200" dirty="0"/>
              <a:t>Multiple-Instruction/Single-Data Stream (MISD)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088E1453-624C-254D-B33C-B28B92586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42" y="4027151"/>
            <a:ext cx="7772391" cy="2291083"/>
          </a:xfrm>
        </p:spPr>
        <p:txBody>
          <a:bodyPr/>
          <a:lstStyle/>
          <a:p>
            <a:r>
              <a:rPr lang="en-US" altLang="zh-CN" b="1" dirty="0"/>
              <a:t>MISD</a:t>
            </a:r>
            <a:r>
              <a:rPr lang="en-US" altLang="zh-CN" dirty="0"/>
              <a:t> computer exploits multiple instruction streams against a single data stream.</a:t>
            </a:r>
          </a:p>
          <a:p>
            <a:r>
              <a:rPr lang="en-US" altLang="zh-CN" dirty="0"/>
              <a:t>Example of MISD:</a:t>
            </a:r>
          </a:p>
          <a:p>
            <a:pPr lvl="1"/>
            <a:r>
              <a:rPr lang="en-US" altLang="zh-CN" dirty="0"/>
              <a:t>Historical significance,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Systolic array processor,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Streaming processor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3971" name="Slide Number Placeholder 3">
            <a:extLst>
              <a:ext uri="{FF2B5EF4-FFF2-40B4-BE49-F238E27FC236}">
                <a16:creationId xmlns:a16="http://schemas.microsoft.com/office/drawing/2014/main" id="{A5C4C039-DB0E-224A-8256-65C827EBF6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060815-FC1A-FF4B-8157-96B18EDFF55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9D98752-8D7E-403E-8762-8762D5821BA2}"/>
              </a:ext>
            </a:extLst>
          </p:cNvPr>
          <p:cNvSpPr/>
          <p:nvPr/>
        </p:nvSpPr>
        <p:spPr>
          <a:xfrm>
            <a:off x="3733800" y="1312524"/>
            <a:ext cx="2438400" cy="342900"/>
          </a:xfrm>
          <a:prstGeom prst="rect">
            <a:avLst/>
          </a:prstGeom>
          <a:solidFill>
            <a:srgbClr val="CCFCC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Instruction Pool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FC2852F7-B85F-4801-B1B5-7D4203B85AB2}"/>
              </a:ext>
            </a:extLst>
          </p:cNvPr>
          <p:cNvSpPr/>
          <p:nvPr/>
        </p:nvSpPr>
        <p:spPr>
          <a:xfrm>
            <a:off x="4110037" y="2341227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DAA67DB-6112-4A2D-AA04-B663253A7E59}"/>
              </a:ext>
            </a:extLst>
          </p:cNvPr>
          <p:cNvSpPr/>
          <p:nvPr/>
        </p:nvSpPr>
        <p:spPr>
          <a:xfrm>
            <a:off x="4841480" y="2912724"/>
            <a:ext cx="457200" cy="285750"/>
          </a:xfrm>
          <a:prstGeom prst="rect">
            <a:avLst/>
          </a:prstGeom>
          <a:solidFill>
            <a:srgbClr val="FFCC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PU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BB561C06-62A7-4CA2-8D65-B7441AD026DB}"/>
              </a:ext>
            </a:extLst>
          </p:cNvPr>
          <p:cNvSpPr/>
          <p:nvPr/>
        </p:nvSpPr>
        <p:spPr>
          <a:xfrm rot="16200000">
            <a:off x="2109985" y="2741873"/>
            <a:ext cx="1771650" cy="457200"/>
          </a:xfrm>
          <a:prstGeom prst="rect">
            <a:avLst/>
          </a:prstGeom>
          <a:solidFill>
            <a:srgbClr val="CCCCF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Data Pool</a:t>
            </a:r>
          </a:p>
        </p:txBody>
      </p:sp>
      <p:cxnSp>
        <p:nvCxnSpPr>
          <p:cNvPr id="13" name="Straight Arrow Connector 17">
            <a:extLst>
              <a:ext uri="{FF2B5EF4-FFF2-40B4-BE49-F238E27FC236}">
                <a16:creationId xmlns:a16="http://schemas.microsoft.com/office/drawing/2014/main" id="{D6F05996-15E6-48FD-A763-5A0F13690C7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224410" y="2484102"/>
            <a:ext cx="88562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F812FA53-AA2D-48A0-9ACB-FA237703D13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657600" y="3055599"/>
            <a:ext cx="1183880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34">
            <a:extLst>
              <a:ext uri="{FF2B5EF4-FFF2-40B4-BE49-F238E27FC236}">
                <a16:creationId xmlns:a16="http://schemas.microsoft.com/office/drawing/2014/main" id="{E1AD1AA6-CE1E-4D58-833C-42EB93847B8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338637" y="1655424"/>
            <a:ext cx="0" cy="68580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39">
            <a:extLst>
              <a:ext uri="{FF2B5EF4-FFF2-40B4-BE49-F238E27FC236}">
                <a16:creationId xmlns:a16="http://schemas.microsoft.com/office/drawing/2014/main" id="{980B9007-D204-4D9A-958E-E398CFE589C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069286" y="1655424"/>
            <a:ext cx="794" cy="125730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4">
            <a:extLst>
              <a:ext uri="{FF2B5EF4-FFF2-40B4-BE49-F238E27FC236}">
                <a16:creationId xmlns:a16="http://schemas.microsoft.com/office/drawing/2014/main" id="{9CCB6D29-662A-4697-BEAE-59327AE8BD8A}"/>
              </a:ext>
            </a:extLst>
          </p:cNvPr>
          <p:cNvCxnSpPr>
            <a:cxnSpLocks/>
          </p:cNvCxnSpPr>
          <p:nvPr/>
        </p:nvCxnSpPr>
        <p:spPr>
          <a:xfrm>
            <a:off x="3657600" y="2484102"/>
            <a:ext cx="0" cy="571497"/>
          </a:xfrm>
          <a:prstGeom prst="straightConnector1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47519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B0FAE0CC-2797-1845-98ED-8426C4B87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SIMD Applications &amp; Implementations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72707" name="Slide Number Placeholder 3">
            <a:extLst>
              <a:ext uri="{FF2B5EF4-FFF2-40B4-BE49-F238E27FC236}">
                <a16:creationId xmlns:a16="http://schemas.microsoft.com/office/drawing/2014/main" id="{8D3B5EF4-3EF3-5A44-B393-9BDBA5CB30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FD81C0-E717-034B-9C93-5BA5CF64C040}" type="slidenum">
              <a:rPr lang="en-US" altLang="en-US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79763-6B2D-40B1-B2FF-B2EA67921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Applications:</a:t>
            </a:r>
          </a:p>
          <a:p>
            <a:pPr lvl="1"/>
            <a:r>
              <a:rPr lang="en-US" altLang="zh-CN" dirty="0"/>
              <a:t>Scientific computing</a:t>
            </a:r>
          </a:p>
          <a:p>
            <a:pPr lvl="2"/>
            <a:r>
              <a:rPr lang="en-US" altLang="zh-CN" dirty="0" err="1"/>
              <a:t>Matlab</a:t>
            </a:r>
            <a:r>
              <a:rPr lang="en-US" altLang="zh-CN" dirty="0"/>
              <a:t>, NumPy</a:t>
            </a:r>
          </a:p>
          <a:p>
            <a:pPr lvl="1"/>
            <a:r>
              <a:rPr lang="en-US" altLang="zh-CN" dirty="0"/>
              <a:t>Graphics and video processing</a:t>
            </a:r>
          </a:p>
          <a:p>
            <a:pPr lvl="2"/>
            <a:r>
              <a:rPr lang="en-US" altLang="zh-CN" dirty="0"/>
              <a:t>Photoshop, </a:t>
            </a:r>
            <a:r>
              <a:rPr lang="is-IS" altLang="zh-CN" dirty="0"/>
              <a:t>…</a:t>
            </a:r>
          </a:p>
          <a:p>
            <a:pPr lvl="1"/>
            <a:r>
              <a:rPr lang="is-IS" altLang="zh-CN" dirty="0"/>
              <a:t>Big Data</a:t>
            </a:r>
          </a:p>
          <a:p>
            <a:pPr lvl="2"/>
            <a:r>
              <a:rPr lang="is-IS" altLang="zh-CN" b="1" dirty="0"/>
              <a:t>Deep learning</a:t>
            </a:r>
            <a:endParaRPr lang="en-US" altLang="zh-CN" b="1" dirty="0"/>
          </a:p>
          <a:p>
            <a:pPr lvl="1"/>
            <a:r>
              <a:rPr lang="en-US" altLang="zh-CN" dirty="0"/>
              <a:t>Gaming</a:t>
            </a:r>
          </a:p>
          <a:p>
            <a:pPr lvl="1"/>
            <a:r>
              <a:rPr lang="is-IS" altLang="zh-CN" dirty="0"/>
              <a:t>…</a:t>
            </a:r>
          </a:p>
          <a:p>
            <a:r>
              <a:rPr lang="en-US" altLang="zh-CN" b="1" dirty="0"/>
              <a:t>Implementations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x86</a:t>
            </a:r>
          </a:p>
          <a:p>
            <a:pPr lvl="1"/>
            <a:r>
              <a:rPr lang="en-US" altLang="zh-CN" dirty="0"/>
              <a:t>ARM</a:t>
            </a:r>
          </a:p>
          <a:p>
            <a:pPr lvl="1"/>
            <a:r>
              <a:rPr lang="en-US" altLang="zh-CN" dirty="0"/>
              <a:t>RISC-V vector extensions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271268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B0FAE0CC-2797-1845-98ED-8426C4B87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Intuition of SIMD Capability</a:t>
            </a:r>
          </a:p>
        </p:txBody>
      </p:sp>
      <p:sp>
        <p:nvSpPr>
          <p:cNvPr id="72707" name="Slide Number Placeholder 3">
            <a:extLst>
              <a:ext uri="{FF2B5EF4-FFF2-40B4-BE49-F238E27FC236}">
                <a16:creationId xmlns:a16="http://schemas.microsoft.com/office/drawing/2014/main" id="{8D3B5EF4-3EF3-5A44-B393-9BDBA5CB30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FD81C0-E717-034B-9C93-5BA5CF64C040}" type="slidenum">
              <a:rPr lang="en-US" altLang="en-US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9BDC4B4-994F-4BA0-9CD3-658C9D70290F}"/>
              </a:ext>
            </a:extLst>
          </p:cNvPr>
          <p:cNvSpPr txBox="1">
            <a:spLocks/>
          </p:cNvSpPr>
          <p:nvPr/>
        </p:nvSpPr>
        <p:spPr>
          <a:xfrm>
            <a:off x="3094726" y="1076630"/>
            <a:ext cx="7198632" cy="18492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2"/>
                </a:solidFill>
                <a:cs typeface="+mn-ea"/>
                <a:sym typeface="+mn-lt"/>
              </a:rPr>
              <a:t>Computing task (A[6:0] + B[6:0])</a:t>
            </a:r>
          </a:p>
          <a:p>
            <a:pPr lvl="1"/>
            <a:r>
              <a:rPr lang="en-US" altLang="zh-CN" sz="2000" dirty="0">
                <a:cs typeface="+mn-ea"/>
                <a:sym typeface="+mn-lt"/>
              </a:rPr>
              <a:t>Scalar: one addition per cycle</a:t>
            </a:r>
          </a:p>
          <a:p>
            <a:pPr lvl="1"/>
            <a:r>
              <a:rPr lang="en-US" altLang="zh-CN" sz="2000" dirty="0">
                <a:cs typeface="+mn-ea"/>
                <a:sym typeface="+mn-lt"/>
              </a:rPr>
              <a:t>SIMD : Multiple additions per cycle</a:t>
            </a:r>
          </a:p>
        </p:txBody>
      </p:sp>
      <p:sp>
        <p:nvSpPr>
          <p:cNvPr id="8" name="Trapezoid 5">
            <a:extLst>
              <a:ext uri="{FF2B5EF4-FFF2-40B4-BE49-F238E27FC236}">
                <a16:creationId xmlns:a16="http://schemas.microsoft.com/office/drawing/2014/main" id="{E7EAAF73-BAED-48B0-818C-705CDEDAE6B8}"/>
              </a:ext>
            </a:extLst>
          </p:cNvPr>
          <p:cNvSpPr/>
          <p:nvPr/>
        </p:nvSpPr>
        <p:spPr>
          <a:xfrm rot="10800000">
            <a:off x="574730" y="5262705"/>
            <a:ext cx="1328163" cy="657922"/>
          </a:xfrm>
          <a:prstGeom prst="trapezoid">
            <a:avLst>
              <a:gd name="adj" fmla="val 55508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400" dirty="0">
                <a:solidFill>
                  <a:schemeClr val="tx1"/>
                </a:solidFill>
              </a:rPr>
              <a:t>+</a:t>
            </a:r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873A877A-289B-4968-8AF6-93FBF2E28462}"/>
              </a:ext>
            </a:extLst>
          </p:cNvPr>
          <p:cNvGrpSpPr/>
          <p:nvPr/>
        </p:nvGrpSpPr>
        <p:grpSpPr>
          <a:xfrm>
            <a:off x="-308523" y="4427993"/>
            <a:ext cx="2634279" cy="507086"/>
            <a:chOff x="653913" y="4555384"/>
            <a:chExt cx="2634279" cy="507086"/>
          </a:xfrm>
        </p:grpSpPr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9A8D25FD-AE28-42E4-8657-6FBCF0884DB6}"/>
                </a:ext>
              </a:extLst>
            </p:cNvPr>
            <p:cNvSpPr txBox="1"/>
            <p:nvPr/>
          </p:nvSpPr>
          <p:spPr>
            <a:xfrm>
              <a:off x="653913" y="4555384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t0</a:t>
              </a:r>
            </a:p>
          </p:txBody>
        </p:sp>
        <p:sp>
          <p:nvSpPr>
            <p:cNvPr id="11" name="Rectangle 19">
              <a:extLst>
                <a:ext uri="{FF2B5EF4-FFF2-40B4-BE49-F238E27FC236}">
                  <a16:creationId xmlns:a16="http://schemas.microsoft.com/office/drawing/2014/main" id="{448C869A-1A0F-47EB-9BD8-83351752B078}"/>
                </a:ext>
              </a:extLst>
            </p:cNvPr>
            <p:cNvSpPr/>
            <p:nvPr/>
          </p:nvSpPr>
          <p:spPr>
            <a:xfrm>
              <a:off x="1195407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A[0]</a:t>
              </a:r>
            </a:p>
          </p:txBody>
        </p:sp>
        <p:sp>
          <p:nvSpPr>
            <p:cNvPr id="12" name="Rectangle 38">
              <a:extLst>
                <a:ext uri="{FF2B5EF4-FFF2-40B4-BE49-F238E27FC236}">
                  <a16:creationId xmlns:a16="http://schemas.microsoft.com/office/drawing/2014/main" id="{0DC17D38-1405-4D15-AD44-C13D172AB542}"/>
                </a:ext>
              </a:extLst>
            </p:cNvPr>
            <p:cNvSpPr/>
            <p:nvPr/>
          </p:nvSpPr>
          <p:spPr>
            <a:xfrm>
              <a:off x="2442465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B[0]</a:t>
              </a:r>
            </a:p>
          </p:txBody>
        </p:sp>
      </p:grpSp>
      <p:grpSp>
        <p:nvGrpSpPr>
          <p:cNvPr id="13" name="Group 39">
            <a:extLst>
              <a:ext uri="{FF2B5EF4-FFF2-40B4-BE49-F238E27FC236}">
                <a16:creationId xmlns:a16="http://schemas.microsoft.com/office/drawing/2014/main" id="{34041696-17A5-44B1-9AEF-BC64CAE4C43F}"/>
              </a:ext>
            </a:extLst>
          </p:cNvPr>
          <p:cNvGrpSpPr/>
          <p:nvPr/>
        </p:nvGrpSpPr>
        <p:grpSpPr>
          <a:xfrm>
            <a:off x="-312237" y="3933624"/>
            <a:ext cx="2634279" cy="507086"/>
            <a:chOff x="653913" y="4555384"/>
            <a:chExt cx="2634279" cy="507086"/>
          </a:xfrm>
        </p:grpSpPr>
        <p:sp>
          <p:nvSpPr>
            <p:cNvPr id="14" name="TextBox 40">
              <a:extLst>
                <a:ext uri="{FF2B5EF4-FFF2-40B4-BE49-F238E27FC236}">
                  <a16:creationId xmlns:a16="http://schemas.microsoft.com/office/drawing/2014/main" id="{47084781-76FB-46FC-A2CF-A8995EC3C490}"/>
                </a:ext>
              </a:extLst>
            </p:cNvPr>
            <p:cNvSpPr txBox="1"/>
            <p:nvPr/>
          </p:nvSpPr>
          <p:spPr>
            <a:xfrm>
              <a:off x="653913" y="4555384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t1</a:t>
              </a:r>
            </a:p>
          </p:txBody>
        </p:sp>
        <p:sp>
          <p:nvSpPr>
            <p:cNvPr id="15" name="Rectangle 41">
              <a:extLst>
                <a:ext uri="{FF2B5EF4-FFF2-40B4-BE49-F238E27FC236}">
                  <a16:creationId xmlns:a16="http://schemas.microsoft.com/office/drawing/2014/main" id="{72570439-4CB4-4493-BA51-E68F529EFDD1}"/>
                </a:ext>
              </a:extLst>
            </p:cNvPr>
            <p:cNvSpPr/>
            <p:nvPr/>
          </p:nvSpPr>
          <p:spPr>
            <a:xfrm>
              <a:off x="1195407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A[1]</a:t>
              </a:r>
            </a:p>
          </p:txBody>
        </p:sp>
        <p:sp>
          <p:nvSpPr>
            <p:cNvPr id="16" name="Rectangle 42">
              <a:extLst>
                <a:ext uri="{FF2B5EF4-FFF2-40B4-BE49-F238E27FC236}">
                  <a16:creationId xmlns:a16="http://schemas.microsoft.com/office/drawing/2014/main" id="{7E5FF1B2-FA89-45A6-BE4D-7E2156E2BA3B}"/>
                </a:ext>
              </a:extLst>
            </p:cNvPr>
            <p:cNvSpPr/>
            <p:nvPr/>
          </p:nvSpPr>
          <p:spPr>
            <a:xfrm>
              <a:off x="2442465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B[1]</a:t>
              </a:r>
            </a:p>
          </p:txBody>
        </p:sp>
      </p:grpSp>
      <p:grpSp>
        <p:nvGrpSpPr>
          <p:cNvPr id="17" name="Group 43">
            <a:extLst>
              <a:ext uri="{FF2B5EF4-FFF2-40B4-BE49-F238E27FC236}">
                <a16:creationId xmlns:a16="http://schemas.microsoft.com/office/drawing/2014/main" id="{58D56A6C-C47E-4B35-9B40-759EB5DCCC96}"/>
              </a:ext>
            </a:extLst>
          </p:cNvPr>
          <p:cNvGrpSpPr/>
          <p:nvPr/>
        </p:nvGrpSpPr>
        <p:grpSpPr>
          <a:xfrm>
            <a:off x="-312237" y="3446927"/>
            <a:ext cx="2634279" cy="507086"/>
            <a:chOff x="653913" y="4555384"/>
            <a:chExt cx="2634279" cy="507086"/>
          </a:xfrm>
        </p:grpSpPr>
        <p:sp>
          <p:nvSpPr>
            <p:cNvPr id="18" name="TextBox 44">
              <a:extLst>
                <a:ext uri="{FF2B5EF4-FFF2-40B4-BE49-F238E27FC236}">
                  <a16:creationId xmlns:a16="http://schemas.microsoft.com/office/drawing/2014/main" id="{9F8180FA-B0CA-4EAC-B93D-B7B6384B62E2}"/>
                </a:ext>
              </a:extLst>
            </p:cNvPr>
            <p:cNvSpPr txBox="1"/>
            <p:nvPr/>
          </p:nvSpPr>
          <p:spPr>
            <a:xfrm>
              <a:off x="653913" y="4555384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t2</a:t>
              </a:r>
            </a:p>
          </p:txBody>
        </p:sp>
        <p:sp>
          <p:nvSpPr>
            <p:cNvPr id="19" name="Rectangle 45">
              <a:extLst>
                <a:ext uri="{FF2B5EF4-FFF2-40B4-BE49-F238E27FC236}">
                  <a16:creationId xmlns:a16="http://schemas.microsoft.com/office/drawing/2014/main" id="{FAE013F9-3488-469D-946E-04E55AC6D686}"/>
                </a:ext>
              </a:extLst>
            </p:cNvPr>
            <p:cNvSpPr/>
            <p:nvPr/>
          </p:nvSpPr>
          <p:spPr>
            <a:xfrm>
              <a:off x="1195407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A[2]</a:t>
              </a: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7E405F15-BA21-4D0E-AB40-DE9DACCB4689}"/>
                </a:ext>
              </a:extLst>
            </p:cNvPr>
            <p:cNvSpPr/>
            <p:nvPr/>
          </p:nvSpPr>
          <p:spPr>
            <a:xfrm>
              <a:off x="2442465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B[2]</a:t>
              </a:r>
            </a:p>
          </p:txBody>
        </p:sp>
      </p:grpSp>
      <p:grpSp>
        <p:nvGrpSpPr>
          <p:cNvPr id="21" name="Group 47">
            <a:extLst>
              <a:ext uri="{FF2B5EF4-FFF2-40B4-BE49-F238E27FC236}">
                <a16:creationId xmlns:a16="http://schemas.microsoft.com/office/drawing/2014/main" id="{12CADA2F-F2D0-41AF-94EF-F290663FFF66}"/>
              </a:ext>
            </a:extLst>
          </p:cNvPr>
          <p:cNvGrpSpPr/>
          <p:nvPr/>
        </p:nvGrpSpPr>
        <p:grpSpPr>
          <a:xfrm>
            <a:off x="-304800" y="2952557"/>
            <a:ext cx="2634279" cy="507086"/>
            <a:chOff x="653913" y="4555384"/>
            <a:chExt cx="2634279" cy="507086"/>
          </a:xfrm>
        </p:grpSpPr>
        <p:sp>
          <p:nvSpPr>
            <p:cNvPr id="22" name="TextBox 48">
              <a:extLst>
                <a:ext uri="{FF2B5EF4-FFF2-40B4-BE49-F238E27FC236}">
                  <a16:creationId xmlns:a16="http://schemas.microsoft.com/office/drawing/2014/main" id="{7CE95C16-ADA9-4377-9503-069317B24640}"/>
                </a:ext>
              </a:extLst>
            </p:cNvPr>
            <p:cNvSpPr txBox="1"/>
            <p:nvPr/>
          </p:nvSpPr>
          <p:spPr>
            <a:xfrm>
              <a:off x="653913" y="4555384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t3</a:t>
              </a:r>
            </a:p>
          </p:txBody>
        </p:sp>
        <p:sp>
          <p:nvSpPr>
            <p:cNvPr id="23" name="Rectangle 49">
              <a:extLst>
                <a:ext uri="{FF2B5EF4-FFF2-40B4-BE49-F238E27FC236}">
                  <a16:creationId xmlns:a16="http://schemas.microsoft.com/office/drawing/2014/main" id="{89326D4E-A452-4BC8-8915-8D5FE4D3B92C}"/>
                </a:ext>
              </a:extLst>
            </p:cNvPr>
            <p:cNvSpPr/>
            <p:nvPr/>
          </p:nvSpPr>
          <p:spPr>
            <a:xfrm>
              <a:off x="1187971" y="4575773"/>
              <a:ext cx="853164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A[3]</a:t>
              </a:r>
            </a:p>
          </p:txBody>
        </p:sp>
        <p:sp>
          <p:nvSpPr>
            <p:cNvPr id="24" name="Rectangle 50">
              <a:extLst>
                <a:ext uri="{FF2B5EF4-FFF2-40B4-BE49-F238E27FC236}">
                  <a16:creationId xmlns:a16="http://schemas.microsoft.com/office/drawing/2014/main" id="{86D9D607-7739-4BB1-8EDA-557E80678E23}"/>
                </a:ext>
              </a:extLst>
            </p:cNvPr>
            <p:cNvSpPr/>
            <p:nvPr/>
          </p:nvSpPr>
          <p:spPr>
            <a:xfrm>
              <a:off x="2442465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B[3]</a:t>
              </a:r>
            </a:p>
          </p:txBody>
        </p:sp>
      </p:grpSp>
      <p:grpSp>
        <p:nvGrpSpPr>
          <p:cNvPr id="25" name="Group 51">
            <a:extLst>
              <a:ext uri="{FF2B5EF4-FFF2-40B4-BE49-F238E27FC236}">
                <a16:creationId xmlns:a16="http://schemas.microsoft.com/office/drawing/2014/main" id="{146504DF-9198-4793-86E1-06B4564A59D0}"/>
              </a:ext>
            </a:extLst>
          </p:cNvPr>
          <p:cNvGrpSpPr/>
          <p:nvPr/>
        </p:nvGrpSpPr>
        <p:grpSpPr>
          <a:xfrm>
            <a:off x="-312237" y="2464229"/>
            <a:ext cx="2634279" cy="507086"/>
            <a:chOff x="653913" y="4555384"/>
            <a:chExt cx="2634279" cy="507086"/>
          </a:xfrm>
        </p:grpSpPr>
        <p:sp>
          <p:nvSpPr>
            <p:cNvPr id="26" name="TextBox 56">
              <a:extLst>
                <a:ext uri="{FF2B5EF4-FFF2-40B4-BE49-F238E27FC236}">
                  <a16:creationId xmlns:a16="http://schemas.microsoft.com/office/drawing/2014/main" id="{9F62542A-A39A-46C8-BB28-613AC780C6D9}"/>
                </a:ext>
              </a:extLst>
            </p:cNvPr>
            <p:cNvSpPr txBox="1"/>
            <p:nvPr/>
          </p:nvSpPr>
          <p:spPr>
            <a:xfrm>
              <a:off x="653913" y="4555384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t4</a:t>
              </a:r>
            </a:p>
          </p:txBody>
        </p:sp>
        <p:sp>
          <p:nvSpPr>
            <p:cNvPr id="27" name="Rectangle 57">
              <a:extLst>
                <a:ext uri="{FF2B5EF4-FFF2-40B4-BE49-F238E27FC236}">
                  <a16:creationId xmlns:a16="http://schemas.microsoft.com/office/drawing/2014/main" id="{5901011B-CF4F-4364-8044-8E5D0D9D5C27}"/>
                </a:ext>
              </a:extLst>
            </p:cNvPr>
            <p:cNvSpPr/>
            <p:nvPr/>
          </p:nvSpPr>
          <p:spPr>
            <a:xfrm>
              <a:off x="1195407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A[4]</a:t>
              </a:r>
            </a:p>
          </p:txBody>
        </p:sp>
        <p:sp>
          <p:nvSpPr>
            <p:cNvPr id="28" name="Rectangle 58">
              <a:extLst>
                <a:ext uri="{FF2B5EF4-FFF2-40B4-BE49-F238E27FC236}">
                  <a16:creationId xmlns:a16="http://schemas.microsoft.com/office/drawing/2014/main" id="{E93FC164-ADAD-4D73-9115-29E536A663CC}"/>
                </a:ext>
              </a:extLst>
            </p:cNvPr>
            <p:cNvSpPr/>
            <p:nvPr/>
          </p:nvSpPr>
          <p:spPr>
            <a:xfrm>
              <a:off x="2442465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B[4]</a:t>
              </a:r>
            </a:p>
          </p:txBody>
        </p:sp>
      </p:grpSp>
      <p:grpSp>
        <p:nvGrpSpPr>
          <p:cNvPr id="29" name="Group 59">
            <a:extLst>
              <a:ext uri="{FF2B5EF4-FFF2-40B4-BE49-F238E27FC236}">
                <a16:creationId xmlns:a16="http://schemas.microsoft.com/office/drawing/2014/main" id="{434E0A21-2430-4362-8C32-52CF45E20B7B}"/>
              </a:ext>
            </a:extLst>
          </p:cNvPr>
          <p:cNvGrpSpPr/>
          <p:nvPr/>
        </p:nvGrpSpPr>
        <p:grpSpPr>
          <a:xfrm>
            <a:off x="-304800" y="1969860"/>
            <a:ext cx="2634279" cy="507086"/>
            <a:chOff x="653913" y="4555384"/>
            <a:chExt cx="2634279" cy="507086"/>
          </a:xfrm>
        </p:grpSpPr>
        <p:sp>
          <p:nvSpPr>
            <p:cNvPr id="30" name="TextBox 60">
              <a:extLst>
                <a:ext uri="{FF2B5EF4-FFF2-40B4-BE49-F238E27FC236}">
                  <a16:creationId xmlns:a16="http://schemas.microsoft.com/office/drawing/2014/main" id="{A2FA0415-E8B7-4F91-98E6-39E4332D12F2}"/>
                </a:ext>
              </a:extLst>
            </p:cNvPr>
            <p:cNvSpPr txBox="1"/>
            <p:nvPr/>
          </p:nvSpPr>
          <p:spPr>
            <a:xfrm>
              <a:off x="653913" y="4555384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</a:t>
              </a:r>
              <a:r>
                <a:rPr lang="en-US" altLang="zh-CN" sz="2000" dirty="0">
                  <a:solidFill>
                    <a:schemeClr val="accent3"/>
                  </a:solidFill>
                  <a:latin typeface="DIN Condensed" pitchFamily="2" charset="0"/>
                </a:rPr>
                <a:t>5</a:t>
              </a:r>
              <a:endParaRPr lang="en-CN" sz="2000" dirty="0">
                <a:solidFill>
                  <a:schemeClr val="accent3"/>
                </a:solidFill>
                <a:latin typeface="DIN Condensed" pitchFamily="2" charset="0"/>
              </a:endParaRPr>
            </a:p>
          </p:txBody>
        </p:sp>
        <p:sp>
          <p:nvSpPr>
            <p:cNvPr id="31" name="Rectangle 61">
              <a:extLst>
                <a:ext uri="{FF2B5EF4-FFF2-40B4-BE49-F238E27FC236}">
                  <a16:creationId xmlns:a16="http://schemas.microsoft.com/office/drawing/2014/main" id="{1D5D6D58-EE5E-4533-B3BE-DCF89F660B42}"/>
                </a:ext>
              </a:extLst>
            </p:cNvPr>
            <p:cNvSpPr/>
            <p:nvPr/>
          </p:nvSpPr>
          <p:spPr>
            <a:xfrm>
              <a:off x="1187971" y="4575773"/>
              <a:ext cx="853164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A[5]</a:t>
              </a:r>
            </a:p>
          </p:txBody>
        </p:sp>
        <p:sp>
          <p:nvSpPr>
            <p:cNvPr id="32" name="Rectangle 62">
              <a:extLst>
                <a:ext uri="{FF2B5EF4-FFF2-40B4-BE49-F238E27FC236}">
                  <a16:creationId xmlns:a16="http://schemas.microsoft.com/office/drawing/2014/main" id="{7E71ECB2-2B38-4E29-9DCC-9533D9F37DD7}"/>
                </a:ext>
              </a:extLst>
            </p:cNvPr>
            <p:cNvSpPr/>
            <p:nvPr/>
          </p:nvSpPr>
          <p:spPr>
            <a:xfrm>
              <a:off x="2442465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B[5]</a:t>
              </a:r>
            </a:p>
          </p:txBody>
        </p:sp>
      </p:grpSp>
      <p:grpSp>
        <p:nvGrpSpPr>
          <p:cNvPr id="33" name="Group 63">
            <a:extLst>
              <a:ext uri="{FF2B5EF4-FFF2-40B4-BE49-F238E27FC236}">
                <a16:creationId xmlns:a16="http://schemas.microsoft.com/office/drawing/2014/main" id="{1E655605-12D5-4CFF-9269-E72D7C538963}"/>
              </a:ext>
            </a:extLst>
          </p:cNvPr>
          <p:cNvGrpSpPr/>
          <p:nvPr/>
        </p:nvGrpSpPr>
        <p:grpSpPr>
          <a:xfrm>
            <a:off x="-304800" y="1483163"/>
            <a:ext cx="2634279" cy="507086"/>
            <a:chOff x="653913" y="4555384"/>
            <a:chExt cx="2634279" cy="507086"/>
          </a:xfrm>
        </p:grpSpPr>
        <p:sp>
          <p:nvSpPr>
            <p:cNvPr id="34" name="TextBox 64">
              <a:extLst>
                <a:ext uri="{FF2B5EF4-FFF2-40B4-BE49-F238E27FC236}">
                  <a16:creationId xmlns:a16="http://schemas.microsoft.com/office/drawing/2014/main" id="{A40C32AA-49E0-4820-BF7B-D6C83A7E5CBE}"/>
                </a:ext>
              </a:extLst>
            </p:cNvPr>
            <p:cNvSpPr txBox="1"/>
            <p:nvPr/>
          </p:nvSpPr>
          <p:spPr>
            <a:xfrm>
              <a:off x="653913" y="4555384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t6</a:t>
              </a:r>
            </a:p>
          </p:txBody>
        </p:sp>
        <p:sp>
          <p:nvSpPr>
            <p:cNvPr id="35" name="Rectangle 65">
              <a:extLst>
                <a:ext uri="{FF2B5EF4-FFF2-40B4-BE49-F238E27FC236}">
                  <a16:creationId xmlns:a16="http://schemas.microsoft.com/office/drawing/2014/main" id="{D8849687-A785-4ED3-B158-154DE0AD7353}"/>
                </a:ext>
              </a:extLst>
            </p:cNvPr>
            <p:cNvSpPr/>
            <p:nvPr/>
          </p:nvSpPr>
          <p:spPr>
            <a:xfrm>
              <a:off x="1187971" y="4575773"/>
              <a:ext cx="853164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A[6]</a:t>
              </a:r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EDBEC03-7E0B-45F6-8D1F-6578E612E6A4}"/>
                </a:ext>
              </a:extLst>
            </p:cNvPr>
            <p:cNvSpPr/>
            <p:nvPr/>
          </p:nvSpPr>
          <p:spPr>
            <a:xfrm>
              <a:off x="2442465" y="4575773"/>
              <a:ext cx="845727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B[6]</a:t>
              </a:r>
            </a:p>
          </p:txBody>
        </p:sp>
      </p:grpSp>
      <p:grpSp>
        <p:nvGrpSpPr>
          <p:cNvPr id="37" name="Group 27">
            <a:extLst>
              <a:ext uri="{FF2B5EF4-FFF2-40B4-BE49-F238E27FC236}">
                <a16:creationId xmlns:a16="http://schemas.microsoft.com/office/drawing/2014/main" id="{8FD66D75-BAE4-4DC7-968B-D6A63BB3B6CD}"/>
              </a:ext>
            </a:extLst>
          </p:cNvPr>
          <p:cNvGrpSpPr/>
          <p:nvPr/>
        </p:nvGrpSpPr>
        <p:grpSpPr>
          <a:xfrm>
            <a:off x="2365866" y="3984410"/>
            <a:ext cx="5144787" cy="530037"/>
            <a:chOff x="3137121" y="4035983"/>
            <a:chExt cx="5144787" cy="530037"/>
          </a:xfrm>
        </p:grpSpPr>
        <p:sp>
          <p:nvSpPr>
            <p:cNvPr id="38" name="TextBox 73">
              <a:extLst>
                <a:ext uri="{FF2B5EF4-FFF2-40B4-BE49-F238E27FC236}">
                  <a16:creationId xmlns:a16="http://schemas.microsoft.com/office/drawing/2014/main" id="{1C5377F9-17B4-4665-A794-509ABBF75858}"/>
                </a:ext>
              </a:extLst>
            </p:cNvPr>
            <p:cNvSpPr txBox="1"/>
            <p:nvPr/>
          </p:nvSpPr>
          <p:spPr>
            <a:xfrm>
              <a:off x="3137121" y="4035983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t1</a:t>
              </a:r>
            </a:p>
          </p:txBody>
        </p:sp>
        <p:sp>
          <p:nvSpPr>
            <p:cNvPr id="39" name="Rectangle 74">
              <a:extLst>
                <a:ext uri="{FF2B5EF4-FFF2-40B4-BE49-F238E27FC236}">
                  <a16:creationId xmlns:a16="http://schemas.microsoft.com/office/drawing/2014/main" id="{CAA7F074-10EA-4748-9AEE-6E1B88404F8B}"/>
                </a:ext>
              </a:extLst>
            </p:cNvPr>
            <p:cNvSpPr/>
            <p:nvPr/>
          </p:nvSpPr>
          <p:spPr>
            <a:xfrm>
              <a:off x="3489045" y="4056372"/>
              <a:ext cx="738850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A[4]</a:t>
              </a:r>
            </a:p>
          </p:txBody>
        </p:sp>
        <p:sp>
          <p:nvSpPr>
            <p:cNvPr id="40" name="Rectangle 75">
              <a:extLst>
                <a:ext uri="{FF2B5EF4-FFF2-40B4-BE49-F238E27FC236}">
                  <a16:creationId xmlns:a16="http://schemas.microsoft.com/office/drawing/2014/main" id="{EDF8B497-1E5E-4362-B38F-187348779B60}"/>
                </a:ext>
              </a:extLst>
            </p:cNvPr>
            <p:cNvSpPr/>
            <p:nvPr/>
          </p:nvSpPr>
          <p:spPr>
            <a:xfrm>
              <a:off x="4245820" y="4060576"/>
              <a:ext cx="700856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B[4]</a:t>
              </a:r>
            </a:p>
          </p:txBody>
        </p:sp>
        <p:grpSp>
          <p:nvGrpSpPr>
            <p:cNvPr id="41" name="Group 119">
              <a:extLst>
                <a:ext uri="{FF2B5EF4-FFF2-40B4-BE49-F238E27FC236}">
                  <a16:creationId xmlns:a16="http://schemas.microsoft.com/office/drawing/2014/main" id="{C1D5F350-60E1-4FF7-9F92-987FB05701F4}"/>
                </a:ext>
              </a:extLst>
            </p:cNvPr>
            <p:cNvGrpSpPr/>
            <p:nvPr/>
          </p:nvGrpSpPr>
          <p:grpSpPr>
            <a:xfrm>
              <a:off x="5151540" y="4063068"/>
              <a:ext cx="1398019" cy="486697"/>
              <a:chOff x="650313" y="4584992"/>
              <a:chExt cx="1398019" cy="486697"/>
            </a:xfrm>
          </p:grpSpPr>
          <p:sp>
            <p:nvSpPr>
              <p:cNvPr id="45" name="Rectangle 121">
                <a:extLst>
                  <a:ext uri="{FF2B5EF4-FFF2-40B4-BE49-F238E27FC236}">
                    <a16:creationId xmlns:a16="http://schemas.microsoft.com/office/drawing/2014/main" id="{F2918208-7E98-470E-9EB5-20ACB4A79419}"/>
                  </a:ext>
                </a:extLst>
              </p:cNvPr>
              <p:cNvSpPr/>
              <p:nvPr/>
            </p:nvSpPr>
            <p:spPr>
              <a:xfrm>
                <a:off x="650313" y="4584992"/>
                <a:ext cx="700856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A[5]</a:t>
                </a:r>
              </a:p>
            </p:txBody>
          </p:sp>
          <p:sp>
            <p:nvSpPr>
              <p:cNvPr id="46" name="Rectangle 122">
                <a:extLst>
                  <a:ext uri="{FF2B5EF4-FFF2-40B4-BE49-F238E27FC236}">
                    <a16:creationId xmlns:a16="http://schemas.microsoft.com/office/drawing/2014/main" id="{88B9BBAA-A52C-443A-B399-7B57291E9D36}"/>
                  </a:ext>
                </a:extLst>
              </p:cNvPr>
              <p:cNvSpPr/>
              <p:nvPr/>
            </p:nvSpPr>
            <p:spPr>
              <a:xfrm>
                <a:off x="1347475" y="4584992"/>
                <a:ext cx="700857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B[5]</a:t>
                </a:r>
              </a:p>
            </p:txBody>
          </p:sp>
        </p:grpSp>
        <p:grpSp>
          <p:nvGrpSpPr>
            <p:cNvPr id="42" name="Group 150">
              <a:extLst>
                <a:ext uri="{FF2B5EF4-FFF2-40B4-BE49-F238E27FC236}">
                  <a16:creationId xmlns:a16="http://schemas.microsoft.com/office/drawing/2014/main" id="{29CD470F-70CA-4E9F-A738-DD54E42E4BFE}"/>
                </a:ext>
              </a:extLst>
            </p:cNvPr>
            <p:cNvGrpSpPr/>
            <p:nvPr/>
          </p:nvGrpSpPr>
          <p:grpSpPr>
            <a:xfrm>
              <a:off x="6797652" y="4077087"/>
              <a:ext cx="1484256" cy="488933"/>
              <a:chOff x="225533" y="4584173"/>
              <a:chExt cx="1484256" cy="488933"/>
            </a:xfrm>
          </p:grpSpPr>
          <p:sp>
            <p:nvSpPr>
              <p:cNvPr id="43" name="Rectangle 152">
                <a:extLst>
                  <a:ext uri="{FF2B5EF4-FFF2-40B4-BE49-F238E27FC236}">
                    <a16:creationId xmlns:a16="http://schemas.microsoft.com/office/drawing/2014/main" id="{C1B8AA33-1BBD-4ADF-AA99-C86AA56F5F9F}"/>
                  </a:ext>
                </a:extLst>
              </p:cNvPr>
              <p:cNvSpPr/>
              <p:nvPr/>
            </p:nvSpPr>
            <p:spPr>
              <a:xfrm>
                <a:off x="225533" y="4586409"/>
                <a:ext cx="745406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A[6]</a:t>
                </a:r>
              </a:p>
            </p:txBody>
          </p:sp>
          <p:sp>
            <p:nvSpPr>
              <p:cNvPr id="44" name="Rectangle 153">
                <a:extLst>
                  <a:ext uri="{FF2B5EF4-FFF2-40B4-BE49-F238E27FC236}">
                    <a16:creationId xmlns:a16="http://schemas.microsoft.com/office/drawing/2014/main" id="{D16B9C0B-B7FB-4BFC-9664-0F0848709483}"/>
                  </a:ext>
                </a:extLst>
              </p:cNvPr>
              <p:cNvSpPr/>
              <p:nvPr/>
            </p:nvSpPr>
            <p:spPr>
              <a:xfrm>
                <a:off x="970938" y="4584173"/>
                <a:ext cx="738851" cy="48132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B[6]</a:t>
                </a:r>
              </a:p>
            </p:txBody>
          </p:sp>
        </p:grpSp>
      </p:grpSp>
      <p:grpSp>
        <p:nvGrpSpPr>
          <p:cNvPr id="47" name="Group 32">
            <a:extLst>
              <a:ext uri="{FF2B5EF4-FFF2-40B4-BE49-F238E27FC236}">
                <a16:creationId xmlns:a16="http://schemas.microsoft.com/office/drawing/2014/main" id="{DB7803EB-1978-4B0B-B10B-1733C4491250}"/>
              </a:ext>
            </a:extLst>
          </p:cNvPr>
          <p:cNvGrpSpPr/>
          <p:nvPr/>
        </p:nvGrpSpPr>
        <p:grpSpPr>
          <a:xfrm>
            <a:off x="2717790" y="5340213"/>
            <a:ext cx="6299189" cy="632241"/>
            <a:chOff x="3789913" y="5365064"/>
            <a:chExt cx="6170215" cy="657923"/>
          </a:xfrm>
        </p:grpSpPr>
        <p:sp>
          <p:nvSpPr>
            <p:cNvPr id="48" name="Trapezoid 67">
              <a:extLst>
                <a:ext uri="{FF2B5EF4-FFF2-40B4-BE49-F238E27FC236}">
                  <a16:creationId xmlns:a16="http://schemas.microsoft.com/office/drawing/2014/main" id="{327F066C-D1DB-41E6-9DFB-89FBE27FF236}"/>
                </a:ext>
              </a:extLst>
            </p:cNvPr>
            <p:cNvSpPr/>
            <p:nvPr/>
          </p:nvSpPr>
          <p:spPr>
            <a:xfrm rot="10800000">
              <a:off x="3789913" y="5365064"/>
              <a:ext cx="1328163" cy="657922"/>
            </a:xfrm>
            <a:prstGeom prst="trapezoid">
              <a:avLst>
                <a:gd name="adj" fmla="val 55508"/>
              </a:avLst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44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49" name="Trapezoid 114">
              <a:extLst>
                <a:ext uri="{FF2B5EF4-FFF2-40B4-BE49-F238E27FC236}">
                  <a16:creationId xmlns:a16="http://schemas.microsoft.com/office/drawing/2014/main" id="{441C3D01-65C4-4D1F-B103-A7C5EE481FE8}"/>
                </a:ext>
              </a:extLst>
            </p:cNvPr>
            <p:cNvSpPr/>
            <p:nvPr/>
          </p:nvSpPr>
          <p:spPr>
            <a:xfrm rot="10800000">
              <a:off x="5459601" y="5365065"/>
              <a:ext cx="1328163" cy="657922"/>
            </a:xfrm>
            <a:prstGeom prst="trapezoid">
              <a:avLst>
                <a:gd name="adj" fmla="val 55508"/>
              </a:avLst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44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50" name="Trapezoid 145">
              <a:extLst>
                <a:ext uri="{FF2B5EF4-FFF2-40B4-BE49-F238E27FC236}">
                  <a16:creationId xmlns:a16="http://schemas.microsoft.com/office/drawing/2014/main" id="{98DC9634-23B9-471C-88C5-0A0B93766684}"/>
                </a:ext>
              </a:extLst>
            </p:cNvPr>
            <p:cNvSpPr/>
            <p:nvPr/>
          </p:nvSpPr>
          <p:spPr>
            <a:xfrm rot="10800000">
              <a:off x="7045784" y="5365065"/>
              <a:ext cx="1328163" cy="657922"/>
            </a:xfrm>
            <a:prstGeom prst="trapezoid">
              <a:avLst>
                <a:gd name="adj" fmla="val 55508"/>
              </a:avLst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44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51" name="Trapezoid 154">
              <a:extLst>
                <a:ext uri="{FF2B5EF4-FFF2-40B4-BE49-F238E27FC236}">
                  <a16:creationId xmlns:a16="http://schemas.microsoft.com/office/drawing/2014/main" id="{042D4B1F-544F-4EF4-BE84-493A5481209B}"/>
                </a:ext>
              </a:extLst>
            </p:cNvPr>
            <p:cNvSpPr/>
            <p:nvPr/>
          </p:nvSpPr>
          <p:spPr>
            <a:xfrm rot="10800000">
              <a:off x="8631965" y="5365064"/>
              <a:ext cx="1328163" cy="657922"/>
            </a:xfrm>
            <a:prstGeom prst="trapezoid">
              <a:avLst>
                <a:gd name="adj" fmla="val 55508"/>
              </a:avLst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4400" dirty="0">
                  <a:solidFill>
                    <a:schemeClr val="tx1"/>
                  </a:solidFill>
                </a:rPr>
                <a:t>+</a:t>
              </a:r>
            </a:p>
          </p:txBody>
        </p:sp>
      </p:grpSp>
      <p:grpSp>
        <p:nvGrpSpPr>
          <p:cNvPr id="52" name="Group 7">
            <a:extLst>
              <a:ext uri="{FF2B5EF4-FFF2-40B4-BE49-F238E27FC236}">
                <a16:creationId xmlns:a16="http://schemas.microsoft.com/office/drawing/2014/main" id="{B53AE79A-536D-44AB-AD7F-BC7015513E87}"/>
              </a:ext>
            </a:extLst>
          </p:cNvPr>
          <p:cNvGrpSpPr/>
          <p:nvPr/>
        </p:nvGrpSpPr>
        <p:grpSpPr>
          <a:xfrm>
            <a:off x="2287729" y="4488972"/>
            <a:ext cx="6825997" cy="760118"/>
            <a:chOff x="3058984" y="4540545"/>
            <a:chExt cx="6825997" cy="760118"/>
          </a:xfrm>
        </p:grpSpPr>
        <p:sp>
          <p:nvSpPr>
            <p:cNvPr id="53" name="TextBox 37">
              <a:extLst>
                <a:ext uri="{FF2B5EF4-FFF2-40B4-BE49-F238E27FC236}">
                  <a16:creationId xmlns:a16="http://schemas.microsoft.com/office/drawing/2014/main" id="{4BAF7048-962B-43E3-BD34-94C1414DE17B}"/>
                </a:ext>
              </a:extLst>
            </p:cNvPr>
            <p:cNvSpPr txBox="1"/>
            <p:nvPr/>
          </p:nvSpPr>
          <p:spPr>
            <a:xfrm>
              <a:off x="3058984" y="4900553"/>
              <a:ext cx="1638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CN" sz="2000" dirty="0">
                <a:solidFill>
                  <a:schemeClr val="accent1">
                    <a:lumMod val="75000"/>
                  </a:schemeClr>
                </a:solidFill>
                <a:latin typeface="DIN Alternate" panose="020B0500000000000000" pitchFamily="34" charset="77"/>
              </a:endParaRPr>
            </a:p>
          </p:txBody>
        </p:sp>
        <p:sp>
          <p:nvSpPr>
            <p:cNvPr id="54" name="TextBox 69">
              <a:extLst>
                <a:ext uri="{FF2B5EF4-FFF2-40B4-BE49-F238E27FC236}">
                  <a16:creationId xmlns:a16="http://schemas.microsoft.com/office/drawing/2014/main" id="{1FAB66EF-EC61-4533-8F49-F780B8F99CC8}"/>
                </a:ext>
              </a:extLst>
            </p:cNvPr>
            <p:cNvSpPr txBox="1"/>
            <p:nvPr/>
          </p:nvSpPr>
          <p:spPr>
            <a:xfrm>
              <a:off x="3125966" y="4540546"/>
              <a:ext cx="4010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accent3"/>
                  </a:solidFill>
                  <a:latin typeface="DIN Condensed" pitchFamily="2" charset="0"/>
                </a:rPr>
                <a:t>t0</a:t>
              </a:r>
            </a:p>
          </p:txBody>
        </p:sp>
        <p:sp>
          <p:nvSpPr>
            <p:cNvPr id="55" name="Rectangle 70">
              <a:extLst>
                <a:ext uri="{FF2B5EF4-FFF2-40B4-BE49-F238E27FC236}">
                  <a16:creationId xmlns:a16="http://schemas.microsoft.com/office/drawing/2014/main" id="{D5DFFF4A-EB9A-499E-82FA-173082801989}"/>
                </a:ext>
              </a:extLst>
            </p:cNvPr>
            <p:cNvSpPr/>
            <p:nvPr/>
          </p:nvSpPr>
          <p:spPr>
            <a:xfrm>
              <a:off x="3489045" y="4560935"/>
              <a:ext cx="738850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A[0]</a:t>
              </a:r>
            </a:p>
          </p:txBody>
        </p:sp>
        <p:sp>
          <p:nvSpPr>
            <p:cNvPr id="56" name="Rectangle 71">
              <a:extLst>
                <a:ext uri="{FF2B5EF4-FFF2-40B4-BE49-F238E27FC236}">
                  <a16:creationId xmlns:a16="http://schemas.microsoft.com/office/drawing/2014/main" id="{CF95F366-68A3-4833-B080-20F7141ABF56}"/>
                </a:ext>
              </a:extLst>
            </p:cNvPr>
            <p:cNvSpPr/>
            <p:nvPr/>
          </p:nvSpPr>
          <p:spPr>
            <a:xfrm>
              <a:off x="4254513" y="4558412"/>
              <a:ext cx="700856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DIN Condensed" pitchFamily="2" charset="0"/>
                </a:rPr>
                <a:t>B[0]</a:t>
              </a:r>
            </a:p>
          </p:txBody>
        </p:sp>
        <p:grpSp>
          <p:nvGrpSpPr>
            <p:cNvPr id="57" name="Group 115">
              <a:extLst>
                <a:ext uri="{FF2B5EF4-FFF2-40B4-BE49-F238E27FC236}">
                  <a16:creationId xmlns:a16="http://schemas.microsoft.com/office/drawing/2014/main" id="{44D991D4-26C8-437D-88E9-0CFC4408CBD5}"/>
                </a:ext>
              </a:extLst>
            </p:cNvPr>
            <p:cNvGrpSpPr/>
            <p:nvPr/>
          </p:nvGrpSpPr>
          <p:grpSpPr>
            <a:xfrm>
              <a:off x="5162790" y="4540545"/>
              <a:ext cx="1408387" cy="486698"/>
              <a:chOff x="661563" y="4557906"/>
              <a:chExt cx="1408387" cy="486698"/>
            </a:xfrm>
          </p:grpSpPr>
          <p:sp>
            <p:nvSpPr>
              <p:cNvPr id="64" name="Rectangle 117">
                <a:extLst>
                  <a:ext uri="{FF2B5EF4-FFF2-40B4-BE49-F238E27FC236}">
                    <a16:creationId xmlns:a16="http://schemas.microsoft.com/office/drawing/2014/main" id="{F9B2E1A5-E095-447F-8EDF-4FBC80A607C3}"/>
                  </a:ext>
                </a:extLst>
              </p:cNvPr>
              <p:cNvSpPr/>
              <p:nvPr/>
            </p:nvSpPr>
            <p:spPr>
              <a:xfrm>
                <a:off x="661563" y="4557907"/>
                <a:ext cx="700857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A[1]</a:t>
                </a:r>
              </a:p>
            </p:txBody>
          </p:sp>
          <p:sp>
            <p:nvSpPr>
              <p:cNvPr id="65" name="Rectangle 118">
                <a:extLst>
                  <a:ext uri="{FF2B5EF4-FFF2-40B4-BE49-F238E27FC236}">
                    <a16:creationId xmlns:a16="http://schemas.microsoft.com/office/drawing/2014/main" id="{52B1558E-191F-4ACB-A41D-056CBB46566B}"/>
                  </a:ext>
                </a:extLst>
              </p:cNvPr>
              <p:cNvSpPr/>
              <p:nvPr/>
            </p:nvSpPr>
            <p:spPr>
              <a:xfrm>
                <a:off x="1369094" y="4557906"/>
                <a:ext cx="700856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B[1]</a:t>
                </a:r>
              </a:p>
            </p:txBody>
          </p:sp>
        </p:grpSp>
        <p:grpSp>
          <p:nvGrpSpPr>
            <p:cNvPr id="58" name="Group 146">
              <a:extLst>
                <a:ext uri="{FF2B5EF4-FFF2-40B4-BE49-F238E27FC236}">
                  <a16:creationId xmlns:a16="http://schemas.microsoft.com/office/drawing/2014/main" id="{1B8E601B-B785-49A1-89A5-D28A2DD743E4}"/>
                </a:ext>
              </a:extLst>
            </p:cNvPr>
            <p:cNvGrpSpPr/>
            <p:nvPr/>
          </p:nvGrpSpPr>
          <p:grpSpPr>
            <a:xfrm>
              <a:off x="6804206" y="4566020"/>
              <a:ext cx="1477702" cy="495089"/>
              <a:chOff x="232087" y="4568543"/>
              <a:chExt cx="1477702" cy="495089"/>
            </a:xfrm>
          </p:grpSpPr>
          <p:sp>
            <p:nvSpPr>
              <p:cNvPr id="62" name="Rectangle 148">
                <a:extLst>
                  <a:ext uri="{FF2B5EF4-FFF2-40B4-BE49-F238E27FC236}">
                    <a16:creationId xmlns:a16="http://schemas.microsoft.com/office/drawing/2014/main" id="{5E1164BB-2F42-422C-8A54-F6CDD84C6452}"/>
                  </a:ext>
                </a:extLst>
              </p:cNvPr>
              <p:cNvSpPr/>
              <p:nvPr/>
            </p:nvSpPr>
            <p:spPr>
              <a:xfrm>
                <a:off x="232087" y="4568543"/>
                <a:ext cx="738851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A[2]</a:t>
                </a:r>
              </a:p>
            </p:txBody>
          </p:sp>
          <p:sp>
            <p:nvSpPr>
              <p:cNvPr id="63" name="Rectangle 149">
                <a:extLst>
                  <a:ext uri="{FF2B5EF4-FFF2-40B4-BE49-F238E27FC236}">
                    <a16:creationId xmlns:a16="http://schemas.microsoft.com/office/drawing/2014/main" id="{B9C08273-22CB-4D9C-9C28-90B7A4985BBF}"/>
                  </a:ext>
                </a:extLst>
              </p:cNvPr>
              <p:cNvSpPr/>
              <p:nvPr/>
            </p:nvSpPr>
            <p:spPr>
              <a:xfrm>
                <a:off x="970939" y="4576935"/>
                <a:ext cx="738850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B[2]</a:t>
                </a:r>
              </a:p>
            </p:txBody>
          </p:sp>
        </p:grpSp>
        <p:grpSp>
          <p:nvGrpSpPr>
            <p:cNvPr id="59" name="Group 155">
              <a:extLst>
                <a:ext uri="{FF2B5EF4-FFF2-40B4-BE49-F238E27FC236}">
                  <a16:creationId xmlns:a16="http://schemas.microsoft.com/office/drawing/2014/main" id="{2D1F20A8-B65E-4F90-B437-01FBC936AF46}"/>
                </a:ext>
              </a:extLst>
            </p:cNvPr>
            <p:cNvGrpSpPr/>
            <p:nvPr/>
          </p:nvGrpSpPr>
          <p:grpSpPr>
            <a:xfrm>
              <a:off x="8398833" y="4560051"/>
              <a:ext cx="1486148" cy="492591"/>
              <a:chOff x="-380876" y="4565097"/>
              <a:chExt cx="1486148" cy="492591"/>
            </a:xfrm>
          </p:grpSpPr>
          <p:sp>
            <p:nvSpPr>
              <p:cNvPr id="60" name="Rectangle 157">
                <a:extLst>
                  <a:ext uri="{FF2B5EF4-FFF2-40B4-BE49-F238E27FC236}">
                    <a16:creationId xmlns:a16="http://schemas.microsoft.com/office/drawing/2014/main" id="{E2FF77D1-DCC1-43C3-8C08-366D46482A79}"/>
                  </a:ext>
                </a:extLst>
              </p:cNvPr>
              <p:cNvSpPr/>
              <p:nvPr/>
            </p:nvSpPr>
            <p:spPr>
              <a:xfrm>
                <a:off x="-380876" y="4570991"/>
                <a:ext cx="745407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A[3]</a:t>
                </a:r>
              </a:p>
            </p:txBody>
          </p:sp>
          <p:sp>
            <p:nvSpPr>
              <p:cNvPr id="61" name="Rectangle 158">
                <a:extLst>
                  <a:ext uri="{FF2B5EF4-FFF2-40B4-BE49-F238E27FC236}">
                    <a16:creationId xmlns:a16="http://schemas.microsoft.com/office/drawing/2014/main" id="{5BDD07C0-DEB4-442A-8D4A-8A778485B898}"/>
                  </a:ext>
                </a:extLst>
              </p:cNvPr>
              <p:cNvSpPr/>
              <p:nvPr/>
            </p:nvSpPr>
            <p:spPr>
              <a:xfrm>
                <a:off x="366420" y="4565097"/>
                <a:ext cx="738852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2400" dirty="0">
                    <a:solidFill>
                      <a:schemeClr val="tx1"/>
                    </a:solidFill>
                    <a:latin typeface="DIN Condensed" pitchFamily="2" charset="0"/>
                  </a:rPr>
                  <a:t>B[3]</a:t>
                </a:r>
              </a:p>
            </p:txBody>
          </p:sp>
        </p:grpSp>
      </p:grpSp>
      <p:sp>
        <p:nvSpPr>
          <p:cNvPr id="66" name="内容占位符 2">
            <a:extLst>
              <a:ext uri="{FF2B5EF4-FFF2-40B4-BE49-F238E27FC236}">
                <a16:creationId xmlns:a16="http://schemas.microsoft.com/office/drawing/2014/main" id="{B4F629A7-8297-42E2-A1AF-3BF07903AE41}"/>
              </a:ext>
            </a:extLst>
          </p:cNvPr>
          <p:cNvSpPr txBox="1">
            <a:spLocks/>
          </p:cNvSpPr>
          <p:nvPr/>
        </p:nvSpPr>
        <p:spPr>
          <a:xfrm>
            <a:off x="676517" y="6074177"/>
            <a:ext cx="1451413" cy="6579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cs typeface="+mn-ea"/>
                <a:sym typeface="+mn-lt"/>
              </a:rPr>
              <a:t>Scalar</a:t>
            </a:r>
          </a:p>
        </p:txBody>
      </p:sp>
      <p:sp>
        <p:nvSpPr>
          <p:cNvPr id="67" name="内容占位符 2">
            <a:extLst>
              <a:ext uri="{FF2B5EF4-FFF2-40B4-BE49-F238E27FC236}">
                <a16:creationId xmlns:a16="http://schemas.microsoft.com/office/drawing/2014/main" id="{E3586373-1F69-48B0-B0CC-8DEC6ED2C080}"/>
              </a:ext>
            </a:extLst>
          </p:cNvPr>
          <p:cNvSpPr txBox="1">
            <a:spLocks/>
          </p:cNvSpPr>
          <p:nvPr/>
        </p:nvSpPr>
        <p:spPr>
          <a:xfrm>
            <a:off x="5320389" y="6095317"/>
            <a:ext cx="1451413" cy="6579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cs typeface="+mn-ea"/>
                <a:sym typeface="+mn-lt"/>
              </a:rPr>
              <a:t>SIMD</a:t>
            </a:r>
          </a:p>
        </p:txBody>
      </p:sp>
      <p:cxnSp>
        <p:nvCxnSpPr>
          <p:cNvPr id="68" name="Straight Connector 34">
            <a:extLst>
              <a:ext uri="{FF2B5EF4-FFF2-40B4-BE49-F238E27FC236}">
                <a16:creationId xmlns:a16="http://schemas.microsoft.com/office/drawing/2014/main" id="{322B2151-6D33-436A-9E3E-CFFC62B301FC}"/>
              </a:ext>
            </a:extLst>
          </p:cNvPr>
          <p:cNvCxnSpPr/>
          <p:nvPr/>
        </p:nvCxnSpPr>
        <p:spPr>
          <a:xfrm>
            <a:off x="2564890" y="1489593"/>
            <a:ext cx="0" cy="4928839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4145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6" grpId="0"/>
      <p:bldP spid="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29A35C-8CF6-0547-BFD5-F110AFACD01B}"/>
              </a:ext>
            </a:extLst>
          </p:cNvPr>
          <p:cNvSpPr/>
          <p:nvPr/>
        </p:nvSpPr>
        <p:spPr>
          <a:xfrm>
            <a:off x="-76200" y="-152400"/>
            <a:ext cx="9220199" cy="7086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E6BAC-0812-9242-947A-0AA3CF8627B8}"/>
              </a:ext>
            </a:extLst>
          </p:cNvPr>
          <p:cNvSpPr txBox="1"/>
          <p:nvPr/>
        </p:nvSpPr>
        <p:spPr>
          <a:xfrm>
            <a:off x="1508977" y="1682176"/>
            <a:ext cx="5672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dirty="0">
                <a:solidFill>
                  <a:schemeClr val="bg1"/>
                </a:solidFill>
              </a:rPr>
              <a:t>1, 256-bit</a:t>
            </a:r>
            <a:r>
              <a:rPr lang="zh-CN" altLang="en-US" sz="2700" dirty="0">
                <a:solidFill>
                  <a:schemeClr val="bg1"/>
                </a:solidFill>
              </a:rPr>
              <a:t> </a:t>
            </a:r>
            <a:r>
              <a:rPr lang="en-US" altLang="zh-CN" sz="2700" dirty="0">
                <a:solidFill>
                  <a:schemeClr val="bg1"/>
                </a:solidFill>
              </a:rPr>
              <a:t>AVX2  (8</a:t>
            </a:r>
            <a:r>
              <a:rPr lang="zh-CN" altLang="en-US" sz="2700" dirty="0">
                <a:solidFill>
                  <a:schemeClr val="bg1"/>
                </a:solidFill>
              </a:rPr>
              <a:t>个</a:t>
            </a:r>
            <a:r>
              <a:rPr lang="en-US" altLang="zh-CN" sz="2700" dirty="0">
                <a:solidFill>
                  <a:schemeClr val="bg1"/>
                </a:solidFill>
              </a:rPr>
              <a:t>32-bit</a:t>
            </a:r>
            <a:r>
              <a:rPr lang="zh-CN" altLang="en-US" sz="2700" dirty="0">
                <a:solidFill>
                  <a:schemeClr val="bg1"/>
                </a:solidFill>
              </a:rPr>
              <a:t> </a:t>
            </a:r>
            <a:r>
              <a:rPr lang="en-US" altLang="zh-CN" sz="2700" dirty="0">
                <a:solidFill>
                  <a:schemeClr val="bg1"/>
                </a:solidFill>
              </a:rPr>
              <a:t>float)</a:t>
            </a:r>
          </a:p>
          <a:p>
            <a:pPr algn="ctr"/>
            <a:r>
              <a:rPr lang="en-US" altLang="zh-CN" sz="2700" dirty="0">
                <a:solidFill>
                  <a:schemeClr val="bg1"/>
                </a:solidFill>
              </a:rPr>
              <a:t>2, 512-bit</a:t>
            </a:r>
            <a:r>
              <a:rPr lang="zh-CN" altLang="en-US" sz="2700" dirty="0">
                <a:solidFill>
                  <a:schemeClr val="bg1"/>
                </a:solidFill>
              </a:rPr>
              <a:t> </a:t>
            </a:r>
            <a:r>
              <a:rPr lang="en-US" altLang="zh-CN" sz="2700" dirty="0">
                <a:solidFill>
                  <a:schemeClr val="bg1"/>
                </a:solidFill>
              </a:rPr>
              <a:t>AVX512 (16</a:t>
            </a:r>
            <a:r>
              <a:rPr lang="zh-CN" altLang="en-US" sz="2700" dirty="0">
                <a:solidFill>
                  <a:schemeClr val="bg1"/>
                </a:solidFill>
              </a:rPr>
              <a:t>个</a:t>
            </a:r>
            <a:r>
              <a:rPr lang="en-US" altLang="zh-CN" sz="2700" dirty="0">
                <a:solidFill>
                  <a:schemeClr val="bg1"/>
                </a:solidFill>
              </a:rPr>
              <a:t>32-bit</a:t>
            </a:r>
            <a:r>
              <a:rPr lang="zh-CN" altLang="en-US" sz="2700" dirty="0">
                <a:solidFill>
                  <a:schemeClr val="bg1"/>
                </a:solidFill>
              </a:rPr>
              <a:t> </a:t>
            </a:r>
            <a:r>
              <a:rPr lang="en-US" altLang="zh-CN" sz="2700" dirty="0">
                <a:solidFill>
                  <a:schemeClr val="bg1"/>
                </a:solidFill>
              </a:rPr>
              <a:t>float)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A1DA8-E62C-514A-B7B7-CCF2CDF9C72A}"/>
              </a:ext>
            </a:extLst>
          </p:cNvPr>
          <p:cNvSpPr txBox="1"/>
          <p:nvPr/>
        </p:nvSpPr>
        <p:spPr>
          <a:xfrm>
            <a:off x="609600" y="1143000"/>
            <a:ext cx="74711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6"/>
                </a:solidFill>
              </a:rPr>
              <a:t>SIMD in Intel</a:t>
            </a:r>
            <a:r>
              <a:rPr lang="zh-CN" altLang="en-US" sz="3000" dirty="0">
                <a:solidFill>
                  <a:schemeClr val="accent6"/>
                </a:solidFill>
              </a:rPr>
              <a:t> </a:t>
            </a:r>
            <a:r>
              <a:rPr lang="en-US" altLang="zh-CN" sz="3000" dirty="0">
                <a:solidFill>
                  <a:schemeClr val="accent6"/>
                </a:solidFill>
              </a:rPr>
              <a:t>CPU</a:t>
            </a:r>
            <a:r>
              <a:rPr lang="zh-CN" altLang="en-US" sz="3000" dirty="0">
                <a:solidFill>
                  <a:schemeClr val="accent6"/>
                </a:solidFill>
              </a:rPr>
              <a:t>：</a:t>
            </a:r>
            <a:endParaRPr lang="en-US" sz="3000" dirty="0">
              <a:solidFill>
                <a:schemeClr val="accent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6DD816-9F20-0541-8C26-4D73AF2E7AA7}"/>
              </a:ext>
            </a:extLst>
          </p:cNvPr>
          <p:cNvSpPr/>
          <p:nvPr/>
        </p:nvSpPr>
        <p:spPr>
          <a:xfrm>
            <a:off x="1672070" y="2818171"/>
            <a:ext cx="56724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roximaNovaRgRegular"/>
              </a:rPr>
              <a:t>Linus Torvalds</a:t>
            </a:r>
            <a:r>
              <a:rPr lang="en-US" sz="2400" dirty="0">
                <a:solidFill>
                  <a:schemeClr val="bg1"/>
                </a:solidFill>
                <a:latin typeface="ProximaNovaRgRegular"/>
              </a:rPr>
              <a:t>: “I hope AVX512 dies a painful death, and that Intel starts fixing real problems instead of trying to create magic instructions to then create benchmarks that they can look good on…”</a:t>
            </a:r>
          </a:p>
        </p:txBody>
      </p:sp>
    </p:spTree>
    <p:extLst>
      <p:ext uri="{BB962C8B-B14F-4D97-AF65-F5344CB8AC3E}">
        <p14:creationId xmlns:p14="http://schemas.microsoft.com/office/powerpoint/2010/main" val="142486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Recall: Amdahl’s Law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915400" cy="4489448"/>
          </a:xfrm>
        </p:spPr>
        <p:txBody>
          <a:bodyPr/>
          <a:lstStyle/>
          <a:p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Amdahl’</a:t>
            </a:r>
            <a:r>
              <a:rPr lang="en-US" altLang="ja-JP" dirty="0">
                <a:latin typeface="Tahoma" charset="0"/>
                <a:ea typeface="ＭＳ Ｐゴシック" charset="0"/>
                <a:cs typeface="ＭＳ Ｐゴシック" charset="0"/>
              </a:rPr>
              <a:t>s Law</a:t>
            </a:r>
          </a:p>
          <a:p>
            <a:pPr lvl="1"/>
            <a:r>
              <a:rPr lang="en-US" dirty="0">
                <a:latin typeface="Tahoma" charset="0"/>
                <a:ea typeface="ＭＳ Ｐゴシック" charset="0"/>
              </a:rPr>
              <a:t>f: Parallelizable fraction of a program</a:t>
            </a:r>
          </a:p>
          <a:p>
            <a:pPr lvl="1"/>
            <a:r>
              <a:rPr lang="en-US" dirty="0">
                <a:latin typeface="Tahoma" charset="0"/>
                <a:ea typeface="ＭＳ Ｐゴシック" charset="0"/>
              </a:rPr>
              <a:t>N: Number of processors</a:t>
            </a: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  <a:cs typeface="ＭＳ Ｐゴシック" charset="0"/>
              </a:rPr>
              <a:t>Maximum speedup limited by serial portion: Serial bottleneck</a:t>
            </a: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All parallel machines “suffer from” the </a:t>
            </a:r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  <a:cs typeface="ＭＳ Ｐゴシック" charset="0"/>
              </a:rPr>
              <a:t>serial bottleneck</a:t>
            </a:r>
          </a:p>
        </p:txBody>
      </p:sp>
      <p:sp>
        <p:nvSpPr>
          <p:cNvPr id="1976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EBA45D-191A-CE4E-9FFA-360FC4F55D46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charset="0"/>
                <a:ea typeface="ＭＳ Ｐゴシック" charset="0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charset="0"/>
              <a:ea typeface="ＭＳ Ｐゴシック" charset="0"/>
              <a:cs typeface="Arial" charset="0"/>
            </a:endParaRPr>
          </a:p>
        </p:txBody>
      </p:sp>
      <p:sp>
        <p:nvSpPr>
          <p:cNvPr id="197636" name="Text Box 6"/>
          <p:cNvSpPr txBox="1">
            <a:spLocks noChangeArrowheads="1"/>
          </p:cNvSpPr>
          <p:nvPr/>
        </p:nvSpPr>
        <p:spPr bwMode="auto">
          <a:xfrm>
            <a:off x="914400" y="2749550"/>
            <a:ext cx="180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Speedup =</a:t>
            </a:r>
          </a:p>
        </p:txBody>
      </p:sp>
      <p:sp>
        <p:nvSpPr>
          <p:cNvPr id="197637" name="Line 7"/>
          <p:cNvSpPr>
            <a:spLocks noChangeShapeType="1"/>
          </p:cNvSpPr>
          <p:nvPr/>
        </p:nvSpPr>
        <p:spPr bwMode="auto">
          <a:xfrm>
            <a:off x="2747963" y="2970213"/>
            <a:ext cx="3862387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7638" name="Text Box 8"/>
          <p:cNvSpPr txBox="1">
            <a:spLocks noChangeArrowheads="1"/>
          </p:cNvSpPr>
          <p:nvPr/>
        </p:nvSpPr>
        <p:spPr bwMode="auto">
          <a:xfrm>
            <a:off x="4138613" y="2514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1</a:t>
            </a:r>
          </a:p>
        </p:txBody>
      </p:sp>
      <p:sp>
        <p:nvSpPr>
          <p:cNvPr id="197639" name="Text Box 9"/>
          <p:cNvSpPr txBox="1">
            <a:spLocks noChangeArrowheads="1"/>
          </p:cNvSpPr>
          <p:nvPr/>
        </p:nvSpPr>
        <p:spPr bwMode="auto">
          <a:xfrm>
            <a:off x="3530600" y="2971800"/>
            <a:ext cx="9159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+</a:t>
            </a:r>
          </a:p>
        </p:txBody>
      </p:sp>
      <p:sp>
        <p:nvSpPr>
          <p:cNvPr id="197640" name="Text Box 10"/>
          <p:cNvSpPr txBox="1">
            <a:spLocks noChangeArrowheads="1"/>
          </p:cNvSpPr>
          <p:nvPr/>
        </p:nvSpPr>
        <p:spPr bwMode="auto">
          <a:xfrm>
            <a:off x="2820988" y="304482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1 - f</a:t>
            </a:r>
          </a:p>
        </p:txBody>
      </p:sp>
      <p:sp>
        <p:nvSpPr>
          <p:cNvPr id="197641" name="Text Box 13"/>
          <p:cNvSpPr txBox="1">
            <a:spLocks noChangeArrowheads="1"/>
          </p:cNvSpPr>
          <p:nvPr/>
        </p:nvSpPr>
        <p:spPr bwMode="auto">
          <a:xfrm>
            <a:off x="4735513" y="2941638"/>
            <a:ext cx="1154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f</a:t>
            </a:r>
          </a:p>
        </p:txBody>
      </p:sp>
      <p:sp>
        <p:nvSpPr>
          <p:cNvPr id="197642" name="Text Box 14"/>
          <p:cNvSpPr txBox="1">
            <a:spLocks noChangeArrowheads="1"/>
          </p:cNvSpPr>
          <p:nvPr/>
        </p:nvSpPr>
        <p:spPr bwMode="auto">
          <a:xfrm>
            <a:off x="4030663" y="3276600"/>
            <a:ext cx="2579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N</a:t>
            </a:r>
          </a:p>
        </p:txBody>
      </p:sp>
      <p:sp>
        <p:nvSpPr>
          <p:cNvPr id="197643" name="Line 15"/>
          <p:cNvSpPr>
            <a:spLocks noChangeShapeType="1"/>
          </p:cNvSpPr>
          <p:nvPr/>
        </p:nvSpPr>
        <p:spPr bwMode="auto">
          <a:xfrm flipV="1">
            <a:off x="4241800" y="3276600"/>
            <a:ext cx="2270125" cy="111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F9A07BD4-A796-BD42-9130-A8CFC22AF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2707" y="923925"/>
            <a:ext cx="2225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2C4F34B0-9EBC-0F45-9AEF-6C3D2B7400CE}"/>
              </a:ext>
            </a:extLst>
          </p:cNvPr>
          <p:cNvSpPr>
            <a:spLocks/>
          </p:cNvSpPr>
          <p:nvPr/>
        </p:nvSpPr>
        <p:spPr bwMode="auto">
          <a:xfrm>
            <a:off x="6500307" y="923925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3E73F45-680D-9342-9BCD-A26F54D0EDF2}"/>
              </a:ext>
            </a:extLst>
          </p:cNvPr>
          <p:cNvSpPr>
            <a:spLocks/>
          </p:cNvSpPr>
          <p:nvPr/>
        </p:nvSpPr>
        <p:spPr bwMode="auto">
          <a:xfrm>
            <a:off x="8252907" y="923925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8ACC032-0560-294E-9374-879BB19C56D0}"/>
              </a:ext>
            </a:extLst>
          </p:cNvPr>
          <p:cNvSpPr>
            <a:spLocks/>
          </p:cNvSpPr>
          <p:nvPr/>
        </p:nvSpPr>
        <p:spPr bwMode="auto">
          <a:xfrm>
            <a:off x="7871907" y="923925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AEE4DCA-650A-2543-9630-3644BCAF0FB8}"/>
              </a:ext>
            </a:extLst>
          </p:cNvPr>
          <p:cNvSpPr>
            <a:spLocks/>
          </p:cNvSpPr>
          <p:nvPr/>
        </p:nvSpPr>
        <p:spPr bwMode="auto">
          <a:xfrm>
            <a:off x="8705345" y="923925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E6CB3C0-591F-E348-B88B-D6D3AF859BC4}"/>
              </a:ext>
            </a:extLst>
          </p:cNvPr>
          <p:cNvSpPr>
            <a:spLocks/>
          </p:cNvSpPr>
          <p:nvPr/>
        </p:nvSpPr>
        <p:spPr bwMode="auto">
          <a:xfrm>
            <a:off x="6881307" y="923925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F3C1EA4A-B73C-3B44-A938-71C219E95138}"/>
              </a:ext>
            </a:extLst>
          </p:cNvPr>
          <p:cNvSpPr>
            <a:spLocks/>
          </p:cNvSpPr>
          <p:nvPr/>
        </p:nvSpPr>
        <p:spPr bwMode="auto">
          <a:xfrm>
            <a:off x="6449507" y="1524000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Freeform 35">
            <a:extLst>
              <a:ext uri="{FF2B5EF4-FFF2-40B4-BE49-F238E27FC236}">
                <a16:creationId xmlns:a16="http://schemas.microsoft.com/office/drawing/2014/main" id="{913A5D36-3A3A-3744-AF69-1BF7BDE4CA72}"/>
              </a:ext>
            </a:extLst>
          </p:cNvPr>
          <p:cNvSpPr>
            <a:spLocks/>
          </p:cNvSpPr>
          <p:nvPr/>
        </p:nvSpPr>
        <p:spPr bwMode="auto">
          <a:xfrm>
            <a:off x="8202107" y="1524000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Freeform 36">
            <a:extLst>
              <a:ext uri="{FF2B5EF4-FFF2-40B4-BE49-F238E27FC236}">
                <a16:creationId xmlns:a16="http://schemas.microsoft.com/office/drawing/2014/main" id="{2955C2EA-FD3F-6C4B-93EF-FFD990146C29}"/>
              </a:ext>
            </a:extLst>
          </p:cNvPr>
          <p:cNvSpPr>
            <a:spLocks/>
          </p:cNvSpPr>
          <p:nvPr/>
        </p:nvSpPr>
        <p:spPr bwMode="auto">
          <a:xfrm>
            <a:off x="7821107" y="1524000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Freeform 37">
            <a:extLst>
              <a:ext uri="{FF2B5EF4-FFF2-40B4-BE49-F238E27FC236}">
                <a16:creationId xmlns:a16="http://schemas.microsoft.com/office/drawing/2014/main" id="{734AF057-CF9B-9040-92B0-9B20F59EB372}"/>
              </a:ext>
            </a:extLst>
          </p:cNvPr>
          <p:cNvSpPr>
            <a:spLocks/>
          </p:cNvSpPr>
          <p:nvPr/>
        </p:nvSpPr>
        <p:spPr bwMode="auto">
          <a:xfrm>
            <a:off x="7363907" y="1524000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Freeform 38">
            <a:extLst>
              <a:ext uri="{FF2B5EF4-FFF2-40B4-BE49-F238E27FC236}">
                <a16:creationId xmlns:a16="http://schemas.microsoft.com/office/drawing/2014/main" id="{80EC9976-5524-A94C-95A2-D64465EEA72D}"/>
              </a:ext>
            </a:extLst>
          </p:cNvPr>
          <p:cNvSpPr>
            <a:spLocks/>
          </p:cNvSpPr>
          <p:nvPr/>
        </p:nvSpPr>
        <p:spPr bwMode="auto">
          <a:xfrm>
            <a:off x="6830507" y="1524000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4" name="Freeform 39">
            <a:extLst>
              <a:ext uri="{FF2B5EF4-FFF2-40B4-BE49-F238E27FC236}">
                <a16:creationId xmlns:a16="http://schemas.microsoft.com/office/drawing/2014/main" id="{E4A6E096-B5F8-0743-B74A-7525B5EBF423}"/>
              </a:ext>
            </a:extLst>
          </p:cNvPr>
          <p:cNvSpPr>
            <a:spLocks/>
          </p:cNvSpPr>
          <p:nvPr/>
        </p:nvSpPr>
        <p:spPr bwMode="auto">
          <a:xfrm>
            <a:off x="7424232" y="280988"/>
            <a:ext cx="355600" cy="633412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Freeform 40">
            <a:extLst>
              <a:ext uri="{FF2B5EF4-FFF2-40B4-BE49-F238E27FC236}">
                <a16:creationId xmlns:a16="http://schemas.microsoft.com/office/drawing/2014/main" id="{3E764172-5FCF-C04F-B91D-4D0AB17AE481}"/>
              </a:ext>
            </a:extLst>
          </p:cNvPr>
          <p:cNvSpPr>
            <a:spLocks/>
          </p:cNvSpPr>
          <p:nvPr/>
        </p:nvSpPr>
        <p:spPr bwMode="auto">
          <a:xfrm>
            <a:off x="7378195" y="2162175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6" name="Line 41">
            <a:extLst>
              <a:ext uri="{FF2B5EF4-FFF2-40B4-BE49-F238E27FC236}">
                <a16:creationId xmlns:a16="http://schemas.microsoft.com/office/drawing/2014/main" id="{23955D4C-315B-A54D-BDE7-A8F93E69B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3807" y="2162175"/>
            <a:ext cx="2314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A852A126-14CD-0341-930F-8E0C52F3AE93}"/>
              </a:ext>
            </a:extLst>
          </p:cNvPr>
          <p:cNvSpPr>
            <a:spLocks/>
          </p:cNvSpPr>
          <p:nvPr/>
        </p:nvSpPr>
        <p:spPr bwMode="auto">
          <a:xfrm>
            <a:off x="8694232" y="1557338"/>
            <a:ext cx="355600" cy="633412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Freeform 37">
            <a:extLst>
              <a:ext uri="{FF2B5EF4-FFF2-40B4-BE49-F238E27FC236}">
                <a16:creationId xmlns:a16="http://schemas.microsoft.com/office/drawing/2014/main" id="{7DB4AD7B-D7CE-6549-9B5B-7B6967D05E5D}"/>
              </a:ext>
            </a:extLst>
          </p:cNvPr>
          <p:cNvSpPr>
            <a:spLocks/>
          </p:cNvSpPr>
          <p:nvPr/>
        </p:nvSpPr>
        <p:spPr bwMode="auto">
          <a:xfrm>
            <a:off x="7414707" y="923925"/>
            <a:ext cx="355600" cy="633413"/>
          </a:xfrm>
          <a:custGeom>
            <a:avLst/>
            <a:gdLst>
              <a:gd name="T0" fmla="*/ 2147483647 w 224"/>
              <a:gd name="T1" fmla="*/ 0 h 336"/>
              <a:gd name="T2" fmla="*/ 2147483647 w 224"/>
              <a:gd name="T3" fmla="*/ 2147483647 h 336"/>
              <a:gd name="T4" fmla="*/ 2147483647 w 224"/>
              <a:gd name="T5" fmla="*/ 2147483647 h 336"/>
              <a:gd name="T6" fmla="*/ 2147483647 w 224"/>
              <a:gd name="T7" fmla="*/ 2147483647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336"/>
              <a:gd name="T14" fmla="*/ 224 w 2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336">
                <a:moveTo>
                  <a:pt x="112" y="0"/>
                </a:moveTo>
                <a:cubicBezTo>
                  <a:pt x="168" y="28"/>
                  <a:pt x="224" y="56"/>
                  <a:pt x="208" y="96"/>
                </a:cubicBezTo>
                <a:cubicBezTo>
                  <a:pt x="192" y="136"/>
                  <a:pt x="32" y="200"/>
                  <a:pt x="16" y="240"/>
                </a:cubicBezTo>
                <a:cubicBezTo>
                  <a:pt x="0" y="280"/>
                  <a:pt x="56" y="308"/>
                  <a:pt x="112" y="336"/>
                </a:cubicBezTo>
              </a:path>
            </a:pathLst>
          </a:cu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F211D6-4152-468F-B6D5-47E112CF6B74}"/>
              </a:ext>
            </a:extLst>
          </p:cNvPr>
          <p:cNvSpPr/>
          <p:nvPr/>
        </p:nvSpPr>
        <p:spPr>
          <a:xfrm>
            <a:off x="78041" y="5838424"/>
            <a:ext cx="790524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700" dirty="0">
                <a:latin typeface="Tahoma" charset="0"/>
                <a:ea typeface="ＭＳ Ｐゴシック" charset="0"/>
              </a:rPr>
              <a:t>Amdahl, </a:t>
            </a:r>
            <a:r>
              <a:rPr lang="ja-JP" altLang="en-US" sz="1700" dirty="0">
                <a:latin typeface="Tahoma" charset="0"/>
                <a:ea typeface="ＭＳ Ｐゴシック" charset="0"/>
              </a:rPr>
              <a:t>“</a:t>
            </a:r>
            <a:r>
              <a:rPr lang="en-US" altLang="ja-JP" sz="1700" dirty="0">
                <a:latin typeface="Tahoma" charset="0"/>
                <a:ea typeface="ＭＳ Ｐゴシック" charset="0"/>
              </a:rPr>
              <a:t>Validity of the single processor approach to achieving large scale computing capabilities,</a:t>
            </a:r>
            <a:r>
              <a:rPr lang="ja-JP" altLang="en-US" sz="1700" dirty="0">
                <a:latin typeface="Tahoma" charset="0"/>
                <a:ea typeface="ＭＳ Ｐゴシック" charset="0"/>
              </a:rPr>
              <a:t>”</a:t>
            </a:r>
            <a:r>
              <a:rPr lang="en-US" altLang="ja-JP" sz="1700" dirty="0">
                <a:latin typeface="Tahoma" charset="0"/>
                <a:ea typeface="ＭＳ Ｐゴシック" charset="0"/>
              </a:rPr>
              <a:t> AFIPS 1967. </a:t>
            </a:r>
          </a:p>
        </p:txBody>
      </p:sp>
    </p:spTree>
    <p:extLst>
      <p:ext uri="{BB962C8B-B14F-4D97-AF65-F5344CB8AC3E}">
        <p14:creationId xmlns:p14="http://schemas.microsoft.com/office/powerpoint/2010/main" val="2130154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0EB290AB-1D0F-DC4F-BFB9-B04440BE4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Vector Processor Limitations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A716016E-E4D4-454B-84DE-5EAE1DF8B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809038" cy="5194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--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Memory (bandwidth) can easily become a bottleneck, especially if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	</a:t>
            </a:r>
            <a:r>
              <a:rPr lang="en-US" altLang="en-US" dirty="0">
                <a:ea typeface="ＭＳ Ｐゴシック" panose="020B0600070205080204" pitchFamily="34" charset="-128"/>
              </a:rPr>
              <a:t>1. compute/memory operation balance is not maintained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2. data is not mapped appropriately to memory banks</a:t>
            </a: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A101350D-E410-E54E-9380-E6108874D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AC498E9-C0BA-0844-8C4A-29742F241DDC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27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42376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29A35C-8CF6-0547-BFD5-F110AFACD01B}"/>
              </a:ext>
            </a:extLst>
          </p:cNvPr>
          <p:cNvSpPr/>
          <p:nvPr/>
        </p:nvSpPr>
        <p:spPr>
          <a:xfrm>
            <a:off x="-76200" y="-152400"/>
            <a:ext cx="9220199" cy="7086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E6BAC-0812-9242-947A-0AA3CF8627B8}"/>
              </a:ext>
            </a:extLst>
          </p:cNvPr>
          <p:cNvSpPr txBox="1"/>
          <p:nvPr/>
        </p:nvSpPr>
        <p:spPr>
          <a:xfrm>
            <a:off x="1600200" y="2743200"/>
            <a:ext cx="5672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dirty="0">
                <a:solidFill>
                  <a:schemeClr val="bg1"/>
                </a:solidFill>
              </a:rPr>
              <a:t>What needs us to do to support SIMD instructions?</a:t>
            </a:r>
          </a:p>
        </p:txBody>
      </p:sp>
    </p:spTree>
    <p:extLst>
      <p:ext uri="{BB962C8B-B14F-4D97-AF65-F5344CB8AC3E}">
        <p14:creationId xmlns:p14="http://schemas.microsoft.com/office/powerpoint/2010/main" val="2929055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5" name="Rectangle 2">
            <a:extLst>
              <a:ext uri="{FF2B5EF4-FFF2-40B4-BE49-F238E27FC236}">
                <a16:creationId xmlns:a16="http://schemas.microsoft.com/office/drawing/2014/main" id="{DDD3D0C1-E42A-094C-BAB2-90FE78F8ECC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57188" y="0"/>
            <a:ext cx="7591425" cy="914400"/>
          </a:xfrm>
        </p:spPr>
        <p:txBody>
          <a:bodyPr anchor="ctr"/>
          <a:lstStyle/>
          <a:p>
            <a:r>
              <a:rPr lang="en-US" altLang="en-US" dirty="0">
                <a:latin typeface="Garamond" panose="02020404030301010803" pitchFamily="18" charset="0"/>
                <a:ea typeface="ＭＳ Ｐゴシック" panose="020B0600070205080204" pitchFamily="34" charset="-128"/>
              </a:rPr>
              <a:t>Recall: MIPS State Elements</a:t>
            </a:r>
            <a:endParaRPr lang="en-GB" altLang="en-US" dirty="0">
              <a:latin typeface="Garamond" panose="02020404030301010803" pitchFamily="18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216066" name="Content Placeholder 3">
            <a:extLst>
              <a:ext uri="{FF2B5EF4-FFF2-40B4-BE49-F238E27FC236}">
                <a16:creationId xmlns:a16="http://schemas.microsoft.com/office/drawing/2014/main" id="{01BF73AB-647E-8D4A-A46F-8E15C9EE29CC}"/>
              </a:ext>
            </a:extLst>
          </p:cNvPr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</p:nvPr>
        </p:nvGraphicFramePr>
        <p:xfrm>
          <a:off x="903288" y="762000"/>
          <a:ext cx="7478712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0942300" imgH="5854700" progId="Visio.Drawing.6">
                  <p:embed/>
                </p:oleObj>
              </mc:Choice>
              <mc:Fallback>
                <p:oleObj name="VISIO" r:id="rId5" imgW="20942300" imgH="5854700" progId="Visio.Drawing.6">
                  <p:embed/>
                  <p:pic>
                    <p:nvPicPr>
                      <p:cNvPr id="216066" name="Content Placeholder 3">
                        <a:extLst>
                          <a:ext uri="{FF2B5EF4-FFF2-40B4-BE49-F238E27FC236}">
                            <a16:creationId xmlns:a16="http://schemas.microsoft.com/office/drawing/2014/main" id="{01BF73AB-647E-8D4A-A46F-8E15C9EE29C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762000"/>
                        <a:ext cx="7478712" cy="209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67" name="Content Placeholder 2">
            <a:extLst>
              <a:ext uri="{FF2B5EF4-FFF2-40B4-BE49-F238E27FC236}">
                <a16:creationId xmlns:a16="http://schemas.microsoft.com/office/drawing/2014/main" id="{E1DE4F0D-A17C-7445-AC0C-DD733E1ED1A7}"/>
              </a:ext>
            </a:extLst>
          </p:cNvPr>
          <p:cNvSpPr>
            <a:spLocks noGrp="1" noChangeArrowheads="1"/>
          </p:cNvSpPr>
          <p:nvPr>
            <p:ph idx="11"/>
          </p:nvPr>
        </p:nvSpPr>
        <p:spPr>
          <a:xfrm>
            <a:off x="76200" y="2895600"/>
            <a:ext cx="8763000" cy="3581400"/>
          </a:xfrm>
        </p:spPr>
        <p:txBody>
          <a:bodyPr/>
          <a:lstStyle/>
          <a:p>
            <a:pPr lvl="1"/>
            <a:r>
              <a:rPr lang="en-US" altLang="en-US" sz="19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Program counter: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32-bit register </a:t>
            </a:r>
          </a:p>
          <a:p>
            <a:pPr lvl="1"/>
            <a:r>
              <a:rPr lang="en-US" altLang="en-US" sz="19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Instruction memory: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Takes input 32-bit address A and reads the 32-bit data (i.e., instruction) from that address to the read data output RD.</a:t>
            </a:r>
          </a:p>
          <a:p>
            <a:pPr lvl="1"/>
            <a:r>
              <a:rPr lang="en-US" altLang="en-US" sz="19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Register file: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The 32-element, 32-bit register file has 2 read ports and 1 write port</a:t>
            </a:r>
          </a:p>
          <a:p>
            <a:pPr lvl="1"/>
            <a:r>
              <a:rPr lang="en-US" altLang="en-US" sz="19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Data memory: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If the write enable, WE, is 1, it writes 32-bit data WD into memory location at 32-bit address A on the rising edge of the clock.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If the write enable is 0, it reads 32-bit data from address A onto RD.</a:t>
            </a:r>
          </a:p>
        </p:txBody>
      </p:sp>
      <p:sp>
        <p:nvSpPr>
          <p:cNvPr id="216068" name="TextBox 2">
            <a:extLst>
              <a:ext uri="{FF2B5EF4-FFF2-40B4-BE49-F238E27FC236}">
                <a16:creationId xmlns:a16="http://schemas.microsoft.com/office/drawing/2014/main" id="{F3C1E8DD-AD41-FE4C-8680-C10EB29F7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550025"/>
            <a:ext cx="6656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 dirty="0"/>
              <a:t>This notation is used in H&amp;H single-cycle MIPS implementation (H&amp;H Chapter 7.3)</a:t>
            </a:r>
          </a:p>
        </p:txBody>
      </p:sp>
    </p:spTree>
    <p:extLst>
      <p:ext uri="{BB962C8B-B14F-4D97-AF65-F5344CB8AC3E}">
        <p14:creationId xmlns:p14="http://schemas.microsoft.com/office/powerpoint/2010/main" val="408436106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5" name="Title 1">
            <a:extLst>
              <a:ext uri="{FF2B5EF4-FFF2-40B4-BE49-F238E27FC236}">
                <a16:creationId xmlns:a16="http://schemas.microsoft.com/office/drawing/2014/main" id="{E221D396-9418-EC43-BD27-AAB3435BF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The Full MIPS Datapath</a:t>
            </a:r>
          </a:p>
        </p:txBody>
      </p:sp>
      <p:sp>
        <p:nvSpPr>
          <p:cNvPr id="221187" name="Slide Number Placeholder 3">
            <a:extLst>
              <a:ext uri="{FF2B5EF4-FFF2-40B4-BE49-F238E27FC236}">
                <a16:creationId xmlns:a16="http://schemas.microsoft.com/office/drawing/2014/main" id="{67878304-50FE-0C48-86D0-3972B878EF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173D9C-C2F3-EE49-A74A-EE142EF09B41}" type="slidenum">
              <a:rPr lang="en-US" altLang="en-US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221193" name="Rectangle 8">
            <a:extLst>
              <a:ext uri="{FF2B5EF4-FFF2-40B4-BE49-F238E27FC236}">
                <a16:creationId xmlns:a16="http://schemas.microsoft.com/office/drawing/2014/main" id="{0A5FCBD1-A83D-2E47-8939-5E43461D9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14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3B812F"/>
              </a:buClr>
              <a:buSzPct val="70000"/>
              <a:buFont typeface="Wingdings" pitchFamily="2" charset="2"/>
              <a:buNone/>
            </a:pPr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**Based on original figure from [P&amp;H CO&amp;D, COPYRIGHT 2004 Elsevier. ALL RIGHTS RESERVED.]</a:t>
            </a:r>
          </a:p>
        </p:txBody>
      </p:sp>
      <p:sp>
        <p:nvSpPr>
          <p:cNvPr id="221194" name="Text Box 9">
            <a:extLst>
              <a:ext uri="{FF2B5EF4-FFF2-40B4-BE49-F238E27FC236}">
                <a16:creationId xmlns:a16="http://schemas.microsoft.com/office/drawing/2014/main" id="{DCE65D1E-F37D-144F-BCBA-BC40D8EB5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087" y="6031597"/>
            <a:ext cx="19145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</a:rPr>
              <a:t>JAL, JR, JALR omitted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985AE112-FC75-4EBA-81C3-AAA0FD2224DE}"/>
              </a:ext>
            </a:extLst>
          </p:cNvPr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8462097"/>
              </p:ext>
            </p:extLst>
          </p:nvPr>
        </p:nvGraphicFramePr>
        <p:xfrm>
          <a:off x="420687" y="1219200"/>
          <a:ext cx="8302625" cy="460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3210500" imgH="18415000" progId="Visio.Drawing.6">
                  <p:embed/>
                </p:oleObj>
              </mc:Choice>
              <mc:Fallback>
                <p:oleObj name="VISIO" r:id="rId3" imgW="33210500" imgH="18415000" progId="Visio.Drawing.6">
                  <p:embed/>
                  <p:pic>
                    <p:nvPicPr>
                      <p:cNvPr id="11" name="Content Placeholder 4">
                        <a:extLst>
                          <a:ext uri="{FF2B5EF4-FFF2-40B4-BE49-F238E27FC236}">
                            <a16:creationId xmlns:a16="http://schemas.microsoft.com/office/drawing/2014/main" id="{985AE112-FC75-4EBA-81C3-AAA0FD2224D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7" y="1219200"/>
                        <a:ext cx="8302625" cy="460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892400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5" name="Rectangle 2">
            <a:extLst>
              <a:ext uri="{FF2B5EF4-FFF2-40B4-BE49-F238E27FC236}">
                <a16:creationId xmlns:a16="http://schemas.microsoft.com/office/drawing/2014/main" id="{DDD3D0C1-E42A-094C-BAB2-90FE78F8ECC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76200" y="0"/>
            <a:ext cx="9015412" cy="914400"/>
          </a:xfrm>
        </p:spPr>
        <p:txBody>
          <a:bodyPr anchor="ctr"/>
          <a:lstStyle/>
          <a:p>
            <a:r>
              <a:rPr lang="en-US" altLang="en-US" dirty="0">
                <a:latin typeface="Garamond" panose="02020404030301010803" pitchFamily="18" charset="0"/>
                <a:ea typeface="ＭＳ Ｐゴシック" panose="020B0600070205080204" pitchFamily="34" charset="-128"/>
              </a:rPr>
              <a:t>MIPS State Elements When Enabling SIMD</a:t>
            </a:r>
            <a:endParaRPr lang="en-GB" altLang="en-US" dirty="0">
              <a:latin typeface="Garamond" panose="02020404030301010803" pitchFamily="18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216066" name="Content Placeholder 3">
            <a:extLst>
              <a:ext uri="{FF2B5EF4-FFF2-40B4-BE49-F238E27FC236}">
                <a16:creationId xmlns:a16="http://schemas.microsoft.com/office/drawing/2014/main" id="{01BF73AB-647E-8D4A-A46F-8E15C9EE29CC}"/>
              </a:ext>
            </a:extLst>
          </p:cNvPr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</p:nvPr>
        </p:nvGraphicFramePr>
        <p:xfrm>
          <a:off x="990600" y="762353"/>
          <a:ext cx="7080250" cy="1980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0942300" imgH="5854700" progId="Visio.Drawing.6">
                  <p:embed/>
                </p:oleObj>
              </mc:Choice>
              <mc:Fallback>
                <p:oleObj name="VISIO" r:id="rId5" imgW="20942300" imgH="5854700" progId="Visio.Drawing.6">
                  <p:embed/>
                  <p:pic>
                    <p:nvPicPr>
                      <p:cNvPr id="216066" name="Content Placeholder 3">
                        <a:extLst>
                          <a:ext uri="{FF2B5EF4-FFF2-40B4-BE49-F238E27FC236}">
                            <a16:creationId xmlns:a16="http://schemas.microsoft.com/office/drawing/2014/main" id="{01BF73AB-647E-8D4A-A46F-8E15C9EE29C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762353"/>
                        <a:ext cx="7080250" cy="1980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67" name="Content Placeholder 2">
            <a:extLst>
              <a:ext uri="{FF2B5EF4-FFF2-40B4-BE49-F238E27FC236}">
                <a16:creationId xmlns:a16="http://schemas.microsoft.com/office/drawing/2014/main" id="{E1DE4F0D-A17C-7445-AC0C-DD733E1ED1A7}"/>
              </a:ext>
            </a:extLst>
          </p:cNvPr>
          <p:cNvSpPr>
            <a:spLocks noGrp="1" noChangeArrowheads="1"/>
          </p:cNvSpPr>
          <p:nvPr>
            <p:ph idx="11"/>
          </p:nvPr>
        </p:nvSpPr>
        <p:spPr>
          <a:xfrm>
            <a:off x="76200" y="2743200"/>
            <a:ext cx="9015412" cy="3581400"/>
          </a:xfrm>
        </p:spPr>
        <p:txBody>
          <a:bodyPr/>
          <a:lstStyle/>
          <a:p>
            <a:pPr lvl="1"/>
            <a:r>
              <a:rPr lang="en-US" altLang="en-US" sz="19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Program counter: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32-bit register </a:t>
            </a:r>
          </a:p>
          <a:p>
            <a:pPr lvl="1"/>
            <a:r>
              <a:rPr lang="en-US" altLang="en-US" sz="19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Instruction memory: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Takes input 32-bit address A and reads the 32-bit data (i.e., instruction) from that address to the read data output RD.</a:t>
            </a:r>
          </a:p>
          <a:p>
            <a:pPr lvl="1"/>
            <a:r>
              <a:rPr lang="en-US" altLang="en-US" sz="19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Register file (s):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The 32-element, 32-bit register file has 2 read ports and 1 write port</a:t>
            </a:r>
          </a:p>
          <a:p>
            <a:pPr marL="914400" lvl="2" indent="0">
              <a:buNone/>
            </a:pPr>
            <a:r>
              <a:rPr lang="en-US" altLang="en-US" sz="1800" dirty="0">
                <a:solidFill>
                  <a:srgbClr val="0432FF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The 32-element, 128-bit register file has 2 read ports and 1 write port</a:t>
            </a:r>
          </a:p>
          <a:p>
            <a:pPr lvl="1"/>
            <a:r>
              <a:rPr lang="en-US" altLang="en-US" sz="1900" b="1" dirty="0">
                <a:latin typeface="Tahoma" panose="020B0604030504040204" pitchFamily="34" charset="0"/>
                <a:ea typeface="ＭＳ Ｐゴシック" panose="020B0600070205080204" pitchFamily="34" charset="-128"/>
              </a:rPr>
              <a:t>Data memory: </a:t>
            </a:r>
          </a:p>
          <a:p>
            <a:pPr marL="914400" lvl="2" indent="0">
              <a:buFont typeface="Wingdings" pitchFamily="2" charset="2"/>
              <a:buNone/>
            </a:pP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If WE is 1, it writes 32-bit data WD into memory location at 32-bit address A. </a:t>
            </a:r>
            <a:r>
              <a:rPr lang="en-US" altLang="en-US" sz="1800" dirty="0">
                <a:solidFill>
                  <a:srgbClr val="0432FF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If WE1 = 1, writes 128-bit data WD1 to A1 address</a:t>
            </a:r>
            <a:r>
              <a:rPr lang="en-US" altLang="en-US" sz="1800" dirty="0">
                <a:latin typeface="Tahoma" panose="020B0604030504040204" pitchFamily="34" charset="0"/>
                <a:ea typeface="ＭＳ Ｐゴシック" panose="020B0600070205080204" pitchFamily="34" charset="-128"/>
              </a:rPr>
              <a:t>. </a:t>
            </a:r>
          </a:p>
        </p:txBody>
      </p:sp>
      <p:sp>
        <p:nvSpPr>
          <p:cNvPr id="216068" name="TextBox 2">
            <a:extLst>
              <a:ext uri="{FF2B5EF4-FFF2-40B4-BE49-F238E27FC236}">
                <a16:creationId xmlns:a16="http://schemas.microsoft.com/office/drawing/2014/main" id="{F3C1E8DD-AD41-FE4C-8680-C10EB29F7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550025"/>
            <a:ext cx="6656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This notation is used in H&amp;H single-cycle MIPS implementation (H&amp;H Chapter 7.3)</a:t>
            </a:r>
          </a:p>
        </p:txBody>
      </p:sp>
      <p:sp>
        <p:nvSpPr>
          <p:cNvPr id="6" name="TextBox 48">
            <a:extLst>
              <a:ext uri="{FF2B5EF4-FFF2-40B4-BE49-F238E27FC236}">
                <a16:creationId xmlns:a16="http://schemas.microsoft.com/office/drawing/2014/main" id="{BF03B250-E302-4181-B46E-C061C540E3E5}"/>
              </a:ext>
            </a:extLst>
          </p:cNvPr>
          <p:cNvSpPr txBox="1"/>
          <p:nvPr/>
        </p:nvSpPr>
        <p:spPr>
          <a:xfrm>
            <a:off x="2895600" y="4341019"/>
            <a:ext cx="4038600" cy="46196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kern="0" dirty="0">
                <a:solidFill>
                  <a:srgbClr val="FF0000"/>
                </a:solidFill>
                <a:latin typeface="Calibri"/>
                <a:ea typeface="+mn-ea"/>
              </a:rPr>
              <a:t>What else parts needs to add?</a:t>
            </a:r>
          </a:p>
        </p:txBody>
      </p:sp>
    </p:spTree>
    <p:extLst>
      <p:ext uri="{BB962C8B-B14F-4D97-AF65-F5344CB8AC3E}">
        <p14:creationId xmlns:p14="http://schemas.microsoft.com/office/powerpoint/2010/main" val="3796070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CEAE0AC9-2A24-7C47-97E2-58917C8CA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8" y="152400"/>
            <a:ext cx="8558212" cy="914400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ea typeface="ＭＳ Ｐゴシック" panose="020B0600070205080204" pitchFamily="34" charset="-128"/>
              </a:rPr>
              <a:t>What will This Graph Be to Support Vector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Insns</a:t>
            </a:r>
            <a:r>
              <a:rPr lang="en-US" altLang="en-US" sz="3200" dirty="0">
                <a:ea typeface="ＭＳ Ｐゴシック" panose="020B0600070205080204" pitchFamily="34" charset="-128"/>
              </a:rPr>
              <a:t>?</a:t>
            </a:r>
            <a:endParaRPr lang="de-CH" altLang="en-US" sz="32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56322" name="Content Placeholder 4">
            <a:extLst>
              <a:ext uri="{FF2B5EF4-FFF2-40B4-BE49-F238E27FC236}">
                <a16:creationId xmlns:a16="http://schemas.microsoft.com/office/drawing/2014/main" id="{B4EF8F08-886D-B243-B198-6798BB7207A7}"/>
              </a:ext>
            </a:extLst>
          </p:cNvPr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500063" y="1096963"/>
          <a:ext cx="8302625" cy="460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3210500" imgH="18415000" progId="Visio.Drawing.6">
                  <p:embed/>
                </p:oleObj>
              </mc:Choice>
              <mc:Fallback>
                <p:oleObj name="VISIO" r:id="rId3" imgW="33210500" imgH="18415000" progId="Visio.Drawing.6">
                  <p:embed/>
                  <p:pic>
                    <p:nvPicPr>
                      <p:cNvPr id="56322" name="Content Placeholder 4">
                        <a:extLst>
                          <a:ext uri="{FF2B5EF4-FFF2-40B4-BE49-F238E27FC236}">
                            <a16:creationId xmlns:a16="http://schemas.microsoft.com/office/drawing/2014/main" id="{B4EF8F08-886D-B243-B198-6798BB7207A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096963"/>
                        <a:ext cx="8302625" cy="460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3" name="Content Placeholder 3">
            <a:extLst>
              <a:ext uri="{FF2B5EF4-FFF2-40B4-BE49-F238E27FC236}">
                <a16:creationId xmlns:a16="http://schemas.microsoft.com/office/drawing/2014/main" id="{B636EDE3-AB57-5C40-9F0F-32FFE33AE169}"/>
              </a:ext>
            </a:extLst>
          </p:cNvPr>
          <p:cNvSpPr>
            <a:spLocks noGrp="1" noChangeArrowheads="1"/>
          </p:cNvSpPr>
          <p:nvPr>
            <p:ph idx="11"/>
          </p:nvPr>
        </p:nvSpPr>
        <p:spPr>
          <a:xfrm>
            <a:off x="457201" y="5867400"/>
            <a:ext cx="7843838" cy="533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                                           VRF                VALU         </a:t>
            </a:r>
            <a:r>
              <a:rPr lang="en-US" altLang="en-US" dirty="0" err="1">
                <a:solidFill>
                  <a:srgbClr val="0432FF"/>
                </a:solidFill>
                <a:ea typeface="ＭＳ Ｐゴシック" panose="020B0600070205080204" pitchFamily="34" charset="-128"/>
              </a:rPr>
              <a:t>V</a:t>
            </a:r>
            <a:r>
              <a:rPr lang="en-US" altLang="zh-CN" dirty="0" err="1">
                <a:solidFill>
                  <a:srgbClr val="0432FF"/>
                </a:solidFill>
                <a:ea typeface="ＭＳ Ｐゴシック" panose="020B0600070205080204" pitchFamily="34" charset="-128"/>
              </a:rPr>
              <a:t>Memory</a:t>
            </a:r>
            <a:endParaRPr lang="en-US" altLang="en-US" dirty="0">
              <a:solidFill>
                <a:srgbClr val="0432FF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424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238FBEAD-C073-6B46-BE31-7002F2298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896938"/>
          </a:xfrm>
        </p:spPr>
        <p:txBody>
          <a:bodyPr anchor="ctr"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Programmer Visible (Architectural) States</a:t>
            </a:r>
          </a:p>
        </p:txBody>
      </p:sp>
      <p:sp>
        <p:nvSpPr>
          <p:cNvPr id="77826" name="Slide Number Placeholder 3">
            <a:extLst>
              <a:ext uri="{FF2B5EF4-FFF2-40B4-BE49-F238E27FC236}">
                <a16:creationId xmlns:a16="http://schemas.microsoft.com/office/drawing/2014/main" id="{4637093E-02AE-7A4E-B195-FCB068A0BE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B1FE01-129A-8447-93B8-2EBAE888E76B}" type="slidenum">
              <a:rPr lang="en-US" altLang="en-US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07AB2A42-1C5A-6244-894A-AD6422BF4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1" y="2765441"/>
            <a:ext cx="2819400" cy="2971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Tahoma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>
              <a:latin typeface="Calibri" charset="0"/>
            </a:endParaRP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14BD6E6B-1EAF-464E-A745-4AB7BAEA1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1" y="2765441"/>
            <a:ext cx="2819400" cy="290512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M[0]</a:t>
            </a:r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F85AFD47-F905-0645-A168-DD8E26E50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1" y="3055953"/>
            <a:ext cx="2819400" cy="288925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M[1]</a:t>
            </a:r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D9B30826-29BC-DF43-97F7-DA6EF6CE6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1" y="3344878"/>
            <a:ext cx="2819400" cy="290513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M[2]</a:t>
            </a:r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A99169C5-E523-5348-B9C5-681F80B89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1" y="3635391"/>
            <a:ext cx="2819400" cy="290512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M[3]</a:t>
            </a:r>
          </a:p>
        </p:txBody>
      </p:sp>
      <p:sp>
        <p:nvSpPr>
          <p:cNvPr id="77832" name="Rectangle 8">
            <a:extLst>
              <a:ext uri="{FF2B5EF4-FFF2-40B4-BE49-F238E27FC236}">
                <a16:creationId xmlns:a16="http://schemas.microsoft.com/office/drawing/2014/main" id="{E88C6DEE-C7B4-3B40-B514-C5A530CF0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1" y="3925903"/>
            <a:ext cx="2819400" cy="288925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M[4]</a:t>
            </a:r>
          </a:p>
        </p:txBody>
      </p:sp>
      <p:sp>
        <p:nvSpPr>
          <p:cNvPr id="77833" name="Rectangle 9">
            <a:extLst>
              <a:ext uri="{FF2B5EF4-FFF2-40B4-BE49-F238E27FC236}">
                <a16:creationId xmlns:a16="http://schemas.microsoft.com/office/drawing/2014/main" id="{4D034064-DDD9-6F41-BBE9-682601A27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1" y="5446728"/>
            <a:ext cx="2819400" cy="290513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M[N-1]</a:t>
            </a:r>
          </a:p>
        </p:txBody>
      </p:sp>
      <p:sp>
        <p:nvSpPr>
          <p:cNvPr id="77834" name="Rectangle 10">
            <a:extLst>
              <a:ext uri="{FF2B5EF4-FFF2-40B4-BE49-F238E27FC236}">
                <a16:creationId xmlns:a16="http://schemas.microsoft.com/office/drawing/2014/main" id="{96B3D36F-6E98-1C4D-96D2-B435D893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73306"/>
            <a:ext cx="39624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alibri" panose="020F0502020204030204" pitchFamily="34" charset="0"/>
              </a:rPr>
              <a:t>Memory:</a:t>
            </a:r>
            <a:endParaRPr lang="en-US" altLang="en-US" sz="1800" b="1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Calibri" panose="020F0502020204030204" pitchFamily="34" charset="0"/>
              </a:rPr>
              <a:t>1, array of storage locations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Calibri" panose="020F0502020204030204" pitchFamily="34" charset="0"/>
              </a:rPr>
              <a:t>    indexed by an address;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432FF"/>
                </a:solidFill>
                <a:latin typeface="Calibri" panose="020F0502020204030204" pitchFamily="34" charset="0"/>
              </a:rPr>
              <a:t>2, Multiple bank design.</a:t>
            </a:r>
          </a:p>
        </p:txBody>
      </p:sp>
      <p:sp>
        <p:nvSpPr>
          <p:cNvPr id="77835" name="Rectangle 11">
            <a:extLst>
              <a:ext uri="{FF2B5EF4-FFF2-40B4-BE49-F238E27FC236}">
                <a16:creationId xmlns:a16="http://schemas.microsoft.com/office/drawing/2014/main" id="{D4B67BCA-E761-3543-96D3-C456F3D6E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299" y="4762950"/>
            <a:ext cx="3276600" cy="287338"/>
          </a:xfrm>
          <a:prstGeom prst="rect">
            <a:avLst/>
          </a:prstGeom>
          <a:solidFill>
            <a:srgbClr val="FF7E7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Calibri" panose="020F0502020204030204" pitchFamily="34" charset="0"/>
              </a:rPr>
              <a:t>Program Counter</a:t>
            </a:r>
            <a:endParaRPr lang="en-US" altLang="en-US" sz="1900" dirty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grpSp>
        <p:nvGrpSpPr>
          <p:cNvPr id="77836" name="Group 13">
            <a:extLst>
              <a:ext uri="{FF2B5EF4-FFF2-40B4-BE49-F238E27FC236}">
                <a16:creationId xmlns:a16="http://schemas.microsoft.com/office/drawing/2014/main" id="{3367D401-C415-A444-B197-B59D034697A1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007173"/>
            <a:ext cx="4114800" cy="2304878"/>
            <a:chOff x="3168" y="144"/>
            <a:chExt cx="2592" cy="1296"/>
          </a:xfrm>
        </p:grpSpPr>
        <p:sp>
          <p:nvSpPr>
            <p:cNvPr id="77838" name="Rectangle 14">
              <a:extLst>
                <a:ext uri="{FF2B5EF4-FFF2-40B4-BE49-F238E27FC236}">
                  <a16:creationId xmlns:a16="http://schemas.microsoft.com/office/drawing/2014/main" id="{B2934336-0E54-EB48-92BD-0846F6607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008"/>
              <a:ext cx="1200" cy="192"/>
            </a:xfrm>
            <a:prstGeom prst="rect">
              <a:avLst/>
            </a:prstGeom>
            <a:solidFill>
              <a:srgbClr val="35F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77839" name="Rectangle 15">
              <a:extLst>
                <a:ext uri="{FF2B5EF4-FFF2-40B4-BE49-F238E27FC236}">
                  <a16:creationId xmlns:a16="http://schemas.microsoft.com/office/drawing/2014/main" id="{33B21D29-DF3E-5143-B6C2-7CDCFF3F5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248"/>
              <a:ext cx="1200" cy="192"/>
            </a:xfrm>
            <a:prstGeom prst="rect">
              <a:avLst/>
            </a:prstGeom>
            <a:solidFill>
              <a:srgbClr val="35F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77840" name="Rectangle 16">
              <a:extLst>
                <a:ext uri="{FF2B5EF4-FFF2-40B4-BE49-F238E27FC236}">
                  <a16:creationId xmlns:a16="http://schemas.microsoft.com/office/drawing/2014/main" id="{B1950545-3454-284E-8CB7-8E478A5DA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104"/>
              <a:ext cx="1200" cy="192"/>
            </a:xfrm>
            <a:prstGeom prst="rect">
              <a:avLst/>
            </a:prstGeom>
            <a:solidFill>
              <a:srgbClr val="35F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77841" name="Rectangle 17">
              <a:extLst>
                <a:ext uri="{FF2B5EF4-FFF2-40B4-BE49-F238E27FC236}">
                  <a16:creationId xmlns:a16="http://schemas.microsoft.com/office/drawing/2014/main" id="{AB3BD6D6-9F16-5E40-9C4F-EA75DE0C7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912"/>
              <a:ext cx="1200" cy="192"/>
            </a:xfrm>
            <a:prstGeom prst="rect">
              <a:avLst/>
            </a:prstGeom>
            <a:solidFill>
              <a:srgbClr val="35F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77842" name="Rectangle 18">
              <a:extLst>
                <a:ext uri="{FF2B5EF4-FFF2-40B4-BE49-F238E27FC236}">
                  <a16:creationId xmlns:a16="http://schemas.microsoft.com/office/drawing/2014/main" id="{B2B08B3E-C4FD-8849-9364-AC4B1CE02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44"/>
              <a:ext cx="2592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Calibri" panose="020F0502020204030204" pitchFamily="34" charset="0"/>
                </a:rPr>
                <a:t>Registers:</a:t>
              </a:r>
              <a:endParaRPr lang="en-US" altLang="en-US" sz="1800" b="1" dirty="0">
                <a:latin typeface="Calibri" panose="020F0502020204030204" pitchFamily="34" charset="0"/>
              </a:endParaRPr>
            </a:p>
            <a:p>
              <a:pPr marL="342900" indent="-342900" eaLnBrk="1" hangingPunct="1"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en-US" altLang="en-US" sz="2000" dirty="0">
                  <a:solidFill>
                    <a:schemeClr val="bg2"/>
                  </a:solidFill>
                  <a:latin typeface="Calibri" panose="020F0502020204030204" pitchFamily="34" charset="0"/>
                </a:rPr>
                <a:t>General purpose register file</a:t>
              </a:r>
            </a:p>
            <a:p>
              <a:pPr marL="342900" indent="-342900" eaLnBrk="1" hangingPunct="1"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en-US" altLang="en-US" sz="2000" dirty="0">
                  <a:solidFill>
                    <a:srgbClr val="0432FF"/>
                  </a:solidFill>
                  <a:latin typeface="Calibri" panose="020F0502020204030204" pitchFamily="34" charset="0"/>
                </a:rPr>
                <a:t>Vector register file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dirty="0">
                <a:solidFill>
                  <a:schemeClr val="bg2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D743DF8-B429-40C6-9F43-0DA095785E19}"/>
              </a:ext>
            </a:extLst>
          </p:cNvPr>
          <p:cNvSpPr/>
          <p:nvPr/>
        </p:nvSpPr>
        <p:spPr>
          <a:xfrm>
            <a:off x="5257800" y="5114930"/>
            <a:ext cx="3429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b="1" dirty="0">
                <a:latin typeface="Calibri" panose="020F0502020204030204" pitchFamily="34" charset="0"/>
              </a:rPr>
              <a:t>Program Counter:</a:t>
            </a:r>
            <a:endParaRPr lang="en-US" altLang="en-US" sz="20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</a:rPr>
              <a:t>memory address</a:t>
            </a:r>
          </a:p>
          <a:p>
            <a:pPr eaLnBrk="1" hangingPunct="1"/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</a:rPr>
              <a:t>of the current (or next) instruction</a:t>
            </a:r>
          </a:p>
        </p:txBody>
      </p:sp>
    </p:spTree>
    <p:extLst>
      <p:ext uri="{BB962C8B-B14F-4D97-AF65-F5344CB8AC3E}">
        <p14:creationId xmlns:p14="http://schemas.microsoft.com/office/powerpoint/2010/main" val="352689796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697468"/>
          </a:xfrm>
        </p:spPr>
        <p:txBody>
          <a:bodyPr/>
          <a:lstStyle/>
          <a:p>
            <a:r>
              <a:rPr lang="en-US" altLang="zh-CN" sz="3600" dirty="0"/>
              <a:t>Roofline</a:t>
            </a:r>
            <a:r>
              <a:rPr lang="zh-CN" altLang="en-US" sz="3600" dirty="0"/>
              <a:t> </a:t>
            </a:r>
            <a:r>
              <a:rPr lang="en-US" altLang="zh-CN" sz="3600" dirty="0"/>
              <a:t>Model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SIMD</a:t>
            </a:r>
            <a:r>
              <a:rPr lang="zh-CN" altLang="en-US" sz="3600" dirty="0"/>
              <a:t> </a:t>
            </a:r>
            <a:r>
              <a:rPr lang="en-US" altLang="zh-CN" sz="3600" dirty="0"/>
              <a:t>CPU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F47F814A-E7BE-4096-BB98-DAB7846AEE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1600200"/>
          <a:ext cx="7543800" cy="3927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579150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uiExpand="1">
        <p:bldSub>
          <a:bldChart bld="series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18381645-F81C-B642-9A3C-1125B8A50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Outline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11999A4A-8D8C-0542-9D21-8306EAFE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56260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Superscalar</a:t>
            </a:r>
          </a:p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Vector </a:t>
            </a:r>
            <a:r>
              <a:rPr lang="en-US" altLang="zh-CN" dirty="0" err="1">
                <a:solidFill>
                  <a:srgbClr val="0432FF"/>
                </a:solidFill>
                <a:ea typeface="ＭＳ Ｐゴシック" charset="-128"/>
              </a:rPr>
              <a:t>Insn</a:t>
            </a:r>
            <a:endParaRPr lang="en-US" altLang="zh-CN" dirty="0">
              <a:solidFill>
                <a:srgbClr val="0432FF"/>
              </a:solidFill>
              <a:ea typeface="ＭＳ Ｐゴシック" charset="-128"/>
            </a:endParaRPr>
          </a:p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Multithreading</a:t>
            </a:r>
          </a:p>
          <a:p>
            <a:pPr>
              <a:buFont typeface="Wingdings" charset="2"/>
              <a:buChar char="n"/>
              <a:defRPr/>
            </a:pP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Multi-core</a:t>
            </a:r>
          </a:p>
          <a:p>
            <a:pPr>
              <a:buFont typeface="Wingdings" charset="2"/>
              <a:buChar char="n"/>
              <a:defRPr/>
            </a:pPr>
            <a:endParaRPr lang="en-US" altLang="en-US" dirty="0">
              <a:solidFill>
                <a:srgbClr val="0432FF"/>
              </a:solidFill>
              <a:ea typeface="ＭＳ Ｐゴシック" charset="-128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129D015-4946-2A40-BB1A-9A51A871D4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E5F7BB-0E5D-4B48-AE6E-CE7CFCFC942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E509C070-0638-42D9-99CF-EFBC0E96F12C}"/>
              </a:ext>
            </a:extLst>
          </p:cNvPr>
          <p:cNvSpPr/>
          <p:nvPr/>
        </p:nvSpPr>
        <p:spPr>
          <a:xfrm flipV="1">
            <a:off x="333703" y="6096000"/>
            <a:ext cx="6375009" cy="76200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FAA66FA9-99AC-4993-89DD-CB50523FFC3D}"/>
              </a:ext>
            </a:extLst>
          </p:cNvPr>
          <p:cNvSpPr/>
          <p:nvPr/>
        </p:nvSpPr>
        <p:spPr>
          <a:xfrm>
            <a:off x="228600" y="2209800"/>
            <a:ext cx="6375009" cy="505154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0501CD80-CB1B-4AF4-8249-F3E93098C141}"/>
              </a:ext>
            </a:extLst>
          </p:cNvPr>
          <p:cNvSpPr/>
          <p:nvPr/>
        </p:nvSpPr>
        <p:spPr>
          <a:xfrm>
            <a:off x="333702" y="972973"/>
            <a:ext cx="6375009" cy="855827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947977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4">
            <a:extLst>
              <a:ext uri="{FF2B5EF4-FFF2-40B4-BE49-F238E27FC236}">
                <a16:creationId xmlns:a16="http://schemas.microsoft.com/office/drawing/2014/main" id="{3EED7687-CDCE-2140-B64B-C2DDCBE5E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8077200" cy="17526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Fine-Grained Multithreading</a:t>
            </a:r>
            <a:endParaRPr lang="en-US" altLang="en-US" i="1">
              <a:ea typeface="ＭＳ Ｐゴシック" panose="020B0600070205080204" pitchFamily="34" charset="-128"/>
            </a:endParaRPr>
          </a:p>
        </p:txBody>
      </p:sp>
      <p:sp>
        <p:nvSpPr>
          <p:cNvPr id="112642" name="Subtitle 5">
            <a:extLst>
              <a:ext uri="{FF2B5EF4-FFF2-40B4-BE49-F238E27FC236}">
                <a16:creationId xmlns:a16="http://schemas.microsoft.com/office/drawing/2014/main" id="{1296148F-B065-5A41-A4F5-F26A00ED7E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43" name="Slide Number Placeholder 3">
            <a:extLst>
              <a:ext uri="{FF2B5EF4-FFF2-40B4-BE49-F238E27FC236}">
                <a16:creationId xmlns:a16="http://schemas.microsoft.com/office/drawing/2014/main" id="{33082F32-260D-924C-860F-34D4C6C2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9883D2-CAC3-C045-879F-948BD6C49DD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09595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D628945-17F0-4C77-92EF-696630C9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38" y="908019"/>
            <a:ext cx="9144000" cy="523836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751EBB-48F2-4EBC-BFD3-511916AA9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630988" y="6330394"/>
            <a:ext cx="2133600" cy="457200"/>
          </a:xfrm>
        </p:spPr>
        <p:txBody>
          <a:bodyPr/>
          <a:lstStyle/>
          <a:p>
            <a:pPr>
              <a:defRPr/>
            </a:pPr>
            <a:fld id="{753DEEF8-87BA-7144-9648-F84693A6E11D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157" name="Rectangle 36">
            <a:extLst>
              <a:ext uri="{FF2B5EF4-FFF2-40B4-BE49-F238E27FC236}">
                <a16:creationId xmlns:a16="http://schemas.microsoft.com/office/drawing/2014/main" id="{24589136-D5B5-41F9-AC76-5B4107FF66CB}"/>
              </a:ext>
            </a:extLst>
          </p:cNvPr>
          <p:cNvSpPr/>
          <p:nvPr/>
        </p:nvSpPr>
        <p:spPr>
          <a:xfrm>
            <a:off x="6400800" y="1981200"/>
            <a:ext cx="8382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itle 1">
            <a:extLst>
              <a:ext uri="{FF2B5EF4-FFF2-40B4-BE49-F238E27FC236}">
                <a16:creationId xmlns:a16="http://schemas.microsoft.com/office/drawing/2014/main" id="{9D44D825-827C-4862-B6D5-ADA7CEAD3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Where Are We?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6942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>
            <a:extLst>
              <a:ext uri="{FF2B5EF4-FFF2-40B4-BE49-F238E27FC236}">
                <a16:creationId xmlns:a16="http://schemas.microsoft.com/office/drawing/2014/main" id="{BB410A76-AC54-BE41-AC8F-AD466BF4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Fine-Grained Multithreading</a:t>
            </a:r>
          </a:p>
        </p:txBody>
      </p:sp>
      <p:sp>
        <p:nvSpPr>
          <p:cNvPr id="88066" name="Content Placeholder 2">
            <a:extLst>
              <a:ext uri="{FF2B5EF4-FFF2-40B4-BE49-F238E27FC236}">
                <a16:creationId xmlns:a16="http://schemas.microsoft.com/office/drawing/2014/main" id="{ABCB183F-52F5-624A-8FB9-B98CBA382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915400" cy="519430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Idea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Hardware has multiple thread contexts (</a:t>
            </a:r>
            <a:r>
              <a:rPr lang="en-US" altLang="en-US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PC+registers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). Each cycle, fetch engine fetches from a different thread.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By the time the fetched branch/instruction resolves, no instruction is fetched from the same thread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Branch/instruction resolution latency overlapped with execution of other threads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 instructions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+ No logic needed for handling control and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   data dependences within a thread 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-- Single thread performance suffers 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-- Extra logic for keeping thread contexts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-- Does not overlap latency if not enough 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   threads to cover the whole pipeline</a:t>
            </a:r>
          </a:p>
        </p:txBody>
      </p:sp>
      <p:sp>
        <p:nvSpPr>
          <p:cNvPr id="113667" name="Slide Number Placeholder 3">
            <a:extLst>
              <a:ext uri="{FF2B5EF4-FFF2-40B4-BE49-F238E27FC236}">
                <a16:creationId xmlns:a16="http://schemas.microsoft.com/office/drawing/2014/main" id="{939F6646-8575-F94A-AE64-B045C460A3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CD94EE-C1A8-7843-87DE-D774EF0850F1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13668" name="Picture 4">
            <a:extLst>
              <a:ext uri="{FF2B5EF4-FFF2-40B4-BE49-F238E27FC236}">
                <a16:creationId xmlns:a16="http://schemas.microsoft.com/office/drawing/2014/main" id="{4A012089-33C0-BB4B-99B5-BFE31D4E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25" y="3098800"/>
            <a:ext cx="2376488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3844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>
            <a:extLst>
              <a:ext uri="{FF2B5EF4-FFF2-40B4-BE49-F238E27FC236}">
                <a16:creationId xmlns:a16="http://schemas.microsoft.com/office/drawing/2014/main" id="{AEDF0EB8-9C1D-4E45-B8A8-1C3DB457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Fine-Grained Multithreading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05008-BBBB-5546-86C2-D705D8831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915400" cy="519430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Idea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Switch to another thread every cycle such that no two instructions from a thread are in the pipeline concurrently</a:t>
            </a:r>
          </a:p>
          <a:p>
            <a:endParaRPr lang="en-US" altLang="en-US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zh-CN" b="1" dirty="0">
                <a:ea typeface="ＭＳ Ｐゴシック" panose="020B0600070205080204" pitchFamily="34" charset="-128"/>
              </a:rPr>
              <a:t>Advantages</a:t>
            </a:r>
            <a:r>
              <a:rPr lang="zh-CN" altLang="en-US" dirty="0">
                <a:ea typeface="ＭＳ Ｐゴシック" panose="020B0600070205080204" pitchFamily="34" charset="-128"/>
              </a:rPr>
              <a:t>：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Tolerates the control and data dependency latencies by overlapping the latency with useful work from other threads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Improves pipeline utilization by taking advantage of multiple threads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 marL="0" lvl="1" indent="0">
              <a:buClr>
                <a:schemeClr val="accent1"/>
              </a:buClr>
              <a:buSzPct val="65000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     </a:t>
            </a:r>
          </a:p>
          <a:p>
            <a:pPr marL="0" lvl="1" indent="0">
              <a:buClr>
                <a:schemeClr val="accent1"/>
              </a:buClr>
              <a:buSzPct val="65000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     Thornton, </a:t>
            </a: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ea typeface="ＭＳ Ｐゴシック" panose="020B0600070205080204" pitchFamily="34" charset="-128"/>
              </a:rPr>
              <a:t>Parallel Operation in the Control Data 6600,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ea typeface="ＭＳ Ｐゴシック" panose="020B0600070205080204" pitchFamily="34" charset="-128"/>
              </a:rPr>
              <a:t> AFIPS 1964.</a:t>
            </a:r>
          </a:p>
          <a:p>
            <a:pPr marL="0" lvl="1" indent="0">
              <a:buClr>
                <a:schemeClr val="accent1"/>
              </a:buClr>
              <a:buSzPct val="65000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     Smith, </a:t>
            </a: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ea typeface="ＭＳ Ｐゴシック" panose="020B0600070205080204" pitchFamily="34" charset="-128"/>
              </a:rPr>
              <a:t>A pipelined, shared resource MIMD computer,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ea typeface="ＭＳ Ｐゴシック" panose="020B0600070205080204" pitchFamily="34" charset="-128"/>
              </a:rPr>
              <a:t> ICPP 1978.</a:t>
            </a: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ja-JP" sz="2000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15715" name="Slide Number Placeholder 3">
            <a:extLst>
              <a:ext uri="{FF2B5EF4-FFF2-40B4-BE49-F238E27FC236}">
                <a16:creationId xmlns:a16="http://schemas.microsoft.com/office/drawing/2014/main" id="{7DBC2E07-EEED-F94E-8582-50DB6C7054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6522F3-8C92-824D-9DA2-7E907F9F5910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2037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>
            <a:extLst>
              <a:ext uri="{FF2B5EF4-FFF2-40B4-BE49-F238E27FC236}">
                <a16:creationId xmlns:a16="http://schemas.microsoft.com/office/drawing/2014/main" id="{FB0269D4-9388-FB48-A93B-EC23C229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Fine-Grained Multithreading: History</a:t>
            </a:r>
          </a:p>
        </p:txBody>
      </p:sp>
      <p:sp>
        <p:nvSpPr>
          <p:cNvPr id="98306" name="Content Placeholder 2">
            <a:extLst>
              <a:ext uri="{FF2B5EF4-FFF2-40B4-BE49-F238E27FC236}">
                <a16:creationId xmlns:a16="http://schemas.microsoft.com/office/drawing/2014/main" id="{1C7C8516-CC54-704A-9B61-1E33937B5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9154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CDC 6600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peripheral processing unit is fine-grained multithreaded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Thornton, </a:t>
            </a: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ea typeface="ＭＳ Ｐゴシック" panose="020B0600070205080204" pitchFamily="34" charset="-128"/>
              </a:rPr>
              <a:t>Parallel Operation in the Control Data 6600,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ea typeface="ＭＳ Ｐゴシック" panose="020B0600070205080204" pitchFamily="34" charset="-128"/>
              </a:rPr>
              <a:t> AFIPS 1964.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Processor executes a different I/O thread every cycle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An operation from the same thread is executed every 10 cycles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 err="1">
                <a:ea typeface="ＭＳ Ｐゴシック" panose="020B0600070205080204" pitchFamily="34" charset="-128"/>
              </a:rPr>
              <a:t>Denelcor</a:t>
            </a:r>
            <a:r>
              <a:rPr lang="en-US" altLang="en-US" dirty="0">
                <a:ea typeface="ＭＳ Ｐゴシック" panose="020B0600070205080204" pitchFamily="34" charset="-128"/>
              </a:rPr>
              <a:t> HEP (Heterogeneous Element Processor)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Smith, </a:t>
            </a:r>
            <a:r>
              <a:rPr lang="ja-JP" altLang="en-US" sz="1800" dirty="0">
                <a:ea typeface="ＭＳ Ｐゴシック" panose="020B0600070205080204" pitchFamily="34" charset="-128"/>
              </a:rPr>
              <a:t>“</a:t>
            </a:r>
            <a:r>
              <a:rPr lang="en-US" altLang="ja-JP" sz="1800" dirty="0">
                <a:ea typeface="ＭＳ Ｐゴシック" panose="020B0600070205080204" pitchFamily="34" charset="-128"/>
              </a:rPr>
              <a:t>A pipelined, shared resource MIMD computer,</a:t>
            </a:r>
            <a:r>
              <a:rPr lang="ja-JP" altLang="en-US" sz="1800" dirty="0">
                <a:ea typeface="ＭＳ Ｐゴシック" panose="020B0600070205080204" pitchFamily="34" charset="-128"/>
              </a:rPr>
              <a:t>”</a:t>
            </a:r>
            <a:r>
              <a:rPr lang="en-US" altLang="ja-JP" sz="1800" dirty="0">
                <a:ea typeface="ＭＳ Ｐゴシック" panose="020B0600070205080204" pitchFamily="34" charset="-128"/>
              </a:rPr>
              <a:t> ICPP 1978.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120 threads/processor 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Available queue vs. unavailable (waiting) queue for threads 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Each thread can have only 1 instruction in the processor pipeline; each thread independent 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For each thread, processor looks like a non-pipelined machine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System throughput vs. single thread performance tradeoff 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16739" name="Slide Number Placeholder 3">
            <a:extLst>
              <a:ext uri="{FF2B5EF4-FFF2-40B4-BE49-F238E27FC236}">
                <a16:creationId xmlns:a16="http://schemas.microsoft.com/office/drawing/2014/main" id="{0EAE50C3-A17D-6F47-91F9-30BA81AE21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E22C31-0DAB-1647-9C1D-E1C64A3F1E7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3874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itle 1">
            <a:extLst>
              <a:ext uri="{FF2B5EF4-FFF2-40B4-BE49-F238E27FC236}">
                <a16:creationId xmlns:a16="http://schemas.microsoft.com/office/drawing/2014/main" id="{AE4969E1-5C2B-DC4D-9B86-9D47DF40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Fine-Grained Multithreading in HEP</a:t>
            </a:r>
          </a:p>
        </p:txBody>
      </p:sp>
      <p:sp>
        <p:nvSpPr>
          <p:cNvPr id="117762" name="Content Placeholder 2">
            <a:extLst>
              <a:ext uri="{FF2B5EF4-FFF2-40B4-BE49-F238E27FC236}">
                <a16:creationId xmlns:a16="http://schemas.microsoft.com/office/drawing/2014/main" id="{614F5AFA-07EF-1446-A00D-8EF7432F0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41148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Cycle time: 100ns</a:t>
            </a:r>
          </a:p>
          <a:p>
            <a:endParaRPr lang="en-US" altLang="en-US" sz="16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8 stages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 800 ns to complete an instruction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assuming no memory access</a:t>
            </a:r>
          </a:p>
          <a:p>
            <a:pPr lvl="1"/>
            <a:endParaRPr lang="en-US" altLang="en-US" sz="16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No control and data dependency checking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17763" name="Slide Number Placeholder 3">
            <a:extLst>
              <a:ext uri="{FF2B5EF4-FFF2-40B4-BE49-F238E27FC236}">
                <a16:creationId xmlns:a16="http://schemas.microsoft.com/office/drawing/2014/main" id="{4FCF6A47-7A22-0F49-A10D-D7CA4F64F4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9EFDD4-CA50-DA4F-9D98-062BA46C414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17765" name="Picture 4">
            <a:extLst>
              <a:ext uri="{FF2B5EF4-FFF2-40B4-BE49-F238E27FC236}">
                <a16:creationId xmlns:a16="http://schemas.microsoft.com/office/drawing/2014/main" id="{9ED32049-802C-CC48-838E-F1BC3C087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914400"/>
            <a:ext cx="4775200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2723DE-4AAC-9B42-8319-9A207F3DEF2F}"/>
              </a:ext>
            </a:extLst>
          </p:cNvPr>
          <p:cNvSpPr txBox="1"/>
          <p:nvPr/>
        </p:nvSpPr>
        <p:spPr>
          <a:xfrm>
            <a:off x="1911382" y="5240217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Burton Smith</a:t>
            </a:r>
          </a:p>
          <a:p>
            <a:pPr algn="ctr"/>
            <a:r>
              <a:rPr lang="en-US" dirty="0"/>
              <a:t>(1941-2018)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047BB-DC93-DE47-ADBD-2433208D4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48" y="4788683"/>
            <a:ext cx="15494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024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>
            <a:extLst>
              <a:ext uri="{FF2B5EF4-FFF2-40B4-BE49-F238E27FC236}">
                <a16:creationId xmlns:a16="http://schemas.microsoft.com/office/drawing/2014/main" id="{F849155B-942B-AC44-BA29-7B7274A5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Multithreaded Pipeline Example</a:t>
            </a:r>
          </a:p>
        </p:txBody>
      </p:sp>
      <p:sp>
        <p:nvSpPr>
          <p:cNvPr id="118786" name="Content Placeholder 2">
            <a:extLst>
              <a:ext uri="{FF2B5EF4-FFF2-40B4-BE49-F238E27FC236}">
                <a16:creationId xmlns:a16="http://schemas.microsoft.com/office/drawing/2014/main" id="{5D7F3738-6B17-A84A-B7C9-3DEE3E744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8787" name="Slide Number Placeholder 3">
            <a:extLst>
              <a:ext uri="{FF2B5EF4-FFF2-40B4-BE49-F238E27FC236}">
                <a16:creationId xmlns:a16="http://schemas.microsoft.com/office/drawing/2014/main" id="{2DA52165-208C-2048-8145-0137AFD831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8B40CC-DE56-DD46-9B11-B8D9316420B1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18788" name="Picture 4">
            <a:extLst>
              <a:ext uri="{FF2B5EF4-FFF2-40B4-BE49-F238E27FC236}">
                <a16:creationId xmlns:a16="http://schemas.microsoft.com/office/drawing/2014/main" id="{930EAD5D-F8B1-EF47-BD4B-64D79B251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475663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9" name="Rectangle 1">
            <a:extLst>
              <a:ext uri="{FF2B5EF4-FFF2-40B4-BE49-F238E27FC236}">
                <a16:creationId xmlns:a16="http://schemas.microsoft.com/office/drawing/2014/main" id="{80E97FFC-F093-6843-8B2B-825D98C9E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8113"/>
            <a:ext cx="1952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Slide credit: Joel Emer</a:t>
            </a:r>
          </a:p>
        </p:txBody>
      </p:sp>
    </p:spTree>
    <p:extLst>
      <p:ext uri="{BB962C8B-B14F-4D97-AF65-F5344CB8AC3E}">
        <p14:creationId xmlns:p14="http://schemas.microsoft.com/office/powerpoint/2010/main" val="3986996628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Title 1">
            <a:extLst>
              <a:ext uri="{FF2B5EF4-FFF2-40B4-BE49-F238E27FC236}">
                <a16:creationId xmlns:a16="http://schemas.microsoft.com/office/drawing/2014/main" id="{C751C517-59A9-0C41-823F-EDB492D1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Sun Niagara Multithreaded Pipeline</a:t>
            </a:r>
          </a:p>
        </p:txBody>
      </p:sp>
      <p:sp>
        <p:nvSpPr>
          <p:cNvPr id="119810" name="Content Placeholder 2">
            <a:extLst>
              <a:ext uri="{FF2B5EF4-FFF2-40B4-BE49-F238E27FC236}">
                <a16:creationId xmlns:a16="http://schemas.microsoft.com/office/drawing/2014/main" id="{3AC83BDB-208A-224C-9841-C1F072B44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9811" name="Slide Number Placeholder 3">
            <a:extLst>
              <a:ext uri="{FF2B5EF4-FFF2-40B4-BE49-F238E27FC236}">
                <a16:creationId xmlns:a16="http://schemas.microsoft.com/office/drawing/2014/main" id="{F114E604-2DFF-1141-A6DD-7F1B27FCF0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714E05-B537-F44A-BDFE-86985B9C98D3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19812" name="Picture 4">
            <a:extLst>
              <a:ext uri="{FF2B5EF4-FFF2-40B4-BE49-F238E27FC236}">
                <a16:creationId xmlns:a16="http://schemas.microsoft.com/office/drawing/2014/main" id="{8C129EA6-0949-2046-9A94-AE44C861A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7861300" cy="505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3" name="TextBox 1">
            <a:extLst>
              <a:ext uri="{FF2B5EF4-FFF2-40B4-BE49-F238E27FC236}">
                <a16:creationId xmlns:a16="http://schemas.microsoft.com/office/drawing/2014/main" id="{0F3D74B4-B29C-C94C-9EC7-F4D48055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096000"/>
            <a:ext cx="9015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Kongetira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et al., “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Niagara: A 32-Way Multithreaded Sparc Processor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IEEE Micro 2005.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BD68502-07AF-AF4F-9F4C-1AE2265F7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10000"/>
            <a:ext cx="2819400" cy="2362200"/>
          </a:xfrm>
          <a:prstGeom prst="ellipse">
            <a:avLst/>
          </a:prstGeom>
          <a:solidFill>
            <a:srgbClr val="0000FF">
              <a:alpha val="0"/>
            </a:srgbClr>
          </a:solidFill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1FBB90-37B9-FB42-8547-7B3BB307B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05000"/>
            <a:ext cx="2819400" cy="2057400"/>
          </a:xfrm>
          <a:prstGeom prst="ellipse">
            <a:avLst/>
          </a:prstGeom>
          <a:solidFill>
            <a:srgbClr val="0000FF">
              <a:alpha val="0"/>
            </a:srgbClr>
          </a:solidFill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5BA4B6-7172-FB4E-BEC7-021FDDC89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57200"/>
            <a:ext cx="1600200" cy="1905000"/>
          </a:xfrm>
          <a:prstGeom prst="ellipse">
            <a:avLst/>
          </a:prstGeom>
          <a:solidFill>
            <a:srgbClr val="0000FF">
              <a:alpha val="0"/>
            </a:srgbClr>
          </a:solidFill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181253-C77C-7B46-80C8-E46D85905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657600"/>
            <a:ext cx="2819400" cy="1981200"/>
          </a:xfrm>
          <a:prstGeom prst="ellipse">
            <a:avLst/>
          </a:prstGeom>
          <a:solidFill>
            <a:srgbClr val="0000FF">
              <a:alpha val="0"/>
            </a:srgbClr>
          </a:solidFill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EC4E54-A00A-7A4D-AD6F-13C9E4ABE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3062288"/>
            <a:ext cx="1371600" cy="457200"/>
          </a:xfrm>
          <a:prstGeom prst="ellipse">
            <a:avLst/>
          </a:prstGeom>
          <a:solidFill>
            <a:srgbClr val="0000FF">
              <a:alpha val="0"/>
            </a:srgbClr>
          </a:solidFill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628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Title 1">
            <a:extLst>
              <a:ext uri="{FF2B5EF4-FFF2-40B4-BE49-F238E27FC236}">
                <a16:creationId xmlns:a16="http://schemas.microsoft.com/office/drawing/2014/main" id="{D4FF20AB-6670-3644-A9FD-E23CE452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Fine-grained Multithreading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A27DF7BC-E11D-1C4A-9AA4-94FAE4897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548640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Advantages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+ No need for dependency checking between instructions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    (only one instruction in pipeline from a single thread)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+ No need for branch prediction logic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+ Otherwise-bubble cycles used for executing useful instructions from different threads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+ Improved system throughput, latency tolerance, utilization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Disadvantages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- Extra hardware complexity: multiple hardware contexts (PCs, register files, …), thread selection logic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- Reduced single thread performance (one instruction fetched every N cycles from the same thread) 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- Resource contention between threads in caches and memory</a:t>
            </a:r>
          </a:p>
          <a:p>
            <a:pPr lvl="1">
              <a:buClr>
                <a:srgbClr val="3B812F"/>
              </a:buClr>
              <a:buFont typeface="Wingdings" pitchFamily="2" charset="2"/>
              <a:buNone/>
            </a:pPr>
            <a:r>
              <a:rPr lang="en-US" altLang="en-US" sz="20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- Some dependency checking logic </a:t>
            </a:r>
            <a:r>
              <a:rPr lang="en-US" altLang="en-US" sz="2000" i="1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between</a:t>
            </a:r>
            <a:r>
              <a:rPr lang="en-US" altLang="en-US" sz="20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threads remains (load/store)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</a:p>
        </p:txBody>
      </p:sp>
      <p:sp>
        <p:nvSpPr>
          <p:cNvPr id="120835" name="Slide Number Placeholder 3">
            <a:extLst>
              <a:ext uri="{FF2B5EF4-FFF2-40B4-BE49-F238E27FC236}">
                <a16:creationId xmlns:a16="http://schemas.microsoft.com/office/drawing/2014/main" id="{7F42F2EC-EE5A-5D4F-BE89-1DD0D274D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7B193D-5A15-564D-A6F2-272406EEFC31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777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29A35C-8CF6-0547-BFD5-F110AFACD01B}"/>
              </a:ext>
            </a:extLst>
          </p:cNvPr>
          <p:cNvSpPr/>
          <p:nvPr/>
        </p:nvSpPr>
        <p:spPr>
          <a:xfrm>
            <a:off x="-76200" y="-152400"/>
            <a:ext cx="9220199" cy="7086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E6BAC-0812-9242-947A-0AA3CF8627B8}"/>
              </a:ext>
            </a:extLst>
          </p:cNvPr>
          <p:cNvSpPr txBox="1"/>
          <p:nvPr/>
        </p:nvSpPr>
        <p:spPr>
          <a:xfrm>
            <a:off x="1799499" y="2530848"/>
            <a:ext cx="56724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Can </a:t>
            </a:r>
            <a:r>
              <a:rPr lang="en-US" altLang="zh-CN" sz="3200" dirty="0">
                <a:solidFill>
                  <a:srgbClr val="00B0F0"/>
                </a:solidFill>
              </a:rPr>
              <a:t>multithreading</a:t>
            </a:r>
            <a:r>
              <a:rPr lang="en-US" altLang="zh-CN" sz="3200" dirty="0">
                <a:solidFill>
                  <a:schemeClr val="bg1"/>
                </a:solidFill>
              </a:rPr>
              <a:t> tech affect the result in Roofline model?</a:t>
            </a:r>
          </a:p>
        </p:txBody>
      </p:sp>
    </p:spTree>
    <p:extLst>
      <p:ext uri="{BB962C8B-B14F-4D97-AF65-F5344CB8AC3E}">
        <p14:creationId xmlns:p14="http://schemas.microsoft.com/office/powerpoint/2010/main" val="141294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18381645-F81C-B642-9A3C-1125B8A50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Outline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11999A4A-8D8C-0542-9D21-8306EAFE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56260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Superscalar</a:t>
            </a:r>
          </a:p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Vector </a:t>
            </a:r>
            <a:r>
              <a:rPr lang="en-US" altLang="zh-CN" dirty="0" err="1">
                <a:solidFill>
                  <a:srgbClr val="0432FF"/>
                </a:solidFill>
                <a:ea typeface="ＭＳ Ｐゴシック" charset="-128"/>
              </a:rPr>
              <a:t>Insn</a:t>
            </a:r>
            <a:endParaRPr lang="en-US" altLang="zh-CN" dirty="0">
              <a:solidFill>
                <a:srgbClr val="0432FF"/>
              </a:solidFill>
              <a:ea typeface="ＭＳ Ｐゴシック" charset="-128"/>
            </a:endParaRPr>
          </a:p>
          <a:p>
            <a:pPr>
              <a:buFont typeface="Wingdings" charset="2"/>
              <a:buChar char="n"/>
              <a:defRPr/>
            </a:pP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Multithreading</a:t>
            </a:r>
          </a:p>
          <a:p>
            <a:pPr>
              <a:buFont typeface="Wingdings" charset="2"/>
              <a:buChar char="n"/>
              <a:defRPr/>
            </a:pP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Multi-core</a:t>
            </a:r>
          </a:p>
          <a:p>
            <a:pPr>
              <a:buFont typeface="Wingdings" charset="2"/>
              <a:buChar char="n"/>
              <a:defRPr/>
            </a:pPr>
            <a:endParaRPr lang="en-US" altLang="en-US" dirty="0">
              <a:solidFill>
                <a:srgbClr val="0432FF"/>
              </a:solidFill>
              <a:ea typeface="ＭＳ Ｐゴシック" charset="-128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129D015-4946-2A40-BB1A-9A51A871D4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E5F7BB-0E5D-4B48-AE6E-CE7CFCFC942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E509C070-0638-42D9-99CF-EFBC0E96F12C}"/>
              </a:ext>
            </a:extLst>
          </p:cNvPr>
          <p:cNvSpPr/>
          <p:nvPr/>
        </p:nvSpPr>
        <p:spPr>
          <a:xfrm flipV="1">
            <a:off x="333703" y="6096000"/>
            <a:ext cx="6375009" cy="76200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FAA66FA9-99AC-4993-89DD-CB50523FFC3D}"/>
              </a:ext>
            </a:extLst>
          </p:cNvPr>
          <p:cNvSpPr/>
          <p:nvPr/>
        </p:nvSpPr>
        <p:spPr>
          <a:xfrm>
            <a:off x="273050" y="3443123"/>
            <a:ext cx="6375009" cy="505154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0501CD80-CB1B-4AF4-8249-F3E93098C141}"/>
              </a:ext>
            </a:extLst>
          </p:cNvPr>
          <p:cNvSpPr/>
          <p:nvPr/>
        </p:nvSpPr>
        <p:spPr>
          <a:xfrm>
            <a:off x="333702" y="972973"/>
            <a:ext cx="6375009" cy="1236827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499879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D628945-17F0-4C77-92EF-696630C9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38" y="908019"/>
            <a:ext cx="9144000" cy="523836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751EBB-48F2-4EBC-BFD3-511916AA9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630988" y="6330394"/>
            <a:ext cx="2133600" cy="457200"/>
          </a:xfrm>
        </p:spPr>
        <p:txBody>
          <a:bodyPr/>
          <a:lstStyle/>
          <a:p>
            <a:pPr>
              <a:defRPr/>
            </a:pPr>
            <a:fld id="{753DEEF8-87BA-7144-9648-F84693A6E11D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p:sp>
        <p:nvSpPr>
          <p:cNvPr id="157" name="Rectangle 36">
            <a:extLst>
              <a:ext uri="{FF2B5EF4-FFF2-40B4-BE49-F238E27FC236}">
                <a16:creationId xmlns:a16="http://schemas.microsoft.com/office/drawing/2014/main" id="{24589136-D5B5-41F9-AC76-5B4107FF66CB}"/>
              </a:ext>
            </a:extLst>
          </p:cNvPr>
          <p:cNvSpPr/>
          <p:nvPr/>
        </p:nvSpPr>
        <p:spPr>
          <a:xfrm>
            <a:off x="7239000" y="2057400"/>
            <a:ext cx="914400" cy="914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itle 1">
            <a:extLst>
              <a:ext uri="{FF2B5EF4-FFF2-40B4-BE49-F238E27FC236}">
                <a16:creationId xmlns:a16="http://schemas.microsoft.com/office/drawing/2014/main" id="{9D44D825-827C-4862-B6D5-ADA7CEAD3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Where Are We?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36413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4">
            <a:extLst>
              <a:ext uri="{FF2B5EF4-FFF2-40B4-BE49-F238E27FC236}">
                <a16:creationId xmlns:a16="http://schemas.microsoft.com/office/drawing/2014/main" id="{C6DA2BFB-4303-4AC2-8A47-60F072A406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Multi-Core Processors</a:t>
            </a:r>
          </a:p>
        </p:txBody>
      </p:sp>
      <p:sp>
        <p:nvSpPr>
          <p:cNvPr id="10243" name="Subtitle 5">
            <a:extLst>
              <a:ext uri="{FF2B5EF4-FFF2-40B4-BE49-F238E27FC236}">
                <a16:creationId xmlns:a16="http://schemas.microsoft.com/office/drawing/2014/main" id="{25299EA3-B63E-434A-A90B-5448A7F06E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DD71A8E4-7DA6-4E75-A7B8-8E084C6B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BCDD15-35F7-4F31-A702-A6D4338A67E7}" type="slidenum">
              <a:rPr lang="en-US" altLang="zh-CN" sz="12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zh-CN" sz="12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2174F1B0-8F63-4223-9A57-DAB8366E9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Moore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Law</a:t>
            </a:r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F9AEBAAB-4C2F-479C-A6E3-80BCAB1BD4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F5BAD6-06AD-4514-8F5B-8758B093552E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Picture 2" descr="Moore's law - Wikipedia">
            <a:extLst>
              <a:ext uri="{FF2B5EF4-FFF2-40B4-BE49-F238E27FC236}">
                <a16:creationId xmlns:a16="http://schemas.microsoft.com/office/drawing/2014/main" id="{387CF25D-6EFF-4D03-AA23-114A8C6E2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391400" cy="546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643F4EDB-4E48-4311-825E-165525DFF0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1DE3D1-AB4C-46FD-AD38-8713F02EDCDA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2291" name="Picture 4">
            <a:extLst>
              <a:ext uri="{FF2B5EF4-FFF2-40B4-BE49-F238E27FC236}">
                <a16:creationId xmlns:a16="http://schemas.microsoft.com/office/drawing/2014/main" id="{3AF39246-BC56-446D-8F94-4B6199555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52957"/>
            <a:ext cx="6705600" cy="6022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643F4EDB-4E48-4311-825E-165525DFF0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1DE3D1-AB4C-46FD-AD38-8713F02EDCDA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1E4A02-8A45-42B6-B1F2-07418B593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Gordon E. Moore Dies at 94</a:t>
            </a:r>
          </a:p>
        </p:txBody>
      </p:sp>
      <p:pic>
        <p:nvPicPr>
          <p:cNvPr id="2" name="Picture 2" descr="Gordon Moore, co-founder of Intel, is interviewed in 2015 on the 50-year anniversary of Moore's Law. Intel and the Gordon and Betty Moore Foundation announced that company co-founder Gordon Moore died on March 24, 2023, at the age of 94. (Credit: Intel Corporation)">
            <a:extLst>
              <a:ext uri="{FF2B5EF4-FFF2-40B4-BE49-F238E27FC236}">
                <a16:creationId xmlns:a16="http://schemas.microsoft.com/office/drawing/2014/main" id="{4D5AAFE8-D22C-48E6-962B-0918B4786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196975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50515F1-1D8E-4830-B3F1-0A7669DFA5EF}"/>
              </a:ext>
            </a:extLst>
          </p:cNvPr>
          <p:cNvSpPr/>
          <p:nvPr/>
        </p:nvSpPr>
        <p:spPr>
          <a:xfrm>
            <a:off x="1143000" y="4419600"/>
            <a:ext cx="7239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Helvetica Neue"/>
              </a:rPr>
              <a:t>Intel and the Gordon and Betty Moore Foundation announce that company co-founder Gordon Moore died on March 24, 2023, at the age of 94.</a:t>
            </a:r>
          </a:p>
          <a:p>
            <a:br>
              <a:rPr lang="en-US" altLang="zh-CN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5356411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B342C13F-469F-4484-BD1A-9CC40AE6F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Multi-Core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87C858C0-5AF7-4C2D-BBE4-6470EA2462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Idea</a:t>
            </a:r>
            <a:r>
              <a:rPr lang="en-US" altLang="zh-CN" dirty="0">
                <a:ea typeface="ＭＳ Ｐゴシック" panose="020B0600070205080204" pitchFamily="34" charset="-128"/>
              </a:rPr>
              <a:t>: Put multiple cores on the same die. 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Technology scaling (Moore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Law) enables more transistors to be placed on the same die area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What else could you do with the die area you dedicate to multiple processors?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Have a bigger, more powerful core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Have larger caches in the memory hierarchy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Simultaneous multithreading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Integrate platform components on chip (e.g., network interface, memory controllers)</a:t>
            </a: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2ED52442-3D03-4B17-A2B6-9F343135A2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AE0C99-1507-4AE2-A253-9767DCCEDDB6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C9877AE-30B3-4B13-AE76-0FC69EDB0D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Why Multi-Core?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6B1A3-EE08-4F21-8C09-63FBF627B4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403850"/>
          </a:xfrm>
        </p:spPr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Alternative: Bigger, more powerful single core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Larger superscalar issue width, larger instruction window, more execution units, large trace caches, large branch predictors, </a:t>
            </a:r>
            <a:r>
              <a:rPr lang="en-US" altLang="zh-CN" dirty="0" err="1">
                <a:ea typeface="ＭＳ Ｐゴシック" panose="020B0600070205080204" pitchFamily="34" charset="-128"/>
              </a:rPr>
              <a:t>etc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+</a:t>
            </a: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Improves single-thread performance transparently to programmer, compiler;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- Very difficult to design (Scalable algorithms for improving single-thread performance elusive);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- Power hungry – many out-of-order execution structures consume significant power/area when scaled. Why?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- Diminishing returns on performance;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- Does not significantly help memory-bound application performance (Scalable algorithms for this elusive).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B2350F79-E52E-4149-8906-8A0B32D1EA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4D8077-396D-41A2-80C1-56E585E11785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FAEAD170-6243-40D5-90BD-5B781EF7B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Large Superscalar vs. Multi-Core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82B83DA4-D2C3-4A2E-A091-937D2CC298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73775"/>
            <a:ext cx="9105900" cy="51593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>
                <a:ea typeface="ＭＳ Ｐゴシック" panose="020B0600070205080204" pitchFamily="34" charset="-128"/>
              </a:rPr>
              <a:t>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Olukotun</a:t>
            </a:r>
            <a:r>
              <a:rPr lang="en-US" altLang="zh-CN" sz="1800" dirty="0">
                <a:ea typeface="ＭＳ Ｐゴシック" panose="020B0600070205080204" pitchFamily="34" charset="-128"/>
              </a:rPr>
              <a:t> et al., </a:t>
            </a:r>
            <a:r>
              <a:rPr lang="ja-JP" altLang="en-US" sz="1800" dirty="0">
                <a:ea typeface="ＭＳ Ｐゴシック" panose="020B0600070205080204" pitchFamily="34" charset="-128"/>
              </a:rPr>
              <a:t>“</a:t>
            </a:r>
            <a:r>
              <a:rPr lang="en-US" altLang="ja-JP" sz="1800" dirty="0">
                <a:ea typeface="ＭＳ Ｐゴシック" panose="020B0600070205080204" pitchFamily="34" charset="-128"/>
              </a:rPr>
              <a:t>The Case for a Single-Chip Multiprocessor,</a:t>
            </a:r>
            <a:r>
              <a:rPr lang="ja-JP" altLang="en-US" sz="1800" dirty="0">
                <a:ea typeface="ＭＳ Ｐゴシック" panose="020B0600070205080204" pitchFamily="34" charset="-128"/>
              </a:rPr>
              <a:t>”</a:t>
            </a:r>
            <a:r>
              <a:rPr lang="en-US" altLang="ja-JP" sz="1800" dirty="0">
                <a:ea typeface="ＭＳ Ｐゴシック" panose="020B0600070205080204" pitchFamily="34" charset="-128"/>
              </a:rPr>
              <a:t> ASPLOS 1996.</a:t>
            </a:r>
            <a:endParaRPr lang="en-US" altLang="zh-CN" sz="1800" dirty="0">
              <a:ea typeface="ＭＳ Ｐゴシック" panose="020B0600070205080204" pitchFamily="34" charset="-128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D7F90D5-6ACE-477B-9B72-23C7E135A6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13265B-5AEE-4C16-A097-2A3C1CD03700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5365" name="Picture 6" descr="olukotun-cmp.tiff">
            <a:extLst>
              <a:ext uri="{FF2B5EF4-FFF2-40B4-BE49-F238E27FC236}">
                <a16:creationId xmlns:a16="http://schemas.microsoft.com/office/drawing/2014/main" id="{DD2FDFA3-A262-4FA4-A131-60A061F8B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4300"/>
            <a:ext cx="9144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7E111A0-CD25-453D-B20A-0D99A3C96F41}"/>
              </a:ext>
            </a:extLst>
          </p:cNvPr>
          <p:cNvSpPr txBox="1"/>
          <p:nvPr/>
        </p:nvSpPr>
        <p:spPr>
          <a:xfrm>
            <a:off x="4495800" y="3198853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432FF"/>
                </a:solidFill>
              </a:rPr>
              <a:t>Vs.</a:t>
            </a:r>
            <a:endParaRPr lang="zh-CN" altLang="en-US" dirty="0">
              <a:solidFill>
                <a:srgbClr val="0432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3B879E-C539-4714-B475-B4E593A483AC}"/>
              </a:ext>
            </a:extLst>
          </p:cNvPr>
          <p:cNvSpPr/>
          <p:nvPr/>
        </p:nvSpPr>
        <p:spPr>
          <a:xfrm>
            <a:off x="1219200" y="109235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Large Superscalar 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EE361D-4289-4078-AC18-E9B77EA54EAA}"/>
              </a:ext>
            </a:extLst>
          </p:cNvPr>
          <p:cNvSpPr/>
          <p:nvPr/>
        </p:nvSpPr>
        <p:spPr>
          <a:xfrm>
            <a:off x="6477000" y="1084938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Multi-Core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5E1D448-DBA1-4409-AE70-760CD887F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Multi-Core vs. Large Superscalar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EC346-44B9-4BA2-A2E9-EDF6B66E34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403850"/>
          </a:xfrm>
        </p:spPr>
        <p:txBody>
          <a:bodyPr/>
          <a:lstStyle/>
          <a:p>
            <a:r>
              <a:rPr lang="en-US" altLang="zh-CN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Multi-core</a:t>
            </a:r>
            <a:r>
              <a:rPr lang="en-US" altLang="zh-CN" b="1" dirty="0"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advantages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+ Simpler cores 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more power efficient, lower complexity, easier to design and replicate, higher frequency (shorter wires, smaller structures)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+ Higher system throughput on </a:t>
            </a:r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multiprogrammed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workloads  reduced context switches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+ Higher system throughput in parallel applications 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ＭＳ Ｐゴシック" panose="020B0600070205080204" pitchFamily="34" charset="-128"/>
              <a:sym typeface="Wingdings" panose="05000000000000000000" pitchFamily="2" charset="2"/>
            </a:endParaRPr>
          </a:p>
          <a:p>
            <a:r>
              <a:rPr lang="en-US" altLang="zh-CN" b="1" dirty="0">
                <a:solidFill>
                  <a:srgbClr val="FF0000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Multi-core</a:t>
            </a:r>
            <a:r>
              <a:rPr lang="en-US" altLang="zh-CN" b="1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disadvantages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- Requires parallel tasks/threads to improve performance (parallel programming)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- Resource sharing can reduce single-thread performance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- Shared hardware resources need to be managed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- Number of pins limits data supply for increased demand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5F3A785E-906D-4E0D-988C-18BE8B8402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AA9543-2CAA-418A-ACAC-2941E0ABC3C0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5D33769-4216-4B8D-A36C-0FF74A63B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Why Multi-Core over Large Superscalar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796DB-F6B7-4816-8402-3FC97FFBD1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4489450"/>
          </a:xfrm>
        </p:spPr>
        <p:txBody>
          <a:bodyPr/>
          <a:lstStyle/>
          <a:p>
            <a:r>
              <a:rPr lang="en-US" altLang="zh-CN" b="1" dirty="0">
                <a:ea typeface="ＭＳ Ｐゴシック" panose="020B0600070205080204" pitchFamily="34" charset="-128"/>
              </a:rPr>
              <a:t>Technology push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Instruction issue queue </a:t>
            </a:r>
            <a:r>
              <a:rPr lang="en-US" altLang="zh-CN" dirty="0">
                <a:ea typeface="ＭＳ Ｐゴシック" panose="020B0600070205080204" pitchFamily="34" charset="-128"/>
              </a:rPr>
              <a:t>size limits the cycle time of the superscalar, </a:t>
            </a:r>
            <a:r>
              <a:rPr lang="en-US" altLang="zh-CN" dirty="0" err="1">
                <a:ea typeface="ＭＳ Ｐゴシック" panose="020B0600070205080204" pitchFamily="34" charset="-128"/>
              </a:rPr>
              <a:t>OoO</a:t>
            </a:r>
            <a:r>
              <a:rPr lang="en-US" altLang="zh-CN" dirty="0">
                <a:ea typeface="ＭＳ Ｐゴシック" panose="020B0600070205080204" pitchFamily="34" charset="-128"/>
              </a:rPr>
              <a:t> processor 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diminishing performance</a:t>
            </a:r>
          </a:p>
          <a:p>
            <a:pPr lvl="2"/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Quadratic increase in complexity with issue width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Large, multi-ported register files 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to support large instruction windows and issue widths  more resources, reduced frequency or longer RF access, diminishing performance</a:t>
            </a:r>
          </a:p>
          <a:p>
            <a:endParaRPr lang="en-US" altLang="zh-CN" b="1" dirty="0">
              <a:ea typeface="ＭＳ Ｐゴシック" panose="020B0600070205080204" pitchFamily="34" charset="-128"/>
              <a:sym typeface="Wingdings" panose="05000000000000000000" pitchFamily="2" charset="2"/>
            </a:endParaRPr>
          </a:p>
          <a:p>
            <a:r>
              <a:rPr lang="en-US" altLang="zh-CN" b="1" dirty="0">
                <a:ea typeface="ＭＳ Ｐゴシック" panose="020B0600070205080204" pitchFamily="34" charset="-128"/>
                <a:sym typeface="Wingdings" panose="05000000000000000000" pitchFamily="2" charset="2"/>
              </a:rPr>
              <a:t>Application pull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Multiple applications run on your CPU</a:t>
            </a:r>
          </a:p>
          <a:p>
            <a:pPr marL="344487" lvl="1" indent="0">
              <a:buNone/>
            </a:pPr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153C3344-C68A-495F-98A0-711268686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4C911C-0645-4DA3-8D9A-7CEC1DE91C97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F53708-2115-4F8D-8B9B-19D8A6FC7DD9}"/>
              </a:ext>
            </a:extLst>
          </p:cNvPr>
          <p:cNvSpPr/>
          <p:nvPr/>
        </p:nvSpPr>
        <p:spPr>
          <a:xfrm>
            <a:off x="381000" y="60960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Olukotun</a:t>
            </a:r>
            <a:r>
              <a:rPr lang="en-US" altLang="zh-CN" dirty="0"/>
              <a:t> et al., </a:t>
            </a:r>
            <a:r>
              <a:rPr lang="ja-JP" altLang="en-US" dirty="0"/>
              <a:t>“</a:t>
            </a:r>
            <a:r>
              <a:rPr lang="en-US" altLang="ja-JP" dirty="0"/>
              <a:t>The Case for a Single-Chip Multiprocessor,</a:t>
            </a:r>
            <a:r>
              <a:rPr lang="ja-JP" altLang="en-US" dirty="0"/>
              <a:t>”</a:t>
            </a:r>
            <a:r>
              <a:rPr lang="en-US" altLang="ja-JP" dirty="0"/>
              <a:t> ASPLOS 1996.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A094B4F-BC11-4190-8D95-E1AA1EAF4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Comparison Points…</a:t>
            </a:r>
          </a:p>
        </p:txBody>
      </p:sp>
      <p:pic>
        <p:nvPicPr>
          <p:cNvPr id="18435" name="Content Placeholder 5">
            <a:extLst>
              <a:ext uri="{FF2B5EF4-FFF2-40B4-BE49-F238E27FC236}">
                <a16:creationId xmlns:a16="http://schemas.microsoft.com/office/drawing/2014/main" id="{769D5B07-68B8-46C4-869D-44DF8F0078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0" b="2640"/>
          <a:stretch>
            <a:fillRect/>
          </a:stretch>
        </p:blipFill>
        <p:spPr>
          <a:xfrm>
            <a:off x="681038" y="1066800"/>
            <a:ext cx="8229600" cy="4964113"/>
          </a:xfrm>
        </p:spPr>
      </p:pic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227E3D76-8DCF-4D83-9846-3D8F351046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2D8D7B-9EC9-485A-9891-8ECDE14D5CD3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29A35C-8CF6-0547-BFD5-F110AFACD01B}"/>
              </a:ext>
            </a:extLst>
          </p:cNvPr>
          <p:cNvSpPr/>
          <p:nvPr/>
        </p:nvSpPr>
        <p:spPr>
          <a:xfrm>
            <a:off x="-76200" y="-152400"/>
            <a:ext cx="9220199" cy="7086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E6BAC-0812-9242-947A-0AA3CF8627B8}"/>
              </a:ext>
            </a:extLst>
          </p:cNvPr>
          <p:cNvSpPr txBox="1"/>
          <p:nvPr/>
        </p:nvSpPr>
        <p:spPr>
          <a:xfrm>
            <a:off x="1799499" y="2530848"/>
            <a:ext cx="56724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Can </a:t>
            </a:r>
            <a:r>
              <a:rPr lang="en-US" altLang="zh-CN" sz="3200" dirty="0">
                <a:solidFill>
                  <a:srgbClr val="00B0F0"/>
                </a:solidFill>
              </a:rPr>
              <a:t>multi-core</a:t>
            </a:r>
            <a:r>
              <a:rPr lang="en-US" altLang="zh-CN" sz="3200" dirty="0">
                <a:solidFill>
                  <a:schemeClr val="bg1"/>
                </a:solidFill>
              </a:rPr>
              <a:t> tech affect the result in Roofline model?</a:t>
            </a:r>
          </a:p>
        </p:txBody>
      </p:sp>
    </p:spTree>
    <p:extLst>
      <p:ext uri="{BB962C8B-B14F-4D97-AF65-F5344CB8AC3E}">
        <p14:creationId xmlns:p14="http://schemas.microsoft.com/office/powerpoint/2010/main" val="174911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697468"/>
          </a:xfrm>
        </p:spPr>
        <p:txBody>
          <a:bodyPr/>
          <a:lstStyle/>
          <a:p>
            <a:r>
              <a:rPr lang="en-US" altLang="zh-CN" sz="3600" dirty="0"/>
              <a:t>Can Multi-core</a:t>
            </a:r>
            <a:r>
              <a:rPr lang="zh-CN" altLang="en-US" sz="3600" dirty="0"/>
              <a:t> </a:t>
            </a:r>
            <a:r>
              <a:rPr lang="en-US" altLang="zh-CN" sz="3600" dirty="0"/>
              <a:t>CPU Increase Throughput?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F47F814A-E7BE-4096-BB98-DAB7846AEE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1600200"/>
          <a:ext cx="7543800" cy="3927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943061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uiExpand="1">
        <p:bldSub>
          <a:bldChart bld="series"/>
        </p:bldSub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4">
            <a:extLst>
              <a:ext uri="{FF2B5EF4-FFF2-40B4-BE49-F238E27FC236}">
                <a16:creationId xmlns:a16="http://schemas.microsoft.com/office/drawing/2014/main" id="{443CD542-EDE6-4F68-A821-FA543103C5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Multi-Core Evolution </a:t>
            </a:r>
            <a:br>
              <a:rPr lang="en-US" altLang="zh-CN">
                <a:ea typeface="ＭＳ Ｐゴシック" panose="020B0600070205080204" pitchFamily="34" charset="-128"/>
              </a:rPr>
            </a:br>
            <a:r>
              <a:rPr lang="en-US" altLang="zh-CN">
                <a:ea typeface="ＭＳ Ｐゴシック" panose="020B0600070205080204" pitchFamily="34" charset="-128"/>
              </a:rPr>
              <a:t>(An Early History)</a:t>
            </a:r>
          </a:p>
        </p:txBody>
      </p:sp>
      <p:sp>
        <p:nvSpPr>
          <p:cNvPr id="36867" name="Subtitle 5">
            <a:extLst>
              <a:ext uri="{FF2B5EF4-FFF2-40B4-BE49-F238E27FC236}">
                <a16:creationId xmlns:a16="http://schemas.microsoft.com/office/drawing/2014/main" id="{8288FE62-8EE4-4BB8-8B05-9F0B5654DF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A64E056F-7038-4088-BE5E-5703479C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30E5EF-8484-4E2D-852B-0C09E46BC603}" type="slidenum">
              <a:rPr lang="en-US" altLang="zh-CN" sz="12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zh-CN" sz="12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577618E-3A43-4B32-9496-FFB7FAD3F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9144000" cy="6096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Chip Multiprocessor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D15A4047-5480-44B2-92B1-126CDD717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dirty="0">
                <a:ea typeface="ＭＳ Ｐゴシック" panose="020B0600070205080204" pitchFamily="34" charset="-128"/>
              </a:rPr>
              <a:t>Barroso et al.,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Piranha: A Scalable Architecture Based on Single-Chip Multiprocessing</a:t>
            </a:r>
            <a:r>
              <a:rPr lang="en-US" altLang="ja-JP" dirty="0">
                <a:ea typeface="ＭＳ Ｐゴシック" panose="020B0600070205080204" pitchFamily="34" charset="-128"/>
              </a:rPr>
              <a:t>,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ISCA 2000.</a:t>
            </a:r>
          </a:p>
          <a:p>
            <a:pPr marL="342900" lvl="1" indent="-342900"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An early example of a symmetric multi-core processor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Large-scale server based on CMP nodes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Designed for commercial workloads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Read:</a:t>
            </a:r>
          </a:p>
          <a:p>
            <a:pPr marL="342900" lvl="1" indent="-342900"/>
            <a:r>
              <a:rPr lang="en-US" altLang="zh-CN" dirty="0">
                <a:ea typeface="ＭＳ Ｐゴシック" panose="020B0600070205080204" pitchFamily="34" charset="-128"/>
              </a:rPr>
              <a:t>Barroso et al., </a:t>
            </a:r>
            <a:r>
              <a:rPr lang="en-US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Memory System Characterization of Commercial Workloads</a:t>
            </a:r>
            <a:r>
              <a:rPr lang="en-US" altLang="ja-JP" dirty="0">
                <a:ea typeface="ＭＳ Ｐゴシック" panose="020B0600070205080204" pitchFamily="34" charset="-128"/>
              </a:rPr>
              <a:t>,</a:t>
            </a:r>
            <a:r>
              <a:rPr lang="en-US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ISCA 1998.</a:t>
            </a:r>
          </a:p>
          <a:p>
            <a:pPr marL="342900" lvl="1" indent="-342900"/>
            <a:r>
              <a:rPr lang="en-US" altLang="zh-CN" dirty="0">
                <a:ea typeface="ＭＳ Ｐゴシック" panose="020B0600070205080204" pitchFamily="34" charset="-128"/>
              </a:rPr>
              <a:t>Ranganathan et al., </a:t>
            </a:r>
            <a:r>
              <a:rPr lang="en-US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Performance of Database Workloads on Shared-Memory Systems with Out-of-Order Processors</a:t>
            </a:r>
            <a:r>
              <a:rPr lang="en-US" altLang="ja-JP" dirty="0">
                <a:ea typeface="ＭＳ Ｐゴシック" panose="020B0600070205080204" pitchFamily="34" charset="-128"/>
              </a:rPr>
              <a:t>,</a:t>
            </a:r>
            <a:r>
              <a:rPr lang="en-US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ASPLOS 1998.</a:t>
            </a:r>
          </a:p>
          <a:p>
            <a:pPr marL="342900" lvl="1" indent="-342900"/>
            <a:endParaRPr lang="en-US" altLang="zh-CN" dirty="0">
              <a:solidFill>
                <a:srgbClr val="CC33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1864D3E9-7286-485C-BB17-71AB9C7AE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Commercial Workload Characteristics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F61C6903-1A58-4F17-B293-B4089A95BF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3213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Memory system is the main bottleneck 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Very high CPI 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Execution time dominated by memory stall times 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Instruction stalls as important as data stalls 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Fast/large L2 caches are critical 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Very poor Instruction Level Parallelism (ILP) with existing techniques 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Frequent hard-to-predict branches 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Large L1 miss ratios 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Small gains from wide-issue out-of-order techniques</a:t>
            </a: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No need for floating point and multimedia units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4A010934-4DFD-4492-A685-BDE88689C9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B6B83D-FC73-49A8-B3DB-F4215767566E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AE3AA3F-FBC6-49F2-A2DA-915A9B76A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3D6D480A-9ECE-457D-A7A7-ADBBC063A1F5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1446213"/>
            <a:ext cx="7361237" cy="1068387"/>
            <a:chOff x="979" y="911"/>
            <a:chExt cx="4637" cy="673"/>
          </a:xfrm>
        </p:grpSpPr>
        <p:sp>
          <p:nvSpPr>
            <p:cNvPr id="40982" name="Text Box 4">
              <a:extLst>
                <a:ext uri="{FF2B5EF4-FFF2-40B4-BE49-F238E27FC236}">
                  <a16:creationId xmlns:a16="http://schemas.microsoft.com/office/drawing/2014/main" id="{1CF31891-CFA6-4A11-8753-C2D01432D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911"/>
              <a:ext cx="1488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Alpha core: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1-issue, in-order,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500MHz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83" name="Rectangle 5">
              <a:extLst>
                <a:ext uri="{FF2B5EF4-FFF2-40B4-BE49-F238E27FC236}">
                  <a16:creationId xmlns:a16="http://schemas.microsoft.com/office/drawing/2014/main" id="{C0CA08CC-D196-4967-86A8-4838D46D6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247"/>
              <a:ext cx="365" cy="288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FFFF"/>
                  </a:solidFill>
                  <a:latin typeface="Arial" panose="020B0604020202020204" pitchFamily="34" charset="0"/>
                </a:rPr>
                <a:t>CPU</a:t>
              </a:r>
            </a:p>
          </p:txBody>
        </p:sp>
      </p:grpSp>
      <p:pic>
        <p:nvPicPr>
          <p:cNvPr id="40964" name="Picture 6" descr="piranh_b">
            <a:extLst>
              <a:ext uri="{FF2B5EF4-FFF2-40B4-BE49-F238E27FC236}">
                <a16:creationId xmlns:a16="http://schemas.microsoft.com/office/drawing/2014/main" id="{B3697674-411E-47F2-9363-BCE67E200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5" y="5894388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7" descr="piranh_b">
            <a:extLst>
              <a:ext uri="{FF2B5EF4-FFF2-40B4-BE49-F238E27FC236}">
                <a16:creationId xmlns:a16="http://schemas.microsoft.com/office/drawing/2014/main" id="{4E6E73A1-82D0-4EBA-B07B-49279C9C1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325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8" descr="piranh_b">
            <a:extLst>
              <a:ext uri="{FF2B5EF4-FFF2-40B4-BE49-F238E27FC236}">
                <a16:creationId xmlns:a16="http://schemas.microsoft.com/office/drawing/2014/main" id="{3E2EAC72-6BAB-4847-A770-BA48D393C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25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9" descr="piranh_b">
            <a:extLst>
              <a:ext uri="{FF2B5EF4-FFF2-40B4-BE49-F238E27FC236}">
                <a16:creationId xmlns:a16="http://schemas.microsoft.com/office/drawing/2014/main" id="{EC20CDE1-A14A-46D2-94E5-D25B7734B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538" y="5894388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8" name="Picture 10" descr="piranh_b">
            <a:extLst>
              <a:ext uri="{FF2B5EF4-FFF2-40B4-BE49-F238E27FC236}">
                <a16:creationId xmlns:a16="http://schemas.microsoft.com/office/drawing/2014/main" id="{6CE6DD3B-65F7-41BB-BFEE-993012855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8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9" name="Picture 11" descr="piranh_b">
            <a:extLst>
              <a:ext uri="{FF2B5EF4-FFF2-40B4-BE49-F238E27FC236}">
                <a16:creationId xmlns:a16="http://schemas.microsoft.com/office/drawing/2014/main" id="{79C1B220-C2E2-4D4D-B27E-C27168896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338" y="5894388"/>
            <a:ext cx="3286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0" name="Picture 12" descr="piranh_b">
            <a:extLst>
              <a:ext uri="{FF2B5EF4-FFF2-40B4-BE49-F238E27FC236}">
                <a16:creationId xmlns:a16="http://schemas.microsoft.com/office/drawing/2014/main" id="{4ACE479B-E756-41C7-A1F7-203748E7B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1" name="Picture 13" descr="piranh_b">
            <a:extLst>
              <a:ext uri="{FF2B5EF4-FFF2-40B4-BE49-F238E27FC236}">
                <a16:creationId xmlns:a16="http://schemas.microsoft.com/office/drawing/2014/main" id="{45FFD9C6-0DD1-4F49-89E3-FCB0E58A1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550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2" name="Picture 14" descr="piranh_b">
            <a:extLst>
              <a:ext uri="{FF2B5EF4-FFF2-40B4-BE49-F238E27FC236}">
                <a16:creationId xmlns:a16="http://schemas.microsoft.com/office/drawing/2014/main" id="{FFA4DF9C-A32B-493E-8802-794170D16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450" y="5894388"/>
            <a:ext cx="3286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3" name="Picture 15" descr="piranh_b">
            <a:extLst>
              <a:ext uri="{FF2B5EF4-FFF2-40B4-BE49-F238E27FC236}">
                <a16:creationId xmlns:a16="http://schemas.microsoft.com/office/drawing/2014/main" id="{F35D7EB1-04BA-4F75-9E86-22DB61C33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763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4" name="Picture 16" descr="piranh_b">
            <a:extLst>
              <a:ext uri="{FF2B5EF4-FFF2-40B4-BE49-F238E27FC236}">
                <a16:creationId xmlns:a16="http://schemas.microsoft.com/office/drawing/2014/main" id="{829CDDB2-5CCA-4FA8-9953-49872F4E0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5894388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5" name="Picture 17" descr="piranh_b">
            <a:extLst>
              <a:ext uri="{FF2B5EF4-FFF2-40B4-BE49-F238E27FC236}">
                <a16:creationId xmlns:a16="http://schemas.microsoft.com/office/drawing/2014/main" id="{4FB91C32-47E9-4B29-A374-782E81292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75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6" name="Picture 18" descr="piranh_b">
            <a:extLst>
              <a:ext uri="{FF2B5EF4-FFF2-40B4-BE49-F238E27FC236}">
                <a16:creationId xmlns:a16="http://schemas.microsoft.com/office/drawing/2014/main" id="{9E41ABBB-E156-4481-B4BB-12794FFBE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75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7" name="Picture 19" descr="piranh_b">
            <a:extLst>
              <a:ext uri="{FF2B5EF4-FFF2-40B4-BE49-F238E27FC236}">
                <a16:creationId xmlns:a16="http://schemas.microsoft.com/office/drawing/2014/main" id="{BED6F689-FEDD-411B-B8A8-7AEEF9083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8" y="5894388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8" name="Picture 20" descr="piranh_b">
            <a:extLst>
              <a:ext uri="{FF2B5EF4-FFF2-40B4-BE49-F238E27FC236}">
                <a16:creationId xmlns:a16="http://schemas.microsoft.com/office/drawing/2014/main" id="{A873E95A-163C-4747-9FE6-9F33621B3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088" y="58943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79" name="Group 21">
            <a:extLst>
              <a:ext uri="{FF2B5EF4-FFF2-40B4-BE49-F238E27FC236}">
                <a16:creationId xmlns:a16="http://schemas.microsoft.com/office/drawing/2014/main" id="{916849E1-F356-4ADB-A96F-C46AA135929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276600"/>
            <a:ext cx="6096000" cy="2209800"/>
            <a:chOff x="576" y="2064"/>
            <a:chExt cx="3840" cy="1392"/>
          </a:xfrm>
        </p:grpSpPr>
        <p:sp>
          <p:nvSpPr>
            <p:cNvPr id="40980" name="Text Box 22">
              <a:extLst>
                <a:ext uri="{FF2B5EF4-FFF2-40B4-BE49-F238E27FC236}">
                  <a16:creationId xmlns:a16="http://schemas.microsoft.com/office/drawing/2014/main" id="{9F52E476-F74C-4CBD-A67E-CA7208CD4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60"/>
              <a:ext cx="3792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 few slides from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Luiz Barroso</a:t>
              </a:r>
              <a:r>
                <a:rPr lang="ja-JP" alt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r>
                <a:rPr lang="en-US" altLang="ja-JP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ISCA 2000 presentation of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66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Piranha: A Scalable Architecture</a:t>
              </a:r>
              <a:br>
                <a:rPr lang="en-US" altLang="zh-CN">
                  <a:solidFill>
                    <a:srgbClr val="0066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>
                  <a:solidFill>
                    <a:srgbClr val="0066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Based on Single-Chip Multiprocessing</a:t>
              </a:r>
            </a:p>
          </p:txBody>
        </p:sp>
        <p:sp>
          <p:nvSpPr>
            <p:cNvPr id="40981" name="Rectangle 23">
              <a:extLst>
                <a:ext uri="{FF2B5EF4-FFF2-40B4-BE49-F238E27FC236}">
                  <a16:creationId xmlns:a16="http://schemas.microsoft.com/office/drawing/2014/main" id="{42240EB1-E3F7-41D8-BB4A-61E045B5E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64"/>
              <a:ext cx="3792" cy="13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C1ED996-8F4B-47BC-935D-DA36C1251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45E5B27-8A61-4652-B4B8-E8F5224F8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981200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A61B57FA-F66A-4896-8F37-54D399158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47800"/>
            <a:ext cx="23622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core: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1-issue, in-order,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500MHz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 caches: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I&amp;D, 64KB, 2-way</a:t>
            </a:r>
            <a:endParaRPr lang="en-US" altLang="zh-CN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013" name="Group 5">
            <a:extLst>
              <a:ext uri="{FF2B5EF4-FFF2-40B4-BE49-F238E27FC236}">
                <a16:creationId xmlns:a16="http://schemas.microsoft.com/office/drawing/2014/main" id="{1DD8C505-65B1-4864-9957-F5D2A37893FD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2438400"/>
            <a:ext cx="579437" cy="1066800"/>
            <a:chOff x="979" y="1344"/>
            <a:chExt cx="365" cy="672"/>
          </a:xfrm>
        </p:grpSpPr>
        <p:sp>
          <p:nvSpPr>
            <p:cNvPr id="43029" name="Rectangle 6">
              <a:extLst>
                <a:ext uri="{FF2B5EF4-FFF2-40B4-BE49-F238E27FC236}">
                  <a16:creationId xmlns:a16="http://schemas.microsoft.com/office/drawing/2014/main" id="{62A0D2A7-2DC7-40E1-9664-4F83F67E2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3030" name="Rectangle 7">
              <a:extLst>
                <a:ext uri="{FF2B5EF4-FFF2-40B4-BE49-F238E27FC236}">
                  <a16:creationId xmlns:a16="http://schemas.microsoft.com/office/drawing/2014/main" id="{42F2BA88-FA82-4759-B909-7B3152D21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pic>
        <p:nvPicPr>
          <p:cNvPr id="43014" name="Picture 8" descr="piranh_b">
            <a:extLst>
              <a:ext uri="{FF2B5EF4-FFF2-40B4-BE49-F238E27FC236}">
                <a16:creationId xmlns:a16="http://schemas.microsoft.com/office/drawing/2014/main" id="{C7AED43C-43CA-475F-A2CB-48239BABD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50" y="6038850"/>
            <a:ext cx="3317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9" descr="piranh_b">
            <a:extLst>
              <a:ext uri="{FF2B5EF4-FFF2-40B4-BE49-F238E27FC236}">
                <a16:creationId xmlns:a16="http://schemas.microsoft.com/office/drawing/2014/main" id="{308256D8-A9F8-4187-883A-C1A3BD181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350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10" descr="piranh_b">
            <a:extLst>
              <a:ext uri="{FF2B5EF4-FFF2-40B4-BE49-F238E27FC236}">
                <a16:creationId xmlns:a16="http://schemas.microsoft.com/office/drawing/2014/main" id="{E564F1DD-526B-46E4-A3F1-54561DDA3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0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7" name="Picture 11" descr="piranh_b">
            <a:extLst>
              <a:ext uri="{FF2B5EF4-FFF2-40B4-BE49-F238E27FC236}">
                <a16:creationId xmlns:a16="http://schemas.microsoft.com/office/drawing/2014/main" id="{1E6033E3-3734-486D-82A2-B04D629D9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63" y="6038850"/>
            <a:ext cx="3317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8" name="Picture 12" descr="piranh_b">
            <a:extLst>
              <a:ext uri="{FF2B5EF4-FFF2-40B4-BE49-F238E27FC236}">
                <a16:creationId xmlns:a16="http://schemas.microsoft.com/office/drawing/2014/main" id="{5C24C1F3-F1F2-4B8D-88D0-F04DA04DE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463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9" name="Picture 13" descr="piranh_b">
            <a:extLst>
              <a:ext uri="{FF2B5EF4-FFF2-40B4-BE49-F238E27FC236}">
                <a16:creationId xmlns:a16="http://schemas.microsoft.com/office/drawing/2014/main" id="{5AFA3DD8-CA93-4212-9BB3-BCDE93E58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6038850"/>
            <a:ext cx="32861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0" name="Picture 14" descr="piranh_b">
            <a:extLst>
              <a:ext uri="{FF2B5EF4-FFF2-40B4-BE49-F238E27FC236}">
                <a16:creationId xmlns:a16="http://schemas.microsoft.com/office/drawing/2014/main" id="{2114A682-3F7D-461B-A80B-3B42322EA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1" name="Picture 15" descr="piranh_b">
            <a:extLst>
              <a:ext uri="{FF2B5EF4-FFF2-40B4-BE49-F238E27FC236}">
                <a16:creationId xmlns:a16="http://schemas.microsoft.com/office/drawing/2014/main" id="{0E637D69-AECE-4FBB-BBEC-FA61B9681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575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2" name="Picture 16" descr="piranh_b">
            <a:extLst>
              <a:ext uri="{FF2B5EF4-FFF2-40B4-BE49-F238E27FC236}">
                <a16:creationId xmlns:a16="http://schemas.microsoft.com/office/drawing/2014/main" id="{D10032AE-803C-4D7A-A0A0-6E00C21AD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6038850"/>
            <a:ext cx="3286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3" name="Picture 17" descr="piranh_b">
            <a:extLst>
              <a:ext uri="{FF2B5EF4-FFF2-40B4-BE49-F238E27FC236}">
                <a16:creationId xmlns:a16="http://schemas.microsoft.com/office/drawing/2014/main" id="{62195D22-8BF7-427C-8D6F-8AC0C6B90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788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4" name="Picture 18" descr="piranh_b">
            <a:extLst>
              <a:ext uri="{FF2B5EF4-FFF2-40B4-BE49-F238E27FC236}">
                <a16:creationId xmlns:a16="http://schemas.microsoft.com/office/drawing/2014/main" id="{AE31DA3E-FF5D-46EB-998D-F2AC13F5C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100" y="6038850"/>
            <a:ext cx="3317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5" name="Picture 19" descr="piranh_b">
            <a:extLst>
              <a:ext uri="{FF2B5EF4-FFF2-40B4-BE49-F238E27FC236}">
                <a16:creationId xmlns:a16="http://schemas.microsoft.com/office/drawing/2014/main" id="{F31169CB-5680-4285-A768-05ED1B9AD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6" name="Picture 20" descr="piranh_b">
            <a:extLst>
              <a:ext uri="{FF2B5EF4-FFF2-40B4-BE49-F238E27FC236}">
                <a16:creationId xmlns:a16="http://schemas.microsoft.com/office/drawing/2014/main" id="{C7151EE6-2CC8-418E-BE9B-F4F90388B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7" name="Picture 21" descr="piranh_b">
            <a:extLst>
              <a:ext uri="{FF2B5EF4-FFF2-40B4-BE49-F238E27FC236}">
                <a16:creationId xmlns:a16="http://schemas.microsoft.com/office/drawing/2014/main" id="{8B9E3B40-EF3D-4C10-9B97-31106C50F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6038850"/>
            <a:ext cx="3317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8" name="Picture 22" descr="piranh_b">
            <a:extLst>
              <a:ext uri="{FF2B5EF4-FFF2-40B4-BE49-F238E27FC236}">
                <a16:creationId xmlns:a16="http://schemas.microsoft.com/office/drawing/2014/main" id="{04FA2118-D26B-432E-96E8-9CF443CB0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603885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DBE82FF-F9BD-4CB4-9D8A-AFBB6BE95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C5988CE-1D08-4749-BE88-5F013976E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981200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00406548-0E76-4A19-949C-341D3D3C6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47800"/>
            <a:ext cx="23622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core: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1-issue, in-order,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500MHz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 caches: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I&amp;D, 64KB, 2-way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Intra-chip switch (ICS)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32GB/sec, 1-cycle delay</a:t>
            </a:r>
          </a:p>
        </p:txBody>
      </p:sp>
      <p:grpSp>
        <p:nvGrpSpPr>
          <p:cNvPr id="45061" name="Group 5">
            <a:extLst>
              <a:ext uri="{FF2B5EF4-FFF2-40B4-BE49-F238E27FC236}">
                <a16:creationId xmlns:a16="http://schemas.microsoft.com/office/drawing/2014/main" id="{495C203E-9C0A-4C1F-81B2-444EA65EA771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2438400"/>
            <a:ext cx="579437" cy="1066800"/>
            <a:chOff x="979" y="1344"/>
            <a:chExt cx="365" cy="672"/>
          </a:xfrm>
        </p:grpSpPr>
        <p:sp>
          <p:nvSpPr>
            <p:cNvPr id="45106" name="Rectangle 6">
              <a:extLst>
                <a:ext uri="{FF2B5EF4-FFF2-40B4-BE49-F238E27FC236}">
                  <a16:creationId xmlns:a16="http://schemas.microsoft.com/office/drawing/2014/main" id="{C28C8647-C080-4FE0-A861-130F7F705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5107" name="Rectangle 7">
              <a:extLst>
                <a:ext uri="{FF2B5EF4-FFF2-40B4-BE49-F238E27FC236}">
                  <a16:creationId xmlns:a16="http://schemas.microsoft.com/office/drawing/2014/main" id="{DF0F868F-B2EA-4012-9C0F-0C526044E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5062" name="Rectangle 8">
            <a:extLst>
              <a:ext uri="{FF2B5EF4-FFF2-40B4-BE49-F238E27FC236}">
                <a16:creationId xmlns:a16="http://schemas.microsoft.com/office/drawing/2014/main" id="{8552B460-5477-4F66-8484-72BA0EED9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505200"/>
            <a:ext cx="5006975" cy="457200"/>
          </a:xfrm>
          <a:prstGeom prst="rect">
            <a:avLst/>
          </a:prstGeom>
          <a:solidFill>
            <a:srgbClr val="CC6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ICS</a:t>
            </a:r>
          </a:p>
        </p:txBody>
      </p:sp>
      <p:sp>
        <p:nvSpPr>
          <p:cNvPr id="45063" name="Rectangle 9">
            <a:extLst>
              <a:ext uri="{FF2B5EF4-FFF2-40B4-BE49-F238E27FC236}">
                <a16:creationId xmlns:a16="http://schemas.microsoft.com/office/drawing/2014/main" id="{01008AC7-21DF-4703-8E99-2F4DAE667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5064" name="Group 10">
            <a:extLst>
              <a:ext uri="{FF2B5EF4-FFF2-40B4-BE49-F238E27FC236}">
                <a16:creationId xmlns:a16="http://schemas.microsoft.com/office/drawing/2014/main" id="{ADA81CEF-B4B1-4551-BDCF-B26DFC1AA50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962400"/>
            <a:ext cx="579438" cy="1066800"/>
            <a:chOff x="979" y="1344"/>
            <a:chExt cx="365" cy="672"/>
          </a:xfrm>
        </p:grpSpPr>
        <p:sp>
          <p:nvSpPr>
            <p:cNvPr id="45104" name="Rectangle 11">
              <a:extLst>
                <a:ext uri="{FF2B5EF4-FFF2-40B4-BE49-F238E27FC236}">
                  <a16:creationId xmlns:a16="http://schemas.microsoft.com/office/drawing/2014/main" id="{80DD2A76-7FC3-470E-85F6-1B1B76742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5105" name="Rectangle 12">
              <a:extLst>
                <a:ext uri="{FF2B5EF4-FFF2-40B4-BE49-F238E27FC236}">
                  <a16:creationId xmlns:a16="http://schemas.microsoft.com/office/drawing/2014/main" id="{54CB84C2-B53F-44A6-98D8-D90BB9515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5065" name="Rectangle 13">
            <a:extLst>
              <a:ext uri="{FF2B5EF4-FFF2-40B4-BE49-F238E27FC236}">
                <a16:creationId xmlns:a16="http://schemas.microsoft.com/office/drawing/2014/main" id="{1416AE9A-A97F-4FF2-8DFC-991DDDA1A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5066" name="Group 14">
            <a:extLst>
              <a:ext uri="{FF2B5EF4-FFF2-40B4-BE49-F238E27FC236}">
                <a16:creationId xmlns:a16="http://schemas.microsoft.com/office/drawing/2014/main" id="{49F00A6D-B185-4B2D-826C-3FA3D8A0F0A4}"/>
              </a:ext>
            </a:extLst>
          </p:cNvPr>
          <p:cNvGrpSpPr>
            <a:grpSpLocks/>
          </p:cNvGrpSpPr>
          <p:nvPr/>
        </p:nvGrpSpPr>
        <p:grpSpPr bwMode="auto">
          <a:xfrm>
            <a:off x="3295650" y="3962400"/>
            <a:ext cx="579438" cy="1066800"/>
            <a:chOff x="979" y="1344"/>
            <a:chExt cx="365" cy="672"/>
          </a:xfrm>
        </p:grpSpPr>
        <p:sp>
          <p:nvSpPr>
            <p:cNvPr id="45102" name="Rectangle 15">
              <a:extLst>
                <a:ext uri="{FF2B5EF4-FFF2-40B4-BE49-F238E27FC236}">
                  <a16:creationId xmlns:a16="http://schemas.microsoft.com/office/drawing/2014/main" id="{A1B3F8AF-E586-416D-B00D-64C2BC2D8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5103" name="Rectangle 16">
              <a:extLst>
                <a:ext uri="{FF2B5EF4-FFF2-40B4-BE49-F238E27FC236}">
                  <a16:creationId xmlns:a16="http://schemas.microsoft.com/office/drawing/2014/main" id="{4995C815-35A2-47D0-8805-EE6B8BD87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5067" name="Rectangle 17">
            <a:extLst>
              <a:ext uri="{FF2B5EF4-FFF2-40B4-BE49-F238E27FC236}">
                <a16:creationId xmlns:a16="http://schemas.microsoft.com/office/drawing/2014/main" id="{920C505C-3E84-4764-9AC4-355C04B0F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981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5068" name="Group 18">
            <a:extLst>
              <a:ext uri="{FF2B5EF4-FFF2-40B4-BE49-F238E27FC236}">
                <a16:creationId xmlns:a16="http://schemas.microsoft.com/office/drawing/2014/main" id="{C8567D27-82D3-469D-B440-5F9F699AEA4A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2438400"/>
            <a:ext cx="579438" cy="1066800"/>
            <a:chOff x="979" y="1344"/>
            <a:chExt cx="365" cy="672"/>
          </a:xfrm>
        </p:grpSpPr>
        <p:sp>
          <p:nvSpPr>
            <p:cNvPr id="45100" name="Rectangle 19">
              <a:extLst>
                <a:ext uri="{FF2B5EF4-FFF2-40B4-BE49-F238E27FC236}">
                  <a16:creationId xmlns:a16="http://schemas.microsoft.com/office/drawing/2014/main" id="{BC910740-C8AE-4C5A-B629-1CC20081B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5101" name="Rectangle 20">
              <a:extLst>
                <a:ext uri="{FF2B5EF4-FFF2-40B4-BE49-F238E27FC236}">
                  <a16:creationId xmlns:a16="http://schemas.microsoft.com/office/drawing/2014/main" id="{DAC3F5E8-7FF0-43AA-8E45-4B9CF0749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5069" name="Rectangle 21">
            <a:extLst>
              <a:ext uri="{FF2B5EF4-FFF2-40B4-BE49-F238E27FC236}">
                <a16:creationId xmlns:a16="http://schemas.microsoft.com/office/drawing/2014/main" id="{73F7D8D4-6EF6-43A3-9FA4-FC8E97FA6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1981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5070" name="Group 22">
            <a:extLst>
              <a:ext uri="{FF2B5EF4-FFF2-40B4-BE49-F238E27FC236}">
                <a16:creationId xmlns:a16="http://schemas.microsoft.com/office/drawing/2014/main" id="{003F6B59-6FFD-4391-B216-17F3E11A97A3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2438400"/>
            <a:ext cx="579438" cy="1066800"/>
            <a:chOff x="979" y="1344"/>
            <a:chExt cx="365" cy="672"/>
          </a:xfrm>
        </p:grpSpPr>
        <p:sp>
          <p:nvSpPr>
            <p:cNvPr id="45098" name="Rectangle 23">
              <a:extLst>
                <a:ext uri="{FF2B5EF4-FFF2-40B4-BE49-F238E27FC236}">
                  <a16:creationId xmlns:a16="http://schemas.microsoft.com/office/drawing/2014/main" id="{3307A6DF-097D-46DE-84A5-BAE259636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5099" name="Rectangle 24">
              <a:extLst>
                <a:ext uri="{FF2B5EF4-FFF2-40B4-BE49-F238E27FC236}">
                  <a16:creationId xmlns:a16="http://schemas.microsoft.com/office/drawing/2014/main" id="{DCC0E7D0-6837-478F-A3E2-537A6FF8A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5071" name="Rectangle 25">
            <a:extLst>
              <a:ext uri="{FF2B5EF4-FFF2-40B4-BE49-F238E27FC236}">
                <a16:creationId xmlns:a16="http://schemas.microsoft.com/office/drawing/2014/main" id="{5BFCCEE8-0AC1-4037-A883-EEBD07B30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981200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5072" name="Group 26">
            <a:extLst>
              <a:ext uri="{FF2B5EF4-FFF2-40B4-BE49-F238E27FC236}">
                <a16:creationId xmlns:a16="http://schemas.microsoft.com/office/drawing/2014/main" id="{8A32948A-D885-44D1-BB48-D62B977DE36E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2438400"/>
            <a:ext cx="579437" cy="1066800"/>
            <a:chOff x="979" y="1344"/>
            <a:chExt cx="365" cy="672"/>
          </a:xfrm>
        </p:grpSpPr>
        <p:sp>
          <p:nvSpPr>
            <p:cNvPr id="45096" name="Rectangle 27">
              <a:extLst>
                <a:ext uri="{FF2B5EF4-FFF2-40B4-BE49-F238E27FC236}">
                  <a16:creationId xmlns:a16="http://schemas.microsoft.com/office/drawing/2014/main" id="{D8BCB24C-416E-426B-A51D-4F91C859F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5097" name="Rectangle 28">
              <a:extLst>
                <a:ext uri="{FF2B5EF4-FFF2-40B4-BE49-F238E27FC236}">
                  <a16:creationId xmlns:a16="http://schemas.microsoft.com/office/drawing/2014/main" id="{E989857A-239B-4B81-B810-6215E28C5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5073" name="Rectangle 29">
            <a:extLst>
              <a:ext uri="{FF2B5EF4-FFF2-40B4-BE49-F238E27FC236}">
                <a16:creationId xmlns:a16="http://schemas.microsoft.com/office/drawing/2014/main" id="{D17DAE4D-2CB8-4C81-B0FB-1588DF340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5074" name="Group 30">
            <a:extLst>
              <a:ext uri="{FF2B5EF4-FFF2-40B4-BE49-F238E27FC236}">
                <a16:creationId xmlns:a16="http://schemas.microsoft.com/office/drawing/2014/main" id="{114917D5-9EC5-489C-B290-FBC2EF57F471}"/>
              </a:ext>
            </a:extLst>
          </p:cNvPr>
          <p:cNvGrpSpPr>
            <a:grpSpLocks/>
          </p:cNvGrpSpPr>
          <p:nvPr/>
        </p:nvGrpSpPr>
        <p:grpSpPr bwMode="auto">
          <a:xfrm>
            <a:off x="4457700" y="3962400"/>
            <a:ext cx="579438" cy="1066800"/>
            <a:chOff x="979" y="1344"/>
            <a:chExt cx="365" cy="672"/>
          </a:xfrm>
        </p:grpSpPr>
        <p:sp>
          <p:nvSpPr>
            <p:cNvPr id="45094" name="Rectangle 31">
              <a:extLst>
                <a:ext uri="{FF2B5EF4-FFF2-40B4-BE49-F238E27FC236}">
                  <a16:creationId xmlns:a16="http://schemas.microsoft.com/office/drawing/2014/main" id="{7C476BDE-6453-4477-91E0-689374FFC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5095" name="Rectangle 32">
              <a:extLst>
                <a:ext uri="{FF2B5EF4-FFF2-40B4-BE49-F238E27FC236}">
                  <a16:creationId xmlns:a16="http://schemas.microsoft.com/office/drawing/2014/main" id="{F568F514-5AE4-45A0-B97B-F77750516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5075" name="Rectangle 33">
            <a:extLst>
              <a:ext uri="{FF2B5EF4-FFF2-40B4-BE49-F238E27FC236}">
                <a16:creationId xmlns:a16="http://schemas.microsoft.com/office/drawing/2014/main" id="{CB8A5B5D-CEFE-4A77-BA80-679ED438A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5076" name="Group 34">
            <a:extLst>
              <a:ext uri="{FF2B5EF4-FFF2-40B4-BE49-F238E27FC236}">
                <a16:creationId xmlns:a16="http://schemas.microsoft.com/office/drawing/2014/main" id="{E4D4C9CA-876C-4430-9301-FBEFC7694EC2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3962400"/>
            <a:ext cx="579438" cy="1066800"/>
            <a:chOff x="979" y="1344"/>
            <a:chExt cx="365" cy="672"/>
          </a:xfrm>
        </p:grpSpPr>
        <p:sp>
          <p:nvSpPr>
            <p:cNvPr id="45092" name="Rectangle 35">
              <a:extLst>
                <a:ext uri="{FF2B5EF4-FFF2-40B4-BE49-F238E27FC236}">
                  <a16:creationId xmlns:a16="http://schemas.microsoft.com/office/drawing/2014/main" id="{0E941A3D-9615-4780-818F-55E4540BD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5093" name="Rectangle 36">
              <a:extLst>
                <a:ext uri="{FF2B5EF4-FFF2-40B4-BE49-F238E27FC236}">
                  <a16:creationId xmlns:a16="http://schemas.microsoft.com/office/drawing/2014/main" id="{C5300D67-0847-43EC-A98D-15D42B707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pic>
        <p:nvPicPr>
          <p:cNvPr id="45077" name="Picture 37" descr="piranh_b">
            <a:extLst>
              <a:ext uri="{FF2B5EF4-FFF2-40B4-BE49-F238E27FC236}">
                <a16:creationId xmlns:a16="http://schemas.microsoft.com/office/drawing/2014/main" id="{E1F6A33F-A49B-4F40-BDA7-C9209203B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225" y="5994400"/>
            <a:ext cx="3317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8" name="Picture 38" descr="piranh_b">
            <a:extLst>
              <a:ext uri="{FF2B5EF4-FFF2-40B4-BE49-F238E27FC236}">
                <a16:creationId xmlns:a16="http://schemas.microsoft.com/office/drawing/2014/main" id="{3298C874-F1C6-4A88-82DE-BF7761CE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25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9" name="Picture 39" descr="piranh_b">
            <a:extLst>
              <a:ext uri="{FF2B5EF4-FFF2-40B4-BE49-F238E27FC236}">
                <a16:creationId xmlns:a16="http://schemas.microsoft.com/office/drawing/2014/main" id="{234FF37E-FA46-4B50-9D11-46A45EE45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5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0" name="Picture 40" descr="piranh_b">
            <a:extLst>
              <a:ext uri="{FF2B5EF4-FFF2-40B4-BE49-F238E27FC236}">
                <a16:creationId xmlns:a16="http://schemas.microsoft.com/office/drawing/2014/main" id="{A4DF7DDD-1F8B-40E5-968E-8FFBE3068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38" y="5994400"/>
            <a:ext cx="3317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1" name="Picture 41" descr="piranh_b">
            <a:extLst>
              <a:ext uri="{FF2B5EF4-FFF2-40B4-BE49-F238E27FC236}">
                <a16:creationId xmlns:a16="http://schemas.microsoft.com/office/drawing/2014/main" id="{250DB13C-E7D6-44B1-B00E-72A78E43C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8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2" name="Picture 42" descr="piranh_b">
            <a:extLst>
              <a:ext uri="{FF2B5EF4-FFF2-40B4-BE49-F238E27FC236}">
                <a16:creationId xmlns:a16="http://schemas.microsoft.com/office/drawing/2014/main" id="{DD860B18-1A8D-4970-AE90-AC82C1422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5994400"/>
            <a:ext cx="32861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3" name="Picture 43" descr="piranh_b">
            <a:extLst>
              <a:ext uri="{FF2B5EF4-FFF2-40B4-BE49-F238E27FC236}">
                <a16:creationId xmlns:a16="http://schemas.microsoft.com/office/drawing/2014/main" id="{4391D5AF-E337-45D3-A2E6-88EC7F24D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4" name="Picture 44" descr="piranh_b">
            <a:extLst>
              <a:ext uri="{FF2B5EF4-FFF2-40B4-BE49-F238E27FC236}">
                <a16:creationId xmlns:a16="http://schemas.microsoft.com/office/drawing/2014/main" id="{E6E68107-C905-48F5-AAAD-767C910D0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350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5" name="Picture 45" descr="piranh_b">
            <a:extLst>
              <a:ext uri="{FF2B5EF4-FFF2-40B4-BE49-F238E27FC236}">
                <a16:creationId xmlns:a16="http://schemas.microsoft.com/office/drawing/2014/main" id="{DA1629AC-91B0-4DE8-BB48-DD5A81C6B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0" y="5994400"/>
            <a:ext cx="32861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6" name="Picture 46" descr="piranh_b">
            <a:extLst>
              <a:ext uri="{FF2B5EF4-FFF2-40B4-BE49-F238E27FC236}">
                <a16:creationId xmlns:a16="http://schemas.microsoft.com/office/drawing/2014/main" id="{ABEA9F2D-D25E-4480-BB06-C955BB44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563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7" name="Picture 47" descr="piranh_b">
            <a:extLst>
              <a:ext uri="{FF2B5EF4-FFF2-40B4-BE49-F238E27FC236}">
                <a16:creationId xmlns:a16="http://schemas.microsoft.com/office/drawing/2014/main" id="{EF2DB9D1-C96A-462D-A22C-47831B6AA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5" y="5994400"/>
            <a:ext cx="3317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8" name="Picture 48" descr="piranh_b">
            <a:extLst>
              <a:ext uri="{FF2B5EF4-FFF2-40B4-BE49-F238E27FC236}">
                <a16:creationId xmlns:a16="http://schemas.microsoft.com/office/drawing/2014/main" id="{A85282F8-F1BC-4740-AE05-1EA407F65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9" name="Picture 49" descr="piranh_b">
            <a:extLst>
              <a:ext uri="{FF2B5EF4-FFF2-40B4-BE49-F238E27FC236}">
                <a16:creationId xmlns:a16="http://schemas.microsoft.com/office/drawing/2014/main" id="{D2E94FF5-537D-48C7-847F-ABBBB0A85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90" name="Picture 50" descr="piranh_b">
            <a:extLst>
              <a:ext uri="{FF2B5EF4-FFF2-40B4-BE49-F238E27FC236}">
                <a16:creationId xmlns:a16="http://schemas.microsoft.com/office/drawing/2014/main" id="{6304894C-2148-489D-A50A-9FB7CE7C5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8" y="5994400"/>
            <a:ext cx="3317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91" name="Picture 51" descr="piranh_b">
            <a:extLst>
              <a:ext uri="{FF2B5EF4-FFF2-40B4-BE49-F238E27FC236}">
                <a16:creationId xmlns:a16="http://schemas.microsoft.com/office/drawing/2014/main" id="{A2A3A6AE-9978-45E3-9B8C-3770110A2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88" y="5994400"/>
            <a:ext cx="330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ED9AC3D-F56A-48FD-81C4-3F7F1C018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EC97CF2-756C-4650-AF06-7751C3ADC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981200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D9BCF76A-15A8-4C0D-9EC9-4549DF91C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47800"/>
            <a:ext cx="23622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core: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1-issue, in-order,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500MHz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 caches: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I&amp;D, 64KB, 2-way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Intra-chip switch (ICS)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32GB/sec, 1-cycle delay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 cache: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shared, 1MB, 8-way</a:t>
            </a:r>
          </a:p>
        </p:txBody>
      </p:sp>
      <p:grpSp>
        <p:nvGrpSpPr>
          <p:cNvPr id="47109" name="Group 5">
            <a:extLst>
              <a:ext uri="{FF2B5EF4-FFF2-40B4-BE49-F238E27FC236}">
                <a16:creationId xmlns:a16="http://schemas.microsoft.com/office/drawing/2014/main" id="{80F55697-E7C4-4D48-A201-1153E8EA527B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2438400"/>
            <a:ext cx="579437" cy="1066800"/>
            <a:chOff x="979" y="1344"/>
            <a:chExt cx="365" cy="672"/>
          </a:xfrm>
        </p:grpSpPr>
        <p:sp>
          <p:nvSpPr>
            <p:cNvPr id="47162" name="Rectangle 6">
              <a:extLst>
                <a:ext uri="{FF2B5EF4-FFF2-40B4-BE49-F238E27FC236}">
                  <a16:creationId xmlns:a16="http://schemas.microsoft.com/office/drawing/2014/main" id="{2409AEFB-E5E3-47E8-81F3-8C5A1E8D2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7163" name="Rectangle 7">
              <a:extLst>
                <a:ext uri="{FF2B5EF4-FFF2-40B4-BE49-F238E27FC236}">
                  <a16:creationId xmlns:a16="http://schemas.microsoft.com/office/drawing/2014/main" id="{DE01863A-D6C2-4648-94B9-2BFC6E01D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7110" name="Rectangle 8">
            <a:extLst>
              <a:ext uri="{FF2B5EF4-FFF2-40B4-BE49-F238E27FC236}">
                <a16:creationId xmlns:a16="http://schemas.microsoft.com/office/drawing/2014/main" id="{6516ABF1-914F-47A9-8648-B558DD8EA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39624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7111" name="Rectangle 9">
            <a:extLst>
              <a:ext uri="{FF2B5EF4-FFF2-40B4-BE49-F238E27FC236}">
                <a16:creationId xmlns:a16="http://schemas.microsoft.com/office/drawing/2014/main" id="{4F7BC76E-F47A-4E7F-ADB9-44A4C691E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505200"/>
            <a:ext cx="5006975" cy="457200"/>
          </a:xfrm>
          <a:prstGeom prst="rect">
            <a:avLst/>
          </a:prstGeom>
          <a:solidFill>
            <a:srgbClr val="CC6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ICS</a:t>
            </a:r>
          </a:p>
        </p:txBody>
      </p:sp>
      <p:sp>
        <p:nvSpPr>
          <p:cNvPr id="47112" name="Rectangle 10">
            <a:extLst>
              <a:ext uri="{FF2B5EF4-FFF2-40B4-BE49-F238E27FC236}">
                <a16:creationId xmlns:a16="http://schemas.microsoft.com/office/drawing/2014/main" id="{316B3FB2-9F19-4FD8-A184-9C2A1437E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7113" name="Group 11">
            <a:extLst>
              <a:ext uri="{FF2B5EF4-FFF2-40B4-BE49-F238E27FC236}">
                <a16:creationId xmlns:a16="http://schemas.microsoft.com/office/drawing/2014/main" id="{6927C52D-3670-47DA-BECB-46CD0A2F697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962400"/>
            <a:ext cx="579438" cy="1066800"/>
            <a:chOff x="979" y="1344"/>
            <a:chExt cx="365" cy="672"/>
          </a:xfrm>
        </p:grpSpPr>
        <p:sp>
          <p:nvSpPr>
            <p:cNvPr id="47160" name="Rectangle 12">
              <a:extLst>
                <a:ext uri="{FF2B5EF4-FFF2-40B4-BE49-F238E27FC236}">
                  <a16:creationId xmlns:a16="http://schemas.microsoft.com/office/drawing/2014/main" id="{C15158C1-2341-4F24-808B-B92D45C29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7161" name="Rectangle 13">
              <a:extLst>
                <a:ext uri="{FF2B5EF4-FFF2-40B4-BE49-F238E27FC236}">
                  <a16:creationId xmlns:a16="http://schemas.microsoft.com/office/drawing/2014/main" id="{69934326-AB6A-4BC0-B987-D51EB5217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7114" name="Rectangle 14">
            <a:extLst>
              <a:ext uri="{FF2B5EF4-FFF2-40B4-BE49-F238E27FC236}">
                <a16:creationId xmlns:a16="http://schemas.microsoft.com/office/drawing/2014/main" id="{0D8A160A-63D3-4504-A5F4-05B1AF263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9812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7115" name="Rectangle 15">
            <a:extLst>
              <a:ext uri="{FF2B5EF4-FFF2-40B4-BE49-F238E27FC236}">
                <a16:creationId xmlns:a16="http://schemas.microsoft.com/office/drawing/2014/main" id="{CE26B88C-749A-4FED-96A5-F80AE1339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39624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7116" name="Rectangle 16">
            <a:extLst>
              <a:ext uri="{FF2B5EF4-FFF2-40B4-BE49-F238E27FC236}">
                <a16:creationId xmlns:a16="http://schemas.microsoft.com/office/drawing/2014/main" id="{52FEA1EA-DD21-4B3C-9E10-813B547C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7117" name="Group 17">
            <a:extLst>
              <a:ext uri="{FF2B5EF4-FFF2-40B4-BE49-F238E27FC236}">
                <a16:creationId xmlns:a16="http://schemas.microsoft.com/office/drawing/2014/main" id="{08CF4EFD-0CD6-40FB-9382-7D5072A766CC}"/>
              </a:ext>
            </a:extLst>
          </p:cNvPr>
          <p:cNvGrpSpPr>
            <a:grpSpLocks/>
          </p:cNvGrpSpPr>
          <p:nvPr/>
        </p:nvGrpSpPr>
        <p:grpSpPr bwMode="auto">
          <a:xfrm>
            <a:off x="3295650" y="3962400"/>
            <a:ext cx="579438" cy="1066800"/>
            <a:chOff x="979" y="1344"/>
            <a:chExt cx="365" cy="672"/>
          </a:xfrm>
        </p:grpSpPr>
        <p:sp>
          <p:nvSpPr>
            <p:cNvPr id="47158" name="Rectangle 18">
              <a:extLst>
                <a:ext uri="{FF2B5EF4-FFF2-40B4-BE49-F238E27FC236}">
                  <a16:creationId xmlns:a16="http://schemas.microsoft.com/office/drawing/2014/main" id="{7CB41E09-DC20-40B2-A0CD-8E3F60BD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7159" name="Rectangle 19">
              <a:extLst>
                <a:ext uri="{FF2B5EF4-FFF2-40B4-BE49-F238E27FC236}">
                  <a16:creationId xmlns:a16="http://schemas.microsoft.com/office/drawing/2014/main" id="{C716BEB1-D112-47A5-914B-E7040C674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7118" name="Rectangle 20">
            <a:extLst>
              <a:ext uri="{FF2B5EF4-FFF2-40B4-BE49-F238E27FC236}">
                <a16:creationId xmlns:a16="http://schemas.microsoft.com/office/drawing/2014/main" id="{D2FF2647-1847-4852-9FF1-575A4BAFE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981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7119" name="Group 21">
            <a:extLst>
              <a:ext uri="{FF2B5EF4-FFF2-40B4-BE49-F238E27FC236}">
                <a16:creationId xmlns:a16="http://schemas.microsoft.com/office/drawing/2014/main" id="{44360611-80C6-459A-877A-9C0F0828B4E1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2438400"/>
            <a:ext cx="579438" cy="1066800"/>
            <a:chOff x="979" y="1344"/>
            <a:chExt cx="365" cy="672"/>
          </a:xfrm>
        </p:grpSpPr>
        <p:sp>
          <p:nvSpPr>
            <p:cNvPr id="47156" name="Rectangle 22">
              <a:extLst>
                <a:ext uri="{FF2B5EF4-FFF2-40B4-BE49-F238E27FC236}">
                  <a16:creationId xmlns:a16="http://schemas.microsoft.com/office/drawing/2014/main" id="{9B6183B0-9BED-41BD-B330-FE362C61A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7157" name="Rectangle 23">
              <a:extLst>
                <a:ext uri="{FF2B5EF4-FFF2-40B4-BE49-F238E27FC236}">
                  <a16:creationId xmlns:a16="http://schemas.microsoft.com/office/drawing/2014/main" id="{DEC5D917-DE6F-4DC2-B431-ACC5D3AE0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7120" name="Rectangle 24">
            <a:extLst>
              <a:ext uri="{FF2B5EF4-FFF2-40B4-BE49-F238E27FC236}">
                <a16:creationId xmlns:a16="http://schemas.microsoft.com/office/drawing/2014/main" id="{67241064-0C69-4E19-B5AB-8AD83E02C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1981200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7121" name="Rectangle 25">
            <a:extLst>
              <a:ext uri="{FF2B5EF4-FFF2-40B4-BE49-F238E27FC236}">
                <a16:creationId xmlns:a16="http://schemas.microsoft.com/office/drawing/2014/main" id="{633656FE-FD50-4FDC-980D-52D2D3694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1981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7122" name="Group 26">
            <a:extLst>
              <a:ext uri="{FF2B5EF4-FFF2-40B4-BE49-F238E27FC236}">
                <a16:creationId xmlns:a16="http://schemas.microsoft.com/office/drawing/2014/main" id="{F6B12E5E-DBD8-48AC-A006-B686F4A83C19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2438400"/>
            <a:ext cx="579438" cy="1066800"/>
            <a:chOff x="979" y="1344"/>
            <a:chExt cx="365" cy="672"/>
          </a:xfrm>
        </p:grpSpPr>
        <p:sp>
          <p:nvSpPr>
            <p:cNvPr id="47154" name="Rectangle 27">
              <a:extLst>
                <a:ext uri="{FF2B5EF4-FFF2-40B4-BE49-F238E27FC236}">
                  <a16:creationId xmlns:a16="http://schemas.microsoft.com/office/drawing/2014/main" id="{D7C322C1-3056-494C-875C-A3356A2BF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7155" name="Rectangle 28">
              <a:extLst>
                <a:ext uri="{FF2B5EF4-FFF2-40B4-BE49-F238E27FC236}">
                  <a16:creationId xmlns:a16="http://schemas.microsoft.com/office/drawing/2014/main" id="{DFB6AD8D-F544-4AE2-93D4-8C51599ED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7123" name="Rectangle 29">
            <a:extLst>
              <a:ext uri="{FF2B5EF4-FFF2-40B4-BE49-F238E27FC236}">
                <a16:creationId xmlns:a16="http://schemas.microsoft.com/office/drawing/2014/main" id="{A31CE290-4481-47D4-9568-14C25993D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1981200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7124" name="Rectangle 30">
            <a:extLst>
              <a:ext uri="{FF2B5EF4-FFF2-40B4-BE49-F238E27FC236}">
                <a16:creationId xmlns:a16="http://schemas.microsoft.com/office/drawing/2014/main" id="{08F3DB55-2042-429B-96BD-5C51245D7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981200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7125" name="Group 31">
            <a:extLst>
              <a:ext uri="{FF2B5EF4-FFF2-40B4-BE49-F238E27FC236}">
                <a16:creationId xmlns:a16="http://schemas.microsoft.com/office/drawing/2014/main" id="{8F25BFE2-98C9-4A2E-8E1B-6FEE04BFB56F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2438400"/>
            <a:ext cx="579437" cy="1066800"/>
            <a:chOff x="979" y="1344"/>
            <a:chExt cx="365" cy="672"/>
          </a:xfrm>
        </p:grpSpPr>
        <p:sp>
          <p:nvSpPr>
            <p:cNvPr id="47152" name="Rectangle 32">
              <a:extLst>
                <a:ext uri="{FF2B5EF4-FFF2-40B4-BE49-F238E27FC236}">
                  <a16:creationId xmlns:a16="http://schemas.microsoft.com/office/drawing/2014/main" id="{CFF93C65-2E1C-48F8-BC26-28A3E1186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7153" name="Rectangle 33">
              <a:extLst>
                <a:ext uri="{FF2B5EF4-FFF2-40B4-BE49-F238E27FC236}">
                  <a16:creationId xmlns:a16="http://schemas.microsoft.com/office/drawing/2014/main" id="{680E62B4-EBF1-41F4-92C0-508F360EB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7126" name="Rectangle 34">
            <a:extLst>
              <a:ext uri="{FF2B5EF4-FFF2-40B4-BE49-F238E27FC236}">
                <a16:creationId xmlns:a16="http://schemas.microsoft.com/office/drawing/2014/main" id="{444ED6A2-14DF-4EF8-AB51-77EEB4D55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19812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7127" name="Rectangle 35">
            <a:extLst>
              <a:ext uri="{FF2B5EF4-FFF2-40B4-BE49-F238E27FC236}">
                <a16:creationId xmlns:a16="http://schemas.microsoft.com/office/drawing/2014/main" id="{B36CF5ED-51D1-4382-91D6-42D457A13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9624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7128" name="Rectangle 36">
            <a:extLst>
              <a:ext uri="{FF2B5EF4-FFF2-40B4-BE49-F238E27FC236}">
                <a16:creationId xmlns:a16="http://schemas.microsoft.com/office/drawing/2014/main" id="{CB662392-19CC-4A54-B4F7-2BAB50538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7129" name="Group 37">
            <a:extLst>
              <a:ext uri="{FF2B5EF4-FFF2-40B4-BE49-F238E27FC236}">
                <a16:creationId xmlns:a16="http://schemas.microsoft.com/office/drawing/2014/main" id="{BB8175BE-9408-49AC-A2B0-35ADACE94337}"/>
              </a:ext>
            </a:extLst>
          </p:cNvPr>
          <p:cNvGrpSpPr>
            <a:grpSpLocks/>
          </p:cNvGrpSpPr>
          <p:nvPr/>
        </p:nvGrpSpPr>
        <p:grpSpPr bwMode="auto">
          <a:xfrm>
            <a:off x="4457700" y="3962400"/>
            <a:ext cx="579438" cy="1066800"/>
            <a:chOff x="979" y="1344"/>
            <a:chExt cx="365" cy="672"/>
          </a:xfrm>
        </p:grpSpPr>
        <p:sp>
          <p:nvSpPr>
            <p:cNvPr id="47150" name="Rectangle 38">
              <a:extLst>
                <a:ext uri="{FF2B5EF4-FFF2-40B4-BE49-F238E27FC236}">
                  <a16:creationId xmlns:a16="http://schemas.microsoft.com/office/drawing/2014/main" id="{8DCC393C-ACD4-4403-B0F7-70B4885F3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7151" name="Rectangle 39">
              <a:extLst>
                <a:ext uri="{FF2B5EF4-FFF2-40B4-BE49-F238E27FC236}">
                  <a16:creationId xmlns:a16="http://schemas.microsoft.com/office/drawing/2014/main" id="{499B7955-E655-42B2-9D52-63C7EDA98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7130" name="Rectangle 40">
            <a:extLst>
              <a:ext uri="{FF2B5EF4-FFF2-40B4-BE49-F238E27FC236}">
                <a16:creationId xmlns:a16="http://schemas.microsoft.com/office/drawing/2014/main" id="{229403BA-C44A-46D3-95F0-8D04BAB63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39624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7131" name="Rectangle 41">
            <a:extLst>
              <a:ext uri="{FF2B5EF4-FFF2-40B4-BE49-F238E27FC236}">
                <a16:creationId xmlns:a16="http://schemas.microsoft.com/office/drawing/2014/main" id="{A7D3EC48-5A41-4E15-A83C-4858C9B87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7132" name="Group 42">
            <a:extLst>
              <a:ext uri="{FF2B5EF4-FFF2-40B4-BE49-F238E27FC236}">
                <a16:creationId xmlns:a16="http://schemas.microsoft.com/office/drawing/2014/main" id="{18686DB2-AAAF-4C53-818D-996DFFB5B447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3962400"/>
            <a:ext cx="579438" cy="1066800"/>
            <a:chOff x="979" y="1344"/>
            <a:chExt cx="365" cy="672"/>
          </a:xfrm>
        </p:grpSpPr>
        <p:sp>
          <p:nvSpPr>
            <p:cNvPr id="47148" name="Rectangle 43">
              <a:extLst>
                <a:ext uri="{FF2B5EF4-FFF2-40B4-BE49-F238E27FC236}">
                  <a16:creationId xmlns:a16="http://schemas.microsoft.com/office/drawing/2014/main" id="{A5AA82D8-AC6C-45A2-9AC7-3EADEE3A0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7149" name="Rectangle 44">
              <a:extLst>
                <a:ext uri="{FF2B5EF4-FFF2-40B4-BE49-F238E27FC236}">
                  <a16:creationId xmlns:a16="http://schemas.microsoft.com/office/drawing/2014/main" id="{5E1CB854-CAEE-4B22-B0B5-52161F7D7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pic>
        <p:nvPicPr>
          <p:cNvPr id="47133" name="Picture 45" descr="piranh_b">
            <a:extLst>
              <a:ext uri="{FF2B5EF4-FFF2-40B4-BE49-F238E27FC236}">
                <a16:creationId xmlns:a16="http://schemas.microsoft.com/office/drawing/2014/main" id="{8BB5502E-35CE-4E89-A107-B817B6686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0" y="5970588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4" name="Picture 46" descr="piranh_b">
            <a:extLst>
              <a:ext uri="{FF2B5EF4-FFF2-40B4-BE49-F238E27FC236}">
                <a16:creationId xmlns:a16="http://schemas.microsoft.com/office/drawing/2014/main" id="{C2966BFA-6D7C-46D9-82F8-84EE98403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150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5" name="Picture 47" descr="piranh_b">
            <a:extLst>
              <a:ext uri="{FF2B5EF4-FFF2-40B4-BE49-F238E27FC236}">
                <a16:creationId xmlns:a16="http://schemas.microsoft.com/office/drawing/2014/main" id="{FD0B9B8B-82D6-4DFC-91BC-E46DBFFDA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050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6" name="Picture 48" descr="piranh_b">
            <a:extLst>
              <a:ext uri="{FF2B5EF4-FFF2-40B4-BE49-F238E27FC236}">
                <a16:creationId xmlns:a16="http://schemas.microsoft.com/office/drawing/2014/main" id="{514860EE-ED76-4F5E-AC9B-6262BAAD1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363" y="5970588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7" name="Picture 49" descr="piranh_b">
            <a:extLst>
              <a:ext uri="{FF2B5EF4-FFF2-40B4-BE49-F238E27FC236}">
                <a16:creationId xmlns:a16="http://schemas.microsoft.com/office/drawing/2014/main" id="{4DC52223-6B09-4B8D-9ADF-BD3E07164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3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8" name="Picture 50" descr="piranh_b">
            <a:extLst>
              <a:ext uri="{FF2B5EF4-FFF2-40B4-BE49-F238E27FC236}">
                <a16:creationId xmlns:a16="http://schemas.microsoft.com/office/drawing/2014/main" id="{224F2BAA-B727-4BEC-A13D-C3B09CF00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163" y="5970588"/>
            <a:ext cx="3286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9" name="Picture 51" descr="piranh_b">
            <a:extLst>
              <a:ext uri="{FF2B5EF4-FFF2-40B4-BE49-F238E27FC236}">
                <a16:creationId xmlns:a16="http://schemas.microsoft.com/office/drawing/2014/main" id="{92D4E7FF-4673-4FB7-A967-BB592E28F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475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40" name="Picture 52" descr="piranh_b">
            <a:extLst>
              <a:ext uri="{FF2B5EF4-FFF2-40B4-BE49-F238E27FC236}">
                <a16:creationId xmlns:a16="http://schemas.microsoft.com/office/drawing/2014/main" id="{93EC2E5A-CB55-46B0-9E57-0D5CCD119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75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41" name="Picture 53" descr="piranh_b">
            <a:extLst>
              <a:ext uri="{FF2B5EF4-FFF2-40B4-BE49-F238E27FC236}">
                <a16:creationId xmlns:a16="http://schemas.microsoft.com/office/drawing/2014/main" id="{6656B606-7A7D-4DA3-B214-295FBC280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275" y="5970588"/>
            <a:ext cx="3286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42" name="Picture 54" descr="piranh_b">
            <a:extLst>
              <a:ext uri="{FF2B5EF4-FFF2-40B4-BE49-F238E27FC236}">
                <a16:creationId xmlns:a16="http://schemas.microsoft.com/office/drawing/2014/main" id="{1B4F9634-4CD5-4CC6-9EC0-BB8297D78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588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43" name="Picture 55" descr="piranh_b">
            <a:extLst>
              <a:ext uri="{FF2B5EF4-FFF2-40B4-BE49-F238E27FC236}">
                <a16:creationId xmlns:a16="http://schemas.microsoft.com/office/drawing/2014/main" id="{BC55B66E-D0F7-40E9-B783-56A2BB71D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5970588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44" name="Picture 56" descr="piranh_b">
            <a:extLst>
              <a:ext uri="{FF2B5EF4-FFF2-40B4-BE49-F238E27FC236}">
                <a16:creationId xmlns:a16="http://schemas.microsoft.com/office/drawing/2014/main" id="{33624CED-2D55-49C3-8CDB-B7379300D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45" name="Picture 57" descr="piranh_b">
            <a:extLst>
              <a:ext uri="{FF2B5EF4-FFF2-40B4-BE49-F238E27FC236}">
                <a16:creationId xmlns:a16="http://schemas.microsoft.com/office/drawing/2014/main" id="{9E5D2E56-E2D7-479E-A1A8-FA964EB7E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00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46" name="Picture 58" descr="piranh_b">
            <a:extLst>
              <a:ext uri="{FF2B5EF4-FFF2-40B4-BE49-F238E27FC236}">
                <a16:creationId xmlns:a16="http://schemas.microsoft.com/office/drawing/2014/main" id="{FB27FA4A-081E-4781-80ED-1B93FD89E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5970588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47" name="Picture 59" descr="piranh_b">
            <a:extLst>
              <a:ext uri="{FF2B5EF4-FFF2-40B4-BE49-F238E27FC236}">
                <a16:creationId xmlns:a16="http://schemas.microsoft.com/office/drawing/2014/main" id="{8CD62567-A3A4-4D01-BFE6-03CEC9037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59705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AE487D8-5FCD-44FF-BD82-503D4BD7B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86BCA480-394E-4BCA-BDE3-25C6CF6CD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981200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46328A38-9DE9-4B12-92F2-EE1239755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47800"/>
            <a:ext cx="23622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core: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1-issue, in-order,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500MHz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 caches: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I&amp;D, 64KB, 2-way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Intra-chip switch (ICS)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32GB/sec, 1-cycle delay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 cache: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shared, 1MB, 8-way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Controller (MC)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RDRAM, 12.8GB/sec</a:t>
            </a:r>
          </a:p>
        </p:txBody>
      </p:sp>
      <p:grpSp>
        <p:nvGrpSpPr>
          <p:cNvPr id="49157" name="Group 5">
            <a:extLst>
              <a:ext uri="{FF2B5EF4-FFF2-40B4-BE49-F238E27FC236}">
                <a16:creationId xmlns:a16="http://schemas.microsoft.com/office/drawing/2014/main" id="{68DC2D60-8152-44AD-8255-6A71F6D07D8E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2438400"/>
            <a:ext cx="579437" cy="1066800"/>
            <a:chOff x="979" y="1344"/>
            <a:chExt cx="365" cy="672"/>
          </a:xfrm>
        </p:grpSpPr>
        <p:sp>
          <p:nvSpPr>
            <p:cNvPr id="49267" name="Rectangle 6">
              <a:extLst>
                <a:ext uri="{FF2B5EF4-FFF2-40B4-BE49-F238E27FC236}">
                  <a16:creationId xmlns:a16="http://schemas.microsoft.com/office/drawing/2014/main" id="{688CFD3F-F90F-42A8-A9FC-8D730F54F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9268" name="Rectangle 7">
              <a:extLst>
                <a:ext uri="{FF2B5EF4-FFF2-40B4-BE49-F238E27FC236}">
                  <a16:creationId xmlns:a16="http://schemas.microsoft.com/office/drawing/2014/main" id="{080FB965-F31B-464F-BB6E-0B0448453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9158" name="Rectangle 8">
            <a:extLst>
              <a:ext uri="{FF2B5EF4-FFF2-40B4-BE49-F238E27FC236}">
                <a16:creationId xmlns:a16="http://schemas.microsoft.com/office/drawing/2014/main" id="{0F0176E9-549E-4F91-A07C-F29E6F5B3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39624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9159" name="Rectangle 9">
            <a:extLst>
              <a:ext uri="{FF2B5EF4-FFF2-40B4-BE49-F238E27FC236}">
                <a16:creationId xmlns:a16="http://schemas.microsoft.com/office/drawing/2014/main" id="{A73DB91C-1774-46CD-8AA4-32CF48643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505200"/>
            <a:ext cx="5006975" cy="457200"/>
          </a:xfrm>
          <a:prstGeom prst="rect">
            <a:avLst/>
          </a:prstGeom>
          <a:solidFill>
            <a:srgbClr val="CC6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ICS</a:t>
            </a:r>
          </a:p>
        </p:txBody>
      </p:sp>
      <p:sp>
        <p:nvSpPr>
          <p:cNvPr id="49160" name="Rectangle 10">
            <a:extLst>
              <a:ext uri="{FF2B5EF4-FFF2-40B4-BE49-F238E27FC236}">
                <a16:creationId xmlns:a16="http://schemas.microsoft.com/office/drawing/2014/main" id="{BE6A2D4E-BF96-4209-BEDD-F6CB720CD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9161" name="Group 11">
            <a:extLst>
              <a:ext uri="{FF2B5EF4-FFF2-40B4-BE49-F238E27FC236}">
                <a16:creationId xmlns:a16="http://schemas.microsoft.com/office/drawing/2014/main" id="{A1DF33DA-D138-40F8-B3E2-CA4BC727B231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962400"/>
            <a:ext cx="579438" cy="1066800"/>
            <a:chOff x="979" y="1344"/>
            <a:chExt cx="365" cy="672"/>
          </a:xfrm>
        </p:grpSpPr>
        <p:sp>
          <p:nvSpPr>
            <p:cNvPr id="49265" name="Rectangle 12">
              <a:extLst>
                <a:ext uri="{FF2B5EF4-FFF2-40B4-BE49-F238E27FC236}">
                  <a16:creationId xmlns:a16="http://schemas.microsoft.com/office/drawing/2014/main" id="{B58CF5C4-9E2E-48CE-8C19-9B7702FAF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9266" name="Rectangle 13">
              <a:extLst>
                <a:ext uri="{FF2B5EF4-FFF2-40B4-BE49-F238E27FC236}">
                  <a16:creationId xmlns:a16="http://schemas.microsoft.com/office/drawing/2014/main" id="{18F6AD33-AFA2-4EFC-8E3E-367168E1B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9162" name="Rectangle 14">
            <a:extLst>
              <a:ext uri="{FF2B5EF4-FFF2-40B4-BE49-F238E27FC236}">
                <a16:creationId xmlns:a16="http://schemas.microsoft.com/office/drawing/2014/main" id="{43187792-1C2B-4812-B4F1-0A535BF3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9812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9163" name="Rectangle 15">
            <a:extLst>
              <a:ext uri="{FF2B5EF4-FFF2-40B4-BE49-F238E27FC236}">
                <a16:creationId xmlns:a16="http://schemas.microsoft.com/office/drawing/2014/main" id="{753206F9-51EE-40CD-B4FF-284095438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39624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9164" name="Rectangle 16">
            <a:extLst>
              <a:ext uri="{FF2B5EF4-FFF2-40B4-BE49-F238E27FC236}">
                <a16:creationId xmlns:a16="http://schemas.microsoft.com/office/drawing/2014/main" id="{DDEEDB48-6845-42F7-8BDF-7C191026E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9165" name="Group 17">
            <a:extLst>
              <a:ext uri="{FF2B5EF4-FFF2-40B4-BE49-F238E27FC236}">
                <a16:creationId xmlns:a16="http://schemas.microsoft.com/office/drawing/2014/main" id="{D0A045CF-F418-4DAF-9F8A-D238371B352C}"/>
              </a:ext>
            </a:extLst>
          </p:cNvPr>
          <p:cNvGrpSpPr>
            <a:grpSpLocks/>
          </p:cNvGrpSpPr>
          <p:nvPr/>
        </p:nvGrpSpPr>
        <p:grpSpPr bwMode="auto">
          <a:xfrm>
            <a:off x="3295650" y="3962400"/>
            <a:ext cx="579438" cy="1066800"/>
            <a:chOff x="979" y="1344"/>
            <a:chExt cx="365" cy="672"/>
          </a:xfrm>
        </p:grpSpPr>
        <p:sp>
          <p:nvSpPr>
            <p:cNvPr id="49263" name="Rectangle 18">
              <a:extLst>
                <a:ext uri="{FF2B5EF4-FFF2-40B4-BE49-F238E27FC236}">
                  <a16:creationId xmlns:a16="http://schemas.microsoft.com/office/drawing/2014/main" id="{B0111CF8-E34A-4051-82BA-4FB9D89E4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9264" name="Rectangle 19">
              <a:extLst>
                <a:ext uri="{FF2B5EF4-FFF2-40B4-BE49-F238E27FC236}">
                  <a16:creationId xmlns:a16="http://schemas.microsoft.com/office/drawing/2014/main" id="{70523E02-03F6-491A-BB0A-9C6A3676D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9166" name="Rectangle 20">
            <a:extLst>
              <a:ext uri="{FF2B5EF4-FFF2-40B4-BE49-F238E27FC236}">
                <a16:creationId xmlns:a16="http://schemas.microsoft.com/office/drawing/2014/main" id="{0D3F7C07-9C6C-4F7B-9856-3207348D9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981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9167" name="Group 21">
            <a:extLst>
              <a:ext uri="{FF2B5EF4-FFF2-40B4-BE49-F238E27FC236}">
                <a16:creationId xmlns:a16="http://schemas.microsoft.com/office/drawing/2014/main" id="{336347C4-6ED7-4944-AA42-3C5685FD17DE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2438400"/>
            <a:ext cx="579438" cy="1066800"/>
            <a:chOff x="979" y="1344"/>
            <a:chExt cx="365" cy="672"/>
          </a:xfrm>
        </p:grpSpPr>
        <p:sp>
          <p:nvSpPr>
            <p:cNvPr id="49261" name="Rectangle 22">
              <a:extLst>
                <a:ext uri="{FF2B5EF4-FFF2-40B4-BE49-F238E27FC236}">
                  <a16:creationId xmlns:a16="http://schemas.microsoft.com/office/drawing/2014/main" id="{F42D92AA-34F0-4424-9940-94EA67AFB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9262" name="Rectangle 23">
              <a:extLst>
                <a:ext uri="{FF2B5EF4-FFF2-40B4-BE49-F238E27FC236}">
                  <a16:creationId xmlns:a16="http://schemas.microsoft.com/office/drawing/2014/main" id="{E73476F4-030F-4B80-9478-FE1BB0645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9168" name="Rectangle 24">
            <a:extLst>
              <a:ext uri="{FF2B5EF4-FFF2-40B4-BE49-F238E27FC236}">
                <a16:creationId xmlns:a16="http://schemas.microsoft.com/office/drawing/2014/main" id="{E210A6BF-A192-489D-A360-E45E7DBDA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1981200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9169" name="Rectangle 25">
            <a:extLst>
              <a:ext uri="{FF2B5EF4-FFF2-40B4-BE49-F238E27FC236}">
                <a16:creationId xmlns:a16="http://schemas.microsoft.com/office/drawing/2014/main" id="{E6806765-3DFD-4A7B-B098-B07990058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1981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9170" name="Group 26">
            <a:extLst>
              <a:ext uri="{FF2B5EF4-FFF2-40B4-BE49-F238E27FC236}">
                <a16:creationId xmlns:a16="http://schemas.microsoft.com/office/drawing/2014/main" id="{8E1EC7AE-DEF1-4C00-BB77-9AF55B331180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2438400"/>
            <a:ext cx="579438" cy="1066800"/>
            <a:chOff x="979" y="1344"/>
            <a:chExt cx="365" cy="672"/>
          </a:xfrm>
        </p:grpSpPr>
        <p:sp>
          <p:nvSpPr>
            <p:cNvPr id="49259" name="Rectangle 27">
              <a:extLst>
                <a:ext uri="{FF2B5EF4-FFF2-40B4-BE49-F238E27FC236}">
                  <a16:creationId xmlns:a16="http://schemas.microsoft.com/office/drawing/2014/main" id="{B599FCBB-96B0-449D-822A-1D9EF0343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9260" name="Rectangle 28">
              <a:extLst>
                <a:ext uri="{FF2B5EF4-FFF2-40B4-BE49-F238E27FC236}">
                  <a16:creationId xmlns:a16="http://schemas.microsoft.com/office/drawing/2014/main" id="{6B06C4CE-D731-4B5F-8098-5A65E2851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9171" name="Rectangle 29">
            <a:extLst>
              <a:ext uri="{FF2B5EF4-FFF2-40B4-BE49-F238E27FC236}">
                <a16:creationId xmlns:a16="http://schemas.microsoft.com/office/drawing/2014/main" id="{40733AD1-DFB8-4CA5-8A7D-745057730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1981200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9172" name="Rectangle 30">
            <a:extLst>
              <a:ext uri="{FF2B5EF4-FFF2-40B4-BE49-F238E27FC236}">
                <a16:creationId xmlns:a16="http://schemas.microsoft.com/office/drawing/2014/main" id="{828E051A-E03E-4808-B40B-BEA295E63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981200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9173" name="Group 31">
            <a:extLst>
              <a:ext uri="{FF2B5EF4-FFF2-40B4-BE49-F238E27FC236}">
                <a16:creationId xmlns:a16="http://schemas.microsoft.com/office/drawing/2014/main" id="{BDB5AC70-6625-4B5E-8A99-9EB958238ED5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2438400"/>
            <a:ext cx="579437" cy="1066800"/>
            <a:chOff x="979" y="1344"/>
            <a:chExt cx="365" cy="672"/>
          </a:xfrm>
        </p:grpSpPr>
        <p:sp>
          <p:nvSpPr>
            <p:cNvPr id="49257" name="Rectangle 32">
              <a:extLst>
                <a:ext uri="{FF2B5EF4-FFF2-40B4-BE49-F238E27FC236}">
                  <a16:creationId xmlns:a16="http://schemas.microsoft.com/office/drawing/2014/main" id="{396A324E-68C1-4CF9-8606-0868D4865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9258" name="Rectangle 33">
              <a:extLst>
                <a:ext uri="{FF2B5EF4-FFF2-40B4-BE49-F238E27FC236}">
                  <a16:creationId xmlns:a16="http://schemas.microsoft.com/office/drawing/2014/main" id="{0DBF3851-36D7-4026-BC34-1E06E63F6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9174" name="Rectangle 34">
            <a:extLst>
              <a:ext uri="{FF2B5EF4-FFF2-40B4-BE49-F238E27FC236}">
                <a16:creationId xmlns:a16="http://schemas.microsoft.com/office/drawing/2014/main" id="{99CB487B-02B2-46D8-835E-A8322188F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19812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9175" name="Rectangle 35">
            <a:extLst>
              <a:ext uri="{FF2B5EF4-FFF2-40B4-BE49-F238E27FC236}">
                <a16:creationId xmlns:a16="http://schemas.microsoft.com/office/drawing/2014/main" id="{E1229F91-D861-4023-AB2C-2FE19C116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9624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9176" name="Rectangle 36">
            <a:extLst>
              <a:ext uri="{FF2B5EF4-FFF2-40B4-BE49-F238E27FC236}">
                <a16:creationId xmlns:a16="http://schemas.microsoft.com/office/drawing/2014/main" id="{7C43D659-D96E-467E-95E4-B0E94E7E8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9177" name="Group 37">
            <a:extLst>
              <a:ext uri="{FF2B5EF4-FFF2-40B4-BE49-F238E27FC236}">
                <a16:creationId xmlns:a16="http://schemas.microsoft.com/office/drawing/2014/main" id="{5216C69D-0AED-4CAA-8D34-777AA4D2AEC7}"/>
              </a:ext>
            </a:extLst>
          </p:cNvPr>
          <p:cNvGrpSpPr>
            <a:grpSpLocks/>
          </p:cNvGrpSpPr>
          <p:nvPr/>
        </p:nvGrpSpPr>
        <p:grpSpPr bwMode="auto">
          <a:xfrm>
            <a:off x="4457700" y="3962400"/>
            <a:ext cx="579438" cy="1066800"/>
            <a:chOff x="979" y="1344"/>
            <a:chExt cx="365" cy="672"/>
          </a:xfrm>
        </p:grpSpPr>
        <p:sp>
          <p:nvSpPr>
            <p:cNvPr id="49255" name="Rectangle 38">
              <a:extLst>
                <a:ext uri="{FF2B5EF4-FFF2-40B4-BE49-F238E27FC236}">
                  <a16:creationId xmlns:a16="http://schemas.microsoft.com/office/drawing/2014/main" id="{815C2C69-4FD3-4597-B695-CAB5D33E2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9256" name="Rectangle 39">
              <a:extLst>
                <a:ext uri="{FF2B5EF4-FFF2-40B4-BE49-F238E27FC236}">
                  <a16:creationId xmlns:a16="http://schemas.microsoft.com/office/drawing/2014/main" id="{0967333D-B537-4514-9910-276BC535A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49178" name="Rectangle 40">
            <a:extLst>
              <a:ext uri="{FF2B5EF4-FFF2-40B4-BE49-F238E27FC236}">
                <a16:creationId xmlns:a16="http://schemas.microsoft.com/office/drawing/2014/main" id="{DD04AFE8-341E-4C57-A466-BDC5491B7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3962400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49179" name="Rectangle 41">
            <a:extLst>
              <a:ext uri="{FF2B5EF4-FFF2-40B4-BE49-F238E27FC236}">
                <a16:creationId xmlns:a16="http://schemas.microsoft.com/office/drawing/2014/main" id="{55BABAE1-C048-4096-95B2-147F55409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5029200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49180" name="Group 42">
            <a:extLst>
              <a:ext uri="{FF2B5EF4-FFF2-40B4-BE49-F238E27FC236}">
                <a16:creationId xmlns:a16="http://schemas.microsoft.com/office/drawing/2014/main" id="{DEDCCD49-8B49-44FB-8C09-69427A6C7256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3962400"/>
            <a:ext cx="579438" cy="1066800"/>
            <a:chOff x="979" y="1344"/>
            <a:chExt cx="365" cy="672"/>
          </a:xfrm>
        </p:grpSpPr>
        <p:sp>
          <p:nvSpPr>
            <p:cNvPr id="49253" name="Rectangle 43">
              <a:extLst>
                <a:ext uri="{FF2B5EF4-FFF2-40B4-BE49-F238E27FC236}">
                  <a16:creationId xmlns:a16="http://schemas.microsoft.com/office/drawing/2014/main" id="{941227FC-FB25-4CC8-9479-78B9F5408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49254" name="Rectangle 44">
              <a:extLst>
                <a:ext uri="{FF2B5EF4-FFF2-40B4-BE49-F238E27FC236}">
                  <a16:creationId xmlns:a16="http://schemas.microsoft.com/office/drawing/2014/main" id="{6912326C-FD29-4708-BD6B-06186B973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grpSp>
        <p:nvGrpSpPr>
          <p:cNvPr id="49181" name="Group 45">
            <a:extLst>
              <a:ext uri="{FF2B5EF4-FFF2-40B4-BE49-F238E27FC236}">
                <a16:creationId xmlns:a16="http://schemas.microsoft.com/office/drawing/2014/main" id="{F5042474-5867-4C41-8F96-DB3D8CF1F178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5486400"/>
            <a:ext cx="1160462" cy="646113"/>
            <a:chOff x="979" y="3264"/>
            <a:chExt cx="731" cy="407"/>
          </a:xfrm>
        </p:grpSpPr>
        <p:sp>
          <p:nvSpPr>
            <p:cNvPr id="49247" name="Rectangle 46">
              <a:extLst>
                <a:ext uri="{FF2B5EF4-FFF2-40B4-BE49-F238E27FC236}">
                  <a16:creationId xmlns:a16="http://schemas.microsoft.com/office/drawing/2014/main" id="{FCA9FB6D-031F-4B73-88A0-525B6151A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49248" name="Line 47">
              <a:extLst>
                <a:ext uri="{FF2B5EF4-FFF2-40B4-BE49-F238E27FC236}">
                  <a16:creationId xmlns:a16="http://schemas.microsoft.com/office/drawing/2014/main" id="{D9A55912-B3DC-45F8-9AD1-D7A0A8065A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49" name="Rectangle 48">
              <a:extLst>
                <a:ext uri="{FF2B5EF4-FFF2-40B4-BE49-F238E27FC236}">
                  <a16:creationId xmlns:a16="http://schemas.microsoft.com/office/drawing/2014/main" id="{1BBB3873-CA05-461E-8C9B-50B7952C87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50" name="Rectangle 49">
              <a:extLst>
                <a:ext uri="{FF2B5EF4-FFF2-40B4-BE49-F238E27FC236}">
                  <a16:creationId xmlns:a16="http://schemas.microsoft.com/office/drawing/2014/main" id="{79272430-5757-47F3-A023-1C053C296C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51" name="Rectangle 50">
              <a:extLst>
                <a:ext uri="{FF2B5EF4-FFF2-40B4-BE49-F238E27FC236}">
                  <a16:creationId xmlns:a16="http://schemas.microsoft.com/office/drawing/2014/main" id="{52B2DD7C-1E9C-4318-A1DF-C8514689F4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52" name="Rectangle 51">
              <a:extLst>
                <a:ext uri="{FF2B5EF4-FFF2-40B4-BE49-F238E27FC236}">
                  <a16:creationId xmlns:a16="http://schemas.microsoft.com/office/drawing/2014/main" id="{1E12210E-32C9-4753-8292-96E119E0C8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9182" name="Group 52">
            <a:extLst>
              <a:ext uri="{FF2B5EF4-FFF2-40B4-BE49-F238E27FC236}">
                <a16:creationId xmlns:a16="http://schemas.microsoft.com/office/drawing/2014/main" id="{6BA4C957-E7DA-46B8-A1EF-C1A362FEB88D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1325563"/>
            <a:ext cx="1160462" cy="655637"/>
            <a:chOff x="979" y="643"/>
            <a:chExt cx="731" cy="413"/>
          </a:xfrm>
        </p:grpSpPr>
        <p:sp>
          <p:nvSpPr>
            <p:cNvPr id="49241" name="Rectangle 53">
              <a:extLst>
                <a:ext uri="{FF2B5EF4-FFF2-40B4-BE49-F238E27FC236}">
                  <a16:creationId xmlns:a16="http://schemas.microsoft.com/office/drawing/2014/main" id="{82C25999-3BCD-4665-A2DE-2E316A541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49242" name="Line 54">
              <a:extLst>
                <a:ext uri="{FF2B5EF4-FFF2-40B4-BE49-F238E27FC236}">
                  <a16:creationId xmlns:a16="http://schemas.microsoft.com/office/drawing/2014/main" id="{3808EF35-4A9F-44E4-9D77-9FD3CF1688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43" name="Rectangle 55">
              <a:extLst>
                <a:ext uri="{FF2B5EF4-FFF2-40B4-BE49-F238E27FC236}">
                  <a16:creationId xmlns:a16="http://schemas.microsoft.com/office/drawing/2014/main" id="{52330C48-A100-4F3E-9AFC-EA3171A889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44" name="Rectangle 56">
              <a:extLst>
                <a:ext uri="{FF2B5EF4-FFF2-40B4-BE49-F238E27FC236}">
                  <a16:creationId xmlns:a16="http://schemas.microsoft.com/office/drawing/2014/main" id="{31ABE9E1-314F-4F8D-887F-3EC30702C8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45" name="Rectangle 57">
              <a:extLst>
                <a:ext uri="{FF2B5EF4-FFF2-40B4-BE49-F238E27FC236}">
                  <a16:creationId xmlns:a16="http://schemas.microsoft.com/office/drawing/2014/main" id="{646A95E8-2C57-48A7-A732-25C6FA1325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46" name="Rectangle 58">
              <a:extLst>
                <a:ext uri="{FF2B5EF4-FFF2-40B4-BE49-F238E27FC236}">
                  <a16:creationId xmlns:a16="http://schemas.microsoft.com/office/drawing/2014/main" id="{D407BF00-BE54-4322-806D-A42DC9A225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9183" name="Group 59">
            <a:extLst>
              <a:ext uri="{FF2B5EF4-FFF2-40B4-BE49-F238E27FC236}">
                <a16:creationId xmlns:a16="http://schemas.microsoft.com/office/drawing/2014/main" id="{C30B79B5-F078-47E1-B7C3-AB06B355597B}"/>
              </a:ext>
            </a:extLst>
          </p:cNvPr>
          <p:cNvGrpSpPr>
            <a:grpSpLocks/>
          </p:cNvGrpSpPr>
          <p:nvPr/>
        </p:nvGrpSpPr>
        <p:grpSpPr bwMode="auto">
          <a:xfrm>
            <a:off x="2716213" y="5486400"/>
            <a:ext cx="1160462" cy="646113"/>
            <a:chOff x="979" y="3264"/>
            <a:chExt cx="731" cy="407"/>
          </a:xfrm>
        </p:grpSpPr>
        <p:sp>
          <p:nvSpPr>
            <p:cNvPr id="49235" name="Rectangle 60">
              <a:extLst>
                <a:ext uri="{FF2B5EF4-FFF2-40B4-BE49-F238E27FC236}">
                  <a16:creationId xmlns:a16="http://schemas.microsoft.com/office/drawing/2014/main" id="{4EEB523B-1DE7-4ED4-B9B5-3D1940D25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49236" name="Line 61">
              <a:extLst>
                <a:ext uri="{FF2B5EF4-FFF2-40B4-BE49-F238E27FC236}">
                  <a16:creationId xmlns:a16="http://schemas.microsoft.com/office/drawing/2014/main" id="{D4BE9FEE-1B43-4770-B16D-0ACFC1F2D6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37" name="Rectangle 62">
              <a:extLst>
                <a:ext uri="{FF2B5EF4-FFF2-40B4-BE49-F238E27FC236}">
                  <a16:creationId xmlns:a16="http://schemas.microsoft.com/office/drawing/2014/main" id="{093ED827-4E37-47B3-8031-451CE58D72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38" name="Rectangle 63">
              <a:extLst>
                <a:ext uri="{FF2B5EF4-FFF2-40B4-BE49-F238E27FC236}">
                  <a16:creationId xmlns:a16="http://schemas.microsoft.com/office/drawing/2014/main" id="{6814B536-4D3B-48FC-8565-280FB8C5BE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39" name="Rectangle 64">
              <a:extLst>
                <a:ext uri="{FF2B5EF4-FFF2-40B4-BE49-F238E27FC236}">
                  <a16:creationId xmlns:a16="http://schemas.microsoft.com/office/drawing/2014/main" id="{42CFBF91-8CD3-41EC-89B2-2E5840B72B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40" name="Rectangle 65">
              <a:extLst>
                <a:ext uri="{FF2B5EF4-FFF2-40B4-BE49-F238E27FC236}">
                  <a16:creationId xmlns:a16="http://schemas.microsoft.com/office/drawing/2014/main" id="{3C1DF615-D698-4A4B-8205-2C78D03FC5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9184" name="Group 66">
            <a:extLst>
              <a:ext uri="{FF2B5EF4-FFF2-40B4-BE49-F238E27FC236}">
                <a16:creationId xmlns:a16="http://schemas.microsoft.com/office/drawing/2014/main" id="{531576F8-D6DA-4424-882D-AB8ABD425186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5486400"/>
            <a:ext cx="1160463" cy="646113"/>
            <a:chOff x="979" y="3264"/>
            <a:chExt cx="731" cy="407"/>
          </a:xfrm>
        </p:grpSpPr>
        <p:sp>
          <p:nvSpPr>
            <p:cNvPr id="49229" name="Rectangle 67">
              <a:extLst>
                <a:ext uri="{FF2B5EF4-FFF2-40B4-BE49-F238E27FC236}">
                  <a16:creationId xmlns:a16="http://schemas.microsoft.com/office/drawing/2014/main" id="{A160E875-FF09-4C68-9EEF-1AC53360A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49230" name="Line 68">
              <a:extLst>
                <a:ext uri="{FF2B5EF4-FFF2-40B4-BE49-F238E27FC236}">
                  <a16:creationId xmlns:a16="http://schemas.microsoft.com/office/drawing/2014/main" id="{0AA6D062-5B1C-46C5-A105-B4624C5CC0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31" name="Rectangle 69">
              <a:extLst>
                <a:ext uri="{FF2B5EF4-FFF2-40B4-BE49-F238E27FC236}">
                  <a16:creationId xmlns:a16="http://schemas.microsoft.com/office/drawing/2014/main" id="{27A13D10-9482-4B91-9C56-409F953888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32" name="Rectangle 70">
              <a:extLst>
                <a:ext uri="{FF2B5EF4-FFF2-40B4-BE49-F238E27FC236}">
                  <a16:creationId xmlns:a16="http://schemas.microsoft.com/office/drawing/2014/main" id="{F6E2D8F5-0D73-4541-8DB1-E3E5956029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33" name="Rectangle 71">
              <a:extLst>
                <a:ext uri="{FF2B5EF4-FFF2-40B4-BE49-F238E27FC236}">
                  <a16:creationId xmlns:a16="http://schemas.microsoft.com/office/drawing/2014/main" id="{3A32FC0E-3B7F-465A-A92E-94A06C977B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34" name="Rectangle 72">
              <a:extLst>
                <a:ext uri="{FF2B5EF4-FFF2-40B4-BE49-F238E27FC236}">
                  <a16:creationId xmlns:a16="http://schemas.microsoft.com/office/drawing/2014/main" id="{EA69A958-1FA4-4FEF-A650-BB75F1B67D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9185" name="Group 73">
            <a:extLst>
              <a:ext uri="{FF2B5EF4-FFF2-40B4-BE49-F238E27FC236}">
                <a16:creationId xmlns:a16="http://schemas.microsoft.com/office/drawing/2014/main" id="{60FBBEBC-7A7B-41AB-8456-CFF3411FF7A0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5486400"/>
            <a:ext cx="1160462" cy="646113"/>
            <a:chOff x="979" y="3264"/>
            <a:chExt cx="731" cy="407"/>
          </a:xfrm>
        </p:grpSpPr>
        <p:sp>
          <p:nvSpPr>
            <p:cNvPr id="49223" name="Rectangle 74">
              <a:extLst>
                <a:ext uri="{FF2B5EF4-FFF2-40B4-BE49-F238E27FC236}">
                  <a16:creationId xmlns:a16="http://schemas.microsoft.com/office/drawing/2014/main" id="{1DB5727E-C45A-4387-BDC3-3607D2C47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49224" name="Line 75">
              <a:extLst>
                <a:ext uri="{FF2B5EF4-FFF2-40B4-BE49-F238E27FC236}">
                  <a16:creationId xmlns:a16="http://schemas.microsoft.com/office/drawing/2014/main" id="{4A662304-700C-4739-81CD-6059AFB7E0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25" name="Rectangle 76">
              <a:extLst>
                <a:ext uri="{FF2B5EF4-FFF2-40B4-BE49-F238E27FC236}">
                  <a16:creationId xmlns:a16="http://schemas.microsoft.com/office/drawing/2014/main" id="{C1761F8F-8711-4FB5-B74D-A1812AE667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26" name="Rectangle 77">
              <a:extLst>
                <a:ext uri="{FF2B5EF4-FFF2-40B4-BE49-F238E27FC236}">
                  <a16:creationId xmlns:a16="http://schemas.microsoft.com/office/drawing/2014/main" id="{710B035D-C5C4-4B29-9960-4CCFFF9816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27" name="Rectangle 78">
              <a:extLst>
                <a:ext uri="{FF2B5EF4-FFF2-40B4-BE49-F238E27FC236}">
                  <a16:creationId xmlns:a16="http://schemas.microsoft.com/office/drawing/2014/main" id="{9F53D692-12C2-4F18-89B8-FA07DCB4DB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28" name="Rectangle 79">
              <a:extLst>
                <a:ext uri="{FF2B5EF4-FFF2-40B4-BE49-F238E27FC236}">
                  <a16:creationId xmlns:a16="http://schemas.microsoft.com/office/drawing/2014/main" id="{D5841EBD-E1AA-4166-9F77-6636DCEECA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9186" name="Group 80">
            <a:extLst>
              <a:ext uri="{FF2B5EF4-FFF2-40B4-BE49-F238E27FC236}">
                <a16:creationId xmlns:a16="http://schemas.microsoft.com/office/drawing/2014/main" id="{D94D2952-74EF-43F0-AB5D-ADE093AA60BE}"/>
              </a:ext>
            </a:extLst>
          </p:cNvPr>
          <p:cNvGrpSpPr>
            <a:grpSpLocks/>
          </p:cNvGrpSpPr>
          <p:nvPr/>
        </p:nvGrpSpPr>
        <p:grpSpPr bwMode="auto">
          <a:xfrm>
            <a:off x="2716213" y="1323975"/>
            <a:ext cx="1160462" cy="655638"/>
            <a:chOff x="979" y="643"/>
            <a:chExt cx="731" cy="413"/>
          </a:xfrm>
        </p:grpSpPr>
        <p:sp>
          <p:nvSpPr>
            <p:cNvPr id="49217" name="Rectangle 81">
              <a:extLst>
                <a:ext uri="{FF2B5EF4-FFF2-40B4-BE49-F238E27FC236}">
                  <a16:creationId xmlns:a16="http://schemas.microsoft.com/office/drawing/2014/main" id="{5C683824-FC7B-4337-84C2-C862D885A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49218" name="Line 82">
              <a:extLst>
                <a:ext uri="{FF2B5EF4-FFF2-40B4-BE49-F238E27FC236}">
                  <a16:creationId xmlns:a16="http://schemas.microsoft.com/office/drawing/2014/main" id="{07741A57-17A1-4332-B1D6-3CD8570152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19" name="Rectangle 83">
              <a:extLst>
                <a:ext uri="{FF2B5EF4-FFF2-40B4-BE49-F238E27FC236}">
                  <a16:creationId xmlns:a16="http://schemas.microsoft.com/office/drawing/2014/main" id="{61A772CF-5F31-4169-85C5-DC99F9B741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20" name="Rectangle 84">
              <a:extLst>
                <a:ext uri="{FF2B5EF4-FFF2-40B4-BE49-F238E27FC236}">
                  <a16:creationId xmlns:a16="http://schemas.microsoft.com/office/drawing/2014/main" id="{3E2FB2DC-AEC5-4E8E-A0D6-B9E5A87EA8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21" name="Rectangle 85">
              <a:extLst>
                <a:ext uri="{FF2B5EF4-FFF2-40B4-BE49-F238E27FC236}">
                  <a16:creationId xmlns:a16="http://schemas.microsoft.com/office/drawing/2014/main" id="{8C82245E-B7FA-4FF2-AF7B-04435C7871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22" name="Rectangle 86">
              <a:extLst>
                <a:ext uri="{FF2B5EF4-FFF2-40B4-BE49-F238E27FC236}">
                  <a16:creationId xmlns:a16="http://schemas.microsoft.com/office/drawing/2014/main" id="{1BB46758-BBA7-469B-BADC-EB37B0BD34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9187" name="Group 87">
            <a:extLst>
              <a:ext uri="{FF2B5EF4-FFF2-40B4-BE49-F238E27FC236}">
                <a16:creationId xmlns:a16="http://schemas.microsoft.com/office/drawing/2014/main" id="{51C76596-0D8D-445E-A5AF-E2F71517D192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1325563"/>
            <a:ext cx="1160463" cy="655637"/>
            <a:chOff x="979" y="643"/>
            <a:chExt cx="731" cy="413"/>
          </a:xfrm>
        </p:grpSpPr>
        <p:sp>
          <p:nvSpPr>
            <p:cNvPr id="49211" name="Rectangle 88">
              <a:extLst>
                <a:ext uri="{FF2B5EF4-FFF2-40B4-BE49-F238E27FC236}">
                  <a16:creationId xmlns:a16="http://schemas.microsoft.com/office/drawing/2014/main" id="{947CAEFC-FA41-4DAB-9072-621EB4A87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49212" name="Line 89">
              <a:extLst>
                <a:ext uri="{FF2B5EF4-FFF2-40B4-BE49-F238E27FC236}">
                  <a16:creationId xmlns:a16="http://schemas.microsoft.com/office/drawing/2014/main" id="{A45316C9-D4AC-49FB-8413-7D10E3BC88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13" name="Rectangle 90">
              <a:extLst>
                <a:ext uri="{FF2B5EF4-FFF2-40B4-BE49-F238E27FC236}">
                  <a16:creationId xmlns:a16="http://schemas.microsoft.com/office/drawing/2014/main" id="{0CD0E119-0AD6-4902-BD2E-5A85979F97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14" name="Rectangle 91">
              <a:extLst>
                <a:ext uri="{FF2B5EF4-FFF2-40B4-BE49-F238E27FC236}">
                  <a16:creationId xmlns:a16="http://schemas.microsoft.com/office/drawing/2014/main" id="{BCE78C3A-2BB9-4372-8BC6-005B0BDD69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15" name="Rectangle 92">
              <a:extLst>
                <a:ext uri="{FF2B5EF4-FFF2-40B4-BE49-F238E27FC236}">
                  <a16:creationId xmlns:a16="http://schemas.microsoft.com/office/drawing/2014/main" id="{64C97018-0DC8-4744-AA76-F3D18974575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16" name="Rectangle 93">
              <a:extLst>
                <a:ext uri="{FF2B5EF4-FFF2-40B4-BE49-F238E27FC236}">
                  <a16:creationId xmlns:a16="http://schemas.microsoft.com/office/drawing/2014/main" id="{82DE6226-5961-49D6-B8AF-3C8FA75EE8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9188" name="Group 94">
            <a:extLst>
              <a:ext uri="{FF2B5EF4-FFF2-40B4-BE49-F238E27FC236}">
                <a16:creationId xmlns:a16="http://schemas.microsoft.com/office/drawing/2014/main" id="{7CA5B4F0-FE1F-4E04-956C-8B82F6B48588}"/>
              </a:ext>
            </a:extLst>
          </p:cNvPr>
          <p:cNvGrpSpPr>
            <a:grpSpLocks/>
          </p:cNvGrpSpPr>
          <p:nvPr/>
        </p:nvGrpSpPr>
        <p:grpSpPr bwMode="auto">
          <a:xfrm>
            <a:off x="5038725" y="1323975"/>
            <a:ext cx="1160463" cy="655638"/>
            <a:chOff x="979" y="643"/>
            <a:chExt cx="731" cy="413"/>
          </a:xfrm>
        </p:grpSpPr>
        <p:sp>
          <p:nvSpPr>
            <p:cNvPr id="49205" name="Rectangle 95">
              <a:extLst>
                <a:ext uri="{FF2B5EF4-FFF2-40B4-BE49-F238E27FC236}">
                  <a16:creationId xmlns:a16="http://schemas.microsoft.com/office/drawing/2014/main" id="{53E79785-24F2-43F7-8C6B-774FA095C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49206" name="Line 96">
              <a:extLst>
                <a:ext uri="{FF2B5EF4-FFF2-40B4-BE49-F238E27FC236}">
                  <a16:creationId xmlns:a16="http://schemas.microsoft.com/office/drawing/2014/main" id="{DFE64C9D-D913-4BFA-A6DF-BA621D869C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07" name="Rectangle 97">
              <a:extLst>
                <a:ext uri="{FF2B5EF4-FFF2-40B4-BE49-F238E27FC236}">
                  <a16:creationId xmlns:a16="http://schemas.microsoft.com/office/drawing/2014/main" id="{5D48C493-5D4D-4382-ACA8-F0D25BAABA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08" name="Rectangle 98">
              <a:extLst>
                <a:ext uri="{FF2B5EF4-FFF2-40B4-BE49-F238E27FC236}">
                  <a16:creationId xmlns:a16="http://schemas.microsoft.com/office/drawing/2014/main" id="{6FEC1D5D-70F4-42DD-9E0C-AFC1A4CB6C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09" name="Rectangle 99">
              <a:extLst>
                <a:ext uri="{FF2B5EF4-FFF2-40B4-BE49-F238E27FC236}">
                  <a16:creationId xmlns:a16="http://schemas.microsoft.com/office/drawing/2014/main" id="{71D6EAC2-BD1A-4F00-9F02-690BA9EF38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10" name="Rectangle 100">
              <a:extLst>
                <a:ext uri="{FF2B5EF4-FFF2-40B4-BE49-F238E27FC236}">
                  <a16:creationId xmlns:a16="http://schemas.microsoft.com/office/drawing/2014/main" id="{DF4A4037-634D-4C54-9F48-52329EBEC9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9189" name="Text Box 101">
            <a:extLst>
              <a:ext uri="{FF2B5EF4-FFF2-40B4-BE49-F238E27FC236}">
                <a16:creationId xmlns:a16="http://schemas.microsoft.com/office/drawing/2014/main" id="{1EC75325-7CBA-430B-A2C7-A3BAFD17B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09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rgbClr val="000000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8 banks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@1.6GB/sec</a:t>
            </a:r>
          </a:p>
        </p:txBody>
      </p:sp>
      <p:pic>
        <p:nvPicPr>
          <p:cNvPr id="49190" name="Picture 102" descr="piranh_b">
            <a:extLst>
              <a:ext uri="{FF2B5EF4-FFF2-40B4-BE49-F238E27FC236}">
                <a16:creationId xmlns:a16="http://schemas.microsoft.com/office/drawing/2014/main" id="{0C4681ED-B1FA-4CC8-953A-340627BB1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838" y="6221413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1" name="Picture 103" descr="piranh_b">
            <a:extLst>
              <a:ext uri="{FF2B5EF4-FFF2-40B4-BE49-F238E27FC236}">
                <a16:creationId xmlns:a16="http://schemas.microsoft.com/office/drawing/2014/main" id="{FF05CAEB-9A8B-4125-8FC6-FA3077BD4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738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2" name="Picture 104" descr="piranh_b">
            <a:extLst>
              <a:ext uri="{FF2B5EF4-FFF2-40B4-BE49-F238E27FC236}">
                <a16:creationId xmlns:a16="http://schemas.microsoft.com/office/drawing/2014/main" id="{1A9A29DF-EDF0-4E22-9712-DB48B9A3E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3" name="Picture 105" descr="piranh_b">
            <a:extLst>
              <a:ext uri="{FF2B5EF4-FFF2-40B4-BE49-F238E27FC236}">
                <a16:creationId xmlns:a16="http://schemas.microsoft.com/office/drawing/2014/main" id="{0AFBED9C-7113-4C55-A699-5C02A278D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950" y="6221413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4" name="Picture 106" descr="piranh_b">
            <a:extLst>
              <a:ext uri="{FF2B5EF4-FFF2-40B4-BE49-F238E27FC236}">
                <a16:creationId xmlns:a16="http://schemas.microsoft.com/office/drawing/2014/main" id="{87AE5302-6BCC-4463-B138-21E4A12F9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850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5" name="Picture 107" descr="piranh_b">
            <a:extLst>
              <a:ext uri="{FF2B5EF4-FFF2-40B4-BE49-F238E27FC236}">
                <a16:creationId xmlns:a16="http://schemas.microsoft.com/office/drawing/2014/main" id="{E928D451-799E-4777-A92C-4B4DA1918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0" y="6221413"/>
            <a:ext cx="3286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6" name="Picture 108" descr="piranh_b">
            <a:extLst>
              <a:ext uri="{FF2B5EF4-FFF2-40B4-BE49-F238E27FC236}">
                <a16:creationId xmlns:a16="http://schemas.microsoft.com/office/drawing/2014/main" id="{F4B581C0-3EAC-45BD-952B-5D178A935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63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7" name="Picture 109" descr="piranh_b">
            <a:extLst>
              <a:ext uri="{FF2B5EF4-FFF2-40B4-BE49-F238E27FC236}">
                <a16:creationId xmlns:a16="http://schemas.microsoft.com/office/drawing/2014/main" id="{CDB50A81-0626-4AF3-B392-2E54C3618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963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8" name="Picture 110" descr="piranh_b">
            <a:extLst>
              <a:ext uri="{FF2B5EF4-FFF2-40B4-BE49-F238E27FC236}">
                <a16:creationId xmlns:a16="http://schemas.microsoft.com/office/drawing/2014/main" id="{E2C5276C-E11C-41EF-B7F1-562EC3B5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3" y="6221413"/>
            <a:ext cx="3286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99" name="Picture 111" descr="piranh_b">
            <a:extLst>
              <a:ext uri="{FF2B5EF4-FFF2-40B4-BE49-F238E27FC236}">
                <a16:creationId xmlns:a16="http://schemas.microsoft.com/office/drawing/2014/main" id="{1DB1DCB2-CBBD-41CB-A11E-20C86BEE8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175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200" name="Picture 112" descr="piranh_b">
            <a:extLst>
              <a:ext uri="{FF2B5EF4-FFF2-40B4-BE49-F238E27FC236}">
                <a16:creationId xmlns:a16="http://schemas.microsoft.com/office/drawing/2014/main" id="{ACF04E6F-3A26-42AD-9731-364720878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488" y="6221413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201" name="Picture 113" descr="piranh_b">
            <a:extLst>
              <a:ext uri="{FF2B5EF4-FFF2-40B4-BE49-F238E27FC236}">
                <a16:creationId xmlns:a16="http://schemas.microsoft.com/office/drawing/2014/main" id="{7F22467C-7D6E-4552-A8B4-BC7E4994A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388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202" name="Picture 114" descr="piranh_b">
            <a:extLst>
              <a:ext uri="{FF2B5EF4-FFF2-40B4-BE49-F238E27FC236}">
                <a16:creationId xmlns:a16="http://schemas.microsoft.com/office/drawing/2014/main" id="{EE705071-F19F-49AA-A1E2-150199678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8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203" name="Picture 115" descr="piranh_b">
            <a:extLst>
              <a:ext uri="{FF2B5EF4-FFF2-40B4-BE49-F238E27FC236}">
                <a16:creationId xmlns:a16="http://schemas.microsoft.com/office/drawing/2014/main" id="{032B2373-49E2-4B4D-98F6-FB4728D96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221413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204" name="Picture 116" descr="piranh_b">
            <a:extLst>
              <a:ext uri="{FF2B5EF4-FFF2-40B4-BE49-F238E27FC236}">
                <a16:creationId xmlns:a16="http://schemas.microsoft.com/office/drawing/2014/main" id="{DE347C89-28EF-41A4-A025-97147AF2D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62214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C5C8977-C934-49D3-9EC0-BA4EB06E1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F37A4D0-8EC9-4730-A99E-7246954F4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952625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2999528A-D964-4E6B-8E58-803A195E9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19225"/>
            <a:ext cx="25908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core: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1-issue, in-order,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500MHz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 caches: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I&amp;D, 64KB, 2-way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Intra-chip switch (ICS)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32GB/sec, 1-cycle delay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 cache: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shared, 1MB, 8-way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Controller (MC)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RDRAM, 12.8GB/sec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 Engines (HE &amp; RE)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prog., 1K </a:t>
            </a: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instr.,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even/odd interleaving</a:t>
            </a:r>
          </a:p>
        </p:txBody>
      </p:sp>
      <p:grpSp>
        <p:nvGrpSpPr>
          <p:cNvPr id="51205" name="Group 5">
            <a:extLst>
              <a:ext uri="{FF2B5EF4-FFF2-40B4-BE49-F238E27FC236}">
                <a16:creationId xmlns:a16="http://schemas.microsoft.com/office/drawing/2014/main" id="{78CA105D-2215-4ACD-909A-B56F6202B0E1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2409825"/>
            <a:ext cx="579437" cy="1066800"/>
            <a:chOff x="979" y="1344"/>
            <a:chExt cx="365" cy="672"/>
          </a:xfrm>
        </p:grpSpPr>
        <p:sp>
          <p:nvSpPr>
            <p:cNvPr id="51316" name="Rectangle 6">
              <a:extLst>
                <a:ext uri="{FF2B5EF4-FFF2-40B4-BE49-F238E27FC236}">
                  <a16:creationId xmlns:a16="http://schemas.microsoft.com/office/drawing/2014/main" id="{EA9BE4C9-68B8-44BF-868F-A32E325EC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1317" name="Rectangle 7">
              <a:extLst>
                <a:ext uri="{FF2B5EF4-FFF2-40B4-BE49-F238E27FC236}">
                  <a16:creationId xmlns:a16="http://schemas.microsoft.com/office/drawing/2014/main" id="{34D0784F-51E3-4155-BF1F-EAA9F4ADA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1206" name="Rectangle 8">
            <a:extLst>
              <a:ext uri="{FF2B5EF4-FFF2-40B4-BE49-F238E27FC236}">
                <a16:creationId xmlns:a16="http://schemas.microsoft.com/office/drawing/2014/main" id="{CAEEB8D2-3155-4DF9-99CF-D00FB628A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393382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1207" name="Rectangle 9">
            <a:extLst>
              <a:ext uri="{FF2B5EF4-FFF2-40B4-BE49-F238E27FC236}">
                <a16:creationId xmlns:a16="http://schemas.microsoft.com/office/drawing/2014/main" id="{947C732F-0E25-4260-98F6-ADDBD489A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476625"/>
            <a:ext cx="5006975" cy="457200"/>
          </a:xfrm>
          <a:prstGeom prst="rect">
            <a:avLst/>
          </a:prstGeom>
          <a:solidFill>
            <a:srgbClr val="CC6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ICS</a:t>
            </a:r>
          </a:p>
        </p:txBody>
      </p:sp>
      <p:sp>
        <p:nvSpPr>
          <p:cNvPr id="51208" name="Rectangle 10">
            <a:extLst>
              <a:ext uri="{FF2B5EF4-FFF2-40B4-BE49-F238E27FC236}">
                <a16:creationId xmlns:a16="http://schemas.microsoft.com/office/drawing/2014/main" id="{24A51FAE-71DB-488D-8EDE-100A05E5C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0062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1209" name="Group 11">
            <a:extLst>
              <a:ext uri="{FF2B5EF4-FFF2-40B4-BE49-F238E27FC236}">
                <a16:creationId xmlns:a16="http://schemas.microsoft.com/office/drawing/2014/main" id="{3C038023-AB9B-45DE-BADB-AB5F19535B74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933825"/>
            <a:ext cx="579438" cy="1066800"/>
            <a:chOff x="979" y="1344"/>
            <a:chExt cx="365" cy="672"/>
          </a:xfrm>
        </p:grpSpPr>
        <p:sp>
          <p:nvSpPr>
            <p:cNvPr id="51314" name="Rectangle 12">
              <a:extLst>
                <a:ext uri="{FF2B5EF4-FFF2-40B4-BE49-F238E27FC236}">
                  <a16:creationId xmlns:a16="http://schemas.microsoft.com/office/drawing/2014/main" id="{7D8E7634-88ED-48EB-B2B1-822526BCA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1315" name="Rectangle 13">
              <a:extLst>
                <a:ext uri="{FF2B5EF4-FFF2-40B4-BE49-F238E27FC236}">
                  <a16:creationId xmlns:a16="http://schemas.microsoft.com/office/drawing/2014/main" id="{E96F13C7-0D72-450C-90D6-17E1BC861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1210" name="Rectangle 14">
            <a:extLst>
              <a:ext uri="{FF2B5EF4-FFF2-40B4-BE49-F238E27FC236}">
                <a16:creationId xmlns:a16="http://schemas.microsoft.com/office/drawing/2014/main" id="{4550E591-EBD5-4BEA-931B-86E93BCBA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95262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1211" name="Rectangle 15">
            <a:extLst>
              <a:ext uri="{FF2B5EF4-FFF2-40B4-BE49-F238E27FC236}">
                <a16:creationId xmlns:a16="http://schemas.microsoft.com/office/drawing/2014/main" id="{441CEDDB-FFA1-4D84-9226-CF9E2E0A0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393382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1212" name="Rectangle 16">
            <a:extLst>
              <a:ext uri="{FF2B5EF4-FFF2-40B4-BE49-F238E27FC236}">
                <a16:creationId xmlns:a16="http://schemas.microsoft.com/office/drawing/2014/main" id="{AD402831-EB4A-4DD7-84D8-7A0533493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500062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1213" name="Group 17">
            <a:extLst>
              <a:ext uri="{FF2B5EF4-FFF2-40B4-BE49-F238E27FC236}">
                <a16:creationId xmlns:a16="http://schemas.microsoft.com/office/drawing/2014/main" id="{EF397CB9-9A06-4AF1-B478-9818CD0EBE3B}"/>
              </a:ext>
            </a:extLst>
          </p:cNvPr>
          <p:cNvGrpSpPr>
            <a:grpSpLocks/>
          </p:cNvGrpSpPr>
          <p:nvPr/>
        </p:nvGrpSpPr>
        <p:grpSpPr bwMode="auto">
          <a:xfrm>
            <a:off x="3295650" y="3933825"/>
            <a:ext cx="579438" cy="1066800"/>
            <a:chOff x="979" y="1344"/>
            <a:chExt cx="365" cy="672"/>
          </a:xfrm>
        </p:grpSpPr>
        <p:sp>
          <p:nvSpPr>
            <p:cNvPr id="51312" name="Rectangle 18">
              <a:extLst>
                <a:ext uri="{FF2B5EF4-FFF2-40B4-BE49-F238E27FC236}">
                  <a16:creationId xmlns:a16="http://schemas.microsoft.com/office/drawing/2014/main" id="{7EE2A51D-C6C7-4B6D-8D7E-731B2F1B1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1313" name="Rectangle 19">
              <a:extLst>
                <a:ext uri="{FF2B5EF4-FFF2-40B4-BE49-F238E27FC236}">
                  <a16:creationId xmlns:a16="http://schemas.microsoft.com/office/drawing/2014/main" id="{D914D95A-8B77-4D6B-8087-A0207F8C9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1214" name="Rectangle 20">
            <a:extLst>
              <a:ext uri="{FF2B5EF4-FFF2-40B4-BE49-F238E27FC236}">
                <a16:creationId xmlns:a16="http://schemas.microsoft.com/office/drawing/2014/main" id="{22EB5F95-137B-432F-A9B9-923314D58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95262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1215" name="Group 21">
            <a:extLst>
              <a:ext uri="{FF2B5EF4-FFF2-40B4-BE49-F238E27FC236}">
                <a16:creationId xmlns:a16="http://schemas.microsoft.com/office/drawing/2014/main" id="{3BA049E6-3E2C-48B1-A5AC-DD7C12B1EC98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2409825"/>
            <a:ext cx="579438" cy="1066800"/>
            <a:chOff x="979" y="1344"/>
            <a:chExt cx="365" cy="672"/>
          </a:xfrm>
        </p:grpSpPr>
        <p:sp>
          <p:nvSpPr>
            <p:cNvPr id="51310" name="Rectangle 22">
              <a:extLst>
                <a:ext uri="{FF2B5EF4-FFF2-40B4-BE49-F238E27FC236}">
                  <a16:creationId xmlns:a16="http://schemas.microsoft.com/office/drawing/2014/main" id="{88092566-472F-4215-90FC-9C954C990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1311" name="Rectangle 23">
              <a:extLst>
                <a:ext uri="{FF2B5EF4-FFF2-40B4-BE49-F238E27FC236}">
                  <a16:creationId xmlns:a16="http://schemas.microsoft.com/office/drawing/2014/main" id="{7D0A8E92-1FE0-4BA4-94CF-33D7D464A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1216" name="Rectangle 24">
            <a:extLst>
              <a:ext uri="{FF2B5EF4-FFF2-40B4-BE49-F238E27FC236}">
                <a16:creationId xmlns:a16="http://schemas.microsoft.com/office/drawing/2014/main" id="{38FD1CE7-E071-4C40-B45F-3900952D1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1952625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1217" name="Rectangle 25">
            <a:extLst>
              <a:ext uri="{FF2B5EF4-FFF2-40B4-BE49-F238E27FC236}">
                <a16:creationId xmlns:a16="http://schemas.microsoft.com/office/drawing/2014/main" id="{25173F5A-4BA1-43C5-8187-247081531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195262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1218" name="Group 26">
            <a:extLst>
              <a:ext uri="{FF2B5EF4-FFF2-40B4-BE49-F238E27FC236}">
                <a16:creationId xmlns:a16="http://schemas.microsoft.com/office/drawing/2014/main" id="{6D607917-024D-4455-9A4E-0E9AE0E62050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2409825"/>
            <a:ext cx="579438" cy="1066800"/>
            <a:chOff x="979" y="1344"/>
            <a:chExt cx="365" cy="672"/>
          </a:xfrm>
        </p:grpSpPr>
        <p:sp>
          <p:nvSpPr>
            <p:cNvPr id="51308" name="Rectangle 27">
              <a:extLst>
                <a:ext uri="{FF2B5EF4-FFF2-40B4-BE49-F238E27FC236}">
                  <a16:creationId xmlns:a16="http://schemas.microsoft.com/office/drawing/2014/main" id="{AE57E6AE-40CF-492A-BE86-D0AC26C9D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1309" name="Rectangle 28">
              <a:extLst>
                <a:ext uri="{FF2B5EF4-FFF2-40B4-BE49-F238E27FC236}">
                  <a16:creationId xmlns:a16="http://schemas.microsoft.com/office/drawing/2014/main" id="{2FEC17D0-9A4B-4B9A-9E6C-DC241ADAE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1219" name="Rectangle 29">
            <a:extLst>
              <a:ext uri="{FF2B5EF4-FFF2-40B4-BE49-F238E27FC236}">
                <a16:creationId xmlns:a16="http://schemas.microsoft.com/office/drawing/2014/main" id="{9E0689AA-0F88-48BA-81AD-1F98D8D07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1952625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1220" name="Rectangle 30">
            <a:extLst>
              <a:ext uri="{FF2B5EF4-FFF2-40B4-BE49-F238E27FC236}">
                <a16:creationId xmlns:a16="http://schemas.microsoft.com/office/drawing/2014/main" id="{1E078D3A-FEC3-416F-8BEF-BE0DD57C9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952625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1221" name="Group 31">
            <a:extLst>
              <a:ext uri="{FF2B5EF4-FFF2-40B4-BE49-F238E27FC236}">
                <a16:creationId xmlns:a16="http://schemas.microsoft.com/office/drawing/2014/main" id="{67587F70-1E19-4A5A-95DD-9A14634194D8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2409825"/>
            <a:ext cx="579437" cy="1066800"/>
            <a:chOff x="979" y="1344"/>
            <a:chExt cx="365" cy="672"/>
          </a:xfrm>
        </p:grpSpPr>
        <p:sp>
          <p:nvSpPr>
            <p:cNvPr id="51306" name="Rectangle 32">
              <a:extLst>
                <a:ext uri="{FF2B5EF4-FFF2-40B4-BE49-F238E27FC236}">
                  <a16:creationId xmlns:a16="http://schemas.microsoft.com/office/drawing/2014/main" id="{A7BFC7F6-9864-482E-8127-3CBAABA1C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1307" name="Rectangle 33">
              <a:extLst>
                <a:ext uri="{FF2B5EF4-FFF2-40B4-BE49-F238E27FC236}">
                  <a16:creationId xmlns:a16="http://schemas.microsoft.com/office/drawing/2014/main" id="{B7AE8EFC-F20E-449F-84B1-93E82A1B4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1222" name="Rectangle 34">
            <a:extLst>
              <a:ext uri="{FF2B5EF4-FFF2-40B4-BE49-F238E27FC236}">
                <a16:creationId xmlns:a16="http://schemas.microsoft.com/office/drawing/2014/main" id="{C06A871C-0657-4E1E-A391-24BB78CC3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195262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1223" name="Rectangle 35">
            <a:extLst>
              <a:ext uri="{FF2B5EF4-FFF2-40B4-BE49-F238E27FC236}">
                <a16:creationId xmlns:a16="http://schemas.microsoft.com/office/drawing/2014/main" id="{84139C21-ED71-4684-9D24-E332CBD46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93382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1224" name="Rectangle 36">
            <a:extLst>
              <a:ext uri="{FF2B5EF4-FFF2-40B4-BE49-F238E27FC236}">
                <a16:creationId xmlns:a16="http://schemas.microsoft.com/office/drawing/2014/main" id="{40590B92-5091-450F-B634-9B8FA86E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500062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1225" name="Group 37">
            <a:extLst>
              <a:ext uri="{FF2B5EF4-FFF2-40B4-BE49-F238E27FC236}">
                <a16:creationId xmlns:a16="http://schemas.microsoft.com/office/drawing/2014/main" id="{A3C1B28C-F31F-4642-A024-7864BB8B7FF2}"/>
              </a:ext>
            </a:extLst>
          </p:cNvPr>
          <p:cNvGrpSpPr>
            <a:grpSpLocks/>
          </p:cNvGrpSpPr>
          <p:nvPr/>
        </p:nvGrpSpPr>
        <p:grpSpPr bwMode="auto">
          <a:xfrm>
            <a:off x="4457700" y="3933825"/>
            <a:ext cx="579438" cy="1066800"/>
            <a:chOff x="979" y="1344"/>
            <a:chExt cx="365" cy="672"/>
          </a:xfrm>
        </p:grpSpPr>
        <p:sp>
          <p:nvSpPr>
            <p:cNvPr id="51304" name="Rectangle 38">
              <a:extLst>
                <a:ext uri="{FF2B5EF4-FFF2-40B4-BE49-F238E27FC236}">
                  <a16:creationId xmlns:a16="http://schemas.microsoft.com/office/drawing/2014/main" id="{CDB9E654-ACDC-45C9-9990-D4FF88AFA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1305" name="Rectangle 39">
              <a:extLst>
                <a:ext uri="{FF2B5EF4-FFF2-40B4-BE49-F238E27FC236}">
                  <a16:creationId xmlns:a16="http://schemas.microsoft.com/office/drawing/2014/main" id="{501F5E22-432E-4E38-9201-F3E542877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1226" name="Rectangle 40">
            <a:extLst>
              <a:ext uri="{FF2B5EF4-FFF2-40B4-BE49-F238E27FC236}">
                <a16:creationId xmlns:a16="http://schemas.microsoft.com/office/drawing/2014/main" id="{9CF0EE4B-9AC5-4423-BC37-E6658DBC4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393382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1227" name="Rectangle 41">
            <a:extLst>
              <a:ext uri="{FF2B5EF4-FFF2-40B4-BE49-F238E27FC236}">
                <a16:creationId xmlns:a16="http://schemas.microsoft.com/office/drawing/2014/main" id="{EFA384C7-770A-4222-AB25-F61414DAC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500062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1228" name="Group 42">
            <a:extLst>
              <a:ext uri="{FF2B5EF4-FFF2-40B4-BE49-F238E27FC236}">
                <a16:creationId xmlns:a16="http://schemas.microsoft.com/office/drawing/2014/main" id="{AA96DAF5-9BA4-4353-BF94-78A7C4BF7CCE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3933825"/>
            <a:ext cx="579438" cy="1066800"/>
            <a:chOff x="979" y="1344"/>
            <a:chExt cx="365" cy="672"/>
          </a:xfrm>
        </p:grpSpPr>
        <p:sp>
          <p:nvSpPr>
            <p:cNvPr id="51302" name="Rectangle 43">
              <a:extLst>
                <a:ext uri="{FF2B5EF4-FFF2-40B4-BE49-F238E27FC236}">
                  <a16:creationId xmlns:a16="http://schemas.microsoft.com/office/drawing/2014/main" id="{067D6538-A82D-4FCA-995C-DDD4CC8D1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1303" name="Rectangle 44">
              <a:extLst>
                <a:ext uri="{FF2B5EF4-FFF2-40B4-BE49-F238E27FC236}">
                  <a16:creationId xmlns:a16="http://schemas.microsoft.com/office/drawing/2014/main" id="{01EFF5C0-9292-4200-A98B-701DC1BB2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grpSp>
        <p:nvGrpSpPr>
          <p:cNvPr id="51229" name="Group 45">
            <a:extLst>
              <a:ext uri="{FF2B5EF4-FFF2-40B4-BE49-F238E27FC236}">
                <a16:creationId xmlns:a16="http://schemas.microsoft.com/office/drawing/2014/main" id="{B8091A2C-0C3D-4F46-BAEF-B0B96BAA7C2A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5457825"/>
            <a:ext cx="1160462" cy="646113"/>
            <a:chOff x="979" y="3264"/>
            <a:chExt cx="731" cy="407"/>
          </a:xfrm>
        </p:grpSpPr>
        <p:sp>
          <p:nvSpPr>
            <p:cNvPr id="51296" name="Rectangle 46">
              <a:extLst>
                <a:ext uri="{FF2B5EF4-FFF2-40B4-BE49-F238E27FC236}">
                  <a16:creationId xmlns:a16="http://schemas.microsoft.com/office/drawing/2014/main" id="{FE1BA688-B8D6-4906-ADEB-BBF32B31A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1297" name="Line 47">
              <a:extLst>
                <a:ext uri="{FF2B5EF4-FFF2-40B4-BE49-F238E27FC236}">
                  <a16:creationId xmlns:a16="http://schemas.microsoft.com/office/drawing/2014/main" id="{CBD0EF1C-31E1-4B08-A68C-7E3DD90E3B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98" name="Rectangle 48">
              <a:extLst>
                <a:ext uri="{FF2B5EF4-FFF2-40B4-BE49-F238E27FC236}">
                  <a16:creationId xmlns:a16="http://schemas.microsoft.com/office/drawing/2014/main" id="{53CB33F2-6F74-4AF8-A078-B2D8AF8327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99" name="Rectangle 49">
              <a:extLst>
                <a:ext uri="{FF2B5EF4-FFF2-40B4-BE49-F238E27FC236}">
                  <a16:creationId xmlns:a16="http://schemas.microsoft.com/office/drawing/2014/main" id="{221AF50E-5723-4023-8E3F-915A6C880C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300" name="Rectangle 50">
              <a:extLst>
                <a:ext uri="{FF2B5EF4-FFF2-40B4-BE49-F238E27FC236}">
                  <a16:creationId xmlns:a16="http://schemas.microsoft.com/office/drawing/2014/main" id="{CB9CAF75-82EC-4407-BBF9-818AE3DE10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301" name="Rectangle 51">
              <a:extLst>
                <a:ext uri="{FF2B5EF4-FFF2-40B4-BE49-F238E27FC236}">
                  <a16:creationId xmlns:a16="http://schemas.microsoft.com/office/drawing/2014/main" id="{488BC73D-08E7-4999-8E8A-765D974DC4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1230" name="Group 52">
            <a:extLst>
              <a:ext uri="{FF2B5EF4-FFF2-40B4-BE49-F238E27FC236}">
                <a16:creationId xmlns:a16="http://schemas.microsoft.com/office/drawing/2014/main" id="{30C43354-F049-439B-9253-7B1A092B38D4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1296988"/>
            <a:ext cx="1160462" cy="655637"/>
            <a:chOff x="979" y="643"/>
            <a:chExt cx="731" cy="413"/>
          </a:xfrm>
        </p:grpSpPr>
        <p:sp>
          <p:nvSpPr>
            <p:cNvPr id="51290" name="Rectangle 53">
              <a:extLst>
                <a:ext uri="{FF2B5EF4-FFF2-40B4-BE49-F238E27FC236}">
                  <a16:creationId xmlns:a16="http://schemas.microsoft.com/office/drawing/2014/main" id="{141766EE-FFBC-4278-A9CC-2C33E2F95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1291" name="Line 54">
              <a:extLst>
                <a:ext uri="{FF2B5EF4-FFF2-40B4-BE49-F238E27FC236}">
                  <a16:creationId xmlns:a16="http://schemas.microsoft.com/office/drawing/2014/main" id="{A9F2EB4E-48F3-425A-8633-865D6E6867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92" name="Rectangle 55">
              <a:extLst>
                <a:ext uri="{FF2B5EF4-FFF2-40B4-BE49-F238E27FC236}">
                  <a16:creationId xmlns:a16="http://schemas.microsoft.com/office/drawing/2014/main" id="{0CCC73A1-819D-4746-B662-AC125C8BE9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93" name="Rectangle 56">
              <a:extLst>
                <a:ext uri="{FF2B5EF4-FFF2-40B4-BE49-F238E27FC236}">
                  <a16:creationId xmlns:a16="http://schemas.microsoft.com/office/drawing/2014/main" id="{915E5935-5A3E-4B01-823A-7D8D0407C2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94" name="Rectangle 57">
              <a:extLst>
                <a:ext uri="{FF2B5EF4-FFF2-40B4-BE49-F238E27FC236}">
                  <a16:creationId xmlns:a16="http://schemas.microsoft.com/office/drawing/2014/main" id="{5489D996-AFA2-4460-B946-3F8A1920F4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95" name="Rectangle 58">
              <a:extLst>
                <a:ext uri="{FF2B5EF4-FFF2-40B4-BE49-F238E27FC236}">
                  <a16:creationId xmlns:a16="http://schemas.microsoft.com/office/drawing/2014/main" id="{034523B8-6DE0-40D2-89C1-2D518FE638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1231" name="Group 59">
            <a:extLst>
              <a:ext uri="{FF2B5EF4-FFF2-40B4-BE49-F238E27FC236}">
                <a16:creationId xmlns:a16="http://schemas.microsoft.com/office/drawing/2014/main" id="{3799DBB6-27FC-4F4F-BCD1-63B269D71C01}"/>
              </a:ext>
            </a:extLst>
          </p:cNvPr>
          <p:cNvGrpSpPr>
            <a:grpSpLocks/>
          </p:cNvGrpSpPr>
          <p:nvPr/>
        </p:nvGrpSpPr>
        <p:grpSpPr bwMode="auto">
          <a:xfrm>
            <a:off x="2716213" y="5457825"/>
            <a:ext cx="1160462" cy="646113"/>
            <a:chOff x="979" y="3264"/>
            <a:chExt cx="731" cy="407"/>
          </a:xfrm>
        </p:grpSpPr>
        <p:sp>
          <p:nvSpPr>
            <p:cNvPr id="51284" name="Rectangle 60">
              <a:extLst>
                <a:ext uri="{FF2B5EF4-FFF2-40B4-BE49-F238E27FC236}">
                  <a16:creationId xmlns:a16="http://schemas.microsoft.com/office/drawing/2014/main" id="{2C3239DD-8253-4937-9D42-6D713A496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1285" name="Line 61">
              <a:extLst>
                <a:ext uri="{FF2B5EF4-FFF2-40B4-BE49-F238E27FC236}">
                  <a16:creationId xmlns:a16="http://schemas.microsoft.com/office/drawing/2014/main" id="{2EAE9959-8961-425F-A754-85AB5F2E82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86" name="Rectangle 62">
              <a:extLst>
                <a:ext uri="{FF2B5EF4-FFF2-40B4-BE49-F238E27FC236}">
                  <a16:creationId xmlns:a16="http://schemas.microsoft.com/office/drawing/2014/main" id="{ED6308C7-8878-43E9-9473-91D643DB93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87" name="Rectangle 63">
              <a:extLst>
                <a:ext uri="{FF2B5EF4-FFF2-40B4-BE49-F238E27FC236}">
                  <a16:creationId xmlns:a16="http://schemas.microsoft.com/office/drawing/2014/main" id="{9AD16D90-C78D-4846-9546-E464EF9208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88" name="Rectangle 64">
              <a:extLst>
                <a:ext uri="{FF2B5EF4-FFF2-40B4-BE49-F238E27FC236}">
                  <a16:creationId xmlns:a16="http://schemas.microsoft.com/office/drawing/2014/main" id="{66EA86C3-E5CF-4C82-849A-910B78626A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89" name="Rectangle 65">
              <a:extLst>
                <a:ext uri="{FF2B5EF4-FFF2-40B4-BE49-F238E27FC236}">
                  <a16:creationId xmlns:a16="http://schemas.microsoft.com/office/drawing/2014/main" id="{78A583D1-1723-4C33-BFE0-8A5EF67984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1232" name="Group 66">
            <a:extLst>
              <a:ext uri="{FF2B5EF4-FFF2-40B4-BE49-F238E27FC236}">
                <a16:creationId xmlns:a16="http://schemas.microsoft.com/office/drawing/2014/main" id="{561732B1-A8E2-4060-95F4-080B2D894747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5457825"/>
            <a:ext cx="1160463" cy="646113"/>
            <a:chOff x="979" y="3264"/>
            <a:chExt cx="731" cy="407"/>
          </a:xfrm>
        </p:grpSpPr>
        <p:sp>
          <p:nvSpPr>
            <p:cNvPr id="51278" name="Rectangle 67">
              <a:extLst>
                <a:ext uri="{FF2B5EF4-FFF2-40B4-BE49-F238E27FC236}">
                  <a16:creationId xmlns:a16="http://schemas.microsoft.com/office/drawing/2014/main" id="{4963E878-8133-4C4E-8187-9A0DADD93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1279" name="Line 68">
              <a:extLst>
                <a:ext uri="{FF2B5EF4-FFF2-40B4-BE49-F238E27FC236}">
                  <a16:creationId xmlns:a16="http://schemas.microsoft.com/office/drawing/2014/main" id="{1BA978C9-FD45-4AE5-A92C-D584A361A4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80" name="Rectangle 69">
              <a:extLst>
                <a:ext uri="{FF2B5EF4-FFF2-40B4-BE49-F238E27FC236}">
                  <a16:creationId xmlns:a16="http://schemas.microsoft.com/office/drawing/2014/main" id="{A1DCDE1A-3DE8-4BF2-8C49-6FC46872C2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81" name="Rectangle 70">
              <a:extLst>
                <a:ext uri="{FF2B5EF4-FFF2-40B4-BE49-F238E27FC236}">
                  <a16:creationId xmlns:a16="http://schemas.microsoft.com/office/drawing/2014/main" id="{ACA0FBFF-277D-4BC8-B8DB-E812204903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82" name="Rectangle 71">
              <a:extLst>
                <a:ext uri="{FF2B5EF4-FFF2-40B4-BE49-F238E27FC236}">
                  <a16:creationId xmlns:a16="http://schemas.microsoft.com/office/drawing/2014/main" id="{1D622133-CD5D-49CE-BF3E-8F56814C1A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83" name="Rectangle 72">
              <a:extLst>
                <a:ext uri="{FF2B5EF4-FFF2-40B4-BE49-F238E27FC236}">
                  <a16:creationId xmlns:a16="http://schemas.microsoft.com/office/drawing/2014/main" id="{F01611B1-C1C5-4BBD-BD43-16C061E0AC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1233" name="Group 73">
            <a:extLst>
              <a:ext uri="{FF2B5EF4-FFF2-40B4-BE49-F238E27FC236}">
                <a16:creationId xmlns:a16="http://schemas.microsoft.com/office/drawing/2014/main" id="{EE427209-8928-46CB-B136-967510947387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5457825"/>
            <a:ext cx="1160462" cy="646113"/>
            <a:chOff x="979" y="3264"/>
            <a:chExt cx="731" cy="407"/>
          </a:xfrm>
        </p:grpSpPr>
        <p:sp>
          <p:nvSpPr>
            <p:cNvPr id="51272" name="Rectangle 74">
              <a:extLst>
                <a:ext uri="{FF2B5EF4-FFF2-40B4-BE49-F238E27FC236}">
                  <a16:creationId xmlns:a16="http://schemas.microsoft.com/office/drawing/2014/main" id="{364D2CF6-14F0-4CE9-850C-256B20CB8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1273" name="Line 75">
              <a:extLst>
                <a:ext uri="{FF2B5EF4-FFF2-40B4-BE49-F238E27FC236}">
                  <a16:creationId xmlns:a16="http://schemas.microsoft.com/office/drawing/2014/main" id="{138AEFD4-E0CE-44F2-8942-9E36EA4F06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74" name="Rectangle 76">
              <a:extLst>
                <a:ext uri="{FF2B5EF4-FFF2-40B4-BE49-F238E27FC236}">
                  <a16:creationId xmlns:a16="http://schemas.microsoft.com/office/drawing/2014/main" id="{A22BEC12-B157-4E24-BCB5-A6308DA0AF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75" name="Rectangle 77">
              <a:extLst>
                <a:ext uri="{FF2B5EF4-FFF2-40B4-BE49-F238E27FC236}">
                  <a16:creationId xmlns:a16="http://schemas.microsoft.com/office/drawing/2014/main" id="{6E91B723-1625-41B8-945E-328415D15F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76" name="Rectangle 78">
              <a:extLst>
                <a:ext uri="{FF2B5EF4-FFF2-40B4-BE49-F238E27FC236}">
                  <a16:creationId xmlns:a16="http://schemas.microsoft.com/office/drawing/2014/main" id="{E83E2191-12F1-4FCA-963E-582C7CA877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77" name="Rectangle 79">
              <a:extLst>
                <a:ext uri="{FF2B5EF4-FFF2-40B4-BE49-F238E27FC236}">
                  <a16:creationId xmlns:a16="http://schemas.microsoft.com/office/drawing/2014/main" id="{075B9575-86BA-42D3-B15C-8EC881B844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1234" name="Group 80">
            <a:extLst>
              <a:ext uri="{FF2B5EF4-FFF2-40B4-BE49-F238E27FC236}">
                <a16:creationId xmlns:a16="http://schemas.microsoft.com/office/drawing/2014/main" id="{9C45310F-5D47-4CB5-BEAB-F0A6FF5684D9}"/>
              </a:ext>
            </a:extLst>
          </p:cNvPr>
          <p:cNvGrpSpPr>
            <a:grpSpLocks/>
          </p:cNvGrpSpPr>
          <p:nvPr/>
        </p:nvGrpSpPr>
        <p:grpSpPr bwMode="auto">
          <a:xfrm>
            <a:off x="2716213" y="1295400"/>
            <a:ext cx="1160462" cy="655638"/>
            <a:chOff x="979" y="643"/>
            <a:chExt cx="731" cy="413"/>
          </a:xfrm>
        </p:grpSpPr>
        <p:sp>
          <p:nvSpPr>
            <p:cNvPr id="51266" name="Rectangle 81">
              <a:extLst>
                <a:ext uri="{FF2B5EF4-FFF2-40B4-BE49-F238E27FC236}">
                  <a16:creationId xmlns:a16="http://schemas.microsoft.com/office/drawing/2014/main" id="{CAD6C383-55B9-4894-B3E2-BF82313A4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1267" name="Line 82">
              <a:extLst>
                <a:ext uri="{FF2B5EF4-FFF2-40B4-BE49-F238E27FC236}">
                  <a16:creationId xmlns:a16="http://schemas.microsoft.com/office/drawing/2014/main" id="{16BC907C-4B38-4164-ADD8-DA8E0244DD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68" name="Rectangle 83">
              <a:extLst>
                <a:ext uri="{FF2B5EF4-FFF2-40B4-BE49-F238E27FC236}">
                  <a16:creationId xmlns:a16="http://schemas.microsoft.com/office/drawing/2014/main" id="{605DB483-20D2-45F2-BC5F-E99D90E9CE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69" name="Rectangle 84">
              <a:extLst>
                <a:ext uri="{FF2B5EF4-FFF2-40B4-BE49-F238E27FC236}">
                  <a16:creationId xmlns:a16="http://schemas.microsoft.com/office/drawing/2014/main" id="{DE516684-6196-416D-9791-854F107D7C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70" name="Rectangle 85">
              <a:extLst>
                <a:ext uri="{FF2B5EF4-FFF2-40B4-BE49-F238E27FC236}">
                  <a16:creationId xmlns:a16="http://schemas.microsoft.com/office/drawing/2014/main" id="{D26D69C9-353F-40FE-862E-CF861F4A82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71" name="Rectangle 86">
              <a:extLst>
                <a:ext uri="{FF2B5EF4-FFF2-40B4-BE49-F238E27FC236}">
                  <a16:creationId xmlns:a16="http://schemas.microsoft.com/office/drawing/2014/main" id="{7BEE0A1D-F13F-49E4-8E18-BE22A84881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1235" name="Group 87">
            <a:extLst>
              <a:ext uri="{FF2B5EF4-FFF2-40B4-BE49-F238E27FC236}">
                <a16:creationId xmlns:a16="http://schemas.microsoft.com/office/drawing/2014/main" id="{049ECCBB-6AE1-49B9-824D-5DACB491E678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1296988"/>
            <a:ext cx="1160463" cy="655637"/>
            <a:chOff x="979" y="643"/>
            <a:chExt cx="731" cy="413"/>
          </a:xfrm>
        </p:grpSpPr>
        <p:sp>
          <p:nvSpPr>
            <p:cNvPr id="51260" name="Rectangle 88">
              <a:extLst>
                <a:ext uri="{FF2B5EF4-FFF2-40B4-BE49-F238E27FC236}">
                  <a16:creationId xmlns:a16="http://schemas.microsoft.com/office/drawing/2014/main" id="{FF5D4F22-8B6E-4FD4-B10E-B306ADC4C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1261" name="Line 89">
              <a:extLst>
                <a:ext uri="{FF2B5EF4-FFF2-40B4-BE49-F238E27FC236}">
                  <a16:creationId xmlns:a16="http://schemas.microsoft.com/office/drawing/2014/main" id="{B34DCB15-7BB8-4C1B-9630-3548014E17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62" name="Rectangle 90">
              <a:extLst>
                <a:ext uri="{FF2B5EF4-FFF2-40B4-BE49-F238E27FC236}">
                  <a16:creationId xmlns:a16="http://schemas.microsoft.com/office/drawing/2014/main" id="{5B4B328C-20E4-4DB4-9661-64356882CB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63" name="Rectangle 91">
              <a:extLst>
                <a:ext uri="{FF2B5EF4-FFF2-40B4-BE49-F238E27FC236}">
                  <a16:creationId xmlns:a16="http://schemas.microsoft.com/office/drawing/2014/main" id="{65D8D3C8-0131-4A9C-B5EE-5BA1E7B44F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64" name="Rectangle 92">
              <a:extLst>
                <a:ext uri="{FF2B5EF4-FFF2-40B4-BE49-F238E27FC236}">
                  <a16:creationId xmlns:a16="http://schemas.microsoft.com/office/drawing/2014/main" id="{46515DD4-65D8-4FCF-BA1E-D7FF9931A1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65" name="Rectangle 93">
              <a:extLst>
                <a:ext uri="{FF2B5EF4-FFF2-40B4-BE49-F238E27FC236}">
                  <a16:creationId xmlns:a16="http://schemas.microsoft.com/office/drawing/2014/main" id="{53762FE4-F225-4381-BAD9-D6855A01AE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1236" name="Group 94">
            <a:extLst>
              <a:ext uri="{FF2B5EF4-FFF2-40B4-BE49-F238E27FC236}">
                <a16:creationId xmlns:a16="http://schemas.microsoft.com/office/drawing/2014/main" id="{D7ED6DDA-7B6F-4EAA-99D6-E55AF31E0BA4}"/>
              </a:ext>
            </a:extLst>
          </p:cNvPr>
          <p:cNvGrpSpPr>
            <a:grpSpLocks/>
          </p:cNvGrpSpPr>
          <p:nvPr/>
        </p:nvGrpSpPr>
        <p:grpSpPr bwMode="auto">
          <a:xfrm>
            <a:off x="5038725" y="1295400"/>
            <a:ext cx="1160463" cy="655638"/>
            <a:chOff x="979" y="643"/>
            <a:chExt cx="731" cy="413"/>
          </a:xfrm>
        </p:grpSpPr>
        <p:sp>
          <p:nvSpPr>
            <p:cNvPr id="51254" name="Rectangle 95">
              <a:extLst>
                <a:ext uri="{FF2B5EF4-FFF2-40B4-BE49-F238E27FC236}">
                  <a16:creationId xmlns:a16="http://schemas.microsoft.com/office/drawing/2014/main" id="{FE9D4A50-D334-4D46-946C-B811CC1BF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1255" name="Line 96">
              <a:extLst>
                <a:ext uri="{FF2B5EF4-FFF2-40B4-BE49-F238E27FC236}">
                  <a16:creationId xmlns:a16="http://schemas.microsoft.com/office/drawing/2014/main" id="{DCD98A9C-92E4-4984-9D8A-47292FB2EFB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6" name="Rectangle 97">
              <a:extLst>
                <a:ext uri="{FF2B5EF4-FFF2-40B4-BE49-F238E27FC236}">
                  <a16:creationId xmlns:a16="http://schemas.microsoft.com/office/drawing/2014/main" id="{F16F3E76-8E8E-4C2F-8247-FFFB7DD00B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57" name="Rectangle 98">
              <a:extLst>
                <a:ext uri="{FF2B5EF4-FFF2-40B4-BE49-F238E27FC236}">
                  <a16:creationId xmlns:a16="http://schemas.microsoft.com/office/drawing/2014/main" id="{F20AA16A-4499-4E4C-BDE9-BE7F986840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58" name="Rectangle 99">
              <a:extLst>
                <a:ext uri="{FF2B5EF4-FFF2-40B4-BE49-F238E27FC236}">
                  <a16:creationId xmlns:a16="http://schemas.microsoft.com/office/drawing/2014/main" id="{6547315D-7614-4AE1-B64B-F48910B4A6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59" name="Rectangle 100">
              <a:extLst>
                <a:ext uri="{FF2B5EF4-FFF2-40B4-BE49-F238E27FC236}">
                  <a16:creationId xmlns:a16="http://schemas.microsoft.com/office/drawing/2014/main" id="{FCEC4711-5BA1-49D7-9DD3-B25482F838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1237" name="Rectangle 101">
            <a:extLst>
              <a:ext uri="{FF2B5EF4-FFF2-40B4-BE49-F238E27FC236}">
                <a16:creationId xmlns:a16="http://schemas.microsoft.com/office/drawing/2014/main" id="{042FBD02-0BF7-49D0-9DBC-EF2A80693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0" y="3933825"/>
            <a:ext cx="363538" cy="1524000"/>
          </a:xfrm>
          <a:prstGeom prst="rect">
            <a:avLst/>
          </a:prstGeom>
          <a:solidFill>
            <a:srgbClr val="006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RE</a:t>
            </a:r>
            <a:endParaRPr lang="en-US" altLang="zh-CN" sz="1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238" name="Rectangle 102">
            <a:extLst>
              <a:ext uri="{FF2B5EF4-FFF2-40B4-BE49-F238E27FC236}">
                <a16:creationId xmlns:a16="http://schemas.microsoft.com/office/drawing/2014/main" id="{BB9150C8-6E1B-4F8E-BCAB-224D7C410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0" y="1952625"/>
            <a:ext cx="363538" cy="1524000"/>
          </a:xfrm>
          <a:prstGeom prst="rect">
            <a:avLst/>
          </a:prstGeom>
          <a:solidFill>
            <a:srgbClr val="006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HE</a:t>
            </a:r>
            <a:endParaRPr lang="en-US" altLang="zh-CN" sz="1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1239" name="Picture 103" descr="piranh_b">
            <a:extLst>
              <a:ext uri="{FF2B5EF4-FFF2-40B4-BE49-F238E27FC236}">
                <a16:creationId xmlns:a16="http://schemas.microsoft.com/office/drawing/2014/main" id="{4F812D11-266B-48AB-86FA-53A2302A0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6145213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0" name="Picture 104" descr="piranh_b">
            <a:extLst>
              <a:ext uri="{FF2B5EF4-FFF2-40B4-BE49-F238E27FC236}">
                <a16:creationId xmlns:a16="http://schemas.microsoft.com/office/drawing/2014/main" id="{31858BEE-9F40-4029-A485-7E2C15730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1" name="Picture 105" descr="piranh_b">
            <a:extLst>
              <a:ext uri="{FF2B5EF4-FFF2-40B4-BE49-F238E27FC236}">
                <a16:creationId xmlns:a16="http://schemas.microsoft.com/office/drawing/2014/main" id="{6E49327B-6F29-4A94-8FD2-695216EF4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525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2" name="Picture 106" descr="piranh_b">
            <a:extLst>
              <a:ext uri="{FF2B5EF4-FFF2-40B4-BE49-F238E27FC236}">
                <a16:creationId xmlns:a16="http://schemas.microsoft.com/office/drawing/2014/main" id="{797E9A22-2153-4EF9-B452-517ECC17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38" y="6145213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3" name="Picture 107" descr="piranh_b">
            <a:extLst>
              <a:ext uri="{FF2B5EF4-FFF2-40B4-BE49-F238E27FC236}">
                <a16:creationId xmlns:a16="http://schemas.microsoft.com/office/drawing/2014/main" id="{33B4DDE5-2B10-4856-81DA-8C183AFDC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38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4" name="Picture 108" descr="piranh_b">
            <a:extLst>
              <a:ext uri="{FF2B5EF4-FFF2-40B4-BE49-F238E27FC236}">
                <a16:creationId xmlns:a16="http://schemas.microsoft.com/office/drawing/2014/main" id="{E0F1BAA4-DC1B-47B4-B35F-988DF2C0D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638" y="6145213"/>
            <a:ext cx="3286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5" name="Picture 109" descr="piranh_b">
            <a:extLst>
              <a:ext uri="{FF2B5EF4-FFF2-40B4-BE49-F238E27FC236}">
                <a16:creationId xmlns:a16="http://schemas.microsoft.com/office/drawing/2014/main" id="{698C29DC-195E-4212-9C0A-8E3EA0840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0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6" name="Picture 110" descr="piranh_b">
            <a:extLst>
              <a:ext uri="{FF2B5EF4-FFF2-40B4-BE49-F238E27FC236}">
                <a16:creationId xmlns:a16="http://schemas.microsoft.com/office/drawing/2014/main" id="{0250AADF-B727-4AF7-BA80-FEB8A7645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7" name="Picture 111" descr="piranh_b">
            <a:extLst>
              <a:ext uri="{FF2B5EF4-FFF2-40B4-BE49-F238E27FC236}">
                <a16:creationId xmlns:a16="http://schemas.microsoft.com/office/drawing/2014/main" id="{F78A9910-6D1B-4DA9-8B10-A2E2D0AFB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0" y="6145213"/>
            <a:ext cx="3286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8" name="Picture 112" descr="piranh_b">
            <a:extLst>
              <a:ext uri="{FF2B5EF4-FFF2-40B4-BE49-F238E27FC236}">
                <a16:creationId xmlns:a16="http://schemas.microsoft.com/office/drawing/2014/main" id="{0E30D4BB-2BF6-4205-A4F0-DFE3FDA0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9" name="Picture 113" descr="piranh_b">
            <a:extLst>
              <a:ext uri="{FF2B5EF4-FFF2-40B4-BE49-F238E27FC236}">
                <a16:creationId xmlns:a16="http://schemas.microsoft.com/office/drawing/2014/main" id="{08BEEB60-4846-429A-A0F2-EA3DBC1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75" y="6145213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0" name="Picture 114" descr="piranh_b">
            <a:extLst>
              <a:ext uri="{FF2B5EF4-FFF2-40B4-BE49-F238E27FC236}">
                <a16:creationId xmlns:a16="http://schemas.microsoft.com/office/drawing/2014/main" id="{FBCC81C8-0BF1-4E9A-BE99-0D5B119CC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1" name="Picture 115" descr="piranh_b">
            <a:extLst>
              <a:ext uri="{FF2B5EF4-FFF2-40B4-BE49-F238E27FC236}">
                <a16:creationId xmlns:a16="http://schemas.microsoft.com/office/drawing/2014/main" id="{A9A5EC5B-2FBA-43E3-814D-6535BE7EB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75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2" name="Picture 116" descr="piranh_b">
            <a:extLst>
              <a:ext uri="{FF2B5EF4-FFF2-40B4-BE49-F238E27FC236}">
                <a16:creationId xmlns:a16="http://schemas.microsoft.com/office/drawing/2014/main" id="{B443720F-4DFE-4F84-B562-938EBEB48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8" y="6145213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3" name="Picture 117" descr="piranh_b">
            <a:extLst>
              <a:ext uri="{FF2B5EF4-FFF2-40B4-BE49-F238E27FC236}">
                <a16:creationId xmlns:a16="http://schemas.microsoft.com/office/drawing/2014/main" id="{76BC31FC-2C66-42CF-9F6E-F9DB27C1C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6145213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B8552BCE-186C-4915-B8E1-A49C9E5CB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3AC6D7D-1E79-449B-85A1-960785677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2020888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24E50FE6-A4CE-4DC1-8534-A9DE721E6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87488"/>
            <a:ext cx="25908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core: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1-issue, in-order,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500MHz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 caches: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I&amp;D, 64KB, 2-way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Intra-chip switch (ICS)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32GB/sec, 1-cycle delay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 cache: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shared, 1MB, 8-way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Controller (MC)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RDRAM, 12.8GB/sec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 Engines (HE &amp; RE):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prog., 1K </a:t>
            </a: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instr.,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even/odd interleaving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Interconnect: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4-port Xbar router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topology independent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32GB/sec total bandwidth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grpSp>
        <p:nvGrpSpPr>
          <p:cNvPr id="53253" name="Group 5">
            <a:extLst>
              <a:ext uri="{FF2B5EF4-FFF2-40B4-BE49-F238E27FC236}">
                <a16:creationId xmlns:a16="http://schemas.microsoft.com/office/drawing/2014/main" id="{09262AE7-2F6F-4DE6-A58B-970394533A52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2478088"/>
            <a:ext cx="579437" cy="1066800"/>
            <a:chOff x="979" y="1344"/>
            <a:chExt cx="365" cy="672"/>
          </a:xfrm>
        </p:grpSpPr>
        <p:sp>
          <p:nvSpPr>
            <p:cNvPr id="53371" name="Rectangle 6">
              <a:extLst>
                <a:ext uri="{FF2B5EF4-FFF2-40B4-BE49-F238E27FC236}">
                  <a16:creationId xmlns:a16="http://schemas.microsoft.com/office/drawing/2014/main" id="{9F6B2EC2-10DC-44B5-A27C-1B22F8061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3372" name="Rectangle 7">
              <a:extLst>
                <a:ext uri="{FF2B5EF4-FFF2-40B4-BE49-F238E27FC236}">
                  <a16:creationId xmlns:a16="http://schemas.microsoft.com/office/drawing/2014/main" id="{2E41AE83-2DFB-46D6-BF1A-AFD2D0EC7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3254" name="Rectangle 8">
            <a:extLst>
              <a:ext uri="{FF2B5EF4-FFF2-40B4-BE49-F238E27FC236}">
                <a16:creationId xmlns:a16="http://schemas.microsoft.com/office/drawing/2014/main" id="{CE01DD59-16EF-4939-B5EE-1B3EF4D2E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4002088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3255" name="Rectangle 9">
            <a:extLst>
              <a:ext uri="{FF2B5EF4-FFF2-40B4-BE49-F238E27FC236}">
                <a16:creationId xmlns:a16="http://schemas.microsoft.com/office/drawing/2014/main" id="{7416420B-EE37-4BC1-84EA-9AF764033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544888"/>
            <a:ext cx="5006975" cy="457200"/>
          </a:xfrm>
          <a:prstGeom prst="rect">
            <a:avLst/>
          </a:prstGeom>
          <a:solidFill>
            <a:srgbClr val="CC6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ICS</a:t>
            </a:r>
          </a:p>
        </p:txBody>
      </p:sp>
      <p:sp>
        <p:nvSpPr>
          <p:cNvPr id="53256" name="Rectangle 10">
            <a:extLst>
              <a:ext uri="{FF2B5EF4-FFF2-40B4-BE49-F238E27FC236}">
                <a16:creationId xmlns:a16="http://schemas.microsoft.com/office/drawing/2014/main" id="{ED4371F7-1089-443F-90D1-C53988BB3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68888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3257" name="Group 11">
            <a:extLst>
              <a:ext uri="{FF2B5EF4-FFF2-40B4-BE49-F238E27FC236}">
                <a16:creationId xmlns:a16="http://schemas.microsoft.com/office/drawing/2014/main" id="{AC318C8D-2E86-4A47-9984-1896EE16929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002088"/>
            <a:ext cx="579438" cy="1066800"/>
            <a:chOff x="979" y="1344"/>
            <a:chExt cx="365" cy="672"/>
          </a:xfrm>
        </p:grpSpPr>
        <p:sp>
          <p:nvSpPr>
            <p:cNvPr id="53369" name="Rectangle 12">
              <a:extLst>
                <a:ext uri="{FF2B5EF4-FFF2-40B4-BE49-F238E27FC236}">
                  <a16:creationId xmlns:a16="http://schemas.microsoft.com/office/drawing/2014/main" id="{45C281A9-DA69-4152-8703-CD236B157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3370" name="Rectangle 13">
              <a:extLst>
                <a:ext uri="{FF2B5EF4-FFF2-40B4-BE49-F238E27FC236}">
                  <a16:creationId xmlns:a16="http://schemas.microsoft.com/office/drawing/2014/main" id="{A0F8EC76-9E7A-4813-B535-346DA68E8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3258" name="Rectangle 14">
            <a:extLst>
              <a:ext uri="{FF2B5EF4-FFF2-40B4-BE49-F238E27FC236}">
                <a16:creationId xmlns:a16="http://schemas.microsoft.com/office/drawing/2014/main" id="{7F490DA7-E078-46F6-ABDE-03284B091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020888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3259" name="Rectangle 15">
            <a:extLst>
              <a:ext uri="{FF2B5EF4-FFF2-40B4-BE49-F238E27FC236}">
                <a16:creationId xmlns:a16="http://schemas.microsoft.com/office/drawing/2014/main" id="{D9225AE9-F0EC-4E32-9A8E-A7F46318E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4002088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3260" name="Rectangle 16">
            <a:extLst>
              <a:ext uri="{FF2B5EF4-FFF2-40B4-BE49-F238E27FC236}">
                <a16:creationId xmlns:a16="http://schemas.microsoft.com/office/drawing/2014/main" id="{0E824AE8-FEB9-4D97-8A60-028906768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5068888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3261" name="Group 17">
            <a:extLst>
              <a:ext uri="{FF2B5EF4-FFF2-40B4-BE49-F238E27FC236}">
                <a16:creationId xmlns:a16="http://schemas.microsoft.com/office/drawing/2014/main" id="{6AE52E8E-4D23-493F-9497-10F8C981FEF0}"/>
              </a:ext>
            </a:extLst>
          </p:cNvPr>
          <p:cNvGrpSpPr>
            <a:grpSpLocks/>
          </p:cNvGrpSpPr>
          <p:nvPr/>
        </p:nvGrpSpPr>
        <p:grpSpPr bwMode="auto">
          <a:xfrm>
            <a:off x="3295650" y="4002088"/>
            <a:ext cx="579438" cy="1066800"/>
            <a:chOff x="979" y="1344"/>
            <a:chExt cx="365" cy="672"/>
          </a:xfrm>
        </p:grpSpPr>
        <p:sp>
          <p:nvSpPr>
            <p:cNvPr id="53367" name="Rectangle 18">
              <a:extLst>
                <a:ext uri="{FF2B5EF4-FFF2-40B4-BE49-F238E27FC236}">
                  <a16:creationId xmlns:a16="http://schemas.microsoft.com/office/drawing/2014/main" id="{4A85F737-CC7D-417C-830B-3F63014E9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3368" name="Rectangle 19">
              <a:extLst>
                <a:ext uri="{FF2B5EF4-FFF2-40B4-BE49-F238E27FC236}">
                  <a16:creationId xmlns:a16="http://schemas.microsoft.com/office/drawing/2014/main" id="{F1BC579B-4B43-4AE1-BD0E-7BE6C6177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3262" name="Rectangle 20">
            <a:extLst>
              <a:ext uri="{FF2B5EF4-FFF2-40B4-BE49-F238E27FC236}">
                <a16:creationId xmlns:a16="http://schemas.microsoft.com/office/drawing/2014/main" id="{FA580CA2-CAB6-402B-B563-8794D3833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2020888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3263" name="Group 21">
            <a:extLst>
              <a:ext uri="{FF2B5EF4-FFF2-40B4-BE49-F238E27FC236}">
                <a16:creationId xmlns:a16="http://schemas.microsoft.com/office/drawing/2014/main" id="{AACB789B-3F05-4A5F-9A82-DDF034A1A349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2478088"/>
            <a:ext cx="579438" cy="1066800"/>
            <a:chOff x="979" y="1344"/>
            <a:chExt cx="365" cy="672"/>
          </a:xfrm>
        </p:grpSpPr>
        <p:sp>
          <p:nvSpPr>
            <p:cNvPr id="53365" name="Rectangle 22">
              <a:extLst>
                <a:ext uri="{FF2B5EF4-FFF2-40B4-BE49-F238E27FC236}">
                  <a16:creationId xmlns:a16="http://schemas.microsoft.com/office/drawing/2014/main" id="{A88460AE-C8A2-4DF3-8E85-4E88E054C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3366" name="Rectangle 23">
              <a:extLst>
                <a:ext uri="{FF2B5EF4-FFF2-40B4-BE49-F238E27FC236}">
                  <a16:creationId xmlns:a16="http://schemas.microsoft.com/office/drawing/2014/main" id="{59D25978-ADB5-41DA-BD69-2D142B984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3264" name="Rectangle 24">
            <a:extLst>
              <a:ext uri="{FF2B5EF4-FFF2-40B4-BE49-F238E27FC236}">
                <a16:creationId xmlns:a16="http://schemas.microsoft.com/office/drawing/2014/main" id="{6944CC1C-FC42-4997-8CDE-15C3250BB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2020888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3265" name="Rectangle 25">
            <a:extLst>
              <a:ext uri="{FF2B5EF4-FFF2-40B4-BE49-F238E27FC236}">
                <a16:creationId xmlns:a16="http://schemas.microsoft.com/office/drawing/2014/main" id="{88FE3654-1038-44E4-865A-93D9C88FA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2020888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3266" name="Group 26">
            <a:extLst>
              <a:ext uri="{FF2B5EF4-FFF2-40B4-BE49-F238E27FC236}">
                <a16:creationId xmlns:a16="http://schemas.microsoft.com/office/drawing/2014/main" id="{1F0FD1E8-1185-475F-AE18-7825AFCDBEC5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2478088"/>
            <a:ext cx="579438" cy="1066800"/>
            <a:chOff x="979" y="1344"/>
            <a:chExt cx="365" cy="672"/>
          </a:xfrm>
        </p:grpSpPr>
        <p:sp>
          <p:nvSpPr>
            <p:cNvPr id="53363" name="Rectangle 27">
              <a:extLst>
                <a:ext uri="{FF2B5EF4-FFF2-40B4-BE49-F238E27FC236}">
                  <a16:creationId xmlns:a16="http://schemas.microsoft.com/office/drawing/2014/main" id="{FEF584AF-4701-4DD6-BB02-BBBD25149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3364" name="Rectangle 28">
              <a:extLst>
                <a:ext uri="{FF2B5EF4-FFF2-40B4-BE49-F238E27FC236}">
                  <a16:creationId xmlns:a16="http://schemas.microsoft.com/office/drawing/2014/main" id="{CA00AC1B-E572-4967-A684-AD8E65988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3267" name="Rectangle 29">
            <a:extLst>
              <a:ext uri="{FF2B5EF4-FFF2-40B4-BE49-F238E27FC236}">
                <a16:creationId xmlns:a16="http://schemas.microsoft.com/office/drawing/2014/main" id="{713D8D93-F574-4D6E-9275-883EFD9E5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2020888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3268" name="Rectangle 30">
            <a:extLst>
              <a:ext uri="{FF2B5EF4-FFF2-40B4-BE49-F238E27FC236}">
                <a16:creationId xmlns:a16="http://schemas.microsoft.com/office/drawing/2014/main" id="{A08B1769-1150-423D-BDD7-173E5A495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020888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3269" name="Group 31">
            <a:extLst>
              <a:ext uri="{FF2B5EF4-FFF2-40B4-BE49-F238E27FC236}">
                <a16:creationId xmlns:a16="http://schemas.microsoft.com/office/drawing/2014/main" id="{57235B04-A6C1-4A34-9F59-AE8A976CCEDA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2478088"/>
            <a:ext cx="579437" cy="1066800"/>
            <a:chOff x="979" y="1344"/>
            <a:chExt cx="365" cy="672"/>
          </a:xfrm>
        </p:grpSpPr>
        <p:sp>
          <p:nvSpPr>
            <p:cNvPr id="53361" name="Rectangle 32">
              <a:extLst>
                <a:ext uri="{FF2B5EF4-FFF2-40B4-BE49-F238E27FC236}">
                  <a16:creationId xmlns:a16="http://schemas.microsoft.com/office/drawing/2014/main" id="{BCA62C3E-0C15-49B6-959C-503290DC9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3362" name="Rectangle 33">
              <a:extLst>
                <a:ext uri="{FF2B5EF4-FFF2-40B4-BE49-F238E27FC236}">
                  <a16:creationId xmlns:a16="http://schemas.microsoft.com/office/drawing/2014/main" id="{C3EE6675-BA1F-4750-80C5-9502B9CF6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3270" name="Rectangle 34">
            <a:extLst>
              <a:ext uri="{FF2B5EF4-FFF2-40B4-BE49-F238E27FC236}">
                <a16:creationId xmlns:a16="http://schemas.microsoft.com/office/drawing/2014/main" id="{5B8B0BC5-2DF4-4A3A-8D94-918721CA7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2020888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3271" name="Rectangle 35">
            <a:extLst>
              <a:ext uri="{FF2B5EF4-FFF2-40B4-BE49-F238E27FC236}">
                <a16:creationId xmlns:a16="http://schemas.microsoft.com/office/drawing/2014/main" id="{508BA0D3-5B4D-4CCE-9BCA-EE4C7C3A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4002088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3272" name="Rectangle 36">
            <a:extLst>
              <a:ext uri="{FF2B5EF4-FFF2-40B4-BE49-F238E27FC236}">
                <a16:creationId xmlns:a16="http://schemas.microsoft.com/office/drawing/2014/main" id="{8222664E-865E-4711-8D0B-17A1ABFDF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5068888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3273" name="Group 37">
            <a:extLst>
              <a:ext uri="{FF2B5EF4-FFF2-40B4-BE49-F238E27FC236}">
                <a16:creationId xmlns:a16="http://schemas.microsoft.com/office/drawing/2014/main" id="{7C831113-63C6-408B-8764-BC3293CD870A}"/>
              </a:ext>
            </a:extLst>
          </p:cNvPr>
          <p:cNvGrpSpPr>
            <a:grpSpLocks/>
          </p:cNvGrpSpPr>
          <p:nvPr/>
        </p:nvGrpSpPr>
        <p:grpSpPr bwMode="auto">
          <a:xfrm>
            <a:off x="4457700" y="4002088"/>
            <a:ext cx="579438" cy="1066800"/>
            <a:chOff x="979" y="1344"/>
            <a:chExt cx="365" cy="672"/>
          </a:xfrm>
        </p:grpSpPr>
        <p:sp>
          <p:nvSpPr>
            <p:cNvPr id="53359" name="Rectangle 38">
              <a:extLst>
                <a:ext uri="{FF2B5EF4-FFF2-40B4-BE49-F238E27FC236}">
                  <a16:creationId xmlns:a16="http://schemas.microsoft.com/office/drawing/2014/main" id="{B6B21216-4020-4352-9ED6-5D4B4DBAF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3360" name="Rectangle 39">
              <a:extLst>
                <a:ext uri="{FF2B5EF4-FFF2-40B4-BE49-F238E27FC236}">
                  <a16:creationId xmlns:a16="http://schemas.microsoft.com/office/drawing/2014/main" id="{98981587-AE4A-416D-8CC7-7A4131FBA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3274" name="Rectangle 40">
            <a:extLst>
              <a:ext uri="{FF2B5EF4-FFF2-40B4-BE49-F238E27FC236}">
                <a16:creationId xmlns:a16="http://schemas.microsoft.com/office/drawing/2014/main" id="{C1074094-3AE3-46BF-BD4C-A75088D6A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4002088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3275" name="Rectangle 41">
            <a:extLst>
              <a:ext uri="{FF2B5EF4-FFF2-40B4-BE49-F238E27FC236}">
                <a16:creationId xmlns:a16="http://schemas.microsoft.com/office/drawing/2014/main" id="{AA88FE62-9FAD-4ADB-97F8-E2A02C1AB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5068888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3276" name="Group 42">
            <a:extLst>
              <a:ext uri="{FF2B5EF4-FFF2-40B4-BE49-F238E27FC236}">
                <a16:creationId xmlns:a16="http://schemas.microsoft.com/office/drawing/2014/main" id="{471C9001-13CB-423E-ACF3-8192F582D67D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4002088"/>
            <a:ext cx="579438" cy="1066800"/>
            <a:chOff x="979" y="1344"/>
            <a:chExt cx="365" cy="672"/>
          </a:xfrm>
        </p:grpSpPr>
        <p:sp>
          <p:nvSpPr>
            <p:cNvPr id="53357" name="Rectangle 43">
              <a:extLst>
                <a:ext uri="{FF2B5EF4-FFF2-40B4-BE49-F238E27FC236}">
                  <a16:creationId xmlns:a16="http://schemas.microsoft.com/office/drawing/2014/main" id="{C0153E25-A3C9-4525-A16E-FD36A43CD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3358" name="Rectangle 44">
              <a:extLst>
                <a:ext uri="{FF2B5EF4-FFF2-40B4-BE49-F238E27FC236}">
                  <a16:creationId xmlns:a16="http://schemas.microsoft.com/office/drawing/2014/main" id="{AC343619-C41B-446C-948C-FE3881E0A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grpSp>
        <p:nvGrpSpPr>
          <p:cNvPr id="53277" name="Group 45">
            <a:extLst>
              <a:ext uri="{FF2B5EF4-FFF2-40B4-BE49-F238E27FC236}">
                <a16:creationId xmlns:a16="http://schemas.microsoft.com/office/drawing/2014/main" id="{5BA78BE7-E531-464C-835B-603A13A44C83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5526088"/>
            <a:ext cx="1160462" cy="646112"/>
            <a:chOff x="979" y="3264"/>
            <a:chExt cx="731" cy="407"/>
          </a:xfrm>
        </p:grpSpPr>
        <p:sp>
          <p:nvSpPr>
            <p:cNvPr id="53351" name="Rectangle 46">
              <a:extLst>
                <a:ext uri="{FF2B5EF4-FFF2-40B4-BE49-F238E27FC236}">
                  <a16:creationId xmlns:a16="http://schemas.microsoft.com/office/drawing/2014/main" id="{DDF0022A-8544-4F13-B4C5-FF9FC843B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3352" name="Line 47">
              <a:extLst>
                <a:ext uri="{FF2B5EF4-FFF2-40B4-BE49-F238E27FC236}">
                  <a16:creationId xmlns:a16="http://schemas.microsoft.com/office/drawing/2014/main" id="{02DD3EB4-B296-4008-9B1D-80FEC799E1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53" name="Rectangle 48">
              <a:extLst>
                <a:ext uri="{FF2B5EF4-FFF2-40B4-BE49-F238E27FC236}">
                  <a16:creationId xmlns:a16="http://schemas.microsoft.com/office/drawing/2014/main" id="{925EA1FB-E230-4EE3-8026-694B33EC82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54" name="Rectangle 49">
              <a:extLst>
                <a:ext uri="{FF2B5EF4-FFF2-40B4-BE49-F238E27FC236}">
                  <a16:creationId xmlns:a16="http://schemas.microsoft.com/office/drawing/2014/main" id="{194A5724-C596-4621-8F68-38E5929988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55" name="Rectangle 50">
              <a:extLst>
                <a:ext uri="{FF2B5EF4-FFF2-40B4-BE49-F238E27FC236}">
                  <a16:creationId xmlns:a16="http://schemas.microsoft.com/office/drawing/2014/main" id="{A0788276-4277-4067-A0E2-349BABCF2E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56" name="Rectangle 51">
              <a:extLst>
                <a:ext uri="{FF2B5EF4-FFF2-40B4-BE49-F238E27FC236}">
                  <a16:creationId xmlns:a16="http://schemas.microsoft.com/office/drawing/2014/main" id="{C41E0B05-1C09-404D-BC09-7C93AA0715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3278" name="Group 52">
            <a:extLst>
              <a:ext uri="{FF2B5EF4-FFF2-40B4-BE49-F238E27FC236}">
                <a16:creationId xmlns:a16="http://schemas.microsoft.com/office/drawing/2014/main" id="{F04C9820-F4FD-446A-9FC2-961CF306509D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1365250"/>
            <a:ext cx="1160462" cy="655638"/>
            <a:chOff x="979" y="643"/>
            <a:chExt cx="731" cy="413"/>
          </a:xfrm>
        </p:grpSpPr>
        <p:sp>
          <p:nvSpPr>
            <p:cNvPr id="53345" name="Rectangle 53">
              <a:extLst>
                <a:ext uri="{FF2B5EF4-FFF2-40B4-BE49-F238E27FC236}">
                  <a16:creationId xmlns:a16="http://schemas.microsoft.com/office/drawing/2014/main" id="{D86CE034-1AC8-4483-9DC4-ECD702D4A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3346" name="Line 54">
              <a:extLst>
                <a:ext uri="{FF2B5EF4-FFF2-40B4-BE49-F238E27FC236}">
                  <a16:creationId xmlns:a16="http://schemas.microsoft.com/office/drawing/2014/main" id="{A5DAF565-A7A9-4FD7-8FCD-556C906E71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47" name="Rectangle 55">
              <a:extLst>
                <a:ext uri="{FF2B5EF4-FFF2-40B4-BE49-F238E27FC236}">
                  <a16:creationId xmlns:a16="http://schemas.microsoft.com/office/drawing/2014/main" id="{6EAA4CC4-9FBC-469E-BC27-13B445D64D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48" name="Rectangle 56">
              <a:extLst>
                <a:ext uri="{FF2B5EF4-FFF2-40B4-BE49-F238E27FC236}">
                  <a16:creationId xmlns:a16="http://schemas.microsoft.com/office/drawing/2014/main" id="{3B5B904C-1886-4706-A0A3-47FDE3018C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49" name="Rectangle 57">
              <a:extLst>
                <a:ext uri="{FF2B5EF4-FFF2-40B4-BE49-F238E27FC236}">
                  <a16:creationId xmlns:a16="http://schemas.microsoft.com/office/drawing/2014/main" id="{58210336-946B-4827-8CE7-594AE4D215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50" name="Rectangle 58">
              <a:extLst>
                <a:ext uri="{FF2B5EF4-FFF2-40B4-BE49-F238E27FC236}">
                  <a16:creationId xmlns:a16="http://schemas.microsoft.com/office/drawing/2014/main" id="{940F147F-E60E-40BE-B0E6-8426885741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3279" name="Group 59">
            <a:extLst>
              <a:ext uri="{FF2B5EF4-FFF2-40B4-BE49-F238E27FC236}">
                <a16:creationId xmlns:a16="http://schemas.microsoft.com/office/drawing/2014/main" id="{3FA55655-7FEC-43FE-A049-266129FF2B1C}"/>
              </a:ext>
            </a:extLst>
          </p:cNvPr>
          <p:cNvGrpSpPr>
            <a:grpSpLocks/>
          </p:cNvGrpSpPr>
          <p:nvPr/>
        </p:nvGrpSpPr>
        <p:grpSpPr bwMode="auto">
          <a:xfrm>
            <a:off x="2716213" y="5526088"/>
            <a:ext cx="1160462" cy="646112"/>
            <a:chOff x="979" y="3264"/>
            <a:chExt cx="731" cy="407"/>
          </a:xfrm>
        </p:grpSpPr>
        <p:sp>
          <p:nvSpPr>
            <p:cNvPr id="53339" name="Rectangle 60">
              <a:extLst>
                <a:ext uri="{FF2B5EF4-FFF2-40B4-BE49-F238E27FC236}">
                  <a16:creationId xmlns:a16="http://schemas.microsoft.com/office/drawing/2014/main" id="{F6EF5826-9ED3-469A-90DE-E58B65B0F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3340" name="Line 61">
              <a:extLst>
                <a:ext uri="{FF2B5EF4-FFF2-40B4-BE49-F238E27FC236}">
                  <a16:creationId xmlns:a16="http://schemas.microsoft.com/office/drawing/2014/main" id="{40033EA7-8B3D-4964-8CC8-B4A3644443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41" name="Rectangle 62">
              <a:extLst>
                <a:ext uri="{FF2B5EF4-FFF2-40B4-BE49-F238E27FC236}">
                  <a16:creationId xmlns:a16="http://schemas.microsoft.com/office/drawing/2014/main" id="{9D14DA60-A7CE-477C-AC52-9E76866BBC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42" name="Rectangle 63">
              <a:extLst>
                <a:ext uri="{FF2B5EF4-FFF2-40B4-BE49-F238E27FC236}">
                  <a16:creationId xmlns:a16="http://schemas.microsoft.com/office/drawing/2014/main" id="{C444893D-FECE-4BC3-87EB-7001AB3053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43" name="Rectangle 64">
              <a:extLst>
                <a:ext uri="{FF2B5EF4-FFF2-40B4-BE49-F238E27FC236}">
                  <a16:creationId xmlns:a16="http://schemas.microsoft.com/office/drawing/2014/main" id="{CBDED31C-E6B4-4A3F-B013-8A245BF820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44" name="Rectangle 65">
              <a:extLst>
                <a:ext uri="{FF2B5EF4-FFF2-40B4-BE49-F238E27FC236}">
                  <a16:creationId xmlns:a16="http://schemas.microsoft.com/office/drawing/2014/main" id="{2D249C38-265A-43E5-B66B-20CD036F79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3280" name="Group 66">
            <a:extLst>
              <a:ext uri="{FF2B5EF4-FFF2-40B4-BE49-F238E27FC236}">
                <a16:creationId xmlns:a16="http://schemas.microsoft.com/office/drawing/2014/main" id="{7AFB5FF3-B240-4FB1-9538-37ED602D5F8A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5526088"/>
            <a:ext cx="1160463" cy="646112"/>
            <a:chOff x="979" y="3264"/>
            <a:chExt cx="731" cy="407"/>
          </a:xfrm>
        </p:grpSpPr>
        <p:sp>
          <p:nvSpPr>
            <p:cNvPr id="53333" name="Rectangle 67">
              <a:extLst>
                <a:ext uri="{FF2B5EF4-FFF2-40B4-BE49-F238E27FC236}">
                  <a16:creationId xmlns:a16="http://schemas.microsoft.com/office/drawing/2014/main" id="{8ABE1578-27B6-4FFC-9086-DA7EC5652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3334" name="Line 68">
              <a:extLst>
                <a:ext uri="{FF2B5EF4-FFF2-40B4-BE49-F238E27FC236}">
                  <a16:creationId xmlns:a16="http://schemas.microsoft.com/office/drawing/2014/main" id="{8A9BCDF7-CBF7-49E2-B6B6-58E78F7BFC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5" name="Rectangle 69">
              <a:extLst>
                <a:ext uri="{FF2B5EF4-FFF2-40B4-BE49-F238E27FC236}">
                  <a16:creationId xmlns:a16="http://schemas.microsoft.com/office/drawing/2014/main" id="{0BFE57DB-3540-4DE4-A028-7A984300D6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36" name="Rectangle 70">
              <a:extLst>
                <a:ext uri="{FF2B5EF4-FFF2-40B4-BE49-F238E27FC236}">
                  <a16:creationId xmlns:a16="http://schemas.microsoft.com/office/drawing/2014/main" id="{EFD1A1A1-C074-458E-A8AA-B24C278CBE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37" name="Rectangle 71">
              <a:extLst>
                <a:ext uri="{FF2B5EF4-FFF2-40B4-BE49-F238E27FC236}">
                  <a16:creationId xmlns:a16="http://schemas.microsoft.com/office/drawing/2014/main" id="{88379935-97BA-4464-9517-6E32D8C31E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38" name="Rectangle 72">
              <a:extLst>
                <a:ext uri="{FF2B5EF4-FFF2-40B4-BE49-F238E27FC236}">
                  <a16:creationId xmlns:a16="http://schemas.microsoft.com/office/drawing/2014/main" id="{7EAB59FB-99FB-4424-976E-C55A8FBF1B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3281" name="Group 73">
            <a:extLst>
              <a:ext uri="{FF2B5EF4-FFF2-40B4-BE49-F238E27FC236}">
                <a16:creationId xmlns:a16="http://schemas.microsoft.com/office/drawing/2014/main" id="{1C77175E-FFB0-47CA-84E7-F8F1A1006A3D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5526088"/>
            <a:ext cx="1160462" cy="646112"/>
            <a:chOff x="979" y="3264"/>
            <a:chExt cx="731" cy="407"/>
          </a:xfrm>
        </p:grpSpPr>
        <p:sp>
          <p:nvSpPr>
            <p:cNvPr id="53327" name="Rectangle 74">
              <a:extLst>
                <a:ext uri="{FF2B5EF4-FFF2-40B4-BE49-F238E27FC236}">
                  <a16:creationId xmlns:a16="http://schemas.microsoft.com/office/drawing/2014/main" id="{F59440BB-E0B7-4822-B9E0-550325D23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3328" name="Line 75">
              <a:extLst>
                <a:ext uri="{FF2B5EF4-FFF2-40B4-BE49-F238E27FC236}">
                  <a16:creationId xmlns:a16="http://schemas.microsoft.com/office/drawing/2014/main" id="{21089435-3FFB-45E9-86E4-7A3F144278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9" name="Rectangle 76">
              <a:extLst>
                <a:ext uri="{FF2B5EF4-FFF2-40B4-BE49-F238E27FC236}">
                  <a16:creationId xmlns:a16="http://schemas.microsoft.com/office/drawing/2014/main" id="{594C9678-431B-4B88-9A33-AF35975067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30" name="Rectangle 77">
              <a:extLst>
                <a:ext uri="{FF2B5EF4-FFF2-40B4-BE49-F238E27FC236}">
                  <a16:creationId xmlns:a16="http://schemas.microsoft.com/office/drawing/2014/main" id="{16D79FAA-0AD7-4A97-85ED-0CA3BB76F9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31" name="Rectangle 78">
              <a:extLst>
                <a:ext uri="{FF2B5EF4-FFF2-40B4-BE49-F238E27FC236}">
                  <a16:creationId xmlns:a16="http://schemas.microsoft.com/office/drawing/2014/main" id="{947877BA-1B81-4ABF-8C75-6030DE46C1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32" name="Rectangle 79">
              <a:extLst>
                <a:ext uri="{FF2B5EF4-FFF2-40B4-BE49-F238E27FC236}">
                  <a16:creationId xmlns:a16="http://schemas.microsoft.com/office/drawing/2014/main" id="{E1A4166D-1510-47F3-9181-51EA77BBF6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3282" name="Group 80">
            <a:extLst>
              <a:ext uri="{FF2B5EF4-FFF2-40B4-BE49-F238E27FC236}">
                <a16:creationId xmlns:a16="http://schemas.microsoft.com/office/drawing/2014/main" id="{46A938DA-E1FC-468D-8B5F-117C97C3CC8F}"/>
              </a:ext>
            </a:extLst>
          </p:cNvPr>
          <p:cNvGrpSpPr>
            <a:grpSpLocks/>
          </p:cNvGrpSpPr>
          <p:nvPr/>
        </p:nvGrpSpPr>
        <p:grpSpPr bwMode="auto">
          <a:xfrm>
            <a:off x="2716213" y="1363663"/>
            <a:ext cx="1160462" cy="655637"/>
            <a:chOff x="979" y="643"/>
            <a:chExt cx="731" cy="413"/>
          </a:xfrm>
        </p:grpSpPr>
        <p:sp>
          <p:nvSpPr>
            <p:cNvPr id="53321" name="Rectangle 81">
              <a:extLst>
                <a:ext uri="{FF2B5EF4-FFF2-40B4-BE49-F238E27FC236}">
                  <a16:creationId xmlns:a16="http://schemas.microsoft.com/office/drawing/2014/main" id="{0F4A30EA-81C6-436F-A442-C518AB0EB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3322" name="Line 82">
              <a:extLst>
                <a:ext uri="{FF2B5EF4-FFF2-40B4-BE49-F238E27FC236}">
                  <a16:creationId xmlns:a16="http://schemas.microsoft.com/office/drawing/2014/main" id="{1E3F0B2F-3CE4-4F0E-80CF-DE7AEE0992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3" name="Rectangle 83">
              <a:extLst>
                <a:ext uri="{FF2B5EF4-FFF2-40B4-BE49-F238E27FC236}">
                  <a16:creationId xmlns:a16="http://schemas.microsoft.com/office/drawing/2014/main" id="{8A47E496-E1E4-4C51-A8DE-FF255B568C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24" name="Rectangle 84">
              <a:extLst>
                <a:ext uri="{FF2B5EF4-FFF2-40B4-BE49-F238E27FC236}">
                  <a16:creationId xmlns:a16="http://schemas.microsoft.com/office/drawing/2014/main" id="{74F5F6DC-36F2-438C-AFE6-44C0C20E61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25" name="Rectangle 85">
              <a:extLst>
                <a:ext uri="{FF2B5EF4-FFF2-40B4-BE49-F238E27FC236}">
                  <a16:creationId xmlns:a16="http://schemas.microsoft.com/office/drawing/2014/main" id="{12848747-BA1A-46BF-A4BB-B0B1C25285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26" name="Rectangle 86">
              <a:extLst>
                <a:ext uri="{FF2B5EF4-FFF2-40B4-BE49-F238E27FC236}">
                  <a16:creationId xmlns:a16="http://schemas.microsoft.com/office/drawing/2014/main" id="{EB57CC0B-63D2-4160-AD30-33D126333B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3283" name="Group 87">
            <a:extLst>
              <a:ext uri="{FF2B5EF4-FFF2-40B4-BE49-F238E27FC236}">
                <a16:creationId xmlns:a16="http://schemas.microsoft.com/office/drawing/2014/main" id="{26E28BC1-A92D-43E0-B58C-2A9AB75251A6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1365250"/>
            <a:ext cx="1160463" cy="655638"/>
            <a:chOff x="979" y="643"/>
            <a:chExt cx="731" cy="413"/>
          </a:xfrm>
        </p:grpSpPr>
        <p:sp>
          <p:nvSpPr>
            <p:cNvPr id="53315" name="Rectangle 88">
              <a:extLst>
                <a:ext uri="{FF2B5EF4-FFF2-40B4-BE49-F238E27FC236}">
                  <a16:creationId xmlns:a16="http://schemas.microsoft.com/office/drawing/2014/main" id="{1EDAD1B4-0104-4FC6-9E09-1A32DD53F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3316" name="Line 89">
              <a:extLst>
                <a:ext uri="{FF2B5EF4-FFF2-40B4-BE49-F238E27FC236}">
                  <a16:creationId xmlns:a16="http://schemas.microsoft.com/office/drawing/2014/main" id="{081271B0-FCA0-44CC-9448-1EFAB95E0B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7" name="Rectangle 90">
              <a:extLst>
                <a:ext uri="{FF2B5EF4-FFF2-40B4-BE49-F238E27FC236}">
                  <a16:creationId xmlns:a16="http://schemas.microsoft.com/office/drawing/2014/main" id="{8C2EFC13-7FDF-454A-9E21-5BDE9D791A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18" name="Rectangle 91">
              <a:extLst>
                <a:ext uri="{FF2B5EF4-FFF2-40B4-BE49-F238E27FC236}">
                  <a16:creationId xmlns:a16="http://schemas.microsoft.com/office/drawing/2014/main" id="{3BB072F3-346E-470A-84A0-01F8712CF6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19" name="Rectangle 92">
              <a:extLst>
                <a:ext uri="{FF2B5EF4-FFF2-40B4-BE49-F238E27FC236}">
                  <a16:creationId xmlns:a16="http://schemas.microsoft.com/office/drawing/2014/main" id="{C0768F28-411B-4CF5-8A91-BAFDB0AEA8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20" name="Rectangle 93">
              <a:extLst>
                <a:ext uri="{FF2B5EF4-FFF2-40B4-BE49-F238E27FC236}">
                  <a16:creationId xmlns:a16="http://schemas.microsoft.com/office/drawing/2014/main" id="{C5428B70-8CBB-428B-BEE4-62E5570680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3284" name="Group 94">
            <a:extLst>
              <a:ext uri="{FF2B5EF4-FFF2-40B4-BE49-F238E27FC236}">
                <a16:creationId xmlns:a16="http://schemas.microsoft.com/office/drawing/2014/main" id="{4EE4BB82-BAB4-42D8-AEE9-B73466324F59}"/>
              </a:ext>
            </a:extLst>
          </p:cNvPr>
          <p:cNvGrpSpPr>
            <a:grpSpLocks/>
          </p:cNvGrpSpPr>
          <p:nvPr/>
        </p:nvGrpSpPr>
        <p:grpSpPr bwMode="auto">
          <a:xfrm>
            <a:off x="5038725" y="1363663"/>
            <a:ext cx="1160463" cy="655637"/>
            <a:chOff x="979" y="643"/>
            <a:chExt cx="731" cy="413"/>
          </a:xfrm>
        </p:grpSpPr>
        <p:sp>
          <p:nvSpPr>
            <p:cNvPr id="53309" name="Rectangle 95">
              <a:extLst>
                <a:ext uri="{FF2B5EF4-FFF2-40B4-BE49-F238E27FC236}">
                  <a16:creationId xmlns:a16="http://schemas.microsoft.com/office/drawing/2014/main" id="{3A4CBF37-6B98-44E1-A015-1B3ABC7BB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3310" name="Line 96">
              <a:extLst>
                <a:ext uri="{FF2B5EF4-FFF2-40B4-BE49-F238E27FC236}">
                  <a16:creationId xmlns:a16="http://schemas.microsoft.com/office/drawing/2014/main" id="{8F8F0686-497C-40BE-8036-B95DDF4141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1" name="Rectangle 97">
              <a:extLst>
                <a:ext uri="{FF2B5EF4-FFF2-40B4-BE49-F238E27FC236}">
                  <a16:creationId xmlns:a16="http://schemas.microsoft.com/office/drawing/2014/main" id="{D357765F-4895-4BEB-A422-AF47EE85B4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12" name="Rectangle 98">
              <a:extLst>
                <a:ext uri="{FF2B5EF4-FFF2-40B4-BE49-F238E27FC236}">
                  <a16:creationId xmlns:a16="http://schemas.microsoft.com/office/drawing/2014/main" id="{6828CFF2-274D-46AA-9E93-E6F9959A58B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13" name="Rectangle 99">
              <a:extLst>
                <a:ext uri="{FF2B5EF4-FFF2-40B4-BE49-F238E27FC236}">
                  <a16:creationId xmlns:a16="http://schemas.microsoft.com/office/drawing/2014/main" id="{CC8E9478-1EBA-4197-93C9-4D57E835B9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14" name="Rectangle 100">
              <a:extLst>
                <a:ext uri="{FF2B5EF4-FFF2-40B4-BE49-F238E27FC236}">
                  <a16:creationId xmlns:a16="http://schemas.microsoft.com/office/drawing/2014/main" id="{3B97E9CD-230F-4E64-9E86-3A41DD4310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3285" name="Rectangle 101">
            <a:extLst>
              <a:ext uri="{FF2B5EF4-FFF2-40B4-BE49-F238E27FC236}">
                <a16:creationId xmlns:a16="http://schemas.microsoft.com/office/drawing/2014/main" id="{4529E933-EF34-448D-8249-95DF59F6E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4002088"/>
            <a:ext cx="363537" cy="1524000"/>
          </a:xfrm>
          <a:prstGeom prst="rect">
            <a:avLst/>
          </a:prstGeom>
          <a:solidFill>
            <a:srgbClr val="006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RE</a:t>
            </a:r>
            <a:endParaRPr lang="en-US" altLang="zh-CN" sz="1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286" name="Rectangle 102">
            <a:extLst>
              <a:ext uri="{FF2B5EF4-FFF2-40B4-BE49-F238E27FC236}">
                <a16:creationId xmlns:a16="http://schemas.microsoft.com/office/drawing/2014/main" id="{093F98E4-2487-4FE3-82D2-DD8EFC162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2020888"/>
            <a:ext cx="363537" cy="1524000"/>
          </a:xfrm>
          <a:prstGeom prst="rect">
            <a:avLst/>
          </a:prstGeom>
          <a:solidFill>
            <a:srgbClr val="006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HE</a:t>
            </a:r>
            <a:endParaRPr lang="en-US" altLang="zh-CN" sz="1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287" name="Rectangle 103">
            <a:extLst>
              <a:ext uri="{FF2B5EF4-FFF2-40B4-BE49-F238E27FC236}">
                <a16:creationId xmlns:a16="http://schemas.microsoft.com/office/drawing/2014/main" id="{23DC18A1-D70B-4C00-B059-0092A1C4E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2020888"/>
            <a:ext cx="434975" cy="3505200"/>
          </a:xfrm>
          <a:prstGeom prst="rect">
            <a:avLst/>
          </a:prstGeom>
          <a:solidFill>
            <a:srgbClr val="00D8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288" name="Text Box 104">
            <a:extLst>
              <a:ext uri="{FF2B5EF4-FFF2-40B4-BE49-F238E27FC236}">
                <a16:creationId xmlns:a16="http://schemas.microsoft.com/office/drawing/2014/main" id="{94CABB7C-0635-4475-B927-09BE922D7838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80219" y="3593307"/>
            <a:ext cx="920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</a:p>
        </p:txBody>
      </p:sp>
      <p:sp>
        <p:nvSpPr>
          <p:cNvPr id="53289" name="Line 105">
            <a:extLst>
              <a:ext uri="{FF2B5EF4-FFF2-40B4-BE49-F238E27FC236}">
                <a16:creationId xmlns:a16="http://schemas.microsoft.com/office/drawing/2014/main" id="{A9FCDC49-27B8-48D4-8571-58C420C09E97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12763" y="4241800"/>
            <a:ext cx="0" cy="508000"/>
          </a:xfrm>
          <a:prstGeom prst="line">
            <a:avLst/>
          </a:prstGeom>
          <a:noFill/>
          <a:ln w="38100">
            <a:solidFill>
              <a:srgbClr val="00D8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0" name="Line 106">
            <a:extLst>
              <a:ext uri="{FF2B5EF4-FFF2-40B4-BE49-F238E27FC236}">
                <a16:creationId xmlns:a16="http://schemas.microsoft.com/office/drawing/2014/main" id="{AA380687-818F-4D87-85E1-18FCC9965789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12763" y="2260600"/>
            <a:ext cx="0" cy="508000"/>
          </a:xfrm>
          <a:prstGeom prst="line">
            <a:avLst/>
          </a:prstGeom>
          <a:noFill/>
          <a:ln w="38100">
            <a:solidFill>
              <a:srgbClr val="00D8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1" name="Line 107">
            <a:extLst>
              <a:ext uri="{FF2B5EF4-FFF2-40B4-BE49-F238E27FC236}">
                <a16:creationId xmlns:a16="http://schemas.microsoft.com/office/drawing/2014/main" id="{4E7A54D4-4D15-4442-95A0-06E7C711060D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12763" y="3581400"/>
            <a:ext cx="0" cy="508000"/>
          </a:xfrm>
          <a:prstGeom prst="line">
            <a:avLst/>
          </a:prstGeom>
          <a:noFill/>
          <a:ln w="38100">
            <a:solidFill>
              <a:srgbClr val="00D8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2" name="Line 108">
            <a:extLst>
              <a:ext uri="{FF2B5EF4-FFF2-40B4-BE49-F238E27FC236}">
                <a16:creationId xmlns:a16="http://schemas.microsoft.com/office/drawing/2014/main" id="{2FEFB59A-07DA-49A4-9571-C6A1E5F58C6E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12763" y="2921000"/>
            <a:ext cx="0" cy="508000"/>
          </a:xfrm>
          <a:prstGeom prst="line">
            <a:avLst/>
          </a:prstGeom>
          <a:noFill/>
          <a:ln w="38100">
            <a:solidFill>
              <a:srgbClr val="00D8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93" name="Text Box 109">
            <a:extLst>
              <a:ext uri="{FF2B5EF4-FFF2-40B4-BE49-F238E27FC236}">
                <a16:creationId xmlns:a16="http://schemas.microsoft.com/office/drawing/2014/main" id="{AEBCB3C7-DEDC-47A7-A5A5-31DCB50CE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" y="1819275"/>
            <a:ext cx="101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rgbClr val="000000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4 Links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rgbClr val="000000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@ 8GB/s</a:t>
            </a:r>
            <a:endParaRPr lang="en-US" altLang="zh-CN" sz="16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294" name="Picture 110" descr="piranh_b">
            <a:extLst>
              <a:ext uri="{FF2B5EF4-FFF2-40B4-BE49-F238E27FC236}">
                <a16:creationId xmlns:a16="http://schemas.microsoft.com/office/drawing/2014/main" id="{925BD89A-F6A0-40E6-B9F3-3AB72FAB5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50" y="6205538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95" name="Picture 111" descr="piranh_b">
            <a:extLst>
              <a:ext uri="{FF2B5EF4-FFF2-40B4-BE49-F238E27FC236}">
                <a16:creationId xmlns:a16="http://schemas.microsoft.com/office/drawing/2014/main" id="{0103E8D4-285A-4F41-AE87-F3E96E123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50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96" name="Picture 112" descr="piranh_b">
            <a:extLst>
              <a:ext uri="{FF2B5EF4-FFF2-40B4-BE49-F238E27FC236}">
                <a16:creationId xmlns:a16="http://schemas.microsoft.com/office/drawing/2014/main" id="{F3F5539D-D7CC-40DD-AB34-082A53DDC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450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97" name="Picture 113" descr="piranh_b">
            <a:extLst>
              <a:ext uri="{FF2B5EF4-FFF2-40B4-BE49-F238E27FC236}">
                <a16:creationId xmlns:a16="http://schemas.microsoft.com/office/drawing/2014/main" id="{7B0F421E-E4F4-4977-9166-D9843294C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63" y="6205538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98" name="Picture 114" descr="piranh_b">
            <a:extLst>
              <a:ext uri="{FF2B5EF4-FFF2-40B4-BE49-F238E27FC236}">
                <a16:creationId xmlns:a16="http://schemas.microsoft.com/office/drawing/2014/main" id="{B0ECC957-E4B6-4990-ACD7-52D31AC4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663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99" name="Picture 115" descr="piranh_b">
            <a:extLst>
              <a:ext uri="{FF2B5EF4-FFF2-40B4-BE49-F238E27FC236}">
                <a16:creationId xmlns:a16="http://schemas.microsoft.com/office/drawing/2014/main" id="{9B5C2578-3ED1-4275-9D93-0A2C017D9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3" y="6205538"/>
            <a:ext cx="3286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0" name="Picture 116" descr="piranh_b">
            <a:extLst>
              <a:ext uri="{FF2B5EF4-FFF2-40B4-BE49-F238E27FC236}">
                <a16:creationId xmlns:a16="http://schemas.microsoft.com/office/drawing/2014/main" id="{AA8A3B2A-E55D-4647-81F7-5FED225CB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75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1" name="Picture 117" descr="piranh_b">
            <a:extLst>
              <a:ext uri="{FF2B5EF4-FFF2-40B4-BE49-F238E27FC236}">
                <a16:creationId xmlns:a16="http://schemas.microsoft.com/office/drawing/2014/main" id="{A6CCB6D0-7EFD-407E-A746-E5E69F330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5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2" name="Picture 118" descr="piranh_b">
            <a:extLst>
              <a:ext uri="{FF2B5EF4-FFF2-40B4-BE49-F238E27FC236}">
                <a16:creationId xmlns:a16="http://schemas.microsoft.com/office/drawing/2014/main" id="{1DA9667C-C357-4DA2-A2D6-6A232ECDA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6205538"/>
            <a:ext cx="3286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3" name="Picture 119" descr="piranh_b">
            <a:extLst>
              <a:ext uri="{FF2B5EF4-FFF2-40B4-BE49-F238E27FC236}">
                <a16:creationId xmlns:a16="http://schemas.microsoft.com/office/drawing/2014/main" id="{7FD85AD0-4249-4219-9E37-7DE6CBE94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8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4" name="Picture 120" descr="piranh_b">
            <a:extLst>
              <a:ext uri="{FF2B5EF4-FFF2-40B4-BE49-F238E27FC236}">
                <a16:creationId xmlns:a16="http://schemas.microsoft.com/office/drawing/2014/main" id="{D32F8C82-313C-4A20-B177-0E9F352A5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300" y="6205538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5" name="Picture 121" descr="piranh_b">
            <a:extLst>
              <a:ext uri="{FF2B5EF4-FFF2-40B4-BE49-F238E27FC236}">
                <a16:creationId xmlns:a16="http://schemas.microsoft.com/office/drawing/2014/main" id="{180B700F-24B3-463A-B0B5-095D24EA1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6" name="Picture 122" descr="piranh_b">
            <a:extLst>
              <a:ext uri="{FF2B5EF4-FFF2-40B4-BE49-F238E27FC236}">
                <a16:creationId xmlns:a16="http://schemas.microsoft.com/office/drawing/2014/main" id="{E1B44F28-A4BB-4A83-AF40-9DB619778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7" name="Picture 123" descr="piranh_b">
            <a:extLst>
              <a:ext uri="{FF2B5EF4-FFF2-40B4-BE49-F238E27FC236}">
                <a16:creationId xmlns:a16="http://schemas.microsoft.com/office/drawing/2014/main" id="{261ECC78-13A8-4866-BAFB-911217EBD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3" y="6205538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08" name="Picture 124" descr="piranh_b">
            <a:extLst>
              <a:ext uri="{FF2B5EF4-FFF2-40B4-BE49-F238E27FC236}">
                <a16:creationId xmlns:a16="http://schemas.microsoft.com/office/drawing/2014/main" id="{67EC5406-9680-47C6-97F5-A45DD70AA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620553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46DA059-AB31-41D2-A987-6B289504F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D73025E5-5AD8-431C-AB1D-7E44E2DA0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997075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55300" name="Text Box 4">
            <a:extLst>
              <a:ext uri="{FF2B5EF4-FFF2-40B4-BE49-F238E27FC236}">
                <a16:creationId xmlns:a16="http://schemas.microsoft.com/office/drawing/2014/main" id="{68D58A7A-A645-4F36-B039-7C4CB1908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63675"/>
            <a:ext cx="25908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core: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1-issue, in-order,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500MHz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 caches: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I&amp;D, 64KB, 2-way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Intra-chip switch (ICS)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32GB/sec, 1-cycle delay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 cache: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shared, 1MB, 8-way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Controller (MC)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RDRAM, 12.8GB/sec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 Engines (HE &amp; RE):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prog., 1K </a:t>
            </a: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instr.,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even/odd interleaving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Interconnect: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4-port Xbar router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topology independent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32GB/sec total bandwidth</a:t>
            </a:r>
            <a:endParaRPr lang="en-US" altLang="zh-CN" sz="1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grpSp>
        <p:nvGrpSpPr>
          <p:cNvPr id="55301" name="Group 5">
            <a:extLst>
              <a:ext uri="{FF2B5EF4-FFF2-40B4-BE49-F238E27FC236}">
                <a16:creationId xmlns:a16="http://schemas.microsoft.com/office/drawing/2014/main" id="{0E3A6F8A-FF04-4FAF-A8A6-F4E03A86EE9F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2454275"/>
            <a:ext cx="579437" cy="1066800"/>
            <a:chOff x="979" y="1344"/>
            <a:chExt cx="365" cy="672"/>
          </a:xfrm>
        </p:grpSpPr>
        <p:sp>
          <p:nvSpPr>
            <p:cNvPr id="55420" name="Rectangle 6">
              <a:extLst>
                <a:ext uri="{FF2B5EF4-FFF2-40B4-BE49-F238E27FC236}">
                  <a16:creationId xmlns:a16="http://schemas.microsoft.com/office/drawing/2014/main" id="{305515CB-DADB-4B88-966F-88E8E8327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5421" name="Rectangle 7">
              <a:extLst>
                <a:ext uri="{FF2B5EF4-FFF2-40B4-BE49-F238E27FC236}">
                  <a16:creationId xmlns:a16="http://schemas.microsoft.com/office/drawing/2014/main" id="{3E95B05C-84A4-4B65-89DD-A089F1CBF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5302" name="Rectangle 8">
            <a:extLst>
              <a:ext uri="{FF2B5EF4-FFF2-40B4-BE49-F238E27FC236}">
                <a16:creationId xmlns:a16="http://schemas.microsoft.com/office/drawing/2014/main" id="{67B5469B-D1E8-4227-9D12-B962E4BBF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397827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5303" name="Rectangle 9">
            <a:extLst>
              <a:ext uri="{FF2B5EF4-FFF2-40B4-BE49-F238E27FC236}">
                <a16:creationId xmlns:a16="http://schemas.microsoft.com/office/drawing/2014/main" id="{08A9CACA-BB29-4BA2-ACF0-876930474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521075"/>
            <a:ext cx="5006975" cy="457200"/>
          </a:xfrm>
          <a:prstGeom prst="rect">
            <a:avLst/>
          </a:prstGeom>
          <a:solidFill>
            <a:srgbClr val="CC6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ICS</a:t>
            </a:r>
          </a:p>
        </p:txBody>
      </p:sp>
      <p:sp>
        <p:nvSpPr>
          <p:cNvPr id="55304" name="Rectangle 10">
            <a:extLst>
              <a:ext uri="{FF2B5EF4-FFF2-40B4-BE49-F238E27FC236}">
                <a16:creationId xmlns:a16="http://schemas.microsoft.com/office/drawing/2014/main" id="{1FE8ADF2-3922-432E-BBFE-D69A1A49F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4507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5305" name="Group 11">
            <a:extLst>
              <a:ext uri="{FF2B5EF4-FFF2-40B4-BE49-F238E27FC236}">
                <a16:creationId xmlns:a16="http://schemas.microsoft.com/office/drawing/2014/main" id="{03BD0281-07D1-48BC-B5B2-C4A0BBB3227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978275"/>
            <a:ext cx="579438" cy="1066800"/>
            <a:chOff x="979" y="1344"/>
            <a:chExt cx="365" cy="672"/>
          </a:xfrm>
        </p:grpSpPr>
        <p:sp>
          <p:nvSpPr>
            <p:cNvPr id="55418" name="Rectangle 12">
              <a:extLst>
                <a:ext uri="{FF2B5EF4-FFF2-40B4-BE49-F238E27FC236}">
                  <a16:creationId xmlns:a16="http://schemas.microsoft.com/office/drawing/2014/main" id="{D7544228-64FB-48CC-80CE-4913670C0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5419" name="Rectangle 13">
              <a:extLst>
                <a:ext uri="{FF2B5EF4-FFF2-40B4-BE49-F238E27FC236}">
                  <a16:creationId xmlns:a16="http://schemas.microsoft.com/office/drawing/2014/main" id="{4F16A004-9822-4298-A882-29BE31B8B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5306" name="Rectangle 14">
            <a:extLst>
              <a:ext uri="{FF2B5EF4-FFF2-40B4-BE49-F238E27FC236}">
                <a16:creationId xmlns:a16="http://schemas.microsoft.com/office/drawing/2014/main" id="{248D502F-A5D2-4EAA-B65E-795FD3A5D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99707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5307" name="Rectangle 15">
            <a:extLst>
              <a:ext uri="{FF2B5EF4-FFF2-40B4-BE49-F238E27FC236}">
                <a16:creationId xmlns:a16="http://schemas.microsoft.com/office/drawing/2014/main" id="{7E426565-F79B-4CB4-9FBF-19D86D186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397827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5308" name="Rectangle 16">
            <a:extLst>
              <a:ext uri="{FF2B5EF4-FFF2-40B4-BE49-F238E27FC236}">
                <a16:creationId xmlns:a16="http://schemas.microsoft.com/office/drawing/2014/main" id="{CE5827CA-BB53-4796-99AF-D3FFD42A3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504507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5309" name="Group 17">
            <a:extLst>
              <a:ext uri="{FF2B5EF4-FFF2-40B4-BE49-F238E27FC236}">
                <a16:creationId xmlns:a16="http://schemas.microsoft.com/office/drawing/2014/main" id="{AB0F809D-1B57-451F-8278-67DBB832BBB9}"/>
              </a:ext>
            </a:extLst>
          </p:cNvPr>
          <p:cNvGrpSpPr>
            <a:grpSpLocks/>
          </p:cNvGrpSpPr>
          <p:nvPr/>
        </p:nvGrpSpPr>
        <p:grpSpPr bwMode="auto">
          <a:xfrm>
            <a:off x="3295650" y="3978275"/>
            <a:ext cx="579438" cy="1066800"/>
            <a:chOff x="979" y="1344"/>
            <a:chExt cx="365" cy="672"/>
          </a:xfrm>
        </p:grpSpPr>
        <p:sp>
          <p:nvSpPr>
            <p:cNvPr id="55416" name="Rectangle 18">
              <a:extLst>
                <a:ext uri="{FF2B5EF4-FFF2-40B4-BE49-F238E27FC236}">
                  <a16:creationId xmlns:a16="http://schemas.microsoft.com/office/drawing/2014/main" id="{21F7A6E7-220C-4F90-BD26-E0E5A8C53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5417" name="Rectangle 19">
              <a:extLst>
                <a:ext uri="{FF2B5EF4-FFF2-40B4-BE49-F238E27FC236}">
                  <a16:creationId xmlns:a16="http://schemas.microsoft.com/office/drawing/2014/main" id="{97281C11-668B-494C-A00B-C8B66FFF1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5310" name="Rectangle 20">
            <a:extLst>
              <a:ext uri="{FF2B5EF4-FFF2-40B4-BE49-F238E27FC236}">
                <a16:creationId xmlns:a16="http://schemas.microsoft.com/office/drawing/2014/main" id="{78B637C1-DEAC-4D55-A12C-3D6FC1A65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99707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5311" name="Group 21">
            <a:extLst>
              <a:ext uri="{FF2B5EF4-FFF2-40B4-BE49-F238E27FC236}">
                <a16:creationId xmlns:a16="http://schemas.microsoft.com/office/drawing/2014/main" id="{6BE78E2F-94AF-42E9-87E4-BB87F8BC3A6E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2454275"/>
            <a:ext cx="579438" cy="1066800"/>
            <a:chOff x="979" y="1344"/>
            <a:chExt cx="365" cy="672"/>
          </a:xfrm>
        </p:grpSpPr>
        <p:sp>
          <p:nvSpPr>
            <p:cNvPr id="55414" name="Rectangle 22">
              <a:extLst>
                <a:ext uri="{FF2B5EF4-FFF2-40B4-BE49-F238E27FC236}">
                  <a16:creationId xmlns:a16="http://schemas.microsoft.com/office/drawing/2014/main" id="{5F37DF98-C423-4604-837A-CAF7F43EF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5415" name="Rectangle 23">
              <a:extLst>
                <a:ext uri="{FF2B5EF4-FFF2-40B4-BE49-F238E27FC236}">
                  <a16:creationId xmlns:a16="http://schemas.microsoft.com/office/drawing/2014/main" id="{AA876105-321E-48CA-8F36-458425615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5312" name="Rectangle 24">
            <a:extLst>
              <a:ext uri="{FF2B5EF4-FFF2-40B4-BE49-F238E27FC236}">
                <a16:creationId xmlns:a16="http://schemas.microsoft.com/office/drawing/2014/main" id="{CDFC379D-6878-4FDC-A207-8C598AAB9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1997075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5313" name="Rectangle 25">
            <a:extLst>
              <a:ext uri="{FF2B5EF4-FFF2-40B4-BE49-F238E27FC236}">
                <a16:creationId xmlns:a16="http://schemas.microsoft.com/office/drawing/2014/main" id="{1D9EF132-CB6C-406D-8E88-DF4E9C4F2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199707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5314" name="Group 26">
            <a:extLst>
              <a:ext uri="{FF2B5EF4-FFF2-40B4-BE49-F238E27FC236}">
                <a16:creationId xmlns:a16="http://schemas.microsoft.com/office/drawing/2014/main" id="{738D43DF-45AC-4150-9B74-86357FE95AFB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2454275"/>
            <a:ext cx="579438" cy="1066800"/>
            <a:chOff x="979" y="1344"/>
            <a:chExt cx="365" cy="672"/>
          </a:xfrm>
        </p:grpSpPr>
        <p:sp>
          <p:nvSpPr>
            <p:cNvPr id="55412" name="Rectangle 27">
              <a:extLst>
                <a:ext uri="{FF2B5EF4-FFF2-40B4-BE49-F238E27FC236}">
                  <a16:creationId xmlns:a16="http://schemas.microsoft.com/office/drawing/2014/main" id="{61402898-3165-4740-857F-1B75C8AE4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5413" name="Rectangle 28">
              <a:extLst>
                <a:ext uri="{FF2B5EF4-FFF2-40B4-BE49-F238E27FC236}">
                  <a16:creationId xmlns:a16="http://schemas.microsoft.com/office/drawing/2014/main" id="{E7DCC74A-573F-4DD8-A6D1-683C4849F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5315" name="Rectangle 29">
            <a:extLst>
              <a:ext uri="{FF2B5EF4-FFF2-40B4-BE49-F238E27FC236}">
                <a16:creationId xmlns:a16="http://schemas.microsoft.com/office/drawing/2014/main" id="{D2A4A4D4-7352-43D0-BD87-956D11102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1997075"/>
            <a:ext cx="579437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5316" name="Rectangle 30">
            <a:extLst>
              <a:ext uri="{FF2B5EF4-FFF2-40B4-BE49-F238E27FC236}">
                <a16:creationId xmlns:a16="http://schemas.microsoft.com/office/drawing/2014/main" id="{9F9F8D3D-40AD-40C6-BBCA-6FCFFAE84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997075"/>
            <a:ext cx="579437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5317" name="Group 31">
            <a:extLst>
              <a:ext uri="{FF2B5EF4-FFF2-40B4-BE49-F238E27FC236}">
                <a16:creationId xmlns:a16="http://schemas.microsoft.com/office/drawing/2014/main" id="{3B2865A5-A973-40FE-8C55-FE15E5478013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2454275"/>
            <a:ext cx="579437" cy="1066800"/>
            <a:chOff x="979" y="1344"/>
            <a:chExt cx="365" cy="672"/>
          </a:xfrm>
        </p:grpSpPr>
        <p:sp>
          <p:nvSpPr>
            <p:cNvPr id="55410" name="Rectangle 32">
              <a:extLst>
                <a:ext uri="{FF2B5EF4-FFF2-40B4-BE49-F238E27FC236}">
                  <a16:creationId xmlns:a16="http://schemas.microsoft.com/office/drawing/2014/main" id="{E4B7120A-D6F0-4891-AB03-DCDA593A4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5411" name="Rectangle 33">
              <a:extLst>
                <a:ext uri="{FF2B5EF4-FFF2-40B4-BE49-F238E27FC236}">
                  <a16:creationId xmlns:a16="http://schemas.microsoft.com/office/drawing/2014/main" id="{83F5612E-D806-4F7B-8A23-EAFEA6FFA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5318" name="Rectangle 34">
            <a:extLst>
              <a:ext uri="{FF2B5EF4-FFF2-40B4-BE49-F238E27FC236}">
                <a16:creationId xmlns:a16="http://schemas.microsoft.com/office/drawing/2014/main" id="{FEC8559B-D90B-4DF4-A9EC-870D43F9B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199707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5319" name="Rectangle 35">
            <a:extLst>
              <a:ext uri="{FF2B5EF4-FFF2-40B4-BE49-F238E27FC236}">
                <a16:creationId xmlns:a16="http://schemas.microsoft.com/office/drawing/2014/main" id="{B9B6D9EF-AA3B-4BB7-83F2-748A9FD35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97827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5320" name="Rectangle 36">
            <a:extLst>
              <a:ext uri="{FF2B5EF4-FFF2-40B4-BE49-F238E27FC236}">
                <a16:creationId xmlns:a16="http://schemas.microsoft.com/office/drawing/2014/main" id="{6B8D7BFA-8D47-4552-8986-D42CACFD9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504507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5321" name="Group 37">
            <a:extLst>
              <a:ext uri="{FF2B5EF4-FFF2-40B4-BE49-F238E27FC236}">
                <a16:creationId xmlns:a16="http://schemas.microsoft.com/office/drawing/2014/main" id="{968284BF-398A-4194-A032-06C62451227B}"/>
              </a:ext>
            </a:extLst>
          </p:cNvPr>
          <p:cNvGrpSpPr>
            <a:grpSpLocks/>
          </p:cNvGrpSpPr>
          <p:nvPr/>
        </p:nvGrpSpPr>
        <p:grpSpPr bwMode="auto">
          <a:xfrm>
            <a:off x="4457700" y="3978275"/>
            <a:ext cx="579438" cy="1066800"/>
            <a:chOff x="979" y="1344"/>
            <a:chExt cx="365" cy="672"/>
          </a:xfrm>
        </p:grpSpPr>
        <p:sp>
          <p:nvSpPr>
            <p:cNvPr id="55408" name="Rectangle 38">
              <a:extLst>
                <a:ext uri="{FF2B5EF4-FFF2-40B4-BE49-F238E27FC236}">
                  <a16:creationId xmlns:a16="http://schemas.microsoft.com/office/drawing/2014/main" id="{0490B4DB-C960-4586-A563-8C4468D42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5409" name="Rectangle 39">
              <a:extLst>
                <a:ext uri="{FF2B5EF4-FFF2-40B4-BE49-F238E27FC236}">
                  <a16:creationId xmlns:a16="http://schemas.microsoft.com/office/drawing/2014/main" id="{0C58BC89-E68B-4D1B-9E79-1DBD59C6A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sp>
        <p:nvSpPr>
          <p:cNvPr id="55322" name="Rectangle 40">
            <a:extLst>
              <a:ext uri="{FF2B5EF4-FFF2-40B4-BE49-F238E27FC236}">
                <a16:creationId xmlns:a16="http://schemas.microsoft.com/office/drawing/2014/main" id="{A204F80B-8F90-4276-AC3C-1D4D3DC96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3978275"/>
            <a:ext cx="579438" cy="1524000"/>
          </a:xfrm>
          <a:prstGeom prst="rect">
            <a:avLst/>
          </a:prstGeom>
          <a:solidFill>
            <a:srgbClr val="AD9B1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L2$</a:t>
            </a:r>
          </a:p>
        </p:txBody>
      </p:sp>
      <p:sp>
        <p:nvSpPr>
          <p:cNvPr id="55323" name="Rectangle 41">
            <a:extLst>
              <a:ext uri="{FF2B5EF4-FFF2-40B4-BE49-F238E27FC236}">
                <a16:creationId xmlns:a16="http://schemas.microsoft.com/office/drawing/2014/main" id="{1F1D015B-2266-401B-A179-018EB0745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5045075"/>
            <a:ext cx="579438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grpSp>
        <p:nvGrpSpPr>
          <p:cNvPr id="55324" name="Group 42">
            <a:extLst>
              <a:ext uri="{FF2B5EF4-FFF2-40B4-BE49-F238E27FC236}">
                <a16:creationId xmlns:a16="http://schemas.microsoft.com/office/drawing/2014/main" id="{FF73573A-FB94-495D-AF78-BDC7C53CE044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3978275"/>
            <a:ext cx="579438" cy="1066800"/>
            <a:chOff x="979" y="1344"/>
            <a:chExt cx="365" cy="672"/>
          </a:xfrm>
        </p:grpSpPr>
        <p:sp>
          <p:nvSpPr>
            <p:cNvPr id="55406" name="Rectangle 43">
              <a:extLst>
                <a:ext uri="{FF2B5EF4-FFF2-40B4-BE49-F238E27FC236}">
                  <a16:creationId xmlns:a16="http://schemas.microsoft.com/office/drawing/2014/main" id="{B96D643B-BFC0-4F02-82B9-0C15AE8D3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344"/>
              <a:ext cx="183" cy="672"/>
            </a:xfrm>
            <a:prstGeom prst="rect">
              <a:avLst/>
            </a:prstGeom>
            <a:solidFill>
              <a:srgbClr val="E1CC3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D$</a:t>
              </a:r>
            </a:p>
          </p:txBody>
        </p:sp>
        <p:sp>
          <p:nvSpPr>
            <p:cNvPr id="55407" name="Rectangle 44">
              <a:extLst>
                <a:ext uri="{FF2B5EF4-FFF2-40B4-BE49-F238E27FC236}">
                  <a16:creationId xmlns:a16="http://schemas.microsoft.com/office/drawing/2014/main" id="{3BE664FF-1C20-469B-B72F-08D4D3710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44"/>
              <a:ext cx="182" cy="672"/>
            </a:xfrm>
            <a:prstGeom prst="rect">
              <a:avLst/>
            </a:prstGeom>
            <a:solidFill>
              <a:srgbClr val="F5F9A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I$</a:t>
              </a:r>
            </a:p>
          </p:txBody>
        </p:sp>
      </p:grpSp>
      <p:grpSp>
        <p:nvGrpSpPr>
          <p:cNvPr id="55325" name="Group 45">
            <a:extLst>
              <a:ext uri="{FF2B5EF4-FFF2-40B4-BE49-F238E27FC236}">
                <a16:creationId xmlns:a16="http://schemas.microsoft.com/office/drawing/2014/main" id="{27E89916-08E5-4F66-B354-D360A5015084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5502275"/>
            <a:ext cx="1160462" cy="646113"/>
            <a:chOff x="979" y="3264"/>
            <a:chExt cx="731" cy="407"/>
          </a:xfrm>
        </p:grpSpPr>
        <p:sp>
          <p:nvSpPr>
            <p:cNvPr id="55400" name="Rectangle 46">
              <a:extLst>
                <a:ext uri="{FF2B5EF4-FFF2-40B4-BE49-F238E27FC236}">
                  <a16:creationId xmlns:a16="http://schemas.microsoft.com/office/drawing/2014/main" id="{3DF6794C-FCB7-4E2A-88F7-B60BC0C96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5401" name="Line 47">
              <a:extLst>
                <a:ext uri="{FF2B5EF4-FFF2-40B4-BE49-F238E27FC236}">
                  <a16:creationId xmlns:a16="http://schemas.microsoft.com/office/drawing/2014/main" id="{00412499-A32B-4CF2-AEB1-125C1EAAEB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02" name="Rectangle 48">
              <a:extLst>
                <a:ext uri="{FF2B5EF4-FFF2-40B4-BE49-F238E27FC236}">
                  <a16:creationId xmlns:a16="http://schemas.microsoft.com/office/drawing/2014/main" id="{71A9F84D-0D71-4A7B-818A-8F0B946317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403" name="Rectangle 49">
              <a:extLst>
                <a:ext uri="{FF2B5EF4-FFF2-40B4-BE49-F238E27FC236}">
                  <a16:creationId xmlns:a16="http://schemas.microsoft.com/office/drawing/2014/main" id="{665DEC04-6296-4A7C-A663-1195401CB2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404" name="Rectangle 50">
              <a:extLst>
                <a:ext uri="{FF2B5EF4-FFF2-40B4-BE49-F238E27FC236}">
                  <a16:creationId xmlns:a16="http://schemas.microsoft.com/office/drawing/2014/main" id="{4FFE4922-8A6D-4558-9EEB-38BA8F7EB0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405" name="Rectangle 51">
              <a:extLst>
                <a:ext uri="{FF2B5EF4-FFF2-40B4-BE49-F238E27FC236}">
                  <a16:creationId xmlns:a16="http://schemas.microsoft.com/office/drawing/2014/main" id="{43190305-4FF6-4446-9332-150A03F02A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326" name="Group 52">
            <a:extLst>
              <a:ext uri="{FF2B5EF4-FFF2-40B4-BE49-F238E27FC236}">
                <a16:creationId xmlns:a16="http://schemas.microsoft.com/office/drawing/2014/main" id="{71A13F6E-2348-499B-BB22-30A9724C8FB3}"/>
              </a:ext>
            </a:extLst>
          </p:cNvPr>
          <p:cNvGrpSpPr>
            <a:grpSpLocks/>
          </p:cNvGrpSpPr>
          <p:nvPr/>
        </p:nvGrpSpPr>
        <p:grpSpPr bwMode="auto">
          <a:xfrm>
            <a:off x="1554163" y="1341438"/>
            <a:ext cx="1160462" cy="655637"/>
            <a:chOff x="979" y="643"/>
            <a:chExt cx="731" cy="413"/>
          </a:xfrm>
        </p:grpSpPr>
        <p:sp>
          <p:nvSpPr>
            <p:cNvPr id="55394" name="Rectangle 53">
              <a:extLst>
                <a:ext uri="{FF2B5EF4-FFF2-40B4-BE49-F238E27FC236}">
                  <a16:creationId xmlns:a16="http://schemas.microsoft.com/office/drawing/2014/main" id="{94C0BA63-0EAE-4288-9DD3-9003E6B32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5395" name="Line 54">
              <a:extLst>
                <a:ext uri="{FF2B5EF4-FFF2-40B4-BE49-F238E27FC236}">
                  <a16:creationId xmlns:a16="http://schemas.microsoft.com/office/drawing/2014/main" id="{23323BC0-0913-4887-B5D8-9A837089BE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6" name="Rectangle 55">
              <a:extLst>
                <a:ext uri="{FF2B5EF4-FFF2-40B4-BE49-F238E27FC236}">
                  <a16:creationId xmlns:a16="http://schemas.microsoft.com/office/drawing/2014/main" id="{303C4002-66B8-46F8-88AC-CBA1D8439F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97" name="Rectangle 56">
              <a:extLst>
                <a:ext uri="{FF2B5EF4-FFF2-40B4-BE49-F238E27FC236}">
                  <a16:creationId xmlns:a16="http://schemas.microsoft.com/office/drawing/2014/main" id="{A5A1D70E-2AD9-46C8-8C8B-282B0140D6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98" name="Rectangle 57">
              <a:extLst>
                <a:ext uri="{FF2B5EF4-FFF2-40B4-BE49-F238E27FC236}">
                  <a16:creationId xmlns:a16="http://schemas.microsoft.com/office/drawing/2014/main" id="{70CC37AE-D863-4195-80E6-4F190F3DD9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99" name="Rectangle 58">
              <a:extLst>
                <a:ext uri="{FF2B5EF4-FFF2-40B4-BE49-F238E27FC236}">
                  <a16:creationId xmlns:a16="http://schemas.microsoft.com/office/drawing/2014/main" id="{EB7F3C64-0AD7-453F-98A6-DF9E09BAC1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327" name="Group 59">
            <a:extLst>
              <a:ext uri="{FF2B5EF4-FFF2-40B4-BE49-F238E27FC236}">
                <a16:creationId xmlns:a16="http://schemas.microsoft.com/office/drawing/2014/main" id="{C843CA54-D94A-4E7B-8C20-8325F3E606EB}"/>
              </a:ext>
            </a:extLst>
          </p:cNvPr>
          <p:cNvGrpSpPr>
            <a:grpSpLocks/>
          </p:cNvGrpSpPr>
          <p:nvPr/>
        </p:nvGrpSpPr>
        <p:grpSpPr bwMode="auto">
          <a:xfrm>
            <a:off x="2716213" y="5502275"/>
            <a:ext cx="1160462" cy="646113"/>
            <a:chOff x="979" y="3264"/>
            <a:chExt cx="731" cy="407"/>
          </a:xfrm>
        </p:grpSpPr>
        <p:sp>
          <p:nvSpPr>
            <p:cNvPr id="55388" name="Rectangle 60">
              <a:extLst>
                <a:ext uri="{FF2B5EF4-FFF2-40B4-BE49-F238E27FC236}">
                  <a16:creationId xmlns:a16="http://schemas.microsoft.com/office/drawing/2014/main" id="{C36EE824-1637-48C7-8D16-839FF1404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5389" name="Line 61">
              <a:extLst>
                <a:ext uri="{FF2B5EF4-FFF2-40B4-BE49-F238E27FC236}">
                  <a16:creationId xmlns:a16="http://schemas.microsoft.com/office/drawing/2014/main" id="{4DEBCEF0-AD95-4CAE-8244-798083B41C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0" name="Rectangle 62">
              <a:extLst>
                <a:ext uri="{FF2B5EF4-FFF2-40B4-BE49-F238E27FC236}">
                  <a16:creationId xmlns:a16="http://schemas.microsoft.com/office/drawing/2014/main" id="{2440EA4C-2D07-4A41-9A37-4F34A0CF1C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91" name="Rectangle 63">
              <a:extLst>
                <a:ext uri="{FF2B5EF4-FFF2-40B4-BE49-F238E27FC236}">
                  <a16:creationId xmlns:a16="http://schemas.microsoft.com/office/drawing/2014/main" id="{CD65A20C-8A3C-46B4-9FDA-DCDABF4961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92" name="Rectangle 64">
              <a:extLst>
                <a:ext uri="{FF2B5EF4-FFF2-40B4-BE49-F238E27FC236}">
                  <a16:creationId xmlns:a16="http://schemas.microsoft.com/office/drawing/2014/main" id="{F65A5777-D119-40DD-8013-B9B0F58D6B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93" name="Rectangle 65">
              <a:extLst>
                <a:ext uri="{FF2B5EF4-FFF2-40B4-BE49-F238E27FC236}">
                  <a16:creationId xmlns:a16="http://schemas.microsoft.com/office/drawing/2014/main" id="{309B7623-0B0F-4040-B691-9CF655297D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328" name="Group 66">
            <a:extLst>
              <a:ext uri="{FF2B5EF4-FFF2-40B4-BE49-F238E27FC236}">
                <a16:creationId xmlns:a16="http://schemas.microsoft.com/office/drawing/2014/main" id="{D21C4CE3-8950-48D6-869A-830C89E90A49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5502275"/>
            <a:ext cx="1160463" cy="646113"/>
            <a:chOff x="979" y="3264"/>
            <a:chExt cx="731" cy="407"/>
          </a:xfrm>
        </p:grpSpPr>
        <p:sp>
          <p:nvSpPr>
            <p:cNvPr id="55382" name="Rectangle 67">
              <a:extLst>
                <a:ext uri="{FF2B5EF4-FFF2-40B4-BE49-F238E27FC236}">
                  <a16:creationId xmlns:a16="http://schemas.microsoft.com/office/drawing/2014/main" id="{4DAB18AB-2143-4DD2-B650-9D085EB68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5383" name="Line 68">
              <a:extLst>
                <a:ext uri="{FF2B5EF4-FFF2-40B4-BE49-F238E27FC236}">
                  <a16:creationId xmlns:a16="http://schemas.microsoft.com/office/drawing/2014/main" id="{08355798-31C8-4F6B-8F85-2CE90A6F3D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84" name="Rectangle 69">
              <a:extLst>
                <a:ext uri="{FF2B5EF4-FFF2-40B4-BE49-F238E27FC236}">
                  <a16:creationId xmlns:a16="http://schemas.microsoft.com/office/drawing/2014/main" id="{E7F6B949-4CF5-4490-A36E-74E2B5D363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85" name="Rectangle 70">
              <a:extLst>
                <a:ext uri="{FF2B5EF4-FFF2-40B4-BE49-F238E27FC236}">
                  <a16:creationId xmlns:a16="http://schemas.microsoft.com/office/drawing/2014/main" id="{3D32BA48-F8B2-42D4-B5B5-C0E92E3691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86" name="Rectangle 71">
              <a:extLst>
                <a:ext uri="{FF2B5EF4-FFF2-40B4-BE49-F238E27FC236}">
                  <a16:creationId xmlns:a16="http://schemas.microsoft.com/office/drawing/2014/main" id="{BAF7ACE2-3225-41B3-A412-58E5217FF5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87" name="Rectangle 72">
              <a:extLst>
                <a:ext uri="{FF2B5EF4-FFF2-40B4-BE49-F238E27FC236}">
                  <a16:creationId xmlns:a16="http://schemas.microsoft.com/office/drawing/2014/main" id="{0613E30E-73F3-479E-9474-DB4770FB33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329" name="Group 73">
            <a:extLst>
              <a:ext uri="{FF2B5EF4-FFF2-40B4-BE49-F238E27FC236}">
                <a16:creationId xmlns:a16="http://schemas.microsoft.com/office/drawing/2014/main" id="{4FE1EF95-8D26-4559-9F75-B360BF88D953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5502275"/>
            <a:ext cx="1160462" cy="646113"/>
            <a:chOff x="979" y="3264"/>
            <a:chExt cx="731" cy="407"/>
          </a:xfrm>
        </p:grpSpPr>
        <p:sp>
          <p:nvSpPr>
            <p:cNvPr id="55376" name="Rectangle 74">
              <a:extLst>
                <a:ext uri="{FF2B5EF4-FFF2-40B4-BE49-F238E27FC236}">
                  <a16:creationId xmlns:a16="http://schemas.microsoft.com/office/drawing/2014/main" id="{08D39803-734D-456B-8CD0-3B1B7DF03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3264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5377" name="Line 75">
              <a:extLst>
                <a:ext uri="{FF2B5EF4-FFF2-40B4-BE49-F238E27FC236}">
                  <a16:creationId xmlns:a16="http://schemas.microsoft.com/office/drawing/2014/main" id="{609DA56D-F5EC-416E-831E-174A460CA0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4" y="3528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78" name="Rectangle 76">
              <a:extLst>
                <a:ext uri="{FF2B5EF4-FFF2-40B4-BE49-F238E27FC236}">
                  <a16:creationId xmlns:a16="http://schemas.microsoft.com/office/drawing/2014/main" id="{34DC3346-FE15-41F6-876F-B006D6B513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419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79" name="Rectangle 77">
              <a:extLst>
                <a:ext uri="{FF2B5EF4-FFF2-40B4-BE49-F238E27FC236}">
                  <a16:creationId xmlns:a16="http://schemas.microsoft.com/office/drawing/2014/main" id="{898961CF-377C-4DFF-8C23-53EDABCD1A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71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80" name="Rectangle 78">
              <a:extLst>
                <a:ext uri="{FF2B5EF4-FFF2-40B4-BE49-F238E27FC236}">
                  <a16:creationId xmlns:a16="http://schemas.microsoft.com/office/drawing/2014/main" id="{B5C7A876-FAC4-43AF-8917-7EF96F8AC4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323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81" name="Rectangle 79">
              <a:extLst>
                <a:ext uri="{FF2B5EF4-FFF2-40B4-BE49-F238E27FC236}">
                  <a16:creationId xmlns:a16="http://schemas.microsoft.com/office/drawing/2014/main" id="{D026E34C-CE2E-49FA-BD39-9770658D91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3" y="3276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330" name="Group 80">
            <a:extLst>
              <a:ext uri="{FF2B5EF4-FFF2-40B4-BE49-F238E27FC236}">
                <a16:creationId xmlns:a16="http://schemas.microsoft.com/office/drawing/2014/main" id="{A7834274-DAD1-43A6-A08A-D05D4B0099C8}"/>
              </a:ext>
            </a:extLst>
          </p:cNvPr>
          <p:cNvGrpSpPr>
            <a:grpSpLocks/>
          </p:cNvGrpSpPr>
          <p:nvPr/>
        </p:nvGrpSpPr>
        <p:grpSpPr bwMode="auto">
          <a:xfrm>
            <a:off x="2716213" y="1339850"/>
            <a:ext cx="1160462" cy="655638"/>
            <a:chOff x="979" y="643"/>
            <a:chExt cx="731" cy="413"/>
          </a:xfrm>
        </p:grpSpPr>
        <p:sp>
          <p:nvSpPr>
            <p:cNvPr id="55370" name="Rectangle 81">
              <a:extLst>
                <a:ext uri="{FF2B5EF4-FFF2-40B4-BE49-F238E27FC236}">
                  <a16:creationId xmlns:a16="http://schemas.microsoft.com/office/drawing/2014/main" id="{8D955D6C-0EC5-421D-A3EA-1C30838A7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5371" name="Line 82">
              <a:extLst>
                <a:ext uri="{FF2B5EF4-FFF2-40B4-BE49-F238E27FC236}">
                  <a16:creationId xmlns:a16="http://schemas.microsoft.com/office/drawing/2014/main" id="{F0A19AF7-6D35-441B-BA2E-EA71267C36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72" name="Rectangle 83">
              <a:extLst>
                <a:ext uri="{FF2B5EF4-FFF2-40B4-BE49-F238E27FC236}">
                  <a16:creationId xmlns:a16="http://schemas.microsoft.com/office/drawing/2014/main" id="{C902C57C-0825-4B89-9359-B03CF72A57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73" name="Rectangle 84">
              <a:extLst>
                <a:ext uri="{FF2B5EF4-FFF2-40B4-BE49-F238E27FC236}">
                  <a16:creationId xmlns:a16="http://schemas.microsoft.com/office/drawing/2014/main" id="{94FC693C-741F-47F1-80CB-3AADB19766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74" name="Rectangle 85">
              <a:extLst>
                <a:ext uri="{FF2B5EF4-FFF2-40B4-BE49-F238E27FC236}">
                  <a16:creationId xmlns:a16="http://schemas.microsoft.com/office/drawing/2014/main" id="{4F5F6EF8-B5CC-476B-B64E-BE6604A735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75" name="Rectangle 86">
              <a:extLst>
                <a:ext uri="{FF2B5EF4-FFF2-40B4-BE49-F238E27FC236}">
                  <a16:creationId xmlns:a16="http://schemas.microsoft.com/office/drawing/2014/main" id="{F3A85065-9D96-4561-BABB-A8EA31CE76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331" name="Group 87">
            <a:extLst>
              <a:ext uri="{FF2B5EF4-FFF2-40B4-BE49-F238E27FC236}">
                <a16:creationId xmlns:a16="http://schemas.microsoft.com/office/drawing/2014/main" id="{DFBA34E9-6717-4851-ACB8-4F090EFBA663}"/>
              </a:ext>
            </a:extLst>
          </p:cNvPr>
          <p:cNvGrpSpPr>
            <a:grpSpLocks/>
          </p:cNvGrpSpPr>
          <p:nvPr/>
        </p:nvGrpSpPr>
        <p:grpSpPr bwMode="auto">
          <a:xfrm>
            <a:off x="3876675" y="1341438"/>
            <a:ext cx="1160463" cy="655637"/>
            <a:chOff x="979" y="643"/>
            <a:chExt cx="731" cy="413"/>
          </a:xfrm>
        </p:grpSpPr>
        <p:sp>
          <p:nvSpPr>
            <p:cNvPr id="55364" name="Rectangle 88">
              <a:extLst>
                <a:ext uri="{FF2B5EF4-FFF2-40B4-BE49-F238E27FC236}">
                  <a16:creationId xmlns:a16="http://schemas.microsoft.com/office/drawing/2014/main" id="{16CD16D3-EBDA-4BFC-B70D-5B7663A3D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5365" name="Line 89">
              <a:extLst>
                <a:ext uri="{FF2B5EF4-FFF2-40B4-BE49-F238E27FC236}">
                  <a16:creationId xmlns:a16="http://schemas.microsoft.com/office/drawing/2014/main" id="{04F37CC2-855C-4AD2-9461-2D2207D090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66" name="Rectangle 90">
              <a:extLst>
                <a:ext uri="{FF2B5EF4-FFF2-40B4-BE49-F238E27FC236}">
                  <a16:creationId xmlns:a16="http://schemas.microsoft.com/office/drawing/2014/main" id="{800D7737-20BA-4DE2-8B34-807522EEF4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67" name="Rectangle 91">
              <a:extLst>
                <a:ext uri="{FF2B5EF4-FFF2-40B4-BE49-F238E27FC236}">
                  <a16:creationId xmlns:a16="http://schemas.microsoft.com/office/drawing/2014/main" id="{80972875-900A-41C3-ADDC-E19BA118A1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68" name="Rectangle 92">
              <a:extLst>
                <a:ext uri="{FF2B5EF4-FFF2-40B4-BE49-F238E27FC236}">
                  <a16:creationId xmlns:a16="http://schemas.microsoft.com/office/drawing/2014/main" id="{95FE2812-F3AE-401B-8205-E46C3C4F4D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69" name="Rectangle 93">
              <a:extLst>
                <a:ext uri="{FF2B5EF4-FFF2-40B4-BE49-F238E27FC236}">
                  <a16:creationId xmlns:a16="http://schemas.microsoft.com/office/drawing/2014/main" id="{F81181E4-A7E1-4E7E-A41F-69E85F06CD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332" name="Group 94">
            <a:extLst>
              <a:ext uri="{FF2B5EF4-FFF2-40B4-BE49-F238E27FC236}">
                <a16:creationId xmlns:a16="http://schemas.microsoft.com/office/drawing/2014/main" id="{044E19FD-599A-4D36-902F-2C2D9E98C032}"/>
              </a:ext>
            </a:extLst>
          </p:cNvPr>
          <p:cNvGrpSpPr>
            <a:grpSpLocks/>
          </p:cNvGrpSpPr>
          <p:nvPr/>
        </p:nvGrpSpPr>
        <p:grpSpPr bwMode="auto">
          <a:xfrm>
            <a:off x="5038725" y="1339850"/>
            <a:ext cx="1160463" cy="655638"/>
            <a:chOff x="979" y="643"/>
            <a:chExt cx="731" cy="413"/>
          </a:xfrm>
        </p:grpSpPr>
        <p:sp>
          <p:nvSpPr>
            <p:cNvPr id="55358" name="Rectangle 95">
              <a:extLst>
                <a:ext uri="{FF2B5EF4-FFF2-40B4-BE49-F238E27FC236}">
                  <a16:creationId xmlns:a16="http://schemas.microsoft.com/office/drawing/2014/main" id="{95AB85BA-CEEB-4EB8-8995-CA09541ED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912"/>
              <a:ext cx="731" cy="144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MEM-CTL</a:t>
              </a:r>
            </a:p>
          </p:txBody>
        </p:sp>
        <p:sp>
          <p:nvSpPr>
            <p:cNvPr id="55359" name="Line 96">
              <a:extLst>
                <a:ext uri="{FF2B5EF4-FFF2-40B4-BE49-F238E27FC236}">
                  <a16:creationId xmlns:a16="http://schemas.microsoft.com/office/drawing/2014/main" id="{B236490C-260E-4C62-BEED-B699AF36DE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13" y="79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60" name="Rectangle 97">
              <a:extLst>
                <a:ext uri="{FF2B5EF4-FFF2-40B4-BE49-F238E27FC236}">
                  <a16:creationId xmlns:a16="http://schemas.microsoft.com/office/drawing/2014/main" id="{DAE1F50D-EE94-4C1D-852D-700DB9081C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58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61" name="Rectangle 98">
              <a:extLst>
                <a:ext uri="{FF2B5EF4-FFF2-40B4-BE49-F238E27FC236}">
                  <a16:creationId xmlns:a16="http://schemas.microsoft.com/office/drawing/2014/main" id="{0FDA1DFB-B267-4D80-8BF9-855A6ACE72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510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62" name="Rectangle 99">
              <a:extLst>
                <a:ext uri="{FF2B5EF4-FFF2-40B4-BE49-F238E27FC236}">
                  <a16:creationId xmlns:a16="http://schemas.microsoft.com/office/drawing/2014/main" id="{5831CC27-1038-4E00-BFDC-5562D5A641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62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363" name="Rectangle 100">
              <a:extLst>
                <a:ext uri="{FF2B5EF4-FFF2-40B4-BE49-F238E27FC236}">
                  <a16:creationId xmlns:a16="http://schemas.microsoft.com/office/drawing/2014/main" id="{7356AAB2-690E-479A-AE80-490134B83E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1332" y="415"/>
              <a:ext cx="24" cy="479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5333" name="Rectangle 101">
            <a:extLst>
              <a:ext uri="{FF2B5EF4-FFF2-40B4-BE49-F238E27FC236}">
                <a16:creationId xmlns:a16="http://schemas.microsoft.com/office/drawing/2014/main" id="{5053B68C-B67B-4D72-957A-2D49DF38C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3978275"/>
            <a:ext cx="363537" cy="1524000"/>
          </a:xfrm>
          <a:prstGeom prst="rect">
            <a:avLst/>
          </a:prstGeom>
          <a:solidFill>
            <a:srgbClr val="006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RE</a:t>
            </a:r>
            <a:endParaRPr lang="en-US" altLang="zh-CN" sz="1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334" name="Rectangle 102">
            <a:extLst>
              <a:ext uri="{FF2B5EF4-FFF2-40B4-BE49-F238E27FC236}">
                <a16:creationId xmlns:a16="http://schemas.microsoft.com/office/drawing/2014/main" id="{0B0272F2-1C63-4E26-8F06-D2277AFBA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1997075"/>
            <a:ext cx="363537" cy="1524000"/>
          </a:xfrm>
          <a:prstGeom prst="rect">
            <a:avLst/>
          </a:prstGeom>
          <a:solidFill>
            <a:srgbClr val="006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Arial" panose="020B0604020202020204" pitchFamily="34" charset="0"/>
              </a:rPr>
              <a:t>HE</a:t>
            </a:r>
            <a:endParaRPr lang="en-US" altLang="zh-CN" sz="1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335" name="Rectangle 103">
            <a:extLst>
              <a:ext uri="{FF2B5EF4-FFF2-40B4-BE49-F238E27FC236}">
                <a16:creationId xmlns:a16="http://schemas.microsoft.com/office/drawing/2014/main" id="{F7D7E073-E07F-4450-A625-0B97118AF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1997075"/>
            <a:ext cx="434975" cy="3505200"/>
          </a:xfrm>
          <a:prstGeom prst="rect">
            <a:avLst/>
          </a:prstGeom>
          <a:solidFill>
            <a:srgbClr val="00D8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336" name="Text Box 104">
            <a:extLst>
              <a:ext uri="{FF2B5EF4-FFF2-40B4-BE49-F238E27FC236}">
                <a16:creationId xmlns:a16="http://schemas.microsoft.com/office/drawing/2014/main" id="{78FED3BC-919A-40BE-A59E-DA45B3FA6043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80219" y="3569494"/>
            <a:ext cx="920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</a:p>
        </p:txBody>
      </p:sp>
      <p:sp>
        <p:nvSpPr>
          <p:cNvPr id="55337" name="Line 105">
            <a:extLst>
              <a:ext uri="{FF2B5EF4-FFF2-40B4-BE49-F238E27FC236}">
                <a16:creationId xmlns:a16="http://schemas.microsoft.com/office/drawing/2014/main" id="{B235E632-1148-4B29-8C49-A32962701F84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12763" y="4486275"/>
            <a:ext cx="0" cy="508000"/>
          </a:xfrm>
          <a:prstGeom prst="line">
            <a:avLst/>
          </a:prstGeom>
          <a:noFill/>
          <a:ln w="38100">
            <a:solidFill>
              <a:srgbClr val="00D8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38" name="Line 106">
            <a:extLst>
              <a:ext uri="{FF2B5EF4-FFF2-40B4-BE49-F238E27FC236}">
                <a16:creationId xmlns:a16="http://schemas.microsoft.com/office/drawing/2014/main" id="{D64785CC-86BE-46DA-98F3-A6A2CE7D535B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12763" y="2505075"/>
            <a:ext cx="0" cy="508000"/>
          </a:xfrm>
          <a:prstGeom prst="line">
            <a:avLst/>
          </a:prstGeom>
          <a:noFill/>
          <a:ln w="38100">
            <a:solidFill>
              <a:srgbClr val="00D8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39" name="Line 107">
            <a:extLst>
              <a:ext uri="{FF2B5EF4-FFF2-40B4-BE49-F238E27FC236}">
                <a16:creationId xmlns:a16="http://schemas.microsoft.com/office/drawing/2014/main" id="{EC466895-3820-4D39-B957-7F4F9A8C4572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12763" y="3825875"/>
            <a:ext cx="0" cy="508000"/>
          </a:xfrm>
          <a:prstGeom prst="line">
            <a:avLst/>
          </a:prstGeom>
          <a:noFill/>
          <a:ln w="38100">
            <a:solidFill>
              <a:srgbClr val="00D8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40" name="Line 108">
            <a:extLst>
              <a:ext uri="{FF2B5EF4-FFF2-40B4-BE49-F238E27FC236}">
                <a16:creationId xmlns:a16="http://schemas.microsoft.com/office/drawing/2014/main" id="{7463DE8A-E775-4657-9F0C-E7FD119C5537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12763" y="3165475"/>
            <a:ext cx="0" cy="508000"/>
          </a:xfrm>
          <a:prstGeom prst="line">
            <a:avLst/>
          </a:prstGeom>
          <a:noFill/>
          <a:ln w="38100">
            <a:solidFill>
              <a:srgbClr val="00D8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41" name="Rectangle 109">
            <a:extLst>
              <a:ext uri="{FF2B5EF4-FFF2-40B4-BE49-F238E27FC236}">
                <a16:creationId xmlns:a16="http://schemas.microsoft.com/office/drawing/2014/main" id="{F391F35F-5E55-42F7-9F02-FBD5731E8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1692275"/>
            <a:ext cx="6022975" cy="4114800"/>
          </a:xfrm>
          <a:prstGeom prst="rect">
            <a:avLst/>
          </a:prstGeom>
          <a:noFill/>
          <a:ln w="28575">
            <a:solidFill>
              <a:srgbClr val="B760F9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342" name="WordArt 110" descr="Green marble">
            <a:extLst>
              <a:ext uri="{FF2B5EF4-FFF2-40B4-BE49-F238E27FC236}">
                <a16:creationId xmlns:a16="http://schemas.microsoft.com/office/drawing/2014/main" id="{20601C59-18E5-4DCF-8456-D1DFC6FBF0B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600790">
            <a:off x="6477000" y="5773738"/>
            <a:ext cx="1676400" cy="8985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7153"/>
              </a:avLst>
            </a:prstTxWarp>
          </a:bodyPr>
          <a:lstStyle/>
          <a:p>
            <a:pPr algn="ctr"/>
            <a:r>
              <a:rPr lang="en-US" altLang="zh-CN" sz="2400" b="1" kern="10">
                <a:ln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53882" dir="2700000" algn="ctr" rotWithShape="0">
                    <a:srgbClr val="9999FF">
                      <a:alpha val="74997"/>
                    </a:srgbClr>
                  </a:outerShdw>
                </a:effectLst>
                <a:latin typeface="Impact" panose="020B0806030902050204" pitchFamily="34" charset="0"/>
              </a:rPr>
              <a:t>Single Chip</a:t>
            </a:r>
            <a:endParaRPr lang="zh-CN" altLang="en-US" sz="2400" b="1" kern="10"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blipFill dpi="0" rotWithShape="0">
                <a:blip r:embed="rId3"/>
                <a:srcRect/>
                <a:tile tx="0" ty="0" sx="100000" sy="100000" flip="none" algn="tl"/>
              </a:blipFill>
              <a:effectLst>
                <a:outerShdw dist="53882" dir="2700000" algn="ctr" rotWithShape="0">
                  <a:srgbClr val="9999FF">
                    <a:alpha val="7499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pic>
        <p:nvPicPr>
          <p:cNvPr id="55343" name="Picture 111" descr="piranh_b">
            <a:extLst>
              <a:ext uri="{FF2B5EF4-FFF2-40B4-BE49-F238E27FC236}">
                <a16:creationId xmlns:a16="http://schemas.microsoft.com/office/drawing/2014/main" id="{3F4AA7B2-8FF1-4C79-872C-8347E0B14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388" y="6199188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44" name="Picture 112" descr="piranh_b">
            <a:extLst>
              <a:ext uri="{FF2B5EF4-FFF2-40B4-BE49-F238E27FC236}">
                <a16:creationId xmlns:a16="http://schemas.microsoft.com/office/drawing/2014/main" id="{016339C3-B99A-4812-BC0D-061CD549E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288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45" name="Picture 113" descr="piranh_b">
            <a:extLst>
              <a:ext uri="{FF2B5EF4-FFF2-40B4-BE49-F238E27FC236}">
                <a16:creationId xmlns:a16="http://schemas.microsoft.com/office/drawing/2014/main" id="{7F5DD1F0-9404-4897-AA69-BA7B14695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46" name="Picture 114" descr="piranh_b">
            <a:extLst>
              <a:ext uri="{FF2B5EF4-FFF2-40B4-BE49-F238E27FC236}">
                <a16:creationId xmlns:a16="http://schemas.microsoft.com/office/drawing/2014/main" id="{C175C7A7-1340-4E17-BBAF-1A572A872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6199188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47" name="Picture 115" descr="piranh_b">
            <a:extLst>
              <a:ext uri="{FF2B5EF4-FFF2-40B4-BE49-F238E27FC236}">
                <a16:creationId xmlns:a16="http://schemas.microsoft.com/office/drawing/2014/main" id="{4756D2C6-DDDA-499E-8E5A-FC4335827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48" name="Picture 116" descr="piranh_b">
            <a:extLst>
              <a:ext uri="{FF2B5EF4-FFF2-40B4-BE49-F238E27FC236}">
                <a16:creationId xmlns:a16="http://schemas.microsoft.com/office/drawing/2014/main" id="{5AE54BE1-BD76-4C07-9B4E-B1AE6E2F9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300" y="6199188"/>
            <a:ext cx="3286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49" name="Picture 117" descr="piranh_b">
            <a:extLst>
              <a:ext uri="{FF2B5EF4-FFF2-40B4-BE49-F238E27FC236}">
                <a16:creationId xmlns:a16="http://schemas.microsoft.com/office/drawing/2014/main" id="{CC20C84A-7246-409C-8E2F-795149848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13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50" name="Picture 118" descr="piranh_b">
            <a:extLst>
              <a:ext uri="{FF2B5EF4-FFF2-40B4-BE49-F238E27FC236}">
                <a16:creationId xmlns:a16="http://schemas.microsoft.com/office/drawing/2014/main" id="{3EFCAC85-6733-447C-8C47-EE3B22936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513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51" name="Picture 119" descr="piranh_b">
            <a:extLst>
              <a:ext uri="{FF2B5EF4-FFF2-40B4-BE49-F238E27FC236}">
                <a16:creationId xmlns:a16="http://schemas.microsoft.com/office/drawing/2014/main" id="{B9DC0359-63F9-4C8F-A002-DA738941F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413" y="6199188"/>
            <a:ext cx="3286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52" name="Picture 120" descr="piranh_b">
            <a:extLst>
              <a:ext uri="{FF2B5EF4-FFF2-40B4-BE49-F238E27FC236}">
                <a16:creationId xmlns:a16="http://schemas.microsoft.com/office/drawing/2014/main" id="{ACA5022F-E8B6-4CDF-AB6E-2EC1184B1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725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53" name="Picture 121" descr="piranh_b">
            <a:extLst>
              <a:ext uri="{FF2B5EF4-FFF2-40B4-BE49-F238E27FC236}">
                <a16:creationId xmlns:a16="http://schemas.microsoft.com/office/drawing/2014/main" id="{3E813C8C-2BBF-4724-A0DC-0E6BF676D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038" y="6199188"/>
            <a:ext cx="3317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54" name="Picture 122" descr="piranh_b">
            <a:extLst>
              <a:ext uri="{FF2B5EF4-FFF2-40B4-BE49-F238E27FC236}">
                <a16:creationId xmlns:a16="http://schemas.microsoft.com/office/drawing/2014/main" id="{8A47F298-8EFB-43A9-9C9E-FD573637C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938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55" name="Picture 123" descr="piranh_b">
            <a:extLst>
              <a:ext uri="{FF2B5EF4-FFF2-40B4-BE49-F238E27FC236}">
                <a16:creationId xmlns:a16="http://schemas.microsoft.com/office/drawing/2014/main" id="{6F26C60D-C48C-43BF-BAAC-28F7946E7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38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56" name="Picture 124" descr="piranh_b">
            <a:extLst>
              <a:ext uri="{FF2B5EF4-FFF2-40B4-BE49-F238E27FC236}">
                <a16:creationId xmlns:a16="http://schemas.microsoft.com/office/drawing/2014/main" id="{A79B908A-0277-4FF9-9E2F-DA8A61436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50" y="6199188"/>
            <a:ext cx="3317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57" name="Picture 125" descr="piranh_b">
            <a:extLst>
              <a:ext uri="{FF2B5EF4-FFF2-40B4-BE49-F238E27FC236}">
                <a16:creationId xmlns:a16="http://schemas.microsoft.com/office/drawing/2014/main" id="{A7AE86C2-1DC8-4DAC-AA95-60BA84656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6199188"/>
            <a:ext cx="330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96314444-0F35-433D-BA13-EE5F8ED15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Processing Node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5F232400-32B7-4AD2-B8B3-928E956858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490AFA20-5B37-4604-829B-2556217394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6958C6-7286-479B-93D6-541CD35FBE1D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57349" name="Picture 18">
            <a:extLst>
              <a:ext uri="{FF2B5EF4-FFF2-40B4-BE49-F238E27FC236}">
                <a16:creationId xmlns:a16="http://schemas.microsoft.com/office/drawing/2014/main" id="{A626536D-1E46-4297-A155-A3F95AE86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6248400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4F82834B-7A54-4084-BE4A-52E86A019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Inter-Node Coherence Protocol Engine</a:t>
            </a:r>
          </a:p>
        </p:txBody>
      </p:sp>
      <p:pic>
        <p:nvPicPr>
          <p:cNvPr id="58371" name="Content Placeholder 4">
            <a:extLst>
              <a:ext uri="{FF2B5EF4-FFF2-40B4-BE49-F238E27FC236}">
                <a16:creationId xmlns:a16="http://schemas.microsoft.com/office/drawing/2014/main" id="{9CB4ABBA-AFE5-4FEC-B0CD-BB9FB4C503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054" r="-19054"/>
          <a:stretch>
            <a:fillRect/>
          </a:stretch>
        </p:blipFill>
        <p:spPr>
          <a:xfrm>
            <a:off x="228600" y="996950"/>
            <a:ext cx="8610600" cy="5194300"/>
          </a:xfrm>
        </p:spPr>
      </p:pic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11580426-C53C-44DB-98C0-B29989126C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BE5969-F93D-4194-844B-583AABBD9E09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18F4D600-4424-4727-8EBC-56A45AE4E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System</a:t>
            </a:r>
          </a:p>
        </p:txBody>
      </p:sp>
      <p:pic>
        <p:nvPicPr>
          <p:cNvPr id="59395" name="Content Placeholder 4">
            <a:extLst>
              <a:ext uri="{FF2B5EF4-FFF2-40B4-BE49-F238E27FC236}">
                <a16:creationId xmlns:a16="http://schemas.microsoft.com/office/drawing/2014/main" id="{FBC711BC-5C3C-44EE-A832-59567181E6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" r="632"/>
          <a:stretch>
            <a:fillRect/>
          </a:stretch>
        </p:blipFill>
        <p:spPr>
          <a:xfrm>
            <a:off x="228600" y="996950"/>
            <a:ext cx="8610600" cy="5194300"/>
          </a:xfrm>
        </p:spPr>
      </p:pic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D722F4D9-7727-40B3-9359-B9EC4E1AA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D20700-8F58-4F6B-98B2-069BC0227062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2203C180-286A-4564-838E-63155B433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Piranha I/O Node</a:t>
            </a:r>
          </a:p>
        </p:txBody>
      </p:sp>
      <p:pic>
        <p:nvPicPr>
          <p:cNvPr id="60419" name="Content Placeholder 6">
            <a:extLst>
              <a:ext uri="{FF2B5EF4-FFF2-40B4-BE49-F238E27FC236}">
                <a16:creationId xmlns:a16="http://schemas.microsoft.com/office/drawing/2014/main" id="{26D00F6D-6AAE-4B0C-9C9A-6809C07AD3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11" r="-5411"/>
          <a:stretch>
            <a:fillRect/>
          </a:stretch>
        </p:blipFill>
        <p:spPr>
          <a:xfrm>
            <a:off x="228600" y="996950"/>
            <a:ext cx="8610600" cy="5194300"/>
          </a:xfrm>
        </p:spPr>
      </p:pic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F9511CC5-5E01-44A8-B2A4-32A3A692DC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5F6033-5BF6-4DBF-9141-E33CA50746CE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9A54D05B-591C-4973-9CE6-BCCBAA88E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Sun Niagara (UltraSPARC T1)</a:t>
            </a:r>
          </a:p>
        </p:txBody>
      </p:sp>
      <p:sp>
        <p:nvSpPr>
          <p:cNvPr id="61443" name="Slide Number Placeholder 3">
            <a:extLst>
              <a:ext uri="{FF2B5EF4-FFF2-40B4-BE49-F238E27FC236}">
                <a16:creationId xmlns:a16="http://schemas.microsoft.com/office/drawing/2014/main" id="{AAC66904-8923-4F79-A3B8-F87C1DF8C5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8EA611-2245-4D16-94DD-565BB46DFDE8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61444" name="Content Placeholder 5">
            <a:extLst>
              <a:ext uri="{FF2B5EF4-FFF2-40B4-BE49-F238E27FC236}">
                <a16:creationId xmlns:a16="http://schemas.microsoft.com/office/drawing/2014/main" id="{58A6EC7E-E8EF-4A3C-9685-AC8B06F423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Kongetira</a:t>
            </a:r>
            <a:r>
              <a:rPr lang="en-US" altLang="zh-CN" dirty="0">
                <a:ea typeface="ＭＳ Ｐゴシック" panose="020B0600070205080204" pitchFamily="34" charset="-128"/>
              </a:rPr>
              <a:t> et al.,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Niagara: A 32-Way Multithreaded SPARC Processor</a:t>
            </a:r>
            <a:r>
              <a:rPr lang="en-US" altLang="ja-JP" dirty="0">
                <a:ea typeface="ＭＳ Ｐゴシック" panose="020B0600070205080204" pitchFamily="34" charset="-128"/>
              </a:rPr>
              <a:t>,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IEEE Micro 2005.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pic>
        <p:nvPicPr>
          <p:cNvPr id="61445" name="Picture 6" descr="niagara-block.tiff">
            <a:extLst>
              <a:ext uri="{FF2B5EF4-FFF2-40B4-BE49-F238E27FC236}">
                <a16:creationId xmlns:a16="http://schemas.microsoft.com/office/drawing/2014/main" id="{4EAA9076-5B29-428E-9242-225406323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522605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0E9972F0-F803-4DB0-AD87-0D95DD383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Niagara Core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C6AFD4FD-5AD9-4E29-BE33-D76EA3F97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4-way fine-grain multithreaded, 6-stage, dual-issue in-order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Round robin thread selection (unless cache miss)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Shared FP unit among cores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B99484E8-73A2-49A2-AF49-C9BF6653CA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E4C294-69C2-421F-A81D-1F7C817F8BF9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62469" name="Picture 4" descr="niagara-pipe.tiff">
            <a:extLst>
              <a:ext uri="{FF2B5EF4-FFF2-40B4-BE49-F238E27FC236}">
                <a16:creationId xmlns:a16="http://schemas.microsoft.com/office/drawing/2014/main" id="{5F8F1811-30F0-496B-BAEC-7DEAB388B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95538"/>
            <a:ext cx="5257800" cy="423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0E91BE0F-DB3C-42D1-8BB2-DB55D5247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Niagara Design Point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8C06D349-3461-4AED-AEA6-9B9C54B2A8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Also designed for commercial applications</a:t>
            </a: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49BA2DDB-BBF9-43D1-BBF8-2523B4AE5C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A28ABB-63A7-4151-BC6A-89E2D4BC269E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63493" name="Picture 4" descr="niagara-commercial-apps.tiff">
            <a:extLst>
              <a:ext uri="{FF2B5EF4-FFF2-40B4-BE49-F238E27FC236}">
                <a16:creationId xmlns:a16="http://schemas.microsoft.com/office/drawing/2014/main" id="{3EB49F2F-AA19-42C5-A283-1937DF730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751888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4" name="Picture 5" descr="niagara-mlp.tiff">
            <a:extLst>
              <a:ext uri="{FF2B5EF4-FFF2-40B4-BE49-F238E27FC236}">
                <a16:creationId xmlns:a16="http://schemas.microsoft.com/office/drawing/2014/main" id="{5801ACE4-95BA-4D3C-A1C0-16F259CB3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038600"/>
            <a:ext cx="42164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F0574CD6-6301-41B0-8496-B54F148DA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Sun Niagara II (UltraSPARC T2)</a:t>
            </a:r>
          </a:p>
        </p:txBody>
      </p:sp>
      <p:pic>
        <p:nvPicPr>
          <p:cNvPr id="64515" name="Content Placeholder 15" descr="niagara2-die.tiff">
            <a:extLst>
              <a:ext uri="{FF2B5EF4-FFF2-40B4-BE49-F238E27FC236}">
                <a16:creationId xmlns:a16="http://schemas.microsoft.com/office/drawing/2014/main" id="{BE477ED0-810B-48ED-9A10-DA47540534F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053" b="-17053"/>
          <a:stretch>
            <a:fillRect/>
          </a:stretch>
        </p:blipFill>
        <p:spPr>
          <a:xfrm>
            <a:off x="0" y="757238"/>
            <a:ext cx="5181600" cy="5973762"/>
          </a:xfrm>
        </p:spPr>
      </p:pic>
      <p:sp>
        <p:nvSpPr>
          <p:cNvPr id="64516" name="Content Placeholder 14">
            <a:extLst>
              <a:ext uri="{FF2B5EF4-FFF2-40B4-BE49-F238E27FC236}">
                <a16:creationId xmlns:a16="http://schemas.microsoft.com/office/drawing/2014/main" id="{761390EA-9031-4D8B-BF5B-CD7963D4E0A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181600" y="990600"/>
            <a:ext cx="3962400" cy="5257800"/>
          </a:xfrm>
        </p:spPr>
        <p:txBody>
          <a:bodyPr/>
          <a:lstStyle/>
          <a:p>
            <a:r>
              <a:rPr lang="en-US" altLang="zh-CN" sz="20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8 SPARC cores, 8 threads/core. 8 stages. 16 KB I$ per Core. 8 KB D$ per Core. FP, Graphics, Crypto, units per Core. </a:t>
            </a:r>
          </a:p>
          <a:p>
            <a:endParaRPr lang="en-US" altLang="zh-CN" sz="20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MB Shared L2, 8 banks, 16-way set associative. </a:t>
            </a:r>
          </a:p>
          <a:p>
            <a:endParaRPr lang="en-US" altLang="zh-CN" sz="20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dual-channel FBDIMM memory controllers.</a:t>
            </a:r>
          </a:p>
          <a:p>
            <a:endParaRPr lang="en-US" altLang="zh-CN" sz="20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X8 PCI-Express @ 2.5 Gb/s.</a:t>
            </a:r>
          </a:p>
          <a:p>
            <a:endParaRPr lang="en-US" altLang="zh-CN" sz="20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10G Ethernet ports @ 3.125 Gb/s.</a:t>
            </a:r>
          </a:p>
        </p:txBody>
      </p:sp>
      <p:sp>
        <p:nvSpPr>
          <p:cNvPr id="64517" name="Slide Number Placeholder 3">
            <a:extLst>
              <a:ext uri="{FF2B5EF4-FFF2-40B4-BE49-F238E27FC236}">
                <a16:creationId xmlns:a16="http://schemas.microsoft.com/office/drawing/2014/main" id="{235205D4-A3C7-414E-852D-56007488DB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892584-32BA-4F9D-BE73-4B40E5655618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7">
            <a:extLst>
              <a:ext uri="{FF2B5EF4-FFF2-40B4-BE49-F238E27FC236}">
                <a16:creationId xmlns:a16="http://schemas.microsoft.com/office/drawing/2014/main" id="{D5BBBC3D-2D7E-4541-B4B1-39A4C236F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Chip Multithreading (CMT)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69B9AF-8E38-41C2-B540-29F1044413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Spracklen and Abraham,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rgbClr val="0000FF"/>
                </a:solidFill>
                <a:ea typeface="ＭＳ Ｐゴシック" panose="020B0600070205080204" pitchFamily="34" charset="-128"/>
              </a:rPr>
              <a:t>Chip Multithreading: Opportunities and Challenges</a:t>
            </a:r>
            <a:r>
              <a:rPr lang="en-US" altLang="ja-JP">
                <a:ea typeface="ＭＳ Ｐゴシック" panose="020B0600070205080204" pitchFamily="34" charset="-128"/>
              </a:rPr>
              <a:t>,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HPCA Industrial Session, 2005. </a:t>
            </a:r>
          </a:p>
          <a:p>
            <a:endParaRPr lang="en-US" altLang="zh-CN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zh-CN">
                <a:solidFill>
                  <a:srgbClr val="0000FF"/>
                </a:solidFill>
                <a:ea typeface="ＭＳ Ｐゴシック" panose="020B0600070205080204" pitchFamily="34" charset="-128"/>
              </a:rPr>
              <a:t>Idea: </a:t>
            </a:r>
            <a:r>
              <a:rPr lang="en-US" altLang="zh-CN">
                <a:ea typeface="ＭＳ Ｐゴシック" panose="020B0600070205080204" pitchFamily="34" charset="-128"/>
              </a:rPr>
              <a:t>Chip multiprocessor where each core is multithreaded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Niagara 1/2: fine grained multithreading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IBM POWER5: simultaneous multithreading</a:t>
            </a:r>
          </a:p>
          <a:p>
            <a:pPr lvl="1"/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solidFill>
                  <a:srgbClr val="0000FF"/>
                </a:solidFill>
                <a:ea typeface="ＭＳ Ｐゴシック" panose="020B0600070205080204" pitchFamily="34" charset="-128"/>
              </a:rPr>
              <a:t>Motivation:</a:t>
            </a:r>
            <a:r>
              <a:rPr lang="en-US" altLang="zh-CN">
                <a:ea typeface="ＭＳ Ｐゴシック" panose="020B0600070205080204" pitchFamily="34" charset="-128"/>
              </a:rPr>
              <a:t> Tolerate memory latency better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A simple core stays idle on a cache miss </a:t>
            </a:r>
            <a:endParaRPr lang="en-US" altLang="zh-CN">
              <a:ea typeface="ＭＳ Ｐゴシック" panose="020B0600070205080204" pitchFamily="34" charset="-128"/>
              <a:sym typeface="Wingdings" panose="05000000000000000000" pitchFamily="2" charset="2"/>
            </a:endParaRPr>
          </a:p>
          <a:p>
            <a:pPr lvl="1"/>
            <a:r>
              <a:rPr lang="en-US" altLang="zh-CN">
                <a:ea typeface="ＭＳ Ｐゴシック" panose="020B0600070205080204" pitchFamily="34" charset="-128"/>
                <a:sym typeface="Wingdings" panose="05000000000000000000" pitchFamily="2" charset="2"/>
              </a:rPr>
              <a:t>Multithreading enables tolerating cache miss latency when there is TLP</a:t>
            </a:r>
            <a:endParaRPr lang="en-US" altLang="zh-CN">
              <a:ea typeface="ＭＳ Ｐゴシック" panose="020B0600070205080204" pitchFamily="34" charset="-128"/>
            </a:endParaRPr>
          </a:p>
          <a:p>
            <a:pPr lvl="1"/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4">
            <a:extLst>
              <a:ext uri="{FF2B5EF4-FFF2-40B4-BE49-F238E27FC236}">
                <a16:creationId xmlns:a16="http://schemas.microsoft.com/office/drawing/2014/main" id="{FFE96E0D-345E-4D70-B728-C529CC9C91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DEEDF9-6A52-4536-A760-7441253BE51A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42C71B64-3127-444C-8EC5-C8C4196F4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CMT (CMP + MT) vs. CMP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1FDAC-7175-4509-8E0A-15AACBD544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Advantages of adding multithreading to each core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100">
                <a:ea typeface="ＭＳ Ｐゴシック" panose="020B0600070205080204" pitchFamily="34" charset="-128"/>
              </a:rPr>
              <a:t>+ Better memory latency tolerance when there are enough threads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100">
                <a:ea typeface="ＭＳ Ｐゴシック" panose="020B0600070205080204" pitchFamily="34" charset="-128"/>
              </a:rPr>
              <a:t>+ Fine grained multithreading can simplify core design (no need for branch prediction, dependency checking)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100">
                <a:ea typeface="ＭＳ Ｐゴシック" panose="020B0600070205080204" pitchFamily="34" charset="-128"/>
              </a:rPr>
              <a:t>+ Potentially better utilization of core, cache, memory resources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	</a:t>
            </a:r>
            <a:r>
              <a:rPr lang="en-US" altLang="zh-CN" sz="1800">
                <a:ea typeface="ＭＳ Ｐゴシック" panose="020B0600070205080204" pitchFamily="34" charset="-128"/>
              </a:rPr>
              <a:t>+ Shared instructions and data among threads not replicated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>
                <a:ea typeface="ＭＳ Ｐゴシック" panose="020B0600070205080204" pitchFamily="34" charset="-128"/>
              </a:rPr>
              <a:t>	+ When one thread is not using a resource, another can 	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ea typeface="ＭＳ Ｐゴシック" panose="020B0600070205080204" pitchFamily="34" charset="-128"/>
              </a:rPr>
              <a:t>Disadvantages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100">
                <a:ea typeface="ＭＳ Ｐゴシック" panose="020B0600070205080204" pitchFamily="34" charset="-128"/>
              </a:rPr>
              <a:t>- Reduced single-thread performance (a thread does not have the core and L1 caches to itself)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100">
                <a:ea typeface="ＭＳ Ｐゴシック" panose="020B0600070205080204" pitchFamily="34" charset="-128"/>
              </a:rPr>
              <a:t>- More pressure on the shared resources (cache, off-chip bandwidth) </a:t>
            </a:r>
            <a:r>
              <a:rPr lang="en-US" altLang="zh-CN" sz="2100">
                <a:ea typeface="ＭＳ Ｐゴシック" panose="020B0600070205080204" pitchFamily="34" charset="-128"/>
                <a:sym typeface="Wingdings" panose="05000000000000000000" pitchFamily="2" charset="2"/>
              </a:rPr>
              <a:t> more resource contention</a:t>
            </a:r>
            <a:endParaRPr lang="en-US" altLang="zh-CN" sz="2100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100">
                <a:ea typeface="ＭＳ Ｐゴシック" panose="020B0600070205080204" pitchFamily="34" charset="-128"/>
              </a:rPr>
              <a:t>- Applications with limited TLP do not benefit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E0C822DD-C74F-48C1-B996-2C36F6264E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C4A6AE-2A82-44AB-8CC7-37CCE9C48E45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39769C31-743F-480F-9A64-D1D355909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Sun ROCK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D6CA1-3E84-44EB-B59B-5A04BFEC75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403850"/>
          </a:xfrm>
        </p:spPr>
        <p:txBody>
          <a:bodyPr/>
          <a:lstStyle/>
          <a:p>
            <a:r>
              <a:rPr lang="en-US" altLang="zh-CN" sz="2000" dirty="0">
                <a:ea typeface="ＭＳ Ｐゴシック" panose="020B0600070205080204" pitchFamily="34" charset="-128"/>
              </a:rPr>
              <a:t>Chaudhry et al., </a:t>
            </a: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Rock: A High-Performance Sparc CMT Processor</a:t>
            </a:r>
            <a:r>
              <a:rPr lang="en-US" altLang="ja-JP" sz="2000" dirty="0">
                <a:ea typeface="ＭＳ Ｐゴシック" panose="020B0600070205080204" pitchFamily="34" charset="-128"/>
              </a:rPr>
              <a:t>,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ea typeface="ＭＳ Ｐゴシック" panose="020B0600070205080204" pitchFamily="34" charset="-128"/>
              </a:rPr>
              <a:t> IEEE Micro, 2009.</a:t>
            </a:r>
          </a:p>
          <a:p>
            <a:r>
              <a:rPr lang="en-US" altLang="zh-CN" sz="2000" dirty="0">
                <a:ea typeface="ＭＳ Ｐゴシック" panose="020B0600070205080204" pitchFamily="34" charset="-128"/>
              </a:rPr>
              <a:t>Chaudhry et al., </a:t>
            </a: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Simultaneous Speculative Threading: A Novel Pipeline Architecture Implemented in Sun's ROCK Processor</a:t>
            </a:r>
            <a:r>
              <a:rPr lang="en-US" altLang="ja-JP" sz="2000" dirty="0">
                <a:ea typeface="ＭＳ Ｐゴシック" panose="020B0600070205080204" pitchFamily="34" charset="-128"/>
              </a:rPr>
              <a:t>,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ea typeface="ＭＳ Ｐゴシック" panose="020B0600070205080204" pitchFamily="34" charset="-128"/>
              </a:rPr>
              <a:t> ISCA 2009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b="1" dirty="0">
                <a:ea typeface="ＭＳ Ｐゴシック" panose="020B0600070205080204" pitchFamily="34" charset="-128"/>
              </a:rPr>
              <a:t>Goals</a:t>
            </a:r>
            <a:r>
              <a:rPr lang="en-US" altLang="zh-CN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Maximize throughput when threads are available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Boost single-thread performance when threads are not available and on cache misses</a:t>
            </a:r>
          </a:p>
          <a:p>
            <a:r>
              <a:rPr lang="en-US" altLang="zh-CN" b="1" dirty="0">
                <a:ea typeface="ＭＳ Ｐゴシック" panose="020B0600070205080204" pitchFamily="34" charset="-128"/>
              </a:rPr>
              <a:t>Ideas: </a:t>
            </a:r>
          </a:p>
          <a:p>
            <a:pPr lvl="1"/>
            <a:r>
              <a:rPr lang="en-US" altLang="zh-CN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Runahead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on a cache miss 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ahead thread executes miss-independent instructions, behind thread executes dependent instructions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Branch prediction 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(</a:t>
            </a:r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gshare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)</a:t>
            </a: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B81D0C6-5501-4B0D-8AD6-459A80AC9A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108E5B-51D0-45EE-892A-619F826BAC6C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DFD5A0EA-D088-4D35-BF7A-60FE9DBFE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Sun ROCK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42598127-A0EB-4419-A360-0B64A58FBE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57800" y="996950"/>
            <a:ext cx="3886200" cy="51943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16 cores, 2 threads per core (fewer threads than Niagara 2)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4 cores share a 32KB instruction cache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2 cores share a 32KB data cache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2MB L2 cache (smaller than Niagara 2)</a:t>
            </a:r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4D41B3A6-92FF-49C5-93A9-07ED1B5AB2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F02DEF-283F-4AF6-94C5-F409CB1D0DD6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68613" name="Picture 4">
            <a:extLst>
              <a:ext uri="{FF2B5EF4-FFF2-40B4-BE49-F238E27FC236}">
                <a16:creationId xmlns:a16="http://schemas.microsoft.com/office/drawing/2014/main" id="{A10FF257-FD06-4E26-AAE7-1AA89B260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5257800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6AB2C8C5-F606-4746-B15C-A6A3530F9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Sun ROCK Cores</a:t>
            </a:r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A018C39B-9463-468D-A682-EE626E6358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 sz="2200">
                <a:ea typeface="ＭＳ Ｐゴシック" panose="020B0600070205080204" pitchFamily="34" charset="-128"/>
              </a:rPr>
              <a:t>Load miss in L1 cache starts parallelization using 2 HW threads</a:t>
            </a:r>
          </a:p>
          <a:p>
            <a:r>
              <a:rPr lang="en-US" altLang="zh-CN" sz="2200">
                <a:ea typeface="ＭＳ Ｐゴシック" panose="020B0600070205080204" pitchFamily="34" charset="-128"/>
              </a:rPr>
              <a:t>Ahead thread </a:t>
            </a:r>
          </a:p>
          <a:p>
            <a:pPr lvl="1"/>
            <a:r>
              <a:rPr lang="en-US" altLang="zh-CN" sz="2000">
                <a:ea typeface="ＭＳ Ｐゴシック" panose="020B0600070205080204" pitchFamily="34" charset="-128"/>
              </a:rPr>
              <a:t>Checkpoints state and executes speculatively </a:t>
            </a:r>
          </a:p>
          <a:p>
            <a:pPr lvl="1"/>
            <a:r>
              <a:rPr lang="en-US" altLang="zh-CN" sz="2000">
                <a:ea typeface="ＭＳ Ｐゴシック" panose="020B0600070205080204" pitchFamily="34" charset="-128"/>
              </a:rPr>
              <a:t>Instructions independent of load miss are speculatively executed</a:t>
            </a:r>
          </a:p>
          <a:p>
            <a:pPr lvl="1"/>
            <a:r>
              <a:rPr lang="en-US" altLang="zh-CN" sz="2000">
                <a:ea typeface="ＭＳ Ｐゴシック" panose="020B0600070205080204" pitchFamily="34" charset="-128"/>
              </a:rPr>
              <a:t>Load miss(es) and dependent instructions are deferred to behind thread </a:t>
            </a:r>
          </a:p>
          <a:p>
            <a:r>
              <a:rPr lang="en-US" altLang="zh-CN" sz="2200">
                <a:ea typeface="ＭＳ Ｐゴシック" panose="020B0600070205080204" pitchFamily="34" charset="-128"/>
              </a:rPr>
              <a:t>Behind thread </a:t>
            </a:r>
          </a:p>
          <a:p>
            <a:pPr lvl="1"/>
            <a:r>
              <a:rPr lang="en-US" altLang="zh-CN" sz="2000">
                <a:ea typeface="ＭＳ Ｐゴシック" panose="020B0600070205080204" pitchFamily="34" charset="-128"/>
              </a:rPr>
              <a:t>Executes deferred instructions and re-defers them if necessary</a:t>
            </a:r>
          </a:p>
          <a:p>
            <a:pPr lvl="1"/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 sz="2200">
                <a:ea typeface="ＭＳ Ｐゴシック" panose="020B0600070205080204" pitchFamily="34" charset="-128"/>
              </a:rPr>
              <a:t>Memory-Level Parallelism (MLP) </a:t>
            </a:r>
          </a:p>
          <a:p>
            <a:pPr lvl="1"/>
            <a:r>
              <a:rPr lang="en-US" altLang="zh-CN" sz="2000">
                <a:ea typeface="ＭＳ Ｐゴシック" panose="020B0600070205080204" pitchFamily="34" charset="-128"/>
              </a:rPr>
              <a:t>Run ahead on load miss and generate additional load misses </a:t>
            </a:r>
          </a:p>
          <a:p>
            <a:r>
              <a:rPr lang="en-US" altLang="zh-CN" sz="2200">
                <a:ea typeface="ＭＳ Ｐゴシック" panose="020B0600070205080204" pitchFamily="34" charset="-128"/>
              </a:rPr>
              <a:t>Instruction-Level Parallelism (ILP) </a:t>
            </a:r>
          </a:p>
          <a:p>
            <a:pPr lvl="1"/>
            <a:r>
              <a:rPr lang="en-US" altLang="zh-CN" sz="2000">
                <a:ea typeface="ＭＳ Ｐゴシック" panose="020B0600070205080204" pitchFamily="34" charset="-128"/>
              </a:rPr>
              <a:t>Ahead and behind threads execute independent instructions from different points in program in parallel</a:t>
            </a: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D3B683FE-D7B0-444A-BB8F-97249DBE57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39FEA0-82C8-4695-BCF9-2311360CB5A3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1D31E323-AB99-43F1-8AEE-D71BCC4D8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ROCK Pipeline</a:t>
            </a:r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9004C74B-CF35-4534-BA9D-7DBA1B68D7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7E9D9C68-5221-4CC0-8383-8B0F7EC992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71E220-0555-4091-A1C5-EDB92C034439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74757" name="Picture 4">
            <a:extLst>
              <a:ext uri="{FF2B5EF4-FFF2-40B4-BE49-F238E27FC236}">
                <a16:creationId xmlns:a16="http://schemas.microsoft.com/office/drawing/2014/main" id="{7165A83B-6D9C-45D6-8306-D742F662C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55700"/>
            <a:ext cx="8591550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026E5162-BA95-44AE-88D1-2BBD35010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More Powerful Cores in Sun ROCK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FB34-7674-449C-B8FF-A6C14D415D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Advantages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+ Higher single-thread performance (MLP + ILP)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+ Better cache miss tolerance </a:t>
            </a:r>
            <a:r>
              <a:rPr lang="en-US" altLang="zh-CN">
                <a:ea typeface="ＭＳ Ｐゴシック" panose="020B0600070205080204" pitchFamily="34" charset="-128"/>
                <a:sym typeface="Wingdings" panose="05000000000000000000" pitchFamily="2" charset="2"/>
              </a:rPr>
              <a:t> Can reduce on-chip cache sizes</a:t>
            </a:r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ea typeface="ＭＳ Ｐゴシック" panose="020B0600070205080204" pitchFamily="34" charset="-128"/>
              </a:rPr>
              <a:t>Disadvantages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- Bigger cores </a:t>
            </a:r>
            <a:r>
              <a:rPr lang="en-US" altLang="zh-CN">
                <a:ea typeface="ＭＳ Ｐゴシック" panose="020B0600070205080204" pitchFamily="34" charset="-128"/>
                <a:sym typeface="Wingdings" panose="05000000000000000000" pitchFamily="2" charset="2"/>
              </a:rPr>
              <a:t> Fewer cores  Lower parallel throughput (in terms of threads).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ea typeface="ＭＳ Ｐゴシック" panose="020B0600070205080204" pitchFamily="34" charset="-128"/>
                <a:sym typeface="Wingdings" panose="05000000000000000000" pitchFamily="2" charset="2"/>
              </a:rPr>
              <a:t>	How about each thread</a:t>
            </a:r>
            <a:r>
              <a:rPr lang="ja-JP" altLang="en-US">
                <a:ea typeface="ＭＳ Ｐゴシック" panose="020B0600070205080204" pitchFamily="34" charset="-128"/>
                <a:sym typeface="Wingdings" panose="05000000000000000000" pitchFamily="2" charset="2"/>
              </a:rPr>
              <a:t>’</a:t>
            </a:r>
            <a:r>
              <a:rPr lang="en-US" altLang="ja-JP">
                <a:ea typeface="ＭＳ Ｐゴシック" panose="020B0600070205080204" pitchFamily="34" charset="-128"/>
                <a:sym typeface="Wingdings" panose="05000000000000000000" pitchFamily="2" charset="2"/>
              </a:rPr>
              <a:t>s response time?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- More complex than Niagara cores (but simpler than conventional out-of-order execution) </a:t>
            </a:r>
            <a:r>
              <a:rPr lang="en-US" altLang="zh-CN">
                <a:ea typeface="ＭＳ Ｐゴシック" panose="020B0600070205080204" pitchFamily="34" charset="-128"/>
                <a:sym typeface="Wingdings" panose="05000000000000000000" pitchFamily="2" charset="2"/>
              </a:rPr>
              <a:t> Longer design time?</a:t>
            </a:r>
            <a:endParaRPr lang="en-US" altLang="zh-CN">
              <a:ea typeface="ＭＳ Ｐゴシック" panose="020B0600070205080204" pitchFamily="34" charset="-128"/>
            </a:endParaRPr>
          </a:p>
          <a:p>
            <a:pPr lvl="1"/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D1D5C4C9-4A17-41D4-9252-5B6FDFE4D6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9F933B-7739-4DC1-8144-8912A7BBAC2D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2E0BD3C3-BB0C-455A-BFA6-BDA342A4B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More Powerful Cores in Sun ROCK</a:t>
            </a:r>
          </a:p>
        </p:txBody>
      </p:sp>
      <p:sp>
        <p:nvSpPr>
          <p:cNvPr id="76803" name="Content Placeholder 2">
            <a:extLst>
              <a:ext uri="{FF2B5EF4-FFF2-40B4-BE49-F238E27FC236}">
                <a16:creationId xmlns:a16="http://schemas.microsoft.com/office/drawing/2014/main" id="{EBB301E4-A0E7-4F03-9BF6-268C284048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Chaudhry talk, Aug 2008.</a:t>
            </a:r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410FA928-708C-4D53-8DC2-3B657CFB09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1D93E6-8D87-4143-9698-72581AEDAC59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76805" name="Picture 5">
            <a:extLst>
              <a:ext uri="{FF2B5EF4-FFF2-40B4-BE49-F238E27FC236}">
                <a16:creationId xmlns:a16="http://schemas.microsoft.com/office/drawing/2014/main" id="{14A471A3-EB5A-4F02-A7C1-E8BBCA11B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98638"/>
            <a:ext cx="6464300" cy="414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5CCA7DE0-3723-45DA-AE93-88EC7FDF6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More Powerful Cores in Sun ROCK</a:t>
            </a:r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8AC420A2-6B5D-47DC-9AA5-959F9DC33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 sz="2000">
                <a:ea typeface="ＭＳ Ｐゴシック" panose="020B0600070205080204" pitchFamily="34" charset="-128"/>
              </a:rPr>
              <a:t>Chaudhry et al., </a:t>
            </a:r>
            <a:r>
              <a:rPr lang="ja-JP" altLang="en-US" sz="2000">
                <a:ea typeface="ＭＳ Ｐゴシック" panose="020B0600070205080204" pitchFamily="34" charset="-128"/>
              </a:rPr>
              <a:t>“</a:t>
            </a:r>
            <a:r>
              <a:rPr lang="en-US" altLang="ja-JP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Simultaneous Speculative Threading: A Novel Pipeline Architecture Implemented in Sun's ROCK Processor</a:t>
            </a:r>
            <a:r>
              <a:rPr lang="en-US" altLang="ja-JP" sz="2000">
                <a:ea typeface="ＭＳ Ｐゴシック" panose="020B0600070205080204" pitchFamily="34" charset="-128"/>
              </a:rPr>
              <a:t>,</a:t>
            </a:r>
            <a:r>
              <a:rPr lang="ja-JP" altLang="en-US" sz="2000">
                <a:ea typeface="ＭＳ Ｐゴシック" panose="020B0600070205080204" pitchFamily="34" charset="-128"/>
              </a:rPr>
              <a:t>”</a:t>
            </a:r>
            <a:r>
              <a:rPr lang="en-US" altLang="ja-JP" sz="2000">
                <a:ea typeface="ＭＳ Ｐゴシック" panose="020B0600070205080204" pitchFamily="34" charset="-128"/>
              </a:rPr>
              <a:t> ISCA 2009</a:t>
            </a:r>
            <a:endParaRPr lang="en-US" altLang="zh-CN" sz="2000">
              <a:ea typeface="ＭＳ Ｐゴシック" panose="020B0600070205080204" pitchFamily="34" charset="-128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C35F5A5D-2EEC-4AA3-B468-65291E37F8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18540E-0D23-47DE-B371-EE3EC48F532A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77829" name="Picture 6">
            <a:extLst>
              <a:ext uri="{FF2B5EF4-FFF2-40B4-BE49-F238E27FC236}">
                <a16:creationId xmlns:a16="http://schemas.microsoft.com/office/drawing/2014/main" id="{6BA14443-14B3-487F-B338-4C2A21BF4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28800"/>
            <a:ext cx="69215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385054E0-0D28-4523-9DDE-98F24E2C2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IBM POWER4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E1045FA0-91DD-4314-BFEB-2A5350DA0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Tendler et al.,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rgbClr val="0000FF"/>
                </a:solidFill>
                <a:ea typeface="ＭＳ Ｐゴシック" panose="020B0600070205080204" pitchFamily="34" charset="-128"/>
              </a:rPr>
              <a:t>POWER4 system microarchitecture</a:t>
            </a:r>
            <a:r>
              <a:rPr lang="en-US" altLang="ja-JP">
                <a:ea typeface="ＭＳ Ｐゴシック" panose="020B0600070205080204" pitchFamily="34" charset="-128"/>
              </a:rPr>
              <a:t>,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IBM J R&amp;D, 2002.</a:t>
            </a: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ea typeface="ＭＳ Ｐゴシック" panose="020B0600070205080204" pitchFamily="34" charset="-128"/>
              </a:rPr>
              <a:t>Another symmetric multi-core chip…</a:t>
            </a:r>
          </a:p>
          <a:p>
            <a:r>
              <a:rPr lang="en-US" altLang="zh-CN">
                <a:ea typeface="ＭＳ Ｐゴシック" panose="020B0600070205080204" pitchFamily="34" charset="-128"/>
              </a:rPr>
              <a:t>But, fewer and more powerful cores</a:t>
            </a: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23A1919F-C6E7-4AC2-98CC-7F1BCF0265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66EE39-2913-4EB1-B623-CF8D8C9A6DA6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78853" name="Picture 4" descr="power4-chip.tiff">
            <a:extLst>
              <a:ext uri="{FF2B5EF4-FFF2-40B4-BE49-F238E27FC236}">
                <a16:creationId xmlns:a16="http://schemas.microsoft.com/office/drawing/2014/main" id="{49ECBDDB-22BF-44D6-BCAB-2D55BEF61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400"/>
            <a:ext cx="4802188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4" name="Picture 5" descr="power4-core.tiff">
            <a:extLst>
              <a:ext uri="{FF2B5EF4-FFF2-40B4-BE49-F238E27FC236}">
                <a16:creationId xmlns:a16="http://schemas.microsoft.com/office/drawing/2014/main" id="{979DBABE-D890-4F66-B31B-73DAF7FC0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905000"/>
            <a:ext cx="33147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8128409B-2919-417D-A467-7D321830E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IBM POWER4</a:t>
            </a:r>
          </a:p>
        </p:txBody>
      </p:sp>
      <p:sp>
        <p:nvSpPr>
          <p:cNvPr id="79875" name="Content Placeholder 2">
            <a:extLst>
              <a:ext uri="{FF2B5EF4-FFF2-40B4-BE49-F238E27FC236}">
                <a16:creationId xmlns:a16="http://schemas.microsoft.com/office/drawing/2014/main" id="{089BB6F5-F6F7-43D4-A376-FB212AF20F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2 cores, out-of-order execution</a:t>
            </a:r>
          </a:p>
          <a:p>
            <a:r>
              <a:rPr lang="en-US" altLang="zh-CN">
                <a:ea typeface="ＭＳ Ｐゴシック" panose="020B0600070205080204" pitchFamily="34" charset="-128"/>
              </a:rPr>
              <a:t>100-entry instruction window in each core</a:t>
            </a:r>
          </a:p>
          <a:p>
            <a:r>
              <a:rPr lang="en-US" altLang="zh-CN">
                <a:ea typeface="ＭＳ Ｐゴシック" panose="020B0600070205080204" pitchFamily="34" charset="-128"/>
              </a:rPr>
              <a:t>8-wide instruction fetch, issue, execute</a:t>
            </a:r>
          </a:p>
          <a:p>
            <a:r>
              <a:rPr lang="en-US" altLang="zh-CN">
                <a:ea typeface="ＭＳ Ｐゴシック" panose="020B0600070205080204" pitchFamily="34" charset="-128"/>
              </a:rPr>
              <a:t>Large, local+global hybrid branch predictor</a:t>
            </a:r>
          </a:p>
          <a:p>
            <a:r>
              <a:rPr lang="en-US" altLang="zh-CN">
                <a:ea typeface="ＭＳ Ｐゴシック" panose="020B0600070205080204" pitchFamily="34" charset="-128"/>
              </a:rPr>
              <a:t>1.5MB, 8-way L2 cache</a:t>
            </a:r>
          </a:p>
          <a:p>
            <a:r>
              <a:rPr lang="en-US" altLang="zh-CN">
                <a:ea typeface="ＭＳ Ｐゴシック" panose="020B0600070205080204" pitchFamily="34" charset="-128"/>
              </a:rPr>
              <a:t>Aggressive stream based prefetching</a:t>
            </a: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1C5908E3-241D-4B8F-A3EB-F0BCD489F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6331EA-CA62-498A-B2E9-33233C184266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EAC097AE-C8D5-47BE-8991-757A441AF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IBM POWER5</a:t>
            </a:r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72B596C7-7FA7-4FEC-B1B9-C3CC301394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1800">
                <a:ea typeface="ＭＳ Ｐゴシック" panose="020B0600070205080204" pitchFamily="34" charset="-128"/>
              </a:rPr>
              <a:t>Kalla et al., </a:t>
            </a:r>
            <a:r>
              <a:rPr lang="ja-JP" altLang="en-US" sz="1800">
                <a:ea typeface="ＭＳ Ｐゴシック" panose="020B0600070205080204" pitchFamily="34" charset="-128"/>
              </a:rPr>
              <a:t>“</a:t>
            </a:r>
            <a:r>
              <a:rPr lang="en-US" altLang="ja-JP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IBM Power5 Chip: A Dual-Core Multithreaded Processor</a:t>
            </a:r>
            <a:r>
              <a:rPr lang="en-US" altLang="ja-JP" sz="1800">
                <a:ea typeface="ＭＳ Ｐゴシック" panose="020B0600070205080204" pitchFamily="34" charset="-128"/>
              </a:rPr>
              <a:t>,</a:t>
            </a:r>
            <a:r>
              <a:rPr lang="ja-JP" altLang="en-US" sz="1800">
                <a:ea typeface="ＭＳ Ｐゴシック" panose="020B0600070205080204" pitchFamily="34" charset="-128"/>
              </a:rPr>
              <a:t>”</a:t>
            </a:r>
            <a:r>
              <a:rPr lang="en-US" altLang="ja-JP" sz="1800">
                <a:ea typeface="ＭＳ Ｐゴシック" panose="020B0600070205080204" pitchFamily="34" charset="-128"/>
              </a:rPr>
              <a:t> IEEE Micro 2004.</a:t>
            </a:r>
          </a:p>
          <a:p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3DFE16C5-1E81-4670-A71C-44DC260EB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9D97B5-8D7B-40A9-823B-4FE1D307C6FD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80901" name="Picture 4">
            <a:extLst>
              <a:ext uri="{FF2B5EF4-FFF2-40B4-BE49-F238E27FC236}">
                <a16:creationId xmlns:a16="http://schemas.microsoft.com/office/drawing/2014/main" id="{7B7CA372-87FE-46C1-998E-D261EAFE7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892300"/>
            <a:ext cx="91186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A616B4FE-2A7F-4ECC-9B5B-27899E27C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IBM POWER6</a:t>
            </a:r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B3A5BC0D-39E8-4152-A9EB-1E300F71F3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4495800" cy="5194300"/>
          </a:xfrm>
        </p:spPr>
        <p:txBody>
          <a:bodyPr/>
          <a:lstStyle/>
          <a:p>
            <a:r>
              <a:rPr lang="en-US" altLang="zh-CN" sz="2200" dirty="0">
                <a:ea typeface="ＭＳ Ｐゴシック" panose="020B0600070205080204" pitchFamily="34" charset="-128"/>
              </a:rPr>
              <a:t>Le et al., </a:t>
            </a:r>
            <a:r>
              <a:rPr lang="ja-JP" altLang="en-US" sz="2200" dirty="0"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IBM POWER6 microarchitecture</a:t>
            </a:r>
            <a:r>
              <a:rPr lang="en-US" altLang="ja-JP" sz="2200" dirty="0">
                <a:ea typeface="ＭＳ Ｐゴシック" panose="020B0600070205080204" pitchFamily="34" charset="-128"/>
              </a:rPr>
              <a:t>,</a:t>
            </a:r>
            <a:r>
              <a:rPr lang="ja-JP" altLang="en-US" sz="2200" dirty="0">
                <a:ea typeface="ＭＳ Ｐゴシック" panose="020B0600070205080204" pitchFamily="34" charset="-128"/>
              </a:rPr>
              <a:t>”</a:t>
            </a:r>
            <a:r>
              <a:rPr lang="en-US" altLang="ja-JP" sz="2200" dirty="0">
                <a:ea typeface="ＭＳ Ｐゴシック" panose="020B0600070205080204" pitchFamily="34" charset="-128"/>
              </a:rPr>
              <a:t> IBM J R&amp;D, 2007.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200" dirty="0">
              <a:ea typeface="ＭＳ Ｐゴシック" panose="020B0600070205080204" pitchFamily="34" charset="-128"/>
            </a:endParaRPr>
          </a:p>
          <a:p>
            <a:r>
              <a:rPr lang="en-US" altLang="zh-CN" sz="2200" dirty="0">
                <a:ea typeface="ＭＳ Ｐゴシック" panose="020B0600070205080204" pitchFamily="34" charset="-128"/>
              </a:rPr>
              <a:t>2 cores, in order, high frequency (4.7 GHz)</a:t>
            </a:r>
          </a:p>
          <a:p>
            <a:r>
              <a:rPr lang="en-US" altLang="zh-CN" sz="2200" dirty="0">
                <a:ea typeface="ＭＳ Ｐゴシック" panose="020B0600070205080204" pitchFamily="34" charset="-128"/>
              </a:rPr>
              <a:t>8 wide fetch</a:t>
            </a:r>
          </a:p>
          <a:p>
            <a:r>
              <a:rPr lang="en-US" altLang="zh-CN" sz="2200" dirty="0">
                <a:ea typeface="ＭＳ Ｐゴシック" panose="020B0600070205080204" pitchFamily="34" charset="-128"/>
              </a:rPr>
              <a:t>Simultaneous multithreading in each core</a:t>
            </a:r>
          </a:p>
          <a:p>
            <a:r>
              <a:rPr lang="en-US" altLang="zh-CN" sz="2200" dirty="0" err="1">
                <a:ea typeface="ＭＳ Ｐゴシック" panose="020B0600070205080204" pitchFamily="34" charset="-128"/>
              </a:rPr>
              <a:t>Runahead</a:t>
            </a:r>
            <a:r>
              <a:rPr lang="en-US" altLang="zh-CN" sz="2200" dirty="0">
                <a:ea typeface="ＭＳ Ｐゴシック" panose="020B0600070205080204" pitchFamily="34" charset="-128"/>
              </a:rPr>
              <a:t> execution in each core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Similar to Sun ROCK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72A556D0-95F1-4567-BED4-1FEF8CD10C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529DBB-B16A-4F18-A661-AA8CA491E885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81925" name="Picture 4">
            <a:extLst>
              <a:ext uri="{FF2B5EF4-FFF2-40B4-BE49-F238E27FC236}">
                <a16:creationId xmlns:a16="http://schemas.microsoft.com/office/drawing/2014/main" id="{F5366A10-BAD8-4727-8752-8ADA090F5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0" y="1371600"/>
            <a:ext cx="44323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B0241133-749D-43FF-A740-D4A3480D0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IBM POWER7</a:t>
            </a:r>
          </a:p>
        </p:txBody>
      </p:sp>
      <p:sp>
        <p:nvSpPr>
          <p:cNvPr id="82947" name="Content Placeholder 2">
            <a:extLst>
              <a:ext uri="{FF2B5EF4-FFF2-40B4-BE49-F238E27FC236}">
                <a16:creationId xmlns:a16="http://schemas.microsoft.com/office/drawing/2014/main" id="{77CCCEE5-D91E-4040-B8B1-B715025C4F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Kalla et al., </a:t>
            </a:r>
            <a:r>
              <a:rPr lang="en-US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rgbClr val="0000FF"/>
                </a:solidFill>
                <a:ea typeface="ＭＳ Ｐゴシック" panose="020B0600070205080204" pitchFamily="34" charset="-128"/>
              </a:rPr>
              <a:t>Power7: IBM</a:t>
            </a:r>
            <a:r>
              <a:rPr lang="en-US" altLang="en-US">
                <a:solidFill>
                  <a:srgbClr val="0000F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0000FF"/>
                </a:solidFill>
                <a:ea typeface="ＭＳ Ｐゴシック" panose="020B0600070205080204" pitchFamily="34" charset="-128"/>
              </a:rPr>
              <a:t>s Next-Generation Server Processor</a:t>
            </a:r>
            <a:r>
              <a:rPr lang="en-US" altLang="ja-JP">
                <a:ea typeface="ＭＳ Ｐゴシック" panose="020B0600070205080204" pitchFamily="34" charset="-128"/>
              </a:rPr>
              <a:t>,</a:t>
            </a:r>
            <a:r>
              <a:rPr lang="en-US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IEEE Micro 2010.</a:t>
            </a:r>
          </a:p>
          <a:p>
            <a:r>
              <a:rPr lang="en-US" altLang="zh-CN">
                <a:solidFill>
                  <a:srgbClr val="0000FF"/>
                </a:solidFill>
                <a:ea typeface="ＭＳ Ｐゴシック" panose="020B0600070205080204" pitchFamily="34" charset="-128"/>
              </a:rPr>
              <a:t>8 out-of-order cores, 4-way SMT in each core</a:t>
            </a:r>
          </a:p>
          <a:p>
            <a:r>
              <a:rPr lang="en-US" altLang="zh-CN">
                <a:ea typeface="ＭＳ Ｐゴシック" panose="020B0600070205080204" pitchFamily="34" charset="-128"/>
              </a:rPr>
              <a:t>TurboCore mode 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Can turn off cores so that other cores can be run at higher frequency</a:t>
            </a:r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36825D00-28FE-45C2-8C98-8AB2011761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37F9A6-00CC-4BAF-838C-65B689F488FB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AE06ADAF-8058-4066-9A62-8AE91E0F78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Large vs. Small Cores</a:t>
            </a: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FFAD061F-F085-483D-ABAA-0C81E90B7B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884D67-FF73-4BAD-BB29-015BD524F5AB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F82C2F5-821D-475A-B2D5-CB0BCD236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362200"/>
            <a:ext cx="3810000" cy="352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i="1" kern="0" dirty="0">
                <a:latin typeface="+mn-lt"/>
                <a:ea typeface="+mn-ea"/>
              </a:rPr>
              <a:t>Out-of-order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i="1" kern="0" dirty="0">
                <a:latin typeface="+mn-lt"/>
                <a:ea typeface="+mn-ea"/>
              </a:rPr>
              <a:t>Wide fetch e.g. 4-wide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i="1" kern="0" dirty="0">
                <a:latin typeface="+mn-lt"/>
                <a:ea typeface="+mn-ea"/>
              </a:rPr>
              <a:t>Deeper pipeline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i="1" kern="0" dirty="0">
                <a:latin typeface="+mn-lt"/>
                <a:ea typeface="+mn-ea"/>
              </a:rPr>
              <a:t>Aggressive branch predictor (e.g. hybrid)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i="1" kern="0" dirty="0">
                <a:latin typeface="+mn-lt"/>
                <a:ea typeface="+mn-ea"/>
              </a:rPr>
              <a:t>Multiple functional units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i="1" kern="0" dirty="0">
                <a:latin typeface="+mn-lt"/>
                <a:ea typeface="+mn-ea"/>
              </a:rPr>
              <a:t>Trace cache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i="1" kern="0" dirty="0">
                <a:latin typeface="+mn-lt"/>
                <a:ea typeface="+mn-ea"/>
              </a:rPr>
              <a:t>Memory dependence speculation</a:t>
            </a:r>
          </a:p>
        </p:txBody>
      </p:sp>
      <p:sp>
        <p:nvSpPr>
          <p:cNvPr id="83974" name="Rectangle 4">
            <a:extLst>
              <a:ext uri="{FF2B5EF4-FFF2-40B4-BE49-F238E27FC236}">
                <a16:creationId xmlns:a16="http://schemas.microsoft.com/office/drawing/2014/main" id="{0360DB20-CB11-4B05-AFB5-CF8E7CFBA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286000"/>
            <a:ext cx="4114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SzTx/>
              <a:buFontTx/>
              <a:buChar char="•"/>
            </a:pPr>
            <a:r>
              <a:rPr lang="en-US" altLang="zh-CN" i="1">
                <a:latin typeface="Arial" panose="020B0604020202020204" pitchFamily="34" charset="0"/>
              </a:rPr>
              <a:t>In-order</a:t>
            </a:r>
          </a:p>
          <a:p>
            <a:pPr>
              <a:buClrTx/>
              <a:buSzTx/>
              <a:buFontTx/>
              <a:buChar char="•"/>
            </a:pPr>
            <a:r>
              <a:rPr lang="en-US" altLang="zh-CN" i="1">
                <a:latin typeface="Arial" panose="020B0604020202020204" pitchFamily="34" charset="0"/>
              </a:rPr>
              <a:t>Narrow Fetch e.g. 2-wide</a:t>
            </a:r>
          </a:p>
          <a:p>
            <a:pPr>
              <a:buClrTx/>
              <a:buSzTx/>
              <a:buFontTx/>
              <a:buChar char="•"/>
            </a:pPr>
            <a:r>
              <a:rPr lang="en-US" altLang="zh-CN" i="1">
                <a:latin typeface="Arial" panose="020B0604020202020204" pitchFamily="34" charset="0"/>
              </a:rPr>
              <a:t>Shallow pipeline</a:t>
            </a:r>
          </a:p>
          <a:p>
            <a:pPr>
              <a:buClrTx/>
              <a:buSzTx/>
              <a:buFontTx/>
              <a:buChar char="•"/>
            </a:pPr>
            <a:r>
              <a:rPr lang="en-US" altLang="zh-CN" i="1">
                <a:latin typeface="Arial" panose="020B0604020202020204" pitchFamily="34" charset="0"/>
              </a:rPr>
              <a:t>Simple branch predictor (e.g. Gshare)</a:t>
            </a:r>
          </a:p>
          <a:p>
            <a:pPr>
              <a:buClrTx/>
              <a:buSzTx/>
              <a:buFontTx/>
              <a:buChar char="•"/>
            </a:pPr>
            <a:r>
              <a:rPr lang="en-US" altLang="zh-CN" i="1">
                <a:latin typeface="Arial" panose="020B0604020202020204" pitchFamily="34" charset="0"/>
              </a:rPr>
              <a:t>Few functional units</a:t>
            </a:r>
          </a:p>
        </p:txBody>
      </p:sp>
      <p:sp>
        <p:nvSpPr>
          <p:cNvPr id="83975" name="Line 5">
            <a:extLst>
              <a:ext uri="{FF2B5EF4-FFF2-40B4-BE49-F238E27FC236}">
                <a16:creationId xmlns:a16="http://schemas.microsoft.com/office/drawing/2014/main" id="{C19D1FB6-7553-46B3-B4D4-81E8B4450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990600"/>
            <a:ext cx="0" cy="4906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6" name="Rectangle 6">
            <a:extLst>
              <a:ext uri="{FF2B5EF4-FFF2-40B4-BE49-F238E27FC236}">
                <a16:creationId xmlns:a16="http://schemas.microsoft.com/office/drawing/2014/main" id="{28EA5D96-2855-411B-8FB6-CC4841819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990600"/>
            <a:ext cx="1295400" cy="12493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Large</a:t>
            </a:r>
            <a:br>
              <a:rPr lang="en-US" altLang="zh-CN" sz="1800" b="1">
                <a:latin typeface="Arial" panose="020B0604020202020204" pitchFamily="34" charset="0"/>
              </a:rPr>
            </a:br>
            <a:r>
              <a:rPr lang="en-US" altLang="zh-CN" sz="1800" b="1">
                <a:latin typeface="Arial" panose="020B0604020202020204" pitchFamily="34" charset="0"/>
              </a:rPr>
              <a:t>Core</a:t>
            </a:r>
          </a:p>
        </p:txBody>
      </p:sp>
      <p:sp>
        <p:nvSpPr>
          <p:cNvPr id="83977" name="Rectangle 7">
            <a:extLst>
              <a:ext uri="{FF2B5EF4-FFF2-40B4-BE49-F238E27FC236}">
                <a16:creationId xmlns:a16="http://schemas.microsoft.com/office/drawing/2014/main" id="{492553C8-68DE-4266-BD2F-9B55D89B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1347788"/>
            <a:ext cx="685800" cy="7159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Small</a:t>
            </a:r>
            <a:br>
              <a:rPr lang="en-US" altLang="zh-CN" sz="1800" b="1">
                <a:latin typeface="Arial" panose="020B0604020202020204" pitchFamily="34" charset="0"/>
              </a:rPr>
            </a:br>
            <a:r>
              <a:rPr lang="en-US" altLang="zh-CN" sz="1800" b="1">
                <a:latin typeface="Arial" panose="020B0604020202020204" pitchFamily="34" charset="0"/>
              </a:rPr>
              <a:t>Core</a:t>
            </a:r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11BD8738-82F7-4E57-A5C6-8700FE5D5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638800"/>
            <a:ext cx="7620000" cy="1143000"/>
          </a:xfrm>
          <a:prstGeom prst="flowChartAlternateProcess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3200">
                <a:latin typeface="Arial" panose="020B0604020202020204" pitchFamily="34" charset="0"/>
              </a:rPr>
              <a:t>Large Cores are power inefficient:</a:t>
            </a:r>
            <a:br>
              <a:rPr lang="en-US" altLang="zh-CN" sz="3200">
                <a:latin typeface="Arial" panose="020B0604020202020204" pitchFamily="34" charset="0"/>
              </a:rPr>
            </a:br>
            <a:r>
              <a:rPr lang="en-US" altLang="zh-CN" sz="3200">
                <a:latin typeface="Arial" panose="020B0604020202020204" pitchFamily="34" charset="0"/>
              </a:rPr>
              <a:t>e.g., 2x performance for 4x area (power)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7E60B635-2F3B-4F96-AF91-8F6CDDD5E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Large vs. Small Cores</a:t>
            </a:r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5B8F968B-2688-46F1-80C5-9CE82A9079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Grochowski et al.,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rgbClr val="0000FF"/>
                </a:solidFill>
                <a:ea typeface="ＭＳ Ｐゴシック" panose="020B0600070205080204" pitchFamily="34" charset="-128"/>
              </a:rPr>
              <a:t>Best of both Latency and Throughput</a:t>
            </a:r>
            <a:r>
              <a:rPr lang="en-US" altLang="ja-JP">
                <a:ea typeface="ＭＳ Ｐゴシック" panose="020B0600070205080204" pitchFamily="34" charset="-128"/>
              </a:rPr>
              <a:t>,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ICCD 2004.</a:t>
            </a:r>
          </a:p>
          <a:p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2A25AE19-7710-422D-ADC4-327CAA0218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4D4416-009B-4667-8812-21034F66088F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84997" name="Picture 4">
            <a:extLst>
              <a:ext uri="{FF2B5EF4-FFF2-40B4-BE49-F238E27FC236}">
                <a16:creationId xmlns:a16="http://schemas.microsoft.com/office/drawing/2014/main" id="{309C87FC-C635-4867-9142-A7E252823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362200"/>
            <a:ext cx="546258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4D4E9A67-3C4E-4F89-AFEB-BE7051F5F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Tile-Large Approach</a:t>
            </a:r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82E30ED8-A935-4FAC-AB05-C11A7CE5C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sz="2200" dirty="0">
                <a:ea typeface="ＭＳ Ｐゴシック" panose="020B0600070205080204" pitchFamily="34" charset="-128"/>
              </a:rPr>
              <a:t>Tile a few large cores</a:t>
            </a:r>
          </a:p>
          <a:p>
            <a:r>
              <a:rPr lang="en-US" altLang="zh-CN" sz="2200" dirty="0">
                <a:ea typeface="ＭＳ Ｐゴシック" panose="020B0600070205080204" pitchFamily="34" charset="-128"/>
              </a:rPr>
              <a:t>IBM Power 5, AMD Barcelona, Intel Core2Quad, Intel Nehalem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dirty="0">
                <a:ea typeface="ＭＳ Ｐゴシック" panose="020B0600070205080204" pitchFamily="34" charset="-128"/>
              </a:rPr>
              <a:t>+ High performance on single thread, serial code sections (2 units)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dirty="0">
                <a:ea typeface="ＭＳ Ｐゴシック" panose="020B0600070205080204" pitchFamily="34" charset="-128"/>
              </a:rPr>
              <a:t>- Low throughput on parallel program portions (8 units)</a:t>
            </a: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63BED8D1-A6BD-4E71-ACDF-7136D23B71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9A96AB-92EB-406E-A5B1-F4D18DABA7ED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86021" name="Group 4">
            <a:extLst>
              <a:ext uri="{FF2B5EF4-FFF2-40B4-BE49-F238E27FC236}">
                <a16:creationId xmlns:a16="http://schemas.microsoft.com/office/drawing/2014/main" id="{F829A8EA-3572-40A8-BE66-00B5E9032DD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95400"/>
            <a:ext cx="2362200" cy="2805113"/>
            <a:chOff x="384" y="816"/>
            <a:chExt cx="1488" cy="1767"/>
          </a:xfrm>
        </p:grpSpPr>
        <p:sp>
          <p:nvSpPr>
            <p:cNvPr id="86022" name="Rectangle 17">
              <a:extLst>
                <a:ext uri="{FF2B5EF4-FFF2-40B4-BE49-F238E27FC236}">
                  <a16:creationId xmlns:a16="http://schemas.microsoft.com/office/drawing/2014/main" id="{5B2C38B1-BF7D-43AA-8A4E-AD6E00D02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816"/>
              <a:ext cx="1440" cy="144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6023" name="Rectangle 19">
              <a:extLst>
                <a:ext uri="{FF2B5EF4-FFF2-40B4-BE49-F238E27FC236}">
                  <a16:creationId xmlns:a16="http://schemas.microsoft.com/office/drawing/2014/main" id="{5F02E3CD-21DB-46EB-89D4-0D34CE843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536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  <a:br>
                <a:rPr lang="en-US" altLang="zh-CN" sz="1600" b="1">
                  <a:latin typeface="Arial" panose="020B0604020202020204" pitchFamily="34" charset="0"/>
                </a:rPr>
              </a:b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6024" name="Rectangle 20">
              <a:extLst>
                <a:ext uri="{FF2B5EF4-FFF2-40B4-BE49-F238E27FC236}">
                  <a16:creationId xmlns:a16="http://schemas.microsoft.com/office/drawing/2014/main" id="{290FD053-175E-4EDF-B107-E73974780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536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  <a:br>
                <a:rPr lang="en-US" altLang="zh-CN" sz="1600" b="1">
                  <a:latin typeface="Arial" panose="020B0604020202020204" pitchFamily="34" charset="0"/>
                </a:rPr>
              </a:b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6025" name="Rectangle 21">
              <a:extLst>
                <a:ext uri="{FF2B5EF4-FFF2-40B4-BE49-F238E27FC236}">
                  <a16:creationId xmlns:a16="http://schemas.microsoft.com/office/drawing/2014/main" id="{D0E2619C-B183-451E-9413-7312FF2B6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864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6026" name="Rectangle 22">
              <a:extLst>
                <a:ext uri="{FF2B5EF4-FFF2-40B4-BE49-F238E27FC236}">
                  <a16:creationId xmlns:a16="http://schemas.microsoft.com/office/drawing/2014/main" id="{991FF731-F6EE-421F-9BD4-077E7ED2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864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  <a:br>
                <a:rPr lang="en-US" altLang="zh-CN" sz="1600" b="1">
                  <a:latin typeface="Arial" panose="020B0604020202020204" pitchFamily="34" charset="0"/>
                </a:rPr>
              </a:b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6027" name="Text Box 68">
              <a:extLst>
                <a:ext uri="{FF2B5EF4-FFF2-40B4-BE49-F238E27FC236}">
                  <a16:creationId xmlns:a16="http://schemas.microsoft.com/office/drawing/2014/main" id="{B996A607-C488-4317-A16F-41A132D41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352"/>
              <a:ext cx="1488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ja-JP" altLang="en-US" sz="1800">
                  <a:latin typeface="Times New Roman" panose="02020603050405020304" pitchFamily="18" charset="0"/>
                  <a:cs typeface="Arial" panose="020B0604020202020204" pitchFamily="34" charset="0"/>
                </a:rPr>
                <a:t>“</a:t>
              </a:r>
              <a:r>
                <a:rPr lang="en-US" altLang="ja-JP" sz="1800">
                  <a:latin typeface="Times New Roman" panose="02020603050405020304" pitchFamily="18" charset="0"/>
                  <a:cs typeface="Arial" panose="020B0604020202020204" pitchFamily="34" charset="0"/>
                </a:rPr>
                <a:t>Tile-Large</a:t>
              </a:r>
              <a:r>
                <a:rPr lang="ja-JP" altLang="en-US" sz="1800">
                  <a:latin typeface="Times New Roman" panose="02020603050405020304" pitchFamily="18" charset="0"/>
                  <a:cs typeface="Arial" panose="020B0604020202020204" pitchFamily="34" charset="0"/>
                </a:rPr>
                <a:t>”</a:t>
              </a:r>
              <a:endParaRPr lang="en-US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85BA5C5D-EE69-4B03-A6E5-7625363F7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Tile-Small Approach</a:t>
            </a:r>
          </a:p>
        </p:txBody>
      </p:sp>
      <p:sp>
        <p:nvSpPr>
          <p:cNvPr id="87043" name="Content Placeholder 2">
            <a:extLst>
              <a:ext uri="{FF2B5EF4-FFF2-40B4-BE49-F238E27FC236}">
                <a16:creationId xmlns:a16="http://schemas.microsoft.com/office/drawing/2014/main" id="{48225720-DF47-4FD1-A65F-BB025B9EF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ea typeface="ＭＳ Ｐゴシック" panose="020B0600070205080204" pitchFamily="34" charset="-128"/>
              </a:rPr>
              <a:t>Tile many small cores</a:t>
            </a:r>
          </a:p>
          <a:p>
            <a:r>
              <a:rPr lang="en-US" altLang="zh-CN">
                <a:ea typeface="ＭＳ Ｐゴシック" panose="020B0600070205080204" pitchFamily="34" charset="-128"/>
              </a:rPr>
              <a:t>Sun Niagara, Intel Larrabee, Tilera TILE (tile ultra-small)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+ High throughput on the parallel part (16 units)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- Low performance on the serial part, single thread (1 unit)</a:t>
            </a:r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81A7DB80-6345-47E2-BC25-5B2BE0169F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4F915B-360D-4A69-9918-EBF03E6FA430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87045" name="Group 74">
            <a:extLst>
              <a:ext uri="{FF2B5EF4-FFF2-40B4-BE49-F238E27FC236}">
                <a16:creationId xmlns:a16="http://schemas.microsoft.com/office/drawing/2014/main" id="{02918979-9E61-47CD-9E13-88489E8C0CE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295400"/>
            <a:ext cx="2286000" cy="2805113"/>
            <a:chOff x="576" y="1008"/>
            <a:chExt cx="1440" cy="1767"/>
          </a:xfrm>
        </p:grpSpPr>
        <p:sp>
          <p:nvSpPr>
            <p:cNvPr id="87046" name="Rectangle 4">
              <a:extLst>
                <a:ext uri="{FF2B5EF4-FFF2-40B4-BE49-F238E27FC236}">
                  <a16:creationId xmlns:a16="http://schemas.microsoft.com/office/drawing/2014/main" id="{DEE59764-DE28-4041-9C21-2DA5CBC54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08"/>
              <a:ext cx="1440" cy="144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87047" name="Group 27">
              <a:extLst>
                <a:ext uri="{FF2B5EF4-FFF2-40B4-BE49-F238E27FC236}">
                  <a16:creationId xmlns:a16="http://schemas.microsoft.com/office/drawing/2014/main" id="{611EE18E-9E19-497D-8AA8-6136EDB9E8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056"/>
              <a:ext cx="672" cy="672"/>
              <a:chOff x="3648" y="3120"/>
              <a:chExt cx="672" cy="672"/>
            </a:xfrm>
          </p:grpSpPr>
          <p:sp>
            <p:nvSpPr>
              <p:cNvPr id="87064" name="Rectangle 28">
                <a:extLst>
                  <a:ext uri="{FF2B5EF4-FFF2-40B4-BE49-F238E27FC236}">
                    <a16:creationId xmlns:a16="http://schemas.microsoft.com/office/drawing/2014/main" id="{53D0C0B8-4378-4E5E-B04C-CDF036368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>
                    <a:latin typeface="Arial" panose="020B0604020202020204" pitchFamily="34" charset="0"/>
                  </a:rPr>
                </a:br>
                <a:r>
                  <a:rPr lang="en-US" altLang="zh-CN" sz="1000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65" name="Rectangle 29">
                <a:extLst>
                  <a:ext uri="{FF2B5EF4-FFF2-40B4-BE49-F238E27FC236}">
                    <a16:creationId xmlns:a16="http://schemas.microsoft.com/office/drawing/2014/main" id="{9F3F809D-A8F6-45A0-A9C8-06223A6CA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66" name="Rectangle 30">
                <a:extLst>
                  <a:ext uri="{FF2B5EF4-FFF2-40B4-BE49-F238E27FC236}">
                    <a16:creationId xmlns:a16="http://schemas.microsoft.com/office/drawing/2014/main" id="{12834448-DDBA-4470-8FE8-F0B639D41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67" name="Rectangle 31">
                <a:extLst>
                  <a:ext uri="{FF2B5EF4-FFF2-40B4-BE49-F238E27FC236}">
                    <a16:creationId xmlns:a16="http://schemas.microsoft.com/office/drawing/2014/main" id="{EA10D831-DBE8-4186-BBCC-321DD8295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grpSp>
          <p:nvGrpSpPr>
            <p:cNvPr id="87048" name="Group 32">
              <a:extLst>
                <a:ext uri="{FF2B5EF4-FFF2-40B4-BE49-F238E27FC236}">
                  <a16:creationId xmlns:a16="http://schemas.microsoft.com/office/drawing/2014/main" id="{0FD73754-EEFC-483B-9637-C2A89E60F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728"/>
              <a:ext cx="672" cy="672"/>
              <a:chOff x="3648" y="3120"/>
              <a:chExt cx="672" cy="672"/>
            </a:xfrm>
          </p:grpSpPr>
          <p:sp>
            <p:nvSpPr>
              <p:cNvPr id="87060" name="Rectangle 33">
                <a:extLst>
                  <a:ext uri="{FF2B5EF4-FFF2-40B4-BE49-F238E27FC236}">
                    <a16:creationId xmlns:a16="http://schemas.microsoft.com/office/drawing/2014/main" id="{AE49365E-BB93-433E-9F21-C5B06A0C0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61" name="Rectangle 34">
                <a:extLst>
                  <a:ext uri="{FF2B5EF4-FFF2-40B4-BE49-F238E27FC236}">
                    <a16:creationId xmlns:a16="http://schemas.microsoft.com/office/drawing/2014/main" id="{1185910A-9FA5-449C-9290-CE7906E95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62" name="Rectangle 35">
                <a:extLst>
                  <a:ext uri="{FF2B5EF4-FFF2-40B4-BE49-F238E27FC236}">
                    <a16:creationId xmlns:a16="http://schemas.microsoft.com/office/drawing/2014/main" id="{80D3B830-1040-4269-9FBD-092689F3D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63" name="Rectangle 36">
                <a:extLst>
                  <a:ext uri="{FF2B5EF4-FFF2-40B4-BE49-F238E27FC236}">
                    <a16:creationId xmlns:a16="http://schemas.microsoft.com/office/drawing/2014/main" id="{5151AD9B-F651-4055-B706-40FFCBB35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grpSp>
          <p:nvGrpSpPr>
            <p:cNvPr id="87049" name="Group 37">
              <a:extLst>
                <a:ext uri="{FF2B5EF4-FFF2-40B4-BE49-F238E27FC236}">
                  <a16:creationId xmlns:a16="http://schemas.microsoft.com/office/drawing/2014/main" id="{56A88A94-DF1C-4410-B504-6A8C63074F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056"/>
              <a:ext cx="672" cy="672"/>
              <a:chOff x="3648" y="3120"/>
              <a:chExt cx="672" cy="672"/>
            </a:xfrm>
          </p:grpSpPr>
          <p:sp>
            <p:nvSpPr>
              <p:cNvPr id="87056" name="Rectangle 38">
                <a:extLst>
                  <a:ext uri="{FF2B5EF4-FFF2-40B4-BE49-F238E27FC236}">
                    <a16:creationId xmlns:a16="http://schemas.microsoft.com/office/drawing/2014/main" id="{BF453864-DAFD-4655-9263-764BA3CBB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57" name="Rectangle 39">
                <a:extLst>
                  <a:ext uri="{FF2B5EF4-FFF2-40B4-BE49-F238E27FC236}">
                    <a16:creationId xmlns:a16="http://schemas.microsoft.com/office/drawing/2014/main" id="{588C9B7F-A16A-4306-9919-1D81CCDDB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58" name="Rectangle 40">
                <a:extLst>
                  <a:ext uri="{FF2B5EF4-FFF2-40B4-BE49-F238E27FC236}">
                    <a16:creationId xmlns:a16="http://schemas.microsoft.com/office/drawing/2014/main" id="{FCA4F694-4BF8-43BE-B429-2F10F1D14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59" name="Rectangle 41">
                <a:extLst>
                  <a:ext uri="{FF2B5EF4-FFF2-40B4-BE49-F238E27FC236}">
                    <a16:creationId xmlns:a16="http://schemas.microsoft.com/office/drawing/2014/main" id="{8BE2F64C-0EEB-45F8-AE42-B6B293E58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grpSp>
          <p:nvGrpSpPr>
            <p:cNvPr id="87050" name="Group 42">
              <a:extLst>
                <a:ext uri="{FF2B5EF4-FFF2-40B4-BE49-F238E27FC236}">
                  <a16:creationId xmlns:a16="http://schemas.microsoft.com/office/drawing/2014/main" id="{ED47F9E4-2DFC-4F3F-9BED-07D1A0D64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728"/>
              <a:ext cx="672" cy="672"/>
              <a:chOff x="3648" y="3120"/>
              <a:chExt cx="672" cy="672"/>
            </a:xfrm>
          </p:grpSpPr>
          <p:sp>
            <p:nvSpPr>
              <p:cNvPr id="87052" name="Rectangle 43">
                <a:extLst>
                  <a:ext uri="{FF2B5EF4-FFF2-40B4-BE49-F238E27FC236}">
                    <a16:creationId xmlns:a16="http://schemas.microsoft.com/office/drawing/2014/main" id="{D4628406-B380-486E-B653-5190B39C3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53" name="Rectangle 44">
                <a:extLst>
                  <a:ext uri="{FF2B5EF4-FFF2-40B4-BE49-F238E27FC236}">
                    <a16:creationId xmlns:a16="http://schemas.microsoft.com/office/drawing/2014/main" id="{B658F6C4-535D-4D35-9E5F-5D5AB5716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54" name="Rectangle 45">
                <a:extLst>
                  <a:ext uri="{FF2B5EF4-FFF2-40B4-BE49-F238E27FC236}">
                    <a16:creationId xmlns:a16="http://schemas.microsoft.com/office/drawing/2014/main" id="{C247FE74-B56E-483B-93C7-992A526FB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7055" name="Rectangle 46">
                <a:extLst>
                  <a:ext uri="{FF2B5EF4-FFF2-40B4-BE49-F238E27FC236}">
                    <a16:creationId xmlns:a16="http://schemas.microsoft.com/office/drawing/2014/main" id="{1E2F1B20-59C5-488A-BEF8-FC61E7940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sp>
          <p:nvSpPr>
            <p:cNvPr id="87051" name="Text Box 69">
              <a:extLst>
                <a:ext uri="{FF2B5EF4-FFF2-40B4-BE49-F238E27FC236}">
                  <a16:creationId xmlns:a16="http://schemas.microsoft.com/office/drawing/2014/main" id="{6D3D4592-B835-4BB1-A4D1-B9DE0445E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44"/>
              <a:ext cx="134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ja-JP" altLang="en-US" sz="1800">
                  <a:latin typeface="Times New Roman" panose="02020603050405020304" pitchFamily="18" charset="0"/>
                  <a:cs typeface="Arial" panose="020B0604020202020204" pitchFamily="34" charset="0"/>
                </a:rPr>
                <a:t>“</a:t>
              </a:r>
              <a:r>
                <a:rPr lang="en-US" altLang="ja-JP" sz="1800">
                  <a:latin typeface="Times New Roman" panose="02020603050405020304" pitchFamily="18" charset="0"/>
                  <a:cs typeface="Arial" panose="020B0604020202020204" pitchFamily="34" charset="0"/>
                </a:rPr>
                <a:t>Tile-Small</a:t>
              </a:r>
              <a:r>
                <a:rPr lang="ja-JP" altLang="en-US" sz="1800">
                  <a:latin typeface="Times New Roman" panose="02020603050405020304" pitchFamily="18" charset="0"/>
                  <a:cs typeface="Arial" panose="020B0604020202020204" pitchFamily="34" charset="0"/>
                </a:rPr>
                <a:t>”</a:t>
              </a:r>
              <a:endParaRPr lang="en-US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4BD48467-4B4B-4D4E-9543-D3D2FE747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Can We Get the Best of Both worlds?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38BC4-60D1-40DD-A954-829C842724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 b="1" dirty="0">
                <a:ea typeface="ＭＳ Ｐゴシック" panose="020B0600070205080204" pitchFamily="34" charset="-128"/>
              </a:rPr>
              <a:t>Tile Large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dirty="0">
                <a:ea typeface="ＭＳ Ｐゴシック" panose="020B0600070205080204" pitchFamily="34" charset="-128"/>
              </a:rPr>
              <a:t>	+ High performance on single thread, serial code sections (2 units)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dirty="0">
                <a:ea typeface="ＭＳ Ｐゴシック" panose="020B0600070205080204" pitchFamily="34" charset="-128"/>
              </a:rPr>
              <a:t>	- Low throughput on parallel program portions (8 units)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200" dirty="0">
              <a:ea typeface="ＭＳ Ｐゴシック" panose="020B0600070205080204" pitchFamily="34" charset="-128"/>
            </a:endParaRPr>
          </a:p>
          <a:p>
            <a:r>
              <a:rPr lang="en-US" altLang="zh-CN" b="1" dirty="0">
                <a:ea typeface="ＭＳ Ｐゴシック" panose="020B0600070205080204" pitchFamily="34" charset="-128"/>
              </a:rPr>
              <a:t>Tile Small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dirty="0">
                <a:ea typeface="ＭＳ Ｐゴシック" panose="020B0600070205080204" pitchFamily="34" charset="-128"/>
              </a:rPr>
              <a:t>	+ High throughput on the parallel part (16 units)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dirty="0">
                <a:ea typeface="ＭＳ Ｐゴシック" panose="020B0600070205080204" pitchFamily="34" charset="-128"/>
              </a:rPr>
              <a:t>	- Low performance on the serial part, single thread (1 unit), </a:t>
            </a:r>
            <a:r>
              <a:rPr lang="en-US" altLang="zh-CN" sz="2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reduced single-thread performance compared to existing single thread processors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200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zh-CN" sz="22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Idea: </a:t>
            </a:r>
            <a:r>
              <a:rPr lang="en-US" altLang="zh-CN" sz="2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Have both large and small on the same chip </a:t>
            </a:r>
            <a:r>
              <a:rPr lang="en-US" altLang="zh-CN" sz="2200" dirty="0">
                <a:solidFill>
                  <a:srgbClr val="0000FF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 Performance asymmetry</a:t>
            </a:r>
            <a:endParaRPr lang="en-US" altLang="zh-CN" sz="2200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200" dirty="0">
              <a:ea typeface="ＭＳ Ｐゴシック" panose="020B0600070205080204" pitchFamily="34" charset="-128"/>
            </a:endParaRP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67C18FE5-0FE2-4A55-92E4-FB0A729CB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B260B3-16E0-4057-996D-461582CEBF1F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>
            <a:extLst>
              <a:ext uri="{FF2B5EF4-FFF2-40B4-BE49-F238E27FC236}">
                <a16:creationId xmlns:a16="http://schemas.microsoft.com/office/drawing/2014/main" id="{39B7AECC-49CA-4A01-8E7B-9B3144C7C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Asymmetric Chip Multiprocessor (ACMP)</a:t>
            </a:r>
          </a:p>
        </p:txBody>
      </p:sp>
      <p:sp>
        <p:nvSpPr>
          <p:cNvPr id="89091" name="Content Placeholder 2">
            <a:extLst>
              <a:ext uri="{FF2B5EF4-FFF2-40B4-BE49-F238E27FC236}">
                <a16:creationId xmlns:a16="http://schemas.microsoft.com/office/drawing/2014/main" id="{3737AE9B-B78F-41B9-994E-B5BA310D2A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ＭＳ Ｐゴシック" panose="020B0600070205080204" pitchFamily="34" charset="-128"/>
              <a:sym typeface="Wingdings" panose="05000000000000000000" pitchFamily="2" charset="2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Provide one large core and many small cores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+ Accelerate serial part using the large core (2 units)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+ Execute parallel part on all cores for high throughput (14 units)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DEEE3CB7-C556-4FE0-AE19-7F59285670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005641-2425-4F3C-8753-F677A44B42E1}" type="slidenum">
              <a:rPr lang="en-US" altLang="zh-CN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US" altLang="zh-CN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3A5DABC-2DA0-416F-83A6-9566A802E561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1295400"/>
            <a:ext cx="2286000" cy="2787650"/>
            <a:chOff x="3888" y="816"/>
            <a:chExt cx="1440" cy="1756"/>
          </a:xfrm>
        </p:grpSpPr>
        <p:sp>
          <p:nvSpPr>
            <p:cNvPr id="89124" name="Rectangle 18">
              <a:extLst>
                <a:ext uri="{FF2B5EF4-FFF2-40B4-BE49-F238E27FC236}">
                  <a16:creationId xmlns:a16="http://schemas.microsoft.com/office/drawing/2014/main" id="{274D56F8-DAA6-4D41-8679-EF358EDD2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816"/>
              <a:ext cx="1440" cy="144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89125" name="Group 47">
              <a:extLst>
                <a:ext uri="{FF2B5EF4-FFF2-40B4-BE49-F238E27FC236}">
                  <a16:creationId xmlns:a16="http://schemas.microsoft.com/office/drawing/2014/main" id="{6CEE136C-866F-4466-9155-6B1E3C604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536"/>
              <a:ext cx="672" cy="672"/>
              <a:chOff x="3648" y="3120"/>
              <a:chExt cx="672" cy="672"/>
            </a:xfrm>
          </p:grpSpPr>
          <p:sp>
            <p:nvSpPr>
              <p:cNvPr id="89138" name="Rectangle 48">
                <a:extLst>
                  <a:ext uri="{FF2B5EF4-FFF2-40B4-BE49-F238E27FC236}">
                    <a16:creationId xmlns:a16="http://schemas.microsoft.com/office/drawing/2014/main" id="{8B620231-8063-46AC-9BDD-FF9CD9517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39" name="Rectangle 49">
                <a:extLst>
                  <a:ext uri="{FF2B5EF4-FFF2-40B4-BE49-F238E27FC236}">
                    <a16:creationId xmlns:a16="http://schemas.microsoft.com/office/drawing/2014/main" id="{344EF90C-910F-427A-B0CE-2C9D0853E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40" name="Rectangle 50">
                <a:extLst>
                  <a:ext uri="{FF2B5EF4-FFF2-40B4-BE49-F238E27FC236}">
                    <a16:creationId xmlns:a16="http://schemas.microsoft.com/office/drawing/2014/main" id="{075EA0E1-333C-4B77-B8B0-D5DF80FCF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41" name="Rectangle 51">
                <a:extLst>
                  <a:ext uri="{FF2B5EF4-FFF2-40B4-BE49-F238E27FC236}">
                    <a16:creationId xmlns:a16="http://schemas.microsoft.com/office/drawing/2014/main" id="{4A8A31BF-7051-4CFB-8205-7AA3C7CA4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grpSp>
          <p:nvGrpSpPr>
            <p:cNvPr id="89126" name="Group 52">
              <a:extLst>
                <a:ext uri="{FF2B5EF4-FFF2-40B4-BE49-F238E27FC236}">
                  <a16:creationId xmlns:a16="http://schemas.microsoft.com/office/drawing/2014/main" id="{A5F786E2-09F3-4297-80C2-24C3800DB4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536"/>
              <a:ext cx="672" cy="672"/>
              <a:chOff x="3648" y="3120"/>
              <a:chExt cx="672" cy="672"/>
            </a:xfrm>
          </p:grpSpPr>
          <p:sp>
            <p:nvSpPr>
              <p:cNvPr id="89134" name="Rectangle 53">
                <a:extLst>
                  <a:ext uri="{FF2B5EF4-FFF2-40B4-BE49-F238E27FC236}">
                    <a16:creationId xmlns:a16="http://schemas.microsoft.com/office/drawing/2014/main" id="{416F16ED-7630-444B-B0A8-BB9D7C40A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35" name="Rectangle 54">
                <a:extLst>
                  <a:ext uri="{FF2B5EF4-FFF2-40B4-BE49-F238E27FC236}">
                    <a16:creationId xmlns:a16="http://schemas.microsoft.com/office/drawing/2014/main" id="{9D351FEC-90B3-4CB1-8BD5-42802A53A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36" name="Rectangle 55">
                <a:extLst>
                  <a:ext uri="{FF2B5EF4-FFF2-40B4-BE49-F238E27FC236}">
                    <a16:creationId xmlns:a16="http://schemas.microsoft.com/office/drawing/2014/main" id="{D2B2B73E-564B-435C-8C5C-548B36492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37" name="Rectangle 56">
                <a:extLst>
                  <a:ext uri="{FF2B5EF4-FFF2-40B4-BE49-F238E27FC236}">
                    <a16:creationId xmlns:a16="http://schemas.microsoft.com/office/drawing/2014/main" id="{8F1BAE5C-DC98-4875-898A-8F35EAD2D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grpSp>
          <p:nvGrpSpPr>
            <p:cNvPr id="89127" name="Group 57">
              <a:extLst>
                <a:ext uri="{FF2B5EF4-FFF2-40B4-BE49-F238E27FC236}">
                  <a16:creationId xmlns:a16="http://schemas.microsoft.com/office/drawing/2014/main" id="{AB6CE3BD-F647-4F5E-B006-B0A5F31C8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864"/>
              <a:ext cx="672" cy="672"/>
              <a:chOff x="3648" y="3120"/>
              <a:chExt cx="672" cy="672"/>
            </a:xfrm>
          </p:grpSpPr>
          <p:sp>
            <p:nvSpPr>
              <p:cNvPr id="89130" name="Rectangle 58">
                <a:extLst>
                  <a:ext uri="{FF2B5EF4-FFF2-40B4-BE49-F238E27FC236}">
                    <a16:creationId xmlns:a16="http://schemas.microsoft.com/office/drawing/2014/main" id="{9E53809C-D64D-48E3-91BF-4D477167B5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31" name="Rectangle 59">
                <a:extLst>
                  <a:ext uri="{FF2B5EF4-FFF2-40B4-BE49-F238E27FC236}">
                    <a16:creationId xmlns:a16="http://schemas.microsoft.com/office/drawing/2014/main" id="{8C95B11F-7BE0-42B7-B38D-2CA43536E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32" name="Rectangle 60">
                <a:extLst>
                  <a:ext uri="{FF2B5EF4-FFF2-40B4-BE49-F238E27FC236}">
                    <a16:creationId xmlns:a16="http://schemas.microsoft.com/office/drawing/2014/main" id="{8DE7D933-BBD6-4D79-AD1D-C2CF32329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33" name="Rectangle 61">
                <a:extLst>
                  <a:ext uri="{FF2B5EF4-FFF2-40B4-BE49-F238E27FC236}">
                    <a16:creationId xmlns:a16="http://schemas.microsoft.com/office/drawing/2014/main" id="{8624C96B-8668-4D90-8F22-D1B68F821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sp>
          <p:nvSpPr>
            <p:cNvPr id="89128" name="Rectangle 67">
              <a:extLst>
                <a:ext uri="{FF2B5EF4-FFF2-40B4-BE49-F238E27FC236}">
                  <a16:creationId xmlns:a16="http://schemas.microsoft.com/office/drawing/2014/main" id="{CEEB15D3-86CD-4470-8FC9-A0E2AD15B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864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9129" name="Text Box 70">
              <a:extLst>
                <a:ext uri="{FF2B5EF4-FFF2-40B4-BE49-F238E27FC236}">
                  <a16:creationId xmlns:a16="http://schemas.microsoft.com/office/drawing/2014/main" id="{254184E4-BD46-4423-8AE2-B04ED0AB9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341"/>
              <a:ext cx="134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Arial" panose="020B0604020202020204" pitchFamily="34" charset="0"/>
                </a:rPr>
                <a:t>ACMP</a:t>
              </a:r>
            </a:p>
          </p:txBody>
        </p:sp>
      </p:grpSp>
      <p:grpSp>
        <p:nvGrpSpPr>
          <p:cNvPr id="6" name="Group 74">
            <a:extLst>
              <a:ext uri="{FF2B5EF4-FFF2-40B4-BE49-F238E27FC236}">
                <a16:creationId xmlns:a16="http://schemas.microsoft.com/office/drawing/2014/main" id="{CF11A23D-5B45-47A8-B884-497C9ABE9D1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295400"/>
            <a:ext cx="2286000" cy="2805113"/>
            <a:chOff x="576" y="1008"/>
            <a:chExt cx="1440" cy="1767"/>
          </a:xfrm>
        </p:grpSpPr>
        <p:sp>
          <p:nvSpPr>
            <p:cNvPr id="89102" name="Rectangle 4">
              <a:extLst>
                <a:ext uri="{FF2B5EF4-FFF2-40B4-BE49-F238E27FC236}">
                  <a16:creationId xmlns:a16="http://schemas.microsoft.com/office/drawing/2014/main" id="{57B2EE7E-3FBA-4DAD-9400-1C6FE1DA4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08"/>
              <a:ext cx="1440" cy="144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89103" name="Group 27">
              <a:extLst>
                <a:ext uri="{FF2B5EF4-FFF2-40B4-BE49-F238E27FC236}">
                  <a16:creationId xmlns:a16="http://schemas.microsoft.com/office/drawing/2014/main" id="{756978C8-19E2-44B3-B8E1-C0DFBE68A8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056"/>
              <a:ext cx="672" cy="672"/>
              <a:chOff x="3648" y="3120"/>
              <a:chExt cx="672" cy="672"/>
            </a:xfrm>
          </p:grpSpPr>
          <p:sp>
            <p:nvSpPr>
              <p:cNvPr id="89120" name="Rectangle 28">
                <a:extLst>
                  <a:ext uri="{FF2B5EF4-FFF2-40B4-BE49-F238E27FC236}">
                    <a16:creationId xmlns:a16="http://schemas.microsoft.com/office/drawing/2014/main" id="{68149407-0D96-4C8B-BDE1-6D165C9ED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21" name="Rectangle 29">
                <a:extLst>
                  <a:ext uri="{FF2B5EF4-FFF2-40B4-BE49-F238E27FC236}">
                    <a16:creationId xmlns:a16="http://schemas.microsoft.com/office/drawing/2014/main" id="{1867271F-B6A9-4ACF-AC66-D1812C0C8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22" name="Rectangle 30">
                <a:extLst>
                  <a:ext uri="{FF2B5EF4-FFF2-40B4-BE49-F238E27FC236}">
                    <a16:creationId xmlns:a16="http://schemas.microsoft.com/office/drawing/2014/main" id="{92374543-1737-4506-8EE4-11AC78B43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23" name="Rectangle 31">
                <a:extLst>
                  <a:ext uri="{FF2B5EF4-FFF2-40B4-BE49-F238E27FC236}">
                    <a16:creationId xmlns:a16="http://schemas.microsoft.com/office/drawing/2014/main" id="{A3CA5E30-BFFC-4B13-BFFF-94731FCD7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grpSp>
          <p:nvGrpSpPr>
            <p:cNvPr id="89104" name="Group 32">
              <a:extLst>
                <a:ext uri="{FF2B5EF4-FFF2-40B4-BE49-F238E27FC236}">
                  <a16:creationId xmlns:a16="http://schemas.microsoft.com/office/drawing/2014/main" id="{7361D0DB-3F1C-452F-BB15-A488DA38DC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728"/>
              <a:ext cx="672" cy="672"/>
              <a:chOff x="3648" y="3120"/>
              <a:chExt cx="672" cy="672"/>
            </a:xfrm>
          </p:grpSpPr>
          <p:sp>
            <p:nvSpPr>
              <p:cNvPr id="89116" name="Rectangle 33">
                <a:extLst>
                  <a:ext uri="{FF2B5EF4-FFF2-40B4-BE49-F238E27FC236}">
                    <a16:creationId xmlns:a16="http://schemas.microsoft.com/office/drawing/2014/main" id="{B59A5260-81CC-46DA-97A2-5DB36068A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17" name="Rectangle 34">
                <a:extLst>
                  <a:ext uri="{FF2B5EF4-FFF2-40B4-BE49-F238E27FC236}">
                    <a16:creationId xmlns:a16="http://schemas.microsoft.com/office/drawing/2014/main" id="{020882B9-ECD7-4DA6-8F53-0895DDD43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18" name="Rectangle 35">
                <a:extLst>
                  <a:ext uri="{FF2B5EF4-FFF2-40B4-BE49-F238E27FC236}">
                    <a16:creationId xmlns:a16="http://schemas.microsoft.com/office/drawing/2014/main" id="{C69720B4-EA11-4FAE-AB49-A850B2D00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19" name="Rectangle 36">
                <a:extLst>
                  <a:ext uri="{FF2B5EF4-FFF2-40B4-BE49-F238E27FC236}">
                    <a16:creationId xmlns:a16="http://schemas.microsoft.com/office/drawing/2014/main" id="{F09B1AC6-1488-4741-AB39-7CDE7FDCA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grpSp>
          <p:nvGrpSpPr>
            <p:cNvPr id="89105" name="Group 37">
              <a:extLst>
                <a:ext uri="{FF2B5EF4-FFF2-40B4-BE49-F238E27FC236}">
                  <a16:creationId xmlns:a16="http://schemas.microsoft.com/office/drawing/2014/main" id="{C1CCF036-9889-44AB-9412-C1EA10CA20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056"/>
              <a:ext cx="672" cy="672"/>
              <a:chOff x="3648" y="3120"/>
              <a:chExt cx="672" cy="672"/>
            </a:xfrm>
          </p:grpSpPr>
          <p:sp>
            <p:nvSpPr>
              <p:cNvPr id="89112" name="Rectangle 38">
                <a:extLst>
                  <a:ext uri="{FF2B5EF4-FFF2-40B4-BE49-F238E27FC236}">
                    <a16:creationId xmlns:a16="http://schemas.microsoft.com/office/drawing/2014/main" id="{E27E3A9A-DE93-4490-AF51-FA6CAFA55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13" name="Rectangle 39">
                <a:extLst>
                  <a:ext uri="{FF2B5EF4-FFF2-40B4-BE49-F238E27FC236}">
                    <a16:creationId xmlns:a16="http://schemas.microsoft.com/office/drawing/2014/main" id="{9222DA90-2D49-429D-A3F7-5D373A3F4F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14" name="Rectangle 40">
                <a:extLst>
                  <a:ext uri="{FF2B5EF4-FFF2-40B4-BE49-F238E27FC236}">
                    <a16:creationId xmlns:a16="http://schemas.microsoft.com/office/drawing/2014/main" id="{85F7101B-15D1-4CFD-BA39-87E607519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15" name="Rectangle 41">
                <a:extLst>
                  <a:ext uri="{FF2B5EF4-FFF2-40B4-BE49-F238E27FC236}">
                    <a16:creationId xmlns:a16="http://schemas.microsoft.com/office/drawing/2014/main" id="{E4114471-7502-44FC-870A-0F1736E0F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grpSp>
          <p:nvGrpSpPr>
            <p:cNvPr id="89106" name="Group 42">
              <a:extLst>
                <a:ext uri="{FF2B5EF4-FFF2-40B4-BE49-F238E27FC236}">
                  <a16:creationId xmlns:a16="http://schemas.microsoft.com/office/drawing/2014/main" id="{07941D35-5AE5-490F-AD20-C84467678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728"/>
              <a:ext cx="672" cy="672"/>
              <a:chOff x="3648" y="3120"/>
              <a:chExt cx="672" cy="672"/>
            </a:xfrm>
          </p:grpSpPr>
          <p:sp>
            <p:nvSpPr>
              <p:cNvPr id="89108" name="Rectangle 43">
                <a:extLst>
                  <a:ext uri="{FF2B5EF4-FFF2-40B4-BE49-F238E27FC236}">
                    <a16:creationId xmlns:a16="http://schemas.microsoft.com/office/drawing/2014/main" id="{2E164166-89A1-4238-A829-BDA11AAE4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09" name="Rectangle 44">
                <a:extLst>
                  <a:ext uri="{FF2B5EF4-FFF2-40B4-BE49-F238E27FC236}">
                    <a16:creationId xmlns:a16="http://schemas.microsoft.com/office/drawing/2014/main" id="{B8D59552-7427-4E9F-A7E3-640053881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20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10" name="Rectangle 45">
                <a:extLst>
                  <a:ext uri="{FF2B5EF4-FFF2-40B4-BE49-F238E27FC236}">
                    <a16:creationId xmlns:a16="http://schemas.microsoft.com/office/drawing/2014/main" id="{A5310049-03FB-4DD7-ABE1-210143E7E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  <p:sp>
            <p:nvSpPr>
              <p:cNvPr id="89111" name="Rectangle 46">
                <a:extLst>
                  <a:ext uri="{FF2B5EF4-FFF2-40B4-BE49-F238E27FC236}">
                    <a16:creationId xmlns:a16="http://schemas.microsoft.com/office/drawing/2014/main" id="{1213FF41-FF92-470A-B8AB-BFDB4A03A2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56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Arial" panose="020B0604020202020204" pitchFamily="34" charset="0"/>
                  </a:rPr>
                  <a:t>Small</a:t>
                </a:r>
                <a:br>
                  <a:rPr lang="en-US" altLang="zh-CN" sz="1000" b="1">
                    <a:latin typeface="Arial" panose="020B0604020202020204" pitchFamily="34" charset="0"/>
                  </a:rPr>
                </a:br>
                <a:r>
                  <a:rPr lang="en-US" altLang="zh-CN" sz="1000" b="1">
                    <a:latin typeface="Arial" panose="020B0604020202020204" pitchFamily="34" charset="0"/>
                  </a:rPr>
                  <a:t>core</a:t>
                </a:r>
              </a:p>
            </p:txBody>
          </p:sp>
        </p:grpSp>
        <p:sp>
          <p:nvSpPr>
            <p:cNvPr id="89107" name="Text Box 69">
              <a:extLst>
                <a:ext uri="{FF2B5EF4-FFF2-40B4-BE49-F238E27FC236}">
                  <a16:creationId xmlns:a16="http://schemas.microsoft.com/office/drawing/2014/main" id="{BE49EEF6-B02C-4172-BBFB-5731434ED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44"/>
              <a:ext cx="134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ja-JP" altLang="en-US" sz="1800">
                  <a:latin typeface="Times New Roman" panose="02020603050405020304" pitchFamily="18" charset="0"/>
                  <a:cs typeface="Arial" panose="020B0604020202020204" pitchFamily="34" charset="0"/>
                </a:rPr>
                <a:t>“</a:t>
              </a:r>
              <a:r>
                <a:rPr lang="en-US" altLang="ja-JP" sz="1800">
                  <a:latin typeface="Times New Roman" panose="02020603050405020304" pitchFamily="18" charset="0"/>
                  <a:cs typeface="Arial" panose="020B0604020202020204" pitchFamily="34" charset="0"/>
                </a:rPr>
                <a:t>Tile-Small</a:t>
              </a:r>
              <a:r>
                <a:rPr lang="ja-JP" altLang="en-US" sz="1800">
                  <a:latin typeface="Times New Roman" panose="02020603050405020304" pitchFamily="18" charset="0"/>
                  <a:cs typeface="Arial" panose="020B0604020202020204" pitchFamily="34" charset="0"/>
                </a:rPr>
                <a:t>”</a:t>
              </a:r>
              <a:endParaRPr lang="en-US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46">
            <a:extLst>
              <a:ext uri="{FF2B5EF4-FFF2-40B4-BE49-F238E27FC236}">
                <a16:creationId xmlns:a16="http://schemas.microsoft.com/office/drawing/2014/main" id="{1A684B9A-BD2D-48B5-B9D2-F875244C64C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95400"/>
            <a:ext cx="2362200" cy="2805113"/>
            <a:chOff x="384" y="816"/>
            <a:chExt cx="1488" cy="1767"/>
          </a:xfrm>
        </p:grpSpPr>
        <p:sp>
          <p:nvSpPr>
            <p:cNvPr id="89096" name="Rectangle 17">
              <a:extLst>
                <a:ext uri="{FF2B5EF4-FFF2-40B4-BE49-F238E27FC236}">
                  <a16:creationId xmlns:a16="http://schemas.microsoft.com/office/drawing/2014/main" id="{DC718572-A012-4626-BE8A-57F2B5C70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816"/>
              <a:ext cx="1440" cy="144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9097" name="Rectangle 19">
              <a:extLst>
                <a:ext uri="{FF2B5EF4-FFF2-40B4-BE49-F238E27FC236}">
                  <a16:creationId xmlns:a16="http://schemas.microsoft.com/office/drawing/2014/main" id="{AA70DA77-9CA6-4331-8B98-639D4D006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536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  <a:br>
                <a:rPr lang="en-US" altLang="zh-CN" sz="1600" b="1">
                  <a:latin typeface="Arial" panose="020B0604020202020204" pitchFamily="34" charset="0"/>
                </a:rPr>
              </a:b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9098" name="Rectangle 20">
              <a:extLst>
                <a:ext uri="{FF2B5EF4-FFF2-40B4-BE49-F238E27FC236}">
                  <a16:creationId xmlns:a16="http://schemas.microsoft.com/office/drawing/2014/main" id="{5876AA44-B7E5-472D-8825-5858FBD8F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536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  <a:br>
                <a:rPr lang="en-US" altLang="zh-CN" sz="1600" b="1">
                  <a:latin typeface="Arial" panose="020B0604020202020204" pitchFamily="34" charset="0"/>
                </a:rPr>
              </a:b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9099" name="Rectangle 21">
              <a:extLst>
                <a:ext uri="{FF2B5EF4-FFF2-40B4-BE49-F238E27FC236}">
                  <a16:creationId xmlns:a16="http://schemas.microsoft.com/office/drawing/2014/main" id="{1B5303C7-7E6A-4D90-990E-14D7849D3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864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9100" name="Rectangle 22">
              <a:extLst>
                <a:ext uri="{FF2B5EF4-FFF2-40B4-BE49-F238E27FC236}">
                  <a16:creationId xmlns:a16="http://schemas.microsoft.com/office/drawing/2014/main" id="{88BD8565-DF61-46F6-9849-512E563F0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864"/>
              <a:ext cx="67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Arial" panose="020B0604020202020204" pitchFamily="34" charset="0"/>
                </a:rPr>
                <a:t>Large</a:t>
              </a:r>
              <a:br>
                <a:rPr lang="en-US" altLang="zh-CN" sz="1600" b="1">
                  <a:latin typeface="Arial" panose="020B0604020202020204" pitchFamily="34" charset="0"/>
                </a:rPr>
              </a:br>
              <a:r>
                <a:rPr lang="en-US" altLang="zh-CN" sz="1600" b="1">
                  <a:latin typeface="Arial" panose="020B0604020202020204" pitchFamily="34" charset="0"/>
                </a:rPr>
                <a:t>core</a:t>
              </a:r>
            </a:p>
          </p:txBody>
        </p:sp>
        <p:sp>
          <p:nvSpPr>
            <p:cNvPr id="89101" name="Text Box 68">
              <a:extLst>
                <a:ext uri="{FF2B5EF4-FFF2-40B4-BE49-F238E27FC236}">
                  <a16:creationId xmlns:a16="http://schemas.microsoft.com/office/drawing/2014/main" id="{B799F4E9-109F-434A-AE2D-A504F8690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352"/>
              <a:ext cx="1488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ja-JP" altLang="en-US" sz="1800">
                  <a:latin typeface="Times New Roman" panose="02020603050405020304" pitchFamily="18" charset="0"/>
                  <a:cs typeface="Arial" panose="020B0604020202020204" pitchFamily="34" charset="0"/>
                </a:rPr>
                <a:t>“</a:t>
              </a:r>
              <a:r>
                <a:rPr lang="en-US" altLang="ja-JP" sz="1800">
                  <a:latin typeface="Times New Roman" panose="02020603050405020304" pitchFamily="18" charset="0"/>
                  <a:cs typeface="Arial" panose="020B0604020202020204" pitchFamily="34" charset="0"/>
                </a:rPr>
                <a:t>Tile-Large</a:t>
              </a:r>
              <a:r>
                <a:rPr lang="ja-JP" altLang="en-US" sz="1800">
                  <a:latin typeface="Times New Roman" panose="02020603050405020304" pitchFamily="18" charset="0"/>
                  <a:cs typeface="Arial" panose="020B0604020202020204" pitchFamily="34" charset="0"/>
                </a:rPr>
                <a:t>”</a:t>
              </a:r>
              <a:endParaRPr lang="en-US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9"/>
                                      </p:to>
                                    </p:set>
                                    <p:animEffect filter="image" prLst="opacity: 0.99">
                                      <p:cBhvr rctx="IE">
                                        <p:cTn id="16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9_Edge">
  <a:themeElements>
    <a:clrScheme name="1_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1_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60307</TotalTime>
  <Words>5672</Words>
  <Application>Microsoft Macintosh PowerPoint</Application>
  <PresentationFormat>On-screen Show (4:3)</PresentationFormat>
  <Paragraphs>1355</Paragraphs>
  <Slides>98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16" baseType="lpstr">
      <vt:lpstr>ＭＳ Ｐゴシック</vt:lpstr>
      <vt:lpstr>ProximaNovaRgRegular</vt:lpstr>
      <vt:lpstr>Arial</vt:lpstr>
      <vt:lpstr>Calibri</vt:lpstr>
      <vt:lpstr>Consolas</vt:lpstr>
      <vt:lpstr>DIN Alternate</vt:lpstr>
      <vt:lpstr>DIN Condensed</vt:lpstr>
      <vt:lpstr>Garamond</vt:lpstr>
      <vt:lpstr>Helvetica</vt:lpstr>
      <vt:lpstr>Helvetica Neue</vt:lpstr>
      <vt:lpstr>Impact</vt:lpstr>
      <vt:lpstr>Tahoma</vt:lpstr>
      <vt:lpstr>Times New Roman</vt:lpstr>
      <vt:lpstr>Wingdings</vt:lpstr>
      <vt:lpstr>Wingdings 2</vt:lpstr>
      <vt:lpstr>Edge</vt:lpstr>
      <vt:lpstr>99_Edge</vt:lpstr>
      <vt:lpstr>VISIO</vt:lpstr>
      <vt:lpstr> Computer Arch. &amp; AI Chip  Lecture 4: Superscalar + SIMD + Multi-core</vt:lpstr>
      <vt:lpstr>Recall: Reorder Buffer (ROB)</vt:lpstr>
      <vt:lpstr>Recall: Effect of Out-of-order Dispatch</vt:lpstr>
      <vt:lpstr>Recall: Two Humps in a Modern Pipeline</vt:lpstr>
      <vt:lpstr>Recall: Tomasulo’s Algorithm: Components</vt:lpstr>
      <vt:lpstr>Recall: Tomasulo’s Algorithm</vt:lpstr>
      <vt:lpstr>Outline</vt:lpstr>
      <vt:lpstr>Superscalar Execution</vt:lpstr>
      <vt:lpstr>Where Are We?</vt:lpstr>
      <vt:lpstr>Superscalar Execution</vt:lpstr>
      <vt:lpstr>In-Order Superscalar Processor Example</vt:lpstr>
      <vt:lpstr>In-Order Superscalar: Ideal</vt:lpstr>
      <vt:lpstr>In-Order Superscalar: Dependences</vt:lpstr>
      <vt:lpstr>Superscalar Execution Tradeoffs</vt:lpstr>
      <vt:lpstr>PowerPoint Presentation</vt:lpstr>
      <vt:lpstr>Outline</vt:lpstr>
      <vt:lpstr>Where Are We?</vt:lpstr>
      <vt:lpstr>Flynn’s Taxonomy of Computers</vt:lpstr>
      <vt:lpstr>Single-Instruction/Single-Data Stream (SISD)</vt:lpstr>
      <vt:lpstr>Single-Instruction/Multiple-Data (SIMD or “sim-dee”)</vt:lpstr>
      <vt:lpstr>Multi-Instruction/Multiple-Data (MIMD or “mim-dee”)</vt:lpstr>
      <vt:lpstr>Multiple-Instruction/Single-Data Stream (MISD)</vt:lpstr>
      <vt:lpstr>SIMD Applications &amp; Implementations</vt:lpstr>
      <vt:lpstr>Intuition of SIMD Capability</vt:lpstr>
      <vt:lpstr>PowerPoint Presentation</vt:lpstr>
      <vt:lpstr>Recall: Amdahl’s Law</vt:lpstr>
      <vt:lpstr>Vector Processor Limitations</vt:lpstr>
      <vt:lpstr>PowerPoint Presentation</vt:lpstr>
      <vt:lpstr>Recall: MIPS State Elements</vt:lpstr>
      <vt:lpstr>Recall: The Full MIPS Datapath</vt:lpstr>
      <vt:lpstr>MIPS State Elements When Enabling SIMD</vt:lpstr>
      <vt:lpstr>What will This Graph Be to Support Vector Insns?</vt:lpstr>
      <vt:lpstr>Programmer Visible (Architectural) States</vt:lpstr>
      <vt:lpstr>Roofline Model for SIMD CPU</vt:lpstr>
      <vt:lpstr>Outline</vt:lpstr>
      <vt:lpstr>Fine-Grained Multithreading</vt:lpstr>
      <vt:lpstr>Where Are We?</vt:lpstr>
      <vt:lpstr>Fine-Grained Multithreading</vt:lpstr>
      <vt:lpstr>Fine-Grained Multithreading (II)</vt:lpstr>
      <vt:lpstr>Fine-Grained Multithreading: History</vt:lpstr>
      <vt:lpstr>Fine-Grained Multithreading in HEP</vt:lpstr>
      <vt:lpstr>Multithreaded Pipeline Example</vt:lpstr>
      <vt:lpstr>Sun Niagara Multithreaded Pipeline</vt:lpstr>
      <vt:lpstr>Fine-grained Multithreading</vt:lpstr>
      <vt:lpstr>PowerPoint Presentation</vt:lpstr>
      <vt:lpstr>Outline</vt:lpstr>
      <vt:lpstr>Where Are We?</vt:lpstr>
      <vt:lpstr>Multi-Core Processors</vt:lpstr>
      <vt:lpstr>Moore’s Law</vt:lpstr>
      <vt:lpstr>PowerPoint Presentation</vt:lpstr>
      <vt:lpstr>Gordon E. Moore Dies at 94</vt:lpstr>
      <vt:lpstr>Multi-Core</vt:lpstr>
      <vt:lpstr>Why Multi-Core?</vt:lpstr>
      <vt:lpstr>Large Superscalar vs. Multi-Core</vt:lpstr>
      <vt:lpstr>Multi-Core vs. Large Superscalar</vt:lpstr>
      <vt:lpstr>Why Multi-Core over Large Superscalar</vt:lpstr>
      <vt:lpstr>Comparison Points…</vt:lpstr>
      <vt:lpstr>PowerPoint Presentation</vt:lpstr>
      <vt:lpstr>Can Multi-core CPU Increase Throughput?</vt:lpstr>
      <vt:lpstr>Multi-Core Evolution  (An Early History)</vt:lpstr>
      <vt:lpstr>Piranha Chip Multiprocessor</vt:lpstr>
      <vt:lpstr>Commercial Workload Characteristics</vt:lpstr>
      <vt:lpstr>Piranha Processing Node</vt:lpstr>
      <vt:lpstr>Piranha Processing Node</vt:lpstr>
      <vt:lpstr>Piranha Processing Node</vt:lpstr>
      <vt:lpstr>Piranha Processing Node</vt:lpstr>
      <vt:lpstr>Piranha Processing Node</vt:lpstr>
      <vt:lpstr>Piranha Processing Node</vt:lpstr>
      <vt:lpstr>Piranha Processing Node</vt:lpstr>
      <vt:lpstr>Piranha Processing Node</vt:lpstr>
      <vt:lpstr>Piranha Processing Node</vt:lpstr>
      <vt:lpstr>Inter-Node Coherence Protocol Engine</vt:lpstr>
      <vt:lpstr>Piranha System</vt:lpstr>
      <vt:lpstr>Piranha I/O Node</vt:lpstr>
      <vt:lpstr>Sun Niagara (UltraSPARC T1)</vt:lpstr>
      <vt:lpstr>Niagara Core</vt:lpstr>
      <vt:lpstr>Niagara Design Point</vt:lpstr>
      <vt:lpstr>Sun Niagara II (UltraSPARC T2)</vt:lpstr>
      <vt:lpstr>Chip Multithreading (CMT)</vt:lpstr>
      <vt:lpstr>CMT (CMP + MT) vs. CMP</vt:lpstr>
      <vt:lpstr>Sun ROCK </vt:lpstr>
      <vt:lpstr>Sun ROCK</vt:lpstr>
      <vt:lpstr>Sun ROCK Cores</vt:lpstr>
      <vt:lpstr>ROCK Pipeline</vt:lpstr>
      <vt:lpstr>More Powerful Cores in Sun ROCK</vt:lpstr>
      <vt:lpstr>More Powerful Cores in Sun ROCK</vt:lpstr>
      <vt:lpstr>More Powerful Cores in Sun ROCK</vt:lpstr>
      <vt:lpstr>IBM POWER4</vt:lpstr>
      <vt:lpstr>IBM POWER4</vt:lpstr>
      <vt:lpstr>IBM POWER5</vt:lpstr>
      <vt:lpstr>IBM POWER6</vt:lpstr>
      <vt:lpstr>IBM POWER7</vt:lpstr>
      <vt:lpstr>Large vs. Small Cores</vt:lpstr>
      <vt:lpstr>Large vs. Small Cores</vt:lpstr>
      <vt:lpstr>Tile-Large Approach</vt:lpstr>
      <vt:lpstr>Tile-Small Approach</vt:lpstr>
      <vt:lpstr>Can We Get the Best of Both worlds?</vt:lpstr>
      <vt:lpstr>Asymmetric Chip Multiprocessor (ACMP)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18-741  Advanced Computer Architecture Lecture 1: Intro and Basics</dc:title>
  <dc:creator>Onur Mutlu</dc:creator>
  <cp:lastModifiedBy>Zeke Wang</cp:lastModifiedBy>
  <cp:revision>976</cp:revision>
  <cp:lastPrinted>2021-04-19T09:05:42Z</cp:lastPrinted>
  <dcterms:created xsi:type="dcterms:W3CDTF">2010-09-08T00:51:32Z</dcterms:created>
  <dcterms:modified xsi:type="dcterms:W3CDTF">2026-03-26T01:56:12Z</dcterms:modified>
</cp:coreProperties>
</file>