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920" r:id="rId2"/>
    <p:sldMasterId id="2147483946" r:id="rId3"/>
    <p:sldMasterId id="2147484105" r:id="rId4"/>
    <p:sldMasterId id="2147484319" r:id="rId5"/>
    <p:sldMasterId id="2147484403" r:id="rId6"/>
    <p:sldMasterId id="2147484415" r:id="rId7"/>
  </p:sldMasterIdLst>
  <p:notesMasterIdLst>
    <p:notesMasterId r:id="rId76"/>
  </p:notesMasterIdLst>
  <p:handoutMasterIdLst>
    <p:handoutMasterId r:id="rId77"/>
  </p:handoutMasterIdLst>
  <p:sldIdLst>
    <p:sldId id="5150" r:id="rId8"/>
    <p:sldId id="6174" r:id="rId9"/>
    <p:sldId id="6553" r:id="rId10"/>
    <p:sldId id="6555" r:id="rId11"/>
    <p:sldId id="5023" r:id="rId12"/>
    <p:sldId id="441" r:id="rId13"/>
    <p:sldId id="478" r:id="rId14"/>
    <p:sldId id="473" r:id="rId15"/>
    <p:sldId id="6554" r:id="rId16"/>
    <p:sldId id="6184" r:id="rId17"/>
    <p:sldId id="678" r:id="rId18"/>
    <p:sldId id="6197" r:id="rId19"/>
    <p:sldId id="450" r:id="rId20"/>
    <p:sldId id="6198" r:id="rId21"/>
    <p:sldId id="6199" r:id="rId22"/>
    <p:sldId id="679" r:id="rId23"/>
    <p:sldId id="680" r:id="rId24"/>
    <p:sldId id="6127" r:id="rId25"/>
    <p:sldId id="6169" r:id="rId26"/>
    <p:sldId id="6172" r:id="rId27"/>
    <p:sldId id="681" r:id="rId28"/>
    <p:sldId id="682" r:id="rId29"/>
    <p:sldId id="6152" r:id="rId30"/>
    <p:sldId id="6154" r:id="rId31"/>
    <p:sldId id="689" r:id="rId32"/>
    <p:sldId id="6185" r:id="rId33"/>
    <p:sldId id="5124" r:id="rId34"/>
    <p:sldId id="690" r:id="rId35"/>
    <p:sldId id="692" r:id="rId36"/>
    <p:sldId id="691" r:id="rId37"/>
    <p:sldId id="6161" r:id="rId38"/>
    <p:sldId id="693" r:id="rId39"/>
    <p:sldId id="694" r:id="rId40"/>
    <p:sldId id="695" r:id="rId41"/>
    <p:sldId id="696" r:id="rId42"/>
    <p:sldId id="697" r:id="rId43"/>
    <p:sldId id="698" r:id="rId44"/>
    <p:sldId id="699" r:id="rId45"/>
    <p:sldId id="700" r:id="rId46"/>
    <p:sldId id="4895" r:id="rId47"/>
    <p:sldId id="701" r:id="rId48"/>
    <p:sldId id="702" r:id="rId49"/>
    <p:sldId id="703" r:id="rId50"/>
    <p:sldId id="6175" r:id="rId51"/>
    <p:sldId id="6179" r:id="rId52"/>
    <p:sldId id="6182" r:id="rId53"/>
    <p:sldId id="6183" r:id="rId54"/>
    <p:sldId id="705" r:id="rId55"/>
    <p:sldId id="706" r:id="rId56"/>
    <p:sldId id="713" r:id="rId57"/>
    <p:sldId id="6160" r:id="rId58"/>
    <p:sldId id="711" r:id="rId59"/>
    <p:sldId id="6202" r:id="rId60"/>
    <p:sldId id="6166" r:id="rId61"/>
    <p:sldId id="710" r:id="rId62"/>
    <p:sldId id="6162" r:id="rId63"/>
    <p:sldId id="6163" r:id="rId64"/>
    <p:sldId id="714" r:id="rId65"/>
    <p:sldId id="715" r:id="rId66"/>
    <p:sldId id="6187" r:id="rId67"/>
    <p:sldId id="718" r:id="rId68"/>
    <p:sldId id="6190" r:id="rId69"/>
    <p:sldId id="6188" r:id="rId70"/>
    <p:sldId id="716" r:id="rId71"/>
    <p:sldId id="717" r:id="rId72"/>
    <p:sldId id="6191" r:id="rId73"/>
    <p:sldId id="719" r:id="rId74"/>
    <p:sldId id="5989" r:id="rId7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40" autoAdjust="0"/>
    <p:restoredTop sz="93742"/>
  </p:normalViewPr>
  <p:slideViewPr>
    <p:cSldViewPr>
      <p:cViewPr varScale="1">
        <p:scale>
          <a:sx n="105" d="100"/>
          <a:sy n="105" d="100"/>
        </p:scale>
        <p:origin x="68" y="252"/>
      </p:cViewPr>
      <p:guideLst>
        <p:guide orient="horz" pos="2160"/>
        <p:guide pos="2880"/>
      </p:guideLst>
    </p:cSldViewPr>
  </p:slideViewPr>
  <p:notesTextViewPr>
    <p:cViewPr>
      <p:scale>
        <a:sx n="100" d="100"/>
        <a:sy n="100" d="100"/>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notesMaster" Target="notesMasters/notesMaster1.xml"/><Relationship Id="rId7" Type="http://schemas.openxmlformats.org/officeDocument/2006/relationships/slideMaster" Target="slideMasters/slideMaster7.xml"/><Relationship Id="rId71" Type="http://schemas.openxmlformats.org/officeDocument/2006/relationships/slide" Target="slides/slide64.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s>
</file>

<file path=ppt/charts/_rels/chart1.xml.rels><?xml version="1.0" encoding="UTF-8" standalone="yes"?>
<Relationships xmlns="http://schemas.openxmlformats.org/package/2006/relationships"><Relationship Id="rId1" Type="http://schemas.openxmlformats.org/officeDocument/2006/relationships/oleObject" Target="file:///\\Users\kevincha\projects\writeups\thesis\slides\latency_trend_talk.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Users\kevincha\projects\writeups\thesis\slides\latency_trend_talk.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00506622718701"/>
          <c:y val="0.16071480580290401"/>
          <c:w val="0.82732323043042"/>
          <c:h val="0.66641303891524295"/>
        </c:manualLayout>
      </c:layout>
      <c:lineChart>
        <c:grouping val="standard"/>
        <c:varyColors val="0"/>
        <c:ser>
          <c:idx val="4"/>
          <c:order val="2"/>
          <c:tx>
            <c:strRef>
              <c:f>Trend!$N$56</c:f>
              <c:strCache>
                <c:ptCount val="1"/>
                <c:pt idx="0">
                  <c:v>Capacity</c:v>
                </c:pt>
              </c:strCache>
            </c:strRef>
          </c:tx>
          <c:spPr>
            <a:ln w="38100" cap="rnd">
              <a:solidFill>
                <a:schemeClr val="accent4">
                  <a:lumMod val="60000"/>
                </a:schemeClr>
              </a:solidFill>
              <a:round/>
            </a:ln>
            <a:effectLst/>
          </c:spPr>
          <c:marker>
            <c:symbol val="triangle"/>
            <c:size val="14"/>
            <c:spPr>
              <a:solidFill>
                <a:schemeClr val="accent4">
                  <a:lumMod val="60000"/>
                </a:schemeClr>
              </a:solidFill>
              <a:ln w="9525">
                <a:solidFill>
                  <a:schemeClr val="accent4">
                    <a:lumMod val="60000"/>
                  </a:schemeClr>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Trend!$O$56:$X$56</c:f>
              <c:numCache>
                <c:formatCode>General</c:formatCode>
                <c:ptCount val="10"/>
                <c:pt idx="0">
                  <c:v>1</c:v>
                </c:pt>
                <c:pt idx="1">
                  <c:v>2</c:v>
                </c:pt>
                <c:pt idx="2">
                  <c:v>4</c:v>
                </c:pt>
                <c:pt idx="3">
                  <c:v>8</c:v>
                </c:pt>
                <c:pt idx="4">
                  <c:v>16</c:v>
                </c:pt>
                <c:pt idx="5">
                  <c:v>32</c:v>
                </c:pt>
                <c:pt idx="6">
                  <c:v>64</c:v>
                </c:pt>
                <c:pt idx="7">
                  <c:v>64</c:v>
                </c:pt>
                <c:pt idx="8">
                  <c:v>128</c:v>
                </c:pt>
                <c:pt idx="9">
                  <c:v>128</c:v>
                </c:pt>
              </c:numCache>
            </c:numRef>
          </c:val>
          <c:smooth val="0"/>
          <c:extLst>
            <c:ext xmlns:c16="http://schemas.microsoft.com/office/drawing/2014/chart" uri="{C3380CC4-5D6E-409C-BE32-E72D297353CC}">
              <c16:uniqueId val="{00000000-DC3E-0A4A-8338-B86E31B2A912}"/>
            </c:ext>
          </c:extLst>
        </c:ser>
        <c:ser>
          <c:idx val="3"/>
          <c:order val="3"/>
          <c:tx>
            <c:strRef>
              <c:f>Trend!$N$55</c:f>
              <c:strCache>
                <c:ptCount val="1"/>
                <c:pt idx="0">
                  <c:v>Bandwidth</c:v>
                </c:pt>
              </c:strCache>
            </c:strRef>
          </c:tx>
          <c:spPr>
            <a:ln w="38100" cap="rnd">
              <a:solidFill>
                <a:schemeClr val="accent6"/>
              </a:solidFill>
              <a:round/>
            </a:ln>
            <a:effectLst/>
          </c:spPr>
          <c:marker>
            <c:symbol val="square"/>
            <c:size val="14"/>
            <c:spPr>
              <a:solidFill>
                <a:schemeClr val="accent6"/>
              </a:solidFill>
              <a:ln w="9525">
                <a:solidFill>
                  <a:schemeClr val="accent6"/>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Trend!$O$55:$X$55</c:f>
              <c:numCache>
                <c:formatCode>General</c:formatCode>
                <c:ptCount val="10"/>
                <c:pt idx="0">
                  <c:v>1</c:v>
                </c:pt>
                <c:pt idx="1">
                  <c:v>3.007518796992481</c:v>
                </c:pt>
                <c:pt idx="2">
                  <c:v>6.0150375939849621</c:v>
                </c:pt>
                <c:pt idx="3">
                  <c:v>8.0150375939849603</c:v>
                </c:pt>
                <c:pt idx="4">
                  <c:v>10.02255639097744</c:v>
                </c:pt>
                <c:pt idx="5">
                  <c:v>12.030075187969921</c:v>
                </c:pt>
                <c:pt idx="6">
                  <c:v>14.030075187969921</c:v>
                </c:pt>
                <c:pt idx="7">
                  <c:v>16.03759398496241</c:v>
                </c:pt>
                <c:pt idx="8">
                  <c:v>18.045112781954881</c:v>
                </c:pt>
                <c:pt idx="9">
                  <c:v>19.548872180451131</c:v>
                </c:pt>
              </c:numCache>
            </c:numRef>
          </c:val>
          <c:smooth val="0"/>
          <c:extLst>
            <c:ext xmlns:c16="http://schemas.microsoft.com/office/drawing/2014/chart" uri="{C3380CC4-5D6E-409C-BE32-E72D297353CC}">
              <c16:uniqueId val="{00000001-DC3E-0A4A-8338-B86E31B2A912}"/>
            </c:ext>
          </c:extLst>
        </c:ser>
        <c:ser>
          <c:idx val="2"/>
          <c:order val="4"/>
          <c:tx>
            <c:strRef>
              <c:f>Trend!$N$57</c:f>
              <c:strCache>
                <c:ptCount val="1"/>
                <c:pt idx="0">
                  <c:v>Latency</c:v>
                </c:pt>
              </c:strCache>
            </c:strRef>
          </c:tx>
          <c:spPr>
            <a:ln w="38100" cap="rnd">
              <a:solidFill>
                <a:srgbClr val="FF4136"/>
              </a:solidFill>
              <a:round/>
            </a:ln>
            <a:effectLst/>
          </c:spPr>
          <c:marker>
            <c:symbol val="circle"/>
            <c:size val="14"/>
            <c:spPr>
              <a:solidFill>
                <a:srgbClr val="FF4136"/>
              </a:solidFill>
              <a:ln w="9525">
                <a:solidFill>
                  <a:srgbClr val="FF4136"/>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Trend!$O$58:$X$58</c:f>
              <c:numCache>
                <c:formatCode>General</c:formatCode>
                <c:ptCount val="10"/>
                <c:pt idx="0">
                  <c:v>1</c:v>
                </c:pt>
                <c:pt idx="1">
                  <c:v>1</c:v>
                </c:pt>
                <c:pt idx="2">
                  <c:v>1.043478260869565</c:v>
                </c:pt>
                <c:pt idx="3">
                  <c:v>1.142857142857143</c:v>
                </c:pt>
                <c:pt idx="4">
                  <c:v>1.2121212121212119</c:v>
                </c:pt>
                <c:pt idx="5">
                  <c:v>1.263157894736842</c:v>
                </c:pt>
                <c:pt idx="6">
                  <c:v>1.2520868113522541</c:v>
                </c:pt>
                <c:pt idx="7">
                  <c:v>1.274968125796855</c:v>
                </c:pt>
                <c:pt idx="8">
                  <c:v>1.2998266897746971</c:v>
                </c:pt>
                <c:pt idx="9">
                  <c:v>1.31868131868132</c:v>
                </c:pt>
              </c:numCache>
            </c:numRef>
          </c:val>
          <c:smooth val="0"/>
          <c:extLst>
            <c:ext xmlns:c16="http://schemas.microsoft.com/office/drawing/2014/chart" uri="{C3380CC4-5D6E-409C-BE32-E72D297353CC}">
              <c16:uniqueId val="{00000002-DC3E-0A4A-8338-B86E31B2A912}"/>
            </c:ext>
          </c:extLst>
        </c:ser>
        <c:dLbls>
          <c:showLegendKey val="0"/>
          <c:showVal val="0"/>
          <c:showCatName val="0"/>
          <c:showSerName val="0"/>
          <c:showPercent val="0"/>
          <c:showBubbleSize val="0"/>
        </c:dLbls>
        <c:marker val="1"/>
        <c:smooth val="0"/>
        <c:axId val="1717159040"/>
        <c:axId val="1717163216"/>
        <c:extLst>
          <c:ext xmlns:c15="http://schemas.microsoft.com/office/drawing/2012/chart" uri="{02D57815-91ED-43cb-92C2-25804820EDAC}">
            <c15:filteredLineSeries>
              <c15:ser>
                <c:idx val="0"/>
                <c:order val="0"/>
                <c:tx>
                  <c:strRef>
                    <c:extLst>
                      <c:ext uri="{02D57815-91ED-43cb-92C2-25804820EDAC}">
                        <c15:formulaRef>
                          <c15:sqref>Trend!$N$52</c15:sqref>
                        </c15:formulaRef>
                      </c:ext>
                    </c:extLst>
                    <c:strCache>
                      <c:ptCount val="1"/>
                      <c:pt idx="0">
                        <c:v>Activation</c:v>
                      </c:pt>
                    </c:strCache>
                  </c:strRef>
                </c:tx>
                <c:spPr>
                  <a:ln w="28575" cap="rnd">
                    <a:solidFill>
                      <a:schemeClr val="accent2"/>
                    </a:solidFill>
                    <a:round/>
                  </a:ln>
                  <a:effectLst/>
                </c:spPr>
                <c:marker>
                  <c:symbol val="circle"/>
                  <c:size val="14"/>
                  <c:spPr>
                    <a:solidFill>
                      <a:schemeClr val="accent2"/>
                    </a:solidFill>
                    <a:ln w="9525">
                      <a:solidFill>
                        <a:schemeClr val="accent2"/>
                      </a:solidFill>
                    </a:ln>
                    <a:effectLst/>
                  </c:spPr>
                </c:marker>
                <c:cat>
                  <c:numRef>
                    <c:extLst>
                      <c:ext uri="{02D57815-91ED-43cb-92C2-25804820EDAC}">
                        <c15:formulaRef>
                          <c15:sqref>Trend!$O$51:$X$51</c15:sqref>
                        </c15:formulaRef>
                      </c:ext>
                    </c:extLst>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extLst>
                      <c:ext uri="{02D57815-91ED-43cb-92C2-25804820EDAC}">
                        <c15:formulaRef>
                          <c15:sqref>Trend!$O$52:$V$52</c15:sqref>
                        </c15:formulaRef>
                      </c:ext>
                    </c:extLst>
                    <c:numCache>
                      <c:formatCode>General</c:formatCode>
                      <c:ptCount val="8"/>
                      <c:pt idx="0">
                        <c:v>1</c:v>
                      </c:pt>
                      <c:pt idx="1">
                        <c:v>1</c:v>
                      </c:pt>
                      <c:pt idx="2">
                        <c:v>1</c:v>
                      </c:pt>
                      <c:pt idx="3">
                        <c:v>1</c:v>
                      </c:pt>
                      <c:pt idx="4">
                        <c:v>0.9</c:v>
                      </c:pt>
                      <c:pt idx="5">
                        <c:v>0.83333333333333304</c:v>
                      </c:pt>
                      <c:pt idx="6">
                        <c:v>0.92800000000000005</c:v>
                      </c:pt>
                      <c:pt idx="7">
                        <c:v>0.93733333333333302</c:v>
                      </c:pt>
                    </c:numCache>
                  </c:numRef>
                </c:val>
                <c:smooth val="0"/>
                <c:extLst>
                  <c:ext xmlns:c16="http://schemas.microsoft.com/office/drawing/2014/chart" uri="{C3380CC4-5D6E-409C-BE32-E72D297353CC}">
                    <c16:uniqueId val="{00000003-DC3E-0A4A-8338-B86E31B2A912}"/>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Trend!$N$53</c15:sqref>
                        </c15:formulaRef>
                      </c:ext>
                    </c:extLst>
                    <c:strCache>
                      <c:ptCount val="1"/>
                      <c:pt idx="0">
                        <c:v>Precharge</c:v>
                      </c:pt>
                    </c:strCache>
                  </c:strRef>
                </c:tx>
                <c:spPr>
                  <a:ln w="28575" cap="rnd">
                    <a:solidFill>
                      <a:schemeClr val="accent4"/>
                    </a:solidFill>
                    <a:round/>
                  </a:ln>
                  <a:effectLst/>
                </c:spPr>
                <c:marker>
                  <c:symbol val="x"/>
                  <c:size val="14"/>
                  <c:spPr>
                    <a:noFill/>
                    <a:ln w="9525">
                      <a:solidFill>
                        <a:schemeClr val="accent4"/>
                      </a:solidFill>
                    </a:ln>
                    <a:effectLst/>
                  </c:spPr>
                </c:marker>
                <c:cat>
                  <c:numRef>
                    <c:extLst xmlns:c15="http://schemas.microsoft.com/office/drawing/2012/chart">
                      <c:ext xmlns:c15="http://schemas.microsoft.com/office/drawing/2012/chart" uri="{02D57815-91ED-43cb-92C2-25804820EDAC}">
                        <c15:formulaRef>
                          <c15:sqref>Trend!$O$51:$X$51</c15:sqref>
                        </c15:formulaRef>
                      </c:ext>
                    </c:extLst>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extLst xmlns:c15="http://schemas.microsoft.com/office/drawing/2012/chart">
                      <c:ext xmlns:c15="http://schemas.microsoft.com/office/drawing/2012/chart" uri="{02D57815-91ED-43cb-92C2-25804820EDAC}">
                        <c15:formulaRef>
                          <c15:sqref>Trend!$O$53:$V$53</c15:sqref>
                        </c15:formulaRef>
                      </c:ext>
                    </c:extLst>
                    <c:numCache>
                      <c:formatCode>General</c:formatCode>
                      <c:ptCount val="8"/>
                      <c:pt idx="0">
                        <c:v>1</c:v>
                      </c:pt>
                      <c:pt idx="1">
                        <c:v>1</c:v>
                      </c:pt>
                      <c:pt idx="2">
                        <c:v>1</c:v>
                      </c:pt>
                      <c:pt idx="3">
                        <c:v>1</c:v>
                      </c:pt>
                      <c:pt idx="4">
                        <c:v>0.9</c:v>
                      </c:pt>
                      <c:pt idx="5">
                        <c:v>0.83333333333333304</c:v>
                      </c:pt>
                      <c:pt idx="6">
                        <c:v>0.92800000000000005</c:v>
                      </c:pt>
                      <c:pt idx="7">
                        <c:v>0.93733333333333302</c:v>
                      </c:pt>
                    </c:numCache>
                  </c:numRef>
                </c:val>
                <c:smooth val="0"/>
                <c:extLst xmlns:c15="http://schemas.microsoft.com/office/drawing/2012/chart">
                  <c:ext xmlns:c16="http://schemas.microsoft.com/office/drawing/2014/chart" uri="{C3380CC4-5D6E-409C-BE32-E72D297353CC}">
                    <c16:uniqueId val="{00000004-DC3E-0A4A-8338-B86E31B2A912}"/>
                  </c:ext>
                </c:extLst>
              </c15:ser>
            </c15:filteredLineSeries>
          </c:ext>
        </c:extLst>
      </c:lineChart>
      <c:catAx>
        <c:axId val="1717159040"/>
        <c:scaling>
          <c:orientation val="minMax"/>
        </c:scaling>
        <c:delete val="0"/>
        <c:axPos val="b"/>
        <c:numFmt formatCode="General" sourceLinked="1"/>
        <c:majorTickMark val="none"/>
        <c:minorTickMark val="none"/>
        <c:tickLblPos val="nextTo"/>
        <c:spPr>
          <a:noFill/>
          <a:ln w="19050" cap="flat" cmpd="sng" algn="ctr">
            <a:solidFill>
              <a:schemeClr val="tx1"/>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crossAx val="1717163216"/>
        <c:crosses val="autoZero"/>
        <c:auto val="1"/>
        <c:lblAlgn val="ctr"/>
        <c:lblOffset val="100"/>
        <c:noMultiLvlLbl val="0"/>
      </c:catAx>
      <c:valAx>
        <c:axId val="1717163216"/>
        <c:scaling>
          <c:logBase val="10"/>
          <c:orientation val="minMax"/>
          <c:max val="150"/>
          <c:min val="1"/>
        </c:scaling>
        <c:delete val="0"/>
        <c:axPos val="l"/>
        <c:majorGridlines>
          <c:spPr>
            <a:ln w="19050"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r>
                  <a:rPr lang="en-US"/>
                  <a:t>DRAM Improvement (log)</a:t>
                </a:r>
              </a:p>
            </c:rich>
          </c:tx>
          <c:layout>
            <c:manualLayout>
              <c:xMode val="edge"/>
              <c:yMode val="edge"/>
              <c:x val="3.91802270431953E-3"/>
              <c:y val="0.103654866919604"/>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crossAx val="1717159040"/>
        <c:crosses val="autoZero"/>
        <c:crossBetween val="between"/>
        <c:majorUnit val="10"/>
      </c:valAx>
      <c:spPr>
        <a:noFill/>
        <a:ln>
          <a:noFill/>
        </a:ln>
        <a:effectLst/>
      </c:spPr>
    </c:plotArea>
    <c:legend>
      <c:legendPos val="b"/>
      <c:layout>
        <c:manualLayout>
          <c:xMode val="edge"/>
          <c:yMode val="edge"/>
          <c:x val="0.129817285683346"/>
          <c:y val="1.4274251973468001E-3"/>
          <c:w val="0.66589575864953399"/>
          <c:h val="9.9282337620760802E-2"/>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legend>
    <c:plotVisOnly val="1"/>
    <c:dispBlanksAs val="gap"/>
    <c:showDLblsOverMax val="0"/>
  </c:chart>
  <c:spPr>
    <a:noFill/>
    <a:ln>
      <a:noFill/>
    </a:ln>
    <a:effectLst/>
  </c:spPr>
  <c:txPr>
    <a:bodyPr/>
    <a:lstStyle/>
    <a:p>
      <a:pPr>
        <a:defRPr sz="2400">
          <a:latin typeface="Gill Sans MT" panose="020B0502020104020203" pitchFamily="34" charset="0"/>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00504614552662"/>
          <c:y val="0.15251696116366353"/>
          <c:w val="0.82732323043042"/>
          <c:h val="0.66641303891524295"/>
        </c:manualLayout>
      </c:layout>
      <c:lineChart>
        <c:grouping val="standard"/>
        <c:varyColors val="0"/>
        <c:ser>
          <c:idx val="4"/>
          <c:order val="2"/>
          <c:tx>
            <c:strRef>
              <c:f>Trend!$N$56</c:f>
              <c:strCache>
                <c:ptCount val="1"/>
                <c:pt idx="0">
                  <c:v>Capacity</c:v>
                </c:pt>
              </c:strCache>
            </c:strRef>
          </c:tx>
          <c:spPr>
            <a:ln w="38100" cap="rnd">
              <a:solidFill>
                <a:schemeClr val="accent4">
                  <a:lumMod val="60000"/>
                </a:schemeClr>
              </a:solidFill>
              <a:round/>
            </a:ln>
            <a:effectLst/>
          </c:spPr>
          <c:marker>
            <c:symbol val="triangle"/>
            <c:size val="14"/>
            <c:spPr>
              <a:solidFill>
                <a:schemeClr val="accent4">
                  <a:lumMod val="60000"/>
                </a:schemeClr>
              </a:solidFill>
              <a:ln w="9525">
                <a:solidFill>
                  <a:schemeClr val="accent4">
                    <a:lumMod val="60000"/>
                  </a:schemeClr>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Trend!$O$56:$X$56</c:f>
              <c:numCache>
                <c:formatCode>General</c:formatCode>
                <c:ptCount val="10"/>
                <c:pt idx="0">
                  <c:v>1</c:v>
                </c:pt>
                <c:pt idx="1">
                  <c:v>2</c:v>
                </c:pt>
                <c:pt idx="2">
                  <c:v>4</c:v>
                </c:pt>
                <c:pt idx="3">
                  <c:v>8</c:v>
                </c:pt>
                <c:pt idx="4">
                  <c:v>16</c:v>
                </c:pt>
                <c:pt idx="5">
                  <c:v>32</c:v>
                </c:pt>
                <c:pt idx="6">
                  <c:v>64</c:v>
                </c:pt>
                <c:pt idx="7">
                  <c:v>64</c:v>
                </c:pt>
                <c:pt idx="8">
                  <c:v>128</c:v>
                </c:pt>
                <c:pt idx="9">
                  <c:v>128</c:v>
                </c:pt>
              </c:numCache>
            </c:numRef>
          </c:val>
          <c:smooth val="0"/>
          <c:extLst>
            <c:ext xmlns:c16="http://schemas.microsoft.com/office/drawing/2014/chart" uri="{C3380CC4-5D6E-409C-BE32-E72D297353CC}">
              <c16:uniqueId val="{00000000-DC3E-0A4A-8338-B86E31B2A912}"/>
            </c:ext>
          </c:extLst>
        </c:ser>
        <c:ser>
          <c:idx val="3"/>
          <c:order val="3"/>
          <c:tx>
            <c:strRef>
              <c:f>Trend!$N$55</c:f>
              <c:strCache>
                <c:ptCount val="1"/>
                <c:pt idx="0">
                  <c:v>Bandwidth</c:v>
                </c:pt>
              </c:strCache>
            </c:strRef>
          </c:tx>
          <c:spPr>
            <a:ln w="38100" cap="rnd">
              <a:solidFill>
                <a:schemeClr val="accent6"/>
              </a:solidFill>
              <a:round/>
            </a:ln>
            <a:effectLst/>
          </c:spPr>
          <c:marker>
            <c:symbol val="square"/>
            <c:size val="14"/>
            <c:spPr>
              <a:solidFill>
                <a:schemeClr val="accent6"/>
              </a:solidFill>
              <a:ln w="9525">
                <a:solidFill>
                  <a:schemeClr val="accent6"/>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Trend!$O$55:$X$55</c:f>
              <c:numCache>
                <c:formatCode>General</c:formatCode>
                <c:ptCount val="10"/>
                <c:pt idx="0">
                  <c:v>1</c:v>
                </c:pt>
                <c:pt idx="1">
                  <c:v>3.007518796992481</c:v>
                </c:pt>
                <c:pt idx="2">
                  <c:v>6.0150375939849621</c:v>
                </c:pt>
                <c:pt idx="3">
                  <c:v>8.0150375939849603</c:v>
                </c:pt>
                <c:pt idx="4">
                  <c:v>10.02255639097744</c:v>
                </c:pt>
                <c:pt idx="5">
                  <c:v>12.030075187969921</c:v>
                </c:pt>
                <c:pt idx="6">
                  <c:v>14.030075187969921</c:v>
                </c:pt>
                <c:pt idx="7">
                  <c:v>16.03759398496241</c:v>
                </c:pt>
                <c:pt idx="8">
                  <c:v>18.045112781954881</c:v>
                </c:pt>
                <c:pt idx="9">
                  <c:v>19.548872180451131</c:v>
                </c:pt>
              </c:numCache>
            </c:numRef>
          </c:val>
          <c:smooth val="0"/>
          <c:extLst>
            <c:ext xmlns:c16="http://schemas.microsoft.com/office/drawing/2014/chart" uri="{C3380CC4-5D6E-409C-BE32-E72D297353CC}">
              <c16:uniqueId val="{00000001-DC3E-0A4A-8338-B86E31B2A912}"/>
            </c:ext>
          </c:extLst>
        </c:ser>
        <c:ser>
          <c:idx val="2"/>
          <c:order val="4"/>
          <c:tx>
            <c:strRef>
              <c:f>Trend!$N$57</c:f>
              <c:strCache>
                <c:ptCount val="1"/>
                <c:pt idx="0">
                  <c:v>Latency</c:v>
                </c:pt>
              </c:strCache>
            </c:strRef>
          </c:tx>
          <c:spPr>
            <a:ln w="38100" cap="rnd">
              <a:solidFill>
                <a:srgbClr val="FF4136"/>
              </a:solidFill>
              <a:round/>
            </a:ln>
            <a:effectLst/>
          </c:spPr>
          <c:marker>
            <c:symbol val="circle"/>
            <c:size val="14"/>
            <c:spPr>
              <a:solidFill>
                <a:srgbClr val="FF4136"/>
              </a:solidFill>
              <a:ln w="9525">
                <a:solidFill>
                  <a:srgbClr val="FF4136"/>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Trend!$O$58:$X$58</c:f>
              <c:numCache>
                <c:formatCode>General</c:formatCode>
                <c:ptCount val="10"/>
                <c:pt idx="0">
                  <c:v>1</c:v>
                </c:pt>
                <c:pt idx="1">
                  <c:v>1</c:v>
                </c:pt>
                <c:pt idx="2">
                  <c:v>1.043478260869565</c:v>
                </c:pt>
                <c:pt idx="3">
                  <c:v>1.142857142857143</c:v>
                </c:pt>
                <c:pt idx="4">
                  <c:v>1.2121212121212119</c:v>
                </c:pt>
                <c:pt idx="5">
                  <c:v>1.263157894736842</c:v>
                </c:pt>
                <c:pt idx="6">
                  <c:v>1.2520868113522541</c:v>
                </c:pt>
                <c:pt idx="7">
                  <c:v>1.274968125796855</c:v>
                </c:pt>
                <c:pt idx="8">
                  <c:v>1.2998266897746971</c:v>
                </c:pt>
                <c:pt idx="9">
                  <c:v>1.31868131868132</c:v>
                </c:pt>
              </c:numCache>
            </c:numRef>
          </c:val>
          <c:smooth val="0"/>
          <c:extLst>
            <c:ext xmlns:c16="http://schemas.microsoft.com/office/drawing/2014/chart" uri="{C3380CC4-5D6E-409C-BE32-E72D297353CC}">
              <c16:uniqueId val="{00000002-DC3E-0A4A-8338-B86E31B2A912}"/>
            </c:ext>
          </c:extLst>
        </c:ser>
        <c:dLbls>
          <c:showLegendKey val="0"/>
          <c:showVal val="0"/>
          <c:showCatName val="0"/>
          <c:showSerName val="0"/>
          <c:showPercent val="0"/>
          <c:showBubbleSize val="0"/>
        </c:dLbls>
        <c:marker val="1"/>
        <c:smooth val="0"/>
        <c:axId val="1717159040"/>
        <c:axId val="1717163216"/>
        <c:extLst>
          <c:ext xmlns:c15="http://schemas.microsoft.com/office/drawing/2012/chart" uri="{02D57815-91ED-43cb-92C2-25804820EDAC}">
            <c15:filteredLineSeries>
              <c15:ser>
                <c:idx val="0"/>
                <c:order val="0"/>
                <c:tx>
                  <c:strRef>
                    <c:extLst>
                      <c:ext uri="{02D57815-91ED-43cb-92C2-25804820EDAC}">
                        <c15:formulaRef>
                          <c15:sqref>Trend!$N$52</c15:sqref>
                        </c15:formulaRef>
                      </c:ext>
                    </c:extLst>
                    <c:strCache>
                      <c:ptCount val="1"/>
                      <c:pt idx="0">
                        <c:v>Activation</c:v>
                      </c:pt>
                    </c:strCache>
                  </c:strRef>
                </c:tx>
                <c:spPr>
                  <a:ln w="28575" cap="rnd">
                    <a:solidFill>
                      <a:schemeClr val="accent2"/>
                    </a:solidFill>
                    <a:round/>
                  </a:ln>
                  <a:effectLst/>
                </c:spPr>
                <c:marker>
                  <c:symbol val="circle"/>
                  <c:size val="14"/>
                  <c:spPr>
                    <a:solidFill>
                      <a:schemeClr val="accent2"/>
                    </a:solidFill>
                    <a:ln w="9525">
                      <a:solidFill>
                        <a:schemeClr val="accent2"/>
                      </a:solidFill>
                    </a:ln>
                    <a:effectLst/>
                  </c:spPr>
                </c:marker>
                <c:cat>
                  <c:numRef>
                    <c:extLst>
                      <c:ext uri="{02D57815-91ED-43cb-92C2-25804820EDAC}">
                        <c15:formulaRef>
                          <c15:sqref>Trend!$O$51:$X$51</c15:sqref>
                        </c15:formulaRef>
                      </c:ext>
                    </c:extLst>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extLst>
                      <c:ext uri="{02D57815-91ED-43cb-92C2-25804820EDAC}">
                        <c15:formulaRef>
                          <c15:sqref>Trend!$O$52:$V$52</c15:sqref>
                        </c15:formulaRef>
                      </c:ext>
                    </c:extLst>
                    <c:numCache>
                      <c:formatCode>General</c:formatCode>
                      <c:ptCount val="8"/>
                      <c:pt idx="0">
                        <c:v>1</c:v>
                      </c:pt>
                      <c:pt idx="1">
                        <c:v>1</c:v>
                      </c:pt>
                      <c:pt idx="2">
                        <c:v>1</c:v>
                      </c:pt>
                      <c:pt idx="3">
                        <c:v>1</c:v>
                      </c:pt>
                      <c:pt idx="4">
                        <c:v>0.9</c:v>
                      </c:pt>
                      <c:pt idx="5">
                        <c:v>0.83333333333333304</c:v>
                      </c:pt>
                      <c:pt idx="6">
                        <c:v>0.92800000000000005</c:v>
                      </c:pt>
                      <c:pt idx="7">
                        <c:v>0.93733333333333302</c:v>
                      </c:pt>
                    </c:numCache>
                  </c:numRef>
                </c:val>
                <c:smooth val="0"/>
                <c:extLst>
                  <c:ext xmlns:c16="http://schemas.microsoft.com/office/drawing/2014/chart" uri="{C3380CC4-5D6E-409C-BE32-E72D297353CC}">
                    <c16:uniqueId val="{00000003-DC3E-0A4A-8338-B86E31B2A912}"/>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Trend!$N$53</c15:sqref>
                        </c15:formulaRef>
                      </c:ext>
                    </c:extLst>
                    <c:strCache>
                      <c:ptCount val="1"/>
                      <c:pt idx="0">
                        <c:v>Precharge</c:v>
                      </c:pt>
                    </c:strCache>
                  </c:strRef>
                </c:tx>
                <c:spPr>
                  <a:ln w="28575" cap="rnd">
                    <a:solidFill>
                      <a:schemeClr val="accent4"/>
                    </a:solidFill>
                    <a:round/>
                  </a:ln>
                  <a:effectLst/>
                </c:spPr>
                <c:marker>
                  <c:symbol val="x"/>
                  <c:size val="14"/>
                  <c:spPr>
                    <a:noFill/>
                    <a:ln w="9525">
                      <a:solidFill>
                        <a:schemeClr val="accent4"/>
                      </a:solidFill>
                    </a:ln>
                    <a:effectLst/>
                  </c:spPr>
                </c:marker>
                <c:cat>
                  <c:numRef>
                    <c:extLst xmlns:c15="http://schemas.microsoft.com/office/drawing/2012/chart">
                      <c:ext xmlns:c15="http://schemas.microsoft.com/office/drawing/2012/chart" uri="{02D57815-91ED-43cb-92C2-25804820EDAC}">
                        <c15:formulaRef>
                          <c15:sqref>Trend!$O$51:$X$51</c15:sqref>
                        </c15:formulaRef>
                      </c:ext>
                    </c:extLst>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extLst xmlns:c15="http://schemas.microsoft.com/office/drawing/2012/chart">
                      <c:ext xmlns:c15="http://schemas.microsoft.com/office/drawing/2012/chart" uri="{02D57815-91ED-43cb-92C2-25804820EDAC}">
                        <c15:formulaRef>
                          <c15:sqref>Trend!$O$53:$V$53</c15:sqref>
                        </c15:formulaRef>
                      </c:ext>
                    </c:extLst>
                    <c:numCache>
                      <c:formatCode>General</c:formatCode>
                      <c:ptCount val="8"/>
                      <c:pt idx="0">
                        <c:v>1</c:v>
                      </c:pt>
                      <c:pt idx="1">
                        <c:v>1</c:v>
                      </c:pt>
                      <c:pt idx="2">
                        <c:v>1</c:v>
                      </c:pt>
                      <c:pt idx="3">
                        <c:v>1</c:v>
                      </c:pt>
                      <c:pt idx="4">
                        <c:v>0.9</c:v>
                      </c:pt>
                      <c:pt idx="5">
                        <c:v>0.83333333333333304</c:v>
                      </c:pt>
                      <c:pt idx="6">
                        <c:v>0.92800000000000005</c:v>
                      </c:pt>
                      <c:pt idx="7">
                        <c:v>0.93733333333333302</c:v>
                      </c:pt>
                    </c:numCache>
                  </c:numRef>
                </c:val>
                <c:smooth val="0"/>
                <c:extLst xmlns:c15="http://schemas.microsoft.com/office/drawing/2012/chart">
                  <c:ext xmlns:c16="http://schemas.microsoft.com/office/drawing/2014/chart" uri="{C3380CC4-5D6E-409C-BE32-E72D297353CC}">
                    <c16:uniqueId val="{00000004-DC3E-0A4A-8338-B86E31B2A912}"/>
                  </c:ext>
                </c:extLst>
              </c15:ser>
            </c15:filteredLineSeries>
          </c:ext>
        </c:extLst>
      </c:lineChart>
      <c:catAx>
        <c:axId val="1717159040"/>
        <c:scaling>
          <c:orientation val="minMax"/>
        </c:scaling>
        <c:delete val="0"/>
        <c:axPos val="b"/>
        <c:numFmt formatCode="General" sourceLinked="1"/>
        <c:majorTickMark val="none"/>
        <c:minorTickMark val="none"/>
        <c:tickLblPos val="nextTo"/>
        <c:spPr>
          <a:noFill/>
          <a:ln w="19050" cap="flat" cmpd="sng" algn="ctr">
            <a:solidFill>
              <a:schemeClr val="tx1"/>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crossAx val="1717163216"/>
        <c:crosses val="autoZero"/>
        <c:auto val="1"/>
        <c:lblAlgn val="ctr"/>
        <c:lblOffset val="100"/>
        <c:noMultiLvlLbl val="0"/>
      </c:catAx>
      <c:valAx>
        <c:axId val="1717163216"/>
        <c:scaling>
          <c:logBase val="10"/>
          <c:orientation val="minMax"/>
          <c:max val="150"/>
          <c:min val="1"/>
        </c:scaling>
        <c:delete val="0"/>
        <c:axPos val="l"/>
        <c:majorGridlines>
          <c:spPr>
            <a:ln w="19050"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r>
                  <a:rPr lang="en-US"/>
                  <a:t>DRAM Improvement (log)</a:t>
                </a:r>
              </a:p>
            </c:rich>
          </c:tx>
          <c:layout>
            <c:manualLayout>
              <c:xMode val="edge"/>
              <c:yMode val="edge"/>
              <c:x val="3.91802270431953E-3"/>
              <c:y val="0.103654866919604"/>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crossAx val="1717159040"/>
        <c:crosses val="autoZero"/>
        <c:crossBetween val="between"/>
        <c:majorUnit val="10"/>
      </c:valAx>
      <c:spPr>
        <a:noFill/>
        <a:ln>
          <a:noFill/>
        </a:ln>
        <a:effectLst/>
      </c:spPr>
    </c:plotArea>
    <c:legend>
      <c:legendPos val="b"/>
      <c:layout>
        <c:manualLayout>
          <c:xMode val="edge"/>
          <c:yMode val="edge"/>
          <c:x val="0.129817285683346"/>
          <c:y val="1.4274251973468001E-3"/>
          <c:w val="0.66589575864953399"/>
          <c:h val="9.9282337620760802E-2"/>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legend>
    <c:plotVisOnly val="1"/>
    <c:dispBlanksAs val="gap"/>
    <c:showDLblsOverMax val="0"/>
  </c:chart>
  <c:spPr>
    <a:noFill/>
    <a:ln>
      <a:noFill/>
    </a:ln>
    <a:effectLst/>
  </c:spPr>
  <c:txPr>
    <a:bodyPr/>
    <a:lstStyle/>
    <a:p>
      <a:pPr>
        <a:defRPr sz="2400">
          <a:latin typeface="Gill Sans MT" panose="020B0502020104020203" pitchFamily="34" charset="0"/>
        </a:defRPr>
      </a:pPr>
      <a:endParaRPr lang="zh-CN"/>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019A08-F8A3-6949-A65B-E3147C278B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4FA3DF19-91AD-914C-A7F6-4AA2A7E645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AD636FF8-CD82-7340-9DDC-BB4B4798B04E}" type="datetimeFigureOut">
              <a:rPr lang="en-US"/>
              <a:pPr>
                <a:defRPr/>
              </a:pPr>
              <a:t>4/20/2026</a:t>
            </a:fld>
            <a:endParaRPr lang="en-US"/>
          </a:p>
        </p:txBody>
      </p:sp>
      <p:sp>
        <p:nvSpPr>
          <p:cNvPr id="4" name="Footer Placeholder 3">
            <a:extLst>
              <a:ext uri="{FF2B5EF4-FFF2-40B4-BE49-F238E27FC236}">
                <a16:creationId xmlns:a16="http://schemas.microsoft.com/office/drawing/2014/main" id="{3549600E-2B3E-2641-9ECF-F25C3BA209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charset="0"/>
                <a:ea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D017B383-3727-2745-B3D2-CA3F82DC2A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hangingPunct="1">
              <a:defRPr sz="1200">
                <a:latin typeface="Arial" charset="0"/>
                <a:ea typeface="ＭＳ Ｐゴシック" charset="-128"/>
              </a:defRPr>
            </a:lvl1pPr>
          </a:lstStyle>
          <a:p>
            <a:pPr>
              <a:defRPr/>
            </a:pPr>
            <a:fld id="{F63E19C4-7634-C84C-8A08-F1155DA41513}"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02EC73-6E89-F04C-A37A-7C630CCBAA4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A25176FC-BDCF-954E-A852-4B4AE321B1D4}"/>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90E3D52B-79D4-6A46-9768-0576B5B692C2}" type="datetime1">
              <a:rPr lang="en-US" altLang="en-US"/>
              <a:pPr>
                <a:defRPr/>
              </a:pPr>
              <a:t>4/20/2026</a:t>
            </a:fld>
            <a:endParaRPr lang="en-US" altLang="en-US"/>
          </a:p>
        </p:txBody>
      </p:sp>
      <p:sp>
        <p:nvSpPr>
          <p:cNvPr id="4" name="Slide Image Placeholder 3">
            <a:extLst>
              <a:ext uri="{FF2B5EF4-FFF2-40B4-BE49-F238E27FC236}">
                <a16:creationId xmlns:a16="http://schemas.microsoft.com/office/drawing/2014/main" id="{138926B2-FAB3-9A41-903D-981D5B9DDA2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00A49AD7-AD6F-3843-B037-39771241959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78FCC79-2EC2-9147-9B95-84369E686746}"/>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944E0FE6-2B29-2044-BE2C-49B3357C1475}"/>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91B4C252-306E-224C-8B2A-E6667D8E67C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4811DDEB-23E5-1A4A-A4FA-2FB462DC493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7CF1C65-F0E2-8E44-882C-5DBA87F125D8}" type="slidenum">
              <a:rPr lang="en-US" altLang="en-US" smtClean="0">
                <a:solidFill>
                  <a:srgbClr val="000000"/>
                </a:solidFill>
                <a:latin typeface="Arial" panose="020B0604020202020204" pitchFamily="34" charset="0"/>
                <a:cs typeface="Arial" panose="020B0604020202020204" pitchFamily="34" charset="0"/>
              </a:rPr>
              <a:pPr>
                <a:spcBef>
                  <a:spcPct val="0"/>
                </a:spcBef>
              </a:pPr>
              <a:t>1</a:t>
            </a:fld>
            <a:endParaRPr lang="en-US" altLang="en-US">
              <a:solidFill>
                <a:srgbClr val="000000"/>
              </a:solidFill>
              <a:latin typeface="Arial" panose="020B0604020202020204" pitchFamily="34" charset="0"/>
              <a:cs typeface="Arial" panose="020B0604020202020204" pitchFamily="34" charset="0"/>
            </a:endParaRPr>
          </a:p>
        </p:txBody>
      </p:sp>
      <p:sp>
        <p:nvSpPr>
          <p:cNvPr id="23554" name="Rectangle 2">
            <a:extLst>
              <a:ext uri="{FF2B5EF4-FFF2-40B4-BE49-F238E27FC236}">
                <a16:creationId xmlns:a16="http://schemas.microsoft.com/office/drawing/2014/main" id="{2AB01437-07BF-AD4E-82F9-DDA0E0B2AF5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55423678-1E4A-644F-87FF-81A34DC442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559621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2600"/>
                </a:solidFill>
              </a:rPr>
              <a:t>SIMD Wrap </a:t>
            </a:r>
            <a:endParaRPr lang="zh-CN" altLang="en-US" dirty="0"/>
          </a:p>
        </p:txBody>
      </p:sp>
      <p:sp>
        <p:nvSpPr>
          <p:cNvPr id="4" name="灯片编号占位符 3"/>
          <p:cNvSpPr>
            <a:spLocks noGrp="1"/>
          </p:cNvSpPr>
          <p:nvPr>
            <p:ph type="sldNum" sz="quarter" idx="5"/>
          </p:nvPr>
        </p:nvSpPr>
        <p:spPr/>
        <p:txBody>
          <a:bodyPr/>
          <a:lstStyle/>
          <a:p>
            <a:fld id="{02E19713-9C4A-7245-9E88-240452797298}" type="slidenum">
              <a:rPr lang="en-US" altLang="en-US" smtClean="0"/>
              <a:pPr/>
              <a:t>2</a:t>
            </a:fld>
            <a:endParaRPr lang="en-US" altLang="en-US"/>
          </a:p>
        </p:txBody>
      </p:sp>
    </p:spTree>
    <p:extLst>
      <p:ext uri="{BB962C8B-B14F-4D97-AF65-F5344CB8AC3E}">
        <p14:creationId xmlns:p14="http://schemas.microsoft.com/office/powerpoint/2010/main" val="2587402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59C2D-02FE-4C64-AD33-18B082577A5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4823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fld id="{7B9B8AE1-4404-45A7-9B20-DCFF501886B9}" type="slidenum">
              <a:rPr lang="en-US" sz="1200">
                <a:latin typeface="Arial" pitchFamily="34" charset="0"/>
              </a:rPr>
              <a:pPr/>
              <a:t>13</a:t>
            </a:fld>
            <a:endParaRPr lang="en-US" sz="1200">
              <a:latin typeface="Arial" pitchFamily="34" charset="0"/>
            </a:endParaRPr>
          </a:p>
        </p:txBody>
      </p:sp>
      <p:sp>
        <p:nvSpPr>
          <p:cNvPr id="41986" name="Rectangle 2"/>
          <p:cNvSpPr>
            <a:spLocks noGrp="1" noRot="1" noChangeAspect="1" noChangeArrowheads="1" noTextEdit="1"/>
          </p:cNvSpPr>
          <p:nvPr>
            <p:ph type="sldImg"/>
          </p:nvPr>
        </p:nvSpPr>
        <p:spPr>
          <a:xfrm>
            <a:off x="1257300" y="720725"/>
            <a:ext cx="4800600" cy="3600450"/>
          </a:xfrm>
          <a:ln/>
        </p:spPr>
      </p:sp>
      <p:sp>
        <p:nvSpPr>
          <p:cNvPr id="41987" name="Rectangle 3"/>
          <p:cNvSpPr>
            <a:spLocks noGrp="1" noChangeArrowheads="1"/>
          </p:cNvSpPr>
          <p:nvPr>
            <p:ph type="body" idx="1"/>
          </p:nvPr>
        </p:nvSpPr>
        <p:spPr>
          <a:xfrm>
            <a:off x="974725" y="4560888"/>
            <a:ext cx="5365750" cy="4319587"/>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de-DE">
              <a:latin typeface="Arial" pitchFamily="34" charset="0"/>
            </a:endParaRPr>
          </a:p>
        </p:txBody>
      </p:sp>
    </p:spTree>
    <p:extLst>
      <p:ext uri="{BB962C8B-B14F-4D97-AF65-F5344CB8AC3E}">
        <p14:creationId xmlns:p14="http://schemas.microsoft.com/office/powerpoint/2010/main" val="915533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2D1C1082-2F5C-AD4E-961E-357C82F73F5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A033933F-8BC4-6C4E-BDC8-96593F5FBE32}" type="slidenum">
              <a:rPr lang="en-US" altLang="en-US" smtClean="0">
                <a:solidFill>
                  <a:srgbClr val="000000"/>
                </a:solidFill>
                <a:latin typeface="Arial" panose="020B0604020202020204" pitchFamily="34" charset="0"/>
              </a:rPr>
              <a:pPr>
                <a:spcBef>
                  <a:spcPct val="0"/>
                </a:spcBef>
              </a:pPr>
              <a:t>16</a:t>
            </a:fld>
            <a:endParaRPr lang="en-US" altLang="en-US">
              <a:solidFill>
                <a:srgbClr val="000000"/>
              </a:solidFill>
              <a:latin typeface="Arial" panose="020B0604020202020204" pitchFamily="34" charset="0"/>
            </a:endParaRPr>
          </a:p>
        </p:txBody>
      </p:sp>
      <p:sp>
        <p:nvSpPr>
          <p:cNvPr id="95234" name="Rectangle 2">
            <a:extLst>
              <a:ext uri="{FF2B5EF4-FFF2-40B4-BE49-F238E27FC236}">
                <a16:creationId xmlns:a16="http://schemas.microsoft.com/office/drawing/2014/main" id="{CB3175AA-3939-BE47-A850-EA6F4211F4B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Rectangle 3">
            <a:extLst>
              <a:ext uri="{FF2B5EF4-FFF2-40B4-BE49-F238E27FC236}">
                <a16:creationId xmlns:a16="http://schemas.microsoft.com/office/drawing/2014/main" id="{23872AE9-6544-FD4C-8E83-D2793199B08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1B4C252-306E-224C-8B2A-E6667D8E67C9}"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744678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九品芝麻官电影</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26</a:t>
            </a:fld>
            <a:endParaRPr lang="en-US" altLang="en-US"/>
          </a:p>
        </p:txBody>
      </p:sp>
    </p:spTree>
    <p:extLst>
      <p:ext uri="{BB962C8B-B14F-4D97-AF65-F5344CB8AC3E}">
        <p14:creationId xmlns:p14="http://schemas.microsoft.com/office/powerpoint/2010/main" val="3716978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issue is still there…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59C2D-02FE-4C64-AD33-18B082577A5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8563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A777E825-9169-AD4E-ACDF-FB94E5D8873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D3C49867-8B43-B241-942A-4F48F3855CBA}" type="slidenum">
              <a:rPr lang="en-US" altLang="en-US" smtClean="0">
                <a:solidFill>
                  <a:srgbClr val="000000"/>
                </a:solidFill>
                <a:latin typeface="Arial" panose="020B0604020202020204" pitchFamily="34" charset="0"/>
              </a:rPr>
              <a:pPr>
                <a:spcBef>
                  <a:spcPct val="0"/>
                </a:spcBef>
              </a:pPr>
              <a:t>48</a:t>
            </a:fld>
            <a:endParaRPr lang="en-US" altLang="en-US">
              <a:solidFill>
                <a:srgbClr val="000000"/>
              </a:solidFill>
              <a:latin typeface="Arial" panose="020B0604020202020204" pitchFamily="34" charset="0"/>
            </a:endParaRPr>
          </a:p>
        </p:txBody>
      </p:sp>
      <p:sp>
        <p:nvSpPr>
          <p:cNvPr id="118786" name="Rectangle 2">
            <a:extLst>
              <a:ext uri="{FF2B5EF4-FFF2-40B4-BE49-F238E27FC236}">
                <a16:creationId xmlns:a16="http://schemas.microsoft.com/office/drawing/2014/main" id="{474FCAA9-4A92-A140-B47C-1984EB2F41B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Rectangle 3">
            <a:extLst>
              <a:ext uri="{FF2B5EF4-FFF2-40B4-BE49-F238E27FC236}">
                <a16:creationId xmlns:a16="http://schemas.microsoft.com/office/drawing/2014/main" id="{D148925D-E9EE-734D-A3B2-E3524C5F481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latin typeface="Arial" panose="020B0604020202020204" pitchFamily="34" charset="0"/>
                <a:ea typeface="ＭＳ Ｐゴシック" panose="020B0600070205080204" pitchFamily="34" charset="-128"/>
              </a:rPr>
              <a:t>ISCA: international Symposium of cache architecture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Reducing AMAT is not always beneficial for performance. The direct metric is instruction throughput, which might be orthogonal to latency. </a:t>
            </a:r>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52</a:t>
            </a:fld>
            <a:endParaRPr lang="en-US" altLang="en-US"/>
          </a:p>
        </p:txBody>
      </p:sp>
    </p:spTree>
    <p:extLst>
      <p:ext uri="{BB962C8B-B14F-4D97-AF65-F5344CB8AC3E}">
        <p14:creationId xmlns:p14="http://schemas.microsoft.com/office/powerpoint/2010/main" val="1751012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E835F31-6093-45F9-8252-61EEC166EAB4}" type="slidenum">
              <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de-DE">
              <a:latin typeface="Arial" pitchFamily="34" charset="0"/>
            </a:endParaRPr>
          </a:p>
        </p:txBody>
      </p:sp>
    </p:spTree>
    <p:extLst>
      <p:ext uri="{BB962C8B-B14F-4D97-AF65-F5344CB8AC3E}">
        <p14:creationId xmlns:p14="http://schemas.microsoft.com/office/powerpoint/2010/main" val="1095455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相连</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63</a:t>
            </a:fld>
            <a:endParaRPr lang="en-US" altLang="en-US"/>
          </a:p>
        </p:txBody>
      </p:sp>
    </p:spTree>
    <p:extLst>
      <p:ext uri="{BB962C8B-B14F-4D97-AF65-F5344CB8AC3E}">
        <p14:creationId xmlns:p14="http://schemas.microsoft.com/office/powerpoint/2010/main" val="95750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798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C4C46FCB-634B-8A47-9AC6-25B3464E1E64}"/>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9F95C4AF-D30F-E14D-BBC3-754FDBA4A4E8}"/>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731F3883-8568-B84C-A306-1CBF8DA0A868}"/>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08595BAA-66AE-534A-8396-AF004655C4BB}"/>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A8252872-9190-864A-802C-997A78520E6C}"/>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F282D34A-7AAA-A840-98D2-CEA336C9057D}"/>
              </a:ext>
            </a:extLst>
          </p:cNvPr>
          <p:cNvSpPr>
            <a:spLocks noGrp="1" noChangeArrowheads="1"/>
          </p:cNvSpPr>
          <p:nvPr>
            <p:ph type="sldNum" sz="quarter" idx="12"/>
          </p:nvPr>
        </p:nvSpPr>
        <p:spPr/>
        <p:txBody>
          <a:bodyPr/>
          <a:lstStyle>
            <a:lvl1pPr>
              <a:defRPr sz="1200"/>
            </a:lvl1pPr>
          </a:lstStyle>
          <a:p>
            <a:pPr>
              <a:defRPr/>
            </a:pPr>
            <a:fld id="{1F38DEAD-5A41-EA4D-A385-D5078B1E78A2}" type="slidenum">
              <a:rPr lang="en-US" altLang="en-US"/>
              <a:pPr>
                <a:defRPr/>
              </a:pPr>
              <a:t>‹#›</a:t>
            </a:fld>
            <a:endParaRPr lang="en-US" altLang="en-US"/>
          </a:p>
        </p:txBody>
      </p:sp>
    </p:spTree>
    <p:extLst>
      <p:ext uri="{BB962C8B-B14F-4D97-AF65-F5344CB8AC3E}">
        <p14:creationId xmlns:p14="http://schemas.microsoft.com/office/powerpoint/2010/main" val="216085196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7BFEC6F2-5D18-2C4E-B51F-B9956BEBDC8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7E9556DB-4661-F944-B2CF-C77C133C4C14}"/>
              </a:ext>
            </a:extLst>
          </p:cNvPr>
          <p:cNvSpPr>
            <a:spLocks noGrp="1" noChangeArrowheads="1"/>
          </p:cNvSpPr>
          <p:nvPr>
            <p:ph type="sldNum" sz="quarter" idx="11"/>
          </p:nvPr>
        </p:nvSpPr>
        <p:spPr>
          <a:ln/>
        </p:spPr>
        <p:txBody>
          <a:bodyPr/>
          <a:lstStyle>
            <a:lvl1pPr>
              <a:defRPr/>
            </a:lvl1pPr>
          </a:lstStyle>
          <a:p>
            <a:pPr>
              <a:defRPr/>
            </a:pPr>
            <a:fld id="{3C1075FE-9648-6D48-9A3F-79E0A4971B8D}" type="slidenum">
              <a:rPr lang="en-US" altLang="en-US"/>
              <a:pPr>
                <a:defRPr/>
              </a:pPr>
              <a:t>‹#›</a:t>
            </a:fld>
            <a:endParaRPr lang="en-US" altLang="en-US"/>
          </a:p>
        </p:txBody>
      </p:sp>
    </p:spTree>
    <p:extLst>
      <p:ext uri="{BB962C8B-B14F-4D97-AF65-F5344CB8AC3E}">
        <p14:creationId xmlns:p14="http://schemas.microsoft.com/office/powerpoint/2010/main" val="16231446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292C408C-4BB6-1C4F-B571-BB4CA51687FE}"/>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18DD0093-E897-EC49-850B-CAA491BE9FF9}"/>
              </a:ext>
            </a:extLst>
          </p:cNvPr>
          <p:cNvSpPr>
            <a:spLocks noGrp="1" noChangeArrowheads="1"/>
          </p:cNvSpPr>
          <p:nvPr>
            <p:ph type="sldNum" sz="quarter" idx="11"/>
          </p:nvPr>
        </p:nvSpPr>
        <p:spPr>
          <a:ln/>
        </p:spPr>
        <p:txBody>
          <a:bodyPr/>
          <a:lstStyle>
            <a:lvl1pPr>
              <a:defRPr/>
            </a:lvl1pPr>
          </a:lstStyle>
          <a:p>
            <a:pPr>
              <a:defRPr/>
            </a:pPr>
            <a:fld id="{8A4C5A45-E2DB-EB49-B94E-42C8EAE6121D}" type="slidenum">
              <a:rPr lang="en-US" altLang="en-US"/>
              <a:pPr>
                <a:defRPr/>
              </a:pPr>
              <a:t>‹#›</a:t>
            </a:fld>
            <a:endParaRPr lang="en-US" altLang="en-US"/>
          </a:p>
        </p:txBody>
      </p:sp>
    </p:spTree>
    <p:extLst>
      <p:ext uri="{BB962C8B-B14F-4D97-AF65-F5344CB8AC3E}">
        <p14:creationId xmlns:p14="http://schemas.microsoft.com/office/powerpoint/2010/main" val="230741882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49826EA7-578E-2F42-A4C2-122305C24D9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5D502D43-BF5C-FE4B-97D8-A2CA06A5D33D}"/>
              </a:ext>
            </a:extLst>
          </p:cNvPr>
          <p:cNvSpPr>
            <a:spLocks noGrp="1" noChangeArrowheads="1"/>
          </p:cNvSpPr>
          <p:nvPr>
            <p:ph type="sldNum" sz="quarter" idx="11"/>
          </p:nvPr>
        </p:nvSpPr>
        <p:spPr>
          <a:ln/>
        </p:spPr>
        <p:txBody>
          <a:bodyPr/>
          <a:lstStyle>
            <a:lvl1pPr>
              <a:defRPr/>
            </a:lvl1pPr>
          </a:lstStyle>
          <a:p>
            <a:pPr>
              <a:defRPr/>
            </a:pPr>
            <a:fld id="{851FCCFA-1F0E-FD48-A983-0E37301F85A6}" type="slidenum">
              <a:rPr lang="en-US" altLang="en-US"/>
              <a:pPr>
                <a:defRPr/>
              </a:pPr>
              <a:t>‹#›</a:t>
            </a:fld>
            <a:endParaRPr lang="en-US" altLang="en-US"/>
          </a:p>
        </p:txBody>
      </p:sp>
    </p:spTree>
    <p:extLst>
      <p:ext uri="{BB962C8B-B14F-4D97-AF65-F5344CB8AC3E}">
        <p14:creationId xmlns:p14="http://schemas.microsoft.com/office/powerpoint/2010/main" val="161339597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1977B371-6C6F-A24E-9DD8-D3FA2BE1D706}"/>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54818A72-28C9-F045-A4CC-3D2237FF57FE}"/>
              </a:ext>
            </a:extLst>
          </p:cNvPr>
          <p:cNvSpPr>
            <a:spLocks noGrp="1" noChangeArrowheads="1"/>
          </p:cNvSpPr>
          <p:nvPr>
            <p:ph type="sldNum" sz="quarter" idx="11"/>
          </p:nvPr>
        </p:nvSpPr>
        <p:spPr>
          <a:ln/>
        </p:spPr>
        <p:txBody>
          <a:bodyPr/>
          <a:lstStyle>
            <a:lvl1pPr>
              <a:defRPr/>
            </a:lvl1pPr>
          </a:lstStyle>
          <a:p>
            <a:pPr>
              <a:defRPr/>
            </a:pPr>
            <a:fld id="{C7866AB5-1117-D74C-A189-8782914E7F93}" type="slidenum">
              <a:rPr lang="en-US" altLang="en-US"/>
              <a:pPr>
                <a:defRPr/>
              </a:pPr>
              <a:t>‹#›</a:t>
            </a:fld>
            <a:endParaRPr lang="en-US" altLang="en-US"/>
          </a:p>
        </p:txBody>
      </p:sp>
    </p:spTree>
    <p:extLst>
      <p:ext uri="{BB962C8B-B14F-4D97-AF65-F5344CB8AC3E}">
        <p14:creationId xmlns:p14="http://schemas.microsoft.com/office/powerpoint/2010/main" val="428436371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088538EE-96B2-AA47-80D2-476C2BB5139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8F1C0E30-244F-0042-BD8B-23BA6744B8C0}"/>
              </a:ext>
            </a:extLst>
          </p:cNvPr>
          <p:cNvSpPr>
            <a:spLocks noGrp="1" noChangeArrowheads="1"/>
          </p:cNvSpPr>
          <p:nvPr>
            <p:ph type="sldNum" sz="quarter" idx="11"/>
          </p:nvPr>
        </p:nvSpPr>
        <p:spPr>
          <a:ln/>
        </p:spPr>
        <p:txBody>
          <a:bodyPr/>
          <a:lstStyle>
            <a:lvl1pPr>
              <a:defRPr/>
            </a:lvl1pPr>
          </a:lstStyle>
          <a:p>
            <a:pPr>
              <a:defRPr/>
            </a:pPr>
            <a:fld id="{15D9301D-C9BB-B54F-B660-7088957654DD}" type="slidenum">
              <a:rPr lang="en-US" altLang="en-US"/>
              <a:pPr>
                <a:defRPr/>
              </a:pPr>
              <a:t>‹#›</a:t>
            </a:fld>
            <a:endParaRPr lang="en-US" altLang="en-US"/>
          </a:p>
        </p:txBody>
      </p:sp>
    </p:spTree>
    <p:extLst>
      <p:ext uri="{BB962C8B-B14F-4D97-AF65-F5344CB8AC3E}">
        <p14:creationId xmlns:p14="http://schemas.microsoft.com/office/powerpoint/2010/main" val="294633048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C1CF2072-0028-324C-890D-56FB1397CFB3}"/>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4DF6D8AA-FE40-7641-8EA6-3105809B9DFC}"/>
              </a:ext>
            </a:extLst>
          </p:cNvPr>
          <p:cNvSpPr>
            <a:spLocks noGrp="1" noChangeArrowheads="1"/>
          </p:cNvSpPr>
          <p:nvPr>
            <p:ph type="sldNum" sz="quarter" idx="11"/>
          </p:nvPr>
        </p:nvSpPr>
        <p:spPr>
          <a:ln/>
        </p:spPr>
        <p:txBody>
          <a:bodyPr/>
          <a:lstStyle>
            <a:lvl1pPr>
              <a:defRPr/>
            </a:lvl1pPr>
          </a:lstStyle>
          <a:p>
            <a:pPr>
              <a:defRPr/>
            </a:pPr>
            <a:fld id="{F9BCB059-0ACB-234B-8360-6664267FCE68}" type="slidenum">
              <a:rPr lang="en-US" altLang="en-US"/>
              <a:pPr>
                <a:defRPr/>
              </a:pPr>
              <a:t>‹#›</a:t>
            </a:fld>
            <a:endParaRPr lang="en-US" altLang="en-US"/>
          </a:p>
        </p:txBody>
      </p:sp>
    </p:spTree>
    <p:extLst>
      <p:ext uri="{BB962C8B-B14F-4D97-AF65-F5344CB8AC3E}">
        <p14:creationId xmlns:p14="http://schemas.microsoft.com/office/powerpoint/2010/main" val="160043156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1992DA08-79DE-C54C-B6B8-2A4D1FC21DEC}"/>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460AF047-B725-2742-A8B3-850CC4796C61}"/>
              </a:ext>
            </a:extLst>
          </p:cNvPr>
          <p:cNvSpPr>
            <a:spLocks noGrp="1" noChangeArrowheads="1"/>
          </p:cNvSpPr>
          <p:nvPr>
            <p:ph type="sldNum" sz="quarter" idx="11"/>
          </p:nvPr>
        </p:nvSpPr>
        <p:spPr>
          <a:ln/>
        </p:spPr>
        <p:txBody>
          <a:bodyPr/>
          <a:lstStyle>
            <a:lvl1pPr>
              <a:defRPr/>
            </a:lvl1pPr>
          </a:lstStyle>
          <a:p>
            <a:pPr>
              <a:defRPr/>
            </a:pPr>
            <a:fld id="{9240CD5C-FC9B-9B42-9743-CDD5AA7FB939}" type="slidenum">
              <a:rPr lang="en-US" altLang="en-US"/>
              <a:pPr>
                <a:defRPr/>
              </a:pPr>
              <a:t>‹#›</a:t>
            </a:fld>
            <a:endParaRPr lang="en-US" altLang="en-US"/>
          </a:p>
        </p:txBody>
      </p:sp>
    </p:spTree>
    <p:extLst>
      <p:ext uri="{BB962C8B-B14F-4D97-AF65-F5344CB8AC3E}">
        <p14:creationId xmlns:p14="http://schemas.microsoft.com/office/powerpoint/2010/main" val="8309583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FCB1A50C-3A9A-4643-B430-3B76F0C9EE4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F62D37BE-EA6B-F140-BF5F-8D18935B18FB}"/>
              </a:ext>
            </a:extLst>
          </p:cNvPr>
          <p:cNvSpPr>
            <a:spLocks noGrp="1" noChangeArrowheads="1"/>
          </p:cNvSpPr>
          <p:nvPr>
            <p:ph type="sldNum" sz="quarter" idx="11"/>
          </p:nvPr>
        </p:nvSpPr>
        <p:spPr>
          <a:ln/>
        </p:spPr>
        <p:txBody>
          <a:bodyPr/>
          <a:lstStyle>
            <a:lvl1pPr>
              <a:defRPr/>
            </a:lvl1pPr>
          </a:lstStyle>
          <a:p>
            <a:pPr>
              <a:defRPr/>
            </a:pPr>
            <a:fld id="{205F39F1-5A66-A04F-82E2-65DB2A8F9C4F}" type="slidenum">
              <a:rPr lang="en-US" altLang="en-US"/>
              <a:pPr>
                <a:defRPr/>
              </a:pPr>
              <a:t>‹#›</a:t>
            </a:fld>
            <a:endParaRPr lang="en-US" altLang="en-US"/>
          </a:p>
        </p:txBody>
      </p:sp>
    </p:spTree>
    <p:extLst>
      <p:ext uri="{BB962C8B-B14F-4D97-AF65-F5344CB8AC3E}">
        <p14:creationId xmlns:p14="http://schemas.microsoft.com/office/powerpoint/2010/main" val="180448657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5F065356-3506-3346-B6C4-ADF54CA1B81B}"/>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D2F381B7-EE4D-4444-8CAA-01EBF5B59432}"/>
              </a:ext>
            </a:extLst>
          </p:cNvPr>
          <p:cNvSpPr>
            <a:spLocks noGrp="1" noChangeArrowheads="1"/>
          </p:cNvSpPr>
          <p:nvPr>
            <p:ph type="sldNum" sz="quarter" idx="11"/>
          </p:nvPr>
        </p:nvSpPr>
        <p:spPr>
          <a:ln/>
        </p:spPr>
        <p:txBody>
          <a:bodyPr/>
          <a:lstStyle>
            <a:lvl1pPr>
              <a:defRPr/>
            </a:lvl1pPr>
          </a:lstStyle>
          <a:p>
            <a:pPr>
              <a:defRPr/>
            </a:pPr>
            <a:fld id="{5ED27293-BD49-2A4B-B1F2-51314F109C06}" type="slidenum">
              <a:rPr lang="en-US" altLang="en-US"/>
              <a:pPr>
                <a:defRPr/>
              </a:pPr>
              <a:t>‹#›</a:t>
            </a:fld>
            <a:endParaRPr lang="en-US" altLang="en-US"/>
          </a:p>
        </p:txBody>
      </p:sp>
    </p:spTree>
    <p:extLst>
      <p:ext uri="{BB962C8B-B14F-4D97-AF65-F5344CB8AC3E}">
        <p14:creationId xmlns:p14="http://schemas.microsoft.com/office/powerpoint/2010/main" val="308655794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5C59A038-475D-B541-8D1D-D99D69F8758A}"/>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6D2953A3-6B7E-B14A-85F4-6D246B76F5EF}"/>
              </a:ext>
            </a:extLst>
          </p:cNvPr>
          <p:cNvSpPr>
            <a:spLocks noGrp="1" noChangeArrowheads="1"/>
          </p:cNvSpPr>
          <p:nvPr>
            <p:ph type="sldNum" sz="quarter" idx="11"/>
          </p:nvPr>
        </p:nvSpPr>
        <p:spPr>
          <a:ln/>
        </p:spPr>
        <p:txBody>
          <a:bodyPr/>
          <a:lstStyle>
            <a:lvl1pPr>
              <a:defRPr/>
            </a:lvl1pPr>
          </a:lstStyle>
          <a:p>
            <a:pPr>
              <a:defRPr/>
            </a:pPr>
            <a:fld id="{2A2408B9-62FA-8E48-B981-AC33381087D3}" type="slidenum">
              <a:rPr lang="en-US" altLang="en-US"/>
              <a:pPr>
                <a:defRPr/>
              </a:pPr>
              <a:t>‹#›</a:t>
            </a:fld>
            <a:endParaRPr lang="en-US" altLang="en-US"/>
          </a:p>
        </p:txBody>
      </p:sp>
    </p:spTree>
    <p:extLst>
      <p:ext uri="{BB962C8B-B14F-4D97-AF65-F5344CB8AC3E}">
        <p14:creationId xmlns:p14="http://schemas.microsoft.com/office/powerpoint/2010/main" val="320465668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CA9BE153-E238-C245-91BD-AE4226796B2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D1A55DE1-CD7D-4F47-AEFF-1DE8F2EBF6F9}"/>
              </a:ext>
            </a:extLst>
          </p:cNvPr>
          <p:cNvSpPr>
            <a:spLocks noGrp="1" noChangeArrowheads="1"/>
          </p:cNvSpPr>
          <p:nvPr>
            <p:ph type="sldNum" sz="quarter" idx="11"/>
          </p:nvPr>
        </p:nvSpPr>
        <p:spPr>
          <a:ln/>
        </p:spPr>
        <p:txBody>
          <a:bodyPr/>
          <a:lstStyle>
            <a:lvl1pPr>
              <a:defRPr/>
            </a:lvl1pPr>
          </a:lstStyle>
          <a:p>
            <a:pPr>
              <a:defRPr/>
            </a:pPr>
            <a:fld id="{ED0E76D7-09D5-AD43-8228-0CC2663E6E9E}" type="slidenum">
              <a:rPr lang="en-US" altLang="en-US"/>
              <a:pPr>
                <a:defRPr/>
              </a:pPr>
              <a:t>‹#›</a:t>
            </a:fld>
            <a:endParaRPr lang="en-US" altLang="en-US"/>
          </a:p>
        </p:txBody>
      </p:sp>
    </p:spTree>
    <p:extLst>
      <p:ext uri="{BB962C8B-B14F-4D97-AF65-F5344CB8AC3E}">
        <p14:creationId xmlns:p14="http://schemas.microsoft.com/office/powerpoint/2010/main" val="74757492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90EDC1BF-D507-7F45-A7C4-0B906829077C}"/>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1992A2FD-3614-2F4F-8D8D-1968A4FCD5C3}"/>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88F423D4-7D62-A046-9486-902C5E643230}"/>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93B21A48-4278-2847-949C-8F4EE04798A4}"/>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B665F9C1-6ECF-784D-8FE7-AA1307BE8426}"/>
              </a:ext>
            </a:extLst>
          </p:cNvPr>
          <p:cNvSpPr>
            <a:spLocks noGrp="1" noChangeArrowheads="1"/>
          </p:cNvSpPr>
          <p:nvPr>
            <p:ph type="ftr" sz="quarter" idx="11"/>
          </p:nvPr>
        </p:nvSpPr>
        <p:spPr>
          <a:xfrm>
            <a:off x="3124200" y="6243638"/>
            <a:ext cx="2895600" cy="457200"/>
          </a:xfrm>
        </p:spPr>
        <p:txBody>
          <a:bodyPr/>
          <a:lstStyle>
            <a:lvl1pPr eaLnBrk="0" hangingPunct="0">
              <a:defRPr/>
            </a:lvl1pPr>
          </a:lstStyle>
          <a:p>
            <a:pPr>
              <a:defRPr/>
            </a:pPr>
            <a:endParaRPr lang="en-US" altLang="en-US"/>
          </a:p>
        </p:txBody>
      </p:sp>
      <p:sp>
        <p:nvSpPr>
          <p:cNvPr id="9" name="Rectangle 6">
            <a:extLst>
              <a:ext uri="{FF2B5EF4-FFF2-40B4-BE49-F238E27FC236}">
                <a16:creationId xmlns:a16="http://schemas.microsoft.com/office/drawing/2014/main" id="{11459B8B-977C-BF46-961F-BB3F0DCA34CC}"/>
              </a:ext>
            </a:extLst>
          </p:cNvPr>
          <p:cNvSpPr>
            <a:spLocks noGrp="1" noChangeArrowheads="1"/>
          </p:cNvSpPr>
          <p:nvPr>
            <p:ph type="sldNum" sz="quarter" idx="12"/>
          </p:nvPr>
        </p:nvSpPr>
        <p:spPr/>
        <p:txBody>
          <a:bodyPr/>
          <a:lstStyle>
            <a:lvl1pPr eaLnBrk="0" hangingPunct="0">
              <a:defRPr sz="1200"/>
            </a:lvl1pPr>
          </a:lstStyle>
          <a:p>
            <a:pPr>
              <a:defRPr/>
            </a:pPr>
            <a:fld id="{FE9E5A73-BAFF-F548-9E2E-21289D47583D}" type="slidenum">
              <a:rPr lang="en-US" altLang="en-US"/>
              <a:pPr>
                <a:defRPr/>
              </a:pPr>
              <a:t>‹#›</a:t>
            </a:fld>
            <a:endParaRPr lang="en-US" altLang="en-US"/>
          </a:p>
        </p:txBody>
      </p:sp>
    </p:spTree>
    <p:extLst>
      <p:ext uri="{BB962C8B-B14F-4D97-AF65-F5344CB8AC3E}">
        <p14:creationId xmlns:p14="http://schemas.microsoft.com/office/powerpoint/2010/main" val="268998482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9"/>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7F827B9E-D107-FE47-BCBA-A0F54423FF28}"/>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AAE25E78-7811-3E45-9C3F-3AE96402681A}"/>
              </a:ext>
            </a:extLst>
          </p:cNvPr>
          <p:cNvSpPr>
            <a:spLocks noGrp="1" noChangeArrowheads="1"/>
          </p:cNvSpPr>
          <p:nvPr>
            <p:ph type="sldNum" sz="quarter" idx="11"/>
          </p:nvPr>
        </p:nvSpPr>
        <p:spPr/>
        <p:txBody>
          <a:bodyPr/>
          <a:lstStyle>
            <a:lvl1pPr eaLnBrk="0" hangingPunct="0">
              <a:defRPr/>
            </a:lvl1pPr>
          </a:lstStyle>
          <a:p>
            <a:pPr>
              <a:defRPr/>
            </a:pPr>
            <a:fld id="{9CD3246B-4504-6A44-A3C6-3AD1B220008A}" type="slidenum">
              <a:rPr lang="en-US" altLang="en-US"/>
              <a:pPr>
                <a:defRPr/>
              </a:pPr>
              <a:t>‹#›</a:t>
            </a:fld>
            <a:endParaRPr lang="en-US" altLang="en-US"/>
          </a:p>
        </p:txBody>
      </p:sp>
    </p:spTree>
    <p:extLst>
      <p:ext uri="{BB962C8B-B14F-4D97-AF65-F5344CB8AC3E}">
        <p14:creationId xmlns:p14="http://schemas.microsoft.com/office/powerpoint/2010/main" val="406403076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8"/>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94D63735-01BA-B944-9CAC-1B9C54BD73C2}"/>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7C670B12-B340-A643-9F4E-E46E2789DC7F}"/>
              </a:ext>
            </a:extLst>
          </p:cNvPr>
          <p:cNvSpPr>
            <a:spLocks noGrp="1" noChangeArrowheads="1"/>
          </p:cNvSpPr>
          <p:nvPr>
            <p:ph type="sldNum" sz="quarter" idx="11"/>
          </p:nvPr>
        </p:nvSpPr>
        <p:spPr/>
        <p:txBody>
          <a:bodyPr/>
          <a:lstStyle>
            <a:lvl1pPr eaLnBrk="0" hangingPunct="0">
              <a:defRPr/>
            </a:lvl1pPr>
          </a:lstStyle>
          <a:p>
            <a:pPr>
              <a:defRPr/>
            </a:pPr>
            <a:fld id="{CB2591BB-F593-DC41-9202-A6281FB4FDB6}" type="slidenum">
              <a:rPr lang="en-US" altLang="en-US"/>
              <a:pPr>
                <a:defRPr/>
              </a:pPr>
              <a:t>‹#›</a:t>
            </a:fld>
            <a:endParaRPr lang="en-US" altLang="en-US"/>
          </a:p>
        </p:txBody>
      </p:sp>
    </p:spTree>
    <p:extLst>
      <p:ext uri="{BB962C8B-B14F-4D97-AF65-F5344CB8AC3E}">
        <p14:creationId xmlns:p14="http://schemas.microsoft.com/office/powerpoint/2010/main" val="390751291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FD1CFE7F-38BF-7E4F-8084-41548CC6EB39}"/>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0B09D385-5ADD-F044-A1E9-12910F637D9B}"/>
              </a:ext>
            </a:extLst>
          </p:cNvPr>
          <p:cNvSpPr>
            <a:spLocks noGrp="1" noChangeArrowheads="1"/>
          </p:cNvSpPr>
          <p:nvPr>
            <p:ph type="sldNum" sz="quarter" idx="11"/>
          </p:nvPr>
        </p:nvSpPr>
        <p:spPr/>
        <p:txBody>
          <a:bodyPr/>
          <a:lstStyle>
            <a:lvl1pPr eaLnBrk="0" hangingPunct="0">
              <a:defRPr/>
            </a:lvl1pPr>
          </a:lstStyle>
          <a:p>
            <a:pPr>
              <a:defRPr/>
            </a:pPr>
            <a:fld id="{A850AAB8-6D13-F74D-82DE-01543047371E}" type="slidenum">
              <a:rPr lang="en-US" altLang="en-US"/>
              <a:pPr>
                <a:defRPr/>
              </a:pPr>
              <a:t>‹#›</a:t>
            </a:fld>
            <a:endParaRPr lang="en-US" altLang="en-US"/>
          </a:p>
        </p:txBody>
      </p:sp>
    </p:spTree>
    <p:extLst>
      <p:ext uri="{BB962C8B-B14F-4D97-AF65-F5344CB8AC3E}">
        <p14:creationId xmlns:p14="http://schemas.microsoft.com/office/powerpoint/2010/main" val="121021023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5F562CE1-D7B9-2B48-AABD-520F279FD19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8" name="Rectangle 1030">
            <a:extLst>
              <a:ext uri="{FF2B5EF4-FFF2-40B4-BE49-F238E27FC236}">
                <a16:creationId xmlns:a16="http://schemas.microsoft.com/office/drawing/2014/main" id="{48A76E69-B5F0-BF4B-B407-6D552D390EF3}"/>
              </a:ext>
            </a:extLst>
          </p:cNvPr>
          <p:cNvSpPr>
            <a:spLocks noGrp="1" noChangeArrowheads="1"/>
          </p:cNvSpPr>
          <p:nvPr>
            <p:ph type="sldNum" sz="quarter" idx="11"/>
          </p:nvPr>
        </p:nvSpPr>
        <p:spPr/>
        <p:txBody>
          <a:bodyPr/>
          <a:lstStyle>
            <a:lvl1pPr eaLnBrk="0" hangingPunct="0">
              <a:defRPr/>
            </a:lvl1pPr>
          </a:lstStyle>
          <a:p>
            <a:pPr>
              <a:defRPr/>
            </a:pPr>
            <a:fld id="{7DCC7F1B-7885-0949-97FC-084E8A56F43B}" type="slidenum">
              <a:rPr lang="en-US" altLang="en-US"/>
              <a:pPr>
                <a:defRPr/>
              </a:pPr>
              <a:t>‹#›</a:t>
            </a:fld>
            <a:endParaRPr lang="en-US" altLang="en-US"/>
          </a:p>
        </p:txBody>
      </p:sp>
    </p:spTree>
    <p:extLst>
      <p:ext uri="{BB962C8B-B14F-4D97-AF65-F5344CB8AC3E}">
        <p14:creationId xmlns:p14="http://schemas.microsoft.com/office/powerpoint/2010/main" val="287968506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335DD151-C820-B34A-B26B-2D2F1D3E1F83}"/>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4" name="Rectangle 1030">
            <a:extLst>
              <a:ext uri="{FF2B5EF4-FFF2-40B4-BE49-F238E27FC236}">
                <a16:creationId xmlns:a16="http://schemas.microsoft.com/office/drawing/2014/main" id="{CCFDF57E-6974-814A-893F-5B3EC8AC9CA0}"/>
              </a:ext>
            </a:extLst>
          </p:cNvPr>
          <p:cNvSpPr>
            <a:spLocks noGrp="1" noChangeArrowheads="1"/>
          </p:cNvSpPr>
          <p:nvPr>
            <p:ph type="sldNum" sz="quarter" idx="11"/>
          </p:nvPr>
        </p:nvSpPr>
        <p:spPr/>
        <p:txBody>
          <a:bodyPr/>
          <a:lstStyle>
            <a:lvl1pPr eaLnBrk="0" hangingPunct="0">
              <a:defRPr/>
            </a:lvl1pPr>
          </a:lstStyle>
          <a:p>
            <a:pPr>
              <a:defRPr/>
            </a:pPr>
            <a:fld id="{BDA969E1-C8A6-544B-920A-17EB75C6EE01}" type="slidenum">
              <a:rPr lang="en-US" altLang="en-US"/>
              <a:pPr>
                <a:defRPr/>
              </a:pPr>
              <a:t>‹#›</a:t>
            </a:fld>
            <a:endParaRPr lang="en-US" altLang="en-US"/>
          </a:p>
        </p:txBody>
      </p:sp>
    </p:spTree>
    <p:extLst>
      <p:ext uri="{BB962C8B-B14F-4D97-AF65-F5344CB8AC3E}">
        <p14:creationId xmlns:p14="http://schemas.microsoft.com/office/powerpoint/2010/main" val="360856753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53C2F28A-A914-FE46-A024-DF13262B8C5F}"/>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3" name="Rectangle 1030">
            <a:extLst>
              <a:ext uri="{FF2B5EF4-FFF2-40B4-BE49-F238E27FC236}">
                <a16:creationId xmlns:a16="http://schemas.microsoft.com/office/drawing/2014/main" id="{19100917-C7B6-434C-99E9-E987DCCAA5D8}"/>
              </a:ext>
            </a:extLst>
          </p:cNvPr>
          <p:cNvSpPr>
            <a:spLocks noGrp="1" noChangeArrowheads="1"/>
          </p:cNvSpPr>
          <p:nvPr>
            <p:ph type="sldNum" sz="quarter" idx="11"/>
          </p:nvPr>
        </p:nvSpPr>
        <p:spPr/>
        <p:txBody>
          <a:bodyPr/>
          <a:lstStyle>
            <a:lvl1pPr eaLnBrk="0" hangingPunct="0">
              <a:defRPr/>
            </a:lvl1pPr>
          </a:lstStyle>
          <a:p>
            <a:pPr>
              <a:defRPr/>
            </a:pPr>
            <a:fld id="{6585CF00-0E48-FA45-8634-07059AC75E63}" type="slidenum">
              <a:rPr lang="en-US" altLang="en-US"/>
              <a:pPr>
                <a:defRPr/>
              </a:pPr>
              <a:t>‹#›</a:t>
            </a:fld>
            <a:endParaRPr lang="en-US" altLang="en-US"/>
          </a:p>
        </p:txBody>
      </p:sp>
    </p:spTree>
    <p:extLst>
      <p:ext uri="{BB962C8B-B14F-4D97-AF65-F5344CB8AC3E}">
        <p14:creationId xmlns:p14="http://schemas.microsoft.com/office/powerpoint/2010/main" val="39962496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5" y="273055"/>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435105"/>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8552A2B8-84EB-424B-AB45-BF86C41D24AC}"/>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A2D8C86B-640E-DD49-A5A7-2807F5B6B58F}"/>
              </a:ext>
            </a:extLst>
          </p:cNvPr>
          <p:cNvSpPr>
            <a:spLocks noGrp="1" noChangeArrowheads="1"/>
          </p:cNvSpPr>
          <p:nvPr>
            <p:ph type="sldNum" sz="quarter" idx="11"/>
          </p:nvPr>
        </p:nvSpPr>
        <p:spPr/>
        <p:txBody>
          <a:bodyPr/>
          <a:lstStyle>
            <a:lvl1pPr eaLnBrk="0" hangingPunct="0">
              <a:defRPr/>
            </a:lvl1pPr>
          </a:lstStyle>
          <a:p>
            <a:pPr>
              <a:defRPr/>
            </a:pPr>
            <a:fld id="{2C344135-9420-D548-BD7C-79317C91434F}" type="slidenum">
              <a:rPr lang="en-US" altLang="en-US"/>
              <a:pPr>
                <a:defRPr/>
              </a:pPr>
              <a:t>‹#›</a:t>
            </a:fld>
            <a:endParaRPr lang="en-US" altLang="en-US"/>
          </a:p>
        </p:txBody>
      </p:sp>
    </p:spTree>
    <p:extLst>
      <p:ext uri="{BB962C8B-B14F-4D97-AF65-F5344CB8AC3E}">
        <p14:creationId xmlns:p14="http://schemas.microsoft.com/office/powerpoint/2010/main" val="114938400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8EBB0C76-64C6-2942-B4EB-EE86FC1D051F}"/>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2E47F2FC-584D-BF4D-AF6A-AD9133707603}"/>
              </a:ext>
            </a:extLst>
          </p:cNvPr>
          <p:cNvSpPr>
            <a:spLocks noGrp="1" noChangeArrowheads="1"/>
          </p:cNvSpPr>
          <p:nvPr>
            <p:ph type="sldNum" sz="quarter" idx="11"/>
          </p:nvPr>
        </p:nvSpPr>
        <p:spPr/>
        <p:txBody>
          <a:bodyPr/>
          <a:lstStyle>
            <a:lvl1pPr eaLnBrk="0" hangingPunct="0">
              <a:defRPr/>
            </a:lvl1pPr>
          </a:lstStyle>
          <a:p>
            <a:pPr>
              <a:defRPr/>
            </a:pPr>
            <a:fld id="{F1DB68E5-2868-6D4F-A89F-4CC0EFD4A2B9}" type="slidenum">
              <a:rPr lang="en-US" altLang="en-US"/>
              <a:pPr>
                <a:defRPr/>
              </a:pPr>
              <a:t>‹#›</a:t>
            </a:fld>
            <a:endParaRPr lang="en-US" altLang="en-US"/>
          </a:p>
        </p:txBody>
      </p:sp>
    </p:spTree>
    <p:extLst>
      <p:ext uri="{BB962C8B-B14F-4D97-AF65-F5344CB8AC3E}">
        <p14:creationId xmlns:p14="http://schemas.microsoft.com/office/powerpoint/2010/main" val="173439664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7631792A-AD76-664C-A1F8-67622FD12195}"/>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AD1CFAAE-D710-B945-880C-4838C9E27A0A}"/>
              </a:ext>
            </a:extLst>
          </p:cNvPr>
          <p:cNvSpPr>
            <a:spLocks noGrp="1" noChangeArrowheads="1"/>
          </p:cNvSpPr>
          <p:nvPr>
            <p:ph type="sldNum" sz="quarter" idx="11"/>
          </p:nvPr>
        </p:nvSpPr>
        <p:spPr/>
        <p:txBody>
          <a:bodyPr/>
          <a:lstStyle>
            <a:lvl1pPr eaLnBrk="0" hangingPunct="0">
              <a:defRPr/>
            </a:lvl1pPr>
          </a:lstStyle>
          <a:p>
            <a:pPr>
              <a:defRPr/>
            </a:pPr>
            <a:fld id="{B99F8390-5E7B-F84D-BB5A-F0643481A975}" type="slidenum">
              <a:rPr lang="en-US" altLang="en-US"/>
              <a:pPr>
                <a:defRPr/>
              </a:pPr>
              <a:t>‹#›</a:t>
            </a:fld>
            <a:endParaRPr lang="en-US" altLang="en-US"/>
          </a:p>
        </p:txBody>
      </p:sp>
    </p:spTree>
    <p:extLst>
      <p:ext uri="{BB962C8B-B14F-4D97-AF65-F5344CB8AC3E}">
        <p14:creationId xmlns:p14="http://schemas.microsoft.com/office/powerpoint/2010/main" val="245909783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49" y="152400"/>
            <a:ext cx="2152651"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6" y="152400"/>
            <a:ext cx="6305551"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550158EE-260B-B548-928C-E911F37962D7}"/>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D3577B43-A5DC-1B40-946C-9AFCCF79B3B1}"/>
              </a:ext>
            </a:extLst>
          </p:cNvPr>
          <p:cNvSpPr>
            <a:spLocks noGrp="1" noChangeArrowheads="1"/>
          </p:cNvSpPr>
          <p:nvPr>
            <p:ph type="sldNum" sz="quarter" idx="11"/>
          </p:nvPr>
        </p:nvSpPr>
        <p:spPr/>
        <p:txBody>
          <a:bodyPr/>
          <a:lstStyle>
            <a:lvl1pPr eaLnBrk="0" hangingPunct="0">
              <a:defRPr/>
            </a:lvl1pPr>
          </a:lstStyle>
          <a:p>
            <a:pPr>
              <a:defRPr/>
            </a:pPr>
            <a:fld id="{954DE8F5-A1D7-DB49-969C-EAC86A464DD7}" type="slidenum">
              <a:rPr lang="en-US" altLang="en-US"/>
              <a:pPr>
                <a:defRPr/>
              </a:pPr>
              <a:t>‹#›</a:t>
            </a:fld>
            <a:endParaRPr lang="en-US" altLang="en-US"/>
          </a:p>
        </p:txBody>
      </p:sp>
    </p:spTree>
    <p:extLst>
      <p:ext uri="{BB962C8B-B14F-4D97-AF65-F5344CB8AC3E}">
        <p14:creationId xmlns:p14="http://schemas.microsoft.com/office/powerpoint/2010/main" val="198509139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3"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3"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26F2D48B-DA98-9943-BC1C-A3EA9EB5DCED}"/>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D1997EEF-E597-CB49-82CE-E15B3C1E8B73}"/>
              </a:ext>
            </a:extLst>
          </p:cNvPr>
          <p:cNvSpPr>
            <a:spLocks noGrp="1" noChangeArrowheads="1"/>
          </p:cNvSpPr>
          <p:nvPr>
            <p:ph type="sldNum" sz="quarter" idx="11"/>
          </p:nvPr>
        </p:nvSpPr>
        <p:spPr/>
        <p:txBody>
          <a:bodyPr/>
          <a:lstStyle>
            <a:lvl1pPr eaLnBrk="0" hangingPunct="0">
              <a:defRPr/>
            </a:lvl1pPr>
          </a:lstStyle>
          <a:p>
            <a:pPr>
              <a:defRPr/>
            </a:pPr>
            <a:fld id="{C61C15F8-46C5-1E47-A52A-D0FDBA87F580}" type="slidenum">
              <a:rPr lang="en-US" altLang="en-US"/>
              <a:pPr>
                <a:defRPr/>
              </a:pPr>
              <a:t>‹#›</a:t>
            </a:fld>
            <a:endParaRPr lang="en-US" altLang="en-US"/>
          </a:p>
        </p:txBody>
      </p:sp>
    </p:spTree>
    <p:extLst>
      <p:ext uri="{BB962C8B-B14F-4D97-AF65-F5344CB8AC3E}">
        <p14:creationId xmlns:p14="http://schemas.microsoft.com/office/powerpoint/2010/main" val="1145671746"/>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FF78E4D0-424C-0347-A9CF-9E0B76713F17}"/>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A33CC073-19C1-4248-876B-620F0F137C37}"/>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9A9073A6-6853-0F42-BD07-7378E2199118}"/>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D25A0291-5427-B84A-B976-84F330C4F86E}"/>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4FE10629-1650-674B-8E6B-FB0D2376E987}"/>
              </a:ext>
            </a:extLst>
          </p:cNvPr>
          <p:cNvSpPr>
            <a:spLocks noGrp="1" noChangeArrowheads="1"/>
          </p:cNvSpPr>
          <p:nvPr>
            <p:ph type="ftr" sz="quarter" idx="11"/>
          </p:nvPr>
        </p:nvSpPr>
        <p:spPr>
          <a:xfrm>
            <a:off x="3124200" y="6243638"/>
            <a:ext cx="2895600" cy="457200"/>
          </a:xfrm>
        </p:spPr>
        <p:txBody>
          <a:bodyPr/>
          <a:lstStyle>
            <a:lvl1pPr eaLnBrk="0" hangingPunct="0">
              <a:defRPr/>
            </a:lvl1pPr>
          </a:lstStyle>
          <a:p>
            <a:pPr>
              <a:defRPr/>
            </a:pPr>
            <a:endParaRPr lang="en-US" altLang="en-US"/>
          </a:p>
        </p:txBody>
      </p:sp>
      <p:sp>
        <p:nvSpPr>
          <p:cNvPr id="9" name="Rectangle 6">
            <a:extLst>
              <a:ext uri="{FF2B5EF4-FFF2-40B4-BE49-F238E27FC236}">
                <a16:creationId xmlns:a16="http://schemas.microsoft.com/office/drawing/2014/main" id="{972D5666-8AF3-5D4B-9DBF-049134A814EB}"/>
              </a:ext>
            </a:extLst>
          </p:cNvPr>
          <p:cNvSpPr>
            <a:spLocks noGrp="1" noChangeArrowheads="1"/>
          </p:cNvSpPr>
          <p:nvPr>
            <p:ph type="sldNum" sz="quarter" idx="12"/>
          </p:nvPr>
        </p:nvSpPr>
        <p:spPr/>
        <p:txBody>
          <a:bodyPr/>
          <a:lstStyle>
            <a:lvl1pPr eaLnBrk="0" hangingPunct="0">
              <a:defRPr sz="1200"/>
            </a:lvl1pPr>
          </a:lstStyle>
          <a:p>
            <a:pPr>
              <a:defRPr/>
            </a:pPr>
            <a:fld id="{E967BE0B-2763-2049-A065-F1B8755BA5E2}" type="slidenum">
              <a:rPr lang="en-US" altLang="en-US"/>
              <a:pPr>
                <a:defRPr/>
              </a:pPr>
              <a:t>‹#›</a:t>
            </a:fld>
            <a:endParaRPr lang="en-US" altLang="en-US"/>
          </a:p>
        </p:txBody>
      </p:sp>
    </p:spTree>
    <p:extLst>
      <p:ext uri="{BB962C8B-B14F-4D97-AF65-F5344CB8AC3E}">
        <p14:creationId xmlns:p14="http://schemas.microsoft.com/office/powerpoint/2010/main" val="165495431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9"/>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D9F6E65B-F4D3-3944-A374-1D0280283AB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01A79C1B-984C-364F-AF40-AE13374B2D25}"/>
              </a:ext>
            </a:extLst>
          </p:cNvPr>
          <p:cNvSpPr>
            <a:spLocks noGrp="1" noChangeArrowheads="1"/>
          </p:cNvSpPr>
          <p:nvPr>
            <p:ph type="sldNum" sz="quarter" idx="11"/>
          </p:nvPr>
        </p:nvSpPr>
        <p:spPr/>
        <p:txBody>
          <a:bodyPr/>
          <a:lstStyle>
            <a:lvl1pPr eaLnBrk="0" hangingPunct="0">
              <a:defRPr/>
            </a:lvl1pPr>
          </a:lstStyle>
          <a:p>
            <a:pPr>
              <a:defRPr/>
            </a:pPr>
            <a:fld id="{5492BC37-A118-A54F-AC4D-063C0DBF1266}" type="slidenum">
              <a:rPr lang="en-US" altLang="en-US"/>
              <a:pPr>
                <a:defRPr/>
              </a:pPr>
              <a:t>‹#›</a:t>
            </a:fld>
            <a:endParaRPr lang="en-US" altLang="en-US"/>
          </a:p>
        </p:txBody>
      </p:sp>
    </p:spTree>
    <p:extLst>
      <p:ext uri="{BB962C8B-B14F-4D97-AF65-F5344CB8AC3E}">
        <p14:creationId xmlns:p14="http://schemas.microsoft.com/office/powerpoint/2010/main" val="292212268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8"/>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9D05D34E-8F1F-7E44-8E24-99F75182925A}"/>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051EFE95-F820-E747-9341-BA4039E1E260}"/>
              </a:ext>
            </a:extLst>
          </p:cNvPr>
          <p:cNvSpPr>
            <a:spLocks noGrp="1" noChangeArrowheads="1"/>
          </p:cNvSpPr>
          <p:nvPr>
            <p:ph type="sldNum" sz="quarter" idx="11"/>
          </p:nvPr>
        </p:nvSpPr>
        <p:spPr/>
        <p:txBody>
          <a:bodyPr/>
          <a:lstStyle>
            <a:lvl1pPr eaLnBrk="0" hangingPunct="0">
              <a:defRPr/>
            </a:lvl1pPr>
          </a:lstStyle>
          <a:p>
            <a:pPr>
              <a:defRPr/>
            </a:pPr>
            <a:fld id="{E7E050C4-0910-8048-9740-3DBA2CE33BA0}" type="slidenum">
              <a:rPr lang="en-US" altLang="en-US"/>
              <a:pPr>
                <a:defRPr/>
              </a:pPr>
              <a:t>‹#›</a:t>
            </a:fld>
            <a:endParaRPr lang="en-US" altLang="en-US"/>
          </a:p>
        </p:txBody>
      </p:sp>
    </p:spTree>
    <p:extLst>
      <p:ext uri="{BB962C8B-B14F-4D97-AF65-F5344CB8AC3E}">
        <p14:creationId xmlns:p14="http://schemas.microsoft.com/office/powerpoint/2010/main" val="106417894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5663CB9F-F849-5645-8E13-F1DE817F51C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441F8311-5EED-E845-BC70-610F9CFD66AE}"/>
              </a:ext>
            </a:extLst>
          </p:cNvPr>
          <p:cNvSpPr>
            <a:spLocks noGrp="1" noChangeArrowheads="1"/>
          </p:cNvSpPr>
          <p:nvPr>
            <p:ph type="sldNum" sz="quarter" idx="11"/>
          </p:nvPr>
        </p:nvSpPr>
        <p:spPr/>
        <p:txBody>
          <a:bodyPr/>
          <a:lstStyle>
            <a:lvl1pPr eaLnBrk="0" hangingPunct="0">
              <a:defRPr/>
            </a:lvl1pPr>
          </a:lstStyle>
          <a:p>
            <a:pPr>
              <a:defRPr/>
            </a:pPr>
            <a:fld id="{91A66211-12EB-5542-A4A8-C149AEDD23E2}" type="slidenum">
              <a:rPr lang="en-US" altLang="en-US"/>
              <a:pPr>
                <a:defRPr/>
              </a:pPr>
              <a:t>‹#›</a:t>
            </a:fld>
            <a:endParaRPr lang="en-US" altLang="en-US"/>
          </a:p>
        </p:txBody>
      </p:sp>
    </p:spTree>
    <p:extLst>
      <p:ext uri="{BB962C8B-B14F-4D97-AF65-F5344CB8AC3E}">
        <p14:creationId xmlns:p14="http://schemas.microsoft.com/office/powerpoint/2010/main" val="94962001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5B71E6E3-998C-9544-B8FF-E54C160A5660}"/>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8" name="Rectangle 1030">
            <a:extLst>
              <a:ext uri="{FF2B5EF4-FFF2-40B4-BE49-F238E27FC236}">
                <a16:creationId xmlns:a16="http://schemas.microsoft.com/office/drawing/2014/main" id="{A419141F-C4E9-0B4E-A246-8CC026C0A177}"/>
              </a:ext>
            </a:extLst>
          </p:cNvPr>
          <p:cNvSpPr>
            <a:spLocks noGrp="1" noChangeArrowheads="1"/>
          </p:cNvSpPr>
          <p:nvPr>
            <p:ph type="sldNum" sz="quarter" idx="11"/>
          </p:nvPr>
        </p:nvSpPr>
        <p:spPr/>
        <p:txBody>
          <a:bodyPr/>
          <a:lstStyle>
            <a:lvl1pPr eaLnBrk="0" hangingPunct="0">
              <a:defRPr/>
            </a:lvl1pPr>
          </a:lstStyle>
          <a:p>
            <a:pPr>
              <a:defRPr/>
            </a:pPr>
            <a:fld id="{3BCF3F7B-A04E-DF4A-8937-C43C179D5B24}" type="slidenum">
              <a:rPr lang="en-US" altLang="en-US"/>
              <a:pPr>
                <a:defRPr/>
              </a:pPr>
              <a:t>‹#›</a:t>
            </a:fld>
            <a:endParaRPr lang="en-US" altLang="en-US"/>
          </a:p>
        </p:txBody>
      </p:sp>
    </p:spTree>
    <p:extLst>
      <p:ext uri="{BB962C8B-B14F-4D97-AF65-F5344CB8AC3E}">
        <p14:creationId xmlns:p14="http://schemas.microsoft.com/office/powerpoint/2010/main" val="4216294795"/>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6911567B-47F9-5849-930E-8C6D41B52A1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4" name="Rectangle 1030">
            <a:extLst>
              <a:ext uri="{FF2B5EF4-FFF2-40B4-BE49-F238E27FC236}">
                <a16:creationId xmlns:a16="http://schemas.microsoft.com/office/drawing/2014/main" id="{26280F4A-A5F7-B34A-99FD-B7DAC4D84D91}"/>
              </a:ext>
            </a:extLst>
          </p:cNvPr>
          <p:cNvSpPr>
            <a:spLocks noGrp="1" noChangeArrowheads="1"/>
          </p:cNvSpPr>
          <p:nvPr>
            <p:ph type="sldNum" sz="quarter" idx="11"/>
          </p:nvPr>
        </p:nvSpPr>
        <p:spPr/>
        <p:txBody>
          <a:bodyPr/>
          <a:lstStyle>
            <a:lvl1pPr eaLnBrk="0" hangingPunct="0">
              <a:defRPr/>
            </a:lvl1pPr>
          </a:lstStyle>
          <a:p>
            <a:pPr>
              <a:defRPr/>
            </a:pPr>
            <a:fld id="{54DC08C1-50FB-784E-8290-EF1E56DEDA31}" type="slidenum">
              <a:rPr lang="en-US" altLang="en-US"/>
              <a:pPr>
                <a:defRPr/>
              </a:pPr>
              <a:t>‹#›</a:t>
            </a:fld>
            <a:endParaRPr lang="en-US" altLang="en-US"/>
          </a:p>
        </p:txBody>
      </p:sp>
    </p:spTree>
    <p:extLst>
      <p:ext uri="{BB962C8B-B14F-4D97-AF65-F5344CB8AC3E}">
        <p14:creationId xmlns:p14="http://schemas.microsoft.com/office/powerpoint/2010/main" val="818168374"/>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ED3ED04A-310E-B641-A663-4B51CE77C666}"/>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3" name="Rectangle 1030">
            <a:extLst>
              <a:ext uri="{FF2B5EF4-FFF2-40B4-BE49-F238E27FC236}">
                <a16:creationId xmlns:a16="http://schemas.microsoft.com/office/drawing/2014/main" id="{9B1C7671-C4C8-144F-B54F-68976AADE334}"/>
              </a:ext>
            </a:extLst>
          </p:cNvPr>
          <p:cNvSpPr>
            <a:spLocks noGrp="1" noChangeArrowheads="1"/>
          </p:cNvSpPr>
          <p:nvPr>
            <p:ph type="sldNum" sz="quarter" idx="11"/>
          </p:nvPr>
        </p:nvSpPr>
        <p:spPr/>
        <p:txBody>
          <a:bodyPr/>
          <a:lstStyle>
            <a:lvl1pPr eaLnBrk="0" hangingPunct="0">
              <a:defRPr/>
            </a:lvl1pPr>
          </a:lstStyle>
          <a:p>
            <a:pPr>
              <a:defRPr/>
            </a:pPr>
            <a:fld id="{FF3A6762-16BE-2040-B803-55E100CD2124}" type="slidenum">
              <a:rPr lang="en-US" altLang="en-US"/>
              <a:pPr>
                <a:defRPr/>
              </a:pPr>
              <a:t>‹#›</a:t>
            </a:fld>
            <a:endParaRPr lang="en-US" altLang="en-US"/>
          </a:p>
        </p:txBody>
      </p:sp>
    </p:spTree>
    <p:extLst>
      <p:ext uri="{BB962C8B-B14F-4D97-AF65-F5344CB8AC3E}">
        <p14:creationId xmlns:p14="http://schemas.microsoft.com/office/powerpoint/2010/main" val="2985086897"/>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5" y="273055"/>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435105"/>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5C5228AF-DAE0-C34E-AE0C-CE18E3E0F390}"/>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1F1C6DDA-B4E8-6D45-BD7C-A2B555DF7B57}"/>
              </a:ext>
            </a:extLst>
          </p:cNvPr>
          <p:cNvSpPr>
            <a:spLocks noGrp="1" noChangeArrowheads="1"/>
          </p:cNvSpPr>
          <p:nvPr>
            <p:ph type="sldNum" sz="quarter" idx="11"/>
          </p:nvPr>
        </p:nvSpPr>
        <p:spPr/>
        <p:txBody>
          <a:bodyPr/>
          <a:lstStyle>
            <a:lvl1pPr eaLnBrk="0" hangingPunct="0">
              <a:defRPr/>
            </a:lvl1pPr>
          </a:lstStyle>
          <a:p>
            <a:pPr>
              <a:defRPr/>
            </a:pPr>
            <a:fld id="{D08B495F-94D1-AD4D-82FB-0AC90C72F42F}" type="slidenum">
              <a:rPr lang="en-US" altLang="en-US"/>
              <a:pPr>
                <a:defRPr/>
              </a:pPr>
              <a:t>‹#›</a:t>
            </a:fld>
            <a:endParaRPr lang="en-US" altLang="en-US"/>
          </a:p>
        </p:txBody>
      </p:sp>
    </p:spTree>
    <p:extLst>
      <p:ext uri="{BB962C8B-B14F-4D97-AF65-F5344CB8AC3E}">
        <p14:creationId xmlns:p14="http://schemas.microsoft.com/office/powerpoint/2010/main" val="284576519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3F6B5E7B-1157-6340-89A3-6088FF59640E}"/>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98132281-096F-2846-AF74-40556CC34CD1}"/>
              </a:ext>
            </a:extLst>
          </p:cNvPr>
          <p:cNvSpPr>
            <a:spLocks noGrp="1" noChangeArrowheads="1"/>
          </p:cNvSpPr>
          <p:nvPr>
            <p:ph type="sldNum" sz="quarter" idx="11"/>
          </p:nvPr>
        </p:nvSpPr>
        <p:spPr/>
        <p:txBody>
          <a:bodyPr/>
          <a:lstStyle>
            <a:lvl1pPr eaLnBrk="0" hangingPunct="0">
              <a:defRPr/>
            </a:lvl1pPr>
          </a:lstStyle>
          <a:p>
            <a:pPr>
              <a:defRPr/>
            </a:pPr>
            <a:fld id="{D60E6768-6EA0-2B48-B4F6-782912DF6E73}" type="slidenum">
              <a:rPr lang="en-US" altLang="en-US"/>
              <a:pPr>
                <a:defRPr/>
              </a:pPr>
              <a:t>‹#›</a:t>
            </a:fld>
            <a:endParaRPr lang="en-US" altLang="en-US"/>
          </a:p>
        </p:txBody>
      </p:sp>
    </p:spTree>
    <p:extLst>
      <p:ext uri="{BB962C8B-B14F-4D97-AF65-F5344CB8AC3E}">
        <p14:creationId xmlns:p14="http://schemas.microsoft.com/office/powerpoint/2010/main" val="3435096079"/>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DE348F99-A9E9-A340-93CE-467BCF71994E}"/>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CEA0239B-2D4E-AF41-9282-EB8079EAA6E2}"/>
              </a:ext>
            </a:extLst>
          </p:cNvPr>
          <p:cNvSpPr>
            <a:spLocks noGrp="1" noChangeArrowheads="1"/>
          </p:cNvSpPr>
          <p:nvPr>
            <p:ph type="sldNum" sz="quarter" idx="11"/>
          </p:nvPr>
        </p:nvSpPr>
        <p:spPr/>
        <p:txBody>
          <a:bodyPr/>
          <a:lstStyle>
            <a:lvl1pPr eaLnBrk="0" hangingPunct="0">
              <a:defRPr/>
            </a:lvl1pPr>
          </a:lstStyle>
          <a:p>
            <a:pPr>
              <a:defRPr/>
            </a:pPr>
            <a:fld id="{E7DE3877-7A7D-DD4D-82B4-4016483A2B08}" type="slidenum">
              <a:rPr lang="en-US" altLang="en-US"/>
              <a:pPr>
                <a:defRPr/>
              </a:pPr>
              <a:t>‹#›</a:t>
            </a:fld>
            <a:endParaRPr lang="en-US" altLang="en-US"/>
          </a:p>
        </p:txBody>
      </p:sp>
    </p:spTree>
    <p:extLst>
      <p:ext uri="{BB962C8B-B14F-4D97-AF65-F5344CB8AC3E}">
        <p14:creationId xmlns:p14="http://schemas.microsoft.com/office/powerpoint/2010/main" val="1129802142"/>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49" y="152400"/>
            <a:ext cx="2152651"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6" y="152400"/>
            <a:ext cx="6305551"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30946A57-00B5-BF4D-BA0D-4C0AAA5BC94D}"/>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418EEB5B-561D-2D4D-A99E-0F26DFC44BCB}"/>
              </a:ext>
            </a:extLst>
          </p:cNvPr>
          <p:cNvSpPr>
            <a:spLocks noGrp="1" noChangeArrowheads="1"/>
          </p:cNvSpPr>
          <p:nvPr>
            <p:ph type="sldNum" sz="quarter" idx="11"/>
          </p:nvPr>
        </p:nvSpPr>
        <p:spPr/>
        <p:txBody>
          <a:bodyPr/>
          <a:lstStyle>
            <a:lvl1pPr eaLnBrk="0" hangingPunct="0">
              <a:defRPr/>
            </a:lvl1pPr>
          </a:lstStyle>
          <a:p>
            <a:pPr>
              <a:defRPr/>
            </a:pPr>
            <a:fld id="{E749DD3B-C68E-8E45-8046-6CB425BBF8BA}" type="slidenum">
              <a:rPr lang="en-US" altLang="en-US"/>
              <a:pPr>
                <a:defRPr/>
              </a:pPr>
              <a:t>‹#›</a:t>
            </a:fld>
            <a:endParaRPr lang="en-US" altLang="en-US"/>
          </a:p>
        </p:txBody>
      </p:sp>
    </p:spTree>
    <p:extLst>
      <p:ext uri="{BB962C8B-B14F-4D97-AF65-F5344CB8AC3E}">
        <p14:creationId xmlns:p14="http://schemas.microsoft.com/office/powerpoint/2010/main" val="334868110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3"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3"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6A6527E0-E5A8-6D40-BCBD-944D973152B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115E69D3-0FB2-2144-A9A0-8AA4872599DE}"/>
              </a:ext>
            </a:extLst>
          </p:cNvPr>
          <p:cNvSpPr>
            <a:spLocks noGrp="1" noChangeArrowheads="1"/>
          </p:cNvSpPr>
          <p:nvPr>
            <p:ph type="sldNum" sz="quarter" idx="11"/>
          </p:nvPr>
        </p:nvSpPr>
        <p:spPr/>
        <p:txBody>
          <a:bodyPr/>
          <a:lstStyle>
            <a:lvl1pPr eaLnBrk="0" hangingPunct="0">
              <a:defRPr/>
            </a:lvl1pPr>
          </a:lstStyle>
          <a:p>
            <a:pPr>
              <a:defRPr/>
            </a:pPr>
            <a:fld id="{004A0ECB-096A-4742-BD97-AA048FDF8203}" type="slidenum">
              <a:rPr lang="en-US" altLang="en-US"/>
              <a:pPr>
                <a:defRPr/>
              </a:pPr>
              <a:t>‹#›</a:t>
            </a:fld>
            <a:endParaRPr lang="en-US" altLang="en-US"/>
          </a:p>
        </p:txBody>
      </p:sp>
    </p:spTree>
    <p:extLst>
      <p:ext uri="{BB962C8B-B14F-4D97-AF65-F5344CB8AC3E}">
        <p14:creationId xmlns:p14="http://schemas.microsoft.com/office/powerpoint/2010/main" val="90497794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C3742222-F29D-8746-8485-52B78EC42955}"/>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DA1EEB37-4086-A048-BCA6-52EF3E991764}"/>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351D10F5-CF07-BC4F-AEA7-EB0EBBF5C7F7}"/>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35279F13-A660-0442-BA6B-97FEC7F14209}"/>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B6D374A8-8534-4C45-BA6E-2E1580AF53EA}"/>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FA3412AE-DCDC-2D47-A254-A070F420216B}"/>
              </a:ext>
            </a:extLst>
          </p:cNvPr>
          <p:cNvSpPr>
            <a:spLocks noGrp="1" noChangeArrowheads="1"/>
          </p:cNvSpPr>
          <p:nvPr>
            <p:ph type="sldNum" sz="quarter" idx="12"/>
          </p:nvPr>
        </p:nvSpPr>
        <p:spPr/>
        <p:txBody>
          <a:bodyPr/>
          <a:lstStyle>
            <a:lvl1pPr>
              <a:defRPr sz="1200" smtClean="0"/>
            </a:lvl1pPr>
          </a:lstStyle>
          <a:p>
            <a:pPr>
              <a:defRPr/>
            </a:pPr>
            <a:fld id="{E9B532B6-A008-424A-924E-EA71AE4F142F}" type="slidenum">
              <a:rPr lang="en-US" altLang="en-US"/>
              <a:pPr>
                <a:defRPr/>
              </a:pPr>
              <a:t>‹#›</a:t>
            </a:fld>
            <a:endParaRPr lang="en-US" altLang="en-US"/>
          </a:p>
        </p:txBody>
      </p:sp>
    </p:spTree>
    <p:extLst>
      <p:ext uri="{BB962C8B-B14F-4D97-AF65-F5344CB8AC3E}">
        <p14:creationId xmlns:p14="http://schemas.microsoft.com/office/powerpoint/2010/main" val="76144502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7CC0346A-E57B-6F40-9390-403E914C0F3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9FABF3E2-2C59-E840-A957-4865F1925F60}"/>
              </a:ext>
            </a:extLst>
          </p:cNvPr>
          <p:cNvSpPr>
            <a:spLocks noGrp="1" noChangeArrowheads="1"/>
          </p:cNvSpPr>
          <p:nvPr>
            <p:ph type="sldNum" sz="quarter" idx="11"/>
          </p:nvPr>
        </p:nvSpPr>
        <p:spPr>
          <a:ln/>
        </p:spPr>
        <p:txBody>
          <a:bodyPr/>
          <a:lstStyle>
            <a:lvl1pPr>
              <a:defRPr/>
            </a:lvl1pPr>
          </a:lstStyle>
          <a:p>
            <a:pPr>
              <a:defRPr/>
            </a:pPr>
            <a:fld id="{D2B0D574-11D3-D64D-8790-E46EB69BFFB9}" type="slidenum">
              <a:rPr lang="en-US" altLang="en-US"/>
              <a:pPr>
                <a:defRPr/>
              </a:pPr>
              <a:t>‹#›</a:t>
            </a:fld>
            <a:endParaRPr lang="en-US" altLang="en-US"/>
          </a:p>
        </p:txBody>
      </p:sp>
    </p:spTree>
    <p:extLst>
      <p:ext uri="{BB962C8B-B14F-4D97-AF65-F5344CB8AC3E}">
        <p14:creationId xmlns:p14="http://schemas.microsoft.com/office/powerpoint/2010/main" val="1059654291"/>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68AFD0C6-552A-BF4A-B802-D080C569DD09}"/>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C2DCC204-07CA-D146-872C-416F095E31EA}"/>
              </a:ext>
            </a:extLst>
          </p:cNvPr>
          <p:cNvSpPr>
            <a:spLocks noGrp="1" noChangeArrowheads="1"/>
          </p:cNvSpPr>
          <p:nvPr>
            <p:ph type="sldNum" sz="quarter" idx="11"/>
          </p:nvPr>
        </p:nvSpPr>
        <p:spPr>
          <a:ln/>
        </p:spPr>
        <p:txBody>
          <a:bodyPr/>
          <a:lstStyle>
            <a:lvl1pPr>
              <a:defRPr/>
            </a:lvl1pPr>
          </a:lstStyle>
          <a:p>
            <a:pPr>
              <a:defRPr/>
            </a:pPr>
            <a:fld id="{0BD38EAD-5B00-BF4C-BB83-04F79AC870FD}" type="slidenum">
              <a:rPr lang="en-US" altLang="en-US"/>
              <a:pPr>
                <a:defRPr/>
              </a:pPr>
              <a:t>‹#›</a:t>
            </a:fld>
            <a:endParaRPr lang="en-US" altLang="en-US"/>
          </a:p>
        </p:txBody>
      </p:sp>
    </p:spTree>
    <p:extLst>
      <p:ext uri="{BB962C8B-B14F-4D97-AF65-F5344CB8AC3E}">
        <p14:creationId xmlns:p14="http://schemas.microsoft.com/office/powerpoint/2010/main" val="2788198150"/>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B054A0D1-0549-344F-8552-4DE1684069A4}"/>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CA1508F3-C424-1B47-AA30-2C03B51A81D1}"/>
              </a:ext>
            </a:extLst>
          </p:cNvPr>
          <p:cNvSpPr>
            <a:spLocks noGrp="1" noChangeArrowheads="1"/>
          </p:cNvSpPr>
          <p:nvPr>
            <p:ph type="sldNum" sz="quarter" idx="11"/>
          </p:nvPr>
        </p:nvSpPr>
        <p:spPr>
          <a:ln/>
        </p:spPr>
        <p:txBody>
          <a:bodyPr/>
          <a:lstStyle>
            <a:lvl1pPr>
              <a:defRPr/>
            </a:lvl1pPr>
          </a:lstStyle>
          <a:p>
            <a:pPr>
              <a:defRPr/>
            </a:pPr>
            <a:fld id="{ACC8D11A-B685-594F-92D4-7402680B15C8}" type="slidenum">
              <a:rPr lang="en-US" altLang="en-US"/>
              <a:pPr>
                <a:defRPr/>
              </a:pPr>
              <a:t>‹#›</a:t>
            </a:fld>
            <a:endParaRPr lang="en-US" altLang="en-US"/>
          </a:p>
        </p:txBody>
      </p:sp>
    </p:spTree>
    <p:extLst>
      <p:ext uri="{BB962C8B-B14F-4D97-AF65-F5344CB8AC3E}">
        <p14:creationId xmlns:p14="http://schemas.microsoft.com/office/powerpoint/2010/main" val="3387957050"/>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9986699C-7B92-9242-BC30-2B42D065FAD4}"/>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4715F616-BAAD-B64A-8179-9775F2181067}"/>
              </a:ext>
            </a:extLst>
          </p:cNvPr>
          <p:cNvSpPr>
            <a:spLocks noGrp="1" noChangeArrowheads="1"/>
          </p:cNvSpPr>
          <p:nvPr>
            <p:ph type="sldNum" sz="quarter" idx="11"/>
          </p:nvPr>
        </p:nvSpPr>
        <p:spPr>
          <a:ln/>
        </p:spPr>
        <p:txBody>
          <a:bodyPr/>
          <a:lstStyle>
            <a:lvl1pPr>
              <a:defRPr/>
            </a:lvl1pPr>
          </a:lstStyle>
          <a:p>
            <a:pPr>
              <a:defRPr/>
            </a:pPr>
            <a:fld id="{745BB188-0DEA-C148-82FD-03336D5DBA25}" type="slidenum">
              <a:rPr lang="en-US" altLang="en-US"/>
              <a:pPr>
                <a:defRPr/>
              </a:pPr>
              <a:t>‹#›</a:t>
            </a:fld>
            <a:endParaRPr lang="en-US" altLang="en-US"/>
          </a:p>
        </p:txBody>
      </p:sp>
    </p:spTree>
    <p:extLst>
      <p:ext uri="{BB962C8B-B14F-4D97-AF65-F5344CB8AC3E}">
        <p14:creationId xmlns:p14="http://schemas.microsoft.com/office/powerpoint/2010/main" val="446603068"/>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92A548EE-EB47-1940-8A88-A755330E9D8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BFD0B88A-D29A-BE47-9EF2-F7E7B500875D}"/>
              </a:ext>
            </a:extLst>
          </p:cNvPr>
          <p:cNvSpPr>
            <a:spLocks noGrp="1" noChangeArrowheads="1"/>
          </p:cNvSpPr>
          <p:nvPr>
            <p:ph type="sldNum" sz="quarter" idx="11"/>
          </p:nvPr>
        </p:nvSpPr>
        <p:spPr>
          <a:ln/>
        </p:spPr>
        <p:txBody>
          <a:bodyPr/>
          <a:lstStyle>
            <a:lvl1pPr>
              <a:defRPr/>
            </a:lvl1pPr>
          </a:lstStyle>
          <a:p>
            <a:pPr>
              <a:defRPr/>
            </a:pPr>
            <a:fld id="{35716B2A-6574-DD42-8F78-46F777B3BA23}" type="slidenum">
              <a:rPr lang="en-US" altLang="en-US"/>
              <a:pPr>
                <a:defRPr/>
              </a:pPr>
              <a:t>‹#›</a:t>
            </a:fld>
            <a:endParaRPr lang="en-US" altLang="en-US"/>
          </a:p>
        </p:txBody>
      </p:sp>
    </p:spTree>
    <p:extLst>
      <p:ext uri="{BB962C8B-B14F-4D97-AF65-F5344CB8AC3E}">
        <p14:creationId xmlns:p14="http://schemas.microsoft.com/office/powerpoint/2010/main" val="3011786868"/>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58813B69-B5B7-CD48-BAD2-F658836CB22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F8E0F78B-FEC5-1845-80C5-6F4A789232DA}"/>
              </a:ext>
            </a:extLst>
          </p:cNvPr>
          <p:cNvSpPr>
            <a:spLocks noGrp="1" noChangeArrowheads="1"/>
          </p:cNvSpPr>
          <p:nvPr>
            <p:ph type="sldNum" sz="quarter" idx="11"/>
          </p:nvPr>
        </p:nvSpPr>
        <p:spPr>
          <a:ln/>
        </p:spPr>
        <p:txBody>
          <a:bodyPr/>
          <a:lstStyle>
            <a:lvl1pPr>
              <a:defRPr/>
            </a:lvl1pPr>
          </a:lstStyle>
          <a:p>
            <a:pPr>
              <a:defRPr/>
            </a:pPr>
            <a:fld id="{C48E01A5-AB12-254B-80C1-12E7FDB99213}" type="slidenum">
              <a:rPr lang="en-US" altLang="en-US"/>
              <a:pPr>
                <a:defRPr/>
              </a:pPr>
              <a:t>‹#›</a:t>
            </a:fld>
            <a:endParaRPr lang="en-US" altLang="en-US"/>
          </a:p>
        </p:txBody>
      </p:sp>
    </p:spTree>
    <p:extLst>
      <p:ext uri="{BB962C8B-B14F-4D97-AF65-F5344CB8AC3E}">
        <p14:creationId xmlns:p14="http://schemas.microsoft.com/office/powerpoint/2010/main" val="3980718697"/>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83DB902F-38D8-A24C-9BF2-9F954FFA0D5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C3DC7B3F-4F2E-D145-B398-6B3E10D56B6A}"/>
              </a:ext>
            </a:extLst>
          </p:cNvPr>
          <p:cNvSpPr>
            <a:spLocks noGrp="1" noChangeArrowheads="1"/>
          </p:cNvSpPr>
          <p:nvPr>
            <p:ph type="sldNum" sz="quarter" idx="11"/>
          </p:nvPr>
        </p:nvSpPr>
        <p:spPr>
          <a:ln/>
        </p:spPr>
        <p:txBody>
          <a:bodyPr/>
          <a:lstStyle>
            <a:lvl1pPr>
              <a:defRPr/>
            </a:lvl1pPr>
          </a:lstStyle>
          <a:p>
            <a:pPr>
              <a:defRPr/>
            </a:pPr>
            <a:fld id="{C93FEB14-871A-A642-9D43-2895160B9A93}" type="slidenum">
              <a:rPr lang="en-US" altLang="en-US"/>
              <a:pPr>
                <a:defRPr/>
              </a:pPr>
              <a:t>‹#›</a:t>
            </a:fld>
            <a:endParaRPr lang="en-US" altLang="en-US"/>
          </a:p>
        </p:txBody>
      </p:sp>
    </p:spTree>
    <p:extLst>
      <p:ext uri="{BB962C8B-B14F-4D97-AF65-F5344CB8AC3E}">
        <p14:creationId xmlns:p14="http://schemas.microsoft.com/office/powerpoint/2010/main" val="4267367731"/>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3EC101C1-41AB-9147-A093-DE6C3C505081}"/>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DD5E2ADD-A347-F642-85BB-9810FD9AA001}"/>
              </a:ext>
            </a:extLst>
          </p:cNvPr>
          <p:cNvSpPr>
            <a:spLocks noGrp="1" noChangeArrowheads="1"/>
          </p:cNvSpPr>
          <p:nvPr>
            <p:ph type="sldNum" sz="quarter" idx="11"/>
          </p:nvPr>
        </p:nvSpPr>
        <p:spPr>
          <a:ln/>
        </p:spPr>
        <p:txBody>
          <a:bodyPr/>
          <a:lstStyle>
            <a:lvl1pPr>
              <a:defRPr/>
            </a:lvl1pPr>
          </a:lstStyle>
          <a:p>
            <a:pPr>
              <a:defRPr/>
            </a:pPr>
            <a:fld id="{8C03FC76-6196-F84D-A33E-AC850170F734}" type="slidenum">
              <a:rPr lang="en-US" altLang="en-US"/>
              <a:pPr>
                <a:defRPr/>
              </a:pPr>
              <a:t>‹#›</a:t>
            </a:fld>
            <a:endParaRPr lang="en-US" altLang="en-US"/>
          </a:p>
        </p:txBody>
      </p:sp>
    </p:spTree>
    <p:extLst>
      <p:ext uri="{BB962C8B-B14F-4D97-AF65-F5344CB8AC3E}">
        <p14:creationId xmlns:p14="http://schemas.microsoft.com/office/powerpoint/2010/main" val="1693396542"/>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B4A68A53-E6AD-3D4A-A5AD-C8BAE714FB96}"/>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CC5B509E-82B4-674A-BE6F-B5ACA15C1F0B}"/>
              </a:ext>
            </a:extLst>
          </p:cNvPr>
          <p:cNvSpPr>
            <a:spLocks noGrp="1" noChangeArrowheads="1"/>
          </p:cNvSpPr>
          <p:nvPr>
            <p:ph type="sldNum" sz="quarter" idx="11"/>
          </p:nvPr>
        </p:nvSpPr>
        <p:spPr>
          <a:ln/>
        </p:spPr>
        <p:txBody>
          <a:bodyPr/>
          <a:lstStyle>
            <a:lvl1pPr>
              <a:defRPr/>
            </a:lvl1pPr>
          </a:lstStyle>
          <a:p>
            <a:pPr>
              <a:defRPr/>
            </a:pPr>
            <a:fld id="{7F4C376A-0C92-DF4F-9013-F4619B16C3CA}" type="slidenum">
              <a:rPr lang="en-US" altLang="en-US"/>
              <a:pPr>
                <a:defRPr/>
              </a:pPr>
              <a:t>‹#›</a:t>
            </a:fld>
            <a:endParaRPr lang="en-US" altLang="en-US"/>
          </a:p>
        </p:txBody>
      </p:sp>
    </p:spTree>
    <p:extLst>
      <p:ext uri="{BB962C8B-B14F-4D97-AF65-F5344CB8AC3E}">
        <p14:creationId xmlns:p14="http://schemas.microsoft.com/office/powerpoint/2010/main" val="3158534849"/>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970A5FEF-40C5-A141-9473-6023FFF1C50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524A988D-876D-DD45-A280-19C3559BFA11}"/>
              </a:ext>
            </a:extLst>
          </p:cNvPr>
          <p:cNvSpPr>
            <a:spLocks noGrp="1" noChangeArrowheads="1"/>
          </p:cNvSpPr>
          <p:nvPr>
            <p:ph type="sldNum" sz="quarter" idx="11"/>
          </p:nvPr>
        </p:nvSpPr>
        <p:spPr>
          <a:ln/>
        </p:spPr>
        <p:txBody>
          <a:bodyPr/>
          <a:lstStyle>
            <a:lvl1pPr>
              <a:defRPr/>
            </a:lvl1pPr>
          </a:lstStyle>
          <a:p>
            <a:pPr>
              <a:defRPr/>
            </a:pPr>
            <a:fld id="{209D9080-6B3D-274B-8935-CD0F10A0EE50}" type="slidenum">
              <a:rPr lang="en-US" altLang="en-US"/>
              <a:pPr>
                <a:defRPr/>
              </a:pPr>
              <a:t>‹#›</a:t>
            </a:fld>
            <a:endParaRPr lang="en-US" altLang="en-US"/>
          </a:p>
        </p:txBody>
      </p:sp>
    </p:spTree>
    <p:extLst>
      <p:ext uri="{BB962C8B-B14F-4D97-AF65-F5344CB8AC3E}">
        <p14:creationId xmlns:p14="http://schemas.microsoft.com/office/powerpoint/2010/main" val="2990367354"/>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88BEB09C-B257-3942-A72E-B204574FC8B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BA401158-F3E8-214A-84B5-EE46C4E719B1}"/>
              </a:ext>
            </a:extLst>
          </p:cNvPr>
          <p:cNvSpPr>
            <a:spLocks noGrp="1" noChangeArrowheads="1"/>
          </p:cNvSpPr>
          <p:nvPr>
            <p:ph type="sldNum" sz="quarter" idx="11"/>
          </p:nvPr>
        </p:nvSpPr>
        <p:spPr>
          <a:ln/>
        </p:spPr>
        <p:txBody>
          <a:bodyPr/>
          <a:lstStyle>
            <a:lvl1pPr>
              <a:defRPr/>
            </a:lvl1pPr>
          </a:lstStyle>
          <a:p>
            <a:pPr>
              <a:defRPr/>
            </a:pPr>
            <a:fld id="{6E4119E5-1D2D-6F40-BFB5-6DDC3CE8305C}" type="slidenum">
              <a:rPr lang="en-US" altLang="en-US"/>
              <a:pPr>
                <a:defRPr/>
              </a:pPr>
              <a:t>‹#›</a:t>
            </a:fld>
            <a:endParaRPr lang="en-US" altLang="en-US"/>
          </a:p>
        </p:txBody>
      </p:sp>
    </p:spTree>
    <p:extLst>
      <p:ext uri="{BB962C8B-B14F-4D97-AF65-F5344CB8AC3E}">
        <p14:creationId xmlns:p14="http://schemas.microsoft.com/office/powerpoint/2010/main" val="4240258005"/>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0D71A4F-09BD-F241-9AE5-930BBA89C0AF}"/>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4A10B36B-8E41-A54A-A5D3-FD4877075473}"/>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1944914A-B698-7B46-9134-2E77F54593AD}"/>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B8097E77-4686-1246-90CF-31AC90AEEEC6}"/>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6EEEB630-4EB4-0046-B0C0-4F34513CA7AF}"/>
              </a:ext>
            </a:extLst>
          </p:cNvPr>
          <p:cNvSpPr>
            <a:spLocks noGrp="1" noChangeArrowheads="1"/>
          </p:cNvSpPr>
          <p:nvPr>
            <p:ph type="ftr" sz="quarter" idx="11"/>
          </p:nvPr>
        </p:nvSpPr>
        <p:spPr>
          <a:xfrm>
            <a:off x="3124200" y="6243638"/>
            <a:ext cx="2895600" cy="457200"/>
          </a:xfrm>
        </p:spPr>
        <p:txBody>
          <a:bodyPr/>
          <a:lstStyle>
            <a:lvl1pPr eaLnBrk="0" hangingPunct="0">
              <a:defRPr/>
            </a:lvl1pPr>
          </a:lstStyle>
          <a:p>
            <a:pPr>
              <a:defRPr/>
            </a:pPr>
            <a:endParaRPr lang="en-US" altLang="en-US"/>
          </a:p>
        </p:txBody>
      </p:sp>
      <p:sp>
        <p:nvSpPr>
          <p:cNvPr id="9" name="Rectangle 6">
            <a:extLst>
              <a:ext uri="{FF2B5EF4-FFF2-40B4-BE49-F238E27FC236}">
                <a16:creationId xmlns:a16="http://schemas.microsoft.com/office/drawing/2014/main" id="{14BF37E0-6DBD-3943-8BBF-8677B1C32B19}"/>
              </a:ext>
            </a:extLst>
          </p:cNvPr>
          <p:cNvSpPr>
            <a:spLocks noGrp="1" noChangeArrowheads="1"/>
          </p:cNvSpPr>
          <p:nvPr>
            <p:ph type="sldNum" sz="quarter" idx="12"/>
          </p:nvPr>
        </p:nvSpPr>
        <p:spPr/>
        <p:txBody>
          <a:bodyPr/>
          <a:lstStyle>
            <a:lvl1pPr eaLnBrk="0" hangingPunct="0">
              <a:defRPr sz="1200" smtClean="0"/>
            </a:lvl1pPr>
          </a:lstStyle>
          <a:p>
            <a:pPr>
              <a:defRPr/>
            </a:pPr>
            <a:fld id="{0061B143-6FEB-7C42-AA46-78B65607A3E3}" type="slidenum">
              <a:rPr lang="en-US" altLang="en-US"/>
              <a:pPr>
                <a:defRPr/>
              </a:pPr>
              <a:t>‹#›</a:t>
            </a:fld>
            <a:endParaRPr lang="en-US" altLang="en-US"/>
          </a:p>
        </p:txBody>
      </p:sp>
    </p:spTree>
    <p:extLst>
      <p:ext uri="{BB962C8B-B14F-4D97-AF65-F5344CB8AC3E}">
        <p14:creationId xmlns:p14="http://schemas.microsoft.com/office/powerpoint/2010/main" val="1833531126"/>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9"/>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584AB84F-1FEE-4948-AB80-ED5977B89B50}"/>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59E4FB37-3F28-3C49-91E1-4310EDB3D3FA}"/>
              </a:ext>
            </a:extLst>
          </p:cNvPr>
          <p:cNvSpPr>
            <a:spLocks noGrp="1" noChangeArrowheads="1"/>
          </p:cNvSpPr>
          <p:nvPr>
            <p:ph type="sldNum" sz="quarter" idx="11"/>
          </p:nvPr>
        </p:nvSpPr>
        <p:spPr/>
        <p:txBody>
          <a:bodyPr/>
          <a:lstStyle>
            <a:lvl1pPr eaLnBrk="0" hangingPunct="0">
              <a:defRPr smtClean="0"/>
            </a:lvl1pPr>
          </a:lstStyle>
          <a:p>
            <a:pPr>
              <a:defRPr/>
            </a:pPr>
            <a:fld id="{ED66E0EA-5E03-1047-ACA4-A381F3375120}" type="slidenum">
              <a:rPr lang="en-US" altLang="en-US"/>
              <a:pPr>
                <a:defRPr/>
              </a:pPr>
              <a:t>‹#›</a:t>
            </a:fld>
            <a:endParaRPr lang="en-US" altLang="en-US"/>
          </a:p>
        </p:txBody>
      </p:sp>
    </p:spTree>
    <p:extLst>
      <p:ext uri="{BB962C8B-B14F-4D97-AF65-F5344CB8AC3E}">
        <p14:creationId xmlns:p14="http://schemas.microsoft.com/office/powerpoint/2010/main" val="2522772210"/>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8"/>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C141E5CA-9DDA-9E48-9465-AE341740044E}"/>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2E8441B0-F95B-F248-A929-EA35051D1D77}"/>
              </a:ext>
            </a:extLst>
          </p:cNvPr>
          <p:cNvSpPr>
            <a:spLocks noGrp="1" noChangeArrowheads="1"/>
          </p:cNvSpPr>
          <p:nvPr>
            <p:ph type="sldNum" sz="quarter" idx="11"/>
          </p:nvPr>
        </p:nvSpPr>
        <p:spPr/>
        <p:txBody>
          <a:bodyPr/>
          <a:lstStyle>
            <a:lvl1pPr eaLnBrk="0" hangingPunct="0">
              <a:defRPr smtClean="0"/>
            </a:lvl1pPr>
          </a:lstStyle>
          <a:p>
            <a:pPr>
              <a:defRPr/>
            </a:pPr>
            <a:fld id="{0E2BAD20-90BD-9E40-9C0D-A97DCBA21044}" type="slidenum">
              <a:rPr lang="en-US" altLang="en-US"/>
              <a:pPr>
                <a:defRPr/>
              </a:pPr>
              <a:t>‹#›</a:t>
            </a:fld>
            <a:endParaRPr lang="en-US" altLang="en-US"/>
          </a:p>
        </p:txBody>
      </p:sp>
    </p:spTree>
    <p:extLst>
      <p:ext uri="{BB962C8B-B14F-4D97-AF65-F5344CB8AC3E}">
        <p14:creationId xmlns:p14="http://schemas.microsoft.com/office/powerpoint/2010/main" val="3610255431"/>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B3B3DEB9-1CA0-BA4A-BD14-362DDC3B3489}"/>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FCDDD1F8-30D9-DB4C-9C6B-AE8849A2BF27}"/>
              </a:ext>
            </a:extLst>
          </p:cNvPr>
          <p:cNvSpPr>
            <a:spLocks noGrp="1" noChangeArrowheads="1"/>
          </p:cNvSpPr>
          <p:nvPr>
            <p:ph type="sldNum" sz="quarter" idx="11"/>
          </p:nvPr>
        </p:nvSpPr>
        <p:spPr/>
        <p:txBody>
          <a:bodyPr/>
          <a:lstStyle>
            <a:lvl1pPr eaLnBrk="0" hangingPunct="0">
              <a:defRPr smtClean="0"/>
            </a:lvl1pPr>
          </a:lstStyle>
          <a:p>
            <a:pPr>
              <a:defRPr/>
            </a:pPr>
            <a:fld id="{C1F18E9E-C57C-1245-8953-6096C8B03A7B}" type="slidenum">
              <a:rPr lang="en-US" altLang="en-US"/>
              <a:pPr>
                <a:defRPr/>
              </a:pPr>
              <a:t>‹#›</a:t>
            </a:fld>
            <a:endParaRPr lang="en-US" altLang="en-US"/>
          </a:p>
        </p:txBody>
      </p:sp>
    </p:spTree>
    <p:extLst>
      <p:ext uri="{BB962C8B-B14F-4D97-AF65-F5344CB8AC3E}">
        <p14:creationId xmlns:p14="http://schemas.microsoft.com/office/powerpoint/2010/main" val="1192855758"/>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1A83319F-FE6F-844E-826C-312CC1BC0FB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8" name="Rectangle 1030">
            <a:extLst>
              <a:ext uri="{FF2B5EF4-FFF2-40B4-BE49-F238E27FC236}">
                <a16:creationId xmlns:a16="http://schemas.microsoft.com/office/drawing/2014/main" id="{05808911-3CD9-D946-A5CD-4A34A9D0766E}"/>
              </a:ext>
            </a:extLst>
          </p:cNvPr>
          <p:cNvSpPr>
            <a:spLocks noGrp="1" noChangeArrowheads="1"/>
          </p:cNvSpPr>
          <p:nvPr>
            <p:ph type="sldNum" sz="quarter" idx="11"/>
          </p:nvPr>
        </p:nvSpPr>
        <p:spPr/>
        <p:txBody>
          <a:bodyPr/>
          <a:lstStyle>
            <a:lvl1pPr eaLnBrk="0" hangingPunct="0">
              <a:defRPr smtClean="0"/>
            </a:lvl1pPr>
          </a:lstStyle>
          <a:p>
            <a:pPr>
              <a:defRPr/>
            </a:pPr>
            <a:fld id="{56611964-0F2C-9A44-83AA-C604A7C870C5}" type="slidenum">
              <a:rPr lang="en-US" altLang="en-US"/>
              <a:pPr>
                <a:defRPr/>
              </a:pPr>
              <a:t>‹#›</a:t>
            </a:fld>
            <a:endParaRPr lang="en-US" altLang="en-US"/>
          </a:p>
        </p:txBody>
      </p:sp>
    </p:spTree>
    <p:extLst>
      <p:ext uri="{BB962C8B-B14F-4D97-AF65-F5344CB8AC3E}">
        <p14:creationId xmlns:p14="http://schemas.microsoft.com/office/powerpoint/2010/main" val="1218240107"/>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C7EF064D-B58F-314A-B4EF-33CA1CF6A640}"/>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4" name="Rectangle 1030">
            <a:extLst>
              <a:ext uri="{FF2B5EF4-FFF2-40B4-BE49-F238E27FC236}">
                <a16:creationId xmlns:a16="http://schemas.microsoft.com/office/drawing/2014/main" id="{685E6030-2603-FE4D-BEE0-322BAD3B4E36}"/>
              </a:ext>
            </a:extLst>
          </p:cNvPr>
          <p:cNvSpPr>
            <a:spLocks noGrp="1" noChangeArrowheads="1"/>
          </p:cNvSpPr>
          <p:nvPr>
            <p:ph type="sldNum" sz="quarter" idx="11"/>
          </p:nvPr>
        </p:nvSpPr>
        <p:spPr/>
        <p:txBody>
          <a:bodyPr/>
          <a:lstStyle>
            <a:lvl1pPr eaLnBrk="0" hangingPunct="0">
              <a:defRPr smtClean="0"/>
            </a:lvl1pPr>
          </a:lstStyle>
          <a:p>
            <a:pPr>
              <a:defRPr/>
            </a:pPr>
            <a:fld id="{A70C05BB-4314-034D-A403-91B4E32CEF08}" type="slidenum">
              <a:rPr lang="en-US" altLang="en-US"/>
              <a:pPr>
                <a:defRPr/>
              </a:pPr>
              <a:t>‹#›</a:t>
            </a:fld>
            <a:endParaRPr lang="en-US" altLang="en-US"/>
          </a:p>
        </p:txBody>
      </p:sp>
    </p:spTree>
    <p:extLst>
      <p:ext uri="{BB962C8B-B14F-4D97-AF65-F5344CB8AC3E}">
        <p14:creationId xmlns:p14="http://schemas.microsoft.com/office/powerpoint/2010/main" val="3244468766"/>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67830527-8DC4-5649-9F1F-2BF7435CCA65}"/>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3" name="Rectangle 1030">
            <a:extLst>
              <a:ext uri="{FF2B5EF4-FFF2-40B4-BE49-F238E27FC236}">
                <a16:creationId xmlns:a16="http://schemas.microsoft.com/office/drawing/2014/main" id="{82670CB3-B34B-7D4A-9FD4-849D584962B9}"/>
              </a:ext>
            </a:extLst>
          </p:cNvPr>
          <p:cNvSpPr>
            <a:spLocks noGrp="1" noChangeArrowheads="1"/>
          </p:cNvSpPr>
          <p:nvPr>
            <p:ph type="sldNum" sz="quarter" idx="11"/>
          </p:nvPr>
        </p:nvSpPr>
        <p:spPr/>
        <p:txBody>
          <a:bodyPr/>
          <a:lstStyle>
            <a:lvl1pPr eaLnBrk="0" hangingPunct="0">
              <a:defRPr smtClean="0"/>
            </a:lvl1pPr>
          </a:lstStyle>
          <a:p>
            <a:pPr>
              <a:defRPr/>
            </a:pPr>
            <a:fld id="{7A156829-0E99-0048-A355-63EB395BD605}" type="slidenum">
              <a:rPr lang="en-US" altLang="en-US"/>
              <a:pPr>
                <a:defRPr/>
              </a:pPr>
              <a:t>‹#›</a:t>
            </a:fld>
            <a:endParaRPr lang="en-US" altLang="en-US"/>
          </a:p>
        </p:txBody>
      </p:sp>
    </p:spTree>
    <p:extLst>
      <p:ext uri="{BB962C8B-B14F-4D97-AF65-F5344CB8AC3E}">
        <p14:creationId xmlns:p14="http://schemas.microsoft.com/office/powerpoint/2010/main" val="2505613537"/>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5" y="273055"/>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435105"/>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E02CE0CA-C07F-3441-A25B-2B6806160B02}"/>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08510235-429D-BB42-8382-73264D2B5A2C}"/>
              </a:ext>
            </a:extLst>
          </p:cNvPr>
          <p:cNvSpPr>
            <a:spLocks noGrp="1" noChangeArrowheads="1"/>
          </p:cNvSpPr>
          <p:nvPr>
            <p:ph type="sldNum" sz="quarter" idx="11"/>
          </p:nvPr>
        </p:nvSpPr>
        <p:spPr/>
        <p:txBody>
          <a:bodyPr/>
          <a:lstStyle>
            <a:lvl1pPr eaLnBrk="0" hangingPunct="0">
              <a:defRPr smtClean="0"/>
            </a:lvl1pPr>
          </a:lstStyle>
          <a:p>
            <a:pPr>
              <a:defRPr/>
            </a:pPr>
            <a:fld id="{25B88A1F-27E7-FF44-A4AF-59EB61A14270}" type="slidenum">
              <a:rPr lang="en-US" altLang="en-US"/>
              <a:pPr>
                <a:defRPr/>
              </a:pPr>
              <a:t>‹#›</a:t>
            </a:fld>
            <a:endParaRPr lang="en-US" altLang="en-US"/>
          </a:p>
        </p:txBody>
      </p:sp>
    </p:spTree>
    <p:extLst>
      <p:ext uri="{BB962C8B-B14F-4D97-AF65-F5344CB8AC3E}">
        <p14:creationId xmlns:p14="http://schemas.microsoft.com/office/powerpoint/2010/main" val="3464853610"/>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D7432BA1-7D41-A14F-94D1-18EF7BD791D3}"/>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B241BEB0-E010-D94D-B89E-A192F5A12376}"/>
              </a:ext>
            </a:extLst>
          </p:cNvPr>
          <p:cNvSpPr>
            <a:spLocks noGrp="1" noChangeArrowheads="1"/>
          </p:cNvSpPr>
          <p:nvPr>
            <p:ph type="sldNum" sz="quarter" idx="11"/>
          </p:nvPr>
        </p:nvSpPr>
        <p:spPr/>
        <p:txBody>
          <a:bodyPr/>
          <a:lstStyle>
            <a:lvl1pPr eaLnBrk="0" hangingPunct="0">
              <a:defRPr smtClean="0"/>
            </a:lvl1pPr>
          </a:lstStyle>
          <a:p>
            <a:pPr>
              <a:defRPr/>
            </a:pPr>
            <a:fld id="{0B37D189-7FF9-F94B-92F4-56A5A14607A7}" type="slidenum">
              <a:rPr lang="en-US" altLang="en-US"/>
              <a:pPr>
                <a:defRPr/>
              </a:pPr>
              <a:t>‹#›</a:t>
            </a:fld>
            <a:endParaRPr lang="en-US" altLang="en-US"/>
          </a:p>
        </p:txBody>
      </p:sp>
    </p:spTree>
    <p:extLst>
      <p:ext uri="{BB962C8B-B14F-4D97-AF65-F5344CB8AC3E}">
        <p14:creationId xmlns:p14="http://schemas.microsoft.com/office/powerpoint/2010/main" val="3902882863"/>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187EFA74-9423-3C47-9F81-EF4F2F9890FE}"/>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579FB64F-605C-6F46-9234-3A946B9B957A}"/>
              </a:ext>
            </a:extLst>
          </p:cNvPr>
          <p:cNvSpPr>
            <a:spLocks noGrp="1" noChangeArrowheads="1"/>
          </p:cNvSpPr>
          <p:nvPr>
            <p:ph type="sldNum" sz="quarter" idx="11"/>
          </p:nvPr>
        </p:nvSpPr>
        <p:spPr/>
        <p:txBody>
          <a:bodyPr/>
          <a:lstStyle>
            <a:lvl1pPr eaLnBrk="0" hangingPunct="0">
              <a:defRPr smtClean="0"/>
            </a:lvl1pPr>
          </a:lstStyle>
          <a:p>
            <a:pPr>
              <a:defRPr/>
            </a:pPr>
            <a:fld id="{A4FEF804-25B1-3B43-A407-968E9CA27511}" type="slidenum">
              <a:rPr lang="en-US" altLang="en-US"/>
              <a:pPr>
                <a:defRPr/>
              </a:pPr>
              <a:t>‹#›</a:t>
            </a:fld>
            <a:endParaRPr lang="en-US" altLang="en-US"/>
          </a:p>
        </p:txBody>
      </p:sp>
    </p:spTree>
    <p:extLst>
      <p:ext uri="{BB962C8B-B14F-4D97-AF65-F5344CB8AC3E}">
        <p14:creationId xmlns:p14="http://schemas.microsoft.com/office/powerpoint/2010/main" val="229474711"/>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49" y="152400"/>
            <a:ext cx="2152651"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6" y="152400"/>
            <a:ext cx="6305551"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58EDD823-8798-C54A-BCB7-6F551F182738}"/>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AE6551DE-5E06-E542-B36C-741431E84848}"/>
              </a:ext>
            </a:extLst>
          </p:cNvPr>
          <p:cNvSpPr>
            <a:spLocks noGrp="1" noChangeArrowheads="1"/>
          </p:cNvSpPr>
          <p:nvPr>
            <p:ph type="sldNum" sz="quarter" idx="11"/>
          </p:nvPr>
        </p:nvSpPr>
        <p:spPr/>
        <p:txBody>
          <a:bodyPr/>
          <a:lstStyle>
            <a:lvl1pPr eaLnBrk="0" hangingPunct="0">
              <a:defRPr smtClean="0"/>
            </a:lvl1pPr>
          </a:lstStyle>
          <a:p>
            <a:pPr>
              <a:defRPr/>
            </a:pPr>
            <a:fld id="{473C136B-57A0-3046-9B42-132A8F417249}" type="slidenum">
              <a:rPr lang="en-US" altLang="en-US"/>
              <a:pPr>
                <a:defRPr/>
              </a:pPr>
              <a:t>‹#›</a:t>
            </a:fld>
            <a:endParaRPr lang="en-US" altLang="en-US"/>
          </a:p>
        </p:txBody>
      </p:sp>
    </p:spTree>
    <p:extLst>
      <p:ext uri="{BB962C8B-B14F-4D97-AF65-F5344CB8AC3E}">
        <p14:creationId xmlns:p14="http://schemas.microsoft.com/office/powerpoint/2010/main" val="3449285500"/>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3"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3"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B1BF5FDA-5A94-6348-BE93-E0E262BA736A}"/>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2473F27E-A0DE-6442-ABB9-FC7AA7066752}"/>
              </a:ext>
            </a:extLst>
          </p:cNvPr>
          <p:cNvSpPr>
            <a:spLocks noGrp="1" noChangeArrowheads="1"/>
          </p:cNvSpPr>
          <p:nvPr>
            <p:ph type="sldNum" sz="quarter" idx="11"/>
          </p:nvPr>
        </p:nvSpPr>
        <p:spPr/>
        <p:txBody>
          <a:bodyPr/>
          <a:lstStyle>
            <a:lvl1pPr eaLnBrk="0" hangingPunct="0">
              <a:defRPr smtClean="0"/>
            </a:lvl1pPr>
          </a:lstStyle>
          <a:p>
            <a:pPr>
              <a:defRPr/>
            </a:pPr>
            <a:fld id="{B25FFCB8-2F45-7F41-9625-CDED00A5C08D}" type="slidenum">
              <a:rPr lang="en-US" altLang="en-US"/>
              <a:pPr>
                <a:defRPr/>
              </a:pPr>
              <a:t>‹#›</a:t>
            </a:fld>
            <a:endParaRPr lang="en-US" altLang="en-US"/>
          </a:p>
        </p:txBody>
      </p:sp>
    </p:spTree>
    <p:extLst>
      <p:ext uri="{BB962C8B-B14F-4D97-AF65-F5344CB8AC3E}">
        <p14:creationId xmlns:p14="http://schemas.microsoft.com/office/powerpoint/2010/main" val="2060352699"/>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3"/>
          <p:cNvSpPr>
            <a:spLocks noChangeArrowheads="1"/>
          </p:cNvSpPr>
          <p:nvPr/>
        </p:nvSpPr>
        <p:spPr bwMode="auto">
          <a:xfrm>
            <a:off x="457200" y="1123950"/>
            <a:ext cx="82296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endParaRPr lang="en-US"/>
          </a:p>
        </p:txBody>
      </p:sp>
      <p:sp>
        <p:nvSpPr>
          <p:cNvPr id="5" name="Line 8"/>
          <p:cNvSpPr>
            <a:spLocks noChangeShapeType="1"/>
          </p:cNvSpPr>
          <p:nvPr/>
        </p:nvSpPr>
        <p:spPr bwMode="auto">
          <a:xfrm>
            <a:off x="457200" y="3371850"/>
            <a:ext cx="8229600" cy="0"/>
          </a:xfrm>
          <a:prstGeom prst="line">
            <a:avLst/>
          </a:prstGeom>
          <a:noFill/>
          <a:ln w="19050">
            <a:solidFill>
              <a:schemeClr val="accent1"/>
            </a:solidFill>
            <a:round/>
            <a:headEnd/>
            <a:tailEnd/>
          </a:ln>
          <a:effectLst/>
        </p:spPr>
        <p:txBody>
          <a:bodyPr/>
          <a:lstStyle/>
          <a:p>
            <a:pPr>
              <a:defRPr/>
            </a:pPr>
            <a:endParaRPr lang="en-US"/>
          </a:p>
        </p:txBody>
      </p:sp>
      <p:sp>
        <p:nvSpPr>
          <p:cNvPr id="6" name="Line 10"/>
          <p:cNvSpPr>
            <a:spLocks noChangeShapeType="1"/>
          </p:cNvSpPr>
          <p:nvPr userDrawn="1"/>
        </p:nvSpPr>
        <p:spPr bwMode="auto">
          <a:xfrm>
            <a:off x="8686800" y="2457450"/>
            <a:ext cx="0" cy="914400"/>
          </a:xfrm>
          <a:prstGeom prst="line">
            <a:avLst/>
          </a:prstGeom>
          <a:noFill/>
          <a:ln w="25400">
            <a:solidFill>
              <a:schemeClr val="accent1"/>
            </a:solidFill>
            <a:round/>
            <a:headEnd/>
            <a:tailEnd/>
          </a:ln>
          <a:effectLst/>
        </p:spPr>
        <p:txBody>
          <a:bodyPr/>
          <a:lstStyle/>
          <a:p>
            <a:pPr>
              <a:defRPr/>
            </a:pPr>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Garamond" pitchFamily="18" charset="0"/>
              </a:defRPr>
            </a:lvl1pPr>
          </a:lstStyle>
          <a:p>
            <a:r>
              <a:rPr lang="en-US" altLang="en-US"/>
              <a:t>Efficient Runahead Execution</a:t>
            </a:r>
          </a:p>
        </p:txBody>
      </p:sp>
      <p:sp>
        <p:nvSpPr>
          <p:cNvPr id="8" name="Rectangle 5"/>
          <p:cNvSpPr>
            <a:spLocks noGrp="1" noChangeArrowheads="1"/>
          </p:cNvSpPr>
          <p:nvPr>
            <p:ph type="ftr" sz="quarter" idx="11"/>
          </p:nvPr>
        </p:nvSpPr>
        <p:spPr>
          <a:xfrm>
            <a:off x="3124200" y="6243638"/>
            <a:ext cx="2895600" cy="457200"/>
          </a:xfrm>
        </p:spPr>
        <p:txBody>
          <a:bodyPr/>
          <a:lstStyle>
            <a:lvl1pPr>
              <a:defRPr/>
            </a:lvl1pPr>
          </a:lstStyle>
          <a:p>
            <a:endParaRPr lang="en-US" altLang="en-US"/>
          </a:p>
        </p:txBody>
      </p:sp>
      <p:sp>
        <p:nvSpPr>
          <p:cNvPr id="9" name="Rectangle 6"/>
          <p:cNvSpPr>
            <a:spLocks noGrp="1" noChangeArrowheads="1"/>
          </p:cNvSpPr>
          <p:nvPr>
            <p:ph type="sldNum" sz="quarter" idx="12"/>
          </p:nvPr>
        </p:nvSpPr>
        <p:spPr/>
        <p:txBody>
          <a:bodyPr/>
          <a:lstStyle>
            <a:lvl1pPr>
              <a:defRPr sz="1200"/>
            </a:lvl1pPr>
          </a:lstStyle>
          <a:p>
            <a:fld id="{7341D3D9-3FE8-4025-BF66-8DAB1ABB951F}" type="slidenum">
              <a:rPr lang="en-US" altLang="en-US"/>
              <a:pPr/>
              <a:t>‹#›</a:t>
            </a:fld>
            <a:endParaRPr lang="en-US" altLang="en-US"/>
          </a:p>
        </p:txBody>
      </p:sp>
    </p:spTree>
    <p:extLst>
      <p:ext uri="{BB962C8B-B14F-4D97-AF65-F5344CB8AC3E}">
        <p14:creationId xmlns:p14="http://schemas.microsoft.com/office/powerpoint/2010/main" val="856214860"/>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323594FA-E141-4234-AE05-360401972BE7}" type="slidenum">
              <a:rPr lang="en-US" altLang="en-US"/>
              <a:pPr/>
              <a:t>‹#›</a:t>
            </a:fld>
            <a:endParaRPr lang="en-US" altLang="en-US"/>
          </a:p>
        </p:txBody>
      </p:sp>
    </p:spTree>
    <p:extLst>
      <p:ext uri="{BB962C8B-B14F-4D97-AF65-F5344CB8AC3E}">
        <p14:creationId xmlns:p14="http://schemas.microsoft.com/office/powerpoint/2010/main" val="2702471268"/>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C7AC7BA1-BEA2-40AF-9056-44DC8C985687}" type="slidenum">
              <a:rPr lang="en-US" altLang="en-US"/>
              <a:pPr/>
              <a:t>‹#›</a:t>
            </a:fld>
            <a:endParaRPr lang="en-US" altLang="en-US"/>
          </a:p>
        </p:txBody>
      </p:sp>
    </p:spTree>
    <p:extLst>
      <p:ext uri="{BB962C8B-B14F-4D97-AF65-F5344CB8AC3E}">
        <p14:creationId xmlns:p14="http://schemas.microsoft.com/office/powerpoint/2010/main" val="2538446065"/>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endParaRPr lang="en-US" altLang="en-US"/>
          </a:p>
        </p:txBody>
      </p:sp>
      <p:sp>
        <p:nvSpPr>
          <p:cNvPr id="6" name="Rectangle 1030"/>
          <p:cNvSpPr>
            <a:spLocks noGrp="1" noChangeArrowheads="1"/>
          </p:cNvSpPr>
          <p:nvPr>
            <p:ph type="sldNum" sz="quarter" idx="11"/>
          </p:nvPr>
        </p:nvSpPr>
        <p:spPr>
          <a:ln/>
        </p:spPr>
        <p:txBody>
          <a:bodyPr/>
          <a:lstStyle>
            <a:lvl1pPr>
              <a:defRPr/>
            </a:lvl1pPr>
          </a:lstStyle>
          <a:p>
            <a:fld id="{94D2BBBE-2A44-4D16-8758-0239282DCC58}" type="slidenum">
              <a:rPr lang="en-US" altLang="en-US"/>
              <a:pPr/>
              <a:t>‹#›</a:t>
            </a:fld>
            <a:endParaRPr lang="en-US" altLang="en-US"/>
          </a:p>
        </p:txBody>
      </p:sp>
    </p:spTree>
    <p:extLst>
      <p:ext uri="{BB962C8B-B14F-4D97-AF65-F5344CB8AC3E}">
        <p14:creationId xmlns:p14="http://schemas.microsoft.com/office/powerpoint/2010/main" val="4120852526"/>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p:cNvSpPr>
            <a:spLocks noGrp="1" noChangeArrowheads="1"/>
          </p:cNvSpPr>
          <p:nvPr>
            <p:ph type="ftr" sz="quarter" idx="10"/>
          </p:nvPr>
        </p:nvSpPr>
        <p:spPr>
          <a:ln/>
        </p:spPr>
        <p:txBody>
          <a:bodyPr/>
          <a:lstStyle>
            <a:lvl1pPr>
              <a:defRPr/>
            </a:lvl1pPr>
          </a:lstStyle>
          <a:p>
            <a:endParaRPr lang="en-US" altLang="en-US"/>
          </a:p>
        </p:txBody>
      </p:sp>
      <p:sp>
        <p:nvSpPr>
          <p:cNvPr id="8" name="Rectangle 1030"/>
          <p:cNvSpPr>
            <a:spLocks noGrp="1" noChangeArrowheads="1"/>
          </p:cNvSpPr>
          <p:nvPr>
            <p:ph type="sldNum" sz="quarter" idx="11"/>
          </p:nvPr>
        </p:nvSpPr>
        <p:spPr>
          <a:ln/>
        </p:spPr>
        <p:txBody>
          <a:bodyPr/>
          <a:lstStyle>
            <a:lvl1pPr>
              <a:defRPr/>
            </a:lvl1pPr>
          </a:lstStyle>
          <a:p>
            <a:fld id="{D5FD5635-BCCD-45D2-B61E-320731E13B17}" type="slidenum">
              <a:rPr lang="en-US" altLang="en-US"/>
              <a:pPr/>
              <a:t>‹#›</a:t>
            </a:fld>
            <a:endParaRPr lang="en-US" altLang="en-US"/>
          </a:p>
        </p:txBody>
      </p:sp>
    </p:spTree>
    <p:extLst>
      <p:ext uri="{BB962C8B-B14F-4D97-AF65-F5344CB8AC3E}">
        <p14:creationId xmlns:p14="http://schemas.microsoft.com/office/powerpoint/2010/main" val="109933886"/>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p:cNvSpPr>
            <a:spLocks noGrp="1" noChangeArrowheads="1"/>
          </p:cNvSpPr>
          <p:nvPr>
            <p:ph type="ftr" sz="quarter" idx="10"/>
          </p:nvPr>
        </p:nvSpPr>
        <p:spPr>
          <a:ln/>
        </p:spPr>
        <p:txBody>
          <a:bodyPr/>
          <a:lstStyle>
            <a:lvl1pPr>
              <a:defRPr/>
            </a:lvl1pPr>
          </a:lstStyle>
          <a:p>
            <a:endParaRPr lang="en-US" altLang="en-US"/>
          </a:p>
        </p:txBody>
      </p:sp>
      <p:sp>
        <p:nvSpPr>
          <p:cNvPr id="4" name="Rectangle 1030"/>
          <p:cNvSpPr>
            <a:spLocks noGrp="1" noChangeArrowheads="1"/>
          </p:cNvSpPr>
          <p:nvPr>
            <p:ph type="sldNum" sz="quarter" idx="11"/>
          </p:nvPr>
        </p:nvSpPr>
        <p:spPr>
          <a:ln/>
        </p:spPr>
        <p:txBody>
          <a:bodyPr/>
          <a:lstStyle>
            <a:lvl1pPr>
              <a:defRPr/>
            </a:lvl1pPr>
          </a:lstStyle>
          <a:p>
            <a:fld id="{018A7077-2B78-4FB5-8F56-24239751AEF0}" type="slidenum">
              <a:rPr lang="en-US" altLang="en-US"/>
              <a:pPr/>
              <a:t>‹#›</a:t>
            </a:fld>
            <a:endParaRPr lang="en-US" altLang="en-US"/>
          </a:p>
        </p:txBody>
      </p:sp>
    </p:spTree>
    <p:extLst>
      <p:ext uri="{BB962C8B-B14F-4D97-AF65-F5344CB8AC3E}">
        <p14:creationId xmlns:p14="http://schemas.microsoft.com/office/powerpoint/2010/main" val="1474298433"/>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p:cNvSpPr>
            <a:spLocks noGrp="1" noChangeArrowheads="1"/>
          </p:cNvSpPr>
          <p:nvPr>
            <p:ph type="ftr" sz="quarter" idx="10"/>
          </p:nvPr>
        </p:nvSpPr>
        <p:spPr>
          <a:ln/>
        </p:spPr>
        <p:txBody>
          <a:bodyPr/>
          <a:lstStyle>
            <a:lvl1pPr>
              <a:defRPr/>
            </a:lvl1pPr>
          </a:lstStyle>
          <a:p>
            <a:endParaRPr lang="en-US" altLang="en-US"/>
          </a:p>
        </p:txBody>
      </p:sp>
      <p:sp>
        <p:nvSpPr>
          <p:cNvPr id="3" name="Rectangle 1030"/>
          <p:cNvSpPr>
            <a:spLocks noGrp="1" noChangeArrowheads="1"/>
          </p:cNvSpPr>
          <p:nvPr>
            <p:ph type="sldNum" sz="quarter" idx="11"/>
          </p:nvPr>
        </p:nvSpPr>
        <p:spPr>
          <a:ln/>
        </p:spPr>
        <p:txBody>
          <a:bodyPr/>
          <a:lstStyle>
            <a:lvl1pPr>
              <a:defRPr/>
            </a:lvl1pPr>
          </a:lstStyle>
          <a:p>
            <a:fld id="{6E86574E-FA2E-425B-A84C-39F9592E9ECB}" type="slidenum">
              <a:rPr lang="en-US" altLang="en-US"/>
              <a:pPr/>
              <a:t>‹#›</a:t>
            </a:fld>
            <a:endParaRPr lang="en-US" altLang="en-US"/>
          </a:p>
        </p:txBody>
      </p:sp>
    </p:spTree>
    <p:extLst>
      <p:ext uri="{BB962C8B-B14F-4D97-AF65-F5344CB8AC3E}">
        <p14:creationId xmlns:p14="http://schemas.microsoft.com/office/powerpoint/2010/main" val="307299776"/>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endParaRPr lang="en-US" altLang="en-US"/>
          </a:p>
        </p:txBody>
      </p:sp>
      <p:sp>
        <p:nvSpPr>
          <p:cNvPr id="6" name="Rectangle 1030"/>
          <p:cNvSpPr>
            <a:spLocks noGrp="1" noChangeArrowheads="1"/>
          </p:cNvSpPr>
          <p:nvPr>
            <p:ph type="sldNum" sz="quarter" idx="11"/>
          </p:nvPr>
        </p:nvSpPr>
        <p:spPr>
          <a:ln/>
        </p:spPr>
        <p:txBody>
          <a:bodyPr/>
          <a:lstStyle>
            <a:lvl1pPr>
              <a:defRPr/>
            </a:lvl1pPr>
          </a:lstStyle>
          <a:p>
            <a:fld id="{9148CFD0-6DDB-45F0-A989-9F5CE648BC1E}" type="slidenum">
              <a:rPr lang="en-US" altLang="en-US"/>
              <a:pPr/>
              <a:t>‹#›</a:t>
            </a:fld>
            <a:endParaRPr lang="en-US" altLang="en-US"/>
          </a:p>
        </p:txBody>
      </p:sp>
    </p:spTree>
    <p:extLst>
      <p:ext uri="{BB962C8B-B14F-4D97-AF65-F5344CB8AC3E}">
        <p14:creationId xmlns:p14="http://schemas.microsoft.com/office/powerpoint/2010/main" val="4015171750"/>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endParaRPr lang="en-US" altLang="en-US"/>
          </a:p>
        </p:txBody>
      </p:sp>
      <p:sp>
        <p:nvSpPr>
          <p:cNvPr id="6" name="Rectangle 1030"/>
          <p:cNvSpPr>
            <a:spLocks noGrp="1" noChangeArrowheads="1"/>
          </p:cNvSpPr>
          <p:nvPr>
            <p:ph type="sldNum" sz="quarter" idx="11"/>
          </p:nvPr>
        </p:nvSpPr>
        <p:spPr>
          <a:ln/>
        </p:spPr>
        <p:txBody>
          <a:bodyPr/>
          <a:lstStyle>
            <a:lvl1pPr>
              <a:defRPr/>
            </a:lvl1pPr>
          </a:lstStyle>
          <a:p>
            <a:fld id="{9E97B092-8552-4BA4-B0E1-CE51B98A2A2D}" type="slidenum">
              <a:rPr lang="en-US" altLang="en-US"/>
              <a:pPr/>
              <a:t>‹#›</a:t>
            </a:fld>
            <a:endParaRPr lang="en-US" altLang="en-US"/>
          </a:p>
        </p:txBody>
      </p:sp>
    </p:spTree>
    <p:extLst>
      <p:ext uri="{BB962C8B-B14F-4D97-AF65-F5344CB8AC3E}">
        <p14:creationId xmlns:p14="http://schemas.microsoft.com/office/powerpoint/2010/main" val="2991075619"/>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F44DDA66-0DFC-412A-A4B0-EFE91F0913E7}" type="slidenum">
              <a:rPr lang="en-US" altLang="en-US"/>
              <a:pPr/>
              <a:t>‹#›</a:t>
            </a:fld>
            <a:endParaRPr lang="en-US" altLang="en-US"/>
          </a:p>
        </p:txBody>
      </p:sp>
    </p:spTree>
    <p:extLst>
      <p:ext uri="{BB962C8B-B14F-4D97-AF65-F5344CB8AC3E}">
        <p14:creationId xmlns:p14="http://schemas.microsoft.com/office/powerpoint/2010/main" val="3081859640"/>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4D1F9A79-97CD-456A-8962-B51E5744B9CD}" type="slidenum">
              <a:rPr lang="en-US" altLang="en-US"/>
              <a:pPr/>
              <a:t>‹#›</a:t>
            </a:fld>
            <a:endParaRPr lang="en-US" altLang="en-US"/>
          </a:p>
        </p:txBody>
      </p:sp>
    </p:spTree>
    <p:extLst>
      <p:ext uri="{BB962C8B-B14F-4D97-AF65-F5344CB8AC3E}">
        <p14:creationId xmlns:p14="http://schemas.microsoft.com/office/powerpoint/2010/main" val="1500591615"/>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safari.png">
            <a:extLst>
              <a:ext uri="{FF2B5EF4-FFF2-40B4-BE49-F238E27FC236}">
                <a16:creationId xmlns:a16="http://schemas.microsoft.com/office/drawing/2014/main" id="{9CD35D2D-5E91-46D5-981B-E75BA6DA714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0975" y="6411913"/>
            <a:ext cx="1025525"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5" name="Rectangle 1029">
            <a:extLst>
              <a:ext uri="{FF2B5EF4-FFF2-40B4-BE49-F238E27FC236}">
                <a16:creationId xmlns:a16="http://schemas.microsoft.com/office/drawing/2014/main" id="{7A21EAFC-4035-4857-807A-CB62B3BF44F4}"/>
              </a:ext>
            </a:extLst>
          </p:cNvPr>
          <p:cNvSpPr>
            <a:spLocks noGrp="1" noChangeArrowheads="1"/>
          </p:cNvSpPr>
          <p:nvPr>
            <p:ph type="ftr" sz="quarter" idx="10"/>
          </p:nvPr>
        </p:nvSpPr>
        <p:spPr/>
        <p:txBody>
          <a:bodyPr/>
          <a:lstStyle>
            <a:lvl1pPr>
              <a:defRPr/>
            </a:lvl1pPr>
          </a:lstStyle>
          <a:p>
            <a:pPr>
              <a:defRPr/>
            </a:pPr>
            <a:endParaRPr lang="en-US"/>
          </a:p>
        </p:txBody>
      </p:sp>
      <p:sp>
        <p:nvSpPr>
          <p:cNvPr id="6" name="Rectangle 1030">
            <a:extLst>
              <a:ext uri="{FF2B5EF4-FFF2-40B4-BE49-F238E27FC236}">
                <a16:creationId xmlns:a16="http://schemas.microsoft.com/office/drawing/2014/main" id="{C888C28F-145F-424D-84CC-5AE9AF6843AB}"/>
              </a:ext>
            </a:extLst>
          </p:cNvPr>
          <p:cNvSpPr>
            <a:spLocks noGrp="1" noChangeArrowheads="1"/>
          </p:cNvSpPr>
          <p:nvPr>
            <p:ph type="sldNum" sz="quarter" idx="11"/>
          </p:nvPr>
        </p:nvSpPr>
        <p:spPr/>
        <p:txBody>
          <a:bodyPr/>
          <a:lstStyle>
            <a:lvl1pPr>
              <a:defRPr/>
            </a:lvl1pPr>
          </a:lstStyle>
          <a:p>
            <a:pPr>
              <a:defRPr/>
            </a:pPr>
            <a:fld id="{43826BB2-7A42-4BD5-B790-DBCEF432F448}" type="slidenum">
              <a:rPr lang="en-US" altLang="en-US"/>
              <a:pPr>
                <a:defRPr/>
              </a:pPr>
              <a:t>‹#›</a:t>
            </a:fld>
            <a:endParaRPr lang="en-US" altLang="en-US"/>
          </a:p>
        </p:txBody>
      </p:sp>
    </p:spTree>
    <p:extLst>
      <p:ext uri="{BB962C8B-B14F-4D97-AF65-F5344CB8AC3E}">
        <p14:creationId xmlns:p14="http://schemas.microsoft.com/office/powerpoint/2010/main" val="55245994"/>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409AC565-7350-4525-9420-2EB7757D3061}"/>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1030">
            <a:extLst>
              <a:ext uri="{FF2B5EF4-FFF2-40B4-BE49-F238E27FC236}">
                <a16:creationId xmlns:a16="http://schemas.microsoft.com/office/drawing/2014/main" id="{4AA7F312-6BE9-48B6-AA7B-A6D10D628BA6}"/>
              </a:ext>
            </a:extLst>
          </p:cNvPr>
          <p:cNvSpPr>
            <a:spLocks noGrp="1" noChangeArrowheads="1"/>
          </p:cNvSpPr>
          <p:nvPr>
            <p:ph type="sldNum" sz="quarter" idx="11"/>
          </p:nvPr>
        </p:nvSpPr>
        <p:spPr>
          <a:ln/>
        </p:spPr>
        <p:txBody>
          <a:bodyPr/>
          <a:lstStyle>
            <a:lvl1pPr>
              <a:defRPr/>
            </a:lvl1pPr>
          </a:lstStyle>
          <a:p>
            <a:pPr>
              <a:defRPr/>
            </a:pPr>
            <a:fld id="{8B19D7DF-598B-483B-A6D0-8553CDFAE631}" type="slidenum">
              <a:rPr lang="en-US" altLang="en-US"/>
              <a:pPr>
                <a:defRPr/>
              </a:pPr>
              <a:t>‹#›</a:t>
            </a:fld>
            <a:endParaRPr lang="en-US" altLang="en-US"/>
          </a:p>
        </p:txBody>
      </p:sp>
    </p:spTree>
    <p:extLst>
      <p:ext uri="{BB962C8B-B14F-4D97-AF65-F5344CB8AC3E}">
        <p14:creationId xmlns:p14="http://schemas.microsoft.com/office/powerpoint/2010/main" val="2761866519"/>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08787426-EFB2-4064-9F82-5B1B136B39E1}"/>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1030">
            <a:extLst>
              <a:ext uri="{FF2B5EF4-FFF2-40B4-BE49-F238E27FC236}">
                <a16:creationId xmlns:a16="http://schemas.microsoft.com/office/drawing/2014/main" id="{60038527-DAED-4D79-A54B-129F6A20F670}"/>
              </a:ext>
            </a:extLst>
          </p:cNvPr>
          <p:cNvSpPr>
            <a:spLocks noGrp="1" noChangeArrowheads="1"/>
          </p:cNvSpPr>
          <p:nvPr>
            <p:ph type="sldNum" sz="quarter" idx="11"/>
          </p:nvPr>
        </p:nvSpPr>
        <p:spPr>
          <a:ln/>
        </p:spPr>
        <p:txBody>
          <a:bodyPr/>
          <a:lstStyle>
            <a:lvl1pPr>
              <a:defRPr/>
            </a:lvl1pPr>
          </a:lstStyle>
          <a:p>
            <a:pPr>
              <a:defRPr/>
            </a:pPr>
            <a:fld id="{63D67C19-8364-4600-B88B-828769DCBD4B}" type="slidenum">
              <a:rPr lang="en-US" altLang="en-US"/>
              <a:pPr>
                <a:defRPr/>
              </a:pPr>
              <a:t>‹#›</a:t>
            </a:fld>
            <a:endParaRPr lang="en-US" altLang="en-US"/>
          </a:p>
        </p:txBody>
      </p:sp>
    </p:spTree>
    <p:extLst>
      <p:ext uri="{BB962C8B-B14F-4D97-AF65-F5344CB8AC3E}">
        <p14:creationId xmlns:p14="http://schemas.microsoft.com/office/powerpoint/2010/main" val="2145540042"/>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DB333F77-5829-459B-B71C-A401B0AC83F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1030">
            <a:extLst>
              <a:ext uri="{FF2B5EF4-FFF2-40B4-BE49-F238E27FC236}">
                <a16:creationId xmlns:a16="http://schemas.microsoft.com/office/drawing/2014/main" id="{DC357D67-E160-41BD-A8F4-591D3B61CA44}"/>
              </a:ext>
            </a:extLst>
          </p:cNvPr>
          <p:cNvSpPr>
            <a:spLocks noGrp="1" noChangeArrowheads="1"/>
          </p:cNvSpPr>
          <p:nvPr>
            <p:ph type="sldNum" sz="quarter" idx="11"/>
          </p:nvPr>
        </p:nvSpPr>
        <p:spPr>
          <a:ln/>
        </p:spPr>
        <p:txBody>
          <a:bodyPr/>
          <a:lstStyle>
            <a:lvl1pPr>
              <a:defRPr/>
            </a:lvl1pPr>
          </a:lstStyle>
          <a:p>
            <a:pPr>
              <a:defRPr/>
            </a:pPr>
            <a:fld id="{A9E1BDAC-3FCE-4406-AD14-A59ECE86B20E}" type="slidenum">
              <a:rPr lang="en-US" altLang="en-US"/>
              <a:pPr>
                <a:defRPr/>
              </a:pPr>
              <a:t>‹#›</a:t>
            </a:fld>
            <a:endParaRPr lang="en-US" altLang="en-US"/>
          </a:p>
        </p:txBody>
      </p:sp>
    </p:spTree>
    <p:extLst>
      <p:ext uri="{BB962C8B-B14F-4D97-AF65-F5344CB8AC3E}">
        <p14:creationId xmlns:p14="http://schemas.microsoft.com/office/powerpoint/2010/main" val="958587394"/>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D26DBB79-5AEF-450D-8A69-9E473A6D46FD}"/>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1030">
            <a:extLst>
              <a:ext uri="{FF2B5EF4-FFF2-40B4-BE49-F238E27FC236}">
                <a16:creationId xmlns:a16="http://schemas.microsoft.com/office/drawing/2014/main" id="{5613F326-A967-4A16-9691-5994EAA77F81}"/>
              </a:ext>
            </a:extLst>
          </p:cNvPr>
          <p:cNvSpPr>
            <a:spLocks noGrp="1" noChangeArrowheads="1"/>
          </p:cNvSpPr>
          <p:nvPr>
            <p:ph type="sldNum" sz="quarter" idx="11"/>
          </p:nvPr>
        </p:nvSpPr>
        <p:spPr>
          <a:ln/>
        </p:spPr>
        <p:txBody>
          <a:bodyPr/>
          <a:lstStyle>
            <a:lvl1pPr>
              <a:defRPr/>
            </a:lvl1pPr>
          </a:lstStyle>
          <a:p>
            <a:pPr>
              <a:defRPr/>
            </a:pPr>
            <a:fld id="{4DDDAB56-7687-49EE-9BFA-357DD2115F9B}" type="slidenum">
              <a:rPr lang="en-US" altLang="en-US"/>
              <a:pPr>
                <a:defRPr/>
              </a:pPr>
              <a:t>‹#›</a:t>
            </a:fld>
            <a:endParaRPr lang="en-US" altLang="en-US"/>
          </a:p>
        </p:txBody>
      </p:sp>
    </p:spTree>
    <p:extLst>
      <p:ext uri="{BB962C8B-B14F-4D97-AF65-F5344CB8AC3E}">
        <p14:creationId xmlns:p14="http://schemas.microsoft.com/office/powerpoint/2010/main" val="2282806106"/>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25C5F115-951D-416A-8367-F27935F171C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1030">
            <a:extLst>
              <a:ext uri="{FF2B5EF4-FFF2-40B4-BE49-F238E27FC236}">
                <a16:creationId xmlns:a16="http://schemas.microsoft.com/office/drawing/2014/main" id="{9FA67899-1E4C-4F33-994F-0FE9DDF922F2}"/>
              </a:ext>
            </a:extLst>
          </p:cNvPr>
          <p:cNvSpPr>
            <a:spLocks noGrp="1" noChangeArrowheads="1"/>
          </p:cNvSpPr>
          <p:nvPr>
            <p:ph type="sldNum" sz="quarter" idx="11"/>
          </p:nvPr>
        </p:nvSpPr>
        <p:spPr>
          <a:ln/>
        </p:spPr>
        <p:txBody>
          <a:bodyPr/>
          <a:lstStyle>
            <a:lvl1pPr>
              <a:defRPr/>
            </a:lvl1pPr>
          </a:lstStyle>
          <a:p>
            <a:pPr>
              <a:defRPr/>
            </a:pPr>
            <a:fld id="{EE6ABE56-5E07-4208-997F-19E78ED34494}" type="slidenum">
              <a:rPr lang="en-US" altLang="en-US"/>
              <a:pPr>
                <a:defRPr/>
              </a:pPr>
              <a:t>‹#›</a:t>
            </a:fld>
            <a:endParaRPr lang="en-US" altLang="en-US"/>
          </a:p>
        </p:txBody>
      </p:sp>
    </p:spTree>
    <p:extLst>
      <p:ext uri="{BB962C8B-B14F-4D97-AF65-F5344CB8AC3E}">
        <p14:creationId xmlns:p14="http://schemas.microsoft.com/office/powerpoint/2010/main" val="141088746"/>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A3210EB8-01E8-436A-B41F-069A2DB8B749}"/>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1030">
            <a:extLst>
              <a:ext uri="{FF2B5EF4-FFF2-40B4-BE49-F238E27FC236}">
                <a16:creationId xmlns:a16="http://schemas.microsoft.com/office/drawing/2014/main" id="{88357862-E4F0-4312-AEFB-533810CEB356}"/>
              </a:ext>
            </a:extLst>
          </p:cNvPr>
          <p:cNvSpPr>
            <a:spLocks noGrp="1" noChangeArrowheads="1"/>
          </p:cNvSpPr>
          <p:nvPr>
            <p:ph type="sldNum" sz="quarter" idx="11"/>
          </p:nvPr>
        </p:nvSpPr>
        <p:spPr>
          <a:ln/>
        </p:spPr>
        <p:txBody>
          <a:bodyPr/>
          <a:lstStyle>
            <a:lvl1pPr>
              <a:defRPr/>
            </a:lvl1pPr>
          </a:lstStyle>
          <a:p>
            <a:pPr>
              <a:defRPr/>
            </a:pPr>
            <a:fld id="{63632353-6DA2-4969-8B9B-3DBC4F8425A4}" type="slidenum">
              <a:rPr lang="en-US" altLang="en-US"/>
              <a:pPr>
                <a:defRPr/>
              </a:pPr>
              <a:t>‹#›</a:t>
            </a:fld>
            <a:endParaRPr lang="en-US" altLang="en-US"/>
          </a:p>
        </p:txBody>
      </p:sp>
    </p:spTree>
    <p:extLst>
      <p:ext uri="{BB962C8B-B14F-4D97-AF65-F5344CB8AC3E}">
        <p14:creationId xmlns:p14="http://schemas.microsoft.com/office/powerpoint/2010/main" val="2001818033"/>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7D8C17F0-0F2C-4BA2-ACAD-9F9DD7E1D754}"/>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1030">
            <a:extLst>
              <a:ext uri="{FF2B5EF4-FFF2-40B4-BE49-F238E27FC236}">
                <a16:creationId xmlns:a16="http://schemas.microsoft.com/office/drawing/2014/main" id="{01206954-09DD-443F-8138-FD04D7E91044}"/>
              </a:ext>
            </a:extLst>
          </p:cNvPr>
          <p:cNvSpPr>
            <a:spLocks noGrp="1" noChangeArrowheads="1"/>
          </p:cNvSpPr>
          <p:nvPr>
            <p:ph type="sldNum" sz="quarter" idx="11"/>
          </p:nvPr>
        </p:nvSpPr>
        <p:spPr>
          <a:ln/>
        </p:spPr>
        <p:txBody>
          <a:bodyPr/>
          <a:lstStyle>
            <a:lvl1pPr>
              <a:defRPr/>
            </a:lvl1pPr>
          </a:lstStyle>
          <a:p>
            <a:pPr>
              <a:defRPr/>
            </a:pPr>
            <a:fld id="{00E294FE-CC9E-4E10-B310-514CFBF72E7D}" type="slidenum">
              <a:rPr lang="en-US" altLang="en-US"/>
              <a:pPr>
                <a:defRPr/>
              </a:pPr>
              <a:t>‹#›</a:t>
            </a:fld>
            <a:endParaRPr lang="en-US" altLang="en-US"/>
          </a:p>
        </p:txBody>
      </p:sp>
    </p:spTree>
    <p:extLst>
      <p:ext uri="{BB962C8B-B14F-4D97-AF65-F5344CB8AC3E}">
        <p14:creationId xmlns:p14="http://schemas.microsoft.com/office/powerpoint/2010/main" val="1327735813"/>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2D2B0F18-FF15-4EF6-984A-01641DEDA28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1030">
            <a:extLst>
              <a:ext uri="{FF2B5EF4-FFF2-40B4-BE49-F238E27FC236}">
                <a16:creationId xmlns:a16="http://schemas.microsoft.com/office/drawing/2014/main" id="{1E37D587-FAF0-4764-AD77-644AFEF7307D}"/>
              </a:ext>
            </a:extLst>
          </p:cNvPr>
          <p:cNvSpPr>
            <a:spLocks noGrp="1" noChangeArrowheads="1"/>
          </p:cNvSpPr>
          <p:nvPr>
            <p:ph type="sldNum" sz="quarter" idx="11"/>
          </p:nvPr>
        </p:nvSpPr>
        <p:spPr>
          <a:ln/>
        </p:spPr>
        <p:txBody>
          <a:bodyPr/>
          <a:lstStyle>
            <a:lvl1pPr>
              <a:defRPr/>
            </a:lvl1pPr>
          </a:lstStyle>
          <a:p>
            <a:pPr>
              <a:defRPr/>
            </a:pPr>
            <a:fld id="{EA63DEC2-A46B-4DF0-9B6D-3DA55177CC49}" type="slidenum">
              <a:rPr lang="en-US" altLang="en-US"/>
              <a:pPr>
                <a:defRPr/>
              </a:pPr>
              <a:t>‹#›</a:t>
            </a:fld>
            <a:endParaRPr lang="en-US" altLang="en-US"/>
          </a:p>
        </p:txBody>
      </p:sp>
    </p:spTree>
    <p:extLst>
      <p:ext uri="{BB962C8B-B14F-4D97-AF65-F5344CB8AC3E}">
        <p14:creationId xmlns:p14="http://schemas.microsoft.com/office/powerpoint/2010/main" val="953760683"/>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C0A08B9B-687C-4AD3-8C6D-FA4C5E16A31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1030">
            <a:extLst>
              <a:ext uri="{FF2B5EF4-FFF2-40B4-BE49-F238E27FC236}">
                <a16:creationId xmlns:a16="http://schemas.microsoft.com/office/drawing/2014/main" id="{5BE2A02B-D63E-4DD6-9FFA-98D71570A2AD}"/>
              </a:ext>
            </a:extLst>
          </p:cNvPr>
          <p:cNvSpPr>
            <a:spLocks noGrp="1" noChangeArrowheads="1"/>
          </p:cNvSpPr>
          <p:nvPr>
            <p:ph type="sldNum" sz="quarter" idx="11"/>
          </p:nvPr>
        </p:nvSpPr>
        <p:spPr>
          <a:ln/>
        </p:spPr>
        <p:txBody>
          <a:bodyPr/>
          <a:lstStyle>
            <a:lvl1pPr>
              <a:defRPr/>
            </a:lvl1pPr>
          </a:lstStyle>
          <a:p>
            <a:pPr>
              <a:defRPr/>
            </a:pPr>
            <a:fld id="{AC4704B9-2B86-45E3-BC5C-2F3F28BAAB8B}" type="slidenum">
              <a:rPr lang="en-US" altLang="en-US"/>
              <a:pPr>
                <a:defRPr/>
              </a:pPr>
              <a:t>‹#›</a:t>
            </a:fld>
            <a:endParaRPr lang="en-US" altLang="en-US"/>
          </a:p>
        </p:txBody>
      </p:sp>
    </p:spTree>
    <p:extLst>
      <p:ext uri="{BB962C8B-B14F-4D97-AF65-F5344CB8AC3E}">
        <p14:creationId xmlns:p14="http://schemas.microsoft.com/office/powerpoint/2010/main" val="1594965039"/>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E62CEBD1-E2A7-41F0-A158-62153EC297D5}"/>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1030">
            <a:extLst>
              <a:ext uri="{FF2B5EF4-FFF2-40B4-BE49-F238E27FC236}">
                <a16:creationId xmlns:a16="http://schemas.microsoft.com/office/drawing/2014/main" id="{6011B996-071A-4884-856A-6B25C3879E5F}"/>
              </a:ext>
            </a:extLst>
          </p:cNvPr>
          <p:cNvSpPr>
            <a:spLocks noGrp="1" noChangeArrowheads="1"/>
          </p:cNvSpPr>
          <p:nvPr>
            <p:ph type="sldNum" sz="quarter" idx="11"/>
          </p:nvPr>
        </p:nvSpPr>
        <p:spPr>
          <a:ln/>
        </p:spPr>
        <p:txBody>
          <a:bodyPr/>
          <a:lstStyle>
            <a:lvl1pPr>
              <a:defRPr/>
            </a:lvl1pPr>
          </a:lstStyle>
          <a:p>
            <a:pPr>
              <a:defRPr/>
            </a:pPr>
            <a:fld id="{9FC1C64C-0813-4AB1-8463-69A3B31BE146}" type="slidenum">
              <a:rPr lang="en-US" altLang="en-US"/>
              <a:pPr>
                <a:defRPr/>
              </a:pPr>
              <a:t>‹#›</a:t>
            </a:fld>
            <a:endParaRPr lang="en-US" altLang="en-US"/>
          </a:p>
        </p:txBody>
      </p:sp>
    </p:spTree>
    <p:extLst>
      <p:ext uri="{BB962C8B-B14F-4D97-AF65-F5344CB8AC3E}">
        <p14:creationId xmlns:p14="http://schemas.microsoft.com/office/powerpoint/2010/main" val="3028819764"/>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Table Placeholder 2"/>
          <p:cNvSpPr>
            <a:spLocks noGrp="1"/>
          </p:cNvSpPr>
          <p:nvPr>
            <p:ph type="tbl" idx="1"/>
          </p:nvPr>
        </p:nvSpPr>
        <p:spPr>
          <a:xfrm>
            <a:off x="228600" y="1371600"/>
            <a:ext cx="8610600" cy="4876800"/>
          </a:xfrm>
        </p:spPr>
        <p:txBody>
          <a:bodyPr/>
          <a:lstStyle/>
          <a:p>
            <a:pPr lvl="0"/>
            <a:endParaRPr lang="en-US" noProof="0"/>
          </a:p>
        </p:txBody>
      </p:sp>
      <p:sp>
        <p:nvSpPr>
          <p:cNvPr id="4" name="Rectangle 1029">
            <a:extLst>
              <a:ext uri="{FF2B5EF4-FFF2-40B4-BE49-F238E27FC236}">
                <a16:creationId xmlns:a16="http://schemas.microsoft.com/office/drawing/2014/main" id="{B55989F0-9C2F-467D-8A2B-E760CFC57E8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1030">
            <a:extLst>
              <a:ext uri="{FF2B5EF4-FFF2-40B4-BE49-F238E27FC236}">
                <a16:creationId xmlns:a16="http://schemas.microsoft.com/office/drawing/2014/main" id="{B76D41D7-E031-46E6-8D53-528FF913AD9F}"/>
              </a:ext>
            </a:extLst>
          </p:cNvPr>
          <p:cNvSpPr>
            <a:spLocks noGrp="1" noChangeArrowheads="1"/>
          </p:cNvSpPr>
          <p:nvPr>
            <p:ph type="sldNum" sz="quarter" idx="11"/>
          </p:nvPr>
        </p:nvSpPr>
        <p:spPr>
          <a:ln/>
        </p:spPr>
        <p:txBody>
          <a:bodyPr/>
          <a:lstStyle>
            <a:lvl1pPr>
              <a:defRPr/>
            </a:lvl1pPr>
          </a:lstStyle>
          <a:p>
            <a:pPr>
              <a:defRPr/>
            </a:pPr>
            <a:fld id="{20C0357D-5951-4316-833F-FB5D4423D797}" type="slidenum">
              <a:rPr lang="en-US" altLang="en-US"/>
              <a:pPr>
                <a:defRPr/>
              </a:pPr>
              <a:t>‹#›</a:t>
            </a:fld>
            <a:endParaRPr lang="en-US" altLang="en-US"/>
          </a:p>
        </p:txBody>
      </p:sp>
    </p:spTree>
    <p:extLst>
      <p:ext uri="{BB962C8B-B14F-4D97-AF65-F5344CB8AC3E}">
        <p14:creationId xmlns:p14="http://schemas.microsoft.com/office/powerpoint/2010/main" val="278523849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1.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6.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theme" Target="../theme/theme7.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8C7DCE88-4C25-7649-8D06-768C7FEE83C0}"/>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1027">
            <a:extLst>
              <a:ext uri="{FF2B5EF4-FFF2-40B4-BE49-F238E27FC236}">
                <a16:creationId xmlns:a16="http://schemas.microsoft.com/office/drawing/2014/main" id="{DADC582E-50F2-6842-BCC9-5F02CC331AC1}"/>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FED639B4-515C-F341-AE77-64E4CCB410A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7A5E43F3-809D-4A46-820A-514CE40526D8}"/>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a:solidFill>
                  <a:srgbClr val="000000"/>
                </a:solidFill>
                <a:latin typeface="Garamond" charset="0"/>
                <a:ea typeface="ＭＳ Ｐゴシック" charset="-128"/>
              </a:defRPr>
            </a:lvl1pPr>
          </a:lstStyle>
          <a:p>
            <a:pPr>
              <a:defRPr/>
            </a:pPr>
            <a:fld id="{9D985A5A-11B0-3A49-99E8-5D930A7CFF40}" type="slidenum">
              <a:rPr lang="en-US" altLang="en-US"/>
              <a:pPr>
                <a:defRPr/>
              </a:pPr>
              <a:t>‹#›</a:t>
            </a:fld>
            <a:endParaRPr lang="en-US" altLang="en-US"/>
          </a:p>
        </p:txBody>
      </p:sp>
      <p:sp>
        <p:nvSpPr>
          <p:cNvPr id="1030" name="Line 1032">
            <a:extLst>
              <a:ext uri="{FF2B5EF4-FFF2-40B4-BE49-F238E27FC236}">
                <a16:creationId xmlns:a16="http://schemas.microsoft.com/office/drawing/2014/main" id="{C89B6B19-BA6C-924D-BFCC-C1428A6A076B}"/>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Line 1033">
            <a:extLst>
              <a:ext uri="{FF2B5EF4-FFF2-40B4-BE49-F238E27FC236}">
                <a16:creationId xmlns:a16="http://schemas.microsoft.com/office/drawing/2014/main" id="{40DB89D3-0D3F-A44E-9AB0-5EF3BF0CD09E}"/>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243" r:id="rId1"/>
    <p:sldLayoutId id="2147484221" r:id="rId2"/>
    <p:sldLayoutId id="2147484222" r:id="rId3"/>
    <p:sldLayoutId id="2147484223" r:id="rId4"/>
    <p:sldLayoutId id="2147484224" r:id="rId5"/>
    <p:sldLayoutId id="2147484225" r:id="rId6"/>
    <p:sldLayoutId id="2147484226" r:id="rId7"/>
    <p:sldLayoutId id="2147484227" r:id="rId8"/>
    <p:sldLayoutId id="2147484228" r:id="rId9"/>
    <p:sldLayoutId id="2147484229" r:id="rId10"/>
    <p:sldLayoutId id="2147484230" r:id="rId11"/>
    <p:sldLayoutId id="2147484231"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1026">
            <a:extLst>
              <a:ext uri="{FF2B5EF4-FFF2-40B4-BE49-F238E27FC236}">
                <a16:creationId xmlns:a16="http://schemas.microsoft.com/office/drawing/2014/main" id="{905E7BDC-7850-0840-AE02-4CD684FE19E6}"/>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4339" name="Rectangle 1027">
            <a:extLst>
              <a:ext uri="{FF2B5EF4-FFF2-40B4-BE49-F238E27FC236}">
                <a16:creationId xmlns:a16="http://schemas.microsoft.com/office/drawing/2014/main" id="{6E0880CC-46D8-144C-AB8F-FA38446BBE49}"/>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E2720296-8B91-D64B-9FD7-7AF64C73237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39D3AC41-115F-0845-A7A4-47BF361B1873}"/>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a:solidFill>
                  <a:srgbClr val="000000"/>
                </a:solidFill>
                <a:latin typeface="Garamond" charset="0"/>
                <a:ea typeface="ＭＳ Ｐゴシック" charset="-128"/>
              </a:defRPr>
            </a:lvl1pPr>
          </a:lstStyle>
          <a:p>
            <a:pPr>
              <a:defRPr/>
            </a:pPr>
            <a:fld id="{2E03388C-8DDE-5549-8BDC-829E3484E1EC}" type="slidenum">
              <a:rPr lang="en-US" altLang="en-US"/>
              <a:pPr>
                <a:defRPr/>
              </a:pPr>
              <a:t>‹#›</a:t>
            </a:fld>
            <a:endParaRPr lang="en-US" altLang="en-US"/>
          </a:p>
        </p:txBody>
      </p:sp>
      <p:sp>
        <p:nvSpPr>
          <p:cNvPr id="14342" name="Line 1032">
            <a:extLst>
              <a:ext uri="{FF2B5EF4-FFF2-40B4-BE49-F238E27FC236}">
                <a16:creationId xmlns:a16="http://schemas.microsoft.com/office/drawing/2014/main" id="{C35EBA84-E5B9-C34A-9AC4-3C109F724BD9}"/>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3" name="Line 1033">
            <a:extLst>
              <a:ext uri="{FF2B5EF4-FFF2-40B4-BE49-F238E27FC236}">
                <a16:creationId xmlns:a16="http://schemas.microsoft.com/office/drawing/2014/main" id="{F5BD3987-485D-E042-8A19-7C18DF05F31E}"/>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244" r:id="rId1"/>
    <p:sldLayoutId id="2147484245" r:id="rId2"/>
    <p:sldLayoutId id="2147484246" r:id="rId3"/>
    <p:sldLayoutId id="2147484247" r:id="rId4"/>
    <p:sldLayoutId id="2147484248" r:id="rId5"/>
    <p:sldLayoutId id="2147484249" r:id="rId6"/>
    <p:sldLayoutId id="2147484250" r:id="rId7"/>
    <p:sldLayoutId id="2147484251" r:id="rId8"/>
    <p:sldLayoutId id="2147484252" r:id="rId9"/>
    <p:sldLayoutId id="2147484253" r:id="rId10"/>
    <p:sldLayoutId id="2147484254" r:id="rId11"/>
    <p:sldLayoutId id="2147484255"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1026">
            <a:extLst>
              <a:ext uri="{FF2B5EF4-FFF2-40B4-BE49-F238E27FC236}">
                <a16:creationId xmlns:a16="http://schemas.microsoft.com/office/drawing/2014/main" id="{AA84F0B7-9082-F54B-B2FD-6E79E2D3C78F}"/>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7651" name="Rectangle 1027">
            <a:extLst>
              <a:ext uri="{FF2B5EF4-FFF2-40B4-BE49-F238E27FC236}">
                <a16:creationId xmlns:a16="http://schemas.microsoft.com/office/drawing/2014/main" id="{4F273309-E1C0-A049-BC85-18F59100ECB3}"/>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F5C29659-954C-2C4E-8569-225B3B1E0184}"/>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E52B758B-51D1-614C-9223-36A6FDDCB12C}"/>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a:solidFill>
                  <a:srgbClr val="000000"/>
                </a:solidFill>
                <a:latin typeface="Garamond" charset="0"/>
                <a:ea typeface="ＭＳ Ｐゴシック" charset="-128"/>
              </a:defRPr>
            </a:lvl1pPr>
          </a:lstStyle>
          <a:p>
            <a:pPr>
              <a:defRPr/>
            </a:pPr>
            <a:fld id="{9B207C27-141E-6D45-9D31-A06DA07585DB}" type="slidenum">
              <a:rPr lang="en-US" altLang="en-US"/>
              <a:pPr>
                <a:defRPr/>
              </a:pPr>
              <a:t>‹#›</a:t>
            </a:fld>
            <a:endParaRPr lang="en-US" altLang="en-US"/>
          </a:p>
        </p:txBody>
      </p:sp>
      <p:sp>
        <p:nvSpPr>
          <p:cNvPr id="27654" name="Line 1032">
            <a:extLst>
              <a:ext uri="{FF2B5EF4-FFF2-40B4-BE49-F238E27FC236}">
                <a16:creationId xmlns:a16="http://schemas.microsoft.com/office/drawing/2014/main" id="{12E040C0-DE70-434C-AA45-F11374A30033}"/>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5" name="Line 1033">
            <a:extLst>
              <a:ext uri="{FF2B5EF4-FFF2-40B4-BE49-F238E27FC236}">
                <a16:creationId xmlns:a16="http://schemas.microsoft.com/office/drawing/2014/main" id="{232DD488-5289-2644-9369-4830820D8801}"/>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257" r:id="rId1"/>
    <p:sldLayoutId id="2147484258" r:id="rId2"/>
    <p:sldLayoutId id="2147484259" r:id="rId3"/>
    <p:sldLayoutId id="2147484260" r:id="rId4"/>
    <p:sldLayoutId id="2147484261" r:id="rId5"/>
    <p:sldLayoutId id="2147484262" r:id="rId6"/>
    <p:sldLayoutId id="2147484263" r:id="rId7"/>
    <p:sldLayoutId id="2147484264" r:id="rId8"/>
    <p:sldLayoutId id="2147484265" r:id="rId9"/>
    <p:sldLayoutId id="2147484266" r:id="rId10"/>
    <p:sldLayoutId id="2147484267" r:id="rId11"/>
    <p:sldLayoutId id="2147484268"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1026">
            <a:extLst>
              <a:ext uri="{FF2B5EF4-FFF2-40B4-BE49-F238E27FC236}">
                <a16:creationId xmlns:a16="http://schemas.microsoft.com/office/drawing/2014/main" id="{8D063893-3AE8-284D-A275-E8FDFBA4D944}"/>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40963" name="Rectangle 1027">
            <a:extLst>
              <a:ext uri="{FF2B5EF4-FFF2-40B4-BE49-F238E27FC236}">
                <a16:creationId xmlns:a16="http://schemas.microsoft.com/office/drawing/2014/main" id="{F0E13FE8-6F14-1F47-B2FE-525895119AD6}"/>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D624DA32-BF01-BA4E-9E10-47ABCA882457}"/>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44215C59-8EB3-1A4D-A592-4164F6136CDB}"/>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smtClean="0">
                <a:solidFill>
                  <a:srgbClr val="000000"/>
                </a:solidFill>
                <a:latin typeface="Garamond" panose="02020404030301010803" pitchFamily="18" charset="0"/>
                <a:cs typeface="Arial" panose="020B0604020202020204" pitchFamily="34" charset="0"/>
              </a:defRPr>
            </a:lvl1pPr>
          </a:lstStyle>
          <a:p>
            <a:pPr>
              <a:defRPr/>
            </a:pPr>
            <a:fld id="{AC01B96E-8C0C-4A40-AEED-3BB3936E334C}" type="slidenum">
              <a:rPr lang="en-US" altLang="en-US"/>
              <a:pPr>
                <a:defRPr/>
              </a:pPr>
              <a:t>‹#›</a:t>
            </a:fld>
            <a:endParaRPr lang="en-US" altLang="en-US"/>
          </a:p>
        </p:txBody>
      </p:sp>
      <p:sp>
        <p:nvSpPr>
          <p:cNvPr id="40966" name="Line 1032">
            <a:extLst>
              <a:ext uri="{FF2B5EF4-FFF2-40B4-BE49-F238E27FC236}">
                <a16:creationId xmlns:a16="http://schemas.microsoft.com/office/drawing/2014/main" id="{259D7F8C-F1D6-F841-8CC7-81402C595EB7}"/>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67" name="Line 1033">
            <a:extLst>
              <a:ext uri="{FF2B5EF4-FFF2-40B4-BE49-F238E27FC236}">
                <a16:creationId xmlns:a16="http://schemas.microsoft.com/office/drawing/2014/main" id="{8B3213CB-59D2-6C41-9062-D9953F238052}"/>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269"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1026">
            <a:extLst>
              <a:ext uri="{FF2B5EF4-FFF2-40B4-BE49-F238E27FC236}">
                <a16:creationId xmlns:a16="http://schemas.microsoft.com/office/drawing/2014/main" id="{DED34432-A999-2C45-BA02-005C82FEB33F}"/>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54275" name="Rectangle 1027">
            <a:extLst>
              <a:ext uri="{FF2B5EF4-FFF2-40B4-BE49-F238E27FC236}">
                <a16:creationId xmlns:a16="http://schemas.microsoft.com/office/drawing/2014/main" id="{6DF1CDC1-66E7-9D4D-AE93-B9B272F943E0}"/>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13CE8170-D60F-7B4B-8B0C-C7E88D0B01D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487D9274-6DA9-5A48-BF16-F85C943D5CB5}"/>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smtClean="0">
                <a:solidFill>
                  <a:srgbClr val="000000"/>
                </a:solidFill>
                <a:latin typeface="Garamond" charset="0"/>
                <a:ea typeface="ＭＳ Ｐゴシック" charset="-128"/>
              </a:defRPr>
            </a:lvl1pPr>
          </a:lstStyle>
          <a:p>
            <a:pPr>
              <a:defRPr/>
            </a:pPr>
            <a:fld id="{C5CC3FEF-9F05-A049-A898-EAE4F2262525}" type="slidenum">
              <a:rPr lang="en-US" altLang="en-US"/>
              <a:pPr>
                <a:defRPr/>
              </a:pPr>
              <a:t>‹#›</a:t>
            </a:fld>
            <a:endParaRPr lang="en-US" altLang="en-US"/>
          </a:p>
        </p:txBody>
      </p:sp>
      <p:sp>
        <p:nvSpPr>
          <p:cNvPr id="54278" name="Line 1032">
            <a:extLst>
              <a:ext uri="{FF2B5EF4-FFF2-40B4-BE49-F238E27FC236}">
                <a16:creationId xmlns:a16="http://schemas.microsoft.com/office/drawing/2014/main" id="{3148FD0C-AC33-F14F-890B-6BD73BB8AC26}"/>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79" name="Line 1033">
            <a:extLst>
              <a:ext uri="{FF2B5EF4-FFF2-40B4-BE49-F238E27FC236}">
                <a16:creationId xmlns:a16="http://schemas.microsoft.com/office/drawing/2014/main" id="{A53FC20B-C13F-A943-83B2-736A3E4F20FC}"/>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5409087"/>
      </p:ext>
    </p:extLst>
  </p:cSld>
  <p:clrMap bg1="lt1" tx1="dk1" bg2="lt2" tx2="dk2" accent1="accent1" accent2="accent2" accent3="accent3" accent4="accent4" accent5="accent5" accent6="accent6" hlink="hlink" folHlink="folHlink"/>
  <p:sldLayoutIdLst>
    <p:sldLayoutId id="2147484320" r:id="rId1"/>
    <p:sldLayoutId id="2147484321" r:id="rId2"/>
    <p:sldLayoutId id="2147484322" r:id="rId3"/>
    <p:sldLayoutId id="2147484323" r:id="rId4"/>
    <p:sldLayoutId id="2147484324" r:id="rId5"/>
    <p:sldLayoutId id="2147484325" r:id="rId6"/>
    <p:sldLayoutId id="2147484326" r:id="rId7"/>
    <p:sldLayoutId id="2147484327" r:id="rId8"/>
    <p:sldLayoutId id="2147484328" r:id="rId9"/>
    <p:sldLayoutId id="2147484329" r:id="rId10"/>
    <p:sldLayoutId id="2147484330" r:id="rId11"/>
    <p:sldLayoutId id="2147484331"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1026"/>
          <p:cNvSpPr>
            <a:spLocks noGrp="1" noChangeArrowheads="1"/>
          </p:cNvSpPr>
          <p:nvPr>
            <p:ph type="title"/>
          </p:nvPr>
        </p:nvSpPr>
        <p:spPr bwMode="auto">
          <a:xfrm>
            <a:off x="228600" y="152400"/>
            <a:ext cx="8610600" cy="106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5123" name="Rectangle 1027"/>
          <p:cNvSpPr>
            <a:spLocks noGrp="1" noChangeArrowheads="1"/>
          </p:cNvSpPr>
          <p:nvPr>
            <p:ph type="body" idx="1"/>
          </p:nvPr>
        </p:nvSpPr>
        <p:spPr bwMode="auto">
          <a:xfrm>
            <a:off x="228600" y="1371600"/>
            <a:ext cx="86106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endParaRPr lang="en-US" altLang="en-US"/>
          </a:p>
        </p:txBody>
      </p:sp>
      <p:sp>
        <p:nvSpPr>
          <p:cNvPr id="100358" name="Rectangle 1030"/>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latin typeface="Garamond" pitchFamily="18" charset="0"/>
              </a:defRPr>
            </a:lvl1pPr>
          </a:lstStyle>
          <a:p>
            <a:fld id="{6F400BD0-49BF-48FC-8114-37C1D4F5AB3D}" type="slidenum">
              <a:rPr lang="en-US" altLang="en-US"/>
              <a:pPr/>
              <a:t>‹#›</a:t>
            </a:fld>
            <a:endParaRPr lang="en-US" altLang="en-US"/>
          </a:p>
        </p:txBody>
      </p:sp>
      <p:sp>
        <p:nvSpPr>
          <p:cNvPr id="100360" name="Line 1032"/>
          <p:cNvSpPr>
            <a:spLocks noChangeShapeType="1"/>
          </p:cNvSpPr>
          <p:nvPr/>
        </p:nvSpPr>
        <p:spPr bwMode="auto">
          <a:xfrm>
            <a:off x="228600" y="6381328"/>
            <a:ext cx="8610600" cy="0"/>
          </a:xfrm>
          <a:prstGeom prst="line">
            <a:avLst/>
          </a:prstGeom>
          <a:noFill/>
          <a:ln w="19050">
            <a:solidFill>
              <a:schemeClr val="accent1"/>
            </a:solidFill>
            <a:round/>
            <a:headEnd/>
            <a:tailEnd/>
          </a:ln>
          <a:effectLst/>
        </p:spPr>
        <p:txBody>
          <a:bodyPr/>
          <a:lstStyle/>
          <a:p>
            <a:pPr>
              <a:defRPr/>
            </a:pPr>
            <a:endParaRPr lang="en-US"/>
          </a:p>
        </p:txBody>
      </p:sp>
      <p:sp>
        <p:nvSpPr>
          <p:cNvPr id="100361" name="Line 1033"/>
          <p:cNvSpPr>
            <a:spLocks noChangeShapeType="1"/>
          </p:cNvSpPr>
          <p:nvPr/>
        </p:nvSpPr>
        <p:spPr bwMode="auto">
          <a:xfrm>
            <a:off x="228600" y="914400"/>
            <a:ext cx="8610600" cy="0"/>
          </a:xfrm>
          <a:prstGeom prst="line">
            <a:avLst/>
          </a:prstGeom>
          <a:noFill/>
          <a:ln w="19050">
            <a:solidFill>
              <a:schemeClr val="accent1"/>
            </a:solidFill>
            <a:round/>
            <a:headEnd/>
            <a:tailEnd/>
          </a:ln>
          <a:effectLst/>
        </p:spPr>
        <p:txBody>
          <a:bodyPr/>
          <a:lstStyle/>
          <a:p>
            <a:pPr>
              <a:defRPr/>
            </a:pPr>
            <a:endParaRPr lang="en-US"/>
          </a:p>
        </p:txBody>
      </p:sp>
      <p:pic>
        <p:nvPicPr>
          <p:cNvPr id="8" name="Picture 7" descr="safari.png"/>
          <p:cNvPicPr>
            <a:picLocks noChangeAspect="1"/>
          </p:cNvPicPr>
          <p:nvPr userDrawn="1"/>
        </p:nvPicPr>
        <p:blipFill>
          <a:blip r:embed="rId13" cstate="print"/>
          <a:stretch>
            <a:fillRect/>
          </a:stretch>
        </p:blipFill>
        <p:spPr>
          <a:xfrm>
            <a:off x="179512" y="6453336"/>
            <a:ext cx="1080120" cy="312522"/>
          </a:xfrm>
          <a:prstGeom prst="rect">
            <a:avLst/>
          </a:prstGeom>
        </p:spPr>
      </p:pic>
    </p:spTree>
    <p:extLst>
      <p:ext uri="{BB962C8B-B14F-4D97-AF65-F5344CB8AC3E}">
        <p14:creationId xmlns:p14="http://schemas.microsoft.com/office/powerpoint/2010/main" val="81923829"/>
      </p:ext>
    </p:extLst>
  </p:cSld>
  <p:clrMap bg1="lt1" tx1="dk1" bg2="lt2" tx2="dk2" accent1="accent1" accent2="accent2" accent3="accent3" accent4="accent4" accent5="accent5" accent6="accent6" hlink="hlink" folHlink="folHlink"/>
  <p:sldLayoutIdLst>
    <p:sldLayoutId id="2147484404" r:id="rId1"/>
    <p:sldLayoutId id="2147484405" r:id="rId2"/>
    <p:sldLayoutId id="2147484406" r:id="rId3"/>
    <p:sldLayoutId id="2147484407" r:id="rId4"/>
    <p:sldLayoutId id="2147484408" r:id="rId5"/>
    <p:sldLayoutId id="2147484409" r:id="rId6"/>
    <p:sldLayoutId id="2147484410" r:id="rId7"/>
    <p:sldLayoutId id="2147484411" r:id="rId8"/>
    <p:sldLayoutId id="2147484412" r:id="rId9"/>
    <p:sldLayoutId id="2147484413" r:id="rId10"/>
    <p:sldLayoutId id="2147484414" r:id="rId11"/>
  </p:sldLayoutIdLst>
  <p:transition/>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Garamond" pitchFamily="18" charset="0"/>
        </a:defRPr>
      </a:lvl2pPr>
      <a:lvl3pPr algn="l" rtl="0" eaLnBrk="0" fontAlgn="base" hangingPunct="0">
        <a:spcBef>
          <a:spcPct val="0"/>
        </a:spcBef>
        <a:spcAft>
          <a:spcPct val="0"/>
        </a:spcAft>
        <a:defRPr sz="4000">
          <a:solidFill>
            <a:schemeClr val="tx2"/>
          </a:solidFill>
          <a:latin typeface="Garamond" pitchFamily="18" charset="0"/>
        </a:defRPr>
      </a:lvl3pPr>
      <a:lvl4pPr algn="l" rtl="0" eaLnBrk="0" fontAlgn="base" hangingPunct="0">
        <a:spcBef>
          <a:spcPct val="0"/>
        </a:spcBef>
        <a:spcAft>
          <a:spcPct val="0"/>
        </a:spcAft>
        <a:defRPr sz="4000">
          <a:solidFill>
            <a:schemeClr val="tx2"/>
          </a:solidFill>
          <a:latin typeface="Garamond" pitchFamily="18" charset="0"/>
        </a:defRPr>
      </a:lvl4pPr>
      <a:lvl5pPr algn="l" rtl="0" eaLnBrk="0" fontAlgn="base" hangingPunct="0">
        <a:spcBef>
          <a:spcPct val="0"/>
        </a:spcBef>
        <a:spcAft>
          <a:spcPct val="0"/>
        </a:spcAft>
        <a:defRPr sz="4000">
          <a:solidFill>
            <a:schemeClr val="tx2"/>
          </a:solidFill>
          <a:latin typeface="Garamond" pitchFamily="18"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1026">
            <a:extLst>
              <a:ext uri="{FF2B5EF4-FFF2-40B4-BE49-F238E27FC236}">
                <a16:creationId xmlns:a16="http://schemas.microsoft.com/office/drawing/2014/main" id="{4100DFBF-1FEE-4ACB-900C-42CD990BE56B}"/>
              </a:ext>
            </a:extLst>
          </p:cNvPr>
          <p:cNvSpPr>
            <a:spLocks noGrp="1" noChangeArrowheads="1"/>
          </p:cNvSpPr>
          <p:nvPr>
            <p:ph type="title"/>
          </p:nvPr>
        </p:nvSpPr>
        <p:spPr bwMode="auto">
          <a:xfrm>
            <a:off x="228600" y="152400"/>
            <a:ext cx="8610600"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051" name="Rectangle 1027">
            <a:extLst>
              <a:ext uri="{FF2B5EF4-FFF2-40B4-BE49-F238E27FC236}">
                <a16:creationId xmlns:a16="http://schemas.microsoft.com/office/drawing/2014/main" id="{7B86C5D9-AB13-4DED-A44A-D17CB1C1FDF4}"/>
              </a:ext>
            </a:extLst>
          </p:cNvPr>
          <p:cNvSpPr>
            <a:spLocks noGrp="1" noChangeArrowheads="1"/>
          </p:cNvSpPr>
          <p:nvPr>
            <p:ph type="body" idx="1"/>
          </p:nvPr>
        </p:nvSpPr>
        <p:spPr bwMode="auto">
          <a:xfrm>
            <a:off x="228600" y="1095375"/>
            <a:ext cx="861060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D84474C4-284F-9440-A98C-FA4AB90F76F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Garamond" charset="0"/>
                <a:ea typeface="ＭＳ Ｐゴシック" charset="0"/>
                <a:cs typeface="ＭＳ Ｐゴシック" charset="0"/>
              </a:defRPr>
            </a:lvl1pPr>
          </a:lstStyle>
          <a:p>
            <a:pPr>
              <a:defRPr/>
            </a:pPr>
            <a:endParaRPr lang="en-US"/>
          </a:p>
        </p:txBody>
      </p:sp>
      <p:sp>
        <p:nvSpPr>
          <p:cNvPr id="100358" name="Rectangle 1030">
            <a:extLst>
              <a:ext uri="{FF2B5EF4-FFF2-40B4-BE49-F238E27FC236}">
                <a16:creationId xmlns:a16="http://schemas.microsoft.com/office/drawing/2014/main" id="{653E7E89-9F9B-F740-A030-C38912ADA09E}"/>
              </a:ext>
            </a:extLst>
          </p:cNvPr>
          <p:cNvSpPr>
            <a:spLocks noGrp="1" noChangeArrowheads="1"/>
          </p:cNvSpPr>
          <p:nvPr>
            <p:ph type="sldNum" sz="quarter" idx="4"/>
          </p:nvPr>
        </p:nvSpPr>
        <p:spPr bwMode="auto">
          <a:xfrm>
            <a:off x="6946900" y="6373813"/>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a:solidFill>
                  <a:srgbClr val="000000"/>
                </a:solidFill>
                <a:latin typeface="Garamond" panose="02020404030301010803" pitchFamily="18" charset="0"/>
              </a:defRPr>
            </a:lvl1pPr>
          </a:lstStyle>
          <a:p>
            <a:pPr>
              <a:defRPr/>
            </a:pPr>
            <a:fld id="{6A6BA0A0-A7BE-4DC4-A1D2-67560873BDCE}" type="slidenum">
              <a:rPr lang="en-US" altLang="en-US"/>
              <a:pPr>
                <a:defRPr/>
              </a:pPr>
              <a:t>‹#›</a:t>
            </a:fld>
            <a:endParaRPr lang="en-US" altLang="en-US"/>
          </a:p>
        </p:txBody>
      </p:sp>
      <p:sp>
        <p:nvSpPr>
          <p:cNvPr id="2054" name="Line 1032">
            <a:extLst>
              <a:ext uri="{FF2B5EF4-FFF2-40B4-BE49-F238E27FC236}">
                <a16:creationId xmlns:a16="http://schemas.microsoft.com/office/drawing/2014/main" id="{B2BA4185-DAF2-4408-906B-C503302DE471}"/>
              </a:ext>
            </a:extLst>
          </p:cNvPr>
          <p:cNvSpPr>
            <a:spLocks noChangeShapeType="1"/>
          </p:cNvSpPr>
          <p:nvPr/>
        </p:nvSpPr>
        <p:spPr bwMode="auto">
          <a:xfrm>
            <a:off x="228600" y="6446838"/>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5" name="Line 1033">
            <a:extLst>
              <a:ext uri="{FF2B5EF4-FFF2-40B4-BE49-F238E27FC236}">
                <a16:creationId xmlns:a16="http://schemas.microsoft.com/office/drawing/2014/main" id="{BFB13A2A-7836-4554-BA73-7213A39EA284}"/>
              </a:ext>
            </a:extLst>
          </p:cNvPr>
          <p:cNvSpPr>
            <a:spLocks noChangeShapeType="1"/>
          </p:cNvSpPr>
          <p:nvPr userDrawn="1"/>
        </p:nvSpPr>
        <p:spPr bwMode="auto">
          <a:xfrm>
            <a:off x="228600" y="914400"/>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056" name="Picture 7" descr="safari.png">
            <a:extLst>
              <a:ext uri="{FF2B5EF4-FFF2-40B4-BE49-F238E27FC236}">
                <a16:creationId xmlns:a16="http://schemas.microsoft.com/office/drawing/2014/main" id="{1177FD16-61A1-4390-9ECA-67D35227FBA3}"/>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80975" y="6602413"/>
            <a:ext cx="8477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9271271"/>
      </p:ext>
    </p:extLst>
  </p:cSld>
  <p:clrMap bg1="lt1" tx1="dk1" bg2="lt2" tx2="dk2" accent1="accent1" accent2="accent2" accent3="accent3" accent4="accent4" accent5="accent5" accent6="accent6" hlink="hlink" folHlink="folHlink"/>
  <p:sldLayoutIdLst>
    <p:sldLayoutId id="2147484416" r:id="rId1"/>
    <p:sldLayoutId id="2147484417" r:id="rId2"/>
    <p:sldLayoutId id="2147484418" r:id="rId3"/>
    <p:sldLayoutId id="2147484419" r:id="rId4"/>
    <p:sldLayoutId id="2147484420" r:id="rId5"/>
    <p:sldLayoutId id="2147484421" r:id="rId6"/>
    <p:sldLayoutId id="2147484422" r:id="rId7"/>
    <p:sldLayoutId id="2147484423" r:id="rId8"/>
    <p:sldLayoutId id="2147484424" r:id="rId9"/>
    <p:sldLayoutId id="2147484425" r:id="rId10"/>
    <p:sldLayoutId id="2147484426" r:id="rId11"/>
    <p:sldLayoutId id="2147484427"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pitchFamily="-106" charset="-128"/>
          <a:cs typeface="ＭＳ Ｐゴシック" pitchFamily="-106" charset="-128"/>
        </a:defRPr>
      </a:lvl1pPr>
      <a:lvl2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2pPr>
      <a:lvl3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3pPr>
      <a:lvl4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4pPr>
      <a:lvl5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5pPr>
      <a:lvl6pPr marL="457200" algn="l" rtl="0" fontAlgn="base">
        <a:spcBef>
          <a:spcPct val="0"/>
        </a:spcBef>
        <a:spcAft>
          <a:spcPct val="0"/>
        </a:spcAft>
        <a:defRPr sz="4000">
          <a:solidFill>
            <a:schemeClr val="tx2"/>
          </a:solidFill>
          <a:latin typeface="Garamond" pitchFamily="-106" charset="0"/>
        </a:defRPr>
      </a:lvl6pPr>
      <a:lvl7pPr marL="914400" algn="l" rtl="0" fontAlgn="base">
        <a:spcBef>
          <a:spcPct val="0"/>
        </a:spcBef>
        <a:spcAft>
          <a:spcPct val="0"/>
        </a:spcAft>
        <a:defRPr sz="4000">
          <a:solidFill>
            <a:schemeClr val="tx2"/>
          </a:solidFill>
          <a:latin typeface="Garamond" pitchFamily="-106" charset="0"/>
        </a:defRPr>
      </a:lvl7pPr>
      <a:lvl8pPr marL="1371600" algn="l" rtl="0" fontAlgn="base">
        <a:spcBef>
          <a:spcPct val="0"/>
        </a:spcBef>
        <a:spcAft>
          <a:spcPct val="0"/>
        </a:spcAft>
        <a:defRPr sz="4000">
          <a:solidFill>
            <a:schemeClr val="tx2"/>
          </a:solidFill>
          <a:latin typeface="Garamond" pitchFamily="-106" charset="0"/>
        </a:defRPr>
      </a:lvl8pPr>
      <a:lvl9pPr marL="1828800" algn="l" rtl="0" fontAlgn="base">
        <a:spcBef>
          <a:spcPct val="0"/>
        </a:spcBef>
        <a:spcAft>
          <a:spcPct val="0"/>
        </a:spcAft>
        <a:defRPr sz="4000">
          <a:solidFill>
            <a:schemeClr val="tx2"/>
          </a:solidFill>
          <a:latin typeface="Garamond" pitchFamily="-106"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a:solidFill>
            <a:schemeClr val="tx1"/>
          </a:solidFill>
          <a:latin typeface="+mn-lt"/>
          <a:ea typeface="ＭＳ Ｐゴシック" pitchFamily="-106" charset="-128"/>
          <a:cs typeface="ＭＳ Ｐゴシック" pitchFamily="-106" charset="-128"/>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6pPr>
      <a:lvl7pPr marL="25955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7pPr>
      <a:lvl8pPr marL="30527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8pPr>
      <a:lvl9pPr marL="35099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8.emf"/><Relationship Id="rId1" Type="http://schemas.openxmlformats.org/officeDocument/2006/relationships/slideLayout" Target="../slideLayouts/slideLayout38.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8.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8" Type="http://schemas.openxmlformats.org/officeDocument/2006/relationships/notesSlide" Target="../notesSlides/notesSlide11.xml"/><Relationship Id="rId13" Type="http://schemas.openxmlformats.org/officeDocument/2006/relationships/image" Target="../media/image32.png"/><Relationship Id="rId3" Type="http://schemas.openxmlformats.org/officeDocument/2006/relationships/tags" Target="../tags/tag4.xml"/><Relationship Id="rId7" Type="http://schemas.openxmlformats.org/officeDocument/2006/relationships/slideLayout" Target="../slideLayouts/slideLayout26.xml"/><Relationship Id="rId12" Type="http://schemas.openxmlformats.org/officeDocument/2006/relationships/image" Target="../media/image31.png"/><Relationship Id="rId2" Type="http://schemas.openxmlformats.org/officeDocument/2006/relationships/tags" Target="../tags/tag3.xml"/><Relationship Id="rId1" Type="http://schemas.openxmlformats.org/officeDocument/2006/relationships/vmlDrawing" Target="../drawings/vmlDrawing1.vml"/><Relationship Id="rId6" Type="http://schemas.openxmlformats.org/officeDocument/2006/relationships/tags" Target="../tags/tag7.xml"/><Relationship Id="rId11" Type="http://schemas.openxmlformats.org/officeDocument/2006/relationships/image" Target="../media/image30.png"/><Relationship Id="rId5" Type="http://schemas.openxmlformats.org/officeDocument/2006/relationships/tags" Target="../tags/tag6.xml"/><Relationship Id="rId10" Type="http://schemas.openxmlformats.org/officeDocument/2006/relationships/image" Target="../media/image29.wmf"/><Relationship Id="rId4" Type="http://schemas.openxmlformats.org/officeDocument/2006/relationships/tags" Target="../tags/tag5.xml"/><Relationship Id="rId9" Type="http://schemas.openxmlformats.org/officeDocument/2006/relationships/oleObject" Target="../embeddings/oleObject1.bin"/><Relationship Id="rId14"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a:extLst>
              <a:ext uri="{FF2B5EF4-FFF2-40B4-BE49-F238E27FC236}">
                <a16:creationId xmlns:a16="http://schemas.microsoft.com/office/drawing/2014/main" id="{449D8DDE-B114-874A-8B5A-CE4E2F84BF76}"/>
              </a:ext>
            </a:extLst>
          </p:cNvPr>
          <p:cNvSpPr>
            <a:spLocks noGrp="1" noChangeArrowheads="1"/>
          </p:cNvSpPr>
          <p:nvPr>
            <p:ph type="ctrTitle"/>
          </p:nvPr>
        </p:nvSpPr>
        <p:spPr>
          <a:xfrm>
            <a:off x="228600" y="381000"/>
            <a:ext cx="8686800" cy="1720850"/>
          </a:xfrm>
        </p:spPr>
        <p:txBody>
          <a:bodyPr/>
          <a:lstStyle/>
          <a:p>
            <a:pPr algn="ctr" eaLnBrk="1" hangingPunct="1"/>
            <a:br>
              <a:rPr lang="en-US" altLang="en-US" dirty="0">
                <a:ea typeface="ＭＳ Ｐゴシック" panose="020B0600070205080204" pitchFamily="34" charset="-128"/>
              </a:rPr>
            </a:br>
            <a:r>
              <a:rPr lang="en-US" altLang="en-US" sz="4500" b="1" dirty="0">
                <a:ea typeface="ＭＳ Ｐゴシック" panose="020B0600070205080204" pitchFamily="34" charset="-128"/>
              </a:rPr>
              <a:t>Computer Arch. &amp; AI Chip</a:t>
            </a:r>
            <a:br>
              <a:rPr lang="en-US" altLang="en-US" sz="4500" b="1" dirty="0">
                <a:ea typeface="ＭＳ Ｐゴシック" panose="020B0600070205080204" pitchFamily="34" charset="-128"/>
              </a:rPr>
            </a:br>
            <a:br>
              <a:rPr lang="en-US" altLang="en-US" sz="1000" b="1" dirty="0">
                <a:ea typeface="ＭＳ Ｐゴシック" panose="020B0600070205080204" pitchFamily="34" charset="-128"/>
              </a:rPr>
            </a:br>
            <a:r>
              <a:rPr lang="en-US" altLang="en-US" sz="4300" dirty="0">
                <a:solidFill>
                  <a:srgbClr val="C00000"/>
                </a:solidFill>
                <a:ea typeface="ＭＳ Ｐゴシック" panose="020B0600070205080204" pitchFamily="34" charset="-128"/>
              </a:rPr>
              <a:t>Lecture 8: Memory Hierarchy </a:t>
            </a:r>
            <a:br>
              <a:rPr lang="en-US" altLang="en-US" sz="4300" dirty="0">
                <a:solidFill>
                  <a:srgbClr val="C00000"/>
                </a:solidFill>
                <a:ea typeface="ＭＳ Ｐゴシック" panose="020B0600070205080204" pitchFamily="34" charset="-128"/>
              </a:rPr>
            </a:br>
            <a:r>
              <a:rPr lang="en-US" altLang="en-US" sz="4300" dirty="0">
                <a:solidFill>
                  <a:srgbClr val="C00000"/>
                </a:solidFill>
                <a:ea typeface="ＭＳ Ｐゴシック" panose="020B0600070205080204" pitchFamily="34" charset="-128"/>
              </a:rPr>
              <a:t>and Caches</a:t>
            </a:r>
          </a:p>
        </p:txBody>
      </p:sp>
      <p:sp>
        <p:nvSpPr>
          <p:cNvPr id="22530" name="Rectangle 5">
            <a:extLst>
              <a:ext uri="{FF2B5EF4-FFF2-40B4-BE49-F238E27FC236}">
                <a16:creationId xmlns:a16="http://schemas.microsoft.com/office/drawing/2014/main" id="{435E454D-D444-0541-B91A-9C35CDC08D6C}"/>
              </a:ext>
            </a:extLst>
          </p:cNvPr>
          <p:cNvSpPr>
            <a:spLocks noGrp="1" noChangeArrowheads="1"/>
          </p:cNvSpPr>
          <p:nvPr>
            <p:ph type="subTitle" idx="1"/>
          </p:nvPr>
        </p:nvSpPr>
        <p:spPr>
          <a:xfrm>
            <a:off x="685800" y="3581400"/>
            <a:ext cx="7848600" cy="2900363"/>
          </a:xfrm>
        </p:spPr>
        <p:txBody>
          <a:bodyPr/>
          <a:lstStyle/>
          <a:p>
            <a:pPr eaLnBrk="1" hangingPunct="1"/>
            <a:endParaRPr lang="en-US" altLang="en-US" dirty="0">
              <a:solidFill>
                <a:srgbClr val="003399"/>
              </a:solidFill>
              <a:ea typeface="ＭＳ Ｐゴシック" panose="020B0600070205080204" pitchFamily="34" charset="-128"/>
            </a:endParaRPr>
          </a:p>
          <a:p>
            <a:pPr eaLnBrk="1" hangingPunct="1"/>
            <a:r>
              <a:rPr lang="en-US" altLang="en-US" sz="2800" dirty="0">
                <a:solidFill>
                  <a:srgbClr val="003399"/>
                </a:solidFill>
                <a:ea typeface="ＭＳ Ｐゴシック" panose="020B0600070205080204" pitchFamily="34" charset="-128"/>
              </a:rPr>
              <a:t>Prof. </a:t>
            </a:r>
            <a:r>
              <a:rPr lang="en-US" altLang="zh-CN" sz="2800" dirty="0">
                <a:solidFill>
                  <a:srgbClr val="003399"/>
                </a:solidFill>
                <a:ea typeface="ＭＳ Ｐゴシック" panose="020B0600070205080204" pitchFamily="34" charset="-128"/>
              </a:rPr>
              <a:t>Zeke Wang</a:t>
            </a:r>
            <a:endParaRPr lang="en-US" altLang="en-US" sz="2800" dirty="0">
              <a:solidFill>
                <a:srgbClr val="003399"/>
              </a:solidFill>
              <a:ea typeface="ＭＳ Ｐゴシック" panose="020B0600070205080204" pitchFamily="34" charset="-128"/>
            </a:endParaRPr>
          </a:p>
          <a:p>
            <a:pPr eaLnBrk="1" hangingPunct="1"/>
            <a:endParaRPr lang="en-US" altLang="en-US" sz="2800" dirty="0">
              <a:solidFill>
                <a:srgbClr val="003399"/>
              </a:solidFill>
              <a:ea typeface="ＭＳ Ｐゴシック" panose="020B0600070205080204" pitchFamily="34" charset="-128"/>
            </a:endParaRPr>
          </a:p>
          <a:p>
            <a:pPr eaLnBrk="1" hangingPunct="1"/>
            <a:r>
              <a:rPr lang="en-US" altLang="en-US" dirty="0">
                <a:ea typeface="ＭＳ Ｐゴシック" panose="020B0600070205080204" pitchFamily="34" charset="-128"/>
              </a:rPr>
              <a:t>Zhejiang University</a:t>
            </a:r>
          </a:p>
          <a:p>
            <a:pPr eaLnBrk="1" hangingPunct="1"/>
            <a:r>
              <a:rPr lang="en-US" altLang="en-US">
                <a:ea typeface="ＭＳ Ｐゴシック" panose="020B0600070205080204" pitchFamily="34" charset="-128"/>
              </a:rPr>
              <a:t>23 </a:t>
            </a:r>
            <a:r>
              <a:rPr lang="en-US" altLang="en-US" dirty="0">
                <a:ea typeface="ＭＳ Ｐゴシック" panose="020B0600070205080204" pitchFamily="34" charset="-128"/>
              </a:rPr>
              <a:t>April 2026</a:t>
            </a: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70464549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BD9C82C-F0B5-4A4B-BCA7-11F88EDA05B4}"/>
              </a:ext>
            </a:extLst>
          </p:cNvPr>
          <p:cNvSpPr>
            <a:spLocks noGrp="1"/>
          </p:cNvSpPr>
          <p:nvPr>
            <p:ph type="title"/>
          </p:nvPr>
        </p:nvSpPr>
        <p:spPr>
          <a:xfrm>
            <a:off x="-84680" y="264224"/>
            <a:ext cx="9525282" cy="1066800"/>
          </a:xfrm>
        </p:spPr>
        <p:txBody>
          <a:bodyPr/>
          <a:lstStyle/>
          <a:p>
            <a:r>
              <a:rPr lang="en-US" altLang="en-US" sz="2800" dirty="0">
                <a:ea typeface="ＭＳ Ｐゴシック" panose="020B0600070205080204" pitchFamily="34" charset="-128"/>
              </a:rPr>
              <a:t>Recall: GPU Programming Model vs. Hardware Execution Model</a:t>
            </a:r>
          </a:p>
        </p:txBody>
      </p:sp>
      <p:sp>
        <p:nvSpPr>
          <p:cNvPr id="48131" name="Slide Number Placeholder 3">
            <a:extLst>
              <a:ext uri="{FF2B5EF4-FFF2-40B4-BE49-F238E27FC236}">
                <a16:creationId xmlns:a16="http://schemas.microsoft.com/office/drawing/2014/main" id="{87C60E1E-8D42-434B-A93F-E05A2BC4ED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C74429-DF7E-2044-ADB1-24FE678BCAB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矩形 1">
            <a:extLst>
              <a:ext uri="{FF2B5EF4-FFF2-40B4-BE49-F238E27FC236}">
                <a16:creationId xmlns:a16="http://schemas.microsoft.com/office/drawing/2014/main" id="{8CEEACD0-A3BD-4B0B-A7F0-EB2BA96BA811}"/>
              </a:ext>
            </a:extLst>
          </p:cNvPr>
          <p:cNvSpPr/>
          <p:nvPr/>
        </p:nvSpPr>
        <p:spPr>
          <a:xfrm>
            <a:off x="533400" y="1252904"/>
            <a:ext cx="3461204" cy="400110"/>
          </a:xfrm>
          <a:prstGeom prst="rect">
            <a:avLst/>
          </a:prstGeom>
        </p:spPr>
        <p:txBody>
          <a:bodyPr wrap="none">
            <a:spAutoFit/>
          </a:bodyPr>
          <a:lstStyle/>
          <a:p>
            <a:r>
              <a:rPr lang="en-US" altLang="en-US" sz="2000" b="1" dirty="0">
                <a:solidFill>
                  <a:srgbClr val="0432FF"/>
                </a:solidFill>
              </a:rPr>
              <a:t>Hardware Execution Model</a:t>
            </a:r>
            <a:endParaRPr lang="zh-CN" altLang="en-US" sz="2000" b="1" dirty="0"/>
          </a:p>
        </p:txBody>
      </p:sp>
      <p:sp>
        <p:nvSpPr>
          <p:cNvPr id="4" name="矩形 3">
            <a:extLst>
              <a:ext uri="{FF2B5EF4-FFF2-40B4-BE49-F238E27FC236}">
                <a16:creationId xmlns:a16="http://schemas.microsoft.com/office/drawing/2014/main" id="{CFD28EF4-7A89-41B6-B14B-E7A6958D19AB}"/>
              </a:ext>
            </a:extLst>
          </p:cNvPr>
          <p:cNvSpPr/>
          <p:nvPr/>
        </p:nvSpPr>
        <p:spPr>
          <a:xfrm>
            <a:off x="5231131" y="1247350"/>
            <a:ext cx="3467744" cy="400110"/>
          </a:xfrm>
          <a:prstGeom prst="rect">
            <a:avLst/>
          </a:prstGeom>
        </p:spPr>
        <p:txBody>
          <a:bodyPr wrap="none">
            <a:spAutoFit/>
          </a:bodyPr>
          <a:lstStyle/>
          <a:p>
            <a:r>
              <a:rPr lang="en-US" altLang="en-US" sz="2000" b="1" dirty="0">
                <a:solidFill>
                  <a:srgbClr val="DA9100"/>
                </a:solidFill>
              </a:rPr>
              <a:t>CUDA Programming Model</a:t>
            </a:r>
            <a:endParaRPr lang="zh-CN" altLang="en-US" sz="2000" b="1" dirty="0">
              <a:solidFill>
                <a:srgbClr val="DA9100"/>
              </a:solidFill>
            </a:endParaRPr>
          </a:p>
        </p:txBody>
      </p:sp>
      <p:sp>
        <p:nvSpPr>
          <p:cNvPr id="6" name="矩形 5">
            <a:extLst>
              <a:ext uri="{FF2B5EF4-FFF2-40B4-BE49-F238E27FC236}">
                <a16:creationId xmlns:a16="http://schemas.microsoft.com/office/drawing/2014/main" id="{3B5FEB58-1294-4986-8FF5-01E6545A2605}"/>
              </a:ext>
            </a:extLst>
          </p:cNvPr>
          <p:cNvSpPr/>
          <p:nvPr/>
        </p:nvSpPr>
        <p:spPr>
          <a:xfrm>
            <a:off x="-76200" y="3715403"/>
            <a:ext cx="1676400" cy="646331"/>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Streaming</a:t>
            </a:r>
          </a:p>
          <a:p>
            <a:pPr algn="ctr"/>
            <a:r>
              <a:rPr lang="en-US" altLang="zh-CN" b="1" dirty="0">
                <a:solidFill>
                  <a:srgbClr val="0432FF"/>
                </a:solidFill>
                <a:latin typeface="Arial Narrow" panose="020B0606020202030204" pitchFamily="34" charset="0"/>
              </a:rPr>
              <a:t> Multi-processor</a:t>
            </a:r>
            <a:endParaRPr lang="zh-CN" altLang="en-US" b="1" dirty="0">
              <a:solidFill>
                <a:srgbClr val="0432FF"/>
              </a:solidFill>
              <a:latin typeface="Arial Narrow" panose="020B0606020202030204" pitchFamily="34" charset="0"/>
            </a:endParaRPr>
          </a:p>
        </p:txBody>
      </p:sp>
      <p:sp>
        <p:nvSpPr>
          <p:cNvPr id="7" name="矩形 6">
            <a:extLst>
              <a:ext uri="{FF2B5EF4-FFF2-40B4-BE49-F238E27FC236}">
                <a16:creationId xmlns:a16="http://schemas.microsoft.com/office/drawing/2014/main" id="{2F3F56EF-2141-4640-BCA7-87075AB4EDE8}"/>
              </a:ext>
            </a:extLst>
          </p:cNvPr>
          <p:cNvSpPr/>
          <p:nvPr/>
        </p:nvSpPr>
        <p:spPr>
          <a:xfrm>
            <a:off x="235882" y="2356341"/>
            <a:ext cx="595035" cy="369332"/>
          </a:xfrm>
          <a:prstGeom prst="rect">
            <a:avLst/>
          </a:prstGeom>
        </p:spPr>
        <p:txBody>
          <a:bodyPr wrap="none">
            <a:spAutoFit/>
          </a:bodyPr>
          <a:lstStyle/>
          <a:p>
            <a:r>
              <a:rPr lang="en-US" altLang="zh-CN" b="1" dirty="0">
                <a:solidFill>
                  <a:srgbClr val="0432FF"/>
                </a:solidFill>
                <a:latin typeface="Arial Narrow" panose="020B0606020202030204" pitchFamily="34" charset="0"/>
              </a:rPr>
              <a:t>GPU</a:t>
            </a:r>
            <a:endParaRPr lang="zh-CN" altLang="en-US" b="1" dirty="0"/>
          </a:p>
        </p:txBody>
      </p:sp>
      <p:sp>
        <p:nvSpPr>
          <p:cNvPr id="26" name="矩形 25">
            <a:extLst>
              <a:ext uri="{FF2B5EF4-FFF2-40B4-BE49-F238E27FC236}">
                <a16:creationId xmlns:a16="http://schemas.microsoft.com/office/drawing/2014/main" id="{6B7B3CA0-4903-4E20-B2D6-DB01A9A3B095}"/>
              </a:ext>
            </a:extLst>
          </p:cNvPr>
          <p:cNvSpPr/>
          <p:nvPr/>
        </p:nvSpPr>
        <p:spPr>
          <a:xfrm>
            <a:off x="-84680" y="5355014"/>
            <a:ext cx="1676400" cy="369332"/>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CUDA core</a:t>
            </a:r>
            <a:endParaRPr lang="zh-CN" altLang="en-US" b="1" dirty="0">
              <a:solidFill>
                <a:srgbClr val="0432FF"/>
              </a:solidFill>
              <a:latin typeface="Arial Narrow" panose="020B0606020202030204" pitchFamily="34" charset="0"/>
            </a:endParaRPr>
          </a:p>
        </p:txBody>
      </p:sp>
      <p:sp>
        <p:nvSpPr>
          <p:cNvPr id="29" name="矩形 28">
            <a:extLst>
              <a:ext uri="{FF2B5EF4-FFF2-40B4-BE49-F238E27FC236}">
                <a16:creationId xmlns:a16="http://schemas.microsoft.com/office/drawing/2014/main" id="{8457C965-2183-4857-BF96-A7811CAC1E02}"/>
              </a:ext>
            </a:extLst>
          </p:cNvPr>
          <p:cNvSpPr/>
          <p:nvPr/>
        </p:nvSpPr>
        <p:spPr>
          <a:xfrm>
            <a:off x="5103095" y="5324236"/>
            <a:ext cx="1040670" cy="400110"/>
          </a:xfrm>
          <a:prstGeom prst="rect">
            <a:avLst/>
          </a:prstGeom>
        </p:spPr>
        <p:txBody>
          <a:bodyPr wrap="none">
            <a:spAutoFit/>
          </a:bodyPr>
          <a:lstStyle/>
          <a:p>
            <a:r>
              <a:rPr lang="en-US" altLang="zh-CN" sz="2000" b="1" dirty="0">
                <a:solidFill>
                  <a:srgbClr val="DA9100"/>
                </a:solidFill>
              </a:rPr>
              <a:t>Thread</a:t>
            </a:r>
            <a:endParaRPr lang="zh-CN" altLang="en-US" sz="2000" b="1" dirty="0">
              <a:solidFill>
                <a:srgbClr val="DA9100"/>
              </a:solidFill>
            </a:endParaRPr>
          </a:p>
        </p:txBody>
      </p:sp>
      <p:sp>
        <p:nvSpPr>
          <p:cNvPr id="30" name="矩形 29">
            <a:extLst>
              <a:ext uri="{FF2B5EF4-FFF2-40B4-BE49-F238E27FC236}">
                <a16:creationId xmlns:a16="http://schemas.microsoft.com/office/drawing/2014/main" id="{4524620D-D2D5-49E6-A374-33D59F769410}"/>
              </a:ext>
            </a:extLst>
          </p:cNvPr>
          <p:cNvSpPr/>
          <p:nvPr/>
        </p:nvSpPr>
        <p:spPr>
          <a:xfrm>
            <a:off x="4541243" y="3874149"/>
            <a:ext cx="1781257" cy="400110"/>
          </a:xfrm>
          <a:prstGeom prst="rect">
            <a:avLst/>
          </a:prstGeom>
        </p:spPr>
        <p:txBody>
          <a:bodyPr wrap="none">
            <a:spAutoFit/>
          </a:bodyPr>
          <a:lstStyle/>
          <a:p>
            <a:r>
              <a:rPr lang="en-US" altLang="zh-CN" sz="2000" b="1" dirty="0">
                <a:solidFill>
                  <a:srgbClr val="DA9100"/>
                </a:solidFill>
              </a:rPr>
              <a:t>Thread block</a:t>
            </a:r>
            <a:endParaRPr lang="zh-CN" altLang="en-US" sz="2000" b="1" dirty="0">
              <a:solidFill>
                <a:srgbClr val="DA9100"/>
              </a:solidFill>
            </a:endParaRPr>
          </a:p>
        </p:txBody>
      </p:sp>
      <p:sp>
        <p:nvSpPr>
          <p:cNvPr id="34" name="矩形 33">
            <a:extLst>
              <a:ext uri="{FF2B5EF4-FFF2-40B4-BE49-F238E27FC236}">
                <a16:creationId xmlns:a16="http://schemas.microsoft.com/office/drawing/2014/main" id="{EF462E8C-B162-4637-87C7-FC355D4627E5}"/>
              </a:ext>
            </a:extLst>
          </p:cNvPr>
          <p:cNvSpPr/>
          <p:nvPr/>
        </p:nvSpPr>
        <p:spPr>
          <a:xfrm>
            <a:off x="5069444" y="2385681"/>
            <a:ext cx="710451" cy="400110"/>
          </a:xfrm>
          <a:prstGeom prst="rect">
            <a:avLst/>
          </a:prstGeom>
        </p:spPr>
        <p:txBody>
          <a:bodyPr wrap="none">
            <a:spAutoFit/>
          </a:bodyPr>
          <a:lstStyle/>
          <a:p>
            <a:r>
              <a:rPr lang="en-US" altLang="zh-CN" sz="2000" b="1" dirty="0">
                <a:solidFill>
                  <a:srgbClr val="DA9100"/>
                </a:solidFill>
              </a:rPr>
              <a:t>Grid</a:t>
            </a:r>
            <a:endParaRPr lang="zh-CN" altLang="en-US" sz="2000" b="1" dirty="0">
              <a:solidFill>
                <a:srgbClr val="DA9100"/>
              </a:solidFill>
            </a:endParaRPr>
          </a:p>
        </p:txBody>
      </p:sp>
      <p:sp>
        <p:nvSpPr>
          <p:cNvPr id="28" name="object 3">
            <a:extLst>
              <a:ext uri="{FF2B5EF4-FFF2-40B4-BE49-F238E27FC236}">
                <a16:creationId xmlns:a16="http://schemas.microsoft.com/office/drawing/2014/main" id="{9DBE948D-F8A9-4325-B41C-0C319648D331}"/>
              </a:ext>
            </a:extLst>
          </p:cNvPr>
          <p:cNvSpPr/>
          <p:nvPr/>
        </p:nvSpPr>
        <p:spPr>
          <a:xfrm>
            <a:off x="2141664" y="5467202"/>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sp>
        <p:nvSpPr>
          <p:cNvPr id="31" name="object 18">
            <a:extLst>
              <a:ext uri="{FF2B5EF4-FFF2-40B4-BE49-F238E27FC236}">
                <a16:creationId xmlns:a16="http://schemas.microsoft.com/office/drawing/2014/main" id="{8661DBCB-485C-429F-B659-BBE27F9AE3B3}"/>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solidFill>
            <a:srgbClr val="C0C0C0"/>
          </a:solidFill>
        </p:spPr>
        <p:txBody>
          <a:bodyPr wrap="square" lIns="0" tIns="0" rIns="0" bIns="0" rtlCol="0"/>
          <a:lstStyle/>
          <a:p>
            <a:endParaRPr/>
          </a:p>
        </p:txBody>
      </p:sp>
      <p:sp>
        <p:nvSpPr>
          <p:cNvPr id="32" name="object 19">
            <a:extLst>
              <a:ext uri="{FF2B5EF4-FFF2-40B4-BE49-F238E27FC236}">
                <a16:creationId xmlns:a16="http://schemas.microsoft.com/office/drawing/2014/main" id="{5BB3D1F9-521E-4E46-A355-0A55103D98D8}"/>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ln w="12700">
            <a:solidFill>
              <a:srgbClr val="000000"/>
            </a:solidFill>
          </a:ln>
        </p:spPr>
        <p:txBody>
          <a:bodyPr wrap="square" lIns="0" tIns="0" rIns="0" bIns="0" rtlCol="0"/>
          <a:lstStyle/>
          <a:p>
            <a:endParaRPr/>
          </a:p>
        </p:txBody>
      </p:sp>
      <p:sp>
        <p:nvSpPr>
          <p:cNvPr id="35" name="object 20">
            <a:extLst>
              <a:ext uri="{FF2B5EF4-FFF2-40B4-BE49-F238E27FC236}">
                <a16:creationId xmlns:a16="http://schemas.microsoft.com/office/drawing/2014/main" id="{411B5995-D6E8-4A38-AF86-C109A84992EA}"/>
              </a:ext>
            </a:extLst>
          </p:cNvPr>
          <p:cNvSpPr/>
          <p:nvPr/>
        </p:nvSpPr>
        <p:spPr>
          <a:xfrm>
            <a:off x="2093751" y="3598874"/>
            <a:ext cx="206248" cy="498855"/>
          </a:xfrm>
          <a:prstGeom prst="rect">
            <a:avLst/>
          </a:prstGeom>
          <a:blipFill>
            <a:blip r:embed="rId3" cstate="print"/>
            <a:stretch>
              <a:fillRect/>
            </a:stretch>
          </a:blipFill>
        </p:spPr>
        <p:txBody>
          <a:bodyPr wrap="square" lIns="0" tIns="0" rIns="0" bIns="0" rtlCol="0"/>
          <a:lstStyle/>
          <a:p>
            <a:endParaRPr/>
          </a:p>
        </p:txBody>
      </p:sp>
      <p:sp>
        <p:nvSpPr>
          <p:cNvPr id="36" name="object 21">
            <a:extLst>
              <a:ext uri="{FF2B5EF4-FFF2-40B4-BE49-F238E27FC236}">
                <a16:creationId xmlns:a16="http://schemas.microsoft.com/office/drawing/2014/main" id="{6B59889B-9CBA-4DDF-9BBF-1067279A0817}"/>
              </a:ext>
            </a:extLst>
          </p:cNvPr>
          <p:cNvSpPr/>
          <p:nvPr/>
        </p:nvSpPr>
        <p:spPr>
          <a:xfrm>
            <a:off x="2342163" y="3598874"/>
            <a:ext cx="206248" cy="498855"/>
          </a:xfrm>
          <a:prstGeom prst="rect">
            <a:avLst/>
          </a:prstGeom>
          <a:blipFill>
            <a:blip r:embed="rId3" cstate="print"/>
            <a:stretch>
              <a:fillRect/>
            </a:stretch>
          </a:blipFill>
        </p:spPr>
        <p:txBody>
          <a:bodyPr wrap="square" lIns="0" tIns="0" rIns="0" bIns="0" rtlCol="0"/>
          <a:lstStyle/>
          <a:p>
            <a:endParaRPr/>
          </a:p>
        </p:txBody>
      </p:sp>
      <p:sp>
        <p:nvSpPr>
          <p:cNvPr id="37" name="object 22">
            <a:extLst>
              <a:ext uri="{FF2B5EF4-FFF2-40B4-BE49-F238E27FC236}">
                <a16:creationId xmlns:a16="http://schemas.microsoft.com/office/drawing/2014/main" id="{9F7E869E-F569-4273-941E-41E3DD3666A5}"/>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solidFill>
            <a:srgbClr val="008080"/>
          </a:solidFill>
        </p:spPr>
        <p:txBody>
          <a:bodyPr wrap="square" lIns="0" tIns="0" rIns="0" bIns="0" rtlCol="0"/>
          <a:lstStyle/>
          <a:p>
            <a:endParaRPr/>
          </a:p>
        </p:txBody>
      </p:sp>
      <p:sp>
        <p:nvSpPr>
          <p:cNvPr id="38" name="object 23">
            <a:extLst>
              <a:ext uri="{FF2B5EF4-FFF2-40B4-BE49-F238E27FC236}">
                <a16:creationId xmlns:a16="http://schemas.microsoft.com/office/drawing/2014/main" id="{3B6E0AE9-1708-4840-995C-8B7556716EDA}"/>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ln w="12700">
            <a:solidFill>
              <a:srgbClr val="000000"/>
            </a:solidFill>
          </a:ln>
        </p:spPr>
        <p:txBody>
          <a:bodyPr wrap="square" lIns="0" tIns="0" rIns="0" bIns="0" rtlCol="0"/>
          <a:lstStyle/>
          <a:p>
            <a:endParaRPr/>
          </a:p>
        </p:txBody>
      </p:sp>
      <p:sp>
        <p:nvSpPr>
          <p:cNvPr id="39" name="object 24">
            <a:extLst>
              <a:ext uri="{FF2B5EF4-FFF2-40B4-BE49-F238E27FC236}">
                <a16:creationId xmlns:a16="http://schemas.microsoft.com/office/drawing/2014/main" id="{D29EB12E-337C-4528-9335-1BAF82546182}"/>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solidFill>
            <a:srgbClr val="99CC00"/>
          </a:solidFill>
        </p:spPr>
        <p:txBody>
          <a:bodyPr wrap="square" lIns="0" tIns="0" rIns="0" bIns="0" rtlCol="0"/>
          <a:lstStyle/>
          <a:p>
            <a:endParaRPr/>
          </a:p>
        </p:txBody>
      </p:sp>
      <p:sp>
        <p:nvSpPr>
          <p:cNvPr id="40" name="object 25">
            <a:extLst>
              <a:ext uri="{FF2B5EF4-FFF2-40B4-BE49-F238E27FC236}">
                <a16:creationId xmlns:a16="http://schemas.microsoft.com/office/drawing/2014/main" id="{580CA4CD-5D34-4305-8B88-0762803F6184}"/>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ln w="12700">
            <a:solidFill>
              <a:srgbClr val="000000"/>
            </a:solidFill>
          </a:ln>
        </p:spPr>
        <p:txBody>
          <a:bodyPr wrap="square" lIns="0" tIns="0" rIns="0" bIns="0" rtlCol="0"/>
          <a:lstStyle/>
          <a:p>
            <a:endParaRPr/>
          </a:p>
        </p:txBody>
      </p:sp>
      <p:sp>
        <p:nvSpPr>
          <p:cNvPr id="41" name="object 30">
            <a:extLst>
              <a:ext uri="{FF2B5EF4-FFF2-40B4-BE49-F238E27FC236}">
                <a16:creationId xmlns:a16="http://schemas.microsoft.com/office/drawing/2014/main" id="{B1BC3403-1854-4704-8BB5-98E00BAAF0C0}"/>
              </a:ext>
            </a:extLst>
          </p:cNvPr>
          <p:cNvSpPr/>
          <p:nvPr/>
        </p:nvSpPr>
        <p:spPr>
          <a:xfrm>
            <a:off x="1321464"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42" name="object 31">
            <a:extLst>
              <a:ext uri="{FF2B5EF4-FFF2-40B4-BE49-F238E27FC236}">
                <a16:creationId xmlns:a16="http://schemas.microsoft.com/office/drawing/2014/main" id="{2A79FC49-D5B9-4D5C-9B99-528823FC42D5}"/>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solidFill>
            <a:srgbClr val="C0C0C0"/>
          </a:solidFill>
        </p:spPr>
        <p:txBody>
          <a:bodyPr wrap="square" lIns="0" tIns="0" rIns="0" bIns="0" rtlCol="0"/>
          <a:lstStyle/>
          <a:p>
            <a:endParaRPr/>
          </a:p>
        </p:txBody>
      </p:sp>
      <p:sp>
        <p:nvSpPr>
          <p:cNvPr id="43" name="object 32">
            <a:extLst>
              <a:ext uri="{FF2B5EF4-FFF2-40B4-BE49-F238E27FC236}">
                <a16:creationId xmlns:a16="http://schemas.microsoft.com/office/drawing/2014/main" id="{DDC125F8-55ED-4EA8-B19F-2703B3D2D75B}"/>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ln w="12699">
            <a:solidFill>
              <a:srgbClr val="000000"/>
            </a:solidFill>
          </a:ln>
        </p:spPr>
        <p:txBody>
          <a:bodyPr wrap="square" lIns="0" tIns="0" rIns="0" bIns="0" rtlCol="0"/>
          <a:lstStyle/>
          <a:p>
            <a:endParaRPr/>
          </a:p>
        </p:txBody>
      </p:sp>
      <p:sp>
        <p:nvSpPr>
          <p:cNvPr id="44" name="object 33">
            <a:extLst>
              <a:ext uri="{FF2B5EF4-FFF2-40B4-BE49-F238E27FC236}">
                <a16:creationId xmlns:a16="http://schemas.microsoft.com/office/drawing/2014/main" id="{340CC6C5-DB86-4200-8C4F-541B19A5BA5D}"/>
              </a:ext>
            </a:extLst>
          </p:cNvPr>
          <p:cNvSpPr/>
          <p:nvPr/>
        </p:nvSpPr>
        <p:spPr>
          <a:xfrm>
            <a:off x="1382170" y="2352683"/>
            <a:ext cx="215392" cy="306831"/>
          </a:xfrm>
          <a:prstGeom prst="rect">
            <a:avLst/>
          </a:prstGeom>
          <a:blipFill>
            <a:blip r:embed="rId4" cstate="print"/>
            <a:stretch>
              <a:fillRect/>
            </a:stretch>
          </a:blipFill>
        </p:spPr>
        <p:txBody>
          <a:bodyPr wrap="square" lIns="0" tIns="0" rIns="0" bIns="0" rtlCol="0"/>
          <a:lstStyle/>
          <a:p>
            <a:endParaRPr/>
          </a:p>
        </p:txBody>
      </p:sp>
      <p:sp>
        <p:nvSpPr>
          <p:cNvPr id="45" name="object 34">
            <a:extLst>
              <a:ext uri="{FF2B5EF4-FFF2-40B4-BE49-F238E27FC236}">
                <a16:creationId xmlns:a16="http://schemas.microsoft.com/office/drawing/2014/main" id="{6506BF91-B353-41CD-95ED-EABD1B9DDEC0}"/>
              </a:ext>
            </a:extLst>
          </p:cNvPr>
          <p:cNvSpPr/>
          <p:nvPr/>
        </p:nvSpPr>
        <p:spPr>
          <a:xfrm>
            <a:off x="1388520" y="2718697"/>
            <a:ext cx="203200" cy="0"/>
          </a:xfrm>
          <a:custGeom>
            <a:avLst/>
            <a:gdLst/>
            <a:ahLst/>
            <a:cxnLst/>
            <a:rect l="l" t="t" r="r" b="b"/>
            <a:pathLst>
              <a:path w="203200">
                <a:moveTo>
                  <a:pt x="0" y="0"/>
                </a:moveTo>
                <a:lnTo>
                  <a:pt x="202692" y="0"/>
                </a:lnTo>
              </a:path>
            </a:pathLst>
          </a:custGeom>
          <a:ln w="60959">
            <a:solidFill>
              <a:srgbClr val="008080"/>
            </a:solidFill>
          </a:ln>
        </p:spPr>
        <p:txBody>
          <a:bodyPr wrap="square" lIns="0" tIns="0" rIns="0" bIns="0" rtlCol="0"/>
          <a:lstStyle/>
          <a:p>
            <a:endParaRPr/>
          </a:p>
        </p:txBody>
      </p:sp>
      <p:sp>
        <p:nvSpPr>
          <p:cNvPr id="46" name="object 35">
            <a:extLst>
              <a:ext uri="{FF2B5EF4-FFF2-40B4-BE49-F238E27FC236}">
                <a16:creationId xmlns:a16="http://schemas.microsoft.com/office/drawing/2014/main" id="{0030A1B3-3469-47E6-A486-49BFE726E378}"/>
              </a:ext>
            </a:extLst>
          </p:cNvPr>
          <p:cNvSpPr/>
          <p:nvPr/>
        </p:nvSpPr>
        <p:spPr>
          <a:xfrm>
            <a:off x="1388520" y="2688218"/>
            <a:ext cx="203200" cy="60960"/>
          </a:xfrm>
          <a:custGeom>
            <a:avLst/>
            <a:gdLst/>
            <a:ahLst/>
            <a:cxnLst/>
            <a:rect l="l" t="t" r="r" b="b"/>
            <a:pathLst>
              <a:path w="203200" h="60960">
                <a:moveTo>
                  <a:pt x="0" y="60959"/>
                </a:moveTo>
                <a:lnTo>
                  <a:pt x="202692" y="60959"/>
                </a:lnTo>
                <a:lnTo>
                  <a:pt x="202692" y="0"/>
                </a:lnTo>
                <a:lnTo>
                  <a:pt x="0" y="0"/>
                </a:lnTo>
                <a:lnTo>
                  <a:pt x="0" y="60959"/>
                </a:lnTo>
                <a:close/>
              </a:path>
            </a:pathLst>
          </a:custGeom>
          <a:ln w="12700">
            <a:solidFill>
              <a:srgbClr val="000000"/>
            </a:solidFill>
          </a:ln>
        </p:spPr>
        <p:txBody>
          <a:bodyPr wrap="square" lIns="0" tIns="0" rIns="0" bIns="0" rtlCol="0"/>
          <a:lstStyle/>
          <a:p>
            <a:endParaRPr/>
          </a:p>
        </p:txBody>
      </p:sp>
      <p:sp>
        <p:nvSpPr>
          <p:cNvPr id="47" name="object 36">
            <a:extLst>
              <a:ext uri="{FF2B5EF4-FFF2-40B4-BE49-F238E27FC236}">
                <a16:creationId xmlns:a16="http://schemas.microsoft.com/office/drawing/2014/main" id="{1AEBB4AD-0657-4A43-821E-D2336EFBEEAB}"/>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solidFill>
            <a:srgbClr val="99CC00"/>
          </a:solidFill>
        </p:spPr>
        <p:txBody>
          <a:bodyPr wrap="square" lIns="0" tIns="0" rIns="0" bIns="0" rtlCol="0"/>
          <a:lstStyle/>
          <a:p>
            <a:endParaRPr/>
          </a:p>
        </p:txBody>
      </p:sp>
      <p:sp>
        <p:nvSpPr>
          <p:cNvPr id="48" name="object 37">
            <a:extLst>
              <a:ext uri="{FF2B5EF4-FFF2-40B4-BE49-F238E27FC236}">
                <a16:creationId xmlns:a16="http://schemas.microsoft.com/office/drawing/2014/main" id="{81C03E1E-77D3-4C1E-98B2-5A33064C9B58}"/>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ln w="12700">
            <a:solidFill>
              <a:srgbClr val="000000"/>
            </a:solidFill>
          </a:ln>
        </p:spPr>
        <p:txBody>
          <a:bodyPr wrap="square" lIns="0" tIns="0" rIns="0" bIns="0" rtlCol="0"/>
          <a:lstStyle/>
          <a:p>
            <a:endParaRPr/>
          </a:p>
        </p:txBody>
      </p:sp>
      <p:sp>
        <p:nvSpPr>
          <p:cNvPr id="49" name="object 38">
            <a:extLst>
              <a:ext uri="{FF2B5EF4-FFF2-40B4-BE49-F238E27FC236}">
                <a16:creationId xmlns:a16="http://schemas.microsoft.com/office/drawing/2014/main" id="{7392AF96-BC5D-4219-A245-C7DAE6A9ACB9}"/>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0" name="object 39">
            <a:extLst>
              <a:ext uri="{FF2B5EF4-FFF2-40B4-BE49-F238E27FC236}">
                <a16:creationId xmlns:a16="http://schemas.microsoft.com/office/drawing/2014/main" id="{2DB0C2E5-A8C9-48DC-B6C9-E15CDCDD9274}"/>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1" name="object 40">
            <a:extLst>
              <a:ext uri="{FF2B5EF4-FFF2-40B4-BE49-F238E27FC236}">
                <a16:creationId xmlns:a16="http://schemas.microsoft.com/office/drawing/2014/main" id="{8E0BADFE-D0F4-4387-81D5-CA96702B4057}"/>
              </a:ext>
            </a:extLst>
          </p:cNvPr>
          <p:cNvSpPr/>
          <p:nvPr/>
        </p:nvSpPr>
        <p:spPr>
          <a:xfrm>
            <a:off x="1699161" y="2352683"/>
            <a:ext cx="215391" cy="306831"/>
          </a:xfrm>
          <a:prstGeom prst="rect">
            <a:avLst/>
          </a:prstGeom>
          <a:blipFill>
            <a:blip r:embed="rId5" cstate="print"/>
            <a:stretch>
              <a:fillRect/>
            </a:stretch>
          </a:blipFill>
        </p:spPr>
        <p:txBody>
          <a:bodyPr wrap="square" lIns="0" tIns="0" rIns="0" bIns="0" rtlCol="0"/>
          <a:lstStyle/>
          <a:p>
            <a:endParaRPr/>
          </a:p>
        </p:txBody>
      </p:sp>
      <p:sp>
        <p:nvSpPr>
          <p:cNvPr id="52" name="object 41">
            <a:extLst>
              <a:ext uri="{FF2B5EF4-FFF2-40B4-BE49-F238E27FC236}">
                <a16:creationId xmlns:a16="http://schemas.microsoft.com/office/drawing/2014/main" id="{2C4E8090-4BC5-4B4E-89F0-D6FC71BAC396}"/>
              </a:ext>
            </a:extLst>
          </p:cNvPr>
          <p:cNvSpPr/>
          <p:nvPr/>
        </p:nvSpPr>
        <p:spPr>
          <a:xfrm>
            <a:off x="1705511" y="2718697"/>
            <a:ext cx="203200" cy="0"/>
          </a:xfrm>
          <a:custGeom>
            <a:avLst/>
            <a:gdLst/>
            <a:ahLst/>
            <a:cxnLst/>
            <a:rect l="l" t="t" r="r" b="b"/>
            <a:pathLst>
              <a:path w="203200">
                <a:moveTo>
                  <a:pt x="0" y="0"/>
                </a:moveTo>
                <a:lnTo>
                  <a:pt x="202691" y="0"/>
                </a:lnTo>
              </a:path>
            </a:pathLst>
          </a:custGeom>
          <a:ln w="60959">
            <a:solidFill>
              <a:srgbClr val="008080"/>
            </a:solidFill>
          </a:ln>
        </p:spPr>
        <p:txBody>
          <a:bodyPr wrap="square" lIns="0" tIns="0" rIns="0" bIns="0" rtlCol="0"/>
          <a:lstStyle/>
          <a:p>
            <a:endParaRPr/>
          </a:p>
        </p:txBody>
      </p:sp>
      <p:sp>
        <p:nvSpPr>
          <p:cNvPr id="53" name="object 42">
            <a:extLst>
              <a:ext uri="{FF2B5EF4-FFF2-40B4-BE49-F238E27FC236}">
                <a16:creationId xmlns:a16="http://schemas.microsoft.com/office/drawing/2014/main" id="{EF7911FE-59DF-4C84-8E5C-A58BC6F33559}"/>
              </a:ext>
            </a:extLst>
          </p:cNvPr>
          <p:cNvSpPr/>
          <p:nvPr/>
        </p:nvSpPr>
        <p:spPr>
          <a:xfrm>
            <a:off x="1705511" y="2688218"/>
            <a:ext cx="203200" cy="60960"/>
          </a:xfrm>
          <a:custGeom>
            <a:avLst/>
            <a:gdLst/>
            <a:ahLst/>
            <a:cxnLst/>
            <a:rect l="l" t="t" r="r" b="b"/>
            <a:pathLst>
              <a:path w="203200" h="60960">
                <a:moveTo>
                  <a:pt x="0" y="60959"/>
                </a:moveTo>
                <a:lnTo>
                  <a:pt x="202691" y="60959"/>
                </a:lnTo>
                <a:lnTo>
                  <a:pt x="202691" y="0"/>
                </a:lnTo>
                <a:lnTo>
                  <a:pt x="0" y="0"/>
                </a:lnTo>
                <a:lnTo>
                  <a:pt x="0" y="60959"/>
                </a:lnTo>
                <a:close/>
              </a:path>
            </a:pathLst>
          </a:custGeom>
          <a:ln w="12700">
            <a:solidFill>
              <a:srgbClr val="000000"/>
            </a:solidFill>
          </a:ln>
        </p:spPr>
        <p:txBody>
          <a:bodyPr wrap="square" lIns="0" tIns="0" rIns="0" bIns="0" rtlCol="0"/>
          <a:lstStyle/>
          <a:p>
            <a:endParaRPr/>
          </a:p>
        </p:txBody>
      </p:sp>
      <p:sp>
        <p:nvSpPr>
          <p:cNvPr id="54" name="object 43">
            <a:extLst>
              <a:ext uri="{FF2B5EF4-FFF2-40B4-BE49-F238E27FC236}">
                <a16:creationId xmlns:a16="http://schemas.microsoft.com/office/drawing/2014/main" id="{E9ACD4BC-1671-4A8B-95FE-2276DA69D2B1}"/>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solidFill>
            <a:srgbClr val="99CC00"/>
          </a:solidFill>
        </p:spPr>
        <p:txBody>
          <a:bodyPr wrap="square" lIns="0" tIns="0" rIns="0" bIns="0" rtlCol="0"/>
          <a:lstStyle/>
          <a:p>
            <a:endParaRPr/>
          </a:p>
        </p:txBody>
      </p:sp>
      <p:sp>
        <p:nvSpPr>
          <p:cNvPr id="55" name="object 44">
            <a:extLst>
              <a:ext uri="{FF2B5EF4-FFF2-40B4-BE49-F238E27FC236}">
                <a16:creationId xmlns:a16="http://schemas.microsoft.com/office/drawing/2014/main" id="{27311ACB-22A2-4EB7-8A6F-2079753D537B}"/>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ln w="12699">
            <a:solidFill>
              <a:srgbClr val="000000"/>
            </a:solidFill>
          </a:ln>
        </p:spPr>
        <p:txBody>
          <a:bodyPr wrap="square" lIns="0" tIns="0" rIns="0" bIns="0" rtlCol="0"/>
          <a:lstStyle/>
          <a:p>
            <a:endParaRPr/>
          </a:p>
        </p:txBody>
      </p:sp>
      <p:sp>
        <p:nvSpPr>
          <p:cNvPr id="56" name="object 45">
            <a:extLst>
              <a:ext uri="{FF2B5EF4-FFF2-40B4-BE49-F238E27FC236}">
                <a16:creationId xmlns:a16="http://schemas.microsoft.com/office/drawing/2014/main" id="{D530E734-791E-46B1-BC43-760E18DB4F8C}"/>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7" name="object 46">
            <a:extLst>
              <a:ext uri="{FF2B5EF4-FFF2-40B4-BE49-F238E27FC236}">
                <a16:creationId xmlns:a16="http://schemas.microsoft.com/office/drawing/2014/main" id="{BD61124D-A762-4F19-89A0-23759B597B88}"/>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8" name="object 47">
            <a:extLst>
              <a:ext uri="{FF2B5EF4-FFF2-40B4-BE49-F238E27FC236}">
                <a16:creationId xmlns:a16="http://schemas.microsoft.com/office/drawing/2014/main" id="{83747953-5D3D-4E9A-A6BD-0F82E33A5289}"/>
              </a:ext>
            </a:extLst>
          </p:cNvPr>
          <p:cNvSpPr/>
          <p:nvPr/>
        </p:nvSpPr>
        <p:spPr>
          <a:xfrm>
            <a:off x="2016153" y="2352683"/>
            <a:ext cx="216915" cy="306831"/>
          </a:xfrm>
          <a:prstGeom prst="rect">
            <a:avLst/>
          </a:prstGeom>
          <a:blipFill>
            <a:blip r:embed="rId6" cstate="print"/>
            <a:stretch>
              <a:fillRect/>
            </a:stretch>
          </a:blipFill>
        </p:spPr>
        <p:txBody>
          <a:bodyPr wrap="square" lIns="0" tIns="0" rIns="0" bIns="0" rtlCol="0"/>
          <a:lstStyle/>
          <a:p>
            <a:endParaRPr/>
          </a:p>
        </p:txBody>
      </p:sp>
      <p:sp>
        <p:nvSpPr>
          <p:cNvPr id="59" name="object 48">
            <a:extLst>
              <a:ext uri="{FF2B5EF4-FFF2-40B4-BE49-F238E27FC236}">
                <a16:creationId xmlns:a16="http://schemas.microsoft.com/office/drawing/2014/main" id="{D60C8DC6-8F7D-468E-BCA5-7875E163DEA1}"/>
              </a:ext>
            </a:extLst>
          </p:cNvPr>
          <p:cNvSpPr/>
          <p:nvPr/>
        </p:nvSpPr>
        <p:spPr>
          <a:xfrm>
            <a:off x="2022503"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60" name="object 49">
            <a:extLst>
              <a:ext uri="{FF2B5EF4-FFF2-40B4-BE49-F238E27FC236}">
                <a16:creationId xmlns:a16="http://schemas.microsoft.com/office/drawing/2014/main" id="{BDECA0A1-EC8E-47EA-A9EC-44D72E087271}"/>
              </a:ext>
            </a:extLst>
          </p:cNvPr>
          <p:cNvSpPr/>
          <p:nvPr/>
        </p:nvSpPr>
        <p:spPr>
          <a:xfrm>
            <a:off x="2022503"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61" name="object 50">
            <a:extLst>
              <a:ext uri="{FF2B5EF4-FFF2-40B4-BE49-F238E27FC236}">
                <a16:creationId xmlns:a16="http://schemas.microsoft.com/office/drawing/2014/main" id="{C741714A-21A5-4896-9554-0BA48856018F}"/>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62" name="object 51">
            <a:extLst>
              <a:ext uri="{FF2B5EF4-FFF2-40B4-BE49-F238E27FC236}">
                <a16:creationId xmlns:a16="http://schemas.microsoft.com/office/drawing/2014/main" id="{3A77F2D0-EF43-4380-9F59-4D83146476BD}"/>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63" name="object 52">
            <a:extLst>
              <a:ext uri="{FF2B5EF4-FFF2-40B4-BE49-F238E27FC236}">
                <a16:creationId xmlns:a16="http://schemas.microsoft.com/office/drawing/2014/main" id="{1FC2A844-46BF-44EC-80CF-AD07B962F878}"/>
              </a:ext>
            </a:extLst>
          </p:cNvPr>
          <p:cNvSpPr/>
          <p:nvPr/>
        </p:nvSpPr>
        <p:spPr>
          <a:xfrm>
            <a:off x="2339496"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64" name="object 53">
            <a:extLst>
              <a:ext uri="{FF2B5EF4-FFF2-40B4-BE49-F238E27FC236}">
                <a16:creationId xmlns:a16="http://schemas.microsoft.com/office/drawing/2014/main" id="{83E65D72-E6AD-4B19-A608-0D5E0764B2FF}"/>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65" name="object 54">
            <a:extLst>
              <a:ext uri="{FF2B5EF4-FFF2-40B4-BE49-F238E27FC236}">
                <a16:creationId xmlns:a16="http://schemas.microsoft.com/office/drawing/2014/main" id="{9B888C14-9CF7-4C4F-8C0B-DB020E1291B0}"/>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66" name="object 55">
            <a:extLst>
              <a:ext uri="{FF2B5EF4-FFF2-40B4-BE49-F238E27FC236}">
                <a16:creationId xmlns:a16="http://schemas.microsoft.com/office/drawing/2014/main" id="{9663AE60-4929-4FE2-A7C6-93E92A3DAE11}"/>
              </a:ext>
            </a:extLst>
          </p:cNvPr>
          <p:cNvSpPr/>
          <p:nvPr/>
        </p:nvSpPr>
        <p:spPr>
          <a:xfrm>
            <a:off x="2400202" y="2352683"/>
            <a:ext cx="213867" cy="306831"/>
          </a:xfrm>
          <a:prstGeom prst="rect">
            <a:avLst/>
          </a:prstGeom>
          <a:blipFill>
            <a:blip r:embed="rId7" cstate="print"/>
            <a:stretch>
              <a:fillRect/>
            </a:stretch>
          </a:blipFill>
        </p:spPr>
        <p:txBody>
          <a:bodyPr wrap="square" lIns="0" tIns="0" rIns="0" bIns="0" rtlCol="0"/>
          <a:lstStyle/>
          <a:p>
            <a:endParaRPr/>
          </a:p>
        </p:txBody>
      </p:sp>
      <p:sp>
        <p:nvSpPr>
          <p:cNvPr id="67" name="object 56">
            <a:extLst>
              <a:ext uri="{FF2B5EF4-FFF2-40B4-BE49-F238E27FC236}">
                <a16:creationId xmlns:a16="http://schemas.microsoft.com/office/drawing/2014/main" id="{9A81110C-A665-4210-9A43-1F6D3CD4C5CC}"/>
              </a:ext>
            </a:extLst>
          </p:cNvPr>
          <p:cNvSpPr/>
          <p:nvPr/>
        </p:nvSpPr>
        <p:spPr>
          <a:xfrm>
            <a:off x="2406552" y="2718697"/>
            <a:ext cx="201295" cy="0"/>
          </a:xfrm>
          <a:custGeom>
            <a:avLst/>
            <a:gdLst/>
            <a:ahLst/>
            <a:cxnLst/>
            <a:rect l="l" t="t" r="r" b="b"/>
            <a:pathLst>
              <a:path w="201295">
                <a:moveTo>
                  <a:pt x="0" y="0"/>
                </a:moveTo>
                <a:lnTo>
                  <a:pt x="201167" y="0"/>
                </a:lnTo>
              </a:path>
            </a:pathLst>
          </a:custGeom>
          <a:ln w="60959">
            <a:solidFill>
              <a:srgbClr val="008080"/>
            </a:solidFill>
          </a:ln>
        </p:spPr>
        <p:txBody>
          <a:bodyPr wrap="square" lIns="0" tIns="0" rIns="0" bIns="0" rtlCol="0"/>
          <a:lstStyle/>
          <a:p>
            <a:endParaRPr/>
          </a:p>
        </p:txBody>
      </p:sp>
      <p:sp>
        <p:nvSpPr>
          <p:cNvPr id="68" name="object 57">
            <a:extLst>
              <a:ext uri="{FF2B5EF4-FFF2-40B4-BE49-F238E27FC236}">
                <a16:creationId xmlns:a16="http://schemas.microsoft.com/office/drawing/2014/main" id="{85C10D6F-2AFE-4C4C-A38B-11E756F7DFF1}"/>
              </a:ext>
            </a:extLst>
          </p:cNvPr>
          <p:cNvSpPr/>
          <p:nvPr/>
        </p:nvSpPr>
        <p:spPr>
          <a:xfrm>
            <a:off x="2406552" y="2688218"/>
            <a:ext cx="201295" cy="60960"/>
          </a:xfrm>
          <a:custGeom>
            <a:avLst/>
            <a:gdLst/>
            <a:ahLst/>
            <a:cxnLst/>
            <a:rect l="l" t="t" r="r" b="b"/>
            <a:pathLst>
              <a:path w="201295" h="60960">
                <a:moveTo>
                  <a:pt x="0" y="60959"/>
                </a:moveTo>
                <a:lnTo>
                  <a:pt x="201167" y="60959"/>
                </a:lnTo>
                <a:lnTo>
                  <a:pt x="201167" y="0"/>
                </a:lnTo>
                <a:lnTo>
                  <a:pt x="0" y="0"/>
                </a:lnTo>
                <a:lnTo>
                  <a:pt x="0" y="60959"/>
                </a:lnTo>
                <a:close/>
              </a:path>
            </a:pathLst>
          </a:custGeom>
          <a:ln w="12700">
            <a:solidFill>
              <a:srgbClr val="000000"/>
            </a:solidFill>
          </a:ln>
        </p:spPr>
        <p:txBody>
          <a:bodyPr wrap="square" lIns="0" tIns="0" rIns="0" bIns="0" rtlCol="0"/>
          <a:lstStyle/>
          <a:p>
            <a:endParaRPr/>
          </a:p>
        </p:txBody>
      </p:sp>
      <p:sp>
        <p:nvSpPr>
          <p:cNvPr id="69" name="object 58">
            <a:extLst>
              <a:ext uri="{FF2B5EF4-FFF2-40B4-BE49-F238E27FC236}">
                <a16:creationId xmlns:a16="http://schemas.microsoft.com/office/drawing/2014/main" id="{ECF87F72-D4F4-430F-9948-C0D9D2E9F370}"/>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0" name="object 59">
            <a:extLst>
              <a:ext uri="{FF2B5EF4-FFF2-40B4-BE49-F238E27FC236}">
                <a16:creationId xmlns:a16="http://schemas.microsoft.com/office/drawing/2014/main" id="{6587AAF6-2928-43B6-A605-3CB11DD69B7E}"/>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1" name="object 60">
            <a:extLst>
              <a:ext uri="{FF2B5EF4-FFF2-40B4-BE49-F238E27FC236}">
                <a16:creationId xmlns:a16="http://schemas.microsoft.com/office/drawing/2014/main" id="{791D7212-936F-4D7A-871B-16FB6DD1540B}"/>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solidFill>
            <a:srgbClr val="C0C0C0"/>
          </a:solidFill>
        </p:spPr>
        <p:txBody>
          <a:bodyPr wrap="square" lIns="0" tIns="0" rIns="0" bIns="0" rtlCol="0"/>
          <a:lstStyle/>
          <a:p>
            <a:endParaRPr/>
          </a:p>
        </p:txBody>
      </p:sp>
      <p:sp>
        <p:nvSpPr>
          <p:cNvPr id="72" name="object 61">
            <a:extLst>
              <a:ext uri="{FF2B5EF4-FFF2-40B4-BE49-F238E27FC236}">
                <a16:creationId xmlns:a16="http://schemas.microsoft.com/office/drawing/2014/main" id="{169EA5B7-1867-43BD-A331-B5CF04D434E2}"/>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ln w="12700">
            <a:solidFill>
              <a:srgbClr val="000000"/>
            </a:solidFill>
          </a:ln>
        </p:spPr>
        <p:txBody>
          <a:bodyPr wrap="square" lIns="0" tIns="0" rIns="0" bIns="0" rtlCol="0"/>
          <a:lstStyle/>
          <a:p>
            <a:endParaRPr/>
          </a:p>
        </p:txBody>
      </p:sp>
      <p:sp>
        <p:nvSpPr>
          <p:cNvPr id="73" name="object 62">
            <a:extLst>
              <a:ext uri="{FF2B5EF4-FFF2-40B4-BE49-F238E27FC236}">
                <a16:creationId xmlns:a16="http://schemas.microsoft.com/office/drawing/2014/main" id="{FAE4F622-4B70-4848-9FA2-84CC28F2161D}"/>
              </a:ext>
            </a:extLst>
          </p:cNvPr>
          <p:cNvSpPr/>
          <p:nvPr/>
        </p:nvSpPr>
        <p:spPr>
          <a:xfrm>
            <a:off x="2715670" y="2352683"/>
            <a:ext cx="216915" cy="306831"/>
          </a:xfrm>
          <a:prstGeom prst="rect">
            <a:avLst/>
          </a:prstGeom>
          <a:blipFill>
            <a:blip r:embed="rId8" cstate="print"/>
            <a:stretch>
              <a:fillRect/>
            </a:stretch>
          </a:blipFill>
        </p:spPr>
        <p:txBody>
          <a:bodyPr wrap="square" lIns="0" tIns="0" rIns="0" bIns="0" rtlCol="0"/>
          <a:lstStyle/>
          <a:p>
            <a:endParaRPr/>
          </a:p>
        </p:txBody>
      </p:sp>
      <p:sp>
        <p:nvSpPr>
          <p:cNvPr id="74" name="object 63">
            <a:extLst>
              <a:ext uri="{FF2B5EF4-FFF2-40B4-BE49-F238E27FC236}">
                <a16:creationId xmlns:a16="http://schemas.microsoft.com/office/drawing/2014/main" id="{810092BB-FD12-4C69-BD59-77C5BB278F8D}"/>
              </a:ext>
            </a:extLst>
          </p:cNvPr>
          <p:cNvSpPr/>
          <p:nvPr/>
        </p:nvSpPr>
        <p:spPr>
          <a:xfrm>
            <a:off x="2722020"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75" name="object 64">
            <a:extLst>
              <a:ext uri="{FF2B5EF4-FFF2-40B4-BE49-F238E27FC236}">
                <a16:creationId xmlns:a16="http://schemas.microsoft.com/office/drawing/2014/main" id="{354BBDE4-742A-49D2-90FE-5C09E7E43F2E}"/>
              </a:ext>
            </a:extLst>
          </p:cNvPr>
          <p:cNvSpPr/>
          <p:nvPr/>
        </p:nvSpPr>
        <p:spPr>
          <a:xfrm>
            <a:off x="2722020"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76" name="object 65">
            <a:extLst>
              <a:ext uri="{FF2B5EF4-FFF2-40B4-BE49-F238E27FC236}">
                <a16:creationId xmlns:a16="http://schemas.microsoft.com/office/drawing/2014/main" id="{7A9A9AC6-9602-4CAD-998D-1F6E03674769}"/>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7" name="object 66">
            <a:extLst>
              <a:ext uri="{FF2B5EF4-FFF2-40B4-BE49-F238E27FC236}">
                <a16:creationId xmlns:a16="http://schemas.microsoft.com/office/drawing/2014/main" id="{B6A06949-E8FA-4DFD-A810-3D81E2E76B6D}"/>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8" name="object 67">
            <a:extLst>
              <a:ext uri="{FF2B5EF4-FFF2-40B4-BE49-F238E27FC236}">
                <a16:creationId xmlns:a16="http://schemas.microsoft.com/office/drawing/2014/main" id="{F9E907CB-D086-48E3-95D2-96F5D22EFE5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79" name="object 68">
            <a:extLst>
              <a:ext uri="{FF2B5EF4-FFF2-40B4-BE49-F238E27FC236}">
                <a16:creationId xmlns:a16="http://schemas.microsoft.com/office/drawing/2014/main" id="{AFC460C5-6DDE-4DD5-BB55-4A78BFBF281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80" name="object 69">
            <a:extLst>
              <a:ext uri="{FF2B5EF4-FFF2-40B4-BE49-F238E27FC236}">
                <a16:creationId xmlns:a16="http://schemas.microsoft.com/office/drawing/2014/main" id="{A4B040C3-5E1B-4824-86DB-BC1F6582A2EA}"/>
              </a:ext>
            </a:extLst>
          </p:cNvPr>
          <p:cNvSpPr/>
          <p:nvPr/>
        </p:nvSpPr>
        <p:spPr>
          <a:xfrm>
            <a:off x="3034185" y="2352683"/>
            <a:ext cx="216915" cy="306831"/>
          </a:xfrm>
          <a:prstGeom prst="rect">
            <a:avLst/>
          </a:prstGeom>
          <a:blipFill>
            <a:blip r:embed="rId6" cstate="print"/>
            <a:stretch>
              <a:fillRect/>
            </a:stretch>
          </a:blipFill>
        </p:spPr>
        <p:txBody>
          <a:bodyPr wrap="square" lIns="0" tIns="0" rIns="0" bIns="0" rtlCol="0"/>
          <a:lstStyle/>
          <a:p>
            <a:endParaRPr/>
          </a:p>
        </p:txBody>
      </p:sp>
      <p:sp>
        <p:nvSpPr>
          <p:cNvPr id="81" name="object 70">
            <a:extLst>
              <a:ext uri="{FF2B5EF4-FFF2-40B4-BE49-F238E27FC236}">
                <a16:creationId xmlns:a16="http://schemas.microsoft.com/office/drawing/2014/main" id="{FCC204A7-9972-4F7D-9072-F6ADEEBBA056}"/>
              </a:ext>
            </a:extLst>
          </p:cNvPr>
          <p:cNvSpPr/>
          <p:nvPr/>
        </p:nvSpPr>
        <p:spPr>
          <a:xfrm>
            <a:off x="3040535"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82" name="object 71">
            <a:extLst>
              <a:ext uri="{FF2B5EF4-FFF2-40B4-BE49-F238E27FC236}">
                <a16:creationId xmlns:a16="http://schemas.microsoft.com/office/drawing/2014/main" id="{D8CF6BC6-11CA-4882-8CAF-49244DDE8CD3}"/>
              </a:ext>
            </a:extLst>
          </p:cNvPr>
          <p:cNvSpPr/>
          <p:nvPr/>
        </p:nvSpPr>
        <p:spPr>
          <a:xfrm>
            <a:off x="3040535"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83" name="object 72">
            <a:extLst>
              <a:ext uri="{FF2B5EF4-FFF2-40B4-BE49-F238E27FC236}">
                <a16:creationId xmlns:a16="http://schemas.microsoft.com/office/drawing/2014/main" id="{B3BE99A4-F361-4A78-8DB5-06F8A860E276}"/>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84" name="object 73">
            <a:extLst>
              <a:ext uri="{FF2B5EF4-FFF2-40B4-BE49-F238E27FC236}">
                <a16:creationId xmlns:a16="http://schemas.microsoft.com/office/drawing/2014/main" id="{DD39CE4E-6913-4C4D-9FCF-D2E71A788440}"/>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86" name="object 6">
            <a:extLst>
              <a:ext uri="{FF2B5EF4-FFF2-40B4-BE49-F238E27FC236}">
                <a16:creationId xmlns:a16="http://schemas.microsoft.com/office/drawing/2014/main" id="{49B17885-899A-4153-A793-8E1EA5D6683C}"/>
              </a:ext>
            </a:extLst>
          </p:cNvPr>
          <p:cNvSpPr/>
          <p:nvPr/>
        </p:nvSpPr>
        <p:spPr>
          <a:xfrm>
            <a:off x="7137059" y="5159875"/>
            <a:ext cx="213360" cy="702945"/>
          </a:xfrm>
          <a:custGeom>
            <a:avLst/>
            <a:gdLst/>
            <a:ahLst/>
            <a:cxnLst/>
            <a:rect l="l" t="t" r="r" b="b"/>
            <a:pathLst>
              <a:path w="213359" h="702944">
                <a:moveTo>
                  <a:pt x="13715" y="0"/>
                </a:moveTo>
                <a:lnTo>
                  <a:pt x="63720" y="35896"/>
                </a:lnTo>
                <a:lnTo>
                  <a:pt x="110856" y="71863"/>
                </a:lnTo>
                <a:lnTo>
                  <a:pt x="152257" y="107950"/>
                </a:lnTo>
                <a:lnTo>
                  <a:pt x="185053" y="144206"/>
                </a:lnTo>
                <a:lnTo>
                  <a:pt x="206376" y="180681"/>
                </a:lnTo>
                <a:lnTo>
                  <a:pt x="213359" y="217424"/>
                </a:lnTo>
                <a:lnTo>
                  <a:pt x="200821" y="248837"/>
                </a:lnTo>
                <a:lnTo>
                  <a:pt x="170061" y="280100"/>
                </a:lnTo>
                <a:lnTo>
                  <a:pt x="128424" y="311449"/>
                </a:lnTo>
                <a:lnTo>
                  <a:pt x="83255" y="343123"/>
                </a:lnTo>
                <a:lnTo>
                  <a:pt x="41898" y="375359"/>
                </a:lnTo>
                <a:lnTo>
                  <a:pt x="11698" y="408394"/>
                </a:lnTo>
                <a:lnTo>
                  <a:pt x="0" y="442468"/>
                </a:lnTo>
                <a:lnTo>
                  <a:pt x="6220" y="477629"/>
                </a:lnTo>
                <a:lnTo>
                  <a:pt x="23637" y="513682"/>
                </a:lnTo>
                <a:lnTo>
                  <a:pt x="50385" y="550489"/>
                </a:lnTo>
                <a:lnTo>
                  <a:pt x="84597" y="587917"/>
                </a:lnTo>
                <a:lnTo>
                  <a:pt x="124408" y="625829"/>
                </a:lnTo>
                <a:lnTo>
                  <a:pt x="167951" y="664090"/>
                </a:lnTo>
                <a:lnTo>
                  <a:pt x="213359" y="702563"/>
                </a:lnTo>
              </a:path>
            </a:pathLst>
          </a:custGeom>
          <a:ln w="25400">
            <a:solidFill>
              <a:srgbClr val="4E7900"/>
            </a:solidFill>
          </a:ln>
        </p:spPr>
        <p:txBody>
          <a:bodyPr wrap="square" lIns="0" tIns="0" rIns="0" bIns="0" rtlCol="0"/>
          <a:lstStyle/>
          <a:p>
            <a:endParaRPr/>
          </a:p>
        </p:txBody>
      </p:sp>
      <p:sp>
        <p:nvSpPr>
          <p:cNvPr id="87" name="object 8">
            <a:extLst>
              <a:ext uri="{FF2B5EF4-FFF2-40B4-BE49-F238E27FC236}">
                <a16:creationId xmlns:a16="http://schemas.microsoft.com/office/drawing/2014/main" id="{D418796D-5228-45D1-AF2E-E311C22D6128}"/>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solidFill>
            <a:srgbClr val="FFCC66"/>
          </a:solidFill>
        </p:spPr>
        <p:txBody>
          <a:bodyPr wrap="square" lIns="0" tIns="0" rIns="0" bIns="0" rtlCol="0"/>
          <a:lstStyle/>
          <a:p>
            <a:endParaRPr/>
          </a:p>
        </p:txBody>
      </p:sp>
      <p:sp>
        <p:nvSpPr>
          <p:cNvPr id="88" name="object 9">
            <a:extLst>
              <a:ext uri="{FF2B5EF4-FFF2-40B4-BE49-F238E27FC236}">
                <a16:creationId xmlns:a16="http://schemas.microsoft.com/office/drawing/2014/main" id="{2A2FF364-89A2-4AD1-8B43-A23FB4C5DC7D}"/>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ln w="12700">
            <a:solidFill>
              <a:srgbClr val="FFCC66"/>
            </a:solidFill>
          </a:ln>
        </p:spPr>
        <p:txBody>
          <a:bodyPr wrap="square" lIns="0" tIns="0" rIns="0" bIns="0" rtlCol="0"/>
          <a:lstStyle/>
          <a:p>
            <a:endParaRPr/>
          </a:p>
        </p:txBody>
      </p:sp>
      <p:sp>
        <p:nvSpPr>
          <p:cNvPr id="89" name="object 10">
            <a:extLst>
              <a:ext uri="{FF2B5EF4-FFF2-40B4-BE49-F238E27FC236}">
                <a16:creationId xmlns:a16="http://schemas.microsoft.com/office/drawing/2014/main" id="{C4BEC562-A3F3-4220-BB2B-D666B690B729}"/>
              </a:ext>
            </a:extLst>
          </p:cNvPr>
          <p:cNvSpPr/>
          <p:nvPr/>
        </p:nvSpPr>
        <p:spPr>
          <a:xfrm>
            <a:off x="6734795" y="3731515"/>
            <a:ext cx="169545" cy="617220"/>
          </a:xfrm>
          <a:custGeom>
            <a:avLst/>
            <a:gdLst/>
            <a:ahLst/>
            <a:cxnLst/>
            <a:rect l="l" t="t" r="r" b="b"/>
            <a:pathLst>
              <a:path w="169544" h="617220">
                <a:moveTo>
                  <a:pt x="10909" y="0"/>
                </a:moveTo>
                <a:lnTo>
                  <a:pt x="58268" y="37872"/>
                </a:lnTo>
                <a:lnTo>
                  <a:pt x="101698" y="75811"/>
                </a:lnTo>
                <a:lnTo>
                  <a:pt x="137270" y="113915"/>
                </a:lnTo>
                <a:lnTo>
                  <a:pt x="161055" y="152282"/>
                </a:lnTo>
                <a:lnTo>
                  <a:pt x="169125" y="191007"/>
                </a:lnTo>
                <a:lnTo>
                  <a:pt x="155967" y="223214"/>
                </a:lnTo>
                <a:lnTo>
                  <a:pt x="124471" y="255284"/>
                </a:lnTo>
                <a:lnTo>
                  <a:pt x="83881" y="287543"/>
                </a:lnTo>
                <a:lnTo>
                  <a:pt x="43443" y="320322"/>
                </a:lnTo>
                <a:lnTo>
                  <a:pt x="12401" y="353947"/>
                </a:lnTo>
                <a:lnTo>
                  <a:pt x="0" y="388747"/>
                </a:lnTo>
                <a:lnTo>
                  <a:pt x="6655" y="424835"/>
                </a:lnTo>
                <a:lnTo>
                  <a:pt x="25057" y="461978"/>
                </a:lnTo>
                <a:lnTo>
                  <a:pt x="52854" y="499983"/>
                </a:lnTo>
                <a:lnTo>
                  <a:pt x="87697" y="538654"/>
                </a:lnTo>
                <a:lnTo>
                  <a:pt x="127238" y="577797"/>
                </a:lnTo>
                <a:lnTo>
                  <a:pt x="169125" y="617219"/>
                </a:lnTo>
              </a:path>
            </a:pathLst>
          </a:custGeom>
          <a:ln w="25400">
            <a:solidFill>
              <a:srgbClr val="000000"/>
            </a:solidFill>
          </a:ln>
        </p:spPr>
        <p:txBody>
          <a:bodyPr wrap="square" lIns="0" tIns="0" rIns="0" bIns="0" rtlCol="0"/>
          <a:lstStyle/>
          <a:p>
            <a:endParaRPr/>
          </a:p>
        </p:txBody>
      </p:sp>
      <p:sp>
        <p:nvSpPr>
          <p:cNvPr id="90" name="object 11">
            <a:extLst>
              <a:ext uri="{FF2B5EF4-FFF2-40B4-BE49-F238E27FC236}">
                <a16:creationId xmlns:a16="http://schemas.microsoft.com/office/drawing/2014/main" id="{9FB78767-84F9-4786-B72B-48524C32ADCE}"/>
              </a:ext>
            </a:extLst>
          </p:cNvPr>
          <p:cNvSpPr/>
          <p:nvPr/>
        </p:nvSpPr>
        <p:spPr>
          <a:xfrm>
            <a:off x="6835379" y="3731515"/>
            <a:ext cx="172720" cy="617220"/>
          </a:xfrm>
          <a:custGeom>
            <a:avLst/>
            <a:gdLst/>
            <a:ahLst/>
            <a:cxnLst/>
            <a:rect l="l" t="t" r="r" b="b"/>
            <a:pathLst>
              <a:path w="172719" h="617220">
                <a:moveTo>
                  <a:pt x="11112" y="0"/>
                </a:moveTo>
                <a:lnTo>
                  <a:pt x="59320" y="37872"/>
                </a:lnTo>
                <a:lnTo>
                  <a:pt x="103529" y="75811"/>
                </a:lnTo>
                <a:lnTo>
                  <a:pt x="139741" y="113915"/>
                </a:lnTo>
                <a:lnTo>
                  <a:pt x="163955" y="152282"/>
                </a:lnTo>
                <a:lnTo>
                  <a:pt x="172173" y="191007"/>
                </a:lnTo>
                <a:lnTo>
                  <a:pt x="158780" y="223214"/>
                </a:lnTo>
                <a:lnTo>
                  <a:pt x="126717" y="255284"/>
                </a:lnTo>
                <a:lnTo>
                  <a:pt x="85396" y="287543"/>
                </a:lnTo>
                <a:lnTo>
                  <a:pt x="44228" y="320322"/>
                </a:lnTo>
                <a:lnTo>
                  <a:pt x="12625" y="353947"/>
                </a:lnTo>
                <a:lnTo>
                  <a:pt x="0" y="388747"/>
                </a:lnTo>
                <a:lnTo>
                  <a:pt x="6775" y="424835"/>
                </a:lnTo>
                <a:lnTo>
                  <a:pt x="25508" y="461978"/>
                </a:lnTo>
                <a:lnTo>
                  <a:pt x="53806" y="499983"/>
                </a:lnTo>
                <a:lnTo>
                  <a:pt x="89278" y="538654"/>
                </a:lnTo>
                <a:lnTo>
                  <a:pt x="129531" y="577797"/>
                </a:lnTo>
                <a:lnTo>
                  <a:pt x="172173" y="617219"/>
                </a:lnTo>
              </a:path>
            </a:pathLst>
          </a:custGeom>
          <a:ln w="25400">
            <a:solidFill>
              <a:srgbClr val="000000"/>
            </a:solidFill>
          </a:ln>
        </p:spPr>
        <p:txBody>
          <a:bodyPr wrap="square" lIns="0" tIns="0" rIns="0" bIns="0" rtlCol="0"/>
          <a:lstStyle/>
          <a:p>
            <a:endParaRPr/>
          </a:p>
        </p:txBody>
      </p:sp>
      <p:sp>
        <p:nvSpPr>
          <p:cNvPr id="91" name="object 12">
            <a:extLst>
              <a:ext uri="{FF2B5EF4-FFF2-40B4-BE49-F238E27FC236}">
                <a16:creationId xmlns:a16="http://schemas.microsoft.com/office/drawing/2014/main" id="{664571AD-A53C-4EE4-A490-B0D6C54647A0}"/>
              </a:ext>
            </a:extLst>
          </p:cNvPr>
          <p:cNvSpPr/>
          <p:nvPr/>
        </p:nvSpPr>
        <p:spPr>
          <a:xfrm>
            <a:off x="6939012" y="3731515"/>
            <a:ext cx="169545" cy="617220"/>
          </a:xfrm>
          <a:custGeom>
            <a:avLst/>
            <a:gdLst/>
            <a:ahLst/>
            <a:cxnLst/>
            <a:rect l="l" t="t" r="r" b="b"/>
            <a:pathLst>
              <a:path w="169544" h="617220">
                <a:moveTo>
                  <a:pt x="10909" y="0"/>
                </a:moveTo>
                <a:lnTo>
                  <a:pt x="58267" y="37872"/>
                </a:lnTo>
                <a:lnTo>
                  <a:pt x="101696" y="75811"/>
                </a:lnTo>
                <a:lnTo>
                  <a:pt x="137272"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2" name="object 13">
            <a:extLst>
              <a:ext uri="{FF2B5EF4-FFF2-40B4-BE49-F238E27FC236}">
                <a16:creationId xmlns:a16="http://schemas.microsoft.com/office/drawing/2014/main" id="{2E738F79-7977-4314-ABD6-1DBBDF89B31E}"/>
              </a:ext>
            </a:extLst>
          </p:cNvPr>
          <p:cNvSpPr/>
          <p:nvPr/>
        </p:nvSpPr>
        <p:spPr>
          <a:xfrm>
            <a:off x="7039595"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2"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2" y="617219"/>
                </a:lnTo>
              </a:path>
            </a:pathLst>
          </a:custGeom>
          <a:ln w="25400">
            <a:solidFill>
              <a:srgbClr val="000000"/>
            </a:solidFill>
          </a:ln>
        </p:spPr>
        <p:txBody>
          <a:bodyPr wrap="square" lIns="0" tIns="0" rIns="0" bIns="0" rtlCol="0"/>
          <a:lstStyle/>
          <a:p>
            <a:endParaRPr/>
          </a:p>
        </p:txBody>
      </p:sp>
      <p:sp>
        <p:nvSpPr>
          <p:cNvPr id="93" name="object 14">
            <a:extLst>
              <a:ext uri="{FF2B5EF4-FFF2-40B4-BE49-F238E27FC236}">
                <a16:creationId xmlns:a16="http://schemas.microsoft.com/office/drawing/2014/main" id="{C7C4E663-1A32-4E1F-8723-29AFD5E1A7CE}"/>
              </a:ext>
            </a:extLst>
          </p:cNvPr>
          <p:cNvSpPr/>
          <p:nvPr/>
        </p:nvSpPr>
        <p:spPr>
          <a:xfrm>
            <a:off x="7143228" y="3731515"/>
            <a:ext cx="170815" cy="617220"/>
          </a:xfrm>
          <a:custGeom>
            <a:avLst/>
            <a:gdLst/>
            <a:ahLst/>
            <a:cxnLst/>
            <a:rect l="l" t="t" r="r" b="b"/>
            <a:pathLst>
              <a:path w="170815" h="617220">
                <a:moveTo>
                  <a:pt x="11048"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40"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4" name="object 15">
            <a:extLst>
              <a:ext uri="{FF2B5EF4-FFF2-40B4-BE49-F238E27FC236}">
                <a16:creationId xmlns:a16="http://schemas.microsoft.com/office/drawing/2014/main" id="{95A5B926-B53B-4517-A70B-A01417400BAC}"/>
              </a:ext>
            </a:extLst>
          </p:cNvPr>
          <p:cNvSpPr/>
          <p:nvPr/>
        </p:nvSpPr>
        <p:spPr>
          <a:xfrm>
            <a:off x="7245336" y="3731515"/>
            <a:ext cx="169545" cy="617220"/>
          </a:xfrm>
          <a:custGeom>
            <a:avLst/>
            <a:gdLst/>
            <a:ahLst/>
            <a:cxnLst/>
            <a:rect l="l" t="t" r="r" b="b"/>
            <a:pathLst>
              <a:path w="169544" h="617220">
                <a:moveTo>
                  <a:pt x="10921" y="0"/>
                </a:moveTo>
                <a:lnTo>
                  <a:pt x="58273" y="37872"/>
                </a:lnTo>
                <a:lnTo>
                  <a:pt x="101699" y="75811"/>
                </a:lnTo>
                <a:lnTo>
                  <a:pt x="137273"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5" name="object 16">
            <a:extLst>
              <a:ext uri="{FF2B5EF4-FFF2-40B4-BE49-F238E27FC236}">
                <a16:creationId xmlns:a16="http://schemas.microsoft.com/office/drawing/2014/main" id="{EAE23307-FADC-4E50-98AD-DDA22AED4E16}"/>
              </a:ext>
            </a:extLst>
          </p:cNvPr>
          <p:cNvSpPr/>
          <p:nvPr/>
        </p:nvSpPr>
        <p:spPr>
          <a:xfrm>
            <a:off x="7345920"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1"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1" y="617219"/>
                </a:lnTo>
              </a:path>
            </a:pathLst>
          </a:custGeom>
          <a:ln w="25400">
            <a:solidFill>
              <a:srgbClr val="000000"/>
            </a:solidFill>
          </a:ln>
        </p:spPr>
        <p:txBody>
          <a:bodyPr wrap="square" lIns="0" tIns="0" rIns="0" bIns="0" rtlCol="0"/>
          <a:lstStyle/>
          <a:p>
            <a:endParaRPr/>
          </a:p>
        </p:txBody>
      </p:sp>
      <p:sp>
        <p:nvSpPr>
          <p:cNvPr id="96" name="object 17">
            <a:extLst>
              <a:ext uri="{FF2B5EF4-FFF2-40B4-BE49-F238E27FC236}">
                <a16:creationId xmlns:a16="http://schemas.microsoft.com/office/drawing/2014/main" id="{73D9E5AD-220A-42D2-9599-C90379C1D08C}"/>
              </a:ext>
            </a:extLst>
          </p:cNvPr>
          <p:cNvSpPr/>
          <p:nvPr/>
        </p:nvSpPr>
        <p:spPr>
          <a:xfrm>
            <a:off x="7449552" y="3731515"/>
            <a:ext cx="170815" cy="617220"/>
          </a:xfrm>
          <a:custGeom>
            <a:avLst/>
            <a:gdLst/>
            <a:ahLst/>
            <a:cxnLst/>
            <a:rect l="l" t="t" r="r" b="b"/>
            <a:pathLst>
              <a:path w="170814" h="617220">
                <a:moveTo>
                  <a:pt x="11049"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39"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7" name="object 74">
            <a:extLst>
              <a:ext uri="{FF2B5EF4-FFF2-40B4-BE49-F238E27FC236}">
                <a16:creationId xmlns:a16="http://schemas.microsoft.com/office/drawing/2014/main" id="{FE5FBA55-3E5E-4933-A3A6-CA63F1EEC904}"/>
              </a:ext>
            </a:extLst>
          </p:cNvPr>
          <p:cNvSpPr/>
          <p:nvPr/>
        </p:nvSpPr>
        <p:spPr>
          <a:xfrm>
            <a:off x="6095844" y="2242229"/>
            <a:ext cx="2118360" cy="721360"/>
          </a:xfrm>
          <a:custGeom>
            <a:avLst/>
            <a:gdLst/>
            <a:ahLst/>
            <a:cxnLst/>
            <a:rect l="l" t="t" r="r" b="b"/>
            <a:pathLst>
              <a:path w="2118360" h="721360">
                <a:moveTo>
                  <a:pt x="0" y="720852"/>
                </a:moveTo>
                <a:lnTo>
                  <a:pt x="2118360" y="720852"/>
                </a:lnTo>
                <a:lnTo>
                  <a:pt x="2118360" y="0"/>
                </a:lnTo>
                <a:lnTo>
                  <a:pt x="0" y="0"/>
                </a:lnTo>
                <a:lnTo>
                  <a:pt x="0" y="720852"/>
                </a:lnTo>
                <a:close/>
              </a:path>
            </a:pathLst>
          </a:custGeom>
          <a:solidFill>
            <a:srgbClr val="66FF66"/>
          </a:solidFill>
        </p:spPr>
        <p:txBody>
          <a:bodyPr wrap="square" lIns="0" tIns="0" rIns="0" bIns="0" rtlCol="0"/>
          <a:lstStyle/>
          <a:p>
            <a:endParaRPr/>
          </a:p>
        </p:txBody>
      </p:sp>
      <p:sp>
        <p:nvSpPr>
          <p:cNvPr id="98" name="object 75">
            <a:extLst>
              <a:ext uri="{FF2B5EF4-FFF2-40B4-BE49-F238E27FC236}">
                <a16:creationId xmlns:a16="http://schemas.microsoft.com/office/drawing/2014/main" id="{2E8C56B1-C96C-4386-85E6-AED04CFB69EC}"/>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99" name="object 76">
            <a:extLst>
              <a:ext uri="{FF2B5EF4-FFF2-40B4-BE49-F238E27FC236}">
                <a16:creationId xmlns:a16="http://schemas.microsoft.com/office/drawing/2014/main" id="{90089610-5C8A-43D5-9B89-99E0DE6F1EA4}"/>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00" name="object 77">
            <a:extLst>
              <a:ext uri="{FF2B5EF4-FFF2-40B4-BE49-F238E27FC236}">
                <a16:creationId xmlns:a16="http://schemas.microsoft.com/office/drawing/2014/main" id="{81D87B03-1E68-4C55-A2F1-CAB5333543C3}"/>
              </a:ext>
            </a:extLst>
          </p:cNvPr>
          <p:cNvSpPr/>
          <p:nvPr/>
        </p:nvSpPr>
        <p:spPr>
          <a:xfrm>
            <a:off x="623986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1" name="object 78">
            <a:extLst>
              <a:ext uri="{FF2B5EF4-FFF2-40B4-BE49-F238E27FC236}">
                <a16:creationId xmlns:a16="http://schemas.microsoft.com/office/drawing/2014/main" id="{71D0050C-9D55-4BE4-807E-0DE74109CC6B}"/>
              </a:ext>
            </a:extLst>
          </p:cNvPr>
          <p:cNvSpPr/>
          <p:nvPr/>
        </p:nvSpPr>
        <p:spPr>
          <a:xfrm>
            <a:off x="630844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2" name="object 79">
            <a:extLst>
              <a:ext uri="{FF2B5EF4-FFF2-40B4-BE49-F238E27FC236}">
                <a16:creationId xmlns:a16="http://schemas.microsoft.com/office/drawing/2014/main" id="{EB4F54C7-17B0-4CB1-A0C3-9357C302C4CE}"/>
              </a:ext>
            </a:extLst>
          </p:cNvPr>
          <p:cNvSpPr/>
          <p:nvPr/>
        </p:nvSpPr>
        <p:spPr>
          <a:xfrm>
            <a:off x="637702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3" name="object 80">
            <a:extLst>
              <a:ext uri="{FF2B5EF4-FFF2-40B4-BE49-F238E27FC236}">
                <a16:creationId xmlns:a16="http://schemas.microsoft.com/office/drawing/2014/main" id="{6EA6922E-1CA1-420A-8342-525DC028185F}"/>
              </a:ext>
            </a:extLst>
          </p:cNvPr>
          <p:cNvSpPr/>
          <p:nvPr/>
        </p:nvSpPr>
        <p:spPr>
          <a:xfrm>
            <a:off x="644560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4" name="object 81">
            <a:extLst>
              <a:ext uri="{FF2B5EF4-FFF2-40B4-BE49-F238E27FC236}">
                <a16:creationId xmlns:a16="http://schemas.microsoft.com/office/drawing/2014/main" id="{6BF9F0C7-64F6-4ADD-9A4B-7D2AE62F0AF6}"/>
              </a:ext>
            </a:extLst>
          </p:cNvPr>
          <p:cNvSpPr/>
          <p:nvPr/>
        </p:nvSpPr>
        <p:spPr>
          <a:xfrm>
            <a:off x="651418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5" name="object 82">
            <a:extLst>
              <a:ext uri="{FF2B5EF4-FFF2-40B4-BE49-F238E27FC236}">
                <a16:creationId xmlns:a16="http://schemas.microsoft.com/office/drawing/2014/main" id="{C13D7524-94EF-4102-A884-E29D159FD1E0}"/>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solidFill>
            <a:srgbClr val="FFCC66"/>
          </a:solidFill>
        </p:spPr>
        <p:txBody>
          <a:bodyPr wrap="square" lIns="0" tIns="0" rIns="0" bIns="0" rtlCol="0"/>
          <a:lstStyle/>
          <a:p>
            <a:endParaRPr/>
          </a:p>
        </p:txBody>
      </p:sp>
      <p:sp>
        <p:nvSpPr>
          <p:cNvPr id="106" name="object 83">
            <a:extLst>
              <a:ext uri="{FF2B5EF4-FFF2-40B4-BE49-F238E27FC236}">
                <a16:creationId xmlns:a16="http://schemas.microsoft.com/office/drawing/2014/main" id="{35487EC0-03BE-4847-957D-FA9677E47622}"/>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ln w="12700">
            <a:solidFill>
              <a:srgbClr val="000000"/>
            </a:solidFill>
          </a:ln>
        </p:spPr>
        <p:txBody>
          <a:bodyPr wrap="square" lIns="0" tIns="0" rIns="0" bIns="0" rtlCol="0"/>
          <a:lstStyle/>
          <a:p>
            <a:endParaRPr/>
          </a:p>
        </p:txBody>
      </p:sp>
      <p:sp>
        <p:nvSpPr>
          <p:cNvPr id="107" name="object 84">
            <a:extLst>
              <a:ext uri="{FF2B5EF4-FFF2-40B4-BE49-F238E27FC236}">
                <a16:creationId xmlns:a16="http://schemas.microsoft.com/office/drawing/2014/main" id="{A9EB796A-3AF4-4E07-AF10-8FFB9BC90748}"/>
              </a:ext>
            </a:extLst>
          </p:cNvPr>
          <p:cNvSpPr/>
          <p:nvPr/>
        </p:nvSpPr>
        <p:spPr>
          <a:xfrm>
            <a:off x="680374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8" name="object 85">
            <a:extLst>
              <a:ext uri="{FF2B5EF4-FFF2-40B4-BE49-F238E27FC236}">
                <a16:creationId xmlns:a16="http://schemas.microsoft.com/office/drawing/2014/main" id="{A4E95497-3AD5-4F66-91A5-F9D15DAF9539}"/>
              </a:ext>
            </a:extLst>
          </p:cNvPr>
          <p:cNvSpPr/>
          <p:nvPr/>
        </p:nvSpPr>
        <p:spPr>
          <a:xfrm>
            <a:off x="6872321" y="2363388"/>
            <a:ext cx="114300" cy="481965"/>
          </a:xfrm>
          <a:custGeom>
            <a:avLst/>
            <a:gdLst/>
            <a:ahLst/>
            <a:cxnLst/>
            <a:rect l="l" t="t" r="r" b="b"/>
            <a:pathLst>
              <a:path w="114300" h="481964">
                <a:moveTo>
                  <a:pt x="7378" y="0"/>
                </a:moveTo>
                <a:lnTo>
                  <a:pt x="47071" y="36937"/>
                </a:lnTo>
                <a:lnTo>
                  <a:pt x="81589" y="73998"/>
                </a:lnTo>
                <a:lnTo>
                  <a:pt x="105732" y="111308"/>
                </a:lnTo>
                <a:lnTo>
                  <a:pt x="114300" y="148996"/>
                </a:lnTo>
                <a:lnTo>
                  <a:pt x="101925" y="179133"/>
                </a:lnTo>
                <a:lnTo>
                  <a:pt x="73517" y="209186"/>
                </a:lnTo>
                <a:lnTo>
                  <a:pt x="39867" y="239603"/>
                </a:lnTo>
                <a:lnTo>
                  <a:pt x="11765" y="270830"/>
                </a:lnTo>
                <a:lnTo>
                  <a:pt x="0" y="303314"/>
                </a:lnTo>
                <a:lnTo>
                  <a:pt x="9820" y="345892"/>
                </a:lnTo>
                <a:lnTo>
                  <a:pt x="35713" y="390124"/>
                </a:lnTo>
                <a:lnTo>
                  <a:pt x="72325" y="435519"/>
                </a:lnTo>
                <a:lnTo>
                  <a:pt x="114300" y="481583"/>
                </a:lnTo>
              </a:path>
            </a:pathLst>
          </a:custGeom>
          <a:ln w="25400">
            <a:solidFill>
              <a:srgbClr val="000000"/>
            </a:solidFill>
          </a:ln>
        </p:spPr>
        <p:txBody>
          <a:bodyPr wrap="square" lIns="0" tIns="0" rIns="0" bIns="0" rtlCol="0"/>
          <a:lstStyle/>
          <a:p>
            <a:endParaRPr/>
          </a:p>
        </p:txBody>
      </p:sp>
      <p:sp>
        <p:nvSpPr>
          <p:cNvPr id="109" name="object 86">
            <a:extLst>
              <a:ext uri="{FF2B5EF4-FFF2-40B4-BE49-F238E27FC236}">
                <a16:creationId xmlns:a16="http://schemas.microsoft.com/office/drawing/2014/main" id="{97A90E70-CAD9-47A1-A43C-9E4BEAD6C801}"/>
              </a:ext>
            </a:extLst>
          </p:cNvPr>
          <p:cNvSpPr/>
          <p:nvPr/>
        </p:nvSpPr>
        <p:spPr>
          <a:xfrm>
            <a:off x="6940902" y="2363388"/>
            <a:ext cx="114300" cy="481965"/>
          </a:xfrm>
          <a:custGeom>
            <a:avLst/>
            <a:gdLst/>
            <a:ahLst/>
            <a:cxnLst/>
            <a:rect l="l" t="t" r="r" b="b"/>
            <a:pathLst>
              <a:path w="114300" h="481964">
                <a:moveTo>
                  <a:pt x="7378" y="0"/>
                </a:moveTo>
                <a:lnTo>
                  <a:pt x="47082" y="36937"/>
                </a:lnTo>
                <a:lnTo>
                  <a:pt x="81599"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0" name="object 87">
            <a:extLst>
              <a:ext uri="{FF2B5EF4-FFF2-40B4-BE49-F238E27FC236}">
                <a16:creationId xmlns:a16="http://schemas.microsoft.com/office/drawing/2014/main" id="{1E18E7FF-770C-4868-8A78-F52FEFE68DEC}"/>
              </a:ext>
            </a:extLst>
          </p:cNvPr>
          <p:cNvSpPr/>
          <p:nvPr/>
        </p:nvSpPr>
        <p:spPr>
          <a:xfrm>
            <a:off x="700948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1" name="object 88">
            <a:extLst>
              <a:ext uri="{FF2B5EF4-FFF2-40B4-BE49-F238E27FC236}">
                <a16:creationId xmlns:a16="http://schemas.microsoft.com/office/drawing/2014/main" id="{B4D40DD6-471A-4627-9E08-134BDB51D0C4}"/>
              </a:ext>
            </a:extLst>
          </p:cNvPr>
          <p:cNvSpPr/>
          <p:nvPr/>
        </p:nvSpPr>
        <p:spPr>
          <a:xfrm>
            <a:off x="70780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2" name="object 89">
            <a:extLst>
              <a:ext uri="{FF2B5EF4-FFF2-40B4-BE49-F238E27FC236}">
                <a16:creationId xmlns:a16="http://schemas.microsoft.com/office/drawing/2014/main" id="{0237FD73-2A70-4BF9-B6D2-232E6A6F1C0E}"/>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113" name="object 90">
            <a:extLst>
              <a:ext uri="{FF2B5EF4-FFF2-40B4-BE49-F238E27FC236}">
                <a16:creationId xmlns:a16="http://schemas.microsoft.com/office/drawing/2014/main" id="{8DECB86F-5811-422C-A0B9-1140C7497A28}"/>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14" name="object 91">
            <a:extLst>
              <a:ext uri="{FF2B5EF4-FFF2-40B4-BE49-F238E27FC236}">
                <a16:creationId xmlns:a16="http://schemas.microsoft.com/office/drawing/2014/main" id="{D6FD7891-2AE7-4C24-B153-FBBD8C4DED74}"/>
              </a:ext>
            </a:extLst>
          </p:cNvPr>
          <p:cNvSpPr/>
          <p:nvPr/>
        </p:nvSpPr>
        <p:spPr>
          <a:xfrm>
            <a:off x="767242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5" name="object 92">
            <a:extLst>
              <a:ext uri="{FF2B5EF4-FFF2-40B4-BE49-F238E27FC236}">
                <a16:creationId xmlns:a16="http://schemas.microsoft.com/office/drawing/2014/main" id="{6D443629-6372-4402-B3C7-9CDF69AC8491}"/>
              </a:ext>
            </a:extLst>
          </p:cNvPr>
          <p:cNvSpPr/>
          <p:nvPr/>
        </p:nvSpPr>
        <p:spPr>
          <a:xfrm>
            <a:off x="774100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6" name="object 93">
            <a:extLst>
              <a:ext uri="{FF2B5EF4-FFF2-40B4-BE49-F238E27FC236}">
                <a16:creationId xmlns:a16="http://schemas.microsoft.com/office/drawing/2014/main" id="{D589666D-8222-4778-9693-86D2A2FE137D}"/>
              </a:ext>
            </a:extLst>
          </p:cNvPr>
          <p:cNvSpPr/>
          <p:nvPr/>
        </p:nvSpPr>
        <p:spPr>
          <a:xfrm>
            <a:off x="7809582"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7" name="object 94">
            <a:extLst>
              <a:ext uri="{FF2B5EF4-FFF2-40B4-BE49-F238E27FC236}">
                <a16:creationId xmlns:a16="http://schemas.microsoft.com/office/drawing/2014/main" id="{1D3AA40A-585C-4D8A-8483-EE563CC76A91}"/>
              </a:ext>
            </a:extLst>
          </p:cNvPr>
          <p:cNvSpPr/>
          <p:nvPr/>
        </p:nvSpPr>
        <p:spPr>
          <a:xfrm>
            <a:off x="78781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8" name="object 95">
            <a:extLst>
              <a:ext uri="{FF2B5EF4-FFF2-40B4-BE49-F238E27FC236}">
                <a16:creationId xmlns:a16="http://schemas.microsoft.com/office/drawing/2014/main" id="{7BF62EF6-5400-48CA-95E9-F7A2680D4C2E}"/>
              </a:ext>
            </a:extLst>
          </p:cNvPr>
          <p:cNvSpPr/>
          <p:nvPr/>
        </p:nvSpPr>
        <p:spPr>
          <a:xfrm>
            <a:off x="794674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9" name="object 96">
            <a:extLst>
              <a:ext uri="{FF2B5EF4-FFF2-40B4-BE49-F238E27FC236}">
                <a16:creationId xmlns:a16="http://schemas.microsoft.com/office/drawing/2014/main" id="{C494DB74-2E16-460D-916E-57A914C67146}"/>
              </a:ext>
            </a:extLst>
          </p:cNvPr>
          <p:cNvSpPr txBox="1"/>
          <p:nvPr/>
        </p:nvSpPr>
        <p:spPr>
          <a:xfrm>
            <a:off x="6239862" y="2408142"/>
            <a:ext cx="1974342" cy="299720"/>
          </a:xfrm>
          <a:prstGeom prst="rect">
            <a:avLst/>
          </a:prstGeom>
        </p:spPr>
        <p:txBody>
          <a:bodyPr vert="horz" wrap="square" lIns="0" tIns="12700" rIns="0" bIns="0" rtlCol="0">
            <a:spAutoFit/>
          </a:bodyPr>
          <a:lstStyle/>
          <a:p>
            <a:pPr marL="378460" algn="ctr">
              <a:lnSpc>
                <a:spcPct val="100000"/>
              </a:lnSpc>
              <a:spcBef>
                <a:spcPts val="100"/>
              </a:spcBef>
            </a:pPr>
            <a:r>
              <a:rPr sz="1800" b="1" dirty="0">
                <a:latin typeface="Arial" panose="020B0604020202020204"/>
                <a:cs typeface="Arial" panose="020B0604020202020204"/>
              </a:rPr>
              <a:t>...</a:t>
            </a:r>
            <a:endParaRPr sz="1800" dirty="0">
              <a:latin typeface="Arial" panose="020B0604020202020204"/>
              <a:cs typeface="Arial" panose="020B0604020202020204"/>
            </a:endParaRPr>
          </a:p>
        </p:txBody>
      </p:sp>
      <p:cxnSp>
        <p:nvCxnSpPr>
          <p:cNvPr id="8" name="直接连接符 7">
            <a:extLst>
              <a:ext uri="{FF2B5EF4-FFF2-40B4-BE49-F238E27FC236}">
                <a16:creationId xmlns:a16="http://schemas.microsoft.com/office/drawing/2014/main" id="{E972E9B5-841E-4DDE-95F5-F4F7BDFB5EE7}"/>
              </a:ext>
            </a:extLst>
          </p:cNvPr>
          <p:cNvCxnSpPr>
            <a:cxnSpLocks/>
          </p:cNvCxnSpPr>
          <p:nvPr/>
        </p:nvCxnSpPr>
        <p:spPr bwMode="auto">
          <a:xfrm>
            <a:off x="4241390" y="871097"/>
            <a:ext cx="41410" cy="5605903"/>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120" name="矩形 119">
            <a:extLst>
              <a:ext uri="{FF2B5EF4-FFF2-40B4-BE49-F238E27FC236}">
                <a16:creationId xmlns:a16="http://schemas.microsoft.com/office/drawing/2014/main" id="{12E749ED-1112-4AF5-B15C-0182DF510EBA}"/>
              </a:ext>
            </a:extLst>
          </p:cNvPr>
          <p:cNvSpPr/>
          <p:nvPr/>
        </p:nvSpPr>
        <p:spPr>
          <a:xfrm>
            <a:off x="5184493" y="4647767"/>
            <a:ext cx="821250" cy="400110"/>
          </a:xfrm>
          <a:prstGeom prst="rect">
            <a:avLst/>
          </a:prstGeom>
        </p:spPr>
        <p:txBody>
          <a:bodyPr wrap="none">
            <a:spAutoFit/>
          </a:bodyPr>
          <a:lstStyle/>
          <a:p>
            <a:r>
              <a:rPr lang="en-US" altLang="zh-CN" sz="2000" b="1" dirty="0">
                <a:solidFill>
                  <a:srgbClr val="DA9100"/>
                </a:solidFill>
              </a:rPr>
              <a:t>Warp</a:t>
            </a:r>
            <a:endParaRPr lang="zh-CN" altLang="en-US" sz="2000" b="1" dirty="0">
              <a:solidFill>
                <a:srgbClr val="DA9100"/>
              </a:solidFill>
            </a:endParaRPr>
          </a:p>
        </p:txBody>
      </p:sp>
      <p:grpSp>
        <p:nvGrpSpPr>
          <p:cNvPr id="3" name="组合 2">
            <a:extLst>
              <a:ext uri="{FF2B5EF4-FFF2-40B4-BE49-F238E27FC236}">
                <a16:creationId xmlns:a16="http://schemas.microsoft.com/office/drawing/2014/main" id="{F29CEE09-9FAE-418F-93D4-2F0E45A07DF2}"/>
              </a:ext>
            </a:extLst>
          </p:cNvPr>
          <p:cNvGrpSpPr/>
          <p:nvPr/>
        </p:nvGrpSpPr>
        <p:grpSpPr>
          <a:xfrm>
            <a:off x="-76200" y="4831625"/>
            <a:ext cx="2776057" cy="369332"/>
            <a:chOff x="-76200" y="4831625"/>
            <a:chExt cx="2776057" cy="369332"/>
          </a:xfrm>
        </p:grpSpPr>
        <p:sp>
          <p:nvSpPr>
            <p:cNvPr id="121" name="矩形 120">
              <a:extLst>
                <a:ext uri="{FF2B5EF4-FFF2-40B4-BE49-F238E27FC236}">
                  <a16:creationId xmlns:a16="http://schemas.microsoft.com/office/drawing/2014/main" id="{C5061386-5A84-409B-B659-9BF83F6791F4}"/>
                </a:ext>
              </a:extLst>
            </p:cNvPr>
            <p:cNvSpPr/>
            <p:nvPr/>
          </p:nvSpPr>
          <p:spPr>
            <a:xfrm>
              <a:off x="-76200" y="4831625"/>
              <a:ext cx="1676400" cy="369332"/>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SIMT</a:t>
              </a:r>
              <a:endParaRPr lang="zh-CN" altLang="en-US" b="1" dirty="0">
                <a:solidFill>
                  <a:srgbClr val="0432FF"/>
                </a:solidFill>
                <a:latin typeface="Arial Narrow" panose="020B0606020202030204" pitchFamily="34" charset="0"/>
              </a:endParaRPr>
            </a:p>
          </p:txBody>
        </p:sp>
        <p:sp>
          <p:nvSpPr>
            <p:cNvPr id="122" name="object 3">
              <a:extLst>
                <a:ext uri="{FF2B5EF4-FFF2-40B4-BE49-F238E27FC236}">
                  <a16:creationId xmlns:a16="http://schemas.microsoft.com/office/drawing/2014/main" id="{B81E96BF-A22E-4C09-A731-A1FC3DEDCF9F}"/>
                </a:ext>
              </a:extLst>
            </p:cNvPr>
            <p:cNvSpPr/>
            <p:nvPr/>
          </p:nvSpPr>
          <p:spPr>
            <a:xfrm>
              <a:off x="2005485" y="4913767"/>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sp>
          <p:nvSpPr>
            <p:cNvPr id="123" name="object 3">
              <a:extLst>
                <a:ext uri="{FF2B5EF4-FFF2-40B4-BE49-F238E27FC236}">
                  <a16:creationId xmlns:a16="http://schemas.microsoft.com/office/drawing/2014/main" id="{25790E0A-DE97-4020-8369-F83A07020E5C}"/>
                </a:ext>
              </a:extLst>
            </p:cNvPr>
            <p:cNvSpPr/>
            <p:nvPr/>
          </p:nvSpPr>
          <p:spPr>
            <a:xfrm>
              <a:off x="2384262" y="4913767"/>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grpSp>
    </p:spTree>
    <p:extLst>
      <p:ext uri="{BB962C8B-B14F-4D97-AF65-F5344CB8AC3E}">
        <p14:creationId xmlns:p14="http://schemas.microsoft.com/office/powerpoint/2010/main" val="32521167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68F9301F-200A-4C9F-9BC7-A9CA02E8A85A}"/>
              </a:ext>
            </a:extLst>
          </p:cNvPr>
          <p:cNvSpPr/>
          <p:nvPr/>
        </p:nvSpPr>
        <p:spPr>
          <a:xfrm>
            <a:off x="2069292" y="951862"/>
            <a:ext cx="4788490" cy="461665"/>
          </a:xfrm>
          <a:prstGeom prst="rect">
            <a:avLst/>
          </a:prstGeom>
        </p:spPr>
        <p:txBody>
          <a:bodyPr wrap="none">
            <a:spAutoFit/>
          </a:bodyPr>
          <a:lstStyle/>
          <a:p>
            <a:r>
              <a:rPr lang="en-US" altLang="zh-CN" sz="2400" dirty="0">
                <a:solidFill>
                  <a:srgbClr val="C00000"/>
                </a:solidFill>
                <a:cs typeface="+mj-cs"/>
              </a:rPr>
              <a:t>Motivation of In-network Computing</a:t>
            </a:r>
            <a:endParaRPr lang="zh-CN" altLang="en-US" sz="1200" dirty="0"/>
          </a:p>
        </p:txBody>
      </p:sp>
      <p:sp>
        <p:nvSpPr>
          <p:cNvPr id="54" name="Rectangle 2">
            <a:extLst>
              <a:ext uri="{FF2B5EF4-FFF2-40B4-BE49-F238E27FC236}">
                <a16:creationId xmlns:a16="http://schemas.microsoft.com/office/drawing/2014/main" id="{82D9D992-8110-4752-809A-6133FEB65846}"/>
              </a:ext>
            </a:extLst>
          </p:cNvPr>
          <p:cNvSpPr/>
          <p:nvPr/>
        </p:nvSpPr>
        <p:spPr>
          <a:xfrm>
            <a:off x="-106251" y="-203200"/>
            <a:ext cx="9382259" cy="7061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5" name="TextBox 3">
            <a:extLst>
              <a:ext uri="{FF2B5EF4-FFF2-40B4-BE49-F238E27FC236}">
                <a16:creationId xmlns:a16="http://schemas.microsoft.com/office/drawing/2014/main" id="{1B997306-FA4F-4F7B-8126-9FAAA79FA40E}"/>
              </a:ext>
            </a:extLst>
          </p:cNvPr>
          <p:cNvSpPr txBox="1"/>
          <p:nvPr/>
        </p:nvSpPr>
        <p:spPr>
          <a:xfrm>
            <a:off x="190500" y="1581147"/>
            <a:ext cx="8763000" cy="1077218"/>
          </a:xfrm>
          <a:prstGeom prst="rect">
            <a:avLst/>
          </a:prstGeom>
          <a:noFill/>
        </p:spPr>
        <p:txBody>
          <a:bodyPr wrap="square" rtlCol="0">
            <a:spAutoFit/>
          </a:bodyPr>
          <a:lstStyle/>
          <a:p>
            <a:pPr algn="ctr"/>
            <a:r>
              <a:rPr lang="en-US" altLang="zh-CN" sz="3200" b="1" dirty="0">
                <a:solidFill>
                  <a:schemeClr val="bg1"/>
                </a:solidFill>
              </a:rPr>
              <a:t>How to deal with long-latency global memory access?</a:t>
            </a:r>
            <a:endParaRPr lang="en-US" sz="3200" b="1" u="sng" dirty="0">
              <a:solidFill>
                <a:srgbClr val="DA9100"/>
              </a:solidFill>
            </a:endParaRPr>
          </a:p>
        </p:txBody>
      </p:sp>
      <p:sp>
        <p:nvSpPr>
          <p:cNvPr id="5" name="TextBox 3">
            <a:extLst>
              <a:ext uri="{FF2B5EF4-FFF2-40B4-BE49-F238E27FC236}">
                <a16:creationId xmlns:a16="http://schemas.microsoft.com/office/drawing/2014/main" id="{1FAA63C7-2B64-4625-8286-6ECC163DA2ED}"/>
              </a:ext>
            </a:extLst>
          </p:cNvPr>
          <p:cNvSpPr txBox="1"/>
          <p:nvPr/>
        </p:nvSpPr>
        <p:spPr>
          <a:xfrm>
            <a:off x="694757" y="3035012"/>
            <a:ext cx="7537559" cy="584775"/>
          </a:xfrm>
          <a:prstGeom prst="rect">
            <a:avLst/>
          </a:prstGeom>
          <a:noFill/>
        </p:spPr>
        <p:txBody>
          <a:bodyPr wrap="square" rtlCol="0">
            <a:spAutoFit/>
          </a:bodyPr>
          <a:lstStyle/>
          <a:p>
            <a:pPr algn="ctr"/>
            <a:r>
              <a:rPr lang="en-US" sz="3200" b="1" dirty="0">
                <a:solidFill>
                  <a:srgbClr val="0432FF"/>
                </a:solidFill>
              </a:rPr>
              <a:t>Multithreading</a:t>
            </a:r>
            <a:endParaRPr lang="en-US" sz="3200" b="1" u="sng" dirty="0">
              <a:solidFill>
                <a:srgbClr val="0432FF"/>
              </a:solidFill>
            </a:endParaRPr>
          </a:p>
        </p:txBody>
      </p:sp>
      <p:sp>
        <p:nvSpPr>
          <p:cNvPr id="6" name="TextBox 3">
            <a:extLst>
              <a:ext uri="{FF2B5EF4-FFF2-40B4-BE49-F238E27FC236}">
                <a16:creationId xmlns:a16="http://schemas.microsoft.com/office/drawing/2014/main" id="{36167282-6CAE-4143-94E0-AA0B6BF0DBC6}"/>
              </a:ext>
            </a:extLst>
          </p:cNvPr>
          <p:cNvSpPr txBox="1"/>
          <p:nvPr/>
        </p:nvSpPr>
        <p:spPr>
          <a:xfrm>
            <a:off x="694756" y="4957855"/>
            <a:ext cx="7537559" cy="584775"/>
          </a:xfrm>
          <a:prstGeom prst="rect">
            <a:avLst/>
          </a:prstGeom>
          <a:noFill/>
        </p:spPr>
        <p:txBody>
          <a:bodyPr wrap="square" rtlCol="0">
            <a:spAutoFit/>
          </a:bodyPr>
          <a:lstStyle/>
          <a:p>
            <a:pPr algn="ctr"/>
            <a:r>
              <a:rPr lang="en-US" sz="3200" b="1" dirty="0">
                <a:solidFill>
                  <a:srgbClr val="0432FF"/>
                </a:solidFill>
              </a:rPr>
              <a:t>Shared Memory</a:t>
            </a:r>
            <a:endParaRPr lang="en-US" sz="3200" b="1" u="sng" dirty="0">
              <a:solidFill>
                <a:srgbClr val="0432FF"/>
              </a:solidFill>
            </a:endParaRPr>
          </a:p>
        </p:txBody>
      </p:sp>
      <p:sp>
        <p:nvSpPr>
          <p:cNvPr id="7" name="TextBox 3">
            <a:extLst>
              <a:ext uri="{FF2B5EF4-FFF2-40B4-BE49-F238E27FC236}">
                <a16:creationId xmlns:a16="http://schemas.microsoft.com/office/drawing/2014/main" id="{A811D72B-C526-4B3F-B80C-8A0088851830}"/>
              </a:ext>
            </a:extLst>
          </p:cNvPr>
          <p:cNvSpPr txBox="1"/>
          <p:nvPr/>
        </p:nvSpPr>
        <p:spPr>
          <a:xfrm>
            <a:off x="694756" y="3996433"/>
            <a:ext cx="7537559" cy="584775"/>
          </a:xfrm>
          <a:prstGeom prst="rect">
            <a:avLst/>
          </a:prstGeom>
          <a:noFill/>
        </p:spPr>
        <p:txBody>
          <a:bodyPr wrap="square" rtlCol="0">
            <a:spAutoFit/>
          </a:bodyPr>
          <a:lstStyle/>
          <a:p>
            <a:pPr algn="ctr"/>
            <a:r>
              <a:rPr lang="en-US" sz="3200" b="1" dirty="0">
                <a:solidFill>
                  <a:srgbClr val="0432FF"/>
                </a:solidFill>
              </a:rPr>
              <a:t>Memory </a:t>
            </a:r>
            <a:r>
              <a:rPr lang="en-US" altLang="zh-CN" sz="3200" b="1" dirty="0">
                <a:solidFill>
                  <a:srgbClr val="0432FF"/>
                </a:solidFill>
              </a:rPr>
              <a:t>Coalescing</a:t>
            </a:r>
            <a:endParaRPr lang="en-US" sz="3200" b="1" u="sng" dirty="0">
              <a:solidFill>
                <a:srgbClr val="0432FF"/>
              </a:solidFill>
            </a:endParaRPr>
          </a:p>
        </p:txBody>
      </p:sp>
    </p:spTree>
    <p:custDataLst>
      <p:tags r:id="rId1"/>
    </p:custDataLst>
    <p:extLst>
      <p:ext uri="{BB962C8B-B14F-4D97-AF65-F5344CB8AC3E}">
        <p14:creationId xmlns:p14="http://schemas.microsoft.com/office/powerpoint/2010/main" val="23216218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altLang="zh-CN" dirty="0"/>
              <a:t>Recall: </a:t>
            </a:r>
            <a:r>
              <a:rPr lang="en-US" dirty="0"/>
              <a:t>Latency Hiding and Occupancy</a:t>
            </a:r>
          </a:p>
        </p:txBody>
      </p:sp>
      <p:sp>
        <p:nvSpPr>
          <p:cNvPr id="3" name="Marcador de contenido 2"/>
          <p:cNvSpPr>
            <a:spLocks noGrp="1"/>
          </p:cNvSpPr>
          <p:nvPr>
            <p:ph idx="1"/>
          </p:nvPr>
        </p:nvSpPr>
        <p:spPr>
          <a:xfrm>
            <a:off x="251521" y="908720"/>
            <a:ext cx="8640960" cy="5472534"/>
          </a:xfrm>
        </p:spPr>
        <p:txBody>
          <a:bodyPr>
            <a:normAutofit/>
          </a:bodyPr>
          <a:lstStyle/>
          <a:p>
            <a:r>
              <a:rPr lang="en-US" sz="2200" dirty="0">
                <a:solidFill>
                  <a:srgbClr val="00B050"/>
                </a:solidFill>
              </a:rPr>
              <a:t>FGMT</a:t>
            </a:r>
            <a:r>
              <a:rPr lang="en-US" sz="2200" dirty="0"/>
              <a:t> can hide </a:t>
            </a:r>
            <a:r>
              <a:rPr lang="en-US" sz="2200" dirty="0">
                <a:solidFill>
                  <a:srgbClr val="FF0000"/>
                </a:solidFill>
              </a:rPr>
              <a:t>long latency operations </a:t>
            </a:r>
            <a:r>
              <a:rPr lang="en-US" sz="2200" dirty="0"/>
              <a:t>(e.g., memory accesses)</a:t>
            </a:r>
            <a:endParaRPr lang="en-US" sz="2200" dirty="0">
              <a:solidFill>
                <a:srgbClr val="0000FF"/>
              </a:solidFill>
            </a:endParaRPr>
          </a:p>
          <a:p>
            <a:r>
              <a:rPr lang="en-US" sz="2200" dirty="0">
                <a:solidFill>
                  <a:srgbClr val="0000FF"/>
                </a:solidFill>
              </a:rPr>
              <a:t>Occupancy</a:t>
            </a:r>
            <a:r>
              <a:rPr lang="en-US" sz="2200" dirty="0"/>
              <a:t>: ratio of </a:t>
            </a:r>
            <a:r>
              <a:rPr lang="en-US" sz="2200" dirty="0">
                <a:solidFill>
                  <a:srgbClr val="00B050"/>
                </a:solidFill>
              </a:rPr>
              <a:t>active warps </a:t>
            </a:r>
            <a:r>
              <a:rPr lang="en-US" sz="2200" dirty="0"/>
              <a:t>to the maximum number of warps per GPU core</a:t>
            </a:r>
          </a:p>
        </p:txBody>
      </p:sp>
      <p:grpSp>
        <p:nvGrpSpPr>
          <p:cNvPr id="7" name="Agrupar 29"/>
          <p:cNvGrpSpPr/>
          <p:nvPr/>
        </p:nvGrpSpPr>
        <p:grpSpPr>
          <a:xfrm>
            <a:off x="5388469" y="1931857"/>
            <a:ext cx="2371231" cy="4024544"/>
            <a:chOff x="685800" y="2660407"/>
            <a:chExt cx="2371231" cy="3740393"/>
          </a:xfrm>
        </p:grpSpPr>
        <p:pic>
          <p:nvPicPr>
            <p:cNvPr id="8" name="Imagen 7" descr="Multi_exec_1.eps"/>
            <p:cNvPicPr>
              <a:picLocks noChangeAspect="1"/>
            </p:cNvPicPr>
            <p:nvPr/>
          </p:nvPicPr>
          <p:blipFill>
            <a:blip r:embed="rId2"/>
            <a:stretch>
              <a:fillRect/>
            </a:stretch>
          </p:blipFill>
          <p:spPr>
            <a:xfrm>
              <a:off x="685800" y="2997200"/>
              <a:ext cx="1816100" cy="3403600"/>
            </a:xfrm>
            <a:prstGeom prst="rect">
              <a:avLst/>
            </a:prstGeom>
          </p:spPr>
        </p:pic>
        <p:sp>
          <p:nvSpPr>
            <p:cNvPr id="9" name="CuadroTexto 8"/>
            <p:cNvSpPr txBox="1"/>
            <p:nvPr/>
          </p:nvSpPr>
          <p:spPr>
            <a:xfrm>
              <a:off x="1469531" y="2660407"/>
              <a:ext cx="1587500" cy="314651"/>
            </a:xfrm>
            <a:prstGeom prst="rect">
              <a:avLst/>
            </a:prstGeom>
            <a:noFill/>
            <a:ln w="28575" cap="flat" cmpd="sng" algn="ctr">
              <a:noFill/>
              <a:prstDash val="solid"/>
              <a:round/>
              <a:headEnd type="none" w="med" len="med"/>
              <a:tailEnd type="none" w="med" len="med"/>
            </a:ln>
          </p:spPr>
          <p:txBody>
            <a:bodyPr wrap="square" rtlCol="0">
              <a:spAutoFit/>
            </a:bodyPr>
            <a:lstStyle/>
            <a:p>
              <a:r>
                <a:rPr lang="es-ES_tradnl" sz="1600" b="1" dirty="0"/>
                <a:t>4 active </a:t>
              </a:r>
              <a:r>
                <a:rPr lang="es-ES_tradnl" sz="1600" b="1" dirty="0" err="1"/>
                <a:t>warps</a:t>
              </a:r>
              <a:endParaRPr lang="es-ES_tradnl" sz="1600" b="1" dirty="0"/>
            </a:p>
          </p:txBody>
        </p:sp>
      </p:grpSp>
      <p:grpSp>
        <p:nvGrpSpPr>
          <p:cNvPr id="10" name="Agrupar 30"/>
          <p:cNvGrpSpPr/>
          <p:nvPr/>
        </p:nvGrpSpPr>
        <p:grpSpPr>
          <a:xfrm>
            <a:off x="267912" y="2213219"/>
            <a:ext cx="2081588" cy="4088466"/>
            <a:chOff x="5035550" y="2595108"/>
            <a:chExt cx="2081588" cy="3805692"/>
          </a:xfrm>
        </p:grpSpPr>
        <p:pic>
          <p:nvPicPr>
            <p:cNvPr id="11" name="Imagen 10" descr="Multi_exec_1.eps"/>
            <p:cNvPicPr>
              <a:picLocks noChangeAspect="1"/>
            </p:cNvPicPr>
            <p:nvPr/>
          </p:nvPicPr>
          <p:blipFill>
            <a:blip r:embed="rId2"/>
            <a:stretch>
              <a:fillRect/>
            </a:stretch>
          </p:blipFill>
          <p:spPr>
            <a:xfrm>
              <a:off x="5035550" y="2997200"/>
              <a:ext cx="1816100" cy="3403600"/>
            </a:xfrm>
            <a:prstGeom prst="rect">
              <a:avLst/>
            </a:prstGeom>
          </p:spPr>
        </p:pic>
        <p:sp>
          <p:nvSpPr>
            <p:cNvPr id="12" name="CuadroTexto 11"/>
            <p:cNvSpPr txBox="1"/>
            <p:nvPr/>
          </p:nvSpPr>
          <p:spPr>
            <a:xfrm>
              <a:off x="5529638" y="2595108"/>
              <a:ext cx="1587500" cy="315138"/>
            </a:xfrm>
            <a:prstGeom prst="rect">
              <a:avLst/>
            </a:prstGeom>
            <a:noFill/>
            <a:ln w="28575" cap="flat" cmpd="sng" algn="ctr">
              <a:noFill/>
              <a:prstDash val="solid"/>
              <a:round/>
              <a:headEnd type="none" w="med" len="med"/>
              <a:tailEnd type="none" w="med" len="med"/>
            </a:ln>
          </p:spPr>
          <p:txBody>
            <a:bodyPr wrap="square" rtlCol="0">
              <a:spAutoFit/>
            </a:bodyPr>
            <a:lstStyle/>
            <a:p>
              <a:r>
                <a:rPr lang="es-ES_tradnl" sz="1600" b="1" dirty="0"/>
                <a:t>2 active </a:t>
              </a:r>
              <a:r>
                <a:rPr lang="es-ES_tradnl" sz="1600" b="1" dirty="0" err="1"/>
                <a:t>warps</a:t>
              </a:r>
              <a:endParaRPr lang="es-ES_tradnl" sz="1600" b="1" dirty="0"/>
            </a:p>
          </p:txBody>
        </p:sp>
      </p:grpSp>
      <p:pic>
        <p:nvPicPr>
          <p:cNvPr id="13" name="Imagen 12" descr="Multi_exec_2.eps"/>
          <p:cNvPicPr>
            <a:picLocks/>
          </p:cNvPicPr>
          <p:nvPr/>
        </p:nvPicPr>
        <p:blipFill>
          <a:blip r:embed="rId3"/>
          <a:stretch>
            <a:fillRect/>
          </a:stretch>
        </p:blipFill>
        <p:spPr>
          <a:xfrm>
            <a:off x="5826619" y="2928224"/>
            <a:ext cx="1412308" cy="540000"/>
          </a:xfrm>
          <a:prstGeom prst="rect">
            <a:avLst/>
          </a:prstGeom>
        </p:spPr>
      </p:pic>
      <p:pic>
        <p:nvPicPr>
          <p:cNvPr id="14" name="Imagen 13" descr="Multi_exec_3.eps"/>
          <p:cNvPicPr>
            <a:picLocks/>
          </p:cNvPicPr>
          <p:nvPr/>
        </p:nvPicPr>
        <p:blipFill>
          <a:blip r:embed="rId4"/>
          <a:stretch>
            <a:fillRect/>
          </a:stretch>
        </p:blipFill>
        <p:spPr>
          <a:xfrm>
            <a:off x="7426819" y="3730646"/>
            <a:ext cx="1460500" cy="1368000"/>
          </a:xfrm>
          <a:prstGeom prst="rect">
            <a:avLst/>
          </a:prstGeom>
        </p:spPr>
      </p:pic>
      <p:pic>
        <p:nvPicPr>
          <p:cNvPr id="15" name="Imagen 14" descr="Multi_exec_4.eps"/>
          <p:cNvPicPr>
            <a:picLocks/>
          </p:cNvPicPr>
          <p:nvPr/>
        </p:nvPicPr>
        <p:blipFill>
          <a:blip r:embed="rId5"/>
          <a:stretch>
            <a:fillRect/>
          </a:stretch>
        </p:blipFill>
        <p:spPr>
          <a:xfrm>
            <a:off x="5826619" y="3614024"/>
            <a:ext cx="1358900" cy="540000"/>
          </a:xfrm>
          <a:prstGeom prst="rect">
            <a:avLst/>
          </a:prstGeom>
        </p:spPr>
      </p:pic>
      <p:pic>
        <p:nvPicPr>
          <p:cNvPr id="16" name="Imagen 15" descr="Multi_exec_5.eps"/>
          <p:cNvPicPr>
            <a:picLocks/>
          </p:cNvPicPr>
          <p:nvPr/>
        </p:nvPicPr>
        <p:blipFill>
          <a:blip r:embed="rId6"/>
          <a:stretch>
            <a:fillRect/>
          </a:stretch>
        </p:blipFill>
        <p:spPr>
          <a:xfrm>
            <a:off x="5826619" y="4284584"/>
            <a:ext cx="1358900" cy="537600"/>
          </a:xfrm>
          <a:prstGeom prst="rect">
            <a:avLst/>
          </a:prstGeom>
        </p:spPr>
      </p:pic>
      <p:pic>
        <p:nvPicPr>
          <p:cNvPr id="17" name="Imagen 16" descr="Multi_exec_6.eps"/>
          <p:cNvPicPr>
            <a:picLocks/>
          </p:cNvPicPr>
          <p:nvPr/>
        </p:nvPicPr>
        <p:blipFill>
          <a:blip r:embed="rId7"/>
          <a:stretch>
            <a:fillRect/>
          </a:stretch>
        </p:blipFill>
        <p:spPr>
          <a:xfrm>
            <a:off x="5826619" y="4985624"/>
            <a:ext cx="1371600" cy="540000"/>
          </a:xfrm>
          <a:prstGeom prst="rect">
            <a:avLst/>
          </a:prstGeom>
        </p:spPr>
      </p:pic>
      <p:pic>
        <p:nvPicPr>
          <p:cNvPr id="18" name="Imagen 17" descr="Multi_exec_7.eps"/>
          <p:cNvPicPr>
            <a:picLocks/>
          </p:cNvPicPr>
          <p:nvPr/>
        </p:nvPicPr>
        <p:blipFill>
          <a:blip r:embed="rId8"/>
          <a:stretch>
            <a:fillRect/>
          </a:stretch>
        </p:blipFill>
        <p:spPr>
          <a:xfrm>
            <a:off x="5826619" y="5671424"/>
            <a:ext cx="1371600" cy="540000"/>
          </a:xfrm>
          <a:prstGeom prst="rect">
            <a:avLst/>
          </a:prstGeom>
        </p:spPr>
      </p:pic>
      <p:pic>
        <p:nvPicPr>
          <p:cNvPr id="19" name="Imagen 18" descr="Multi_exec_2.eps"/>
          <p:cNvPicPr>
            <a:picLocks/>
          </p:cNvPicPr>
          <p:nvPr/>
        </p:nvPicPr>
        <p:blipFill>
          <a:blip r:embed="rId3"/>
          <a:stretch>
            <a:fillRect/>
          </a:stretch>
        </p:blipFill>
        <p:spPr>
          <a:xfrm>
            <a:off x="706062" y="3396976"/>
            <a:ext cx="1371600" cy="540000"/>
          </a:xfrm>
          <a:prstGeom prst="rect">
            <a:avLst/>
          </a:prstGeom>
        </p:spPr>
      </p:pic>
      <p:pic>
        <p:nvPicPr>
          <p:cNvPr id="20" name="Imagen 19" descr="Multi_exec_3.eps"/>
          <p:cNvPicPr>
            <a:picLocks/>
          </p:cNvPicPr>
          <p:nvPr/>
        </p:nvPicPr>
        <p:blipFill>
          <a:blip r:embed="rId4"/>
          <a:stretch>
            <a:fillRect/>
          </a:stretch>
        </p:blipFill>
        <p:spPr>
          <a:xfrm>
            <a:off x="2306262" y="4082776"/>
            <a:ext cx="1460500" cy="1332000"/>
          </a:xfrm>
          <a:prstGeom prst="rect">
            <a:avLst/>
          </a:prstGeom>
        </p:spPr>
      </p:pic>
      <p:pic>
        <p:nvPicPr>
          <p:cNvPr id="21" name="Imagen 20" descr="Multi_exec_6.eps"/>
          <p:cNvPicPr>
            <a:picLocks/>
          </p:cNvPicPr>
          <p:nvPr/>
        </p:nvPicPr>
        <p:blipFill>
          <a:blip r:embed="rId7"/>
          <a:stretch>
            <a:fillRect/>
          </a:stretch>
        </p:blipFill>
        <p:spPr>
          <a:xfrm>
            <a:off x="706062" y="4158976"/>
            <a:ext cx="1371600" cy="540000"/>
          </a:xfrm>
          <a:prstGeom prst="rect">
            <a:avLst/>
          </a:prstGeom>
        </p:spPr>
      </p:pic>
      <p:pic>
        <p:nvPicPr>
          <p:cNvPr id="22" name="Imagen 21" descr="Multi_exec_7.eps"/>
          <p:cNvPicPr>
            <a:picLocks/>
          </p:cNvPicPr>
          <p:nvPr/>
        </p:nvPicPr>
        <p:blipFill>
          <a:blip r:embed="rId8"/>
          <a:stretch>
            <a:fillRect/>
          </a:stretch>
        </p:blipFill>
        <p:spPr>
          <a:xfrm>
            <a:off x="706062" y="5713456"/>
            <a:ext cx="1371600" cy="540000"/>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a:t>
            </a:fld>
            <a:endParaRPr lang="en-US" altLang="en-US"/>
          </a:p>
        </p:txBody>
      </p:sp>
    </p:spTree>
    <p:extLst>
      <p:ext uri="{BB962C8B-B14F-4D97-AF65-F5344CB8AC3E}">
        <p14:creationId xmlns:p14="http://schemas.microsoft.com/office/powerpoint/2010/main" val="41931637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Content Placeholder 1">
            <a:extLst>
              <a:ext uri="{FF2B5EF4-FFF2-40B4-BE49-F238E27FC236}">
                <a16:creationId xmlns:a16="http://schemas.microsoft.com/office/drawing/2014/main" id="{8E832873-6322-2C4A-94DE-E03C451A1D0E}"/>
              </a:ext>
            </a:extLst>
          </p:cNvPr>
          <p:cNvSpPr>
            <a:spLocks noGrp="1"/>
          </p:cNvSpPr>
          <p:nvPr>
            <p:ph sz="quarter" idx="1"/>
          </p:nvPr>
        </p:nvSpPr>
        <p:spPr>
          <a:xfrm>
            <a:off x="228600" y="996950"/>
            <a:ext cx="8610600" cy="5194300"/>
          </a:xfrm>
        </p:spPr>
        <p:txBody>
          <a:bodyPr/>
          <a:lstStyle/>
          <a:p>
            <a:r>
              <a:rPr lang="en-US" altLang="en-US" dirty="0">
                <a:ea typeface="ＭＳ Ｐゴシック" panose="020B0600070205080204" pitchFamily="34" charset="-128"/>
              </a:rPr>
              <a:t>Same instruction in different threads uses </a:t>
            </a:r>
            <a:r>
              <a:rPr lang="en-US" altLang="en-US" dirty="0">
                <a:solidFill>
                  <a:srgbClr val="0432FF"/>
                </a:solidFill>
                <a:ea typeface="ＭＳ Ｐゴシック" panose="020B0600070205080204" pitchFamily="34" charset="-128"/>
              </a:rPr>
              <a:t>thread id </a:t>
            </a:r>
            <a:r>
              <a:rPr lang="en-US" altLang="en-US" dirty="0">
                <a:ea typeface="ＭＳ Ｐゴシック" panose="020B0600070205080204" pitchFamily="34" charset="-128"/>
              </a:rPr>
              <a:t>to index and access different data elements</a:t>
            </a:r>
          </a:p>
          <a:p>
            <a:endParaRPr lang="en-US" altLang="en-US" dirty="0">
              <a:ea typeface="ＭＳ Ｐゴシック" panose="020B0600070205080204" pitchFamily="34" charset="-128"/>
            </a:endParaRPr>
          </a:p>
        </p:txBody>
      </p:sp>
      <p:sp>
        <p:nvSpPr>
          <p:cNvPr id="68610" name="Title 2">
            <a:extLst>
              <a:ext uri="{FF2B5EF4-FFF2-40B4-BE49-F238E27FC236}">
                <a16:creationId xmlns:a16="http://schemas.microsoft.com/office/drawing/2014/main" id="{46933849-077D-3940-917D-DA1D9B1FA3D1}"/>
              </a:ext>
            </a:extLst>
          </p:cNvPr>
          <p:cNvSpPr>
            <a:spLocks noGrp="1"/>
          </p:cNvSpPr>
          <p:nvPr>
            <p:ph type="title"/>
          </p:nvPr>
        </p:nvSpPr>
        <p:spPr/>
        <p:txBody>
          <a:bodyPr/>
          <a:lstStyle/>
          <a:p>
            <a:r>
              <a:rPr lang="en-US" altLang="en-US" dirty="0">
                <a:ea typeface="ＭＳ Ｐゴシック" panose="020B0600070205080204" pitchFamily="34" charset="-128"/>
              </a:rPr>
              <a:t>Recall: SIMT Memory Access</a:t>
            </a:r>
          </a:p>
        </p:txBody>
      </p:sp>
      <p:sp>
        <p:nvSpPr>
          <p:cNvPr id="68611" name="Content Placeholder 2">
            <a:extLst>
              <a:ext uri="{FF2B5EF4-FFF2-40B4-BE49-F238E27FC236}">
                <a16:creationId xmlns:a16="http://schemas.microsoft.com/office/drawing/2014/main" id="{74A5D4DD-D77A-0940-A16F-F6AE851C3660}"/>
              </a:ext>
            </a:extLst>
          </p:cNvPr>
          <p:cNvSpPr txBox="1">
            <a:spLocks/>
          </p:cNvSpPr>
          <p:nvPr/>
        </p:nvSpPr>
        <p:spPr bwMode="auto">
          <a:xfrm>
            <a:off x="947738" y="2217738"/>
            <a:ext cx="7434262"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19088" marR="0" lvl="0" indent="-319088" algn="l" defTabSz="914400" rtl="0" eaLnBrk="1" fontAlgn="base" latinLnBrk="0" hangingPunct="1">
              <a:lnSpc>
                <a:spcPct val="100000"/>
              </a:lnSpc>
              <a:spcBef>
                <a:spcPts val="700"/>
              </a:spcBef>
              <a:spcAft>
                <a:spcPct val="0"/>
              </a:spcAft>
              <a:buClr>
                <a:srgbClr val="EB6841"/>
              </a:buClr>
              <a:buSzPct val="60000"/>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Let’s assume N=16, 4 threads per warp </a:t>
            </a: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sym typeface="Wingdings" pitchFamily="2" charset="2"/>
              </a:rPr>
              <a:t> 4 warps </a:t>
            </a: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 name="Rectangle 4">
            <a:extLst>
              <a:ext uri="{FF2B5EF4-FFF2-40B4-BE49-F238E27FC236}">
                <a16:creationId xmlns:a16="http://schemas.microsoft.com/office/drawing/2014/main" id="{D826D127-6321-1041-A77D-1BF6CBD21E68}"/>
              </a:ext>
            </a:extLst>
          </p:cNvPr>
          <p:cNvSpPr/>
          <p:nvPr/>
        </p:nvSpPr>
        <p:spPr>
          <a:xfrm>
            <a:off x="1017588"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0</a:t>
            </a:r>
          </a:p>
        </p:txBody>
      </p:sp>
      <p:sp>
        <p:nvSpPr>
          <p:cNvPr id="6" name="Rectangle 5">
            <a:extLst>
              <a:ext uri="{FF2B5EF4-FFF2-40B4-BE49-F238E27FC236}">
                <a16:creationId xmlns:a16="http://schemas.microsoft.com/office/drawing/2014/main" id="{1DAA838D-A1C3-C647-B555-E5B897F4A410}"/>
              </a:ext>
            </a:extLst>
          </p:cNvPr>
          <p:cNvSpPr/>
          <p:nvPr/>
        </p:nvSpPr>
        <p:spPr>
          <a:xfrm>
            <a:off x="1406525" y="2759075"/>
            <a:ext cx="387350"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a:t>
            </a:r>
          </a:p>
        </p:txBody>
      </p:sp>
      <p:sp>
        <p:nvSpPr>
          <p:cNvPr id="7" name="Rectangle 6">
            <a:extLst>
              <a:ext uri="{FF2B5EF4-FFF2-40B4-BE49-F238E27FC236}">
                <a16:creationId xmlns:a16="http://schemas.microsoft.com/office/drawing/2014/main" id="{EA3AD4EC-58A2-0045-A93F-5887297E6ABE}"/>
              </a:ext>
            </a:extLst>
          </p:cNvPr>
          <p:cNvSpPr/>
          <p:nvPr/>
        </p:nvSpPr>
        <p:spPr>
          <a:xfrm>
            <a:off x="1793875"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2</a:t>
            </a:r>
          </a:p>
        </p:txBody>
      </p:sp>
      <p:sp>
        <p:nvSpPr>
          <p:cNvPr id="8" name="Rectangle 7">
            <a:extLst>
              <a:ext uri="{FF2B5EF4-FFF2-40B4-BE49-F238E27FC236}">
                <a16:creationId xmlns:a16="http://schemas.microsoft.com/office/drawing/2014/main" id="{2F8D141F-0AF7-764A-AB73-8683E6717A46}"/>
              </a:ext>
            </a:extLst>
          </p:cNvPr>
          <p:cNvSpPr/>
          <p:nvPr/>
        </p:nvSpPr>
        <p:spPr>
          <a:xfrm>
            <a:off x="2182813"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3</a:t>
            </a:r>
          </a:p>
        </p:txBody>
      </p:sp>
      <p:sp>
        <p:nvSpPr>
          <p:cNvPr id="9" name="Rectangle 8">
            <a:extLst>
              <a:ext uri="{FF2B5EF4-FFF2-40B4-BE49-F238E27FC236}">
                <a16:creationId xmlns:a16="http://schemas.microsoft.com/office/drawing/2014/main" id="{82A032E5-047E-384A-837F-DC92BDEDB76C}"/>
              </a:ext>
            </a:extLst>
          </p:cNvPr>
          <p:cNvSpPr/>
          <p:nvPr/>
        </p:nvSpPr>
        <p:spPr>
          <a:xfrm>
            <a:off x="498475"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0" name="Rectangle 9">
            <a:extLst>
              <a:ext uri="{FF2B5EF4-FFF2-40B4-BE49-F238E27FC236}">
                <a16:creationId xmlns:a16="http://schemas.microsoft.com/office/drawing/2014/main" id="{F3FEEC06-0CE7-4C42-90D1-ECEC43513CE4}"/>
              </a:ext>
            </a:extLst>
          </p:cNvPr>
          <p:cNvSpPr/>
          <p:nvPr/>
        </p:nvSpPr>
        <p:spPr>
          <a:xfrm>
            <a:off x="887413"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1" name="Rectangle 10">
            <a:extLst>
              <a:ext uri="{FF2B5EF4-FFF2-40B4-BE49-F238E27FC236}">
                <a16:creationId xmlns:a16="http://schemas.microsoft.com/office/drawing/2014/main" id="{AF97E484-CBE5-014C-B6C2-B58669F93806}"/>
              </a:ext>
            </a:extLst>
          </p:cNvPr>
          <p:cNvSpPr/>
          <p:nvPr/>
        </p:nvSpPr>
        <p:spPr>
          <a:xfrm>
            <a:off x="1276350"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2" name="Rectangle 11">
            <a:extLst>
              <a:ext uri="{FF2B5EF4-FFF2-40B4-BE49-F238E27FC236}">
                <a16:creationId xmlns:a16="http://schemas.microsoft.com/office/drawing/2014/main" id="{4EB22C74-A3B8-E549-BB49-CE3C30BC0B16}"/>
              </a:ext>
            </a:extLst>
          </p:cNvPr>
          <p:cNvSpPr/>
          <p:nvPr/>
        </p:nvSpPr>
        <p:spPr>
          <a:xfrm>
            <a:off x="1665288"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3" name="Rectangle 12">
            <a:extLst>
              <a:ext uri="{FF2B5EF4-FFF2-40B4-BE49-F238E27FC236}">
                <a16:creationId xmlns:a16="http://schemas.microsoft.com/office/drawing/2014/main" id="{1388E91C-64B7-6548-B493-24E821E6A61F}"/>
              </a:ext>
            </a:extLst>
          </p:cNvPr>
          <p:cNvSpPr/>
          <p:nvPr/>
        </p:nvSpPr>
        <p:spPr>
          <a:xfrm>
            <a:off x="2441575"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4" name="Rectangle 13">
            <a:extLst>
              <a:ext uri="{FF2B5EF4-FFF2-40B4-BE49-F238E27FC236}">
                <a16:creationId xmlns:a16="http://schemas.microsoft.com/office/drawing/2014/main" id="{9A129EA9-7701-AA49-80BF-E52A13C3A61E}"/>
              </a:ext>
            </a:extLst>
          </p:cNvPr>
          <p:cNvSpPr/>
          <p:nvPr/>
        </p:nvSpPr>
        <p:spPr>
          <a:xfrm>
            <a:off x="2830513"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5" name="Rectangle 14">
            <a:extLst>
              <a:ext uri="{FF2B5EF4-FFF2-40B4-BE49-F238E27FC236}">
                <a16:creationId xmlns:a16="http://schemas.microsoft.com/office/drawing/2014/main" id="{3EAABC66-36CB-DC4D-8A9E-B92EBE19493E}"/>
              </a:ext>
            </a:extLst>
          </p:cNvPr>
          <p:cNvSpPr/>
          <p:nvPr/>
        </p:nvSpPr>
        <p:spPr>
          <a:xfrm>
            <a:off x="3219450"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6" name="Rectangle 15">
            <a:extLst>
              <a:ext uri="{FF2B5EF4-FFF2-40B4-BE49-F238E27FC236}">
                <a16:creationId xmlns:a16="http://schemas.microsoft.com/office/drawing/2014/main" id="{7E06C03E-ADB3-7143-90E9-1256C059DBB7}"/>
              </a:ext>
            </a:extLst>
          </p:cNvPr>
          <p:cNvSpPr/>
          <p:nvPr/>
        </p:nvSpPr>
        <p:spPr>
          <a:xfrm>
            <a:off x="3608388"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7" name="Rectangle 16">
            <a:extLst>
              <a:ext uri="{FF2B5EF4-FFF2-40B4-BE49-F238E27FC236}">
                <a16:creationId xmlns:a16="http://schemas.microsoft.com/office/drawing/2014/main" id="{6FD50FAB-A897-CF48-81F3-3B345AA63134}"/>
              </a:ext>
            </a:extLst>
          </p:cNvPr>
          <p:cNvSpPr/>
          <p:nvPr/>
        </p:nvSpPr>
        <p:spPr>
          <a:xfrm>
            <a:off x="4321175" y="4117975"/>
            <a:ext cx="387350"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8" name="Rectangle 17">
            <a:extLst>
              <a:ext uri="{FF2B5EF4-FFF2-40B4-BE49-F238E27FC236}">
                <a16:creationId xmlns:a16="http://schemas.microsoft.com/office/drawing/2014/main" id="{45ECEF67-E66A-EE47-A043-B6751793F336}"/>
              </a:ext>
            </a:extLst>
          </p:cNvPr>
          <p:cNvSpPr/>
          <p:nvPr/>
        </p:nvSpPr>
        <p:spPr>
          <a:xfrm>
            <a:off x="4708525"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9" name="Rectangle 18">
            <a:extLst>
              <a:ext uri="{FF2B5EF4-FFF2-40B4-BE49-F238E27FC236}">
                <a16:creationId xmlns:a16="http://schemas.microsoft.com/office/drawing/2014/main" id="{DFF484D4-477E-1F4E-ADEA-B13DD984DBC6}"/>
              </a:ext>
            </a:extLst>
          </p:cNvPr>
          <p:cNvSpPr/>
          <p:nvPr/>
        </p:nvSpPr>
        <p:spPr>
          <a:xfrm>
            <a:off x="5097463"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0" name="Rectangle 19">
            <a:extLst>
              <a:ext uri="{FF2B5EF4-FFF2-40B4-BE49-F238E27FC236}">
                <a16:creationId xmlns:a16="http://schemas.microsoft.com/office/drawing/2014/main" id="{119D3DDE-72AA-C041-963D-65608E2CA5B4}"/>
              </a:ext>
            </a:extLst>
          </p:cNvPr>
          <p:cNvSpPr/>
          <p:nvPr/>
        </p:nvSpPr>
        <p:spPr>
          <a:xfrm>
            <a:off x="5486400"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1" name="Rectangle 20">
            <a:extLst>
              <a:ext uri="{FF2B5EF4-FFF2-40B4-BE49-F238E27FC236}">
                <a16:creationId xmlns:a16="http://schemas.microsoft.com/office/drawing/2014/main" id="{4766D5C6-8109-124F-B626-06E79E80017D}"/>
              </a:ext>
            </a:extLst>
          </p:cNvPr>
          <p:cNvSpPr/>
          <p:nvPr/>
        </p:nvSpPr>
        <p:spPr>
          <a:xfrm>
            <a:off x="6264275" y="4117975"/>
            <a:ext cx="387350"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2" name="Rectangle 21">
            <a:extLst>
              <a:ext uri="{FF2B5EF4-FFF2-40B4-BE49-F238E27FC236}">
                <a16:creationId xmlns:a16="http://schemas.microsoft.com/office/drawing/2014/main" id="{70A80258-E345-C74C-B432-CC8D1FC5A5F7}"/>
              </a:ext>
            </a:extLst>
          </p:cNvPr>
          <p:cNvSpPr/>
          <p:nvPr/>
        </p:nvSpPr>
        <p:spPr>
          <a:xfrm>
            <a:off x="6651625"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3" name="Rectangle 22">
            <a:extLst>
              <a:ext uri="{FF2B5EF4-FFF2-40B4-BE49-F238E27FC236}">
                <a16:creationId xmlns:a16="http://schemas.microsoft.com/office/drawing/2014/main" id="{9B0A7DD5-7C08-C04C-BEE5-2F76ACCDC461}"/>
              </a:ext>
            </a:extLst>
          </p:cNvPr>
          <p:cNvSpPr/>
          <p:nvPr/>
        </p:nvSpPr>
        <p:spPr>
          <a:xfrm>
            <a:off x="7040563"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4" name="Rectangle 23">
            <a:extLst>
              <a:ext uri="{FF2B5EF4-FFF2-40B4-BE49-F238E27FC236}">
                <a16:creationId xmlns:a16="http://schemas.microsoft.com/office/drawing/2014/main" id="{F6695496-1C59-EC4F-9E84-06FCFDEAF9FC}"/>
              </a:ext>
            </a:extLst>
          </p:cNvPr>
          <p:cNvSpPr/>
          <p:nvPr/>
        </p:nvSpPr>
        <p:spPr>
          <a:xfrm>
            <a:off x="7429500"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5" name="Rectangle 24">
            <a:extLst>
              <a:ext uri="{FF2B5EF4-FFF2-40B4-BE49-F238E27FC236}">
                <a16:creationId xmlns:a16="http://schemas.microsoft.com/office/drawing/2014/main" id="{578DAB97-0D34-8D41-A08A-47C4D619481B}"/>
              </a:ext>
            </a:extLst>
          </p:cNvPr>
          <p:cNvSpPr/>
          <p:nvPr/>
        </p:nvSpPr>
        <p:spPr>
          <a:xfrm>
            <a:off x="2571750"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4</a:t>
            </a:r>
          </a:p>
        </p:txBody>
      </p:sp>
      <p:sp>
        <p:nvSpPr>
          <p:cNvPr id="26" name="Rectangle 25">
            <a:extLst>
              <a:ext uri="{FF2B5EF4-FFF2-40B4-BE49-F238E27FC236}">
                <a16:creationId xmlns:a16="http://schemas.microsoft.com/office/drawing/2014/main" id="{DA979283-D54C-2146-8753-8E836346856D}"/>
              </a:ext>
            </a:extLst>
          </p:cNvPr>
          <p:cNvSpPr/>
          <p:nvPr/>
        </p:nvSpPr>
        <p:spPr>
          <a:xfrm>
            <a:off x="2960688"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5</a:t>
            </a:r>
          </a:p>
        </p:txBody>
      </p:sp>
      <p:sp>
        <p:nvSpPr>
          <p:cNvPr id="27" name="Rectangle 26">
            <a:extLst>
              <a:ext uri="{FF2B5EF4-FFF2-40B4-BE49-F238E27FC236}">
                <a16:creationId xmlns:a16="http://schemas.microsoft.com/office/drawing/2014/main" id="{A641BFC1-C124-534C-9AC4-1D11C00E035B}"/>
              </a:ext>
            </a:extLst>
          </p:cNvPr>
          <p:cNvSpPr/>
          <p:nvPr/>
        </p:nvSpPr>
        <p:spPr>
          <a:xfrm>
            <a:off x="3349625" y="2759075"/>
            <a:ext cx="387350"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6</a:t>
            </a:r>
          </a:p>
        </p:txBody>
      </p:sp>
      <p:sp>
        <p:nvSpPr>
          <p:cNvPr id="28" name="Rectangle 27">
            <a:extLst>
              <a:ext uri="{FF2B5EF4-FFF2-40B4-BE49-F238E27FC236}">
                <a16:creationId xmlns:a16="http://schemas.microsoft.com/office/drawing/2014/main" id="{75EC848E-B3FB-9E46-8F79-D2CBABA5C4CD}"/>
              </a:ext>
            </a:extLst>
          </p:cNvPr>
          <p:cNvSpPr/>
          <p:nvPr/>
        </p:nvSpPr>
        <p:spPr>
          <a:xfrm>
            <a:off x="3736975"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7</a:t>
            </a:r>
          </a:p>
        </p:txBody>
      </p:sp>
      <p:sp>
        <p:nvSpPr>
          <p:cNvPr id="29" name="Rectangle 28">
            <a:extLst>
              <a:ext uri="{FF2B5EF4-FFF2-40B4-BE49-F238E27FC236}">
                <a16:creationId xmlns:a16="http://schemas.microsoft.com/office/drawing/2014/main" id="{3E644A32-EBAF-284B-86EF-99A99ED9F041}"/>
              </a:ext>
            </a:extLst>
          </p:cNvPr>
          <p:cNvSpPr/>
          <p:nvPr/>
        </p:nvSpPr>
        <p:spPr>
          <a:xfrm>
            <a:off x="4125913"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8</a:t>
            </a:r>
          </a:p>
        </p:txBody>
      </p:sp>
      <p:sp>
        <p:nvSpPr>
          <p:cNvPr id="30" name="Rectangle 29">
            <a:extLst>
              <a:ext uri="{FF2B5EF4-FFF2-40B4-BE49-F238E27FC236}">
                <a16:creationId xmlns:a16="http://schemas.microsoft.com/office/drawing/2014/main" id="{8875AFBA-4BB6-0D42-AFAA-3743968DEAEE}"/>
              </a:ext>
            </a:extLst>
          </p:cNvPr>
          <p:cNvSpPr/>
          <p:nvPr/>
        </p:nvSpPr>
        <p:spPr>
          <a:xfrm>
            <a:off x="4514850"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9</a:t>
            </a:r>
          </a:p>
        </p:txBody>
      </p:sp>
      <p:sp>
        <p:nvSpPr>
          <p:cNvPr id="31" name="Rectangle 30">
            <a:extLst>
              <a:ext uri="{FF2B5EF4-FFF2-40B4-BE49-F238E27FC236}">
                <a16:creationId xmlns:a16="http://schemas.microsoft.com/office/drawing/2014/main" id="{076EFB86-85F0-1F41-BE1C-E0CA128397AA}"/>
              </a:ext>
            </a:extLst>
          </p:cNvPr>
          <p:cNvSpPr/>
          <p:nvPr/>
        </p:nvSpPr>
        <p:spPr>
          <a:xfrm>
            <a:off x="4903788"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10</a:t>
            </a:r>
          </a:p>
        </p:txBody>
      </p:sp>
      <p:sp>
        <p:nvSpPr>
          <p:cNvPr id="32" name="Rectangle 31">
            <a:extLst>
              <a:ext uri="{FF2B5EF4-FFF2-40B4-BE49-F238E27FC236}">
                <a16:creationId xmlns:a16="http://schemas.microsoft.com/office/drawing/2014/main" id="{8B6680A6-D5D7-E740-8A1C-8E7DD22E41AA}"/>
              </a:ext>
            </a:extLst>
          </p:cNvPr>
          <p:cNvSpPr/>
          <p:nvPr/>
        </p:nvSpPr>
        <p:spPr>
          <a:xfrm>
            <a:off x="5292725" y="2759075"/>
            <a:ext cx="387350"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11</a:t>
            </a:r>
          </a:p>
        </p:txBody>
      </p:sp>
      <p:sp>
        <p:nvSpPr>
          <p:cNvPr id="33" name="Rectangle 32">
            <a:extLst>
              <a:ext uri="{FF2B5EF4-FFF2-40B4-BE49-F238E27FC236}">
                <a16:creationId xmlns:a16="http://schemas.microsoft.com/office/drawing/2014/main" id="{578D821B-CFB6-794D-B12E-C9DB600E6DEA}"/>
              </a:ext>
            </a:extLst>
          </p:cNvPr>
          <p:cNvSpPr/>
          <p:nvPr/>
        </p:nvSpPr>
        <p:spPr>
          <a:xfrm>
            <a:off x="5680075"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12</a:t>
            </a:r>
          </a:p>
        </p:txBody>
      </p:sp>
      <p:sp>
        <p:nvSpPr>
          <p:cNvPr id="34" name="Rectangle 33">
            <a:extLst>
              <a:ext uri="{FF2B5EF4-FFF2-40B4-BE49-F238E27FC236}">
                <a16:creationId xmlns:a16="http://schemas.microsoft.com/office/drawing/2014/main" id="{63E4E294-3A54-9B40-B6EB-4C9D8CE2AC30}"/>
              </a:ext>
            </a:extLst>
          </p:cNvPr>
          <p:cNvSpPr/>
          <p:nvPr/>
        </p:nvSpPr>
        <p:spPr>
          <a:xfrm>
            <a:off x="6069013"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13</a:t>
            </a:r>
          </a:p>
        </p:txBody>
      </p:sp>
      <p:sp>
        <p:nvSpPr>
          <p:cNvPr id="35" name="Rectangle 34">
            <a:extLst>
              <a:ext uri="{FF2B5EF4-FFF2-40B4-BE49-F238E27FC236}">
                <a16:creationId xmlns:a16="http://schemas.microsoft.com/office/drawing/2014/main" id="{6B855652-2015-B44A-8031-927A222EB748}"/>
              </a:ext>
            </a:extLst>
          </p:cNvPr>
          <p:cNvSpPr/>
          <p:nvPr/>
        </p:nvSpPr>
        <p:spPr>
          <a:xfrm>
            <a:off x="6457950"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14</a:t>
            </a:r>
          </a:p>
        </p:txBody>
      </p:sp>
      <p:sp>
        <p:nvSpPr>
          <p:cNvPr id="36" name="Rectangle 35">
            <a:extLst>
              <a:ext uri="{FF2B5EF4-FFF2-40B4-BE49-F238E27FC236}">
                <a16:creationId xmlns:a16="http://schemas.microsoft.com/office/drawing/2014/main" id="{FC042EF1-895C-4B47-B45B-E1F9560C44DC}"/>
              </a:ext>
            </a:extLst>
          </p:cNvPr>
          <p:cNvSpPr/>
          <p:nvPr/>
        </p:nvSpPr>
        <p:spPr>
          <a:xfrm>
            <a:off x="6846888"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15</a:t>
            </a:r>
          </a:p>
        </p:txBody>
      </p:sp>
      <p:sp>
        <p:nvSpPr>
          <p:cNvPr id="37" name="Rectangle 36">
            <a:extLst>
              <a:ext uri="{FF2B5EF4-FFF2-40B4-BE49-F238E27FC236}">
                <a16:creationId xmlns:a16="http://schemas.microsoft.com/office/drawing/2014/main" id="{E6DA8435-186F-5848-A7BD-BA0E765B254F}"/>
              </a:ext>
            </a:extLst>
          </p:cNvPr>
          <p:cNvSpPr/>
          <p:nvPr/>
        </p:nvSpPr>
        <p:spPr>
          <a:xfrm>
            <a:off x="1017588"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0</a:t>
            </a:r>
          </a:p>
        </p:txBody>
      </p:sp>
      <p:sp>
        <p:nvSpPr>
          <p:cNvPr id="38" name="Rectangle 37">
            <a:extLst>
              <a:ext uri="{FF2B5EF4-FFF2-40B4-BE49-F238E27FC236}">
                <a16:creationId xmlns:a16="http://schemas.microsoft.com/office/drawing/2014/main" id="{8A52B0D6-A4E9-9C41-8FFF-B749E03A133D}"/>
              </a:ext>
            </a:extLst>
          </p:cNvPr>
          <p:cNvSpPr/>
          <p:nvPr/>
        </p:nvSpPr>
        <p:spPr>
          <a:xfrm>
            <a:off x="1406525" y="3213100"/>
            <a:ext cx="387350"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a:t>
            </a:r>
          </a:p>
        </p:txBody>
      </p:sp>
      <p:sp>
        <p:nvSpPr>
          <p:cNvPr id="39" name="Rectangle 38">
            <a:extLst>
              <a:ext uri="{FF2B5EF4-FFF2-40B4-BE49-F238E27FC236}">
                <a16:creationId xmlns:a16="http://schemas.microsoft.com/office/drawing/2014/main" id="{0F98498B-86D9-CB42-94D5-B77FDCA1CDD8}"/>
              </a:ext>
            </a:extLst>
          </p:cNvPr>
          <p:cNvSpPr/>
          <p:nvPr/>
        </p:nvSpPr>
        <p:spPr>
          <a:xfrm>
            <a:off x="1793875"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2</a:t>
            </a:r>
          </a:p>
        </p:txBody>
      </p:sp>
      <p:sp>
        <p:nvSpPr>
          <p:cNvPr id="40" name="Rectangle 39">
            <a:extLst>
              <a:ext uri="{FF2B5EF4-FFF2-40B4-BE49-F238E27FC236}">
                <a16:creationId xmlns:a16="http://schemas.microsoft.com/office/drawing/2014/main" id="{705F7735-1DF1-1F41-B344-4780621CE59F}"/>
              </a:ext>
            </a:extLst>
          </p:cNvPr>
          <p:cNvSpPr/>
          <p:nvPr/>
        </p:nvSpPr>
        <p:spPr>
          <a:xfrm>
            <a:off x="2182813"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3</a:t>
            </a:r>
          </a:p>
        </p:txBody>
      </p:sp>
      <p:sp>
        <p:nvSpPr>
          <p:cNvPr id="41" name="Rectangle 40">
            <a:extLst>
              <a:ext uri="{FF2B5EF4-FFF2-40B4-BE49-F238E27FC236}">
                <a16:creationId xmlns:a16="http://schemas.microsoft.com/office/drawing/2014/main" id="{4C06ADC5-3B9C-0844-B352-50AEE8302127}"/>
              </a:ext>
            </a:extLst>
          </p:cNvPr>
          <p:cNvSpPr/>
          <p:nvPr/>
        </p:nvSpPr>
        <p:spPr>
          <a:xfrm>
            <a:off x="2571750"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4</a:t>
            </a:r>
          </a:p>
        </p:txBody>
      </p:sp>
      <p:sp>
        <p:nvSpPr>
          <p:cNvPr id="42" name="Rectangle 41">
            <a:extLst>
              <a:ext uri="{FF2B5EF4-FFF2-40B4-BE49-F238E27FC236}">
                <a16:creationId xmlns:a16="http://schemas.microsoft.com/office/drawing/2014/main" id="{E3213785-59AF-794A-847C-63D5FD4AFA76}"/>
              </a:ext>
            </a:extLst>
          </p:cNvPr>
          <p:cNvSpPr/>
          <p:nvPr/>
        </p:nvSpPr>
        <p:spPr>
          <a:xfrm>
            <a:off x="2960688"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5</a:t>
            </a:r>
          </a:p>
        </p:txBody>
      </p:sp>
      <p:sp>
        <p:nvSpPr>
          <p:cNvPr id="43" name="Rectangle 42">
            <a:extLst>
              <a:ext uri="{FF2B5EF4-FFF2-40B4-BE49-F238E27FC236}">
                <a16:creationId xmlns:a16="http://schemas.microsoft.com/office/drawing/2014/main" id="{B7CD4457-8F81-734F-AA09-57A47AB5832B}"/>
              </a:ext>
            </a:extLst>
          </p:cNvPr>
          <p:cNvSpPr/>
          <p:nvPr/>
        </p:nvSpPr>
        <p:spPr>
          <a:xfrm>
            <a:off x="3349625" y="3213100"/>
            <a:ext cx="387350"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6</a:t>
            </a:r>
          </a:p>
        </p:txBody>
      </p:sp>
      <p:sp>
        <p:nvSpPr>
          <p:cNvPr id="44" name="Rectangle 43">
            <a:extLst>
              <a:ext uri="{FF2B5EF4-FFF2-40B4-BE49-F238E27FC236}">
                <a16:creationId xmlns:a16="http://schemas.microsoft.com/office/drawing/2014/main" id="{B8F3CC07-668B-D245-AAA3-D5021B8745BD}"/>
              </a:ext>
            </a:extLst>
          </p:cNvPr>
          <p:cNvSpPr/>
          <p:nvPr/>
        </p:nvSpPr>
        <p:spPr>
          <a:xfrm>
            <a:off x="3736975"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7</a:t>
            </a:r>
          </a:p>
        </p:txBody>
      </p:sp>
      <p:sp>
        <p:nvSpPr>
          <p:cNvPr id="45" name="Rectangle 44">
            <a:extLst>
              <a:ext uri="{FF2B5EF4-FFF2-40B4-BE49-F238E27FC236}">
                <a16:creationId xmlns:a16="http://schemas.microsoft.com/office/drawing/2014/main" id="{56E4C541-E56C-D743-A011-697091598A52}"/>
              </a:ext>
            </a:extLst>
          </p:cNvPr>
          <p:cNvSpPr/>
          <p:nvPr/>
        </p:nvSpPr>
        <p:spPr>
          <a:xfrm>
            <a:off x="4125913"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8</a:t>
            </a:r>
          </a:p>
        </p:txBody>
      </p:sp>
      <p:sp>
        <p:nvSpPr>
          <p:cNvPr id="46" name="Rectangle 45">
            <a:extLst>
              <a:ext uri="{FF2B5EF4-FFF2-40B4-BE49-F238E27FC236}">
                <a16:creationId xmlns:a16="http://schemas.microsoft.com/office/drawing/2014/main" id="{EC1B42CC-7DB2-2642-BE5F-5867236ED8B1}"/>
              </a:ext>
            </a:extLst>
          </p:cNvPr>
          <p:cNvSpPr/>
          <p:nvPr/>
        </p:nvSpPr>
        <p:spPr>
          <a:xfrm>
            <a:off x="4514850"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9</a:t>
            </a:r>
          </a:p>
        </p:txBody>
      </p:sp>
      <p:sp>
        <p:nvSpPr>
          <p:cNvPr id="47" name="Rectangle 46">
            <a:extLst>
              <a:ext uri="{FF2B5EF4-FFF2-40B4-BE49-F238E27FC236}">
                <a16:creationId xmlns:a16="http://schemas.microsoft.com/office/drawing/2014/main" id="{A5782D08-DC76-A448-A8A7-A8CE1AFC4BD5}"/>
              </a:ext>
            </a:extLst>
          </p:cNvPr>
          <p:cNvSpPr/>
          <p:nvPr/>
        </p:nvSpPr>
        <p:spPr>
          <a:xfrm>
            <a:off x="4903788"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10</a:t>
            </a:r>
          </a:p>
        </p:txBody>
      </p:sp>
      <p:sp>
        <p:nvSpPr>
          <p:cNvPr id="48" name="Rectangle 47">
            <a:extLst>
              <a:ext uri="{FF2B5EF4-FFF2-40B4-BE49-F238E27FC236}">
                <a16:creationId xmlns:a16="http://schemas.microsoft.com/office/drawing/2014/main" id="{F3F3F008-7BD3-B24E-AB15-5BEFD7932659}"/>
              </a:ext>
            </a:extLst>
          </p:cNvPr>
          <p:cNvSpPr/>
          <p:nvPr/>
        </p:nvSpPr>
        <p:spPr>
          <a:xfrm>
            <a:off x="5292725" y="3213100"/>
            <a:ext cx="387350"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11</a:t>
            </a:r>
          </a:p>
        </p:txBody>
      </p:sp>
      <p:sp>
        <p:nvSpPr>
          <p:cNvPr id="49" name="Rectangle 48">
            <a:extLst>
              <a:ext uri="{FF2B5EF4-FFF2-40B4-BE49-F238E27FC236}">
                <a16:creationId xmlns:a16="http://schemas.microsoft.com/office/drawing/2014/main" id="{30BD9733-C965-D84A-9DE8-0DEEBF44DCB3}"/>
              </a:ext>
            </a:extLst>
          </p:cNvPr>
          <p:cNvSpPr/>
          <p:nvPr/>
        </p:nvSpPr>
        <p:spPr>
          <a:xfrm>
            <a:off x="5680075"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12</a:t>
            </a:r>
          </a:p>
        </p:txBody>
      </p:sp>
      <p:sp>
        <p:nvSpPr>
          <p:cNvPr id="50" name="Rectangle 49">
            <a:extLst>
              <a:ext uri="{FF2B5EF4-FFF2-40B4-BE49-F238E27FC236}">
                <a16:creationId xmlns:a16="http://schemas.microsoft.com/office/drawing/2014/main" id="{3681B00A-76A6-D34C-B034-CD2EC6CBC7D9}"/>
              </a:ext>
            </a:extLst>
          </p:cNvPr>
          <p:cNvSpPr/>
          <p:nvPr/>
        </p:nvSpPr>
        <p:spPr>
          <a:xfrm>
            <a:off x="6069013"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13</a:t>
            </a:r>
          </a:p>
        </p:txBody>
      </p:sp>
      <p:sp>
        <p:nvSpPr>
          <p:cNvPr id="51" name="Rectangle 50">
            <a:extLst>
              <a:ext uri="{FF2B5EF4-FFF2-40B4-BE49-F238E27FC236}">
                <a16:creationId xmlns:a16="http://schemas.microsoft.com/office/drawing/2014/main" id="{42C8E07E-9068-324A-95AF-FD148A847E24}"/>
              </a:ext>
            </a:extLst>
          </p:cNvPr>
          <p:cNvSpPr/>
          <p:nvPr/>
        </p:nvSpPr>
        <p:spPr>
          <a:xfrm>
            <a:off x="6457950"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14</a:t>
            </a:r>
          </a:p>
        </p:txBody>
      </p:sp>
      <p:sp>
        <p:nvSpPr>
          <p:cNvPr id="52" name="Rectangle 51">
            <a:extLst>
              <a:ext uri="{FF2B5EF4-FFF2-40B4-BE49-F238E27FC236}">
                <a16:creationId xmlns:a16="http://schemas.microsoft.com/office/drawing/2014/main" id="{863F6255-6BCE-454A-B92D-FF69A3309D96}"/>
              </a:ext>
            </a:extLst>
          </p:cNvPr>
          <p:cNvSpPr/>
          <p:nvPr/>
        </p:nvSpPr>
        <p:spPr>
          <a:xfrm>
            <a:off x="6846888"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15</a:t>
            </a:r>
          </a:p>
        </p:txBody>
      </p:sp>
      <p:sp>
        <p:nvSpPr>
          <p:cNvPr id="53" name="Rectangle 52">
            <a:extLst>
              <a:ext uri="{FF2B5EF4-FFF2-40B4-BE49-F238E27FC236}">
                <a16:creationId xmlns:a16="http://schemas.microsoft.com/office/drawing/2014/main" id="{B16BFF32-824C-6042-950C-98E725E229A5}"/>
              </a:ext>
            </a:extLst>
          </p:cNvPr>
          <p:cNvSpPr/>
          <p:nvPr/>
        </p:nvSpPr>
        <p:spPr>
          <a:xfrm>
            <a:off x="498475"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4" name="Rectangle 53">
            <a:extLst>
              <a:ext uri="{FF2B5EF4-FFF2-40B4-BE49-F238E27FC236}">
                <a16:creationId xmlns:a16="http://schemas.microsoft.com/office/drawing/2014/main" id="{8E95D9B0-32DD-4946-B59E-50D036F6F7B5}"/>
              </a:ext>
            </a:extLst>
          </p:cNvPr>
          <p:cNvSpPr/>
          <p:nvPr/>
        </p:nvSpPr>
        <p:spPr>
          <a:xfrm>
            <a:off x="887413"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5" name="Rectangle 54">
            <a:extLst>
              <a:ext uri="{FF2B5EF4-FFF2-40B4-BE49-F238E27FC236}">
                <a16:creationId xmlns:a16="http://schemas.microsoft.com/office/drawing/2014/main" id="{F6E4657E-BF75-7244-8F0F-C5EE5B78877E}"/>
              </a:ext>
            </a:extLst>
          </p:cNvPr>
          <p:cNvSpPr/>
          <p:nvPr/>
        </p:nvSpPr>
        <p:spPr>
          <a:xfrm>
            <a:off x="1276350"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6" name="Rectangle 55">
            <a:extLst>
              <a:ext uri="{FF2B5EF4-FFF2-40B4-BE49-F238E27FC236}">
                <a16:creationId xmlns:a16="http://schemas.microsoft.com/office/drawing/2014/main" id="{F4DFD4EA-F996-5449-8F78-D71AD32C0BC1}"/>
              </a:ext>
            </a:extLst>
          </p:cNvPr>
          <p:cNvSpPr/>
          <p:nvPr/>
        </p:nvSpPr>
        <p:spPr>
          <a:xfrm>
            <a:off x="1665288"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7" name="Rectangle 56">
            <a:extLst>
              <a:ext uri="{FF2B5EF4-FFF2-40B4-BE49-F238E27FC236}">
                <a16:creationId xmlns:a16="http://schemas.microsoft.com/office/drawing/2014/main" id="{86DD4187-CBAF-B846-84D1-034E5CF2C377}"/>
              </a:ext>
            </a:extLst>
          </p:cNvPr>
          <p:cNvSpPr/>
          <p:nvPr/>
        </p:nvSpPr>
        <p:spPr>
          <a:xfrm>
            <a:off x="2441575"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8" name="Rectangle 57">
            <a:extLst>
              <a:ext uri="{FF2B5EF4-FFF2-40B4-BE49-F238E27FC236}">
                <a16:creationId xmlns:a16="http://schemas.microsoft.com/office/drawing/2014/main" id="{B22D04DE-50F6-314E-8E2E-CA7FEFDCE48E}"/>
              </a:ext>
            </a:extLst>
          </p:cNvPr>
          <p:cNvSpPr/>
          <p:nvPr/>
        </p:nvSpPr>
        <p:spPr>
          <a:xfrm>
            <a:off x="2830513"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9" name="Rectangle 58">
            <a:extLst>
              <a:ext uri="{FF2B5EF4-FFF2-40B4-BE49-F238E27FC236}">
                <a16:creationId xmlns:a16="http://schemas.microsoft.com/office/drawing/2014/main" id="{466CF78B-E557-EA47-A8B2-25AC275BBFF3}"/>
              </a:ext>
            </a:extLst>
          </p:cNvPr>
          <p:cNvSpPr/>
          <p:nvPr/>
        </p:nvSpPr>
        <p:spPr>
          <a:xfrm>
            <a:off x="3219450"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0" name="Rectangle 59">
            <a:extLst>
              <a:ext uri="{FF2B5EF4-FFF2-40B4-BE49-F238E27FC236}">
                <a16:creationId xmlns:a16="http://schemas.microsoft.com/office/drawing/2014/main" id="{64638EEF-316B-3D4F-96BF-9FCD83332EBA}"/>
              </a:ext>
            </a:extLst>
          </p:cNvPr>
          <p:cNvSpPr/>
          <p:nvPr/>
        </p:nvSpPr>
        <p:spPr>
          <a:xfrm>
            <a:off x="3608388"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1" name="Rectangle 60">
            <a:extLst>
              <a:ext uri="{FF2B5EF4-FFF2-40B4-BE49-F238E27FC236}">
                <a16:creationId xmlns:a16="http://schemas.microsoft.com/office/drawing/2014/main" id="{14B443E5-5682-FB4F-BE68-5C73C597FF64}"/>
              </a:ext>
            </a:extLst>
          </p:cNvPr>
          <p:cNvSpPr/>
          <p:nvPr/>
        </p:nvSpPr>
        <p:spPr>
          <a:xfrm>
            <a:off x="4321175" y="4572000"/>
            <a:ext cx="387350"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2" name="Rectangle 61">
            <a:extLst>
              <a:ext uri="{FF2B5EF4-FFF2-40B4-BE49-F238E27FC236}">
                <a16:creationId xmlns:a16="http://schemas.microsoft.com/office/drawing/2014/main" id="{F8BC56A1-3AB0-2445-8A4A-5063103125BB}"/>
              </a:ext>
            </a:extLst>
          </p:cNvPr>
          <p:cNvSpPr/>
          <p:nvPr/>
        </p:nvSpPr>
        <p:spPr>
          <a:xfrm>
            <a:off x="4708525"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3" name="Rectangle 62">
            <a:extLst>
              <a:ext uri="{FF2B5EF4-FFF2-40B4-BE49-F238E27FC236}">
                <a16:creationId xmlns:a16="http://schemas.microsoft.com/office/drawing/2014/main" id="{D9A1F0B1-97EB-5548-8662-9F764492B036}"/>
              </a:ext>
            </a:extLst>
          </p:cNvPr>
          <p:cNvSpPr/>
          <p:nvPr/>
        </p:nvSpPr>
        <p:spPr>
          <a:xfrm>
            <a:off x="5097463"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4" name="Rectangle 63">
            <a:extLst>
              <a:ext uri="{FF2B5EF4-FFF2-40B4-BE49-F238E27FC236}">
                <a16:creationId xmlns:a16="http://schemas.microsoft.com/office/drawing/2014/main" id="{FDE3756D-789D-A84F-A57A-9B62617832A8}"/>
              </a:ext>
            </a:extLst>
          </p:cNvPr>
          <p:cNvSpPr/>
          <p:nvPr/>
        </p:nvSpPr>
        <p:spPr>
          <a:xfrm>
            <a:off x="5486400"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5" name="Rectangle 64">
            <a:extLst>
              <a:ext uri="{FF2B5EF4-FFF2-40B4-BE49-F238E27FC236}">
                <a16:creationId xmlns:a16="http://schemas.microsoft.com/office/drawing/2014/main" id="{6ACB2964-3E28-8B46-B7EB-E12D1F854D03}"/>
              </a:ext>
            </a:extLst>
          </p:cNvPr>
          <p:cNvSpPr/>
          <p:nvPr/>
        </p:nvSpPr>
        <p:spPr>
          <a:xfrm>
            <a:off x="6264275" y="4572000"/>
            <a:ext cx="387350"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6" name="Rectangle 65">
            <a:extLst>
              <a:ext uri="{FF2B5EF4-FFF2-40B4-BE49-F238E27FC236}">
                <a16:creationId xmlns:a16="http://schemas.microsoft.com/office/drawing/2014/main" id="{9839DF7C-0D0E-6A40-936A-842336F7DBE4}"/>
              </a:ext>
            </a:extLst>
          </p:cNvPr>
          <p:cNvSpPr/>
          <p:nvPr/>
        </p:nvSpPr>
        <p:spPr>
          <a:xfrm>
            <a:off x="6651625"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7" name="Rectangle 66">
            <a:extLst>
              <a:ext uri="{FF2B5EF4-FFF2-40B4-BE49-F238E27FC236}">
                <a16:creationId xmlns:a16="http://schemas.microsoft.com/office/drawing/2014/main" id="{2DDEBCEE-403C-4543-894B-9BD70E88B0AF}"/>
              </a:ext>
            </a:extLst>
          </p:cNvPr>
          <p:cNvSpPr/>
          <p:nvPr/>
        </p:nvSpPr>
        <p:spPr>
          <a:xfrm>
            <a:off x="7040563"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8" name="Rectangle 67">
            <a:extLst>
              <a:ext uri="{FF2B5EF4-FFF2-40B4-BE49-F238E27FC236}">
                <a16:creationId xmlns:a16="http://schemas.microsoft.com/office/drawing/2014/main" id="{BBEBFA62-7693-104C-BAB2-53E3F2E70341}"/>
              </a:ext>
            </a:extLst>
          </p:cNvPr>
          <p:cNvSpPr/>
          <p:nvPr/>
        </p:nvSpPr>
        <p:spPr>
          <a:xfrm>
            <a:off x="7429500"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8676" name="TextBox 70">
            <a:extLst>
              <a:ext uri="{FF2B5EF4-FFF2-40B4-BE49-F238E27FC236}">
                <a16:creationId xmlns:a16="http://schemas.microsoft.com/office/drawing/2014/main" id="{2E8345C5-37CA-794B-8489-7C8AC96C6917}"/>
              </a:ext>
            </a:extLst>
          </p:cNvPr>
          <p:cNvSpPr txBox="1">
            <a:spLocks noChangeArrowheads="1"/>
          </p:cNvSpPr>
          <p:nvPr/>
        </p:nvSpPr>
        <p:spPr bwMode="auto">
          <a:xfrm>
            <a:off x="563563" y="2960688"/>
            <a:ext cx="365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
        <p:nvSpPr>
          <p:cNvPr id="68677" name="TextBox 73">
            <a:extLst>
              <a:ext uri="{FF2B5EF4-FFF2-40B4-BE49-F238E27FC236}">
                <a16:creationId xmlns:a16="http://schemas.microsoft.com/office/drawing/2014/main" id="{E9C9EA99-BFD9-0141-93C0-EBD2599E69FE}"/>
              </a:ext>
            </a:extLst>
          </p:cNvPr>
          <p:cNvSpPr txBox="1">
            <a:spLocks noChangeArrowheads="1"/>
          </p:cNvSpPr>
          <p:nvPr/>
        </p:nvSpPr>
        <p:spPr bwMode="auto">
          <a:xfrm>
            <a:off x="304800" y="4319588"/>
            <a:ext cx="333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
        <p:nvSpPr>
          <p:cNvPr id="68678" name="Freeform 10">
            <a:extLst>
              <a:ext uri="{FF2B5EF4-FFF2-40B4-BE49-F238E27FC236}">
                <a16:creationId xmlns:a16="http://schemas.microsoft.com/office/drawing/2014/main" id="{785210B4-2EB6-5848-8F0F-3E837E628714}"/>
              </a:ext>
            </a:extLst>
          </p:cNvPr>
          <p:cNvSpPr>
            <a:spLocks/>
          </p:cNvSpPr>
          <p:nvPr/>
        </p:nvSpPr>
        <p:spPr bwMode="auto">
          <a:xfrm>
            <a:off x="563563"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79" name="Freeform 11">
            <a:extLst>
              <a:ext uri="{FF2B5EF4-FFF2-40B4-BE49-F238E27FC236}">
                <a16:creationId xmlns:a16="http://schemas.microsoft.com/office/drawing/2014/main" id="{1E420989-498F-EB4B-87CB-B0844E64CAC7}"/>
              </a:ext>
            </a:extLst>
          </p:cNvPr>
          <p:cNvSpPr>
            <a:spLocks/>
          </p:cNvSpPr>
          <p:nvPr/>
        </p:nvSpPr>
        <p:spPr bwMode="auto">
          <a:xfrm>
            <a:off x="952500"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0" name="Freeform 12">
            <a:extLst>
              <a:ext uri="{FF2B5EF4-FFF2-40B4-BE49-F238E27FC236}">
                <a16:creationId xmlns:a16="http://schemas.microsoft.com/office/drawing/2014/main" id="{C92F0F44-9370-934C-ACAD-F4DCC120734E}"/>
              </a:ext>
            </a:extLst>
          </p:cNvPr>
          <p:cNvSpPr>
            <a:spLocks/>
          </p:cNvSpPr>
          <p:nvPr/>
        </p:nvSpPr>
        <p:spPr bwMode="auto">
          <a:xfrm>
            <a:off x="1341438"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1" name="Freeform 14">
            <a:extLst>
              <a:ext uri="{FF2B5EF4-FFF2-40B4-BE49-F238E27FC236}">
                <a16:creationId xmlns:a16="http://schemas.microsoft.com/office/drawing/2014/main" id="{9547AC96-CC0C-4245-853A-E348B8A4EBE0}"/>
              </a:ext>
            </a:extLst>
          </p:cNvPr>
          <p:cNvSpPr>
            <a:spLocks/>
          </p:cNvSpPr>
          <p:nvPr/>
        </p:nvSpPr>
        <p:spPr bwMode="auto">
          <a:xfrm>
            <a:off x="1793875" y="4068763"/>
            <a:ext cx="274638"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2" name="TextBox 79">
            <a:extLst>
              <a:ext uri="{FF2B5EF4-FFF2-40B4-BE49-F238E27FC236}">
                <a16:creationId xmlns:a16="http://schemas.microsoft.com/office/drawing/2014/main" id="{5B2B7488-F538-FC42-AFF3-CCD4209F0D5E}"/>
              </a:ext>
            </a:extLst>
          </p:cNvPr>
          <p:cNvSpPr txBox="1">
            <a:spLocks noChangeArrowheads="1"/>
          </p:cNvSpPr>
          <p:nvPr/>
        </p:nvSpPr>
        <p:spPr bwMode="auto">
          <a:xfrm>
            <a:off x="2247900" y="4319588"/>
            <a:ext cx="333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
        <p:nvSpPr>
          <p:cNvPr id="68683" name="Freeform 10">
            <a:extLst>
              <a:ext uri="{FF2B5EF4-FFF2-40B4-BE49-F238E27FC236}">
                <a16:creationId xmlns:a16="http://schemas.microsoft.com/office/drawing/2014/main" id="{63C9AF80-AEA5-1B48-A189-AA4FC6A5A18A}"/>
              </a:ext>
            </a:extLst>
          </p:cNvPr>
          <p:cNvSpPr>
            <a:spLocks/>
          </p:cNvSpPr>
          <p:nvPr/>
        </p:nvSpPr>
        <p:spPr bwMode="auto">
          <a:xfrm>
            <a:off x="2506663"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4" name="Freeform 11">
            <a:extLst>
              <a:ext uri="{FF2B5EF4-FFF2-40B4-BE49-F238E27FC236}">
                <a16:creationId xmlns:a16="http://schemas.microsoft.com/office/drawing/2014/main" id="{FBCD1E8C-AAD6-2E4C-B47C-48BED53938EE}"/>
              </a:ext>
            </a:extLst>
          </p:cNvPr>
          <p:cNvSpPr>
            <a:spLocks/>
          </p:cNvSpPr>
          <p:nvPr/>
        </p:nvSpPr>
        <p:spPr bwMode="auto">
          <a:xfrm>
            <a:off x="2895600"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5" name="Freeform 12">
            <a:extLst>
              <a:ext uri="{FF2B5EF4-FFF2-40B4-BE49-F238E27FC236}">
                <a16:creationId xmlns:a16="http://schemas.microsoft.com/office/drawing/2014/main" id="{900A092A-E5BE-DA4A-9FB6-A25FEEFB2453}"/>
              </a:ext>
            </a:extLst>
          </p:cNvPr>
          <p:cNvSpPr>
            <a:spLocks/>
          </p:cNvSpPr>
          <p:nvPr/>
        </p:nvSpPr>
        <p:spPr bwMode="auto">
          <a:xfrm>
            <a:off x="3284538"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6" name="Freeform 14">
            <a:extLst>
              <a:ext uri="{FF2B5EF4-FFF2-40B4-BE49-F238E27FC236}">
                <a16:creationId xmlns:a16="http://schemas.microsoft.com/office/drawing/2014/main" id="{DEAF24E9-1424-1A46-926A-DE47750912E8}"/>
              </a:ext>
            </a:extLst>
          </p:cNvPr>
          <p:cNvSpPr>
            <a:spLocks/>
          </p:cNvSpPr>
          <p:nvPr/>
        </p:nvSpPr>
        <p:spPr bwMode="auto">
          <a:xfrm>
            <a:off x="3736975" y="4068763"/>
            <a:ext cx="274638"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7" name="TextBox 84">
            <a:extLst>
              <a:ext uri="{FF2B5EF4-FFF2-40B4-BE49-F238E27FC236}">
                <a16:creationId xmlns:a16="http://schemas.microsoft.com/office/drawing/2014/main" id="{11A4FC70-C814-114A-B2B8-90A03C40CF9D}"/>
              </a:ext>
            </a:extLst>
          </p:cNvPr>
          <p:cNvSpPr txBox="1">
            <a:spLocks noChangeArrowheads="1"/>
          </p:cNvSpPr>
          <p:nvPr/>
        </p:nvSpPr>
        <p:spPr bwMode="auto">
          <a:xfrm>
            <a:off x="4060825" y="4319588"/>
            <a:ext cx="334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
        <p:nvSpPr>
          <p:cNvPr id="68688" name="Freeform 10">
            <a:extLst>
              <a:ext uri="{FF2B5EF4-FFF2-40B4-BE49-F238E27FC236}">
                <a16:creationId xmlns:a16="http://schemas.microsoft.com/office/drawing/2014/main" id="{BAB3C52A-4B6C-8B40-B4BE-413A95885197}"/>
              </a:ext>
            </a:extLst>
          </p:cNvPr>
          <p:cNvSpPr>
            <a:spLocks/>
          </p:cNvSpPr>
          <p:nvPr/>
        </p:nvSpPr>
        <p:spPr bwMode="auto">
          <a:xfrm>
            <a:off x="4321175"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9" name="Freeform 11">
            <a:extLst>
              <a:ext uri="{FF2B5EF4-FFF2-40B4-BE49-F238E27FC236}">
                <a16:creationId xmlns:a16="http://schemas.microsoft.com/office/drawing/2014/main" id="{F717BC35-B639-F94D-A1F8-BFA5BE83ECC2}"/>
              </a:ext>
            </a:extLst>
          </p:cNvPr>
          <p:cNvSpPr>
            <a:spLocks/>
          </p:cNvSpPr>
          <p:nvPr/>
        </p:nvSpPr>
        <p:spPr bwMode="auto">
          <a:xfrm>
            <a:off x="4708525"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0" name="Freeform 12">
            <a:extLst>
              <a:ext uri="{FF2B5EF4-FFF2-40B4-BE49-F238E27FC236}">
                <a16:creationId xmlns:a16="http://schemas.microsoft.com/office/drawing/2014/main" id="{0012A1D8-F4F2-9640-A26A-AAC136AAC7F4}"/>
              </a:ext>
            </a:extLst>
          </p:cNvPr>
          <p:cNvSpPr>
            <a:spLocks/>
          </p:cNvSpPr>
          <p:nvPr/>
        </p:nvSpPr>
        <p:spPr bwMode="auto">
          <a:xfrm>
            <a:off x="5097463"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1" name="Freeform 14">
            <a:extLst>
              <a:ext uri="{FF2B5EF4-FFF2-40B4-BE49-F238E27FC236}">
                <a16:creationId xmlns:a16="http://schemas.microsoft.com/office/drawing/2014/main" id="{C88E3EB9-B546-5447-9FF8-656F9243D2BA}"/>
              </a:ext>
            </a:extLst>
          </p:cNvPr>
          <p:cNvSpPr>
            <a:spLocks/>
          </p:cNvSpPr>
          <p:nvPr/>
        </p:nvSpPr>
        <p:spPr bwMode="auto">
          <a:xfrm>
            <a:off x="5551488" y="4068763"/>
            <a:ext cx="274637"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2" name="TextBox 89">
            <a:extLst>
              <a:ext uri="{FF2B5EF4-FFF2-40B4-BE49-F238E27FC236}">
                <a16:creationId xmlns:a16="http://schemas.microsoft.com/office/drawing/2014/main" id="{1CCB1356-2118-B444-983C-E246F07A9514}"/>
              </a:ext>
            </a:extLst>
          </p:cNvPr>
          <p:cNvSpPr txBox="1">
            <a:spLocks noChangeArrowheads="1"/>
          </p:cNvSpPr>
          <p:nvPr/>
        </p:nvSpPr>
        <p:spPr bwMode="auto">
          <a:xfrm>
            <a:off x="5989638" y="4319588"/>
            <a:ext cx="333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
        <p:nvSpPr>
          <p:cNvPr id="68693" name="Freeform 10">
            <a:extLst>
              <a:ext uri="{FF2B5EF4-FFF2-40B4-BE49-F238E27FC236}">
                <a16:creationId xmlns:a16="http://schemas.microsoft.com/office/drawing/2014/main" id="{348661F1-CFF3-8641-80C2-1849911EDCFE}"/>
              </a:ext>
            </a:extLst>
          </p:cNvPr>
          <p:cNvSpPr>
            <a:spLocks/>
          </p:cNvSpPr>
          <p:nvPr/>
        </p:nvSpPr>
        <p:spPr bwMode="auto">
          <a:xfrm>
            <a:off x="6248400"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4" name="Freeform 11">
            <a:extLst>
              <a:ext uri="{FF2B5EF4-FFF2-40B4-BE49-F238E27FC236}">
                <a16:creationId xmlns:a16="http://schemas.microsoft.com/office/drawing/2014/main" id="{34282089-0BCB-3F41-993E-47F5F87445C8}"/>
              </a:ext>
            </a:extLst>
          </p:cNvPr>
          <p:cNvSpPr>
            <a:spLocks/>
          </p:cNvSpPr>
          <p:nvPr/>
        </p:nvSpPr>
        <p:spPr bwMode="auto">
          <a:xfrm>
            <a:off x="6637338"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5" name="Freeform 12">
            <a:extLst>
              <a:ext uri="{FF2B5EF4-FFF2-40B4-BE49-F238E27FC236}">
                <a16:creationId xmlns:a16="http://schemas.microsoft.com/office/drawing/2014/main" id="{1855D686-B564-9245-9C37-986D2286FB55}"/>
              </a:ext>
            </a:extLst>
          </p:cNvPr>
          <p:cNvSpPr>
            <a:spLocks/>
          </p:cNvSpPr>
          <p:nvPr/>
        </p:nvSpPr>
        <p:spPr bwMode="auto">
          <a:xfrm>
            <a:off x="7026275"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6" name="Freeform 14">
            <a:extLst>
              <a:ext uri="{FF2B5EF4-FFF2-40B4-BE49-F238E27FC236}">
                <a16:creationId xmlns:a16="http://schemas.microsoft.com/office/drawing/2014/main" id="{B02585F2-A058-5546-9D7F-FDFE10023B75}"/>
              </a:ext>
            </a:extLst>
          </p:cNvPr>
          <p:cNvSpPr>
            <a:spLocks/>
          </p:cNvSpPr>
          <p:nvPr/>
        </p:nvSpPr>
        <p:spPr bwMode="auto">
          <a:xfrm>
            <a:off x="7478713" y="4068763"/>
            <a:ext cx="274637"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5" name="Straight Connector 94">
            <a:extLst>
              <a:ext uri="{FF2B5EF4-FFF2-40B4-BE49-F238E27FC236}">
                <a16:creationId xmlns:a16="http://schemas.microsoft.com/office/drawing/2014/main" id="{27EF9CD9-BC0F-EB46-9BE0-62A4EB739105}"/>
              </a:ext>
            </a:extLst>
          </p:cNvPr>
          <p:cNvCxnSpPr/>
          <p:nvPr/>
        </p:nvCxnSpPr>
        <p:spPr>
          <a:xfrm rot="5400000">
            <a:off x="456407" y="3556793"/>
            <a:ext cx="603250" cy="519113"/>
          </a:xfrm>
          <a:prstGeom prst="line">
            <a:avLst/>
          </a:prstGeom>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7FC09C2A-389D-B143-BCA2-F087DB4C4F3E}"/>
              </a:ext>
            </a:extLst>
          </p:cNvPr>
          <p:cNvCxnSpPr/>
          <p:nvPr/>
        </p:nvCxnSpPr>
        <p:spPr>
          <a:xfrm rot="5400000">
            <a:off x="2011363" y="3557587"/>
            <a:ext cx="603250" cy="517525"/>
          </a:xfrm>
          <a:prstGeom prst="line">
            <a:avLst/>
          </a:prstGeom>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51AE4C99-9669-A640-A029-73FC7A4C1238}"/>
              </a:ext>
            </a:extLst>
          </p:cNvPr>
          <p:cNvCxnSpPr/>
          <p:nvPr/>
        </p:nvCxnSpPr>
        <p:spPr>
          <a:xfrm rot="5400000">
            <a:off x="2205038" y="3751262"/>
            <a:ext cx="603250" cy="130175"/>
          </a:xfrm>
          <a:prstGeom prst="line">
            <a:avLst/>
          </a:prstGeom>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FCE77F94-16D4-AE40-A6CF-BEB04B83956D}"/>
              </a:ext>
            </a:extLst>
          </p:cNvPr>
          <p:cNvCxnSpPr/>
          <p:nvPr/>
        </p:nvCxnSpPr>
        <p:spPr>
          <a:xfrm rot="5400000">
            <a:off x="3752057" y="3694906"/>
            <a:ext cx="554038" cy="193675"/>
          </a:xfrm>
          <a:prstGeom prst="line">
            <a:avLst/>
          </a:prstGeom>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49053C17-6F56-7345-9654-3DB95EAB774E}"/>
              </a:ext>
            </a:extLst>
          </p:cNvPr>
          <p:cNvCxnSpPr/>
          <p:nvPr/>
        </p:nvCxnSpPr>
        <p:spPr>
          <a:xfrm rot="16200000" flipH="1">
            <a:off x="3946525" y="3694113"/>
            <a:ext cx="554038" cy="195262"/>
          </a:xfrm>
          <a:prstGeom prst="line">
            <a:avLst/>
          </a:prstGeom>
        </p:spPr>
        <p:style>
          <a:lnRef idx="1">
            <a:schemeClr val="dk1"/>
          </a:lnRef>
          <a:fillRef idx="0">
            <a:schemeClr val="dk1"/>
          </a:fillRef>
          <a:effectRef idx="0">
            <a:schemeClr val="dk1"/>
          </a:effectRef>
          <a:fontRef idx="minor">
            <a:schemeClr val="tx1"/>
          </a:fontRef>
        </p:style>
      </p:cxnSp>
      <p:cxnSp>
        <p:nvCxnSpPr>
          <p:cNvPr id="100" name="Straight Connector 99">
            <a:extLst>
              <a:ext uri="{FF2B5EF4-FFF2-40B4-BE49-F238E27FC236}">
                <a16:creationId xmlns:a16="http://schemas.microsoft.com/office/drawing/2014/main" id="{23AD26FE-E6EF-4E4B-970B-C74259F69F1C}"/>
              </a:ext>
            </a:extLst>
          </p:cNvPr>
          <p:cNvCxnSpPr/>
          <p:nvPr/>
        </p:nvCxnSpPr>
        <p:spPr>
          <a:xfrm rot="16200000" flipH="1">
            <a:off x="5703094" y="3556794"/>
            <a:ext cx="603250" cy="519112"/>
          </a:xfrm>
          <a:prstGeom prst="line">
            <a:avLst/>
          </a:prstGeom>
        </p:spPr>
        <p:style>
          <a:lnRef idx="1">
            <a:schemeClr val="dk1"/>
          </a:lnRef>
          <a:fillRef idx="0">
            <a:schemeClr val="dk1"/>
          </a:fillRef>
          <a:effectRef idx="0">
            <a:schemeClr val="dk1"/>
          </a:effectRef>
          <a:fontRef idx="minor">
            <a:schemeClr val="tx1"/>
          </a:fontRef>
        </p:style>
      </p:cxnSp>
      <p:cxnSp>
        <p:nvCxnSpPr>
          <p:cNvPr id="101" name="Straight Connector 100">
            <a:extLst>
              <a:ext uri="{FF2B5EF4-FFF2-40B4-BE49-F238E27FC236}">
                <a16:creationId xmlns:a16="http://schemas.microsoft.com/office/drawing/2014/main" id="{28B6D919-4140-CC48-8CF1-9DE11A250C56}"/>
              </a:ext>
            </a:extLst>
          </p:cNvPr>
          <p:cNvCxnSpPr/>
          <p:nvPr/>
        </p:nvCxnSpPr>
        <p:spPr>
          <a:xfrm rot="16200000" flipH="1">
            <a:off x="5476082" y="3718718"/>
            <a:ext cx="603250" cy="195263"/>
          </a:xfrm>
          <a:prstGeom prst="line">
            <a:avLst/>
          </a:prstGeom>
        </p:spPr>
        <p:style>
          <a:lnRef idx="1">
            <a:schemeClr val="dk1"/>
          </a:lnRef>
          <a:fillRef idx="0">
            <a:schemeClr val="dk1"/>
          </a:fillRef>
          <a:effectRef idx="0">
            <a:schemeClr val="dk1"/>
          </a:effectRef>
          <a:fontRef idx="minor">
            <a:schemeClr val="tx1"/>
          </a:fontRef>
        </p:style>
      </p:cxnSp>
      <p:cxnSp>
        <p:nvCxnSpPr>
          <p:cNvPr id="102" name="Straight Connector 101">
            <a:extLst>
              <a:ext uri="{FF2B5EF4-FFF2-40B4-BE49-F238E27FC236}">
                <a16:creationId xmlns:a16="http://schemas.microsoft.com/office/drawing/2014/main" id="{F8666209-456C-5A4F-890E-59A9EA57139B}"/>
              </a:ext>
            </a:extLst>
          </p:cNvPr>
          <p:cNvCxnSpPr/>
          <p:nvPr/>
        </p:nvCxnSpPr>
        <p:spPr>
          <a:xfrm rot="16200000" flipH="1">
            <a:off x="7225507" y="3525043"/>
            <a:ext cx="603250" cy="582613"/>
          </a:xfrm>
          <a:prstGeom prst="line">
            <a:avLst/>
          </a:prstGeom>
        </p:spPr>
        <p:style>
          <a:lnRef idx="1">
            <a:schemeClr val="dk1"/>
          </a:lnRef>
          <a:fillRef idx="0">
            <a:schemeClr val="dk1"/>
          </a:fillRef>
          <a:effectRef idx="0">
            <a:schemeClr val="dk1"/>
          </a:effectRef>
          <a:fontRef idx="minor">
            <a:schemeClr val="tx1"/>
          </a:fontRef>
        </p:style>
      </p:cxnSp>
      <p:sp>
        <p:nvSpPr>
          <p:cNvPr id="68705" name="TextBox 134">
            <a:extLst>
              <a:ext uri="{FF2B5EF4-FFF2-40B4-BE49-F238E27FC236}">
                <a16:creationId xmlns:a16="http://schemas.microsoft.com/office/drawing/2014/main" id="{2D881B8C-3942-204B-BF14-30FC7A7BFA64}"/>
              </a:ext>
            </a:extLst>
          </p:cNvPr>
          <p:cNvSpPr txBox="1">
            <a:spLocks noChangeArrowheads="1"/>
          </p:cNvSpPr>
          <p:nvPr/>
        </p:nvSpPr>
        <p:spPr bwMode="auto">
          <a:xfrm>
            <a:off x="152400" y="6535738"/>
            <a:ext cx="165258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Hyesoon Kim</a:t>
            </a:r>
          </a:p>
        </p:txBody>
      </p:sp>
      <p:sp>
        <p:nvSpPr>
          <p:cNvPr id="68706" name="TextBox 1">
            <a:extLst>
              <a:ext uri="{FF2B5EF4-FFF2-40B4-BE49-F238E27FC236}">
                <a16:creationId xmlns:a16="http://schemas.microsoft.com/office/drawing/2014/main" id="{7338F471-4A33-174C-B030-6FB52E515831}"/>
              </a:ext>
            </a:extLst>
          </p:cNvPr>
          <p:cNvSpPr txBox="1">
            <a:spLocks noChangeArrowheads="1"/>
          </p:cNvSpPr>
          <p:nvPr/>
        </p:nvSpPr>
        <p:spPr bwMode="auto">
          <a:xfrm>
            <a:off x="7391400" y="2743200"/>
            <a:ext cx="1031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Threads</a:t>
            </a:r>
          </a:p>
        </p:txBody>
      </p:sp>
      <p:sp>
        <p:nvSpPr>
          <p:cNvPr id="68707" name="TextBox 102">
            <a:extLst>
              <a:ext uri="{FF2B5EF4-FFF2-40B4-BE49-F238E27FC236}">
                <a16:creationId xmlns:a16="http://schemas.microsoft.com/office/drawing/2014/main" id="{CD155F7E-98EA-7B48-8D79-BDD2EBC2F874}"/>
              </a:ext>
            </a:extLst>
          </p:cNvPr>
          <p:cNvSpPr txBox="1">
            <a:spLocks noChangeArrowheads="1"/>
          </p:cNvSpPr>
          <p:nvPr/>
        </p:nvSpPr>
        <p:spPr bwMode="auto">
          <a:xfrm>
            <a:off x="7391400" y="3211513"/>
            <a:ext cx="1673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Data elements</a:t>
            </a:r>
          </a:p>
        </p:txBody>
      </p:sp>
      <p:sp>
        <p:nvSpPr>
          <p:cNvPr id="68708" name="TextBox 103">
            <a:extLst>
              <a:ext uri="{FF2B5EF4-FFF2-40B4-BE49-F238E27FC236}">
                <a16:creationId xmlns:a16="http://schemas.microsoft.com/office/drawing/2014/main" id="{860D9E74-1F63-8C4D-956D-2A6A9E67E8A8}"/>
              </a:ext>
            </a:extLst>
          </p:cNvPr>
          <p:cNvSpPr txBox="1">
            <a:spLocks noChangeArrowheads="1"/>
          </p:cNvSpPr>
          <p:nvPr/>
        </p:nvSpPr>
        <p:spPr bwMode="auto">
          <a:xfrm>
            <a:off x="450850" y="5029200"/>
            <a:ext cx="92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0</a:t>
            </a:r>
          </a:p>
        </p:txBody>
      </p:sp>
      <p:sp>
        <p:nvSpPr>
          <p:cNvPr id="68709" name="TextBox 104">
            <a:extLst>
              <a:ext uri="{FF2B5EF4-FFF2-40B4-BE49-F238E27FC236}">
                <a16:creationId xmlns:a16="http://schemas.microsoft.com/office/drawing/2014/main" id="{08493696-99D5-FE4D-969A-C8BF02FBFF2F}"/>
              </a:ext>
            </a:extLst>
          </p:cNvPr>
          <p:cNvSpPr txBox="1">
            <a:spLocks noChangeArrowheads="1"/>
          </p:cNvSpPr>
          <p:nvPr/>
        </p:nvSpPr>
        <p:spPr bwMode="auto">
          <a:xfrm>
            <a:off x="2438400" y="5029200"/>
            <a:ext cx="92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1</a:t>
            </a:r>
          </a:p>
        </p:txBody>
      </p:sp>
      <p:sp>
        <p:nvSpPr>
          <p:cNvPr id="68710" name="TextBox 105">
            <a:extLst>
              <a:ext uri="{FF2B5EF4-FFF2-40B4-BE49-F238E27FC236}">
                <a16:creationId xmlns:a16="http://schemas.microsoft.com/office/drawing/2014/main" id="{9EB99BAB-AD6C-AF4B-9A73-38470EE1932A}"/>
              </a:ext>
            </a:extLst>
          </p:cNvPr>
          <p:cNvSpPr txBox="1">
            <a:spLocks noChangeArrowheads="1"/>
          </p:cNvSpPr>
          <p:nvPr/>
        </p:nvSpPr>
        <p:spPr bwMode="auto">
          <a:xfrm>
            <a:off x="4267200" y="5029200"/>
            <a:ext cx="92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2</a:t>
            </a:r>
          </a:p>
        </p:txBody>
      </p:sp>
      <p:sp>
        <p:nvSpPr>
          <p:cNvPr id="68711" name="TextBox 106">
            <a:extLst>
              <a:ext uri="{FF2B5EF4-FFF2-40B4-BE49-F238E27FC236}">
                <a16:creationId xmlns:a16="http://schemas.microsoft.com/office/drawing/2014/main" id="{EB0137E1-2F66-5848-A9FD-083B3704E2E1}"/>
              </a:ext>
            </a:extLst>
          </p:cNvPr>
          <p:cNvSpPr txBox="1">
            <a:spLocks noChangeArrowheads="1"/>
          </p:cNvSpPr>
          <p:nvPr/>
        </p:nvSpPr>
        <p:spPr bwMode="auto">
          <a:xfrm>
            <a:off x="6248400" y="5029200"/>
            <a:ext cx="92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3</a:t>
            </a:r>
          </a:p>
        </p:txBody>
      </p:sp>
      <p:sp>
        <p:nvSpPr>
          <p:cNvPr id="105" name="Slide Number Placeholder 3">
            <a:extLst>
              <a:ext uri="{FF2B5EF4-FFF2-40B4-BE49-F238E27FC236}">
                <a16:creationId xmlns:a16="http://schemas.microsoft.com/office/drawing/2014/main" id="{91D9459B-F5D2-E34A-9ADC-C5A396E51A40}"/>
              </a:ext>
            </a:extLst>
          </p:cNvPr>
          <p:cNvSpPr>
            <a:spLocks noGrp="1"/>
          </p:cNvSpPr>
          <p:nvPr>
            <p:ph type="sldNum" sz="quarter" idx="11"/>
          </p:nvPr>
        </p:nvSpPr>
        <p:spPr>
          <a:xfrm>
            <a:off x="6777038" y="63246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17A79AA-CD33-9448-B7F6-6F507EA8DB0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92933657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25767" y="3962507"/>
            <a:ext cx="91371" cy="2077284"/>
            <a:chOff x="4515210" y="3721867"/>
            <a:chExt cx="91371" cy="2077284"/>
          </a:xfrm>
        </p:grpSpPr>
        <p:cxnSp>
          <p:nvCxnSpPr>
            <p:cNvPr id="14" name="Straight Arrow Connector 13"/>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grpSp>
        <p:nvGrpSpPr>
          <p:cNvPr id="21" name="Group 20"/>
          <p:cNvGrpSpPr/>
          <p:nvPr/>
        </p:nvGrpSpPr>
        <p:grpSpPr>
          <a:xfrm>
            <a:off x="4633452" y="3762417"/>
            <a:ext cx="2011680" cy="169277"/>
            <a:chOff x="4648200" y="3521102"/>
            <a:chExt cx="2011680" cy="169277"/>
          </a:xfrm>
        </p:grpSpPr>
        <p:cxnSp>
          <p:nvCxnSpPr>
            <p:cNvPr id="18" name="Straight Arrow Connector 17"/>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12" name="Table 11"/>
          <p:cNvGraphicFramePr>
            <a:graphicFrameLocks noGrp="1"/>
          </p:cNvGraphicFramePr>
          <p:nvPr/>
        </p:nvGraphicFramePr>
        <p:xfrm>
          <a:off x="4649676"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1"/>
                  </a:ext>
                </a:extLst>
              </a:tr>
            </a:tbl>
          </a:graphicData>
        </a:graphic>
      </p:graphicFrame>
      <p:sp>
        <p:nvSpPr>
          <p:cNvPr id="2" name="Title 1"/>
          <p:cNvSpPr>
            <a:spLocks noGrp="1"/>
          </p:cNvSpPr>
          <p:nvPr>
            <p:ph type="title"/>
          </p:nvPr>
        </p:nvSpPr>
        <p:spPr/>
        <p:txBody>
          <a:bodyPr>
            <a:normAutofit/>
          </a:bodyPr>
          <a:lstStyle/>
          <a:p>
            <a:r>
              <a:rPr lang="en-US" sz="3600" dirty="0"/>
              <a:t>Recall: Naïve Matrix-Matrix Multiplication</a:t>
            </a:r>
          </a:p>
        </p:txBody>
      </p:sp>
      <p:sp>
        <p:nvSpPr>
          <p:cNvPr id="7" name="TextBox 6"/>
          <p:cNvSpPr txBox="1"/>
          <p:nvPr/>
        </p:nvSpPr>
        <p:spPr>
          <a:xfrm>
            <a:off x="1331640" y="2413709"/>
            <a:ext cx="2249760" cy="646331"/>
          </a:xfrm>
          <a:prstGeom prst="rect">
            <a:avLst/>
          </a:prstGeom>
          <a:noFill/>
        </p:spPr>
        <p:txBody>
          <a:bodyPr wrap="square" rtlCol="0">
            <a:spAutoFit/>
          </a:bodyPr>
          <a:lstStyle/>
          <a:p>
            <a:pPr algn="ctr"/>
            <a:r>
              <a:rPr lang="en-US" sz="3600" dirty="0"/>
              <a:t>C = A x B</a:t>
            </a:r>
          </a:p>
        </p:txBody>
      </p:sp>
      <p:sp>
        <p:nvSpPr>
          <p:cNvPr id="8" name="TextBox 7"/>
          <p:cNvSpPr txBox="1"/>
          <p:nvPr/>
        </p:nvSpPr>
        <p:spPr>
          <a:xfrm>
            <a:off x="1828800" y="4731975"/>
            <a:ext cx="609600" cy="461665"/>
          </a:xfrm>
          <a:prstGeom prst="rect">
            <a:avLst/>
          </a:prstGeom>
          <a:noFill/>
        </p:spPr>
        <p:txBody>
          <a:bodyPr wrap="square" rtlCol="0">
            <a:spAutoFit/>
          </a:bodyPr>
          <a:lstStyle/>
          <a:p>
            <a:pPr algn="ctr"/>
            <a:r>
              <a:rPr lang="en-US" sz="2400" dirty="0"/>
              <a:t>A</a:t>
            </a:r>
          </a:p>
        </p:txBody>
      </p:sp>
      <p:sp>
        <p:nvSpPr>
          <p:cNvPr id="9" name="TextBox 8"/>
          <p:cNvSpPr txBox="1"/>
          <p:nvPr/>
        </p:nvSpPr>
        <p:spPr>
          <a:xfrm>
            <a:off x="6705600" y="2522175"/>
            <a:ext cx="609600" cy="461665"/>
          </a:xfrm>
          <a:prstGeom prst="rect">
            <a:avLst/>
          </a:prstGeom>
          <a:noFill/>
        </p:spPr>
        <p:txBody>
          <a:bodyPr wrap="square" rtlCol="0">
            <a:spAutoFit/>
          </a:bodyPr>
          <a:lstStyle/>
          <a:p>
            <a:pPr algn="ctr"/>
            <a:r>
              <a:rPr lang="en-US" sz="2400" dirty="0"/>
              <a:t>B</a:t>
            </a:r>
          </a:p>
        </p:txBody>
      </p:sp>
      <p:sp>
        <p:nvSpPr>
          <p:cNvPr id="10" name="TextBox 9"/>
          <p:cNvSpPr txBox="1"/>
          <p:nvPr/>
        </p:nvSpPr>
        <p:spPr>
          <a:xfrm>
            <a:off x="6705600" y="4731975"/>
            <a:ext cx="609600" cy="461665"/>
          </a:xfrm>
          <a:prstGeom prst="rect">
            <a:avLst/>
          </a:prstGeom>
          <a:noFill/>
        </p:spPr>
        <p:txBody>
          <a:bodyPr wrap="square" rtlCol="0">
            <a:spAutoFit/>
          </a:bodyPr>
          <a:lstStyle/>
          <a:p>
            <a:pPr algn="ctr"/>
            <a:r>
              <a:rPr lang="en-US" sz="2400" dirty="0"/>
              <a:t>C</a:t>
            </a:r>
          </a:p>
        </p:txBody>
      </p:sp>
      <p:grpSp>
        <p:nvGrpSpPr>
          <p:cNvPr id="22" name="Group 21"/>
          <p:cNvGrpSpPr/>
          <p:nvPr/>
        </p:nvGrpSpPr>
        <p:grpSpPr>
          <a:xfrm>
            <a:off x="4535385" y="1668556"/>
            <a:ext cx="91372" cy="2077284"/>
            <a:chOff x="4500783" y="3721867"/>
            <a:chExt cx="91372" cy="2077284"/>
          </a:xfrm>
        </p:grpSpPr>
        <p:cxnSp>
          <p:nvCxnSpPr>
            <p:cNvPr id="23" name="Straight Arrow Connector 22"/>
            <p:cNvCxnSpPr/>
            <p:nvPr/>
          </p:nvCxnSpPr>
          <p:spPr>
            <a:xfrm>
              <a:off x="4545543"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500783" y="4668176"/>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25" name="Group 24"/>
          <p:cNvGrpSpPr/>
          <p:nvPr/>
        </p:nvGrpSpPr>
        <p:grpSpPr>
          <a:xfrm>
            <a:off x="2484120" y="3762417"/>
            <a:ext cx="2011680" cy="169277"/>
            <a:chOff x="4648200" y="3521102"/>
            <a:chExt cx="2011680" cy="169277"/>
          </a:xfrm>
        </p:grpSpPr>
        <p:cxnSp>
          <p:nvCxnSpPr>
            <p:cNvPr id="26" name="Straight Arrow Connector 2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28" name="Table 27"/>
          <p:cNvGraphicFramePr>
            <a:graphicFrameLocks noGrp="1"/>
          </p:cNvGraphicFramePr>
          <p:nvPr/>
        </p:nvGraphicFramePr>
        <p:xfrm>
          <a:off x="4646724" y="168844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nvGraphicFramePr>
        <p:xfrm>
          <a:off x="248264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1"/>
                  </a:ext>
                </a:extLst>
              </a:tr>
            </a:tbl>
          </a:graphicData>
        </a:graphic>
      </p:graphicFrame>
      <p:grpSp>
        <p:nvGrpSpPr>
          <p:cNvPr id="45" name="Group 44"/>
          <p:cNvGrpSpPr/>
          <p:nvPr/>
        </p:nvGrpSpPr>
        <p:grpSpPr>
          <a:xfrm>
            <a:off x="4646724" y="1499279"/>
            <a:ext cx="2011680" cy="169277"/>
            <a:chOff x="4648200" y="3521102"/>
            <a:chExt cx="2011680" cy="169277"/>
          </a:xfrm>
        </p:grpSpPr>
        <p:cxnSp>
          <p:nvCxnSpPr>
            <p:cNvPr id="46" name="Straight Arrow Connector 4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48" name="Group 47"/>
          <p:cNvGrpSpPr/>
          <p:nvPr/>
        </p:nvGrpSpPr>
        <p:grpSpPr>
          <a:xfrm>
            <a:off x="2341719" y="3962507"/>
            <a:ext cx="91371" cy="2077284"/>
            <a:chOff x="4515210" y="3721867"/>
            <a:chExt cx="91371" cy="2077284"/>
          </a:xfrm>
        </p:grpSpPr>
        <p:cxnSp>
          <p:nvCxnSpPr>
            <p:cNvPr id="49" name="Straight Arrow Connector 48"/>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sp>
        <p:nvSpPr>
          <p:cNvPr id="30" name="TextBox 610">
            <a:extLst>
              <a:ext uri="{FF2B5EF4-FFF2-40B4-BE49-F238E27FC236}">
                <a16:creationId xmlns:a16="http://schemas.microsoft.com/office/drawing/2014/main" id="{4B7C71BF-A3B9-6B4C-82F4-B68971DAEE7C}"/>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31" name="Slide Number Placeholder 3">
            <a:extLst>
              <a:ext uri="{FF2B5EF4-FFF2-40B4-BE49-F238E27FC236}">
                <a16:creationId xmlns:a16="http://schemas.microsoft.com/office/drawing/2014/main" id="{2FB98EFD-7B8D-AB45-98E7-81C43CB11D45}"/>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0414269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25767" y="3962507"/>
            <a:ext cx="91371" cy="2077284"/>
            <a:chOff x="4515210" y="3721867"/>
            <a:chExt cx="91371" cy="2077284"/>
          </a:xfrm>
        </p:grpSpPr>
        <p:cxnSp>
          <p:nvCxnSpPr>
            <p:cNvPr id="14" name="Straight Arrow Connector 13"/>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grpSp>
        <p:nvGrpSpPr>
          <p:cNvPr id="21" name="Group 20"/>
          <p:cNvGrpSpPr/>
          <p:nvPr/>
        </p:nvGrpSpPr>
        <p:grpSpPr>
          <a:xfrm>
            <a:off x="4633452" y="3762417"/>
            <a:ext cx="2011680" cy="169277"/>
            <a:chOff x="4648200" y="3521102"/>
            <a:chExt cx="2011680" cy="169277"/>
          </a:xfrm>
        </p:grpSpPr>
        <p:cxnSp>
          <p:nvCxnSpPr>
            <p:cNvPr id="18" name="Straight Arrow Connector 17"/>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12" name="Table 11"/>
          <p:cNvGraphicFramePr>
            <a:graphicFrameLocks noGrp="1"/>
          </p:cNvGraphicFramePr>
          <p:nvPr/>
        </p:nvGraphicFramePr>
        <p:xfrm>
          <a:off x="4649676"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
        <p:nvSpPr>
          <p:cNvPr id="2" name="Title 1"/>
          <p:cNvSpPr>
            <a:spLocks noGrp="1"/>
          </p:cNvSpPr>
          <p:nvPr>
            <p:ph type="title"/>
          </p:nvPr>
        </p:nvSpPr>
        <p:spPr>
          <a:xfrm>
            <a:off x="228600" y="152400"/>
            <a:ext cx="8610600" cy="749021"/>
          </a:xfrm>
        </p:spPr>
        <p:txBody>
          <a:bodyPr>
            <a:normAutofit fontScale="90000"/>
          </a:bodyPr>
          <a:lstStyle/>
          <a:p>
            <a:r>
              <a:rPr lang="en-US" altLang="zh-CN" dirty="0"/>
              <a:t>Recall: GPU </a:t>
            </a:r>
            <a:r>
              <a:rPr lang="en-US" dirty="0"/>
              <a:t>Tiled Matrix-Matrix Multiplication</a:t>
            </a:r>
          </a:p>
        </p:txBody>
      </p:sp>
      <p:sp>
        <p:nvSpPr>
          <p:cNvPr id="8" name="TextBox 7"/>
          <p:cNvSpPr txBox="1"/>
          <p:nvPr/>
        </p:nvSpPr>
        <p:spPr>
          <a:xfrm>
            <a:off x="1828800" y="4731975"/>
            <a:ext cx="609600" cy="461665"/>
          </a:xfrm>
          <a:prstGeom prst="rect">
            <a:avLst/>
          </a:prstGeom>
          <a:noFill/>
        </p:spPr>
        <p:txBody>
          <a:bodyPr wrap="square" rtlCol="0">
            <a:spAutoFit/>
          </a:bodyPr>
          <a:lstStyle/>
          <a:p>
            <a:pPr algn="ctr"/>
            <a:r>
              <a:rPr lang="en-US" sz="2400" dirty="0"/>
              <a:t>A</a:t>
            </a:r>
          </a:p>
        </p:txBody>
      </p:sp>
      <p:sp>
        <p:nvSpPr>
          <p:cNvPr id="9" name="TextBox 8"/>
          <p:cNvSpPr txBox="1"/>
          <p:nvPr/>
        </p:nvSpPr>
        <p:spPr>
          <a:xfrm>
            <a:off x="6705600" y="2522175"/>
            <a:ext cx="609600" cy="461665"/>
          </a:xfrm>
          <a:prstGeom prst="rect">
            <a:avLst/>
          </a:prstGeom>
          <a:noFill/>
        </p:spPr>
        <p:txBody>
          <a:bodyPr wrap="square" rtlCol="0">
            <a:spAutoFit/>
          </a:bodyPr>
          <a:lstStyle/>
          <a:p>
            <a:pPr algn="ctr"/>
            <a:r>
              <a:rPr lang="en-US" sz="2400" dirty="0"/>
              <a:t>B</a:t>
            </a:r>
          </a:p>
        </p:txBody>
      </p:sp>
      <p:sp>
        <p:nvSpPr>
          <p:cNvPr id="10" name="TextBox 9"/>
          <p:cNvSpPr txBox="1"/>
          <p:nvPr/>
        </p:nvSpPr>
        <p:spPr>
          <a:xfrm>
            <a:off x="6705600" y="4731975"/>
            <a:ext cx="609600" cy="461665"/>
          </a:xfrm>
          <a:prstGeom prst="rect">
            <a:avLst/>
          </a:prstGeom>
          <a:noFill/>
        </p:spPr>
        <p:txBody>
          <a:bodyPr wrap="square" rtlCol="0">
            <a:spAutoFit/>
          </a:bodyPr>
          <a:lstStyle/>
          <a:p>
            <a:pPr algn="ctr"/>
            <a:r>
              <a:rPr lang="en-US" sz="2400" dirty="0"/>
              <a:t>C</a:t>
            </a:r>
          </a:p>
        </p:txBody>
      </p:sp>
      <p:grpSp>
        <p:nvGrpSpPr>
          <p:cNvPr id="22" name="Group 21"/>
          <p:cNvGrpSpPr/>
          <p:nvPr/>
        </p:nvGrpSpPr>
        <p:grpSpPr>
          <a:xfrm>
            <a:off x="4525767" y="1668556"/>
            <a:ext cx="91372" cy="2077284"/>
            <a:chOff x="4513483" y="3721867"/>
            <a:chExt cx="91372" cy="2077284"/>
          </a:xfrm>
        </p:grpSpPr>
        <p:cxnSp>
          <p:nvCxnSpPr>
            <p:cNvPr id="23" name="Straight Arrow Connector 22"/>
            <p:cNvCxnSpPr/>
            <p:nvPr/>
          </p:nvCxnSpPr>
          <p:spPr>
            <a:xfrm>
              <a:off x="4545543"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513483" y="4668176"/>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25" name="Group 24"/>
          <p:cNvGrpSpPr/>
          <p:nvPr/>
        </p:nvGrpSpPr>
        <p:grpSpPr>
          <a:xfrm>
            <a:off x="2484120" y="3762417"/>
            <a:ext cx="2011680" cy="169277"/>
            <a:chOff x="4648200" y="3521102"/>
            <a:chExt cx="2011680" cy="169277"/>
          </a:xfrm>
        </p:grpSpPr>
        <p:cxnSp>
          <p:nvCxnSpPr>
            <p:cNvPr id="26" name="Straight Arrow Connector 2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28" name="Table 27"/>
          <p:cNvGraphicFramePr>
            <a:graphicFrameLocks noGrp="1"/>
          </p:cNvGraphicFramePr>
          <p:nvPr/>
        </p:nvGraphicFramePr>
        <p:xfrm>
          <a:off x="4646724" y="168844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nvGraphicFramePr>
        <p:xfrm>
          <a:off x="248264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5">
                        <a:lumMod val="60000"/>
                        <a:lumOff val="40000"/>
                      </a:schemeClr>
                    </a:solid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a:p>
                  </a:txBody>
                  <a:tcPr marL="41910" marR="41910" marT="20955" marB="20955">
                    <a:solidFill>
                      <a:schemeClr val="accent5">
                        <a:lumMod val="60000"/>
                        <a:lumOff val="40000"/>
                      </a:schemeClr>
                    </a:solid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solidFill>
                      <a:schemeClr val="accent5">
                        <a:lumMod val="60000"/>
                        <a:lumOff val="40000"/>
                      </a:schemeClr>
                    </a:solid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5">
                        <a:lumMod val="60000"/>
                        <a:lumOff val="40000"/>
                      </a:schemeClr>
                    </a:solid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pSp>
        <p:nvGrpSpPr>
          <p:cNvPr id="45" name="Group 44"/>
          <p:cNvGrpSpPr/>
          <p:nvPr/>
        </p:nvGrpSpPr>
        <p:grpSpPr>
          <a:xfrm>
            <a:off x="4646724" y="1499279"/>
            <a:ext cx="2011680" cy="169277"/>
            <a:chOff x="4648200" y="3521102"/>
            <a:chExt cx="2011680" cy="169277"/>
          </a:xfrm>
        </p:grpSpPr>
        <p:cxnSp>
          <p:nvCxnSpPr>
            <p:cNvPr id="46" name="Straight Arrow Connector 4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48" name="Group 47"/>
          <p:cNvGrpSpPr/>
          <p:nvPr/>
        </p:nvGrpSpPr>
        <p:grpSpPr>
          <a:xfrm>
            <a:off x="2341719" y="3962507"/>
            <a:ext cx="91371" cy="2077284"/>
            <a:chOff x="4515210" y="3721867"/>
            <a:chExt cx="91371" cy="2077284"/>
          </a:xfrm>
        </p:grpSpPr>
        <p:cxnSp>
          <p:nvCxnSpPr>
            <p:cNvPr id="49" name="Straight Arrow Connector 48"/>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sp>
        <p:nvSpPr>
          <p:cNvPr id="30" name="TextBox 610">
            <a:extLst>
              <a:ext uri="{FF2B5EF4-FFF2-40B4-BE49-F238E27FC236}">
                <a16:creationId xmlns:a16="http://schemas.microsoft.com/office/drawing/2014/main" id="{CB293287-D080-564F-9420-5D1C75E10864}"/>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32" name="TextBox 31">
            <a:extLst>
              <a:ext uri="{FF2B5EF4-FFF2-40B4-BE49-F238E27FC236}">
                <a16:creationId xmlns:a16="http://schemas.microsoft.com/office/drawing/2014/main" id="{4B44A2EA-F910-8C47-BF6A-F4B4C5F238CB}"/>
              </a:ext>
            </a:extLst>
          </p:cNvPr>
          <p:cNvSpPr txBox="1"/>
          <p:nvPr/>
        </p:nvSpPr>
        <p:spPr>
          <a:xfrm>
            <a:off x="381007" y="2413709"/>
            <a:ext cx="3962387" cy="646331"/>
          </a:xfrm>
          <a:prstGeom prst="rect">
            <a:avLst/>
          </a:prstGeom>
          <a:noFill/>
        </p:spPr>
        <p:txBody>
          <a:bodyPr wrap="square" rtlCol="0">
            <a:spAutoFit/>
          </a:bodyPr>
          <a:lstStyle/>
          <a:p>
            <a:pPr algn="ctr"/>
            <a:r>
              <a:rPr lang="en-US" altLang="zh-CN" sz="3600" dirty="0"/>
              <a:t>C += </a:t>
            </a:r>
            <a:r>
              <a:rPr lang="en-US" altLang="zh-CN" sz="3600" dirty="0" err="1"/>
              <a:t>A</a:t>
            </a:r>
            <a:r>
              <a:rPr lang="en-US" altLang="zh-CN" sz="3600" baseline="-25000" dirty="0" err="1"/>
              <a:t>tile</a:t>
            </a:r>
            <a:r>
              <a:rPr lang="en-US" altLang="zh-CN" sz="3600" dirty="0"/>
              <a:t> x </a:t>
            </a:r>
            <a:r>
              <a:rPr lang="en-US" altLang="zh-CN" sz="3600" dirty="0" err="1"/>
              <a:t>B</a:t>
            </a:r>
            <a:r>
              <a:rPr lang="en-US" altLang="zh-CN" sz="3600" baseline="-25000" dirty="0" err="1"/>
              <a:t>tile</a:t>
            </a:r>
            <a:endParaRPr lang="en-US" altLang="zh-CN" sz="3600" dirty="0"/>
          </a:p>
        </p:txBody>
      </p:sp>
      <p:sp>
        <p:nvSpPr>
          <p:cNvPr id="33" name="Slide Number Placeholder 3">
            <a:extLst>
              <a:ext uri="{FF2B5EF4-FFF2-40B4-BE49-F238E27FC236}">
                <a16:creationId xmlns:a16="http://schemas.microsoft.com/office/drawing/2014/main" id="{E6E031DD-C50C-8D48-89E4-7B6F58C0BB7F}"/>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30929414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03348"/>
            <a:ext cx="9067800" cy="711052"/>
          </a:xfrm>
        </p:spPr>
        <p:txBody>
          <a:bodyPr/>
          <a:lstStyle/>
          <a:p>
            <a:r>
              <a:rPr lang="en-US" altLang="zh-CN" sz="2800" dirty="0"/>
              <a:t>Recall: </a:t>
            </a:r>
            <a:r>
              <a:rPr lang="en-US" sz="2800" dirty="0"/>
              <a:t>Tiled Matrix-Matrix Multiplication with Shared Memory</a:t>
            </a:r>
          </a:p>
        </p:txBody>
      </p:sp>
      <p:sp>
        <p:nvSpPr>
          <p:cNvPr id="5" name="Rectangle 4"/>
          <p:cNvSpPr/>
          <p:nvPr/>
        </p:nvSpPr>
        <p:spPr>
          <a:xfrm>
            <a:off x="204624" y="980728"/>
            <a:ext cx="8439325" cy="5262979"/>
          </a:xfrm>
          <a:prstGeom prst="rect">
            <a:avLst/>
          </a:prstGeom>
        </p:spPr>
        <p:txBody>
          <a:bodyPr wrap="square">
            <a:spAutoFit/>
          </a:bodyPr>
          <a:lstStyle/>
          <a:p>
            <a:r>
              <a:rPr lang="en-US" sz="1400" dirty="0">
                <a:solidFill>
                  <a:srgbClr val="00BF00"/>
                </a:solidFill>
                <a:latin typeface="Lucida Console" panose="020B0609040504020204" pitchFamily="49" charset="0"/>
              </a:rPr>
              <a:t>__shared__</a:t>
            </a:r>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A_s[TILE_DIM][TILE_DIM];</a:t>
            </a:r>
          </a:p>
          <a:p>
            <a:r>
              <a:rPr lang="en-US" sz="1400" dirty="0">
                <a:solidFill>
                  <a:srgbClr val="00BF00"/>
                </a:solidFill>
                <a:latin typeface="Lucida Console" panose="020B0609040504020204" pitchFamily="49" charset="0"/>
              </a:rPr>
              <a:t>__shared__</a:t>
            </a:r>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B_s[TILE_DIM][TILE_DIM];</a:t>
            </a:r>
          </a:p>
          <a:p>
            <a:endParaRPr lang="en-US" sz="1400" dirty="0">
              <a:solidFill>
                <a:srgbClr val="00BF00"/>
              </a:solidFill>
              <a:latin typeface="Lucida Console" panose="020B0609040504020204" pitchFamily="49" charset="0"/>
            </a:endParaRPr>
          </a:p>
          <a:p>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row = </a:t>
            </a:r>
            <a:r>
              <a:rPr lang="en-US" sz="1400" dirty="0" err="1">
                <a:solidFill>
                  <a:srgbClr val="00BFBF"/>
                </a:solidFill>
                <a:latin typeface="Lucida Console" panose="020B0609040504020204" pitchFamily="49" charset="0"/>
              </a:rPr>
              <a:t>blockIdx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blockDim</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p>
          <a:p>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col = </a:t>
            </a:r>
            <a:r>
              <a:rPr lang="en-US" sz="1400" dirty="0" err="1">
                <a:solidFill>
                  <a:srgbClr val="00BFBF"/>
                </a:solidFill>
                <a:latin typeface="Lucida Console" panose="020B0609040504020204" pitchFamily="49" charset="0"/>
              </a:rPr>
              <a:t>blockIdx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blockDim</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p>
          <a:p>
            <a:endParaRPr lang="en-US" sz="1400" dirty="0">
              <a:solidFill>
                <a:srgbClr val="00BF00"/>
              </a:solidFill>
              <a:latin typeface="Lucida Console" panose="020B0609040504020204" pitchFamily="49" charset="0"/>
            </a:endParaRPr>
          </a:p>
          <a:p>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sum = </a:t>
            </a:r>
            <a:r>
              <a:rPr lang="en-US" sz="1400" dirty="0">
                <a:solidFill>
                  <a:srgbClr val="BF0000"/>
                </a:solidFill>
                <a:latin typeface="Lucida Console" panose="020B0609040504020204" pitchFamily="49" charset="0"/>
              </a:rPr>
              <a:t>0.0f</a:t>
            </a:r>
            <a:r>
              <a:rPr lang="en-US" sz="1400" dirty="0">
                <a:solidFill>
                  <a:prstClr val="black"/>
                </a:solidFill>
                <a:latin typeface="Lucida Console" panose="020B0609040504020204" pitchFamily="49" charset="0"/>
              </a:rPr>
              <a:t>;</a:t>
            </a:r>
          </a:p>
          <a:p>
            <a:endParaRPr lang="en-US" sz="1400" dirty="0">
              <a:solidFill>
                <a:srgbClr val="BFBF00"/>
              </a:solidFill>
              <a:latin typeface="Lucida Console" panose="020B0609040504020204" pitchFamily="49" charset="0"/>
            </a:endParaRPr>
          </a:p>
          <a:p>
            <a:r>
              <a:rPr lang="en-US" sz="1400" dirty="0">
                <a:solidFill>
                  <a:srgbClr val="BFBF00"/>
                </a:solidFill>
                <a:latin typeface="Lucida Console" panose="020B0609040504020204" pitchFamily="49" charset="0"/>
              </a:rPr>
              <a:t>for</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tile = </a:t>
            </a:r>
            <a:r>
              <a:rPr lang="en-US" sz="1400" dirty="0">
                <a:solidFill>
                  <a:srgbClr val="BF0000"/>
                </a:solidFill>
                <a:latin typeface="Lucida Console" panose="020B0609040504020204" pitchFamily="49" charset="0"/>
              </a:rPr>
              <a:t>0</a:t>
            </a:r>
            <a:r>
              <a:rPr lang="en-US" sz="1400" dirty="0">
                <a:solidFill>
                  <a:prstClr val="black"/>
                </a:solidFill>
                <a:latin typeface="Lucida Console" panose="020B0609040504020204" pitchFamily="49" charset="0"/>
              </a:rPr>
              <a:t>; tile &lt; N/TILE_DIM; ++tile) {</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00BF"/>
                </a:solidFill>
                <a:latin typeface="Lucida Console" panose="020B0609040504020204" pitchFamily="49" charset="0"/>
              </a:rPr>
              <a:t>// Load tile to shared memory</a:t>
            </a:r>
          </a:p>
          <a:p>
            <a:r>
              <a:rPr lang="en-US" sz="1400" dirty="0">
                <a:solidFill>
                  <a:prstClr val="black"/>
                </a:solidFill>
                <a:latin typeface="Lucida Console" panose="020B0609040504020204" pitchFamily="49" charset="0"/>
              </a:rPr>
              <a:t>    A_s[</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 = A[row*N + tile*TILE_DIM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B_s[</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 = B[(tile*TILE_DIM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)*N + col];</a:t>
            </a:r>
          </a:p>
          <a:p>
            <a:r>
              <a:rPr lang="en-US" sz="1400" dirty="0">
                <a:solidFill>
                  <a:prstClr val="black"/>
                </a:solidFill>
                <a:latin typeface="Lucida Console" panose="020B0609040504020204" pitchFamily="49" charset="0"/>
              </a:rPr>
              <a:t>    __</a:t>
            </a:r>
            <a:r>
              <a:rPr lang="en-US" sz="1400" dirty="0" err="1">
                <a:solidFill>
                  <a:prstClr val="black"/>
                </a:solidFill>
                <a:latin typeface="Lucida Console" panose="020B0609040504020204" pitchFamily="49" charset="0"/>
              </a:rPr>
              <a:t>syncthreads</a:t>
            </a:r>
            <a:r>
              <a:rPr lang="en-US" sz="1400" dirty="0">
                <a:solidFill>
                  <a:prstClr val="black"/>
                </a:solidFill>
                <a:latin typeface="Lucida Console" panose="020B0609040504020204" pitchFamily="49" charset="0"/>
              </a:rPr>
              <a:t>();</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00BF"/>
                </a:solidFill>
                <a:latin typeface="Lucida Console" panose="020B0609040504020204" pitchFamily="49" charset="0"/>
              </a:rPr>
              <a:t>// Compute with tile</a:t>
            </a:r>
          </a:p>
          <a:p>
            <a:r>
              <a:rPr lang="en-US" sz="1400" dirty="0">
                <a:solidFill>
                  <a:prstClr val="black"/>
                </a:solidFill>
                <a:latin typeface="Lucida Console" panose="020B0609040504020204" pitchFamily="49" charset="0"/>
              </a:rPr>
              <a:t>    </a:t>
            </a:r>
            <a:r>
              <a:rPr lang="en-US" sz="1400" dirty="0">
                <a:solidFill>
                  <a:srgbClr val="BFBF00"/>
                </a:solidFill>
                <a:latin typeface="Lucida Console" panose="020B0609040504020204" pitchFamily="49" charset="0"/>
              </a:rPr>
              <a:t>for</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 = </a:t>
            </a:r>
            <a:r>
              <a:rPr lang="en-US" sz="1400" dirty="0">
                <a:solidFill>
                  <a:srgbClr val="BF0000"/>
                </a:solidFill>
                <a:latin typeface="Lucida Console" panose="020B0609040504020204" pitchFamily="49" charset="0"/>
              </a:rPr>
              <a:t>0</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 &lt; TILE_DIM; ++</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 {</a:t>
            </a:r>
          </a:p>
          <a:p>
            <a:r>
              <a:rPr lang="en-US" sz="1400" dirty="0">
                <a:solidFill>
                  <a:prstClr val="black"/>
                </a:solidFill>
                <a:latin typeface="Lucida Console" panose="020B0609040504020204" pitchFamily="49" charset="0"/>
              </a:rPr>
              <a:t>        sum += A_s[</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]*B_s[</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p>
          <a:p>
            <a:r>
              <a:rPr lang="en-US" sz="1400" dirty="0">
                <a:solidFill>
                  <a:prstClr val="black"/>
                </a:solidFill>
                <a:latin typeface="Lucida Console" panose="020B0609040504020204" pitchFamily="49" charset="0"/>
              </a:rPr>
              <a:t>    __</a:t>
            </a:r>
            <a:r>
              <a:rPr lang="en-US" sz="1400" dirty="0" err="1">
                <a:solidFill>
                  <a:prstClr val="black"/>
                </a:solidFill>
                <a:latin typeface="Lucida Console" panose="020B0609040504020204" pitchFamily="49" charset="0"/>
              </a:rPr>
              <a:t>syncthreads</a:t>
            </a:r>
            <a:r>
              <a:rPr lang="en-US" sz="1400" dirty="0">
                <a:solidFill>
                  <a:prstClr val="black"/>
                </a:solidFill>
                <a:latin typeface="Lucida Console" panose="020B0609040504020204" pitchFamily="49" charset="0"/>
              </a:rPr>
              <a:t>();</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C[row*N + col] = sum;</a:t>
            </a:r>
            <a:endParaRPr lang="en-US" sz="1400" dirty="0"/>
          </a:p>
        </p:txBody>
      </p:sp>
      <p:sp>
        <p:nvSpPr>
          <p:cNvPr id="6" name="TextBox 5"/>
          <p:cNvSpPr txBox="1"/>
          <p:nvPr/>
        </p:nvSpPr>
        <p:spPr>
          <a:xfrm>
            <a:off x="5417872" y="1082198"/>
            <a:ext cx="3176895" cy="338554"/>
          </a:xfrm>
          <a:prstGeom prst="callout1">
            <a:avLst>
              <a:gd name="adj1" fmla="val 50549"/>
              <a:gd name="adj2" fmla="val 760"/>
              <a:gd name="adj3" fmla="val 48900"/>
              <a:gd name="adj4" fmla="val -19885"/>
            </a:avLst>
          </a:prstGeom>
          <a:noFill/>
          <a:ln>
            <a:solidFill>
              <a:schemeClr val="bg1">
                <a:lumMod val="50000"/>
              </a:schemeClr>
            </a:solidFill>
          </a:ln>
        </p:spPr>
        <p:txBody>
          <a:bodyPr wrap="none" rtlCol="0">
            <a:spAutoFit/>
          </a:bodyPr>
          <a:lstStyle/>
          <a:p>
            <a:pPr algn="ctr"/>
            <a:r>
              <a:rPr lang="en-US" sz="1600" dirty="0">
                <a:solidFill>
                  <a:srgbClr val="0000FF"/>
                </a:solidFill>
              </a:rPr>
              <a:t>Declare arrays in shared memory</a:t>
            </a:r>
          </a:p>
        </p:txBody>
      </p:sp>
      <p:sp>
        <p:nvSpPr>
          <p:cNvPr id="7" name="TextBox 6"/>
          <p:cNvSpPr txBox="1"/>
          <p:nvPr/>
        </p:nvSpPr>
        <p:spPr>
          <a:xfrm>
            <a:off x="2903726" y="3902297"/>
            <a:ext cx="5851858" cy="338554"/>
          </a:xfrm>
          <a:prstGeom prst="callout1">
            <a:avLst>
              <a:gd name="adj1" fmla="val 50549"/>
              <a:gd name="adj2" fmla="val 760"/>
              <a:gd name="adj3" fmla="val 3472"/>
              <a:gd name="adj4" fmla="val -7650"/>
            </a:avLst>
          </a:prstGeom>
          <a:noFill/>
          <a:ln>
            <a:solidFill>
              <a:schemeClr val="bg1">
                <a:lumMod val="50000"/>
              </a:schemeClr>
            </a:solidFill>
          </a:ln>
        </p:spPr>
        <p:txBody>
          <a:bodyPr wrap="none" rtlCol="0">
            <a:spAutoFit/>
          </a:bodyPr>
          <a:lstStyle/>
          <a:p>
            <a:r>
              <a:rPr lang="en-US" sz="1600" dirty="0">
                <a:solidFill>
                  <a:srgbClr val="0000FF"/>
                </a:solidFill>
              </a:rPr>
              <a:t>Threads wait for each other to finish loading before computing</a:t>
            </a:r>
          </a:p>
        </p:txBody>
      </p:sp>
      <p:sp>
        <p:nvSpPr>
          <p:cNvPr id="8" name="TextBox 7"/>
          <p:cNvSpPr txBox="1"/>
          <p:nvPr/>
        </p:nvSpPr>
        <p:spPr>
          <a:xfrm>
            <a:off x="2903726" y="5162044"/>
            <a:ext cx="5851858" cy="338554"/>
          </a:xfrm>
          <a:prstGeom prst="callout1">
            <a:avLst>
              <a:gd name="adj1" fmla="val 50549"/>
              <a:gd name="adj2" fmla="val 760"/>
              <a:gd name="adj3" fmla="val 8015"/>
              <a:gd name="adj4" fmla="val -7650"/>
            </a:avLst>
          </a:prstGeom>
          <a:noFill/>
          <a:ln>
            <a:solidFill>
              <a:schemeClr val="bg1">
                <a:lumMod val="50000"/>
              </a:schemeClr>
            </a:solidFill>
          </a:ln>
        </p:spPr>
        <p:txBody>
          <a:bodyPr wrap="none" rtlCol="0">
            <a:spAutoFit/>
          </a:bodyPr>
          <a:lstStyle/>
          <a:p>
            <a:r>
              <a:rPr lang="en-US" sz="1600" dirty="0">
                <a:solidFill>
                  <a:srgbClr val="0000FF"/>
                </a:solidFill>
              </a:rPr>
              <a:t>Threads wait for each other to finish computing before loading</a:t>
            </a:r>
          </a:p>
        </p:txBody>
      </p:sp>
      <p:sp>
        <p:nvSpPr>
          <p:cNvPr id="9" name="TextBox 610">
            <a:extLst>
              <a:ext uri="{FF2B5EF4-FFF2-40B4-BE49-F238E27FC236}">
                <a16:creationId xmlns:a16="http://schemas.microsoft.com/office/drawing/2014/main" id="{80F48FFC-BE8F-FD49-81D6-122FEBFB86B4}"/>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10" name="Slide Number Placeholder 3">
            <a:extLst>
              <a:ext uri="{FF2B5EF4-FFF2-40B4-BE49-F238E27FC236}">
                <a16:creationId xmlns:a16="http://schemas.microsoft.com/office/drawing/2014/main" id="{EE00BFFE-7828-2649-80A1-008D3EF9B04B}"/>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4807323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a:extLst>
              <a:ext uri="{FF2B5EF4-FFF2-40B4-BE49-F238E27FC236}">
                <a16:creationId xmlns:a16="http://schemas.microsoft.com/office/drawing/2014/main" id="{7616EDAA-3B45-C142-8CD2-E6E579C86C54}"/>
              </a:ext>
            </a:extLst>
          </p:cNvPr>
          <p:cNvSpPr>
            <a:spLocks noGrp="1" noChangeArrowheads="1"/>
          </p:cNvSpPr>
          <p:nvPr>
            <p:ph type="title"/>
          </p:nvPr>
        </p:nvSpPr>
        <p:spPr/>
        <p:txBody>
          <a:bodyPr/>
          <a:lstStyle/>
          <a:p>
            <a:r>
              <a:rPr lang="en-US" altLang="en-US" sz="3600" dirty="0">
                <a:ea typeface="ＭＳ Ｐゴシック" panose="020B0600070205080204" pitchFamily="34" charset="-128"/>
              </a:rPr>
              <a:t>Issue of Shared Memory Mechanism</a:t>
            </a:r>
          </a:p>
        </p:txBody>
      </p:sp>
      <p:sp>
        <p:nvSpPr>
          <p:cNvPr id="3" name="Content Placeholder 2">
            <a:extLst>
              <a:ext uri="{FF2B5EF4-FFF2-40B4-BE49-F238E27FC236}">
                <a16:creationId xmlns:a16="http://schemas.microsoft.com/office/drawing/2014/main" id="{81728BE2-26A5-C744-8B89-9FA143B941BF}"/>
              </a:ext>
            </a:extLst>
          </p:cNvPr>
          <p:cNvSpPr>
            <a:spLocks noGrp="1" noChangeArrowheads="1"/>
          </p:cNvSpPr>
          <p:nvPr>
            <p:ph idx="1"/>
          </p:nvPr>
        </p:nvSpPr>
        <p:spPr>
          <a:xfrm>
            <a:off x="228600" y="996950"/>
            <a:ext cx="8839200" cy="5194300"/>
          </a:xfrm>
        </p:spPr>
        <p:txBody>
          <a:bodyPr/>
          <a:lstStyle/>
          <a:p>
            <a:r>
              <a:rPr lang="en-US" altLang="en-US" b="1" dirty="0">
                <a:ea typeface="ＭＳ Ｐゴシック" panose="020B0600070205080204" pitchFamily="34" charset="-128"/>
              </a:rPr>
              <a:t>Issue of Shared Memory: </a:t>
            </a:r>
          </a:p>
          <a:p>
            <a:pPr lvl="1"/>
            <a:r>
              <a:rPr lang="en-US" altLang="en-US" b="1" dirty="0">
                <a:solidFill>
                  <a:srgbClr val="C00000"/>
                </a:solidFill>
                <a:ea typeface="ＭＳ Ｐゴシック" panose="020B0600070205080204" pitchFamily="34" charset="-128"/>
              </a:rPr>
              <a:t>Manual</a:t>
            </a:r>
            <a:r>
              <a:rPr lang="en-US" altLang="en-US" dirty="0">
                <a:solidFill>
                  <a:srgbClr val="C00000"/>
                </a:solidFill>
                <a:ea typeface="ＭＳ Ｐゴシック" panose="020B0600070205080204" pitchFamily="34" charset="-128"/>
              </a:rPr>
              <a:t>: </a:t>
            </a:r>
            <a:r>
              <a:rPr lang="en-US" altLang="en-US" dirty="0">
                <a:ea typeface="ＭＳ Ｐゴシック" panose="020B0600070205080204" pitchFamily="34" charset="-128"/>
              </a:rPr>
              <a:t>Programmer manages data movement across levels</a:t>
            </a:r>
          </a:p>
          <a:p>
            <a:pPr marL="342900" lvl="1" indent="0">
              <a:buFont typeface="Wingdings" pitchFamily="2" charset="2"/>
              <a:buNone/>
            </a:pPr>
            <a:r>
              <a:rPr lang="en-US" altLang="en-US" dirty="0">
                <a:solidFill>
                  <a:srgbClr val="FF0000"/>
                </a:solidFill>
                <a:ea typeface="ＭＳ Ｐゴシック" panose="020B0600070205080204" pitchFamily="34" charset="-128"/>
              </a:rPr>
              <a:t>-- too painful for programmers on substantial programs</a:t>
            </a:r>
          </a:p>
          <a:p>
            <a:pPr marL="342900" lvl="1" indent="0"/>
            <a:r>
              <a:rPr lang="en-US" altLang="en-US" dirty="0">
                <a:ea typeface="ＭＳ Ｐゴシック" panose="020B0600070205080204" pitchFamily="34" charset="-128"/>
              </a:rPr>
              <a:t> Done in on-chip scratchpad SRAM: GPUs (called “shared memory”), ML accelerators, …</a:t>
            </a:r>
          </a:p>
          <a:p>
            <a:endParaRPr lang="en-US" altLang="en-US" dirty="0">
              <a:ea typeface="ＭＳ Ｐゴシック" panose="020B0600070205080204" pitchFamily="34" charset="-128"/>
            </a:endParaRPr>
          </a:p>
          <a:p>
            <a:r>
              <a:rPr lang="en-US" altLang="en-US" b="1" dirty="0">
                <a:solidFill>
                  <a:srgbClr val="0432FF"/>
                </a:solidFill>
                <a:ea typeface="ＭＳ Ｐゴシック" panose="020B0600070205080204" pitchFamily="34" charset="-128"/>
              </a:rPr>
              <a:t>Cache: </a:t>
            </a:r>
            <a:r>
              <a:rPr lang="en-US" altLang="en-US" dirty="0">
                <a:ea typeface="ＭＳ Ｐゴシック" panose="020B0600070205080204" pitchFamily="34" charset="-128"/>
              </a:rPr>
              <a:t>Hardware manages data movement across levels, </a:t>
            </a:r>
            <a:r>
              <a:rPr lang="en-US" altLang="en-US" b="1" dirty="0">
                <a:solidFill>
                  <a:srgbClr val="0432FF"/>
                </a:solidFill>
                <a:ea typeface="ＭＳ Ｐゴシック" panose="020B0600070205080204" pitchFamily="34" charset="-128"/>
              </a:rPr>
              <a:t>Automatic</a:t>
            </a:r>
            <a:r>
              <a:rPr lang="en-US" altLang="en-US" dirty="0">
                <a:solidFill>
                  <a:srgbClr val="0000FF"/>
                </a:solidFill>
                <a:ea typeface="ＭＳ Ｐゴシック" panose="020B0600070205080204" pitchFamily="34" charset="-128"/>
              </a:rPr>
              <a:t>:</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transparently to the programmer</a:t>
            </a:r>
          </a:p>
          <a:p>
            <a:pPr marL="342900" lvl="1" indent="0">
              <a:buFont typeface="Wingdings" pitchFamily="2" charset="2"/>
              <a:buNone/>
            </a:pPr>
            <a:r>
              <a:rPr lang="en-US" altLang="en-US" dirty="0">
                <a:solidFill>
                  <a:srgbClr val="00B050"/>
                </a:solidFill>
                <a:ea typeface="ＭＳ Ｐゴシック" panose="020B0600070205080204" pitchFamily="34" charset="-128"/>
              </a:rPr>
              <a:t>++ programmer’s life is easier</a:t>
            </a:r>
          </a:p>
          <a:p>
            <a:pPr marL="342900" lvl="1" indent="0"/>
            <a:r>
              <a:rPr lang="en-US" altLang="en-US" dirty="0">
                <a:ea typeface="ＭＳ Ｐゴシック" panose="020B0600070205080204" pitchFamily="34" charset="-128"/>
              </a:rPr>
              <a:t> The average programmer doesn’t need to know about caches</a:t>
            </a:r>
          </a:p>
          <a:p>
            <a:pPr lvl="2"/>
            <a:r>
              <a:rPr lang="en-US" altLang="en-US" dirty="0">
                <a:ea typeface="ＭＳ Ｐゴシック" panose="020B0600070205080204" pitchFamily="34" charset="-128"/>
              </a:rPr>
              <a:t>You don’t need to know how big the cache is and how it works to write a “correct” program! (What if you want a “fast” program?)</a:t>
            </a:r>
          </a:p>
        </p:txBody>
      </p:sp>
      <p:sp>
        <p:nvSpPr>
          <p:cNvPr id="109571" name="Slide Number Placeholder 3">
            <a:extLst>
              <a:ext uri="{FF2B5EF4-FFF2-40B4-BE49-F238E27FC236}">
                <a16:creationId xmlns:a16="http://schemas.microsoft.com/office/drawing/2014/main" id="{74B33E3D-A5B7-4F41-A748-4E15E9311C1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B27312A6-432E-AB49-8E56-F98680077609}" type="slidenum">
              <a:rPr lang="en-US" altLang="en-US" sz="1600" smtClean="0">
                <a:solidFill>
                  <a:srgbClr val="000000"/>
                </a:solidFill>
                <a:latin typeface="Garamond" panose="02020404030301010803" pitchFamily="18" charset="0"/>
              </a:rPr>
              <a:pPr eaLnBrk="1" hangingPunct="1">
                <a:spcBef>
                  <a:spcPct val="0"/>
                </a:spcBef>
                <a:buClrTx/>
                <a:buSzTx/>
                <a:buFontTx/>
                <a:buNone/>
              </a:pPr>
              <a:t>9</a:t>
            </a:fld>
            <a:endParaRPr lang="en-US" altLang="en-US" sz="1600">
              <a:solidFill>
                <a:srgbClr val="000000"/>
              </a:solidFill>
              <a:latin typeface="Garamond" panose="02020404030301010803" pitchFamily="18" charset="0"/>
            </a:endParaRPr>
          </a:p>
        </p:txBody>
      </p:sp>
    </p:spTree>
    <p:extLst>
      <p:ext uri="{BB962C8B-B14F-4D97-AF65-F5344CB8AC3E}">
        <p14:creationId xmlns:p14="http://schemas.microsoft.com/office/powerpoint/2010/main" val="22944738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7CBD-D102-B54F-BABC-C8A1AE7D705D}"/>
              </a:ext>
            </a:extLst>
          </p:cNvPr>
          <p:cNvSpPr>
            <a:spLocks noGrp="1"/>
          </p:cNvSpPr>
          <p:nvPr>
            <p:ph type="title"/>
          </p:nvPr>
        </p:nvSpPr>
        <p:spPr/>
        <p:txBody>
          <a:bodyPr/>
          <a:lstStyle/>
          <a:p>
            <a:r>
              <a:rPr lang="en-US" altLang="zh-CN" dirty="0">
                <a:latin typeface="Garamond" charset="0"/>
                <a:ea typeface="ＭＳ Ｐゴシック" charset="0"/>
                <a:cs typeface="ＭＳ Ｐゴシック" charset="0"/>
              </a:rPr>
              <a:t>Recall: </a:t>
            </a:r>
            <a:r>
              <a:rPr lang="en-US" dirty="0">
                <a:latin typeface="Garamond" charset="0"/>
                <a:ea typeface="ＭＳ Ｐゴシック" charset="0"/>
                <a:cs typeface="ＭＳ Ｐゴシック" charset="0"/>
              </a:rPr>
              <a:t>Data Movement vs. Computation</a:t>
            </a:r>
            <a:endParaRPr lang="en-US" dirty="0"/>
          </a:p>
        </p:txBody>
      </p:sp>
      <p:sp>
        <p:nvSpPr>
          <p:cNvPr id="4" name="Slide Number Placeholder 3">
            <a:extLst>
              <a:ext uri="{FF2B5EF4-FFF2-40B4-BE49-F238E27FC236}">
                <a16:creationId xmlns:a16="http://schemas.microsoft.com/office/drawing/2014/main" id="{ACD1FC0E-1337-1B40-8B35-0A2AD6DA5FA7}"/>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323594FA-E141-4234-AE05-360401972BE7}"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en-US" altLang="en-US" sz="1600" b="0" i="0" u="none" strike="noStrike" kern="1200" cap="none" spc="0" normalizeH="0" baseline="0" noProof="0">
              <a:ln>
                <a:noFill/>
              </a:ln>
              <a:solidFill>
                <a:srgbClr val="000000"/>
              </a:solidFill>
              <a:effectLst/>
              <a:uLnTx/>
              <a:uFillTx/>
              <a:latin typeface="Garamond" pitchFamily="18" charset="0"/>
              <a:ea typeface="ＭＳ Ｐゴシック" panose="020B0600070205080204" pitchFamily="34" charset="-128"/>
              <a:cs typeface="+mn-cs"/>
            </a:endParaRPr>
          </a:p>
        </p:txBody>
      </p:sp>
      <p:graphicFrame>
        <p:nvGraphicFramePr>
          <p:cNvPr id="6" name="Table 6">
            <a:extLst>
              <a:ext uri="{FF2B5EF4-FFF2-40B4-BE49-F238E27FC236}">
                <a16:creationId xmlns:a16="http://schemas.microsoft.com/office/drawing/2014/main" id="{8ADBE547-0584-7949-864D-540A289F9B95}"/>
              </a:ext>
            </a:extLst>
          </p:cNvPr>
          <p:cNvGraphicFramePr>
            <a:graphicFrameLocks noGrp="1"/>
          </p:cNvGraphicFramePr>
          <p:nvPr/>
        </p:nvGraphicFramePr>
        <p:xfrm>
          <a:off x="342900" y="1058931"/>
          <a:ext cx="8458200" cy="3962399"/>
        </p:xfrm>
        <a:graphic>
          <a:graphicData uri="http://schemas.openxmlformats.org/drawingml/2006/table">
            <a:tbl>
              <a:tblPr firstRow="1" bandRow="1">
                <a:tableStyleId>{21E4AEA4-8DFA-4A89-87EB-49C32662AFE0}</a:tableStyleId>
              </a:tblPr>
              <a:tblGrid>
                <a:gridCol w="3152427">
                  <a:extLst>
                    <a:ext uri="{9D8B030D-6E8A-4147-A177-3AD203B41FA5}">
                      <a16:colId xmlns:a16="http://schemas.microsoft.com/office/drawing/2014/main" val="689838804"/>
                    </a:ext>
                  </a:extLst>
                </a:gridCol>
                <a:gridCol w="1706984">
                  <a:extLst>
                    <a:ext uri="{9D8B030D-6E8A-4147-A177-3AD203B41FA5}">
                      <a16:colId xmlns:a16="http://schemas.microsoft.com/office/drawing/2014/main" val="318286638"/>
                    </a:ext>
                  </a:extLst>
                </a:gridCol>
                <a:gridCol w="3598789">
                  <a:extLst>
                    <a:ext uri="{9D8B030D-6E8A-4147-A177-3AD203B41FA5}">
                      <a16:colId xmlns:a16="http://schemas.microsoft.com/office/drawing/2014/main" val="713273297"/>
                    </a:ext>
                  </a:extLst>
                </a:gridCol>
              </a:tblGrid>
              <a:tr h="508564">
                <a:tc>
                  <a:txBody>
                    <a:bodyPr/>
                    <a:lstStyle/>
                    <a:p>
                      <a:pPr algn="ctr" fontAlgn="b"/>
                      <a:r>
                        <a:rPr lang="en-US" sz="2000" u="none" strike="noStrike" dirty="0">
                          <a:effectLst/>
                        </a:rPr>
                        <a:t>32-bit Operation </a:t>
                      </a:r>
                      <a:endParaRPr lang="en-US"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dirty="0">
                          <a:effectLst/>
                        </a:rPr>
                        <a:t>Energy (</a:t>
                      </a:r>
                      <a:r>
                        <a:rPr lang="en-US" sz="2000" u="none" strike="noStrike" dirty="0" err="1">
                          <a:effectLst/>
                        </a:rPr>
                        <a:t>pJ</a:t>
                      </a:r>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dirty="0">
                          <a:effectLst/>
                        </a:rPr>
                        <a:t>ADD (int) Relative Cost</a:t>
                      </a:r>
                      <a:endParaRPr lang="en-US"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44091471"/>
                  </a:ext>
                </a:extLst>
              </a:tr>
              <a:tr h="493405">
                <a:tc>
                  <a:txBody>
                    <a:bodyPr/>
                    <a:lstStyle/>
                    <a:p>
                      <a:pPr algn="ctr" fontAlgn="b"/>
                      <a:r>
                        <a:rPr lang="en-US" sz="2000" b="1" u="none" strike="noStrike" dirty="0">
                          <a:effectLst/>
                        </a:rPr>
                        <a:t>ADD (int)</a:t>
                      </a:r>
                      <a:endParaRPr lang="en-US"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dirty="0">
                          <a:effectLst/>
                        </a:rPr>
                        <a:t>0.1</a:t>
                      </a:r>
                      <a:endParaRPr lang="en-US"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1</a:t>
                      </a:r>
                      <a:endParaRPr lang="en-US"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21389220"/>
                  </a:ext>
                </a:extLst>
              </a:tr>
              <a:tr h="493405">
                <a:tc>
                  <a:txBody>
                    <a:bodyPr/>
                    <a:lstStyle/>
                    <a:p>
                      <a:pPr algn="ctr" fontAlgn="b"/>
                      <a:r>
                        <a:rPr lang="en-US" sz="2000" b="1" u="none" strike="noStrike">
                          <a:effectLst/>
                        </a:rPr>
                        <a:t>ADD (float)</a:t>
                      </a:r>
                      <a:endParaRPr lang="en-US" sz="20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dirty="0">
                          <a:effectLst/>
                        </a:rPr>
                        <a:t>0.9</a:t>
                      </a:r>
                      <a:endParaRPr lang="en-US"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9</a:t>
                      </a:r>
                      <a:endParaRPr lang="en-US"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15758111"/>
                  </a:ext>
                </a:extLst>
              </a:tr>
              <a:tr h="493405">
                <a:tc>
                  <a:txBody>
                    <a:bodyPr/>
                    <a:lstStyle/>
                    <a:p>
                      <a:pPr algn="ctr" fontAlgn="b"/>
                      <a:r>
                        <a:rPr lang="en-US" sz="2000" b="1" u="none" strike="noStrike">
                          <a:effectLst/>
                        </a:rPr>
                        <a:t>Register File</a:t>
                      </a:r>
                      <a:endParaRPr lang="en-US" sz="20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1</a:t>
                      </a:r>
                      <a:endParaRPr lang="en-US"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10</a:t>
                      </a:r>
                      <a:endParaRPr lang="en-US"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38869900"/>
                  </a:ext>
                </a:extLst>
              </a:tr>
              <a:tr h="493405">
                <a:tc>
                  <a:txBody>
                    <a:bodyPr/>
                    <a:lstStyle/>
                    <a:p>
                      <a:pPr algn="ctr" fontAlgn="b"/>
                      <a:r>
                        <a:rPr lang="en-US" sz="2000" b="1" u="none" strike="noStrike" dirty="0">
                          <a:effectLst/>
                        </a:rPr>
                        <a:t>MULT (int)</a:t>
                      </a:r>
                      <a:endParaRPr lang="en-US"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3.1</a:t>
                      </a:r>
                      <a:endParaRPr lang="en-US"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31</a:t>
                      </a:r>
                      <a:endParaRPr lang="en-US"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75113833"/>
                  </a:ext>
                </a:extLst>
              </a:tr>
              <a:tr h="493405">
                <a:tc>
                  <a:txBody>
                    <a:bodyPr/>
                    <a:lstStyle/>
                    <a:p>
                      <a:pPr algn="ctr" fontAlgn="b"/>
                      <a:r>
                        <a:rPr lang="en-US" sz="2000" b="1" u="none" strike="noStrike">
                          <a:effectLst/>
                        </a:rPr>
                        <a:t>MULT (float)</a:t>
                      </a:r>
                      <a:endParaRPr lang="en-US" sz="20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3.7</a:t>
                      </a:r>
                      <a:endParaRPr lang="en-US"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dirty="0">
                          <a:effectLst/>
                        </a:rPr>
                        <a:t>37</a:t>
                      </a:r>
                      <a:endParaRPr lang="en-US"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07724506"/>
                  </a:ext>
                </a:extLst>
              </a:tr>
              <a:tr h="493405">
                <a:tc>
                  <a:txBody>
                    <a:bodyPr/>
                    <a:lstStyle/>
                    <a:p>
                      <a:pPr algn="ctr" fontAlgn="b"/>
                      <a:r>
                        <a:rPr lang="en-US" sz="2000" b="1" u="none" strike="noStrike">
                          <a:effectLst/>
                        </a:rPr>
                        <a:t>SRAM Cache</a:t>
                      </a:r>
                      <a:endParaRPr lang="en-US" sz="20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5</a:t>
                      </a:r>
                      <a:endParaRPr lang="en-US"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dirty="0">
                          <a:effectLst/>
                        </a:rPr>
                        <a:t>50</a:t>
                      </a:r>
                      <a:endParaRPr lang="en-US"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20392864"/>
                  </a:ext>
                </a:extLst>
              </a:tr>
              <a:tr h="493405">
                <a:tc>
                  <a:txBody>
                    <a:bodyPr/>
                    <a:lstStyle/>
                    <a:p>
                      <a:pPr algn="ctr" fontAlgn="b"/>
                      <a:r>
                        <a:rPr lang="en-US" sz="2000" b="1" u="none" strike="noStrike" dirty="0">
                          <a:solidFill>
                            <a:srgbClr val="FF0000"/>
                          </a:solidFill>
                          <a:effectLst/>
                        </a:rPr>
                        <a:t>DRAM </a:t>
                      </a:r>
                      <a:endParaRPr lang="en-US" sz="2000" b="1"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n-US" sz="2000" b="1" u="none" strike="noStrike" dirty="0">
                          <a:solidFill>
                            <a:srgbClr val="FF0000"/>
                          </a:solidFill>
                          <a:effectLst/>
                        </a:rPr>
                        <a:t>640</a:t>
                      </a:r>
                      <a:endParaRPr lang="en-US" sz="2000" b="1"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n-US" sz="2000" b="1" u="none" strike="noStrike" dirty="0">
                          <a:solidFill>
                            <a:srgbClr val="FF0000"/>
                          </a:solidFill>
                          <a:effectLst/>
                        </a:rPr>
                        <a:t>6400</a:t>
                      </a:r>
                      <a:endParaRPr lang="en-US" sz="2000" b="1" i="0" u="none" strike="noStrike" dirty="0">
                        <a:solidFill>
                          <a:srgbClr val="FF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65145566"/>
                  </a:ext>
                </a:extLst>
              </a:tr>
            </a:tbl>
          </a:graphicData>
        </a:graphic>
      </p:graphicFrame>
      <p:sp>
        <p:nvSpPr>
          <p:cNvPr id="9" name="TextBox 8">
            <a:extLst>
              <a:ext uri="{FF2B5EF4-FFF2-40B4-BE49-F238E27FC236}">
                <a16:creationId xmlns:a16="http://schemas.microsoft.com/office/drawing/2014/main" id="{4AEE5144-6E2A-D745-9211-078E3C12BD9A}"/>
              </a:ext>
            </a:extLst>
          </p:cNvPr>
          <p:cNvSpPr txBox="1"/>
          <p:nvPr/>
        </p:nvSpPr>
        <p:spPr>
          <a:xfrm>
            <a:off x="1595132" y="6428250"/>
            <a:ext cx="656333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Tahoma"/>
                <a:ea typeface="ＭＳ Ｐゴシック" panose="020B0600070205080204" pitchFamily="34" charset="-128"/>
                <a:cs typeface="+mn-cs"/>
              </a:rPr>
              <a:t>Han</a:t>
            </a:r>
            <a:r>
              <a:rPr kumimoji="0" lang="en-US" sz="1250" b="0" i="0" u="none" strike="noStrike" kern="1200" cap="none" spc="0" normalizeH="0" baseline="0" noProof="0" dirty="0">
                <a:ln>
                  <a:noFill/>
                </a:ln>
                <a:solidFill>
                  <a:srgbClr val="000000"/>
                </a:solidFill>
                <a:effectLst/>
                <a:uLnTx/>
                <a:uFillTx/>
                <a:latin typeface="Tahoma"/>
                <a:ea typeface="ＭＳ Ｐゴシック" panose="020B0600070205080204" pitchFamily="34" charset="-128"/>
                <a:cs typeface="+mn-cs"/>
              </a:rPr>
              <a:t>+, “</a:t>
            </a:r>
            <a:r>
              <a:rPr kumimoji="0" lang="en-US" sz="1250" b="0"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rPr>
              <a:t>EIE: Efficient Inference Engine on Compressed Deep Neural Network,</a:t>
            </a:r>
            <a:r>
              <a:rPr kumimoji="0" lang="en-US" sz="1250" b="0" i="0" u="none" strike="noStrike" kern="1200" cap="none" spc="0" normalizeH="0" baseline="0" noProof="0" dirty="0">
                <a:ln>
                  <a:noFill/>
                </a:ln>
                <a:solidFill>
                  <a:srgbClr val="000000"/>
                </a:solidFill>
                <a:effectLst/>
                <a:uLnTx/>
                <a:uFillTx/>
                <a:latin typeface="Tahoma"/>
                <a:ea typeface="ＭＳ Ｐゴシック" panose="020B0600070205080204" pitchFamily="34" charset="-128"/>
                <a:cs typeface="+mn-cs"/>
              </a:rPr>
              <a:t>”</a:t>
            </a:r>
            <a:r>
              <a:rPr kumimoji="0" lang="en-US" sz="1250" b="0"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rPr>
              <a:t> </a:t>
            </a:r>
            <a:r>
              <a:rPr kumimoji="0" lang="en-US" sz="1250" b="0" i="0" u="none" strike="noStrike" kern="1200" cap="none" spc="0" normalizeH="0" baseline="0" noProof="0" dirty="0">
                <a:ln>
                  <a:noFill/>
                </a:ln>
                <a:solidFill>
                  <a:srgbClr val="000000"/>
                </a:solidFill>
                <a:effectLst/>
                <a:uLnTx/>
                <a:uFillTx/>
                <a:latin typeface="Tahoma"/>
                <a:ea typeface="ＭＳ Ｐゴシック" panose="020B0600070205080204" pitchFamily="34" charset="-128"/>
                <a:cs typeface="+mn-cs"/>
              </a:rPr>
              <a:t>ISCA 2016.</a:t>
            </a:r>
          </a:p>
        </p:txBody>
      </p:sp>
      <p:sp>
        <p:nvSpPr>
          <p:cNvPr id="10" name="TextBox 9">
            <a:extLst>
              <a:ext uri="{FF2B5EF4-FFF2-40B4-BE49-F238E27FC236}">
                <a16:creationId xmlns:a16="http://schemas.microsoft.com/office/drawing/2014/main" id="{0D4A5ECA-CCB9-7F46-A38D-A992B965F061}"/>
              </a:ext>
            </a:extLst>
          </p:cNvPr>
          <p:cNvSpPr txBox="1"/>
          <p:nvPr/>
        </p:nvSpPr>
        <p:spPr>
          <a:xfrm>
            <a:off x="0" y="5131231"/>
            <a:ext cx="9144000" cy="1077218"/>
          </a:xfrm>
          <a:prstGeom prst="rect">
            <a:avLst/>
          </a:prstGeom>
          <a:solidFill>
            <a:srgbClr val="FF66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Tahoma"/>
                <a:ea typeface="ＭＳ Ｐゴシック" panose="020B0600070205080204" pitchFamily="34" charset="-128"/>
                <a:cs typeface="+mn-cs"/>
              </a:rPr>
              <a:t>A memory access consumes ~6400X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Tahoma"/>
                <a:ea typeface="ＭＳ Ｐゴシック" panose="020B0600070205080204" pitchFamily="34" charset="-128"/>
                <a:cs typeface="+mn-cs"/>
              </a:rPr>
              <a:t>the energy of an integer addition </a:t>
            </a:r>
          </a:p>
        </p:txBody>
      </p:sp>
    </p:spTree>
    <p:extLst>
      <p:ext uri="{BB962C8B-B14F-4D97-AF65-F5344CB8AC3E}">
        <p14:creationId xmlns:p14="http://schemas.microsoft.com/office/powerpoint/2010/main" val="230535121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Title 1">
            <a:extLst>
              <a:ext uri="{FF2B5EF4-FFF2-40B4-BE49-F238E27FC236}">
                <a16:creationId xmlns:a16="http://schemas.microsoft.com/office/drawing/2014/main" id="{EA960F7A-CD89-D34B-9BBF-6DED980D8D08}"/>
              </a:ext>
            </a:extLst>
          </p:cNvPr>
          <p:cNvSpPr>
            <a:spLocks noGrp="1"/>
          </p:cNvSpPr>
          <p:nvPr>
            <p:ph type="title"/>
          </p:nvPr>
        </p:nvSpPr>
        <p:spPr/>
        <p:txBody>
          <a:bodyPr/>
          <a:lstStyle/>
          <a:p>
            <a:r>
              <a:rPr lang="en-US" altLang="en-US" sz="3400" dirty="0">
                <a:ea typeface="ＭＳ Ｐゴシック" panose="020B0600070205080204" pitchFamily="34" charset="-128"/>
              </a:rPr>
              <a:t>Recall: Idealism</a:t>
            </a:r>
          </a:p>
        </p:txBody>
      </p:sp>
      <p:sp>
        <p:nvSpPr>
          <p:cNvPr id="166914" name="Slide Number Placeholder 3">
            <a:extLst>
              <a:ext uri="{FF2B5EF4-FFF2-40B4-BE49-F238E27FC236}">
                <a16:creationId xmlns:a16="http://schemas.microsoft.com/office/drawing/2014/main" id="{7CE45B7C-1924-4C43-ACB0-DA7FE1CA4F4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449B2B2D-54CC-D54D-BA21-B6B29323038D}" type="slidenum">
              <a:rPr lang="en-US" altLang="en-US" sz="1600" i="1">
                <a:solidFill>
                  <a:srgbClr val="000000"/>
                </a:solidFill>
                <a:latin typeface="Garamond" panose="02020404030301010803" pitchFamily="18" charset="0"/>
              </a:rPr>
              <a:pPr eaLnBrk="1" hangingPunct="1">
                <a:spcBef>
                  <a:spcPct val="0"/>
                </a:spcBef>
                <a:buClrTx/>
                <a:buSzTx/>
                <a:buFontTx/>
                <a:buNone/>
              </a:pPr>
              <a:t>11</a:t>
            </a:fld>
            <a:endParaRPr lang="en-US" altLang="en-US" sz="1600" i="1">
              <a:solidFill>
                <a:srgbClr val="000000"/>
              </a:solidFill>
              <a:latin typeface="Garamond" panose="02020404030301010803" pitchFamily="18" charset="0"/>
            </a:endParaRPr>
          </a:p>
        </p:txBody>
      </p:sp>
      <p:sp>
        <p:nvSpPr>
          <p:cNvPr id="166915" name="Rectangle 4">
            <a:extLst>
              <a:ext uri="{FF2B5EF4-FFF2-40B4-BE49-F238E27FC236}">
                <a16:creationId xmlns:a16="http://schemas.microsoft.com/office/drawing/2014/main" id="{5BC49316-AAFE-4F45-A24B-000F513B483E}"/>
              </a:ext>
            </a:extLst>
          </p:cNvPr>
          <p:cNvSpPr>
            <a:spLocks noChangeArrowheads="1"/>
          </p:cNvSpPr>
          <p:nvPr/>
        </p:nvSpPr>
        <p:spPr bwMode="auto">
          <a:xfrm>
            <a:off x="315913" y="1219200"/>
            <a:ext cx="1604962" cy="20415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66916" name="TextBox 5">
            <a:extLst>
              <a:ext uri="{FF2B5EF4-FFF2-40B4-BE49-F238E27FC236}">
                <a16:creationId xmlns:a16="http://schemas.microsoft.com/office/drawing/2014/main" id="{F48500D1-6364-D24E-AA74-A33B4493E7D6}"/>
              </a:ext>
            </a:extLst>
          </p:cNvPr>
          <p:cNvSpPr txBox="1">
            <a:spLocks noChangeArrowheads="1"/>
          </p:cNvSpPr>
          <p:nvPr/>
        </p:nvSpPr>
        <p:spPr bwMode="auto">
          <a:xfrm>
            <a:off x="484188" y="1930400"/>
            <a:ext cx="12493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Instruction</a:t>
            </a:r>
          </a:p>
          <a:p>
            <a:pPr eaLnBrk="1" hangingPunct="1">
              <a:spcBef>
                <a:spcPct val="0"/>
              </a:spcBef>
              <a:buClrTx/>
              <a:buSzTx/>
              <a:buFontTx/>
              <a:buNone/>
            </a:pPr>
            <a:r>
              <a:rPr lang="en-US" altLang="en-US" sz="1800">
                <a:solidFill>
                  <a:srgbClr val="000000"/>
                </a:solidFill>
                <a:latin typeface="Arial" panose="020B0604020202020204" pitchFamily="34" charset="0"/>
              </a:rPr>
              <a:t>Supply</a:t>
            </a:r>
          </a:p>
        </p:txBody>
      </p:sp>
      <p:sp>
        <p:nvSpPr>
          <p:cNvPr id="166917" name="Rectangle 6">
            <a:extLst>
              <a:ext uri="{FF2B5EF4-FFF2-40B4-BE49-F238E27FC236}">
                <a16:creationId xmlns:a16="http://schemas.microsoft.com/office/drawing/2014/main" id="{C30A0C7D-E40B-C443-BA0A-1523BC3348E9}"/>
              </a:ext>
            </a:extLst>
          </p:cNvPr>
          <p:cNvSpPr>
            <a:spLocks noChangeArrowheads="1"/>
          </p:cNvSpPr>
          <p:nvPr/>
        </p:nvSpPr>
        <p:spPr bwMode="auto">
          <a:xfrm>
            <a:off x="3659188" y="1219200"/>
            <a:ext cx="1604962" cy="20415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66918" name="TextBox 7">
            <a:extLst>
              <a:ext uri="{FF2B5EF4-FFF2-40B4-BE49-F238E27FC236}">
                <a16:creationId xmlns:a16="http://schemas.microsoft.com/office/drawing/2014/main" id="{52237D38-CB6A-8C43-BC8A-3138118DB131}"/>
              </a:ext>
            </a:extLst>
          </p:cNvPr>
          <p:cNvSpPr txBox="1">
            <a:spLocks noChangeArrowheads="1"/>
          </p:cNvSpPr>
          <p:nvPr/>
        </p:nvSpPr>
        <p:spPr bwMode="auto">
          <a:xfrm>
            <a:off x="3886200" y="1771650"/>
            <a:ext cx="13271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Pipeline</a:t>
            </a:r>
          </a:p>
          <a:p>
            <a:pPr eaLnBrk="1" hangingPunct="1">
              <a:spcBef>
                <a:spcPct val="0"/>
              </a:spcBef>
              <a:buClrTx/>
              <a:buSzTx/>
              <a:buFontTx/>
              <a:buNone/>
            </a:pPr>
            <a:r>
              <a:rPr lang="en-US" altLang="en-US" sz="1800">
                <a:solidFill>
                  <a:srgbClr val="000000"/>
                </a:solidFill>
                <a:latin typeface="Arial" panose="020B0604020202020204" pitchFamily="34" charset="0"/>
              </a:rPr>
              <a:t>(Instruction</a:t>
            </a:r>
          </a:p>
          <a:p>
            <a:pPr eaLnBrk="1" hangingPunct="1">
              <a:spcBef>
                <a:spcPct val="0"/>
              </a:spcBef>
              <a:buClrTx/>
              <a:buSzTx/>
              <a:buFontTx/>
              <a:buNone/>
            </a:pPr>
            <a:r>
              <a:rPr lang="en-US" altLang="en-US" sz="1800">
                <a:solidFill>
                  <a:srgbClr val="000000"/>
                </a:solidFill>
                <a:latin typeface="Arial" panose="020B0604020202020204" pitchFamily="34" charset="0"/>
              </a:rPr>
              <a:t>execution)</a:t>
            </a:r>
          </a:p>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66919" name="Rectangle 8">
            <a:extLst>
              <a:ext uri="{FF2B5EF4-FFF2-40B4-BE49-F238E27FC236}">
                <a16:creationId xmlns:a16="http://schemas.microsoft.com/office/drawing/2014/main" id="{56FCB21B-9A92-7947-8197-3EC606DE3187}"/>
              </a:ext>
            </a:extLst>
          </p:cNvPr>
          <p:cNvSpPr>
            <a:spLocks noChangeArrowheads="1"/>
          </p:cNvSpPr>
          <p:nvPr/>
        </p:nvSpPr>
        <p:spPr bwMode="auto">
          <a:xfrm>
            <a:off x="7037388" y="1219200"/>
            <a:ext cx="1604962" cy="20415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66920" name="TextBox 9">
            <a:extLst>
              <a:ext uri="{FF2B5EF4-FFF2-40B4-BE49-F238E27FC236}">
                <a16:creationId xmlns:a16="http://schemas.microsoft.com/office/drawing/2014/main" id="{A408D6D6-EF8C-D745-B2D6-CC528D074BAA}"/>
              </a:ext>
            </a:extLst>
          </p:cNvPr>
          <p:cNvSpPr txBox="1">
            <a:spLocks noChangeArrowheads="1"/>
          </p:cNvSpPr>
          <p:nvPr/>
        </p:nvSpPr>
        <p:spPr bwMode="auto">
          <a:xfrm>
            <a:off x="7372350" y="1930400"/>
            <a:ext cx="8905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Data</a:t>
            </a:r>
          </a:p>
          <a:p>
            <a:pPr eaLnBrk="1" hangingPunct="1">
              <a:spcBef>
                <a:spcPct val="0"/>
              </a:spcBef>
              <a:buClrTx/>
              <a:buSzTx/>
              <a:buFontTx/>
              <a:buNone/>
            </a:pPr>
            <a:r>
              <a:rPr lang="en-US" altLang="en-US" sz="1800">
                <a:solidFill>
                  <a:srgbClr val="000000"/>
                </a:solidFill>
                <a:latin typeface="Arial" panose="020B0604020202020204" pitchFamily="34" charset="0"/>
              </a:rPr>
              <a:t>Supply</a:t>
            </a:r>
          </a:p>
        </p:txBody>
      </p:sp>
      <p:cxnSp>
        <p:nvCxnSpPr>
          <p:cNvPr id="166921" name="Straight Arrow Connector 11">
            <a:extLst>
              <a:ext uri="{FF2B5EF4-FFF2-40B4-BE49-F238E27FC236}">
                <a16:creationId xmlns:a16="http://schemas.microsoft.com/office/drawing/2014/main" id="{34C2C79C-0001-A643-8E44-9CA3A689C8C7}"/>
              </a:ext>
            </a:extLst>
          </p:cNvPr>
          <p:cNvCxnSpPr>
            <a:cxnSpLocks noChangeShapeType="1"/>
            <a:stCxn id="166915" idx="3"/>
            <a:endCxn id="166917" idx="1"/>
          </p:cNvCxnSpPr>
          <p:nvPr/>
        </p:nvCxnSpPr>
        <p:spPr bwMode="auto">
          <a:xfrm>
            <a:off x="1920875" y="2239963"/>
            <a:ext cx="1738313" cy="1587"/>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6922" name="Straight Arrow Connector 13">
            <a:extLst>
              <a:ext uri="{FF2B5EF4-FFF2-40B4-BE49-F238E27FC236}">
                <a16:creationId xmlns:a16="http://schemas.microsoft.com/office/drawing/2014/main" id="{DE1F8FD5-955C-D14A-A5D0-5D338AA517D9}"/>
              </a:ext>
            </a:extLst>
          </p:cNvPr>
          <p:cNvCxnSpPr>
            <a:cxnSpLocks noChangeShapeType="1"/>
            <a:stCxn id="166919" idx="1"/>
            <a:endCxn id="166917" idx="3"/>
          </p:cNvCxnSpPr>
          <p:nvPr/>
        </p:nvCxnSpPr>
        <p:spPr bwMode="auto">
          <a:xfrm rot="10800000">
            <a:off x="5264150" y="2239963"/>
            <a:ext cx="1773238" cy="1587"/>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31756" name="TextBox 15">
            <a:extLst>
              <a:ext uri="{FF2B5EF4-FFF2-40B4-BE49-F238E27FC236}">
                <a16:creationId xmlns:a16="http://schemas.microsoft.com/office/drawing/2014/main" id="{62F631DD-D67F-0041-B8D3-86E7E1FEA147}"/>
              </a:ext>
            </a:extLst>
          </p:cNvPr>
          <p:cNvSpPr txBox="1">
            <a:spLocks noChangeArrowheads="1"/>
          </p:cNvSpPr>
          <p:nvPr/>
        </p:nvSpPr>
        <p:spPr bwMode="auto">
          <a:xfrm>
            <a:off x="315913" y="3417888"/>
            <a:ext cx="237807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 Zero latency access</a:t>
            </a:r>
          </a:p>
          <a:p>
            <a:pPr eaLnBrk="1" hangingPunct="1">
              <a:spcBef>
                <a:spcPct val="0"/>
              </a:spcBef>
              <a:buClrTx/>
              <a:buSzTx/>
              <a:buFontTx/>
              <a:buNone/>
            </a:pPr>
            <a:r>
              <a:rPr lang="en-US" altLang="en-US" sz="1800">
                <a:solidFill>
                  <a:srgbClr val="000000"/>
                </a:solidFill>
                <a:latin typeface="Arial" panose="020B0604020202020204" pitchFamily="34" charset="0"/>
              </a:rPr>
              <a:t> </a:t>
            </a:r>
          </a:p>
          <a:p>
            <a:pPr eaLnBrk="1" hangingPunct="1">
              <a:spcBef>
                <a:spcPct val="0"/>
              </a:spcBef>
              <a:buClrTx/>
              <a:buSzTx/>
              <a:buFontTx/>
              <a:buNone/>
            </a:pPr>
            <a:r>
              <a:rPr lang="en-US" altLang="en-US" sz="1800">
                <a:solidFill>
                  <a:srgbClr val="000000"/>
                </a:solidFill>
                <a:latin typeface="Arial" panose="020B0604020202020204" pitchFamily="34" charset="0"/>
              </a:rPr>
              <a:t>- Infinite capacity</a:t>
            </a:r>
          </a:p>
          <a:p>
            <a:pPr eaLnBrk="1" hangingPunct="1">
              <a:spcBef>
                <a:spcPct val="0"/>
              </a:spcBef>
              <a:buClrTx/>
              <a:buSzTx/>
              <a:buFontTx/>
              <a:buNone/>
            </a:pPr>
            <a:r>
              <a:rPr lang="en-US" altLang="en-US" sz="1800">
                <a:solidFill>
                  <a:srgbClr val="000000"/>
                </a:solidFill>
                <a:latin typeface="Arial" panose="020B0604020202020204" pitchFamily="34" charset="0"/>
              </a:rPr>
              <a:t> </a:t>
            </a:r>
          </a:p>
          <a:p>
            <a:pPr eaLnBrk="1" hangingPunct="1">
              <a:spcBef>
                <a:spcPct val="0"/>
              </a:spcBef>
              <a:buClrTx/>
              <a:buSzTx/>
              <a:buFontTx/>
              <a:buNone/>
            </a:pPr>
            <a:r>
              <a:rPr lang="en-US" altLang="en-US" sz="1800">
                <a:solidFill>
                  <a:srgbClr val="000000"/>
                </a:solidFill>
                <a:latin typeface="Arial" panose="020B0604020202020204" pitchFamily="34" charset="0"/>
              </a:rPr>
              <a:t>- Zero cost</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None/>
            </a:pPr>
            <a:r>
              <a:rPr lang="en-US" altLang="en-US" sz="1800">
                <a:solidFill>
                  <a:srgbClr val="000000"/>
                </a:solidFill>
                <a:latin typeface="Arial" panose="020B0604020202020204" pitchFamily="34" charset="0"/>
              </a:rPr>
              <a:t>- Perfect control flow</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Char char="-"/>
            </a:pPr>
            <a:endParaRPr lang="en-US" altLang="en-US" sz="1800">
              <a:solidFill>
                <a:srgbClr val="000000"/>
              </a:solidFill>
              <a:latin typeface="Arial" panose="020B0604020202020204" pitchFamily="34" charset="0"/>
            </a:endParaRPr>
          </a:p>
        </p:txBody>
      </p:sp>
      <p:sp>
        <p:nvSpPr>
          <p:cNvPr id="31757" name="TextBox 16">
            <a:extLst>
              <a:ext uri="{FF2B5EF4-FFF2-40B4-BE49-F238E27FC236}">
                <a16:creationId xmlns:a16="http://schemas.microsoft.com/office/drawing/2014/main" id="{0C573E54-B620-9646-8E3A-E0A977BD64D0}"/>
              </a:ext>
            </a:extLst>
          </p:cNvPr>
          <p:cNvSpPr txBox="1">
            <a:spLocks noChangeArrowheads="1"/>
          </p:cNvSpPr>
          <p:nvPr/>
        </p:nvSpPr>
        <p:spPr bwMode="auto">
          <a:xfrm>
            <a:off x="3271838" y="3352800"/>
            <a:ext cx="320040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Char char="-"/>
            </a:pPr>
            <a:r>
              <a:rPr lang="en-US" altLang="en-US" sz="1800">
                <a:solidFill>
                  <a:srgbClr val="000000"/>
                </a:solidFill>
                <a:latin typeface="Arial" panose="020B0604020202020204" pitchFamily="34" charset="0"/>
              </a:rPr>
              <a:t> No pipeline stalls </a:t>
            </a: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Perfect data flow </a:t>
            </a:r>
          </a:p>
          <a:p>
            <a:pPr eaLnBrk="1" hangingPunct="1">
              <a:spcBef>
                <a:spcPct val="0"/>
              </a:spcBef>
              <a:buClrTx/>
              <a:buSzTx/>
              <a:buFontTx/>
              <a:buNone/>
            </a:pPr>
            <a:r>
              <a:rPr lang="en-US" altLang="en-US" sz="1800">
                <a:solidFill>
                  <a:srgbClr val="000000"/>
                </a:solidFill>
                <a:latin typeface="Arial" panose="020B0604020202020204" pitchFamily="34" charset="0"/>
              </a:rPr>
              <a:t>  (reg/memory dependencies)</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 Zero-cycle interconnect</a:t>
            </a:r>
          </a:p>
          <a:p>
            <a:pPr eaLnBrk="1" hangingPunct="1">
              <a:spcBef>
                <a:spcPct val="0"/>
              </a:spcBef>
              <a:buClrTx/>
              <a:buSzTx/>
              <a:buFontTx/>
              <a:buNone/>
            </a:pPr>
            <a:r>
              <a:rPr lang="en-US" altLang="en-US" sz="1800">
                <a:solidFill>
                  <a:srgbClr val="000000"/>
                </a:solidFill>
                <a:latin typeface="Arial" panose="020B0604020202020204" pitchFamily="34" charset="0"/>
              </a:rPr>
              <a:t>  (operand communication)</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 Enough functional units</a:t>
            </a: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 Zero latency compute</a:t>
            </a: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Char char="-"/>
            </a:pPr>
            <a:endParaRPr lang="en-US" altLang="en-US" sz="1800">
              <a:solidFill>
                <a:srgbClr val="000000"/>
              </a:solidFill>
              <a:latin typeface="Arial" panose="020B0604020202020204" pitchFamily="34" charset="0"/>
            </a:endParaRPr>
          </a:p>
        </p:txBody>
      </p:sp>
      <p:sp>
        <p:nvSpPr>
          <p:cNvPr id="31758" name="TextBox 17">
            <a:extLst>
              <a:ext uri="{FF2B5EF4-FFF2-40B4-BE49-F238E27FC236}">
                <a16:creationId xmlns:a16="http://schemas.microsoft.com/office/drawing/2014/main" id="{55AC0C03-616E-844A-B7C3-B3DB406E67B0}"/>
              </a:ext>
            </a:extLst>
          </p:cNvPr>
          <p:cNvSpPr txBox="1">
            <a:spLocks noChangeArrowheads="1"/>
          </p:cNvSpPr>
          <p:nvPr/>
        </p:nvSpPr>
        <p:spPr bwMode="auto">
          <a:xfrm>
            <a:off x="6651625" y="3440113"/>
            <a:ext cx="237807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Char char="-"/>
            </a:pPr>
            <a:r>
              <a:rPr lang="en-US" altLang="en-US" sz="1800">
                <a:solidFill>
                  <a:srgbClr val="000000"/>
                </a:solidFill>
                <a:latin typeface="Arial" panose="020B0604020202020204" pitchFamily="34" charset="0"/>
              </a:rPr>
              <a:t> Zero latency access</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 Infinite capacity</a:t>
            </a: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None/>
            </a:pPr>
            <a:r>
              <a:rPr lang="en-US" altLang="en-US" sz="1800">
                <a:solidFill>
                  <a:srgbClr val="000000"/>
                </a:solidFill>
                <a:latin typeface="Arial" panose="020B0604020202020204" pitchFamily="34" charset="0"/>
              </a:rPr>
              <a:t>- Infinite bandwidth </a:t>
            </a: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Char char="-"/>
            </a:pPr>
            <a:r>
              <a:rPr lang="en-US" altLang="en-US" sz="1800">
                <a:solidFill>
                  <a:srgbClr val="000000"/>
                </a:solidFill>
                <a:latin typeface="Arial" panose="020B0604020202020204" pitchFamily="34" charset="0"/>
              </a:rPr>
              <a:t> Zero cost</a:t>
            </a:r>
          </a:p>
          <a:p>
            <a:pPr eaLnBrk="1" hangingPunct="1">
              <a:spcBef>
                <a:spcPct val="0"/>
              </a:spcBef>
              <a:buClrTx/>
              <a:buSzTx/>
              <a:buFontTx/>
              <a:buChar char="-"/>
            </a:pPr>
            <a:endParaRPr lang="en-US" altLang="en-US" sz="1800">
              <a:solidFill>
                <a:srgbClr val="000000"/>
              </a:solidFill>
              <a:latin typeface="Arial" panose="020B0604020202020204" pitchFamily="34" charset="0"/>
            </a:endParaRPr>
          </a:p>
          <a:p>
            <a:pPr eaLnBrk="1" hangingPunct="1">
              <a:spcBef>
                <a:spcPct val="0"/>
              </a:spcBef>
              <a:buClrTx/>
              <a:buSzTx/>
              <a:buFontTx/>
              <a:buNone/>
            </a:pPr>
            <a:endParaRPr lang="en-US" altLang="en-US" sz="1800">
              <a:solidFill>
                <a:srgbClr val="000000"/>
              </a:solidFill>
              <a:latin typeface="Arial" panose="020B0604020202020204" pitchFamily="34" charset="0"/>
            </a:endParaRPr>
          </a:p>
          <a:p>
            <a:pPr eaLnBrk="1" hangingPunct="1">
              <a:spcBef>
                <a:spcPct val="0"/>
              </a:spcBef>
              <a:buClrTx/>
              <a:buSzTx/>
              <a:buFontTx/>
              <a:buChar char="-"/>
            </a:pPr>
            <a:endParaRPr lang="en-US" altLang="en-US" sz="1800">
              <a:solidFill>
                <a:srgbClr val="000000"/>
              </a:solidFill>
              <a:latin typeface="Arial" panose="020B0604020202020204" pitchFamily="34" charset="0"/>
            </a:endParaRPr>
          </a:p>
        </p:txBody>
      </p:sp>
    </p:spTree>
    <p:extLst>
      <p:ext uri="{BB962C8B-B14F-4D97-AF65-F5344CB8AC3E}">
        <p14:creationId xmlns:p14="http://schemas.microsoft.com/office/powerpoint/2010/main" val="99870907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hart 14"/>
          <p:cNvGraphicFramePr>
            <a:graphicFrameLocks/>
          </p:cNvGraphicFramePr>
          <p:nvPr/>
        </p:nvGraphicFramePr>
        <p:xfrm>
          <a:off x="74706" y="1204631"/>
          <a:ext cx="8994588" cy="4647529"/>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p:txBody>
          <a:bodyPr>
            <a:normAutofit fontScale="90000"/>
          </a:bodyPr>
          <a:lstStyle/>
          <a:p>
            <a:r>
              <a:rPr lang="en-US" dirty="0"/>
              <a:t>Recall: DRAM Capacity, Bandwidth &amp; Latency</a:t>
            </a:r>
          </a:p>
        </p:txBody>
      </p:sp>
      <p:sp>
        <p:nvSpPr>
          <p:cNvPr id="9" name="TextBox 8"/>
          <p:cNvSpPr txBox="1"/>
          <p:nvPr/>
        </p:nvSpPr>
        <p:spPr>
          <a:xfrm>
            <a:off x="7744727" y="1230673"/>
            <a:ext cx="100540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D3B62"/>
                </a:solidFill>
                <a:effectLst/>
                <a:uLnTx/>
                <a:uFillTx/>
                <a:latin typeface="Tahoma"/>
                <a:ea typeface="+mn-ea"/>
                <a:cs typeface="+mn-cs"/>
              </a:rPr>
              <a:t>128x</a:t>
            </a:r>
          </a:p>
        </p:txBody>
      </p:sp>
      <p:sp>
        <p:nvSpPr>
          <p:cNvPr id="10" name="TextBox 9"/>
          <p:cNvSpPr txBox="1"/>
          <p:nvPr/>
        </p:nvSpPr>
        <p:spPr>
          <a:xfrm>
            <a:off x="7949911" y="2556978"/>
            <a:ext cx="80021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35742A"/>
                </a:solidFill>
                <a:effectLst/>
                <a:uLnTx/>
                <a:uFillTx/>
                <a:latin typeface="Tahoma"/>
                <a:ea typeface="+mn-ea"/>
                <a:cs typeface="+mn-cs"/>
              </a:rPr>
              <a:t>20x</a:t>
            </a:r>
          </a:p>
        </p:txBody>
      </p:sp>
      <p:sp>
        <p:nvSpPr>
          <p:cNvPr id="11" name="TextBox 10"/>
          <p:cNvSpPr txBox="1"/>
          <p:nvPr/>
        </p:nvSpPr>
        <p:spPr>
          <a:xfrm>
            <a:off x="7860143" y="4202002"/>
            <a:ext cx="88998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4136"/>
                </a:solidFill>
                <a:effectLst/>
                <a:uLnTx/>
                <a:uFillTx/>
                <a:latin typeface="Tahoma"/>
                <a:ea typeface="+mn-ea"/>
                <a:cs typeface="+mn-cs"/>
              </a:rPr>
              <a:t>1.3x</a:t>
            </a:r>
            <a:endParaRPr kumimoji="0" lang="en-US" sz="3200" b="0" i="0" u="none" strike="noStrike" kern="1200" cap="none" spc="0" normalizeH="0" baseline="0" noProof="0" dirty="0">
              <a:ln>
                <a:noFill/>
              </a:ln>
              <a:solidFill>
                <a:srgbClr val="FF4136"/>
              </a:solidFill>
              <a:effectLst/>
              <a:uLnTx/>
              <a:uFillTx/>
              <a:latin typeface="Tahoma"/>
              <a:ea typeface="+mn-ea"/>
              <a:cs typeface="+mn-cs"/>
            </a:endParaRPr>
          </a:p>
        </p:txBody>
      </p:sp>
    </p:spTree>
    <p:extLst>
      <p:ext uri="{BB962C8B-B14F-4D97-AF65-F5344CB8AC3E}">
        <p14:creationId xmlns:p14="http://schemas.microsoft.com/office/powerpoint/2010/main" val="29050903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graphicEl>
                                              <a:chart seriesIdx="-3" categoryIdx="-3" bldStep="gridLegen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graphicEl>
                                              <a:chart seriesIdx="0" categoryIdx="-4" bldStep="series"/>
                                            </p:graphicEl>
                                          </p:spTgt>
                                        </p:tgtEl>
                                        <p:attrNameLst>
                                          <p:attrName>style.visibility</p:attrName>
                                        </p:attrNameLst>
                                      </p:cBhvr>
                                      <p:to>
                                        <p:strVal val="visible"/>
                                      </p:to>
                                    </p:set>
                                  </p:childTnLst>
                                </p:cTn>
                              </p:par>
                            </p:childTnLst>
                          </p:cTn>
                        </p:par>
                        <p:par>
                          <p:cTn id="11" fill="hold">
                            <p:stCondLst>
                              <p:cond delay="0"/>
                            </p:stCondLst>
                            <p:childTnLst>
                              <p:par>
                                <p:cTn id="12" presetID="5" presetClass="entr" presetSubtype="1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checkerboard(across)">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5">
                                            <p:graphicEl>
                                              <a:chart seriesIdx="1" categoryIdx="-4" bldStep="series"/>
                                            </p:graphicEl>
                                          </p:spTgt>
                                        </p:tgtEl>
                                        <p:attrNameLst>
                                          <p:attrName>style.visibility</p:attrName>
                                        </p:attrNameLst>
                                      </p:cBhvr>
                                      <p:to>
                                        <p:strVal val="visible"/>
                                      </p:to>
                                    </p:set>
                                    <p:animEffect transition="in" filter="wipe(left)">
                                      <p:cBhvr>
                                        <p:cTn id="19" dur="500"/>
                                        <p:tgtEl>
                                          <p:spTgt spid="15">
                                            <p:graphicEl>
                                              <a:chart seriesIdx="1" categoryIdx="-4" bldStep="series"/>
                                            </p:graphicEl>
                                          </p:spTgt>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graphicEl>
                                              <a:chart seriesIdx="2" categoryIdx="-4" bldStep="series"/>
                                            </p:graphicEl>
                                          </p:spTgt>
                                        </p:tgtEl>
                                        <p:attrNameLst>
                                          <p:attrName>style.visibility</p:attrName>
                                        </p:attrNameLst>
                                      </p:cBhvr>
                                      <p:to>
                                        <p:strVal val="visible"/>
                                      </p:to>
                                    </p:set>
                                    <p:animEffect transition="in" filter="wipe(left)">
                                      <p:cBhvr>
                                        <p:cTn id="28" dur="2000"/>
                                        <p:tgtEl>
                                          <p:spTgt spid="15">
                                            <p:graphicEl>
                                              <a:chart seriesIdx="2" categoryIdx="-4" bldStep="series"/>
                                            </p:graphicEl>
                                          </p:spTgt>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Sub>
          <a:bldChart bld="series"/>
        </p:bldSub>
      </p:bldGraphic>
      <p:bldP spid="9"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custDataLst>
              <p:tags r:id="rId1"/>
            </p:custDataLst>
          </p:nvPr>
        </p:nvSpPr>
        <p:spPr/>
        <p:txBody>
          <a:bodyPr/>
          <a:lstStyle/>
          <a:p>
            <a:r>
              <a:rPr lang="en-US" dirty="0"/>
              <a:t>Recall: FF vs. SRAM vs. DRAM vs. Flash</a:t>
            </a:r>
            <a:endParaRPr lang="en-GB" dirty="0"/>
          </a:p>
        </p:txBody>
      </p:sp>
      <p:sp>
        <p:nvSpPr>
          <p:cNvPr id="40965" name="Content Placeholder 17"/>
          <p:cNvSpPr>
            <a:spLocks noGrp="1"/>
          </p:cNvSpPr>
          <p:nvPr>
            <p:ph idx="1"/>
          </p:nvPr>
        </p:nvSpPr>
        <p:spPr>
          <a:xfrm>
            <a:off x="396874" y="1066800"/>
            <a:ext cx="8518525" cy="5457095"/>
          </a:xfrm>
        </p:spPr>
        <p:txBody>
          <a:bodyPr/>
          <a:lstStyle/>
          <a:p>
            <a:r>
              <a:rPr lang="en-US" sz="2215" dirty="0"/>
              <a:t>Flip-Flops </a:t>
            </a:r>
          </a:p>
          <a:p>
            <a:pPr lvl="1"/>
            <a:r>
              <a:rPr lang="en-US" sz="1846" dirty="0">
                <a:solidFill>
                  <a:srgbClr val="008000"/>
                </a:solidFill>
              </a:rPr>
              <a:t>Very fast, parallel access</a:t>
            </a:r>
          </a:p>
          <a:p>
            <a:pPr lvl="1"/>
            <a:r>
              <a:rPr lang="en-US" sz="1846" dirty="0">
                <a:solidFill>
                  <a:srgbClr val="C00000"/>
                </a:solidFill>
              </a:rPr>
              <a:t>Very expensive</a:t>
            </a:r>
            <a:r>
              <a:rPr lang="en-US" sz="1846" dirty="0">
                <a:solidFill>
                  <a:schemeClr val="accent2"/>
                </a:solidFill>
              </a:rPr>
              <a:t> </a:t>
            </a:r>
            <a:r>
              <a:rPr lang="en-US" sz="1846" dirty="0"/>
              <a:t>(one bit costs tens of transistors)</a:t>
            </a:r>
          </a:p>
          <a:p>
            <a:pPr lvl="1"/>
            <a:endParaRPr lang="en-US" sz="1000" dirty="0"/>
          </a:p>
          <a:p>
            <a:pPr>
              <a:spcBef>
                <a:spcPts val="1108"/>
              </a:spcBef>
            </a:pPr>
            <a:r>
              <a:rPr lang="en-US" sz="2215" dirty="0"/>
              <a:t>Static RAM</a:t>
            </a:r>
          </a:p>
          <a:p>
            <a:pPr lvl="1"/>
            <a:r>
              <a:rPr lang="en-US" sz="1846" dirty="0">
                <a:solidFill>
                  <a:srgbClr val="008000"/>
                </a:solidFill>
              </a:rPr>
              <a:t>Relatively fast</a:t>
            </a:r>
            <a:r>
              <a:rPr lang="en-US" sz="1846" dirty="0"/>
              <a:t>, </a:t>
            </a:r>
            <a:r>
              <a:rPr lang="en-US" sz="1846" dirty="0">
                <a:solidFill>
                  <a:srgbClr val="CC0000"/>
                </a:solidFill>
              </a:rPr>
              <a:t>only one data word at a time</a:t>
            </a:r>
          </a:p>
          <a:p>
            <a:pPr lvl="1"/>
            <a:r>
              <a:rPr lang="en-US" sz="1846" dirty="0">
                <a:solidFill>
                  <a:srgbClr val="C00000"/>
                </a:solidFill>
              </a:rPr>
              <a:t>Expensive</a:t>
            </a:r>
            <a:r>
              <a:rPr lang="en-US" sz="1846" dirty="0">
                <a:solidFill>
                  <a:srgbClr val="008000"/>
                </a:solidFill>
              </a:rPr>
              <a:t> </a:t>
            </a:r>
            <a:r>
              <a:rPr lang="en-US" sz="1846" dirty="0"/>
              <a:t>(one bit costs 6+ transistors)</a:t>
            </a:r>
          </a:p>
          <a:p>
            <a:pPr lvl="1"/>
            <a:endParaRPr lang="en-US" sz="1000" dirty="0"/>
          </a:p>
          <a:p>
            <a:pPr>
              <a:spcBef>
                <a:spcPts val="1108"/>
              </a:spcBef>
            </a:pPr>
            <a:r>
              <a:rPr lang="en-US" sz="2215" dirty="0"/>
              <a:t>Dynamic RAM </a:t>
            </a:r>
          </a:p>
          <a:p>
            <a:pPr lvl="1"/>
            <a:r>
              <a:rPr lang="en-US" sz="1846" dirty="0">
                <a:solidFill>
                  <a:srgbClr val="CC0000"/>
                </a:solidFill>
              </a:rPr>
              <a:t>Slower</a:t>
            </a:r>
            <a:r>
              <a:rPr lang="en-US" sz="1846" dirty="0"/>
              <a:t>, </a:t>
            </a:r>
            <a:r>
              <a:rPr lang="en-US" sz="1846" dirty="0">
                <a:solidFill>
                  <a:srgbClr val="CC0000"/>
                </a:solidFill>
              </a:rPr>
              <a:t>one data word at a time</a:t>
            </a:r>
            <a:r>
              <a:rPr lang="en-US" sz="1846" dirty="0"/>
              <a:t>, </a:t>
            </a:r>
            <a:r>
              <a:rPr lang="en-US" sz="1846" dirty="0">
                <a:solidFill>
                  <a:srgbClr val="CC0000"/>
                </a:solidFill>
              </a:rPr>
              <a:t>reading destroys content </a:t>
            </a:r>
            <a:r>
              <a:rPr lang="en-US" sz="1846" dirty="0"/>
              <a:t>(refresh), </a:t>
            </a:r>
            <a:r>
              <a:rPr lang="en-US" sz="1846" dirty="0">
                <a:solidFill>
                  <a:srgbClr val="CC0000"/>
                </a:solidFill>
              </a:rPr>
              <a:t>needs special process for manufacturing</a:t>
            </a:r>
          </a:p>
          <a:p>
            <a:pPr lvl="1"/>
            <a:r>
              <a:rPr lang="en-US" sz="1846" dirty="0">
                <a:solidFill>
                  <a:srgbClr val="008000"/>
                </a:solidFill>
              </a:rPr>
              <a:t>Cheap</a:t>
            </a:r>
            <a:r>
              <a:rPr lang="en-US" sz="1846" dirty="0"/>
              <a:t> (one bit costs only one transistor plus one capacitor)</a:t>
            </a:r>
          </a:p>
          <a:p>
            <a:pPr lvl="1"/>
            <a:endParaRPr lang="en-US" sz="1000" dirty="0"/>
          </a:p>
          <a:p>
            <a:pPr>
              <a:spcBef>
                <a:spcPts val="1108"/>
              </a:spcBef>
            </a:pPr>
            <a:r>
              <a:rPr lang="en-US" altLang="zh-CN" sz="2215" dirty="0"/>
              <a:t>Flash Memory</a:t>
            </a:r>
            <a:endParaRPr lang="en-US" sz="2215" dirty="0"/>
          </a:p>
          <a:p>
            <a:pPr lvl="1"/>
            <a:r>
              <a:rPr lang="en-US" sz="1846" dirty="0">
                <a:solidFill>
                  <a:srgbClr val="CC0000"/>
                </a:solidFill>
              </a:rPr>
              <a:t>Much slower</a:t>
            </a:r>
            <a:r>
              <a:rPr lang="en-US" sz="1846" dirty="0"/>
              <a:t>, </a:t>
            </a:r>
            <a:r>
              <a:rPr lang="en-US" sz="1846" dirty="0">
                <a:solidFill>
                  <a:srgbClr val="CC0000"/>
                </a:solidFill>
              </a:rPr>
              <a:t>access takes a long time</a:t>
            </a:r>
            <a:r>
              <a:rPr lang="en-US" sz="1846" dirty="0"/>
              <a:t>, </a:t>
            </a:r>
            <a:r>
              <a:rPr lang="en-US" sz="1846" dirty="0">
                <a:solidFill>
                  <a:schemeClr val="accent6"/>
                </a:solidFill>
              </a:rPr>
              <a:t>non-volatile</a:t>
            </a:r>
          </a:p>
          <a:p>
            <a:pPr lvl="1"/>
            <a:r>
              <a:rPr lang="en-US" sz="1846" dirty="0">
                <a:solidFill>
                  <a:schemeClr val="accent6"/>
                </a:solidFill>
              </a:rPr>
              <a:t>Very cheap </a:t>
            </a:r>
            <a:r>
              <a:rPr lang="en-US" sz="1846" dirty="0"/>
              <a:t>(one transistor stores </a:t>
            </a:r>
            <a:r>
              <a:rPr lang="en-US" altLang="zh-CN" sz="1846" dirty="0"/>
              <a:t>16</a:t>
            </a:r>
            <a:r>
              <a:rPr lang="en-US" sz="1846" dirty="0"/>
              <a:t> bits or no transistors involved) </a:t>
            </a:r>
          </a:p>
        </p:txBody>
      </p:sp>
      <p:sp>
        <p:nvSpPr>
          <p:cNvPr id="2" name="Slide Number Placeholder 1">
            <a:extLst>
              <a:ext uri="{FF2B5EF4-FFF2-40B4-BE49-F238E27FC236}">
                <a16:creationId xmlns:a16="http://schemas.microsoft.com/office/drawing/2014/main" id="{CF064F6F-7F77-447C-AF3E-9F8612DAA4C8}"/>
              </a:ext>
            </a:extLst>
          </p:cNvPr>
          <p:cNvSpPr>
            <a:spLocks noGrp="1"/>
          </p:cNvSpPr>
          <p:nvPr>
            <p:ph type="sldNum" sz="quarter" idx="11"/>
          </p:nvPr>
        </p:nvSpPr>
        <p:spPr/>
        <p:txBody>
          <a:bodyPr/>
          <a:lstStyle/>
          <a:p>
            <a:pPr>
              <a:defRPr/>
            </a:pPr>
            <a:fld id="{EDED06B6-2C69-284D-99A3-4B74281122AB}" type="slidenum">
              <a:rPr lang="en-US" altLang="en-US" smtClean="0"/>
              <a:pPr>
                <a:defRPr/>
              </a:pPr>
              <a:t>13</a:t>
            </a:fld>
            <a:endParaRPr lang="en-US" altLang="en-US"/>
          </a:p>
        </p:txBody>
      </p:sp>
    </p:spTree>
    <p:extLst>
      <p:ext uri="{BB962C8B-B14F-4D97-AF65-F5344CB8AC3E}">
        <p14:creationId xmlns:p14="http://schemas.microsoft.com/office/powerpoint/2010/main" val="15036322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96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96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6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965">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0965">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96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Shape 9"/>
          <p:cNvCxnSpPr>
            <a:cxnSpLocks noChangeShapeType="1"/>
          </p:cNvCxnSpPr>
          <p:nvPr/>
        </p:nvCxnSpPr>
        <p:spPr bwMode="auto">
          <a:xfrm rot="5400000" flipH="1" flipV="1">
            <a:off x="7010400" y="4497388"/>
            <a:ext cx="990600" cy="990600"/>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4690" name="Title 1"/>
          <p:cNvSpPr>
            <a:spLocks noGrp="1"/>
          </p:cNvSpPr>
          <p:nvPr>
            <p:ph type="title"/>
          </p:nvPr>
        </p:nvSpPr>
        <p:spPr>
          <a:xfrm>
            <a:off x="266700" y="160338"/>
            <a:ext cx="8610600" cy="1066800"/>
          </a:xfrm>
        </p:spPr>
        <p:txBody>
          <a:bodyPr/>
          <a:lstStyle/>
          <a:p>
            <a:r>
              <a:rPr lang="en-US" dirty="0"/>
              <a:t>Recall: Memory Address Mapping</a:t>
            </a:r>
          </a:p>
        </p:txBody>
      </p:sp>
      <p:sp>
        <p:nvSpPr>
          <p:cNvPr id="114694" name="TextBox 11"/>
          <p:cNvSpPr txBox="1">
            <a:spLocks noChangeArrowheads="1"/>
          </p:cNvSpPr>
          <p:nvPr/>
        </p:nvSpPr>
        <p:spPr bwMode="auto">
          <a:xfrm>
            <a:off x="8305800" y="3659188"/>
            <a:ext cx="685800" cy="3381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4F81BD"/>
                </a:solidFill>
                <a:effectLst/>
                <a:uLnTx/>
                <a:uFillTx/>
                <a:latin typeface="Calibri" charset="0"/>
                <a:ea typeface="ＭＳ Ｐゴシック" charset="0"/>
                <a:cs typeface="Arial" charset="0"/>
              </a:rPr>
              <a:t>row 0</a:t>
            </a:r>
          </a:p>
        </p:txBody>
      </p:sp>
      <p:sp>
        <p:nvSpPr>
          <p:cNvPr id="114695" name="TextBox 13"/>
          <p:cNvSpPr txBox="1">
            <a:spLocks noChangeArrowheads="1"/>
          </p:cNvSpPr>
          <p:nvPr/>
        </p:nvSpPr>
        <p:spPr bwMode="auto">
          <a:xfrm>
            <a:off x="8305800" y="2133600"/>
            <a:ext cx="914400" cy="338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4F81BD"/>
                </a:solidFill>
                <a:effectLst/>
                <a:uLnTx/>
                <a:uFillTx/>
                <a:latin typeface="Calibri" charset="0"/>
                <a:ea typeface="ＭＳ Ｐゴシック" charset="0"/>
                <a:cs typeface="Arial" charset="0"/>
              </a:rPr>
              <a:t>row </a:t>
            </a:r>
            <a:r>
              <a:rPr lang="en-US" sz="1600" dirty="0">
                <a:solidFill>
                  <a:srgbClr val="4F81BD"/>
                </a:solidFill>
                <a:latin typeface="Calibri" charset="0"/>
                <a:cs typeface="Arial" charset="0"/>
              </a:rPr>
              <a:t>32</a:t>
            </a:r>
            <a:r>
              <a:rPr kumimoji="0" lang="en-US" sz="1600" b="0" i="0" u="none" strike="noStrike" kern="1200" cap="none" spc="0" normalizeH="0" baseline="0" noProof="0" dirty="0">
                <a:ln>
                  <a:noFill/>
                </a:ln>
                <a:solidFill>
                  <a:srgbClr val="4F81BD"/>
                </a:solidFill>
                <a:effectLst/>
                <a:uLnTx/>
                <a:uFillTx/>
                <a:latin typeface="Calibri" charset="0"/>
                <a:ea typeface="ＭＳ Ｐゴシック" charset="0"/>
                <a:cs typeface="Arial" charset="0"/>
              </a:rPr>
              <a:t>k-1</a:t>
            </a:r>
          </a:p>
        </p:txBody>
      </p:sp>
      <p:sp>
        <p:nvSpPr>
          <p:cNvPr id="114696" name="TextBox 17"/>
          <p:cNvSpPr txBox="1">
            <a:spLocks noChangeArrowheads="1"/>
          </p:cNvSpPr>
          <p:nvPr/>
        </p:nvSpPr>
        <p:spPr bwMode="auto">
          <a:xfrm rot="5400000">
            <a:off x="8216900" y="2757488"/>
            <a:ext cx="7620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rgbClr val="4F81BD"/>
                </a:solidFill>
                <a:effectLst/>
                <a:uLnTx/>
                <a:uFillTx/>
                <a:latin typeface="Calibri" charset="0"/>
                <a:ea typeface="ＭＳ Ｐゴシック" charset="0"/>
                <a:cs typeface="Arial" charset="0"/>
              </a:rPr>
              <a:t>...</a:t>
            </a:r>
          </a:p>
        </p:txBody>
      </p:sp>
      <p:cxnSp>
        <p:nvCxnSpPr>
          <p:cNvPr id="20" name="Straight Arrow Connector 19"/>
          <p:cNvCxnSpPr/>
          <p:nvPr/>
        </p:nvCxnSpPr>
        <p:spPr>
          <a:xfrm>
            <a:off x="4876800" y="1557338"/>
            <a:ext cx="3276600" cy="1587"/>
          </a:xfrm>
          <a:prstGeom prst="straightConnector1">
            <a:avLst/>
          </a:prstGeom>
          <a:ln w="31750">
            <a:headEnd type="arrow"/>
            <a:tailEnd type="arrow"/>
          </a:ln>
        </p:spPr>
        <p:style>
          <a:lnRef idx="1">
            <a:schemeClr val="accent1"/>
          </a:lnRef>
          <a:fillRef idx="0">
            <a:schemeClr val="accent1"/>
          </a:fillRef>
          <a:effectRef idx="0">
            <a:schemeClr val="accent1"/>
          </a:effectRef>
          <a:fontRef idx="minor">
            <a:schemeClr val="tx1"/>
          </a:fontRef>
        </p:style>
      </p:cxnSp>
      <p:sp>
        <p:nvSpPr>
          <p:cNvPr id="114698" name="TextBox 20"/>
          <p:cNvSpPr txBox="1">
            <a:spLocks noChangeArrowheads="1"/>
          </p:cNvSpPr>
          <p:nvPr/>
        </p:nvSpPr>
        <p:spPr bwMode="auto">
          <a:xfrm>
            <a:off x="6019800" y="1219200"/>
            <a:ext cx="914400" cy="338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4F81BD"/>
                </a:solidFill>
                <a:effectLst/>
                <a:uLnTx/>
                <a:uFillTx/>
                <a:latin typeface="Calibri" charset="0"/>
                <a:ea typeface="ＭＳ Ｐゴシック" charset="0"/>
                <a:cs typeface="Arial" charset="0"/>
              </a:rPr>
              <a:t>2kB</a:t>
            </a:r>
          </a:p>
        </p:txBody>
      </p:sp>
      <p:cxnSp>
        <p:nvCxnSpPr>
          <p:cNvPr id="22" name="Shape 9"/>
          <p:cNvCxnSpPr>
            <a:cxnSpLocks noChangeShapeType="1"/>
          </p:cNvCxnSpPr>
          <p:nvPr/>
        </p:nvCxnSpPr>
        <p:spPr bwMode="auto">
          <a:xfrm rot="16200000" flipV="1">
            <a:off x="5105400" y="4497388"/>
            <a:ext cx="990600" cy="990600"/>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4700" name="TextBox 22"/>
          <p:cNvSpPr txBox="1">
            <a:spLocks noChangeArrowheads="1"/>
          </p:cNvSpPr>
          <p:nvPr/>
        </p:nvSpPr>
        <p:spPr bwMode="auto">
          <a:xfrm>
            <a:off x="4648200" y="4584700"/>
            <a:ext cx="4572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1B</a:t>
            </a:r>
          </a:p>
        </p:txBody>
      </p:sp>
      <p:cxnSp>
        <p:nvCxnSpPr>
          <p:cNvPr id="24" name="Straight Arrow Connector 23"/>
          <p:cNvCxnSpPr/>
          <p:nvPr/>
        </p:nvCxnSpPr>
        <p:spPr>
          <a:xfrm>
            <a:off x="4899025" y="1968500"/>
            <a:ext cx="381000" cy="1588"/>
          </a:xfrm>
          <a:prstGeom prst="straightConnector1">
            <a:avLst/>
          </a:prstGeom>
          <a:ln w="31750">
            <a:headEnd type="arrow"/>
            <a:tailEnd type="arrow"/>
          </a:ln>
        </p:spPr>
        <p:style>
          <a:lnRef idx="1">
            <a:schemeClr val="accent1"/>
          </a:lnRef>
          <a:fillRef idx="0">
            <a:schemeClr val="accent1"/>
          </a:fillRef>
          <a:effectRef idx="0">
            <a:schemeClr val="accent1"/>
          </a:effectRef>
          <a:fontRef idx="minor">
            <a:schemeClr val="tx1"/>
          </a:fontRef>
        </p:style>
      </p:cxnSp>
      <p:sp>
        <p:nvSpPr>
          <p:cNvPr id="114702" name="TextBox 26"/>
          <p:cNvSpPr txBox="1">
            <a:spLocks noChangeArrowheads="1"/>
          </p:cNvSpPr>
          <p:nvPr/>
        </p:nvSpPr>
        <p:spPr bwMode="auto">
          <a:xfrm>
            <a:off x="4518025" y="1601788"/>
            <a:ext cx="1106488" cy="339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4F81BD"/>
                </a:solidFill>
                <a:effectLst/>
                <a:uLnTx/>
                <a:uFillTx/>
                <a:latin typeface="Calibri" charset="0"/>
                <a:ea typeface="ＭＳ Ｐゴシック" charset="0"/>
                <a:cs typeface="Arial" charset="0"/>
              </a:rPr>
              <a:t>1B (column)</a:t>
            </a:r>
          </a:p>
        </p:txBody>
      </p:sp>
      <p:cxnSp>
        <p:nvCxnSpPr>
          <p:cNvPr id="35" name="Shape 9"/>
          <p:cNvCxnSpPr>
            <a:cxnSpLocks noChangeShapeType="1"/>
          </p:cNvCxnSpPr>
          <p:nvPr/>
        </p:nvCxnSpPr>
        <p:spPr bwMode="auto">
          <a:xfrm rot="16200000" flipV="1">
            <a:off x="5372100" y="4611688"/>
            <a:ext cx="990600" cy="762000"/>
          </a:xfrm>
          <a:prstGeom prst="bentConnector3">
            <a:avLst>
              <a:gd name="adj1" fmla="val 65759"/>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graphicFrame>
        <p:nvGraphicFramePr>
          <p:cNvPr id="9" name="Table 8"/>
          <p:cNvGraphicFramePr>
            <a:graphicFrameLocks noGrp="1"/>
          </p:cNvGraphicFramePr>
          <p:nvPr/>
        </p:nvGraphicFramePr>
        <p:xfrm>
          <a:off x="4876800" y="2090738"/>
          <a:ext cx="3332160" cy="2449510"/>
        </p:xfrm>
        <a:graphic>
          <a:graphicData uri="http://schemas.openxmlformats.org/drawingml/2006/table">
            <a:tbl>
              <a:tblPr>
                <a:tableStyleId>{616DA210-FB5B-4158-B5E0-FEB733F419BA}</a:tableStyleId>
              </a:tblPr>
              <a:tblGrid>
                <a:gridCol w="416520">
                  <a:extLst>
                    <a:ext uri="{9D8B030D-6E8A-4147-A177-3AD203B41FA5}">
                      <a16:colId xmlns:a16="http://schemas.microsoft.com/office/drawing/2014/main" val="20000"/>
                    </a:ext>
                  </a:extLst>
                </a:gridCol>
                <a:gridCol w="416520">
                  <a:extLst>
                    <a:ext uri="{9D8B030D-6E8A-4147-A177-3AD203B41FA5}">
                      <a16:colId xmlns:a16="http://schemas.microsoft.com/office/drawing/2014/main" val="20001"/>
                    </a:ext>
                  </a:extLst>
                </a:gridCol>
                <a:gridCol w="416520">
                  <a:extLst>
                    <a:ext uri="{9D8B030D-6E8A-4147-A177-3AD203B41FA5}">
                      <a16:colId xmlns:a16="http://schemas.microsoft.com/office/drawing/2014/main" val="20002"/>
                    </a:ext>
                  </a:extLst>
                </a:gridCol>
                <a:gridCol w="416520">
                  <a:extLst>
                    <a:ext uri="{9D8B030D-6E8A-4147-A177-3AD203B41FA5}">
                      <a16:colId xmlns:a16="http://schemas.microsoft.com/office/drawing/2014/main" val="20003"/>
                    </a:ext>
                  </a:extLst>
                </a:gridCol>
                <a:gridCol w="416520">
                  <a:extLst>
                    <a:ext uri="{9D8B030D-6E8A-4147-A177-3AD203B41FA5}">
                      <a16:colId xmlns:a16="http://schemas.microsoft.com/office/drawing/2014/main" val="20004"/>
                    </a:ext>
                  </a:extLst>
                </a:gridCol>
                <a:gridCol w="416520">
                  <a:extLst>
                    <a:ext uri="{9D8B030D-6E8A-4147-A177-3AD203B41FA5}">
                      <a16:colId xmlns:a16="http://schemas.microsoft.com/office/drawing/2014/main" val="20005"/>
                    </a:ext>
                  </a:extLst>
                </a:gridCol>
                <a:gridCol w="416520">
                  <a:extLst>
                    <a:ext uri="{9D8B030D-6E8A-4147-A177-3AD203B41FA5}">
                      <a16:colId xmlns:a16="http://schemas.microsoft.com/office/drawing/2014/main" val="20006"/>
                    </a:ext>
                  </a:extLst>
                </a:gridCol>
                <a:gridCol w="416520">
                  <a:extLst>
                    <a:ext uri="{9D8B030D-6E8A-4147-A177-3AD203B41FA5}">
                      <a16:colId xmlns:a16="http://schemas.microsoft.com/office/drawing/2014/main" val="20007"/>
                    </a:ext>
                  </a:extLst>
                </a:gridCol>
              </a:tblGrid>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0"/>
                  </a:ext>
                </a:extLst>
              </a:tr>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1"/>
                  </a:ext>
                </a:extLst>
              </a:tr>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2"/>
                  </a:ext>
                </a:extLst>
              </a:tr>
              <a:tr h="489902">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tc>
                  <a:txBody>
                    <a:bodyPr/>
                    <a:lstStyle/>
                    <a:p>
                      <a:endParaRPr lang="en-US" sz="200" dirty="0"/>
                    </a:p>
                  </a:txBody>
                  <a:tcPr marL="91431" marR="91431" marT="45724" marB="45724">
                    <a:solidFill>
                      <a:schemeClr val="bg1"/>
                    </a:solidFill>
                  </a:tcPr>
                </a:tc>
                <a:extLst>
                  <a:ext uri="{0D108BD9-81ED-4DB2-BD59-A6C34878D82A}">
                    <a16:rowId xmlns:a16="http://schemas.microsoft.com/office/drawing/2014/main" val="10003"/>
                  </a:ext>
                </a:extLst>
              </a:tr>
              <a:tr h="489902">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tc>
                  <a:txBody>
                    <a:bodyPr/>
                    <a:lstStyle/>
                    <a:p>
                      <a:pPr algn="ctr"/>
                      <a:endParaRPr lang="en-US" sz="1800" dirty="0">
                        <a:solidFill>
                          <a:schemeClr val="bg1"/>
                        </a:solidFill>
                      </a:endParaRPr>
                    </a:p>
                  </a:txBody>
                  <a:tcPr marL="91431" marR="91431" marT="45724" marB="45724" anchor="ctr">
                    <a:solidFill>
                      <a:schemeClr val="accent5"/>
                    </a:solidFill>
                  </a:tcPr>
                </a:tc>
                <a:extLst>
                  <a:ext uri="{0D108BD9-81ED-4DB2-BD59-A6C34878D82A}">
                    <a16:rowId xmlns:a16="http://schemas.microsoft.com/office/drawing/2014/main" val="10004"/>
                  </a:ext>
                </a:extLst>
              </a:tr>
            </a:tbl>
          </a:graphicData>
        </a:graphic>
      </p:graphicFrame>
      <p:sp>
        <p:nvSpPr>
          <p:cNvPr id="114760" name="TextBox 40"/>
          <p:cNvSpPr txBox="1">
            <a:spLocks noChangeArrowheads="1"/>
          </p:cNvSpPr>
          <p:nvPr/>
        </p:nvSpPr>
        <p:spPr bwMode="auto">
          <a:xfrm>
            <a:off x="5638800" y="4497388"/>
            <a:ext cx="45720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1B</a:t>
            </a:r>
          </a:p>
        </p:txBody>
      </p:sp>
      <p:sp>
        <p:nvSpPr>
          <p:cNvPr id="114761" name="Rectangle 43"/>
          <p:cNvSpPr>
            <a:spLocks noChangeArrowheads="1"/>
          </p:cNvSpPr>
          <p:nvPr/>
        </p:nvSpPr>
        <p:spPr bwMode="auto">
          <a:xfrm>
            <a:off x="5791200" y="4065588"/>
            <a:ext cx="1506538" cy="431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200" b="1" i="0" u="none" strike="noStrike" kern="1200" cap="none" spc="0" normalizeH="0" baseline="0" noProof="0">
                <a:ln>
                  <a:noFill/>
                </a:ln>
                <a:solidFill>
                  <a:srgbClr val="000000"/>
                </a:solidFill>
                <a:effectLst/>
                <a:uLnTx/>
                <a:uFillTx/>
                <a:latin typeface="Calibri" charset="0"/>
                <a:ea typeface="ＭＳ Ｐゴシック" charset="0"/>
                <a:cs typeface="Arial" charset="0"/>
              </a:rPr>
              <a:t>Row-buffer</a:t>
            </a:r>
          </a:p>
        </p:txBody>
      </p:sp>
      <p:sp>
        <p:nvSpPr>
          <p:cNvPr id="114762" name="TextBox 46"/>
          <p:cNvSpPr txBox="1">
            <a:spLocks noChangeArrowheads="1"/>
          </p:cNvSpPr>
          <p:nvPr/>
        </p:nvSpPr>
        <p:spPr bwMode="auto">
          <a:xfrm>
            <a:off x="8001000" y="4573588"/>
            <a:ext cx="45720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1B</a:t>
            </a:r>
          </a:p>
        </p:txBody>
      </p:sp>
      <p:sp>
        <p:nvSpPr>
          <p:cNvPr id="114763" name="TextBox 48"/>
          <p:cNvSpPr txBox="1">
            <a:spLocks noChangeArrowheads="1"/>
          </p:cNvSpPr>
          <p:nvPr/>
        </p:nvSpPr>
        <p:spPr bwMode="auto">
          <a:xfrm>
            <a:off x="6248400" y="4802188"/>
            <a:ext cx="7620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rgbClr val="C0504D"/>
                </a:solidFill>
                <a:effectLst/>
                <a:uLnTx/>
                <a:uFillTx/>
                <a:latin typeface="Calibri" charset="0"/>
                <a:ea typeface="ＭＳ Ｐゴシック" charset="0"/>
                <a:cs typeface="Arial" charset="0"/>
              </a:rPr>
              <a:t>...</a:t>
            </a:r>
          </a:p>
        </p:txBody>
      </p:sp>
      <p:cxnSp>
        <p:nvCxnSpPr>
          <p:cNvPr id="50" name="Shape 9"/>
          <p:cNvCxnSpPr>
            <a:cxnSpLocks noChangeShapeType="1"/>
          </p:cNvCxnSpPr>
          <p:nvPr/>
        </p:nvCxnSpPr>
        <p:spPr bwMode="auto">
          <a:xfrm rot="5400000" flipH="1" flipV="1">
            <a:off x="6157119" y="6134894"/>
            <a:ext cx="838200" cy="1588"/>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4765" name="TextBox 50"/>
          <p:cNvSpPr txBox="1">
            <a:spLocks noChangeArrowheads="1"/>
          </p:cNvSpPr>
          <p:nvPr/>
        </p:nvSpPr>
        <p:spPr bwMode="auto">
          <a:xfrm rot="-5400000">
            <a:off x="5949157" y="5950744"/>
            <a:ext cx="8382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28" name="Diagonal Stripe 27"/>
          <p:cNvSpPr/>
          <p:nvPr/>
        </p:nvSpPr>
        <p:spPr>
          <a:xfrm rot="13500000">
            <a:off x="6132513" y="4991100"/>
            <a:ext cx="914400" cy="914400"/>
          </a:xfrm>
          <a:prstGeom prst="diagStripe">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57820775-BC58-DF4B-BDBC-CC12818493E9}"/>
              </a:ext>
            </a:extLst>
          </p:cNvPr>
          <p:cNvSpPr/>
          <p:nvPr/>
        </p:nvSpPr>
        <p:spPr>
          <a:xfrm>
            <a:off x="76200" y="1311836"/>
            <a:ext cx="4670425" cy="3447098"/>
          </a:xfrm>
          <a:prstGeom prst="rect">
            <a:avLst/>
          </a:prstGeom>
        </p:spPr>
        <p:txBody>
          <a:bodyPr wrap="square">
            <a:spAutoFit/>
          </a:bodyPr>
          <a:lstStyle/>
          <a:p>
            <a:pPr marL="342900" lvl="0" indent="-342900">
              <a:spcBef>
                <a:spcPct val="20000"/>
              </a:spcBef>
              <a:buClr>
                <a:srgbClr val="CC9900"/>
              </a:buClr>
              <a:buSzPct val="65000"/>
              <a:buFont typeface="Wingdings" pitchFamily="2" charset="2"/>
              <a:buChar char="n"/>
            </a:pPr>
            <a:r>
              <a:rPr lang="en-US" altLang="en-US" sz="2200" kern="0" dirty="0">
                <a:solidFill>
                  <a:srgbClr val="0432FF"/>
                </a:solidFill>
                <a:latin typeface="Tahoma"/>
              </a:rPr>
              <a:t>App address to memory address</a:t>
            </a:r>
            <a:r>
              <a:rPr lang="en-US" altLang="en-US" sz="2000" kern="0" dirty="0">
                <a:solidFill>
                  <a:srgbClr val="0432FF"/>
                </a:solidFill>
                <a:latin typeface="Tahoma"/>
              </a:rPr>
              <a:t>:</a:t>
            </a:r>
            <a:r>
              <a:rPr lang="en-US" altLang="en-US" sz="2000" kern="0" dirty="0">
                <a:latin typeface="Tahoma"/>
              </a:rPr>
              <a:t> channel, DIMM, rank, row, column</a:t>
            </a:r>
            <a:endParaRPr lang="en-US" altLang="en-US" sz="2000" kern="0" dirty="0">
              <a:solidFill>
                <a:srgbClr val="0432FF"/>
              </a:solidFill>
              <a:latin typeface="Tahoma"/>
            </a:endParaRPr>
          </a:p>
          <a:p>
            <a:pPr marL="800100" lvl="1" indent="-342900">
              <a:spcBef>
                <a:spcPct val="20000"/>
              </a:spcBef>
              <a:buClr>
                <a:srgbClr val="CC9900"/>
              </a:buClr>
              <a:buSzPct val="65000"/>
              <a:buFont typeface="Wingdings" pitchFamily="2" charset="2"/>
              <a:buChar char="n"/>
            </a:pPr>
            <a:r>
              <a:rPr lang="en-US" altLang="en-US" sz="2000" kern="0" dirty="0">
                <a:solidFill>
                  <a:srgbClr val="0432FF"/>
                </a:solidFill>
                <a:latin typeface="Tahoma"/>
              </a:rPr>
              <a:t>Sequential: </a:t>
            </a:r>
            <a:r>
              <a:rPr lang="en-US" altLang="en-US" sz="2000" kern="0" dirty="0">
                <a:latin typeface="Tahoma"/>
              </a:rPr>
              <a:t>column, column</a:t>
            </a:r>
          </a:p>
          <a:p>
            <a:pPr marL="800100" lvl="1" indent="-342900">
              <a:spcBef>
                <a:spcPct val="20000"/>
              </a:spcBef>
              <a:buClr>
                <a:srgbClr val="CC9900"/>
              </a:buClr>
              <a:buSzPct val="65000"/>
              <a:buFont typeface="Wingdings" pitchFamily="2" charset="2"/>
              <a:buChar char="n"/>
            </a:pPr>
            <a:r>
              <a:rPr lang="en-US" altLang="en-US" sz="2000" kern="0" dirty="0">
                <a:solidFill>
                  <a:srgbClr val="0432FF"/>
                </a:solidFill>
                <a:latin typeface="Tahoma"/>
              </a:rPr>
              <a:t>Random: </a:t>
            </a:r>
            <a:r>
              <a:rPr lang="en-US" altLang="en-US" sz="2000" kern="0" dirty="0">
                <a:latin typeface="Tahoma"/>
              </a:rPr>
              <a:t>pre-charge previous row, activate new row, column</a:t>
            </a:r>
            <a:endParaRPr lang="en-US" altLang="en-US" sz="2000" kern="0" dirty="0">
              <a:solidFill>
                <a:srgbClr val="0432FF"/>
              </a:solidFill>
              <a:latin typeface="Tahoma"/>
            </a:endParaRPr>
          </a:p>
          <a:p>
            <a:pPr marL="342900" lvl="0" indent="-342900">
              <a:spcBef>
                <a:spcPct val="20000"/>
              </a:spcBef>
              <a:buClr>
                <a:srgbClr val="CC9900"/>
              </a:buClr>
              <a:buSzPct val="65000"/>
              <a:buFont typeface="Wingdings" pitchFamily="2" charset="2"/>
              <a:buChar char="n"/>
            </a:pPr>
            <a:endParaRPr lang="en-US" altLang="en-US" sz="2200" kern="0" dirty="0">
              <a:solidFill>
                <a:srgbClr val="0432FF"/>
              </a:solidFill>
              <a:latin typeface="Tahoma"/>
            </a:endParaRPr>
          </a:p>
          <a:p>
            <a:pPr marL="342900" lvl="0" indent="-342900">
              <a:spcBef>
                <a:spcPct val="20000"/>
              </a:spcBef>
              <a:buClr>
                <a:srgbClr val="CC9900"/>
              </a:buClr>
              <a:buSzPct val="65000"/>
              <a:buFont typeface="Wingdings" pitchFamily="2" charset="2"/>
              <a:buChar char="n"/>
            </a:pPr>
            <a:r>
              <a:rPr lang="en-US" altLang="en-US" sz="2200" kern="0" dirty="0">
                <a:solidFill>
                  <a:srgbClr val="0432FF"/>
                </a:solidFill>
                <a:latin typeface="Tahoma"/>
              </a:rPr>
              <a:t>Sequential &gt; Random</a:t>
            </a:r>
            <a:r>
              <a:rPr lang="en-US" altLang="en-US" sz="2400" kern="0" dirty="0">
                <a:solidFill>
                  <a:srgbClr val="000000"/>
                </a:solidFill>
                <a:latin typeface="Tahoma"/>
              </a:rPr>
              <a:t>:</a:t>
            </a:r>
          </a:p>
          <a:p>
            <a:pPr marL="800100" lvl="1" indent="-342900">
              <a:spcBef>
                <a:spcPct val="20000"/>
              </a:spcBef>
              <a:buClr>
                <a:srgbClr val="CC9900"/>
              </a:buClr>
              <a:buSzPct val="65000"/>
              <a:buFont typeface="Wingdings" pitchFamily="2" charset="2"/>
              <a:buChar char="n"/>
            </a:pPr>
            <a:r>
              <a:rPr lang="en-US" altLang="en-US" sz="2400" kern="0" dirty="0">
                <a:solidFill>
                  <a:srgbClr val="000000"/>
                </a:solidFill>
                <a:latin typeface="Tahoma"/>
              </a:rPr>
              <a:t>Row buffer hit vs. Row buffer miss.</a:t>
            </a:r>
          </a:p>
        </p:txBody>
      </p:sp>
    </p:spTree>
    <p:extLst>
      <p:ext uri="{BB962C8B-B14F-4D97-AF65-F5344CB8AC3E}">
        <p14:creationId xmlns:p14="http://schemas.microsoft.com/office/powerpoint/2010/main" val="48148283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p:nvPr>
        </p:nvSpPr>
        <p:spPr>
          <a:xfrm>
            <a:off x="266700" y="160338"/>
            <a:ext cx="8610600" cy="1066800"/>
          </a:xfrm>
        </p:spPr>
        <p:txBody>
          <a:bodyPr/>
          <a:lstStyle/>
          <a:p>
            <a:r>
              <a:rPr lang="en-US" altLang="en-US" b="1" dirty="0">
                <a:ea typeface="ＭＳ Ｐゴシック" panose="020B0600070205080204" pitchFamily="34" charset="-128"/>
              </a:rPr>
              <a:t>Where Are We?</a:t>
            </a:r>
            <a:endParaRPr lang="en-US" dirty="0">
              <a:latin typeface="Calibri" charset="0"/>
            </a:endParaRPr>
          </a:p>
        </p:txBody>
      </p:sp>
      <p:sp>
        <p:nvSpPr>
          <p:cNvPr id="25" name="Rectangle 36">
            <a:extLst>
              <a:ext uri="{FF2B5EF4-FFF2-40B4-BE49-F238E27FC236}">
                <a16:creationId xmlns:a16="http://schemas.microsoft.com/office/drawing/2014/main" id="{D52CF9DD-1D75-45C2-B78B-BAA6C1EA56E9}"/>
              </a:ext>
            </a:extLst>
          </p:cNvPr>
          <p:cNvSpPr/>
          <p:nvPr/>
        </p:nvSpPr>
        <p:spPr>
          <a:xfrm flipV="1">
            <a:off x="1143000" y="2819400"/>
            <a:ext cx="1219200" cy="10668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图片 4">
            <a:extLst>
              <a:ext uri="{FF2B5EF4-FFF2-40B4-BE49-F238E27FC236}">
                <a16:creationId xmlns:a16="http://schemas.microsoft.com/office/drawing/2014/main" id="{C6B6BA85-D1AC-4E13-A5FE-10A346B86D20}"/>
              </a:ext>
            </a:extLst>
          </p:cNvPr>
          <p:cNvPicPr>
            <a:picLocks noChangeAspect="1"/>
          </p:cNvPicPr>
          <p:nvPr/>
        </p:nvPicPr>
        <p:blipFill>
          <a:blip r:embed="rId2"/>
          <a:stretch>
            <a:fillRect/>
          </a:stretch>
        </p:blipFill>
        <p:spPr>
          <a:xfrm>
            <a:off x="-13138" y="908019"/>
            <a:ext cx="9144000" cy="5238364"/>
          </a:xfrm>
          <a:prstGeom prst="rect">
            <a:avLst/>
          </a:prstGeom>
        </p:spPr>
      </p:pic>
    </p:spTree>
    <p:extLst>
      <p:ext uri="{BB962C8B-B14F-4D97-AF65-F5344CB8AC3E}">
        <p14:creationId xmlns:p14="http://schemas.microsoft.com/office/powerpoint/2010/main" val="31930277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4">
            <a:extLst>
              <a:ext uri="{FF2B5EF4-FFF2-40B4-BE49-F238E27FC236}">
                <a16:creationId xmlns:a16="http://schemas.microsoft.com/office/drawing/2014/main" id="{C25842EA-EA1F-5742-83FA-8542C5A5F4F7}"/>
              </a:ext>
            </a:extLst>
          </p:cNvPr>
          <p:cNvSpPr>
            <a:spLocks noGrp="1" noChangeArrowheads="1"/>
          </p:cNvSpPr>
          <p:nvPr>
            <p:ph type="ctrTitle"/>
          </p:nvPr>
        </p:nvSpPr>
        <p:spPr>
          <a:xfrm>
            <a:off x="366713" y="1708150"/>
            <a:ext cx="8428037" cy="1720850"/>
          </a:xfrm>
        </p:spPr>
        <p:txBody>
          <a:bodyPr/>
          <a:lstStyle/>
          <a:p>
            <a:pPr algn="ctr" eaLnBrk="1" hangingPunct="1"/>
            <a:r>
              <a:rPr lang="en-US" altLang="en-US" sz="4400">
                <a:ea typeface="ＭＳ Ｐゴシック" panose="020B0600070205080204" pitchFamily="34" charset="-128"/>
              </a:rPr>
              <a:t>The Memory Hierarchy</a:t>
            </a:r>
          </a:p>
        </p:txBody>
      </p:sp>
      <p:sp>
        <p:nvSpPr>
          <p:cNvPr id="94210" name="Rectangle 5">
            <a:extLst>
              <a:ext uri="{FF2B5EF4-FFF2-40B4-BE49-F238E27FC236}">
                <a16:creationId xmlns:a16="http://schemas.microsoft.com/office/drawing/2014/main" id="{EA9CEDB2-4BFF-F644-BB2B-615DA6057A2A}"/>
              </a:ext>
            </a:extLst>
          </p:cNvPr>
          <p:cNvSpPr>
            <a:spLocks noGrp="1" noChangeArrowheads="1"/>
          </p:cNvSpPr>
          <p:nvPr>
            <p:ph type="subTitle" idx="1"/>
          </p:nvPr>
        </p:nvSpPr>
        <p:spPr>
          <a:xfrm>
            <a:off x="685800" y="3581400"/>
            <a:ext cx="7848600" cy="2900363"/>
          </a:xfrm>
        </p:spPr>
        <p:txBody>
          <a:bodyPr/>
          <a:lstStyle/>
          <a:p>
            <a:pPr eaLnBrk="1" hangingPunct="1"/>
            <a:endParaRPr lang="en-US" altLang="en-US" i="1">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136129BF-49C1-3146-8167-FC53B2977DC0}"/>
              </a:ext>
            </a:extLst>
          </p:cNvPr>
          <p:cNvSpPr>
            <a:spLocks noGrp="1" noChangeArrowheads="1"/>
          </p:cNvSpPr>
          <p:nvPr>
            <p:ph type="title"/>
          </p:nvPr>
        </p:nvSpPr>
        <p:spPr/>
        <p:txBody>
          <a:bodyPr/>
          <a:lstStyle/>
          <a:p>
            <a:r>
              <a:rPr lang="en-US" altLang="en-US" dirty="0">
                <a:ea typeface="ＭＳ Ｐゴシック" panose="020B0600070205080204" pitchFamily="34" charset="-128"/>
              </a:rPr>
              <a:t>Memory Hierarchy in a Modern System (I)</a:t>
            </a:r>
          </a:p>
        </p:txBody>
      </p:sp>
      <p:sp>
        <p:nvSpPr>
          <p:cNvPr id="96259" name="Slide Number Placeholder 3">
            <a:extLst>
              <a:ext uri="{FF2B5EF4-FFF2-40B4-BE49-F238E27FC236}">
                <a16:creationId xmlns:a16="http://schemas.microsoft.com/office/drawing/2014/main" id="{3CF51693-0E8C-8B4F-BBC5-E6BB250BF58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E670B748-E268-E246-9A86-A53D1EA23BB3}" type="slidenum">
              <a:rPr lang="en-US" altLang="en-US" sz="1600" smtClean="0">
                <a:solidFill>
                  <a:srgbClr val="000000"/>
                </a:solidFill>
                <a:latin typeface="Garamond" panose="02020404030301010803" pitchFamily="18" charset="0"/>
              </a:rPr>
              <a:pPr eaLnBrk="1" hangingPunct="1">
                <a:spcBef>
                  <a:spcPct val="0"/>
                </a:spcBef>
                <a:buClrTx/>
                <a:buSzTx/>
                <a:buFontTx/>
                <a:buNone/>
              </a:pPr>
              <a:t>17</a:t>
            </a:fld>
            <a:endParaRPr lang="en-US" altLang="en-US" sz="1600">
              <a:solidFill>
                <a:srgbClr val="000000"/>
              </a:solidFill>
              <a:latin typeface="Garamond" panose="02020404030301010803" pitchFamily="18" charset="0"/>
            </a:endParaRPr>
          </a:p>
        </p:txBody>
      </p:sp>
      <p:pic>
        <p:nvPicPr>
          <p:cNvPr id="96260" name="Content Placeholder 6" descr="barcelona-die-photo-color.jpg">
            <a:extLst>
              <a:ext uri="{FF2B5EF4-FFF2-40B4-BE49-F238E27FC236}">
                <a16:creationId xmlns:a16="http://schemas.microsoft.com/office/drawing/2014/main" id="{07411B7E-B791-8340-993A-7C3C2999D0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285526"/>
            <a:ext cx="48768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1" name="Rounded Rectangle 33">
            <a:extLst>
              <a:ext uri="{FF2B5EF4-FFF2-40B4-BE49-F238E27FC236}">
                <a16:creationId xmlns:a16="http://schemas.microsoft.com/office/drawing/2014/main" id="{32D05419-C419-2542-96C2-7BF893CCEDDC}"/>
              </a:ext>
            </a:extLst>
          </p:cNvPr>
          <p:cNvSpPr>
            <a:spLocks noChangeArrowheads="1"/>
          </p:cNvSpPr>
          <p:nvPr/>
        </p:nvSpPr>
        <p:spPr bwMode="auto">
          <a:xfrm rot="5400000">
            <a:off x="4246562" y="2022127"/>
            <a:ext cx="1603375"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62" name="TextBox 34">
            <a:extLst>
              <a:ext uri="{FF2B5EF4-FFF2-40B4-BE49-F238E27FC236}">
                <a16:creationId xmlns:a16="http://schemas.microsoft.com/office/drawing/2014/main" id="{E2F7DE95-1E96-8246-9EF2-B59AF2A9CCD3}"/>
              </a:ext>
            </a:extLst>
          </p:cNvPr>
          <p:cNvSpPr txBox="1">
            <a:spLocks noChangeArrowheads="1"/>
          </p:cNvSpPr>
          <p:nvPr/>
        </p:nvSpPr>
        <p:spPr bwMode="auto">
          <a:xfrm>
            <a:off x="4433887" y="2439639"/>
            <a:ext cx="1233488" cy="430212"/>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200" b="1">
                <a:solidFill>
                  <a:srgbClr val="FFFFFF"/>
                </a:solidFill>
                <a:latin typeface="Arial" panose="020B0604020202020204" pitchFamily="34" charset="0"/>
              </a:rPr>
              <a:t>CORE 1</a:t>
            </a:r>
          </a:p>
        </p:txBody>
      </p:sp>
      <p:sp>
        <p:nvSpPr>
          <p:cNvPr id="96263" name="Rectangle 35">
            <a:extLst>
              <a:ext uri="{FF2B5EF4-FFF2-40B4-BE49-F238E27FC236}">
                <a16:creationId xmlns:a16="http://schemas.microsoft.com/office/drawing/2014/main" id="{35AAAA04-DB49-EC43-906F-B1B7F8BE4AE0}"/>
              </a:ext>
            </a:extLst>
          </p:cNvPr>
          <p:cNvSpPr>
            <a:spLocks noChangeArrowheads="1"/>
          </p:cNvSpPr>
          <p:nvPr/>
        </p:nvSpPr>
        <p:spPr bwMode="auto">
          <a:xfrm rot="5400000">
            <a:off x="2913856" y="2413445"/>
            <a:ext cx="1603375" cy="427037"/>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64" name="TextBox 36">
            <a:extLst>
              <a:ext uri="{FF2B5EF4-FFF2-40B4-BE49-F238E27FC236}">
                <a16:creationId xmlns:a16="http://schemas.microsoft.com/office/drawing/2014/main" id="{A7616839-A2F8-BB44-8893-E8F379355483}"/>
              </a:ext>
            </a:extLst>
          </p:cNvPr>
          <p:cNvSpPr txBox="1">
            <a:spLocks noChangeArrowheads="1"/>
          </p:cNvSpPr>
          <p:nvPr/>
        </p:nvSpPr>
        <p:spPr bwMode="auto">
          <a:xfrm rot="5400000">
            <a:off x="2953543" y="2453133"/>
            <a:ext cx="1531937" cy="368300"/>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a:solidFill>
                  <a:srgbClr val="FFFFFF"/>
                </a:solidFill>
                <a:latin typeface="Arial" panose="020B0604020202020204" pitchFamily="34" charset="0"/>
              </a:rPr>
              <a:t>L2 CACHE 0</a:t>
            </a:r>
          </a:p>
        </p:txBody>
      </p:sp>
      <p:sp>
        <p:nvSpPr>
          <p:cNvPr id="96265" name="Rectangle 37">
            <a:extLst>
              <a:ext uri="{FF2B5EF4-FFF2-40B4-BE49-F238E27FC236}">
                <a16:creationId xmlns:a16="http://schemas.microsoft.com/office/drawing/2014/main" id="{3A4BBC0F-C6D6-1E44-86BB-45DB38C5EECD}"/>
              </a:ext>
            </a:extLst>
          </p:cNvPr>
          <p:cNvSpPr>
            <a:spLocks noChangeArrowheads="1"/>
          </p:cNvSpPr>
          <p:nvPr/>
        </p:nvSpPr>
        <p:spPr bwMode="auto">
          <a:xfrm rot="5400000">
            <a:off x="-534988" y="3304826"/>
            <a:ext cx="4756150" cy="71755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66" name="TextBox 38">
            <a:extLst>
              <a:ext uri="{FF2B5EF4-FFF2-40B4-BE49-F238E27FC236}">
                <a16:creationId xmlns:a16="http://schemas.microsoft.com/office/drawing/2014/main" id="{6F61D607-7521-DB46-83C9-A4CACE64991E}"/>
              </a:ext>
            </a:extLst>
          </p:cNvPr>
          <p:cNvSpPr txBox="1">
            <a:spLocks noChangeArrowheads="1"/>
          </p:cNvSpPr>
          <p:nvPr/>
        </p:nvSpPr>
        <p:spPr bwMode="auto">
          <a:xfrm rot="5400000">
            <a:off x="279400" y="3422301"/>
            <a:ext cx="3113087" cy="461963"/>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b="1">
                <a:solidFill>
                  <a:srgbClr val="FFFFFF"/>
                </a:solidFill>
                <a:latin typeface="Arial" panose="020B0604020202020204" pitchFamily="34" charset="0"/>
              </a:rPr>
              <a:t>SHARED L3 CACHE</a:t>
            </a:r>
          </a:p>
        </p:txBody>
      </p:sp>
      <p:sp>
        <p:nvSpPr>
          <p:cNvPr id="96267" name="Rectangle 39">
            <a:extLst>
              <a:ext uri="{FF2B5EF4-FFF2-40B4-BE49-F238E27FC236}">
                <a16:creationId xmlns:a16="http://schemas.microsoft.com/office/drawing/2014/main" id="{0AE27D2A-8BB6-C941-9156-B70F7D84F2F2}"/>
              </a:ext>
            </a:extLst>
          </p:cNvPr>
          <p:cNvSpPr>
            <a:spLocks noChangeArrowheads="1"/>
          </p:cNvSpPr>
          <p:nvPr/>
        </p:nvSpPr>
        <p:spPr bwMode="auto">
          <a:xfrm rot="5400000">
            <a:off x="3546475" y="3436588"/>
            <a:ext cx="4756150" cy="454025"/>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68" name="TextBox 40">
            <a:extLst>
              <a:ext uri="{FF2B5EF4-FFF2-40B4-BE49-F238E27FC236}">
                <a16:creationId xmlns:a16="http://schemas.microsoft.com/office/drawing/2014/main" id="{5676BB46-3FFD-214B-AF13-E81D9475910D}"/>
              </a:ext>
            </a:extLst>
          </p:cNvPr>
          <p:cNvSpPr txBox="1">
            <a:spLocks noChangeArrowheads="1"/>
          </p:cNvSpPr>
          <p:nvPr/>
        </p:nvSpPr>
        <p:spPr bwMode="auto">
          <a:xfrm rot="5400000">
            <a:off x="4448969" y="3424682"/>
            <a:ext cx="2940050" cy="461963"/>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b="1" dirty="0">
                <a:solidFill>
                  <a:srgbClr val="FFFFFF"/>
                </a:solidFill>
                <a:latin typeface="Arial" panose="020B0604020202020204" pitchFamily="34" charset="0"/>
              </a:rPr>
              <a:t>DRAM INTERFACE</a:t>
            </a:r>
          </a:p>
        </p:txBody>
      </p:sp>
      <p:pic>
        <p:nvPicPr>
          <p:cNvPr id="96269" name="Picture 37" descr="samsung-dimm-better.jpg">
            <a:extLst>
              <a:ext uri="{FF2B5EF4-FFF2-40B4-BE49-F238E27FC236}">
                <a16:creationId xmlns:a16="http://schemas.microsoft.com/office/drawing/2014/main" id="{DE1616CE-47C3-C047-B4AC-90D1270965D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64312" y="1096614"/>
            <a:ext cx="1312863"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70" name="Rounded Rectangle 42">
            <a:extLst>
              <a:ext uri="{FF2B5EF4-FFF2-40B4-BE49-F238E27FC236}">
                <a16:creationId xmlns:a16="http://schemas.microsoft.com/office/drawing/2014/main" id="{37270059-E030-7E47-9710-53B51884A8B1}"/>
              </a:ext>
            </a:extLst>
          </p:cNvPr>
          <p:cNvSpPr>
            <a:spLocks noChangeArrowheads="1"/>
          </p:cNvSpPr>
          <p:nvPr/>
        </p:nvSpPr>
        <p:spPr bwMode="auto">
          <a:xfrm rot="5400000">
            <a:off x="2037556" y="2013395"/>
            <a:ext cx="1601788"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71" name="TextBox 43">
            <a:extLst>
              <a:ext uri="{FF2B5EF4-FFF2-40B4-BE49-F238E27FC236}">
                <a16:creationId xmlns:a16="http://schemas.microsoft.com/office/drawing/2014/main" id="{8CF29544-6922-2340-8FBD-D8C0A897E82B}"/>
              </a:ext>
            </a:extLst>
          </p:cNvPr>
          <p:cNvSpPr txBox="1">
            <a:spLocks noChangeArrowheads="1"/>
          </p:cNvSpPr>
          <p:nvPr/>
        </p:nvSpPr>
        <p:spPr bwMode="auto">
          <a:xfrm>
            <a:off x="2224087" y="2431701"/>
            <a:ext cx="1235075" cy="430213"/>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200" b="1">
                <a:solidFill>
                  <a:srgbClr val="FFFFFF"/>
                </a:solidFill>
                <a:latin typeface="Arial" panose="020B0604020202020204" pitchFamily="34" charset="0"/>
              </a:rPr>
              <a:t>CORE 0</a:t>
            </a:r>
          </a:p>
        </p:txBody>
      </p:sp>
      <p:sp>
        <p:nvSpPr>
          <p:cNvPr id="96272" name="Rounded Rectangle 44">
            <a:extLst>
              <a:ext uri="{FF2B5EF4-FFF2-40B4-BE49-F238E27FC236}">
                <a16:creationId xmlns:a16="http://schemas.microsoft.com/office/drawing/2014/main" id="{12578ED2-9196-6C43-9641-538F886385AD}"/>
              </a:ext>
            </a:extLst>
          </p:cNvPr>
          <p:cNvSpPr>
            <a:spLocks noChangeArrowheads="1"/>
          </p:cNvSpPr>
          <p:nvPr/>
        </p:nvSpPr>
        <p:spPr bwMode="auto">
          <a:xfrm rot="5400000">
            <a:off x="2047874" y="4200177"/>
            <a:ext cx="1603375"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73" name="TextBox 45">
            <a:extLst>
              <a:ext uri="{FF2B5EF4-FFF2-40B4-BE49-F238E27FC236}">
                <a16:creationId xmlns:a16="http://schemas.microsoft.com/office/drawing/2014/main" id="{E3529F73-EE34-7F4B-99BD-038399D4C2A3}"/>
              </a:ext>
            </a:extLst>
          </p:cNvPr>
          <p:cNvSpPr txBox="1">
            <a:spLocks noChangeArrowheads="1"/>
          </p:cNvSpPr>
          <p:nvPr/>
        </p:nvSpPr>
        <p:spPr bwMode="auto">
          <a:xfrm>
            <a:off x="2235200" y="4617689"/>
            <a:ext cx="1235075" cy="430212"/>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200" b="1">
                <a:solidFill>
                  <a:srgbClr val="FFFFFF"/>
                </a:solidFill>
                <a:latin typeface="Arial" panose="020B0604020202020204" pitchFamily="34" charset="0"/>
              </a:rPr>
              <a:t>CORE 2</a:t>
            </a:r>
          </a:p>
        </p:txBody>
      </p:sp>
      <p:sp>
        <p:nvSpPr>
          <p:cNvPr id="96274" name="Rounded Rectangle 46">
            <a:extLst>
              <a:ext uri="{FF2B5EF4-FFF2-40B4-BE49-F238E27FC236}">
                <a16:creationId xmlns:a16="http://schemas.microsoft.com/office/drawing/2014/main" id="{CAE93378-144D-0448-B7D1-9B49A81A1D95}"/>
              </a:ext>
            </a:extLst>
          </p:cNvPr>
          <p:cNvSpPr>
            <a:spLocks noChangeArrowheads="1"/>
          </p:cNvSpPr>
          <p:nvPr/>
        </p:nvSpPr>
        <p:spPr bwMode="auto">
          <a:xfrm rot="5400000">
            <a:off x="4235449" y="4195414"/>
            <a:ext cx="1603375"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75" name="TextBox 47">
            <a:extLst>
              <a:ext uri="{FF2B5EF4-FFF2-40B4-BE49-F238E27FC236}">
                <a16:creationId xmlns:a16="http://schemas.microsoft.com/office/drawing/2014/main" id="{9AD1AB8C-8E85-4045-9FCD-9C4F6EFE6A52}"/>
              </a:ext>
            </a:extLst>
          </p:cNvPr>
          <p:cNvSpPr txBox="1">
            <a:spLocks noChangeArrowheads="1"/>
          </p:cNvSpPr>
          <p:nvPr/>
        </p:nvSpPr>
        <p:spPr bwMode="auto">
          <a:xfrm>
            <a:off x="4422775" y="4612926"/>
            <a:ext cx="1235075" cy="430213"/>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200" b="1">
                <a:solidFill>
                  <a:srgbClr val="FFFFFF"/>
                </a:solidFill>
                <a:latin typeface="Arial" panose="020B0604020202020204" pitchFamily="34" charset="0"/>
              </a:rPr>
              <a:t>CORE 3</a:t>
            </a:r>
          </a:p>
        </p:txBody>
      </p:sp>
      <p:sp>
        <p:nvSpPr>
          <p:cNvPr id="96276" name="Rectangle 48">
            <a:extLst>
              <a:ext uri="{FF2B5EF4-FFF2-40B4-BE49-F238E27FC236}">
                <a16:creationId xmlns:a16="http://schemas.microsoft.com/office/drawing/2014/main" id="{6D2F5537-DC36-C44C-B65E-86DDDF93E245}"/>
              </a:ext>
            </a:extLst>
          </p:cNvPr>
          <p:cNvSpPr>
            <a:spLocks noChangeArrowheads="1"/>
          </p:cNvSpPr>
          <p:nvPr/>
        </p:nvSpPr>
        <p:spPr bwMode="auto">
          <a:xfrm rot="5400000">
            <a:off x="3398044" y="2413445"/>
            <a:ext cx="1601787" cy="428625"/>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77" name="TextBox 49">
            <a:extLst>
              <a:ext uri="{FF2B5EF4-FFF2-40B4-BE49-F238E27FC236}">
                <a16:creationId xmlns:a16="http://schemas.microsoft.com/office/drawing/2014/main" id="{1960EEB2-2AF2-3746-A927-92A6D59D2479}"/>
              </a:ext>
            </a:extLst>
          </p:cNvPr>
          <p:cNvSpPr txBox="1">
            <a:spLocks noChangeArrowheads="1"/>
          </p:cNvSpPr>
          <p:nvPr/>
        </p:nvSpPr>
        <p:spPr bwMode="auto">
          <a:xfrm rot="5400000">
            <a:off x="3437731" y="2443607"/>
            <a:ext cx="1530350" cy="369888"/>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a:solidFill>
                  <a:srgbClr val="FFFFFF"/>
                </a:solidFill>
                <a:latin typeface="Arial" panose="020B0604020202020204" pitchFamily="34" charset="0"/>
              </a:rPr>
              <a:t>L2 CACHE 1</a:t>
            </a:r>
          </a:p>
        </p:txBody>
      </p:sp>
      <p:sp>
        <p:nvSpPr>
          <p:cNvPr id="96278" name="Rectangle 50">
            <a:extLst>
              <a:ext uri="{FF2B5EF4-FFF2-40B4-BE49-F238E27FC236}">
                <a16:creationId xmlns:a16="http://schemas.microsoft.com/office/drawing/2014/main" id="{9D41DAA6-BC67-2F4C-80B8-38DE9694078D}"/>
              </a:ext>
            </a:extLst>
          </p:cNvPr>
          <p:cNvSpPr>
            <a:spLocks noChangeArrowheads="1"/>
          </p:cNvSpPr>
          <p:nvPr/>
        </p:nvSpPr>
        <p:spPr bwMode="auto">
          <a:xfrm rot="5400000">
            <a:off x="2914650" y="4585939"/>
            <a:ext cx="1601787" cy="427037"/>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79" name="TextBox 51">
            <a:extLst>
              <a:ext uri="{FF2B5EF4-FFF2-40B4-BE49-F238E27FC236}">
                <a16:creationId xmlns:a16="http://schemas.microsoft.com/office/drawing/2014/main" id="{CBB4DF04-7DF0-2C43-8D0F-D5140265A845}"/>
              </a:ext>
            </a:extLst>
          </p:cNvPr>
          <p:cNvSpPr txBox="1">
            <a:spLocks noChangeArrowheads="1"/>
          </p:cNvSpPr>
          <p:nvPr/>
        </p:nvSpPr>
        <p:spPr bwMode="auto">
          <a:xfrm rot="5400000">
            <a:off x="2954337" y="4616101"/>
            <a:ext cx="1530350" cy="368300"/>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a:solidFill>
                  <a:srgbClr val="FFFFFF"/>
                </a:solidFill>
                <a:latin typeface="Arial" panose="020B0604020202020204" pitchFamily="34" charset="0"/>
              </a:rPr>
              <a:t>L2 CACHE 2</a:t>
            </a:r>
          </a:p>
        </p:txBody>
      </p:sp>
      <p:sp>
        <p:nvSpPr>
          <p:cNvPr id="96280" name="Rectangle 52">
            <a:extLst>
              <a:ext uri="{FF2B5EF4-FFF2-40B4-BE49-F238E27FC236}">
                <a16:creationId xmlns:a16="http://schemas.microsoft.com/office/drawing/2014/main" id="{43815F60-14D4-0949-A031-73BAB1A90EC5}"/>
              </a:ext>
            </a:extLst>
          </p:cNvPr>
          <p:cNvSpPr>
            <a:spLocks noChangeArrowheads="1"/>
          </p:cNvSpPr>
          <p:nvPr/>
        </p:nvSpPr>
        <p:spPr bwMode="auto">
          <a:xfrm rot="5400000">
            <a:off x="3387725" y="4585939"/>
            <a:ext cx="1601787" cy="427037"/>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81" name="TextBox 53">
            <a:extLst>
              <a:ext uri="{FF2B5EF4-FFF2-40B4-BE49-F238E27FC236}">
                <a16:creationId xmlns:a16="http://schemas.microsoft.com/office/drawing/2014/main" id="{B7479D42-E3DB-314B-8968-2E1E3130B72A}"/>
              </a:ext>
            </a:extLst>
          </p:cNvPr>
          <p:cNvSpPr txBox="1">
            <a:spLocks noChangeArrowheads="1"/>
          </p:cNvSpPr>
          <p:nvPr/>
        </p:nvSpPr>
        <p:spPr bwMode="auto">
          <a:xfrm rot="5400000">
            <a:off x="3427412" y="4616101"/>
            <a:ext cx="1530350" cy="368300"/>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dirty="0">
                <a:solidFill>
                  <a:srgbClr val="FFFFFF"/>
                </a:solidFill>
                <a:latin typeface="Arial" panose="020B0604020202020204" pitchFamily="34" charset="0"/>
              </a:rPr>
              <a:t>L2 CACHE 3</a:t>
            </a:r>
          </a:p>
        </p:txBody>
      </p:sp>
      <p:sp>
        <p:nvSpPr>
          <p:cNvPr id="96282" name="Rectangle 54">
            <a:extLst>
              <a:ext uri="{FF2B5EF4-FFF2-40B4-BE49-F238E27FC236}">
                <a16:creationId xmlns:a16="http://schemas.microsoft.com/office/drawing/2014/main" id="{F69D0E61-03FB-FC45-A208-CF5E9DC9900D}"/>
              </a:ext>
            </a:extLst>
          </p:cNvPr>
          <p:cNvSpPr>
            <a:spLocks noChangeArrowheads="1"/>
          </p:cNvSpPr>
          <p:nvPr/>
        </p:nvSpPr>
        <p:spPr bwMode="auto">
          <a:xfrm rot="5400000">
            <a:off x="4829174" y="3080989"/>
            <a:ext cx="354013" cy="1258888"/>
          </a:xfrm>
          <a:prstGeom prst="rect">
            <a:avLst/>
          </a:prstGeom>
          <a:noFill/>
          <a:ln w="381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cxnSp>
        <p:nvCxnSpPr>
          <p:cNvPr id="96283" name="Straight Arrow Connector 48">
            <a:extLst>
              <a:ext uri="{FF2B5EF4-FFF2-40B4-BE49-F238E27FC236}">
                <a16:creationId xmlns:a16="http://schemas.microsoft.com/office/drawing/2014/main" id="{069ADEEB-1E64-4F49-A3AA-57FD58B5FCAE}"/>
              </a:ext>
            </a:extLst>
          </p:cNvPr>
          <p:cNvCxnSpPr>
            <a:cxnSpLocks noChangeShapeType="1"/>
          </p:cNvCxnSpPr>
          <p:nvPr/>
        </p:nvCxnSpPr>
        <p:spPr bwMode="auto">
          <a:xfrm>
            <a:off x="6248400" y="3533426"/>
            <a:ext cx="420687" cy="1588"/>
          </a:xfrm>
          <a:prstGeom prst="straightConnector1">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96284" name="Rectangle 56">
            <a:extLst>
              <a:ext uri="{FF2B5EF4-FFF2-40B4-BE49-F238E27FC236}">
                <a16:creationId xmlns:a16="http://schemas.microsoft.com/office/drawing/2014/main" id="{051F947B-CBA8-D04F-9898-A2E00614E8C7}"/>
              </a:ext>
            </a:extLst>
          </p:cNvPr>
          <p:cNvSpPr>
            <a:spLocks noChangeArrowheads="1"/>
          </p:cNvSpPr>
          <p:nvPr/>
        </p:nvSpPr>
        <p:spPr bwMode="auto">
          <a:xfrm rot="5400000">
            <a:off x="4927600" y="3330226"/>
            <a:ext cx="4756150" cy="66675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6285" name="TextBox 57">
            <a:extLst>
              <a:ext uri="{FF2B5EF4-FFF2-40B4-BE49-F238E27FC236}">
                <a16:creationId xmlns:a16="http://schemas.microsoft.com/office/drawing/2014/main" id="{6FF85335-7D8C-4742-BEC6-C350247B493A}"/>
              </a:ext>
            </a:extLst>
          </p:cNvPr>
          <p:cNvSpPr txBox="1">
            <a:spLocks noChangeArrowheads="1"/>
          </p:cNvSpPr>
          <p:nvPr/>
        </p:nvSpPr>
        <p:spPr bwMode="auto">
          <a:xfrm rot="5400000">
            <a:off x="6001543" y="3480245"/>
            <a:ext cx="2640013" cy="523875"/>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b="1">
                <a:solidFill>
                  <a:srgbClr val="FFFFFF"/>
                </a:solidFill>
                <a:latin typeface="Arial" panose="020B0604020202020204" pitchFamily="34" charset="0"/>
              </a:rPr>
              <a:t>DRAM BANKS</a:t>
            </a:r>
          </a:p>
        </p:txBody>
      </p:sp>
      <p:sp>
        <p:nvSpPr>
          <p:cNvPr id="96286" name="Rectangle 58">
            <a:extLst>
              <a:ext uri="{FF2B5EF4-FFF2-40B4-BE49-F238E27FC236}">
                <a16:creationId xmlns:a16="http://schemas.microsoft.com/office/drawing/2014/main" id="{290F65C4-9051-FB4F-BE74-C99907B2A60D}"/>
              </a:ext>
            </a:extLst>
          </p:cNvPr>
          <p:cNvSpPr>
            <a:spLocks noChangeArrowheads="1"/>
          </p:cNvSpPr>
          <p:nvPr/>
        </p:nvSpPr>
        <p:spPr bwMode="auto">
          <a:xfrm rot="5400000">
            <a:off x="6318249" y="3206402"/>
            <a:ext cx="320675" cy="65405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61" name="TextBox 60">
            <a:extLst>
              <a:ext uri="{FF2B5EF4-FFF2-40B4-BE49-F238E27FC236}">
                <a16:creationId xmlns:a16="http://schemas.microsoft.com/office/drawing/2014/main" id="{2F0F65C1-A2D3-004D-906F-F2702322D28D}"/>
              </a:ext>
            </a:extLst>
          </p:cNvPr>
          <p:cNvSpPr txBox="1"/>
          <p:nvPr/>
        </p:nvSpPr>
        <p:spPr>
          <a:xfrm>
            <a:off x="4343400" y="3488976"/>
            <a:ext cx="1417637" cy="365125"/>
          </a:xfrm>
          <a:prstGeom prst="rect">
            <a:avLst/>
          </a:prstGeom>
          <a:solidFill>
            <a:srgbClr val="C0C0C0">
              <a:alpha val="51000"/>
            </a:srgbClr>
          </a:solidFill>
        </p:spPr>
        <p:txBody>
          <a:bodyPr>
            <a:spAutoFit/>
          </a:bodyPr>
          <a:lstStyle/>
          <a:p>
            <a:pPr eaLnBrk="1" hangingPunct="1">
              <a:defRPr/>
            </a:pPr>
            <a:r>
              <a:rPr lang="en-US" sz="1250" b="1" dirty="0">
                <a:solidFill>
                  <a:srgbClr val="FFFFFF"/>
                </a:solidFill>
                <a:latin typeface="Arial" charset="0"/>
                <a:ea typeface=""/>
              </a:rPr>
              <a:t>DRAM MEMORY CONTROLLER</a:t>
            </a:r>
          </a:p>
        </p:txBody>
      </p:sp>
      <p:sp>
        <p:nvSpPr>
          <p:cNvPr id="2" name="TextBox 1">
            <a:extLst>
              <a:ext uri="{FF2B5EF4-FFF2-40B4-BE49-F238E27FC236}">
                <a16:creationId xmlns:a16="http://schemas.microsoft.com/office/drawing/2014/main" id="{AE61F4C3-97A6-2C44-ADE0-D1BDDBE71F02}"/>
              </a:ext>
            </a:extLst>
          </p:cNvPr>
          <p:cNvSpPr txBox="1"/>
          <p:nvPr/>
        </p:nvSpPr>
        <p:spPr>
          <a:xfrm>
            <a:off x="198474" y="6488668"/>
            <a:ext cx="2993127" cy="369332"/>
          </a:xfrm>
          <a:prstGeom prst="rect">
            <a:avLst/>
          </a:prstGeom>
          <a:noFill/>
        </p:spPr>
        <p:txBody>
          <a:bodyPr wrap="none" rtlCol="0">
            <a:spAutoFit/>
          </a:bodyPr>
          <a:lstStyle/>
          <a:p>
            <a:r>
              <a:rPr lang="en-US" dirty="0">
                <a:solidFill>
                  <a:srgbClr val="0432FF"/>
                </a:solidFill>
              </a:rPr>
              <a:t>AMD Barcelona, circa 2006</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763000" cy="1066800"/>
          </a:xfrm>
        </p:spPr>
        <p:txBody>
          <a:bodyPr/>
          <a:lstStyle/>
          <a:p>
            <a:r>
              <a:rPr lang="en-US" altLang="en-US" dirty="0">
                <a:ea typeface="ＭＳ Ｐゴシック" panose="020B0600070205080204" pitchFamily="34" charset="-128"/>
              </a:rPr>
              <a:t>Memory Hierarchy in a Modern System (II)</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96CF17A-3047-224B-BC46-DD606BE3B229}" type="slidenum">
              <a:rPr kumimoji="0" lang="en-US" altLang="en-US" sz="1600" b="0" i="0" u="none" strike="noStrike" kern="1200" cap="none" spc="0" normalizeH="0" baseline="0" noProof="0" smtClean="0">
                <a:ln>
                  <a:noFill/>
                </a:ln>
                <a:solidFill>
                  <a:srgbClr val="000000"/>
                </a:solidFill>
                <a:effectLst/>
                <a:uLnTx/>
                <a:uFillTx/>
                <a:latin typeface="Garamond"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endParaRPr>
          </a:p>
        </p:txBody>
      </p:sp>
      <p:pic>
        <p:nvPicPr>
          <p:cNvPr id="5" name="Picture 4"/>
          <p:cNvPicPr>
            <a:picLocks noChangeAspect="1"/>
          </p:cNvPicPr>
          <p:nvPr/>
        </p:nvPicPr>
        <p:blipFill>
          <a:blip r:embed="rId2"/>
          <a:stretch>
            <a:fillRect/>
          </a:stretch>
        </p:blipFill>
        <p:spPr>
          <a:xfrm>
            <a:off x="57981" y="1399401"/>
            <a:ext cx="6722200" cy="4433327"/>
          </a:xfrm>
          <a:prstGeom prst="rect">
            <a:avLst/>
          </a:prstGeom>
        </p:spPr>
      </p:pic>
      <p:sp>
        <p:nvSpPr>
          <p:cNvPr id="6" name="Rectangle 5"/>
          <p:cNvSpPr/>
          <p:nvPr/>
        </p:nvSpPr>
        <p:spPr>
          <a:xfrm>
            <a:off x="192974" y="6520190"/>
            <a:ext cx="8493826" cy="26161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effectLst/>
                <a:uLnTx/>
                <a:uFillTx/>
                <a:latin typeface="Arial" panose="020B0604020202020204" pitchFamily="34" charset="0"/>
                <a:ea typeface="ＭＳ Ｐゴシック" panose="020B0600070205080204" pitchFamily="34" charset="-128"/>
                <a:cs typeface="+mn-cs"/>
              </a:rPr>
              <a:t>https://wccftech.com/amd-ryzen-5000-zen-3-vermeer-undressed-high-res-die-shots-close-ups-pictured-detailed/</a:t>
            </a:r>
          </a:p>
        </p:txBody>
      </p:sp>
      <p:sp>
        <p:nvSpPr>
          <p:cNvPr id="7" name="TextBox 6"/>
          <p:cNvSpPr txBox="1"/>
          <p:nvPr/>
        </p:nvSpPr>
        <p:spPr>
          <a:xfrm>
            <a:off x="1873702" y="6047457"/>
            <a:ext cx="325823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432FF"/>
                </a:solidFill>
                <a:effectLst/>
                <a:uLnTx/>
                <a:uFillTx/>
                <a:latin typeface="Arial" panose="020B0604020202020204" pitchFamily="34" charset="0"/>
                <a:ea typeface="ＭＳ Ｐゴシック" panose="020B0600070205080204" pitchFamily="34" charset="-128"/>
                <a:cs typeface="+mn-cs"/>
              </a:rPr>
              <a:t>AMD Ryzen 5000, 2020</a:t>
            </a:r>
          </a:p>
        </p:txBody>
      </p:sp>
      <p:sp>
        <p:nvSpPr>
          <p:cNvPr id="9" name="TextBox 8"/>
          <p:cNvSpPr txBox="1"/>
          <p:nvPr/>
        </p:nvSpPr>
        <p:spPr>
          <a:xfrm>
            <a:off x="7086600" y="1432441"/>
            <a:ext cx="2499952" cy="446276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ＭＳ Ｐゴシック" panose="020B0600070205080204" pitchFamily="34" charset="-128"/>
                <a:cs typeface="+mn-cs"/>
              </a:rPr>
              <a:t>Core Count: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8</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cores/16 threads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ＭＳ Ｐゴシック" panose="020B0600070205080204" pitchFamily="34" charset="-128"/>
                <a:cs typeface="+mn-cs"/>
              </a:rPr>
              <a:t>L1 Caches: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32 KB</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per core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ＭＳ Ｐゴシック" panose="020B0600070205080204" pitchFamily="34" charset="-128"/>
                <a:cs typeface="+mn-cs"/>
              </a:rPr>
              <a:t>L2 Caches: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512 KB per core</a:t>
            </a: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err="1">
                <a:ln>
                  <a:noFill/>
                </a:ln>
                <a:solidFill>
                  <a:srgbClr val="0070C0"/>
                </a:solidFill>
                <a:effectLst/>
                <a:uLnTx/>
                <a:uFillTx/>
                <a:latin typeface="Arial" panose="020B0604020202020204" pitchFamily="34" charset="0"/>
                <a:ea typeface="ＭＳ Ｐゴシック" panose="020B0600070205080204" pitchFamily="34" charset="-128"/>
                <a:cs typeface="+mn-cs"/>
              </a:rPr>
              <a:t>L3</a:t>
            </a: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ＭＳ Ｐゴシック" panose="020B0600070205080204" pitchFamily="34" charset="-128"/>
                <a:cs typeface="+mn-cs"/>
              </a:rPr>
              <a:t> Cache: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32 MB shared</a:t>
            </a: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Rectangle 39">
            <a:extLst>
              <a:ext uri="{FF2B5EF4-FFF2-40B4-BE49-F238E27FC236}">
                <a16:creationId xmlns:a16="http://schemas.microsoft.com/office/drawing/2014/main" id="{E43B13E5-F680-354D-8F66-3B88FCFE528C}"/>
              </a:ext>
            </a:extLst>
          </p:cNvPr>
          <p:cNvSpPr>
            <a:spLocks noChangeArrowheads="1"/>
          </p:cNvSpPr>
          <p:nvPr/>
        </p:nvSpPr>
        <p:spPr bwMode="auto">
          <a:xfrm rot="5400000">
            <a:off x="1543157" y="1924098"/>
            <a:ext cx="3711767" cy="4022321"/>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Tree>
    <p:extLst>
      <p:ext uri="{BB962C8B-B14F-4D97-AF65-F5344CB8AC3E}">
        <p14:creationId xmlns:p14="http://schemas.microsoft.com/office/powerpoint/2010/main" val="10034008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6A72A-7A5D-D742-AA80-43A4ED0F6C5B}"/>
              </a:ext>
            </a:extLst>
          </p:cNvPr>
          <p:cNvSpPr>
            <a:spLocks noGrp="1"/>
          </p:cNvSpPr>
          <p:nvPr>
            <p:ph type="title"/>
          </p:nvPr>
        </p:nvSpPr>
        <p:spPr>
          <a:xfrm>
            <a:off x="228600" y="152400"/>
            <a:ext cx="8991600" cy="1066800"/>
          </a:xfrm>
        </p:spPr>
        <p:txBody>
          <a:bodyPr/>
          <a:lstStyle/>
          <a:p>
            <a:r>
              <a:rPr lang="en-US" altLang="en-US" dirty="0">
                <a:ea typeface="ＭＳ Ｐゴシック" panose="020B0600070205080204" pitchFamily="34" charset="-128"/>
              </a:rPr>
              <a:t>Memory Hierarchy in a Modern System (III)</a:t>
            </a:r>
            <a:endParaRPr lang="en-US" dirty="0"/>
          </a:p>
        </p:txBody>
      </p:sp>
      <p:sp>
        <p:nvSpPr>
          <p:cNvPr id="4" name="Slide Number Placeholder 3">
            <a:extLst>
              <a:ext uri="{FF2B5EF4-FFF2-40B4-BE49-F238E27FC236}">
                <a16:creationId xmlns:a16="http://schemas.microsoft.com/office/drawing/2014/main" id="{9D6B463F-D9A5-F246-AEBF-B6E35DCE8C60}"/>
              </a:ext>
            </a:extLst>
          </p:cNvPr>
          <p:cNvSpPr>
            <a:spLocks noGrp="1"/>
          </p:cNvSpPr>
          <p:nvPr>
            <p:ph type="sldNum" sz="quarter" idx="11"/>
          </p:nvPr>
        </p:nvSpPr>
        <p:spPr/>
        <p:txBody>
          <a:bodyPr/>
          <a:lstStyle/>
          <a:p>
            <a:pPr>
              <a:defRPr/>
            </a:pPr>
            <a:fld id="{9CD3246B-4504-6A44-A3C6-3AD1B220008A}" type="slidenum">
              <a:rPr lang="en-US" altLang="en-US" smtClean="0"/>
              <a:pPr>
                <a:defRPr/>
              </a:pPr>
              <a:t>19</a:t>
            </a:fld>
            <a:endParaRPr lang="en-US" altLang="en-US"/>
          </a:p>
        </p:txBody>
      </p:sp>
      <p:pic>
        <p:nvPicPr>
          <p:cNvPr id="5" name="Picture 2" descr="Logical structure of the IBM POWER10 processor">
            <a:extLst>
              <a:ext uri="{FF2B5EF4-FFF2-40B4-BE49-F238E27FC236}">
                <a16:creationId xmlns:a16="http://schemas.microsoft.com/office/drawing/2014/main" id="{6ADD481E-19DE-9A41-BC9C-3EE0A79F12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990600"/>
            <a:ext cx="5679107" cy="54712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55642F6-54C9-E34D-85DE-D198E153BB67}"/>
              </a:ext>
            </a:extLst>
          </p:cNvPr>
          <p:cNvSpPr txBox="1"/>
          <p:nvPr/>
        </p:nvSpPr>
        <p:spPr>
          <a:xfrm>
            <a:off x="738673" y="6498451"/>
            <a:ext cx="7243843" cy="276999"/>
          </a:xfrm>
          <a:prstGeom prst="rect">
            <a:avLst/>
          </a:prstGeom>
          <a:noFill/>
        </p:spPr>
        <p:txBody>
          <a:bodyPr wrap="none" rtlCol="0">
            <a:spAutoFit/>
          </a:bodyPr>
          <a:lstStyle/>
          <a:p>
            <a:r>
              <a:rPr lang="en-US" sz="1200" dirty="0"/>
              <a:t>https://</a:t>
            </a:r>
            <a:r>
              <a:rPr lang="en-US" sz="1200" dirty="0" err="1"/>
              <a:t>www.it-techblog.de</a:t>
            </a:r>
            <a:r>
              <a:rPr lang="en-US" sz="1200" dirty="0"/>
              <a:t>/ibm-power10-prozessor-mehr-speicher-mehr-tempo-mehr-sicherheit/09/2020/</a:t>
            </a:r>
          </a:p>
        </p:txBody>
      </p:sp>
      <p:sp>
        <p:nvSpPr>
          <p:cNvPr id="7" name="TextBox 6">
            <a:extLst>
              <a:ext uri="{FF2B5EF4-FFF2-40B4-BE49-F238E27FC236}">
                <a16:creationId xmlns:a16="http://schemas.microsoft.com/office/drawing/2014/main" id="{DA78BC4D-1A2D-3F42-9A30-04C1B7FB7A52}"/>
              </a:ext>
            </a:extLst>
          </p:cNvPr>
          <p:cNvSpPr txBox="1"/>
          <p:nvPr/>
        </p:nvSpPr>
        <p:spPr>
          <a:xfrm>
            <a:off x="7304291" y="1065539"/>
            <a:ext cx="1915909" cy="646331"/>
          </a:xfrm>
          <a:prstGeom prst="rect">
            <a:avLst/>
          </a:prstGeom>
          <a:noFill/>
        </p:spPr>
        <p:txBody>
          <a:bodyPr wrap="none" rtlCol="0">
            <a:spAutoFit/>
          </a:bodyPr>
          <a:lstStyle/>
          <a:p>
            <a:r>
              <a:rPr lang="en-US" dirty="0">
                <a:solidFill>
                  <a:srgbClr val="0432FF"/>
                </a:solidFill>
              </a:rPr>
              <a:t>IBM POWER10,</a:t>
            </a:r>
          </a:p>
          <a:p>
            <a:r>
              <a:rPr lang="en-US" dirty="0">
                <a:solidFill>
                  <a:srgbClr val="0432FF"/>
                </a:solidFill>
              </a:rPr>
              <a:t>2020</a:t>
            </a:r>
          </a:p>
        </p:txBody>
      </p:sp>
      <p:sp>
        <p:nvSpPr>
          <p:cNvPr id="8" name="Rectangle 39">
            <a:extLst>
              <a:ext uri="{FF2B5EF4-FFF2-40B4-BE49-F238E27FC236}">
                <a16:creationId xmlns:a16="http://schemas.microsoft.com/office/drawing/2014/main" id="{354C51D2-A9DE-7B4B-8BF6-162BD3236CB0}"/>
              </a:ext>
            </a:extLst>
          </p:cNvPr>
          <p:cNvSpPr>
            <a:spLocks noChangeArrowheads="1"/>
          </p:cNvSpPr>
          <p:nvPr/>
        </p:nvSpPr>
        <p:spPr bwMode="auto">
          <a:xfrm rot="5400000">
            <a:off x="3581398" y="2895601"/>
            <a:ext cx="1371602" cy="365760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9" name="Rectangle 39">
            <a:extLst>
              <a:ext uri="{FF2B5EF4-FFF2-40B4-BE49-F238E27FC236}">
                <a16:creationId xmlns:a16="http://schemas.microsoft.com/office/drawing/2014/main" id="{9F37681C-67D9-8347-A15E-41A123016402}"/>
              </a:ext>
            </a:extLst>
          </p:cNvPr>
          <p:cNvSpPr>
            <a:spLocks noChangeArrowheads="1"/>
          </p:cNvSpPr>
          <p:nvPr/>
        </p:nvSpPr>
        <p:spPr bwMode="auto">
          <a:xfrm rot="5400000">
            <a:off x="3601552" y="568871"/>
            <a:ext cx="1371602" cy="365760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 name="TextBox 9">
            <a:extLst>
              <a:ext uri="{FF2B5EF4-FFF2-40B4-BE49-F238E27FC236}">
                <a16:creationId xmlns:a16="http://schemas.microsoft.com/office/drawing/2014/main" id="{11DAAC93-B839-BF47-AAD1-4D6898B3644F}"/>
              </a:ext>
            </a:extLst>
          </p:cNvPr>
          <p:cNvSpPr txBox="1"/>
          <p:nvPr/>
        </p:nvSpPr>
        <p:spPr>
          <a:xfrm>
            <a:off x="7239000" y="2166640"/>
            <a:ext cx="2499952" cy="378565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ＭＳ Ｐゴシック" panose="020B0600070205080204" pitchFamily="34" charset="-128"/>
                <a:cs typeface="+mn-cs"/>
              </a:rPr>
              <a:t>Cores: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15-16</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cores,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8 threads/core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ＭＳ Ｐゴシック" panose="020B0600070205080204" pitchFamily="34" charset="-128"/>
                <a:cs typeface="+mn-cs"/>
              </a:rPr>
              <a:t>L2 Caches: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 MB per core</a:t>
            </a: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err="1">
                <a:ln>
                  <a:noFill/>
                </a:ln>
                <a:solidFill>
                  <a:srgbClr val="0070C0"/>
                </a:solidFill>
                <a:effectLst/>
                <a:uLnTx/>
                <a:uFillTx/>
                <a:latin typeface="Arial" panose="020B0604020202020204" pitchFamily="34" charset="0"/>
                <a:ea typeface="ＭＳ Ｐゴシック" panose="020B0600070205080204" pitchFamily="34" charset="-128"/>
                <a:cs typeface="+mn-cs"/>
              </a:rPr>
              <a:t>L3</a:t>
            </a: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ＭＳ Ｐゴシック" panose="020B0600070205080204" pitchFamily="34" charset="-128"/>
                <a:cs typeface="+mn-cs"/>
              </a:rPr>
              <a:t> Cache:</a:t>
            </a:r>
          </a:p>
          <a:p>
            <a:pPr marL="0" marR="0" lvl="0" indent="0" algn="l" defTabSz="914400" rtl="0" eaLnBrk="1" fontAlgn="base" latinLnBrk="0" hangingPunct="1">
              <a:lnSpc>
                <a:spcPct val="100000"/>
              </a:lnSpc>
              <a:spcBef>
                <a:spcPct val="0"/>
              </a:spcBef>
              <a:spcAft>
                <a:spcPct val="0"/>
              </a:spcAft>
              <a:buClrTx/>
              <a:buSzTx/>
              <a:buFontTx/>
              <a:buNone/>
              <a:tabLst/>
              <a:defRPr/>
            </a:pPr>
            <a:r>
              <a:rPr lang="en-US" sz="2000" dirty="0">
                <a:solidFill>
                  <a:srgbClr val="000000"/>
                </a:solidFill>
              </a:rPr>
              <a:t>120</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MB shared</a:t>
            </a: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3684665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991600" cy="1066800"/>
          </a:xfrm>
        </p:spPr>
        <p:txBody>
          <a:bodyPr/>
          <a:lstStyle/>
          <a:p>
            <a:r>
              <a:rPr lang="en-US" altLang="en-US" dirty="0">
                <a:ea typeface="ＭＳ Ｐゴシック" panose="020B0600070205080204" pitchFamily="34" charset="-128"/>
              </a:rPr>
              <a:t>Memory Hierarchy in a Modern System (IV)</a:t>
            </a:r>
            <a:endParaRPr lang="en-US" dirty="0"/>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96CF17A-3047-224B-BC46-DD606BE3B229}" type="slidenum">
              <a:rPr kumimoji="0" lang="en-US" altLang="en-US" sz="1600" b="0" i="0" u="none" strike="noStrike" kern="1200" cap="none" spc="0" normalizeH="0" baseline="0" noProof="0" smtClean="0">
                <a:ln>
                  <a:noFill/>
                </a:ln>
                <a:solidFill>
                  <a:srgbClr val="000000"/>
                </a:solidFill>
                <a:effectLst/>
                <a:uLnTx/>
                <a:uFillTx/>
                <a:latin typeface="Garamond"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endParaRPr>
          </a:p>
        </p:txBody>
      </p:sp>
      <p:sp>
        <p:nvSpPr>
          <p:cNvPr id="10" name="Rectangle 9"/>
          <p:cNvSpPr/>
          <p:nvPr/>
        </p:nvSpPr>
        <p:spPr>
          <a:xfrm>
            <a:off x="305504" y="6498451"/>
            <a:ext cx="8456792" cy="27699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CC9900"/>
                </a:solidFill>
                <a:effectLst/>
                <a:uLnTx/>
                <a:uFillTx/>
                <a:latin typeface="Arial" panose="020B0604020202020204" pitchFamily="34" charset="0"/>
                <a:ea typeface="ＭＳ Ｐゴシック" panose="020B0600070205080204" pitchFamily="34" charset="-128"/>
                <a:cs typeface="+mn-cs"/>
              </a:rPr>
              <a:t>https://www.tomshardware.com/news/infrared-photographer-photos-nvidia-ga102-ampere-silicon</a:t>
            </a:r>
          </a:p>
        </p:txBody>
      </p:sp>
      <p:sp>
        <p:nvSpPr>
          <p:cNvPr id="11" name="TextBox 10"/>
          <p:cNvSpPr txBox="1"/>
          <p:nvPr/>
        </p:nvSpPr>
        <p:spPr>
          <a:xfrm>
            <a:off x="1365500" y="5991195"/>
            <a:ext cx="2895600" cy="40011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0432FF"/>
                </a:solidFill>
                <a:effectLst/>
                <a:uLnTx/>
                <a:uFillTx/>
                <a:latin typeface="Arial" panose="020B0604020202020204" pitchFamily="34" charset="0"/>
                <a:ea typeface="ＭＳ Ｐゴシック" panose="020B0600070205080204" pitchFamily="34" charset="-128"/>
                <a:cs typeface="+mn-cs"/>
              </a:rPr>
              <a:t>Nvidia</a:t>
            </a:r>
            <a:r>
              <a:rPr kumimoji="0" lang="en-US" sz="2000" b="0" i="0" u="none" strike="noStrike" kern="1200" cap="none" spc="0" normalizeH="0" baseline="0" noProof="0" dirty="0">
                <a:ln>
                  <a:noFill/>
                </a:ln>
                <a:solidFill>
                  <a:srgbClr val="0432FF"/>
                </a:solidFill>
                <a:effectLst/>
                <a:uLnTx/>
                <a:uFillTx/>
                <a:latin typeface="Arial" panose="020B0604020202020204" pitchFamily="34" charset="0"/>
                <a:ea typeface="ＭＳ Ｐゴシック" panose="020B0600070205080204" pitchFamily="34" charset="-128"/>
                <a:cs typeface="+mn-cs"/>
              </a:rPr>
              <a:t> Ampere, 2020</a:t>
            </a:r>
          </a:p>
        </p:txBody>
      </p:sp>
      <p:sp>
        <p:nvSpPr>
          <p:cNvPr id="3" name="TextBox 2"/>
          <p:cNvSpPr txBox="1"/>
          <p:nvPr/>
        </p:nvSpPr>
        <p:spPr>
          <a:xfrm>
            <a:off x="5486380" y="1405760"/>
            <a:ext cx="3504496" cy="470898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ＭＳ Ｐゴシック" panose="020B0600070205080204" pitchFamily="34" charset="-128"/>
                <a:cs typeface="+mn-cs"/>
              </a:rPr>
              <a:t>Cores: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108</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Streaming Multiprocessors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ＭＳ Ｐゴシック" panose="020B0600070205080204" pitchFamily="34" charset="-128"/>
                <a:cs typeface="+mn-cs"/>
              </a:rPr>
              <a:t>L1 Cache or Scratchpad: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192KB</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per SM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Can be used as L1 Cache and/or Scratchpad</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err="1">
                <a:ln>
                  <a:noFill/>
                </a:ln>
                <a:solidFill>
                  <a:srgbClr val="0070C0"/>
                </a:solidFill>
                <a:effectLst/>
                <a:uLnTx/>
                <a:uFillTx/>
                <a:latin typeface="Arial" panose="020B0604020202020204" pitchFamily="34" charset="0"/>
                <a:ea typeface="ＭＳ Ｐゴシック" panose="020B0600070205080204" pitchFamily="34" charset="-128"/>
                <a:cs typeface="+mn-cs"/>
              </a:rPr>
              <a:t>L2</a:t>
            </a:r>
            <a:r>
              <a:rPr kumimoji="0" lang="en-US" sz="2400" b="0" i="0" u="none" strike="noStrike" kern="1200" cap="none" spc="0" normalizeH="0" baseline="0" noProof="0" dirty="0">
                <a:ln>
                  <a:noFill/>
                </a:ln>
                <a:solidFill>
                  <a:srgbClr val="0070C0"/>
                </a:solidFill>
                <a:effectLst/>
                <a:uLnTx/>
                <a:uFillTx/>
                <a:latin typeface="Arial" panose="020B0604020202020204" pitchFamily="34" charset="0"/>
                <a:ea typeface="ＭＳ Ｐゴシック" panose="020B0600070205080204" pitchFamily="34" charset="-128"/>
                <a:cs typeface="+mn-cs"/>
              </a:rPr>
              <a:t> Cache: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40 MB</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shared</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pic>
        <p:nvPicPr>
          <p:cNvPr id="9" name="Picture 1">
            <a:extLst>
              <a:ext uri="{FF2B5EF4-FFF2-40B4-BE49-F238E27FC236}">
                <a16:creationId xmlns:a16="http://schemas.microsoft.com/office/drawing/2014/main" id="{C632B501-CAE1-4F87-99B9-2BCC013E3B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4305" y="2091795"/>
            <a:ext cx="5097990" cy="2895600"/>
          </a:xfrm>
          <a:prstGeom prst="rect">
            <a:avLst/>
          </a:prstGeom>
        </p:spPr>
      </p:pic>
    </p:spTree>
    <p:extLst>
      <p:ext uri="{BB962C8B-B14F-4D97-AF65-F5344CB8AC3E}">
        <p14:creationId xmlns:p14="http://schemas.microsoft.com/office/powerpoint/2010/main" val="425318563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A9E42E03-73BD-374D-B6FC-4192F226417E}"/>
              </a:ext>
            </a:extLst>
          </p:cNvPr>
          <p:cNvSpPr>
            <a:spLocks noGrp="1" noChangeArrowheads="1"/>
          </p:cNvSpPr>
          <p:nvPr>
            <p:ph type="title"/>
          </p:nvPr>
        </p:nvSpPr>
        <p:spPr/>
        <p:txBody>
          <a:bodyPr/>
          <a:lstStyle/>
          <a:p>
            <a:r>
              <a:rPr lang="en-US" altLang="en-US">
                <a:ea typeface="ＭＳ Ｐゴシック" panose="020B0600070205080204" pitchFamily="34" charset="-128"/>
              </a:rPr>
              <a:t>Ideal Memory</a:t>
            </a:r>
          </a:p>
        </p:txBody>
      </p:sp>
      <p:sp>
        <p:nvSpPr>
          <p:cNvPr id="97282" name="Content Placeholder 2">
            <a:extLst>
              <a:ext uri="{FF2B5EF4-FFF2-40B4-BE49-F238E27FC236}">
                <a16:creationId xmlns:a16="http://schemas.microsoft.com/office/drawing/2014/main" id="{168BFA08-2A10-094E-B326-B6B174880685}"/>
              </a:ext>
            </a:extLst>
          </p:cNvPr>
          <p:cNvSpPr>
            <a:spLocks noGrp="1" noChangeArrowheads="1"/>
          </p:cNvSpPr>
          <p:nvPr>
            <p:ph idx="1"/>
          </p:nvPr>
        </p:nvSpPr>
        <p:spPr>
          <a:xfrm>
            <a:off x="228600" y="996950"/>
            <a:ext cx="8610600" cy="5194300"/>
          </a:xfrm>
        </p:spPr>
        <p:txBody>
          <a:bodyPr/>
          <a:lstStyle/>
          <a:p>
            <a:r>
              <a:rPr lang="en-US" altLang="zh-CN" b="1" dirty="0">
                <a:ea typeface="ＭＳ Ｐゴシック" panose="020B0600070205080204" pitchFamily="34" charset="-128"/>
              </a:rPr>
              <a:t>Properties of ideal memory</a:t>
            </a:r>
            <a:r>
              <a:rPr lang="en-US" altLang="zh-CN" dirty="0">
                <a:ea typeface="ＭＳ Ｐゴシック" panose="020B0600070205080204" pitchFamily="34" charset="-128"/>
              </a:rPr>
              <a:t>:</a:t>
            </a:r>
            <a:endParaRPr lang="en-US" altLang="en-US" dirty="0">
              <a:ea typeface="ＭＳ Ｐゴシック" panose="020B0600070205080204" pitchFamily="34" charset="-128"/>
            </a:endParaRPr>
          </a:p>
          <a:p>
            <a:pPr lvl="1"/>
            <a:r>
              <a:rPr lang="en-US" altLang="en-US" dirty="0">
                <a:solidFill>
                  <a:srgbClr val="0432FF"/>
                </a:solidFill>
                <a:ea typeface="ＭＳ Ｐゴシック" panose="020B0600070205080204" pitchFamily="34" charset="-128"/>
              </a:rPr>
              <a:t>Zero access time</a:t>
            </a:r>
            <a:r>
              <a:rPr lang="en-US" altLang="en-US" dirty="0">
                <a:ea typeface="ＭＳ Ｐゴシック" panose="020B0600070205080204" pitchFamily="34" charset="-128"/>
              </a:rPr>
              <a:t> (latency)</a:t>
            </a:r>
          </a:p>
          <a:p>
            <a:pPr lvl="1"/>
            <a:r>
              <a:rPr lang="en-US" altLang="en-US" dirty="0">
                <a:solidFill>
                  <a:srgbClr val="0432FF"/>
                </a:solidFill>
                <a:ea typeface="ＭＳ Ｐゴシック" panose="020B0600070205080204" pitchFamily="34" charset="-128"/>
              </a:rPr>
              <a:t>Infinite capacity</a:t>
            </a:r>
          </a:p>
          <a:p>
            <a:pPr lvl="1"/>
            <a:r>
              <a:rPr lang="en-US" altLang="en-US" dirty="0">
                <a:solidFill>
                  <a:srgbClr val="0432FF"/>
                </a:solidFill>
                <a:ea typeface="ＭＳ Ｐゴシック" panose="020B0600070205080204" pitchFamily="34" charset="-128"/>
              </a:rPr>
              <a:t>Infinite bandwidth </a:t>
            </a:r>
            <a:r>
              <a:rPr lang="en-US" altLang="en-US" dirty="0">
                <a:ea typeface="ＭＳ Ｐゴシック" panose="020B0600070205080204" pitchFamily="34" charset="-128"/>
              </a:rPr>
              <a:t>(to support multiple accesses in parallel)</a:t>
            </a:r>
          </a:p>
          <a:p>
            <a:pPr lvl="1"/>
            <a:r>
              <a:rPr lang="en-US" altLang="en-US" dirty="0">
                <a:solidFill>
                  <a:srgbClr val="0432FF"/>
                </a:solidFill>
                <a:ea typeface="ＭＳ Ｐゴシック" panose="020B0600070205080204" pitchFamily="34" charset="-128"/>
              </a:rPr>
              <a:t>Zero cost</a:t>
            </a:r>
          </a:p>
          <a:p>
            <a:pPr lvl="1"/>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97283" name="Slide Number Placeholder 3">
            <a:extLst>
              <a:ext uri="{FF2B5EF4-FFF2-40B4-BE49-F238E27FC236}">
                <a16:creationId xmlns:a16="http://schemas.microsoft.com/office/drawing/2014/main" id="{7CDA82C8-E1F3-0B49-BAB5-D99D22D0BA0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DBAB8B63-BF0A-694F-9622-BE7122E7CFBA}" type="slidenum">
              <a:rPr lang="en-US" altLang="en-US" sz="1600" smtClean="0">
                <a:solidFill>
                  <a:srgbClr val="000000"/>
                </a:solidFill>
                <a:latin typeface="Garamond" panose="02020404030301010803" pitchFamily="18" charset="0"/>
              </a:rPr>
              <a:pPr eaLnBrk="1" hangingPunct="1">
                <a:spcBef>
                  <a:spcPct val="0"/>
                </a:spcBef>
                <a:buClrTx/>
                <a:buSzTx/>
                <a:buFontTx/>
                <a:buNone/>
              </a:pPr>
              <a:t>21</a:t>
            </a:fld>
            <a:endParaRPr lang="en-US" altLang="en-US" sz="1600">
              <a:solidFill>
                <a:srgbClr val="000000"/>
              </a:solidFill>
              <a:latin typeface="Garamond" panose="02020404030301010803" pitchFamily="18"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0D76DA7D-1092-1D4C-8F14-28B27A682585}"/>
              </a:ext>
            </a:extLst>
          </p:cNvPr>
          <p:cNvSpPr>
            <a:spLocks noGrp="1" noChangeArrowheads="1"/>
          </p:cNvSpPr>
          <p:nvPr>
            <p:ph type="title"/>
          </p:nvPr>
        </p:nvSpPr>
        <p:spPr/>
        <p:txBody>
          <a:bodyPr/>
          <a:lstStyle/>
          <a:p>
            <a:r>
              <a:rPr lang="en-US" altLang="en-US" dirty="0">
                <a:ea typeface="ＭＳ Ｐゴシック" panose="020B0600070205080204" pitchFamily="34" charset="-128"/>
              </a:rPr>
              <a:t>The Problem of Ideal Memory</a:t>
            </a:r>
          </a:p>
        </p:txBody>
      </p:sp>
      <p:sp>
        <p:nvSpPr>
          <p:cNvPr id="3" name="Content Placeholder 2">
            <a:extLst>
              <a:ext uri="{FF2B5EF4-FFF2-40B4-BE49-F238E27FC236}">
                <a16:creationId xmlns:a16="http://schemas.microsoft.com/office/drawing/2014/main" id="{58FEF238-4B37-544D-BC1E-7772F571961A}"/>
              </a:ext>
            </a:extLst>
          </p:cNvPr>
          <p:cNvSpPr>
            <a:spLocks noGrp="1" noChangeArrowheads="1"/>
          </p:cNvSpPr>
          <p:nvPr>
            <p:ph idx="1"/>
          </p:nvPr>
        </p:nvSpPr>
        <p:spPr>
          <a:xfrm>
            <a:off x="228600" y="996950"/>
            <a:ext cx="8915400" cy="5194300"/>
          </a:xfrm>
        </p:spPr>
        <p:txBody>
          <a:bodyPr/>
          <a:lstStyle/>
          <a:p>
            <a:r>
              <a:rPr lang="en-US" altLang="en-US" dirty="0">
                <a:ea typeface="ＭＳ Ｐゴシック" panose="020B0600070205080204" pitchFamily="34" charset="-128"/>
              </a:rPr>
              <a:t>Ideal memory’s requirements oppose each other</a:t>
            </a:r>
          </a:p>
          <a:p>
            <a:pPr lvl="1"/>
            <a:endParaRPr lang="en-US" altLang="en-US" dirty="0">
              <a:ea typeface="ＭＳ Ｐゴシック" panose="020B0600070205080204" pitchFamily="34" charset="-128"/>
            </a:endParaRPr>
          </a:p>
          <a:p>
            <a:pPr lvl="1"/>
            <a:r>
              <a:rPr lang="en-US" altLang="en-US" dirty="0">
                <a:solidFill>
                  <a:srgbClr val="0432FF"/>
                </a:solidFill>
                <a:ea typeface="ＭＳ Ｐゴシック" panose="020B0600070205080204" pitchFamily="34" charset="-128"/>
              </a:rPr>
              <a:t>Bigger is slower</a:t>
            </a:r>
          </a:p>
          <a:p>
            <a:pPr lvl="2"/>
            <a:r>
              <a:rPr lang="en-US" altLang="en-US" dirty="0">
                <a:ea typeface="ＭＳ Ｐゴシック" panose="020B0600070205080204" pitchFamily="34" charset="-128"/>
              </a:rPr>
              <a:t>Bigger </a:t>
            </a:r>
            <a:r>
              <a:rPr lang="en-US" altLang="en-US" dirty="0">
                <a:ea typeface="ＭＳ Ｐゴシック" panose="020B0600070205080204" pitchFamily="34" charset="-128"/>
                <a:sym typeface="Wingdings" pitchFamily="2" charset="2"/>
              </a:rPr>
              <a:t> Takes longer to determine the location</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r>
              <a:rPr lang="en-US" altLang="en-US" dirty="0">
                <a:solidFill>
                  <a:srgbClr val="0432FF"/>
                </a:solidFill>
                <a:ea typeface="ＭＳ Ｐゴシック" panose="020B0600070205080204" pitchFamily="34" charset="-128"/>
              </a:rPr>
              <a:t>Faster is more expensive</a:t>
            </a:r>
          </a:p>
          <a:p>
            <a:pPr lvl="2"/>
            <a:r>
              <a:rPr lang="en-US" altLang="en-US" dirty="0">
                <a:ea typeface="ＭＳ Ｐゴシック" panose="020B0600070205080204" pitchFamily="34" charset="-128"/>
              </a:rPr>
              <a:t>Memory technology: SRAM vs. DRAM vs. SSD vs. Disk vs. Tape</a:t>
            </a:r>
          </a:p>
          <a:p>
            <a:pPr lvl="1"/>
            <a:endParaRPr lang="en-US" altLang="en-US" dirty="0">
              <a:ea typeface="ＭＳ Ｐゴシック" panose="020B0600070205080204" pitchFamily="34" charset="-128"/>
            </a:endParaRPr>
          </a:p>
          <a:p>
            <a:pPr lvl="1"/>
            <a:r>
              <a:rPr lang="en-US" altLang="en-US" dirty="0">
                <a:solidFill>
                  <a:srgbClr val="0432FF"/>
                </a:solidFill>
                <a:ea typeface="ＭＳ Ｐゴシック" panose="020B0600070205080204" pitchFamily="34" charset="-128"/>
              </a:rPr>
              <a:t>Higher bandwidth is more expensive</a:t>
            </a:r>
          </a:p>
          <a:p>
            <a:pPr lvl="2"/>
            <a:r>
              <a:rPr lang="en-US" altLang="en-US" dirty="0">
                <a:ea typeface="ＭＳ Ｐゴシック" panose="020B0600070205080204" pitchFamily="34" charset="-128"/>
              </a:rPr>
              <a:t>Need more banks, more ports, more channels, higher frequency or faster technology</a:t>
            </a:r>
          </a:p>
        </p:txBody>
      </p:sp>
      <p:sp>
        <p:nvSpPr>
          <p:cNvPr id="98307" name="Slide Number Placeholder 3">
            <a:extLst>
              <a:ext uri="{FF2B5EF4-FFF2-40B4-BE49-F238E27FC236}">
                <a16:creationId xmlns:a16="http://schemas.microsoft.com/office/drawing/2014/main" id="{1ABB07FA-7839-1E43-89C9-6E73DEDDE45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5E981795-3D2C-844A-8963-67C305BDA81D}" type="slidenum">
              <a:rPr lang="en-US" altLang="en-US" sz="1600" smtClean="0">
                <a:solidFill>
                  <a:srgbClr val="000000"/>
                </a:solidFill>
                <a:latin typeface="Garamond" panose="02020404030301010803" pitchFamily="18" charset="0"/>
              </a:rPr>
              <a:pPr eaLnBrk="1" hangingPunct="1">
                <a:spcBef>
                  <a:spcPct val="0"/>
                </a:spcBef>
                <a:buClrTx/>
                <a:buSzTx/>
                <a:buFontTx/>
                <a:buNone/>
              </a:pPr>
              <a:t>22</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E5A495FE-B8B1-EA4D-B5F4-9E1BDFE165DB}"/>
              </a:ext>
            </a:extLst>
          </p:cNvPr>
          <p:cNvSpPr>
            <a:spLocks noGrp="1" noChangeArrowheads="1"/>
          </p:cNvSpPr>
          <p:nvPr>
            <p:ph type="title"/>
          </p:nvPr>
        </p:nvSpPr>
        <p:spPr/>
        <p:txBody>
          <a:bodyPr/>
          <a:lstStyle/>
          <a:p>
            <a:r>
              <a:rPr lang="en-US" altLang="en-US" dirty="0">
                <a:ea typeface="ＭＳ Ｐゴシック" panose="020B0600070205080204" pitchFamily="34" charset="-128"/>
              </a:rPr>
              <a:t>The Problem of Ideal Memory</a:t>
            </a:r>
          </a:p>
        </p:txBody>
      </p:sp>
      <p:sp>
        <p:nvSpPr>
          <p:cNvPr id="3" name="Content Placeholder 2">
            <a:extLst>
              <a:ext uri="{FF2B5EF4-FFF2-40B4-BE49-F238E27FC236}">
                <a16:creationId xmlns:a16="http://schemas.microsoft.com/office/drawing/2014/main" id="{4712EF7D-602D-DE44-AA6B-112BF28F08B3}"/>
              </a:ext>
            </a:extLst>
          </p:cNvPr>
          <p:cNvSpPr>
            <a:spLocks noGrp="1" noChangeArrowheads="1"/>
          </p:cNvSpPr>
          <p:nvPr>
            <p:ph idx="1"/>
          </p:nvPr>
        </p:nvSpPr>
        <p:spPr>
          <a:xfrm>
            <a:off x="228600" y="901700"/>
            <a:ext cx="8915400" cy="5194300"/>
          </a:xfrm>
        </p:spPr>
        <p:txBody>
          <a:bodyPr/>
          <a:lstStyle/>
          <a:p>
            <a:r>
              <a:rPr lang="en-US" altLang="en-US" sz="2200" dirty="0">
                <a:solidFill>
                  <a:srgbClr val="0000FF"/>
                </a:solidFill>
                <a:ea typeface="ＭＳ Ｐゴシック" panose="020B0600070205080204" pitchFamily="34" charset="-128"/>
              </a:rPr>
              <a:t>Bigger is slower</a:t>
            </a:r>
          </a:p>
          <a:p>
            <a:pPr lvl="1"/>
            <a:r>
              <a:rPr lang="en-US" altLang="en-US" sz="1600" dirty="0">
                <a:ea typeface="ＭＳ Ｐゴシック" panose="020B0600070205080204" pitchFamily="34" charset="-128"/>
              </a:rPr>
              <a:t>SRAM, 512 Bytes, sub-</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SRAM,  </a:t>
            </a:r>
            <a:r>
              <a:rPr lang="en-US" altLang="en-US" sz="1600" dirty="0" err="1">
                <a:ea typeface="ＭＳ Ｐゴシック" panose="020B0600070205080204" pitchFamily="34" charset="-128"/>
              </a:rPr>
              <a:t>KByte~MByte</a:t>
            </a:r>
            <a:r>
              <a:rPr lang="en-US" altLang="en-US" sz="1600" dirty="0">
                <a:ea typeface="ＭＳ Ｐゴシック" panose="020B0600070205080204" pitchFamily="34" charset="-128"/>
              </a:rPr>
              <a:t>, ~</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DRAM, Gigabyte, ~50 </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PCM-DIMM (Intel Optane DC DIMM), Gigabyte, ~200 </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PCM-SSD (Intel Optane SSD), Gigabyte, ~10 </a:t>
            </a:r>
            <a:r>
              <a:rPr lang="en-US" sz="1600" dirty="0">
                <a:latin typeface="intel-clear"/>
              </a:rPr>
              <a:t>µs</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Flash memory, </a:t>
            </a:r>
            <a:r>
              <a:rPr lang="en-US" altLang="en-US" sz="1600" dirty="0" err="1">
                <a:ea typeface="ＭＳ Ｐゴシック" panose="020B0600070205080204" pitchFamily="34" charset="-128"/>
              </a:rPr>
              <a:t>Gigabyte~Terabyte</a:t>
            </a:r>
            <a:r>
              <a:rPr lang="en-US" altLang="en-US" sz="1600" dirty="0">
                <a:ea typeface="ＭＳ Ｐゴシック" panose="020B0600070205080204" pitchFamily="34" charset="-128"/>
              </a:rPr>
              <a:t>, ~100 </a:t>
            </a:r>
            <a:r>
              <a:rPr lang="en-US" sz="1600" dirty="0">
                <a:latin typeface="intel-clear"/>
              </a:rPr>
              <a:t>µs</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Hard Disk, Terabyte, ~10 </a:t>
            </a:r>
            <a:r>
              <a:rPr lang="en-US" altLang="en-US" sz="1600" dirty="0" err="1">
                <a:ea typeface="ＭＳ Ｐゴシック" panose="020B0600070205080204" pitchFamily="34" charset="-128"/>
              </a:rPr>
              <a:t>millisec</a:t>
            </a:r>
            <a:endParaRPr lang="en-US" altLang="en-US" sz="1600" dirty="0">
              <a:ea typeface="ＭＳ Ｐゴシック" panose="020B0600070205080204" pitchFamily="34" charset="-128"/>
            </a:endParaRPr>
          </a:p>
          <a:p>
            <a:r>
              <a:rPr lang="en-US" altLang="en-US" sz="2200" dirty="0">
                <a:solidFill>
                  <a:srgbClr val="0000FF"/>
                </a:solidFill>
                <a:ea typeface="ＭＳ Ｐゴシック" panose="020B0600070205080204" pitchFamily="34" charset="-128"/>
              </a:rPr>
              <a:t>Faster is more expensive (dollars and chip area)</a:t>
            </a:r>
          </a:p>
          <a:p>
            <a:pPr lvl="1"/>
            <a:r>
              <a:rPr lang="en-US" altLang="en-US" sz="1600" dirty="0">
                <a:ea typeface="ＭＳ Ｐゴシック" panose="020B0600070205080204" pitchFamily="34" charset="-128"/>
                <a:cs typeface="Arial" panose="020B0604020202020204" pitchFamily="34" charset="0"/>
              </a:rPr>
              <a:t>SRAM, &lt; 0.3$ per Megabyte</a:t>
            </a:r>
          </a:p>
          <a:p>
            <a:pPr lvl="1"/>
            <a:r>
              <a:rPr lang="en-US" altLang="en-US" sz="1600" dirty="0">
                <a:ea typeface="ＭＳ Ｐゴシック" panose="020B0600070205080204" pitchFamily="34" charset="-128"/>
                <a:cs typeface="Arial" panose="020B0604020202020204" pitchFamily="34" charset="0"/>
              </a:rPr>
              <a:t>DRAM,  &lt; 0.03$ per Megabyte </a:t>
            </a:r>
          </a:p>
          <a:p>
            <a:pPr lvl="1"/>
            <a:r>
              <a:rPr lang="en-US" altLang="en-US" sz="1600" dirty="0">
                <a:ea typeface="ＭＳ Ｐゴシック" panose="020B0600070205080204" pitchFamily="34" charset="-128"/>
                <a:cs typeface="Arial" panose="020B0604020202020204" pitchFamily="34" charset="0"/>
              </a:rPr>
              <a:t>PCM-DIMM (Intel Optane DC DIMM), &lt; </a:t>
            </a:r>
            <a:r>
              <a:rPr lang="en-US" sz="1600" dirty="0">
                <a:cs typeface="Arial" panose="020B0604020202020204" pitchFamily="34" charset="0"/>
              </a:rPr>
              <a:t>0.004$ per Megabyte </a:t>
            </a:r>
            <a:endParaRPr lang="en-US" altLang="en-US" sz="1600" dirty="0">
              <a:ea typeface="ＭＳ Ｐゴシック" panose="020B0600070205080204" pitchFamily="34" charset="-128"/>
              <a:cs typeface="Arial" panose="020B0604020202020204" pitchFamily="34" charset="0"/>
            </a:endParaRPr>
          </a:p>
          <a:p>
            <a:pPr lvl="1"/>
            <a:r>
              <a:rPr lang="en-US" altLang="en-US" sz="1600" dirty="0">
                <a:ea typeface="ＭＳ Ｐゴシック" panose="020B0600070205080204" pitchFamily="34" charset="-128"/>
                <a:cs typeface="Arial" panose="020B0604020202020204" pitchFamily="34" charset="0"/>
              </a:rPr>
              <a:t>PCM-SSD, &lt; 0.001$ per Megabyte </a:t>
            </a:r>
          </a:p>
          <a:p>
            <a:pPr lvl="1"/>
            <a:r>
              <a:rPr lang="en-US" altLang="en-US" sz="1600" dirty="0">
                <a:ea typeface="ＭＳ Ｐゴシック" panose="020B0600070205080204" pitchFamily="34" charset="-128"/>
                <a:cs typeface="Arial" panose="020B0604020202020204" pitchFamily="34" charset="0"/>
              </a:rPr>
              <a:t>Flash memory, &lt; </a:t>
            </a:r>
            <a:r>
              <a:rPr lang="en-US" sz="1600" dirty="0">
                <a:cs typeface="Arial" panose="020B0604020202020204" pitchFamily="34" charset="0"/>
              </a:rPr>
              <a:t>0.00008$</a:t>
            </a:r>
            <a:r>
              <a:rPr lang="en-US" sz="1600" dirty="0">
                <a:ea typeface="ＭＳ Ｐゴシック" panose="020B0600070205080204" pitchFamily="34" charset="-128"/>
                <a:cs typeface="Arial" panose="020B0604020202020204" pitchFamily="34" charset="0"/>
              </a:rPr>
              <a:t> per Megabyte</a:t>
            </a:r>
            <a:endParaRPr lang="en-US" altLang="en-US" sz="1600" dirty="0">
              <a:ea typeface="ＭＳ Ｐゴシック" panose="020B0600070205080204" pitchFamily="34" charset="-128"/>
              <a:cs typeface="Arial" panose="020B0604020202020204" pitchFamily="34" charset="0"/>
            </a:endParaRPr>
          </a:p>
          <a:p>
            <a:pPr lvl="1"/>
            <a:r>
              <a:rPr lang="en-US" altLang="en-US" sz="1600" dirty="0">
                <a:ea typeface="ＭＳ Ｐゴシック" panose="020B0600070205080204" pitchFamily="34" charset="-128"/>
                <a:cs typeface="Arial" panose="020B0604020202020204" pitchFamily="34" charset="0"/>
              </a:rPr>
              <a:t>Hard Disk, &lt; 0.00003$ per Megabyte</a:t>
            </a:r>
          </a:p>
          <a:p>
            <a:pPr lvl="1"/>
            <a:r>
              <a:rPr lang="en-US" altLang="en-US" sz="1600" dirty="0">
                <a:solidFill>
                  <a:srgbClr val="FF0000"/>
                </a:solidFill>
                <a:ea typeface="ＭＳ Ｐゴシック" panose="020B0600070205080204" pitchFamily="34" charset="-128"/>
              </a:rPr>
              <a:t>These sample values (circa ~2021) scale with time</a:t>
            </a:r>
          </a:p>
          <a:p>
            <a:r>
              <a:rPr lang="en-US" altLang="en-US" sz="2200" dirty="0">
                <a:ea typeface="ＭＳ Ｐゴシック" panose="020B0600070205080204" pitchFamily="34" charset="-128"/>
              </a:rPr>
              <a:t>Other technologies have their place as well </a:t>
            </a:r>
          </a:p>
          <a:p>
            <a:pPr lvl="1"/>
            <a:r>
              <a:rPr lang="en-US" altLang="en-US" sz="1600" dirty="0">
                <a:ea typeface="ＭＳ Ｐゴシック" panose="020B0600070205080204" pitchFamily="34" charset="-128"/>
              </a:rPr>
              <a:t>MRAM, RRAM, STT-MRAM, … (not mature yet)</a:t>
            </a:r>
          </a:p>
        </p:txBody>
      </p:sp>
      <p:sp>
        <p:nvSpPr>
          <p:cNvPr id="99331" name="Slide Number Placeholder 3">
            <a:extLst>
              <a:ext uri="{FF2B5EF4-FFF2-40B4-BE49-F238E27FC236}">
                <a16:creationId xmlns:a16="http://schemas.microsoft.com/office/drawing/2014/main" id="{48DEB986-BA47-764F-B035-375C339C3B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78AF1C8-AC10-B14C-A2C3-A062EA54F20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6" end="1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9EFDA-12E6-C945-B1CC-40A368D89E87}"/>
              </a:ext>
            </a:extLst>
          </p:cNvPr>
          <p:cNvSpPr>
            <a:spLocks noGrp="1"/>
          </p:cNvSpPr>
          <p:nvPr>
            <p:ph type="title"/>
          </p:nvPr>
        </p:nvSpPr>
        <p:spPr/>
        <p:txBody>
          <a:bodyPr/>
          <a:lstStyle/>
          <a:p>
            <a:r>
              <a:rPr lang="en-US" altLang="en-US" dirty="0">
                <a:ea typeface="ＭＳ Ｐゴシック" panose="020B0600070205080204" pitchFamily="34" charset="-128"/>
              </a:rPr>
              <a:t>The Problem (Table View)</a:t>
            </a:r>
            <a:endParaRPr lang="en-US" dirty="0"/>
          </a:p>
        </p:txBody>
      </p:sp>
      <p:sp>
        <p:nvSpPr>
          <p:cNvPr id="4" name="Slide Number Placeholder 3">
            <a:extLst>
              <a:ext uri="{FF2B5EF4-FFF2-40B4-BE49-F238E27FC236}">
                <a16:creationId xmlns:a16="http://schemas.microsoft.com/office/drawing/2014/main" id="{BD7D7E17-2124-6548-AF03-41A8B1610CA4}"/>
              </a:ext>
            </a:extLst>
          </p:cNvPr>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CD3246B-4504-6A44-A3C6-3AD1B220008A}" type="slidenum">
              <a:rPr kumimoji="0" lang="en-US" altLang="en-US" sz="1600" b="0" i="0" u="none" strike="noStrike" kern="1200" cap="none" spc="0" normalizeH="0" baseline="0" noProof="0" smtClean="0">
                <a:ln>
                  <a:noFill/>
                </a:ln>
                <a:solidFill>
                  <a:srgbClr val="000000"/>
                </a:solidFill>
                <a:effectLst/>
                <a:uLnTx/>
                <a:uFillTx/>
                <a:latin typeface="Garamond"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endParaRPr>
          </a:p>
        </p:txBody>
      </p:sp>
      <p:graphicFrame>
        <p:nvGraphicFramePr>
          <p:cNvPr id="5" name="Table 3">
            <a:extLst>
              <a:ext uri="{FF2B5EF4-FFF2-40B4-BE49-F238E27FC236}">
                <a16:creationId xmlns:a16="http://schemas.microsoft.com/office/drawing/2014/main" id="{DE3033AD-47E1-874C-A6DF-2F898A0EC2B4}"/>
              </a:ext>
            </a:extLst>
          </p:cNvPr>
          <p:cNvGraphicFramePr>
            <a:graphicFrameLocks noGrp="1"/>
          </p:cNvGraphicFramePr>
          <p:nvPr>
            <p:extLst>
              <p:ext uri="{D42A27DB-BD31-4B8C-83A1-F6EECF244321}">
                <p14:modId xmlns:p14="http://schemas.microsoft.com/office/powerpoint/2010/main" val="1900461469"/>
              </p:ext>
            </p:extLst>
          </p:nvPr>
        </p:nvGraphicFramePr>
        <p:xfrm>
          <a:off x="66992" y="1438034"/>
          <a:ext cx="9010016" cy="403860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2239058759"/>
                    </a:ext>
                  </a:extLst>
                </a:gridCol>
                <a:gridCol w="1639525">
                  <a:extLst>
                    <a:ext uri="{9D8B030D-6E8A-4147-A177-3AD203B41FA5}">
                      <a16:colId xmlns:a16="http://schemas.microsoft.com/office/drawing/2014/main" val="1595968819"/>
                    </a:ext>
                  </a:extLst>
                </a:gridCol>
                <a:gridCol w="1778027">
                  <a:extLst>
                    <a:ext uri="{9D8B030D-6E8A-4147-A177-3AD203B41FA5}">
                      <a16:colId xmlns:a16="http://schemas.microsoft.com/office/drawing/2014/main" val="3968848798"/>
                    </a:ext>
                  </a:extLst>
                </a:gridCol>
                <a:gridCol w="2544464">
                  <a:extLst>
                    <a:ext uri="{9D8B030D-6E8A-4147-A177-3AD203B41FA5}">
                      <a16:colId xmlns:a16="http://schemas.microsoft.com/office/drawing/2014/main" val="316388706"/>
                    </a:ext>
                  </a:extLst>
                </a:gridCol>
              </a:tblGrid>
              <a:tr h="343708">
                <a:tc>
                  <a:txBody>
                    <a:bodyPr/>
                    <a:lstStyle/>
                    <a:p>
                      <a:pPr algn="l"/>
                      <a:r>
                        <a:rPr lang="en-US" dirty="0">
                          <a:solidFill>
                            <a:srgbClr val="FFFF00"/>
                          </a:solidFill>
                        </a:rPr>
                        <a:t>Memory Device</a:t>
                      </a:r>
                      <a:endParaRPr lang="en-US" dirty="0">
                        <a:solidFill>
                          <a:srgbClr val="FFFF00"/>
                        </a:solidFill>
                        <a:latin typeface="+mn-lt"/>
                      </a:endParaRPr>
                    </a:p>
                  </a:txBody>
                  <a:tcPr anchor="ctr"/>
                </a:tc>
                <a:tc>
                  <a:txBody>
                    <a:bodyPr/>
                    <a:lstStyle/>
                    <a:p>
                      <a:pPr algn="l"/>
                      <a:r>
                        <a:rPr lang="en-US" dirty="0"/>
                        <a:t>Capacity</a:t>
                      </a:r>
                      <a:endParaRPr lang="en-US" dirty="0">
                        <a:latin typeface="+mn-lt"/>
                      </a:endParaRPr>
                    </a:p>
                  </a:txBody>
                  <a:tcPr anchor="ctr"/>
                </a:tc>
                <a:tc>
                  <a:txBody>
                    <a:bodyPr/>
                    <a:lstStyle/>
                    <a:p>
                      <a:pPr algn="l"/>
                      <a:r>
                        <a:rPr lang="en-US" dirty="0"/>
                        <a:t>Latency</a:t>
                      </a:r>
                      <a:endParaRPr lang="en-US" dirty="0">
                        <a:latin typeface="+mn-lt"/>
                      </a:endParaRPr>
                    </a:p>
                  </a:txBody>
                  <a:tcPr anchor="ctr"/>
                </a:tc>
                <a:tc>
                  <a:txBody>
                    <a:bodyPr/>
                    <a:lstStyle/>
                    <a:p>
                      <a:pPr algn="l"/>
                      <a:r>
                        <a:rPr lang="en-US" dirty="0"/>
                        <a:t>Cost per Megabyte</a:t>
                      </a:r>
                      <a:endParaRPr lang="en-US" dirty="0">
                        <a:latin typeface="+mn-lt"/>
                      </a:endParaRPr>
                    </a:p>
                  </a:txBody>
                  <a:tcPr anchor="ctr"/>
                </a:tc>
                <a:extLst>
                  <a:ext uri="{0D108BD9-81ED-4DB2-BD59-A6C34878D82A}">
                    <a16:rowId xmlns:a16="http://schemas.microsoft.com/office/drawing/2014/main" val="2966885646"/>
                  </a:ext>
                </a:extLst>
              </a:tr>
              <a:tr h="370840">
                <a:tc>
                  <a:txBody>
                    <a:bodyPr/>
                    <a:lstStyle/>
                    <a:p>
                      <a:pPr algn="l"/>
                      <a:r>
                        <a:rPr lang="en-US" b="1" dirty="0">
                          <a:solidFill>
                            <a:schemeClr val="tx1"/>
                          </a:solidFill>
                        </a:rPr>
                        <a:t>SRAM</a:t>
                      </a:r>
                      <a:endParaRPr lang="en-US" b="1" dirty="0">
                        <a:solidFill>
                          <a:schemeClr val="tx1"/>
                        </a:solidFill>
                        <a:latin typeface="+mn-lt"/>
                      </a:endParaRPr>
                    </a:p>
                  </a:txBody>
                  <a:tcPr anchor="ctr"/>
                </a:tc>
                <a:tc>
                  <a:txBody>
                    <a:bodyPr/>
                    <a:lstStyle/>
                    <a:p>
                      <a:pPr algn="l"/>
                      <a:r>
                        <a:rPr lang="en-US" altLang="en-US" sz="1800" dirty="0"/>
                        <a:t>512 Bytes</a:t>
                      </a:r>
                      <a:endParaRPr lang="en-US" dirty="0">
                        <a:latin typeface="+mn-lt"/>
                      </a:endParaRPr>
                    </a:p>
                  </a:txBody>
                  <a:tcPr anchor="ctr"/>
                </a:tc>
                <a:tc>
                  <a:txBody>
                    <a:bodyPr/>
                    <a:lstStyle/>
                    <a:p>
                      <a:pPr algn="l"/>
                      <a:r>
                        <a:rPr lang="en-US" altLang="en-US" sz="1800" dirty="0"/>
                        <a:t>sub-</a:t>
                      </a:r>
                      <a:r>
                        <a:rPr lang="en-US" altLang="en-US" sz="1800" dirty="0" err="1"/>
                        <a:t>nanosec</a:t>
                      </a:r>
                      <a:endParaRPr lang="en-US" dirty="0">
                        <a:latin typeface="+mn-lt"/>
                      </a:endParaRPr>
                    </a:p>
                  </a:txBody>
                  <a:tcPr anchor="ctr"/>
                </a:tc>
                <a:tc>
                  <a:txBody>
                    <a:bodyPr/>
                    <a:lstStyle/>
                    <a:p>
                      <a:pPr algn="l"/>
                      <a:endParaRPr lang="en-US" dirty="0">
                        <a:latin typeface="+mn-lt"/>
                      </a:endParaRPr>
                    </a:p>
                  </a:txBody>
                  <a:tcPr anchor="ctr"/>
                </a:tc>
                <a:extLst>
                  <a:ext uri="{0D108BD9-81ED-4DB2-BD59-A6C34878D82A}">
                    <a16:rowId xmlns:a16="http://schemas.microsoft.com/office/drawing/2014/main" val="327152025"/>
                  </a:ext>
                </a:extLst>
              </a:tr>
              <a:tr h="370840">
                <a:tc>
                  <a:txBody>
                    <a:bodyPr/>
                    <a:lstStyle/>
                    <a:p>
                      <a:pPr algn="l"/>
                      <a:r>
                        <a:rPr lang="en-US" b="1" dirty="0">
                          <a:solidFill>
                            <a:schemeClr val="tx1"/>
                          </a:solidFill>
                        </a:rPr>
                        <a:t>SRAM</a:t>
                      </a:r>
                      <a:endParaRPr lang="en-US" b="1" dirty="0">
                        <a:solidFill>
                          <a:schemeClr val="tx1"/>
                        </a:solidFill>
                        <a:latin typeface="+mn-lt"/>
                      </a:endParaRPr>
                    </a:p>
                  </a:txBody>
                  <a:tcPr anchor="ctr"/>
                </a:tc>
                <a:tc>
                  <a:txBody>
                    <a:bodyPr/>
                    <a:lstStyle/>
                    <a:p>
                      <a:pPr algn="l"/>
                      <a:r>
                        <a:rPr lang="en-US" altLang="en-US" sz="1800" dirty="0" err="1"/>
                        <a:t>KByte~MByte</a:t>
                      </a:r>
                      <a:endParaRPr lang="en-US" dirty="0">
                        <a:latin typeface="+mn-lt"/>
                      </a:endParaRPr>
                    </a:p>
                  </a:txBody>
                  <a:tcPr anchor="ctr"/>
                </a:tc>
                <a:tc>
                  <a:txBody>
                    <a:bodyPr/>
                    <a:lstStyle/>
                    <a:p>
                      <a:pPr algn="l"/>
                      <a:r>
                        <a:rPr lang="en-US" altLang="en-US" sz="1800" dirty="0"/>
                        <a:t>~</a:t>
                      </a:r>
                      <a:r>
                        <a:rPr lang="en-US" altLang="en-US" sz="1800" dirty="0" err="1"/>
                        <a:t>nanosec</a:t>
                      </a:r>
                      <a:endParaRPr lang="en-US" dirty="0">
                        <a:latin typeface="+mn-lt"/>
                      </a:endParaRPr>
                    </a:p>
                  </a:txBody>
                  <a:tcPr anchor="ctr"/>
                </a:tc>
                <a:tc>
                  <a:txBody>
                    <a:bodyPr/>
                    <a:lstStyle/>
                    <a:p>
                      <a:pPr algn="l"/>
                      <a:r>
                        <a:rPr lang="en-US" altLang="en-US" sz="1800" dirty="0"/>
                        <a:t>&lt; 0.3$ </a:t>
                      </a:r>
                      <a:endParaRPr lang="en-US" dirty="0">
                        <a:latin typeface="+mn-lt"/>
                      </a:endParaRPr>
                    </a:p>
                  </a:txBody>
                  <a:tcPr anchor="ctr"/>
                </a:tc>
                <a:extLst>
                  <a:ext uri="{0D108BD9-81ED-4DB2-BD59-A6C34878D82A}">
                    <a16:rowId xmlns:a16="http://schemas.microsoft.com/office/drawing/2014/main" val="1969700416"/>
                  </a:ext>
                </a:extLst>
              </a:tr>
              <a:tr h="370840">
                <a:tc>
                  <a:txBody>
                    <a:bodyPr/>
                    <a:lstStyle/>
                    <a:p>
                      <a:pPr algn="l"/>
                      <a:r>
                        <a:rPr lang="en-US" b="1" dirty="0">
                          <a:solidFill>
                            <a:schemeClr val="tx1"/>
                          </a:solidFill>
                        </a:rPr>
                        <a:t>DRAM</a:t>
                      </a:r>
                      <a:endParaRPr lang="en-US" b="1" dirty="0">
                        <a:solidFill>
                          <a:schemeClr val="tx1"/>
                        </a:solidFill>
                        <a:latin typeface="+mn-lt"/>
                      </a:endParaRPr>
                    </a:p>
                  </a:txBody>
                  <a:tcPr anchor="ctr"/>
                </a:tc>
                <a:tc>
                  <a:txBody>
                    <a:bodyPr/>
                    <a:lstStyle/>
                    <a:p>
                      <a:pPr algn="l"/>
                      <a:r>
                        <a:rPr lang="en-US" altLang="en-US" sz="1800" dirty="0"/>
                        <a:t>Gigabyte</a:t>
                      </a:r>
                      <a:endParaRPr lang="en-US" dirty="0">
                        <a:latin typeface="+mn-lt"/>
                      </a:endParaRPr>
                    </a:p>
                  </a:txBody>
                  <a:tcPr anchor="ctr"/>
                </a:tc>
                <a:tc>
                  <a:txBody>
                    <a:bodyPr/>
                    <a:lstStyle/>
                    <a:p>
                      <a:pPr algn="l"/>
                      <a:r>
                        <a:rPr lang="en-US" altLang="en-US" sz="1800" dirty="0"/>
                        <a:t>~50 </a:t>
                      </a:r>
                      <a:r>
                        <a:rPr lang="en-US" altLang="en-US" sz="1800" dirty="0" err="1"/>
                        <a:t>nanosec</a:t>
                      </a:r>
                      <a:endParaRPr lang="en-US" dirty="0">
                        <a:latin typeface="+mn-lt"/>
                      </a:endParaRPr>
                    </a:p>
                  </a:txBody>
                  <a:tcPr anchor="ctr"/>
                </a:tc>
                <a:tc>
                  <a:txBody>
                    <a:bodyPr/>
                    <a:lstStyle/>
                    <a:p>
                      <a:pPr algn="l"/>
                      <a:r>
                        <a:rPr lang="en-US" altLang="en-US" sz="1800" dirty="0"/>
                        <a:t>&lt; 0.03$ </a:t>
                      </a:r>
                      <a:endParaRPr lang="en-US" dirty="0">
                        <a:latin typeface="+mn-lt"/>
                      </a:endParaRPr>
                    </a:p>
                  </a:txBody>
                  <a:tcPr anchor="ctr"/>
                </a:tc>
                <a:extLst>
                  <a:ext uri="{0D108BD9-81ED-4DB2-BD59-A6C34878D82A}">
                    <a16:rowId xmlns:a16="http://schemas.microsoft.com/office/drawing/2014/main" val="540750704"/>
                  </a:ext>
                </a:extLst>
              </a:tr>
              <a:tr h="370840">
                <a:tc>
                  <a:txBody>
                    <a:bodyPr/>
                    <a:lstStyle/>
                    <a:p>
                      <a:pPr algn="l"/>
                      <a:r>
                        <a:rPr lang="en-US" altLang="en-US" sz="1800" b="1" dirty="0">
                          <a:solidFill>
                            <a:schemeClr val="tx1"/>
                          </a:solidFill>
                        </a:rPr>
                        <a:t>PCM-DIMM</a:t>
                      </a:r>
                    </a:p>
                    <a:p>
                      <a:pPr algn="l"/>
                      <a:r>
                        <a:rPr lang="en-US" altLang="en-US" sz="1800" b="1" dirty="0">
                          <a:solidFill>
                            <a:schemeClr val="tx1"/>
                          </a:solidFill>
                        </a:rPr>
                        <a:t>(Intel Optane DC DIMM)</a:t>
                      </a:r>
                      <a:endParaRPr lang="en-US" b="1" dirty="0">
                        <a:solidFill>
                          <a:schemeClr val="tx1"/>
                        </a:solidFill>
                        <a:latin typeface="+mn-lt"/>
                      </a:endParaRPr>
                    </a:p>
                  </a:txBody>
                  <a:tcPr anchor="ctr"/>
                </a:tc>
                <a:tc>
                  <a:txBody>
                    <a:bodyPr/>
                    <a:lstStyle/>
                    <a:p>
                      <a:pPr algn="l"/>
                      <a:r>
                        <a:rPr lang="en-US" altLang="en-US" sz="1800" dirty="0"/>
                        <a:t>Gigabyte</a:t>
                      </a:r>
                    </a:p>
                  </a:txBody>
                  <a:tcPr anchor="ctr"/>
                </a:tc>
                <a:tc>
                  <a:txBody>
                    <a:bodyPr/>
                    <a:lstStyle/>
                    <a:p>
                      <a:pPr algn="l"/>
                      <a:r>
                        <a:rPr lang="en-US" altLang="en-US" sz="1800" dirty="0"/>
                        <a:t>~200 </a:t>
                      </a:r>
                      <a:r>
                        <a:rPr lang="en-US" altLang="en-US" sz="1800" dirty="0" err="1"/>
                        <a:t>nanosec</a:t>
                      </a:r>
                      <a:endParaRPr lang="en-US" dirty="0">
                        <a:latin typeface="+mn-lt"/>
                      </a:endParaRPr>
                    </a:p>
                  </a:txBody>
                  <a:tcPr anchor="ctr"/>
                </a:tc>
                <a:tc>
                  <a:txBody>
                    <a:bodyPr/>
                    <a:lstStyle/>
                    <a:p>
                      <a:pPr algn="l"/>
                      <a:r>
                        <a:rPr lang="en-US" altLang="en-US" sz="1800" dirty="0"/>
                        <a:t>&lt; </a:t>
                      </a:r>
                      <a:r>
                        <a:rPr lang="en-US" sz="1800" dirty="0"/>
                        <a:t>0.004$ </a:t>
                      </a:r>
                      <a:endParaRPr lang="en-US" dirty="0">
                        <a:latin typeface="+mn-lt"/>
                      </a:endParaRPr>
                    </a:p>
                  </a:txBody>
                  <a:tcPr anchor="ctr"/>
                </a:tc>
                <a:extLst>
                  <a:ext uri="{0D108BD9-81ED-4DB2-BD59-A6C34878D82A}">
                    <a16:rowId xmlns:a16="http://schemas.microsoft.com/office/drawing/2014/main" val="3594856798"/>
                  </a:ext>
                </a:extLst>
              </a:tr>
              <a:tr h="370840">
                <a:tc>
                  <a:txBody>
                    <a:bodyPr/>
                    <a:lstStyle/>
                    <a:p>
                      <a:pPr algn="l"/>
                      <a:r>
                        <a:rPr lang="en-US" altLang="en-US" sz="1800" b="1" dirty="0">
                          <a:solidFill>
                            <a:schemeClr val="tx1"/>
                          </a:solidFill>
                        </a:rPr>
                        <a:t>PCM-SSD</a:t>
                      </a:r>
                    </a:p>
                    <a:p>
                      <a:pPr algn="l"/>
                      <a:r>
                        <a:rPr lang="en-US" altLang="en-US" sz="1800" b="1" dirty="0">
                          <a:solidFill>
                            <a:schemeClr val="tx1"/>
                          </a:solidFill>
                        </a:rPr>
                        <a:t>(Intel Optane SSD)</a:t>
                      </a:r>
                      <a:endParaRPr lang="en-US" b="1" dirty="0">
                        <a:solidFill>
                          <a:schemeClr val="tx1"/>
                        </a:solidFill>
                        <a:latin typeface="+mn-lt"/>
                      </a:endParaRPr>
                    </a:p>
                  </a:txBody>
                  <a:tcPr anchor="ctr"/>
                </a:tc>
                <a:tc>
                  <a:txBody>
                    <a:bodyPr/>
                    <a:lstStyle/>
                    <a:p>
                      <a:pPr algn="l"/>
                      <a:r>
                        <a:rPr lang="en-US" altLang="en-US" sz="1800" dirty="0"/>
                        <a:t>Gigabyte</a:t>
                      </a:r>
                    </a:p>
                    <a:p>
                      <a:pPr algn="l"/>
                      <a:r>
                        <a:rPr lang="en-US" altLang="en-US" sz="1800" dirty="0"/>
                        <a:t>~Terabyte</a:t>
                      </a:r>
                      <a:endParaRPr lang="en-US"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~10 </a:t>
                      </a:r>
                      <a:r>
                        <a:rPr lang="en-US" sz="1800" dirty="0"/>
                        <a:t>µs</a:t>
                      </a:r>
                      <a:endParaRPr lang="en-US" altLang="en-US" sz="1800" dirty="0"/>
                    </a:p>
                    <a:p>
                      <a:pPr algn="l"/>
                      <a:endParaRPr lang="en-US" dirty="0">
                        <a:latin typeface="+mn-lt"/>
                      </a:endParaRPr>
                    </a:p>
                  </a:txBody>
                  <a:tcPr anchor="ctr"/>
                </a:tc>
                <a:tc>
                  <a:txBody>
                    <a:bodyPr/>
                    <a:lstStyle/>
                    <a:p>
                      <a:pPr algn="l"/>
                      <a:r>
                        <a:rPr lang="en-US" altLang="en-US" sz="1800" dirty="0"/>
                        <a:t>&lt; 0.001$ </a:t>
                      </a:r>
                      <a:endParaRPr lang="en-US" dirty="0">
                        <a:latin typeface="+mn-lt"/>
                      </a:endParaRPr>
                    </a:p>
                  </a:txBody>
                  <a:tcPr anchor="ctr"/>
                </a:tc>
                <a:extLst>
                  <a:ext uri="{0D108BD9-81ED-4DB2-BD59-A6C34878D82A}">
                    <a16:rowId xmlns:a16="http://schemas.microsoft.com/office/drawing/2014/main" val="2580663774"/>
                  </a:ext>
                </a:extLst>
              </a:tr>
              <a:tr h="370840">
                <a:tc>
                  <a:txBody>
                    <a:bodyPr/>
                    <a:lstStyle/>
                    <a:p>
                      <a:pPr algn="l"/>
                      <a:r>
                        <a:rPr lang="en-US" altLang="en-US" sz="1800" b="1" dirty="0">
                          <a:solidFill>
                            <a:schemeClr val="tx1"/>
                          </a:solidFill>
                        </a:rPr>
                        <a:t>Flash memory</a:t>
                      </a:r>
                      <a:endParaRPr lang="en-US" b="1" dirty="0">
                        <a:solidFill>
                          <a:schemeClr val="tx1"/>
                        </a:solidFill>
                        <a:latin typeface="+mn-lt"/>
                      </a:endParaRPr>
                    </a:p>
                  </a:txBody>
                  <a:tcPr anchor="ctr"/>
                </a:tc>
                <a:tc>
                  <a:txBody>
                    <a:bodyPr/>
                    <a:lstStyle/>
                    <a:p>
                      <a:pPr algn="l"/>
                      <a:r>
                        <a:rPr lang="en-US" altLang="en-US" sz="1800" dirty="0"/>
                        <a:t>Gigabyte</a:t>
                      </a:r>
                    </a:p>
                    <a:p>
                      <a:pPr algn="l"/>
                      <a:r>
                        <a:rPr lang="en-US" altLang="en-US" sz="1800" dirty="0"/>
                        <a:t>~Terabyte</a:t>
                      </a:r>
                      <a:endParaRPr lang="en-US"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~100 </a:t>
                      </a:r>
                      <a:r>
                        <a:rPr lang="en-US" sz="1800" dirty="0"/>
                        <a:t>µs</a:t>
                      </a:r>
                      <a:endParaRPr lang="en-US" altLang="en-US" sz="1800" dirty="0"/>
                    </a:p>
                    <a:p>
                      <a:pPr algn="l"/>
                      <a:endParaRPr lang="en-US" dirty="0">
                        <a:latin typeface="+mn-lt"/>
                      </a:endParaRPr>
                    </a:p>
                  </a:txBody>
                  <a:tcPr anchor="ctr"/>
                </a:tc>
                <a:tc>
                  <a:txBody>
                    <a:bodyPr/>
                    <a:lstStyle/>
                    <a:p>
                      <a:pPr algn="l"/>
                      <a:r>
                        <a:rPr lang="en-US" altLang="en-US" sz="1800" dirty="0"/>
                        <a:t>&lt; </a:t>
                      </a:r>
                      <a:r>
                        <a:rPr lang="en-US" sz="1800" dirty="0"/>
                        <a:t>0.00008$ </a:t>
                      </a:r>
                      <a:endParaRPr lang="en-US" dirty="0">
                        <a:latin typeface="+mn-lt"/>
                      </a:endParaRPr>
                    </a:p>
                  </a:txBody>
                  <a:tcPr anchor="ctr"/>
                </a:tc>
                <a:extLst>
                  <a:ext uri="{0D108BD9-81ED-4DB2-BD59-A6C34878D82A}">
                    <a16:rowId xmlns:a16="http://schemas.microsoft.com/office/drawing/2014/main" val="2222611159"/>
                  </a:ext>
                </a:extLst>
              </a:tr>
              <a:tr h="370840">
                <a:tc>
                  <a:txBody>
                    <a:bodyPr/>
                    <a:lstStyle/>
                    <a:p>
                      <a:pPr algn="l"/>
                      <a:r>
                        <a:rPr lang="en-US" altLang="en-US" sz="1800" b="1" dirty="0">
                          <a:solidFill>
                            <a:schemeClr val="tx1"/>
                          </a:solidFill>
                        </a:rPr>
                        <a:t>Hard Disk</a:t>
                      </a:r>
                      <a:endParaRPr lang="en-US" b="1" dirty="0">
                        <a:solidFill>
                          <a:schemeClr val="tx1"/>
                        </a:solidFill>
                        <a:latin typeface="+mn-lt"/>
                      </a:endParaRPr>
                    </a:p>
                  </a:txBody>
                  <a:tcPr anchor="ctr"/>
                </a:tc>
                <a:tc>
                  <a:txBody>
                    <a:bodyPr/>
                    <a:lstStyle/>
                    <a:p>
                      <a:pPr algn="l"/>
                      <a:r>
                        <a:rPr lang="en-US" altLang="en-US" sz="1800" dirty="0"/>
                        <a:t>Terabyte</a:t>
                      </a:r>
                      <a:endParaRPr lang="en-US" dirty="0">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~10 </a:t>
                      </a:r>
                      <a:r>
                        <a:rPr lang="en-US" altLang="en-US" sz="1800" dirty="0" err="1"/>
                        <a:t>millisec</a:t>
                      </a:r>
                      <a:endParaRPr lang="en-US" altLang="en-US" sz="1800" dirty="0"/>
                    </a:p>
                    <a:p>
                      <a:pPr algn="l"/>
                      <a:endParaRPr lang="en-US" dirty="0">
                        <a:latin typeface="+mn-lt"/>
                      </a:endParaRPr>
                    </a:p>
                  </a:txBody>
                  <a:tcPr anchor="ctr"/>
                </a:tc>
                <a:tc>
                  <a:txBody>
                    <a:bodyPr/>
                    <a:lstStyle/>
                    <a:p>
                      <a:pPr algn="l"/>
                      <a:r>
                        <a:rPr lang="en-US" altLang="en-US" sz="1800" dirty="0"/>
                        <a:t>&lt; 0.00003$ </a:t>
                      </a:r>
                      <a:endParaRPr lang="en-US" dirty="0">
                        <a:latin typeface="+mn-lt"/>
                      </a:endParaRPr>
                    </a:p>
                  </a:txBody>
                  <a:tcPr anchor="ctr"/>
                </a:tc>
                <a:extLst>
                  <a:ext uri="{0D108BD9-81ED-4DB2-BD59-A6C34878D82A}">
                    <a16:rowId xmlns:a16="http://schemas.microsoft.com/office/drawing/2014/main" val="3956142328"/>
                  </a:ext>
                </a:extLst>
              </a:tr>
            </a:tbl>
          </a:graphicData>
        </a:graphic>
      </p:graphicFrame>
      <p:sp>
        <p:nvSpPr>
          <p:cNvPr id="6" name="Rectangle 5">
            <a:extLst>
              <a:ext uri="{FF2B5EF4-FFF2-40B4-BE49-F238E27FC236}">
                <a16:creationId xmlns:a16="http://schemas.microsoft.com/office/drawing/2014/main" id="{0C92F24D-2CA8-DB45-8ABD-443CB3797CB0}"/>
              </a:ext>
            </a:extLst>
          </p:cNvPr>
          <p:cNvSpPr/>
          <p:nvPr/>
        </p:nvSpPr>
        <p:spPr>
          <a:xfrm>
            <a:off x="1752600" y="6144219"/>
            <a:ext cx="6172200" cy="338554"/>
          </a:xfrm>
          <a:prstGeom prst="rect">
            <a:avLst/>
          </a:prstGeom>
        </p:spPr>
        <p:txBody>
          <a:bodyPr wrap="square">
            <a:spAutoFit/>
          </a:bodyPr>
          <a:lstStyle/>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effectLst/>
                <a:uLnTx/>
                <a:uFillTx/>
                <a:latin typeface="Arial" panose="020B0604020202020204" pitchFamily="34" charset="0"/>
                <a:ea typeface="ＭＳ Ｐゴシック" panose="020B0600070205080204" pitchFamily="34" charset="-128"/>
                <a:cs typeface="+mn-cs"/>
              </a:rPr>
              <a:t>These sample values (circa ~2021) scale with time</a:t>
            </a:r>
          </a:p>
        </p:txBody>
      </p:sp>
      <p:sp>
        <p:nvSpPr>
          <p:cNvPr id="12" name="Rectangle 11">
            <a:extLst>
              <a:ext uri="{FF2B5EF4-FFF2-40B4-BE49-F238E27FC236}">
                <a16:creationId xmlns:a16="http://schemas.microsoft.com/office/drawing/2014/main" id="{681614A6-1377-E34C-A8AC-579A7AEF597D}"/>
              </a:ext>
            </a:extLst>
          </p:cNvPr>
          <p:cNvSpPr/>
          <p:nvPr/>
        </p:nvSpPr>
        <p:spPr>
          <a:xfrm>
            <a:off x="4724400" y="1068702"/>
            <a:ext cx="1813317" cy="369332"/>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rPr>
              <a:t>Bigger is slower</a:t>
            </a:r>
          </a:p>
        </p:txBody>
      </p:sp>
      <p:sp>
        <p:nvSpPr>
          <p:cNvPr id="13" name="Rectangle 12">
            <a:extLst>
              <a:ext uri="{FF2B5EF4-FFF2-40B4-BE49-F238E27FC236}">
                <a16:creationId xmlns:a16="http://schemas.microsoft.com/office/drawing/2014/main" id="{09811630-5EE5-724D-81EA-75DFA91E9A8B}"/>
              </a:ext>
            </a:extLst>
          </p:cNvPr>
          <p:cNvSpPr/>
          <p:nvPr/>
        </p:nvSpPr>
        <p:spPr>
          <a:xfrm>
            <a:off x="5486400" y="5446165"/>
            <a:ext cx="4572000" cy="646331"/>
          </a:xfrm>
          <a:prstGeom prst="rect">
            <a:avLst/>
          </a:prstGeom>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rPr>
              <a:t>Faster is more expensive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rPr>
              <a:t>(dollars and chip area)</a:t>
            </a:r>
          </a:p>
        </p:txBody>
      </p:sp>
    </p:spTree>
    <p:extLst>
      <p:ext uri="{BB962C8B-B14F-4D97-AF65-F5344CB8AC3E}">
        <p14:creationId xmlns:p14="http://schemas.microsoft.com/office/powerpoint/2010/main" val="199138019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E5A495FE-B8B1-EA4D-B5F4-9E1BDFE165DB}"/>
              </a:ext>
            </a:extLst>
          </p:cNvPr>
          <p:cNvSpPr>
            <a:spLocks noGrp="1" noChangeArrowheads="1"/>
          </p:cNvSpPr>
          <p:nvPr>
            <p:ph type="title"/>
          </p:nvPr>
        </p:nvSpPr>
        <p:spPr/>
        <p:txBody>
          <a:bodyPr/>
          <a:lstStyle/>
          <a:p>
            <a:r>
              <a:rPr lang="en-US" altLang="en-US" dirty="0">
                <a:ea typeface="ＭＳ Ｐゴシック" panose="020B0600070205080204" pitchFamily="34" charset="-128"/>
              </a:rPr>
              <a:t>Aside: The Problem (2011 Version)</a:t>
            </a:r>
          </a:p>
        </p:txBody>
      </p:sp>
      <p:sp>
        <p:nvSpPr>
          <p:cNvPr id="3" name="Content Placeholder 2">
            <a:extLst>
              <a:ext uri="{FF2B5EF4-FFF2-40B4-BE49-F238E27FC236}">
                <a16:creationId xmlns:a16="http://schemas.microsoft.com/office/drawing/2014/main" id="{4712EF7D-602D-DE44-AA6B-112BF28F08B3}"/>
              </a:ext>
            </a:extLst>
          </p:cNvPr>
          <p:cNvSpPr>
            <a:spLocks noGrp="1" noChangeArrowheads="1"/>
          </p:cNvSpPr>
          <p:nvPr>
            <p:ph idx="1"/>
          </p:nvPr>
        </p:nvSpPr>
        <p:spPr>
          <a:xfrm>
            <a:off x="228600" y="996950"/>
            <a:ext cx="8915400" cy="5194300"/>
          </a:xfrm>
        </p:spPr>
        <p:txBody>
          <a:bodyPr/>
          <a:lstStyle/>
          <a:p>
            <a:r>
              <a:rPr lang="en-US" altLang="en-US" dirty="0">
                <a:solidFill>
                  <a:srgbClr val="0000FF"/>
                </a:solidFill>
                <a:ea typeface="ＭＳ Ｐゴシック" panose="020B0600070205080204" pitchFamily="34" charset="-128"/>
              </a:rPr>
              <a:t>Bigger is slower</a:t>
            </a:r>
          </a:p>
          <a:p>
            <a:pPr lvl="1"/>
            <a:r>
              <a:rPr lang="en-US" altLang="en-US" dirty="0">
                <a:ea typeface="ＭＳ Ｐゴシック" panose="020B0600070205080204" pitchFamily="34" charset="-128"/>
              </a:rPr>
              <a:t>SRAM, 512 Bytes, sub-</a:t>
            </a:r>
            <a:r>
              <a:rPr lang="en-US" altLang="en-US" dirty="0" err="1">
                <a:ea typeface="ＭＳ Ｐゴシック" panose="020B0600070205080204" pitchFamily="34" charset="-128"/>
              </a:rPr>
              <a:t>nanosec</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SRAM,  </a:t>
            </a:r>
            <a:r>
              <a:rPr lang="en-US" altLang="en-US" dirty="0" err="1">
                <a:ea typeface="ＭＳ Ｐゴシック" panose="020B0600070205080204" pitchFamily="34" charset="-128"/>
              </a:rPr>
              <a:t>KByte~MByte</a:t>
            </a:r>
            <a:r>
              <a:rPr lang="en-US" altLang="en-US" dirty="0">
                <a:ea typeface="ＭＳ Ｐゴシック" panose="020B0600070205080204" pitchFamily="34" charset="-128"/>
              </a:rPr>
              <a:t>, ~</a:t>
            </a:r>
            <a:r>
              <a:rPr lang="en-US" altLang="en-US" dirty="0" err="1">
                <a:ea typeface="ＭＳ Ｐゴシック" panose="020B0600070205080204" pitchFamily="34" charset="-128"/>
              </a:rPr>
              <a:t>nanosec</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DRAM, Gigabyte, ~50 </a:t>
            </a:r>
            <a:r>
              <a:rPr lang="en-US" altLang="en-US" dirty="0" err="1">
                <a:ea typeface="ＭＳ Ｐゴシック" panose="020B0600070205080204" pitchFamily="34" charset="-128"/>
              </a:rPr>
              <a:t>nanosec</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Hard Disk, Terabyte, ~10 </a:t>
            </a:r>
            <a:r>
              <a:rPr lang="en-US" altLang="en-US" dirty="0" err="1">
                <a:ea typeface="ＭＳ Ｐゴシック" panose="020B0600070205080204" pitchFamily="34" charset="-128"/>
              </a:rPr>
              <a:t>millisec</a:t>
            </a:r>
            <a:endParaRPr lang="en-US" altLang="en-US" dirty="0">
              <a:ea typeface="ＭＳ Ｐゴシック" panose="020B0600070205080204" pitchFamily="34" charset="-128"/>
            </a:endParaRPr>
          </a:p>
          <a:p>
            <a:endParaRPr lang="en-US" altLang="en-US" sz="1000"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Faster is more expensive (dollars and chip area)</a:t>
            </a:r>
          </a:p>
          <a:p>
            <a:pPr lvl="1"/>
            <a:r>
              <a:rPr lang="en-US" altLang="en-US" dirty="0">
                <a:ea typeface="ＭＳ Ｐゴシック" panose="020B0600070205080204" pitchFamily="34" charset="-128"/>
              </a:rPr>
              <a:t>SRAM, &lt; 10$ per Megabyte</a:t>
            </a:r>
          </a:p>
          <a:p>
            <a:pPr lvl="1"/>
            <a:r>
              <a:rPr lang="en-US" altLang="en-US" dirty="0">
                <a:ea typeface="ＭＳ Ｐゴシック" panose="020B0600070205080204" pitchFamily="34" charset="-128"/>
              </a:rPr>
              <a:t>DRAM, &lt; 1$ per Megabyte</a:t>
            </a:r>
          </a:p>
          <a:p>
            <a:pPr lvl="1"/>
            <a:r>
              <a:rPr lang="en-US" altLang="en-US" dirty="0">
                <a:ea typeface="ＭＳ Ｐゴシック" panose="020B0600070205080204" pitchFamily="34" charset="-128"/>
              </a:rPr>
              <a:t>Hard Disk &lt; 1$ per Gigabyte</a:t>
            </a:r>
          </a:p>
          <a:p>
            <a:pPr lvl="1"/>
            <a:r>
              <a:rPr lang="en-US" altLang="en-US" dirty="0">
                <a:ea typeface="ＭＳ Ｐゴシック" panose="020B0600070205080204" pitchFamily="34" charset="-128"/>
              </a:rPr>
              <a:t>These sample values (circa ~2011) scale with time</a:t>
            </a:r>
          </a:p>
          <a:p>
            <a:endParaRPr lang="en-US" altLang="en-US" sz="1000" dirty="0">
              <a:ea typeface="ＭＳ Ｐゴシック" panose="020B0600070205080204" pitchFamily="34" charset="-128"/>
            </a:endParaRPr>
          </a:p>
          <a:p>
            <a:r>
              <a:rPr lang="en-US" altLang="en-US" dirty="0">
                <a:ea typeface="ＭＳ Ｐゴシック" panose="020B0600070205080204" pitchFamily="34" charset="-128"/>
              </a:rPr>
              <a:t>Other technologies have their place as well </a:t>
            </a:r>
          </a:p>
          <a:p>
            <a:pPr lvl="1"/>
            <a:r>
              <a:rPr lang="en-US" altLang="en-US" dirty="0">
                <a:ea typeface="ＭＳ Ｐゴシック" panose="020B0600070205080204" pitchFamily="34" charset="-128"/>
              </a:rPr>
              <a:t>Flash memory (mature), PC-RAM, MRAM, RRAM (not mature yet)</a:t>
            </a:r>
          </a:p>
        </p:txBody>
      </p:sp>
      <p:sp>
        <p:nvSpPr>
          <p:cNvPr id="99331" name="Slide Number Placeholder 3">
            <a:extLst>
              <a:ext uri="{FF2B5EF4-FFF2-40B4-BE49-F238E27FC236}">
                <a16:creationId xmlns:a16="http://schemas.microsoft.com/office/drawing/2014/main" id="{48DEB986-BA47-764F-B035-375C339C3B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78AF1C8-AC10-B14C-A2C3-A062EA54F209}" type="slidenum">
              <a:rPr lang="en-US" altLang="en-US" sz="1600" smtClean="0">
                <a:solidFill>
                  <a:srgbClr val="000000"/>
                </a:solidFill>
                <a:latin typeface="Garamond" panose="02020404030301010803" pitchFamily="18" charset="0"/>
              </a:rPr>
              <a:pPr eaLnBrk="1" hangingPunct="1">
                <a:spcBef>
                  <a:spcPct val="0"/>
                </a:spcBef>
                <a:buClrTx/>
                <a:buSzTx/>
                <a:buFontTx/>
                <a:buNone/>
              </a:pPr>
              <a:t>25</a:t>
            </a:fld>
            <a:endParaRPr lang="en-US" altLang="en-US" sz="1600">
              <a:solidFill>
                <a:srgbClr val="000000"/>
              </a:solidFill>
              <a:latin typeface="Garamond" panose="02020404030301010803" pitchFamily="18" charset="0"/>
            </a:endParaRPr>
          </a:p>
        </p:txBody>
      </p:sp>
    </p:spTree>
    <p:extLst>
      <p:ext uri="{BB962C8B-B14F-4D97-AF65-F5344CB8AC3E}">
        <p14:creationId xmlns:p14="http://schemas.microsoft.com/office/powerpoint/2010/main" val="156963596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9F145412-D19E-4D45-90F1-E69B0C588DA7}"/>
              </a:ext>
            </a:extLst>
          </p:cNvPr>
          <p:cNvSpPr>
            <a:spLocks noGrp="1" noChangeArrowheads="1"/>
          </p:cNvSpPr>
          <p:nvPr>
            <p:ph type="title"/>
          </p:nvPr>
        </p:nvSpPr>
        <p:spPr/>
        <p:txBody>
          <a:bodyPr/>
          <a:lstStyle/>
          <a:p>
            <a:r>
              <a:rPr lang="en-US" altLang="en-US" dirty="0">
                <a:ea typeface="ＭＳ Ｐゴシック" panose="020B0600070205080204" pitchFamily="34" charset="-128"/>
              </a:rPr>
              <a:t>Why Cache?</a:t>
            </a:r>
          </a:p>
        </p:txBody>
      </p:sp>
      <p:sp>
        <p:nvSpPr>
          <p:cNvPr id="3" name="Content Placeholder 2">
            <a:extLst>
              <a:ext uri="{FF2B5EF4-FFF2-40B4-BE49-F238E27FC236}">
                <a16:creationId xmlns:a16="http://schemas.microsoft.com/office/drawing/2014/main" id="{AC94C12D-0FBD-F942-A0DA-FD137C1F8750}"/>
              </a:ext>
            </a:extLst>
          </p:cNvPr>
          <p:cNvSpPr>
            <a:spLocks noGrp="1" noChangeArrowheads="1"/>
          </p:cNvSpPr>
          <p:nvPr>
            <p:ph idx="1"/>
          </p:nvPr>
        </p:nvSpPr>
        <p:spPr>
          <a:xfrm>
            <a:off x="76200" y="2057400"/>
            <a:ext cx="4800600" cy="2895600"/>
          </a:xfrm>
        </p:spPr>
        <p:txBody>
          <a:bodyPr/>
          <a:lstStyle/>
          <a:p>
            <a:r>
              <a:rPr lang="en-US" altLang="zh-CN" b="1" dirty="0">
                <a:ea typeface="ＭＳ Ｐゴシック" panose="020B0600070205080204" pitchFamily="34" charset="-128"/>
              </a:rPr>
              <a:t>Challenge</a:t>
            </a:r>
            <a:r>
              <a:rPr lang="en-US" altLang="zh-CN" dirty="0">
                <a:ea typeface="ＭＳ Ｐゴシック" panose="020B0600070205080204" pitchFamily="34" charset="-128"/>
              </a:rPr>
              <a:t>:</a:t>
            </a:r>
            <a:r>
              <a:rPr lang="en-US" altLang="zh-CN" b="1" dirty="0">
                <a:ea typeface="ＭＳ Ｐゴシック" panose="020B0600070205080204" pitchFamily="34" charset="-128"/>
              </a:rPr>
              <a:t> </a:t>
            </a:r>
            <a:r>
              <a:rPr lang="en-US" altLang="zh-CN" dirty="0">
                <a:solidFill>
                  <a:srgbClr val="FF0000"/>
                </a:solidFill>
                <a:ea typeface="ＭＳ Ｐゴシック" panose="020B0600070205080204" pitchFamily="34" charset="-128"/>
              </a:rPr>
              <a:t>DRAM latency is ~100ns, slightly decreasing over time</a:t>
            </a:r>
            <a:r>
              <a:rPr lang="en-US" altLang="zh-CN" dirty="0">
                <a:ea typeface="ＭＳ Ｐゴシック" panose="020B0600070205080204" pitchFamily="34" charset="-128"/>
              </a:rPr>
              <a:t>.</a:t>
            </a:r>
            <a:r>
              <a:rPr lang="en-US" altLang="zh-CN" b="1" dirty="0">
                <a:ea typeface="ＭＳ Ｐゴシック" panose="020B0600070205080204" pitchFamily="34" charset="-128"/>
              </a:rPr>
              <a:t> </a:t>
            </a:r>
          </a:p>
          <a:p>
            <a:endParaRPr lang="en-US" altLang="zh-CN" b="1" dirty="0">
              <a:ea typeface="ＭＳ Ｐゴシック" panose="020B0600070205080204" pitchFamily="34" charset="-128"/>
            </a:endParaRPr>
          </a:p>
          <a:p>
            <a:r>
              <a:rPr lang="en-US" altLang="zh-CN" b="1" dirty="0">
                <a:ea typeface="ＭＳ Ｐゴシック" panose="020B0600070205080204" pitchFamily="34" charset="-128"/>
              </a:rPr>
              <a:t>Our Goal</a:t>
            </a:r>
            <a:r>
              <a:rPr lang="en-US" altLang="zh-CN" dirty="0">
                <a:ea typeface="ＭＳ Ｐゴシック" panose="020B0600070205080204" pitchFamily="34" charset="-128"/>
              </a:rPr>
              <a:t>: </a:t>
            </a:r>
            <a:r>
              <a:rPr lang="en-US" altLang="zh-CN" dirty="0">
                <a:solidFill>
                  <a:srgbClr val="0432FF"/>
                </a:solidFill>
                <a:ea typeface="ＭＳ Ｐゴシック" panose="020B0600070205080204" pitchFamily="34" charset="-128"/>
              </a:rPr>
              <a:t>CPU wants </a:t>
            </a:r>
            <a:r>
              <a:rPr lang="en-US" altLang="en-US" dirty="0">
                <a:solidFill>
                  <a:srgbClr val="0432FF"/>
                </a:solidFill>
                <a:ea typeface="ＭＳ Ｐゴシック" panose="020B0600070205080204" pitchFamily="34" charset="-128"/>
              </a:rPr>
              <a:t>both</a:t>
            </a:r>
            <a:r>
              <a:rPr lang="en-US" altLang="en-US" b="1" dirty="0">
                <a:solidFill>
                  <a:srgbClr val="0432FF"/>
                </a:solidFill>
                <a:ea typeface="ＭＳ Ｐゴシック" panose="020B0600070205080204" pitchFamily="34" charset="-128"/>
              </a:rPr>
              <a:t> </a:t>
            </a:r>
            <a:r>
              <a:rPr lang="en-US" altLang="en-US" dirty="0">
                <a:solidFill>
                  <a:srgbClr val="0432FF"/>
                </a:solidFill>
                <a:ea typeface="ＭＳ Ｐゴシック" panose="020B0600070205080204" pitchFamily="34" charset="-128"/>
              </a:rPr>
              <a:t>fast (~1ns) and large memory (GB) </a:t>
            </a:r>
            <a:r>
              <a:rPr lang="en-US" altLang="zh-CN" dirty="0">
                <a:solidFill>
                  <a:srgbClr val="0432FF"/>
                </a:solidFill>
                <a:ea typeface="ＭＳ Ｐゴシック" panose="020B0600070205080204" pitchFamily="34" charset="-128"/>
              </a:rPr>
              <a:t>without modifying user code. </a:t>
            </a:r>
            <a:endParaRPr lang="en-US" altLang="en-US" dirty="0">
              <a:solidFill>
                <a:srgbClr val="0432FF"/>
              </a:solidFill>
              <a:ea typeface="ＭＳ Ｐゴシック" panose="020B0600070205080204" pitchFamily="34" charset="-128"/>
            </a:endParaRPr>
          </a:p>
        </p:txBody>
      </p:sp>
      <p:sp>
        <p:nvSpPr>
          <p:cNvPr id="100355" name="Slide Number Placeholder 3">
            <a:extLst>
              <a:ext uri="{FF2B5EF4-FFF2-40B4-BE49-F238E27FC236}">
                <a16:creationId xmlns:a16="http://schemas.microsoft.com/office/drawing/2014/main" id="{D270B87D-2298-AD47-A6F1-C3B3E6F8151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4E9133CC-A329-0840-BB71-4D34B46D004D}" type="slidenum">
              <a:rPr lang="en-US" altLang="en-US" sz="1600" smtClean="0">
                <a:solidFill>
                  <a:srgbClr val="000000"/>
                </a:solidFill>
                <a:latin typeface="Garamond" panose="02020404030301010803" pitchFamily="18" charset="0"/>
              </a:rPr>
              <a:pPr eaLnBrk="1" hangingPunct="1">
                <a:spcBef>
                  <a:spcPct val="0"/>
                </a:spcBef>
                <a:buClrTx/>
                <a:buSzTx/>
                <a:buFontTx/>
                <a:buNone/>
              </a:pPr>
              <a:t>26</a:t>
            </a:fld>
            <a:endParaRPr lang="en-US" altLang="en-US" sz="1600">
              <a:solidFill>
                <a:srgbClr val="000000"/>
              </a:solidFill>
              <a:latin typeface="Garamond" panose="02020404030301010803" pitchFamily="18" charset="0"/>
            </a:endParaRPr>
          </a:p>
        </p:txBody>
      </p:sp>
      <p:pic>
        <p:nvPicPr>
          <p:cNvPr id="6" name="Picture 2" descr="https://i.lih.kg/thumbnail?u=https%3A%2F%2Fpic2.zhimg.com%2Fv2-54cb6a4a26d786a4a1beed71ac2c47e8_1200x500.jpg&amp;h=43a013d0&amp;s=540">
            <a:extLst>
              <a:ext uri="{FF2B5EF4-FFF2-40B4-BE49-F238E27FC236}">
                <a16:creationId xmlns:a16="http://schemas.microsoft.com/office/drawing/2014/main" id="{972A684E-8343-45F7-8318-D375DF065B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600200"/>
            <a:ext cx="3957638" cy="3957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0194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hart 14"/>
          <p:cNvGraphicFramePr>
            <a:graphicFrameLocks/>
          </p:cNvGraphicFramePr>
          <p:nvPr>
            <p:extLst>
              <p:ext uri="{D42A27DB-BD31-4B8C-83A1-F6EECF244321}">
                <p14:modId xmlns:p14="http://schemas.microsoft.com/office/powerpoint/2010/main" val="4161502547"/>
              </p:ext>
            </p:extLst>
          </p:nvPr>
        </p:nvGraphicFramePr>
        <p:xfrm>
          <a:off x="74706" y="1204631"/>
          <a:ext cx="8994588" cy="4647529"/>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p:txBody>
          <a:bodyPr>
            <a:normAutofit/>
          </a:bodyPr>
          <a:lstStyle/>
          <a:p>
            <a:r>
              <a:rPr lang="en-US" dirty="0"/>
              <a:t>DRAM Capacity, Bandwidth &amp; Latency</a:t>
            </a:r>
          </a:p>
        </p:txBody>
      </p:sp>
      <p:sp>
        <p:nvSpPr>
          <p:cNvPr id="9" name="TextBox 8"/>
          <p:cNvSpPr txBox="1"/>
          <p:nvPr/>
        </p:nvSpPr>
        <p:spPr>
          <a:xfrm>
            <a:off x="7744727" y="1230673"/>
            <a:ext cx="100540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D3B62"/>
                </a:solidFill>
                <a:effectLst/>
                <a:uLnTx/>
                <a:uFillTx/>
                <a:latin typeface="Tahoma"/>
                <a:ea typeface="+mn-ea"/>
                <a:cs typeface="+mn-cs"/>
              </a:rPr>
              <a:t>128x</a:t>
            </a:r>
          </a:p>
        </p:txBody>
      </p:sp>
      <p:sp>
        <p:nvSpPr>
          <p:cNvPr id="10" name="TextBox 9"/>
          <p:cNvSpPr txBox="1"/>
          <p:nvPr/>
        </p:nvSpPr>
        <p:spPr>
          <a:xfrm>
            <a:off x="7949911" y="2556978"/>
            <a:ext cx="80021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35742A"/>
                </a:solidFill>
                <a:effectLst/>
                <a:uLnTx/>
                <a:uFillTx/>
                <a:latin typeface="Tahoma"/>
                <a:ea typeface="+mn-ea"/>
                <a:cs typeface="+mn-cs"/>
              </a:rPr>
              <a:t>20x</a:t>
            </a:r>
          </a:p>
        </p:txBody>
      </p:sp>
      <p:sp>
        <p:nvSpPr>
          <p:cNvPr id="11" name="TextBox 10"/>
          <p:cNvSpPr txBox="1"/>
          <p:nvPr/>
        </p:nvSpPr>
        <p:spPr>
          <a:xfrm>
            <a:off x="7860143" y="4202002"/>
            <a:ext cx="88998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4136"/>
                </a:solidFill>
                <a:effectLst/>
                <a:uLnTx/>
                <a:uFillTx/>
                <a:latin typeface="Tahoma"/>
                <a:ea typeface="+mn-ea"/>
                <a:cs typeface="+mn-cs"/>
              </a:rPr>
              <a:t>1.3x</a:t>
            </a:r>
            <a:endParaRPr kumimoji="0" lang="en-US" sz="3200" b="0" i="0" u="none" strike="noStrike" kern="1200" cap="none" spc="0" normalizeH="0" baseline="0" noProof="0" dirty="0">
              <a:ln>
                <a:noFill/>
              </a:ln>
              <a:solidFill>
                <a:srgbClr val="FF4136"/>
              </a:solidFill>
              <a:effectLst/>
              <a:uLnTx/>
              <a:uFillTx/>
              <a:latin typeface="Tahoma"/>
              <a:ea typeface="+mn-ea"/>
              <a:cs typeface="+mn-cs"/>
            </a:endParaRPr>
          </a:p>
        </p:txBody>
      </p:sp>
    </p:spTree>
    <p:extLst>
      <p:ext uri="{BB962C8B-B14F-4D97-AF65-F5344CB8AC3E}">
        <p14:creationId xmlns:p14="http://schemas.microsoft.com/office/powerpoint/2010/main" val="32560780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graphicEl>
                                              <a:chart seriesIdx="-3" categoryIdx="-3" bldStep="gridLegen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graphicEl>
                                              <a:chart seriesIdx="0" categoryIdx="-4" bldStep="series"/>
                                            </p:graphicEl>
                                          </p:spTgt>
                                        </p:tgtEl>
                                        <p:attrNameLst>
                                          <p:attrName>style.visibility</p:attrName>
                                        </p:attrNameLst>
                                      </p:cBhvr>
                                      <p:to>
                                        <p:strVal val="visible"/>
                                      </p:to>
                                    </p:set>
                                  </p:childTnLst>
                                </p:cTn>
                              </p:par>
                            </p:childTnLst>
                          </p:cTn>
                        </p:par>
                        <p:par>
                          <p:cTn id="11" fill="hold">
                            <p:stCondLst>
                              <p:cond delay="0"/>
                            </p:stCondLst>
                            <p:childTnLst>
                              <p:par>
                                <p:cTn id="12" presetID="5" presetClass="entr" presetSubtype="1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checkerboard(across)">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5">
                                            <p:graphicEl>
                                              <a:chart seriesIdx="1" categoryIdx="-4" bldStep="series"/>
                                            </p:graphicEl>
                                          </p:spTgt>
                                        </p:tgtEl>
                                        <p:attrNameLst>
                                          <p:attrName>style.visibility</p:attrName>
                                        </p:attrNameLst>
                                      </p:cBhvr>
                                      <p:to>
                                        <p:strVal val="visible"/>
                                      </p:to>
                                    </p:set>
                                    <p:animEffect transition="in" filter="wipe(left)">
                                      <p:cBhvr>
                                        <p:cTn id="19" dur="500"/>
                                        <p:tgtEl>
                                          <p:spTgt spid="15">
                                            <p:graphicEl>
                                              <a:chart seriesIdx="1" categoryIdx="-4" bldStep="series"/>
                                            </p:graphicEl>
                                          </p:spTgt>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graphicEl>
                                              <a:chart seriesIdx="2" categoryIdx="-4" bldStep="series"/>
                                            </p:graphicEl>
                                          </p:spTgt>
                                        </p:tgtEl>
                                        <p:attrNameLst>
                                          <p:attrName>style.visibility</p:attrName>
                                        </p:attrNameLst>
                                      </p:cBhvr>
                                      <p:to>
                                        <p:strVal val="visible"/>
                                      </p:to>
                                    </p:set>
                                    <p:animEffect transition="in" filter="wipe(left)">
                                      <p:cBhvr>
                                        <p:cTn id="28" dur="2000"/>
                                        <p:tgtEl>
                                          <p:spTgt spid="15">
                                            <p:graphicEl>
                                              <a:chart seriesIdx="2" categoryIdx="-4" bldStep="series"/>
                                            </p:graphicEl>
                                          </p:spTgt>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Sub>
          <a:bldChart bld="series"/>
        </p:bldSub>
      </p:bldGraphic>
      <p:bldP spid="9" grpId="0"/>
      <p:bldP spid="10"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9F145412-D19E-4D45-90F1-E69B0C588DA7}"/>
              </a:ext>
            </a:extLst>
          </p:cNvPr>
          <p:cNvSpPr>
            <a:spLocks noGrp="1" noChangeArrowheads="1"/>
          </p:cNvSpPr>
          <p:nvPr>
            <p:ph type="title"/>
          </p:nvPr>
        </p:nvSpPr>
        <p:spPr/>
        <p:txBody>
          <a:bodyPr/>
          <a:lstStyle/>
          <a:p>
            <a:r>
              <a:rPr lang="en-US" altLang="en-US" dirty="0">
                <a:ea typeface="ＭＳ Ｐゴシック" panose="020B0600070205080204" pitchFamily="34" charset="-128"/>
              </a:rPr>
              <a:t>Why Cache?</a:t>
            </a:r>
          </a:p>
        </p:txBody>
      </p:sp>
      <p:sp>
        <p:nvSpPr>
          <p:cNvPr id="3" name="Content Placeholder 2">
            <a:extLst>
              <a:ext uri="{FF2B5EF4-FFF2-40B4-BE49-F238E27FC236}">
                <a16:creationId xmlns:a16="http://schemas.microsoft.com/office/drawing/2014/main" id="{AC94C12D-0FBD-F942-A0DA-FD137C1F8750}"/>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Observation</a:t>
            </a:r>
            <a:r>
              <a:rPr lang="en-US" altLang="en-US" dirty="0">
                <a:ea typeface="ＭＳ Ｐゴシック" panose="020B0600070205080204" pitchFamily="34" charset="-128"/>
              </a:rPr>
              <a:t>: we cannot achieve both with a single level of memory</a:t>
            </a:r>
          </a:p>
          <a:p>
            <a:endParaRPr lang="en-US" altLang="en-US" dirty="0">
              <a:ea typeface="ＭＳ Ｐゴシック" panose="020B0600070205080204" pitchFamily="34" charset="-128"/>
            </a:endParaRPr>
          </a:p>
          <a:p>
            <a:r>
              <a:rPr lang="en-US" altLang="en-US" b="1" dirty="0">
                <a:ea typeface="ＭＳ Ｐゴシック" panose="020B0600070205080204" pitchFamily="34" charset="-128"/>
              </a:rPr>
              <a:t>Idea</a:t>
            </a:r>
            <a:r>
              <a:rPr lang="en-US" altLang="en-US" dirty="0">
                <a:ea typeface="ＭＳ Ｐゴシック" panose="020B0600070205080204" pitchFamily="34" charset="-128"/>
              </a:rPr>
              <a:t>: </a:t>
            </a:r>
          </a:p>
          <a:p>
            <a:pPr lvl="1"/>
            <a:r>
              <a:rPr lang="en-US" altLang="en-US" dirty="0">
                <a:solidFill>
                  <a:srgbClr val="0000FF"/>
                </a:solidFill>
                <a:ea typeface="ＭＳ Ｐゴシック" panose="020B0600070205080204" pitchFamily="34" charset="-128"/>
              </a:rPr>
              <a:t>Have multiple levels of storage </a:t>
            </a:r>
            <a:r>
              <a:rPr lang="en-US" altLang="en-US" dirty="0">
                <a:ea typeface="ＭＳ Ｐゴシック" panose="020B0600070205080204" pitchFamily="34" charset="-128"/>
              </a:rPr>
              <a:t>(progressively bigger and slower as the levels are farther from the processor) and</a:t>
            </a:r>
          </a:p>
          <a:p>
            <a:pPr lvl="1"/>
            <a:r>
              <a:rPr lang="en-US" altLang="zh-CN" dirty="0">
                <a:solidFill>
                  <a:srgbClr val="0000FF"/>
                </a:solidFill>
                <a:ea typeface="ＭＳ Ｐゴシック" panose="020B0600070205080204" pitchFamily="34" charset="-128"/>
              </a:rPr>
              <a:t>E</a:t>
            </a:r>
            <a:r>
              <a:rPr lang="en-US" altLang="en-US" dirty="0">
                <a:solidFill>
                  <a:srgbClr val="0000FF"/>
                </a:solidFill>
                <a:ea typeface="ＭＳ Ｐゴシック" panose="020B0600070205080204" pitchFamily="34" charset="-128"/>
              </a:rPr>
              <a:t>nsure most of the data the processor need</a:t>
            </a:r>
            <a:r>
              <a:rPr lang="en-US" altLang="zh-CN" dirty="0">
                <a:solidFill>
                  <a:srgbClr val="0000FF"/>
                </a:solidFill>
                <a:ea typeface="ＭＳ Ｐゴシック" panose="020B0600070205080204" pitchFamily="34" charset="-128"/>
              </a:rPr>
              <a:t>ed</a:t>
            </a:r>
            <a:r>
              <a:rPr lang="en-US" altLang="en-US" dirty="0">
                <a:solidFill>
                  <a:srgbClr val="0000FF"/>
                </a:solidFill>
                <a:ea typeface="ＭＳ Ｐゴシック" panose="020B0600070205080204" pitchFamily="34" charset="-128"/>
              </a:rPr>
              <a:t> is kept in the fast(er) level(s). </a:t>
            </a:r>
          </a:p>
        </p:txBody>
      </p:sp>
      <p:sp>
        <p:nvSpPr>
          <p:cNvPr id="100355" name="Slide Number Placeholder 3">
            <a:extLst>
              <a:ext uri="{FF2B5EF4-FFF2-40B4-BE49-F238E27FC236}">
                <a16:creationId xmlns:a16="http://schemas.microsoft.com/office/drawing/2014/main" id="{D270B87D-2298-AD47-A6F1-C3B3E6F81512}"/>
              </a:ext>
            </a:extLst>
          </p:cNvPr>
          <p:cNvSpPr>
            <a:spLocks noGrp="1"/>
          </p:cNvSpPr>
          <p:nvPr>
            <p:ph type="sldNum" sz="quarter" idx="11"/>
          </p:nvPr>
        </p:nvSpPr>
        <p:spPr>
          <a:xfrm>
            <a:off x="8153400" y="6318250"/>
            <a:ext cx="757238"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4E9133CC-A329-0840-BB71-4D34B46D004D}" type="slidenum">
              <a:rPr lang="en-US" altLang="en-US" sz="1600" smtClean="0">
                <a:solidFill>
                  <a:srgbClr val="000000"/>
                </a:solidFill>
                <a:latin typeface="Garamond" panose="02020404030301010803" pitchFamily="18" charset="0"/>
              </a:rPr>
              <a:pPr eaLnBrk="1" hangingPunct="1">
                <a:spcBef>
                  <a:spcPct val="0"/>
                </a:spcBef>
                <a:buClrTx/>
                <a:buSzTx/>
                <a:buFontTx/>
                <a:buNone/>
              </a:pPr>
              <a:t>28</a:t>
            </a:fld>
            <a:endParaRPr lang="en-US" altLang="en-US" sz="1600" dirty="0">
              <a:solidFill>
                <a:srgbClr val="000000"/>
              </a:solidFill>
              <a:latin typeface="Garamond" panose="02020404030301010803" pitchFamily="18" charset="0"/>
            </a:endParaRPr>
          </a:p>
        </p:txBody>
      </p:sp>
      <p:pic>
        <p:nvPicPr>
          <p:cNvPr id="2" name="Picture 1">
            <a:extLst>
              <a:ext uri="{FF2B5EF4-FFF2-40B4-BE49-F238E27FC236}">
                <a16:creationId xmlns:a16="http://schemas.microsoft.com/office/drawing/2014/main" id="{259772FA-D853-C146-9CE7-9D5C910C6B94}"/>
              </a:ext>
            </a:extLst>
          </p:cNvPr>
          <p:cNvPicPr>
            <a:picLocks noChangeAspect="1"/>
          </p:cNvPicPr>
          <p:nvPr/>
        </p:nvPicPr>
        <p:blipFill>
          <a:blip r:embed="rId2"/>
          <a:stretch>
            <a:fillRect/>
          </a:stretch>
        </p:blipFill>
        <p:spPr>
          <a:xfrm>
            <a:off x="1752600" y="4267200"/>
            <a:ext cx="5405438" cy="216670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
            <a:extLst>
              <a:ext uri="{FF2B5EF4-FFF2-40B4-BE49-F238E27FC236}">
                <a16:creationId xmlns:a16="http://schemas.microsoft.com/office/drawing/2014/main" id="{74892F0C-AD0F-C74A-80EC-95AD71DAA340}"/>
              </a:ext>
            </a:extLst>
          </p:cNvPr>
          <p:cNvSpPr>
            <a:spLocks noGrp="1" noChangeArrowheads="1"/>
          </p:cNvSpPr>
          <p:nvPr>
            <p:ph type="title"/>
          </p:nvPr>
        </p:nvSpPr>
        <p:spPr/>
        <p:txBody>
          <a:bodyPr/>
          <a:lstStyle/>
          <a:p>
            <a:r>
              <a:rPr lang="en-US" altLang="en-US" dirty="0">
                <a:ea typeface="ＭＳ Ｐゴシック" panose="020B0600070205080204" pitchFamily="34" charset="-128"/>
              </a:rPr>
              <a:t>Memory Hierarchy</a:t>
            </a:r>
          </a:p>
        </p:txBody>
      </p:sp>
      <p:sp>
        <p:nvSpPr>
          <p:cNvPr id="102402" name="Content Placeholder 2">
            <a:extLst>
              <a:ext uri="{FF2B5EF4-FFF2-40B4-BE49-F238E27FC236}">
                <a16:creationId xmlns:a16="http://schemas.microsoft.com/office/drawing/2014/main" id="{840ECC85-E615-0449-B482-8BFDD2B178C4}"/>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Fundamental tradeoff</a:t>
            </a:r>
          </a:p>
          <a:p>
            <a:pPr lvl="1"/>
            <a:r>
              <a:rPr lang="en-US" altLang="en-US" dirty="0">
                <a:ea typeface="ＭＳ Ｐゴシック" panose="020B0600070205080204" pitchFamily="34" charset="-128"/>
              </a:rPr>
              <a:t>Fast memory: </a:t>
            </a:r>
            <a:r>
              <a:rPr lang="en-US" altLang="en-US" dirty="0">
                <a:solidFill>
                  <a:srgbClr val="FF0000"/>
                </a:solidFill>
                <a:ea typeface="ＭＳ Ｐゴシック" panose="020B0600070205080204" pitchFamily="34" charset="-128"/>
              </a:rPr>
              <a:t>small</a:t>
            </a:r>
          </a:p>
          <a:p>
            <a:pPr lvl="1"/>
            <a:r>
              <a:rPr lang="en-US" altLang="en-US" dirty="0">
                <a:ea typeface="ＭＳ Ｐゴシック" panose="020B0600070205080204" pitchFamily="34" charset="-128"/>
              </a:rPr>
              <a:t>Large memory: </a:t>
            </a:r>
            <a:r>
              <a:rPr lang="en-US" altLang="en-US" dirty="0">
                <a:solidFill>
                  <a:srgbClr val="FF0000"/>
                </a:solidFill>
                <a:ea typeface="ＭＳ Ｐゴシック" panose="020B0600070205080204" pitchFamily="34" charset="-128"/>
              </a:rPr>
              <a:t>slow</a:t>
            </a:r>
          </a:p>
          <a:p>
            <a:r>
              <a:rPr lang="en-US" altLang="en-US" b="1" dirty="0">
                <a:ea typeface="ＭＳ Ｐゴシック" panose="020B0600070205080204" pitchFamily="34" charset="-128"/>
              </a:rPr>
              <a:t>Idea</a:t>
            </a:r>
            <a:r>
              <a:rPr lang="en-US" altLang="en-US" dirty="0">
                <a:ea typeface="ＭＳ Ｐゴシック" panose="020B0600070205080204" pitchFamily="34" charset="-128"/>
              </a:rPr>
              <a:t>: </a:t>
            </a:r>
            <a:r>
              <a:rPr lang="en-US" altLang="en-US" dirty="0">
                <a:solidFill>
                  <a:srgbClr val="0432FF"/>
                </a:solidFill>
                <a:ea typeface="ＭＳ Ｐゴシック" panose="020B0600070205080204" pitchFamily="34" charset="-128"/>
              </a:rPr>
              <a:t>Memory hierarchy.</a:t>
            </a: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r>
              <a:rPr lang="en-US" altLang="en-US" dirty="0">
                <a:ea typeface="ＭＳ Ｐゴシック" panose="020B0600070205080204" pitchFamily="34" charset="-128"/>
              </a:rPr>
              <a:t>Latency, cost, size, </a:t>
            </a:r>
          </a:p>
          <a:p>
            <a:pPr>
              <a:buFont typeface="Wingdings" pitchFamily="2" charset="2"/>
              <a:buNone/>
            </a:pPr>
            <a:r>
              <a:rPr lang="en-US" altLang="en-US" dirty="0">
                <a:ea typeface="ＭＳ Ｐゴシック" panose="020B0600070205080204" pitchFamily="34" charset="-128"/>
              </a:rPr>
              <a:t>    bandwidth</a:t>
            </a:r>
          </a:p>
        </p:txBody>
      </p:sp>
      <p:sp>
        <p:nvSpPr>
          <p:cNvPr id="102403" name="Slide Number Placeholder 3">
            <a:extLst>
              <a:ext uri="{FF2B5EF4-FFF2-40B4-BE49-F238E27FC236}">
                <a16:creationId xmlns:a16="http://schemas.microsoft.com/office/drawing/2014/main" id="{D5FE59F5-974C-2C4D-B279-B2B9F28ED25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1CE1DD80-F417-884C-9348-7C263E802CDA}" type="slidenum">
              <a:rPr lang="en-US" altLang="en-US" sz="1600" smtClean="0">
                <a:solidFill>
                  <a:srgbClr val="000000"/>
                </a:solidFill>
                <a:latin typeface="Garamond" panose="02020404030301010803" pitchFamily="18" charset="0"/>
              </a:rPr>
              <a:pPr eaLnBrk="1" hangingPunct="1">
                <a:spcBef>
                  <a:spcPct val="0"/>
                </a:spcBef>
                <a:buClrTx/>
                <a:buSzTx/>
                <a:buFontTx/>
                <a:buNone/>
              </a:pPr>
              <a:t>29</a:t>
            </a:fld>
            <a:endParaRPr lang="en-US" altLang="en-US" sz="1600">
              <a:solidFill>
                <a:srgbClr val="000000"/>
              </a:solidFill>
              <a:latin typeface="Garamond" panose="02020404030301010803" pitchFamily="18" charset="0"/>
            </a:endParaRPr>
          </a:p>
        </p:txBody>
      </p:sp>
      <p:sp>
        <p:nvSpPr>
          <p:cNvPr id="102404" name="Rectangle 5">
            <a:extLst>
              <a:ext uri="{FF2B5EF4-FFF2-40B4-BE49-F238E27FC236}">
                <a16:creationId xmlns:a16="http://schemas.microsoft.com/office/drawing/2014/main" id="{23ED62AA-A1C7-B04D-A611-344C731431AE}"/>
              </a:ext>
            </a:extLst>
          </p:cNvPr>
          <p:cNvSpPr>
            <a:spLocks noChangeArrowheads="1"/>
          </p:cNvSpPr>
          <p:nvPr/>
        </p:nvSpPr>
        <p:spPr bwMode="auto">
          <a:xfrm>
            <a:off x="390525" y="3398838"/>
            <a:ext cx="887413" cy="127476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2405" name="Rectangle 6">
            <a:extLst>
              <a:ext uri="{FF2B5EF4-FFF2-40B4-BE49-F238E27FC236}">
                <a16:creationId xmlns:a16="http://schemas.microsoft.com/office/drawing/2014/main" id="{D0ED5107-37DD-3C4E-9C97-96C4C8475C34}"/>
              </a:ext>
            </a:extLst>
          </p:cNvPr>
          <p:cNvSpPr>
            <a:spLocks noChangeArrowheads="1"/>
          </p:cNvSpPr>
          <p:nvPr/>
        </p:nvSpPr>
        <p:spPr bwMode="auto">
          <a:xfrm>
            <a:off x="4164013" y="2035175"/>
            <a:ext cx="2489200" cy="41560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2406" name="TextBox 7">
            <a:extLst>
              <a:ext uri="{FF2B5EF4-FFF2-40B4-BE49-F238E27FC236}">
                <a16:creationId xmlns:a16="http://schemas.microsoft.com/office/drawing/2014/main" id="{DE5BA5D8-CF1B-3D49-BE56-2D23632686FB}"/>
              </a:ext>
            </a:extLst>
          </p:cNvPr>
          <p:cNvSpPr txBox="1">
            <a:spLocks noChangeArrowheads="1"/>
          </p:cNvSpPr>
          <p:nvPr/>
        </p:nvSpPr>
        <p:spPr bwMode="auto">
          <a:xfrm>
            <a:off x="492125" y="3833813"/>
            <a:ext cx="673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CPU</a:t>
            </a:r>
          </a:p>
        </p:txBody>
      </p:sp>
      <p:sp>
        <p:nvSpPr>
          <p:cNvPr id="102407" name="TextBox 8">
            <a:extLst>
              <a:ext uri="{FF2B5EF4-FFF2-40B4-BE49-F238E27FC236}">
                <a16:creationId xmlns:a16="http://schemas.microsoft.com/office/drawing/2014/main" id="{D505680F-A01F-7F49-B137-B3514B7D9B1B}"/>
              </a:ext>
            </a:extLst>
          </p:cNvPr>
          <p:cNvSpPr txBox="1">
            <a:spLocks noChangeArrowheads="1"/>
          </p:cNvSpPr>
          <p:nvPr/>
        </p:nvSpPr>
        <p:spPr bwMode="auto">
          <a:xfrm>
            <a:off x="4860925" y="3559175"/>
            <a:ext cx="10175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a:solidFill>
                  <a:srgbClr val="000000"/>
                </a:solidFill>
                <a:latin typeface="Arial" panose="020B0604020202020204" pitchFamily="34" charset="0"/>
              </a:rPr>
              <a:t>Main</a:t>
            </a:r>
          </a:p>
          <a:p>
            <a:pPr algn="ctr" eaLnBrk="1" hangingPunct="1">
              <a:spcBef>
                <a:spcPct val="0"/>
              </a:spcBef>
              <a:buClrTx/>
              <a:buSzTx/>
              <a:buFontTx/>
              <a:buNone/>
            </a:pPr>
            <a:r>
              <a:rPr lang="en-US" altLang="en-US" sz="1800">
                <a:solidFill>
                  <a:srgbClr val="000000"/>
                </a:solidFill>
                <a:latin typeface="Arial" panose="020B0604020202020204" pitchFamily="34" charset="0"/>
              </a:rPr>
              <a:t>Memory</a:t>
            </a:r>
          </a:p>
          <a:p>
            <a:pPr algn="ctr" eaLnBrk="1" hangingPunct="1">
              <a:spcBef>
                <a:spcPct val="0"/>
              </a:spcBef>
              <a:buClrTx/>
              <a:buSzTx/>
              <a:buFontTx/>
              <a:buNone/>
            </a:pPr>
            <a:r>
              <a:rPr lang="en-US" altLang="en-US" sz="1800">
                <a:solidFill>
                  <a:srgbClr val="000000"/>
                </a:solidFill>
                <a:latin typeface="Arial" panose="020B0604020202020204" pitchFamily="34" charset="0"/>
              </a:rPr>
              <a:t>(DRAM)</a:t>
            </a:r>
          </a:p>
          <a:p>
            <a:pPr algn="ct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2408" name="TextBox 9">
            <a:extLst>
              <a:ext uri="{FF2B5EF4-FFF2-40B4-BE49-F238E27FC236}">
                <a16:creationId xmlns:a16="http://schemas.microsoft.com/office/drawing/2014/main" id="{8F3AB7EC-7FE5-3D46-A590-914406417050}"/>
              </a:ext>
            </a:extLst>
          </p:cNvPr>
          <p:cNvSpPr txBox="1">
            <a:spLocks noChangeArrowheads="1"/>
          </p:cNvSpPr>
          <p:nvPr/>
        </p:nvSpPr>
        <p:spPr bwMode="auto">
          <a:xfrm>
            <a:off x="588963" y="4202113"/>
            <a:ext cx="492125"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RF</a:t>
            </a:r>
          </a:p>
        </p:txBody>
      </p:sp>
      <p:sp>
        <p:nvSpPr>
          <p:cNvPr id="102409" name="Rectangle 10">
            <a:extLst>
              <a:ext uri="{FF2B5EF4-FFF2-40B4-BE49-F238E27FC236}">
                <a16:creationId xmlns:a16="http://schemas.microsoft.com/office/drawing/2014/main" id="{DDF01213-4BAF-214D-B77C-AA186EB9AC49}"/>
              </a:ext>
            </a:extLst>
          </p:cNvPr>
          <p:cNvSpPr>
            <a:spLocks noChangeArrowheads="1"/>
          </p:cNvSpPr>
          <p:nvPr/>
        </p:nvSpPr>
        <p:spPr bwMode="auto">
          <a:xfrm>
            <a:off x="1430338" y="3398838"/>
            <a:ext cx="885825" cy="127476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2410" name="TextBox 11">
            <a:extLst>
              <a:ext uri="{FF2B5EF4-FFF2-40B4-BE49-F238E27FC236}">
                <a16:creationId xmlns:a16="http://schemas.microsoft.com/office/drawing/2014/main" id="{D940F9DB-E46D-BA44-A214-B3AD1675060E}"/>
              </a:ext>
            </a:extLst>
          </p:cNvPr>
          <p:cNvSpPr txBox="1">
            <a:spLocks noChangeArrowheads="1"/>
          </p:cNvSpPr>
          <p:nvPr/>
        </p:nvSpPr>
        <p:spPr bwMode="auto">
          <a:xfrm>
            <a:off x="1430338" y="3833813"/>
            <a:ext cx="885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a:solidFill>
                  <a:srgbClr val="000000"/>
                </a:solidFill>
                <a:latin typeface="Arial" panose="020B0604020202020204" pitchFamily="34" charset="0"/>
              </a:rPr>
              <a:t>Cache</a:t>
            </a:r>
          </a:p>
        </p:txBody>
      </p:sp>
      <p:cxnSp>
        <p:nvCxnSpPr>
          <p:cNvPr id="102411" name="Straight Arrow Connector 12">
            <a:extLst>
              <a:ext uri="{FF2B5EF4-FFF2-40B4-BE49-F238E27FC236}">
                <a16:creationId xmlns:a16="http://schemas.microsoft.com/office/drawing/2014/main" id="{D41BD836-0D7A-5347-9DA0-F6D58CB9154C}"/>
              </a:ext>
            </a:extLst>
          </p:cNvPr>
          <p:cNvCxnSpPr>
            <a:cxnSpLocks noChangeShapeType="1"/>
            <a:endCxn id="102409" idx="3"/>
          </p:cNvCxnSpPr>
          <p:nvPr/>
        </p:nvCxnSpPr>
        <p:spPr bwMode="auto">
          <a:xfrm rot="10800000">
            <a:off x="2316163" y="4037013"/>
            <a:ext cx="1847850" cy="9525"/>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102412" name="Rectangle 13">
            <a:extLst>
              <a:ext uri="{FF2B5EF4-FFF2-40B4-BE49-F238E27FC236}">
                <a16:creationId xmlns:a16="http://schemas.microsoft.com/office/drawing/2014/main" id="{FEFDEC79-7933-C248-863D-3A6773BD3E78}"/>
              </a:ext>
            </a:extLst>
          </p:cNvPr>
          <p:cNvSpPr>
            <a:spLocks noChangeArrowheads="1"/>
          </p:cNvSpPr>
          <p:nvPr/>
        </p:nvSpPr>
        <p:spPr bwMode="auto">
          <a:xfrm>
            <a:off x="6778625" y="996950"/>
            <a:ext cx="2160588" cy="51943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2413" name="TextBox 14">
            <a:extLst>
              <a:ext uri="{FF2B5EF4-FFF2-40B4-BE49-F238E27FC236}">
                <a16:creationId xmlns:a16="http://schemas.microsoft.com/office/drawing/2014/main" id="{B1944A9A-804D-E94E-957C-3C43AEA6D710}"/>
              </a:ext>
            </a:extLst>
          </p:cNvPr>
          <p:cNvSpPr txBox="1">
            <a:spLocks noChangeArrowheads="1"/>
          </p:cNvSpPr>
          <p:nvPr/>
        </p:nvSpPr>
        <p:spPr bwMode="auto">
          <a:xfrm>
            <a:off x="7377113" y="3235325"/>
            <a:ext cx="11969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a:solidFill>
                  <a:srgbClr val="000000"/>
                </a:solidFill>
                <a:latin typeface="Arial" panose="020B0604020202020204" pitchFamily="34" charset="0"/>
              </a:rPr>
              <a:t>Hard Disk</a:t>
            </a:r>
          </a:p>
          <a:p>
            <a:pPr algn="ctr" eaLnBrk="1" hangingPunct="1">
              <a:spcBef>
                <a:spcPct val="0"/>
              </a:spcBef>
              <a:buClrTx/>
              <a:buSzTx/>
              <a:buFontTx/>
              <a:buNone/>
            </a:pPr>
            <a:endParaRPr lang="en-US" altLang="en-US" sz="1800">
              <a:solidFill>
                <a:srgbClr val="000000"/>
              </a:solidFill>
              <a:latin typeface="Arial" panose="020B0604020202020204" pitchFamily="34" charset="0"/>
            </a:endParaRPr>
          </a:p>
        </p:txBody>
      </p:sp>
      <p:cxnSp>
        <p:nvCxnSpPr>
          <p:cNvPr id="102414" name="Straight Arrow Connector 15">
            <a:extLst>
              <a:ext uri="{FF2B5EF4-FFF2-40B4-BE49-F238E27FC236}">
                <a16:creationId xmlns:a16="http://schemas.microsoft.com/office/drawing/2014/main" id="{81CCBB92-84FE-CB46-B065-BCEA4FD4BAFF}"/>
              </a:ext>
            </a:extLst>
          </p:cNvPr>
          <p:cNvCxnSpPr>
            <a:cxnSpLocks noChangeShapeType="1"/>
            <a:stCxn id="102410" idx="1"/>
          </p:cNvCxnSpPr>
          <p:nvPr/>
        </p:nvCxnSpPr>
        <p:spPr bwMode="auto">
          <a:xfrm rot="10800000" flipV="1">
            <a:off x="1277938" y="4017963"/>
            <a:ext cx="152400" cy="7937"/>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a:extLst>
              <a:ext uri="{FF2B5EF4-FFF2-40B4-BE49-F238E27FC236}">
                <a16:creationId xmlns:a16="http://schemas.microsoft.com/office/drawing/2014/main" id="{24EF860C-C9B3-E346-B775-D2056A52FCB3}"/>
              </a:ext>
            </a:extLst>
          </p:cNvPr>
          <p:cNvSpPr>
            <a:spLocks noGrp="1" noChangeArrowheads="1"/>
          </p:cNvSpPr>
          <p:nvPr>
            <p:ph type="title"/>
          </p:nvPr>
        </p:nvSpPr>
        <p:spPr/>
        <p:txBody>
          <a:bodyPr/>
          <a:lstStyle/>
          <a:p>
            <a:r>
              <a:rPr lang="en-US" altLang="en-US">
                <a:ea typeface="ＭＳ Ｐゴシック" panose="020B0600070205080204" pitchFamily="34" charset="-128"/>
              </a:rPr>
              <a:t>The Memory Hierarchy</a:t>
            </a:r>
          </a:p>
        </p:txBody>
      </p:sp>
      <p:sp>
        <p:nvSpPr>
          <p:cNvPr id="101378" name="Content Placeholder 2">
            <a:extLst>
              <a:ext uri="{FF2B5EF4-FFF2-40B4-BE49-F238E27FC236}">
                <a16:creationId xmlns:a16="http://schemas.microsoft.com/office/drawing/2014/main" id="{BF9DEA2A-B307-9A4F-8D60-450B316F7AC7}"/>
              </a:ext>
            </a:extLst>
          </p:cNvPr>
          <p:cNvSpPr>
            <a:spLocks noGrp="1" noChangeArrowheads="1"/>
          </p:cNvSpPr>
          <p:nvPr>
            <p:ph idx="1"/>
          </p:nvPr>
        </p:nvSpPr>
        <p:spPr>
          <a:xfrm>
            <a:off x="228600" y="996950"/>
            <a:ext cx="8610600" cy="5194300"/>
          </a:xfrm>
        </p:spPr>
        <p:txBody>
          <a:bodyPr/>
          <a:lstStyle/>
          <a:p>
            <a:endParaRPr lang="en-US" altLang="en-US" dirty="0">
              <a:ea typeface="ＭＳ Ｐゴシック" panose="020B0600070205080204" pitchFamily="34" charset="-128"/>
            </a:endParaRPr>
          </a:p>
        </p:txBody>
      </p:sp>
      <p:sp>
        <p:nvSpPr>
          <p:cNvPr id="101379" name="Slide Number Placeholder 3">
            <a:extLst>
              <a:ext uri="{FF2B5EF4-FFF2-40B4-BE49-F238E27FC236}">
                <a16:creationId xmlns:a16="http://schemas.microsoft.com/office/drawing/2014/main" id="{B76FDCDE-F600-074F-A6EC-DDA2A356767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9501E5BD-A618-3847-A17A-235D000E0A80}" type="slidenum">
              <a:rPr lang="en-US" altLang="en-US" sz="1600" smtClean="0">
                <a:solidFill>
                  <a:srgbClr val="000000"/>
                </a:solidFill>
                <a:latin typeface="Garamond" panose="02020404030301010803" pitchFamily="18" charset="0"/>
              </a:rPr>
              <a:pPr eaLnBrk="1" hangingPunct="1">
                <a:spcBef>
                  <a:spcPct val="0"/>
                </a:spcBef>
                <a:buClrTx/>
                <a:buSzTx/>
                <a:buFontTx/>
                <a:buNone/>
              </a:pPr>
              <a:t>30</a:t>
            </a:fld>
            <a:endParaRPr lang="en-US" altLang="en-US" sz="1600">
              <a:solidFill>
                <a:srgbClr val="000000"/>
              </a:solidFill>
              <a:latin typeface="Garamond" panose="02020404030301010803" pitchFamily="18" charset="0"/>
            </a:endParaRPr>
          </a:p>
        </p:txBody>
      </p:sp>
      <p:sp>
        <p:nvSpPr>
          <p:cNvPr id="101380" name="Rectangle 3">
            <a:extLst>
              <a:ext uri="{FF2B5EF4-FFF2-40B4-BE49-F238E27FC236}">
                <a16:creationId xmlns:a16="http://schemas.microsoft.com/office/drawing/2014/main" id="{EEA30AAB-C798-B74E-A09D-FB164702689E}"/>
              </a:ext>
            </a:extLst>
          </p:cNvPr>
          <p:cNvSpPr>
            <a:spLocks noChangeArrowheads="1"/>
          </p:cNvSpPr>
          <p:nvPr/>
        </p:nvSpPr>
        <p:spPr bwMode="auto">
          <a:xfrm>
            <a:off x="5861050" y="1447800"/>
            <a:ext cx="8509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a:solidFill>
                  <a:srgbClr val="000000"/>
                </a:solidFill>
                <a:latin typeface="Calibri" panose="020F0502020204030204" pitchFamily="34" charset="0"/>
              </a:rPr>
              <a:t>fast</a:t>
            </a:r>
          </a:p>
          <a:p>
            <a:pPr eaLnBrk="1" hangingPunct="1">
              <a:spcBef>
                <a:spcPct val="0"/>
              </a:spcBef>
              <a:buClrTx/>
              <a:buSzTx/>
              <a:buFontTx/>
              <a:buNone/>
            </a:pPr>
            <a:r>
              <a:rPr lang="en-US" altLang="en-US" sz="2800">
                <a:solidFill>
                  <a:srgbClr val="000000"/>
                </a:solidFill>
                <a:latin typeface="Calibri" panose="020F0502020204030204" pitchFamily="34" charset="0"/>
              </a:rPr>
              <a:t>small</a:t>
            </a:r>
          </a:p>
        </p:txBody>
      </p:sp>
      <p:sp>
        <p:nvSpPr>
          <p:cNvPr id="101381" name="Rectangle 4">
            <a:extLst>
              <a:ext uri="{FF2B5EF4-FFF2-40B4-BE49-F238E27FC236}">
                <a16:creationId xmlns:a16="http://schemas.microsoft.com/office/drawing/2014/main" id="{FCD3A02B-CA3C-8748-AC8E-350EC6970677}"/>
              </a:ext>
            </a:extLst>
          </p:cNvPr>
          <p:cNvSpPr>
            <a:spLocks noChangeArrowheads="1"/>
          </p:cNvSpPr>
          <p:nvPr/>
        </p:nvSpPr>
        <p:spPr bwMode="auto">
          <a:xfrm>
            <a:off x="3733800" y="5257800"/>
            <a:ext cx="5105400" cy="11430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000000"/>
                </a:solidFill>
                <a:latin typeface="Calibri" panose="020F0502020204030204" pitchFamily="34" charset="0"/>
              </a:rPr>
              <a:t>large but slow</a:t>
            </a:r>
          </a:p>
        </p:txBody>
      </p:sp>
      <p:sp>
        <p:nvSpPr>
          <p:cNvPr id="101382" name="Text Box 5">
            <a:extLst>
              <a:ext uri="{FF2B5EF4-FFF2-40B4-BE49-F238E27FC236}">
                <a16:creationId xmlns:a16="http://schemas.microsoft.com/office/drawing/2014/main" id="{5AEDE471-890E-904C-9E04-FC60E75EEB41}"/>
              </a:ext>
            </a:extLst>
          </p:cNvPr>
          <p:cNvSpPr txBox="1">
            <a:spLocks noChangeArrowheads="1"/>
          </p:cNvSpPr>
          <p:nvPr/>
        </p:nvSpPr>
        <p:spPr bwMode="auto">
          <a:xfrm>
            <a:off x="682625" y="1455738"/>
            <a:ext cx="3767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5F5F5F"/>
                </a:solidFill>
                <a:latin typeface="Calibri" panose="020F0502020204030204" pitchFamily="34" charset="0"/>
              </a:rPr>
              <a:t>move what you use here</a:t>
            </a:r>
          </a:p>
        </p:txBody>
      </p:sp>
      <p:sp>
        <p:nvSpPr>
          <p:cNvPr id="101383" name="Freeform 6">
            <a:extLst>
              <a:ext uri="{FF2B5EF4-FFF2-40B4-BE49-F238E27FC236}">
                <a16:creationId xmlns:a16="http://schemas.microsoft.com/office/drawing/2014/main" id="{EAADD83C-3DEC-D64E-B4CE-DDDB98A9E576}"/>
              </a:ext>
            </a:extLst>
          </p:cNvPr>
          <p:cNvSpPr>
            <a:spLocks/>
          </p:cNvSpPr>
          <p:nvPr/>
        </p:nvSpPr>
        <p:spPr bwMode="auto">
          <a:xfrm flipH="1" flipV="1">
            <a:off x="4648200" y="1533525"/>
            <a:ext cx="1219200" cy="446088"/>
          </a:xfrm>
          <a:custGeom>
            <a:avLst/>
            <a:gdLst>
              <a:gd name="T0" fmla="*/ 2147483646 w 768"/>
              <a:gd name="T1" fmla="*/ 2147483646 h 281"/>
              <a:gd name="T2" fmla="*/ 2147483646 w 768"/>
              <a:gd name="T3" fmla="*/ 2147483646 h 281"/>
              <a:gd name="T4" fmla="*/ 2147483646 w 768"/>
              <a:gd name="T5" fmla="*/ 2147483646 h 281"/>
              <a:gd name="T6" fmla="*/ 0 w 768"/>
              <a:gd name="T7" fmla="*/ 2147483646 h 281"/>
              <a:gd name="T8" fmla="*/ 0 60000 65536"/>
              <a:gd name="T9" fmla="*/ 0 60000 65536"/>
              <a:gd name="T10" fmla="*/ 0 60000 65536"/>
              <a:gd name="T11" fmla="*/ 0 60000 65536"/>
              <a:gd name="T12" fmla="*/ 0 w 768"/>
              <a:gd name="T13" fmla="*/ 0 h 281"/>
              <a:gd name="T14" fmla="*/ 768 w 768"/>
              <a:gd name="T15" fmla="*/ 281 h 281"/>
            </a:gdLst>
            <a:ahLst/>
            <a:cxnLst>
              <a:cxn ang="T8">
                <a:pos x="T0" y="T1"/>
              </a:cxn>
              <a:cxn ang="T9">
                <a:pos x="T2" y="T3"/>
              </a:cxn>
              <a:cxn ang="T10">
                <a:pos x="T4" y="T5"/>
              </a:cxn>
              <a:cxn ang="T11">
                <a:pos x="T6" y="T7"/>
              </a:cxn>
            </a:cxnLst>
            <a:rect l="T12" t="T13" r="T14" b="T15"/>
            <a:pathLst>
              <a:path w="768" h="281">
                <a:moveTo>
                  <a:pt x="768" y="138"/>
                </a:moveTo>
                <a:cubicBezTo>
                  <a:pt x="692" y="118"/>
                  <a:pt x="355" y="0"/>
                  <a:pt x="313" y="19"/>
                </a:cubicBezTo>
                <a:cubicBezTo>
                  <a:pt x="271" y="38"/>
                  <a:pt x="565" y="225"/>
                  <a:pt x="513" y="253"/>
                </a:cubicBezTo>
                <a:cubicBezTo>
                  <a:pt x="461" y="281"/>
                  <a:pt x="107" y="200"/>
                  <a:pt x="0" y="186"/>
                </a:cubicBezTo>
              </a:path>
            </a:pathLst>
          </a:custGeom>
          <a:noFill/>
          <a:ln w="19050"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384" name="Text Box 7">
            <a:extLst>
              <a:ext uri="{FF2B5EF4-FFF2-40B4-BE49-F238E27FC236}">
                <a16:creationId xmlns:a16="http://schemas.microsoft.com/office/drawing/2014/main" id="{14947269-24D1-9E4C-A817-F869A18C29D5}"/>
              </a:ext>
            </a:extLst>
          </p:cNvPr>
          <p:cNvSpPr txBox="1">
            <a:spLocks noChangeArrowheads="1"/>
          </p:cNvSpPr>
          <p:nvPr/>
        </p:nvSpPr>
        <p:spPr bwMode="auto">
          <a:xfrm>
            <a:off x="797718" y="5068093"/>
            <a:ext cx="17367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5F5F5F"/>
                </a:solidFill>
                <a:latin typeface="Calibri" panose="020F0502020204030204" pitchFamily="34" charset="0"/>
              </a:rPr>
              <a:t>backup</a:t>
            </a:r>
          </a:p>
          <a:p>
            <a:pPr eaLnBrk="1" hangingPunct="1">
              <a:spcBef>
                <a:spcPct val="0"/>
              </a:spcBef>
              <a:buClrTx/>
              <a:buSzTx/>
              <a:buFontTx/>
              <a:buNone/>
            </a:pPr>
            <a:r>
              <a:rPr lang="en-US" altLang="en-US" sz="2800" dirty="0">
                <a:solidFill>
                  <a:srgbClr val="5F5F5F"/>
                </a:solidFill>
                <a:latin typeface="Calibri" panose="020F0502020204030204" pitchFamily="34" charset="0"/>
              </a:rPr>
              <a:t>everything</a:t>
            </a:r>
          </a:p>
          <a:p>
            <a:pPr eaLnBrk="1" hangingPunct="1">
              <a:spcBef>
                <a:spcPct val="0"/>
              </a:spcBef>
              <a:buClrTx/>
              <a:buSzTx/>
              <a:buFontTx/>
              <a:buNone/>
            </a:pPr>
            <a:r>
              <a:rPr lang="en-US" altLang="en-US" sz="2800" dirty="0">
                <a:solidFill>
                  <a:srgbClr val="5F5F5F"/>
                </a:solidFill>
                <a:latin typeface="Calibri" panose="020F0502020204030204" pitchFamily="34" charset="0"/>
              </a:rPr>
              <a:t>here</a:t>
            </a:r>
          </a:p>
        </p:txBody>
      </p:sp>
      <p:sp>
        <p:nvSpPr>
          <p:cNvPr id="101385" name="Freeform 8">
            <a:extLst>
              <a:ext uri="{FF2B5EF4-FFF2-40B4-BE49-F238E27FC236}">
                <a16:creationId xmlns:a16="http://schemas.microsoft.com/office/drawing/2014/main" id="{BFA0E430-4762-844F-AD59-818AC35B67CB}"/>
              </a:ext>
            </a:extLst>
          </p:cNvPr>
          <p:cNvSpPr>
            <a:spLocks/>
          </p:cNvSpPr>
          <p:nvPr/>
        </p:nvSpPr>
        <p:spPr bwMode="auto">
          <a:xfrm flipH="1">
            <a:off x="2590800" y="5562600"/>
            <a:ext cx="1143000" cy="446088"/>
          </a:xfrm>
          <a:custGeom>
            <a:avLst/>
            <a:gdLst>
              <a:gd name="T0" fmla="*/ 2147483646 w 768"/>
              <a:gd name="T1" fmla="*/ 2147483646 h 281"/>
              <a:gd name="T2" fmla="*/ 2147483646 w 768"/>
              <a:gd name="T3" fmla="*/ 2147483646 h 281"/>
              <a:gd name="T4" fmla="*/ 2147483646 w 768"/>
              <a:gd name="T5" fmla="*/ 2147483646 h 281"/>
              <a:gd name="T6" fmla="*/ 0 w 768"/>
              <a:gd name="T7" fmla="*/ 2147483646 h 281"/>
              <a:gd name="T8" fmla="*/ 0 60000 65536"/>
              <a:gd name="T9" fmla="*/ 0 60000 65536"/>
              <a:gd name="T10" fmla="*/ 0 60000 65536"/>
              <a:gd name="T11" fmla="*/ 0 60000 65536"/>
              <a:gd name="T12" fmla="*/ 0 w 768"/>
              <a:gd name="T13" fmla="*/ 0 h 281"/>
              <a:gd name="T14" fmla="*/ 768 w 768"/>
              <a:gd name="T15" fmla="*/ 281 h 281"/>
            </a:gdLst>
            <a:ahLst/>
            <a:cxnLst>
              <a:cxn ang="T8">
                <a:pos x="T0" y="T1"/>
              </a:cxn>
              <a:cxn ang="T9">
                <a:pos x="T2" y="T3"/>
              </a:cxn>
              <a:cxn ang="T10">
                <a:pos x="T4" y="T5"/>
              </a:cxn>
              <a:cxn ang="T11">
                <a:pos x="T6" y="T7"/>
              </a:cxn>
            </a:cxnLst>
            <a:rect l="T12" t="T13" r="T14" b="T15"/>
            <a:pathLst>
              <a:path w="768" h="281">
                <a:moveTo>
                  <a:pt x="768" y="138"/>
                </a:moveTo>
                <a:cubicBezTo>
                  <a:pt x="692" y="118"/>
                  <a:pt x="355" y="0"/>
                  <a:pt x="313" y="19"/>
                </a:cubicBezTo>
                <a:cubicBezTo>
                  <a:pt x="271" y="38"/>
                  <a:pt x="565" y="225"/>
                  <a:pt x="513" y="253"/>
                </a:cubicBezTo>
                <a:cubicBezTo>
                  <a:pt x="461" y="281"/>
                  <a:pt x="107" y="200"/>
                  <a:pt x="0" y="186"/>
                </a:cubicBezTo>
              </a:path>
            </a:pathLst>
          </a:custGeom>
          <a:noFill/>
          <a:ln w="19050"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386" name="Text Box 9">
            <a:extLst>
              <a:ext uri="{FF2B5EF4-FFF2-40B4-BE49-F238E27FC236}">
                <a16:creationId xmlns:a16="http://schemas.microsoft.com/office/drawing/2014/main" id="{B2C5ECFC-3750-5948-B3B8-77C63F1E2E38}"/>
              </a:ext>
            </a:extLst>
          </p:cNvPr>
          <p:cNvSpPr txBox="1">
            <a:spLocks noChangeArrowheads="1"/>
          </p:cNvSpPr>
          <p:nvPr/>
        </p:nvSpPr>
        <p:spPr bwMode="auto">
          <a:xfrm>
            <a:off x="457200" y="2743200"/>
            <a:ext cx="33877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0432FF"/>
                </a:solidFill>
                <a:latin typeface="Calibri" panose="020F0502020204030204" pitchFamily="34" charset="0"/>
              </a:rPr>
              <a:t>With good locality of reference, memory appears </a:t>
            </a:r>
            <a:r>
              <a:rPr lang="en-US" altLang="en-US" sz="2800" b="1" dirty="0">
                <a:solidFill>
                  <a:srgbClr val="0432FF"/>
                </a:solidFill>
                <a:latin typeface="Calibri" panose="020F0502020204030204" pitchFamily="34" charset="0"/>
              </a:rPr>
              <a:t>as fast as</a:t>
            </a:r>
          </a:p>
          <a:p>
            <a:pPr eaLnBrk="1" hangingPunct="1">
              <a:spcBef>
                <a:spcPct val="0"/>
              </a:spcBef>
              <a:buClrTx/>
              <a:buSzTx/>
              <a:buFontTx/>
              <a:buNone/>
            </a:pPr>
            <a:r>
              <a:rPr lang="en-US" altLang="en-US" sz="2800" dirty="0">
                <a:solidFill>
                  <a:srgbClr val="0432FF"/>
                </a:solidFill>
                <a:latin typeface="Calibri" panose="020F0502020204030204" pitchFamily="34" charset="0"/>
              </a:rPr>
              <a:t>and </a:t>
            </a:r>
            <a:r>
              <a:rPr lang="en-US" altLang="en-US" sz="2800" b="1" dirty="0">
                <a:solidFill>
                  <a:srgbClr val="0432FF"/>
                </a:solidFill>
                <a:latin typeface="Calibri" panose="020F0502020204030204" pitchFamily="34" charset="0"/>
              </a:rPr>
              <a:t>as large as</a:t>
            </a:r>
            <a:r>
              <a:rPr lang="en-US" altLang="en-US" sz="2800" dirty="0">
                <a:solidFill>
                  <a:srgbClr val="0432FF"/>
                </a:solidFill>
                <a:latin typeface="Calibri" panose="020F0502020204030204" pitchFamily="34" charset="0"/>
              </a:rPr>
              <a:t>  </a:t>
            </a:r>
          </a:p>
        </p:txBody>
      </p:sp>
      <p:sp>
        <p:nvSpPr>
          <p:cNvPr id="101387" name="Line 10">
            <a:extLst>
              <a:ext uri="{FF2B5EF4-FFF2-40B4-BE49-F238E27FC236}">
                <a16:creationId xmlns:a16="http://schemas.microsoft.com/office/drawing/2014/main" id="{0364EDF0-1D20-684B-9735-9675C79090F0}"/>
              </a:ext>
            </a:extLst>
          </p:cNvPr>
          <p:cNvSpPr>
            <a:spLocks noChangeShapeType="1"/>
          </p:cNvSpPr>
          <p:nvPr/>
        </p:nvSpPr>
        <p:spPr bwMode="auto">
          <a:xfrm flipV="1">
            <a:off x="3200400" y="1966913"/>
            <a:ext cx="2667000" cy="1919287"/>
          </a:xfrm>
          <a:prstGeom prst="line">
            <a:avLst/>
          </a:prstGeom>
          <a:noFill/>
          <a:ln w="19050">
            <a:solidFill>
              <a:schemeClr val="tx1"/>
            </a:solidFill>
            <a:round/>
            <a:headEnd type="oval" w="lg" len="lg"/>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1388" name="Line 11">
            <a:extLst>
              <a:ext uri="{FF2B5EF4-FFF2-40B4-BE49-F238E27FC236}">
                <a16:creationId xmlns:a16="http://schemas.microsoft.com/office/drawing/2014/main" id="{68E7B3FD-C5A1-9746-A385-4FD8A8840941}"/>
              </a:ext>
            </a:extLst>
          </p:cNvPr>
          <p:cNvSpPr>
            <a:spLocks noChangeShapeType="1"/>
          </p:cNvSpPr>
          <p:nvPr/>
        </p:nvSpPr>
        <p:spPr bwMode="auto">
          <a:xfrm>
            <a:off x="2743200" y="4343400"/>
            <a:ext cx="1522413" cy="925513"/>
          </a:xfrm>
          <a:prstGeom prst="line">
            <a:avLst/>
          </a:prstGeom>
          <a:noFill/>
          <a:ln w="19050">
            <a:solidFill>
              <a:schemeClr val="tx1"/>
            </a:solidFill>
            <a:round/>
            <a:headEnd type="oval" w="lg" len="lg"/>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1389" name="Line 12">
            <a:extLst>
              <a:ext uri="{FF2B5EF4-FFF2-40B4-BE49-F238E27FC236}">
                <a16:creationId xmlns:a16="http://schemas.microsoft.com/office/drawing/2014/main" id="{F0BA3927-9780-0D43-89CE-0122560F259D}"/>
              </a:ext>
            </a:extLst>
          </p:cNvPr>
          <p:cNvSpPr>
            <a:spLocks noChangeShapeType="1"/>
          </p:cNvSpPr>
          <p:nvPr/>
        </p:nvSpPr>
        <p:spPr bwMode="auto">
          <a:xfrm>
            <a:off x="6284913" y="2286000"/>
            <a:ext cx="0" cy="2971800"/>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5" name="Group 13">
            <a:extLst>
              <a:ext uri="{FF2B5EF4-FFF2-40B4-BE49-F238E27FC236}">
                <a16:creationId xmlns:a16="http://schemas.microsoft.com/office/drawing/2014/main" id="{2AAA05A8-2066-1044-91AD-8DF89396F943}"/>
              </a:ext>
            </a:extLst>
          </p:cNvPr>
          <p:cNvGrpSpPr>
            <a:grpSpLocks/>
          </p:cNvGrpSpPr>
          <p:nvPr/>
        </p:nvGrpSpPr>
        <p:grpSpPr bwMode="auto">
          <a:xfrm>
            <a:off x="4648200" y="2286000"/>
            <a:ext cx="3276600" cy="2971800"/>
            <a:chOff x="2928" y="1440"/>
            <a:chExt cx="2064" cy="1872"/>
          </a:xfrm>
        </p:grpSpPr>
        <p:sp>
          <p:nvSpPr>
            <p:cNvPr id="101394" name="Rectangle 14">
              <a:extLst>
                <a:ext uri="{FF2B5EF4-FFF2-40B4-BE49-F238E27FC236}">
                  <a16:creationId xmlns:a16="http://schemas.microsoft.com/office/drawing/2014/main" id="{ADF5BD47-6CD6-9C4E-A5E3-463D7785FD96}"/>
                </a:ext>
              </a:extLst>
            </p:cNvPr>
            <p:cNvSpPr>
              <a:spLocks noChangeArrowheads="1"/>
            </p:cNvSpPr>
            <p:nvPr/>
          </p:nvSpPr>
          <p:spPr bwMode="auto">
            <a:xfrm>
              <a:off x="2928" y="2480"/>
              <a:ext cx="2064" cy="6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101395" name="Rectangle 15">
              <a:extLst>
                <a:ext uri="{FF2B5EF4-FFF2-40B4-BE49-F238E27FC236}">
                  <a16:creationId xmlns:a16="http://schemas.microsoft.com/office/drawing/2014/main" id="{E4C0A9EB-B5EB-2E4F-B718-339DB16043E4}"/>
                </a:ext>
              </a:extLst>
            </p:cNvPr>
            <p:cNvSpPr>
              <a:spLocks noChangeArrowheads="1"/>
            </p:cNvSpPr>
            <p:nvPr/>
          </p:nvSpPr>
          <p:spPr bwMode="auto">
            <a:xfrm>
              <a:off x="3384" y="1648"/>
              <a:ext cx="1152" cy="6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101396" name="Line 16">
              <a:extLst>
                <a:ext uri="{FF2B5EF4-FFF2-40B4-BE49-F238E27FC236}">
                  <a16:creationId xmlns:a16="http://schemas.microsoft.com/office/drawing/2014/main" id="{DC86610F-D206-0246-933D-4CBF3EA77C0C}"/>
                </a:ext>
              </a:extLst>
            </p:cNvPr>
            <p:cNvSpPr>
              <a:spLocks noChangeShapeType="1"/>
            </p:cNvSpPr>
            <p:nvPr/>
          </p:nvSpPr>
          <p:spPr bwMode="auto">
            <a:xfrm>
              <a:off x="3960" y="1440"/>
              <a:ext cx="0" cy="208"/>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sp>
          <p:nvSpPr>
            <p:cNvPr id="101397" name="Line 17">
              <a:extLst>
                <a:ext uri="{FF2B5EF4-FFF2-40B4-BE49-F238E27FC236}">
                  <a16:creationId xmlns:a16="http://schemas.microsoft.com/office/drawing/2014/main" id="{DB536305-03C9-FC41-A785-6339B75733CB}"/>
                </a:ext>
              </a:extLst>
            </p:cNvPr>
            <p:cNvSpPr>
              <a:spLocks noChangeShapeType="1"/>
            </p:cNvSpPr>
            <p:nvPr/>
          </p:nvSpPr>
          <p:spPr bwMode="auto">
            <a:xfrm>
              <a:off x="3960" y="2272"/>
              <a:ext cx="0" cy="208"/>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sp>
          <p:nvSpPr>
            <p:cNvPr id="101398" name="Line 18">
              <a:extLst>
                <a:ext uri="{FF2B5EF4-FFF2-40B4-BE49-F238E27FC236}">
                  <a16:creationId xmlns:a16="http://schemas.microsoft.com/office/drawing/2014/main" id="{783BEDAB-1EDC-5F4C-922B-AB24774C4698}"/>
                </a:ext>
              </a:extLst>
            </p:cNvPr>
            <p:cNvSpPr>
              <a:spLocks noChangeShapeType="1"/>
            </p:cNvSpPr>
            <p:nvPr/>
          </p:nvSpPr>
          <p:spPr bwMode="auto">
            <a:xfrm>
              <a:off x="3960" y="3104"/>
              <a:ext cx="0" cy="208"/>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1391" name="Group 19">
            <a:extLst>
              <a:ext uri="{FF2B5EF4-FFF2-40B4-BE49-F238E27FC236}">
                <a16:creationId xmlns:a16="http://schemas.microsoft.com/office/drawing/2014/main" id="{CAB8BB10-AF6E-4B4D-9905-0F3EC135FB5E}"/>
              </a:ext>
            </a:extLst>
          </p:cNvPr>
          <p:cNvGrpSpPr>
            <a:grpSpLocks/>
          </p:cNvGrpSpPr>
          <p:nvPr/>
        </p:nvGrpSpPr>
        <p:grpSpPr bwMode="auto">
          <a:xfrm rot="-5400000">
            <a:off x="6477000" y="3124200"/>
            <a:ext cx="3810000" cy="1066800"/>
            <a:chOff x="2976" y="336"/>
            <a:chExt cx="2400" cy="816"/>
          </a:xfrm>
        </p:grpSpPr>
        <p:sp>
          <p:nvSpPr>
            <p:cNvPr id="101392" name="AutoShape 20">
              <a:extLst>
                <a:ext uri="{FF2B5EF4-FFF2-40B4-BE49-F238E27FC236}">
                  <a16:creationId xmlns:a16="http://schemas.microsoft.com/office/drawing/2014/main" id="{F78D363E-FE3E-6346-BFFE-948443240984}"/>
                </a:ext>
              </a:extLst>
            </p:cNvPr>
            <p:cNvSpPr>
              <a:spLocks noChangeArrowheads="1"/>
            </p:cNvSpPr>
            <p:nvPr/>
          </p:nvSpPr>
          <p:spPr bwMode="auto">
            <a:xfrm>
              <a:off x="2976" y="336"/>
              <a:ext cx="2304" cy="480"/>
            </a:xfrm>
            <a:prstGeom prst="rightArrow">
              <a:avLst>
                <a:gd name="adj1" fmla="val 59583"/>
                <a:gd name="adj2" fmla="val 51467"/>
              </a:avLst>
            </a:prstGeom>
            <a:solidFill>
              <a:schemeClr val="accent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FFFFF"/>
                  </a:solidFill>
                  <a:latin typeface="Calibri" panose="020F0502020204030204" pitchFamily="34" charset="0"/>
                </a:rPr>
                <a:t>faster per byte</a:t>
              </a:r>
            </a:p>
          </p:txBody>
        </p:sp>
        <p:sp>
          <p:nvSpPr>
            <p:cNvPr id="101393" name="AutoShape 21">
              <a:extLst>
                <a:ext uri="{FF2B5EF4-FFF2-40B4-BE49-F238E27FC236}">
                  <a16:creationId xmlns:a16="http://schemas.microsoft.com/office/drawing/2014/main" id="{A7466DDE-E447-4347-961A-A034815743D8}"/>
                </a:ext>
              </a:extLst>
            </p:cNvPr>
            <p:cNvSpPr>
              <a:spLocks noChangeArrowheads="1"/>
            </p:cNvSpPr>
            <p:nvPr/>
          </p:nvSpPr>
          <p:spPr bwMode="auto">
            <a:xfrm flipH="1">
              <a:off x="3072" y="672"/>
              <a:ext cx="2304" cy="480"/>
            </a:xfrm>
            <a:prstGeom prst="rightArrow">
              <a:avLst>
                <a:gd name="adj1" fmla="val 59583"/>
                <a:gd name="adj2" fmla="val 56467"/>
              </a:avLst>
            </a:prstGeom>
            <a:solidFill>
              <a:schemeClr val="accent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FFFFF"/>
                  </a:solidFill>
                  <a:latin typeface="Calibri" panose="020F0502020204030204" pitchFamily="34" charset="0"/>
                </a:rPr>
                <a:t>cheaper per byte</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6015A-F9DB-1C48-A087-8967E9E70756}"/>
              </a:ext>
            </a:extLst>
          </p:cNvPr>
          <p:cNvSpPr>
            <a:spLocks noGrp="1"/>
          </p:cNvSpPr>
          <p:nvPr>
            <p:ph type="title"/>
          </p:nvPr>
        </p:nvSpPr>
        <p:spPr/>
        <p:txBody>
          <a:bodyPr/>
          <a:lstStyle/>
          <a:p>
            <a:r>
              <a:rPr lang="en-US" dirty="0"/>
              <a:t>Memory Hierarchy Example</a:t>
            </a:r>
          </a:p>
        </p:txBody>
      </p:sp>
      <p:sp>
        <p:nvSpPr>
          <p:cNvPr id="3" name="Content Placeholder 2">
            <a:extLst>
              <a:ext uri="{FF2B5EF4-FFF2-40B4-BE49-F238E27FC236}">
                <a16:creationId xmlns:a16="http://schemas.microsoft.com/office/drawing/2014/main" id="{B001643C-7311-3546-9D3E-CD47D8903AF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AC52A8E-156B-734C-B5D7-CA6A598003D8}"/>
              </a:ext>
            </a:extLst>
          </p:cNvPr>
          <p:cNvSpPr>
            <a:spLocks noGrp="1"/>
          </p:cNvSpPr>
          <p:nvPr>
            <p:ph type="sldNum" sz="quarter" idx="11"/>
          </p:nvPr>
        </p:nvSpPr>
        <p:spPr/>
        <p:txBody>
          <a:bodyPr/>
          <a:lstStyle/>
          <a:p>
            <a:pPr>
              <a:defRPr/>
            </a:pPr>
            <a:fld id="{9CD3246B-4504-6A44-A3C6-3AD1B220008A}" type="slidenum">
              <a:rPr lang="en-US" altLang="en-US" smtClean="0"/>
              <a:pPr>
                <a:defRPr/>
              </a:pPr>
              <a:t>31</a:t>
            </a:fld>
            <a:endParaRPr lang="en-US" altLang="en-US"/>
          </a:p>
        </p:txBody>
      </p:sp>
      <p:pic>
        <p:nvPicPr>
          <p:cNvPr id="5" name="Picture 4">
            <a:extLst>
              <a:ext uri="{FF2B5EF4-FFF2-40B4-BE49-F238E27FC236}">
                <a16:creationId xmlns:a16="http://schemas.microsoft.com/office/drawing/2014/main" id="{AEC79151-B78D-2A49-8F61-16C7157EEBA9}"/>
              </a:ext>
            </a:extLst>
          </p:cNvPr>
          <p:cNvPicPr>
            <a:picLocks noChangeAspect="1"/>
          </p:cNvPicPr>
          <p:nvPr/>
        </p:nvPicPr>
        <p:blipFill>
          <a:blip r:embed="rId2"/>
          <a:stretch>
            <a:fillRect/>
          </a:stretch>
        </p:blipFill>
        <p:spPr>
          <a:xfrm>
            <a:off x="0" y="1452463"/>
            <a:ext cx="9144000" cy="3805337"/>
          </a:xfrm>
          <a:prstGeom prst="rect">
            <a:avLst/>
          </a:prstGeom>
        </p:spPr>
      </p:pic>
      <p:sp>
        <p:nvSpPr>
          <p:cNvPr id="6" name="TextBox 5">
            <a:extLst>
              <a:ext uri="{FF2B5EF4-FFF2-40B4-BE49-F238E27FC236}">
                <a16:creationId xmlns:a16="http://schemas.microsoft.com/office/drawing/2014/main" id="{1F8DE12A-B88D-7A46-949F-A6114F155527}"/>
              </a:ext>
            </a:extLst>
          </p:cNvPr>
          <p:cNvSpPr txBox="1"/>
          <p:nvPr/>
        </p:nvSpPr>
        <p:spPr>
          <a:xfrm>
            <a:off x="308344" y="5860471"/>
            <a:ext cx="8183651" cy="861774"/>
          </a:xfrm>
          <a:prstGeom prst="rect">
            <a:avLst/>
          </a:prstGeom>
          <a:noFill/>
        </p:spPr>
        <p:txBody>
          <a:bodyPr wrap="none" rtlCol="0">
            <a:spAutoFit/>
          </a:bodyPr>
          <a:lstStyle/>
          <a:p>
            <a:pPr lvl="1" algn="ctr"/>
            <a:r>
              <a:rPr lang="en-US" altLang="en-US" dirty="0"/>
              <a:t>Kim &amp; Mutlu, “Memory Systems,” Computing Handbook, 2014</a:t>
            </a:r>
          </a:p>
          <a:p>
            <a:pPr lvl="1" algn="ctr"/>
            <a:r>
              <a:rPr lang="en-US" altLang="en-US" sz="1400" dirty="0"/>
              <a:t>https://</a:t>
            </a:r>
            <a:r>
              <a:rPr lang="en-US" altLang="en-US" sz="1400" dirty="0" err="1"/>
              <a:t>people.inf.ethz.ch</a:t>
            </a:r>
            <a:r>
              <a:rPr lang="en-US" altLang="en-US" sz="1400" dirty="0"/>
              <a:t>/</a:t>
            </a:r>
            <a:r>
              <a:rPr lang="en-US" altLang="en-US" sz="1400" dirty="0" err="1"/>
              <a:t>omutlu</a:t>
            </a:r>
            <a:r>
              <a:rPr lang="en-US" altLang="en-US" sz="1400" dirty="0"/>
              <a:t>/pub/memory-systems-introduction_computing-handbook14.pdf</a:t>
            </a:r>
          </a:p>
          <a:p>
            <a:pPr algn="ctr"/>
            <a:endParaRPr lang="en-US" dirty="0"/>
          </a:p>
        </p:txBody>
      </p:sp>
    </p:spTree>
    <p:extLst>
      <p:ext uri="{BB962C8B-B14F-4D97-AF65-F5344CB8AC3E}">
        <p14:creationId xmlns:p14="http://schemas.microsoft.com/office/powerpoint/2010/main" val="189900421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a:extLst>
              <a:ext uri="{FF2B5EF4-FFF2-40B4-BE49-F238E27FC236}">
                <a16:creationId xmlns:a16="http://schemas.microsoft.com/office/drawing/2014/main" id="{3F5E6B19-C142-EE4B-B2EB-C26ADC6DBA46}"/>
              </a:ext>
            </a:extLst>
          </p:cNvPr>
          <p:cNvSpPr>
            <a:spLocks noGrp="1" noChangeArrowheads="1"/>
          </p:cNvSpPr>
          <p:nvPr>
            <p:ph type="title"/>
          </p:nvPr>
        </p:nvSpPr>
        <p:spPr/>
        <p:txBody>
          <a:bodyPr/>
          <a:lstStyle/>
          <a:p>
            <a:r>
              <a:rPr lang="en-US" altLang="en-US" dirty="0">
                <a:ea typeface="ＭＳ Ｐゴシック" panose="020B0600070205080204" pitchFamily="34" charset="-128"/>
              </a:rPr>
              <a:t>Why Cache Works?</a:t>
            </a:r>
            <a:r>
              <a:rPr lang="zh-CN" altLang="en-US" dirty="0">
                <a:ea typeface="ＭＳ Ｐゴシック" panose="020B0600070205080204" pitchFamily="34" charset="-128"/>
              </a:rPr>
              <a:t> </a:t>
            </a:r>
            <a:r>
              <a:rPr lang="en-US" altLang="en-US" dirty="0">
                <a:ea typeface="ＭＳ Ｐゴシック" panose="020B0600070205080204" pitchFamily="34" charset="-128"/>
              </a:rPr>
              <a:t>Locality</a:t>
            </a:r>
          </a:p>
        </p:txBody>
      </p:sp>
      <p:sp>
        <p:nvSpPr>
          <p:cNvPr id="66562" name="Content Placeholder 2">
            <a:extLst>
              <a:ext uri="{FF2B5EF4-FFF2-40B4-BE49-F238E27FC236}">
                <a16:creationId xmlns:a16="http://schemas.microsoft.com/office/drawing/2014/main" id="{6649533D-18F1-944C-9C7A-34239CD4BDE6}"/>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Locality</a:t>
            </a:r>
            <a:r>
              <a:rPr lang="en-US" altLang="en-US" dirty="0">
                <a:ea typeface="ＭＳ Ｐゴシック" panose="020B0600070205080204" pitchFamily="34" charset="-128"/>
              </a:rPr>
              <a:t>: One’s recent past is a very good predictor of his/her near future.</a:t>
            </a:r>
          </a:p>
          <a:p>
            <a:endParaRPr lang="en-US" altLang="en-US" dirty="0">
              <a:ea typeface="ＭＳ Ｐゴシック" panose="020B0600070205080204" pitchFamily="34" charset="-128"/>
            </a:endParaRPr>
          </a:p>
          <a:p>
            <a:pPr lvl="1"/>
            <a:r>
              <a:rPr lang="en-US" altLang="en-US" dirty="0">
                <a:solidFill>
                  <a:srgbClr val="0000FF"/>
                </a:solidFill>
                <a:ea typeface="ＭＳ Ｐゴシック" panose="020B0600070205080204" pitchFamily="34" charset="-128"/>
              </a:rPr>
              <a:t>Temporal Locality</a:t>
            </a:r>
            <a:r>
              <a:rPr lang="en-US" altLang="en-US" dirty="0">
                <a:ea typeface="ＭＳ Ｐゴシック" panose="020B0600070205080204" pitchFamily="34" charset="-128"/>
              </a:rPr>
              <a:t>:  If you just did something, it is very likely that you will do the same thing again soon</a:t>
            </a:r>
          </a:p>
          <a:p>
            <a:pPr lvl="2"/>
            <a:r>
              <a:rPr lang="en-US" altLang="en-US" dirty="0">
                <a:ea typeface="ＭＳ Ｐゴシック" panose="020B0600070205080204" pitchFamily="34" charset="-128"/>
              </a:rPr>
              <a:t>since you are here today, there is a good chance you will be here again and again regularly	</a:t>
            </a:r>
          </a:p>
          <a:p>
            <a:pPr lvl="1"/>
            <a:endParaRPr lang="en-US" altLang="en-US" dirty="0">
              <a:ea typeface="ＭＳ Ｐゴシック" panose="020B0600070205080204" pitchFamily="34" charset="-128"/>
            </a:endParaRPr>
          </a:p>
          <a:p>
            <a:pPr lvl="1"/>
            <a:r>
              <a:rPr lang="en-US" altLang="en-US" dirty="0">
                <a:solidFill>
                  <a:srgbClr val="0000FF"/>
                </a:solidFill>
                <a:ea typeface="ＭＳ Ｐゴシック" panose="020B0600070205080204" pitchFamily="34" charset="-128"/>
              </a:rPr>
              <a:t>Spatial Locality</a:t>
            </a:r>
            <a:r>
              <a:rPr lang="en-US" altLang="en-US" dirty="0">
                <a:ea typeface="ＭＳ Ｐゴシック" panose="020B0600070205080204" pitchFamily="34" charset="-128"/>
              </a:rPr>
              <a:t>:  If you did something, it is very likely you will do something similar/related (in space)</a:t>
            </a:r>
          </a:p>
          <a:p>
            <a:pPr lvl="2"/>
            <a:r>
              <a:rPr lang="en-US" altLang="en-US" dirty="0">
                <a:ea typeface="ＭＳ Ｐゴシック" panose="020B0600070205080204" pitchFamily="34" charset="-128"/>
              </a:rPr>
              <a:t>every time I find you in this room, you are probably sitting close to the same people</a:t>
            </a:r>
          </a:p>
        </p:txBody>
      </p:sp>
      <p:sp>
        <p:nvSpPr>
          <p:cNvPr id="103427" name="Slide Number Placeholder 3">
            <a:extLst>
              <a:ext uri="{FF2B5EF4-FFF2-40B4-BE49-F238E27FC236}">
                <a16:creationId xmlns:a16="http://schemas.microsoft.com/office/drawing/2014/main" id="{5FF4CA33-841D-4544-943F-7CAF1B44686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EB8F96A3-09AC-9847-BA31-0CEB9ADCD859}" type="slidenum">
              <a:rPr lang="en-US" altLang="en-US" sz="1600" smtClean="0">
                <a:solidFill>
                  <a:srgbClr val="000000"/>
                </a:solidFill>
                <a:latin typeface="Garamond" panose="02020404030301010803" pitchFamily="18" charset="0"/>
              </a:rPr>
              <a:pPr eaLnBrk="1" hangingPunct="1">
                <a:spcBef>
                  <a:spcPct val="0"/>
                </a:spcBef>
                <a:buClrTx/>
                <a:buSzTx/>
                <a:buFontTx/>
                <a:buNone/>
              </a:pPr>
              <a:t>32</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56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656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6562">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656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a:extLst>
              <a:ext uri="{FF2B5EF4-FFF2-40B4-BE49-F238E27FC236}">
                <a16:creationId xmlns:a16="http://schemas.microsoft.com/office/drawing/2014/main" id="{1F2D4665-00BD-1F40-A521-FD87231483E5}"/>
              </a:ext>
            </a:extLst>
          </p:cNvPr>
          <p:cNvSpPr>
            <a:spLocks noGrp="1" noChangeArrowheads="1"/>
          </p:cNvSpPr>
          <p:nvPr>
            <p:ph type="title"/>
          </p:nvPr>
        </p:nvSpPr>
        <p:spPr/>
        <p:txBody>
          <a:bodyPr/>
          <a:lstStyle/>
          <a:p>
            <a:r>
              <a:rPr lang="en-US" altLang="zh-CN" dirty="0">
                <a:ea typeface="ＭＳ Ｐゴシック" panose="020B0600070205080204" pitchFamily="34" charset="-128"/>
              </a:rPr>
              <a:t>Why Cache Works? </a:t>
            </a:r>
            <a:r>
              <a:rPr lang="en-US" altLang="en-US" dirty="0">
                <a:ea typeface="ＭＳ Ｐゴシック" panose="020B0600070205080204" pitchFamily="34" charset="-128"/>
              </a:rPr>
              <a:t>Memory Locality</a:t>
            </a:r>
          </a:p>
        </p:txBody>
      </p:sp>
      <p:sp>
        <p:nvSpPr>
          <p:cNvPr id="67586" name="Content Placeholder 2">
            <a:extLst>
              <a:ext uri="{FF2B5EF4-FFF2-40B4-BE49-F238E27FC236}">
                <a16:creationId xmlns:a16="http://schemas.microsoft.com/office/drawing/2014/main" id="{C21F0167-42BA-2C46-9DAB-7630561FBEAA}"/>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A “typical” program has a lot of locality in memory references</a:t>
            </a:r>
          </a:p>
          <a:p>
            <a:pPr lvl="1"/>
            <a:r>
              <a:rPr lang="en-US" altLang="en-US" dirty="0">
                <a:ea typeface="ＭＳ Ｐゴシック" panose="020B0600070205080204" pitchFamily="34" charset="-128"/>
              </a:rPr>
              <a:t> typical programs are composed of “loops”</a:t>
            </a:r>
          </a:p>
          <a:p>
            <a:r>
              <a:rPr lang="en-US" altLang="en-US" dirty="0">
                <a:solidFill>
                  <a:srgbClr val="0000FF"/>
                </a:solidFill>
                <a:ea typeface="ＭＳ Ｐゴシック" panose="020B0600070205080204" pitchFamily="34" charset="-128"/>
              </a:rPr>
              <a:t>Temporal Locality</a:t>
            </a:r>
            <a:r>
              <a:rPr lang="en-US" altLang="en-US" dirty="0">
                <a:ea typeface="ＭＳ Ｐゴシック" panose="020B0600070205080204" pitchFamily="34" charset="-128"/>
              </a:rPr>
              <a:t>: A program tends to reference the same memory location many times and all within a small window of time</a:t>
            </a:r>
          </a:p>
          <a:p>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Spatial Locality</a:t>
            </a:r>
            <a:r>
              <a:rPr lang="en-US" altLang="en-US" dirty="0">
                <a:ea typeface="ＭＳ Ｐゴシック" panose="020B0600070205080204" pitchFamily="34" charset="-128"/>
              </a:rPr>
              <a:t>: A program tends to reference nearby memory locations within a window of time</a:t>
            </a:r>
          </a:p>
          <a:p>
            <a:pPr lvl="1"/>
            <a:r>
              <a:rPr lang="en-US" altLang="en-US" dirty="0">
                <a:ea typeface="ＭＳ Ｐゴシック" panose="020B0600070205080204" pitchFamily="34" charset="-128"/>
              </a:rPr>
              <a:t>most notable examples: </a:t>
            </a:r>
          </a:p>
          <a:p>
            <a:pPr marL="671512" lvl="2" indent="0">
              <a:buNone/>
            </a:pPr>
            <a:r>
              <a:rPr lang="en-US" altLang="en-US" dirty="0">
                <a:ea typeface="ＭＳ Ｐゴシック" panose="020B0600070205080204" pitchFamily="34" charset="-128"/>
              </a:rPr>
              <a:t>1. instruction memory references </a:t>
            </a:r>
            <a:r>
              <a:rPr lang="en-US" altLang="en-US" dirty="0">
                <a:ea typeface="ＭＳ Ｐゴシック" panose="020B0600070205080204" pitchFamily="34" charset="-128"/>
                <a:sym typeface="Wingdings" pitchFamily="2" charset="2"/>
              </a:rPr>
              <a:t> most sequential/streaming</a:t>
            </a:r>
            <a:endParaRPr lang="en-US" altLang="en-US" dirty="0">
              <a:ea typeface="ＭＳ Ｐゴシック" panose="020B0600070205080204" pitchFamily="34" charset="-128"/>
            </a:endParaRPr>
          </a:p>
          <a:p>
            <a:pPr marL="671512" lvl="2" indent="0">
              <a:buNone/>
            </a:pPr>
            <a:r>
              <a:rPr lang="en-US" altLang="en-US" dirty="0">
                <a:ea typeface="ＭＳ Ｐゴシック" panose="020B0600070205080204" pitchFamily="34" charset="-128"/>
              </a:rPr>
              <a:t>2. references to arrays/vectors </a:t>
            </a:r>
            <a:r>
              <a:rPr lang="en-US" altLang="en-US" dirty="0">
                <a:ea typeface="ＭＳ Ｐゴシック" panose="020B0600070205080204" pitchFamily="34" charset="-128"/>
                <a:sym typeface="Wingdings" pitchFamily="2" charset="2"/>
              </a:rPr>
              <a:t> often </a:t>
            </a:r>
            <a:r>
              <a:rPr lang="en-US" altLang="en-US" dirty="0">
                <a:ea typeface="ＭＳ Ｐゴシック" panose="020B0600070205080204" pitchFamily="34" charset="-128"/>
              </a:rPr>
              <a:t>streaming/</a:t>
            </a:r>
            <a:r>
              <a:rPr lang="en-US" altLang="en-US" dirty="0" err="1">
                <a:ea typeface="ＭＳ Ｐゴシック" panose="020B0600070205080204" pitchFamily="34" charset="-128"/>
              </a:rPr>
              <a:t>strided</a:t>
            </a:r>
            <a:r>
              <a:rPr lang="en-US" altLang="en-US" dirty="0">
                <a:ea typeface="ＭＳ Ｐゴシック" panose="020B0600070205080204" pitchFamily="34" charset="-128"/>
              </a:rPr>
              <a:t> </a:t>
            </a:r>
          </a:p>
          <a:p>
            <a:endParaRPr lang="en-US" altLang="en-US" dirty="0">
              <a:ea typeface="ＭＳ Ｐゴシック" panose="020B0600070205080204" pitchFamily="34" charset="-128"/>
            </a:endParaRPr>
          </a:p>
        </p:txBody>
      </p:sp>
      <p:sp>
        <p:nvSpPr>
          <p:cNvPr id="104451" name="Slide Number Placeholder 3">
            <a:extLst>
              <a:ext uri="{FF2B5EF4-FFF2-40B4-BE49-F238E27FC236}">
                <a16:creationId xmlns:a16="http://schemas.microsoft.com/office/drawing/2014/main" id="{B6F59007-184E-C144-896B-35D31C2071E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D02B4D93-9D15-944F-99AB-D4078CAAF0B1}" type="slidenum">
              <a:rPr lang="en-US" altLang="en-US" sz="1600" smtClean="0">
                <a:solidFill>
                  <a:srgbClr val="000000"/>
                </a:solidFill>
                <a:latin typeface="Garamond" panose="02020404030301010803" pitchFamily="18" charset="0"/>
              </a:rPr>
              <a:pPr eaLnBrk="1" hangingPunct="1">
                <a:spcBef>
                  <a:spcPct val="0"/>
                </a:spcBef>
                <a:buClrTx/>
                <a:buSzTx/>
                <a:buFontTx/>
                <a:buNone/>
              </a:pPr>
              <a:t>33</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58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7586">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758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58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758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itle 1">
            <a:extLst>
              <a:ext uri="{FF2B5EF4-FFF2-40B4-BE49-F238E27FC236}">
                <a16:creationId xmlns:a16="http://schemas.microsoft.com/office/drawing/2014/main" id="{29081176-5AA4-DB4E-A5BE-31BF1AAC2127}"/>
              </a:ext>
            </a:extLst>
          </p:cNvPr>
          <p:cNvSpPr>
            <a:spLocks noGrp="1" noChangeArrowheads="1"/>
          </p:cNvSpPr>
          <p:nvPr>
            <p:ph type="title"/>
          </p:nvPr>
        </p:nvSpPr>
        <p:spPr/>
        <p:txBody>
          <a:bodyPr/>
          <a:lstStyle/>
          <a:p>
            <a:r>
              <a:rPr lang="en-US" altLang="en-US">
                <a:ea typeface="ＭＳ Ｐゴシック" panose="020B0600070205080204" pitchFamily="34" charset="-128"/>
              </a:rPr>
              <a:t>Caching Basics: Exploit Temporal Locality</a:t>
            </a:r>
          </a:p>
        </p:txBody>
      </p:sp>
      <p:sp>
        <p:nvSpPr>
          <p:cNvPr id="68610" name="Content Placeholder 2">
            <a:extLst>
              <a:ext uri="{FF2B5EF4-FFF2-40B4-BE49-F238E27FC236}">
                <a16:creationId xmlns:a16="http://schemas.microsoft.com/office/drawing/2014/main" id="{9B867225-E69B-184F-8721-73A65C6CA1DF}"/>
              </a:ext>
            </a:extLst>
          </p:cNvPr>
          <p:cNvSpPr>
            <a:spLocks noGrp="1" noChangeArrowheads="1"/>
          </p:cNvSpPr>
          <p:nvPr>
            <p:ph idx="1"/>
          </p:nvPr>
        </p:nvSpPr>
        <p:spPr>
          <a:xfrm>
            <a:off x="228600" y="996950"/>
            <a:ext cx="8839200" cy="5194300"/>
          </a:xfrm>
        </p:spPr>
        <p:txBody>
          <a:bodyPr/>
          <a:lstStyle/>
          <a:p>
            <a:r>
              <a:rPr lang="en-US" altLang="en-US" b="1" dirty="0">
                <a:ea typeface="ＭＳ Ｐゴシック" panose="020B0600070205080204" pitchFamily="34" charset="-128"/>
              </a:rPr>
              <a:t>Idea</a:t>
            </a:r>
            <a:r>
              <a:rPr lang="en-US" altLang="en-US" dirty="0">
                <a:ea typeface="ＭＳ Ｐゴシック" panose="020B0600070205080204" pitchFamily="34" charset="-128"/>
              </a:rPr>
              <a:t>: </a:t>
            </a:r>
            <a:r>
              <a:rPr lang="en-US" altLang="en-US" dirty="0">
                <a:solidFill>
                  <a:srgbClr val="0432FF"/>
                </a:solidFill>
                <a:ea typeface="ＭＳ Ｐゴシック" panose="020B0600070205080204" pitchFamily="34" charset="-128"/>
              </a:rPr>
              <a:t>Store recently accessed data in automatically-managed fast memory (called cache)</a:t>
            </a:r>
          </a:p>
          <a:p>
            <a:r>
              <a:rPr lang="en-US" altLang="en-US" b="1" dirty="0">
                <a:ea typeface="ＭＳ Ｐゴシック" panose="020B0600070205080204" pitchFamily="34" charset="-128"/>
              </a:rPr>
              <a:t>Anticipation</a:t>
            </a:r>
            <a:r>
              <a:rPr lang="en-US" altLang="en-US" dirty="0">
                <a:ea typeface="ＭＳ Ｐゴシック" panose="020B0600070205080204" pitchFamily="34" charset="-128"/>
              </a:rPr>
              <a:t>: </a:t>
            </a:r>
            <a:r>
              <a:rPr lang="en-US" altLang="en-US" dirty="0">
                <a:solidFill>
                  <a:srgbClr val="0432FF"/>
                </a:solidFill>
                <a:ea typeface="ＭＳ Ｐゴシック" panose="020B0600070205080204" pitchFamily="34" charset="-128"/>
              </a:rPr>
              <a:t>same mem. location will be accessed again soon</a:t>
            </a:r>
          </a:p>
          <a:p>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Temporal locality </a:t>
            </a:r>
            <a:r>
              <a:rPr lang="en-US" altLang="en-US" dirty="0">
                <a:ea typeface="ＭＳ Ｐゴシック" panose="020B0600070205080204" pitchFamily="34" charset="-128"/>
              </a:rPr>
              <a:t>principle</a:t>
            </a:r>
          </a:p>
          <a:p>
            <a:pPr lvl="1"/>
            <a:r>
              <a:rPr lang="en-US" altLang="en-US" dirty="0">
                <a:solidFill>
                  <a:srgbClr val="0432FF"/>
                </a:solidFill>
                <a:ea typeface="ＭＳ Ｐゴシック" panose="020B0600070205080204" pitchFamily="34" charset="-128"/>
              </a:rPr>
              <a:t>Recently accessed data will be again accessed in the near future</a:t>
            </a:r>
          </a:p>
          <a:p>
            <a:pPr lvl="1"/>
            <a:r>
              <a:rPr lang="en-US" altLang="en-US" dirty="0">
                <a:ea typeface="ＭＳ Ｐゴシック" panose="020B0600070205080204" pitchFamily="34" charset="-128"/>
              </a:rPr>
              <a:t>This is what Maurice Wilkes had in mind:</a:t>
            </a:r>
          </a:p>
          <a:p>
            <a:pPr lvl="2"/>
            <a:r>
              <a:rPr lang="ja-JP" altLang="en-US" dirty="0">
                <a:ea typeface="ＭＳ Ｐゴシック" panose="020B0600070205080204" pitchFamily="34" charset="-128"/>
              </a:rPr>
              <a:t>“</a:t>
            </a:r>
            <a:r>
              <a:rPr lang="en-US" altLang="ja-JP" dirty="0">
                <a:ea typeface="ＭＳ Ｐゴシック" panose="020B0600070205080204" pitchFamily="34" charset="-128"/>
              </a:rPr>
              <a:t>The use is discussed of a fast core memory of, say 32000 words as a slave to a slower core memory of, say, one million words in such a way that in practical cases the effective access time is nearer that of the fast memory than that of the slow memory.</a:t>
            </a:r>
            <a:r>
              <a:rPr lang="ja-JP" altLang="en-US" dirty="0">
                <a:ea typeface="ＭＳ Ｐゴシック" panose="020B0600070205080204" pitchFamily="34" charset="-128"/>
              </a:rPr>
              <a:t>”</a:t>
            </a:r>
            <a:endParaRPr lang="en-US" altLang="ja-JP" dirty="0">
              <a:ea typeface="ＭＳ Ｐゴシック" panose="020B0600070205080204" pitchFamily="34" charset="-128"/>
            </a:endParaRPr>
          </a:p>
          <a:p>
            <a:pPr lvl="2"/>
            <a:r>
              <a:rPr lang="en-US" altLang="en-US" dirty="0">
                <a:ea typeface="ＭＳ Ｐゴシック" panose="020B0600070205080204" pitchFamily="34" charset="-128"/>
              </a:rPr>
              <a:t>Wilkes, </a:t>
            </a:r>
            <a:r>
              <a:rPr lang="ja-JP" altLang="en-US" dirty="0">
                <a:ea typeface="ＭＳ Ｐゴシック" panose="020B0600070205080204" pitchFamily="34" charset="-128"/>
              </a:rPr>
              <a:t>“</a:t>
            </a:r>
            <a:r>
              <a:rPr lang="en-US" altLang="ja-JP" dirty="0">
                <a:ea typeface="ＭＳ Ｐゴシック" panose="020B0600070205080204" pitchFamily="34" charset="-128"/>
              </a:rPr>
              <a:t>Slave Memories and Dynamic Storage Allocation,</a:t>
            </a:r>
            <a:r>
              <a:rPr lang="ja-JP" altLang="en-US" dirty="0">
                <a:ea typeface="ＭＳ Ｐゴシック" panose="020B0600070205080204" pitchFamily="34" charset="-128"/>
              </a:rPr>
              <a:t>”</a:t>
            </a:r>
            <a:r>
              <a:rPr lang="en-US" altLang="ja-JP" dirty="0">
                <a:ea typeface="ＭＳ Ｐゴシック" panose="020B0600070205080204" pitchFamily="34" charset="-128"/>
              </a:rPr>
              <a:t> IEEE Trans. On Electronic Computers, 1965.</a:t>
            </a:r>
          </a:p>
          <a:p>
            <a:pPr marL="671512" lvl="2" indent="0">
              <a:buNone/>
            </a:pPr>
            <a:endParaRPr lang="en-US" altLang="ja-JP" dirty="0">
              <a:ea typeface="ＭＳ Ｐゴシック" panose="020B0600070205080204" pitchFamily="34" charset="-128"/>
            </a:endParaRPr>
          </a:p>
          <a:p>
            <a:pPr lvl="1"/>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105475" name="Slide Number Placeholder 3">
            <a:extLst>
              <a:ext uri="{FF2B5EF4-FFF2-40B4-BE49-F238E27FC236}">
                <a16:creationId xmlns:a16="http://schemas.microsoft.com/office/drawing/2014/main" id="{70B35C51-8B8B-FD46-BCE0-3237DEB087C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40F52359-0CD8-EF4F-9413-05465D4CCC14}" type="slidenum">
              <a:rPr lang="en-US" altLang="en-US" sz="1600" smtClean="0">
                <a:solidFill>
                  <a:srgbClr val="000000"/>
                </a:solidFill>
                <a:latin typeface="Garamond" panose="02020404030301010803" pitchFamily="18" charset="0"/>
              </a:rPr>
              <a:pPr eaLnBrk="1" hangingPunct="1">
                <a:spcBef>
                  <a:spcPct val="0"/>
                </a:spcBef>
                <a:buClrTx/>
                <a:buSzTx/>
                <a:buFontTx/>
                <a:buNone/>
              </a:pPr>
              <a:t>34</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61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861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610">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861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86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86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a:extLst>
              <a:ext uri="{FF2B5EF4-FFF2-40B4-BE49-F238E27FC236}">
                <a16:creationId xmlns:a16="http://schemas.microsoft.com/office/drawing/2014/main" id="{AB7A91E1-D206-2949-8191-A1BF01B09E8A}"/>
              </a:ext>
            </a:extLst>
          </p:cNvPr>
          <p:cNvSpPr>
            <a:spLocks noGrp="1" noChangeArrowheads="1"/>
          </p:cNvSpPr>
          <p:nvPr>
            <p:ph type="title"/>
          </p:nvPr>
        </p:nvSpPr>
        <p:spPr/>
        <p:txBody>
          <a:bodyPr/>
          <a:lstStyle/>
          <a:p>
            <a:r>
              <a:rPr lang="en-US" altLang="en-US">
                <a:ea typeface="ＭＳ Ｐゴシック" panose="020B0600070205080204" pitchFamily="34" charset="-128"/>
              </a:rPr>
              <a:t>Caching Basics: Exploit Spatial Locality</a:t>
            </a:r>
          </a:p>
        </p:txBody>
      </p:sp>
      <p:sp>
        <p:nvSpPr>
          <p:cNvPr id="69634" name="Content Placeholder 2">
            <a:extLst>
              <a:ext uri="{FF2B5EF4-FFF2-40B4-BE49-F238E27FC236}">
                <a16:creationId xmlns:a16="http://schemas.microsoft.com/office/drawing/2014/main" id="{F30E5359-ACBB-E34B-8C1F-1CFD2DCAA5AE}"/>
              </a:ext>
            </a:extLst>
          </p:cNvPr>
          <p:cNvSpPr>
            <a:spLocks noGrp="1" noChangeArrowheads="1"/>
          </p:cNvSpPr>
          <p:nvPr>
            <p:ph idx="1"/>
          </p:nvPr>
        </p:nvSpPr>
        <p:spPr>
          <a:xfrm>
            <a:off x="152400" y="996950"/>
            <a:ext cx="8991600" cy="5194300"/>
          </a:xfrm>
        </p:spPr>
        <p:txBody>
          <a:bodyPr/>
          <a:lstStyle/>
          <a:p>
            <a:r>
              <a:rPr lang="en-US" altLang="en-US" b="1" dirty="0">
                <a:ea typeface="ＭＳ Ｐゴシック" panose="020B0600070205080204" pitchFamily="34" charset="-128"/>
              </a:rPr>
              <a:t>Idea</a:t>
            </a:r>
            <a:r>
              <a:rPr lang="en-US" altLang="en-US" dirty="0">
                <a:ea typeface="ＭＳ Ｐゴシック" panose="020B0600070205080204" pitchFamily="34" charset="-128"/>
              </a:rPr>
              <a:t>: </a:t>
            </a:r>
            <a:r>
              <a:rPr lang="en-US" altLang="en-US" dirty="0">
                <a:solidFill>
                  <a:srgbClr val="0432FF"/>
                </a:solidFill>
                <a:ea typeface="ＭＳ Ｐゴシック" panose="020B0600070205080204" pitchFamily="34" charset="-128"/>
              </a:rPr>
              <a:t>Store data in addresses adjacent to the recently accessed one in automatically-managed fast memory</a:t>
            </a:r>
          </a:p>
          <a:p>
            <a:pPr lvl="1"/>
            <a:r>
              <a:rPr lang="en-US" altLang="en-US" dirty="0">
                <a:ea typeface="ＭＳ Ｐゴシック" panose="020B0600070205080204" pitchFamily="34" charset="-128"/>
              </a:rPr>
              <a:t>Logically divide memory into equal-size blocks</a:t>
            </a:r>
          </a:p>
          <a:p>
            <a:pPr lvl="1"/>
            <a:r>
              <a:rPr lang="en-US" altLang="en-US" dirty="0">
                <a:ea typeface="ＭＳ Ｐゴシック" panose="020B0600070205080204" pitchFamily="34" charset="-128"/>
              </a:rPr>
              <a:t>Fetch to cache the accessed block in its entirety</a:t>
            </a:r>
          </a:p>
          <a:p>
            <a:r>
              <a:rPr lang="en-US" altLang="en-US" b="1" dirty="0">
                <a:ea typeface="ＭＳ Ｐゴシック" panose="020B0600070205080204" pitchFamily="34" charset="-128"/>
              </a:rPr>
              <a:t>Anticipation</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nearby memory locations will be accessed soon</a:t>
            </a:r>
          </a:p>
          <a:p>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Spatial locality </a:t>
            </a:r>
            <a:r>
              <a:rPr lang="en-US" altLang="en-US" dirty="0">
                <a:ea typeface="ＭＳ Ｐゴシック" panose="020B0600070205080204" pitchFamily="34" charset="-128"/>
              </a:rPr>
              <a:t>principle</a:t>
            </a:r>
          </a:p>
          <a:p>
            <a:pPr lvl="1"/>
            <a:r>
              <a:rPr lang="en-US" altLang="en-US" dirty="0">
                <a:solidFill>
                  <a:srgbClr val="0432FF"/>
                </a:solidFill>
                <a:ea typeface="ＭＳ Ｐゴシック" panose="020B0600070205080204" pitchFamily="34" charset="-128"/>
              </a:rPr>
              <a:t>Nearby data in memory will be accessed in the near future</a:t>
            </a:r>
          </a:p>
          <a:p>
            <a:pPr lvl="2"/>
            <a:r>
              <a:rPr lang="en-US" altLang="en-US" dirty="0">
                <a:ea typeface="ＭＳ Ｐゴシック" panose="020B0600070205080204" pitchFamily="34" charset="-128"/>
              </a:rPr>
              <a:t>E.g., sequential instruction access, array traversal</a:t>
            </a:r>
          </a:p>
          <a:p>
            <a:pPr lvl="1"/>
            <a:r>
              <a:rPr lang="en-US" altLang="en-US" dirty="0">
                <a:ea typeface="ＭＳ Ｐゴシック" panose="020B0600070205080204" pitchFamily="34" charset="-128"/>
              </a:rPr>
              <a:t>This is what IBM 360/85 implemented</a:t>
            </a:r>
          </a:p>
          <a:p>
            <a:pPr lvl="2"/>
            <a:r>
              <a:rPr lang="en-US" altLang="en-US" dirty="0">
                <a:ea typeface="ＭＳ Ｐゴシック" panose="020B0600070205080204" pitchFamily="34" charset="-128"/>
              </a:rPr>
              <a:t>16 Kbyte cache with 64 byte blocks</a:t>
            </a:r>
          </a:p>
          <a:p>
            <a:pPr lvl="2"/>
            <a:r>
              <a:rPr lang="en-US" altLang="en-US" dirty="0" err="1">
                <a:ea typeface="ＭＳ Ｐゴシック" panose="020B0600070205080204" pitchFamily="34" charset="-128"/>
              </a:rPr>
              <a:t>Liptay</a:t>
            </a:r>
            <a:r>
              <a:rPr lang="en-US" altLang="en-US" dirty="0">
                <a:ea typeface="ＭＳ Ｐゴシック" panose="020B0600070205080204" pitchFamily="34" charset="-128"/>
              </a:rPr>
              <a:t>, </a:t>
            </a:r>
            <a:r>
              <a:rPr lang="ja-JP" altLang="en-US" dirty="0">
                <a:ea typeface="ＭＳ Ｐゴシック" panose="020B0600070205080204" pitchFamily="34" charset="-128"/>
              </a:rPr>
              <a:t>“</a:t>
            </a:r>
            <a:r>
              <a:rPr lang="en-US" altLang="ja-JP" dirty="0">
                <a:ea typeface="ＭＳ Ｐゴシック" panose="020B0600070205080204" pitchFamily="34" charset="-128"/>
              </a:rPr>
              <a:t>Structural aspects of the System/360 Model 85 II: the cache,</a:t>
            </a:r>
            <a:r>
              <a:rPr lang="ja-JP" altLang="en-US" dirty="0">
                <a:ea typeface="ＭＳ Ｐゴシック" panose="020B0600070205080204" pitchFamily="34" charset="-128"/>
              </a:rPr>
              <a:t>”</a:t>
            </a:r>
            <a:r>
              <a:rPr lang="en-US" altLang="ja-JP" dirty="0">
                <a:ea typeface="ＭＳ Ｐゴシック" panose="020B0600070205080204" pitchFamily="34" charset="-128"/>
              </a:rPr>
              <a:t> IBM Systems Journal, 1968.</a:t>
            </a:r>
          </a:p>
          <a:p>
            <a:endParaRPr lang="en-US" altLang="en-US" dirty="0">
              <a:ea typeface="ＭＳ Ｐゴシック" panose="020B0600070205080204" pitchFamily="34" charset="-128"/>
            </a:endParaRPr>
          </a:p>
        </p:txBody>
      </p:sp>
      <p:sp>
        <p:nvSpPr>
          <p:cNvPr id="106499" name="Slide Number Placeholder 3">
            <a:extLst>
              <a:ext uri="{FF2B5EF4-FFF2-40B4-BE49-F238E27FC236}">
                <a16:creationId xmlns:a16="http://schemas.microsoft.com/office/drawing/2014/main" id="{AC088D18-8AE8-FE49-9308-06A81B33AC0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00FDBC5F-DEC2-F648-B526-0E9E0E78C35F}" type="slidenum">
              <a:rPr lang="en-US" altLang="en-US" sz="1600" smtClean="0">
                <a:solidFill>
                  <a:srgbClr val="000000"/>
                </a:solidFill>
                <a:latin typeface="Garamond" panose="02020404030301010803" pitchFamily="18" charset="0"/>
              </a:rPr>
              <a:pPr eaLnBrk="1" hangingPunct="1">
                <a:spcBef>
                  <a:spcPct val="0"/>
                </a:spcBef>
                <a:buClrTx/>
                <a:buSzTx/>
                <a:buFontTx/>
                <a:buNone/>
              </a:pPr>
              <a:t>35</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63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63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63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963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963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9634">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9634">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9634">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63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a:extLst>
              <a:ext uri="{FF2B5EF4-FFF2-40B4-BE49-F238E27FC236}">
                <a16:creationId xmlns:a16="http://schemas.microsoft.com/office/drawing/2014/main" id="{5B62CA3B-EA09-4D41-BAE1-A2D5BE08D1E0}"/>
              </a:ext>
            </a:extLst>
          </p:cNvPr>
          <p:cNvSpPr>
            <a:spLocks noGrp="1" noChangeArrowheads="1"/>
          </p:cNvSpPr>
          <p:nvPr>
            <p:ph type="title"/>
          </p:nvPr>
        </p:nvSpPr>
        <p:spPr/>
        <p:txBody>
          <a:bodyPr/>
          <a:lstStyle/>
          <a:p>
            <a:r>
              <a:rPr lang="en-US" altLang="en-US">
                <a:ea typeface="ＭＳ Ｐゴシック" panose="020B0600070205080204" pitchFamily="34" charset="-128"/>
              </a:rPr>
              <a:t>The Bookshelf Analogy</a:t>
            </a:r>
          </a:p>
        </p:txBody>
      </p:sp>
      <p:sp>
        <p:nvSpPr>
          <p:cNvPr id="107522" name="Content Placeholder 2">
            <a:extLst>
              <a:ext uri="{FF2B5EF4-FFF2-40B4-BE49-F238E27FC236}">
                <a16:creationId xmlns:a16="http://schemas.microsoft.com/office/drawing/2014/main" id="{AB4CBB92-E581-B247-AA43-8E8EDD812D0C}"/>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Book in your hand</a:t>
            </a:r>
          </a:p>
          <a:p>
            <a:r>
              <a:rPr lang="en-US" altLang="en-US" dirty="0">
                <a:ea typeface="ＭＳ Ｐゴシック" panose="020B0600070205080204" pitchFamily="34" charset="-128"/>
              </a:rPr>
              <a:t>Desk</a:t>
            </a:r>
          </a:p>
          <a:p>
            <a:r>
              <a:rPr lang="en-US" altLang="en-US" dirty="0">
                <a:ea typeface="ＭＳ Ｐゴシック" panose="020B0600070205080204" pitchFamily="34" charset="-128"/>
              </a:rPr>
              <a:t>Bookshelf</a:t>
            </a:r>
          </a:p>
          <a:p>
            <a:r>
              <a:rPr lang="en-US" altLang="en-US" dirty="0">
                <a:ea typeface="ＭＳ Ｐゴシック" panose="020B0600070205080204" pitchFamily="34" charset="-128"/>
              </a:rPr>
              <a:t>Boxes at home</a:t>
            </a:r>
          </a:p>
          <a:p>
            <a:r>
              <a:rPr lang="en-US" altLang="en-US" dirty="0">
                <a:ea typeface="ＭＳ Ｐゴシック" panose="020B0600070205080204" pitchFamily="34" charset="-128"/>
              </a:rPr>
              <a:t>Boxes in storage</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Recently-used books tend to stay on desk</a:t>
            </a:r>
          </a:p>
          <a:p>
            <a:pPr lvl="1"/>
            <a:r>
              <a:rPr lang="en-US" altLang="en-US" dirty="0">
                <a:ea typeface="ＭＳ Ｐゴシック" panose="020B0600070205080204" pitchFamily="34" charset="-128"/>
              </a:rPr>
              <a:t>Comp Arch books, books for classes you are currently taking</a:t>
            </a:r>
          </a:p>
          <a:p>
            <a:pPr lvl="1"/>
            <a:r>
              <a:rPr lang="en-US" altLang="en-US" dirty="0">
                <a:ea typeface="ＭＳ Ｐゴシック" panose="020B0600070205080204" pitchFamily="34" charset="-128"/>
              </a:rPr>
              <a:t>Until the desk gets full</a:t>
            </a:r>
          </a:p>
          <a:p>
            <a:r>
              <a:rPr lang="en-US" altLang="en-US" dirty="0">
                <a:ea typeface="ＭＳ Ｐゴシック" panose="020B0600070205080204" pitchFamily="34" charset="-128"/>
              </a:rPr>
              <a:t>Adjacent books in the shelf needed around the same time</a:t>
            </a:r>
          </a:p>
          <a:p>
            <a:pPr lvl="1"/>
            <a:r>
              <a:rPr lang="en-US" altLang="en-US" dirty="0">
                <a:ea typeface="ＭＳ Ｐゴシック" panose="020B0600070205080204" pitchFamily="34" charset="-128"/>
              </a:rPr>
              <a:t>If I have organized/categorized my books well in the shelf</a:t>
            </a:r>
          </a:p>
          <a:p>
            <a:endParaRPr lang="en-US" altLang="en-US" dirty="0">
              <a:ea typeface="ＭＳ Ｐゴシック" panose="020B0600070205080204" pitchFamily="34" charset="-128"/>
            </a:endParaRPr>
          </a:p>
        </p:txBody>
      </p:sp>
      <p:sp>
        <p:nvSpPr>
          <p:cNvPr id="107523" name="Slide Number Placeholder 3">
            <a:extLst>
              <a:ext uri="{FF2B5EF4-FFF2-40B4-BE49-F238E27FC236}">
                <a16:creationId xmlns:a16="http://schemas.microsoft.com/office/drawing/2014/main" id="{1D8B2A4E-04D7-1145-8734-267AC48E5E4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C1327CEC-7FE8-DB45-AACA-752E40C0F0D9}" type="slidenum">
              <a:rPr lang="en-US" altLang="en-US" sz="1600" smtClean="0">
                <a:solidFill>
                  <a:srgbClr val="000000"/>
                </a:solidFill>
                <a:latin typeface="Garamond" panose="02020404030301010803" pitchFamily="18" charset="0"/>
              </a:rPr>
              <a:pPr eaLnBrk="1" hangingPunct="1">
                <a:spcBef>
                  <a:spcPct val="0"/>
                </a:spcBef>
                <a:buClrTx/>
                <a:buSzTx/>
                <a:buFontTx/>
                <a:buNone/>
              </a:pPr>
              <a:t>36</a:t>
            </a:fld>
            <a:endParaRPr lang="en-US" altLang="en-US" sz="1600">
              <a:solidFill>
                <a:srgbClr val="000000"/>
              </a:solidFill>
              <a:latin typeface="Garamond" panose="02020404030301010803"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a:extLst>
              <a:ext uri="{FF2B5EF4-FFF2-40B4-BE49-F238E27FC236}">
                <a16:creationId xmlns:a16="http://schemas.microsoft.com/office/drawing/2014/main" id="{089361D5-B47E-5E4A-9C68-074E34C2E4B5}"/>
              </a:ext>
            </a:extLst>
          </p:cNvPr>
          <p:cNvSpPr>
            <a:spLocks noGrp="1" noChangeArrowheads="1"/>
          </p:cNvSpPr>
          <p:nvPr>
            <p:ph type="title"/>
          </p:nvPr>
        </p:nvSpPr>
        <p:spPr/>
        <p:txBody>
          <a:bodyPr/>
          <a:lstStyle/>
          <a:p>
            <a:r>
              <a:rPr lang="en-US" altLang="en-US">
                <a:ea typeface="ＭＳ Ｐゴシック" panose="020B0600070205080204" pitchFamily="34" charset="-128"/>
              </a:rPr>
              <a:t>Caching in a Pipelined Design</a:t>
            </a:r>
          </a:p>
        </p:txBody>
      </p:sp>
      <p:sp>
        <p:nvSpPr>
          <p:cNvPr id="68610" name="Content Placeholder 2">
            <a:extLst>
              <a:ext uri="{FF2B5EF4-FFF2-40B4-BE49-F238E27FC236}">
                <a16:creationId xmlns:a16="http://schemas.microsoft.com/office/drawing/2014/main" id="{AF3DCF0D-B6A7-FA4D-9FE1-E4BC1A2F3129}"/>
              </a:ext>
            </a:extLst>
          </p:cNvPr>
          <p:cNvSpPr>
            <a:spLocks noGrp="1" noChangeArrowheads="1"/>
          </p:cNvSpPr>
          <p:nvPr>
            <p:ph idx="1"/>
          </p:nvPr>
        </p:nvSpPr>
        <p:spPr>
          <a:xfrm>
            <a:off x="228600" y="996950"/>
            <a:ext cx="8610600" cy="2532061"/>
          </a:xfrm>
        </p:spPr>
        <p:txBody>
          <a:bodyPr/>
          <a:lstStyle/>
          <a:p>
            <a:r>
              <a:rPr lang="en-US" altLang="en-US" dirty="0">
                <a:ea typeface="ＭＳ Ｐゴシック" panose="020B0600070205080204" pitchFamily="34" charset="-128"/>
              </a:rPr>
              <a:t>The cache needs to be tightly integrated into the pipeline </a:t>
            </a:r>
          </a:p>
          <a:p>
            <a:pPr lvl="1"/>
            <a:r>
              <a:rPr lang="en-US" altLang="en-US" dirty="0">
                <a:ea typeface="ＭＳ Ｐゴシック" panose="020B0600070205080204" pitchFamily="34" charset="-128"/>
              </a:rPr>
              <a:t>Ideally, access in 1-cycle so that load-dependent operations do not stall</a:t>
            </a:r>
          </a:p>
          <a:p>
            <a:r>
              <a:rPr lang="en-US" altLang="en-US" dirty="0">
                <a:ea typeface="ＭＳ Ｐゴシック" panose="020B0600070205080204" pitchFamily="34" charset="-128"/>
              </a:rPr>
              <a:t>High frequency pipeline </a:t>
            </a:r>
            <a:r>
              <a:rPr lang="en-US" altLang="en-US" dirty="0">
                <a:ea typeface="ＭＳ Ｐゴシック" panose="020B0600070205080204" pitchFamily="34" charset="-128"/>
                <a:sym typeface="Wingdings" pitchFamily="2" charset="2"/>
              </a:rPr>
              <a:t> Cannot make the cache large</a:t>
            </a:r>
          </a:p>
          <a:p>
            <a:pPr lvl="1"/>
            <a:r>
              <a:rPr lang="en-US" altLang="en-US" dirty="0">
                <a:ea typeface="ＭＳ Ｐゴシック" panose="020B0600070205080204" pitchFamily="34" charset="-128"/>
                <a:sym typeface="Wingdings" pitchFamily="2" charset="2"/>
              </a:rPr>
              <a:t>But, we want a large cache AND a pipelined design</a:t>
            </a:r>
          </a:p>
          <a:p>
            <a:r>
              <a:rPr lang="en-US" altLang="en-US" b="1" dirty="0">
                <a:ea typeface="ＭＳ Ｐゴシック" panose="020B0600070205080204" pitchFamily="34" charset="-128"/>
                <a:sym typeface="Wingdings" pitchFamily="2" charset="2"/>
              </a:rPr>
              <a:t>Idea</a:t>
            </a:r>
            <a:r>
              <a:rPr lang="en-US" altLang="en-US" dirty="0">
                <a:ea typeface="ＭＳ Ｐゴシック" panose="020B0600070205080204" pitchFamily="34" charset="-128"/>
                <a:sym typeface="Wingdings" pitchFamily="2" charset="2"/>
              </a:rPr>
              <a:t>: </a:t>
            </a:r>
            <a:r>
              <a:rPr lang="en-US" altLang="en-US" dirty="0">
                <a:solidFill>
                  <a:srgbClr val="0432FF"/>
                </a:solidFill>
                <a:ea typeface="ＭＳ Ｐゴシック" panose="020B0600070205080204" pitchFamily="34" charset="-128"/>
                <a:sym typeface="Wingdings" pitchFamily="2" charset="2"/>
              </a:rPr>
              <a:t>Cache hierarchy</a:t>
            </a:r>
            <a:endParaRPr lang="en-US" altLang="en-US" dirty="0">
              <a:solidFill>
                <a:srgbClr val="0432FF"/>
              </a:solidFill>
              <a:ea typeface="ＭＳ Ｐゴシック" panose="020B0600070205080204" pitchFamily="34" charset="-128"/>
            </a:endParaRPr>
          </a:p>
        </p:txBody>
      </p:sp>
      <p:sp>
        <p:nvSpPr>
          <p:cNvPr id="108547" name="Slide Number Placeholder 3">
            <a:extLst>
              <a:ext uri="{FF2B5EF4-FFF2-40B4-BE49-F238E27FC236}">
                <a16:creationId xmlns:a16="http://schemas.microsoft.com/office/drawing/2014/main" id="{32D4D024-9A57-9446-8974-97C6A66852E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DA2EECC9-3267-4542-97AB-63A5196040D5}" type="slidenum">
              <a:rPr lang="en-US" altLang="en-US" sz="1600" smtClean="0">
                <a:solidFill>
                  <a:srgbClr val="000000"/>
                </a:solidFill>
                <a:latin typeface="Garamond" panose="02020404030301010803" pitchFamily="18" charset="0"/>
              </a:rPr>
              <a:pPr eaLnBrk="1" hangingPunct="1">
                <a:spcBef>
                  <a:spcPct val="0"/>
                </a:spcBef>
                <a:buClrTx/>
                <a:buSzTx/>
                <a:buFontTx/>
                <a:buNone/>
              </a:pPr>
              <a:t>37</a:t>
            </a:fld>
            <a:endParaRPr lang="en-US" altLang="en-US" sz="1600">
              <a:solidFill>
                <a:srgbClr val="000000"/>
              </a:solidFill>
              <a:latin typeface="Garamond" panose="02020404030301010803" pitchFamily="18" charset="0"/>
            </a:endParaRPr>
          </a:p>
        </p:txBody>
      </p:sp>
      <p:sp>
        <p:nvSpPr>
          <p:cNvPr id="108548" name="Rectangle 4">
            <a:extLst>
              <a:ext uri="{FF2B5EF4-FFF2-40B4-BE49-F238E27FC236}">
                <a16:creationId xmlns:a16="http://schemas.microsoft.com/office/drawing/2014/main" id="{2F9A88D9-97E1-0642-9BD1-51D39ADBC12C}"/>
              </a:ext>
            </a:extLst>
          </p:cNvPr>
          <p:cNvSpPr>
            <a:spLocks noChangeArrowheads="1"/>
          </p:cNvSpPr>
          <p:nvPr/>
        </p:nvSpPr>
        <p:spPr bwMode="auto">
          <a:xfrm>
            <a:off x="1287463" y="4297363"/>
            <a:ext cx="885825" cy="12731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8549" name="Rectangle 5">
            <a:extLst>
              <a:ext uri="{FF2B5EF4-FFF2-40B4-BE49-F238E27FC236}">
                <a16:creationId xmlns:a16="http://schemas.microsoft.com/office/drawing/2014/main" id="{A5200734-AB69-454C-A1E4-207D9362D2BC}"/>
              </a:ext>
            </a:extLst>
          </p:cNvPr>
          <p:cNvSpPr>
            <a:spLocks noChangeArrowheads="1"/>
          </p:cNvSpPr>
          <p:nvPr/>
        </p:nvSpPr>
        <p:spPr bwMode="auto">
          <a:xfrm>
            <a:off x="5876925" y="3168650"/>
            <a:ext cx="2749550" cy="31496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8550" name="TextBox 6">
            <a:extLst>
              <a:ext uri="{FF2B5EF4-FFF2-40B4-BE49-F238E27FC236}">
                <a16:creationId xmlns:a16="http://schemas.microsoft.com/office/drawing/2014/main" id="{B4706BCA-05CF-5A45-A7E4-5E1584444108}"/>
              </a:ext>
            </a:extLst>
          </p:cNvPr>
          <p:cNvSpPr txBox="1">
            <a:spLocks noChangeArrowheads="1"/>
          </p:cNvSpPr>
          <p:nvPr/>
        </p:nvSpPr>
        <p:spPr bwMode="auto">
          <a:xfrm>
            <a:off x="1389063" y="4730750"/>
            <a:ext cx="6715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CPU</a:t>
            </a:r>
          </a:p>
        </p:txBody>
      </p:sp>
      <p:sp>
        <p:nvSpPr>
          <p:cNvPr id="108551" name="TextBox 7">
            <a:extLst>
              <a:ext uri="{FF2B5EF4-FFF2-40B4-BE49-F238E27FC236}">
                <a16:creationId xmlns:a16="http://schemas.microsoft.com/office/drawing/2014/main" id="{CA4B4BEA-7950-7548-B563-47A11B72AEF9}"/>
              </a:ext>
            </a:extLst>
          </p:cNvPr>
          <p:cNvSpPr txBox="1">
            <a:spLocks noChangeArrowheads="1"/>
          </p:cNvSpPr>
          <p:nvPr/>
        </p:nvSpPr>
        <p:spPr bwMode="auto">
          <a:xfrm>
            <a:off x="6692900" y="4297363"/>
            <a:ext cx="1017588"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dirty="0">
                <a:solidFill>
                  <a:srgbClr val="000000"/>
                </a:solidFill>
                <a:latin typeface="Arial" panose="020B0604020202020204" pitchFamily="34" charset="0"/>
              </a:rPr>
              <a:t>Main</a:t>
            </a:r>
          </a:p>
          <a:p>
            <a:pPr algn="ctr" eaLnBrk="1" hangingPunct="1">
              <a:spcBef>
                <a:spcPct val="0"/>
              </a:spcBef>
              <a:buClrTx/>
              <a:buSzTx/>
              <a:buFontTx/>
              <a:buNone/>
            </a:pPr>
            <a:r>
              <a:rPr lang="en-US" altLang="en-US" sz="1800" dirty="0">
                <a:solidFill>
                  <a:srgbClr val="000000"/>
                </a:solidFill>
                <a:latin typeface="Arial" panose="020B0604020202020204" pitchFamily="34" charset="0"/>
              </a:rPr>
              <a:t>Memory</a:t>
            </a:r>
          </a:p>
          <a:p>
            <a:pPr algn="ctr" eaLnBrk="1" hangingPunct="1">
              <a:spcBef>
                <a:spcPct val="0"/>
              </a:spcBef>
              <a:buClrTx/>
              <a:buSzTx/>
              <a:buFontTx/>
              <a:buNone/>
            </a:pPr>
            <a:r>
              <a:rPr lang="en-US" altLang="en-US" sz="1800" dirty="0">
                <a:solidFill>
                  <a:srgbClr val="000000"/>
                </a:solidFill>
                <a:latin typeface="Arial" panose="020B0604020202020204" pitchFamily="34" charset="0"/>
              </a:rPr>
              <a:t>(DRAM)</a:t>
            </a:r>
          </a:p>
        </p:txBody>
      </p:sp>
      <p:sp>
        <p:nvSpPr>
          <p:cNvPr id="108552" name="TextBox 8">
            <a:extLst>
              <a:ext uri="{FF2B5EF4-FFF2-40B4-BE49-F238E27FC236}">
                <a16:creationId xmlns:a16="http://schemas.microsoft.com/office/drawing/2014/main" id="{177FE9BD-61D8-A644-8376-09C55885663A}"/>
              </a:ext>
            </a:extLst>
          </p:cNvPr>
          <p:cNvSpPr txBox="1">
            <a:spLocks noChangeArrowheads="1"/>
          </p:cNvSpPr>
          <p:nvPr/>
        </p:nvSpPr>
        <p:spPr bwMode="auto">
          <a:xfrm>
            <a:off x="1484313" y="5100638"/>
            <a:ext cx="492125" cy="3683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RF</a:t>
            </a:r>
          </a:p>
        </p:txBody>
      </p:sp>
      <p:sp>
        <p:nvSpPr>
          <p:cNvPr id="108553" name="Rectangle 9">
            <a:extLst>
              <a:ext uri="{FF2B5EF4-FFF2-40B4-BE49-F238E27FC236}">
                <a16:creationId xmlns:a16="http://schemas.microsoft.com/office/drawing/2014/main" id="{FCD5F739-320B-294D-B291-86653661DF75}"/>
              </a:ext>
            </a:extLst>
          </p:cNvPr>
          <p:cNvSpPr>
            <a:spLocks noChangeArrowheads="1"/>
          </p:cNvSpPr>
          <p:nvPr/>
        </p:nvSpPr>
        <p:spPr bwMode="auto">
          <a:xfrm>
            <a:off x="2325688" y="4297363"/>
            <a:ext cx="887412" cy="12731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08554" name="TextBox 10">
            <a:extLst>
              <a:ext uri="{FF2B5EF4-FFF2-40B4-BE49-F238E27FC236}">
                <a16:creationId xmlns:a16="http://schemas.microsoft.com/office/drawing/2014/main" id="{89E60CBD-EEFC-E849-A577-4626BAED54FF}"/>
              </a:ext>
            </a:extLst>
          </p:cNvPr>
          <p:cNvSpPr txBox="1">
            <a:spLocks noChangeArrowheads="1"/>
          </p:cNvSpPr>
          <p:nvPr/>
        </p:nvSpPr>
        <p:spPr bwMode="auto">
          <a:xfrm>
            <a:off x="2325688" y="4730750"/>
            <a:ext cx="8874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dirty="0">
                <a:solidFill>
                  <a:srgbClr val="000000"/>
                </a:solidFill>
                <a:latin typeface="Arial" panose="020B0604020202020204" pitchFamily="34" charset="0"/>
              </a:rPr>
              <a:t>Level1</a:t>
            </a:r>
          </a:p>
          <a:p>
            <a:pPr algn="ctr" eaLnBrk="1" hangingPunct="1">
              <a:spcBef>
                <a:spcPct val="0"/>
              </a:spcBef>
              <a:buClrTx/>
              <a:buSzTx/>
              <a:buFontTx/>
              <a:buNone/>
            </a:pPr>
            <a:r>
              <a:rPr lang="en-US" altLang="en-US" sz="1800" dirty="0">
                <a:solidFill>
                  <a:srgbClr val="000000"/>
                </a:solidFill>
                <a:latin typeface="Arial" panose="020B0604020202020204" pitchFamily="34" charset="0"/>
              </a:rPr>
              <a:t>Cache</a:t>
            </a:r>
          </a:p>
        </p:txBody>
      </p:sp>
      <p:cxnSp>
        <p:nvCxnSpPr>
          <p:cNvPr id="108555" name="Straight Arrow Connector 11">
            <a:extLst>
              <a:ext uri="{FF2B5EF4-FFF2-40B4-BE49-F238E27FC236}">
                <a16:creationId xmlns:a16="http://schemas.microsoft.com/office/drawing/2014/main" id="{F4CCC76D-C612-C249-8DB9-1058FDAA1BA9}"/>
              </a:ext>
            </a:extLst>
          </p:cNvPr>
          <p:cNvCxnSpPr>
            <a:cxnSpLocks noChangeShapeType="1"/>
            <a:endCxn id="108553" idx="3"/>
          </p:cNvCxnSpPr>
          <p:nvPr/>
        </p:nvCxnSpPr>
        <p:spPr bwMode="auto">
          <a:xfrm rot="10800000">
            <a:off x="3213100" y="4933950"/>
            <a:ext cx="2663825" cy="1588"/>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14" name="Rectangle 13">
            <a:extLst>
              <a:ext uri="{FF2B5EF4-FFF2-40B4-BE49-F238E27FC236}">
                <a16:creationId xmlns:a16="http://schemas.microsoft.com/office/drawing/2014/main" id="{4754BF9A-11AF-C04D-A579-F1A3CE7996D1}"/>
              </a:ext>
            </a:extLst>
          </p:cNvPr>
          <p:cNvSpPr>
            <a:spLocks noChangeArrowheads="1"/>
          </p:cNvSpPr>
          <p:nvPr/>
        </p:nvSpPr>
        <p:spPr bwMode="auto">
          <a:xfrm>
            <a:off x="3800475" y="3811588"/>
            <a:ext cx="1306513" cy="206216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5" name="TextBox 14">
            <a:extLst>
              <a:ext uri="{FF2B5EF4-FFF2-40B4-BE49-F238E27FC236}">
                <a16:creationId xmlns:a16="http://schemas.microsoft.com/office/drawing/2014/main" id="{9FC194F7-8D6C-A641-925B-24375D947707}"/>
              </a:ext>
            </a:extLst>
          </p:cNvPr>
          <p:cNvSpPr txBox="1">
            <a:spLocks noChangeArrowheads="1"/>
          </p:cNvSpPr>
          <p:nvPr/>
        </p:nvSpPr>
        <p:spPr bwMode="auto">
          <a:xfrm>
            <a:off x="3800475" y="4568825"/>
            <a:ext cx="13065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a:solidFill>
                  <a:srgbClr val="000000"/>
                </a:solidFill>
                <a:latin typeface="Arial" panose="020B0604020202020204" pitchFamily="34" charset="0"/>
              </a:rPr>
              <a:t>Level 2</a:t>
            </a:r>
          </a:p>
          <a:p>
            <a:pPr algn="ctr" eaLnBrk="1" hangingPunct="1">
              <a:spcBef>
                <a:spcPct val="0"/>
              </a:spcBef>
              <a:buClrTx/>
              <a:buSzTx/>
              <a:buFontTx/>
              <a:buNone/>
            </a:pPr>
            <a:r>
              <a:rPr lang="en-US" altLang="en-US" sz="1800">
                <a:solidFill>
                  <a:srgbClr val="000000"/>
                </a:solidFill>
                <a:latin typeface="Arial" panose="020B0604020202020204" pitchFamily="34" charset="0"/>
              </a:rPr>
              <a:t>Cache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6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610">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8610">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a:extLst>
              <a:ext uri="{FF2B5EF4-FFF2-40B4-BE49-F238E27FC236}">
                <a16:creationId xmlns:a16="http://schemas.microsoft.com/office/drawing/2014/main" id="{7616EDAA-3B45-C142-8CD2-E6E579C86C54}"/>
              </a:ext>
            </a:extLst>
          </p:cNvPr>
          <p:cNvSpPr>
            <a:spLocks noGrp="1" noChangeArrowheads="1"/>
          </p:cNvSpPr>
          <p:nvPr>
            <p:ph type="title"/>
          </p:nvPr>
        </p:nvSpPr>
        <p:spPr/>
        <p:txBody>
          <a:bodyPr/>
          <a:lstStyle/>
          <a:p>
            <a:r>
              <a:rPr lang="en-US" altLang="en-US" sz="3600">
                <a:ea typeface="ＭＳ Ｐゴシック" panose="020B0600070205080204" pitchFamily="34" charset="-128"/>
              </a:rPr>
              <a:t>A Note on Manual vs. Automatic Management</a:t>
            </a:r>
          </a:p>
        </p:txBody>
      </p:sp>
      <p:sp>
        <p:nvSpPr>
          <p:cNvPr id="3" name="Content Placeholder 2">
            <a:extLst>
              <a:ext uri="{FF2B5EF4-FFF2-40B4-BE49-F238E27FC236}">
                <a16:creationId xmlns:a16="http://schemas.microsoft.com/office/drawing/2014/main" id="{81728BE2-26A5-C744-8B89-9FA143B941BF}"/>
              </a:ext>
            </a:extLst>
          </p:cNvPr>
          <p:cNvSpPr>
            <a:spLocks noGrp="1" noChangeArrowheads="1"/>
          </p:cNvSpPr>
          <p:nvPr>
            <p:ph idx="1"/>
          </p:nvPr>
        </p:nvSpPr>
        <p:spPr>
          <a:xfrm>
            <a:off x="228600" y="996950"/>
            <a:ext cx="8839200" cy="5194300"/>
          </a:xfrm>
        </p:spPr>
        <p:txBody>
          <a:bodyPr/>
          <a:lstStyle/>
          <a:p>
            <a:r>
              <a:rPr lang="en-US" altLang="en-US" b="1" dirty="0">
                <a:ea typeface="ＭＳ Ｐゴシック" panose="020B0600070205080204" pitchFamily="34" charset="-128"/>
              </a:rPr>
              <a:t>Manual</a:t>
            </a:r>
            <a:r>
              <a:rPr lang="en-US" altLang="en-US" dirty="0">
                <a:solidFill>
                  <a:srgbClr val="0000FF"/>
                </a:solidFill>
                <a:ea typeface="ＭＳ Ｐゴシック" panose="020B0600070205080204" pitchFamily="34" charset="-128"/>
              </a:rPr>
              <a:t>:</a:t>
            </a:r>
            <a:r>
              <a:rPr lang="en-US" altLang="en-US" dirty="0">
                <a:ea typeface="ＭＳ Ｐゴシック" panose="020B0600070205080204" pitchFamily="34" charset="-128"/>
              </a:rPr>
              <a:t> Programmer manages data movement across levels</a:t>
            </a:r>
          </a:p>
          <a:p>
            <a:pPr marL="342900" lvl="1" indent="0">
              <a:buFont typeface="Wingdings" pitchFamily="2" charset="2"/>
              <a:buNone/>
            </a:pPr>
            <a:r>
              <a:rPr lang="en-US" altLang="en-US" dirty="0">
                <a:solidFill>
                  <a:srgbClr val="FF0000"/>
                </a:solidFill>
                <a:ea typeface="ＭＳ Ｐゴシック" panose="020B0600070205080204" pitchFamily="34" charset="-128"/>
              </a:rPr>
              <a:t>-- too painful for programmers on substantial programs</a:t>
            </a:r>
          </a:p>
          <a:p>
            <a:pPr marL="342900" lvl="1" indent="0"/>
            <a:r>
              <a:rPr lang="en-US" altLang="en-US" dirty="0">
                <a:ea typeface="ＭＳ Ｐゴシック" panose="020B0600070205080204" pitchFamily="34" charset="-128"/>
              </a:rPr>
              <a:t> “core” vs “drum” memory in the 1950s</a:t>
            </a:r>
          </a:p>
          <a:p>
            <a:pPr marL="342900" lvl="1" indent="0"/>
            <a:r>
              <a:rPr lang="en-US" altLang="en-US" dirty="0">
                <a:ea typeface="ＭＳ Ｐゴシック" panose="020B0600070205080204" pitchFamily="34" charset="-128"/>
              </a:rPr>
              <a:t> done in embedded processors (on-chip scratchpad SRAM in lieu of a cache), GPUs (called “shared memory”), ML accelerators, …</a:t>
            </a:r>
          </a:p>
          <a:p>
            <a:endParaRPr lang="en-US" altLang="en-US" dirty="0">
              <a:ea typeface="ＭＳ Ｐゴシック" panose="020B0600070205080204" pitchFamily="34" charset="-128"/>
            </a:endParaRPr>
          </a:p>
          <a:p>
            <a:r>
              <a:rPr lang="en-US" altLang="en-US" b="1" dirty="0">
                <a:ea typeface="ＭＳ Ｐゴシック" panose="020B0600070205080204" pitchFamily="34" charset="-128"/>
              </a:rPr>
              <a:t>Automatic</a:t>
            </a:r>
            <a:r>
              <a:rPr lang="en-US" altLang="en-US" dirty="0">
                <a:solidFill>
                  <a:srgbClr val="0000FF"/>
                </a:solidFill>
                <a:ea typeface="ＭＳ Ｐゴシック" panose="020B0600070205080204" pitchFamily="34" charset="-128"/>
              </a:rPr>
              <a:t>:</a:t>
            </a:r>
            <a:r>
              <a:rPr lang="en-US" altLang="en-US" dirty="0">
                <a:ea typeface="ＭＳ Ｐゴシック" panose="020B0600070205080204" pitchFamily="34" charset="-128"/>
              </a:rPr>
              <a:t> Hardware manages data movement across levels, </a:t>
            </a:r>
            <a:r>
              <a:rPr lang="en-US" altLang="en-US" dirty="0">
                <a:solidFill>
                  <a:srgbClr val="0000FF"/>
                </a:solidFill>
                <a:ea typeface="ＭＳ Ｐゴシック" panose="020B0600070205080204" pitchFamily="34" charset="-128"/>
              </a:rPr>
              <a:t>transparently to the programmer</a:t>
            </a:r>
          </a:p>
          <a:p>
            <a:pPr marL="342900" lvl="1" indent="0">
              <a:buFont typeface="Wingdings" pitchFamily="2" charset="2"/>
              <a:buNone/>
            </a:pPr>
            <a:r>
              <a:rPr lang="en-US" altLang="en-US" dirty="0">
                <a:solidFill>
                  <a:srgbClr val="00B050"/>
                </a:solidFill>
                <a:ea typeface="ＭＳ Ｐゴシック" panose="020B0600070205080204" pitchFamily="34" charset="-128"/>
              </a:rPr>
              <a:t>++ programmer’s life is easier</a:t>
            </a:r>
          </a:p>
          <a:p>
            <a:pPr marL="342900" lvl="1" indent="0"/>
            <a:r>
              <a:rPr lang="en-US" altLang="en-US" dirty="0">
                <a:ea typeface="ＭＳ Ｐゴシック" panose="020B0600070205080204" pitchFamily="34" charset="-128"/>
              </a:rPr>
              <a:t> the average programmer doesn’t need to know about caches</a:t>
            </a:r>
          </a:p>
          <a:p>
            <a:pPr lvl="2"/>
            <a:r>
              <a:rPr lang="en-US" altLang="en-US" dirty="0">
                <a:ea typeface="ＭＳ Ｐゴシック" panose="020B0600070205080204" pitchFamily="34" charset="-128"/>
              </a:rPr>
              <a:t>You don’t need to know how big the cache is and how it works to write a “correct” program! (What if you want a “fast” program?)</a:t>
            </a:r>
          </a:p>
          <a:p>
            <a:endParaRPr lang="en-US" altLang="en-US" dirty="0">
              <a:ea typeface="ＭＳ Ｐゴシック" panose="020B0600070205080204" pitchFamily="34" charset="-128"/>
            </a:endParaRPr>
          </a:p>
        </p:txBody>
      </p:sp>
      <p:sp>
        <p:nvSpPr>
          <p:cNvPr id="109571" name="Slide Number Placeholder 3">
            <a:extLst>
              <a:ext uri="{FF2B5EF4-FFF2-40B4-BE49-F238E27FC236}">
                <a16:creationId xmlns:a16="http://schemas.microsoft.com/office/drawing/2014/main" id="{74B33E3D-A5B7-4F41-A748-4E15E9311C1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B27312A6-432E-AB49-8E56-F98680077609}" type="slidenum">
              <a:rPr lang="en-US" altLang="en-US" sz="1600" smtClean="0">
                <a:solidFill>
                  <a:srgbClr val="000000"/>
                </a:solidFill>
                <a:latin typeface="Garamond" panose="02020404030301010803" pitchFamily="18" charset="0"/>
              </a:rPr>
              <a:pPr eaLnBrk="1" hangingPunct="1">
                <a:spcBef>
                  <a:spcPct val="0"/>
                </a:spcBef>
                <a:buClrTx/>
                <a:buSzTx/>
                <a:buFontTx/>
                <a:buNone/>
              </a:pPr>
              <a:t>38</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a:extLst>
              <a:ext uri="{FF2B5EF4-FFF2-40B4-BE49-F238E27FC236}">
                <a16:creationId xmlns:a16="http://schemas.microsoft.com/office/drawing/2014/main" id="{52C9FD8F-DE8D-4B4B-AB3A-9414E47E786F}"/>
              </a:ext>
            </a:extLst>
          </p:cNvPr>
          <p:cNvSpPr>
            <a:spLocks noGrp="1" noChangeArrowheads="1"/>
          </p:cNvSpPr>
          <p:nvPr>
            <p:ph type="title"/>
          </p:nvPr>
        </p:nvSpPr>
        <p:spPr/>
        <p:txBody>
          <a:bodyPr/>
          <a:lstStyle/>
          <a:p>
            <a:r>
              <a:rPr lang="en-US" altLang="en-US" sz="3600">
                <a:ea typeface="ＭＳ Ｐゴシック" panose="020B0600070205080204" pitchFamily="34" charset="-128"/>
              </a:rPr>
              <a:t>Automatic Management in Memory Hierarchy</a:t>
            </a:r>
          </a:p>
        </p:txBody>
      </p:sp>
      <p:sp>
        <p:nvSpPr>
          <p:cNvPr id="3" name="Content Placeholder 2">
            <a:extLst>
              <a:ext uri="{FF2B5EF4-FFF2-40B4-BE49-F238E27FC236}">
                <a16:creationId xmlns:a16="http://schemas.microsoft.com/office/drawing/2014/main" id="{D020E597-0C87-FB41-B35A-A7E445DAB6F7}"/>
              </a:ext>
            </a:extLst>
          </p:cNvPr>
          <p:cNvSpPr>
            <a:spLocks noGrp="1" noChangeArrowheads="1"/>
          </p:cNvSpPr>
          <p:nvPr>
            <p:ph idx="1"/>
          </p:nvPr>
        </p:nvSpPr>
        <p:spPr>
          <a:xfrm>
            <a:off x="304800" y="990600"/>
            <a:ext cx="8610600" cy="5194300"/>
          </a:xfrm>
        </p:spPr>
        <p:txBody>
          <a:bodyPr/>
          <a:lstStyle/>
          <a:p>
            <a:r>
              <a:rPr lang="en-US" altLang="en-US" dirty="0">
                <a:ea typeface="ＭＳ Ｐゴシック" panose="020B0600070205080204" pitchFamily="34" charset="-128"/>
              </a:rPr>
              <a:t>Wilkes, “</a:t>
            </a:r>
            <a:r>
              <a:rPr lang="en-US" altLang="ja-JP" dirty="0">
                <a:solidFill>
                  <a:srgbClr val="FF0000"/>
                </a:solidFill>
                <a:ea typeface="ＭＳ Ｐゴシック" panose="020B0600070205080204" pitchFamily="34" charset="-128"/>
              </a:rPr>
              <a:t>Slave Memories and Dynamic Storage Allocation</a:t>
            </a:r>
            <a:r>
              <a:rPr lang="en-US" altLang="ja-JP" dirty="0">
                <a:ea typeface="ＭＳ Ｐゴシック" panose="020B0600070205080204" pitchFamily="34" charset="-128"/>
              </a:rPr>
              <a:t>,</a:t>
            </a:r>
            <a:r>
              <a:rPr lang="en-US" altLang="en-US" dirty="0">
                <a:ea typeface="ＭＳ Ｐゴシック" panose="020B0600070205080204" pitchFamily="34" charset="-128"/>
              </a:rPr>
              <a:t>”</a:t>
            </a:r>
            <a:r>
              <a:rPr lang="en-US" altLang="ja-JP" dirty="0">
                <a:ea typeface="ＭＳ Ｐゴシック" panose="020B0600070205080204" pitchFamily="34" charset="-128"/>
              </a:rPr>
              <a:t> IEEE Trans. On Electronic Computers, 1965.</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“By a slave memory I mean one which </a:t>
            </a:r>
            <a:r>
              <a:rPr lang="en-US" altLang="en-US" dirty="0">
                <a:solidFill>
                  <a:srgbClr val="0000FF"/>
                </a:solidFill>
                <a:ea typeface="ＭＳ Ｐゴシック" panose="020B0600070205080204" pitchFamily="34" charset="-128"/>
              </a:rPr>
              <a:t>automatically accumulates to itself words </a:t>
            </a:r>
            <a:r>
              <a:rPr lang="en-US" altLang="en-US" dirty="0">
                <a:ea typeface="ＭＳ Ｐゴシック" panose="020B0600070205080204" pitchFamily="34" charset="-128"/>
              </a:rPr>
              <a:t>that come from a slower main memory, and keeps them available for subsequent use without it being necessary for the penalty of main memory access to be incurred again.”</a:t>
            </a:r>
            <a:endParaRPr lang="en-US" altLang="ja-JP"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110595" name="Slide Number Placeholder 3">
            <a:extLst>
              <a:ext uri="{FF2B5EF4-FFF2-40B4-BE49-F238E27FC236}">
                <a16:creationId xmlns:a16="http://schemas.microsoft.com/office/drawing/2014/main" id="{32A8D626-7D17-DB49-898E-5425D0D349B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17F00E60-7211-514A-8F41-79C7F30A412E}" type="slidenum">
              <a:rPr lang="en-US" altLang="en-US" sz="1600" i="1" smtClean="0">
                <a:solidFill>
                  <a:srgbClr val="000000"/>
                </a:solidFill>
                <a:latin typeface="Garamond" panose="02020404030301010803" pitchFamily="18" charset="0"/>
              </a:rPr>
              <a:pPr eaLnBrk="1" hangingPunct="1">
                <a:spcBef>
                  <a:spcPct val="0"/>
                </a:spcBef>
                <a:buClrTx/>
                <a:buSzTx/>
                <a:buFontTx/>
                <a:buNone/>
              </a:pPr>
              <a:t>39</a:t>
            </a:fld>
            <a:endParaRPr lang="en-US" altLang="en-US" sz="1600" i="1">
              <a:solidFill>
                <a:srgbClr val="000000"/>
              </a:solidFill>
              <a:latin typeface="Garamond" panose="02020404030301010803" pitchFamily="18" charset="0"/>
            </a:endParaRPr>
          </a:p>
        </p:txBody>
      </p:sp>
      <p:pic>
        <p:nvPicPr>
          <p:cNvPr id="2" name="Picture 1">
            <a:extLst>
              <a:ext uri="{FF2B5EF4-FFF2-40B4-BE49-F238E27FC236}">
                <a16:creationId xmlns:a16="http://schemas.microsoft.com/office/drawing/2014/main" id="{2D5B76E5-ADF1-554E-8E35-68C38919F6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05000"/>
            <a:ext cx="8686800"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587C6-0747-B547-8CFE-4F5168D19E93}"/>
              </a:ext>
            </a:extLst>
          </p:cNvPr>
          <p:cNvSpPr>
            <a:spLocks noGrp="1"/>
          </p:cNvSpPr>
          <p:nvPr>
            <p:ph type="title"/>
          </p:nvPr>
        </p:nvSpPr>
        <p:spPr/>
        <p:txBody>
          <a:bodyPr/>
          <a:lstStyle/>
          <a:p>
            <a:r>
              <a:rPr lang="en-US" dirty="0"/>
              <a:t>Cache in 1962 (Bloom, Cohen, Porter)</a:t>
            </a:r>
          </a:p>
        </p:txBody>
      </p:sp>
      <p:sp>
        <p:nvSpPr>
          <p:cNvPr id="3" name="Content Placeholder 2">
            <a:extLst>
              <a:ext uri="{FF2B5EF4-FFF2-40B4-BE49-F238E27FC236}">
                <a16:creationId xmlns:a16="http://schemas.microsoft.com/office/drawing/2014/main" id="{76A2CCBD-746F-F54A-AB4E-564F65C6317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7A8425A-3FDC-FD4E-AACA-80A845C589C0}"/>
              </a:ext>
            </a:extLst>
          </p:cNvPr>
          <p:cNvSpPr>
            <a:spLocks noGrp="1"/>
          </p:cNvSpPr>
          <p:nvPr>
            <p:ph type="sldNum" sz="quarter" idx="11"/>
          </p:nvPr>
        </p:nvSpPr>
        <p:spPr/>
        <p:txBody>
          <a:bodyPr/>
          <a:lstStyle/>
          <a:p>
            <a:pPr marL="0" marR="0" lvl="0" indent="0" algn="r" defTabSz="914400" rtl="0" eaLnBrk="0" fontAlgn="auto" latinLnBrk="0" hangingPunct="0">
              <a:lnSpc>
                <a:spcPct val="100000"/>
              </a:lnSpc>
              <a:spcBef>
                <a:spcPts val="0"/>
              </a:spcBef>
              <a:spcAft>
                <a:spcPts val="0"/>
              </a:spcAft>
              <a:buClrTx/>
              <a:buSzTx/>
              <a:buFontTx/>
              <a:buNone/>
              <a:tabLst/>
              <a:defRPr/>
            </a:pPr>
            <a:fld id="{ED66E0EA-5E03-1047-ACA4-A381F3375120}" type="slidenum">
              <a:rPr kumimoji="0" lang="en-US" altLang="en-US" sz="1600" b="0" i="0" u="none" strike="noStrike" kern="1200" cap="none" spc="0" normalizeH="0" baseline="0" noProof="0" smtClean="0">
                <a:ln>
                  <a:noFill/>
                </a:ln>
                <a:solidFill>
                  <a:srgbClr val="000000"/>
                </a:solidFill>
                <a:effectLst/>
                <a:uLnTx/>
                <a:uFillTx/>
                <a:latin typeface="Garamond" charset="0"/>
                <a:ea typeface="ＭＳ Ｐゴシック" charset="-128"/>
                <a:cs typeface="+mn-cs"/>
              </a:rPr>
              <a:pPr marL="0" marR="0" lvl="0" indent="0" algn="r" defTabSz="914400" rtl="0" eaLnBrk="0" fontAlgn="auto" latinLnBrk="0" hangingPunct="0">
                <a:lnSpc>
                  <a:spcPct val="100000"/>
                </a:lnSpc>
                <a:spcBef>
                  <a:spcPts val="0"/>
                </a:spcBef>
                <a:spcAft>
                  <a:spcPts val="0"/>
                </a:spcAft>
                <a:buClrTx/>
                <a:buSzTx/>
                <a:buFontTx/>
                <a:buNone/>
                <a:tabLst/>
                <a:defRPr/>
              </a:pPr>
              <a:t>40</a:t>
            </a:fld>
            <a:endPar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endParaRPr>
          </a:p>
        </p:txBody>
      </p:sp>
      <p:pic>
        <p:nvPicPr>
          <p:cNvPr id="5" name="Picture 4">
            <a:extLst>
              <a:ext uri="{FF2B5EF4-FFF2-40B4-BE49-F238E27FC236}">
                <a16:creationId xmlns:a16="http://schemas.microsoft.com/office/drawing/2014/main" id="{DA3DCCC9-3532-2C4B-8D6E-175A27B99431}"/>
              </a:ext>
            </a:extLst>
          </p:cNvPr>
          <p:cNvPicPr>
            <a:picLocks noChangeAspect="1"/>
          </p:cNvPicPr>
          <p:nvPr/>
        </p:nvPicPr>
        <p:blipFill>
          <a:blip r:embed="rId2"/>
          <a:stretch>
            <a:fillRect/>
          </a:stretch>
        </p:blipFill>
        <p:spPr>
          <a:xfrm>
            <a:off x="1043608" y="953015"/>
            <a:ext cx="6434162" cy="5825677"/>
          </a:xfrm>
          <a:prstGeom prst="rect">
            <a:avLst/>
          </a:prstGeom>
        </p:spPr>
      </p:pic>
    </p:spTree>
    <p:extLst>
      <p:ext uri="{BB962C8B-B14F-4D97-AF65-F5344CB8AC3E}">
        <p14:creationId xmlns:p14="http://schemas.microsoft.com/office/powerpoint/2010/main" val="375718281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a:extLst>
              <a:ext uri="{FF2B5EF4-FFF2-40B4-BE49-F238E27FC236}">
                <a16:creationId xmlns:a16="http://schemas.microsoft.com/office/drawing/2014/main" id="{46417D69-C610-6243-BE53-A60D77C214B0}"/>
              </a:ext>
            </a:extLst>
          </p:cNvPr>
          <p:cNvSpPr>
            <a:spLocks noGrp="1" noChangeArrowheads="1"/>
          </p:cNvSpPr>
          <p:nvPr>
            <p:ph type="title"/>
          </p:nvPr>
        </p:nvSpPr>
        <p:spPr/>
        <p:txBody>
          <a:bodyPr/>
          <a:lstStyle/>
          <a:p>
            <a:r>
              <a:rPr lang="en-US" altLang="en-US">
                <a:ea typeface="ＭＳ Ｐゴシック" panose="020B0600070205080204" pitchFamily="34" charset="-128"/>
              </a:rPr>
              <a:t>A Modern Memory Hierarchy</a:t>
            </a:r>
          </a:p>
        </p:txBody>
      </p:sp>
      <p:sp>
        <p:nvSpPr>
          <p:cNvPr id="112642" name="Content Placeholder 2">
            <a:extLst>
              <a:ext uri="{FF2B5EF4-FFF2-40B4-BE49-F238E27FC236}">
                <a16:creationId xmlns:a16="http://schemas.microsoft.com/office/drawing/2014/main" id="{67816139-62F5-1247-A9B0-4E73E9F2402F}"/>
              </a:ext>
            </a:extLst>
          </p:cNvPr>
          <p:cNvSpPr>
            <a:spLocks noGrp="1" noChangeArrowheads="1"/>
          </p:cNvSpPr>
          <p:nvPr>
            <p:ph idx="1"/>
          </p:nvPr>
        </p:nvSpPr>
        <p:spPr>
          <a:xfrm>
            <a:off x="228600" y="996950"/>
            <a:ext cx="8610600" cy="5194300"/>
          </a:xfrm>
        </p:spPr>
        <p:txBody>
          <a:bodyPr/>
          <a:lstStyle/>
          <a:p>
            <a:endParaRPr lang="en-US" altLang="en-US">
              <a:ea typeface="ＭＳ Ｐゴシック" panose="020B0600070205080204" pitchFamily="34" charset="-128"/>
            </a:endParaRPr>
          </a:p>
        </p:txBody>
      </p:sp>
      <p:sp>
        <p:nvSpPr>
          <p:cNvPr id="112643" name="Slide Number Placeholder 3">
            <a:extLst>
              <a:ext uri="{FF2B5EF4-FFF2-40B4-BE49-F238E27FC236}">
                <a16:creationId xmlns:a16="http://schemas.microsoft.com/office/drawing/2014/main" id="{6ED9241F-C3D4-FE46-8660-7FCD77F75AC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9DA19E5E-5E90-034A-B634-F842379F8C1E}" type="slidenum">
              <a:rPr lang="en-US" altLang="en-US" sz="1600" smtClean="0">
                <a:solidFill>
                  <a:srgbClr val="000000"/>
                </a:solidFill>
                <a:latin typeface="Garamond" panose="02020404030301010803" pitchFamily="18" charset="0"/>
              </a:rPr>
              <a:pPr eaLnBrk="1" hangingPunct="1">
                <a:spcBef>
                  <a:spcPct val="0"/>
                </a:spcBef>
                <a:buClrTx/>
                <a:buSzTx/>
                <a:buFontTx/>
                <a:buNone/>
              </a:pPr>
              <a:t>41</a:t>
            </a:fld>
            <a:endParaRPr lang="en-US" altLang="en-US" sz="1600">
              <a:solidFill>
                <a:srgbClr val="000000"/>
              </a:solidFill>
              <a:latin typeface="Garamond" panose="02020404030301010803" pitchFamily="18" charset="0"/>
            </a:endParaRPr>
          </a:p>
        </p:txBody>
      </p:sp>
      <p:sp>
        <p:nvSpPr>
          <p:cNvPr id="112644" name="Rectangle 3">
            <a:extLst>
              <a:ext uri="{FF2B5EF4-FFF2-40B4-BE49-F238E27FC236}">
                <a16:creationId xmlns:a16="http://schemas.microsoft.com/office/drawing/2014/main" id="{A0C0EE4D-523D-1347-981E-216E05273FAC}"/>
              </a:ext>
            </a:extLst>
          </p:cNvPr>
          <p:cNvSpPr txBox="1">
            <a:spLocks noChangeArrowheads="1"/>
          </p:cNvSpPr>
          <p:nvPr/>
        </p:nvSpPr>
        <p:spPr bwMode="auto">
          <a:xfrm>
            <a:off x="152400" y="990600"/>
            <a:ext cx="77724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Register File</a:t>
            </a:r>
          </a:p>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32 words, sub-</a:t>
            </a:r>
            <a:r>
              <a:rPr lang="en-US" altLang="en-US" sz="1600" dirty="0" err="1">
                <a:solidFill>
                  <a:srgbClr val="000000"/>
                </a:solidFill>
                <a:latin typeface="Calibri" panose="020F0502020204030204" pitchFamily="34" charset="0"/>
              </a:rPr>
              <a:t>nsec</a:t>
            </a: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L1 cache</a:t>
            </a:r>
          </a:p>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~10s of KB, ~</a:t>
            </a:r>
            <a:r>
              <a:rPr lang="en-US" altLang="en-US" sz="1600" dirty="0" err="1">
                <a:solidFill>
                  <a:srgbClr val="000000"/>
                </a:solidFill>
                <a:latin typeface="Calibri" panose="020F0502020204030204" pitchFamily="34" charset="0"/>
              </a:rPr>
              <a:t>nsec</a:t>
            </a: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L2 cache</a:t>
            </a:r>
          </a:p>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100s of KB ~  few MB, many </a:t>
            </a:r>
            <a:r>
              <a:rPr lang="en-US" altLang="en-US" sz="1600" dirty="0" err="1">
                <a:solidFill>
                  <a:srgbClr val="000000"/>
                </a:solidFill>
                <a:latin typeface="Calibri" panose="020F0502020204030204" pitchFamily="34" charset="0"/>
              </a:rPr>
              <a:t>nsec</a:t>
            </a: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L3 cache, </a:t>
            </a:r>
          </a:p>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many MBs, even more </a:t>
            </a:r>
            <a:r>
              <a:rPr lang="en-US" altLang="en-US" sz="1600" dirty="0" err="1">
                <a:solidFill>
                  <a:srgbClr val="000000"/>
                </a:solidFill>
                <a:latin typeface="Calibri" panose="020F0502020204030204" pitchFamily="34" charset="0"/>
              </a:rPr>
              <a:t>nsec</a:t>
            </a: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Main memory (DRAM), </a:t>
            </a:r>
          </a:p>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Many GBs, ~100 </a:t>
            </a:r>
            <a:r>
              <a:rPr lang="en-US" altLang="en-US" sz="1600" dirty="0" err="1">
                <a:solidFill>
                  <a:srgbClr val="000000"/>
                </a:solidFill>
                <a:latin typeface="Calibri" panose="020F0502020204030204" pitchFamily="34" charset="0"/>
              </a:rPr>
              <a:t>nsec</a:t>
            </a: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endParaRPr lang="en-US" altLang="en-US" sz="1600" dirty="0">
              <a:solidFill>
                <a:srgbClr val="000000"/>
              </a:solidFill>
              <a:latin typeface="Calibri" panose="020F0502020204030204" pitchFamily="34" charset="0"/>
            </a:endParaRPr>
          </a:p>
          <a:p>
            <a:pPr algn="ctr">
              <a:spcBef>
                <a:spcPct val="0"/>
              </a:spcBef>
              <a:buClr>
                <a:srgbClr val="3B812F"/>
              </a:buClr>
              <a:buSzPct val="70000"/>
              <a:buFont typeface="Wingdings" pitchFamily="2" charset="2"/>
              <a:buNone/>
            </a:pPr>
            <a:r>
              <a:rPr lang="en-US" altLang="en-US" sz="1600" dirty="0">
                <a:solidFill>
                  <a:srgbClr val="000000"/>
                </a:solidFill>
                <a:latin typeface="Calibri" panose="020F0502020204030204" pitchFamily="34" charset="0"/>
              </a:rPr>
              <a:t>Swap Disk</a:t>
            </a:r>
          </a:p>
          <a:p>
            <a:pPr algn="ctr">
              <a:spcBef>
                <a:spcPct val="0"/>
              </a:spcBef>
              <a:buClr>
                <a:srgbClr val="3B812F"/>
              </a:buClr>
              <a:buSzPct val="70000"/>
              <a:buNone/>
            </a:pPr>
            <a:r>
              <a:rPr lang="en-US" altLang="en-US" sz="1600" dirty="0">
                <a:solidFill>
                  <a:srgbClr val="000000"/>
                </a:solidFill>
                <a:latin typeface="Calibri" panose="020F0502020204030204" pitchFamily="34" charset="0"/>
              </a:rPr>
              <a:t>~100 GB or few TB, ~10s of </a:t>
            </a:r>
            <a:r>
              <a:rPr lang="en-US" altLang="en-US" sz="1600" dirty="0" err="1">
                <a:solidFill>
                  <a:srgbClr val="000000"/>
                </a:solidFill>
                <a:latin typeface="Calibri" panose="020F0502020204030204" pitchFamily="34" charset="0"/>
              </a:rPr>
              <a:t>usec</a:t>
            </a:r>
            <a:r>
              <a:rPr lang="en-US" altLang="en-US" sz="1600" dirty="0">
                <a:solidFill>
                  <a:srgbClr val="000000"/>
                </a:solidFill>
                <a:latin typeface="Calibri" panose="020F0502020204030204" pitchFamily="34" charset="0"/>
              </a:rPr>
              <a:t>-msec</a:t>
            </a:r>
          </a:p>
        </p:txBody>
      </p:sp>
      <p:grpSp>
        <p:nvGrpSpPr>
          <p:cNvPr id="112645" name="Group 4">
            <a:extLst>
              <a:ext uri="{FF2B5EF4-FFF2-40B4-BE49-F238E27FC236}">
                <a16:creationId xmlns:a16="http://schemas.microsoft.com/office/drawing/2014/main" id="{9AC27B0E-E2BC-7F45-AE08-0443D117DC8A}"/>
              </a:ext>
            </a:extLst>
          </p:cNvPr>
          <p:cNvGrpSpPr>
            <a:grpSpLocks/>
          </p:cNvGrpSpPr>
          <p:nvPr/>
        </p:nvGrpSpPr>
        <p:grpSpPr bwMode="auto">
          <a:xfrm>
            <a:off x="685800" y="990600"/>
            <a:ext cx="6858000" cy="5480050"/>
            <a:chOff x="528" y="720"/>
            <a:chExt cx="4848" cy="3452"/>
          </a:xfrm>
        </p:grpSpPr>
        <p:sp>
          <p:nvSpPr>
            <p:cNvPr id="26" name="Rectangle 5">
              <a:extLst>
                <a:ext uri="{FF2B5EF4-FFF2-40B4-BE49-F238E27FC236}">
                  <a16:creationId xmlns:a16="http://schemas.microsoft.com/office/drawing/2014/main" id="{2D7BEA9E-2BEF-2E44-B6F6-7E2786F3696A}"/>
                </a:ext>
              </a:extLst>
            </p:cNvPr>
            <p:cNvSpPr>
              <a:spLocks noChangeArrowheads="1"/>
            </p:cNvSpPr>
            <p:nvPr/>
          </p:nvSpPr>
          <p:spPr bwMode="auto">
            <a:xfrm>
              <a:off x="2208" y="720"/>
              <a:ext cx="1392" cy="384"/>
            </a:xfrm>
            <a:prstGeom prst="rect">
              <a:avLst/>
            </a:prstGeom>
            <a:noFill/>
            <a:ln w="19050">
              <a:solidFill>
                <a:srgbClr val="000000"/>
              </a:solidFill>
              <a:miter lim="800000"/>
              <a:headEnd/>
              <a:tailEnd/>
            </a:ln>
            <a:extLst>
              <a:ext uri="{909E8E84-426E-40dd-AFC4-6F175D3DCCD1}"/>
            </a:extLst>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sp>
          <p:nvSpPr>
            <p:cNvPr id="27" name="Rectangle 6">
              <a:extLst>
                <a:ext uri="{FF2B5EF4-FFF2-40B4-BE49-F238E27FC236}">
                  <a16:creationId xmlns:a16="http://schemas.microsoft.com/office/drawing/2014/main" id="{3C240B74-06B1-0B4C-B375-3E1E3DBA299A}"/>
                </a:ext>
              </a:extLst>
            </p:cNvPr>
            <p:cNvSpPr>
              <a:spLocks noChangeArrowheads="1"/>
            </p:cNvSpPr>
            <p:nvPr/>
          </p:nvSpPr>
          <p:spPr bwMode="auto">
            <a:xfrm>
              <a:off x="1872" y="1334"/>
              <a:ext cx="2016" cy="384"/>
            </a:xfrm>
            <a:prstGeom prst="rect">
              <a:avLst/>
            </a:prstGeom>
            <a:noFill/>
            <a:ln w="19050">
              <a:solidFill>
                <a:srgbClr val="000000"/>
              </a:solidFill>
              <a:miter lim="800000"/>
              <a:headEnd/>
              <a:tailEnd/>
            </a:ln>
            <a:extLst>
              <a:ext uri="{909E8E84-426E-40dd-AFC4-6F175D3DCCD1}"/>
            </a:extLst>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sp>
          <p:nvSpPr>
            <p:cNvPr id="28" name="Rectangle 7">
              <a:extLst>
                <a:ext uri="{FF2B5EF4-FFF2-40B4-BE49-F238E27FC236}">
                  <a16:creationId xmlns:a16="http://schemas.microsoft.com/office/drawing/2014/main" id="{D8643E93-9BB1-3D4A-960C-AE3926B414FB}"/>
                </a:ext>
              </a:extLst>
            </p:cNvPr>
            <p:cNvSpPr>
              <a:spLocks noChangeArrowheads="1"/>
            </p:cNvSpPr>
            <p:nvPr/>
          </p:nvSpPr>
          <p:spPr bwMode="auto">
            <a:xfrm>
              <a:off x="1536" y="1935"/>
              <a:ext cx="2688" cy="384"/>
            </a:xfrm>
            <a:prstGeom prst="rect">
              <a:avLst/>
            </a:prstGeom>
            <a:noFill/>
            <a:ln w="19050">
              <a:solidFill>
                <a:srgbClr val="000000"/>
              </a:solidFill>
              <a:miter lim="800000"/>
              <a:headEnd/>
              <a:tailEnd/>
            </a:ln>
            <a:extLst>
              <a:ext uri="{909E8E84-426E-40dd-AFC4-6F175D3DCCD1}"/>
            </a:extLst>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sp>
          <p:nvSpPr>
            <p:cNvPr id="29" name="Rectangle 8">
              <a:extLst>
                <a:ext uri="{FF2B5EF4-FFF2-40B4-BE49-F238E27FC236}">
                  <a16:creationId xmlns:a16="http://schemas.microsoft.com/office/drawing/2014/main" id="{1B7762E2-F2EC-1848-9F70-44D051EA70D4}"/>
                </a:ext>
              </a:extLst>
            </p:cNvPr>
            <p:cNvSpPr>
              <a:spLocks noChangeArrowheads="1"/>
            </p:cNvSpPr>
            <p:nvPr/>
          </p:nvSpPr>
          <p:spPr bwMode="auto">
            <a:xfrm>
              <a:off x="1200" y="2546"/>
              <a:ext cx="3408" cy="384"/>
            </a:xfrm>
            <a:prstGeom prst="rect">
              <a:avLst/>
            </a:prstGeom>
            <a:noFill/>
            <a:ln w="19050">
              <a:solidFill>
                <a:srgbClr val="000000"/>
              </a:solidFill>
              <a:miter lim="800000"/>
              <a:headEnd/>
              <a:tailEnd/>
            </a:ln>
            <a:extLst>
              <a:ext uri="{909E8E84-426E-40dd-AFC4-6F175D3DCCD1}"/>
            </a:extLst>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sp>
          <p:nvSpPr>
            <p:cNvPr id="30" name="Rectangle 9">
              <a:extLst>
                <a:ext uri="{FF2B5EF4-FFF2-40B4-BE49-F238E27FC236}">
                  <a16:creationId xmlns:a16="http://schemas.microsoft.com/office/drawing/2014/main" id="{3F456977-69ED-3346-B087-69675AAEB553}"/>
                </a:ext>
              </a:extLst>
            </p:cNvPr>
            <p:cNvSpPr>
              <a:spLocks noChangeArrowheads="1"/>
            </p:cNvSpPr>
            <p:nvPr/>
          </p:nvSpPr>
          <p:spPr bwMode="auto">
            <a:xfrm>
              <a:off x="864" y="3167"/>
              <a:ext cx="4131" cy="384"/>
            </a:xfrm>
            <a:prstGeom prst="rect">
              <a:avLst/>
            </a:prstGeom>
            <a:noFill/>
            <a:ln w="19050">
              <a:solidFill>
                <a:srgbClr val="000000"/>
              </a:solidFill>
              <a:miter lim="800000"/>
              <a:headEnd/>
              <a:tailEnd/>
            </a:ln>
            <a:extLst>
              <a:ext uri="{909E8E84-426E-40dd-AFC4-6F175D3DCCD1}"/>
            </a:extLst>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sp>
          <p:nvSpPr>
            <p:cNvPr id="31" name="Rectangle 10">
              <a:extLst>
                <a:ext uri="{FF2B5EF4-FFF2-40B4-BE49-F238E27FC236}">
                  <a16:creationId xmlns:a16="http://schemas.microsoft.com/office/drawing/2014/main" id="{C85630C5-9512-3D4F-9DFD-6D0314DAF3D2}"/>
                </a:ext>
              </a:extLst>
            </p:cNvPr>
            <p:cNvSpPr>
              <a:spLocks noChangeArrowheads="1"/>
            </p:cNvSpPr>
            <p:nvPr/>
          </p:nvSpPr>
          <p:spPr bwMode="auto">
            <a:xfrm>
              <a:off x="528" y="3788"/>
              <a:ext cx="4848" cy="384"/>
            </a:xfrm>
            <a:prstGeom prst="rect">
              <a:avLst/>
            </a:prstGeom>
            <a:noFill/>
            <a:ln w="19050">
              <a:solidFill>
                <a:srgbClr val="000000"/>
              </a:solidFill>
              <a:miter lim="800000"/>
              <a:headEnd/>
              <a:tailEnd/>
            </a:ln>
            <a:extLst>
              <a:ext uri="{909E8E84-426E-40dd-AFC4-6F175D3DCCD1}"/>
            </a:extLst>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grpSp>
      <p:sp>
        <p:nvSpPr>
          <p:cNvPr id="32" name="Line 11">
            <a:extLst>
              <a:ext uri="{FF2B5EF4-FFF2-40B4-BE49-F238E27FC236}">
                <a16:creationId xmlns:a16="http://schemas.microsoft.com/office/drawing/2014/main" id="{AE2BEBBD-14BA-8F44-8810-64E7F9CC6C88}"/>
              </a:ext>
            </a:extLst>
          </p:cNvPr>
          <p:cNvSpPr>
            <a:spLocks noChangeShapeType="1"/>
          </p:cNvSpPr>
          <p:nvPr/>
        </p:nvSpPr>
        <p:spPr bwMode="auto">
          <a:xfrm>
            <a:off x="228600" y="1752600"/>
            <a:ext cx="8610600" cy="0"/>
          </a:xfrm>
          <a:prstGeom prst="line">
            <a:avLst/>
          </a:prstGeom>
          <a:noFill/>
          <a:ln w="19050">
            <a:solidFill>
              <a:srgbClr val="000000"/>
            </a:solidFill>
            <a:prstDash val="dash"/>
            <a:round/>
            <a:headEnd/>
            <a:tailEnd/>
          </a:ln>
          <a:extLst>
            <a:ext uri="{909E8E84-426E-40dd-AFC4-6F175D3DCCD1}"/>
          </a:extLst>
        </p:spPr>
        <p:txBody>
          <a:bodyPr wrap="none" anchor="ctr"/>
          <a:lstStyle/>
          <a:p>
            <a:pPr eaLnBrk="1" fontAlgn="auto" hangingPunct="1">
              <a:spcBef>
                <a:spcPts val="0"/>
              </a:spcBef>
              <a:spcAft>
                <a:spcPts val="0"/>
              </a:spcAft>
              <a:defRPr/>
            </a:pPr>
            <a:endParaRPr lang="en-US" kern="0">
              <a:solidFill>
                <a:sysClr val="windowText" lastClr="000000"/>
              </a:solidFill>
              <a:latin typeface="Arial" charset="0"/>
              <a:ea typeface="ＭＳ Ｐゴシック" charset="0"/>
              <a:cs typeface="ＭＳ Ｐゴシック" charset="0"/>
            </a:endParaRPr>
          </a:p>
        </p:txBody>
      </p:sp>
      <p:sp>
        <p:nvSpPr>
          <p:cNvPr id="33" name="AutoShape 12">
            <a:extLst>
              <a:ext uri="{FF2B5EF4-FFF2-40B4-BE49-F238E27FC236}">
                <a16:creationId xmlns:a16="http://schemas.microsoft.com/office/drawing/2014/main" id="{68FA87F0-57E8-CE47-B006-D7D7CABC1A72}"/>
              </a:ext>
            </a:extLst>
          </p:cNvPr>
          <p:cNvSpPr>
            <a:spLocks noChangeArrowheads="1"/>
          </p:cNvSpPr>
          <p:nvPr/>
        </p:nvSpPr>
        <p:spPr bwMode="auto">
          <a:xfrm>
            <a:off x="5410200" y="1219200"/>
            <a:ext cx="609600" cy="1066800"/>
          </a:xfrm>
          <a:prstGeom prst="curvedLeftArrow">
            <a:avLst>
              <a:gd name="adj1" fmla="val 35000"/>
              <a:gd name="adj2" fmla="val 70000"/>
              <a:gd name="adj3" fmla="val 33333"/>
            </a:avLst>
          </a:prstGeom>
          <a:solidFill>
            <a:srgbClr val="FC0128"/>
          </a:solidFill>
          <a:ln w="19050">
            <a:solidFill>
              <a:srgbClr val="000000"/>
            </a:solidFill>
            <a:miter lim="800000"/>
            <a:headEnd/>
            <a:tailEnd/>
          </a:ln>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sp>
        <p:nvSpPr>
          <p:cNvPr id="34" name="AutoShape 13">
            <a:extLst>
              <a:ext uri="{FF2B5EF4-FFF2-40B4-BE49-F238E27FC236}">
                <a16:creationId xmlns:a16="http://schemas.microsoft.com/office/drawing/2014/main" id="{4F16C743-1576-8F44-A56E-197E08F29BED}"/>
              </a:ext>
            </a:extLst>
          </p:cNvPr>
          <p:cNvSpPr>
            <a:spLocks noChangeArrowheads="1"/>
          </p:cNvSpPr>
          <p:nvPr/>
        </p:nvSpPr>
        <p:spPr bwMode="auto">
          <a:xfrm>
            <a:off x="6858000" y="5181600"/>
            <a:ext cx="609600" cy="1066800"/>
          </a:xfrm>
          <a:prstGeom prst="curvedLeftArrow">
            <a:avLst>
              <a:gd name="adj1" fmla="val 35000"/>
              <a:gd name="adj2" fmla="val 70000"/>
              <a:gd name="adj3" fmla="val 33333"/>
            </a:avLst>
          </a:prstGeom>
          <a:solidFill>
            <a:srgbClr val="FC0128"/>
          </a:solidFill>
          <a:ln w="19050">
            <a:solidFill>
              <a:srgbClr val="000000"/>
            </a:solidFill>
            <a:miter lim="800000"/>
            <a:headEnd/>
            <a:tailEnd/>
          </a:ln>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sp>
        <p:nvSpPr>
          <p:cNvPr id="35" name="AutoShape 14">
            <a:extLst>
              <a:ext uri="{FF2B5EF4-FFF2-40B4-BE49-F238E27FC236}">
                <a16:creationId xmlns:a16="http://schemas.microsoft.com/office/drawing/2014/main" id="{BE144ED8-FCE5-0C4C-8005-F95737716509}"/>
              </a:ext>
            </a:extLst>
          </p:cNvPr>
          <p:cNvSpPr>
            <a:spLocks noChangeArrowheads="1"/>
          </p:cNvSpPr>
          <p:nvPr/>
        </p:nvSpPr>
        <p:spPr bwMode="auto">
          <a:xfrm rot="10800000">
            <a:off x="2057400" y="1143000"/>
            <a:ext cx="609600" cy="1066800"/>
          </a:xfrm>
          <a:prstGeom prst="curvedLeftArrow">
            <a:avLst>
              <a:gd name="adj1" fmla="val 35000"/>
              <a:gd name="adj2" fmla="val 70000"/>
              <a:gd name="adj3" fmla="val 33333"/>
            </a:avLst>
          </a:prstGeom>
          <a:solidFill>
            <a:srgbClr val="FC0128"/>
          </a:solidFill>
          <a:ln w="19050">
            <a:solidFill>
              <a:srgbClr val="000000"/>
            </a:solidFill>
            <a:miter lim="800000"/>
            <a:headEnd/>
            <a:tailEnd/>
          </a:ln>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sp>
        <p:nvSpPr>
          <p:cNvPr id="36" name="AutoShape 15">
            <a:extLst>
              <a:ext uri="{FF2B5EF4-FFF2-40B4-BE49-F238E27FC236}">
                <a16:creationId xmlns:a16="http://schemas.microsoft.com/office/drawing/2014/main" id="{7F8ACD08-BD29-3B4E-A039-F6D1D2071A84}"/>
              </a:ext>
            </a:extLst>
          </p:cNvPr>
          <p:cNvSpPr>
            <a:spLocks noChangeArrowheads="1"/>
          </p:cNvSpPr>
          <p:nvPr/>
        </p:nvSpPr>
        <p:spPr bwMode="auto">
          <a:xfrm rot="10800000">
            <a:off x="762000" y="5105400"/>
            <a:ext cx="609600" cy="1066800"/>
          </a:xfrm>
          <a:prstGeom prst="curvedLeftArrow">
            <a:avLst>
              <a:gd name="adj1" fmla="val 35000"/>
              <a:gd name="adj2" fmla="val 70000"/>
              <a:gd name="adj3" fmla="val 33333"/>
            </a:avLst>
          </a:prstGeom>
          <a:solidFill>
            <a:srgbClr val="FC0128"/>
          </a:solidFill>
          <a:ln w="19050">
            <a:solidFill>
              <a:srgbClr val="000000"/>
            </a:solidFill>
            <a:miter lim="800000"/>
            <a:headEnd/>
            <a:tailEnd/>
          </a:ln>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sp>
        <p:nvSpPr>
          <p:cNvPr id="37" name="Text Box 16">
            <a:extLst>
              <a:ext uri="{FF2B5EF4-FFF2-40B4-BE49-F238E27FC236}">
                <a16:creationId xmlns:a16="http://schemas.microsoft.com/office/drawing/2014/main" id="{3C9FF70E-EEE6-034A-899A-ED28DACA971D}"/>
              </a:ext>
            </a:extLst>
          </p:cNvPr>
          <p:cNvSpPr txBox="1">
            <a:spLocks noChangeArrowheads="1"/>
          </p:cNvSpPr>
          <p:nvPr/>
        </p:nvSpPr>
        <p:spPr bwMode="auto">
          <a:xfrm>
            <a:off x="6781800" y="1317625"/>
            <a:ext cx="2339975" cy="830263"/>
          </a:xfrm>
          <a:prstGeom prst="rect">
            <a:avLst/>
          </a:prstGeom>
          <a:noFill/>
          <a:ln>
            <a:noFill/>
          </a:ln>
          <a:extLst>
            <a:ext uri="{909E8E84-426E-40dd-AFC4-6F175D3DCCD1}"/>
            <a:ext uri="{91240B29-F687-4f45-9708-019B960494DF}"/>
          </a:extLst>
        </p:spPr>
        <p:txBody>
          <a:bodyPr wrap="none">
            <a:spAutoFit/>
          </a:bodyPr>
          <a:lstStyle>
            <a:lvl1pPr>
              <a:defRPr sz="2400" i="1">
                <a:solidFill>
                  <a:schemeClr val="accent1"/>
                </a:solidFill>
                <a:latin typeface="Comic Sans MS" charset="0"/>
                <a:ea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eaLnBrk="1" fontAlgn="auto" hangingPunct="1">
              <a:spcBef>
                <a:spcPts val="0"/>
              </a:spcBef>
              <a:spcAft>
                <a:spcPts val="0"/>
              </a:spcAft>
              <a:defRPr/>
            </a:pPr>
            <a:r>
              <a:rPr lang="en-US" i="0" kern="0" dirty="0">
                <a:solidFill>
                  <a:srgbClr val="000000"/>
                </a:solidFill>
                <a:latin typeface="Calibri" charset="0"/>
                <a:cs typeface="ＭＳ Ｐゴシック" charset="0"/>
              </a:rPr>
              <a:t>m</a:t>
            </a:r>
            <a:r>
              <a:rPr lang="en-US" i="0" kern="0" dirty="0" err="1">
                <a:solidFill>
                  <a:srgbClr val="000000"/>
                </a:solidFill>
                <a:latin typeface="Calibri" charset="0"/>
                <a:cs typeface="ＭＳ Ｐゴシック" charset="0"/>
              </a:rPr>
              <a:t>anual</a:t>
            </a:r>
            <a:r>
              <a:rPr lang="en-US" i="0" kern="0" dirty="0">
                <a:solidFill>
                  <a:srgbClr val="000000"/>
                </a:solidFill>
                <a:latin typeface="Calibri" charset="0"/>
                <a:cs typeface="ＭＳ Ｐゴシック" charset="0"/>
              </a:rPr>
              <a:t>/compiler</a:t>
            </a:r>
          </a:p>
          <a:p>
            <a:pPr eaLnBrk="1" fontAlgn="auto" hangingPunct="1">
              <a:spcBef>
                <a:spcPts val="0"/>
              </a:spcBef>
              <a:spcAft>
                <a:spcPts val="0"/>
              </a:spcAft>
              <a:defRPr/>
            </a:pPr>
            <a:r>
              <a:rPr lang="en-US" i="0" kern="0" dirty="0">
                <a:solidFill>
                  <a:srgbClr val="000000"/>
                </a:solidFill>
                <a:latin typeface="Calibri" charset="0"/>
                <a:cs typeface="ＭＳ Ｐゴシック" charset="0"/>
              </a:rPr>
              <a:t>register spilling</a:t>
            </a:r>
          </a:p>
        </p:txBody>
      </p:sp>
      <p:sp>
        <p:nvSpPr>
          <p:cNvPr id="38" name="Line 17">
            <a:extLst>
              <a:ext uri="{FF2B5EF4-FFF2-40B4-BE49-F238E27FC236}">
                <a16:creationId xmlns:a16="http://schemas.microsoft.com/office/drawing/2014/main" id="{B5CF9ACD-C8FF-DE47-92D3-5C4F3D2C5BF3}"/>
              </a:ext>
            </a:extLst>
          </p:cNvPr>
          <p:cNvSpPr>
            <a:spLocks noChangeShapeType="1"/>
          </p:cNvSpPr>
          <p:nvPr/>
        </p:nvSpPr>
        <p:spPr bwMode="auto">
          <a:xfrm>
            <a:off x="228600" y="5715000"/>
            <a:ext cx="8610600" cy="0"/>
          </a:xfrm>
          <a:prstGeom prst="line">
            <a:avLst/>
          </a:prstGeom>
          <a:noFill/>
          <a:ln w="19050">
            <a:solidFill>
              <a:srgbClr val="000000"/>
            </a:solidFill>
            <a:prstDash val="dash"/>
            <a:round/>
            <a:headEnd/>
            <a:tailEnd/>
          </a:ln>
          <a:extLst>
            <a:ext uri="{909E8E84-426E-40dd-AFC4-6F175D3DCCD1}"/>
          </a:extLst>
        </p:spPr>
        <p:txBody>
          <a:bodyPr wrap="none" anchor="ctr"/>
          <a:lstStyle/>
          <a:p>
            <a:pPr eaLnBrk="1" fontAlgn="auto" hangingPunct="1">
              <a:spcBef>
                <a:spcPts val="0"/>
              </a:spcBef>
              <a:spcAft>
                <a:spcPts val="0"/>
              </a:spcAft>
              <a:defRPr/>
            </a:pPr>
            <a:endParaRPr lang="en-US" kern="0">
              <a:solidFill>
                <a:sysClr val="windowText" lastClr="000000"/>
              </a:solidFill>
              <a:latin typeface="Arial" charset="0"/>
              <a:ea typeface="ＭＳ Ｐゴシック" charset="0"/>
              <a:cs typeface="ＭＳ Ｐゴシック" charset="0"/>
            </a:endParaRPr>
          </a:p>
        </p:txBody>
      </p:sp>
      <p:sp>
        <p:nvSpPr>
          <p:cNvPr id="39" name="Text Box 18">
            <a:extLst>
              <a:ext uri="{FF2B5EF4-FFF2-40B4-BE49-F238E27FC236}">
                <a16:creationId xmlns:a16="http://schemas.microsoft.com/office/drawing/2014/main" id="{79960DF4-6CD3-ED48-9D79-AAEE18820A50}"/>
              </a:ext>
            </a:extLst>
          </p:cNvPr>
          <p:cNvSpPr txBox="1">
            <a:spLocks noChangeArrowheads="1"/>
          </p:cNvSpPr>
          <p:nvPr/>
        </p:nvSpPr>
        <p:spPr bwMode="auto">
          <a:xfrm>
            <a:off x="7589838" y="5264150"/>
            <a:ext cx="1449387" cy="1200150"/>
          </a:xfrm>
          <a:prstGeom prst="rect">
            <a:avLst/>
          </a:prstGeom>
          <a:noFill/>
          <a:ln>
            <a:noFill/>
          </a:ln>
          <a:extLst>
            <a:ext uri="{909E8E84-426E-40dd-AFC4-6F175D3DCCD1}"/>
            <a:ext uri="{91240B29-F687-4f45-9708-019B960494DF}"/>
          </a:extLst>
        </p:spPr>
        <p:txBody>
          <a:bodyPr wrap="none">
            <a:spAutoFit/>
          </a:bodyPr>
          <a:lstStyle>
            <a:lvl1pPr>
              <a:defRPr sz="2400" i="1">
                <a:solidFill>
                  <a:schemeClr val="accent1"/>
                </a:solidFill>
                <a:latin typeface="Comic Sans MS" charset="0"/>
                <a:ea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eaLnBrk="1" fontAlgn="auto" hangingPunct="1">
              <a:spcBef>
                <a:spcPts val="0"/>
              </a:spcBef>
              <a:spcAft>
                <a:spcPts val="0"/>
              </a:spcAft>
              <a:defRPr/>
            </a:pPr>
            <a:r>
              <a:rPr lang="en-US" i="0" kern="0">
                <a:solidFill>
                  <a:srgbClr val="000000"/>
                </a:solidFill>
                <a:latin typeface="Calibri" charset="0"/>
                <a:cs typeface="ＭＳ Ｐゴシック" charset="0"/>
              </a:rPr>
              <a:t>automatic</a:t>
            </a:r>
          </a:p>
          <a:p>
            <a:pPr eaLnBrk="1" fontAlgn="auto" hangingPunct="1">
              <a:spcBef>
                <a:spcPts val="0"/>
              </a:spcBef>
              <a:spcAft>
                <a:spcPts val="0"/>
              </a:spcAft>
              <a:defRPr/>
            </a:pPr>
            <a:r>
              <a:rPr lang="en-US" i="0" kern="0">
                <a:solidFill>
                  <a:srgbClr val="000000"/>
                </a:solidFill>
                <a:latin typeface="Calibri" charset="0"/>
                <a:cs typeface="ＭＳ Ｐゴシック" charset="0"/>
              </a:rPr>
              <a:t>demand </a:t>
            </a:r>
          </a:p>
          <a:p>
            <a:pPr eaLnBrk="1" fontAlgn="auto" hangingPunct="1">
              <a:spcBef>
                <a:spcPts val="0"/>
              </a:spcBef>
              <a:spcAft>
                <a:spcPts val="0"/>
              </a:spcAft>
              <a:defRPr/>
            </a:pPr>
            <a:r>
              <a:rPr lang="en-US" i="0" kern="0">
                <a:solidFill>
                  <a:srgbClr val="000000"/>
                </a:solidFill>
                <a:latin typeface="Calibri" charset="0"/>
                <a:cs typeface="ＭＳ Ｐゴシック" charset="0"/>
              </a:rPr>
              <a:t>paging</a:t>
            </a:r>
          </a:p>
        </p:txBody>
      </p:sp>
      <p:sp>
        <p:nvSpPr>
          <p:cNvPr id="40" name="Text Box 19">
            <a:extLst>
              <a:ext uri="{FF2B5EF4-FFF2-40B4-BE49-F238E27FC236}">
                <a16:creationId xmlns:a16="http://schemas.microsoft.com/office/drawing/2014/main" id="{F5CA1F9E-0431-C342-8787-26583BE75CDA}"/>
              </a:ext>
            </a:extLst>
          </p:cNvPr>
          <p:cNvSpPr txBox="1">
            <a:spLocks noChangeArrowheads="1"/>
          </p:cNvSpPr>
          <p:nvPr/>
        </p:nvSpPr>
        <p:spPr bwMode="auto">
          <a:xfrm>
            <a:off x="7097713" y="3054350"/>
            <a:ext cx="1882775" cy="1200150"/>
          </a:xfrm>
          <a:prstGeom prst="rect">
            <a:avLst/>
          </a:prstGeom>
          <a:noFill/>
          <a:ln>
            <a:noFill/>
          </a:ln>
          <a:extLst>
            <a:ext uri="{909E8E84-426E-40dd-AFC4-6F175D3DCCD1}"/>
            <a:ext uri="{91240B29-F687-4f45-9708-019B960494DF}"/>
          </a:extLst>
        </p:spPr>
        <p:txBody>
          <a:bodyPr wrap="none">
            <a:spAutoFit/>
          </a:bodyPr>
          <a:lstStyle>
            <a:lvl1pPr>
              <a:defRPr sz="2400" i="1">
                <a:solidFill>
                  <a:schemeClr val="accent1"/>
                </a:solidFill>
                <a:latin typeface="Comic Sans MS" charset="0"/>
                <a:ea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eaLnBrk="1" fontAlgn="auto" hangingPunct="1">
              <a:spcBef>
                <a:spcPts val="0"/>
              </a:spcBef>
              <a:spcAft>
                <a:spcPts val="0"/>
              </a:spcAft>
              <a:defRPr/>
            </a:pPr>
            <a:r>
              <a:rPr lang="en-US" i="0" kern="0" dirty="0">
                <a:solidFill>
                  <a:srgbClr val="000000"/>
                </a:solidFill>
                <a:latin typeface="Calibri" charset="0"/>
                <a:cs typeface="ＭＳ Ｐゴシック" charset="0"/>
              </a:rPr>
              <a:t>automatic</a:t>
            </a:r>
          </a:p>
          <a:p>
            <a:pPr eaLnBrk="1" fontAlgn="auto" hangingPunct="1">
              <a:spcBef>
                <a:spcPts val="0"/>
              </a:spcBef>
              <a:spcAft>
                <a:spcPts val="0"/>
              </a:spcAft>
              <a:defRPr/>
            </a:pPr>
            <a:r>
              <a:rPr lang="en-US" i="0" kern="0" dirty="0">
                <a:solidFill>
                  <a:srgbClr val="000000"/>
                </a:solidFill>
                <a:latin typeface="Calibri" charset="0"/>
                <a:cs typeface="ＭＳ Ｐゴシック" charset="0"/>
              </a:rPr>
              <a:t>HW cache</a:t>
            </a:r>
          </a:p>
          <a:p>
            <a:pPr eaLnBrk="1" fontAlgn="auto" hangingPunct="1">
              <a:spcBef>
                <a:spcPts val="0"/>
              </a:spcBef>
              <a:spcAft>
                <a:spcPts val="0"/>
              </a:spcAft>
              <a:defRPr/>
            </a:pPr>
            <a:r>
              <a:rPr lang="en-US" i="0" kern="0" dirty="0">
                <a:solidFill>
                  <a:srgbClr val="000000"/>
                </a:solidFill>
                <a:latin typeface="Calibri" charset="0"/>
                <a:cs typeface="ＭＳ Ｐゴシック" charset="0"/>
              </a:rPr>
              <a:t>management</a:t>
            </a:r>
          </a:p>
        </p:txBody>
      </p:sp>
      <p:sp>
        <p:nvSpPr>
          <p:cNvPr id="112655" name="Text Box 20">
            <a:extLst>
              <a:ext uri="{FF2B5EF4-FFF2-40B4-BE49-F238E27FC236}">
                <a16:creationId xmlns:a16="http://schemas.microsoft.com/office/drawing/2014/main" id="{9B2CBAB0-A22E-F046-8B2E-A90A5EC803AA}"/>
              </a:ext>
            </a:extLst>
          </p:cNvPr>
          <p:cNvSpPr txBox="1">
            <a:spLocks noChangeArrowheads="1"/>
          </p:cNvSpPr>
          <p:nvPr/>
        </p:nvSpPr>
        <p:spPr bwMode="auto">
          <a:xfrm>
            <a:off x="-33338" y="1722438"/>
            <a:ext cx="16176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dirty="0">
                <a:solidFill>
                  <a:srgbClr val="0432FF"/>
                </a:solidFill>
                <a:latin typeface="Calibri" panose="020F0502020204030204" pitchFamily="34" charset="0"/>
              </a:rPr>
              <a:t>Memory</a:t>
            </a:r>
          </a:p>
          <a:p>
            <a:pPr eaLnBrk="1" hangingPunct="1">
              <a:spcBef>
                <a:spcPct val="0"/>
              </a:spcBef>
              <a:buClrTx/>
              <a:buSzTx/>
              <a:buFontTx/>
              <a:buNone/>
            </a:pPr>
            <a:r>
              <a:rPr lang="en-US" altLang="en-US" dirty="0">
                <a:solidFill>
                  <a:srgbClr val="0432FF"/>
                </a:solidFill>
                <a:latin typeface="Calibri" panose="020F0502020204030204" pitchFamily="34" charset="0"/>
              </a:rPr>
              <a:t>Abstraction</a:t>
            </a:r>
          </a:p>
        </p:txBody>
      </p:sp>
      <p:sp>
        <p:nvSpPr>
          <p:cNvPr id="42" name="AutoShape 21">
            <a:extLst>
              <a:ext uri="{FF2B5EF4-FFF2-40B4-BE49-F238E27FC236}">
                <a16:creationId xmlns:a16="http://schemas.microsoft.com/office/drawing/2014/main" id="{3B1D8F59-082F-2B44-A8F8-520A8F5FE27D}"/>
              </a:ext>
            </a:extLst>
          </p:cNvPr>
          <p:cNvSpPr>
            <a:spLocks noChangeArrowheads="1"/>
          </p:cNvSpPr>
          <p:nvPr/>
        </p:nvSpPr>
        <p:spPr bwMode="auto">
          <a:xfrm>
            <a:off x="152400" y="2590800"/>
            <a:ext cx="457200" cy="3810000"/>
          </a:xfrm>
          <a:prstGeom prst="downArrow">
            <a:avLst>
              <a:gd name="adj1" fmla="val 44444"/>
              <a:gd name="adj2" fmla="val 41744"/>
            </a:avLst>
          </a:prstGeom>
          <a:solidFill>
            <a:srgbClr val="FC0128"/>
          </a:solidFill>
          <a:ln w="19050">
            <a:solidFill>
              <a:srgbClr val="FC0128"/>
            </a:solidFill>
            <a:miter lim="800000"/>
            <a:headEnd/>
            <a:tailEnd/>
          </a:ln>
        </p:spPr>
        <p:txBody>
          <a:bodyPr wrap="none" anchor="ctr"/>
          <a:lstStyle/>
          <a:p>
            <a:pPr eaLnBrk="1" fontAlgn="auto" hangingPunct="1">
              <a:spcBef>
                <a:spcPts val="0"/>
              </a:spcBef>
              <a:spcAft>
                <a:spcPts val="0"/>
              </a:spcAft>
              <a:defRPr/>
            </a:pPr>
            <a:endParaRPr lang="en-US" kern="0">
              <a:solidFill>
                <a:sysClr val="windowText" lastClr="000000"/>
              </a:solidFill>
              <a:latin typeface="Calibri" charset="0"/>
              <a:ea typeface="ＭＳ Ｐゴシック" charset="0"/>
              <a:cs typeface="ＭＳ Ｐゴシック"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a:extLst>
              <a:ext uri="{FF2B5EF4-FFF2-40B4-BE49-F238E27FC236}">
                <a16:creationId xmlns:a16="http://schemas.microsoft.com/office/drawing/2014/main" id="{5DD61A7A-E7E7-9745-A3D4-D1240143E9A5}"/>
              </a:ext>
            </a:extLst>
          </p:cNvPr>
          <p:cNvSpPr>
            <a:spLocks noGrp="1" noChangeArrowheads="1"/>
          </p:cNvSpPr>
          <p:nvPr>
            <p:ph type="title"/>
          </p:nvPr>
        </p:nvSpPr>
        <p:spPr/>
        <p:txBody>
          <a:bodyPr/>
          <a:lstStyle/>
          <a:p>
            <a:r>
              <a:rPr lang="en-US" altLang="en-US" dirty="0">
                <a:ea typeface="ＭＳ Ｐゴシック" panose="020B0600070205080204" pitchFamily="34" charset="-128"/>
              </a:rPr>
              <a:t>Hierarchical Latency Analysis</a:t>
            </a:r>
          </a:p>
        </p:txBody>
      </p:sp>
      <p:sp>
        <p:nvSpPr>
          <p:cNvPr id="75778" name="Content Placeholder 2">
            <a:extLst>
              <a:ext uri="{FF2B5EF4-FFF2-40B4-BE49-F238E27FC236}">
                <a16:creationId xmlns:a16="http://schemas.microsoft.com/office/drawing/2014/main" id="{318914E3-8A5F-BC48-80E7-EB11C9937BE7}"/>
              </a:ext>
            </a:extLst>
          </p:cNvPr>
          <p:cNvSpPr>
            <a:spLocks noGrp="1" noChangeArrowheads="1"/>
          </p:cNvSpPr>
          <p:nvPr>
            <p:ph idx="1"/>
          </p:nvPr>
        </p:nvSpPr>
        <p:spPr>
          <a:xfrm>
            <a:off x="228600" y="996950"/>
            <a:ext cx="8610600" cy="5194300"/>
          </a:xfrm>
        </p:spPr>
        <p:txBody>
          <a:bodyPr/>
          <a:lstStyle/>
          <a:p>
            <a:r>
              <a:rPr lang="en-US" altLang="en-US" sz="2200" dirty="0">
                <a:ea typeface="ＭＳ Ｐゴシック" panose="020B0600070205080204" pitchFamily="34" charset="-128"/>
              </a:rPr>
              <a:t>For a given memory hierarchy level </a:t>
            </a:r>
            <a:r>
              <a:rPr lang="en-US" altLang="en-US" sz="2200" dirty="0" err="1">
                <a:solidFill>
                  <a:schemeClr val="accent1"/>
                </a:solidFill>
                <a:ea typeface="ＭＳ Ｐゴシック" panose="020B0600070205080204" pitchFamily="34" charset="-128"/>
              </a:rPr>
              <a:t>i</a:t>
            </a:r>
            <a:r>
              <a:rPr lang="en-US" altLang="en-US" sz="2200" dirty="0">
                <a:ea typeface="ＭＳ Ｐゴシック" panose="020B0600070205080204" pitchFamily="34" charset="-128"/>
              </a:rPr>
              <a:t> it has a technology-intrinsic access time of </a:t>
            </a:r>
            <a:r>
              <a:rPr lang="en-US" altLang="en-US" sz="2200" dirty="0" err="1">
                <a:solidFill>
                  <a:schemeClr val="accent1"/>
                </a:solidFill>
                <a:ea typeface="ＭＳ Ｐゴシック" panose="020B0600070205080204" pitchFamily="34" charset="-128"/>
              </a:rPr>
              <a:t>t</a:t>
            </a:r>
            <a:r>
              <a:rPr lang="en-US" altLang="en-US" sz="2200" baseline="-25000" dirty="0" err="1">
                <a:solidFill>
                  <a:schemeClr val="accent1"/>
                </a:solidFill>
                <a:ea typeface="ＭＳ Ｐゴシック" panose="020B0600070205080204" pitchFamily="34" charset="-128"/>
              </a:rPr>
              <a:t>i</a:t>
            </a:r>
            <a:r>
              <a:rPr lang="en-US" altLang="en-US" sz="2200" baseline="-25000" dirty="0">
                <a:solidFill>
                  <a:schemeClr val="accent1"/>
                </a:solidFill>
                <a:ea typeface="ＭＳ Ｐゴシック" panose="020B0600070205080204" pitchFamily="34" charset="-128"/>
              </a:rPr>
              <a:t>,</a:t>
            </a:r>
            <a:r>
              <a:rPr lang="en-US" altLang="en-US" sz="2200" dirty="0">
                <a:solidFill>
                  <a:schemeClr val="accent1"/>
                </a:solidFill>
                <a:ea typeface="ＭＳ Ｐゴシック" panose="020B0600070205080204" pitchFamily="34" charset="-128"/>
              </a:rPr>
              <a:t> </a:t>
            </a:r>
            <a:r>
              <a:rPr lang="en-US" altLang="en-US" sz="2200" dirty="0">
                <a:ea typeface="ＭＳ Ｐゴシック" panose="020B0600070205080204" pitchFamily="34" charset="-128"/>
              </a:rPr>
              <a:t>The </a:t>
            </a:r>
            <a:r>
              <a:rPr lang="en-US" altLang="en-US" sz="2200" b="1" dirty="0">
                <a:ea typeface="ＭＳ Ｐゴシック" panose="020B0600070205080204" pitchFamily="34" charset="-128"/>
              </a:rPr>
              <a:t>perceived</a:t>
            </a:r>
            <a:r>
              <a:rPr lang="en-US" altLang="en-US" sz="2200" dirty="0">
                <a:ea typeface="ＭＳ Ｐゴシック" panose="020B0600070205080204" pitchFamily="34" charset="-128"/>
              </a:rPr>
              <a:t> </a:t>
            </a:r>
            <a:r>
              <a:rPr lang="en-US" altLang="en-US" sz="2200" b="1" dirty="0">
                <a:ea typeface="ＭＳ Ｐゴシック" panose="020B0600070205080204" pitchFamily="34" charset="-128"/>
              </a:rPr>
              <a:t>access time </a:t>
            </a:r>
            <a:r>
              <a:rPr lang="en-US" altLang="en-US" sz="2200" dirty="0" err="1">
                <a:solidFill>
                  <a:schemeClr val="accent1"/>
                </a:solidFill>
                <a:ea typeface="ＭＳ Ｐゴシック" panose="020B0600070205080204" pitchFamily="34" charset="-128"/>
              </a:rPr>
              <a:t>T</a:t>
            </a:r>
            <a:r>
              <a:rPr lang="en-US" altLang="en-US" sz="2200" baseline="-25000" dirty="0" err="1">
                <a:solidFill>
                  <a:schemeClr val="accent1"/>
                </a:solidFill>
                <a:ea typeface="ＭＳ Ｐゴシック" panose="020B0600070205080204" pitchFamily="34" charset="-128"/>
              </a:rPr>
              <a:t>i</a:t>
            </a:r>
            <a:r>
              <a:rPr lang="en-US" altLang="en-US" sz="2200" baseline="-25000" dirty="0">
                <a:solidFill>
                  <a:schemeClr val="accent1"/>
                </a:solidFill>
                <a:ea typeface="ＭＳ Ｐゴシック" panose="020B0600070205080204" pitchFamily="34" charset="-128"/>
              </a:rPr>
              <a:t> </a:t>
            </a:r>
            <a:r>
              <a:rPr lang="en-US" altLang="en-US" sz="2200" dirty="0">
                <a:ea typeface="ＭＳ Ｐゴシック" panose="020B0600070205080204" pitchFamily="34" charset="-128"/>
              </a:rPr>
              <a:t>is longer than </a:t>
            </a:r>
            <a:r>
              <a:rPr lang="en-US" altLang="en-US" sz="2200" dirty="0" err="1">
                <a:solidFill>
                  <a:schemeClr val="accent1"/>
                </a:solidFill>
                <a:ea typeface="ＭＳ Ｐゴシック" panose="020B0600070205080204" pitchFamily="34" charset="-128"/>
              </a:rPr>
              <a:t>t</a:t>
            </a:r>
            <a:r>
              <a:rPr lang="en-US" altLang="en-US" sz="2200" baseline="-25000" dirty="0" err="1">
                <a:solidFill>
                  <a:schemeClr val="accent1"/>
                </a:solidFill>
                <a:ea typeface="ＭＳ Ｐゴシック" panose="020B0600070205080204" pitchFamily="34" charset="-128"/>
              </a:rPr>
              <a:t>i</a:t>
            </a:r>
            <a:endParaRPr lang="en-US" altLang="en-US" sz="2200" dirty="0">
              <a:solidFill>
                <a:schemeClr val="accent1"/>
              </a:solidFill>
              <a:ea typeface="ＭＳ Ｐゴシック" panose="020B0600070205080204" pitchFamily="34" charset="-128"/>
            </a:endParaRPr>
          </a:p>
          <a:p>
            <a:r>
              <a:rPr lang="en-US" altLang="en-US" sz="2200" dirty="0">
                <a:ea typeface="ＭＳ Ｐゴシック" panose="020B0600070205080204" pitchFamily="34" charset="-128"/>
              </a:rPr>
              <a:t>Except for the outer-most hierarchy, when looking for a given address there is </a:t>
            </a:r>
          </a:p>
          <a:p>
            <a:pPr lvl="1"/>
            <a:r>
              <a:rPr lang="en-US" altLang="en-US" dirty="0">
                <a:ea typeface="ＭＳ Ｐゴシック" panose="020B0600070205080204" pitchFamily="34" charset="-128"/>
              </a:rPr>
              <a:t>a chance (hit-rate </a:t>
            </a:r>
            <a:r>
              <a:rPr lang="en-US" altLang="en-US" dirty="0" err="1">
                <a:solidFill>
                  <a:schemeClr val="accent1"/>
                </a:solidFill>
                <a:ea typeface="ＭＳ Ｐゴシック" panose="020B0600070205080204" pitchFamily="34" charset="-128"/>
              </a:rPr>
              <a:t>hr</a:t>
            </a:r>
            <a:r>
              <a:rPr lang="en-US" altLang="en-US" baseline="-25000" dirty="0" err="1">
                <a:solidFill>
                  <a:schemeClr val="accent1"/>
                </a:solidFill>
                <a:ea typeface="ＭＳ Ｐゴシック" panose="020B0600070205080204" pitchFamily="34" charset="-128"/>
              </a:rPr>
              <a:t>i</a:t>
            </a:r>
            <a:r>
              <a:rPr lang="en-US" altLang="en-US" dirty="0">
                <a:ea typeface="ＭＳ Ｐゴシック" panose="020B0600070205080204" pitchFamily="34" charset="-128"/>
              </a:rPr>
              <a:t>) you </a:t>
            </a:r>
            <a:r>
              <a:rPr lang="ja-JP" altLang="en-US" dirty="0">
                <a:ea typeface="ＭＳ Ｐゴシック" panose="020B0600070205080204" pitchFamily="34" charset="-128"/>
              </a:rPr>
              <a:t>“</a:t>
            </a:r>
            <a:r>
              <a:rPr lang="en-US" altLang="ja-JP" dirty="0">
                <a:ea typeface="ＭＳ Ｐゴシック" panose="020B0600070205080204" pitchFamily="34" charset="-128"/>
              </a:rPr>
              <a:t>hit</a:t>
            </a:r>
            <a:r>
              <a:rPr lang="ja-JP" altLang="en-US" dirty="0">
                <a:ea typeface="ＭＳ Ｐゴシック" panose="020B0600070205080204" pitchFamily="34" charset="-128"/>
              </a:rPr>
              <a:t>”</a:t>
            </a:r>
            <a:r>
              <a:rPr lang="en-US" altLang="ja-JP" dirty="0">
                <a:ea typeface="ＭＳ Ｐゴシック" panose="020B0600070205080204" pitchFamily="34" charset="-128"/>
              </a:rPr>
              <a:t> and access time is </a:t>
            </a:r>
            <a:r>
              <a:rPr lang="en-US" altLang="ja-JP" dirty="0" err="1">
                <a:solidFill>
                  <a:schemeClr val="accent1"/>
                </a:solidFill>
                <a:ea typeface="ＭＳ Ｐゴシック" panose="020B0600070205080204" pitchFamily="34" charset="-128"/>
              </a:rPr>
              <a:t>t</a:t>
            </a:r>
            <a:r>
              <a:rPr lang="en-US" altLang="ja-JP" baseline="-25000" dirty="0" err="1">
                <a:solidFill>
                  <a:schemeClr val="accent1"/>
                </a:solidFill>
                <a:ea typeface="ＭＳ Ｐゴシック" panose="020B0600070205080204" pitchFamily="34" charset="-128"/>
              </a:rPr>
              <a:t>i</a:t>
            </a:r>
            <a:endParaRPr lang="en-US" altLang="ja-JP" baseline="-25000" dirty="0">
              <a:solidFill>
                <a:schemeClr val="accent1"/>
              </a:solidFill>
              <a:ea typeface="ＭＳ Ｐゴシック" panose="020B0600070205080204" pitchFamily="34" charset="-128"/>
            </a:endParaRPr>
          </a:p>
          <a:p>
            <a:pPr lvl="1"/>
            <a:r>
              <a:rPr lang="en-US" altLang="en-US" dirty="0">
                <a:ea typeface="ＭＳ Ｐゴシック" panose="020B0600070205080204" pitchFamily="34" charset="-128"/>
              </a:rPr>
              <a:t>a chance (miss-rate </a:t>
            </a:r>
            <a:r>
              <a:rPr lang="en-US" altLang="en-US" dirty="0" err="1">
                <a:solidFill>
                  <a:schemeClr val="accent1"/>
                </a:solidFill>
                <a:ea typeface="ＭＳ Ｐゴシック" panose="020B0600070205080204" pitchFamily="34" charset="-128"/>
              </a:rPr>
              <a:t>mr</a:t>
            </a:r>
            <a:r>
              <a:rPr lang="en-US" altLang="en-US" baseline="-25000" dirty="0" err="1">
                <a:solidFill>
                  <a:schemeClr val="accent1"/>
                </a:solidFill>
                <a:ea typeface="ＭＳ Ｐゴシック" panose="020B0600070205080204" pitchFamily="34" charset="-128"/>
              </a:rPr>
              <a:t>i</a:t>
            </a:r>
            <a:r>
              <a:rPr lang="en-US" altLang="en-US" dirty="0">
                <a:ea typeface="ＭＳ Ｐゴシック" panose="020B0600070205080204" pitchFamily="34" charset="-128"/>
              </a:rPr>
              <a:t>) you </a:t>
            </a:r>
            <a:r>
              <a:rPr lang="ja-JP" altLang="en-US" dirty="0">
                <a:ea typeface="ＭＳ Ｐゴシック" panose="020B0600070205080204" pitchFamily="34" charset="-128"/>
              </a:rPr>
              <a:t>“</a:t>
            </a:r>
            <a:r>
              <a:rPr lang="en-US" altLang="ja-JP" dirty="0">
                <a:ea typeface="ＭＳ Ｐゴシック" panose="020B0600070205080204" pitchFamily="34" charset="-128"/>
              </a:rPr>
              <a:t>miss</a:t>
            </a:r>
            <a:r>
              <a:rPr lang="ja-JP" altLang="en-US" dirty="0">
                <a:ea typeface="ＭＳ Ｐゴシック" panose="020B0600070205080204" pitchFamily="34" charset="-128"/>
              </a:rPr>
              <a:t>”</a:t>
            </a:r>
            <a:r>
              <a:rPr lang="en-US" altLang="ja-JP" dirty="0">
                <a:ea typeface="ＭＳ Ｐゴシック" panose="020B0600070205080204" pitchFamily="34" charset="-128"/>
              </a:rPr>
              <a:t> and access time </a:t>
            </a:r>
            <a:r>
              <a:rPr lang="en-US" altLang="ja-JP" dirty="0" err="1">
                <a:solidFill>
                  <a:schemeClr val="accent1"/>
                </a:solidFill>
                <a:ea typeface="ＭＳ Ｐゴシック" panose="020B0600070205080204" pitchFamily="34" charset="-128"/>
              </a:rPr>
              <a:t>t</a:t>
            </a:r>
            <a:r>
              <a:rPr lang="en-US" altLang="ja-JP" baseline="-25000" dirty="0" err="1">
                <a:solidFill>
                  <a:schemeClr val="accent1"/>
                </a:solidFill>
                <a:ea typeface="ＭＳ Ｐゴシック" panose="020B0600070205080204" pitchFamily="34" charset="-128"/>
              </a:rPr>
              <a:t>i</a:t>
            </a:r>
            <a:r>
              <a:rPr lang="en-US" altLang="ja-JP" dirty="0">
                <a:solidFill>
                  <a:schemeClr val="accent1"/>
                </a:solidFill>
                <a:ea typeface="ＭＳ Ｐゴシック" panose="020B0600070205080204" pitchFamily="34" charset="-128"/>
              </a:rPr>
              <a:t> + T</a:t>
            </a:r>
            <a:r>
              <a:rPr lang="en-US" altLang="ja-JP" baseline="-25000" dirty="0">
                <a:solidFill>
                  <a:schemeClr val="accent1"/>
                </a:solidFill>
                <a:ea typeface="ＭＳ Ｐゴシック" panose="020B0600070205080204" pitchFamily="34" charset="-128"/>
              </a:rPr>
              <a:t>i+1 </a:t>
            </a:r>
          </a:p>
          <a:p>
            <a:pPr lvl="1"/>
            <a:r>
              <a:rPr lang="en-US" altLang="en-US" dirty="0" err="1">
                <a:solidFill>
                  <a:srgbClr val="0000FF"/>
                </a:solidFill>
                <a:ea typeface="ＭＳ Ｐゴシック" panose="020B0600070205080204" pitchFamily="34" charset="-128"/>
              </a:rPr>
              <a:t>hr</a:t>
            </a:r>
            <a:r>
              <a:rPr lang="en-US" altLang="en-US" baseline="-25000" dirty="0" err="1">
                <a:solidFill>
                  <a:srgbClr val="0000FF"/>
                </a:solidFill>
                <a:ea typeface="ＭＳ Ｐゴシック" panose="020B0600070205080204" pitchFamily="34" charset="-128"/>
              </a:rPr>
              <a:t>i</a:t>
            </a:r>
            <a:r>
              <a:rPr lang="en-US" altLang="en-US" baseline="-25000" dirty="0">
                <a:solidFill>
                  <a:srgbClr val="0000FF"/>
                </a:solidFill>
                <a:ea typeface="ＭＳ Ｐゴシック" panose="020B0600070205080204" pitchFamily="34" charset="-128"/>
              </a:rPr>
              <a:t> </a:t>
            </a:r>
            <a:r>
              <a:rPr lang="en-US" altLang="en-US" dirty="0">
                <a:solidFill>
                  <a:srgbClr val="0000FF"/>
                </a:solidFill>
                <a:ea typeface="ＭＳ Ｐゴシック" panose="020B0600070205080204" pitchFamily="34" charset="-128"/>
              </a:rPr>
              <a:t>+ </a:t>
            </a:r>
            <a:r>
              <a:rPr lang="en-US" altLang="en-US" dirty="0" err="1">
                <a:solidFill>
                  <a:srgbClr val="0000FF"/>
                </a:solidFill>
                <a:ea typeface="ＭＳ Ｐゴシック" panose="020B0600070205080204" pitchFamily="34" charset="-128"/>
              </a:rPr>
              <a:t>mr</a:t>
            </a:r>
            <a:r>
              <a:rPr lang="en-US" altLang="en-US" baseline="-25000" dirty="0" err="1">
                <a:solidFill>
                  <a:srgbClr val="0000FF"/>
                </a:solidFill>
                <a:ea typeface="ＭＳ Ｐゴシック" panose="020B0600070205080204" pitchFamily="34" charset="-128"/>
              </a:rPr>
              <a:t>i</a:t>
            </a:r>
            <a:r>
              <a:rPr lang="en-US" altLang="en-US" dirty="0">
                <a:solidFill>
                  <a:srgbClr val="0000FF"/>
                </a:solidFill>
                <a:ea typeface="ＭＳ Ｐゴシック" panose="020B0600070205080204" pitchFamily="34" charset="-128"/>
              </a:rPr>
              <a:t> = 1</a:t>
            </a:r>
          </a:p>
          <a:p>
            <a:r>
              <a:rPr lang="en-US" altLang="en-US" sz="2200" dirty="0">
                <a:ea typeface="ＭＳ Ｐゴシック" panose="020B0600070205080204" pitchFamily="34" charset="-128"/>
              </a:rPr>
              <a:t>Thus</a:t>
            </a:r>
          </a:p>
          <a:p>
            <a:pPr>
              <a:buFont typeface="Wingdings" pitchFamily="2" charset="2"/>
              <a:buNone/>
            </a:pPr>
            <a:r>
              <a:rPr lang="en-US" altLang="en-US" dirty="0">
                <a:ea typeface="ＭＳ Ｐゴシック" panose="020B0600070205080204" pitchFamily="34" charset="-128"/>
              </a:rPr>
              <a:t>		</a:t>
            </a:r>
            <a:r>
              <a:rPr lang="en-US" altLang="en-US" dirty="0" err="1">
                <a:solidFill>
                  <a:srgbClr val="0000FF"/>
                </a:solidFill>
                <a:ea typeface="ＭＳ Ｐゴシック" panose="020B0600070205080204" pitchFamily="34" charset="-128"/>
              </a:rPr>
              <a:t>T</a:t>
            </a:r>
            <a:r>
              <a:rPr lang="en-US" altLang="en-US" baseline="-25000" dirty="0" err="1">
                <a:solidFill>
                  <a:srgbClr val="0000FF"/>
                </a:solidFill>
                <a:ea typeface="ＭＳ Ｐゴシック" panose="020B0600070205080204" pitchFamily="34" charset="-128"/>
              </a:rPr>
              <a:t>i</a:t>
            </a:r>
            <a:r>
              <a:rPr lang="en-US" altLang="en-US" dirty="0">
                <a:solidFill>
                  <a:srgbClr val="0000FF"/>
                </a:solidFill>
                <a:ea typeface="ＭＳ Ｐゴシック" panose="020B0600070205080204" pitchFamily="34" charset="-128"/>
              </a:rPr>
              <a:t> = </a:t>
            </a:r>
            <a:r>
              <a:rPr lang="en-US" altLang="en-US" dirty="0" err="1">
                <a:solidFill>
                  <a:srgbClr val="0000FF"/>
                </a:solidFill>
                <a:ea typeface="ＭＳ Ｐゴシック" panose="020B0600070205080204" pitchFamily="34" charset="-128"/>
              </a:rPr>
              <a:t>hr</a:t>
            </a:r>
            <a:r>
              <a:rPr lang="en-US" altLang="en-US" baseline="-25000" dirty="0" err="1">
                <a:solidFill>
                  <a:srgbClr val="0000FF"/>
                </a:solidFill>
                <a:ea typeface="ＭＳ Ｐゴシック" panose="020B0600070205080204" pitchFamily="34" charset="-128"/>
              </a:rPr>
              <a:t>i</a:t>
            </a:r>
            <a:r>
              <a:rPr lang="en-US" altLang="en-US" dirty="0" err="1">
                <a:solidFill>
                  <a:srgbClr val="0000FF"/>
                </a:solidFill>
                <a:ea typeface="ＭＳ Ｐゴシック" panose="020B0600070205080204" pitchFamily="34" charset="-128"/>
              </a:rPr>
              <a:t>·t</a:t>
            </a:r>
            <a:r>
              <a:rPr lang="en-US" altLang="en-US" baseline="-25000" dirty="0" err="1">
                <a:solidFill>
                  <a:srgbClr val="0000FF"/>
                </a:solidFill>
                <a:ea typeface="ＭＳ Ｐゴシック" panose="020B0600070205080204" pitchFamily="34" charset="-128"/>
              </a:rPr>
              <a:t>i</a:t>
            </a:r>
            <a:r>
              <a:rPr lang="en-US" altLang="en-US" baseline="-25000" dirty="0">
                <a:solidFill>
                  <a:srgbClr val="0000FF"/>
                </a:solidFill>
                <a:ea typeface="ＭＳ Ｐゴシック" panose="020B0600070205080204" pitchFamily="34" charset="-128"/>
              </a:rPr>
              <a:t> </a:t>
            </a:r>
            <a:r>
              <a:rPr lang="en-US" altLang="en-US" dirty="0">
                <a:solidFill>
                  <a:srgbClr val="0000FF"/>
                </a:solidFill>
                <a:ea typeface="ＭＳ Ｐゴシック" panose="020B0600070205080204" pitchFamily="34" charset="-128"/>
              </a:rPr>
              <a:t> + </a:t>
            </a:r>
            <a:r>
              <a:rPr lang="en-US" altLang="en-US" dirty="0" err="1">
                <a:solidFill>
                  <a:srgbClr val="0000FF"/>
                </a:solidFill>
                <a:ea typeface="ＭＳ Ｐゴシック" panose="020B0600070205080204" pitchFamily="34" charset="-128"/>
              </a:rPr>
              <a:t>mr</a:t>
            </a:r>
            <a:r>
              <a:rPr lang="en-US" altLang="en-US" baseline="-25000" dirty="0" err="1">
                <a:solidFill>
                  <a:srgbClr val="0000FF"/>
                </a:solidFill>
                <a:ea typeface="ＭＳ Ｐゴシック" panose="020B0600070205080204" pitchFamily="34" charset="-128"/>
              </a:rPr>
              <a:t>i</a:t>
            </a:r>
            <a:r>
              <a:rPr lang="en-US" altLang="en-US" dirty="0">
                <a:solidFill>
                  <a:srgbClr val="0000FF"/>
                </a:solidFill>
                <a:ea typeface="ＭＳ Ｐゴシック" panose="020B0600070205080204" pitchFamily="34" charset="-128"/>
              </a:rPr>
              <a:t>·(</a:t>
            </a:r>
            <a:r>
              <a:rPr lang="en-US" altLang="en-US" dirty="0" err="1">
                <a:solidFill>
                  <a:srgbClr val="0000FF"/>
                </a:solidFill>
                <a:ea typeface="ＭＳ Ｐゴシック" panose="020B0600070205080204" pitchFamily="34" charset="-128"/>
              </a:rPr>
              <a:t>t</a:t>
            </a:r>
            <a:r>
              <a:rPr lang="en-US" altLang="en-US" baseline="-25000" dirty="0" err="1">
                <a:solidFill>
                  <a:srgbClr val="0000FF"/>
                </a:solidFill>
                <a:ea typeface="ＭＳ Ｐゴシック" panose="020B0600070205080204" pitchFamily="34" charset="-128"/>
              </a:rPr>
              <a:t>i</a:t>
            </a:r>
            <a:r>
              <a:rPr lang="en-US" altLang="en-US" dirty="0">
                <a:solidFill>
                  <a:srgbClr val="0000FF"/>
                </a:solidFill>
                <a:ea typeface="ＭＳ Ｐゴシック" panose="020B0600070205080204" pitchFamily="34" charset="-128"/>
              </a:rPr>
              <a:t> + T</a:t>
            </a:r>
            <a:r>
              <a:rPr lang="en-US" altLang="en-US" baseline="-25000" dirty="0">
                <a:solidFill>
                  <a:srgbClr val="0000FF"/>
                </a:solidFill>
                <a:ea typeface="ＭＳ Ｐゴシック" panose="020B0600070205080204" pitchFamily="34" charset="-128"/>
              </a:rPr>
              <a:t>i+1</a:t>
            </a:r>
            <a:r>
              <a:rPr lang="en-US" altLang="en-US" dirty="0">
                <a:solidFill>
                  <a:srgbClr val="0000FF"/>
                </a:solidFill>
                <a:ea typeface="ＭＳ Ｐゴシック" panose="020B0600070205080204" pitchFamily="34" charset="-128"/>
              </a:rPr>
              <a:t>)</a:t>
            </a:r>
            <a:endParaRPr lang="en-US" altLang="en-US" baseline="-25000" dirty="0">
              <a:solidFill>
                <a:srgbClr val="0000FF"/>
              </a:solidFill>
              <a:ea typeface="ＭＳ Ｐゴシック" panose="020B0600070205080204" pitchFamily="34" charset="-128"/>
            </a:endParaRPr>
          </a:p>
          <a:p>
            <a:pPr>
              <a:buFont typeface="Wingdings" pitchFamily="2" charset="2"/>
              <a:buNone/>
            </a:pPr>
            <a:r>
              <a:rPr lang="en-US" altLang="en-US" baseline="-25000" dirty="0">
                <a:solidFill>
                  <a:srgbClr val="0000FF"/>
                </a:solidFill>
                <a:ea typeface="ＭＳ Ｐゴシック" panose="020B0600070205080204" pitchFamily="34" charset="-128"/>
              </a:rPr>
              <a:t>		</a:t>
            </a:r>
            <a:r>
              <a:rPr lang="en-US" altLang="en-US" dirty="0" err="1">
                <a:solidFill>
                  <a:srgbClr val="0000FF"/>
                </a:solidFill>
                <a:ea typeface="ＭＳ Ｐゴシック" panose="020B0600070205080204" pitchFamily="34" charset="-128"/>
              </a:rPr>
              <a:t>T</a:t>
            </a:r>
            <a:r>
              <a:rPr lang="en-US" altLang="en-US" baseline="-25000" dirty="0" err="1">
                <a:solidFill>
                  <a:srgbClr val="0000FF"/>
                </a:solidFill>
                <a:ea typeface="ＭＳ Ｐゴシック" panose="020B0600070205080204" pitchFamily="34" charset="-128"/>
              </a:rPr>
              <a:t>i</a:t>
            </a:r>
            <a:r>
              <a:rPr lang="en-US" altLang="en-US" baseline="-25000" dirty="0">
                <a:solidFill>
                  <a:srgbClr val="0000FF"/>
                </a:solidFill>
                <a:ea typeface="ＭＳ Ｐゴシック" panose="020B0600070205080204" pitchFamily="34" charset="-128"/>
              </a:rPr>
              <a:t> </a:t>
            </a:r>
            <a:r>
              <a:rPr lang="en-US" altLang="en-US" dirty="0">
                <a:solidFill>
                  <a:srgbClr val="0000FF"/>
                </a:solidFill>
                <a:ea typeface="ＭＳ Ｐゴシック" panose="020B0600070205080204" pitchFamily="34" charset="-128"/>
              </a:rPr>
              <a:t>= </a:t>
            </a:r>
            <a:r>
              <a:rPr lang="en-US" altLang="en-US" dirty="0" err="1">
                <a:solidFill>
                  <a:srgbClr val="0000FF"/>
                </a:solidFill>
                <a:ea typeface="ＭＳ Ｐゴシック" panose="020B0600070205080204" pitchFamily="34" charset="-128"/>
              </a:rPr>
              <a:t>t</a:t>
            </a:r>
            <a:r>
              <a:rPr lang="en-US" altLang="en-US" baseline="-25000" dirty="0" err="1">
                <a:solidFill>
                  <a:srgbClr val="0000FF"/>
                </a:solidFill>
                <a:ea typeface="ＭＳ Ｐゴシック" panose="020B0600070205080204" pitchFamily="34" charset="-128"/>
              </a:rPr>
              <a:t>i</a:t>
            </a:r>
            <a:r>
              <a:rPr lang="en-US" altLang="en-US" baseline="-25000" dirty="0">
                <a:solidFill>
                  <a:srgbClr val="0000FF"/>
                </a:solidFill>
                <a:ea typeface="ＭＳ Ｐゴシック" panose="020B0600070205080204" pitchFamily="34" charset="-128"/>
              </a:rPr>
              <a:t> </a:t>
            </a:r>
            <a:r>
              <a:rPr lang="en-US" altLang="en-US" dirty="0">
                <a:solidFill>
                  <a:srgbClr val="0000FF"/>
                </a:solidFill>
                <a:ea typeface="ＭＳ Ｐゴシック" panose="020B0600070205080204" pitchFamily="34" charset="-128"/>
              </a:rPr>
              <a:t> + </a:t>
            </a:r>
            <a:r>
              <a:rPr lang="en-US" altLang="en-US" dirty="0" err="1">
                <a:solidFill>
                  <a:srgbClr val="0000FF"/>
                </a:solidFill>
                <a:ea typeface="ＭＳ Ｐゴシック" panose="020B0600070205080204" pitchFamily="34" charset="-128"/>
              </a:rPr>
              <a:t>mr</a:t>
            </a:r>
            <a:r>
              <a:rPr lang="en-US" altLang="en-US" baseline="-25000" dirty="0" err="1">
                <a:solidFill>
                  <a:srgbClr val="0000FF"/>
                </a:solidFill>
                <a:ea typeface="ＭＳ Ｐゴシック" panose="020B0600070205080204" pitchFamily="34" charset="-128"/>
              </a:rPr>
              <a:t>i</a:t>
            </a:r>
            <a:r>
              <a:rPr lang="en-US" altLang="en-US" baseline="-25000" dirty="0">
                <a:solidFill>
                  <a:srgbClr val="0000FF"/>
                </a:solidFill>
                <a:ea typeface="ＭＳ Ｐゴシック" panose="020B0600070205080204" pitchFamily="34" charset="-128"/>
              </a:rPr>
              <a:t> </a:t>
            </a:r>
            <a:r>
              <a:rPr lang="en-US" altLang="en-US" dirty="0">
                <a:solidFill>
                  <a:srgbClr val="0000FF"/>
                </a:solidFill>
                <a:ea typeface="ＭＳ Ｐゴシック" panose="020B0600070205080204" pitchFamily="34" charset="-128"/>
              </a:rPr>
              <a:t>·T</a:t>
            </a:r>
            <a:r>
              <a:rPr lang="en-US" altLang="en-US" baseline="-25000" dirty="0">
                <a:solidFill>
                  <a:srgbClr val="0000FF"/>
                </a:solidFill>
                <a:ea typeface="ＭＳ Ｐゴシック" panose="020B0600070205080204" pitchFamily="34" charset="-128"/>
              </a:rPr>
              <a:t>i+1 </a:t>
            </a:r>
            <a:r>
              <a:rPr lang="en-US" altLang="en-US" dirty="0">
                <a:solidFill>
                  <a:srgbClr val="0000FF"/>
                </a:solidFill>
                <a:ea typeface="ＭＳ Ｐゴシック" panose="020B0600070205080204" pitchFamily="34" charset="-128"/>
              </a:rPr>
              <a:t>		</a:t>
            </a:r>
            <a:r>
              <a:rPr lang="en-US" altLang="en-US" dirty="0">
                <a:solidFill>
                  <a:schemeClr val="accent1"/>
                </a:solidFill>
                <a:ea typeface="ＭＳ Ｐゴシック" panose="020B0600070205080204" pitchFamily="34" charset="-128"/>
              </a:rPr>
              <a:t>			</a:t>
            </a:r>
          </a:p>
          <a:p>
            <a:pPr>
              <a:buFont typeface="Wingdings" pitchFamily="2" charset="2"/>
              <a:buNone/>
            </a:pPr>
            <a:endParaRPr lang="en-US" altLang="en-US" sz="1400" dirty="0">
              <a:solidFill>
                <a:schemeClr val="bg2"/>
              </a:solidFill>
              <a:ea typeface="ＭＳ Ｐゴシック" panose="020B0600070205080204" pitchFamily="34" charset="-128"/>
            </a:endParaRPr>
          </a:p>
          <a:p>
            <a:pPr>
              <a:buFont typeface="Wingdings" pitchFamily="2" charset="2"/>
              <a:buNone/>
            </a:pPr>
            <a:endParaRPr lang="en-US" altLang="en-US" sz="1400" dirty="0">
              <a:solidFill>
                <a:schemeClr val="bg2"/>
              </a:solidFill>
              <a:ea typeface="ＭＳ Ｐゴシック" panose="020B0600070205080204" pitchFamily="34" charset="-128"/>
            </a:endParaRPr>
          </a:p>
          <a:p>
            <a:pPr>
              <a:buFont typeface="Wingdings" pitchFamily="2" charset="2"/>
              <a:buNone/>
            </a:pPr>
            <a:r>
              <a:rPr lang="en-US" altLang="en-US" dirty="0" err="1">
                <a:solidFill>
                  <a:schemeClr val="accent1"/>
                </a:solidFill>
                <a:ea typeface="ＭＳ Ｐゴシック" panose="020B0600070205080204" pitchFamily="34" charset="-128"/>
              </a:rPr>
              <a:t>hr</a:t>
            </a:r>
            <a:r>
              <a:rPr lang="en-US" altLang="en-US" baseline="-25000" dirty="0" err="1">
                <a:solidFill>
                  <a:schemeClr val="accent1"/>
                </a:solidFill>
                <a:ea typeface="ＭＳ Ｐゴシック" panose="020B0600070205080204" pitchFamily="34" charset="-128"/>
              </a:rPr>
              <a:t>i</a:t>
            </a:r>
            <a:r>
              <a:rPr lang="en-US" altLang="en-US" dirty="0">
                <a:solidFill>
                  <a:schemeClr val="bg2"/>
                </a:solidFill>
                <a:ea typeface="ＭＳ Ｐゴシック" panose="020B0600070205080204" pitchFamily="34" charset="-128"/>
              </a:rPr>
              <a:t> and </a:t>
            </a:r>
            <a:r>
              <a:rPr lang="en-US" altLang="en-US" dirty="0" err="1">
                <a:solidFill>
                  <a:schemeClr val="accent1"/>
                </a:solidFill>
                <a:ea typeface="ＭＳ Ｐゴシック" panose="020B0600070205080204" pitchFamily="34" charset="-128"/>
              </a:rPr>
              <a:t>mr</a:t>
            </a:r>
            <a:r>
              <a:rPr lang="en-US" altLang="en-US" baseline="-25000" dirty="0" err="1">
                <a:solidFill>
                  <a:schemeClr val="accent1"/>
                </a:solidFill>
                <a:ea typeface="ＭＳ Ｐゴシック" panose="020B0600070205080204" pitchFamily="34" charset="-128"/>
              </a:rPr>
              <a:t>i</a:t>
            </a:r>
            <a:r>
              <a:rPr lang="en-US" altLang="en-US" dirty="0">
                <a:solidFill>
                  <a:schemeClr val="bg2"/>
                </a:solidFill>
                <a:ea typeface="ＭＳ Ｐゴシック" panose="020B0600070205080204" pitchFamily="34" charset="-128"/>
              </a:rPr>
              <a:t> are defined to be the hit-rate and miss-rate            of just the references that missed at L</a:t>
            </a:r>
            <a:r>
              <a:rPr lang="en-US" altLang="en-US" baseline="-25000" dirty="0">
                <a:solidFill>
                  <a:schemeClr val="bg2"/>
                </a:solidFill>
                <a:ea typeface="ＭＳ Ｐゴシック" panose="020B0600070205080204" pitchFamily="34" charset="-128"/>
              </a:rPr>
              <a:t>i-1  </a:t>
            </a:r>
            <a:endParaRPr lang="en-US" altLang="en-US" dirty="0">
              <a:solidFill>
                <a:schemeClr val="accent1"/>
              </a:solidFill>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113667" name="Slide Number Placeholder 3">
            <a:extLst>
              <a:ext uri="{FF2B5EF4-FFF2-40B4-BE49-F238E27FC236}">
                <a16:creationId xmlns:a16="http://schemas.microsoft.com/office/drawing/2014/main" id="{76D92956-EFC0-BB4D-A21C-5C6E1A478CD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82858EF7-2C4B-1249-8CED-8C076D51E448}" type="slidenum">
              <a:rPr lang="en-US" altLang="en-US" sz="1600" smtClean="0">
                <a:solidFill>
                  <a:srgbClr val="000000"/>
                </a:solidFill>
                <a:latin typeface="Garamond" panose="02020404030301010803" pitchFamily="18" charset="0"/>
              </a:rPr>
              <a:pPr eaLnBrk="1" hangingPunct="1">
                <a:spcBef>
                  <a:spcPct val="0"/>
                </a:spcBef>
                <a:buClrTx/>
                <a:buSzTx/>
                <a:buFontTx/>
                <a:buNone/>
              </a:pPr>
              <a:t>42</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577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577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77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77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5778">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577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5778">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577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a:extLst>
              <a:ext uri="{FF2B5EF4-FFF2-40B4-BE49-F238E27FC236}">
                <a16:creationId xmlns:a16="http://schemas.microsoft.com/office/drawing/2014/main" id="{E947C69F-8E6F-B741-9894-7060D65D1BA0}"/>
              </a:ext>
            </a:extLst>
          </p:cNvPr>
          <p:cNvSpPr>
            <a:spLocks noGrp="1" noChangeArrowheads="1"/>
          </p:cNvSpPr>
          <p:nvPr>
            <p:ph type="title"/>
          </p:nvPr>
        </p:nvSpPr>
        <p:spPr/>
        <p:txBody>
          <a:bodyPr/>
          <a:lstStyle/>
          <a:p>
            <a:r>
              <a:rPr lang="en-US" altLang="en-US">
                <a:ea typeface="ＭＳ Ｐゴシック" panose="020B0600070205080204" pitchFamily="34" charset="-128"/>
              </a:rPr>
              <a:t>Hierarchy Design Considerations</a:t>
            </a:r>
          </a:p>
        </p:txBody>
      </p:sp>
      <p:sp>
        <p:nvSpPr>
          <p:cNvPr id="3" name="Content Placeholder 2">
            <a:extLst>
              <a:ext uri="{FF2B5EF4-FFF2-40B4-BE49-F238E27FC236}">
                <a16:creationId xmlns:a16="http://schemas.microsoft.com/office/drawing/2014/main" id="{36D6E510-8079-C241-94B9-24234EA66E65}"/>
              </a:ext>
            </a:extLst>
          </p:cNvPr>
          <p:cNvSpPr>
            <a:spLocks noGrp="1" noChangeArrowheads="1"/>
          </p:cNvSpPr>
          <p:nvPr>
            <p:ph idx="1"/>
          </p:nvPr>
        </p:nvSpPr>
        <p:spPr>
          <a:xfrm>
            <a:off x="228600" y="996950"/>
            <a:ext cx="8610600" cy="4641850"/>
          </a:xfrm>
        </p:spPr>
        <p:txBody>
          <a:bodyPr/>
          <a:lstStyle/>
          <a:p>
            <a:r>
              <a:rPr lang="en-US" altLang="en-US" dirty="0">
                <a:ea typeface="ＭＳ Ｐゴシック" panose="020B0600070205080204" pitchFamily="34" charset="-128"/>
              </a:rPr>
              <a:t>Recursive latency equation</a:t>
            </a:r>
            <a:r>
              <a:rPr lang="en-US" altLang="en-US" baseline="-25000" dirty="0">
                <a:ea typeface="ＭＳ Ｐゴシック" panose="020B0600070205080204" pitchFamily="34" charset="-128"/>
              </a:rPr>
              <a:t>	</a:t>
            </a:r>
          </a:p>
          <a:p>
            <a:pPr>
              <a:buFont typeface="Wingdings" pitchFamily="2" charset="2"/>
              <a:buNone/>
            </a:pPr>
            <a:r>
              <a:rPr lang="en-US" altLang="en-US" baseline="-25000" dirty="0">
                <a:solidFill>
                  <a:srgbClr val="0000FF"/>
                </a:solidFill>
                <a:ea typeface="ＭＳ Ｐゴシック" panose="020B0600070205080204" pitchFamily="34" charset="-128"/>
              </a:rPr>
              <a:t>			</a:t>
            </a:r>
            <a:r>
              <a:rPr lang="en-US" altLang="en-US" dirty="0" err="1">
                <a:solidFill>
                  <a:srgbClr val="0000FF"/>
                </a:solidFill>
                <a:ea typeface="ＭＳ Ｐゴシック" panose="020B0600070205080204" pitchFamily="34" charset="-128"/>
              </a:rPr>
              <a:t>T</a:t>
            </a:r>
            <a:r>
              <a:rPr lang="en-US" altLang="en-US" baseline="-25000" dirty="0" err="1">
                <a:solidFill>
                  <a:srgbClr val="0000FF"/>
                </a:solidFill>
                <a:ea typeface="ＭＳ Ｐゴシック" panose="020B0600070205080204" pitchFamily="34" charset="-128"/>
              </a:rPr>
              <a:t>i</a:t>
            </a:r>
            <a:r>
              <a:rPr lang="en-US" altLang="en-US" baseline="-25000" dirty="0">
                <a:solidFill>
                  <a:srgbClr val="0000FF"/>
                </a:solidFill>
                <a:ea typeface="ＭＳ Ｐゴシック" panose="020B0600070205080204" pitchFamily="34" charset="-128"/>
              </a:rPr>
              <a:t> </a:t>
            </a:r>
            <a:r>
              <a:rPr lang="en-US" altLang="en-US" dirty="0">
                <a:solidFill>
                  <a:srgbClr val="0000FF"/>
                </a:solidFill>
                <a:ea typeface="ＭＳ Ｐゴシック" panose="020B0600070205080204" pitchFamily="34" charset="-128"/>
              </a:rPr>
              <a:t>= </a:t>
            </a:r>
            <a:r>
              <a:rPr lang="en-US" altLang="en-US" dirty="0" err="1">
                <a:solidFill>
                  <a:srgbClr val="0000FF"/>
                </a:solidFill>
                <a:ea typeface="ＭＳ Ｐゴシック" panose="020B0600070205080204" pitchFamily="34" charset="-128"/>
              </a:rPr>
              <a:t>t</a:t>
            </a:r>
            <a:r>
              <a:rPr lang="en-US" altLang="en-US" baseline="-25000" dirty="0" err="1">
                <a:solidFill>
                  <a:srgbClr val="0000FF"/>
                </a:solidFill>
                <a:ea typeface="ＭＳ Ｐゴシック" panose="020B0600070205080204" pitchFamily="34" charset="-128"/>
              </a:rPr>
              <a:t>i</a:t>
            </a:r>
            <a:r>
              <a:rPr lang="en-US" altLang="en-US" baseline="-25000" dirty="0">
                <a:solidFill>
                  <a:srgbClr val="0000FF"/>
                </a:solidFill>
                <a:ea typeface="ＭＳ Ｐゴシック" panose="020B0600070205080204" pitchFamily="34" charset="-128"/>
              </a:rPr>
              <a:t> </a:t>
            </a:r>
            <a:r>
              <a:rPr lang="en-US" altLang="en-US" dirty="0">
                <a:solidFill>
                  <a:srgbClr val="0000FF"/>
                </a:solidFill>
                <a:ea typeface="ＭＳ Ｐゴシック" panose="020B0600070205080204" pitchFamily="34" charset="-128"/>
              </a:rPr>
              <a:t> + </a:t>
            </a:r>
            <a:r>
              <a:rPr lang="en-US" altLang="en-US" dirty="0" err="1">
                <a:solidFill>
                  <a:srgbClr val="0000FF"/>
                </a:solidFill>
                <a:ea typeface="ＭＳ Ｐゴシック" panose="020B0600070205080204" pitchFamily="34" charset="-128"/>
              </a:rPr>
              <a:t>mr</a:t>
            </a:r>
            <a:r>
              <a:rPr lang="en-US" altLang="en-US" baseline="-25000" dirty="0" err="1">
                <a:solidFill>
                  <a:srgbClr val="0000FF"/>
                </a:solidFill>
                <a:ea typeface="ＭＳ Ｐゴシック" panose="020B0600070205080204" pitchFamily="34" charset="-128"/>
              </a:rPr>
              <a:t>i</a:t>
            </a:r>
            <a:r>
              <a:rPr lang="en-US" altLang="en-US" baseline="-25000" dirty="0">
                <a:solidFill>
                  <a:srgbClr val="0000FF"/>
                </a:solidFill>
                <a:ea typeface="ＭＳ Ｐゴシック" panose="020B0600070205080204" pitchFamily="34" charset="-128"/>
              </a:rPr>
              <a:t> </a:t>
            </a:r>
            <a:r>
              <a:rPr lang="en-US" altLang="en-US" dirty="0">
                <a:solidFill>
                  <a:srgbClr val="0000FF"/>
                </a:solidFill>
                <a:ea typeface="ＭＳ Ｐゴシック" panose="020B0600070205080204" pitchFamily="34" charset="-128"/>
              </a:rPr>
              <a:t>·T</a:t>
            </a:r>
            <a:r>
              <a:rPr lang="en-US" altLang="en-US" baseline="-25000" dirty="0">
                <a:solidFill>
                  <a:srgbClr val="0000FF"/>
                </a:solidFill>
                <a:ea typeface="ＭＳ Ｐゴシック" panose="020B0600070205080204" pitchFamily="34" charset="-128"/>
              </a:rPr>
              <a:t>i+1   </a:t>
            </a:r>
            <a:endParaRPr lang="en-US" altLang="en-US" dirty="0">
              <a:solidFill>
                <a:srgbClr val="0000FF"/>
              </a:solidFill>
              <a:ea typeface="ＭＳ Ｐゴシック" panose="020B0600070205080204" pitchFamily="34" charset="-128"/>
            </a:endParaRPr>
          </a:p>
          <a:p>
            <a:r>
              <a:rPr lang="en-US" altLang="en-US" dirty="0">
                <a:solidFill>
                  <a:srgbClr val="0432FF"/>
                </a:solidFill>
                <a:ea typeface="ＭＳ Ｐゴシック" panose="020B0600070205080204" pitchFamily="34" charset="-128"/>
              </a:rPr>
              <a:t>The goal</a:t>
            </a:r>
            <a:r>
              <a:rPr lang="en-US" altLang="en-US" dirty="0">
                <a:ea typeface="ＭＳ Ｐゴシック" panose="020B0600070205080204" pitchFamily="34" charset="-128"/>
              </a:rPr>
              <a:t>: achieve desired </a:t>
            </a:r>
            <a:r>
              <a:rPr lang="en-US" altLang="en-US" dirty="0" err="1">
                <a:ea typeface="ＭＳ Ｐゴシック" panose="020B0600070205080204" pitchFamily="34" charset="-128"/>
              </a:rPr>
              <a:t>T</a:t>
            </a:r>
            <a:r>
              <a:rPr lang="en-US" altLang="en-US" baseline="-25000" dirty="0" err="1">
                <a:ea typeface="ＭＳ Ｐゴシック" panose="020B0600070205080204" pitchFamily="34" charset="-128"/>
              </a:rPr>
              <a:t>i</a:t>
            </a:r>
            <a:r>
              <a:rPr lang="en-US" altLang="en-US" baseline="-25000" dirty="0">
                <a:ea typeface="ＭＳ Ｐゴシック" panose="020B0600070205080204" pitchFamily="34" charset="-128"/>
              </a:rPr>
              <a:t> </a:t>
            </a:r>
            <a:r>
              <a:rPr lang="en-US" altLang="en-US" dirty="0">
                <a:ea typeface="ＭＳ Ｐゴシック" panose="020B0600070205080204" pitchFamily="34" charset="-128"/>
              </a:rPr>
              <a:t>within allowed cost</a:t>
            </a:r>
          </a:p>
          <a:p>
            <a:endParaRPr lang="en-US" altLang="en-US" baseline="-25000" dirty="0">
              <a:ea typeface="ＭＳ Ｐゴシック" panose="020B0600070205080204" pitchFamily="34" charset="-128"/>
            </a:endParaRPr>
          </a:p>
          <a:p>
            <a:r>
              <a:rPr lang="en-US" altLang="en-US" dirty="0" err="1">
                <a:solidFill>
                  <a:srgbClr val="0432FF"/>
                </a:solidFill>
                <a:ea typeface="ＭＳ Ｐゴシック" panose="020B0600070205080204" pitchFamily="34" charset="-128"/>
              </a:rPr>
              <a:t>T</a:t>
            </a:r>
            <a:r>
              <a:rPr lang="en-US" altLang="en-US" baseline="-25000" dirty="0" err="1">
                <a:solidFill>
                  <a:srgbClr val="0432FF"/>
                </a:solidFill>
                <a:ea typeface="ＭＳ Ｐゴシック" panose="020B0600070205080204" pitchFamily="34" charset="-128"/>
              </a:rPr>
              <a:t>i</a:t>
            </a:r>
            <a:r>
              <a:rPr lang="en-US" altLang="en-US" dirty="0">
                <a:solidFill>
                  <a:srgbClr val="0432FF"/>
                </a:solidFill>
                <a:ea typeface="ＭＳ Ｐゴシック" panose="020B0600070205080204" pitchFamily="34" charset="-128"/>
              </a:rPr>
              <a:t> </a:t>
            </a:r>
            <a:r>
              <a:rPr lang="en-US" altLang="en-US" dirty="0">
                <a:solidFill>
                  <a:srgbClr val="0432FF"/>
                </a:solidFill>
                <a:ea typeface="ＭＳ Ｐゴシック" panose="020B0600070205080204" pitchFamily="34" charset="-128"/>
                <a:sym typeface="Symbol" pitchFamily="2" charset="2"/>
              </a:rPr>
              <a:t> </a:t>
            </a:r>
            <a:r>
              <a:rPr lang="en-US" altLang="en-US" dirty="0" err="1">
                <a:solidFill>
                  <a:srgbClr val="0432FF"/>
                </a:solidFill>
                <a:ea typeface="ＭＳ Ｐゴシック" panose="020B0600070205080204" pitchFamily="34" charset="-128"/>
                <a:sym typeface="Symbol" pitchFamily="2" charset="2"/>
              </a:rPr>
              <a:t>t</a:t>
            </a:r>
            <a:r>
              <a:rPr lang="en-US" altLang="en-US" baseline="-25000" dirty="0" err="1">
                <a:solidFill>
                  <a:srgbClr val="0432FF"/>
                </a:solidFill>
                <a:ea typeface="ＭＳ Ｐゴシック" panose="020B0600070205080204" pitchFamily="34" charset="-128"/>
                <a:sym typeface="Symbol" pitchFamily="2" charset="2"/>
              </a:rPr>
              <a:t>i</a:t>
            </a:r>
            <a:r>
              <a:rPr lang="en-US" altLang="en-US" dirty="0">
                <a:solidFill>
                  <a:srgbClr val="0432FF"/>
                </a:solidFill>
                <a:ea typeface="ＭＳ Ｐゴシック" panose="020B0600070205080204" pitchFamily="34" charset="-128"/>
                <a:sym typeface="Symbol" pitchFamily="2" charset="2"/>
              </a:rPr>
              <a:t> </a:t>
            </a:r>
            <a:r>
              <a:rPr lang="en-US" altLang="en-US" dirty="0">
                <a:ea typeface="ＭＳ Ｐゴシック" panose="020B0600070205080204" pitchFamily="34" charset="-128"/>
                <a:sym typeface="Symbol" pitchFamily="2" charset="2"/>
              </a:rPr>
              <a:t>is desirable, when we</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Keep </a:t>
            </a:r>
            <a:r>
              <a:rPr lang="en-US" altLang="en-US" dirty="0" err="1">
                <a:solidFill>
                  <a:schemeClr val="accent1"/>
                </a:solidFill>
                <a:ea typeface="ＭＳ Ｐゴシック" panose="020B0600070205080204" pitchFamily="34" charset="-128"/>
              </a:rPr>
              <a:t>mr</a:t>
            </a:r>
            <a:r>
              <a:rPr lang="en-US" altLang="en-US" baseline="-25000" dirty="0" err="1">
                <a:solidFill>
                  <a:schemeClr val="accent1"/>
                </a:solidFill>
                <a:ea typeface="ＭＳ Ｐゴシック" panose="020B0600070205080204" pitchFamily="34" charset="-128"/>
              </a:rPr>
              <a:t>i</a:t>
            </a:r>
            <a:r>
              <a:rPr lang="en-US" altLang="en-US" baseline="-25000" dirty="0">
                <a:ea typeface="ＭＳ Ｐゴシック" panose="020B0600070205080204" pitchFamily="34" charset="-128"/>
              </a:rPr>
              <a:t> </a:t>
            </a:r>
            <a:r>
              <a:rPr lang="en-US" altLang="en-US" dirty="0">
                <a:ea typeface="ＭＳ Ｐゴシック" panose="020B0600070205080204" pitchFamily="34" charset="-128"/>
              </a:rPr>
              <a:t>low</a:t>
            </a:r>
          </a:p>
          <a:p>
            <a:pPr lvl="2"/>
            <a:r>
              <a:rPr lang="en-US" altLang="en-US" sz="1800" dirty="0">
                <a:ea typeface="ＭＳ Ｐゴシック" panose="020B0600070205080204" pitchFamily="34" charset="-128"/>
                <a:sym typeface="Symbol" pitchFamily="2" charset="2"/>
              </a:rPr>
              <a:t>increasing capacity </a:t>
            </a:r>
            <a:r>
              <a:rPr lang="en-US" altLang="en-US" sz="1800" dirty="0">
                <a:solidFill>
                  <a:schemeClr val="accent1"/>
                </a:solidFill>
                <a:ea typeface="ＭＳ Ｐゴシック" panose="020B0600070205080204" pitchFamily="34" charset="-128"/>
                <a:sym typeface="Symbol" pitchFamily="2" charset="2"/>
              </a:rPr>
              <a:t>C</a:t>
            </a:r>
            <a:r>
              <a:rPr lang="en-US" altLang="en-US" sz="1800" baseline="-25000" dirty="0">
                <a:solidFill>
                  <a:schemeClr val="accent1"/>
                </a:solidFill>
                <a:ea typeface="ＭＳ Ｐゴシック" panose="020B0600070205080204" pitchFamily="34" charset="-128"/>
                <a:sym typeface="Symbol" pitchFamily="2" charset="2"/>
              </a:rPr>
              <a:t>i</a:t>
            </a:r>
            <a:r>
              <a:rPr lang="en-US" altLang="en-US" sz="1800" dirty="0">
                <a:ea typeface="ＭＳ Ｐゴシック" panose="020B0600070205080204" pitchFamily="34" charset="-128"/>
                <a:sym typeface="Symbol" pitchFamily="2" charset="2"/>
              </a:rPr>
              <a:t> lowers </a:t>
            </a:r>
            <a:r>
              <a:rPr lang="en-US" altLang="en-US" sz="1800" dirty="0" err="1">
                <a:solidFill>
                  <a:schemeClr val="accent1"/>
                </a:solidFill>
                <a:ea typeface="ＭＳ Ｐゴシック" panose="020B0600070205080204" pitchFamily="34" charset="-128"/>
                <a:sym typeface="Symbol" pitchFamily="2" charset="2"/>
              </a:rPr>
              <a:t>mr</a:t>
            </a:r>
            <a:r>
              <a:rPr lang="en-US" altLang="en-US" sz="1800" baseline="-25000" dirty="0" err="1">
                <a:solidFill>
                  <a:schemeClr val="accent1"/>
                </a:solidFill>
                <a:ea typeface="ＭＳ Ｐゴシック" panose="020B0600070205080204" pitchFamily="34" charset="-128"/>
                <a:sym typeface="Symbol" pitchFamily="2" charset="2"/>
              </a:rPr>
              <a:t>i</a:t>
            </a:r>
            <a:r>
              <a:rPr lang="en-US" altLang="en-US" sz="1800" dirty="0">
                <a:ea typeface="ＭＳ Ｐゴシック" panose="020B0600070205080204" pitchFamily="34" charset="-128"/>
                <a:sym typeface="Symbol" pitchFamily="2" charset="2"/>
              </a:rPr>
              <a:t>,</a:t>
            </a:r>
            <a:r>
              <a:rPr lang="en-US" altLang="en-US" sz="1800" baseline="-25000" dirty="0">
                <a:ea typeface="ＭＳ Ｐゴシック" panose="020B0600070205080204" pitchFamily="34" charset="-128"/>
                <a:sym typeface="Symbol" pitchFamily="2" charset="2"/>
              </a:rPr>
              <a:t> </a:t>
            </a:r>
            <a:r>
              <a:rPr lang="en-US" altLang="en-US" sz="1800" dirty="0">
                <a:ea typeface="ＭＳ Ｐゴシック" panose="020B0600070205080204" pitchFamily="34" charset="-128"/>
                <a:sym typeface="Symbol" pitchFamily="2" charset="2"/>
              </a:rPr>
              <a:t>but beware of increasing </a:t>
            </a:r>
            <a:r>
              <a:rPr lang="en-US" altLang="en-US" sz="1800" dirty="0" err="1">
                <a:solidFill>
                  <a:schemeClr val="accent1"/>
                </a:solidFill>
                <a:ea typeface="ＭＳ Ｐゴシック" panose="020B0600070205080204" pitchFamily="34" charset="-128"/>
                <a:sym typeface="Symbol" pitchFamily="2" charset="2"/>
              </a:rPr>
              <a:t>t</a:t>
            </a:r>
            <a:r>
              <a:rPr lang="en-US" altLang="en-US" sz="1800" baseline="-25000" dirty="0" err="1">
                <a:solidFill>
                  <a:schemeClr val="accent1"/>
                </a:solidFill>
                <a:ea typeface="ＭＳ Ｐゴシック" panose="020B0600070205080204" pitchFamily="34" charset="-128"/>
                <a:sym typeface="Symbol" pitchFamily="2" charset="2"/>
              </a:rPr>
              <a:t>i</a:t>
            </a:r>
            <a:endParaRPr lang="en-US" altLang="en-US" sz="1800" dirty="0">
              <a:solidFill>
                <a:schemeClr val="accent1"/>
              </a:solidFill>
              <a:ea typeface="ＭＳ Ｐゴシック" panose="020B0600070205080204" pitchFamily="34" charset="-128"/>
              <a:sym typeface="Symbol" pitchFamily="2" charset="2"/>
            </a:endParaRPr>
          </a:p>
          <a:p>
            <a:pPr lvl="2"/>
            <a:r>
              <a:rPr lang="en-US" altLang="en-US" sz="1800" dirty="0">
                <a:ea typeface="ＭＳ Ｐゴシック" panose="020B0600070205080204" pitchFamily="34" charset="-128"/>
                <a:sym typeface="Symbol" pitchFamily="2" charset="2"/>
              </a:rPr>
              <a:t>lower </a:t>
            </a:r>
            <a:r>
              <a:rPr lang="en-US" altLang="en-US" sz="1800" dirty="0" err="1">
                <a:solidFill>
                  <a:schemeClr val="accent1"/>
                </a:solidFill>
                <a:ea typeface="ＭＳ Ｐゴシック" panose="020B0600070205080204" pitchFamily="34" charset="-128"/>
                <a:sym typeface="Symbol" pitchFamily="2" charset="2"/>
              </a:rPr>
              <a:t>mr</a:t>
            </a:r>
            <a:r>
              <a:rPr lang="en-US" altLang="en-US" sz="1800" baseline="-25000" dirty="0" err="1">
                <a:solidFill>
                  <a:schemeClr val="accent1"/>
                </a:solidFill>
                <a:ea typeface="ＭＳ Ｐゴシック" panose="020B0600070205080204" pitchFamily="34" charset="-128"/>
                <a:sym typeface="Symbol" pitchFamily="2" charset="2"/>
              </a:rPr>
              <a:t>i</a:t>
            </a:r>
            <a:r>
              <a:rPr lang="en-US" altLang="en-US" sz="1800" baseline="-25000" dirty="0">
                <a:solidFill>
                  <a:schemeClr val="accent1"/>
                </a:solidFill>
                <a:ea typeface="ＭＳ Ｐゴシック" panose="020B0600070205080204" pitchFamily="34" charset="-128"/>
                <a:sym typeface="Symbol" pitchFamily="2" charset="2"/>
              </a:rPr>
              <a:t> </a:t>
            </a:r>
            <a:r>
              <a:rPr lang="en-US" altLang="en-US" sz="1800" dirty="0">
                <a:ea typeface="ＭＳ Ｐゴシック" panose="020B0600070205080204" pitchFamily="34" charset="-128"/>
                <a:sym typeface="Symbol" pitchFamily="2" charset="2"/>
              </a:rPr>
              <a:t>by smarter cache management (replacement::anticipate what you don’</a:t>
            </a:r>
            <a:r>
              <a:rPr lang="en-US" altLang="ja-JP" sz="1800" dirty="0">
                <a:ea typeface="ＭＳ Ｐゴシック" panose="020B0600070205080204" pitchFamily="34" charset="-128"/>
                <a:sym typeface="Symbol" pitchFamily="2" charset="2"/>
              </a:rPr>
              <a:t>t need, prefetching::anticipate what you will need)</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Keep </a:t>
            </a:r>
            <a:r>
              <a:rPr lang="en-US" altLang="en-US" dirty="0">
                <a:solidFill>
                  <a:schemeClr val="accent1"/>
                </a:solidFill>
                <a:ea typeface="ＭＳ Ｐゴシック" panose="020B0600070205080204" pitchFamily="34" charset="-128"/>
              </a:rPr>
              <a:t>T</a:t>
            </a:r>
            <a:r>
              <a:rPr lang="en-US" altLang="en-US" baseline="-25000" dirty="0">
                <a:solidFill>
                  <a:schemeClr val="accent1"/>
                </a:solidFill>
                <a:ea typeface="ＭＳ Ｐゴシック" panose="020B0600070205080204" pitchFamily="34" charset="-128"/>
              </a:rPr>
              <a:t>i+1</a:t>
            </a:r>
            <a:r>
              <a:rPr lang="en-US" altLang="en-US" dirty="0">
                <a:solidFill>
                  <a:schemeClr val="accent1"/>
                </a:solidFill>
                <a:ea typeface="ＭＳ Ｐゴシック" panose="020B0600070205080204" pitchFamily="34" charset="-128"/>
              </a:rPr>
              <a:t> </a:t>
            </a:r>
            <a:r>
              <a:rPr lang="en-US" altLang="en-US" dirty="0">
                <a:ea typeface="ＭＳ Ｐゴシック" panose="020B0600070205080204" pitchFamily="34" charset="-128"/>
              </a:rPr>
              <a:t>low</a:t>
            </a:r>
          </a:p>
          <a:p>
            <a:pPr lvl="2"/>
            <a:r>
              <a:rPr lang="en-US" altLang="en-US" sz="1800" dirty="0">
                <a:ea typeface="ＭＳ Ｐゴシック" panose="020B0600070205080204" pitchFamily="34" charset="-128"/>
              </a:rPr>
              <a:t>faster lower hierarchies, but beware of increasing cost</a:t>
            </a:r>
          </a:p>
          <a:p>
            <a:pPr lvl="2"/>
            <a:r>
              <a:rPr lang="en-US" altLang="en-US" sz="1800" dirty="0">
                <a:ea typeface="ＭＳ Ｐゴシック" panose="020B0600070205080204" pitchFamily="34" charset="-128"/>
              </a:rPr>
              <a:t>introduce intermediate hierarchies as a compromise </a:t>
            </a:r>
            <a:endParaRPr lang="en-US" altLang="en-US" sz="1800" baseline="-25000"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114691" name="Slide Number Placeholder 3">
            <a:extLst>
              <a:ext uri="{FF2B5EF4-FFF2-40B4-BE49-F238E27FC236}">
                <a16:creationId xmlns:a16="http://schemas.microsoft.com/office/drawing/2014/main" id="{5AA79FB3-6603-D845-8770-F471029B139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F90242E8-6D2A-C54F-8E24-3734DD643B9A}" type="slidenum">
              <a:rPr lang="en-US" altLang="en-US" sz="1600" smtClean="0">
                <a:solidFill>
                  <a:srgbClr val="000000"/>
                </a:solidFill>
                <a:latin typeface="Garamond" panose="02020404030301010803" pitchFamily="18" charset="0"/>
              </a:rPr>
              <a:pPr eaLnBrk="1" hangingPunct="1">
                <a:spcBef>
                  <a:spcPct val="0"/>
                </a:spcBef>
                <a:buClrTx/>
                <a:buSzTx/>
                <a:buFontTx/>
                <a:buNone/>
              </a:pPr>
              <a:t>43</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Bottleneck</a:t>
            </a:r>
          </a:p>
        </p:txBody>
      </p:sp>
      <p:sp>
        <p:nvSpPr>
          <p:cNvPr id="3" name="Content Placeholder 2"/>
          <p:cNvSpPr>
            <a:spLocks noGrp="1"/>
          </p:cNvSpPr>
          <p:nvPr>
            <p:ph idx="1"/>
          </p:nvPr>
        </p:nvSpPr>
        <p:spPr>
          <a:xfrm>
            <a:off x="228600" y="997527"/>
            <a:ext cx="8915400" cy="5193723"/>
          </a:xfrm>
        </p:spPr>
        <p:txBody>
          <a:bodyPr/>
          <a:lstStyle/>
          <a:p>
            <a:r>
              <a:rPr lang="en-US" dirty="0"/>
              <a:t>“</a:t>
            </a:r>
            <a:r>
              <a:rPr lang="en-US" sz="2800" b="1" dirty="0">
                <a:solidFill>
                  <a:srgbClr val="0000FF"/>
                </a:solidFill>
              </a:rPr>
              <a:t>It</a:t>
            </a:r>
            <a:r>
              <a:rPr lang="fr-FR" sz="2800" b="1" dirty="0">
                <a:solidFill>
                  <a:srgbClr val="0000FF"/>
                </a:solidFill>
              </a:rPr>
              <a:t>’</a:t>
            </a:r>
            <a:r>
              <a:rPr lang="en-US" sz="2800" b="1" dirty="0">
                <a:solidFill>
                  <a:srgbClr val="0000FF"/>
                </a:solidFill>
              </a:rPr>
              <a:t>s the Memory, Stupid!</a:t>
            </a:r>
            <a:r>
              <a:rPr lang="en-US" dirty="0"/>
              <a:t>” (Richard Sites, MPR, 1996)</a:t>
            </a:r>
          </a:p>
        </p:txBody>
      </p:sp>
      <p:pic>
        <p:nvPicPr>
          <p:cNvPr id="10" name="Picture 9"/>
          <p:cNvPicPr>
            <a:picLocks noChangeAspect="1"/>
          </p:cNvPicPr>
          <p:nvPr/>
        </p:nvPicPr>
        <p:blipFill>
          <a:blip r:embed="rId2"/>
          <a:stretch>
            <a:fillRect/>
          </a:stretch>
        </p:blipFill>
        <p:spPr>
          <a:xfrm>
            <a:off x="203200" y="1606128"/>
            <a:ext cx="8724900" cy="4775200"/>
          </a:xfrm>
          <a:prstGeom prst="rect">
            <a:avLst/>
          </a:prstGeom>
        </p:spPr>
      </p:pic>
      <p:sp>
        <p:nvSpPr>
          <p:cNvPr id="6" name="AutoShape 25"/>
          <p:cNvSpPr>
            <a:spLocks noChangeArrowheads="1"/>
          </p:cNvSpPr>
          <p:nvPr/>
        </p:nvSpPr>
        <p:spPr bwMode="auto">
          <a:xfrm>
            <a:off x="2123728" y="3573016"/>
            <a:ext cx="2016224" cy="2304256"/>
          </a:xfrm>
          <a:prstGeom prst="roundRect">
            <a:avLst>
              <a:gd name="adj" fmla="val 16667"/>
            </a:avLst>
          </a:prstGeom>
          <a:noFill/>
          <a:ln w="88900">
            <a:solidFill>
              <a:srgbClr val="0000FF"/>
            </a:solidFill>
            <a:round/>
            <a:headEnd/>
            <a:tailEnd/>
          </a:ln>
          <a:effectLst/>
        </p:spPr>
        <p:txBody>
          <a:bodyPr wrap="none" lIns="64008" tIns="32004" rIns="64008" bIns="32004"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pitchFamily="-107" charset="0"/>
              <a:ea typeface="Arial" pitchFamily="-107" charset="0"/>
              <a:cs typeface="Arial" pitchFamily="-107" charset="0"/>
            </a:endParaRPr>
          </a:p>
        </p:txBody>
      </p:sp>
      <p:sp>
        <p:nvSpPr>
          <p:cNvPr id="8" name="TextBox 7"/>
          <p:cNvSpPr txBox="1"/>
          <p:nvPr/>
        </p:nvSpPr>
        <p:spPr>
          <a:xfrm>
            <a:off x="107504" y="6496146"/>
            <a:ext cx="8871173" cy="28469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00000"/>
                </a:solidFill>
                <a:effectLst/>
                <a:uLnTx/>
                <a:uFillTx/>
                <a:latin typeface="Tahoma"/>
                <a:ea typeface="+mn-ea"/>
                <a:cs typeface="+mn-cs"/>
              </a:rPr>
              <a:t>Mutlu+, “</a:t>
            </a:r>
            <a:r>
              <a:rPr kumimoji="0" lang="en-US" sz="1250" b="0" i="0" u="none" strike="noStrike" kern="1200" cap="none" spc="0" normalizeH="0" baseline="0" noProof="0" dirty="0">
                <a:ln>
                  <a:noFill/>
                </a:ln>
                <a:solidFill>
                  <a:srgbClr val="0000FF"/>
                </a:solidFill>
                <a:effectLst/>
                <a:uLnTx/>
                <a:uFillTx/>
                <a:latin typeface="Tahoma"/>
                <a:ea typeface="+mn-ea"/>
                <a:cs typeface="+mn-cs"/>
              </a:rPr>
              <a:t>Runahead Execution: An Alternative to Very Large Instruction Windows for Out-of-Order Processors</a:t>
            </a:r>
            <a:r>
              <a:rPr kumimoji="0" lang="en-US" sz="1250" b="0" i="0" u="none" strike="noStrike" kern="1200" cap="none" spc="0" normalizeH="0" baseline="0" noProof="0" dirty="0">
                <a:ln>
                  <a:noFill/>
                </a:ln>
                <a:solidFill>
                  <a:srgbClr val="000000"/>
                </a:solidFill>
                <a:effectLst/>
                <a:uLnTx/>
                <a:uFillTx/>
                <a:latin typeface="Tahoma"/>
                <a:ea typeface="+mn-ea"/>
                <a:cs typeface="+mn-cs"/>
              </a:rPr>
              <a:t>,” HPCA 2003.</a:t>
            </a:r>
          </a:p>
        </p:txBody>
      </p:sp>
      <p:pic>
        <p:nvPicPr>
          <p:cNvPr id="7" name="Picture 6">
            <a:extLst>
              <a:ext uri="{FF2B5EF4-FFF2-40B4-BE49-F238E27FC236}">
                <a16:creationId xmlns:a16="http://schemas.microsoft.com/office/drawing/2014/main" id="{23497AFD-D3FF-E347-A706-7E82FC4BB6FC}"/>
              </a:ext>
            </a:extLst>
          </p:cNvPr>
          <p:cNvPicPr>
            <a:picLocks noChangeAspect="1"/>
          </p:cNvPicPr>
          <p:nvPr/>
        </p:nvPicPr>
        <p:blipFill>
          <a:blip r:embed="rId3"/>
          <a:stretch>
            <a:fillRect/>
          </a:stretch>
        </p:blipFill>
        <p:spPr>
          <a:xfrm>
            <a:off x="4709418" y="172449"/>
            <a:ext cx="4434582" cy="635000"/>
          </a:xfrm>
          <a:prstGeom prst="rect">
            <a:avLst/>
          </a:prstGeom>
        </p:spPr>
      </p:pic>
      <p:sp>
        <p:nvSpPr>
          <p:cNvPr id="4" name="Slide Number Placeholder 3">
            <a:extLst>
              <a:ext uri="{FF2B5EF4-FFF2-40B4-BE49-F238E27FC236}">
                <a16:creationId xmlns:a16="http://schemas.microsoft.com/office/drawing/2014/main" id="{68A50A8C-FF98-4645-B5A3-CB686D9E024C}"/>
              </a:ext>
            </a:extLst>
          </p:cNvPr>
          <p:cNvSpPr>
            <a:spLocks noGrp="1"/>
          </p:cNvSpPr>
          <p:nvPr>
            <p:ph type="sldNum" sz="quarter" idx="11"/>
          </p:nvPr>
        </p:nvSpPr>
        <p:spPr/>
        <p:txBody>
          <a:bodyPr/>
          <a:lstStyle/>
          <a:p>
            <a:pPr>
              <a:defRPr/>
            </a:pPr>
            <a:fld id="{8E574D81-B5DE-384D-B24B-566C679AE608}" type="slidenum">
              <a:rPr lang="en-US" smtClean="0"/>
              <a:pPr>
                <a:defRPr/>
              </a:pPr>
              <a:t>44</a:t>
            </a:fld>
            <a:endParaRPr lang="en-US"/>
          </a:p>
        </p:txBody>
      </p:sp>
    </p:spTree>
    <p:extLst>
      <p:ext uri="{BB962C8B-B14F-4D97-AF65-F5344CB8AC3E}">
        <p14:creationId xmlns:p14="http://schemas.microsoft.com/office/powerpoint/2010/main" val="28816509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E5A495FE-B8B1-EA4D-B5F4-9E1BDFE165DB}"/>
              </a:ext>
            </a:extLst>
          </p:cNvPr>
          <p:cNvSpPr>
            <a:spLocks noGrp="1" noChangeArrowheads="1"/>
          </p:cNvSpPr>
          <p:nvPr>
            <p:ph type="title"/>
          </p:nvPr>
        </p:nvSpPr>
        <p:spPr/>
        <p:txBody>
          <a:bodyPr/>
          <a:lstStyle/>
          <a:p>
            <a:r>
              <a:rPr lang="en-US" altLang="en-US" dirty="0">
                <a:ea typeface="ＭＳ Ｐゴシック" panose="020B0600070205080204" pitchFamily="34" charset="-128"/>
              </a:rPr>
              <a:t>Comparison of Latency: L1 </a:t>
            </a:r>
            <a:r>
              <a:rPr lang="en-US" altLang="zh-CN" dirty="0">
                <a:ea typeface="ＭＳ Ｐゴシック" panose="020B0600070205080204" pitchFamily="34" charset="-128"/>
              </a:rPr>
              <a:t>of Intel CPU</a:t>
            </a:r>
            <a:endParaRPr lang="en-US" altLang="en-US" dirty="0">
              <a:ea typeface="ＭＳ Ｐゴシック" panose="020B0600070205080204" pitchFamily="34" charset="-128"/>
            </a:endParaRPr>
          </a:p>
        </p:txBody>
      </p:sp>
      <p:sp>
        <p:nvSpPr>
          <p:cNvPr id="99331" name="Slide Number Placeholder 3">
            <a:extLst>
              <a:ext uri="{FF2B5EF4-FFF2-40B4-BE49-F238E27FC236}">
                <a16:creationId xmlns:a16="http://schemas.microsoft.com/office/drawing/2014/main" id="{48DEB986-BA47-764F-B035-375C339C3B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78AF1C8-AC10-B14C-A2C3-A062EA54F209}" type="slidenum">
              <a:rPr lang="en-US" altLang="en-US" sz="1600" smtClean="0">
                <a:solidFill>
                  <a:srgbClr val="000000"/>
                </a:solidFill>
                <a:latin typeface="Garamond" panose="02020404030301010803" pitchFamily="18" charset="0"/>
              </a:rPr>
              <a:pPr eaLnBrk="1" hangingPunct="1">
                <a:spcBef>
                  <a:spcPct val="0"/>
                </a:spcBef>
                <a:buClrTx/>
                <a:buSzTx/>
                <a:buFontTx/>
                <a:buNone/>
              </a:pPr>
              <a:t>45</a:t>
            </a:fld>
            <a:endParaRPr lang="en-US" altLang="en-US" sz="1600">
              <a:solidFill>
                <a:srgbClr val="000000"/>
              </a:solidFill>
              <a:latin typeface="Garamond" panose="02020404030301010803" pitchFamily="18" charset="0"/>
            </a:endParaRPr>
          </a:p>
        </p:txBody>
      </p:sp>
      <p:sp>
        <p:nvSpPr>
          <p:cNvPr id="22" name="矩形 21">
            <a:extLst>
              <a:ext uri="{FF2B5EF4-FFF2-40B4-BE49-F238E27FC236}">
                <a16:creationId xmlns:a16="http://schemas.microsoft.com/office/drawing/2014/main" id="{2BAB851B-132B-405A-B429-19836AD1249D}"/>
              </a:ext>
            </a:extLst>
          </p:cNvPr>
          <p:cNvSpPr/>
          <p:nvPr/>
        </p:nvSpPr>
        <p:spPr>
          <a:xfrm>
            <a:off x="914400" y="1295400"/>
            <a:ext cx="671979" cy="369332"/>
          </a:xfrm>
          <a:prstGeom prst="rect">
            <a:avLst/>
          </a:prstGeom>
        </p:spPr>
        <p:txBody>
          <a:bodyPr wrap="square">
            <a:spAutoFit/>
          </a:bodyPr>
          <a:lstStyle/>
          <a:p>
            <a:r>
              <a:rPr lang="en-US" altLang="en-US" dirty="0" err="1">
                <a:solidFill>
                  <a:srgbClr val="00B050"/>
                </a:solidFill>
              </a:rPr>
              <a:t>Addr</a:t>
            </a:r>
            <a:endParaRPr lang="zh-CN" altLang="en-US" dirty="0">
              <a:solidFill>
                <a:srgbClr val="00B050"/>
              </a:solidFill>
            </a:endParaRPr>
          </a:p>
        </p:txBody>
      </p:sp>
      <p:sp>
        <p:nvSpPr>
          <p:cNvPr id="23" name="矩形 22">
            <a:extLst>
              <a:ext uri="{FF2B5EF4-FFF2-40B4-BE49-F238E27FC236}">
                <a16:creationId xmlns:a16="http://schemas.microsoft.com/office/drawing/2014/main" id="{E24F75C6-1A7D-4583-8E86-314FAC72729D}"/>
              </a:ext>
            </a:extLst>
          </p:cNvPr>
          <p:cNvSpPr/>
          <p:nvPr/>
        </p:nvSpPr>
        <p:spPr>
          <a:xfrm>
            <a:off x="1707590" y="1295400"/>
            <a:ext cx="671979" cy="369332"/>
          </a:xfrm>
          <a:prstGeom prst="rect">
            <a:avLst/>
          </a:prstGeom>
        </p:spPr>
        <p:txBody>
          <a:bodyPr wrap="square">
            <a:spAutoFit/>
          </a:bodyPr>
          <a:lstStyle/>
          <a:p>
            <a:r>
              <a:rPr lang="en-US" altLang="en-US" dirty="0">
                <a:solidFill>
                  <a:srgbClr val="00B050"/>
                </a:solidFill>
              </a:rPr>
              <a:t>Data</a:t>
            </a:r>
            <a:endParaRPr lang="zh-CN" altLang="en-US" dirty="0">
              <a:solidFill>
                <a:srgbClr val="00B050"/>
              </a:solidFill>
            </a:endParaRPr>
          </a:p>
        </p:txBody>
      </p:sp>
      <p:sp>
        <p:nvSpPr>
          <p:cNvPr id="24" name="矩形: 圆角 23">
            <a:extLst>
              <a:ext uri="{FF2B5EF4-FFF2-40B4-BE49-F238E27FC236}">
                <a16:creationId xmlns:a16="http://schemas.microsoft.com/office/drawing/2014/main" id="{C5FE5AD5-F5C3-4EFE-BE1F-E9235CF52C73}"/>
              </a:ext>
            </a:extLst>
          </p:cNvPr>
          <p:cNvSpPr/>
          <p:nvPr/>
        </p:nvSpPr>
        <p:spPr bwMode="auto">
          <a:xfrm>
            <a:off x="306701" y="3773113"/>
            <a:ext cx="2559358" cy="609600"/>
          </a:xfrm>
          <a:prstGeom prst="roundRect">
            <a:avLst/>
          </a:prstGeom>
          <a:solidFill>
            <a:srgbClr val="C0C0C0"/>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Arial" pitchFamily="34" charset="0"/>
              </a:rPr>
              <a:t>Memory</a:t>
            </a:r>
            <a:endParaRPr kumimoji="0" lang="zh-CN" altLang="en-US" sz="1800" b="1" i="0" u="none" strike="noStrike" cap="none" normalizeH="0" baseline="0" dirty="0">
              <a:ln>
                <a:noFill/>
              </a:ln>
              <a:solidFill>
                <a:schemeClr val="tx1"/>
              </a:solidFill>
              <a:effectLst/>
              <a:latin typeface="Arial" pitchFamily="34" charset="0"/>
            </a:endParaRPr>
          </a:p>
        </p:txBody>
      </p:sp>
      <p:sp>
        <p:nvSpPr>
          <p:cNvPr id="25" name="矩形: 圆角 24">
            <a:extLst>
              <a:ext uri="{FF2B5EF4-FFF2-40B4-BE49-F238E27FC236}">
                <a16:creationId xmlns:a16="http://schemas.microsoft.com/office/drawing/2014/main" id="{136416D7-3858-4447-9D4F-52E4E8B85A5A}"/>
              </a:ext>
            </a:extLst>
          </p:cNvPr>
          <p:cNvSpPr/>
          <p:nvPr/>
        </p:nvSpPr>
        <p:spPr bwMode="auto">
          <a:xfrm>
            <a:off x="732459" y="2779112"/>
            <a:ext cx="1752600" cy="369332"/>
          </a:xfrm>
          <a:prstGeom prst="roundRect">
            <a:avLst/>
          </a:prstGeom>
          <a:solidFill>
            <a:schemeClr val="bg2">
              <a:lumMod val="75000"/>
              <a:alpha val="2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eaLnBrk="1" hangingPunct="1"/>
            <a:r>
              <a:rPr lang="en-US" altLang="zh-CN" sz="1600" b="1" dirty="0"/>
              <a:t>L2</a:t>
            </a:r>
            <a:endParaRPr lang="zh-CN" altLang="en-US" sz="1600" b="1" dirty="0"/>
          </a:p>
        </p:txBody>
      </p:sp>
      <p:sp>
        <p:nvSpPr>
          <p:cNvPr id="26" name="矩形: 圆角 25">
            <a:extLst>
              <a:ext uri="{FF2B5EF4-FFF2-40B4-BE49-F238E27FC236}">
                <a16:creationId xmlns:a16="http://schemas.microsoft.com/office/drawing/2014/main" id="{943E5DAB-8CAF-403E-9372-02D6BD93F154}"/>
              </a:ext>
            </a:extLst>
          </p:cNvPr>
          <p:cNvSpPr/>
          <p:nvPr/>
        </p:nvSpPr>
        <p:spPr bwMode="auto">
          <a:xfrm>
            <a:off x="1129179" y="2207696"/>
            <a:ext cx="914401" cy="272551"/>
          </a:xfrm>
          <a:prstGeom prst="roundRect">
            <a:avLst/>
          </a:prstGeom>
          <a:solidFill>
            <a:srgbClr val="C0C0C0">
              <a:alpha val="2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itchFamily="34" charset="0"/>
              </a:rPr>
              <a:t>L1</a:t>
            </a:r>
            <a:endParaRPr kumimoji="0" lang="zh-CN" altLang="en-US" sz="1200" b="1" i="0" u="none" strike="noStrike" cap="none" normalizeH="0" baseline="0" dirty="0">
              <a:ln>
                <a:noFill/>
              </a:ln>
              <a:solidFill>
                <a:schemeClr val="tx1"/>
              </a:solidFill>
              <a:effectLst/>
              <a:latin typeface="Arial" pitchFamily="34" charset="0"/>
            </a:endParaRPr>
          </a:p>
        </p:txBody>
      </p:sp>
      <p:sp>
        <p:nvSpPr>
          <p:cNvPr id="27" name="Oval 1">
            <a:extLst>
              <a:ext uri="{FF2B5EF4-FFF2-40B4-BE49-F238E27FC236}">
                <a16:creationId xmlns:a16="http://schemas.microsoft.com/office/drawing/2014/main" id="{3A981934-D64B-491D-92AD-F0A0E4B2AEA4}"/>
              </a:ext>
            </a:extLst>
          </p:cNvPr>
          <p:cNvSpPr/>
          <p:nvPr/>
        </p:nvSpPr>
        <p:spPr bwMode="auto">
          <a:xfrm>
            <a:off x="1189659" y="1715713"/>
            <a:ext cx="228600" cy="19311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effectLst/>
              <a:latin typeface="Arial" pitchFamily="34" charset="0"/>
            </a:endParaRPr>
          </a:p>
        </p:txBody>
      </p:sp>
      <p:sp>
        <p:nvSpPr>
          <p:cNvPr id="28" name="矩形 27">
            <a:extLst>
              <a:ext uri="{FF2B5EF4-FFF2-40B4-BE49-F238E27FC236}">
                <a16:creationId xmlns:a16="http://schemas.microsoft.com/office/drawing/2014/main" id="{1BE9856B-5210-42A9-94D6-4098420C419D}"/>
              </a:ext>
            </a:extLst>
          </p:cNvPr>
          <p:cNvSpPr/>
          <p:nvPr/>
        </p:nvSpPr>
        <p:spPr>
          <a:xfrm>
            <a:off x="838200" y="5586331"/>
            <a:ext cx="1752600" cy="369332"/>
          </a:xfrm>
          <a:prstGeom prst="rect">
            <a:avLst/>
          </a:prstGeom>
        </p:spPr>
        <p:txBody>
          <a:bodyPr wrap="square">
            <a:spAutoFit/>
          </a:bodyPr>
          <a:lstStyle/>
          <a:p>
            <a:r>
              <a:rPr lang="en-US" altLang="en-US" b="1" dirty="0">
                <a:solidFill>
                  <a:srgbClr val="0432FF"/>
                </a:solidFill>
              </a:rPr>
              <a:t>L1</a:t>
            </a:r>
            <a:r>
              <a:rPr lang="en-US" altLang="en-US" dirty="0">
                <a:solidFill>
                  <a:srgbClr val="0432FF"/>
                </a:solidFill>
              </a:rPr>
              <a:t>: 1 cycle</a:t>
            </a:r>
          </a:p>
        </p:txBody>
      </p:sp>
      <p:sp>
        <p:nvSpPr>
          <p:cNvPr id="13" name="文本框 12">
            <a:extLst>
              <a:ext uri="{FF2B5EF4-FFF2-40B4-BE49-F238E27FC236}">
                <a16:creationId xmlns:a16="http://schemas.microsoft.com/office/drawing/2014/main" id="{B422B388-6065-4A5D-820F-379E723922DB}"/>
              </a:ext>
            </a:extLst>
          </p:cNvPr>
          <p:cNvSpPr txBox="1"/>
          <p:nvPr/>
        </p:nvSpPr>
        <p:spPr>
          <a:xfrm>
            <a:off x="838200" y="4876800"/>
            <a:ext cx="1382110" cy="400110"/>
          </a:xfrm>
          <a:prstGeom prst="rect">
            <a:avLst/>
          </a:prstGeom>
          <a:noFill/>
        </p:spPr>
        <p:txBody>
          <a:bodyPr wrap="none" rtlCol="0">
            <a:spAutoFit/>
          </a:bodyPr>
          <a:lstStyle/>
          <a:p>
            <a:r>
              <a:rPr lang="en-US" altLang="zh-CN" sz="2000" dirty="0">
                <a:solidFill>
                  <a:srgbClr val="C00000"/>
                </a:solidFill>
              </a:rPr>
              <a:t>Really fast</a:t>
            </a:r>
            <a:endParaRPr lang="zh-CN" altLang="en-US" sz="2000" dirty="0">
              <a:solidFill>
                <a:srgbClr val="C00000"/>
              </a:solidFill>
            </a:endParaRPr>
          </a:p>
        </p:txBody>
      </p:sp>
    </p:spTree>
    <p:extLst>
      <p:ext uri="{BB962C8B-B14F-4D97-AF65-F5344CB8AC3E}">
        <p14:creationId xmlns:p14="http://schemas.microsoft.com/office/powerpoint/2010/main" val="39073727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grpId="1" nodeType="clickEffect">
                                  <p:stCondLst>
                                    <p:cond delay="500"/>
                                  </p:stCondLst>
                                  <p:childTnLst>
                                    <p:anim calcmode="discrete" valueType="str">
                                      <p:cBhvr>
                                        <p:cTn id="6" dur="1000" fill="hold"/>
                                        <p:tgtEl>
                                          <p:spTgt spid="27"/>
                                        </p:tgtEl>
                                        <p:attrNameLst>
                                          <p:attrName>style.visibility</p:attrName>
                                        </p:attrNameLst>
                                      </p:cBhvr>
                                      <p:tavLst>
                                        <p:tav tm="0">
                                          <p:val>
                                            <p:strVal val="hidden"/>
                                          </p:val>
                                        </p:tav>
                                        <p:tav tm="50000">
                                          <p:val>
                                            <p:strVal val="visible"/>
                                          </p:val>
                                        </p:tav>
                                      </p:tavLst>
                                    </p:anim>
                                  </p:childTnLst>
                                </p:cTn>
                              </p:par>
                              <p:par>
                                <p:cTn id="7" presetID="37" presetClass="path" presetSubtype="0" accel="50000" decel="50000" fill="hold" grpId="0" nodeType="withEffect">
                                  <p:stCondLst>
                                    <p:cond delay="500"/>
                                  </p:stCondLst>
                                  <p:childTnLst>
                                    <p:animMotion origin="layout" path="M -4.72222E-6 -3.7037E-7 L 0.01719 0.05509 C 0.02084 0.06782 0.02639 0.07477 0.03212 0.07477 C 0.03855 0.07477 0.04375 0.06782 0.0474 0.05509 L 0.06494 -3.7037E-7 " pathEditMode="relative" rAng="0" ptsTypes="AAAAA">
                                      <p:cBhvr>
                                        <p:cTn id="8" dur="1000" fill="hold"/>
                                        <p:tgtEl>
                                          <p:spTgt spid="27"/>
                                        </p:tgtEl>
                                        <p:attrNameLst>
                                          <p:attrName>ppt_x</p:attrName>
                                          <p:attrName>ppt_y</p:attrName>
                                        </p:attrNameLst>
                                      </p:cBhvr>
                                      <p:rCtr x="3247" y="3727"/>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P spid="28" grpId="0"/>
      <p:bldP spid="1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E5A495FE-B8B1-EA4D-B5F4-9E1BDFE165DB}"/>
              </a:ext>
            </a:extLst>
          </p:cNvPr>
          <p:cNvSpPr>
            <a:spLocks noGrp="1" noChangeArrowheads="1"/>
          </p:cNvSpPr>
          <p:nvPr>
            <p:ph type="title"/>
          </p:nvPr>
        </p:nvSpPr>
        <p:spPr/>
        <p:txBody>
          <a:bodyPr/>
          <a:lstStyle/>
          <a:p>
            <a:r>
              <a:rPr lang="en-US" altLang="en-US" dirty="0">
                <a:ea typeface="ＭＳ Ｐゴシック" panose="020B0600070205080204" pitchFamily="34" charset="-128"/>
              </a:rPr>
              <a:t>Comparison of Latency: L2 </a:t>
            </a:r>
            <a:r>
              <a:rPr lang="en-US" altLang="zh-CN" dirty="0">
                <a:ea typeface="ＭＳ Ｐゴシック" panose="020B0600070205080204" pitchFamily="34" charset="-128"/>
              </a:rPr>
              <a:t>of Intel CPU</a:t>
            </a:r>
            <a:endParaRPr lang="en-US" altLang="en-US" dirty="0">
              <a:ea typeface="ＭＳ Ｐゴシック" panose="020B0600070205080204" pitchFamily="34" charset="-128"/>
            </a:endParaRPr>
          </a:p>
        </p:txBody>
      </p:sp>
      <p:sp>
        <p:nvSpPr>
          <p:cNvPr id="99331" name="Slide Number Placeholder 3">
            <a:extLst>
              <a:ext uri="{FF2B5EF4-FFF2-40B4-BE49-F238E27FC236}">
                <a16:creationId xmlns:a16="http://schemas.microsoft.com/office/drawing/2014/main" id="{48DEB986-BA47-764F-B035-375C339C3B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78AF1C8-AC10-B14C-A2C3-A062EA54F209}" type="slidenum">
              <a:rPr lang="en-US" altLang="en-US" sz="1600" smtClean="0">
                <a:solidFill>
                  <a:srgbClr val="000000"/>
                </a:solidFill>
                <a:latin typeface="Garamond" panose="02020404030301010803" pitchFamily="18" charset="0"/>
              </a:rPr>
              <a:pPr eaLnBrk="1" hangingPunct="1">
                <a:spcBef>
                  <a:spcPct val="0"/>
                </a:spcBef>
                <a:buClrTx/>
                <a:buSzTx/>
                <a:buFontTx/>
                <a:buNone/>
              </a:pPr>
              <a:t>46</a:t>
            </a:fld>
            <a:endParaRPr lang="en-US" altLang="en-US" sz="1600">
              <a:solidFill>
                <a:srgbClr val="000000"/>
              </a:solidFill>
              <a:latin typeface="Garamond" panose="02020404030301010803" pitchFamily="18" charset="0"/>
            </a:endParaRPr>
          </a:p>
        </p:txBody>
      </p:sp>
      <p:sp>
        <p:nvSpPr>
          <p:cNvPr id="22" name="矩形 21">
            <a:extLst>
              <a:ext uri="{FF2B5EF4-FFF2-40B4-BE49-F238E27FC236}">
                <a16:creationId xmlns:a16="http://schemas.microsoft.com/office/drawing/2014/main" id="{2BAB851B-132B-405A-B429-19836AD1249D}"/>
              </a:ext>
            </a:extLst>
          </p:cNvPr>
          <p:cNvSpPr/>
          <p:nvPr/>
        </p:nvSpPr>
        <p:spPr>
          <a:xfrm>
            <a:off x="914400" y="1295400"/>
            <a:ext cx="671979" cy="369332"/>
          </a:xfrm>
          <a:prstGeom prst="rect">
            <a:avLst/>
          </a:prstGeom>
        </p:spPr>
        <p:txBody>
          <a:bodyPr wrap="square">
            <a:spAutoFit/>
          </a:bodyPr>
          <a:lstStyle/>
          <a:p>
            <a:r>
              <a:rPr lang="en-US" altLang="en-US" dirty="0" err="1">
                <a:solidFill>
                  <a:srgbClr val="00B050"/>
                </a:solidFill>
              </a:rPr>
              <a:t>Addr</a:t>
            </a:r>
            <a:endParaRPr lang="zh-CN" altLang="en-US" dirty="0">
              <a:solidFill>
                <a:srgbClr val="00B050"/>
              </a:solidFill>
            </a:endParaRPr>
          </a:p>
        </p:txBody>
      </p:sp>
      <p:sp>
        <p:nvSpPr>
          <p:cNvPr id="23" name="矩形 22">
            <a:extLst>
              <a:ext uri="{FF2B5EF4-FFF2-40B4-BE49-F238E27FC236}">
                <a16:creationId xmlns:a16="http://schemas.microsoft.com/office/drawing/2014/main" id="{E24F75C6-1A7D-4583-8E86-314FAC72729D}"/>
              </a:ext>
            </a:extLst>
          </p:cNvPr>
          <p:cNvSpPr/>
          <p:nvPr/>
        </p:nvSpPr>
        <p:spPr>
          <a:xfrm>
            <a:off x="1707590" y="1295400"/>
            <a:ext cx="671979" cy="369332"/>
          </a:xfrm>
          <a:prstGeom prst="rect">
            <a:avLst/>
          </a:prstGeom>
        </p:spPr>
        <p:txBody>
          <a:bodyPr wrap="square">
            <a:spAutoFit/>
          </a:bodyPr>
          <a:lstStyle/>
          <a:p>
            <a:r>
              <a:rPr lang="en-US" altLang="en-US" dirty="0">
                <a:solidFill>
                  <a:srgbClr val="00B050"/>
                </a:solidFill>
              </a:rPr>
              <a:t>Data</a:t>
            </a:r>
            <a:endParaRPr lang="zh-CN" altLang="en-US" dirty="0">
              <a:solidFill>
                <a:srgbClr val="00B050"/>
              </a:solidFill>
            </a:endParaRPr>
          </a:p>
        </p:txBody>
      </p:sp>
      <p:sp>
        <p:nvSpPr>
          <p:cNvPr id="24" name="矩形: 圆角 23">
            <a:extLst>
              <a:ext uri="{FF2B5EF4-FFF2-40B4-BE49-F238E27FC236}">
                <a16:creationId xmlns:a16="http://schemas.microsoft.com/office/drawing/2014/main" id="{C5FE5AD5-F5C3-4EFE-BE1F-E9235CF52C73}"/>
              </a:ext>
            </a:extLst>
          </p:cNvPr>
          <p:cNvSpPr/>
          <p:nvPr/>
        </p:nvSpPr>
        <p:spPr bwMode="auto">
          <a:xfrm>
            <a:off x="306701" y="3773113"/>
            <a:ext cx="2559358" cy="609600"/>
          </a:xfrm>
          <a:prstGeom prst="roundRect">
            <a:avLst/>
          </a:prstGeom>
          <a:solidFill>
            <a:srgbClr val="C0C0C0"/>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Arial" pitchFamily="34" charset="0"/>
              </a:rPr>
              <a:t>Memory</a:t>
            </a:r>
            <a:endParaRPr kumimoji="0" lang="zh-CN" altLang="en-US" sz="1800" b="1" i="0" u="none" strike="noStrike" cap="none" normalizeH="0" baseline="0" dirty="0">
              <a:ln>
                <a:noFill/>
              </a:ln>
              <a:solidFill>
                <a:schemeClr val="tx1"/>
              </a:solidFill>
              <a:effectLst/>
              <a:latin typeface="Arial" pitchFamily="34" charset="0"/>
            </a:endParaRPr>
          </a:p>
        </p:txBody>
      </p:sp>
      <p:sp>
        <p:nvSpPr>
          <p:cNvPr id="25" name="矩形: 圆角 24">
            <a:extLst>
              <a:ext uri="{FF2B5EF4-FFF2-40B4-BE49-F238E27FC236}">
                <a16:creationId xmlns:a16="http://schemas.microsoft.com/office/drawing/2014/main" id="{136416D7-3858-4447-9D4F-52E4E8B85A5A}"/>
              </a:ext>
            </a:extLst>
          </p:cNvPr>
          <p:cNvSpPr/>
          <p:nvPr/>
        </p:nvSpPr>
        <p:spPr bwMode="auto">
          <a:xfrm>
            <a:off x="732459" y="2779112"/>
            <a:ext cx="1752600" cy="369332"/>
          </a:xfrm>
          <a:prstGeom prst="roundRect">
            <a:avLst/>
          </a:prstGeom>
          <a:solidFill>
            <a:schemeClr val="bg2">
              <a:lumMod val="75000"/>
              <a:alpha val="2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eaLnBrk="1" hangingPunct="1"/>
            <a:r>
              <a:rPr lang="en-US" altLang="zh-CN" sz="1600" b="1" dirty="0"/>
              <a:t>L2</a:t>
            </a:r>
            <a:endParaRPr lang="zh-CN" altLang="en-US" sz="1600" b="1" dirty="0"/>
          </a:p>
        </p:txBody>
      </p:sp>
      <p:sp>
        <p:nvSpPr>
          <p:cNvPr id="26" name="矩形: 圆角 25">
            <a:extLst>
              <a:ext uri="{FF2B5EF4-FFF2-40B4-BE49-F238E27FC236}">
                <a16:creationId xmlns:a16="http://schemas.microsoft.com/office/drawing/2014/main" id="{943E5DAB-8CAF-403E-9372-02D6BD93F154}"/>
              </a:ext>
            </a:extLst>
          </p:cNvPr>
          <p:cNvSpPr/>
          <p:nvPr/>
        </p:nvSpPr>
        <p:spPr bwMode="auto">
          <a:xfrm>
            <a:off x="1129179" y="2207696"/>
            <a:ext cx="914401" cy="272551"/>
          </a:xfrm>
          <a:prstGeom prst="roundRect">
            <a:avLst/>
          </a:prstGeom>
          <a:solidFill>
            <a:srgbClr val="C0C0C0">
              <a:alpha val="2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itchFamily="34" charset="0"/>
              </a:rPr>
              <a:t>L1</a:t>
            </a:r>
            <a:endParaRPr kumimoji="0" lang="zh-CN" altLang="en-US" sz="1200" b="1" i="0" u="none" strike="noStrike" cap="none" normalizeH="0" baseline="0" dirty="0">
              <a:ln>
                <a:noFill/>
              </a:ln>
              <a:solidFill>
                <a:schemeClr val="tx1"/>
              </a:solidFill>
              <a:effectLst/>
              <a:latin typeface="Arial" pitchFamily="34" charset="0"/>
            </a:endParaRPr>
          </a:p>
        </p:txBody>
      </p:sp>
      <p:sp>
        <p:nvSpPr>
          <p:cNvPr id="27" name="Oval 1">
            <a:extLst>
              <a:ext uri="{FF2B5EF4-FFF2-40B4-BE49-F238E27FC236}">
                <a16:creationId xmlns:a16="http://schemas.microsoft.com/office/drawing/2014/main" id="{3A981934-D64B-491D-92AD-F0A0E4B2AEA4}"/>
              </a:ext>
            </a:extLst>
          </p:cNvPr>
          <p:cNvSpPr/>
          <p:nvPr/>
        </p:nvSpPr>
        <p:spPr bwMode="auto">
          <a:xfrm>
            <a:off x="1189659" y="1715713"/>
            <a:ext cx="228600" cy="19311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effectLst/>
              <a:latin typeface="Arial" pitchFamily="34" charset="0"/>
            </a:endParaRPr>
          </a:p>
        </p:txBody>
      </p:sp>
      <p:sp>
        <p:nvSpPr>
          <p:cNvPr id="28" name="矩形 27">
            <a:extLst>
              <a:ext uri="{FF2B5EF4-FFF2-40B4-BE49-F238E27FC236}">
                <a16:creationId xmlns:a16="http://schemas.microsoft.com/office/drawing/2014/main" id="{1BE9856B-5210-42A9-94D6-4098420C419D}"/>
              </a:ext>
            </a:extLst>
          </p:cNvPr>
          <p:cNvSpPr/>
          <p:nvPr/>
        </p:nvSpPr>
        <p:spPr>
          <a:xfrm>
            <a:off x="838200" y="5586331"/>
            <a:ext cx="1752600" cy="369332"/>
          </a:xfrm>
          <a:prstGeom prst="rect">
            <a:avLst/>
          </a:prstGeom>
        </p:spPr>
        <p:txBody>
          <a:bodyPr wrap="square">
            <a:spAutoFit/>
          </a:bodyPr>
          <a:lstStyle/>
          <a:p>
            <a:r>
              <a:rPr lang="en-US" altLang="en-US" b="1" dirty="0">
                <a:solidFill>
                  <a:srgbClr val="0432FF"/>
                </a:solidFill>
              </a:rPr>
              <a:t>L1</a:t>
            </a:r>
            <a:r>
              <a:rPr lang="en-US" altLang="en-US" dirty="0">
                <a:solidFill>
                  <a:srgbClr val="0432FF"/>
                </a:solidFill>
              </a:rPr>
              <a:t>: 1 cycle</a:t>
            </a:r>
          </a:p>
        </p:txBody>
      </p:sp>
      <p:sp>
        <p:nvSpPr>
          <p:cNvPr id="13" name="文本框 12">
            <a:extLst>
              <a:ext uri="{FF2B5EF4-FFF2-40B4-BE49-F238E27FC236}">
                <a16:creationId xmlns:a16="http://schemas.microsoft.com/office/drawing/2014/main" id="{B422B388-6065-4A5D-820F-379E723922DB}"/>
              </a:ext>
            </a:extLst>
          </p:cNvPr>
          <p:cNvSpPr txBox="1"/>
          <p:nvPr/>
        </p:nvSpPr>
        <p:spPr>
          <a:xfrm>
            <a:off x="838200" y="4876800"/>
            <a:ext cx="1382110" cy="400110"/>
          </a:xfrm>
          <a:prstGeom prst="rect">
            <a:avLst/>
          </a:prstGeom>
          <a:noFill/>
        </p:spPr>
        <p:txBody>
          <a:bodyPr wrap="none" rtlCol="0">
            <a:spAutoFit/>
          </a:bodyPr>
          <a:lstStyle/>
          <a:p>
            <a:r>
              <a:rPr lang="en-US" altLang="zh-CN" sz="2000" dirty="0">
                <a:solidFill>
                  <a:srgbClr val="C00000"/>
                </a:solidFill>
              </a:rPr>
              <a:t>Really fast</a:t>
            </a:r>
            <a:endParaRPr lang="zh-CN" altLang="en-US" sz="2000" dirty="0">
              <a:solidFill>
                <a:srgbClr val="C00000"/>
              </a:solidFill>
            </a:endParaRPr>
          </a:p>
        </p:txBody>
      </p:sp>
      <p:sp>
        <p:nvSpPr>
          <p:cNvPr id="12" name="Rectangle">
            <a:extLst>
              <a:ext uri="{FF2B5EF4-FFF2-40B4-BE49-F238E27FC236}">
                <a16:creationId xmlns:a16="http://schemas.microsoft.com/office/drawing/2014/main" id="{4232C7BA-4DFD-4E79-BCBD-D004C8B2AE6F}"/>
              </a:ext>
            </a:extLst>
          </p:cNvPr>
          <p:cNvSpPr/>
          <p:nvPr/>
        </p:nvSpPr>
        <p:spPr>
          <a:xfrm>
            <a:off x="162671" y="1143000"/>
            <a:ext cx="2809129" cy="5105400"/>
          </a:xfrm>
          <a:prstGeom prst="rect">
            <a:avLst/>
          </a:prstGeom>
          <a:solidFill>
            <a:srgbClr val="FFFFFF">
              <a:alpha val="84174"/>
            </a:srgbClr>
          </a:solidFill>
          <a:ln w="12700">
            <a:miter lim="400000"/>
          </a:ln>
        </p:spPr>
        <p:txBody>
          <a:bodyPr lIns="45719" rIns="45719" anchor="ctr"/>
          <a:lstStyle/>
          <a:p>
            <a:endParaRPr/>
          </a:p>
        </p:txBody>
      </p:sp>
      <p:sp>
        <p:nvSpPr>
          <p:cNvPr id="14" name="矩形: 圆角 13">
            <a:extLst>
              <a:ext uri="{FF2B5EF4-FFF2-40B4-BE49-F238E27FC236}">
                <a16:creationId xmlns:a16="http://schemas.microsoft.com/office/drawing/2014/main" id="{EC0A2700-7B7C-4BB6-9E45-34A1C873B226}"/>
              </a:ext>
            </a:extLst>
          </p:cNvPr>
          <p:cNvSpPr/>
          <p:nvPr/>
        </p:nvSpPr>
        <p:spPr bwMode="auto">
          <a:xfrm>
            <a:off x="3285599" y="3773113"/>
            <a:ext cx="2559358" cy="609600"/>
          </a:xfrm>
          <a:prstGeom prst="roundRect">
            <a:avLst/>
          </a:prstGeom>
          <a:solidFill>
            <a:srgbClr val="C0C0C0"/>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Arial" pitchFamily="34" charset="0"/>
              </a:rPr>
              <a:t>Memory</a:t>
            </a:r>
            <a:endParaRPr kumimoji="0" lang="zh-CN" altLang="en-US" sz="1800" b="1" i="0" u="none" strike="noStrike" cap="none" normalizeH="0" baseline="0" dirty="0">
              <a:ln>
                <a:noFill/>
              </a:ln>
              <a:solidFill>
                <a:schemeClr val="tx1"/>
              </a:solidFill>
              <a:effectLst/>
              <a:latin typeface="Arial" pitchFamily="34" charset="0"/>
            </a:endParaRPr>
          </a:p>
        </p:txBody>
      </p:sp>
      <p:sp>
        <p:nvSpPr>
          <p:cNvPr id="15" name="矩形: 圆角 14">
            <a:extLst>
              <a:ext uri="{FF2B5EF4-FFF2-40B4-BE49-F238E27FC236}">
                <a16:creationId xmlns:a16="http://schemas.microsoft.com/office/drawing/2014/main" id="{ABDA7516-88C3-43E9-A702-2624ACF2BF1E}"/>
              </a:ext>
            </a:extLst>
          </p:cNvPr>
          <p:cNvSpPr/>
          <p:nvPr/>
        </p:nvSpPr>
        <p:spPr bwMode="auto">
          <a:xfrm>
            <a:off x="3711357" y="2779112"/>
            <a:ext cx="1752600" cy="369332"/>
          </a:xfrm>
          <a:prstGeom prst="roundRect">
            <a:avLst/>
          </a:prstGeom>
          <a:solidFill>
            <a:schemeClr val="bg2">
              <a:lumMod val="75000"/>
              <a:alpha val="2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eaLnBrk="1" hangingPunct="1"/>
            <a:r>
              <a:rPr lang="en-US" altLang="zh-CN" sz="1600" b="1" dirty="0"/>
              <a:t>L2</a:t>
            </a:r>
            <a:endParaRPr lang="zh-CN" altLang="en-US" sz="1600" b="1" dirty="0"/>
          </a:p>
        </p:txBody>
      </p:sp>
      <p:sp>
        <p:nvSpPr>
          <p:cNvPr id="16" name="矩形: 圆角 15">
            <a:extLst>
              <a:ext uri="{FF2B5EF4-FFF2-40B4-BE49-F238E27FC236}">
                <a16:creationId xmlns:a16="http://schemas.microsoft.com/office/drawing/2014/main" id="{E5DCAADD-0EAA-4318-98F0-6F4DAF5918B3}"/>
              </a:ext>
            </a:extLst>
          </p:cNvPr>
          <p:cNvSpPr/>
          <p:nvPr/>
        </p:nvSpPr>
        <p:spPr bwMode="auto">
          <a:xfrm>
            <a:off x="4108077" y="2207696"/>
            <a:ext cx="914401" cy="272551"/>
          </a:xfrm>
          <a:prstGeom prst="roundRect">
            <a:avLst/>
          </a:prstGeom>
          <a:solidFill>
            <a:srgbClr val="C0C0C0">
              <a:alpha val="2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itchFamily="34" charset="0"/>
              </a:rPr>
              <a:t>L1</a:t>
            </a:r>
            <a:endParaRPr kumimoji="0" lang="zh-CN" altLang="en-US" sz="1200" b="1" i="0" u="none" strike="noStrike" cap="none" normalizeH="0" baseline="0" dirty="0">
              <a:ln>
                <a:noFill/>
              </a:ln>
              <a:solidFill>
                <a:schemeClr val="tx1"/>
              </a:solidFill>
              <a:effectLst/>
              <a:latin typeface="Arial" pitchFamily="34" charset="0"/>
            </a:endParaRPr>
          </a:p>
        </p:txBody>
      </p:sp>
      <p:sp>
        <p:nvSpPr>
          <p:cNvPr id="17" name="Oval 1">
            <a:extLst>
              <a:ext uri="{FF2B5EF4-FFF2-40B4-BE49-F238E27FC236}">
                <a16:creationId xmlns:a16="http://schemas.microsoft.com/office/drawing/2014/main" id="{170BB13A-8678-4E04-8720-A856BE30FC0B}"/>
              </a:ext>
            </a:extLst>
          </p:cNvPr>
          <p:cNvSpPr/>
          <p:nvPr/>
        </p:nvSpPr>
        <p:spPr bwMode="auto">
          <a:xfrm>
            <a:off x="4168557" y="1715713"/>
            <a:ext cx="228600" cy="19311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effectLst/>
              <a:latin typeface="Arial" pitchFamily="34" charset="0"/>
            </a:endParaRPr>
          </a:p>
        </p:txBody>
      </p:sp>
      <p:sp>
        <p:nvSpPr>
          <p:cNvPr id="18" name="矩形 17">
            <a:extLst>
              <a:ext uri="{FF2B5EF4-FFF2-40B4-BE49-F238E27FC236}">
                <a16:creationId xmlns:a16="http://schemas.microsoft.com/office/drawing/2014/main" id="{CB19F8B0-A13A-48B0-AAAC-AC65CDDDBBED}"/>
              </a:ext>
            </a:extLst>
          </p:cNvPr>
          <p:cNvSpPr/>
          <p:nvPr/>
        </p:nvSpPr>
        <p:spPr>
          <a:xfrm>
            <a:off x="3832567" y="1295400"/>
            <a:ext cx="671979" cy="369332"/>
          </a:xfrm>
          <a:prstGeom prst="rect">
            <a:avLst/>
          </a:prstGeom>
        </p:spPr>
        <p:txBody>
          <a:bodyPr wrap="none">
            <a:spAutoFit/>
          </a:bodyPr>
          <a:lstStyle/>
          <a:p>
            <a:r>
              <a:rPr lang="en-US" altLang="en-US" dirty="0" err="1">
                <a:solidFill>
                  <a:srgbClr val="00B050"/>
                </a:solidFill>
              </a:rPr>
              <a:t>Addr</a:t>
            </a:r>
            <a:endParaRPr lang="zh-CN" altLang="en-US" dirty="0">
              <a:solidFill>
                <a:srgbClr val="00B050"/>
              </a:solidFill>
            </a:endParaRPr>
          </a:p>
        </p:txBody>
      </p:sp>
      <p:sp>
        <p:nvSpPr>
          <p:cNvPr id="19" name="矩形 18">
            <a:extLst>
              <a:ext uri="{FF2B5EF4-FFF2-40B4-BE49-F238E27FC236}">
                <a16:creationId xmlns:a16="http://schemas.microsoft.com/office/drawing/2014/main" id="{8128569D-6A38-4ADC-833A-C90746DB125D}"/>
              </a:ext>
            </a:extLst>
          </p:cNvPr>
          <p:cNvSpPr/>
          <p:nvPr/>
        </p:nvSpPr>
        <p:spPr>
          <a:xfrm>
            <a:off x="4625757" y="1295400"/>
            <a:ext cx="671979" cy="369332"/>
          </a:xfrm>
          <a:prstGeom prst="rect">
            <a:avLst/>
          </a:prstGeom>
        </p:spPr>
        <p:txBody>
          <a:bodyPr wrap="none">
            <a:spAutoFit/>
          </a:bodyPr>
          <a:lstStyle/>
          <a:p>
            <a:r>
              <a:rPr lang="en-US" altLang="en-US" dirty="0">
                <a:solidFill>
                  <a:srgbClr val="00B050"/>
                </a:solidFill>
              </a:rPr>
              <a:t>Data</a:t>
            </a:r>
            <a:endParaRPr lang="zh-CN" altLang="en-US" dirty="0">
              <a:solidFill>
                <a:srgbClr val="00B050"/>
              </a:solidFill>
            </a:endParaRPr>
          </a:p>
        </p:txBody>
      </p:sp>
      <p:sp>
        <p:nvSpPr>
          <p:cNvPr id="20" name="文本框 19">
            <a:extLst>
              <a:ext uri="{FF2B5EF4-FFF2-40B4-BE49-F238E27FC236}">
                <a16:creationId xmlns:a16="http://schemas.microsoft.com/office/drawing/2014/main" id="{6269985E-5069-4EBF-953D-8AA36F1CA517}"/>
              </a:ext>
            </a:extLst>
          </p:cNvPr>
          <p:cNvSpPr txBox="1"/>
          <p:nvPr/>
        </p:nvSpPr>
        <p:spPr>
          <a:xfrm>
            <a:off x="4005460" y="4876800"/>
            <a:ext cx="1266693" cy="400110"/>
          </a:xfrm>
          <a:prstGeom prst="rect">
            <a:avLst/>
          </a:prstGeom>
          <a:noFill/>
        </p:spPr>
        <p:txBody>
          <a:bodyPr wrap="none" rtlCol="0">
            <a:spAutoFit/>
          </a:bodyPr>
          <a:lstStyle/>
          <a:p>
            <a:r>
              <a:rPr lang="en-US" altLang="zh-CN" sz="2000" dirty="0">
                <a:solidFill>
                  <a:srgbClr val="C00000"/>
                </a:solidFill>
              </a:rPr>
              <a:t>Moderate</a:t>
            </a:r>
            <a:endParaRPr lang="zh-CN" altLang="en-US" sz="2000" dirty="0">
              <a:solidFill>
                <a:srgbClr val="C00000"/>
              </a:solidFill>
            </a:endParaRPr>
          </a:p>
        </p:txBody>
      </p:sp>
      <p:sp>
        <p:nvSpPr>
          <p:cNvPr id="21" name="矩形 20">
            <a:extLst>
              <a:ext uri="{FF2B5EF4-FFF2-40B4-BE49-F238E27FC236}">
                <a16:creationId xmlns:a16="http://schemas.microsoft.com/office/drawing/2014/main" id="{23C242A6-441F-4D95-865F-EA872F7816C5}"/>
              </a:ext>
            </a:extLst>
          </p:cNvPr>
          <p:cNvSpPr/>
          <p:nvPr/>
        </p:nvSpPr>
        <p:spPr>
          <a:xfrm>
            <a:off x="3832567" y="5581251"/>
            <a:ext cx="2094591" cy="369332"/>
          </a:xfrm>
          <a:prstGeom prst="rect">
            <a:avLst/>
          </a:prstGeom>
        </p:spPr>
        <p:txBody>
          <a:bodyPr wrap="square">
            <a:spAutoFit/>
          </a:bodyPr>
          <a:lstStyle/>
          <a:p>
            <a:r>
              <a:rPr lang="en-US" altLang="en-US" b="1" dirty="0">
                <a:solidFill>
                  <a:srgbClr val="0432FF"/>
                </a:solidFill>
              </a:rPr>
              <a:t>L2</a:t>
            </a:r>
            <a:r>
              <a:rPr lang="en-US" altLang="en-US" dirty="0">
                <a:solidFill>
                  <a:srgbClr val="0432FF"/>
                </a:solidFill>
              </a:rPr>
              <a:t>: 14 cycles</a:t>
            </a:r>
          </a:p>
        </p:txBody>
      </p:sp>
    </p:spTree>
    <p:extLst>
      <p:ext uri="{BB962C8B-B14F-4D97-AF65-F5344CB8AC3E}">
        <p14:creationId xmlns:p14="http://schemas.microsoft.com/office/powerpoint/2010/main" val="13415409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14000" fill="hold" grpId="1" nodeType="clickEffect">
                                  <p:stCondLst>
                                    <p:cond delay="500"/>
                                  </p:stCondLst>
                                  <p:childTnLst>
                                    <p:anim calcmode="discrete" valueType="str">
                                      <p:cBhvr>
                                        <p:cTn id="6" dur="500" fill="hold"/>
                                        <p:tgtEl>
                                          <p:spTgt spid="17"/>
                                        </p:tgtEl>
                                        <p:attrNameLst>
                                          <p:attrName>style.visibility</p:attrName>
                                        </p:attrNameLst>
                                      </p:cBhvr>
                                      <p:tavLst>
                                        <p:tav tm="0">
                                          <p:val>
                                            <p:strVal val="hidden"/>
                                          </p:val>
                                        </p:tav>
                                        <p:tav tm="50000">
                                          <p:val>
                                            <p:strVal val="visible"/>
                                          </p:val>
                                        </p:tav>
                                      </p:tavLst>
                                    </p:anim>
                                  </p:childTnLst>
                                </p:cTn>
                              </p:par>
                              <p:par>
                                <p:cTn id="7" presetID="37" presetClass="path" presetSubtype="0" accel="50000" decel="50000" fill="hold" grpId="0" nodeType="withEffect">
                                  <p:stCondLst>
                                    <p:cond delay="0"/>
                                  </p:stCondLst>
                                  <p:childTnLst>
                                    <p:animMotion origin="layout" path="M -2.77778E-6 -3.7037E-7 L 0.01719 0.10394 C 0.02084 0.12755 0.02639 0.14051 0.03212 0.14051 C 0.03854 0.14051 0.04375 0.12755 0.0474 0.10394 L 0.06493 -3.7037E-7 " pathEditMode="relative" rAng="0" ptsTypes="AAAAA">
                                      <p:cBhvr>
                                        <p:cTn id="8" dur="7000" fill="hold"/>
                                        <p:tgtEl>
                                          <p:spTgt spid="17"/>
                                        </p:tgtEl>
                                        <p:attrNameLst>
                                          <p:attrName>ppt_x</p:attrName>
                                          <p:attrName>ppt_y</p:attrName>
                                        </p:attrNameLst>
                                      </p:cBhvr>
                                      <p:rCtr x="3247" y="7014"/>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20" grpId="0"/>
      <p:bldP spid="2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E5A495FE-B8B1-EA4D-B5F4-9E1BDFE165DB}"/>
              </a:ext>
            </a:extLst>
          </p:cNvPr>
          <p:cNvSpPr>
            <a:spLocks noGrp="1" noChangeArrowheads="1"/>
          </p:cNvSpPr>
          <p:nvPr>
            <p:ph type="title"/>
          </p:nvPr>
        </p:nvSpPr>
        <p:spPr/>
        <p:txBody>
          <a:bodyPr/>
          <a:lstStyle/>
          <a:p>
            <a:r>
              <a:rPr lang="en-US" altLang="en-US" sz="3600" dirty="0">
                <a:ea typeface="ＭＳ Ｐゴシック" panose="020B0600070205080204" pitchFamily="34" charset="-128"/>
              </a:rPr>
              <a:t>Comparison of Latency: </a:t>
            </a:r>
            <a:r>
              <a:rPr lang="en-US" altLang="zh-CN" sz="3600" dirty="0">
                <a:ea typeface="ＭＳ Ｐゴシック" panose="020B0600070205080204" pitchFamily="34" charset="-128"/>
              </a:rPr>
              <a:t>Memory</a:t>
            </a:r>
            <a:r>
              <a:rPr lang="en-US" altLang="en-US" sz="3600" dirty="0">
                <a:ea typeface="ＭＳ Ｐゴシック" panose="020B0600070205080204" pitchFamily="34" charset="-128"/>
              </a:rPr>
              <a:t> </a:t>
            </a:r>
            <a:r>
              <a:rPr lang="en-US" altLang="zh-CN" sz="3600" dirty="0">
                <a:ea typeface="ＭＳ Ｐゴシック" panose="020B0600070205080204" pitchFamily="34" charset="-128"/>
              </a:rPr>
              <a:t>of Intel CPU</a:t>
            </a:r>
            <a:endParaRPr lang="en-US" altLang="en-US" sz="3600" dirty="0">
              <a:ea typeface="ＭＳ Ｐゴシック" panose="020B0600070205080204" pitchFamily="34" charset="-128"/>
            </a:endParaRPr>
          </a:p>
        </p:txBody>
      </p:sp>
      <p:sp>
        <p:nvSpPr>
          <p:cNvPr id="99331" name="Slide Number Placeholder 3">
            <a:extLst>
              <a:ext uri="{FF2B5EF4-FFF2-40B4-BE49-F238E27FC236}">
                <a16:creationId xmlns:a16="http://schemas.microsoft.com/office/drawing/2014/main" id="{48DEB986-BA47-764F-B035-375C339C3B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78AF1C8-AC10-B14C-A2C3-A062EA54F209}" type="slidenum">
              <a:rPr lang="en-US" altLang="en-US" sz="1600" smtClean="0">
                <a:solidFill>
                  <a:srgbClr val="000000"/>
                </a:solidFill>
                <a:latin typeface="Garamond" panose="02020404030301010803" pitchFamily="18" charset="0"/>
              </a:rPr>
              <a:pPr eaLnBrk="1" hangingPunct="1">
                <a:spcBef>
                  <a:spcPct val="0"/>
                </a:spcBef>
                <a:buClrTx/>
                <a:buSzTx/>
                <a:buFontTx/>
                <a:buNone/>
              </a:pPr>
              <a:t>47</a:t>
            </a:fld>
            <a:endParaRPr lang="en-US" altLang="en-US" sz="1600">
              <a:solidFill>
                <a:srgbClr val="000000"/>
              </a:solidFill>
              <a:latin typeface="Garamond" panose="02020404030301010803" pitchFamily="18" charset="0"/>
            </a:endParaRPr>
          </a:p>
        </p:txBody>
      </p:sp>
      <p:sp>
        <p:nvSpPr>
          <p:cNvPr id="22" name="矩形 21">
            <a:extLst>
              <a:ext uri="{FF2B5EF4-FFF2-40B4-BE49-F238E27FC236}">
                <a16:creationId xmlns:a16="http://schemas.microsoft.com/office/drawing/2014/main" id="{2BAB851B-132B-405A-B429-19836AD1249D}"/>
              </a:ext>
            </a:extLst>
          </p:cNvPr>
          <p:cNvSpPr/>
          <p:nvPr/>
        </p:nvSpPr>
        <p:spPr>
          <a:xfrm>
            <a:off x="914400" y="1295400"/>
            <a:ext cx="671979" cy="369332"/>
          </a:xfrm>
          <a:prstGeom prst="rect">
            <a:avLst/>
          </a:prstGeom>
        </p:spPr>
        <p:txBody>
          <a:bodyPr wrap="square">
            <a:spAutoFit/>
          </a:bodyPr>
          <a:lstStyle/>
          <a:p>
            <a:r>
              <a:rPr lang="en-US" altLang="en-US" dirty="0" err="1">
                <a:solidFill>
                  <a:srgbClr val="00B050"/>
                </a:solidFill>
              </a:rPr>
              <a:t>Addr</a:t>
            </a:r>
            <a:endParaRPr lang="zh-CN" altLang="en-US" dirty="0">
              <a:solidFill>
                <a:srgbClr val="00B050"/>
              </a:solidFill>
            </a:endParaRPr>
          </a:p>
        </p:txBody>
      </p:sp>
      <p:sp>
        <p:nvSpPr>
          <p:cNvPr id="23" name="矩形 22">
            <a:extLst>
              <a:ext uri="{FF2B5EF4-FFF2-40B4-BE49-F238E27FC236}">
                <a16:creationId xmlns:a16="http://schemas.microsoft.com/office/drawing/2014/main" id="{E24F75C6-1A7D-4583-8E86-314FAC72729D}"/>
              </a:ext>
            </a:extLst>
          </p:cNvPr>
          <p:cNvSpPr/>
          <p:nvPr/>
        </p:nvSpPr>
        <p:spPr>
          <a:xfrm>
            <a:off x="1707590" y="1295400"/>
            <a:ext cx="671979" cy="369332"/>
          </a:xfrm>
          <a:prstGeom prst="rect">
            <a:avLst/>
          </a:prstGeom>
        </p:spPr>
        <p:txBody>
          <a:bodyPr wrap="square">
            <a:spAutoFit/>
          </a:bodyPr>
          <a:lstStyle/>
          <a:p>
            <a:r>
              <a:rPr lang="en-US" altLang="en-US" dirty="0">
                <a:solidFill>
                  <a:srgbClr val="00B050"/>
                </a:solidFill>
              </a:rPr>
              <a:t>Data</a:t>
            </a:r>
            <a:endParaRPr lang="zh-CN" altLang="en-US" dirty="0">
              <a:solidFill>
                <a:srgbClr val="00B050"/>
              </a:solidFill>
            </a:endParaRPr>
          </a:p>
        </p:txBody>
      </p:sp>
      <p:sp>
        <p:nvSpPr>
          <p:cNvPr id="24" name="矩形: 圆角 23">
            <a:extLst>
              <a:ext uri="{FF2B5EF4-FFF2-40B4-BE49-F238E27FC236}">
                <a16:creationId xmlns:a16="http://schemas.microsoft.com/office/drawing/2014/main" id="{C5FE5AD5-F5C3-4EFE-BE1F-E9235CF52C73}"/>
              </a:ext>
            </a:extLst>
          </p:cNvPr>
          <p:cNvSpPr/>
          <p:nvPr/>
        </p:nvSpPr>
        <p:spPr bwMode="auto">
          <a:xfrm>
            <a:off x="306701" y="3773113"/>
            <a:ext cx="2559358" cy="609600"/>
          </a:xfrm>
          <a:prstGeom prst="roundRect">
            <a:avLst/>
          </a:prstGeom>
          <a:solidFill>
            <a:srgbClr val="C0C0C0"/>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Arial" pitchFamily="34" charset="0"/>
              </a:rPr>
              <a:t>Memory</a:t>
            </a:r>
            <a:endParaRPr kumimoji="0" lang="zh-CN" altLang="en-US" sz="1800" b="1" i="0" u="none" strike="noStrike" cap="none" normalizeH="0" baseline="0" dirty="0">
              <a:ln>
                <a:noFill/>
              </a:ln>
              <a:solidFill>
                <a:schemeClr val="tx1"/>
              </a:solidFill>
              <a:effectLst/>
              <a:latin typeface="Arial" pitchFamily="34" charset="0"/>
            </a:endParaRPr>
          </a:p>
        </p:txBody>
      </p:sp>
      <p:sp>
        <p:nvSpPr>
          <p:cNvPr id="25" name="矩形: 圆角 24">
            <a:extLst>
              <a:ext uri="{FF2B5EF4-FFF2-40B4-BE49-F238E27FC236}">
                <a16:creationId xmlns:a16="http://schemas.microsoft.com/office/drawing/2014/main" id="{136416D7-3858-4447-9D4F-52E4E8B85A5A}"/>
              </a:ext>
            </a:extLst>
          </p:cNvPr>
          <p:cNvSpPr/>
          <p:nvPr/>
        </p:nvSpPr>
        <p:spPr bwMode="auto">
          <a:xfrm>
            <a:off x="732459" y="2779112"/>
            <a:ext cx="1752600" cy="369332"/>
          </a:xfrm>
          <a:prstGeom prst="roundRect">
            <a:avLst/>
          </a:prstGeom>
          <a:solidFill>
            <a:schemeClr val="bg2">
              <a:lumMod val="75000"/>
              <a:alpha val="2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eaLnBrk="1" hangingPunct="1"/>
            <a:r>
              <a:rPr lang="en-US" altLang="zh-CN" sz="1600" b="1" dirty="0"/>
              <a:t>L2</a:t>
            </a:r>
            <a:endParaRPr lang="zh-CN" altLang="en-US" sz="1600" b="1" dirty="0"/>
          </a:p>
        </p:txBody>
      </p:sp>
      <p:sp>
        <p:nvSpPr>
          <p:cNvPr id="26" name="矩形: 圆角 25">
            <a:extLst>
              <a:ext uri="{FF2B5EF4-FFF2-40B4-BE49-F238E27FC236}">
                <a16:creationId xmlns:a16="http://schemas.microsoft.com/office/drawing/2014/main" id="{943E5DAB-8CAF-403E-9372-02D6BD93F154}"/>
              </a:ext>
            </a:extLst>
          </p:cNvPr>
          <p:cNvSpPr/>
          <p:nvPr/>
        </p:nvSpPr>
        <p:spPr bwMode="auto">
          <a:xfrm>
            <a:off x="1129179" y="2207696"/>
            <a:ext cx="914401" cy="272551"/>
          </a:xfrm>
          <a:prstGeom prst="roundRect">
            <a:avLst/>
          </a:prstGeom>
          <a:solidFill>
            <a:srgbClr val="C0C0C0">
              <a:alpha val="2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itchFamily="34" charset="0"/>
              </a:rPr>
              <a:t>L1</a:t>
            </a:r>
            <a:endParaRPr kumimoji="0" lang="zh-CN" altLang="en-US" sz="1200" b="1" i="0" u="none" strike="noStrike" cap="none" normalizeH="0" baseline="0" dirty="0">
              <a:ln>
                <a:noFill/>
              </a:ln>
              <a:solidFill>
                <a:schemeClr val="tx1"/>
              </a:solidFill>
              <a:effectLst/>
              <a:latin typeface="Arial" pitchFamily="34" charset="0"/>
            </a:endParaRPr>
          </a:p>
        </p:txBody>
      </p:sp>
      <p:sp>
        <p:nvSpPr>
          <p:cNvPr id="27" name="Oval 1">
            <a:extLst>
              <a:ext uri="{FF2B5EF4-FFF2-40B4-BE49-F238E27FC236}">
                <a16:creationId xmlns:a16="http://schemas.microsoft.com/office/drawing/2014/main" id="{3A981934-D64B-491D-92AD-F0A0E4B2AEA4}"/>
              </a:ext>
            </a:extLst>
          </p:cNvPr>
          <p:cNvSpPr/>
          <p:nvPr/>
        </p:nvSpPr>
        <p:spPr bwMode="auto">
          <a:xfrm>
            <a:off x="1189659" y="1715713"/>
            <a:ext cx="228600" cy="19311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effectLst/>
              <a:latin typeface="Arial" pitchFamily="34" charset="0"/>
            </a:endParaRPr>
          </a:p>
        </p:txBody>
      </p:sp>
      <p:sp>
        <p:nvSpPr>
          <p:cNvPr id="28" name="矩形 27">
            <a:extLst>
              <a:ext uri="{FF2B5EF4-FFF2-40B4-BE49-F238E27FC236}">
                <a16:creationId xmlns:a16="http://schemas.microsoft.com/office/drawing/2014/main" id="{1BE9856B-5210-42A9-94D6-4098420C419D}"/>
              </a:ext>
            </a:extLst>
          </p:cNvPr>
          <p:cNvSpPr/>
          <p:nvPr/>
        </p:nvSpPr>
        <p:spPr>
          <a:xfrm>
            <a:off x="838200" y="5586331"/>
            <a:ext cx="1752600" cy="369332"/>
          </a:xfrm>
          <a:prstGeom prst="rect">
            <a:avLst/>
          </a:prstGeom>
        </p:spPr>
        <p:txBody>
          <a:bodyPr wrap="square">
            <a:spAutoFit/>
          </a:bodyPr>
          <a:lstStyle/>
          <a:p>
            <a:r>
              <a:rPr lang="en-US" altLang="en-US" b="1" dirty="0">
                <a:solidFill>
                  <a:srgbClr val="0432FF"/>
                </a:solidFill>
              </a:rPr>
              <a:t>L1</a:t>
            </a:r>
            <a:r>
              <a:rPr lang="en-US" altLang="en-US" dirty="0">
                <a:solidFill>
                  <a:srgbClr val="0432FF"/>
                </a:solidFill>
              </a:rPr>
              <a:t>: 1 cycle</a:t>
            </a:r>
          </a:p>
        </p:txBody>
      </p:sp>
      <p:sp>
        <p:nvSpPr>
          <p:cNvPr id="13" name="文本框 12">
            <a:extLst>
              <a:ext uri="{FF2B5EF4-FFF2-40B4-BE49-F238E27FC236}">
                <a16:creationId xmlns:a16="http://schemas.microsoft.com/office/drawing/2014/main" id="{B422B388-6065-4A5D-820F-379E723922DB}"/>
              </a:ext>
            </a:extLst>
          </p:cNvPr>
          <p:cNvSpPr txBox="1"/>
          <p:nvPr/>
        </p:nvSpPr>
        <p:spPr>
          <a:xfrm>
            <a:off x="838200" y="4876800"/>
            <a:ext cx="1382110" cy="400110"/>
          </a:xfrm>
          <a:prstGeom prst="rect">
            <a:avLst/>
          </a:prstGeom>
          <a:noFill/>
        </p:spPr>
        <p:txBody>
          <a:bodyPr wrap="none" rtlCol="0">
            <a:spAutoFit/>
          </a:bodyPr>
          <a:lstStyle/>
          <a:p>
            <a:r>
              <a:rPr lang="en-US" altLang="zh-CN" sz="2000" dirty="0">
                <a:solidFill>
                  <a:srgbClr val="C00000"/>
                </a:solidFill>
              </a:rPr>
              <a:t>Really fast</a:t>
            </a:r>
            <a:endParaRPr lang="zh-CN" altLang="en-US" sz="2000" dirty="0">
              <a:solidFill>
                <a:srgbClr val="C00000"/>
              </a:solidFill>
            </a:endParaRPr>
          </a:p>
        </p:txBody>
      </p:sp>
      <p:sp>
        <p:nvSpPr>
          <p:cNvPr id="14" name="矩形: 圆角 13">
            <a:extLst>
              <a:ext uri="{FF2B5EF4-FFF2-40B4-BE49-F238E27FC236}">
                <a16:creationId xmlns:a16="http://schemas.microsoft.com/office/drawing/2014/main" id="{EC0A2700-7B7C-4BB6-9E45-34A1C873B226}"/>
              </a:ext>
            </a:extLst>
          </p:cNvPr>
          <p:cNvSpPr/>
          <p:nvPr/>
        </p:nvSpPr>
        <p:spPr bwMode="auto">
          <a:xfrm>
            <a:off x="3285599" y="3773113"/>
            <a:ext cx="2559358" cy="609600"/>
          </a:xfrm>
          <a:prstGeom prst="roundRect">
            <a:avLst/>
          </a:prstGeom>
          <a:solidFill>
            <a:srgbClr val="C0C0C0"/>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Arial" pitchFamily="34" charset="0"/>
              </a:rPr>
              <a:t>Memory</a:t>
            </a:r>
            <a:endParaRPr kumimoji="0" lang="zh-CN" altLang="en-US" sz="1800" b="1" i="0" u="none" strike="noStrike" cap="none" normalizeH="0" baseline="0" dirty="0">
              <a:ln>
                <a:noFill/>
              </a:ln>
              <a:solidFill>
                <a:schemeClr val="tx1"/>
              </a:solidFill>
              <a:effectLst/>
              <a:latin typeface="Arial" pitchFamily="34" charset="0"/>
            </a:endParaRPr>
          </a:p>
        </p:txBody>
      </p:sp>
      <p:sp>
        <p:nvSpPr>
          <p:cNvPr id="15" name="矩形: 圆角 14">
            <a:extLst>
              <a:ext uri="{FF2B5EF4-FFF2-40B4-BE49-F238E27FC236}">
                <a16:creationId xmlns:a16="http://schemas.microsoft.com/office/drawing/2014/main" id="{ABDA7516-88C3-43E9-A702-2624ACF2BF1E}"/>
              </a:ext>
            </a:extLst>
          </p:cNvPr>
          <p:cNvSpPr/>
          <p:nvPr/>
        </p:nvSpPr>
        <p:spPr bwMode="auto">
          <a:xfrm>
            <a:off x="3711357" y="2779112"/>
            <a:ext cx="1752600" cy="369332"/>
          </a:xfrm>
          <a:prstGeom prst="roundRect">
            <a:avLst/>
          </a:prstGeom>
          <a:solidFill>
            <a:schemeClr val="bg2">
              <a:lumMod val="75000"/>
              <a:alpha val="2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eaLnBrk="1" hangingPunct="1"/>
            <a:r>
              <a:rPr lang="en-US" altLang="zh-CN" sz="1600" b="1" dirty="0"/>
              <a:t>L2</a:t>
            </a:r>
            <a:endParaRPr lang="zh-CN" altLang="en-US" sz="1600" b="1" dirty="0"/>
          </a:p>
        </p:txBody>
      </p:sp>
      <p:sp>
        <p:nvSpPr>
          <p:cNvPr id="16" name="矩形: 圆角 15">
            <a:extLst>
              <a:ext uri="{FF2B5EF4-FFF2-40B4-BE49-F238E27FC236}">
                <a16:creationId xmlns:a16="http://schemas.microsoft.com/office/drawing/2014/main" id="{E5DCAADD-0EAA-4318-98F0-6F4DAF5918B3}"/>
              </a:ext>
            </a:extLst>
          </p:cNvPr>
          <p:cNvSpPr/>
          <p:nvPr/>
        </p:nvSpPr>
        <p:spPr bwMode="auto">
          <a:xfrm>
            <a:off x="4108077" y="2207696"/>
            <a:ext cx="914401" cy="272551"/>
          </a:xfrm>
          <a:prstGeom prst="roundRect">
            <a:avLst/>
          </a:prstGeom>
          <a:solidFill>
            <a:srgbClr val="C0C0C0">
              <a:alpha val="2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itchFamily="34" charset="0"/>
              </a:rPr>
              <a:t>L1</a:t>
            </a:r>
            <a:endParaRPr kumimoji="0" lang="zh-CN" altLang="en-US" sz="1200" b="1" i="0" u="none" strike="noStrike" cap="none" normalizeH="0" baseline="0" dirty="0">
              <a:ln>
                <a:noFill/>
              </a:ln>
              <a:solidFill>
                <a:schemeClr val="tx1"/>
              </a:solidFill>
              <a:effectLst/>
              <a:latin typeface="Arial" pitchFamily="34" charset="0"/>
            </a:endParaRPr>
          </a:p>
        </p:txBody>
      </p:sp>
      <p:sp>
        <p:nvSpPr>
          <p:cNvPr id="17" name="Oval 1">
            <a:extLst>
              <a:ext uri="{FF2B5EF4-FFF2-40B4-BE49-F238E27FC236}">
                <a16:creationId xmlns:a16="http://schemas.microsoft.com/office/drawing/2014/main" id="{170BB13A-8678-4E04-8720-A856BE30FC0B}"/>
              </a:ext>
            </a:extLst>
          </p:cNvPr>
          <p:cNvSpPr/>
          <p:nvPr/>
        </p:nvSpPr>
        <p:spPr bwMode="auto">
          <a:xfrm>
            <a:off x="4168557" y="1715713"/>
            <a:ext cx="228600" cy="19311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effectLst/>
              <a:latin typeface="Arial" pitchFamily="34" charset="0"/>
            </a:endParaRPr>
          </a:p>
        </p:txBody>
      </p:sp>
      <p:sp>
        <p:nvSpPr>
          <p:cNvPr id="18" name="矩形 17">
            <a:extLst>
              <a:ext uri="{FF2B5EF4-FFF2-40B4-BE49-F238E27FC236}">
                <a16:creationId xmlns:a16="http://schemas.microsoft.com/office/drawing/2014/main" id="{CB19F8B0-A13A-48B0-AAAC-AC65CDDDBBED}"/>
              </a:ext>
            </a:extLst>
          </p:cNvPr>
          <p:cNvSpPr/>
          <p:nvPr/>
        </p:nvSpPr>
        <p:spPr>
          <a:xfrm>
            <a:off x="3832567" y="1295400"/>
            <a:ext cx="671979" cy="369332"/>
          </a:xfrm>
          <a:prstGeom prst="rect">
            <a:avLst/>
          </a:prstGeom>
        </p:spPr>
        <p:txBody>
          <a:bodyPr wrap="none">
            <a:spAutoFit/>
          </a:bodyPr>
          <a:lstStyle/>
          <a:p>
            <a:r>
              <a:rPr lang="en-US" altLang="en-US" dirty="0" err="1">
                <a:solidFill>
                  <a:srgbClr val="00B050"/>
                </a:solidFill>
              </a:rPr>
              <a:t>Addr</a:t>
            </a:r>
            <a:endParaRPr lang="zh-CN" altLang="en-US" dirty="0">
              <a:solidFill>
                <a:srgbClr val="00B050"/>
              </a:solidFill>
            </a:endParaRPr>
          </a:p>
        </p:txBody>
      </p:sp>
      <p:sp>
        <p:nvSpPr>
          <p:cNvPr id="19" name="矩形 18">
            <a:extLst>
              <a:ext uri="{FF2B5EF4-FFF2-40B4-BE49-F238E27FC236}">
                <a16:creationId xmlns:a16="http://schemas.microsoft.com/office/drawing/2014/main" id="{8128569D-6A38-4ADC-833A-C90746DB125D}"/>
              </a:ext>
            </a:extLst>
          </p:cNvPr>
          <p:cNvSpPr/>
          <p:nvPr/>
        </p:nvSpPr>
        <p:spPr>
          <a:xfrm>
            <a:off x="4625757" y="1295400"/>
            <a:ext cx="671979" cy="369332"/>
          </a:xfrm>
          <a:prstGeom prst="rect">
            <a:avLst/>
          </a:prstGeom>
        </p:spPr>
        <p:txBody>
          <a:bodyPr wrap="none">
            <a:spAutoFit/>
          </a:bodyPr>
          <a:lstStyle/>
          <a:p>
            <a:r>
              <a:rPr lang="en-US" altLang="en-US" dirty="0">
                <a:solidFill>
                  <a:srgbClr val="00B050"/>
                </a:solidFill>
              </a:rPr>
              <a:t>Data</a:t>
            </a:r>
            <a:endParaRPr lang="zh-CN" altLang="en-US" dirty="0">
              <a:solidFill>
                <a:srgbClr val="00B050"/>
              </a:solidFill>
            </a:endParaRPr>
          </a:p>
        </p:txBody>
      </p:sp>
      <p:sp>
        <p:nvSpPr>
          <p:cNvPr id="20" name="文本框 19">
            <a:extLst>
              <a:ext uri="{FF2B5EF4-FFF2-40B4-BE49-F238E27FC236}">
                <a16:creationId xmlns:a16="http://schemas.microsoft.com/office/drawing/2014/main" id="{6269985E-5069-4EBF-953D-8AA36F1CA517}"/>
              </a:ext>
            </a:extLst>
          </p:cNvPr>
          <p:cNvSpPr txBox="1"/>
          <p:nvPr/>
        </p:nvSpPr>
        <p:spPr>
          <a:xfrm>
            <a:off x="4005460" y="4876800"/>
            <a:ext cx="1266693" cy="400110"/>
          </a:xfrm>
          <a:prstGeom prst="rect">
            <a:avLst/>
          </a:prstGeom>
          <a:noFill/>
        </p:spPr>
        <p:txBody>
          <a:bodyPr wrap="none" rtlCol="0">
            <a:spAutoFit/>
          </a:bodyPr>
          <a:lstStyle/>
          <a:p>
            <a:r>
              <a:rPr lang="en-US" altLang="zh-CN" sz="2000" dirty="0">
                <a:solidFill>
                  <a:srgbClr val="C00000"/>
                </a:solidFill>
              </a:rPr>
              <a:t>Moderate</a:t>
            </a:r>
            <a:endParaRPr lang="zh-CN" altLang="en-US" sz="2000" dirty="0">
              <a:solidFill>
                <a:srgbClr val="C00000"/>
              </a:solidFill>
            </a:endParaRPr>
          </a:p>
        </p:txBody>
      </p:sp>
      <p:sp>
        <p:nvSpPr>
          <p:cNvPr id="21" name="矩形 20">
            <a:extLst>
              <a:ext uri="{FF2B5EF4-FFF2-40B4-BE49-F238E27FC236}">
                <a16:creationId xmlns:a16="http://schemas.microsoft.com/office/drawing/2014/main" id="{23C242A6-441F-4D95-865F-EA872F7816C5}"/>
              </a:ext>
            </a:extLst>
          </p:cNvPr>
          <p:cNvSpPr/>
          <p:nvPr/>
        </p:nvSpPr>
        <p:spPr>
          <a:xfrm>
            <a:off x="3832567" y="5581251"/>
            <a:ext cx="2094591" cy="369332"/>
          </a:xfrm>
          <a:prstGeom prst="rect">
            <a:avLst/>
          </a:prstGeom>
        </p:spPr>
        <p:txBody>
          <a:bodyPr wrap="square">
            <a:spAutoFit/>
          </a:bodyPr>
          <a:lstStyle/>
          <a:p>
            <a:r>
              <a:rPr lang="en-US" altLang="en-US" b="1" dirty="0">
                <a:solidFill>
                  <a:srgbClr val="0432FF"/>
                </a:solidFill>
              </a:rPr>
              <a:t>L2</a:t>
            </a:r>
            <a:r>
              <a:rPr lang="en-US" altLang="en-US" dirty="0">
                <a:solidFill>
                  <a:srgbClr val="0432FF"/>
                </a:solidFill>
              </a:rPr>
              <a:t>: 14 cycles</a:t>
            </a:r>
          </a:p>
        </p:txBody>
      </p:sp>
      <p:sp>
        <p:nvSpPr>
          <p:cNvPr id="12" name="Rectangle">
            <a:extLst>
              <a:ext uri="{FF2B5EF4-FFF2-40B4-BE49-F238E27FC236}">
                <a16:creationId xmlns:a16="http://schemas.microsoft.com/office/drawing/2014/main" id="{4232C7BA-4DFD-4E79-BCBD-D004C8B2AE6F}"/>
              </a:ext>
            </a:extLst>
          </p:cNvPr>
          <p:cNvSpPr/>
          <p:nvPr/>
        </p:nvSpPr>
        <p:spPr>
          <a:xfrm>
            <a:off x="162671" y="1143000"/>
            <a:ext cx="5857129" cy="5105400"/>
          </a:xfrm>
          <a:prstGeom prst="rect">
            <a:avLst/>
          </a:prstGeom>
          <a:solidFill>
            <a:srgbClr val="FFFFFF">
              <a:alpha val="84174"/>
            </a:srgbClr>
          </a:solidFill>
          <a:ln w="12700">
            <a:miter lim="400000"/>
          </a:ln>
        </p:spPr>
        <p:txBody>
          <a:bodyPr lIns="45719" rIns="45719" anchor="ctr"/>
          <a:lstStyle/>
          <a:p>
            <a:endParaRPr/>
          </a:p>
        </p:txBody>
      </p:sp>
      <p:sp>
        <p:nvSpPr>
          <p:cNvPr id="29" name="矩形 28">
            <a:extLst>
              <a:ext uri="{FF2B5EF4-FFF2-40B4-BE49-F238E27FC236}">
                <a16:creationId xmlns:a16="http://schemas.microsoft.com/office/drawing/2014/main" id="{AB9FBF4A-4288-4D24-9865-ADBDDF159214}"/>
              </a:ext>
            </a:extLst>
          </p:cNvPr>
          <p:cNvSpPr/>
          <p:nvPr/>
        </p:nvSpPr>
        <p:spPr>
          <a:xfrm>
            <a:off x="6750985" y="1259840"/>
            <a:ext cx="671979" cy="369332"/>
          </a:xfrm>
          <a:prstGeom prst="rect">
            <a:avLst/>
          </a:prstGeom>
        </p:spPr>
        <p:txBody>
          <a:bodyPr wrap="none">
            <a:spAutoFit/>
          </a:bodyPr>
          <a:lstStyle/>
          <a:p>
            <a:r>
              <a:rPr lang="en-US" altLang="en-US" dirty="0" err="1">
                <a:solidFill>
                  <a:srgbClr val="00B050"/>
                </a:solidFill>
              </a:rPr>
              <a:t>Addr</a:t>
            </a:r>
            <a:endParaRPr lang="zh-CN" altLang="en-US" dirty="0">
              <a:solidFill>
                <a:srgbClr val="00B050"/>
              </a:solidFill>
            </a:endParaRPr>
          </a:p>
        </p:txBody>
      </p:sp>
      <p:sp>
        <p:nvSpPr>
          <p:cNvPr id="30" name="矩形 29">
            <a:extLst>
              <a:ext uri="{FF2B5EF4-FFF2-40B4-BE49-F238E27FC236}">
                <a16:creationId xmlns:a16="http://schemas.microsoft.com/office/drawing/2014/main" id="{A16840B3-7AE2-432B-83D9-3B794CF4A29F}"/>
              </a:ext>
            </a:extLst>
          </p:cNvPr>
          <p:cNvSpPr/>
          <p:nvPr/>
        </p:nvSpPr>
        <p:spPr>
          <a:xfrm>
            <a:off x="7665386" y="1259840"/>
            <a:ext cx="671979" cy="369332"/>
          </a:xfrm>
          <a:prstGeom prst="rect">
            <a:avLst/>
          </a:prstGeom>
        </p:spPr>
        <p:txBody>
          <a:bodyPr wrap="none">
            <a:spAutoFit/>
          </a:bodyPr>
          <a:lstStyle/>
          <a:p>
            <a:r>
              <a:rPr lang="en-US" altLang="en-US" dirty="0">
                <a:solidFill>
                  <a:srgbClr val="00B050"/>
                </a:solidFill>
              </a:rPr>
              <a:t>Data</a:t>
            </a:r>
            <a:endParaRPr lang="zh-CN" altLang="en-US" dirty="0">
              <a:solidFill>
                <a:srgbClr val="00B050"/>
              </a:solidFill>
            </a:endParaRPr>
          </a:p>
        </p:txBody>
      </p:sp>
      <p:sp>
        <p:nvSpPr>
          <p:cNvPr id="31" name="矩形: 圆角 30">
            <a:extLst>
              <a:ext uri="{FF2B5EF4-FFF2-40B4-BE49-F238E27FC236}">
                <a16:creationId xmlns:a16="http://schemas.microsoft.com/office/drawing/2014/main" id="{B940F698-64FA-4D66-99DD-371258716934}"/>
              </a:ext>
            </a:extLst>
          </p:cNvPr>
          <p:cNvSpPr/>
          <p:nvPr/>
        </p:nvSpPr>
        <p:spPr bwMode="auto">
          <a:xfrm>
            <a:off x="6264497" y="3762772"/>
            <a:ext cx="2559358" cy="609600"/>
          </a:xfrm>
          <a:prstGeom prst="roundRect">
            <a:avLst/>
          </a:prstGeom>
          <a:solidFill>
            <a:srgbClr val="C0C0C0"/>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Arial" pitchFamily="34" charset="0"/>
              </a:rPr>
              <a:t>Memory</a:t>
            </a:r>
            <a:endParaRPr kumimoji="0" lang="zh-CN" altLang="en-US" sz="1800" b="1" i="0" u="none" strike="noStrike" cap="none" normalizeH="0" baseline="0" dirty="0">
              <a:ln>
                <a:noFill/>
              </a:ln>
              <a:solidFill>
                <a:schemeClr val="tx1"/>
              </a:solidFill>
              <a:effectLst/>
              <a:latin typeface="Arial" pitchFamily="34" charset="0"/>
            </a:endParaRPr>
          </a:p>
        </p:txBody>
      </p:sp>
      <p:sp>
        <p:nvSpPr>
          <p:cNvPr id="32" name="矩形: 圆角 31">
            <a:extLst>
              <a:ext uri="{FF2B5EF4-FFF2-40B4-BE49-F238E27FC236}">
                <a16:creationId xmlns:a16="http://schemas.microsoft.com/office/drawing/2014/main" id="{F5CD4D26-59AD-4509-8C88-0522AB848A0E}"/>
              </a:ext>
            </a:extLst>
          </p:cNvPr>
          <p:cNvSpPr/>
          <p:nvPr/>
        </p:nvSpPr>
        <p:spPr bwMode="auto">
          <a:xfrm>
            <a:off x="6690255" y="2768771"/>
            <a:ext cx="1752600" cy="369332"/>
          </a:xfrm>
          <a:prstGeom prst="roundRect">
            <a:avLst/>
          </a:prstGeom>
          <a:solidFill>
            <a:schemeClr val="bg2">
              <a:lumMod val="75000"/>
              <a:alpha val="20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eaLnBrk="1" hangingPunct="1"/>
            <a:r>
              <a:rPr lang="en-US" altLang="zh-CN" sz="1600" b="1" dirty="0"/>
              <a:t>L2</a:t>
            </a:r>
            <a:endParaRPr lang="zh-CN" altLang="en-US" sz="1600" b="1" dirty="0"/>
          </a:p>
        </p:txBody>
      </p:sp>
      <p:sp>
        <p:nvSpPr>
          <p:cNvPr id="33" name="矩形: 圆角 32">
            <a:extLst>
              <a:ext uri="{FF2B5EF4-FFF2-40B4-BE49-F238E27FC236}">
                <a16:creationId xmlns:a16="http://schemas.microsoft.com/office/drawing/2014/main" id="{75FA54A4-5CA9-4C2E-A312-656000154BB8}"/>
              </a:ext>
            </a:extLst>
          </p:cNvPr>
          <p:cNvSpPr/>
          <p:nvPr/>
        </p:nvSpPr>
        <p:spPr bwMode="auto">
          <a:xfrm>
            <a:off x="7086975" y="2197355"/>
            <a:ext cx="914401" cy="272551"/>
          </a:xfrm>
          <a:prstGeom prst="roundRect">
            <a:avLst/>
          </a:prstGeom>
          <a:solidFill>
            <a:srgbClr val="C0C0C0">
              <a:alpha val="2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itchFamily="34" charset="0"/>
              </a:rPr>
              <a:t>L1</a:t>
            </a:r>
            <a:endParaRPr kumimoji="0" lang="zh-CN" altLang="en-US" sz="1200" b="1" i="0" u="none" strike="noStrike" cap="none" normalizeH="0" baseline="0" dirty="0">
              <a:ln>
                <a:noFill/>
              </a:ln>
              <a:solidFill>
                <a:schemeClr val="tx1"/>
              </a:solidFill>
              <a:effectLst/>
              <a:latin typeface="Arial" pitchFamily="34" charset="0"/>
            </a:endParaRPr>
          </a:p>
        </p:txBody>
      </p:sp>
      <p:sp>
        <p:nvSpPr>
          <p:cNvPr id="34" name="Oval 1">
            <a:extLst>
              <a:ext uri="{FF2B5EF4-FFF2-40B4-BE49-F238E27FC236}">
                <a16:creationId xmlns:a16="http://schemas.microsoft.com/office/drawing/2014/main" id="{DC241919-F140-4400-8167-8F373D4449E1}"/>
              </a:ext>
            </a:extLst>
          </p:cNvPr>
          <p:cNvSpPr/>
          <p:nvPr/>
        </p:nvSpPr>
        <p:spPr bwMode="auto">
          <a:xfrm>
            <a:off x="7147455" y="1705372"/>
            <a:ext cx="228600" cy="19311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effectLst/>
              <a:latin typeface="Arial" pitchFamily="34" charset="0"/>
            </a:endParaRPr>
          </a:p>
        </p:txBody>
      </p:sp>
      <p:sp>
        <p:nvSpPr>
          <p:cNvPr id="35" name="文本框 34">
            <a:extLst>
              <a:ext uri="{FF2B5EF4-FFF2-40B4-BE49-F238E27FC236}">
                <a16:creationId xmlns:a16="http://schemas.microsoft.com/office/drawing/2014/main" id="{4DAA1A6B-BA39-4A37-A90A-493C87CBF3AA}"/>
              </a:ext>
            </a:extLst>
          </p:cNvPr>
          <p:cNvSpPr txBox="1"/>
          <p:nvPr/>
        </p:nvSpPr>
        <p:spPr>
          <a:xfrm>
            <a:off x="6685070" y="4876800"/>
            <a:ext cx="1909497" cy="400110"/>
          </a:xfrm>
          <a:prstGeom prst="rect">
            <a:avLst/>
          </a:prstGeom>
          <a:noFill/>
        </p:spPr>
        <p:txBody>
          <a:bodyPr wrap="none" rtlCol="0">
            <a:spAutoFit/>
          </a:bodyPr>
          <a:lstStyle/>
          <a:p>
            <a:r>
              <a:rPr lang="en-US" altLang="zh-CN" sz="2000" dirty="0">
                <a:solidFill>
                  <a:srgbClr val="C00000"/>
                </a:solidFill>
              </a:rPr>
              <a:t>Extremely slow</a:t>
            </a:r>
            <a:endParaRPr lang="zh-CN" altLang="en-US" sz="2000" dirty="0">
              <a:solidFill>
                <a:srgbClr val="C00000"/>
              </a:solidFill>
            </a:endParaRPr>
          </a:p>
        </p:txBody>
      </p:sp>
      <p:sp>
        <p:nvSpPr>
          <p:cNvPr id="36" name="矩形 35">
            <a:extLst>
              <a:ext uri="{FF2B5EF4-FFF2-40B4-BE49-F238E27FC236}">
                <a16:creationId xmlns:a16="http://schemas.microsoft.com/office/drawing/2014/main" id="{6859FDDD-76DA-42B6-A29E-83321A29D1B3}"/>
              </a:ext>
            </a:extLst>
          </p:cNvPr>
          <p:cNvSpPr/>
          <p:nvPr/>
        </p:nvSpPr>
        <p:spPr>
          <a:xfrm>
            <a:off x="6477522" y="5581225"/>
            <a:ext cx="2525429" cy="369332"/>
          </a:xfrm>
          <a:prstGeom prst="rect">
            <a:avLst/>
          </a:prstGeom>
        </p:spPr>
        <p:txBody>
          <a:bodyPr wrap="square">
            <a:spAutoFit/>
          </a:bodyPr>
          <a:lstStyle/>
          <a:p>
            <a:r>
              <a:rPr lang="en-US" altLang="en-US" b="1" dirty="0">
                <a:solidFill>
                  <a:srgbClr val="0432FF"/>
                </a:solidFill>
              </a:rPr>
              <a:t>Memory</a:t>
            </a:r>
            <a:r>
              <a:rPr lang="en-US" altLang="en-US" dirty="0">
                <a:solidFill>
                  <a:srgbClr val="0432FF"/>
                </a:solidFill>
              </a:rPr>
              <a:t>: 200 cycles</a:t>
            </a:r>
          </a:p>
        </p:txBody>
      </p:sp>
    </p:spTree>
    <p:extLst>
      <p:ext uri="{BB962C8B-B14F-4D97-AF65-F5344CB8AC3E}">
        <p14:creationId xmlns:p14="http://schemas.microsoft.com/office/powerpoint/2010/main" val="26453581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00" fill="hold" grpId="1" nodeType="clickEffect">
                                  <p:stCondLst>
                                    <p:cond delay="0"/>
                                  </p:stCondLst>
                                  <p:childTnLst>
                                    <p:anim calcmode="discrete" valueType="str">
                                      <p:cBhvr>
                                        <p:cTn id="6" dur="500" fill="hold"/>
                                        <p:tgtEl>
                                          <p:spTgt spid="34"/>
                                        </p:tgtEl>
                                        <p:attrNameLst>
                                          <p:attrName>style.visibility</p:attrName>
                                        </p:attrNameLst>
                                      </p:cBhvr>
                                      <p:tavLst>
                                        <p:tav tm="0">
                                          <p:val>
                                            <p:strVal val="hidden"/>
                                          </p:val>
                                        </p:tav>
                                        <p:tav tm="50000">
                                          <p:val>
                                            <p:strVal val="visible"/>
                                          </p:val>
                                        </p:tav>
                                      </p:tavLst>
                                    </p:anim>
                                  </p:childTnLst>
                                </p:cTn>
                              </p:par>
                              <p:par>
                                <p:cTn id="7" presetID="37" presetClass="path" presetSubtype="0" accel="50000" decel="50000" fill="hold" grpId="0" nodeType="withEffect">
                                  <p:stCondLst>
                                    <p:cond delay="0"/>
                                  </p:stCondLst>
                                  <p:childTnLst>
                                    <p:animMotion origin="layout" path="M 2.77778E-6 -1.48148E-6 L 0.01718 0.21759 C 0.02083 0.26667 0.02639 0.29352 0.03212 0.29352 C 0.03854 0.29352 0.04375 0.26667 0.04739 0.21759 L 0.06493 -1.48148E-6 " pathEditMode="relative" rAng="0" ptsTypes="AAAAA">
                                      <p:cBhvr>
                                        <p:cTn id="8" dur="100000" fill="hold"/>
                                        <p:tgtEl>
                                          <p:spTgt spid="34"/>
                                        </p:tgtEl>
                                        <p:attrNameLst>
                                          <p:attrName>ppt_x</p:attrName>
                                          <p:attrName>ppt_y</p:attrName>
                                        </p:attrNameLst>
                                      </p:cBhvr>
                                      <p:rCtr x="3247" y="14676"/>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35" grpId="0"/>
      <p:bldP spid="3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4">
            <a:extLst>
              <a:ext uri="{FF2B5EF4-FFF2-40B4-BE49-F238E27FC236}">
                <a16:creationId xmlns:a16="http://schemas.microsoft.com/office/drawing/2014/main" id="{0D712343-2A89-364C-BEFC-4C7B44107372}"/>
              </a:ext>
            </a:extLst>
          </p:cNvPr>
          <p:cNvSpPr>
            <a:spLocks noGrp="1" noChangeArrowheads="1"/>
          </p:cNvSpPr>
          <p:nvPr>
            <p:ph type="ctrTitle"/>
          </p:nvPr>
        </p:nvSpPr>
        <p:spPr>
          <a:xfrm>
            <a:off x="366713" y="1708150"/>
            <a:ext cx="8428037" cy="1720850"/>
          </a:xfrm>
        </p:spPr>
        <p:txBody>
          <a:bodyPr/>
          <a:lstStyle/>
          <a:p>
            <a:pPr algn="ctr" eaLnBrk="1" hangingPunct="1"/>
            <a:r>
              <a:rPr lang="en-US" altLang="en-US" sz="4400">
                <a:ea typeface="ＭＳ Ｐゴシック" panose="020B0600070205080204" pitchFamily="34" charset="-128"/>
              </a:rPr>
              <a:t>Cache Basics and Operation</a:t>
            </a:r>
          </a:p>
        </p:txBody>
      </p:sp>
      <p:sp>
        <p:nvSpPr>
          <p:cNvPr id="117762" name="Rectangle 5">
            <a:extLst>
              <a:ext uri="{FF2B5EF4-FFF2-40B4-BE49-F238E27FC236}">
                <a16:creationId xmlns:a16="http://schemas.microsoft.com/office/drawing/2014/main" id="{B4F1E624-FC70-C24F-920E-8962B44E129A}"/>
              </a:ext>
            </a:extLst>
          </p:cNvPr>
          <p:cNvSpPr>
            <a:spLocks noGrp="1" noChangeArrowheads="1"/>
          </p:cNvSpPr>
          <p:nvPr>
            <p:ph type="subTitle" idx="1"/>
          </p:nvPr>
        </p:nvSpPr>
        <p:spPr>
          <a:xfrm>
            <a:off x="685800" y="3581400"/>
            <a:ext cx="7848600" cy="2900363"/>
          </a:xfrm>
        </p:spPr>
        <p:txBody>
          <a:bodyPr/>
          <a:lstStyle/>
          <a:p>
            <a:pPr eaLnBrk="1" hangingPunct="1"/>
            <a:endParaRPr lang="en-US" altLang="en-US" i="1">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a:extLst>
              <a:ext uri="{FF2B5EF4-FFF2-40B4-BE49-F238E27FC236}">
                <a16:creationId xmlns:a16="http://schemas.microsoft.com/office/drawing/2014/main" id="{AADF843D-6DE8-0F43-94EE-C26E146217BA}"/>
              </a:ext>
            </a:extLst>
          </p:cNvPr>
          <p:cNvSpPr>
            <a:spLocks noGrp="1" noChangeArrowheads="1"/>
          </p:cNvSpPr>
          <p:nvPr>
            <p:ph type="title"/>
          </p:nvPr>
        </p:nvSpPr>
        <p:spPr/>
        <p:txBody>
          <a:bodyPr/>
          <a:lstStyle/>
          <a:p>
            <a:r>
              <a:rPr lang="en-US" altLang="en-US">
                <a:ea typeface="ＭＳ Ｐゴシック" panose="020B0600070205080204" pitchFamily="34" charset="-128"/>
              </a:rPr>
              <a:t>Cache</a:t>
            </a:r>
          </a:p>
        </p:txBody>
      </p:sp>
      <p:sp>
        <p:nvSpPr>
          <p:cNvPr id="81922" name="Content Placeholder 2">
            <a:extLst>
              <a:ext uri="{FF2B5EF4-FFF2-40B4-BE49-F238E27FC236}">
                <a16:creationId xmlns:a16="http://schemas.microsoft.com/office/drawing/2014/main" id="{025F17BC-A7FC-D34A-BBCD-7F5CAC5D5667}"/>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Any structure that “</a:t>
            </a:r>
            <a:r>
              <a:rPr lang="en-US" altLang="ja-JP" dirty="0">
                <a:ea typeface="ＭＳ Ｐゴシック" panose="020B0600070205080204" pitchFamily="34" charset="-128"/>
              </a:rPr>
              <a:t>memorizes</a:t>
            </a:r>
            <a:r>
              <a:rPr lang="en-US" altLang="en-US" dirty="0">
                <a:ea typeface="ＭＳ Ｐゴシック" panose="020B0600070205080204" pitchFamily="34" charset="-128"/>
              </a:rPr>
              <a:t>”</a:t>
            </a:r>
            <a:r>
              <a:rPr lang="en-US" altLang="ja-JP" dirty="0">
                <a:ea typeface="ＭＳ Ｐゴシック" panose="020B0600070205080204" pitchFamily="34" charset="-128"/>
              </a:rPr>
              <a:t> frequently used results/data </a:t>
            </a:r>
          </a:p>
          <a:p>
            <a:pPr lvl="1"/>
            <a:r>
              <a:rPr lang="en-US" altLang="ja-JP" dirty="0">
                <a:ea typeface="ＭＳ Ｐゴシック" panose="020B0600070205080204" pitchFamily="34" charset="-128"/>
              </a:rPr>
              <a:t>to avoid repeating the long-latency operations required to reproduce/fetch the results/data from scratch</a:t>
            </a:r>
          </a:p>
          <a:p>
            <a:pPr lvl="1"/>
            <a:r>
              <a:rPr lang="en-US" altLang="ja-JP" dirty="0">
                <a:ea typeface="ＭＳ Ｐゴシック" panose="020B0600070205080204" pitchFamily="34" charset="-128"/>
              </a:rPr>
              <a:t>e.g., a web cache</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Most commonly in the processor design context:             </a:t>
            </a:r>
            <a:r>
              <a:rPr lang="en-US" altLang="en-US" dirty="0">
                <a:solidFill>
                  <a:srgbClr val="0432FF"/>
                </a:solidFill>
                <a:ea typeface="ＭＳ Ｐゴシック" panose="020B0600070205080204" pitchFamily="34" charset="-128"/>
              </a:rPr>
              <a:t>an automatically-managed memory structure</a:t>
            </a:r>
            <a:r>
              <a:rPr lang="en-US" altLang="en-US" dirty="0">
                <a:ea typeface="ＭＳ Ｐゴシック" panose="020B0600070205080204" pitchFamily="34" charset="-128"/>
              </a:rPr>
              <a:t> </a:t>
            </a:r>
          </a:p>
          <a:p>
            <a:pPr lvl="1"/>
            <a:r>
              <a:rPr lang="en-US" altLang="en-US" dirty="0">
                <a:ea typeface="ＭＳ Ｐゴシック" panose="020B0600070205080204" pitchFamily="34" charset="-128"/>
              </a:rPr>
              <a:t>e.g., memorize in fast SRAM the most frequently or recently accessed DRAM memory locations to avoid repeatedly paying for the DRAM access latency</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119811" name="Slide Number Placeholder 3">
            <a:extLst>
              <a:ext uri="{FF2B5EF4-FFF2-40B4-BE49-F238E27FC236}">
                <a16:creationId xmlns:a16="http://schemas.microsoft.com/office/drawing/2014/main" id="{F91EF5C3-0C3C-EA4D-8294-FA2CFED87B5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47A4F9C6-3E88-8144-A416-A1F30DD26B42}" type="slidenum">
              <a:rPr lang="en-US" altLang="en-US" sz="1600" smtClean="0">
                <a:solidFill>
                  <a:srgbClr val="000000"/>
                </a:solidFill>
                <a:latin typeface="Garamond" panose="02020404030301010803" pitchFamily="18" charset="0"/>
              </a:rPr>
              <a:pPr eaLnBrk="1" hangingPunct="1">
                <a:spcBef>
                  <a:spcPct val="0"/>
                </a:spcBef>
                <a:buClrTx/>
                <a:buSzTx/>
                <a:buFontTx/>
                <a:buNone/>
              </a:pPr>
              <a:t>49</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192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a:extLst>
              <a:ext uri="{FF2B5EF4-FFF2-40B4-BE49-F238E27FC236}">
                <a16:creationId xmlns:a16="http://schemas.microsoft.com/office/drawing/2014/main" id="{E7C81F97-AE03-0142-8780-3876D0E4B52C}"/>
              </a:ext>
            </a:extLst>
          </p:cNvPr>
          <p:cNvSpPr>
            <a:spLocks noGrp="1" noChangeArrowheads="1"/>
          </p:cNvSpPr>
          <p:nvPr>
            <p:ph type="title"/>
          </p:nvPr>
        </p:nvSpPr>
        <p:spPr/>
        <p:txBody>
          <a:bodyPr/>
          <a:lstStyle/>
          <a:p>
            <a:r>
              <a:rPr lang="en-US" altLang="en-US" dirty="0">
                <a:ea typeface="ＭＳ Ｐゴシック" panose="020B0600070205080204" pitchFamily="34" charset="-128"/>
              </a:rPr>
              <a:t>Blocks </a:t>
            </a:r>
          </a:p>
        </p:txBody>
      </p:sp>
      <p:sp>
        <p:nvSpPr>
          <p:cNvPr id="84994" name="Content Placeholder 2">
            <a:extLst>
              <a:ext uri="{FF2B5EF4-FFF2-40B4-BE49-F238E27FC236}">
                <a16:creationId xmlns:a16="http://schemas.microsoft.com/office/drawing/2014/main" id="{A9D1F56E-5144-8548-BB3E-3CE8CC326E98}"/>
              </a:ext>
            </a:extLst>
          </p:cNvPr>
          <p:cNvSpPr>
            <a:spLocks noGrp="1"/>
          </p:cNvSpPr>
          <p:nvPr>
            <p:ph idx="1"/>
          </p:nvPr>
        </p:nvSpPr>
        <p:spPr>
          <a:xfrm>
            <a:off x="228600" y="996950"/>
            <a:ext cx="8915400" cy="2813050"/>
          </a:xfrm>
        </p:spPr>
        <p:txBody>
          <a:bodyPr/>
          <a:lstStyle/>
          <a:p>
            <a:pPr>
              <a:buFont typeface="Wingdings" charset="0"/>
              <a:buChar char="n"/>
              <a:defRPr/>
            </a:pPr>
            <a:r>
              <a:rPr lang="en-US" dirty="0"/>
              <a:t>Main memory logically divided into fixed-size chunks (</a:t>
            </a:r>
            <a:r>
              <a:rPr lang="en-US" b="1" dirty="0"/>
              <a:t>blocks</a:t>
            </a:r>
            <a:r>
              <a:rPr lang="en-US" dirty="0"/>
              <a:t>)</a:t>
            </a:r>
          </a:p>
          <a:p>
            <a:pPr>
              <a:buFont typeface="Wingdings" charset="0"/>
              <a:buChar char="n"/>
              <a:defRPr/>
            </a:pPr>
            <a:r>
              <a:rPr lang="en-US" b="1" dirty="0"/>
              <a:t>Cache</a:t>
            </a:r>
            <a:r>
              <a:rPr lang="en-US" dirty="0"/>
              <a:t> can house only a </a:t>
            </a:r>
            <a:r>
              <a:rPr lang="en-US" b="1" dirty="0"/>
              <a:t>limited</a:t>
            </a:r>
            <a:r>
              <a:rPr lang="en-US" dirty="0"/>
              <a:t> number of blocks</a:t>
            </a:r>
          </a:p>
          <a:p>
            <a:pPr>
              <a:buFont typeface="Wingdings" charset="0"/>
              <a:buChar char="n"/>
              <a:defRPr/>
            </a:pPr>
            <a:endParaRPr lang="en-US" sz="1600" dirty="0"/>
          </a:p>
          <a:p>
            <a:pPr>
              <a:buFont typeface="Wingdings" charset="0"/>
              <a:buChar char="n"/>
              <a:defRPr/>
            </a:pPr>
            <a:r>
              <a:rPr lang="en-US" dirty="0"/>
              <a:t>Each </a:t>
            </a:r>
            <a:r>
              <a:rPr lang="en-US" b="1" dirty="0"/>
              <a:t>block address </a:t>
            </a:r>
            <a:r>
              <a:rPr lang="en-US" dirty="0"/>
              <a:t>maps to a potential location in the cache, determined by the </a:t>
            </a:r>
            <a:r>
              <a:rPr lang="en-US" dirty="0">
                <a:solidFill>
                  <a:srgbClr val="0000FF"/>
                </a:solidFill>
              </a:rPr>
              <a:t>index bits </a:t>
            </a:r>
            <a:r>
              <a:rPr lang="en-US" dirty="0"/>
              <a:t>in the address</a:t>
            </a:r>
          </a:p>
          <a:p>
            <a:pPr lvl="1">
              <a:buFont typeface="Wingdings" charset="0"/>
              <a:buChar char="q"/>
              <a:defRPr/>
            </a:pPr>
            <a:r>
              <a:rPr lang="en-US" dirty="0">
                <a:ea typeface="ＭＳ Ｐゴシック" charset="0"/>
              </a:rPr>
              <a:t>used to index into the tag and data stores </a:t>
            </a:r>
          </a:p>
          <a:p>
            <a:pPr>
              <a:buFont typeface="Wingdings" charset="0"/>
              <a:buChar char="n"/>
              <a:defRPr/>
            </a:pPr>
            <a:endParaRPr lang="en-US" dirty="0"/>
          </a:p>
          <a:p>
            <a:pPr marL="344487" lvl="1" indent="0">
              <a:buFont typeface="Wingdings" charset="0"/>
              <a:buNone/>
              <a:defRPr/>
            </a:pPr>
            <a:endParaRPr lang="en-US" dirty="0"/>
          </a:p>
          <a:p>
            <a:pPr marL="344487" lvl="1" indent="0">
              <a:buFont typeface="Wingdings" charset="0"/>
              <a:buNone/>
              <a:defRPr/>
            </a:pPr>
            <a:endParaRPr lang="en-US" sz="1200" dirty="0"/>
          </a:p>
        </p:txBody>
      </p:sp>
      <p:sp>
        <p:nvSpPr>
          <p:cNvPr id="123907" name="Slide Number Placeholder 3">
            <a:extLst>
              <a:ext uri="{FF2B5EF4-FFF2-40B4-BE49-F238E27FC236}">
                <a16:creationId xmlns:a16="http://schemas.microsoft.com/office/drawing/2014/main" id="{87CF5E51-30BC-2C46-8D60-F04CED63B2F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56A41A00-5B10-624B-B040-3D998BA00A35}" type="slidenum">
              <a:rPr lang="en-US" altLang="en-US" sz="1600" smtClean="0">
                <a:solidFill>
                  <a:srgbClr val="000000"/>
                </a:solidFill>
                <a:latin typeface="Garamond" panose="02020404030301010803" pitchFamily="18" charset="0"/>
              </a:rPr>
              <a:pPr eaLnBrk="1" hangingPunct="1">
                <a:spcBef>
                  <a:spcPct val="0"/>
                </a:spcBef>
                <a:buClrTx/>
                <a:buSzTx/>
                <a:buFontTx/>
                <a:buNone/>
              </a:pPr>
              <a:t>50</a:t>
            </a:fld>
            <a:endParaRPr lang="en-US" altLang="en-US" sz="1600">
              <a:solidFill>
                <a:srgbClr val="000000"/>
              </a:solidFill>
              <a:latin typeface="Garamond" panose="02020404030301010803" pitchFamily="18" charset="0"/>
            </a:endParaRPr>
          </a:p>
        </p:txBody>
      </p:sp>
      <p:sp>
        <p:nvSpPr>
          <p:cNvPr id="84996" name="Rectangle 71">
            <a:extLst>
              <a:ext uri="{FF2B5EF4-FFF2-40B4-BE49-F238E27FC236}">
                <a16:creationId xmlns:a16="http://schemas.microsoft.com/office/drawing/2014/main" id="{A1163C66-DF88-CB40-8F9C-117991D19EAD}"/>
              </a:ext>
            </a:extLst>
          </p:cNvPr>
          <p:cNvSpPr>
            <a:spLocks noChangeArrowheads="1"/>
          </p:cNvSpPr>
          <p:nvPr/>
        </p:nvSpPr>
        <p:spPr bwMode="auto">
          <a:xfrm>
            <a:off x="2928937" y="4359275"/>
            <a:ext cx="1477962" cy="3333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4997" name="TextBox 72">
            <a:extLst>
              <a:ext uri="{FF2B5EF4-FFF2-40B4-BE49-F238E27FC236}">
                <a16:creationId xmlns:a16="http://schemas.microsoft.com/office/drawing/2014/main" id="{4F5437E2-BDAC-5E46-AA53-8E5E8AECAC2B}"/>
              </a:ext>
            </a:extLst>
          </p:cNvPr>
          <p:cNvSpPr txBox="1">
            <a:spLocks noChangeArrowheads="1"/>
          </p:cNvSpPr>
          <p:nvPr/>
        </p:nvSpPr>
        <p:spPr bwMode="auto">
          <a:xfrm>
            <a:off x="3120230" y="4722578"/>
            <a:ext cx="12223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8-bit address</a:t>
            </a:r>
          </a:p>
        </p:txBody>
      </p:sp>
      <p:cxnSp>
        <p:nvCxnSpPr>
          <p:cNvPr id="84998" name="Straight Connector 74">
            <a:extLst>
              <a:ext uri="{FF2B5EF4-FFF2-40B4-BE49-F238E27FC236}">
                <a16:creationId xmlns:a16="http://schemas.microsoft.com/office/drawing/2014/main" id="{3D82E83B-7AE9-1442-9A6E-F129F935E05D}"/>
              </a:ext>
            </a:extLst>
          </p:cNvPr>
          <p:cNvCxnSpPr>
            <a:cxnSpLocks noChangeShapeType="1"/>
          </p:cNvCxnSpPr>
          <p:nvPr/>
        </p:nvCxnSpPr>
        <p:spPr bwMode="auto">
          <a:xfrm rot="5400000">
            <a:off x="3698874" y="4525962"/>
            <a:ext cx="331788"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4999" name="Straight Connector 75">
            <a:extLst>
              <a:ext uri="{FF2B5EF4-FFF2-40B4-BE49-F238E27FC236}">
                <a16:creationId xmlns:a16="http://schemas.microsoft.com/office/drawing/2014/main" id="{3DB98079-42BD-214A-B784-4F2C2137DEF6}"/>
              </a:ext>
            </a:extLst>
          </p:cNvPr>
          <p:cNvCxnSpPr>
            <a:cxnSpLocks noChangeShapeType="1"/>
          </p:cNvCxnSpPr>
          <p:nvPr/>
        </p:nvCxnSpPr>
        <p:spPr bwMode="auto">
          <a:xfrm rot="5400000">
            <a:off x="3163093" y="4525169"/>
            <a:ext cx="3333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5000" name="TextBox 78">
            <a:extLst>
              <a:ext uri="{FF2B5EF4-FFF2-40B4-BE49-F238E27FC236}">
                <a16:creationId xmlns:a16="http://schemas.microsoft.com/office/drawing/2014/main" id="{1652478C-A8A8-DC4F-A8A4-A55AE67E6CA6}"/>
              </a:ext>
            </a:extLst>
          </p:cNvPr>
          <p:cNvSpPr txBox="1">
            <a:spLocks noChangeArrowheads="1"/>
          </p:cNvSpPr>
          <p:nvPr/>
        </p:nvSpPr>
        <p:spPr bwMode="auto">
          <a:xfrm>
            <a:off x="2895600" y="4038600"/>
            <a:ext cx="4333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tag</a:t>
            </a:r>
          </a:p>
        </p:txBody>
      </p:sp>
      <p:sp>
        <p:nvSpPr>
          <p:cNvPr id="85001" name="TextBox 80">
            <a:extLst>
              <a:ext uri="{FF2B5EF4-FFF2-40B4-BE49-F238E27FC236}">
                <a16:creationId xmlns:a16="http://schemas.microsoft.com/office/drawing/2014/main" id="{31D7C552-8C73-B046-97DB-B8F6207A8C14}"/>
              </a:ext>
            </a:extLst>
          </p:cNvPr>
          <p:cNvSpPr txBox="1">
            <a:spLocks noChangeArrowheads="1"/>
          </p:cNvSpPr>
          <p:nvPr/>
        </p:nvSpPr>
        <p:spPr bwMode="auto">
          <a:xfrm>
            <a:off x="3284537" y="4043362"/>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432FF"/>
                </a:solidFill>
                <a:latin typeface="Arial" panose="020B0604020202020204" pitchFamily="34" charset="0"/>
              </a:rPr>
              <a:t>index</a:t>
            </a:r>
          </a:p>
        </p:txBody>
      </p:sp>
      <p:sp>
        <p:nvSpPr>
          <p:cNvPr id="85002" name="TextBox 81">
            <a:extLst>
              <a:ext uri="{FF2B5EF4-FFF2-40B4-BE49-F238E27FC236}">
                <a16:creationId xmlns:a16="http://schemas.microsoft.com/office/drawing/2014/main" id="{2F3A98B4-69CF-AF48-9AD9-8E14CEFC569D}"/>
              </a:ext>
            </a:extLst>
          </p:cNvPr>
          <p:cNvSpPr txBox="1">
            <a:spLocks noChangeArrowheads="1"/>
          </p:cNvSpPr>
          <p:nvPr/>
        </p:nvSpPr>
        <p:spPr bwMode="auto">
          <a:xfrm>
            <a:off x="3817143" y="4044950"/>
            <a:ext cx="1179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 in block</a:t>
            </a:r>
          </a:p>
        </p:txBody>
      </p:sp>
      <p:sp>
        <p:nvSpPr>
          <p:cNvPr id="85003" name="TextBox 82">
            <a:extLst>
              <a:ext uri="{FF2B5EF4-FFF2-40B4-BE49-F238E27FC236}">
                <a16:creationId xmlns:a16="http://schemas.microsoft.com/office/drawing/2014/main" id="{56390A32-5E43-E241-80E5-A61347E02CD6}"/>
              </a:ext>
            </a:extLst>
          </p:cNvPr>
          <p:cNvSpPr txBox="1">
            <a:spLocks noChangeArrowheads="1"/>
          </p:cNvSpPr>
          <p:nvPr/>
        </p:nvSpPr>
        <p:spPr bwMode="auto">
          <a:xfrm>
            <a:off x="3863974" y="4359275"/>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3 bits</a:t>
            </a:r>
          </a:p>
        </p:txBody>
      </p:sp>
      <p:sp>
        <p:nvSpPr>
          <p:cNvPr id="85004" name="TextBox 83">
            <a:extLst>
              <a:ext uri="{FF2B5EF4-FFF2-40B4-BE49-F238E27FC236}">
                <a16:creationId xmlns:a16="http://schemas.microsoft.com/office/drawing/2014/main" id="{F678E010-19C9-C94F-81BC-78CC674C9232}"/>
              </a:ext>
            </a:extLst>
          </p:cNvPr>
          <p:cNvSpPr txBox="1">
            <a:spLocks noChangeArrowheads="1"/>
          </p:cNvSpPr>
          <p:nvPr/>
        </p:nvSpPr>
        <p:spPr bwMode="auto">
          <a:xfrm>
            <a:off x="3330574" y="4357687"/>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3 bits</a:t>
            </a:r>
          </a:p>
        </p:txBody>
      </p:sp>
      <p:sp>
        <p:nvSpPr>
          <p:cNvPr id="85005" name="TextBox 84">
            <a:extLst>
              <a:ext uri="{FF2B5EF4-FFF2-40B4-BE49-F238E27FC236}">
                <a16:creationId xmlns:a16="http://schemas.microsoft.com/office/drawing/2014/main" id="{E1297746-72F7-C34E-81E1-0C7BAA58CCD4}"/>
              </a:ext>
            </a:extLst>
          </p:cNvPr>
          <p:cNvSpPr txBox="1">
            <a:spLocks noChangeArrowheads="1"/>
          </p:cNvSpPr>
          <p:nvPr/>
        </p:nvSpPr>
        <p:spPr bwMode="auto">
          <a:xfrm>
            <a:off x="2928937" y="4375150"/>
            <a:ext cx="3825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2b</a:t>
            </a:r>
          </a:p>
        </p:txBody>
      </p:sp>
    </p:spTree>
    <p:extLst>
      <p:ext uri="{BB962C8B-B14F-4D97-AF65-F5344CB8AC3E}">
        <p14:creationId xmlns:p14="http://schemas.microsoft.com/office/powerpoint/2010/main" val="1694099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994">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49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499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499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49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500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500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500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500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50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animBg="1"/>
      <p:bldP spid="84997" grpId="0"/>
      <p:bldP spid="85000" grpId="0"/>
      <p:bldP spid="85001" grpId="0"/>
      <p:bldP spid="85002" grpId="0"/>
      <p:bldP spid="85003" grpId="0"/>
      <p:bldP spid="85004" grpId="0"/>
      <p:bldP spid="8500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4D393-295D-674A-B61C-315FE3D73815}"/>
              </a:ext>
            </a:extLst>
          </p:cNvPr>
          <p:cNvSpPr>
            <a:spLocks noGrp="1"/>
          </p:cNvSpPr>
          <p:nvPr>
            <p:ph type="title"/>
          </p:nvPr>
        </p:nvSpPr>
        <p:spPr/>
        <p:txBody>
          <a:bodyPr/>
          <a:lstStyle/>
          <a:p>
            <a:r>
              <a:rPr lang="en-US" dirty="0"/>
              <a:t>Conceptual Picture of a Cache</a:t>
            </a:r>
          </a:p>
        </p:txBody>
      </p:sp>
      <p:sp>
        <p:nvSpPr>
          <p:cNvPr id="4" name="Slide Number Placeholder 3">
            <a:extLst>
              <a:ext uri="{FF2B5EF4-FFF2-40B4-BE49-F238E27FC236}">
                <a16:creationId xmlns:a16="http://schemas.microsoft.com/office/drawing/2014/main" id="{EF56EA9A-3DA7-A34F-93D6-5543683FD4DF}"/>
              </a:ext>
            </a:extLst>
          </p:cNvPr>
          <p:cNvSpPr>
            <a:spLocks noGrp="1"/>
          </p:cNvSpPr>
          <p:nvPr>
            <p:ph type="sldNum" sz="quarter" idx="11"/>
          </p:nvPr>
        </p:nvSpPr>
        <p:spPr/>
        <p:txBody>
          <a:bodyPr/>
          <a:lstStyle/>
          <a:p>
            <a:pPr>
              <a:defRPr/>
            </a:pPr>
            <a:fld id="{9CD3246B-4504-6A44-A3C6-3AD1B220008A}" type="slidenum">
              <a:rPr lang="en-US" altLang="en-US" smtClean="0"/>
              <a:pPr>
                <a:defRPr/>
              </a:pPr>
              <a:t>51</a:t>
            </a:fld>
            <a:endParaRPr lang="en-US" altLang="en-US"/>
          </a:p>
        </p:txBody>
      </p:sp>
      <p:pic>
        <p:nvPicPr>
          <p:cNvPr id="5" name="Picture 4">
            <a:extLst>
              <a:ext uri="{FF2B5EF4-FFF2-40B4-BE49-F238E27FC236}">
                <a16:creationId xmlns:a16="http://schemas.microsoft.com/office/drawing/2014/main" id="{540F4E9A-FBE7-984D-BB99-8A98310C21CA}"/>
              </a:ext>
            </a:extLst>
          </p:cNvPr>
          <p:cNvPicPr>
            <a:picLocks noChangeAspect="1"/>
          </p:cNvPicPr>
          <p:nvPr/>
        </p:nvPicPr>
        <p:blipFill>
          <a:blip r:embed="rId2"/>
          <a:stretch>
            <a:fillRect/>
          </a:stretch>
        </p:blipFill>
        <p:spPr>
          <a:xfrm>
            <a:off x="1143000" y="1371600"/>
            <a:ext cx="6959600" cy="3644900"/>
          </a:xfrm>
          <a:prstGeom prst="rect">
            <a:avLst/>
          </a:prstGeom>
        </p:spPr>
      </p:pic>
      <p:sp>
        <p:nvSpPr>
          <p:cNvPr id="7" name="TextBox 6">
            <a:extLst>
              <a:ext uri="{FF2B5EF4-FFF2-40B4-BE49-F238E27FC236}">
                <a16:creationId xmlns:a16="http://schemas.microsoft.com/office/drawing/2014/main" id="{24C7AB88-0C68-1F47-B7B6-375711BC2DD4}"/>
              </a:ext>
            </a:extLst>
          </p:cNvPr>
          <p:cNvSpPr txBox="1"/>
          <p:nvPr/>
        </p:nvSpPr>
        <p:spPr>
          <a:xfrm>
            <a:off x="304800" y="5791200"/>
            <a:ext cx="8183651" cy="584775"/>
          </a:xfrm>
          <a:prstGeom prst="rect">
            <a:avLst/>
          </a:prstGeom>
          <a:noFill/>
        </p:spPr>
        <p:txBody>
          <a:bodyPr wrap="none" rtlCol="0">
            <a:spAutoFit/>
          </a:bodyPr>
          <a:lstStyle/>
          <a:p>
            <a:pPr lvl="1" algn="ctr"/>
            <a:r>
              <a:rPr lang="en-US" altLang="en-US" dirty="0"/>
              <a:t>Kim &amp; Mutlu, “Memory Systems,” Computing Handbook, 2014</a:t>
            </a:r>
          </a:p>
          <a:p>
            <a:pPr lvl="1" algn="ctr"/>
            <a:r>
              <a:rPr lang="en-US" altLang="en-US" sz="1400" dirty="0"/>
              <a:t>https://people.inf.ethz.ch/omutlu/pub/memory-systems-introduction_computing-handbook14.pdf</a:t>
            </a:r>
          </a:p>
        </p:txBody>
      </p:sp>
    </p:spTree>
    <p:extLst>
      <p:ext uri="{BB962C8B-B14F-4D97-AF65-F5344CB8AC3E}">
        <p14:creationId xmlns:p14="http://schemas.microsoft.com/office/powerpoint/2010/main" val="287280226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1">
            <a:extLst>
              <a:ext uri="{FF2B5EF4-FFF2-40B4-BE49-F238E27FC236}">
                <a16:creationId xmlns:a16="http://schemas.microsoft.com/office/drawing/2014/main" id="{86691543-15E9-1548-A371-F90877B9B943}"/>
              </a:ext>
            </a:extLst>
          </p:cNvPr>
          <p:cNvSpPr>
            <a:spLocks noGrp="1" noChangeArrowheads="1"/>
          </p:cNvSpPr>
          <p:nvPr>
            <p:ph type="title"/>
          </p:nvPr>
        </p:nvSpPr>
        <p:spPr/>
        <p:txBody>
          <a:bodyPr/>
          <a:lstStyle/>
          <a:p>
            <a:r>
              <a:rPr lang="en-US" altLang="en-US">
                <a:ea typeface="ＭＳ Ｐゴシック" panose="020B0600070205080204" pitchFamily="34" charset="-128"/>
              </a:rPr>
              <a:t>Cache Abstraction and Metrics</a:t>
            </a:r>
          </a:p>
        </p:txBody>
      </p:sp>
      <p:sp>
        <p:nvSpPr>
          <p:cNvPr id="83970" name="Content Placeholder 2">
            <a:extLst>
              <a:ext uri="{FF2B5EF4-FFF2-40B4-BE49-F238E27FC236}">
                <a16:creationId xmlns:a16="http://schemas.microsoft.com/office/drawing/2014/main" id="{5DAD75D3-1F4C-064F-9F3A-CC826C6AFC1C}"/>
              </a:ext>
            </a:extLst>
          </p:cNvPr>
          <p:cNvSpPr>
            <a:spLocks noGrp="1" noChangeArrowheads="1"/>
          </p:cNvSpPr>
          <p:nvPr>
            <p:ph idx="1"/>
          </p:nvPr>
        </p:nvSpPr>
        <p:spPr>
          <a:xfrm>
            <a:off x="228600" y="996950"/>
            <a:ext cx="8610600" cy="5194300"/>
          </a:xfrm>
        </p:spPr>
        <p:txBody>
          <a:bodyPr/>
          <a:lstStyle/>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r>
              <a:rPr lang="en-US" altLang="en-US" sz="1900" b="1" dirty="0">
                <a:ea typeface="ＭＳ Ｐゴシック" panose="020B0600070205080204" pitchFamily="34" charset="-128"/>
              </a:rPr>
              <a:t>Cache hit rate </a:t>
            </a:r>
            <a:r>
              <a:rPr lang="en-US" altLang="en-US" sz="1900" dirty="0">
                <a:ea typeface="ＭＳ Ｐゴシック" panose="020B0600070205080204" pitchFamily="34" charset="-128"/>
              </a:rPr>
              <a:t>= (# hits) / (# hits + # misses) = (# hits) / (# accesses)</a:t>
            </a:r>
          </a:p>
          <a:p>
            <a:r>
              <a:rPr lang="en-US" altLang="en-US" sz="1900" b="1" dirty="0">
                <a:ea typeface="ＭＳ Ｐゴシック" panose="020B0600070205080204" pitchFamily="34" charset="-128"/>
              </a:rPr>
              <a:t>Average memory access time (AMAT)</a:t>
            </a:r>
          </a:p>
          <a:p>
            <a:pPr>
              <a:buFont typeface="Wingdings" pitchFamily="2" charset="2"/>
              <a:buNone/>
            </a:pPr>
            <a:r>
              <a:rPr lang="en-US" altLang="en-US" sz="2000" dirty="0">
                <a:ea typeface="ＭＳ Ｐゴシック" panose="020B0600070205080204" pitchFamily="34" charset="-128"/>
              </a:rPr>
              <a:t>	= ( hit-rate * hit-latency ) + ( miss-rate * miss-latency )</a:t>
            </a:r>
          </a:p>
          <a:p>
            <a:r>
              <a:rPr lang="en-US" altLang="en-US" sz="2000" dirty="0">
                <a:ea typeface="ＭＳ Ｐゴシック" panose="020B0600070205080204" pitchFamily="34" charset="-128"/>
              </a:rPr>
              <a:t>Important Aside: </a:t>
            </a:r>
            <a:r>
              <a:rPr lang="en-US" altLang="en-US" sz="2000" i="1" dirty="0">
                <a:ea typeface="ＭＳ Ｐゴシック" panose="020B0600070205080204" pitchFamily="34" charset="-128"/>
              </a:rPr>
              <a:t>Is reducing AMAT always beneficial for performance?</a:t>
            </a:r>
            <a:endParaRPr lang="en-US" altLang="en-US" sz="1900" i="1" dirty="0">
              <a:ea typeface="ＭＳ Ｐゴシック" panose="020B0600070205080204" pitchFamily="34" charset="-128"/>
            </a:endParaRPr>
          </a:p>
        </p:txBody>
      </p:sp>
      <p:sp>
        <p:nvSpPr>
          <p:cNvPr id="121859" name="Slide Number Placeholder 3">
            <a:extLst>
              <a:ext uri="{FF2B5EF4-FFF2-40B4-BE49-F238E27FC236}">
                <a16:creationId xmlns:a16="http://schemas.microsoft.com/office/drawing/2014/main" id="{C20DEC91-5F15-EF45-BA55-C7CB5C53D61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8D973330-6274-2840-B449-11153AC7E4A2}" type="slidenum">
              <a:rPr lang="en-US" altLang="en-US" sz="1600" smtClean="0">
                <a:solidFill>
                  <a:srgbClr val="000000"/>
                </a:solidFill>
                <a:latin typeface="Garamond" panose="02020404030301010803" pitchFamily="18" charset="0"/>
              </a:rPr>
              <a:pPr eaLnBrk="1" hangingPunct="1">
                <a:spcBef>
                  <a:spcPct val="0"/>
                </a:spcBef>
                <a:buClrTx/>
                <a:buSzTx/>
                <a:buFontTx/>
                <a:buNone/>
              </a:pPr>
              <a:t>52</a:t>
            </a:fld>
            <a:endParaRPr lang="en-US" altLang="en-US" sz="1600">
              <a:solidFill>
                <a:srgbClr val="000000"/>
              </a:solidFill>
              <a:latin typeface="Garamond" panose="02020404030301010803" pitchFamily="18" charset="0"/>
            </a:endParaRPr>
          </a:p>
        </p:txBody>
      </p:sp>
      <p:sp>
        <p:nvSpPr>
          <p:cNvPr id="121860" name="TextBox 5">
            <a:extLst>
              <a:ext uri="{FF2B5EF4-FFF2-40B4-BE49-F238E27FC236}">
                <a16:creationId xmlns:a16="http://schemas.microsoft.com/office/drawing/2014/main" id="{A8930F8D-4FB7-3549-8928-09DF10E0FB4C}"/>
              </a:ext>
            </a:extLst>
          </p:cNvPr>
          <p:cNvSpPr txBox="1">
            <a:spLocks noChangeArrowheads="1"/>
          </p:cNvSpPr>
          <p:nvPr/>
        </p:nvSpPr>
        <p:spPr bwMode="auto">
          <a:xfrm>
            <a:off x="674688" y="1652588"/>
            <a:ext cx="1030287"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Address</a:t>
            </a:r>
          </a:p>
        </p:txBody>
      </p:sp>
      <p:sp>
        <p:nvSpPr>
          <p:cNvPr id="121861" name="Rectangle 6">
            <a:extLst>
              <a:ext uri="{FF2B5EF4-FFF2-40B4-BE49-F238E27FC236}">
                <a16:creationId xmlns:a16="http://schemas.microsoft.com/office/drawing/2014/main" id="{DC091819-204E-2F44-B5B7-AD66389904B4}"/>
              </a:ext>
            </a:extLst>
          </p:cNvPr>
          <p:cNvSpPr>
            <a:spLocks noChangeArrowheads="1"/>
          </p:cNvSpPr>
          <p:nvPr/>
        </p:nvSpPr>
        <p:spPr bwMode="auto">
          <a:xfrm>
            <a:off x="3463925" y="1652588"/>
            <a:ext cx="1874838" cy="19129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1862" name="TextBox 7">
            <a:extLst>
              <a:ext uri="{FF2B5EF4-FFF2-40B4-BE49-F238E27FC236}">
                <a16:creationId xmlns:a16="http://schemas.microsoft.com/office/drawing/2014/main" id="{AFA84543-9EEE-E641-A14C-D3881B0DE4D5}"/>
              </a:ext>
            </a:extLst>
          </p:cNvPr>
          <p:cNvSpPr txBox="1">
            <a:spLocks noChangeArrowheads="1"/>
          </p:cNvSpPr>
          <p:nvPr/>
        </p:nvSpPr>
        <p:spPr bwMode="auto">
          <a:xfrm>
            <a:off x="3151328" y="1837531"/>
            <a:ext cx="231602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b="1" dirty="0">
                <a:solidFill>
                  <a:srgbClr val="000000"/>
                </a:solidFill>
                <a:latin typeface="Arial" panose="020B0604020202020204" pitchFamily="34" charset="0"/>
              </a:rPr>
              <a:t>Tag Store</a:t>
            </a:r>
            <a:endParaRPr lang="en-US" altLang="en-US" sz="1800" dirty="0">
              <a:solidFill>
                <a:srgbClr val="000000"/>
              </a:solidFill>
              <a:latin typeface="Arial" panose="020B0604020202020204" pitchFamily="34" charset="0"/>
            </a:endParaRPr>
          </a:p>
          <a:p>
            <a:pPr algn="ctr" eaLnBrk="1" hangingPunct="1">
              <a:spcBef>
                <a:spcPct val="0"/>
              </a:spcBef>
              <a:buClrTx/>
              <a:buSzTx/>
              <a:buFontTx/>
              <a:buNone/>
            </a:pPr>
            <a:r>
              <a:rPr lang="en-US" altLang="en-US" sz="1800" dirty="0">
                <a:solidFill>
                  <a:srgbClr val="000000"/>
                </a:solidFill>
                <a:latin typeface="Arial" panose="020B0604020202020204" pitchFamily="34" charset="0"/>
              </a:rPr>
              <a:t>(</a:t>
            </a:r>
            <a:r>
              <a:rPr lang="en-US" altLang="en-US" sz="1800" dirty="0">
                <a:solidFill>
                  <a:srgbClr val="0000FF"/>
                </a:solidFill>
                <a:latin typeface="Arial" panose="020B0604020202020204" pitchFamily="34" charset="0"/>
              </a:rPr>
              <a:t>Valid bit </a:t>
            </a:r>
            <a:r>
              <a:rPr lang="en-US" altLang="en-US" sz="1800" dirty="0">
                <a:latin typeface="Arial" panose="020B0604020202020204" pitchFamily="34" charset="0"/>
              </a:rPr>
              <a:t>+</a:t>
            </a:r>
          </a:p>
          <a:p>
            <a:pPr algn="ctr" eaLnBrk="1" hangingPunct="1">
              <a:spcBef>
                <a:spcPct val="0"/>
              </a:spcBef>
              <a:buClrTx/>
              <a:buSzTx/>
              <a:buFontTx/>
              <a:buNone/>
            </a:pPr>
            <a:r>
              <a:rPr lang="en-US" altLang="en-US" sz="1800" dirty="0">
                <a:solidFill>
                  <a:srgbClr val="0000FF"/>
                </a:solidFill>
                <a:latin typeface="Arial" panose="020B0604020202020204" pitchFamily="34" charset="0"/>
              </a:rPr>
              <a:t>     Address tag </a:t>
            </a:r>
            <a:r>
              <a:rPr lang="en-US" altLang="en-US" sz="1800" dirty="0">
                <a:latin typeface="Arial" panose="020B0604020202020204" pitchFamily="34" charset="0"/>
              </a:rPr>
              <a:t>+</a:t>
            </a:r>
          </a:p>
          <a:p>
            <a:pPr algn="ctr" eaLnBrk="1" hangingPunct="1">
              <a:spcBef>
                <a:spcPct val="0"/>
              </a:spcBef>
              <a:buClrTx/>
              <a:buSzTx/>
              <a:buFontTx/>
              <a:buNone/>
            </a:pPr>
            <a:r>
              <a:rPr lang="en-US" altLang="en-US" sz="1800" dirty="0">
                <a:solidFill>
                  <a:srgbClr val="0000FF"/>
                </a:solidFill>
                <a:latin typeface="Arial" panose="020B0604020202020204" pitchFamily="34" charset="0"/>
              </a:rPr>
              <a:t>     Replacement policy bits</a:t>
            </a:r>
            <a:r>
              <a:rPr lang="en-US" altLang="en-US" sz="1800" dirty="0">
                <a:solidFill>
                  <a:srgbClr val="000000"/>
                </a:solidFill>
                <a:latin typeface="Arial" panose="020B0604020202020204" pitchFamily="34" charset="0"/>
              </a:rPr>
              <a:t>)</a:t>
            </a:r>
          </a:p>
          <a:p>
            <a:pPr eaLnBrk="1" hangingPunct="1">
              <a:spcBef>
                <a:spcPct val="0"/>
              </a:spcBef>
              <a:buClrTx/>
              <a:buSzTx/>
              <a:buFontTx/>
              <a:buNone/>
            </a:pPr>
            <a:endParaRPr lang="en-US" altLang="en-US" sz="1800" dirty="0">
              <a:solidFill>
                <a:srgbClr val="000000"/>
              </a:solidFill>
              <a:latin typeface="Arial" panose="020B0604020202020204" pitchFamily="34" charset="0"/>
            </a:endParaRPr>
          </a:p>
          <a:p>
            <a:pPr eaLnBrk="1" hangingPunct="1">
              <a:spcBef>
                <a:spcPct val="0"/>
              </a:spcBef>
              <a:buClrTx/>
              <a:buSzTx/>
              <a:buFontTx/>
              <a:buNone/>
            </a:pPr>
            <a:endParaRPr lang="en-US" altLang="en-US" sz="1800" dirty="0">
              <a:solidFill>
                <a:srgbClr val="000000"/>
              </a:solidFill>
              <a:latin typeface="Arial" panose="020B0604020202020204" pitchFamily="34" charset="0"/>
            </a:endParaRPr>
          </a:p>
          <a:p>
            <a:pPr eaLnBrk="1" hangingPunct="1">
              <a:spcBef>
                <a:spcPct val="0"/>
              </a:spcBef>
              <a:buClrTx/>
              <a:buSzTx/>
              <a:buFontTx/>
              <a:buNone/>
            </a:pPr>
            <a:endParaRPr lang="en-US" altLang="en-US" sz="1800" dirty="0">
              <a:solidFill>
                <a:srgbClr val="000000"/>
              </a:solidFill>
              <a:latin typeface="Arial" panose="020B0604020202020204" pitchFamily="34" charset="0"/>
            </a:endParaRPr>
          </a:p>
        </p:txBody>
      </p:sp>
      <p:sp>
        <p:nvSpPr>
          <p:cNvPr id="121863" name="Rectangle 8">
            <a:extLst>
              <a:ext uri="{FF2B5EF4-FFF2-40B4-BE49-F238E27FC236}">
                <a16:creationId xmlns:a16="http://schemas.microsoft.com/office/drawing/2014/main" id="{903EDBFD-0C7E-E743-B827-3CAD20731B24}"/>
              </a:ext>
            </a:extLst>
          </p:cNvPr>
          <p:cNvSpPr>
            <a:spLocks noChangeArrowheads="1"/>
          </p:cNvSpPr>
          <p:nvPr/>
        </p:nvSpPr>
        <p:spPr bwMode="auto">
          <a:xfrm>
            <a:off x="6229350" y="1652588"/>
            <a:ext cx="1874838" cy="19129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1864" name="TextBox 9">
            <a:extLst>
              <a:ext uri="{FF2B5EF4-FFF2-40B4-BE49-F238E27FC236}">
                <a16:creationId xmlns:a16="http://schemas.microsoft.com/office/drawing/2014/main" id="{93F5923F-41ED-954B-B43C-BF2A5A0B4BEC}"/>
              </a:ext>
            </a:extLst>
          </p:cNvPr>
          <p:cNvSpPr txBox="1">
            <a:spLocks noChangeArrowheads="1"/>
          </p:cNvSpPr>
          <p:nvPr/>
        </p:nvSpPr>
        <p:spPr bwMode="auto">
          <a:xfrm>
            <a:off x="6543393" y="1828800"/>
            <a:ext cx="133882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b="1" dirty="0">
                <a:solidFill>
                  <a:srgbClr val="000000"/>
                </a:solidFill>
                <a:latin typeface="Arial" panose="020B0604020202020204" pitchFamily="34" charset="0"/>
              </a:rPr>
              <a:t>Data Store</a:t>
            </a:r>
          </a:p>
          <a:p>
            <a:pPr algn="ctr" eaLnBrk="1" hangingPunct="1">
              <a:spcBef>
                <a:spcPct val="0"/>
              </a:spcBef>
              <a:buClrTx/>
              <a:buSzTx/>
              <a:buFontTx/>
              <a:buNone/>
            </a:pPr>
            <a:endParaRPr lang="en-US" altLang="en-US" sz="1800" dirty="0">
              <a:solidFill>
                <a:srgbClr val="000000"/>
              </a:solidFill>
              <a:latin typeface="Arial" panose="020B0604020202020204" pitchFamily="34" charset="0"/>
            </a:endParaRPr>
          </a:p>
          <a:p>
            <a:pPr algn="ctr" eaLnBrk="1" hangingPunct="1">
              <a:spcBef>
                <a:spcPct val="0"/>
              </a:spcBef>
              <a:buClrTx/>
              <a:buSzTx/>
              <a:buFontTx/>
              <a:buNone/>
            </a:pPr>
            <a:r>
              <a:rPr lang="en-US" altLang="en-US" sz="1800" dirty="0">
                <a:solidFill>
                  <a:srgbClr val="000000"/>
                </a:solidFill>
                <a:latin typeface="Arial" panose="020B0604020202020204" pitchFamily="34" charset="0"/>
              </a:rPr>
              <a:t>(stores </a:t>
            </a:r>
          </a:p>
          <a:p>
            <a:pPr algn="ctr" eaLnBrk="1" hangingPunct="1">
              <a:spcBef>
                <a:spcPct val="0"/>
              </a:spcBef>
              <a:buClrTx/>
              <a:buSzTx/>
              <a:buFontTx/>
              <a:buNone/>
            </a:pPr>
            <a:r>
              <a:rPr lang="en-US" altLang="en-US" sz="1800" dirty="0">
                <a:solidFill>
                  <a:srgbClr val="000000"/>
                </a:solidFill>
                <a:latin typeface="Arial" panose="020B0604020202020204" pitchFamily="34" charset="0"/>
              </a:rPr>
              <a:t>memory </a:t>
            </a:r>
          </a:p>
          <a:p>
            <a:pPr algn="ctr" eaLnBrk="1" hangingPunct="1">
              <a:spcBef>
                <a:spcPct val="0"/>
              </a:spcBef>
              <a:buClrTx/>
              <a:buSzTx/>
              <a:buFontTx/>
              <a:buNone/>
            </a:pPr>
            <a:r>
              <a:rPr lang="en-US" altLang="en-US" sz="1800" dirty="0">
                <a:solidFill>
                  <a:srgbClr val="000000"/>
                </a:solidFill>
                <a:latin typeface="Arial" panose="020B0604020202020204" pitchFamily="34" charset="0"/>
              </a:rPr>
              <a:t>blocks)</a:t>
            </a:r>
          </a:p>
        </p:txBody>
      </p:sp>
      <p:cxnSp>
        <p:nvCxnSpPr>
          <p:cNvPr id="121865" name="Straight Arrow Connector 11">
            <a:extLst>
              <a:ext uri="{FF2B5EF4-FFF2-40B4-BE49-F238E27FC236}">
                <a16:creationId xmlns:a16="http://schemas.microsoft.com/office/drawing/2014/main" id="{E6F9F0D0-0529-CE49-AD13-6F423E6D6CD4}"/>
              </a:ext>
            </a:extLst>
          </p:cNvPr>
          <p:cNvCxnSpPr>
            <a:cxnSpLocks noChangeShapeType="1"/>
            <a:stCxn id="121860" idx="3"/>
          </p:cNvCxnSpPr>
          <p:nvPr/>
        </p:nvCxnSpPr>
        <p:spPr bwMode="auto">
          <a:xfrm flipV="1">
            <a:off x="1704975" y="1828800"/>
            <a:ext cx="1758950" cy="95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1866" name="Straight Connector 13">
            <a:extLst>
              <a:ext uri="{FF2B5EF4-FFF2-40B4-BE49-F238E27FC236}">
                <a16:creationId xmlns:a16="http://schemas.microsoft.com/office/drawing/2014/main" id="{462517A9-B095-D442-B387-8CF9031530E8}"/>
              </a:ext>
            </a:extLst>
          </p:cNvPr>
          <p:cNvCxnSpPr>
            <a:cxnSpLocks noChangeShapeType="1"/>
          </p:cNvCxnSpPr>
          <p:nvPr/>
        </p:nvCxnSpPr>
        <p:spPr bwMode="auto">
          <a:xfrm rot="5400000" flipH="1" flipV="1">
            <a:off x="2489200" y="1584325"/>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1867" name="Straight Connector 16">
            <a:extLst>
              <a:ext uri="{FF2B5EF4-FFF2-40B4-BE49-F238E27FC236}">
                <a16:creationId xmlns:a16="http://schemas.microsoft.com/office/drawing/2014/main" id="{A08259CB-6595-7543-8F7C-DD4EAE4DA46B}"/>
              </a:ext>
            </a:extLst>
          </p:cNvPr>
          <p:cNvCxnSpPr>
            <a:cxnSpLocks noChangeShapeType="1"/>
          </p:cNvCxnSpPr>
          <p:nvPr/>
        </p:nvCxnSpPr>
        <p:spPr bwMode="auto">
          <a:xfrm>
            <a:off x="2733675" y="1339850"/>
            <a:ext cx="29654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1868" name="Straight Connector 18">
            <a:extLst>
              <a:ext uri="{FF2B5EF4-FFF2-40B4-BE49-F238E27FC236}">
                <a16:creationId xmlns:a16="http://schemas.microsoft.com/office/drawing/2014/main" id="{5C29A8B8-9899-C644-A92F-784138B34C84}"/>
              </a:ext>
            </a:extLst>
          </p:cNvPr>
          <p:cNvCxnSpPr>
            <a:cxnSpLocks noChangeShapeType="1"/>
          </p:cNvCxnSpPr>
          <p:nvPr/>
        </p:nvCxnSpPr>
        <p:spPr bwMode="auto">
          <a:xfrm rot="5400000">
            <a:off x="5454651" y="1584325"/>
            <a:ext cx="487362"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1869" name="Straight Arrow Connector 20">
            <a:extLst>
              <a:ext uri="{FF2B5EF4-FFF2-40B4-BE49-F238E27FC236}">
                <a16:creationId xmlns:a16="http://schemas.microsoft.com/office/drawing/2014/main" id="{2DA71E7C-41FA-4040-9CBF-75B4BE724244}"/>
              </a:ext>
            </a:extLst>
          </p:cNvPr>
          <p:cNvCxnSpPr>
            <a:cxnSpLocks noChangeShapeType="1"/>
          </p:cNvCxnSpPr>
          <p:nvPr/>
        </p:nvCxnSpPr>
        <p:spPr bwMode="auto">
          <a:xfrm flipV="1">
            <a:off x="5699125" y="1828800"/>
            <a:ext cx="530225" cy="95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1870" name="Straight Arrow Connector 22">
            <a:extLst>
              <a:ext uri="{FF2B5EF4-FFF2-40B4-BE49-F238E27FC236}">
                <a16:creationId xmlns:a16="http://schemas.microsoft.com/office/drawing/2014/main" id="{54BFBCE7-13AD-5D40-9030-B5FC63BC2485}"/>
              </a:ext>
            </a:extLst>
          </p:cNvPr>
          <p:cNvCxnSpPr>
            <a:cxnSpLocks noChangeShapeType="1"/>
          </p:cNvCxnSpPr>
          <p:nvPr/>
        </p:nvCxnSpPr>
        <p:spPr bwMode="auto">
          <a:xfrm rot="16200000" flipH="1">
            <a:off x="4106069" y="3883819"/>
            <a:ext cx="646113" cy="95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21871" name="TextBox 23">
            <a:extLst>
              <a:ext uri="{FF2B5EF4-FFF2-40B4-BE49-F238E27FC236}">
                <a16:creationId xmlns:a16="http://schemas.microsoft.com/office/drawing/2014/main" id="{BCB9BF51-2D75-6E47-930E-82700EF02B1F}"/>
              </a:ext>
            </a:extLst>
          </p:cNvPr>
          <p:cNvSpPr txBox="1">
            <a:spLocks noChangeArrowheads="1"/>
          </p:cNvSpPr>
          <p:nvPr/>
        </p:nvSpPr>
        <p:spPr bwMode="auto">
          <a:xfrm>
            <a:off x="3867150" y="4211638"/>
            <a:ext cx="1133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Hit/miss?</a:t>
            </a:r>
          </a:p>
        </p:txBody>
      </p:sp>
      <p:cxnSp>
        <p:nvCxnSpPr>
          <p:cNvPr id="121872" name="Straight Arrow Connector 25">
            <a:extLst>
              <a:ext uri="{FF2B5EF4-FFF2-40B4-BE49-F238E27FC236}">
                <a16:creationId xmlns:a16="http://schemas.microsoft.com/office/drawing/2014/main" id="{78206B3C-9788-4A47-A2D3-57E3849AE9C9}"/>
              </a:ext>
            </a:extLst>
          </p:cNvPr>
          <p:cNvCxnSpPr>
            <a:cxnSpLocks noChangeShapeType="1"/>
            <a:stCxn id="121863" idx="2"/>
          </p:cNvCxnSpPr>
          <p:nvPr/>
        </p:nvCxnSpPr>
        <p:spPr bwMode="auto">
          <a:xfrm rot="5400000">
            <a:off x="6839744" y="3883819"/>
            <a:ext cx="646113" cy="9525"/>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121873" name="TextBox 26">
            <a:extLst>
              <a:ext uri="{FF2B5EF4-FFF2-40B4-BE49-F238E27FC236}">
                <a16:creationId xmlns:a16="http://schemas.microsoft.com/office/drawing/2014/main" id="{DCC63DCC-BBAE-0647-8247-7FA678323AA0}"/>
              </a:ext>
            </a:extLst>
          </p:cNvPr>
          <p:cNvSpPr txBox="1">
            <a:spLocks noChangeArrowheads="1"/>
          </p:cNvSpPr>
          <p:nvPr/>
        </p:nvSpPr>
        <p:spPr bwMode="auto">
          <a:xfrm>
            <a:off x="6845300" y="4211638"/>
            <a:ext cx="67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Data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0">
                                            <p:txEl>
                                              <p:pRg st="9" end="9"/>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3970">
                                            <p:txEl>
                                              <p:pRg st="10" end="1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3970">
                                            <p:txEl>
                                              <p:pRg st="11" end="1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397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ChangeArrowheads="1"/>
          </p:cNvSpPr>
          <p:nvPr>
            <p:custDataLst>
              <p:tags r:id="rId2"/>
            </p:custDataLst>
          </p:nvPr>
        </p:nvSpPr>
        <p:spPr bwMode="auto">
          <a:xfrm>
            <a:off x="1295400" y="1121410"/>
            <a:ext cx="8077200" cy="5181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p:txBody>
      </p:sp>
      <p:sp>
        <p:nvSpPr>
          <p:cNvPr id="64514" name="Rectangle 3"/>
          <p:cNvSpPr>
            <a:spLocks noGrp="1" noChangeArrowheads="1"/>
          </p:cNvSpPr>
          <p:nvPr>
            <p:ph type="title"/>
            <p:custDataLst>
              <p:tags r:id="rId3"/>
            </p:custDataLst>
          </p:nvPr>
        </p:nvSpPr>
        <p:spPr/>
        <p:txBody>
          <a:bodyPr/>
          <a:lstStyle/>
          <a:p>
            <a:r>
              <a:rPr lang="en-US" altLang="en-US" dirty="0">
                <a:ea typeface="ＭＳ Ｐゴシック" panose="020B0600070205080204" pitchFamily="34" charset="-128"/>
              </a:rPr>
              <a:t>Addressing the Cache</a:t>
            </a:r>
            <a:endParaRPr lang="en-US" dirty="0">
              <a:latin typeface="Consolas" pitchFamily="49" charset="0"/>
            </a:endParaRPr>
          </a:p>
        </p:txBody>
      </p:sp>
      <p:graphicFrame>
        <p:nvGraphicFramePr>
          <p:cNvPr id="64517" name="Object 2"/>
          <p:cNvGraphicFramePr>
            <a:graphicFrameLocks noGrp="1" noChangeAspect="1"/>
          </p:cNvGraphicFramePr>
          <p:nvPr>
            <p:ph idx="1"/>
            <p:custDataLst>
              <p:tags r:id="rId4"/>
            </p:custDataLst>
            <p:extLst>
              <p:ext uri="{D42A27DB-BD31-4B8C-83A1-F6EECF244321}">
                <p14:modId xmlns:p14="http://schemas.microsoft.com/office/powerpoint/2010/main" val="2064438045"/>
              </p:ext>
            </p:extLst>
          </p:nvPr>
        </p:nvGraphicFramePr>
        <p:xfrm>
          <a:off x="4876800" y="1371600"/>
          <a:ext cx="5654042" cy="4503912"/>
        </p:xfrm>
        <a:graphic>
          <a:graphicData uri="http://schemas.openxmlformats.org/presentationml/2006/ole">
            <mc:AlternateContent xmlns:mc="http://schemas.openxmlformats.org/markup-compatibility/2006">
              <mc:Choice xmlns:v="urn:schemas-microsoft-com:vml" Requires="v">
                <p:oleObj spid="_x0000_s437437" name="VISIO" r:id="rId9" imgW="3003804" imgH="2392680" progId="Visio.Drawing.6">
                  <p:embed/>
                </p:oleObj>
              </mc:Choice>
              <mc:Fallback>
                <p:oleObj name="VISIO" r:id="rId9" imgW="3003804" imgH="2392680" progId="Visio.Drawing.6">
                  <p:embed/>
                  <p:pic>
                    <p:nvPicPr>
                      <p:cNvPr id="64517"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800" y="1371600"/>
                        <a:ext cx="5654042" cy="45039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64515" name="Rectangle 4"/>
          <p:cNvSpPr>
            <a:spLocks noChangeArrowheads="1"/>
          </p:cNvSpPr>
          <p:nvPr>
            <p:custDataLst>
              <p:tags r:id="rId5"/>
            </p:custDataLst>
          </p:nvPr>
        </p:nvSpPr>
        <p:spPr bwMode="auto">
          <a:xfrm>
            <a:off x="0" y="1230313"/>
            <a:ext cx="1841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64516" name="Rectangle 5"/>
          <p:cNvSpPr>
            <a:spLocks noChangeArrowheads="1"/>
          </p:cNvSpPr>
          <p:nvPr>
            <p:custDataLst>
              <p:tags r:id="rId6"/>
            </p:custDataLst>
          </p:nvPr>
        </p:nvSpPr>
        <p:spPr bwMode="auto">
          <a:xfrm>
            <a:off x="0" y="673100"/>
            <a:ext cx="1841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7" name="Slide Number Placeholder 3">
            <a:extLst>
              <a:ext uri="{FF2B5EF4-FFF2-40B4-BE49-F238E27FC236}">
                <a16:creationId xmlns:a16="http://schemas.microsoft.com/office/drawing/2014/main" id="{2AF1002A-17A7-B645-96CB-75917AEF4C7C}"/>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C23605-ED41-994F-A93A-EA98B2475F8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6" name="矩形 5">
            <a:extLst>
              <a:ext uri="{FF2B5EF4-FFF2-40B4-BE49-F238E27FC236}">
                <a16:creationId xmlns:a16="http://schemas.microsoft.com/office/drawing/2014/main" id="{A701E0AC-B1BB-41BF-A598-91D4D6232C7D}"/>
              </a:ext>
            </a:extLst>
          </p:cNvPr>
          <p:cNvSpPr/>
          <p:nvPr/>
        </p:nvSpPr>
        <p:spPr>
          <a:xfrm>
            <a:off x="0" y="1279985"/>
            <a:ext cx="5029199" cy="3779496"/>
          </a:xfrm>
          <a:prstGeom prst="rect">
            <a:avLst/>
          </a:prstGeom>
        </p:spPr>
        <p:txBody>
          <a:bodyPr wrap="square">
            <a:spAutoFit/>
          </a:bodyPr>
          <a:lstStyle/>
          <a:p>
            <a:pPr marL="342900" lvl="0" indent="-342900">
              <a:spcBef>
                <a:spcPct val="20000"/>
              </a:spcBef>
              <a:buClr>
                <a:srgbClr val="CC9900"/>
              </a:buClr>
              <a:buSzPct val="65000"/>
              <a:buFont typeface="Wingdings" charset="0"/>
              <a:buChar char="n"/>
              <a:defRPr/>
            </a:pPr>
            <a:r>
              <a:rPr lang="en-US" altLang="zh-CN" sz="2400" kern="0" dirty="0">
                <a:solidFill>
                  <a:srgbClr val="000000"/>
                </a:solidFill>
                <a:latin typeface="Tahoma"/>
                <a:ea typeface="ＭＳ Ｐゴシック" charset="0"/>
              </a:rPr>
              <a:t>Cache access: </a:t>
            </a:r>
          </a:p>
          <a:p>
            <a:pPr marL="344487" lvl="1">
              <a:spcBef>
                <a:spcPct val="20000"/>
              </a:spcBef>
              <a:buClr>
                <a:srgbClr val="3B812F"/>
              </a:buClr>
              <a:buSzPct val="60000"/>
              <a:defRPr/>
            </a:pPr>
            <a:r>
              <a:rPr lang="en-US" altLang="zh-CN" sz="2200" kern="0" dirty="0">
                <a:solidFill>
                  <a:srgbClr val="000000"/>
                </a:solidFill>
                <a:latin typeface="Tahoma"/>
                <a:ea typeface="ＭＳ Ｐゴシック" pitchFamily="-106" charset="-128"/>
              </a:rPr>
              <a:t>  1) index into the tag and data stores with index bits in address; </a:t>
            </a:r>
          </a:p>
          <a:p>
            <a:pPr marL="344487" lvl="1">
              <a:spcBef>
                <a:spcPct val="20000"/>
              </a:spcBef>
              <a:buClr>
                <a:srgbClr val="3B812F"/>
              </a:buClr>
              <a:buSzPct val="60000"/>
              <a:defRPr/>
            </a:pPr>
            <a:r>
              <a:rPr lang="en-US" altLang="zh-CN" sz="2200" kern="0" dirty="0">
                <a:solidFill>
                  <a:srgbClr val="000000"/>
                </a:solidFill>
                <a:latin typeface="Tahoma"/>
                <a:ea typeface="ＭＳ Ｐゴシック" pitchFamily="-106" charset="-128"/>
              </a:rPr>
              <a:t>  2) checks valid bit in tag store;</a:t>
            </a:r>
          </a:p>
          <a:p>
            <a:pPr marL="344487" lvl="1">
              <a:spcBef>
                <a:spcPct val="20000"/>
              </a:spcBef>
              <a:buClr>
                <a:srgbClr val="3B812F"/>
              </a:buClr>
              <a:buSzPct val="60000"/>
              <a:defRPr/>
            </a:pPr>
            <a:r>
              <a:rPr lang="en-US" altLang="zh-CN" sz="2200" kern="0" dirty="0">
                <a:solidFill>
                  <a:srgbClr val="000000"/>
                </a:solidFill>
                <a:latin typeface="Tahoma"/>
                <a:ea typeface="ＭＳ Ｐゴシック" pitchFamily="-106" charset="-128"/>
              </a:rPr>
              <a:t>  3) compares tag bits in address with the stored tag in tag store;</a:t>
            </a:r>
          </a:p>
          <a:p>
            <a:pPr marL="344487" lvl="1">
              <a:spcBef>
                <a:spcPct val="20000"/>
              </a:spcBef>
              <a:buClr>
                <a:srgbClr val="3B812F"/>
              </a:buClr>
              <a:buSzPct val="60000"/>
              <a:defRPr/>
            </a:pPr>
            <a:r>
              <a:rPr lang="en-US" altLang="zh-CN" sz="2200" kern="0" dirty="0">
                <a:solidFill>
                  <a:srgbClr val="000000"/>
                </a:solidFill>
                <a:latin typeface="Tahoma"/>
                <a:ea typeface="ＭＳ Ｐゴシック" pitchFamily="-106" charset="-128"/>
              </a:rPr>
              <a:t>  4) If a block is in the cache (cache hit), the stored tag should be valid and match the tag of the block, and read out data. </a:t>
            </a:r>
          </a:p>
        </p:txBody>
      </p:sp>
      <p:pic>
        <p:nvPicPr>
          <p:cNvPr id="437252" name="Picture 4" descr="One In Circle Clip Art at Clker.com - vector clip art online, royalty free  &amp; public domain">
            <a:extLst>
              <a:ext uri="{FF2B5EF4-FFF2-40B4-BE49-F238E27FC236}">
                <a16:creationId xmlns:a16="http://schemas.microsoft.com/office/drawing/2014/main" id="{6B4C6FE5-868C-4E2C-8CF0-CAA2D315CF9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02779" y="2590800"/>
            <a:ext cx="384419" cy="330410"/>
          </a:xfrm>
          <a:prstGeom prst="rect">
            <a:avLst/>
          </a:prstGeom>
          <a:noFill/>
          <a:extLst>
            <a:ext uri="{909E8E84-426E-40DD-AFC4-6F175D3DCCD1}">
              <a14:hiddenFill xmlns:a14="http://schemas.microsoft.com/office/drawing/2010/main">
                <a:solidFill>
                  <a:srgbClr val="FFFFFF"/>
                </a:solidFill>
              </a14:hiddenFill>
            </a:ext>
          </a:extLst>
        </p:spPr>
      </p:pic>
      <p:pic>
        <p:nvPicPr>
          <p:cNvPr id="437254" name="Picture 6" descr="File:2 number black and white.svg - Wikimedia Commons">
            <a:extLst>
              <a:ext uri="{FF2B5EF4-FFF2-40B4-BE49-F238E27FC236}">
                <a16:creationId xmlns:a16="http://schemas.microsoft.com/office/drawing/2014/main" id="{F4608BA2-330A-47D7-9703-892A542A13D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38800" y="4472824"/>
            <a:ext cx="242992" cy="248103"/>
          </a:xfrm>
          <a:prstGeom prst="rect">
            <a:avLst/>
          </a:prstGeom>
          <a:noFill/>
          <a:extLst>
            <a:ext uri="{909E8E84-426E-40DD-AFC4-6F175D3DCCD1}">
              <a14:hiddenFill xmlns:a14="http://schemas.microsoft.com/office/drawing/2010/main">
                <a:solidFill>
                  <a:srgbClr val="FFFFFF"/>
                </a:solidFill>
              </a14:hiddenFill>
            </a:ext>
          </a:extLst>
        </p:spPr>
      </p:pic>
      <p:pic>
        <p:nvPicPr>
          <p:cNvPr id="437256" name="Picture 8" descr="Number 3 In Circle, HD Png Download - kindpng">
            <a:extLst>
              <a:ext uri="{FF2B5EF4-FFF2-40B4-BE49-F238E27FC236}">
                <a16:creationId xmlns:a16="http://schemas.microsoft.com/office/drawing/2014/main" id="{AAE9B0ED-1153-439E-A8BF-A99EBA44B91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15099" y="4469203"/>
            <a:ext cx="242992" cy="255197"/>
          </a:xfrm>
          <a:prstGeom prst="rect">
            <a:avLst/>
          </a:prstGeom>
          <a:noFill/>
          <a:extLst>
            <a:ext uri="{909E8E84-426E-40DD-AFC4-6F175D3DCCD1}">
              <a14:hiddenFill xmlns:a14="http://schemas.microsoft.com/office/drawing/2010/main">
                <a:solidFill>
                  <a:srgbClr val="FFFFFF"/>
                </a:solidFill>
              </a14:hiddenFill>
            </a:ext>
          </a:extLst>
        </p:spPr>
      </p:pic>
      <p:pic>
        <p:nvPicPr>
          <p:cNvPr id="437260" name="Picture 12" descr="Circles Icons">
            <a:extLst>
              <a:ext uri="{FF2B5EF4-FFF2-40B4-BE49-F238E27FC236}">
                <a16:creationId xmlns:a16="http://schemas.microsoft.com/office/drawing/2014/main" id="{04460807-0CFD-4233-90E3-CB5586957B1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68884" y="4495800"/>
            <a:ext cx="255197" cy="255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893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72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72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72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72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10F3-620C-7046-A493-A7FECB9EF8FE}"/>
              </a:ext>
            </a:extLst>
          </p:cNvPr>
          <p:cNvSpPr>
            <a:spLocks noGrp="1"/>
          </p:cNvSpPr>
          <p:nvPr>
            <p:ph type="title"/>
          </p:nvPr>
        </p:nvSpPr>
        <p:spPr/>
        <p:txBody>
          <a:bodyPr/>
          <a:lstStyle/>
          <a:p>
            <a:r>
              <a:rPr lang="en-US" dirty="0"/>
              <a:t>A Toy </a:t>
            </a:r>
            <a:r>
              <a:rPr lang="en-US"/>
              <a:t>Example for </a:t>
            </a:r>
            <a:r>
              <a:rPr lang="en-US" dirty="0"/>
              <a:t>Cache</a:t>
            </a:r>
          </a:p>
        </p:txBody>
      </p:sp>
      <p:sp>
        <p:nvSpPr>
          <p:cNvPr id="3" name="Content Placeholder 2">
            <a:extLst>
              <a:ext uri="{FF2B5EF4-FFF2-40B4-BE49-F238E27FC236}">
                <a16:creationId xmlns:a16="http://schemas.microsoft.com/office/drawing/2014/main" id="{A7AED823-0284-D543-B800-5684851E154E}"/>
              </a:ext>
            </a:extLst>
          </p:cNvPr>
          <p:cNvSpPr>
            <a:spLocks noGrp="1"/>
          </p:cNvSpPr>
          <p:nvPr>
            <p:ph idx="1"/>
          </p:nvPr>
        </p:nvSpPr>
        <p:spPr>
          <a:xfrm>
            <a:off x="228600" y="997529"/>
            <a:ext cx="8839200" cy="5193723"/>
          </a:xfrm>
        </p:spPr>
        <p:txBody>
          <a:bodyPr/>
          <a:lstStyle/>
          <a:p>
            <a:r>
              <a:rPr lang="en-US" altLang="en-US" dirty="0">
                <a:ea typeface="ＭＳ Ｐゴシック" panose="020B0600070205080204" pitchFamily="34" charset="-128"/>
                <a:sym typeface="Wingdings" pitchFamily="2" charset="2"/>
              </a:rPr>
              <a:t>Toy example: </a:t>
            </a:r>
          </a:p>
          <a:p>
            <a:pPr lvl="1"/>
            <a:r>
              <a:rPr lang="en-US" altLang="en-US" dirty="0">
                <a:ea typeface="ＭＳ Ｐゴシック" panose="020B0600070205080204" pitchFamily="34" charset="-128"/>
                <a:sym typeface="Wingdings" pitchFamily="2" charset="2"/>
              </a:rPr>
              <a:t>256-byte memory, </a:t>
            </a:r>
          </a:p>
          <a:p>
            <a:pPr lvl="2"/>
            <a:r>
              <a:rPr lang="en-US" altLang="en-US" dirty="0">
                <a:ea typeface="ＭＳ Ｐゴシック" panose="020B0600070205080204" pitchFamily="34" charset="-128"/>
                <a:sym typeface="Wingdings" pitchFamily="2" charset="2"/>
              </a:rPr>
              <a:t> </a:t>
            </a:r>
            <a:r>
              <a:rPr lang="en-US" altLang="en-US" dirty="0">
                <a:solidFill>
                  <a:schemeClr val="bg1">
                    <a:lumMod val="50000"/>
                  </a:schemeClr>
                </a:solidFill>
                <a:ea typeface="ＭＳ Ｐゴシック" panose="020B0600070205080204" pitchFamily="34" charset="-128"/>
                <a:sym typeface="Wingdings" panose="05000000000000000000" pitchFamily="2" charset="2"/>
              </a:rPr>
              <a:t>8-bit address </a:t>
            </a:r>
          </a:p>
          <a:p>
            <a:pPr lvl="1"/>
            <a:r>
              <a:rPr lang="en-US" altLang="en-US" dirty="0">
                <a:ea typeface="ＭＳ Ｐゴシック" panose="020B0600070205080204" pitchFamily="34" charset="-128"/>
                <a:sym typeface="Wingdings" panose="05000000000000000000" pitchFamily="2" charset="2"/>
              </a:rPr>
              <a:t>64-byte cache, 8-byte blocks </a:t>
            </a:r>
          </a:p>
          <a:p>
            <a:pPr lvl="2"/>
            <a:r>
              <a:rPr lang="en-US" altLang="en-US" dirty="0">
                <a:ea typeface="ＭＳ Ｐゴシック" panose="020B0600070205080204" pitchFamily="34" charset="-128"/>
                <a:sym typeface="Wingdings" panose="05000000000000000000" pitchFamily="2" charset="2"/>
              </a:rPr>
              <a:t> </a:t>
            </a:r>
            <a:r>
              <a:rPr lang="en-US" altLang="en-US" dirty="0">
                <a:solidFill>
                  <a:schemeClr val="bg1">
                    <a:lumMod val="50000"/>
                  </a:schemeClr>
                </a:solidFill>
                <a:ea typeface="ＭＳ Ｐゴシック" panose="020B0600070205080204" pitchFamily="34" charset="-128"/>
                <a:sym typeface="Wingdings" pitchFamily="2" charset="2"/>
              </a:rPr>
              <a:t>least significant 3 bits within a line</a:t>
            </a:r>
          </a:p>
          <a:p>
            <a:endParaRPr lang="en-US" dirty="0"/>
          </a:p>
        </p:txBody>
      </p:sp>
      <p:sp>
        <p:nvSpPr>
          <p:cNvPr id="4" name="Slide Number Placeholder 3">
            <a:extLst>
              <a:ext uri="{FF2B5EF4-FFF2-40B4-BE49-F238E27FC236}">
                <a16:creationId xmlns:a16="http://schemas.microsoft.com/office/drawing/2014/main" id="{55210FFE-8760-2A4B-A377-F2F45B60808E}"/>
              </a:ext>
            </a:extLst>
          </p:cNvPr>
          <p:cNvSpPr>
            <a:spLocks noGrp="1"/>
          </p:cNvSpPr>
          <p:nvPr>
            <p:ph type="sldNum" sz="quarter" idx="11"/>
          </p:nvPr>
        </p:nvSpPr>
        <p:spPr/>
        <p:txBody>
          <a:bodyPr/>
          <a:lstStyle/>
          <a:p>
            <a:pPr>
              <a:defRPr/>
            </a:pPr>
            <a:fld id="{5492BC37-A118-A54F-AC4D-063C0DBF1266}" type="slidenum">
              <a:rPr lang="en-US" altLang="en-US" smtClean="0"/>
              <a:pPr>
                <a:defRPr/>
              </a:pPr>
              <a:t>54</a:t>
            </a:fld>
            <a:endParaRPr lang="en-US" altLang="en-US"/>
          </a:p>
        </p:txBody>
      </p:sp>
      <p:sp>
        <p:nvSpPr>
          <p:cNvPr id="6" name="Rectangle 5">
            <a:extLst>
              <a:ext uri="{FF2B5EF4-FFF2-40B4-BE49-F238E27FC236}">
                <a16:creationId xmlns:a16="http://schemas.microsoft.com/office/drawing/2014/main" id="{1F9464C4-40AE-E54D-8F58-81053AA6174F}"/>
              </a:ext>
            </a:extLst>
          </p:cNvPr>
          <p:cNvSpPr/>
          <p:nvPr/>
        </p:nvSpPr>
        <p:spPr>
          <a:xfrm>
            <a:off x="609600" y="6488668"/>
            <a:ext cx="7391400" cy="369332"/>
          </a:xfrm>
          <a:prstGeom prst="rect">
            <a:avLst/>
          </a:prstGeom>
        </p:spPr>
        <p:txBody>
          <a:bodyPr wrap="square">
            <a:spAutoFit/>
          </a:bodyPr>
          <a:lstStyle/>
          <a:p>
            <a:pPr lvl="1" algn="ctr"/>
            <a:r>
              <a:rPr lang="en-US" altLang="en-US" dirty="0"/>
              <a:t>Kim &amp; Mutlu, “Memory Systems,” Computing Handbook, 2014</a:t>
            </a:r>
          </a:p>
        </p:txBody>
      </p:sp>
    </p:spTree>
    <p:extLst>
      <p:ext uri="{BB962C8B-B14F-4D97-AF65-F5344CB8AC3E}">
        <p14:creationId xmlns:p14="http://schemas.microsoft.com/office/powerpoint/2010/main" val="21228896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7A910356-E702-7141-84CA-35688C4EC64F}"/>
              </a:ext>
            </a:extLst>
          </p:cNvPr>
          <p:cNvSpPr>
            <a:spLocks noGrp="1" noChangeArrowheads="1"/>
          </p:cNvSpPr>
          <p:nvPr>
            <p:ph type="title"/>
          </p:nvPr>
        </p:nvSpPr>
        <p:spPr/>
        <p:txBody>
          <a:bodyPr/>
          <a:lstStyle/>
          <a:p>
            <a:r>
              <a:rPr lang="en-US" altLang="en-US" dirty="0">
                <a:ea typeface="ＭＳ Ｐゴシック" panose="020B0600070205080204" pitchFamily="34" charset="-128"/>
              </a:rPr>
              <a:t>Caching Basics</a:t>
            </a:r>
          </a:p>
        </p:txBody>
      </p:sp>
      <p:sp>
        <p:nvSpPr>
          <p:cNvPr id="59394" name="Content Placeholder 2">
            <a:extLst>
              <a:ext uri="{FF2B5EF4-FFF2-40B4-BE49-F238E27FC236}">
                <a16:creationId xmlns:a16="http://schemas.microsoft.com/office/drawing/2014/main" id="{D8906BF3-D470-C44E-94AE-16409CD4FEFF}"/>
              </a:ext>
            </a:extLst>
          </p:cNvPr>
          <p:cNvSpPr>
            <a:spLocks noGrp="1"/>
          </p:cNvSpPr>
          <p:nvPr>
            <p:ph idx="1"/>
          </p:nvPr>
        </p:nvSpPr>
        <p:spPr>
          <a:xfrm>
            <a:off x="228600" y="914400"/>
            <a:ext cx="8794750" cy="5194300"/>
          </a:xfrm>
        </p:spPr>
        <p:txBody>
          <a:bodyPr/>
          <a:lstStyle/>
          <a:p>
            <a:pPr>
              <a:buFont typeface="Wingdings" charset="0"/>
              <a:buChar char="n"/>
              <a:defRPr/>
            </a:pPr>
            <a:r>
              <a:rPr lang="en-US" dirty="0">
                <a:solidFill>
                  <a:srgbClr val="0000FF"/>
                </a:solidFill>
              </a:rPr>
              <a:t>Cache Block (line): </a:t>
            </a:r>
            <a:r>
              <a:rPr lang="en-US" dirty="0"/>
              <a:t>Unit of storage in the cache</a:t>
            </a:r>
          </a:p>
          <a:p>
            <a:pPr lvl="1">
              <a:buFont typeface="Wingdings" charset="0"/>
              <a:buChar char="q"/>
              <a:defRPr/>
            </a:pPr>
            <a:r>
              <a:rPr lang="en-US" dirty="0"/>
              <a:t>Memory is logically divided into blocks that map to potential locations in the cache. </a:t>
            </a:r>
          </a:p>
          <a:p>
            <a:pPr>
              <a:buFont typeface="Wingdings" charset="0"/>
              <a:buChar char="n"/>
              <a:defRPr/>
            </a:pPr>
            <a:endParaRPr lang="en-US" sz="1000" dirty="0"/>
          </a:p>
          <a:p>
            <a:pPr>
              <a:buFont typeface="Wingdings" charset="0"/>
              <a:buChar char="n"/>
              <a:defRPr/>
            </a:pPr>
            <a:r>
              <a:rPr lang="en-US" dirty="0"/>
              <a:t>On a reference:</a:t>
            </a:r>
          </a:p>
          <a:p>
            <a:pPr lvl="1">
              <a:buFont typeface="Wingdings" charset="0"/>
              <a:buChar char="q"/>
              <a:defRPr/>
            </a:pPr>
            <a:r>
              <a:rPr lang="en-US" dirty="0">
                <a:solidFill>
                  <a:srgbClr val="0000FF"/>
                </a:solidFill>
                <a:ea typeface="ＭＳ Ｐゴシック" charset="0"/>
              </a:rPr>
              <a:t>HIT</a:t>
            </a:r>
            <a:r>
              <a:rPr lang="en-US" dirty="0">
                <a:ea typeface="ＭＳ Ｐゴシック" charset="0"/>
              </a:rPr>
              <a:t>: If in cache, use cached data instead of accessing memory</a:t>
            </a:r>
          </a:p>
          <a:p>
            <a:pPr lvl="1">
              <a:buFont typeface="Wingdings" charset="0"/>
              <a:buChar char="q"/>
              <a:defRPr/>
            </a:pPr>
            <a:r>
              <a:rPr lang="en-US" dirty="0">
                <a:solidFill>
                  <a:srgbClr val="0000FF"/>
                </a:solidFill>
                <a:ea typeface="ＭＳ Ｐゴシック" charset="0"/>
              </a:rPr>
              <a:t>MISS</a:t>
            </a:r>
            <a:r>
              <a:rPr lang="en-US" dirty="0">
                <a:ea typeface="ＭＳ Ｐゴシック" charset="0"/>
              </a:rPr>
              <a:t>: If not in cache, bring block into cache</a:t>
            </a:r>
          </a:p>
          <a:p>
            <a:pPr lvl="2">
              <a:buFont typeface="Wingdings" charset="0"/>
              <a:buChar char="n"/>
              <a:defRPr/>
            </a:pPr>
            <a:r>
              <a:rPr lang="en-US" dirty="0">
                <a:ea typeface="ＭＳ Ｐゴシック" charset="0"/>
              </a:rPr>
              <a:t>May have to evict some other block</a:t>
            </a:r>
          </a:p>
          <a:p>
            <a:pPr marL="671512" lvl="2" indent="0">
              <a:buFont typeface="Wingdings" charset="0"/>
              <a:buNone/>
              <a:defRPr/>
            </a:pPr>
            <a:endParaRPr lang="en-US" sz="1000" dirty="0">
              <a:ea typeface="ＭＳ Ｐゴシック" charset="0"/>
            </a:endParaRPr>
          </a:p>
          <a:p>
            <a:pPr>
              <a:buFont typeface="Wingdings" charset="0"/>
              <a:buChar char="n"/>
              <a:defRPr/>
            </a:pPr>
            <a:r>
              <a:rPr lang="en-US" dirty="0"/>
              <a:t>For high cache hit rate, important cache design decisions:</a:t>
            </a:r>
          </a:p>
          <a:p>
            <a:pPr lvl="1">
              <a:buFont typeface="Wingdings" charset="0"/>
              <a:buChar char="q"/>
              <a:defRPr/>
            </a:pPr>
            <a:r>
              <a:rPr lang="en-US" dirty="0">
                <a:solidFill>
                  <a:srgbClr val="0000FF"/>
                </a:solidFill>
                <a:ea typeface="ＭＳ Ｐゴシック" charset="0"/>
              </a:rPr>
              <a:t>Placement</a:t>
            </a:r>
            <a:r>
              <a:rPr lang="en-US" dirty="0">
                <a:ea typeface="ＭＳ Ｐゴシック" charset="0"/>
              </a:rPr>
              <a:t>: where and how to place/find a block in cache?</a:t>
            </a:r>
          </a:p>
          <a:p>
            <a:pPr lvl="1">
              <a:buFont typeface="Wingdings" charset="0"/>
              <a:buChar char="q"/>
              <a:defRPr/>
            </a:pPr>
            <a:r>
              <a:rPr lang="en-US" dirty="0">
                <a:solidFill>
                  <a:srgbClr val="0000FF"/>
                </a:solidFill>
                <a:ea typeface="ＭＳ Ｐゴシック" charset="0"/>
              </a:rPr>
              <a:t>Replacement</a:t>
            </a:r>
            <a:r>
              <a:rPr lang="en-US" dirty="0">
                <a:ea typeface="ＭＳ Ｐゴシック" charset="0"/>
              </a:rPr>
              <a:t>: what data to remove to make room in cache?</a:t>
            </a:r>
          </a:p>
          <a:p>
            <a:pPr lvl="1">
              <a:buFont typeface="Wingdings" charset="0"/>
              <a:buChar char="q"/>
              <a:defRPr/>
            </a:pPr>
            <a:r>
              <a:rPr lang="en-US" dirty="0">
                <a:solidFill>
                  <a:srgbClr val="0000FF"/>
                </a:solidFill>
                <a:ea typeface="ＭＳ Ｐゴシック" charset="0"/>
              </a:rPr>
              <a:t>Granularity of management</a:t>
            </a:r>
            <a:r>
              <a:rPr lang="en-US" dirty="0">
                <a:ea typeface="ＭＳ Ｐゴシック" charset="0"/>
              </a:rPr>
              <a:t>: large or small blocks? </a:t>
            </a:r>
            <a:r>
              <a:rPr lang="en-US" dirty="0" err="1">
                <a:ea typeface="ＭＳ Ｐゴシック" charset="0"/>
              </a:rPr>
              <a:t>Subblocks</a:t>
            </a:r>
            <a:r>
              <a:rPr lang="en-US" dirty="0">
                <a:ea typeface="ＭＳ Ｐゴシック" charset="0"/>
              </a:rPr>
              <a:t>?</a:t>
            </a:r>
          </a:p>
          <a:p>
            <a:pPr lvl="1">
              <a:buFont typeface="Wingdings" charset="0"/>
              <a:buChar char="q"/>
              <a:defRPr/>
            </a:pPr>
            <a:r>
              <a:rPr lang="en-US" dirty="0">
                <a:solidFill>
                  <a:srgbClr val="0000FF"/>
                </a:solidFill>
                <a:ea typeface="ＭＳ Ｐゴシック" charset="0"/>
              </a:rPr>
              <a:t>Write policy</a:t>
            </a:r>
            <a:r>
              <a:rPr lang="en-US" dirty="0">
                <a:ea typeface="ＭＳ Ｐゴシック" charset="0"/>
              </a:rPr>
              <a:t>: what do we do about writes?</a:t>
            </a:r>
          </a:p>
          <a:p>
            <a:pPr lvl="1">
              <a:buFont typeface="Wingdings" charset="0"/>
              <a:buChar char="q"/>
              <a:defRPr/>
            </a:pPr>
            <a:r>
              <a:rPr lang="en-US" dirty="0">
                <a:solidFill>
                  <a:srgbClr val="0000FF"/>
                </a:solidFill>
                <a:ea typeface="ＭＳ Ｐゴシック" charset="0"/>
              </a:rPr>
              <a:t>Instructions/data</a:t>
            </a:r>
            <a:r>
              <a:rPr lang="en-US" dirty="0">
                <a:ea typeface="ＭＳ Ｐゴシック" charset="0"/>
              </a:rPr>
              <a:t>: do we treat them separately?</a:t>
            </a:r>
          </a:p>
          <a:p>
            <a:pPr lvl="1">
              <a:buFont typeface="Wingdings" charset="0"/>
              <a:buChar char="q"/>
              <a:defRPr/>
            </a:pPr>
            <a:endParaRPr lang="en-US" dirty="0">
              <a:ea typeface="ＭＳ Ｐゴシック" charset="0"/>
            </a:endParaRPr>
          </a:p>
          <a:p>
            <a:pPr lvl="1">
              <a:buFont typeface="Wingdings" charset="0"/>
              <a:buChar char="q"/>
              <a:defRPr/>
            </a:pPr>
            <a:endParaRPr lang="en-US" dirty="0">
              <a:ea typeface="ＭＳ Ｐゴシック" charset="0"/>
            </a:endParaRPr>
          </a:p>
          <a:p>
            <a:pPr>
              <a:buFont typeface="Wingdings" charset="0"/>
              <a:buChar char="n"/>
              <a:defRPr/>
            </a:pPr>
            <a:endParaRPr lang="en-US" dirty="0"/>
          </a:p>
        </p:txBody>
      </p:sp>
      <p:sp>
        <p:nvSpPr>
          <p:cNvPr id="120835" name="Slide Number Placeholder 3">
            <a:extLst>
              <a:ext uri="{FF2B5EF4-FFF2-40B4-BE49-F238E27FC236}">
                <a16:creationId xmlns:a16="http://schemas.microsoft.com/office/drawing/2014/main" id="{2F95E12C-D42B-B843-930C-EC1F0A2428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622B480-D4B6-2447-8777-76681E2BA131}" type="slidenum">
              <a:rPr lang="en-US" altLang="en-US" sz="1600" smtClean="0">
                <a:solidFill>
                  <a:srgbClr val="000000"/>
                </a:solidFill>
                <a:latin typeface="Garamond" panose="02020404030301010803" pitchFamily="18" charset="0"/>
              </a:rPr>
              <a:pPr eaLnBrk="1" hangingPunct="1">
                <a:spcBef>
                  <a:spcPct val="0"/>
                </a:spcBef>
                <a:buClrTx/>
                <a:buSzTx/>
                <a:buFontTx/>
                <a:buNone/>
              </a:pPr>
              <a:t>55</a:t>
            </a:fld>
            <a:endParaRPr lang="en-US" altLang="en-US" sz="1600">
              <a:solidFill>
                <a:srgbClr val="000000"/>
              </a:solidFill>
              <a:latin typeface="Garamond" panose="02020404030301010803" pitchFamily="18" charset="0"/>
            </a:endParaRPr>
          </a:p>
        </p:txBody>
      </p:sp>
      <p:sp>
        <p:nvSpPr>
          <p:cNvPr id="5" name="Rectangle 5">
            <a:extLst>
              <a:ext uri="{FF2B5EF4-FFF2-40B4-BE49-F238E27FC236}">
                <a16:creationId xmlns:a16="http://schemas.microsoft.com/office/drawing/2014/main" id="{07CFDF5D-AD6A-4151-B3E6-D0BBE98BE281}"/>
              </a:ext>
            </a:extLst>
          </p:cNvPr>
          <p:cNvSpPr/>
          <p:nvPr/>
        </p:nvSpPr>
        <p:spPr>
          <a:xfrm>
            <a:off x="533400" y="4419600"/>
            <a:ext cx="7772400" cy="53340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39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394">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939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39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394">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9394">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9394">
                                            <p:txEl>
                                              <p:pRg st="8" end="8"/>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9394">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9394">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9394">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9394">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394">
                                            <p:txEl>
                                              <p:pRg st="13" end="1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2C7A1C-2F53-B544-9E19-0DE20512A5D0}"/>
              </a:ext>
            </a:extLst>
          </p:cNvPr>
          <p:cNvPicPr>
            <a:picLocks noChangeAspect="1"/>
          </p:cNvPicPr>
          <p:nvPr/>
        </p:nvPicPr>
        <p:blipFill>
          <a:blip r:embed="rId2"/>
          <a:stretch>
            <a:fillRect/>
          </a:stretch>
        </p:blipFill>
        <p:spPr>
          <a:xfrm>
            <a:off x="1219200" y="2514600"/>
            <a:ext cx="7099300" cy="3934697"/>
          </a:xfrm>
          <a:prstGeom prst="rect">
            <a:avLst/>
          </a:prstGeom>
        </p:spPr>
      </p:pic>
      <p:sp>
        <p:nvSpPr>
          <p:cNvPr id="2" name="Title 1">
            <a:extLst>
              <a:ext uri="{FF2B5EF4-FFF2-40B4-BE49-F238E27FC236}">
                <a16:creationId xmlns:a16="http://schemas.microsoft.com/office/drawing/2014/main" id="{73DF2313-9A23-9945-8E35-F641A91B84E6}"/>
              </a:ext>
            </a:extLst>
          </p:cNvPr>
          <p:cNvSpPr>
            <a:spLocks noGrp="1"/>
          </p:cNvSpPr>
          <p:nvPr>
            <p:ph type="title"/>
          </p:nvPr>
        </p:nvSpPr>
        <p:spPr/>
        <p:txBody>
          <a:bodyPr/>
          <a:lstStyle/>
          <a:p>
            <a:r>
              <a:rPr lang="en-US" altLang="zh-CN" dirty="0"/>
              <a:t>Cache: </a:t>
            </a:r>
            <a:r>
              <a:rPr lang="en-US" dirty="0"/>
              <a:t>Placement</a:t>
            </a:r>
          </a:p>
        </p:txBody>
      </p:sp>
      <p:sp>
        <p:nvSpPr>
          <p:cNvPr id="3" name="Content Placeholder 2">
            <a:extLst>
              <a:ext uri="{FF2B5EF4-FFF2-40B4-BE49-F238E27FC236}">
                <a16:creationId xmlns:a16="http://schemas.microsoft.com/office/drawing/2014/main" id="{D5175C55-BCF6-C648-A20B-5EB014DD65D0}"/>
              </a:ext>
            </a:extLst>
          </p:cNvPr>
          <p:cNvSpPr>
            <a:spLocks noGrp="1"/>
          </p:cNvSpPr>
          <p:nvPr>
            <p:ph idx="1"/>
          </p:nvPr>
        </p:nvSpPr>
        <p:spPr/>
        <p:txBody>
          <a:bodyPr/>
          <a:lstStyle/>
          <a:p>
            <a:r>
              <a:rPr lang="en-US" b="1" dirty="0"/>
              <a:t>A key question</a:t>
            </a:r>
            <a:r>
              <a:rPr lang="en-US" dirty="0"/>
              <a:t>: How to map chunks of the main memory address space to blocks in the cache?</a:t>
            </a:r>
          </a:p>
          <a:p>
            <a:pPr lvl="1"/>
            <a:r>
              <a:rPr lang="en-US" dirty="0"/>
              <a:t>Which location in cache can a given “main memory chunk” be placed in?</a:t>
            </a:r>
          </a:p>
          <a:p>
            <a:pPr lvl="1"/>
            <a:endParaRPr lang="en-US" dirty="0">
              <a:solidFill>
                <a:srgbClr val="0432FF"/>
              </a:solidFill>
            </a:endParaRPr>
          </a:p>
        </p:txBody>
      </p:sp>
      <p:sp>
        <p:nvSpPr>
          <p:cNvPr id="4" name="Slide Number Placeholder 3">
            <a:extLst>
              <a:ext uri="{FF2B5EF4-FFF2-40B4-BE49-F238E27FC236}">
                <a16:creationId xmlns:a16="http://schemas.microsoft.com/office/drawing/2014/main" id="{D55E1C36-3100-E149-BFAA-F75448466FB3}"/>
              </a:ext>
            </a:extLst>
          </p:cNvPr>
          <p:cNvSpPr>
            <a:spLocks noGrp="1"/>
          </p:cNvSpPr>
          <p:nvPr>
            <p:ph type="sldNum" sz="quarter" idx="11"/>
          </p:nvPr>
        </p:nvSpPr>
        <p:spPr/>
        <p:txBody>
          <a:bodyPr/>
          <a:lstStyle/>
          <a:p>
            <a:pPr>
              <a:defRPr/>
            </a:pPr>
            <a:fld id="{9CD3246B-4504-6A44-A3C6-3AD1B220008A}" type="slidenum">
              <a:rPr lang="en-US" altLang="en-US" smtClean="0"/>
              <a:pPr>
                <a:defRPr/>
              </a:pPr>
              <a:t>56</a:t>
            </a:fld>
            <a:endParaRPr lang="en-US" altLang="en-US"/>
          </a:p>
        </p:txBody>
      </p:sp>
    </p:spTree>
    <p:extLst>
      <p:ext uri="{BB962C8B-B14F-4D97-AF65-F5344CB8AC3E}">
        <p14:creationId xmlns:p14="http://schemas.microsoft.com/office/powerpoint/2010/main" val="4159894325"/>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2313-9A23-9945-8E35-F641A91B84E6}"/>
              </a:ext>
            </a:extLst>
          </p:cNvPr>
          <p:cNvSpPr>
            <a:spLocks noGrp="1"/>
          </p:cNvSpPr>
          <p:nvPr>
            <p:ph type="title"/>
          </p:nvPr>
        </p:nvSpPr>
        <p:spPr/>
        <p:txBody>
          <a:bodyPr/>
          <a:lstStyle/>
          <a:p>
            <a:r>
              <a:rPr lang="en-US" dirty="0"/>
              <a:t>Three Cache Organization Methods</a:t>
            </a:r>
          </a:p>
        </p:txBody>
      </p:sp>
      <p:sp>
        <p:nvSpPr>
          <p:cNvPr id="3" name="Content Placeholder 2">
            <a:extLst>
              <a:ext uri="{FF2B5EF4-FFF2-40B4-BE49-F238E27FC236}">
                <a16:creationId xmlns:a16="http://schemas.microsoft.com/office/drawing/2014/main" id="{D5175C55-BCF6-C648-A20B-5EB014DD65D0}"/>
              </a:ext>
            </a:extLst>
          </p:cNvPr>
          <p:cNvSpPr>
            <a:spLocks noGrp="1"/>
          </p:cNvSpPr>
          <p:nvPr>
            <p:ph idx="1"/>
          </p:nvPr>
        </p:nvSpPr>
        <p:spPr>
          <a:xfrm>
            <a:off x="0" y="997529"/>
            <a:ext cx="9296400" cy="5193723"/>
          </a:xfrm>
        </p:spPr>
        <p:txBody>
          <a:bodyPr/>
          <a:lstStyle/>
          <a:p>
            <a:r>
              <a:rPr lang="en-US" dirty="0">
                <a:solidFill>
                  <a:srgbClr val="0432FF"/>
                </a:solidFill>
              </a:rPr>
              <a:t>Direct-mapped</a:t>
            </a:r>
            <a:r>
              <a:rPr lang="en-US" dirty="0"/>
              <a:t>: </a:t>
            </a:r>
          </a:p>
          <a:p>
            <a:pPr lvl="1"/>
            <a:r>
              <a:rPr lang="en-US" altLang="zh-CN" dirty="0"/>
              <a:t>A chunk can go to </a:t>
            </a:r>
            <a:r>
              <a:rPr lang="en-US" altLang="zh-CN" b="1" dirty="0"/>
              <a:t>only one </a:t>
            </a:r>
            <a:r>
              <a:rPr lang="en-US" altLang="zh-CN" dirty="0"/>
              <a:t>cache block in the cache. (</a:t>
            </a:r>
            <a:r>
              <a:rPr lang="en-US" altLang="zh-CN" dirty="0">
                <a:solidFill>
                  <a:srgbClr val="C00000"/>
                </a:solidFill>
              </a:rPr>
              <a:t>Another extreme</a:t>
            </a:r>
            <a:r>
              <a:rPr lang="en-US" altLang="zh-CN" dirty="0"/>
              <a:t>)</a:t>
            </a:r>
            <a:endParaRPr lang="en-US" dirty="0"/>
          </a:p>
          <a:p>
            <a:r>
              <a:rPr lang="en-US" altLang="zh-CN" dirty="0">
                <a:solidFill>
                  <a:srgbClr val="0432FF"/>
                </a:solidFill>
              </a:rPr>
              <a:t>Fully-associative</a:t>
            </a:r>
            <a:r>
              <a:rPr lang="en-US" altLang="zh-CN" dirty="0"/>
              <a:t>:</a:t>
            </a:r>
          </a:p>
          <a:p>
            <a:pPr lvl="1"/>
            <a:r>
              <a:rPr lang="en-US" altLang="zh-CN" dirty="0"/>
              <a:t>A chunk can go to </a:t>
            </a:r>
            <a:r>
              <a:rPr lang="en-US" altLang="zh-CN" b="1" dirty="0"/>
              <a:t>any</a:t>
            </a:r>
            <a:r>
              <a:rPr lang="en-US" altLang="zh-CN" dirty="0"/>
              <a:t> cache block in the cache. (</a:t>
            </a:r>
            <a:r>
              <a:rPr lang="en-US" altLang="zh-CN" dirty="0">
                <a:solidFill>
                  <a:srgbClr val="C00000"/>
                </a:solidFill>
              </a:rPr>
              <a:t>One extreme</a:t>
            </a:r>
            <a:r>
              <a:rPr lang="en-US" altLang="zh-CN" dirty="0"/>
              <a:t>)</a:t>
            </a:r>
          </a:p>
          <a:p>
            <a:r>
              <a:rPr lang="en-US" altLang="zh-CN" dirty="0">
                <a:solidFill>
                  <a:srgbClr val="0432FF"/>
                </a:solidFill>
              </a:rPr>
              <a:t>Set-associative</a:t>
            </a:r>
            <a:r>
              <a:rPr lang="en-US" altLang="zh-CN" dirty="0"/>
              <a:t>: </a:t>
            </a:r>
          </a:p>
          <a:p>
            <a:pPr lvl="1"/>
            <a:r>
              <a:rPr lang="en-US" altLang="zh-CN" dirty="0"/>
              <a:t>A chunk can go to </a:t>
            </a:r>
            <a:r>
              <a:rPr lang="en-US" altLang="zh-CN" b="1" dirty="0"/>
              <a:t>N </a:t>
            </a:r>
            <a:r>
              <a:rPr lang="en-US" altLang="zh-CN" dirty="0"/>
              <a:t>cache blocks in the </a:t>
            </a:r>
            <a:r>
              <a:rPr lang="en-US" altLang="zh-CN" b="1" dirty="0"/>
              <a:t>N</a:t>
            </a:r>
            <a:r>
              <a:rPr lang="en-US" altLang="zh-CN" dirty="0"/>
              <a:t>-way set-associative cache. (</a:t>
            </a:r>
            <a:r>
              <a:rPr lang="en-US" altLang="zh-CN" dirty="0">
                <a:solidFill>
                  <a:srgbClr val="00B0F0"/>
                </a:solidFill>
              </a:rPr>
              <a:t>Best choice</a:t>
            </a:r>
            <a:r>
              <a:rPr lang="en-US" altLang="zh-CN" dirty="0"/>
              <a:t>)</a:t>
            </a:r>
          </a:p>
          <a:p>
            <a:endParaRPr lang="en-US" dirty="0">
              <a:solidFill>
                <a:srgbClr val="0432FF"/>
              </a:solidFill>
            </a:endParaRPr>
          </a:p>
        </p:txBody>
      </p:sp>
      <p:sp>
        <p:nvSpPr>
          <p:cNvPr id="4" name="Slide Number Placeholder 3">
            <a:extLst>
              <a:ext uri="{FF2B5EF4-FFF2-40B4-BE49-F238E27FC236}">
                <a16:creationId xmlns:a16="http://schemas.microsoft.com/office/drawing/2014/main" id="{D55E1C36-3100-E149-BFAA-F75448466FB3}"/>
              </a:ext>
            </a:extLst>
          </p:cNvPr>
          <p:cNvSpPr>
            <a:spLocks noGrp="1"/>
          </p:cNvSpPr>
          <p:nvPr>
            <p:ph type="sldNum" sz="quarter" idx="11"/>
          </p:nvPr>
        </p:nvSpPr>
        <p:spPr/>
        <p:txBody>
          <a:bodyPr/>
          <a:lstStyle/>
          <a:p>
            <a:pPr>
              <a:defRPr/>
            </a:pPr>
            <a:fld id="{9CD3246B-4504-6A44-A3C6-3AD1B220008A}" type="slidenum">
              <a:rPr lang="en-US" altLang="en-US" smtClean="0"/>
              <a:pPr>
                <a:defRPr/>
              </a:pPr>
              <a:t>57</a:t>
            </a:fld>
            <a:endParaRPr lang="en-US" altLang="en-US"/>
          </a:p>
        </p:txBody>
      </p:sp>
      <p:pic>
        <p:nvPicPr>
          <p:cNvPr id="6" name="Picture 5">
            <a:extLst>
              <a:ext uri="{FF2B5EF4-FFF2-40B4-BE49-F238E27FC236}">
                <a16:creationId xmlns:a16="http://schemas.microsoft.com/office/drawing/2014/main" id="{BF1A0D9D-8097-0049-A350-9522347EC714}"/>
              </a:ext>
            </a:extLst>
          </p:cNvPr>
          <p:cNvPicPr>
            <a:picLocks noChangeAspect="1"/>
          </p:cNvPicPr>
          <p:nvPr/>
        </p:nvPicPr>
        <p:blipFill>
          <a:blip r:embed="rId2"/>
          <a:stretch>
            <a:fillRect/>
          </a:stretch>
        </p:blipFill>
        <p:spPr>
          <a:xfrm>
            <a:off x="224158" y="4215142"/>
            <a:ext cx="8724900" cy="2273526"/>
          </a:xfrm>
          <a:prstGeom prst="rect">
            <a:avLst/>
          </a:prstGeom>
        </p:spPr>
      </p:pic>
      <p:sp>
        <p:nvSpPr>
          <p:cNvPr id="7" name="Rectangle 6">
            <a:extLst>
              <a:ext uri="{FF2B5EF4-FFF2-40B4-BE49-F238E27FC236}">
                <a16:creationId xmlns:a16="http://schemas.microsoft.com/office/drawing/2014/main" id="{199F2B89-5F38-EB42-ABCC-69C84AA69BFA}"/>
              </a:ext>
            </a:extLst>
          </p:cNvPr>
          <p:cNvSpPr/>
          <p:nvPr/>
        </p:nvSpPr>
        <p:spPr>
          <a:xfrm>
            <a:off x="609600" y="6488668"/>
            <a:ext cx="7391400" cy="369332"/>
          </a:xfrm>
          <a:prstGeom prst="rect">
            <a:avLst/>
          </a:prstGeom>
        </p:spPr>
        <p:txBody>
          <a:bodyPr wrap="square">
            <a:spAutoFit/>
          </a:bodyPr>
          <a:lstStyle/>
          <a:p>
            <a:pPr lvl="1" algn="ctr"/>
            <a:r>
              <a:rPr lang="en-US" altLang="en-US" dirty="0"/>
              <a:t>Kim &amp; Mutlu, “Memory Systems,” Computing Handbook, 2014</a:t>
            </a:r>
          </a:p>
        </p:txBody>
      </p:sp>
      <p:sp>
        <p:nvSpPr>
          <p:cNvPr id="8" name="Rectangle 5">
            <a:extLst>
              <a:ext uri="{FF2B5EF4-FFF2-40B4-BE49-F238E27FC236}">
                <a16:creationId xmlns:a16="http://schemas.microsoft.com/office/drawing/2014/main" id="{CC72AC6D-9452-472A-ACA5-04CBC08A6916}"/>
              </a:ext>
            </a:extLst>
          </p:cNvPr>
          <p:cNvSpPr/>
          <p:nvPr/>
        </p:nvSpPr>
        <p:spPr>
          <a:xfrm>
            <a:off x="304800" y="983215"/>
            <a:ext cx="8458200" cy="1226585"/>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32341426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5">
            <a:extLst>
              <a:ext uri="{FF2B5EF4-FFF2-40B4-BE49-F238E27FC236}">
                <a16:creationId xmlns:a16="http://schemas.microsoft.com/office/drawing/2014/main" id="{A2B62202-6C5B-4352-AF6E-5D46AE0F856D}"/>
              </a:ext>
            </a:extLst>
          </p:cNvPr>
          <p:cNvSpPr/>
          <p:nvPr/>
        </p:nvSpPr>
        <p:spPr>
          <a:xfrm>
            <a:off x="4012291" y="3119080"/>
            <a:ext cx="4935535" cy="3031178"/>
          </a:xfrm>
          <a:prstGeom prst="rect">
            <a:avLst/>
          </a:prstGeom>
          <a:solidFill>
            <a:schemeClr val="bg1"/>
          </a:solid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24929" name="Title 1">
            <a:extLst>
              <a:ext uri="{FF2B5EF4-FFF2-40B4-BE49-F238E27FC236}">
                <a16:creationId xmlns:a16="http://schemas.microsoft.com/office/drawing/2014/main" id="{2421D485-14A3-7647-9F8C-1D819C0152A1}"/>
              </a:ext>
            </a:extLst>
          </p:cNvPr>
          <p:cNvSpPr>
            <a:spLocks noGrp="1" noChangeArrowheads="1"/>
          </p:cNvSpPr>
          <p:nvPr>
            <p:ph type="title"/>
          </p:nvPr>
        </p:nvSpPr>
        <p:spPr>
          <a:xfrm>
            <a:off x="228600" y="152400"/>
            <a:ext cx="8610600" cy="871538"/>
          </a:xfrm>
        </p:spPr>
        <p:txBody>
          <a:bodyPr/>
          <a:lstStyle/>
          <a:p>
            <a:r>
              <a:rPr lang="en-US" altLang="en-US" sz="3600" dirty="0">
                <a:ea typeface="ＭＳ Ｐゴシック" panose="020B0600070205080204" pitchFamily="34" charset="-128"/>
              </a:rPr>
              <a:t>Direct-Mapped Cache: Placement and Access</a:t>
            </a:r>
          </a:p>
        </p:txBody>
      </p:sp>
      <p:sp>
        <p:nvSpPr>
          <p:cNvPr id="82946" name="Content Placeholder 2">
            <a:extLst>
              <a:ext uri="{FF2B5EF4-FFF2-40B4-BE49-F238E27FC236}">
                <a16:creationId xmlns:a16="http://schemas.microsoft.com/office/drawing/2014/main" id="{544ED3AD-703E-504E-90FC-36BDD07AF6B2}"/>
              </a:ext>
            </a:extLst>
          </p:cNvPr>
          <p:cNvSpPr>
            <a:spLocks noGrp="1" noChangeArrowheads="1"/>
          </p:cNvSpPr>
          <p:nvPr>
            <p:ph idx="1"/>
          </p:nvPr>
        </p:nvSpPr>
        <p:spPr>
          <a:xfrm>
            <a:off x="1843882" y="935831"/>
            <a:ext cx="7459662" cy="1531938"/>
          </a:xfrm>
        </p:spPr>
        <p:txBody>
          <a:bodyPr/>
          <a:lstStyle/>
          <a:p>
            <a:r>
              <a:rPr lang="en-US" altLang="en-US" dirty="0">
                <a:solidFill>
                  <a:srgbClr val="0432FF"/>
                </a:solidFill>
                <a:ea typeface="ＭＳ Ｐゴシック" panose="020B0600070205080204" pitchFamily="34" charset="-128"/>
                <a:sym typeface="Wingdings" pitchFamily="2" charset="2"/>
              </a:rPr>
              <a:t>Direct-mapped</a:t>
            </a:r>
            <a:r>
              <a:rPr lang="en-US" altLang="en-US" dirty="0">
                <a:solidFill>
                  <a:srgbClr val="FF0000"/>
                </a:solidFill>
                <a:ea typeface="ＭＳ Ｐゴシック" panose="020B0600070205080204" pitchFamily="34" charset="-128"/>
                <a:sym typeface="Wingdings" pitchFamily="2" charset="2"/>
              </a:rPr>
              <a:t> </a:t>
            </a:r>
            <a:r>
              <a:rPr lang="en-US" altLang="en-US" sz="2000" dirty="0">
                <a:ea typeface="ＭＳ Ｐゴシック" panose="020B0600070205080204" pitchFamily="34" charset="-128"/>
                <a:sym typeface="Wingdings" pitchFamily="2" charset="2"/>
              </a:rPr>
              <a:t>(A block can go to only one location)</a:t>
            </a:r>
            <a:endParaRPr lang="en-US" altLang="en-US" dirty="0">
              <a:ea typeface="ＭＳ Ｐゴシック" panose="020B0600070205080204" pitchFamily="34" charset="-128"/>
            </a:endParaRPr>
          </a:p>
          <a:p>
            <a:pPr lvl="1"/>
            <a:r>
              <a:rPr lang="en-US" altLang="en-US" sz="2000" dirty="0">
                <a:ea typeface="ＭＳ Ｐゴシック" panose="020B0600070205080204" pitchFamily="34" charset="-128"/>
              </a:rPr>
              <a:t>Assume memory: 256 bytes, 8-byte blocks </a:t>
            </a:r>
            <a:r>
              <a:rPr lang="en-US" altLang="en-US" sz="2000" dirty="0">
                <a:ea typeface="ＭＳ Ｐゴシック" panose="020B0600070205080204" pitchFamily="34" charset="-128"/>
                <a:sym typeface="Wingdings" pitchFamily="2" charset="2"/>
              </a:rPr>
              <a:t> 32 blocks</a:t>
            </a:r>
          </a:p>
          <a:p>
            <a:pPr lvl="1"/>
            <a:r>
              <a:rPr lang="en-US" altLang="en-US" sz="2000" dirty="0">
                <a:ea typeface="ＭＳ Ｐゴシック" panose="020B0600070205080204" pitchFamily="34" charset="-128"/>
                <a:sym typeface="Wingdings" pitchFamily="2" charset="2"/>
              </a:rPr>
              <a:t>Assume cache: 64 bytes, 8 blocks</a:t>
            </a:r>
            <a:endParaRPr lang="en-US" altLang="en-US" sz="2000" dirty="0">
              <a:solidFill>
                <a:srgbClr val="FF0000"/>
              </a:solidFill>
              <a:ea typeface="ＭＳ Ｐゴシック" panose="020B0600070205080204" pitchFamily="34" charset="-128"/>
              <a:sym typeface="Wingdings" pitchFamily="2" charset="2"/>
            </a:endParaRPr>
          </a:p>
          <a:p>
            <a:pPr lvl="1"/>
            <a:r>
              <a:rPr lang="en-US" altLang="en-US" sz="1800" dirty="0">
                <a:solidFill>
                  <a:srgbClr val="C00000"/>
                </a:solidFill>
                <a:ea typeface="ＭＳ Ｐゴシック" panose="020B0600070205080204" pitchFamily="34" charset="-128"/>
                <a:sym typeface="Wingdings" pitchFamily="2" charset="2"/>
              </a:rPr>
              <a:t>Blocks with same </a:t>
            </a:r>
            <a:r>
              <a:rPr lang="en-US" altLang="en-US" sz="1800" dirty="0">
                <a:solidFill>
                  <a:schemeClr val="accent1">
                    <a:lumMod val="60000"/>
                    <a:lumOff val="40000"/>
                  </a:schemeClr>
                </a:solidFill>
                <a:ea typeface="ＭＳ Ｐゴシック" panose="020B0600070205080204" pitchFamily="34" charset="-128"/>
                <a:sym typeface="Wingdings" pitchFamily="2" charset="2"/>
              </a:rPr>
              <a:t>index</a:t>
            </a:r>
            <a:r>
              <a:rPr lang="en-US" altLang="en-US" sz="1800" dirty="0">
                <a:solidFill>
                  <a:srgbClr val="C00000"/>
                </a:solidFill>
                <a:ea typeface="ＭＳ Ｐゴシック" panose="020B0600070205080204" pitchFamily="34" charset="-128"/>
                <a:sym typeface="Wingdings" pitchFamily="2" charset="2"/>
              </a:rPr>
              <a:t> contend for the same cache location</a:t>
            </a:r>
          </a:p>
          <a:p>
            <a:pPr lvl="2"/>
            <a:r>
              <a:rPr lang="en-US" altLang="en-US" sz="1600" dirty="0">
                <a:solidFill>
                  <a:srgbClr val="C00000"/>
                </a:solidFill>
                <a:ea typeface="ＭＳ Ｐゴシック" panose="020B0600070205080204" pitchFamily="34" charset="-128"/>
                <a:sym typeface="Wingdings" pitchFamily="2" charset="2"/>
              </a:rPr>
              <a:t>Cause conflict misses when accessing </a:t>
            </a:r>
            <a:r>
              <a:rPr lang="en-US" altLang="en-US" sz="1600" dirty="0">
                <a:solidFill>
                  <a:schemeClr val="accent2"/>
                </a:solidFill>
                <a:ea typeface="ＭＳ Ｐゴシック" panose="020B0600070205080204" pitchFamily="34" charset="-128"/>
                <a:sym typeface="Wingdings" pitchFamily="2" charset="2"/>
              </a:rPr>
              <a:t>blocks in green </a:t>
            </a:r>
            <a:r>
              <a:rPr lang="en-US" altLang="en-US" sz="1600" dirty="0">
                <a:solidFill>
                  <a:srgbClr val="C00000"/>
                </a:solidFill>
                <a:ea typeface="ＭＳ Ｐゴシック" panose="020B0600070205080204" pitchFamily="34" charset="-128"/>
                <a:sym typeface="Wingdings" pitchFamily="2" charset="2"/>
              </a:rPr>
              <a:t>consecutively</a:t>
            </a:r>
            <a:endParaRPr lang="en-US" altLang="en-US" sz="1600" dirty="0">
              <a:solidFill>
                <a:srgbClr val="C00000"/>
              </a:solidFill>
              <a:ea typeface="ＭＳ Ｐゴシック" panose="020B0600070205080204" pitchFamily="34" charset="-128"/>
            </a:endParaRPr>
          </a:p>
          <a:p>
            <a:pPr marL="344487" lvl="1" indent="0">
              <a:buNone/>
            </a:pPr>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p:txBody>
      </p:sp>
      <p:sp>
        <p:nvSpPr>
          <p:cNvPr id="124931" name="Slide Number Placeholder 3">
            <a:extLst>
              <a:ext uri="{FF2B5EF4-FFF2-40B4-BE49-F238E27FC236}">
                <a16:creationId xmlns:a16="http://schemas.microsoft.com/office/drawing/2014/main" id="{1DD0324A-0789-D447-9E4A-2E18CD6DA29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993FB237-D28A-4448-9883-743BB87DE4CA}" type="slidenum">
              <a:rPr lang="en-US" altLang="en-US" sz="1600" smtClean="0">
                <a:solidFill>
                  <a:srgbClr val="000000"/>
                </a:solidFill>
                <a:latin typeface="Garamond" panose="02020404030301010803" pitchFamily="18" charset="0"/>
              </a:rPr>
              <a:pPr eaLnBrk="1" hangingPunct="1">
                <a:spcBef>
                  <a:spcPct val="0"/>
                </a:spcBef>
                <a:buClrTx/>
                <a:buSzTx/>
                <a:buFontTx/>
                <a:buNone/>
              </a:pPr>
              <a:t>58</a:t>
            </a:fld>
            <a:endParaRPr lang="en-US" altLang="en-US" sz="1600" dirty="0">
              <a:solidFill>
                <a:srgbClr val="000000"/>
              </a:solidFill>
              <a:latin typeface="Garamond" panose="02020404030301010803" pitchFamily="18" charset="0"/>
            </a:endParaRPr>
          </a:p>
        </p:txBody>
      </p:sp>
      <p:grpSp>
        <p:nvGrpSpPr>
          <p:cNvPr id="82948" name="Group 50">
            <a:extLst>
              <a:ext uri="{FF2B5EF4-FFF2-40B4-BE49-F238E27FC236}">
                <a16:creationId xmlns:a16="http://schemas.microsoft.com/office/drawing/2014/main" id="{2AF41A95-88F8-8945-B9E3-9968C5BF0337}"/>
              </a:ext>
            </a:extLst>
          </p:cNvPr>
          <p:cNvGrpSpPr>
            <a:grpSpLocks/>
          </p:cNvGrpSpPr>
          <p:nvPr/>
        </p:nvGrpSpPr>
        <p:grpSpPr bwMode="auto">
          <a:xfrm>
            <a:off x="369888" y="1023938"/>
            <a:ext cx="1477962" cy="5356225"/>
            <a:chOff x="369455" y="1171281"/>
            <a:chExt cx="1477818" cy="5357096"/>
          </a:xfrm>
        </p:grpSpPr>
        <p:grpSp>
          <p:nvGrpSpPr>
            <p:cNvPr id="124984" name="Group 48">
              <a:extLst>
                <a:ext uri="{FF2B5EF4-FFF2-40B4-BE49-F238E27FC236}">
                  <a16:creationId xmlns:a16="http://schemas.microsoft.com/office/drawing/2014/main" id="{01EEF059-3663-764A-A41B-732531145BCA}"/>
                </a:ext>
              </a:extLst>
            </p:cNvPr>
            <p:cNvGrpSpPr>
              <a:grpSpLocks/>
            </p:cNvGrpSpPr>
            <p:nvPr/>
          </p:nvGrpSpPr>
          <p:grpSpPr bwMode="auto">
            <a:xfrm>
              <a:off x="369455" y="1171281"/>
              <a:ext cx="1477818" cy="2678548"/>
              <a:chOff x="554182" y="1985841"/>
              <a:chExt cx="1477818" cy="2678548"/>
            </a:xfrm>
          </p:grpSpPr>
          <p:grpSp>
            <p:nvGrpSpPr>
              <p:cNvPr id="125008" name="Group 14">
                <a:extLst>
                  <a:ext uri="{FF2B5EF4-FFF2-40B4-BE49-F238E27FC236}">
                    <a16:creationId xmlns:a16="http://schemas.microsoft.com/office/drawing/2014/main" id="{D0E41D32-001A-6545-B2B0-379BCEB76E42}"/>
                  </a:ext>
                </a:extLst>
              </p:cNvPr>
              <p:cNvGrpSpPr>
                <a:grpSpLocks/>
              </p:cNvGrpSpPr>
              <p:nvPr/>
            </p:nvGrpSpPr>
            <p:grpSpPr bwMode="auto">
              <a:xfrm>
                <a:off x="554182" y="1985841"/>
                <a:ext cx="1477818" cy="1339274"/>
                <a:chOff x="554182" y="2567709"/>
                <a:chExt cx="1477818" cy="1339274"/>
              </a:xfrm>
            </p:grpSpPr>
            <p:grpSp>
              <p:nvGrpSpPr>
                <p:cNvPr id="125020" name="Group 8">
                  <a:extLst>
                    <a:ext uri="{FF2B5EF4-FFF2-40B4-BE49-F238E27FC236}">
                      <a16:creationId xmlns:a16="http://schemas.microsoft.com/office/drawing/2014/main" id="{277F888C-B92C-9F4D-96D8-149126EF3EF1}"/>
                    </a:ext>
                  </a:extLst>
                </p:cNvPr>
                <p:cNvGrpSpPr>
                  <a:grpSpLocks/>
                </p:cNvGrpSpPr>
                <p:nvPr/>
              </p:nvGrpSpPr>
              <p:grpSpPr bwMode="auto">
                <a:xfrm>
                  <a:off x="554182" y="2567709"/>
                  <a:ext cx="1477818" cy="669637"/>
                  <a:chOff x="554182" y="2567709"/>
                  <a:chExt cx="1477818" cy="669637"/>
                </a:xfrm>
              </p:grpSpPr>
              <p:sp>
                <p:nvSpPr>
                  <p:cNvPr id="125026" name="Rectangle 4">
                    <a:extLst>
                      <a:ext uri="{FF2B5EF4-FFF2-40B4-BE49-F238E27FC236}">
                        <a16:creationId xmlns:a16="http://schemas.microsoft.com/office/drawing/2014/main" id="{04BFBD80-196B-B84E-9014-A0D60100516B}"/>
                      </a:ext>
                    </a:extLst>
                  </p:cNvPr>
                  <p:cNvSpPr>
                    <a:spLocks noChangeArrowheads="1"/>
                  </p:cNvSpPr>
                  <p:nvPr/>
                </p:nvSpPr>
                <p:spPr bwMode="auto">
                  <a:xfrm>
                    <a:off x="554182" y="2567709"/>
                    <a:ext cx="1477818" cy="166255"/>
                  </a:xfrm>
                  <a:prstGeom prst="rect">
                    <a:avLst/>
                  </a:prstGeom>
                  <a:solidFill>
                    <a:schemeClr val="accent2"/>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FF0000"/>
                      </a:solidFill>
                      <a:latin typeface="Arial" panose="020B0604020202020204" pitchFamily="34" charset="0"/>
                    </a:endParaRPr>
                  </a:p>
                </p:txBody>
              </p:sp>
              <p:sp>
                <p:nvSpPr>
                  <p:cNvPr id="125027" name="Rectangle 5">
                    <a:extLst>
                      <a:ext uri="{FF2B5EF4-FFF2-40B4-BE49-F238E27FC236}">
                        <a16:creationId xmlns:a16="http://schemas.microsoft.com/office/drawing/2014/main" id="{7A5C9438-5FBB-2B42-B4CF-0BF51035DBF6}"/>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28" name="Rectangle 6">
                    <a:extLst>
                      <a:ext uri="{FF2B5EF4-FFF2-40B4-BE49-F238E27FC236}">
                        <a16:creationId xmlns:a16="http://schemas.microsoft.com/office/drawing/2014/main" id="{EC417C32-7A60-ED4B-8F0D-A6F0C02E4CC2}"/>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29" name="Rectangle 7">
                    <a:extLst>
                      <a:ext uri="{FF2B5EF4-FFF2-40B4-BE49-F238E27FC236}">
                        <a16:creationId xmlns:a16="http://schemas.microsoft.com/office/drawing/2014/main" id="{0B7F795F-E438-E14A-A2E8-075DE9333EDC}"/>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nvGrpSpPr>
                <p:cNvPr id="125021" name="Group 9">
                  <a:extLst>
                    <a:ext uri="{FF2B5EF4-FFF2-40B4-BE49-F238E27FC236}">
                      <a16:creationId xmlns:a16="http://schemas.microsoft.com/office/drawing/2014/main" id="{F14ECE87-C373-1444-8EDC-3EBFF5ABB27A}"/>
                    </a:ext>
                  </a:extLst>
                </p:cNvPr>
                <p:cNvGrpSpPr>
                  <a:grpSpLocks/>
                </p:cNvGrpSpPr>
                <p:nvPr/>
              </p:nvGrpSpPr>
              <p:grpSpPr bwMode="auto">
                <a:xfrm>
                  <a:off x="554182" y="3237346"/>
                  <a:ext cx="1477818" cy="669637"/>
                  <a:chOff x="554182" y="2567709"/>
                  <a:chExt cx="1477818" cy="669637"/>
                </a:xfrm>
              </p:grpSpPr>
              <p:sp>
                <p:nvSpPr>
                  <p:cNvPr id="125022" name="Rectangle 10">
                    <a:extLst>
                      <a:ext uri="{FF2B5EF4-FFF2-40B4-BE49-F238E27FC236}">
                        <a16:creationId xmlns:a16="http://schemas.microsoft.com/office/drawing/2014/main" id="{007ECA61-D699-844C-985C-934B54313F7B}"/>
                      </a:ext>
                    </a:extLst>
                  </p:cNvPr>
                  <p:cNvSpPr>
                    <a:spLocks noChangeArrowheads="1"/>
                  </p:cNvSpPr>
                  <p:nvPr/>
                </p:nvSpPr>
                <p:spPr bwMode="auto">
                  <a:xfrm>
                    <a:off x="554182" y="2567709"/>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23" name="Rectangle 11">
                    <a:extLst>
                      <a:ext uri="{FF2B5EF4-FFF2-40B4-BE49-F238E27FC236}">
                        <a16:creationId xmlns:a16="http://schemas.microsoft.com/office/drawing/2014/main" id="{9A2C4367-C3F7-374D-8A23-95AC54AC6F0B}"/>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24" name="Rectangle 12">
                    <a:extLst>
                      <a:ext uri="{FF2B5EF4-FFF2-40B4-BE49-F238E27FC236}">
                        <a16:creationId xmlns:a16="http://schemas.microsoft.com/office/drawing/2014/main" id="{30811906-D427-9B4E-99AB-78BF14D959DA}"/>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25" name="Rectangle 13">
                    <a:extLst>
                      <a:ext uri="{FF2B5EF4-FFF2-40B4-BE49-F238E27FC236}">
                        <a16:creationId xmlns:a16="http://schemas.microsoft.com/office/drawing/2014/main" id="{2733515A-B614-2E41-AAB0-E149547FA423}"/>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grpSp>
            <p:nvGrpSpPr>
              <p:cNvPr id="125009" name="Group 15">
                <a:extLst>
                  <a:ext uri="{FF2B5EF4-FFF2-40B4-BE49-F238E27FC236}">
                    <a16:creationId xmlns:a16="http://schemas.microsoft.com/office/drawing/2014/main" id="{96E1DED6-364F-0F49-941F-CD186AF70BA6}"/>
                  </a:ext>
                </a:extLst>
              </p:cNvPr>
              <p:cNvGrpSpPr>
                <a:grpSpLocks/>
              </p:cNvGrpSpPr>
              <p:nvPr/>
            </p:nvGrpSpPr>
            <p:grpSpPr bwMode="auto">
              <a:xfrm>
                <a:off x="554182" y="3325115"/>
                <a:ext cx="1477818" cy="1339274"/>
                <a:chOff x="554182" y="2567709"/>
                <a:chExt cx="1477818" cy="1339274"/>
              </a:xfrm>
            </p:grpSpPr>
            <p:grpSp>
              <p:nvGrpSpPr>
                <p:cNvPr id="125010" name="Group 8">
                  <a:extLst>
                    <a:ext uri="{FF2B5EF4-FFF2-40B4-BE49-F238E27FC236}">
                      <a16:creationId xmlns:a16="http://schemas.microsoft.com/office/drawing/2014/main" id="{4D25DD36-EA3E-8D45-8858-CEB01C855EE7}"/>
                    </a:ext>
                  </a:extLst>
                </p:cNvPr>
                <p:cNvGrpSpPr>
                  <a:grpSpLocks/>
                </p:cNvGrpSpPr>
                <p:nvPr/>
              </p:nvGrpSpPr>
              <p:grpSpPr bwMode="auto">
                <a:xfrm>
                  <a:off x="554182" y="2567709"/>
                  <a:ext cx="1477818" cy="669637"/>
                  <a:chOff x="554182" y="2567709"/>
                  <a:chExt cx="1477818" cy="669637"/>
                </a:xfrm>
              </p:grpSpPr>
              <p:sp>
                <p:nvSpPr>
                  <p:cNvPr id="125016" name="Rectangle 22">
                    <a:extLst>
                      <a:ext uri="{FF2B5EF4-FFF2-40B4-BE49-F238E27FC236}">
                        <a16:creationId xmlns:a16="http://schemas.microsoft.com/office/drawing/2014/main" id="{3287FEB6-4CBE-EB4A-9DA3-F393EB922DD9}"/>
                      </a:ext>
                    </a:extLst>
                  </p:cNvPr>
                  <p:cNvSpPr>
                    <a:spLocks noChangeArrowheads="1"/>
                  </p:cNvSpPr>
                  <p:nvPr/>
                </p:nvSpPr>
                <p:spPr bwMode="auto">
                  <a:xfrm>
                    <a:off x="554182" y="2567709"/>
                    <a:ext cx="1477818" cy="166255"/>
                  </a:xfrm>
                  <a:prstGeom prst="rect">
                    <a:avLst/>
                  </a:prstGeom>
                  <a:solidFill>
                    <a:schemeClr val="accent2"/>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7" name="Rectangle 23">
                    <a:extLst>
                      <a:ext uri="{FF2B5EF4-FFF2-40B4-BE49-F238E27FC236}">
                        <a16:creationId xmlns:a16="http://schemas.microsoft.com/office/drawing/2014/main" id="{A525C3C7-130C-6C42-8E9F-5F8579F7B39A}"/>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8" name="Rectangle 24">
                    <a:extLst>
                      <a:ext uri="{FF2B5EF4-FFF2-40B4-BE49-F238E27FC236}">
                        <a16:creationId xmlns:a16="http://schemas.microsoft.com/office/drawing/2014/main" id="{C0401FDC-826D-AE48-AD68-E8320387028F}"/>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9" name="Rectangle 25">
                    <a:extLst>
                      <a:ext uri="{FF2B5EF4-FFF2-40B4-BE49-F238E27FC236}">
                        <a16:creationId xmlns:a16="http://schemas.microsoft.com/office/drawing/2014/main" id="{1B9AF3A7-41D8-BE43-B8C0-E58040B3DC57}"/>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nvGrpSpPr>
                <p:cNvPr id="125011" name="Group 9">
                  <a:extLst>
                    <a:ext uri="{FF2B5EF4-FFF2-40B4-BE49-F238E27FC236}">
                      <a16:creationId xmlns:a16="http://schemas.microsoft.com/office/drawing/2014/main" id="{B48F2437-A8F4-0D49-97D5-0436CE8B7638}"/>
                    </a:ext>
                  </a:extLst>
                </p:cNvPr>
                <p:cNvGrpSpPr>
                  <a:grpSpLocks/>
                </p:cNvGrpSpPr>
                <p:nvPr/>
              </p:nvGrpSpPr>
              <p:grpSpPr bwMode="auto">
                <a:xfrm>
                  <a:off x="554182" y="3237346"/>
                  <a:ext cx="1477818" cy="669637"/>
                  <a:chOff x="554182" y="2567709"/>
                  <a:chExt cx="1477818" cy="669637"/>
                </a:xfrm>
              </p:grpSpPr>
              <p:sp>
                <p:nvSpPr>
                  <p:cNvPr id="125012" name="Rectangle 18">
                    <a:extLst>
                      <a:ext uri="{FF2B5EF4-FFF2-40B4-BE49-F238E27FC236}">
                        <a16:creationId xmlns:a16="http://schemas.microsoft.com/office/drawing/2014/main" id="{5561E4EC-E535-8D46-804C-024E1464DF94}"/>
                      </a:ext>
                    </a:extLst>
                  </p:cNvPr>
                  <p:cNvSpPr>
                    <a:spLocks noChangeArrowheads="1"/>
                  </p:cNvSpPr>
                  <p:nvPr/>
                </p:nvSpPr>
                <p:spPr bwMode="auto">
                  <a:xfrm>
                    <a:off x="554182" y="2567709"/>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3" name="Rectangle 19">
                    <a:extLst>
                      <a:ext uri="{FF2B5EF4-FFF2-40B4-BE49-F238E27FC236}">
                        <a16:creationId xmlns:a16="http://schemas.microsoft.com/office/drawing/2014/main" id="{FE980454-C948-324A-B40A-01DF6B12DA8D}"/>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4" name="Rectangle 20">
                    <a:extLst>
                      <a:ext uri="{FF2B5EF4-FFF2-40B4-BE49-F238E27FC236}">
                        <a16:creationId xmlns:a16="http://schemas.microsoft.com/office/drawing/2014/main" id="{AECCA8B8-ACB0-5948-900A-1112226D536C}"/>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5" name="Rectangle 21">
                    <a:extLst>
                      <a:ext uri="{FF2B5EF4-FFF2-40B4-BE49-F238E27FC236}">
                        <a16:creationId xmlns:a16="http://schemas.microsoft.com/office/drawing/2014/main" id="{E2FC9B4B-93E6-3541-AF14-8F0FB0441A1D}"/>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grpSp>
        <p:grpSp>
          <p:nvGrpSpPr>
            <p:cNvPr id="124985" name="Group 49">
              <a:extLst>
                <a:ext uri="{FF2B5EF4-FFF2-40B4-BE49-F238E27FC236}">
                  <a16:creationId xmlns:a16="http://schemas.microsoft.com/office/drawing/2014/main" id="{13BBA096-3DA7-8C40-A127-684A13792910}"/>
                </a:ext>
              </a:extLst>
            </p:cNvPr>
            <p:cNvGrpSpPr>
              <a:grpSpLocks/>
            </p:cNvGrpSpPr>
            <p:nvPr/>
          </p:nvGrpSpPr>
          <p:grpSpPr bwMode="auto">
            <a:xfrm>
              <a:off x="369455" y="3849829"/>
              <a:ext cx="1477818" cy="2678548"/>
              <a:chOff x="2433782" y="3512702"/>
              <a:chExt cx="1477818" cy="2678548"/>
            </a:xfrm>
          </p:grpSpPr>
          <p:grpSp>
            <p:nvGrpSpPr>
              <p:cNvPr id="124986" name="Group 26">
                <a:extLst>
                  <a:ext uri="{FF2B5EF4-FFF2-40B4-BE49-F238E27FC236}">
                    <a16:creationId xmlns:a16="http://schemas.microsoft.com/office/drawing/2014/main" id="{43FF8166-7E7E-F842-A040-4AA3AEE4153C}"/>
                  </a:ext>
                </a:extLst>
              </p:cNvPr>
              <p:cNvGrpSpPr>
                <a:grpSpLocks/>
              </p:cNvGrpSpPr>
              <p:nvPr/>
            </p:nvGrpSpPr>
            <p:grpSpPr bwMode="auto">
              <a:xfrm>
                <a:off x="2433782" y="3512702"/>
                <a:ext cx="1477818" cy="1339274"/>
                <a:chOff x="554182" y="2567709"/>
                <a:chExt cx="1477818" cy="1339274"/>
              </a:xfrm>
            </p:grpSpPr>
            <p:grpSp>
              <p:nvGrpSpPr>
                <p:cNvPr id="124998" name="Group 8">
                  <a:extLst>
                    <a:ext uri="{FF2B5EF4-FFF2-40B4-BE49-F238E27FC236}">
                      <a16:creationId xmlns:a16="http://schemas.microsoft.com/office/drawing/2014/main" id="{E8F55052-77DA-F64F-A943-10DEFA31B451}"/>
                    </a:ext>
                  </a:extLst>
                </p:cNvPr>
                <p:cNvGrpSpPr>
                  <a:grpSpLocks/>
                </p:cNvGrpSpPr>
                <p:nvPr/>
              </p:nvGrpSpPr>
              <p:grpSpPr bwMode="auto">
                <a:xfrm>
                  <a:off x="554182" y="2567709"/>
                  <a:ext cx="1477818" cy="669637"/>
                  <a:chOff x="554182" y="2567709"/>
                  <a:chExt cx="1477818" cy="669637"/>
                </a:xfrm>
              </p:grpSpPr>
              <p:sp>
                <p:nvSpPr>
                  <p:cNvPr id="125004" name="Rectangle 33">
                    <a:extLst>
                      <a:ext uri="{FF2B5EF4-FFF2-40B4-BE49-F238E27FC236}">
                        <a16:creationId xmlns:a16="http://schemas.microsoft.com/office/drawing/2014/main" id="{17FA2DCB-47E5-8245-B08C-301BF31DDCD3}"/>
                      </a:ext>
                    </a:extLst>
                  </p:cNvPr>
                  <p:cNvSpPr>
                    <a:spLocks noChangeArrowheads="1"/>
                  </p:cNvSpPr>
                  <p:nvPr/>
                </p:nvSpPr>
                <p:spPr bwMode="auto">
                  <a:xfrm>
                    <a:off x="554182" y="2567709"/>
                    <a:ext cx="1477818" cy="166255"/>
                  </a:xfrm>
                  <a:prstGeom prst="rect">
                    <a:avLst/>
                  </a:prstGeom>
                  <a:solidFill>
                    <a:schemeClr val="accent2"/>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5" name="Rectangle 34">
                    <a:extLst>
                      <a:ext uri="{FF2B5EF4-FFF2-40B4-BE49-F238E27FC236}">
                        <a16:creationId xmlns:a16="http://schemas.microsoft.com/office/drawing/2014/main" id="{AD74F887-FFCF-9242-8493-584A0E76D60E}"/>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6" name="Rectangle 35">
                    <a:extLst>
                      <a:ext uri="{FF2B5EF4-FFF2-40B4-BE49-F238E27FC236}">
                        <a16:creationId xmlns:a16="http://schemas.microsoft.com/office/drawing/2014/main" id="{56A02975-AC84-394C-A31A-BBAF565DF8DB}"/>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7" name="Rectangle 36">
                    <a:extLst>
                      <a:ext uri="{FF2B5EF4-FFF2-40B4-BE49-F238E27FC236}">
                        <a16:creationId xmlns:a16="http://schemas.microsoft.com/office/drawing/2014/main" id="{EBF6193A-0388-5A4F-85A6-B0E4859E2937}"/>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nvGrpSpPr>
                <p:cNvPr id="124999" name="Group 9">
                  <a:extLst>
                    <a:ext uri="{FF2B5EF4-FFF2-40B4-BE49-F238E27FC236}">
                      <a16:creationId xmlns:a16="http://schemas.microsoft.com/office/drawing/2014/main" id="{EFE42A4F-69D2-B242-8B0E-776E6819A32F}"/>
                    </a:ext>
                  </a:extLst>
                </p:cNvPr>
                <p:cNvGrpSpPr>
                  <a:grpSpLocks/>
                </p:cNvGrpSpPr>
                <p:nvPr/>
              </p:nvGrpSpPr>
              <p:grpSpPr bwMode="auto">
                <a:xfrm>
                  <a:off x="554182" y="3237346"/>
                  <a:ext cx="1477818" cy="669637"/>
                  <a:chOff x="554182" y="2567709"/>
                  <a:chExt cx="1477818" cy="669637"/>
                </a:xfrm>
              </p:grpSpPr>
              <p:sp>
                <p:nvSpPr>
                  <p:cNvPr id="125000" name="Rectangle 29">
                    <a:extLst>
                      <a:ext uri="{FF2B5EF4-FFF2-40B4-BE49-F238E27FC236}">
                        <a16:creationId xmlns:a16="http://schemas.microsoft.com/office/drawing/2014/main" id="{7700FE78-D0BA-4442-AF4C-9EF8A2DCC3F6}"/>
                      </a:ext>
                    </a:extLst>
                  </p:cNvPr>
                  <p:cNvSpPr>
                    <a:spLocks noChangeArrowheads="1"/>
                  </p:cNvSpPr>
                  <p:nvPr/>
                </p:nvSpPr>
                <p:spPr bwMode="auto">
                  <a:xfrm>
                    <a:off x="554182" y="2567709"/>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1" name="Rectangle 30">
                    <a:extLst>
                      <a:ext uri="{FF2B5EF4-FFF2-40B4-BE49-F238E27FC236}">
                        <a16:creationId xmlns:a16="http://schemas.microsoft.com/office/drawing/2014/main" id="{D0D09836-6A21-4F46-B9B0-EC9C765A6AE4}"/>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2" name="Rectangle 31">
                    <a:extLst>
                      <a:ext uri="{FF2B5EF4-FFF2-40B4-BE49-F238E27FC236}">
                        <a16:creationId xmlns:a16="http://schemas.microsoft.com/office/drawing/2014/main" id="{08248970-59BE-4F4A-B084-6C2D009F57B9}"/>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3" name="Rectangle 32">
                    <a:extLst>
                      <a:ext uri="{FF2B5EF4-FFF2-40B4-BE49-F238E27FC236}">
                        <a16:creationId xmlns:a16="http://schemas.microsoft.com/office/drawing/2014/main" id="{6D70040A-729B-984A-8B78-BF9014CDEDEE}"/>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grpSp>
            <p:nvGrpSpPr>
              <p:cNvPr id="124987" name="Group 37">
                <a:extLst>
                  <a:ext uri="{FF2B5EF4-FFF2-40B4-BE49-F238E27FC236}">
                    <a16:creationId xmlns:a16="http://schemas.microsoft.com/office/drawing/2014/main" id="{D66440B1-B990-534B-932C-47A2A62C536A}"/>
                  </a:ext>
                </a:extLst>
              </p:cNvPr>
              <p:cNvGrpSpPr>
                <a:grpSpLocks/>
              </p:cNvGrpSpPr>
              <p:nvPr/>
            </p:nvGrpSpPr>
            <p:grpSpPr bwMode="auto">
              <a:xfrm>
                <a:off x="2433782" y="4851976"/>
                <a:ext cx="1477818" cy="1339274"/>
                <a:chOff x="554182" y="2567709"/>
                <a:chExt cx="1477818" cy="1339274"/>
              </a:xfrm>
            </p:grpSpPr>
            <p:grpSp>
              <p:nvGrpSpPr>
                <p:cNvPr id="124988" name="Group 8">
                  <a:extLst>
                    <a:ext uri="{FF2B5EF4-FFF2-40B4-BE49-F238E27FC236}">
                      <a16:creationId xmlns:a16="http://schemas.microsoft.com/office/drawing/2014/main" id="{1A0BB147-BC03-9D4E-9B86-FE3C49A7CAC7}"/>
                    </a:ext>
                  </a:extLst>
                </p:cNvPr>
                <p:cNvGrpSpPr>
                  <a:grpSpLocks/>
                </p:cNvGrpSpPr>
                <p:nvPr/>
              </p:nvGrpSpPr>
              <p:grpSpPr bwMode="auto">
                <a:xfrm>
                  <a:off x="554182" y="2567709"/>
                  <a:ext cx="1477818" cy="669637"/>
                  <a:chOff x="554182" y="2567709"/>
                  <a:chExt cx="1477818" cy="669637"/>
                </a:xfrm>
              </p:grpSpPr>
              <p:sp>
                <p:nvSpPr>
                  <p:cNvPr id="124994" name="Rectangle 44">
                    <a:extLst>
                      <a:ext uri="{FF2B5EF4-FFF2-40B4-BE49-F238E27FC236}">
                        <a16:creationId xmlns:a16="http://schemas.microsoft.com/office/drawing/2014/main" id="{1B16BE18-00D1-F14B-8390-06E9BF0A5B29}"/>
                      </a:ext>
                    </a:extLst>
                  </p:cNvPr>
                  <p:cNvSpPr>
                    <a:spLocks noChangeArrowheads="1"/>
                  </p:cNvSpPr>
                  <p:nvPr/>
                </p:nvSpPr>
                <p:spPr bwMode="auto">
                  <a:xfrm>
                    <a:off x="554182" y="2567709"/>
                    <a:ext cx="1477818" cy="166255"/>
                  </a:xfrm>
                  <a:prstGeom prst="rect">
                    <a:avLst/>
                  </a:prstGeom>
                  <a:solidFill>
                    <a:schemeClr val="accent2"/>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5" name="Rectangle 45">
                    <a:extLst>
                      <a:ext uri="{FF2B5EF4-FFF2-40B4-BE49-F238E27FC236}">
                        <a16:creationId xmlns:a16="http://schemas.microsoft.com/office/drawing/2014/main" id="{FCA27F20-671F-724A-9EAB-F80C5F4D2091}"/>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6" name="Rectangle 46">
                    <a:extLst>
                      <a:ext uri="{FF2B5EF4-FFF2-40B4-BE49-F238E27FC236}">
                        <a16:creationId xmlns:a16="http://schemas.microsoft.com/office/drawing/2014/main" id="{46F40B6E-22B8-B74D-9CF3-B66C83532549}"/>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7" name="Rectangle 47">
                    <a:extLst>
                      <a:ext uri="{FF2B5EF4-FFF2-40B4-BE49-F238E27FC236}">
                        <a16:creationId xmlns:a16="http://schemas.microsoft.com/office/drawing/2014/main" id="{044BA942-3411-9048-BD66-6B6FE5FD82E6}"/>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nvGrpSpPr>
                <p:cNvPr id="124989" name="Group 9">
                  <a:extLst>
                    <a:ext uri="{FF2B5EF4-FFF2-40B4-BE49-F238E27FC236}">
                      <a16:creationId xmlns:a16="http://schemas.microsoft.com/office/drawing/2014/main" id="{22949162-EBEF-C64C-A5C7-E667EA8A1DA3}"/>
                    </a:ext>
                  </a:extLst>
                </p:cNvPr>
                <p:cNvGrpSpPr>
                  <a:grpSpLocks/>
                </p:cNvGrpSpPr>
                <p:nvPr/>
              </p:nvGrpSpPr>
              <p:grpSpPr bwMode="auto">
                <a:xfrm>
                  <a:off x="554182" y="3237346"/>
                  <a:ext cx="1477818" cy="669637"/>
                  <a:chOff x="554182" y="2567709"/>
                  <a:chExt cx="1477818" cy="669637"/>
                </a:xfrm>
              </p:grpSpPr>
              <p:sp>
                <p:nvSpPr>
                  <p:cNvPr id="124990" name="Rectangle 40">
                    <a:extLst>
                      <a:ext uri="{FF2B5EF4-FFF2-40B4-BE49-F238E27FC236}">
                        <a16:creationId xmlns:a16="http://schemas.microsoft.com/office/drawing/2014/main" id="{1E75A890-8DAD-8447-948C-60197B33FDE8}"/>
                      </a:ext>
                    </a:extLst>
                  </p:cNvPr>
                  <p:cNvSpPr>
                    <a:spLocks noChangeArrowheads="1"/>
                  </p:cNvSpPr>
                  <p:nvPr/>
                </p:nvSpPr>
                <p:spPr bwMode="auto">
                  <a:xfrm>
                    <a:off x="554182" y="2567709"/>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1" name="Rectangle 41">
                    <a:extLst>
                      <a:ext uri="{FF2B5EF4-FFF2-40B4-BE49-F238E27FC236}">
                        <a16:creationId xmlns:a16="http://schemas.microsoft.com/office/drawing/2014/main" id="{60E1865B-6720-F843-BB8B-96EC6717E8F8}"/>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2" name="Rectangle 42">
                    <a:extLst>
                      <a:ext uri="{FF2B5EF4-FFF2-40B4-BE49-F238E27FC236}">
                        <a16:creationId xmlns:a16="http://schemas.microsoft.com/office/drawing/2014/main" id="{66770C87-F89D-D547-A6E4-347921070E4E}"/>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3" name="Rectangle 43">
                    <a:extLst>
                      <a:ext uri="{FF2B5EF4-FFF2-40B4-BE49-F238E27FC236}">
                        <a16:creationId xmlns:a16="http://schemas.microsoft.com/office/drawing/2014/main" id="{5623887B-104A-084B-B212-86950EBAFF89}"/>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grpSp>
      </p:grpSp>
      <p:grpSp>
        <p:nvGrpSpPr>
          <p:cNvPr id="82949" name="Group 59">
            <a:extLst>
              <a:ext uri="{FF2B5EF4-FFF2-40B4-BE49-F238E27FC236}">
                <a16:creationId xmlns:a16="http://schemas.microsoft.com/office/drawing/2014/main" id="{F47ADBD4-E10A-574E-9D4C-96D5A65C6F85}"/>
              </a:ext>
            </a:extLst>
          </p:cNvPr>
          <p:cNvGrpSpPr>
            <a:grpSpLocks/>
          </p:cNvGrpSpPr>
          <p:nvPr/>
        </p:nvGrpSpPr>
        <p:grpSpPr bwMode="auto">
          <a:xfrm>
            <a:off x="4348842" y="3551520"/>
            <a:ext cx="1477963" cy="1338263"/>
            <a:chOff x="2544619" y="2612161"/>
            <a:chExt cx="1477818" cy="1339274"/>
          </a:xfrm>
        </p:grpSpPr>
        <p:sp>
          <p:nvSpPr>
            <p:cNvPr id="124976" name="Rectangle 51">
              <a:extLst>
                <a:ext uri="{FF2B5EF4-FFF2-40B4-BE49-F238E27FC236}">
                  <a16:creationId xmlns:a16="http://schemas.microsoft.com/office/drawing/2014/main" id="{57ABC89A-8BC0-404B-8ECE-B99D97C752CD}"/>
                </a:ext>
              </a:extLst>
            </p:cNvPr>
            <p:cNvSpPr>
              <a:spLocks noChangeArrowheads="1"/>
            </p:cNvSpPr>
            <p:nvPr/>
          </p:nvSpPr>
          <p:spPr bwMode="auto">
            <a:xfrm>
              <a:off x="2544619" y="261216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7" name="Rectangle 52">
              <a:extLst>
                <a:ext uri="{FF2B5EF4-FFF2-40B4-BE49-F238E27FC236}">
                  <a16:creationId xmlns:a16="http://schemas.microsoft.com/office/drawing/2014/main" id="{29E86B7B-77E3-2142-B2B1-7C3B636B6C64}"/>
                </a:ext>
              </a:extLst>
            </p:cNvPr>
            <p:cNvSpPr>
              <a:spLocks noChangeArrowheads="1"/>
            </p:cNvSpPr>
            <p:nvPr/>
          </p:nvSpPr>
          <p:spPr bwMode="auto">
            <a:xfrm>
              <a:off x="2544619" y="2783033"/>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8" name="Rectangle 53">
              <a:extLst>
                <a:ext uri="{FF2B5EF4-FFF2-40B4-BE49-F238E27FC236}">
                  <a16:creationId xmlns:a16="http://schemas.microsoft.com/office/drawing/2014/main" id="{B4BB8816-9286-134B-BCAC-8B9765C12572}"/>
                </a:ext>
              </a:extLst>
            </p:cNvPr>
            <p:cNvSpPr>
              <a:spLocks noChangeArrowheads="1"/>
            </p:cNvSpPr>
            <p:nvPr/>
          </p:nvSpPr>
          <p:spPr bwMode="auto">
            <a:xfrm>
              <a:off x="2544619" y="2949288"/>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9" name="Rectangle 54">
              <a:extLst>
                <a:ext uri="{FF2B5EF4-FFF2-40B4-BE49-F238E27FC236}">
                  <a16:creationId xmlns:a16="http://schemas.microsoft.com/office/drawing/2014/main" id="{66ED7A42-5BD4-F948-9D2F-35AEBF0F437C}"/>
                </a:ext>
              </a:extLst>
            </p:cNvPr>
            <p:cNvSpPr>
              <a:spLocks noChangeArrowheads="1"/>
            </p:cNvSpPr>
            <p:nvPr/>
          </p:nvSpPr>
          <p:spPr bwMode="auto">
            <a:xfrm>
              <a:off x="2544619" y="3115543"/>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80" name="Rectangle 55">
              <a:extLst>
                <a:ext uri="{FF2B5EF4-FFF2-40B4-BE49-F238E27FC236}">
                  <a16:creationId xmlns:a16="http://schemas.microsoft.com/office/drawing/2014/main" id="{199BD510-E914-5B40-9724-679EEB7E63D3}"/>
                </a:ext>
              </a:extLst>
            </p:cNvPr>
            <p:cNvSpPr>
              <a:spLocks noChangeArrowheads="1"/>
            </p:cNvSpPr>
            <p:nvPr/>
          </p:nvSpPr>
          <p:spPr bwMode="auto">
            <a:xfrm>
              <a:off x="2544619" y="3286415"/>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81" name="Rectangle 56">
              <a:extLst>
                <a:ext uri="{FF2B5EF4-FFF2-40B4-BE49-F238E27FC236}">
                  <a16:creationId xmlns:a16="http://schemas.microsoft.com/office/drawing/2014/main" id="{85435B0E-86A2-0147-8D80-5D385A603D1D}"/>
                </a:ext>
              </a:extLst>
            </p:cNvPr>
            <p:cNvSpPr>
              <a:spLocks noChangeArrowheads="1"/>
            </p:cNvSpPr>
            <p:nvPr/>
          </p:nvSpPr>
          <p:spPr bwMode="auto">
            <a:xfrm>
              <a:off x="2544619" y="3452670"/>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82" name="Rectangle 57">
              <a:extLst>
                <a:ext uri="{FF2B5EF4-FFF2-40B4-BE49-F238E27FC236}">
                  <a16:creationId xmlns:a16="http://schemas.microsoft.com/office/drawing/2014/main" id="{9B73AB93-9596-F841-B8AB-2E7CDDFDE07E}"/>
                </a:ext>
              </a:extLst>
            </p:cNvPr>
            <p:cNvSpPr>
              <a:spLocks noChangeArrowheads="1"/>
            </p:cNvSpPr>
            <p:nvPr/>
          </p:nvSpPr>
          <p:spPr bwMode="auto">
            <a:xfrm>
              <a:off x="2544619" y="3618925"/>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83" name="Rectangle 58">
              <a:extLst>
                <a:ext uri="{FF2B5EF4-FFF2-40B4-BE49-F238E27FC236}">
                  <a16:creationId xmlns:a16="http://schemas.microsoft.com/office/drawing/2014/main" id="{512E0F1A-EAF9-0D49-A619-0201B0987576}"/>
                </a:ext>
              </a:extLst>
            </p:cNvPr>
            <p:cNvSpPr>
              <a:spLocks noChangeArrowheads="1"/>
            </p:cNvSpPr>
            <p:nvPr/>
          </p:nvSpPr>
          <p:spPr bwMode="auto">
            <a:xfrm>
              <a:off x="2544619" y="3785180"/>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sp>
        <p:nvSpPr>
          <p:cNvPr id="82950" name="TextBox 60">
            <a:extLst>
              <a:ext uri="{FF2B5EF4-FFF2-40B4-BE49-F238E27FC236}">
                <a16:creationId xmlns:a16="http://schemas.microsoft.com/office/drawing/2014/main" id="{7EF2B0D8-18B3-114F-8B86-19F5FDB0FBD3}"/>
              </a:ext>
            </a:extLst>
          </p:cNvPr>
          <p:cNvSpPr txBox="1">
            <a:spLocks noChangeArrowheads="1"/>
          </p:cNvSpPr>
          <p:nvPr/>
        </p:nvSpPr>
        <p:spPr bwMode="auto">
          <a:xfrm>
            <a:off x="4525055" y="3135595"/>
            <a:ext cx="1133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Tag store</a:t>
            </a:r>
          </a:p>
        </p:txBody>
      </p:sp>
      <p:grpSp>
        <p:nvGrpSpPr>
          <p:cNvPr id="82951" name="Group 61">
            <a:extLst>
              <a:ext uri="{FF2B5EF4-FFF2-40B4-BE49-F238E27FC236}">
                <a16:creationId xmlns:a16="http://schemas.microsoft.com/office/drawing/2014/main" id="{272A89D0-C599-4E4E-97CD-797E00B61048}"/>
              </a:ext>
            </a:extLst>
          </p:cNvPr>
          <p:cNvGrpSpPr>
            <a:grpSpLocks/>
          </p:cNvGrpSpPr>
          <p:nvPr/>
        </p:nvGrpSpPr>
        <p:grpSpPr bwMode="auto">
          <a:xfrm>
            <a:off x="6247492" y="3546758"/>
            <a:ext cx="1477963" cy="1339850"/>
            <a:chOff x="2544619" y="2612161"/>
            <a:chExt cx="1477818" cy="1339274"/>
          </a:xfrm>
        </p:grpSpPr>
        <p:sp>
          <p:nvSpPr>
            <p:cNvPr id="124968" name="Rectangle 62">
              <a:extLst>
                <a:ext uri="{FF2B5EF4-FFF2-40B4-BE49-F238E27FC236}">
                  <a16:creationId xmlns:a16="http://schemas.microsoft.com/office/drawing/2014/main" id="{FAE4FD56-7C84-4C45-9740-7FFD54DEA002}"/>
                </a:ext>
              </a:extLst>
            </p:cNvPr>
            <p:cNvSpPr>
              <a:spLocks noChangeArrowheads="1"/>
            </p:cNvSpPr>
            <p:nvPr/>
          </p:nvSpPr>
          <p:spPr bwMode="auto">
            <a:xfrm>
              <a:off x="2544619" y="261216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69" name="Rectangle 63">
              <a:extLst>
                <a:ext uri="{FF2B5EF4-FFF2-40B4-BE49-F238E27FC236}">
                  <a16:creationId xmlns:a16="http://schemas.microsoft.com/office/drawing/2014/main" id="{9190EC25-BFF2-CE43-A84C-DA2EF8071AA0}"/>
                </a:ext>
              </a:extLst>
            </p:cNvPr>
            <p:cNvSpPr>
              <a:spLocks noChangeArrowheads="1"/>
            </p:cNvSpPr>
            <p:nvPr/>
          </p:nvSpPr>
          <p:spPr bwMode="auto">
            <a:xfrm>
              <a:off x="2544619" y="2783033"/>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0" name="Rectangle 64">
              <a:extLst>
                <a:ext uri="{FF2B5EF4-FFF2-40B4-BE49-F238E27FC236}">
                  <a16:creationId xmlns:a16="http://schemas.microsoft.com/office/drawing/2014/main" id="{2D6E02EA-1068-B44F-99F2-088E33ABC367}"/>
                </a:ext>
              </a:extLst>
            </p:cNvPr>
            <p:cNvSpPr>
              <a:spLocks noChangeArrowheads="1"/>
            </p:cNvSpPr>
            <p:nvPr/>
          </p:nvSpPr>
          <p:spPr bwMode="auto">
            <a:xfrm>
              <a:off x="2544619" y="2949288"/>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1" name="Rectangle 65">
              <a:extLst>
                <a:ext uri="{FF2B5EF4-FFF2-40B4-BE49-F238E27FC236}">
                  <a16:creationId xmlns:a16="http://schemas.microsoft.com/office/drawing/2014/main" id="{AE30C71A-FD43-C840-B39D-1CD7D4267DE8}"/>
                </a:ext>
              </a:extLst>
            </p:cNvPr>
            <p:cNvSpPr>
              <a:spLocks noChangeArrowheads="1"/>
            </p:cNvSpPr>
            <p:nvPr/>
          </p:nvSpPr>
          <p:spPr bwMode="auto">
            <a:xfrm>
              <a:off x="2544619" y="3115543"/>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2" name="Rectangle 66">
              <a:extLst>
                <a:ext uri="{FF2B5EF4-FFF2-40B4-BE49-F238E27FC236}">
                  <a16:creationId xmlns:a16="http://schemas.microsoft.com/office/drawing/2014/main" id="{024F45F8-067D-474F-8604-9438C9296378}"/>
                </a:ext>
              </a:extLst>
            </p:cNvPr>
            <p:cNvSpPr>
              <a:spLocks noChangeArrowheads="1"/>
            </p:cNvSpPr>
            <p:nvPr/>
          </p:nvSpPr>
          <p:spPr bwMode="auto">
            <a:xfrm>
              <a:off x="2544619" y="3286415"/>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3" name="Rectangle 67">
              <a:extLst>
                <a:ext uri="{FF2B5EF4-FFF2-40B4-BE49-F238E27FC236}">
                  <a16:creationId xmlns:a16="http://schemas.microsoft.com/office/drawing/2014/main" id="{03022486-F7F3-5D4E-8B57-F5CE08DCCFAC}"/>
                </a:ext>
              </a:extLst>
            </p:cNvPr>
            <p:cNvSpPr>
              <a:spLocks noChangeArrowheads="1"/>
            </p:cNvSpPr>
            <p:nvPr/>
          </p:nvSpPr>
          <p:spPr bwMode="auto">
            <a:xfrm>
              <a:off x="2544619" y="3452670"/>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4" name="Rectangle 68">
              <a:extLst>
                <a:ext uri="{FF2B5EF4-FFF2-40B4-BE49-F238E27FC236}">
                  <a16:creationId xmlns:a16="http://schemas.microsoft.com/office/drawing/2014/main" id="{DF33034F-5356-AC4E-9BE5-277CAE19DB75}"/>
                </a:ext>
              </a:extLst>
            </p:cNvPr>
            <p:cNvSpPr>
              <a:spLocks noChangeArrowheads="1"/>
            </p:cNvSpPr>
            <p:nvPr/>
          </p:nvSpPr>
          <p:spPr bwMode="auto">
            <a:xfrm>
              <a:off x="2544619" y="3618925"/>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5" name="Rectangle 69">
              <a:extLst>
                <a:ext uri="{FF2B5EF4-FFF2-40B4-BE49-F238E27FC236}">
                  <a16:creationId xmlns:a16="http://schemas.microsoft.com/office/drawing/2014/main" id="{6AE8B806-F6FE-924F-8C01-2D4B8E848F25}"/>
                </a:ext>
              </a:extLst>
            </p:cNvPr>
            <p:cNvSpPr>
              <a:spLocks noChangeArrowheads="1"/>
            </p:cNvSpPr>
            <p:nvPr/>
          </p:nvSpPr>
          <p:spPr bwMode="auto">
            <a:xfrm>
              <a:off x="2544619" y="3785180"/>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sp>
        <p:nvSpPr>
          <p:cNvPr id="82952" name="TextBox 70">
            <a:extLst>
              <a:ext uri="{FF2B5EF4-FFF2-40B4-BE49-F238E27FC236}">
                <a16:creationId xmlns:a16="http://schemas.microsoft.com/office/drawing/2014/main" id="{36AD7F6A-EC71-704E-8A08-FFB3FF780292}"/>
              </a:ext>
            </a:extLst>
          </p:cNvPr>
          <p:cNvSpPr txBox="1">
            <a:spLocks noChangeArrowheads="1"/>
          </p:cNvSpPr>
          <p:nvPr/>
        </p:nvSpPr>
        <p:spPr bwMode="auto">
          <a:xfrm>
            <a:off x="6395130" y="3130833"/>
            <a:ext cx="12493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Data store</a:t>
            </a:r>
          </a:p>
        </p:txBody>
      </p:sp>
      <p:sp>
        <p:nvSpPr>
          <p:cNvPr id="82953" name="Rectangle 71">
            <a:extLst>
              <a:ext uri="{FF2B5EF4-FFF2-40B4-BE49-F238E27FC236}">
                <a16:creationId xmlns:a16="http://schemas.microsoft.com/office/drawing/2014/main" id="{8FDA1AD7-C792-A445-9611-3D532E0628FB}"/>
              </a:ext>
            </a:extLst>
          </p:cNvPr>
          <p:cNvSpPr>
            <a:spLocks noChangeArrowheads="1"/>
          </p:cNvSpPr>
          <p:nvPr/>
        </p:nvSpPr>
        <p:spPr bwMode="auto">
          <a:xfrm>
            <a:off x="2088242" y="3181633"/>
            <a:ext cx="1477963" cy="3333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2954" name="TextBox 72">
            <a:extLst>
              <a:ext uri="{FF2B5EF4-FFF2-40B4-BE49-F238E27FC236}">
                <a16:creationId xmlns:a16="http://schemas.microsoft.com/office/drawing/2014/main" id="{08CBF199-F0B0-A044-8DDB-0D528113F426}"/>
              </a:ext>
            </a:extLst>
          </p:cNvPr>
          <p:cNvSpPr txBox="1">
            <a:spLocks noChangeArrowheads="1"/>
          </p:cNvSpPr>
          <p:nvPr/>
        </p:nvSpPr>
        <p:spPr bwMode="auto">
          <a:xfrm>
            <a:off x="2977242" y="3568983"/>
            <a:ext cx="8413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Address</a:t>
            </a:r>
          </a:p>
        </p:txBody>
      </p:sp>
      <p:cxnSp>
        <p:nvCxnSpPr>
          <p:cNvPr id="82955" name="Straight Connector 74">
            <a:extLst>
              <a:ext uri="{FF2B5EF4-FFF2-40B4-BE49-F238E27FC236}">
                <a16:creationId xmlns:a16="http://schemas.microsoft.com/office/drawing/2014/main" id="{B457AC84-4CF0-9848-BE5C-00AD16560341}"/>
              </a:ext>
            </a:extLst>
          </p:cNvPr>
          <p:cNvCxnSpPr>
            <a:cxnSpLocks noChangeShapeType="1"/>
          </p:cNvCxnSpPr>
          <p:nvPr/>
        </p:nvCxnSpPr>
        <p:spPr bwMode="auto">
          <a:xfrm rot="5400000">
            <a:off x="2858180" y="3348320"/>
            <a:ext cx="3317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2956" name="Straight Connector 75">
            <a:extLst>
              <a:ext uri="{FF2B5EF4-FFF2-40B4-BE49-F238E27FC236}">
                <a16:creationId xmlns:a16="http://schemas.microsoft.com/office/drawing/2014/main" id="{D72FDB7B-B1FD-7E40-AFCE-7F509484F0EC}"/>
              </a:ext>
            </a:extLst>
          </p:cNvPr>
          <p:cNvCxnSpPr>
            <a:cxnSpLocks noChangeShapeType="1"/>
          </p:cNvCxnSpPr>
          <p:nvPr/>
        </p:nvCxnSpPr>
        <p:spPr bwMode="auto">
          <a:xfrm rot="5400000">
            <a:off x="2322398" y="3347527"/>
            <a:ext cx="333375"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2957" name="TextBox 78">
            <a:extLst>
              <a:ext uri="{FF2B5EF4-FFF2-40B4-BE49-F238E27FC236}">
                <a16:creationId xmlns:a16="http://schemas.microsoft.com/office/drawing/2014/main" id="{625E1EA0-842A-CC46-8978-A5F33F7E863E}"/>
              </a:ext>
            </a:extLst>
          </p:cNvPr>
          <p:cNvSpPr txBox="1">
            <a:spLocks noChangeArrowheads="1"/>
          </p:cNvSpPr>
          <p:nvPr/>
        </p:nvSpPr>
        <p:spPr bwMode="auto">
          <a:xfrm>
            <a:off x="1983467" y="2830795"/>
            <a:ext cx="433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432FF"/>
                </a:solidFill>
                <a:latin typeface="Arial" panose="020B0604020202020204" pitchFamily="34" charset="0"/>
              </a:rPr>
              <a:t>tag</a:t>
            </a:r>
          </a:p>
        </p:txBody>
      </p:sp>
      <p:sp>
        <p:nvSpPr>
          <p:cNvPr id="82958" name="TextBox 80">
            <a:extLst>
              <a:ext uri="{FF2B5EF4-FFF2-40B4-BE49-F238E27FC236}">
                <a16:creationId xmlns:a16="http://schemas.microsoft.com/office/drawing/2014/main" id="{F19EEBF1-FE7E-C640-B336-DE5F17B5A648}"/>
              </a:ext>
            </a:extLst>
          </p:cNvPr>
          <p:cNvSpPr txBox="1">
            <a:spLocks noChangeArrowheads="1"/>
          </p:cNvSpPr>
          <p:nvPr/>
        </p:nvSpPr>
        <p:spPr bwMode="auto">
          <a:xfrm>
            <a:off x="2536002" y="2879624"/>
            <a:ext cx="4235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FF0000"/>
                </a:solidFill>
                <a:latin typeface="Arial" panose="020B0604020202020204" pitchFamily="34" charset="0"/>
              </a:rPr>
              <a:t>set</a:t>
            </a:r>
          </a:p>
        </p:txBody>
      </p:sp>
      <p:sp>
        <p:nvSpPr>
          <p:cNvPr id="82959" name="TextBox 81">
            <a:extLst>
              <a:ext uri="{FF2B5EF4-FFF2-40B4-BE49-F238E27FC236}">
                <a16:creationId xmlns:a16="http://schemas.microsoft.com/office/drawing/2014/main" id="{D2EB4DFC-A146-144A-ABE3-602232ED2007}"/>
              </a:ext>
            </a:extLst>
          </p:cNvPr>
          <p:cNvSpPr txBox="1">
            <a:spLocks noChangeArrowheads="1"/>
          </p:cNvSpPr>
          <p:nvPr/>
        </p:nvSpPr>
        <p:spPr bwMode="auto">
          <a:xfrm>
            <a:off x="2912946" y="2853169"/>
            <a:ext cx="1179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 in block</a:t>
            </a:r>
          </a:p>
        </p:txBody>
      </p:sp>
      <p:sp>
        <p:nvSpPr>
          <p:cNvPr id="82960" name="TextBox 82">
            <a:extLst>
              <a:ext uri="{FF2B5EF4-FFF2-40B4-BE49-F238E27FC236}">
                <a16:creationId xmlns:a16="http://schemas.microsoft.com/office/drawing/2014/main" id="{D20364B6-47AF-B04E-A6C4-43D0B3BD2075}"/>
              </a:ext>
            </a:extLst>
          </p:cNvPr>
          <p:cNvSpPr txBox="1">
            <a:spLocks noChangeArrowheads="1"/>
          </p:cNvSpPr>
          <p:nvPr/>
        </p:nvSpPr>
        <p:spPr bwMode="auto">
          <a:xfrm>
            <a:off x="3023280" y="3181633"/>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3 bits</a:t>
            </a:r>
          </a:p>
        </p:txBody>
      </p:sp>
      <p:sp>
        <p:nvSpPr>
          <p:cNvPr id="82961" name="TextBox 83">
            <a:extLst>
              <a:ext uri="{FF2B5EF4-FFF2-40B4-BE49-F238E27FC236}">
                <a16:creationId xmlns:a16="http://schemas.microsoft.com/office/drawing/2014/main" id="{603A8A40-F094-2D4F-989A-B757002082D5}"/>
              </a:ext>
            </a:extLst>
          </p:cNvPr>
          <p:cNvSpPr txBox="1">
            <a:spLocks noChangeArrowheads="1"/>
          </p:cNvSpPr>
          <p:nvPr/>
        </p:nvSpPr>
        <p:spPr bwMode="auto">
          <a:xfrm>
            <a:off x="2437492" y="3180045"/>
            <a:ext cx="6511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b="1" dirty="0">
                <a:solidFill>
                  <a:srgbClr val="FF0000"/>
                </a:solidFill>
                <a:latin typeface="Arial" panose="020B0604020202020204" pitchFamily="34" charset="0"/>
              </a:rPr>
              <a:t>3 bits</a:t>
            </a:r>
          </a:p>
        </p:txBody>
      </p:sp>
      <p:sp>
        <p:nvSpPr>
          <p:cNvPr id="82962" name="TextBox 84">
            <a:extLst>
              <a:ext uri="{FF2B5EF4-FFF2-40B4-BE49-F238E27FC236}">
                <a16:creationId xmlns:a16="http://schemas.microsoft.com/office/drawing/2014/main" id="{7284C153-99AA-7E4C-A686-62B84A1B5C0A}"/>
              </a:ext>
            </a:extLst>
          </p:cNvPr>
          <p:cNvSpPr txBox="1">
            <a:spLocks noChangeArrowheads="1"/>
          </p:cNvSpPr>
          <p:nvPr/>
        </p:nvSpPr>
        <p:spPr bwMode="auto">
          <a:xfrm>
            <a:off x="2088242" y="3197508"/>
            <a:ext cx="382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432FF"/>
                </a:solidFill>
                <a:latin typeface="Arial" panose="020B0604020202020204" pitchFamily="34" charset="0"/>
              </a:rPr>
              <a:t>2b</a:t>
            </a:r>
          </a:p>
        </p:txBody>
      </p:sp>
      <p:cxnSp>
        <p:nvCxnSpPr>
          <p:cNvPr id="82963" name="Straight Connector 86">
            <a:extLst>
              <a:ext uri="{FF2B5EF4-FFF2-40B4-BE49-F238E27FC236}">
                <a16:creationId xmlns:a16="http://schemas.microsoft.com/office/drawing/2014/main" id="{F82AAAA2-0FEA-2144-81D6-88081FF88DE7}"/>
              </a:ext>
            </a:extLst>
          </p:cNvPr>
          <p:cNvCxnSpPr>
            <a:cxnSpLocks noChangeShapeType="1"/>
            <a:stCxn id="82953" idx="2"/>
          </p:cNvCxnSpPr>
          <p:nvPr/>
        </p:nvCxnSpPr>
        <p:spPr bwMode="auto">
          <a:xfrm rot="16200000" flipH="1">
            <a:off x="2472418" y="3869020"/>
            <a:ext cx="711200"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2964" name="Straight Arrow Connector 88">
            <a:extLst>
              <a:ext uri="{FF2B5EF4-FFF2-40B4-BE49-F238E27FC236}">
                <a16:creationId xmlns:a16="http://schemas.microsoft.com/office/drawing/2014/main" id="{85C5343E-770E-6644-8C89-A03D89BD489E}"/>
              </a:ext>
            </a:extLst>
          </p:cNvPr>
          <p:cNvCxnSpPr>
            <a:cxnSpLocks noChangeShapeType="1"/>
          </p:cNvCxnSpPr>
          <p:nvPr/>
        </p:nvCxnSpPr>
        <p:spPr bwMode="auto">
          <a:xfrm flipV="1">
            <a:off x="2829605" y="4216683"/>
            <a:ext cx="1519237" cy="95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65" name="Straight Arrow Connector 89">
            <a:extLst>
              <a:ext uri="{FF2B5EF4-FFF2-40B4-BE49-F238E27FC236}">
                <a16:creationId xmlns:a16="http://schemas.microsoft.com/office/drawing/2014/main" id="{6E770ED4-19CF-9E4A-BB43-EA307625F286}"/>
              </a:ext>
            </a:extLst>
          </p:cNvPr>
          <p:cNvCxnSpPr>
            <a:cxnSpLocks noChangeShapeType="1"/>
          </p:cNvCxnSpPr>
          <p:nvPr/>
        </p:nvCxnSpPr>
        <p:spPr bwMode="auto">
          <a:xfrm>
            <a:off x="6007780" y="4226208"/>
            <a:ext cx="239712"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66" name="Straight Connector 95">
            <a:extLst>
              <a:ext uri="{FF2B5EF4-FFF2-40B4-BE49-F238E27FC236}">
                <a16:creationId xmlns:a16="http://schemas.microsoft.com/office/drawing/2014/main" id="{E95A2E99-0F5C-8042-830F-12C9C7B76083}"/>
              </a:ext>
            </a:extLst>
          </p:cNvPr>
          <p:cNvCxnSpPr>
            <a:cxnSpLocks noChangeShapeType="1"/>
          </p:cNvCxnSpPr>
          <p:nvPr/>
        </p:nvCxnSpPr>
        <p:spPr bwMode="auto">
          <a:xfrm rot="5400000">
            <a:off x="4044836" y="4220651"/>
            <a:ext cx="13398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2967" name="TextBox 96">
            <a:extLst>
              <a:ext uri="{FF2B5EF4-FFF2-40B4-BE49-F238E27FC236}">
                <a16:creationId xmlns:a16="http://schemas.microsoft.com/office/drawing/2014/main" id="{21E246A5-00BF-D74C-95DE-6D719EF65062}"/>
              </a:ext>
            </a:extLst>
          </p:cNvPr>
          <p:cNvSpPr txBox="1">
            <a:spLocks noChangeArrowheads="1"/>
          </p:cNvSpPr>
          <p:nvPr/>
        </p:nvSpPr>
        <p:spPr bwMode="auto">
          <a:xfrm>
            <a:off x="4409167" y="4683408"/>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0000"/>
                </a:solidFill>
                <a:latin typeface="Arial" panose="020B0604020202020204" pitchFamily="34" charset="0"/>
              </a:rPr>
              <a:t>V</a:t>
            </a:r>
          </a:p>
        </p:txBody>
      </p:sp>
      <p:sp>
        <p:nvSpPr>
          <p:cNvPr id="82968" name="TextBox 97">
            <a:extLst>
              <a:ext uri="{FF2B5EF4-FFF2-40B4-BE49-F238E27FC236}">
                <a16:creationId xmlns:a16="http://schemas.microsoft.com/office/drawing/2014/main" id="{AED0F0EA-B113-954A-9840-DA0D7E7E578D}"/>
              </a:ext>
            </a:extLst>
          </p:cNvPr>
          <p:cNvSpPr txBox="1">
            <a:spLocks noChangeArrowheads="1"/>
          </p:cNvSpPr>
          <p:nvPr/>
        </p:nvSpPr>
        <p:spPr bwMode="auto">
          <a:xfrm>
            <a:off x="5021942" y="4673883"/>
            <a:ext cx="39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432FF"/>
                </a:solidFill>
                <a:latin typeface="Arial" panose="020B0604020202020204" pitchFamily="34" charset="0"/>
              </a:rPr>
              <a:t>tag</a:t>
            </a:r>
          </a:p>
        </p:txBody>
      </p:sp>
      <p:sp>
        <p:nvSpPr>
          <p:cNvPr id="82969" name="Rectangle 98">
            <a:extLst>
              <a:ext uri="{FF2B5EF4-FFF2-40B4-BE49-F238E27FC236}">
                <a16:creationId xmlns:a16="http://schemas.microsoft.com/office/drawing/2014/main" id="{CAB5B196-BE37-D645-99F3-D3E8E2D4570C}"/>
              </a:ext>
            </a:extLst>
          </p:cNvPr>
          <p:cNvSpPr>
            <a:spLocks noChangeArrowheads="1"/>
          </p:cNvSpPr>
          <p:nvPr/>
        </p:nvSpPr>
        <p:spPr bwMode="auto">
          <a:xfrm>
            <a:off x="4794930" y="5305708"/>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2970" name="TextBox 99">
            <a:extLst>
              <a:ext uri="{FF2B5EF4-FFF2-40B4-BE49-F238E27FC236}">
                <a16:creationId xmlns:a16="http://schemas.microsoft.com/office/drawing/2014/main" id="{25461A3D-07FA-914C-B338-1C22979C8721}"/>
              </a:ext>
            </a:extLst>
          </p:cNvPr>
          <p:cNvSpPr txBox="1">
            <a:spLocks noChangeArrowheads="1"/>
          </p:cNvSpPr>
          <p:nvPr/>
        </p:nvSpPr>
        <p:spPr bwMode="auto">
          <a:xfrm>
            <a:off x="4893355" y="5283483"/>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2971" name="Straight Arrow Connector 101">
            <a:extLst>
              <a:ext uri="{FF2B5EF4-FFF2-40B4-BE49-F238E27FC236}">
                <a16:creationId xmlns:a16="http://schemas.microsoft.com/office/drawing/2014/main" id="{8368F2E1-0CC2-0D4C-89F5-E139B7F48ADA}"/>
              </a:ext>
            </a:extLst>
          </p:cNvPr>
          <p:cNvCxnSpPr>
            <a:cxnSpLocks noChangeShapeType="1"/>
          </p:cNvCxnSpPr>
          <p:nvPr/>
        </p:nvCxnSpPr>
        <p:spPr bwMode="auto">
          <a:xfrm rot="5400000">
            <a:off x="4922724" y="5101714"/>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72" name="Straight Arrow Connector 106">
            <a:extLst>
              <a:ext uri="{FF2B5EF4-FFF2-40B4-BE49-F238E27FC236}">
                <a16:creationId xmlns:a16="http://schemas.microsoft.com/office/drawing/2014/main" id="{B6F7ED89-3CEB-5148-96D8-BE67E6F30A68}"/>
              </a:ext>
            </a:extLst>
          </p:cNvPr>
          <p:cNvCxnSpPr>
            <a:cxnSpLocks noChangeShapeType="1"/>
          </p:cNvCxnSpPr>
          <p:nvPr/>
        </p:nvCxnSpPr>
        <p:spPr bwMode="auto">
          <a:xfrm>
            <a:off x="4552042" y="4886608"/>
            <a:ext cx="469900" cy="42386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73" name="Straight Connector 113">
            <a:extLst>
              <a:ext uri="{FF2B5EF4-FFF2-40B4-BE49-F238E27FC236}">
                <a16:creationId xmlns:a16="http://schemas.microsoft.com/office/drawing/2014/main" id="{D07AEB76-2716-974A-902F-305CFAA89CA2}"/>
              </a:ext>
            </a:extLst>
          </p:cNvPr>
          <p:cNvCxnSpPr>
            <a:cxnSpLocks noChangeShapeType="1"/>
          </p:cNvCxnSpPr>
          <p:nvPr/>
        </p:nvCxnSpPr>
        <p:spPr bwMode="auto">
          <a:xfrm>
            <a:off x="2314462" y="3546758"/>
            <a:ext cx="0" cy="19573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2974" name="Straight Arrow Connector 115">
            <a:extLst>
              <a:ext uri="{FF2B5EF4-FFF2-40B4-BE49-F238E27FC236}">
                <a16:creationId xmlns:a16="http://schemas.microsoft.com/office/drawing/2014/main" id="{26861C52-A3BC-5642-8423-82243193E3E0}"/>
              </a:ext>
            </a:extLst>
          </p:cNvPr>
          <p:cNvCxnSpPr>
            <a:cxnSpLocks noChangeShapeType="1"/>
            <a:endCxn id="82969" idx="1"/>
          </p:cNvCxnSpPr>
          <p:nvPr/>
        </p:nvCxnSpPr>
        <p:spPr bwMode="auto">
          <a:xfrm flipV="1">
            <a:off x="2315255" y="5473983"/>
            <a:ext cx="2479675" cy="3016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75" name="Straight Arrow Connector 116">
            <a:extLst>
              <a:ext uri="{FF2B5EF4-FFF2-40B4-BE49-F238E27FC236}">
                <a16:creationId xmlns:a16="http://schemas.microsoft.com/office/drawing/2014/main" id="{5F7AAFEB-B349-CE48-B598-7D8A41BA2D5F}"/>
              </a:ext>
            </a:extLst>
          </p:cNvPr>
          <p:cNvCxnSpPr>
            <a:cxnSpLocks noChangeShapeType="1"/>
          </p:cNvCxnSpPr>
          <p:nvPr/>
        </p:nvCxnSpPr>
        <p:spPr bwMode="auto">
          <a:xfrm rot="5400000">
            <a:off x="6757874" y="5101714"/>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2976" name="Freeform 48">
            <a:extLst>
              <a:ext uri="{FF2B5EF4-FFF2-40B4-BE49-F238E27FC236}">
                <a16:creationId xmlns:a16="http://schemas.microsoft.com/office/drawing/2014/main" id="{40BD663C-56BC-214E-AE50-8BCF8F719639}"/>
              </a:ext>
            </a:extLst>
          </p:cNvPr>
          <p:cNvSpPr>
            <a:spLocks/>
          </p:cNvSpPr>
          <p:nvPr/>
        </p:nvSpPr>
        <p:spPr bwMode="auto">
          <a:xfrm>
            <a:off x="6076042" y="5307295"/>
            <a:ext cx="1797050"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77" name="Text Box 61">
            <a:extLst>
              <a:ext uri="{FF2B5EF4-FFF2-40B4-BE49-F238E27FC236}">
                <a16:creationId xmlns:a16="http://schemas.microsoft.com/office/drawing/2014/main" id="{AF11080A-DB07-484D-A731-9BC8D5207226}"/>
              </a:ext>
            </a:extLst>
          </p:cNvPr>
          <p:cNvSpPr txBox="1">
            <a:spLocks noChangeArrowheads="1"/>
          </p:cNvSpPr>
          <p:nvPr/>
        </p:nvSpPr>
        <p:spPr bwMode="auto">
          <a:xfrm>
            <a:off x="6623730" y="5283483"/>
            <a:ext cx="696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2978" name="Straight Arrow Connector 121">
            <a:extLst>
              <a:ext uri="{FF2B5EF4-FFF2-40B4-BE49-F238E27FC236}">
                <a16:creationId xmlns:a16="http://schemas.microsoft.com/office/drawing/2014/main" id="{3AAF418E-9E3A-664C-991C-D45AA06ED2D7}"/>
              </a:ext>
            </a:extLst>
          </p:cNvPr>
          <p:cNvCxnSpPr>
            <a:cxnSpLocks noChangeShapeType="1"/>
          </p:cNvCxnSpPr>
          <p:nvPr/>
        </p:nvCxnSpPr>
        <p:spPr bwMode="auto">
          <a:xfrm rot="10800000">
            <a:off x="7644492" y="5467633"/>
            <a:ext cx="523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2979" name="TextBox 122">
            <a:extLst>
              <a:ext uri="{FF2B5EF4-FFF2-40B4-BE49-F238E27FC236}">
                <a16:creationId xmlns:a16="http://schemas.microsoft.com/office/drawing/2014/main" id="{4FE531F9-6586-8A4B-BEE5-F31CA8894F60}"/>
              </a:ext>
            </a:extLst>
          </p:cNvPr>
          <p:cNvSpPr txBox="1">
            <a:spLocks noChangeArrowheads="1"/>
          </p:cNvSpPr>
          <p:nvPr/>
        </p:nvSpPr>
        <p:spPr bwMode="auto">
          <a:xfrm>
            <a:off x="7811180" y="5159658"/>
            <a:ext cx="1179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byte in block</a:t>
            </a:r>
          </a:p>
        </p:txBody>
      </p:sp>
      <p:cxnSp>
        <p:nvCxnSpPr>
          <p:cNvPr id="82980" name="Straight Arrow Connector 99">
            <a:extLst>
              <a:ext uri="{FF2B5EF4-FFF2-40B4-BE49-F238E27FC236}">
                <a16:creationId xmlns:a16="http://schemas.microsoft.com/office/drawing/2014/main" id="{0867E516-A3CB-B74D-8FA9-5C93F71E0482}"/>
              </a:ext>
            </a:extLst>
          </p:cNvPr>
          <p:cNvCxnSpPr>
            <a:cxnSpLocks noChangeShapeType="1"/>
          </p:cNvCxnSpPr>
          <p:nvPr/>
        </p:nvCxnSpPr>
        <p:spPr bwMode="auto">
          <a:xfrm rot="16200000" flipH="1">
            <a:off x="5000511" y="5777989"/>
            <a:ext cx="26352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81" name="Straight Arrow Connector 100">
            <a:extLst>
              <a:ext uri="{FF2B5EF4-FFF2-40B4-BE49-F238E27FC236}">
                <a16:creationId xmlns:a16="http://schemas.microsoft.com/office/drawing/2014/main" id="{9078B791-2CF7-E446-9106-2313812B2E44}"/>
              </a:ext>
            </a:extLst>
          </p:cNvPr>
          <p:cNvCxnSpPr>
            <a:cxnSpLocks noChangeShapeType="1"/>
          </p:cNvCxnSpPr>
          <p:nvPr/>
        </p:nvCxnSpPr>
        <p:spPr bwMode="auto">
          <a:xfrm rot="16200000" flipH="1">
            <a:off x="6836454" y="5756558"/>
            <a:ext cx="265113"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2982" name="TextBox 102">
            <a:extLst>
              <a:ext uri="{FF2B5EF4-FFF2-40B4-BE49-F238E27FC236}">
                <a16:creationId xmlns:a16="http://schemas.microsoft.com/office/drawing/2014/main" id="{6A235DD4-DBB1-6340-846E-F401B75DE877}"/>
              </a:ext>
            </a:extLst>
          </p:cNvPr>
          <p:cNvSpPr txBox="1">
            <a:spLocks noChangeArrowheads="1"/>
          </p:cNvSpPr>
          <p:nvPr/>
        </p:nvSpPr>
        <p:spPr bwMode="auto">
          <a:xfrm>
            <a:off x="5250542" y="5781958"/>
            <a:ext cx="593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a:t>
            </a:r>
          </a:p>
        </p:txBody>
      </p:sp>
      <p:sp>
        <p:nvSpPr>
          <p:cNvPr id="82983" name="TextBox 103">
            <a:extLst>
              <a:ext uri="{FF2B5EF4-FFF2-40B4-BE49-F238E27FC236}">
                <a16:creationId xmlns:a16="http://schemas.microsoft.com/office/drawing/2014/main" id="{87939264-0174-9C46-8FE1-B6841B6B9E2D}"/>
              </a:ext>
            </a:extLst>
          </p:cNvPr>
          <p:cNvSpPr txBox="1">
            <a:spLocks noChangeArrowheads="1"/>
          </p:cNvSpPr>
          <p:nvPr/>
        </p:nvSpPr>
        <p:spPr bwMode="auto">
          <a:xfrm>
            <a:off x="7049180" y="5781958"/>
            <a:ext cx="6715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Data</a:t>
            </a:r>
          </a:p>
        </p:txBody>
      </p:sp>
      <p:sp>
        <p:nvSpPr>
          <p:cNvPr id="2" name="TextBox 1">
            <a:extLst>
              <a:ext uri="{FF2B5EF4-FFF2-40B4-BE49-F238E27FC236}">
                <a16:creationId xmlns:a16="http://schemas.microsoft.com/office/drawing/2014/main" id="{A59A47AC-87A9-594F-A8D1-D5800D3E7993}"/>
              </a:ext>
            </a:extLst>
          </p:cNvPr>
          <p:cNvSpPr txBox="1"/>
          <p:nvPr/>
        </p:nvSpPr>
        <p:spPr>
          <a:xfrm>
            <a:off x="465753" y="953163"/>
            <a:ext cx="1220206" cy="307777"/>
          </a:xfrm>
          <a:prstGeom prst="rect">
            <a:avLst/>
          </a:prstGeom>
          <a:noFill/>
        </p:spPr>
        <p:txBody>
          <a:bodyPr wrap="none" rtlCol="0">
            <a:spAutoFit/>
          </a:bodyPr>
          <a:lstStyle/>
          <a:p>
            <a:r>
              <a:rPr lang="en-US" sz="1400" dirty="0"/>
              <a:t>Block: </a:t>
            </a:r>
            <a:r>
              <a:rPr lang="en-US" sz="1400" dirty="0">
                <a:solidFill>
                  <a:srgbClr val="FF0000"/>
                </a:solidFill>
              </a:rPr>
              <a:t>00</a:t>
            </a:r>
            <a:r>
              <a:rPr lang="en-US" sz="1400" b="1" dirty="0">
                <a:solidFill>
                  <a:schemeClr val="accent1">
                    <a:lumMod val="60000"/>
                    <a:lumOff val="40000"/>
                  </a:schemeClr>
                </a:solidFill>
              </a:rPr>
              <a:t>000</a:t>
            </a:r>
          </a:p>
        </p:txBody>
      </p:sp>
      <p:sp>
        <p:nvSpPr>
          <p:cNvPr id="104" name="TextBox 103">
            <a:extLst>
              <a:ext uri="{FF2B5EF4-FFF2-40B4-BE49-F238E27FC236}">
                <a16:creationId xmlns:a16="http://schemas.microsoft.com/office/drawing/2014/main" id="{93A07EF3-4793-2B4D-BB58-8ADD1938A2EE}"/>
              </a:ext>
            </a:extLst>
          </p:cNvPr>
          <p:cNvSpPr txBox="1"/>
          <p:nvPr/>
        </p:nvSpPr>
        <p:spPr>
          <a:xfrm>
            <a:off x="456194" y="1105563"/>
            <a:ext cx="1220206" cy="307777"/>
          </a:xfrm>
          <a:prstGeom prst="rect">
            <a:avLst/>
          </a:prstGeom>
          <a:noFill/>
        </p:spPr>
        <p:txBody>
          <a:bodyPr wrap="none" rtlCol="0">
            <a:spAutoFit/>
          </a:bodyPr>
          <a:lstStyle/>
          <a:p>
            <a:r>
              <a:rPr lang="en-US" sz="1400" dirty="0"/>
              <a:t>Block: 00001</a:t>
            </a:r>
          </a:p>
        </p:txBody>
      </p:sp>
      <p:sp>
        <p:nvSpPr>
          <p:cNvPr id="105" name="TextBox 104">
            <a:extLst>
              <a:ext uri="{FF2B5EF4-FFF2-40B4-BE49-F238E27FC236}">
                <a16:creationId xmlns:a16="http://schemas.microsoft.com/office/drawing/2014/main" id="{55C82DF6-B0C2-B243-AC53-E430E76EA042}"/>
              </a:ext>
            </a:extLst>
          </p:cNvPr>
          <p:cNvSpPr txBox="1"/>
          <p:nvPr/>
        </p:nvSpPr>
        <p:spPr>
          <a:xfrm>
            <a:off x="457200" y="1292423"/>
            <a:ext cx="1220206" cy="307777"/>
          </a:xfrm>
          <a:prstGeom prst="rect">
            <a:avLst/>
          </a:prstGeom>
          <a:noFill/>
        </p:spPr>
        <p:txBody>
          <a:bodyPr wrap="none" rtlCol="0">
            <a:spAutoFit/>
          </a:bodyPr>
          <a:lstStyle/>
          <a:p>
            <a:r>
              <a:rPr lang="en-US" sz="1400" dirty="0"/>
              <a:t>Block: 00010</a:t>
            </a:r>
          </a:p>
        </p:txBody>
      </p:sp>
      <p:sp>
        <p:nvSpPr>
          <p:cNvPr id="106" name="TextBox 105">
            <a:extLst>
              <a:ext uri="{FF2B5EF4-FFF2-40B4-BE49-F238E27FC236}">
                <a16:creationId xmlns:a16="http://schemas.microsoft.com/office/drawing/2014/main" id="{DE798633-5883-214B-BC1A-7993485CAD7B}"/>
              </a:ext>
            </a:extLst>
          </p:cNvPr>
          <p:cNvSpPr txBox="1"/>
          <p:nvPr/>
        </p:nvSpPr>
        <p:spPr>
          <a:xfrm>
            <a:off x="457200" y="1444823"/>
            <a:ext cx="1206869" cy="307777"/>
          </a:xfrm>
          <a:prstGeom prst="rect">
            <a:avLst/>
          </a:prstGeom>
          <a:noFill/>
        </p:spPr>
        <p:txBody>
          <a:bodyPr wrap="none" rtlCol="0">
            <a:spAutoFit/>
          </a:bodyPr>
          <a:lstStyle/>
          <a:p>
            <a:r>
              <a:rPr lang="en-US" sz="1400" dirty="0"/>
              <a:t>Block: 00011</a:t>
            </a:r>
          </a:p>
        </p:txBody>
      </p:sp>
      <p:sp>
        <p:nvSpPr>
          <p:cNvPr id="107" name="TextBox 106">
            <a:extLst>
              <a:ext uri="{FF2B5EF4-FFF2-40B4-BE49-F238E27FC236}">
                <a16:creationId xmlns:a16="http://schemas.microsoft.com/office/drawing/2014/main" id="{21B50193-EF49-FC4C-8AA2-267CF73F3D60}"/>
              </a:ext>
            </a:extLst>
          </p:cNvPr>
          <p:cNvSpPr txBox="1"/>
          <p:nvPr/>
        </p:nvSpPr>
        <p:spPr>
          <a:xfrm>
            <a:off x="456194" y="1600200"/>
            <a:ext cx="1220206" cy="307777"/>
          </a:xfrm>
          <a:prstGeom prst="rect">
            <a:avLst/>
          </a:prstGeom>
          <a:noFill/>
        </p:spPr>
        <p:txBody>
          <a:bodyPr wrap="none" rtlCol="0">
            <a:spAutoFit/>
          </a:bodyPr>
          <a:lstStyle/>
          <a:p>
            <a:r>
              <a:rPr lang="en-US" sz="1400" dirty="0"/>
              <a:t>Block: 00100</a:t>
            </a:r>
          </a:p>
        </p:txBody>
      </p:sp>
      <p:sp>
        <p:nvSpPr>
          <p:cNvPr id="108" name="TextBox 107">
            <a:extLst>
              <a:ext uri="{FF2B5EF4-FFF2-40B4-BE49-F238E27FC236}">
                <a16:creationId xmlns:a16="http://schemas.microsoft.com/office/drawing/2014/main" id="{2D4A92E3-2A6F-3A4C-8EBD-48022EBEA189}"/>
              </a:ext>
            </a:extLst>
          </p:cNvPr>
          <p:cNvSpPr txBox="1"/>
          <p:nvPr/>
        </p:nvSpPr>
        <p:spPr>
          <a:xfrm>
            <a:off x="457200" y="1752600"/>
            <a:ext cx="1220206" cy="307777"/>
          </a:xfrm>
          <a:prstGeom prst="rect">
            <a:avLst/>
          </a:prstGeom>
          <a:noFill/>
        </p:spPr>
        <p:txBody>
          <a:bodyPr wrap="none" rtlCol="0">
            <a:spAutoFit/>
          </a:bodyPr>
          <a:lstStyle/>
          <a:p>
            <a:r>
              <a:rPr lang="en-US" sz="1400" dirty="0"/>
              <a:t>Block: 00101</a:t>
            </a:r>
          </a:p>
        </p:txBody>
      </p:sp>
      <p:sp>
        <p:nvSpPr>
          <p:cNvPr id="109" name="TextBox 108">
            <a:extLst>
              <a:ext uri="{FF2B5EF4-FFF2-40B4-BE49-F238E27FC236}">
                <a16:creationId xmlns:a16="http://schemas.microsoft.com/office/drawing/2014/main" id="{43C8292A-BD44-3246-ACB3-A3FB38DB3C93}"/>
              </a:ext>
            </a:extLst>
          </p:cNvPr>
          <p:cNvSpPr txBox="1"/>
          <p:nvPr/>
        </p:nvSpPr>
        <p:spPr>
          <a:xfrm>
            <a:off x="457200" y="1978223"/>
            <a:ext cx="1206869" cy="307777"/>
          </a:xfrm>
          <a:prstGeom prst="rect">
            <a:avLst/>
          </a:prstGeom>
          <a:noFill/>
        </p:spPr>
        <p:txBody>
          <a:bodyPr wrap="none" rtlCol="0">
            <a:spAutoFit/>
          </a:bodyPr>
          <a:lstStyle/>
          <a:p>
            <a:r>
              <a:rPr lang="en-US" sz="1400" dirty="0"/>
              <a:t>Block: 00110</a:t>
            </a:r>
          </a:p>
        </p:txBody>
      </p:sp>
      <p:sp>
        <p:nvSpPr>
          <p:cNvPr id="110" name="TextBox 109">
            <a:extLst>
              <a:ext uri="{FF2B5EF4-FFF2-40B4-BE49-F238E27FC236}">
                <a16:creationId xmlns:a16="http://schemas.microsoft.com/office/drawing/2014/main" id="{89677197-7F1A-3A47-A292-73A5BF46559E}"/>
              </a:ext>
            </a:extLst>
          </p:cNvPr>
          <p:cNvSpPr txBox="1"/>
          <p:nvPr/>
        </p:nvSpPr>
        <p:spPr>
          <a:xfrm>
            <a:off x="457200" y="2133600"/>
            <a:ext cx="1193532" cy="307777"/>
          </a:xfrm>
          <a:prstGeom prst="rect">
            <a:avLst/>
          </a:prstGeom>
          <a:noFill/>
        </p:spPr>
        <p:txBody>
          <a:bodyPr wrap="none" rtlCol="0">
            <a:spAutoFit/>
          </a:bodyPr>
          <a:lstStyle/>
          <a:p>
            <a:r>
              <a:rPr lang="en-US" sz="1400" dirty="0"/>
              <a:t>Block: 00111</a:t>
            </a:r>
          </a:p>
        </p:txBody>
      </p:sp>
      <p:sp>
        <p:nvSpPr>
          <p:cNvPr id="111" name="TextBox 110">
            <a:extLst>
              <a:ext uri="{FF2B5EF4-FFF2-40B4-BE49-F238E27FC236}">
                <a16:creationId xmlns:a16="http://schemas.microsoft.com/office/drawing/2014/main" id="{3C4B074A-1811-194B-8E3A-91EAB5946436}"/>
              </a:ext>
            </a:extLst>
          </p:cNvPr>
          <p:cNvSpPr txBox="1"/>
          <p:nvPr/>
        </p:nvSpPr>
        <p:spPr>
          <a:xfrm>
            <a:off x="456194" y="2286000"/>
            <a:ext cx="1220206" cy="307777"/>
          </a:xfrm>
          <a:prstGeom prst="rect">
            <a:avLst/>
          </a:prstGeom>
          <a:noFill/>
        </p:spPr>
        <p:txBody>
          <a:bodyPr wrap="none" rtlCol="0">
            <a:spAutoFit/>
          </a:bodyPr>
          <a:lstStyle/>
          <a:p>
            <a:r>
              <a:rPr lang="en-US" sz="1400" dirty="0"/>
              <a:t>Block: </a:t>
            </a:r>
            <a:r>
              <a:rPr lang="en-US" sz="1400" dirty="0">
                <a:solidFill>
                  <a:srgbClr val="FF0000"/>
                </a:solidFill>
              </a:rPr>
              <a:t>01</a:t>
            </a:r>
            <a:r>
              <a:rPr lang="en-US" sz="1400" b="1" dirty="0">
                <a:solidFill>
                  <a:schemeClr val="accent1">
                    <a:lumMod val="60000"/>
                    <a:lumOff val="40000"/>
                  </a:schemeClr>
                </a:solidFill>
              </a:rPr>
              <a:t>000</a:t>
            </a:r>
          </a:p>
        </p:txBody>
      </p:sp>
      <p:sp>
        <p:nvSpPr>
          <p:cNvPr id="112" name="TextBox 111">
            <a:extLst>
              <a:ext uri="{FF2B5EF4-FFF2-40B4-BE49-F238E27FC236}">
                <a16:creationId xmlns:a16="http://schemas.microsoft.com/office/drawing/2014/main" id="{AC4D6C54-CCBF-7B4D-BB25-9CC26DF1E6A4}"/>
              </a:ext>
            </a:extLst>
          </p:cNvPr>
          <p:cNvSpPr txBox="1"/>
          <p:nvPr/>
        </p:nvSpPr>
        <p:spPr>
          <a:xfrm>
            <a:off x="446635" y="2438400"/>
            <a:ext cx="1220206" cy="307777"/>
          </a:xfrm>
          <a:prstGeom prst="rect">
            <a:avLst/>
          </a:prstGeom>
          <a:noFill/>
        </p:spPr>
        <p:txBody>
          <a:bodyPr wrap="none" rtlCol="0">
            <a:spAutoFit/>
          </a:bodyPr>
          <a:lstStyle/>
          <a:p>
            <a:r>
              <a:rPr lang="en-US" sz="1400" dirty="0"/>
              <a:t>Block: 01001</a:t>
            </a:r>
          </a:p>
        </p:txBody>
      </p:sp>
      <p:sp>
        <p:nvSpPr>
          <p:cNvPr id="113" name="TextBox 112">
            <a:extLst>
              <a:ext uri="{FF2B5EF4-FFF2-40B4-BE49-F238E27FC236}">
                <a16:creationId xmlns:a16="http://schemas.microsoft.com/office/drawing/2014/main" id="{BFD553AB-98E2-6B49-9983-FFB0EF1BB49F}"/>
              </a:ext>
            </a:extLst>
          </p:cNvPr>
          <p:cNvSpPr txBox="1"/>
          <p:nvPr/>
        </p:nvSpPr>
        <p:spPr>
          <a:xfrm>
            <a:off x="447641" y="2625260"/>
            <a:ext cx="1220206" cy="307777"/>
          </a:xfrm>
          <a:prstGeom prst="rect">
            <a:avLst/>
          </a:prstGeom>
          <a:noFill/>
        </p:spPr>
        <p:txBody>
          <a:bodyPr wrap="none" rtlCol="0">
            <a:spAutoFit/>
          </a:bodyPr>
          <a:lstStyle/>
          <a:p>
            <a:r>
              <a:rPr lang="en-US" sz="1400" dirty="0"/>
              <a:t>Block: 01010</a:t>
            </a:r>
          </a:p>
        </p:txBody>
      </p:sp>
      <p:sp>
        <p:nvSpPr>
          <p:cNvPr id="114" name="TextBox 113">
            <a:extLst>
              <a:ext uri="{FF2B5EF4-FFF2-40B4-BE49-F238E27FC236}">
                <a16:creationId xmlns:a16="http://schemas.microsoft.com/office/drawing/2014/main" id="{4AF7A6A8-AD0F-5F46-819F-B4EDFA7ED4D8}"/>
              </a:ext>
            </a:extLst>
          </p:cNvPr>
          <p:cNvSpPr txBox="1"/>
          <p:nvPr/>
        </p:nvSpPr>
        <p:spPr>
          <a:xfrm>
            <a:off x="447641" y="2777660"/>
            <a:ext cx="1206869" cy="307777"/>
          </a:xfrm>
          <a:prstGeom prst="rect">
            <a:avLst/>
          </a:prstGeom>
          <a:noFill/>
        </p:spPr>
        <p:txBody>
          <a:bodyPr wrap="none" rtlCol="0">
            <a:spAutoFit/>
          </a:bodyPr>
          <a:lstStyle/>
          <a:p>
            <a:r>
              <a:rPr lang="en-US" sz="1400" dirty="0"/>
              <a:t>Block: 01011</a:t>
            </a:r>
          </a:p>
        </p:txBody>
      </p:sp>
      <p:sp>
        <p:nvSpPr>
          <p:cNvPr id="115" name="TextBox 114">
            <a:extLst>
              <a:ext uri="{FF2B5EF4-FFF2-40B4-BE49-F238E27FC236}">
                <a16:creationId xmlns:a16="http://schemas.microsoft.com/office/drawing/2014/main" id="{1BB59534-F600-BF48-8A0E-5F486F260B52}"/>
              </a:ext>
            </a:extLst>
          </p:cNvPr>
          <p:cNvSpPr txBox="1"/>
          <p:nvPr/>
        </p:nvSpPr>
        <p:spPr>
          <a:xfrm>
            <a:off x="446635" y="2933037"/>
            <a:ext cx="1206869" cy="307777"/>
          </a:xfrm>
          <a:prstGeom prst="rect">
            <a:avLst/>
          </a:prstGeom>
          <a:noFill/>
        </p:spPr>
        <p:txBody>
          <a:bodyPr wrap="none" rtlCol="0">
            <a:spAutoFit/>
          </a:bodyPr>
          <a:lstStyle/>
          <a:p>
            <a:r>
              <a:rPr lang="en-US" sz="1400" dirty="0"/>
              <a:t>Block: 01100</a:t>
            </a:r>
          </a:p>
        </p:txBody>
      </p:sp>
      <p:sp>
        <p:nvSpPr>
          <p:cNvPr id="116" name="TextBox 115">
            <a:extLst>
              <a:ext uri="{FF2B5EF4-FFF2-40B4-BE49-F238E27FC236}">
                <a16:creationId xmlns:a16="http://schemas.microsoft.com/office/drawing/2014/main" id="{D76E6AC4-736B-C148-B253-901AD0E84074}"/>
              </a:ext>
            </a:extLst>
          </p:cNvPr>
          <p:cNvSpPr txBox="1"/>
          <p:nvPr/>
        </p:nvSpPr>
        <p:spPr>
          <a:xfrm>
            <a:off x="447641" y="3085437"/>
            <a:ext cx="1206869" cy="307777"/>
          </a:xfrm>
          <a:prstGeom prst="rect">
            <a:avLst/>
          </a:prstGeom>
          <a:noFill/>
        </p:spPr>
        <p:txBody>
          <a:bodyPr wrap="none" rtlCol="0">
            <a:spAutoFit/>
          </a:bodyPr>
          <a:lstStyle/>
          <a:p>
            <a:r>
              <a:rPr lang="en-US" sz="1400" dirty="0"/>
              <a:t>Block: 01101</a:t>
            </a:r>
          </a:p>
        </p:txBody>
      </p:sp>
      <p:sp>
        <p:nvSpPr>
          <p:cNvPr id="117" name="TextBox 116">
            <a:extLst>
              <a:ext uri="{FF2B5EF4-FFF2-40B4-BE49-F238E27FC236}">
                <a16:creationId xmlns:a16="http://schemas.microsoft.com/office/drawing/2014/main" id="{FBE51646-C9DD-E24A-9900-19E6D7DCE73E}"/>
              </a:ext>
            </a:extLst>
          </p:cNvPr>
          <p:cNvSpPr txBox="1"/>
          <p:nvPr/>
        </p:nvSpPr>
        <p:spPr>
          <a:xfrm>
            <a:off x="447641" y="3311060"/>
            <a:ext cx="1193532" cy="307777"/>
          </a:xfrm>
          <a:prstGeom prst="rect">
            <a:avLst/>
          </a:prstGeom>
          <a:noFill/>
        </p:spPr>
        <p:txBody>
          <a:bodyPr wrap="none" rtlCol="0">
            <a:spAutoFit/>
          </a:bodyPr>
          <a:lstStyle/>
          <a:p>
            <a:r>
              <a:rPr lang="en-US" sz="1400" dirty="0"/>
              <a:t>Block: 01110</a:t>
            </a:r>
          </a:p>
        </p:txBody>
      </p:sp>
      <p:sp>
        <p:nvSpPr>
          <p:cNvPr id="118" name="TextBox 117">
            <a:extLst>
              <a:ext uri="{FF2B5EF4-FFF2-40B4-BE49-F238E27FC236}">
                <a16:creationId xmlns:a16="http://schemas.microsoft.com/office/drawing/2014/main" id="{D3291F01-1F11-4B4F-A2E5-58B85E82F92B}"/>
              </a:ext>
            </a:extLst>
          </p:cNvPr>
          <p:cNvSpPr txBox="1"/>
          <p:nvPr/>
        </p:nvSpPr>
        <p:spPr>
          <a:xfrm>
            <a:off x="447641" y="3466437"/>
            <a:ext cx="1180195" cy="307777"/>
          </a:xfrm>
          <a:prstGeom prst="rect">
            <a:avLst/>
          </a:prstGeom>
          <a:noFill/>
        </p:spPr>
        <p:txBody>
          <a:bodyPr wrap="none" rtlCol="0">
            <a:spAutoFit/>
          </a:bodyPr>
          <a:lstStyle/>
          <a:p>
            <a:r>
              <a:rPr lang="en-US" sz="1400" dirty="0"/>
              <a:t>Block: 01111</a:t>
            </a:r>
          </a:p>
        </p:txBody>
      </p:sp>
      <p:sp>
        <p:nvSpPr>
          <p:cNvPr id="119" name="TextBox 118">
            <a:extLst>
              <a:ext uri="{FF2B5EF4-FFF2-40B4-BE49-F238E27FC236}">
                <a16:creationId xmlns:a16="http://schemas.microsoft.com/office/drawing/2014/main" id="{A9AFF4D6-4804-9A47-BA1A-8854FCFC188F}"/>
              </a:ext>
            </a:extLst>
          </p:cNvPr>
          <p:cNvSpPr txBox="1"/>
          <p:nvPr/>
        </p:nvSpPr>
        <p:spPr>
          <a:xfrm>
            <a:off x="456194" y="3617186"/>
            <a:ext cx="1220206" cy="307777"/>
          </a:xfrm>
          <a:prstGeom prst="rect">
            <a:avLst/>
          </a:prstGeom>
          <a:noFill/>
        </p:spPr>
        <p:txBody>
          <a:bodyPr wrap="none" rtlCol="0">
            <a:spAutoFit/>
          </a:bodyPr>
          <a:lstStyle/>
          <a:p>
            <a:r>
              <a:rPr lang="en-US" sz="1400" dirty="0"/>
              <a:t>Block: </a:t>
            </a:r>
            <a:r>
              <a:rPr lang="en-US" sz="1400" dirty="0">
                <a:solidFill>
                  <a:srgbClr val="FF0000"/>
                </a:solidFill>
              </a:rPr>
              <a:t>10</a:t>
            </a:r>
            <a:r>
              <a:rPr lang="en-US" sz="1400" b="1" dirty="0">
                <a:solidFill>
                  <a:schemeClr val="accent1">
                    <a:lumMod val="60000"/>
                    <a:lumOff val="40000"/>
                  </a:schemeClr>
                </a:solidFill>
              </a:rPr>
              <a:t>000</a:t>
            </a:r>
          </a:p>
        </p:txBody>
      </p:sp>
      <p:sp>
        <p:nvSpPr>
          <p:cNvPr id="120" name="TextBox 119">
            <a:extLst>
              <a:ext uri="{FF2B5EF4-FFF2-40B4-BE49-F238E27FC236}">
                <a16:creationId xmlns:a16="http://schemas.microsoft.com/office/drawing/2014/main" id="{0051DB5D-56C3-AA4A-A39C-070FCA39CEED}"/>
              </a:ext>
            </a:extLst>
          </p:cNvPr>
          <p:cNvSpPr txBox="1"/>
          <p:nvPr/>
        </p:nvSpPr>
        <p:spPr>
          <a:xfrm>
            <a:off x="446635" y="3769586"/>
            <a:ext cx="1220206" cy="307777"/>
          </a:xfrm>
          <a:prstGeom prst="rect">
            <a:avLst/>
          </a:prstGeom>
          <a:noFill/>
        </p:spPr>
        <p:txBody>
          <a:bodyPr wrap="none" rtlCol="0">
            <a:spAutoFit/>
          </a:bodyPr>
          <a:lstStyle/>
          <a:p>
            <a:r>
              <a:rPr lang="en-US" sz="1400" dirty="0"/>
              <a:t>Block: 10001</a:t>
            </a:r>
          </a:p>
        </p:txBody>
      </p:sp>
      <p:sp>
        <p:nvSpPr>
          <p:cNvPr id="121" name="TextBox 120">
            <a:extLst>
              <a:ext uri="{FF2B5EF4-FFF2-40B4-BE49-F238E27FC236}">
                <a16:creationId xmlns:a16="http://schemas.microsoft.com/office/drawing/2014/main" id="{B30BE0FD-46E5-EB48-A439-C5BCCCD62353}"/>
              </a:ext>
            </a:extLst>
          </p:cNvPr>
          <p:cNvSpPr txBox="1"/>
          <p:nvPr/>
        </p:nvSpPr>
        <p:spPr>
          <a:xfrm>
            <a:off x="447641" y="3956446"/>
            <a:ext cx="1220206" cy="307777"/>
          </a:xfrm>
          <a:prstGeom prst="rect">
            <a:avLst/>
          </a:prstGeom>
          <a:noFill/>
        </p:spPr>
        <p:txBody>
          <a:bodyPr wrap="none" rtlCol="0">
            <a:spAutoFit/>
          </a:bodyPr>
          <a:lstStyle/>
          <a:p>
            <a:r>
              <a:rPr lang="en-US" sz="1400" dirty="0"/>
              <a:t>Block: 10010</a:t>
            </a:r>
          </a:p>
        </p:txBody>
      </p:sp>
      <p:sp>
        <p:nvSpPr>
          <p:cNvPr id="122" name="TextBox 121">
            <a:extLst>
              <a:ext uri="{FF2B5EF4-FFF2-40B4-BE49-F238E27FC236}">
                <a16:creationId xmlns:a16="http://schemas.microsoft.com/office/drawing/2014/main" id="{5DAF5082-44DE-144A-AD74-3B42A613AE4B}"/>
              </a:ext>
            </a:extLst>
          </p:cNvPr>
          <p:cNvSpPr txBox="1"/>
          <p:nvPr/>
        </p:nvSpPr>
        <p:spPr>
          <a:xfrm>
            <a:off x="447641" y="4108846"/>
            <a:ext cx="1206869" cy="307777"/>
          </a:xfrm>
          <a:prstGeom prst="rect">
            <a:avLst/>
          </a:prstGeom>
          <a:noFill/>
        </p:spPr>
        <p:txBody>
          <a:bodyPr wrap="none" rtlCol="0">
            <a:spAutoFit/>
          </a:bodyPr>
          <a:lstStyle/>
          <a:p>
            <a:r>
              <a:rPr lang="en-US" sz="1400" dirty="0"/>
              <a:t>Block: 10011</a:t>
            </a:r>
          </a:p>
        </p:txBody>
      </p:sp>
      <p:sp>
        <p:nvSpPr>
          <p:cNvPr id="123" name="TextBox 122">
            <a:extLst>
              <a:ext uri="{FF2B5EF4-FFF2-40B4-BE49-F238E27FC236}">
                <a16:creationId xmlns:a16="http://schemas.microsoft.com/office/drawing/2014/main" id="{49C83696-4C39-E745-9A24-E5ED70261BC9}"/>
              </a:ext>
            </a:extLst>
          </p:cNvPr>
          <p:cNvSpPr txBox="1"/>
          <p:nvPr/>
        </p:nvSpPr>
        <p:spPr>
          <a:xfrm>
            <a:off x="446635" y="4264223"/>
            <a:ext cx="1220206" cy="307777"/>
          </a:xfrm>
          <a:prstGeom prst="rect">
            <a:avLst/>
          </a:prstGeom>
          <a:noFill/>
        </p:spPr>
        <p:txBody>
          <a:bodyPr wrap="none" rtlCol="0">
            <a:spAutoFit/>
          </a:bodyPr>
          <a:lstStyle/>
          <a:p>
            <a:r>
              <a:rPr lang="en-US" sz="1400" dirty="0"/>
              <a:t>Block: 10100</a:t>
            </a:r>
          </a:p>
        </p:txBody>
      </p:sp>
      <p:sp>
        <p:nvSpPr>
          <p:cNvPr id="124" name="TextBox 123">
            <a:extLst>
              <a:ext uri="{FF2B5EF4-FFF2-40B4-BE49-F238E27FC236}">
                <a16:creationId xmlns:a16="http://schemas.microsoft.com/office/drawing/2014/main" id="{F680AE27-9900-CC4A-BD4B-52237E237376}"/>
              </a:ext>
            </a:extLst>
          </p:cNvPr>
          <p:cNvSpPr txBox="1"/>
          <p:nvPr/>
        </p:nvSpPr>
        <p:spPr>
          <a:xfrm>
            <a:off x="447641" y="4416623"/>
            <a:ext cx="1220206" cy="307777"/>
          </a:xfrm>
          <a:prstGeom prst="rect">
            <a:avLst/>
          </a:prstGeom>
          <a:noFill/>
        </p:spPr>
        <p:txBody>
          <a:bodyPr wrap="none" rtlCol="0">
            <a:spAutoFit/>
          </a:bodyPr>
          <a:lstStyle/>
          <a:p>
            <a:r>
              <a:rPr lang="en-US" sz="1400" dirty="0"/>
              <a:t>Block: 10101</a:t>
            </a:r>
          </a:p>
        </p:txBody>
      </p:sp>
      <p:sp>
        <p:nvSpPr>
          <p:cNvPr id="125" name="TextBox 124">
            <a:extLst>
              <a:ext uri="{FF2B5EF4-FFF2-40B4-BE49-F238E27FC236}">
                <a16:creationId xmlns:a16="http://schemas.microsoft.com/office/drawing/2014/main" id="{5775F5A1-522E-8144-A741-3DBB2CF88747}"/>
              </a:ext>
            </a:extLst>
          </p:cNvPr>
          <p:cNvSpPr txBox="1"/>
          <p:nvPr/>
        </p:nvSpPr>
        <p:spPr>
          <a:xfrm>
            <a:off x="447641" y="4642246"/>
            <a:ext cx="1206869" cy="307777"/>
          </a:xfrm>
          <a:prstGeom prst="rect">
            <a:avLst/>
          </a:prstGeom>
          <a:noFill/>
        </p:spPr>
        <p:txBody>
          <a:bodyPr wrap="none" rtlCol="0">
            <a:spAutoFit/>
          </a:bodyPr>
          <a:lstStyle/>
          <a:p>
            <a:r>
              <a:rPr lang="en-US" sz="1400" dirty="0"/>
              <a:t>Block: 10110</a:t>
            </a:r>
          </a:p>
        </p:txBody>
      </p:sp>
      <p:sp>
        <p:nvSpPr>
          <p:cNvPr id="126" name="TextBox 125">
            <a:extLst>
              <a:ext uri="{FF2B5EF4-FFF2-40B4-BE49-F238E27FC236}">
                <a16:creationId xmlns:a16="http://schemas.microsoft.com/office/drawing/2014/main" id="{8F4A826D-91DE-5549-8747-B7090F30511E}"/>
              </a:ext>
            </a:extLst>
          </p:cNvPr>
          <p:cNvSpPr txBox="1"/>
          <p:nvPr/>
        </p:nvSpPr>
        <p:spPr>
          <a:xfrm>
            <a:off x="447641" y="4797623"/>
            <a:ext cx="1193532" cy="307777"/>
          </a:xfrm>
          <a:prstGeom prst="rect">
            <a:avLst/>
          </a:prstGeom>
          <a:noFill/>
        </p:spPr>
        <p:txBody>
          <a:bodyPr wrap="none" rtlCol="0">
            <a:spAutoFit/>
          </a:bodyPr>
          <a:lstStyle/>
          <a:p>
            <a:r>
              <a:rPr lang="en-US" sz="1400" dirty="0"/>
              <a:t>Block: 10111</a:t>
            </a:r>
          </a:p>
        </p:txBody>
      </p:sp>
      <p:sp>
        <p:nvSpPr>
          <p:cNvPr id="134" name="TextBox 133">
            <a:extLst>
              <a:ext uri="{FF2B5EF4-FFF2-40B4-BE49-F238E27FC236}">
                <a16:creationId xmlns:a16="http://schemas.microsoft.com/office/drawing/2014/main" id="{FFE62B6B-8F1C-3A49-8206-2279D4309DA3}"/>
              </a:ext>
            </a:extLst>
          </p:cNvPr>
          <p:cNvSpPr txBox="1"/>
          <p:nvPr/>
        </p:nvSpPr>
        <p:spPr>
          <a:xfrm>
            <a:off x="456194" y="4988786"/>
            <a:ext cx="1206869" cy="307777"/>
          </a:xfrm>
          <a:prstGeom prst="rect">
            <a:avLst/>
          </a:prstGeom>
          <a:noFill/>
        </p:spPr>
        <p:txBody>
          <a:bodyPr wrap="none" rtlCol="0">
            <a:spAutoFit/>
          </a:bodyPr>
          <a:lstStyle/>
          <a:p>
            <a:r>
              <a:rPr lang="en-US" sz="1400" dirty="0"/>
              <a:t>Block: </a:t>
            </a:r>
            <a:r>
              <a:rPr lang="en-US" sz="1400" dirty="0">
                <a:solidFill>
                  <a:srgbClr val="FF0000"/>
                </a:solidFill>
              </a:rPr>
              <a:t>11</a:t>
            </a:r>
            <a:r>
              <a:rPr lang="en-US" sz="1400" b="1" dirty="0">
                <a:solidFill>
                  <a:schemeClr val="accent1">
                    <a:lumMod val="60000"/>
                    <a:lumOff val="40000"/>
                  </a:schemeClr>
                </a:solidFill>
              </a:rPr>
              <a:t>000</a:t>
            </a:r>
          </a:p>
        </p:txBody>
      </p:sp>
      <p:sp>
        <p:nvSpPr>
          <p:cNvPr id="135" name="TextBox 134">
            <a:extLst>
              <a:ext uri="{FF2B5EF4-FFF2-40B4-BE49-F238E27FC236}">
                <a16:creationId xmlns:a16="http://schemas.microsoft.com/office/drawing/2014/main" id="{913DCF7A-4055-484A-9CA2-B32D57B29DEF}"/>
              </a:ext>
            </a:extLst>
          </p:cNvPr>
          <p:cNvSpPr txBox="1"/>
          <p:nvPr/>
        </p:nvSpPr>
        <p:spPr>
          <a:xfrm>
            <a:off x="446635" y="5141186"/>
            <a:ext cx="1206869" cy="307777"/>
          </a:xfrm>
          <a:prstGeom prst="rect">
            <a:avLst/>
          </a:prstGeom>
          <a:noFill/>
        </p:spPr>
        <p:txBody>
          <a:bodyPr wrap="none" rtlCol="0">
            <a:spAutoFit/>
          </a:bodyPr>
          <a:lstStyle/>
          <a:p>
            <a:r>
              <a:rPr lang="en-US" sz="1400" dirty="0"/>
              <a:t>Block: 11001</a:t>
            </a:r>
          </a:p>
        </p:txBody>
      </p:sp>
      <p:sp>
        <p:nvSpPr>
          <p:cNvPr id="136" name="TextBox 135">
            <a:extLst>
              <a:ext uri="{FF2B5EF4-FFF2-40B4-BE49-F238E27FC236}">
                <a16:creationId xmlns:a16="http://schemas.microsoft.com/office/drawing/2014/main" id="{A75ACCA5-B3D7-FD48-B1B0-B0CDCEFB0058}"/>
              </a:ext>
            </a:extLst>
          </p:cNvPr>
          <p:cNvSpPr txBox="1"/>
          <p:nvPr/>
        </p:nvSpPr>
        <p:spPr>
          <a:xfrm>
            <a:off x="447641" y="5328046"/>
            <a:ext cx="1206869" cy="307777"/>
          </a:xfrm>
          <a:prstGeom prst="rect">
            <a:avLst/>
          </a:prstGeom>
          <a:noFill/>
        </p:spPr>
        <p:txBody>
          <a:bodyPr wrap="none" rtlCol="0">
            <a:spAutoFit/>
          </a:bodyPr>
          <a:lstStyle/>
          <a:p>
            <a:r>
              <a:rPr lang="en-US" sz="1400" dirty="0"/>
              <a:t>Block: 11010</a:t>
            </a:r>
          </a:p>
        </p:txBody>
      </p:sp>
      <p:sp>
        <p:nvSpPr>
          <p:cNvPr id="137" name="TextBox 136">
            <a:extLst>
              <a:ext uri="{FF2B5EF4-FFF2-40B4-BE49-F238E27FC236}">
                <a16:creationId xmlns:a16="http://schemas.microsoft.com/office/drawing/2014/main" id="{297CA6AA-88BD-564B-9EEE-B82E89633F03}"/>
              </a:ext>
            </a:extLst>
          </p:cNvPr>
          <p:cNvSpPr txBox="1"/>
          <p:nvPr/>
        </p:nvSpPr>
        <p:spPr>
          <a:xfrm>
            <a:off x="447641" y="5480446"/>
            <a:ext cx="1193532" cy="307777"/>
          </a:xfrm>
          <a:prstGeom prst="rect">
            <a:avLst/>
          </a:prstGeom>
          <a:noFill/>
        </p:spPr>
        <p:txBody>
          <a:bodyPr wrap="none" rtlCol="0">
            <a:spAutoFit/>
          </a:bodyPr>
          <a:lstStyle/>
          <a:p>
            <a:r>
              <a:rPr lang="en-US" sz="1400" dirty="0"/>
              <a:t>Block: 11011</a:t>
            </a:r>
          </a:p>
        </p:txBody>
      </p:sp>
      <p:sp>
        <p:nvSpPr>
          <p:cNvPr id="138" name="TextBox 137">
            <a:extLst>
              <a:ext uri="{FF2B5EF4-FFF2-40B4-BE49-F238E27FC236}">
                <a16:creationId xmlns:a16="http://schemas.microsoft.com/office/drawing/2014/main" id="{020D6A1B-8EF1-D44A-8811-A1A3A4BB0DBF}"/>
              </a:ext>
            </a:extLst>
          </p:cNvPr>
          <p:cNvSpPr txBox="1"/>
          <p:nvPr/>
        </p:nvSpPr>
        <p:spPr>
          <a:xfrm>
            <a:off x="446635" y="5635823"/>
            <a:ext cx="1193532" cy="307777"/>
          </a:xfrm>
          <a:prstGeom prst="rect">
            <a:avLst/>
          </a:prstGeom>
          <a:noFill/>
        </p:spPr>
        <p:txBody>
          <a:bodyPr wrap="none" rtlCol="0">
            <a:spAutoFit/>
          </a:bodyPr>
          <a:lstStyle/>
          <a:p>
            <a:r>
              <a:rPr lang="en-US" sz="1400" dirty="0"/>
              <a:t>Block: 11100</a:t>
            </a:r>
          </a:p>
        </p:txBody>
      </p:sp>
      <p:sp>
        <p:nvSpPr>
          <p:cNvPr id="139" name="TextBox 138">
            <a:extLst>
              <a:ext uri="{FF2B5EF4-FFF2-40B4-BE49-F238E27FC236}">
                <a16:creationId xmlns:a16="http://schemas.microsoft.com/office/drawing/2014/main" id="{47C371D9-A79B-664F-9561-25590C9E500B}"/>
              </a:ext>
            </a:extLst>
          </p:cNvPr>
          <p:cNvSpPr txBox="1"/>
          <p:nvPr/>
        </p:nvSpPr>
        <p:spPr>
          <a:xfrm>
            <a:off x="447641" y="5791200"/>
            <a:ext cx="1193532" cy="307777"/>
          </a:xfrm>
          <a:prstGeom prst="rect">
            <a:avLst/>
          </a:prstGeom>
          <a:noFill/>
        </p:spPr>
        <p:txBody>
          <a:bodyPr wrap="none" rtlCol="0">
            <a:spAutoFit/>
          </a:bodyPr>
          <a:lstStyle/>
          <a:p>
            <a:r>
              <a:rPr lang="en-US" sz="1400" dirty="0"/>
              <a:t>Block: 11101</a:t>
            </a:r>
          </a:p>
        </p:txBody>
      </p:sp>
      <p:sp>
        <p:nvSpPr>
          <p:cNvPr id="140" name="TextBox 139">
            <a:extLst>
              <a:ext uri="{FF2B5EF4-FFF2-40B4-BE49-F238E27FC236}">
                <a16:creationId xmlns:a16="http://schemas.microsoft.com/office/drawing/2014/main" id="{8D8033AC-1641-D74B-8133-BFA62BD8100D}"/>
              </a:ext>
            </a:extLst>
          </p:cNvPr>
          <p:cNvSpPr txBox="1"/>
          <p:nvPr/>
        </p:nvSpPr>
        <p:spPr>
          <a:xfrm>
            <a:off x="447641" y="6013846"/>
            <a:ext cx="1180195" cy="307777"/>
          </a:xfrm>
          <a:prstGeom prst="rect">
            <a:avLst/>
          </a:prstGeom>
          <a:noFill/>
        </p:spPr>
        <p:txBody>
          <a:bodyPr wrap="none" rtlCol="0">
            <a:spAutoFit/>
          </a:bodyPr>
          <a:lstStyle/>
          <a:p>
            <a:r>
              <a:rPr lang="en-US" sz="1400" dirty="0"/>
              <a:t>Block: 11110</a:t>
            </a:r>
          </a:p>
        </p:txBody>
      </p:sp>
      <p:sp>
        <p:nvSpPr>
          <p:cNvPr id="141" name="TextBox 140">
            <a:extLst>
              <a:ext uri="{FF2B5EF4-FFF2-40B4-BE49-F238E27FC236}">
                <a16:creationId xmlns:a16="http://schemas.microsoft.com/office/drawing/2014/main" id="{0D2F7A5E-7663-1B43-99EA-494DD2F30778}"/>
              </a:ext>
            </a:extLst>
          </p:cNvPr>
          <p:cNvSpPr txBox="1"/>
          <p:nvPr/>
        </p:nvSpPr>
        <p:spPr>
          <a:xfrm>
            <a:off x="447641" y="6169223"/>
            <a:ext cx="1166858" cy="307777"/>
          </a:xfrm>
          <a:prstGeom prst="rect">
            <a:avLst/>
          </a:prstGeom>
          <a:noFill/>
        </p:spPr>
        <p:txBody>
          <a:bodyPr wrap="none" rtlCol="0">
            <a:spAutoFit/>
          </a:bodyPr>
          <a:lstStyle/>
          <a:p>
            <a:r>
              <a:rPr lang="en-US" sz="1400" dirty="0"/>
              <a:t>Block: 11111</a:t>
            </a:r>
          </a:p>
        </p:txBody>
      </p:sp>
      <p:sp>
        <p:nvSpPr>
          <p:cNvPr id="3" name="TextBox 2">
            <a:extLst>
              <a:ext uri="{FF2B5EF4-FFF2-40B4-BE49-F238E27FC236}">
                <a16:creationId xmlns:a16="http://schemas.microsoft.com/office/drawing/2014/main" id="{BBF531E0-BE20-1747-8619-6B37FF2A0368}"/>
              </a:ext>
            </a:extLst>
          </p:cNvPr>
          <p:cNvSpPr txBox="1"/>
          <p:nvPr/>
        </p:nvSpPr>
        <p:spPr>
          <a:xfrm>
            <a:off x="234270" y="6406118"/>
            <a:ext cx="1749197" cy="369332"/>
          </a:xfrm>
          <a:prstGeom prst="rect">
            <a:avLst/>
          </a:prstGeom>
          <a:noFill/>
        </p:spPr>
        <p:txBody>
          <a:bodyPr wrap="none" rtlCol="0">
            <a:spAutoFit/>
          </a:bodyPr>
          <a:lstStyle/>
          <a:p>
            <a:r>
              <a:rPr lang="en-US" b="1" dirty="0"/>
              <a:t>Main memory: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2946">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8295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295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294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8295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296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8296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296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8295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2954"/>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8295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8295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8295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82958"/>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82959"/>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296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8296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296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82963"/>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82964"/>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82965"/>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82972"/>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2971"/>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8297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82973"/>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8297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8297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2969"/>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8298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82982"/>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82976"/>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82977"/>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82978"/>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82979"/>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82981"/>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2983"/>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82946">
                                            <p:txEl>
                                              <p:pRg st="3" end="3"/>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82946">
                                            <p:txEl>
                                              <p:pRg st="4" end="4"/>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82950" grpId="0"/>
      <p:bldP spid="82952" grpId="0"/>
      <p:bldP spid="82953" grpId="0" animBg="1"/>
      <p:bldP spid="82954" grpId="0"/>
      <p:bldP spid="82957" grpId="0"/>
      <p:bldP spid="82958" grpId="0"/>
      <p:bldP spid="82959" grpId="0"/>
      <p:bldP spid="82960" grpId="0"/>
      <p:bldP spid="82961" grpId="0"/>
      <p:bldP spid="82962" grpId="0"/>
      <p:bldP spid="82967" grpId="0"/>
      <p:bldP spid="82968" grpId="0"/>
      <p:bldP spid="82969" grpId="0" animBg="1"/>
      <p:bldP spid="82970" grpId="0"/>
      <p:bldP spid="82977" grpId="0"/>
      <p:bldP spid="82979" grpId="0"/>
      <p:bldP spid="82982" grpId="0"/>
      <p:bldP spid="82983" grpId="0"/>
      <p:bldP spid="2" grpId="0"/>
      <p:bldP spid="104" grpId="0"/>
      <p:bldP spid="105" grpId="0"/>
      <p:bldP spid="106" grpId="0"/>
      <p:bldP spid="107" grpId="0"/>
      <p:bldP spid="108" grpId="0"/>
      <p:bldP spid="109" grpId="0"/>
      <p:bldP spid="110" grpId="0"/>
      <p:bldP spid="111"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34" grpId="0"/>
      <p:bldP spid="135" grpId="0"/>
      <p:bldP spid="136" grpId="0"/>
      <p:bldP spid="137" grpId="0"/>
      <p:bldP spid="138" grpId="0"/>
      <p:bldP spid="139" grpId="0"/>
      <p:bldP spid="140" grpId="0"/>
      <p:bldP spid="141" grpId="0"/>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Title 1">
            <a:extLst>
              <a:ext uri="{FF2B5EF4-FFF2-40B4-BE49-F238E27FC236}">
                <a16:creationId xmlns:a16="http://schemas.microsoft.com/office/drawing/2014/main" id="{A4F32091-C096-0A43-ABF1-9C88829D37B3}"/>
              </a:ext>
            </a:extLst>
          </p:cNvPr>
          <p:cNvSpPr>
            <a:spLocks noGrp="1" noChangeArrowheads="1"/>
          </p:cNvSpPr>
          <p:nvPr>
            <p:ph type="title"/>
          </p:nvPr>
        </p:nvSpPr>
        <p:spPr>
          <a:xfrm>
            <a:off x="152400" y="152400"/>
            <a:ext cx="8686800" cy="1066800"/>
          </a:xfrm>
        </p:spPr>
        <p:txBody>
          <a:bodyPr/>
          <a:lstStyle/>
          <a:p>
            <a:r>
              <a:rPr lang="en-US" altLang="en-US" sz="3600" dirty="0">
                <a:ea typeface="ＭＳ Ｐゴシック" panose="020B0600070205080204" pitchFamily="34" charset="-128"/>
              </a:rPr>
              <a:t>Advantage and Issue of Direct-Mapped Caches</a:t>
            </a:r>
          </a:p>
        </p:txBody>
      </p:sp>
      <p:sp>
        <p:nvSpPr>
          <p:cNvPr id="87042" name="Content Placeholder 2">
            <a:extLst>
              <a:ext uri="{FF2B5EF4-FFF2-40B4-BE49-F238E27FC236}">
                <a16:creationId xmlns:a16="http://schemas.microsoft.com/office/drawing/2014/main" id="{3CC4966B-A6EC-144F-9BD9-A2E0BBE007D5}"/>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Direct-mapped cache</a:t>
            </a:r>
            <a:r>
              <a:rPr lang="en-US" altLang="en-US" dirty="0">
                <a:ea typeface="ＭＳ Ｐゴシック" panose="020B0600070205080204" pitchFamily="34" charset="-128"/>
              </a:rPr>
              <a:t>:</a:t>
            </a:r>
          </a:p>
          <a:p>
            <a:pPr lvl="1"/>
            <a:r>
              <a:rPr lang="en-US" altLang="en-US" dirty="0">
                <a:ea typeface="ＭＳ Ｐゴシック" panose="020B0600070205080204" pitchFamily="34" charset="-128"/>
              </a:rPr>
              <a:t>Two blocks in memory that map to the same index in the cache cannot be present in the cache at the same time.</a:t>
            </a:r>
          </a:p>
          <a:p>
            <a:pPr lvl="2"/>
            <a:r>
              <a:rPr lang="en-US" altLang="en-US" dirty="0">
                <a:ea typeface="ＭＳ Ｐゴシック" panose="020B0600070205080204" pitchFamily="34" charset="-128"/>
              </a:rPr>
              <a:t>One index </a:t>
            </a:r>
            <a:r>
              <a:rPr lang="en-US" altLang="en-US" dirty="0">
                <a:ea typeface="ＭＳ Ｐゴシック" panose="020B0600070205080204" pitchFamily="34" charset="-128"/>
                <a:sym typeface="Wingdings" pitchFamily="2" charset="2"/>
              </a:rPr>
              <a:t> one entry</a:t>
            </a:r>
          </a:p>
          <a:p>
            <a:r>
              <a:rPr lang="en-US" altLang="en-US" dirty="0">
                <a:solidFill>
                  <a:srgbClr val="0432FF"/>
                </a:solidFill>
                <a:ea typeface="ＭＳ Ｐゴシック" panose="020B0600070205080204" pitchFamily="34" charset="-128"/>
              </a:rPr>
              <a:t>Main advantage </a:t>
            </a:r>
            <a:r>
              <a:rPr lang="en-US" altLang="en-US" dirty="0">
                <a:ea typeface="ＭＳ Ｐゴシック" panose="020B0600070205080204" pitchFamily="34" charset="-128"/>
              </a:rPr>
              <a:t>of direct-mapped cache:</a:t>
            </a:r>
          </a:p>
          <a:p>
            <a:pPr lvl="1"/>
            <a:r>
              <a:rPr lang="en-US" altLang="en-US" dirty="0">
                <a:ea typeface="ＭＳ Ｐゴシック" panose="020B0600070205080204" pitchFamily="34" charset="-128"/>
              </a:rPr>
              <a:t>Easy to implement</a:t>
            </a:r>
          </a:p>
          <a:p>
            <a:r>
              <a:rPr lang="en-US" altLang="en-US" dirty="0">
                <a:solidFill>
                  <a:srgbClr val="FF0000"/>
                </a:solidFill>
                <a:ea typeface="ＭＳ Ｐゴシック" panose="020B0600070205080204" pitchFamily="34" charset="-128"/>
              </a:rPr>
              <a:t>Main issue </a:t>
            </a:r>
            <a:r>
              <a:rPr lang="en-US" altLang="en-US" dirty="0">
                <a:ea typeface="ＭＳ Ｐゴシック" panose="020B0600070205080204" pitchFamily="34" charset="-128"/>
              </a:rPr>
              <a:t>of direct-mapped cache:</a:t>
            </a:r>
            <a:r>
              <a:rPr lang="en-US" altLang="en-US" dirty="0">
                <a:solidFill>
                  <a:srgbClr val="0000FF"/>
                </a:solidFill>
                <a:ea typeface="ＭＳ Ｐゴシック" panose="020B0600070205080204" pitchFamily="34" charset="-128"/>
              </a:rPr>
              <a:t> </a:t>
            </a:r>
            <a:endParaRPr lang="en-US" altLang="en-US" dirty="0">
              <a:ea typeface="ＭＳ Ｐゴシック" panose="020B0600070205080204" pitchFamily="34" charset="-128"/>
              <a:sym typeface="Wingdings" pitchFamily="2" charset="2"/>
            </a:endParaRPr>
          </a:p>
          <a:p>
            <a:pPr lvl="1"/>
            <a:r>
              <a:rPr lang="en-US" altLang="en-US" dirty="0">
                <a:ea typeface="ＭＳ Ｐゴシック" panose="020B0600070205080204" pitchFamily="34" charset="-128"/>
                <a:sym typeface="Wingdings" pitchFamily="2" charset="2"/>
              </a:rPr>
              <a:t>Can lead to 0% hit rate if more than one block accessed in an interleaved manner map to the same index </a:t>
            </a:r>
          </a:p>
          <a:p>
            <a:pPr lvl="2"/>
            <a:r>
              <a:rPr lang="en-US" altLang="en-US" dirty="0">
                <a:ea typeface="ＭＳ Ｐゴシック" panose="020B0600070205080204" pitchFamily="34" charset="-128"/>
                <a:sym typeface="Wingdings" pitchFamily="2" charset="2"/>
              </a:rPr>
              <a:t>Assume addresses A and B have the same index bits but different tag bits</a:t>
            </a:r>
          </a:p>
          <a:p>
            <a:pPr lvl="2"/>
            <a:r>
              <a:rPr lang="en-US" altLang="en-US" dirty="0">
                <a:ea typeface="ＭＳ Ｐゴシック" panose="020B0600070205080204" pitchFamily="34" charset="-128"/>
                <a:sym typeface="Wingdings" pitchFamily="2" charset="2"/>
              </a:rPr>
              <a:t>A, B, A, B, A, B, A, B, …  conflict in the cache index</a:t>
            </a:r>
          </a:p>
          <a:p>
            <a:pPr lvl="2"/>
            <a:r>
              <a:rPr lang="en-US" altLang="en-US" dirty="0">
                <a:ea typeface="ＭＳ Ｐゴシック" panose="020B0600070205080204" pitchFamily="34" charset="-128"/>
                <a:sym typeface="Wingdings" pitchFamily="2" charset="2"/>
              </a:rPr>
              <a:t>All accesses are </a:t>
            </a:r>
            <a:r>
              <a:rPr lang="en-US" altLang="en-US" dirty="0">
                <a:solidFill>
                  <a:srgbClr val="FF0000"/>
                </a:solidFill>
                <a:ea typeface="ＭＳ Ｐゴシック" panose="020B0600070205080204" pitchFamily="34" charset="-128"/>
                <a:sym typeface="Wingdings" pitchFamily="2" charset="2"/>
              </a:rPr>
              <a:t>conflict misses</a:t>
            </a:r>
          </a:p>
          <a:p>
            <a:pPr lvl="1"/>
            <a:endParaRPr lang="en-US" altLang="en-US" dirty="0">
              <a:ea typeface="ＭＳ Ｐゴシック" panose="020B0600070205080204" pitchFamily="34" charset="-128"/>
              <a:sym typeface="Wingdings" pitchFamily="2" charset="2"/>
            </a:endParaRPr>
          </a:p>
          <a:p>
            <a:endParaRPr lang="en-US" altLang="en-US" dirty="0">
              <a:ea typeface="ＭＳ Ｐゴシック" panose="020B0600070205080204" pitchFamily="34" charset="-128"/>
            </a:endParaRPr>
          </a:p>
        </p:txBody>
      </p:sp>
      <p:sp>
        <p:nvSpPr>
          <p:cNvPr id="125955" name="Slide Number Placeholder 3">
            <a:extLst>
              <a:ext uri="{FF2B5EF4-FFF2-40B4-BE49-F238E27FC236}">
                <a16:creationId xmlns:a16="http://schemas.microsoft.com/office/drawing/2014/main" id="{E0F2CDF0-A0B2-F149-9652-4D825781E14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099E6BB8-601B-994F-8688-05237DAAE4CF}" type="slidenum">
              <a:rPr lang="en-US" altLang="en-US" sz="1600" smtClean="0">
                <a:solidFill>
                  <a:srgbClr val="000000"/>
                </a:solidFill>
                <a:latin typeface="Garamond" panose="02020404030301010803" pitchFamily="18" charset="0"/>
              </a:rPr>
              <a:pPr eaLnBrk="1" hangingPunct="1">
                <a:spcBef>
                  <a:spcPct val="0"/>
                </a:spcBef>
                <a:buClrTx/>
                <a:buSzTx/>
                <a:buFontTx/>
                <a:buNone/>
              </a:pPr>
              <a:t>59</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4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042">
                                            <p:txEl>
                                              <p:pRg st="5" end="5"/>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704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704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70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2313-9A23-9945-8E35-F641A91B84E6}"/>
              </a:ext>
            </a:extLst>
          </p:cNvPr>
          <p:cNvSpPr>
            <a:spLocks noGrp="1"/>
          </p:cNvSpPr>
          <p:nvPr>
            <p:ph type="title"/>
          </p:nvPr>
        </p:nvSpPr>
        <p:spPr/>
        <p:txBody>
          <a:bodyPr/>
          <a:lstStyle/>
          <a:p>
            <a:r>
              <a:rPr lang="en-US" dirty="0"/>
              <a:t>Three Cache Organization Methods</a:t>
            </a:r>
          </a:p>
        </p:txBody>
      </p:sp>
      <p:sp>
        <p:nvSpPr>
          <p:cNvPr id="3" name="Content Placeholder 2">
            <a:extLst>
              <a:ext uri="{FF2B5EF4-FFF2-40B4-BE49-F238E27FC236}">
                <a16:creationId xmlns:a16="http://schemas.microsoft.com/office/drawing/2014/main" id="{D5175C55-BCF6-C648-A20B-5EB014DD65D0}"/>
              </a:ext>
            </a:extLst>
          </p:cNvPr>
          <p:cNvSpPr>
            <a:spLocks noGrp="1"/>
          </p:cNvSpPr>
          <p:nvPr>
            <p:ph idx="1"/>
          </p:nvPr>
        </p:nvSpPr>
        <p:spPr>
          <a:xfrm>
            <a:off x="0" y="997529"/>
            <a:ext cx="9296400" cy="5193723"/>
          </a:xfrm>
        </p:spPr>
        <p:txBody>
          <a:bodyPr/>
          <a:lstStyle/>
          <a:p>
            <a:r>
              <a:rPr lang="en-US" dirty="0">
                <a:solidFill>
                  <a:srgbClr val="0432FF"/>
                </a:solidFill>
              </a:rPr>
              <a:t>Direct-mapped</a:t>
            </a:r>
            <a:r>
              <a:rPr lang="en-US" dirty="0"/>
              <a:t>: </a:t>
            </a:r>
          </a:p>
          <a:p>
            <a:pPr lvl="1"/>
            <a:r>
              <a:rPr lang="en-US" altLang="zh-CN" dirty="0"/>
              <a:t>A chunk can go to </a:t>
            </a:r>
            <a:r>
              <a:rPr lang="en-US" altLang="zh-CN" b="1" dirty="0"/>
              <a:t>only one </a:t>
            </a:r>
            <a:r>
              <a:rPr lang="en-US" altLang="zh-CN" dirty="0"/>
              <a:t>cache block in the cache. (</a:t>
            </a:r>
            <a:r>
              <a:rPr lang="en-US" altLang="zh-CN" dirty="0">
                <a:solidFill>
                  <a:srgbClr val="C00000"/>
                </a:solidFill>
              </a:rPr>
              <a:t>Another extreme</a:t>
            </a:r>
            <a:r>
              <a:rPr lang="en-US" altLang="zh-CN" dirty="0"/>
              <a:t>)</a:t>
            </a:r>
            <a:endParaRPr lang="en-US" dirty="0"/>
          </a:p>
          <a:p>
            <a:r>
              <a:rPr lang="en-US" altLang="zh-CN" dirty="0">
                <a:solidFill>
                  <a:srgbClr val="0432FF"/>
                </a:solidFill>
              </a:rPr>
              <a:t>Fully-associative</a:t>
            </a:r>
            <a:r>
              <a:rPr lang="en-US" altLang="zh-CN" dirty="0"/>
              <a:t>:</a:t>
            </a:r>
          </a:p>
          <a:p>
            <a:pPr lvl="1"/>
            <a:r>
              <a:rPr lang="en-US" altLang="zh-CN" dirty="0"/>
              <a:t>A chunk can go to </a:t>
            </a:r>
            <a:r>
              <a:rPr lang="en-US" altLang="zh-CN" b="1" dirty="0"/>
              <a:t>any</a:t>
            </a:r>
            <a:r>
              <a:rPr lang="en-US" altLang="zh-CN" dirty="0"/>
              <a:t> cache block in the cache. (</a:t>
            </a:r>
            <a:r>
              <a:rPr lang="en-US" altLang="zh-CN" dirty="0">
                <a:solidFill>
                  <a:srgbClr val="C00000"/>
                </a:solidFill>
              </a:rPr>
              <a:t>One extreme</a:t>
            </a:r>
            <a:r>
              <a:rPr lang="en-US" altLang="zh-CN" dirty="0"/>
              <a:t>)</a:t>
            </a:r>
          </a:p>
          <a:p>
            <a:r>
              <a:rPr lang="en-US" altLang="zh-CN" dirty="0">
                <a:solidFill>
                  <a:srgbClr val="0432FF"/>
                </a:solidFill>
              </a:rPr>
              <a:t>Set-associative</a:t>
            </a:r>
            <a:r>
              <a:rPr lang="en-US" altLang="zh-CN" dirty="0"/>
              <a:t>: </a:t>
            </a:r>
          </a:p>
          <a:p>
            <a:pPr lvl="1"/>
            <a:r>
              <a:rPr lang="en-US" altLang="zh-CN" dirty="0"/>
              <a:t>A chunk can go to </a:t>
            </a:r>
            <a:r>
              <a:rPr lang="en-US" altLang="zh-CN" b="1" dirty="0"/>
              <a:t>N </a:t>
            </a:r>
            <a:r>
              <a:rPr lang="en-US" altLang="zh-CN" dirty="0"/>
              <a:t>cache blocks in the </a:t>
            </a:r>
            <a:r>
              <a:rPr lang="en-US" altLang="zh-CN" b="1" dirty="0"/>
              <a:t>N</a:t>
            </a:r>
            <a:r>
              <a:rPr lang="en-US" altLang="zh-CN" dirty="0"/>
              <a:t>-way set-associative cache. (</a:t>
            </a:r>
            <a:r>
              <a:rPr lang="en-US" altLang="zh-CN" dirty="0">
                <a:solidFill>
                  <a:srgbClr val="00B0F0"/>
                </a:solidFill>
              </a:rPr>
              <a:t>Best choice</a:t>
            </a:r>
            <a:r>
              <a:rPr lang="en-US" altLang="zh-CN" dirty="0"/>
              <a:t>)</a:t>
            </a:r>
          </a:p>
          <a:p>
            <a:endParaRPr lang="en-US" dirty="0">
              <a:solidFill>
                <a:srgbClr val="0432FF"/>
              </a:solidFill>
            </a:endParaRPr>
          </a:p>
        </p:txBody>
      </p:sp>
      <p:sp>
        <p:nvSpPr>
          <p:cNvPr id="4" name="Slide Number Placeholder 3">
            <a:extLst>
              <a:ext uri="{FF2B5EF4-FFF2-40B4-BE49-F238E27FC236}">
                <a16:creationId xmlns:a16="http://schemas.microsoft.com/office/drawing/2014/main" id="{D55E1C36-3100-E149-BFAA-F75448466FB3}"/>
              </a:ext>
            </a:extLst>
          </p:cNvPr>
          <p:cNvSpPr>
            <a:spLocks noGrp="1"/>
          </p:cNvSpPr>
          <p:nvPr>
            <p:ph type="sldNum" sz="quarter" idx="11"/>
          </p:nvPr>
        </p:nvSpPr>
        <p:spPr/>
        <p:txBody>
          <a:bodyPr/>
          <a:lstStyle/>
          <a:p>
            <a:pPr>
              <a:defRPr/>
            </a:pPr>
            <a:fld id="{9CD3246B-4504-6A44-A3C6-3AD1B220008A}" type="slidenum">
              <a:rPr lang="en-US" altLang="en-US" smtClean="0"/>
              <a:pPr>
                <a:defRPr/>
              </a:pPr>
              <a:t>60</a:t>
            </a:fld>
            <a:endParaRPr lang="en-US" altLang="en-US"/>
          </a:p>
        </p:txBody>
      </p:sp>
      <p:pic>
        <p:nvPicPr>
          <p:cNvPr id="6" name="Picture 5">
            <a:extLst>
              <a:ext uri="{FF2B5EF4-FFF2-40B4-BE49-F238E27FC236}">
                <a16:creationId xmlns:a16="http://schemas.microsoft.com/office/drawing/2014/main" id="{BF1A0D9D-8097-0049-A350-9522347EC714}"/>
              </a:ext>
            </a:extLst>
          </p:cNvPr>
          <p:cNvPicPr>
            <a:picLocks noChangeAspect="1"/>
          </p:cNvPicPr>
          <p:nvPr/>
        </p:nvPicPr>
        <p:blipFill>
          <a:blip r:embed="rId2"/>
          <a:stretch>
            <a:fillRect/>
          </a:stretch>
        </p:blipFill>
        <p:spPr>
          <a:xfrm>
            <a:off x="224158" y="4215142"/>
            <a:ext cx="8724900" cy="2273526"/>
          </a:xfrm>
          <a:prstGeom prst="rect">
            <a:avLst/>
          </a:prstGeom>
        </p:spPr>
      </p:pic>
      <p:sp>
        <p:nvSpPr>
          <p:cNvPr id="7" name="Rectangle 6">
            <a:extLst>
              <a:ext uri="{FF2B5EF4-FFF2-40B4-BE49-F238E27FC236}">
                <a16:creationId xmlns:a16="http://schemas.microsoft.com/office/drawing/2014/main" id="{199F2B89-5F38-EB42-ABCC-69C84AA69BFA}"/>
              </a:ext>
            </a:extLst>
          </p:cNvPr>
          <p:cNvSpPr/>
          <p:nvPr/>
        </p:nvSpPr>
        <p:spPr>
          <a:xfrm>
            <a:off x="609600" y="6488668"/>
            <a:ext cx="7391400" cy="369332"/>
          </a:xfrm>
          <a:prstGeom prst="rect">
            <a:avLst/>
          </a:prstGeom>
        </p:spPr>
        <p:txBody>
          <a:bodyPr wrap="square">
            <a:spAutoFit/>
          </a:bodyPr>
          <a:lstStyle/>
          <a:p>
            <a:pPr lvl="1" algn="ctr"/>
            <a:r>
              <a:rPr lang="en-US" altLang="en-US" dirty="0"/>
              <a:t>Kim &amp; Mutlu, “Memory Systems,” Computing Handbook, 2014</a:t>
            </a:r>
          </a:p>
        </p:txBody>
      </p:sp>
      <p:sp>
        <p:nvSpPr>
          <p:cNvPr id="8" name="Rectangle 5">
            <a:extLst>
              <a:ext uri="{FF2B5EF4-FFF2-40B4-BE49-F238E27FC236}">
                <a16:creationId xmlns:a16="http://schemas.microsoft.com/office/drawing/2014/main" id="{CC72AC6D-9452-472A-ACA5-04CBC08A6916}"/>
              </a:ext>
            </a:extLst>
          </p:cNvPr>
          <p:cNvSpPr/>
          <p:nvPr/>
        </p:nvSpPr>
        <p:spPr>
          <a:xfrm>
            <a:off x="357508" y="2209800"/>
            <a:ext cx="8458200" cy="850044"/>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18283647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a:extLst>
              <a:ext uri="{FF2B5EF4-FFF2-40B4-BE49-F238E27FC236}">
                <a16:creationId xmlns:a16="http://schemas.microsoft.com/office/drawing/2014/main" id="{80A2E9F1-A012-B54B-A6DC-200491EA3D4A}"/>
              </a:ext>
            </a:extLst>
          </p:cNvPr>
          <p:cNvSpPr>
            <a:spLocks noGrp="1" noChangeArrowheads="1"/>
          </p:cNvSpPr>
          <p:nvPr>
            <p:ph type="title"/>
          </p:nvPr>
        </p:nvSpPr>
        <p:spPr/>
        <p:txBody>
          <a:bodyPr/>
          <a:lstStyle/>
          <a:p>
            <a:r>
              <a:rPr lang="en-US" altLang="en-US">
                <a:ea typeface="ＭＳ Ｐゴシック" panose="020B0600070205080204" pitchFamily="34" charset="-128"/>
              </a:rPr>
              <a:t>Full Associativity</a:t>
            </a:r>
          </a:p>
        </p:txBody>
      </p:sp>
      <p:sp>
        <p:nvSpPr>
          <p:cNvPr id="129026" name="Content Placeholder 2">
            <a:extLst>
              <a:ext uri="{FF2B5EF4-FFF2-40B4-BE49-F238E27FC236}">
                <a16:creationId xmlns:a16="http://schemas.microsoft.com/office/drawing/2014/main" id="{11302695-04C6-4540-9B06-43AF72363A6B}"/>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Fully-associative cache</a:t>
            </a:r>
          </a:p>
          <a:p>
            <a:pPr lvl="1"/>
            <a:r>
              <a:rPr lang="en-US" altLang="en-US" dirty="0">
                <a:ea typeface="ＭＳ Ｐゴシック" panose="020B0600070205080204" pitchFamily="34" charset="-128"/>
              </a:rPr>
              <a:t>A block can be placed in </a:t>
            </a:r>
            <a:r>
              <a:rPr lang="en-US" altLang="en-US" dirty="0">
                <a:solidFill>
                  <a:srgbClr val="0000FF"/>
                </a:solidFill>
                <a:ea typeface="ＭＳ Ｐゴシック" panose="020B0600070205080204" pitchFamily="34" charset="-128"/>
              </a:rPr>
              <a:t>any</a:t>
            </a:r>
            <a:r>
              <a:rPr lang="en-US" altLang="en-US" dirty="0">
                <a:ea typeface="ＭＳ Ｐゴシック" panose="020B0600070205080204" pitchFamily="34" charset="-128"/>
              </a:rPr>
              <a:t> cache location</a:t>
            </a:r>
          </a:p>
          <a:p>
            <a:endParaRPr lang="en-US" altLang="en-US" dirty="0">
              <a:ea typeface="ＭＳ Ｐゴシック" panose="020B0600070205080204" pitchFamily="34" charset="-128"/>
            </a:endParaRPr>
          </a:p>
        </p:txBody>
      </p:sp>
      <p:sp>
        <p:nvSpPr>
          <p:cNvPr id="129027" name="Slide Number Placeholder 3">
            <a:extLst>
              <a:ext uri="{FF2B5EF4-FFF2-40B4-BE49-F238E27FC236}">
                <a16:creationId xmlns:a16="http://schemas.microsoft.com/office/drawing/2014/main" id="{2E99FBEF-8A35-B843-B8DF-6C6FA0A5ACD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2AFDC5B2-6572-D746-8E15-37815ECDBE96}" type="slidenum">
              <a:rPr lang="en-US" altLang="en-US" sz="1600" smtClean="0">
                <a:solidFill>
                  <a:srgbClr val="000000"/>
                </a:solidFill>
                <a:latin typeface="Garamond" panose="02020404030301010803" pitchFamily="18" charset="0"/>
              </a:rPr>
              <a:pPr eaLnBrk="1" hangingPunct="1">
                <a:spcBef>
                  <a:spcPct val="0"/>
                </a:spcBef>
                <a:buClrTx/>
                <a:buSzTx/>
                <a:buFontTx/>
                <a:buNone/>
              </a:pPr>
              <a:t>61</a:t>
            </a:fld>
            <a:endParaRPr lang="en-US" altLang="en-US" sz="1600">
              <a:solidFill>
                <a:srgbClr val="000000"/>
              </a:solidFill>
              <a:latin typeface="Garamond" panose="02020404030301010803" pitchFamily="18" charset="0"/>
            </a:endParaRPr>
          </a:p>
        </p:txBody>
      </p:sp>
      <p:sp>
        <p:nvSpPr>
          <p:cNvPr id="87044" name="Rectangle 4">
            <a:extLst>
              <a:ext uri="{FF2B5EF4-FFF2-40B4-BE49-F238E27FC236}">
                <a16:creationId xmlns:a16="http://schemas.microsoft.com/office/drawing/2014/main" id="{A590390C-A867-3E44-9415-EA1C2561A26C}"/>
              </a:ext>
            </a:extLst>
          </p:cNvPr>
          <p:cNvSpPr>
            <a:spLocks noChangeArrowheads="1"/>
          </p:cNvSpPr>
          <p:nvPr/>
        </p:nvSpPr>
        <p:spPr bwMode="auto">
          <a:xfrm>
            <a:off x="1495425" y="2755344"/>
            <a:ext cx="863600"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45" name="Rectangle 5">
            <a:extLst>
              <a:ext uri="{FF2B5EF4-FFF2-40B4-BE49-F238E27FC236}">
                <a16:creationId xmlns:a16="http://schemas.microsoft.com/office/drawing/2014/main" id="{B02D54EB-D550-124F-B6C1-2830B5FA6443}"/>
              </a:ext>
            </a:extLst>
          </p:cNvPr>
          <p:cNvSpPr>
            <a:spLocks noChangeArrowheads="1"/>
          </p:cNvSpPr>
          <p:nvPr/>
        </p:nvSpPr>
        <p:spPr bwMode="auto">
          <a:xfrm>
            <a:off x="2413000" y="2755344"/>
            <a:ext cx="863600"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46" name="Rectangle 6">
            <a:extLst>
              <a:ext uri="{FF2B5EF4-FFF2-40B4-BE49-F238E27FC236}">
                <a16:creationId xmlns:a16="http://schemas.microsoft.com/office/drawing/2014/main" id="{D95740EC-E777-3346-8061-5DBAD509361C}"/>
              </a:ext>
            </a:extLst>
          </p:cNvPr>
          <p:cNvSpPr>
            <a:spLocks noChangeArrowheads="1"/>
          </p:cNvSpPr>
          <p:nvPr/>
        </p:nvSpPr>
        <p:spPr bwMode="auto">
          <a:xfrm>
            <a:off x="3324225" y="2755344"/>
            <a:ext cx="863600"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47" name="Rectangle 7">
            <a:extLst>
              <a:ext uri="{FF2B5EF4-FFF2-40B4-BE49-F238E27FC236}">
                <a16:creationId xmlns:a16="http://schemas.microsoft.com/office/drawing/2014/main" id="{B54F0687-C967-084E-BC0A-6BE9BC676DD7}"/>
              </a:ext>
            </a:extLst>
          </p:cNvPr>
          <p:cNvSpPr>
            <a:spLocks noChangeArrowheads="1"/>
          </p:cNvSpPr>
          <p:nvPr/>
        </p:nvSpPr>
        <p:spPr bwMode="auto">
          <a:xfrm>
            <a:off x="4233862" y="2755344"/>
            <a:ext cx="863600"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48" name="Rectangle 8">
            <a:extLst>
              <a:ext uri="{FF2B5EF4-FFF2-40B4-BE49-F238E27FC236}">
                <a16:creationId xmlns:a16="http://schemas.microsoft.com/office/drawing/2014/main" id="{CB8415E8-24F4-094F-BB12-A1BEF2FF64EF}"/>
              </a:ext>
            </a:extLst>
          </p:cNvPr>
          <p:cNvSpPr>
            <a:spLocks noChangeArrowheads="1"/>
          </p:cNvSpPr>
          <p:nvPr/>
        </p:nvSpPr>
        <p:spPr bwMode="auto">
          <a:xfrm>
            <a:off x="5148262" y="2760107"/>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49" name="Rectangle 9">
            <a:extLst>
              <a:ext uri="{FF2B5EF4-FFF2-40B4-BE49-F238E27FC236}">
                <a16:creationId xmlns:a16="http://schemas.microsoft.com/office/drawing/2014/main" id="{EEE59F2C-3097-B94D-8FFD-316B623E7368}"/>
              </a:ext>
            </a:extLst>
          </p:cNvPr>
          <p:cNvSpPr>
            <a:spLocks noChangeArrowheads="1"/>
          </p:cNvSpPr>
          <p:nvPr/>
        </p:nvSpPr>
        <p:spPr bwMode="auto">
          <a:xfrm>
            <a:off x="6065837" y="2760107"/>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0" name="Rectangle 10">
            <a:extLst>
              <a:ext uri="{FF2B5EF4-FFF2-40B4-BE49-F238E27FC236}">
                <a16:creationId xmlns:a16="http://schemas.microsoft.com/office/drawing/2014/main" id="{AB452C0B-173A-1C44-96D7-52B7DBF7B0CC}"/>
              </a:ext>
            </a:extLst>
          </p:cNvPr>
          <p:cNvSpPr>
            <a:spLocks noChangeArrowheads="1"/>
          </p:cNvSpPr>
          <p:nvPr/>
        </p:nvSpPr>
        <p:spPr bwMode="auto">
          <a:xfrm>
            <a:off x="6977062" y="2760107"/>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1" name="Rectangle 11">
            <a:extLst>
              <a:ext uri="{FF2B5EF4-FFF2-40B4-BE49-F238E27FC236}">
                <a16:creationId xmlns:a16="http://schemas.microsoft.com/office/drawing/2014/main" id="{935697DD-E297-9143-B023-9531AEFD3176}"/>
              </a:ext>
            </a:extLst>
          </p:cNvPr>
          <p:cNvSpPr>
            <a:spLocks noChangeArrowheads="1"/>
          </p:cNvSpPr>
          <p:nvPr/>
        </p:nvSpPr>
        <p:spPr bwMode="auto">
          <a:xfrm>
            <a:off x="7886700" y="2760107"/>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2" name="Rectangle 12">
            <a:extLst>
              <a:ext uri="{FF2B5EF4-FFF2-40B4-BE49-F238E27FC236}">
                <a16:creationId xmlns:a16="http://schemas.microsoft.com/office/drawing/2014/main" id="{A215EB12-7A9D-6548-B92C-0F1C84148589}"/>
              </a:ext>
            </a:extLst>
          </p:cNvPr>
          <p:cNvSpPr>
            <a:spLocks noChangeArrowheads="1"/>
          </p:cNvSpPr>
          <p:nvPr/>
        </p:nvSpPr>
        <p:spPr bwMode="auto">
          <a:xfrm>
            <a:off x="1449387" y="5052457"/>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3" name="Rectangle 13">
            <a:extLst>
              <a:ext uri="{FF2B5EF4-FFF2-40B4-BE49-F238E27FC236}">
                <a16:creationId xmlns:a16="http://schemas.microsoft.com/office/drawing/2014/main" id="{5753A1CB-C799-C945-B64D-0B37A08E20F0}"/>
              </a:ext>
            </a:extLst>
          </p:cNvPr>
          <p:cNvSpPr>
            <a:spLocks noChangeArrowheads="1"/>
          </p:cNvSpPr>
          <p:nvPr/>
        </p:nvSpPr>
        <p:spPr bwMode="auto">
          <a:xfrm>
            <a:off x="2366962" y="5052457"/>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4" name="Rectangle 14">
            <a:extLst>
              <a:ext uri="{FF2B5EF4-FFF2-40B4-BE49-F238E27FC236}">
                <a16:creationId xmlns:a16="http://schemas.microsoft.com/office/drawing/2014/main" id="{986F0904-E8EB-7B46-A550-0C072F1073A4}"/>
              </a:ext>
            </a:extLst>
          </p:cNvPr>
          <p:cNvSpPr>
            <a:spLocks noChangeArrowheads="1"/>
          </p:cNvSpPr>
          <p:nvPr/>
        </p:nvSpPr>
        <p:spPr bwMode="auto">
          <a:xfrm>
            <a:off x="3278187" y="5052457"/>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5" name="Rectangle 15">
            <a:extLst>
              <a:ext uri="{FF2B5EF4-FFF2-40B4-BE49-F238E27FC236}">
                <a16:creationId xmlns:a16="http://schemas.microsoft.com/office/drawing/2014/main" id="{230CD989-4F8E-7543-B458-A788ECB17D06}"/>
              </a:ext>
            </a:extLst>
          </p:cNvPr>
          <p:cNvSpPr>
            <a:spLocks noChangeArrowheads="1"/>
          </p:cNvSpPr>
          <p:nvPr/>
        </p:nvSpPr>
        <p:spPr bwMode="auto">
          <a:xfrm>
            <a:off x="4187825" y="5052457"/>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6" name="Rectangle 16">
            <a:extLst>
              <a:ext uri="{FF2B5EF4-FFF2-40B4-BE49-F238E27FC236}">
                <a16:creationId xmlns:a16="http://schemas.microsoft.com/office/drawing/2014/main" id="{3E6DBB90-17A8-6A4E-B177-74844EF060D5}"/>
              </a:ext>
            </a:extLst>
          </p:cNvPr>
          <p:cNvSpPr>
            <a:spLocks noChangeArrowheads="1"/>
          </p:cNvSpPr>
          <p:nvPr/>
        </p:nvSpPr>
        <p:spPr bwMode="auto">
          <a:xfrm>
            <a:off x="5102225" y="5057219"/>
            <a:ext cx="863600"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7" name="Rectangle 17">
            <a:extLst>
              <a:ext uri="{FF2B5EF4-FFF2-40B4-BE49-F238E27FC236}">
                <a16:creationId xmlns:a16="http://schemas.microsoft.com/office/drawing/2014/main" id="{CFF95888-089B-C54A-B64A-6B07B9F59010}"/>
              </a:ext>
            </a:extLst>
          </p:cNvPr>
          <p:cNvSpPr>
            <a:spLocks noChangeArrowheads="1"/>
          </p:cNvSpPr>
          <p:nvPr/>
        </p:nvSpPr>
        <p:spPr bwMode="auto">
          <a:xfrm>
            <a:off x="6019800" y="5057219"/>
            <a:ext cx="863600"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8" name="Rectangle 18">
            <a:extLst>
              <a:ext uri="{FF2B5EF4-FFF2-40B4-BE49-F238E27FC236}">
                <a16:creationId xmlns:a16="http://schemas.microsoft.com/office/drawing/2014/main" id="{69B9F655-C344-D94C-9E36-0D531E4F0A06}"/>
              </a:ext>
            </a:extLst>
          </p:cNvPr>
          <p:cNvSpPr>
            <a:spLocks noChangeArrowheads="1"/>
          </p:cNvSpPr>
          <p:nvPr/>
        </p:nvSpPr>
        <p:spPr bwMode="auto">
          <a:xfrm>
            <a:off x="6931025" y="5057219"/>
            <a:ext cx="863600"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9" name="Rectangle 19">
            <a:extLst>
              <a:ext uri="{FF2B5EF4-FFF2-40B4-BE49-F238E27FC236}">
                <a16:creationId xmlns:a16="http://schemas.microsoft.com/office/drawing/2014/main" id="{C32CDA9B-6586-554C-A395-F20EA8A1CB9B}"/>
              </a:ext>
            </a:extLst>
          </p:cNvPr>
          <p:cNvSpPr>
            <a:spLocks noChangeArrowheads="1"/>
          </p:cNvSpPr>
          <p:nvPr/>
        </p:nvSpPr>
        <p:spPr bwMode="auto">
          <a:xfrm>
            <a:off x="7840662" y="5057219"/>
            <a:ext cx="863600"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60" name="TextBox 20">
            <a:extLst>
              <a:ext uri="{FF2B5EF4-FFF2-40B4-BE49-F238E27FC236}">
                <a16:creationId xmlns:a16="http://schemas.microsoft.com/office/drawing/2014/main" id="{9D0C415F-B533-B64A-8C2E-ABC02A30A558}"/>
              </a:ext>
            </a:extLst>
          </p:cNvPr>
          <p:cNvSpPr txBox="1">
            <a:spLocks noChangeArrowheads="1"/>
          </p:cNvSpPr>
          <p:nvPr/>
        </p:nvSpPr>
        <p:spPr bwMode="auto">
          <a:xfrm>
            <a:off x="4409641" y="2362200"/>
            <a:ext cx="12062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dirty="0">
                <a:solidFill>
                  <a:srgbClr val="000000"/>
                </a:solidFill>
                <a:latin typeface="Arial" panose="020B0604020202020204" pitchFamily="34" charset="0"/>
              </a:rPr>
              <a:t>Tag store</a:t>
            </a:r>
          </a:p>
        </p:txBody>
      </p:sp>
      <p:sp>
        <p:nvSpPr>
          <p:cNvPr id="87061" name="TextBox 21">
            <a:extLst>
              <a:ext uri="{FF2B5EF4-FFF2-40B4-BE49-F238E27FC236}">
                <a16:creationId xmlns:a16="http://schemas.microsoft.com/office/drawing/2014/main" id="{CA0D234E-9C01-AF45-BBF8-1DFFC85C553A}"/>
              </a:ext>
            </a:extLst>
          </p:cNvPr>
          <p:cNvSpPr txBox="1">
            <a:spLocks noChangeArrowheads="1"/>
          </p:cNvSpPr>
          <p:nvPr/>
        </p:nvSpPr>
        <p:spPr bwMode="auto">
          <a:xfrm>
            <a:off x="4409641" y="4704869"/>
            <a:ext cx="13131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dirty="0">
                <a:solidFill>
                  <a:srgbClr val="000000"/>
                </a:solidFill>
                <a:latin typeface="Arial" panose="020B0604020202020204" pitchFamily="34" charset="0"/>
              </a:rPr>
              <a:t>Data store</a:t>
            </a:r>
          </a:p>
        </p:txBody>
      </p:sp>
      <p:sp>
        <p:nvSpPr>
          <p:cNvPr id="87062" name="Rectangle 35">
            <a:extLst>
              <a:ext uri="{FF2B5EF4-FFF2-40B4-BE49-F238E27FC236}">
                <a16:creationId xmlns:a16="http://schemas.microsoft.com/office/drawing/2014/main" id="{8BC36685-D2F9-3F4B-A32C-8F898730F527}"/>
              </a:ext>
            </a:extLst>
          </p:cNvPr>
          <p:cNvSpPr>
            <a:spLocks noChangeArrowheads="1"/>
          </p:cNvSpPr>
          <p:nvPr/>
        </p:nvSpPr>
        <p:spPr bwMode="auto">
          <a:xfrm>
            <a:off x="1628775" y="3172857"/>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63" name="TextBox 36">
            <a:extLst>
              <a:ext uri="{FF2B5EF4-FFF2-40B4-BE49-F238E27FC236}">
                <a16:creationId xmlns:a16="http://schemas.microsoft.com/office/drawing/2014/main" id="{037F80B8-402C-E54A-8BE1-0A79045AC4B4}"/>
              </a:ext>
            </a:extLst>
          </p:cNvPr>
          <p:cNvSpPr txBox="1">
            <a:spLocks noChangeArrowheads="1"/>
          </p:cNvSpPr>
          <p:nvPr/>
        </p:nvSpPr>
        <p:spPr bwMode="auto">
          <a:xfrm>
            <a:off x="1727200" y="3150632"/>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64" name="Straight Arrow Connector 37">
            <a:extLst>
              <a:ext uri="{FF2B5EF4-FFF2-40B4-BE49-F238E27FC236}">
                <a16:creationId xmlns:a16="http://schemas.microsoft.com/office/drawing/2014/main" id="{35B874DC-A23F-D94D-9158-9CA16718FD93}"/>
              </a:ext>
            </a:extLst>
          </p:cNvPr>
          <p:cNvCxnSpPr>
            <a:cxnSpLocks noChangeShapeType="1"/>
          </p:cNvCxnSpPr>
          <p:nvPr/>
        </p:nvCxnSpPr>
        <p:spPr bwMode="auto">
          <a:xfrm rot="5400000">
            <a:off x="1831975" y="3041094"/>
            <a:ext cx="268288"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65" name="Rectangle 35">
            <a:extLst>
              <a:ext uri="{FF2B5EF4-FFF2-40B4-BE49-F238E27FC236}">
                <a16:creationId xmlns:a16="http://schemas.microsoft.com/office/drawing/2014/main" id="{F7E26661-BC48-B24D-A97F-B4D8B76A6856}"/>
              </a:ext>
            </a:extLst>
          </p:cNvPr>
          <p:cNvSpPr>
            <a:spLocks noChangeArrowheads="1"/>
          </p:cNvSpPr>
          <p:nvPr/>
        </p:nvSpPr>
        <p:spPr bwMode="auto">
          <a:xfrm>
            <a:off x="2503487" y="3182382"/>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66" name="TextBox 36">
            <a:extLst>
              <a:ext uri="{FF2B5EF4-FFF2-40B4-BE49-F238E27FC236}">
                <a16:creationId xmlns:a16="http://schemas.microsoft.com/office/drawing/2014/main" id="{E30DC596-2AD1-7C4B-904D-7F271222E43D}"/>
              </a:ext>
            </a:extLst>
          </p:cNvPr>
          <p:cNvSpPr txBox="1">
            <a:spLocks noChangeArrowheads="1"/>
          </p:cNvSpPr>
          <p:nvPr/>
        </p:nvSpPr>
        <p:spPr bwMode="auto">
          <a:xfrm>
            <a:off x="2601912" y="3160157"/>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67" name="Straight Arrow Connector 37">
            <a:extLst>
              <a:ext uri="{FF2B5EF4-FFF2-40B4-BE49-F238E27FC236}">
                <a16:creationId xmlns:a16="http://schemas.microsoft.com/office/drawing/2014/main" id="{D6C6ADD7-E0B3-484D-8A4B-4A273003A95E}"/>
              </a:ext>
            </a:extLst>
          </p:cNvPr>
          <p:cNvCxnSpPr>
            <a:cxnSpLocks noChangeShapeType="1"/>
          </p:cNvCxnSpPr>
          <p:nvPr/>
        </p:nvCxnSpPr>
        <p:spPr bwMode="auto">
          <a:xfrm rot="5400000">
            <a:off x="2705893" y="3051413"/>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68" name="Rectangle 35">
            <a:extLst>
              <a:ext uri="{FF2B5EF4-FFF2-40B4-BE49-F238E27FC236}">
                <a16:creationId xmlns:a16="http://schemas.microsoft.com/office/drawing/2014/main" id="{BC6675C2-7541-934D-B07C-4718026A6A1D}"/>
              </a:ext>
            </a:extLst>
          </p:cNvPr>
          <p:cNvSpPr>
            <a:spLocks noChangeArrowheads="1"/>
          </p:cNvSpPr>
          <p:nvPr/>
        </p:nvSpPr>
        <p:spPr bwMode="auto">
          <a:xfrm>
            <a:off x="3452812" y="3187144"/>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69" name="TextBox 36">
            <a:extLst>
              <a:ext uri="{FF2B5EF4-FFF2-40B4-BE49-F238E27FC236}">
                <a16:creationId xmlns:a16="http://schemas.microsoft.com/office/drawing/2014/main" id="{4C36E42E-804C-774A-8047-A11CF1279BA5}"/>
              </a:ext>
            </a:extLst>
          </p:cNvPr>
          <p:cNvSpPr txBox="1">
            <a:spLocks noChangeArrowheads="1"/>
          </p:cNvSpPr>
          <p:nvPr/>
        </p:nvSpPr>
        <p:spPr bwMode="auto">
          <a:xfrm>
            <a:off x="3551237" y="3164919"/>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70" name="Straight Arrow Connector 37">
            <a:extLst>
              <a:ext uri="{FF2B5EF4-FFF2-40B4-BE49-F238E27FC236}">
                <a16:creationId xmlns:a16="http://schemas.microsoft.com/office/drawing/2014/main" id="{A5EA2D1E-D435-E346-A731-B2EFB9DD9FC7}"/>
              </a:ext>
            </a:extLst>
          </p:cNvPr>
          <p:cNvCxnSpPr>
            <a:cxnSpLocks noChangeShapeType="1"/>
          </p:cNvCxnSpPr>
          <p:nvPr/>
        </p:nvCxnSpPr>
        <p:spPr bwMode="auto">
          <a:xfrm rot="5400000">
            <a:off x="3655218" y="3056176"/>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71" name="Rectangle 35">
            <a:extLst>
              <a:ext uri="{FF2B5EF4-FFF2-40B4-BE49-F238E27FC236}">
                <a16:creationId xmlns:a16="http://schemas.microsoft.com/office/drawing/2014/main" id="{C955456C-0A79-1545-8144-FB0372A4A8BE}"/>
              </a:ext>
            </a:extLst>
          </p:cNvPr>
          <p:cNvSpPr>
            <a:spLocks noChangeArrowheads="1"/>
          </p:cNvSpPr>
          <p:nvPr/>
        </p:nvSpPr>
        <p:spPr bwMode="auto">
          <a:xfrm>
            <a:off x="4335462" y="3176032"/>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72" name="TextBox 36">
            <a:extLst>
              <a:ext uri="{FF2B5EF4-FFF2-40B4-BE49-F238E27FC236}">
                <a16:creationId xmlns:a16="http://schemas.microsoft.com/office/drawing/2014/main" id="{02C762CC-2BAF-DE43-90AB-DB6CE77774C7}"/>
              </a:ext>
            </a:extLst>
          </p:cNvPr>
          <p:cNvSpPr txBox="1">
            <a:spLocks noChangeArrowheads="1"/>
          </p:cNvSpPr>
          <p:nvPr/>
        </p:nvSpPr>
        <p:spPr bwMode="auto">
          <a:xfrm>
            <a:off x="4433887" y="3153807"/>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73" name="Straight Arrow Connector 37">
            <a:extLst>
              <a:ext uri="{FF2B5EF4-FFF2-40B4-BE49-F238E27FC236}">
                <a16:creationId xmlns:a16="http://schemas.microsoft.com/office/drawing/2014/main" id="{AB2DACA4-3768-414C-9351-4D2C6E80030E}"/>
              </a:ext>
            </a:extLst>
          </p:cNvPr>
          <p:cNvCxnSpPr>
            <a:cxnSpLocks noChangeShapeType="1"/>
          </p:cNvCxnSpPr>
          <p:nvPr/>
        </p:nvCxnSpPr>
        <p:spPr bwMode="auto">
          <a:xfrm rot="5400000">
            <a:off x="4538662" y="3045857"/>
            <a:ext cx="268287"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74" name="Rectangle 35">
            <a:extLst>
              <a:ext uri="{FF2B5EF4-FFF2-40B4-BE49-F238E27FC236}">
                <a16:creationId xmlns:a16="http://schemas.microsoft.com/office/drawing/2014/main" id="{0653E3C4-33B8-634D-BD47-D77A17D46A3B}"/>
              </a:ext>
            </a:extLst>
          </p:cNvPr>
          <p:cNvSpPr>
            <a:spLocks noChangeArrowheads="1"/>
          </p:cNvSpPr>
          <p:nvPr/>
        </p:nvSpPr>
        <p:spPr bwMode="auto">
          <a:xfrm>
            <a:off x="5248275" y="3209369"/>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75" name="TextBox 36">
            <a:extLst>
              <a:ext uri="{FF2B5EF4-FFF2-40B4-BE49-F238E27FC236}">
                <a16:creationId xmlns:a16="http://schemas.microsoft.com/office/drawing/2014/main" id="{37A30522-CF47-244D-BAB8-A28BE1DC280D}"/>
              </a:ext>
            </a:extLst>
          </p:cNvPr>
          <p:cNvSpPr txBox="1">
            <a:spLocks noChangeArrowheads="1"/>
          </p:cNvSpPr>
          <p:nvPr/>
        </p:nvSpPr>
        <p:spPr bwMode="auto">
          <a:xfrm>
            <a:off x="5346700" y="3187144"/>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76" name="Straight Arrow Connector 37">
            <a:extLst>
              <a:ext uri="{FF2B5EF4-FFF2-40B4-BE49-F238E27FC236}">
                <a16:creationId xmlns:a16="http://schemas.microsoft.com/office/drawing/2014/main" id="{6B09E947-E999-244C-82A8-0E6253307DD8}"/>
              </a:ext>
            </a:extLst>
          </p:cNvPr>
          <p:cNvCxnSpPr>
            <a:cxnSpLocks noChangeShapeType="1"/>
          </p:cNvCxnSpPr>
          <p:nvPr/>
        </p:nvCxnSpPr>
        <p:spPr bwMode="auto">
          <a:xfrm rot="5400000">
            <a:off x="5450681" y="3078401"/>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77" name="Rectangle 35">
            <a:extLst>
              <a:ext uri="{FF2B5EF4-FFF2-40B4-BE49-F238E27FC236}">
                <a16:creationId xmlns:a16="http://schemas.microsoft.com/office/drawing/2014/main" id="{8B45B8D1-86D0-1D42-A8DC-B632E62B753B}"/>
              </a:ext>
            </a:extLst>
          </p:cNvPr>
          <p:cNvSpPr>
            <a:spLocks noChangeArrowheads="1"/>
          </p:cNvSpPr>
          <p:nvPr/>
        </p:nvSpPr>
        <p:spPr bwMode="auto">
          <a:xfrm>
            <a:off x="6167437" y="3196669"/>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78" name="TextBox 36">
            <a:extLst>
              <a:ext uri="{FF2B5EF4-FFF2-40B4-BE49-F238E27FC236}">
                <a16:creationId xmlns:a16="http://schemas.microsoft.com/office/drawing/2014/main" id="{ABF9AC7D-5A00-1147-AD12-7B1F3BC22035}"/>
              </a:ext>
            </a:extLst>
          </p:cNvPr>
          <p:cNvSpPr txBox="1">
            <a:spLocks noChangeArrowheads="1"/>
          </p:cNvSpPr>
          <p:nvPr/>
        </p:nvSpPr>
        <p:spPr bwMode="auto">
          <a:xfrm>
            <a:off x="6265862" y="3174444"/>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79" name="Straight Arrow Connector 37">
            <a:extLst>
              <a:ext uri="{FF2B5EF4-FFF2-40B4-BE49-F238E27FC236}">
                <a16:creationId xmlns:a16="http://schemas.microsoft.com/office/drawing/2014/main" id="{A1202FF0-AC8B-4F45-A3CB-37BD98E8A107}"/>
              </a:ext>
            </a:extLst>
          </p:cNvPr>
          <p:cNvCxnSpPr>
            <a:cxnSpLocks noChangeShapeType="1"/>
          </p:cNvCxnSpPr>
          <p:nvPr/>
        </p:nvCxnSpPr>
        <p:spPr bwMode="auto">
          <a:xfrm rot="5400000">
            <a:off x="6370637" y="3066494"/>
            <a:ext cx="268288"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80" name="Rectangle 35">
            <a:extLst>
              <a:ext uri="{FF2B5EF4-FFF2-40B4-BE49-F238E27FC236}">
                <a16:creationId xmlns:a16="http://schemas.microsoft.com/office/drawing/2014/main" id="{161D1460-08B4-0344-B2FB-ED203F08F0C2}"/>
              </a:ext>
            </a:extLst>
          </p:cNvPr>
          <p:cNvSpPr>
            <a:spLocks noChangeArrowheads="1"/>
          </p:cNvSpPr>
          <p:nvPr/>
        </p:nvSpPr>
        <p:spPr bwMode="auto">
          <a:xfrm>
            <a:off x="7097712" y="3182382"/>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81" name="TextBox 36">
            <a:extLst>
              <a:ext uri="{FF2B5EF4-FFF2-40B4-BE49-F238E27FC236}">
                <a16:creationId xmlns:a16="http://schemas.microsoft.com/office/drawing/2014/main" id="{13F72816-30BE-D244-B12A-2C39F18ABFE4}"/>
              </a:ext>
            </a:extLst>
          </p:cNvPr>
          <p:cNvSpPr txBox="1">
            <a:spLocks noChangeArrowheads="1"/>
          </p:cNvSpPr>
          <p:nvPr/>
        </p:nvSpPr>
        <p:spPr bwMode="auto">
          <a:xfrm>
            <a:off x="7196137" y="3160157"/>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82" name="Straight Arrow Connector 37">
            <a:extLst>
              <a:ext uri="{FF2B5EF4-FFF2-40B4-BE49-F238E27FC236}">
                <a16:creationId xmlns:a16="http://schemas.microsoft.com/office/drawing/2014/main" id="{276AF6F6-08A8-6246-9E66-31CB87D92EB3}"/>
              </a:ext>
            </a:extLst>
          </p:cNvPr>
          <p:cNvCxnSpPr>
            <a:cxnSpLocks noChangeShapeType="1"/>
          </p:cNvCxnSpPr>
          <p:nvPr/>
        </p:nvCxnSpPr>
        <p:spPr bwMode="auto">
          <a:xfrm rot="5400000">
            <a:off x="7300118" y="3051413"/>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83" name="Rectangle 35">
            <a:extLst>
              <a:ext uri="{FF2B5EF4-FFF2-40B4-BE49-F238E27FC236}">
                <a16:creationId xmlns:a16="http://schemas.microsoft.com/office/drawing/2014/main" id="{008A391C-E66D-FF42-8368-19D54250DF9D}"/>
              </a:ext>
            </a:extLst>
          </p:cNvPr>
          <p:cNvSpPr>
            <a:spLocks noChangeArrowheads="1"/>
          </p:cNvSpPr>
          <p:nvPr/>
        </p:nvSpPr>
        <p:spPr bwMode="auto">
          <a:xfrm>
            <a:off x="7977187" y="3201432"/>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84" name="TextBox 36">
            <a:extLst>
              <a:ext uri="{FF2B5EF4-FFF2-40B4-BE49-F238E27FC236}">
                <a16:creationId xmlns:a16="http://schemas.microsoft.com/office/drawing/2014/main" id="{2BCE504C-2DDE-4346-9CE8-F601CBC39756}"/>
              </a:ext>
            </a:extLst>
          </p:cNvPr>
          <p:cNvSpPr txBox="1">
            <a:spLocks noChangeArrowheads="1"/>
          </p:cNvSpPr>
          <p:nvPr/>
        </p:nvSpPr>
        <p:spPr bwMode="auto">
          <a:xfrm>
            <a:off x="8075612" y="3179207"/>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85" name="Straight Arrow Connector 37">
            <a:extLst>
              <a:ext uri="{FF2B5EF4-FFF2-40B4-BE49-F238E27FC236}">
                <a16:creationId xmlns:a16="http://schemas.microsoft.com/office/drawing/2014/main" id="{5729E85A-6688-6F43-A605-87FAC7276631}"/>
              </a:ext>
            </a:extLst>
          </p:cNvPr>
          <p:cNvCxnSpPr>
            <a:cxnSpLocks noChangeShapeType="1"/>
          </p:cNvCxnSpPr>
          <p:nvPr/>
        </p:nvCxnSpPr>
        <p:spPr bwMode="auto">
          <a:xfrm rot="5400000">
            <a:off x="8179593" y="3070463"/>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86" name="Freeform 48">
            <a:extLst>
              <a:ext uri="{FF2B5EF4-FFF2-40B4-BE49-F238E27FC236}">
                <a16:creationId xmlns:a16="http://schemas.microsoft.com/office/drawing/2014/main" id="{32B153C0-85E7-8A4C-91F7-13F8236EF755}"/>
              </a:ext>
            </a:extLst>
          </p:cNvPr>
          <p:cNvSpPr>
            <a:spLocks/>
          </p:cNvSpPr>
          <p:nvPr/>
        </p:nvSpPr>
        <p:spPr bwMode="auto">
          <a:xfrm>
            <a:off x="1449387" y="5500132"/>
            <a:ext cx="7254875"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87" name="Text Box 61">
            <a:extLst>
              <a:ext uri="{FF2B5EF4-FFF2-40B4-BE49-F238E27FC236}">
                <a16:creationId xmlns:a16="http://schemas.microsoft.com/office/drawing/2014/main" id="{7967C9B5-7180-B043-80B0-874264369F57}"/>
              </a:ext>
            </a:extLst>
          </p:cNvPr>
          <p:cNvSpPr txBox="1">
            <a:spLocks noChangeArrowheads="1"/>
          </p:cNvSpPr>
          <p:nvPr/>
        </p:nvSpPr>
        <p:spPr bwMode="auto">
          <a:xfrm>
            <a:off x="4697412" y="5452507"/>
            <a:ext cx="809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7088" name="Straight Arrow Connector 66">
            <a:extLst>
              <a:ext uri="{FF2B5EF4-FFF2-40B4-BE49-F238E27FC236}">
                <a16:creationId xmlns:a16="http://schemas.microsoft.com/office/drawing/2014/main" id="{9FB49A65-ED13-794E-B547-41A4247A4F3A}"/>
              </a:ext>
            </a:extLst>
          </p:cNvPr>
          <p:cNvCxnSpPr>
            <a:cxnSpLocks noChangeShapeType="1"/>
          </p:cNvCxnSpPr>
          <p:nvPr/>
        </p:nvCxnSpPr>
        <p:spPr bwMode="auto">
          <a:xfrm rot="16200000" flipH="1">
            <a:off x="5003799" y="5927170"/>
            <a:ext cx="15557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89" name="Freeform 48">
            <a:extLst>
              <a:ext uri="{FF2B5EF4-FFF2-40B4-BE49-F238E27FC236}">
                <a16:creationId xmlns:a16="http://schemas.microsoft.com/office/drawing/2014/main" id="{8A64ED3E-846E-8447-8791-9F2087431CE8}"/>
              </a:ext>
            </a:extLst>
          </p:cNvPr>
          <p:cNvSpPr>
            <a:spLocks/>
          </p:cNvSpPr>
          <p:nvPr/>
        </p:nvSpPr>
        <p:spPr bwMode="auto">
          <a:xfrm>
            <a:off x="4052887" y="6004957"/>
            <a:ext cx="2046288"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90" name="Text Box 61">
            <a:extLst>
              <a:ext uri="{FF2B5EF4-FFF2-40B4-BE49-F238E27FC236}">
                <a16:creationId xmlns:a16="http://schemas.microsoft.com/office/drawing/2014/main" id="{6785C44D-C80F-B94E-BC72-2B943A535C49}"/>
              </a:ext>
            </a:extLst>
          </p:cNvPr>
          <p:cNvSpPr txBox="1">
            <a:spLocks noChangeArrowheads="1"/>
          </p:cNvSpPr>
          <p:nvPr/>
        </p:nvSpPr>
        <p:spPr bwMode="auto">
          <a:xfrm>
            <a:off x="4703762" y="5987494"/>
            <a:ext cx="793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sp>
        <p:nvSpPr>
          <p:cNvPr id="87091" name="TextBox 70">
            <a:extLst>
              <a:ext uri="{FF2B5EF4-FFF2-40B4-BE49-F238E27FC236}">
                <a16:creationId xmlns:a16="http://schemas.microsoft.com/office/drawing/2014/main" id="{76A7E91C-BB01-8541-A691-CDD0CBC931D3}"/>
              </a:ext>
            </a:extLst>
          </p:cNvPr>
          <p:cNvSpPr txBox="1">
            <a:spLocks noChangeArrowheads="1"/>
          </p:cNvSpPr>
          <p:nvPr/>
        </p:nvSpPr>
        <p:spPr bwMode="auto">
          <a:xfrm>
            <a:off x="6129337" y="5857319"/>
            <a:ext cx="1343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byte in block</a:t>
            </a:r>
          </a:p>
        </p:txBody>
      </p:sp>
      <p:cxnSp>
        <p:nvCxnSpPr>
          <p:cNvPr id="87092" name="Straight Arrow Connector 71">
            <a:extLst>
              <a:ext uri="{FF2B5EF4-FFF2-40B4-BE49-F238E27FC236}">
                <a16:creationId xmlns:a16="http://schemas.microsoft.com/office/drawing/2014/main" id="{35D5A58A-BE90-C246-875E-03AC244828B2}"/>
              </a:ext>
            </a:extLst>
          </p:cNvPr>
          <p:cNvCxnSpPr>
            <a:cxnSpLocks noChangeShapeType="1"/>
          </p:cNvCxnSpPr>
          <p:nvPr/>
        </p:nvCxnSpPr>
        <p:spPr bwMode="auto">
          <a:xfrm rot="16200000" flipH="1">
            <a:off x="4947444" y="6450250"/>
            <a:ext cx="252412" cy="3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3" name="Straight Arrow Connector 69">
            <a:extLst>
              <a:ext uri="{FF2B5EF4-FFF2-40B4-BE49-F238E27FC236}">
                <a16:creationId xmlns:a16="http://schemas.microsoft.com/office/drawing/2014/main" id="{0DAAD4F8-DAB9-E04B-B7B7-E0E22AF8CB47}"/>
              </a:ext>
            </a:extLst>
          </p:cNvPr>
          <p:cNvCxnSpPr>
            <a:cxnSpLocks noChangeShapeType="1"/>
          </p:cNvCxnSpPr>
          <p:nvPr/>
        </p:nvCxnSpPr>
        <p:spPr bwMode="auto">
          <a:xfrm rot="10800000">
            <a:off x="5905499" y="6163707"/>
            <a:ext cx="523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4" name="Straight Arrow Connector 37">
            <a:extLst>
              <a:ext uri="{FF2B5EF4-FFF2-40B4-BE49-F238E27FC236}">
                <a16:creationId xmlns:a16="http://schemas.microsoft.com/office/drawing/2014/main" id="{F80FE263-EE66-414D-97E9-099FC8413DF8}"/>
              </a:ext>
            </a:extLst>
          </p:cNvPr>
          <p:cNvCxnSpPr>
            <a:cxnSpLocks noChangeShapeType="1"/>
          </p:cNvCxnSpPr>
          <p:nvPr/>
        </p:nvCxnSpPr>
        <p:spPr bwMode="auto">
          <a:xfrm rot="5400000">
            <a:off x="1829593" y="5348526"/>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5" name="Straight Arrow Connector 37">
            <a:extLst>
              <a:ext uri="{FF2B5EF4-FFF2-40B4-BE49-F238E27FC236}">
                <a16:creationId xmlns:a16="http://schemas.microsoft.com/office/drawing/2014/main" id="{D6B0AE7C-5A1D-B94C-8DAE-C00E02DFA98C}"/>
              </a:ext>
            </a:extLst>
          </p:cNvPr>
          <p:cNvCxnSpPr>
            <a:cxnSpLocks noChangeShapeType="1"/>
          </p:cNvCxnSpPr>
          <p:nvPr/>
        </p:nvCxnSpPr>
        <p:spPr bwMode="auto">
          <a:xfrm rot="5400000">
            <a:off x="2704306" y="5358051"/>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6" name="Straight Arrow Connector 37">
            <a:extLst>
              <a:ext uri="{FF2B5EF4-FFF2-40B4-BE49-F238E27FC236}">
                <a16:creationId xmlns:a16="http://schemas.microsoft.com/office/drawing/2014/main" id="{A84E2940-5F8E-3E43-8AF7-547BAFE5D70F}"/>
              </a:ext>
            </a:extLst>
          </p:cNvPr>
          <p:cNvCxnSpPr>
            <a:cxnSpLocks noChangeShapeType="1"/>
          </p:cNvCxnSpPr>
          <p:nvPr/>
        </p:nvCxnSpPr>
        <p:spPr bwMode="auto">
          <a:xfrm rot="5400000">
            <a:off x="3653631" y="5362813"/>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7" name="Straight Arrow Connector 37">
            <a:extLst>
              <a:ext uri="{FF2B5EF4-FFF2-40B4-BE49-F238E27FC236}">
                <a16:creationId xmlns:a16="http://schemas.microsoft.com/office/drawing/2014/main" id="{88D39E49-ED7F-5E47-B1E6-380A1BB27DA8}"/>
              </a:ext>
            </a:extLst>
          </p:cNvPr>
          <p:cNvCxnSpPr>
            <a:cxnSpLocks noChangeShapeType="1"/>
          </p:cNvCxnSpPr>
          <p:nvPr/>
        </p:nvCxnSpPr>
        <p:spPr bwMode="auto">
          <a:xfrm rot="5400000">
            <a:off x="4537075" y="5352494"/>
            <a:ext cx="268288"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8" name="Straight Arrow Connector 37">
            <a:extLst>
              <a:ext uri="{FF2B5EF4-FFF2-40B4-BE49-F238E27FC236}">
                <a16:creationId xmlns:a16="http://schemas.microsoft.com/office/drawing/2014/main" id="{0A55B134-54DE-1B43-A693-1A24DE6A7360}"/>
              </a:ext>
            </a:extLst>
          </p:cNvPr>
          <p:cNvCxnSpPr>
            <a:cxnSpLocks noChangeShapeType="1"/>
          </p:cNvCxnSpPr>
          <p:nvPr/>
        </p:nvCxnSpPr>
        <p:spPr bwMode="auto">
          <a:xfrm rot="5400000">
            <a:off x="5449093" y="5385038"/>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9" name="Straight Arrow Connector 37">
            <a:extLst>
              <a:ext uri="{FF2B5EF4-FFF2-40B4-BE49-F238E27FC236}">
                <a16:creationId xmlns:a16="http://schemas.microsoft.com/office/drawing/2014/main" id="{91EEE5A5-87E0-A94D-9AC9-274650774370}"/>
              </a:ext>
            </a:extLst>
          </p:cNvPr>
          <p:cNvCxnSpPr>
            <a:cxnSpLocks noChangeShapeType="1"/>
          </p:cNvCxnSpPr>
          <p:nvPr/>
        </p:nvCxnSpPr>
        <p:spPr bwMode="auto">
          <a:xfrm rot="5400000">
            <a:off x="6369050" y="5373132"/>
            <a:ext cx="268287"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0" name="Straight Arrow Connector 37">
            <a:extLst>
              <a:ext uri="{FF2B5EF4-FFF2-40B4-BE49-F238E27FC236}">
                <a16:creationId xmlns:a16="http://schemas.microsoft.com/office/drawing/2014/main" id="{57113641-41C3-1945-956B-B4959814B316}"/>
              </a:ext>
            </a:extLst>
          </p:cNvPr>
          <p:cNvCxnSpPr>
            <a:cxnSpLocks noChangeShapeType="1"/>
          </p:cNvCxnSpPr>
          <p:nvPr/>
        </p:nvCxnSpPr>
        <p:spPr bwMode="auto">
          <a:xfrm rot="5400000">
            <a:off x="7298531" y="5358051"/>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1" name="Straight Arrow Connector 37">
            <a:extLst>
              <a:ext uri="{FF2B5EF4-FFF2-40B4-BE49-F238E27FC236}">
                <a16:creationId xmlns:a16="http://schemas.microsoft.com/office/drawing/2014/main" id="{B2E676A1-9B9B-3F4A-9CF4-92F8395B66E1}"/>
              </a:ext>
            </a:extLst>
          </p:cNvPr>
          <p:cNvCxnSpPr>
            <a:cxnSpLocks noChangeShapeType="1"/>
          </p:cNvCxnSpPr>
          <p:nvPr/>
        </p:nvCxnSpPr>
        <p:spPr bwMode="auto">
          <a:xfrm rot="5400000">
            <a:off x="8178800" y="5377894"/>
            <a:ext cx="268288"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2" name="Straight Arrow Connector 37">
            <a:extLst>
              <a:ext uri="{FF2B5EF4-FFF2-40B4-BE49-F238E27FC236}">
                <a16:creationId xmlns:a16="http://schemas.microsoft.com/office/drawing/2014/main" id="{96B310A5-65B2-A540-AE23-90D116C1E73B}"/>
              </a:ext>
            </a:extLst>
          </p:cNvPr>
          <p:cNvCxnSpPr>
            <a:cxnSpLocks noChangeShapeType="1"/>
          </p:cNvCxnSpPr>
          <p:nvPr/>
        </p:nvCxnSpPr>
        <p:spPr bwMode="auto">
          <a:xfrm rot="5400000">
            <a:off x="1831181" y="3648313"/>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3" name="Straight Arrow Connector 37">
            <a:extLst>
              <a:ext uri="{FF2B5EF4-FFF2-40B4-BE49-F238E27FC236}">
                <a16:creationId xmlns:a16="http://schemas.microsoft.com/office/drawing/2014/main" id="{D775BFCF-504C-7645-AD83-FB685A36350D}"/>
              </a:ext>
            </a:extLst>
          </p:cNvPr>
          <p:cNvCxnSpPr>
            <a:cxnSpLocks noChangeShapeType="1"/>
          </p:cNvCxnSpPr>
          <p:nvPr/>
        </p:nvCxnSpPr>
        <p:spPr bwMode="auto">
          <a:xfrm rot="5400000">
            <a:off x="2705893" y="3659426"/>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4" name="Straight Arrow Connector 37">
            <a:extLst>
              <a:ext uri="{FF2B5EF4-FFF2-40B4-BE49-F238E27FC236}">
                <a16:creationId xmlns:a16="http://schemas.microsoft.com/office/drawing/2014/main" id="{F989631D-9DC6-3547-89FD-5F36F22035BB}"/>
              </a:ext>
            </a:extLst>
          </p:cNvPr>
          <p:cNvCxnSpPr>
            <a:cxnSpLocks noChangeShapeType="1"/>
          </p:cNvCxnSpPr>
          <p:nvPr/>
        </p:nvCxnSpPr>
        <p:spPr bwMode="auto">
          <a:xfrm rot="5400000">
            <a:off x="3655218" y="3664188"/>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5" name="Straight Arrow Connector 37">
            <a:extLst>
              <a:ext uri="{FF2B5EF4-FFF2-40B4-BE49-F238E27FC236}">
                <a16:creationId xmlns:a16="http://schemas.microsoft.com/office/drawing/2014/main" id="{4BD1B24D-C305-AC4D-82A7-F931213B287E}"/>
              </a:ext>
            </a:extLst>
          </p:cNvPr>
          <p:cNvCxnSpPr>
            <a:cxnSpLocks noChangeShapeType="1"/>
          </p:cNvCxnSpPr>
          <p:nvPr/>
        </p:nvCxnSpPr>
        <p:spPr bwMode="auto">
          <a:xfrm rot="5400000">
            <a:off x="4537868" y="3653076"/>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6" name="Straight Arrow Connector 37">
            <a:extLst>
              <a:ext uri="{FF2B5EF4-FFF2-40B4-BE49-F238E27FC236}">
                <a16:creationId xmlns:a16="http://schemas.microsoft.com/office/drawing/2014/main" id="{160DFFCD-13D3-3149-9415-7D67A15749F0}"/>
              </a:ext>
            </a:extLst>
          </p:cNvPr>
          <p:cNvCxnSpPr>
            <a:cxnSpLocks noChangeShapeType="1"/>
          </p:cNvCxnSpPr>
          <p:nvPr/>
        </p:nvCxnSpPr>
        <p:spPr bwMode="auto">
          <a:xfrm rot="5400000">
            <a:off x="5450681" y="3686413"/>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7" name="Straight Arrow Connector 37">
            <a:extLst>
              <a:ext uri="{FF2B5EF4-FFF2-40B4-BE49-F238E27FC236}">
                <a16:creationId xmlns:a16="http://schemas.microsoft.com/office/drawing/2014/main" id="{7FCA95AB-68C2-D64F-9E51-A9D70CD266B2}"/>
              </a:ext>
            </a:extLst>
          </p:cNvPr>
          <p:cNvCxnSpPr>
            <a:cxnSpLocks noChangeShapeType="1"/>
          </p:cNvCxnSpPr>
          <p:nvPr/>
        </p:nvCxnSpPr>
        <p:spPr bwMode="auto">
          <a:xfrm rot="5400000">
            <a:off x="6369843" y="3673713"/>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8" name="Straight Arrow Connector 37">
            <a:extLst>
              <a:ext uri="{FF2B5EF4-FFF2-40B4-BE49-F238E27FC236}">
                <a16:creationId xmlns:a16="http://schemas.microsoft.com/office/drawing/2014/main" id="{E4B75987-55AB-DD40-A0DD-523C2147756D}"/>
              </a:ext>
            </a:extLst>
          </p:cNvPr>
          <p:cNvCxnSpPr>
            <a:cxnSpLocks noChangeShapeType="1"/>
          </p:cNvCxnSpPr>
          <p:nvPr/>
        </p:nvCxnSpPr>
        <p:spPr bwMode="auto">
          <a:xfrm rot="5400000">
            <a:off x="7300118" y="3659426"/>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9" name="Straight Arrow Connector 37">
            <a:extLst>
              <a:ext uri="{FF2B5EF4-FFF2-40B4-BE49-F238E27FC236}">
                <a16:creationId xmlns:a16="http://schemas.microsoft.com/office/drawing/2014/main" id="{7DC0BF5F-CC20-5E4A-A1A4-274A9157B74F}"/>
              </a:ext>
            </a:extLst>
          </p:cNvPr>
          <p:cNvCxnSpPr>
            <a:cxnSpLocks noChangeShapeType="1"/>
          </p:cNvCxnSpPr>
          <p:nvPr/>
        </p:nvCxnSpPr>
        <p:spPr bwMode="auto">
          <a:xfrm rot="5400000">
            <a:off x="8179593" y="3678476"/>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110" name="TextBox 51">
            <a:extLst>
              <a:ext uri="{FF2B5EF4-FFF2-40B4-BE49-F238E27FC236}">
                <a16:creationId xmlns:a16="http://schemas.microsoft.com/office/drawing/2014/main" id="{ED1C8B1A-682B-734E-85DD-AD056A931024}"/>
              </a:ext>
            </a:extLst>
          </p:cNvPr>
          <p:cNvSpPr txBox="1">
            <a:spLocks noChangeArrowheads="1"/>
          </p:cNvSpPr>
          <p:nvPr/>
        </p:nvSpPr>
        <p:spPr bwMode="auto">
          <a:xfrm>
            <a:off x="1628775" y="3803094"/>
            <a:ext cx="6923087"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600">
                <a:solidFill>
                  <a:srgbClr val="000000"/>
                </a:solidFill>
                <a:latin typeface="Arial" panose="020B0604020202020204" pitchFamily="34" charset="0"/>
              </a:rPr>
              <a:t>Logic</a:t>
            </a:r>
          </a:p>
        </p:txBody>
      </p:sp>
      <p:sp>
        <p:nvSpPr>
          <p:cNvPr id="87111" name="TextBox 79">
            <a:extLst>
              <a:ext uri="{FF2B5EF4-FFF2-40B4-BE49-F238E27FC236}">
                <a16:creationId xmlns:a16="http://schemas.microsoft.com/office/drawing/2014/main" id="{4F4AC0ED-0F54-3649-8E3F-FAC6A3DDFB89}"/>
              </a:ext>
            </a:extLst>
          </p:cNvPr>
          <p:cNvSpPr txBox="1">
            <a:spLocks noChangeArrowheads="1"/>
          </p:cNvSpPr>
          <p:nvPr/>
        </p:nvSpPr>
        <p:spPr bwMode="auto">
          <a:xfrm>
            <a:off x="5199062" y="4225369"/>
            <a:ext cx="595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a:t>
            </a:r>
          </a:p>
        </p:txBody>
      </p:sp>
      <p:cxnSp>
        <p:nvCxnSpPr>
          <p:cNvPr id="87112" name="Straight Arrow Connector 37">
            <a:extLst>
              <a:ext uri="{FF2B5EF4-FFF2-40B4-BE49-F238E27FC236}">
                <a16:creationId xmlns:a16="http://schemas.microsoft.com/office/drawing/2014/main" id="{C777CC41-9FB5-2B48-A8E2-53638E66DCC4}"/>
              </a:ext>
            </a:extLst>
          </p:cNvPr>
          <p:cNvCxnSpPr>
            <a:cxnSpLocks noChangeShapeType="1"/>
          </p:cNvCxnSpPr>
          <p:nvPr/>
        </p:nvCxnSpPr>
        <p:spPr bwMode="auto">
          <a:xfrm rot="5400000">
            <a:off x="5012531" y="4275376"/>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13" name="Straight Connector 82">
            <a:extLst>
              <a:ext uri="{FF2B5EF4-FFF2-40B4-BE49-F238E27FC236}">
                <a16:creationId xmlns:a16="http://schemas.microsoft.com/office/drawing/2014/main" id="{22A38E68-2857-A745-AFE1-5C8FF8A314AF}"/>
              </a:ext>
            </a:extLst>
          </p:cNvPr>
          <p:cNvCxnSpPr>
            <a:cxnSpLocks noChangeShapeType="1"/>
            <a:stCxn id="87110" idx="3"/>
          </p:cNvCxnSpPr>
          <p:nvPr/>
        </p:nvCxnSpPr>
        <p:spPr bwMode="auto">
          <a:xfrm>
            <a:off x="8551862" y="3971369"/>
            <a:ext cx="439738" cy="2033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7114" name="Straight Arrow Connector 84">
            <a:extLst>
              <a:ext uri="{FF2B5EF4-FFF2-40B4-BE49-F238E27FC236}">
                <a16:creationId xmlns:a16="http://schemas.microsoft.com/office/drawing/2014/main" id="{F928898F-1FBD-4442-8D92-914B32FFE4E0}"/>
              </a:ext>
            </a:extLst>
          </p:cNvPr>
          <p:cNvCxnSpPr>
            <a:cxnSpLocks noChangeShapeType="1"/>
          </p:cNvCxnSpPr>
          <p:nvPr/>
        </p:nvCxnSpPr>
        <p:spPr bwMode="auto">
          <a:xfrm rot="10800000">
            <a:off x="7723187" y="5665232"/>
            <a:ext cx="1268413" cy="3397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76" name="Rectangle 40">
            <a:extLst>
              <a:ext uri="{FF2B5EF4-FFF2-40B4-BE49-F238E27FC236}">
                <a16:creationId xmlns:a16="http://schemas.microsoft.com/office/drawing/2014/main" id="{82AB8F6B-9029-A540-ADC8-9DC06E02FA44}"/>
              </a:ext>
            </a:extLst>
          </p:cNvPr>
          <p:cNvSpPr>
            <a:spLocks noChangeArrowheads="1"/>
          </p:cNvSpPr>
          <p:nvPr/>
        </p:nvSpPr>
        <p:spPr bwMode="auto">
          <a:xfrm>
            <a:off x="55562" y="2365970"/>
            <a:ext cx="1727200" cy="3333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77" name="TextBox 41">
            <a:extLst>
              <a:ext uri="{FF2B5EF4-FFF2-40B4-BE49-F238E27FC236}">
                <a16:creationId xmlns:a16="http://schemas.microsoft.com/office/drawing/2014/main" id="{9ADD87EB-8FB8-234F-BFB8-25D562E88FF8}"/>
              </a:ext>
            </a:extLst>
          </p:cNvPr>
          <p:cNvSpPr txBox="1">
            <a:spLocks noChangeArrowheads="1"/>
          </p:cNvSpPr>
          <p:nvPr/>
        </p:nvSpPr>
        <p:spPr bwMode="auto">
          <a:xfrm>
            <a:off x="450442" y="1793598"/>
            <a:ext cx="10302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Address</a:t>
            </a:r>
          </a:p>
        </p:txBody>
      </p:sp>
      <p:cxnSp>
        <p:nvCxnSpPr>
          <p:cNvPr id="78" name="Straight Connector 42">
            <a:extLst>
              <a:ext uri="{FF2B5EF4-FFF2-40B4-BE49-F238E27FC236}">
                <a16:creationId xmlns:a16="http://schemas.microsoft.com/office/drawing/2014/main" id="{6CC27ECE-F31D-5148-B551-E9421AC1FFB5}"/>
              </a:ext>
            </a:extLst>
          </p:cNvPr>
          <p:cNvCxnSpPr>
            <a:cxnSpLocks noChangeShapeType="1"/>
          </p:cNvCxnSpPr>
          <p:nvPr/>
        </p:nvCxnSpPr>
        <p:spPr bwMode="auto">
          <a:xfrm rot="5400000">
            <a:off x="1012067" y="2543616"/>
            <a:ext cx="3317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0" name="TextBox 44">
            <a:extLst>
              <a:ext uri="{FF2B5EF4-FFF2-40B4-BE49-F238E27FC236}">
                <a16:creationId xmlns:a16="http://schemas.microsoft.com/office/drawing/2014/main" id="{A90DE34D-A2EB-B942-BC64-5433A75B5372}"/>
              </a:ext>
            </a:extLst>
          </p:cNvPr>
          <p:cNvSpPr txBox="1">
            <a:spLocks noChangeArrowheads="1"/>
          </p:cNvSpPr>
          <p:nvPr/>
        </p:nvSpPr>
        <p:spPr bwMode="auto">
          <a:xfrm>
            <a:off x="357391" y="2034876"/>
            <a:ext cx="4333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432FF"/>
                </a:solidFill>
                <a:latin typeface="Arial" panose="020B0604020202020204" pitchFamily="34" charset="0"/>
              </a:rPr>
              <a:t>tag</a:t>
            </a:r>
          </a:p>
        </p:txBody>
      </p:sp>
      <p:sp>
        <p:nvSpPr>
          <p:cNvPr id="82" name="TextBox 46">
            <a:extLst>
              <a:ext uri="{FF2B5EF4-FFF2-40B4-BE49-F238E27FC236}">
                <a16:creationId xmlns:a16="http://schemas.microsoft.com/office/drawing/2014/main" id="{ACD0D98C-FBAF-6343-8B91-C46C87A510D6}"/>
              </a:ext>
            </a:extLst>
          </p:cNvPr>
          <p:cNvSpPr txBox="1">
            <a:spLocks noChangeArrowheads="1"/>
          </p:cNvSpPr>
          <p:nvPr/>
        </p:nvSpPr>
        <p:spPr bwMode="auto">
          <a:xfrm>
            <a:off x="1201535" y="2034878"/>
            <a:ext cx="1179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 in block</a:t>
            </a:r>
          </a:p>
        </p:txBody>
      </p:sp>
      <p:sp>
        <p:nvSpPr>
          <p:cNvPr id="83" name="TextBox 47">
            <a:extLst>
              <a:ext uri="{FF2B5EF4-FFF2-40B4-BE49-F238E27FC236}">
                <a16:creationId xmlns:a16="http://schemas.microsoft.com/office/drawing/2014/main" id="{7D9369E6-9014-A040-A6B0-440BB947C815}"/>
              </a:ext>
            </a:extLst>
          </p:cNvPr>
          <p:cNvSpPr txBox="1">
            <a:spLocks noChangeArrowheads="1"/>
          </p:cNvSpPr>
          <p:nvPr/>
        </p:nvSpPr>
        <p:spPr bwMode="auto">
          <a:xfrm>
            <a:off x="1181782" y="2385716"/>
            <a:ext cx="6111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3 bits</a:t>
            </a:r>
          </a:p>
        </p:txBody>
      </p:sp>
      <p:sp>
        <p:nvSpPr>
          <p:cNvPr id="85" name="TextBox 49">
            <a:extLst>
              <a:ext uri="{FF2B5EF4-FFF2-40B4-BE49-F238E27FC236}">
                <a16:creationId xmlns:a16="http://schemas.microsoft.com/office/drawing/2014/main" id="{9C93A1A9-8AE5-3B42-AF0E-355A1746FD1B}"/>
              </a:ext>
            </a:extLst>
          </p:cNvPr>
          <p:cNvSpPr txBox="1">
            <a:spLocks noChangeArrowheads="1"/>
          </p:cNvSpPr>
          <p:nvPr/>
        </p:nvSpPr>
        <p:spPr bwMode="auto">
          <a:xfrm>
            <a:off x="403299" y="2371775"/>
            <a:ext cx="711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432FF"/>
                </a:solidFill>
                <a:latin typeface="Arial" panose="020B0604020202020204" pitchFamily="34" charset="0"/>
              </a:rPr>
              <a:t>5 bits</a:t>
            </a:r>
          </a:p>
        </p:txBody>
      </p:sp>
      <p:cxnSp>
        <p:nvCxnSpPr>
          <p:cNvPr id="86" name="Straight Connector 82">
            <a:extLst>
              <a:ext uri="{FF2B5EF4-FFF2-40B4-BE49-F238E27FC236}">
                <a16:creationId xmlns:a16="http://schemas.microsoft.com/office/drawing/2014/main" id="{AFAEE703-B40C-40E6-9701-A018B8523E21}"/>
              </a:ext>
            </a:extLst>
          </p:cNvPr>
          <p:cNvCxnSpPr>
            <a:cxnSpLocks noChangeShapeType="1"/>
          </p:cNvCxnSpPr>
          <p:nvPr/>
        </p:nvCxnSpPr>
        <p:spPr bwMode="auto">
          <a:xfrm>
            <a:off x="609600" y="2711752"/>
            <a:ext cx="0" cy="6410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91" name="Straight Connector 82">
            <a:extLst>
              <a:ext uri="{FF2B5EF4-FFF2-40B4-BE49-F238E27FC236}">
                <a16:creationId xmlns:a16="http://schemas.microsoft.com/office/drawing/2014/main" id="{44577A35-6D6C-4EBF-8412-2F3B76C4736E}"/>
              </a:ext>
            </a:extLst>
          </p:cNvPr>
          <p:cNvCxnSpPr>
            <a:cxnSpLocks noChangeShapeType="1"/>
            <a:endCxn id="87062" idx="1"/>
          </p:cNvCxnSpPr>
          <p:nvPr/>
        </p:nvCxnSpPr>
        <p:spPr bwMode="auto">
          <a:xfrm flipV="1">
            <a:off x="609600" y="3341926"/>
            <a:ext cx="1019175" cy="10874"/>
          </a:xfrm>
          <a:prstGeom prst="line">
            <a:avLst/>
          </a:prstGeom>
          <a:noFill/>
          <a:ln w="9525">
            <a:solidFill>
              <a:schemeClr val="tx1"/>
            </a:solidFill>
            <a:round/>
            <a:headEnd/>
            <a:tailEnd type="arrow"/>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962299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0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70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70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70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70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70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70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70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70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706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70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706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706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706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706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706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707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70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707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70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707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707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707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707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707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707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708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708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708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708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708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708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710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710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710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710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710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8710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710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710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711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711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7112"/>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8705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705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705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8705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705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8705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8705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8705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87061"/>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8708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7087"/>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87088"/>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8708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709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709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8709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87093"/>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87094"/>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87095"/>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7096"/>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8709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87098"/>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87099"/>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87100"/>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87101"/>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87114"/>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87114"/>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87113"/>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76"/>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7"/>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78"/>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0"/>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82"/>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83"/>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5"/>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86"/>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4" grpId="0" animBg="1"/>
      <p:bldP spid="87045" grpId="0" animBg="1"/>
      <p:bldP spid="87046" grpId="0" animBg="1"/>
      <p:bldP spid="87047" grpId="0" animBg="1"/>
      <p:bldP spid="87048" grpId="0" animBg="1"/>
      <p:bldP spid="87049" grpId="0" animBg="1"/>
      <p:bldP spid="87050" grpId="0" animBg="1"/>
      <p:bldP spid="87051" grpId="0" animBg="1"/>
      <p:bldP spid="87052" grpId="0" animBg="1"/>
      <p:bldP spid="87053" grpId="0" animBg="1"/>
      <p:bldP spid="87054" grpId="0" animBg="1"/>
      <p:bldP spid="87055" grpId="0" animBg="1"/>
      <p:bldP spid="87056" grpId="0" animBg="1"/>
      <p:bldP spid="87057" grpId="0" animBg="1"/>
      <p:bldP spid="87058" grpId="0" animBg="1"/>
      <p:bldP spid="87059" grpId="0" animBg="1"/>
      <p:bldP spid="87060" grpId="0"/>
      <p:bldP spid="87061" grpId="0"/>
      <p:bldP spid="87062" grpId="0" animBg="1"/>
      <p:bldP spid="87063" grpId="0"/>
      <p:bldP spid="87065" grpId="0" animBg="1"/>
      <p:bldP spid="87066" grpId="0"/>
      <p:bldP spid="87068" grpId="0" animBg="1"/>
      <p:bldP spid="87069" grpId="0"/>
      <p:bldP spid="87071" grpId="0" animBg="1"/>
      <p:bldP spid="87072" grpId="0"/>
      <p:bldP spid="87074" grpId="0" animBg="1"/>
      <p:bldP spid="87075" grpId="0"/>
      <p:bldP spid="87077" grpId="0" animBg="1"/>
      <p:bldP spid="87078" grpId="0"/>
      <p:bldP spid="87080" grpId="0" animBg="1"/>
      <p:bldP spid="87081" grpId="0"/>
      <p:bldP spid="87083" grpId="0" animBg="1"/>
      <p:bldP spid="87084" grpId="0"/>
      <p:bldP spid="87087" grpId="0"/>
      <p:bldP spid="87090" grpId="0"/>
      <p:bldP spid="87091" grpId="0"/>
      <p:bldP spid="87110" grpId="0" animBg="1"/>
      <p:bldP spid="87111" grpId="0"/>
      <p:bldP spid="76" grpId="0" animBg="1"/>
      <p:bldP spid="77" grpId="0"/>
      <p:bldP spid="80" grpId="0"/>
      <p:bldP spid="82" grpId="0"/>
      <p:bldP spid="83" grpId="0"/>
      <p:bldP spid="8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Title 1">
            <a:extLst>
              <a:ext uri="{FF2B5EF4-FFF2-40B4-BE49-F238E27FC236}">
                <a16:creationId xmlns:a16="http://schemas.microsoft.com/office/drawing/2014/main" id="{A4F32091-C096-0A43-ABF1-9C88829D37B3}"/>
              </a:ext>
            </a:extLst>
          </p:cNvPr>
          <p:cNvSpPr>
            <a:spLocks noGrp="1" noChangeArrowheads="1"/>
          </p:cNvSpPr>
          <p:nvPr>
            <p:ph type="title"/>
          </p:nvPr>
        </p:nvSpPr>
        <p:spPr>
          <a:xfrm>
            <a:off x="152400" y="228600"/>
            <a:ext cx="8915400" cy="1066800"/>
          </a:xfrm>
        </p:spPr>
        <p:txBody>
          <a:bodyPr/>
          <a:lstStyle/>
          <a:p>
            <a:r>
              <a:rPr lang="en-US" altLang="en-US" sz="3600" dirty="0">
                <a:ea typeface="ＭＳ Ｐゴシック" panose="020B0600070205080204" pitchFamily="34" charset="-128"/>
              </a:rPr>
              <a:t>Advantage and Issue of Fully-associative Caches</a:t>
            </a:r>
          </a:p>
        </p:txBody>
      </p:sp>
      <p:sp>
        <p:nvSpPr>
          <p:cNvPr id="87042" name="Content Placeholder 2">
            <a:extLst>
              <a:ext uri="{FF2B5EF4-FFF2-40B4-BE49-F238E27FC236}">
                <a16:creationId xmlns:a16="http://schemas.microsoft.com/office/drawing/2014/main" id="{3CC4966B-A6EC-144F-9BD9-A2E0BBE007D5}"/>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Fully-associative cache</a:t>
            </a:r>
            <a:r>
              <a:rPr lang="en-US" altLang="en-US" dirty="0">
                <a:ea typeface="ＭＳ Ｐゴシック" panose="020B0600070205080204" pitchFamily="34" charset="-128"/>
              </a:rPr>
              <a:t>:</a:t>
            </a:r>
          </a:p>
          <a:p>
            <a:pPr lvl="1"/>
            <a:r>
              <a:rPr lang="en-US" altLang="en-US" dirty="0">
                <a:ea typeface="ＭＳ Ｐゴシック" panose="020B0600070205080204" pitchFamily="34" charset="-128"/>
              </a:rPr>
              <a:t>A block can be placed in </a:t>
            </a:r>
            <a:r>
              <a:rPr lang="en-US" altLang="en-US" dirty="0">
                <a:solidFill>
                  <a:srgbClr val="0432FF"/>
                </a:solidFill>
                <a:ea typeface="ＭＳ Ｐゴシック" panose="020B0600070205080204" pitchFamily="34" charset="-128"/>
              </a:rPr>
              <a:t>any</a:t>
            </a:r>
            <a:r>
              <a:rPr lang="en-US" altLang="en-US" dirty="0">
                <a:ea typeface="ＭＳ Ｐゴシック" panose="020B0600070205080204" pitchFamily="34" charset="-128"/>
              </a:rPr>
              <a:t> cache block.</a:t>
            </a:r>
          </a:p>
          <a:p>
            <a:pPr lvl="1"/>
            <a:endParaRPr lang="en-US" altLang="en-US" dirty="0">
              <a:ea typeface="ＭＳ Ｐゴシック" panose="020B0600070205080204" pitchFamily="34" charset="-128"/>
              <a:sym typeface="Wingdings" pitchFamily="2" charset="2"/>
            </a:endParaRPr>
          </a:p>
          <a:p>
            <a:r>
              <a:rPr lang="en-US" altLang="en-US" dirty="0">
                <a:solidFill>
                  <a:srgbClr val="0432FF"/>
                </a:solidFill>
                <a:ea typeface="ＭＳ Ｐゴシック" panose="020B0600070205080204" pitchFamily="34" charset="-128"/>
              </a:rPr>
              <a:t>Main advantage </a:t>
            </a:r>
            <a:r>
              <a:rPr lang="en-US" altLang="en-US" dirty="0">
                <a:ea typeface="ＭＳ Ｐゴシック" panose="020B0600070205080204" pitchFamily="34" charset="-128"/>
              </a:rPr>
              <a:t>of fully-associative cache:</a:t>
            </a:r>
          </a:p>
          <a:p>
            <a:pPr lvl="1"/>
            <a:r>
              <a:rPr lang="en-US" altLang="en-US" dirty="0">
                <a:ea typeface="ＭＳ Ｐゴシック" panose="020B0600070205080204" pitchFamily="34" charset="-128"/>
              </a:rPr>
              <a:t>Highly utilization of cache blocks (global view)</a:t>
            </a:r>
          </a:p>
          <a:p>
            <a:pPr lvl="1"/>
            <a:endParaRPr lang="en-US" altLang="en-US" dirty="0">
              <a:ea typeface="ＭＳ Ｐゴシック" panose="020B0600070205080204" pitchFamily="34" charset="-128"/>
            </a:endParaRPr>
          </a:p>
          <a:p>
            <a:r>
              <a:rPr lang="en-US" altLang="en-US" dirty="0">
                <a:solidFill>
                  <a:srgbClr val="FF0000"/>
                </a:solidFill>
                <a:ea typeface="ＭＳ Ｐゴシック" panose="020B0600070205080204" pitchFamily="34" charset="-128"/>
              </a:rPr>
              <a:t>Main issue </a:t>
            </a:r>
            <a:r>
              <a:rPr lang="en-US" altLang="en-US" dirty="0">
                <a:ea typeface="ＭＳ Ｐゴシック" panose="020B0600070205080204" pitchFamily="34" charset="-128"/>
              </a:rPr>
              <a:t>of fully-associative cache:</a:t>
            </a:r>
            <a:r>
              <a:rPr lang="en-US" altLang="en-US" dirty="0">
                <a:solidFill>
                  <a:srgbClr val="0000FF"/>
                </a:solidFill>
                <a:ea typeface="ＭＳ Ｐゴシック" panose="020B0600070205080204" pitchFamily="34" charset="-128"/>
              </a:rPr>
              <a:t> </a:t>
            </a:r>
            <a:endParaRPr lang="en-US" altLang="en-US" dirty="0">
              <a:ea typeface="ＭＳ Ｐゴシック" panose="020B0600070205080204" pitchFamily="34" charset="-128"/>
              <a:sym typeface="Wingdings" pitchFamily="2" charset="2"/>
            </a:endParaRPr>
          </a:p>
          <a:p>
            <a:pPr lvl="1"/>
            <a:r>
              <a:rPr lang="en-US" altLang="en-US" dirty="0">
                <a:ea typeface="ＭＳ Ｐゴシック" panose="020B0600070205080204" pitchFamily="34" charset="-128"/>
                <a:sym typeface="Wingdings" pitchFamily="2" charset="2"/>
              </a:rPr>
              <a:t>Can lead to extremely difficult to implement when the number of cache blocks in the cache is large. </a:t>
            </a:r>
          </a:p>
          <a:p>
            <a:pPr lvl="2"/>
            <a:r>
              <a:rPr lang="en-US" altLang="en-US" dirty="0">
                <a:ea typeface="ＭＳ Ｐゴシック" panose="020B0600070205080204" pitchFamily="34" charset="-128"/>
                <a:sym typeface="Wingdings" pitchFamily="2" charset="2"/>
              </a:rPr>
              <a:t>Number of cache blocks in modern CPU reaches 32M/64=512K.</a:t>
            </a:r>
          </a:p>
          <a:p>
            <a:pPr lvl="2"/>
            <a:r>
              <a:rPr lang="en-US" altLang="en-US" dirty="0">
                <a:solidFill>
                  <a:srgbClr val="FF0000"/>
                </a:solidFill>
                <a:ea typeface="ＭＳ Ｐゴシック" panose="020B0600070205080204" pitchFamily="34" charset="-128"/>
                <a:sym typeface="Wingdings" pitchFamily="2" charset="2"/>
              </a:rPr>
              <a:t>Choosing one out of 512K cache lines is extremely costly. </a:t>
            </a:r>
          </a:p>
        </p:txBody>
      </p:sp>
      <p:sp>
        <p:nvSpPr>
          <p:cNvPr id="125955" name="Slide Number Placeholder 3">
            <a:extLst>
              <a:ext uri="{FF2B5EF4-FFF2-40B4-BE49-F238E27FC236}">
                <a16:creationId xmlns:a16="http://schemas.microsoft.com/office/drawing/2014/main" id="{E0F2CDF0-A0B2-F149-9652-4D825781E14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099E6BB8-601B-994F-8688-05237DAAE4CF}" type="slidenum">
              <a:rPr lang="en-US" altLang="en-US" sz="1600" smtClean="0">
                <a:solidFill>
                  <a:srgbClr val="000000"/>
                </a:solidFill>
                <a:latin typeface="Garamond" panose="02020404030301010803" pitchFamily="18" charset="0"/>
              </a:rPr>
              <a:pPr eaLnBrk="1" hangingPunct="1">
                <a:spcBef>
                  <a:spcPct val="0"/>
                </a:spcBef>
                <a:buClrTx/>
                <a:buSzTx/>
                <a:buFontTx/>
                <a:buNone/>
              </a:pPr>
              <a:t>62</a:t>
            </a:fld>
            <a:endParaRPr lang="en-US" altLang="en-US" sz="1600">
              <a:solidFill>
                <a:srgbClr val="000000"/>
              </a:solidFill>
              <a:latin typeface="Garamond" panose="02020404030301010803" pitchFamily="18" charset="0"/>
            </a:endParaRPr>
          </a:p>
        </p:txBody>
      </p:sp>
    </p:spTree>
    <p:extLst>
      <p:ext uri="{BB962C8B-B14F-4D97-AF65-F5344CB8AC3E}">
        <p14:creationId xmlns:p14="http://schemas.microsoft.com/office/powerpoint/2010/main" val="22450993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4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04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704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704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04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0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2313-9A23-9945-8E35-F641A91B84E6}"/>
              </a:ext>
            </a:extLst>
          </p:cNvPr>
          <p:cNvSpPr>
            <a:spLocks noGrp="1"/>
          </p:cNvSpPr>
          <p:nvPr>
            <p:ph type="title"/>
          </p:nvPr>
        </p:nvSpPr>
        <p:spPr/>
        <p:txBody>
          <a:bodyPr/>
          <a:lstStyle/>
          <a:p>
            <a:r>
              <a:rPr lang="en-US" dirty="0"/>
              <a:t>Three Cache Organization Methods</a:t>
            </a:r>
          </a:p>
        </p:txBody>
      </p:sp>
      <p:sp>
        <p:nvSpPr>
          <p:cNvPr id="3" name="Content Placeholder 2">
            <a:extLst>
              <a:ext uri="{FF2B5EF4-FFF2-40B4-BE49-F238E27FC236}">
                <a16:creationId xmlns:a16="http://schemas.microsoft.com/office/drawing/2014/main" id="{D5175C55-BCF6-C648-A20B-5EB014DD65D0}"/>
              </a:ext>
            </a:extLst>
          </p:cNvPr>
          <p:cNvSpPr>
            <a:spLocks noGrp="1"/>
          </p:cNvSpPr>
          <p:nvPr>
            <p:ph idx="1"/>
          </p:nvPr>
        </p:nvSpPr>
        <p:spPr>
          <a:xfrm>
            <a:off x="0" y="997529"/>
            <a:ext cx="9296400" cy="5193723"/>
          </a:xfrm>
        </p:spPr>
        <p:txBody>
          <a:bodyPr/>
          <a:lstStyle/>
          <a:p>
            <a:r>
              <a:rPr lang="en-US" dirty="0">
                <a:solidFill>
                  <a:srgbClr val="0432FF"/>
                </a:solidFill>
              </a:rPr>
              <a:t>Direct-mapped</a:t>
            </a:r>
            <a:r>
              <a:rPr lang="en-US" dirty="0"/>
              <a:t>: </a:t>
            </a:r>
          </a:p>
          <a:p>
            <a:pPr lvl="1"/>
            <a:r>
              <a:rPr lang="en-US" altLang="zh-CN" dirty="0"/>
              <a:t>A chunk can go to </a:t>
            </a:r>
            <a:r>
              <a:rPr lang="en-US" altLang="zh-CN" b="1" dirty="0"/>
              <a:t>only one </a:t>
            </a:r>
            <a:r>
              <a:rPr lang="en-US" altLang="zh-CN" dirty="0"/>
              <a:t>cache block in the cache. (</a:t>
            </a:r>
            <a:r>
              <a:rPr lang="en-US" altLang="zh-CN" dirty="0">
                <a:solidFill>
                  <a:srgbClr val="C00000"/>
                </a:solidFill>
              </a:rPr>
              <a:t>Another extreme</a:t>
            </a:r>
            <a:r>
              <a:rPr lang="en-US" altLang="zh-CN" dirty="0"/>
              <a:t>)</a:t>
            </a:r>
            <a:endParaRPr lang="en-US" dirty="0"/>
          </a:p>
          <a:p>
            <a:r>
              <a:rPr lang="en-US" altLang="zh-CN" dirty="0">
                <a:solidFill>
                  <a:srgbClr val="0432FF"/>
                </a:solidFill>
              </a:rPr>
              <a:t>Fully-associative</a:t>
            </a:r>
            <a:r>
              <a:rPr lang="en-US" altLang="zh-CN" dirty="0"/>
              <a:t>:</a:t>
            </a:r>
          </a:p>
          <a:p>
            <a:pPr lvl="1"/>
            <a:r>
              <a:rPr lang="en-US" altLang="zh-CN" dirty="0"/>
              <a:t>A chunk can go to </a:t>
            </a:r>
            <a:r>
              <a:rPr lang="en-US" altLang="zh-CN" b="1" dirty="0"/>
              <a:t>any</a:t>
            </a:r>
            <a:r>
              <a:rPr lang="en-US" altLang="zh-CN" dirty="0"/>
              <a:t> cache block in the cache. (</a:t>
            </a:r>
            <a:r>
              <a:rPr lang="en-US" altLang="zh-CN" dirty="0">
                <a:solidFill>
                  <a:srgbClr val="C00000"/>
                </a:solidFill>
              </a:rPr>
              <a:t>One extreme</a:t>
            </a:r>
            <a:r>
              <a:rPr lang="en-US" altLang="zh-CN" dirty="0"/>
              <a:t>)</a:t>
            </a:r>
          </a:p>
          <a:p>
            <a:r>
              <a:rPr lang="en-US" altLang="zh-CN" dirty="0">
                <a:solidFill>
                  <a:srgbClr val="0432FF"/>
                </a:solidFill>
              </a:rPr>
              <a:t>Set-associative</a:t>
            </a:r>
            <a:r>
              <a:rPr lang="en-US" altLang="zh-CN" dirty="0"/>
              <a:t>: </a:t>
            </a:r>
          </a:p>
          <a:p>
            <a:pPr lvl="1"/>
            <a:r>
              <a:rPr lang="en-US" altLang="zh-CN" dirty="0"/>
              <a:t>A chunk can go to </a:t>
            </a:r>
            <a:r>
              <a:rPr lang="en-US" altLang="zh-CN" b="1" dirty="0"/>
              <a:t>N </a:t>
            </a:r>
            <a:r>
              <a:rPr lang="en-US" altLang="zh-CN" dirty="0"/>
              <a:t>cache blocks in the </a:t>
            </a:r>
            <a:r>
              <a:rPr lang="en-US" altLang="zh-CN" b="1" dirty="0"/>
              <a:t>N</a:t>
            </a:r>
            <a:r>
              <a:rPr lang="en-US" altLang="zh-CN" dirty="0"/>
              <a:t>-way set-associative cache. (</a:t>
            </a:r>
            <a:r>
              <a:rPr lang="en-US" altLang="zh-CN" dirty="0">
                <a:solidFill>
                  <a:srgbClr val="00B0F0"/>
                </a:solidFill>
              </a:rPr>
              <a:t>Best choice</a:t>
            </a:r>
            <a:r>
              <a:rPr lang="en-US" altLang="zh-CN" dirty="0"/>
              <a:t>)</a:t>
            </a:r>
          </a:p>
          <a:p>
            <a:endParaRPr lang="en-US" dirty="0">
              <a:solidFill>
                <a:srgbClr val="0432FF"/>
              </a:solidFill>
            </a:endParaRPr>
          </a:p>
        </p:txBody>
      </p:sp>
      <p:sp>
        <p:nvSpPr>
          <p:cNvPr id="4" name="Slide Number Placeholder 3">
            <a:extLst>
              <a:ext uri="{FF2B5EF4-FFF2-40B4-BE49-F238E27FC236}">
                <a16:creationId xmlns:a16="http://schemas.microsoft.com/office/drawing/2014/main" id="{D55E1C36-3100-E149-BFAA-F75448466FB3}"/>
              </a:ext>
            </a:extLst>
          </p:cNvPr>
          <p:cNvSpPr>
            <a:spLocks noGrp="1"/>
          </p:cNvSpPr>
          <p:nvPr>
            <p:ph type="sldNum" sz="quarter" idx="11"/>
          </p:nvPr>
        </p:nvSpPr>
        <p:spPr/>
        <p:txBody>
          <a:bodyPr/>
          <a:lstStyle/>
          <a:p>
            <a:pPr>
              <a:defRPr/>
            </a:pPr>
            <a:fld id="{9CD3246B-4504-6A44-A3C6-3AD1B220008A}" type="slidenum">
              <a:rPr lang="en-US" altLang="en-US" smtClean="0"/>
              <a:pPr>
                <a:defRPr/>
              </a:pPr>
              <a:t>63</a:t>
            </a:fld>
            <a:endParaRPr lang="en-US" altLang="en-US"/>
          </a:p>
        </p:txBody>
      </p:sp>
      <p:pic>
        <p:nvPicPr>
          <p:cNvPr id="6" name="Picture 5">
            <a:extLst>
              <a:ext uri="{FF2B5EF4-FFF2-40B4-BE49-F238E27FC236}">
                <a16:creationId xmlns:a16="http://schemas.microsoft.com/office/drawing/2014/main" id="{BF1A0D9D-8097-0049-A350-9522347EC714}"/>
              </a:ext>
            </a:extLst>
          </p:cNvPr>
          <p:cNvPicPr>
            <a:picLocks noChangeAspect="1"/>
          </p:cNvPicPr>
          <p:nvPr/>
        </p:nvPicPr>
        <p:blipFill>
          <a:blip r:embed="rId3"/>
          <a:stretch>
            <a:fillRect/>
          </a:stretch>
        </p:blipFill>
        <p:spPr>
          <a:xfrm>
            <a:off x="224158" y="4215142"/>
            <a:ext cx="8724900" cy="2273526"/>
          </a:xfrm>
          <a:prstGeom prst="rect">
            <a:avLst/>
          </a:prstGeom>
        </p:spPr>
      </p:pic>
      <p:sp>
        <p:nvSpPr>
          <p:cNvPr id="7" name="Rectangle 6">
            <a:extLst>
              <a:ext uri="{FF2B5EF4-FFF2-40B4-BE49-F238E27FC236}">
                <a16:creationId xmlns:a16="http://schemas.microsoft.com/office/drawing/2014/main" id="{199F2B89-5F38-EB42-ABCC-69C84AA69BFA}"/>
              </a:ext>
            </a:extLst>
          </p:cNvPr>
          <p:cNvSpPr/>
          <p:nvPr/>
        </p:nvSpPr>
        <p:spPr>
          <a:xfrm>
            <a:off x="609600" y="6488668"/>
            <a:ext cx="7391400" cy="369332"/>
          </a:xfrm>
          <a:prstGeom prst="rect">
            <a:avLst/>
          </a:prstGeom>
        </p:spPr>
        <p:txBody>
          <a:bodyPr wrap="square">
            <a:spAutoFit/>
          </a:bodyPr>
          <a:lstStyle/>
          <a:p>
            <a:pPr lvl="1" algn="ctr"/>
            <a:r>
              <a:rPr lang="en-US" altLang="en-US" dirty="0"/>
              <a:t>Kim &amp; Mutlu, “Memory Systems,” Computing Handbook, 2014</a:t>
            </a:r>
          </a:p>
        </p:txBody>
      </p:sp>
      <p:sp>
        <p:nvSpPr>
          <p:cNvPr id="8" name="Rectangle 5">
            <a:extLst>
              <a:ext uri="{FF2B5EF4-FFF2-40B4-BE49-F238E27FC236}">
                <a16:creationId xmlns:a16="http://schemas.microsoft.com/office/drawing/2014/main" id="{CC72AC6D-9452-472A-ACA5-04CBC08A6916}"/>
              </a:ext>
            </a:extLst>
          </p:cNvPr>
          <p:cNvSpPr/>
          <p:nvPr/>
        </p:nvSpPr>
        <p:spPr>
          <a:xfrm>
            <a:off x="357508" y="3067682"/>
            <a:ext cx="8458200" cy="114746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24607539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a:extLst>
              <a:ext uri="{FF2B5EF4-FFF2-40B4-BE49-F238E27FC236}">
                <a16:creationId xmlns:a16="http://schemas.microsoft.com/office/drawing/2014/main" id="{14D4EE27-B8D2-B344-9306-834BC416EA8D}"/>
              </a:ext>
            </a:extLst>
          </p:cNvPr>
          <p:cNvSpPr>
            <a:spLocks noGrp="1" noChangeArrowheads="1"/>
          </p:cNvSpPr>
          <p:nvPr>
            <p:ph idx="1"/>
          </p:nvPr>
        </p:nvSpPr>
        <p:spPr>
          <a:xfrm>
            <a:off x="93662" y="962184"/>
            <a:ext cx="9050338" cy="1614171"/>
          </a:xfrm>
        </p:spPr>
        <p:txBody>
          <a:bodyPr/>
          <a:lstStyle/>
          <a:p>
            <a:r>
              <a:rPr lang="en-US" altLang="en-US" sz="2000" b="1" dirty="0">
                <a:ea typeface="ＭＳ Ｐゴシック" panose="020B0600070205080204" pitchFamily="34" charset="-128"/>
              </a:rPr>
              <a:t>Set-Associative Cache</a:t>
            </a:r>
          </a:p>
          <a:p>
            <a:pPr lvl="1"/>
            <a:r>
              <a:rPr lang="en-US" altLang="en-US" sz="2000" dirty="0">
                <a:ea typeface="ＭＳ Ｐゴシック" panose="020B0600070205080204" pitchFamily="34" charset="-128"/>
              </a:rPr>
              <a:t>A block can be placed in any of </a:t>
            </a:r>
            <a:r>
              <a:rPr lang="en-US" altLang="en-US" sz="2000" dirty="0">
                <a:solidFill>
                  <a:srgbClr val="0432FF"/>
                </a:solidFill>
                <a:ea typeface="ＭＳ Ｐゴシック" panose="020B0600070205080204" pitchFamily="34" charset="-128"/>
              </a:rPr>
              <a:t>N</a:t>
            </a:r>
            <a:r>
              <a:rPr lang="en-US" altLang="en-US" sz="2000" dirty="0">
                <a:ea typeface="ＭＳ Ｐゴシック" panose="020B0600070205080204" pitchFamily="34" charset="-128"/>
              </a:rPr>
              <a:t> blocks of </a:t>
            </a:r>
            <a:r>
              <a:rPr lang="en-US" altLang="en-US" sz="2000" dirty="0">
                <a:solidFill>
                  <a:srgbClr val="0432FF"/>
                </a:solidFill>
                <a:ea typeface="ＭＳ Ｐゴシック" panose="020B0600070205080204" pitchFamily="34" charset="-128"/>
              </a:rPr>
              <a:t>N</a:t>
            </a:r>
            <a:r>
              <a:rPr lang="en-US" altLang="en-US" sz="2000" dirty="0">
                <a:ea typeface="ＭＳ Ｐゴシック" panose="020B0600070205080204" pitchFamily="34" charset="-128"/>
              </a:rPr>
              <a:t>-way set-associative cache</a:t>
            </a:r>
          </a:p>
          <a:p>
            <a:pPr lvl="1"/>
            <a:r>
              <a:rPr lang="en-US" altLang="en-US" sz="2000" dirty="0">
                <a:ea typeface="ＭＳ Ｐゴシック" panose="020B0600070205080204" pitchFamily="34" charset="-128"/>
              </a:rPr>
              <a:t>Example of 2-way cache: </a:t>
            </a:r>
          </a:p>
          <a:p>
            <a:pPr lvl="2"/>
            <a:r>
              <a:rPr lang="en-US" altLang="en-US" sz="1800" dirty="0">
                <a:ea typeface="ＭＳ Ｐゴシック" panose="020B0600070205080204" pitchFamily="34" charset="-128"/>
              </a:rPr>
              <a:t>Instead of having one column of 8, have 2 columns of 4 blocks</a:t>
            </a:r>
            <a:endParaRPr lang="en-US" altLang="en-US" sz="2200" dirty="0">
              <a:ea typeface="ＭＳ Ｐゴシック" panose="020B0600070205080204" pitchFamily="34" charset="-128"/>
            </a:endParaRPr>
          </a:p>
        </p:txBody>
      </p:sp>
      <p:sp>
        <p:nvSpPr>
          <p:cNvPr id="126978" name="Title 1">
            <a:extLst>
              <a:ext uri="{FF2B5EF4-FFF2-40B4-BE49-F238E27FC236}">
                <a16:creationId xmlns:a16="http://schemas.microsoft.com/office/drawing/2014/main" id="{219AEB2E-813E-8246-854B-1164DCE8EF21}"/>
              </a:ext>
            </a:extLst>
          </p:cNvPr>
          <p:cNvSpPr>
            <a:spLocks noGrp="1" noChangeArrowheads="1"/>
          </p:cNvSpPr>
          <p:nvPr>
            <p:ph type="title"/>
          </p:nvPr>
        </p:nvSpPr>
        <p:spPr/>
        <p:txBody>
          <a:bodyPr/>
          <a:lstStyle/>
          <a:p>
            <a:r>
              <a:rPr lang="en-US" altLang="en-US" dirty="0">
                <a:ea typeface="ＭＳ Ｐゴシック" panose="020B0600070205080204" pitchFamily="34" charset="-128"/>
              </a:rPr>
              <a:t>2-way Set-Associative Cache: Structure</a:t>
            </a:r>
          </a:p>
        </p:txBody>
      </p:sp>
      <p:sp>
        <p:nvSpPr>
          <p:cNvPr id="126979" name="Slide Number Placeholder 3">
            <a:extLst>
              <a:ext uri="{FF2B5EF4-FFF2-40B4-BE49-F238E27FC236}">
                <a16:creationId xmlns:a16="http://schemas.microsoft.com/office/drawing/2014/main" id="{4DEA535A-D5BA-884C-A283-87C0C900E15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88D00693-415E-EA49-8436-79EC48361603}" type="slidenum">
              <a:rPr lang="en-US" altLang="en-US" sz="1600" smtClean="0">
                <a:solidFill>
                  <a:srgbClr val="000000"/>
                </a:solidFill>
                <a:latin typeface="Garamond" panose="02020404030301010803" pitchFamily="18" charset="0"/>
              </a:rPr>
              <a:pPr eaLnBrk="1" hangingPunct="1">
                <a:spcBef>
                  <a:spcPct val="0"/>
                </a:spcBef>
                <a:buClrTx/>
                <a:buSzTx/>
                <a:buFontTx/>
                <a:buNone/>
              </a:pPr>
              <a:t>64</a:t>
            </a:fld>
            <a:endParaRPr lang="en-US" altLang="en-US" sz="1600">
              <a:solidFill>
                <a:srgbClr val="000000"/>
              </a:solidFill>
              <a:latin typeface="Garamond" panose="02020404030301010803" pitchFamily="18" charset="0"/>
            </a:endParaRPr>
          </a:p>
        </p:txBody>
      </p:sp>
      <p:sp>
        <p:nvSpPr>
          <p:cNvPr id="84996" name="Rectangle 5">
            <a:extLst>
              <a:ext uri="{FF2B5EF4-FFF2-40B4-BE49-F238E27FC236}">
                <a16:creationId xmlns:a16="http://schemas.microsoft.com/office/drawing/2014/main" id="{5D6FF381-9886-FE45-BC91-D90476171820}"/>
              </a:ext>
            </a:extLst>
          </p:cNvPr>
          <p:cNvSpPr>
            <a:spLocks noChangeArrowheads="1"/>
          </p:cNvSpPr>
          <p:nvPr/>
        </p:nvSpPr>
        <p:spPr bwMode="auto">
          <a:xfrm>
            <a:off x="1890713" y="3935412"/>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4997" name="Rectangle 6">
            <a:extLst>
              <a:ext uri="{FF2B5EF4-FFF2-40B4-BE49-F238E27FC236}">
                <a16:creationId xmlns:a16="http://schemas.microsoft.com/office/drawing/2014/main" id="{29A5B9EA-4946-F94F-B55D-0C5D912EAD1B}"/>
              </a:ext>
            </a:extLst>
          </p:cNvPr>
          <p:cNvSpPr>
            <a:spLocks noChangeArrowheads="1"/>
          </p:cNvSpPr>
          <p:nvPr/>
        </p:nvSpPr>
        <p:spPr bwMode="auto">
          <a:xfrm>
            <a:off x="1890713" y="4106862"/>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4998" name="Rectangle 7">
            <a:extLst>
              <a:ext uri="{FF2B5EF4-FFF2-40B4-BE49-F238E27FC236}">
                <a16:creationId xmlns:a16="http://schemas.microsoft.com/office/drawing/2014/main" id="{E22A95A7-7AB7-7546-90E1-D63DB5BA7F2E}"/>
              </a:ext>
            </a:extLst>
          </p:cNvPr>
          <p:cNvSpPr>
            <a:spLocks noChangeArrowheads="1"/>
          </p:cNvSpPr>
          <p:nvPr/>
        </p:nvSpPr>
        <p:spPr bwMode="auto">
          <a:xfrm>
            <a:off x="1890713" y="4273550"/>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4999" name="Rectangle 8">
            <a:extLst>
              <a:ext uri="{FF2B5EF4-FFF2-40B4-BE49-F238E27FC236}">
                <a16:creationId xmlns:a16="http://schemas.microsoft.com/office/drawing/2014/main" id="{1BE2B26D-D588-0140-9EA7-189A83BBE3BF}"/>
              </a:ext>
            </a:extLst>
          </p:cNvPr>
          <p:cNvSpPr>
            <a:spLocks noChangeArrowheads="1"/>
          </p:cNvSpPr>
          <p:nvPr/>
        </p:nvSpPr>
        <p:spPr bwMode="auto">
          <a:xfrm>
            <a:off x="1890713" y="4438650"/>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0" name="Rectangle 9">
            <a:extLst>
              <a:ext uri="{FF2B5EF4-FFF2-40B4-BE49-F238E27FC236}">
                <a16:creationId xmlns:a16="http://schemas.microsoft.com/office/drawing/2014/main" id="{271EE07F-B8D2-1142-904F-988E8A9B9648}"/>
              </a:ext>
            </a:extLst>
          </p:cNvPr>
          <p:cNvSpPr>
            <a:spLocks noChangeArrowheads="1"/>
          </p:cNvSpPr>
          <p:nvPr/>
        </p:nvSpPr>
        <p:spPr bwMode="auto">
          <a:xfrm>
            <a:off x="3516313" y="3940175"/>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1" name="Rectangle 10">
            <a:extLst>
              <a:ext uri="{FF2B5EF4-FFF2-40B4-BE49-F238E27FC236}">
                <a16:creationId xmlns:a16="http://schemas.microsoft.com/office/drawing/2014/main" id="{6D7A58F1-C30B-CF49-8CF0-BCD679F31AD0}"/>
              </a:ext>
            </a:extLst>
          </p:cNvPr>
          <p:cNvSpPr>
            <a:spLocks noChangeArrowheads="1"/>
          </p:cNvSpPr>
          <p:nvPr/>
        </p:nvSpPr>
        <p:spPr bwMode="auto">
          <a:xfrm>
            <a:off x="3516313" y="4106862"/>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2" name="Rectangle 11">
            <a:extLst>
              <a:ext uri="{FF2B5EF4-FFF2-40B4-BE49-F238E27FC236}">
                <a16:creationId xmlns:a16="http://schemas.microsoft.com/office/drawing/2014/main" id="{1F8A444B-1BDF-6D47-858C-1B3D69C3BA4E}"/>
              </a:ext>
            </a:extLst>
          </p:cNvPr>
          <p:cNvSpPr>
            <a:spLocks noChangeArrowheads="1"/>
          </p:cNvSpPr>
          <p:nvPr/>
        </p:nvSpPr>
        <p:spPr bwMode="auto">
          <a:xfrm>
            <a:off x="3516313" y="4273550"/>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3" name="Rectangle 12">
            <a:extLst>
              <a:ext uri="{FF2B5EF4-FFF2-40B4-BE49-F238E27FC236}">
                <a16:creationId xmlns:a16="http://schemas.microsoft.com/office/drawing/2014/main" id="{8CFCB562-7CB0-1E45-A1F0-2D37C67357C8}"/>
              </a:ext>
            </a:extLst>
          </p:cNvPr>
          <p:cNvSpPr>
            <a:spLocks noChangeArrowheads="1"/>
          </p:cNvSpPr>
          <p:nvPr/>
        </p:nvSpPr>
        <p:spPr bwMode="auto">
          <a:xfrm>
            <a:off x="3516313" y="4438650"/>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4" name="TextBox 13">
            <a:extLst>
              <a:ext uri="{FF2B5EF4-FFF2-40B4-BE49-F238E27FC236}">
                <a16:creationId xmlns:a16="http://schemas.microsoft.com/office/drawing/2014/main" id="{27510A09-5CC9-3245-9301-2EECB6913168}"/>
              </a:ext>
            </a:extLst>
          </p:cNvPr>
          <p:cNvSpPr txBox="1">
            <a:spLocks noChangeArrowheads="1"/>
          </p:cNvSpPr>
          <p:nvPr/>
        </p:nvSpPr>
        <p:spPr bwMode="auto">
          <a:xfrm>
            <a:off x="2828925" y="3402012"/>
            <a:ext cx="12062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dirty="0">
                <a:solidFill>
                  <a:srgbClr val="000000"/>
                </a:solidFill>
                <a:latin typeface="Arial" panose="020B0604020202020204" pitchFamily="34" charset="0"/>
              </a:rPr>
              <a:t>Tag store</a:t>
            </a:r>
          </a:p>
        </p:txBody>
      </p:sp>
      <p:sp>
        <p:nvSpPr>
          <p:cNvPr id="85005" name="Rectangle 15">
            <a:extLst>
              <a:ext uri="{FF2B5EF4-FFF2-40B4-BE49-F238E27FC236}">
                <a16:creationId xmlns:a16="http://schemas.microsoft.com/office/drawing/2014/main" id="{79EA98C8-E377-AB4F-828C-7F811DB1BFE4}"/>
              </a:ext>
            </a:extLst>
          </p:cNvPr>
          <p:cNvSpPr>
            <a:spLocks noChangeArrowheads="1"/>
          </p:cNvSpPr>
          <p:nvPr/>
        </p:nvSpPr>
        <p:spPr bwMode="auto">
          <a:xfrm>
            <a:off x="5691107" y="3929062"/>
            <a:ext cx="1477963"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6" name="Rectangle 16">
            <a:extLst>
              <a:ext uri="{FF2B5EF4-FFF2-40B4-BE49-F238E27FC236}">
                <a16:creationId xmlns:a16="http://schemas.microsoft.com/office/drawing/2014/main" id="{8EF1A4C4-E4BE-C244-B81F-CAA9CECDDBD2}"/>
              </a:ext>
            </a:extLst>
          </p:cNvPr>
          <p:cNvSpPr>
            <a:spLocks noChangeArrowheads="1"/>
          </p:cNvSpPr>
          <p:nvPr/>
        </p:nvSpPr>
        <p:spPr bwMode="auto">
          <a:xfrm>
            <a:off x="5691107" y="4098925"/>
            <a:ext cx="1477963"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7" name="Rectangle 17">
            <a:extLst>
              <a:ext uri="{FF2B5EF4-FFF2-40B4-BE49-F238E27FC236}">
                <a16:creationId xmlns:a16="http://schemas.microsoft.com/office/drawing/2014/main" id="{AD432375-8FF4-754B-AC3D-FC3D283AD6EC}"/>
              </a:ext>
            </a:extLst>
          </p:cNvPr>
          <p:cNvSpPr>
            <a:spLocks noChangeArrowheads="1"/>
          </p:cNvSpPr>
          <p:nvPr/>
        </p:nvSpPr>
        <p:spPr bwMode="auto">
          <a:xfrm>
            <a:off x="5691107" y="4265612"/>
            <a:ext cx="1477963"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8" name="Rectangle 18">
            <a:extLst>
              <a:ext uri="{FF2B5EF4-FFF2-40B4-BE49-F238E27FC236}">
                <a16:creationId xmlns:a16="http://schemas.microsoft.com/office/drawing/2014/main" id="{A13DA05C-D41B-4944-9E91-A904089A004B}"/>
              </a:ext>
            </a:extLst>
          </p:cNvPr>
          <p:cNvSpPr>
            <a:spLocks noChangeArrowheads="1"/>
          </p:cNvSpPr>
          <p:nvPr/>
        </p:nvSpPr>
        <p:spPr bwMode="auto">
          <a:xfrm>
            <a:off x="5691107" y="4432300"/>
            <a:ext cx="1477963"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9" name="Rectangle 19">
            <a:extLst>
              <a:ext uri="{FF2B5EF4-FFF2-40B4-BE49-F238E27FC236}">
                <a16:creationId xmlns:a16="http://schemas.microsoft.com/office/drawing/2014/main" id="{09DCC0D1-BA8A-C54E-9AB3-A836FD713018}"/>
              </a:ext>
            </a:extLst>
          </p:cNvPr>
          <p:cNvSpPr>
            <a:spLocks noChangeArrowheads="1"/>
          </p:cNvSpPr>
          <p:nvPr/>
        </p:nvSpPr>
        <p:spPr bwMode="auto">
          <a:xfrm>
            <a:off x="7397670" y="3940175"/>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0" name="Rectangle 20">
            <a:extLst>
              <a:ext uri="{FF2B5EF4-FFF2-40B4-BE49-F238E27FC236}">
                <a16:creationId xmlns:a16="http://schemas.microsoft.com/office/drawing/2014/main" id="{997F3818-FEAF-8C4B-9EF4-03AC340EB0AD}"/>
              </a:ext>
            </a:extLst>
          </p:cNvPr>
          <p:cNvSpPr>
            <a:spLocks noChangeArrowheads="1"/>
          </p:cNvSpPr>
          <p:nvPr/>
        </p:nvSpPr>
        <p:spPr bwMode="auto">
          <a:xfrm>
            <a:off x="7397670" y="4106862"/>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1" name="Rectangle 21">
            <a:extLst>
              <a:ext uri="{FF2B5EF4-FFF2-40B4-BE49-F238E27FC236}">
                <a16:creationId xmlns:a16="http://schemas.microsoft.com/office/drawing/2014/main" id="{AE060A96-06A1-B94A-A482-F5F91C44A2EF}"/>
              </a:ext>
            </a:extLst>
          </p:cNvPr>
          <p:cNvSpPr>
            <a:spLocks noChangeArrowheads="1"/>
          </p:cNvSpPr>
          <p:nvPr/>
        </p:nvSpPr>
        <p:spPr bwMode="auto">
          <a:xfrm>
            <a:off x="7397670" y="4273550"/>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2" name="Rectangle 22">
            <a:extLst>
              <a:ext uri="{FF2B5EF4-FFF2-40B4-BE49-F238E27FC236}">
                <a16:creationId xmlns:a16="http://schemas.microsoft.com/office/drawing/2014/main" id="{59138812-C99E-1845-B263-41E73B01FF2E}"/>
              </a:ext>
            </a:extLst>
          </p:cNvPr>
          <p:cNvSpPr>
            <a:spLocks noChangeArrowheads="1"/>
          </p:cNvSpPr>
          <p:nvPr/>
        </p:nvSpPr>
        <p:spPr bwMode="auto">
          <a:xfrm>
            <a:off x="7397670" y="4438650"/>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3" name="TextBox 23">
            <a:extLst>
              <a:ext uri="{FF2B5EF4-FFF2-40B4-BE49-F238E27FC236}">
                <a16:creationId xmlns:a16="http://schemas.microsoft.com/office/drawing/2014/main" id="{A77CF628-0004-6343-90A6-CD0D2CB484E3}"/>
              </a:ext>
            </a:extLst>
          </p:cNvPr>
          <p:cNvSpPr txBox="1">
            <a:spLocks noChangeArrowheads="1"/>
          </p:cNvSpPr>
          <p:nvPr/>
        </p:nvSpPr>
        <p:spPr bwMode="auto">
          <a:xfrm>
            <a:off x="6545182" y="3402012"/>
            <a:ext cx="13131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a:solidFill>
                  <a:srgbClr val="000000"/>
                </a:solidFill>
                <a:latin typeface="Arial" panose="020B0604020202020204" pitchFamily="34" charset="0"/>
              </a:rPr>
              <a:t>Data store</a:t>
            </a:r>
          </a:p>
        </p:txBody>
      </p:sp>
      <p:sp>
        <p:nvSpPr>
          <p:cNvPr id="85014" name="TextBox 24">
            <a:extLst>
              <a:ext uri="{FF2B5EF4-FFF2-40B4-BE49-F238E27FC236}">
                <a16:creationId xmlns:a16="http://schemas.microsoft.com/office/drawing/2014/main" id="{2479C164-286A-D24F-B3D4-FDC33B084285}"/>
              </a:ext>
            </a:extLst>
          </p:cNvPr>
          <p:cNvSpPr txBox="1">
            <a:spLocks noChangeArrowheads="1"/>
          </p:cNvSpPr>
          <p:nvPr/>
        </p:nvSpPr>
        <p:spPr bwMode="auto">
          <a:xfrm>
            <a:off x="3576638" y="4397375"/>
            <a:ext cx="2873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a:solidFill>
                  <a:srgbClr val="000000"/>
                </a:solidFill>
                <a:latin typeface="Arial" panose="020B0604020202020204" pitchFamily="34" charset="0"/>
              </a:rPr>
              <a:t>V</a:t>
            </a:r>
          </a:p>
        </p:txBody>
      </p:sp>
      <p:sp>
        <p:nvSpPr>
          <p:cNvPr id="85015" name="TextBox 25">
            <a:extLst>
              <a:ext uri="{FF2B5EF4-FFF2-40B4-BE49-F238E27FC236}">
                <a16:creationId xmlns:a16="http://schemas.microsoft.com/office/drawing/2014/main" id="{A8422727-0C33-4046-8099-80407CF389BA}"/>
              </a:ext>
            </a:extLst>
          </p:cNvPr>
          <p:cNvSpPr txBox="1">
            <a:spLocks noChangeArrowheads="1"/>
          </p:cNvSpPr>
          <p:nvPr/>
        </p:nvSpPr>
        <p:spPr bwMode="auto">
          <a:xfrm>
            <a:off x="4189413" y="4387850"/>
            <a:ext cx="39846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B0F0"/>
                </a:solidFill>
                <a:latin typeface="Arial" panose="020B0604020202020204" pitchFamily="34" charset="0"/>
              </a:rPr>
              <a:t>tag</a:t>
            </a:r>
          </a:p>
        </p:txBody>
      </p:sp>
      <p:sp>
        <p:nvSpPr>
          <p:cNvPr id="85016" name="Rectangle 26">
            <a:extLst>
              <a:ext uri="{FF2B5EF4-FFF2-40B4-BE49-F238E27FC236}">
                <a16:creationId xmlns:a16="http://schemas.microsoft.com/office/drawing/2014/main" id="{604B6517-FEB9-974B-89CE-2C0FE5ABDBF5}"/>
              </a:ext>
            </a:extLst>
          </p:cNvPr>
          <p:cNvSpPr>
            <a:spLocks noChangeArrowheads="1"/>
          </p:cNvSpPr>
          <p:nvPr/>
        </p:nvSpPr>
        <p:spPr bwMode="auto">
          <a:xfrm>
            <a:off x="3962400" y="5021262"/>
            <a:ext cx="625475" cy="33655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7" name="TextBox 27">
            <a:extLst>
              <a:ext uri="{FF2B5EF4-FFF2-40B4-BE49-F238E27FC236}">
                <a16:creationId xmlns:a16="http://schemas.microsoft.com/office/drawing/2014/main" id="{18F5C11D-0B32-304D-8276-C7D8ED958F01}"/>
              </a:ext>
            </a:extLst>
          </p:cNvPr>
          <p:cNvSpPr txBox="1">
            <a:spLocks noChangeArrowheads="1"/>
          </p:cNvSpPr>
          <p:nvPr/>
        </p:nvSpPr>
        <p:spPr bwMode="auto">
          <a:xfrm>
            <a:off x="4060825" y="4997450"/>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5018" name="Straight Arrow Connector 28">
            <a:extLst>
              <a:ext uri="{FF2B5EF4-FFF2-40B4-BE49-F238E27FC236}">
                <a16:creationId xmlns:a16="http://schemas.microsoft.com/office/drawing/2014/main" id="{278AD076-6C3B-9644-BF94-55BF2334589B}"/>
              </a:ext>
            </a:extLst>
          </p:cNvPr>
          <p:cNvCxnSpPr>
            <a:cxnSpLocks noChangeShapeType="1"/>
          </p:cNvCxnSpPr>
          <p:nvPr/>
        </p:nvCxnSpPr>
        <p:spPr bwMode="auto">
          <a:xfrm rot="5400000">
            <a:off x="4090987" y="4816475"/>
            <a:ext cx="417513"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19" name="Straight Arrow Connector 29">
            <a:extLst>
              <a:ext uri="{FF2B5EF4-FFF2-40B4-BE49-F238E27FC236}">
                <a16:creationId xmlns:a16="http://schemas.microsoft.com/office/drawing/2014/main" id="{7E0E6231-C6EF-0E40-9CC6-5151BD1E5996}"/>
              </a:ext>
            </a:extLst>
          </p:cNvPr>
          <p:cNvCxnSpPr>
            <a:cxnSpLocks noChangeShapeType="1"/>
          </p:cNvCxnSpPr>
          <p:nvPr/>
        </p:nvCxnSpPr>
        <p:spPr bwMode="auto">
          <a:xfrm>
            <a:off x="3719513" y="4600575"/>
            <a:ext cx="469900" cy="42545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0" name="Straight Arrow Connector 30">
            <a:extLst>
              <a:ext uri="{FF2B5EF4-FFF2-40B4-BE49-F238E27FC236}">
                <a16:creationId xmlns:a16="http://schemas.microsoft.com/office/drawing/2014/main" id="{18B16E5D-F64B-484C-835D-A6D71092374D}"/>
              </a:ext>
            </a:extLst>
          </p:cNvPr>
          <p:cNvCxnSpPr>
            <a:cxnSpLocks noChangeShapeType="1"/>
          </p:cNvCxnSpPr>
          <p:nvPr/>
        </p:nvCxnSpPr>
        <p:spPr bwMode="auto">
          <a:xfrm rot="5400000">
            <a:off x="7908051" y="4820443"/>
            <a:ext cx="4191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1" name="Straight Connector 31">
            <a:extLst>
              <a:ext uri="{FF2B5EF4-FFF2-40B4-BE49-F238E27FC236}">
                <a16:creationId xmlns:a16="http://schemas.microsoft.com/office/drawing/2014/main" id="{066D852C-EDF5-6546-BABD-DA7F0530F167}"/>
              </a:ext>
            </a:extLst>
          </p:cNvPr>
          <p:cNvCxnSpPr>
            <a:cxnSpLocks noChangeShapeType="1"/>
          </p:cNvCxnSpPr>
          <p:nvPr/>
        </p:nvCxnSpPr>
        <p:spPr bwMode="auto">
          <a:xfrm rot="5400000">
            <a:off x="3623469" y="4269581"/>
            <a:ext cx="6762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5022" name="TextBox 33">
            <a:extLst>
              <a:ext uri="{FF2B5EF4-FFF2-40B4-BE49-F238E27FC236}">
                <a16:creationId xmlns:a16="http://schemas.microsoft.com/office/drawing/2014/main" id="{B6C608DC-E1C9-BA44-9653-312E48197EDF}"/>
              </a:ext>
            </a:extLst>
          </p:cNvPr>
          <p:cNvSpPr txBox="1">
            <a:spLocks noChangeArrowheads="1"/>
          </p:cNvSpPr>
          <p:nvPr/>
        </p:nvSpPr>
        <p:spPr bwMode="auto">
          <a:xfrm>
            <a:off x="2012950" y="4395787"/>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0000"/>
                </a:solidFill>
                <a:latin typeface="Arial" panose="020B0604020202020204" pitchFamily="34" charset="0"/>
              </a:rPr>
              <a:t>V</a:t>
            </a:r>
          </a:p>
        </p:txBody>
      </p:sp>
      <p:sp>
        <p:nvSpPr>
          <p:cNvPr id="85023" name="TextBox 34">
            <a:extLst>
              <a:ext uri="{FF2B5EF4-FFF2-40B4-BE49-F238E27FC236}">
                <a16:creationId xmlns:a16="http://schemas.microsoft.com/office/drawing/2014/main" id="{1165EA1D-F4CF-A34F-915D-FCB003B28F46}"/>
              </a:ext>
            </a:extLst>
          </p:cNvPr>
          <p:cNvSpPr txBox="1">
            <a:spLocks noChangeArrowheads="1"/>
          </p:cNvSpPr>
          <p:nvPr/>
        </p:nvSpPr>
        <p:spPr bwMode="auto">
          <a:xfrm>
            <a:off x="2625725" y="4386262"/>
            <a:ext cx="39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B0F0"/>
                </a:solidFill>
                <a:latin typeface="Arial" panose="020B0604020202020204" pitchFamily="34" charset="0"/>
              </a:rPr>
              <a:t>tag</a:t>
            </a:r>
          </a:p>
        </p:txBody>
      </p:sp>
      <p:sp>
        <p:nvSpPr>
          <p:cNvPr id="85024" name="Rectangle 35">
            <a:extLst>
              <a:ext uri="{FF2B5EF4-FFF2-40B4-BE49-F238E27FC236}">
                <a16:creationId xmlns:a16="http://schemas.microsoft.com/office/drawing/2014/main" id="{CE81705B-712E-6049-BA8A-382EA2253311}"/>
              </a:ext>
            </a:extLst>
          </p:cNvPr>
          <p:cNvSpPr>
            <a:spLocks noChangeArrowheads="1"/>
          </p:cNvSpPr>
          <p:nvPr/>
        </p:nvSpPr>
        <p:spPr bwMode="auto">
          <a:xfrm>
            <a:off x="2398713" y="5018087"/>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25" name="TextBox 36">
            <a:extLst>
              <a:ext uri="{FF2B5EF4-FFF2-40B4-BE49-F238E27FC236}">
                <a16:creationId xmlns:a16="http://schemas.microsoft.com/office/drawing/2014/main" id="{B60A7A8E-0CB6-AA4B-B681-5AF18A910E15}"/>
              </a:ext>
            </a:extLst>
          </p:cNvPr>
          <p:cNvSpPr txBox="1">
            <a:spLocks noChangeArrowheads="1"/>
          </p:cNvSpPr>
          <p:nvPr/>
        </p:nvSpPr>
        <p:spPr bwMode="auto">
          <a:xfrm>
            <a:off x="2497138" y="4995862"/>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5026" name="Straight Arrow Connector 37">
            <a:extLst>
              <a:ext uri="{FF2B5EF4-FFF2-40B4-BE49-F238E27FC236}">
                <a16:creationId xmlns:a16="http://schemas.microsoft.com/office/drawing/2014/main" id="{7B211662-292B-7441-8524-5A7ED899363E}"/>
              </a:ext>
            </a:extLst>
          </p:cNvPr>
          <p:cNvCxnSpPr>
            <a:cxnSpLocks noChangeShapeType="1"/>
          </p:cNvCxnSpPr>
          <p:nvPr/>
        </p:nvCxnSpPr>
        <p:spPr bwMode="auto">
          <a:xfrm rot="5400000">
            <a:off x="2526507" y="4814093"/>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7" name="Straight Arrow Connector 38">
            <a:extLst>
              <a:ext uri="{FF2B5EF4-FFF2-40B4-BE49-F238E27FC236}">
                <a16:creationId xmlns:a16="http://schemas.microsoft.com/office/drawing/2014/main" id="{3135B825-1B06-844A-881B-EEF1A7B4989E}"/>
              </a:ext>
            </a:extLst>
          </p:cNvPr>
          <p:cNvCxnSpPr>
            <a:cxnSpLocks noChangeShapeType="1"/>
          </p:cNvCxnSpPr>
          <p:nvPr/>
        </p:nvCxnSpPr>
        <p:spPr bwMode="auto">
          <a:xfrm>
            <a:off x="2155825" y="4598987"/>
            <a:ext cx="469900" cy="42386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8" name="Straight Connector 39">
            <a:extLst>
              <a:ext uri="{FF2B5EF4-FFF2-40B4-BE49-F238E27FC236}">
                <a16:creationId xmlns:a16="http://schemas.microsoft.com/office/drawing/2014/main" id="{4A2632B6-2D27-9D4A-8674-081BD98A70F3}"/>
              </a:ext>
            </a:extLst>
          </p:cNvPr>
          <p:cNvCxnSpPr>
            <a:cxnSpLocks noChangeShapeType="1"/>
          </p:cNvCxnSpPr>
          <p:nvPr/>
        </p:nvCxnSpPr>
        <p:spPr bwMode="auto">
          <a:xfrm rot="5400000">
            <a:off x="2058987" y="4267200"/>
            <a:ext cx="677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5029" name="Rectangle 40">
            <a:extLst>
              <a:ext uri="{FF2B5EF4-FFF2-40B4-BE49-F238E27FC236}">
                <a16:creationId xmlns:a16="http://schemas.microsoft.com/office/drawing/2014/main" id="{D2E90F5C-8214-CE49-8B99-E543BD6C2446}"/>
              </a:ext>
            </a:extLst>
          </p:cNvPr>
          <p:cNvSpPr>
            <a:spLocks noChangeArrowheads="1"/>
          </p:cNvSpPr>
          <p:nvPr/>
        </p:nvSpPr>
        <p:spPr bwMode="auto">
          <a:xfrm>
            <a:off x="103677" y="3476625"/>
            <a:ext cx="1582737" cy="3333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30" name="TextBox 41">
            <a:extLst>
              <a:ext uri="{FF2B5EF4-FFF2-40B4-BE49-F238E27FC236}">
                <a16:creationId xmlns:a16="http://schemas.microsoft.com/office/drawing/2014/main" id="{307BDD33-5C91-0240-8A3F-A852823F41FC}"/>
              </a:ext>
            </a:extLst>
          </p:cNvPr>
          <p:cNvSpPr txBox="1">
            <a:spLocks noChangeArrowheads="1"/>
          </p:cNvSpPr>
          <p:nvPr/>
        </p:nvSpPr>
        <p:spPr bwMode="auto">
          <a:xfrm>
            <a:off x="76474" y="2776815"/>
            <a:ext cx="10951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Address:</a:t>
            </a:r>
          </a:p>
        </p:txBody>
      </p:sp>
      <p:cxnSp>
        <p:nvCxnSpPr>
          <p:cNvPr id="85031" name="Straight Connector 42">
            <a:extLst>
              <a:ext uri="{FF2B5EF4-FFF2-40B4-BE49-F238E27FC236}">
                <a16:creationId xmlns:a16="http://schemas.microsoft.com/office/drawing/2014/main" id="{8130CD50-EEE8-2847-B00A-556669A1EA4D}"/>
              </a:ext>
            </a:extLst>
          </p:cNvPr>
          <p:cNvCxnSpPr>
            <a:cxnSpLocks noChangeShapeType="1"/>
          </p:cNvCxnSpPr>
          <p:nvPr/>
        </p:nvCxnSpPr>
        <p:spPr bwMode="auto">
          <a:xfrm rot="5400000">
            <a:off x="979977" y="3643312"/>
            <a:ext cx="3317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5032" name="Straight Connector 43">
            <a:extLst>
              <a:ext uri="{FF2B5EF4-FFF2-40B4-BE49-F238E27FC236}">
                <a16:creationId xmlns:a16="http://schemas.microsoft.com/office/drawing/2014/main" id="{F87F1AA2-1D7B-E042-B34D-81E657324A97}"/>
              </a:ext>
            </a:extLst>
          </p:cNvPr>
          <p:cNvCxnSpPr>
            <a:cxnSpLocks noChangeShapeType="1"/>
          </p:cNvCxnSpPr>
          <p:nvPr/>
        </p:nvCxnSpPr>
        <p:spPr bwMode="auto">
          <a:xfrm rot="5400000">
            <a:off x="442608" y="3642519"/>
            <a:ext cx="3333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5033" name="TextBox 44">
            <a:extLst>
              <a:ext uri="{FF2B5EF4-FFF2-40B4-BE49-F238E27FC236}">
                <a16:creationId xmlns:a16="http://schemas.microsoft.com/office/drawing/2014/main" id="{12882D36-E795-414A-84F6-7D03D00DC343}"/>
              </a:ext>
            </a:extLst>
          </p:cNvPr>
          <p:cNvSpPr txBox="1">
            <a:spLocks noChangeArrowheads="1"/>
          </p:cNvSpPr>
          <p:nvPr/>
        </p:nvSpPr>
        <p:spPr bwMode="auto">
          <a:xfrm>
            <a:off x="130665" y="3140074"/>
            <a:ext cx="4333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B0F0"/>
                </a:solidFill>
                <a:latin typeface="Arial" panose="020B0604020202020204" pitchFamily="34" charset="0"/>
              </a:rPr>
              <a:t>tag</a:t>
            </a:r>
          </a:p>
        </p:txBody>
      </p:sp>
      <p:sp>
        <p:nvSpPr>
          <p:cNvPr id="85034" name="TextBox 45">
            <a:extLst>
              <a:ext uri="{FF2B5EF4-FFF2-40B4-BE49-F238E27FC236}">
                <a16:creationId xmlns:a16="http://schemas.microsoft.com/office/drawing/2014/main" id="{C8A8AF1F-6EA8-1342-B844-E21D05BB3F63}"/>
              </a:ext>
            </a:extLst>
          </p:cNvPr>
          <p:cNvSpPr txBox="1">
            <a:spLocks noChangeArrowheads="1"/>
          </p:cNvSpPr>
          <p:nvPr/>
        </p:nvSpPr>
        <p:spPr bwMode="auto">
          <a:xfrm>
            <a:off x="673144" y="3140172"/>
            <a:ext cx="4235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FF0000"/>
                </a:solidFill>
                <a:latin typeface="Arial" panose="020B0604020202020204" pitchFamily="34" charset="0"/>
              </a:rPr>
              <a:t>set</a:t>
            </a:r>
          </a:p>
        </p:txBody>
      </p:sp>
      <p:sp>
        <p:nvSpPr>
          <p:cNvPr id="85035" name="TextBox 46">
            <a:extLst>
              <a:ext uri="{FF2B5EF4-FFF2-40B4-BE49-F238E27FC236}">
                <a16:creationId xmlns:a16="http://schemas.microsoft.com/office/drawing/2014/main" id="{0D178425-2942-1047-B4B9-C201C44EE4AE}"/>
              </a:ext>
            </a:extLst>
          </p:cNvPr>
          <p:cNvSpPr txBox="1">
            <a:spLocks noChangeArrowheads="1"/>
          </p:cNvSpPr>
          <p:nvPr/>
        </p:nvSpPr>
        <p:spPr bwMode="auto">
          <a:xfrm>
            <a:off x="1096658" y="3152219"/>
            <a:ext cx="1179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 in block</a:t>
            </a:r>
          </a:p>
        </p:txBody>
      </p:sp>
      <p:sp>
        <p:nvSpPr>
          <p:cNvPr id="85036" name="TextBox 47">
            <a:extLst>
              <a:ext uri="{FF2B5EF4-FFF2-40B4-BE49-F238E27FC236}">
                <a16:creationId xmlns:a16="http://schemas.microsoft.com/office/drawing/2014/main" id="{9F25F9FE-1613-B540-8486-77F5A68E90EE}"/>
              </a:ext>
            </a:extLst>
          </p:cNvPr>
          <p:cNvSpPr txBox="1">
            <a:spLocks noChangeArrowheads="1"/>
          </p:cNvSpPr>
          <p:nvPr/>
        </p:nvSpPr>
        <p:spPr bwMode="auto">
          <a:xfrm>
            <a:off x="1145077" y="3476625"/>
            <a:ext cx="6111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3 bits</a:t>
            </a:r>
          </a:p>
        </p:txBody>
      </p:sp>
      <p:sp>
        <p:nvSpPr>
          <p:cNvPr id="85037" name="TextBox 48">
            <a:extLst>
              <a:ext uri="{FF2B5EF4-FFF2-40B4-BE49-F238E27FC236}">
                <a16:creationId xmlns:a16="http://schemas.microsoft.com/office/drawing/2014/main" id="{009D43BA-666C-B24A-B444-E995E0A96CE3}"/>
              </a:ext>
            </a:extLst>
          </p:cNvPr>
          <p:cNvSpPr txBox="1">
            <a:spLocks noChangeArrowheads="1"/>
          </p:cNvSpPr>
          <p:nvPr/>
        </p:nvSpPr>
        <p:spPr bwMode="auto">
          <a:xfrm>
            <a:off x="610089" y="3475037"/>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FF0000"/>
                </a:solidFill>
                <a:latin typeface="Arial" panose="020B0604020202020204" pitchFamily="34" charset="0"/>
              </a:rPr>
              <a:t>2 bits</a:t>
            </a:r>
          </a:p>
        </p:txBody>
      </p:sp>
      <p:sp>
        <p:nvSpPr>
          <p:cNvPr id="85038" name="TextBox 49">
            <a:extLst>
              <a:ext uri="{FF2B5EF4-FFF2-40B4-BE49-F238E27FC236}">
                <a16:creationId xmlns:a16="http://schemas.microsoft.com/office/drawing/2014/main" id="{18522DB8-F339-9E47-9DE7-429F6D9E37D9}"/>
              </a:ext>
            </a:extLst>
          </p:cNvPr>
          <p:cNvSpPr txBox="1">
            <a:spLocks noChangeArrowheads="1"/>
          </p:cNvSpPr>
          <p:nvPr/>
        </p:nvSpPr>
        <p:spPr bwMode="auto">
          <a:xfrm>
            <a:off x="33827" y="3490078"/>
            <a:ext cx="61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B0F0"/>
                </a:solidFill>
                <a:latin typeface="Arial" panose="020B0604020202020204" pitchFamily="34" charset="0"/>
              </a:rPr>
              <a:t>3 bits</a:t>
            </a:r>
          </a:p>
        </p:txBody>
      </p:sp>
      <p:sp>
        <p:nvSpPr>
          <p:cNvPr id="85039" name="Rectangle 50">
            <a:extLst>
              <a:ext uri="{FF2B5EF4-FFF2-40B4-BE49-F238E27FC236}">
                <a16:creationId xmlns:a16="http://schemas.microsoft.com/office/drawing/2014/main" id="{039C8259-A1EA-664E-819B-38804C7AB338}"/>
              </a:ext>
            </a:extLst>
          </p:cNvPr>
          <p:cNvSpPr>
            <a:spLocks noChangeArrowheads="1"/>
          </p:cNvSpPr>
          <p:nvPr/>
        </p:nvSpPr>
        <p:spPr bwMode="auto">
          <a:xfrm>
            <a:off x="3748088" y="5710237"/>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40" name="TextBox 51">
            <a:extLst>
              <a:ext uri="{FF2B5EF4-FFF2-40B4-BE49-F238E27FC236}">
                <a16:creationId xmlns:a16="http://schemas.microsoft.com/office/drawing/2014/main" id="{E740C579-04C4-EF43-93E3-BB68ADC2781D}"/>
              </a:ext>
            </a:extLst>
          </p:cNvPr>
          <p:cNvSpPr txBox="1">
            <a:spLocks noChangeArrowheads="1"/>
          </p:cNvSpPr>
          <p:nvPr/>
        </p:nvSpPr>
        <p:spPr bwMode="auto">
          <a:xfrm>
            <a:off x="3759200" y="5710237"/>
            <a:ext cx="6731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600">
                <a:solidFill>
                  <a:srgbClr val="000000"/>
                </a:solidFill>
                <a:latin typeface="Arial" panose="020B0604020202020204" pitchFamily="34" charset="0"/>
              </a:rPr>
              <a:t>Logic</a:t>
            </a:r>
          </a:p>
        </p:txBody>
      </p:sp>
      <p:cxnSp>
        <p:nvCxnSpPr>
          <p:cNvPr id="85041" name="Straight Arrow Connector 53">
            <a:extLst>
              <a:ext uri="{FF2B5EF4-FFF2-40B4-BE49-F238E27FC236}">
                <a16:creationId xmlns:a16="http://schemas.microsoft.com/office/drawing/2014/main" id="{9B1CF68C-C999-D84F-A398-AA829A9BB8F4}"/>
              </a:ext>
            </a:extLst>
          </p:cNvPr>
          <p:cNvCxnSpPr>
            <a:cxnSpLocks noChangeShapeType="1"/>
            <a:endCxn id="85040" idx="1"/>
          </p:cNvCxnSpPr>
          <p:nvPr/>
        </p:nvCxnSpPr>
        <p:spPr bwMode="auto">
          <a:xfrm>
            <a:off x="3024188" y="5356225"/>
            <a:ext cx="735012" cy="5238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42" name="Straight Arrow Connector 55">
            <a:extLst>
              <a:ext uri="{FF2B5EF4-FFF2-40B4-BE49-F238E27FC236}">
                <a16:creationId xmlns:a16="http://schemas.microsoft.com/office/drawing/2014/main" id="{1D390405-7984-3E45-9106-343E0E6D7451}"/>
              </a:ext>
            </a:extLst>
          </p:cNvPr>
          <p:cNvCxnSpPr>
            <a:cxnSpLocks noChangeShapeType="1"/>
            <a:endCxn id="85040" idx="0"/>
          </p:cNvCxnSpPr>
          <p:nvPr/>
        </p:nvCxnSpPr>
        <p:spPr bwMode="auto">
          <a:xfrm rot="10800000" flipV="1">
            <a:off x="4095750" y="5356225"/>
            <a:ext cx="441325" cy="35401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43" name="Straight Arrow Connector 59">
            <a:extLst>
              <a:ext uri="{FF2B5EF4-FFF2-40B4-BE49-F238E27FC236}">
                <a16:creationId xmlns:a16="http://schemas.microsoft.com/office/drawing/2014/main" id="{8708A10A-422E-8D47-A251-30E7F2119E97}"/>
              </a:ext>
            </a:extLst>
          </p:cNvPr>
          <p:cNvCxnSpPr>
            <a:cxnSpLocks noChangeShapeType="1"/>
          </p:cNvCxnSpPr>
          <p:nvPr/>
        </p:nvCxnSpPr>
        <p:spPr bwMode="auto">
          <a:xfrm rot="5400000">
            <a:off x="6334839" y="4810918"/>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44" name="Freeform 48">
            <a:extLst>
              <a:ext uri="{FF2B5EF4-FFF2-40B4-BE49-F238E27FC236}">
                <a16:creationId xmlns:a16="http://schemas.microsoft.com/office/drawing/2014/main" id="{46E0AF9E-60FD-784D-9DAE-EEB4A6380DB5}"/>
              </a:ext>
            </a:extLst>
          </p:cNvPr>
          <p:cNvSpPr>
            <a:spLocks/>
          </p:cNvSpPr>
          <p:nvPr/>
        </p:nvSpPr>
        <p:spPr bwMode="auto">
          <a:xfrm>
            <a:off x="6270545" y="5030787"/>
            <a:ext cx="2127250"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045" name="Text Box 61">
            <a:extLst>
              <a:ext uri="{FF2B5EF4-FFF2-40B4-BE49-F238E27FC236}">
                <a16:creationId xmlns:a16="http://schemas.microsoft.com/office/drawing/2014/main" id="{CABC6F26-6BE0-884C-AE52-F9F2D513E1C4}"/>
              </a:ext>
            </a:extLst>
          </p:cNvPr>
          <p:cNvSpPr txBox="1">
            <a:spLocks noChangeArrowheads="1"/>
          </p:cNvSpPr>
          <p:nvPr/>
        </p:nvSpPr>
        <p:spPr bwMode="auto">
          <a:xfrm>
            <a:off x="7048420" y="5029200"/>
            <a:ext cx="698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5046" name="Straight Arrow Connector 63">
            <a:extLst>
              <a:ext uri="{FF2B5EF4-FFF2-40B4-BE49-F238E27FC236}">
                <a16:creationId xmlns:a16="http://schemas.microsoft.com/office/drawing/2014/main" id="{25608095-94F8-2D49-B29D-DBEF0D15CF0F}"/>
              </a:ext>
            </a:extLst>
          </p:cNvPr>
          <p:cNvCxnSpPr>
            <a:cxnSpLocks noChangeShapeType="1"/>
            <a:stCxn id="85040" idx="3"/>
          </p:cNvCxnSpPr>
          <p:nvPr/>
        </p:nvCxnSpPr>
        <p:spPr bwMode="auto">
          <a:xfrm flipV="1">
            <a:off x="4432300" y="5239544"/>
            <a:ext cx="2190577" cy="63976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47" name="Straight Arrow Connector 66">
            <a:extLst>
              <a:ext uri="{FF2B5EF4-FFF2-40B4-BE49-F238E27FC236}">
                <a16:creationId xmlns:a16="http://schemas.microsoft.com/office/drawing/2014/main" id="{EA7568F4-4367-3D4E-B56B-BBE3C6291E64}"/>
              </a:ext>
            </a:extLst>
          </p:cNvPr>
          <p:cNvCxnSpPr>
            <a:cxnSpLocks noChangeShapeType="1"/>
          </p:cNvCxnSpPr>
          <p:nvPr/>
        </p:nvCxnSpPr>
        <p:spPr bwMode="auto">
          <a:xfrm rot="5400000">
            <a:off x="7180976" y="5566568"/>
            <a:ext cx="4191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48" name="Freeform 48">
            <a:extLst>
              <a:ext uri="{FF2B5EF4-FFF2-40B4-BE49-F238E27FC236}">
                <a16:creationId xmlns:a16="http://schemas.microsoft.com/office/drawing/2014/main" id="{1BB83BA3-7AA2-A845-9FD8-FBEC2C6F1282}"/>
              </a:ext>
            </a:extLst>
          </p:cNvPr>
          <p:cNvSpPr>
            <a:spLocks/>
          </p:cNvSpPr>
          <p:nvPr/>
        </p:nvSpPr>
        <p:spPr bwMode="auto">
          <a:xfrm>
            <a:off x="6499145" y="5810250"/>
            <a:ext cx="1797050"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049" name="Text Box 61">
            <a:extLst>
              <a:ext uri="{FF2B5EF4-FFF2-40B4-BE49-F238E27FC236}">
                <a16:creationId xmlns:a16="http://schemas.microsoft.com/office/drawing/2014/main" id="{B6FC53CD-7A2E-584C-BE2B-FBE7FD8A7031}"/>
              </a:ext>
            </a:extLst>
          </p:cNvPr>
          <p:cNvSpPr txBox="1">
            <a:spLocks noChangeArrowheads="1"/>
          </p:cNvSpPr>
          <p:nvPr/>
        </p:nvSpPr>
        <p:spPr bwMode="auto">
          <a:xfrm>
            <a:off x="7046832" y="5784850"/>
            <a:ext cx="696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5050" name="Straight Arrow Connector 69">
            <a:extLst>
              <a:ext uri="{FF2B5EF4-FFF2-40B4-BE49-F238E27FC236}">
                <a16:creationId xmlns:a16="http://schemas.microsoft.com/office/drawing/2014/main" id="{66DE0E4D-5603-9E4A-8633-0EB75716D197}"/>
              </a:ext>
            </a:extLst>
          </p:cNvPr>
          <p:cNvCxnSpPr>
            <a:cxnSpLocks noChangeShapeType="1"/>
          </p:cNvCxnSpPr>
          <p:nvPr/>
        </p:nvCxnSpPr>
        <p:spPr bwMode="auto">
          <a:xfrm rot="10800000">
            <a:off x="8048544" y="6004136"/>
            <a:ext cx="523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51" name="TextBox 70">
            <a:extLst>
              <a:ext uri="{FF2B5EF4-FFF2-40B4-BE49-F238E27FC236}">
                <a16:creationId xmlns:a16="http://schemas.microsoft.com/office/drawing/2014/main" id="{D44A445D-EF21-184D-8C4D-6F931E56ECEC}"/>
              </a:ext>
            </a:extLst>
          </p:cNvPr>
          <p:cNvSpPr txBox="1">
            <a:spLocks noChangeArrowheads="1"/>
          </p:cNvSpPr>
          <p:nvPr/>
        </p:nvSpPr>
        <p:spPr bwMode="auto">
          <a:xfrm>
            <a:off x="7937499" y="6036469"/>
            <a:ext cx="1179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 in block</a:t>
            </a:r>
          </a:p>
        </p:txBody>
      </p:sp>
      <p:cxnSp>
        <p:nvCxnSpPr>
          <p:cNvPr id="85052" name="Straight Arrow Connector 71">
            <a:extLst>
              <a:ext uri="{FF2B5EF4-FFF2-40B4-BE49-F238E27FC236}">
                <a16:creationId xmlns:a16="http://schemas.microsoft.com/office/drawing/2014/main" id="{771D147E-ED51-C44E-A728-6DA9756A3192}"/>
              </a:ext>
            </a:extLst>
          </p:cNvPr>
          <p:cNvCxnSpPr>
            <a:cxnSpLocks noChangeShapeType="1"/>
          </p:cNvCxnSpPr>
          <p:nvPr/>
        </p:nvCxnSpPr>
        <p:spPr bwMode="auto">
          <a:xfrm rot="5400000">
            <a:off x="7180183" y="6338887"/>
            <a:ext cx="417512"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74" name="Rounded Rectangle 73">
            <a:extLst>
              <a:ext uri="{FF2B5EF4-FFF2-40B4-BE49-F238E27FC236}">
                <a16:creationId xmlns:a16="http://schemas.microsoft.com/office/drawing/2014/main" id="{D150D42C-C2F0-104D-800F-584B70F5135C}"/>
              </a:ext>
            </a:extLst>
          </p:cNvPr>
          <p:cNvSpPr>
            <a:spLocks noChangeArrowheads="1"/>
          </p:cNvSpPr>
          <p:nvPr/>
        </p:nvSpPr>
        <p:spPr bwMode="auto">
          <a:xfrm>
            <a:off x="1754188" y="3929062"/>
            <a:ext cx="3351212" cy="177800"/>
          </a:xfrm>
          <a:prstGeom prst="roundRect">
            <a:avLst>
              <a:gd name="adj" fmla="val 16667"/>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75" name="TextBox 74">
            <a:extLst>
              <a:ext uri="{FF2B5EF4-FFF2-40B4-BE49-F238E27FC236}">
                <a16:creationId xmlns:a16="http://schemas.microsoft.com/office/drawing/2014/main" id="{B4A6951E-8B08-8A4A-B476-A671264A843B}"/>
              </a:ext>
            </a:extLst>
          </p:cNvPr>
          <p:cNvSpPr txBox="1">
            <a:spLocks noChangeArrowheads="1"/>
          </p:cNvSpPr>
          <p:nvPr/>
        </p:nvSpPr>
        <p:spPr bwMode="auto">
          <a:xfrm>
            <a:off x="4551097" y="3503096"/>
            <a:ext cx="13131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FF0000"/>
                </a:solidFill>
                <a:latin typeface="Arial" panose="020B0604020202020204" pitchFamily="34" charset="0"/>
              </a:rPr>
              <a:t>2-way SET</a:t>
            </a:r>
          </a:p>
        </p:txBody>
      </p:sp>
      <p:sp>
        <p:nvSpPr>
          <p:cNvPr id="76" name="Rounded Rectangle 75">
            <a:extLst>
              <a:ext uri="{FF2B5EF4-FFF2-40B4-BE49-F238E27FC236}">
                <a16:creationId xmlns:a16="http://schemas.microsoft.com/office/drawing/2014/main" id="{987C9F78-D138-4A4F-A035-C8B5DDCFA0B4}"/>
              </a:ext>
            </a:extLst>
          </p:cNvPr>
          <p:cNvSpPr>
            <a:spLocks noChangeArrowheads="1"/>
          </p:cNvSpPr>
          <p:nvPr/>
        </p:nvSpPr>
        <p:spPr bwMode="auto">
          <a:xfrm>
            <a:off x="5606970" y="3929062"/>
            <a:ext cx="3351212" cy="177800"/>
          </a:xfrm>
          <a:prstGeom prst="roundRect">
            <a:avLst>
              <a:gd name="adj" fmla="val 16667"/>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cxnSp>
        <p:nvCxnSpPr>
          <p:cNvPr id="85057" name="Straight Arrow Connector 68">
            <a:extLst>
              <a:ext uri="{FF2B5EF4-FFF2-40B4-BE49-F238E27FC236}">
                <a16:creationId xmlns:a16="http://schemas.microsoft.com/office/drawing/2014/main" id="{82913830-95FF-A34B-AAD7-99433396EA77}"/>
              </a:ext>
            </a:extLst>
          </p:cNvPr>
          <p:cNvCxnSpPr>
            <a:cxnSpLocks noChangeShapeType="1"/>
          </p:cNvCxnSpPr>
          <p:nvPr/>
        </p:nvCxnSpPr>
        <p:spPr bwMode="auto">
          <a:xfrm rot="16200000" flipH="1">
            <a:off x="3929063" y="6180137"/>
            <a:ext cx="265112"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58" name="TextBox 69">
            <a:extLst>
              <a:ext uri="{FF2B5EF4-FFF2-40B4-BE49-F238E27FC236}">
                <a16:creationId xmlns:a16="http://schemas.microsoft.com/office/drawing/2014/main" id="{4B035E75-C530-734D-98FA-234833394A0F}"/>
              </a:ext>
            </a:extLst>
          </p:cNvPr>
          <p:cNvSpPr txBox="1">
            <a:spLocks noChangeArrowheads="1"/>
          </p:cNvSpPr>
          <p:nvPr/>
        </p:nvSpPr>
        <p:spPr bwMode="auto">
          <a:xfrm>
            <a:off x="4179888" y="6183312"/>
            <a:ext cx="593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a:t>
            </a:r>
          </a:p>
        </p:txBody>
      </p:sp>
      <p:cxnSp>
        <p:nvCxnSpPr>
          <p:cNvPr id="69" name="Straight Connector 86">
            <a:extLst>
              <a:ext uri="{FF2B5EF4-FFF2-40B4-BE49-F238E27FC236}">
                <a16:creationId xmlns:a16="http://schemas.microsoft.com/office/drawing/2014/main" id="{66408C17-449F-4A8F-BD69-435DD8F52007}"/>
              </a:ext>
            </a:extLst>
          </p:cNvPr>
          <p:cNvCxnSpPr>
            <a:cxnSpLocks noChangeShapeType="1"/>
            <a:stCxn id="85029" idx="2"/>
          </p:cNvCxnSpPr>
          <p:nvPr/>
        </p:nvCxnSpPr>
        <p:spPr bwMode="auto">
          <a:xfrm>
            <a:off x="895046" y="3810000"/>
            <a:ext cx="0" cy="215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0" name="Straight Arrow Connector 88">
            <a:extLst>
              <a:ext uri="{FF2B5EF4-FFF2-40B4-BE49-F238E27FC236}">
                <a16:creationId xmlns:a16="http://schemas.microsoft.com/office/drawing/2014/main" id="{2912B3B3-4748-458A-94E5-48AE7A3168C1}"/>
              </a:ext>
            </a:extLst>
          </p:cNvPr>
          <p:cNvCxnSpPr>
            <a:cxnSpLocks noChangeShapeType="1"/>
          </p:cNvCxnSpPr>
          <p:nvPr/>
        </p:nvCxnSpPr>
        <p:spPr bwMode="auto">
          <a:xfrm>
            <a:off x="895045" y="4021137"/>
            <a:ext cx="992494" cy="905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2" name="Straight Connector 86">
            <a:extLst>
              <a:ext uri="{FF2B5EF4-FFF2-40B4-BE49-F238E27FC236}">
                <a16:creationId xmlns:a16="http://schemas.microsoft.com/office/drawing/2014/main" id="{32D7E74C-DB81-40AD-8662-089FEAD0199E}"/>
              </a:ext>
            </a:extLst>
          </p:cNvPr>
          <p:cNvCxnSpPr>
            <a:cxnSpLocks noChangeShapeType="1"/>
          </p:cNvCxnSpPr>
          <p:nvPr/>
        </p:nvCxnSpPr>
        <p:spPr bwMode="auto">
          <a:xfrm>
            <a:off x="341010" y="3838575"/>
            <a:ext cx="5861" cy="13525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3" name="Straight Arrow Connector 88">
            <a:extLst>
              <a:ext uri="{FF2B5EF4-FFF2-40B4-BE49-F238E27FC236}">
                <a16:creationId xmlns:a16="http://schemas.microsoft.com/office/drawing/2014/main" id="{951B7077-F597-4703-A4DD-78A598ADA268}"/>
              </a:ext>
            </a:extLst>
          </p:cNvPr>
          <p:cNvCxnSpPr>
            <a:cxnSpLocks noChangeShapeType="1"/>
          </p:cNvCxnSpPr>
          <p:nvPr/>
        </p:nvCxnSpPr>
        <p:spPr bwMode="auto">
          <a:xfrm>
            <a:off x="340161" y="5195887"/>
            <a:ext cx="2059425" cy="11114"/>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994">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50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50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50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50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50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50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50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50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0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50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50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503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499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499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499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499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500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500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500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500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501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01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50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502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502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50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5"/>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500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500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500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500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500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501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501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501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6"/>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501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501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501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8501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8502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502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85026"/>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85027"/>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8503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85040"/>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85041"/>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85042"/>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8505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5058"/>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0"/>
                                          </p:stCondLst>
                                        </p:cTn>
                                        <p:tgtEl>
                                          <p:spTgt spid="85046"/>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0"/>
                                          </p:stCondLst>
                                        </p:cTn>
                                        <p:tgtEl>
                                          <p:spTgt spid="85020"/>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85043"/>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504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85045"/>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ntr" presetSubtype="0" fill="hold" nodeType="clickEffect">
                                  <p:stCondLst>
                                    <p:cond delay="0"/>
                                  </p:stCondLst>
                                  <p:childTnLst>
                                    <p:set>
                                      <p:cBhvr>
                                        <p:cTn id="140" dur="1" fill="hold">
                                          <p:stCondLst>
                                            <p:cond delay="0"/>
                                          </p:stCondLst>
                                        </p:cTn>
                                        <p:tgtEl>
                                          <p:spTgt spid="85047"/>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85048"/>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504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8505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5051"/>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85052"/>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70"/>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animBg="1"/>
      <p:bldP spid="84997" grpId="0" animBg="1"/>
      <p:bldP spid="84998" grpId="0" animBg="1"/>
      <p:bldP spid="84999" grpId="0" animBg="1"/>
      <p:bldP spid="85000" grpId="0" animBg="1"/>
      <p:bldP spid="85001" grpId="0" animBg="1"/>
      <p:bldP spid="85002" grpId="0" animBg="1"/>
      <p:bldP spid="85003" grpId="0" animBg="1"/>
      <p:bldP spid="85004" grpId="0"/>
      <p:bldP spid="85005" grpId="0" animBg="1"/>
      <p:bldP spid="85006" grpId="0" animBg="1"/>
      <p:bldP spid="85007" grpId="0" animBg="1"/>
      <p:bldP spid="85008" grpId="0" animBg="1"/>
      <p:bldP spid="85009" grpId="0" animBg="1"/>
      <p:bldP spid="85010" grpId="0" animBg="1"/>
      <p:bldP spid="85011" grpId="0" animBg="1"/>
      <p:bldP spid="85012" grpId="0" animBg="1"/>
      <p:bldP spid="85013" grpId="0"/>
      <p:bldP spid="85014" grpId="0"/>
      <p:bldP spid="85015" grpId="0"/>
      <p:bldP spid="85016" grpId="0" animBg="1"/>
      <p:bldP spid="85017" grpId="0"/>
      <p:bldP spid="85022" grpId="0"/>
      <p:bldP spid="85023" grpId="0"/>
      <p:bldP spid="85024" grpId="0" animBg="1"/>
      <p:bldP spid="85025" grpId="0"/>
      <p:bldP spid="85029" grpId="0" animBg="1"/>
      <p:bldP spid="85030" grpId="0"/>
      <p:bldP spid="85033" grpId="0"/>
      <p:bldP spid="85034" grpId="0"/>
      <p:bldP spid="85035" grpId="0"/>
      <p:bldP spid="85036" grpId="0"/>
      <p:bldP spid="85037" grpId="0"/>
      <p:bldP spid="85038" grpId="0"/>
      <p:bldP spid="85039" grpId="0" animBg="1"/>
      <p:bldP spid="85040" grpId="0"/>
      <p:bldP spid="85045" grpId="0"/>
      <p:bldP spid="85049" grpId="0"/>
      <p:bldP spid="85051" grpId="0"/>
      <p:bldP spid="74" grpId="0" animBg="1"/>
      <p:bldP spid="75" grpId="0"/>
      <p:bldP spid="76" grpId="0" animBg="1"/>
      <p:bldP spid="8505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itle 1">
            <a:extLst>
              <a:ext uri="{FF2B5EF4-FFF2-40B4-BE49-F238E27FC236}">
                <a16:creationId xmlns:a16="http://schemas.microsoft.com/office/drawing/2014/main" id="{5E50C75C-6B85-5F49-9E58-66505AAA7636}"/>
              </a:ext>
            </a:extLst>
          </p:cNvPr>
          <p:cNvSpPr>
            <a:spLocks noGrp="1" noChangeArrowheads="1"/>
          </p:cNvSpPr>
          <p:nvPr>
            <p:ph type="title"/>
          </p:nvPr>
        </p:nvSpPr>
        <p:spPr/>
        <p:txBody>
          <a:bodyPr/>
          <a:lstStyle/>
          <a:p>
            <a:r>
              <a:rPr lang="en-US" altLang="en-US" dirty="0">
                <a:ea typeface="ＭＳ Ｐゴシック" panose="020B0600070205080204" pitchFamily="34" charset="-128"/>
              </a:rPr>
              <a:t>4-way Set Associativity</a:t>
            </a:r>
          </a:p>
        </p:txBody>
      </p:sp>
      <p:sp>
        <p:nvSpPr>
          <p:cNvPr id="86018" name="Content Placeholder 2">
            <a:extLst>
              <a:ext uri="{FF2B5EF4-FFF2-40B4-BE49-F238E27FC236}">
                <a16:creationId xmlns:a16="http://schemas.microsoft.com/office/drawing/2014/main" id="{45F1AF05-BC26-F049-8F83-76E089A13753}"/>
              </a:ext>
            </a:extLst>
          </p:cNvPr>
          <p:cNvSpPr>
            <a:spLocks noGrp="1" noChangeArrowheads="1"/>
          </p:cNvSpPr>
          <p:nvPr>
            <p:ph idx="1"/>
          </p:nvPr>
        </p:nvSpPr>
        <p:spPr>
          <a:xfrm>
            <a:off x="0" y="854075"/>
            <a:ext cx="8610600" cy="5194300"/>
          </a:xfrm>
        </p:spPr>
        <p:txBody>
          <a:bodyPr/>
          <a:lstStyle/>
          <a:p>
            <a:r>
              <a:rPr lang="en-US" altLang="en-US" b="1" dirty="0">
                <a:ea typeface="ＭＳ Ｐゴシック" panose="020B0600070205080204" pitchFamily="34" charset="-128"/>
              </a:rPr>
              <a:t>4-way</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sz="1200" dirty="0">
              <a:ea typeface="ＭＳ Ｐゴシック" panose="020B0600070205080204" pitchFamily="34" charset="-128"/>
            </a:endParaRPr>
          </a:p>
          <a:p>
            <a:pPr lvl="1">
              <a:buFont typeface="Wingdings" pitchFamily="2" charset="2"/>
              <a:buNone/>
            </a:pPr>
            <a:r>
              <a:rPr lang="en-US" altLang="en-US" dirty="0">
                <a:ea typeface="ＭＳ Ｐゴシック" panose="020B0600070205080204" pitchFamily="34" charset="-128"/>
              </a:rPr>
              <a:t>+ Likelihood of conflict misses even lower</a:t>
            </a:r>
          </a:p>
          <a:p>
            <a:pPr lvl="1">
              <a:buFont typeface="Wingdings" pitchFamily="2" charset="2"/>
              <a:buNone/>
            </a:pPr>
            <a:r>
              <a:rPr lang="en-US" altLang="en-US" dirty="0">
                <a:ea typeface="ＭＳ Ｐゴシック" panose="020B0600070205080204" pitchFamily="34" charset="-128"/>
              </a:rPr>
              <a:t>-- More tag comparators and wider data mux; larger tags</a:t>
            </a:r>
          </a:p>
          <a:p>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128003" name="Slide Number Placeholder 3">
            <a:extLst>
              <a:ext uri="{FF2B5EF4-FFF2-40B4-BE49-F238E27FC236}">
                <a16:creationId xmlns:a16="http://schemas.microsoft.com/office/drawing/2014/main" id="{8F4889F9-D188-C74F-A57C-95E64BC4455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AB25D0BA-FDD3-1C49-88C6-5C5F7CABAFDC}" type="slidenum">
              <a:rPr lang="en-US" altLang="en-US" sz="1600" smtClean="0">
                <a:solidFill>
                  <a:srgbClr val="000000"/>
                </a:solidFill>
                <a:latin typeface="Garamond" panose="02020404030301010803" pitchFamily="18" charset="0"/>
              </a:rPr>
              <a:pPr eaLnBrk="1" hangingPunct="1">
                <a:spcBef>
                  <a:spcPct val="0"/>
                </a:spcBef>
                <a:buClrTx/>
                <a:buSzTx/>
                <a:buFontTx/>
                <a:buNone/>
              </a:pPr>
              <a:t>65</a:t>
            </a:fld>
            <a:endParaRPr lang="en-US" altLang="en-US" sz="1600">
              <a:solidFill>
                <a:srgbClr val="000000"/>
              </a:solidFill>
              <a:latin typeface="Garamond" panose="02020404030301010803" pitchFamily="18" charset="0"/>
            </a:endParaRPr>
          </a:p>
        </p:txBody>
      </p:sp>
      <p:sp>
        <p:nvSpPr>
          <p:cNvPr id="86020" name="Rectangle 4">
            <a:extLst>
              <a:ext uri="{FF2B5EF4-FFF2-40B4-BE49-F238E27FC236}">
                <a16:creationId xmlns:a16="http://schemas.microsoft.com/office/drawing/2014/main" id="{BF929627-5D73-6241-BEF5-F206AE3E85D4}"/>
              </a:ext>
            </a:extLst>
          </p:cNvPr>
          <p:cNvSpPr>
            <a:spLocks noChangeArrowheads="1"/>
          </p:cNvSpPr>
          <p:nvPr/>
        </p:nvSpPr>
        <p:spPr bwMode="auto">
          <a:xfrm>
            <a:off x="815975" y="1611313"/>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1" name="Rectangle 5">
            <a:extLst>
              <a:ext uri="{FF2B5EF4-FFF2-40B4-BE49-F238E27FC236}">
                <a16:creationId xmlns:a16="http://schemas.microsoft.com/office/drawing/2014/main" id="{823AD59D-B414-2743-9ED2-C99D502BAE11}"/>
              </a:ext>
            </a:extLst>
          </p:cNvPr>
          <p:cNvSpPr>
            <a:spLocks noChangeArrowheads="1"/>
          </p:cNvSpPr>
          <p:nvPr/>
        </p:nvSpPr>
        <p:spPr bwMode="auto">
          <a:xfrm>
            <a:off x="815975" y="1781175"/>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2" name="Rectangle 6">
            <a:extLst>
              <a:ext uri="{FF2B5EF4-FFF2-40B4-BE49-F238E27FC236}">
                <a16:creationId xmlns:a16="http://schemas.microsoft.com/office/drawing/2014/main" id="{9E326FE9-A4A0-4A46-A7D5-BCDD3CD38024}"/>
              </a:ext>
            </a:extLst>
          </p:cNvPr>
          <p:cNvSpPr>
            <a:spLocks noChangeArrowheads="1"/>
          </p:cNvSpPr>
          <p:nvPr/>
        </p:nvSpPr>
        <p:spPr bwMode="auto">
          <a:xfrm>
            <a:off x="2446337" y="1606550"/>
            <a:ext cx="1477963"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3" name="Rectangle 7">
            <a:extLst>
              <a:ext uri="{FF2B5EF4-FFF2-40B4-BE49-F238E27FC236}">
                <a16:creationId xmlns:a16="http://schemas.microsoft.com/office/drawing/2014/main" id="{E0562F75-538E-9A41-B5AD-63625EBCBDC2}"/>
              </a:ext>
            </a:extLst>
          </p:cNvPr>
          <p:cNvSpPr>
            <a:spLocks noChangeArrowheads="1"/>
          </p:cNvSpPr>
          <p:nvPr/>
        </p:nvSpPr>
        <p:spPr bwMode="auto">
          <a:xfrm>
            <a:off x="2446337" y="1776413"/>
            <a:ext cx="1477963"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4" name="Rectangle 8">
            <a:extLst>
              <a:ext uri="{FF2B5EF4-FFF2-40B4-BE49-F238E27FC236}">
                <a16:creationId xmlns:a16="http://schemas.microsoft.com/office/drawing/2014/main" id="{E6EC613D-3AD2-9D47-99E8-AEE0A8D291A4}"/>
              </a:ext>
            </a:extLst>
          </p:cNvPr>
          <p:cNvSpPr>
            <a:spLocks noChangeArrowheads="1"/>
          </p:cNvSpPr>
          <p:nvPr/>
        </p:nvSpPr>
        <p:spPr bwMode="auto">
          <a:xfrm>
            <a:off x="4076700" y="1592263"/>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5" name="Rectangle 9">
            <a:extLst>
              <a:ext uri="{FF2B5EF4-FFF2-40B4-BE49-F238E27FC236}">
                <a16:creationId xmlns:a16="http://schemas.microsoft.com/office/drawing/2014/main" id="{119BED37-708E-7142-B9A5-139F7E569BF2}"/>
              </a:ext>
            </a:extLst>
          </p:cNvPr>
          <p:cNvSpPr>
            <a:spLocks noChangeArrowheads="1"/>
          </p:cNvSpPr>
          <p:nvPr/>
        </p:nvSpPr>
        <p:spPr bwMode="auto">
          <a:xfrm>
            <a:off x="4076700" y="1763713"/>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6" name="Rectangle 10">
            <a:extLst>
              <a:ext uri="{FF2B5EF4-FFF2-40B4-BE49-F238E27FC236}">
                <a16:creationId xmlns:a16="http://schemas.microsoft.com/office/drawing/2014/main" id="{02B6AE4B-76A5-1B46-BBF2-E2166912404A}"/>
              </a:ext>
            </a:extLst>
          </p:cNvPr>
          <p:cNvSpPr>
            <a:spLocks noChangeArrowheads="1"/>
          </p:cNvSpPr>
          <p:nvPr/>
        </p:nvSpPr>
        <p:spPr bwMode="auto">
          <a:xfrm>
            <a:off x="5707062" y="1573213"/>
            <a:ext cx="1476375"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7" name="Rectangle 11">
            <a:extLst>
              <a:ext uri="{FF2B5EF4-FFF2-40B4-BE49-F238E27FC236}">
                <a16:creationId xmlns:a16="http://schemas.microsoft.com/office/drawing/2014/main" id="{01AC007B-FFA9-A942-8361-FAD8ECD89578}"/>
              </a:ext>
            </a:extLst>
          </p:cNvPr>
          <p:cNvSpPr>
            <a:spLocks noChangeArrowheads="1"/>
          </p:cNvSpPr>
          <p:nvPr/>
        </p:nvSpPr>
        <p:spPr bwMode="auto">
          <a:xfrm>
            <a:off x="5707062" y="1744663"/>
            <a:ext cx="1476375"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28" name="TextBox 12">
            <a:extLst>
              <a:ext uri="{FF2B5EF4-FFF2-40B4-BE49-F238E27FC236}">
                <a16:creationId xmlns:a16="http://schemas.microsoft.com/office/drawing/2014/main" id="{EC25D0F5-9B69-844A-903D-20EFB5CAF7FE}"/>
              </a:ext>
            </a:extLst>
          </p:cNvPr>
          <p:cNvSpPr txBox="1">
            <a:spLocks noChangeArrowheads="1"/>
          </p:cNvSpPr>
          <p:nvPr/>
        </p:nvSpPr>
        <p:spPr bwMode="auto">
          <a:xfrm>
            <a:off x="3357562" y="1117600"/>
            <a:ext cx="12062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dirty="0">
                <a:solidFill>
                  <a:srgbClr val="000000"/>
                </a:solidFill>
                <a:latin typeface="Arial" panose="020B0604020202020204" pitchFamily="34" charset="0"/>
              </a:rPr>
              <a:t>Tag store</a:t>
            </a:r>
          </a:p>
        </p:txBody>
      </p:sp>
      <p:sp>
        <p:nvSpPr>
          <p:cNvPr id="86029" name="Rectangle 13">
            <a:extLst>
              <a:ext uri="{FF2B5EF4-FFF2-40B4-BE49-F238E27FC236}">
                <a16:creationId xmlns:a16="http://schemas.microsoft.com/office/drawing/2014/main" id="{6249C2F0-BEE4-D849-95FA-A34EE23CA9AC}"/>
              </a:ext>
            </a:extLst>
          </p:cNvPr>
          <p:cNvSpPr>
            <a:spLocks noChangeArrowheads="1"/>
          </p:cNvSpPr>
          <p:nvPr/>
        </p:nvSpPr>
        <p:spPr bwMode="auto">
          <a:xfrm>
            <a:off x="815975" y="3879850"/>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0" name="Rectangle 14">
            <a:extLst>
              <a:ext uri="{FF2B5EF4-FFF2-40B4-BE49-F238E27FC236}">
                <a16:creationId xmlns:a16="http://schemas.microsoft.com/office/drawing/2014/main" id="{446E7221-B030-C04B-9B7E-2777382F09EA}"/>
              </a:ext>
            </a:extLst>
          </p:cNvPr>
          <p:cNvSpPr>
            <a:spLocks noChangeArrowheads="1"/>
          </p:cNvSpPr>
          <p:nvPr/>
        </p:nvSpPr>
        <p:spPr bwMode="auto">
          <a:xfrm>
            <a:off x="815975" y="4049713"/>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1" name="Rectangle 15">
            <a:extLst>
              <a:ext uri="{FF2B5EF4-FFF2-40B4-BE49-F238E27FC236}">
                <a16:creationId xmlns:a16="http://schemas.microsoft.com/office/drawing/2014/main" id="{F647AEAA-8C9C-1F47-BF90-DEBC3F58D260}"/>
              </a:ext>
            </a:extLst>
          </p:cNvPr>
          <p:cNvSpPr>
            <a:spLocks noChangeArrowheads="1"/>
          </p:cNvSpPr>
          <p:nvPr/>
        </p:nvSpPr>
        <p:spPr bwMode="auto">
          <a:xfrm>
            <a:off x="2446337" y="3875088"/>
            <a:ext cx="1477963"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2" name="Rectangle 16">
            <a:extLst>
              <a:ext uri="{FF2B5EF4-FFF2-40B4-BE49-F238E27FC236}">
                <a16:creationId xmlns:a16="http://schemas.microsoft.com/office/drawing/2014/main" id="{F0EB88A5-BC65-6744-A39A-60C73F711AF7}"/>
              </a:ext>
            </a:extLst>
          </p:cNvPr>
          <p:cNvSpPr>
            <a:spLocks noChangeArrowheads="1"/>
          </p:cNvSpPr>
          <p:nvPr/>
        </p:nvSpPr>
        <p:spPr bwMode="auto">
          <a:xfrm>
            <a:off x="2446337" y="4044950"/>
            <a:ext cx="1477963"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3" name="Rectangle 17">
            <a:extLst>
              <a:ext uri="{FF2B5EF4-FFF2-40B4-BE49-F238E27FC236}">
                <a16:creationId xmlns:a16="http://schemas.microsoft.com/office/drawing/2014/main" id="{F04D6D03-7984-A041-BCC8-11A2C1E69538}"/>
              </a:ext>
            </a:extLst>
          </p:cNvPr>
          <p:cNvSpPr>
            <a:spLocks noChangeArrowheads="1"/>
          </p:cNvSpPr>
          <p:nvPr/>
        </p:nvSpPr>
        <p:spPr bwMode="auto">
          <a:xfrm>
            <a:off x="4076700" y="3860800"/>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4" name="Rectangle 18">
            <a:extLst>
              <a:ext uri="{FF2B5EF4-FFF2-40B4-BE49-F238E27FC236}">
                <a16:creationId xmlns:a16="http://schemas.microsoft.com/office/drawing/2014/main" id="{03BD24CB-6DDD-9340-A618-EC726BB69BD4}"/>
              </a:ext>
            </a:extLst>
          </p:cNvPr>
          <p:cNvSpPr>
            <a:spLocks noChangeArrowheads="1"/>
          </p:cNvSpPr>
          <p:nvPr/>
        </p:nvSpPr>
        <p:spPr bwMode="auto">
          <a:xfrm>
            <a:off x="4076700" y="4032250"/>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5" name="Rectangle 19">
            <a:extLst>
              <a:ext uri="{FF2B5EF4-FFF2-40B4-BE49-F238E27FC236}">
                <a16:creationId xmlns:a16="http://schemas.microsoft.com/office/drawing/2014/main" id="{BB785A49-2D9A-F946-8C56-9622D1346907}"/>
              </a:ext>
            </a:extLst>
          </p:cNvPr>
          <p:cNvSpPr>
            <a:spLocks noChangeArrowheads="1"/>
          </p:cNvSpPr>
          <p:nvPr/>
        </p:nvSpPr>
        <p:spPr bwMode="auto">
          <a:xfrm>
            <a:off x="5707062" y="3841750"/>
            <a:ext cx="1476375"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6" name="Rectangle 20">
            <a:extLst>
              <a:ext uri="{FF2B5EF4-FFF2-40B4-BE49-F238E27FC236}">
                <a16:creationId xmlns:a16="http://schemas.microsoft.com/office/drawing/2014/main" id="{C6CA2A08-A7CC-5041-A965-4CED899C333D}"/>
              </a:ext>
            </a:extLst>
          </p:cNvPr>
          <p:cNvSpPr>
            <a:spLocks noChangeArrowheads="1"/>
          </p:cNvSpPr>
          <p:nvPr/>
        </p:nvSpPr>
        <p:spPr bwMode="auto">
          <a:xfrm>
            <a:off x="5707062" y="4013200"/>
            <a:ext cx="1476375"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7" name="TextBox 21">
            <a:extLst>
              <a:ext uri="{FF2B5EF4-FFF2-40B4-BE49-F238E27FC236}">
                <a16:creationId xmlns:a16="http://schemas.microsoft.com/office/drawing/2014/main" id="{877189A9-1BF1-DA40-A7FC-DD40A991064E}"/>
              </a:ext>
            </a:extLst>
          </p:cNvPr>
          <p:cNvSpPr txBox="1">
            <a:spLocks noChangeArrowheads="1"/>
          </p:cNvSpPr>
          <p:nvPr/>
        </p:nvSpPr>
        <p:spPr bwMode="auto">
          <a:xfrm>
            <a:off x="3357562" y="3387725"/>
            <a:ext cx="13131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dirty="0">
                <a:solidFill>
                  <a:srgbClr val="000000"/>
                </a:solidFill>
                <a:latin typeface="Arial" panose="020B0604020202020204" pitchFamily="34" charset="0"/>
              </a:rPr>
              <a:t>Data store</a:t>
            </a:r>
          </a:p>
        </p:txBody>
      </p:sp>
      <p:sp>
        <p:nvSpPr>
          <p:cNvPr id="86038" name="Rectangle 26">
            <a:extLst>
              <a:ext uri="{FF2B5EF4-FFF2-40B4-BE49-F238E27FC236}">
                <a16:creationId xmlns:a16="http://schemas.microsoft.com/office/drawing/2014/main" id="{FBE07903-0DE8-6C4A-AC64-2788AC5BFC3F}"/>
              </a:ext>
            </a:extLst>
          </p:cNvPr>
          <p:cNvSpPr>
            <a:spLocks noChangeArrowheads="1"/>
          </p:cNvSpPr>
          <p:nvPr/>
        </p:nvSpPr>
        <p:spPr bwMode="auto">
          <a:xfrm>
            <a:off x="2887662" y="2225675"/>
            <a:ext cx="625475" cy="33655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39" name="TextBox 27">
            <a:extLst>
              <a:ext uri="{FF2B5EF4-FFF2-40B4-BE49-F238E27FC236}">
                <a16:creationId xmlns:a16="http://schemas.microsoft.com/office/drawing/2014/main" id="{F05064CD-CA59-084A-B904-274E5EA2CE8E}"/>
              </a:ext>
            </a:extLst>
          </p:cNvPr>
          <p:cNvSpPr txBox="1">
            <a:spLocks noChangeArrowheads="1"/>
          </p:cNvSpPr>
          <p:nvPr/>
        </p:nvSpPr>
        <p:spPr bwMode="auto">
          <a:xfrm>
            <a:off x="2986087" y="2201863"/>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dirty="0">
                <a:solidFill>
                  <a:srgbClr val="000000"/>
                </a:solidFill>
                <a:latin typeface="Arial" panose="020B0604020202020204" pitchFamily="34" charset="0"/>
              </a:rPr>
              <a:t>=?</a:t>
            </a:r>
          </a:p>
        </p:txBody>
      </p:sp>
      <p:sp>
        <p:nvSpPr>
          <p:cNvPr id="86040" name="Rectangle 35">
            <a:extLst>
              <a:ext uri="{FF2B5EF4-FFF2-40B4-BE49-F238E27FC236}">
                <a16:creationId xmlns:a16="http://schemas.microsoft.com/office/drawing/2014/main" id="{02219BF7-2EF0-4647-8214-FE1F64778C28}"/>
              </a:ext>
            </a:extLst>
          </p:cNvPr>
          <p:cNvSpPr>
            <a:spLocks noChangeArrowheads="1"/>
          </p:cNvSpPr>
          <p:nvPr/>
        </p:nvSpPr>
        <p:spPr bwMode="auto">
          <a:xfrm>
            <a:off x="1323975" y="222250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41" name="TextBox 36">
            <a:extLst>
              <a:ext uri="{FF2B5EF4-FFF2-40B4-BE49-F238E27FC236}">
                <a16:creationId xmlns:a16="http://schemas.microsoft.com/office/drawing/2014/main" id="{0FF7BEAB-624A-694F-9863-AF1817F77C41}"/>
              </a:ext>
            </a:extLst>
          </p:cNvPr>
          <p:cNvSpPr txBox="1">
            <a:spLocks noChangeArrowheads="1"/>
          </p:cNvSpPr>
          <p:nvPr/>
        </p:nvSpPr>
        <p:spPr bwMode="auto">
          <a:xfrm>
            <a:off x="1422400" y="2200275"/>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sp>
        <p:nvSpPr>
          <p:cNvPr id="86042" name="Rectangle 26">
            <a:extLst>
              <a:ext uri="{FF2B5EF4-FFF2-40B4-BE49-F238E27FC236}">
                <a16:creationId xmlns:a16="http://schemas.microsoft.com/office/drawing/2014/main" id="{09A11B95-B46F-6A49-B6FA-64E9305D36AC}"/>
              </a:ext>
            </a:extLst>
          </p:cNvPr>
          <p:cNvSpPr>
            <a:spLocks noChangeArrowheads="1"/>
          </p:cNvSpPr>
          <p:nvPr/>
        </p:nvSpPr>
        <p:spPr bwMode="auto">
          <a:xfrm>
            <a:off x="6169025" y="2219325"/>
            <a:ext cx="625475" cy="33655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43" name="TextBox 27">
            <a:extLst>
              <a:ext uri="{FF2B5EF4-FFF2-40B4-BE49-F238E27FC236}">
                <a16:creationId xmlns:a16="http://schemas.microsoft.com/office/drawing/2014/main" id="{A55188B9-19A7-F646-A972-188318B9C42A}"/>
              </a:ext>
            </a:extLst>
          </p:cNvPr>
          <p:cNvSpPr txBox="1">
            <a:spLocks noChangeArrowheads="1"/>
          </p:cNvSpPr>
          <p:nvPr/>
        </p:nvSpPr>
        <p:spPr bwMode="auto">
          <a:xfrm>
            <a:off x="6267450" y="2195513"/>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sp>
        <p:nvSpPr>
          <p:cNvPr id="86044" name="Rectangle 35">
            <a:extLst>
              <a:ext uri="{FF2B5EF4-FFF2-40B4-BE49-F238E27FC236}">
                <a16:creationId xmlns:a16="http://schemas.microsoft.com/office/drawing/2014/main" id="{A1B67EAA-D1D1-1E42-851A-A321A80A6F9E}"/>
              </a:ext>
            </a:extLst>
          </p:cNvPr>
          <p:cNvSpPr>
            <a:spLocks noChangeArrowheads="1"/>
          </p:cNvSpPr>
          <p:nvPr/>
        </p:nvSpPr>
        <p:spPr bwMode="auto">
          <a:xfrm>
            <a:off x="4605337" y="221615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6045" name="TextBox 36">
            <a:extLst>
              <a:ext uri="{FF2B5EF4-FFF2-40B4-BE49-F238E27FC236}">
                <a16:creationId xmlns:a16="http://schemas.microsoft.com/office/drawing/2014/main" id="{BF42DC02-09D7-EB49-B5B7-062229A533A1}"/>
              </a:ext>
            </a:extLst>
          </p:cNvPr>
          <p:cNvSpPr txBox="1">
            <a:spLocks noChangeArrowheads="1"/>
          </p:cNvSpPr>
          <p:nvPr/>
        </p:nvSpPr>
        <p:spPr bwMode="auto">
          <a:xfrm>
            <a:off x="4703762" y="2193925"/>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6046" name="Straight Arrow Connector 37">
            <a:extLst>
              <a:ext uri="{FF2B5EF4-FFF2-40B4-BE49-F238E27FC236}">
                <a16:creationId xmlns:a16="http://schemas.microsoft.com/office/drawing/2014/main" id="{3C3223A6-40EE-3449-BBF1-FEDAA1E733BF}"/>
              </a:ext>
            </a:extLst>
          </p:cNvPr>
          <p:cNvCxnSpPr>
            <a:cxnSpLocks noChangeShapeType="1"/>
          </p:cNvCxnSpPr>
          <p:nvPr/>
        </p:nvCxnSpPr>
        <p:spPr bwMode="auto">
          <a:xfrm rot="5400000">
            <a:off x="1526381" y="2091532"/>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47" name="Freeform 48">
            <a:extLst>
              <a:ext uri="{FF2B5EF4-FFF2-40B4-BE49-F238E27FC236}">
                <a16:creationId xmlns:a16="http://schemas.microsoft.com/office/drawing/2014/main" id="{FAF31CBB-B784-FA43-BBE0-EC492BA48C9B}"/>
              </a:ext>
            </a:extLst>
          </p:cNvPr>
          <p:cNvSpPr>
            <a:spLocks/>
          </p:cNvSpPr>
          <p:nvPr/>
        </p:nvSpPr>
        <p:spPr bwMode="auto">
          <a:xfrm>
            <a:off x="815975" y="4492625"/>
            <a:ext cx="6367462"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048" name="Text Box 61">
            <a:extLst>
              <a:ext uri="{FF2B5EF4-FFF2-40B4-BE49-F238E27FC236}">
                <a16:creationId xmlns:a16="http://schemas.microsoft.com/office/drawing/2014/main" id="{944091AF-85E5-6A4E-8ECF-B2501AD16B84}"/>
              </a:ext>
            </a:extLst>
          </p:cNvPr>
          <p:cNvSpPr txBox="1">
            <a:spLocks noChangeArrowheads="1"/>
          </p:cNvSpPr>
          <p:nvPr/>
        </p:nvSpPr>
        <p:spPr bwMode="auto">
          <a:xfrm>
            <a:off x="3721100" y="4471988"/>
            <a:ext cx="711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6049" name="Straight Arrow Connector 59">
            <a:extLst>
              <a:ext uri="{FF2B5EF4-FFF2-40B4-BE49-F238E27FC236}">
                <a16:creationId xmlns:a16="http://schemas.microsoft.com/office/drawing/2014/main" id="{B39DB58B-684B-804B-BC6E-25DE37F7346B}"/>
              </a:ext>
            </a:extLst>
          </p:cNvPr>
          <p:cNvCxnSpPr>
            <a:cxnSpLocks noChangeShapeType="1"/>
          </p:cNvCxnSpPr>
          <p:nvPr/>
        </p:nvCxnSpPr>
        <p:spPr bwMode="auto">
          <a:xfrm rot="16200000" flipH="1">
            <a:off x="1513681" y="4344194"/>
            <a:ext cx="2952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0" name="Straight Arrow Connector 59">
            <a:extLst>
              <a:ext uri="{FF2B5EF4-FFF2-40B4-BE49-F238E27FC236}">
                <a16:creationId xmlns:a16="http://schemas.microsoft.com/office/drawing/2014/main" id="{7C09D677-05B0-B24E-8F90-19CAA46D4773}"/>
              </a:ext>
            </a:extLst>
          </p:cNvPr>
          <p:cNvCxnSpPr>
            <a:cxnSpLocks noChangeShapeType="1"/>
          </p:cNvCxnSpPr>
          <p:nvPr/>
        </p:nvCxnSpPr>
        <p:spPr bwMode="auto">
          <a:xfrm rot="16200000" flipH="1">
            <a:off x="2958306" y="4363244"/>
            <a:ext cx="2952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1" name="Straight Arrow Connector 59">
            <a:extLst>
              <a:ext uri="{FF2B5EF4-FFF2-40B4-BE49-F238E27FC236}">
                <a16:creationId xmlns:a16="http://schemas.microsoft.com/office/drawing/2014/main" id="{CE5E404C-01F5-4F4A-8F45-2A5A479B2E48}"/>
              </a:ext>
            </a:extLst>
          </p:cNvPr>
          <p:cNvCxnSpPr>
            <a:cxnSpLocks noChangeShapeType="1"/>
          </p:cNvCxnSpPr>
          <p:nvPr/>
        </p:nvCxnSpPr>
        <p:spPr bwMode="auto">
          <a:xfrm rot="16200000" flipH="1">
            <a:off x="4747418" y="4344194"/>
            <a:ext cx="2952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2" name="Straight Arrow Connector 59">
            <a:extLst>
              <a:ext uri="{FF2B5EF4-FFF2-40B4-BE49-F238E27FC236}">
                <a16:creationId xmlns:a16="http://schemas.microsoft.com/office/drawing/2014/main" id="{A662706D-9AD3-A740-BBB9-9602921FDDA7}"/>
              </a:ext>
            </a:extLst>
          </p:cNvPr>
          <p:cNvCxnSpPr>
            <a:cxnSpLocks noChangeShapeType="1"/>
          </p:cNvCxnSpPr>
          <p:nvPr/>
        </p:nvCxnSpPr>
        <p:spPr bwMode="auto">
          <a:xfrm rot="16200000" flipH="1">
            <a:off x="6311106" y="4344194"/>
            <a:ext cx="2952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3" name="Straight Arrow Connector 37">
            <a:extLst>
              <a:ext uri="{FF2B5EF4-FFF2-40B4-BE49-F238E27FC236}">
                <a16:creationId xmlns:a16="http://schemas.microsoft.com/office/drawing/2014/main" id="{909E787F-9345-CD48-AC59-034BDC2F9E49}"/>
              </a:ext>
            </a:extLst>
          </p:cNvPr>
          <p:cNvCxnSpPr>
            <a:cxnSpLocks noChangeShapeType="1"/>
          </p:cNvCxnSpPr>
          <p:nvPr/>
        </p:nvCxnSpPr>
        <p:spPr bwMode="auto">
          <a:xfrm rot="5400000">
            <a:off x="3093243" y="2082007"/>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4" name="Straight Arrow Connector 37">
            <a:extLst>
              <a:ext uri="{FF2B5EF4-FFF2-40B4-BE49-F238E27FC236}">
                <a16:creationId xmlns:a16="http://schemas.microsoft.com/office/drawing/2014/main" id="{71911B22-5064-E548-B01C-76A87EB5FFD0}"/>
              </a:ext>
            </a:extLst>
          </p:cNvPr>
          <p:cNvCxnSpPr>
            <a:cxnSpLocks noChangeShapeType="1"/>
          </p:cNvCxnSpPr>
          <p:nvPr/>
        </p:nvCxnSpPr>
        <p:spPr bwMode="auto">
          <a:xfrm rot="5400000">
            <a:off x="4761706" y="2062957"/>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5" name="Straight Arrow Connector 37">
            <a:extLst>
              <a:ext uri="{FF2B5EF4-FFF2-40B4-BE49-F238E27FC236}">
                <a16:creationId xmlns:a16="http://schemas.microsoft.com/office/drawing/2014/main" id="{06E4FC85-5F59-4441-AAED-9200C4D69995}"/>
              </a:ext>
            </a:extLst>
          </p:cNvPr>
          <p:cNvCxnSpPr>
            <a:cxnSpLocks noChangeShapeType="1"/>
          </p:cNvCxnSpPr>
          <p:nvPr/>
        </p:nvCxnSpPr>
        <p:spPr bwMode="auto">
          <a:xfrm rot="5400000">
            <a:off x="6326981" y="2062957"/>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56" name="Straight Arrow Connector 66">
            <a:extLst>
              <a:ext uri="{FF2B5EF4-FFF2-40B4-BE49-F238E27FC236}">
                <a16:creationId xmlns:a16="http://schemas.microsoft.com/office/drawing/2014/main" id="{A02B4FF5-3E79-7A4B-99FE-31B87559972C}"/>
              </a:ext>
            </a:extLst>
          </p:cNvPr>
          <p:cNvCxnSpPr>
            <a:cxnSpLocks noChangeShapeType="1"/>
          </p:cNvCxnSpPr>
          <p:nvPr/>
        </p:nvCxnSpPr>
        <p:spPr bwMode="auto">
          <a:xfrm rot="5400000">
            <a:off x="3988594" y="4906169"/>
            <a:ext cx="18415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57" name="Freeform 48">
            <a:extLst>
              <a:ext uri="{FF2B5EF4-FFF2-40B4-BE49-F238E27FC236}">
                <a16:creationId xmlns:a16="http://schemas.microsoft.com/office/drawing/2014/main" id="{13C87D41-325C-F942-A4B6-8E75BC458A03}"/>
              </a:ext>
            </a:extLst>
          </p:cNvPr>
          <p:cNvSpPr>
            <a:spLocks/>
          </p:cNvSpPr>
          <p:nvPr/>
        </p:nvSpPr>
        <p:spPr bwMode="auto">
          <a:xfrm>
            <a:off x="3187700" y="4997450"/>
            <a:ext cx="1797050"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058" name="Text Box 61">
            <a:extLst>
              <a:ext uri="{FF2B5EF4-FFF2-40B4-BE49-F238E27FC236}">
                <a16:creationId xmlns:a16="http://schemas.microsoft.com/office/drawing/2014/main" id="{D125F4E2-0B31-B144-A532-86A864790767}"/>
              </a:ext>
            </a:extLst>
          </p:cNvPr>
          <p:cNvSpPr txBox="1">
            <a:spLocks noChangeArrowheads="1"/>
          </p:cNvSpPr>
          <p:nvPr/>
        </p:nvSpPr>
        <p:spPr bwMode="auto">
          <a:xfrm>
            <a:off x="3735387" y="4972050"/>
            <a:ext cx="696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6059" name="Straight Arrow Connector 69">
            <a:extLst>
              <a:ext uri="{FF2B5EF4-FFF2-40B4-BE49-F238E27FC236}">
                <a16:creationId xmlns:a16="http://schemas.microsoft.com/office/drawing/2014/main" id="{F441283D-B4D4-E241-A4EA-0F1CC422BA42}"/>
              </a:ext>
            </a:extLst>
          </p:cNvPr>
          <p:cNvCxnSpPr>
            <a:cxnSpLocks noChangeShapeType="1"/>
          </p:cNvCxnSpPr>
          <p:nvPr/>
        </p:nvCxnSpPr>
        <p:spPr bwMode="auto">
          <a:xfrm rot="10800000">
            <a:off x="4756150" y="5157788"/>
            <a:ext cx="523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60" name="TextBox 70">
            <a:extLst>
              <a:ext uri="{FF2B5EF4-FFF2-40B4-BE49-F238E27FC236}">
                <a16:creationId xmlns:a16="http://schemas.microsoft.com/office/drawing/2014/main" id="{7F04E4B7-7B04-E444-8694-6350726E1147}"/>
              </a:ext>
            </a:extLst>
          </p:cNvPr>
          <p:cNvSpPr txBox="1">
            <a:spLocks noChangeArrowheads="1"/>
          </p:cNvSpPr>
          <p:nvPr/>
        </p:nvSpPr>
        <p:spPr bwMode="auto">
          <a:xfrm>
            <a:off x="4922837" y="4849813"/>
            <a:ext cx="1179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byte in block</a:t>
            </a:r>
          </a:p>
        </p:txBody>
      </p:sp>
      <p:cxnSp>
        <p:nvCxnSpPr>
          <p:cNvPr id="86061" name="Straight Arrow Connector 71">
            <a:extLst>
              <a:ext uri="{FF2B5EF4-FFF2-40B4-BE49-F238E27FC236}">
                <a16:creationId xmlns:a16="http://schemas.microsoft.com/office/drawing/2014/main" id="{00F2E131-0F8C-5443-B9A0-3EC66546882E}"/>
              </a:ext>
            </a:extLst>
          </p:cNvPr>
          <p:cNvCxnSpPr>
            <a:cxnSpLocks noChangeShapeType="1"/>
          </p:cNvCxnSpPr>
          <p:nvPr/>
        </p:nvCxnSpPr>
        <p:spPr bwMode="auto">
          <a:xfrm rot="16200000" flipH="1">
            <a:off x="3995737" y="5400675"/>
            <a:ext cx="168275" cy="3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62" name="TextBox 51">
            <a:extLst>
              <a:ext uri="{FF2B5EF4-FFF2-40B4-BE49-F238E27FC236}">
                <a16:creationId xmlns:a16="http://schemas.microsoft.com/office/drawing/2014/main" id="{F264FF01-3CBD-A94D-AD61-85BE904306E8}"/>
              </a:ext>
            </a:extLst>
          </p:cNvPr>
          <p:cNvSpPr txBox="1">
            <a:spLocks noChangeArrowheads="1"/>
          </p:cNvSpPr>
          <p:nvPr/>
        </p:nvSpPr>
        <p:spPr bwMode="auto">
          <a:xfrm>
            <a:off x="3587750" y="2811463"/>
            <a:ext cx="673100" cy="338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600">
                <a:solidFill>
                  <a:srgbClr val="000000"/>
                </a:solidFill>
                <a:latin typeface="Arial" panose="020B0604020202020204" pitchFamily="34" charset="0"/>
              </a:rPr>
              <a:t>Logic</a:t>
            </a:r>
          </a:p>
        </p:txBody>
      </p:sp>
      <p:cxnSp>
        <p:nvCxnSpPr>
          <p:cNvPr id="86063" name="Straight Arrow Connector 76">
            <a:extLst>
              <a:ext uri="{FF2B5EF4-FFF2-40B4-BE49-F238E27FC236}">
                <a16:creationId xmlns:a16="http://schemas.microsoft.com/office/drawing/2014/main" id="{47669E84-1E96-7C4D-947B-23411796D65F}"/>
              </a:ext>
            </a:extLst>
          </p:cNvPr>
          <p:cNvCxnSpPr>
            <a:cxnSpLocks noChangeShapeType="1"/>
          </p:cNvCxnSpPr>
          <p:nvPr/>
        </p:nvCxnSpPr>
        <p:spPr bwMode="auto">
          <a:xfrm>
            <a:off x="1949450" y="2554288"/>
            <a:ext cx="1638300" cy="257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64" name="Straight Arrow Connector 78">
            <a:extLst>
              <a:ext uri="{FF2B5EF4-FFF2-40B4-BE49-F238E27FC236}">
                <a16:creationId xmlns:a16="http://schemas.microsoft.com/office/drawing/2014/main" id="{CBEDF805-DB70-C44C-BBE2-6E31B0AA05A1}"/>
              </a:ext>
            </a:extLst>
          </p:cNvPr>
          <p:cNvCxnSpPr>
            <a:cxnSpLocks noChangeShapeType="1"/>
          </p:cNvCxnSpPr>
          <p:nvPr/>
        </p:nvCxnSpPr>
        <p:spPr bwMode="auto">
          <a:xfrm rot="16200000" flipH="1">
            <a:off x="3495674" y="2571751"/>
            <a:ext cx="257175" cy="22225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65" name="Straight Arrow Connector 80">
            <a:extLst>
              <a:ext uri="{FF2B5EF4-FFF2-40B4-BE49-F238E27FC236}">
                <a16:creationId xmlns:a16="http://schemas.microsoft.com/office/drawing/2014/main" id="{226E1061-19F8-7348-ACCF-B657090AB26B}"/>
              </a:ext>
            </a:extLst>
          </p:cNvPr>
          <p:cNvCxnSpPr>
            <a:cxnSpLocks noChangeShapeType="1"/>
          </p:cNvCxnSpPr>
          <p:nvPr/>
        </p:nvCxnSpPr>
        <p:spPr bwMode="auto">
          <a:xfrm rot="10800000" flipV="1">
            <a:off x="4076700" y="2554288"/>
            <a:ext cx="528637" cy="257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66" name="Straight Arrow Connector 82">
            <a:extLst>
              <a:ext uri="{FF2B5EF4-FFF2-40B4-BE49-F238E27FC236}">
                <a16:creationId xmlns:a16="http://schemas.microsoft.com/office/drawing/2014/main" id="{3146ADA8-7E91-944D-A8CE-2A53399F8FE1}"/>
              </a:ext>
            </a:extLst>
          </p:cNvPr>
          <p:cNvCxnSpPr>
            <a:cxnSpLocks noChangeShapeType="1"/>
          </p:cNvCxnSpPr>
          <p:nvPr/>
        </p:nvCxnSpPr>
        <p:spPr bwMode="auto">
          <a:xfrm rot="10800000" flipV="1">
            <a:off x="4260850" y="2560638"/>
            <a:ext cx="1908175" cy="2508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067" name="Straight Arrow Connector 84">
            <a:extLst>
              <a:ext uri="{FF2B5EF4-FFF2-40B4-BE49-F238E27FC236}">
                <a16:creationId xmlns:a16="http://schemas.microsoft.com/office/drawing/2014/main" id="{2E9EE9F4-2C82-1849-A9D6-3E73ED1D5055}"/>
              </a:ext>
            </a:extLst>
          </p:cNvPr>
          <p:cNvCxnSpPr>
            <a:cxnSpLocks noChangeShapeType="1"/>
            <a:stCxn id="86062" idx="3"/>
          </p:cNvCxnSpPr>
          <p:nvPr/>
        </p:nvCxnSpPr>
        <p:spPr bwMode="auto">
          <a:xfrm>
            <a:off x="4260850" y="2981325"/>
            <a:ext cx="495300" cy="1111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68" name="TextBox 86">
            <a:extLst>
              <a:ext uri="{FF2B5EF4-FFF2-40B4-BE49-F238E27FC236}">
                <a16:creationId xmlns:a16="http://schemas.microsoft.com/office/drawing/2014/main" id="{7CC4351B-6C0A-AF41-999D-C41FD81931E7}"/>
              </a:ext>
            </a:extLst>
          </p:cNvPr>
          <p:cNvSpPr txBox="1">
            <a:spLocks noChangeArrowheads="1"/>
          </p:cNvSpPr>
          <p:nvPr/>
        </p:nvSpPr>
        <p:spPr bwMode="auto">
          <a:xfrm>
            <a:off x="4756150" y="2808288"/>
            <a:ext cx="595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a:t>
            </a:r>
          </a:p>
        </p:txBody>
      </p:sp>
      <p:cxnSp>
        <p:nvCxnSpPr>
          <p:cNvPr id="86069" name="Straight Connector 91">
            <a:extLst>
              <a:ext uri="{FF2B5EF4-FFF2-40B4-BE49-F238E27FC236}">
                <a16:creationId xmlns:a16="http://schemas.microsoft.com/office/drawing/2014/main" id="{A25A0056-6C1E-4542-B3C9-044898CA53F8}"/>
              </a:ext>
            </a:extLst>
          </p:cNvPr>
          <p:cNvCxnSpPr>
            <a:cxnSpLocks noChangeShapeType="1"/>
            <a:stCxn id="86062" idx="1"/>
          </p:cNvCxnSpPr>
          <p:nvPr/>
        </p:nvCxnSpPr>
        <p:spPr bwMode="auto">
          <a:xfrm rot="10800000" flipV="1">
            <a:off x="382587" y="2981325"/>
            <a:ext cx="3205163"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6070" name="Straight Connector 93">
            <a:extLst>
              <a:ext uri="{FF2B5EF4-FFF2-40B4-BE49-F238E27FC236}">
                <a16:creationId xmlns:a16="http://schemas.microsoft.com/office/drawing/2014/main" id="{64B07391-91BF-A34E-88A1-A6D8AB9B05C9}"/>
              </a:ext>
            </a:extLst>
          </p:cNvPr>
          <p:cNvCxnSpPr>
            <a:cxnSpLocks noChangeShapeType="1"/>
          </p:cNvCxnSpPr>
          <p:nvPr/>
        </p:nvCxnSpPr>
        <p:spPr bwMode="auto">
          <a:xfrm rot="5400000">
            <a:off x="-422275" y="4192588"/>
            <a:ext cx="160972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6071" name="Straight Arrow Connector 95">
            <a:extLst>
              <a:ext uri="{FF2B5EF4-FFF2-40B4-BE49-F238E27FC236}">
                <a16:creationId xmlns:a16="http://schemas.microsoft.com/office/drawing/2014/main" id="{0294A7FD-377F-CB48-A010-51E189666562}"/>
              </a:ext>
            </a:extLst>
          </p:cNvPr>
          <p:cNvCxnSpPr>
            <a:cxnSpLocks noChangeShapeType="1"/>
          </p:cNvCxnSpPr>
          <p:nvPr/>
        </p:nvCxnSpPr>
        <p:spPr bwMode="auto">
          <a:xfrm flipV="1">
            <a:off x="382587" y="4646613"/>
            <a:ext cx="1163638" cy="3524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57" name="Rectangle 40">
            <a:extLst>
              <a:ext uri="{FF2B5EF4-FFF2-40B4-BE49-F238E27FC236}">
                <a16:creationId xmlns:a16="http://schemas.microsoft.com/office/drawing/2014/main" id="{872EF0BD-0CD3-794E-A065-BC98134CEAA0}"/>
              </a:ext>
            </a:extLst>
          </p:cNvPr>
          <p:cNvSpPr>
            <a:spLocks noChangeArrowheads="1"/>
          </p:cNvSpPr>
          <p:nvPr/>
        </p:nvSpPr>
        <p:spPr bwMode="auto">
          <a:xfrm>
            <a:off x="7332662" y="1171684"/>
            <a:ext cx="1727200" cy="3333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58" name="TextBox 41">
            <a:extLst>
              <a:ext uri="{FF2B5EF4-FFF2-40B4-BE49-F238E27FC236}">
                <a16:creationId xmlns:a16="http://schemas.microsoft.com/office/drawing/2014/main" id="{60802874-021F-D047-B00E-904E2812F838}"/>
              </a:ext>
            </a:extLst>
          </p:cNvPr>
          <p:cNvSpPr txBox="1">
            <a:spLocks noChangeArrowheads="1"/>
          </p:cNvSpPr>
          <p:nvPr/>
        </p:nvSpPr>
        <p:spPr bwMode="auto">
          <a:xfrm>
            <a:off x="7808912" y="450959"/>
            <a:ext cx="10302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Address</a:t>
            </a:r>
          </a:p>
        </p:txBody>
      </p:sp>
      <p:cxnSp>
        <p:nvCxnSpPr>
          <p:cNvPr id="59" name="Straight Connector 42">
            <a:extLst>
              <a:ext uri="{FF2B5EF4-FFF2-40B4-BE49-F238E27FC236}">
                <a16:creationId xmlns:a16="http://schemas.microsoft.com/office/drawing/2014/main" id="{C2EB0581-4BE2-E84C-8C21-B1A30B487D4A}"/>
              </a:ext>
            </a:extLst>
          </p:cNvPr>
          <p:cNvCxnSpPr>
            <a:cxnSpLocks noChangeShapeType="1"/>
          </p:cNvCxnSpPr>
          <p:nvPr/>
        </p:nvCxnSpPr>
        <p:spPr bwMode="auto">
          <a:xfrm rot="5400000">
            <a:off x="8353425" y="1338371"/>
            <a:ext cx="3317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0" name="Straight Connector 43">
            <a:extLst>
              <a:ext uri="{FF2B5EF4-FFF2-40B4-BE49-F238E27FC236}">
                <a16:creationId xmlns:a16="http://schemas.microsoft.com/office/drawing/2014/main" id="{B50956F4-1F0B-D445-896D-568BC6B913BD}"/>
              </a:ext>
            </a:extLst>
          </p:cNvPr>
          <p:cNvCxnSpPr>
            <a:cxnSpLocks noChangeShapeType="1"/>
          </p:cNvCxnSpPr>
          <p:nvPr/>
        </p:nvCxnSpPr>
        <p:spPr bwMode="auto">
          <a:xfrm rot="5400000">
            <a:off x="7925593" y="1348474"/>
            <a:ext cx="3333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1" name="TextBox 44">
            <a:extLst>
              <a:ext uri="{FF2B5EF4-FFF2-40B4-BE49-F238E27FC236}">
                <a16:creationId xmlns:a16="http://schemas.microsoft.com/office/drawing/2014/main" id="{3230EE2B-82C1-374E-B49E-C627D8004576}"/>
              </a:ext>
            </a:extLst>
          </p:cNvPr>
          <p:cNvSpPr txBox="1">
            <a:spLocks noChangeArrowheads="1"/>
          </p:cNvSpPr>
          <p:nvPr/>
        </p:nvSpPr>
        <p:spPr bwMode="auto">
          <a:xfrm>
            <a:off x="7490081" y="871430"/>
            <a:ext cx="4333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432FF"/>
                </a:solidFill>
                <a:latin typeface="Arial" panose="020B0604020202020204" pitchFamily="34" charset="0"/>
              </a:rPr>
              <a:t>tag</a:t>
            </a:r>
          </a:p>
        </p:txBody>
      </p:sp>
      <p:sp>
        <p:nvSpPr>
          <p:cNvPr id="62" name="TextBox 45">
            <a:extLst>
              <a:ext uri="{FF2B5EF4-FFF2-40B4-BE49-F238E27FC236}">
                <a16:creationId xmlns:a16="http://schemas.microsoft.com/office/drawing/2014/main" id="{2F3DE0FC-0C0E-B344-BACF-F563475A96B4}"/>
              </a:ext>
            </a:extLst>
          </p:cNvPr>
          <p:cNvSpPr txBox="1">
            <a:spLocks noChangeArrowheads="1"/>
          </p:cNvSpPr>
          <p:nvPr/>
        </p:nvSpPr>
        <p:spPr bwMode="auto">
          <a:xfrm>
            <a:off x="8080887" y="879696"/>
            <a:ext cx="4235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FF0000"/>
                </a:solidFill>
                <a:latin typeface="Arial" panose="020B0604020202020204" pitchFamily="34" charset="0"/>
              </a:rPr>
              <a:t>set</a:t>
            </a:r>
          </a:p>
        </p:txBody>
      </p:sp>
      <p:sp>
        <p:nvSpPr>
          <p:cNvPr id="63" name="TextBox 46">
            <a:extLst>
              <a:ext uri="{FF2B5EF4-FFF2-40B4-BE49-F238E27FC236}">
                <a16:creationId xmlns:a16="http://schemas.microsoft.com/office/drawing/2014/main" id="{591B69C1-0571-D24C-BB87-56F91B70AC3D}"/>
              </a:ext>
            </a:extLst>
          </p:cNvPr>
          <p:cNvSpPr txBox="1">
            <a:spLocks noChangeArrowheads="1"/>
          </p:cNvSpPr>
          <p:nvPr/>
        </p:nvSpPr>
        <p:spPr bwMode="auto">
          <a:xfrm>
            <a:off x="8504601" y="872011"/>
            <a:ext cx="61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a:t>
            </a:r>
            <a:r>
              <a:rPr lang="en-US" altLang="zh-CN" sz="1400" dirty="0">
                <a:solidFill>
                  <a:srgbClr val="000000"/>
                </a:solidFill>
                <a:latin typeface="Arial" panose="020B0604020202020204" pitchFamily="34" charset="0"/>
              </a:rPr>
              <a:t>s</a:t>
            </a:r>
            <a:endParaRPr lang="en-US" altLang="en-US" sz="1400" dirty="0">
              <a:solidFill>
                <a:srgbClr val="000000"/>
              </a:solidFill>
              <a:latin typeface="Arial" panose="020B0604020202020204" pitchFamily="34" charset="0"/>
            </a:endParaRPr>
          </a:p>
        </p:txBody>
      </p:sp>
      <p:sp>
        <p:nvSpPr>
          <p:cNvPr id="64" name="TextBox 47">
            <a:extLst>
              <a:ext uri="{FF2B5EF4-FFF2-40B4-BE49-F238E27FC236}">
                <a16:creationId xmlns:a16="http://schemas.microsoft.com/office/drawing/2014/main" id="{1B71B19D-EFC4-CF4D-9383-D50E08F68EA5}"/>
              </a:ext>
            </a:extLst>
          </p:cNvPr>
          <p:cNvSpPr txBox="1">
            <a:spLocks noChangeArrowheads="1"/>
          </p:cNvSpPr>
          <p:nvPr/>
        </p:nvSpPr>
        <p:spPr bwMode="auto">
          <a:xfrm>
            <a:off x="8518525" y="1171684"/>
            <a:ext cx="6111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3 bits</a:t>
            </a:r>
          </a:p>
        </p:txBody>
      </p:sp>
      <p:sp>
        <p:nvSpPr>
          <p:cNvPr id="65" name="TextBox 48">
            <a:extLst>
              <a:ext uri="{FF2B5EF4-FFF2-40B4-BE49-F238E27FC236}">
                <a16:creationId xmlns:a16="http://schemas.microsoft.com/office/drawing/2014/main" id="{14994EF3-E9D1-1E47-A416-A4F6E4415CAF}"/>
              </a:ext>
            </a:extLst>
          </p:cNvPr>
          <p:cNvSpPr txBox="1">
            <a:spLocks noChangeArrowheads="1"/>
          </p:cNvSpPr>
          <p:nvPr/>
        </p:nvSpPr>
        <p:spPr bwMode="auto">
          <a:xfrm>
            <a:off x="8050468" y="1168522"/>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FF0000"/>
                </a:solidFill>
                <a:latin typeface="Arial" panose="020B0604020202020204" pitchFamily="34" charset="0"/>
              </a:rPr>
              <a:t>1 b</a:t>
            </a:r>
          </a:p>
        </p:txBody>
      </p:sp>
      <p:sp>
        <p:nvSpPr>
          <p:cNvPr id="66" name="TextBox 49">
            <a:extLst>
              <a:ext uri="{FF2B5EF4-FFF2-40B4-BE49-F238E27FC236}">
                <a16:creationId xmlns:a16="http://schemas.microsoft.com/office/drawing/2014/main" id="{B2CCF734-F49C-0849-8BC4-14789E751F80}"/>
              </a:ext>
            </a:extLst>
          </p:cNvPr>
          <p:cNvSpPr txBox="1">
            <a:spLocks noChangeArrowheads="1"/>
          </p:cNvSpPr>
          <p:nvPr/>
        </p:nvSpPr>
        <p:spPr bwMode="auto">
          <a:xfrm>
            <a:off x="7416799" y="1166227"/>
            <a:ext cx="711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4 bits</a:t>
            </a:r>
          </a:p>
        </p:txBody>
      </p:sp>
      <p:cxnSp>
        <p:nvCxnSpPr>
          <p:cNvPr id="67" name="Straight Connector 39">
            <a:extLst>
              <a:ext uri="{FF2B5EF4-FFF2-40B4-BE49-F238E27FC236}">
                <a16:creationId xmlns:a16="http://schemas.microsoft.com/office/drawing/2014/main" id="{B715416D-3636-4724-A030-17FF3C892C98}"/>
              </a:ext>
            </a:extLst>
          </p:cNvPr>
          <p:cNvCxnSpPr>
            <a:cxnSpLocks noChangeShapeType="1"/>
          </p:cNvCxnSpPr>
          <p:nvPr/>
        </p:nvCxnSpPr>
        <p:spPr bwMode="auto">
          <a:xfrm>
            <a:off x="1256506" y="1611312"/>
            <a:ext cx="0" cy="3175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9" name="Straight Connector 39">
            <a:extLst>
              <a:ext uri="{FF2B5EF4-FFF2-40B4-BE49-F238E27FC236}">
                <a16:creationId xmlns:a16="http://schemas.microsoft.com/office/drawing/2014/main" id="{71109AAD-AB9D-4456-AD08-83A7B04716C3}"/>
              </a:ext>
            </a:extLst>
          </p:cNvPr>
          <p:cNvCxnSpPr>
            <a:cxnSpLocks noChangeShapeType="1"/>
          </p:cNvCxnSpPr>
          <p:nvPr/>
        </p:nvCxnSpPr>
        <p:spPr bwMode="auto">
          <a:xfrm>
            <a:off x="2887662" y="1611312"/>
            <a:ext cx="0" cy="3175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0" name="Straight Connector 39">
            <a:extLst>
              <a:ext uri="{FF2B5EF4-FFF2-40B4-BE49-F238E27FC236}">
                <a16:creationId xmlns:a16="http://schemas.microsoft.com/office/drawing/2014/main" id="{07976EAF-681B-4644-83F2-8B40D8FFB171}"/>
              </a:ext>
            </a:extLst>
          </p:cNvPr>
          <p:cNvCxnSpPr>
            <a:cxnSpLocks noChangeShapeType="1"/>
          </p:cNvCxnSpPr>
          <p:nvPr/>
        </p:nvCxnSpPr>
        <p:spPr bwMode="auto">
          <a:xfrm>
            <a:off x="4533900" y="1592262"/>
            <a:ext cx="0" cy="3175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1" name="Straight Connector 39">
            <a:extLst>
              <a:ext uri="{FF2B5EF4-FFF2-40B4-BE49-F238E27FC236}">
                <a16:creationId xmlns:a16="http://schemas.microsoft.com/office/drawing/2014/main" id="{958E1B6D-92DB-4DE3-8BAC-C30C8FBEDBF7}"/>
              </a:ext>
            </a:extLst>
          </p:cNvPr>
          <p:cNvCxnSpPr>
            <a:cxnSpLocks noChangeShapeType="1"/>
          </p:cNvCxnSpPr>
          <p:nvPr/>
        </p:nvCxnSpPr>
        <p:spPr bwMode="auto">
          <a:xfrm>
            <a:off x="6120606" y="1581148"/>
            <a:ext cx="0" cy="3175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72" name="TextBox 33">
            <a:extLst>
              <a:ext uri="{FF2B5EF4-FFF2-40B4-BE49-F238E27FC236}">
                <a16:creationId xmlns:a16="http://schemas.microsoft.com/office/drawing/2014/main" id="{DCF90574-61AE-4DBF-80B6-90886162410D}"/>
              </a:ext>
            </a:extLst>
          </p:cNvPr>
          <p:cNvSpPr txBox="1">
            <a:spLocks noChangeArrowheads="1"/>
          </p:cNvSpPr>
          <p:nvPr/>
        </p:nvSpPr>
        <p:spPr bwMode="auto">
          <a:xfrm>
            <a:off x="933449" y="1720850"/>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0000"/>
                </a:solidFill>
                <a:latin typeface="Arial" panose="020B0604020202020204" pitchFamily="34" charset="0"/>
              </a:rPr>
              <a:t>V</a:t>
            </a:r>
          </a:p>
        </p:txBody>
      </p:sp>
      <p:sp>
        <p:nvSpPr>
          <p:cNvPr id="73" name="TextBox 34">
            <a:extLst>
              <a:ext uri="{FF2B5EF4-FFF2-40B4-BE49-F238E27FC236}">
                <a16:creationId xmlns:a16="http://schemas.microsoft.com/office/drawing/2014/main" id="{F42D31A3-A89A-4760-95AF-62DD1FAE78EA}"/>
              </a:ext>
            </a:extLst>
          </p:cNvPr>
          <p:cNvSpPr txBox="1">
            <a:spLocks noChangeArrowheads="1"/>
          </p:cNvSpPr>
          <p:nvPr/>
        </p:nvSpPr>
        <p:spPr bwMode="auto">
          <a:xfrm>
            <a:off x="1546224" y="1711325"/>
            <a:ext cx="39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B0F0"/>
                </a:solidFill>
                <a:latin typeface="Arial" panose="020B0604020202020204" pitchFamily="34" charset="0"/>
              </a:rPr>
              <a:t>tag</a:t>
            </a:r>
          </a:p>
        </p:txBody>
      </p:sp>
      <p:sp>
        <p:nvSpPr>
          <p:cNvPr id="74" name="TextBox 33">
            <a:extLst>
              <a:ext uri="{FF2B5EF4-FFF2-40B4-BE49-F238E27FC236}">
                <a16:creationId xmlns:a16="http://schemas.microsoft.com/office/drawing/2014/main" id="{968CD3E9-9A97-48A5-95B1-DC57BE422E2D}"/>
              </a:ext>
            </a:extLst>
          </p:cNvPr>
          <p:cNvSpPr txBox="1">
            <a:spLocks noChangeArrowheads="1"/>
          </p:cNvSpPr>
          <p:nvPr/>
        </p:nvSpPr>
        <p:spPr bwMode="auto">
          <a:xfrm>
            <a:off x="2547935" y="1726407"/>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0000"/>
                </a:solidFill>
                <a:latin typeface="Arial" panose="020B0604020202020204" pitchFamily="34" charset="0"/>
              </a:rPr>
              <a:t>V</a:t>
            </a:r>
          </a:p>
        </p:txBody>
      </p:sp>
      <p:sp>
        <p:nvSpPr>
          <p:cNvPr id="75" name="TextBox 34">
            <a:extLst>
              <a:ext uri="{FF2B5EF4-FFF2-40B4-BE49-F238E27FC236}">
                <a16:creationId xmlns:a16="http://schemas.microsoft.com/office/drawing/2014/main" id="{3D7EF05B-E8C0-4C87-A41B-1710162E789D}"/>
              </a:ext>
            </a:extLst>
          </p:cNvPr>
          <p:cNvSpPr txBox="1">
            <a:spLocks noChangeArrowheads="1"/>
          </p:cNvSpPr>
          <p:nvPr/>
        </p:nvSpPr>
        <p:spPr bwMode="auto">
          <a:xfrm>
            <a:off x="3160710" y="1716882"/>
            <a:ext cx="39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B0F0"/>
                </a:solidFill>
                <a:latin typeface="Arial" panose="020B0604020202020204" pitchFamily="34" charset="0"/>
              </a:rPr>
              <a:t>tag</a:t>
            </a:r>
          </a:p>
        </p:txBody>
      </p:sp>
      <p:sp>
        <p:nvSpPr>
          <p:cNvPr id="76" name="TextBox 33">
            <a:extLst>
              <a:ext uri="{FF2B5EF4-FFF2-40B4-BE49-F238E27FC236}">
                <a16:creationId xmlns:a16="http://schemas.microsoft.com/office/drawing/2014/main" id="{C27B76E3-EDB2-4271-9CA9-210493FE49A3}"/>
              </a:ext>
            </a:extLst>
          </p:cNvPr>
          <p:cNvSpPr txBox="1">
            <a:spLocks noChangeArrowheads="1"/>
          </p:cNvSpPr>
          <p:nvPr/>
        </p:nvSpPr>
        <p:spPr bwMode="auto">
          <a:xfrm>
            <a:off x="4164805" y="1707358"/>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0000"/>
                </a:solidFill>
                <a:latin typeface="Arial" panose="020B0604020202020204" pitchFamily="34" charset="0"/>
              </a:rPr>
              <a:t>V</a:t>
            </a:r>
          </a:p>
        </p:txBody>
      </p:sp>
      <p:sp>
        <p:nvSpPr>
          <p:cNvPr id="77" name="TextBox 34">
            <a:extLst>
              <a:ext uri="{FF2B5EF4-FFF2-40B4-BE49-F238E27FC236}">
                <a16:creationId xmlns:a16="http://schemas.microsoft.com/office/drawing/2014/main" id="{3DA82F28-0A02-49F1-A16E-0F217D1414D0}"/>
              </a:ext>
            </a:extLst>
          </p:cNvPr>
          <p:cNvSpPr txBox="1">
            <a:spLocks noChangeArrowheads="1"/>
          </p:cNvSpPr>
          <p:nvPr/>
        </p:nvSpPr>
        <p:spPr bwMode="auto">
          <a:xfrm>
            <a:off x="4777580" y="1697833"/>
            <a:ext cx="39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B0F0"/>
                </a:solidFill>
                <a:latin typeface="Arial" panose="020B0604020202020204" pitchFamily="34" charset="0"/>
              </a:rPr>
              <a:t>tag</a:t>
            </a:r>
          </a:p>
        </p:txBody>
      </p:sp>
      <p:sp>
        <p:nvSpPr>
          <p:cNvPr id="78" name="TextBox 33">
            <a:extLst>
              <a:ext uri="{FF2B5EF4-FFF2-40B4-BE49-F238E27FC236}">
                <a16:creationId xmlns:a16="http://schemas.microsoft.com/office/drawing/2014/main" id="{E1121FC5-8CE4-4767-921B-A06092B82773}"/>
              </a:ext>
            </a:extLst>
          </p:cNvPr>
          <p:cNvSpPr txBox="1">
            <a:spLocks noChangeArrowheads="1"/>
          </p:cNvSpPr>
          <p:nvPr/>
        </p:nvSpPr>
        <p:spPr bwMode="auto">
          <a:xfrm>
            <a:off x="5800722" y="1702594"/>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0000"/>
                </a:solidFill>
                <a:latin typeface="Arial" panose="020B0604020202020204" pitchFamily="34" charset="0"/>
              </a:rPr>
              <a:t>V</a:t>
            </a:r>
          </a:p>
        </p:txBody>
      </p:sp>
      <p:sp>
        <p:nvSpPr>
          <p:cNvPr id="79" name="TextBox 34">
            <a:extLst>
              <a:ext uri="{FF2B5EF4-FFF2-40B4-BE49-F238E27FC236}">
                <a16:creationId xmlns:a16="http://schemas.microsoft.com/office/drawing/2014/main" id="{E5D7C85C-6987-4CBD-B85F-DA15C848FA6D}"/>
              </a:ext>
            </a:extLst>
          </p:cNvPr>
          <p:cNvSpPr txBox="1">
            <a:spLocks noChangeArrowheads="1"/>
          </p:cNvSpPr>
          <p:nvPr/>
        </p:nvSpPr>
        <p:spPr bwMode="auto">
          <a:xfrm>
            <a:off x="6413497" y="1693069"/>
            <a:ext cx="39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B0F0"/>
                </a:solidFill>
                <a:latin typeface="Arial" panose="020B0604020202020204" pitchFamily="34" charset="0"/>
              </a:rPr>
              <a:t>tag</a:t>
            </a:r>
          </a:p>
        </p:txBody>
      </p:sp>
      <p:cxnSp>
        <p:nvCxnSpPr>
          <p:cNvPr id="80" name="Straight Connector 93">
            <a:extLst>
              <a:ext uri="{FF2B5EF4-FFF2-40B4-BE49-F238E27FC236}">
                <a16:creationId xmlns:a16="http://schemas.microsoft.com/office/drawing/2014/main" id="{3897FE80-46D0-4BC7-AC2C-F14848D4B1F8}"/>
              </a:ext>
            </a:extLst>
          </p:cNvPr>
          <p:cNvCxnSpPr>
            <a:cxnSpLocks noChangeShapeType="1"/>
          </p:cNvCxnSpPr>
          <p:nvPr/>
        </p:nvCxnSpPr>
        <p:spPr bwMode="auto">
          <a:xfrm>
            <a:off x="7735889" y="1505059"/>
            <a:ext cx="7936" cy="9103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2" name="Straight Arrow Connector 69">
            <a:extLst>
              <a:ext uri="{FF2B5EF4-FFF2-40B4-BE49-F238E27FC236}">
                <a16:creationId xmlns:a16="http://schemas.microsoft.com/office/drawing/2014/main" id="{021A13D7-8991-4C6D-9DE3-A161BAC04FAD}"/>
              </a:ext>
            </a:extLst>
          </p:cNvPr>
          <p:cNvCxnSpPr>
            <a:cxnSpLocks noChangeShapeType="1"/>
          </p:cNvCxnSpPr>
          <p:nvPr/>
        </p:nvCxnSpPr>
        <p:spPr bwMode="auto">
          <a:xfrm flipH="1">
            <a:off x="6799265" y="2415383"/>
            <a:ext cx="973134" cy="1"/>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 name="Straight Connector 93">
            <a:extLst>
              <a:ext uri="{FF2B5EF4-FFF2-40B4-BE49-F238E27FC236}">
                <a16:creationId xmlns:a16="http://schemas.microsoft.com/office/drawing/2014/main" id="{103EBAEE-4D96-4DBD-AC25-6EEAFC0631D5}"/>
              </a:ext>
            </a:extLst>
          </p:cNvPr>
          <p:cNvCxnSpPr>
            <a:cxnSpLocks noChangeShapeType="1"/>
            <a:stCxn id="65" idx="2"/>
          </p:cNvCxnSpPr>
          <p:nvPr/>
        </p:nvCxnSpPr>
        <p:spPr bwMode="auto">
          <a:xfrm>
            <a:off x="8267034" y="1476299"/>
            <a:ext cx="10254" cy="2128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9" name="Straight Arrow Connector 69">
            <a:extLst>
              <a:ext uri="{FF2B5EF4-FFF2-40B4-BE49-F238E27FC236}">
                <a16:creationId xmlns:a16="http://schemas.microsoft.com/office/drawing/2014/main" id="{03301AA3-1067-4127-85B9-D3920F6F9307}"/>
              </a:ext>
            </a:extLst>
          </p:cNvPr>
          <p:cNvCxnSpPr>
            <a:cxnSpLocks noChangeShapeType="1"/>
          </p:cNvCxnSpPr>
          <p:nvPr/>
        </p:nvCxnSpPr>
        <p:spPr bwMode="auto">
          <a:xfrm flipH="1" flipV="1">
            <a:off x="7183438" y="1670845"/>
            <a:ext cx="1106487" cy="6349"/>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03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60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60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60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60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60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60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60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60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60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60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60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60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604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60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604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60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604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605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605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60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606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606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606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606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606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606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6068"/>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8602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603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603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603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603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603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603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603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604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604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604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8605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605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8605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8605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605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6058"/>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8605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606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86061"/>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86069"/>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86070"/>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86071"/>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5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8"/>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9"/>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6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6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62"/>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63"/>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64"/>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6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86018">
                                            <p:txEl>
                                              <p:pRg st="11" end="11"/>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86018">
                                            <p:txEl>
                                              <p:pRg st="12" end="12"/>
                                            </p:txEl>
                                          </p:spTgt>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67"/>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69"/>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70"/>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71"/>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72"/>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73"/>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4"/>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5"/>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76"/>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77"/>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78"/>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79"/>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80"/>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82"/>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87"/>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animBg="1"/>
      <p:bldP spid="86021" grpId="0" animBg="1"/>
      <p:bldP spid="86022" grpId="0" animBg="1"/>
      <p:bldP spid="86023" grpId="0" animBg="1"/>
      <p:bldP spid="86024" grpId="0" animBg="1"/>
      <p:bldP spid="86025" grpId="0" animBg="1"/>
      <p:bldP spid="86026" grpId="0" animBg="1"/>
      <p:bldP spid="86027" grpId="0" animBg="1"/>
      <p:bldP spid="86028" grpId="0"/>
      <p:bldP spid="86029" grpId="0" animBg="1"/>
      <p:bldP spid="86030" grpId="0" animBg="1"/>
      <p:bldP spid="86031" grpId="0" animBg="1"/>
      <p:bldP spid="86032" grpId="0" animBg="1"/>
      <p:bldP spid="86033" grpId="0" animBg="1"/>
      <p:bldP spid="86034" grpId="0" animBg="1"/>
      <p:bldP spid="86035" grpId="0" animBg="1"/>
      <p:bldP spid="86036" grpId="0" animBg="1"/>
      <p:bldP spid="86037" grpId="0"/>
      <p:bldP spid="86038" grpId="0" animBg="1"/>
      <p:bldP spid="86039" grpId="0"/>
      <p:bldP spid="86040" grpId="0" animBg="1"/>
      <p:bldP spid="86041" grpId="0"/>
      <p:bldP spid="86042" grpId="0" animBg="1"/>
      <p:bldP spid="86043" grpId="0"/>
      <p:bldP spid="86044" grpId="0" animBg="1"/>
      <p:bldP spid="86045" grpId="0"/>
      <p:bldP spid="86048" grpId="0"/>
      <p:bldP spid="86058" grpId="0"/>
      <p:bldP spid="86060" grpId="0"/>
      <p:bldP spid="86062" grpId="0" animBg="1"/>
      <p:bldP spid="86068" grpId="0"/>
      <p:bldP spid="57" grpId="0" animBg="1"/>
      <p:bldP spid="58" grpId="0"/>
      <p:bldP spid="61" grpId="0"/>
      <p:bldP spid="62" grpId="0"/>
      <p:bldP spid="63" grpId="0"/>
      <p:bldP spid="64" grpId="0"/>
      <p:bldP spid="65" grpId="0"/>
      <p:bldP spid="66" grpId="0"/>
      <p:bldP spid="72" grpId="0"/>
      <p:bldP spid="73" grpId="0"/>
      <p:bldP spid="74" grpId="0"/>
      <p:bldP spid="75" grpId="0"/>
      <p:bldP spid="76" grpId="0"/>
      <p:bldP spid="77" grpId="0"/>
      <p:bldP spid="78" grpId="0"/>
      <p:bldP spid="7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a:extLst>
              <a:ext uri="{FF2B5EF4-FFF2-40B4-BE49-F238E27FC236}">
                <a16:creationId xmlns:a16="http://schemas.microsoft.com/office/drawing/2014/main" id="{14D4EE27-B8D2-B344-9306-834BC416EA8D}"/>
              </a:ext>
            </a:extLst>
          </p:cNvPr>
          <p:cNvSpPr>
            <a:spLocks noGrp="1" noChangeArrowheads="1"/>
          </p:cNvSpPr>
          <p:nvPr>
            <p:ph idx="1"/>
          </p:nvPr>
        </p:nvSpPr>
        <p:spPr>
          <a:xfrm>
            <a:off x="92074" y="996950"/>
            <a:ext cx="9050338" cy="5194300"/>
          </a:xfrm>
        </p:spPr>
        <p:txBody>
          <a:bodyPr/>
          <a:lstStyle/>
          <a:p>
            <a:r>
              <a:rPr lang="en-US" altLang="en-US" sz="2000" b="1" dirty="0">
                <a:ea typeface="ＭＳ Ｐゴシック" panose="020B0600070205080204" pitchFamily="34" charset="-128"/>
              </a:rPr>
              <a:t>Set-Associative Cache</a:t>
            </a:r>
          </a:p>
          <a:p>
            <a:pPr lvl="1"/>
            <a:r>
              <a:rPr lang="en-US" altLang="zh-CN" sz="1800" b="1" dirty="0">
                <a:ea typeface="ＭＳ Ｐゴシック" panose="020B0600070205080204" pitchFamily="34" charset="-128"/>
              </a:rPr>
              <a:t>Key Idea:</a:t>
            </a:r>
            <a:r>
              <a:rPr lang="en-US" altLang="en-US" sz="1800" dirty="0">
                <a:solidFill>
                  <a:srgbClr val="0033CC"/>
                </a:solidFill>
                <a:latin typeface="Arial" panose="020B0604020202020204" pitchFamily="34" charset="0"/>
              </a:rPr>
              <a:t> Associative memory within the set</a:t>
            </a:r>
          </a:p>
          <a:p>
            <a:pPr lvl="1"/>
            <a:endParaRPr lang="en-US" altLang="en-US" sz="1800" b="1" dirty="0">
              <a:ea typeface="ＭＳ Ｐゴシック" panose="020B0600070205080204" pitchFamily="34" charset="-128"/>
            </a:endParaRPr>
          </a:p>
          <a:p>
            <a:r>
              <a:rPr lang="en-US" altLang="en-US" sz="2000" b="1" dirty="0">
                <a:solidFill>
                  <a:srgbClr val="0432FF"/>
                </a:solidFill>
                <a:ea typeface="ＭＳ Ｐゴシック" panose="020B0600070205080204" pitchFamily="34" charset="-128"/>
              </a:rPr>
              <a:t>Advantage</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rPr>
              <a:t>of Set-Associative Cache</a:t>
            </a:r>
          </a:p>
          <a:p>
            <a:pPr lvl="1"/>
            <a:r>
              <a:rPr lang="en-US" altLang="en-US" sz="1800" dirty="0">
                <a:ea typeface="ＭＳ Ｐゴシック" panose="020B0600070205080204" pitchFamily="34" charset="-128"/>
              </a:rPr>
              <a:t>Accommodates conflicts better (fewer conflict misses)</a:t>
            </a:r>
          </a:p>
          <a:p>
            <a:pPr lvl="2"/>
            <a:r>
              <a:rPr lang="en-US" altLang="en-US" dirty="0">
                <a:ea typeface="ＭＳ Ｐゴシック" panose="020B0600070205080204" pitchFamily="34" charset="-128"/>
                <a:sym typeface="Wingdings" pitchFamily="2" charset="2"/>
              </a:rPr>
              <a:t>Assume addresses A and B have the same index bits but different tag bits</a:t>
            </a:r>
          </a:p>
          <a:p>
            <a:pPr lvl="2"/>
            <a:r>
              <a:rPr lang="en-US" altLang="en-US" dirty="0">
                <a:ea typeface="ＭＳ Ｐゴシック" panose="020B0600070205080204" pitchFamily="34" charset="-128"/>
                <a:sym typeface="Wingdings" pitchFamily="2" charset="2"/>
              </a:rPr>
              <a:t>A, B, A, B, A, B, A, B, …  store in the cache set </a:t>
            </a:r>
          </a:p>
          <a:p>
            <a:pPr lvl="2"/>
            <a:r>
              <a:rPr lang="en-US" altLang="en-US" dirty="0">
                <a:ea typeface="ＭＳ Ｐゴシック" panose="020B0600070205080204" pitchFamily="34" charset="-128"/>
                <a:sym typeface="Wingdings" pitchFamily="2" charset="2"/>
              </a:rPr>
              <a:t>All accesses are </a:t>
            </a:r>
            <a:r>
              <a:rPr lang="en-US" altLang="en-US" dirty="0">
                <a:solidFill>
                  <a:srgbClr val="0432FF"/>
                </a:solidFill>
                <a:ea typeface="ＭＳ Ｐゴシック" panose="020B0600070205080204" pitchFamily="34" charset="-128"/>
                <a:sym typeface="Wingdings" pitchFamily="2" charset="2"/>
              </a:rPr>
              <a:t>cache hit</a:t>
            </a:r>
            <a:endParaRPr lang="en-US" altLang="en-US" sz="1800" dirty="0">
              <a:ea typeface="ＭＳ Ｐゴシック" panose="020B0600070205080204" pitchFamily="34" charset="-128"/>
            </a:endParaRPr>
          </a:p>
          <a:p>
            <a:pPr lvl="1"/>
            <a:endParaRPr lang="en-US" altLang="en-US" sz="1800" b="1" dirty="0">
              <a:ea typeface="ＭＳ Ｐゴシック" panose="020B0600070205080204" pitchFamily="34" charset="-128"/>
            </a:endParaRPr>
          </a:p>
          <a:p>
            <a:r>
              <a:rPr lang="en-US" altLang="en-US" sz="2000" b="1" dirty="0">
                <a:solidFill>
                  <a:srgbClr val="FF0000"/>
                </a:solidFill>
                <a:ea typeface="ＭＳ Ｐゴシック" panose="020B0600070205080204" pitchFamily="34" charset="-128"/>
              </a:rPr>
              <a:t>Issue</a:t>
            </a:r>
            <a:r>
              <a:rPr lang="en-US" altLang="en-US" sz="2000" b="1" dirty="0">
                <a:ea typeface="ＭＳ Ｐゴシック" panose="020B0600070205080204" pitchFamily="34" charset="-128"/>
              </a:rPr>
              <a:t> </a:t>
            </a:r>
            <a:r>
              <a:rPr lang="en-US" altLang="en-US" sz="2000" dirty="0">
                <a:ea typeface="ＭＳ Ｐゴシック" panose="020B0600070205080204" pitchFamily="34" charset="-128"/>
              </a:rPr>
              <a:t>of Set-Associative Cache</a:t>
            </a:r>
          </a:p>
          <a:p>
            <a:pPr lvl="1"/>
            <a:r>
              <a:rPr lang="en-US" altLang="en-US" sz="2000" dirty="0">
                <a:latin typeface="Arial" panose="020B0604020202020204" pitchFamily="34" charset="0"/>
              </a:rPr>
              <a:t>More complex, slower access, larger tag store</a:t>
            </a:r>
          </a:p>
          <a:p>
            <a:endParaRPr lang="en-US" altLang="en-US" sz="2000" b="1" dirty="0">
              <a:ea typeface="ＭＳ Ｐゴシック" panose="020B0600070205080204" pitchFamily="34" charset="-128"/>
            </a:endParaRPr>
          </a:p>
          <a:p>
            <a:r>
              <a:rPr lang="en-US" altLang="en-US" sz="2000" dirty="0">
                <a:ea typeface="ＭＳ Ｐゴシック" panose="020B0600070205080204" pitchFamily="34" charset="-128"/>
              </a:rPr>
              <a:t>How about in </a:t>
            </a:r>
            <a:r>
              <a:rPr lang="en-US" altLang="zh-CN" sz="2000" dirty="0">
                <a:ea typeface="ＭＳ Ｐゴシック" panose="020B0600070205080204" pitchFamily="34" charset="-128"/>
              </a:rPr>
              <a:t>Deep Learning application</a:t>
            </a:r>
            <a:r>
              <a:rPr lang="zh-CN" altLang="en-US" sz="2000" dirty="0">
                <a:ea typeface="ＭＳ Ｐゴシック" panose="020B0600070205080204" pitchFamily="34" charset="-128"/>
              </a:rPr>
              <a:t>？</a:t>
            </a:r>
            <a:endParaRPr lang="en-US" altLang="en-US" sz="2200" dirty="0">
              <a:ea typeface="ＭＳ Ｐゴシック" panose="020B0600070205080204" pitchFamily="34" charset="-128"/>
            </a:endParaRPr>
          </a:p>
          <a:p>
            <a:pPr marL="0" indent="0">
              <a:buNone/>
            </a:pPr>
            <a:endParaRPr lang="en-US" altLang="en-US" sz="2200" dirty="0">
              <a:ea typeface="ＭＳ Ｐゴシック" panose="020B0600070205080204" pitchFamily="34" charset="-128"/>
            </a:endParaRPr>
          </a:p>
        </p:txBody>
      </p:sp>
      <p:sp>
        <p:nvSpPr>
          <p:cNvPr id="126978" name="Title 1">
            <a:extLst>
              <a:ext uri="{FF2B5EF4-FFF2-40B4-BE49-F238E27FC236}">
                <a16:creationId xmlns:a16="http://schemas.microsoft.com/office/drawing/2014/main" id="{219AEB2E-813E-8246-854B-1164DCE8EF21}"/>
              </a:ext>
            </a:extLst>
          </p:cNvPr>
          <p:cNvSpPr>
            <a:spLocks noGrp="1" noChangeArrowheads="1"/>
          </p:cNvSpPr>
          <p:nvPr>
            <p:ph type="title"/>
          </p:nvPr>
        </p:nvSpPr>
        <p:spPr>
          <a:xfrm>
            <a:off x="131765" y="138509"/>
            <a:ext cx="8915400" cy="722710"/>
          </a:xfrm>
        </p:spPr>
        <p:txBody>
          <a:bodyPr/>
          <a:lstStyle/>
          <a:p>
            <a:r>
              <a:rPr lang="en-US" altLang="en-US" dirty="0">
                <a:ea typeface="ＭＳ Ｐゴシック" panose="020B0600070205080204" pitchFamily="34" charset="-128"/>
              </a:rPr>
              <a:t>Set-Associative Cache: Advantage and Issue </a:t>
            </a:r>
          </a:p>
        </p:txBody>
      </p:sp>
      <p:sp>
        <p:nvSpPr>
          <p:cNvPr id="126979" name="Slide Number Placeholder 3">
            <a:extLst>
              <a:ext uri="{FF2B5EF4-FFF2-40B4-BE49-F238E27FC236}">
                <a16:creationId xmlns:a16="http://schemas.microsoft.com/office/drawing/2014/main" id="{4DEA535A-D5BA-884C-A283-87C0C900E15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88D00693-415E-EA49-8436-79EC48361603}" type="slidenum">
              <a:rPr lang="en-US" altLang="en-US" sz="1600" smtClean="0">
                <a:solidFill>
                  <a:srgbClr val="000000"/>
                </a:solidFill>
                <a:latin typeface="Garamond" panose="02020404030301010803" pitchFamily="18" charset="0"/>
              </a:rPr>
              <a:pPr eaLnBrk="1" hangingPunct="1">
                <a:spcBef>
                  <a:spcPct val="0"/>
                </a:spcBef>
                <a:buClrTx/>
                <a:buSzTx/>
                <a:buFontTx/>
                <a:buNone/>
              </a:pPr>
              <a:t>66</a:t>
            </a:fld>
            <a:endParaRPr lang="en-US" altLang="en-US" sz="1600">
              <a:solidFill>
                <a:srgbClr val="000000"/>
              </a:solidFill>
              <a:latin typeface="Garamond" panose="02020404030301010803" pitchFamily="18" charset="0"/>
            </a:endParaRPr>
          </a:p>
        </p:txBody>
      </p:sp>
    </p:spTree>
    <p:extLst>
      <p:ext uri="{BB962C8B-B14F-4D97-AF65-F5344CB8AC3E}">
        <p14:creationId xmlns:p14="http://schemas.microsoft.com/office/powerpoint/2010/main" val="41691233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99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499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499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99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499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499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4994">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4994">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499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Title 1">
            <a:extLst>
              <a:ext uri="{FF2B5EF4-FFF2-40B4-BE49-F238E27FC236}">
                <a16:creationId xmlns:a16="http://schemas.microsoft.com/office/drawing/2014/main" id="{085732C6-8AC0-6549-A280-DBD386EC543E}"/>
              </a:ext>
            </a:extLst>
          </p:cNvPr>
          <p:cNvSpPr>
            <a:spLocks noGrp="1" noChangeArrowheads="1"/>
          </p:cNvSpPr>
          <p:nvPr>
            <p:ph type="title"/>
          </p:nvPr>
        </p:nvSpPr>
        <p:spPr/>
        <p:txBody>
          <a:bodyPr/>
          <a:lstStyle/>
          <a:p>
            <a:r>
              <a:rPr lang="en-US" altLang="en-US">
                <a:ea typeface="ＭＳ Ｐゴシック" panose="020B0600070205080204" pitchFamily="34" charset="-128"/>
              </a:rPr>
              <a:t>Associativity (and Tradeoffs)</a:t>
            </a:r>
          </a:p>
        </p:txBody>
      </p:sp>
      <p:sp>
        <p:nvSpPr>
          <p:cNvPr id="3" name="Content Placeholder 2">
            <a:extLst>
              <a:ext uri="{FF2B5EF4-FFF2-40B4-BE49-F238E27FC236}">
                <a16:creationId xmlns:a16="http://schemas.microsoft.com/office/drawing/2014/main" id="{B4A0955C-AB24-5640-B541-57EFBEF0C9F9}"/>
              </a:ext>
            </a:extLst>
          </p:cNvPr>
          <p:cNvSpPr>
            <a:spLocks noGrp="1" noChangeArrowheads="1"/>
          </p:cNvSpPr>
          <p:nvPr>
            <p:ph idx="1"/>
          </p:nvPr>
        </p:nvSpPr>
        <p:spPr>
          <a:xfrm>
            <a:off x="228600" y="996950"/>
            <a:ext cx="8610600" cy="5194300"/>
          </a:xfrm>
        </p:spPr>
        <p:txBody>
          <a:bodyPr/>
          <a:lstStyle/>
          <a:p>
            <a:r>
              <a:rPr lang="en-US" altLang="en-US" dirty="0">
                <a:solidFill>
                  <a:srgbClr val="0000FF"/>
                </a:solidFill>
                <a:ea typeface="ＭＳ Ｐゴシック" panose="020B0600070205080204" pitchFamily="34" charset="-128"/>
              </a:rPr>
              <a:t>Degree of associativity</a:t>
            </a:r>
            <a:r>
              <a:rPr lang="en-US" altLang="en-US" dirty="0">
                <a:ea typeface="ＭＳ Ｐゴシック" panose="020B0600070205080204" pitchFamily="34" charset="-128"/>
              </a:rPr>
              <a:t>: </a:t>
            </a:r>
          </a:p>
          <a:p>
            <a:pPr lvl="1"/>
            <a:r>
              <a:rPr lang="en-US" altLang="en-US" dirty="0">
                <a:ea typeface="ＭＳ Ｐゴシック" panose="020B0600070205080204" pitchFamily="34" charset="-128"/>
              </a:rPr>
              <a:t>How many blocks can map to the same index (or set)?</a:t>
            </a:r>
          </a:p>
          <a:p>
            <a:endParaRPr lang="en-US" altLang="en-US" sz="1600" dirty="0">
              <a:ea typeface="ＭＳ Ｐゴシック" panose="020B0600070205080204" pitchFamily="34" charset="-128"/>
            </a:endParaRPr>
          </a:p>
          <a:p>
            <a:r>
              <a:rPr lang="en-US" altLang="en-US" dirty="0">
                <a:ea typeface="ＭＳ Ｐゴシック" panose="020B0600070205080204" pitchFamily="34" charset="-128"/>
              </a:rPr>
              <a:t>Higher associativity</a:t>
            </a:r>
          </a:p>
          <a:p>
            <a:pPr marL="342900" lvl="1" indent="0">
              <a:buFont typeface="Wingdings" pitchFamily="2" charset="2"/>
              <a:buNone/>
            </a:pPr>
            <a:r>
              <a:rPr lang="en-US" altLang="en-US" dirty="0">
                <a:solidFill>
                  <a:srgbClr val="0432FF"/>
                </a:solidFill>
                <a:ea typeface="ＭＳ Ｐゴシック" panose="020B0600070205080204" pitchFamily="34" charset="-128"/>
              </a:rPr>
              <a:t>++ Higher hit rate</a:t>
            </a:r>
          </a:p>
          <a:p>
            <a:pPr marL="342900" lvl="1" indent="0">
              <a:buFont typeface="Wingdings" pitchFamily="2" charset="2"/>
              <a:buNone/>
            </a:pPr>
            <a:r>
              <a:rPr lang="en-US" altLang="en-US" dirty="0">
                <a:solidFill>
                  <a:srgbClr val="FF0000"/>
                </a:solidFill>
                <a:ea typeface="ＭＳ Ｐゴシック" panose="020B0600070205080204" pitchFamily="34" charset="-128"/>
              </a:rPr>
              <a:t>-- Slower cache access time (hit latency and data access latency)</a:t>
            </a:r>
          </a:p>
          <a:p>
            <a:pPr marL="342900" lvl="1" indent="0">
              <a:buFont typeface="Wingdings" pitchFamily="2" charset="2"/>
              <a:buNone/>
            </a:pPr>
            <a:r>
              <a:rPr lang="en-US" altLang="en-US" dirty="0">
                <a:solidFill>
                  <a:srgbClr val="FF0000"/>
                </a:solidFill>
                <a:ea typeface="ＭＳ Ｐゴシック" panose="020B0600070205080204" pitchFamily="34" charset="-128"/>
              </a:rPr>
              <a:t>-- More expensive hardware (more comparators)</a:t>
            </a:r>
          </a:p>
          <a:p>
            <a:pPr marL="342900" lvl="1" indent="0">
              <a:buFont typeface="Wingdings" pitchFamily="2" charset="2"/>
              <a:buNone/>
            </a:pPr>
            <a:endParaRPr lang="en-US" altLang="en-US" dirty="0">
              <a:ea typeface="ＭＳ Ｐゴシック" panose="020B0600070205080204" pitchFamily="34" charset="-128"/>
            </a:endParaRPr>
          </a:p>
          <a:p>
            <a:r>
              <a:rPr lang="en-US" altLang="en-US" dirty="0">
                <a:ea typeface="ＭＳ Ｐゴシック" panose="020B0600070205080204" pitchFamily="34" charset="-128"/>
              </a:rPr>
              <a:t>Diminishing returns from higher</a:t>
            </a:r>
          </a:p>
          <a:p>
            <a:pPr marL="342900" lvl="1" indent="0">
              <a:buFont typeface="Wingdings" pitchFamily="2" charset="2"/>
              <a:buNone/>
            </a:pPr>
            <a:r>
              <a:rPr lang="en-US" altLang="en-US" sz="2400" dirty="0">
                <a:ea typeface="ＭＳ Ｐゴシック" panose="020B0600070205080204" pitchFamily="34" charset="-128"/>
              </a:rPr>
              <a:t>associativity</a:t>
            </a:r>
          </a:p>
          <a:p>
            <a:pPr marL="342900" lvl="1" indent="0">
              <a:buFont typeface="Wingdings" pitchFamily="2" charset="2"/>
              <a:buNone/>
            </a:pPr>
            <a:endParaRPr lang="en-US" altLang="en-US" dirty="0">
              <a:ea typeface="ＭＳ Ｐゴシック" panose="020B0600070205080204" pitchFamily="34" charset="-128"/>
            </a:endParaRPr>
          </a:p>
        </p:txBody>
      </p:sp>
      <p:sp>
        <p:nvSpPr>
          <p:cNvPr id="130051" name="Slide Number Placeholder 3">
            <a:extLst>
              <a:ext uri="{FF2B5EF4-FFF2-40B4-BE49-F238E27FC236}">
                <a16:creationId xmlns:a16="http://schemas.microsoft.com/office/drawing/2014/main" id="{30713E6E-1862-944E-B2C7-B5EB3B7ECD6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E681A920-7270-E142-87D6-EF424050D631}" type="slidenum">
              <a:rPr lang="en-US" altLang="en-US" sz="1600" smtClean="0">
                <a:solidFill>
                  <a:srgbClr val="000000"/>
                </a:solidFill>
                <a:latin typeface="Garamond" panose="02020404030301010803" pitchFamily="18" charset="0"/>
              </a:rPr>
              <a:pPr eaLnBrk="1" hangingPunct="1">
                <a:spcBef>
                  <a:spcPct val="0"/>
                </a:spcBef>
                <a:buClrTx/>
                <a:buSzTx/>
                <a:buFontTx/>
                <a:buNone/>
              </a:pPr>
              <a:t>67</a:t>
            </a:fld>
            <a:endParaRPr lang="en-US" altLang="en-US" sz="1600">
              <a:solidFill>
                <a:srgbClr val="000000"/>
              </a:solidFill>
              <a:latin typeface="Garamond" panose="02020404030301010803" pitchFamily="18" charset="0"/>
            </a:endParaRPr>
          </a:p>
        </p:txBody>
      </p:sp>
      <p:sp>
        <p:nvSpPr>
          <p:cNvPr id="5" name="Freeform 5">
            <a:extLst>
              <a:ext uri="{FF2B5EF4-FFF2-40B4-BE49-F238E27FC236}">
                <a16:creationId xmlns:a16="http://schemas.microsoft.com/office/drawing/2014/main" id="{42A15FE5-45C4-FE47-BC8F-51D3611DC605}"/>
              </a:ext>
            </a:extLst>
          </p:cNvPr>
          <p:cNvSpPr>
            <a:spLocks/>
          </p:cNvSpPr>
          <p:nvPr/>
        </p:nvSpPr>
        <p:spPr bwMode="auto">
          <a:xfrm>
            <a:off x="5486400" y="3810000"/>
            <a:ext cx="3048000" cy="2286000"/>
          </a:xfrm>
          <a:custGeom>
            <a:avLst/>
            <a:gdLst>
              <a:gd name="T0" fmla="*/ 0 w 1920"/>
              <a:gd name="T1" fmla="*/ 0 h 1440"/>
              <a:gd name="T2" fmla="*/ 0 w 1920"/>
              <a:gd name="T3" fmla="*/ 2147483646 h 1440"/>
              <a:gd name="T4" fmla="*/ 2147483646 w 1920"/>
              <a:gd name="T5" fmla="*/ 2147483646 h 1440"/>
              <a:gd name="T6" fmla="*/ 0 60000 65536"/>
              <a:gd name="T7" fmla="*/ 0 60000 65536"/>
              <a:gd name="T8" fmla="*/ 0 60000 65536"/>
              <a:gd name="T9" fmla="*/ 0 w 1920"/>
              <a:gd name="T10" fmla="*/ 0 h 1440"/>
              <a:gd name="T11" fmla="*/ 1920 w 1920"/>
              <a:gd name="T12" fmla="*/ 1440 h 1440"/>
            </a:gdLst>
            <a:ahLst/>
            <a:cxnLst>
              <a:cxn ang="T6">
                <a:pos x="T0" y="T1"/>
              </a:cxn>
              <a:cxn ang="T7">
                <a:pos x="T2" y="T3"/>
              </a:cxn>
              <a:cxn ang="T8">
                <a:pos x="T4" y="T5"/>
              </a:cxn>
            </a:cxnLst>
            <a:rect l="T9" t="T10" r="T11" b="T12"/>
            <a:pathLst>
              <a:path w="1920" h="1440">
                <a:moveTo>
                  <a:pt x="0" y="0"/>
                </a:moveTo>
                <a:lnTo>
                  <a:pt x="0" y="1440"/>
                </a:lnTo>
                <a:lnTo>
                  <a:pt x="1920" y="1440"/>
                </a:lnTo>
              </a:path>
            </a:pathLst>
          </a:custGeom>
          <a:noFill/>
          <a:ln w="2857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 name="Text Box 7">
            <a:extLst>
              <a:ext uri="{FF2B5EF4-FFF2-40B4-BE49-F238E27FC236}">
                <a16:creationId xmlns:a16="http://schemas.microsoft.com/office/drawing/2014/main" id="{7990A07E-03F5-4343-A4A8-51BC4A7FB028}"/>
              </a:ext>
            </a:extLst>
          </p:cNvPr>
          <p:cNvSpPr txBox="1">
            <a:spLocks noChangeArrowheads="1"/>
          </p:cNvSpPr>
          <p:nvPr/>
        </p:nvSpPr>
        <p:spPr bwMode="auto">
          <a:xfrm>
            <a:off x="7600950" y="6096000"/>
            <a:ext cx="1481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dirty="0">
                <a:solidFill>
                  <a:srgbClr val="000000"/>
                </a:solidFill>
                <a:latin typeface="Arial" panose="020B0604020202020204" pitchFamily="34" charset="0"/>
              </a:rPr>
              <a:t>associativity</a:t>
            </a:r>
          </a:p>
        </p:txBody>
      </p:sp>
      <p:sp>
        <p:nvSpPr>
          <p:cNvPr id="7" name="Freeform 8">
            <a:extLst>
              <a:ext uri="{FF2B5EF4-FFF2-40B4-BE49-F238E27FC236}">
                <a16:creationId xmlns:a16="http://schemas.microsoft.com/office/drawing/2014/main" id="{66592822-2F14-FE42-B1EB-F5C468F808AB}"/>
              </a:ext>
            </a:extLst>
          </p:cNvPr>
          <p:cNvSpPr>
            <a:spLocks/>
          </p:cNvSpPr>
          <p:nvPr/>
        </p:nvSpPr>
        <p:spPr bwMode="auto">
          <a:xfrm>
            <a:off x="5772150" y="3865563"/>
            <a:ext cx="2609850" cy="852487"/>
          </a:xfrm>
          <a:custGeom>
            <a:avLst/>
            <a:gdLst>
              <a:gd name="T0" fmla="*/ 0 w 1644"/>
              <a:gd name="T1" fmla="*/ 2147483646 h 537"/>
              <a:gd name="T2" fmla="*/ 2147483646 w 1644"/>
              <a:gd name="T3" fmla="*/ 2147483646 h 537"/>
              <a:gd name="T4" fmla="*/ 2147483646 w 1644"/>
              <a:gd name="T5" fmla="*/ 2147483646 h 537"/>
              <a:gd name="T6" fmla="*/ 2147483646 w 1644"/>
              <a:gd name="T7" fmla="*/ 0 h 537"/>
              <a:gd name="T8" fmla="*/ 0 60000 65536"/>
              <a:gd name="T9" fmla="*/ 0 60000 65536"/>
              <a:gd name="T10" fmla="*/ 0 60000 65536"/>
              <a:gd name="T11" fmla="*/ 0 60000 65536"/>
              <a:gd name="T12" fmla="*/ 0 w 1644"/>
              <a:gd name="T13" fmla="*/ 0 h 537"/>
              <a:gd name="T14" fmla="*/ 1644 w 1644"/>
              <a:gd name="T15" fmla="*/ 537 h 537"/>
            </a:gdLst>
            <a:ahLst/>
            <a:cxnLst>
              <a:cxn ang="T8">
                <a:pos x="T0" y="T1"/>
              </a:cxn>
              <a:cxn ang="T9">
                <a:pos x="T2" y="T3"/>
              </a:cxn>
              <a:cxn ang="T10">
                <a:pos x="T4" y="T5"/>
              </a:cxn>
              <a:cxn ang="T11">
                <a:pos x="T6" y="T7"/>
              </a:cxn>
            </a:cxnLst>
            <a:rect l="T12" t="T13" r="T14" b="T15"/>
            <a:pathLst>
              <a:path w="1644" h="537">
                <a:moveTo>
                  <a:pt x="0" y="537"/>
                </a:moveTo>
                <a:cubicBezTo>
                  <a:pt x="35" y="492"/>
                  <a:pt x="101" y="341"/>
                  <a:pt x="209" y="267"/>
                </a:cubicBezTo>
                <a:cubicBezTo>
                  <a:pt x="317" y="193"/>
                  <a:pt x="410" y="134"/>
                  <a:pt x="649" y="90"/>
                </a:cubicBezTo>
                <a:cubicBezTo>
                  <a:pt x="888" y="46"/>
                  <a:pt x="1437" y="19"/>
                  <a:pt x="1644"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 name="Text Box 6">
            <a:extLst>
              <a:ext uri="{FF2B5EF4-FFF2-40B4-BE49-F238E27FC236}">
                <a16:creationId xmlns:a16="http://schemas.microsoft.com/office/drawing/2014/main" id="{7B9AE853-066C-2543-B234-2F19352731EA}"/>
              </a:ext>
            </a:extLst>
          </p:cNvPr>
          <p:cNvSpPr txBox="1">
            <a:spLocks noChangeArrowheads="1"/>
          </p:cNvSpPr>
          <p:nvPr/>
        </p:nvSpPr>
        <p:spPr bwMode="auto">
          <a:xfrm>
            <a:off x="4503737" y="3721100"/>
            <a:ext cx="1116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dirty="0">
                <a:solidFill>
                  <a:srgbClr val="000000"/>
                </a:solidFill>
                <a:latin typeface="Arial" panose="020B0604020202020204" pitchFamily="34" charset="0"/>
              </a:rPr>
              <a:t>hit rate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31AF6D28-E6ED-476D-A2DC-E37DDA3D0DBB}"/>
              </a:ext>
            </a:extLst>
          </p:cNvPr>
          <p:cNvGrpSpPr/>
          <p:nvPr/>
        </p:nvGrpSpPr>
        <p:grpSpPr>
          <a:xfrm>
            <a:off x="2174321" y="3091276"/>
            <a:ext cx="2570440" cy="3027103"/>
            <a:chOff x="2198083" y="3091276"/>
            <a:chExt cx="2546677" cy="2547633"/>
          </a:xfrm>
        </p:grpSpPr>
        <p:cxnSp>
          <p:nvCxnSpPr>
            <p:cNvPr id="25" name="Straight Arrow Connector 23">
              <a:extLst>
                <a:ext uri="{FF2B5EF4-FFF2-40B4-BE49-F238E27FC236}">
                  <a16:creationId xmlns:a16="http://schemas.microsoft.com/office/drawing/2014/main" id="{BD6F5708-835A-46A3-9831-DE69079BCF6B}"/>
                </a:ext>
              </a:extLst>
            </p:cNvPr>
            <p:cNvCxnSpPr>
              <a:cxnSpLocks/>
            </p:cNvCxnSpPr>
            <p:nvPr/>
          </p:nvCxnSpPr>
          <p:spPr bwMode="auto">
            <a:xfrm flipV="1">
              <a:off x="2198083" y="3091276"/>
              <a:ext cx="2546677" cy="2547633"/>
            </a:xfrm>
            <a:prstGeom prst="straightConnector1">
              <a:avLst/>
            </a:prstGeom>
            <a:solidFill>
              <a:schemeClr val="accent1"/>
            </a:solidFill>
            <a:ln w="38100" cap="flat" cmpd="sng" algn="ctr">
              <a:solidFill>
                <a:srgbClr val="00B050"/>
              </a:solidFill>
              <a:prstDash val="solid"/>
              <a:round/>
              <a:headEnd type="none" w="med" len="med"/>
              <a:tailEnd type="none" w="lg" len="lg"/>
            </a:ln>
            <a:effectLst/>
          </p:spPr>
        </p:cxnSp>
        <p:sp>
          <p:nvSpPr>
            <p:cNvPr id="26" name="TextBox 24">
              <a:extLst>
                <a:ext uri="{FF2B5EF4-FFF2-40B4-BE49-F238E27FC236}">
                  <a16:creationId xmlns:a16="http://schemas.microsoft.com/office/drawing/2014/main" id="{A1ABF284-17C9-4F23-899D-89937B57FA9D}"/>
                </a:ext>
              </a:extLst>
            </p:cNvPr>
            <p:cNvSpPr txBox="1"/>
            <p:nvPr/>
          </p:nvSpPr>
          <p:spPr>
            <a:xfrm rot="18559001">
              <a:off x="3133104" y="3766504"/>
              <a:ext cx="1082814" cy="434784"/>
            </a:xfrm>
            <a:prstGeom prst="rect">
              <a:avLst/>
            </a:prstGeom>
            <a:noFill/>
          </p:spPr>
          <p:txBody>
            <a:bodyPr wrap="none" rtlCol="0">
              <a:spAutoFit/>
            </a:bodyPr>
            <a:lstStyle/>
            <a:p>
              <a:pPr algn="ctr"/>
              <a:r>
                <a:rPr lang="en-US" sz="1800" dirty="0">
                  <a:solidFill>
                    <a:srgbClr val="00B050"/>
                  </a:solidFill>
                </a:rPr>
                <a:t>HBM GB/s</a:t>
              </a:r>
            </a:p>
          </p:txBody>
        </p:sp>
      </p:grpSp>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altLang="zh-CN" dirty="0"/>
              <a:t>Memory </a:t>
            </a:r>
            <a:r>
              <a:rPr lang="en-US" dirty="0"/>
              <a:t>Roofline Model</a:t>
            </a:r>
          </a:p>
        </p:txBody>
      </p:sp>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308778" y="1013462"/>
            <a:ext cx="8682822" cy="2013776"/>
          </a:xfrm>
        </p:spPr>
        <p:txBody>
          <a:bodyPr/>
          <a:lstStyle/>
          <a:p>
            <a:r>
              <a:rPr lang="en-US" b="1" dirty="0"/>
              <a:t>Memory Roofline Model</a:t>
            </a:r>
            <a:r>
              <a:rPr lang="en-US" dirty="0"/>
              <a:t>:</a:t>
            </a:r>
          </a:p>
          <a:p>
            <a:pPr lvl="1"/>
            <a:r>
              <a:rPr lang="en-US" altLang="zh-CN" sz="2400" dirty="0">
                <a:solidFill>
                  <a:srgbClr val="0432FF"/>
                </a:solidFill>
              </a:rPr>
              <a:t>DRAM</a:t>
            </a:r>
            <a:r>
              <a:rPr lang="en-US" altLang="zh-CN" dirty="0"/>
              <a:t>: limited memory bandwidth;</a:t>
            </a:r>
          </a:p>
          <a:p>
            <a:pPr lvl="1"/>
            <a:r>
              <a:rPr lang="en-US" altLang="zh-CN" sz="2400" dirty="0">
                <a:solidFill>
                  <a:srgbClr val="00B050"/>
                </a:solidFill>
              </a:rPr>
              <a:t>HBM</a:t>
            </a:r>
            <a:r>
              <a:rPr lang="en-US" dirty="0"/>
              <a:t>: medium memory bandwidth;</a:t>
            </a:r>
          </a:p>
          <a:p>
            <a:pPr lvl="1"/>
            <a:r>
              <a:rPr lang="en-US" altLang="zh-CN" dirty="0">
                <a:solidFill>
                  <a:srgbClr val="FFC000"/>
                </a:solidFill>
              </a:rPr>
              <a:t>Cache</a:t>
            </a:r>
            <a:r>
              <a:rPr lang="en-US" dirty="0"/>
              <a:t>: large memory bandwidth</a:t>
            </a:r>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grpSp>
        <p:nvGrpSpPr>
          <p:cNvPr id="46" name="Group 17">
            <a:extLst>
              <a:ext uri="{FF2B5EF4-FFF2-40B4-BE49-F238E27FC236}">
                <a16:creationId xmlns:a16="http://schemas.microsoft.com/office/drawing/2014/main" id="{6B9C7225-5556-43DC-B699-EBD9CEE36B05}"/>
              </a:ext>
            </a:extLst>
          </p:cNvPr>
          <p:cNvGrpSpPr/>
          <p:nvPr/>
        </p:nvGrpSpPr>
        <p:grpSpPr>
          <a:xfrm>
            <a:off x="1945720" y="2943818"/>
            <a:ext cx="5598080" cy="369332"/>
            <a:chOff x="8382000" y="2607903"/>
            <a:chExt cx="4343400" cy="369332"/>
          </a:xfrm>
        </p:grpSpPr>
        <p:cxnSp>
          <p:nvCxnSpPr>
            <p:cNvPr id="47" name="Straight Arrow Connector 9">
              <a:extLst>
                <a:ext uri="{FF2B5EF4-FFF2-40B4-BE49-F238E27FC236}">
                  <a16:creationId xmlns:a16="http://schemas.microsoft.com/office/drawing/2014/main" id="{C5E80D07-AD21-4027-AF42-3A04032E3A8F}"/>
                </a:ext>
              </a:extLst>
            </p:cNvPr>
            <p:cNvCxnSpPr/>
            <p:nvPr/>
          </p:nvCxnSpPr>
          <p:spPr bwMode="auto">
            <a:xfrm>
              <a:off x="8382000" y="2971800"/>
              <a:ext cx="4343400" cy="0"/>
            </a:xfrm>
            <a:prstGeom prst="straightConnector1">
              <a:avLst/>
            </a:prstGeom>
            <a:solidFill>
              <a:schemeClr val="accent1"/>
            </a:solidFill>
            <a:ln w="38100" cap="flat" cmpd="sng" algn="ctr">
              <a:solidFill>
                <a:srgbClr val="FF0080"/>
              </a:solidFill>
              <a:prstDash val="solid"/>
              <a:round/>
              <a:headEnd type="none" w="med" len="med"/>
              <a:tailEnd type="none" w="lg" len="lg"/>
            </a:ln>
            <a:effectLst/>
          </p:spPr>
        </p:cxnSp>
        <p:sp>
          <p:nvSpPr>
            <p:cNvPr id="48" name="TextBox 12">
              <a:extLst>
                <a:ext uri="{FF2B5EF4-FFF2-40B4-BE49-F238E27FC236}">
                  <a16:creationId xmlns:a16="http://schemas.microsoft.com/office/drawing/2014/main" id="{78D46EB0-7B81-4143-BBC9-051A6B0DCE1F}"/>
                </a:ext>
              </a:extLst>
            </p:cNvPr>
            <p:cNvSpPr txBox="1"/>
            <p:nvPr/>
          </p:nvSpPr>
          <p:spPr>
            <a:xfrm>
              <a:off x="8468650" y="2607903"/>
              <a:ext cx="1402948" cy="369332"/>
            </a:xfrm>
            <a:prstGeom prst="rect">
              <a:avLst/>
            </a:prstGeom>
            <a:noFill/>
          </p:spPr>
          <p:txBody>
            <a:bodyPr wrap="none" rtlCol="0">
              <a:spAutoFit/>
            </a:bodyPr>
            <a:lstStyle/>
            <a:p>
              <a:pPr algn="ctr"/>
              <a:r>
                <a:rPr lang="en-US" sz="1800" dirty="0">
                  <a:solidFill>
                    <a:srgbClr val="FF0080"/>
                  </a:solidFill>
                </a:rPr>
                <a:t>Peak Flop/s</a:t>
              </a:r>
            </a:p>
          </p:txBody>
        </p:sp>
      </p:grpSp>
      <p:cxnSp>
        <p:nvCxnSpPr>
          <p:cNvPr id="50" name="Straight Arrow Connector 5">
            <a:extLst>
              <a:ext uri="{FF2B5EF4-FFF2-40B4-BE49-F238E27FC236}">
                <a16:creationId xmlns:a16="http://schemas.microsoft.com/office/drawing/2014/main" id="{E6260FF1-F44D-47B4-AFD6-2549B4E125FE}"/>
              </a:ext>
            </a:extLst>
          </p:cNvPr>
          <p:cNvCxnSpPr>
            <a:cxnSpLocks/>
          </p:cNvCxnSpPr>
          <p:nvPr/>
        </p:nvCxnSpPr>
        <p:spPr bwMode="auto">
          <a:xfrm>
            <a:off x="1945720" y="6127115"/>
            <a:ext cx="5598080" cy="45084"/>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cxnSp>
        <p:nvCxnSpPr>
          <p:cNvPr id="51" name="Straight Arrow Connector 6">
            <a:extLst>
              <a:ext uri="{FF2B5EF4-FFF2-40B4-BE49-F238E27FC236}">
                <a16:creationId xmlns:a16="http://schemas.microsoft.com/office/drawing/2014/main" id="{A1AA3CD9-763A-44AE-A04D-DBE5C7C8D373}"/>
              </a:ext>
            </a:extLst>
          </p:cNvPr>
          <p:cNvCxnSpPr>
            <a:cxnSpLocks/>
          </p:cNvCxnSpPr>
          <p:nvPr/>
        </p:nvCxnSpPr>
        <p:spPr bwMode="auto">
          <a:xfrm flipV="1">
            <a:off x="2174320" y="2926715"/>
            <a:ext cx="41476" cy="3429000"/>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sp>
        <p:nvSpPr>
          <p:cNvPr id="52" name="TextBox 13">
            <a:extLst>
              <a:ext uri="{FF2B5EF4-FFF2-40B4-BE49-F238E27FC236}">
                <a16:creationId xmlns:a16="http://schemas.microsoft.com/office/drawing/2014/main" id="{C610348B-0149-467B-A5B8-11F1E137DB96}"/>
              </a:ext>
            </a:extLst>
          </p:cNvPr>
          <p:cNvSpPr txBox="1"/>
          <p:nvPr/>
        </p:nvSpPr>
        <p:spPr>
          <a:xfrm rot="16200000">
            <a:off x="705329" y="4364471"/>
            <a:ext cx="2590801" cy="369332"/>
          </a:xfrm>
          <a:prstGeom prst="rect">
            <a:avLst/>
          </a:prstGeom>
          <a:noFill/>
        </p:spPr>
        <p:txBody>
          <a:bodyPr wrap="square" rtlCol="0">
            <a:spAutoFit/>
          </a:bodyPr>
          <a:lstStyle/>
          <a:p>
            <a:pPr algn="ctr"/>
            <a:r>
              <a:rPr lang="en-US" dirty="0"/>
              <a:t>Throughput</a:t>
            </a:r>
            <a:r>
              <a:rPr lang="en-US" sz="1800" dirty="0"/>
              <a:t> (Flop/s)</a:t>
            </a:r>
          </a:p>
        </p:txBody>
      </p:sp>
      <p:grpSp>
        <p:nvGrpSpPr>
          <p:cNvPr id="53" name="Group 18">
            <a:extLst>
              <a:ext uri="{FF2B5EF4-FFF2-40B4-BE49-F238E27FC236}">
                <a16:creationId xmlns:a16="http://schemas.microsoft.com/office/drawing/2014/main" id="{08E839FD-54B4-49B4-A6B2-BE7DB9FC7862}"/>
              </a:ext>
            </a:extLst>
          </p:cNvPr>
          <p:cNvGrpSpPr/>
          <p:nvPr/>
        </p:nvGrpSpPr>
        <p:grpSpPr>
          <a:xfrm>
            <a:off x="2193733" y="3044341"/>
            <a:ext cx="3537427" cy="3082733"/>
            <a:chOff x="9067800" y="2133600"/>
            <a:chExt cx="3657600" cy="3657600"/>
          </a:xfrm>
        </p:grpSpPr>
        <p:cxnSp>
          <p:nvCxnSpPr>
            <p:cNvPr id="54" name="Straight Arrow Connector 7">
              <a:extLst>
                <a:ext uri="{FF2B5EF4-FFF2-40B4-BE49-F238E27FC236}">
                  <a16:creationId xmlns:a16="http://schemas.microsoft.com/office/drawing/2014/main" id="{452F29CA-BF98-4192-BA29-C86676B71E38}"/>
                </a:ext>
              </a:extLst>
            </p:cNvPr>
            <p:cNvCxnSpPr/>
            <p:nvPr/>
          </p:nvCxnSpPr>
          <p:spPr bwMode="auto">
            <a:xfrm flipV="1">
              <a:off x="9067800" y="2133600"/>
              <a:ext cx="3657600" cy="3657600"/>
            </a:xfrm>
            <a:prstGeom prst="straightConnector1">
              <a:avLst/>
            </a:prstGeom>
            <a:solidFill>
              <a:schemeClr val="accent1"/>
            </a:solidFill>
            <a:ln w="38100" cap="flat" cmpd="sng" algn="ctr">
              <a:solidFill>
                <a:srgbClr val="0432FF"/>
              </a:solidFill>
              <a:prstDash val="solid"/>
              <a:round/>
              <a:headEnd type="none" w="med" len="med"/>
              <a:tailEnd type="none" w="lg" len="lg"/>
            </a:ln>
            <a:effectLst/>
          </p:spPr>
        </p:cxnSp>
        <p:sp>
          <p:nvSpPr>
            <p:cNvPr id="55" name="TextBox 15">
              <a:extLst>
                <a:ext uri="{FF2B5EF4-FFF2-40B4-BE49-F238E27FC236}">
                  <a16:creationId xmlns:a16="http://schemas.microsoft.com/office/drawing/2014/main" id="{D40D4DA8-CFD8-4EDB-81A1-28A897D5C631}"/>
                </a:ext>
              </a:extLst>
            </p:cNvPr>
            <p:cNvSpPr txBox="1"/>
            <p:nvPr/>
          </p:nvSpPr>
          <p:spPr>
            <a:xfrm rot="19238106">
              <a:off x="10310946" y="3903226"/>
              <a:ext cx="1441420" cy="369332"/>
            </a:xfrm>
            <a:prstGeom prst="rect">
              <a:avLst/>
            </a:prstGeom>
            <a:noFill/>
          </p:spPr>
          <p:txBody>
            <a:bodyPr wrap="none" rtlCol="0">
              <a:spAutoFit/>
            </a:bodyPr>
            <a:lstStyle/>
            <a:p>
              <a:pPr algn="ctr"/>
              <a:r>
                <a:rPr lang="en-US" sz="1800" dirty="0">
                  <a:solidFill>
                    <a:srgbClr val="0432FF"/>
                  </a:solidFill>
                </a:rPr>
                <a:t>DRAM GB/s</a:t>
              </a:r>
            </a:p>
          </p:txBody>
        </p:sp>
      </p:grpSp>
      <p:sp>
        <p:nvSpPr>
          <p:cNvPr id="56" name="TextBox 16">
            <a:extLst>
              <a:ext uri="{FF2B5EF4-FFF2-40B4-BE49-F238E27FC236}">
                <a16:creationId xmlns:a16="http://schemas.microsoft.com/office/drawing/2014/main" id="{C32926F6-6C42-43B5-962A-F634B87C906D}"/>
              </a:ext>
            </a:extLst>
          </p:cNvPr>
          <p:cNvSpPr txBox="1"/>
          <p:nvPr/>
        </p:nvSpPr>
        <p:spPr>
          <a:xfrm>
            <a:off x="2188606" y="6118420"/>
            <a:ext cx="4329113" cy="369332"/>
          </a:xfrm>
          <a:prstGeom prst="rect">
            <a:avLst/>
          </a:prstGeom>
          <a:noFill/>
        </p:spPr>
        <p:txBody>
          <a:bodyPr wrap="square" rtlCol="0">
            <a:spAutoFit/>
          </a:bodyPr>
          <a:lstStyle/>
          <a:p>
            <a:pPr algn="ctr"/>
            <a:r>
              <a:rPr lang="en-US" sz="1800" dirty="0"/>
              <a:t>Arithmetic Intensity (</a:t>
            </a:r>
            <a:r>
              <a:rPr lang="en-US" sz="1800" dirty="0" err="1"/>
              <a:t>Flop:Byte</a:t>
            </a:r>
            <a:r>
              <a:rPr lang="en-US" sz="1800" dirty="0"/>
              <a:t>)</a:t>
            </a:r>
          </a:p>
        </p:txBody>
      </p:sp>
      <p:sp>
        <p:nvSpPr>
          <p:cNvPr id="5" name="矩形 4">
            <a:extLst>
              <a:ext uri="{FF2B5EF4-FFF2-40B4-BE49-F238E27FC236}">
                <a16:creationId xmlns:a16="http://schemas.microsoft.com/office/drawing/2014/main" id="{29983E79-B1DC-4E55-BFC7-3BBEE3BD35D3}"/>
              </a:ext>
            </a:extLst>
          </p:cNvPr>
          <p:cNvSpPr/>
          <p:nvPr/>
        </p:nvSpPr>
        <p:spPr>
          <a:xfrm>
            <a:off x="-304800" y="6487752"/>
            <a:ext cx="9055497" cy="338554"/>
          </a:xfrm>
          <a:prstGeom prst="rect">
            <a:avLst/>
          </a:prstGeom>
        </p:spPr>
        <p:txBody>
          <a:bodyPr wrap="square">
            <a:spAutoFit/>
          </a:bodyPr>
          <a:lstStyle/>
          <a:p>
            <a:pPr marL="492101" lvl="3">
              <a:spcBef>
                <a:spcPts val="800"/>
              </a:spcBef>
              <a:buSzPct val="100000"/>
            </a:pPr>
            <a:r>
              <a:rPr lang="en-US" altLang="zh-CN" sz="1600" dirty="0">
                <a:solidFill>
                  <a:schemeClr val="bg1">
                    <a:lumMod val="50000"/>
                  </a:schemeClr>
                </a:solidFill>
                <a:latin typeface="Bahnschrift Condensed" panose="020B0502040204020203" pitchFamily="34" charset="0"/>
              </a:rPr>
              <a:t>Williams, Waterman, Patterson, “Roofline: An Insightful Visual Performance Model for Multicore Architectures”, CACM, 2009 </a:t>
            </a:r>
          </a:p>
        </p:txBody>
      </p:sp>
      <p:grpSp>
        <p:nvGrpSpPr>
          <p:cNvPr id="8" name="组合 7">
            <a:extLst>
              <a:ext uri="{FF2B5EF4-FFF2-40B4-BE49-F238E27FC236}">
                <a16:creationId xmlns:a16="http://schemas.microsoft.com/office/drawing/2014/main" id="{731FEDC9-9B68-4A9E-9367-A0E8CFAD098F}"/>
              </a:ext>
            </a:extLst>
          </p:cNvPr>
          <p:cNvGrpSpPr/>
          <p:nvPr/>
        </p:nvGrpSpPr>
        <p:grpSpPr>
          <a:xfrm>
            <a:off x="2159660" y="3124200"/>
            <a:ext cx="1802739" cy="2971793"/>
            <a:chOff x="2220877" y="3035933"/>
            <a:chExt cx="1774399" cy="1642551"/>
          </a:xfrm>
        </p:grpSpPr>
        <p:cxnSp>
          <p:nvCxnSpPr>
            <p:cNvPr id="23" name="Straight Arrow Connector 25">
              <a:extLst>
                <a:ext uri="{FF2B5EF4-FFF2-40B4-BE49-F238E27FC236}">
                  <a16:creationId xmlns:a16="http://schemas.microsoft.com/office/drawing/2014/main" id="{115F3553-6DA1-4A00-9669-BDC5F36EE5B6}"/>
                </a:ext>
              </a:extLst>
            </p:cNvPr>
            <p:cNvCxnSpPr>
              <a:cxnSpLocks/>
            </p:cNvCxnSpPr>
            <p:nvPr/>
          </p:nvCxnSpPr>
          <p:spPr bwMode="auto">
            <a:xfrm flipV="1">
              <a:off x="2220877" y="3035933"/>
              <a:ext cx="1774399" cy="1642551"/>
            </a:xfrm>
            <a:prstGeom prst="straightConnector1">
              <a:avLst/>
            </a:prstGeom>
            <a:solidFill>
              <a:schemeClr val="accent1"/>
            </a:solidFill>
            <a:ln w="38100" cap="flat" cmpd="sng" algn="ctr">
              <a:solidFill>
                <a:srgbClr val="FFC000"/>
              </a:solidFill>
              <a:prstDash val="solid"/>
              <a:round/>
              <a:headEnd type="none" w="med" len="med"/>
              <a:tailEnd type="none" w="lg" len="lg"/>
            </a:ln>
            <a:effectLst/>
          </p:spPr>
        </p:cxnSp>
        <p:sp>
          <p:nvSpPr>
            <p:cNvPr id="24" name="TextBox 26">
              <a:extLst>
                <a:ext uri="{FF2B5EF4-FFF2-40B4-BE49-F238E27FC236}">
                  <a16:creationId xmlns:a16="http://schemas.microsoft.com/office/drawing/2014/main" id="{84DE4B21-AFAE-4973-847B-52BE0FE08290}"/>
                </a:ext>
              </a:extLst>
            </p:cNvPr>
            <p:cNvSpPr txBox="1"/>
            <p:nvPr/>
          </p:nvSpPr>
          <p:spPr>
            <a:xfrm rot="17974627">
              <a:off x="2598758" y="3545552"/>
              <a:ext cx="802216" cy="657711"/>
            </a:xfrm>
            <a:prstGeom prst="rect">
              <a:avLst/>
            </a:prstGeom>
            <a:noFill/>
          </p:spPr>
          <p:txBody>
            <a:bodyPr wrap="none" rtlCol="0">
              <a:spAutoFit/>
            </a:bodyPr>
            <a:lstStyle/>
            <a:p>
              <a:pPr algn="ctr"/>
              <a:r>
                <a:rPr lang="en-US" dirty="0">
                  <a:solidFill>
                    <a:srgbClr val="FFC000"/>
                  </a:solidFill>
                </a:rPr>
                <a:t>Cache</a:t>
              </a:r>
              <a:r>
                <a:rPr lang="en-US" sz="1800" dirty="0">
                  <a:solidFill>
                    <a:srgbClr val="FFC000"/>
                  </a:solidFill>
                </a:rPr>
                <a:t> GB/s</a:t>
              </a:r>
            </a:p>
          </p:txBody>
        </p:sp>
      </p:grpSp>
    </p:spTree>
    <p:extLst>
      <p:ext uri="{BB962C8B-B14F-4D97-AF65-F5344CB8AC3E}">
        <p14:creationId xmlns:p14="http://schemas.microsoft.com/office/powerpoint/2010/main" val="40143582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9.7"/>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6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7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0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3_Edge">
  <a:themeElements>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1_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1_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1_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1_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1_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34952</TotalTime>
  <Words>4819</Words>
  <Application>Microsoft Office PowerPoint</Application>
  <PresentationFormat>全屏显示(4:3)</PresentationFormat>
  <Paragraphs>1050</Paragraphs>
  <Slides>68</Slides>
  <Notes>13</Notes>
  <HiddenSlides>0</HiddenSlides>
  <MMClips>0</MMClips>
  <ScaleCrop>false</ScaleCrop>
  <HeadingPairs>
    <vt:vector size="8" baseType="variant">
      <vt:variant>
        <vt:lpstr>已用的字体</vt:lpstr>
      </vt:variant>
      <vt:variant>
        <vt:i4>13</vt:i4>
      </vt:variant>
      <vt:variant>
        <vt:lpstr>主题</vt:lpstr>
      </vt:variant>
      <vt:variant>
        <vt:i4>7</vt:i4>
      </vt:variant>
      <vt:variant>
        <vt:lpstr>嵌入 OLE 服务器</vt:lpstr>
      </vt:variant>
      <vt:variant>
        <vt:i4>1</vt:i4>
      </vt:variant>
      <vt:variant>
        <vt:lpstr>幻灯片标题</vt:lpstr>
      </vt:variant>
      <vt:variant>
        <vt:i4>68</vt:i4>
      </vt:variant>
    </vt:vector>
  </HeadingPairs>
  <TitlesOfParts>
    <vt:vector size="89" baseType="lpstr">
      <vt:lpstr>intel-clear</vt:lpstr>
      <vt:lpstr>Arial</vt:lpstr>
      <vt:lpstr>Arial Narrow</vt:lpstr>
      <vt:lpstr>Bahnschrift Condensed</vt:lpstr>
      <vt:lpstr>Calibri</vt:lpstr>
      <vt:lpstr>Cambria Math</vt:lpstr>
      <vt:lpstr>Consolas</vt:lpstr>
      <vt:lpstr>Garamond</vt:lpstr>
      <vt:lpstr>Gill Sans MT</vt:lpstr>
      <vt:lpstr>Lucida Console</vt:lpstr>
      <vt:lpstr>Tahoma</vt:lpstr>
      <vt:lpstr>Verdana</vt:lpstr>
      <vt:lpstr>Wingdings</vt:lpstr>
      <vt:lpstr>Edge</vt:lpstr>
      <vt:lpstr>4_Edge</vt:lpstr>
      <vt:lpstr>6_Edge</vt:lpstr>
      <vt:lpstr>7_Edge</vt:lpstr>
      <vt:lpstr>10_Edge</vt:lpstr>
      <vt:lpstr>1_Edge</vt:lpstr>
      <vt:lpstr>13_Edge</vt:lpstr>
      <vt:lpstr>VISIO</vt:lpstr>
      <vt:lpstr> Computer Arch. &amp; AI Chip  Lecture 8: Memory Hierarchy  and Caches</vt:lpstr>
      <vt:lpstr>Recall: GPU Programming Model vs. Hardware Execution Model</vt:lpstr>
      <vt:lpstr>PowerPoint 演示文稿</vt:lpstr>
      <vt:lpstr>Recall: Latency Hiding and Occupancy</vt:lpstr>
      <vt:lpstr>Recall: SIMT Memory Access</vt:lpstr>
      <vt:lpstr>Recall: Naïve Matrix-Matrix Multiplication</vt:lpstr>
      <vt:lpstr>Recall: GPU Tiled Matrix-Matrix Multiplication</vt:lpstr>
      <vt:lpstr>Recall: Tiled Matrix-Matrix Multiplication with Shared Memory</vt:lpstr>
      <vt:lpstr>Issue of Shared Memory Mechanism</vt:lpstr>
      <vt:lpstr>Recall: Data Movement vs. Computation</vt:lpstr>
      <vt:lpstr>Recall: Idealism</vt:lpstr>
      <vt:lpstr>Recall: DRAM Capacity, Bandwidth &amp; Latency</vt:lpstr>
      <vt:lpstr>Recall: FF vs. SRAM vs. DRAM vs. Flash</vt:lpstr>
      <vt:lpstr>Recall: Memory Address Mapping</vt:lpstr>
      <vt:lpstr>Where Are We?</vt:lpstr>
      <vt:lpstr>The Memory Hierarchy</vt:lpstr>
      <vt:lpstr>Memory Hierarchy in a Modern System (I)</vt:lpstr>
      <vt:lpstr>Memory Hierarchy in a Modern System (II)</vt:lpstr>
      <vt:lpstr>Memory Hierarchy in a Modern System (III)</vt:lpstr>
      <vt:lpstr>Memory Hierarchy in a Modern System (IV)</vt:lpstr>
      <vt:lpstr>Ideal Memory</vt:lpstr>
      <vt:lpstr>The Problem of Ideal Memory</vt:lpstr>
      <vt:lpstr>The Problem of Ideal Memory</vt:lpstr>
      <vt:lpstr>The Problem (Table View)</vt:lpstr>
      <vt:lpstr>Aside: The Problem (2011 Version)</vt:lpstr>
      <vt:lpstr>Why Cache?</vt:lpstr>
      <vt:lpstr>DRAM Capacity, Bandwidth &amp; Latency</vt:lpstr>
      <vt:lpstr>Why Cache?</vt:lpstr>
      <vt:lpstr>Memory Hierarchy</vt:lpstr>
      <vt:lpstr>The Memory Hierarchy</vt:lpstr>
      <vt:lpstr>Memory Hierarchy Example</vt:lpstr>
      <vt:lpstr>Why Cache Works? Locality</vt:lpstr>
      <vt:lpstr>Why Cache Works? Memory Locality</vt:lpstr>
      <vt:lpstr>Caching Basics: Exploit Temporal Locality</vt:lpstr>
      <vt:lpstr>Caching Basics: Exploit Spatial Locality</vt:lpstr>
      <vt:lpstr>The Bookshelf Analogy</vt:lpstr>
      <vt:lpstr>Caching in a Pipelined Design</vt:lpstr>
      <vt:lpstr>A Note on Manual vs. Automatic Management</vt:lpstr>
      <vt:lpstr>Automatic Management in Memory Hierarchy</vt:lpstr>
      <vt:lpstr>Cache in 1962 (Bloom, Cohen, Porter)</vt:lpstr>
      <vt:lpstr>A Modern Memory Hierarchy</vt:lpstr>
      <vt:lpstr>Hierarchical Latency Analysis</vt:lpstr>
      <vt:lpstr>Hierarchy Design Considerations</vt:lpstr>
      <vt:lpstr>Memory Bottleneck</vt:lpstr>
      <vt:lpstr>Comparison of Latency: L1 of Intel CPU</vt:lpstr>
      <vt:lpstr>Comparison of Latency: L2 of Intel CPU</vt:lpstr>
      <vt:lpstr>Comparison of Latency: Memory of Intel CPU</vt:lpstr>
      <vt:lpstr>Cache Basics and Operation</vt:lpstr>
      <vt:lpstr>Cache</vt:lpstr>
      <vt:lpstr>Blocks </vt:lpstr>
      <vt:lpstr>Conceptual Picture of a Cache</vt:lpstr>
      <vt:lpstr>Cache Abstraction and Metrics</vt:lpstr>
      <vt:lpstr>Addressing the Cache</vt:lpstr>
      <vt:lpstr>A Toy Example for Cache</vt:lpstr>
      <vt:lpstr>Caching Basics</vt:lpstr>
      <vt:lpstr>Cache: Placement</vt:lpstr>
      <vt:lpstr>Three Cache Organization Methods</vt:lpstr>
      <vt:lpstr>Direct-Mapped Cache: Placement and Access</vt:lpstr>
      <vt:lpstr>Advantage and Issue of Direct-Mapped Caches</vt:lpstr>
      <vt:lpstr>Three Cache Organization Methods</vt:lpstr>
      <vt:lpstr>Full Associativity</vt:lpstr>
      <vt:lpstr>Advantage and Issue of Fully-associative Caches</vt:lpstr>
      <vt:lpstr>Three Cache Organization Methods</vt:lpstr>
      <vt:lpstr>2-way Set-Associative Cache: Structure</vt:lpstr>
      <vt:lpstr>4-way Set Associativity</vt:lpstr>
      <vt:lpstr>Set-Associative Cache: Advantage and Issue </vt:lpstr>
      <vt:lpstr>Associativity (and Tradeoffs)</vt:lpstr>
      <vt:lpstr>Memory Roofline Model</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18-741  Advanced Computer Architecture Lecture 1: Intro and Basics</dc:title>
  <dc:creator>Onur Mutlu</dc:creator>
  <cp:lastModifiedBy>DELL</cp:lastModifiedBy>
  <cp:revision>812</cp:revision>
  <cp:lastPrinted>2017-09-21T09:40:56Z</cp:lastPrinted>
  <dcterms:created xsi:type="dcterms:W3CDTF">2010-09-08T00:51:32Z</dcterms:created>
  <dcterms:modified xsi:type="dcterms:W3CDTF">2026-04-22T15:24:18Z</dcterms:modified>
</cp:coreProperties>
</file>